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3.emf"/><Relationship Id="rId4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image" Target="../media/image14.emf"/><Relationship Id="rId6" Type="http://schemas.openxmlformats.org/officeDocument/2006/relationships/image" Target="../media/image4.emf"/><Relationship Id="rId5" Type="http://schemas.openxmlformats.org/officeDocument/2006/relationships/image" Target="../media/image2.emf"/><Relationship Id="rId4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5.emf"/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8ABDA-F7EE-4C14-8784-CD5A915E9A09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93765-C18B-4698-9EF4-58C3C8359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90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C59AC13-C82E-8E48-927C-9027E66A21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353E0A0-BF2D-4743-B771-7433C486B780}" type="slidenum">
              <a:rPr lang="en-US" altLang="en-US" sz="1200">
                <a:latin typeface="Arial" panose="020B0604020202020204" pitchFamily="34" charset="0"/>
              </a:rPr>
              <a:pPr eaLnBrk="1" hangingPunct="1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8EEEEE5-F775-C742-87E5-C51FE9EBB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41B9114-FE63-BA44-A218-1BC83B7E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3993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DAA603E-36DC-B04D-9F1D-537371CCE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10C5E0-84AD-AD44-8F45-9E5787F43727}" type="slidenum">
              <a:rPr lang="en-US" altLang="en-US" sz="1200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2065344-3101-4D44-83FA-86F6B348F3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EEF88E2-F5AB-924E-B4F7-DAE546667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233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44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58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43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10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42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46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65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77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0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496B5-63F3-4DA7-9DFB-C3F517873342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1226A-A116-4A39-BD04-DB1BCFA5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0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3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11" Type="http://schemas.openxmlformats.org/officeDocument/2006/relationships/image" Target="../media/image5.emf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11.emf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8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oleObject" Target="../embeddings/oleObject43.bin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20.emf"/><Relationship Id="rId9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>
            <a:extLst>
              <a:ext uri="{FF2B5EF4-FFF2-40B4-BE49-F238E27FC236}">
                <a16:creationId xmlns:a16="http://schemas.microsoft.com/office/drawing/2014/main" id="{52367F34-93E8-E349-BFBA-1219F0AF8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4088" y="2438400"/>
            <a:ext cx="7772400" cy="3614738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 eaLnBrk="1" hangingPunct="1">
              <a:buFontTx/>
              <a:buNone/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Section 6.2</a:t>
            </a:r>
          </a:p>
          <a:p>
            <a:pPr algn="ctr" eaLnBrk="1" hangingPunct="1">
              <a:buFontTx/>
              <a:buNone/>
            </a:pPr>
            <a:r>
              <a:rPr lang="en-US" altLang="en-US" i="1">
                <a:latin typeface="Arial" panose="020B0604020202020204" pitchFamily="34" charset="0"/>
                <a:ea typeface="ＭＳ Ｐゴシック" panose="020B0600070205080204" pitchFamily="34" charset="-128"/>
              </a:rPr>
              <a:t>Calculating Coefficients </a:t>
            </a:r>
          </a:p>
          <a:p>
            <a:pPr algn="ctr" eaLnBrk="1" hangingPunct="1">
              <a:buFontTx/>
              <a:buNone/>
            </a:pPr>
            <a:r>
              <a:rPr lang="en-US" altLang="en-US" i="1">
                <a:latin typeface="Arial" panose="020B0604020202020204" pitchFamily="34" charset="0"/>
                <a:ea typeface="ＭＳ Ｐゴシック" panose="020B0600070205080204" pitchFamily="34" charset="-128"/>
              </a:rPr>
              <a:t>of Generating Functions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17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9713AA45-0BC1-7541-AFB7-C7013A87B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2057400"/>
            <a:ext cx="8229600" cy="2514600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rPr>
              <a:t>This chapter is about developing algebraic techniques for calculating the coefficients of generating functions.</a:t>
            </a:r>
          </a:p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rPr>
              <a:t>All methods seek to reduce a given generating function to a simple binomial–type generating function, or a product of binomial-type generating functions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21508" name="Rectangle 39">
            <a:extLst>
              <a:ext uri="{FF2B5EF4-FFF2-40B4-BE49-F238E27FC236}">
                <a16:creationId xmlns:a16="http://schemas.microsoft.com/office/drawing/2014/main" id="{D62646FC-89FF-9246-87DC-7FD9882C6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1"/>
            <a:ext cx="6629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>
                <a:solidFill>
                  <a:schemeClr val="tx2"/>
                </a:solidFill>
              </a:rPr>
              <a:t>Calculating Coefficients Of   </a:t>
            </a:r>
          </a:p>
          <a:p>
            <a:pPr eaLnBrk="1" hangingPunct="1"/>
            <a:r>
              <a:rPr lang="en-US" altLang="en-US" sz="4000">
                <a:solidFill>
                  <a:schemeClr val="tx2"/>
                </a:solidFill>
              </a:rPr>
              <a:t>   Generating Functions</a:t>
            </a:r>
          </a:p>
        </p:txBody>
      </p:sp>
    </p:spTree>
    <p:extLst>
      <p:ext uri="{BB962C8B-B14F-4D97-AF65-F5344CB8AC3E}">
        <p14:creationId xmlns:p14="http://schemas.microsoft.com/office/powerpoint/2010/main" val="219428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B2D63B6A-91C8-E940-8577-B967644E0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048001"/>
          <a:ext cx="78057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12344200" imgH="5270500" progId="Equation.DSMT4">
                  <p:embed/>
                </p:oleObj>
              </mc:Choice>
              <mc:Fallback>
                <p:oleObj name="Equation" r:id="rId3" imgW="112344200" imgH="5270500" progId="Equation.DSMT4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B2D63B6A-91C8-E940-8577-B967644E0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1"/>
                        <a:ext cx="780573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2" name="Group 3">
            <a:extLst>
              <a:ext uri="{FF2B5EF4-FFF2-40B4-BE49-F238E27FC236}">
                <a16:creationId xmlns:a16="http://schemas.microsoft.com/office/drawing/2014/main" id="{762F7774-FD2E-DA40-922F-1C1474DC933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838200"/>
            <a:ext cx="3340100" cy="685800"/>
            <a:chOff x="96" y="1200"/>
            <a:chExt cx="2104" cy="432"/>
          </a:xfrm>
        </p:grpSpPr>
        <p:graphicFrame>
          <p:nvGraphicFramePr>
            <p:cNvPr id="22550" name="Object 9">
              <a:extLst>
                <a:ext uri="{FF2B5EF4-FFF2-40B4-BE49-F238E27FC236}">
                  <a16:creationId xmlns:a16="http://schemas.microsoft.com/office/drawing/2014/main" id="{2EEA41CD-FBE8-2F44-849A-94CD111670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00"/>
            <a:ext cx="1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5" imgW="39497000" imgH="9652000" progId="Equation.DSMT4">
                    <p:embed/>
                  </p:oleObj>
                </mc:Choice>
                <mc:Fallback>
                  <p:oleObj name="Equation" r:id="rId5" imgW="39497000" imgH="9652000" progId="Equation.DSMT4">
                    <p:embed/>
                    <p:pic>
                      <p:nvPicPr>
                        <p:cNvPr id="22550" name="Object 9">
                          <a:extLst>
                            <a:ext uri="{FF2B5EF4-FFF2-40B4-BE49-F238E27FC236}">
                              <a16:creationId xmlns:a16="http://schemas.microsoft.com/office/drawing/2014/main" id="{2EEA41CD-FBE8-2F44-849A-94CD111670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00"/>
                          <a:ext cx="176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Text Box 5">
              <a:extLst>
                <a:ext uri="{FF2B5EF4-FFF2-40B4-BE49-F238E27FC236}">
                  <a16:creationId xmlns:a16="http://schemas.microsoft.com/office/drawing/2014/main" id="{89366CD3-CF84-584E-99FE-84710C1FE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1)</a:t>
              </a:r>
            </a:p>
          </p:txBody>
        </p:sp>
      </p:grpSp>
      <p:grpSp>
        <p:nvGrpSpPr>
          <p:cNvPr id="22533" name="Group 6">
            <a:extLst>
              <a:ext uri="{FF2B5EF4-FFF2-40B4-BE49-F238E27FC236}">
                <a16:creationId xmlns:a16="http://schemas.microsoft.com/office/drawing/2014/main" id="{02106393-E350-4D4E-BB8D-B760B4E738E5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1600200"/>
            <a:ext cx="2727325" cy="687388"/>
            <a:chOff x="2976" y="1200"/>
            <a:chExt cx="1718" cy="433"/>
          </a:xfrm>
        </p:grpSpPr>
        <p:graphicFrame>
          <p:nvGraphicFramePr>
            <p:cNvPr id="22548" name="Object 8">
              <a:extLst>
                <a:ext uri="{FF2B5EF4-FFF2-40B4-BE49-F238E27FC236}">
                  <a16:creationId xmlns:a16="http://schemas.microsoft.com/office/drawing/2014/main" id="{1C61F543-377D-4243-ABC3-F86F18AA7A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200"/>
            <a:ext cx="1382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7" imgW="28968700" imgH="9067800" progId="Equation.DSMT4">
                    <p:embed/>
                  </p:oleObj>
                </mc:Choice>
                <mc:Fallback>
                  <p:oleObj name="Equation" r:id="rId7" imgW="28968700" imgH="9067800" progId="Equation.DSMT4">
                    <p:embed/>
                    <p:pic>
                      <p:nvPicPr>
                        <p:cNvPr id="22548" name="Object 8">
                          <a:extLst>
                            <a:ext uri="{FF2B5EF4-FFF2-40B4-BE49-F238E27FC236}">
                              <a16:creationId xmlns:a16="http://schemas.microsoft.com/office/drawing/2014/main" id="{1C61F543-377D-4243-ABC3-F86F18AA7A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00"/>
                          <a:ext cx="1382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 Box 8">
              <a:extLst>
                <a:ext uri="{FF2B5EF4-FFF2-40B4-BE49-F238E27FC236}">
                  <a16:creationId xmlns:a16="http://schemas.microsoft.com/office/drawing/2014/main" id="{64456B77-F6A5-8D4B-B928-C513A4F7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2)</a:t>
              </a:r>
            </a:p>
          </p:txBody>
        </p:sp>
      </p:grpSp>
      <p:grpSp>
        <p:nvGrpSpPr>
          <p:cNvPr id="22534" name="Group 9">
            <a:extLst>
              <a:ext uri="{FF2B5EF4-FFF2-40B4-BE49-F238E27FC236}">
                <a16:creationId xmlns:a16="http://schemas.microsoft.com/office/drawing/2014/main" id="{94963BE8-6C1F-184A-B303-32DA23D1F01A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2438401"/>
            <a:ext cx="7313613" cy="411163"/>
            <a:chOff x="144" y="1824"/>
            <a:chExt cx="4607" cy="259"/>
          </a:xfrm>
        </p:grpSpPr>
        <p:graphicFrame>
          <p:nvGraphicFramePr>
            <p:cNvPr id="22546" name="Object 7">
              <a:extLst>
                <a:ext uri="{FF2B5EF4-FFF2-40B4-BE49-F238E27FC236}">
                  <a16:creationId xmlns:a16="http://schemas.microsoft.com/office/drawing/2014/main" id="{22B7CD86-0854-D141-9D8C-FC5F307F88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824"/>
            <a:ext cx="43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Equation" r:id="rId9" imgW="88646000" imgH="5270500" progId="Equation.DSMT4">
                    <p:embed/>
                  </p:oleObj>
                </mc:Choice>
                <mc:Fallback>
                  <p:oleObj name="Equation" r:id="rId9" imgW="88646000" imgH="5270500" progId="Equation.DSMT4">
                    <p:embed/>
                    <p:pic>
                      <p:nvPicPr>
                        <p:cNvPr id="22546" name="Object 7">
                          <a:extLst>
                            <a:ext uri="{FF2B5EF4-FFF2-40B4-BE49-F238E27FC236}">
                              <a16:creationId xmlns:a16="http://schemas.microsoft.com/office/drawing/2014/main" id="{22B7CD86-0854-D141-9D8C-FC5F307F88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824"/>
                          <a:ext cx="43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Text Box 11">
              <a:extLst>
                <a:ext uri="{FF2B5EF4-FFF2-40B4-BE49-F238E27FC236}">
                  <a16:creationId xmlns:a16="http://schemas.microsoft.com/office/drawing/2014/main" id="{35D4B3E3-F6D7-AE47-BAAE-654BDA482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3)</a:t>
              </a:r>
            </a:p>
          </p:txBody>
        </p:sp>
      </p:grpSp>
      <p:sp>
        <p:nvSpPr>
          <p:cNvPr id="22535" name="Text Box 12">
            <a:extLst>
              <a:ext uri="{FF2B5EF4-FFF2-40B4-BE49-F238E27FC236}">
                <a16:creationId xmlns:a16="http://schemas.microsoft.com/office/drawing/2014/main" id="{0E8A3E5F-9A2D-BD4A-9D2D-250D2EB9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048001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4)</a:t>
            </a:r>
          </a:p>
        </p:txBody>
      </p:sp>
      <p:grpSp>
        <p:nvGrpSpPr>
          <p:cNvPr id="22536" name="Group 13">
            <a:extLst>
              <a:ext uri="{FF2B5EF4-FFF2-40B4-BE49-F238E27FC236}">
                <a16:creationId xmlns:a16="http://schemas.microsoft.com/office/drawing/2014/main" id="{FF8DE2A3-24F1-454A-B8D9-610086775B27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505201"/>
            <a:ext cx="7824788" cy="690563"/>
            <a:chOff x="192" y="2976"/>
            <a:chExt cx="4929" cy="435"/>
          </a:xfrm>
        </p:grpSpPr>
        <p:graphicFrame>
          <p:nvGraphicFramePr>
            <p:cNvPr id="22544" name="Object 6">
              <a:extLst>
                <a:ext uri="{FF2B5EF4-FFF2-40B4-BE49-F238E27FC236}">
                  <a16:creationId xmlns:a16="http://schemas.microsoft.com/office/drawing/2014/main" id="{03DC72D6-158F-6F4E-B8E4-7D8C81E3F3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976"/>
            <a:ext cx="449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Equation" r:id="rId11" imgW="99479100" imgH="9652000" progId="Equation.DSMT4">
                    <p:embed/>
                  </p:oleObj>
                </mc:Choice>
                <mc:Fallback>
                  <p:oleObj name="Equation" r:id="rId11" imgW="99479100" imgH="9652000" progId="Equation.DSMT4">
                    <p:embed/>
                    <p:pic>
                      <p:nvPicPr>
                        <p:cNvPr id="22544" name="Object 6">
                          <a:extLst>
                            <a:ext uri="{FF2B5EF4-FFF2-40B4-BE49-F238E27FC236}">
                              <a16:creationId xmlns:a16="http://schemas.microsoft.com/office/drawing/2014/main" id="{03DC72D6-158F-6F4E-B8E4-7D8C81E3F3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976"/>
                          <a:ext cx="4497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5" name="Text Box 15">
              <a:extLst>
                <a:ext uri="{FF2B5EF4-FFF2-40B4-BE49-F238E27FC236}">
                  <a16:creationId xmlns:a16="http://schemas.microsoft.com/office/drawing/2014/main" id="{90D7D225-24BF-7245-BD7C-CA32124E9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5)</a:t>
              </a:r>
            </a:p>
          </p:txBody>
        </p:sp>
      </p:grpSp>
      <p:grpSp>
        <p:nvGrpSpPr>
          <p:cNvPr id="22537" name="Group 16">
            <a:extLst>
              <a:ext uri="{FF2B5EF4-FFF2-40B4-BE49-F238E27FC236}">
                <a16:creationId xmlns:a16="http://schemas.microsoft.com/office/drawing/2014/main" id="{4AD7BDAF-7CBF-4A49-A358-09D962548E94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343400"/>
            <a:ext cx="8610600" cy="1062038"/>
            <a:chOff x="192" y="3552"/>
            <a:chExt cx="5328" cy="669"/>
          </a:xfrm>
        </p:grpSpPr>
        <p:sp>
          <p:nvSpPr>
            <p:cNvPr id="22540" name="Text Box 17">
              <a:extLst>
                <a:ext uri="{FF2B5EF4-FFF2-40B4-BE49-F238E27FC236}">
                  <a16:creationId xmlns:a16="http://schemas.microsoft.com/office/drawing/2014/main" id="{ADCC320A-0481-EE4E-A2AA-66E4A4D8C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8001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       and g(x)                              , then </a:t>
              </a:r>
            </a:p>
            <a:p>
              <a:pPr lvl="1"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22541" name="Object 3">
              <a:extLst>
                <a:ext uri="{FF2B5EF4-FFF2-40B4-BE49-F238E27FC236}">
                  <a16:creationId xmlns:a16="http://schemas.microsoft.com/office/drawing/2014/main" id="{FA9F5D2C-CF05-534A-8377-8CABBA0E9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2" y="3573"/>
            <a:ext cx="114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Equation" r:id="rId13" imgW="29260800" imgH="5562600" progId="Equation.DSMT4">
                    <p:embed/>
                  </p:oleObj>
                </mc:Choice>
                <mc:Fallback>
                  <p:oleObj name="Equation" r:id="rId13" imgW="29260800" imgH="5562600" progId="Equation.DSMT4">
                    <p:embed/>
                    <p:pic>
                      <p:nvPicPr>
                        <p:cNvPr id="22541" name="Object 3">
                          <a:extLst>
                            <a:ext uri="{FF2B5EF4-FFF2-40B4-BE49-F238E27FC236}">
                              <a16:creationId xmlns:a16="http://schemas.microsoft.com/office/drawing/2014/main" id="{FA9F5D2C-CF05-534A-8377-8CABBA0E92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" y="3573"/>
                          <a:ext cx="114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2" name="Object 4">
              <a:extLst>
                <a:ext uri="{FF2B5EF4-FFF2-40B4-BE49-F238E27FC236}">
                  <a16:creationId xmlns:a16="http://schemas.microsoft.com/office/drawing/2014/main" id="{B126644D-7A26-FB48-8529-4CEF4AE7C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2" y="3577"/>
            <a:ext cx="111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name="Equation" r:id="rId15" imgW="28384500" imgH="5562600" progId="Equation.DSMT4">
                    <p:embed/>
                  </p:oleObj>
                </mc:Choice>
                <mc:Fallback>
                  <p:oleObj name="Equation" r:id="rId15" imgW="28384500" imgH="5562600" progId="Equation.DSMT4">
                    <p:embed/>
                    <p:pic>
                      <p:nvPicPr>
                        <p:cNvPr id="22542" name="Object 4">
                          <a:extLst>
                            <a:ext uri="{FF2B5EF4-FFF2-40B4-BE49-F238E27FC236}">
                              <a16:creationId xmlns:a16="http://schemas.microsoft.com/office/drawing/2014/main" id="{B126644D-7A26-FB48-8529-4CEF4AE7CB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3577"/>
                          <a:ext cx="111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5">
              <a:extLst>
                <a:ext uri="{FF2B5EF4-FFF2-40B4-BE49-F238E27FC236}">
                  <a16:creationId xmlns:a16="http://schemas.microsoft.com/office/drawing/2014/main" id="{D2E01114-C659-ED42-9DA1-4EFDD06320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840"/>
            <a:ext cx="464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17" imgW="123761500" imgH="5562600" progId="Equation.3">
                    <p:embed/>
                  </p:oleObj>
                </mc:Choice>
                <mc:Fallback>
                  <p:oleObj name="Equation" r:id="rId17" imgW="123761500" imgH="5562600" progId="Equation.3">
                    <p:embed/>
                    <p:pic>
                      <p:nvPicPr>
                        <p:cNvPr id="22543" name="Object 5">
                          <a:extLst>
                            <a:ext uri="{FF2B5EF4-FFF2-40B4-BE49-F238E27FC236}">
                              <a16:creationId xmlns:a16="http://schemas.microsoft.com/office/drawing/2014/main" id="{D2E01114-C659-ED42-9DA1-4EFDD06320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840"/>
                          <a:ext cx="464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8" name="Text Box 21">
            <a:extLst>
              <a:ext uri="{FF2B5EF4-FFF2-40B4-BE49-F238E27FC236}">
                <a16:creationId xmlns:a16="http://schemas.microsoft.com/office/drawing/2014/main" id="{29D01ADC-B665-E249-B3B8-0ED813149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57201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latin typeface="Arial" panose="020B0604020202020204" pitchFamily="34" charset="0"/>
              </a:rPr>
              <a:t>Polynomial Expansions:</a:t>
            </a:r>
          </a:p>
        </p:txBody>
      </p:sp>
    </p:spTree>
    <p:extLst>
      <p:ext uri="{BB962C8B-B14F-4D97-AF65-F5344CB8AC3E}">
        <p14:creationId xmlns:p14="http://schemas.microsoft.com/office/powerpoint/2010/main" val="291511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445DFF07-A528-5747-A07B-5B872A663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981200"/>
            <a:ext cx="8229600" cy="2362200"/>
          </a:xfrm>
        </p:spPr>
        <p:txBody>
          <a:bodyPr/>
          <a:lstStyle/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The rule for multiplication of generating functions in Eqn. (6) is simply the standard formula for polynomial multiplication.  </a:t>
            </a:r>
          </a:p>
        </p:txBody>
      </p:sp>
      <p:sp>
        <p:nvSpPr>
          <p:cNvPr id="23556" name="Rectangle 29">
            <a:extLst>
              <a:ext uri="{FF2B5EF4-FFF2-40B4-BE49-F238E27FC236}">
                <a16:creationId xmlns:a16="http://schemas.microsoft.com/office/drawing/2014/main" id="{1F524B64-B5EB-9C4E-A595-0CC6EDB79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"/>
            <a:ext cx="8610600" cy="1447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57" name="Group 30">
            <a:extLst>
              <a:ext uri="{FF2B5EF4-FFF2-40B4-BE49-F238E27FC236}">
                <a16:creationId xmlns:a16="http://schemas.microsoft.com/office/drawing/2014/main" id="{662215E8-BD6A-D844-8AE7-04669ED27FA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57200"/>
            <a:ext cx="8458200" cy="1054100"/>
            <a:chOff x="192" y="3552"/>
            <a:chExt cx="5328" cy="523"/>
          </a:xfrm>
        </p:grpSpPr>
        <p:sp>
          <p:nvSpPr>
            <p:cNvPr id="23559" name="Text Box 31">
              <a:extLst>
                <a:ext uri="{FF2B5EF4-FFF2-40B4-BE49-F238E27FC236}">
                  <a16:creationId xmlns:a16="http://schemas.microsoft.com/office/drawing/2014/main" id="{6155C857-4FEA-094D-8D83-DDB3A93D4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8001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 and g(x)                         , then </a:t>
              </a:r>
            </a:p>
            <a:p>
              <a:pPr lvl="1"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23560" name="Object 2">
              <a:extLst>
                <a:ext uri="{FF2B5EF4-FFF2-40B4-BE49-F238E27FC236}">
                  <a16:creationId xmlns:a16="http://schemas.microsoft.com/office/drawing/2014/main" id="{521AC9E7-ADAE-A841-A502-41865E538F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6" y="3561"/>
            <a:ext cx="971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3" imgW="29260800" imgH="5562600" progId="Equation.DSMT4">
                    <p:embed/>
                  </p:oleObj>
                </mc:Choice>
                <mc:Fallback>
                  <p:oleObj name="Equation" r:id="rId3" imgW="29260800" imgH="5562600" progId="Equation.DSMT4">
                    <p:embed/>
                    <p:pic>
                      <p:nvPicPr>
                        <p:cNvPr id="23560" name="Object 2">
                          <a:extLst>
                            <a:ext uri="{FF2B5EF4-FFF2-40B4-BE49-F238E27FC236}">
                              <a16:creationId xmlns:a16="http://schemas.microsoft.com/office/drawing/2014/main" id="{521AC9E7-ADAE-A841-A502-41865E538F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6" y="3561"/>
                          <a:ext cx="971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Object 3">
              <a:extLst>
                <a:ext uri="{FF2B5EF4-FFF2-40B4-BE49-F238E27FC236}">
                  <a16:creationId xmlns:a16="http://schemas.microsoft.com/office/drawing/2014/main" id="{204675D1-754F-614D-A943-1271223E5B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7" y="3577"/>
            <a:ext cx="994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Equation" r:id="rId5" imgW="28384500" imgH="5562600" progId="Equation.DSMT4">
                    <p:embed/>
                  </p:oleObj>
                </mc:Choice>
                <mc:Fallback>
                  <p:oleObj name="Equation" r:id="rId5" imgW="28384500" imgH="5562600" progId="Equation.DSMT4">
                    <p:embed/>
                    <p:pic>
                      <p:nvPicPr>
                        <p:cNvPr id="23561" name="Object 3">
                          <a:extLst>
                            <a:ext uri="{FF2B5EF4-FFF2-40B4-BE49-F238E27FC236}">
                              <a16:creationId xmlns:a16="http://schemas.microsoft.com/office/drawing/2014/main" id="{204675D1-754F-614D-A943-1271223E5B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7" y="3577"/>
                          <a:ext cx="994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4">
              <a:extLst>
                <a:ext uri="{FF2B5EF4-FFF2-40B4-BE49-F238E27FC236}">
                  <a16:creationId xmlns:a16="http://schemas.microsoft.com/office/drawing/2014/main" id="{0F436485-A3D7-3F40-B7F5-4C65721094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768"/>
            <a:ext cx="4417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7" imgW="123761500" imgH="5562600" progId="Equation.3">
                    <p:embed/>
                  </p:oleObj>
                </mc:Choice>
                <mc:Fallback>
                  <p:oleObj name="Equation" r:id="rId7" imgW="123761500" imgH="5562600" progId="Equation.3">
                    <p:embed/>
                    <p:pic>
                      <p:nvPicPr>
                        <p:cNvPr id="23562" name="Object 4">
                          <a:extLst>
                            <a:ext uri="{FF2B5EF4-FFF2-40B4-BE49-F238E27FC236}">
                              <a16:creationId xmlns:a16="http://schemas.microsoft.com/office/drawing/2014/main" id="{0F436485-A3D7-3F40-B7F5-4C65721094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768"/>
                          <a:ext cx="4417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4355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074E8FEA-A678-C048-89DC-7AFE18CEF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23429F7-1B4A-2045-8719-6E23A0129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4561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This identity can be proven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         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err="1"/>
                  <a:t>Thererore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23429F7-1B4A-2045-8719-6E23A0129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4561"/>
                <a:ext cx="10515600" cy="4351338"/>
              </a:xfrm>
              <a:blipFill>
                <a:blip r:embed="rId3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86" name="Group 17">
            <a:extLst>
              <a:ext uri="{FF2B5EF4-FFF2-40B4-BE49-F238E27FC236}">
                <a16:creationId xmlns:a16="http://schemas.microsoft.com/office/drawing/2014/main" id="{B17B4052-3571-C84F-BCE6-F25F9499685D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57200"/>
            <a:ext cx="3340100" cy="685800"/>
            <a:chOff x="96" y="1200"/>
            <a:chExt cx="2104" cy="432"/>
          </a:xfrm>
        </p:grpSpPr>
        <p:graphicFrame>
          <p:nvGraphicFramePr>
            <p:cNvPr id="24589" name="Object 5">
              <a:extLst>
                <a:ext uri="{FF2B5EF4-FFF2-40B4-BE49-F238E27FC236}">
                  <a16:creationId xmlns:a16="http://schemas.microsoft.com/office/drawing/2014/main" id="{101A3C32-EAFF-9641-8608-FB69A6C3A4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00"/>
            <a:ext cx="1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4" imgW="39497000" imgH="9652000" progId="Equation.3">
                    <p:embed/>
                  </p:oleObj>
                </mc:Choice>
                <mc:Fallback>
                  <p:oleObj name="Equation" r:id="rId4" imgW="39497000" imgH="9652000" progId="Equation.3">
                    <p:embed/>
                    <p:pic>
                      <p:nvPicPr>
                        <p:cNvPr id="24589" name="Object 5">
                          <a:extLst>
                            <a:ext uri="{FF2B5EF4-FFF2-40B4-BE49-F238E27FC236}">
                              <a16:creationId xmlns:a16="http://schemas.microsoft.com/office/drawing/2014/main" id="{101A3C32-EAFF-9641-8608-FB69A6C3A4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00"/>
                          <a:ext cx="176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0" name="Text Box 19">
              <a:extLst>
                <a:ext uri="{FF2B5EF4-FFF2-40B4-BE49-F238E27FC236}">
                  <a16:creationId xmlns:a16="http://schemas.microsoft.com/office/drawing/2014/main" id="{12824830-66DB-074F-8422-AB07F7673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1)</a:t>
              </a:r>
            </a:p>
          </p:txBody>
        </p:sp>
      </p:grpSp>
      <p:sp>
        <p:nvSpPr>
          <p:cNvPr id="24587" name="Rectangle 20">
            <a:extLst>
              <a:ext uri="{FF2B5EF4-FFF2-40B4-BE49-F238E27FC236}">
                <a16:creationId xmlns:a16="http://schemas.microsoft.com/office/drawing/2014/main" id="{197F5F6B-4A2B-554B-A743-929972377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155" y="381000"/>
            <a:ext cx="36576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73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11" name="Group 15">
            <a:extLst>
              <a:ext uri="{FF2B5EF4-FFF2-40B4-BE49-F238E27FC236}">
                <a16:creationId xmlns:a16="http://schemas.microsoft.com/office/drawing/2014/main" id="{19B41D44-A583-4A46-A4B8-D768A9D7D7BA}"/>
              </a:ext>
            </a:extLst>
          </p:cNvPr>
          <p:cNvGrpSpPr>
            <a:grpSpLocks/>
          </p:cNvGrpSpPr>
          <p:nvPr/>
        </p:nvGrpSpPr>
        <p:grpSpPr bwMode="auto">
          <a:xfrm>
            <a:off x="6249987" y="2929972"/>
            <a:ext cx="2727325" cy="687388"/>
            <a:chOff x="2976" y="1200"/>
            <a:chExt cx="1718" cy="433"/>
          </a:xfrm>
        </p:grpSpPr>
        <p:graphicFrame>
          <p:nvGraphicFramePr>
            <p:cNvPr id="25617" name="Object 10">
              <a:extLst>
                <a:ext uri="{FF2B5EF4-FFF2-40B4-BE49-F238E27FC236}">
                  <a16:creationId xmlns:a16="http://schemas.microsoft.com/office/drawing/2014/main" id="{3935DA08-1D18-9549-A188-D55177F354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200"/>
            <a:ext cx="1382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28968700" imgH="9067800" progId="Equation.DSMT4">
                    <p:embed/>
                  </p:oleObj>
                </mc:Choice>
                <mc:Fallback>
                  <p:oleObj name="Equation" r:id="rId3" imgW="28968700" imgH="9067800" progId="Equation.DSMT4">
                    <p:embed/>
                    <p:pic>
                      <p:nvPicPr>
                        <p:cNvPr id="25617" name="Object 10">
                          <a:extLst>
                            <a:ext uri="{FF2B5EF4-FFF2-40B4-BE49-F238E27FC236}">
                              <a16:creationId xmlns:a16="http://schemas.microsoft.com/office/drawing/2014/main" id="{3935DA08-1D18-9549-A188-D55177F354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00"/>
                          <a:ext cx="1382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Text Box 17">
              <a:extLst>
                <a:ext uri="{FF2B5EF4-FFF2-40B4-BE49-F238E27FC236}">
                  <a16:creationId xmlns:a16="http://schemas.microsoft.com/office/drawing/2014/main" id="{AFF19041-771D-764A-86A3-C83F74CF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2)</a:t>
              </a:r>
            </a:p>
          </p:txBody>
        </p:sp>
      </p:grpSp>
      <p:grpSp>
        <p:nvGrpSpPr>
          <p:cNvPr id="25612" name="Group 18">
            <a:extLst>
              <a:ext uri="{FF2B5EF4-FFF2-40B4-BE49-F238E27FC236}">
                <a16:creationId xmlns:a16="http://schemas.microsoft.com/office/drawing/2014/main" id="{11C40B60-9A7E-CC47-AF4D-2F2B346E061A}"/>
              </a:ext>
            </a:extLst>
          </p:cNvPr>
          <p:cNvGrpSpPr>
            <a:grpSpLocks/>
          </p:cNvGrpSpPr>
          <p:nvPr/>
        </p:nvGrpSpPr>
        <p:grpSpPr bwMode="auto">
          <a:xfrm>
            <a:off x="2781300" y="2931560"/>
            <a:ext cx="3340100" cy="685800"/>
            <a:chOff x="96" y="1200"/>
            <a:chExt cx="2104" cy="432"/>
          </a:xfrm>
        </p:grpSpPr>
        <p:graphicFrame>
          <p:nvGraphicFramePr>
            <p:cNvPr id="25615" name="Object 9">
              <a:extLst>
                <a:ext uri="{FF2B5EF4-FFF2-40B4-BE49-F238E27FC236}">
                  <a16:creationId xmlns:a16="http://schemas.microsoft.com/office/drawing/2014/main" id="{766D2539-A0E1-984F-A496-EDF8B89452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00"/>
            <a:ext cx="1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39497000" imgH="9652000" progId="Equation.3">
                    <p:embed/>
                  </p:oleObj>
                </mc:Choice>
                <mc:Fallback>
                  <p:oleObj name="Equation" r:id="rId5" imgW="39497000" imgH="9652000" progId="Equation.3">
                    <p:embed/>
                    <p:pic>
                      <p:nvPicPr>
                        <p:cNvPr id="25615" name="Object 9">
                          <a:extLst>
                            <a:ext uri="{FF2B5EF4-FFF2-40B4-BE49-F238E27FC236}">
                              <a16:creationId xmlns:a16="http://schemas.microsoft.com/office/drawing/2014/main" id="{766D2539-A0E1-984F-A496-EDF8B89452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00"/>
                          <a:ext cx="176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6" name="Text Box 20">
              <a:extLst>
                <a:ext uri="{FF2B5EF4-FFF2-40B4-BE49-F238E27FC236}">
                  <a16:creationId xmlns:a16="http://schemas.microsoft.com/office/drawing/2014/main" id="{79FE3035-0D60-EC40-85CE-9B8E49D1F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1)</a:t>
              </a:r>
            </a:p>
          </p:txBody>
        </p:sp>
      </p:grpSp>
      <p:sp>
        <p:nvSpPr>
          <p:cNvPr id="25613" name="Rectangle 21">
            <a:extLst>
              <a:ext uri="{FF2B5EF4-FFF2-40B4-BE49-F238E27FC236}">
                <a16:creationId xmlns:a16="http://schemas.microsoft.com/office/drawing/2014/main" id="{395FB4D8-CDAC-1F4E-A10D-4EB1E4D21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2779160"/>
            <a:ext cx="6324600" cy="990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20D68-8472-F74D-B5BB-B07122993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8800"/>
                <a:ext cx="10515600" cy="4351338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(1), we consider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and we have (2)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20D68-8472-F74D-B5BB-B07122993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8800"/>
                <a:ext cx="10515600" cy="4351338"/>
              </a:xfrm>
              <a:blipFill>
                <a:blip r:embed="rId7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630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026">
            <a:extLst>
              <a:ext uri="{FF2B5EF4-FFF2-40B4-BE49-F238E27FC236}">
                <a16:creationId xmlns:a16="http://schemas.microsoft.com/office/drawing/2014/main" id="{E854E68A-45D7-8C41-8BA2-D6757F787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981201"/>
            <a:ext cx="7924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Expansion (3), the binomial expansion was explained at the start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of section 6.1.  Expansion (4) is obtained from (3) by expanding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                                    </a:t>
            </a:r>
          </a:p>
        </p:txBody>
      </p:sp>
      <p:graphicFrame>
        <p:nvGraphicFramePr>
          <p:cNvPr id="26628" name="Object 2">
            <a:extLst>
              <a:ext uri="{FF2B5EF4-FFF2-40B4-BE49-F238E27FC236}">
                <a16:creationId xmlns:a16="http://schemas.microsoft.com/office/drawing/2014/main" id="{C41D9E93-0767-294B-9425-0D12CA40F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2601" y="3708401"/>
          <a:ext cx="5248275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628900" imgH="965200" progId="Equation.3">
                  <p:embed/>
                </p:oleObj>
              </mc:Choice>
              <mc:Fallback>
                <p:oleObj name="Equation" r:id="rId3" imgW="2628900" imgH="965200" progId="Equation.3">
                  <p:embed/>
                  <p:pic>
                    <p:nvPicPr>
                      <p:cNvPr id="26628" name="Object 2">
                        <a:extLst>
                          <a:ext uri="{FF2B5EF4-FFF2-40B4-BE49-F238E27FC236}">
                            <a16:creationId xmlns:a16="http://schemas.microsoft.com/office/drawing/2014/main" id="{C41D9E93-0767-294B-9425-0D12CA40F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1" y="3708401"/>
                        <a:ext cx="5248275" cy="192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3">
            <a:extLst>
              <a:ext uri="{FF2B5EF4-FFF2-40B4-BE49-F238E27FC236}">
                <a16:creationId xmlns:a16="http://schemas.microsoft.com/office/drawing/2014/main" id="{B1E79888-665A-B146-BF24-AC7CB0602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895601"/>
          <a:ext cx="28892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33350200" imgH="5270500" progId="Equation.DSMT4">
                  <p:embed/>
                </p:oleObj>
              </mc:Choice>
              <mc:Fallback>
                <p:oleObj name="Equation" r:id="rId5" imgW="33350200" imgH="5270500" progId="Equation.DSMT4">
                  <p:embed/>
                  <p:pic>
                    <p:nvPicPr>
                      <p:cNvPr id="26629" name="Object 3">
                        <a:extLst>
                          <a:ext uri="{FF2B5EF4-FFF2-40B4-BE49-F238E27FC236}">
                            <a16:creationId xmlns:a16="http://schemas.microsoft.com/office/drawing/2014/main" id="{B1E79888-665A-B146-BF24-AC7CB06026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95601"/>
                        <a:ext cx="28892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0" name="Group 1032">
            <a:extLst>
              <a:ext uri="{FF2B5EF4-FFF2-40B4-BE49-F238E27FC236}">
                <a16:creationId xmlns:a16="http://schemas.microsoft.com/office/drawing/2014/main" id="{8D733D23-611F-2F4A-A328-03B43591ABCE}"/>
              </a:ext>
            </a:extLst>
          </p:cNvPr>
          <p:cNvGrpSpPr>
            <a:grpSpLocks/>
          </p:cNvGrpSpPr>
          <p:nvPr/>
        </p:nvGrpSpPr>
        <p:grpSpPr bwMode="auto">
          <a:xfrm>
            <a:off x="2209801" y="914401"/>
            <a:ext cx="7313613" cy="411163"/>
            <a:chOff x="144" y="1824"/>
            <a:chExt cx="4607" cy="259"/>
          </a:xfrm>
        </p:grpSpPr>
        <p:graphicFrame>
          <p:nvGraphicFramePr>
            <p:cNvPr id="26633" name="Object 4">
              <a:extLst>
                <a:ext uri="{FF2B5EF4-FFF2-40B4-BE49-F238E27FC236}">
                  <a16:creationId xmlns:a16="http://schemas.microsoft.com/office/drawing/2014/main" id="{C2450B8C-B63F-FD46-9273-B62C7BB0DE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824"/>
            <a:ext cx="43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7" imgW="88646000" imgH="5270500" progId="Equation.3">
                    <p:embed/>
                  </p:oleObj>
                </mc:Choice>
                <mc:Fallback>
                  <p:oleObj name="Equation" r:id="rId7" imgW="88646000" imgH="5270500" progId="Equation.3">
                    <p:embed/>
                    <p:pic>
                      <p:nvPicPr>
                        <p:cNvPr id="26633" name="Object 4">
                          <a:extLst>
                            <a:ext uri="{FF2B5EF4-FFF2-40B4-BE49-F238E27FC236}">
                              <a16:creationId xmlns:a16="http://schemas.microsoft.com/office/drawing/2014/main" id="{C2450B8C-B63F-FD46-9273-B62C7BB0DE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824"/>
                          <a:ext cx="43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4" name="Text Box 1034">
              <a:extLst>
                <a:ext uri="{FF2B5EF4-FFF2-40B4-BE49-F238E27FC236}">
                  <a16:creationId xmlns:a16="http://schemas.microsoft.com/office/drawing/2014/main" id="{9943DAAD-4C41-1049-89F9-EC054128E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3)</a:t>
              </a:r>
            </a:p>
          </p:txBody>
        </p:sp>
      </p:grpSp>
      <p:sp>
        <p:nvSpPr>
          <p:cNvPr id="26631" name="Rectangle 1035">
            <a:extLst>
              <a:ext uri="{FF2B5EF4-FFF2-40B4-BE49-F238E27FC236}">
                <a16:creationId xmlns:a16="http://schemas.microsoft.com/office/drawing/2014/main" id="{DF351442-1740-954F-BB24-3EC5A863A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09600"/>
            <a:ext cx="7772400" cy="990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33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2">
            <a:extLst>
              <a:ext uri="{FF2B5EF4-FFF2-40B4-BE49-F238E27FC236}">
                <a16:creationId xmlns:a16="http://schemas.microsoft.com/office/drawing/2014/main" id="{CE7E7F31-DEF6-9C41-8D17-199450178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828801"/>
            <a:ext cx="85344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For identity (5),  ( 1 –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</a:t>
            </a:r>
            <a:r>
              <a:rPr lang="en-US" altLang="en-US" sz="1800" i="1" baseline="30000">
                <a:latin typeface="Arial" panose="020B0604020202020204" pitchFamily="34" charset="0"/>
              </a:rPr>
              <a:t>-n</a:t>
            </a:r>
            <a:r>
              <a:rPr lang="en-US" altLang="en-US" sz="1800" baseline="30000">
                <a:latin typeface="Arial" panose="020B0604020202020204" pitchFamily="34" charset="0"/>
              </a:rPr>
              <a:t> </a:t>
            </a:r>
            <a:r>
              <a:rPr lang="en-US" altLang="en-US" sz="1800">
                <a:latin typeface="Arial" panose="020B0604020202020204" pitchFamily="34" charset="0"/>
              </a:rPr>
              <a:t>=                    = ( 1 + </a:t>
            </a:r>
            <a:r>
              <a:rPr lang="en-US" altLang="en-US" sz="1800" i="1">
                <a:latin typeface="Arial" panose="020B0604020202020204" pitchFamily="34" charset="0"/>
              </a:rPr>
              <a:t>x + x</a:t>
            </a:r>
            <a:r>
              <a:rPr lang="en-US" altLang="en-US" sz="1800" baseline="30000">
                <a:latin typeface="Arial" panose="020B0604020202020204" pitchFamily="34" charset="0"/>
              </a:rPr>
              <a:t>2 </a:t>
            </a:r>
            <a:r>
              <a:rPr lang="en-US" altLang="en-US" sz="1800">
                <a:latin typeface="Arial" panose="020B0604020202020204" pitchFamily="34" charset="0"/>
              </a:rPr>
              <a:t>+ … ) </a:t>
            </a:r>
            <a:r>
              <a:rPr lang="en-US" altLang="en-US" sz="1800" i="1" baseline="30000">
                <a:latin typeface="Arial" panose="020B0604020202020204" pitchFamily="34" charset="0"/>
              </a:rPr>
              <a:t>n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Since                   = ( 1 + </a:t>
            </a:r>
            <a:r>
              <a:rPr lang="en-US" altLang="en-US" sz="1800" i="1">
                <a:latin typeface="Arial" panose="020B0604020202020204" pitchFamily="34" charset="0"/>
              </a:rPr>
              <a:t>x + x</a:t>
            </a:r>
            <a:r>
              <a:rPr lang="en-US" altLang="en-US" sz="1800" baseline="30000">
                <a:latin typeface="Arial" panose="020B0604020202020204" pitchFamily="34" charset="0"/>
              </a:rPr>
              <a:t>2 </a:t>
            </a:r>
            <a:r>
              <a:rPr lang="en-US" altLang="en-US" sz="1800">
                <a:latin typeface="Arial" panose="020B0604020202020204" pitchFamily="34" charset="0"/>
              </a:rPr>
              <a:t>+ … )      (eq. 2) 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Let us determine the coefficient        in equation (7) by counting the number of formal products whose sum of exponents is </a:t>
            </a:r>
            <a:r>
              <a:rPr lang="en-US" altLang="en-US" sz="1800" i="1"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Arial" panose="020B0604020202020204" pitchFamily="34" charset="0"/>
              </a:rPr>
              <a:t>, if </a:t>
            </a:r>
            <a:r>
              <a:rPr lang="en-US" altLang="en-US" sz="1800" i="1">
                <a:latin typeface="Arial" panose="020B0604020202020204" pitchFamily="34" charset="0"/>
              </a:rPr>
              <a:t>e</a:t>
            </a:r>
            <a:r>
              <a:rPr lang="en-US" altLang="en-US" sz="800" i="1">
                <a:latin typeface="Arial" panose="020B0604020202020204" pitchFamily="34" charset="0"/>
              </a:rPr>
              <a:t>i</a:t>
            </a:r>
            <a:r>
              <a:rPr lang="en-US" altLang="en-US" sz="1800">
                <a:latin typeface="Arial" panose="020B0604020202020204" pitchFamily="34" charset="0"/>
              </a:rPr>
              <a:t> represents the exponent of the </a:t>
            </a:r>
            <a:r>
              <a:rPr lang="en-US" altLang="en-US" sz="1800" i="1">
                <a:latin typeface="Arial" panose="020B0604020202020204" pitchFamily="34" charset="0"/>
              </a:rPr>
              <a:t>i</a:t>
            </a:r>
            <a:r>
              <a:rPr lang="en-US" altLang="en-US" sz="1800">
                <a:latin typeface="Arial" panose="020B0604020202020204" pitchFamily="34" charset="0"/>
              </a:rPr>
              <a:t>th term in a formal product , then the number of formal products                              whose exponents sum to </a:t>
            </a:r>
            <a:r>
              <a:rPr lang="en-US" altLang="en-US" sz="1800" i="1">
                <a:latin typeface="Arial" panose="020B0604020202020204" pitchFamily="34" charset="0"/>
              </a:rPr>
              <a:t>r </a:t>
            </a:r>
            <a:r>
              <a:rPr lang="en-US" altLang="en-US" sz="1800">
                <a:latin typeface="Arial" panose="020B0604020202020204" pitchFamily="34" charset="0"/>
              </a:rPr>
              <a:t>is the same as the number of integer solutions to the equation 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In example 5, section 5.4 we showed that the number of nonnegative integer solutions to this equation is C(</a:t>
            </a:r>
            <a:r>
              <a:rPr lang="en-US" altLang="en-US" sz="1800" i="1">
                <a:latin typeface="Arial" panose="020B0604020202020204" pitchFamily="34" charset="0"/>
              </a:rPr>
              <a:t>r </a:t>
            </a:r>
            <a:r>
              <a:rPr lang="en-US" altLang="en-US" sz="1800">
                <a:latin typeface="Arial" panose="020B0604020202020204" pitchFamily="34" charset="0"/>
              </a:rPr>
              <a:t>+</a:t>
            </a:r>
            <a:r>
              <a:rPr lang="en-US" altLang="en-US" sz="1800" i="1">
                <a:latin typeface="Arial" panose="020B0604020202020204" pitchFamily="34" charset="0"/>
              </a:rPr>
              <a:t> n</a:t>
            </a:r>
            <a:r>
              <a:rPr lang="en-US" altLang="en-US" sz="1800">
                <a:latin typeface="Arial" panose="020B0604020202020204" pitchFamily="34" charset="0"/>
              </a:rPr>
              <a:t> –1,</a:t>
            </a:r>
            <a:r>
              <a:rPr lang="en-US" altLang="en-US" sz="1800" i="1"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Arial" panose="020B0604020202020204" pitchFamily="34" charset="0"/>
              </a:rPr>
              <a:t> ) , so the coefficient        in eqn (7)  is </a:t>
            </a: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C(</a:t>
            </a:r>
            <a:r>
              <a:rPr lang="en-US" altLang="en-US" sz="1800" i="1">
                <a:latin typeface="Arial" panose="020B0604020202020204" pitchFamily="34" charset="0"/>
              </a:rPr>
              <a:t>r </a:t>
            </a:r>
            <a:r>
              <a:rPr lang="en-US" altLang="en-US" sz="1800">
                <a:latin typeface="Arial" panose="020B0604020202020204" pitchFamily="34" charset="0"/>
              </a:rPr>
              <a:t>+</a:t>
            </a:r>
            <a:r>
              <a:rPr lang="en-US" altLang="en-US" sz="1800" i="1">
                <a:latin typeface="Arial" panose="020B0604020202020204" pitchFamily="34" charset="0"/>
              </a:rPr>
              <a:t> n</a:t>
            </a:r>
            <a:r>
              <a:rPr lang="en-US" altLang="en-US" sz="1800">
                <a:latin typeface="Arial" panose="020B0604020202020204" pitchFamily="34" charset="0"/>
              </a:rPr>
              <a:t> –1,</a:t>
            </a:r>
            <a:r>
              <a:rPr lang="en-US" altLang="en-US" sz="1800" i="1"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Arial" panose="020B0604020202020204" pitchFamily="34" charset="0"/>
              </a:rPr>
              <a:t> ) .   This verifies expansion (5).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7652" name="Object 2">
            <a:extLst>
              <a:ext uri="{FF2B5EF4-FFF2-40B4-BE49-F238E27FC236}">
                <a16:creationId xmlns:a16="http://schemas.microsoft.com/office/drawing/2014/main" id="{6737D295-3C58-C742-B946-6EC6861725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251" y="5351463"/>
          <a:ext cx="34766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4102100" imgH="4686300" progId="Equation.DSMT4">
                  <p:embed/>
                </p:oleObj>
              </mc:Choice>
              <mc:Fallback>
                <p:oleObj name="Equation" r:id="rId3" imgW="4102100" imgH="4686300" progId="Equation.DSMT4">
                  <p:embed/>
                  <p:pic>
                    <p:nvPicPr>
                      <p:cNvPr id="27652" name="Object 2">
                        <a:extLst>
                          <a:ext uri="{FF2B5EF4-FFF2-40B4-BE49-F238E27FC236}">
                            <a16:creationId xmlns:a16="http://schemas.microsoft.com/office/drawing/2014/main" id="{6737D295-3C58-C742-B946-6EC6861725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1" y="5351463"/>
                        <a:ext cx="347663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3">
            <a:extLst>
              <a:ext uri="{FF2B5EF4-FFF2-40B4-BE49-F238E27FC236}">
                <a16:creationId xmlns:a16="http://schemas.microsoft.com/office/drawing/2014/main" id="{D35BCB74-655A-3C4F-9D2D-351B5A1CB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1" y="3929063"/>
          <a:ext cx="1857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927100" imgH="228600" progId="Equation.3">
                  <p:embed/>
                </p:oleObj>
              </mc:Choice>
              <mc:Fallback>
                <p:oleObj name="Equation" r:id="rId5" imgW="927100" imgH="228600" progId="Equation.3">
                  <p:embed/>
                  <p:pic>
                    <p:nvPicPr>
                      <p:cNvPr id="27653" name="Object 3">
                        <a:extLst>
                          <a:ext uri="{FF2B5EF4-FFF2-40B4-BE49-F238E27FC236}">
                            <a16:creationId xmlns:a16="http://schemas.microsoft.com/office/drawing/2014/main" id="{D35BCB74-655A-3C4F-9D2D-351B5A1CB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1" y="3929063"/>
                        <a:ext cx="18573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4">
            <a:extLst>
              <a:ext uri="{FF2B5EF4-FFF2-40B4-BE49-F238E27FC236}">
                <a16:creationId xmlns:a16="http://schemas.microsoft.com/office/drawing/2014/main" id="{A08C629D-D358-9C49-8B0F-1AAE4C0FC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1201" y="4635500"/>
          <a:ext cx="36099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1803400" imgH="241300" progId="Equation.3">
                  <p:embed/>
                </p:oleObj>
              </mc:Choice>
              <mc:Fallback>
                <p:oleObj name="Equation" r:id="rId7" imgW="1803400" imgH="241300" progId="Equation.3">
                  <p:embed/>
                  <p:pic>
                    <p:nvPicPr>
                      <p:cNvPr id="27654" name="Object 4">
                        <a:extLst>
                          <a:ext uri="{FF2B5EF4-FFF2-40B4-BE49-F238E27FC236}">
                            <a16:creationId xmlns:a16="http://schemas.microsoft.com/office/drawing/2014/main" id="{A08C629D-D358-9C49-8B0F-1AAE4C0FC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4635500"/>
                        <a:ext cx="36099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">
            <a:extLst>
              <a:ext uri="{FF2B5EF4-FFF2-40B4-BE49-F238E27FC236}">
                <a16:creationId xmlns:a16="http://schemas.microsoft.com/office/drawing/2014/main" id="{F7AF5284-1412-0845-B466-7AC89A3C9D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1" y="3429001"/>
          <a:ext cx="3476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4102100" imgH="4686300" progId="Equation.DSMT4">
                  <p:embed/>
                </p:oleObj>
              </mc:Choice>
              <mc:Fallback>
                <p:oleObj name="Equation" r:id="rId9" imgW="4102100" imgH="4686300" progId="Equation.DSMT4">
                  <p:embed/>
                  <p:pic>
                    <p:nvPicPr>
                      <p:cNvPr id="27655" name="Object 5">
                        <a:extLst>
                          <a:ext uri="{FF2B5EF4-FFF2-40B4-BE49-F238E27FC236}">
                            <a16:creationId xmlns:a16="http://schemas.microsoft.com/office/drawing/2014/main" id="{F7AF5284-1412-0845-B466-7AC89A3C9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3429001"/>
                        <a:ext cx="3476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13">
            <a:extLst>
              <a:ext uri="{FF2B5EF4-FFF2-40B4-BE49-F238E27FC236}">
                <a16:creationId xmlns:a16="http://schemas.microsoft.com/office/drawing/2014/main" id="{A3F3E2E1-70BF-CC49-81D3-BA29F1836DB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57200"/>
            <a:ext cx="7824788" cy="603250"/>
            <a:chOff x="192" y="2976"/>
            <a:chExt cx="4929" cy="435"/>
          </a:xfrm>
        </p:grpSpPr>
        <p:graphicFrame>
          <p:nvGraphicFramePr>
            <p:cNvPr id="27671" name="Object 7">
              <a:extLst>
                <a:ext uri="{FF2B5EF4-FFF2-40B4-BE49-F238E27FC236}">
                  <a16:creationId xmlns:a16="http://schemas.microsoft.com/office/drawing/2014/main" id="{89F682F6-A3F8-BA46-8ECE-F245C12543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976"/>
            <a:ext cx="449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name="Equation" r:id="rId10" imgW="99479100" imgH="9652000" progId="Equation.DSMT4">
                    <p:embed/>
                  </p:oleObj>
                </mc:Choice>
                <mc:Fallback>
                  <p:oleObj name="Equation" r:id="rId10" imgW="99479100" imgH="9652000" progId="Equation.DSMT4">
                    <p:embed/>
                    <p:pic>
                      <p:nvPicPr>
                        <p:cNvPr id="27671" name="Object 7">
                          <a:extLst>
                            <a:ext uri="{FF2B5EF4-FFF2-40B4-BE49-F238E27FC236}">
                              <a16:creationId xmlns:a16="http://schemas.microsoft.com/office/drawing/2014/main" id="{89F682F6-A3F8-BA46-8ECE-F245C12543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976"/>
                          <a:ext cx="4497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2" name="Text Box 15">
              <a:extLst>
                <a:ext uri="{FF2B5EF4-FFF2-40B4-BE49-F238E27FC236}">
                  <a16:creationId xmlns:a16="http://schemas.microsoft.com/office/drawing/2014/main" id="{124010F9-1B25-4E45-A723-D78837EF8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8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5)</a:t>
              </a:r>
            </a:p>
          </p:txBody>
        </p:sp>
      </p:grpSp>
      <p:sp>
        <p:nvSpPr>
          <p:cNvPr id="27657" name="Rectangle 23">
            <a:extLst>
              <a:ext uri="{FF2B5EF4-FFF2-40B4-BE49-F238E27FC236}">
                <a16:creationId xmlns:a16="http://schemas.microsoft.com/office/drawing/2014/main" id="{466B542F-8FA3-EF46-B342-92F341DD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1000"/>
            <a:ext cx="81534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7658" name="Group 24">
            <a:extLst>
              <a:ext uri="{FF2B5EF4-FFF2-40B4-BE49-F238E27FC236}">
                <a16:creationId xmlns:a16="http://schemas.microsoft.com/office/drawing/2014/main" id="{B4DE477A-5597-E843-8F96-C888D6632D1C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2438400"/>
            <a:ext cx="2727325" cy="687388"/>
            <a:chOff x="2976" y="1200"/>
            <a:chExt cx="1718" cy="433"/>
          </a:xfrm>
        </p:grpSpPr>
        <p:graphicFrame>
          <p:nvGraphicFramePr>
            <p:cNvPr id="27669" name="Object 6">
              <a:extLst>
                <a:ext uri="{FF2B5EF4-FFF2-40B4-BE49-F238E27FC236}">
                  <a16:creationId xmlns:a16="http://schemas.microsoft.com/office/drawing/2014/main" id="{A633673D-527C-ED46-814B-F9EDF326F4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200"/>
            <a:ext cx="1382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Equation" r:id="rId12" imgW="28968700" imgH="9067800" progId="Equation.3">
                    <p:embed/>
                  </p:oleObj>
                </mc:Choice>
                <mc:Fallback>
                  <p:oleObj name="Equation" r:id="rId12" imgW="28968700" imgH="9067800" progId="Equation.3">
                    <p:embed/>
                    <p:pic>
                      <p:nvPicPr>
                        <p:cNvPr id="27669" name="Object 6">
                          <a:extLst>
                            <a:ext uri="{FF2B5EF4-FFF2-40B4-BE49-F238E27FC236}">
                              <a16:creationId xmlns:a16="http://schemas.microsoft.com/office/drawing/2014/main" id="{A633673D-527C-ED46-814B-F9EDF326F4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00"/>
                          <a:ext cx="1382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0" name="Text Box 26">
              <a:extLst>
                <a:ext uri="{FF2B5EF4-FFF2-40B4-BE49-F238E27FC236}">
                  <a16:creationId xmlns:a16="http://schemas.microsoft.com/office/drawing/2014/main" id="{AD99374A-199B-5941-B062-72D9A7B20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2)</a:t>
              </a:r>
            </a:p>
          </p:txBody>
        </p:sp>
      </p:grpSp>
      <p:sp>
        <p:nvSpPr>
          <p:cNvPr id="27659" name="Rectangle 27">
            <a:extLst>
              <a:ext uri="{FF2B5EF4-FFF2-40B4-BE49-F238E27FC236}">
                <a16:creationId xmlns:a16="http://schemas.microsoft.com/office/drawing/2014/main" id="{5B70734D-113D-7249-8622-65C2AFDE0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438400"/>
            <a:ext cx="28194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0" name="Line 28">
            <a:extLst>
              <a:ext uri="{FF2B5EF4-FFF2-40B4-BE49-F238E27FC236}">
                <a16:creationId xmlns:a16="http://schemas.microsoft.com/office/drawing/2014/main" id="{6542CCBC-0ADF-2F40-A841-0EDA1587A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819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Text Box 29">
            <a:extLst>
              <a:ext uri="{FF2B5EF4-FFF2-40B4-BE49-F238E27FC236}">
                <a16:creationId xmlns:a16="http://schemas.microsoft.com/office/drawing/2014/main" id="{A101110A-C39F-8449-9D2F-1ACF1A1E8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819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1 -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7662" name="Text Box 30">
            <a:extLst>
              <a:ext uri="{FF2B5EF4-FFF2-40B4-BE49-F238E27FC236}">
                <a16:creationId xmlns:a16="http://schemas.microsoft.com/office/drawing/2014/main" id="{16F0164C-048A-574F-AF14-829085CAB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438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1 </a:t>
            </a:r>
          </a:p>
        </p:txBody>
      </p:sp>
      <p:sp>
        <p:nvSpPr>
          <p:cNvPr id="27663" name="Line 31">
            <a:extLst>
              <a:ext uri="{FF2B5EF4-FFF2-40B4-BE49-F238E27FC236}">
                <a16:creationId xmlns:a16="http://schemas.microsoft.com/office/drawing/2014/main" id="{FBD285E7-039C-5448-BF38-8B0EF1E14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5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Text Box 32">
            <a:extLst>
              <a:ext uri="{FF2B5EF4-FFF2-40B4-BE49-F238E27FC236}">
                <a16:creationId xmlns:a16="http://schemas.microsoft.com/office/drawing/2014/main" id="{A0DF1D38-DC90-EA46-A4C8-8FC490815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057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1 -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7665" name="Text Box 33">
            <a:extLst>
              <a:ext uri="{FF2B5EF4-FFF2-40B4-BE49-F238E27FC236}">
                <a16:creationId xmlns:a16="http://schemas.microsoft.com/office/drawing/2014/main" id="{FF0A5E9A-4D35-7741-AE03-F9E7C19C1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676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1 </a:t>
            </a:r>
          </a:p>
        </p:txBody>
      </p:sp>
      <p:sp>
        <p:nvSpPr>
          <p:cNvPr id="27666" name="AutoShape 34">
            <a:extLst>
              <a:ext uri="{FF2B5EF4-FFF2-40B4-BE49-F238E27FC236}">
                <a16:creationId xmlns:a16="http://schemas.microsoft.com/office/drawing/2014/main" id="{0E4F063E-E7F2-AB43-A8F9-A2DEE0F3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76400"/>
            <a:ext cx="838200" cy="838200"/>
          </a:xfrm>
          <a:prstGeom prst="bracketPair">
            <a:avLst>
              <a:gd name="adj" fmla="val 26912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7" name="Rectangle 35">
            <a:extLst>
              <a:ext uri="{FF2B5EF4-FFF2-40B4-BE49-F238E27FC236}">
                <a16:creationId xmlns:a16="http://schemas.microsoft.com/office/drawing/2014/main" id="{F4BE93C9-DFE3-694B-B035-B85D95BD8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002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i="1" baseline="3000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7282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962B7E3E-19AC-8541-B25D-80217540C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86201"/>
            <a:ext cx="79946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With formulas (1) and (6) we can determine the coefficients of a variety of generating functions:  first, perform algebraic manipulations to reduce a given generating function to one of the forms                                                  or a product of two such expansions, then use expansions (3) and (5) and the product rule (6) to obtain any desired coefficient.</a:t>
            </a:r>
          </a:p>
        </p:txBody>
      </p:sp>
      <p:graphicFrame>
        <p:nvGraphicFramePr>
          <p:cNvPr id="28676" name="Object 2">
            <a:extLst>
              <a:ext uri="{FF2B5EF4-FFF2-40B4-BE49-F238E27FC236}">
                <a16:creationId xmlns:a16="http://schemas.microsoft.com/office/drawing/2014/main" id="{F8862E22-372D-EC4B-87C0-2BFFE338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6464" y="5011739"/>
          <a:ext cx="35655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40957500" imgH="5270500" progId="Equation.DSMT4">
                  <p:embed/>
                </p:oleObj>
              </mc:Choice>
              <mc:Fallback>
                <p:oleObj name="Equation" r:id="rId3" imgW="40957500" imgH="5270500" progId="Equation.DSMT4">
                  <p:embed/>
                  <p:pic>
                    <p:nvPicPr>
                      <p:cNvPr id="28676" name="Object 2">
                        <a:extLst>
                          <a:ext uri="{FF2B5EF4-FFF2-40B4-BE49-F238E27FC236}">
                            <a16:creationId xmlns:a16="http://schemas.microsoft.com/office/drawing/2014/main" id="{F8862E22-372D-EC4B-87C0-2BFFE3386A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4" y="5011739"/>
                        <a:ext cx="35655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7" name="Group 5">
            <a:extLst>
              <a:ext uri="{FF2B5EF4-FFF2-40B4-BE49-F238E27FC236}">
                <a16:creationId xmlns:a16="http://schemas.microsoft.com/office/drawing/2014/main" id="{CAEF423A-7511-AD44-81A2-119406D88EF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481264"/>
            <a:ext cx="8458200" cy="1062037"/>
            <a:chOff x="192" y="3552"/>
            <a:chExt cx="5328" cy="669"/>
          </a:xfrm>
        </p:grpSpPr>
        <p:sp>
          <p:nvSpPr>
            <p:cNvPr id="28689" name="Text Box 6">
              <a:extLst>
                <a:ext uri="{FF2B5EF4-FFF2-40B4-BE49-F238E27FC236}">
                  <a16:creationId xmlns:a16="http://schemas.microsoft.com/office/drawing/2014/main" id="{E129F537-0800-FE46-A2CA-DC0AFEF5E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  and g(x)                           , then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      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28690" name="Object 6">
              <a:extLst>
                <a:ext uri="{FF2B5EF4-FFF2-40B4-BE49-F238E27FC236}">
                  <a16:creationId xmlns:a16="http://schemas.microsoft.com/office/drawing/2014/main" id="{6AF57D49-646F-2642-B4C5-037583426A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0" y="3597"/>
            <a:ext cx="1008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5" imgW="29260800" imgH="5562600" progId="Equation.DSMT4">
                    <p:embed/>
                  </p:oleObj>
                </mc:Choice>
                <mc:Fallback>
                  <p:oleObj name="Equation" r:id="rId5" imgW="29260800" imgH="5562600" progId="Equation.DSMT4">
                    <p:embed/>
                    <p:pic>
                      <p:nvPicPr>
                        <p:cNvPr id="28690" name="Object 6">
                          <a:extLst>
                            <a:ext uri="{FF2B5EF4-FFF2-40B4-BE49-F238E27FC236}">
                              <a16:creationId xmlns:a16="http://schemas.microsoft.com/office/drawing/2014/main" id="{6AF57D49-646F-2642-B4C5-037583426A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0" y="3597"/>
                          <a:ext cx="1008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1" name="Object 7">
              <a:extLst>
                <a:ext uri="{FF2B5EF4-FFF2-40B4-BE49-F238E27FC236}">
                  <a16:creationId xmlns:a16="http://schemas.microsoft.com/office/drawing/2014/main" id="{4AF0C54A-1BBB-484A-9884-2F5C702FC9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0" y="3573"/>
            <a:ext cx="105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7" imgW="28384500" imgH="5562600" progId="Equation.DSMT4">
                    <p:embed/>
                  </p:oleObj>
                </mc:Choice>
                <mc:Fallback>
                  <p:oleObj name="Equation" r:id="rId7" imgW="28384500" imgH="5562600" progId="Equation.DSMT4">
                    <p:embed/>
                    <p:pic>
                      <p:nvPicPr>
                        <p:cNvPr id="28691" name="Object 7">
                          <a:extLst>
                            <a:ext uri="{FF2B5EF4-FFF2-40B4-BE49-F238E27FC236}">
                              <a16:creationId xmlns:a16="http://schemas.microsoft.com/office/drawing/2014/main" id="{4AF0C54A-1BBB-484A-9884-2F5C702FC9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3573"/>
                          <a:ext cx="105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2" name="Object 8">
              <a:extLst>
                <a:ext uri="{FF2B5EF4-FFF2-40B4-BE49-F238E27FC236}">
                  <a16:creationId xmlns:a16="http://schemas.microsoft.com/office/drawing/2014/main" id="{2A120A42-9621-3640-86E4-A3109782FB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" y="3848"/>
            <a:ext cx="441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Equation" r:id="rId9" imgW="123761500" imgH="5562600" progId="Equation.DSMT4">
                    <p:embed/>
                  </p:oleObj>
                </mc:Choice>
                <mc:Fallback>
                  <p:oleObj name="Equation" r:id="rId9" imgW="123761500" imgH="5562600" progId="Equation.DSMT4">
                    <p:embed/>
                    <p:pic>
                      <p:nvPicPr>
                        <p:cNvPr id="28692" name="Object 8">
                          <a:extLst>
                            <a:ext uri="{FF2B5EF4-FFF2-40B4-BE49-F238E27FC236}">
                              <a16:creationId xmlns:a16="http://schemas.microsoft.com/office/drawing/2014/main" id="{2A120A42-9621-3640-86E4-A3109782FB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" y="3848"/>
                          <a:ext cx="441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78" name="Group 10">
            <a:extLst>
              <a:ext uri="{FF2B5EF4-FFF2-40B4-BE49-F238E27FC236}">
                <a16:creationId xmlns:a16="http://schemas.microsoft.com/office/drawing/2014/main" id="{2026E2A6-2B18-F145-995B-0552979B6F91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81000"/>
            <a:ext cx="3340100" cy="685800"/>
            <a:chOff x="96" y="1200"/>
            <a:chExt cx="2104" cy="432"/>
          </a:xfrm>
        </p:grpSpPr>
        <p:graphicFrame>
          <p:nvGraphicFramePr>
            <p:cNvPr id="28687" name="Object 5">
              <a:extLst>
                <a:ext uri="{FF2B5EF4-FFF2-40B4-BE49-F238E27FC236}">
                  <a16:creationId xmlns:a16="http://schemas.microsoft.com/office/drawing/2014/main" id="{97A56C02-6022-3B47-B818-165C37FEED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00"/>
            <a:ext cx="1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Equation" r:id="rId11" imgW="39497000" imgH="9652000" progId="Equation.DSMT4">
                    <p:embed/>
                  </p:oleObj>
                </mc:Choice>
                <mc:Fallback>
                  <p:oleObj name="Equation" r:id="rId11" imgW="39497000" imgH="9652000" progId="Equation.DSMT4">
                    <p:embed/>
                    <p:pic>
                      <p:nvPicPr>
                        <p:cNvPr id="28687" name="Object 5">
                          <a:extLst>
                            <a:ext uri="{FF2B5EF4-FFF2-40B4-BE49-F238E27FC236}">
                              <a16:creationId xmlns:a16="http://schemas.microsoft.com/office/drawing/2014/main" id="{97A56C02-6022-3B47-B818-165C37FEE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00"/>
                          <a:ext cx="176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8" name="Text Box 12">
              <a:extLst>
                <a:ext uri="{FF2B5EF4-FFF2-40B4-BE49-F238E27FC236}">
                  <a16:creationId xmlns:a16="http://schemas.microsoft.com/office/drawing/2014/main" id="{5B1FC128-0769-B74D-AA4D-71BED9C04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1)</a:t>
              </a:r>
            </a:p>
          </p:txBody>
        </p:sp>
      </p:grpSp>
      <p:grpSp>
        <p:nvGrpSpPr>
          <p:cNvPr id="28679" name="Group 13">
            <a:extLst>
              <a:ext uri="{FF2B5EF4-FFF2-40B4-BE49-F238E27FC236}">
                <a16:creationId xmlns:a16="http://schemas.microsoft.com/office/drawing/2014/main" id="{9B61E2AC-D609-5349-BEA4-63320570F2AF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1143001"/>
            <a:ext cx="7313613" cy="411163"/>
            <a:chOff x="144" y="1824"/>
            <a:chExt cx="4607" cy="259"/>
          </a:xfrm>
        </p:grpSpPr>
        <p:graphicFrame>
          <p:nvGraphicFramePr>
            <p:cNvPr id="28685" name="Object 4">
              <a:extLst>
                <a:ext uri="{FF2B5EF4-FFF2-40B4-BE49-F238E27FC236}">
                  <a16:creationId xmlns:a16="http://schemas.microsoft.com/office/drawing/2014/main" id="{DECEE973-C03B-C449-A0DD-C12DE60F7B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824"/>
            <a:ext cx="43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name="Equation" r:id="rId13" imgW="88646000" imgH="5270500" progId="Equation.DSMT4">
                    <p:embed/>
                  </p:oleObj>
                </mc:Choice>
                <mc:Fallback>
                  <p:oleObj name="Equation" r:id="rId13" imgW="88646000" imgH="5270500" progId="Equation.DSMT4">
                    <p:embed/>
                    <p:pic>
                      <p:nvPicPr>
                        <p:cNvPr id="28685" name="Object 4">
                          <a:extLst>
                            <a:ext uri="{FF2B5EF4-FFF2-40B4-BE49-F238E27FC236}">
                              <a16:creationId xmlns:a16="http://schemas.microsoft.com/office/drawing/2014/main" id="{DECEE973-C03B-C449-A0DD-C12DE60F7B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824"/>
                          <a:ext cx="43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Text Box 15">
              <a:extLst>
                <a:ext uri="{FF2B5EF4-FFF2-40B4-BE49-F238E27FC236}">
                  <a16:creationId xmlns:a16="http://schemas.microsoft.com/office/drawing/2014/main" id="{EF75EF51-DB3C-254F-9783-89388A036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3)</a:t>
              </a:r>
            </a:p>
          </p:txBody>
        </p:sp>
      </p:grpSp>
      <p:grpSp>
        <p:nvGrpSpPr>
          <p:cNvPr id="28680" name="Group 16">
            <a:extLst>
              <a:ext uri="{FF2B5EF4-FFF2-40B4-BE49-F238E27FC236}">
                <a16:creationId xmlns:a16="http://schemas.microsoft.com/office/drawing/2014/main" id="{960572EA-2E27-6B46-A5D2-926B7E1FD88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600201"/>
            <a:ext cx="7824788" cy="690563"/>
            <a:chOff x="192" y="2976"/>
            <a:chExt cx="4929" cy="435"/>
          </a:xfrm>
        </p:grpSpPr>
        <p:graphicFrame>
          <p:nvGraphicFramePr>
            <p:cNvPr id="28683" name="Object 3">
              <a:extLst>
                <a:ext uri="{FF2B5EF4-FFF2-40B4-BE49-F238E27FC236}">
                  <a16:creationId xmlns:a16="http://schemas.microsoft.com/office/drawing/2014/main" id="{DFCF7D0F-8A9C-FF46-B4B8-1249DC62B1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976"/>
            <a:ext cx="449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Equation" r:id="rId15" imgW="99479100" imgH="9652000" progId="Equation.3">
                    <p:embed/>
                  </p:oleObj>
                </mc:Choice>
                <mc:Fallback>
                  <p:oleObj name="Equation" r:id="rId15" imgW="99479100" imgH="9652000" progId="Equation.3">
                    <p:embed/>
                    <p:pic>
                      <p:nvPicPr>
                        <p:cNvPr id="28683" name="Object 3">
                          <a:extLst>
                            <a:ext uri="{FF2B5EF4-FFF2-40B4-BE49-F238E27FC236}">
                              <a16:creationId xmlns:a16="http://schemas.microsoft.com/office/drawing/2014/main" id="{DFCF7D0F-8A9C-FF46-B4B8-1249DC62B1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976"/>
                          <a:ext cx="4497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4" name="Text Box 18">
              <a:extLst>
                <a:ext uri="{FF2B5EF4-FFF2-40B4-BE49-F238E27FC236}">
                  <a16:creationId xmlns:a16="http://schemas.microsoft.com/office/drawing/2014/main" id="{E5AAC6A5-F360-D540-AB8C-8AE707657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5)</a:t>
              </a:r>
            </a:p>
          </p:txBody>
        </p:sp>
      </p:grpSp>
      <p:sp>
        <p:nvSpPr>
          <p:cNvPr id="28681" name="Rectangle 19">
            <a:extLst>
              <a:ext uri="{FF2B5EF4-FFF2-40B4-BE49-F238E27FC236}">
                <a16:creationId xmlns:a16="http://schemas.microsoft.com/office/drawing/2014/main" id="{EEF7DF24-481A-BD4E-AF20-E854505B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04800"/>
            <a:ext cx="8077200" cy="3124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87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2">
            <a:extLst>
              <a:ext uri="{FF2B5EF4-FFF2-40B4-BE49-F238E27FC236}">
                <a16:creationId xmlns:a16="http://schemas.microsoft.com/office/drawing/2014/main" id="{5B5F9C47-ADD7-B04A-B659-A8A3CC162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65088"/>
            <a:ext cx="1866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>
                <a:latin typeface="Arial" panose="020B0604020202020204" pitchFamily="34" charset="0"/>
              </a:rPr>
              <a:t>Example 1</a:t>
            </a:r>
          </a:p>
        </p:txBody>
      </p:sp>
      <p:sp>
        <p:nvSpPr>
          <p:cNvPr id="29700" name="Text Box 3">
            <a:extLst>
              <a:ext uri="{FF2B5EF4-FFF2-40B4-BE49-F238E27FC236}">
                <a16:creationId xmlns:a16="http://schemas.microsoft.com/office/drawing/2014/main" id="{B80DE181-7BB2-5E49-81C8-E044CF497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762001"/>
            <a:ext cx="3216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latin typeface="Arial" panose="020B0604020202020204" pitchFamily="34" charset="0"/>
              </a:rPr>
              <a:t>Find the coefficient of 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29701" name="Object 2">
            <a:extLst>
              <a:ext uri="{FF2B5EF4-FFF2-40B4-BE49-F238E27FC236}">
                <a16:creationId xmlns:a16="http://schemas.microsoft.com/office/drawing/2014/main" id="{EAC94AC7-76DE-BA46-AC15-2725E93CC9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558800"/>
          <a:ext cx="2844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422400" imgH="355600" progId="Equation.3">
                  <p:embed/>
                </p:oleObj>
              </mc:Choice>
              <mc:Fallback>
                <p:oleObj name="Equation" r:id="rId3" imgW="1422400" imgH="355600" progId="Equation.3">
                  <p:embed/>
                  <p:pic>
                    <p:nvPicPr>
                      <p:cNvPr id="29701" name="Object 2">
                        <a:extLst>
                          <a:ext uri="{FF2B5EF4-FFF2-40B4-BE49-F238E27FC236}">
                            <a16:creationId xmlns:a16="http://schemas.microsoft.com/office/drawing/2014/main" id="{EAC94AC7-76DE-BA46-AC15-2725E93CC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58800"/>
                        <a:ext cx="2844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>
            <a:extLst>
              <a:ext uri="{FF2B5EF4-FFF2-40B4-BE49-F238E27FC236}">
                <a16:creationId xmlns:a16="http://schemas.microsoft.com/office/drawing/2014/main" id="{8F110CDD-55F9-B640-AC63-A6C4D9F7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1336676"/>
            <a:ext cx="78057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To simplify the expression, we extract        from each polynomial factor and </a:t>
            </a: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then apply identity (2).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9703" name="Object 3">
            <a:extLst>
              <a:ext uri="{FF2B5EF4-FFF2-40B4-BE49-F238E27FC236}">
                <a16:creationId xmlns:a16="http://schemas.microsoft.com/office/drawing/2014/main" id="{0CE5B7DE-45CB-3E49-A851-51959D8BC0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6613" y="1300163"/>
          <a:ext cx="3476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4102100" imgH="4686300" progId="Equation.DSMT4">
                  <p:embed/>
                </p:oleObj>
              </mc:Choice>
              <mc:Fallback>
                <p:oleObj name="Equation" r:id="rId5" imgW="4102100" imgH="4686300" progId="Equation.DSMT4">
                  <p:embed/>
                  <p:pic>
                    <p:nvPicPr>
                      <p:cNvPr id="29703" name="Object 3">
                        <a:extLst>
                          <a:ext uri="{FF2B5EF4-FFF2-40B4-BE49-F238E27FC236}">
                            <a16:creationId xmlns:a16="http://schemas.microsoft.com/office/drawing/2014/main" id="{0CE5B7DE-45CB-3E49-A851-51959D8BC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1300163"/>
                        <a:ext cx="347662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9">
            <a:extLst>
              <a:ext uri="{FF2B5EF4-FFF2-40B4-BE49-F238E27FC236}">
                <a16:creationId xmlns:a16="http://schemas.microsoft.com/office/drawing/2014/main" id="{9708371F-0748-8F40-8817-BFD517130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1" y="2189163"/>
            <a:ext cx="85071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Thus the coefficient of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16</a:t>
            </a:r>
            <a:r>
              <a:rPr lang="en-US" altLang="en-US" sz="1800">
                <a:latin typeface="Arial" panose="020B0604020202020204" pitchFamily="34" charset="0"/>
              </a:rPr>
              <a:t> in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10</a:t>
            </a:r>
            <a:r>
              <a:rPr lang="en-US" altLang="en-US" sz="1800">
                <a:latin typeface="Arial" panose="020B0604020202020204" pitchFamily="34" charset="0"/>
              </a:rPr>
              <a:t> (1-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 </a:t>
            </a:r>
            <a:r>
              <a:rPr lang="en-US" altLang="en-US" sz="1800" baseline="30000">
                <a:latin typeface="Arial" panose="020B0604020202020204" pitchFamily="34" charset="0"/>
              </a:rPr>
              <a:t>–5</a:t>
            </a:r>
            <a:r>
              <a:rPr lang="en-US" altLang="en-US" sz="1800">
                <a:latin typeface="Arial" panose="020B0604020202020204" pitchFamily="34" charset="0"/>
              </a:rPr>
              <a:t>  is the coefficient of the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6</a:t>
            </a:r>
            <a:r>
              <a:rPr lang="en-US" altLang="en-US" sz="1800">
                <a:latin typeface="Arial" panose="020B0604020202020204" pitchFamily="34" charset="0"/>
              </a:rPr>
              <a:t> term in (1-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 </a:t>
            </a:r>
            <a:r>
              <a:rPr lang="en-US" altLang="en-US" sz="1800" baseline="30000">
                <a:latin typeface="Arial" panose="020B0604020202020204" pitchFamily="34" charset="0"/>
              </a:rPr>
              <a:t>–5</a:t>
            </a:r>
            <a:r>
              <a:rPr lang="en-US" altLang="en-US" sz="1800"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9705" name="Object 5">
            <a:extLst>
              <a:ext uri="{FF2B5EF4-FFF2-40B4-BE49-F238E27FC236}">
                <a16:creationId xmlns:a16="http://schemas.microsoft.com/office/drawing/2014/main" id="{351DC878-D27F-454F-91DB-71FE0560E2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8013" y="2713038"/>
          <a:ext cx="5541962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2501900" imgH="1130300" progId="Equation.3">
                  <p:embed/>
                </p:oleObj>
              </mc:Choice>
              <mc:Fallback>
                <p:oleObj name="Equation" r:id="rId7" imgW="2501900" imgH="1130300" progId="Equation.3">
                  <p:embed/>
                  <p:pic>
                    <p:nvPicPr>
                      <p:cNvPr id="29705" name="Object 5">
                        <a:extLst>
                          <a:ext uri="{FF2B5EF4-FFF2-40B4-BE49-F238E27FC236}">
                            <a16:creationId xmlns:a16="http://schemas.microsoft.com/office/drawing/2014/main" id="{351DC878-D27F-454F-91DB-71FE0560E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2713038"/>
                        <a:ext cx="5541962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6">
            <a:extLst>
              <a:ext uri="{FF2B5EF4-FFF2-40B4-BE49-F238E27FC236}">
                <a16:creationId xmlns:a16="http://schemas.microsoft.com/office/drawing/2014/main" id="{A753E48C-DA23-6240-8098-512487DF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10189"/>
            <a:ext cx="75438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[i.e., the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6</a:t>
            </a:r>
            <a:r>
              <a:rPr lang="en-US" altLang="en-US" sz="1800">
                <a:latin typeface="Arial" panose="020B0604020202020204" pitchFamily="34" charset="0"/>
              </a:rPr>
              <a:t> term in (1-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 </a:t>
            </a:r>
            <a:r>
              <a:rPr lang="en-US" altLang="en-US" sz="1800" baseline="30000">
                <a:latin typeface="Arial" panose="020B0604020202020204" pitchFamily="34" charset="0"/>
              </a:rPr>
              <a:t>–5</a:t>
            </a:r>
            <a:r>
              <a:rPr lang="en-US" altLang="en-US" sz="1800">
                <a:latin typeface="Arial" panose="020B0604020202020204" pitchFamily="34" charset="0"/>
              </a:rPr>
              <a:t> is multiplied by to become the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16</a:t>
            </a:r>
            <a:r>
              <a:rPr lang="en-US" altLang="en-US" sz="1800">
                <a:latin typeface="Arial" panose="020B0604020202020204" pitchFamily="34" charset="0"/>
              </a:rPr>
              <a:t> term in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10</a:t>
            </a:r>
            <a:r>
              <a:rPr lang="en-US" altLang="en-US" sz="1800">
                <a:latin typeface="Arial" panose="020B0604020202020204" pitchFamily="34" charset="0"/>
              </a:rPr>
              <a:t> (1-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 </a:t>
            </a:r>
            <a:r>
              <a:rPr lang="en-US" altLang="en-US" sz="1800" baseline="30000">
                <a:latin typeface="Arial" panose="020B0604020202020204" pitchFamily="34" charset="0"/>
              </a:rPr>
              <a:t>–5</a:t>
            </a:r>
            <a:r>
              <a:rPr lang="en-US" altLang="en-US" sz="1800">
                <a:latin typeface="Arial" panose="020B0604020202020204" pitchFamily="34" charset="0"/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255167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E6588B40-ACC4-CC40-8DCF-79FA6865A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Example 1 continued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F4DEF817-4767-DA4D-9D93-EE11948BD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14601"/>
            <a:ext cx="8610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From expansion (5) we see that the coefficient of</a:t>
            </a: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endParaRPr lang="en-US" altLang="en-US" sz="180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More generally, the coefficient of x</a:t>
            </a:r>
            <a:r>
              <a:rPr lang="en-US" altLang="en-US" sz="1800" baseline="30000"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Arial" panose="020B0604020202020204" pitchFamily="34" charset="0"/>
              </a:rPr>
              <a:t> in  </a:t>
            </a:r>
          </a:p>
        </p:txBody>
      </p:sp>
      <p:graphicFrame>
        <p:nvGraphicFramePr>
          <p:cNvPr id="30725" name="Object 2">
            <a:extLst>
              <a:ext uri="{FF2B5EF4-FFF2-40B4-BE49-F238E27FC236}">
                <a16:creationId xmlns:a16="http://schemas.microsoft.com/office/drawing/2014/main" id="{63F0086C-44E4-AF49-BA89-51AA612C18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514600"/>
          <a:ext cx="365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41541700" imgH="5270500" progId="Equation.DSMT4">
                  <p:embed/>
                </p:oleObj>
              </mc:Choice>
              <mc:Fallback>
                <p:oleObj name="Equation" r:id="rId3" imgW="41541700" imgH="5270500" progId="Equation.DSMT4">
                  <p:embed/>
                  <p:pic>
                    <p:nvPicPr>
                      <p:cNvPr id="30725" name="Object 2">
                        <a:extLst>
                          <a:ext uri="{FF2B5EF4-FFF2-40B4-BE49-F238E27FC236}">
                            <a16:creationId xmlns:a16="http://schemas.microsoft.com/office/drawing/2014/main" id="{63F0086C-44E4-AF49-BA89-51AA612C18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514600"/>
                        <a:ext cx="3657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6">
            <a:extLst>
              <a:ext uri="{FF2B5EF4-FFF2-40B4-BE49-F238E27FC236}">
                <a16:creationId xmlns:a16="http://schemas.microsoft.com/office/drawing/2014/main" id="{97138029-EBA5-DA40-8CAB-559C4477370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524001"/>
            <a:ext cx="7824788" cy="690563"/>
            <a:chOff x="192" y="2976"/>
            <a:chExt cx="4929" cy="435"/>
          </a:xfrm>
        </p:grpSpPr>
        <p:graphicFrame>
          <p:nvGraphicFramePr>
            <p:cNvPr id="30730" name="Object 4">
              <a:extLst>
                <a:ext uri="{FF2B5EF4-FFF2-40B4-BE49-F238E27FC236}">
                  <a16:creationId xmlns:a16="http://schemas.microsoft.com/office/drawing/2014/main" id="{4A09965E-A0EF-A64B-A17E-01FE320F36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976"/>
            <a:ext cx="449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99479100" imgH="9652000" progId="Equation.DSMT4">
                    <p:embed/>
                  </p:oleObj>
                </mc:Choice>
                <mc:Fallback>
                  <p:oleObj name="Equation" r:id="rId5" imgW="99479100" imgH="9652000" progId="Equation.DSMT4">
                    <p:embed/>
                    <p:pic>
                      <p:nvPicPr>
                        <p:cNvPr id="30730" name="Object 4">
                          <a:extLst>
                            <a:ext uri="{FF2B5EF4-FFF2-40B4-BE49-F238E27FC236}">
                              <a16:creationId xmlns:a16="http://schemas.microsoft.com/office/drawing/2014/main" id="{4A09965E-A0EF-A64B-A17E-01FE320F36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976"/>
                          <a:ext cx="4497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1" name="Text Box 8">
              <a:extLst>
                <a:ext uri="{FF2B5EF4-FFF2-40B4-BE49-F238E27FC236}">
                  <a16:creationId xmlns:a16="http://schemas.microsoft.com/office/drawing/2014/main" id="{6EB97F52-862C-2A45-9DBE-C495ED391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5)</a:t>
              </a:r>
            </a:p>
          </p:txBody>
        </p:sp>
      </p:grpSp>
      <p:sp>
        <p:nvSpPr>
          <p:cNvPr id="30727" name="Rectangle 9">
            <a:extLst>
              <a:ext uri="{FF2B5EF4-FFF2-40B4-BE49-F238E27FC236}">
                <a16:creationId xmlns:a16="http://schemas.microsoft.com/office/drawing/2014/main" id="{D7381AE1-EE32-6C4F-B25A-04E91E8C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447800"/>
            <a:ext cx="8077200" cy="914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0728" name="Object 3">
            <a:extLst>
              <a:ext uri="{FF2B5EF4-FFF2-40B4-BE49-F238E27FC236}">
                <a16:creationId xmlns:a16="http://schemas.microsoft.com/office/drawing/2014/main" id="{11840357-2DC9-B546-99AD-243FF5F01F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886201"/>
          <a:ext cx="60198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66408300" imgH="11112500" progId="Equation.3">
                  <p:embed/>
                </p:oleObj>
              </mc:Choice>
              <mc:Fallback>
                <p:oleObj name="Equation" r:id="rId7" imgW="66408300" imgH="11112500" progId="Equation.3">
                  <p:embed/>
                  <p:pic>
                    <p:nvPicPr>
                      <p:cNvPr id="30728" name="Object 3">
                        <a:extLst>
                          <a:ext uri="{FF2B5EF4-FFF2-40B4-BE49-F238E27FC236}">
                            <a16:creationId xmlns:a16="http://schemas.microsoft.com/office/drawing/2014/main" id="{11840357-2DC9-B546-99AD-243FF5F01F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1"/>
                        <a:ext cx="60198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1567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C17BD917-03FD-C74D-BCF2-B40D2E6BE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Example 2</a:t>
            </a:r>
          </a:p>
        </p:txBody>
      </p:sp>
      <p:grpSp>
        <p:nvGrpSpPr>
          <p:cNvPr id="31748" name="Group 25">
            <a:extLst>
              <a:ext uri="{FF2B5EF4-FFF2-40B4-BE49-F238E27FC236}">
                <a16:creationId xmlns:a16="http://schemas.microsoft.com/office/drawing/2014/main" id="{492278A4-3D35-C24B-BF63-697730877C9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962401"/>
            <a:ext cx="8229600" cy="671513"/>
            <a:chOff x="576" y="2256"/>
            <a:chExt cx="5184" cy="423"/>
          </a:xfrm>
        </p:grpSpPr>
        <p:sp>
          <p:nvSpPr>
            <p:cNvPr id="31764" name="Text Box 4">
              <a:extLst>
                <a:ext uri="{FF2B5EF4-FFF2-40B4-BE49-F238E27FC236}">
                  <a16:creationId xmlns:a16="http://schemas.microsoft.com/office/drawing/2014/main" id="{71CB4CE2-48CE-F74A-A4F7-E6D6448BA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352"/>
              <a:ext cx="5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(1+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</a:t>
              </a:r>
              <a:r>
                <a:rPr lang="en-US" altLang="en-US" sz="1800" baseline="30000">
                  <a:latin typeface="Arial" panose="020B0604020202020204" pitchFamily="34" charset="0"/>
                </a:rPr>
                <a:t>19</a:t>
              </a:r>
              <a:r>
                <a:rPr lang="en-US" altLang="en-US" sz="1800">
                  <a:latin typeface="Arial" panose="020B0604020202020204" pitchFamily="34" charset="0"/>
                </a:rPr>
                <a:t> = 1 +            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 +           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2</a:t>
              </a:r>
              <a:r>
                <a:rPr lang="en-US" altLang="en-US" sz="1800">
                  <a:latin typeface="Arial" panose="020B0604020202020204" pitchFamily="34" charset="0"/>
                </a:rPr>
                <a:t>+ … +            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r</a:t>
              </a:r>
              <a:r>
                <a:rPr lang="en-US" altLang="en-US" sz="1800">
                  <a:latin typeface="Arial" panose="020B0604020202020204" pitchFamily="34" charset="0"/>
                </a:rPr>
                <a:t>+ … +            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65" name="Text Box 5">
              <a:extLst>
                <a:ext uri="{FF2B5EF4-FFF2-40B4-BE49-F238E27FC236}">
                  <a16:creationId xmlns:a16="http://schemas.microsoft.com/office/drawing/2014/main" id="{9CD7C2C8-13F7-DA4E-B322-B5F6AD8E0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256"/>
              <a:ext cx="52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600">
                  <a:latin typeface="Arial" panose="020B0604020202020204" pitchFamily="34" charset="0"/>
                </a:rPr>
                <a:t>(  )</a:t>
              </a:r>
            </a:p>
          </p:txBody>
        </p:sp>
        <p:sp>
          <p:nvSpPr>
            <p:cNvPr id="31766" name="Text Box 6">
              <a:extLst>
                <a:ext uri="{FF2B5EF4-FFF2-40B4-BE49-F238E27FC236}">
                  <a16:creationId xmlns:a16="http://schemas.microsoft.com/office/drawing/2014/main" id="{F74D42DC-784F-1E49-941B-BF718E23A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256"/>
              <a:ext cx="52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600">
                  <a:latin typeface="Arial" panose="020B0604020202020204" pitchFamily="34" charset="0"/>
                </a:rPr>
                <a:t>(  )</a:t>
              </a:r>
            </a:p>
          </p:txBody>
        </p:sp>
        <p:sp>
          <p:nvSpPr>
            <p:cNvPr id="31767" name="Text Box 7">
              <a:extLst>
                <a:ext uri="{FF2B5EF4-FFF2-40B4-BE49-F238E27FC236}">
                  <a16:creationId xmlns:a16="http://schemas.microsoft.com/office/drawing/2014/main" id="{E7BC4F36-ECB5-2242-9BE4-063717313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52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600">
                  <a:latin typeface="Arial" panose="020B0604020202020204" pitchFamily="34" charset="0"/>
                </a:rPr>
                <a:t>(  )</a:t>
              </a:r>
            </a:p>
          </p:txBody>
        </p:sp>
        <p:sp>
          <p:nvSpPr>
            <p:cNvPr id="31768" name="Text Box 8">
              <a:extLst>
                <a:ext uri="{FF2B5EF4-FFF2-40B4-BE49-F238E27FC236}">
                  <a16:creationId xmlns:a16="http://schemas.microsoft.com/office/drawing/2014/main" id="{900DEC0D-84EB-D04C-A836-896FDF00E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256"/>
              <a:ext cx="52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600">
                  <a:latin typeface="Arial" panose="020B0604020202020204" pitchFamily="34" charset="0"/>
                </a:rPr>
                <a:t>(  )</a:t>
              </a:r>
            </a:p>
          </p:txBody>
        </p:sp>
        <p:sp>
          <p:nvSpPr>
            <p:cNvPr id="31769" name="Text Box 9">
              <a:extLst>
                <a:ext uri="{FF2B5EF4-FFF2-40B4-BE49-F238E27FC236}">
                  <a16:creationId xmlns:a16="http://schemas.microsoft.com/office/drawing/2014/main" id="{AB22BA58-0C8C-1648-A68D-BB10E1132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25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70" name="Text Box 10">
              <a:extLst>
                <a:ext uri="{FF2B5EF4-FFF2-40B4-BE49-F238E27FC236}">
                  <a16:creationId xmlns:a16="http://schemas.microsoft.com/office/drawing/2014/main" id="{C05CB104-3961-2243-B1A2-E86257935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5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71" name="Text Box 11">
              <a:extLst>
                <a:ext uri="{FF2B5EF4-FFF2-40B4-BE49-F238E27FC236}">
                  <a16:creationId xmlns:a16="http://schemas.microsoft.com/office/drawing/2014/main" id="{08ADE559-1119-484F-9681-9F46D8A22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25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72" name="Text Box 12">
              <a:extLst>
                <a:ext uri="{FF2B5EF4-FFF2-40B4-BE49-F238E27FC236}">
                  <a16:creationId xmlns:a16="http://schemas.microsoft.com/office/drawing/2014/main" id="{F5CDFBCE-825B-F148-BACE-2E16A2771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25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73" name="Text Box 13">
              <a:extLst>
                <a:ext uri="{FF2B5EF4-FFF2-40B4-BE49-F238E27FC236}">
                  <a16:creationId xmlns:a16="http://schemas.microsoft.com/office/drawing/2014/main" id="{5C85FA33-8B45-B34A-BA33-3E73C8C85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44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19</a:t>
              </a:r>
            </a:p>
          </p:txBody>
        </p:sp>
        <p:sp>
          <p:nvSpPr>
            <p:cNvPr id="31774" name="Text Box 14">
              <a:extLst>
                <a:ext uri="{FF2B5EF4-FFF2-40B4-BE49-F238E27FC236}">
                  <a16:creationId xmlns:a16="http://schemas.microsoft.com/office/drawing/2014/main" id="{A7B15534-6F94-2345-991A-D8A13453A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775" name="Text Box 16">
              <a:extLst>
                <a:ext uri="{FF2B5EF4-FFF2-40B4-BE49-F238E27FC236}">
                  <a16:creationId xmlns:a16="http://schemas.microsoft.com/office/drawing/2014/main" id="{13ABD353-EFFD-2149-A5CF-318E470B3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44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1776" name="Text Box 17">
              <a:extLst>
                <a:ext uri="{FF2B5EF4-FFF2-40B4-BE49-F238E27FC236}">
                  <a16:creationId xmlns:a16="http://schemas.microsoft.com/office/drawing/2014/main" id="{1F83620C-B80C-BE42-A390-815CD4E84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44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31749" name="Group 26">
            <a:extLst>
              <a:ext uri="{FF2B5EF4-FFF2-40B4-BE49-F238E27FC236}">
                <a16:creationId xmlns:a16="http://schemas.microsoft.com/office/drawing/2014/main" id="{4F016F9E-149D-414F-B98A-9C42D8B5AEA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981200"/>
            <a:ext cx="8458200" cy="4451350"/>
            <a:chOff x="240" y="960"/>
            <a:chExt cx="5328" cy="2804"/>
          </a:xfrm>
        </p:grpSpPr>
        <p:sp>
          <p:nvSpPr>
            <p:cNvPr id="31757" name="Text Box 3">
              <a:extLst>
                <a:ext uri="{FF2B5EF4-FFF2-40B4-BE49-F238E27FC236}">
                  <a16:creationId xmlns:a16="http://schemas.microsoft.com/office/drawing/2014/main" id="{285EFFFE-A7E2-044F-A1D1-CEDF6B147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960"/>
              <a:ext cx="5184" cy="1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Use generating functions to find the number of ways to collect $15 from 20 distinct people if each of the first 19 people can give a dollar (or nothing) and the twentieth person can give either $1 or $5 (or nothing).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	The generating function for the number of ways to collect </a:t>
              </a:r>
              <a:r>
                <a:rPr lang="en-US" altLang="en-US" sz="1800" i="1">
                  <a:latin typeface="Arial" panose="020B0604020202020204" pitchFamily="34" charset="0"/>
                </a:rPr>
                <a:t>r </a:t>
              </a:r>
              <a:r>
                <a:rPr lang="en-US" altLang="en-US" sz="1800">
                  <a:latin typeface="Arial" panose="020B0604020202020204" pitchFamily="34" charset="0"/>
                </a:rPr>
                <a:t>dollars from these people is (1+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</a:t>
              </a:r>
              <a:r>
                <a:rPr lang="en-US" altLang="en-US" sz="1800" baseline="30000">
                  <a:latin typeface="Arial" panose="020B0604020202020204" pitchFamily="34" charset="0"/>
                </a:rPr>
                <a:t>19</a:t>
              </a:r>
              <a:r>
                <a:rPr lang="en-US" altLang="en-US" sz="1800">
                  <a:latin typeface="Arial" panose="020B0604020202020204" pitchFamily="34" charset="0"/>
                </a:rPr>
                <a:t>(1+</a:t>
              </a:r>
              <a:r>
                <a:rPr lang="en-US" altLang="en-US" sz="1800" i="1">
                  <a:latin typeface="Arial" panose="020B0604020202020204" pitchFamily="34" charset="0"/>
                </a:rPr>
                <a:t>x+x </a:t>
              </a:r>
              <a:r>
                <a:rPr lang="en-US" altLang="en-US" sz="1800" baseline="30000">
                  <a:latin typeface="Arial" panose="020B0604020202020204" pitchFamily="34" charset="0"/>
                </a:rPr>
                <a:t>5</a:t>
              </a:r>
              <a:r>
                <a:rPr lang="en-US" altLang="en-US" sz="1800">
                  <a:latin typeface="Arial" panose="020B0604020202020204" pitchFamily="34" charset="0"/>
                </a:rPr>
                <a:t>). We want the coefficient of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15</a:t>
              </a:r>
              <a:r>
                <a:rPr lang="en-US" altLang="en-US" sz="1800">
                  <a:latin typeface="Arial" panose="020B0604020202020204" pitchFamily="34" charset="0"/>
                </a:rPr>
                <a:t>.  The first part of this generating function has the binomial expansion</a:t>
              </a:r>
            </a:p>
          </p:txBody>
        </p:sp>
        <p:sp>
          <p:nvSpPr>
            <p:cNvPr id="31758" name="Text Box 19">
              <a:extLst>
                <a:ext uri="{FF2B5EF4-FFF2-40B4-BE49-F238E27FC236}">
                  <a16:creationId xmlns:a16="http://schemas.microsoft.com/office/drawing/2014/main" id="{E61B4E1C-7BC1-0347-87B8-EEF5070F5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784"/>
              <a:ext cx="532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If we let </a:t>
              </a:r>
              <a:r>
                <a:rPr lang="en-US" altLang="en-US" sz="1800" i="1">
                  <a:latin typeface="Arial" panose="020B0604020202020204" pitchFamily="34" charset="0"/>
                </a:rPr>
                <a:t>f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 be this first polynomial and let </a:t>
              </a:r>
              <a:r>
                <a:rPr lang="en-US" altLang="en-US" sz="1800" i="1">
                  <a:latin typeface="Arial" panose="020B0604020202020204" pitchFamily="34" charset="0"/>
                </a:rPr>
                <a:t>g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 = 1+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+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5</a:t>
              </a:r>
              <a:r>
                <a:rPr lang="en-US" altLang="en-US" sz="1800">
                  <a:latin typeface="Arial" panose="020B0604020202020204" pitchFamily="34" charset="0"/>
                </a:rPr>
                <a:t>, then we can use Eq. (6) to calculate the coefficient of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baseline="30000">
                  <a:latin typeface="Arial" panose="020B0604020202020204" pitchFamily="34" charset="0"/>
                </a:rPr>
                <a:t>15</a:t>
              </a:r>
              <a:r>
                <a:rPr lang="en-US" altLang="en-US" sz="1800">
                  <a:latin typeface="Arial" panose="020B0604020202020204" pitchFamily="34" charset="0"/>
                </a:rPr>
                <a:t> in </a:t>
              </a:r>
              <a:r>
                <a:rPr lang="en-US" altLang="en-US" sz="1800" i="1">
                  <a:latin typeface="Arial" panose="020B0604020202020204" pitchFamily="34" charset="0"/>
                </a:rPr>
                <a:t>h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 = </a:t>
              </a:r>
              <a:r>
                <a:rPr lang="en-US" altLang="en-US" sz="1800" i="1">
                  <a:latin typeface="Arial" panose="020B0604020202020204" pitchFamily="34" charset="0"/>
                </a:rPr>
                <a:t>f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</a:t>
              </a:r>
              <a:r>
                <a:rPr lang="en-US" altLang="en-US" sz="1800" i="1">
                  <a:latin typeface="Arial" panose="020B0604020202020204" pitchFamily="34" charset="0"/>
                </a:rPr>
                <a:t>g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).  Let </a:t>
              </a:r>
              <a:r>
                <a:rPr lang="en-US" altLang="en-US" sz="1800" i="1">
                  <a:latin typeface="Arial" panose="020B0604020202020204" pitchFamily="34" charset="0"/>
                </a:rPr>
                <a:t>a</a:t>
              </a:r>
              <a:r>
                <a:rPr lang="en-US" altLang="en-US" sz="1800" i="1" baseline="-25000">
                  <a:latin typeface="Arial" panose="020B0604020202020204" pitchFamily="34" charset="0"/>
                </a:rPr>
                <a:t>r</a:t>
              </a:r>
              <a:r>
                <a:rPr lang="en-US" altLang="en-US" sz="1800">
                  <a:latin typeface="Arial" panose="020B0604020202020204" pitchFamily="34" charset="0"/>
                </a:rPr>
                <a:t> be the coefficient of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i="1" baseline="30000">
                  <a:latin typeface="Arial" panose="020B0604020202020204" pitchFamily="34" charset="0"/>
                </a:rPr>
                <a:t>r</a:t>
              </a:r>
              <a:r>
                <a:rPr lang="en-US" altLang="en-US" sz="1800">
                  <a:latin typeface="Arial" panose="020B0604020202020204" pitchFamily="34" charset="0"/>
                </a:rPr>
                <a:t> in </a:t>
              </a:r>
              <a:r>
                <a:rPr lang="en-US" altLang="en-US" sz="1800" i="1">
                  <a:latin typeface="Arial" panose="020B0604020202020204" pitchFamily="34" charset="0"/>
                </a:rPr>
                <a:t>f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 in</a:t>
              </a:r>
              <a:r>
                <a:rPr lang="en-US" altLang="en-US" sz="1800" i="1">
                  <a:latin typeface="Arial" panose="020B0604020202020204" pitchFamily="34" charset="0"/>
                </a:rPr>
                <a:t> f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 and </a:t>
              </a:r>
              <a:r>
                <a:rPr lang="en-US" altLang="en-US" sz="1800" i="1">
                  <a:latin typeface="Arial" panose="020B0604020202020204" pitchFamily="34" charset="0"/>
                </a:rPr>
                <a:t>b</a:t>
              </a:r>
              <a:r>
                <a:rPr lang="en-US" altLang="en-US" sz="1800" i="1" baseline="-25000">
                  <a:latin typeface="Arial" panose="020B0604020202020204" pitchFamily="34" charset="0"/>
                </a:rPr>
                <a:t>r</a:t>
              </a:r>
              <a:r>
                <a:rPr lang="en-US" altLang="en-US" sz="1800">
                  <a:latin typeface="Arial" panose="020B0604020202020204" pitchFamily="34" charset="0"/>
                </a:rPr>
                <a:t> the coefficient of 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 i="1" baseline="30000">
                  <a:latin typeface="Arial" panose="020B0604020202020204" pitchFamily="34" charset="0"/>
                </a:rPr>
                <a:t>r</a:t>
              </a:r>
              <a:r>
                <a:rPr lang="en-US" altLang="en-US" sz="1800">
                  <a:latin typeface="Arial" panose="020B0604020202020204" pitchFamily="34" charset="0"/>
                </a:rPr>
                <a:t> in </a:t>
              </a:r>
              <a:r>
                <a:rPr lang="en-US" altLang="en-US" sz="1800" i="1">
                  <a:latin typeface="Arial" panose="020B0604020202020204" pitchFamily="34" charset="0"/>
                </a:rPr>
                <a:t>g</a:t>
              </a:r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 i="1">
                  <a:latin typeface="Arial" panose="020B0604020202020204" pitchFamily="34" charset="0"/>
                </a:rPr>
                <a:t>x</a:t>
              </a:r>
              <a:r>
                <a:rPr lang="en-US" altLang="en-US" sz="1800">
                  <a:latin typeface="Arial" panose="020B0604020202020204" pitchFamily="34" charset="0"/>
                </a:rPr>
                <a:t>).  We know that</a:t>
              </a:r>
            </a:p>
          </p:txBody>
        </p:sp>
        <p:grpSp>
          <p:nvGrpSpPr>
            <p:cNvPr id="31759" name="Group 24">
              <a:extLst>
                <a:ext uri="{FF2B5EF4-FFF2-40B4-BE49-F238E27FC236}">
                  <a16:creationId xmlns:a16="http://schemas.microsoft.com/office/drawing/2014/main" id="{0E2E06BA-35A2-9B46-A6A6-039E9BF91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360"/>
              <a:ext cx="4032" cy="404"/>
              <a:chOff x="720" y="3360"/>
              <a:chExt cx="4032" cy="404"/>
            </a:xfrm>
          </p:grpSpPr>
          <p:sp>
            <p:nvSpPr>
              <p:cNvPr id="31760" name="Text Box 20">
                <a:extLst>
                  <a:ext uri="{FF2B5EF4-FFF2-40B4-BE49-F238E27FC236}">
                    <a16:creationId xmlns:a16="http://schemas.microsoft.com/office/drawing/2014/main" id="{12C01AF9-267A-1A4F-A05B-E2F5E4C18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3456"/>
                <a:ext cx="40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i="1">
                    <a:latin typeface="Arial" panose="020B0604020202020204" pitchFamily="34" charset="0"/>
                  </a:rPr>
                  <a:t>a</a:t>
                </a:r>
                <a:r>
                  <a:rPr lang="en-US" altLang="en-US" sz="1800" i="1" baseline="-25000">
                    <a:latin typeface="Arial" panose="020B0604020202020204" pitchFamily="34" charset="0"/>
                  </a:rPr>
                  <a:t>r</a:t>
                </a:r>
                <a:r>
                  <a:rPr lang="en-US" altLang="en-US" sz="1800">
                    <a:latin typeface="Arial" panose="020B0604020202020204" pitchFamily="34" charset="0"/>
                  </a:rPr>
                  <a:t> =           and that </a:t>
                </a:r>
                <a:r>
                  <a:rPr lang="en-US" altLang="en-US" sz="1800" i="1">
                    <a:latin typeface="Arial" panose="020B0604020202020204" pitchFamily="34" charset="0"/>
                  </a:rPr>
                  <a:t>b</a:t>
                </a:r>
                <a:r>
                  <a:rPr lang="en-US" altLang="en-US" sz="1800" baseline="-25000">
                    <a:latin typeface="Arial" panose="020B0604020202020204" pitchFamily="34" charset="0"/>
                  </a:rPr>
                  <a:t>0</a:t>
                </a:r>
                <a:r>
                  <a:rPr lang="en-US" altLang="en-US" sz="1800">
                    <a:latin typeface="Arial" panose="020B0604020202020204" pitchFamily="34" charset="0"/>
                  </a:rPr>
                  <a:t> = </a:t>
                </a:r>
                <a:r>
                  <a:rPr lang="en-US" altLang="en-US" sz="1800" i="1">
                    <a:latin typeface="Arial" panose="020B0604020202020204" pitchFamily="34" charset="0"/>
                  </a:rPr>
                  <a:t>b</a:t>
                </a:r>
                <a:r>
                  <a:rPr lang="en-US" altLang="en-US" sz="1800" baseline="-25000">
                    <a:latin typeface="Arial" panose="020B0604020202020204" pitchFamily="34" charset="0"/>
                  </a:rPr>
                  <a:t>1</a:t>
                </a:r>
                <a:r>
                  <a:rPr lang="en-US" altLang="en-US" sz="1800">
                    <a:latin typeface="Arial" panose="020B0604020202020204" pitchFamily="34" charset="0"/>
                  </a:rPr>
                  <a:t> = </a:t>
                </a:r>
                <a:r>
                  <a:rPr lang="en-US" altLang="en-US" sz="1800" i="1">
                    <a:latin typeface="Arial" panose="020B0604020202020204" pitchFamily="34" charset="0"/>
                  </a:rPr>
                  <a:t>b</a:t>
                </a:r>
                <a:r>
                  <a:rPr lang="en-US" altLang="en-US" sz="1800" baseline="-25000">
                    <a:latin typeface="Arial" panose="020B0604020202020204" pitchFamily="34" charset="0"/>
                  </a:rPr>
                  <a:t>5</a:t>
                </a:r>
                <a:r>
                  <a:rPr lang="en-US" altLang="en-US" sz="1800">
                    <a:latin typeface="Arial" panose="020B0604020202020204" pitchFamily="34" charset="0"/>
                  </a:rPr>
                  <a:t> = 1 (other </a:t>
                </a:r>
                <a:r>
                  <a:rPr lang="en-US" altLang="en-US" sz="1800" i="1">
                    <a:latin typeface="Arial" panose="020B0604020202020204" pitchFamily="34" charset="0"/>
                  </a:rPr>
                  <a:t>b</a:t>
                </a:r>
                <a:r>
                  <a:rPr lang="en-US" altLang="en-US" sz="1800" i="1" baseline="-25000">
                    <a:latin typeface="Arial" panose="020B0604020202020204" pitchFamily="34" charset="0"/>
                  </a:rPr>
                  <a:t>i</a:t>
                </a:r>
                <a:r>
                  <a:rPr lang="en-US" altLang="en-US" sz="1800">
                    <a:latin typeface="Arial" panose="020B0604020202020204" pitchFamily="34" charset="0"/>
                  </a:rPr>
                  <a:t>s are zero).</a:t>
                </a:r>
              </a:p>
            </p:txBody>
          </p:sp>
          <p:sp>
            <p:nvSpPr>
              <p:cNvPr id="31761" name="Text Box 21">
                <a:extLst>
                  <a:ext uri="{FF2B5EF4-FFF2-40B4-BE49-F238E27FC236}">
                    <a16:creationId xmlns:a16="http://schemas.microsoft.com/office/drawing/2014/main" id="{DA7F4015-AEB7-0644-9A54-795D215A4E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360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1762" name="Text Box 22">
                <a:extLst>
                  <a:ext uri="{FF2B5EF4-FFF2-40B4-BE49-F238E27FC236}">
                    <a16:creationId xmlns:a16="http://schemas.microsoft.com/office/drawing/2014/main" id="{8B110941-8C62-C641-8CDB-B075BB2B5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36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1763" name="Text Box 23">
                <a:extLst>
                  <a:ext uri="{FF2B5EF4-FFF2-40B4-BE49-F238E27FC236}">
                    <a16:creationId xmlns:a16="http://schemas.microsoft.com/office/drawing/2014/main" id="{36ABA0F7-5F43-754D-9164-90F633B1CD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504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 i="1">
                    <a:latin typeface="Arial" panose="020B0604020202020204" pitchFamily="34" charset="0"/>
                  </a:rPr>
                  <a:t>r</a:t>
                </a:r>
              </a:p>
            </p:txBody>
          </p:sp>
        </p:grpSp>
      </p:grpSp>
      <p:grpSp>
        <p:nvGrpSpPr>
          <p:cNvPr id="31750" name="Group 27">
            <a:extLst>
              <a:ext uri="{FF2B5EF4-FFF2-40B4-BE49-F238E27FC236}">
                <a16:creationId xmlns:a16="http://schemas.microsoft.com/office/drawing/2014/main" id="{8FDE8946-421A-A14F-9622-F941429C1B2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112838"/>
            <a:ext cx="8458200" cy="1054100"/>
            <a:chOff x="192" y="3552"/>
            <a:chExt cx="5328" cy="664"/>
          </a:xfrm>
        </p:grpSpPr>
        <p:sp>
          <p:nvSpPr>
            <p:cNvPr id="31753" name="Text Box 28">
              <a:extLst>
                <a:ext uri="{FF2B5EF4-FFF2-40B4-BE49-F238E27FC236}">
                  <a16:creationId xmlns:a16="http://schemas.microsoft.com/office/drawing/2014/main" id="{CC33E2AD-7EE3-8B43-A0D1-171E2B346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8001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and g(x)                        , then </a:t>
              </a:r>
            </a:p>
            <a:p>
              <a:pPr lvl="1"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31754" name="Object 2">
              <a:extLst>
                <a:ext uri="{FF2B5EF4-FFF2-40B4-BE49-F238E27FC236}">
                  <a16:creationId xmlns:a16="http://schemas.microsoft.com/office/drawing/2014/main" id="{DA95A178-6230-3949-A1E0-C52CDD8A70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1" y="3592"/>
            <a:ext cx="95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29260800" imgH="5562600" progId="Equation.DSMT4">
                    <p:embed/>
                  </p:oleObj>
                </mc:Choice>
                <mc:Fallback>
                  <p:oleObj name="Equation" r:id="rId3" imgW="29260800" imgH="5562600" progId="Equation.DSMT4">
                    <p:embed/>
                    <p:pic>
                      <p:nvPicPr>
                        <p:cNvPr id="31754" name="Object 2">
                          <a:extLst>
                            <a:ext uri="{FF2B5EF4-FFF2-40B4-BE49-F238E27FC236}">
                              <a16:creationId xmlns:a16="http://schemas.microsoft.com/office/drawing/2014/main" id="{DA95A178-6230-3949-A1E0-C52CDD8A70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3592"/>
                          <a:ext cx="95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3">
              <a:extLst>
                <a:ext uri="{FF2B5EF4-FFF2-40B4-BE49-F238E27FC236}">
                  <a16:creationId xmlns:a16="http://schemas.microsoft.com/office/drawing/2014/main" id="{52D80477-DF9A-D042-B239-B54796CDEB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9" y="3584"/>
            <a:ext cx="960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5" imgW="28384500" imgH="5562600" progId="Equation.DSMT4">
                    <p:embed/>
                  </p:oleObj>
                </mc:Choice>
                <mc:Fallback>
                  <p:oleObj name="Equation" r:id="rId5" imgW="28384500" imgH="5562600" progId="Equation.DSMT4">
                    <p:embed/>
                    <p:pic>
                      <p:nvPicPr>
                        <p:cNvPr id="31755" name="Object 3">
                          <a:extLst>
                            <a:ext uri="{FF2B5EF4-FFF2-40B4-BE49-F238E27FC236}">
                              <a16:creationId xmlns:a16="http://schemas.microsoft.com/office/drawing/2014/main" id="{52D80477-DF9A-D042-B239-B54796CDEB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9" y="3584"/>
                          <a:ext cx="960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4">
              <a:extLst>
                <a:ext uri="{FF2B5EF4-FFF2-40B4-BE49-F238E27FC236}">
                  <a16:creationId xmlns:a16="http://schemas.microsoft.com/office/drawing/2014/main" id="{98A512D9-CA86-7647-BBE9-CF6F3BD5FE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845"/>
            <a:ext cx="4081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7" imgW="123761500" imgH="5562600" progId="Equation.3">
                    <p:embed/>
                  </p:oleObj>
                </mc:Choice>
                <mc:Fallback>
                  <p:oleObj name="Equation" r:id="rId7" imgW="123761500" imgH="5562600" progId="Equation.3">
                    <p:embed/>
                    <p:pic>
                      <p:nvPicPr>
                        <p:cNvPr id="31756" name="Object 4">
                          <a:extLst>
                            <a:ext uri="{FF2B5EF4-FFF2-40B4-BE49-F238E27FC236}">
                              <a16:creationId xmlns:a16="http://schemas.microsoft.com/office/drawing/2014/main" id="{98A512D9-CA86-7647-BBE9-CF6F3BD5FE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845"/>
                          <a:ext cx="4081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1" name="Rectangle 32">
            <a:extLst>
              <a:ext uri="{FF2B5EF4-FFF2-40B4-BE49-F238E27FC236}">
                <a16:creationId xmlns:a16="http://schemas.microsoft.com/office/drawing/2014/main" id="{3BF1F36E-8FDC-0E4A-A70E-F2A57AAA9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90600"/>
            <a:ext cx="7602538" cy="914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620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1D294B1D-64BB-CB4B-B746-B932CD6C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Example 2 continued</a:t>
            </a: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6ACD7F4D-4DEE-7B48-A69E-B26927B33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95600"/>
            <a:ext cx="81534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	Then the coefficient of of 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 baseline="30000">
                <a:latin typeface="Arial" panose="020B0604020202020204" pitchFamily="34" charset="0"/>
              </a:rPr>
              <a:t>15</a:t>
            </a:r>
            <a:r>
              <a:rPr lang="en-US" altLang="en-US" sz="1800">
                <a:latin typeface="Arial" panose="020B0604020202020204" pitchFamily="34" charset="0"/>
              </a:rPr>
              <a:t> in </a:t>
            </a:r>
            <a:r>
              <a:rPr lang="en-US" altLang="en-US" sz="1800" i="1">
                <a:latin typeface="Arial" panose="020B0604020202020204" pitchFamily="34" charset="0"/>
              </a:rPr>
              <a:t>h</a:t>
            </a:r>
            <a:r>
              <a:rPr lang="en-US" altLang="en-US" sz="1800">
                <a:latin typeface="Arial" panose="020B0604020202020204" pitchFamily="34" charset="0"/>
              </a:rPr>
              <a:t>(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 is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		 	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15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0 </a:t>
            </a:r>
            <a:r>
              <a:rPr lang="en-US" altLang="en-US" sz="1800">
                <a:latin typeface="Arial" panose="020B0604020202020204" pitchFamily="34" charset="0"/>
              </a:rPr>
              <a:t>+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14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</a:rPr>
              <a:t> +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13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2</a:t>
            </a:r>
            <a:r>
              <a:rPr lang="en-US" altLang="en-US" sz="1800">
                <a:latin typeface="Arial" panose="020B0604020202020204" pitchFamily="34" charset="0"/>
              </a:rPr>
              <a:t> + … +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0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15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which reduces to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				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15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0</a:t>
            </a:r>
            <a:r>
              <a:rPr lang="en-US" altLang="en-US" sz="1800">
                <a:latin typeface="Arial" panose="020B0604020202020204" pitchFamily="34" charset="0"/>
              </a:rPr>
              <a:t> +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14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</a:rPr>
              <a:t> +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 baseline="-25000">
                <a:latin typeface="Arial" panose="020B0604020202020204" pitchFamily="34" charset="0"/>
              </a:rPr>
              <a:t>10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5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since 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0</a:t>
            </a:r>
            <a:r>
              <a:rPr lang="en-US" altLang="en-US" sz="180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5</a:t>
            </a:r>
            <a:r>
              <a:rPr lang="en-US" altLang="en-US" sz="1800">
                <a:latin typeface="Arial" panose="020B0604020202020204" pitchFamily="34" charset="0"/>
              </a:rPr>
              <a:t> are the only nonzero coefficients in</a:t>
            </a:r>
            <a:r>
              <a:rPr lang="en-US" altLang="en-US" sz="1800" i="1">
                <a:latin typeface="Arial" panose="020B0604020202020204" pitchFamily="34" charset="0"/>
              </a:rPr>
              <a:t> g</a:t>
            </a:r>
            <a:r>
              <a:rPr lang="en-US" altLang="en-US" sz="1800">
                <a:latin typeface="Arial" panose="020B0604020202020204" pitchFamily="34" charset="0"/>
              </a:rPr>
              <a:t>(</a:t>
            </a:r>
            <a:r>
              <a:rPr lang="en-US" altLang="en-US" sz="1800" i="1">
                <a:latin typeface="Arial" panose="020B0604020202020204" pitchFamily="34" charset="0"/>
              </a:rPr>
              <a:t>x</a:t>
            </a:r>
            <a:r>
              <a:rPr lang="en-US" altLang="en-US" sz="1800">
                <a:latin typeface="Arial" panose="020B0604020202020204" pitchFamily="34" charset="0"/>
              </a:rPr>
              <a:t>).  Substituting the values of the various 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>
                <a:latin typeface="Arial" panose="020B0604020202020204" pitchFamily="34" charset="0"/>
              </a:rPr>
              <a:t>s and 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>
                <a:latin typeface="Arial" panose="020B0604020202020204" pitchFamily="34" charset="0"/>
              </a:rPr>
              <a:t>s in Eq. (6), we have</a:t>
            </a:r>
          </a:p>
        </p:txBody>
      </p:sp>
      <p:grpSp>
        <p:nvGrpSpPr>
          <p:cNvPr id="32773" name="Group 29">
            <a:extLst>
              <a:ext uri="{FF2B5EF4-FFF2-40B4-BE49-F238E27FC236}">
                <a16:creationId xmlns:a16="http://schemas.microsoft.com/office/drawing/2014/main" id="{B4EA422C-6C51-A14F-B683-5DAD2C4B01D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334000"/>
            <a:ext cx="7543800" cy="641350"/>
            <a:chOff x="432" y="2832"/>
            <a:chExt cx="4752" cy="404"/>
          </a:xfrm>
        </p:grpSpPr>
        <p:grpSp>
          <p:nvGrpSpPr>
            <p:cNvPr id="32781" name="Group 8">
              <a:extLst>
                <a:ext uri="{FF2B5EF4-FFF2-40B4-BE49-F238E27FC236}">
                  <a16:creationId xmlns:a16="http://schemas.microsoft.com/office/drawing/2014/main" id="{547FF6F0-950A-6148-B9D9-2FEED96EA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832"/>
              <a:ext cx="528" cy="404"/>
              <a:chOff x="1152" y="3696"/>
              <a:chExt cx="528" cy="404"/>
            </a:xfrm>
          </p:grpSpPr>
          <p:sp>
            <p:nvSpPr>
              <p:cNvPr id="32803" name="Text Box 4">
                <a:extLst>
                  <a:ext uri="{FF2B5EF4-FFF2-40B4-BE49-F238E27FC236}">
                    <a16:creationId xmlns:a16="http://schemas.microsoft.com/office/drawing/2014/main" id="{37C98ABB-8439-CB43-8642-F165C9D1C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804" name="Text Box 5">
                <a:extLst>
                  <a:ext uri="{FF2B5EF4-FFF2-40B4-BE49-F238E27FC236}">
                    <a16:creationId xmlns:a16="http://schemas.microsoft.com/office/drawing/2014/main" id="{D3584CC7-A701-2D44-AC91-2176BDD405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805" name="Text Box 6">
                <a:extLst>
                  <a:ext uri="{FF2B5EF4-FFF2-40B4-BE49-F238E27FC236}">
                    <a16:creationId xmlns:a16="http://schemas.microsoft.com/office/drawing/2014/main" id="{7ADE0131-0EAA-5540-873C-DA8F38691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15</a:t>
                </a:r>
              </a:p>
            </p:txBody>
          </p:sp>
        </p:grpSp>
        <p:sp>
          <p:nvSpPr>
            <p:cNvPr id="32782" name="Text Box 7">
              <a:extLst>
                <a:ext uri="{FF2B5EF4-FFF2-40B4-BE49-F238E27FC236}">
                  <a16:creationId xmlns:a16="http://schemas.microsoft.com/office/drawing/2014/main" id="{E0851AD5-6AC4-0149-A47B-8E1DE6140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928"/>
              <a:ext cx="45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     x  1 +             x  1 +           x 1 =            +            +             .</a:t>
              </a:r>
            </a:p>
          </p:txBody>
        </p:sp>
        <p:grpSp>
          <p:nvGrpSpPr>
            <p:cNvPr id="32783" name="Group 9">
              <a:extLst>
                <a:ext uri="{FF2B5EF4-FFF2-40B4-BE49-F238E27FC236}">
                  <a16:creationId xmlns:a16="http://schemas.microsoft.com/office/drawing/2014/main" id="{DAFBF9C0-C0DC-8F44-A284-AE699E321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832"/>
              <a:ext cx="528" cy="404"/>
              <a:chOff x="1152" y="3696"/>
              <a:chExt cx="528" cy="404"/>
            </a:xfrm>
          </p:grpSpPr>
          <p:sp>
            <p:nvSpPr>
              <p:cNvPr id="32800" name="Text Box 10">
                <a:extLst>
                  <a:ext uri="{FF2B5EF4-FFF2-40B4-BE49-F238E27FC236}">
                    <a16:creationId xmlns:a16="http://schemas.microsoft.com/office/drawing/2014/main" id="{12816ACE-DD46-C241-8E7F-4979C922E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801" name="Text Box 11">
                <a:extLst>
                  <a:ext uri="{FF2B5EF4-FFF2-40B4-BE49-F238E27FC236}">
                    <a16:creationId xmlns:a16="http://schemas.microsoft.com/office/drawing/2014/main" id="{EA285BEA-0CCB-AC46-A7B7-9A4656C4FA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802" name="Text Box 12">
                <a:extLst>
                  <a:ext uri="{FF2B5EF4-FFF2-40B4-BE49-F238E27FC236}">
                    <a16:creationId xmlns:a16="http://schemas.microsoft.com/office/drawing/2014/main" id="{4656C5F7-05CE-2947-B4D0-21DF061B5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14</a:t>
                </a:r>
              </a:p>
            </p:txBody>
          </p:sp>
        </p:grpSp>
        <p:grpSp>
          <p:nvGrpSpPr>
            <p:cNvPr id="32784" name="Group 13">
              <a:extLst>
                <a:ext uri="{FF2B5EF4-FFF2-40B4-BE49-F238E27FC236}">
                  <a16:creationId xmlns:a16="http://schemas.microsoft.com/office/drawing/2014/main" id="{D50275FF-AE91-BA4F-B733-A584C5C87F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832"/>
              <a:ext cx="528" cy="404"/>
              <a:chOff x="1152" y="3696"/>
              <a:chExt cx="528" cy="404"/>
            </a:xfrm>
          </p:grpSpPr>
          <p:sp>
            <p:nvSpPr>
              <p:cNvPr id="32797" name="Text Box 14">
                <a:extLst>
                  <a:ext uri="{FF2B5EF4-FFF2-40B4-BE49-F238E27FC236}">
                    <a16:creationId xmlns:a16="http://schemas.microsoft.com/office/drawing/2014/main" id="{81806ADA-0FA9-BA45-B91F-6DD488A069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798" name="Text Box 15">
                <a:extLst>
                  <a:ext uri="{FF2B5EF4-FFF2-40B4-BE49-F238E27FC236}">
                    <a16:creationId xmlns:a16="http://schemas.microsoft.com/office/drawing/2014/main" id="{429DF9DE-DD4F-4548-8377-DC68E800C1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799" name="Text Box 16">
                <a:extLst>
                  <a:ext uri="{FF2B5EF4-FFF2-40B4-BE49-F238E27FC236}">
                    <a16:creationId xmlns:a16="http://schemas.microsoft.com/office/drawing/2014/main" id="{070C3607-4D3F-4449-A106-661A4B400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10</a:t>
                </a:r>
              </a:p>
            </p:txBody>
          </p:sp>
        </p:grpSp>
        <p:grpSp>
          <p:nvGrpSpPr>
            <p:cNvPr id="32785" name="Group 17">
              <a:extLst>
                <a:ext uri="{FF2B5EF4-FFF2-40B4-BE49-F238E27FC236}">
                  <a16:creationId xmlns:a16="http://schemas.microsoft.com/office/drawing/2014/main" id="{A4A30D2B-2D23-8040-8506-F9A15763B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832"/>
              <a:ext cx="528" cy="404"/>
              <a:chOff x="1152" y="3696"/>
              <a:chExt cx="528" cy="404"/>
            </a:xfrm>
          </p:grpSpPr>
          <p:sp>
            <p:nvSpPr>
              <p:cNvPr id="32794" name="Text Box 18">
                <a:extLst>
                  <a:ext uri="{FF2B5EF4-FFF2-40B4-BE49-F238E27FC236}">
                    <a16:creationId xmlns:a16="http://schemas.microsoft.com/office/drawing/2014/main" id="{8925F8D2-181B-DC4C-AD28-BE7EED27D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795" name="Text Box 19">
                <a:extLst>
                  <a:ext uri="{FF2B5EF4-FFF2-40B4-BE49-F238E27FC236}">
                    <a16:creationId xmlns:a16="http://schemas.microsoft.com/office/drawing/2014/main" id="{FABB3C0E-BFB6-8845-9230-F9B6D1D024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796" name="Text Box 20">
                <a:extLst>
                  <a:ext uri="{FF2B5EF4-FFF2-40B4-BE49-F238E27FC236}">
                    <a16:creationId xmlns:a16="http://schemas.microsoft.com/office/drawing/2014/main" id="{72E1048B-E803-3245-ACF3-59B91204C6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15</a:t>
                </a:r>
              </a:p>
            </p:txBody>
          </p:sp>
        </p:grpSp>
        <p:grpSp>
          <p:nvGrpSpPr>
            <p:cNvPr id="32786" name="Group 21">
              <a:extLst>
                <a:ext uri="{FF2B5EF4-FFF2-40B4-BE49-F238E27FC236}">
                  <a16:creationId xmlns:a16="http://schemas.microsoft.com/office/drawing/2014/main" id="{7A472DCE-6A56-9E43-A43C-5287F1ACF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832"/>
              <a:ext cx="528" cy="404"/>
              <a:chOff x="1152" y="3696"/>
              <a:chExt cx="528" cy="404"/>
            </a:xfrm>
          </p:grpSpPr>
          <p:sp>
            <p:nvSpPr>
              <p:cNvPr id="32791" name="Text Box 22">
                <a:extLst>
                  <a:ext uri="{FF2B5EF4-FFF2-40B4-BE49-F238E27FC236}">
                    <a16:creationId xmlns:a16="http://schemas.microsoft.com/office/drawing/2014/main" id="{DBFF1DD1-2570-C04F-B416-EC98781B4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792" name="Text Box 23">
                <a:extLst>
                  <a:ext uri="{FF2B5EF4-FFF2-40B4-BE49-F238E27FC236}">
                    <a16:creationId xmlns:a16="http://schemas.microsoft.com/office/drawing/2014/main" id="{8DE0A74A-DDBF-4E4A-95B1-CE5873553C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793" name="Text Box 24">
                <a:extLst>
                  <a:ext uri="{FF2B5EF4-FFF2-40B4-BE49-F238E27FC236}">
                    <a16:creationId xmlns:a16="http://schemas.microsoft.com/office/drawing/2014/main" id="{970F4A48-5790-DE45-9B66-F1232A8B20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14</a:t>
                </a:r>
              </a:p>
            </p:txBody>
          </p:sp>
        </p:grpSp>
        <p:grpSp>
          <p:nvGrpSpPr>
            <p:cNvPr id="32787" name="Group 25">
              <a:extLst>
                <a:ext uri="{FF2B5EF4-FFF2-40B4-BE49-F238E27FC236}">
                  <a16:creationId xmlns:a16="http://schemas.microsoft.com/office/drawing/2014/main" id="{7968D5AB-2F3B-C647-B468-FC02C8B94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832"/>
              <a:ext cx="528" cy="404"/>
              <a:chOff x="1152" y="3696"/>
              <a:chExt cx="528" cy="404"/>
            </a:xfrm>
          </p:grpSpPr>
          <p:sp>
            <p:nvSpPr>
              <p:cNvPr id="32788" name="Text Box 26">
                <a:extLst>
                  <a:ext uri="{FF2B5EF4-FFF2-40B4-BE49-F238E27FC236}">
                    <a16:creationId xmlns:a16="http://schemas.microsoft.com/office/drawing/2014/main" id="{868024EF-5DD4-6E43-B4F3-B50BA23CE2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96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3600">
                    <a:latin typeface="Arial" panose="020B0604020202020204" pitchFamily="34" charset="0"/>
                  </a:rPr>
                  <a:t>(  )</a:t>
                </a:r>
              </a:p>
            </p:txBody>
          </p:sp>
          <p:sp>
            <p:nvSpPr>
              <p:cNvPr id="32789" name="Text Box 27">
                <a:extLst>
                  <a:ext uri="{FF2B5EF4-FFF2-40B4-BE49-F238E27FC236}">
                    <a16:creationId xmlns:a16="http://schemas.microsoft.com/office/drawing/2014/main" id="{4D5F09AD-62F4-3546-8594-1E81EB7776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6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32790" name="Text Box 28">
                <a:extLst>
                  <a:ext uri="{FF2B5EF4-FFF2-40B4-BE49-F238E27FC236}">
                    <a16:creationId xmlns:a16="http://schemas.microsoft.com/office/drawing/2014/main" id="{7E35F7AD-9344-7A4E-9A94-D2770E3316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84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800">
                    <a:latin typeface="Arial" panose="020B0604020202020204" pitchFamily="34" charset="0"/>
                  </a:rPr>
                  <a:t>10</a:t>
                </a:r>
              </a:p>
            </p:txBody>
          </p:sp>
        </p:grpSp>
      </p:grpSp>
      <p:grpSp>
        <p:nvGrpSpPr>
          <p:cNvPr id="32774" name="Group 30">
            <a:extLst>
              <a:ext uri="{FF2B5EF4-FFF2-40B4-BE49-F238E27FC236}">
                <a16:creationId xmlns:a16="http://schemas.microsoft.com/office/drawing/2014/main" id="{5DAD72D7-A3B5-5E45-A1D5-E24240AF4A70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600200"/>
            <a:ext cx="8458200" cy="1054100"/>
            <a:chOff x="192" y="3552"/>
            <a:chExt cx="5328" cy="664"/>
          </a:xfrm>
        </p:grpSpPr>
        <p:sp>
          <p:nvSpPr>
            <p:cNvPr id="32777" name="Text Box 31">
              <a:extLst>
                <a:ext uri="{FF2B5EF4-FFF2-40B4-BE49-F238E27FC236}">
                  <a16:creationId xmlns:a16="http://schemas.microsoft.com/office/drawing/2014/main" id="{CA27A8CE-B066-EB40-B9F4-BBBE68582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8001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and g(x)                       , then </a:t>
              </a:r>
            </a:p>
            <a:p>
              <a:pPr lvl="1"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32778" name="Object 2">
              <a:extLst>
                <a:ext uri="{FF2B5EF4-FFF2-40B4-BE49-F238E27FC236}">
                  <a16:creationId xmlns:a16="http://schemas.microsoft.com/office/drawing/2014/main" id="{D1EA5354-FC0C-A94F-9259-804A377A04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1" y="3579"/>
            <a:ext cx="941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3" imgW="29260800" imgH="5562600" progId="Equation.DSMT4">
                    <p:embed/>
                  </p:oleObj>
                </mc:Choice>
                <mc:Fallback>
                  <p:oleObj name="Equation" r:id="rId3" imgW="29260800" imgH="5562600" progId="Equation.DSMT4">
                    <p:embed/>
                    <p:pic>
                      <p:nvPicPr>
                        <p:cNvPr id="32778" name="Object 2">
                          <a:extLst>
                            <a:ext uri="{FF2B5EF4-FFF2-40B4-BE49-F238E27FC236}">
                              <a16:creationId xmlns:a16="http://schemas.microsoft.com/office/drawing/2014/main" id="{D1EA5354-FC0C-A94F-9259-804A377A04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3579"/>
                          <a:ext cx="941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3">
              <a:extLst>
                <a:ext uri="{FF2B5EF4-FFF2-40B4-BE49-F238E27FC236}">
                  <a16:creationId xmlns:a16="http://schemas.microsoft.com/office/drawing/2014/main" id="{DE8F043E-DF33-CF4C-9636-647010AF7B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1" y="3596"/>
            <a:ext cx="882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name="Equation" r:id="rId5" imgW="28384500" imgH="5562600" progId="Equation.DSMT4">
                    <p:embed/>
                  </p:oleObj>
                </mc:Choice>
                <mc:Fallback>
                  <p:oleObj name="Equation" r:id="rId5" imgW="28384500" imgH="5562600" progId="Equation.DSMT4">
                    <p:embed/>
                    <p:pic>
                      <p:nvPicPr>
                        <p:cNvPr id="32779" name="Object 3">
                          <a:extLst>
                            <a:ext uri="{FF2B5EF4-FFF2-40B4-BE49-F238E27FC236}">
                              <a16:creationId xmlns:a16="http://schemas.microsoft.com/office/drawing/2014/main" id="{DE8F043E-DF33-CF4C-9636-647010AF7B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" y="3596"/>
                          <a:ext cx="882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0" name="Object 4">
              <a:extLst>
                <a:ext uri="{FF2B5EF4-FFF2-40B4-BE49-F238E27FC236}">
                  <a16:creationId xmlns:a16="http://schemas.microsoft.com/office/drawing/2014/main" id="{7B417B29-2B75-5547-9781-31E796F8C1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840"/>
            <a:ext cx="402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Equation" r:id="rId7" imgW="123761500" imgH="5562600" progId="Equation.3">
                    <p:embed/>
                  </p:oleObj>
                </mc:Choice>
                <mc:Fallback>
                  <p:oleObj name="Equation" r:id="rId7" imgW="123761500" imgH="5562600" progId="Equation.3">
                    <p:embed/>
                    <p:pic>
                      <p:nvPicPr>
                        <p:cNvPr id="32780" name="Object 4">
                          <a:extLst>
                            <a:ext uri="{FF2B5EF4-FFF2-40B4-BE49-F238E27FC236}">
                              <a16:creationId xmlns:a16="http://schemas.microsoft.com/office/drawing/2014/main" id="{7B417B29-2B75-5547-9781-31E796F8C1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840"/>
                          <a:ext cx="402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5" name="Rectangle 35">
            <a:extLst>
              <a:ext uri="{FF2B5EF4-FFF2-40B4-BE49-F238E27FC236}">
                <a16:creationId xmlns:a16="http://schemas.microsoft.com/office/drawing/2014/main" id="{F4EFDC2C-A59B-D74E-905F-179ABA1AC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447800"/>
            <a:ext cx="8001000" cy="1143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60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B2D63B6A-91C8-E940-8577-B967644E0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048001"/>
          <a:ext cx="78057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12344200" imgH="5270500" progId="Equation.DSMT4">
                  <p:embed/>
                </p:oleObj>
              </mc:Choice>
              <mc:Fallback>
                <p:oleObj name="Equation" r:id="rId3" imgW="112344200" imgH="5270500" progId="Equation.DSMT4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B2D63B6A-91C8-E940-8577-B967644E0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1"/>
                        <a:ext cx="780573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2" name="Group 3">
            <a:extLst>
              <a:ext uri="{FF2B5EF4-FFF2-40B4-BE49-F238E27FC236}">
                <a16:creationId xmlns:a16="http://schemas.microsoft.com/office/drawing/2014/main" id="{762F7774-FD2E-DA40-922F-1C1474DC933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838200"/>
            <a:ext cx="3340100" cy="685800"/>
            <a:chOff x="96" y="1200"/>
            <a:chExt cx="2104" cy="432"/>
          </a:xfrm>
        </p:grpSpPr>
        <p:graphicFrame>
          <p:nvGraphicFramePr>
            <p:cNvPr id="22550" name="Object 9">
              <a:extLst>
                <a:ext uri="{FF2B5EF4-FFF2-40B4-BE49-F238E27FC236}">
                  <a16:creationId xmlns:a16="http://schemas.microsoft.com/office/drawing/2014/main" id="{2EEA41CD-FBE8-2F44-849A-94CD111670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00"/>
            <a:ext cx="176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5" imgW="39497000" imgH="9652000" progId="Equation.DSMT4">
                    <p:embed/>
                  </p:oleObj>
                </mc:Choice>
                <mc:Fallback>
                  <p:oleObj name="Equation" r:id="rId5" imgW="39497000" imgH="9652000" progId="Equation.DSMT4">
                    <p:embed/>
                    <p:pic>
                      <p:nvPicPr>
                        <p:cNvPr id="22550" name="Object 9">
                          <a:extLst>
                            <a:ext uri="{FF2B5EF4-FFF2-40B4-BE49-F238E27FC236}">
                              <a16:creationId xmlns:a16="http://schemas.microsoft.com/office/drawing/2014/main" id="{2EEA41CD-FBE8-2F44-849A-94CD111670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00"/>
                          <a:ext cx="176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Text Box 5">
              <a:extLst>
                <a:ext uri="{FF2B5EF4-FFF2-40B4-BE49-F238E27FC236}">
                  <a16:creationId xmlns:a16="http://schemas.microsoft.com/office/drawing/2014/main" id="{89366CD3-CF84-584E-99FE-84710C1FE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1)</a:t>
              </a:r>
            </a:p>
          </p:txBody>
        </p:sp>
      </p:grpSp>
      <p:grpSp>
        <p:nvGrpSpPr>
          <p:cNvPr id="22533" name="Group 6">
            <a:extLst>
              <a:ext uri="{FF2B5EF4-FFF2-40B4-BE49-F238E27FC236}">
                <a16:creationId xmlns:a16="http://schemas.microsoft.com/office/drawing/2014/main" id="{02106393-E350-4D4E-BB8D-B760B4E738E5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1600200"/>
            <a:ext cx="2727325" cy="687388"/>
            <a:chOff x="2976" y="1200"/>
            <a:chExt cx="1718" cy="433"/>
          </a:xfrm>
        </p:grpSpPr>
        <p:graphicFrame>
          <p:nvGraphicFramePr>
            <p:cNvPr id="22548" name="Object 8">
              <a:extLst>
                <a:ext uri="{FF2B5EF4-FFF2-40B4-BE49-F238E27FC236}">
                  <a16:creationId xmlns:a16="http://schemas.microsoft.com/office/drawing/2014/main" id="{1C61F543-377D-4243-ABC3-F86F18AA7A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200"/>
            <a:ext cx="1382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7" imgW="28968700" imgH="9067800" progId="Equation.DSMT4">
                    <p:embed/>
                  </p:oleObj>
                </mc:Choice>
                <mc:Fallback>
                  <p:oleObj name="Equation" r:id="rId7" imgW="28968700" imgH="9067800" progId="Equation.DSMT4">
                    <p:embed/>
                    <p:pic>
                      <p:nvPicPr>
                        <p:cNvPr id="22548" name="Object 8">
                          <a:extLst>
                            <a:ext uri="{FF2B5EF4-FFF2-40B4-BE49-F238E27FC236}">
                              <a16:creationId xmlns:a16="http://schemas.microsoft.com/office/drawing/2014/main" id="{1C61F543-377D-4243-ABC3-F86F18AA7A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00"/>
                          <a:ext cx="1382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 Box 8">
              <a:extLst>
                <a:ext uri="{FF2B5EF4-FFF2-40B4-BE49-F238E27FC236}">
                  <a16:creationId xmlns:a16="http://schemas.microsoft.com/office/drawing/2014/main" id="{64456B77-F6A5-8D4B-B928-C513A4F7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2)</a:t>
              </a:r>
            </a:p>
          </p:txBody>
        </p:sp>
      </p:grpSp>
      <p:grpSp>
        <p:nvGrpSpPr>
          <p:cNvPr id="22534" name="Group 9">
            <a:extLst>
              <a:ext uri="{FF2B5EF4-FFF2-40B4-BE49-F238E27FC236}">
                <a16:creationId xmlns:a16="http://schemas.microsoft.com/office/drawing/2014/main" id="{94963BE8-6C1F-184A-B303-32DA23D1F01A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2438401"/>
            <a:ext cx="7313613" cy="411163"/>
            <a:chOff x="144" y="1824"/>
            <a:chExt cx="4607" cy="259"/>
          </a:xfrm>
        </p:grpSpPr>
        <p:graphicFrame>
          <p:nvGraphicFramePr>
            <p:cNvPr id="22546" name="Object 7">
              <a:extLst>
                <a:ext uri="{FF2B5EF4-FFF2-40B4-BE49-F238E27FC236}">
                  <a16:creationId xmlns:a16="http://schemas.microsoft.com/office/drawing/2014/main" id="{22B7CD86-0854-D141-9D8C-FC5F307F88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824"/>
            <a:ext cx="43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9" imgW="88646000" imgH="5270500" progId="Equation.DSMT4">
                    <p:embed/>
                  </p:oleObj>
                </mc:Choice>
                <mc:Fallback>
                  <p:oleObj name="Equation" r:id="rId9" imgW="88646000" imgH="5270500" progId="Equation.DSMT4">
                    <p:embed/>
                    <p:pic>
                      <p:nvPicPr>
                        <p:cNvPr id="22546" name="Object 7">
                          <a:extLst>
                            <a:ext uri="{FF2B5EF4-FFF2-40B4-BE49-F238E27FC236}">
                              <a16:creationId xmlns:a16="http://schemas.microsoft.com/office/drawing/2014/main" id="{22B7CD86-0854-D141-9D8C-FC5F307F88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824"/>
                          <a:ext cx="43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Text Box 11">
              <a:extLst>
                <a:ext uri="{FF2B5EF4-FFF2-40B4-BE49-F238E27FC236}">
                  <a16:creationId xmlns:a16="http://schemas.microsoft.com/office/drawing/2014/main" id="{35D4B3E3-F6D7-AE47-BAAE-654BDA482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3)</a:t>
              </a:r>
            </a:p>
          </p:txBody>
        </p:sp>
      </p:grpSp>
      <p:sp>
        <p:nvSpPr>
          <p:cNvPr id="22535" name="Text Box 12">
            <a:extLst>
              <a:ext uri="{FF2B5EF4-FFF2-40B4-BE49-F238E27FC236}">
                <a16:creationId xmlns:a16="http://schemas.microsoft.com/office/drawing/2014/main" id="{0E8A3E5F-9A2D-BD4A-9D2D-250D2EB9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048001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4)</a:t>
            </a:r>
          </a:p>
        </p:txBody>
      </p:sp>
      <p:grpSp>
        <p:nvGrpSpPr>
          <p:cNvPr id="22536" name="Group 13">
            <a:extLst>
              <a:ext uri="{FF2B5EF4-FFF2-40B4-BE49-F238E27FC236}">
                <a16:creationId xmlns:a16="http://schemas.microsoft.com/office/drawing/2014/main" id="{FF8DE2A3-24F1-454A-B8D9-610086775B27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505201"/>
            <a:ext cx="7824788" cy="690563"/>
            <a:chOff x="192" y="2976"/>
            <a:chExt cx="4929" cy="435"/>
          </a:xfrm>
        </p:grpSpPr>
        <p:graphicFrame>
          <p:nvGraphicFramePr>
            <p:cNvPr id="22544" name="Object 6">
              <a:extLst>
                <a:ext uri="{FF2B5EF4-FFF2-40B4-BE49-F238E27FC236}">
                  <a16:creationId xmlns:a16="http://schemas.microsoft.com/office/drawing/2014/main" id="{03DC72D6-158F-6F4E-B8E4-7D8C81E3F3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976"/>
            <a:ext cx="449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Equation" r:id="rId11" imgW="99479100" imgH="9652000" progId="Equation.DSMT4">
                    <p:embed/>
                  </p:oleObj>
                </mc:Choice>
                <mc:Fallback>
                  <p:oleObj name="Equation" r:id="rId11" imgW="99479100" imgH="9652000" progId="Equation.DSMT4">
                    <p:embed/>
                    <p:pic>
                      <p:nvPicPr>
                        <p:cNvPr id="22544" name="Object 6">
                          <a:extLst>
                            <a:ext uri="{FF2B5EF4-FFF2-40B4-BE49-F238E27FC236}">
                              <a16:creationId xmlns:a16="http://schemas.microsoft.com/office/drawing/2014/main" id="{03DC72D6-158F-6F4E-B8E4-7D8C81E3F3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976"/>
                          <a:ext cx="4497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5" name="Text Box 15">
              <a:extLst>
                <a:ext uri="{FF2B5EF4-FFF2-40B4-BE49-F238E27FC236}">
                  <a16:creationId xmlns:a16="http://schemas.microsoft.com/office/drawing/2014/main" id="{90D7D225-24BF-7245-BD7C-CA32124E9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5)</a:t>
              </a:r>
            </a:p>
          </p:txBody>
        </p:sp>
      </p:grpSp>
      <p:grpSp>
        <p:nvGrpSpPr>
          <p:cNvPr id="22537" name="Group 16">
            <a:extLst>
              <a:ext uri="{FF2B5EF4-FFF2-40B4-BE49-F238E27FC236}">
                <a16:creationId xmlns:a16="http://schemas.microsoft.com/office/drawing/2014/main" id="{4AD7BDAF-7CBF-4A49-A358-09D962548E94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343400"/>
            <a:ext cx="8610600" cy="1062038"/>
            <a:chOff x="192" y="3552"/>
            <a:chExt cx="5328" cy="669"/>
          </a:xfrm>
        </p:grpSpPr>
        <p:sp>
          <p:nvSpPr>
            <p:cNvPr id="22540" name="Text Box 17">
              <a:extLst>
                <a:ext uri="{FF2B5EF4-FFF2-40B4-BE49-F238E27FC236}">
                  <a16:creationId xmlns:a16="http://schemas.microsoft.com/office/drawing/2014/main" id="{ADCC320A-0481-EE4E-A2AA-66E4A4D8C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52"/>
              <a:ext cx="5328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8001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r>
                <a:rPr lang="en-US" altLang="en-US" sz="1800">
                  <a:latin typeface="Arial" panose="020B0604020202020204" pitchFamily="34" charset="0"/>
                </a:rPr>
                <a:t>If h(x)=f(x)g(x), where f(x)                               and g(x)                              , then </a:t>
              </a:r>
            </a:p>
            <a:p>
              <a:pPr lvl="1" eaLnBrk="1" hangingPunct="1">
                <a:spcBef>
                  <a:spcPct val="50000"/>
                </a:spcBef>
              </a:pPr>
              <a:r>
                <a:rPr lang="en-US" altLang="en-US" sz="1800">
                  <a:latin typeface="Arial" panose="020B0604020202020204" pitchFamily="34" charset="0"/>
                </a:rPr>
                <a:t>h(x)</a:t>
              </a:r>
            </a:p>
            <a:p>
              <a:pPr eaLnBrk="1" hangingPunct="1">
                <a:spcBef>
                  <a:spcPct val="50000"/>
                </a:spcBef>
                <a:buFontTx/>
                <a:buAutoNum type="arabicParenR" startAt="6"/>
              </a:pPr>
              <a:endParaRPr lang="en-US" altLang="en-US" sz="1800" baseline="-25000">
                <a:latin typeface="Arial" panose="020B0604020202020204" pitchFamily="34" charset="0"/>
              </a:endParaRPr>
            </a:p>
          </p:txBody>
        </p:sp>
        <p:graphicFrame>
          <p:nvGraphicFramePr>
            <p:cNvPr id="22541" name="Object 3">
              <a:extLst>
                <a:ext uri="{FF2B5EF4-FFF2-40B4-BE49-F238E27FC236}">
                  <a16:creationId xmlns:a16="http://schemas.microsoft.com/office/drawing/2014/main" id="{FA9F5D2C-CF05-534A-8377-8CABBA0E9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2" y="3573"/>
            <a:ext cx="114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3" imgW="29260800" imgH="5562600" progId="Equation.DSMT4">
                    <p:embed/>
                  </p:oleObj>
                </mc:Choice>
                <mc:Fallback>
                  <p:oleObj name="Equation" r:id="rId13" imgW="29260800" imgH="5562600" progId="Equation.DSMT4">
                    <p:embed/>
                    <p:pic>
                      <p:nvPicPr>
                        <p:cNvPr id="22541" name="Object 3">
                          <a:extLst>
                            <a:ext uri="{FF2B5EF4-FFF2-40B4-BE49-F238E27FC236}">
                              <a16:creationId xmlns:a16="http://schemas.microsoft.com/office/drawing/2014/main" id="{FA9F5D2C-CF05-534A-8377-8CABBA0E92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" y="3573"/>
                          <a:ext cx="114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2" name="Object 4">
              <a:extLst>
                <a:ext uri="{FF2B5EF4-FFF2-40B4-BE49-F238E27FC236}">
                  <a16:creationId xmlns:a16="http://schemas.microsoft.com/office/drawing/2014/main" id="{B126644D-7A26-FB48-8529-4CEF4AE7C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2" y="3577"/>
            <a:ext cx="111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Equation" r:id="rId15" imgW="28384500" imgH="5562600" progId="Equation.DSMT4">
                    <p:embed/>
                  </p:oleObj>
                </mc:Choice>
                <mc:Fallback>
                  <p:oleObj name="Equation" r:id="rId15" imgW="28384500" imgH="5562600" progId="Equation.DSMT4">
                    <p:embed/>
                    <p:pic>
                      <p:nvPicPr>
                        <p:cNvPr id="22542" name="Object 4">
                          <a:extLst>
                            <a:ext uri="{FF2B5EF4-FFF2-40B4-BE49-F238E27FC236}">
                              <a16:creationId xmlns:a16="http://schemas.microsoft.com/office/drawing/2014/main" id="{B126644D-7A26-FB48-8529-4CEF4AE7CB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3577"/>
                          <a:ext cx="111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5">
              <a:extLst>
                <a:ext uri="{FF2B5EF4-FFF2-40B4-BE49-F238E27FC236}">
                  <a16:creationId xmlns:a16="http://schemas.microsoft.com/office/drawing/2014/main" id="{D2E01114-C659-ED42-9DA1-4EFDD06320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840"/>
            <a:ext cx="464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17" imgW="123761500" imgH="5562600" progId="Equation.3">
                    <p:embed/>
                  </p:oleObj>
                </mc:Choice>
                <mc:Fallback>
                  <p:oleObj name="Equation" r:id="rId17" imgW="123761500" imgH="5562600" progId="Equation.3">
                    <p:embed/>
                    <p:pic>
                      <p:nvPicPr>
                        <p:cNvPr id="22543" name="Object 5">
                          <a:extLst>
                            <a:ext uri="{FF2B5EF4-FFF2-40B4-BE49-F238E27FC236}">
                              <a16:creationId xmlns:a16="http://schemas.microsoft.com/office/drawing/2014/main" id="{D2E01114-C659-ED42-9DA1-4EFDD06320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840"/>
                          <a:ext cx="464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8" name="Text Box 21">
            <a:extLst>
              <a:ext uri="{FF2B5EF4-FFF2-40B4-BE49-F238E27FC236}">
                <a16:creationId xmlns:a16="http://schemas.microsoft.com/office/drawing/2014/main" id="{29D01ADC-B665-E249-B3B8-0ED813149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57201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 dirty="0">
                <a:latin typeface="Arial" panose="020B0604020202020204" pitchFamily="34" charset="0"/>
              </a:rPr>
              <a:t>Review of the generating function identities:</a:t>
            </a:r>
          </a:p>
        </p:txBody>
      </p:sp>
    </p:spTree>
    <p:extLst>
      <p:ext uri="{BB962C8B-B14F-4D97-AF65-F5344CB8AC3E}">
        <p14:creationId xmlns:p14="http://schemas.microsoft.com/office/powerpoint/2010/main" val="363946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2F40B0-C843-CF44-BBE9-FB5063E73FF9}"/>
                  </a:ext>
                </a:extLst>
              </p:cNvPr>
              <p:cNvSpPr txBox="1"/>
              <p:nvPr/>
            </p:nvSpPr>
            <p:spPr>
              <a:xfrm>
                <a:off x="2866489" y="2214080"/>
                <a:ext cx="3657027" cy="611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2F40B0-C843-CF44-BBE9-FB5063E7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489" y="2214080"/>
                <a:ext cx="3657027" cy="611899"/>
              </a:xfrm>
              <a:prstGeom prst="rect">
                <a:avLst/>
              </a:prstGeom>
              <a:blipFill>
                <a:blip r:embed="rId2"/>
                <a:stretch>
                  <a:fillRect l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963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781E9-6117-B74E-AABF-B8779E3C7E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1945"/>
                <a:ext cx="10515600" cy="460501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Solution:</a:t>
                </a:r>
              </a:p>
              <a:p>
                <a:pPr lvl="1"/>
                <a:r>
                  <a:rPr lang="en-US" dirty="0"/>
                  <a:t>Step 1: setting up equivalent integer solution problem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=25,      2≤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≤6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Step 2: setting up generating function corresponding to the problem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Step3: work on the generating 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Step 4: Looking for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dirty="0"/>
                  <a:t> is to look for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dirty="0"/>
                  <a:t> in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781E9-6117-B74E-AABF-B8779E3C7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1945"/>
                <a:ext cx="10515600" cy="4605017"/>
              </a:xfrm>
              <a:blipFill>
                <a:blip r:embed="rId2"/>
                <a:stretch>
                  <a:fillRect l="-844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27">
            <a:extLst>
              <a:ext uri="{FF2B5EF4-FFF2-40B4-BE49-F238E27FC236}">
                <a16:creationId xmlns:a16="http://schemas.microsoft.com/office/drawing/2014/main" id="{FBACCDE6-15A7-3F4C-905D-50F7D5A630E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649341"/>
            <a:ext cx="105156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</a:rPr>
              <a:t>How many ways are there to select 25 toys from seven types of toys with between two and six of each type?</a:t>
            </a:r>
          </a:p>
        </p:txBody>
      </p:sp>
    </p:spTree>
    <p:extLst>
      <p:ext uri="{BB962C8B-B14F-4D97-AF65-F5344CB8AC3E}">
        <p14:creationId xmlns:p14="http://schemas.microsoft.com/office/powerpoint/2010/main" val="123919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3">
            <a:extLst>
              <a:ext uri="{FF2B5EF4-FFF2-40B4-BE49-F238E27FC236}">
                <a16:creationId xmlns:a16="http://schemas.microsoft.com/office/drawing/2014/main" id="{BC17FE2E-9A59-1748-8946-CCC36ADAA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029" y="835240"/>
            <a:ext cx="82296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Let </a:t>
            </a:r>
            <a:r>
              <a:rPr lang="en-US" altLang="en-US" sz="1800" i="1" dirty="0">
                <a:latin typeface="Arial" panose="020B0604020202020204" pitchFamily="34" charset="0"/>
              </a:rPr>
              <a:t>f</a:t>
            </a:r>
            <a:r>
              <a:rPr lang="en-US" altLang="en-US" sz="1800" dirty="0">
                <a:latin typeface="Arial" panose="020B0604020202020204" pitchFamily="34" charset="0"/>
              </a:rPr>
              <a:t>(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</a:rPr>
              <a:t>) = (1 - 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baseline="30000" dirty="0">
                <a:latin typeface="Arial" panose="020B0604020202020204" pitchFamily="34" charset="0"/>
              </a:rPr>
              <a:t>5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  <a:r>
              <a:rPr lang="en-US" altLang="en-US" sz="1800" baseline="30000" dirty="0">
                <a:latin typeface="Arial" panose="020B0604020202020204" pitchFamily="34" charset="0"/>
              </a:rPr>
              <a:t>7</a:t>
            </a:r>
            <a:r>
              <a:rPr lang="en-US" altLang="en-US" sz="1800" dirty="0">
                <a:latin typeface="Arial" panose="020B0604020202020204" pitchFamily="34" charset="0"/>
              </a:rPr>
              <a:t>  and </a:t>
            </a:r>
            <a:r>
              <a:rPr lang="en-US" altLang="en-US" sz="1800" i="1" dirty="0">
                <a:latin typeface="Arial" panose="020B0604020202020204" pitchFamily="34" charset="0"/>
              </a:rPr>
              <a:t>g</a:t>
            </a:r>
            <a:r>
              <a:rPr lang="en-US" altLang="en-US" sz="1800" dirty="0">
                <a:latin typeface="Arial" panose="020B0604020202020204" pitchFamily="34" charset="0"/>
              </a:rPr>
              <a:t>(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</a:rPr>
              <a:t>) = (1 - 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  <a:r>
              <a:rPr lang="en-US" altLang="en-US" sz="1800" baseline="30000" dirty="0">
                <a:latin typeface="Arial" panose="020B0604020202020204" pitchFamily="34" charset="0"/>
              </a:rPr>
              <a:t>-7</a:t>
            </a:r>
            <a:r>
              <a:rPr lang="en-US" altLang="en-US" sz="1800" dirty="0">
                <a:latin typeface="Arial" panose="020B0604020202020204" pitchFamily="34" charset="0"/>
              </a:rPr>
              <a:t> .  By expansions (4) and (5), respectively, we have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		</a:t>
            </a:r>
          </a:p>
        </p:txBody>
      </p:sp>
      <p:graphicFrame>
        <p:nvGraphicFramePr>
          <p:cNvPr id="35848" name="Object 2">
            <a:extLst>
              <a:ext uri="{FF2B5EF4-FFF2-40B4-BE49-F238E27FC236}">
                <a16:creationId xmlns:a16="http://schemas.microsoft.com/office/drawing/2014/main" id="{888DB102-2F62-C047-A83E-7DFAD1F42C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00963" y="1579653"/>
          <a:ext cx="584041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2908300" imgH="444500" progId="Equation.3">
                  <p:embed/>
                </p:oleObj>
              </mc:Choice>
              <mc:Fallback>
                <p:oleObj name="Equation" r:id="rId3" imgW="2908300" imgH="444500" progId="Equation.3">
                  <p:embed/>
                  <p:pic>
                    <p:nvPicPr>
                      <p:cNvPr id="35848" name="Object 2">
                        <a:extLst>
                          <a:ext uri="{FF2B5EF4-FFF2-40B4-BE49-F238E27FC236}">
                            <a16:creationId xmlns:a16="http://schemas.microsoft.com/office/drawing/2014/main" id="{888DB102-2F62-C047-A83E-7DFAD1F42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963" y="1579653"/>
                        <a:ext cx="5840413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3">
            <a:extLst>
              <a:ext uri="{FF2B5EF4-FFF2-40B4-BE49-F238E27FC236}">
                <a16:creationId xmlns:a16="http://schemas.microsoft.com/office/drawing/2014/main" id="{5AFCD595-FFFB-2140-8DD2-64763C56B7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69979" y="2760628"/>
          <a:ext cx="77406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4102100" imgH="482600" progId="Equation.3">
                  <p:embed/>
                </p:oleObj>
              </mc:Choice>
              <mc:Fallback>
                <p:oleObj name="Equation" r:id="rId5" imgW="4102100" imgH="482600" progId="Equation.3">
                  <p:embed/>
                  <p:pic>
                    <p:nvPicPr>
                      <p:cNvPr id="35849" name="Object 3">
                        <a:extLst>
                          <a:ext uri="{FF2B5EF4-FFF2-40B4-BE49-F238E27FC236}">
                            <a16:creationId xmlns:a16="http://schemas.microsoft.com/office/drawing/2014/main" id="{5AFCD595-FFFB-2140-8DD2-64763C56B7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979" y="2760628"/>
                        <a:ext cx="77406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A15090-FC0A-0E48-87D1-54EAF520D5F5}"/>
                  </a:ext>
                </a:extLst>
              </p:cNvPr>
              <p:cNvSpPr txBox="1"/>
              <p:nvPr/>
            </p:nvSpPr>
            <p:spPr>
              <a:xfrm>
                <a:off x="1500027" y="3986373"/>
                <a:ext cx="9616611" cy="926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Only first three terms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have the power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lower than 11, to make up the power of 11 from the two factors, we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matches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matches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;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matches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A15090-FC0A-0E48-87D1-54EAF520D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27" y="3986373"/>
                <a:ext cx="9616611" cy="926407"/>
              </a:xfrm>
              <a:prstGeom prst="rect">
                <a:avLst/>
              </a:prstGeom>
              <a:blipFill>
                <a:blip r:embed="rId7"/>
                <a:stretch>
                  <a:fillRect l="-396"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BA86BC3A-0C7D-3B4A-A5F9-91F1994AE1A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52017" y="4762033"/>
          <a:ext cx="4935822" cy="119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8" imgW="2895600" imgH="698500" progId="Equation.3">
                  <p:embed/>
                </p:oleObj>
              </mc:Choice>
              <mc:Fallback>
                <p:oleObj name="Equation" r:id="rId8" imgW="2895600" imgH="698500" progId="Equation.3">
                  <p:embed/>
                  <p:pic>
                    <p:nvPicPr>
                      <p:cNvPr id="12" name="Object 2">
                        <a:extLst>
                          <a:ext uri="{FF2B5EF4-FFF2-40B4-BE49-F238E27FC236}">
                            <a16:creationId xmlns:a16="http://schemas.microsoft.com/office/drawing/2014/main" id="{BA86BC3A-0C7D-3B4A-A5F9-91F1994AE1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017" y="4762033"/>
                        <a:ext cx="4935822" cy="119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931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>
            <a:extLst>
              <a:ext uri="{FF2B5EF4-FFF2-40B4-BE49-F238E27FC236}">
                <a16:creationId xmlns:a16="http://schemas.microsoft.com/office/drawing/2014/main" id="{4CFAD782-332E-0842-903C-261DBE219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4088" y="2438400"/>
            <a:ext cx="7772400" cy="3614738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 eaLnBrk="1" hangingPunct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Section 7.1</a:t>
            </a:r>
          </a:p>
          <a:p>
            <a:pPr algn="ctr" eaLnBrk="1" hangingPunct="1"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Recurrence Relations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239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宽屏</PresentationFormat>
  <Paragraphs>156</Paragraphs>
  <Slides>18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ＭＳ Ｐゴシック</vt:lpstr>
      <vt:lpstr>等线</vt:lpstr>
      <vt:lpstr>等线 Light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 1 continued</vt:lpstr>
      <vt:lpstr>Example 2</vt:lpstr>
      <vt:lpstr>Example 2 continued</vt:lpstr>
      <vt:lpstr>PowerPoint 演示文稿</vt:lpstr>
      <vt:lpstr>PowerPoint 演示文稿</vt:lpstr>
      <vt:lpstr>How many ways are there to select 25 toys from seven types of toys with between two and six of each type?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xing</dc:creator>
  <cp:lastModifiedBy>xing</cp:lastModifiedBy>
  <cp:revision>1</cp:revision>
  <dcterms:created xsi:type="dcterms:W3CDTF">2025-12-01T11:42:23Z</dcterms:created>
  <dcterms:modified xsi:type="dcterms:W3CDTF">2025-12-01T11:42:32Z</dcterms:modified>
</cp:coreProperties>
</file>