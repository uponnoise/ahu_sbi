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21DED-3358-482F-82C7-C9F54CA3C6D8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3022D-4367-4FE6-92D8-3F838AAEAB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88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0843B2AF-6535-8A45-9B57-2B9426939D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Tucker, Applied Combinatorics, Section 1.4, Michele Fretta and Jess Scheld</a:t>
            </a:r>
          </a:p>
        </p:txBody>
      </p:sp>
      <p:sp>
        <p:nvSpPr>
          <p:cNvPr id="19458" name="Rectangle 7">
            <a:extLst>
              <a:ext uri="{FF2B5EF4-FFF2-40B4-BE49-F238E27FC236}">
                <a16:creationId xmlns:a16="http://schemas.microsoft.com/office/drawing/2014/main" id="{951A0AA1-56F0-DE44-83D2-4C4F67668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8E1DCD-3692-8C41-95DE-379A6F79E6B1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E7BC239-8C31-3A42-92CD-14DEBCA72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E3504C4-8977-AA47-B8DE-285D9817AE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72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6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446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44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62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89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54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00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06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77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81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177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913AD6B-DDAD-2849-B7FC-5D3C0DBA2E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768F183-03BB-724A-898A-7F4C8FDF23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E0FCAEA-FA0D-6045-8E52-D9C1B1809D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2FA85-ED22-3546-9CEE-EE5601404E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6619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AA63B59-E1A9-2E40-A1AA-E8C1E38049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62254A-EAA0-B048-9DE6-88E909A7A0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0B58DD9-0E4A-1848-8840-91B80CEEA7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8683B-69B9-E646-AFA7-408AD5E92B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558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44D8F-B33E-43C2-B7C5-8D3D61F591A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F7D15-0F97-4A39-8EDB-B76D9C5E1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80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if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tiff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4B271-A8AF-BA4F-928C-E05945AC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Edge Counting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B6E7C-41FA-884F-B69F-FD2913ACE0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sum of degrees over all vertices is twice the number of edges</a:t>
                </a:r>
              </a:p>
              <a:p>
                <a:pPr lvl="1"/>
                <a:r>
                  <a:rPr lang="en-US" dirty="0"/>
                  <a:t>Each edge connects to two vertices, therefore contributes two degrees</a:t>
                </a:r>
              </a:p>
              <a:p>
                <a:pPr lvl="1"/>
                <a:r>
                  <a:rPr lang="en-US" dirty="0"/>
                  <a:t>The sum of degrees over all vertices must be an even number</a:t>
                </a:r>
              </a:p>
              <a:p>
                <a:pPr lvl="1"/>
                <a:r>
                  <a:rPr lang="en-US" dirty="0"/>
                  <a:t>The sum of vertices with odd degrees must even</a:t>
                </a:r>
              </a:p>
              <a:p>
                <a:r>
                  <a:rPr lang="en-US" dirty="0"/>
                  <a:t>Total number of degrees in a complete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total number of edges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Total number of degrees in a complete bipartite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</m:oMath>
                </a14:m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total number of edges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B6E7C-41FA-884F-B69F-FD2913ACE0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45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D17A-2574-B44A-BC1F-FDDE6B376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Impossible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E160E-8508-8346-89E6-C113BAFD7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Question: </a:t>
            </a:r>
          </a:p>
          <a:p>
            <a:pPr lvl="1"/>
            <a:r>
              <a:rPr lang="en-US" dirty="0"/>
              <a:t>In a party with 15 people, everyone knows exactly 5 people, is it possible?</a:t>
            </a:r>
          </a:p>
          <a:p>
            <a:pPr lvl="1"/>
            <a:r>
              <a:rPr lang="en-US" dirty="0"/>
              <a:t>In the same party, everyone is a stranger to exactly 5 people, is it possible?</a:t>
            </a:r>
          </a:p>
          <a:p>
            <a:r>
              <a:rPr lang="en-US" dirty="0"/>
              <a:t>The answer: from the graph theory, the total number of degrees in any graph must be even!</a:t>
            </a:r>
          </a:p>
          <a:p>
            <a:pPr lvl="1"/>
            <a:r>
              <a:rPr lang="en-US" dirty="0"/>
              <a:t>Should the number of people with odd number of siblings be even?</a:t>
            </a:r>
          </a:p>
          <a:p>
            <a:pPr lvl="1"/>
            <a:r>
              <a:rPr lang="en-US" dirty="0"/>
              <a:t>Should the number of parents with odd number of kids be even?</a:t>
            </a:r>
          </a:p>
          <a:p>
            <a:pPr lvl="2"/>
            <a:r>
              <a:rPr lang="en-US" dirty="0"/>
              <a:t>Consider this as a directed graph with directed edges from parents to children. The total number of out-degrees does not have to be even.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5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99E4-F2BA-B848-B159-9A647A93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Some edge counting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11151-A227-9741-9326-2E115012F7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How many vertices are there for a graph with 24 edges and all vertices with degree 4?</a:t>
                </a:r>
              </a:p>
              <a:p>
                <a:pPr lvl="1"/>
                <a:r>
                  <a:rPr lang="en-US" dirty="0"/>
                  <a:t>The total number of degrees? </a:t>
                </a:r>
              </a:p>
              <a:p>
                <a:pPr lvl="1"/>
                <a:r>
                  <a:rPr lang="en-US" dirty="0"/>
                  <a:t>48</a:t>
                </a:r>
              </a:p>
              <a:p>
                <a:pPr lvl="1"/>
                <a:r>
                  <a:rPr lang="en-US" dirty="0"/>
                  <a:t>The number of vertices? </a:t>
                </a:r>
              </a:p>
              <a:p>
                <a:pPr lvl="1"/>
                <a:r>
                  <a:rPr lang="en-US" dirty="0"/>
                  <a:t>48/4 = 12</a:t>
                </a:r>
              </a:p>
              <a:p>
                <a:r>
                  <a:rPr lang="en-US" dirty="0"/>
                  <a:t>12 vertices with degree 3, the rest with degree 4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48−3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×12=12</m:t>
                    </m:r>
                  </m:oMath>
                </a14:m>
                <a:r>
                  <a:rPr lang="en-US" dirty="0"/>
                  <a:t>, 12/4 = 3</a:t>
                </a:r>
              </a:p>
              <a:p>
                <a:r>
                  <a:rPr lang="en-US" dirty="0"/>
                  <a:t>All vertices have the same number of degrees</a:t>
                </a:r>
              </a:p>
              <a:p>
                <a:pPr lvl="1"/>
                <a:r>
                  <a:rPr lang="en-US" dirty="0"/>
                  <a:t>48/2=24, 48/3=16, 48/4=12, 48/6=8, 48/8=6.</a:t>
                </a:r>
              </a:p>
              <a:p>
                <a:pPr lvl="1"/>
                <a:r>
                  <a:rPr lang="en-US" dirty="0"/>
                  <a:t>Can we have 48/12=4?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11151-A227-9741-9326-2E115012F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29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99E4-F2BA-B848-B159-9A647A93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Some edge counting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11151-A227-9741-9326-2E115012F7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large number of vertices in a graph with 19 edges and all vertices of degree at least 3?</a:t>
                </a:r>
              </a:p>
              <a:p>
                <a:pPr lvl="1"/>
                <a:r>
                  <a:rPr lang="en-US" dirty="0"/>
                  <a:t>The total number of degrees is 38.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×12=36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The rest two degrees could be distributed as (0,2), or (1,1).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11151-A227-9741-9326-2E115012F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CA7D-D896-1940-AF1D-074F5EECC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Circuits in bipartite graph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459B3D-542F-F84F-B00B-6D0258C75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628" y="2269118"/>
            <a:ext cx="4346614" cy="3266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F3C14A-B528-334F-B726-3F8180656541}"/>
              </a:ext>
            </a:extLst>
          </p:cNvPr>
          <p:cNvSpPr txBox="1"/>
          <p:nvPr/>
        </p:nvSpPr>
        <p:spPr>
          <a:xfrm>
            <a:off x="2031041" y="1322172"/>
            <a:ext cx="8129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graph is bipartite if and only if all the circuit are even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0D252-F62A-6C43-88FA-3D3E73091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487" y="2269118"/>
            <a:ext cx="3870711" cy="326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5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CA7D-D896-1940-AF1D-074F5EECC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Circuits in bipartite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3C14A-B528-334F-B726-3F8180656541}"/>
              </a:ext>
            </a:extLst>
          </p:cNvPr>
          <p:cNvSpPr txBox="1"/>
          <p:nvPr/>
        </p:nvSpPr>
        <p:spPr>
          <a:xfrm>
            <a:off x="3204247" y="1334528"/>
            <a:ext cx="57835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graph with no circuit is also bipartite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EAF307-7559-9643-9F2D-24AF06B8F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30" y="2241550"/>
            <a:ext cx="4908600" cy="28865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EB89B9-BA05-064D-AD1A-C3FD30E30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41550"/>
            <a:ext cx="46228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31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59A8-3FB0-9246-AD69-6D316C28A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9451"/>
            <a:ext cx="10515600" cy="1325563"/>
          </a:xfrm>
        </p:spPr>
        <p:txBody>
          <a:bodyPr/>
          <a:lstStyle/>
          <a:p>
            <a:pPr algn="ctr"/>
            <a:r>
              <a:rPr lang="en-US" sz="3600" b="1" dirty="0"/>
              <a:t>The Mountain Climbers Puzzle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805A1-6AC7-4B4E-B294-B80E0238F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772"/>
            <a:ext cx="10515600" cy="4351338"/>
          </a:xfrm>
        </p:spPr>
        <p:txBody>
          <a:bodyPr/>
          <a:lstStyle/>
          <a:p>
            <a:r>
              <a:rPr lang="en-US" dirty="0"/>
              <a:t>Two people start at locations A and Z at the same elevation on opposite sides of a mountain range whose summit is labeled M.  Is it possible for the two people to move along the range below to meet at M such that they are always at the same altitude every moment.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61A4C9-E57F-664B-A51A-71B57FA9DCF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35" y="2642931"/>
            <a:ext cx="5554765" cy="263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2E6CCB-3817-E34E-B7C3-149BD19F79F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34422"/>
            <a:ext cx="5053622" cy="25393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6B4D39-5619-5343-80AA-E15B09BFE2DA}"/>
              </a:ext>
            </a:extLst>
          </p:cNvPr>
          <p:cNvSpPr txBox="1"/>
          <p:nvPr/>
        </p:nvSpPr>
        <p:spPr>
          <a:xfrm>
            <a:off x="1800997" y="5501601"/>
            <a:ext cx="85900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Always possible because (A,Z) and (M,M) are only degree 1, all others with even degree. </a:t>
            </a:r>
          </a:p>
        </p:txBody>
      </p:sp>
    </p:spTree>
    <p:extLst>
      <p:ext uri="{BB962C8B-B14F-4D97-AF65-F5344CB8AC3E}">
        <p14:creationId xmlns:p14="http://schemas.microsoft.com/office/powerpoint/2010/main" val="240273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F0AF3A5-D268-F74C-8CB5-256340C50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Planar Graphs</a:t>
            </a:r>
          </a:p>
        </p:txBody>
      </p:sp>
      <p:grpSp>
        <p:nvGrpSpPr>
          <p:cNvPr id="18435" name="Group 33">
            <a:extLst>
              <a:ext uri="{FF2B5EF4-FFF2-40B4-BE49-F238E27FC236}">
                <a16:creationId xmlns:a16="http://schemas.microsoft.com/office/drawing/2014/main" id="{9B61E680-2751-2A44-ACD9-CFF0D31C86AB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429000"/>
            <a:ext cx="3962400" cy="2667000"/>
            <a:chOff x="3072" y="1632"/>
            <a:chExt cx="2496" cy="1680"/>
          </a:xfrm>
        </p:grpSpPr>
        <p:sp>
          <p:nvSpPr>
            <p:cNvPr id="18475" name="Line 22">
              <a:extLst>
                <a:ext uri="{FF2B5EF4-FFF2-40B4-BE49-F238E27FC236}">
                  <a16:creationId xmlns:a16="http://schemas.microsoft.com/office/drawing/2014/main" id="{8F57791E-263B-0540-A422-F6287EA9B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1632"/>
              <a:ext cx="1248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Line 23">
              <a:extLst>
                <a:ext uri="{FF2B5EF4-FFF2-40B4-BE49-F238E27FC236}">
                  <a16:creationId xmlns:a16="http://schemas.microsoft.com/office/drawing/2014/main" id="{1686969E-BDC2-5E42-BFC5-A6BEF14B1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32"/>
              <a:ext cx="1248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Line 24">
              <a:extLst>
                <a:ext uri="{FF2B5EF4-FFF2-40B4-BE49-F238E27FC236}">
                  <a16:creationId xmlns:a16="http://schemas.microsoft.com/office/drawing/2014/main" id="{065F0C67-E607-7F43-907F-BE1DC5F9E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880"/>
              <a:ext cx="124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Line 26">
              <a:extLst>
                <a:ext uri="{FF2B5EF4-FFF2-40B4-BE49-F238E27FC236}">
                  <a16:creationId xmlns:a16="http://schemas.microsoft.com/office/drawing/2014/main" id="{FE0982A5-5C6A-624F-954A-B16236DC8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2880"/>
              <a:ext cx="124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Line 27">
              <a:extLst>
                <a:ext uri="{FF2B5EF4-FFF2-40B4-BE49-F238E27FC236}">
                  <a16:creationId xmlns:a16="http://schemas.microsoft.com/office/drawing/2014/main" id="{2879D4EA-8D2A-8441-897C-74B3C85A4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880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Line 28">
              <a:extLst>
                <a:ext uri="{FF2B5EF4-FFF2-40B4-BE49-F238E27FC236}">
                  <a16:creationId xmlns:a16="http://schemas.microsoft.com/office/drawing/2014/main" id="{313D39E0-B697-F74E-978E-923F23ACB4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640"/>
              <a:ext cx="14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Line 29">
              <a:extLst>
                <a:ext uri="{FF2B5EF4-FFF2-40B4-BE49-F238E27FC236}">
                  <a16:creationId xmlns:a16="http://schemas.microsoft.com/office/drawing/2014/main" id="{A7E1BB29-BDC4-EF40-8BBB-0825E2B32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640"/>
              <a:ext cx="100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Line 30">
              <a:extLst>
                <a:ext uri="{FF2B5EF4-FFF2-40B4-BE49-F238E27FC236}">
                  <a16:creationId xmlns:a16="http://schemas.microsoft.com/office/drawing/2014/main" id="{BFE37DD1-8E73-D548-9689-01ACFB10A3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80" y="2400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Line 31">
              <a:extLst>
                <a:ext uri="{FF2B5EF4-FFF2-40B4-BE49-F238E27FC236}">
                  <a16:creationId xmlns:a16="http://schemas.microsoft.com/office/drawing/2014/main" id="{5B3ED399-257A-B749-97AD-99300728F0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1632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Line 32">
              <a:extLst>
                <a:ext uri="{FF2B5EF4-FFF2-40B4-BE49-F238E27FC236}">
                  <a16:creationId xmlns:a16="http://schemas.microsoft.com/office/drawing/2014/main" id="{E131885A-0EDB-7D4A-9183-4C9EE9001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32"/>
              <a:ext cx="24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36" name="Text Box 36">
            <a:extLst>
              <a:ext uri="{FF2B5EF4-FFF2-40B4-BE49-F238E27FC236}">
                <a16:creationId xmlns:a16="http://schemas.microsoft.com/office/drawing/2014/main" id="{385DD2DC-696D-2F4A-AC32-04726F3E6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114801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grpSp>
        <p:nvGrpSpPr>
          <p:cNvPr id="18437" name="Group 47">
            <a:extLst>
              <a:ext uri="{FF2B5EF4-FFF2-40B4-BE49-F238E27FC236}">
                <a16:creationId xmlns:a16="http://schemas.microsoft.com/office/drawing/2014/main" id="{9B345F16-48BE-2A40-A50F-AC6AB078D570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3290888"/>
            <a:ext cx="4343400" cy="2500312"/>
            <a:chOff x="192" y="1296"/>
            <a:chExt cx="2736" cy="1575"/>
          </a:xfrm>
        </p:grpSpPr>
        <p:grpSp>
          <p:nvGrpSpPr>
            <p:cNvPr id="18461" name="Group 21">
              <a:extLst>
                <a:ext uri="{FF2B5EF4-FFF2-40B4-BE49-F238E27FC236}">
                  <a16:creationId xmlns:a16="http://schemas.microsoft.com/office/drawing/2014/main" id="{E2E0B821-6CBA-1A46-8BF7-BC84559CDC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488"/>
              <a:ext cx="2592" cy="1200"/>
              <a:chOff x="288" y="1728"/>
              <a:chExt cx="2592" cy="1200"/>
            </a:xfrm>
          </p:grpSpPr>
          <p:sp>
            <p:nvSpPr>
              <p:cNvPr id="18465" name="Line 4">
                <a:extLst>
                  <a:ext uri="{FF2B5EF4-FFF2-40B4-BE49-F238E27FC236}">
                    <a16:creationId xmlns:a16="http://schemas.microsoft.com/office/drawing/2014/main" id="{84370535-CBCE-B148-B32F-1702733F4F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72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6" name="Line 5">
                <a:extLst>
                  <a:ext uri="{FF2B5EF4-FFF2-40B4-BE49-F238E27FC236}">
                    <a16:creationId xmlns:a16="http://schemas.microsoft.com/office/drawing/2014/main" id="{4DB78686-81E1-6C4D-82E4-8F512EA27D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" y="1728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7" name="Line 8">
                <a:extLst>
                  <a:ext uri="{FF2B5EF4-FFF2-40B4-BE49-F238E27FC236}">
                    <a16:creationId xmlns:a16="http://schemas.microsoft.com/office/drawing/2014/main" id="{00C9430D-CECB-C642-B46D-7CD7D515E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728"/>
                <a:ext cx="1728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8" name="Line 10">
                <a:extLst>
                  <a:ext uri="{FF2B5EF4-FFF2-40B4-BE49-F238E27FC236}">
                    <a16:creationId xmlns:a16="http://schemas.microsoft.com/office/drawing/2014/main" id="{489229A0-B9DF-3F4D-9710-7BF9F10529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2160"/>
                <a:ext cx="216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9" name="Line 15">
                <a:extLst>
                  <a:ext uri="{FF2B5EF4-FFF2-40B4-BE49-F238E27FC236}">
                    <a16:creationId xmlns:a16="http://schemas.microsoft.com/office/drawing/2014/main" id="{55F4F4AC-2FC8-784D-B362-84CD32DA8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728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0" name="Line 16">
                <a:extLst>
                  <a:ext uri="{FF2B5EF4-FFF2-40B4-BE49-F238E27FC236}">
                    <a16:creationId xmlns:a16="http://schemas.microsoft.com/office/drawing/2014/main" id="{EEA613A0-025D-CD46-8EF5-2D784C8C0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1728"/>
                <a:ext cx="1728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1" name="Line 17">
                <a:extLst>
                  <a:ext uri="{FF2B5EF4-FFF2-40B4-BE49-F238E27FC236}">
                    <a16:creationId xmlns:a16="http://schemas.microsoft.com/office/drawing/2014/main" id="{0FCEF6CA-12A0-B34A-823B-6DC96AF1B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2160"/>
                <a:ext cx="216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2" name="Line 18">
                <a:extLst>
                  <a:ext uri="{FF2B5EF4-FFF2-40B4-BE49-F238E27FC236}">
                    <a16:creationId xmlns:a16="http://schemas.microsoft.com/office/drawing/2014/main" id="{5CCE9446-1C1E-6949-A9DF-2D617E455D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728"/>
                <a:ext cx="0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3" name="Line 19">
                <a:extLst>
                  <a:ext uri="{FF2B5EF4-FFF2-40B4-BE49-F238E27FC236}">
                    <a16:creationId xmlns:a16="http://schemas.microsoft.com/office/drawing/2014/main" id="{52CFB580-0585-EC4F-BC29-7402F89906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728"/>
                <a:ext cx="0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4" name="Line 20">
                <a:extLst>
                  <a:ext uri="{FF2B5EF4-FFF2-40B4-BE49-F238E27FC236}">
                    <a16:creationId xmlns:a16="http://schemas.microsoft.com/office/drawing/2014/main" id="{B238BCE7-EA9C-004E-8A24-8357F40EB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92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62" name="Text Box 34">
              <a:extLst>
                <a:ext uri="{FF2B5EF4-FFF2-40B4-BE49-F238E27FC236}">
                  <a16:creationId xmlns:a16="http://schemas.microsoft.com/office/drawing/2014/main" id="{2C79A8A1-590B-FA43-93DE-4C7D76309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96"/>
              <a:ext cx="2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  a			b</a:t>
              </a:r>
            </a:p>
          </p:txBody>
        </p:sp>
        <p:sp>
          <p:nvSpPr>
            <p:cNvPr id="18463" name="Text Box 35">
              <a:extLst>
                <a:ext uri="{FF2B5EF4-FFF2-40B4-BE49-F238E27FC236}">
                  <a16:creationId xmlns:a16="http://schemas.microsoft.com/office/drawing/2014/main" id="{3095EB8F-8FAE-464E-9D9F-1DE35B6A5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40"/>
              <a:ext cx="19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d		              c	</a:t>
              </a:r>
            </a:p>
          </p:txBody>
        </p:sp>
        <p:sp>
          <p:nvSpPr>
            <p:cNvPr id="18464" name="Text Box 37">
              <a:extLst>
                <a:ext uri="{FF2B5EF4-FFF2-40B4-BE49-F238E27FC236}">
                  <a16:creationId xmlns:a16="http://schemas.microsoft.com/office/drawing/2014/main" id="{B95B593E-32E6-EB41-A312-582F6A1D9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</p:grpSp>
      <p:sp>
        <p:nvSpPr>
          <p:cNvPr id="18438" name="Text Box 38">
            <a:extLst>
              <a:ext uri="{FF2B5EF4-FFF2-40B4-BE49-F238E27FC236}">
                <a16:creationId xmlns:a16="http://schemas.microsoft.com/office/drawing/2014/main" id="{81CA4C36-AF97-414F-839C-2C22F6785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124201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 a</a:t>
            </a:r>
          </a:p>
        </p:txBody>
      </p:sp>
      <p:sp>
        <p:nvSpPr>
          <p:cNvPr id="18439" name="Text Box 39">
            <a:extLst>
              <a:ext uri="{FF2B5EF4-FFF2-40B4-BE49-F238E27FC236}">
                <a16:creationId xmlns:a16="http://schemas.microsoft.com/office/drawing/2014/main" id="{D4B60E99-59C9-A240-99B6-A4B6C88C3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4196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e</a:t>
            </a:r>
          </a:p>
        </p:txBody>
      </p:sp>
      <p:sp>
        <p:nvSpPr>
          <p:cNvPr id="18440" name="Text Box 40">
            <a:extLst>
              <a:ext uri="{FF2B5EF4-FFF2-40B4-BE49-F238E27FC236}">
                <a16:creationId xmlns:a16="http://schemas.microsoft.com/office/drawing/2014/main" id="{17882B6F-6B30-2547-8BD7-19CAB6152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47244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c</a:t>
            </a:r>
          </a:p>
        </p:txBody>
      </p:sp>
      <p:sp>
        <p:nvSpPr>
          <p:cNvPr id="18441" name="Text Box 41">
            <a:extLst>
              <a:ext uri="{FF2B5EF4-FFF2-40B4-BE49-F238E27FC236}">
                <a16:creationId xmlns:a16="http://schemas.microsoft.com/office/drawing/2014/main" id="{AECC0B67-84B2-084A-A7AC-7D4A8916B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19588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d</a:t>
            </a:r>
          </a:p>
        </p:txBody>
      </p:sp>
      <p:sp>
        <p:nvSpPr>
          <p:cNvPr id="18442" name="Text Box 42">
            <a:extLst>
              <a:ext uri="{FF2B5EF4-FFF2-40B4-BE49-F238E27FC236}">
                <a16:creationId xmlns:a16="http://schemas.microsoft.com/office/drawing/2014/main" id="{704172B7-C59B-2F4A-A6E9-7F95A5E58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4600" y="519588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b</a:t>
            </a:r>
          </a:p>
        </p:txBody>
      </p:sp>
      <p:sp>
        <p:nvSpPr>
          <p:cNvPr id="18443" name="Text Box 43">
            <a:extLst>
              <a:ext uri="{FF2B5EF4-FFF2-40B4-BE49-F238E27FC236}">
                <a16:creationId xmlns:a16="http://schemas.microsoft.com/office/drawing/2014/main" id="{D174A448-1ECB-2D41-88CC-0EA8E1DEB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6019801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f</a:t>
            </a:r>
          </a:p>
        </p:txBody>
      </p:sp>
      <p:sp>
        <p:nvSpPr>
          <p:cNvPr id="18444" name="Text Box 45">
            <a:extLst>
              <a:ext uri="{FF2B5EF4-FFF2-40B4-BE49-F238E27FC236}">
                <a16:creationId xmlns:a16="http://schemas.microsoft.com/office/drawing/2014/main" id="{E0504490-0F80-F54C-8B92-D9C520A8F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667000"/>
            <a:ext cx="403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</a:rPr>
              <a:t>Plane graph of Figure 1</a:t>
            </a:r>
          </a:p>
        </p:txBody>
      </p:sp>
      <p:sp>
        <p:nvSpPr>
          <p:cNvPr id="18445" name="Text Box 46">
            <a:extLst>
              <a:ext uri="{FF2B5EF4-FFF2-40B4-BE49-F238E27FC236}">
                <a16:creationId xmlns:a16="http://schemas.microsoft.com/office/drawing/2014/main" id="{5391B3A9-3915-C145-975F-76DDF4064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895600"/>
            <a:ext cx="281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</a:rPr>
              <a:t>Figure 1</a:t>
            </a:r>
          </a:p>
        </p:txBody>
      </p:sp>
      <p:sp>
        <p:nvSpPr>
          <p:cNvPr id="18446" name="Text Box 48">
            <a:extLst>
              <a:ext uri="{FF2B5EF4-FFF2-40B4-BE49-F238E27FC236}">
                <a16:creationId xmlns:a16="http://schemas.microsoft.com/office/drawing/2014/main" id="{846D398C-52C1-7941-80A2-D0FF15BFB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447801"/>
            <a:ext cx="8915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A graph is </a:t>
            </a:r>
            <a:r>
              <a:rPr lang="en-US" altLang="en-US" sz="2400" b="1" dirty="0">
                <a:solidFill>
                  <a:schemeClr val="tx2"/>
                </a:solidFill>
              </a:rPr>
              <a:t>planar</a:t>
            </a:r>
            <a:r>
              <a:rPr lang="en-US" altLang="en-US" sz="2400" dirty="0">
                <a:solidFill>
                  <a:schemeClr val="tx2"/>
                </a:solidFill>
              </a:rPr>
              <a:t> if it can be drawn on a plane without edges crossing.</a:t>
            </a:r>
            <a:br>
              <a:rPr lang="en-US" altLang="en-US" sz="2400" dirty="0">
                <a:solidFill>
                  <a:schemeClr val="tx2"/>
                </a:solidFill>
              </a:rPr>
            </a:br>
            <a:r>
              <a:rPr lang="en-US" altLang="en-US" sz="2400" dirty="0">
                <a:solidFill>
                  <a:schemeClr val="tx2"/>
                </a:solidFill>
              </a:rPr>
              <a:t>A planar depiction of a planar graph drawn or redrawn (</a:t>
            </a:r>
            <a:r>
              <a:rPr lang="en-US" altLang="en-US" sz="2400" dirty="0" err="1">
                <a:solidFill>
                  <a:schemeClr val="tx2"/>
                </a:solidFill>
              </a:rPr>
              <a:t>isomorphically</a:t>
            </a:r>
            <a:r>
              <a:rPr lang="en-US" altLang="en-US" sz="2400" dirty="0">
                <a:solidFill>
                  <a:schemeClr val="tx2"/>
                </a:solidFill>
              </a:rPr>
              <a:t>) with no crossing.</a:t>
            </a:r>
          </a:p>
        </p:txBody>
      </p:sp>
      <p:sp>
        <p:nvSpPr>
          <p:cNvPr id="18447" name="Oval 49">
            <a:extLst>
              <a:ext uri="{FF2B5EF4-FFF2-40B4-BE49-F238E27FC236}">
                <a16:creationId xmlns:a16="http://schemas.microsoft.com/office/drawing/2014/main" id="{B2D51A59-6BA7-CD44-B875-E8A1947C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410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8" name="Oval 50">
            <a:extLst>
              <a:ext uri="{FF2B5EF4-FFF2-40B4-BE49-F238E27FC236}">
                <a16:creationId xmlns:a16="http://schemas.microsoft.com/office/drawing/2014/main" id="{6EE0B409-5DFA-3E42-BACC-2A4B7FC7B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191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9" name="Oval 51">
            <a:extLst>
              <a:ext uri="{FF2B5EF4-FFF2-40B4-BE49-F238E27FC236}">
                <a16:creationId xmlns:a16="http://schemas.microsoft.com/office/drawing/2014/main" id="{8C7FDA11-7F41-A042-9679-108819DA0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05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0" name="Oval 52">
            <a:extLst>
              <a:ext uri="{FF2B5EF4-FFF2-40B4-BE49-F238E27FC236}">
                <a16:creationId xmlns:a16="http://schemas.microsoft.com/office/drawing/2014/main" id="{96916CFD-F18E-CB48-AD8F-C6F9072BF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581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1" name="Oval 53">
            <a:extLst>
              <a:ext uri="{FF2B5EF4-FFF2-40B4-BE49-F238E27FC236}">
                <a16:creationId xmlns:a16="http://schemas.microsoft.com/office/drawing/2014/main" id="{98018E9B-CFAD-FD4D-B132-6A9344565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191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2" name="Oval 54">
            <a:extLst>
              <a:ext uri="{FF2B5EF4-FFF2-40B4-BE49-F238E27FC236}">
                <a16:creationId xmlns:a16="http://schemas.microsoft.com/office/drawing/2014/main" id="{1A12B034-EB08-8541-B2C3-3A7584EF8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410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3" name="Oval 55">
            <a:extLst>
              <a:ext uri="{FF2B5EF4-FFF2-40B4-BE49-F238E27FC236}">
                <a16:creationId xmlns:a16="http://schemas.microsoft.com/office/drawing/2014/main" id="{F763AC0F-4402-7C45-A8B3-C011814E9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4" name="Oval 56">
            <a:extLst>
              <a:ext uri="{FF2B5EF4-FFF2-40B4-BE49-F238E27FC236}">
                <a16:creationId xmlns:a16="http://schemas.microsoft.com/office/drawing/2014/main" id="{B197AEAB-8776-A147-9E11-35828EDF8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953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5" name="Oval 57">
            <a:extLst>
              <a:ext uri="{FF2B5EF4-FFF2-40B4-BE49-F238E27FC236}">
                <a16:creationId xmlns:a16="http://schemas.microsoft.com/office/drawing/2014/main" id="{2034FA24-F357-1C45-905C-F4BF549F4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6019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6" name="Oval 58">
            <a:extLst>
              <a:ext uri="{FF2B5EF4-FFF2-40B4-BE49-F238E27FC236}">
                <a16:creationId xmlns:a16="http://schemas.microsoft.com/office/drawing/2014/main" id="{5FAC3956-580F-294E-AA4F-A5B4307DF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334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7" name="Oval 59">
            <a:extLst>
              <a:ext uri="{FF2B5EF4-FFF2-40B4-BE49-F238E27FC236}">
                <a16:creationId xmlns:a16="http://schemas.microsoft.com/office/drawing/2014/main" id="{6BBFF756-B486-EE44-A809-9D561000C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8" name="Oval 60">
            <a:extLst>
              <a:ext uri="{FF2B5EF4-FFF2-40B4-BE49-F238E27FC236}">
                <a16:creationId xmlns:a16="http://schemas.microsoft.com/office/drawing/2014/main" id="{54E855E2-22E5-104D-9C23-EFA7EEB5F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0" y="5334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59389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23A44BC-D056-424D-AA70-BBF0BD3F2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Circle-Chord Method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sz="2000" dirty="0">
                <a:ea typeface="ＭＳ Ｐゴシック" panose="020B0600070205080204" pitchFamily="34" charset="-128"/>
              </a:rPr>
              <a:t>(a method to determine if a graph is planar)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8ADA166-D6E2-7141-AD71-DDE6677DBB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229600" cy="4627563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circle-chord method: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Step 1: Find a circuit that contains all the vertices of the graph (draw it as a circle)</a:t>
            </a:r>
          </a:p>
          <a:p>
            <a:pPr lvl="2" eaLnBrk="1" hangingPunct="1"/>
            <a:r>
              <a:rPr lang="en-US" altLang="en-US" dirty="0">
                <a:ea typeface="ＭＳ Ｐゴシック" panose="020B0600070205080204" pitchFamily="34" charset="-128"/>
              </a:rPr>
              <a:t>Note: Finding a circuit which includes all vertices is difficult.</a:t>
            </a:r>
          </a:p>
          <a:p>
            <a:pPr lvl="2" eaLnBrk="1" hangingPunct="1"/>
            <a:r>
              <a:rPr lang="en-US" altLang="en-US" dirty="0">
                <a:ea typeface="ＭＳ Ｐゴシック" panose="020B0600070205080204" pitchFamily="34" charset="-128"/>
              </a:rPr>
              <a:t>Recall: circuit is a path that ends where it began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Step 2: The remaining non-circuit edges, called chords, must be drawn either inside or outside the circle without intersection.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If this is successful, the graph is planar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If there is a chord which cannot be drawn either inside or outside without intersection, the graph is non-planar</a:t>
            </a:r>
          </a:p>
        </p:txBody>
      </p:sp>
    </p:spTree>
    <p:extLst>
      <p:ext uri="{BB962C8B-B14F-4D97-AF65-F5344CB8AC3E}">
        <p14:creationId xmlns:p14="http://schemas.microsoft.com/office/powerpoint/2010/main" val="3384873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1" name="Arc 95">
            <a:extLst>
              <a:ext uri="{FF2B5EF4-FFF2-40B4-BE49-F238E27FC236}">
                <a16:creationId xmlns:a16="http://schemas.microsoft.com/office/drawing/2014/main" id="{EB9DE9F1-E6B6-784B-BFF0-BC43CDA960F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8077201" y="3690939"/>
            <a:ext cx="587375" cy="89217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2" name="Arc 96">
            <a:extLst>
              <a:ext uri="{FF2B5EF4-FFF2-40B4-BE49-F238E27FC236}">
                <a16:creationId xmlns:a16="http://schemas.microsoft.com/office/drawing/2014/main" id="{18DF213C-9358-A749-9D9F-F20DBC01BE7A}"/>
              </a:ext>
            </a:extLst>
          </p:cNvPr>
          <p:cNvSpPr>
            <a:spLocks/>
          </p:cNvSpPr>
          <p:nvPr/>
        </p:nvSpPr>
        <p:spPr bwMode="auto">
          <a:xfrm flipV="1">
            <a:off x="9285288" y="4386263"/>
            <a:ext cx="565150" cy="107791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9" name="Line 93">
            <a:extLst>
              <a:ext uri="{FF2B5EF4-FFF2-40B4-BE49-F238E27FC236}">
                <a16:creationId xmlns:a16="http://schemas.microsoft.com/office/drawing/2014/main" id="{86B57C26-9749-0A47-8470-FDBEDAC189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88313" y="4233863"/>
            <a:ext cx="565150" cy="304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8" name="Line 92">
            <a:extLst>
              <a:ext uri="{FF2B5EF4-FFF2-40B4-BE49-F238E27FC236}">
                <a16:creationId xmlns:a16="http://schemas.microsoft.com/office/drawing/2014/main" id="{3196DB01-E866-BA4F-AFFA-F64D44C6B0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89889" y="4625975"/>
            <a:ext cx="65087" cy="56673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6" name="Line 90">
            <a:extLst>
              <a:ext uri="{FF2B5EF4-FFF2-40B4-BE49-F238E27FC236}">
                <a16:creationId xmlns:a16="http://schemas.microsoft.com/office/drawing/2014/main" id="{6B8597EA-B8E3-AA43-A24E-1079073594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01001" y="5300663"/>
            <a:ext cx="652463" cy="50165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5" name="Line 89">
            <a:extLst>
              <a:ext uri="{FF2B5EF4-FFF2-40B4-BE49-F238E27FC236}">
                <a16:creationId xmlns:a16="http://schemas.microsoft.com/office/drawing/2014/main" id="{584E7CF3-B6FF-A24D-A805-979BAAB0E6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20139" y="5497513"/>
            <a:ext cx="554037" cy="271462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4" name="Line 88">
            <a:extLst>
              <a:ext uri="{FF2B5EF4-FFF2-40B4-BE49-F238E27FC236}">
                <a16:creationId xmlns:a16="http://schemas.microsoft.com/office/drawing/2014/main" id="{5C366D55-DA92-7945-AA2B-52CE34E949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07514" y="4778375"/>
            <a:ext cx="98425" cy="64293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6" name="Line 80">
            <a:extLst>
              <a:ext uri="{FF2B5EF4-FFF2-40B4-BE49-F238E27FC236}">
                <a16:creationId xmlns:a16="http://schemas.microsoft.com/office/drawing/2014/main" id="{E5BACA09-F17B-B54D-9772-FD095222F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5388" y="4225925"/>
            <a:ext cx="565150" cy="41275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6" name="Rectangle 2">
                <a:extLst>
                  <a:ext uri="{FF2B5EF4-FFF2-40B4-BE49-F238E27FC236}">
                    <a16:creationId xmlns:a16="http://schemas.microsoft.com/office/drawing/2014/main" id="{84BB2BC2-1545-004D-AB24-146ABF1C56EE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 eaLnBrk="1" hangingPunct="1"/>
                <a:r>
                  <a:rPr lang="en-US" altLang="en-US" dirty="0">
                    <a:ea typeface="ＭＳ Ｐゴシック" panose="020B0600070205080204" pitchFamily="34" charset="-128"/>
                  </a:rPr>
                  <a:t>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is Nonplanar</a:t>
                </a:r>
              </a:p>
            </p:txBody>
          </p:sp>
        </mc:Choice>
        <mc:Fallback xmlns="">
          <p:sp>
            <p:nvSpPr>
              <p:cNvPr id="29706" name="Rectangle 2">
                <a:extLst>
                  <a:ext uri="{FF2B5EF4-FFF2-40B4-BE49-F238E27FC236}">
                    <a16:creationId xmlns:a16="http://schemas.microsoft.com/office/drawing/2014/main" id="{84BB2BC2-1545-004D-AB24-146ABF1C5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07" name="Rectangle 3">
            <a:extLst>
              <a:ext uri="{FF2B5EF4-FFF2-40B4-BE49-F238E27FC236}">
                <a16:creationId xmlns:a16="http://schemas.microsoft.com/office/drawing/2014/main" id="{2BA3270F-0C53-9C46-850D-882BAA899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    indicates that the graph is a complete bipartite graph consisting of two sets of 3 vertices with each vertex in one set adjacent to all vertices in the other set.</a:t>
            </a:r>
          </a:p>
        </p:txBody>
      </p:sp>
      <p:sp>
        <p:nvSpPr>
          <p:cNvPr id="29710" name="Line 24">
            <a:extLst>
              <a:ext uri="{FF2B5EF4-FFF2-40B4-BE49-F238E27FC236}">
                <a16:creationId xmlns:a16="http://schemas.microsoft.com/office/drawing/2014/main" id="{4F3A0482-F712-3C4B-B970-4E0800D16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038600"/>
            <a:ext cx="0" cy="1600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1" name="Line 25">
            <a:extLst>
              <a:ext uri="{FF2B5EF4-FFF2-40B4-BE49-F238E27FC236}">
                <a16:creationId xmlns:a16="http://schemas.microsoft.com/office/drawing/2014/main" id="{0B4E3588-9E4C-4B47-9E3C-1940899FF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038600"/>
            <a:ext cx="609600" cy="1600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2" name="Line 26">
            <a:extLst>
              <a:ext uri="{FF2B5EF4-FFF2-40B4-BE49-F238E27FC236}">
                <a16:creationId xmlns:a16="http://schemas.microsoft.com/office/drawing/2014/main" id="{A1A85823-BF1A-4240-AB34-E023E3F99C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1" y="4103688"/>
            <a:ext cx="587375" cy="1535112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3" name="Line 27">
            <a:extLst>
              <a:ext uri="{FF2B5EF4-FFF2-40B4-BE49-F238E27FC236}">
                <a16:creationId xmlns:a16="http://schemas.microsoft.com/office/drawing/2014/main" id="{5EE9B3B9-0BED-544D-AB34-3BCC91BA85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038600"/>
            <a:ext cx="609600" cy="1600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4" name="Line 28">
            <a:extLst>
              <a:ext uri="{FF2B5EF4-FFF2-40B4-BE49-F238E27FC236}">
                <a16:creationId xmlns:a16="http://schemas.microsoft.com/office/drawing/2014/main" id="{11FD75D2-D650-0944-B6C0-6DC5F6A817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4038600"/>
            <a:ext cx="609600" cy="1600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5" name="Line 29">
            <a:extLst>
              <a:ext uri="{FF2B5EF4-FFF2-40B4-BE49-F238E27FC236}">
                <a16:creationId xmlns:a16="http://schemas.microsoft.com/office/drawing/2014/main" id="{651ACD82-3571-234F-8BBB-CCA342310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038600"/>
            <a:ext cx="0" cy="1600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6" name="Line 30">
            <a:extLst>
              <a:ext uri="{FF2B5EF4-FFF2-40B4-BE49-F238E27FC236}">
                <a16:creationId xmlns:a16="http://schemas.microsoft.com/office/drawing/2014/main" id="{C15BA0FF-592C-F449-81B4-69984A53B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125914"/>
            <a:ext cx="0" cy="1512887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7" name="Line 31">
            <a:extLst>
              <a:ext uri="{FF2B5EF4-FFF2-40B4-BE49-F238E27FC236}">
                <a16:creationId xmlns:a16="http://schemas.microsoft.com/office/drawing/2014/main" id="{2904F3AA-19E4-DB4E-AFFD-5FFF4F453C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4070350"/>
            <a:ext cx="1187450" cy="1568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8" name="Line 32">
            <a:extLst>
              <a:ext uri="{FF2B5EF4-FFF2-40B4-BE49-F238E27FC236}">
                <a16:creationId xmlns:a16="http://schemas.microsoft.com/office/drawing/2014/main" id="{A295937F-B298-974C-895B-EC18724DB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038600"/>
            <a:ext cx="1219200" cy="1600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9" name="Line 33">
            <a:extLst>
              <a:ext uri="{FF2B5EF4-FFF2-40B4-BE49-F238E27FC236}">
                <a16:creationId xmlns:a16="http://schemas.microsoft.com/office/drawing/2014/main" id="{D2C35D1C-4AD4-6D46-BA86-1A48C7797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800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0" name="Line 34">
            <a:extLst>
              <a:ext uri="{FF2B5EF4-FFF2-40B4-BE49-F238E27FC236}">
                <a16:creationId xmlns:a16="http://schemas.microsoft.com/office/drawing/2014/main" id="{C48351A7-F4B2-3140-9562-047C8C964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876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1" name="Oval 51">
            <a:extLst>
              <a:ext uri="{FF2B5EF4-FFF2-40B4-BE49-F238E27FC236}">
                <a16:creationId xmlns:a16="http://schemas.microsoft.com/office/drawing/2014/main" id="{DF1E77B2-E640-6044-BF38-226B6D0A8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39846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2" name="Oval 52">
            <a:extLst>
              <a:ext uri="{FF2B5EF4-FFF2-40B4-BE49-F238E27FC236}">
                <a16:creationId xmlns:a16="http://schemas.microsoft.com/office/drawing/2014/main" id="{EFB4E830-4417-CE41-88FD-FDFA68B6C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0" y="403225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9723" name="Group 78">
            <a:extLst>
              <a:ext uri="{FF2B5EF4-FFF2-40B4-BE49-F238E27FC236}">
                <a16:creationId xmlns:a16="http://schemas.microsoft.com/office/drawing/2014/main" id="{641456C7-1502-154E-9838-DC8A13A77909}"/>
              </a:ext>
            </a:extLst>
          </p:cNvPr>
          <p:cNvGrpSpPr>
            <a:grpSpLocks/>
          </p:cNvGrpSpPr>
          <p:nvPr/>
        </p:nvGrpSpPr>
        <p:grpSpPr bwMode="auto">
          <a:xfrm>
            <a:off x="1957389" y="3973513"/>
            <a:ext cx="1374775" cy="1689100"/>
            <a:chOff x="273" y="2503"/>
            <a:chExt cx="866" cy="1064"/>
          </a:xfrm>
        </p:grpSpPr>
        <p:grpSp>
          <p:nvGrpSpPr>
            <p:cNvPr id="29749" name="Group 21">
              <a:extLst>
                <a:ext uri="{FF2B5EF4-FFF2-40B4-BE49-F238E27FC236}">
                  <a16:creationId xmlns:a16="http://schemas.microsoft.com/office/drawing/2014/main" id="{17E5C480-B5CF-CB4D-B43C-7BDA4004B1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544"/>
              <a:ext cx="754" cy="980"/>
              <a:chOff x="960" y="2640"/>
              <a:chExt cx="768" cy="1008"/>
            </a:xfrm>
          </p:grpSpPr>
          <p:sp>
            <p:nvSpPr>
              <p:cNvPr id="29756" name="Line 10">
                <a:extLst>
                  <a:ext uri="{FF2B5EF4-FFF2-40B4-BE49-F238E27FC236}">
                    <a16:creationId xmlns:a16="http://schemas.microsoft.com/office/drawing/2014/main" id="{C2A9CC3B-2FF4-E14A-958F-9B28D4F07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64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7" name="Line 11">
                <a:extLst>
                  <a:ext uri="{FF2B5EF4-FFF2-40B4-BE49-F238E27FC236}">
                    <a16:creationId xmlns:a16="http://schemas.microsoft.com/office/drawing/2014/main" id="{96623B7E-F44F-044E-89CD-F48D3C31B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640"/>
                <a:ext cx="384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8" name="Line 12">
                <a:extLst>
                  <a:ext uri="{FF2B5EF4-FFF2-40B4-BE49-F238E27FC236}">
                    <a16:creationId xmlns:a16="http://schemas.microsoft.com/office/drawing/2014/main" id="{ED226C41-FCDF-7C49-9253-7A829A7E85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4" y="2640"/>
                <a:ext cx="384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9" name="Line 14">
                <a:extLst>
                  <a:ext uri="{FF2B5EF4-FFF2-40B4-BE49-F238E27FC236}">
                    <a16:creationId xmlns:a16="http://schemas.microsoft.com/office/drawing/2014/main" id="{89DB02E3-6E80-B54C-820D-3BF0E0ABF3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640"/>
                <a:ext cx="384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0" name="Line 15">
                <a:extLst>
                  <a:ext uri="{FF2B5EF4-FFF2-40B4-BE49-F238E27FC236}">
                    <a16:creationId xmlns:a16="http://schemas.microsoft.com/office/drawing/2014/main" id="{E696A0C5-8AF9-834B-A343-1BD48BD2B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60" y="2640"/>
                <a:ext cx="384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1" name="Line 17">
                <a:extLst>
                  <a:ext uri="{FF2B5EF4-FFF2-40B4-BE49-F238E27FC236}">
                    <a16:creationId xmlns:a16="http://schemas.microsoft.com/office/drawing/2014/main" id="{48C0C936-12C4-534E-B000-954CCC400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64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2" name="Line 18">
                <a:extLst>
                  <a:ext uri="{FF2B5EF4-FFF2-40B4-BE49-F238E27FC236}">
                    <a16:creationId xmlns:a16="http://schemas.microsoft.com/office/drawing/2014/main" id="{80431A06-2755-2344-BD3B-98AB16B2A8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64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3" name="Line 19">
                <a:extLst>
                  <a:ext uri="{FF2B5EF4-FFF2-40B4-BE49-F238E27FC236}">
                    <a16:creationId xmlns:a16="http://schemas.microsoft.com/office/drawing/2014/main" id="{42D937D9-863A-5B45-94FE-9C729D649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60" y="2640"/>
                <a:ext cx="768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4" name="Line 20">
                <a:extLst>
                  <a:ext uri="{FF2B5EF4-FFF2-40B4-BE49-F238E27FC236}">
                    <a16:creationId xmlns:a16="http://schemas.microsoft.com/office/drawing/2014/main" id="{D8BBBF3E-BCA7-DE4C-98E8-EC1A3B34F5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640"/>
                <a:ext cx="768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50" name="Oval 49">
              <a:extLst>
                <a:ext uri="{FF2B5EF4-FFF2-40B4-BE49-F238E27FC236}">
                  <a16:creationId xmlns:a16="http://schemas.microsoft.com/office/drawing/2014/main" id="{0F222678-82D5-464D-87C3-5CE5889D0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" y="250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51" name="Oval 50">
              <a:extLst>
                <a:ext uri="{FF2B5EF4-FFF2-40B4-BE49-F238E27FC236}">
                  <a16:creationId xmlns:a16="http://schemas.microsoft.com/office/drawing/2014/main" id="{1B77196D-2517-B041-9B39-C7CB5F57C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250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52" name="Oval 53">
              <a:extLst>
                <a:ext uri="{FF2B5EF4-FFF2-40B4-BE49-F238E27FC236}">
                  <a16:creationId xmlns:a16="http://schemas.microsoft.com/office/drawing/2014/main" id="{8684AE75-C259-E846-B9E6-640056AAD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511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53" name="Oval 54">
              <a:extLst>
                <a:ext uri="{FF2B5EF4-FFF2-40B4-BE49-F238E27FC236}">
                  <a16:creationId xmlns:a16="http://schemas.microsoft.com/office/drawing/2014/main" id="{FA321AA9-F147-DE4E-9060-0AC247FF8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" y="3461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54" name="Oval 55">
              <a:extLst>
                <a:ext uri="{FF2B5EF4-FFF2-40B4-BE49-F238E27FC236}">
                  <a16:creationId xmlns:a16="http://schemas.microsoft.com/office/drawing/2014/main" id="{A3E66D25-5A7B-7B42-B88E-5FB49BE5F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3471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55" name="Oval 56">
              <a:extLst>
                <a:ext uri="{FF2B5EF4-FFF2-40B4-BE49-F238E27FC236}">
                  <a16:creationId xmlns:a16="http://schemas.microsoft.com/office/drawing/2014/main" id="{4DDB9B9F-CA0C-3843-8852-08437F133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" y="344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9724" name="Oval 57">
            <a:extLst>
              <a:ext uri="{FF2B5EF4-FFF2-40B4-BE49-F238E27FC236}">
                <a16:creationId xmlns:a16="http://schemas.microsoft.com/office/drawing/2014/main" id="{C63DB74E-6FAE-7B46-9AC8-174E49332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400" y="40513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5" name="Oval 58">
            <a:extLst>
              <a:ext uri="{FF2B5EF4-FFF2-40B4-BE49-F238E27FC236}">
                <a16:creationId xmlns:a16="http://schemas.microsoft.com/office/drawing/2014/main" id="{2260C089-E93A-AE49-BA60-4B5748069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552291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6" name="Oval 59">
            <a:extLst>
              <a:ext uri="{FF2B5EF4-FFF2-40B4-BE49-F238E27FC236}">
                <a16:creationId xmlns:a16="http://schemas.microsoft.com/office/drawing/2014/main" id="{F318BB59-986B-4342-8C0B-BB2091D9F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555783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7" name="Oval 60">
            <a:extLst>
              <a:ext uri="{FF2B5EF4-FFF2-40B4-BE49-F238E27FC236}">
                <a16:creationId xmlns:a16="http://schemas.microsoft.com/office/drawing/2014/main" id="{D09A2AE9-B427-DD4D-B7F6-651A74103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554831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8" name="Text Box 47">
            <a:extLst>
              <a:ext uri="{FF2B5EF4-FFF2-40B4-BE49-F238E27FC236}">
                <a16:creationId xmlns:a16="http://schemas.microsoft.com/office/drawing/2014/main" id="{A14EE02A-88C8-2D49-A500-1762B6E22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450" y="3971926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52" name="Oval 36">
            <a:extLst>
              <a:ext uri="{FF2B5EF4-FFF2-40B4-BE49-F238E27FC236}">
                <a16:creationId xmlns:a16="http://schemas.microsoft.com/office/drawing/2014/main" id="{903CC35C-16F4-4A4D-93E2-663DB7745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3850" y="4186238"/>
            <a:ext cx="1524000" cy="1600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56" name="Line 40">
            <a:extLst>
              <a:ext uri="{FF2B5EF4-FFF2-40B4-BE49-F238E27FC236}">
                <a16:creationId xmlns:a16="http://schemas.microsoft.com/office/drawing/2014/main" id="{45D42DB7-CB47-FE46-8AE3-84EB6E4C66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5850" y="4156075"/>
            <a:ext cx="0" cy="1600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1" name="Line 45">
            <a:extLst>
              <a:ext uri="{FF2B5EF4-FFF2-40B4-BE49-F238E27FC236}">
                <a16:creationId xmlns:a16="http://schemas.microsoft.com/office/drawing/2014/main" id="{EE987196-961B-DD4C-B466-CE656C6320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0050" y="4686300"/>
            <a:ext cx="1371600" cy="609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7" name="Oval 61">
            <a:extLst>
              <a:ext uri="{FF2B5EF4-FFF2-40B4-BE49-F238E27FC236}">
                <a16:creationId xmlns:a16="http://schemas.microsoft.com/office/drawing/2014/main" id="{8CF1AC61-4C4D-B947-B7FB-2C7F7DB44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7113" y="412908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78" name="Oval 62">
            <a:extLst>
              <a:ext uri="{FF2B5EF4-FFF2-40B4-BE49-F238E27FC236}">
                <a16:creationId xmlns:a16="http://schemas.microsoft.com/office/drawing/2014/main" id="{D2211584-FC60-3047-89BA-FF589BA9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700" y="45116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79" name="Oval 63">
            <a:extLst>
              <a:ext uri="{FF2B5EF4-FFF2-40B4-BE49-F238E27FC236}">
                <a16:creationId xmlns:a16="http://schemas.microsoft.com/office/drawing/2014/main" id="{A1DA14AA-D443-724C-9DA3-3BF960AEF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60533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80" name="Oval 64">
            <a:extLst>
              <a:ext uri="{FF2B5EF4-FFF2-40B4-BE49-F238E27FC236}">
                <a16:creationId xmlns:a16="http://schemas.microsoft.com/office/drawing/2014/main" id="{C2AA3FE1-CBE0-E04D-8B80-D999D039E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4638" y="51911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81" name="Oval 65">
            <a:extLst>
              <a:ext uri="{FF2B5EF4-FFF2-40B4-BE49-F238E27FC236}">
                <a16:creationId xmlns:a16="http://schemas.microsoft.com/office/drawing/2014/main" id="{FA550B10-9ADC-C74D-A230-C7EE40F62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74675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82" name="Oval 66">
            <a:extLst>
              <a:ext uri="{FF2B5EF4-FFF2-40B4-BE49-F238E27FC236}">
                <a16:creationId xmlns:a16="http://schemas.microsoft.com/office/drawing/2014/main" id="{9491BE87-F9BE-8C47-8BA2-B86226090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7975" y="536098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83" name="Text Box 67">
            <a:extLst>
              <a:ext uri="{FF2B5EF4-FFF2-40B4-BE49-F238E27FC236}">
                <a16:creationId xmlns:a16="http://schemas.microsoft.com/office/drawing/2014/main" id="{CA03E60A-5C9D-4C43-AEB7-66A301BB6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76" y="3844926"/>
            <a:ext cx="377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1</a:t>
            </a:r>
          </a:p>
        </p:txBody>
      </p:sp>
      <p:sp>
        <p:nvSpPr>
          <p:cNvPr id="9284" name="Text Box 68">
            <a:extLst>
              <a:ext uri="{FF2B5EF4-FFF2-40B4-BE49-F238E27FC236}">
                <a16:creationId xmlns:a16="http://schemas.microsoft.com/office/drawing/2014/main" id="{214BB3DF-7269-F843-9856-2394E923E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1163" y="4310063"/>
            <a:ext cx="406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9285" name="Text Box 69">
            <a:extLst>
              <a:ext uri="{FF2B5EF4-FFF2-40B4-BE49-F238E27FC236}">
                <a16:creationId xmlns:a16="http://schemas.microsoft.com/office/drawing/2014/main" id="{77393047-467E-3543-917F-0EAB81064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6713" y="5441951"/>
            <a:ext cx="50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9286" name="Text Box 70">
            <a:extLst>
              <a:ext uri="{FF2B5EF4-FFF2-40B4-BE49-F238E27FC236}">
                <a16:creationId xmlns:a16="http://schemas.microsoft.com/office/drawing/2014/main" id="{C65D01E4-C07E-9843-B459-EB65D9EA2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476" y="5759451"/>
            <a:ext cx="536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4</a:t>
            </a:r>
          </a:p>
        </p:txBody>
      </p:sp>
      <p:sp>
        <p:nvSpPr>
          <p:cNvPr id="9287" name="Text Box 71">
            <a:extLst>
              <a:ext uri="{FF2B5EF4-FFF2-40B4-BE49-F238E27FC236}">
                <a16:creationId xmlns:a16="http://schemas.microsoft.com/office/drawing/2014/main" id="{D0C20AEB-62C6-944D-A466-E43EFE0C2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539" y="5078413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9288" name="Text Box 72">
            <a:extLst>
              <a:ext uri="{FF2B5EF4-FFF2-40B4-BE49-F238E27FC236}">
                <a16:creationId xmlns:a16="http://schemas.microsoft.com/office/drawing/2014/main" id="{97BE034C-F0B2-454F-9729-9C4D68F68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76" y="4324351"/>
            <a:ext cx="536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29744" name="Text Box 77">
            <a:extLst>
              <a:ext uri="{FF2B5EF4-FFF2-40B4-BE49-F238E27FC236}">
                <a16:creationId xmlns:a16="http://schemas.microsoft.com/office/drawing/2014/main" id="{FF22FFB0-0A73-F048-A5FB-85A43B64B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7800" y="3806826"/>
            <a:ext cx="2895600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  1         3        5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   2        4        6</a:t>
            </a:r>
          </a:p>
        </p:txBody>
      </p:sp>
      <p:sp>
        <p:nvSpPr>
          <p:cNvPr id="29745" name="Text Box 79">
            <a:extLst>
              <a:ext uri="{FF2B5EF4-FFF2-40B4-BE49-F238E27FC236}">
                <a16:creationId xmlns:a16="http://schemas.microsoft.com/office/drawing/2014/main" id="{C9CAD1EF-9F52-2E41-B1F4-1975A88FF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013" y="3778251"/>
            <a:ext cx="2895601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    1        3        5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  2         4         6</a:t>
            </a:r>
          </a:p>
        </p:txBody>
      </p:sp>
      <p:sp>
        <p:nvSpPr>
          <p:cNvPr id="9313" name="Arc 97">
            <a:extLst>
              <a:ext uri="{FF2B5EF4-FFF2-40B4-BE49-F238E27FC236}">
                <a16:creationId xmlns:a16="http://schemas.microsoft.com/office/drawing/2014/main" id="{D533B583-A5E4-F441-824F-5D91AA34ED5B}"/>
              </a:ext>
            </a:extLst>
          </p:cNvPr>
          <p:cNvSpPr>
            <a:spLocks/>
          </p:cNvSpPr>
          <p:nvPr/>
        </p:nvSpPr>
        <p:spPr bwMode="auto">
          <a:xfrm>
            <a:off x="8599489" y="3690938"/>
            <a:ext cx="1260475" cy="7493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8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9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9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9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9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9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9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9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2" grpId="0" animBg="1"/>
      <p:bldP spid="9277" grpId="0" animBg="1"/>
      <p:bldP spid="9278" grpId="0" animBg="1"/>
      <p:bldP spid="9279" grpId="0" animBg="1"/>
      <p:bldP spid="9280" grpId="0" animBg="1"/>
      <p:bldP spid="9281" grpId="0" animBg="1"/>
      <p:bldP spid="9282" grpId="0" animBg="1"/>
      <p:bldP spid="9283" grpId="0"/>
      <p:bldP spid="9284" grpId="0"/>
      <p:bldP spid="9285" grpId="0"/>
      <p:bldP spid="9286" grpId="0"/>
      <p:bldP spid="9287" grpId="0"/>
      <p:bldP spid="928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706" name="Rectangle 2">
                <a:extLst>
                  <a:ext uri="{FF2B5EF4-FFF2-40B4-BE49-F238E27FC236}">
                    <a16:creationId xmlns:a16="http://schemas.microsoft.com/office/drawing/2014/main" id="{84BB2BC2-1545-004D-AB24-146ABF1C56EE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 eaLnBrk="1" hangingPunct="1"/>
                <a:r>
                  <a:rPr lang="en-US" altLang="en-US" dirty="0">
                    <a:ea typeface="ＭＳ Ｐゴシック" panose="020B0600070205080204" pitchFamily="34" charset="-128"/>
                  </a:rPr>
                  <a:t>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is planar,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 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is Nonplanar</a:t>
                </a:r>
              </a:p>
            </p:txBody>
          </p:sp>
        </mc:Choice>
        <mc:Fallback xmlns="">
          <p:sp>
            <p:nvSpPr>
              <p:cNvPr id="29706" name="Rectangle 2">
                <a:extLst>
                  <a:ext uri="{FF2B5EF4-FFF2-40B4-BE49-F238E27FC236}">
                    <a16:creationId xmlns:a16="http://schemas.microsoft.com/office/drawing/2014/main" id="{84BB2BC2-1545-004D-AB24-146ABF1C5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7" name="Rectangle 3">
                <a:extLst>
                  <a:ext uri="{FF2B5EF4-FFF2-40B4-BE49-F238E27FC236}">
                    <a16:creationId xmlns:a16="http://schemas.microsoft.com/office/drawing/2014/main" id="{2BA3270F-0C53-9C46-850D-882BAA899E2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1825625"/>
                <a:ext cx="10627760" cy="4790932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is a complete graph consisting of </a:t>
                </a:r>
                <a:r>
                  <a:rPr lang="en-US" altLang="en-US" i="1" dirty="0">
                    <a:ea typeface="ＭＳ Ｐゴシック" panose="020B0600070205080204" pitchFamily="34" charset="-128"/>
                  </a:rPr>
                  <a:t>n</a:t>
                </a:r>
                <a:r>
                  <a:rPr lang="en-US" altLang="en-US" dirty="0">
                    <a:ea typeface="ＭＳ Ｐゴシック" panose="020B0600070205080204" pitchFamily="34" charset="-128"/>
                  </a:rPr>
                  <a:t> vertices with each vertex is adjacent to all other vertices.</a:t>
                </a:r>
              </a:p>
              <a:p>
                <a:pPr marL="0" indent="0" eaLnBrk="1" hangingPunct="1">
                  <a:buNone/>
                </a:pPr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marL="0" indent="0" eaLnBrk="1" hangingPunct="1">
                  <a:buNone/>
                </a:pPr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marL="0" indent="0" eaLnBrk="1" hangingPunct="1">
                  <a:buNone/>
                </a:pPr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marL="0" indent="0" eaLnBrk="1" hangingPunct="1">
                  <a:buNone/>
                </a:pPr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marL="0" indent="0" eaLnBrk="1" hangingPunct="1">
                  <a:buNone/>
                </a:pPr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marL="0" indent="0" eaLnBrk="1" hangingPunct="1">
                  <a:buNone/>
                </a:pPr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𝑛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&gt;4</m:t>
                    </m:r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is </a:t>
                </a:r>
                <a:r>
                  <a:rPr lang="en-US" altLang="en-US" dirty="0" smtClean="0">
                    <a:ea typeface="ＭＳ Ｐゴシック" panose="020B0600070205080204" pitchFamily="34" charset="-128"/>
                  </a:rPr>
                  <a:t>nonplanar</a:t>
                </a:r>
                <a:r>
                  <a:rPr lang="en-US" altLang="en-US" dirty="0">
                    <a:ea typeface="ＭＳ Ｐゴシック" panose="020B0600070205080204" pitchFamily="34" charset="-128"/>
                  </a:rPr>
                  <a:t>.</a:t>
                </a:r>
              </a:p>
            </p:txBody>
          </p:sp>
        </mc:Choice>
        <mc:Fallback xmlns="">
          <p:sp>
            <p:nvSpPr>
              <p:cNvPr id="29707" name="Rectangle 3">
                <a:extLst>
                  <a:ext uri="{FF2B5EF4-FFF2-40B4-BE49-F238E27FC236}">
                    <a16:creationId xmlns:a16="http://schemas.microsoft.com/office/drawing/2014/main" id="{2BA3270F-0C53-9C46-850D-882BAA899E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627760" cy="4790932"/>
              </a:xfrm>
              <a:blipFill>
                <a:blip r:embed="rId3"/>
                <a:stretch>
                  <a:fillRect l="-1205" t="-2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455728B-9A63-5746-9E52-D4917A43D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217" y="2949824"/>
            <a:ext cx="5041828" cy="277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80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2">
            <a:extLst>
              <a:ext uri="{FF2B5EF4-FFF2-40B4-BE49-F238E27FC236}">
                <a16:creationId xmlns:a16="http://schemas.microsoft.com/office/drawing/2014/main" id="{1AD4E657-514E-3947-800D-F98A918EFC0E}"/>
              </a:ext>
            </a:extLst>
          </p:cNvPr>
          <p:cNvGrpSpPr>
            <a:grpSpLocks/>
          </p:cNvGrpSpPr>
          <p:nvPr/>
        </p:nvGrpSpPr>
        <p:grpSpPr bwMode="auto">
          <a:xfrm>
            <a:off x="4038601" y="1600200"/>
            <a:ext cx="3552825" cy="4078288"/>
            <a:chOff x="1584" y="1008"/>
            <a:chExt cx="2238" cy="2569"/>
          </a:xfrm>
        </p:grpSpPr>
        <p:grpSp>
          <p:nvGrpSpPr>
            <p:cNvPr id="47118" name="Group 3">
              <a:extLst>
                <a:ext uri="{FF2B5EF4-FFF2-40B4-BE49-F238E27FC236}">
                  <a16:creationId xmlns:a16="http://schemas.microsoft.com/office/drawing/2014/main" id="{444AEE7C-024C-F146-8F95-677980949B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1008"/>
              <a:ext cx="2238" cy="2569"/>
              <a:chOff x="1584" y="1008"/>
              <a:chExt cx="2238" cy="2569"/>
            </a:xfrm>
          </p:grpSpPr>
          <p:sp>
            <p:nvSpPr>
              <p:cNvPr id="47120" name="Text Box 4">
                <a:extLst>
                  <a:ext uri="{FF2B5EF4-FFF2-40B4-BE49-F238E27FC236}">
                    <a16:creationId xmlns:a16="http://schemas.microsoft.com/office/drawing/2014/main" id="{6949F7CC-CDF8-C447-970C-4174ED5EF9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00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grpSp>
            <p:nvGrpSpPr>
              <p:cNvPr id="47121" name="Group 5">
                <a:extLst>
                  <a:ext uri="{FF2B5EF4-FFF2-40B4-BE49-F238E27FC236}">
                    <a16:creationId xmlns:a16="http://schemas.microsoft.com/office/drawing/2014/main" id="{881C767E-0373-684D-A092-32D8140B6A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4" y="1344"/>
                <a:ext cx="2238" cy="2233"/>
                <a:chOff x="1574" y="624"/>
                <a:chExt cx="2238" cy="2233"/>
              </a:xfrm>
            </p:grpSpPr>
            <p:sp>
              <p:nvSpPr>
                <p:cNvPr id="47122" name="Line 6">
                  <a:extLst>
                    <a:ext uri="{FF2B5EF4-FFF2-40B4-BE49-F238E27FC236}">
                      <a16:creationId xmlns:a16="http://schemas.microsoft.com/office/drawing/2014/main" id="{5BE75348-CE10-2345-BE45-534A908BD3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76" y="672"/>
                  <a:ext cx="912" cy="14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23" name="Line 7">
                  <a:extLst>
                    <a:ext uri="{FF2B5EF4-FFF2-40B4-BE49-F238E27FC236}">
                      <a16:creationId xmlns:a16="http://schemas.microsoft.com/office/drawing/2014/main" id="{BEAE4730-9983-0947-A1EC-C2A84A23CF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8" y="672"/>
                  <a:ext cx="816" cy="14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24" name="Line 8">
                  <a:extLst>
                    <a:ext uri="{FF2B5EF4-FFF2-40B4-BE49-F238E27FC236}">
                      <a16:creationId xmlns:a16="http://schemas.microsoft.com/office/drawing/2014/main" id="{28CAD690-2E34-D94A-A9A1-BC2F07069F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84" y="2160"/>
                  <a:ext cx="720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25" name="Line 9">
                  <a:extLst>
                    <a:ext uri="{FF2B5EF4-FFF2-40B4-BE49-F238E27FC236}">
                      <a16:creationId xmlns:a16="http://schemas.microsoft.com/office/drawing/2014/main" id="{848F8441-9516-4549-ABDF-5C5A70A613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776" y="2160"/>
                  <a:ext cx="1008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26" name="Line 10">
                  <a:extLst>
                    <a:ext uri="{FF2B5EF4-FFF2-40B4-BE49-F238E27FC236}">
                      <a16:creationId xmlns:a16="http://schemas.microsoft.com/office/drawing/2014/main" id="{B886CD65-3C9B-F24B-B5BE-EE6F4689F3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64" y="672"/>
                  <a:ext cx="624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27" name="Line 11">
                  <a:extLst>
                    <a:ext uri="{FF2B5EF4-FFF2-40B4-BE49-F238E27FC236}">
                      <a16:creationId xmlns:a16="http://schemas.microsoft.com/office/drawing/2014/main" id="{BB86FDD9-C4E4-A14D-A8B4-E81933A9F9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4" y="1152"/>
                  <a:ext cx="720" cy="15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28" name="Line 12">
                  <a:extLst>
                    <a:ext uri="{FF2B5EF4-FFF2-40B4-BE49-F238E27FC236}">
                      <a16:creationId xmlns:a16="http://schemas.microsoft.com/office/drawing/2014/main" id="{55D6D857-F900-AD47-A3A7-04AA6A8CA8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84" y="1200"/>
                  <a:ext cx="528" cy="14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29" name="Line 13">
                  <a:extLst>
                    <a:ext uri="{FF2B5EF4-FFF2-40B4-BE49-F238E27FC236}">
                      <a16:creationId xmlns:a16="http://schemas.microsoft.com/office/drawing/2014/main" id="{A4B9AD97-B8BF-0346-898A-4F55B5CF35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688" y="672"/>
                  <a:ext cx="624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30" name="Line 14">
                  <a:extLst>
                    <a:ext uri="{FF2B5EF4-FFF2-40B4-BE49-F238E27FC236}">
                      <a16:creationId xmlns:a16="http://schemas.microsoft.com/office/drawing/2014/main" id="{0AF67D76-C15A-E94F-B473-DB215FD8DC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4" y="1152"/>
                  <a:ext cx="1440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31" name="Oval 15">
                  <a:extLst>
                    <a:ext uri="{FF2B5EF4-FFF2-40B4-BE49-F238E27FC236}">
                      <a16:creationId xmlns:a16="http://schemas.microsoft.com/office/drawing/2014/main" id="{F3E14DEF-A5C4-A949-A040-827027F4CE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06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7132" name="Oval 16">
                  <a:extLst>
                    <a:ext uri="{FF2B5EF4-FFF2-40B4-BE49-F238E27FC236}">
                      <a16:creationId xmlns:a16="http://schemas.microsoft.com/office/drawing/2014/main" id="{AB1407AA-BC5A-FF46-9E91-D0483C7C45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15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7133" name="Oval 17">
                  <a:extLst>
                    <a:ext uri="{FF2B5EF4-FFF2-40B4-BE49-F238E27FC236}">
                      <a16:creationId xmlns:a16="http://schemas.microsoft.com/office/drawing/2014/main" id="{05841AC0-A06D-0342-A679-98CE1F00D6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1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7134" name="Oval 18">
                  <a:extLst>
                    <a:ext uri="{FF2B5EF4-FFF2-40B4-BE49-F238E27FC236}">
                      <a16:creationId xmlns:a16="http://schemas.microsoft.com/office/drawing/2014/main" id="{B73BA4C1-83A1-7E4A-841C-34B46D9600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62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7135" name="Oval 19">
                  <a:extLst>
                    <a:ext uri="{FF2B5EF4-FFF2-40B4-BE49-F238E27FC236}">
                      <a16:creationId xmlns:a16="http://schemas.microsoft.com/office/drawing/2014/main" id="{11DE5864-4792-7041-9EED-D58402AD55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11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7136" name="Oval 20">
                  <a:extLst>
                    <a:ext uri="{FF2B5EF4-FFF2-40B4-BE49-F238E27FC236}">
                      <a16:creationId xmlns:a16="http://schemas.microsoft.com/office/drawing/2014/main" id="{C895C02F-AE69-7249-868C-8EA51478C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6" y="264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7137" name="Text Box 21">
                  <a:extLst>
                    <a:ext uri="{FF2B5EF4-FFF2-40B4-BE49-F238E27FC236}">
                      <a16:creationId xmlns:a16="http://schemas.microsoft.com/office/drawing/2014/main" id="{907B720B-6394-E04D-B720-3BB10242F1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98" y="937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47138" name="Text Box 22">
                  <a:extLst>
                    <a:ext uri="{FF2B5EF4-FFF2-40B4-BE49-F238E27FC236}">
                      <a16:creationId xmlns:a16="http://schemas.microsoft.com/office/drawing/2014/main" id="{5380A878-D237-BC43-BACB-831EF7E847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0" y="201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47139" name="Text Box 23">
                  <a:extLst>
                    <a:ext uri="{FF2B5EF4-FFF2-40B4-BE49-F238E27FC236}">
                      <a16:creationId xmlns:a16="http://schemas.microsoft.com/office/drawing/2014/main" id="{C4C1398B-FB80-0346-A90A-F40B31E8A2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2" y="2569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140" name="Text Box 24">
                  <a:extLst>
                    <a:ext uri="{FF2B5EF4-FFF2-40B4-BE49-F238E27FC236}">
                      <a16:creationId xmlns:a16="http://schemas.microsoft.com/office/drawing/2014/main" id="{BE568B96-60E5-8F46-B1F1-0DBBBBF8E6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74" y="1993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47141" name="Text Box 25">
                  <a:extLst>
                    <a:ext uri="{FF2B5EF4-FFF2-40B4-BE49-F238E27FC236}">
                      <a16:creationId xmlns:a16="http://schemas.microsoft.com/office/drawing/2014/main" id="{1DA90094-B183-B148-AD76-AFEA0A3F9A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2" y="962"/>
                  <a:ext cx="169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</a:p>
              </p:txBody>
            </p:sp>
          </p:grpSp>
        </p:grpSp>
        <p:sp>
          <p:nvSpPr>
            <p:cNvPr id="47119" name="Line 26">
              <a:extLst>
                <a:ext uri="{FF2B5EF4-FFF2-40B4-BE49-F238E27FC236}">
                  <a16:creationId xmlns:a16="http://schemas.microsoft.com/office/drawing/2014/main" id="{E3A7A2F6-432E-8F4D-9680-5F52370564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920"/>
              <a:ext cx="148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203" name="Line 27">
            <a:extLst>
              <a:ext uri="{FF2B5EF4-FFF2-40B4-BE49-F238E27FC236}">
                <a16:creationId xmlns:a16="http://schemas.microsoft.com/office/drawing/2014/main" id="{82D96D8C-48B9-C646-9CAF-0C7DB5DE8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209800"/>
            <a:ext cx="990600" cy="838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4" name="Line 28">
            <a:extLst>
              <a:ext uri="{FF2B5EF4-FFF2-40B4-BE49-F238E27FC236}">
                <a16:creationId xmlns:a16="http://schemas.microsoft.com/office/drawing/2014/main" id="{1FCD8076-33E7-724F-9948-AE7C960C79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3048000"/>
            <a:ext cx="2362200" cy="1524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5" name="Line 29">
            <a:extLst>
              <a:ext uri="{FF2B5EF4-FFF2-40B4-BE49-F238E27FC236}">
                <a16:creationId xmlns:a16="http://schemas.microsoft.com/office/drawing/2014/main" id="{0912B32F-E7CF-5D42-BFCD-42915EF0B5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572000"/>
            <a:ext cx="1524000" cy="838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6" name="Line 30">
            <a:extLst>
              <a:ext uri="{FF2B5EF4-FFF2-40B4-BE49-F238E27FC236}">
                <a16:creationId xmlns:a16="http://schemas.microsoft.com/office/drawing/2014/main" id="{23459D46-7FEA-D848-9714-515A9AE67D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495800"/>
            <a:ext cx="1219200" cy="914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7" name="Line 31">
            <a:extLst>
              <a:ext uri="{FF2B5EF4-FFF2-40B4-BE49-F238E27FC236}">
                <a16:creationId xmlns:a16="http://schemas.microsoft.com/office/drawing/2014/main" id="{7A427513-BA7C-FE4A-AF93-7C820E1A6C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6800" y="2971800"/>
            <a:ext cx="2209800" cy="1524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8" name="Line 32">
            <a:extLst>
              <a:ext uri="{FF2B5EF4-FFF2-40B4-BE49-F238E27FC236}">
                <a16:creationId xmlns:a16="http://schemas.microsoft.com/office/drawing/2014/main" id="{69C79913-DCAB-EC4B-8A56-41FCF77517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2209800"/>
            <a:ext cx="914400" cy="762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9" name="Text Box 33">
            <a:extLst>
              <a:ext uri="{FF2B5EF4-FFF2-40B4-BE49-F238E27FC236}">
                <a16:creationId xmlns:a16="http://schemas.microsoft.com/office/drawing/2014/main" id="{A523E10C-5241-DD4A-A4DB-996B561B1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6" y="5559425"/>
            <a:ext cx="4968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Arial" panose="020B0604020202020204" pitchFamily="34" charset="0"/>
                <a:cs typeface="Arial" panose="020B0604020202020204" pitchFamily="34" charset="0"/>
              </a:rPr>
              <a:t>a – b – e – d – c – f – a</a:t>
            </a:r>
            <a:r>
              <a:rPr lang="en-US" altLang="en-US" sz="2400" b="1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7114" name="Rectangle 34">
            <a:extLst>
              <a:ext uri="{FF2B5EF4-FFF2-40B4-BE49-F238E27FC236}">
                <a16:creationId xmlns:a16="http://schemas.microsoft.com/office/drawing/2014/main" id="{2791DBBB-EA60-BC47-AE81-50EDCB4BD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Exercise:</a:t>
            </a:r>
            <a:br>
              <a:rPr lang="en-US" altLang="en-US" sz="4000">
                <a:ea typeface="ＭＳ Ｐゴシック" panose="020B0600070205080204" pitchFamily="34" charset="-128"/>
              </a:rPr>
            </a:br>
            <a:r>
              <a:rPr lang="en-US" altLang="en-US" sz="3200">
                <a:ea typeface="ＭＳ Ｐゴシック" panose="020B0600070205080204" pitchFamily="34" charset="-128"/>
              </a:rPr>
              <a:t>Is this graph planar?</a:t>
            </a:r>
            <a:endParaRPr lang="en-US" altLang="en-US" sz="4000">
              <a:ea typeface="ＭＳ Ｐゴシック" panose="020B0600070205080204" pitchFamily="34" charset="-128"/>
            </a:endParaRPr>
          </a:p>
        </p:txBody>
      </p:sp>
      <p:sp>
        <p:nvSpPr>
          <p:cNvPr id="50211" name="Text Box 35">
            <a:extLst>
              <a:ext uri="{FF2B5EF4-FFF2-40B4-BE49-F238E27FC236}">
                <a16:creationId xmlns:a16="http://schemas.microsoft.com/office/drawing/2014/main" id="{86E64B0C-32E0-4747-8A89-4218783E8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6" y="2398713"/>
            <a:ext cx="18446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Step 1: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Draw a circuit</a:t>
            </a:r>
          </a:p>
        </p:txBody>
      </p:sp>
    </p:spTree>
    <p:extLst>
      <p:ext uri="{BB962C8B-B14F-4D97-AF65-F5344CB8AC3E}">
        <p14:creationId xmlns:p14="http://schemas.microsoft.com/office/powerpoint/2010/main" val="158159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09" grpId="0"/>
      <p:bldP spid="502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4">
            <a:extLst>
              <a:ext uri="{FF2B5EF4-FFF2-40B4-BE49-F238E27FC236}">
                <a16:creationId xmlns:a16="http://schemas.microsoft.com/office/drawing/2014/main" id="{FF29DD3E-31A4-D940-9788-0E173F2E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9BDBF2-4157-604C-AAB7-2B085C668859}" type="slidenum">
              <a:rPr lang="en-US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1202" name="Oval 2">
            <a:extLst>
              <a:ext uri="{FF2B5EF4-FFF2-40B4-BE49-F238E27FC236}">
                <a16:creationId xmlns:a16="http://schemas.microsoft.com/office/drawing/2014/main" id="{4B73A494-DCE5-BB49-89E1-6B4712041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0064" y="2779714"/>
            <a:ext cx="155575" cy="1666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3" name="Oval 3">
            <a:extLst>
              <a:ext uri="{FF2B5EF4-FFF2-40B4-BE49-F238E27FC236}">
                <a16:creationId xmlns:a16="http://schemas.microsoft.com/office/drawing/2014/main" id="{D832B66D-FCCF-814F-B28F-303CAB500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7164" y="3500439"/>
            <a:ext cx="153987" cy="1666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4" name="Oval 4">
            <a:extLst>
              <a:ext uri="{FF2B5EF4-FFF2-40B4-BE49-F238E27FC236}">
                <a16:creationId xmlns:a16="http://schemas.microsoft.com/office/drawing/2014/main" id="{CC5F778B-CE4A-A744-BBA1-0FE9B0B78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4775" y="4610100"/>
            <a:ext cx="153988" cy="16668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5" name="Oval 5">
            <a:extLst>
              <a:ext uri="{FF2B5EF4-FFF2-40B4-BE49-F238E27FC236}">
                <a16:creationId xmlns:a16="http://schemas.microsoft.com/office/drawing/2014/main" id="{177DFE58-AA2F-4748-B915-26B0FE0D5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3167064"/>
            <a:ext cx="153988" cy="1666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6" name="Oval 6">
            <a:extLst>
              <a:ext uri="{FF2B5EF4-FFF2-40B4-BE49-F238E27FC236}">
                <a16:creationId xmlns:a16="http://schemas.microsoft.com/office/drawing/2014/main" id="{B2E26915-2B79-3A47-AC22-697B1CF59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76" y="4332289"/>
            <a:ext cx="155575" cy="1666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7" name="Oval 7">
            <a:extLst>
              <a:ext uri="{FF2B5EF4-FFF2-40B4-BE49-F238E27FC236}">
                <a16:creationId xmlns:a16="http://schemas.microsoft.com/office/drawing/2014/main" id="{DB4335E0-E115-0842-9DAB-4A1E0F4EE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6075" y="5053014"/>
            <a:ext cx="153988" cy="1666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8" name="Text Box 8">
            <a:extLst>
              <a:ext uri="{FF2B5EF4-FFF2-40B4-BE49-F238E27FC236}">
                <a16:creationId xmlns:a16="http://schemas.microsoft.com/office/drawing/2014/main" id="{5196241A-8519-B743-952C-9B052D4A7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725" y="2286001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1209" name="Text Box 9">
            <a:extLst>
              <a:ext uri="{FF2B5EF4-FFF2-40B4-BE49-F238E27FC236}">
                <a16:creationId xmlns:a16="http://schemas.microsoft.com/office/drawing/2014/main" id="{1E5F4439-35CF-3B49-929D-E1370B4F1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310063"/>
            <a:ext cx="3850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51210" name="Text Box 10">
            <a:extLst>
              <a:ext uri="{FF2B5EF4-FFF2-40B4-BE49-F238E27FC236}">
                <a16:creationId xmlns:a16="http://schemas.microsoft.com/office/drawing/2014/main" id="{23284F57-8F5C-2B4A-A433-62E966347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776" y="2813051"/>
            <a:ext cx="303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51211" name="Text Box 11">
            <a:extLst>
              <a:ext uri="{FF2B5EF4-FFF2-40B4-BE49-F238E27FC236}">
                <a16:creationId xmlns:a16="http://schemas.microsoft.com/office/drawing/2014/main" id="{553D42B1-2694-EA43-88C0-EF4833BB9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650" y="5253038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51212" name="Text Box 12">
            <a:extLst>
              <a:ext uri="{FF2B5EF4-FFF2-40B4-BE49-F238E27FC236}">
                <a16:creationId xmlns:a16="http://schemas.microsoft.com/office/drawing/2014/main" id="{135A3CF0-013B-9D48-896D-54E00BF53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1950" y="4584701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1213" name="Text Box 13">
            <a:extLst>
              <a:ext uri="{FF2B5EF4-FFF2-40B4-BE49-F238E27FC236}">
                <a16:creationId xmlns:a16="http://schemas.microsoft.com/office/drawing/2014/main" id="{1A67511D-3DFD-BD44-8600-DA3C0A27F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2750" y="3422651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1214" name="Line 14">
            <a:extLst>
              <a:ext uri="{FF2B5EF4-FFF2-40B4-BE49-F238E27FC236}">
                <a16:creationId xmlns:a16="http://schemas.microsoft.com/office/drawing/2014/main" id="{050B8294-D248-8E4E-8453-09D1497E2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1" y="2835275"/>
            <a:ext cx="976313" cy="77628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5" name="Line 15">
            <a:extLst>
              <a:ext uri="{FF2B5EF4-FFF2-40B4-BE49-F238E27FC236}">
                <a16:creationId xmlns:a16="http://schemas.microsoft.com/office/drawing/2014/main" id="{5630D23F-19D7-2B44-8D3C-0DF09C807C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97963" y="3611563"/>
            <a:ext cx="50800" cy="110966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6" name="Line 16">
            <a:extLst>
              <a:ext uri="{FF2B5EF4-FFF2-40B4-BE49-F238E27FC236}">
                <a16:creationId xmlns:a16="http://schemas.microsoft.com/office/drawing/2014/main" id="{84249368-3330-7742-BD71-5219F32530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9263" y="4721225"/>
            <a:ext cx="977900" cy="38735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7" name="Line 17">
            <a:extLst>
              <a:ext uri="{FF2B5EF4-FFF2-40B4-BE49-F238E27FC236}">
                <a16:creationId xmlns:a16="http://schemas.microsoft.com/office/drawing/2014/main" id="{3915B892-C758-914D-9860-1E162BCF33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89763" y="4387851"/>
            <a:ext cx="1028700" cy="7207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8" name="Line 18">
            <a:extLst>
              <a:ext uri="{FF2B5EF4-FFF2-40B4-BE49-F238E27FC236}">
                <a16:creationId xmlns:a16="http://schemas.microsoft.com/office/drawing/2014/main" id="{BCFE043A-94E0-4D4C-868B-DDF7F27834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0564" y="3222626"/>
            <a:ext cx="153987" cy="11652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9" name="Line 19">
            <a:extLst>
              <a:ext uri="{FF2B5EF4-FFF2-40B4-BE49-F238E27FC236}">
                <a16:creationId xmlns:a16="http://schemas.microsoft.com/office/drawing/2014/main" id="{05272313-0F30-FC4D-9AC2-4EF193916D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4550" y="2835275"/>
            <a:ext cx="977900" cy="38735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48" name="Group 20">
            <a:extLst>
              <a:ext uri="{FF2B5EF4-FFF2-40B4-BE49-F238E27FC236}">
                <a16:creationId xmlns:a16="http://schemas.microsoft.com/office/drawing/2014/main" id="{ED321212-97EE-A946-93C5-67A3526A99D8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2093914"/>
            <a:ext cx="3552825" cy="4078287"/>
            <a:chOff x="624" y="1008"/>
            <a:chExt cx="2238" cy="2569"/>
          </a:xfrm>
        </p:grpSpPr>
        <p:grpSp>
          <p:nvGrpSpPr>
            <p:cNvPr id="48163" name="Group 21">
              <a:extLst>
                <a:ext uri="{FF2B5EF4-FFF2-40B4-BE49-F238E27FC236}">
                  <a16:creationId xmlns:a16="http://schemas.microsoft.com/office/drawing/2014/main" id="{84B11567-6E9C-C143-8E9C-9D3E72BDA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008"/>
              <a:ext cx="2238" cy="2569"/>
              <a:chOff x="1584" y="1008"/>
              <a:chExt cx="2238" cy="2569"/>
            </a:xfrm>
          </p:grpSpPr>
          <p:sp>
            <p:nvSpPr>
              <p:cNvPr id="48173" name="Text Box 22">
                <a:extLst>
                  <a:ext uri="{FF2B5EF4-FFF2-40B4-BE49-F238E27FC236}">
                    <a16:creationId xmlns:a16="http://schemas.microsoft.com/office/drawing/2014/main" id="{8BBEFC9E-9499-7F43-BD89-28300A39CE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00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8174" name="Group 23">
                <a:extLst>
                  <a:ext uri="{FF2B5EF4-FFF2-40B4-BE49-F238E27FC236}">
                    <a16:creationId xmlns:a16="http://schemas.microsoft.com/office/drawing/2014/main" id="{C87A49E1-B23F-8B45-8A3D-6CD23F312C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4" y="1344"/>
                <a:ext cx="2238" cy="2233"/>
                <a:chOff x="1574" y="624"/>
                <a:chExt cx="2238" cy="2233"/>
              </a:xfrm>
            </p:grpSpPr>
            <p:sp>
              <p:nvSpPr>
                <p:cNvPr id="48175" name="Line 24">
                  <a:extLst>
                    <a:ext uri="{FF2B5EF4-FFF2-40B4-BE49-F238E27FC236}">
                      <a16:creationId xmlns:a16="http://schemas.microsoft.com/office/drawing/2014/main" id="{4048CB5D-974D-AB46-B809-9C48067B5C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76" y="672"/>
                  <a:ext cx="912" cy="14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76" name="Line 25">
                  <a:extLst>
                    <a:ext uri="{FF2B5EF4-FFF2-40B4-BE49-F238E27FC236}">
                      <a16:creationId xmlns:a16="http://schemas.microsoft.com/office/drawing/2014/main" id="{F47CBF91-341D-C145-A124-ACA04BBAD9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8" y="672"/>
                  <a:ext cx="816" cy="14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77" name="Line 26">
                  <a:extLst>
                    <a:ext uri="{FF2B5EF4-FFF2-40B4-BE49-F238E27FC236}">
                      <a16:creationId xmlns:a16="http://schemas.microsoft.com/office/drawing/2014/main" id="{DA229AC0-6583-D942-88CF-9380271CAD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84" y="2160"/>
                  <a:ext cx="720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78" name="Line 27">
                  <a:extLst>
                    <a:ext uri="{FF2B5EF4-FFF2-40B4-BE49-F238E27FC236}">
                      <a16:creationId xmlns:a16="http://schemas.microsoft.com/office/drawing/2014/main" id="{B84EFE51-FECE-C34F-9441-35E6CBBA65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776" y="2160"/>
                  <a:ext cx="1008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79" name="Line 28">
                  <a:extLst>
                    <a:ext uri="{FF2B5EF4-FFF2-40B4-BE49-F238E27FC236}">
                      <a16:creationId xmlns:a16="http://schemas.microsoft.com/office/drawing/2014/main" id="{3FC463B4-1F0A-1F4D-B957-11ACB03DCB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64" y="672"/>
                  <a:ext cx="624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0" name="Line 29">
                  <a:extLst>
                    <a:ext uri="{FF2B5EF4-FFF2-40B4-BE49-F238E27FC236}">
                      <a16:creationId xmlns:a16="http://schemas.microsoft.com/office/drawing/2014/main" id="{B70AE581-7957-C046-8F78-94C0A5B56F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4" y="1152"/>
                  <a:ext cx="720" cy="15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1" name="Line 30">
                  <a:extLst>
                    <a:ext uri="{FF2B5EF4-FFF2-40B4-BE49-F238E27FC236}">
                      <a16:creationId xmlns:a16="http://schemas.microsoft.com/office/drawing/2014/main" id="{B1BAC08F-692E-A848-BB34-CDA3CAB2AF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84" y="1200"/>
                  <a:ext cx="528" cy="14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2" name="Line 31">
                  <a:extLst>
                    <a:ext uri="{FF2B5EF4-FFF2-40B4-BE49-F238E27FC236}">
                      <a16:creationId xmlns:a16="http://schemas.microsoft.com/office/drawing/2014/main" id="{5EB6AEC9-FD56-7B4E-8309-98643A61CF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688" y="672"/>
                  <a:ext cx="624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3" name="Line 32">
                  <a:extLst>
                    <a:ext uri="{FF2B5EF4-FFF2-40B4-BE49-F238E27FC236}">
                      <a16:creationId xmlns:a16="http://schemas.microsoft.com/office/drawing/2014/main" id="{5C82B860-12CD-904D-8234-85F8F0C723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4" y="1152"/>
                  <a:ext cx="1440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4" name="Oval 33">
                  <a:extLst>
                    <a:ext uri="{FF2B5EF4-FFF2-40B4-BE49-F238E27FC236}">
                      <a16:creationId xmlns:a16="http://schemas.microsoft.com/office/drawing/2014/main" id="{5DEA0C4F-01FA-7B45-BB5C-BFF84EC98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06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8185" name="Oval 34">
                  <a:extLst>
                    <a:ext uri="{FF2B5EF4-FFF2-40B4-BE49-F238E27FC236}">
                      <a16:creationId xmlns:a16="http://schemas.microsoft.com/office/drawing/2014/main" id="{0AB5E825-8571-8E45-B4E9-B42A809E45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15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8186" name="Oval 35">
                  <a:extLst>
                    <a:ext uri="{FF2B5EF4-FFF2-40B4-BE49-F238E27FC236}">
                      <a16:creationId xmlns:a16="http://schemas.microsoft.com/office/drawing/2014/main" id="{096C400F-B96D-1C4B-9100-256196FC14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11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8187" name="Oval 36">
                  <a:extLst>
                    <a:ext uri="{FF2B5EF4-FFF2-40B4-BE49-F238E27FC236}">
                      <a16:creationId xmlns:a16="http://schemas.microsoft.com/office/drawing/2014/main" id="{BE01FC6E-98F5-F446-B5FE-17BCABE15E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62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8188" name="Oval 37">
                  <a:extLst>
                    <a:ext uri="{FF2B5EF4-FFF2-40B4-BE49-F238E27FC236}">
                      <a16:creationId xmlns:a16="http://schemas.microsoft.com/office/drawing/2014/main" id="{64AF6BB9-67F6-2548-9341-F8663C2C14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11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8189" name="Oval 38">
                  <a:extLst>
                    <a:ext uri="{FF2B5EF4-FFF2-40B4-BE49-F238E27FC236}">
                      <a16:creationId xmlns:a16="http://schemas.microsoft.com/office/drawing/2014/main" id="{2346F6F5-6FEE-904C-9BC4-79D95816F5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6" y="264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48190" name="Text Box 39">
                  <a:extLst>
                    <a:ext uri="{FF2B5EF4-FFF2-40B4-BE49-F238E27FC236}">
                      <a16:creationId xmlns:a16="http://schemas.microsoft.com/office/drawing/2014/main" id="{B978713A-7194-BC48-960D-014AC17174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98" y="937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191" name="Text Box 40">
                  <a:extLst>
                    <a:ext uri="{FF2B5EF4-FFF2-40B4-BE49-F238E27FC236}">
                      <a16:creationId xmlns:a16="http://schemas.microsoft.com/office/drawing/2014/main" id="{C49B600D-C993-DF4A-A454-0B81A79F0C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0" y="201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192" name="Text Box 41">
                  <a:extLst>
                    <a:ext uri="{FF2B5EF4-FFF2-40B4-BE49-F238E27FC236}">
                      <a16:creationId xmlns:a16="http://schemas.microsoft.com/office/drawing/2014/main" id="{E3BFA7B9-478E-3F4A-A613-00B704AA70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2" y="2569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193" name="Text Box 42">
                  <a:extLst>
                    <a:ext uri="{FF2B5EF4-FFF2-40B4-BE49-F238E27FC236}">
                      <a16:creationId xmlns:a16="http://schemas.microsoft.com/office/drawing/2014/main" id="{C8E77621-6215-374C-BC0B-B0895AD4AA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74" y="1993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194" name="Text Box 43">
                  <a:extLst>
                    <a:ext uri="{FF2B5EF4-FFF2-40B4-BE49-F238E27FC236}">
                      <a16:creationId xmlns:a16="http://schemas.microsoft.com/office/drawing/2014/main" id="{7202AF3A-3C40-8448-9890-D3C1D8052F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2" y="962"/>
                  <a:ext cx="169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48164" name="Group 44">
              <a:extLst>
                <a:ext uri="{FF2B5EF4-FFF2-40B4-BE49-F238E27FC236}">
                  <a16:creationId xmlns:a16="http://schemas.microsoft.com/office/drawing/2014/main" id="{E3277C70-2113-5E45-9003-6CFC876120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392"/>
              <a:ext cx="1728" cy="2016"/>
              <a:chOff x="864" y="1392"/>
              <a:chExt cx="1728" cy="2016"/>
            </a:xfrm>
          </p:grpSpPr>
          <p:sp>
            <p:nvSpPr>
              <p:cNvPr id="48165" name="Line 45">
                <a:extLst>
                  <a:ext uri="{FF2B5EF4-FFF2-40B4-BE49-F238E27FC236}">
                    <a16:creationId xmlns:a16="http://schemas.microsoft.com/office/drawing/2014/main" id="{A236FF2C-CFD4-D142-B0E7-D4CCC1AAF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392"/>
                <a:ext cx="624" cy="528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66" name="Line 46">
                <a:extLst>
                  <a:ext uri="{FF2B5EF4-FFF2-40B4-BE49-F238E27FC236}">
                    <a16:creationId xmlns:a16="http://schemas.microsoft.com/office/drawing/2014/main" id="{2351AC97-AF33-424E-B42C-BF1B104EBF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1920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67" name="Line 47">
                <a:extLst>
                  <a:ext uri="{FF2B5EF4-FFF2-40B4-BE49-F238E27FC236}">
                    <a16:creationId xmlns:a16="http://schemas.microsoft.com/office/drawing/2014/main" id="{B1C2EED5-0DFF-CC41-925C-770C729CE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1920"/>
                <a:ext cx="1488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68" name="Line 48">
                <a:extLst>
                  <a:ext uri="{FF2B5EF4-FFF2-40B4-BE49-F238E27FC236}">
                    <a16:creationId xmlns:a16="http://schemas.microsoft.com/office/drawing/2014/main" id="{683B6E59-17DD-7A4D-B022-6114BE050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4" y="1920"/>
                <a:ext cx="1488" cy="960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69" name="Line 49">
                <a:extLst>
                  <a:ext uri="{FF2B5EF4-FFF2-40B4-BE49-F238E27FC236}">
                    <a16:creationId xmlns:a16="http://schemas.microsoft.com/office/drawing/2014/main" id="{90D4D5E6-5B30-B242-8535-4FB70D6BF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2880"/>
                <a:ext cx="1008" cy="528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70" name="Line 50">
                <a:extLst>
                  <a:ext uri="{FF2B5EF4-FFF2-40B4-BE49-F238E27FC236}">
                    <a16:creationId xmlns:a16="http://schemas.microsoft.com/office/drawing/2014/main" id="{F681302D-E070-CE4A-99EA-1AA288AC7E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832"/>
                <a:ext cx="720" cy="576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71" name="Line 51">
                <a:extLst>
                  <a:ext uri="{FF2B5EF4-FFF2-40B4-BE49-F238E27FC236}">
                    <a16:creationId xmlns:a16="http://schemas.microsoft.com/office/drawing/2014/main" id="{0D78F838-B688-6543-8896-3EF31242D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104" y="1872"/>
                <a:ext cx="1440" cy="960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72" name="Line 52">
                <a:extLst>
                  <a:ext uri="{FF2B5EF4-FFF2-40B4-BE49-F238E27FC236}">
                    <a16:creationId xmlns:a16="http://schemas.microsoft.com/office/drawing/2014/main" id="{8E779956-C091-6C4A-8819-83797B2FB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04" y="1392"/>
                <a:ext cx="672" cy="480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51253" name="Line 53">
            <a:extLst>
              <a:ext uri="{FF2B5EF4-FFF2-40B4-BE49-F238E27FC236}">
                <a16:creationId xmlns:a16="http://schemas.microsoft.com/office/drawing/2014/main" id="{9A69B84B-227A-8E46-8C86-DECBF2C94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667000"/>
            <a:ext cx="1295400" cy="2362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4" name="Line 54">
            <a:extLst>
              <a:ext uri="{FF2B5EF4-FFF2-40B4-BE49-F238E27FC236}">
                <a16:creationId xmlns:a16="http://schemas.microsoft.com/office/drawing/2014/main" id="{2DD3E08D-EA0F-074E-96C3-839C493686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0400" y="2819400"/>
            <a:ext cx="1219200" cy="1600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5" name="Line 55">
            <a:extLst>
              <a:ext uri="{FF2B5EF4-FFF2-40B4-BE49-F238E27FC236}">
                <a16:creationId xmlns:a16="http://schemas.microsoft.com/office/drawing/2014/main" id="{9D0C1773-C1DB-DB49-B53E-CF9190A2A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505200"/>
            <a:ext cx="1143000" cy="24384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6" name="Freeform 56">
            <a:extLst>
              <a:ext uri="{FF2B5EF4-FFF2-40B4-BE49-F238E27FC236}">
                <a16:creationId xmlns:a16="http://schemas.microsoft.com/office/drawing/2014/main" id="{00E9BCA2-A95A-9245-A60C-1941D51F68D9}"/>
              </a:ext>
            </a:extLst>
          </p:cNvPr>
          <p:cNvSpPr>
            <a:spLocks/>
          </p:cNvSpPr>
          <p:nvPr/>
        </p:nvSpPr>
        <p:spPr bwMode="auto">
          <a:xfrm>
            <a:off x="5651500" y="3200400"/>
            <a:ext cx="2349500" cy="1905000"/>
          </a:xfrm>
          <a:custGeom>
            <a:avLst/>
            <a:gdLst>
              <a:gd name="T0" fmla="*/ 2147483646 w 1480"/>
              <a:gd name="T1" fmla="*/ 0 h 1200"/>
              <a:gd name="T2" fmla="*/ 2147483646 w 1480"/>
              <a:gd name="T3" fmla="*/ 2147483646 h 1200"/>
              <a:gd name="T4" fmla="*/ 2147483646 w 1480"/>
              <a:gd name="T5" fmla="*/ 2147483646 h 1200"/>
              <a:gd name="T6" fmla="*/ 0 60000 65536"/>
              <a:gd name="T7" fmla="*/ 0 60000 65536"/>
              <a:gd name="T8" fmla="*/ 0 60000 65536"/>
              <a:gd name="T9" fmla="*/ 0 w 1480"/>
              <a:gd name="T10" fmla="*/ 0 h 1200"/>
              <a:gd name="T11" fmla="*/ 1480 w 1480"/>
              <a:gd name="T12" fmla="*/ 1200 h 1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0" h="1200">
                <a:moveTo>
                  <a:pt x="952" y="0"/>
                </a:moveTo>
                <a:cubicBezTo>
                  <a:pt x="476" y="380"/>
                  <a:pt x="0" y="760"/>
                  <a:pt x="88" y="960"/>
                </a:cubicBezTo>
                <a:cubicBezTo>
                  <a:pt x="176" y="1160"/>
                  <a:pt x="1248" y="1160"/>
                  <a:pt x="1480" y="1200"/>
                </a:cubicBezTo>
              </a:path>
            </a:pathLst>
          </a:custGeom>
          <a:noFill/>
          <a:ln w="762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7" name="Line 57">
            <a:extLst>
              <a:ext uri="{FF2B5EF4-FFF2-40B4-BE49-F238E27FC236}">
                <a16:creationId xmlns:a16="http://schemas.microsoft.com/office/drawing/2014/main" id="{DE9842FC-E5F0-DD4B-AA69-461B541012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2667000"/>
            <a:ext cx="1371600" cy="2362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8" name="Line 58">
            <a:extLst>
              <a:ext uri="{FF2B5EF4-FFF2-40B4-BE49-F238E27FC236}">
                <a16:creationId xmlns:a16="http://schemas.microsoft.com/office/drawing/2014/main" id="{E34F4745-54DA-FA4A-8A86-18D012C93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2819400"/>
            <a:ext cx="914400" cy="19050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9" name="Line 59">
            <a:extLst>
              <a:ext uri="{FF2B5EF4-FFF2-40B4-BE49-F238E27FC236}">
                <a16:creationId xmlns:a16="http://schemas.microsoft.com/office/drawing/2014/main" id="{99783C8A-0FB8-6B4C-8ACA-892222E484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3505200"/>
            <a:ext cx="838200" cy="2362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6" name="Freeform 60">
            <a:extLst>
              <a:ext uri="{FF2B5EF4-FFF2-40B4-BE49-F238E27FC236}">
                <a16:creationId xmlns:a16="http://schemas.microsoft.com/office/drawing/2014/main" id="{6A218F63-1692-734F-A1AC-F42268B42D28}"/>
              </a:ext>
            </a:extLst>
          </p:cNvPr>
          <p:cNvSpPr>
            <a:spLocks/>
          </p:cNvSpPr>
          <p:nvPr/>
        </p:nvSpPr>
        <p:spPr bwMode="auto">
          <a:xfrm>
            <a:off x="8153400" y="2819400"/>
            <a:ext cx="76200" cy="76200"/>
          </a:xfrm>
          <a:custGeom>
            <a:avLst/>
            <a:gdLst>
              <a:gd name="T0" fmla="*/ 0 w 48"/>
              <a:gd name="T1" fmla="*/ 0 h 48"/>
              <a:gd name="T2" fmla="*/ 2147483646 w 48"/>
              <a:gd name="T3" fmla="*/ 2147483646 h 48"/>
              <a:gd name="T4" fmla="*/ 0 60000 65536"/>
              <a:gd name="T5" fmla="*/ 0 60000 65536"/>
              <a:gd name="T6" fmla="*/ 0 w 48"/>
              <a:gd name="T7" fmla="*/ 0 h 48"/>
              <a:gd name="T8" fmla="*/ 48 w 48"/>
              <a:gd name="T9" fmla="*/ 48 h 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8" h="48">
                <a:moveTo>
                  <a:pt x="0" y="0"/>
                </a:moveTo>
                <a:cubicBezTo>
                  <a:pt x="20" y="20"/>
                  <a:pt x="40" y="40"/>
                  <a:pt x="48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61" name="Freeform 61">
            <a:extLst>
              <a:ext uri="{FF2B5EF4-FFF2-40B4-BE49-F238E27FC236}">
                <a16:creationId xmlns:a16="http://schemas.microsoft.com/office/drawing/2014/main" id="{A3F600C7-0F77-C040-8349-534E5225B747}"/>
              </a:ext>
            </a:extLst>
          </p:cNvPr>
          <p:cNvSpPr>
            <a:spLocks/>
          </p:cNvSpPr>
          <p:nvPr/>
        </p:nvSpPr>
        <p:spPr bwMode="auto">
          <a:xfrm>
            <a:off x="8077200" y="3657600"/>
            <a:ext cx="2387600" cy="2235200"/>
          </a:xfrm>
          <a:custGeom>
            <a:avLst/>
            <a:gdLst>
              <a:gd name="T0" fmla="*/ 2147483646 w 1504"/>
              <a:gd name="T1" fmla="*/ 0 h 1408"/>
              <a:gd name="T2" fmla="*/ 2147483646 w 1504"/>
              <a:gd name="T3" fmla="*/ 2147483646 h 1408"/>
              <a:gd name="T4" fmla="*/ 0 w 1504"/>
              <a:gd name="T5" fmla="*/ 2147483646 h 1408"/>
              <a:gd name="T6" fmla="*/ 0 60000 65536"/>
              <a:gd name="T7" fmla="*/ 0 60000 65536"/>
              <a:gd name="T8" fmla="*/ 0 60000 65536"/>
              <a:gd name="T9" fmla="*/ 0 w 1504"/>
              <a:gd name="T10" fmla="*/ 0 h 1408"/>
              <a:gd name="T11" fmla="*/ 1504 w 1504"/>
              <a:gd name="T12" fmla="*/ 1408 h 1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4" h="1408">
                <a:moveTo>
                  <a:pt x="672" y="0"/>
                </a:moveTo>
                <a:cubicBezTo>
                  <a:pt x="1088" y="544"/>
                  <a:pt x="1504" y="1088"/>
                  <a:pt x="1392" y="1248"/>
                </a:cubicBezTo>
                <a:cubicBezTo>
                  <a:pt x="1280" y="1408"/>
                  <a:pt x="640" y="1184"/>
                  <a:pt x="0" y="960"/>
                </a:cubicBezTo>
              </a:path>
            </a:pathLst>
          </a:custGeom>
          <a:noFill/>
          <a:ln w="762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8" name="Line 62">
            <a:extLst>
              <a:ext uri="{FF2B5EF4-FFF2-40B4-BE49-F238E27FC236}">
                <a16:creationId xmlns:a16="http://schemas.microsoft.com/office/drawing/2014/main" id="{83A97558-31FE-C94D-B08B-04F5AA8882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114800"/>
            <a:ext cx="838200" cy="0"/>
          </a:xfrm>
          <a:prstGeom prst="line">
            <a:avLst/>
          </a:prstGeom>
          <a:noFill/>
          <a:ln w="76200">
            <a:solidFill>
              <a:srgbClr val="CC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9" name="Rectangle 63">
            <a:extLst>
              <a:ext uri="{FF2B5EF4-FFF2-40B4-BE49-F238E27FC236}">
                <a16:creationId xmlns:a16="http://schemas.microsoft.com/office/drawing/2014/main" id="{4A885961-A8FF-DA41-A99E-2CB90DD8E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ea typeface="ＭＳ Ｐゴシック" panose="020B0600070205080204" pitchFamily="34" charset="-128"/>
              </a:rPr>
              <a:t>Exercise (</a:t>
            </a:r>
            <a:r>
              <a:rPr lang="en-US" altLang="en-US" sz="4000" dirty="0" smtClean="0">
                <a:ea typeface="ＭＳ Ｐゴシック" panose="020B0600070205080204" pitchFamily="34" charset="-128"/>
              </a:rPr>
              <a:t>continued</a:t>
            </a:r>
            <a:r>
              <a:rPr lang="en-US" altLang="ja-JP" sz="4000" dirty="0" smtClean="0">
                <a:ea typeface="ＭＳ Ｐゴシック" panose="020B0600070205080204" pitchFamily="34" charset="-128"/>
              </a:rPr>
              <a:t>)</a:t>
            </a:r>
            <a:endParaRPr lang="en-US" altLang="en-US" sz="4000" dirty="0">
              <a:ea typeface="ＭＳ Ｐゴシック" panose="020B0600070205080204" pitchFamily="34" charset="-128"/>
            </a:endParaRPr>
          </a:p>
        </p:txBody>
      </p:sp>
      <p:sp>
        <p:nvSpPr>
          <p:cNvPr id="51264" name="Text Box 64">
            <a:extLst>
              <a:ext uri="{FF2B5EF4-FFF2-40B4-BE49-F238E27FC236}">
                <a16:creationId xmlns:a16="http://schemas.microsoft.com/office/drawing/2014/main" id="{FED7B821-01BC-5F47-B4CF-D49E4A092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447801"/>
            <a:ext cx="45801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Step 2:  Draw the circuit as a circle.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Step 3:  Add the remaining edges.</a:t>
            </a:r>
          </a:p>
        </p:txBody>
      </p:sp>
      <p:sp>
        <p:nvSpPr>
          <p:cNvPr id="48161" name="Footer Placeholder 4">
            <a:extLst>
              <a:ext uri="{FF2B5EF4-FFF2-40B4-BE49-F238E27FC236}">
                <a16:creationId xmlns:a16="http://schemas.microsoft.com/office/drawing/2014/main" id="{ABAA119C-D8C4-F442-9FA6-24C20C3C1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Tucker,  Sec.1.4</a:t>
            </a:r>
          </a:p>
        </p:txBody>
      </p:sp>
      <p:sp>
        <p:nvSpPr>
          <p:cNvPr id="48162" name="Date Placeholder 3">
            <a:extLst>
              <a:ext uri="{FF2B5EF4-FFF2-40B4-BE49-F238E27FC236}">
                <a16:creationId xmlns:a16="http://schemas.microsoft.com/office/drawing/2014/main" id="{A468AD21-263C-4543-82B9-43688F5CA6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9/5/19</a:t>
            </a:r>
          </a:p>
        </p:txBody>
      </p:sp>
    </p:spTree>
    <p:extLst>
      <p:ext uri="{BB962C8B-B14F-4D97-AF65-F5344CB8AC3E}">
        <p14:creationId xmlns:p14="http://schemas.microsoft.com/office/powerpoint/2010/main" val="156567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nimBg="1"/>
      <p:bldP spid="51203" grpId="0" animBg="1"/>
      <p:bldP spid="51204" grpId="0" animBg="1"/>
      <p:bldP spid="51205" grpId="0" animBg="1"/>
      <p:bldP spid="51206" grpId="0" animBg="1"/>
      <p:bldP spid="51207" grpId="0" animBg="1"/>
      <p:bldP spid="51208" grpId="0"/>
      <p:bldP spid="51209" grpId="0"/>
      <p:bldP spid="51210" grpId="0"/>
      <p:bldP spid="51211" grpId="0"/>
      <p:bldP spid="51212" grpId="0"/>
      <p:bldP spid="512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22" name="Rectangle 2">
                <a:extLst>
                  <a:ext uri="{FF2B5EF4-FFF2-40B4-BE49-F238E27FC236}">
                    <a16:creationId xmlns:a16="http://schemas.microsoft.com/office/drawing/2014/main" id="{87519DEC-1D95-2D4A-9A02-DF0F56559040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 smtClean="0">
                    <a:ea typeface="ＭＳ Ｐゴシック" panose="020B0600070205080204" pitchFamily="34" charset="-128"/>
                  </a:rPr>
                  <a:t>       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3,3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</a:t>
                </a:r>
                <a:r>
                  <a:rPr lang="en-US" altLang="en-US" dirty="0" smtClean="0">
                    <a:ea typeface="ＭＳ Ｐゴシック" panose="020B0600070205080204" pitchFamily="34" charset="-128"/>
                  </a:rPr>
                  <a:t>Configuration</a:t>
                </a:r>
                <a:endParaRPr lang="en-US" altLang="en-US" dirty="0"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0722" name="Rectangle 2">
                <a:extLst>
                  <a:ext uri="{FF2B5EF4-FFF2-40B4-BE49-F238E27FC236}">
                    <a16:creationId xmlns:a16="http://schemas.microsoft.com/office/drawing/2014/main" id="{87519DEC-1D95-2D4A-9A02-DF0F565590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>
                <a:extLst>
                  <a:ext uri="{FF2B5EF4-FFF2-40B4-BE49-F238E27FC236}">
                    <a16:creationId xmlns:a16="http://schemas.microsoft.com/office/drawing/2014/main" id="{A955017A-9C49-394F-802D-1031A95474FB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981200" y="1600201"/>
                <a:ext cx="7467600" cy="4525963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>
                    <a:ea typeface="ＭＳ Ｐゴシック" panose="020B0600070205080204" pitchFamily="34" charset="-128"/>
                  </a:rPr>
                  <a:t>Note: A subgraph is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configuration if it can be obtained from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by adding vertices in the middle of some edges, or bifurcating vertices.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configuration is defined similarly. </a:t>
                </a:r>
              </a:p>
              <a:p>
                <a:pPr eaLnBrk="1" hangingPunct="1"/>
                <a:r>
                  <a:rPr lang="en-US" altLang="en-US" dirty="0">
                    <a:ea typeface="ＭＳ Ｐゴシック" panose="020B0600070205080204" pitchFamily="34" charset="-128"/>
                  </a:rPr>
                  <a:t>Finding the configuration 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can</a:t>
                </a:r>
                <a:r>
                  <a:rPr lang="en-US" altLang="en-US" dirty="0">
                    <a:ea typeface="ＭＳ Ｐゴシック" panose="020B0600070205080204" pitchFamily="34" charset="-128"/>
                  </a:rPr>
                  <a:t> be tricky.</a:t>
                </a:r>
              </a:p>
            </p:txBody>
          </p:sp>
        </mc:Choice>
        <mc:Fallback xmlns="">
          <p:sp>
            <p:nvSpPr>
              <p:cNvPr id="30723" name="Rectangle 3">
                <a:extLst>
                  <a:ext uri="{FF2B5EF4-FFF2-40B4-BE49-F238E27FC236}">
                    <a16:creationId xmlns:a16="http://schemas.microsoft.com/office/drawing/2014/main" id="{A955017A-9C49-394F-802D-1031A95474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1600201"/>
                <a:ext cx="7467600" cy="4525963"/>
              </a:xfrm>
              <a:blipFill>
                <a:blip r:embed="rId3"/>
                <a:stretch>
                  <a:fillRect l="-1531" t="-1961" r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728" name="Group 31">
            <a:extLst>
              <a:ext uri="{FF2B5EF4-FFF2-40B4-BE49-F238E27FC236}">
                <a16:creationId xmlns:a16="http://schemas.microsoft.com/office/drawing/2014/main" id="{89E24115-C57B-A144-818C-D65075EAF956}"/>
              </a:ext>
            </a:extLst>
          </p:cNvPr>
          <p:cNvGrpSpPr>
            <a:grpSpLocks/>
          </p:cNvGrpSpPr>
          <p:nvPr/>
        </p:nvGrpSpPr>
        <p:grpSpPr bwMode="auto">
          <a:xfrm>
            <a:off x="4575978" y="3960019"/>
            <a:ext cx="2551112" cy="2281238"/>
            <a:chOff x="3721" y="2368"/>
            <a:chExt cx="1607" cy="1437"/>
          </a:xfrm>
        </p:grpSpPr>
        <p:sp>
          <p:nvSpPr>
            <p:cNvPr id="30731" name="Text Box 32">
              <a:extLst>
                <a:ext uri="{FF2B5EF4-FFF2-40B4-BE49-F238E27FC236}">
                  <a16:creationId xmlns:a16="http://schemas.microsoft.com/office/drawing/2014/main" id="{7D51CD3F-D9F6-1145-8C27-25552CDCB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48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2" name="Oval 33">
              <a:extLst>
                <a:ext uri="{FF2B5EF4-FFF2-40B4-BE49-F238E27FC236}">
                  <a16:creationId xmlns:a16="http://schemas.microsoft.com/office/drawing/2014/main" id="{0E3A67C2-A452-1A44-AF37-B6D2FB4AA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400"/>
              <a:ext cx="1104" cy="105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3" name="Oval 34">
              <a:extLst>
                <a:ext uri="{FF2B5EF4-FFF2-40B4-BE49-F238E27FC236}">
                  <a16:creationId xmlns:a16="http://schemas.microsoft.com/office/drawing/2014/main" id="{A2C6EB6A-F384-1240-B5F6-53AD32AAB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583"/>
              <a:ext cx="960" cy="10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4" name="Line 35">
              <a:extLst>
                <a:ext uri="{FF2B5EF4-FFF2-40B4-BE49-F238E27FC236}">
                  <a16:creationId xmlns:a16="http://schemas.microsoft.com/office/drawing/2014/main" id="{D8F85897-BDCD-A747-9EE1-662544DF5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56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Line 36">
              <a:extLst>
                <a:ext uri="{FF2B5EF4-FFF2-40B4-BE49-F238E27FC236}">
                  <a16:creationId xmlns:a16="http://schemas.microsoft.com/office/drawing/2014/main" id="{552739B4-7B57-714E-8275-ED86417A7F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898"/>
              <a:ext cx="86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6" name="Oval 37">
              <a:extLst>
                <a:ext uri="{FF2B5EF4-FFF2-40B4-BE49-F238E27FC236}">
                  <a16:creationId xmlns:a16="http://schemas.microsoft.com/office/drawing/2014/main" id="{60E8807E-FB02-A648-8C0E-B33BB9912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254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7" name="Oval 38">
              <a:extLst>
                <a:ext uri="{FF2B5EF4-FFF2-40B4-BE49-F238E27FC236}">
                  <a16:creationId xmlns:a16="http://schemas.microsoft.com/office/drawing/2014/main" id="{5D7D7F1F-3988-DC42-851E-622B05EAC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0" y="27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8" name="Oval 39">
              <a:extLst>
                <a:ext uri="{FF2B5EF4-FFF2-40B4-BE49-F238E27FC236}">
                  <a16:creationId xmlns:a16="http://schemas.microsoft.com/office/drawing/2014/main" id="{4F9CA704-7C72-304B-A89D-774B8415D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284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9" name="Oval 40">
              <a:extLst>
                <a:ext uri="{FF2B5EF4-FFF2-40B4-BE49-F238E27FC236}">
                  <a16:creationId xmlns:a16="http://schemas.microsoft.com/office/drawing/2014/main" id="{0B2881DB-3C95-E042-B609-81C22B1A1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0" name="Oval 41">
              <a:extLst>
                <a:ext uri="{FF2B5EF4-FFF2-40B4-BE49-F238E27FC236}">
                  <a16:creationId xmlns:a16="http://schemas.microsoft.com/office/drawing/2014/main" id="{CBA90E29-14F3-5A4B-93DE-98248EEAC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356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1" name="Oval 42">
              <a:extLst>
                <a:ext uri="{FF2B5EF4-FFF2-40B4-BE49-F238E27FC236}">
                  <a16:creationId xmlns:a16="http://schemas.microsoft.com/office/drawing/2014/main" id="{E2E7C875-C150-0F4B-93FC-C5D825B4F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6" y="332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2" name="Text Box 43">
              <a:extLst>
                <a:ext uri="{FF2B5EF4-FFF2-40B4-BE49-F238E27FC236}">
                  <a16:creationId xmlns:a16="http://schemas.microsoft.com/office/drawing/2014/main" id="{0041DD7F-9754-5442-96E5-9A9407473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2" y="2368"/>
              <a:ext cx="23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30743" name="Text Box 44">
              <a:extLst>
                <a:ext uri="{FF2B5EF4-FFF2-40B4-BE49-F238E27FC236}">
                  <a16:creationId xmlns:a16="http://schemas.microsoft.com/office/drawing/2014/main" id="{1A2F7116-3223-5C40-AAF2-EB3D38CB7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1" y="2661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30744" name="Text Box 45">
              <a:extLst>
                <a:ext uri="{FF2B5EF4-FFF2-40B4-BE49-F238E27FC236}">
                  <a16:creationId xmlns:a16="http://schemas.microsoft.com/office/drawing/2014/main" id="{9CC4E9B3-9BDE-134B-9F4E-FD8F1FF14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3" y="3374"/>
              <a:ext cx="3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3</a:t>
              </a:r>
            </a:p>
          </p:txBody>
        </p:sp>
        <p:sp>
          <p:nvSpPr>
            <p:cNvPr id="30745" name="Text Box 46">
              <a:extLst>
                <a:ext uri="{FF2B5EF4-FFF2-40B4-BE49-F238E27FC236}">
                  <a16:creationId xmlns:a16="http://schemas.microsoft.com/office/drawing/2014/main" id="{B55D03DC-0993-7149-A242-E0F128724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3574"/>
              <a:ext cx="33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 4</a:t>
              </a:r>
            </a:p>
          </p:txBody>
        </p:sp>
        <p:sp>
          <p:nvSpPr>
            <p:cNvPr id="30746" name="Text Box 47">
              <a:extLst>
                <a:ext uri="{FF2B5EF4-FFF2-40B4-BE49-F238E27FC236}">
                  <a16:creationId xmlns:a16="http://schemas.microsoft.com/office/drawing/2014/main" id="{E240EC8D-26A8-D844-A267-FCC094D90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1" y="3145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30747" name="Text Box 48">
              <a:extLst>
                <a:ext uri="{FF2B5EF4-FFF2-40B4-BE49-F238E27FC236}">
                  <a16:creationId xmlns:a16="http://schemas.microsoft.com/office/drawing/2014/main" id="{F75DD515-1794-3F43-A619-0E7711F9E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2670"/>
              <a:ext cx="33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9116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6" name="Rectangle 2">
                <a:extLst>
                  <a:ext uri="{FF2B5EF4-FFF2-40B4-BE49-F238E27FC236}">
                    <a16:creationId xmlns:a16="http://schemas.microsoft.com/office/drawing/2014/main" id="{2439A029-E34A-CF4E-B65E-8299E60A02E3}"/>
                  </a:ext>
                </a:extLst>
              </p:cNvPr>
              <p:cNvSpPr>
                <a:spLocks noGrp="1" noChangeArrowheads="1"/>
              </p:cNvSpPr>
              <p:nvPr>
                <p:ph type="title" sz="quarter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 smtClean="0">
                    <a:ea typeface="ＭＳ Ｐゴシック" panose="020B0600070205080204" pitchFamily="34" charset="-128"/>
                  </a:rPr>
                  <a:t>Example of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3,3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configuration</a:t>
                </a:r>
              </a:p>
            </p:txBody>
          </p:sp>
        </mc:Choice>
        <mc:Fallback xmlns="">
          <p:sp>
            <p:nvSpPr>
              <p:cNvPr id="31746" name="Rectangle 2">
                <a:extLst>
                  <a:ext uri="{FF2B5EF4-FFF2-40B4-BE49-F238E27FC236}">
                    <a16:creationId xmlns:a16="http://schemas.microsoft.com/office/drawing/2014/main" id="{2439A029-E34A-CF4E-B65E-8299E60A0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sz="quarter"/>
              </p:nvPr>
            </p:nvSpPr>
            <p:spPr>
              <a:blipFill>
                <a:blip r:embed="rId2"/>
                <a:stretch>
                  <a:fillRect l="-2222"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51" name="Text Box 24">
                <a:extLst>
                  <a:ext uri="{FF2B5EF4-FFF2-40B4-BE49-F238E27FC236}">
                    <a16:creationId xmlns:a16="http://schemas.microsoft.com/office/drawing/2014/main" id="{886FE1BD-48AA-F343-8E23-E25257725B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7088" y="1885950"/>
                <a:ext cx="4310062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dirty="0" smtClean="0"/>
                  <a:t>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3,3</m:t>
                        </m:r>
                      </m:sub>
                    </m:sSub>
                  </m:oMath>
                </a14:m>
                <a:r>
                  <a:rPr lang="en-US" altLang="en-US" sz="2400" dirty="0"/>
                  <a:t> configuration proves a graph is nonplanar. It has 6 vertices of degree 3, plus some number of vertices of degree 2 that subdivide the edges of it. Here those vertices are 3 and 6. </a:t>
                </a:r>
              </a:p>
            </p:txBody>
          </p:sp>
        </mc:Choice>
        <mc:Fallback xmlns="">
          <p:sp>
            <p:nvSpPr>
              <p:cNvPr id="31751" name="Text Box 24">
                <a:extLst>
                  <a:ext uri="{FF2B5EF4-FFF2-40B4-BE49-F238E27FC236}">
                    <a16:creationId xmlns:a16="http://schemas.microsoft.com/office/drawing/2014/main" id="{886FE1BD-48AA-F343-8E23-E25257725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7088" y="1885950"/>
                <a:ext cx="4310062" cy="2308324"/>
              </a:xfrm>
              <a:prstGeom prst="rect">
                <a:avLst/>
              </a:prstGeom>
              <a:blipFill>
                <a:blip r:embed="rId3"/>
                <a:stretch>
                  <a:fillRect l="-2122" t="-2111" b="-58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72" name="Text Box 36">
                <a:extLst>
                  <a:ext uri="{FF2B5EF4-FFF2-40B4-BE49-F238E27FC236}">
                    <a16:creationId xmlns:a16="http://schemas.microsoft.com/office/drawing/2014/main" id="{6B80325B-9B38-9044-A561-75E1826A9C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2119" y="4988800"/>
                <a:ext cx="8389937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dirty="0"/>
                  <a:t>In order to find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altLang="en-US" sz="2400" dirty="0"/>
                  <a:t> configuration, eliminate vertices of degree 2 that subdivide edges of it. The remaining graph looks like the depiction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altLang="en-US" sz="2400" dirty="0"/>
                  <a:t> earlier.</a:t>
                </a:r>
              </a:p>
            </p:txBody>
          </p:sp>
        </mc:Choice>
        <mc:Fallback xmlns="">
          <p:sp>
            <p:nvSpPr>
              <p:cNvPr id="31772" name="Text Box 36">
                <a:extLst>
                  <a:ext uri="{FF2B5EF4-FFF2-40B4-BE49-F238E27FC236}">
                    <a16:creationId xmlns:a16="http://schemas.microsoft.com/office/drawing/2014/main" id="{6B80325B-9B38-9044-A561-75E1826A9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2119" y="4988800"/>
                <a:ext cx="8389937" cy="1200329"/>
              </a:xfrm>
              <a:prstGeom prst="rect">
                <a:avLst/>
              </a:prstGeom>
              <a:blipFill>
                <a:blip r:embed="rId4"/>
                <a:stretch>
                  <a:fillRect l="-1059" t="-4211" r="-303" b="-115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Picture 37">
            <a:extLst>
              <a:ext uri="{FF2B5EF4-FFF2-40B4-BE49-F238E27FC236}">
                <a16:creationId xmlns:a16="http://schemas.microsoft.com/office/drawing/2014/main" id="{33741D41-72F9-A343-AD13-1F7FECC6FEF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629" t="26011" r="43651" b="9493"/>
          <a:stretch/>
        </p:blipFill>
        <p:spPr>
          <a:xfrm>
            <a:off x="2195005" y="1608191"/>
            <a:ext cx="3066505" cy="298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05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66">
            <a:extLst>
              <a:ext uri="{FF2B5EF4-FFF2-40B4-BE49-F238E27FC236}">
                <a16:creationId xmlns:a16="http://schemas.microsoft.com/office/drawing/2014/main" id="{9D194BB4-2796-044D-84F8-ADA693D206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7175" y="2535239"/>
            <a:ext cx="0" cy="14684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1" name="Line 67">
            <a:extLst>
              <a:ext uri="{FF2B5EF4-FFF2-40B4-BE49-F238E27FC236}">
                <a16:creationId xmlns:a16="http://schemas.microsoft.com/office/drawing/2014/main" id="{4CCF5429-C39F-7B44-90EA-972B6F0AB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3050" y="2493963"/>
            <a:ext cx="609600" cy="1509712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2" name="Line 68">
            <a:extLst>
              <a:ext uri="{FF2B5EF4-FFF2-40B4-BE49-F238E27FC236}">
                <a16:creationId xmlns:a16="http://schemas.microsoft.com/office/drawing/2014/main" id="{46AA5FEC-B223-C74B-B74C-5522233A5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2650" y="2479676"/>
            <a:ext cx="609600" cy="15097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3" name="Line 69">
            <a:extLst>
              <a:ext uri="{FF2B5EF4-FFF2-40B4-BE49-F238E27FC236}">
                <a16:creationId xmlns:a16="http://schemas.microsoft.com/office/drawing/2014/main" id="{0B625576-2FEF-FF47-9639-C972BBDE4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2251" y="2479676"/>
            <a:ext cx="595313" cy="14970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Line 70">
            <a:extLst>
              <a:ext uri="{FF2B5EF4-FFF2-40B4-BE49-F238E27FC236}">
                <a16:creationId xmlns:a16="http://schemas.microsoft.com/office/drawing/2014/main" id="{CF0D96CB-B13C-394D-87A4-237142D5F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7564" y="2465388"/>
            <a:ext cx="14287" cy="15113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Line 71">
            <a:extLst>
              <a:ext uri="{FF2B5EF4-FFF2-40B4-BE49-F238E27FC236}">
                <a16:creationId xmlns:a16="http://schemas.microsoft.com/office/drawing/2014/main" id="{D8A25181-B4E3-8145-9E84-A9F5D210F0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0663" y="2506664"/>
            <a:ext cx="582612" cy="14827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6" name="Line 72">
            <a:extLst>
              <a:ext uri="{FF2B5EF4-FFF2-40B4-BE49-F238E27FC236}">
                <a16:creationId xmlns:a16="http://schemas.microsoft.com/office/drawing/2014/main" id="{AA6E9C97-D44D-8241-A3AB-6EF990CC12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35351" y="2493964"/>
            <a:ext cx="582613" cy="14827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7" name="Line 73">
            <a:extLst>
              <a:ext uri="{FF2B5EF4-FFF2-40B4-BE49-F238E27FC236}">
                <a16:creationId xmlns:a16="http://schemas.microsoft.com/office/drawing/2014/main" id="{DE1DC669-9079-BE44-AF40-83E7B0FDAE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4476" y="2465389"/>
            <a:ext cx="650875" cy="15525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8" name="Rectangle 2">
            <a:extLst>
              <a:ext uri="{FF2B5EF4-FFF2-40B4-BE49-F238E27FC236}">
                <a16:creationId xmlns:a16="http://schemas.microsoft.com/office/drawing/2014/main" id="{174D6644-3CC8-F149-9B23-B4F1761AD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>
                <a:ea typeface="ＭＳ Ｐゴシック" panose="020B0600070205080204" pitchFamily="34" charset="-128"/>
              </a:rPr>
              <a:t>Example </a:t>
            </a:r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65490EBD-1846-7743-9860-89DE52456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3913" y="2468563"/>
            <a:ext cx="0" cy="160020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DE3A435C-D94C-FC40-B1C6-0DAF8E045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5113" y="2465388"/>
            <a:ext cx="0" cy="160020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902255FA-0B81-094A-8E4D-AC2002E6C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439988"/>
            <a:ext cx="609600" cy="160020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DA82E8BE-70B9-374D-B9A8-DFA383CBCD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438400"/>
            <a:ext cx="609600" cy="160020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455F74E5-767F-394B-94CC-D80CDDE46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900" y="2439988"/>
            <a:ext cx="609600" cy="160020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A92A301C-4FB2-2B46-9550-5D4B9C764A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3288" y="2481263"/>
            <a:ext cx="609600" cy="160020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4C2B0EDC-18EE-274A-BD97-C55E5C30D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2100" y="2425700"/>
            <a:ext cx="609600" cy="160020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90026CE3-8415-164A-8B63-E99FE160B9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4313" y="2425700"/>
            <a:ext cx="609600" cy="160020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Line 13">
            <a:extLst>
              <a:ext uri="{FF2B5EF4-FFF2-40B4-BE49-F238E27FC236}">
                <a16:creationId xmlns:a16="http://schemas.microsoft.com/office/drawing/2014/main" id="{24BAA2C3-89A7-B24C-8939-96A6453C6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438400"/>
            <a:ext cx="0" cy="1600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8" name="Line 14">
            <a:extLst>
              <a:ext uri="{FF2B5EF4-FFF2-40B4-BE49-F238E27FC236}">
                <a16:creationId xmlns:a16="http://schemas.microsoft.com/office/drawing/2014/main" id="{2C46617F-7BD9-9945-A296-7A1294C04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438400"/>
            <a:ext cx="0" cy="1600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Line 15">
            <a:extLst>
              <a:ext uri="{FF2B5EF4-FFF2-40B4-BE49-F238E27FC236}">
                <a16:creationId xmlns:a16="http://schemas.microsoft.com/office/drawing/2014/main" id="{995D27CD-40D6-1947-8098-AA6A5C6556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438400"/>
            <a:ext cx="1828800" cy="1600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0" name="Line 16">
            <a:extLst>
              <a:ext uri="{FF2B5EF4-FFF2-40B4-BE49-F238E27FC236}">
                <a16:creationId xmlns:a16="http://schemas.microsoft.com/office/drawing/2014/main" id="{029C7757-CA4D-0C42-8D3C-E00742B4B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438400"/>
            <a:ext cx="1828800" cy="1600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1" name="Text Box 17">
            <a:extLst>
              <a:ext uri="{FF2B5EF4-FFF2-40B4-BE49-F238E27FC236}">
                <a16:creationId xmlns:a16="http://schemas.microsoft.com/office/drawing/2014/main" id="{3F73B463-20E6-E346-AC35-377B27914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514601"/>
            <a:ext cx="4572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/>
              <a:t>Step 1: Find a circuit. The orange highlights the circuit on this graph.</a:t>
            </a:r>
          </a:p>
        </p:txBody>
      </p:sp>
      <p:sp>
        <p:nvSpPr>
          <p:cNvPr id="27672" name="Text Box 18">
            <a:extLst>
              <a:ext uri="{FF2B5EF4-FFF2-40B4-BE49-F238E27FC236}">
                <a16:creationId xmlns:a16="http://schemas.microsoft.com/office/drawing/2014/main" id="{99FE707C-A06F-D64A-A362-7D959EEC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7463" y="2178051"/>
            <a:ext cx="2895600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     a         b         c        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     e         f          g        h</a:t>
            </a:r>
          </a:p>
        </p:txBody>
      </p:sp>
      <p:sp>
        <p:nvSpPr>
          <p:cNvPr id="10259" name="Oval 19">
            <a:extLst>
              <a:ext uri="{FF2B5EF4-FFF2-40B4-BE49-F238E27FC236}">
                <a16:creationId xmlns:a16="http://schemas.microsoft.com/office/drawing/2014/main" id="{8826B4F4-9781-1F45-B50E-BC42A6917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4205288"/>
            <a:ext cx="2209800" cy="2133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74" name="Text Box 33">
            <a:extLst>
              <a:ext uri="{FF2B5EF4-FFF2-40B4-BE49-F238E27FC236}">
                <a16:creationId xmlns:a16="http://schemas.microsoft.com/office/drawing/2014/main" id="{0D4143E1-2F8C-CB42-A7B2-08ED51E43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105401"/>
            <a:ext cx="3124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/>
              <a:t>Draw this circuit as a circle.</a:t>
            </a:r>
          </a:p>
        </p:txBody>
      </p:sp>
      <p:sp>
        <p:nvSpPr>
          <p:cNvPr id="27675" name="Oval 34">
            <a:extLst>
              <a:ext uri="{FF2B5EF4-FFF2-40B4-BE49-F238E27FC236}">
                <a16:creationId xmlns:a16="http://schemas.microsoft.com/office/drawing/2014/main" id="{795BCF92-45DF-B646-8937-A8F47C474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39147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76" name="Oval 35">
            <a:extLst>
              <a:ext uri="{FF2B5EF4-FFF2-40B4-BE49-F238E27FC236}">
                <a16:creationId xmlns:a16="http://schemas.microsoft.com/office/drawing/2014/main" id="{CA239F43-D7A1-D54E-954B-1647EDF52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391953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77" name="Oval 36">
            <a:extLst>
              <a:ext uri="{FF2B5EF4-FFF2-40B4-BE49-F238E27FC236}">
                <a16:creationId xmlns:a16="http://schemas.microsoft.com/office/drawing/2014/main" id="{C688C4D9-18A2-F546-A503-CBA51D0BD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4538" y="391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78" name="Oval 37">
            <a:extLst>
              <a:ext uri="{FF2B5EF4-FFF2-40B4-BE49-F238E27FC236}">
                <a16:creationId xmlns:a16="http://schemas.microsoft.com/office/drawing/2014/main" id="{11874627-E830-1D42-8E22-117AD27BA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39020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79" name="Oval 38">
            <a:extLst>
              <a:ext uri="{FF2B5EF4-FFF2-40B4-BE49-F238E27FC236}">
                <a16:creationId xmlns:a16="http://schemas.microsoft.com/office/drawing/2014/main" id="{1D9F1CFB-2517-D440-AEF7-334FE40C9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239236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80" name="Oval 39">
            <a:extLst>
              <a:ext uri="{FF2B5EF4-FFF2-40B4-BE49-F238E27FC236}">
                <a16:creationId xmlns:a16="http://schemas.microsoft.com/office/drawing/2014/main" id="{928CD497-8B3F-D449-9AA1-0CBA63516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175" y="2413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81" name="Oval 40">
            <a:extLst>
              <a:ext uri="{FF2B5EF4-FFF2-40B4-BE49-F238E27FC236}">
                <a16:creationId xmlns:a16="http://schemas.microsoft.com/office/drawing/2014/main" id="{C7BD2095-5C53-F540-9F4B-B5581B082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5963" y="240188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82" name="Oval 41">
            <a:extLst>
              <a:ext uri="{FF2B5EF4-FFF2-40B4-BE49-F238E27FC236}">
                <a16:creationId xmlns:a16="http://schemas.microsoft.com/office/drawing/2014/main" id="{AAA714A4-6975-8747-A25B-34B0DB638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75" y="239871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90" name="Line 50">
            <a:extLst>
              <a:ext uri="{FF2B5EF4-FFF2-40B4-BE49-F238E27FC236}">
                <a16:creationId xmlns:a16="http://schemas.microsoft.com/office/drawing/2014/main" id="{2AB2CB26-57ED-DC42-B55A-DC23AFEBF2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4276" y="4267200"/>
            <a:ext cx="957263" cy="34925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1" name="Line 51">
            <a:extLst>
              <a:ext uri="{FF2B5EF4-FFF2-40B4-BE49-F238E27FC236}">
                <a16:creationId xmlns:a16="http://schemas.microsoft.com/office/drawing/2014/main" id="{2D37825F-739B-994F-9739-CD811A992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0850" y="6056314"/>
            <a:ext cx="781050" cy="32067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2" name="Line 52">
            <a:extLst>
              <a:ext uri="{FF2B5EF4-FFF2-40B4-BE49-F238E27FC236}">
                <a16:creationId xmlns:a16="http://schemas.microsoft.com/office/drawing/2014/main" id="{BA6ED19A-3E69-A442-8ACC-BAF69B4AEF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2326" y="4621214"/>
            <a:ext cx="187325" cy="62547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3" name="Line 53">
            <a:extLst>
              <a:ext uri="{FF2B5EF4-FFF2-40B4-BE49-F238E27FC236}">
                <a16:creationId xmlns:a16="http://schemas.microsoft.com/office/drawing/2014/main" id="{D3CDD819-0D0F-A643-BB50-062D478B43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1039" y="5380038"/>
            <a:ext cx="320675" cy="671512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4" name="Line 54">
            <a:extLst>
              <a:ext uri="{FF2B5EF4-FFF2-40B4-BE49-F238E27FC236}">
                <a16:creationId xmlns:a16="http://schemas.microsoft.com/office/drawing/2014/main" id="{FD52FC46-E3D1-5140-B421-086486BC5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1" y="5368926"/>
            <a:ext cx="187325" cy="62547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5" name="Line 55">
            <a:extLst>
              <a:ext uri="{FF2B5EF4-FFF2-40B4-BE49-F238E27FC236}">
                <a16:creationId xmlns:a16="http://schemas.microsoft.com/office/drawing/2014/main" id="{39DC1EAB-2BC0-1242-A9C6-9F3E7D9A95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9039" y="6051551"/>
            <a:ext cx="712787" cy="36512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6" name="Line 56">
            <a:extLst>
              <a:ext uri="{FF2B5EF4-FFF2-40B4-BE49-F238E27FC236}">
                <a16:creationId xmlns:a16="http://schemas.microsoft.com/office/drawing/2014/main" id="{61C32882-830F-BE4D-9602-DF74F5D7E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97639" y="4578351"/>
            <a:ext cx="263525" cy="65722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7" name="Line 57">
            <a:extLst>
              <a:ext uri="{FF2B5EF4-FFF2-40B4-BE49-F238E27FC236}">
                <a16:creationId xmlns:a16="http://schemas.microsoft.com/office/drawing/2014/main" id="{DA308FDF-519B-5243-B217-C6BF39FC2D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75450" y="4229101"/>
            <a:ext cx="712788" cy="365125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2" name="Oval 42">
            <a:extLst>
              <a:ext uri="{FF2B5EF4-FFF2-40B4-BE49-F238E27FC236}">
                <a16:creationId xmlns:a16="http://schemas.microsoft.com/office/drawing/2014/main" id="{C46AAB6B-7A11-544B-9322-41110021D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4163" y="449738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83" name="Oval 43">
            <a:extLst>
              <a:ext uri="{FF2B5EF4-FFF2-40B4-BE49-F238E27FC236}">
                <a16:creationId xmlns:a16="http://schemas.microsoft.com/office/drawing/2014/main" id="{F5D807CE-47C5-CF4E-B29F-DC4E30C21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5038" y="5257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84" name="Oval 44">
            <a:extLst>
              <a:ext uri="{FF2B5EF4-FFF2-40B4-BE49-F238E27FC236}">
                <a16:creationId xmlns:a16="http://schemas.microsoft.com/office/drawing/2014/main" id="{AF5469B2-91E6-3D4B-A3DD-D6893D515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450" y="45370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85" name="Oval 45">
            <a:extLst>
              <a:ext uri="{FF2B5EF4-FFF2-40B4-BE49-F238E27FC236}">
                <a16:creationId xmlns:a16="http://schemas.microsoft.com/office/drawing/2014/main" id="{6591AEF0-F924-B949-A250-34F38B4BD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5" y="41783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86" name="Oval 46">
            <a:extLst>
              <a:ext uri="{FF2B5EF4-FFF2-40B4-BE49-F238E27FC236}">
                <a16:creationId xmlns:a16="http://schemas.microsoft.com/office/drawing/2014/main" id="{D4EBA46C-1187-7B44-8776-8DDEF136E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388" y="599916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87" name="Oval 47">
            <a:extLst>
              <a:ext uri="{FF2B5EF4-FFF2-40B4-BE49-F238E27FC236}">
                <a16:creationId xmlns:a16="http://schemas.microsoft.com/office/drawing/2014/main" id="{6C8958DC-0104-E543-824F-BEF9285A7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725" y="52419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88" name="Oval 48">
            <a:extLst>
              <a:ext uri="{FF2B5EF4-FFF2-40B4-BE49-F238E27FC236}">
                <a16:creationId xmlns:a16="http://schemas.microsoft.com/office/drawing/2014/main" id="{2DB6FE66-DD55-F149-B96E-FB9BC04CF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6713" y="59150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89" name="Oval 49">
            <a:extLst>
              <a:ext uri="{FF2B5EF4-FFF2-40B4-BE49-F238E27FC236}">
                <a16:creationId xmlns:a16="http://schemas.microsoft.com/office/drawing/2014/main" id="{221A6772-5BDF-254C-B90D-114D2415C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2838" y="625633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314" name="Text Box 74">
            <a:extLst>
              <a:ext uri="{FF2B5EF4-FFF2-40B4-BE49-F238E27FC236}">
                <a16:creationId xmlns:a16="http://schemas.microsoft.com/office/drawing/2014/main" id="{7480A2B3-4A45-1D41-92F7-E8AE2CC65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200" y="4132263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10315" name="Text Box 75">
            <a:extLst>
              <a:ext uri="{FF2B5EF4-FFF2-40B4-BE49-F238E27FC236}">
                <a16:creationId xmlns:a16="http://schemas.microsoft.com/office/drawing/2014/main" id="{892F1C88-41A3-074A-AFD6-9DE2282D1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0925" y="3759201"/>
            <a:ext cx="285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0316" name="Text Box 76">
            <a:extLst>
              <a:ext uri="{FF2B5EF4-FFF2-40B4-BE49-F238E27FC236}">
                <a16:creationId xmlns:a16="http://schemas.microsoft.com/office/drawing/2014/main" id="{B052F115-B5BB-B14E-8649-E2662834E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4688" y="60420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g</a:t>
            </a:r>
          </a:p>
        </p:txBody>
      </p:sp>
      <p:sp>
        <p:nvSpPr>
          <p:cNvPr id="10317" name="Text Box 77">
            <a:extLst>
              <a:ext uri="{FF2B5EF4-FFF2-40B4-BE49-F238E27FC236}">
                <a16:creationId xmlns:a16="http://schemas.microsoft.com/office/drawing/2014/main" id="{CC577080-712C-DA4D-9E38-DC03FD969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6938" y="4276726"/>
            <a:ext cx="285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sp>
        <p:nvSpPr>
          <p:cNvPr id="10318" name="Text Box 78">
            <a:extLst>
              <a:ext uri="{FF2B5EF4-FFF2-40B4-BE49-F238E27FC236}">
                <a16:creationId xmlns:a16="http://schemas.microsoft.com/office/drawing/2014/main" id="{6F9F6BBC-CD38-FD48-AFB4-CA993467F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5067301"/>
            <a:ext cx="285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10319" name="Text Box 79">
            <a:extLst>
              <a:ext uri="{FF2B5EF4-FFF2-40B4-BE49-F238E27FC236}">
                <a16:creationId xmlns:a16="http://schemas.microsoft.com/office/drawing/2014/main" id="{551C3AC3-D9EF-7C47-A7BF-B4DB2689A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738" y="59261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</a:t>
            </a:r>
          </a:p>
        </p:txBody>
      </p:sp>
      <p:sp>
        <p:nvSpPr>
          <p:cNvPr id="10320" name="Text Box 80">
            <a:extLst>
              <a:ext uri="{FF2B5EF4-FFF2-40B4-BE49-F238E27FC236}">
                <a16:creationId xmlns:a16="http://schemas.microsoft.com/office/drawing/2014/main" id="{C1982C50-11B3-5E41-AD08-977DD09FC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5213" y="64912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10321" name="Text Box 81">
            <a:extLst>
              <a:ext uri="{FF2B5EF4-FFF2-40B4-BE49-F238E27FC236}">
                <a16:creationId xmlns:a16="http://schemas.microsoft.com/office/drawing/2014/main" id="{2202EE3C-5ABC-A141-AAF7-78813A458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9188" y="51689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8093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9" grpId="0" animBg="1"/>
      <p:bldP spid="10282" grpId="0" animBg="1"/>
      <p:bldP spid="10283" grpId="0" animBg="1"/>
      <p:bldP spid="10284" grpId="0" animBg="1"/>
      <p:bldP spid="10285" grpId="0" animBg="1"/>
      <p:bldP spid="10286" grpId="0" animBg="1"/>
      <p:bldP spid="10287" grpId="0" animBg="1"/>
      <p:bldP spid="10288" grpId="0" animBg="1"/>
      <p:bldP spid="10289" grpId="0" animBg="1"/>
      <p:bldP spid="10314" grpId="0"/>
      <p:bldP spid="10315" grpId="0"/>
      <p:bldP spid="10316" grpId="0"/>
      <p:bldP spid="10317" grpId="0"/>
      <p:bldP spid="10318" grpId="0"/>
      <p:bldP spid="10319" grpId="0"/>
      <p:bldP spid="10320" grpId="0"/>
      <p:bldP spid="103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4">
            <a:extLst>
              <a:ext uri="{FF2B5EF4-FFF2-40B4-BE49-F238E27FC236}">
                <a16:creationId xmlns:a16="http://schemas.microsoft.com/office/drawing/2014/main" id="{56C60318-CC95-F946-AA61-7B0760944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1563688"/>
            <a:ext cx="5257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/>
              <a:t>Step 2: Choose a chord to draw, either inside or outside the circle. For example, we will start with the chord (b,f), drawing it outside the circle.</a:t>
            </a:r>
          </a:p>
        </p:txBody>
      </p:sp>
      <p:sp>
        <p:nvSpPr>
          <p:cNvPr id="11278" name="Text Box 14">
            <a:extLst>
              <a:ext uri="{FF2B5EF4-FFF2-40B4-BE49-F238E27FC236}">
                <a16:creationId xmlns:a16="http://schemas.microsoft.com/office/drawing/2014/main" id="{FE76BDB8-6EDF-6644-8461-DF70073B1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75" y="5003801"/>
            <a:ext cx="2971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/>
              <a:t>Since no lines cross another, this graph is planar!</a:t>
            </a:r>
          </a:p>
        </p:txBody>
      </p:sp>
      <p:sp>
        <p:nvSpPr>
          <p:cNvPr id="28677" name="Line 35">
            <a:extLst>
              <a:ext uri="{FF2B5EF4-FFF2-40B4-BE49-F238E27FC236}">
                <a16:creationId xmlns:a16="http://schemas.microsoft.com/office/drawing/2014/main" id="{5A0D2880-9BD7-A843-830B-E121C817262E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8950" y="987425"/>
            <a:ext cx="0" cy="160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8" name="Line 36">
            <a:extLst>
              <a:ext uri="{FF2B5EF4-FFF2-40B4-BE49-F238E27FC236}">
                <a16:creationId xmlns:a16="http://schemas.microsoft.com/office/drawing/2014/main" id="{26CD750E-B22A-714B-AF9C-A99D6D324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0150" y="987425"/>
            <a:ext cx="0" cy="160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Line 37">
            <a:extLst>
              <a:ext uri="{FF2B5EF4-FFF2-40B4-BE49-F238E27FC236}">
                <a16:creationId xmlns:a16="http://schemas.microsoft.com/office/drawing/2014/main" id="{D1EC5D0D-441E-C34B-AE43-B4B85A965F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0150" y="987425"/>
            <a:ext cx="609600" cy="160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Line 38">
            <a:extLst>
              <a:ext uri="{FF2B5EF4-FFF2-40B4-BE49-F238E27FC236}">
                <a16:creationId xmlns:a16="http://schemas.microsoft.com/office/drawing/2014/main" id="{BE3A3CC3-C541-134A-BA59-3D4622E38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9750" y="987425"/>
            <a:ext cx="609600" cy="160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Line 39">
            <a:extLst>
              <a:ext uri="{FF2B5EF4-FFF2-40B4-BE49-F238E27FC236}">
                <a16:creationId xmlns:a16="http://schemas.microsoft.com/office/drawing/2014/main" id="{D6B70261-2F58-8B4A-BE8B-8F86AE546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9350" y="987425"/>
            <a:ext cx="609600" cy="160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2" name="Line 40">
            <a:extLst>
              <a:ext uri="{FF2B5EF4-FFF2-40B4-BE49-F238E27FC236}">
                <a16:creationId xmlns:a16="http://schemas.microsoft.com/office/drawing/2014/main" id="{547FFD44-DA75-2B47-A008-A88A2A4D00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750" y="987425"/>
            <a:ext cx="609600" cy="160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3" name="Line 41">
            <a:extLst>
              <a:ext uri="{FF2B5EF4-FFF2-40B4-BE49-F238E27FC236}">
                <a16:creationId xmlns:a16="http://schemas.microsoft.com/office/drawing/2014/main" id="{B6AF5F2E-52F4-A142-9FED-7A56AF672F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0150" y="987425"/>
            <a:ext cx="609600" cy="160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4" name="Line 42">
            <a:extLst>
              <a:ext uri="{FF2B5EF4-FFF2-40B4-BE49-F238E27FC236}">
                <a16:creationId xmlns:a16="http://schemas.microsoft.com/office/drawing/2014/main" id="{4265DC10-91DC-9147-9F9A-39668B387E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9350" y="987425"/>
            <a:ext cx="609600" cy="160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5" name="Line 43">
            <a:extLst>
              <a:ext uri="{FF2B5EF4-FFF2-40B4-BE49-F238E27FC236}">
                <a16:creationId xmlns:a16="http://schemas.microsoft.com/office/drawing/2014/main" id="{C39CC870-3F32-3C45-B373-0B7B4646D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750" y="987425"/>
            <a:ext cx="0" cy="1600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6" name="Line 44">
            <a:extLst>
              <a:ext uri="{FF2B5EF4-FFF2-40B4-BE49-F238E27FC236}">
                <a16:creationId xmlns:a16="http://schemas.microsoft.com/office/drawing/2014/main" id="{1DC7A9CD-747D-1246-A15E-DC4F1A644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9350" y="987425"/>
            <a:ext cx="0" cy="1600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7" name="Line 45">
            <a:extLst>
              <a:ext uri="{FF2B5EF4-FFF2-40B4-BE49-F238E27FC236}">
                <a16:creationId xmlns:a16="http://schemas.microsoft.com/office/drawing/2014/main" id="{B7811307-7D19-764C-A44B-A13170B53B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0150" y="987425"/>
            <a:ext cx="1828800" cy="1600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8" name="Line 46">
            <a:extLst>
              <a:ext uri="{FF2B5EF4-FFF2-40B4-BE49-F238E27FC236}">
                <a16:creationId xmlns:a16="http://schemas.microsoft.com/office/drawing/2014/main" id="{ADB94400-8C8F-D248-9595-CDA21F6F2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0150" y="987425"/>
            <a:ext cx="1828800" cy="1600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9" name="Oval 49">
            <a:extLst>
              <a:ext uri="{FF2B5EF4-FFF2-40B4-BE49-F238E27FC236}">
                <a16:creationId xmlns:a16="http://schemas.microsoft.com/office/drawing/2014/main" id="{D3CE2E67-47E9-F144-806A-36BB7498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5288" y="24606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90" name="Oval 51">
            <a:extLst>
              <a:ext uri="{FF2B5EF4-FFF2-40B4-BE49-F238E27FC236}">
                <a16:creationId xmlns:a16="http://schemas.microsoft.com/office/drawing/2014/main" id="{8AD021C5-023C-6E46-986A-B5D3B9AA1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0850" y="94138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91" name="Oval 52">
            <a:extLst>
              <a:ext uri="{FF2B5EF4-FFF2-40B4-BE49-F238E27FC236}">
                <a16:creationId xmlns:a16="http://schemas.microsoft.com/office/drawing/2014/main" id="{28A54906-98A2-4E4A-8570-D18CF6CF2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0925" y="97631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92" name="Oval 53">
            <a:extLst>
              <a:ext uri="{FF2B5EF4-FFF2-40B4-BE49-F238E27FC236}">
                <a16:creationId xmlns:a16="http://schemas.microsoft.com/office/drawing/2014/main" id="{9573A025-6653-9240-B71A-79FB3B88F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6713" y="95091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93" name="Oval 54">
            <a:extLst>
              <a:ext uri="{FF2B5EF4-FFF2-40B4-BE49-F238E27FC236}">
                <a16:creationId xmlns:a16="http://schemas.microsoft.com/office/drawing/2014/main" id="{E1FE1DEC-D897-7D4C-9A78-9DFA266FF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94773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94" name="Text Box 55">
            <a:extLst>
              <a:ext uri="{FF2B5EF4-FFF2-40B4-BE49-F238E27FC236}">
                <a16:creationId xmlns:a16="http://schemas.microsoft.com/office/drawing/2014/main" id="{AF048F7E-5DB4-484C-BA0F-60D07690D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388" y="747713"/>
            <a:ext cx="2895600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 a         b         c        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     e         f          g        h</a:t>
            </a:r>
          </a:p>
        </p:txBody>
      </p:sp>
      <p:grpSp>
        <p:nvGrpSpPr>
          <p:cNvPr id="28695" name="Group 81">
            <a:extLst>
              <a:ext uri="{FF2B5EF4-FFF2-40B4-BE49-F238E27FC236}">
                <a16:creationId xmlns:a16="http://schemas.microsoft.com/office/drawing/2014/main" id="{7533E311-C933-5147-B481-4524B18053FC}"/>
              </a:ext>
            </a:extLst>
          </p:cNvPr>
          <p:cNvGrpSpPr>
            <a:grpSpLocks/>
          </p:cNvGrpSpPr>
          <p:nvPr/>
        </p:nvGrpSpPr>
        <p:grpSpPr bwMode="auto">
          <a:xfrm>
            <a:off x="3471863" y="3292475"/>
            <a:ext cx="2881312" cy="3098800"/>
            <a:chOff x="-383" y="1709"/>
            <a:chExt cx="1815" cy="1952"/>
          </a:xfrm>
        </p:grpSpPr>
        <p:sp>
          <p:nvSpPr>
            <p:cNvPr id="28711" name="Oval 56">
              <a:extLst>
                <a:ext uri="{FF2B5EF4-FFF2-40B4-BE49-F238E27FC236}">
                  <a16:creationId xmlns:a16="http://schemas.microsoft.com/office/drawing/2014/main" id="{1E4DBF13-63B6-2546-8F98-4A13F3FE2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90" y="1990"/>
              <a:ext cx="1392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12" name="Line 57">
              <a:extLst>
                <a:ext uri="{FF2B5EF4-FFF2-40B4-BE49-F238E27FC236}">
                  <a16:creationId xmlns:a16="http://schemas.microsoft.com/office/drawing/2014/main" id="{4B9F3676-41D0-0B46-AE81-EE365DDE0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" y="2029"/>
              <a:ext cx="603" cy="22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3" name="Line 58">
              <a:extLst>
                <a:ext uri="{FF2B5EF4-FFF2-40B4-BE49-F238E27FC236}">
                  <a16:creationId xmlns:a16="http://schemas.microsoft.com/office/drawing/2014/main" id="{32D68C9C-1464-BA47-A304-76C554713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" y="3156"/>
              <a:ext cx="492" cy="202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4" name="Line 59">
              <a:extLst>
                <a:ext uri="{FF2B5EF4-FFF2-40B4-BE49-F238E27FC236}">
                  <a16:creationId xmlns:a16="http://schemas.microsoft.com/office/drawing/2014/main" id="{B9CB6025-441E-5C49-BD03-912DB2E75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7" y="2252"/>
              <a:ext cx="118" cy="394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5" name="Line 60">
              <a:extLst>
                <a:ext uri="{FF2B5EF4-FFF2-40B4-BE49-F238E27FC236}">
                  <a16:creationId xmlns:a16="http://schemas.microsoft.com/office/drawing/2014/main" id="{F0433403-B2E8-274F-80BE-8B1429ACA8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8" y="2730"/>
              <a:ext cx="202" cy="423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6" name="Line 61">
              <a:extLst>
                <a:ext uri="{FF2B5EF4-FFF2-40B4-BE49-F238E27FC236}">
                  <a16:creationId xmlns:a16="http://schemas.microsoft.com/office/drawing/2014/main" id="{17D0572D-6384-BE4A-96C6-C9845E7BC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25" y="2723"/>
              <a:ext cx="118" cy="394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Line 62">
              <a:extLst>
                <a:ext uri="{FF2B5EF4-FFF2-40B4-BE49-F238E27FC236}">
                  <a16:creationId xmlns:a16="http://schemas.microsoft.com/office/drawing/2014/main" id="{AD0151D9-D140-864F-93D7-4DBD475D0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8" y="3153"/>
              <a:ext cx="449" cy="23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8" name="Line 63">
              <a:extLst>
                <a:ext uri="{FF2B5EF4-FFF2-40B4-BE49-F238E27FC236}">
                  <a16:creationId xmlns:a16="http://schemas.microsoft.com/office/drawing/2014/main" id="{55533AC4-F799-9641-AB0E-C3CDA8FB59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68" y="2225"/>
              <a:ext cx="166" cy="414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Line 64">
              <a:extLst>
                <a:ext uri="{FF2B5EF4-FFF2-40B4-BE49-F238E27FC236}">
                  <a16:creationId xmlns:a16="http://schemas.microsoft.com/office/drawing/2014/main" id="{3C262F0E-4702-9A47-90F8-048146C10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" y="2005"/>
              <a:ext cx="449" cy="23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0" name="Oval 65">
              <a:extLst>
                <a:ext uri="{FF2B5EF4-FFF2-40B4-BE49-F238E27FC236}">
                  <a16:creationId xmlns:a16="http://schemas.microsoft.com/office/drawing/2014/main" id="{9BBE9377-FADC-614A-BCB3-2C2800FFA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82" y="217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1" name="Oval 66">
              <a:extLst>
                <a:ext uri="{FF2B5EF4-FFF2-40B4-BE49-F238E27FC236}">
                  <a16:creationId xmlns:a16="http://schemas.microsoft.com/office/drawing/2014/main" id="{76E5D075-4BE2-D34F-BC7C-F22A66C0F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" y="265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2" name="Oval 67">
              <a:extLst>
                <a:ext uri="{FF2B5EF4-FFF2-40B4-BE49-F238E27FC236}">
                  <a16:creationId xmlns:a16="http://schemas.microsoft.com/office/drawing/2014/main" id="{F1847502-A6A9-394D-B3C1-1214CC9C4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" y="2199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3" name="Oval 68">
              <a:extLst>
                <a:ext uri="{FF2B5EF4-FFF2-40B4-BE49-F238E27FC236}">
                  <a16:creationId xmlns:a16="http://schemas.microsoft.com/office/drawing/2014/main" id="{4EFB3ECC-C435-7541-9478-68DFE109E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197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4" name="Oval 69">
              <a:extLst>
                <a:ext uri="{FF2B5EF4-FFF2-40B4-BE49-F238E27FC236}">
                  <a16:creationId xmlns:a16="http://schemas.microsoft.com/office/drawing/2014/main" id="{D04894A3-ADE5-3341-A714-8FD126449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" y="31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5" name="Oval 70">
              <a:extLst>
                <a:ext uri="{FF2B5EF4-FFF2-40B4-BE49-F238E27FC236}">
                  <a16:creationId xmlns:a16="http://schemas.microsoft.com/office/drawing/2014/main" id="{2FDBECA8-06EA-4146-9E8A-3F69D2610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7" y="264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6" name="Oval 71">
              <a:extLst>
                <a:ext uri="{FF2B5EF4-FFF2-40B4-BE49-F238E27FC236}">
                  <a16:creationId xmlns:a16="http://schemas.microsoft.com/office/drawing/2014/main" id="{C070E966-7BDB-5445-B972-CBD6D3CAE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0" y="306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7" name="Oval 72">
              <a:extLst>
                <a:ext uri="{FF2B5EF4-FFF2-40B4-BE49-F238E27FC236}">
                  <a16:creationId xmlns:a16="http://schemas.microsoft.com/office/drawing/2014/main" id="{110B4363-CCA8-8E4F-9768-13B74A562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" y="328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8" name="Text Box 73">
              <a:extLst>
                <a:ext uri="{FF2B5EF4-FFF2-40B4-BE49-F238E27FC236}">
                  <a16:creationId xmlns:a16="http://schemas.microsoft.com/office/drawing/2014/main" id="{82A87F22-2CE0-DD4B-A26E-B4392F601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13" y="1944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sp>
          <p:nvSpPr>
            <p:cNvPr id="28729" name="Text Box 74">
              <a:extLst>
                <a:ext uri="{FF2B5EF4-FFF2-40B4-BE49-F238E27FC236}">
                  <a16:creationId xmlns:a16="http://schemas.microsoft.com/office/drawing/2014/main" id="{1F8E3558-9D7A-C645-84A8-3775F9211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" y="1709"/>
              <a:ext cx="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8730" name="Text Box 75">
              <a:extLst>
                <a:ext uri="{FF2B5EF4-FFF2-40B4-BE49-F238E27FC236}">
                  <a16:creationId xmlns:a16="http://schemas.microsoft.com/office/drawing/2014/main" id="{DAD3F0CF-119E-2B49-B18E-0DD4D03AF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" y="314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g</a:t>
              </a:r>
            </a:p>
          </p:txBody>
        </p:sp>
        <p:sp>
          <p:nvSpPr>
            <p:cNvPr id="28731" name="Text Box 76">
              <a:extLst>
                <a:ext uri="{FF2B5EF4-FFF2-40B4-BE49-F238E27FC236}">
                  <a16:creationId xmlns:a16="http://schemas.microsoft.com/office/drawing/2014/main" id="{F86BAC8D-4F4E-EF4B-BAD9-2F16B261F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035"/>
              <a:ext cx="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sp>
          <p:nvSpPr>
            <p:cNvPr id="28732" name="Text Box 77">
              <a:extLst>
                <a:ext uri="{FF2B5EF4-FFF2-40B4-BE49-F238E27FC236}">
                  <a16:creationId xmlns:a16="http://schemas.microsoft.com/office/drawing/2014/main" id="{D5F7191E-00D4-8C4A-A9FF-A7A084E57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83" y="2533"/>
              <a:ext cx="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8733" name="Text Box 78">
              <a:extLst>
                <a:ext uri="{FF2B5EF4-FFF2-40B4-BE49-F238E27FC236}">
                  <a16:creationId xmlns:a16="http://schemas.microsoft.com/office/drawing/2014/main" id="{6D078893-28AC-BF40-AE34-CCC4D774B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24" y="307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h</a:t>
              </a:r>
            </a:p>
          </p:txBody>
        </p:sp>
        <p:sp>
          <p:nvSpPr>
            <p:cNvPr id="28734" name="Text Box 79">
              <a:extLst>
                <a:ext uri="{FF2B5EF4-FFF2-40B4-BE49-F238E27FC236}">
                  <a16:creationId xmlns:a16="http://schemas.microsoft.com/office/drawing/2014/main" id="{8D5646F1-01E8-8C4A-88B6-86A90A66F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" y="343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8735" name="Text Box 80">
              <a:extLst>
                <a:ext uri="{FF2B5EF4-FFF2-40B4-BE49-F238E27FC236}">
                  <a16:creationId xmlns:a16="http://schemas.microsoft.com/office/drawing/2014/main" id="{6AE167B7-2182-6D44-AAF3-F83DE56F4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" y="259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</p:grpSp>
      <p:grpSp>
        <p:nvGrpSpPr>
          <p:cNvPr id="3" name="Group 86">
            <a:extLst>
              <a:ext uri="{FF2B5EF4-FFF2-40B4-BE49-F238E27FC236}">
                <a16:creationId xmlns:a16="http://schemas.microsoft.com/office/drawing/2014/main" id="{A50D6683-E17B-3B4A-A6E2-C859815286D6}"/>
              </a:ext>
            </a:extLst>
          </p:cNvPr>
          <p:cNvGrpSpPr>
            <a:grpSpLocks/>
          </p:cNvGrpSpPr>
          <p:nvPr/>
        </p:nvGrpSpPr>
        <p:grpSpPr bwMode="auto">
          <a:xfrm>
            <a:off x="4021138" y="3090863"/>
            <a:ext cx="2336800" cy="1757362"/>
            <a:chOff x="1573" y="1947"/>
            <a:chExt cx="1472" cy="1107"/>
          </a:xfrm>
        </p:grpSpPr>
        <p:sp>
          <p:nvSpPr>
            <p:cNvPr id="28708" name="Arc 82">
              <a:extLst>
                <a:ext uri="{FF2B5EF4-FFF2-40B4-BE49-F238E27FC236}">
                  <a16:creationId xmlns:a16="http://schemas.microsoft.com/office/drawing/2014/main" id="{C9547A22-8123-FB4A-B04B-5AF8CA335F71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1573" y="1947"/>
              <a:ext cx="630" cy="5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5715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9" name="Arc 84">
              <a:extLst>
                <a:ext uri="{FF2B5EF4-FFF2-40B4-BE49-F238E27FC236}">
                  <a16:creationId xmlns:a16="http://schemas.microsoft.com/office/drawing/2014/main" id="{0034C7E6-0537-3248-BF10-AD5C7FFAE63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816" y="2459"/>
              <a:ext cx="229" cy="5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5715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0" name="Arc 85">
              <a:extLst>
                <a:ext uri="{FF2B5EF4-FFF2-40B4-BE49-F238E27FC236}">
                  <a16:creationId xmlns:a16="http://schemas.microsoft.com/office/drawing/2014/main" id="{F5F87113-33EB-A442-B8B4-2EA3DA5D9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1947"/>
              <a:ext cx="841" cy="5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5715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1">
            <a:extLst>
              <a:ext uri="{FF2B5EF4-FFF2-40B4-BE49-F238E27FC236}">
                <a16:creationId xmlns:a16="http://schemas.microsoft.com/office/drawing/2014/main" id="{CEBDDED7-D15E-CD44-8A77-74FAC2D3908B}"/>
              </a:ext>
            </a:extLst>
          </p:cNvPr>
          <p:cNvGrpSpPr>
            <a:grpSpLocks/>
          </p:cNvGrpSpPr>
          <p:nvPr/>
        </p:nvGrpSpPr>
        <p:grpSpPr bwMode="auto">
          <a:xfrm>
            <a:off x="3076576" y="4843464"/>
            <a:ext cx="2392363" cy="1627187"/>
            <a:chOff x="1033" y="3030"/>
            <a:chExt cx="1459" cy="1046"/>
          </a:xfrm>
        </p:grpSpPr>
        <p:sp>
          <p:nvSpPr>
            <p:cNvPr id="28705" name="Arc 88">
              <a:extLst>
                <a:ext uri="{FF2B5EF4-FFF2-40B4-BE49-F238E27FC236}">
                  <a16:creationId xmlns:a16="http://schemas.microsoft.com/office/drawing/2014/main" id="{593DBE75-46F8-CD41-8F11-BD342F669042}"/>
                </a:ext>
              </a:extLst>
            </p:cNvPr>
            <p:cNvSpPr>
              <a:spLocks/>
            </p:cNvSpPr>
            <p:nvPr/>
          </p:nvSpPr>
          <p:spPr bwMode="auto">
            <a:xfrm rot="631073" flipV="1">
              <a:off x="1862" y="3481"/>
              <a:ext cx="630" cy="5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5715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6" name="Arc 89">
              <a:extLst>
                <a:ext uri="{FF2B5EF4-FFF2-40B4-BE49-F238E27FC236}">
                  <a16:creationId xmlns:a16="http://schemas.microsoft.com/office/drawing/2014/main" id="{712C69E1-E4D9-6741-96FD-E09605D9190E}"/>
                </a:ext>
              </a:extLst>
            </p:cNvPr>
            <p:cNvSpPr>
              <a:spLocks/>
            </p:cNvSpPr>
            <p:nvPr/>
          </p:nvSpPr>
          <p:spPr bwMode="auto">
            <a:xfrm rot="11431072" flipV="1">
              <a:off x="1116" y="3030"/>
              <a:ext cx="307" cy="3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5715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7" name="Arc 90">
              <a:extLst>
                <a:ext uri="{FF2B5EF4-FFF2-40B4-BE49-F238E27FC236}">
                  <a16:creationId xmlns:a16="http://schemas.microsoft.com/office/drawing/2014/main" id="{3E89AE41-4B30-8E44-AAC0-3BE40856F908}"/>
                </a:ext>
              </a:extLst>
            </p:cNvPr>
            <p:cNvSpPr>
              <a:spLocks/>
            </p:cNvSpPr>
            <p:nvPr/>
          </p:nvSpPr>
          <p:spPr bwMode="auto">
            <a:xfrm rot="-10168928">
              <a:off x="1033" y="3432"/>
              <a:ext cx="841" cy="5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5715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356" name="Line 92">
            <a:extLst>
              <a:ext uri="{FF2B5EF4-FFF2-40B4-BE49-F238E27FC236}">
                <a16:creationId xmlns:a16="http://schemas.microsoft.com/office/drawing/2014/main" id="{708F6C46-EA90-544E-8A1A-3A62417DE9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2738" y="3832225"/>
            <a:ext cx="666750" cy="160020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7" name="Line 93">
            <a:extLst>
              <a:ext uri="{FF2B5EF4-FFF2-40B4-BE49-F238E27FC236}">
                <a16:creationId xmlns:a16="http://schemas.microsoft.com/office/drawing/2014/main" id="{EA91EB3F-2F3B-FA49-9967-22F992AF60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0451" y="4213226"/>
            <a:ext cx="779463" cy="1624013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0" name="Oval 94">
            <a:extLst>
              <a:ext uri="{FF2B5EF4-FFF2-40B4-BE49-F238E27FC236}">
                <a16:creationId xmlns:a16="http://schemas.microsoft.com/office/drawing/2014/main" id="{9EDAAEDC-21F3-FA48-AEFE-133807BB8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413" y="250983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701" name="Oval 95">
            <a:extLst>
              <a:ext uri="{FF2B5EF4-FFF2-40B4-BE49-F238E27FC236}">
                <a16:creationId xmlns:a16="http://schemas.microsoft.com/office/drawing/2014/main" id="{097FC935-D687-2C4D-A51F-1195C4973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4860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702" name="Oval 96">
            <a:extLst>
              <a:ext uri="{FF2B5EF4-FFF2-40B4-BE49-F238E27FC236}">
                <a16:creationId xmlns:a16="http://schemas.microsoft.com/office/drawing/2014/main" id="{BDE6B229-D86A-B242-91CD-4A1C4FDCE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738" y="24987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40749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053D76F-7D52-A248-8C45-365434614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4939" y="347128"/>
            <a:ext cx="10972800" cy="1143000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ea typeface="ＭＳ Ｐゴシック" panose="020B0600070205080204" pitchFamily="34" charset="-128"/>
              </a:rPr>
              <a:t>Theorem (</a:t>
            </a:r>
            <a:r>
              <a:rPr lang="en-US" altLang="en-US" dirty="0" err="1">
                <a:ea typeface="ＭＳ Ｐゴシック" panose="020B0600070205080204" pitchFamily="34" charset="-128"/>
              </a:rPr>
              <a:t>Kuratowski</a:t>
            </a:r>
            <a:r>
              <a:rPr lang="en-US" altLang="en-US" dirty="0">
                <a:ea typeface="ＭＳ Ｐゴシック" panose="020B0600070205080204" pitchFamily="34" charset="-128"/>
              </a:rPr>
              <a:t>, 1930)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Rectangle 3">
                <a:extLst>
                  <a:ext uri="{FF2B5EF4-FFF2-40B4-BE49-F238E27FC236}">
                    <a16:creationId xmlns:a16="http://schemas.microsoft.com/office/drawing/2014/main" id="{99C56A7F-4B43-EA46-BDB2-EA62F118BC48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981200" y="1744040"/>
                <a:ext cx="8229600" cy="4525963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 smtClean="0">
                    <a:ea typeface="ＭＳ Ｐゴシック" panose="020B0600070205080204" pitchFamily="34" charset="-128"/>
                  </a:rPr>
                  <a:t>A graph is planar if and only if it does not contain a subgraph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3,3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configuration. </a:t>
                </a:r>
              </a:p>
              <a:p>
                <a:pPr eaLnBrk="1" hangingPunct="1">
                  <a:buFontTx/>
                  <a:buNone/>
                </a:pPr>
                <a:endParaRPr lang="en-US" altLang="en-US" dirty="0"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2771" name="Rectangle 3">
                <a:extLst>
                  <a:ext uri="{FF2B5EF4-FFF2-40B4-BE49-F238E27FC236}">
                    <a16:creationId xmlns:a16="http://schemas.microsoft.com/office/drawing/2014/main" id="{99C56A7F-4B43-EA46-BDB2-EA62F118B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1744040"/>
                <a:ext cx="8229600" cy="4525963"/>
              </a:xfrm>
              <a:blipFill>
                <a:blip r:embed="rId2"/>
                <a:stretch>
                  <a:fillRect l="-1333" t="-2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777" name="Group 60">
            <a:extLst>
              <a:ext uri="{FF2B5EF4-FFF2-40B4-BE49-F238E27FC236}">
                <a16:creationId xmlns:a16="http://schemas.microsoft.com/office/drawing/2014/main" id="{B6CDEE2F-007D-5B4C-A522-E6BD10848BBB}"/>
              </a:ext>
            </a:extLst>
          </p:cNvPr>
          <p:cNvGrpSpPr>
            <a:grpSpLocks/>
          </p:cNvGrpSpPr>
          <p:nvPr/>
        </p:nvGrpSpPr>
        <p:grpSpPr bwMode="auto">
          <a:xfrm>
            <a:off x="2575696" y="2883978"/>
            <a:ext cx="2190750" cy="2090737"/>
            <a:chOff x="863" y="2852"/>
            <a:chExt cx="1380" cy="1317"/>
          </a:xfrm>
        </p:grpSpPr>
        <p:grpSp>
          <p:nvGrpSpPr>
            <p:cNvPr id="32799" name="Group 42">
              <a:extLst>
                <a:ext uri="{FF2B5EF4-FFF2-40B4-BE49-F238E27FC236}">
                  <a16:creationId xmlns:a16="http://schemas.microsoft.com/office/drawing/2014/main" id="{9DA4A628-1DFB-1F41-9849-07CB718B82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9" y="2934"/>
              <a:ext cx="1199" cy="1121"/>
              <a:chOff x="959" y="2640"/>
              <a:chExt cx="1244" cy="1304"/>
            </a:xfrm>
          </p:grpSpPr>
          <p:grpSp>
            <p:nvGrpSpPr>
              <p:cNvPr id="32806" name="Group 26">
                <a:extLst>
                  <a:ext uri="{FF2B5EF4-FFF2-40B4-BE49-F238E27FC236}">
                    <a16:creationId xmlns:a16="http://schemas.microsoft.com/office/drawing/2014/main" id="{D41B8ADC-FF2B-FC4C-BEFB-0A3EA52F46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7" y="2689"/>
                <a:ext cx="1077" cy="1212"/>
                <a:chOff x="960" y="2640"/>
                <a:chExt cx="768" cy="1008"/>
              </a:xfrm>
            </p:grpSpPr>
            <p:sp>
              <p:nvSpPr>
                <p:cNvPr id="32813" name="Line 27">
                  <a:extLst>
                    <a:ext uri="{FF2B5EF4-FFF2-40B4-BE49-F238E27FC236}">
                      <a16:creationId xmlns:a16="http://schemas.microsoft.com/office/drawing/2014/main" id="{D7ED5FB2-3860-CD41-B6BD-D8C12AA1B0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640"/>
                  <a:ext cx="0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14" name="Line 28">
                  <a:extLst>
                    <a:ext uri="{FF2B5EF4-FFF2-40B4-BE49-F238E27FC236}">
                      <a16:creationId xmlns:a16="http://schemas.microsoft.com/office/drawing/2014/main" id="{78E3C356-DDF8-DA4D-B698-E19A85FFE8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640"/>
                  <a:ext cx="384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15" name="Line 29">
                  <a:extLst>
                    <a:ext uri="{FF2B5EF4-FFF2-40B4-BE49-F238E27FC236}">
                      <a16:creationId xmlns:a16="http://schemas.microsoft.com/office/drawing/2014/main" id="{FCD37054-B85A-3F46-93C4-58F477B16F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2640"/>
                  <a:ext cx="384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16" name="Line 30">
                  <a:extLst>
                    <a:ext uri="{FF2B5EF4-FFF2-40B4-BE49-F238E27FC236}">
                      <a16:creationId xmlns:a16="http://schemas.microsoft.com/office/drawing/2014/main" id="{2D85A03B-BC1F-8040-9159-0EE551E07D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4" y="2640"/>
                  <a:ext cx="384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17" name="Line 31">
                  <a:extLst>
                    <a:ext uri="{FF2B5EF4-FFF2-40B4-BE49-F238E27FC236}">
                      <a16:creationId xmlns:a16="http://schemas.microsoft.com/office/drawing/2014/main" id="{3246F786-5963-0144-A6D9-785C849100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60" y="2640"/>
                  <a:ext cx="384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18" name="Line 32">
                  <a:extLst>
                    <a:ext uri="{FF2B5EF4-FFF2-40B4-BE49-F238E27FC236}">
                      <a16:creationId xmlns:a16="http://schemas.microsoft.com/office/drawing/2014/main" id="{CE5458F9-F5B3-8549-AD9F-C08EDA62F1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4" y="2640"/>
                  <a:ext cx="0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19" name="Line 33">
                  <a:extLst>
                    <a:ext uri="{FF2B5EF4-FFF2-40B4-BE49-F238E27FC236}">
                      <a16:creationId xmlns:a16="http://schemas.microsoft.com/office/drawing/2014/main" id="{9E8EADD1-EDF8-FC40-BEF2-807E2EC14A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2640"/>
                  <a:ext cx="0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20" name="Line 34">
                  <a:extLst>
                    <a:ext uri="{FF2B5EF4-FFF2-40B4-BE49-F238E27FC236}">
                      <a16:creationId xmlns:a16="http://schemas.microsoft.com/office/drawing/2014/main" id="{E6AAB985-F01F-3347-A221-2307A7BE26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60" y="2640"/>
                  <a:ext cx="768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21" name="Line 35">
                  <a:extLst>
                    <a:ext uri="{FF2B5EF4-FFF2-40B4-BE49-F238E27FC236}">
                      <a16:creationId xmlns:a16="http://schemas.microsoft.com/office/drawing/2014/main" id="{EE6EB0DB-FEC2-754F-B74C-50534B8247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640"/>
                  <a:ext cx="768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807" name="Oval 36">
                <a:extLst>
                  <a:ext uri="{FF2B5EF4-FFF2-40B4-BE49-F238E27FC236}">
                    <a16:creationId xmlns:a16="http://schemas.microsoft.com/office/drawing/2014/main" id="{5E72AEA6-16C5-8143-95DD-4EABFCE3E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2" y="2640"/>
                <a:ext cx="134" cy="11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2808" name="Oval 37">
                <a:extLst>
                  <a:ext uri="{FF2B5EF4-FFF2-40B4-BE49-F238E27FC236}">
                    <a16:creationId xmlns:a16="http://schemas.microsoft.com/office/drawing/2014/main" id="{BAF239CB-4194-2849-A536-F0AA77A3A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8" y="2644"/>
                <a:ext cx="135" cy="11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2809" name="Oval 38">
                <a:extLst>
                  <a:ext uri="{FF2B5EF4-FFF2-40B4-BE49-F238E27FC236}">
                    <a16:creationId xmlns:a16="http://schemas.microsoft.com/office/drawing/2014/main" id="{9FC6D832-FCBA-4B45-B24A-9593B87A2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2666"/>
                <a:ext cx="135" cy="11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2810" name="Oval 39">
                <a:extLst>
                  <a:ext uri="{FF2B5EF4-FFF2-40B4-BE49-F238E27FC236}">
                    <a16:creationId xmlns:a16="http://schemas.microsoft.com/office/drawing/2014/main" id="{958EE8A4-99CA-9D4A-9AF8-718E57975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3791"/>
                <a:ext cx="135" cy="11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2811" name="Oval 40">
                <a:extLst>
                  <a:ext uri="{FF2B5EF4-FFF2-40B4-BE49-F238E27FC236}">
                    <a16:creationId xmlns:a16="http://schemas.microsoft.com/office/drawing/2014/main" id="{2307B1E1-F8D0-8F4F-8F06-9B82260B67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3829"/>
                <a:ext cx="135" cy="11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2812" name="Oval 41">
                <a:extLst>
                  <a:ext uri="{FF2B5EF4-FFF2-40B4-BE49-F238E27FC236}">
                    <a16:creationId xmlns:a16="http://schemas.microsoft.com/office/drawing/2014/main" id="{4DB1D21B-F001-AF45-B671-8EF5CCB1D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0" y="3802"/>
                <a:ext cx="135" cy="11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32800" name="Text Box 48">
              <a:extLst>
                <a:ext uri="{FF2B5EF4-FFF2-40B4-BE49-F238E27FC236}">
                  <a16:creationId xmlns:a16="http://schemas.microsoft.com/office/drawing/2014/main" id="{18618DCE-C13A-3E41-97C9-565F0C260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2880"/>
              <a:ext cx="3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32801" name="Text Box 49">
              <a:extLst>
                <a:ext uri="{FF2B5EF4-FFF2-40B4-BE49-F238E27FC236}">
                  <a16:creationId xmlns:a16="http://schemas.microsoft.com/office/drawing/2014/main" id="{0CC70AFF-C178-8A45-AB20-D63C0092F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8" y="2852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32802" name="Text Box 50">
              <a:extLst>
                <a:ext uri="{FF2B5EF4-FFF2-40B4-BE49-F238E27FC236}">
                  <a16:creationId xmlns:a16="http://schemas.microsoft.com/office/drawing/2014/main" id="{9B9BDD1A-067D-1C45-88DE-EF525B4AD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5" y="2855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3</a:t>
              </a:r>
            </a:p>
          </p:txBody>
        </p:sp>
        <p:sp>
          <p:nvSpPr>
            <p:cNvPr id="32803" name="Text Box 51">
              <a:extLst>
                <a:ext uri="{FF2B5EF4-FFF2-40B4-BE49-F238E27FC236}">
                  <a16:creationId xmlns:a16="http://schemas.microsoft.com/office/drawing/2014/main" id="{9AD61E8F-571E-E04E-B59E-4F2F0F8DC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" y="3916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32804" name="Text Box 52">
              <a:extLst>
                <a:ext uri="{FF2B5EF4-FFF2-40B4-BE49-F238E27FC236}">
                  <a16:creationId xmlns:a16="http://schemas.microsoft.com/office/drawing/2014/main" id="{2367E181-0654-DA4D-BF1F-3255E13C2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" y="3938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 5</a:t>
              </a:r>
            </a:p>
          </p:txBody>
        </p:sp>
        <p:sp>
          <p:nvSpPr>
            <p:cNvPr id="32805" name="Text Box 53">
              <a:extLst>
                <a:ext uri="{FF2B5EF4-FFF2-40B4-BE49-F238E27FC236}">
                  <a16:creationId xmlns:a16="http://schemas.microsoft.com/office/drawing/2014/main" id="{18830A74-08FE-4649-8719-992D9C1FD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4" y="3937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  6</a:t>
              </a:r>
            </a:p>
          </p:txBody>
        </p:sp>
      </p:grpSp>
      <p:grpSp>
        <p:nvGrpSpPr>
          <p:cNvPr id="32778" name="Group 61">
            <a:extLst>
              <a:ext uri="{FF2B5EF4-FFF2-40B4-BE49-F238E27FC236}">
                <a16:creationId xmlns:a16="http://schemas.microsoft.com/office/drawing/2014/main" id="{E5858EF0-E82C-604E-AEA3-3A1186580080}"/>
              </a:ext>
            </a:extLst>
          </p:cNvPr>
          <p:cNvGrpSpPr>
            <a:grpSpLocks/>
          </p:cNvGrpSpPr>
          <p:nvPr/>
        </p:nvGrpSpPr>
        <p:grpSpPr bwMode="auto">
          <a:xfrm>
            <a:off x="6588707" y="2789646"/>
            <a:ext cx="2743200" cy="2236788"/>
            <a:chOff x="3394" y="2787"/>
            <a:chExt cx="1728" cy="1409"/>
          </a:xfrm>
        </p:grpSpPr>
        <p:grpSp>
          <p:nvGrpSpPr>
            <p:cNvPr id="32781" name="Group 12">
              <a:extLst>
                <a:ext uri="{FF2B5EF4-FFF2-40B4-BE49-F238E27FC236}">
                  <a16:creationId xmlns:a16="http://schemas.microsoft.com/office/drawing/2014/main" id="{624BA806-A22C-7243-9497-7F17E39AAE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2" y="2873"/>
              <a:ext cx="1273" cy="1236"/>
              <a:chOff x="3829" y="916"/>
              <a:chExt cx="1931" cy="1876"/>
            </a:xfrm>
          </p:grpSpPr>
          <p:grpSp>
            <p:nvGrpSpPr>
              <p:cNvPr id="32787" name="Group 13">
                <a:extLst>
                  <a:ext uri="{FF2B5EF4-FFF2-40B4-BE49-F238E27FC236}">
                    <a16:creationId xmlns:a16="http://schemas.microsoft.com/office/drawing/2014/main" id="{E0D72AAA-F384-6747-A065-F6589F8FEA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960"/>
                <a:ext cx="1872" cy="1776"/>
                <a:chOff x="3360" y="1248"/>
                <a:chExt cx="1872" cy="1776"/>
              </a:xfrm>
            </p:grpSpPr>
            <p:sp>
              <p:nvSpPr>
                <p:cNvPr id="32793" name="AutoShape 14">
                  <a:extLst>
                    <a:ext uri="{FF2B5EF4-FFF2-40B4-BE49-F238E27FC236}">
                      <a16:creationId xmlns:a16="http://schemas.microsoft.com/office/drawing/2014/main" id="{A2E975C0-5326-DB46-BCAB-7FE0E4D91A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0" y="1248"/>
                  <a:ext cx="1872" cy="1776"/>
                </a:xfrm>
                <a:prstGeom prst="pentagon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32794" name="Line 15">
                  <a:extLst>
                    <a:ext uri="{FF2B5EF4-FFF2-40B4-BE49-F238E27FC236}">
                      <a16:creationId xmlns:a16="http://schemas.microsoft.com/office/drawing/2014/main" id="{9BB4F8C0-FF1D-9448-90B8-0F2597B362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2" y="1248"/>
                  <a:ext cx="576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95" name="Line 16">
                  <a:extLst>
                    <a:ext uri="{FF2B5EF4-FFF2-40B4-BE49-F238E27FC236}">
                      <a16:creationId xmlns:a16="http://schemas.microsoft.com/office/drawing/2014/main" id="{273173AF-7B9C-C34E-AC37-A98BC9810C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744" y="1248"/>
                  <a:ext cx="528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96" name="Line 17">
                  <a:extLst>
                    <a:ext uri="{FF2B5EF4-FFF2-40B4-BE49-F238E27FC236}">
                      <a16:creationId xmlns:a16="http://schemas.microsoft.com/office/drawing/2014/main" id="{8BDF1BC1-04F4-174B-A200-523F22BD6E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0" y="1920"/>
                  <a:ext cx="18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97" name="Line 18">
                  <a:extLst>
                    <a:ext uri="{FF2B5EF4-FFF2-40B4-BE49-F238E27FC236}">
                      <a16:creationId xmlns:a16="http://schemas.microsoft.com/office/drawing/2014/main" id="{603FE52A-E3C2-B345-BA52-A7C96AA19D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60" y="1920"/>
                  <a:ext cx="1488" cy="10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98" name="Line 19">
                  <a:extLst>
                    <a:ext uri="{FF2B5EF4-FFF2-40B4-BE49-F238E27FC236}">
                      <a16:creationId xmlns:a16="http://schemas.microsoft.com/office/drawing/2014/main" id="{4EBC6747-BC89-5944-A76D-4B55BD5956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744" y="1920"/>
                  <a:ext cx="1488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788" name="Oval 20">
                <a:extLst>
                  <a:ext uri="{FF2B5EF4-FFF2-40B4-BE49-F238E27FC236}">
                    <a16:creationId xmlns:a16="http://schemas.microsoft.com/office/drawing/2014/main" id="{3BAB2DCC-4A9B-BE46-A7E1-BDFE6C22F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0" y="2677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2789" name="Oval 21">
                <a:extLst>
                  <a:ext uri="{FF2B5EF4-FFF2-40B4-BE49-F238E27FC236}">
                    <a16:creationId xmlns:a16="http://schemas.microsoft.com/office/drawing/2014/main" id="{5CCDFB15-7746-2D46-A547-F63E50547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6" y="9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2790" name="Oval 22">
                <a:extLst>
                  <a:ext uri="{FF2B5EF4-FFF2-40B4-BE49-F238E27FC236}">
                    <a16:creationId xmlns:a16="http://schemas.microsoft.com/office/drawing/2014/main" id="{1B3BA8BA-8174-FC4B-9608-AC09B2B7C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9" y="1567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2791" name="Oval 23">
                <a:extLst>
                  <a:ext uri="{FF2B5EF4-FFF2-40B4-BE49-F238E27FC236}">
                    <a16:creationId xmlns:a16="http://schemas.microsoft.com/office/drawing/2014/main" id="{9C01DA8A-BD3F-1E49-B452-5415A8F6D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2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2792" name="Oval 24">
                <a:extLst>
                  <a:ext uri="{FF2B5EF4-FFF2-40B4-BE49-F238E27FC236}">
                    <a16:creationId xmlns:a16="http://schemas.microsoft.com/office/drawing/2014/main" id="{874E9783-0425-3C46-8ABA-3578B2B0A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64" y="1593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32782" name="Text Box 54">
              <a:extLst>
                <a:ext uri="{FF2B5EF4-FFF2-40B4-BE49-F238E27FC236}">
                  <a16:creationId xmlns:a16="http://schemas.microsoft.com/office/drawing/2014/main" id="{BC69575D-91BD-9747-BC27-9E1E4AA62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7" y="3965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32783" name="Text Box 55">
              <a:extLst>
                <a:ext uri="{FF2B5EF4-FFF2-40B4-BE49-F238E27FC236}">
                  <a16:creationId xmlns:a16="http://schemas.microsoft.com/office/drawing/2014/main" id="{94BF08F6-3A60-AF43-90C2-C04CDE435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8" y="2787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32784" name="Text Box 56">
              <a:extLst>
                <a:ext uri="{FF2B5EF4-FFF2-40B4-BE49-F238E27FC236}">
                  <a16:creationId xmlns:a16="http://schemas.microsoft.com/office/drawing/2014/main" id="{5D5327E5-3578-5246-A082-05F8F49FC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4" y="3220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  2</a:t>
              </a:r>
            </a:p>
          </p:txBody>
        </p:sp>
        <p:sp>
          <p:nvSpPr>
            <p:cNvPr id="32785" name="Text Box 57">
              <a:extLst>
                <a:ext uri="{FF2B5EF4-FFF2-40B4-BE49-F238E27FC236}">
                  <a16:creationId xmlns:a16="http://schemas.microsoft.com/office/drawing/2014/main" id="{E01CFCBE-8EC0-AF49-81BF-CA9E1BC92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2" y="3951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 3</a:t>
              </a:r>
            </a:p>
          </p:txBody>
        </p:sp>
        <p:sp>
          <p:nvSpPr>
            <p:cNvPr id="32786" name="Text Box 58">
              <a:extLst>
                <a:ext uri="{FF2B5EF4-FFF2-40B4-BE49-F238E27FC236}">
                  <a16:creationId xmlns:a16="http://schemas.microsoft.com/office/drawing/2014/main" id="{C15578EF-5DAF-EA49-AD8C-AC85A6A0C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4" y="3230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5268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5">
                <a:extLst>
                  <a:ext uri="{FF2B5EF4-FFF2-40B4-BE49-F238E27FC236}">
                    <a16:creationId xmlns:a16="http://schemas.microsoft.com/office/drawing/2014/main" id="{6F77E253-7557-2448-A312-8A5CA7AD2A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configuration</a:t>
                </a:r>
              </a:p>
            </p:txBody>
          </p:sp>
        </mc:Choice>
        <mc:Fallback xmlns="">
          <p:sp>
            <p:nvSpPr>
              <p:cNvPr id="6" name="Title 5">
                <a:extLst>
                  <a:ext uri="{FF2B5EF4-FFF2-40B4-BE49-F238E27FC236}">
                    <a16:creationId xmlns:a16="http://schemas.microsoft.com/office/drawing/2014/main" id="{6F77E253-7557-2448-A312-8A5CA7AD2A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69C50FC-9C91-AB44-86DC-98D47085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82" y="2085234"/>
            <a:ext cx="5608550" cy="2759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23322B-79A8-FA40-A415-7772DA418F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599" r="49229" b="-1685"/>
          <a:stretch/>
        </p:blipFill>
        <p:spPr>
          <a:xfrm>
            <a:off x="7621052" y="1981395"/>
            <a:ext cx="3311507" cy="296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36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CE1EA43-0615-C34E-A4F6-721E17910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>
                <a:ea typeface="ＭＳ Ｐゴシック" panose="020B0600070205080204" pitchFamily="34" charset="-128"/>
              </a:rPr>
              <a:t>Euler</a:t>
            </a:r>
            <a:r>
              <a:rPr lang="en-US" altLang="ja-JP" dirty="0">
                <a:ea typeface="ＭＳ Ｐゴシック" panose="020B0600070205080204" pitchFamily="34" charset="-128"/>
              </a:rPr>
              <a:t> Formula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1562AE8-EBA2-124A-B03F-7A465C827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477250" cy="4525963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If </a:t>
            </a:r>
            <a:r>
              <a:rPr lang="en-US" altLang="en-US" i="1" dirty="0">
                <a:ea typeface="ＭＳ Ｐゴシック" panose="020B0600070205080204" pitchFamily="34" charset="-128"/>
              </a:rPr>
              <a:t>G</a:t>
            </a:r>
            <a:r>
              <a:rPr lang="en-US" altLang="en-US" dirty="0">
                <a:ea typeface="ＭＳ Ｐゴシック" panose="020B0600070205080204" pitchFamily="34" charset="-128"/>
              </a:rPr>
              <a:t> is a connected planar graph, then any plane graph depiction of </a:t>
            </a:r>
            <a:r>
              <a:rPr lang="en-US" altLang="en-US" i="1" dirty="0">
                <a:ea typeface="ＭＳ Ｐゴシック" panose="020B0600070205080204" pitchFamily="34" charset="-128"/>
              </a:rPr>
              <a:t>G</a:t>
            </a:r>
            <a:r>
              <a:rPr lang="en-US" altLang="en-US" dirty="0">
                <a:ea typeface="ＭＳ Ｐゴシック" panose="020B0600070205080204" pitchFamily="34" charset="-128"/>
              </a:rPr>
              <a:t> has </a:t>
            </a:r>
            <a:r>
              <a:rPr lang="en-US" altLang="en-US" b="1" i="1" dirty="0">
                <a:ea typeface="ＭＳ Ｐゴシック" panose="020B0600070205080204" pitchFamily="34" charset="-128"/>
              </a:rPr>
              <a:t>r</a:t>
            </a:r>
            <a:r>
              <a:rPr lang="en-US" altLang="en-US" b="1" dirty="0">
                <a:ea typeface="ＭＳ Ｐゴシック" panose="020B0600070205080204" pitchFamily="34" charset="-128"/>
              </a:rPr>
              <a:t> = </a:t>
            </a:r>
            <a:r>
              <a:rPr lang="en-US" altLang="en-US" b="1" i="1" dirty="0">
                <a:ea typeface="ＭＳ Ｐゴシック" panose="020B0600070205080204" pitchFamily="34" charset="-128"/>
              </a:rPr>
              <a:t>e</a:t>
            </a:r>
            <a:r>
              <a:rPr lang="en-US" altLang="en-US" b="1" dirty="0">
                <a:ea typeface="ＭＳ Ｐゴシック" panose="020B0600070205080204" pitchFamily="34" charset="-128"/>
              </a:rPr>
              <a:t> - </a:t>
            </a:r>
            <a:r>
              <a:rPr lang="en-US" altLang="en-US" b="1" i="1" dirty="0">
                <a:ea typeface="ＭＳ Ｐゴシック" panose="020B0600070205080204" pitchFamily="34" charset="-128"/>
              </a:rPr>
              <a:t>v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+ 2 regions.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Recall: </a:t>
            </a:r>
            <a:r>
              <a:rPr lang="en-US" altLang="en-US" i="1" dirty="0">
                <a:ea typeface="ＭＳ Ｐゴシック" panose="020B0600070205080204" pitchFamily="34" charset="-128"/>
              </a:rPr>
              <a:t>Connected </a:t>
            </a:r>
            <a:r>
              <a:rPr lang="en-US" altLang="en-US" dirty="0">
                <a:ea typeface="ＭＳ Ｐゴシック" panose="020B0600070205080204" pitchFamily="34" charset="-128"/>
              </a:rPr>
              <a:t>planar graphs have paths between each pair of vertices.</a:t>
            </a:r>
          </a:p>
          <a:p>
            <a:pPr lvl="1" eaLnBrk="1" hangingPunct="1"/>
            <a:r>
              <a:rPr lang="en-US" altLang="en-US" b="1" i="1" dirty="0">
                <a:ea typeface="ＭＳ Ｐゴシック" panose="020B0600070205080204" pitchFamily="34" charset="-128"/>
              </a:rPr>
              <a:t>v</a:t>
            </a:r>
            <a:r>
              <a:rPr lang="en-US" altLang="en-US" dirty="0">
                <a:ea typeface="ＭＳ Ｐゴシック" panose="020B0600070205080204" pitchFamily="34" charset="-128"/>
              </a:rPr>
              <a:t> = number of vertices</a:t>
            </a:r>
          </a:p>
          <a:p>
            <a:pPr lvl="1" eaLnBrk="1" hangingPunct="1"/>
            <a:r>
              <a:rPr lang="en-US" altLang="en-US" b="1" i="1" dirty="0">
                <a:ea typeface="ＭＳ Ｐゴシック" panose="020B0600070205080204" pitchFamily="34" charset="-128"/>
              </a:rPr>
              <a:t>e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= number of edges</a:t>
            </a:r>
          </a:p>
          <a:p>
            <a:pPr lvl="1" eaLnBrk="1" hangingPunct="1"/>
            <a:r>
              <a:rPr lang="en-US" altLang="en-US" b="1" i="1" dirty="0">
                <a:ea typeface="ＭＳ Ｐゴシック" panose="020B0600070205080204" pitchFamily="34" charset="-128"/>
              </a:rPr>
              <a:t>r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= number of regions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There are many different plane graph depictions for a planar graph, however, the number of regions will not change.</a:t>
            </a:r>
          </a:p>
        </p:txBody>
      </p:sp>
    </p:spTree>
    <p:extLst>
      <p:ext uri="{BB962C8B-B14F-4D97-AF65-F5344CB8AC3E}">
        <p14:creationId xmlns:p14="http://schemas.microsoft.com/office/powerpoint/2010/main" val="675322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BFD-43C3-E54B-B3A2-BC32745C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method to prove Euler formula: Inductive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ECB78A-4D45-B248-BF46-B104FB88C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5207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Step 1: prove the initial of the base case</a:t>
                </a:r>
              </a:p>
              <a:p>
                <a:r>
                  <a:rPr lang="en-US" sz="2400" dirty="0"/>
                  <a:t>Step 2: Assume it is true for a case with index </a:t>
                </a:r>
                <a:r>
                  <a:rPr lang="en-US" sz="2400" i="1" dirty="0"/>
                  <a:t>k</a:t>
                </a:r>
                <a:r>
                  <a:rPr lang="en-US" sz="2400" dirty="0"/>
                  <a:t>, prove that it should also be true for the next index (</a:t>
                </a:r>
                <a:r>
                  <a:rPr lang="en-US" sz="2400" i="1" dirty="0"/>
                  <a:t>k+1, </a:t>
                </a:r>
                <a:r>
                  <a:rPr lang="en-US" sz="2400" dirty="0"/>
                  <a:t>for example).</a:t>
                </a:r>
              </a:p>
              <a:p>
                <a:r>
                  <a:rPr lang="en-US" sz="2400" dirty="0"/>
                  <a:t>Example: to prove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1+2+3+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We show that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LHS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RHS</m:t>
                    </m:r>
                  </m:oMath>
                </a14:m>
                <a:r>
                  <a:rPr lang="en-US" sz="2400" dirty="0"/>
                  <a:t>, it is true.</a:t>
                </a:r>
              </a:p>
              <a:p>
                <a:pPr marL="0" indent="0">
                  <a:buNone/>
                </a:pPr>
                <a:r>
                  <a:rPr lang="en-US" sz="2400" dirty="0"/>
                  <a:t>Assume it is true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, add both side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,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1+2+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+1)+2(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Therefore the identity is true for all indices.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ECB78A-4D45-B248-BF46-B104FB88C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5207"/>
                <a:ext cx="10515600" cy="4351338"/>
              </a:xfrm>
              <a:blipFill>
                <a:blip r:embed="rId2"/>
                <a:stretch>
                  <a:fillRect l="-603" t="-2326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876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>
            <a:extLst>
              <a:ext uri="{FF2B5EF4-FFF2-40B4-BE49-F238E27FC236}">
                <a16:creationId xmlns:a16="http://schemas.microsoft.com/office/drawing/2014/main" id="{28F42253-63CA-9C4B-9CE7-D72B10898CF2}"/>
              </a:ext>
            </a:extLst>
          </p:cNvPr>
          <p:cNvGrpSpPr>
            <a:grpSpLocks/>
          </p:cNvGrpSpPr>
          <p:nvPr/>
        </p:nvGrpSpPr>
        <p:grpSpPr bwMode="auto">
          <a:xfrm>
            <a:off x="6557912" y="1922634"/>
            <a:ext cx="2745143" cy="2799064"/>
            <a:chOff x="861" y="1097"/>
            <a:chExt cx="1581" cy="1716"/>
          </a:xfrm>
        </p:grpSpPr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6BB11D5F-CD72-6140-AC05-BDEF379F48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1160"/>
              <a:ext cx="201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094321EF-1BA1-7B45-B487-9FC6BA09C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80"/>
              <a:ext cx="7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4D41861A-C045-7E40-9ABA-3AE656192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7" y="1389"/>
              <a:ext cx="43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141C8061-540B-6143-BA41-B884ACE5A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6" y="180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84D215EC-6192-7240-8131-51F81E800C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92" y="2367"/>
              <a:ext cx="62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79B571BB-30DA-D84E-BF15-B3C34930BF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16" y="2367"/>
              <a:ext cx="576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E27DE584-15EB-BB4A-9570-6D59E0F775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25" y="2029"/>
              <a:ext cx="82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BF15DD2E-469E-384D-82FC-5E430DE39C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1" y="1370"/>
              <a:ext cx="128" cy="1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7">
              <a:extLst>
                <a:ext uri="{FF2B5EF4-FFF2-40B4-BE49-F238E27FC236}">
                  <a16:creationId xmlns:a16="http://schemas.microsoft.com/office/drawing/2014/main" id="{71758FA9-A487-214C-9B84-6EBFC5149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9" y="1123"/>
              <a:ext cx="4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 y</a:t>
              </a:r>
            </a:p>
          </p:txBody>
        </p:sp>
        <p:sp>
          <p:nvSpPr>
            <p:cNvPr id="15" name="Text Box 18">
              <a:extLst>
                <a:ext uri="{FF2B5EF4-FFF2-40B4-BE49-F238E27FC236}">
                  <a16:creationId xmlns:a16="http://schemas.microsoft.com/office/drawing/2014/main" id="{B21F3A5E-9C42-9440-8A65-12D19FCAD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2" y="2523"/>
              <a:ext cx="38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 x</a:t>
              </a:r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3F181566-E026-1244-9B86-D052C1EF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" y="2321"/>
              <a:ext cx="91" cy="1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22BC129F-972F-7D43-8E60-E2B944B1C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1337"/>
              <a:ext cx="91" cy="1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472DB114-9BB4-8348-AD21-A2AC10CE3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8" y="1761"/>
              <a:ext cx="91" cy="1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1A518537-EF60-084F-851D-ECF2B1495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1" y="2312"/>
              <a:ext cx="91" cy="1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8FCC26D2-9E82-5F41-91D1-EE35CEF04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" y="2481"/>
              <a:ext cx="91" cy="1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79536C0A-6F9B-FA44-9F53-307634F89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1328"/>
              <a:ext cx="91" cy="1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BFB20629-6F8B-6142-A526-BB0397B21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" y="1999"/>
              <a:ext cx="91" cy="1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B94278A4-C576-9A47-922E-52094599D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" y="1097"/>
              <a:ext cx="91" cy="1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25" name="Group 9">
            <a:extLst>
              <a:ext uri="{FF2B5EF4-FFF2-40B4-BE49-F238E27FC236}">
                <a16:creationId xmlns:a16="http://schemas.microsoft.com/office/drawing/2014/main" id="{164023DE-4564-3E4B-8EBA-48651F11813C}"/>
              </a:ext>
            </a:extLst>
          </p:cNvPr>
          <p:cNvGrpSpPr>
            <a:grpSpLocks/>
          </p:cNvGrpSpPr>
          <p:nvPr/>
        </p:nvGrpSpPr>
        <p:grpSpPr bwMode="auto">
          <a:xfrm>
            <a:off x="2121491" y="1962971"/>
            <a:ext cx="3495748" cy="2876157"/>
            <a:chOff x="3115" y="1582"/>
            <a:chExt cx="1375" cy="1493"/>
          </a:xfrm>
        </p:grpSpPr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4607C374-694C-6948-A29F-3F2FF76CD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5" y="1744"/>
              <a:ext cx="128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B94FB085-288E-F14B-A591-14EBDEB9A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" y="1920"/>
              <a:ext cx="5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0088ECD-C50B-C548-A634-ED336C78F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2" y="1927"/>
              <a:ext cx="274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586727BF-0E01-2C41-9461-C2ED88064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2254"/>
              <a:ext cx="0" cy="4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4">
              <a:extLst>
                <a:ext uri="{FF2B5EF4-FFF2-40B4-BE49-F238E27FC236}">
                  <a16:creationId xmlns:a16="http://schemas.microsoft.com/office/drawing/2014/main" id="{8AE2D99C-3045-B740-AA33-500C79F9C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07" y="2706"/>
              <a:ext cx="396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15">
              <a:extLst>
                <a:ext uri="{FF2B5EF4-FFF2-40B4-BE49-F238E27FC236}">
                  <a16:creationId xmlns:a16="http://schemas.microsoft.com/office/drawing/2014/main" id="{0D901B35-CAB5-8449-AC78-49CCABC6DD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41" y="2706"/>
              <a:ext cx="366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834381D9-CBBC-4744-85DC-3C15661E8D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83" y="2437"/>
              <a:ext cx="52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C3AEF509-815D-0C48-BC40-ED8939B07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4" y="1704"/>
              <a:ext cx="28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dirty="0"/>
                <a:t>y</a:t>
              </a:r>
            </a:p>
          </p:txBody>
        </p:sp>
        <p:sp>
          <p:nvSpPr>
            <p:cNvPr id="34" name="Text Box 18">
              <a:extLst>
                <a:ext uri="{FF2B5EF4-FFF2-40B4-BE49-F238E27FC236}">
                  <a16:creationId xmlns:a16="http://schemas.microsoft.com/office/drawing/2014/main" id="{850B614C-306F-9D4E-8B9C-5385BE8B6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7" y="2830"/>
              <a:ext cx="24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 </a:t>
              </a:r>
            </a:p>
          </p:txBody>
        </p:sp>
        <p:sp>
          <p:nvSpPr>
            <p:cNvPr id="35" name="Oval 19">
              <a:extLst>
                <a:ext uri="{FF2B5EF4-FFF2-40B4-BE49-F238E27FC236}">
                  <a16:creationId xmlns:a16="http://schemas.microsoft.com/office/drawing/2014/main" id="{F5032697-840C-F149-A5BA-7F52E4FE4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669"/>
              <a:ext cx="58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" name="Oval 20">
              <a:extLst>
                <a:ext uri="{FF2B5EF4-FFF2-40B4-BE49-F238E27FC236}">
                  <a16:creationId xmlns:a16="http://schemas.microsoft.com/office/drawing/2014/main" id="{C4AAFBAD-816F-7A43-B25C-E53777040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878"/>
              <a:ext cx="58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" name="Oval 21">
              <a:extLst>
                <a:ext uri="{FF2B5EF4-FFF2-40B4-BE49-F238E27FC236}">
                  <a16:creationId xmlns:a16="http://schemas.microsoft.com/office/drawing/2014/main" id="{5850FD94-FDCD-5548-A9C8-D36B32EB2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1" y="2223"/>
              <a:ext cx="58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" name="Oval 22">
              <a:extLst>
                <a:ext uri="{FF2B5EF4-FFF2-40B4-BE49-F238E27FC236}">
                  <a16:creationId xmlns:a16="http://schemas.microsoft.com/office/drawing/2014/main" id="{AE113748-8CF1-3B48-9D91-83D49043F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3" y="2662"/>
              <a:ext cx="58" cy="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9" name="Oval 23">
              <a:extLst>
                <a:ext uri="{FF2B5EF4-FFF2-40B4-BE49-F238E27FC236}">
                  <a16:creationId xmlns:a16="http://schemas.microsoft.com/office/drawing/2014/main" id="{B28B3E0C-4D7F-E24D-B716-4596F7686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797"/>
              <a:ext cx="58" cy="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" name="Oval 24">
              <a:extLst>
                <a:ext uri="{FF2B5EF4-FFF2-40B4-BE49-F238E27FC236}">
                  <a16:creationId xmlns:a16="http://schemas.microsoft.com/office/drawing/2014/main" id="{9DABAC75-A90A-FD4D-97CF-07EC4B8E3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1878"/>
              <a:ext cx="57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" name="Oval 25">
              <a:extLst>
                <a:ext uri="{FF2B5EF4-FFF2-40B4-BE49-F238E27FC236}">
                  <a16:creationId xmlns:a16="http://schemas.microsoft.com/office/drawing/2014/main" id="{E662188D-858C-D54B-9811-1972318A8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1" y="2413"/>
              <a:ext cx="58" cy="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" name="Oval 26">
              <a:extLst>
                <a:ext uri="{FF2B5EF4-FFF2-40B4-BE49-F238E27FC236}">
                  <a16:creationId xmlns:a16="http://schemas.microsoft.com/office/drawing/2014/main" id="{C51E4510-8145-E743-A59D-F04750756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5" y="1694"/>
              <a:ext cx="58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" name="Line 28">
              <a:extLst>
                <a:ext uri="{FF2B5EF4-FFF2-40B4-BE49-F238E27FC236}">
                  <a16:creationId xmlns:a16="http://schemas.microsoft.com/office/drawing/2014/main" id="{DB09D588-944B-B844-A579-4C984D8DA9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1" y="1713"/>
              <a:ext cx="448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Box 29">
              <a:extLst>
                <a:ext uri="{FF2B5EF4-FFF2-40B4-BE49-F238E27FC236}">
                  <a16:creationId xmlns:a16="http://schemas.microsoft.com/office/drawing/2014/main" id="{9ABA23A1-BF84-BA4A-BBAE-5A76374BA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6" y="1582"/>
              <a:ext cx="244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46" name="Oval 30">
              <a:extLst>
                <a:ext uri="{FF2B5EF4-FFF2-40B4-BE49-F238E27FC236}">
                  <a16:creationId xmlns:a16="http://schemas.microsoft.com/office/drawing/2014/main" id="{E59F5D31-8D7C-4B40-AB6E-A6F923EB8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1682"/>
              <a:ext cx="58" cy="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266A44FA-5A04-4D45-A0B6-017AAC3CBC52}"/>
              </a:ext>
            </a:extLst>
          </p:cNvPr>
          <p:cNvSpPr txBox="1"/>
          <p:nvPr/>
        </p:nvSpPr>
        <p:spPr>
          <a:xfrm>
            <a:off x="2129393" y="5013371"/>
            <a:ext cx="3360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1: adding a vertex and an edge, region not changed.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B7BB18-5CAF-BA4C-AA14-080769DACA3B}"/>
              </a:ext>
            </a:extLst>
          </p:cNvPr>
          <p:cNvSpPr txBox="1"/>
          <p:nvPr/>
        </p:nvSpPr>
        <p:spPr>
          <a:xfrm>
            <a:off x="6411289" y="4935366"/>
            <a:ext cx="3360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2: adding an edge to two existing vertices, regions will be incremented by 1.</a:t>
            </a:r>
          </a:p>
        </p:txBody>
      </p:sp>
    </p:spTree>
    <p:extLst>
      <p:ext uri="{BB962C8B-B14F-4D97-AF65-F5344CB8AC3E}">
        <p14:creationId xmlns:p14="http://schemas.microsoft.com/office/powerpoint/2010/main" val="3009220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8F7DB7-ADD4-6441-9E3A-5087D075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Corollaries of Euler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DE79EAA-91A7-404F-A231-0C1DC740E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Corollary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lang="en-US" dirty="0"/>
                  <a:t>. This inequality is based on the following fact:</a:t>
                </a:r>
              </a:p>
              <a:p>
                <a:pPr lvl="1"/>
                <a:r>
                  <a:rPr lang="en-US" dirty="0"/>
                  <a:t>Each region is bounded by at least three edges</a:t>
                </a:r>
              </a:p>
              <a:p>
                <a:pPr lvl="1"/>
                <a:r>
                  <a:rPr lang="en-US" dirty="0"/>
                  <a:t>Each edge contributes twice as bounding edges to two neighboring regions</a:t>
                </a:r>
              </a:p>
              <a:p>
                <a:pPr lvl="1"/>
                <a:r>
                  <a:rPr lang="en-US" dirty="0"/>
                  <a:t>Therefore: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or 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, substituting this into Euler formula, we have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Corollary 2: for bipartite planar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US" dirty="0"/>
                  <a:t>. This can be proven by noticing that for regions of a bipartite graph mush be bounded by at least 4 edges, therefore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. Substituting into Euler formula, we will have the inequality.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DE79EAA-91A7-404F-A231-0C1DC740E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04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082" name="Rectangle 2">
                <a:extLst>
                  <a:ext uri="{FF2B5EF4-FFF2-40B4-BE49-F238E27FC236}">
                    <a16:creationId xmlns:a16="http://schemas.microsoft.com/office/drawing/2014/main" id="{F0FCF503-71FE-C544-9FF1-55858AD2382A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>
                    <a:ea typeface="ＭＳ Ｐゴシック" panose="020B0600070205080204" pitchFamily="34" charset="-128"/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cannot be planar</a:t>
                </a:r>
              </a:p>
            </p:txBody>
          </p:sp>
        </mc:Choice>
        <mc:Fallback xmlns="">
          <p:sp>
            <p:nvSpPr>
              <p:cNvPr id="46082" name="Rectangle 2">
                <a:extLst>
                  <a:ext uri="{FF2B5EF4-FFF2-40B4-BE49-F238E27FC236}">
                    <a16:creationId xmlns:a16="http://schemas.microsoft.com/office/drawing/2014/main" id="{F0FCF503-71FE-C544-9FF1-55858AD238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15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83" name="Rectangle 3">
                <a:extLst>
                  <a:ext uri="{FF2B5EF4-FFF2-40B4-BE49-F238E27FC236}">
                    <a16:creationId xmlns:a16="http://schemas.microsoft.com/office/drawing/2014/main" id="{36ED6240-D630-C143-BA49-B4F58C84893F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718956" y="1249362"/>
                <a:ext cx="6858000" cy="5334000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eaLnBrk="1" hangingPunct="1"/>
                <a:r>
                  <a:rPr lang="en-US" altLang="en-US" dirty="0">
                    <a:ea typeface="ＭＳ Ｐゴシック" panose="020B0600070205080204" pitchFamily="34" charset="-128"/>
                  </a:rPr>
                  <a:t>Corollary: If G is a connected planar </a:t>
                </a:r>
              </a:p>
              <a:p>
                <a:pPr eaLnBrk="1" hangingPunct="1">
                  <a:buFontTx/>
                  <a:buNone/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graph with 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e</a:t>
                </a:r>
                <a:r>
                  <a:rPr lang="en-US" altLang="en-US" dirty="0">
                    <a:ea typeface="ＭＳ Ｐゴシック" panose="020B0600070205080204" pitchFamily="34" charset="-128"/>
                  </a:rPr>
                  <a:t> &gt; 1, then 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e </a:t>
                </a:r>
                <a:r>
                  <a:rPr lang="en-US" altLang="en-US" dirty="0">
                    <a:ea typeface="ＭＳ Ｐゴシック" panose="020B0600070205080204" pitchFamily="34" charset="-128"/>
                  </a:rPr>
                  <a:t>≤ 3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v </a:t>
                </a:r>
                <a:r>
                  <a:rPr lang="en-US" altLang="en-US" dirty="0">
                    <a:ea typeface="ＭＳ Ｐゴシック" panose="020B0600070205080204" pitchFamily="34" charset="-128"/>
                  </a:rPr>
                  <a:t>– 6</a:t>
                </a:r>
              </a:p>
              <a:p>
                <a:pPr eaLnBrk="1" hangingPunct="1"/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eaLnBrk="1" hangingPunct="1"/>
                <a:r>
                  <a:rPr lang="en-US" altLang="en-US" dirty="0">
                    <a:ea typeface="ＭＳ Ｐゴシック" panose="020B0600070205080204" pitchFamily="34" charset="-128"/>
                  </a:rPr>
                  <a:t>Use the Corollary.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has 5 vertices and 10 edges. Thus, we have 3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v</a:t>
                </a:r>
                <a:r>
                  <a:rPr lang="en-US" altLang="en-US" dirty="0">
                    <a:ea typeface="ＭＳ Ｐゴシック" panose="020B0600070205080204" pitchFamily="34" charset="-128"/>
                  </a:rPr>
                  <a:t> – 6 = 3 x 5 – 6 = 9. This violates corollary 1 of Euler formula. 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𝐾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cannot be planar.</a:t>
                </a:r>
              </a:p>
            </p:txBody>
          </p:sp>
        </mc:Choice>
        <mc:Fallback xmlns="">
          <p:sp>
            <p:nvSpPr>
              <p:cNvPr id="46083" name="Rectangle 3">
                <a:extLst>
                  <a:ext uri="{FF2B5EF4-FFF2-40B4-BE49-F238E27FC236}">
                    <a16:creationId xmlns:a16="http://schemas.microsoft.com/office/drawing/2014/main" id="{36ED6240-D630-C143-BA49-B4F58C848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718956" y="1249362"/>
                <a:ext cx="6858000" cy="5334000"/>
              </a:xfrm>
              <a:blipFill>
                <a:blip r:embed="rId3"/>
                <a:stretch>
                  <a:fillRect l="-1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086" name="Group 7">
            <a:extLst>
              <a:ext uri="{FF2B5EF4-FFF2-40B4-BE49-F238E27FC236}">
                <a16:creationId xmlns:a16="http://schemas.microsoft.com/office/drawing/2014/main" id="{3BB4C7E9-B78F-1944-B696-F74D52E46CD4}"/>
              </a:ext>
            </a:extLst>
          </p:cNvPr>
          <p:cNvGrpSpPr>
            <a:grpSpLocks/>
          </p:cNvGrpSpPr>
          <p:nvPr/>
        </p:nvGrpSpPr>
        <p:grpSpPr bwMode="auto">
          <a:xfrm>
            <a:off x="7943210" y="1639049"/>
            <a:ext cx="3065463" cy="2978150"/>
            <a:chOff x="3829" y="916"/>
            <a:chExt cx="1931" cy="1876"/>
          </a:xfrm>
        </p:grpSpPr>
        <p:grpSp>
          <p:nvGrpSpPr>
            <p:cNvPr id="46090" name="Group 8">
              <a:extLst>
                <a:ext uri="{FF2B5EF4-FFF2-40B4-BE49-F238E27FC236}">
                  <a16:creationId xmlns:a16="http://schemas.microsoft.com/office/drawing/2014/main" id="{FD959CB3-42E6-9D46-AF8E-F52ACF1914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960"/>
              <a:ext cx="1872" cy="1776"/>
              <a:chOff x="3360" y="1248"/>
              <a:chExt cx="1872" cy="1776"/>
            </a:xfrm>
          </p:grpSpPr>
          <p:sp>
            <p:nvSpPr>
              <p:cNvPr id="46096" name="AutoShape 9">
                <a:extLst>
                  <a:ext uri="{FF2B5EF4-FFF2-40B4-BE49-F238E27FC236}">
                    <a16:creationId xmlns:a16="http://schemas.microsoft.com/office/drawing/2014/main" id="{80D7A580-680E-CB48-B3D4-545E65AE4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248"/>
                <a:ext cx="1872" cy="1776"/>
              </a:xfrm>
              <a:prstGeom prst="pentag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6097" name="Line 10">
                <a:extLst>
                  <a:ext uri="{FF2B5EF4-FFF2-40B4-BE49-F238E27FC236}">
                    <a16:creationId xmlns:a16="http://schemas.microsoft.com/office/drawing/2014/main" id="{81E03A4E-2174-654E-B3F3-558A0C6EE0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248"/>
                <a:ext cx="576" cy="17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8" name="Line 11">
                <a:extLst>
                  <a:ext uri="{FF2B5EF4-FFF2-40B4-BE49-F238E27FC236}">
                    <a16:creationId xmlns:a16="http://schemas.microsoft.com/office/drawing/2014/main" id="{91A13114-A866-294A-9F83-3C1862590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4" y="1248"/>
                <a:ext cx="528" cy="17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99" name="Line 12">
                <a:extLst>
                  <a:ext uri="{FF2B5EF4-FFF2-40B4-BE49-F238E27FC236}">
                    <a16:creationId xmlns:a16="http://schemas.microsoft.com/office/drawing/2014/main" id="{FB867C49-4942-5D4E-AF8C-4862EBEC0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920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00" name="Line 13">
                <a:extLst>
                  <a:ext uri="{FF2B5EF4-FFF2-40B4-BE49-F238E27FC236}">
                    <a16:creationId xmlns:a16="http://schemas.microsoft.com/office/drawing/2014/main" id="{A09EDAC1-E602-C34E-B72F-FEADAD9026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60" y="1920"/>
                <a:ext cx="1488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01" name="Line 14">
                <a:extLst>
                  <a:ext uri="{FF2B5EF4-FFF2-40B4-BE49-F238E27FC236}">
                    <a16:creationId xmlns:a16="http://schemas.microsoft.com/office/drawing/2014/main" id="{CBA6BB63-4963-334E-B9FF-A0097BF19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4" y="1920"/>
                <a:ext cx="1488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6091" name="Oval 15">
              <a:extLst>
                <a:ext uri="{FF2B5EF4-FFF2-40B4-BE49-F238E27FC236}">
                  <a16:creationId xmlns:a16="http://schemas.microsoft.com/office/drawing/2014/main" id="{8F005D34-0099-5A4B-A367-45398167A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0" y="267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2" name="Oval 16">
              <a:extLst>
                <a:ext uri="{FF2B5EF4-FFF2-40B4-BE49-F238E27FC236}">
                  <a16:creationId xmlns:a16="http://schemas.microsoft.com/office/drawing/2014/main" id="{8E13E40B-FFDD-564D-A879-7CFA15A08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6" y="9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3" name="Oval 17">
              <a:extLst>
                <a:ext uri="{FF2B5EF4-FFF2-40B4-BE49-F238E27FC236}">
                  <a16:creationId xmlns:a16="http://schemas.microsoft.com/office/drawing/2014/main" id="{33CDA000-1F92-D347-9A9D-F9B571E9A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" y="156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4" name="Oval 18">
              <a:extLst>
                <a:ext uri="{FF2B5EF4-FFF2-40B4-BE49-F238E27FC236}">
                  <a16:creationId xmlns:a16="http://schemas.microsoft.com/office/drawing/2014/main" id="{8DCB0783-A4C1-384F-AFBE-F27E24109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2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5" name="Oval 19">
              <a:extLst>
                <a:ext uri="{FF2B5EF4-FFF2-40B4-BE49-F238E27FC236}">
                  <a16:creationId xmlns:a16="http://schemas.microsoft.com/office/drawing/2014/main" id="{FD6E682E-665D-C74B-8BBD-651B287A9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4" y="159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2113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25DB0A-27E2-CC42-80AE-1E03DD769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Summary of previous class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A667C49-1ED7-A648-BDAA-8824C80CC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8222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Planar graph, if there exists one depiction with no edge intersection.</a:t>
                </a:r>
              </a:p>
              <a:p>
                <a:r>
                  <a:rPr lang="en-US" dirty="0"/>
                  <a:t>Determination of planar graph: circle-chord method</a:t>
                </a:r>
              </a:p>
              <a:p>
                <a:r>
                  <a:rPr lang="en-US" dirty="0"/>
                  <a:t>Euler formula: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Corollary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lang="en-US" dirty="0"/>
                  <a:t> for simple planar graph</a:t>
                </a:r>
              </a:p>
              <a:p>
                <a:r>
                  <a:rPr lang="en-US" dirty="0"/>
                  <a:t>Corollary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−4 </m:t>
                    </m:r>
                  </m:oMath>
                </a14:m>
                <a:r>
                  <a:rPr lang="en-US" dirty="0"/>
                  <a:t>for bipartite planar graph</a:t>
                </a:r>
              </a:p>
              <a:p>
                <a:r>
                  <a:rPr lang="en-US" dirty="0"/>
                  <a:t>Minimum complete nonplanar graph: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Minimum complete bipartite nonplanar graph: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dirty="0"/>
                  <a:t> configurations.</a:t>
                </a:r>
              </a:p>
              <a:p>
                <a:r>
                  <a:rPr lang="en-US" dirty="0"/>
                  <a:t>Inductive method for proof.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A667C49-1ED7-A648-BDAA-8824C80CC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8222"/>
                <a:ext cx="10515600" cy="4351338"/>
              </a:xfrm>
              <a:blipFill>
                <a:blip r:embed="rId2"/>
                <a:stretch>
                  <a:fillRect l="-928" t="-2101" b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570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36849C-8B3B-1342-872B-EA594BB7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Is the following graph planar?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FC52A-CE5D-F445-937A-90FEFED0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193" y="2303765"/>
            <a:ext cx="5599443" cy="249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16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36849C-8B3B-1342-872B-EA594BB7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Is the following graph planar?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1DD058-DFE3-F64D-AF05-CEFEEC9EB8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288" t="372" r="-1289" b="28063"/>
          <a:stretch/>
        </p:blipFill>
        <p:spPr>
          <a:xfrm>
            <a:off x="4520629" y="2332037"/>
            <a:ext cx="3150742" cy="24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08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9BEDC6-933B-4C4B-8604-E5B52D14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Theorem: every connected planar graph has at least one vertex with degree five or less.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FF819C5-D192-B641-9BF0-16AD0BEB1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Proof by contradiction:</a:t>
                </a:r>
              </a:p>
              <a:p>
                <a:pPr lvl="1"/>
                <a:r>
                  <a:rPr lang="en-US" dirty="0"/>
                  <a:t>Assume the opposite: all vertices have degree six or more.</a:t>
                </a:r>
              </a:p>
              <a:p>
                <a:pPr lvl="1"/>
                <a:r>
                  <a:rPr lang="en-US" dirty="0"/>
                  <a:t>Then the total number of degrees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means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≥6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from the corollary of Euler formula, we must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These two inequalities are contradictory, therefore the assumption is false.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FF819C5-D192-B641-9BF0-16AD0BEB1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776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1230</Words>
  <Application>Microsoft Office PowerPoint</Application>
  <PresentationFormat>宽屏</PresentationFormat>
  <Paragraphs>233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ＭＳ Ｐゴシック</vt:lpstr>
      <vt:lpstr>等线</vt:lpstr>
      <vt:lpstr>等线 Light</vt:lpstr>
      <vt:lpstr>Arial</vt:lpstr>
      <vt:lpstr>Cambria Math</vt:lpstr>
      <vt:lpstr>Times New Roman</vt:lpstr>
      <vt:lpstr>Office 主题​​</vt:lpstr>
      <vt:lpstr>Edge Counting</vt:lpstr>
      <vt:lpstr>Impossible graphs</vt:lpstr>
      <vt:lpstr>Some edge counting problems</vt:lpstr>
      <vt:lpstr>Some edge counting problems</vt:lpstr>
      <vt:lpstr>Circuits in bipartite graph</vt:lpstr>
      <vt:lpstr>Circuits in bipartite graph</vt:lpstr>
      <vt:lpstr>The Mountain Climbers Puzzle </vt:lpstr>
      <vt:lpstr>Planar Graphs</vt:lpstr>
      <vt:lpstr>Circle-Chord Method (a method to determine if a graph is planar)</vt:lpstr>
      <vt:lpstr> Example: K_33 is Nonplanar</vt:lpstr>
      <vt:lpstr> Example: K_4is planar, 〖 K〗_5 is Nonplanar</vt:lpstr>
      <vt:lpstr>Exercise: Is this graph planar?</vt:lpstr>
      <vt:lpstr>Exercise (continued)</vt:lpstr>
      <vt:lpstr>        The K_3,3 Configuration</vt:lpstr>
      <vt:lpstr>Example of a K_3,3 configuration</vt:lpstr>
      <vt:lpstr>Example </vt:lpstr>
      <vt:lpstr>PowerPoint 演示文稿</vt:lpstr>
      <vt:lpstr>Theorem (Kuratowski, 1930)</vt:lpstr>
      <vt:lpstr>A K_5 configuration</vt:lpstr>
      <vt:lpstr>Euler Formula</vt:lpstr>
      <vt:lpstr>The method to prove Euler formula: Inductive method</vt:lpstr>
      <vt:lpstr>PowerPoint 演示文稿</vt:lpstr>
      <vt:lpstr>Corollaries of Euler formula</vt:lpstr>
      <vt:lpstr>Example: K_5 cannot be planar</vt:lpstr>
      <vt:lpstr>Summary of previous class</vt:lpstr>
      <vt:lpstr>Is the following graph planar?</vt:lpstr>
      <vt:lpstr>Is the following graph planar?</vt:lpstr>
      <vt:lpstr>Theorem: every connected planar graph has at least one vertex with degree five or less.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Counting</dc:title>
  <dc:creator>xing</dc:creator>
  <cp:lastModifiedBy>xing</cp:lastModifiedBy>
  <cp:revision>1</cp:revision>
  <dcterms:created xsi:type="dcterms:W3CDTF">2025-09-11T01:31:02Z</dcterms:created>
  <dcterms:modified xsi:type="dcterms:W3CDTF">2025-09-11T01:31:10Z</dcterms:modified>
</cp:coreProperties>
</file>