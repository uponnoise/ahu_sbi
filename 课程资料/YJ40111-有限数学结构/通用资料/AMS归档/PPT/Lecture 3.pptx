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tiff" ContentType="image/tif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11.emf"/><Relationship Id="rId2" Type="http://schemas.openxmlformats.org/officeDocument/2006/relationships/image" Target="../media/image6.emf"/><Relationship Id="rId1" Type="http://schemas.openxmlformats.org/officeDocument/2006/relationships/image" Target="../media/image5.emf"/><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emf"/><Relationship Id="rId7" Type="http://schemas.openxmlformats.org/officeDocument/2006/relationships/image" Target="../media/image26.emf"/><Relationship Id="rId2" Type="http://schemas.openxmlformats.org/officeDocument/2006/relationships/image" Target="../media/image21.emf"/><Relationship Id="rId1" Type="http://schemas.openxmlformats.org/officeDocument/2006/relationships/image" Target="../media/image18.emf"/><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23.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2.emf"/><Relationship Id="rId7" Type="http://schemas.openxmlformats.org/officeDocument/2006/relationships/image" Target="../media/image32.emf"/><Relationship Id="rId2" Type="http://schemas.openxmlformats.org/officeDocument/2006/relationships/image" Target="../media/image28.emf"/><Relationship Id="rId1" Type="http://schemas.openxmlformats.org/officeDocument/2006/relationships/image" Target="../media/image27.emf"/><Relationship Id="rId6" Type="http://schemas.openxmlformats.org/officeDocument/2006/relationships/image" Target="../media/image31.emf"/><Relationship Id="rId5" Type="http://schemas.openxmlformats.org/officeDocument/2006/relationships/image" Target="../media/image30.emf"/><Relationship Id="rId4" Type="http://schemas.openxmlformats.org/officeDocument/2006/relationships/image" Target="../media/image2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18EF60-9164-47E3-AC60-961762D667E8}" type="datetimeFigureOut">
              <a:rPr lang="zh-CN" altLang="en-US" smtClean="0"/>
              <a:t>2025/9/18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41B1E-DB1D-4F00-8DAA-039E92FCB95B}" type="slidenum">
              <a:rPr lang="zh-CN" altLang="en-US" smtClean="0"/>
              <a:t>‹#›</a:t>
            </a:fld>
            <a:endParaRPr lang="zh-CN" altLang="en-US"/>
          </a:p>
        </p:txBody>
      </p:sp>
    </p:spTree>
    <p:extLst>
      <p:ext uri="{BB962C8B-B14F-4D97-AF65-F5344CB8AC3E}">
        <p14:creationId xmlns:p14="http://schemas.microsoft.com/office/powerpoint/2010/main" val="1972388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6">
            <a:extLst>
              <a:ext uri="{FF2B5EF4-FFF2-40B4-BE49-F238E27FC236}">
                <a16:creationId xmlns:a16="http://schemas.microsoft.com/office/drawing/2014/main" id="{B04E2343-3C19-6544-A758-D2C003F139EE}"/>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r>
              <a:rPr lang="en-US" altLang="en-US"/>
              <a:t>Section 2.1</a:t>
            </a:r>
          </a:p>
        </p:txBody>
      </p:sp>
      <p:sp>
        <p:nvSpPr>
          <p:cNvPr id="17410" name="Rectangle 7">
            <a:extLst>
              <a:ext uri="{FF2B5EF4-FFF2-40B4-BE49-F238E27FC236}">
                <a16:creationId xmlns:a16="http://schemas.microsoft.com/office/drawing/2014/main" id="{5169F84E-0574-F84B-AAFC-AECC0E3DE4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B3E02808-C049-1045-8315-76AE375C1D44}" type="slidenum">
              <a:rPr lang="en-US" altLang="en-US" smtClean="0"/>
              <a:pPr>
                <a:spcBef>
                  <a:spcPct val="0"/>
                </a:spcBef>
              </a:pPr>
              <a:t>1</a:t>
            </a:fld>
            <a:endParaRPr lang="en-US" altLang="en-US"/>
          </a:p>
        </p:txBody>
      </p:sp>
      <p:sp>
        <p:nvSpPr>
          <p:cNvPr id="17411" name="Rectangle 2">
            <a:extLst>
              <a:ext uri="{FF2B5EF4-FFF2-40B4-BE49-F238E27FC236}">
                <a16:creationId xmlns:a16="http://schemas.microsoft.com/office/drawing/2014/main" id="{96030F72-CF2B-5048-8BC1-C48C3CFB8C9E}"/>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1C5BAE9-2B75-E546-BBF6-5CEDC6188E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66197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34A94A01-4B3B-3C4F-86FB-A3F81D2F9603}"/>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46885CF0-A11B-864A-A174-774D15BD6F6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A4DBCA48-D680-EA4A-A9AF-B1D1674AE06B}"/>
              </a:ext>
            </a:extLst>
          </p:cNvPr>
          <p:cNvSpPr>
            <a:spLocks noGrp="1"/>
          </p:cNvSpPr>
          <p:nvPr>
            <p:ph type="ftr" sz="quarter" idx="4"/>
          </p:nvPr>
        </p:nvSpPr>
        <p:spPr/>
        <p:txBody>
          <a:bodyPr/>
          <a:lstStyle/>
          <a:p>
            <a:pPr>
              <a:defRPr/>
            </a:pPr>
            <a:r>
              <a:rPr lang="en-US"/>
              <a:t>Section 2.1</a:t>
            </a:r>
          </a:p>
        </p:txBody>
      </p:sp>
      <p:sp>
        <p:nvSpPr>
          <p:cNvPr id="33796" name="Slide Number Placeholder 4">
            <a:extLst>
              <a:ext uri="{FF2B5EF4-FFF2-40B4-BE49-F238E27FC236}">
                <a16:creationId xmlns:a16="http://schemas.microsoft.com/office/drawing/2014/main" id="{6FB65EC3-0A81-664C-898F-83C7415A25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ＭＳ Ｐゴシック" panose="020B0600070205080204" pitchFamily="34" charset="-128"/>
              </a:defRPr>
            </a:lvl1pPr>
            <a:lvl2pPr marL="742950" indent="-285750">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fld id="{6534A08B-9BBB-E34E-9FC9-C54698440C6C}" type="slidenum">
              <a:rPr lang="en-US" altLang="en-US" smtClean="0">
                <a:latin typeface="Arial" panose="020B0604020202020204" pitchFamily="34" charset="0"/>
              </a:rPr>
              <a:pPr/>
              <a:t>16</a:t>
            </a:fld>
            <a:endParaRPr lang="en-US" altLang="en-US">
              <a:latin typeface="Arial" panose="020B0604020202020204" pitchFamily="34" charset="0"/>
            </a:endParaRPr>
          </a:p>
        </p:txBody>
      </p:sp>
    </p:spTree>
    <p:extLst>
      <p:ext uri="{BB962C8B-B14F-4D97-AF65-F5344CB8AC3E}">
        <p14:creationId xmlns:p14="http://schemas.microsoft.com/office/powerpoint/2010/main" val="3017790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a:defRPr/>
            </a:pPr>
            <a:r>
              <a:rPr lang="en-US"/>
              <a:t>Section 2.1</a:t>
            </a:r>
          </a:p>
        </p:txBody>
      </p:sp>
      <p:sp>
        <p:nvSpPr>
          <p:cNvPr id="5" name="Slide Number Placeholder 4"/>
          <p:cNvSpPr>
            <a:spLocks noGrp="1"/>
          </p:cNvSpPr>
          <p:nvPr>
            <p:ph type="sldNum" sz="quarter" idx="5"/>
          </p:nvPr>
        </p:nvSpPr>
        <p:spPr/>
        <p:txBody>
          <a:bodyPr/>
          <a:lstStyle/>
          <a:p>
            <a:pPr>
              <a:defRPr/>
            </a:pPr>
            <a:fld id="{6020B201-8624-8F4F-9021-E49739BFCD18}" type="slidenum">
              <a:rPr lang="en-US" altLang="en-US" smtClean="0"/>
              <a:pPr>
                <a:defRPr/>
              </a:pPr>
              <a:t>40</a:t>
            </a:fld>
            <a:endParaRPr lang="en-US" altLang="en-US"/>
          </a:p>
        </p:txBody>
      </p:sp>
    </p:spTree>
    <p:extLst>
      <p:ext uri="{BB962C8B-B14F-4D97-AF65-F5344CB8AC3E}">
        <p14:creationId xmlns:p14="http://schemas.microsoft.com/office/powerpoint/2010/main" val="2595398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a:defRPr/>
            </a:pPr>
            <a:r>
              <a:rPr lang="en-US"/>
              <a:t>Section 2.1</a:t>
            </a:r>
          </a:p>
        </p:txBody>
      </p:sp>
      <p:sp>
        <p:nvSpPr>
          <p:cNvPr id="5" name="Slide Number Placeholder 4"/>
          <p:cNvSpPr>
            <a:spLocks noGrp="1"/>
          </p:cNvSpPr>
          <p:nvPr>
            <p:ph type="sldNum" sz="quarter" idx="5"/>
          </p:nvPr>
        </p:nvSpPr>
        <p:spPr/>
        <p:txBody>
          <a:bodyPr/>
          <a:lstStyle/>
          <a:p>
            <a:pPr>
              <a:defRPr/>
            </a:pPr>
            <a:fld id="{6020B201-8624-8F4F-9021-E49739BFCD18}" type="slidenum">
              <a:rPr lang="en-US" altLang="en-US" smtClean="0"/>
              <a:pPr>
                <a:defRPr/>
              </a:pPr>
              <a:t>43</a:t>
            </a:fld>
            <a:endParaRPr lang="en-US" altLang="en-US"/>
          </a:p>
        </p:txBody>
      </p:sp>
    </p:spTree>
    <p:extLst>
      <p:ext uri="{BB962C8B-B14F-4D97-AF65-F5344CB8AC3E}">
        <p14:creationId xmlns:p14="http://schemas.microsoft.com/office/powerpoint/2010/main" val="3884201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a:defRPr/>
            </a:pPr>
            <a:r>
              <a:rPr lang="en-US"/>
              <a:t>Section 2.1</a:t>
            </a:r>
          </a:p>
        </p:txBody>
      </p:sp>
      <p:sp>
        <p:nvSpPr>
          <p:cNvPr id="5" name="Slide Number Placeholder 4"/>
          <p:cNvSpPr>
            <a:spLocks noGrp="1"/>
          </p:cNvSpPr>
          <p:nvPr>
            <p:ph type="sldNum" sz="quarter" idx="5"/>
          </p:nvPr>
        </p:nvSpPr>
        <p:spPr/>
        <p:txBody>
          <a:bodyPr/>
          <a:lstStyle/>
          <a:p>
            <a:pPr>
              <a:defRPr/>
            </a:pPr>
            <a:fld id="{6020B201-8624-8F4F-9021-E49739BFCD18}" type="slidenum">
              <a:rPr lang="en-US" altLang="en-US" smtClean="0"/>
              <a:pPr>
                <a:defRPr/>
              </a:pPr>
              <a:t>47</a:t>
            </a:fld>
            <a:endParaRPr lang="en-US" altLang="en-US"/>
          </a:p>
        </p:txBody>
      </p:sp>
    </p:spTree>
    <p:extLst>
      <p:ext uri="{BB962C8B-B14F-4D97-AF65-F5344CB8AC3E}">
        <p14:creationId xmlns:p14="http://schemas.microsoft.com/office/powerpoint/2010/main" val="446157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a:defRPr/>
            </a:pPr>
            <a:r>
              <a:rPr lang="en-US"/>
              <a:t>Section 2.1</a:t>
            </a:r>
          </a:p>
        </p:txBody>
      </p:sp>
      <p:sp>
        <p:nvSpPr>
          <p:cNvPr id="5" name="Slide Number Placeholder 4"/>
          <p:cNvSpPr>
            <a:spLocks noGrp="1"/>
          </p:cNvSpPr>
          <p:nvPr>
            <p:ph type="sldNum" sz="quarter" idx="5"/>
          </p:nvPr>
        </p:nvSpPr>
        <p:spPr/>
        <p:txBody>
          <a:bodyPr/>
          <a:lstStyle/>
          <a:p>
            <a:pPr>
              <a:defRPr/>
            </a:pPr>
            <a:fld id="{6020B201-8624-8F4F-9021-E49739BFCD18}" type="slidenum">
              <a:rPr lang="en-US" altLang="en-US" smtClean="0"/>
              <a:pPr>
                <a:defRPr/>
              </a:pPr>
              <a:t>48</a:t>
            </a:fld>
            <a:endParaRPr lang="en-US" altLang="en-US"/>
          </a:p>
        </p:txBody>
      </p:sp>
    </p:spTree>
    <p:extLst>
      <p:ext uri="{BB962C8B-B14F-4D97-AF65-F5344CB8AC3E}">
        <p14:creationId xmlns:p14="http://schemas.microsoft.com/office/powerpoint/2010/main" val="4200987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7266086B-EC1A-4008-BEDC-BCAEA6EDDD16}"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2819670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266086B-EC1A-4008-BEDC-BCAEA6EDDD16}"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2985808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7266086B-EC1A-4008-BEDC-BCAEA6EDDD16}"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276981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266086B-EC1A-4008-BEDC-BCAEA6EDDD16}" type="datetimeFigureOut">
              <a:rPr lang="zh-CN" altLang="en-US" smtClean="0"/>
              <a:t>2025/9/18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2770059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266086B-EC1A-4008-BEDC-BCAEA6EDDD16}" type="datetimeFigureOut">
              <a:rPr lang="zh-CN" altLang="en-US" smtClean="0"/>
              <a:t>2025/9/18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3609371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266086B-EC1A-4008-BEDC-BCAEA6EDDD16}" type="datetimeFigureOut">
              <a:rPr lang="zh-CN" altLang="en-US" smtClean="0"/>
              <a:t>2025/9/18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3113746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266086B-EC1A-4008-BEDC-BCAEA6EDDD16}" type="datetimeFigureOut">
              <a:rPr lang="zh-CN" altLang="en-US" smtClean="0"/>
              <a:t>2025/9/18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2271013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7266086B-EC1A-4008-BEDC-BCAEA6EDDD16}" type="datetimeFigureOut">
              <a:rPr lang="zh-CN" altLang="en-US" smtClean="0"/>
              <a:t>2025/9/18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167950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7266086B-EC1A-4008-BEDC-BCAEA6EDDD16}" type="datetimeFigureOut">
              <a:rPr lang="zh-CN" altLang="en-US" smtClean="0"/>
              <a:t>2025/9/18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527463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266086B-EC1A-4008-BEDC-BCAEA6EDDD16}"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301676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266086B-EC1A-4008-BEDC-BCAEA6EDDD16}" type="datetimeFigureOut">
              <a:rPr lang="zh-CN" altLang="en-US" smtClean="0"/>
              <a:t>2025/9/18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3312780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1540503-D6FC-D841-9630-210F353F300D}"/>
              </a:ext>
            </a:extLst>
          </p:cNvPr>
          <p:cNvSpPr>
            <a:spLocks noGrp="1" noChangeArrowheads="1"/>
          </p:cNvSpPr>
          <p:nvPr>
            <p:ph type="dt" sz="half" idx="10"/>
          </p:nvPr>
        </p:nvSpPr>
        <p:spPr>
          <a:ln/>
        </p:spPr>
        <p:txBody>
          <a:bodyPr/>
          <a:lstStyle>
            <a:lvl1pPr>
              <a:defRPr/>
            </a:lvl1pPr>
          </a:lstStyle>
          <a:p>
            <a:pPr>
              <a:defRPr/>
            </a:pPr>
            <a:fld id="{BD444B32-22CE-4A4E-8174-FF1003031F95}" type="datetime1">
              <a:rPr lang="en-US" altLang="en-US"/>
              <a:pPr>
                <a:defRPr/>
              </a:pPr>
              <a:t>9/18/2025</a:t>
            </a:fld>
            <a:endParaRPr lang="en-US" altLang="en-US"/>
          </a:p>
        </p:txBody>
      </p:sp>
      <p:sp>
        <p:nvSpPr>
          <p:cNvPr id="6" name="Rectangle 5">
            <a:extLst>
              <a:ext uri="{FF2B5EF4-FFF2-40B4-BE49-F238E27FC236}">
                <a16:creationId xmlns:a16="http://schemas.microsoft.com/office/drawing/2014/main" id="{8E72947F-9AFC-7F45-AC6C-67B3B21A903E}"/>
              </a:ext>
            </a:extLst>
          </p:cNvPr>
          <p:cNvSpPr>
            <a:spLocks noGrp="1" noChangeArrowheads="1"/>
          </p:cNvSpPr>
          <p:nvPr>
            <p:ph type="ftr" sz="quarter" idx="11"/>
          </p:nvPr>
        </p:nvSpPr>
        <p:spPr>
          <a:ln/>
        </p:spPr>
        <p:txBody>
          <a:bodyPr/>
          <a:lstStyle>
            <a:lvl1pPr>
              <a:defRPr/>
            </a:lvl1pPr>
          </a:lstStyle>
          <a:p>
            <a:pPr>
              <a:defRPr/>
            </a:pPr>
            <a:r>
              <a:rPr lang="en-US"/>
              <a:t>Tucker Sec. 2.1</a:t>
            </a:r>
          </a:p>
        </p:txBody>
      </p:sp>
      <p:sp>
        <p:nvSpPr>
          <p:cNvPr id="7" name="Rectangle 6">
            <a:extLst>
              <a:ext uri="{FF2B5EF4-FFF2-40B4-BE49-F238E27FC236}">
                <a16:creationId xmlns:a16="http://schemas.microsoft.com/office/drawing/2014/main" id="{F9DB8A8D-E771-FE47-A6EE-D7CFCF322C0D}"/>
              </a:ext>
            </a:extLst>
          </p:cNvPr>
          <p:cNvSpPr>
            <a:spLocks noGrp="1" noChangeArrowheads="1"/>
          </p:cNvSpPr>
          <p:nvPr>
            <p:ph type="sldNum" sz="quarter" idx="12"/>
          </p:nvPr>
        </p:nvSpPr>
        <p:spPr>
          <a:ln/>
        </p:spPr>
        <p:txBody>
          <a:bodyPr/>
          <a:lstStyle>
            <a:lvl1pPr>
              <a:defRPr/>
            </a:lvl1pPr>
          </a:lstStyle>
          <a:p>
            <a:pPr>
              <a:defRPr/>
            </a:pPr>
            <a:fld id="{229F1313-A559-4D42-A7A0-312F256D4E9B}" type="slidenum">
              <a:rPr lang="en-US" altLang="en-US"/>
              <a:pPr>
                <a:defRPr/>
              </a:pPr>
              <a:t>‹#›</a:t>
            </a:fld>
            <a:endParaRPr lang="en-US" altLang="en-US"/>
          </a:p>
        </p:txBody>
      </p:sp>
    </p:spTree>
    <p:extLst>
      <p:ext uri="{BB962C8B-B14F-4D97-AF65-F5344CB8AC3E}">
        <p14:creationId xmlns:p14="http://schemas.microsoft.com/office/powerpoint/2010/main" val="1162285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2AC2151C-64F2-A14C-A42F-2DCE01B850D3}"/>
              </a:ext>
            </a:extLst>
          </p:cNvPr>
          <p:cNvSpPr>
            <a:spLocks noGrp="1" noChangeArrowheads="1"/>
          </p:cNvSpPr>
          <p:nvPr>
            <p:ph type="dt" sz="half" idx="10"/>
          </p:nvPr>
        </p:nvSpPr>
        <p:spPr>
          <a:ln/>
        </p:spPr>
        <p:txBody>
          <a:bodyPr/>
          <a:lstStyle>
            <a:lvl1pPr>
              <a:defRPr/>
            </a:lvl1pPr>
          </a:lstStyle>
          <a:p>
            <a:fld id="{9C5D597C-8C2A-7644-BEB0-CAEC0E657D42}" type="datetime1">
              <a:rPr lang="en-US" altLang="en-US"/>
              <a:pPr/>
              <a:t>9/18/2025</a:t>
            </a:fld>
            <a:endParaRPr lang="en-US" altLang="en-US"/>
          </a:p>
        </p:txBody>
      </p:sp>
      <p:sp>
        <p:nvSpPr>
          <p:cNvPr id="7" name="Rectangle 5">
            <a:extLst>
              <a:ext uri="{FF2B5EF4-FFF2-40B4-BE49-F238E27FC236}">
                <a16:creationId xmlns:a16="http://schemas.microsoft.com/office/drawing/2014/main" id="{DFE01E15-0787-D641-BBD9-8F67E095335C}"/>
              </a:ext>
            </a:extLst>
          </p:cNvPr>
          <p:cNvSpPr>
            <a:spLocks noGrp="1" noChangeArrowheads="1"/>
          </p:cNvSpPr>
          <p:nvPr>
            <p:ph type="ftr" sz="quarter" idx="11"/>
          </p:nvPr>
        </p:nvSpPr>
        <p:spPr>
          <a:ln/>
        </p:spPr>
        <p:txBody>
          <a:bodyPr/>
          <a:lstStyle>
            <a:lvl1pPr>
              <a:defRPr/>
            </a:lvl1pPr>
          </a:lstStyle>
          <a:p>
            <a:pPr>
              <a:defRPr/>
            </a:pPr>
            <a:r>
              <a:rPr lang="en-US"/>
              <a:t>Tucker, Sec. 2.2</a:t>
            </a:r>
          </a:p>
        </p:txBody>
      </p:sp>
      <p:sp>
        <p:nvSpPr>
          <p:cNvPr id="8" name="Rectangle 6">
            <a:extLst>
              <a:ext uri="{FF2B5EF4-FFF2-40B4-BE49-F238E27FC236}">
                <a16:creationId xmlns:a16="http://schemas.microsoft.com/office/drawing/2014/main" id="{710C6B45-3D7B-BB4C-B1F8-496278104EBE}"/>
              </a:ext>
            </a:extLst>
          </p:cNvPr>
          <p:cNvSpPr>
            <a:spLocks noGrp="1" noChangeArrowheads="1"/>
          </p:cNvSpPr>
          <p:nvPr>
            <p:ph type="sldNum" sz="quarter" idx="12"/>
          </p:nvPr>
        </p:nvSpPr>
        <p:spPr>
          <a:ln/>
        </p:spPr>
        <p:txBody>
          <a:bodyPr/>
          <a:lstStyle>
            <a:lvl1pPr>
              <a:defRPr/>
            </a:lvl1pPr>
          </a:lstStyle>
          <a:p>
            <a:fld id="{263C3EDD-3ABA-8040-91CA-B084F16A633F}" type="slidenum">
              <a:rPr lang="en-US" altLang="en-US"/>
              <a:pPr/>
              <a:t>‹#›</a:t>
            </a:fld>
            <a:endParaRPr lang="en-US" altLang="en-US"/>
          </a:p>
        </p:txBody>
      </p:sp>
    </p:spTree>
    <p:extLst>
      <p:ext uri="{BB962C8B-B14F-4D97-AF65-F5344CB8AC3E}">
        <p14:creationId xmlns:p14="http://schemas.microsoft.com/office/powerpoint/2010/main" val="1677209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66086B-EC1A-4008-BEDC-BCAEA6EDDD16}" type="datetimeFigureOut">
              <a:rPr lang="zh-CN" altLang="en-US" smtClean="0"/>
              <a:t>2025/9/18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C0274C-9222-453F-AFDA-2C115CAE21EA}" type="slidenum">
              <a:rPr lang="zh-CN" altLang="en-US" smtClean="0"/>
              <a:t>‹#›</a:t>
            </a:fld>
            <a:endParaRPr lang="zh-CN" altLang="en-US"/>
          </a:p>
        </p:txBody>
      </p:sp>
    </p:spTree>
    <p:extLst>
      <p:ext uri="{BB962C8B-B14F-4D97-AF65-F5344CB8AC3E}">
        <p14:creationId xmlns:p14="http://schemas.microsoft.com/office/powerpoint/2010/main" val="2335461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ww.maa.org/press/periodicals/convergence/leonard-eulers-solution-to-the-konigsberg-bridge-problem"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oleObject" Target="../embeddings/oleObject8.bin"/><Relationship Id="rId18" Type="http://schemas.openxmlformats.org/officeDocument/2006/relationships/image" Target="../media/image10.emf"/><Relationship Id="rId3" Type="http://schemas.openxmlformats.org/officeDocument/2006/relationships/oleObject" Target="../embeddings/oleObject2.bin"/><Relationship Id="rId21" Type="http://schemas.openxmlformats.org/officeDocument/2006/relationships/image" Target="../media/image11.emf"/><Relationship Id="rId7" Type="http://schemas.openxmlformats.org/officeDocument/2006/relationships/oleObject" Target="../embeddings/oleObject4.bin"/><Relationship Id="rId12" Type="http://schemas.openxmlformats.org/officeDocument/2006/relationships/image" Target="../media/image8.emf"/><Relationship Id="rId17" Type="http://schemas.openxmlformats.org/officeDocument/2006/relationships/oleObject" Target="../embeddings/oleObject11.bin"/><Relationship Id="rId2" Type="http://schemas.openxmlformats.org/officeDocument/2006/relationships/slideLayout" Target="../slideLayouts/slideLayout6.xml"/><Relationship Id="rId16" Type="http://schemas.openxmlformats.org/officeDocument/2006/relationships/oleObject" Target="../embeddings/oleObject10.bin"/><Relationship Id="rId20" Type="http://schemas.openxmlformats.org/officeDocument/2006/relationships/oleObject" Target="../embeddings/oleObject13.bin"/><Relationship Id="rId1" Type="http://schemas.openxmlformats.org/officeDocument/2006/relationships/vmlDrawing" Target="../drawings/vmlDrawing2.vml"/><Relationship Id="rId6" Type="http://schemas.openxmlformats.org/officeDocument/2006/relationships/image" Target="../media/image6.emf"/><Relationship Id="rId11" Type="http://schemas.openxmlformats.org/officeDocument/2006/relationships/oleObject" Target="../embeddings/oleObject7.bin"/><Relationship Id="rId5" Type="http://schemas.openxmlformats.org/officeDocument/2006/relationships/oleObject" Target="../embeddings/oleObject3.bin"/><Relationship Id="rId15" Type="http://schemas.openxmlformats.org/officeDocument/2006/relationships/image" Target="../media/image9.emf"/><Relationship Id="rId10" Type="http://schemas.openxmlformats.org/officeDocument/2006/relationships/oleObject" Target="../embeddings/oleObject6.bin"/><Relationship Id="rId19" Type="http://schemas.openxmlformats.org/officeDocument/2006/relationships/oleObject" Target="../embeddings/oleObject12.bin"/><Relationship Id="rId4" Type="http://schemas.openxmlformats.org/officeDocument/2006/relationships/image" Target="../media/image5.emf"/><Relationship Id="rId9" Type="http://schemas.openxmlformats.org/officeDocument/2006/relationships/image" Target="../media/image7.emf"/><Relationship Id="rId14" Type="http://schemas.openxmlformats.org/officeDocument/2006/relationships/oleObject" Target="../embeddings/oleObject9.bin"/><Relationship Id="rId22"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tiff"/><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vmlDrawing" Target="../drawings/vmlDrawing3.vml"/><Relationship Id="rId5" Type="http://schemas.openxmlformats.org/officeDocument/2006/relationships/image" Target="../media/image18.emf"/><Relationship Id="rId4" Type="http://schemas.openxmlformats.org/officeDocument/2006/relationships/oleObject" Target="../embeddings/oleObject15.bin"/></Relationships>
</file>

<file path=ppt/slides/_rels/slide38.xml.rels><?xml version="1.0" encoding="UTF-8" standalone="yes"?>
<Relationships xmlns="http://schemas.openxmlformats.org/package/2006/relationships"><Relationship Id="rId8" Type="http://schemas.openxmlformats.org/officeDocument/2006/relationships/image" Target="../media/image22.emf"/><Relationship Id="rId13" Type="http://schemas.openxmlformats.org/officeDocument/2006/relationships/oleObject" Target="../embeddings/oleObject21.bin"/><Relationship Id="rId3" Type="http://schemas.openxmlformats.org/officeDocument/2006/relationships/oleObject" Target="../embeddings/oleObject16.bin"/><Relationship Id="rId7" Type="http://schemas.openxmlformats.org/officeDocument/2006/relationships/oleObject" Target="../embeddings/oleObject18.bin"/><Relationship Id="rId12" Type="http://schemas.openxmlformats.org/officeDocument/2006/relationships/image" Target="../media/image24.emf"/><Relationship Id="rId2" Type="http://schemas.openxmlformats.org/officeDocument/2006/relationships/slideLayout" Target="../slideLayouts/slideLayout4.xml"/><Relationship Id="rId16" Type="http://schemas.openxmlformats.org/officeDocument/2006/relationships/image" Target="../media/image26.emf"/><Relationship Id="rId1" Type="http://schemas.openxmlformats.org/officeDocument/2006/relationships/vmlDrawing" Target="../drawings/vmlDrawing4.vml"/><Relationship Id="rId6" Type="http://schemas.openxmlformats.org/officeDocument/2006/relationships/image" Target="../media/image21.emf"/><Relationship Id="rId11" Type="http://schemas.openxmlformats.org/officeDocument/2006/relationships/oleObject" Target="../embeddings/oleObject20.bin"/><Relationship Id="rId5" Type="http://schemas.openxmlformats.org/officeDocument/2006/relationships/oleObject" Target="../embeddings/oleObject17.bin"/><Relationship Id="rId15" Type="http://schemas.openxmlformats.org/officeDocument/2006/relationships/oleObject" Target="../embeddings/oleObject22.bin"/><Relationship Id="rId10" Type="http://schemas.openxmlformats.org/officeDocument/2006/relationships/image" Target="../media/image23.emf"/><Relationship Id="rId4" Type="http://schemas.openxmlformats.org/officeDocument/2006/relationships/image" Target="../media/image18.emf"/><Relationship Id="rId9" Type="http://schemas.openxmlformats.org/officeDocument/2006/relationships/oleObject" Target="../embeddings/oleObject19.bin"/><Relationship Id="rId14" Type="http://schemas.openxmlformats.org/officeDocument/2006/relationships/image" Target="../media/image25.emf"/></Relationships>
</file>

<file path=ppt/slides/_rels/slide39.xml.rels><?xml version="1.0" encoding="UTF-8" standalone="yes"?>
<Relationships xmlns="http://schemas.openxmlformats.org/package/2006/relationships"><Relationship Id="rId8" Type="http://schemas.openxmlformats.org/officeDocument/2006/relationships/image" Target="../media/image22.emf"/><Relationship Id="rId13" Type="http://schemas.openxmlformats.org/officeDocument/2006/relationships/oleObject" Target="../embeddings/oleObject28.bin"/><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30.emf"/><Relationship Id="rId2" Type="http://schemas.openxmlformats.org/officeDocument/2006/relationships/slideLayout" Target="../slideLayouts/slideLayout4.xml"/><Relationship Id="rId16" Type="http://schemas.openxmlformats.org/officeDocument/2006/relationships/image" Target="../media/image32.emf"/><Relationship Id="rId1" Type="http://schemas.openxmlformats.org/officeDocument/2006/relationships/vmlDrawing" Target="../drawings/vmlDrawing5.vml"/><Relationship Id="rId6" Type="http://schemas.openxmlformats.org/officeDocument/2006/relationships/image" Target="../media/image28.e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oleObject" Target="../embeddings/oleObject29.bin"/><Relationship Id="rId10" Type="http://schemas.openxmlformats.org/officeDocument/2006/relationships/image" Target="../media/image29.emf"/><Relationship Id="rId4" Type="http://schemas.openxmlformats.org/officeDocument/2006/relationships/image" Target="../media/image27.emf"/><Relationship Id="rId9" Type="http://schemas.openxmlformats.org/officeDocument/2006/relationships/oleObject" Target="../embeddings/oleObject26.bin"/><Relationship Id="rId14" Type="http://schemas.openxmlformats.org/officeDocument/2006/relationships/image" Target="../media/image31.e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tiff"/><Relationship Id="rId2" Type="http://schemas.openxmlformats.org/officeDocument/2006/relationships/image" Target="../media/image34.tif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tif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tif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1AD8A1E6-5A04-2D4E-93C7-DAF8020A93F3}"/>
              </a:ext>
            </a:extLst>
          </p:cNvPr>
          <p:cNvSpPr>
            <a:spLocks noGrp="1" noChangeArrowheads="1"/>
          </p:cNvSpPr>
          <p:nvPr>
            <p:ph type="title"/>
          </p:nvPr>
        </p:nvSpPr>
        <p:spPr>
          <a:xfrm>
            <a:off x="1981200" y="2857500"/>
            <a:ext cx="8229600" cy="1143000"/>
          </a:xfrm>
        </p:spPr>
        <p:txBody>
          <a:bodyPr>
            <a:normAutofit fontScale="90000"/>
          </a:bodyPr>
          <a:lstStyle/>
          <a:p>
            <a:pPr eaLnBrk="1" hangingPunct="1"/>
            <a:r>
              <a:rPr lang="en-US" altLang="en-US">
                <a:latin typeface="Times New Roman" panose="02020603050405020304" pitchFamily="18" charset="0"/>
                <a:ea typeface="ＭＳ Ｐゴシック" panose="020B0600070205080204" pitchFamily="34" charset="-128"/>
              </a:rPr>
              <a:t>Chapter 2 </a:t>
            </a:r>
            <a:br>
              <a:rPr lang="en-US" altLang="en-US">
                <a:latin typeface="Times New Roman" panose="02020603050405020304" pitchFamily="18" charset="0"/>
                <a:ea typeface="ＭＳ Ｐゴシック" panose="020B0600070205080204" pitchFamily="34" charset="-128"/>
              </a:rPr>
            </a:br>
            <a:r>
              <a:rPr lang="en-US" altLang="en-US">
                <a:latin typeface="Times New Roman" panose="02020603050405020304" pitchFamily="18" charset="0"/>
                <a:ea typeface="ＭＳ Ｐゴシック" panose="020B0600070205080204" pitchFamily="34" charset="-128"/>
              </a:rPr>
              <a:t>Covering circuits and </a:t>
            </a:r>
            <a:br>
              <a:rPr lang="en-US" altLang="en-US">
                <a:latin typeface="Times New Roman" panose="02020603050405020304" pitchFamily="18" charset="0"/>
                <a:ea typeface="ＭＳ Ｐゴシック" panose="020B0600070205080204" pitchFamily="34" charset="-128"/>
              </a:rPr>
            </a:br>
            <a:r>
              <a:rPr lang="en-US" altLang="en-US">
                <a:latin typeface="Times New Roman" panose="02020603050405020304" pitchFamily="18" charset="0"/>
                <a:ea typeface="ＭＳ Ｐゴシック" panose="020B0600070205080204" pitchFamily="34" charset="-128"/>
              </a:rPr>
              <a:t>graph coloring</a:t>
            </a:r>
            <a:endParaRPr lang="en-US" altLang="en-US">
              <a:ea typeface="ＭＳ Ｐゴシック" panose="020B0600070205080204" pitchFamily="34" charset="-128"/>
            </a:endParaRPr>
          </a:p>
        </p:txBody>
      </p:sp>
    </p:spTree>
    <p:extLst>
      <p:ext uri="{BB962C8B-B14F-4D97-AF65-F5344CB8AC3E}">
        <p14:creationId xmlns:p14="http://schemas.microsoft.com/office/powerpoint/2010/main" val="2702551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4AF42480-9686-D547-9D1E-AADA0369C6D3}"/>
              </a:ext>
            </a:extLst>
          </p:cNvPr>
          <p:cNvSpPr>
            <a:spLocks noGrp="1" noChangeArrowheads="1"/>
          </p:cNvSpPr>
          <p:nvPr>
            <p:ph type="title"/>
          </p:nvPr>
        </p:nvSpPr>
        <p:spPr/>
        <p:txBody>
          <a:bodyPr/>
          <a:lstStyle/>
          <a:p>
            <a:r>
              <a:rPr lang="en-US" altLang="en-US">
                <a:ea typeface="ＭＳ Ｐゴシック" panose="020B0600070205080204" pitchFamily="34" charset="-128"/>
                <a:hlinkClick r:id="rId2"/>
              </a:rPr>
              <a:t>The bridges of Königsberg</a:t>
            </a:r>
            <a:endParaRPr lang="en-US" altLang="en-US">
              <a:ea typeface="ＭＳ Ｐゴシック" panose="020B0600070205080204" pitchFamily="34" charset="-128"/>
            </a:endParaRPr>
          </a:p>
        </p:txBody>
      </p:sp>
      <p:pic>
        <p:nvPicPr>
          <p:cNvPr id="18434" name="Content Placeholder 8" descr="IMG_1150.jpg">
            <a:extLst>
              <a:ext uri="{FF2B5EF4-FFF2-40B4-BE49-F238E27FC236}">
                <a16:creationId xmlns:a16="http://schemas.microsoft.com/office/drawing/2014/main" id="{137D50E6-974E-4749-A5F8-ECF50C1898DE}"/>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l="-18187" r="-18187"/>
          <a:stretch>
            <a:fillRect/>
          </a:stretch>
        </p:blipFill>
        <p:spPr>
          <a:xfrm>
            <a:off x="3124200" y="2046288"/>
            <a:ext cx="8229600" cy="4525962"/>
          </a:xfrm>
        </p:spPr>
      </p:pic>
      <p:pic>
        <p:nvPicPr>
          <p:cNvPr id="18435" name="Picture 7" descr="Konigs.png">
            <a:extLst>
              <a:ext uri="{FF2B5EF4-FFF2-40B4-BE49-F238E27FC236}">
                <a16:creationId xmlns:a16="http://schemas.microsoft.com/office/drawing/2014/main" id="{7A37147F-E68D-304F-B011-2420AEAB1A0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0" y="2582863"/>
            <a:ext cx="35814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extBox 8">
            <a:extLst>
              <a:ext uri="{FF2B5EF4-FFF2-40B4-BE49-F238E27FC236}">
                <a16:creationId xmlns:a16="http://schemas.microsoft.com/office/drawing/2014/main" id="{8C2511B2-77C3-AB45-9A12-547773BCB6BD}"/>
              </a:ext>
            </a:extLst>
          </p:cNvPr>
          <p:cNvSpPr txBox="1">
            <a:spLocks noChangeArrowheads="1"/>
          </p:cNvSpPr>
          <p:nvPr/>
        </p:nvSpPr>
        <p:spPr bwMode="auto">
          <a:xfrm>
            <a:off x="1981200" y="5029200"/>
            <a:ext cx="259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imes New Roman" panose="02020603050405020304" pitchFamily="18" charset="0"/>
              </a:rPr>
              <a:t>*(Kaliningrad today)</a:t>
            </a:r>
          </a:p>
        </p:txBody>
      </p:sp>
    </p:spTree>
    <p:extLst>
      <p:ext uri="{BB962C8B-B14F-4D97-AF65-F5344CB8AC3E}">
        <p14:creationId xmlns:p14="http://schemas.microsoft.com/office/powerpoint/2010/main" val="1028498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EAE618DA-7981-A641-932D-71608BE9AB1F}"/>
              </a:ext>
            </a:extLst>
          </p:cNvPr>
          <p:cNvSpPr>
            <a:spLocks noGrp="1" noChangeArrowheads="1"/>
          </p:cNvSpPr>
          <p:nvPr>
            <p:ph type="title"/>
          </p:nvPr>
        </p:nvSpPr>
        <p:spPr/>
        <p:txBody>
          <a:bodyPr/>
          <a:lstStyle/>
          <a:p>
            <a:r>
              <a:rPr lang="en-US" altLang="en-US">
                <a:ea typeface="ＭＳ Ｐゴシック" panose="020B0600070205080204" pitchFamily="34" charset="-128"/>
              </a:rPr>
              <a:t>Euler Cycle</a:t>
            </a:r>
          </a:p>
        </p:txBody>
      </p:sp>
      <p:pic>
        <p:nvPicPr>
          <p:cNvPr id="19458" name="Content Placeholder 8">
            <a:extLst>
              <a:ext uri="{FF2B5EF4-FFF2-40B4-BE49-F238E27FC236}">
                <a16:creationId xmlns:a16="http://schemas.microsoft.com/office/drawing/2014/main" id="{4E23A2BB-EF56-8746-9846-43294A3D70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43200" y="1905001"/>
            <a:ext cx="3048000" cy="3471863"/>
          </a:xfrm>
        </p:spPr>
      </p:pic>
      <p:sp>
        <p:nvSpPr>
          <p:cNvPr id="19459" name="TextBox 9">
            <a:extLst>
              <a:ext uri="{FF2B5EF4-FFF2-40B4-BE49-F238E27FC236}">
                <a16:creationId xmlns:a16="http://schemas.microsoft.com/office/drawing/2014/main" id="{E0A9C177-917D-8F49-BAC0-3F536A0A573E}"/>
              </a:ext>
            </a:extLst>
          </p:cNvPr>
          <p:cNvSpPr txBox="1">
            <a:spLocks noChangeArrowheads="1"/>
          </p:cNvSpPr>
          <p:nvPr/>
        </p:nvSpPr>
        <p:spPr bwMode="auto">
          <a:xfrm>
            <a:off x="5867401" y="2328863"/>
            <a:ext cx="3910013" cy="3048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a:latin typeface="Times New Roman" panose="02020603050405020304" pitchFamily="18" charset="0"/>
              </a:rPr>
              <a:t>The question of Konigsberg citizen to Euler: “can we go for a walk and cross </a:t>
            </a:r>
          </a:p>
          <a:p>
            <a:pPr eaLnBrk="1" hangingPunct="1">
              <a:spcBef>
                <a:spcPct val="0"/>
              </a:spcBef>
              <a:buFontTx/>
              <a:buNone/>
            </a:pPr>
            <a:r>
              <a:rPr lang="en-US" altLang="en-US">
                <a:latin typeface="Times New Roman" panose="02020603050405020304" pitchFamily="18" charset="0"/>
              </a:rPr>
              <a:t>every bridge exactly once?”</a:t>
            </a:r>
          </a:p>
        </p:txBody>
      </p:sp>
    </p:spTree>
    <p:extLst>
      <p:ext uri="{BB962C8B-B14F-4D97-AF65-F5344CB8AC3E}">
        <p14:creationId xmlns:p14="http://schemas.microsoft.com/office/powerpoint/2010/main" val="309137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0481" name="Group 143">
            <a:extLst>
              <a:ext uri="{FF2B5EF4-FFF2-40B4-BE49-F238E27FC236}">
                <a16:creationId xmlns:a16="http://schemas.microsoft.com/office/drawing/2014/main" id="{3C9A68DC-22F3-8948-8A1D-58D3FCD38682}"/>
              </a:ext>
            </a:extLst>
          </p:cNvPr>
          <p:cNvGrpSpPr>
            <a:grpSpLocks/>
          </p:cNvGrpSpPr>
          <p:nvPr/>
        </p:nvGrpSpPr>
        <p:grpSpPr bwMode="auto">
          <a:xfrm>
            <a:off x="3657600" y="3352800"/>
            <a:ext cx="990600" cy="990600"/>
            <a:chOff x="1344" y="2112"/>
            <a:chExt cx="624" cy="624"/>
          </a:xfrm>
        </p:grpSpPr>
        <p:sp>
          <p:nvSpPr>
            <p:cNvPr id="20526" name="Line 133">
              <a:extLst>
                <a:ext uri="{FF2B5EF4-FFF2-40B4-BE49-F238E27FC236}">
                  <a16:creationId xmlns:a16="http://schemas.microsoft.com/office/drawing/2014/main" id="{397B73A0-2015-4342-A4BD-68535FA81EC0}"/>
                </a:ext>
              </a:extLst>
            </p:cNvPr>
            <p:cNvSpPr>
              <a:spLocks noChangeShapeType="1"/>
            </p:cNvSpPr>
            <p:nvPr/>
          </p:nvSpPr>
          <p:spPr bwMode="auto">
            <a:xfrm flipV="1">
              <a:off x="1344" y="2112"/>
              <a:ext cx="288"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7" name="Line 134">
              <a:extLst>
                <a:ext uri="{FF2B5EF4-FFF2-40B4-BE49-F238E27FC236}">
                  <a16:creationId xmlns:a16="http://schemas.microsoft.com/office/drawing/2014/main" id="{0F7B9D15-05EE-8343-953D-841EA7BDA0AE}"/>
                </a:ext>
              </a:extLst>
            </p:cNvPr>
            <p:cNvSpPr>
              <a:spLocks noChangeShapeType="1"/>
            </p:cNvSpPr>
            <p:nvPr/>
          </p:nvSpPr>
          <p:spPr bwMode="auto">
            <a:xfrm flipH="1" flipV="1">
              <a:off x="1632" y="2112"/>
              <a:ext cx="336"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8" name="Line 135">
              <a:extLst>
                <a:ext uri="{FF2B5EF4-FFF2-40B4-BE49-F238E27FC236}">
                  <a16:creationId xmlns:a16="http://schemas.microsoft.com/office/drawing/2014/main" id="{9E63F2F7-75DB-844E-BC83-8F45239CD8AD}"/>
                </a:ext>
              </a:extLst>
            </p:cNvPr>
            <p:cNvSpPr>
              <a:spLocks noChangeShapeType="1"/>
            </p:cNvSpPr>
            <p:nvPr/>
          </p:nvSpPr>
          <p:spPr bwMode="auto">
            <a:xfrm flipH="1" flipV="1">
              <a:off x="1344" y="2448"/>
              <a:ext cx="336"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9" name="Line 136">
              <a:extLst>
                <a:ext uri="{FF2B5EF4-FFF2-40B4-BE49-F238E27FC236}">
                  <a16:creationId xmlns:a16="http://schemas.microsoft.com/office/drawing/2014/main" id="{5501A383-5C6C-634F-ACD8-8130C3415A43}"/>
                </a:ext>
              </a:extLst>
            </p:cNvPr>
            <p:cNvSpPr>
              <a:spLocks noChangeShapeType="1"/>
            </p:cNvSpPr>
            <p:nvPr/>
          </p:nvSpPr>
          <p:spPr bwMode="auto">
            <a:xfrm flipV="1">
              <a:off x="1680" y="2400"/>
              <a:ext cx="288"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0482" name="Rectangle 2">
            <a:extLst>
              <a:ext uri="{FF2B5EF4-FFF2-40B4-BE49-F238E27FC236}">
                <a16:creationId xmlns:a16="http://schemas.microsoft.com/office/drawing/2014/main" id="{65D77864-24B9-C64D-830C-5B53AF00F799}"/>
              </a:ext>
            </a:extLst>
          </p:cNvPr>
          <p:cNvSpPr>
            <a:spLocks noGrp="1" noChangeArrowheads="1"/>
          </p:cNvSpPr>
          <p:nvPr>
            <p:ph type="title"/>
          </p:nvPr>
        </p:nvSpPr>
        <p:spPr>
          <a:xfrm>
            <a:off x="1981200" y="0"/>
            <a:ext cx="8229600" cy="1143000"/>
          </a:xfrm>
        </p:spPr>
        <p:txBody>
          <a:bodyPr/>
          <a:lstStyle/>
          <a:p>
            <a:pPr eaLnBrk="1" hangingPunct="1"/>
            <a:r>
              <a:rPr lang="en-US" altLang="en-US">
                <a:latin typeface="Times New Roman" panose="02020603050405020304" pitchFamily="18" charset="0"/>
                <a:ea typeface="ＭＳ Ｐゴシック" panose="020B0600070205080204" pitchFamily="34" charset="-128"/>
              </a:rPr>
              <a:t>Theorem</a:t>
            </a:r>
          </a:p>
        </p:txBody>
      </p:sp>
      <p:sp>
        <p:nvSpPr>
          <p:cNvPr id="22534" name="Rectangle 3">
            <a:extLst>
              <a:ext uri="{FF2B5EF4-FFF2-40B4-BE49-F238E27FC236}">
                <a16:creationId xmlns:a16="http://schemas.microsoft.com/office/drawing/2014/main" id="{AEFE98CA-00C1-3644-B3FF-51E564060A23}"/>
              </a:ext>
            </a:extLst>
          </p:cNvPr>
          <p:cNvSpPr>
            <a:spLocks noGrp="1" noChangeArrowheads="1"/>
          </p:cNvSpPr>
          <p:nvPr>
            <p:ph type="body" sz="half" idx="1"/>
          </p:nvPr>
        </p:nvSpPr>
        <p:spPr>
          <a:xfrm>
            <a:off x="1981200" y="1371600"/>
            <a:ext cx="8077200" cy="838200"/>
          </a:xfrm>
        </p:spPr>
        <p:txBody>
          <a:bodyPr>
            <a:normAutofit fontScale="62500" lnSpcReduction="20000"/>
          </a:bodyPr>
          <a:lstStyle/>
          <a:p>
            <a:pPr eaLnBrk="1" hangingPunct="1">
              <a:lnSpc>
                <a:spcPct val="80000"/>
              </a:lnSpc>
              <a:defRPr/>
            </a:pPr>
            <a:r>
              <a:rPr lang="en-US" altLang="en-US" sz="2000" dirty="0">
                <a:latin typeface="Times New Roman" panose="02020603050405020304" pitchFamily="18" charset="0"/>
                <a:ea typeface="ＭＳ Ｐゴシック" panose="020B0600070205080204" pitchFamily="34" charset="-128"/>
              </a:rPr>
              <a:t>An undirected (multigraph) graph has an Euler cycle if and only if it is connected and all vertices have even degrees.</a:t>
            </a:r>
          </a:p>
          <a:p>
            <a:pPr marL="0" indent="0">
              <a:lnSpc>
                <a:spcPct val="80000"/>
              </a:lnSpc>
              <a:buNone/>
              <a:defRPr/>
            </a:pPr>
            <a:endParaRPr lang="en-US" altLang="en-US" sz="2000" dirty="0">
              <a:latin typeface="Times New Roman" panose="02020603050405020304" pitchFamily="18" charset="0"/>
              <a:ea typeface="ＭＳ Ｐゴシック" panose="020B0600070205080204" pitchFamily="34" charset="-128"/>
            </a:endParaRPr>
          </a:p>
          <a:p>
            <a:pPr eaLnBrk="1" hangingPunct="1">
              <a:lnSpc>
                <a:spcPct val="80000"/>
              </a:lnSpc>
              <a:buFontTx/>
              <a:buNone/>
              <a:defRPr/>
            </a:pPr>
            <a:r>
              <a:rPr lang="en-US" altLang="en-US" sz="2000" dirty="0">
                <a:ea typeface="ＭＳ Ｐゴシック" panose="020B0600070205080204" pitchFamily="34" charset="-128"/>
              </a:rPr>
              <a:t>	</a:t>
            </a:r>
          </a:p>
        </p:txBody>
      </p:sp>
      <p:sp>
        <p:nvSpPr>
          <p:cNvPr id="20484" name="Text Box 94">
            <a:extLst>
              <a:ext uri="{FF2B5EF4-FFF2-40B4-BE49-F238E27FC236}">
                <a16:creationId xmlns:a16="http://schemas.microsoft.com/office/drawing/2014/main" id="{C7734057-A59A-C045-864C-2E7ACE6F4A75}"/>
              </a:ext>
            </a:extLst>
          </p:cNvPr>
          <p:cNvSpPr txBox="1">
            <a:spLocks noChangeArrowheads="1"/>
          </p:cNvSpPr>
          <p:nvPr/>
        </p:nvSpPr>
        <p:spPr bwMode="auto">
          <a:xfrm>
            <a:off x="6248400" y="3505201"/>
            <a:ext cx="3886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 typeface="Wingdings" pitchFamily="2" charset="2"/>
              <a:buChar char="Ø"/>
            </a:pPr>
            <a:r>
              <a:rPr lang="en-US" altLang="en-US" sz="2000">
                <a:latin typeface="Times New Roman" panose="02020603050405020304" pitchFamily="18" charset="0"/>
              </a:rPr>
              <a:t>   This is a connected graph with all vertices of even degree, therefore it must have an Euler cycle.</a:t>
            </a:r>
          </a:p>
        </p:txBody>
      </p:sp>
      <p:grpSp>
        <p:nvGrpSpPr>
          <p:cNvPr id="20485" name="Group 118">
            <a:extLst>
              <a:ext uri="{FF2B5EF4-FFF2-40B4-BE49-F238E27FC236}">
                <a16:creationId xmlns:a16="http://schemas.microsoft.com/office/drawing/2014/main" id="{E74D2412-BBF7-414A-A4C6-1F545E9E36AF}"/>
              </a:ext>
            </a:extLst>
          </p:cNvPr>
          <p:cNvGrpSpPr>
            <a:grpSpLocks/>
          </p:cNvGrpSpPr>
          <p:nvPr/>
        </p:nvGrpSpPr>
        <p:grpSpPr bwMode="auto">
          <a:xfrm>
            <a:off x="3048000" y="2743200"/>
            <a:ext cx="2209800" cy="2209800"/>
            <a:chOff x="1056" y="1728"/>
            <a:chExt cx="1392" cy="1392"/>
          </a:xfrm>
        </p:grpSpPr>
        <p:sp>
          <p:nvSpPr>
            <p:cNvPr id="20502" name="Oval 26">
              <a:extLst>
                <a:ext uri="{FF2B5EF4-FFF2-40B4-BE49-F238E27FC236}">
                  <a16:creationId xmlns:a16="http://schemas.microsoft.com/office/drawing/2014/main" id="{84FE26FF-FF14-DC45-89E5-AFD4DE812691}"/>
                </a:ext>
              </a:extLst>
            </p:cNvPr>
            <p:cNvSpPr>
              <a:spLocks noChangeArrowheads="1"/>
            </p:cNvSpPr>
            <p:nvPr/>
          </p:nvSpPr>
          <p:spPr bwMode="auto">
            <a:xfrm>
              <a:off x="1344" y="1776"/>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03" name="Oval 27">
              <a:extLst>
                <a:ext uri="{FF2B5EF4-FFF2-40B4-BE49-F238E27FC236}">
                  <a16:creationId xmlns:a16="http://schemas.microsoft.com/office/drawing/2014/main" id="{E372BB28-2F1E-9041-89CE-71715619FA61}"/>
                </a:ext>
              </a:extLst>
            </p:cNvPr>
            <p:cNvSpPr>
              <a:spLocks noChangeArrowheads="1"/>
            </p:cNvSpPr>
            <p:nvPr/>
          </p:nvSpPr>
          <p:spPr bwMode="auto">
            <a:xfrm>
              <a:off x="2304" y="2016"/>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04" name="Oval 28">
              <a:extLst>
                <a:ext uri="{FF2B5EF4-FFF2-40B4-BE49-F238E27FC236}">
                  <a16:creationId xmlns:a16="http://schemas.microsoft.com/office/drawing/2014/main" id="{30362F2B-85E2-9E49-941E-E6A4FD3D4E72}"/>
                </a:ext>
              </a:extLst>
            </p:cNvPr>
            <p:cNvSpPr>
              <a:spLocks noChangeArrowheads="1"/>
            </p:cNvSpPr>
            <p:nvPr/>
          </p:nvSpPr>
          <p:spPr bwMode="auto">
            <a:xfrm>
              <a:off x="1680" y="2064"/>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05" name="Oval 29">
              <a:extLst>
                <a:ext uri="{FF2B5EF4-FFF2-40B4-BE49-F238E27FC236}">
                  <a16:creationId xmlns:a16="http://schemas.microsoft.com/office/drawing/2014/main" id="{07914866-E305-DF4D-A13D-F672D8F0491B}"/>
                </a:ext>
              </a:extLst>
            </p:cNvPr>
            <p:cNvSpPr>
              <a:spLocks noChangeArrowheads="1"/>
            </p:cNvSpPr>
            <p:nvPr/>
          </p:nvSpPr>
          <p:spPr bwMode="auto">
            <a:xfrm>
              <a:off x="1968" y="1728"/>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06" name="Oval 30">
              <a:extLst>
                <a:ext uri="{FF2B5EF4-FFF2-40B4-BE49-F238E27FC236}">
                  <a16:creationId xmlns:a16="http://schemas.microsoft.com/office/drawing/2014/main" id="{E8F20590-ABD3-8A46-9539-56849FC97D9A}"/>
                </a:ext>
              </a:extLst>
            </p:cNvPr>
            <p:cNvSpPr>
              <a:spLocks noChangeArrowheads="1"/>
            </p:cNvSpPr>
            <p:nvPr/>
          </p:nvSpPr>
          <p:spPr bwMode="auto">
            <a:xfrm>
              <a:off x="1440" y="3024"/>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07" name="Oval 31">
              <a:extLst>
                <a:ext uri="{FF2B5EF4-FFF2-40B4-BE49-F238E27FC236}">
                  <a16:creationId xmlns:a16="http://schemas.microsoft.com/office/drawing/2014/main" id="{ADE2B46C-6B00-3F4D-9707-CF4E36E5787D}"/>
                </a:ext>
              </a:extLst>
            </p:cNvPr>
            <p:cNvSpPr>
              <a:spLocks noChangeArrowheads="1"/>
            </p:cNvSpPr>
            <p:nvPr/>
          </p:nvSpPr>
          <p:spPr bwMode="auto">
            <a:xfrm>
              <a:off x="1728" y="2688"/>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08" name="Oval 32">
              <a:extLst>
                <a:ext uri="{FF2B5EF4-FFF2-40B4-BE49-F238E27FC236}">
                  <a16:creationId xmlns:a16="http://schemas.microsoft.com/office/drawing/2014/main" id="{9F9C4EE6-2CCA-2342-8657-608E7A0EB8EA}"/>
                </a:ext>
              </a:extLst>
            </p:cNvPr>
            <p:cNvSpPr>
              <a:spLocks noChangeArrowheads="1"/>
            </p:cNvSpPr>
            <p:nvPr/>
          </p:nvSpPr>
          <p:spPr bwMode="auto">
            <a:xfrm>
              <a:off x="2064" y="2976"/>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09" name="Oval 33">
              <a:extLst>
                <a:ext uri="{FF2B5EF4-FFF2-40B4-BE49-F238E27FC236}">
                  <a16:creationId xmlns:a16="http://schemas.microsoft.com/office/drawing/2014/main" id="{6536AE66-B98F-6F47-A1DA-42A6FDD730C8}"/>
                </a:ext>
              </a:extLst>
            </p:cNvPr>
            <p:cNvSpPr>
              <a:spLocks noChangeArrowheads="1"/>
            </p:cNvSpPr>
            <p:nvPr/>
          </p:nvSpPr>
          <p:spPr bwMode="auto">
            <a:xfrm>
              <a:off x="1104" y="2736"/>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10" name="Oval 34">
              <a:extLst>
                <a:ext uri="{FF2B5EF4-FFF2-40B4-BE49-F238E27FC236}">
                  <a16:creationId xmlns:a16="http://schemas.microsoft.com/office/drawing/2014/main" id="{78EAABD1-57AE-224F-AFC0-7A9B044DF5A5}"/>
                </a:ext>
              </a:extLst>
            </p:cNvPr>
            <p:cNvSpPr>
              <a:spLocks noChangeArrowheads="1"/>
            </p:cNvSpPr>
            <p:nvPr/>
          </p:nvSpPr>
          <p:spPr bwMode="auto">
            <a:xfrm>
              <a:off x="2016" y="2352"/>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11" name="Oval 35">
              <a:extLst>
                <a:ext uri="{FF2B5EF4-FFF2-40B4-BE49-F238E27FC236}">
                  <a16:creationId xmlns:a16="http://schemas.microsoft.com/office/drawing/2014/main" id="{33791A38-7D4F-E74C-BE1B-E8C620074180}"/>
                </a:ext>
              </a:extLst>
            </p:cNvPr>
            <p:cNvSpPr>
              <a:spLocks noChangeArrowheads="1"/>
            </p:cNvSpPr>
            <p:nvPr/>
          </p:nvSpPr>
          <p:spPr bwMode="auto">
            <a:xfrm>
              <a:off x="2352" y="2640"/>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12" name="Oval 36">
              <a:extLst>
                <a:ext uri="{FF2B5EF4-FFF2-40B4-BE49-F238E27FC236}">
                  <a16:creationId xmlns:a16="http://schemas.microsoft.com/office/drawing/2014/main" id="{6359456F-3CCA-1C47-A275-B7F815594C6D}"/>
                </a:ext>
              </a:extLst>
            </p:cNvPr>
            <p:cNvSpPr>
              <a:spLocks noChangeArrowheads="1"/>
            </p:cNvSpPr>
            <p:nvPr/>
          </p:nvSpPr>
          <p:spPr bwMode="auto">
            <a:xfrm>
              <a:off x="1056" y="2112"/>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13" name="Oval 90">
              <a:extLst>
                <a:ext uri="{FF2B5EF4-FFF2-40B4-BE49-F238E27FC236}">
                  <a16:creationId xmlns:a16="http://schemas.microsoft.com/office/drawing/2014/main" id="{76033789-AD44-184A-A8B0-0270945E80B7}"/>
                </a:ext>
              </a:extLst>
            </p:cNvPr>
            <p:cNvSpPr>
              <a:spLocks noChangeArrowheads="1"/>
            </p:cNvSpPr>
            <p:nvPr/>
          </p:nvSpPr>
          <p:spPr bwMode="auto">
            <a:xfrm>
              <a:off x="1392" y="2400"/>
              <a:ext cx="96" cy="96"/>
            </a:xfrm>
            <a:prstGeom prst="ellipse">
              <a:avLst/>
            </a:prstGeom>
            <a:solidFill>
              <a:schemeClr val="tx1"/>
            </a:solidFill>
            <a:ln w="2857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14" name="Line 96">
              <a:extLst>
                <a:ext uri="{FF2B5EF4-FFF2-40B4-BE49-F238E27FC236}">
                  <a16:creationId xmlns:a16="http://schemas.microsoft.com/office/drawing/2014/main" id="{5F98686E-6CF5-9147-9A41-EFCF016BE82C}"/>
                </a:ext>
              </a:extLst>
            </p:cNvPr>
            <p:cNvSpPr>
              <a:spLocks noChangeShapeType="1"/>
            </p:cNvSpPr>
            <p:nvPr/>
          </p:nvSpPr>
          <p:spPr bwMode="auto">
            <a:xfrm>
              <a:off x="1392" y="1824"/>
              <a:ext cx="336"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5" name="Line 99">
              <a:extLst>
                <a:ext uri="{FF2B5EF4-FFF2-40B4-BE49-F238E27FC236}">
                  <a16:creationId xmlns:a16="http://schemas.microsoft.com/office/drawing/2014/main" id="{5D1E930B-2D6B-054E-AEF3-69EA33AB3DEE}"/>
                </a:ext>
              </a:extLst>
            </p:cNvPr>
            <p:cNvSpPr>
              <a:spLocks noChangeShapeType="1"/>
            </p:cNvSpPr>
            <p:nvPr/>
          </p:nvSpPr>
          <p:spPr bwMode="auto">
            <a:xfrm>
              <a:off x="2016" y="1776"/>
              <a:ext cx="336"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6" name="Line 100">
              <a:extLst>
                <a:ext uri="{FF2B5EF4-FFF2-40B4-BE49-F238E27FC236}">
                  <a16:creationId xmlns:a16="http://schemas.microsoft.com/office/drawing/2014/main" id="{0D31ECB4-EA45-C343-855D-82747201D5F7}"/>
                </a:ext>
              </a:extLst>
            </p:cNvPr>
            <p:cNvSpPr>
              <a:spLocks noChangeShapeType="1"/>
            </p:cNvSpPr>
            <p:nvPr/>
          </p:nvSpPr>
          <p:spPr bwMode="auto">
            <a:xfrm flipH="1">
              <a:off x="2064" y="2064"/>
              <a:ext cx="288"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7" name="Line 101">
              <a:extLst>
                <a:ext uri="{FF2B5EF4-FFF2-40B4-BE49-F238E27FC236}">
                  <a16:creationId xmlns:a16="http://schemas.microsoft.com/office/drawing/2014/main" id="{37432730-1E37-EF40-B9C2-E995493A49A8}"/>
                </a:ext>
              </a:extLst>
            </p:cNvPr>
            <p:cNvSpPr>
              <a:spLocks noChangeShapeType="1"/>
            </p:cNvSpPr>
            <p:nvPr/>
          </p:nvSpPr>
          <p:spPr bwMode="auto">
            <a:xfrm>
              <a:off x="2064" y="2400"/>
              <a:ext cx="336"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8" name="Line 103">
              <a:extLst>
                <a:ext uri="{FF2B5EF4-FFF2-40B4-BE49-F238E27FC236}">
                  <a16:creationId xmlns:a16="http://schemas.microsoft.com/office/drawing/2014/main" id="{FAA91890-C4DD-184E-B39F-2A3788EB8A47}"/>
                </a:ext>
              </a:extLst>
            </p:cNvPr>
            <p:cNvSpPr>
              <a:spLocks noChangeShapeType="1"/>
            </p:cNvSpPr>
            <p:nvPr/>
          </p:nvSpPr>
          <p:spPr bwMode="auto">
            <a:xfrm flipH="1" flipV="1">
              <a:off x="1776" y="2736"/>
              <a:ext cx="336"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19" name="Line 110">
              <a:extLst>
                <a:ext uri="{FF2B5EF4-FFF2-40B4-BE49-F238E27FC236}">
                  <a16:creationId xmlns:a16="http://schemas.microsoft.com/office/drawing/2014/main" id="{601AD47D-A14B-9F42-9611-40944FCB9017}"/>
                </a:ext>
              </a:extLst>
            </p:cNvPr>
            <p:cNvSpPr>
              <a:spLocks noChangeShapeType="1"/>
            </p:cNvSpPr>
            <p:nvPr/>
          </p:nvSpPr>
          <p:spPr bwMode="auto">
            <a:xfrm flipH="1">
              <a:off x="1488" y="2736"/>
              <a:ext cx="288"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0" name="Line 112">
              <a:extLst>
                <a:ext uri="{FF2B5EF4-FFF2-40B4-BE49-F238E27FC236}">
                  <a16:creationId xmlns:a16="http://schemas.microsoft.com/office/drawing/2014/main" id="{CF734984-3411-9248-A9FD-98D3F2AA35C6}"/>
                </a:ext>
              </a:extLst>
            </p:cNvPr>
            <p:cNvSpPr>
              <a:spLocks noChangeShapeType="1"/>
            </p:cNvSpPr>
            <p:nvPr/>
          </p:nvSpPr>
          <p:spPr bwMode="auto">
            <a:xfrm flipH="1">
              <a:off x="1152" y="2448"/>
              <a:ext cx="288"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1" name="Line 113">
              <a:extLst>
                <a:ext uri="{FF2B5EF4-FFF2-40B4-BE49-F238E27FC236}">
                  <a16:creationId xmlns:a16="http://schemas.microsoft.com/office/drawing/2014/main" id="{4C33D115-C61E-A549-A98F-0CD41413AE9B}"/>
                </a:ext>
              </a:extLst>
            </p:cNvPr>
            <p:cNvSpPr>
              <a:spLocks noChangeShapeType="1"/>
            </p:cNvSpPr>
            <p:nvPr/>
          </p:nvSpPr>
          <p:spPr bwMode="auto">
            <a:xfrm flipH="1">
              <a:off x="1728" y="1776"/>
              <a:ext cx="288"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2" name="Line 114">
              <a:extLst>
                <a:ext uri="{FF2B5EF4-FFF2-40B4-BE49-F238E27FC236}">
                  <a16:creationId xmlns:a16="http://schemas.microsoft.com/office/drawing/2014/main" id="{770A70F1-F09E-F34A-9CFB-6F2158E02606}"/>
                </a:ext>
              </a:extLst>
            </p:cNvPr>
            <p:cNvSpPr>
              <a:spLocks noChangeShapeType="1"/>
            </p:cNvSpPr>
            <p:nvPr/>
          </p:nvSpPr>
          <p:spPr bwMode="auto">
            <a:xfrm flipH="1">
              <a:off x="2112" y="2688"/>
              <a:ext cx="288"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3" name="Line 115">
              <a:extLst>
                <a:ext uri="{FF2B5EF4-FFF2-40B4-BE49-F238E27FC236}">
                  <a16:creationId xmlns:a16="http://schemas.microsoft.com/office/drawing/2014/main" id="{EDF7F28B-321A-ED46-8EA4-259B8012F4B3}"/>
                </a:ext>
              </a:extLst>
            </p:cNvPr>
            <p:cNvSpPr>
              <a:spLocks noChangeShapeType="1"/>
            </p:cNvSpPr>
            <p:nvPr/>
          </p:nvSpPr>
          <p:spPr bwMode="auto">
            <a:xfrm>
              <a:off x="1104" y="2160"/>
              <a:ext cx="336"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4" name="Line 116">
              <a:extLst>
                <a:ext uri="{FF2B5EF4-FFF2-40B4-BE49-F238E27FC236}">
                  <a16:creationId xmlns:a16="http://schemas.microsoft.com/office/drawing/2014/main" id="{4891A4B3-8C41-D14C-B4C3-51B78B780A91}"/>
                </a:ext>
              </a:extLst>
            </p:cNvPr>
            <p:cNvSpPr>
              <a:spLocks noChangeShapeType="1"/>
            </p:cNvSpPr>
            <p:nvPr/>
          </p:nvSpPr>
          <p:spPr bwMode="auto">
            <a:xfrm flipH="1" flipV="1">
              <a:off x="1152" y="2784"/>
              <a:ext cx="336"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5" name="Line 117">
              <a:extLst>
                <a:ext uri="{FF2B5EF4-FFF2-40B4-BE49-F238E27FC236}">
                  <a16:creationId xmlns:a16="http://schemas.microsoft.com/office/drawing/2014/main" id="{C149B800-1970-F541-A5EB-61A432738C82}"/>
                </a:ext>
              </a:extLst>
            </p:cNvPr>
            <p:cNvSpPr>
              <a:spLocks noChangeShapeType="1"/>
            </p:cNvSpPr>
            <p:nvPr/>
          </p:nvSpPr>
          <p:spPr bwMode="auto">
            <a:xfrm flipH="1">
              <a:off x="1104" y="1824"/>
              <a:ext cx="288" cy="3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8551" name="Line 119">
            <a:extLst>
              <a:ext uri="{FF2B5EF4-FFF2-40B4-BE49-F238E27FC236}">
                <a16:creationId xmlns:a16="http://schemas.microsoft.com/office/drawing/2014/main" id="{2D7506C5-51BF-AA49-9D6C-87288A119D8B}"/>
              </a:ext>
            </a:extLst>
          </p:cNvPr>
          <p:cNvSpPr>
            <a:spLocks noChangeShapeType="1"/>
          </p:cNvSpPr>
          <p:nvPr/>
        </p:nvSpPr>
        <p:spPr bwMode="auto">
          <a:xfrm flipV="1">
            <a:off x="3124200" y="28956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58" name="Line 126">
            <a:extLst>
              <a:ext uri="{FF2B5EF4-FFF2-40B4-BE49-F238E27FC236}">
                <a16:creationId xmlns:a16="http://schemas.microsoft.com/office/drawing/2014/main" id="{F36F9F5C-8FD8-664B-839A-BD305A83A166}"/>
              </a:ext>
            </a:extLst>
          </p:cNvPr>
          <p:cNvSpPr>
            <a:spLocks noChangeShapeType="1"/>
          </p:cNvSpPr>
          <p:nvPr/>
        </p:nvSpPr>
        <p:spPr bwMode="auto">
          <a:xfrm>
            <a:off x="3581400" y="28956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52" name="Line 120">
            <a:extLst>
              <a:ext uri="{FF2B5EF4-FFF2-40B4-BE49-F238E27FC236}">
                <a16:creationId xmlns:a16="http://schemas.microsoft.com/office/drawing/2014/main" id="{2307871C-7E93-7540-B68A-11F32EEB7D20}"/>
              </a:ext>
            </a:extLst>
          </p:cNvPr>
          <p:cNvSpPr>
            <a:spLocks noChangeShapeType="1"/>
          </p:cNvSpPr>
          <p:nvPr/>
        </p:nvSpPr>
        <p:spPr bwMode="auto">
          <a:xfrm flipV="1">
            <a:off x="4114800" y="28194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78" name="Line 146">
            <a:extLst>
              <a:ext uri="{FF2B5EF4-FFF2-40B4-BE49-F238E27FC236}">
                <a16:creationId xmlns:a16="http://schemas.microsoft.com/office/drawing/2014/main" id="{F1D1267E-C696-4B48-B55F-7CA3A10551B3}"/>
              </a:ext>
            </a:extLst>
          </p:cNvPr>
          <p:cNvSpPr>
            <a:spLocks noChangeShapeType="1"/>
          </p:cNvSpPr>
          <p:nvPr/>
        </p:nvSpPr>
        <p:spPr bwMode="auto">
          <a:xfrm flipH="1" flipV="1">
            <a:off x="4114800" y="33528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76" name="Line 144">
            <a:extLst>
              <a:ext uri="{FF2B5EF4-FFF2-40B4-BE49-F238E27FC236}">
                <a16:creationId xmlns:a16="http://schemas.microsoft.com/office/drawing/2014/main" id="{A5619877-1F17-CC40-A906-CC7F7F5ED0D1}"/>
              </a:ext>
            </a:extLst>
          </p:cNvPr>
          <p:cNvSpPr>
            <a:spLocks noChangeShapeType="1"/>
          </p:cNvSpPr>
          <p:nvPr/>
        </p:nvSpPr>
        <p:spPr bwMode="auto">
          <a:xfrm flipV="1">
            <a:off x="4191000" y="38100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59" name="Line 127">
            <a:extLst>
              <a:ext uri="{FF2B5EF4-FFF2-40B4-BE49-F238E27FC236}">
                <a16:creationId xmlns:a16="http://schemas.microsoft.com/office/drawing/2014/main" id="{393A14DA-86F0-1046-88D3-53687ADDD079}"/>
              </a:ext>
            </a:extLst>
          </p:cNvPr>
          <p:cNvSpPr>
            <a:spLocks noChangeShapeType="1"/>
          </p:cNvSpPr>
          <p:nvPr/>
        </p:nvSpPr>
        <p:spPr bwMode="auto">
          <a:xfrm>
            <a:off x="4572000" y="28194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62" name="Line 130">
            <a:extLst>
              <a:ext uri="{FF2B5EF4-FFF2-40B4-BE49-F238E27FC236}">
                <a16:creationId xmlns:a16="http://schemas.microsoft.com/office/drawing/2014/main" id="{A57DAF7A-2FE7-DD49-832F-548E99BA6170}"/>
              </a:ext>
            </a:extLst>
          </p:cNvPr>
          <p:cNvSpPr>
            <a:spLocks noChangeShapeType="1"/>
          </p:cNvSpPr>
          <p:nvPr/>
        </p:nvSpPr>
        <p:spPr bwMode="auto">
          <a:xfrm>
            <a:off x="3200400" y="44196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57" name="Line 125">
            <a:extLst>
              <a:ext uri="{FF2B5EF4-FFF2-40B4-BE49-F238E27FC236}">
                <a16:creationId xmlns:a16="http://schemas.microsoft.com/office/drawing/2014/main" id="{B714E56A-2EA1-D849-B310-D5FEF5C508DF}"/>
              </a:ext>
            </a:extLst>
          </p:cNvPr>
          <p:cNvSpPr>
            <a:spLocks noChangeShapeType="1"/>
          </p:cNvSpPr>
          <p:nvPr/>
        </p:nvSpPr>
        <p:spPr bwMode="auto">
          <a:xfrm flipV="1">
            <a:off x="3733800" y="43434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61" name="Line 129">
            <a:extLst>
              <a:ext uri="{FF2B5EF4-FFF2-40B4-BE49-F238E27FC236}">
                <a16:creationId xmlns:a16="http://schemas.microsoft.com/office/drawing/2014/main" id="{22D457EE-DB09-EF4F-87A2-85E2C5BA3EA4}"/>
              </a:ext>
            </a:extLst>
          </p:cNvPr>
          <p:cNvSpPr>
            <a:spLocks noChangeShapeType="1"/>
          </p:cNvSpPr>
          <p:nvPr/>
        </p:nvSpPr>
        <p:spPr bwMode="auto">
          <a:xfrm>
            <a:off x="4191000" y="43434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55" name="Line 123">
            <a:extLst>
              <a:ext uri="{FF2B5EF4-FFF2-40B4-BE49-F238E27FC236}">
                <a16:creationId xmlns:a16="http://schemas.microsoft.com/office/drawing/2014/main" id="{7B3B15E4-C865-404D-8154-EA21751FC324}"/>
              </a:ext>
            </a:extLst>
          </p:cNvPr>
          <p:cNvSpPr>
            <a:spLocks noChangeShapeType="1"/>
          </p:cNvSpPr>
          <p:nvPr/>
        </p:nvSpPr>
        <p:spPr bwMode="auto">
          <a:xfrm flipV="1">
            <a:off x="4724400" y="42672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54" name="Line 122">
            <a:extLst>
              <a:ext uri="{FF2B5EF4-FFF2-40B4-BE49-F238E27FC236}">
                <a16:creationId xmlns:a16="http://schemas.microsoft.com/office/drawing/2014/main" id="{2432CECD-3066-9A4C-B603-59D2ED92206F}"/>
              </a:ext>
            </a:extLst>
          </p:cNvPr>
          <p:cNvSpPr>
            <a:spLocks noChangeShapeType="1"/>
          </p:cNvSpPr>
          <p:nvPr/>
        </p:nvSpPr>
        <p:spPr bwMode="auto">
          <a:xfrm flipV="1">
            <a:off x="4648200" y="32766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60" name="Line 128">
            <a:extLst>
              <a:ext uri="{FF2B5EF4-FFF2-40B4-BE49-F238E27FC236}">
                <a16:creationId xmlns:a16="http://schemas.microsoft.com/office/drawing/2014/main" id="{8D12741C-CE1A-1A46-AEE9-2ED231B6F9E2}"/>
              </a:ext>
            </a:extLst>
          </p:cNvPr>
          <p:cNvSpPr>
            <a:spLocks noChangeShapeType="1"/>
          </p:cNvSpPr>
          <p:nvPr/>
        </p:nvSpPr>
        <p:spPr bwMode="auto">
          <a:xfrm>
            <a:off x="4648200" y="38100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77" name="Line 145">
            <a:extLst>
              <a:ext uri="{FF2B5EF4-FFF2-40B4-BE49-F238E27FC236}">
                <a16:creationId xmlns:a16="http://schemas.microsoft.com/office/drawing/2014/main" id="{5F1AD92F-405D-2147-A888-662F9ED66C3C}"/>
              </a:ext>
            </a:extLst>
          </p:cNvPr>
          <p:cNvSpPr>
            <a:spLocks noChangeShapeType="1"/>
          </p:cNvSpPr>
          <p:nvPr/>
        </p:nvSpPr>
        <p:spPr bwMode="auto">
          <a:xfrm flipV="1">
            <a:off x="3657600" y="33528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74" name="Line 142">
            <a:extLst>
              <a:ext uri="{FF2B5EF4-FFF2-40B4-BE49-F238E27FC236}">
                <a16:creationId xmlns:a16="http://schemas.microsoft.com/office/drawing/2014/main" id="{204B063D-A60E-A64A-BA6E-6E74A29FEBF1}"/>
              </a:ext>
            </a:extLst>
          </p:cNvPr>
          <p:cNvSpPr>
            <a:spLocks noChangeShapeType="1"/>
          </p:cNvSpPr>
          <p:nvPr/>
        </p:nvSpPr>
        <p:spPr bwMode="auto">
          <a:xfrm flipH="1" flipV="1">
            <a:off x="3657600" y="38862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63" name="Line 131">
            <a:extLst>
              <a:ext uri="{FF2B5EF4-FFF2-40B4-BE49-F238E27FC236}">
                <a16:creationId xmlns:a16="http://schemas.microsoft.com/office/drawing/2014/main" id="{B0D59AB1-2721-7A44-B241-F1AC91737250}"/>
              </a:ext>
            </a:extLst>
          </p:cNvPr>
          <p:cNvSpPr>
            <a:spLocks noChangeShapeType="1"/>
          </p:cNvSpPr>
          <p:nvPr/>
        </p:nvSpPr>
        <p:spPr bwMode="auto">
          <a:xfrm>
            <a:off x="3124200" y="34290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56" name="Line 124">
            <a:extLst>
              <a:ext uri="{FF2B5EF4-FFF2-40B4-BE49-F238E27FC236}">
                <a16:creationId xmlns:a16="http://schemas.microsoft.com/office/drawing/2014/main" id="{8C189127-28A7-FA48-ADE9-3C5F9DB0787B}"/>
              </a:ext>
            </a:extLst>
          </p:cNvPr>
          <p:cNvSpPr>
            <a:spLocks noChangeShapeType="1"/>
          </p:cNvSpPr>
          <p:nvPr/>
        </p:nvSpPr>
        <p:spPr bwMode="auto">
          <a:xfrm flipV="1">
            <a:off x="3200400" y="38862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106699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8551"/>
                                        </p:tgtEl>
                                        <p:attrNameLst>
                                          <p:attrName>style.visibility</p:attrName>
                                        </p:attrNameLst>
                                      </p:cBhvr>
                                      <p:to>
                                        <p:strVal val="visible"/>
                                      </p:to>
                                    </p:set>
                                    <p:animEffect transition="in" filter="wipe(down)">
                                      <p:cBhvr>
                                        <p:cTn id="7" dur="500"/>
                                        <p:tgtEl>
                                          <p:spTgt spid="18551"/>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8558"/>
                                        </p:tgtEl>
                                        <p:attrNameLst>
                                          <p:attrName>style.visibility</p:attrName>
                                        </p:attrNameLst>
                                      </p:cBhvr>
                                      <p:to>
                                        <p:strVal val="visible"/>
                                      </p:to>
                                    </p:set>
                                    <p:animEffect transition="in" filter="wipe(up)">
                                      <p:cBhvr>
                                        <p:cTn id="11" dur="500"/>
                                        <p:tgtEl>
                                          <p:spTgt spid="18558"/>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18552"/>
                                        </p:tgtEl>
                                        <p:attrNameLst>
                                          <p:attrName>style.visibility</p:attrName>
                                        </p:attrNameLst>
                                      </p:cBhvr>
                                      <p:to>
                                        <p:strVal val="visible"/>
                                      </p:to>
                                    </p:set>
                                    <p:animEffect transition="in" filter="wipe(down)">
                                      <p:cBhvr>
                                        <p:cTn id="15" dur="500"/>
                                        <p:tgtEl>
                                          <p:spTgt spid="18552"/>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8559"/>
                                        </p:tgtEl>
                                        <p:attrNameLst>
                                          <p:attrName>style.visibility</p:attrName>
                                        </p:attrNameLst>
                                      </p:cBhvr>
                                      <p:to>
                                        <p:strVal val="visible"/>
                                      </p:to>
                                    </p:set>
                                    <p:animEffect transition="in" filter="wipe(up)">
                                      <p:cBhvr>
                                        <p:cTn id="19" dur="500"/>
                                        <p:tgtEl>
                                          <p:spTgt spid="18559"/>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18554"/>
                                        </p:tgtEl>
                                        <p:attrNameLst>
                                          <p:attrName>style.visibility</p:attrName>
                                        </p:attrNameLst>
                                      </p:cBhvr>
                                      <p:to>
                                        <p:strVal val="visible"/>
                                      </p:to>
                                    </p:set>
                                    <p:animEffect transition="in" filter="wipe(up)">
                                      <p:cBhvr>
                                        <p:cTn id="23" dur="500"/>
                                        <p:tgtEl>
                                          <p:spTgt spid="18554"/>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18576"/>
                                        </p:tgtEl>
                                        <p:attrNameLst>
                                          <p:attrName>style.visibility</p:attrName>
                                        </p:attrNameLst>
                                      </p:cBhvr>
                                      <p:to>
                                        <p:strVal val="visible"/>
                                      </p:to>
                                    </p:set>
                                    <p:animEffect transition="in" filter="wipe(up)">
                                      <p:cBhvr>
                                        <p:cTn id="27" dur="500"/>
                                        <p:tgtEl>
                                          <p:spTgt spid="18576"/>
                                        </p:tgtEl>
                                      </p:cBhvr>
                                    </p:animEffect>
                                  </p:childTnLst>
                                </p:cTn>
                              </p:par>
                            </p:childTnLst>
                          </p:cTn>
                        </p:par>
                        <p:par>
                          <p:cTn id="28" fill="hold" nodeType="afterGroup">
                            <p:stCondLst>
                              <p:cond delay="3000"/>
                            </p:stCondLst>
                            <p:childTnLst>
                              <p:par>
                                <p:cTn id="29" presetID="22" presetClass="entr" presetSubtype="4" fill="hold" nodeType="afterEffect">
                                  <p:stCondLst>
                                    <p:cond delay="0"/>
                                  </p:stCondLst>
                                  <p:childTnLst>
                                    <p:set>
                                      <p:cBhvr>
                                        <p:cTn id="30" dur="1" fill="hold">
                                          <p:stCondLst>
                                            <p:cond delay="0"/>
                                          </p:stCondLst>
                                        </p:cTn>
                                        <p:tgtEl>
                                          <p:spTgt spid="18574"/>
                                        </p:tgtEl>
                                        <p:attrNameLst>
                                          <p:attrName>style.visibility</p:attrName>
                                        </p:attrNameLst>
                                      </p:cBhvr>
                                      <p:to>
                                        <p:strVal val="visible"/>
                                      </p:to>
                                    </p:set>
                                    <p:animEffect transition="in" filter="wipe(down)">
                                      <p:cBhvr>
                                        <p:cTn id="31" dur="500"/>
                                        <p:tgtEl>
                                          <p:spTgt spid="18574"/>
                                        </p:tgtEl>
                                      </p:cBhvr>
                                    </p:animEffect>
                                  </p:childTnLst>
                                </p:cTn>
                              </p:par>
                            </p:childTnLst>
                          </p:cTn>
                        </p:par>
                        <p:par>
                          <p:cTn id="32" fill="hold" nodeType="afterGroup">
                            <p:stCondLst>
                              <p:cond delay="3500"/>
                            </p:stCondLst>
                            <p:childTnLst>
                              <p:par>
                                <p:cTn id="33" presetID="22" presetClass="entr" presetSubtype="4" fill="hold" nodeType="afterEffect">
                                  <p:stCondLst>
                                    <p:cond delay="0"/>
                                  </p:stCondLst>
                                  <p:childTnLst>
                                    <p:set>
                                      <p:cBhvr>
                                        <p:cTn id="34" dur="1" fill="hold">
                                          <p:stCondLst>
                                            <p:cond delay="0"/>
                                          </p:stCondLst>
                                        </p:cTn>
                                        <p:tgtEl>
                                          <p:spTgt spid="18577"/>
                                        </p:tgtEl>
                                        <p:attrNameLst>
                                          <p:attrName>style.visibility</p:attrName>
                                        </p:attrNameLst>
                                      </p:cBhvr>
                                      <p:to>
                                        <p:strVal val="visible"/>
                                      </p:to>
                                    </p:set>
                                    <p:animEffect transition="in" filter="wipe(down)">
                                      <p:cBhvr>
                                        <p:cTn id="35" dur="500"/>
                                        <p:tgtEl>
                                          <p:spTgt spid="18577"/>
                                        </p:tgtEl>
                                      </p:cBhvr>
                                    </p:animEffect>
                                  </p:childTnLst>
                                </p:cTn>
                              </p:par>
                            </p:childTnLst>
                          </p:cTn>
                        </p:par>
                        <p:par>
                          <p:cTn id="36" fill="hold" nodeType="afterGroup">
                            <p:stCondLst>
                              <p:cond delay="4000"/>
                            </p:stCondLst>
                            <p:childTnLst>
                              <p:par>
                                <p:cTn id="37" presetID="22" presetClass="entr" presetSubtype="1" fill="hold" nodeType="afterEffect">
                                  <p:stCondLst>
                                    <p:cond delay="0"/>
                                  </p:stCondLst>
                                  <p:childTnLst>
                                    <p:set>
                                      <p:cBhvr>
                                        <p:cTn id="38" dur="1" fill="hold">
                                          <p:stCondLst>
                                            <p:cond delay="0"/>
                                          </p:stCondLst>
                                        </p:cTn>
                                        <p:tgtEl>
                                          <p:spTgt spid="18578"/>
                                        </p:tgtEl>
                                        <p:attrNameLst>
                                          <p:attrName>style.visibility</p:attrName>
                                        </p:attrNameLst>
                                      </p:cBhvr>
                                      <p:to>
                                        <p:strVal val="visible"/>
                                      </p:to>
                                    </p:set>
                                    <p:animEffect transition="in" filter="wipe(up)">
                                      <p:cBhvr>
                                        <p:cTn id="39" dur="500"/>
                                        <p:tgtEl>
                                          <p:spTgt spid="18578"/>
                                        </p:tgtEl>
                                      </p:cBhvr>
                                    </p:animEffect>
                                  </p:childTnLst>
                                </p:cTn>
                              </p:par>
                            </p:childTnLst>
                          </p:cTn>
                        </p:par>
                        <p:par>
                          <p:cTn id="40" fill="hold" nodeType="afterGroup">
                            <p:stCondLst>
                              <p:cond delay="4500"/>
                            </p:stCondLst>
                            <p:childTnLst>
                              <p:par>
                                <p:cTn id="41" presetID="22" presetClass="entr" presetSubtype="1" fill="hold" nodeType="afterEffect">
                                  <p:stCondLst>
                                    <p:cond delay="0"/>
                                  </p:stCondLst>
                                  <p:childTnLst>
                                    <p:set>
                                      <p:cBhvr>
                                        <p:cTn id="42" dur="1" fill="hold">
                                          <p:stCondLst>
                                            <p:cond delay="0"/>
                                          </p:stCondLst>
                                        </p:cTn>
                                        <p:tgtEl>
                                          <p:spTgt spid="18560"/>
                                        </p:tgtEl>
                                        <p:attrNameLst>
                                          <p:attrName>style.visibility</p:attrName>
                                        </p:attrNameLst>
                                      </p:cBhvr>
                                      <p:to>
                                        <p:strVal val="visible"/>
                                      </p:to>
                                    </p:set>
                                    <p:animEffect transition="in" filter="wipe(up)">
                                      <p:cBhvr>
                                        <p:cTn id="43" dur="500"/>
                                        <p:tgtEl>
                                          <p:spTgt spid="18560"/>
                                        </p:tgtEl>
                                      </p:cBhvr>
                                    </p:animEffect>
                                  </p:childTnLst>
                                </p:cTn>
                              </p:par>
                            </p:childTnLst>
                          </p:cTn>
                        </p:par>
                        <p:par>
                          <p:cTn id="44" fill="hold" nodeType="afterGroup">
                            <p:stCondLst>
                              <p:cond delay="5000"/>
                            </p:stCondLst>
                            <p:childTnLst>
                              <p:par>
                                <p:cTn id="45" presetID="22" presetClass="entr" presetSubtype="1" fill="hold" nodeType="afterEffect">
                                  <p:stCondLst>
                                    <p:cond delay="0"/>
                                  </p:stCondLst>
                                  <p:childTnLst>
                                    <p:set>
                                      <p:cBhvr>
                                        <p:cTn id="46" dur="1" fill="hold">
                                          <p:stCondLst>
                                            <p:cond delay="0"/>
                                          </p:stCondLst>
                                        </p:cTn>
                                        <p:tgtEl>
                                          <p:spTgt spid="18555"/>
                                        </p:tgtEl>
                                        <p:attrNameLst>
                                          <p:attrName>style.visibility</p:attrName>
                                        </p:attrNameLst>
                                      </p:cBhvr>
                                      <p:to>
                                        <p:strVal val="visible"/>
                                      </p:to>
                                    </p:set>
                                    <p:animEffect transition="in" filter="wipe(up)">
                                      <p:cBhvr>
                                        <p:cTn id="47" dur="500"/>
                                        <p:tgtEl>
                                          <p:spTgt spid="18555"/>
                                        </p:tgtEl>
                                      </p:cBhvr>
                                    </p:animEffect>
                                  </p:childTnLst>
                                </p:cTn>
                              </p:par>
                            </p:childTnLst>
                          </p:cTn>
                        </p:par>
                        <p:par>
                          <p:cTn id="48" fill="hold" nodeType="afterGroup">
                            <p:stCondLst>
                              <p:cond delay="5500"/>
                            </p:stCondLst>
                            <p:childTnLst>
                              <p:par>
                                <p:cTn id="49" presetID="22" presetClass="entr" presetSubtype="4" fill="hold" nodeType="afterEffect">
                                  <p:stCondLst>
                                    <p:cond delay="0"/>
                                  </p:stCondLst>
                                  <p:childTnLst>
                                    <p:set>
                                      <p:cBhvr>
                                        <p:cTn id="50" dur="1" fill="hold">
                                          <p:stCondLst>
                                            <p:cond delay="0"/>
                                          </p:stCondLst>
                                        </p:cTn>
                                        <p:tgtEl>
                                          <p:spTgt spid="18561"/>
                                        </p:tgtEl>
                                        <p:attrNameLst>
                                          <p:attrName>style.visibility</p:attrName>
                                        </p:attrNameLst>
                                      </p:cBhvr>
                                      <p:to>
                                        <p:strVal val="visible"/>
                                      </p:to>
                                    </p:set>
                                    <p:animEffect transition="in" filter="wipe(down)">
                                      <p:cBhvr>
                                        <p:cTn id="51" dur="500"/>
                                        <p:tgtEl>
                                          <p:spTgt spid="18561"/>
                                        </p:tgtEl>
                                      </p:cBhvr>
                                    </p:animEffect>
                                  </p:childTnLst>
                                </p:cTn>
                              </p:par>
                            </p:childTnLst>
                          </p:cTn>
                        </p:par>
                        <p:par>
                          <p:cTn id="52" fill="hold" nodeType="afterGroup">
                            <p:stCondLst>
                              <p:cond delay="6000"/>
                            </p:stCondLst>
                            <p:childTnLst>
                              <p:par>
                                <p:cTn id="53" presetID="22" presetClass="entr" presetSubtype="1" fill="hold" nodeType="afterEffect">
                                  <p:stCondLst>
                                    <p:cond delay="0"/>
                                  </p:stCondLst>
                                  <p:childTnLst>
                                    <p:set>
                                      <p:cBhvr>
                                        <p:cTn id="54" dur="1" fill="hold">
                                          <p:stCondLst>
                                            <p:cond delay="0"/>
                                          </p:stCondLst>
                                        </p:cTn>
                                        <p:tgtEl>
                                          <p:spTgt spid="18557"/>
                                        </p:tgtEl>
                                        <p:attrNameLst>
                                          <p:attrName>style.visibility</p:attrName>
                                        </p:attrNameLst>
                                      </p:cBhvr>
                                      <p:to>
                                        <p:strVal val="visible"/>
                                      </p:to>
                                    </p:set>
                                    <p:animEffect transition="in" filter="wipe(up)">
                                      <p:cBhvr>
                                        <p:cTn id="55" dur="500"/>
                                        <p:tgtEl>
                                          <p:spTgt spid="18557"/>
                                        </p:tgtEl>
                                      </p:cBhvr>
                                    </p:animEffect>
                                  </p:childTnLst>
                                </p:cTn>
                              </p:par>
                            </p:childTnLst>
                          </p:cTn>
                        </p:par>
                        <p:par>
                          <p:cTn id="56" fill="hold" nodeType="afterGroup">
                            <p:stCondLst>
                              <p:cond delay="6500"/>
                            </p:stCondLst>
                            <p:childTnLst>
                              <p:par>
                                <p:cTn id="57" presetID="22" presetClass="entr" presetSubtype="4" fill="hold" nodeType="afterEffect">
                                  <p:stCondLst>
                                    <p:cond delay="0"/>
                                  </p:stCondLst>
                                  <p:childTnLst>
                                    <p:set>
                                      <p:cBhvr>
                                        <p:cTn id="58" dur="1" fill="hold">
                                          <p:stCondLst>
                                            <p:cond delay="0"/>
                                          </p:stCondLst>
                                        </p:cTn>
                                        <p:tgtEl>
                                          <p:spTgt spid="18562"/>
                                        </p:tgtEl>
                                        <p:attrNameLst>
                                          <p:attrName>style.visibility</p:attrName>
                                        </p:attrNameLst>
                                      </p:cBhvr>
                                      <p:to>
                                        <p:strVal val="visible"/>
                                      </p:to>
                                    </p:set>
                                    <p:animEffect transition="in" filter="wipe(down)">
                                      <p:cBhvr>
                                        <p:cTn id="59" dur="500"/>
                                        <p:tgtEl>
                                          <p:spTgt spid="18562"/>
                                        </p:tgtEl>
                                      </p:cBhvr>
                                    </p:animEffect>
                                  </p:childTnLst>
                                </p:cTn>
                              </p:par>
                            </p:childTnLst>
                          </p:cTn>
                        </p:par>
                        <p:par>
                          <p:cTn id="60" fill="hold" nodeType="afterGroup">
                            <p:stCondLst>
                              <p:cond delay="7000"/>
                            </p:stCondLst>
                            <p:childTnLst>
                              <p:par>
                                <p:cTn id="61" presetID="22" presetClass="entr" presetSubtype="4" fill="hold" nodeType="afterEffect">
                                  <p:stCondLst>
                                    <p:cond delay="0"/>
                                  </p:stCondLst>
                                  <p:childTnLst>
                                    <p:set>
                                      <p:cBhvr>
                                        <p:cTn id="62" dur="1" fill="hold">
                                          <p:stCondLst>
                                            <p:cond delay="0"/>
                                          </p:stCondLst>
                                        </p:cTn>
                                        <p:tgtEl>
                                          <p:spTgt spid="18556"/>
                                        </p:tgtEl>
                                        <p:attrNameLst>
                                          <p:attrName>style.visibility</p:attrName>
                                        </p:attrNameLst>
                                      </p:cBhvr>
                                      <p:to>
                                        <p:strVal val="visible"/>
                                      </p:to>
                                    </p:set>
                                    <p:animEffect transition="in" filter="wipe(down)">
                                      <p:cBhvr>
                                        <p:cTn id="63" dur="500"/>
                                        <p:tgtEl>
                                          <p:spTgt spid="18556"/>
                                        </p:tgtEl>
                                      </p:cBhvr>
                                    </p:animEffect>
                                  </p:childTnLst>
                                </p:cTn>
                              </p:par>
                            </p:childTnLst>
                          </p:cTn>
                        </p:par>
                        <p:par>
                          <p:cTn id="64" fill="hold" nodeType="afterGroup">
                            <p:stCondLst>
                              <p:cond delay="7500"/>
                            </p:stCondLst>
                            <p:childTnLst>
                              <p:par>
                                <p:cTn id="65" presetID="22" presetClass="entr" presetSubtype="4" fill="hold" nodeType="afterEffect">
                                  <p:stCondLst>
                                    <p:cond delay="0"/>
                                  </p:stCondLst>
                                  <p:childTnLst>
                                    <p:set>
                                      <p:cBhvr>
                                        <p:cTn id="66" dur="1" fill="hold">
                                          <p:stCondLst>
                                            <p:cond delay="0"/>
                                          </p:stCondLst>
                                        </p:cTn>
                                        <p:tgtEl>
                                          <p:spTgt spid="18563"/>
                                        </p:tgtEl>
                                        <p:attrNameLst>
                                          <p:attrName>style.visibility</p:attrName>
                                        </p:attrNameLst>
                                      </p:cBhvr>
                                      <p:to>
                                        <p:strVal val="visible"/>
                                      </p:to>
                                    </p:set>
                                    <p:animEffect transition="in" filter="wipe(down)">
                                      <p:cBhvr>
                                        <p:cTn id="67" dur="500"/>
                                        <p:tgtEl>
                                          <p:spTgt spid="18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5" name="Group 122">
            <a:extLst>
              <a:ext uri="{FF2B5EF4-FFF2-40B4-BE49-F238E27FC236}">
                <a16:creationId xmlns:a16="http://schemas.microsoft.com/office/drawing/2014/main" id="{EB439768-63E1-B143-8F77-FAC325DD1CFF}"/>
              </a:ext>
            </a:extLst>
          </p:cNvPr>
          <p:cNvGrpSpPr>
            <a:grpSpLocks/>
          </p:cNvGrpSpPr>
          <p:nvPr/>
        </p:nvGrpSpPr>
        <p:grpSpPr bwMode="auto">
          <a:xfrm>
            <a:off x="4724400" y="1676401"/>
            <a:ext cx="2209800" cy="1814513"/>
            <a:chOff x="3792" y="1056"/>
            <a:chExt cx="1392" cy="1143"/>
          </a:xfrm>
        </p:grpSpPr>
        <p:grpSp>
          <p:nvGrpSpPr>
            <p:cNvPr id="21565" name="Group 67">
              <a:extLst>
                <a:ext uri="{FF2B5EF4-FFF2-40B4-BE49-F238E27FC236}">
                  <a16:creationId xmlns:a16="http://schemas.microsoft.com/office/drawing/2014/main" id="{20E42D80-045F-F14B-B220-5327E70F9A56}"/>
                </a:ext>
              </a:extLst>
            </p:cNvPr>
            <p:cNvGrpSpPr>
              <a:grpSpLocks/>
            </p:cNvGrpSpPr>
            <p:nvPr/>
          </p:nvGrpSpPr>
          <p:grpSpPr bwMode="auto">
            <a:xfrm>
              <a:off x="3792" y="1056"/>
              <a:ext cx="1392" cy="1143"/>
              <a:chOff x="1824" y="960"/>
              <a:chExt cx="1392" cy="1143"/>
            </a:xfrm>
          </p:grpSpPr>
          <p:grpSp>
            <p:nvGrpSpPr>
              <p:cNvPr id="21570" name="Group 68">
                <a:extLst>
                  <a:ext uri="{FF2B5EF4-FFF2-40B4-BE49-F238E27FC236}">
                    <a16:creationId xmlns:a16="http://schemas.microsoft.com/office/drawing/2014/main" id="{263E6336-6C52-DE45-953C-BD0EFFB50135}"/>
                  </a:ext>
                </a:extLst>
              </p:cNvPr>
              <p:cNvGrpSpPr>
                <a:grpSpLocks/>
              </p:cNvGrpSpPr>
              <p:nvPr/>
            </p:nvGrpSpPr>
            <p:grpSpPr bwMode="auto">
              <a:xfrm>
                <a:off x="1968" y="1104"/>
                <a:ext cx="960" cy="912"/>
                <a:chOff x="-912" y="1776"/>
                <a:chExt cx="960" cy="912"/>
              </a:xfrm>
            </p:grpSpPr>
            <p:sp>
              <p:nvSpPr>
                <p:cNvPr id="21575" name="Oval 69">
                  <a:extLst>
                    <a:ext uri="{FF2B5EF4-FFF2-40B4-BE49-F238E27FC236}">
                      <a16:creationId xmlns:a16="http://schemas.microsoft.com/office/drawing/2014/main" id="{9A965721-3739-3A42-8B8C-263146508B4A}"/>
                    </a:ext>
                  </a:extLst>
                </p:cNvPr>
                <p:cNvSpPr>
                  <a:spLocks noChangeArrowheads="1"/>
                </p:cNvSpPr>
                <p:nvPr/>
              </p:nvSpPr>
              <p:spPr bwMode="auto">
                <a:xfrm>
                  <a:off x="-48" y="201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76" name="Oval 70">
                  <a:extLst>
                    <a:ext uri="{FF2B5EF4-FFF2-40B4-BE49-F238E27FC236}">
                      <a16:creationId xmlns:a16="http://schemas.microsoft.com/office/drawing/2014/main" id="{7E6E5922-F148-4345-A653-46185A5E94AF}"/>
                    </a:ext>
                  </a:extLst>
                </p:cNvPr>
                <p:cNvSpPr>
                  <a:spLocks noChangeArrowheads="1"/>
                </p:cNvSpPr>
                <p:nvPr/>
              </p:nvSpPr>
              <p:spPr bwMode="auto">
                <a:xfrm>
                  <a:off x="-672" y="177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77" name="Oval 71">
                  <a:extLst>
                    <a:ext uri="{FF2B5EF4-FFF2-40B4-BE49-F238E27FC236}">
                      <a16:creationId xmlns:a16="http://schemas.microsoft.com/office/drawing/2014/main" id="{598D6BB2-0C90-8846-B724-C1CA4A387DEC}"/>
                    </a:ext>
                  </a:extLst>
                </p:cNvPr>
                <p:cNvSpPr>
                  <a:spLocks noChangeArrowheads="1"/>
                </p:cNvSpPr>
                <p:nvPr/>
              </p:nvSpPr>
              <p:spPr bwMode="auto">
                <a:xfrm>
                  <a:off x="-672" y="25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78" name="Oval 72">
                  <a:extLst>
                    <a:ext uri="{FF2B5EF4-FFF2-40B4-BE49-F238E27FC236}">
                      <a16:creationId xmlns:a16="http://schemas.microsoft.com/office/drawing/2014/main" id="{0C81CC57-5B67-4541-A67B-22F24CBFF5A1}"/>
                    </a:ext>
                  </a:extLst>
                </p:cNvPr>
                <p:cNvSpPr>
                  <a:spLocks noChangeArrowheads="1"/>
                </p:cNvSpPr>
                <p:nvPr/>
              </p:nvSpPr>
              <p:spPr bwMode="auto">
                <a:xfrm>
                  <a:off x="-912" y="201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79" name="Oval 73">
                  <a:extLst>
                    <a:ext uri="{FF2B5EF4-FFF2-40B4-BE49-F238E27FC236}">
                      <a16:creationId xmlns:a16="http://schemas.microsoft.com/office/drawing/2014/main" id="{A477967A-F444-3948-8E20-050F3A93ACDB}"/>
                    </a:ext>
                  </a:extLst>
                </p:cNvPr>
                <p:cNvSpPr>
                  <a:spLocks noChangeArrowheads="1"/>
                </p:cNvSpPr>
                <p:nvPr/>
              </p:nvSpPr>
              <p:spPr bwMode="auto">
                <a:xfrm>
                  <a:off x="-288" y="25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80" name="Oval 74">
                  <a:extLst>
                    <a:ext uri="{FF2B5EF4-FFF2-40B4-BE49-F238E27FC236}">
                      <a16:creationId xmlns:a16="http://schemas.microsoft.com/office/drawing/2014/main" id="{8411FB88-A22A-E943-ADE9-89CC3493910F}"/>
                    </a:ext>
                  </a:extLst>
                </p:cNvPr>
                <p:cNvSpPr>
                  <a:spLocks noChangeArrowheads="1"/>
                </p:cNvSpPr>
                <p:nvPr/>
              </p:nvSpPr>
              <p:spPr bwMode="auto">
                <a:xfrm>
                  <a:off x="-288" y="177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81" name="Oval 75">
                  <a:extLst>
                    <a:ext uri="{FF2B5EF4-FFF2-40B4-BE49-F238E27FC236}">
                      <a16:creationId xmlns:a16="http://schemas.microsoft.com/office/drawing/2014/main" id="{EA5AA92E-959B-0F43-96E9-94AD1520A2C5}"/>
                    </a:ext>
                  </a:extLst>
                </p:cNvPr>
                <p:cNvSpPr>
                  <a:spLocks noChangeArrowheads="1"/>
                </p:cNvSpPr>
                <p:nvPr/>
              </p:nvSpPr>
              <p:spPr bwMode="auto">
                <a:xfrm>
                  <a:off x="-48" y="235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82" name="Oval 76">
                  <a:extLst>
                    <a:ext uri="{FF2B5EF4-FFF2-40B4-BE49-F238E27FC236}">
                      <a16:creationId xmlns:a16="http://schemas.microsoft.com/office/drawing/2014/main" id="{030E4032-62CB-9043-B678-5C9F15CED899}"/>
                    </a:ext>
                  </a:extLst>
                </p:cNvPr>
                <p:cNvSpPr>
                  <a:spLocks noChangeArrowheads="1"/>
                </p:cNvSpPr>
                <p:nvPr/>
              </p:nvSpPr>
              <p:spPr bwMode="auto">
                <a:xfrm>
                  <a:off x="-912" y="235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83" name="Line 77">
                  <a:extLst>
                    <a:ext uri="{FF2B5EF4-FFF2-40B4-BE49-F238E27FC236}">
                      <a16:creationId xmlns:a16="http://schemas.microsoft.com/office/drawing/2014/main" id="{A59C4AAC-7B88-6D4D-B3E7-E20155CAF879}"/>
                    </a:ext>
                  </a:extLst>
                </p:cNvPr>
                <p:cNvSpPr>
                  <a:spLocks noChangeShapeType="1"/>
                </p:cNvSpPr>
                <p:nvPr/>
              </p:nvSpPr>
              <p:spPr bwMode="auto">
                <a:xfrm>
                  <a:off x="-864" y="2400"/>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4" name="Line 78">
                  <a:extLst>
                    <a:ext uri="{FF2B5EF4-FFF2-40B4-BE49-F238E27FC236}">
                      <a16:creationId xmlns:a16="http://schemas.microsoft.com/office/drawing/2014/main" id="{7F57B41A-1AE0-B547-B4C9-886933DEA749}"/>
                    </a:ext>
                  </a:extLst>
                </p:cNvPr>
                <p:cNvSpPr>
                  <a:spLocks noChangeShapeType="1"/>
                </p:cNvSpPr>
                <p:nvPr/>
              </p:nvSpPr>
              <p:spPr bwMode="auto">
                <a:xfrm>
                  <a:off x="-864" y="206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5" name="Line 79">
                  <a:extLst>
                    <a:ext uri="{FF2B5EF4-FFF2-40B4-BE49-F238E27FC236}">
                      <a16:creationId xmlns:a16="http://schemas.microsoft.com/office/drawing/2014/main" id="{07419ECE-64B4-3C4C-98D0-363DF2BFA5AD}"/>
                    </a:ext>
                  </a:extLst>
                </p:cNvPr>
                <p:cNvSpPr>
                  <a:spLocks noChangeShapeType="1"/>
                </p:cNvSpPr>
                <p:nvPr/>
              </p:nvSpPr>
              <p:spPr bwMode="auto">
                <a:xfrm flipH="1">
                  <a:off x="-864" y="1824"/>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6" name="Line 80">
                  <a:extLst>
                    <a:ext uri="{FF2B5EF4-FFF2-40B4-BE49-F238E27FC236}">
                      <a16:creationId xmlns:a16="http://schemas.microsoft.com/office/drawing/2014/main" id="{A9258E8B-53D3-814E-AC86-E469C747E23B}"/>
                    </a:ext>
                  </a:extLst>
                </p:cNvPr>
                <p:cNvSpPr>
                  <a:spLocks noChangeShapeType="1"/>
                </p:cNvSpPr>
                <p:nvPr/>
              </p:nvSpPr>
              <p:spPr bwMode="auto">
                <a:xfrm>
                  <a:off x="-240" y="1824"/>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7" name="Line 81">
                  <a:extLst>
                    <a:ext uri="{FF2B5EF4-FFF2-40B4-BE49-F238E27FC236}">
                      <a16:creationId xmlns:a16="http://schemas.microsoft.com/office/drawing/2014/main" id="{6AEA229B-9EF1-1D44-9253-A3736E8F7EA6}"/>
                    </a:ext>
                  </a:extLst>
                </p:cNvPr>
                <p:cNvSpPr>
                  <a:spLocks noChangeShapeType="1"/>
                </p:cNvSpPr>
                <p:nvPr/>
              </p:nvSpPr>
              <p:spPr bwMode="auto">
                <a:xfrm flipH="1">
                  <a:off x="-240" y="2400"/>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8" name="Line 82">
                  <a:extLst>
                    <a:ext uri="{FF2B5EF4-FFF2-40B4-BE49-F238E27FC236}">
                      <a16:creationId xmlns:a16="http://schemas.microsoft.com/office/drawing/2014/main" id="{B200CD1D-8511-BA4D-8030-D2917A01CEDF}"/>
                    </a:ext>
                  </a:extLst>
                </p:cNvPr>
                <p:cNvSpPr>
                  <a:spLocks noChangeShapeType="1"/>
                </p:cNvSpPr>
                <p:nvPr/>
              </p:nvSpPr>
              <p:spPr bwMode="auto">
                <a:xfrm>
                  <a:off x="-624" y="1824"/>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89" name="Line 83">
                  <a:extLst>
                    <a:ext uri="{FF2B5EF4-FFF2-40B4-BE49-F238E27FC236}">
                      <a16:creationId xmlns:a16="http://schemas.microsoft.com/office/drawing/2014/main" id="{30AD4E35-3BAF-9740-9609-AA634EB50C36}"/>
                    </a:ext>
                  </a:extLst>
                </p:cNvPr>
                <p:cNvSpPr>
                  <a:spLocks noChangeShapeType="1"/>
                </p:cNvSpPr>
                <p:nvPr/>
              </p:nvSpPr>
              <p:spPr bwMode="auto">
                <a:xfrm>
                  <a:off x="0" y="206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90" name="Line 84">
                  <a:extLst>
                    <a:ext uri="{FF2B5EF4-FFF2-40B4-BE49-F238E27FC236}">
                      <a16:creationId xmlns:a16="http://schemas.microsoft.com/office/drawing/2014/main" id="{6F2FFB23-0983-3445-802E-7D838E420F99}"/>
                    </a:ext>
                  </a:extLst>
                </p:cNvPr>
                <p:cNvSpPr>
                  <a:spLocks noChangeShapeType="1"/>
                </p:cNvSpPr>
                <p:nvPr/>
              </p:nvSpPr>
              <p:spPr bwMode="auto">
                <a:xfrm>
                  <a:off x="-624" y="2640"/>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571" name="Text Box 85">
                <a:extLst>
                  <a:ext uri="{FF2B5EF4-FFF2-40B4-BE49-F238E27FC236}">
                    <a16:creationId xmlns:a16="http://schemas.microsoft.com/office/drawing/2014/main" id="{C19F7DA4-294D-0444-A22C-26399B150762}"/>
                  </a:ext>
                </a:extLst>
              </p:cNvPr>
              <p:cNvSpPr txBox="1">
                <a:spLocks noChangeArrowheads="1"/>
              </p:cNvSpPr>
              <p:nvPr/>
            </p:nvSpPr>
            <p:spPr bwMode="auto">
              <a:xfrm>
                <a:off x="2016" y="960"/>
                <a:ext cx="8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a                b</a:t>
                </a:r>
              </a:p>
            </p:txBody>
          </p:sp>
          <p:sp>
            <p:nvSpPr>
              <p:cNvPr id="21572" name="Text Box 86">
                <a:extLst>
                  <a:ext uri="{FF2B5EF4-FFF2-40B4-BE49-F238E27FC236}">
                    <a16:creationId xmlns:a16="http://schemas.microsoft.com/office/drawing/2014/main" id="{9717E1C1-467F-D849-AFB2-64BFD35CEF15}"/>
                  </a:ext>
                </a:extLst>
              </p:cNvPr>
              <p:cNvSpPr txBox="1">
                <a:spLocks noChangeArrowheads="1"/>
              </p:cNvSpPr>
              <p:nvPr/>
            </p:nvSpPr>
            <p:spPr bwMode="auto">
              <a:xfrm>
                <a:off x="1824" y="1200"/>
                <a:ext cx="13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h                            c</a:t>
                </a:r>
              </a:p>
            </p:txBody>
          </p:sp>
          <p:sp>
            <p:nvSpPr>
              <p:cNvPr id="21573" name="Text Box 87">
                <a:extLst>
                  <a:ext uri="{FF2B5EF4-FFF2-40B4-BE49-F238E27FC236}">
                    <a16:creationId xmlns:a16="http://schemas.microsoft.com/office/drawing/2014/main" id="{4AEFFA94-0847-C542-BA65-9AE6320E459F}"/>
                  </a:ext>
                </a:extLst>
              </p:cNvPr>
              <p:cNvSpPr txBox="1">
                <a:spLocks noChangeArrowheads="1"/>
              </p:cNvSpPr>
              <p:nvPr/>
            </p:nvSpPr>
            <p:spPr bwMode="auto">
              <a:xfrm>
                <a:off x="1824" y="1536"/>
                <a:ext cx="13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g                            d</a:t>
                </a:r>
              </a:p>
            </p:txBody>
          </p:sp>
          <p:sp>
            <p:nvSpPr>
              <p:cNvPr id="21574" name="Text Box 88">
                <a:extLst>
                  <a:ext uri="{FF2B5EF4-FFF2-40B4-BE49-F238E27FC236}">
                    <a16:creationId xmlns:a16="http://schemas.microsoft.com/office/drawing/2014/main" id="{271FBE0C-305C-3140-8E90-04447624062A}"/>
                  </a:ext>
                </a:extLst>
              </p:cNvPr>
              <p:cNvSpPr txBox="1">
                <a:spLocks noChangeArrowheads="1"/>
              </p:cNvSpPr>
              <p:nvPr/>
            </p:nvSpPr>
            <p:spPr bwMode="auto">
              <a:xfrm>
                <a:off x="2016" y="1872"/>
                <a:ext cx="8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f                e</a:t>
                </a:r>
              </a:p>
            </p:txBody>
          </p:sp>
        </p:grpSp>
        <p:grpSp>
          <p:nvGrpSpPr>
            <p:cNvPr id="21566" name="Group 121">
              <a:extLst>
                <a:ext uri="{FF2B5EF4-FFF2-40B4-BE49-F238E27FC236}">
                  <a16:creationId xmlns:a16="http://schemas.microsoft.com/office/drawing/2014/main" id="{233C11CC-FC00-C14E-BB0E-D32A2093D3ED}"/>
                </a:ext>
              </a:extLst>
            </p:cNvPr>
            <p:cNvGrpSpPr>
              <a:grpSpLocks/>
            </p:cNvGrpSpPr>
            <p:nvPr/>
          </p:nvGrpSpPr>
          <p:grpSpPr bwMode="auto">
            <a:xfrm>
              <a:off x="4224" y="1248"/>
              <a:ext cx="624" cy="816"/>
              <a:chOff x="4224" y="1248"/>
              <a:chExt cx="624" cy="816"/>
            </a:xfrm>
          </p:grpSpPr>
          <p:sp>
            <p:nvSpPr>
              <p:cNvPr id="21567" name="Line 119">
                <a:extLst>
                  <a:ext uri="{FF2B5EF4-FFF2-40B4-BE49-F238E27FC236}">
                    <a16:creationId xmlns:a16="http://schemas.microsoft.com/office/drawing/2014/main" id="{2145F08F-61A3-BE40-8780-4761C67A5522}"/>
                  </a:ext>
                </a:extLst>
              </p:cNvPr>
              <p:cNvSpPr>
                <a:spLocks noChangeShapeType="1"/>
              </p:cNvSpPr>
              <p:nvPr/>
            </p:nvSpPr>
            <p:spPr bwMode="auto">
              <a:xfrm flipH="1">
                <a:off x="4224" y="1824"/>
                <a:ext cx="62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68" name="Line 120">
                <a:extLst>
                  <a:ext uri="{FF2B5EF4-FFF2-40B4-BE49-F238E27FC236}">
                    <a16:creationId xmlns:a16="http://schemas.microsoft.com/office/drawing/2014/main" id="{8A423AD0-5EF0-2240-8F50-D74816B64CC5}"/>
                  </a:ext>
                </a:extLst>
              </p:cNvPr>
              <p:cNvSpPr>
                <a:spLocks noChangeShapeType="1"/>
              </p:cNvSpPr>
              <p:nvPr/>
            </p:nvSpPr>
            <p:spPr bwMode="auto">
              <a:xfrm>
                <a:off x="4224" y="1248"/>
                <a:ext cx="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69" name="Line 117">
                <a:extLst>
                  <a:ext uri="{FF2B5EF4-FFF2-40B4-BE49-F238E27FC236}">
                    <a16:creationId xmlns:a16="http://schemas.microsoft.com/office/drawing/2014/main" id="{54A89CFE-D8E5-8D44-B549-0F49E6015BE0}"/>
                  </a:ext>
                </a:extLst>
              </p:cNvPr>
              <p:cNvSpPr>
                <a:spLocks noChangeShapeType="1"/>
              </p:cNvSpPr>
              <p:nvPr/>
            </p:nvSpPr>
            <p:spPr bwMode="auto">
              <a:xfrm flipH="1" flipV="1">
                <a:off x="4224" y="1248"/>
                <a:ext cx="6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1506" name="Rectangle 3">
            <a:extLst>
              <a:ext uri="{FF2B5EF4-FFF2-40B4-BE49-F238E27FC236}">
                <a16:creationId xmlns:a16="http://schemas.microsoft.com/office/drawing/2014/main" id="{C8B80530-04A4-B84F-B691-6FE4B77E413D}"/>
              </a:ext>
            </a:extLst>
          </p:cNvPr>
          <p:cNvSpPr>
            <a:spLocks noGrp="1" noChangeArrowheads="1"/>
          </p:cNvSpPr>
          <p:nvPr>
            <p:ph type="body" idx="1"/>
          </p:nvPr>
        </p:nvSpPr>
        <p:spPr>
          <a:xfrm>
            <a:off x="1905000" y="381000"/>
            <a:ext cx="8305800" cy="1219200"/>
          </a:xfrm>
        </p:spPr>
        <p:txBody>
          <a:bodyPr>
            <a:normAutofit lnSpcReduction="10000"/>
          </a:bodyPr>
          <a:lstStyle/>
          <a:p>
            <a:pPr eaLnBrk="1" hangingPunct="1">
              <a:lnSpc>
                <a:spcPct val="80000"/>
              </a:lnSpc>
              <a:buFontTx/>
              <a:buNone/>
            </a:pPr>
            <a:r>
              <a:rPr lang="en-US" altLang="en-US" sz="2400" b="1" i="1">
                <a:latin typeface="Times New Roman" panose="02020603050405020304" pitchFamily="18" charset="0"/>
                <a:ea typeface="ＭＳ Ｐゴシック" panose="020B0600070205080204" pitchFamily="34" charset="-128"/>
              </a:rPr>
              <a:t>Cycle:</a:t>
            </a:r>
          </a:p>
          <a:p>
            <a:pPr eaLnBrk="1" hangingPunct="1">
              <a:lnSpc>
                <a:spcPct val="80000"/>
              </a:lnSpc>
              <a:buFontTx/>
              <a:buNone/>
            </a:pPr>
            <a:r>
              <a:rPr lang="en-US" altLang="en-US" sz="500" b="1" i="1">
                <a:latin typeface="Times New Roman" panose="02020603050405020304" pitchFamily="18" charset="0"/>
                <a:ea typeface="ＭＳ Ｐゴシック" panose="020B0600070205080204" pitchFamily="34" charset="-128"/>
              </a:rPr>
              <a:t>	</a:t>
            </a:r>
            <a:r>
              <a:rPr lang="en-US" altLang="en-US" sz="2000">
                <a:latin typeface="Times New Roman" panose="02020603050405020304" pitchFamily="18" charset="0"/>
                <a:ea typeface="ＭＳ Ｐゴシック" panose="020B0600070205080204" pitchFamily="34" charset="-128"/>
              </a:rPr>
              <a:t>A sequence of consecutively linked edges whose starting vertex is the ending vertex, in which no edge can appear more than once. However, vertices can be repeated.</a:t>
            </a:r>
          </a:p>
          <a:p>
            <a:pPr eaLnBrk="1" hangingPunct="1">
              <a:lnSpc>
                <a:spcPct val="80000"/>
              </a:lnSpc>
              <a:buFontTx/>
              <a:buNone/>
            </a:pPr>
            <a:endParaRPr lang="en-US" altLang="en-US" sz="2000">
              <a:ea typeface="ＭＳ Ｐゴシック" panose="020B0600070205080204" pitchFamily="34" charset="-128"/>
            </a:endParaRPr>
          </a:p>
        </p:txBody>
      </p:sp>
      <p:sp>
        <p:nvSpPr>
          <p:cNvPr id="21507" name="Text Box 32">
            <a:extLst>
              <a:ext uri="{FF2B5EF4-FFF2-40B4-BE49-F238E27FC236}">
                <a16:creationId xmlns:a16="http://schemas.microsoft.com/office/drawing/2014/main" id="{44ACBC5D-1D33-3746-A554-F95F97EB33C1}"/>
              </a:ext>
            </a:extLst>
          </p:cNvPr>
          <p:cNvSpPr txBox="1">
            <a:spLocks noChangeArrowheads="1"/>
          </p:cNvSpPr>
          <p:nvPr/>
        </p:nvSpPr>
        <p:spPr bwMode="auto">
          <a:xfrm>
            <a:off x="1828800" y="3429000"/>
            <a:ext cx="85725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400" b="1" i="1">
                <a:latin typeface="Times New Roman" panose="02020603050405020304" pitchFamily="18" charset="0"/>
              </a:rPr>
              <a:t>Euler Cycle:</a:t>
            </a:r>
            <a:r>
              <a:rPr lang="en-US" altLang="en-US" sz="1800" b="1" i="1">
                <a:latin typeface="Times New Roman" panose="02020603050405020304" pitchFamily="18" charset="0"/>
              </a:rPr>
              <a:t> </a:t>
            </a:r>
          </a:p>
          <a:p>
            <a:pPr eaLnBrk="1" hangingPunct="1">
              <a:spcBef>
                <a:spcPct val="0"/>
              </a:spcBef>
              <a:buFontTx/>
              <a:buNone/>
            </a:pPr>
            <a:r>
              <a:rPr lang="en-US" altLang="en-US" sz="2000">
                <a:latin typeface="Times New Roman" panose="02020603050405020304" pitchFamily="18" charset="0"/>
              </a:rPr>
              <a:t>      A path (trail) through a graph which starts and ends at the same vertex and </a:t>
            </a:r>
          </a:p>
          <a:p>
            <a:pPr eaLnBrk="1" hangingPunct="1">
              <a:spcBef>
                <a:spcPct val="0"/>
              </a:spcBef>
              <a:buFontTx/>
              <a:buNone/>
            </a:pPr>
            <a:r>
              <a:rPr lang="en-US" altLang="en-US" sz="2000">
                <a:latin typeface="Times New Roman" panose="02020603050405020304" pitchFamily="18" charset="0"/>
              </a:rPr>
              <a:t>      includes every edge exactly once (vertices may be repeated).</a:t>
            </a:r>
          </a:p>
          <a:p>
            <a:pPr eaLnBrk="1" hangingPunct="1">
              <a:spcBef>
                <a:spcPct val="0"/>
              </a:spcBef>
              <a:buFontTx/>
              <a:buNone/>
            </a:pPr>
            <a:endParaRPr lang="en-US" altLang="en-US" sz="2000">
              <a:latin typeface="Times New Roman" panose="02020603050405020304" pitchFamily="18" charset="0"/>
            </a:endParaRPr>
          </a:p>
        </p:txBody>
      </p:sp>
      <p:sp>
        <p:nvSpPr>
          <p:cNvPr id="21508" name="Text Box 33">
            <a:extLst>
              <a:ext uri="{FF2B5EF4-FFF2-40B4-BE49-F238E27FC236}">
                <a16:creationId xmlns:a16="http://schemas.microsoft.com/office/drawing/2014/main" id="{81218612-AE93-0847-8F6A-23CF9286AD34}"/>
              </a:ext>
            </a:extLst>
          </p:cNvPr>
          <p:cNvSpPr txBox="1">
            <a:spLocks noChangeArrowheads="1"/>
          </p:cNvSpPr>
          <p:nvPr/>
        </p:nvSpPr>
        <p:spPr bwMode="auto">
          <a:xfrm>
            <a:off x="2743200" y="15240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imes New Roman" panose="02020603050405020304" pitchFamily="18" charset="0"/>
              </a:rPr>
              <a:t>e.g.</a:t>
            </a:r>
          </a:p>
        </p:txBody>
      </p:sp>
      <p:grpSp>
        <p:nvGrpSpPr>
          <p:cNvPr id="21509" name="Group 38">
            <a:extLst>
              <a:ext uri="{FF2B5EF4-FFF2-40B4-BE49-F238E27FC236}">
                <a16:creationId xmlns:a16="http://schemas.microsoft.com/office/drawing/2014/main" id="{A7248B72-E154-2348-B256-BAC9C489FCEA}"/>
              </a:ext>
            </a:extLst>
          </p:cNvPr>
          <p:cNvGrpSpPr>
            <a:grpSpLocks/>
          </p:cNvGrpSpPr>
          <p:nvPr/>
        </p:nvGrpSpPr>
        <p:grpSpPr bwMode="auto">
          <a:xfrm>
            <a:off x="4038600" y="4267201"/>
            <a:ext cx="2209800" cy="1814513"/>
            <a:chOff x="1824" y="960"/>
            <a:chExt cx="1392" cy="1143"/>
          </a:xfrm>
        </p:grpSpPr>
        <p:grpSp>
          <p:nvGrpSpPr>
            <p:cNvPr id="21544" name="Group 15">
              <a:extLst>
                <a:ext uri="{FF2B5EF4-FFF2-40B4-BE49-F238E27FC236}">
                  <a16:creationId xmlns:a16="http://schemas.microsoft.com/office/drawing/2014/main" id="{CE2D9B53-109A-2641-9FA2-01A4F647172A}"/>
                </a:ext>
              </a:extLst>
            </p:cNvPr>
            <p:cNvGrpSpPr>
              <a:grpSpLocks/>
            </p:cNvGrpSpPr>
            <p:nvPr/>
          </p:nvGrpSpPr>
          <p:grpSpPr bwMode="auto">
            <a:xfrm>
              <a:off x="1968" y="1104"/>
              <a:ext cx="960" cy="912"/>
              <a:chOff x="-912" y="1776"/>
              <a:chExt cx="960" cy="912"/>
            </a:xfrm>
          </p:grpSpPr>
          <p:sp>
            <p:nvSpPr>
              <p:cNvPr id="21549" name="Oval 16">
                <a:extLst>
                  <a:ext uri="{FF2B5EF4-FFF2-40B4-BE49-F238E27FC236}">
                    <a16:creationId xmlns:a16="http://schemas.microsoft.com/office/drawing/2014/main" id="{46072FC6-C53C-2846-9FA4-F5FF47CB07D5}"/>
                  </a:ext>
                </a:extLst>
              </p:cNvPr>
              <p:cNvSpPr>
                <a:spLocks noChangeArrowheads="1"/>
              </p:cNvSpPr>
              <p:nvPr/>
            </p:nvSpPr>
            <p:spPr bwMode="auto">
              <a:xfrm>
                <a:off x="-48" y="201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50" name="Oval 17">
                <a:extLst>
                  <a:ext uri="{FF2B5EF4-FFF2-40B4-BE49-F238E27FC236}">
                    <a16:creationId xmlns:a16="http://schemas.microsoft.com/office/drawing/2014/main" id="{04D317F7-FF87-BD43-A755-88AC7CA0582E}"/>
                  </a:ext>
                </a:extLst>
              </p:cNvPr>
              <p:cNvSpPr>
                <a:spLocks noChangeArrowheads="1"/>
              </p:cNvSpPr>
              <p:nvPr/>
            </p:nvSpPr>
            <p:spPr bwMode="auto">
              <a:xfrm>
                <a:off x="-672" y="177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51" name="Oval 18">
                <a:extLst>
                  <a:ext uri="{FF2B5EF4-FFF2-40B4-BE49-F238E27FC236}">
                    <a16:creationId xmlns:a16="http://schemas.microsoft.com/office/drawing/2014/main" id="{E249A1F5-A06A-3C43-8E9C-FD6C625244E9}"/>
                  </a:ext>
                </a:extLst>
              </p:cNvPr>
              <p:cNvSpPr>
                <a:spLocks noChangeArrowheads="1"/>
              </p:cNvSpPr>
              <p:nvPr/>
            </p:nvSpPr>
            <p:spPr bwMode="auto">
              <a:xfrm>
                <a:off x="-672" y="25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52" name="Oval 19">
                <a:extLst>
                  <a:ext uri="{FF2B5EF4-FFF2-40B4-BE49-F238E27FC236}">
                    <a16:creationId xmlns:a16="http://schemas.microsoft.com/office/drawing/2014/main" id="{EC4055B8-C05E-0E4D-8B82-8CAE342E3CFF}"/>
                  </a:ext>
                </a:extLst>
              </p:cNvPr>
              <p:cNvSpPr>
                <a:spLocks noChangeArrowheads="1"/>
              </p:cNvSpPr>
              <p:nvPr/>
            </p:nvSpPr>
            <p:spPr bwMode="auto">
              <a:xfrm>
                <a:off x="-912" y="201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53" name="Oval 20">
                <a:extLst>
                  <a:ext uri="{FF2B5EF4-FFF2-40B4-BE49-F238E27FC236}">
                    <a16:creationId xmlns:a16="http://schemas.microsoft.com/office/drawing/2014/main" id="{5E86FFA8-97AB-0F41-A0F3-BF60AA0A0504}"/>
                  </a:ext>
                </a:extLst>
              </p:cNvPr>
              <p:cNvSpPr>
                <a:spLocks noChangeArrowheads="1"/>
              </p:cNvSpPr>
              <p:nvPr/>
            </p:nvSpPr>
            <p:spPr bwMode="auto">
              <a:xfrm>
                <a:off x="-288" y="25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54" name="Oval 21">
                <a:extLst>
                  <a:ext uri="{FF2B5EF4-FFF2-40B4-BE49-F238E27FC236}">
                    <a16:creationId xmlns:a16="http://schemas.microsoft.com/office/drawing/2014/main" id="{CB7A15C4-33E5-CB47-A873-A28A366F8146}"/>
                  </a:ext>
                </a:extLst>
              </p:cNvPr>
              <p:cNvSpPr>
                <a:spLocks noChangeArrowheads="1"/>
              </p:cNvSpPr>
              <p:nvPr/>
            </p:nvSpPr>
            <p:spPr bwMode="auto">
              <a:xfrm>
                <a:off x="-288" y="177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55" name="Oval 22">
                <a:extLst>
                  <a:ext uri="{FF2B5EF4-FFF2-40B4-BE49-F238E27FC236}">
                    <a16:creationId xmlns:a16="http://schemas.microsoft.com/office/drawing/2014/main" id="{FD2D4591-A954-3849-BB8B-8DF89056BE5D}"/>
                  </a:ext>
                </a:extLst>
              </p:cNvPr>
              <p:cNvSpPr>
                <a:spLocks noChangeArrowheads="1"/>
              </p:cNvSpPr>
              <p:nvPr/>
            </p:nvSpPr>
            <p:spPr bwMode="auto">
              <a:xfrm>
                <a:off x="-48" y="235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56" name="Oval 23">
                <a:extLst>
                  <a:ext uri="{FF2B5EF4-FFF2-40B4-BE49-F238E27FC236}">
                    <a16:creationId xmlns:a16="http://schemas.microsoft.com/office/drawing/2014/main" id="{5E4906EF-36B9-DD4B-B259-52369EDCD824}"/>
                  </a:ext>
                </a:extLst>
              </p:cNvPr>
              <p:cNvSpPr>
                <a:spLocks noChangeArrowheads="1"/>
              </p:cNvSpPr>
              <p:nvPr/>
            </p:nvSpPr>
            <p:spPr bwMode="auto">
              <a:xfrm>
                <a:off x="-912" y="235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1557" name="Line 24">
                <a:extLst>
                  <a:ext uri="{FF2B5EF4-FFF2-40B4-BE49-F238E27FC236}">
                    <a16:creationId xmlns:a16="http://schemas.microsoft.com/office/drawing/2014/main" id="{75D9331F-66C7-AD4F-8A84-FFAD7E0A8875}"/>
                  </a:ext>
                </a:extLst>
              </p:cNvPr>
              <p:cNvSpPr>
                <a:spLocks noChangeShapeType="1"/>
              </p:cNvSpPr>
              <p:nvPr/>
            </p:nvSpPr>
            <p:spPr bwMode="auto">
              <a:xfrm>
                <a:off x="-864" y="2400"/>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58" name="Line 25">
                <a:extLst>
                  <a:ext uri="{FF2B5EF4-FFF2-40B4-BE49-F238E27FC236}">
                    <a16:creationId xmlns:a16="http://schemas.microsoft.com/office/drawing/2014/main" id="{1DBC039C-B9AF-5F46-92DE-19E94AB3F99C}"/>
                  </a:ext>
                </a:extLst>
              </p:cNvPr>
              <p:cNvSpPr>
                <a:spLocks noChangeShapeType="1"/>
              </p:cNvSpPr>
              <p:nvPr/>
            </p:nvSpPr>
            <p:spPr bwMode="auto">
              <a:xfrm>
                <a:off x="-864" y="206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59" name="Line 26">
                <a:extLst>
                  <a:ext uri="{FF2B5EF4-FFF2-40B4-BE49-F238E27FC236}">
                    <a16:creationId xmlns:a16="http://schemas.microsoft.com/office/drawing/2014/main" id="{E9005A7C-0DA4-7B4E-BCC4-DAEDA1BDC8D5}"/>
                  </a:ext>
                </a:extLst>
              </p:cNvPr>
              <p:cNvSpPr>
                <a:spLocks noChangeShapeType="1"/>
              </p:cNvSpPr>
              <p:nvPr/>
            </p:nvSpPr>
            <p:spPr bwMode="auto">
              <a:xfrm flipH="1">
                <a:off x="-864" y="1824"/>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60" name="Line 27">
                <a:extLst>
                  <a:ext uri="{FF2B5EF4-FFF2-40B4-BE49-F238E27FC236}">
                    <a16:creationId xmlns:a16="http://schemas.microsoft.com/office/drawing/2014/main" id="{EA99E373-B114-2B42-B7B5-7E2C57AF6EBF}"/>
                  </a:ext>
                </a:extLst>
              </p:cNvPr>
              <p:cNvSpPr>
                <a:spLocks noChangeShapeType="1"/>
              </p:cNvSpPr>
              <p:nvPr/>
            </p:nvSpPr>
            <p:spPr bwMode="auto">
              <a:xfrm>
                <a:off x="-240" y="1824"/>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61" name="Line 28">
                <a:extLst>
                  <a:ext uri="{FF2B5EF4-FFF2-40B4-BE49-F238E27FC236}">
                    <a16:creationId xmlns:a16="http://schemas.microsoft.com/office/drawing/2014/main" id="{2F875427-6262-A44F-9812-7C0F209759C8}"/>
                  </a:ext>
                </a:extLst>
              </p:cNvPr>
              <p:cNvSpPr>
                <a:spLocks noChangeShapeType="1"/>
              </p:cNvSpPr>
              <p:nvPr/>
            </p:nvSpPr>
            <p:spPr bwMode="auto">
              <a:xfrm flipH="1">
                <a:off x="-240" y="2400"/>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62" name="Line 29">
                <a:extLst>
                  <a:ext uri="{FF2B5EF4-FFF2-40B4-BE49-F238E27FC236}">
                    <a16:creationId xmlns:a16="http://schemas.microsoft.com/office/drawing/2014/main" id="{0A5A919D-F71F-FA44-9C65-F688044C2EDE}"/>
                  </a:ext>
                </a:extLst>
              </p:cNvPr>
              <p:cNvSpPr>
                <a:spLocks noChangeShapeType="1"/>
              </p:cNvSpPr>
              <p:nvPr/>
            </p:nvSpPr>
            <p:spPr bwMode="auto">
              <a:xfrm>
                <a:off x="-624" y="1824"/>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63" name="Line 30">
                <a:extLst>
                  <a:ext uri="{FF2B5EF4-FFF2-40B4-BE49-F238E27FC236}">
                    <a16:creationId xmlns:a16="http://schemas.microsoft.com/office/drawing/2014/main" id="{9B8C6A5A-BBE7-2A4D-AE7A-24F5167ED040}"/>
                  </a:ext>
                </a:extLst>
              </p:cNvPr>
              <p:cNvSpPr>
                <a:spLocks noChangeShapeType="1"/>
              </p:cNvSpPr>
              <p:nvPr/>
            </p:nvSpPr>
            <p:spPr bwMode="auto">
              <a:xfrm>
                <a:off x="0" y="206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64" name="Line 31">
                <a:extLst>
                  <a:ext uri="{FF2B5EF4-FFF2-40B4-BE49-F238E27FC236}">
                    <a16:creationId xmlns:a16="http://schemas.microsoft.com/office/drawing/2014/main" id="{378EB4F7-582B-1442-9667-182110169B03}"/>
                  </a:ext>
                </a:extLst>
              </p:cNvPr>
              <p:cNvSpPr>
                <a:spLocks noChangeShapeType="1"/>
              </p:cNvSpPr>
              <p:nvPr/>
            </p:nvSpPr>
            <p:spPr bwMode="auto">
              <a:xfrm>
                <a:off x="-624" y="2640"/>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545" name="Text Box 34">
              <a:extLst>
                <a:ext uri="{FF2B5EF4-FFF2-40B4-BE49-F238E27FC236}">
                  <a16:creationId xmlns:a16="http://schemas.microsoft.com/office/drawing/2014/main" id="{023F94B3-D816-A645-8F04-F1F25C6467D1}"/>
                </a:ext>
              </a:extLst>
            </p:cNvPr>
            <p:cNvSpPr txBox="1">
              <a:spLocks noChangeArrowheads="1"/>
            </p:cNvSpPr>
            <p:nvPr/>
          </p:nvSpPr>
          <p:spPr bwMode="auto">
            <a:xfrm>
              <a:off x="2016" y="960"/>
              <a:ext cx="8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a                b</a:t>
              </a:r>
            </a:p>
          </p:txBody>
        </p:sp>
        <p:sp>
          <p:nvSpPr>
            <p:cNvPr id="21546" name="Text Box 35">
              <a:extLst>
                <a:ext uri="{FF2B5EF4-FFF2-40B4-BE49-F238E27FC236}">
                  <a16:creationId xmlns:a16="http://schemas.microsoft.com/office/drawing/2014/main" id="{1BD33769-CE3C-6349-8745-0E04D547595F}"/>
                </a:ext>
              </a:extLst>
            </p:cNvPr>
            <p:cNvSpPr txBox="1">
              <a:spLocks noChangeArrowheads="1"/>
            </p:cNvSpPr>
            <p:nvPr/>
          </p:nvSpPr>
          <p:spPr bwMode="auto">
            <a:xfrm>
              <a:off x="1824" y="1200"/>
              <a:ext cx="13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h                            c</a:t>
              </a:r>
            </a:p>
          </p:txBody>
        </p:sp>
        <p:sp>
          <p:nvSpPr>
            <p:cNvPr id="21547" name="Text Box 36">
              <a:extLst>
                <a:ext uri="{FF2B5EF4-FFF2-40B4-BE49-F238E27FC236}">
                  <a16:creationId xmlns:a16="http://schemas.microsoft.com/office/drawing/2014/main" id="{9A18E724-0669-9544-8878-70100C5A619C}"/>
                </a:ext>
              </a:extLst>
            </p:cNvPr>
            <p:cNvSpPr txBox="1">
              <a:spLocks noChangeArrowheads="1"/>
            </p:cNvSpPr>
            <p:nvPr/>
          </p:nvSpPr>
          <p:spPr bwMode="auto">
            <a:xfrm>
              <a:off x="1824" y="1536"/>
              <a:ext cx="13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g                            d</a:t>
              </a:r>
            </a:p>
          </p:txBody>
        </p:sp>
        <p:sp>
          <p:nvSpPr>
            <p:cNvPr id="21548" name="Text Box 37">
              <a:extLst>
                <a:ext uri="{FF2B5EF4-FFF2-40B4-BE49-F238E27FC236}">
                  <a16:creationId xmlns:a16="http://schemas.microsoft.com/office/drawing/2014/main" id="{3976965F-194E-1F4F-8D0C-4E8BB9C11EF1}"/>
                </a:ext>
              </a:extLst>
            </p:cNvPr>
            <p:cNvSpPr txBox="1">
              <a:spLocks noChangeArrowheads="1"/>
            </p:cNvSpPr>
            <p:nvPr/>
          </p:nvSpPr>
          <p:spPr bwMode="auto">
            <a:xfrm>
              <a:off x="2016" y="1872"/>
              <a:ext cx="8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f                e</a:t>
              </a:r>
            </a:p>
          </p:txBody>
        </p:sp>
      </p:grpSp>
      <p:grpSp>
        <p:nvGrpSpPr>
          <p:cNvPr id="21510" name="Group 48">
            <a:extLst>
              <a:ext uri="{FF2B5EF4-FFF2-40B4-BE49-F238E27FC236}">
                <a16:creationId xmlns:a16="http://schemas.microsoft.com/office/drawing/2014/main" id="{2A2408E7-D8B5-9B4C-AFD2-B2363069E21F}"/>
              </a:ext>
            </a:extLst>
          </p:cNvPr>
          <p:cNvGrpSpPr>
            <a:grpSpLocks/>
          </p:cNvGrpSpPr>
          <p:nvPr/>
        </p:nvGrpSpPr>
        <p:grpSpPr bwMode="auto">
          <a:xfrm>
            <a:off x="4343400" y="4572000"/>
            <a:ext cx="1371600" cy="1295400"/>
            <a:chOff x="2160" y="2928"/>
            <a:chExt cx="864" cy="816"/>
          </a:xfrm>
        </p:grpSpPr>
        <p:sp>
          <p:nvSpPr>
            <p:cNvPr id="21536" name="Line 40">
              <a:extLst>
                <a:ext uri="{FF2B5EF4-FFF2-40B4-BE49-F238E27FC236}">
                  <a16:creationId xmlns:a16="http://schemas.microsoft.com/office/drawing/2014/main" id="{D7DD4DFB-4232-9F47-BBA6-DF1FC4AE1002}"/>
                </a:ext>
              </a:extLst>
            </p:cNvPr>
            <p:cNvSpPr>
              <a:spLocks noChangeShapeType="1"/>
            </p:cNvSpPr>
            <p:nvPr/>
          </p:nvSpPr>
          <p:spPr bwMode="auto">
            <a:xfrm>
              <a:off x="2400" y="2928"/>
              <a:ext cx="6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7" name="Line 41">
              <a:extLst>
                <a:ext uri="{FF2B5EF4-FFF2-40B4-BE49-F238E27FC236}">
                  <a16:creationId xmlns:a16="http://schemas.microsoft.com/office/drawing/2014/main" id="{6AFF1D56-E74B-194D-8D3B-ABE66F3B393B}"/>
                </a:ext>
              </a:extLst>
            </p:cNvPr>
            <p:cNvSpPr>
              <a:spLocks noChangeShapeType="1"/>
            </p:cNvSpPr>
            <p:nvPr/>
          </p:nvSpPr>
          <p:spPr bwMode="auto">
            <a:xfrm flipH="1" flipV="1">
              <a:off x="2160" y="3168"/>
              <a:ext cx="86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8" name="Line 42">
              <a:extLst>
                <a:ext uri="{FF2B5EF4-FFF2-40B4-BE49-F238E27FC236}">
                  <a16:creationId xmlns:a16="http://schemas.microsoft.com/office/drawing/2014/main" id="{260E7F85-65E8-DD4A-A724-20F809CD1265}"/>
                </a:ext>
              </a:extLst>
            </p:cNvPr>
            <p:cNvSpPr>
              <a:spLocks noChangeShapeType="1"/>
            </p:cNvSpPr>
            <p:nvPr/>
          </p:nvSpPr>
          <p:spPr bwMode="auto">
            <a:xfrm>
              <a:off x="2160" y="3168"/>
              <a:ext cx="6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9" name="Line 43">
              <a:extLst>
                <a:ext uri="{FF2B5EF4-FFF2-40B4-BE49-F238E27FC236}">
                  <a16:creationId xmlns:a16="http://schemas.microsoft.com/office/drawing/2014/main" id="{9D237FDB-0C37-3D4B-AA83-CD32ABDA40CE}"/>
                </a:ext>
              </a:extLst>
            </p:cNvPr>
            <p:cNvSpPr>
              <a:spLocks noChangeShapeType="1"/>
            </p:cNvSpPr>
            <p:nvPr/>
          </p:nvSpPr>
          <p:spPr bwMode="auto">
            <a:xfrm flipH="1" flipV="1">
              <a:off x="2784" y="2928"/>
              <a:ext cx="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40" name="Line 44">
              <a:extLst>
                <a:ext uri="{FF2B5EF4-FFF2-40B4-BE49-F238E27FC236}">
                  <a16:creationId xmlns:a16="http://schemas.microsoft.com/office/drawing/2014/main" id="{60DFD72A-DEC3-0543-A206-0FFFB19544F3}"/>
                </a:ext>
              </a:extLst>
            </p:cNvPr>
            <p:cNvSpPr>
              <a:spLocks noChangeShapeType="1"/>
            </p:cNvSpPr>
            <p:nvPr/>
          </p:nvSpPr>
          <p:spPr bwMode="auto">
            <a:xfrm flipV="1">
              <a:off x="2160" y="2928"/>
              <a:ext cx="6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41" name="Line 45">
              <a:extLst>
                <a:ext uri="{FF2B5EF4-FFF2-40B4-BE49-F238E27FC236}">
                  <a16:creationId xmlns:a16="http://schemas.microsoft.com/office/drawing/2014/main" id="{154159BC-DF96-3B43-8CC6-D1C8F205DD31}"/>
                </a:ext>
              </a:extLst>
            </p:cNvPr>
            <p:cNvSpPr>
              <a:spLocks noChangeShapeType="1"/>
            </p:cNvSpPr>
            <p:nvPr/>
          </p:nvSpPr>
          <p:spPr bwMode="auto">
            <a:xfrm flipV="1">
              <a:off x="2160" y="3168"/>
              <a:ext cx="86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42" name="Line 46">
              <a:extLst>
                <a:ext uri="{FF2B5EF4-FFF2-40B4-BE49-F238E27FC236}">
                  <a16:creationId xmlns:a16="http://schemas.microsoft.com/office/drawing/2014/main" id="{63E69142-3B6C-F945-9D1D-B3BAF859CE7B}"/>
                </a:ext>
              </a:extLst>
            </p:cNvPr>
            <p:cNvSpPr>
              <a:spLocks noChangeShapeType="1"/>
            </p:cNvSpPr>
            <p:nvPr/>
          </p:nvSpPr>
          <p:spPr bwMode="auto">
            <a:xfrm flipV="1">
              <a:off x="2400" y="3168"/>
              <a:ext cx="6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43" name="Line 47">
              <a:extLst>
                <a:ext uri="{FF2B5EF4-FFF2-40B4-BE49-F238E27FC236}">
                  <a16:creationId xmlns:a16="http://schemas.microsoft.com/office/drawing/2014/main" id="{C5B1DC9B-200D-5548-9AD3-4DF2172B0CB5}"/>
                </a:ext>
              </a:extLst>
            </p:cNvPr>
            <p:cNvSpPr>
              <a:spLocks noChangeShapeType="1"/>
            </p:cNvSpPr>
            <p:nvPr/>
          </p:nvSpPr>
          <p:spPr bwMode="auto">
            <a:xfrm flipH="1" flipV="1">
              <a:off x="2400" y="2928"/>
              <a:ext cx="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511" name="Text Box 49">
            <a:extLst>
              <a:ext uri="{FF2B5EF4-FFF2-40B4-BE49-F238E27FC236}">
                <a16:creationId xmlns:a16="http://schemas.microsoft.com/office/drawing/2014/main" id="{340FF67E-2B9A-774B-97BD-2469069E6D5A}"/>
              </a:ext>
            </a:extLst>
          </p:cNvPr>
          <p:cNvSpPr txBox="1">
            <a:spLocks noChangeArrowheads="1"/>
          </p:cNvSpPr>
          <p:nvPr/>
        </p:nvSpPr>
        <p:spPr bwMode="auto">
          <a:xfrm>
            <a:off x="6477000" y="4800601"/>
            <a:ext cx="3886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i="1">
                <a:latin typeface="Times New Roman" panose="02020603050405020304" pitchFamily="18" charset="0"/>
              </a:rPr>
              <a:t>E = a-b-c-d-e-f-g-h-a-d-h-e-b-g-c- f-a</a:t>
            </a:r>
          </a:p>
        </p:txBody>
      </p:sp>
      <p:sp>
        <p:nvSpPr>
          <p:cNvPr id="27741" name="Line 93">
            <a:extLst>
              <a:ext uri="{FF2B5EF4-FFF2-40B4-BE49-F238E27FC236}">
                <a16:creationId xmlns:a16="http://schemas.microsoft.com/office/drawing/2014/main" id="{2DA31C6F-54E0-1C4A-8BEE-0DA149A31136}"/>
              </a:ext>
            </a:extLst>
          </p:cNvPr>
          <p:cNvSpPr>
            <a:spLocks noChangeShapeType="1"/>
          </p:cNvSpPr>
          <p:nvPr/>
        </p:nvSpPr>
        <p:spPr bwMode="auto">
          <a:xfrm flipV="1">
            <a:off x="4343400" y="4572000"/>
            <a:ext cx="381000" cy="3810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2" name="Line 94">
            <a:extLst>
              <a:ext uri="{FF2B5EF4-FFF2-40B4-BE49-F238E27FC236}">
                <a16:creationId xmlns:a16="http://schemas.microsoft.com/office/drawing/2014/main" id="{40722D55-04C8-EF40-A9DC-D7328D4F13D9}"/>
              </a:ext>
            </a:extLst>
          </p:cNvPr>
          <p:cNvSpPr>
            <a:spLocks noChangeShapeType="1"/>
          </p:cNvSpPr>
          <p:nvPr/>
        </p:nvSpPr>
        <p:spPr bwMode="auto">
          <a:xfrm flipV="1">
            <a:off x="4724400" y="4572000"/>
            <a:ext cx="609600"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3" name="Line 95">
            <a:extLst>
              <a:ext uri="{FF2B5EF4-FFF2-40B4-BE49-F238E27FC236}">
                <a16:creationId xmlns:a16="http://schemas.microsoft.com/office/drawing/2014/main" id="{10000461-20E2-A641-9DE9-382D28E1D3A9}"/>
              </a:ext>
            </a:extLst>
          </p:cNvPr>
          <p:cNvSpPr>
            <a:spLocks noChangeShapeType="1"/>
          </p:cNvSpPr>
          <p:nvPr/>
        </p:nvSpPr>
        <p:spPr bwMode="auto">
          <a:xfrm>
            <a:off x="5334000" y="4572000"/>
            <a:ext cx="381000" cy="3810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4" name="Line 96">
            <a:extLst>
              <a:ext uri="{FF2B5EF4-FFF2-40B4-BE49-F238E27FC236}">
                <a16:creationId xmlns:a16="http://schemas.microsoft.com/office/drawing/2014/main" id="{357F5288-6882-F549-82BA-DA3813A1742F}"/>
              </a:ext>
            </a:extLst>
          </p:cNvPr>
          <p:cNvSpPr>
            <a:spLocks noChangeShapeType="1"/>
          </p:cNvSpPr>
          <p:nvPr/>
        </p:nvSpPr>
        <p:spPr bwMode="auto">
          <a:xfrm>
            <a:off x="5715000" y="4953000"/>
            <a:ext cx="0" cy="533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5" name="Line 97">
            <a:extLst>
              <a:ext uri="{FF2B5EF4-FFF2-40B4-BE49-F238E27FC236}">
                <a16:creationId xmlns:a16="http://schemas.microsoft.com/office/drawing/2014/main" id="{FF322528-16F4-FD4F-95B7-DF6BA3C89530}"/>
              </a:ext>
            </a:extLst>
          </p:cNvPr>
          <p:cNvSpPr>
            <a:spLocks noChangeShapeType="1"/>
          </p:cNvSpPr>
          <p:nvPr/>
        </p:nvSpPr>
        <p:spPr bwMode="auto">
          <a:xfrm>
            <a:off x="4343400" y="5486400"/>
            <a:ext cx="381000" cy="3810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6" name="Line 98">
            <a:extLst>
              <a:ext uri="{FF2B5EF4-FFF2-40B4-BE49-F238E27FC236}">
                <a16:creationId xmlns:a16="http://schemas.microsoft.com/office/drawing/2014/main" id="{08F53BCA-0E03-1743-BB05-311A0AF87F30}"/>
              </a:ext>
            </a:extLst>
          </p:cNvPr>
          <p:cNvSpPr>
            <a:spLocks noChangeShapeType="1"/>
          </p:cNvSpPr>
          <p:nvPr/>
        </p:nvSpPr>
        <p:spPr bwMode="auto">
          <a:xfrm flipV="1">
            <a:off x="4724400" y="5867400"/>
            <a:ext cx="609600"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7" name="Line 99">
            <a:extLst>
              <a:ext uri="{FF2B5EF4-FFF2-40B4-BE49-F238E27FC236}">
                <a16:creationId xmlns:a16="http://schemas.microsoft.com/office/drawing/2014/main" id="{74B42AC3-D5C9-9A43-A3F4-EC69581329FB}"/>
              </a:ext>
            </a:extLst>
          </p:cNvPr>
          <p:cNvSpPr>
            <a:spLocks noChangeShapeType="1"/>
          </p:cNvSpPr>
          <p:nvPr/>
        </p:nvSpPr>
        <p:spPr bwMode="auto">
          <a:xfrm flipV="1">
            <a:off x="5334000" y="5486400"/>
            <a:ext cx="381000" cy="3810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8" name="Line 100">
            <a:extLst>
              <a:ext uri="{FF2B5EF4-FFF2-40B4-BE49-F238E27FC236}">
                <a16:creationId xmlns:a16="http://schemas.microsoft.com/office/drawing/2014/main" id="{D277DD8B-7F86-4C4A-8E33-E33171782811}"/>
              </a:ext>
            </a:extLst>
          </p:cNvPr>
          <p:cNvSpPr>
            <a:spLocks noChangeShapeType="1"/>
          </p:cNvSpPr>
          <p:nvPr/>
        </p:nvSpPr>
        <p:spPr bwMode="auto">
          <a:xfrm>
            <a:off x="4343400" y="4953000"/>
            <a:ext cx="0" cy="533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9" name="Line 101">
            <a:extLst>
              <a:ext uri="{FF2B5EF4-FFF2-40B4-BE49-F238E27FC236}">
                <a16:creationId xmlns:a16="http://schemas.microsoft.com/office/drawing/2014/main" id="{016A0CCC-5248-8941-B769-3A2F0BAF36F0}"/>
              </a:ext>
            </a:extLst>
          </p:cNvPr>
          <p:cNvSpPr>
            <a:spLocks noChangeShapeType="1"/>
          </p:cNvSpPr>
          <p:nvPr/>
        </p:nvSpPr>
        <p:spPr bwMode="auto">
          <a:xfrm>
            <a:off x="4724400" y="4572000"/>
            <a:ext cx="990600" cy="914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0" name="Line 102">
            <a:extLst>
              <a:ext uri="{FF2B5EF4-FFF2-40B4-BE49-F238E27FC236}">
                <a16:creationId xmlns:a16="http://schemas.microsoft.com/office/drawing/2014/main" id="{26C27A3E-5170-AE42-9017-D79E21D43B76}"/>
              </a:ext>
            </a:extLst>
          </p:cNvPr>
          <p:cNvSpPr>
            <a:spLocks noChangeShapeType="1"/>
          </p:cNvSpPr>
          <p:nvPr/>
        </p:nvSpPr>
        <p:spPr bwMode="auto">
          <a:xfrm>
            <a:off x="4343400" y="4953000"/>
            <a:ext cx="990600" cy="914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1" name="Line 103">
            <a:extLst>
              <a:ext uri="{FF2B5EF4-FFF2-40B4-BE49-F238E27FC236}">
                <a16:creationId xmlns:a16="http://schemas.microsoft.com/office/drawing/2014/main" id="{0B5FE980-E0D5-0F49-A4D3-7C63CD66A9A2}"/>
              </a:ext>
            </a:extLst>
          </p:cNvPr>
          <p:cNvSpPr>
            <a:spLocks noChangeShapeType="1"/>
          </p:cNvSpPr>
          <p:nvPr/>
        </p:nvSpPr>
        <p:spPr bwMode="auto">
          <a:xfrm>
            <a:off x="4724400" y="4572000"/>
            <a:ext cx="0" cy="1295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2" name="Line 104">
            <a:extLst>
              <a:ext uri="{FF2B5EF4-FFF2-40B4-BE49-F238E27FC236}">
                <a16:creationId xmlns:a16="http://schemas.microsoft.com/office/drawing/2014/main" id="{3108B1AA-6BB5-C546-9A41-902D4FFFC504}"/>
              </a:ext>
            </a:extLst>
          </p:cNvPr>
          <p:cNvSpPr>
            <a:spLocks noChangeShapeType="1"/>
          </p:cNvSpPr>
          <p:nvPr/>
        </p:nvSpPr>
        <p:spPr bwMode="auto">
          <a:xfrm>
            <a:off x="5334000" y="4572000"/>
            <a:ext cx="0" cy="1295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3" name="Line 105">
            <a:extLst>
              <a:ext uri="{FF2B5EF4-FFF2-40B4-BE49-F238E27FC236}">
                <a16:creationId xmlns:a16="http://schemas.microsoft.com/office/drawing/2014/main" id="{C0839E65-6FE7-E648-8788-2CB1E2187B3E}"/>
              </a:ext>
            </a:extLst>
          </p:cNvPr>
          <p:cNvSpPr>
            <a:spLocks noChangeShapeType="1"/>
          </p:cNvSpPr>
          <p:nvPr/>
        </p:nvSpPr>
        <p:spPr bwMode="auto">
          <a:xfrm flipH="1">
            <a:off x="4724400" y="4953000"/>
            <a:ext cx="990600" cy="914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4" name="Line 106">
            <a:extLst>
              <a:ext uri="{FF2B5EF4-FFF2-40B4-BE49-F238E27FC236}">
                <a16:creationId xmlns:a16="http://schemas.microsoft.com/office/drawing/2014/main" id="{30500B30-174E-BE42-A041-F862C6EC14A7}"/>
              </a:ext>
            </a:extLst>
          </p:cNvPr>
          <p:cNvSpPr>
            <a:spLocks noChangeShapeType="1"/>
          </p:cNvSpPr>
          <p:nvPr/>
        </p:nvSpPr>
        <p:spPr bwMode="auto">
          <a:xfrm flipH="1">
            <a:off x="4343400" y="4572000"/>
            <a:ext cx="990600" cy="914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5" name="Line 107">
            <a:extLst>
              <a:ext uri="{FF2B5EF4-FFF2-40B4-BE49-F238E27FC236}">
                <a16:creationId xmlns:a16="http://schemas.microsoft.com/office/drawing/2014/main" id="{AD177A8C-E9BF-144B-8045-9C0909F09F79}"/>
              </a:ext>
            </a:extLst>
          </p:cNvPr>
          <p:cNvSpPr>
            <a:spLocks noChangeShapeType="1"/>
          </p:cNvSpPr>
          <p:nvPr/>
        </p:nvSpPr>
        <p:spPr bwMode="auto">
          <a:xfrm flipV="1">
            <a:off x="4343400" y="4953000"/>
            <a:ext cx="1371600" cy="533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6" name="Line 108">
            <a:extLst>
              <a:ext uri="{FF2B5EF4-FFF2-40B4-BE49-F238E27FC236}">
                <a16:creationId xmlns:a16="http://schemas.microsoft.com/office/drawing/2014/main" id="{71A1C361-FD01-114B-82AF-BD984D56304F}"/>
              </a:ext>
            </a:extLst>
          </p:cNvPr>
          <p:cNvSpPr>
            <a:spLocks noChangeShapeType="1"/>
          </p:cNvSpPr>
          <p:nvPr/>
        </p:nvSpPr>
        <p:spPr bwMode="auto">
          <a:xfrm>
            <a:off x="4343400" y="4953000"/>
            <a:ext cx="1371600" cy="533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9" name="Line 111">
            <a:extLst>
              <a:ext uri="{FF2B5EF4-FFF2-40B4-BE49-F238E27FC236}">
                <a16:creationId xmlns:a16="http://schemas.microsoft.com/office/drawing/2014/main" id="{E2BF3404-F2FA-BA4C-B252-33A2478D1042}"/>
              </a:ext>
            </a:extLst>
          </p:cNvPr>
          <p:cNvSpPr>
            <a:spLocks noChangeShapeType="1"/>
          </p:cNvSpPr>
          <p:nvPr/>
        </p:nvSpPr>
        <p:spPr bwMode="auto">
          <a:xfrm flipH="1">
            <a:off x="6019800" y="2895600"/>
            <a:ext cx="3810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0" name="Line 112">
            <a:extLst>
              <a:ext uri="{FF2B5EF4-FFF2-40B4-BE49-F238E27FC236}">
                <a16:creationId xmlns:a16="http://schemas.microsoft.com/office/drawing/2014/main" id="{7CDF230B-0992-3444-B7E1-993FBE2EAD3C}"/>
              </a:ext>
            </a:extLst>
          </p:cNvPr>
          <p:cNvSpPr>
            <a:spLocks noChangeShapeType="1"/>
          </p:cNvSpPr>
          <p:nvPr/>
        </p:nvSpPr>
        <p:spPr bwMode="auto">
          <a:xfrm flipH="1" flipV="1">
            <a:off x="5029200" y="2895600"/>
            <a:ext cx="3810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1" name="Line 113">
            <a:extLst>
              <a:ext uri="{FF2B5EF4-FFF2-40B4-BE49-F238E27FC236}">
                <a16:creationId xmlns:a16="http://schemas.microsoft.com/office/drawing/2014/main" id="{A28B0823-882A-4A42-8346-077013483E5F}"/>
              </a:ext>
            </a:extLst>
          </p:cNvPr>
          <p:cNvSpPr>
            <a:spLocks noChangeShapeType="1"/>
          </p:cNvSpPr>
          <p:nvPr/>
        </p:nvSpPr>
        <p:spPr bwMode="auto">
          <a:xfrm flipH="1" flipV="1">
            <a:off x="5410200" y="3276600"/>
            <a:ext cx="6096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2" name="Line 114">
            <a:extLst>
              <a:ext uri="{FF2B5EF4-FFF2-40B4-BE49-F238E27FC236}">
                <a16:creationId xmlns:a16="http://schemas.microsoft.com/office/drawing/2014/main" id="{7595034C-66A3-6048-A2C4-38F9F2780E99}"/>
              </a:ext>
            </a:extLst>
          </p:cNvPr>
          <p:cNvSpPr>
            <a:spLocks noChangeShapeType="1"/>
          </p:cNvSpPr>
          <p:nvPr/>
        </p:nvSpPr>
        <p:spPr bwMode="auto">
          <a:xfrm flipV="1">
            <a:off x="5029200" y="1981200"/>
            <a:ext cx="3810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3" name="Line 115">
            <a:extLst>
              <a:ext uri="{FF2B5EF4-FFF2-40B4-BE49-F238E27FC236}">
                <a16:creationId xmlns:a16="http://schemas.microsoft.com/office/drawing/2014/main" id="{9722EDC4-A39E-DC4B-B626-48EEEEFABDEE}"/>
              </a:ext>
            </a:extLst>
          </p:cNvPr>
          <p:cNvSpPr>
            <a:spLocks noChangeShapeType="1"/>
          </p:cNvSpPr>
          <p:nvPr/>
        </p:nvSpPr>
        <p:spPr bwMode="auto">
          <a:xfrm flipH="1" flipV="1">
            <a:off x="5029200" y="2362200"/>
            <a:ext cx="0" cy="533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4" name="Line 116">
            <a:extLst>
              <a:ext uri="{FF2B5EF4-FFF2-40B4-BE49-F238E27FC236}">
                <a16:creationId xmlns:a16="http://schemas.microsoft.com/office/drawing/2014/main" id="{72E04CC7-F0E6-EF4C-B0A3-28905844F40E}"/>
              </a:ext>
            </a:extLst>
          </p:cNvPr>
          <p:cNvSpPr>
            <a:spLocks noChangeShapeType="1"/>
          </p:cNvSpPr>
          <p:nvPr/>
        </p:nvSpPr>
        <p:spPr bwMode="auto">
          <a:xfrm flipH="1">
            <a:off x="5410200" y="2895600"/>
            <a:ext cx="9906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6" name="Line 118">
            <a:extLst>
              <a:ext uri="{FF2B5EF4-FFF2-40B4-BE49-F238E27FC236}">
                <a16:creationId xmlns:a16="http://schemas.microsoft.com/office/drawing/2014/main" id="{139C2413-DD6E-6B45-9CEC-F5547379ED13}"/>
              </a:ext>
            </a:extLst>
          </p:cNvPr>
          <p:cNvSpPr>
            <a:spLocks noChangeShapeType="1"/>
          </p:cNvSpPr>
          <p:nvPr/>
        </p:nvSpPr>
        <p:spPr bwMode="auto">
          <a:xfrm flipH="1" flipV="1">
            <a:off x="5410200" y="1981200"/>
            <a:ext cx="0" cy="1295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35" name="Text Box 123">
            <a:extLst>
              <a:ext uri="{FF2B5EF4-FFF2-40B4-BE49-F238E27FC236}">
                <a16:creationId xmlns:a16="http://schemas.microsoft.com/office/drawing/2014/main" id="{EC5807CE-E8CE-B340-A6E0-796DCFA27782}"/>
              </a:ext>
            </a:extLst>
          </p:cNvPr>
          <p:cNvSpPr txBox="1">
            <a:spLocks noChangeArrowheads="1"/>
          </p:cNvSpPr>
          <p:nvPr/>
        </p:nvSpPr>
        <p:spPr bwMode="auto">
          <a:xfrm>
            <a:off x="7223126" y="2781301"/>
            <a:ext cx="2225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i="1">
                <a:latin typeface="Times New Roman" panose="02020603050405020304" pitchFamily="18" charset="0"/>
              </a:rPr>
              <a:t>C=a-h-g-f-e-d-f-a</a:t>
            </a:r>
          </a:p>
        </p:txBody>
      </p:sp>
    </p:spTree>
    <p:extLst>
      <p:ext uri="{BB962C8B-B14F-4D97-AF65-F5344CB8AC3E}">
        <p14:creationId xmlns:p14="http://schemas.microsoft.com/office/powerpoint/2010/main" val="10846601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7762"/>
                                        </p:tgtEl>
                                        <p:attrNameLst>
                                          <p:attrName>style.visibility</p:attrName>
                                        </p:attrNameLst>
                                      </p:cBhvr>
                                      <p:to>
                                        <p:strVal val="visible"/>
                                      </p:to>
                                    </p:set>
                                    <p:animEffect transition="in" filter="wipe(up)">
                                      <p:cBhvr>
                                        <p:cTn id="7" dur="500"/>
                                        <p:tgtEl>
                                          <p:spTgt spid="27762"/>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7763"/>
                                        </p:tgtEl>
                                        <p:attrNameLst>
                                          <p:attrName>style.visibility</p:attrName>
                                        </p:attrNameLst>
                                      </p:cBhvr>
                                      <p:to>
                                        <p:strVal val="visible"/>
                                      </p:to>
                                    </p:set>
                                    <p:animEffect transition="in" filter="wipe(up)">
                                      <p:cBhvr>
                                        <p:cTn id="11" dur="500"/>
                                        <p:tgtEl>
                                          <p:spTgt spid="27763"/>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27760"/>
                                        </p:tgtEl>
                                        <p:attrNameLst>
                                          <p:attrName>style.visibility</p:attrName>
                                        </p:attrNameLst>
                                      </p:cBhvr>
                                      <p:to>
                                        <p:strVal val="visible"/>
                                      </p:to>
                                    </p:set>
                                    <p:animEffect transition="in" filter="wipe(up)">
                                      <p:cBhvr>
                                        <p:cTn id="15" dur="500"/>
                                        <p:tgtEl>
                                          <p:spTgt spid="27760"/>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27761"/>
                                        </p:tgtEl>
                                        <p:attrNameLst>
                                          <p:attrName>style.visibility</p:attrName>
                                        </p:attrNameLst>
                                      </p:cBhvr>
                                      <p:to>
                                        <p:strVal val="visible"/>
                                      </p:to>
                                    </p:set>
                                    <p:animEffect transition="in" filter="wipe(left)">
                                      <p:cBhvr>
                                        <p:cTn id="19" dur="500"/>
                                        <p:tgtEl>
                                          <p:spTgt spid="27761"/>
                                        </p:tgtEl>
                                      </p:cBhvr>
                                    </p:animEffect>
                                  </p:childTnLst>
                                </p:cTn>
                              </p:par>
                            </p:childTnLst>
                          </p:cTn>
                        </p:par>
                        <p:par>
                          <p:cTn id="20" fill="hold" nodeType="afterGroup">
                            <p:stCondLst>
                              <p:cond delay="2000"/>
                            </p:stCondLst>
                            <p:childTnLst>
                              <p:par>
                                <p:cTn id="21" presetID="22" presetClass="entr" presetSubtype="4" fill="hold" nodeType="afterEffect">
                                  <p:stCondLst>
                                    <p:cond delay="0"/>
                                  </p:stCondLst>
                                  <p:childTnLst>
                                    <p:set>
                                      <p:cBhvr>
                                        <p:cTn id="22" dur="1" fill="hold">
                                          <p:stCondLst>
                                            <p:cond delay="0"/>
                                          </p:stCondLst>
                                        </p:cTn>
                                        <p:tgtEl>
                                          <p:spTgt spid="27759"/>
                                        </p:tgtEl>
                                        <p:attrNameLst>
                                          <p:attrName>style.visibility</p:attrName>
                                        </p:attrNameLst>
                                      </p:cBhvr>
                                      <p:to>
                                        <p:strVal val="visible"/>
                                      </p:to>
                                    </p:set>
                                    <p:animEffect transition="in" filter="wipe(down)">
                                      <p:cBhvr>
                                        <p:cTn id="23" dur="500"/>
                                        <p:tgtEl>
                                          <p:spTgt spid="27759"/>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27764"/>
                                        </p:tgtEl>
                                        <p:attrNameLst>
                                          <p:attrName>style.visibility</p:attrName>
                                        </p:attrNameLst>
                                      </p:cBhvr>
                                      <p:to>
                                        <p:strVal val="visible"/>
                                      </p:to>
                                    </p:set>
                                    <p:animEffect transition="in" filter="wipe(up)">
                                      <p:cBhvr>
                                        <p:cTn id="27" dur="500"/>
                                        <p:tgtEl>
                                          <p:spTgt spid="27764"/>
                                        </p:tgtEl>
                                      </p:cBhvr>
                                    </p:animEffect>
                                  </p:childTnLst>
                                </p:cTn>
                              </p:par>
                            </p:childTnLst>
                          </p:cTn>
                        </p:par>
                        <p:par>
                          <p:cTn id="28" fill="hold" nodeType="afterGroup">
                            <p:stCondLst>
                              <p:cond delay="3000"/>
                            </p:stCondLst>
                            <p:childTnLst>
                              <p:par>
                                <p:cTn id="29" presetID="22" presetClass="entr" presetSubtype="4" fill="hold" nodeType="afterEffect">
                                  <p:stCondLst>
                                    <p:cond delay="0"/>
                                  </p:stCondLst>
                                  <p:childTnLst>
                                    <p:set>
                                      <p:cBhvr>
                                        <p:cTn id="30" dur="1" fill="hold">
                                          <p:stCondLst>
                                            <p:cond delay="0"/>
                                          </p:stCondLst>
                                        </p:cTn>
                                        <p:tgtEl>
                                          <p:spTgt spid="27766"/>
                                        </p:tgtEl>
                                        <p:attrNameLst>
                                          <p:attrName>style.visibility</p:attrName>
                                        </p:attrNameLst>
                                      </p:cBhvr>
                                      <p:to>
                                        <p:strVal val="visible"/>
                                      </p:to>
                                    </p:set>
                                    <p:animEffect transition="in" filter="wipe(down)">
                                      <p:cBhvr>
                                        <p:cTn id="31" dur="500"/>
                                        <p:tgtEl>
                                          <p:spTgt spid="2776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7742"/>
                                        </p:tgtEl>
                                        <p:attrNameLst>
                                          <p:attrName>style.visibility</p:attrName>
                                        </p:attrNameLst>
                                      </p:cBhvr>
                                      <p:to>
                                        <p:strVal val="visible"/>
                                      </p:to>
                                    </p:set>
                                    <p:animEffect transition="in" filter="wipe(left)">
                                      <p:cBhvr>
                                        <p:cTn id="36" dur="500"/>
                                        <p:tgtEl>
                                          <p:spTgt spid="27742"/>
                                        </p:tgtEl>
                                      </p:cBhvr>
                                    </p:animEffect>
                                  </p:childTnLst>
                                </p:cTn>
                              </p:par>
                            </p:childTnLst>
                          </p:cTn>
                        </p:par>
                        <p:par>
                          <p:cTn id="37" fill="hold" nodeType="afterGroup">
                            <p:stCondLst>
                              <p:cond delay="500"/>
                            </p:stCondLst>
                            <p:childTnLst>
                              <p:par>
                                <p:cTn id="38" presetID="22" presetClass="entr" presetSubtype="1" fill="hold" nodeType="afterEffect">
                                  <p:stCondLst>
                                    <p:cond delay="0"/>
                                  </p:stCondLst>
                                  <p:childTnLst>
                                    <p:set>
                                      <p:cBhvr>
                                        <p:cTn id="39" dur="1" fill="hold">
                                          <p:stCondLst>
                                            <p:cond delay="0"/>
                                          </p:stCondLst>
                                        </p:cTn>
                                        <p:tgtEl>
                                          <p:spTgt spid="27743"/>
                                        </p:tgtEl>
                                        <p:attrNameLst>
                                          <p:attrName>style.visibility</p:attrName>
                                        </p:attrNameLst>
                                      </p:cBhvr>
                                      <p:to>
                                        <p:strVal val="visible"/>
                                      </p:to>
                                    </p:set>
                                    <p:animEffect transition="in" filter="wipe(up)">
                                      <p:cBhvr>
                                        <p:cTn id="40" dur="500"/>
                                        <p:tgtEl>
                                          <p:spTgt spid="27743"/>
                                        </p:tgtEl>
                                      </p:cBhvr>
                                    </p:animEffect>
                                  </p:childTnLst>
                                </p:cTn>
                              </p:par>
                            </p:childTnLst>
                          </p:cTn>
                        </p:par>
                        <p:par>
                          <p:cTn id="41" fill="hold" nodeType="afterGroup">
                            <p:stCondLst>
                              <p:cond delay="1000"/>
                            </p:stCondLst>
                            <p:childTnLst>
                              <p:par>
                                <p:cTn id="42" presetID="22" presetClass="entr" presetSubtype="1" fill="hold" nodeType="afterEffect">
                                  <p:stCondLst>
                                    <p:cond delay="0"/>
                                  </p:stCondLst>
                                  <p:childTnLst>
                                    <p:set>
                                      <p:cBhvr>
                                        <p:cTn id="43" dur="1" fill="hold">
                                          <p:stCondLst>
                                            <p:cond delay="0"/>
                                          </p:stCondLst>
                                        </p:cTn>
                                        <p:tgtEl>
                                          <p:spTgt spid="27744"/>
                                        </p:tgtEl>
                                        <p:attrNameLst>
                                          <p:attrName>style.visibility</p:attrName>
                                        </p:attrNameLst>
                                      </p:cBhvr>
                                      <p:to>
                                        <p:strVal val="visible"/>
                                      </p:to>
                                    </p:set>
                                    <p:animEffect transition="in" filter="wipe(up)">
                                      <p:cBhvr>
                                        <p:cTn id="44" dur="500"/>
                                        <p:tgtEl>
                                          <p:spTgt spid="27744"/>
                                        </p:tgtEl>
                                      </p:cBhvr>
                                    </p:animEffect>
                                  </p:childTnLst>
                                </p:cTn>
                              </p:par>
                            </p:childTnLst>
                          </p:cTn>
                        </p:par>
                        <p:par>
                          <p:cTn id="45" fill="hold" nodeType="afterGroup">
                            <p:stCondLst>
                              <p:cond delay="1500"/>
                            </p:stCondLst>
                            <p:childTnLst>
                              <p:par>
                                <p:cTn id="46" presetID="22" presetClass="entr" presetSubtype="1" fill="hold" nodeType="afterEffect">
                                  <p:stCondLst>
                                    <p:cond delay="0"/>
                                  </p:stCondLst>
                                  <p:childTnLst>
                                    <p:set>
                                      <p:cBhvr>
                                        <p:cTn id="47" dur="1" fill="hold">
                                          <p:stCondLst>
                                            <p:cond delay="0"/>
                                          </p:stCondLst>
                                        </p:cTn>
                                        <p:tgtEl>
                                          <p:spTgt spid="27747"/>
                                        </p:tgtEl>
                                        <p:attrNameLst>
                                          <p:attrName>style.visibility</p:attrName>
                                        </p:attrNameLst>
                                      </p:cBhvr>
                                      <p:to>
                                        <p:strVal val="visible"/>
                                      </p:to>
                                    </p:set>
                                    <p:animEffect transition="in" filter="wipe(up)">
                                      <p:cBhvr>
                                        <p:cTn id="48" dur="500"/>
                                        <p:tgtEl>
                                          <p:spTgt spid="27747"/>
                                        </p:tgtEl>
                                      </p:cBhvr>
                                    </p:animEffect>
                                  </p:childTnLst>
                                </p:cTn>
                              </p:par>
                            </p:childTnLst>
                          </p:cTn>
                        </p:par>
                        <p:par>
                          <p:cTn id="49" fill="hold" nodeType="afterGroup">
                            <p:stCondLst>
                              <p:cond delay="2000"/>
                            </p:stCondLst>
                            <p:childTnLst>
                              <p:par>
                                <p:cTn id="50" presetID="22" presetClass="entr" presetSubtype="2" fill="hold" nodeType="afterEffect">
                                  <p:stCondLst>
                                    <p:cond delay="0"/>
                                  </p:stCondLst>
                                  <p:childTnLst>
                                    <p:set>
                                      <p:cBhvr>
                                        <p:cTn id="51" dur="1" fill="hold">
                                          <p:stCondLst>
                                            <p:cond delay="0"/>
                                          </p:stCondLst>
                                        </p:cTn>
                                        <p:tgtEl>
                                          <p:spTgt spid="27746"/>
                                        </p:tgtEl>
                                        <p:attrNameLst>
                                          <p:attrName>style.visibility</p:attrName>
                                        </p:attrNameLst>
                                      </p:cBhvr>
                                      <p:to>
                                        <p:strVal val="visible"/>
                                      </p:to>
                                    </p:set>
                                    <p:animEffect transition="in" filter="wipe(right)">
                                      <p:cBhvr>
                                        <p:cTn id="52" dur="500"/>
                                        <p:tgtEl>
                                          <p:spTgt spid="27746"/>
                                        </p:tgtEl>
                                      </p:cBhvr>
                                    </p:animEffect>
                                  </p:childTnLst>
                                </p:cTn>
                              </p:par>
                            </p:childTnLst>
                          </p:cTn>
                        </p:par>
                        <p:par>
                          <p:cTn id="53" fill="hold" nodeType="afterGroup">
                            <p:stCondLst>
                              <p:cond delay="2500"/>
                            </p:stCondLst>
                            <p:childTnLst>
                              <p:par>
                                <p:cTn id="54" presetID="22" presetClass="entr" presetSubtype="4" fill="hold" nodeType="afterEffect">
                                  <p:stCondLst>
                                    <p:cond delay="0"/>
                                  </p:stCondLst>
                                  <p:childTnLst>
                                    <p:set>
                                      <p:cBhvr>
                                        <p:cTn id="55" dur="1" fill="hold">
                                          <p:stCondLst>
                                            <p:cond delay="0"/>
                                          </p:stCondLst>
                                        </p:cTn>
                                        <p:tgtEl>
                                          <p:spTgt spid="27745"/>
                                        </p:tgtEl>
                                        <p:attrNameLst>
                                          <p:attrName>style.visibility</p:attrName>
                                        </p:attrNameLst>
                                      </p:cBhvr>
                                      <p:to>
                                        <p:strVal val="visible"/>
                                      </p:to>
                                    </p:set>
                                    <p:animEffect transition="in" filter="wipe(down)">
                                      <p:cBhvr>
                                        <p:cTn id="56" dur="500"/>
                                        <p:tgtEl>
                                          <p:spTgt spid="27745"/>
                                        </p:tgtEl>
                                      </p:cBhvr>
                                    </p:animEffect>
                                  </p:childTnLst>
                                </p:cTn>
                              </p:par>
                            </p:childTnLst>
                          </p:cTn>
                        </p:par>
                        <p:par>
                          <p:cTn id="57" fill="hold" nodeType="afterGroup">
                            <p:stCondLst>
                              <p:cond delay="3000"/>
                            </p:stCondLst>
                            <p:childTnLst>
                              <p:par>
                                <p:cTn id="58" presetID="22" presetClass="entr" presetSubtype="4" fill="hold" nodeType="afterEffect">
                                  <p:stCondLst>
                                    <p:cond delay="0"/>
                                  </p:stCondLst>
                                  <p:childTnLst>
                                    <p:set>
                                      <p:cBhvr>
                                        <p:cTn id="59" dur="1" fill="hold">
                                          <p:stCondLst>
                                            <p:cond delay="0"/>
                                          </p:stCondLst>
                                        </p:cTn>
                                        <p:tgtEl>
                                          <p:spTgt spid="27748"/>
                                        </p:tgtEl>
                                        <p:attrNameLst>
                                          <p:attrName>style.visibility</p:attrName>
                                        </p:attrNameLst>
                                      </p:cBhvr>
                                      <p:to>
                                        <p:strVal val="visible"/>
                                      </p:to>
                                    </p:set>
                                    <p:animEffect transition="in" filter="wipe(down)">
                                      <p:cBhvr>
                                        <p:cTn id="60" dur="500"/>
                                        <p:tgtEl>
                                          <p:spTgt spid="27748"/>
                                        </p:tgtEl>
                                      </p:cBhvr>
                                    </p:animEffect>
                                  </p:childTnLst>
                                </p:cTn>
                              </p:par>
                            </p:childTnLst>
                          </p:cTn>
                        </p:par>
                        <p:par>
                          <p:cTn id="61" fill="hold" nodeType="afterGroup">
                            <p:stCondLst>
                              <p:cond delay="3500"/>
                            </p:stCondLst>
                            <p:childTnLst>
                              <p:par>
                                <p:cTn id="62" presetID="22" presetClass="entr" presetSubtype="4" fill="hold" nodeType="afterEffect">
                                  <p:stCondLst>
                                    <p:cond delay="0"/>
                                  </p:stCondLst>
                                  <p:childTnLst>
                                    <p:set>
                                      <p:cBhvr>
                                        <p:cTn id="63" dur="1" fill="hold">
                                          <p:stCondLst>
                                            <p:cond delay="0"/>
                                          </p:stCondLst>
                                        </p:cTn>
                                        <p:tgtEl>
                                          <p:spTgt spid="27741"/>
                                        </p:tgtEl>
                                        <p:attrNameLst>
                                          <p:attrName>style.visibility</p:attrName>
                                        </p:attrNameLst>
                                      </p:cBhvr>
                                      <p:to>
                                        <p:strVal val="visible"/>
                                      </p:to>
                                    </p:set>
                                    <p:animEffect transition="in" filter="wipe(down)">
                                      <p:cBhvr>
                                        <p:cTn id="64" dur="500"/>
                                        <p:tgtEl>
                                          <p:spTgt spid="27741"/>
                                        </p:tgtEl>
                                      </p:cBhvr>
                                    </p:animEffect>
                                  </p:childTnLst>
                                </p:cTn>
                              </p:par>
                            </p:childTnLst>
                          </p:cTn>
                        </p:par>
                        <p:par>
                          <p:cTn id="65" fill="hold" nodeType="afterGroup">
                            <p:stCondLst>
                              <p:cond delay="4000"/>
                            </p:stCondLst>
                            <p:childTnLst>
                              <p:par>
                                <p:cTn id="66" presetID="22" presetClass="entr" presetSubtype="1" fill="hold" nodeType="afterEffect">
                                  <p:stCondLst>
                                    <p:cond delay="0"/>
                                  </p:stCondLst>
                                  <p:childTnLst>
                                    <p:set>
                                      <p:cBhvr>
                                        <p:cTn id="67" dur="1" fill="hold">
                                          <p:stCondLst>
                                            <p:cond delay="0"/>
                                          </p:stCondLst>
                                        </p:cTn>
                                        <p:tgtEl>
                                          <p:spTgt spid="27749"/>
                                        </p:tgtEl>
                                        <p:attrNameLst>
                                          <p:attrName>style.visibility</p:attrName>
                                        </p:attrNameLst>
                                      </p:cBhvr>
                                      <p:to>
                                        <p:strVal val="visible"/>
                                      </p:to>
                                    </p:set>
                                    <p:animEffect transition="in" filter="wipe(up)">
                                      <p:cBhvr>
                                        <p:cTn id="68" dur="500"/>
                                        <p:tgtEl>
                                          <p:spTgt spid="27749"/>
                                        </p:tgtEl>
                                      </p:cBhvr>
                                    </p:animEffect>
                                  </p:childTnLst>
                                </p:cTn>
                              </p:par>
                            </p:childTnLst>
                          </p:cTn>
                        </p:par>
                        <p:par>
                          <p:cTn id="69" fill="hold" nodeType="afterGroup">
                            <p:stCondLst>
                              <p:cond delay="4500"/>
                            </p:stCondLst>
                            <p:childTnLst>
                              <p:par>
                                <p:cTn id="70" presetID="22" presetClass="entr" presetSubtype="4" fill="hold" nodeType="afterEffect">
                                  <p:stCondLst>
                                    <p:cond delay="0"/>
                                  </p:stCondLst>
                                  <p:childTnLst>
                                    <p:set>
                                      <p:cBhvr>
                                        <p:cTn id="71" dur="1" fill="hold">
                                          <p:stCondLst>
                                            <p:cond delay="0"/>
                                          </p:stCondLst>
                                        </p:cTn>
                                        <p:tgtEl>
                                          <p:spTgt spid="27756"/>
                                        </p:tgtEl>
                                        <p:attrNameLst>
                                          <p:attrName>style.visibility</p:attrName>
                                        </p:attrNameLst>
                                      </p:cBhvr>
                                      <p:to>
                                        <p:strVal val="visible"/>
                                      </p:to>
                                    </p:set>
                                    <p:animEffect transition="in" filter="wipe(down)">
                                      <p:cBhvr>
                                        <p:cTn id="72" dur="500"/>
                                        <p:tgtEl>
                                          <p:spTgt spid="27756"/>
                                        </p:tgtEl>
                                      </p:cBhvr>
                                    </p:animEffect>
                                  </p:childTnLst>
                                </p:cTn>
                              </p:par>
                            </p:childTnLst>
                          </p:cTn>
                        </p:par>
                        <p:par>
                          <p:cTn id="73" fill="hold" nodeType="afterGroup">
                            <p:stCondLst>
                              <p:cond delay="5000"/>
                            </p:stCondLst>
                            <p:childTnLst>
                              <p:par>
                                <p:cTn id="74" presetID="22" presetClass="entr" presetSubtype="1" fill="hold" nodeType="afterEffect">
                                  <p:stCondLst>
                                    <p:cond delay="0"/>
                                  </p:stCondLst>
                                  <p:childTnLst>
                                    <p:set>
                                      <p:cBhvr>
                                        <p:cTn id="75" dur="1" fill="hold">
                                          <p:stCondLst>
                                            <p:cond delay="0"/>
                                          </p:stCondLst>
                                        </p:cTn>
                                        <p:tgtEl>
                                          <p:spTgt spid="27750"/>
                                        </p:tgtEl>
                                        <p:attrNameLst>
                                          <p:attrName>style.visibility</p:attrName>
                                        </p:attrNameLst>
                                      </p:cBhvr>
                                      <p:to>
                                        <p:strVal val="visible"/>
                                      </p:to>
                                    </p:set>
                                    <p:animEffect transition="in" filter="wipe(up)">
                                      <p:cBhvr>
                                        <p:cTn id="76" dur="500"/>
                                        <p:tgtEl>
                                          <p:spTgt spid="27750"/>
                                        </p:tgtEl>
                                      </p:cBhvr>
                                    </p:animEffect>
                                  </p:childTnLst>
                                </p:cTn>
                              </p:par>
                            </p:childTnLst>
                          </p:cTn>
                        </p:par>
                        <p:par>
                          <p:cTn id="77" fill="hold" nodeType="afterGroup">
                            <p:stCondLst>
                              <p:cond delay="5500"/>
                            </p:stCondLst>
                            <p:childTnLst>
                              <p:par>
                                <p:cTn id="78" presetID="22" presetClass="entr" presetSubtype="4" fill="hold" nodeType="afterEffect">
                                  <p:stCondLst>
                                    <p:cond delay="0"/>
                                  </p:stCondLst>
                                  <p:childTnLst>
                                    <p:set>
                                      <p:cBhvr>
                                        <p:cTn id="79" dur="1" fill="hold">
                                          <p:stCondLst>
                                            <p:cond delay="0"/>
                                          </p:stCondLst>
                                        </p:cTn>
                                        <p:tgtEl>
                                          <p:spTgt spid="27752"/>
                                        </p:tgtEl>
                                        <p:attrNameLst>
                                          <p:attrName>style.visibility</p:attrName>
                                        </p:attrNameLst>
                                      </p:cBhvr>
                                      <p:to>
                                        <p:strVal val="visible"/>
                                      </p:to>
                                    </p:set>
                                    <p:animEffect transition="in" filter="wipe(down)">
                                      <p:cBhvr>
                                        <p:cTn id="80" dur="500"/>
                                        <p:tgtEl>
                                          <p:spTgt spid="27752"/>
                                        </p:tgtEl>
                                      </p:cBhvr>
                                    </p:animEffect>
                                  </p:childTnLst>
                                </p:cTn>
                              </p:par>
                            </p:childTnLst>
                          </p:cTn>
                        </p:par>
                        <p:par>
                          <p:cTn id="81" fill="hold" nodeType="afterGroup">
                            <p:stCondLst>
                              <p:cond delay="6000"/>
                            </p:stCondLst>
                            <p:childTnLst>
                              <p:par>
                                <p:cTn id="82" presetID="22" presetClass="entr" presetSubtype="1" fill="hold" nodeType="afterEffect">
                                  <p:stCondLst>
                                    <p:cond delay="0"/>
                                  </p:stCondLst>
                                  <p:childTnLst>
                                    <p:set>
                                      <p:cBhvr>
                                        <p:cTn id="83" dur="1" fill="hold">
                                          <p:stCondLst>
                                            <p:cond delay="0"/>
                                          </p:stCondLst>
                                        </p:cTn>
                                        <p:tgtEl>
                                          <p:spTgt spid="27754"/>
                                        </p:tgtEl>
                                        <p:attrNameLst>
                                          <p:attrName>style.visibility</p:attrName>
                                        </p:attrNameLst>
                                      </p:cBhvr>
                                      <p:to>
                                        <p:strVal val="visible"/>
                                      </p:to>
                                    </p:set>
                                    <p:animEffect transition="in" filter="wipe(up)">
                                      <p:cBhvr>
                                        <p:cTn id="84" dur="500"/>
                                        <p:tgtEl>
                                          <p:spTgt spid="27754"/>
                                        </p:tgtEl>
                                      </p:cBhvr>
                                    </p:animEffect>
                                  </p:childTnLst>
                                </p:cTn>
                              </p:par>
                            </p:childTnLst>
                          </p:cTn>
                        </p:par>
                        <p:par>
                          <p:cTn id="85" fill="hold" nodeType="afterGroup">
                            <p:stCondLst>
                              <p:cond delay="6500"/>
                            </p:stCondLst>
                            <p:childTnLst>
                              <p:par>
                                <p:cTn id="86" presetID="22" presetClass="entr" presetSubtype="4" fill="hold" nodeType="afterEffect">
                                  <p:stCondLst>
                                    <p:cond delay="0"/>
                                  </p:stCondLst>
                                  <p:childTnLst>
                                    <p:set>
                                      <p:cBhvr>
                                        <p:cTn id="87" dur="1" fill="hold">
                                          <p:stCondLst>
                                            <p:cond delay="0"/>
                                          </p:stCondLst>
                                        </p:cTn>
                                        <p:tgtEl>
                                          <p:spTgt spid="27755"/>
                                        </p:tgtEl>
                                        <p:attrNameLst>
                                          <p:attrName>style.visibility</p:attrName>
                                        </p:attrNameLst>
                                      </p:cBhvr>
                                      <p:to>
                                        <p:strVal val="visible"/>
                                      </p:to>
                                    </p:set>
                                    <p:animEffect transition="in" filter="wipe(down)">
                                      <p:cBhvr>
                                        <p:cTn id="88" dur="500"/>
                                        <p:tgtEl>
                                          <p:spTgt spid="27755"/>
                                        </p:tgtEl>
                                      </p:cBhvr>
                                    </p:animEffect>
                                  </p:childTnLst>
                                </p:cTn>
                              </p:par>
                            </p:childTnLst>
                          </p:cTn>
                        </p:par>
                        <p:par>
                          <p:cTn id="89" fill="hold" nodeType="afterGroup">
                            <p:stCondLst>
                              <p:cond delay="7000"/>
                            </p:stCondLst>
                            <p:childTnLst>
                              <p:par>
                                <p:cTn id="90" presetID="22" presetClass="entr" presetSubtype="1" fill="hold" nodeType="afterEffect">
                                  <p:stCondLst>
                                    <p:cond delay="0"/>
                                  </p:stCondLst>
                                  <p:childTnLst>
                                    <p:set>
                                      <p:cBhvr>
                                        <p:cTn id="91" dur="1" fill="hold">
                                          <p:stCondLst>
                                            <p:cond delay="0"/>
                                          </p:stCondLst>
                                        </p:cTn>
                                        <p:tgtEl>
                                          <p:spTgt spid="27753"/>
                                        </p:tgtEl>
                                        <p:attrNameLst>
                                          <p:attrName>style.visibility</p:attrName>
                                        </p:attrNameLst>
                                      </p:cBhvr>
                                      <p:to>
                                        <p:strVal val="visible"/>
                                      </p:to>
                                    </p:set>
                                    <p:animEffect transition="in" filter="wipe(up)">
                                      <p:cBhvr>
                                        <p:cTn id="92" dur="500"/>
                                        <p:tgtEl>
                                          <p:spTgt spid="27753"/>
                                        </p:tgtEl>
                                      </p:cBhvr>
                                    </p:animEffect>
                                  </p:childTnLst>
                                </p:cTn>
                              </p:par>
                            </p:childTnLst>
                          </p:cTn>
                        </p:par>
                        <p:par>
                          <p:cTn id="93" fill="hold" nodeType="afterGroup">
                            <p:stCondLst>
                              <p:cond delay="7500"/>
                            </p:stCondLst>
                            <p:childTnLst>
                              <p:par>
                                <p:cTn id="94" presetID="22" presetClass="entr" presetSubtype="4" fill="hold" nodeType="afterEffect">
                                  <p:stCondLst>
                                    <p:cond delay="0"/>
                                  </p:stCondLst>
                                  <p:childTnLst>
                                    <p:set>
                                      <p:cBhvr>
                                        <p:cTn id="95" dur="1" fill="hold">
                                          <p:stCondLst>
                                            <p:cond delay="0"/>
                                          </p:stCondLst>
                                        </p:cTn>
                                        <p:tgtEl>
                                          <p:spTgt spid="27751"/>
                                        </p:tgtEl>
                                        <p:attrNameLst>
                                          <p:attrName>style.visibility</p:attrName>
                                        </p:attrNameLst>
                                      </p:cBhvr>
                                      <p:to>
                                        <p:strVal val="visible"/>
                                      </p:to>
                                    </p:set>
                                    <p:animEffect transition="in" filter="wipe(down)">
                                      <p:cBhvr>
                                        <p:cTn id="96" dur="500"/>
                                        <p:tgtEl>
                                          <p:spTgt spid="27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29" name="Group 34">
            <a:extLst>
              <a:ext uri="{FF2B5EF4-FFF2-40B4-BE49-F238E27FC236}">
                <a16:creationId xmlns:a16="http://schemas.microsoft.com/office/drawing/2014/main" id="{9C625A8C-716E-1F47-9693-54F879FED5DA}"/>
              </a:ext>
            </a:extLst>
          </p:cNvPr>
          <p:cNvGrpSpPr>
            <a:grpSpLocks/>
          </p:cNvGrpSpPr>
          <p:nvPr/>
        </p:nvGrpSpPr>
        <p:grpSpPr bwMode="auto">
          <a:xfrm>
            <a:off x="3200400" y="3886201"/>
            <a:ext cx="6172200" cy="2270125"/>
            <a:chOff x="960" y="1344"/>
            <a:chExt cx="4176" cy="1536"/>
          </a:xfrm>
        </p:grpSpPr>
        <p:sp>
          <p:nvSpPr>
            <p:cNvPr id="22575" name="Oval 5">
              <a:extLst>
                <a:ext uri="{FF2B5EF4-FFF2-40B4-BE49-F238E27FC236}">
                  <a16:creationId xmlns:a16="http://schemas.microsoft.com/office/drawing/2014/main" id="{1DE81AA5-C5A8-0245-A7E4-5F7557F43C82}"/>
                </a:ext>
              </a:extLst>
            </p:cNvPr>
            <p:cNvSpPr>
              <a:spLocks noChangeArrowheads="1"/>
            </p:cNvSpPr>
            <p:nvPr/>
          </p:nvSpPr>
          <p:spPr bwMode="auto">
            <a:xfrm>
              <a:off x="1632" y="211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76" name="Oval 6">
              <a:extLst>
                <a:ext uri="{FF2B5EF4-FFF2-40B4-BE49-F238E27FC236}">
                  <a16:creationId xmlns:a16="http://schemas.microsoft.com/office/drawing/2014/main" id="{705BA72F-1283-6945-BD34-D3F27871C9EF}"/>
                </a:ext>
              </a:extLst>
            </p:cNvPr>
            <p:cNvSpPr>
              <a:spLocks noChangeArrowheads="1"/>
            </p:cNvSpPr>
            <p:nvPr/>
          </p:nvSpPr>
          <p:spPr bwMode="auto">
            <a:xfrm>
              <a:off x="4224" y="148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77" name="Oval 7">
              <a:extLst>
                <a:ext uri="{FF2B5EF4-FFF2-40B4-BE49-F238E27FC236}">
                  <a16:creationId xmlns:a16="http://schemas.microsoft.com/office/drawing/2014/main" id="{C51624AD-9F39-3B4D-9F7D-BEBE8190DB70}"/>
                </a:ext>
              </a:extLst>
            </p:cNvPr>
            <p:cNvSpPr>
              <a:spLocks noChangeArrowheads="1"/>
            </p:cNvSpPr>
            <p:nvPr/>
          </p:nvSpPr>
          <p:spPr bwMode="auto">
            <a:xfrm>
              <a:off x="2448" y="182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78" name="Oval 8">
              <a:extLst>
                <a:ext uri="{FF2B5EF4-FFF2-40B4-BE49-F238E27FC236}">
                  <a16:creationId xmlns:a16="http://schemas.microsoft.com/office/drawing/2014/main" id="{FE072831-FF33-6242-91BD-097A1F6D61F6}"/>
                </a:ext>
              </a:extLst>
            </p:cNvPr>
            <p:cNvSpPr>
              <a:spLocks noChangeArrowheads="1"/>
            </p:cNvSpPr>
            <p:nvPr/>
          </p:nvSpPr>
          <p:spPr bwMode="auto">
            <a:xfrm>
              <a:off x="1344" y="273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79" name="Oval 9">
              <a:extLst>
                <a:ext uri="{FF2B5EF4-FFF2-40B4-BE49-F238E27FC236}">
                  <a16:creationId xmlns:a16="http://schemas.microsoft.com/office/drawing/2014/main" id="{39FA3139-A026-D44E-9C8C-E3F4C4397FB3}"/>
                </a:ext>
              </a:extLst>
            </p:cNvPr>
            <p:cNvSpPr>
              <a:spLocks noChangeArrowheads="1"/>
            </p:cNvSpPr>
            <p:nvPr/>
          </p:nvSpPr>
          <p:spPr bwMode="auto">
            <a:xfrm>
              <a:off x="960" y="225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80" name="Line 11">
              <a:extLst>
                <a:ext uri="{FF2B5EF4-FFF2-40B4-BE49-F238E27FC236}">
                  <a16:creationId xmlns:a16="http://schemas.microsoft.com/office/drawing/2014/main" id="{3A5D8FC5-57EA-AE48-AE19-429B4EF9FD1E}"/>
                </a:ext>
              </a:extLst>
            </p:cNvPr>
            <p:cNvSpPr>
              <a:spLocks noChangeShapeType="1"/>
            </p:cNvSpPr>
            <p:nvPr/>
          </p:nvSpPr>
          <p:spPr bwMode="auto">
            <a:xfrm>
              <a:off x="1008" y="2304"/>
              <a:ext cx="384"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1" name="Line 12">
              <a:extLst>
                <a:ext uri="{FF2B5EF4-FFF2-40B4-BE49-F238E27FC236}">
                  <a16:creationId xmlns:a16="http://schemas.microsoft.com/office/drawing/2014/main" id="{FA9BC8DB-82F0-C345-BB34-B155EA9981F9}"/>
                </a:ext>
              </a:extLst>
            </p:cNvPr>
            <p:cNvSpPr>
              <a:spLocks noChangeShapeType="1"/>
            </p:cNvSpPr>
            <p:nvPr/>
          </p:nvSpPr>
          <p:spPr bwMode="auto">
            <a:xfrm flipV="1">
              <a:off x="1392" y="2160"/>
              <a:ext cx="288"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2" name="Freeform 13">
              <a:extLst>
                <a:ext uri="{FF2B5EF4-FFF2-40B4-BE49-F238E27FC236}">
                  <a16:creationId xmlns:a16="http://schemas.microsoft.com/office/drawing/2014/main" id="{E03CB06F-0A04-6C47-963D-1993373B40F8}"/>
                </a:ext>
              </a:extLst>
            </p:cNvPr>
            <p:cNvSpPr>
              <a:spLocks/>
            </p:cNvSpPr>
            <p:nvPr/>
          </p:nvSpPr>
          <p:spPr bwMode="auto">
            <a:xfrm>
              <a:off x="1392" y="2736"/>
              <a:ext cx="1" cy="48"/>
            </a:xfrm>
            <a:custGeom>
              <a:avLst/>
              <a:gdLst>
                <a:gd name="T0" fmla="*/ 0 w 1"/>
                <a:gd name="T1" fmla="*/ 0 h 48"/>
                <a:gd name="T2" fmla="*/ 0 w 1"/>
                <a:gd name="T3" fmla="*/ 48 h 48"/>
                <a:gd name="T4" fmla="*/ 0 60000 65536"/>
                <a:gd name="T5" fmla="*/ 0 60000 65536"/>
                <a:gd name="T6" fmla="*/ 0 w 1"/>
                <a:gd name="T7" fmla="*/ 0 h 48"/>
                <a:gd name="T8" fmla="*/ 1 w 1"/>
                <a:gd name="T9" fmla="*/ 48 h 48"/>
              </a:gdLst>
              <a:ahLst/>
              <a:cxnLst>
                <a:cxn ang="T4">
                  <a:pos x="T0" y="T1"/>
                </a:cxn>
                <a:cxn ang="T5">
                  <a:pos x="T2" y="T3"/>
                </a:cxn>
              </a:cxnLst>
              <a:rect l="T6" t="T7" r="T8" b="T9"/>
              <a:pathLst>
                <a:path w="1" h="48">
                  <a:moveTo>
                    <a:pt x="0" y="0"/>
                  </a:moveTo>
                  <a:cubicBezTo>
                    <a:pt x="0" y="0"/>
                    <a:pt x="0" y="24"/>
                    <a:pt x="0" y="4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83" name="Line 15">
              <a:extLst>
                <a:ext uri="{FF2B5EF4-FFF2-40B4-BE49-F238E27FC236}">
                  <a16:creationId xmlns:a16="http://schemas.microsoft.com/office/drawing/2014/main" id="{8C74393B-0DEE-E348-9417-843736BD72BA}"/>
                </a:ext>
              </a:extLst>
            </p:cNvPr>
            <p:cNvSpPr>
              <a:spLocks noChangeShapeType="1"/>
            </p:cNvSpPr>
            <p:nvPr/>
          </p:nvSpPr>
          <p:spPr bwMode="auto">
            <a:xfrm flipV="1">
              <a:off x="1680" y="1872"/>
              <a:ext cx="81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4" name="Oval 17">
              <a:extLst>
                <a:ext uri="{FF2B5EF4-FFF2-40B4-BE49-F238E27FC236}">
                  <a16:creationId xmlns:a16="http://schemas.microsoft.com/office/drawing/2014/main" id="{AF142324-45E3-1746-AE8E-77C3D7C1BAAD}"/>
                </a:ext>
              </a:extLst>
            </p:cNvPr>
            <p:cNvSpPr>
              <a:spLocks noChangeArrowheads="1"/>
            </p:cNvSpPr>
            <p:nvPr/>
          </p:nvSpPr>
          <p:spPr bwMode="auto">
            <a:xfrm>
              <a:off x="3744" y="211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85" name="Oval 18">
              <a:extLst>
                <a:ext uri="{FF2B5EF4-FFF2-40B4-BE49-F238E27FC236}">
                  <a16:creationId xmlns:a16="http://schemas.microsoft.com/office/drawing/2014/main" id="{97D10A7C-25A9-DC40-A882-633AC9F9EF57}"/>
                </a:ext>
              </a:extLst>
            </p:cNvPr>
            <p:cNvSpPr>
              <a:spLocks noChangeArrowheads="1"/>
            </p:cNvSpPr>
            <p:nvPr/>
          </p:nvSpPr>
          <p:spPr bwMode="auto">
            <a:xfrm>
              <a:off x="3312" y="134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86" name="Line 19">
              <a:extLst>
                <a:ext uri="{FF2B5EF4-FFF2-40B4-BE49-F238E27FC236}">
                  <a16:creationId xmlns:a16="http://schemas.microsoft.com/office/drawing/2014/main" id="{2DE488E0-DE13-AB47-BB7F-A73FDEF4C10F}"/>
                </a:ext>
              </a:extLst>
            </p:cNvPr>
            <p:cNvSpPr>
              <a:spLocks noChangeShapeType="1"/>
            </p:cNvSpPr>
            <p:nvPr/>
          </p:nvSpPr>
          <p:spPr bwMode="auto">
            <a:xfrm flipV="1">
              <a:off x="2496" y="1392"/>
              <a:ext cx="864"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7" name="Line 20">
              <a:extLst>
                <a:ext uri="{FF2B5EF4-FFF2-40B4-BE49-F238E27FC236}">
                  <a16:creationId xmlns:a16="http://schemas.microsoft.com/office/drawing/2014/main" id="{0992ACA0-6D16-6549-AAD1-8BF1C75BD35A}"/>
                </a:ext>
              </a:extLst>
            </p:cNvPr>
            <p:cNvSpPr>
              <a:spLocks noChangeShapeType="1"/>
            </p:cNvSpPr>
            <p:nvPr/>
          </p:nvSpPr>
          <p:spPr bwMode="auto">
            <a:xfrm>
              <a:off x="2496" y="1872"/>
              <a:ext cx="129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8" name="Line 21">
              <a:extLst>
                <a:ext uri="{FF2B5EF4-FFF2-40B4-BE49-F238E27FC236}">
                  <a16:creationId xmlns:a16="http://schemas.microsoft.com/office/drawing/2014/main" id="{91E92DB0-7B0A-1942-B76D-1CDB1304048B}"/>
                </a:ext>
              </a:extLst>
            </p:cNvPr>
            <p:cNvSpPr>
              <a:spLocks noChangeShapeType="1"/>
            </p:cNvSpPr>
            <p:nvPr/>
          </p:nvSpPr>
          <p:spPr bwMode="auto">
            <a:xfrm flipV="1">
              <a:off x="3792" y="1536"/>
              <a:ext cx="48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9" name="Line 22">
              <a:extLst>
                <a:ext uri="{FF2B5EF4-FFF2-40B4-BE49-F238E27FC236}">
                  <a16:creationId xmlns:a16="http://schemas.microsoft.com/office/drawing/2014/main" id="{17248D61-9E5B-5842-AE6D-438FDFF0C15E}"/>
                </a:ext>
              </a:extLst>
            </p:cNvPr>
            <p:cNvSpPr>
              <a:spLocks noChangeShapeType="1"/>
            </p:cNvSpPr>
            <p:nvPr/>
          </p:nvSpPr>
          <p:spPr bwMode="auto">
            <a:xfrm>
              <a:off x="3360" y="1392"/>
              <a:ext cx="91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0" name="Line 27">
              <a:extLst>
                <a:ext uri="{FF2B5EF4-FFF2-40B4-BE49-F238E27FC236}">
                  <a16:creationId xmlns:a16="http://schemas.microsoft.com/office/drawing/2014/main" id="{77CDB418-5074-EF42-BE52-D5F919477221}"/>
                </a:ext>
              </a:extLst>
            </p:cNvPr>
            <p:cNvSpPr>
              <a:spLocks noChangeShapeType="1"/>
            </p:cNvSpPr>
            <p:nvPr/>
          </p:nvSpPr>
          <p:spPr bwMode="auto">
            <a:xfrm flipH="1">
              <a:off x="2304" y="1872"/>
              <a:ext cx="192"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1" name="Line 28">
              <a:extLst>
                <a:ext uri="{FF2B5EF4-FFF2-40B4-BE49-F238E27FC236}">
                  <a16:creationId xmlns:a16="http://schemas.microsoft.com/office/drawing/2014/main" id="{E24E04F9-24D8-E743-8F89-F82ACDEAA276}"/>
                </a:ext>
              </a:extLst>
            </p:cNvPr>
            <p:cNvSpPr>
              <a:spLocks noChangeShapeType="1"/>
            </p:cNvSpPr>
            <p:nvPr/>
          </p:nvSpPr>
          <p:spPr bwMode="auto">
            <a:xfrm flipV="1">
              <a:off x="4176" y="1536"/>
              <a:ext cx="96" cy="12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2" name="Line 29">
              <a:extLst>
                <a:ext uri="{FF2B5EF4-FFF2-40B4-BE49-F238E27FC236}">
                  <a16:creationId xmlns:a16="http://schemas.microsoft.com/office/drawing/2014/main" id="{3D25374F-0B26-DC4F-8B60-A8AC22ACDA3B}"/>
                </a:ext>
              </a:extLst>
            </p:cNvPr>
            <p:cNvSpPr>
              <a:spLocks noChangeShapeType="1"/>
            </p:cNvSpPr>
            <p:nvPr/>
          </p:nvSpPr>
          <p:spPr bwMode="auto">
            <a:xfrm>
              <a:off x="2304" y="2448"/>
              <a:ext cx="1872"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3" name="Oval 30">
              <a:extLst>
                <a:ext uri="{FF2B5EF4-FFF2-40B4-BE49-F238E27FC236}">
                  <a16:creationId xmlns:a16="http://schemas.microsoft.com/office/drawing/2014/main" id="{AE85F86F-802E-4F42-BB95-59AF6CE6C658}"/>
                </a:ext>
              </a:extLst>
            </p:cNvPr>
            <p:cNvSpPr>
              <a:spLocks noChangeArrowheads="1"/>
            </p:cNvSpPr>
            <p:nvPr/>
          </p:nvSpPr>
          <p:spPr bwMode="auto">
            <a:xfrm>
              <a:off x="4128" y="278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94" name="Oval 31">
              <a:extLst>
                <a:ext uri="{FF2B5EF4-FFF2-40B4-BE49-F238E27FC236}">
                  <a16:creationId xmlns:a16="http://schemas.microsoft.com/office/drawing/2014/main" id="{1D286585-684A-3348-880D-AAA586D34B9F}"/>
                </a:ext>
              </a:extLst>
            </p:cNvPr>
            <p:cNvSpPr>
              <a:spLocks noChangeArrowheads="1"/>
            </p:cNvSpPr>
            <p:nvPr/>
          </p:nvSpPr>
          <p:spPr bwMode="auto">
            <a:xfrm>
              <a:off x="2256" y="2400"/>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95" name="Line 32">
              <a:extLst>
                <a:ext uri="{FF2B5EF4-FFF2-40B4-BE49-F238E27FC236}">
                  <a16:creationId xmlns:a16="http://schemas.microsoft.com/office/drawing/2014/main" id="{B47AA7EF-3AE1-974C-9E10-1183A03A6F20}"/>
                </a:ext>
              </a:extLst>
            </p:cNvPr>
            <p:cNvSpPr>
              <a:spLocks noChangeShapeType="1"/>
            </p:cNvSpPr>
            <p:nvPr/>
          </p:nvSpPr>
          <p:spPr bwMode="auto">
            <a:xfrm>
              <a:off x="4272" y="1536"/>
              <a:ext cx="816"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6" name="Oval 33">
              <a:extLst>
                <a:ext uri="{FF2B5EF4-FFF2-40B4-BE49-F238E27FC236}">
                  <a16:creationId xmlns:a16="http://schemas.microsoft.com/office/drawing/2014/main" id="{8CD1CE6C-B395-CF49-95F7-A90101ECEF07}"/>
                </a:ext>
              </a:extLst>
            </p:cNvPr>
            <p:cNvSpPr>
              <a:spLocks noChangeArrowheads="1"/>
            </p:cNvSpPr>
            <p:nvPr/>
          </p:nvSpPr>
          <p:spPr bwMode="auto">
            <a:xfrm>
              <a:off x="5040" y="220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grpSp>
      <p:sp>
        <p:nvSpPr>
          <p:cNvPr id="28719" name="Line 47">
            <a:extLst>
              <a:ext uri="{FF2B5EF4-FFF2-40B4-BE49-F238E27FC236}">
                <a16:creationId xmlns:a16="http://schemas.microsoft.com/office/drawing/2014/main" id="{BCFE9CE1-9D54-4841-8C85-381836C043FE}"/>
              </a:ext>
            </a:extLst>
          </p:cNvPr>
          <p:cNvSpPr>
            <a:spLocks noChangeShapeType="1"/>
          </p:cNvSpPr>
          <p:nvPr/>
        </p:nvSpPr>
        <p:spPr bwMode="auto">
          <a:xfrm flipH="1">
            <a:off x="7924800" y="4191000"/>
            <a:ext cx="152400" cy="19050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8" name="Line 46">
            <a:extLst>
              <a:ext uri="{FF2B5EF4-FFF2-40B4-BE49-F238E27FC236}">
                <a16:creationId xmlns:a16="http://schemas.microsoft.com/office/drawing/2014/main" id="{E78FA4D0-EAEE-2E44-BBF6-FD1D76700627}"/>
              </a:ext>
            </a:extLst>
          </p:cNvPr>
          <p:cNvSpPr>
            <a:spLocks noChangeShapeType="1"/>
          </p:cNvSpPr>
          <p:nvPr/>
        </p:nvSpPr>
        <p:spPr bwMode="auto">
          <a:xfrm flipH="1" flipV="1">
            <a:off x="8077200" y="4191000"/>
            <a:ext cx="1219200" cy="10668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2" name="Text Box 4">
            <a:extLst>
              <a:ext uri="{FF2B5EF4-FFF2-40B4-BE49-F238E27FC236}">
                <a16:creationId xmlns:a16="http://schemas.microsoft.com/office/drawing/2014/main" id="{0A257FE4-EBB5-0C49-ABEA-077D5421037E}"/>
              </a:ext>
            </a:extLst>
          </p:cNvPr>
          <p:cNvSpPr>
            <a:spLocks noGrp="1" noChangeArrowheads="1"/>
          </p:cNvSpPr>
          <p:nvPr>
            <p:ph type="body" idx="1"/>
          </p:nvPr>
        </p:nvSpPr>
        <p:spPr>
          <a:xfrm>
            <a:off x="1981200" y="304800"/>
            <a:ext cx="8229600" cy="1371600"/>
          </a:xfrm>
          <a:noFill/>
        </p:spPr>
        <p:txBody>
          <a:bodyPr/>
          <a:lstStyle/>
          <a:p>
            <a:pPr eaLnBrk="1" hangingPunct="1">
              <a:lnSpc>
                <a:spcPct val="90000"/>
              </a:lnSpc>
              <a:buFontTx/>
              <a:buNone/>
            </a:pPr>
            <a:r>
              <a:rPr lang="en-US" altLang="en-US" b="1" i="1">
                <a:latin typeface="Times New Roman" panose="02020603050405020304" pitchFamily="18" charset="0"/>
                <a:ea typeface="ＭＳ Ｐゴシック" panose="020B0600070205080204" pitchFamily="34" charset="-128"/>
              </a:rPr>
              <a:t>Trail:</a:t>
            </a:r>
            <a:r>
              <a:rPr lang="en-US" altLang="en-US" sz="4800" b="1" i="1">
                <a:ea typeface="ＭＳ Ｐゴシック" panose="020B0600070205080204" pitchFamily="34" charset="-128"/>
              </a:rPr>
              <a:t> </a:t>
            </a:r>
            <a:r>
              <a:rPr lang="en-US" altLang="en-US" sz="2000">
                <a:latin typeface="Times New Roman" panose="02020603050405020304" pitchFamily="18" charset="0"/>
                <a:ea typeface="ＭＳ Ｐゴシック" panose="020B0600070205080204" pitchFamily="34" charset="-128"/>
              </a:rPr>
              <a:t>A sequence of consecutively linked edges in which no edge can appear more than once.                            . Unlike a path, a vertex can be visited more than once in a trail.</a:t>
            </a:r>
          </a:p>
          <a:p>
            <a:pPr eaLnBrk="1" hangingPunct="1">
              <a:lnSpc>
                <a:spcPct val="90000"/>
              </a:lnSpc>
              <a:spcBef>
                <a:spcPct val="0"/>
              </a:spcBef>
              <a:buFontTx/>
              <a:buNone/>
            </a:pPr>
            <a:endParaRPr lang="en-US" altLang="en-US">
              <a:latin typeface="Times New Roman" panose="02020603050405020304" pitchFamily="18" charset="0"/>
              <a:ea typeface="ＭＳ Ｐゴシック" panose="020B0600070205080204" pitchFamily="34" charset="-128"/>
            </a:endParaRPr>
          </a:p>
        </p:txBody>
      </p:sp>
      <p:sp>
        <p:nvSpPr>
          <p:cNvPr id="22533" name="Text Box 35">
            <a:extLst>
              <a:ext uri="{FF2B5EF4-FFF2-40B4-BE49-F238E27FC236}">
                <a16:creationId xmlns:a16="http://schemas.microsoft.com/office/drawing/2014/main" id="{17BD5C2E-EA9C-D749-ADBD-42FE72987715}"/>
              </a:ext>
            </a:extLst>
          </p:cNvPr>
          <p:cNvSpPr txBox="1">
            <a:spLocks noChangeArrowheads="1"/>
          </p:cNvSpPr>
          <p:nvPr/>
        </p:nvSpPr>
        <p:spPr bwMode="auto">
          <a:xfrm>
            <a:off x="2574925" y="17907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imes New Roman" panose="02020603050405020304" pitchFamily="18" charset="0"/>
              </a:rPr>
              <a:t>e.g.</a:t>
            </a:r>
          </a:p>
        </p:txBody>
      </p:sp>
      <p:sp>
        <p:nvSpPr>
          <p:cNvPr id="22534" name="Text Box 37">
            <a:extLst>
              <a:ext uri="{FF2B5EF4-FFF2-40B4-BE49-F238E27FC236}">
                <a16:creationId xmlns:a16="http://schemas.microsoft.com/office/drawing/2014/main" id="{A9AFDB34-A956-9C44-9FC9-FC89B858BCB6}"/>
              </a:ext>
            </a:extLst>
          </p:cNvPr>
          <p:cNvSpPr txBox="1">
            <a:spLocks noChangeArrowheads="1"/>
          </p:cNvSpPr>
          <p:nvPr/>
        </p:nvSpPr>
        <p:spPr bwMode="auto">
          <a:xfrm>
            <a:off x="3048000" y="2514601"/>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imes New Roman" panose="02020603050405020304" pitchFamily="18" charset="0"/>
              </a:rPr>
              <a:t>Start</a:t>
            </a:r>
          </a:p>
        </p:txBody>
      </p:sp>
      <p:sp>
        <p:nvSpPr>
          <p:cNvPr id="22535" name="Rectangle 38">
            <a:extLst>
              <a:ext uri="{FF2B5EF4-FFF2-40B4-BE49-F238E27FC236}">
                <a16:creationId xmlns:a16="http://schemas.microsoft.com/office/drawing/2014/main" id="{87FC7CF4-BA52-D845-9CDE-8B6F8481D7BE}"/>
              </a:ext>
            </a:extLst>
          </p:cNvPr>
          <p:cNvSpPr>
            <a:spLocks noChangeArrowheads="1"/>
          </p:cNvSpPr>
          <p:nvPr/>
        </p:nvSpPr>
        <p:spPr bwMode="auto">
          <a:xfrm>
            <a:off x="2057400" y="31242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buFontTx/>
              <a:buNone/>
            </a:pPr>
            <a:r>
              <a:rPr lang="en-US" altLang="en-US" sz="2400" b="1" i="1">
                <a:latin typeface="Times New Roman" panose="02020603050405020304" pitchFamily="18" charset="0"/>
              </a:rPr>
              <a:t>Euler Trail</a:t>
            </a:r>
            <a:r>
              <a:rPr lang="en-US" altLang="en-US" sz="2400" b="1">
                <a:latin typeface="Times New Roman" panose="02020603050405020304" pitchFamily="18" charset="0"/>
              </a:rPr>
              <a:t>:-</a:t>
            </a:r>
            <a:r>
              <a:rPr lang="en-US" altLang="en-US" sz="3600" b="1">
                <a:latin typeface="Times New Roman" panose="02020603050405020304" pitchFamily="18" charset="0"/>
              </a:rPr>
              <a:t> </a:t>
            </a:r>
            <a:r>
              <a:rPr lang="en-US" altLang="en-US" sz="2000">
                <a:latin typeface="Times New Roman" panose="02020603050405020304" pitchFamily="18" charset="0"/>
              </a:rPr>
              <a:t>A trail that contains all the edges in a graph (and visits each edge exactly once). </a:t>
            </a:r>
          </a:p>
        </p:txBody>
      </p:sp>
      <p:sp>
        <p:nvSpPr>
          <p:cNvPr id="28717" name="Line 45">
            <a:extLst>
              <a:ext uri="{FF2B5EF4-FFF2-40B4-BE49-F238E27FC236}">
                <a16:creationId xmlns:a16="http://schemas.microsoft.com/office/drawing/2014/main" id="{D58CAA77-F63F-774B-BCBD-0BEA451844BB}"/>
              </a:ext>
            </a:extLst>
          </p:cNvPr>
          <p:cNvSpPr>
            <a:spLocks noChangeShapeType="1"/>
          </p:cNvSpPr>
          <p:nvPr/>
        </p:nvSpPr>
        <p:spPr bwMode="auto">
          <a:xfrm>
            <a:off x="6705600" y="3962400"/>
            <a:ext cx="1371600" cy="2286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3" name="Line 51">
            <a:extLst>
              <a:ext uri="{FF2B5EF4-FFF2-40B4-BE49-F238E27FC236}">
                <a16:creationId xmlns:a16="http://schemas.microsoft.com/office/drawing/2014/main" id="{11322D65-B97C-D947-8860-A39CFBCD8E39}"/>
              </a:ext>
            </a:extLst>
          </p:cNvPr>
          <p:cNvSpPr>
            <a:spLocks noChangeShapeType="1"/>
          </p:cNvSpPr>
          <p:nvPr/>
        </p:nvSpPr>
        <p:spPr bwMode="auto">
          <a:xfrm flipH="1" flipV="1">
            <a:off x="5181600" y="5486400"/>
            <a:ext cx="2743200" cy="6096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2" name="Line 50">
            <a:extLst>
              <a:ext uri="{FF2B5EF4-FFF2-40B4-BE49-F238E27FC236}">
                <a16:creationId xmlns:a16="http://schemas.microsoft.com/office/drawing/2014/main" id="{E385D7A5-E0F9-654B-9F47-96C0D649585E}"/>
              </a:ext>
            </a:extLst>
          </p:cNvPr>
          <p:cNvSpPr>
            <a:spLocks noChangeShapeType="1"/>
          </p:cNvSpPr>
          <p:nvPr/>
        </p:nvSpPr>
        <p:spPr bwMode="auto">
          <a:xfrm flipH="1">
            <a:off x="5181600" y="4648200"/>
            <a:ext cx="304800" cy="8382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5" name="Line 43">
            <a:extLst>
              <a:ext uri="{FF2B5EF4-FFF2-40B4-BE49-F238E27FC236}">
                <a16:creationId xmlns:a16="http://schemas.microsoft.com/office/drawing/2014/main" id="{EE7C431E-4130-7C47-8896-6E3B5E99438C}"/>
              </a:ext>
            </a:extLst>
          </p:cNvPr>
          <p:cNvSpPr>
            <a:spLocks noChangeShapeType="1"/>
          </p:cNvSpPr>
          <p:nvPr/>
        </p:nvSpPr>
        <p:spPr bwMode="auto">
          <a:xfrm flipH="1">
            <a:off x="4267200" y="4648200"/>
            <a:ext cx="1219200" cy="4572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4" name="Line 42">
            <a:extLst>
              <a:ext uri="{FF2B5EF4-FFF2-40B4-BE49-F238E27FC236}">
                <a16:creationId xmlns:a16="http://schemas.microsoft.com/office/drawing/2014/main" id="{B23A864E-EC4B-EA47-A8EE-10AD8661507F}"/>
              </a:ext>
            </a:extLst>
          </p:cNvPr>
          <p:cNvSpPr>
            <a:spLocks noChangeShapeType="1"/>
          </p:cNvSpPr>
          <p:nvPr/>
        </p:nvSpPr>
        <p:spPr bwMode="auto">
          <a:xfrm flipH="1">
            <a:off x="3810000" y="5105400"/>
            <a:ext cx="457200" cy="9144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3" name="Line 41">
            <a:extLst>
              <a:ext uri="{FF2B5EF4-FFF2-40B4-BE49-F238E27FC236}">
                <a16:creationId xmlns:a16="http://schemas.microsoft.com/office/drawing/2014/main" id="{E71EF213-EC1B-6941-AC2E-99248B8CA237}"/>
              </a:ext>
            </a:extLst>
          </p:cNvPr>
          <p:cNvSpPr>
            <a:spLocks noChangeShapeType="1"/>
          </p:cNvSpPr>
          <p:nvPr/>
        </p:nvSpPr>
        <p:spPr bwMode="auto">
          <a:xfrm>
            <a:off x="3276600" y="5334000"/>
            <a:ext cx="533400" cy="6858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6" name="Line 44">
            <a:extLst>
              <a:ext uri="{FF2B5EF4-FFF2-40B4-BE49-F238E27FC236}">
                <a16:creationId xmlns:a16="http://schemas.microsoft.com/office/drawing/2014/main" id="{6AE80305-2EDC-6B4E-B4C1-16E03EFCD0C6}"/>
              </a:ext>
            </a:extLst>
          </p:cNvPr>
          <p:cNvSpPr>
            <a:spLocks noChangeShapeType="1"/>
          </p:cNvSpPr>
          <p:nvPr/>
        </p:nvSpPr>
        <p:spPr bwMode="auto">
          <a:xfrm flipH="1">
            <a:off x="5486400" y="3962400"/>
            <a:ext cx="1219200" cy="6858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1" name="Line 49">
            <a:extLst>
              <a:ext uri="{FF2B5EF4-FFF2-40B4-BE49-F238E27FC236}">
                <a16:creationId xmlns:a16="http://schemas.microsoft.com/office/drawing/2014/main" id="{146357D7-7ACE-A84F-9671-F8373189F9DC}"/>
              </a:ext>
            </a:extLst>
          </p:cNvPr>
          <p:cNvSpPr>
            <a:spLocks noChangeShapeType="1"/>
          </p:cNvSpPr>
          <p:nvPr/>
        </p:nvSpPr>
        <p:spPr bwMode="auto">
          <a:xfrm flipH="1" flipV="1">
            <a:off x="5486400" y="4648200"/>
            <a:ext cx="1905000" cy="4572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0" name="Line 48">
            <a:extLst>
              <a:ext uri="{FF2B5EF4-FFF2-40B4-BE49-F238E27FC236}">
                <a16:creationId xmlns:a16="http://schemas.microsoft.com/office/drawing/2014/main" id="{F7E19917-7C28-9845-9728-C5A90730CE68}"/>
              </a:ext>
            </a:extLst>
          </p:cNvPr>
          <p:cNvSpPr>
            <a:spLocks noChangeShapeType="1"/>
          </p:cNvSpPr>
          <p:nvPr/>
        </p:nvSpPr>
        <p:spPr bwMode="auto">
          <a:xfrm flipH="1">
            <a:off x="7391400" y="4191000"/>
            <a:ext cx="685800" cy="914400"/>
          </a:xfrm>
          <a:prstGeom prst="line">
            <a:avLst/>
          </a:prstGeom>
          <a:noFill/>
          <a:ln w="28575">
            <a:solidFill>
              <a:srgbClr val="00FF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5" name="Text Box 54">
            <a:extLst>
              <a:ext uri="{FF2B5EF4-FFF2-40B4-BE49-F238E27FC236}">
                <a16:creationId xmlns:a16="http://schemas.microsoft.com/office/drawing/2014/main" id="{4F230A60-773E-4F4F-82B8-A225DEB0B703}"/>
              </a:ext>
            </a:extLst>
          </p:cNvPr>
          <p:cNvSpPr txBox="1">
            <a:spLocks noChangeArrowheads="1"/>
          </p:cNvSpPr>
          <p:nvPr/>
        </p:nvSpPr>
        <p:spPr bwMode="auto">
          <a:xfrm>
            <a:off x="8991600" y="2438401"/>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imes New Roman" panose="02020603050405020304" pitchFamily="18" charset="0"/>
              </a:rPr>
              <a:t>End</a:t>
            </a:r>
          </a:p>
        </p:txBody>
      </p:sp>
      <p:graphicFrame>
        <p:nvGraphicFramePr>
          <p:cNvPr id="22546" name="Object 57">
            <a:extLst>
              <a:ext uri="{FF2B5EF4-FFF2-40B4-BE49-F238E27FC236}">
                <a16:creationId xmlns:a16="http://schemas.microsoft.com/office/drawing/2014/main" id="{035E12B7-37F8-CC4A-968F-D812FF3103DA}"/>
              </a:ext>
            </a:extLst>
          </p:cNvPr>
          <p:cNvGraphicFramePr>
            <a:graphicFrameLocks noChangeAspect="1"/>
          </p:cNvGraphicFramePr>
          <p:nvPr/>
        </p:nvGraphicFramePr>
        <p:xfrm>
          <a:off x="4876800" y="990600"/>
          <a:ext cx="1676400" cy="330200"/>
        </p:xfrm>
        <a:graphic>
          <a:graphicData uri="http://schemas.openxmlformats.org/presentationml/2006/ole">
            <mc:AlternateContent xmlns:mc="http://schemas.openxmlformats.org/markup-compatibility/2006">
              <mc:Choice xmlns:v="urn:schemas-microsoft-com:vml" Requires="v">
                <p:oleObj spid="_x0000_s1026" name="Equation" r:id="rId3" imgW="38620700" imgH="7607300" progId="Equation.DSMT4">
                  <p:embed/>
                </p:oleObj>
              </mc:Choice>
              <mc:Fallback>
                <p:oleObj name="Equation" r:id="rId3" imgW="38620700" imgH="7607300" progId="Equation.DSMT4">
                  <p:embed/>
                  <p:pic>
                    <p:nvPicPr>
                      <p:cNvPr id="22546" name="Object 57">
                        <a:extLst>
                          <a:ext uri="{FF2B5EF4-FFF2-40B4-BE49-F238E27FC236}">
                            <a16:creationId xmlns:a16="http://schemas.microsoft.com/office/drawing/2014/main" id="{035E12B7-37F8-CC4A-968F-D812FF3103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990600"/>
                        <a:ext cx="167640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8754" name="Line 82">
            <a:extLst>
              <a:ext uri="{FF2B5EF4-FFF2-40B4-BE49-F238E27FC236}">
                <a16:creationId xmlns:a16="http://schemas.microsoft.com/office/drawing/2014/main" id="{D8583C6F-54D5-E945-B39A-ABA06C4C9C54}"/>
              </a:ext>
            </a:extLst>
          </p:cNvPr>
          <p:cNvSpPr>
            <a:spLocks noChangeShapeType="1"/>
          </p:cNvSpPr>
          <p:nvPr/>
        </p:nvSpPr>
        <p:spPr bwMode="auto">
          <a:xfrm>
            <a:off x="3962400" y="2438400"/>
            <a:ext cx="457200" cy="533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6" name="Line 84">
            <a:extLst>
              <a:ext uri="{FF2B5EF4-FFF2-40B4-BE49-F238E27FC236}">
                <a16:creationId xmlns:a16="http://schemas.microsoft.com/office/drawing/2014/main" id="{D10C4E33-B7A4-6C43-9D02-7DE2BF776238}"/>
              </a:ext>
            </a:extLst>
          </p:cNvPr>
          <p:cNvSpPr>
            <a:spLocks noChangeShapeType="1"/>
          </p:cNvSpPr>
          <p:nvPr/>
        </p:nvSpPr>
        <p:spPr bwMode="auto">
          <a:xfrm flipH="1">
            <a:off x="4800600" y="1981200"/>
            <a:ext cx="990600" cy="3048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7" name="Line 85">
            <a:extLst>
              <a:ext uri="{FF2B5EF4-FFF2-40B4-BE49-F238E27FC236}">
                <a16:creationId xmlns:a16="http://schemas.microsoft.com/office/drawing/2014/main" id="{DAB4FF59-775E-7A4A-9D46-2B5F36D90BCD}"/>
              </a:ext>
            </a:extLst>
          </p:cNvPr>
          <p:cNvSpPr>
            <a:spLocks noChangeShapeType="1"/>
          </p:cNvSpPr>
          <p:nvPr/>
        </p:nvSpPr>
        <p:spPr bwMode="auto">
          <a:xfrm flipH="1">
            <a:off x="5791200" y="1524000"/>
            <a:ext cx="990600" cy="4572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8" name="Line 86">
            <a:extLst>
              <a:ext uri="{FF2B5EF4-FFF2-40B4-BE49-F238E27FC236}">
                <a16:creationId xmlns:a16="http://schemas.microsoft.com/office/drawing/2014/main" id="{5A3FE0B7-E788-6449-91C3-B8F67A5F6B8B}"/>
              </a:ext>
            </a:extLst>
          </p:cNvPr>
          <p:cNvSpPr>
            <a:spLocks noChangeShapeType="1"/>
          </p:cNvSpPr>
          <p:nvPr/>
        </p:nvSpPr>
        <p:spPr bwMode="auto">
          <a:xfrm flipH="1" flipV="1">
            <a:off x="6781800" y="1524000"/>
            <a:ext cx="1143000" cy="152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5" name="Line 83">
            <a:extLst>
              <a:ext uri="{FF2B5EF4-FFF2-40B4-BE49-F238E27FC236}">
                <a16:creationId xmlns:a16="http://schemas.microsoft.com/office/drawing/2014/main" id="{3F739D00-590A-104F-BF9D-46C5EEAA1569}"/>
              </a:ext>
            </a:extLst>
          </p:cNvPr>
          <p:cNvSpPr>
            <a:spLocks noChangeShapeType="1"/>
          </p:cNvSpPr>
          <p:nvPr/>
        </p:nvSpPr>
        <p:spPr bwMode="auto">
          <a:xfrm flipH="1">
            <a:off x="4419600" y="2286000"/>
            <a:ext cx="381000" cy="6096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2552" name="Group 111">
            <a:extLst>
              <a:ext uri="{FF2B5EF4-FFF2-40B4-BE49-F238E27FC236}">
                <a16:creationId xmlns:a16="http://schemas.microsoft.com/office/drawing/2014/main" id="{0EFB03AB-FFD0-BB4C-B44F-9B6759660089}"/>
              </a:ext>
            </a:extLst>
          </p:cNvPr>
          <p:cNvGrpSpPr>
            <a:grpSpLocks/>
          </p:cNvGrpSpPr>
          <p:nvPr/>
        </p:nvGrpSpPr>
        <p:grpSpPr bwMode="auto">
          <a:xfrm>
            <a:off x="3886200" y="1447800"/>
            <a:ext cx="5094288" cy="1589088"/>
            <a:chOff x="2160" y="1344"/>
            <a:chExt cx="3209" cy="1001"/>
          </a:xfrm>
        </p:grpSpPr>
        <p:sp>
          <p:nvSpPr>
            <p:cNvPr id="22562" name="Line 64">
              <a:extLst>
                <a:ext uri="{FF2B5EF4-FFF2-40B4-BE49-F238E27FC236}">
                  <a16:creationId xmlns:a16="http://schemas.microsoft.com/office/drawing/2014/main" id="{0D9C5B6A-8E08-C740-B714-54B5877E9ED7}"/>
                </a:ext>
              </a:extLst>
            </p:cNvPr>
            <p:cNvSpPr>
              <a:spLocks noChangeShapeType="1"/>
            </p:cNvSpPr>
            <p:nvPr/>
          </p:nvSpPr>
          <p:spPr bwMode="auto">
            <a:xfrm>
              <a:off x="2208" y="1968"/>
              <a:ext cx="296" cy="3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3" name="Oval 91">
              <a:extLst>
                <a:ext uri="{FF2B5EF4-FFF2-40B4-BE49-F238E27FC236}">
                  <a16:creationId xmlns:a16="http://schemas.microsoft.com/office/drawing/2014/main" id="{A0D17DAE-F964-7142-A1BF-3372CEA9C81D}"/>
                </a:ext>
              </a:extLst>
            </p:cNvPr>
            <p:cNvSpPr>
              <a:spLocks noChangeArrowheads="1"/>
            </p:cNvSpPr>
            <p:nvPr/>
          </p:nvSpPr>
          <p:spPr bwMode="auto">
            <a:xfrm>
              <a:off x="2160" y="1920"/>
              <a:ext cx="89" cy="89"/>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64" name="Line 65">
              <a:extLst>
                <a:ext uri="{FF2B5EF4-FFF2-40B4-BE49-F238E27FC236}">
                  <a16:creationId xmlns:a16="http://schemas.microsoft.com/office/drawing/2014/main" id="{11D140D5-37CD-E949-A194-1BD77DFBF536}"/>
                </a:ext>
              </a:extLst>
            </p:cNvPr>
            <p:cNvSpPr>
              <a:spLocks noChangeShapeType="1"/>
            </p:cNvSpPr>
            <p:nvPr/>
          </p:nvSpPr>
          <p:spPr bwMode="auto">
            <a:xfrm flipV="1">
              <a:off x="2493" y="1888"/>
              <a:ext cx="221"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5" name="Line 67">
              <a:extLst>
                <a:ext uri="{FF2B5EF4-FFF2-40B4-BE49-F238E27FC236}">
                  <a16:creationId xmlns:a16="http://schemas.microsoft.com/office/drawing/2014/main" id="{71C8E563-09CB-F245-822E-CE5C28329319}"/>
                </a:ext>
              </a:extLst>
            </p:cNvPr>
            <p:cNvSpPr>
              <a:spLocks noChangeShapeType="1"/>
            </p:cNvSpPr>
            <p:nvPr/>
          </p:nvSpPr>
          <p:spPr bwMode="auto">
            <a:xfrm flipV="1">
              <a:off x="2714" y="1696"/>
              <a:ext cx="629"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6" name="Line 70">
              <a:extLst>
                <a:ext uri="{FF2B5EF4-FFF2-40B4-BE49-F238E27FC236}">
                  <a16:creationId xmlns:a16="http://schemas.microsoft.com/office/drawing/2014/main" id="{135191A4-8E56-434D-86A7-650B09D5D29C}"/>
                </a:ext>
              </a:extLst>
            </p:cNvPr>
            <p:cNvSpPr>
              <a:spLocks noChangeShapeType="1"/>
            </p:cNvSpPr>
            <p:nvPr/>
          </p:nvSpPr>
          <p:spPr bwMode="auto">
            <a:xfrm flipV="1">
              <a:off x="3343" y="1376"/>
              <a:ext cx="665" cy="3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7" name="Line 73">
              <a:extLst>
                <a:ext uri="{FF2B5EF4-FFF2-40B4-BE49-F238E27FC236}">
                  <a16:creationId xmlns:a16="http://schemas.microsoft.com/office/drawing/2014/main" id="{6B4FEC62-7607-2C4E-BC5D-7187614E3BBE}"/>
                </a:ext>
              </a:extLst>
            </p:cNvPr>
            <p:cNvSpPr>
              <a:spLocks noChangeShapeType="1"/>
            </p:cNvSpPr>
            <p:nvPr/>
          </p:nvSpPr>
          <p:spPr bwMode="auto">
            <a:xfrm>
              <a:off x="4008" y="1376"/>
              <a:ext cx="703"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8" name="Line 79">
              <a:extLst>
                <a:ext uri="{FF2B5EF4-FFF2-40B4-BE49-F238E27FC236}">
                  <a16:creationId xmlns:a16="http://schemas.microsoft.com/office/drawing/2014/main" id="{317EBCDD-ECF5-D642-B8B9-081F2BF4F980}"/>
                </a:ext>
              </a:extLst>
            </p:cNvPr>
            <p:cNvSpPr>
              <a:spLocks noChangeShapeType="1"/>
            </p:cNvSpPr>
            <p:nvPr/>
          </p:nvSpPr>
          <p:spPr bwMode="auto">
            <a:xfrm>
              <a:off x="4711" y="1472"/>
              <a:ext cx="62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9" name="Oval 88">
              <a:extLst>
                <a:ext uri="{FF2B5EF4-FFF2-40B4-BE49-F238E27FC236}">
                  <a16:creationId xmlns:a16="http://schemas.microsoft.com/office/drawing/2014/main" id="{0B35E796-B740-7442-81D6-DDA433C80788}"/>
                </a:ext>
              </a:extLst>
            </p:cNvPr>
            <p:cNvSpPr>
              <a:spLocks noChangeArrowheads="1"/>
            </p:cNvSpPr>
            <p:nvPr/>
          </p:nvSpPr>
          <p:spPr bwMode="auto">
            <a:xfrm>
              <a:off x="2448" y="2256"/>
              <a:ext cx="89" cy="89"/>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70" name="Oval 92">
              <a:extLst>
                <a:ext uri="{FF2B5EF4-FFF2-40B4-BE49-F238E27FC236}">
                  <a16:creationId xmlns:a16="http://schemas.microsoft.com/office/drawing/2014/main" id="{AB09AA1A-611E-C546-867A-E0A37B2070BF}"/>
                </a:ext>
              </a:extLst>
            </p:cNvPr>
            <p:cNvSpPr>
              <a:spLocks noChangeArrowheads="1"/>
            </p:cNvSpPr>
            <p:nvPr/>
          </p:nvSpPr>
          <p:spPr bwMode="auto">
            <a:xfrm>
              <a:off x="3312" y="1632"/>
              <a:ext cx="89" cy="89"/>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71" name="Oval 97">
              <a:extLst>
                <a:ext uri="{FF2B5EF4-FFF2-40B4-BE49-F238E27FC236}">
                  <a16:creationId xmlns:a16="http://schemas.microsoft.com/office/drawing/2014/main" id="{9941298B-8305-2D4D-A03F-2F8259492624}"/>
                </a:ext>
              </a:extLst>
            </p:cNvPr>
            <p:cNvSpPr>
              <a:spLocks noChangeArrowheads="1"/>
            </p:cNvSpPr>
            <p:nvPr/>
          </p:nvSpPr>
          <p:spPr bwMode="auto">
            <a:xfrm>
              <a:off x="3936" y="1344"/>
              <a:ext cx="89" cy="89"/>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72" name="Oval 106">
              <a:extLst>
                <a:ext uri="{FF2B5EF4-FFF2-40B4-BE49-F238E27FC236}">
                  <a16:creationId xmlns:a16="http://schemas.microsoft.com/office/drawing/2014/main" id="{681523BF-E147-4842-AF75-B0BDEA53A4B0}"/>
                </a:ext>
              </a:extLst>
            </p:cNvPr>
            <p:cNvSpPr>
              <a:spLocks noChangeArrowheads="1"/>
            </p:cNvSpPr>
            <p:nvPr/>
          </p:nvSpPr>
          <p:spPr bwMode="auto">
            <a:xfrm>
              <a:off x="4656" y="1440"/>
              <a:ext cx="89" cy="89"/>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73" name="Oval 107">
              <a:extLst>
                <a:ext uri="{FF2B5EF4-FFF2-40B4-BE49-F238E27FC236}">
                  <a16:creationId xmlns:a16="http://schemas.microsoft.com/office/drawing/2014/main" id="{1D2F01BB-DE1E-654C-ABC5-1794FEF8B4D8}"/>
                </a:ext>
              </a:extLst>
            </p:cNvPr>
            <p:cNvSpPr>
              <a:spLocks noChangeArrowheads="1"/>
            </p:cNvSpPr>
            <p:nvPr/>
          </p:nvSpPr>
          <p:spPr bwMode="auto">
            <a:xfrm>
              <a:off x="2688" y="1824"/>
              <a:ext cx="89" cy="90"/>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74" name="Oval 109">
              <a:extLst>
                <a:ext uri="{FF2B5EF4-FFF2-40B4-BE49-F238E27FC236}">
                  <a16:creationId xmlns:a16="http://schemas.microsoft.com/office/drawing/2014/main" id="{6FDA752F-5EC7-1A49-8B12-B375DABCD081}"/>
                </a:ext>
              </a:extLst>
            </p:cNvPr>
            <p:cNvSpPr>
              <a:spLocks noChangeArrowheads="1"/>
            </p:cNvSpPr>
            <p:nvPr/>
          </p:nvSpPr>
          <p:spPr bwMode="auto">
            <a:xfrm>
              <a:off x="5280" y="1920"/>
              <a:ext cx="89" cy="90"/>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grpSp>
      <p:sp>
        <p:nvSpPr>
          <p:cNvPr id="28784" name="Line 112">
            <a:extLst>
              <a:ext uri="{FF2B5EF4-FFF2-40B4-BE49-F238E27FC236}">
                <a16:creationId xmlns:a16="http://schemas.microsoft.com/office/drawing/2014/main" id="{71519C6B-A212-A744-AE9E-DF0825FB7DE1}"/>
              </a:ext>
            </a:extLst>
          </p:cNvPr>
          <p:cNvSpPr>
            <a:spLocks noChangeShapeType="1"/>
          </p:cNvSpPr>
          <p:nvPr/>
        </p:nvSpPr>
        <p:spPr bwMode="auto">
          <a:xfrm flipH="1" flipV="1">
            <a:off x="7924800" y="1676400"/>
            <a:ext cx="990600" cy="7620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4" name="Oval 124">
            <a:extLst>
              <a:ext uri="{FF2B5EF4-FFF2-40B4-BE49-F238E27FC236}">
                <a16:creationId xmlns:a16="http://schemas.microsoft.com/office/drawing/2014/main" id="{2A5272F3-B03C-2B48-AADC-33C965399E0B}"/>
              </a:ext>
            </a:extLst>
          </p:cNvPr>
          <p:cNvSpPr>
            <a:spLocks noChangeArrowheads="1"/>
          </p:cNvSpPr>
          <p:nvPr/>
        </p:nvSpPr>
        <p:spPr bwMode="auto">
          <a:xfrm>
            <a:off x="5562600" y="2819400"/>
            <a:ext cx="141288" cy="14128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55" name="Oval 128">
            <a:extLst>
              <a:ext uri="{FF2B5EF4-FFF2-40B4-BE49-F238E27FC236}">
                <a16:creationId xmlns:a16="http://schemas.microsoft.com/office/drawing/2014/main" id="{AAB0A624-25C2-8F42-93D8-4870B1CB9F17}"/>
              </a:ext>
            </a:extLst>
          </p:cNvPr>
          <p:cNvSpPr>
            <a:spLocks noChangeArrowheads="1"/>
          </p:cNvSpPr>
          <p:nvPr/>
        </p:nvSpPr>
        <p:spPr bwMode="auto">
          <a:xfrm>
            <a:off x="7239000" y="2209800"/>
            <a:ext cx="141288" cy="14128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56" name="Oval 129">
            <a:extLst>
              <a:ext uri="{FF2B5EF4-FFF2-40B4-BE49-F238E27FC236}">
                <a16:creationId xmlns:a16="http://schemas.microsoft.com/office/drawing/2014/main" id="{A1DCCAF5-5F5A-364E-B102-8B0ACCE9B15B}"/>
              </a:ext>
            </a:extLst>
          </p:cNvPr>
          <p:cNvSpPr>
            <a:spLocks noChangeArrowheads="1"/>
          </p:cNvSpPr>
          <p:nvPr/>
        </p:nvSpPr>
        <p:spPr bwMode="auto">
          <a:xfrm>
            <a:off x="7772400" y="3124200"/>
            <a:ext cx="141288" cy="141288"/>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2557" name="Line 130">
            <a:extLst>
              <a:ext uri="{FF2B5EF4-FFF2-40B4-BE49-F238E27FC236}">
                <a16:creationId xmlns:a16="http://schemas.microsoft.com/office/drawing/2014/main" id="{78FE4E39-E477-F644-8814-BF1A407997AA}"/>
              </a:ext>
            </a:extLst>
          </p:cNvPr>
          <p:cNvSpPr>
            <a:spLocks noChangeShapeType="1"/>
          </p:cNvSpPr>
          <p:nvPr/>
        </p:nvSpPr>
        <p:spPr bwMode="auto">
          <a:xfrm flipH="1">
            <a:off x="5638800" y="1981200"/>
            <a:ext cx="15240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8" name="Line 131">
            <a:extLst>
              <a:ext uri="{FF2B5EF4-FFF2-40B4-BE49-F238E27FC236}">
                <a16:creationId xmlns:a16="http://schemas.microsoft.com/office/drawing/2014/main" id="{F533BA27-28A9-AC45-9F1E-85D7F732B15C}"/>
              </a:ext>
            </a:extLst>
          </p:cNvPr>
          <p:cNvSpPr>
            <a:spLocks noChangeShapeType="1"/>
          </p:cNvSpPr>
          <p:nvPr/>
        </p:nvSpPr>
        <p:spPr bwMode="auto">
          <a:xfrm flipH="1" flipV="1">
            <a:off x="5791200" y="1981200"/>
            <a:ext cx="1524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9" name="Line 132">
            <a:extLst>
              <a:ext uri="{FF2B5EF4-FFF2-40B4-BE49-F238E27FC236}">
                <a16:creationId xmlns:a16="http://schemas.microsoft.com/office/drawing/2014/main" id="{6DB20BAD-829E-7D42-87BA-251FE0226A60}"/>
              </a:ext>
            </a:extLst>
          </p:cNvPr>
          <p:cNvSpPr>
            <a:spLocks noChangeShapeType="1"/>
          </p:cNvSpPr>
          <p:nvPr/>
        </p:nvSpPr>
        <p:spPr bwMode="auto">
          <a:xfrm flipV="1">
            <a:off x="7848600" y="1676400"/>
            <a:ext cx="7620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0" name="Line 133">
            <a:extLst>
              <a:ext uri="{FF2B5EF4-FFF2-40B4-BE49-F238E27FC236}">
                <a16:creationId xmlns:a16="http://schemas.microsoft.com/office/drawing/2014/main" id="{D08034BC-30C1-6549-8CF3-1E2578ADA807}"/>
              </a:ext>
            </a:extLst>
          </p:cNvPr>
          <p:cNvSpPr>
            <a:spLocks noChangeShapeType="1"/>
          </p:cNvSpPr>
          <p:nvPr/>
        </p:nvSpPr>
        <p:spPr bwMode="auto">
          <a:xfrm flipH="1" flipV="1">
            <a:off x="5638800" y="2895600"/>
            <a:ext cx="22098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1" name="Line 134">
            <a:extLst>
              <a:ext uri="{FF2B5EF4-FFF2-40B4-BE49-F238E27FC236}">
                <a16:creationId xmlns:a16="http://schemas.microsoft.com/office/drawing/2014/main" id="{108E9840-5F10-B94E-967A-DCFBAD2B7191}"/>
              </a:ext>
            </a:extLst>
          </p:cNvPr>
          <p:cNvSpPr>
            <a:spLocks noChangeShapeType="1"/>
          </p:cNvSpPr>
          <p:nvPr/>
        </p:nvSpPr>
        <p:spPr bwMode="auto">
          <a:xfrm flipV="1">
            <a:off x="7315200" y="1676400"/>
            <a:ext cx="609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1731985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8754"/>
                                        </p:tgtEl>
                                        <p:attrNameLst>
                                          <p:attrName>style.visibility</p:attrName>
                                        </p:attrNameLst>
                                      </p:cBhvr>
                                      <p:to>
                                        <p:strVal val="visible"/>
                                      </p:to>
                                    </p:set>
                                    <p:animEffect transition="in" filter="wipe(up)">
                                      <p:cBhvr>
                                        <p:cTn id="7" dur="500"/>
                                        <p:tgtEl>
                                          <p:spTgt spid="28754"/>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28755"/>
                                        </p:tgtEl>
                                        <p:attrNameLst>
                                          <p:attrName>style.visibility</p:attrName>
                                        </p:attrNameLst>
                                      </p:cBhvr>
                                      <p:to>
                                        <p:strVal val="visible"/>
                                      </p:to>
                                    </p:set>
                                    <p:animEffect transition="in" filter="wipe(down)">
                                      <p:cBhvr>
                                        <p:cTn id="11" dur="500"/>
                                        <p:tgtEl>
                                          <p:spTgt spid="28755"/>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28756"/>
                                        </p:tgtEl>
                                        <p:attrNameLst>
                                          <p:attrName>style.visibility</p:attrName>
                                        </p:attrNameLst>
                                      </p:cBhvr>
                                      <p:to>
                                        <p:strVal val="visible"/>
                                      </p:to>
                                    </p:set>
                                    <p:animEffect transition="in" filter="wipe(down)">
                                      <p:cBhvr>
                                        <p:cTn id="15" dur="500"/>
                                        <p:tgtEl>
                                          <p:spTgt spid="28756"/>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28757"/>
                                        </p:tgtEl>
                                        <p:attrNameLst>
                                          <p:attrName>style.visibility</p:attrName>
                                        </p:attrNameLst>
                                      </p:cBhvr>
                                      <p:to>
                                        <p:strVal val="visible"/>
                                      </p:to>
                                    </p:set>
                                    <p:animEffect transition="in" filter="wipe(down)">
                                      <p:cBhvr>
                                        <p:cTn id="19" dur="500"/>
                                        <p:tgtEl>
                                          <p:spTgt spid="28757"/>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28758"/>
                                        </p:tgtEl>
                                        <p:attrNameLst>
                                          <p:attrName>style.visibility</p:attrName>
                                        </p:attrNameLst>
                                      </p:cBhvr>
                                      <p:to>
                                        <p:strVal val="visible"/>
                                      </p:to>
                                    </p:set>
                                    <p:animEffect transition="in" filter="wipe(up)">
                                      <p:cBhvr>
                                        <p:cTn id="23" dur="500"/>
                                        <p:tgtEl>
                                          <p:spTgt spid="28758"/>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28784"/>
                                        </p:tgtEl>
                                        <p:attrNameLst>
                                          <p:attrName>style.visibility</p:attrName>
                                        </p:attrNameLst>
                                      </p:cBhvr>
                                      <p:to>
                                        <p:strVal val="visible"/>
                                      </p:to>
                                    </p:set>
                                    <p:animEffect transition="in" filter="wipe(up)">
                                      <p:cBhvr>
                                        <p:cTn id="27" dur="500"/>
                                        <p:tgtEl>
                                          <p:spTgt spid="2878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28713"/>
                                        </p:tgtEl>
                                        <p:attrNameLst>
                                          <p:attrName>style.visibility</p:attrName>
                                        </p:attrNameLst>
                                      </p:cBhvr>
                                      <p:to>
                                        <p:strVal val="visible"/>
                                      </p:to>
                                    </p:set>
                                    <p:animEffect transition="in" filter="wipe(up)">
                                      <p:cBhvr>
                                        <p:cTn id="32" dur="500"/>
                                        <p:tgtEl>
                                          <p:spTgt spid="28713"/>
                                        </p:tgtEl>
                                      </p:cBhvr>
                                    </p:animEffect>
                                  </p:childTnLst>
                                </p:cTn>
                              </p:par>
                            </p:childTnLst>
                          </p:cTn>
                        </p:par>
                        <p:par>
                          <p:cTn id="33" fill="hold" nodeType="afterGroup">
                            <p:stCondLst>
                              <p:cond delay="500"/>
                            </p:stCondLst>
                            <p:childTnLst>
                              <p:par>
                                <p:cTn id="34" presetID="22" presetClass="entr" presetSubtype="4" fill="hold" nodeType="afterEffect">
                                  <p:stCondLst>
                                    <p:cond delay="0"/>
                                  </p:stCondLst>
                                  <p:childTnLst>
                                    <p:set>
                                      <p:cBhvr>
                                        <p:cTn id="35" dur="1" fill="hold">
                                          <p:stCondLst>
                                            <p:cond delay="0"/>
                                          </p:stCondLst>
                                        </p:cTn>
                                        <p:tgtEl>
                                          <p:spTgt spid="28714"/>
                                        </p:tgtEl>
                                        <p:attrNameLst>
                                          <p:attrName>style.visibility</p:attrName>
                                        </p:attrNameLst>
                                      </p:cBhvr>
                                      <p:to>
                                        <p:strVal val="visible"/>
                                      </p:to>
                                    </p:set>
                                    <p:animEffect transition="in" filter="wipe(down)">
                                      <p:cBhvr>
                                        <p:cTn id="36" dur="500"/>
                                        <p:tgtEl>
                                          <p:spTgt spid="28714"/>
                                        </p:tgtEl>
                                      </p:cBhvr>
                                    </p:animEffect>
                                  </p:childTnLst>
                                </p:cTn>
                              </p:par>
                            </p:childTnLst>
                          </p:cTn>
                        </p:par>
                        <p:par>
                          <p:cTn id="37" fill="hold" nodeType="afterGroup">
                            <p:stCondLst>
                              <p:cond delay="1000"/>
                            </p:stCondLst>
                            <p:childTnLst>
                              <p:par>
                                <p:cTn id="38" presetID="22" presetClass="entr" presetSubtype="4" fill="hold" nodeType="afterEffect">
                                  <p:stCondLst>
                                    <p:cond delay="0"/>
                                  </p:stCondLst>
                                  <p:childTnLst>
                                    <p:set>
                                      <p:cBhvr>
                                        <p:cTn id="39" dur="1" fill="hold">
                                          <p:stCondLst>
                                            <p:cond delay="0"/>
                                          </p:stCondLst>
                                        </p:cTn>
                                        <p:tgtEl>
                                          <p:spTgt spid="28715"/>
                                        </p:tgtEl>
                                        <p:attrNameLst>
                                          <p:attrName>style.visibility</p:attrName>
                                        </p:attrNameLst>
                                      </p:cBhvr>
                                      <p:to>
                                        <p:strVal val="visible"/>
                                      </p:to>
                                    </p:set>
                                    <p:animEffect transition="in" filter="wipe(down)">
                                      <p:cBhvr>
                                        <p:cTn id="40" dur="500"/>
                                        <p:tgtEl>
                                          <p:spTgt spid="28715"/>
                                        </p:tgtEl>
                                      </p:cBhvr>
                                    </p:animEffect>
                                  </p:childTnLst>
                                </p:cTn>
                              </p:par>
                            </p:childTnLst>
                          </p:cTn>
                        </p:par>
                        <p:par>
                          <p:cTn id="41" fill="hold" nodeType="afterGroup">
                            <p:stCondLst>
                              <p:cond delay="1500"/>
                            </p:stCondLst>
                            <p:childTnLst>
                              <p:par>
                                <p:cTn id="42" presetID="22" presetClass="entr" presetSubtype="1" fill="hold" nodeType="afterEffect">
                                  <p:stCondLst>
                                    <p:cond delay="0"/>
                                  </p:stCondLst>
                                  <p:childTnLst>
                                    <p:set>
                                      <p:cBhvr>
                                        <p:cTn id="43" dur="1" fill="hold">
                                          <p:stCondLst>
                                            <p:cond delay="0"/>
                                          </p:stCondLst>
                                        </p:cTn>
                                        <p:tgtEl>
                                          <p:spTgt spid="28722"/>
                                        </p:tgtEl>
                                        <p:attrNameLst>
                                          <p:attrName>style.visibility</p:attrName>
                                        </p:attrNameLst>
                                      </p:cBhvr>
                                      <p:to>
                                        <p:strVal val="visible"/>
                                      </p:to>
                                    </p:set>
                                    <p:animEffect transition="in" filter="wipe(up)">
                                      <p:cBhvr>
                                        <p:cTn id="44" dur="500"/>
                                        <p:tgtEl>
                                          <p:spTgt spid="28722"/>
                                        </p:tgtEl>
                                      </p:cBhvr>
                                    </p:animEffect>
                                  </p:childTnLst>
                                </p:cTn>
                              </p:par>
                            </p:childTnLst>
                          </p:cTn>
                        </p:par>
                        <p:par>
                          <p:cTn id="45" fill="hold" nodeType="afterGroup">
                            <p:stCondLst>
                              <p:cond delay="2000"/>
                            </p:stCondLst>
                            <p:childTnLst>
                              <p:par>
                                <p:cTn id="46" presetID="22" presetClass="entr" presetSubtype="1" fill="hold" nodeType="afterEffect">
                                  <p:stCondLst>
                                    <p:cond delay="0"/>
                                  </p:stCondLst>
                                  <p:childTnLst>
                                    <p:set>
                                      <p:cBhvr>
                                        <p:cTn id="47" dur="1" fill="hold">
                                          <p:stCondLst>
                                            <p:cond delay="0"/>
                                          </p:stCondLst>
                                        </p:cTn>
                                        <p:tgtEl>
                                          <p:spTgt spid="28723"/>
                                        </p:tgtEl>
                                        <p:attrNameLst>
                                          <p:attrName>style.visibility</p:attrName>
                                        </p:attrNameLst>
                                      </p:cBhvr>
                                      <p:to>
                                        <p:strVal val="visible"/>
                                      </p:to>
                                    </p:set>
                                    <p:animEffect transition="in" filter="wipe(up)">
                                      <p:cBhvr>
                                        <p:cTn id="48" dur="500"/>
                                        <p:tgtEl>
                                          <p:spTgt spid="28723"/>
                                        </p:tgtEl>
                                      </p:cBhvr>
                                    </p:animEffect>
                                  </p:childTnLst>
                                </p:cTn>
                              </p:par>
                            </p:childTnLst>
                          </p:cTn>
                        </p:par>
                        <p:par>
                          <p:cTn id="49" fill="hold" nodeType="afterGroup">
                            <p:stCondLst>
                              <p:cond delay="2500"/>
                            </p:stCondLst>
                            <p:childTnLst>
                              <p:par>
                                <p:cTn id="50" presetID="22" presetClass="entr" presetSubtype="4" fill="hold" nodeType="afterEffect">
                                  <p:stCondLst>
                                    <p:cond delay="0"/>
                                  </p:stCondLst>
                                  <p:childTnLst>
                                    <p:set>
                                      <p:cBhvr>
                                        <p:cTn id="51" dur="1" fill="hold">
                                          <p:stCondLst>
                                            <p:cond delay="0"/>
                                          </p:stCondLst>
                                        </p:cTn>
                                        <p:tgtEl>
                                          <p:spTgt spid="28719"/>
                                        </p:tgtEl>
                                        <p:attrNameLst>
                                          <p:attrName>style.visibility</p:attrName>
                                        </p:attrNameLst>
                                      </p:cBhvr>
                                      <p:to>
                                        <p:strVal val="visible"/>
                                      </p:to>
                                    </p:set>
                                    <p:animEffect transition="in" filter="wipe(down)">
                                      <p:cBhvr>
                                        <p:cTn id="52" dur="500"/>
                                        <p:tgtEl>
                                          <p:spTgt spid="28719"/>
                                        </p:tgtEl>
                                      </p:cBhvr>
                                    </p:animEffect>
                                  </p:childTnLst>
                                </p:cTn>
                              </p:par>
                            </p:childTnLst>
                          </p:cTn>
                        </p:par>
                        <p:par>
                          <p:cTn id="53" fill="hold" nodeType="afterGroup">
                            <p:stCondLst>
                              <p:cond delay="3000"/>
                            </p:stCondLst>
                            <p:childTnLst>
                              <p:par>
                                <p:cTn id="54" presetID="22" presetClass="entr" presetSubtype="1" fill="hold" nodeType="afterEffect">
                                  <p:stCondLst>
                                    <p:cond delay="0"/>
                                  </p:stCondLst>
                                  <p:childTnLst>
                                    <p:set>
                                      <p:cBhvr>
                                        <p:cTn id="55" dur="1" fill="hold">
                                          <p:stCondLst>
                                            <p:cond delay="0"/>
                                          </p:stCondLst>
                                        </p:cTn>
                                        <p:tgtEl>
                                          <p:spTgt spid="28720"/>
                                        </p:tgtEl>
                                        <p:attrNameLst>
                                          <p:attrName>style.visibility</p:attrName>
                                        </p:attrNameLst>
                                      </p:cBhvr>
                                      <p:to>
                                        <p:strVal val="visible"/>
                                      </p:to>
                                    </p:set>
                                    <p:animEffect transition="in" filter="wipe(up)">
                                      <p:cBhvr>
                                        <p:cTn id="56" dur="500"/>
                                        <p:tgtEl>
                                          <p:spTgt spid="28720"/>
                                        </p:tgtEl>
                                      </p:cBhvr>
                                    </p:animEffect>
                                  </p:childTnLst>
                                </p:cTn>
                              </p:par>
                            </p:childTnLst>
                          </p:cTn>
                        </p:par>
                        <p:par>
                          <p:cTn id="57" fill="hold" nodeType="afterGroup">
                            <p:stCondLst>
                              <p:cond delay="3500"/>
                            </p:stCondLst>
                            <p:childTnLst>
                              <p:par>
                                <p:cTn id="58" presetID="22" presetClass="entr" presetSubtype="4" fill="hold" nodeType="afterEffect">
                                  <p:stCondLst>
                                    <p:cond delay="0"/>
                                  </p:stCondLst>
                                  <p:childTnLst>
                                    <p:set>
                                      <p:cBhvr>
                                        <p:cTn id="59" dur="1" fill="hold">
                                          <p:stCondLst>
                                            <p:cond delay="0"/>
                                          </p:stCondLst>
                                        </p:cTn>
                                        <p:tgtEl>
                                          <p:spTgt spid="28721"/>
                                        </p:tgtEl>
                                        <p:attrNameLst>
                                          <p:attrName>style.visibility</p:attrName>
                                        </p:attrNameLst>
                                      </p:cBhvr>
                                      <p:to>
                                        <p:strVal val="visible"/>
                                      </p:to>
                                    </p:set>
                                    <p:animEffect transition="in" filter="wipe(down)">
                                      <p:cBhvr>
                                        <p:cTn id="60" dur="500"/>
                                        <p:tgtEl>
                                          <p:spTgt spid="28721"/>
                                        </p:tgtEl>
                                      </p:cBhvr>
                                    </p:animEffect>
                                  </p:childTnLst>
                                </p:cTn>
                              </p:par>
                            </p:childTnLst>
                          </p:cTn>
                        </p:par>
                        <p:par>
                          <p:cTn id="61" fill="hold" nodeType="afterGroup">
                            <p:stCondLst>
                              <p:cond delay="4000"/>
                            </p:stCondLst>
                            <p:childTnLst>
                              <p:par>
                                <p:cTn id="62" presetID="22" presetClass="entr" presetSubtype="4" fill="hold" nodeType="afterEffect">
                                  <p:stCondLst>
                                    <p:cond delay="0"/>
                                  </p:stCondLst>
                                  <p:childTnLst>
                                    <p:set>
                                      <p:cBhvr>
                                        <p:cTn id="63" dur="1" fill="hold">
                                          <p:stCondLst>
                                            <p:cond delay="0"/>
                                          </p:stCondLst>
                                        </p:cTn>
                                        <p:tgtEl>
                                          <p:spTgt spid="28716"/>
                                        </p:tgtEl>
                                        <p:attrNameLst>
                                          <p:attrName>style.visibility</p:attrName>
                                        </p:attrNameLst>
                                      </p:cBhvr>
                                      <p:to>
                                        <p:strVal val="visible"/>
                                      </p:to>
                                    </p:set>
                                    <p:animEffect transition="in" filter="wipe(down)">
                                      <p:cBhvr>
                                        <p:cTn id="64" dur="500"/>
                                        <p:tgtEl>
                                          <p:spTgt spid="28716"/>
                                        </p:tgtEl>
                                      </p:cBhvr>
                                    </p:animEffect>
                                  </p:childTnLst>
                                </p:cTn>
                              </p:par>
                            </p:childTnLst>
                          </p:cTn>
                        </p:par>
                        <p:par>
                          <p:cTn id="65" fill="hold" nodeType="afterGroup">
                            <p:stCondLst>
                              <p:cond delay="4500"/>
                            </p:stCondLst>
                            <p:childTnLst>
                              <p:par>
                                <p:cTn id="66" presetID="22" presetClass="entr" presetSubtype="1" fill="hold" nodeType="afterEffect">
                                  <p:stCondLst>
                                    <p:cond delay="0"/>
                                  </p:stCondLst>
                                  <p:childTnLst>
                                    <p:set>
                                      <p:cBhvr>
                                        <p:cTn id="67" dur="1" fill="hold">
                                          <p:stCondLst>
                                            <p:cond delay="0"/>
                                          </p:stCondLst>
                                        </p:cTn>
                                        <p:tgtEl>
                                          <p:spTgt spid="28717"/>
                                        </p:tgtEl>
                                        <p:attrNameLst>
                                          <p:attrName>style.visibility</p:attrName>
                                        </p:attrNameLst>
                                      </p:cBhvr>
                                      <p:to>
                                        <p:strVal val="visible"/>
                                      </p:to>
                                    </p:set>
                                    <p:animEffect transition="in" filter="wipe(up)">
                                      <p:cBhvr>
                                        <p:cTn id="68" dur="500"/>
                                        <p:tgtEl>
                                          <p:spTgt spid="28717"/>
                                        </p:tgtEl>
                                      </p:cBhvr>
                                    </p:animEffect>
                                  </p:childTnLst>
                                </p:cTn>
                              </p:par>
                            </p:childTnLst>
                          </p:cTn>
                        </p:par>
                        <p:par>
                          <p:cTn id="69" fill="hold" nodeType="afterGroup">
                            <p:stCondLst>
                              <p:cond delay="5000"/>
                            </p:stCondLst>
                            <p:childTnLst>
                              <p:par>
                                <p:cTn id="70" presetID="22" presetClass="entr" presetSubtype="1" fill="hold" nodeType="afterEffect">
                                  <p:stCondLst>
                                    <p:cond delay="0"/>
                                  </p:stCondLst>
                                  <p:childTnLst>
                                    <p:set>
                                      <p:cBhvr>
                                        <p:cTn id="71" dur="1" fill="hold">
                                          <p:stCondLst>
                                            <p:cond delay="0"/>
                                          </p:stCondLst>
                                        </p:cTn>
                                        <p:tgtEl>
                                          <p:spTgt spid="28718"/>
                                        </p:tgtEl>
                                        <p:attrNameLst>
                                          <p:attrName>style.visibility</p:attrName>
                                        </p:attrNameLst>
                                      </p:cBhvr>
                                      <p:to>
                                        <p:strVal val="visible"/>
                                      </p:to>
                                    </p:set>
                                    <p:animEffect transition="in" filter="wipe(up)">
                                      <p:cBhvr>
                                        <p:cTn id="72" dur="500"/>
                                        <p:tgtEl>
                                          <p:spTgt spid="28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CF3A6604-C51E-7B45-9EA2-0153AE2106C4}"/>
              </a:ext>
            </a:extLst>
          </p:cNvPr>
          <p:cNvSpPr>
            <a:spLocks noGrp="1" noChangeArrowheads="1"/>
          </p:cNvSpPr>
          <p:nvPr>
            <p:ph type="title"/>
          </p:nvPr>
        </p:nvSpPr>
        <p:spPr>
          <a:xfrm>
            <a:off x="1981200" y="152400"/>
            <a:ext cx="8229600" cy="1143000"/>
          </a:xfrm>
        </p:spPr>
        <p:txBody>
          <a:bodyPr/>
          <a:lstStyle/>
          <a:p>
            <a:pPr eaLnBrk="1" hangingPunct="1"/>
            <a:r>
              <a:rPr lang="en-US" altLang="en-US">
                <a:latin typeface="Times New Roman" panose="02020603050405020304" pitchFamily="18" charset="0"/>
                <a:ea typeface="ＭＳ Ｐゴシック" panose="020B0600070205080204" pitchFamily="34" charset="-128"/>
              </a:rPr>
              <a:t>Example</a:t>
            </a:r>
          </a:p>
        </p:txBody>
      </p:sp>
      <p:sp>
        <p:nvSpPr>
          <p:cNvPr id="23554" name="Rectangle 3">
            <a:extLst>
              <a:ext uri="{FF2B5EF4-FFF2-40B4-BE49-F238E27FC236}">
                <a16:creationId xmlns:a16="http://schemas.microsoft.com/office/drawing/2014/main" id="{3EC74AD1-5CED-1849-B79E-2DE09F026340}"/>
              </a:ext>
            </a:extLst>
          </p:cNvPr>
          <p:cNvSpPr>
            <a:spLocks noGrp="1" noChangeArrowheads="1"/>
          </p:cNvSpPr>
          <p:nvPr>
            <p:ph type="body" idx="1"/>
          </p:nvPr>
        </p:nvSpPr>
        <p:spPr>
          <a:xfrm>
            <a:off x="5562600" y="1981200"/>
            <a:ext cx="4876800" cy="1066800"/>
          </a:xfrm>
        </p:spPr>
        <p:txBody>
          <a:bodyPr/>
          <a:lstStyle/>
          <a:p>
            <a:pPr eaLnBrk="1" hangingPunct="1">
              <a:buFont typeface="Wingdings" pitchFamily="2" charset="2"/>
              <a:buChar char="Ø"/>
            </a:pPr>
            <a:r>
              <a:rPr lang="en-US" altLang="en-US" sz="2000">
                <a:latin typeface="Times New Roman" panose="02020603050405020304" pitchFamily="18" charset="0"/>
                <a:ea typeface="ＭＳ Ｐゴシック" panose="020B0600070205080204" pitchFamily="34" charset="-128"/>
              </a:rPr>
              <a:t>Here the graph </a:t>
            </a:r>
            <a:r>
              <a:rPr lang="en-US" altLang="en-US" sz="2000" i="1">
                <a:latin typeface="Times New Roman" panose="02020603050405020304" pitchFamily="18" charset="0"/>
                <a:ea typeface="ＭＳ Ｐゴシック" panose="020B0600070205080204" pitchFamily="34" charset="-128"/>
              </a:rPr>
              <a:t>H</a:t>
            </a:r>
            <a:r>
              <a:rPr lang="en-US" altLang="en-US" sz="2000">
                <a:latin typeface="Times New Roman" panose="02020603050405020304" pitchFamily="18" charset="0"/>
                <a:ea typeface="ＭＳ Ｐゴシック" panose="020B0600070205080204" pitchFamily="34" charset="-128"/>
              </a:rPr>
              <a:t> does not have an Euler cycle because there are 2 odd degree vertices, namely vertex </a:t>
            </a:r>
            <a:r>
              <a:rPr lang="ja-JP" altLang="en-US" sz="2000">
                <a:latin typeface="Times New Roman" panose="02020603050405020304" pitchFamily="18" charset="0"/>
                <a:ea typeface="ＭＳ Ｐゴシック" panose="020B0600070205080204" pitchFamily="34" charset="-128"/>
              </a:rPr>
              <a:t>‘</a:t>
            </a:r>
            <a:r>
              <a:rPr lang="en-US" altLang="ja-JP" sz="2000">
                <a:latin typeface="Times New Roman" panose="02020603050405020304" pitchFamily="18" charset="0"/>
                <a:ea typeface="ＭＳ Ｐゴシック" panose="020B0600070205080204" pitchFamily="34" charset="-128"/>
              </a:rPr>
              <a:t>k</a:t>
            </a:r>
            <a:r>
              <a:rPr lang="ja-JP" altLang="en-US" sz="2000">
                <a:latin typeface="Times New Roman" panose="02020603050405020304" pitchFamily="18" charset="0"/>
                <a:ea typeface="ＭＳ Ｐゴシック" panose="020B0600070205080204" pitchFamily="34" charset="-128"/>
              </a:rPr>
              <a:t>’</a:t>
            </a:r>
            <a:r>
              <a:rPr lang="en-US" altLang="ja-JP" sz="2000">
                <a:latin typeface="Times New Roman" panose="02020603050405020304" pitchFamily="18" charset="0"/>
                <a:ea typeface="ＭＳ Ｐゴシック" panose="020B0600070205080204" pitchFamily="34" charset="-128"/>
              </a:rPr>
              <a:t> and vertex </a:t>
            </a:r>
            <a:r>
              <a:rPr lang="ja-JP" altLang="en-US" sz="2000">
                <a:latin typeface="Times New Roman" panose="02020603050405020304" pitchFamily="18" charset="0"/>
                <a:ea typeface="ＭＳ Ｐゴシック" panose="020B0600070205080204" pitchFamily="34" charset="-128"/>
              </a:rPr>
              <a:t>‘</a:t>
            </a:r>
            <a:r>
              <a:rPr lang="en-US" altLang="ja-JP" sz="2000">
                <a:latin typeface="Times New Roman" panose="02020603050405020304" pitchFamily="18" charset="0"/>
                <a:ea typeface="ＭＳ Ｐゴシック" panose="020B0600070205080204" pitchFamily="34" charset="-128"/>
              </a:rPr>
              <a:t>a</a:t>
            </a:r>
            <a:r>
              <a:rPr lang="ja-JP" altLang="en-US" sz="2000">
                <a:latin typeface="Times New Roman" panose="02020603050405020304" pitchFamily="18" charset="0"/>
                <a:ea typeface="ＭＳ Ｐゴシック" panose="020B0600070205080204" pitchFamily="34" charset="-128"/>
              </a:rPr>
              <a:t>’</a:t>
            </a:r>
            <a:r>
              <a:rPr lang="en-US" altLang="ja-JP" sz="2000">
                <a:latin typeface="Times New Roman" panose="02020603050405020304" pitchFamily="18" charset="0"/>
                <a:ea typeface="ＭＳ Ｐゴシック" panose="020B0600070205080204" pitchFamily="34" charset="-128"/>
              </a:rPr>
              <a:t>.  </a:t>
            </a:r>
            <a:endParaRPr lang="en-US" altLang="en-US" sz="2000">
              <a:latin typeface="Times New Roman" panose="02020603050405020304" pitchFamily="18" charset="0"/>
              <a:ea typeface="ＭＳ Ｐゴシック" panose="020B0600070205080204" pitchFamily="34" charset="-128"/>
            </a:endParaRPr>
          </a:p>
        </p:txBody>
      </p:sp>
      <p:sp>
        <p:nvSpPr>
          <p:cNvPr id="20530" name="Text Box 50">
            <a:extLst>
              <a:ext uri="{FF2B5EF4-FFF2-40B4-BE49-F238E27FC236}">
                <a16:creationId xmlns:a16="http://schemas.microsoft.com/office/drawing/2014/main" id="{A9B872FF-7255-314F-9A17-F790C9E91581}"/>
              </a:ext>
            </a:extLst>
          </p:cNvPr>
          <p:cNvSpPr txBox="1">
            <a:spLocks noChangeArrowheads="1"/>
          </p:cNvSpPr>
          <p:nvPr/>
        </p:nvSpPr>
        <p:spPr bwMode="auto">
          <a:xfrm>
            <a:off x="5638800" y="3505201"/>
            <a:ext cx="4800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 typeface="Wingdings" pitchFamily="2" charset="2"/>
              <a:buChar char="Ø"/>
            </a:pPr>
            <a:r>
              <a:rPr lang="en-US" altLang="en-US" sz="2000">
                <a:latin typeface="Times New Roman" panose="02020603050405020304" pitchFamily="18" charset="0"/>
              </a:rPr>
              <a:t> </a:t>
            </a:r>
            <a:r>
              <a:rPr lang="en-US" altLang="en-US" sz="1800">
                <a:latin typeface="Times New Roman" panose="02020603050405020304" pitchFamily="18" charset="0"/>
              </a:rPr>
              <a:t> </a:t>
            </a:r>
            <a:r>
              <a:rPr lang="en-US" altLang="en-US" sz="2000">
                <a:latin typeface="Times New Roman" panose="02020603050405020304" pitchFamily="18" charset="0"/>
              </a:rPr>
              <a:t>Therefore if and only if the edge (k , a) were completed then </a:t>
            </a:r>
            <a:r>
              <a:rPr lang="en-US" altLang="en-US" sz="2000" i="1">
                <a:latin typeface="Times New Roman" panose="02020603050405020304" pitchFamily="18" charset="0"/>
              </a:rPr>
              <a:t>H</a:t>
            </a:r>
            <a:r>
              <a:rPr lang="en-US" altLang="en-US" sz="2000">
                <a:latin typeface="Times New Roman" panose="02020603050405020304" pitchFamily="18" charset="0"/>
              </a:rPr>
              <a:t> would have an Euler Cycle.  </a:t>
            </a:r>
          </a:p>
        </p:txBody>
      </p:sp>
      <p:sp>
        <p:nvSpPr>
          <p:cNvPr id="23556" name="Text Box 88">
            <a:extLst>
              <a:ext uri="{FF2B5EF4-FFF2-40B4-BE49-F238E27FC236}">
                <a16:creationId xmlns:a16="http://schemas.microsoft.com/office/drawing/2014/main" id="{536CB654-12A9-5449-A920-972C770D343F}"/>
              </a:ext>
            </a:extLst>
          </p:cNvPr>
          <p:cNvSpPr txBox="1">
            <a:spLocks noChangeArrowheads="1"/>
          </p:cNvSpPr>
          <p:nvPr/>
        </p:nvSpPr>
        <p:spPr bwMode="auto">
          <a:xfrm>
            <a:off x="2286000" y="518160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400" i="1">
                <a:latin typeface="Times New Roman" panose="02020603050405020304" pitchFamily="18" charset="0"/>
              </a:rPr>
              <a:t>Graph H</a:t>
            </a:r>
          </a:p>
        </p:txBody>
      </p:sp>
      <p:grpSp>
        <p:nvGrpSpPr>
          <p:cNvPr id="23557" name="Group 94">
            <a:extLst>
              <a:ext uri="{FF2B5EF4-FFF2-40B4-BE49-F238E27FC236}">
                <a16:creationId xmlns:a16="http://schemas.microsoft.com/office/drawing/2014/main" id="{520D7B8E-DA15-5E49-B49E-19AC08E2A545}"/>
              </a:ext>
            </a:extLst>
          </p:cNvPr>
          <p:cNvGrpSpPr>
            <a:grpSpLocks/>
          </p:cNvGrpSpPr>
          <p:nvPr/>
        </p:nvGrpSpPr>
        <p:grpSpPr bwMode="auto">
          <a:xfrm>
            <a:off x="2438400" y="2057401"/>
            <a:ext cx="3505200" cy="2728913"/>
            <a:chOff x="2832" y="2544"/>
            <a:chExt cx="2208" cy="1719"/>
          </a:xfrm>
        </p:grpSpPr>
        <p:grpSp>
          <p:nvGrpSpPr>
            <p:cNvPr id="23566" name="Group 52">
              <a:extLst>
                <a:ext uri="{FF2B5EF4-FFF2-40B4-BE49-F238E27FC236}">
                  <a16:creationId xmlns:a16="http://schemas.microsoft.com/office/drawing/2014/main" id="{B1E1FA6D-8FE5-DB4D-ADD7-55D64E4745B9}"/>
                </a:ext>
              </a:extLst>
            </p:cNvPr>
            <p:cNvGrpSpPr>
              <a:grpSpLocks/>
            </p:cNvGrpSpPr>
            <p:nvPr/>
          </p:nvGrpSpPr>
          <p:grpSpPr bwMode="auto">
            <a:xfrm>
              <a:off x="2832" y="2544"/>
              <a:ext cx="2208" cy="1719"/>
              <a:chOff x="3168" y="2544"/>
              <a:chExt cx="2208" cy="1719"/>
            </a:xfrm>
          </p:grpSpPr>
          <p:grpSp>
            <p:nvGrpSpPr>
              <p:cNvPr id="23572" name="Group 53">
                <a:extLst>
                  <a:ext uri="{FF2B5EF4-FFF2-40B4-BE49-F238E27FC236}">
                    <a16:creationId xmlns:a16="http://schemas.microsoft.com/office/drawing/2014/main" id="{CD49941F-CD78-064E-B8A3-C9138FC83AA9}"/>
                  </a:ext>
                </a:extLst>
              </p:cNvPr>
              <p:cNvGrpSpPr>
                <a:grpSpLocks/>
              </p:cNvGrpSpPr>
              <p:nvPr/>
            </p:nvGrpSpPr>
            <p:grpSpPr bwMode="auto">
              <a:xfrm>
                <a:off x="3408" y="2688"/>
                <a:ext cx="1392" cy="1392"/>
                <a:chOff x="1056" y="1728"/>
                <a:chExt cx="1392" cy="1392"/>
              </a:xfrm>
            </p:grpSpPr>
            <p:sp>
              <p:nvSpPr>
                <p:cNvPr id="23581" name="Oval 54">
                  <a:extLst>
                    <a:ext uri="{FF2B5EF4-FFF2-40B4-BE49-F238E27FC236}">
                      <a16:creationId xmlns:a16="http://schemas.microsoft.com/office/drawing/2014/main" id="{C3F041BC-C8DF-CB42-B054-9A3505041119}"/>
                    </a:ext>
                  </a:extLst>
                </p:cNvPr>
                <p:cNvSpPr>
                  <a:spLocks noChangeArrowheads="1"/>
                </p:cNvSpPr>
                <p:nvPr/>
              </p:nvSpPr>
              <p:spPr bwMode="auto">
                <a:xfrm>
                  <a:off x="1344" y="177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82" name="Oval 55">
                  <a:extLst>
                    <a:ext uri="{FF2B5EF4-FFF2-40B4-BE49-F238E27FC236}">
                      <a16:creationId xmlns:a16="http://schemas.microsoft.com/office/drawing/2014/main" id="{0B75BB53-8622-A94A-B45A-DAB4B59DDA2A}"/>
                    </a:ext>
                  </a:extLst>
                </p:cNvPr>
                <p:cNvSpPr>
                  <a:spLocks noChangeArrowheads="1"/>
                </p:cNvSpPr>
                <p:nvPr/>
              </p:nvSpPr>
              <p:spPr bwMode="auto">
                <a:xfrm>
                  <a:off x="2304" y="201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83" name="Oval 56">
                  <a:extLst>
                    <a:ext uri="{FF2B5EF4-FFF2-40B4-BE49-F238E27FC236}">
                      <a16:creationId xmlns:a16="http://schemas.microsoft.com/office/drawing/2014/main" id="{3907C727-3222-2848-83D5-53879406FC46}"/>
                    </a:ext>
                  </a:extLst>
                </p:cNvPr>
                <p:cNvSpPr>
                  <a:spLocks noChangeArrowheads="1"/>
                </p:cNvSpPr>
                <p:nvPr/>
              </p:nvSpPr>
              <p:spPr bwMode="auto">
                <a:xfrm>
                  <a:off x="1680"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84" name="Oval 57">
                  <a:extLst>
                    <a:ext uri="{FF2B5EF4-FFF2-40B4-BE49-F238E27FC236}">
                      <a16:creationId xmlns:a16="http://schemas.microsoft.com/office/drawing/2014/main" id="{3B13EEAE-463D-8642-98B7-1A641B68DF0C}"/>
                    </a:ext>
                  </a:extLst>
                </p:cNvPr>
                <p:cNvSpPr>
                  <a:spLocks noChangeArrowheads="1"/>
                </p:cNvSpPr>
                <p:nvPr/>
              </p:nvSpPr>
              <p:spPr bwMode="auto">
                <a:xfrm>
                  <a:off x="1968"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85" name="Oval 58">
                  <a:extLst>
                    <a:ext uri="{FF2B5EF4-FFF2-40B4-BE49-F238E27FC236}">
                      <a16:creationId xmlns:a16="http://schemas.microsoft.com/office/drawing/2014/main" id="{07CAC161-A65E-724C-85F2-0D6689BE3C6F}"/>
                    </a:ext>
                  </a:extLst>
                </p:cNvPr>
                <p:cNvSpPr>
                  <a:spLocks noChangeArrowheads="1"/>
                </p:cNvSpPr>
                <p:nvPr/>
              </p:nvSpPr>
              <p:spPr bwMode="auto">
                <a:xfrm>
                  <a:off x="1440" y="302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86" name="Oval 59">
                  <a:extLst>
                    <a:ext uri="{FF2B5EF4-FFF2-40B4-BE49-F238E27FC236}">
                      <a16:creationId xmlns:a16="http://schemas.microsoft.com/office/drawing/2014/main" id="{1358CA9F-AE0E-E24A-BB87-3D3715E66000}"/>
                    </a:ext>
                  </a:extLst>
                </p:cNvPr>
                <p:cNvSpPr>
                  <a:spLocks noChangeArrowheads="1"/>
                </p:cNvSpPr>
                <p:nvPr/>
              </p:nvSpPr>
              <p:spPr bwMode="auto">
                <a:xfrm>
                  <a:off x="1728" y="268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87" name="Oval 60">
                  <a:extLst>
                    <a:ext uri="{FF2B5EF4-FFF2-40B4-BE49-F238E27FC236}">
                      <a16:creationId xmlns:a16="http://schemas.microsoft.com/office/drawing/2014/main" id="{A40A41CC-1AB0-2647-8CF6-1342244649A3}"/>
                    </a:ext>
                  </a:extLst>
                </p:cNvPr>
                <p:cNvSpPr>
                  <a:spLocks noChangeArrowheads="1"/>
                </p:cNvSpPr>
                <p:nvPr/>
              </p:nvSpPr>
              <p:spPr bwMode="auto">
                <a:xfrm>
                  <a:off x="2064" y="297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88" name="Oval 61">
                  <a:extLst>
                    <a:ext uri="{FF2B5EF4-FFF2-40B4-BE49-F238E27FC236}">
                      <a16:creationId xmlns:a16="http://schemas.microsoft.com/office/drawing/2014/main" id="{96BB41AE-6333-5647-A644-76A387693014}"/>
                    </a:ext>
                  </a:extLst>
                </p:cNvPr>
                <p:cNvSpPr>
                  <a:spLocks noChangeArrowheads="1"/>
                </p:cNvSpPr>
                <p:nvPr/>
              </p:nvSpPr>
              <p:spPr bwMode="auto">
                <a:xfrm>
                  <a:off x="1104" y="273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89" name="Oval 62">
                  <a:extLst>
                    <a:ext uri="{FF2B5EF4-FFF2-40B4-BE49-F238E27FC236}">
                      <a16:creationId xmlns:a16="http://schemas.microsoft.com/office/drawing/2014/main" id="{17DF33BA-AB68-764B-BF1A-E622E1E70369}"/>
                    </a:ext>
                  </a:extLst>
                </p:cNvPr>
                <p:cNvSpPr>
                  <a:spLocks noChangeArrowheads="1"/>
                </p:cNvSpPr>
                <p:nvPr/>
              </p:nvSpPr>
              <p:spPr bwMode="auto">
                <a:xfrm>
                  <a:off x="2016" y="235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90" name="Oval 63">
                  <a:extLst>
                    <a:ext uri="{FF2B5EF4-FFF2-40B4-BE49-F238E27FC236}">
                      <a16:creationId xmlns:a16="http://schemas.microsoft.com/office/drawing/2014/main" id="{767ACBA0-4FF8-2143-8B38-6E4E63E2986B}"/>
                    </a:ext>
                  </a:extLst>
                </p:cNvPr>
                <p:cNvSpPr>
                  <a:spLocks noChangeArrowheads="1"/>
                </p:cNvSpPr>
                <p:nvPr/>
              </p:nvSpPr>
              <p:spPr bwMode="auto">
                <a:xfrm>
                  <a:off x="2352" y="2640"/>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91" name="Oval 64">
                  <a:extLst>
                    <a:ext uri="{FF2B5EF4-FFF2-40B4-BE49-F238E27FC236}">
                      <a16:creationId xmlns:a16="http://schemas.microsoft.com/office/drawing/2014/main" id="{9F5DEEDE-BC95-A146-9632-33BA73470296}"/>
                    </a:ext>
                  </a:extLst>
                </p:cNvPr>
                <p:cNvSpPr>
                  <a:spLocks noChangeArrowheads="1"/>
                </p:cNvSpPr>
                <p:nvPr/>
              </p:nvSpPr>
              <p:spPr bwMode="auto">
                <a:xfrm>
                  <a:off x="1056" y="211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92" name="Oval 65">
                  <a:extLst>
                    <a:ext uri="{FF2B5EF4-FFF2-40B4-BE49-F238E27FC236}">
                      <a16:creationId xmlns:a16="http://schemas.microsoft.com/office/drawing/2014/main" id="{DFEB2885-2D6F-2748-B1EE-D131163F0CB6}"/>
                    </a:ext>
                  </a:extLst>
                </p:cNvPr>
                <p:cNvSpPr>
                  <a:spLocks noChangeArrowheads="1"/>
                </p:cNvSpPr>
                <p:nvPr/>
              </p:nvSpPr>
              <p:spPr bwMode="auto">
                <a:xfrm>
                  <a:off x="1392" y="2400"/>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3593" name="Line 66">
                  <a:extLst>
                    <a:ext uri="{FF2B5EF4-FFF2-40B4-BE49-F238E27FC236}">
                      <a16:creationId xmlns:a16="http://schemas.microsoft.com/office/drawing/2014/main" id="{46077E43-4C00-8C45-BF0A-829CF4268B87}"/>
                    </a:ext>
                  </a:extLst>
                </p:cNvPr>
                <p:cNvSpPr>
                  <a:spLocks noChangeShapeType="1"/>
                </p:cNvSpPr>
                <p:nvPr/>
              </p:nvSpPr>
              <p:spPr bwMode="auto">
                <a:xfrm>
                  <a:off x="1392" y="1824"/>
                  <a:ext cx="33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4" name="Line 67">
                  <a:extLst>
                    <a:ext uri="{FF2B5EF4-FFF2-40B4-BE49-F238E27FC236}">
                      <a16:creationId xmlns:a16="http://schemas.microsoft.com/office/drawing/2014/main" id="{BEF6D906-41C5-9244-AF23-DD067D0B91D0}"/>
                    </a:ext>
                  </a:extLst>
                </p:cNvPr>
                <p:cNvSpPr>
                  <a:spLocks noChangeShapeType="1"/>
                </p:cNvSpPr>
                <p:nvPr/>
              </p:nvSpPr>
              <p:spPr bwMode="auto">
                <a:xfrm>
                  <a:off x="2016" y="1776"/>
                  <a:ext cx="33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5" name="Line 68">
                  <a:extLst>
                    <a:ext uri="{FF2B5EF4-FFF2-40B4-BE49-F238E27FC236}">
                      <a16:creationId xmlns:a16="http://schemas.microsoft.com/office/drawing/2014/main" id="{4D095DA0-A7F7-8048-AF09-D821E23737D6}"/>
                    </a:ext>
                  </a:extLst>
                </p:cNvPr>
                <p:cNvSpPr>
                  <a:spLocks noChangeShapeType="1"/>
                </p:cNvSpPr>
                <p:nvPr/>
              </p:nvSpPr>
              <p:spPr bwMode="auto">
                <a:xfrm flipH="1">
                  <a:off x="2064" y="2064"/>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6" name="Line 69">
                  <a:extLst>
                    <a:ext uri="{FF2B5EF4-FFF2-40B4-BE49-F238E27FC236}">
                      <a16:creationId xmlns:a16="http://schemas.microsoft.com/office/drawing/2014/main" id="{4264629F-E5BA-4940-83F9-62C7A3697FF9}"/>
                    </a:ext>
                  </a:extLst>
                </p:cNvPr>
                <p:cNvSpPr>
                  <a:spLocks noChangeShapeType="1"/>
                </p:cNvSpPr>
                <p:nvPr/>
              </p:nvSpPr>
              <p:spPr bwMode="auto">
                <a:xfrm>
                  <a:off x="2064" y="2400"/>
                  <a:ext cx="33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7" name="Line 70">
                  <a:extLst>
                    <a:ext uri="{FF2B5EF4-FFF2-40B4-BE49-F238E27FC236}">
                      <a16:creationId xmlns:a16="http://schemas.microsoft.com/office/drawing/2014/main" id="{26BF4A90-7286-C94D-AE14-E88B44164318}"/>
                    </a:ext>
                  </a:extLst>
                </p:cNvPr>
                <p:cNvSpPr>
                  <a:spLocks noChangeShapeType="1"/>
                </p:cNvSpPr>
                <p:nvPr/>
              </p:nvSpPr>
              <p:spPr bwMode="auto">
                <a:xfrm flipH="1" flipV="1">
                  <a:off x="1776" y="2736"/>
                  <a:ext cx="33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8" name="Line 71">
                  <a:extLst>
                    <a:ext uri="{FF2B5EF4-FFF2-40B4-BE49-F238E27FC236}">
                      <a16:creationId xmlns:a16="http://schemas.microsoft.com/office/drawing/2014/main" id="{0D2A1F70-E6A4-F540-AE19-98A0D91BA4A7}"/>
                    </a:ext>
                  </a:extLst>
                </p:cNvPr>
                <p:cNvSpPr>
                  <a:spLocks noChangeShapeType="1"/>
                </p:cNvSpPr>
                <p:nvPr/>
              </p:nvSpPr>
              <p:spPr bwMode="auto">
                <a:xfrm flipH="1">
                  <a:off x="1488" y="2736"/>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99" name="Line 72">
                  <a:extLst>
                    <a:ext uri="{FF2B5EF4-FFF2-40B4-BE49-F238E27FC236}">
                      <a16:creationId xmlns:a16="http://schemas.microsoft.com/office/drawing/2014/main" id="{9A1554DC-2B6D-7341-A0EF-5192EA442C7D}"/>
                    </a:ext>
                  </a:extLst>
                </p:cNvPr>
                <p:cNvSpPr>
                  <a:spLocks noChangeShapeType="1"/>
                </p:cNvSpPr>
                <p:nvPr/>
              </p:nvSpPr>
              <p:spPr bwMode="auto">
                <a:xfrm flipH="1">
                  <a:off x="1152" y="2448"/>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0" name="Line 73">
                  <a:extLst>
                    <a:ext uri="{FF2B5EF4-FFF2-40B4-BE49-F238E27FC236}">
                      <a16:creationId xmlns:a16="http://schemas.microsoft.com/office/drawing/2014/main" id="{F417177C-D96E-6D49-9A48-D402FA0FD7D1}"/>
                    </a:ext>
                  </a:extLst>
                </p:cNvPr>
                <p:cNvSpPr>
                  <a:spLocks noChangeShapeType="1"/>
                </p:cNvSpPr>
                <p:nvPr/>
              </p:nvSpPr>
              <p:spPr bwMode="auto">
                <a:xfrm flipH="1">
                  <a:off x="1728" y="1776"/>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1" name="Line 74">
                  <a:extLst>
                    <a:ext uri="{FF2B5EF4-FFF2-40B4-BE49-F238E27FC236}">
                      <a16:creationId xmlns:a16="http://schemas.microsoft.com/office/drawing/2014/main" id="{9039CAA0-451B-C14E-8E32-B32D86699C76}"/>
                    </a:ext>
                  </a:extLst>
                </p:cNvPr>
                <p:cNvSpPr>
                  <a:spLocks noChangeShapeType="1"/>
                </p:cNvSpPr>
                <p:nvPr/>
              </p:nvSpPr>
              <p:spPr bwMode="auto">
                <a:xfrm flipH="1">
                  <a:off x="2112" y="2688"/>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2" name="Line 75">
                  <a:extLst>
                    <a:ext uri="{FF2B5EF4-FFF2-40B4-BE49-F238E27FC236}">
                      <a16:creationId xmlns:a16="http://schemas.microsoft.com/office/drawing/2014/main" id="{E106BFF9-EA7E-7345-BA51-C6707C744B22}"/>
                    </a:ext>
                  </a:extLst>
                </p:cNvPr>
                <p:cNvSpPr>
                  <a:spLocks noChangeShapeType="1"/>
                </p:cNvSpPr>
                <p:nvPr/>
              </p:nvSpPr>
              <p:spPr bwMode="auto">
                <a:xfrm>
                  <a:off x="1104" y="2160"/>
                  <a:ext cx="33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3" name="Line 76">
                  <a:extLst>
                    <a:ext uri="{FF2B5EF4-FFF2-40B4-BE49-F238E27FC236}">
                      <a16:creationId xmlns:a16="http://schemas.microsoft.com/office/drawing/2014/main" id="{E1296ED4-D305-0948-BBE6-4F3A18D7B7CE}"/>
                    </a:ext>
                  </a:extLst>
                </p:cNvPr>
                <p:cNvSpPr>
                  <a:spLocks noChangeShapeType="1"/>
                </p:cNvSpPr>
                <p:nvPr/>
              </p:nvSpPr>
              <p:spPr bwMode="auto">
                <a:xfrm flipH="1" flipV="1">
                  <a:off x="1152" y="2784"/>
                  <a:ext cx="33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604" name="Line 77">
                  <a:extLst>
                    <a:ext uri="{FF2B5EF4-FFF2-40B4-BE49-F238E27FC236}">
                      <a16:creationId xmlns:a16="http://schemas.microsoft.com/office/drawing/2014/main" id="{01B2F0F1-D7CE-3143-AB8F-A2F933303319}"/>
                    </a:ext>
                  </a:extLst>
                </p:cNvPr>
                <p:cNvSpPr>
                  <a:spLocks noChangeShapeType="1"/>
                </p:cNvSpPr>
                <p:nvPr/>
              </p:nvSpPr>
              <p:spPr bwMode="auto">
                <a:xfrm flipH="1">
                  <a:off x="1104" y="1824"/>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3573" name="Text Box 78">
                <a:extLst>
                  <a:ext uri="{FF2B5EF4-FFF2-40B4-BE49-F238E27FC236}">
                    <a16:creationId xmlns:a16="http://schemas.microsoft.com/office/drawing/2014/main" id="{560E7EF1-977C-8D4C-9966-3D8DC67BC8DB}"/>
                  </a:ext>
                </a:extLst>
              </p:cNvPr>
              <p:cNvSpPr txBox="1">
                <a:spLocks noChangeArrowheads="1"/>
              </p:cNvSpPr>
              <p:nvPr/>
            </p:nvSpPr>
            <p:spPr bwMode="auto">
              <a:xfrm>
                <a:off x="3456" y="2640"/>
                <a:ext cx="6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  a                        </a:t>
                </a:r>
              </a:p>
            </p:txBody>
          </p:sp>
          <p:sp>
            <p:nvSpPr>
              <p:cNvPr id="23574" name="Text Box 79">
                <a:extLst>
                  <a:ext uri="{FF2B5EF4-FFF2-40B4-BE49-F238E27FC236}">
                    <a16:creationId xmlns:a16="http://schemas.microsoft.com/office/drawing/2014/main" id="{ACC28B30-BBA3-7C43-8932-EFFE7EFE7CC9}"/>
                  </a:ext>
                </a:extLst>
              </p:cNvPr>
              <p:cNvSpPr txBox="1">
                <a:spLocks noChangeArrowheads="1"/>
              </p:cNvSpPr>
              <p:nvPr/>
            </p:nvSpPr>
            <p:spPr bwMode="auto">
              <a:xfrm>
                <a:off x="3216" y="2976"/>
                <a:ext cx="21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 l                                        d</a:t>
                </a:r>
              </a:p>
            </p:txBody>
          </p:sp>
          <p:sp>
            <p:nvSpPr>
              <p:cNvPr id="23575" name="Text Box 80">
                <a:extLst>
                  <a:ext uri="{FF2B5EF4-FFF2-40B4-BE49-F238E27FC236}">
                    <a16:creationId xmlns:a16="http://schemas.microsoft.com/office/drawing/2014/main" id="{0A0B29F6-900B-174C-ACE8-3E1DBA365DEE}"/>
                  </a:ext>
                </a:extLst>
              </p:cNvPr>
              <p:cNvSpPr txBox="1">
                <a:spLocks noChangeArrowheads="1"/>
              </p:cNvSpPr>
              <p:nvPr/>
            </p:nvSpPr>
            <p:spPr bwMode="auto">
              <a:xfrm rot="-148087">
                <a:off x="3168" y="3264"/>
                <a:ext cx="20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         k                         e</a:t>
                </a:r>
              </a:p>
            </p:txBody>
          </p:sp>
          <p:sp>
            <p:nvSpPr>
              <p:cNvPr id="23576" name="Text Box 81">
                <a:extLst>
                  <a:ext uri="{FF2B5EF4-FFF2-40B4-BE49-F238E27FC236}">
                    <a16:creationId xmlns:a16="http://schemas.microsoft.com/office/drawing/2014/main" id="{9615B27B-E679-E744-ABA3-FB60D88462FE}"/>
                  </a:ext>
                </a:extLst>
              </p:cNvPr>
              <p:cNvSpPr txBox="1">
                <a:spLocks noChangeArrowheads="1"/>
              </p:cNvSpPr>
              <p:nvPr/>
            </p:nvSpPr>
            <p:spPr bwMode="auto">
              <a:xfrm>
                <a:off x="3216" y="3648"/>
                <a:ext cx="21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  j                                        f</a:t>
                </a:r>
              </a:p>
            </p:txBody>
          </p:sp>
          <p:sp>
            <p:nvSpPr>
              <p:cNvPr id="23577" name="Text Box 82">
                <a:extLst>
                  <a:ext uri="{FF2B5EF4-FFF2-40B4-BE49-F238E27FC236}">
                    <a16:creationId xmlns:a16="http://schemas.microsoft.com/office/drawing/2014/main" id="{B5E0E5E8-3832-D04B-AF5A-B94BF4427C5A}"/>
                  </a:ext>
                </a:extLst>
              </p:cNvPr>
              <p:cNvSpPr txBox="1">
                <a:spLocks noChangeArrowheads="1"/>
              </p:cNvSpPr>
              <p:nvPr/>
            </p:nvSpPr>
            <p:spPr bwMode="auto">
              <a:xfrm rot="-442083">
                <a:off x="3552" y="4032"/>
                <a:ext cx="1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    i                     g</a:t>
                </a:r>
              </a:p>
            </p:txBody>
          </p:sp>
          <p:sp>
            <p:nvSpPr>
              <p:cNvPr id="23578" name="Text Box 83">
                <a:extLst>
                  <a:ext uri="{FF2B5EF4-FFF2-40B4-BE49-F238E27FC236}">
                    <a16:creationId xmlns:a16="http://schemas.microsoft.com/office/drawing/2014/main" id="{CD6E1864-A73A-F846-AF2D-EEEBF2473A3F}"/>
                  </a:ext>
                </a:extLst>
              </p:cNvPr>
              <p:cNvSpPr txBox="1">
                <a:spLocks noChangeArrowheads="1"/>
              </p:cNvSpPr>
              <p:nvPr/>
            </p:nvSpPr>
            <p:spPr bwMode="auto">
              <a:xfrm>
                <a:off x="3936" y="374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   h</a:t>
                </a:r>
              </a:p>
            </p:txBody>
          </p:sp>
          <p:sp>
            <p:nvSpPr>
              <p:cNvPr id="23579" name="Text Box 84">
                <a:extLst>
                  <a:ext uri="{FF2B5EF4-FFF2-40B4-BE49-F238E27FC236}">
                    <a16:creationId xmlns:a16="http://schemas.microsoft.com/office/drawing/2014/main" id="{636724E3-792B-D049-BA99-4F511D04101E}"/>
                  </a:ext>
                </a:extLst>
              </p:cNvPr>
              <p:cNvSpPr txBox="1">
                <a:spLocks noChangeArrowheads="1"/>
              </p:cNvSpPr>
              <p:nvPr/>
            </p:nvSpPr>
            <p:spPr bwMode="auto">
              <a:xfrm>
                <a:off x="3888" y="2784"/>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   b</a:t>
                </a:r>
              </a:p>
            </p:txBody>
          </p:sp>
          <p:sp>
            <p:nvSpPr>
              <p:cNvPr id="23580" name="Text Box 85">
                <a:extLst>
                  <a:ext uri="{FF2B5EF4-FFF2-40B4-BE49-F238E27FC236}">
                    <a16:creationId xmlns:a16="http://schemas.microsoft.com/office/drawing/2014/main" id="{292C1602-B89B-EC4B-9C0A-656C0385B8C6}"/>
                  </a:ext>
                </a:extLst>
              </p:cNvPr>
              <p:cNvSpPr txBox="1">
                <a:spLocks noChangeArrowheads="1"/>
              </p:cNvSpPr>
              <p:nvPr/>
            </p:nvSpPr>
            <p:spPr bwMode="auto">
              <a:xfrm>
                <a:off x="4368" y="2544"/>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c</a:t>
                </a:r>
              </a:p>
            </p:txBody>
          </p:sp>
        </p:grpSp>
        <p:grpSp>
          <p:nvGrpSpPr>
            <p:cNvPr id="23567" name="Group 93">
              <a:extLst>
                <a:ext uri="{FF2B5EF4-FFF2-40B4-BE49-F238E27FC236}">
                  <a16:creationId xmlns:a16="http://schemas.microsoft.com/office/drawing/2014/main" id="{23988F50-7025-AC43-9477-B25349421113}"/>
                </a:ext>
              </a:extLst>
            </p:cNvPr>
            <p:cNvGrpSpPr>
              <a:grpSpLocks/>
            </p:cNvGrpSpPr>
            <p:nvPr/>
          </p:nvGrpSpPr>
          <p:grpSpPr bwMode="auto">
            <a:xfrm>
              <a:off x="3456" y="3072"/>
              <a:ext cx="624" cy="624"/>
              <a:chOff x="720" y="624"/>
              <a:chExt cx="624" cy="624"/>
            </a:xfrm>
          </p:grpSpPr>
          <p:sp>
            <p:nvSpPr>
              <p:cNvPr id="23568" name="Line 37">
                <a:extLst>
                  <a:ext uri="{FF2B5EF4-FFF2-40B4-BE49-F238E27FC236}">
                    <a16:creationId xmlns:a16="http://schemas.microsoft.com/office/drawing/2014/main" id="{29F3ED8E-2639-B244-BFE9-1C9DBAD626C9}"/>
                  </a:ext>
                </a:extLst>
              </p:cNvPr>
              <p:cNvSpPr>
                <a:spLocks noChangeShapeType="1"/>
              </p:cNvSpPr>
              <p:nvPr/>
            </p:nvSpPr>
            <p:spPr bwMode="auto">
              <a:xfrm>
                <a:off x="1008" y="624"/>
                <a:ext cx="33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9" name="Line 90">
                <a:extLst>
                  <a:ext uri="{FF2B5EF4-FFF2-40B4-BE49-F238E27FC236}">
                    <a16:creationId xmlns:a16="http://schemas.microsoft.com/office/drawing/2014/main" id="{13F8AF08-8330-E841-95A3-AE0C07B2F288}"/>
                  </a:ext>
                </a:extLst>
              </p:cNvPr>
              <p:cNvSpPr>
                <a:spLocks noChangeShapeType="1"/>
              </p:cNvSpPr>
              <p:nvPr/>
            </p:nvSpPr>
            <p:spPr bwMode="auto">
              <a:xfrm>
                <a:off x="720" y="960"/>
                <a:ext cx="33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0" name="Line 91">
                <a:extLst>
                  <a:ext uri="{FF2B5EF4-FFF2-40B4-BE49-F238E27FC236}">
                    <a16:creationId xmlns:a16="http://schemas.microsoft.com/office/drawing/2014/main" id="{A7DA3301-5550-C741-AD37-C3C9130F351A}"/>
                  </a:ext>
                </a:extLst>
              </p:cNvPr>
              <p:cNvSpPr>
                <a:spLocks noChangeShapeType="1"/>
              </p:cNvSpPr>
              <p:nvPr/>
            </p:nvSpPr>
            <p:spPr bwMode="auto">
              <a:xfrm flipH="1">
                <a:off x="1056" y="912"/>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1" name="Line 92">
                <a:extLst>
                  <a:ext uri="{FF2B5EF4-FFF2-40B4-BE49-F238E27FC236}">
                    <a16:creationId xmlns:a16="http://schemas.microsoft.com/office/drawing/2014/main" id="{76840A06-BFE4-144C-A06D-FF13B8CEDC5F}"/>
                  </a:ext>
                </a:extLst>
              </p:cNvPr>
              <p:cNvSpPr>
                <a:spLocks noChangeShapeType="1"/>
              </p:cNvSpPr>
              <p:nvPr/>
            </p:nvSpPr>
            <p:spPr bwMode="auto">
              <a:xfrm flipV="1">
                <a:off x="720" y="624"/>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0575" name="Line 95">
            <a:extLst>
              <a:ext uri="{FF2B5EF4-FFF2-40B4-BE49-F238E27FC236}">
                <a16:creationId xmlns:a16="http://schemas.microsoft.com/office/drawing/2014/main" id="{FC26445C-9EBF-344B-85A5-8DB48DB491B3}"/>
              </a:ext>
            </a:extLst>
          </p:cNvPr>
          <p:cNvSpPr>
            <a:spLocks noChangeShapeType="1"/>
          </p:cNvSpPr>
          <p:nvPr/>
        </p:nvSpPr>
        <p:spPr bwMode="auto">
          <a:xfrm flipH="1" flipV="1">
            <a:off x="3352800" y="2438400"/>
            <a:ext cx="76200" cy="99060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3559" name="Group 98">
            <a:extLst>
              <a:ext uri="{FF2B5EF4-FFF2-40B4-BE49-F238E27FC236}">
                <a16:creationId xmlns:a16="http://schemas.microsoft.com/office/drawing/2014/main" id="{83F0711F-4034-044E-BE99-FBE5D5B3B0D2}"/>
              </a:ext>
            </a:extLst>
          </p:cNvPr>
          <p:cNvGrpSpPr>
            <a:grpSpLocks/>
          </p:cNvGrpSpPr>
          <p:nvPr/>
        </p:nvGrpSpPr>
        <p:grpSpPr bwMode="auto">
          <a:xfrm>
            <a:off x="3352800" y="2362200"/>
            <a:ext cx="1066800" cy="1524000"/>
            <a:chOff x="1152" y="1488"/>
            <a:chExt cx="672" cy="960"/>
          </a:xfrm>
        </p:grpSpPr>
        <p:sp>
          <p:nvSpPr>
            <p:cNvPr id="23562" name="Line 35">
              <a:extLst>
                <a:ext uri="{FF2B5EF4-FFF2-40B4-BE49-F238E27FC236}">
                  <a16:creationId xmlns:a16="http://schemas.microsoft.com/office/drawing/2014/main" id="{8EC95377-28CF-0540-A199-261FD624AFE0}"/>
                </a:ext>
              </a:extLst>
            </p:cNvPr>
            <p:cNvSpPr>
              <a:spLocks noChangeShapeType="1"/>
            </p:cNvSpPr>
            <p:nvPr/>
          </p:nvSpPr>
          <p:spPr bwMode="auto">
            <a:xfrm flipH="1" flipV="1">
              <a:off x="1776" y="1488"/>
              <a:ext cx="48"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3" name="Line 38">
              <a:extLst>
                <a:ext uri="{FF2B5EF4-FFF2-40B4-BE49-F238E27FC236}">
                  <a16:creationId xmlns:a16="http://schemas.microsoft.com/office/drawing/2014/main" id="{E3ACB960-171C-1E42-A70C-B6299DB50EDD}"/>
                </a:ext>
              </a:extLst>
            </p:cNvPr>
            <p:cNvSpPr>
              <a:spLocks noChangeShapeType="1"/>
            </p:cNvSpPr>
            <p:nvPr/>
          </p:nvSpPr>
          <p:spPr bwMode="auto">
            <a:xfrm flipH="1">
              <a:off x="1200" y="2112"/>
              <a:ext cx="624"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4" name="Line 96">
              <a:extLst>
                <a:ext uri="{FF2B5EF4-FFF2-40B4-BE49-F238E27FC236}">
                  <a16:creationId xmlns:a16="http://schemas.microsoft.com/office/drawing/2014/main" id="{DA7D75AC-9292-9B42-ACE8-05487811B237}"/>
                </a:ext>
              </a:extLst>
            </p:cNvPr>
            <p:cNvSpPr>
              <a:spLocks noChangeShapeType="1"/>
            </p:cNvSpPr>
            <p:nvPr/>
          </p:nvSpPr>
          <p:spPr bwMode="auto">
            <a:xfrm flipH="1" flipV="1">
              <a:off x="1152" y="1536"/>
              <a:ext cx="384" cy="9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5" name="Line 97">
              <a:extLst>
                <a:ext uri="{FF2B5EF4-FFF2-40B4-BE49-F238E27FC236}">
                  <a16:creationId xmlns:a16="http://schemas.microsoft.com/office/drawing/2014/main" id="{513779DC-61EE-A849-9D91-D8F1BAD564D9}"/>
                </a:ext>
              </a:extLst>
            </p:cNvPr>
            <p:cNvSpPr>
              <a:spLocks noChangeShapeType="1"/>
            </p:cNvSpPr>
            <p:nvPr/>
          </p:nvSpPr>
          <p:spPr bwMode="auto">
            <a:xfrm flipV="1">
              <a:off x="1536" y="1488"/>
              <a:ext cx="240"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0531" name="Oval 51">
            <a:extLst>
              <a:ext uri="{FF2B5EF4-FFF2-40B4-BE49-F238E27FC236}">
                <a16:creationId xmlns:a16="http://schemas.microsoft.com/office/drawing/2014/main" id="{A38F9764-9DF5-0542-BE62-38A5588A5059}"/>
              </a:ext>
            </a:extLst>
          </p:cNvPr>
          <p:cNvSpPr>
            <a:spLocks noChangeArrowheads="1"/>
          </p:cNvSpPr>
          <p:nvPr/>
        </p:nvSpPr>
        <p:spPr bwMode="auto">
          <a:xfrm>
            <a:off x="3276600" y="2362200"/>
            <a:ext cx="152400" cy="152400"/>
          </a:xfrm>
          <a:prstGeom prst="ellipse">
            <a:avLst/>
          </a:prstGeom>
          <a:solidFill>
            <a:srgbClr val="FF00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0566" name="Oval 86">
            <a:extLst>
              <a:ext uri="{FF2B5EF4-FFF2-40B4-BE49-F238E27FC236}">
                <a16:creationId xmlns:a16="http://schemas.microsoft.com/office/drawing/2014/main" id="{0DBC46FF-B862-BD42-976D-D0AE39881E47}"/>
              </a:ext>
            </a:extLst>
          </p:cNvPr>
          <p:cNvSpPr>
            <a:spLocks noChangeArrowheads="1"/>
          </p:cNvSpPr>
          <p:nvPr/>
        </p:nvSpPr>
        <p:spPr bwMode="auto">
          <a:xfrm>
            <a:off x="3352800" y="3352800"/>
            <a:ext cx="152400" cy="152400"/>
          </a:xfrm>
          <a:prstGeom prst="ellipse">
            <a:avLst/>
          </a:prstGeom>
          <a:solidFill>
            <a:srgbClr val="FF00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Tree>
    <p:extLst>
      <p:ext uri="{BB962C8B-B14F-4D97-AF65-F5344CB8AC3E}">
        <p14:creationId xmlns:p14="http://schemas.microsoft.com/office/powerpoint/2010/main" val="14967344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5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56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0530"/>
                                        </p:tgtEl>
                                        <p:attrNameLst>
                                          <p:attrName>style.visibility</p:attrName>
                                        </p:attrNameLst>
                                      </p:cBhvr>
                                      <p:to>
                                        <p:strVal val="visible"/>
                                      </p:to>
                                    </p:set>
                                    <p:anim calcmode="lin" valueType="num">
                                      <p:cBhvr additive="base">
                                        <p:cTn id="13" dur="500" fill="hold"/>
                                        <p:tgtEl>
                                          <p:spTgt spid="20530"/>
                                        </p:tgtEl>
                                        <p:attrNameLst>
                                          <p:attrName>ppt_x</p:attrName>
                                        </p:attrNameLst>
                                      </p:cBhvr>
                                      <p:tavLst>
                                        <p:tav tm="0">
                                          <p:val>
                                            <p:strVal val="1+#ppt_w/2"/>
                                          </p:val>
                                        </p:tav>
                                        <p:tav tm="100000">
                                          <p:val>
                                            <p:strVal val="#ppt_x"/>
                                          </p:val>
                                        </p:tav>
                                      </p:tavLst>
                                    </p:anim>
                                    <p:anim calcmode="lin" valueType="num">
                                      <p:cBhvr additive="base">
                                        <p:cTn id="14" dur="500" fill="hold"/>
                                        <p:tgtEl>
                                          <p:spTgt spid="20530"/>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2" presetClass="entr" presetSubtype="4" fill="hold" nodeType="afterEffect">
                                  <p:stCondLst>
                                    <p:cond delay="0"/>
                                  </p:stCondLst>
                                  <p:childTnLst>
                                    <p:set>
                                      <p:cBhvr>
                                        <p:cTn id="17" dur="1" fill="hold">
                                          <p:stCondLst>
                                            <p:cond delay="0"/>
                                          </p:stCondLst>
                                        </p:cTn>
                                        <p:tgtEl>
                                          <p:spTgt spid="20575"/>
                                        </p:tgtEl>
                                        <p:attrNameLst>
                                          <p:attrName>style.visibility</p:attrName>
                                        </p:attrNameLst>
                                      </p:cBhvr>
                                      <p:to>
                                        <p:strVal val="visible"/>
                                      </p:to>
                                    </p:set>
                                    <p:animEffect transition="in" filter="wipe(down)">
                                      <p:cBhvr>
                                        <p:cTn id="18" dur="500"/>
                                        <p:tgtEl>
                                          <p:spTgt spid="20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0" grpId="0"/>
      <p:bldP spid="20531" grpId="0" animBg="1"/>
      <p:bldP spid="2056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07A56EA6-F593-C547-A0A6-B5EC113EA1FC}"/>
              </a:ext>
            </a:extLst>
          </p:cNvPr>
          <p:cNvSpPr>
            <a:spLocks noGrp="1" noChangeArrowheads="1"/>
          </p:cNvSpPr>
          <p:nvPr>
            <p:ph type="title"/>
          </p:nvPr>
        </p:nvSpPr>
        <p:spPr>
          <a:xfrm>
            <a:off x="1981200" y="152401"/>
            <a:ext cx="8229600" cy="944563"/>
          </a:xfrm>
        </p:spPr>
        <p:txBody>
          <a:bodyPr/>
          <a:lstStyle/>
          <a:p>
            <a:pPr eaLnBrk="1" hangingPunct="1"/>
            <a:r>
              <a:rPr lang="en-US" altLang="en-US" i="1">
                <a:latin typeface="Times New Roman" panose="02020603050405020304" pitchFamily="18" charset="0"/>
                <a:ea typeface="ＭＳ Ｐゴシック" panose="020B0600070205080204" pitchFamily="34" charset="-128"/>
              </a:rPr>
              <a:t>Proof</a:t>
            </a:r>
          </a:p>
        </p:txBody>
      </p:sp>
      <p:sp>
        <p:nvSpPr>
          <p:cNvPr id="24578" name="Rectangle 3">
            <a:extLst>
              <a:ext uri="{FF2B5EF4-FFF2-40B4-BE49-F238E27FC236}">
                <a16:creationId xmlns:a16="http://schemas.microsoft.com/office/drawing/2014/main" id="{CA7B614E-6899-5148-95DE-1B9D33EF5C07}"/>
              </a:ext>
            </a:extLst>
          </p:cNvPr>
          <p:cNvSpPr>
            <a:spLocks noGrp="1" noChangeArrowheads="1"/>
          </p:cNvSpPr>
          <p:nvPr>
            <p:ph type="body" idx="1"/>
          </p:nvPr>
        </p:nvSpPr>
        <p:spPr>
          <a:xfrm>
            <a:off x="1981200" y="1143000"/>
            <a:ext cx="8229600" cy="381000"/>
          </a:xfrm>
        </p:spPr>
        <p:txBody>
          <a:bodyPr/>
          <a:lstStyle/>
          <a:p>
            <a:pPr eaLnBrk="1" hangingPunct="1">
              <a:lnSpc>
                <a:spcPct val="90000"/>
              </a:lnSpc>
              <a:buFontTx/>
              <a:buNone/>
            </a:pPr>
            <a:r>
              <a:rPr lang="en-US" altLang="en-US" sz="2000">
                <a:latin typeface="Times New Roman" panose="02020603050405020304" pitchFamily="18" charset="0"/>
                <a:ea typeface="ＭＳ Ｐゴシック" panose="020B0600070205080204" pitchFamily="34" charset="-128"/>
              </a:rPr>
              <a:t> An Euler cycle                         all vertices are connected and have even degree</a:t>
            </a:r>
          </a:p>
        </p:txBody>
      </p:sp>
      <p:sp>
        <p:nvSpPr>
          <p:cNvPr id="24579" name="AutoShape 4">
            <a:extLst>
              <a:ext uri="{FF2B5EF4-FFF2-40B4-BE49-F238E27FC236}">
                <a16:creationId xmlns:a16="http://schemas.microsoft.com/office/drawing/2014/main" id="{27D8C3EC-3DBA-034D-B588-DD68FAA1A13E}"/>
              </a:ext>
            </a:extLst>
          </p:cNvPr>
          <p:cNvSpPr>
            <a:spLocks noChangeArrowheads="1"/>
          </p:cNvSpPr>
          <p:nvPr/>
        </p:nvSpPr>
        <p:spPr bwMode="auto">
          <a:xfrm>
            <a:off x="3810000" y="1295400"/>
            <a:ext cx="1066800" cy="76200"/>
          </a:xfrm>
          <a:prstGeom prst="rightArrow">
            <a:avLst>
              <a:gd name="adj1" fmla="val 50000"/>
              <a:gd name="adj2" fmla="val 350000"/>
            </a:avLst>
          </a:prstGeom>
          <a:solidFill>
            <a:schemeClr val="bg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en-US" sz="1800" b="1">
              <a:latin typeface="Times New Roman" panose="02020603050405020304" pitchFamily="18" charset="0"/>
            </a:endParaRPr>
          </a:p>
        </p:txBody>
      </p:sp>
      <p:grpSp>
        <p:nvGrpSpPr>
          <p:cNvPr id="24580" name="Group 34">
            <a:extLst>
              <a:ext uri="{FF2B5EF4-FFF2-40B4-BE49-F238E27FC236}">
                <a16:creationId xmlns:a16="http://schemas.microsoft.com/office/drawing/2014/main" id="{C3D9956D-A087-F14C-A987-3E98B369B5F1}"/>
              </a:ext>
            </a:extLst>
          </p:cNvPr>
          <p:cNvGrpSpPr>
            <a:grpSpLocks/>
          </p:cNvGrpSpPr>
          <p:nvPr/>
        </p:nvGrpSpPr>
        <p:grpSpPr bwMode="auto">
          <a:xfrm>
            <a:off x="2743200" y="3505200"/>
            <a:ext cx="2209800" cy="2209800"/>
            <a:chOff x="1008" y="1248"/>
            <a:chExt cx="1392" cy="1392"/>
          </a:xfrm>
        </p:grpSpPr>
        <p:grpSp>
          <p:nvGrpSpPr>
            <p:cNvPr id="24599" name="Group 5">
              <a:extLst>
                <a:ext uri="{FF2B5EF4-FFF2-40B4-BE49-F238E27FC236}">
                  <a16:creationId xmlns:a16="http://schemas.microsoft.com/office/drawing/2014/main" id="{2ED8D32A-155E-CF4F-AB45-CE077E54A809}"/>
                </a:ext>
              </a:extLst>
            </p:cNvPr>
            <p:cNvGrpSpPr>
              <a:grpSpLocks/>
            </p:cNvGrpSpPr>
            <p:nvPr/>
          </p:nvGrpSpPr>
          <p:grpSpPr bwMode="auto">
            <a:xfrm>
              <a:off x="1008" y="1248"/>
              <a:ext cx="1392" cy="1392"/>
              <a:chOff x="1056" y="1728"/>
              <a:chExt cx="1392" cy="1392"/>
            </a:xfrm>
          </p:grpSpPr>
          <p:sp>
            <p:nvSpPr>
              <p:cNvPr id="24604" name="Oval 6">
                <a:extLst>
                  <a:ext uri="{FF2B5EF4-FFF2-40B4-BE49-F238E27FC236}">
                    <a16:creationId xmlns:a16="http://schemas.microsoft.com/office/drawing/2014/main" id="{F87FFE03-465B-1D4E-A21B-6804F0C6807B}"/>
                  </a:ext>
                </a:extLst>
              </p:cNvPr>
              <p:cNvSpPr>
                <a:spLocks noChangeArrowheads="1"/>
              </p:cNvSpPr>
              <p:nvPr/>
            </p:nvSpPr>
            <p:spPr bwMode="auto">
              <a:xfrm>
                <a:off x="1344" y="1776"/>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05" name="Oval 7">
                <a:extLst>
                  <a:ext uri="{FF2B5EF4-FFF2-40B4-BE49-F238E27FC236}">
                    <a16:creationId xmlns:a16="http://schemas.microsoft.com/office/drawing/2014/main" id="{088ED471-FB82-394D-B599-788E18AAE205}"/>
                  </a:ext>
                </a:extLst>
              </p:cNvPr>
              <p:cNvSpPr>
                <a:spLocks noChangeArrowheads="1"/>
              </p:cNvSpPr>
              <p:nvPr/>
            </p:nvSpPr>
            <p:spPr bwMode="auto">
              <a:xfrm>
                <a:off x="2304" y="2016"/>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06" name="Oval 8">
                <a:extLst>
                  <a:ext uri="{FF2B5EF4-FFF2-40B4-BE49-F238E27FC236}">
                    <a16:creationId xmlns:a16="http://schemas.microsoft.com/office/drawing/2014/main" id="{B906129A-A9C1-464C-B6E5-B390FB1EB984}"/>
                  </a:ext>
                </a:extLst>
              </p:cNvPr>
              <p:cNvSpPr>
                <a:spLocks noChangeArrowheads="1"/>
              </p:cNvSpPr>
              <p:nvPr/>
            </p:nvSpPr>
            <p:spPr bwMode="auto">
              <a:xfrm>
                <a:off x="1680" y="2064"/>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07" name="Oval 9">
                <a:extLst>
                  <a:ext uri="{FF2B5EF4-FFF2-40B4-BE49-F238E27FC236}">
                    <a16:creationId xmlns:a16="http://schemas.microsoft.com/office/drawing/2014/main" id="{F6686164-3E1B-2748-B014-C9258D4AE86A}"/>
                  </a:ext>
                </a:extLst>
              </p:cNvPr>
              <p:cNvSpPr>
                <a:spLocks noChangeArrowheads="1"/>
              </p:cNvSpPr>
              <p:nvPr/>
            </p:nvSpPr>
            <p:spPr bwMode="auto">
              <a:xfrm>
                <a:off x="1968" y="1728"/>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08" name="Oval 10">
                <a:extLst>
                  <a:ext uri="{FF2B5EF4-FFF2-40B4-BE49-F238E27FC236}">
                    <a16:creationId xmlns:a16="http://schemas.microsoft.com/office/drawing/2014/main" id="{F205FF85-437E-E64D-8D53-0E2BFB9FFA15}"/>
                  </a:ext>
                </a:extLst>
              </p:cNvPr>
              <p:cNvSpPr>
                <a:spLocks noChangeArrowheads="1"/>
              </p:cNvSpPr>
              <p:nvPr/>
            </p:nvSpPr>
            <p:spPr bwMode="auto">
              <a:xfrm>
                <a:off x="1440" y="3024"/>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09" name="Oval 11">
                <a:extLst>
                  <a:ext uri="{FF2B5EF4-FFF2-40B4-BE49-F238E27FC236}">
                    <a16:creationId xmlns:a16="http://schemas.microsoft.com/office/drawing/2014/main" id="{D8A69BD4-A400-B549-A8D2-A24EFF42ECED}"/>
                  </a:ext>
                </a:extLst>
              </p:cNvPr>
              <p:cNvSpPr>
                <a:spLocks noChangeArrowheads="1"/>
              </p:cNvSpPr>
              <p:nvPr/>
            </p:nvSpPr>
            <p:spPr bwMode="auto">
              <a:xfrm>
                <a:off x="1728" y="2688"/>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10" name="Oval 12">
                <a:extLst>
                  <a:ext uri="{FF2B5EF4-FFF2-40B4-BE49-F238E27FC236}">
                    <a16:creationId xmlns:a16="http://schemas.microsoft.com/office/drawing/2014/main" id="{9698F151-128A-F448-B153-1E726C07FACE}"/>
                  </a:ext>
                </a:extLst>
              </p:cNvPr>
              <p:cNvSpPr>
                <a:spLocks noChangeArrowheads="1"/>
              </p:cNvSpPr>
              <p:nvPr/>
            </p:nvSpPr>
            <p:spPr bwMode="auto">
              <a:xfrm>
                <a:off x="2064" y="2976"/>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11" name="Oval 13">
                <a:extLst>
                  <a:ext uri="{FF2B5EF4-FFF2-40B4-BE49-F238E27FC236}">
                    <a16:creationId xmlns:a16="http://schemas.microsoft.com/office/drawing/2014/main" id="{6066D287-1416-9240-8D0A-50DFBD0F7906}"/>
                  </a:ext>
                </a:extLst>
              </p:cNvPr>
              <p:cNvSpPr>
                <a:spLocks noChangeArrowheads="1"/>
              </p:cNvSpPr>
              <p:nvPr/>
            </p:nvSpPr>
            <p:spPr bwMode="auto">
              <a:xfrm>
                <a:off x="1104" y="2736"/>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12" name="Oval 14">
                <a:extLst>
                  <a:ext uri="{FF2B5EF4-FFF2-40B4-BE49-F238E27FC236}">
                    <a16:creationId xmlns:a16="http://schemas.microsoft.com/office/drawing/2014/main" id="{5A6C50CF-BC09-7D47-B7EA-791E56F52C79}"/>
                  </a:ext>
                </a:extLst>
              </p:cNvPr>
              <p:cNvSpPr>
                <a:spLocks noChangeArrowheads="1"/>
              </p:cNvSpPr>
              <p:nvPr/>
            </p:nvSpPr>
            <p:spPr bwMode="auto">
              <a:xfrm>
                <a:off x="2016" y="2352"/>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13" name="Oval 15">
                <a:extLst>
                  <a:ext uri="{FF2B5EF4-FFF2-40B4-BE49-F238E27FC236}">
                    <a16:creationId xmlns:a16="http://schemas.microsoft.com/office/drawing/2014/main" id="{6FFF630B-7E50-204A-AFBE-E5C1289FB603}"/>
                  </a:ext>
                </a:extLst>
              </p:cNvPr>
              <p:cNvSpPr>
                <a:spLocks noChangeArrowheads="1"/>
              </p:cNvSpPr>
              <p:nvPr/>
            </p:nvSpPr>
            <p:spPr bwMode="auto">
              <a:xfrm>
                <a:off x="2352" y="2640"/>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14" name="Oval 16">
                <a:extLst>
                  <a:ext uri="{FF2B5EF4-FFF2-40B4-BE49-F238E27FC236}">
                    <a16:creationId xmlns:a16="http://schemas.microsoft.com/office/drawing/2014/main" id="{1C0A93BA-A939-2D4D-B04C-F627D35736DF}"/>
                  </a:ext>
                </a:extLst>
              </p:cNvPr>
              <p:cNvSpPr>
                <a:spLocks noChangeArrowheads="1"/>
              </p:cNvSpPr>
              <p:nvPr/>
            </p:nvSpPr>
            <p:spPr bwMode="auto">
              <a:xfrm>
                <a:off x="1056" y="2112"/>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15" name="Oval 17">
                <a:extLst>
                  <a:ext uri="{FF2B5EF4-FFF2-40B4-BE49-F238E27FC236}">
                    <a16:creationId xmlns:a16="http://schemas.microsoft.com/office/drawing/2014/main" id="{2D32147F-0F5F-9944-8726-EBE736F0F1FC}"/>
                  </a:ext>
                </a:extLst>
              </p:cNvPr>
              <p:cNvSpPr>
                <a:spLocks noChangeArrowheads="1"/>
              </p:cNvSpPr>
              <p:nvPr/>
            </p:nvSpPr>
            <p:spPr bwMode="auto">
              <a:xfrm>
                <a:off x="1392" y="2400"/>
                <a:ext cx="96" cy="96"/>
              </a:xfrm>
              <a:prstGeom prst="ellipse">
                <a:avLst/>
              </a:prstGeom>
              <a:solidFill>
                <a:schemeClr val="tx1"/>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16" name="Line 18">
                <a:extLst>
                  <a:ext uri="{FF2B5EF4-FFF2-40B4-BE49-F238E27FC236}">
                    <a16:creationId xmlns:a16="http://schemas.microsoft.com/office/drawing/2014/main" id="{13051457-D6EA-6E48-A609-7337920B7785}"/>
                  </a:ext>
                </a:extLst>
              </p:cNvPr>
              <p:cNvSpPr>
                <a:spLocks noChangeShapeType="1"/>
              </p:cNvSpPr>
              <p:nvPr/>
            </p:nvSpPr>
            <p:spPr bwMode="auto">
              <a:xfrm>
                <a:off x="1392" y="1824"/>
                <a:ext cx="336"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7" name="Line 19">
                <a:extLst>
                  <a:ext uri="{FF2B5EF4-FFF2-40B4-BE49-F238E27FC236}">
                    <a16:creationId xmlns:a16="http://schemas.microsoft.com/office/drawing/2014/main" id="{A874CA32-74C2-E14A-B3DF-C910C37EA697}"/>
                  </a:ext>
                </a:extLst>
              </p:cNvPr>
              <p:cNvSpPr>
                <a:spLocks noChangeShapeType="1"/>
              </p:cNvSpPr>
              <p:nvPr/>
            </p:nvSpPr>
            <p:spPr bwMode="auto">
              <a:xfrm>
                <a:off x="2016" y="1776"/>
                <a:ext cx="336"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8" name="Line 20">
                <a:extLst>
                  <a:ext uri="{FF2B5EF4-FFF2-40B4-BE49-F238E27FC236}">
                    <a16:creationId xmlns:a16="http://schemas.microsoft.com/office/drawing/2014/main" id="{1EB1D7C7-0299-154E-9EF8-517F1F1CA3DB}"/>
                  </a:ext>
                </a:extLst>
              </p:cNvPr>
              <p:cNvSpPr>
                <a:spLocks noChangeShapeType="1"/>
              </p:cNvSpPr>
              <p:nvPr/>
            </p:nvSpPr>
            <p:spPr bwMode="auto">
              <a:xfrm flipH="1">
                <a:off x="2064" y="2064"/>
                <a:ext cx="288"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9" name="Line 21">
                <a:extLst>
                  <a:ext uri="{FF2B5EF4-FFF2-40B4-BE49-F238E27FC236}">
                    <a16:creationId xmlns:a16="http://schemas.microsoft.com/office/drawing/2014/main" id="{C9E77EDF-4C29-D242-8B80-B669CED0916A}"/>
                  </a:ext>
                </a:extLst>
              </p:cNvPr>
              <p:cNvSpPr>
                <a:spLocks noChangeShapeType="1"/>
              </p:cNvSpPr>
              <p:nvPr/>
            </p:nvSpPr>
            <p:spPr bwMode="auto">
              <a:xfrm>
                <a:off x="2064" y="2400"/>
                <a:ext cx="336"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0" name="Line 22">
                <a:extLst>
                  <a:ext uri="{FF2B5EF4-FFF2-40B4-BE49-F238E27FC236}">
                    <a16:creationId xmlns:a16="http://schemas.microsoft.com/office/drawing/2014/main" id="{355AAF2F-33B5-FC4F-8CF8-725AA6E09412}"/>
                  </a:ext>
                </a:extLst>
              </p:cNvPr>
              <p:cNvSpPr>
                <a:spLocks noChangeShapeType="1"/>
              </p:cNvSpPr>
              <p:nvPr/>
            </p:nvSpPr>
            <p:spPr bwMode="auto">
              <a:xfrm flipH="1" flipV="1">
                <a:off x="1776" y="2736"/>
                <a:ext cx="336"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1" name="Line 23">
                <a:extLst>
                  <a:ext uri="{FF2B5EF4-FFF2-40B4-BE49-F238E27FC236}">
                    <a16:creationId xmlns:a16="http://schemas.microsoft.com/office/drawing/2014/main" id="{B2BC4846-8DF1-6848-A9EA-92B6CB030294}"/>
                  </a:ext>
                </a:extLst>
              </p:cNvPr>
              <p:cNvSpPr>
                <a:spLocks noChangeShapeType="1"/>
              </p:cNvSpPr>
              <p:nvPr/>
            </p:nvSpPr>
            <p:spPr bwMode="auto">
              <a:xfrm flipH="1">
                <a:off x="1488" y="2736"/>
                <a:ext cx="288"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2" name="Line 24">
                <a:extLst>
                  <a:ext uri="{FF2B5EF4-FFF2-40B4-BE49-F238E27FC236}">
                    <a16:creationId xmlns:a16="http://schemas.microsoft.com/office/drawing/2014/main" id="{D5F962FA-1D40-104A-8935-E9A5AE31F0BF}"/>
                  </a:ext>
                </a:extLst>
              </p:cNvPr>
              <p:cNvSpPr>
                <a:spLocks noChangeShapeType="1"/>
              </p:cNvSpPr>
              <p:nvPr/>
            </p:nvSpPr>
            <p:spPr bwMode="auto">
              <a:xfrm flipH="1">
                <a:off x="1152" y="2448"/>
                <a:ext cx="288"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3" name="Line 25">
                <a:extLst>
                  <a:ext uri="{FF2B5EF4-FFF2-40B4-BE49-F238E27FC236}">
                    <a16:creationId xmlns:a16="http://schemas.microsoft.com/office/drawing/2014/main" id="{E0F4251B-7709-C941-8AC8-DC4945C3EC75}"/>
                  </a:ext>
                </a:extLst>
              </p:cNvPr>
              <p:cNvSpPr>
                <a:spLocks noChangeShapeType="1"/>
              </p:cNvSpPr>
              <p:nvPr/>
            </p:nvSpPr>
            <p:spPr bwMode="auto">
              <a:xfrm flipH="1">
                <a:off x="1728" y="1776"/>
                <a:ext cx="288"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4" name="Line 26">
                <a:extLst>
                  <a:ext uri="{FF2B5EF4-FFF2-40B4-BE49-F238E27FC236}">
                    <a16:creationId xmlns:a16="http://schemas.microsoft.com/office/drawing/2014/main" id="{F8C97F32-9D61-2C47-BEEA-79E70F0BB17E}"/>
                  </a:ext>
                </a:extLst>
              </p:cNvPr>
              <p:cNvSpPr>
                <a:spLocks noChangeShapeType="1"/>
              </p:cNvSpPr>
              <p:nvPr/>
            </p:nvSpPr>
            <p:spPr bwMode="auto">
              <a:xfrm flipH="1">
                <a:off x="2112" y="2688"/>
                <a:ext cx="288"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5" name="Line 27">
                <a:extLst>
                  <a:ext uri="{FF2B5EF4-FFF2-40B4-BE49-F238E27FC236}">
                    <a16:creationId xmlns:a16="http://schemas.microsoft.com/office/drawing/2014/main" id="{A35FA531-B4D0-7048-AF9D-6C098AC78D43}"/>
                  </a:ext>
                </a:extLst>
              </p:cNvPr>
              <p:cNvSpPr>
                <a:spLocks noChangeShapeType="1"/>
              </p:cNvSpPr>
              <p:nvPr/>
            </p:nvSpPr>
            <p:spPr bwMode="auto">
              <a:xfrm>
                <a:off x="1104" y="2160"/>
                <a:ext cx="336"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6" name="Line 28">
                <a:extLst>
                  <a:ext uri="{FF2B5EF4-FFF2-40B4-BE49-F238E27FC236}">
                    <a16:creationId xmlns:a16="http://schemas.microsoft.com/office/drawing/2014/main" id="{EC355082-F03F-5E47-8103-5ED87A5479D8}"/>
                  </a:ext>
                </a:extLst>
              </p:cNvPr>
              <p:cNvSpPr>
                <a:spLocks noChangeShapeType="1"/>
              </p:cNvSpPr>
              <p:nvPr/>
            </p:nvSpPr>
            <p:spPr bwMode="auto">
              <a:xfrm flipH="1" flipV="1">
                <a:off x="1152" y="2784"/>
                <a:ext cx="336"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7" name="Line 29">
                <a:extLst>
                  <a:ext uri="{FF2B5EF4-FFF2-40B4-BE49-F238E27FC236}">
                    <a16:creationId xmlns:a16="http://schemas.microsoft.com/office/drawing/2014/main" id="{762CD9B1-F34A-7149-9861-23DDCA93FA5E}"/>
                  </a:ext>
                </a:extLst>
              </p:cNvPr>
              <p:cNvSpPr>
                <a:spLocks noChangeShapeType="1"/>
              </p:cNvSpPr>
              <p:nvPr/>
            </p:nvSpPr>
            <p:spPr bwMode="auto">
              <a:xfrm flipH="1">
                <a:off x="1104" y="1824"/>
                <a:ext cx="288" cy="3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4600" name="Line 30">
              <a:extLst>
                <a:ext uri="{FF2B5EF4-FFF2-40B4-BE49-F238E27FC236}">
                  <a16:creationId xmlns:a16="http://schemas.microsoft.com/office/drawing/2014/main" id="{F92975CA-AC8C-1B4C-B34B-16D95CB1E07D}"/>
                </a:ext>
              </a:extLst>
            </p:cNvPr>
            <p:cNvSpPr>
              <a:spLocks noChangeShapeType="1"/>
            </p:cNvSpPr>
            <p:nvPr/>
          </p:nvSpPr>
          <p:spPr bwMode="auto">
            <a:xfrm flipH="1">
              <a:off x="1392" y="1632"/>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1" name="Line 31">
              <a:extLst>
                <a:ext uri="{FF2B5EF4-FFF2-40B4-BE49-F238E27FC236}">
                  <a16:creationId xmlns:a16="http://schemas.microsoft.com/office/drawing/2014/main" id="{76C2F845-A045-4F49-A8E2-2F35B373C588}"/>
                </a:ext>
              </a:extLst>
            </p:cNvPr>
            <p:cNvSpPr>
              <a:spLocks noChangeShapeType="1"/>
            </p:cNvSpPr>
            <p:nvPr/>
          </p:nvSpPr>
          <p:spPr bwMode="auto">
            <a:xfrm flipH="1" flipV="1">
              <a:off x="1680" y="1632"/>
              <a:ext cx="33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2" name="Line 32">
              <a:extLst>
                <a:ext uri="{FF2B5EF4-FFF2-40B4-BE49-F238E27FC236}">
                  <a16:creationId xmlns:a16="http://schemas.microsoft.com/office/drawing/2014/main" id="{4CA1A83A-39BE-014C-B93D-7A9B6FEB477D}"/>
                </a:ext>
              </a:extLst>
            </p:cNvPr>
            <p:cNvSpPr>
              <a:spLocks noChangeShapeType="1"/>
            </p:cNvSpPr>
            <p:nvPr/>
          </p:nvSpPr>
          <p:spPr bwMode="auto">
            <a:xfrm flipH="1" flipV="1">
              <a:off x="1392" y="1968"/>
              <a:ext cx="33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3" name="Line 33">
              <a:extLst>
                <a:ext uri="{FF2B5EF4-FFF2-40B4-BE49-F238E27FC236}">
                  <a16:creationId xmlns:a16="http://schemas.microsoft.com/office/drawing/2014/main" id="{C9458E8A-DB90-5847-9950-983B8126C874}"/>
                </a:ext>
              </a:extLst>
            </p:cNvPr>
            <p:cNvSpPr>
              <a:spLocks noChangeShapeType="1"/>
            </p:cNvSpPr>
            <p:nvPr/>
          </p:nvSpPr>
          <p:spPr bwMode="auto">
            <a:xfrm flipH="1">
              <a:off x="1728" y="1920"/>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6899" name="Line 35">
            <a:extLst>
              <a:ext uri="{FF2B5EF4-FFF2-40B4-BE49-F238E27FC236}">
                <a16:creationId xmlns:a16="http://schemas.microsoft.com/office/drawing/2014/main" id="{C6750344-A32A-364F-83E0-3D84CBFFE875}"/>
              </a:ext>
            </a:extLst>
          </p:cNvPr>
          <p:cNvSpPr>
            <a:spLocks noChangeShapeType="1"/>
          </p:cNvSpPr>
          <p:nvPr/>
        </p:nvSpPr>
        <p:spPr bwMode="auto">
          <a:xfrm>
            <a:off x="3276600" y="36576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2" name="Text Box 36">
            <a:extLst>
              <a:ext uri="{FF2B5EF4-FFF2-40B4-BE49-F238E27FC236}">
                <a16:creationId xmlns:a16="http://schemas.microsoft.com/office/drawing/2014/main" id="{476959AF-C112-474F-A1FA-964C01A40CBC}"/>
              </a:ext>
            </a:extLst>
          </p:cNvPr>
          <p:cNvSpPr txBox="1">
            <a:spLocks noChangeArrowheads="1"/>
          </p:cNvSpPr>
          <p:nvPr/>
        </p:nvSpPr>
        <p:spPr bwMode="auto">
          <a:xfrm>
            <a:off x="2133600" y="1905000"/>
            <a:ext cx="7696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imes New Roman" panose="02020603050405020304" pitchFamily="18" charset="0"/>
              </a:rPr>
              <a:t>	Assume a graph is connected and all vertices have even degrees. We start from any vertex and walk through a path along edges, every time the path enters a vertex it also exits because the degree is even. It only stops when the path reaches the starting vertex.   </a:t>
            </a:r>
          </a:p>
        </p:txBody>
      </p:sp>
      <p:sp>
        <p:nvSpPr>
          <p:cNvPr id="36901" name="Line 37">
            <a:extLst>
              <a:ext uri="{FF2B5EF4-FFF2-40B4-BE49-F238E27FC236}">
                <a16:creationId xmlns:a16="http://schemas.microsoft.com/office/drawing/2014/main" id="{C76F5C2C-8CDF-2B42-BCB0-95C8FC09C978}"/>
              </a:ext>
            </a:extLst>
          </p:cNvPr>
          <p:cNvSpPr>
            <a:spLocks noChangeShapeType="1"/>
          </p:cNvSpPr>
          <p:nvPr/>
        </p:nvSpPr>
        <p:spPr bwMode="auto">
          <a:xfrm flipV="1">
            <a:off x="3810000" y="35814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2" name="Line 38">
            <a:extLst>
              <a:ext uri="{FF2B5EF4-FFF2-40B4-BE49-F238E27FC236}">
                <a16:creationId xmlns:a16="http://schemas.microsoft.com/office/drawing/2014/main" id="{96FCB070-4CB8-3D46-A00B-8A31F6B3CB82}"/>
              </a:ext>
            </a:extLst>
          </p:cNvPr>
          <p:cNvSpPr>
            <a:spLocks noChangeShapeType="1"/>
          </p:cNvSpPr>
          <p:nvPr/>
        </p:nvSpPr>
        <p:spPr bwMode="auto">
          <a:xfrm flipV="1">
            <a:off x="2819400" y="36576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3" name="Line 39">
            <a:extLst>
              <a:ext uri="{FF2B5EF4-FFF2-40B4-BE49-F238E27FC236}">
                <a16:creationId xmlns:a16="http://schemas.microsoft.com/office/drawing/2014/main" id="{5134B275-0FBF-E641-BBFF-C78E219E6BF6}"/>
              </a:ext>
            </a:extLst>
          </p:cNvPr>
          <p:cNvSpPr>
            <a:spLocks noChangeShapeType="1"/>
          </p:cNvSpPr>
          <p:nvPr/>
        </p:nvSpPr>
        <p:spPr bwMode="auto">
          <a:xfrm flipH="1" flipV="1">
            <a:off x="3810000" y="41148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4" name="Line 40">
            <a:extLst>
              <a:ext uri="{FF2B5EF4-FFF2-40B4-BE49-F238E27FC236}">
                <a16:creationId xmlns:a16="http://schemas.microsoft.com/office/drawing/2014/main" id="{DA72E0B8-02E5-7546-A57E-A049EDB2EC89}"/>
              </a:ext>
            </a:extLst>
          </p:cNvPr>
          <p:cNvSpPr>
            <a:spLocks noChangeShapeType="1"/>
          </p:cNvSpPr>
          <p:nvPr/>
        </p:nvSpPr>
        <p:spPr bwMode="auto">
          <a:xfrm flipV="1">
            <a:off x="3886200" y="45720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5" name="Line 41">
            <a:extLst>
              <a:ext uri="{FF2B5EF4-FFF2-40B4-BE49-F238E27FC236}">
                <a16:creationId xmlns:a16="http://schemas.microsoft.com/office/drawing/2014/main" id="{2277A72D-A916-DB4D-B542-7C3F3746B44E}"/>
              </a:ext>
            </a:extLst>
          </p:cNvPr>
          <p:cNvSpPr>
            <a:spLocks noChangeShapeType="1"/>
          </p:cNvSpPr>
          <p:nvPr/>
        </p:nvSpPr>
        <p:spPr bwMode="auto">
          <a:xfrm>
            <a:off x="4267200" y="35814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6" name="Line 42">
            <a:extLst>
              <a:ext uri="{FF2B5EF4-FFF2-40B4-BE49-F238E27FC236}">
                <a16:creationId xmlns:a16="http://schemas.microsoft.com/office/drawing/2014/main" id="{1B78CFA8-6C5B-C144-83B5-506D7538AA4C}"/>
              </a:ext>
            </a:extLst>
          </p:cNvPr>
          <p:cNvSpPr>
            <a:spLocks noChangeShapeType="1"/>
          </p:cNvSpPr>
          <p:nvPr/>
        </p:nvSpPr>
        <p:spPr bwMode="auto">
          <a:xfrm>
            <a:off x="2895600" y="51816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7" name="Line 43">
            <a:extLst>
              <a:ext uri="{FF2B5EF4-FFF2-40B4-BE49-F238E27FC236}">
                <a16:creationId xmlns:a16="http://schemas.microsoft.com/office/drawing/2014/main" id="{B8CE3776-A2F9-0241-A81C-D3958536D246}"/>
              </a:ext>
            </a:extLst>
          </p:cNvPr>
          <p:cNvSpPr>
            <a:spLocks noChangeShapeType="1"/>
          </p:cNvSpPr>
          <p:nvPr/>
        </p:nvSpPr>
        <p:spPr bwMode="auto">
          <a:xfrm flipV="1">
            <a:off x="3429000" y="51054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8" name="Line 44">
            <a:extLst>
              <a:ext uri="{FF2B5EF4-FFF2-40B4-BE49-F238E27FC236}">
                <a16:creationId xmlns:a16="http://schemas.microsoft.com/office/drawing/2014/main" id="{6985FB16-045B-C84E-B2B0-1CD52BB67812}"/>
              </a:ext>
            </a:extLst>
          </p:cNvPr>
          <p:cNvSpPr>
            <a:spLocks noChangeShapeType="1"/>
          </p:cNvSpPr>
          <p:nvPr/>
        </p:nvSpPr>
        <p:spPr bwMode="auto">
          <a:xfrm>
            <a:off x="3886200" y="51054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09" name="Line 45">
            <a:extLst>
              <a:ext uri="{FF2B5EF4-FFF2-40B4-BE49-F238E27FC236}">
                <a16:creationId xmlns:a16="http://schemas.microsoft.com/office/drawing/2014/main" id="{388F5A93-2BDB-A24E-8BCE-F94C13672796}"/>
              </a:ext>
            </a:extLst>
          </p:cNvPr>
          <p:cNvSpPr>
            <a:spLocks noChangeShapeType="1"/>
          </p:cNvSpPr>
          <p:nvPr/>
        </p:nvSpPr>
        <p:spPr bwMode="auto">
          <a:xfrm flipV="1">
            <a:off x="4419600" y="50292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0" name="Line 46">
            <a:extLst>
              <a:ext uri="{FF2B5EF4-FFF2-40B4-BE49-F238E27FC236}">
                <a16:creationId xmlns:a16="http://schemas.microsoft.com/office/drawing/2014/main" id="{08D2055B-EE6E-FE4A-86F6-09E431A0E4A9}"/>
              </a:ext>
            </a:extLst>
          </p:cNvPr>
          <p:cNvSpPr>
            <a:spLocks noChangeShapeType="1"/>
          </p:cNvSpPr>
          <p:nvPr/>
        </p:nvSpPr>
        <p:spPr bwMode="auto">
          <a:xfrm flipV="1">
            <a:off x="4343400" y="40386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1" name="Line 47">
            <a:extLst>
              <a:ext uri="{FF2B5EF4-FFF2-40B4-BE49-F238E27FC236}">
                <a16:creationId xmlns:a16="http://schemas.microsoft.com/office/drawing/2014/main" id="{F47A9CC4-65DC-8C4B-BD29-A2C99528A42F}"/>
              </a:ext>
            </a:extLst>
          </p:cNvPr>
          <p:cNvSpPr>
            <a:spLocks noChangeShapeType="1"/>
          </p:cNvSpPr>
          <p:nvPr/>
        </p:nvSpPr>
        <p:spPr bwMode="auto">
          <a:xfrm>
            <a:off x="4343400" y="45720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2" name="Line 48">
            <a:extLst>
              <a:ext uri="{FF2B5EF4-FFF2-40B4-BE49-F238E27FC236}">
                <a16:creationId xmlns:a16="http://schemas.microsoft.com/office/drawing/2014/main" id="{356C26A1-EA7C-8E46-AEE4-52DA10E0E7AB}"/>
              </a:ext>
            </a:extLst>
          </p:cNvPr>
          <p:cNvSpPr>
            <a:spLocks noChangeShapeType="1"/>
          </p:cNvSpPr>
          <p:nvPr/>
        </p:nvSpPr>
        <p:spPr bwMode="auto">
          <a:xfrm flipV="1">
            <a:off x="3352800" y="41148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3" name="Line 49">
            <a:extLst>
              <a:ext uri="{FF2B5EF4-FFF2-40B4-BE49-F238E27FC236}">
                <a16:creationId xmlns:a16="http://schemas.microsoft.com/office/drawing/2014/main" id="{F4D4E412-25C2-A340-8342-179D1998B105}"/>
              </a:ext>
            </a:extLst>
          </p:cNvPr>
          <p:cNvSpPr>
            <a:spLocks noChangeShapeType="1"/>
          </p:cNvSpPr>
          <p:nvPr/>
        </p:nvSpPr>
        <p:spPr bwMode="auto">
          <a:xfrm flipH="1" flipV="1">
            <a:off x="3352800" y="46482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4" name="Line 50">
            <a:extLst>
              <a:ext uri="{FF2B5EF4-FFF2-40B4-BE49-F238E27FC236}">
                <a16:creationId xmlns:a16="http://schemas.microsoft.com/office/drawing/2014/main" id="{BB1D1818-5993-4A45-9D1E-C35C24ABDC80}"/>
              </a:ext>
            </a:extLst>
          </p:cNvPr>
          <p:cNvSpPr>
            <a:spLocks noChangeShapeType="1"/>
          </p:cNvSpPr>
          <p:nvPr/>
        </p:nvSpPr>
        <p:spPr bwMode="auto">
          <a:xfrm>
            <a:off x="2819400" y="4191000"/>
            <a:ext cx="533400" cy="4572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915" name="Line 51">
            <a:extLst>
              <a:ext uri="{FF2B5EF4-FFF2-40B4-BE49-F238E27FC236}">
                <a16:creationId xmlns:a16="http://schemas.microsoft.com/office/drawing/2014/main" id="{6E10C611-700F-BF4A-AEBC-C47123DDA1DC}"/>
              </a:ext>
            </a:extLst>
          </p:cNvPr>
          <p:cNvSpPr>
            <a:spLocks noChangeShapeType="1"/>
          </p:cNvSpPr>
          <p:nvPr/>
        </p:nvSpPr>
        <p:spPr bwMode="auto">
          <a:xfrm flipV="1">
            <a:off x="2895600" y="4648200"/>
            <a:ext cx="457200" cy="5334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8" name="Text Box 52">
            <a:extLst>
              <a:ext uri="{FF2B5EF4-FFF2-40B4-BE49-F238E27FC236}">
                <a16:creationId xmlns:a16="http://schemas.microsoft.com/office/drawing/2014/main" id="{9F815EA1-5DED-E74F-A557-2F0C168C00C1}"/>
              </a:ext>
            </a:extLst>
          </p:cNvPr>
          <p:cNvSpPr txBox="1">
            <a:spLocks noChangeArrowheads="1"/>
          </p:cNvSpPr>
          <p:nvPr/>
        </p:nvSpPr>
        <p:spPr bwMode="auto">
          <a:xfrm>
            <a:off x="6092825" y="3878264"/>
            <a:ext cx="3352800"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 typeface="Wingdings" pitchFamily="2" charset="2"/>
              <a:buChar char="Ø"/>
            </a:pPr>
            <a:r>
              <a:rPr lang="en-US" altLang="en-US" sz="1800">
                <a:latin typeface="Times New Roman" panose="02020603050405020304" pitchFamily="18" charset="0"/>
              </a:rPr>
              <a:t>   </a:t>
            </a:r>
            <a:r>
              <a:rPr lang="en-US" altLang="en-US" sz="2000">
                <a:latin typeface="Times New Roman" panose="02020603050405020304" pitchFamily="18" charset="0"/>
              </a:rPr>
              <a:t>This graph is connected and all vertices have even degrees, therefore it has an Euler cycle.</a:t>
            </a:r>
          </a:p>
        </p:txBody>
      </p:sp>
    </p:spTree>
    <p:extLst>
      <p:ext uri="{BB962C8B-B14F-4D97-AF65-F5344CB8AC3E}">
        <p14:creationId xmlns:p14="http://schemas.microsoft.com/office/powerpoint/2010/main" val="40374746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6902"/>
                                        </p:tgtEl>
                                        <p:attrNameLst>
                                          <p:attrName>style.visibility</p:attrName>
                                        </p:attrNameLst>
                                      </p:cBhvr>
                                      <p:to>
                                        <p:strVal val="visible"/>
                                      </p:to>
                                    </p:set>
                                    <p:animEffect transition="in" filter="wipe(down)">
                                      <p:cBhvr>
                                        <p:cTn id="7" dur="500"/>
                                        <p:tgtEl>
                                          <p:spTgt spid="36902"/>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6899"/>
                                        </p:tgtEl>
                                        <p:attrNameLst>
                                          <p:attrName>style.visibility</p:attrName>
                                        </p:attrNameLst>
                                      </p:cBhvr>
                                      <p:to>
                                        <p:strVal val="visible"/>
                                      </p:to>
                                    </p:set>
                                    <p:animEffect transition="in" filter="wipe(up)">
                                      <p:cBhvr>
                                        <p:cTn id="11" dur="500"/>
                                        <p:tgtEl>
                                          <p:spTgt spid="36899"/>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36901"/>
                                        </p:tgtEl>
                                        <p:attrNameLst>
                                          <p:attrName>style.visibility</p:attrName>
                                        </p:attrNameLst>
                                      </p:cBhvr>
                                      <p:to>
                                        <p:strVal val="visible"/>
                                      </p:to>
                                    </p:set>
                                    <p:animEffect transition="in" filter="wipe(down)">
                                      <p:cBhvr>
                                        <p:cTn id="15" dur="500"/>
                                        <p:tgtEl>
                                          <p:spTgt spid="36901"/>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36905"/>
                                        </p:tgtEl>
                                        <p:attrNameLst>
                                          <p:attrName>style.visibility</p:attrName>
                                        </p:attrNameLst>
                                      </p:cBhvr>
                                      <p:to>
                                        <p:strVal val="visible"/>
                                      </p:to>
                                    </p:set>
                                    <p:animEffect transition="in" filter="wipe(up)">
                                      <p:cBhvr>
                                        <p:cTn id="19" dur="500"/>
                                        <p:tgtEl>
                                          <p:spTgt spid="36905"/>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36910"/>
                                        </p:tgtEl>
                                        <p:attrNameLst>
                                          <p:attrName>style.visibility</p:attrName>
                                        </p:attrNameLst>
                                      </p:cBhvr>
                                      <p:to>
                                        <p:strVal val="visible"/>
                                      </p:to>
                                    </p:set>
                                    <p:animEffect transition="in" filter="wipe(up)">
                                      <p:cBhvr>
                                        <p:cTn id="23" dur="500"/>
                                        <p:tgtEl>
                                          <p:spTgt spid="36910"/>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36904"/>
                                        </p:tgtEl>
                                        <p:attrNameLst>
                                          <p:attrName>style.visibility</p:attrName>
                                        </p:attrNameLst>
                                      </p:cBhvr>
                                      <p:to>
                                        <p:strVal val="visible"/>
                                      </p:to>
                                    </p:set>
                                    <p:animEffect transition="in" filter="wipe(up)">
                                      <p:cBhvr>
                                        <p:cTn id="27" dur="500"/>
                                        <p:tgtEl>
                                          <p:spTgt spid="36904"/>
                                        </p:tgtEl>
                                      </p:cBhvr>
                                    </p:animEffect>
                                  </p:childTnLst>
                                </p:cTn>
                              </p:par>
                            </p:childTnLst>
                          </p:cTn>
                        </p:par>
                        <p:par>
                          <p:cTn id="28" fill="hold" nodeType="afterGroup">
                            <p:stCondLst>
                              <p:cond delay="3000"/>
                            </p:stCondLst>
                            <p:childTnLst>
                              <p:par>
                                <p:cTn id="29" presetID="22" presetClass="entr" presetSubtype="4" fill="hold" nodeType="afterEffect">
                                  <p:stCondLst>
                                    <p:cond delay="0"/>
                                  </p:stCondLst>
                                  <p:childTnLst>
                                    <p:set>
                                      <p:cBhvr>
                                        <p:cTn id="30" dur="1" fill="hold">
                                          <p:stCondLst>
                                            <p:cond delay="0"/>
                                          </p:stCondLst>
                                        </p:cTn>
                                        <p:tgtEl>
                                          <p:spTgt spid="36913"/>
                                        </p:tgtEl>
                                        <p:attrNameLst>
                                          <p:attrName>style.visibility</p:attrName>
                                        </p:attrNameLst>
                                      </p:cBhvr>
                                      <p:to>
                                        <p:strVal val="visible"/>
                                      </p:to>
                                    </p:set>
                                    <p:animEffect transition="in" filter="wipe(down)">
                                      <p:cBhvr>
                                        <p:cTn id="31" dur="500"/>
                                        <p:tgtEl>
                                          <p:spTgt spid="36913"/>
                                        </p:tgtEl>
                                      </p:cBhvr>
                                    </p:animEffect>
                                  </p:childTnLst>
                                </p:cTn>
                              </p:par>
                            </p:childTnLst>
                          </p:cTn>
                        </p:par>
                        <p:par>
                          <p:cTn id="32" fill="hold" nodeType="afterGroup">
                            <p:stCondLst>
                              <p:cond delay="3500"/>
                            </p:stCondLst>
                            <p:childTnLst>
                              <p:par>
                                <p:cTn id="33" presetID="22" presetClass="entr" presetSubtype="4" fill="hold" nodeType="afterEffect">
                                  <p:stCondLst>
                                    <p:cond delay="0"/>
                                  </p:stCondLst>
                                  <p:childTnLst>
                                    <p:set>
                                      <p:cBhvr>
                                        <p:cTn id="34" dur="1" fill="hold">
                                          <p:stCondLst>
                                            <p:cond delay="0"/>
                                          </p:stCondLst>
                                        </p:cTn>
                                        <p:tgtEl>
                                          <p:spTgt spid="36912"/>
                                        </p:tgtEl>
                                        <p:attrNameLst>
                                          <p:attrName>style.visibility</p:attrName>
                                        </p:attrNameLst>
                                      </p:cBhvr>
                                      <p:to>
                                        <p:strVal val="visible"/>
                                      </p:to>
                                    </p:set>
                                    <p:animEffect transition="in" filter="wipe(down)">
                                      <p:cBhvr>
                                        <p:cTn id="35" dur="500"/>
                                        <p:tgtEl>
                                          <p:spTgt spid="36912"/>
                                        </p:tgtEl>
                                      </p:cBhvr>
                                    </p:animEffect>
                                  </p:childTnLst>
                                </p:cTn>
                              </p:par>
                            </p:childTnLst>
                          </p:cTn>
                        </p:par>
                        <p:par>
                          <p:cTn id="36" fill="hold" nodeType="afterGroup">
                            <p:stCondLst>
                              <p:cond delay="4000"/>
                            </p:stCondLst>
                            <p:childTnLst>
                              <p:par>
                                <p:cTn id="37" presetID="22" presetClass="entr" presetSubtype="1" fill="hold" nodeType="afterEffect">
                                  <p:stCondLst>
                                    <p:cond delay="0"/>
                                  </p:stCondLst>
                                  <p:childTnLst>
                                    <p:set>
                                      <p:cBhvr>
                                        <p:cTn id="38" dur="1" fill="hold">
                                          <p:stCondLst>
                                            <p:cond delay="0"/>
                                          </p:stCondLst>
                                        </p:cTn>
                                        <p:tgtEl>
                                          <p:spTgt spid="36903"/>
                                        </p:tgtEl>
                                        <p:attrNameLst>
                                          <p:attrName>style.visibility</p:attrName>
                                        </p:attrNameLst>
                                      </p:cBhvr>
                                      <p:to>
                                        <p:strVal val="visible"/>
                                      </p:to>
                                    </p:set>
                                    <p:animEffect transition="in" filter="wipe(up)">
                                      <p:cBhvr>
                                        <p:cTn id="39" dur="500"/>
                                        <p:tgtEl>
                                          <p:spTgt spid="36903"/>
                                        </p:tgtEl>
                                      </p:cBhvr>
                                    </p:animEffect>
                                  </p:childTnLst>
                                </p:cTn>
                              </p:par>
                            </p:childTnLst>
                          </p:cTn>
                        </p:par>
                        <p:par>
                          <p:cTn id="40" fill="hold" nodeType="afterGroup">
                            <p:stCondLst>
                              <p:cond delay="4500"/>
                            </p:stCondLst>
                            <p:childTnLst>
                              <p:par>
                                <p:cTn id="41" presetID="22" presetClass="entr" presetSubtype="1" fill="hold" nodeType="afterEffect">
                                  <p:stCondLst>
                                    <p:cond delay="0"/>
                                  </p:stCondLst>
                                  <p:childTnLst>
                                    <p:set>
                                      <p:cBhvr>
                                        <p:cTn id="42" dur="1" fill="hold">
                                          <p:stCondLst>
                                            <p:cond delay="0"/>
                                          </p:stCondLst>
                                        </p:cTn>
                                        <p:tgtEl>
                                          <p:spTgt spid="36911"/>
                                        </p:tgtEl>
                                        <p:attrNameLst>
                                          <p:attrName>style.visibility</p:attrName>
                                        </p:attrNameLst>
                                      </p:cBhvr>
                                      <p:to>
                                        <p:strVal val="visible"/>
                                      </p:to>
                                    </p:set>
                                    <p:animEffect transition="in" filter="wipe(up)">
                                      <p:cBhvr>
                                        <p:cTn id="43" dur="500"/>
                                        <p:tgtEl>
                                          <p:spTgt spid="36911"/>
                                        </p:tgtEl>
                                      </p:cBhvr>
                                    </p:animEffect>
                                  </p:childTnLst>
                                </p:cTn>
                              </p:par>
                            </p:childTnLst>
                          </p:cTn>
                        </p:par>
                        <p:par>
                          <p:cTn id="44" fill="hold" nodeType="afterGroup">
                            <p:stCondLst>
                              <p:cond delay="5000"/>
                            </p:stCondLst>
                            <p:childTnLst>
                              <p:par>
                                <p:cTn id="45" presetID="22" presetClass="entr" presetSubtype="1" fill="hold" nodeType="afterEffect">
                                  <p:stCondLst>
                                    <p:cond delay="0"/>
                                  </p:stCondLst>
                                  <p:childTnLst>
                                    <p:set>
                                      <p:cBhvr>
                                        <p:cTn id="46" dur="1" fill="hold">
                                          <p:stCondLst>
                                            <p:cond delay="0"/>
                                          </p:stCondLst>
                                        </p:cTn>
                                        <p:tgtEl>
                                          <p:spTgt spid="36909"/>
                                        </p:tgtEl>
                                        <p:attrNameLst>
                                          <p:attrName>style.visibility</p:attrName>
                                        </p:attrNameLst>
                                      </p:cBhvr>
                                      <p:to>
                                        <p:strVal val="visible"/>
                                      </p:to>
                                    </p:set>
                                    <p:animEffect transition="in" filter="wipe(up)">
                                      <p:cBhvr>
                                        <p:cTn id="47" dur="500"/>
                                        <p:tgtEl>
                                          <p:spTgt spid="36909"/>
                                        </p:tgtEl>
                                      </p:cBhvr>
                                    </p:animEffect>
                                  </p:childTnLst>
                                </p:cTn>
                              </p:par>
                            </p:childTnLst>
                          </p:cTn>
                        </p:par>
                        <p:par>
                          <p:cTn id="48" fill="hold" nodeType="afterGroup">
                            <p:stCondLst>
                              <p:cond delay="5500"/>
                            </p:stCondLst>
                            <p:childTnLst>
                              <p:par>
                                <p:cTn id="49" presetID="22" presetClass="entr" presetSubtype="4" fill="hold" nodeType="afterEffect">
                                  <p:stCondLst>
                                    <p:cond delay="0"/>
                                  </p:stCondLst>
                                  <p:childTnLst>
                                    <p:set>
                                      <p:cBhvr>
                                        <p:cTn id="50" dur="1" fill="hold">
                                          <p:stCondLst>
                                            <p:cond delay="0"/>
                                          </p:stCondLst>
                                        </p:cTn>
                                        <p:tgtEl>
                                          <p:spTgt spid="36908"/>
                                        </p:tgtEl>
                                        <p:attrNameLst>
                                          <p:attrName>style.visibility</p:attrName>
                                        </p:attrNameLst>
                                      </p:cBhvr>
                                      <p:to>
                                        <p:strVal val="visible"/>
                                      </p:to>
                                    </p:set>
                                    <p:animEffect transition="in" filter="wipe(down)">
                                      <p:cBhvr>
                                        <p:cTn id="51" dur="500"/>
                                        <p:tgtEl>
                                          <p:spTgt spid="36908"/>
                                        </p:tgtEl>
                                      </p:cBhvr>
                                    </p:animEffect>
                                  </p:childTnLst>
                                </p:cTn>
                              </p:par>
                            </p:childTnLst>
                          </p:cTn>
                        </p:par>
                        <p:par>
                          <p:cTn id="52" fill="hold" nodeType="afterGroup">
                            <p:stCondLst>
                              <p:cond delay="6000"/>
                            </p:stCondLst>
                            <p:childTnLst>
                              <p:par>
                                <p:cTn id="53" presetID="22" presetClass="entr" presetSubtype="1" fill="hold" nodeType="afterEffect">
                                  <p:stCondLst>
                                    <p:cond delay="0"/>
                                  </p:stCondLst>
                                  <p:childTnLst>
                                    <p:set>
                                      <p:cBhvr>
                                        <p:cTn id="54" dur="1" fill="hold">
                                          <p:stCondLst>
                                            <p:cond delay="0"/>
                                          </p:stCondLst>
                                        </p:cTn>
                                        <p:tgtEl>
                                          <p:spTgt spid="36907"/>
                                        </p:tgtEl>
                                        <p:attrNameLst>
                                          <p:attrName>style.visibility</p:attrName>
                                        </p:attrNameLst>
                                      </p:cBhvr>
                                      <p:to>
                                        <p:strVal val="visible"/>
                                      </p:to>
                                    </p:set>
                                    <p:animEffect transition="in" filter="wipe(up)">
                                      <p:cBhvr>
                                        <p:cTn id="55" dur="500"/>
                                        <p:tgtEl>
                                          <p:spTgt spid="36907"/>
                                        </p:tgtEl>
                                      </p:cBhvr>
                                    </p:animEffect>
                                  </p:childTnLst>
                                </p:cTn>
                              </p:par>
                            </p:childTnLst>
                          </p:cTn>
                        </p:par>
                        <p:par>
                          <p:cTn id="56" fill="hold" nodeType="afterGroup">
                            <p:stCondLst>
                              <p:cond delay="6500"/>
                            </p:stCondLst>
                            <p:childTnLst>
                              <p:par>
                                <p:cTn id="57" presetID="22" presetClass="entr" presetSubtype="4" fill="hold" nodeType="afterEffect">
                                  <p:stCondLst>
                                    <p:cond delay="0"/>
                                  </p:stCondLst>
                                  <p:childTnLst>
                                    <p:set>
                                      <p:cBhvr>
                                        <p:cTn id="58" dur="1" fill="hold">
                                          <p:stCondLst>
                                            <p:cond delay="0"/>
                                          </p:stCondLst>
                                        </p:cTn>
                                        <p:tgtEl>
                                          <p:spTgt spid="36906"/>
                                        </p:tgtEl>
                                        <p:attrNameLst>
                                          <p:attrName>style.visibility</p:attrName>
                                        </p:attrNameLst>
                                      </p:cBhvr>
                                      <p:to>
                                        <p:strVal val="visible"/>
                                      </p:to>
                                    </p:set>
                                    <p:animEffect transition="in" filter="wipe(down)">
                                      <p:cBhvr>
                                        <p:cTn id="59" dur="500"/>
                                        <p:tgtEl>
                                          <p:spTgt spid="36906"/>
                                        </p:tgtEl>
                                      </p:cBhvr>
                                    </p:animEffect>
                                  </p:childTnLst>
                                </p:cTn>
                              </p:par>
                            </p:childTnLst>
                          </p:cTn>
                        </p:par>
                        <p:par>
                          <p:cTn id="60" fill="hold" nodeType="afterGroup">
                            <p:stCondLst>
                              <p:cond delay="7000"/>
                            </p:stCondLst>
                            <p:childTnLst>
                              <p:par>
                                <p:cTn id="61" presetID="22" presetClass="entr" presetSubtype="4" fill="hold" nodeType="afterEffect">
                                  <p:stCondLst>
                                    <p:cond delay="0"/>
                                  </p:stCondLst>
                                  <p:childTnLst>
                                    <p:set>
                                      <p:cBhvr>
                                        <p:cTn id="62" dur="1" fill="hold">
                                          <p:stCondLst>
                                            <p:cond delay="0"/>
                                          </p:stCondLst>
                                        </p:cTn>
                                        <p:tgtEl>
                                          <p:spTgt spid="36915"/>
                                        </p:tgtEl>
                                        <p:attrNameLst>
                                          <p:attrName>style.visibility</p:attrName>
                                        </p:attrNameLst>
                                      </p:cBhvr>
                                      <p:to>
                                        <p:strVal val="visible"/>
                                      </p:to>
                                    </p:set>
                                    <p:animEffect transition="in" filter="wipe(down)">
                                      <p:cBhvr>
                                        <p:cTn id="63" dur="500"/>
                                        <p:tgtEl>
                                          <p:spTgt spid="36915"/>
                                        </p:tgtEl>
                                      </p:cBhvr>
                                    </p:animEffect>
                                  </p:childTnLst>
                                </p:cTn>
                              </p:par>
                            </p:childTnLst>
                          </p:cTn>
                        </p:par>
                        <p:par>
                          <p:cTn id="64" fill="hold" nodeType="afterGroup">
                            <p:stCondLst>
                              <p:cond delay="7500"/>
                            </p:stCondLst>
                            <p:childTnLst>
                              <p:par>
                                <p:cTn id="65" presetID="22" presetClass="entr" presetSubtype="4" fill="hold" nodeType="afterEffect">
                                  <p:stCondLst>
                                    <p:cond delay="0"/>
                                  </p:stCondLst>
                                  <p:childTnLst>
                                    <p:set>
                                      <p:cBhvr>
                                        <p:cTn id="66" dur="1" fill="hold">
                                          <p:stCondLst>
                                            <p:cond delay="0"/>
                                          </p:stCondLst>
                                        </p:cTn>
                                        <p:tgtEl>
                                          <p:spTgt spid="36914"/>
                                        </p:tgtEl>
                                        <p:attrNameLst>
                                          <p:attrName>style.visibility</p:attrName>
                                        </p:attrNameLst>
                                      </p:cBhvr>
                                      <p:to>
                                        <p:strVal val="visible"/>
                                      </p:to>
                                    </p:set>
                                    <p:animEffect transition="in" filter="wipe(down)">
                                      <p:cBhvr>
                                        <p:cTn id="67" dur="500"/>
                                        <p:tgtEl>
                                          <p:spTgt spid="36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1" name="Group 107">
            <a:extLst>
              <a:ext uri="{FF2B5EF4-FFF2-40B4-BE49-F238E27FC236}">
                <a16:creationId xmlns:a16="http://schemas.microsoft.com/office/drawing/2014/main" id="{52144797-5594-E54A-9429-D36E97736B5B}"/>
              </a:ext>
            </a:extLst>
          </p:cNvPr>
          <p:cNvGrpSpPr>
            <a:grpSpLocks/>
          </p:cNvGrpSpPr>
          <p:nvPr/>
        </p:nvGrpSpPr>
        <p:grpSpPr bwMode="auto">
          <a:xfrm>
            <a:off x="4419600" y="1600200"/>
            <a:ext cx="2590800" cy="2667000"/>
            <a:chOff x="3648" y="672"/>
            <a:chExt cx="1632" cy="1680"/>
          </a:xfrm>
        </p:grpSpPr>
        <p:sp>
          <p:nvSpPr>
            <p:cNvPr id="25646" name="Oval 42">
              <a:extLst>
                <a:ext uri="{FF2B5EF4-FFF2-40B4-BE49-F238E27FC236}">
                  <a16:creationId xmlns:a16="http://schemas.microsoft.com/office/drawing/2014/main" id="{7C0F1757-42DE-4947-9595-461E07B223B0}"/>
                </a:ext>
              </a:extLst>
            </p:cNvPr>
            <p:cNvSpPr>
              <a:spLocks noChangeArrowheads="1"/>
            </p:cNvSpPr>
            <p:nvPr/>
          </p:nvSpPr>
          <p:spPr bwMode="auto">
            <a:xfrm>
              <a:off x="3648" y="1200"/>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47" name="Oval 46">
              <a:extLst>
                <a:ext uri="{FF2B5EF4-FFF2-40B4-BE49-F238E27FC236}">
                  <a16:creationId xmlns:a16="http://schemas.microsoft.com/office/drawing/2014/main" id="{F1511ED6-0B74-2642-B3ED-26A09A45ED15}"/>
                </a:ext>
              </a:extLst>
            </p:cNvPr>
            <p:cNvSpPr>
              <a:spLocks noChangeArrowheads="1"/>
            </p:cNvSpPr>
            <p:nvPr/>
          </p:nvSpPr>
          <p:spPr bwMode="auto">
            <a:xfrm>
              <a:off x="4272" y="225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48" name="Oval 47">
              <a:extLst>
                <a:ext uri="{FF2B5EF4-FFF2-40B4-BE49-F238E27FC236}">
                  <a16:creationId xmlns:a16="http://schemas.microsoft.com/office/drawing/2014/main" id="{4643661D-C4B0-0840-B5A7-1678C9147F2D}"/>
                </a:ext>
              </a:extLst>
            </p:cNvPr>
            <p:cNvSpPr>
              <a:spLocks noChangeArrowheads="1"/>
            </p:cNvSpPr>
            <p:nvPr/>
          </p:nvSpPr>
          <p:spPr bwMode="auto">
            <a:xfrm>
              <a:off x="4272"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49" name="Oval 48">
              <a:extLst>
                <a:ext uri="{FF2B5EF4-FFF2-40B4-BE49-F238E27FC236}">
                  <a16:creationId xmlns:a16="http://schemas.microsoft.com/office/drawing/2014/main" id="{6D94ECCC-CEAF-1A4C-9EB9-889F3D08E0F9}"/>
                </a:ext>
              </a:extLst>
            </p:cNvPr>
            <p:cNvSpPr>
              <a:spLocks noChangeArrowheads="1"/>
            </p:cNvSpPr>
            <p:nvPr/>
          </p:nvSpPr>
          <p:spPr bwMode="auto">
            <a:xfrm>
              <a:off x="4896" y="1200"/>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50" name="Oval 49">
              <a:extLst>
                <a:ext uri="{FF2B5EF4-FFF2-40B4-BE49-F238E27FC236}">
                  <a16:creationId xmlns:a16="http://schemas.microsoft.com/office/drawing/2014/main" id="{2D1694A1-D97D-0749-A5FC-C350A591424C}"/>
                </a:ext>
              </a:extLst>
            </p:cNvPr>
            <p:cNvSpPr>
              <a:spLocks noChangeArrowheads="1"/>
            </p:cNvSpPr>
            <p:nvPr/>
          </p:nvSpPr>
          <p:spPr bwMode="auto">
            <a:xfrm>
              <a:off x="3648" y="225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51" name="Oval 50">
              <a:extLst>
                <a:ext uri="{FF2B5EF4-FFF2-40B4-BE49-F238E27FC236}">
                  <a16:creationId xmlns:a16="http://schemas.microsoft.com/office/drawing/2014/main" id="{BDF59F2B-168B-5E4E-9BBE-D10F39B7F9DD}"/>
                </a:ext>
              </a:extLst>
            </p:cNvPr>
            <p:cNvSpPr>
              <a:spLocks noChangeArrowheads="1"/>
            </p:cNvSpPr>
            <p:nvPr/>
          </p:nvSpPr>
          <p:spPr bwMode="auto">
            <a:xfrm>
              <a:off x="3648"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52" name="Line 51">
              <a:extLst>
                <a:ext uri="{FF2B5EF4-FFF2-40B4-BE49-F238E27FC236}">
                  <a16:creationId xmlns:a16="http://schemas.microsoft.com/office/drawing/2014/main" id="{81A91546-1981-5647-8D8A-3A2D8B046278}"/>
                </a:ext>
              </a:extLst>
            </p:cNvPr>
            <p:cNvSpPr>
              <a:spLocks noChangeShapeType="1"/>
            </p:cNvSpPr>
            <p:nvPr/>
          </p:nvSpPr>
          <p:spPr bwMode="auto">
            <a:xfrm>
              <a:off x="3696" y="1776"/>
              <a:ext cx="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53" name="Freeform 52">
              <a:extLst>
                <a:ext uri="{FF2B5EF4-FFF2-40B4-BE49-F238E27FC236}">
                  <a16:creationId xmlns:a16="http://schemas.microsoft.com/office/drawing/2014/main" id="{E2A81D10-CBC3-DE47-A078-8996A2A71A39}"/>
                </a:ext>
              </a:extLst>
            </p:cNvPr>
            <p:cNvSpPr>
              <a:spLocks/>
            </p:cNvSpPr>
            <p:nvPr/>
          </p:nvSpPr>
          <p:spPr bwMode="auto">
            <a:xfrm>
              <a:off x="3696" y="1776"/>
              <a:ext cx="624" cy="528"/>
            </a:xfrm>
            <a:custGeom>
              <a:avLst/>
              <a:gdLst>
                <a:gd name="T0" fmla="*/ 0 w 624"/>
                <a:gd name="T1" fmla="*/ 20053 h 288"/>
                <a:gd name="T2" fmla="*/ 624 w 624"/>
                <a:gd name="T3" fmla="*/ 20053 h 288"/>
                <a:gd name="T4" fmla="*/ 624 w 624"/>
                <a:gd name="T5" fmla="*/ 0 h 288"/>
                <a:gd name="T6" fmla="*/ 0 60000 65536"/>
                <a:gd name="T7" fmla="*/ 0 60000 65536"/>
                <a:gd name="T8" fmla="*/ 0 60000 65536"/>
                <a:gd name="T9" fmla="*/ 0 w 624"/>
                <a:gd name="T10" fmla="*/ 0 h 288"/>
                <a:gd name="T11" fmla="*/ 624 w 624"/>
                <a:gd name="T12" fmla="*/ 288 h 288"/>
              </a:gdLst>
              <a:ahLst/>
              <a:cxnLst>
                <a:cxn ang="T6">
                  <a:pos x="T0" y="T1"/>
                </a:cxn>
                <a:cxn ang="T7">
                  <a:pos x="T2" y="T3"/>
                </a:cxn>
                <a:cxn ang="T8">
                  <a:pos x="T4" y="T5"/>
                </a:cxn>
              </a:cxnLst>
              <a:rect l="T9" t="T10" r="T11" b="T12"/>
              <a:pathLst>
                <a:path w="624" h="288">
                  <a:moveTo>
                    <a:pt x="0" y="288"/>
                  </a:moveTo>
                  <a:lnTo>
                    <a:pt x="624" y="288"/>
                  </a:lnTo>
                  <a:lnTo>
                    <a:pt x="624"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54" name="Oval 54">
              <a:extLst>
                <a:ext uri="{FF2B5EF4-FFF2-40B4-BE49-F238E27FC236}">
                  <a16:creationId xmlns:a16="http://schemas.microsoft.com/office/drawing/2014/main" id="{92EF0B27-CB63-B144-B13A-51AE352BAFBA}"/>
                </a:ext>
              </a:extLst>
            </p:cNvPr>
            <p:cNvSpPr>
              <a:spLocks noChangeArrowheads="1"/>
            </p:cNvSpPr>
            <p:nvPr/>
          </p:nvSpPr>
          <p:spPr bwMode="auto">
            <a:xfrm>
              <a:off x="3648" y="67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55" name="Oval 55">
              <a:extLst>
                <a:ext uri="{FF2B5EF4-FFF2-40B4-BE49-F238E27FC236}">
                  <a16:creationId xmlns:a16="http://schemas.microsoft.com/office/drawing/2014/main" id="{332B2E05-4AA1-744F-BAB7-D015D3DB3661}"/>
                </a:ext>
              </a:extLst>
            </p:cNvPr>
            <p:cNvSpPr>
              <a:spLocks noChangeArrowheads="1"/>
            </p:cNvSpPr>
            <p:nvPr/>
          </p:nvSpPr>
          <p:spPr bwMode="auto">
            <a:xfrm>
              <a:off x="4272" y="67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56" name="Text Box 58">
              <a:extLst>
                <a:ext uri="{FF2B5EF4-FFF2-40B4-BE49-F238E27FC236}">
                  <a16:creationId xmlns:a16="http://schemas.microsoft.com/office/drawing/2014/main" id="{5ED4DBAE-C8F0-3F4E-8A76-0033FC0A74CD}"/>
                </a:ext>
              </a:extLst>
            </p:cNvPr>
            <p:cNvSpPr txBox="1">
              <a:spLocks noChangeArrowheads="1"/>
            </p:cNvSpPr>
            <p:nvPr/>
          </p:nvSpPr>
          <p:spPr bwMode="auto">
            <a:xfrm>
              <a:off x="4320" y="1056"/>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e</a:t>
              </a:r>
            </a:p>
          </p:txBody>
        </p:sp>
        <p:sp>
          <p:nvSpPr>
            <p:cNvPr id="25657" name="Text Box 66">
              <a:extLst>
                <a:ext uri="{FF2B5EF4-FFF2-40B4-BE49-F238E27FC236}">
                  <a16:creationId xmlns:a16="http://schemas.microsoft.com/office/drawing/2014/main" id="{DD8D1F1C-E31F-5747-8C54-23E0AAE68183}"/>
                </a:ext>
              </a:extLst>
            </p:cNvPr>
            <p:cNvSpPr txBox="1">
              <a:spLocks noChangeArrowheads="1"/>
            </p:cNvSpPr>
            <p:nvPr/>
          </p:nvSpPr>
          <p:spPr bwMode="auto">
            <a:xfrm>
              <a:off x="4320" y="1776"/>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i</a:t>
              </a:r>
            </a:p>
          </p:txBody>
        </p:sp>
        <p:sp>
          <p:nvSpPr>
            <p:cNvPr id="25658" name="Text Box 67">
              <a:extLst>
                <a:ext uri="{FF2B5EF4-FFF2-40B4-BE49-F238E27FC236}">
                  <a16:creationId xmlns:a16="http://schemas.microsoft.com/office/drawing/2014/main" id="{94651810-DC10-F840-8CC2-5A881332C8BE}"/>
                </a:ext>
              </a:extLst>
            </p:cNvPr>
            <p:cNvSpPr txBox="1">
              <a:spLocks noChangeArrowheads="1"/>
            </p:cNvSpPr>
            <p:nvPr/>
          </p:nvSpPr>
          <p:spPr bwMode="auto">
            <a:xfrm>
              <a:off x="4944" y="177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j</a:t>
              </a:r>
            </a:p>
          </p:txBody>
        </p:sp>
        <p:sp>
          <p:nvSpPr>
            <p:cNvPr id="25659" name="Text Box 68">
              <a:extLst>
                <a:ext uri="{FF2B5EF4-FFF2-40B4-BE49-F238E27FC236}">
                  <a16:creationId xmlns:a16="http://schemas.microsoft.com/office/drawing/2014/main" id="{ED91F60F-A0A2-9644-949F-000767E4FBAF}"/>
                </a:ext>
              </a:extLst>
            </p:cNvPr>
            <p:cNvSpPr txBox="1">
              <a:spLocks noChangeArrowheads="1"/>
            </p:cNvSpPr>
            <p:nvPr/>
          </p:nvSpPr>
          <p:spPr bwMode="auto">
            <a:xfrm>
              <a:off x="4944" y="1056"/>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f</a:t>
              </a:r>
            </a:p>
          </p:txBody>
        </p:sp>
        <p:sp>
          <p:nvSpPr>
            <p:cNvPr id="25660" name="Oval 96">
              <a:extLst>
                <a:ext uri="{FF2B5EF4-FFF2-40B4-BE49-F238E27FC236}">
                  <a16:creationId xmlns:a16="http://schemas.microsoft.com/office/drawing/2014/main" id="{86BA5D4A-5B66-B649-A077-A0B391FAFB34}"/>
                </a:ext>
              </a:extLst>
            </p:cNvPr>
            <p:cNvSpPr>
              <a:spLocks noChangeArrowheads="1"/>
            </p:cNvSpPr>
            <p:nvPr/>
          </p:nvSpPr>
          <p:spPr bwMode="auto">
            <a:xfrm>
              <a:off x="4272"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61" name="Oval 97">
              <a:extLst>
                <a:ext uri="{FF2B5EF4-FFF2-40B4-BE49-F238E27FC236}">
                  <a16:creationId xmlns:a16="http://schemas.microsoft.com/office/drawing/2014/main" id="{163E9ED8-1766-6B47-96CE-78E577E0D8EC}"/>
                </a:ext>
              </a:extLst>
            </p:cNvPr>
            <p:cNvSpPr>
              <a:spLocks noChangeArrowheads="1"/>
            </p:cNvSpPr>
            <p:nvPr/>
          </p:nvSpPr>
          <p:spPr bwMode="auto">
            <a:xfrm>
              <a:off x="4272" y="1200"/>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62" name="Oval 98">
              <a:extLst>
                <a:ext uri="{FF2B5EF4-FFF2-40B4-BE49-F238E27FC236}">
                  <a16:creationId xmlns:a16="http://schemas.microsoft.com/office/drawing/2014/main" id="{1AB34DDB-8B3E-B042-90F4-72B3CCA24104}"/>
                </a:ext>
              </a:extLst>
            </p:cNvPr>
            <p:cNvSpPr>
              <a:spLocks noChangeArrowheads="1"/>
            </p:cNvSpPr>
            <p:nvPr/>
          </p:nvSpPr>
          <p:spPr bwMode="auto">
            <a:xfrm>
              <a:off x="4272"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63" name="Oval 99">
              <a:extLst>
                <a:ext uri="{FF2B5EF4-FFF2-40B4-BE49-F238E27FC236}">
                  <a16:creationId xmlns:a16="http://schemas.microsoft.com/office/drawing/2014/main" id="{51ECBEEA-7B3F-2A45-AA62-A2173B64D68C}"/>
                </a:ext>
              </a:extLst>
            </p:cNvPr>
            <p:cNvSpPr>
              <a:spLocks noChangeArrowheads="1"/>
            </p:cNvSpPr>
            <p:nvPr/>
          </p:nvSpPr>
          <p:spPr bwMode="auto">
            <a:xfrm>
              <a:off x="4896"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64" name="Line 100">
              <a:extLst>
                <a:ext uri="{FF2B5EF4-FFF2-40B4-BE49-F238E27FC236}">
                  <a16:creationId xmlns:a16="http://schemas.microsoft.com/office/drawing/2014/main" id="{48C21D7A-9324-E442-80D7-C94F1E564A93}"/>
                </a:ext>
              </a:extLst>
            </p:cNvPr>
            <p:cNvSpPr>
              <a:spLocks noChangeShapeType="1"/>
            </p:cNvSpPr>
            <p:nvPr/>
          </p:nvSpPr>
          <p:spPr bwMode="auto">
            <a:xfrm>
              <a:off x="4320" y="1776"/>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5" name="Line 101">
              <a:extLst>
                <a:ext uri="{FF2B5EF4-FFF2-40B4-BE49-F238E27FC236}">
                  <a16:creationId xmlns:a16="http://schemas.microsoft.com/office/drawing/2014/main" id="{9493FA1F-2A29-624C-876B-764966C6F405}"/>
                </a:ext>
              </a:extLst>
            </p:cNvPr>
            <p:cNvSpPr>
              <a:spLocks noChangeShapeType="1"/>
            </p:cNvSpPr>
            <p:nvPr/>
          </p:nvSpPr>
          <p:spPr bwMode="auto">
            <a:xfrm>
              <a:off x="4320" y="124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6" name="Line 102">
              <a:extLst>
                <a:ext uri="{FF2B5EF4-FFF2-40B4-BE49-F238E27FC236}">
                  <a16:creationId xmlns:a16="http://schemas.microsoft.com/office/drawing/2014/main" id="{1EC4D223-14F3-6C47-BF04-53E1ECB2AD18}"/>
                </a:ext>
              </a:extLst>
            </p:cNvPr>
            <p:cNvSpPr>
              <a:spLocks noChangeShapeType="1"/>
            </p:cNvSpPr>
            <p:nvPr/>
          </p:nvSpPr>
          <p:spPr bwMode="auto">
            <a:xfrm>
              <a:off x="4944" y="1248"/>
              <a:ext cx="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7" name="Line 103">
              <a:extLst>
                <a:ext uri="{FF2B5EF4-FFF2-40B4-BE49-F238E27FC236}">
                  <a16:creationId xmlns:a16="http://schemas.microsoft.com/office/drawing/2014/main" id="{FAD754C2-4B2A-D84A-AA35-67CF4B7AC05F}"/>
                </a:ext>
              </a:extLst>
            </p:cNvPr>
            <p:cNvSpPr>
              <a:spLocks noChangeShapeType="1"/>
            </p:cNvSpPr>
            <p:nvPr/>
          </p:nvSpPr>
          <p:spPr bwMode="auto">
            <a:xfrm>
              <a:off x="4320" y="720"/>
              <a:ext cx="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8" name="Line 104">
              <a:extLst>
                <a:ext uri="{FF2B5EF4-FFF2-40B4-BE49-F238E27FC236}">
                  <a16:creationId xmlns:a16="http://schemas.microsoft.com/office/drawing/2014/main" id="{A5451C54-4EF2-3B4E-A469-CA375A8EE0C0}"/>
                </a:ext>
              </a:extLst>
            </p:cNvPr>
            <p:cNvSpPr>
              <a:spLocks noChangeShapeType="1"/>
            </p:cNvSpPr>
            <p:nvPr/>
          </p:nvSpPr>
          <p:spPr bwMode="auto">
            <a:xfrm>
              <a:off x="3696" y="720"/>
              <a:ext cx="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9" name="Line 105">
              <a:extLst>
                <a:ext uri="{FF2B5EF4-FFF2-40B4-BE49-F238E27FC236}">
                  <a16:creationId xmlns:a16="http://schemas.microsoft.com/office/drawing/2014/main" id="{F98B5B5C-204C-354E-AA24-B67F6E1D04E4}"/>
                </a:ext>
              </a:extLst>
            </p:cNvPr>
            <p:cNvSpPr>
              <a:spLocks noChangeShapeType="1"/>
            </p:cNvSpPr>
            <p:nvPr/>
          </p:nvSpPr>
          <p:spPr bwMode="auto">
            <a:xfrm>
              <a:off x="3696" y="1248"/>
              <a:ext cx="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0" name="Line 106">
              <a:extLst>
                <a:ext uri="{FF2B5EF4-FFF2-40B4-BE49-F238E27FC236}">
                  <a16:creationId xmlns:a16="http://schemas.microsoft.com/office/drawing/2014/main" id="{862B6888-731B-1D4D-8956-439E485D8F4F}"/>
                </a:ext>
              </a:extLst>
            </p:cNvPr>
            <p:cNvSpPr>
              <a:spLocks noChangeShapeType="1"/>
            </p:cNvSpPr>
            <p:nvPr/>
          </p:nvSpPr>
          <p:spPr bwMode="auto">
            <a:xfrm>
              <a:off x="3696" y="720"/>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602" name="Rectangle 2">
            <a:extLst>
              <a:ext uri="{FF2B5EF4-FFF2-40B4-BE49-F238E27FC236}">
                <a16:creationId xmlns:a16="http://schemas.microsoft.com/office/drawing/2014/main" id="{36BD801A-FC13-1B43-8BDD-1E3368195FAD}"/>
              </a:ext>
            </a:extLst>
          </p:cNvPr>
          <p:cNvSpPr>
            <a:spLocks noGrp="1" noChangeArrowheads="1"/>
          </p:cNvSpPr>
          <p:nvPr>
            <p:ph type="title"/>
          </p:nvPr>
        </p:nvSpPr>
        <p:spPr>
          <a:xfrm>
            <a:off x="1981200" y="152401"/>
            <a:ext cx="8229600" cy="715963"/>
          </a:xfrm>
        </p:spPr>
        <p:txBody>
          <a:bodyPr/>
          <a:lstStyle/>
          <a:p>
            <a:pPr eaLnBrk="1" hangingPunct="1"/>
            <a:r>
              <a:rPr lang="en-US" altLang="en-US" b="1" i="1">
                <a:latin typeface="Times New Roman" panose="02020603050405020304" pitchFamily="18" charset="0"/>
                <a:ea typeface="ＭＳ Ｐゴシック" panose="020B0600070205080204" pitchFamily="34" charset="-128"/>
              </a:rPr>
              <a:t>Proof</a:t>
            </a:r>
          </a:p>
        </p:txBody>
      </p:sp>
      <p:sp>
        <p:nvSpPr>
          <p:cNvPr id="25603" name="Text Box 70">
            <a:extLst>
              <a:ext uri="{FF2B5EF4-FFF2-40B4-BE49-F238E27FC236}">
                <a16:creationId xmlns:a16="http://schemas.microsoft.com/office/drawing/2014/main" id="{1D668E77-A816-E64A-9936-9560616B894C}"/>
              </a:ext>
            </a:extLst>
          </p:cNvPr>
          <p:cNvSpPr txBox="1">
            <a:spLocks noChangeArrowheads="1"/>
          </p:cNvSpPr>
          <p:nvPr/>
        </p:nvSpPr>
        <p:spPr bwMode="auto">
          <a:xfrm>
            <a:off x="2667000" y="4419601"/>
            <a:ext cx="67818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1800">
                <a:latin typeface="Times New Roman" panose="02020603050405020304" pitchFamily="18" charset="0"/>
              </a:rPr>
              <a:t>   </a:t>
            </a:r>
            <a:r>
              <a:rPr lang="en-US" altLang="en-US" sz="2000">
                <a:latin typeface="Times New Roman" panose="02020603050405020304" pitchFamily="18" charset="0"/>
              </a:rPr>
              <a:t>Pick any point on </a:t>
            </a:r>
            <a:r>
              <a:rPr lang="en-US" altLang="en-US" sz="2000" i="1">
                <a:latin typeface="Times New Roman" panose="02020603050405020304" pitchFamily="18" charset="0"/>
              </a:rPr>
              <a:t>G</a:t>
            </a:r>
            <a:r>
              <a:rPr lang="en-US" altLang="en-US" sz="2000">
                <a:latin typeface="Times New Roman" panose="02020603050405020304" pitchFamily="18" charset="0"/>
              </a:rPr>
              <a:t>. ( e. g. starting from a)</a:t>
            </a:r>
          </a:p>
          <a:p>
            <a:pPr eaLnBrk="1" hangingPunct="1">
              <a:spcBef>
                <a:spcPct val="50000"/>
              </a:spcBef>
            </a:pPr>
            <a:r>
              <a:rPr lang="en-US" altLang="en-US" sz="1600">
                <a:latin typeface="Times New Roman" panose="02020603050405020304" pitchFamily="18" charset="0"/>
              </a:rPr>
              <a:t>   </a:t>
            </a:r>
            <a:r>
              <a:rPr lang="en-US" altLang="en-US" sz="2000">
                <a:latin typeface="Times New Roman" panose="02020603050405020304" pitchFamily="18" charset="0"/>
              </a:rPr>
              <a:t>Since all vertices have an even degree, we are not forced to stop until we complete the cycle. (get back to the starting point)</a:t>
            </a:r>
          </a:p>
        </p:txBody>
      </p:sp>
      <p:sp>
        <p:nvSpPr>
          <p:cNvPr id="25604" name="Text Box 73">
            <a:extLst>
              <a:ext uri="{FF2B5EF4-FFF2-40B4-BE49-F238E27FC236}">
                <a16:creationId xmlns:a16="http://schemas.microsoft.com/office/drawing/2014/main" id="{338DDD88-D450-9B44-B905-496858BCAA36}"/>
              </a:ext>
            </a:extLst>
          </p:cNvPr>
          <p:cNvSpPr txBox="1">
            <a:spLocks noChangeArrowheads="1"/>
          </p:cNvSpPr>
          <p:nvPr/>
        </p:nvSpPr>
        <p:spPr bwMode="auto">
          <a:xfrm>
            <a:off x="2590800" y="1066801"/>
            <a:ext cx="7086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a:latin typeface="Times New Roman" panose="02020603050405020304" pitchFamily="18" charset="0"/>
              </a:rPr>
              <a:t>All even and connected		  Euler cycle		</a:t>
            </a:r>
            <a:endParaRPr lang="en-US" altLang="en-US" sz="1800">
              <a:latin typeface="Times New Roman" panose="02020603050405020304" pitchFamily="18" charset="0"/>
            </a:endParaRPr>
          </a:p>
        </p:txBody>
      </p:sp>
      <p:sp>
        <p:nvSpPr>
          <p:cNvPr id="25605" name="AutoShape 74">
            <a:extLst>
              <a:ext uri="{FF2B5EF4-FFF2-40B4-BE49-F238E27FC236}">
                <a16:creationId xmlns:a16="http://schemas.microsoft.com/office/drawing/2014/main" id="{D5B16E05-9EB4-8A43-8CF6-54D6B984841A}"/>
              </a:ext>
            </a:extLst>
          </p:cNvPr>
          <p:cNvSpPr>
            <a:spLocks noChangeArrowheads="1"/>
          </p:cNvSpPr>
          <p:nvPr/>
        </p:nvSpPr>
        <p:spPr bwMode="auto">
          <a:xfrm>
            <a:off x="5181600" y="1219200"/>
            <a:ext cx="1066800" cy="76200"/>
          </a:xfrm>
          <a:prstGeom prst="rightArrow">
            <a:avLst>
              <a:gd name="adj1" fmla="val 50000"/>
              <a:gd name="adj2" fmla="val 350000"/>
            </a:avLst>
          </a:prstGeom>
          <a:solidFill>
            <a:schemeClr val="bg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endParaRPr lang="en-US" altLang="en-US" sz="1800" b="1">
              <a:latin typeface="Times New Roman" panose="02020603050405020304" pitchFamily="18" charset="0"/>
            </a:endParaRPr>
          </a:p>
        </p:txBody>
      </p:sp>
      <p:grpSp>
        <p:nvGrpSpPr>
          <p:cNvPr id="25606" name="Group 121">
            <a:extLst>
              <a:ext uri="{FF2B5EF4-FFF2-40B4-BE49-F238E27FC236}">
                <a16:creationId xmlns:a16="http://schemas.microsoft.com/office/drawing/2014/main" id="{DA9890BD-CA0C-6446-ABCE-BA54DE8434C2}"/>
              </a:ext>
            </a:extLst>
          </p:cNvPr>
          <p:cNvGrpSpPr>
            <a:grpSpLocks/>
          </p:cNvGrpSpPr>
          <p:nvPr/>
        </p:nvGrpSpPr>
        <p:grpSpPr bwMode="auto">
          <a:xfrm>
            <a:off x="3048000" y="1524000"/>
            <a:ext cx="3505200" cy="2895600"/>
            <a:chOff x="960" y="960"/>
            <a:chExt cx="2208" cy="1824"/>
          </a:xfrm>
        </p:grpSpPr>
        <p:sp>
          <p:nvSpPr>
            <p:cNvPr id="25607" name="Rectangle 4">
              <a:extLst>
                <a:ext uri="{FF2B5EF4-FFF2-40B4-BE49-F238E27FC236}">
                  <a16:creationId xmlns:a16="http://schemas.microsoft.com/office/drawing/2014/main" id="{C299C2BB-5B93-A64D-AD92-95197251A5A4}"/>
                </a:ext>
              </a:extLst>
            </p:cNvPr>
            <p:cNvSpPr>
              <a:spLocks noChangeArrowheads="1"/>
            </p:cNvSpPr>
            <p:nvPr/>
          </p:nvSpPr>
          <p:spPr bwMode="auto">
            <a:xfrm>
              <a:off x="1248" y="1584"/>
              <a:ext cx="1872" cy="52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08" name="Text Box 56">
              <a:extLst>
                <a:ext uri="{FF2B5EF4-FFF2-40B4-BE49-F238E27FC236}">
                  <a16:creationId xmlns:a16="http://schemas.microsoft.com/office/drawing/2014/main" id="{1C020DE1-1B24-134A-B41D-45C2550CE95C}"/>
                </a:ext>
              </a:extLst>
            </p:cNvPr>
            <p:cNvSpPr txBox="1">
              <a:spLocks noChangeArrowheads="1"/>
            </p:cNvSpPr>
            <p:nvPr/>
          </p:nvSpPr>
          <p:spPr bwMode="auto">
            <a:xfrm>
              <a:off x="1632" y="960"/>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a</a:t>
              </a:r>
            </a:p>
          </p:txBody>
        </p:sp>
        <p:sp>
          <p:nvSpPr>
            <p:cNvPr id="25609" name="Text Box 57">
              <a:extLst>
                <a:ext uri="{FF2B5EF4-FFF2-40B4-BE49-F238E27FC236}">
                  <a16:creationId xmlns:a16="http://schemas.microsoft.com/office/drawing/2014/main" id="{A4B5DA08-C9AB-7F44-9F15-D232BA8AB8C4}"/>
                </a:ext>
              </a:extLst>
            </p:cNvPr>
            <p:cNvSpPr txBox="1">
              <a:spLocks noChangeArrowheads="1"/>
            </p:cNvSpPr>
            <p:nvPr/>
          </p:nvSpPr>
          <p:spPr bwMode="auto">
            <a:xfrm>
              <a:off x="2544" y="960"/>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b</a:t>
              </a:r>
            </a:p>
          </p:txBody>
        </p:sp>
        <p:sp>
          <p:nvSpPr>
            <p:cNvPr id="25610" name="Text Box 64">
              <a:extLst>
                <a:ext uri="{FF2B5EF4-FFF2-40B4-BE49-F238E27FC236}">
                  <a16:creationId xmlns:a16="http://schemas.microsoft.com/office/drawing/2014/main" id="{8FA7F544-E204-C044-8A65-BE00B1C7F108}"/>
                </a:ext>
              </a:extLst>
            </p:cNvPr>
            <p:cNvSpPr txBox="1">
              <a:spLocks noChangeArrowheads="1"/>
            </p:cNvSpPr>
            <p:nvPr/>
          </p:nvSpPr>
          <p:spPr bwMode="auto">
            <a:xfrm>
              <a:off x="1632" y="2592"/>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k</a:t>
              </a:r>
            </a:p>
          </p:txBody>
        </p:sp>
        <p:sp>
          <p:nvSpPr>
            <p:cNvPr id="25611" name="Text Box 65">
              <a:extLst>
                <a:ext uri="{FF2B5EF4-FFF2-40B4-BE49-F238E27FC236}">
                  <a16:creationId xmlns:a16="http://schemas.microsoft.com/office/drawing/2014/main" id="{4CAD3673-F184-7C46-8B2E-EB4C2C986E86}"/>
                </a:ext>
              </a:extLst>
            </p:cNvPr>
            <p:cNvSpPr txBox="1">
              <a:spLocks noChangeArrowheads="1"/>
            </p:cNvSpPr>
            <p:nvPr/>
          </p:nvSpPr>
          <p:spPr bwMode="auto">
            <a:xfrm>
              <a:off x="2496" y="2592"/>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l</a:t>
              </a:r>
            </a:p>
          </p:txBody>
        </p:sp>
        <p:sp>
          <p:nvSpPr>
            <p:cNvPr id="25612" name="Oval 41">
              <a:extLst>
                <a:ext uri="{FF2B5EF4-FFF2-40B4-BE49-F238E27FC236}">
                  <a16:creationId xmlns:a16="http://schemas.microsoft.com/office/drawing/2014/main" id="{8C7D84F7-C384-9E4E-A206-B1F1BD9EEF23}"/>
                </a:ext>
              </a:extLst>
            </p:cNvPr>
            <p:cNvSpPr>
              <a:spLocks noChangeArrowheads="1"/>
            </p:cNvSpPr>
            <p:nvPr/>
          </p:nvSpPr>
          <p:spPr bwMode="auto">
            <a:xfrm>
              <a:off x="1200" y="153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13" name="Oval 45">
              <a:extLst>
                <a:ext uri="{FF2B5EF4-FFF2-40B4-BE49-F238E27FC236}">
                  <a16:creationId xmlns:a16="http://schemas.microsoft.com/office/drawing/2014/main" id="{DCF31CFD-F0A0-DF4E-BEBE-6ADB9D016ABD}"/>
                </a:ext>
              </a:extLst>
            </p:cNvPr>
            <p:cNvSpPr>
              <a:spLocks noChangeArrowheads="1"/>
            </p:cNvSpPr>
            <p:nvPr/>
          </p:nvSpPr>
          <p:spPr bwMode="auto">
            <a:xfrm>
              <a:off x="1200"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14" name="Text Box 59">
              <a:extLst>
                <a:ext uri="{FF2B5EF4-FFF2-40B4-BE49-F238E27FC236}">
                  <a16:creationId xmlns:a16="http://schemas.microsoft.com/office/drawing/2014/main" id="{F4A5906D-D671-3D44-B130-686EFF53EAA6}"/>
                </a:ext>
              </a:extLst>
            </p:cNvPr>
            <p:cNvSpPr txBox="1">
              <a:spLocks noChangeArrowheads="1"/>
            </p:cNvSpPr>
            <p:nvPr/>
          </p:nvSpPr>
          <p:spPr bwMode="auto">
            <a:xfrm>
              <a:off x="1632" y="163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d</a:t>
              </a:r>
            </a:p>
          </p:txBody>
        </p:sp>
        <p:sp>
          <p:nvSpPr>
            <p:cNvPr id="25615" name="Text Box 60">
              <a:extLst>
                <a:ext uri="{FF2B5EF4-FFF2-40B4-BE49-F238E27FC236}">
                  <a16:creationId xmlns:a16="http://schemas.microsoft.com/office/drawing/2014/main" id="{DBECBF9B-3FD9-A249-8392-DF07EF593CB5}"/>
                </a:ext>
              </a:extLst>
            </p:cNvPr>
            <p:cNvSpPr txBox="1">
              <a:spLocks noChangeArrowheads="1"/>
            </p:cNvSpPr>
            <p:nvPr/>
          </p:nvSpPr>
          <p:spPr bwMode="auto">
            <a:xfrm>
              <a:off x="1008" y="1536"/>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c</a:t>
              </a:r>
            </a:p>
          </p:txBody>
        </p:sp>
        <p:sp>
          <p:nvSpPr>
            <p:cNvPr id="25616" name="Text Box 61">
              <a:extLst>
                <a:ext uri="{FF2B5EF4-FFF2-40B4-BE49-F238E27FC236}">
                  <a16:creationId xmlns:a16="http://schemas.microsoft.com/office/drawing/2014/main" id="{FDF51485-B0D2-5148-9995-6659B58F15D5}"/>
                </a:ext>
              </a:extLst>
            </p:cNvPr>
            <p:cNvSpPr txBox="1">
              <a:spLocks noChangeArrowheads="1"/>
            </p:cNvSpPr>
            <p:nvPr/>
          </p:nvSpPr>
          <p:spPr bwMode="auto">
            <a:xfrm>
              <a:off x="960" y="2064"/>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g</a:t>
              </a:r>
            </a:p>
          </p:txBody>
        </p:sp>
        <p:sp>
          <p:nvSpPr>
            <p:cNvPr id="25617" name="Text Box 63">
              <a:extLst>
                <a:ext uri="{FF2B5EF4-FFF2-40B4-BE49-F238E27FC236}">
                  <a16:creationId xmlns:a16="http://schemas.microsoft.com/office/drawing/2014/main" id="{7392056E-0661-F94E-8EB3-AE29968FF6F3}"/>
                </a:ext>
              </a:extLst>
            </p:cNvPr>
            <p:cNvSpPr txBox="1">
              <a:spLocks noChangeArrowheads="1"/>
            </p:cNvSpPr>
            <p:nvPr/>
          </p:nvSpPr>
          <p:spPr bwMode="auto">
            <a:xfrm>
              <a:off x="1632" y="2112"/>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h</a:t>
              </a:r>
            </a:p>
          </p:txBody>
        </p:sp>
        <p:sp>
          <p:nvSpPr>
            <p:cNvPr id="25618" name="Line 78">
              <a:extLst>
                <a:ext uri="{FF2B5EF4-FFF2-40B4-BE49-F238E27FC236}">
                  <a16:creationId xmlns:a16="http://schemas.microsoft.com/office/drawing/2014/main" id="{22BCC80B-C495-4C46-9BB1-50FB61DD577B}"/>
                </a:ext>
              </a:extLst>
            </p:cNvPr>
            <p:cNvSpPr>
              <a:spLocks noChangeShapeType="1"/>
            </p:cNvSpPr>
            <p:nvPr/>
          </p:nvSpPr>
          <p:spPr bwMode="auto">
            <a:xfrm>
              <a:off x="1872" y="1056"/>
              <a:ext cx="624"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9" name="Line 79">
              <a:extLst>
                <a:ext uri="{FF2B5EF4-FFF2-40B4-BE49-F238E27FC236}">
                  <a16:creationId xmlns:a16="http://schemas.microsoft.com/office/drawing/2014/main" id="{EBC4A594-3A5D-A04B-80FD-E407852C5A82}"/>
                </a:ext>
              </a:extLst>
            </p:cNvPr>
            <p:cNvSpPr>
              <a:spLocks noChangeShapeType="1"/>
            </p:cNvSpPr>
            <p:nvPr/>
          </p:nvSpPr>
          <p:spPr bwMode="auto">
            <a:xfrm>
              <a:off x="2496" y="1056"/>
              <a:ext cx="0" cy="52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0" name="Line 80">
              <a:extLst>
                <a:ext uri="{FF2B5EF4-FFF2-40B4-BE49-F238E27FC236}">
                  <a16:creationId xmlns:a16="http://schemas.microsoft.com/office/drawing/2014/main" id="{9F7502C2-0E99-7449-987D-7403A993C0C8}"/>
                </a:ext>
              </a:extLst>
            </p:cNvPr>
            <p:cNvSpPr>
              <a:spLocks noChangeShapeType="1"/>
            </p:cNvSpPr>
            <p:nvPr/>
          </p:nvSpPr>
          <p:spPr bwMode="auto">
            <a:xfrm>
              <a:off x="3120" y="1584"/>
              <a:ext cx="0" cy="52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1" name="Line 81">
              <a:extLst>
                <a:ext uri="{FF2B5EF4-FFF2-40B4-BE49-F238E27FC236}">
                  <a16:creationId xmlns:a16="http://schemas.microsoft.com/office/drawing/2014/main" id="{E972681C-E7F9-7840-9C48-93A030B73311}"/>
                </a:ext>
              </a:extLst>
            </p:cNvPr>
            <p:cNvSpPr>
              <a:spLocks noChangeShapeType="1"/>
            </p:cNvSpPr>
            <p:nvPr/>
          </p:nvSpPr>
          <p:spPr bwMode="auto">
            <a:xfrm>
              <a:off x="2496" y="2112"/>
              <a:ext cx="0" cy="52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2" name="Line 82">
              <a:extLst>
                <a:ext uri="{FF2B5EF4-FFF2-40B4-BE49-F238E27FC236}">
                  <a16:creationId xmlns:a16="http://schemas.microsoft.com/office/drawing/2014/main" id="{D8E158A6-4F1D-FF45-BD68-D2A030A8F380}"/>
                </a:ext>
              </a:extLst>
            </p:cNvPr>
            <p:cNvSpPr>
              <a:spLocks noChangeShapeType="1"/>
            </p:cNvSpPr>
            <p:nvPr/>
          </p:nvSpPr>
          <p:spPr bwMode="auto">
            <a:xfrm>
              <a:off x="1872" y="2208"/>
              <a:ext cx="0" cy="43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3" name="Line 83">
              <a:extLst>
                <a:ext uri="{FF2B5EF4-FFF2-40B4-BE49-F238E27FC236}">
                  <a16:creationId xmlns:a16="http://schemas.microsoft.com/office/drawing/2014/main" id="{FFA4DD1D-6A78-8245-9969-F8900E009E87}"/>
                </a:ext>
              </a:extLst>
            </p:cNvPr>
            <p:cNvSpPr>
              <a:spLocks noChangeShapeType="1"/>
            </p:cNvSpPr>
            <p:nvPr/>
          </p:nvSpPr>
          <p:spPr bwMode="auto">
            <a:xfrm>
              <a:off x="1872" y="1680"/>
              <a:ext cx="0" cy="52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4" name="Line 84">
              <a:extLst>
                <a:ext uri="{FF2B5EF4-FFF2-40B4-BE49-F238E27FC236}">
                  <a16:creationId xmlns:a16="http://schemas.microsoft.com/office/drawing/2014/main" id="{381502CE-7C3B-444F-809E-C313639E56ED}"/>
                </a:ext>
              </a:extLst>
            </p:cNvPr>
            <p:cNvSpPr>
              <a:spLocks noChangeShapeType="1"/>
            </p:cNvSpPr>
            <p:nvPr/>
          </p:nvSpPr>
          <p:spPr bwMode="auto">
            <a:xfrm>
              <a:off x="1872" y="1056"/>
              <a:ext cx="0" cy="6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5" name="Line 85">
              <a:extLst>
                <a:ext uri="{FF2B5EF4-FFF2-40B4-BE49-F238E27FC236}">
                  <a16:creationId xmlns:a16="http://schemas.microsoft.com/office/drawing/2014/main" id="{DB8FDF74-BDE5-6D46-AF0B-96D52A562B96}"/>
                </a:ext>
              </a:extLst>
            </p:cNvPr>
            <p:cNvSpPr>
              <a:spLocks noChangeShapeType="1"/>
            </p:cNvSpPr>
            <p:nvPr/>
          </p:nvSpPr>
          <p:spPr bwMode="auto">
            <a:xfrm>
              <a:off x="2496" y="1584"/>
              <a:ext cx="624"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6" name="Line 86">
              <a:extLst>
                <a:ext uri="{FF2B5EF4-FFF2-40B4-BE49-F238E27FC236}">
                  <a16:creationId xmlns:a16="http://schemas.microsoft.com/office/drawing/2014/main" id="{B167F8F7-7041-F444-AA8A-7504739B441B}"/>
                </a:ext>
              </a:extLst>
            </p:cNvPr>
            <p:cNvSpPr>
              <a:spLocks noChangeShapeType="1"/>
            </p:cNvSpPr>
            <p:nvPr/>
          </p:nvSpPr>
          <p:spPr bwMode="auto">
            <a:xfrm>
              <a:off x="2496" y="2112"/>
              <a:ext cx="624"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7" name="Line 87">
              <a:extLst>
                <a:ext uri="{FF2B5EF4-FFF2-40B4-BE49-F238E27FC236}">
                  <a16:creationId xmlns:a16="http://schemas.microsoft.com/office/drawing/2014/main" id="{1204D571-6162-4F4F-8360-2C91441E5C43}"/>
                </a:ext>
              </a:extLst>
            </p:cNvPr>
            <p:cNvSpPr>
              <a:spLocks noChangeShapeType="1"/>
            </p:cNvSpPr>
            <p:nvPr/>
          </p:nvSpPr>
          <p:spPr bwMode="auto">
            <a:xfrm>
              <a:off x="1872" y="2640"/>
              <a:ext cx="624"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Line 88">
              <a:extLst>
                <a:ext uri="{FF2B5EF4-FFF2-40B4-BE49-F238E27FC236}">
                  <a16:creationId xmlns:a16="http://schemas.microsoft.com/office/drawing/2014/main" id="{4B3290B4-74CC-0C45-91BF-91D0DB9C7B6F}"/>
                </a:ext>
              </a:extLst>
            </p:cNvPr>
            <p:cNvSpPr>
              <a:spLocks noChangeShapeType="1"/>
            </p:cNvSpPr>
            <p:nvPr/>
          </p:nvSpPr>
          <p:spPr bwMode="auto">
            <a:xfrm>
              <a:off x="1824" y="1584"/>
              <a:ext cx="67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9" name="Line 89">
              <a:extLst>
                <a:ext uri="{FF2B5EF4-FFF2-40B4-BE49-F238E27FC236}">
                  <a16:creationId xmlns:a16="http://schemas.microsoft.com/office/drawing/2014/main" id="{346C128F-F913-7043-AEA7-877A79A646F5}"/>
                </a:ext>
              </a:extLst>
            </p:cNvPr>
            <p:cNvSpPr>
              <a:spLocks noChangeShapeType="1"/>
            </p:cNvSpPr>
            <p:nvPr/>
          </p:nvSpPr>
          <p:spPr bwMode="auto">
            <a:xfrm>
              <a:off x="1248" y="1584"/>
              <a:ext cx="57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0" name="Line 90">
              <a:extLst>
                <a:ext uri="{FF2B5EF4-FFF2-40B4-BE49-F238E27FC236}">
                  <a16:creationId xmlns:a16="http://schemas.microsoft.com/office/drawing/2014/main" id="{A994EC5F-9800-EA46-A054-FD8650835889}"/>
                </a:ext>
              </a:extLst>
            </p:cNvPr>
            <p:cNvSpPr>
              <a:spLocks noChangeShapeType="1"/>
            </p:cNvSpPr>
            <p:nvPr/>
          </p:nvSpPr>
          <p:spPr bwMode="auto">
            <a:xfrm>
              <a:off x="1248" y="2112"/>
              <a:ext cx="57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1" name="Line 91">
              <a:extLst>
                <a:ext uri="{FF2B5EF4-FFF2-40B4-BE49-F238E27FC236}">
                  <a16:creationId xmlns:a16="http://schemas.microsoft.com/office/drawing/2014/main" id="{5C03C157-65AE-4440-92E3-FB22AAE8247D}"/>
                </a:ext>
              </a:extLst>
            </p:cNvPr>
            <p:cNvSpPr>
              <a:spLocks noChangeShapeType="1"/>
            </p:cNvSpPr>
            <p:nvPr/>
          </p:nvSpPr>
          <p:spPr bwMode="auto">
            <a:xfrm>
              <a:off x="1824" y="2112"/>
              <a:ext cx="67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2" name="Line 92">
              <a:extLst>
                <a:ext uri="{FF2B5EF4-FFF2-40B4-BE49-F238E27FC236}">
                  <a16:creationId xmlns:a16="http://schemas.microsoft.com/office/drawing/2014/main" id="{9AF838BE-479C-AE45-A06B-0133D31DCDBB}"/>
                </a:ext>
              </a:extLst>
            </p:cNvPr>
            <p:cNvSpPr>
              <a:spLocks noChangeShapeType="1"/>
            </p:cNvSpPr>
            <p:nvPr/>
          </p:nvSpPr>
          <p:spPr bwMode="auto">
            <a:xfrm flipV="1">
              <a:off x="2496" y="1584"/>
              <a:ext cx="0" cy="52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3" name="Line 93">
              <a:extLst>
                <a:ext uri="{FF2B5EF4-FFF2-40B4-BE49-F238E27FC236}">
                  <a16:creationId xmlns:a16="http://schemas.microsoft.com/office/drawing/2014/main" id="{B947AE24-7783-9F4C-AC5A-8938BDF15EB8}"/>
                </a:ext>
              </a:extLst>
            </p:cNvPr>
            <p:cNvSpPr>
              <a:spLocks noChangeShapeType="1"/>
            </p:cNvSpPr>
            <p:nvPr/>
          </p:nvSpPr>
          <p:spPr bwMode="auto">
            <a:xfrm flipV="1">
              <a:off x="1248" y="1584"/>
              <a:ext cx="0" cy="52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4" name="Oval 108">
              <a:extLst>
                <a:ext uri="{FF2B5EF4-FFF2-40B4-BE49-F238E27FC236}">
                  <a16:creationId xmlns:a16="http://schemas.microsoft.com/office/drawing/2014/main" id="{40700B02-B6EB-2847-AFD9-0A093B155B9A}"/>
                </a:ext>
              </a:extLst>
            </p:cNvPr>
            <p:cNvSpPr>
              <a:spLocks noChangeArrowheads="1"/>
            </p:cNvSpPr>
            <p:nvPr/>
          </p:nvSpPr>
          <p:spPr bwMode="auto">
            <a:xfrm>
              <a:off x="1200"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35" name="Oval 109">
              <a:extLst>
                <a:ext uri="{FF2B5EF4-FFF2-40B4-BE49-F238E27FC236}">
                  <a16:creationId xmlns:a16="http://schemas.microsoft.com/office/drawing/2014/main" id="{2E7BEEAD-5474-A740-880B-E8EF90FE63B6}"/>
                </a:ext>
              </a:extLst>
            </p:cNvPr>
            <p:cNvSpPr>
              <a:spLocks noChangeArrowheads="1"/>
            </p:cNvSpPr>
            <p:nvPr/>
          </p:nvSpPr>
          <p:spPr bwMode="auto">
            <a:xfrm>
              <a:off x="1200" y="153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36" name="Oval 110">
              <a:extLst>
                <a:ext uri="{FF2B5EF4-FFF2-40B4-BE49-F238E27FC236}">
                  <a16:creationId xmlns:a16="http://schemas.microsoft.com/office/drawing/2014/main" id="{B5AA3E55-168B-B648-AE47-BCB0C798743B}"/>
                </a:ext>
              </a:extLst>
            </p:cNvPr>
            <p:cNvSpPr>
              <a:spLocks noChangeArrowheads="1"/>
            </p:cNvSpPr>
            <p:nvPr/>
          </p:nvSpPr>
          <p:spPr bwMode="auto">
            <a:xfrm>
              <a:off x="1824"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37" name="Oval 111">
              <a:extLst>
                <a:ext uri="{FF2B5EF4-FFF2-40B4-BE49-F238E27FC236}">
                  <a16:creationId xmlns:a16="http://schemas.microsoft.com/office/drawing/2014/main" id="{64971CCC-91F2-2445-95C8-2012ABBD45BA}"/>
                </a:ext>
              </a:extLst>
            </p:cNvPr>
            <p:cNvSpPr>
              <a:spLocks noChangeArrowheads="1"/>
            </p:cNvSpPr>
            <p:nvPr/>
          </p:nvSpPr>
          <p:spPr bwMode="auto">
            <a:xfrm>
              <a:off x="1824" y="153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38" name="Oval 112">
              <a:extLst>
                <a:ext uri="{FF2B5EF4-FFF2-40B4-BE49-F238E27FC236}">
                  <a16:creationId xmlns:a16="http://schemas.microsoft.com/office/drawing/2014/main" id="{6F189993-33CA-3E46-A220-BBB1AD8EFB14}"/>
                </a:ext>
              </a:extLst>
            </p:cNvPr>
            <p:cNvSpPr>
              <a:spLocks noChangeArrowheads="1"/>
            </p:cNvSpPr>
            <p:nvPr/>
          </p:nvSpPr>
          <p:spPr bwMode="auto">
            <a:xfrm>
              <a:off x="2448" y="100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39" name="Oval 113">
              <a:extLst>
                <a:ext uri="{FF2B5EF4-FFF2-40B4-BE49-F238E27FC236}">
                  <a16:creationId xmlns:a16="http://schemas.microsoft.com/office/drawing/2014/main" id="{04F5D000-F045-F345-A68D-E2B1F595D6B0}"/>
                </a:ext>
              </a:extLst>
            </p:cNvPr>
            <p:cNvSpPr>
              <a:spLocks noChangeArrowheads="1"/>
            </p:cNvSpPr>
            <p:nvPr/>
          </p:nvSpPr>
          <p:spPr bwMode="auto">
            <a:xfrm>
              <a:off x="2448"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40" name="Oval 114">
              <a:extLst>
                <a:ext uri="{FF2B5EF4-FFF2-40B4-BE49-F238E27FC236}">
                  <a16:creationId xmlns:a16="http://schemas.microsoft.com/office/drawing/2014/main" id="{1119CC1C-C4D1-2C4C-A496-B47532CFDE99}"/>
                </a:ext>
              </a:extLst>
            </p:cNvPr>
            <p:cNvSpPr>
              <a:spLocks noChangeArrowheads="1"/>
            </p:cNvSpPr>
            <p:nvPr/>
          </p:nvSpPr>
          <p:spPr bwMode="auto">
            <a:xfrm>
              <a:off x="1824" y="100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41" name="Oval 115">
              <a:extLst>
                <a:ext uri="{FF2B5EF4-FFF2-40B4-BE49-F238E27FC236}">
                  <a16:creationId xmlns:a16="http://schemas.microsoft.com/office/drawing/2014/main" id="{7652589D-F3F2-B34E-9EA5-81243541C15D}"/>
                </a:ext>
              </a:extLst>
            </p:cNvPr>
            <p:cNvSpPr>
              <a:spLocks noChangeArrowheads="1"/>
            </p:cNvSpPr>
            <p:nvPr/>
          </p:nvSpPr>
          <p:spPr bwMode="auto">
            <a:xfrm>
              <a:off x="2448" y="25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42" name="Oval 116">
              <a:extLst>
                <a:ext uri="{FF2B5EF4-FFF2-40B4-BE49-F238E27FC236}">
                  <a16:creationId xmlns:a16="http://schemas.microsoft.com/office/drawing/2014/main" id="{DAA9DB89-472A-7B41-A697-E0A6EB773D81}"/>
                </a:ext>
              </a:extLst>
            </p:cNvPr>
            <p:cNvSpPr>
              <a:spLocks noChangeArrowheads="1"/>
            </p:cNvSpPr>
            <p:nvPr/>
          </p:nvSpPr>
          <p:spPr bwMode="auto">
            <a:xfrm>
              <a:off x="1824" y="25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43" name="Oval 117">
              <a:extLst>
                <a:ext uri="{FF2B5EF4-FFF2-40B4-BE49-F238E27FC236}">
                  <a16:creationId xmlns:a16="http://schemas.microsoft.com/office/drawing/2014/main" id="{C9B3AA6F-0E3D-7F42-A1CC-8CE04C71A94C}"/>
                </a:ext>
              </a:extLst>
            </p:cNvPr>
            <p:cNvSpPr>
              <a:spLocks noChangeArrowheads="1"/>
            </p:cNvSpPr>
            <p:nvPr/>
          </p:nvSpPr>
          <p:spPr bwMode="auto">
            <a:xfrm>
              <a:off x="3072"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44" name="Oval 118">
              <a:extLst>
                <a:ext uri="{FF2B5EF4-FFF2-40B4-BE49-F238E27FC236}">
                  <a16:creationId xmlns:a16="http://schemas.microsoft.com/office/drawing/2014/main" id="{2DCE7230-3764-F749-A98C-2760AD2EC39F}"/>
                </a:ext>
              </a:extLst>
            </p:cNvPr>
            <p:cNvSpPr>
              <a:spLocks noChangeArrowheads="1"/>
            </p:cNvSpPr>
            <p:nvPr/>
          </p:nvSpPr>
          <p:spPr bwMode="auto">
            <a:xfrm>
              <a:off x="3072" y="153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5645" name="Oval 119">
              <a:extLst>
                <a:ext uri="{FF2B5EF4-FFF2-40B4-BE49-F238E27FC236}">
                  <a16:creationId xmlns:a16="http://schemas.microsoft.com/office/drawing/2014/main" id="{4CB75DDA-A0B6-9643-8265-3BA8C838D6C0}"/>
                </a:ext>
              </a:extLst>
            </p:cNvPr>
            <p:cNvSpPr>
              <a:spLocks noChangeArrowheads="1"/>
            </p:cNvSpPr>
            <p:nvPr/>
          </p:nvSpPr>
          <p:spPr bwMode="auto">
            <a:xfrm>
              <a:off x="2448" y="153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grpSp>
    </p:spTree>
    <p:extLst>
      <p:ext uri="{BB962C8B-B14F-4D97-AF65-F5344CB8AC3E}">
        <p14:creationId xmlns:p14="http://schemas.microsoft.com/office/powerpoint/2010/main" val="4095450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Line 268">
            <a:extLst>
              <a:ext uri="{FF2B5EF4-FFF2-40B4-BE49-F238E27FC236}">
                <a16:creationId xmlns:a16="http://schemas.microsoft.com/office/drawing/2014/main" id="{F0E67F5C-0582-E048-B512-51581F74CD6E}"/>
              </a:ext>
            </a:extLst>
          </p:cNvPr>
          <p:cNvSpPr>
            <a:spLocks noChangeShapeType="1"/>
          </p:cNvSpPr>
          <p:nvPr/>
        </p:nvSpPr>
        <p:spPr bwMode="auto">
          <a:xfrm>
            <a:off x="2743200" y="487680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26" name="Line 274">
            <a:extLst>
              <a:ext uri="{FF2B5EF4-FFF2-40B4-BE49-F238E27FC236}">
                <a16:creationId xmlns:a16="http://schemas.microsoft.com/office/drawing/2014/main" id="{C6529A3F-8CB9-5A44-9CF2-FC9B80844F92}"/>
              </a:ext>
            </a:extLst>
          </p:cNvPr>
          <p:cNvSpPr>
            <a:spLocks noChangeShapeType="1"/>
          </p:cNvSpPr>
          <p:nvPr/>
        </p:nvSpPr>
        <p:spPr bwMode="auto">
          <a:xfrm flipH="1">
            <a:off x="2743200" y="4876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27" name="Line 272">
            <a:extLst>
              <a:ext uri="{FF2B5EF4-FFF2-40B4-BE49-F238E27FC236}">
                <a16:creationId xmlns:a16="http://schemas.microsoft.com/office/drawing/2014/main" id="{8DB61C45-258D-7649-9F8E-50135AFB233A}"/>
              </a:ext>
            </a:extLst>
          </p:cNvPr>
          <p:cNvSpPr>
            <a:spLocks noChangeShapeType="1"/>
          </p:cNvSpPr>
          <p:nvPr/>
        </p:nvSpPr>
        <p:spPr bwMode="auto">
          <a:xfrm flipH="1">
            <a:off x="2743200" y="541020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28" name="Line 271">
            <a:extLst>
              <a:ext uri="{FF2B5EF4-FFF2-40B4-BE49-F238E27FC236}">
                <a16:creationId xmlns:a16="http://schemas.microsoft.com/office/drawing/2014/main" id="{1741DB0C-AF7D-414E-B8BE-B57DD6A191C9}"/>
              </a:ext>
            </a:extLst>
          </p:cNvPr>
          <p:cNvSpPr>
            <a:spLocks noChangeShapeType="1"/>
          </p:cNvSpPr>
          <p:nvPr/>
        </p:nvSpPr>
        <p:spPr bwMode="auto">
          <a:xfrm flipH="1">
            <a:off x="3505200" y="54102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29" name="Line 270">
            <a:extLst>
              <a:ext uri="{FF2B5EF4-FFF2-40B4-BE49-F238E27FC236}">
                <a16:creationId xmlns:a16="http://schemas.microsoft.com/office/drawing/2014/main" id="{CFE5C5D7-245E-E143-87D3-2242169C813B}"/>
              </a:ext>
            </a:extLst>
          </p:cNvPr>
          <p:cNvSpPr>
            <a:spLocks noChangeShapeType="1"/>
          </p:cNvSpPr>
          <p:nvPr/>
        </p:nvSpPr>
        <p:spPr bwMode="auto">
          <a:xfrm>
            <a:off x="4114800" y="48768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0" name="Line 269">
            <a:extLst>
              <a:ext uri="{FF2B5EF4-FFF2-40B4-BE49-F238E27FC236}">
                <a16:creationId xmlns:a16="http://schemas.microsoft.com/office/drawing/2014/main" id="{21B1B7D3-F3E7-4C41-8AEC-15CCA24865BE}"/>
              </a:ext>
            </a:extLst>
          </p:cNvPr>
          <p:cNvSpPr>
            <a:spLocks noChangeShapeType="1"/>
          </p:cNvSpPr>
          <p:nvPr/>
        </p:nvSpPr>
        <p:spPr bwMode="auto">
          <a:xfrm>
            <a:off x="3505200" y="48768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1" name="Rectangle 4">
            <a:extLst>
              <a:ext uri="{FF2B5EF4-FFF2-40B4-BE49-F238E27FC236}">
                <a16:creationId xmlns:a16="http://schemas.microsoft.com/office/drawing/2014/main" id="{410C111C-6C1B-2942-9579-7C9FB604D5FE}"/>
              </a:ext>
            </a:extLst>
          </p:cNvPr>
          <p:cNvSpPr>
            <a:spLocks noGrp="1" noChangeArrowheads="1"/>
          </p:cNvSpPr>
          <p:nvPr>
            <p:ph type="body" sz="half" idx="1"/>
          </p:nvPr>
        </p:nvSpPr>
        <p:spPr>
          <a:xfrm>
            <a:off x="1981200" y="533400"/>
            <a:ext cx="8229600" cy="5867400"/>
          </a:xfrm>
        </p:spPr>
        <p:txBody>
          <a:bodyPr/>
          <a:lstStyle/>
          <a:p>
            <a:pPr eaLnBrk="1" hangingPunct="1">
              <a:buFontTx/>
              <a:buNone/>
            </a:pPr>
            <a:endParaRPr lang="en-US" altLang="en-US" sz="1200">
              <a:ea typeface="ＭＳ Ｐゴシック" panose="020B0600070205080204" pitchFamily="34" charset="-128"/>
            </a:endParaRPr>
          </a:p>
          <a:p>
            <a:pPr eaLnBrk="1" hangingPunct="1">
              <a:buFontTx/>
              <a:buNone/>
            </a:pPr>
            <a:endParaRPr lang="en-US" altLang="en-US" sz="1200">
              <a:ea typeface="ＭＳ Ｐゴシック" panose="020B0600070205080204" pitchFamily="34" charset="-128"/>
            </a:endParaRPr>
          </a:p>
          <a:p>
            <a:pPr eaLnBrk="1" hangingPunct="1">
              <a:buFontTx/>
              <a:buNone/>
            </a:pPr>
            <a:endParaRPr lang="en-US" altLang="en-US" sz="1200">
              <a:ea typeface="ＭＳ Ｐゴシック" panose="020B0600070205080204" pitchFamily="34" charset="-128"/>
            </a:endParaRPr>
          </a:p>
          <a:p>
            <a:pPr eaLnBrk="1" hangingPunct="1">
              <a:buFontTx/>
              <a:buNone/>
            </a:pPr>
            <a:endParaRPr lang="en-US" altLang="en-US" sz="1200">
              <a:ea typeface="ＭＳ Ｐゴシック" panose="020B0600070205080204" pitchFamily="34" charset="-128"/>
            </a:endParaRPr>
          </a:p>
        </p:txBody>
      </p:sp>
      <p:sp>
        <p:nvSpPr>
          <p:cNvPr id="26632" name="Text Box 51">
            <a:extLst>
              <a:ext uri="{FF2B5EF4-FFF2-40B4-BE49-F238E27FC236}">
                <a16:creationId xmlns:a16="http://schemas.microsoft.com/office/drawing/2014/main" id="{861A5D9F-9A02-DA4E-84FF-90A59F70DF2C}"/>
              </a:ext>
            </a:extLst>
          </p:cNvPr>
          <p:cNvSpPr txBox="1">
            <a:spLocks noChangeArrowheads="1"/>
          </p:cNvSpPr>
          <p:nvPr/>
        </p:nvSpPr>
        <p:spPr bwMode="auto">
          <a:xfrm>
            <a:off x="2362200" y="838201"/>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New Roman" panose="02020603050405020304" pitchFamily="18" charset="0"/>
              </a:rPr>
              <a:t>Path created by </a:t>
            </a:r>
            <a:r>
              <a:rPr lang="en-US" altLang="en-US" sz="2000" i="1">
                <a:latin typeface="Times New Roman" panose="02020603050405020304" pitchFamily="18" charset="0"/>
              </a:rPr>
              <a:t>C</a:t>
            </a:r>
          </a:p>
        </p:txBody>
      </p:sp>
      <p:sp>
        <p:nvSpPr>
          <p:cNvPr id="10292" name="Text Box 52">
            <a:extLst>
              <a:ext uri="{FF2B5EF4-FFF2-40B4-BE49-F238E27FC236}">
                <a16:creationId xmlns:a16="http://schemas.microsoft.com/office/drawing/2014/main" id="{45500783-D72D-E34C-A098-052BCB6FFED5}"/>
              </a:ext>
            </a:extLst>
          </p:cNvPr>
          <p:cNvSpPr txBox="1">
            <a:spLocks noChangeArrowheads="1"/>
          </p:cNvSpPr>
          <p:nvPr/>
        </p:nvSpPr>
        <p:spPr bwMode="auto">
          <a:xfrm>
            <a:off x="6019800" y="4419601"/>
            <a:ext cx="3962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This is the cycle created by </a:t>
            </a:r>
            <a:r>
              <a:rPr lang="en-US" altLang="en-US" sz="1800" i="1">
                <a:latin typeface="Times New Roman" panose="02020603050405020304" pitchFamily="18" charset="0"/>
              </a:rPr>
              <a:t>D</a:t>
            </a:r>
            <a:r>
              <a:rPr lang="en-US" altLang="en-US" sz="1800">
                <a:latin typeface="Times New Roman" panose="02020603050405020304" pitchFamily="18" charset="0"/>
              </a:rPr>
              <a:t> in Blue</a:t>
            </a:r>
          </a:p>
        </p:txBody>
      </p:sp>
      <p:sp>
        <p:nvSpPr>
          <p:cNvPr id="26634" name="Oval 79">
            <a:extLst>
              <a:ext uri="{FF2B5EF4-FFF2-40B4-BE49-F238E27FC236}">
                <a16:creationId xmlns:a16="http://schemas.microsoft.com/office/drawing/2014/main" id="{55189964-3E3A-8E40-9E4F-C88779600347}"/>
              </a:ext>
            </a:extLst>
          </p:cNvPr>
          <p:cNvSpPr>
            <a:spLocks noChangeArrowheads="1"/>
          </p:cNvSpPr>
          <p:nvPr/>
        </p:nvSpPr>
        <p:spPr bwMode="auto">
          <a:xfrm>
            <a:off x="2667000" y="4800600"/>
            <a:ext cx="152400" cy="152400"/>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35" name="Text Box 93">
            <a:extLst>
              <a:ext uri="{FF2B5EF4-FFF2-40B4-BE49-F238E27FC236}">
                <a16:creationId xmlns:a16="http://schemas.microsoft.com/office/drawing/2014/main" id="{509874D7-A573-3847-A02B-F39D5F844704}"/>
              </a:ext>
            </a:extLst>
          </p:cNvPr>
          <p:cNvSpPr txBox="1">
            <a:spLocks noChangeArrowheads="1"/>
          </p:cNvSpPr>
          <p:nvPr/>
        </p:nvSpPr>
        <p:spPr bwMode="auto">
          <a:xfrm>
            <a:off x="2362200" y="4648200"/>
            <a:ext cx="381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c</a:t>
            </a:r>
          </a:p>
        </p:txBody>
      </p:sp>
      <p:sp>
        <p:nvSpPr>
          <p:cNvPr id="26636" name="Text Box 94">
            <a:extLst>
              <a:ext uri="{FF2B5EF4-FFF2-40B4-BE49-F238E27FC236}">
                <a16:creationId xmlns:a16="http://schemas.microsoft.com/office/drawing/2014/main" id="{A002BFCD-51CD-B140-B1C7-C506C9B47A3E}"/>
              </a:ext>
            </a:extLst>
          </p:cNvPr>
          <p:cNvSpPr txBox="1">
            <a:spLocks noChangeArrowheads="1"/>
          </p:cNvSpPr>
          <p:nvPr/>
        </p:nvSpPr>
        <p:spPr bwMode="auto">
          <a:xfrm>
            <a:off x="2362200" y="5334001"/>
            <a:ext cx="38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g</a:t>
            </a:r>
            <a:r>
              <a:rPr lang="en-US" altLang="en-US" sz="1800">
                <a:latin typeface="Times New Roman" panose="02020603050405020304" pitchFamily="18" charset="0"/>
              </a:rPr>
              <a:t>   </a:t>
            </a:r>
          </a:p>
        </p:txBody>
      </p:sp>
      <p:sp>
        <p:nvSpPr>
          <p:cNvPr id="10336" name="Text Box 96">
            <a:extLst>
              <a:ext uri="{FF2B5EF4-FFF2-40B4-BE49-F238E27FC236}">
                <a16:creationId xmlns:a16="http://schemas.microsoft.com/office/drawing/2014/main" id="{62BC6B26-9AD1-144C-8F22-48708C913D76}"/>
              </a:ext>
            </a:extLst>
          </p:cNvPr>
          <p:cNvSpPr txBox="1">
            <a:spLocks noChangeArrowheads="1"/>
          </p:cNvSpPr>
          <p:nvPr/>
        </p:nvSpPr>
        <p:spPr bwMode="auto">
          <a:xfrm>
            <a:off x="2514600" y="3352801"/>
            <a:ext cx="7620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New Roman" panose="02020603050405020304" pitchFamily="18" charset="0"/>
              </a:rPr>
              <a:t>If there are any unused edges, and in this case there are, then create another cycle starting with any edge adjacent to </a:t>
            </a:r>
            <a:r>
              <a:rPr lang="en-US" altLang="en-US" sz="2000" i="1">
                <a:latin typeface="Times New Roman" panose="02020603050405020304" pitchFamily="18" charset="0"/>
              </a:rPr>
              <a:t>C</a:t>
            </a:r>
            <a:r>
              <a:rPr lang="en-US" altLang="en-US" sz="2000">
                <a:latin typeface="Times New Roman" panose="02020603050405020304" pitchFamily="18" charset="0"/>
              </a:rPr>
              <a:t>.</a:t>
            </a:r>
          </a:p>
        </p:txBody>
      </p:sp>
      <p:sp>
        <p:nvSpPr>
          <p:cNvPr id="26638" name="Text Box 99">
            <a:extLst>
              <a:ext uri="{FF2B5EF4-FFF2-40B4-BE49-F238E27FC236}">
                <a16:creationId xmlns:a16="http://schemas.microsoft.com/office/drawing/2014/main" id="{47EE56D9-A60B-2F4B-8E04-4F7CC4136BFE}"/>
              </a:ext>
            </a:extLst>
          </p:cNvPr>
          <p:cNvSpPr txBox="1">
            <a:spLocks noChangeArrowheads="1"/>
          </p:cNvSpPr>
          <p:nvPr/>
        </p:nvSpPr>
        <p:spPr bwMode="auto">
          <a:xfrm>
            <a:off x="4495801" y="1"/>
            <a:ext cx="312604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4400" i="1">
                <a:latin typeface="Times New Roman" panose="02020603050405020304" pitchFamily="18" charset="0"/>
              </a:rPr>
              <a:t>Proof cont</a:t>
            </a:r>
            <a:r>
              <a:rPr lang="ja-JP" altLang="en-US" sz="4400" i="1">
                <a:latin typeface="Times New Roman" panose="02020603050405020304" pitchFamily="18" charset="0"/>
              </a:rPr>
              <a:t>’</a:t>
            </a:r>
            <a:r>
              <a:rPr lang="en-US" altLang="ja-JP" sz="4400" i="1">
                <a:latin typeface="Times New Roman" panose="02020603050405020304" pitchFamily="18" charset="0"/>
              </a:rPr>
              <a:t>d</a:t>
            </a:r>
            <a:endParaRPr lang="en-US" altLang="en-US" sz="4400" i="1">
              <a:latin typeface="Times New Roman" panose="02020603050405020304" pitchFamily="18" charset="0"/>
            </a:endParaRPr>
          </a:p>
        </p:txBody>
      </p:sp>
      <p:grpSp>
        <p:nvGrpSpPr>
          <p:cNvPr id="26639" name="Group 128">
            <a:extLst>
              <a:ext uri="{FF2B5EF4-FFF2-40B4-BE49-F238E27FC236}">
                <a16:creationId xmlns:a16="http://schemas.microsoft.com/office/drawing/2014/main" id="{42DF811B-BD20-BC40-8CCD-A539C2DB9B21}"/>
              </a:ext>
            </a:extLst>
          </p:cNvPr>
          <p:cNvGrpSpPr>
            <a:grpSpLocks/>
          </p:cNvGrpSpPr>
          <p:nvPr/>
        </p:nvGrpSpPr>
        <p:grpSpPr bwMode="auto">
          <a:xfrm>
            <a:off x="2514600" y="1143000"/>
            <a:ext cx="2057400" cy="2089150"/>
            <a:chOff x="672" y="960"/>
            <a:chExt cx="1296" cy="1316"/>
          </a:xfrm>
        </p:grpSpPr>
        <p:sp>
          <p:nvSpPr>
            <p:cNvPr id="26707" name="Oval 5">
              <a:extLst>
                <a:ext uri="{FF2B5EF4-FFF2-40B4-BE49-F238E27FC236}">
                  <a16:creationId xmlns:a16="http://schemas.microsoft.com/office/drawing/2014/main" id="{DDA06460-5C7E-A349-A97B-81E5687CAEC7}"/>
                </a:ext>
              </a:extLst>
            </p:cNvPr>
            <p:cNvSpPr>
              <a:spLocks noChangeArrowheads="1"/>
            </p:cNvSpPr>
            <p:nvPr/>
          </p:nvSpPr>
          <p:spPr bwMode="auto">
            <a:xfrm>
              <a:off x="864" y="105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708" name="Oval 13">
              <a:extLst>
                <a:ext uri="{FF2B5EF4-FFF2-40B4-BE49-F238E27FC236}">
                  <a16:creationId xmlns:a16="http://schemas.microsoft.com/office/drawing/2014/main" id="{6BF66D48-914B-1245-B66D-B4EE937EA3E1}"/>
                </a:ext>
              </a:extLst>
            </p:cNvPr>
            <p:cNvSpPr>
              <a:spLocks noChangeArrowheads="1"/>
            </p:cNvSpPr>
            <p:nvPr/>
          </p:nvSpPr>
          <p:spPr bwMode="auto">
            <a:xfrm>
              <a:off x="1632"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709" name="Oval 11">
              <a:extLst>
                <a:ext uri="{FF2B5EF4-FFF2-40B4-BE49-F238E27FC236}">
                  <a16:creationId xmlns:a16="http://schemas.microsoft.com/office/drawing/2014/main" id="{6E362BFF-526E-A849-BA3D-B6EFF2613621}"/>
                </a:ext>
              </a:extLst>
            </p:cNvPr>
            <p:cNvSpPr>
              <a:spLocks noChangeArrowheads="1"/>
            </p:cNvSpPr>
            <p:nvPr/>
          </p:nvSpPr>
          <p:spPr bwMode="auto">
            <a:xfrm>
              <a:off x="1248"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710" name="Oval 8">
              <a:extLst>
                <a:ext uri="{FF2B5EF4-FFF2-40B4-BE49-F238E27FC236}">
                  <a16:creationId xmlns:a16="http://schemas.microsoft.com/office/drawing/2014/main" id="{5E2BB3CE-AE0F-5F42-A6D0-555633518A00}"/>
                </a:ext>
              </a:extLst>
            </p:cNvPr>
            <p:cNvSpPr>
              <a:spLocks noChangeArrowheads="1"/>
            </p:cNvSpPr>
            <p:nvPr/>
          </p:nvSpPr>
          <p:spPr bwMode="auto">
            <a:xfrm>
              <a:off x="864"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711" name="Oval 42">
              <a:extLst>
                <a:ext uri="{FF2B5EF4-FFF2-40B4-BE49-F238E27FC236}">
                  <a16:creationId xmlns:a16="http://schemas.microsoft.com/office/drawing/2014/main" id="{289A7066-DAAB-C74B-873F-C8156C23F206}"/>
                </a:ext>
              </a:extLst>
            </p:cNvPr>
            <p:cNvSpPr>
              <a:spLocks noChangeArrowheads="1"/>
            </p:cNvSpPr>
            <p:nvPr/>
          </p:nvSpPr>
          <p:spPr bwMode="auto">
            <a:xfrm>
              <a:off x="1632" y="13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712" name="Oval 43">
              <a:extLst>
                <a:ext uri="{FF2B5EF4-FFF2-40B4-BE49-F238E27FC236}">
                  <a16:creationId xmlns:a16="http://schemas.microsoft.com/office/drawing/2014/main" id="{AECCC213-9523-BF41-B769-E95CA46BCF2F}"/>
                </a:ext>
              </a:extLst>
            </p:cNvPr>
            <p:cNvSpPr>
              <a:spLocks noChangeArrowheads="1"/>
            </p:cNvSpPr>
            <p:nvPr/>
          </p:nvSpPr>
          <p:spPr bwMode="auto">
            <a:xfrm>
              <a:off x="1248" y="105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713" name="Oval 44">
              <a:extLst>
                <a:ext uri="{FF2B5EF4-FFF2-40B4-BE49-F238E27FC236}">
                  <a16:creationId xmlns:a16="http://schemas.microsoft.com/office/drawing/2014/main" id="{0579D069-D72C-CF44-8333-450BBF4B9A32}"/>
                </a:ext>
              </a:extLst>
            </p:cNvPr>
            <p:cNvSpPr>
              <a:spLocks noChangeArrowheads="1"/>
            </p:cNvSpPr>
            <p:nvPr/>
          </p:nvSpPr>
          <p:spPr bwMode="auto">
            <a:xfrm>
              <a:off x="864"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714" name="Oval 45">
              <a:extLst>
                <a:ext uri="{FF2B5EF4-FFF2-40B4-BE49-F238E27FC236}">
                  <a16:creationId xmlns:a16="http://schemas.microsoft.com/office/drawing/2014/main" id="{A9CC91A7-8833-0844-A5FD-5DC303746EF4}"/>
                </a:ext>
              </a:extLst>
            </p:cNvPr>
            <p:cNvSpPr>
              <a:spLocks noChangeArrowheads="1"/>
            </p:cNvSpPr>
            <p:nvPr/>
          </p:nvSpPr>
          <p:spPr bwMode="auto">
            <a:xfrm>
              <a:off x="1248" y="13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715" name="Oval 46">
              <a:extLst>
                <a:ext uri="{FF2B5EF4-FFF2-40B4-BE49-F238E27FC236}">
                  <a16:creationId xmlns:a16="http://schemas.microsoft.com/office/drawing/2014/main" id="{F57E0334-3CB8-6E4B-85B9-D30BDBD2E8B7}"/>
                </a:ext>
              </a:extLst>
            </p:cNvPr>
            <p:cNvSpPr>
              <a:spLocks noChangeArrowheads="1"/>
            </p:cNvSpPr>
            <p:nvPr/>
          </p:nvSpPr>
          <p:spPr bwMode="auto">
            <a:xfrm>
              <a:off x="1248"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716" name="Oval 47">
              <a:extLst>
                <a:ext uri="{FF2B5EF4-FFF2-40B4-BE49-F238E27FC236}">
                  <a16:creationId xmlns:a16="http://schemas.microsoft.com/office/drawing/2014/main" id="{1870B727-2445-CC41-89DA-1A94E48659F0}"/>
                </a:ext>
              </a:extLst>
            </p:cNvPr>
            <p:cNvSpPr>
              <a:spLocks noChangeArrowheads="1"/>
            </p:cNvSpPr>
            <p:nvPr/>
          </p:nvSpPr>
          <p:spPr bwMode="auto">
            <a:xfrm>
              <a:off x="864" y="13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717" name="Oval 48">
              <a:extLst>
                <a:ext uri="{FF2B5EF4-FFF2-40B4-BE49-F238E27FC236}">
                  <a16:creationId xmlns:a16="http://schemas.microsoft.com/office/drawing/2014/main" id="{A1E0E166-A933-7043-99AF-A92F28F528ED}"/>
                </a:ext>
              </a:extLst>
            </p:cNvPr>
            <p:cNvSpPr>
              <a:spLocks noChangeArrowheads="1"/>
            </p:cNvSpPr>
            <p:nvPr/>
          </p:nvSpPr>
          <p:spPr bwMode="auto">
            <a:xfrm>
              <a:off x="864" y="105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718" name="Text Box 90">
              <a:extLst>
                <a:ext uri="{FF2B5EF4-FFF2-40B4-BE49-F238E27FC236}">
                  <a16:creationId xmlns:a16="http://schemas.microsoft.com/office/drawing/2014/main" id="{33C83E64-3C80-5D45-8C35-CC6A929D5E42}"/>
                </a:ext>
              </a:extLst>
            </p:cNvPr>
            <p:cNvSpPr txBox="1">
              <a:spLocks noChangeArrowheads="1"/>
            </p:cNvSpPr>
            <p:nvPr/>
          </p:nvSpPr>
          <p:spPr bwMode="auto">
            <a:xfrm>
              <a:off x="672" y="2064"/>
              <a:ext cx="91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k                   l</a:t>
              </a:r>
            </a:p>
          </p:txBody>
        </p:sp>
        <p:sp>
          <p:nvSpPr>
            <p:cNvPr id="26719" name="Text Box 86">
              <a:extLst>
                <a:ext uri="{FF2B5EF4-FFF2-40B4-BE49-F238E27FC236}">
                  <a16:creationId xmlns:a16="http://schemas.microsoft.com/office/drawing/2014/main" id="{EB320A41-E70C-1743-A4ED-5249A269B718}"/>
                </a:ext>
              </a:extLst>
            </p:cNvPr>
            <p:cNvSpPr txBox="1">
              <a:spLocks noChangeArrowheads="1"/>
            </p:cNvSpPr>
            <p:nvPr/>
          </p:nvSpPr>
          <p:spPr bwMode="auto">
            <a:xfrm>
              <a:off x="720" y="960"/>
              <a:ext cx="9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a                 b</a:t>
              </a:r>
            </a:p>
          </p:txBody>
        </p:sp>
        <p:sp>
          <p:nvSpPr>
            <p:cNvPr id="26720" name="Text Box 88">
              <a:extLst>
                <a:ext uri="{FF2B5EF4-FFF2-40B4-BE49-F238E27FC236}">
                  <a16:creationId xmlns:a16="http://schemas.microsoft.com/office/drawing/2014/main" id="{E90E6F8F-C114-F44C-8BC8-F3E3DB0EEDF5}"/>
                </a:ext>
              </a:extLst>
            </p:cNvPr>
            <p:cNvSpPr txBox="1">
              <a:spLocks noChangeArrowheads="1"/>
            </p:cNvSpPr>
            <p:nvPr/>
          </p:nvSpPr>
          <p:spPr bwMode="auto">
            <a:xfrm>
              <a:off x="672" y="1392"/>
              <a:ext cx="129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d           e                 f</a:t>
              </a:r>
            </a:p>
          </p:txBody>
        </p:sp>
        <p:sp>
          <p:nvSpPr>
            <p:cNvPr id="26721" name="Text Box 89">
              <a:extLst>
                <a:ext uri="{FF2B5EF4-FFF2-40B4-BE49-F238E27FC236}">
                  <a16:creationId xmlns:a16="http://schemas.microsoft.com/office/drawing/2014/main" id="{01084A1E-B10D-2943-AB55-F3550B2037A4}"/>
                </a:ext>
              </a:extLst>
            </p:cNvPr>
            <p:cNvSpPr txBox="1">
              <a:spLocks noChangeArrowheads="1"/>
            </p:cNvSpPr>
            <p:nvPr/>
          </p:nvSpPr>
          <p:spPr bwMode="auto">
            <a:xfrm>
              <a:off x="672" y="1728"/>
              <a:ext cx="129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h           i                  j</a:t>
              </a:r>
            </a:p>
          </p:txBody>
        </p:sp>
        <p:sp>
          <p:nvSpPr>
            <p:cNvPr id="26722" name="Line 114">
              <a:extLst>
                <a:ext uri="{FF2B5EF4-FFF2-40B4-BE49-F238E27FC236}">
                  <a16:creationId xmlns:a16="http://schemas.microsoft.com/office/drawing/2014/main" id="{95730ED2-55BB-0242-9C96-15CA9C87083B}"/>
                </a:ext>
              </a:extLst>
            </p:cNvPr>
            <p:cNvSpPr>
              <a:spLocks noChangeShapeType="1"/>
            </p:cNvSpPr>
            <p:nvPr/>
          </p:nvSpPr>
          <p:spPr bwMode="auto">
            <a:xfrm>
              <a:off x="1680" y="144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23" name="Line 116">
              <a:extLst>
                <a:ext uri="{FF2B5EF4-FFF2-40B4-BE49-F238E27FC236}">
                  <a16:creationId xmlns:a16="http://schemas.microsoft.com/office/drawing/2014/main" id="{A197DE5C-6CFF-CE44-8D18-D39245CD3E76}"/>
                </a:ext>
              </a:extLst>
            </p:cNvPr>
            <p:cNvSpPr>
              <a:spLocks noChangeShapeType="1"/>
            </p:cNvSpPr>
            <p:nvPr/>
          </p:nvSpPr>
          <p:spPr bwMode="auto">
            <a:xfrm>
              <a:off x="1296" y="1776"/>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24" name="Line 117">
              <a:extLst>
                <a:ext uri="{FF2B5EF4-FFF2-40B4-BE49-F238E27FC236}">
                  <a16:creationId xmlns:a16="http://schemas.microsoft.com/office/drawing/2014/main" id="{1661F6DD-182D-8E48-9A04-33991E34E764}"/>
                </a:ext>
              </a:extLst>
            </p:cNvPr>
            <p:cNvSpPr>
              <a:spLocks noChangeShapeType="1"/>
            </p:cNvSpPr>
            <p:nvPr/>
          </p:nvSpPr>
          <p:spPr bwMode="auto">
            <a:xfrm>
              <a:off x="912" y="144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25" name="Line 118">
              <a:extLst>
                <a:ext uri="{FF2B5EF4-FFF2-40B4-BE49-F238E27FC236}">
                  <a16:creationId xmlns:a16="http://schemas.microsoft.com/office/drawing/2014/main" id="{E51D1DE5-6A28-0948-B765-698E8DEFE8EB}"/>
                </a:ext>
              </a:extLst>
            </p:cNvPr>
            <p:cNvSpPr>
              <a:spLocks noChangeShapeType="1"/>
            </p:cNvSpPr>
            <p:nvPr/>
          </p:nvSpPr>
          <p:spPr bwMode="auto">
            <a:xfrm>
              <a:off x="912" y="1776"/>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26" name="Line 119">
              <a:extLst>
                <a:ext uri="{FF2B5EF4-FFF2-40B4-BE49-F238E27FC236}">
                  <a16:creationId xmlns:a16="http://schemas.microsoft.com/office/drawing/2014/main" id="{C7C4D62A-FA3F-6E46-9492-8D5E9ACBB223}"/>
                </a:ext>
              </a:extLst>
            </p:cNvPr>
            <p:cNvSpPr>
              <a:spLocks noChangeShapeType="1"/>
            </p:cNvSpPr>
            <p:nvPr/>
          </p:nvSpPr>
          <p:spPr bwMode="auto">
            <a:xfrm>
              <a:off x="912" y="110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27" name="Line 120">
              <a:extLst>
                <a:ext uri="{FF2B5EF4-FFF2-40B4-BE49-F238E27FC236}">
                  <a16:creationId xmlns:a16="http://schemas.microsoft.com/office/drawing/2014/main" id="{E2A3A2A3-D9DE-FA46-8E5F-6C25D7FF783A}"/>
                </a:ext>
              </a:extLst>
            </p:cNvPr>
            <p:cNvSpPr>
              <a:spLocks noChangeShapeType="1"/>
            </p:cNvSpPr>
            <p:nvPr/>
          </p:nvSpPr>
          <p:spPr bwMode="auto">
            <a:xfrm>
              <a:off x="1296" y="110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28" name="Line 121">
              <a:extLst>
                <a:ext uri="{FF2B5EF4-FFF2-40B4-BE49-F238E27FC236}">
                  <a16:creationId xmlns:a16="http://schemas.microsoft.com/office/drawing/2014/main" id="{DF66D5E7-3F09-8346-A205-AE76CBC55DCE}"/>
                </a:ext>
              </a:extLst>
            </p:cNvPr>
            <p:cNvSpPr>
              <a:spLocks noChangeShapeType="1"/>
            </p:cNvSpPr>
            <p:nvPr/>
          </p:nvSpPr>
          <p:spPr bwMode="auto">
            <a:xfrm>
              <a:off x="912" y="1104"/>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29" name="Line 125">
              <a:extLst>
                <a:ext uri="{FF2B5EF4-FFF2-40B4-BE49-F238E27FC236}">
                  <a16:creationId xmlns:a16="http://schemas.microsoft.com/office/drawing/2014/main" id="{BCE29AA9-2D95-574A-9B9E-71653D28CA11}"/>
                </a:ext>
              </a:extLst>
            </p:cNvPr>
            <p:cNvSpPr>
              <a:spLocks noChangeShapeType="1"/>
            </p:cNvSpPr>
            <p:nvPr/>
          </p:nvSpPr>
          <p:spPr bwMode="auto">
            <a:xfrm>
              <a:off x="912" y="2112"/>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30" name="Line 126">
              <a:extLst>
                <a:ext uri="{FF2B5EF4-FFF2-40B4-BE49-F238E27FC236}">
                  <a16:creationId xmlns:a16="http://schemas.microsoft.com/office/drawing/2014/main" id="{8B26A195-1E41-5E40-95D9-EACE264B0F1E}"/>
                </a:ext>
              </a:extLst>
            </p:cNvPr>
            <p:cNvSpPr>
              <a:spLocks noChangeShapeType="1"/>
            </p:cNvSpPr>
            <p:nvPr/>
          </p:nvSpPr>
          <p:spPr bwMode="auto">
            <a:xfrm>
              <a:off x="1296" y="1440"/>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31" name="Line 127">
              <a:extLst>
                <a:ext uri="{FF2B5EF4-FFF2-40B4-BE49-F238E27FC236}">
                  <a16:creationId xmlns:a16="http://schemas.microsoft.com/office/drawing/2014/main" id="{4BAFDE9A-E6A7-2D4B-8659-4D3DBBD5CACE}"/>
                </a:ext>
              </a:extLst>
            </p:cNvPr>
            <p:cNvSpPr>
              <a:spLocks noChangeShapeType="1"/>
            </p:cNvSpPr>
            <p:nvPr/>
          </p:nvSpPr>
          <p:spPr bwMode="auto">
            <a:xfrm>
              <a:off x="1296" y="1776"/>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69" name="Line 129">
            <a:extLst>
              <a:ext uri="{FF2B5EF4-FFF2-40B4-BE49-F238E27FC236}">
                <a16:creationId xmlns:a16="http://schemas.microsoft.com/office/drawing/2014/main" id="{3DD943FA-0112-E74D-B17F-42FC26DBC24F}"/>
              </a:ext>
            </a:extLst>
          </p:cNvPr>
          <p:cNvSpPr>
            <a:spLocks noChangeShapeType="1"/>
          </p:cNvSpPr>
          <p:nvPr/>
        </p:nvSpPr>
        <p:spPr bwMode="auto">
          <a:xfrm>
            <a:off x="2895600" y="13716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70" name="Line 130">
            <a:extLst>
              <a:ext uri="{FF2B5EF4-FFF2-40B4-BE49-F238E27FC236}">
                <a16:creationId xmlns:a16="http://schemas.microsoft.com/office/drawing/2014/main" id="{FF8F1997-F1B3-564D-8071-6B0732625C2A}"/>
              </a:ext>
            </a:extLst>
          </p:cNvPr>
          <p:cNvSpPr>
            <a:spLocks noChangeShapeType="1"/>
          </p:cNvSpPr>
          <p:nvPr/>
        </p:nvSpPr>
        <p:spPr bwMode="auto">
          <a:xfrm>
            <a:off x="2895600" y="19050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71" name="Line 131">
            <a:extLst>
              <a:ext uri="{FF2B5EF4-FFF2-40B4-BE49-F238E27FC236}">
                <a16:creationId xmlns:a16="http://schemas.microsoft.com/office/drawing/2014/main" id="{9360A74F-6110-4841-A5FB-3440A816B3C6}"/>
              </a:ext>
            </a:extLst>
          </p:cNvPr>
          <p:cNvSpPr>
            <a:spLocks noChangeShapeType="1"/>
          </p:cNvSpPr>
          <p:nvPr/>
        </p:nvSpPr>
        <p:spPr bwMode="auto">
          <a:xfrm>
            <a:off x="2895600" y="24384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72" name="Line 132">
            <a:extLst>
              <a:ext uri="{FF2B5EF4-FFF2-40B4-BE49-F238E27FC236}">
                <a16:creationId xmlns:a16="http://schemas.microsoft.com/office/drawing/2014/main" id="{A18141F3-4C6C-2A45-BA51-A7B6AD61C213}"/>
              </a:ext>
            </a:extLst>
          </p:cNvPr>
          <p:cNvSpPr>
            <a:spLocks noChangeShapeType="1"/>
          </p:cNvSpPr>
          <p:nvPr/>
        </p:nvSpPr>
        <p:spPr bwMode="auto">
          <a:xfrm>
            <a:off x="3505200" y="13716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73" name="Line 133">
            <a:extLst>
              <a:ext uri="{FF2B5EF4-FFF2-40B4-BE49-F238E27FC236}">
                <a16:creationId xmlns:a16="http://schemas.microsoft.com/office/drawing/2014/main" id="{D7B0C48A-A3D2-354D-A925-6E5CFCF37F72}"/>
              </a:ext>
            </a:extLst>
          </p:cNvPr>
          <p:cNvSpPr>
            <a:spLocks noChangeShapeType="1"/>
          </p:cNvSpPr>
          <p:nvPr/>
        </p:nvSpPr>
        <p:spPr bwMode="auto">
          <a:xfrm>
            <a:off x="4114800" y="19050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74" name="Line 134">
            <a:extLst>
              <a:ext uri="{FF2B5EF4-FFF2-40B4-BE49-F238E27FC236}">
                <a16:creationId xmlns:a16="http://schemas.microsoft.com/office/drawing/2014/main" id="{8E68DBBC-6852-5848-B45A-749E87B41AE6}"/>
              </a:ext>
            </a:extLst>
          </p:cNvPr>
          <p:cNvSpPr>
            <a:spLocks noChangeShapeType="1"/>
          </p:cNvSpPr>
          <p:nvPr/>
        </p:nvSpPr>
        <p:spPr bwMode="auto">
          <a:xfrm>
            <a:off x="3505200" y="24384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75" name="Line 135">
            <a:extLst>
              <a:ext uri="{FF2B5EF4-FFF2-40B4-BE49-F238E27FC236}">
                <a16:creationId xmlns:a16="http://schemas.microsoft.com/office/drawing/2014/main" id="{69892B14-F4E3-2D4D-B745-F9A691EB9C23}"/>
              </a:ext>
            </a:extLst>
          </p:cNvPr>
          <p:cNvSpPr>
            <a:spLocks noChangeShapeType="1"/>
          </p:cNvSpPr>
          <p:nvPr/>
        </p:nvSpPr>
        <p:spPr bwMode="auto">
          <a:xfrm>
            <a:off x="2895600" y="1371600"/>
            <a:ext cx="6096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76" name="Line 136">
            <a:extLst>
              <a:ext uri="{FF2B5EF4-FFF2-40B4-BE49-F238E27FC236}">
                <a16:creationId xmlns:a16="http://schemas.microsoft.com/office/drawing/2014/main" id="{7342D878-258A-3849-A573-D8090021B108}"/>
              </a:ext>
            </a:extLst>
          </p:cNvPr>
          <p:cNvSpPr>
            <a:spLocks noChangeShapeType="1"/>
          </p:cNvSpPr>
          <p:nvPr/>
        </p:nvSpPr>
        <p:spPr bwMode="auto">
          <a:xfrm>
            <a:off x="3505200" y="1905000"/>
            <a:ext cx="6096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77" name="Line 137">
            <a:extLst>
              <a:ext uri="{FF2B5EF4-FFF2-40B4-BE49-F238E27FC236}">
                <a16:creationId xmlns:a16="http://schemas.microsoft.com/office/drawing/2014/main" id="{A1FF4063-211D-1E4D-8FED-CF7679E91DC1}"/>
              </a:ext>
            </a:extLst>
          </p:cNvPr>
          <p:cNvSpPr>
            <a:spLocks noChangeShapeType="1"/>
          </p:cNvSpPr>
          <p:nvPr/>
        </p:nvSpPr>
        <p:spPr bwMode="auto">
          <a:xfrm>
            <a:off x="3505200" y="2438400"/>
            <a:ext cx="6096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78" name="Line 138">
            <a:extLst>
              <a:ext uri="{FF2B5EF4-FFF2-40B4-BE49-F238E27FC236}">
                <a16:creationId xmlns:a16="http://schemas.microsoft.com/office/drawing/2014/main" id="{609379C3-3451-A140-AED5-99875FBDD338}"/>
              </a:ext>
            </a:extLst>
          </p:cNvPr>
          <p:cNvSpPr>
            <a:spLocks noChangeShapeType="1"/>
          </p:cNvSpPr>
          <p:nvPr/>
        </p:nvSpPr>
        <p:spPr bwMode="auto">
          <a:xfrm>
            <a:off x="2895600" y="2971800"/>
            <a:ext cx="6096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0" name="Text Box 139">
            <a:extLst>
              <a:ext uri="{FF2B5EF4-FFF2-40B4-BE49-F238E27FC236}">
                <a16:creationId xmlns:a16="http://schemas.microsoft.com/office/drawing/2014/main" id="{58EBCF71-B6FF-AF44-981E-58772D08B4A4}"/>
              </a:ext>
            </a:extLst>
          </p:cNvPr>
          <p:cNvSpPr txBox="1">
            <a:spLocks noChangeArrowheads="1"/>
          </p:cNvSpPr>
          <p:nvPr/>
        </p:nvSpPr>
        <p:spPr bwMode="auto">
          <a:xfrm>
            <a:off x="6308726" y="1181101"/>
            <a:ext cx="30638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51" name="Rectangle 140">
            <a:extLst>
              <a:ext uri="{FF2B5EF4-FFF2-40B4-BE49-F238E27FC236}">
                <a16:creationId xmlns:a16="http://schemas.microsoft.com/office/drawing/2014/main" id="{3F04E44B-1574-E142-AD50-CF153E53F1E8}"/>
              </a:ext>
            </a:extLst>
          </p:cNvPr>
          <p:cNvSpPr>
            <a:spLocks noChangeArrowheads="1"/>
          </p:cNvSpPr>
          <p:nvPr/>
        </p:nvSpPr>
        <p:spPr bwMode="auto">
          <a:xfrm>
            <a:off x="5029201" y="1219201"/>
            <a:ext cx="4943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a:latin typeface="Times New Roman" panose="02020603050405020304" pitchFamily="18" charset="0"/>
              </a:rPr>
              <a:t>For example, let </a:t>
            </a:r>
            <a:r>
              <a:rPr lang="en-US" altLang="en-US" sz="2000" i="1">
                <a:latin typeface="Times New Roman" panose="02020603050405020304" pitchFamily="18" charset="0"/>
              </a:rPr>
              <a:t>C</a:t>
            </a:r>
            <a:r>
              <a:rPr lang="en-US" altLang="en-US" sz="2000">
                <a:latin typeface="Times New Roman" panose="02020603050405020304" pitchFamily="18" charset="0"/>
              </a:rPr>
              <a:t> equal the cycle created,</a:t>
            </a:r>
          </a:p>
        </p:txBody>
      </p:sp>
      <p:sp>
        <p:nvSpPr>
          <p:cNvPr id="26652" name="Text Box 141">
            <a:extLst>
              <a:ext uri="{FF2B5EF4-FFF2-40B4-BE49-F238E27FC236}">
                <a16:creationId xmlns:a16="http://schemas.microsoft.com/office/drawing/2014/main" id="{D2D53D29-959C-A74C-B9C1-F0ED252FCF59}"/>
              </a:ext>
            </a:extLst>
          </p:cNvPr>
          <p:cNvSpPr txBox="1">
            <a:spLocks noChangeArrowheads="1"/>
          </p:cNvSpPr>
          <p:nvPr/>
        </p:nvSpPr>
        <p:spPr bwMode="auto">
          <a:xfrm>
            <a:off x="5562600" y="1752601"/>
            <a:ext cx="3886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i="1">
                <a:latin typeface="Times New Roman" panose="02020603050405020304" pitchFamily="18" charset="0"/>
              </a:rPr>
              <a:t>C</a:t>
            </a:r>
            <a:r>
              <a:rPr lang="en-US" altLang="en-US" sz="2000">
                <a:latin typeface="Times New Roman" panose="02020603050405020304" pitchFamily="18" charset="0"/>
              </a:rPr>
              <a:t> = a-d-h-k-l-i-j-f-e-b-a</a:t>
            </a:r>
          </a:p>
        </p:txBody>
      </p:sp>
      <p:sp>
        <p:nvSpPr>
          <p:cNvPr id="10390" name="Text Box 150">
            <a:extLst>
              <a:ext uri="{FF2B5EF4-FFF2-40B4-BE49-F238E27FC236}">
                <a16:creationId xmlns:a16="http://schemas.microsoft.com/office/drawing/2014/main" id="{F1B35AF5-C42C-DF44-96EB-65B39B1A16A0}"/>
              </a:ext>
            </a:extLst>
          </p:cNvPr>
          <p:cNvSpPr txBox="1">
            <a:spLocks noChangeArrowheads="1"/>
          </p:cNvSpPr>
          <p:nvPr/>
        </p:nvSpPr>
        <p:spPr bwMode="auto">
          <a:xfrm>
            <a:off x="6705600" y="4953001"/>
            <a:ext cx="2667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i="1">
                <a:latin typeface="Times New Roman" panose="02020603050405020304" pitchFamily="18" charset="0"/>
              </a:rPr>
              <a:t>D </a:t>
            </a:r>
            <a:r>
              <a:rPr lang="en-US" altLang="en-US" sz="1800">
                <a:latin typeface="Times New Roman" panose="02020603050405020304" pitchFamily="18" charset="0"/>
              </a:rPr>
              <a:t>= d-e-i-h-g-c-d</a:t>
            </a:r>
          </a:p>
        </p:txBody>
      </p:sp>
      <p:sp>
        <p:nvSpPr>
          <p:cNvPr id="26654" name="Oval 194">
            <a:extLst>
              <a:ext uri="{FF2B5EF4-FFF2-40B4-BE49-F238E27FC236}">
                <a16:creationId xmlns:a16="http://schemas.microsoft.com/office/drawing/2014/main" id="{FB0788F4-E462-854E-A1CF-F99D4D2A019A}"/>
              </a:ext>
            </a:extLst>
          </p:cNvPr>
          <p:cNvSpPr>
            <a:spLocks noChangeArrowheads="1"/>
          </p:cNvSpPr>
          <p:nvPr/>
        </p:nvSpPr>
        <p:spPr bwMode="auto">
          <a:xfrm>
            <a:off x="2209800" y="1828800"/>
            <a:ext cx="152400" cy="152400"/>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55" name="Oval 195">
            <a:extLst>
              <a:ext uri="{FF2B5EF4-FFF2-40B4-BE49-F238E27FC236}">
                <a16:creationId xmlns:a16="http://schemas.microsoft.com/office/drawing/2014/main" id="{5060EE1A-D86E-7F4A-BFA4-B1A1D3EA9A9D}"/>
              </a:ext>
            </a:extLst>
          </p:cNvPr>
          <p:cNvSpPr>
            <a:spLocks noChangeArrowheads="1"/>
          </p:cNvSpPr>
          <p:nvPr/>
        </p:nvSpPr>
        <p:spPr bwMode="auto">
          <a:xfrm>
            <a:off x="2209800" y="2362200"/>
            <a:ext cx="152400" cy="152400"/>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56" name="Line 196">
            <a:extLst>
              <a:ext uri="{FF2B5EF4-FFF2-40B4-BE49-F238E27FC236}">
                <a16:creationId xmlns:a16="http://schemas.microsoft.com/office/drawing/2014/main" id="{CC51B3DA-DBA1-2242-80CA-9D9C422D3383}"/>
              </a:ext>
            </a:extLst>
          </p:cNvPr>
          <p:cNvSpPr>
            <a:spLocks noChangeShapeType="1"/>
          </p:cNvSpPr>
          <p:nvPr/>
        </p:nvSpPr>
        <p:spPr bwMode="auto">
          <a:xfrm>
            <a:off x="2286000" y="1905000"/>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7" name="Line 197">
            <a:extLst>
              <a:ext uri="{FF2B5EF4-FFF2-40B4-BE49-F238E27FC236}">
                <a16:creationId xmlns:a16="http://schemas.microsoft.com/office/drawing/2014/main" id="{C0DF8292-15F9-404F-B0F0-5F150F00BC06}"/>
              </a:ext>
            </a:extLst>
          </p:cNvPr>
          <p:cNvSpPr>
            <a:spLocks noChangeShapeType="1"/>
          </p:cNvSpPr>
          <p:nvPr/>
        </p:nvSpPr>
        <p:spPr bwMode="auto">
          <a:xfrm>
            <a:off x="2286000" y="19050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8" name="Line 198">
            <a:extLst>
              <a:ext uri="{FF2B5EF4-FFF2-40B4-BE49-F238E27FC236}">
                <a16:creationId xmlns:a16="http://schemas.microsoft.com/office/drawing/2014/main" id="{7A50F870-D3A7-A94F-A509-7CBDA0D5A298}"/>
              </a:ext>
            </a:extLst>
          </p:cNvPr>
          <p:cNvSpPr>
            <a:spLocks noChangeShapeType="1"/>
          </p:cNvSpPr>
          <p:nvPr/>
        </p:nvSpPr>
        <p:spPr bwMode="auto">
          <a:xfrm>
            <a:off x="2286000" y="24384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9" name="Line 199">
            <a:extLst>
              <a:ext uri="{FF2B5EF4-FFF2-40B4-BE49-F238E27FC236}">
                <a16:creationId xmlns:a16="http://schemas.microsoft.com/office/drawing/2014/main" id="{EF0FBF37-C9A9-C24A-A955-45AC695C1940}"/>
              </a:ext>
            </a:extLst>
          </p:cNvPr>
          <p:cNvSpPr>
            <a:spLocks noChangeShapeType="1"/>
          </p:cNvSpPr>
          <p:nvPr/>
        </p:nvSpPr>
        <p:spPr bwMode="auto">
          <a:xfrm>
            <a:off x="2895600" y="24384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0" name="Line 200">
            <a:extLst>
              <a:ext uri="{FF2B5EF4-FFF2-40B4-BE49-F238E27FC236}">
                <a16:creationId xmlns:a16="http://schemas.microsoft.com/office/drawing/2014/main" id="{1C3E4077-42A4-3A45-96D2-AA92F6F86975}"/>
              </a:ext>
            </a:extLst>
          </p:cNvPr>
          <p:cNvSpPr>
            <a:spLocks noChangeShapeType="1"/>
          </p:cNvSpPr>
          <p:nvPr/>
        </p:nvSpPr>
        <p:spPr bwMode="auto">
          <a:xfrm>
            <a:off x="2895600" y="190500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1" name="Line 201">
            <a:extLst>
              <a:ext uri="{FF2B5EF4-FFF2-40B4-BE49-F238E27FC236}">
                <a16:creationId xmlns:a16="http://schemas.microsoft.com/office/drawing/2014/main" id="{9B1693F4-BF2B-D841-9072-A33B8E043F49}"/>
              </a:ext>
            </a:extLst>
          </p:cNvPr>
          <p:cNvSpPr>
            <a:spLocks noChangeShapeType="1"/>
          </p:cNvSpPr>
          <p:nvPr/>
        </p:nvSpPr>
        <p:spPr bwMode="auto">
          <a:xfrm>
            <a:off x="3505200" y="1905000"/>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2" name="Text Box 202">
            <a:extLst>
              <a:ext uri="{FF2B5EF4-FFF2-40B4-BE49-F238E27FC236}">
                <a16:creationId xmlns:a16="http://schemas.microsoft.com/office/drawing/2014/main" id="{4546E9FF-1730-324C-8B40-4C81AB1BB8E5}"/>
              </a:ext>
            </a:extLst>
          </p:cNvPr>
          <p:cNvSpPr txBox="1">
            <a:spLocks noChangeArrowheads="1"/>
          </p:cNvSpPr>
          <p:nvPr/>
        </p:nvSpPr>
        <p:spPr bwMode="auto">
          <a:xfrm>
            <a:off x="1981200" y="1600201"/>
            <a:ext cx="285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imes New Roman" panose="02020603050405020304" pitchFamily="18" charset="0"/>
              </a:rPr>
              <a:t>c</a:t>
            </a:r>
          </a:p>
        </p:txBody>
      </p:sp>
      <p:sp>
        <p:nvSpPr>
          <p:cNvPr id="26663" name="Text Box 203">
            <a:extLst>
              <a:ext uri="{FF2B5EF4-FFF2-40B4-BE49-F238E27FC236}">
                <a16:creationId xmlns:a16="http://schemas.microsoft.com/office/drawing/2014/main" id="{9DFE8B2B-A698-504E-BDB1-3FBEA715B846}"/>
              </a:ext>
            </a:extLst>
          </p:cNvPr>
          <p:cNvSpPr txBox="1">
            <a:spLocks noChangeArrowheads="1"/>
          </p:cNvSpPr>
          <p:nvPr/>
        </p:nvSpPr>
        <p:spPr bwMode="auto">
          <a:xfrm>
            <a:off x="1981200" y="23622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imes New Roman" panose="02020603050405020304" pitchFamily="18" charset="0"/>
              </a:rPr>
              <a:t>g</a:t>
            </a:r>
          </a:p>
        </p:txBody>
      </p:sp>
      <p:grpSp>
        <p:nvGrpSpPr>
          <p:cNvPr id="26664" name="Group 230">
            <a:extLst>
              <a:ext uri="{FF2B5EF4-FFF2-40B4-BE49-F238E27FC236}">
                <a16:creationId xmlns:a16="http://schemas.microsoft.com/office/drawing/2014/main" id="{E6B90043-F01F-B74D-8443-DEB3AA9C397F}"/>
              </a:ext>
            </a:extLst>
          </p:cNvPr>
          <p:cNvGrpSpPr>
            <a:grpSpLocks/>
          </p:cNvGrpSpPr>
          <p:nvPr/>
        </p:nvGrpSpPr>
        <p:grpSpPr bwMode="auto">
          <a:xfrm>
            <a:off x="3124200" y="4114800"/>
            <a:ext cx="2057400" cy="2089150"/>
            <a:chOff x="672" y="960"/>
            <a:chExt cx="1296" cy="1316"/>
          </a:xfrm>
        </p:grpSpPr>
        <p:sp>
          <p:nvSpPr>
            <p:cNvPr id="26682" name="Oval 231">
              <a:extLst>
                <a:ext uri="{FF2B5EF4-FFF2-40B4-BE49-F238E27FC236}">
                  <a16:creationId xmlns:a16="http://schemas.microsoft.com/office/drawing/2014/main" id="{B0BF62EE-4D4A-BB44-8D81-CAA0BC47E819}"/>
                </a:ext>
              </a:extLst>
            </p:cNvPr>
            <p:cNvSpPr>
              <a:spLocks noChangeArrowheads="1"/>
            </p:cNvSpPr>
            <p:nvPr/>
          </p:nvSpPr>
          <p:spPr bwMode="auto">
            <a:xfrm>
              <a:off x="864" y="105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83" name="Oval 232">
              <a:extLst>
                <a:ext uri="{FF2B5EF4-FFF2-40B4-BE49-F238E27FC236}">
                  <a16:creationId xmlns:a16="http://schemas.microsoft.com/office/drawing/2014/main" id="{70C4F123-CA1E-4543-8199-39D91CB8A0C4}"/>
                </a:ext>
              </a:extLst>
            </p:cNvPr>
            <p:cNvSpPr>
              <a:spLocks noChangeArrowheads="1"/>
            </p:cNvSpPr>
            <p:nvPr/>
          </p:nvSpPr>
          <p:spPr bwMode="auto">
            <a:xfrm>
              <a:off x="1632"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84" name="Oval 233">
              <a:extLst>
                <a:ext uri="{FF2B5EF4-FFF2-40B4-BE49-F238E27FC236}">
                  <a16:creationId xmlns:a16="http://schemas.microsoft.com/office/drawing/2014/main" id="{D5679D07-8E08-C245-B88A-491DEFBCF491}"/>
                </a:ext>
              </a:extLst>
            </p:cNvPr>
            <p:cNvSpPr>
              <a:spLocks noChangeArrowheads="1"/>
            </p:cNvSpPr>
            <p:nvPr/>
          </p:nvSpPr>
          <p:spPr bwMode="auto">
            <a:xfrm>
              <a:off x="1248"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85" name="Oval 234">
              <a:extLst>
                <a:ext uri="{FF2B5EF4-FFF2-40B4-BE49-F238E27FC236}">
                  <a16:creationId xmlns:a16="http://schemas.microsoft.com/office/drawing/2014/main" id="{45356A7A-09A1-BB47-8B33-71410B327550}"/>
                </a:ext>
              </a:extLst>
            </p:cNvPr>
            <p:cNvSpPr>
              <a:spLocks noChangeArrowheads="1"/>
            </p:cNvSpPr>
            <p:nvPr/>
          </p:nvSpPr>
          <p:spPr bwMode="auto">
            <a:xfrm>
              <a:off x="864"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86" name="Oval 235">
              <a:extLst>
                <a:ext uri="{FF2B5EF4-FFF2-40B4-BE49-F238E27FC236}">
                  <a16:creationId xmlns:a16="http://schemas.microsoft.com/office/drawing/2014/main" id="{243F0A91-AE69-1E47-9335-A18F75D38F48}"/>
                </a:ext>
              </a:extLst>
            </p:cNvPr>
            <p:cNvSpPr>
              <a:spLocks noChangeArrowheads="1"/>
            </p:cNvSpPr>
            <p:nvPr/>
          </p:nvSpPr>
          <p:spPr bwMode="auto">
            <a:xfrm>
              <a:off x="1632" y="13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87" name="Oval 236">
              <a:extLst>
                <a:ext uri="{FF2B5EF4-FFF2-40B4-BE49-F238E27FC236}">
                  <a16:creationId xmlns:a16="http://schemas.microsoft.com/office/drawing/2014/main" id="{0CCD6ED9-2283-9F4D-B460-6734FEE4BB69}"/>
                </a:ext>
              </a:extLst>
            </p:cNvPr>
            <p:cNvSpPr>
              <a:spLocks noChangeArrowheads="1"/>
            </p:cNvSpPr>
            <p:nvPr/>
          </p:nvSpPr>
          <p:spPr bwMode="auto">
            <a:xfrm>
              <a:off x="1248" y="105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88" name="Oval 237">
              <a:extLst>
                <a:ext uri="{FF2B5EF4-FFF2-40B4-BE49-F238E27FC236}">
                  <a16:creationId xmlns:a16="http://schemas.microsoft.com/office/drawing/2014/main" id="{1623294A-55D3-6D46-9F60-6E725739AF80}"/>
                </a:ext>
              </a:extLst>
            </p:cNvPr>
            <p:cNvSpPr>
              <a:spLocks noChangeArrowheads="1"/>
            </p:cNvSpPr>
            <p:nvPr/>
          </p:nvSpPr>
          <p:spPr bwMode="auto">
            <a:xfrm>
              <a:off x="864"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89" name="Oval 238">
              <a:extLst>
                <a:ext uri="{FF2B5EF4-FFF2-40B4-BE49-F238E27FC236}">
                  <a16:creationId xmlns:a16="http://schemas.microsoft.com/office/drawing/2014/main" id="{163BFFF2-5B5A-6844-A747-DA1D54A7414E}"/>
                </a:ext>
              </a:extLst>
            </p:cNvPr>
            <p:cNvSpPr>
              <a:spLocks noChangeArrowheads="1"/>
            </p:cNvSpPr>
            <p:nvPr/>
          </p:nvSpPr>
          <p:spPr bwMode="auto">
            <a:xfrm>
              <a:off x="1248" y="13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90" name="Oval 239">
              <a:extLst>
                <a:ext uri="{FF2B5EF4-FFF2-40B4-BE49-F238E27FC236}">
                  <a16:creationId xmlns:a16="http://schemas.microsoft.com/office/drawing/2014/main" id="{DFA7A0F9-CD62-1847-925F-226D4238F8E6}"/>
                </a:ext>
              </a:extLst>
            </p:cNvPr>
            <p:cNvSpPr>
              <a:spLocks noChangeArrowheads="1"/>
            </p:cNvSpPr>
            <p:nvPr/>
          </p:nvSpPr>
          <p:spPr bwMode="auto">
            <a:xfrm>
              <a:off x="1248"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91" name="Oval 240">
              <a:extLst>
                <a:ext uri="{FF2B5EF4-FFF2-40B4-BE49-F238E27FC236}">
                  <a16:creationId xmlns:a16="http://schemas.microsoft.com/office/drawing/2014/main" id="{0E14048B-37FA-0049-AD86-9638662F3280}"/>
                </a:ext>
              </a:extLst>
            </p:cNvPr>
            <p:cNvSpPr>
              <a:spLocks noChangeArrowheads="1"/>
            </p:cNvSpPr>
            <p:nvPr/>
          </p:nvSpPr>
          <p:spPr bwMode="auto">
            <a:xfrm>
              <a:off x="864" y="139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92" name="Oval 241">
              <a:extLst>
                <a:ext uri="{FF2B5EF4-FFF2-40B4-BE49-F238E27FC236}">
                  <a16:creationId xmlns:a16="http://schemas.microsoft.com/office/drawing/2014/main" id="{F29CDA9C-168D-C745-98C0-75EB7FE7FDB5}"/>
                </a:ext>
              </a:extLst>
            </p:cNvPr>
            <p:cNvSpPr>
              <a:spLocks noChangeArrowheads="1"/>
            </p:cNvSpPr>
            <p:nvPr/>
          </p:nvSpPr>
          <p:spPr bwMode="auto">
            <a:xfrm>
              <a:off x="864" y="105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93" name="Text Box 242">
              <a:extLst>
                <a:ext uri="{FF2B5EF4-FFF2-40B4-BE49-F238E27FC236}">
                  <a16:creationId xmlns:a16="http://schemas.microsoft.com/office/drawing/2014/main" id="{D5D902AC-BAD0-FE41-ADDC-F5A41A05F445}"/>
                </a:ext>
              </a:extLst>
            </p:cNvPr>
            <p:cNvSpPr txBox="1">
              <a:spLocks noChangeArrowheads="1"/>
            </p:cNvSpPr>
            <p:nvPr/>
          </p:nvSpPr>
          <p:spPr bwMode="auto">
            <a:xfrm>
              <a:off x="672" y="2064"/>
              <a:ext cx="91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k                   l</a:t>
              </a:r>
            </a:p>
          </p:txBody>
        </p:sp>
        <p:sp>
          <p:nvSpPr>
            <p:cNvPr id="26694" name="Text Box 243">
              <a:extLst>
                <a:ext uri="{FF2B5EF4-FFF2-40B4-BE49-F238E27FC236}">
                  <a16:creationId xmlns:a16="http://schemas.microsoft.com/office/drawing/2014/main" id="{8A453134-E294-E942-A421-41A49FDBB749}"/>
                </a:ext>
              </a:extLst>
            </p:cNvPr>
            <p:cNvSpPr txBox="1">
              <a:spLocks noChangeArrowheads="1"/>
            </p:cNvSpPr>
            <p:nvPr/>
          </p:nvSpPr>
          <p:spPr bwMode="auto">
            <a:xfrm>
              <a:off x="720" y="960"/>
              <a:ext cx="9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a                 b</a:t>
              </a:r>
            </a:p>
          </p:txBody>
        </p:sp>
        <p:sp>
          <p:nvSpPr>
            <p:cNvPr id="26695" name="Text Box 244">
              <a:extLst>
                <a:ext uri="{FF2B5EF4-FFF2-40B4-BE49-F238E27FC236}">
                  <a16:creationId xmlns:a16="http://schemas.microsoft.com/office/drawing/2014/main" id="{47A0B02C-773F-C549-9DBE-EF47411F6037}"/>
                </a:ext>
              </a:extLst>
            </p:cNvPr>
            <p:cNvSpPr txBox="1">
              <a:spLocks noChangeArrowheads="1"/>
            </p:cNvSpPr>
            <p:nvPr/>
          </p:nvSpPr>
          <p:spPr bwMode="auto">
            <a:xfrm>
              <a:off x="672" y="1392"/>
              <a:ext cx="129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d           e                 f</a:t>
              </a:r>
            </a:p>
          </p:txBody>
        </p:sp>
        <p:sp>
          <p:nvSpPr>
            <p:cNvPr id="26696" name="Text Box 245">
              <a:extLst>
                <a:ext uri="{FF2B5EF4-FFF2-40B4-BE49-F238E27FC236}">
                  <a16:creationId xmlns:a16="http://schemas.microsoft.com/office/drawing/2014/main" id="{0F41BBF2-05B2-634D-BAA9-81EC7A50FD5A}"/>
                </a:ext>
              </a:extLst>
            </p:cNvPr>
            <p:cNvSpPr txBox="1">
              <a:spLocks noChangeArrowheads="1"/>
            </p:cNvSpPr>
            <p:nvPr/>
          </p:nvSpPr>
          <p:spPr bwMode="auto">
            <a:xfrm>
              <a:off x="672" y="1728"/>
              <a:ext cx="129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h           i                  j</a:t>
              </a:r>
            </a:p>
          </p:txBody>
        </p:sp>
        <p:sp>
          <p:nvSpPr>
            <p:cNvPr id="26697" name="Line 246">
              <a:extLst>
                <a:ext uri="{FF2B5EF4-FFF2-40B4-BE49-F238E27FC236}">
                  <a16:creationId xmlns:a16="http://schemas.microsoft.com/office/drawing/2014/main" id="{8FD456D5-747E-3546-A214-71433DBD346D}"/>
                </a:ext>
              </a:extLst>
            </p:cNvPr>
            <p:cNvSpPr>
              <a:spLocks noChangeShapeType="1"/>
            </p:cNvSpPr>
            <p:nvPr/>
          </p:nvSpPr>
          <p:spPr bwMode="auto">
            <a:xfrm>
              <a:off x="1680" y="144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98" name="Line 247">
              <a:extLst>
                <a:ext uri="{FF2B5EF4-FFF2-40B4-BE49-F238E27FC236}">
                  <a16:creationId xmlns:a16="http://schemas.microsoft.com/office/drawing/2014/main" id="{AC5837A5-8793-F146-920D-2F542D2D1D71}"/>
                </a:ext>
              </a:extLst>
            </p:cNvPr>
            <p:cNvSpPr>
              <a:spLocks noChangeShapeType="1"/>
            </p:cNvSpPr>
            <p:nvPr/>
          </p:nvSpPr>
          <p:spPr bwMode="auto">
            <a:xfrm>
              <a:off x="1296" y="1776"/>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99" name="Line 248">
              <a:extLst>
                <a:ext uri="{FF2B5EF4-FFF2-40B4-BE49-F238E27FC236}">
                  <a16:creationId xmlns:a16="http://schemas.microsoft.com/office/drawing/2014/main" id="{F6233450-6293-5644-9E43-A7BA2455A0C9}"/>
                </a:ext>
              </a:extLst>
            </p:cNvPr>
            <p:cNvSpPr>
              <a:spLocks noChangeShapeType="1"/>
            </p:cNvSpPr>
            <p:nvPr/>
          </p:nvSpPr>
          <p:spPr bwMode="auto">
            <a:xfrm>
              <a:off x="912" y="1440"/>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00" name="Line 249">
              <a:extLst>
                <a:ext uri="{FF2B5EF4-FFF2-40B4-BE49-F238E27FC236}">
                  <a16:creationId xmlns:a16="http://schemas.microsoft.com/office/drawing/2014/main" id="{5631893F-ACBB-3F4F-8B54-933C4BF53CEC}"/>
                </a:ext>
              </a:extLst>
            </p:cNvPr>
            <p:cNvSpPr>
              <a:spLocks noChangeShapeType="1"/>
            </p:cNvSpPr>
            <p:nvPr/>
          </p:nvSpPr>
          <p:spPr bwMode="auto">
            <a:xfrm>
              <a:off x="912" y="1776"/>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01" name="Line 250">
              <a:extLst>
                <a:ext uri="{FF2B5EF4-FFF2-40B4-BE49-F238E27FC236}">
                  <a16:creationId xmlns:a16="http://schemas.microsoft.com/office/drawing/2014/main" id="{AB6FBBDB-CC8C-E748-824D-04E75E58A4C8}"/>
                </a:ext>
              </a:extLst>
            </p:cNvPr>
            <p:cNvSpPr>
              <a:spLocks noChangeShapeType="1"/>
            </p:cNvSpPr>
            <p:nvPr/>
          </p:nvSpPr>
          <p:spPr bwMode="auto">
            <a:xfrm>
              <a:off x="912" y="110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02" name="Line 251">
              <a:extLst>
                <a:ext uri="{FF2B5EF4-FFF2-40B4-BE49-F238E27FC236}">
                  <a16:creationId xmlns:a16="http://schemas.microsoft.com/office/drawing/2014/main" id="{AC2F3A2F-EA29-E94B-A0E9-0D1569459896}"/>
                </a:ext>
              </a:extLst>
            </p:cNvPr>
            <p:cNvSpPr>
              <a:spLocks noChangeShapeType="1"/>
            </p:cNvSpPr>
            <p:nvPr/>
          </p:nvSpPr>
          <p:spPr bwMode="auto">
            <a:xfrm>
              <a:off x="1296" y="1104"/>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03" name="Line 252">
              <a:extLst>
                <a:ext uri="{FF2B5EF4-FFF2-40B4-BE49-F238E27FC236}">
                  <a16:creationId xmlns:a16="http://schemas.microsoft.com/office/drawing/2014/main" id="{F7BC39BD-854F-954D-B628-609D03A8CAA6}"/>
                </a:ext>
              </a:extLst>
            </p:cNvPr>
            <p:cNvSpPr>
              <a:spLocks noChangeShapeType="1"/>
            </p:cNvSpPr>
            <p:nvPr/>
          </p:nvSpPr>
          <p:spPr bwMode="auto">
            <a:xfrm>
              <a:off x="912" y="1104"/>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04" name="Line 253">
              <a:extLst>
                <a:ext uri="{FF2B5EF4-FFF2-40B4-BE49-F238E27FC236}">
                  <a16:creationId xmlns:a16="http://schemas.microsoft.com/office/drawing/2014/main" id="{0D608479-B84E-0247-999C-A4B6BAEF9905}"/>
                </a:ext>
              </a:extLst>
            </p:cNvPr>
            <p:cNvSpPr>
              <a:spLocks noChangeShapeType="1"/>
            </p:cNvSpPr>
            <p:nvPr/>
          </p:nvSpPr>
          <p:spPr bwMode="auto">
            <a:xfrm>
              <a:off x="912" y="2112"/>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05" name="Line 254">
              <a:extLst>
                <a:ext uri="{FF2B5EF4-FFF2-40B4-BE49-F238E27FC236}">
                  <a16:creationId xmlns:a16="http://schemas.microsoft.com/office/drawing/2014/main" id="{33F9EB7E-C0BC-4F4C-AF06-A1C417AEE065}"/>
                </a:ext>
              </a:extLst>
            </p:cNvPr>
            <p:cNvSpPr>
              <a:spLocks noChangeShapeType="1"/>
            </p:cNvSpPr>
            <p:nvPr/>
          </p:nvSpPr>
          <p:spPr bwMode="auto">
            <a:xfrm>
              <a:off x="1296" y="1440"/>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06" name="Line 255">
              <a:extLst>
                <a:ext uri="{FF2B5EF4-FFF2-40B4-BE49-F238E27FC236}">
                  <a16:creationId xmlns:a16="http://schemas.microsoft.com/office/drawing/2014/main" id="{E3C4C619-4DC5-3243-8761-FC105495FD7E}"/>
                </a:ext>
              </a:extLst>
            </p:cNvPr>
            <p:cNvSpPr>
              <a:spLocks noChangeShapeType="1"/>
            </p:cNvSpPr>
            <p:nvPr/>
          </p:nvSpPr>
          <p:spPr bwMode="auto">
            <a:xfrm>
              <a:off x="1296" y="1776"/>
              <a:ext cx="3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6665" name="Oval 256">
            <a:extLst>
              <a:ext uri="{FF2B5EF4-FFF2-40B4-BE49-F238E27FC236}">
                <a16:creationId xmlns:a16="http://schemas.microsoft.com/office/drawing/2014/main" id="{B11B9F9E-1A32-9F4A-80CB-33640532E6F6}"/>
              </a:ext>
            </a:extLst>
          </p:cNvPr>
          <p:cNvSpPr>
            <a:spLocks noChangeArrowheads="1"/>
          </p:cNvSpPr>
          <p:nvPr/>
        </p:nvSpPr>
        <p:spPr bwMode="auto">
          <a:xfrm>
            <a:off x="2667000" y="5334000"/>
            <a:ext cx="152400" cy="152400"/>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6666" name="Line 257">
            <a:extLst>
              <a:ext uri="{FF2B5EF4-FFF2-40B4-BE49-F238E27FC236}">
                <a16:creationId xmlns:a16="http://schemas.microsoft.com/office/drawing/2014/main" id="{CB3D3CD2-17F0-584B-A945-4823B7EDD4B7}"/>
              </a:ext>
            </a:extLst>
          </p:cNvPr>
          <p:cNvSpPr>
            <a:spLocks noChangeShapeType="1"/>
          </p:cNvSpPr>
          <p:nvPr/>
        </p:nvSpPr>
        <p:spPr bwMode="auto">
          <a:xfrm>
            <a:off x="4114800" y="43434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7" name="Line 259">
            <a:extLst>
              <a:ext uri="{FF2B5EF4-FFF2-40B4-BE49-F238E27FC236}">
                <a16:creationId xmlns:a16="http://schemas.microsoft.com/office/drawing/2014/main" id="{5698DA31-0CB9-704F-BE8A-29FCD698F607}"/>
              </a:ext>
            </a:extLst>
          </p:cNvPr>
          <p:cNvSpPr>
            <a:spLocks noChangeShapeType="1"/>
          </p:cNvSpPr>
          <p:nvPr/>
        </p:nvSpPr>
        <p:spPr bwMode="auto">
          <a:xfrm>
            <a:off x="3505200" y="4343400"/>
            <a:ext cx="609600" cy="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8" name="Line 260">
            <a:extLst>
              <a:ext uri="{FF2B5EF4-FFF2-40B4-BE49-F238E27FC236}">
                <a16:creationId xmlns:a16="http://schemas.microsoft.com/office/drawing/2014/main" id="{09348CE7-2F01-1D48-B582-04B1EC1F340E}"/>
              </a:ext>
            </a:extLst>
          </p:cNvPr>
          <p:cNvSpPr>
            <a:spLocks noChangeShapeType="1"/>
          </p:cNvSpPr>
          <p:nvPr/>
        </p:nvSpPr>
        <p:spPr bwMode="auto">
          <a:xfrm>
            <a:off x="4114800" y="4876800"/>
            <a:ext cx="609600" cy="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9" name="Line 261">
            <a:extLst>
              <a:ext uri="{FF2B5EF4-FFF2-40B4-BE49-F238E27FC236}">
                <a16:creationId xmlns:a16="http://schemas.microsoft.com/office/drawing/2014/main" id="{F457603D-F476-8C4D-BB78-86D062BF8D62}"/>
              </a:ext>
            </a:extLst>
          </p:cNvPr>
          <p:cNvSpPr>
            <a:spLocks noChangeShapeType="1"/>
          </p:cNvSpPr>
          <p:nvPr/>
        </p:nvSpPr>
        <p:spPr bwMode="auto">
          <a:xfrm>
            <a:off x="4724400" y="48768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0" name="Line 262">
            <a:extLst>
              <a:ext uri="{FF2B5EF4-FFF2-40B4-BE49-F238E27FC236}">
                <a16:creationId xmlns:a16="http://schemas.microsoft.com/office/drawing/2014/main" id="{2799DFD0-DB46-E541-B9F3-0E3BDDA4939D}"/>
              </a:ext>
            </a:extLst>
          </p:cNvPr>
          <p:cNvSpPr>
            <a:spLocks noChangeShapeType="1"/>
          </p:cNvSpPr>
          <p:nvPr/>
        </p:nvSpPr>
        <p:spPr bwMode="auto">
          <a:xfrm flipH="1">
            <a:off x="3505200" y="5943600"/>
            <a:ext cx="609600" cy="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1" name="Line 263">
            <a:extLst>
              <a:ext uri="{FF2B5EF4-FFF2-40B4-BE49-F238E27FC236}">
                <a16:creationId xmlns:a16="http://schemas.microsoft.com/office/drawing/2014/main" id="{C82E457A-CAFC-BA4D-9331-2F8ADC609F2F}"/>
              </a:ext>
            </a:extLst>
          </p:cNvPr>
          <p:cNvSpPr>
            <a:spLocks noChangeShapeType="1"/>
          </p:cNvSpPr>
          <p:nvPr/>
        </p:nvSpPr>
        <p:spPr bwMode="auto">
          <a:xfrm flipH="1">
            <a:off x="4114800" y="5410200"/>
            <a:ext cx="609600" cy="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2" name="Line 264">
            <a:extLst>
              <a:ext uri="{FF2B5EF4-FFF2-40B4-BE49-F238E27FC236}">
                <a16:creationId xmlns:a16="http://schemas.microsoft.com/office/drawing/2014/main" id="{A19176FC-46CF-2E4F-B038-ACA91C4295FD}"/>
              </a:ext>
            </a:extLst>
          </p:cNvPr>
          <p:cNvSpPr>
            <a:spLocks noChangeShapeType="1"/>
          </p:cNvSpPr>
          <p:nvPr/>
        </p:nvSpPr>
        <p:spPr bwMode="auto">
          <a:xfrm>
            <a:off x="3505200" y="43434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3" name="Line 265">
            <a:extLst>
              <a:ext uri="{FF2B5EF4-FFF2-40B4-BE49-F238E27FC236}">
                <a16:creationId xmlns:a16="http://schemas.microsoft.com/office/drawing/2014/main" id="{F114B03F-5453-6E42-B32D-20E123083793}"/>
              </a:ext>
            </a:extLst>
          </p:cNvPr>
          <p:cNvSpPr>
            <a:spLocks noChangeShapeType="1"/>
          </p:cNvSpPr>
          <p:nvPr/>
        </p:nvSpPr>
        <p:spPr bwMode="auto">
          <a:xfrm>
            <a:off x="3505200" y="48768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4" name="Line 266">
            <a:extLst>
              <a:ext uri="{FF2B5EF4-FFF2-40B4-BE49-F238E27FC236}">
                <a16:creationId xmlns:a16="http://schemas.microsoft.com/office/drawing/2014/main" id="{D98E56CB-3450-2249-A7C7-54AC6A4B6395}"/>
              </a:ext>
            </a:extLst>
          </p:cNvPr>
          <p:cNvSpPr>
            <a:spLocks noChangeShapeType="1"/>
          </p:cNvSpPr>
          <p:nvPr/>
        </p:nvSpPr>
        <p:spPr bwMode="auto">
          <a:xfrm>
            <a:off x="3505200" y="54102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5" name="Line 267">
            <a:extLst>
              <a:ext uri="{FF2B5EF4-FFF2-40B4-BE49-F238E27FC236}">
                <a16:creationId xmlns:a16="http://schemas.microsoft.com/office/drawing/2014/main" id="{B6A833A3-4158-694D-B8E0-021BC37EDF2D}"/>
              </a:ext>
            </a:extLst>
          </p:cNvPr>
          <p:cNvSpPr>
            <a:spLocks noChangeShapeType="1"/>
          </p:cNvSpPr>
          <p:nvPr/>
        </p:nvSpPr>
        <p:spPr bwMode="auto">
          <a:xfrm>
            <a:off x="4114800" y="5410200"/>
            <a:ext cx="0" cy="53340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3" name="Line 143">
            <a:extLst>
              <a:ext uri="{FF2B5EF4-FFF2-40B4-BE49-F238E27FC236}">
                <a16:creationId xmlns:a16="http://schemas.microsoft.com/office/drawing/2014/main" id="{0E8CB670-2CF7-8A4E-A6E2-4B412C15B715}"/>
              </a:ext>
            </a:extLst>
          </p:cNvPr>
          <p:cNvSpPr>
            <a:spLocks noChangeShapeType="1"/>
          </p:cNvSpPr>
          <p:nvPr/>
        </p:nvSpPr>
        <p:spPr bwMode="auto">
          <a:xfrm>
            <a:off x="2743200" y="4876800"/>
            <a:ext cx="0" cy="533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4" name="Line 144">
            <a:extLst>
              <a:ext uri="{FF2B5EF4-FFF2-40B4-BE49-F238E27FC236}">
                <a16:creationId xmlns:a16="http://schemas.microsoft.com/office/drawing/2014/main" id="{4C0C253A-3982-3D43-83FB-73C931ED60D6}"/>
              </a:ext>
            </a:extLst>
          </p:cNvPr>
          <p:cNvSpPr>
            <a:spLocks noChangeShapeType="1"/>
          </p:cNvSpPr>
          <p:nvPr/>
        </p:nvSpPr>
        <p:spPr bwMode="auto">
          <a:xfrm>
            <a:off x="4114800" y="4876800"/>
            <a:ext cx="0" cy="53340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5" name="Line 145">
            <a:extLst>
              <a:ext uri="{FF2B5EF4-FFF2-40B4-BE49-F238E27FC236}">
                <a16:creationId xmlns:a16="http://schemas.microsoft.com/office/drawing/2014/main" id="{AB872189-A1DA-1D45-9CBE-CA1974CF3C6C}"/>
              </a:ext>
            </a:extLst>
          </p:cNvPr>
          <p:cNvSpPr>
            <a:spLocks noChangeShapeType="1"/>
          </p:cNvSpPr>
          <p:nvPr/>
        </p:nvSpPr>
        <p:spPr bwMode="auto">
          <a:xfrm>
            <a:off x="2743200" y="4876800"/>
            <a:ext cx="762000"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7" name="Line 147">
            <a:extLst>
              <a:ext uri="{FF2B5EF4-FFF2-40B4-BE49-F238E27FC236}">
                <a16:creationId xmlns:a16="http://schemas.microsoft.com/office/drawing/2014/main" id="{F4A0EBDC-8DCB-304B-A348-ACF046B4994F}"/>
              </a:ext>
            </a:extLst>
          </p:cNvPr>
          <p:cNvSpPr>
            <a:spLocks noChangeShapeType="1"/>
          </p:cNvSpPr>
          <p:nvPr/>
        </p:nvSpPr>
        <p:spPr bwMode="auto">
          <a:xfrm>
            <a:off x="3505200" y="4876800"/>
            <a:ext cx="609600"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8" name="Line 148">
            <a:extLst>
              <a:ext uri="{FF2B5EF4-FFF2-40B4-BE49-F238E27FC236}">
                <a16:creationId xmlns:a16="http://schemas.microsoft.com/office/drawing/2014/main" id="{442DAE1E-0F88-8B4B-B798-A450ACB999E6}"/>
              </a:ext>
            </a:extLst>
          </p:cNvPr>
          <p:cNvSpPr>
            <a:spLocks noChangeShapeType="1"/>
          </p:cNvSpPr>
          <p:nvPr/>
        </p:nvSpPr>
        <p:spPr bwMode="auto">
          <a:xfrm>
            <a:off x="2743200" y="5410200"/>
            <a:ext cx="762000"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9" name="Line 149">
            <a:extLst>
              <a:ext uri="{FF2B5EF4-FFF2-40B4-BE49-F238E27FC236}">
                <a16:creationId xmlns:a16="http://schemas.microsoft.com/office/drawing/2014/main" id="{1CBFF22E-C717-B249-BB6E-C52E6E14438C}"/>
              </a:ext>
            </a:extLst>
          </p:cNvPr>
          <p:cNvSpPr>
            <a:spLocks noChangeShapeType="1"/>
          </p:cNvSpPr>
          <p:nvPr/>
        </p:nvSpPr>
        <p:spPr bwMode="auto">
          <a:xfrm>
            <a:off x="3505200" y="5410200"/>
            <a:ext cx="609600"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2509996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10369"/>
                                        </p:tgtEl>
                                        <p:attrNameLst>
                                          <p:attrName>style.visibility</p:attrName>
                                        </p:attrNameLst>
                                      </p:cBhvr>
                                      <p:to>
                                        <p:strVal val="visible"/>
                                      </p:to>
                                    </p:set>
                                    <p:animEffect transition="in" filter="wipe(up)">
                                      <p:cBhvr>
                                        <p:cTn id="7" dur="500"/>
                                        <p:tgtEl>
                                          <p:spTgt spid="10369"/>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0370"/>
                                        </p:tgtEl>
                                        <p:attrNameLst>
                                          <p:attrName>style.visibility</p:attrName>
                                        </p:attrNameLst>
                                      </p:cBhvr>
                                      <p:to>
                                        <p:strVal val="visible"/>
                                      </p:to>
                                    </p:set>
                                    <p:animEffect transition="in" filter="wipe(up)">
                                      <p:cBhvr>
                                        <p:cTn id="11" dur="500"/>
                                        <p:tgtEl>
                                          <p:spTgt spid="10370"/>
                                        </p:tgtEl>
                                      </p:cBhvr>
                                    </p:animEffect>
                                  </p:childTnLst>
                                </p:cTn>
                              </p:par>
                            </p:childTnLst>
                          </p:cTn>
                        </p:par>
                        <p:par>
                          <p:cTn id="12" fill="hold" nodeType="afterGroup">
                            <p:stCondLst>
                              <p:cond delay="1500"/>
                            </p:stCondLst>
                            <p:childTnLst>
                              <p:par>
                                <p:cTn id="13" presetID="22" presetClass="entr" presetSubtype="1" fill="hold" nodeType="afterEffect">
                                  <p:stCondLst>
                                    <p:cond delay="0"/>
                                  </p:stCondLst>
                                  <p:childTnLst>
                                    <p:set>
                                      <p:cBhvr>
                                        <p:cTn id="14" dur="1" fill="hold">
                                          <p:stCondLst>
                                            <p:cond delay="0"/>
                                          </p:stCondLst>
                                        </p:cTn>
                                        <p:tgtEl>
                                          <p:spTgt spid="10371"/>
                                        </p:tgtEl>
                                        <p:attrNameLst>
                                          <p:attrName>style.visibility</p:attrName>
                                        </p:attrNameLst>
                                      </p:cBhvr>
                                      <p:to>
                                        <p:strVal val="visible"/>
                                      </p:to>
                                    </p:set>
                                    <p:animEffect transition="in" filter="wipe(up)">
                                      <p:cBhvr>
                                        <p:cTn id="15" dur="500"/>
                                        <p:tgtEl>
                                          <p:spTgt spid="10371"/>
                                        </p:tgtEl>
                                      </p:cBhvr>
                                    </p:animEffect>
                                  </p:childTnLst>
                                </p:cTn>
                              </p:par>
                            </p:childTnLst>
                          </p:cTn>
                        </p:par>
                        <p:par>
                          <p:cTn id="16" fill="hold" nodeType="afterGroup">
                            <p:stCondLst>
                              <p:cond delay="2000"/>
                            </p:stCondLst>
                            <p:childTnLst>
                              <p:par>
                                <p:cTn id="17" presetID="22" presetClass="entr" presetSubtype="8" fill="hold" nodeType="afterEffect">
                                  <p:stCondLst>
                                    <p:cond delay="0"/>
                                  </p:stCondLst>
                                  <p:childTnLst>
                                    <p:set>
                                      <p:cBhvr>
                                        <p:cTn id="18" dur="1" fill="hold">
                                          <p:stCondLst>
                                            <p:cond delay="0"/>
                                          </p:stCondLst>
                                        </p:cTn>
                                        <p:tgtEl>
                                          <p:spTgt spid="10378"/>
                                        </p:tgtEl>
                                        <p:attrNameLst>
                                          <p:attrName>style.visibility</p:attrName>
                                        </p:attrNameLst>
                                      </p:cBhvr>
                                      <p:to>
                                        <p:strVal val="visible"/>
                                      </p:to>
                                    </p:set>
                                    <p:animEffect transition="in" filter="wipe(left)">
                                      <p:cBhvr>
                                        <p:cTn id="19" dur="500"/>
                                        <p:tgtEl>
                                          <p:spTgt spid="10378"/>
                                        </p:tgtEl>
                                      </p:cBhvr>
                                    </p:animEffect>
                                  </p:childTnLst>
                                </p:cTn>
                              </p:par>
                            </p:childTnLst>
                          </p:cTn>
                        </p:par>
                        <p:par>
                          <p:cTn id="20" fill="hold" nodeType="afterGroup">
                            <p:stCondLst>
                              <p:cond delay="2500"/>
                            </p:stCondLst>
                            <p:childTnLst>
                              <p:par>
                                <p:cTn id="21" presetID="22" presetClass="entr" presetSubtype="4" fill="hold" nodeType="afterEffect">
                                  <p:stCondLst>
                                    <p:cond delay="0"/>
                                  </p:stCondLst>
                                  <p:childTnLst>
                                    <p:set>
                                      <p:cBhvr>
                                        <p:cTn id="22" dur="1" fill="hold">
                                          <p:stCondLst>
                                            <p:cond delay="0"/>
                                          </p:stCondLst>
                                        </p:cTn>
                                        <p:tgtEl>
                                          <p:spTgt spid="10374"/>
                                        </p:tgtEl>
                                        <p:attrNameLst>
                                          <p:attrName>style.visibility</p:attrName>
                                        </p:attrNameLst>
                                      </p:cBhvr>
                                      <p:to>
                                        <p:strVal val="visible"/>
                                      </p:to>
                                    </p:set>
                                    <p:animEffect transition="in" filter="wipe(down)">
                                      <p:cBhvr>
                                        <p:cTn id="23" dur="500"/>
                                        <p:tgtEl>
                                          <p:spTgt spid="10374"/>
                                        </p:tgtEl>
                                      </p:cBhvr>
                                    </p:animEffect>
                                  </p:childTnLst>
                                </p:cTn>
                              </p:par>
                            </p:childTnLst>
                          </p:cTn>
                        </p:par>
                        <p:par>
                          <p:cTn id="24" fill="hold" nodeType="afterGroup">
                            <p:stCondLst>
                              <p:cond delay="3000"/>
                            </p:stCondLst>
                            <p:childTnLst>
                              <p:par>
                                <p:cTn id="25" presetID="22" presetClass="entr" presetSubtype="8" fill="hold" nodeType="afterEffect">
                                  <p:stCondLst>
                                    <p:cond delay="0"/>
                                  </p:stCondLst>
                                  <p:childTnLst>
                                    <p:set>
                                      <p:cBhvr>
                                        <p:cTn id="26" dur="1" fill="hold">
                                          <p:stCondLst>
                                            <p:cond delay="0"/>
                                          </p:stCondLst>
                                        </p:cTn>
                                        <p:tgtEl>
                                          <p:spTgt spid="10377"/>
                                        </p:tgtEl>
                                        <p:attrNameLst>
                                          <p:attrName>style.visibility</p:attrName>
                                        </p:attrNameLst>
                                      </p:cBhvr>
                                      <p:to>
                                        <p:strVal val="visible"/>
                                      </p:to>
                                    </p:set>
                                    <p:animEffect transition="in" filter="wipe(left)">
                                      <p:cBhvr>
                                        <p:cTn id="27" dur="500"/>
                                        <p:tgtEl>
                                          <p:spTgt spid="10377"/>
                                        </p:tgtEl>
                                      </p:cBhvr>
                                    </p:animEffect>
                                  </p:childTnLst>
                                </p:cTn>
                              </p:par>
                            </p:childTnLst>
                          </p:cTn>
                        </p:par>
                        <p:par>
                          <p:cTn id="28" fill="hold" nodeType="afterGroup">
                            <p:stCondLst>
                              <p:cond delay="3500"/>
                            </p:stCondLst>
                            <p:childTnLst>
                              <p:par>
                                <p:cTn id="29" presetID="22" presetClass="entr" presetSubtype="4" fill="hold" nodeType="afterEffect">
                                  <p:stCondLst>
                                    <p:cond delay="0"/>
                                  </p:stCondLst>
                                  <p:childTnLst>
                                    <p:set>
                                      <p:cBhvr>
                                        <p:cTn id="30" dur="1" fill="hold">
                                          <p:stCondLst>
                                            <p:cond delay="0"/>
                                          </p:stCondLst>
                                        </p:cTn>
                                        <p:tgtEl>
                                          <p:spTgt spid="10373"/>
                                        </p:tgtEl>
                                        <p:attrNameLst>
                                          <p:attrName>style.visibility</p:attrName>
                                        </p:attrNameLst>
                                      </p:cBhvr>
                                      <p:to>
                                        <p:strVal val="visible"/>
                                      </p:to>
                                    </p:set>
                                    <p:animEffect transition="in" filter="wipe(down)">
                                      <p:cBhvr>
                                        <p:cTn id="31" dur="500"/>
                                        <p:tgtEl>
                                          <p:spTgt spid="10373"/>
                                        </p:tgtEl>
                                      </p:cBhvr>
                                    </p:animEffect>
                                  </p:childTnLst>
                                </p:cTn>
                              </p:par>
                            </p:childTnLst>
                          </p:cTn>
                        </p:par>
                        <p:par>
                          <p:cTn id="32" fill="hold" nodeType="afterGroup">
                            <p:stCondLst>
                              <p:cond delay="4000"/>
                            </p:stCondLst>
                            <p:childTnLst>
                              <p:par>
                                <p:cTn id="33" presetID="22" presetClass="entr" presetSubtype="2" fill="hold" nodeType="afterEffect">
                                  <p:stCondLst>
                                    <p:cond delay="0"/>
                                  </p:stCondLst>
                                  <p:childTnLst>
                                    <p:set>
                                      <p:cBhvr>
                                        <p:cTn id="34" dur="1" fill="hold">
                                          <p:stCondLst>
                                            <p:cond delay="0"/>
                                          </p:stCondLst>
                                        </p:cTn>
                                        <p:tgtEl>
                                          <p:spTgt spid="10376"/>
                                        </p:tgtEl>
                                        <p:attrNameLst>
                                          <p:attrName>style.visibility</p:attrName>
                                        </p:attrNameLst>
                                      </p:cBhvr>
                                      <p:to>
                                        <p:strVal val="visible"/>
                                      </p:to>
                                    </p:set>
                                    <p:animEffect transition="in" filter="wipe(right)">
                                      <p:cBhvr>
                                        <p:cTn id="35" dur="500"/>
                                        <p:tgtEl>
                                          <p:spTgt spid="10376"/>
                                        </p:tgtEl>
                                      </p:cBhvr>
                                    </p:animEffect>
                                  </p:childTnLst>
                                </p:cTn>
                              </p:par>
                            </p:childTnLst>
                          </p:cTn>
                        </p:par>
                        <p:par>
                          <p:cTn id="36" fill="hold" nodeType="afterGroup">
                            <p:stCondLst>
                              <p:cond delay="4500"/>
                            </p:stCondLst>
                            <p:childTnLst>
                              <p:par>
                                <p:cTn id="37" presetID="22" presetClass="entr" presetSubtype="4" fill="hold" nodeType="afterEffect">
                                  <p:stCondLst>
                                    <p:cond delay="0"/>
                                  </p:stCondLst>
                                  <p:childTnLst>
                                    <p:set>
                                      <p:cBhvr>
                                        <p:cTn id="38" dur="1" fill="hold">
                                          <p:stCondLst>
                                            <p:cond delay="0"/>
                                          </p:stCondLst>
                                        </p:cTn>
                                        <p:tgtEl>
                                          <p:spTgt spid="10372"/>
                                        </p:tgtEl>
                                        <p:attrNameLst>
                                          <p:attrName>style.visibility</p:attrName>
                                        </p:attrNameLst>
                                      </p:cBhvr>
                                      <p:to>
                                        <p:strVal val="visible"/>
                                      </p:to>
                                    </p:set>
                                    <p:animEffect transition="in" filter="wipe(down)">
                                      <p:cBhvr>
                                        <p:cTn id="39" dur="500"/>
                                        <p:tgtEl>
                                          <p:spTgt spid="10372"/>
                                        </p:tgtEl>
                                      </p:cBhvr>
                                    </p:animEffect>
                                  </p:childTnLst>
                                </p:cTn>
                              </p:par>
                            </p:childTnLst>
                          </p:cTn>
                        </p:par>
                        <p:par>
                          <p:cTn id="40" fill="hold" nodeType="afterGroup">
                            <p:stCondLst>
                              <p:cond delay="5000"/>
                            </p:stCondLst>
                            <p:childTnLst>
                              <p:par>
                                <p:cTn id="41" presetID="22" presetClass="entr" presetSubtype="2" fill="hold" nodeType="afterEffect">
                                  <p:stCondLst>
                                    <p:cond delay="0"/>
                                  </p:stCondLst>
                                  <p:childTnLst>
                                    <p:set>
                                      <p:cBhvr>
                                        <p:cTn id="42" dur="1" fill="hold">
                                          <p:stCondLst>
                                            <p:cond delay="0"/>
                                          </p:stCondLst>
                                        </p:cTn>
                                        <p:tgtEl>
                                          <p:spTgt spid="10375"/>
                                        </p:tgtEl>
                                        <p:attrNameLst>
                                          <p:attrName>style.visibility</p:attrName>
                                        </p:attrNameLst>
                                      </p:cBhvr>
                                      <p:to>
                                        <p:strVal val="visible"/>
                                      </p:to>
                                    </p:set>
                                    <p:animEffect transition="in" filter="wipe(right)">
                                      <p:cBhvr>
                                        <p:cTn id="43" dur="500"/>
                                        <p:tgtEl>
                                          <p:spTgt spid="1037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0336"/>
                                        </p:tgtEl>
                                        <p:attrNameLst>
                                          <p:attrName>style.visibility</p:attrName>
                                        </p:attrNameLst>
                                      </p:cBhvr>
                                      <p:to>
                                        <p:strVal val="visible"/>
                                      </p:to>
                                    </p:set>
                                  </p:childTnLst>
                                </p:cTn>
                              </p:par>
                            </p:childTnLst>
                          </p:cTn>
                        </p:par>
                        <p:par>
                          <p:cTn id="48" fill="hold" nodeType="afterGroup">
                            <p:stCondLst>
                              <p:cond delay="0"/>
                            </p:stCondLst>
                            <p:childTnLst>
                              <p:par>
                                <p:cTn id="49" presetID="22" presetClass="entr" presetSubtype="8" fill="hold" nodeType="afterEffect">
                                  <p:stCondLst>
                                    <p:cond delay="0"/>
                                  </p:stCondLst>
                                  <p:childTnLst>
                                    <p:set>
                                      <p:cBhvr>
                                        <p:cTn id="50" dur="1" fill="hold">
                                          <p:stCondLst>
                                            <p:cond delay="0"/>
                                          </p:stCondLst>
                                        </p:cTn>
                                        <p:tgtEl>
                                          <p:spTgt spid="10387"/>
                                        </p:tgtEl>
                                        <p:attrNameLst>
                                          <p:attrName>style.visibility</p:attrName>
                                        </p:attrNameLst>
                                      </p:cBhvr>
                                      <p:to>
                                        <p:strVal val="visible"/>
                                      </p:to>
                                    </p:set>
                                    <p:animEffect transition="in" filter="wipe(left)">
                                      <p:cBhvr>
                                        <p:cTn id="51" dur="500"/>
                                        <p:tgtEl>
                                          <p:spTgt spid="10387"/>
                                        </p:tgtEl>
                                      </p:cBhvr>
                                    </p:animEffect>
                                  </p:childTnLst>
                                </p:cTn>
                              </p:par>
                            </p:childTnLst>
                          </p:cTn>
                        </p:par>
                        <p:par>
                          <p:cTn id="52" fill="hold" nodeType="afterGroup">
                            <p:stCondLst>
                              <p:cond delay="500"/>
                            </p:stCondLst>
                            <p:childTnLst>
                              <p:par>
                                <p:cTn id="53" presetID="22" presetClass="entr" presetSubtype="1" fill="hold" nodeType="afterEffect">
                                  <p:stCondLst>
                                    <p:cond delay="0"/>
                                  </p:stCondLst>
                                  <p:childTnLst>
                                    <p:set>
                                      <p:cBhvr>
                                        <p:cTn id="54" dur="1" fill="hold">
                                          <p:stCondLst>
                                            <p:cond delay="0"/>
                                          </p:stCondLst>
                                        </p:cTn>
                                        <p:tgtEl>
                                          <p:spTgt spid="10384"/>
                                        </p:tgtEl>
                                        <p:attrNameLst>
                                          <p:attrName>style.visibility</p:attrName>
                                        </p:attrNameLst>
                                      </p:cBhvr>
                                      <p:to>
                                        <p:strVal val="visible"/>
                                      </p:to>
                                    </p:set>
                                    <p:animEffect transition="in" filter="wipe(up)">
                                      <p:cBhvr>
                                        <p:cTn id="55" dur="500"/>
                                        <p:tgtEl>
                                          <p:spTgt spid="10384"/>
                                        </p:tgtEl>
                                      </p:cBhvr>
                                    </p:animEffect>
                                  </p:childTnLst>
                                </p:cTn>
                              </p:par>
                            </p:childTnLst>
                          </p:cTn>
                        </p:par>
                        <p:par>
                          <p:cTn id="56" fill="hold" nodeType="afterGroup">
                            <p:stCondLst>
                              <p:cond delay="1000"/>
                            </p:stCondLst>
                            <p:childTnLst>
                              <p:par>
                                <p:cTn id="57" presetID="22" presetClass="entr" presetSubtype="2" fill="hold" nodeType="afterEffect">
                                  <p:stCondLst>
                                    <p:cond delay="0"/>
                                  </p:stCondLst>
                                  <p:childTnLst>
                                    <p:set>
                                      <p:cBhvr>
                                        <p:cTn id="58" dur="1" fill="hold">
                                          <p:stCondLst>
                                            <p:cond delay="0"/>
                                          </p:stCondLst>
                                        </p:cTn>
                                        <p:tgtEl>
                                          <p:spTgt spid="10389"/>
                                        </p:tgtEl>
                                        <p:attrNameLst>
                                          <p:attrName>style.visibility</p:attrName>
                                        </p:attrNameLst>
                                      </p:cBhvr>
                                      <p:to>
                                        <p:strVal val="visible"/>
                                      </p:to>
                                    </p:set>
                                    <p:animEffect transition="in" filter="wipe(right)">
                                      <p:cBhvr>
                                        <p:cTn id="59" dur="500"/>
                                        <p:tgtEl>
                                          <p:spTgt spid="10389"/>
                                        </p:tgtEl>
                                      </p:cBhvr>
                                    </p:animEffect>
                                  </p:childTnLst>
                                </p:cTn>
                              </p:par>
                            </p:childTnLst>
                          </p:cTn>
                        </p:par>
                        <p:par>
                          <p:cTn id="60" fill="hold" nodeType="afterGroup">
                            <p:stCondLst>
                              <p:cond delay="1500"/>
                            </p:stCondLst>
                            <p:childTnLst>
                              <p:par>
                                <p:cTn id="61" presetID="22" presetClass="entr" presetSubtype="2" fill="hold" nodeType="afterEffect">
                                  <p:stCondLst>
                                    <p:cond delay="0"/>
                                  </p:stCondLst>
                                  <p:childTnLst>
                                    <p:set>
                                      <p:cBhvr>
                                        <p:cTn id="62" dur="1" fill="hold">
                                          <p:stCondLst>
                                            <p:cond delay="0"/>
                                          </p:stCondLst>
                                        </p:cTn>
                                        <p:tgtEl>
                                          <p:spTgt spid="10388"/>
                                        </p:tgtEl>
                                        <p:attrNameLst>
                                          <p:attrName>style.visibility</p:attrName>
                                        </p:attrNameLst>
                                      </p:cBhvr>
                                      <p:to>
                                        <p:strVal val="visible"/>
                                      </p:to>
                                    </p:set>
                                    <p:animEffect transition="in" filter="wipe(right)">
                                      <p:cBhvr>
                                        <p:cTn id="63" dur="500"/>
                                        <p:tgtEl>
                                          <p:spTgt spid="10388"/>
                                        </p:tgtEl>
                                      </p:cBhvr>
                                    </p:animEffect>
                                  </p:childTnLst>
                                </p:cTn>
                              </p:par>
                            </p:childTnLst>
                          </p:cTn>
                        </p:par>
                        <p:par>
                          <p:cTn id="64" fill="hold" nodeType="afterGroup">
                            <p:stCondLst>
                              <p:cond delay="2000"/>
                            </p:stCondLst>
                            <p:childTnLst>
                              <p:par>
                                <p:cTn id="65" presetID="22" presetClass="entr" presetSubtype="4" fill="hold" nodeType="afterEffect">
                                  <p:stCondLst>
                                    <p:cond delay="0"/>
                                  </p:stCondLst>
                                  <p:childTnLst>
                                    <p:set>
                                      <p:cBhvr>
                                        <p:cTn id="66" dur="1" fill="hold">
                                          <p:stCondLst>
                                            <p:cond delay="0"/>
                                          </p:stCondLst>
                                        </p:cTn>
                                        <p:tgtEl>
                                          <p:spTgt spid="10383"/>
                                        </p:tgtEl>
                                        <p:attrNameLst>
                                          <p:attrName>style.visibility</p:attrName>
                                        </p:attrNameLst>
                                      </p:cBhvr>
                                      <p:to>
                                        <p:strVal val="visible"/>
                                      </p:to>
                                    </p:set>
                                    <p:animEffect transition="in" filter="wipe(down)">
                                      <p:cBhvr>
                                        <p:cTn id="67" dur="500"/>
                                        <p:tgtEl>
                                          <p:spTgt spid="10383"/>
                                        </p:tgtEl>
                                      </p:cBhvr>
                                    </p:animEffect>
                                  </p:childTnLst>
                                </p:cTn>
                              </p:par>
                            </p:childTnLst>
                          </p:cTn>
                        </p:par>
                        <p:par>
                          <p:cTn id="68" fill="hold" nodeType="afterGroup">
                            <p:stCondLst>
                              <p:cond delay="2500"/>
                            </p:stCondLst>
                            <p:childTnLst>
                              <p:par>
                                <p:cTn id="69" presetID="22" presetClass="entr" presetSubtype="8" fill="hold" nodeType="afterEffect">
                                  <p:stCondLst>
                                    <p:cond delay="0"/>
                                  </p:stCondLst>
                                  <p:childTnLst>
                                    <p:set>
                                      <p:cBhvr>
                                        <p:cTn id="70" dur="1" fill="hold">
                                          <p:stCondLst>
                                            <p:cond delay="0"/>
                                          </p:stCondLst>
                                        </p:cTn>
                                        <p:tgtEl>
                                          <p:spTgt spid="10385"/>
                                        </p:tgtEl>
                                        <p:attrNameLst>
                                          <p:attrName>style.visibility</p:attrName>
                                        </p:attrNameLst>
                                      </p:cBhvr>
                                      <p:to>
                                        <p:strVal val="visible"/>
                                      </p:to>
                                    </p:set>
                                    <p:animEffect transition="in" filter="wipe(left)">
                                      <p:cBhvr>
                                        <p:cTn id="71" dur="500"/>
                                        <p:tgtEl>
                                          <p:spTgt spid="10385"/>
                                        </p:tgtEl>
                                      </p:cBhvr>
                                    </p:animEffect>
                                  </p:childTnLst>
                                </p:cTn>
                              </p:par>
                            </p:childTnLst>
                          </p:cTn>
                        </p:par>
                        <p:par>
                          <p:cTn id="72" fill="hold" nodeType="afterGroup">
                            <p:stCondLst>
                              <p:cond delay="3000"/>
                            </p:stCondLst>
                            <p:childTnLst>
                              <p:par>
                                <p:cTn id="73" presetID="1" presetClass="entr" presetSubtype="0" fill="hold" grpId="0" nodeType="afterEffect">
                                  <p:stCondLst>
                                    <p:cond delay="0"/>
                                  </p:stCondLst>
                                  <p:childTnLst>
                                    <p:set>
                                      <p:cBhvr>
                                        <p:cTn id="74" dur="1" fill="hold">
                                          <p:stCondLst>
                                            <p:cond delay="0"/>
                                          </p:stCondLst>
                                        </p:cTn>
                                        <p:tgtEl>
                                          <p:spTgt spid="10292"/>
                                        </p:tgtEl>
                                        <p:attrNameLst>
                                          <p:attrName>style.visibility</p:attrName>
                                        </p:attrNameLst>
                                      </p:cBhvr>
                                      <p:to>
                                        <p:strVal val="visible"/>
                                      </p:to>
                                    </p:set>
                                  </p:childTnLst>
                                </p:cTn>
                              </p:par>
                            </p:childTnLst>
                          </p:cTn>
                        </p:par>
                        <p:par>
                          <p:cTn id="75" fill="hold" nodeType="afterGroup">
                            <p:stCondLst>
                              <p:cond delay="3000"/>
                            </p:stCondLst>
                            <p:childTnLst>
                              <p:par>
                                <p:cTn id="76" presetID="1" presetClass="entr" presetSubtype="0" fill="hold" grpId="0" nodeType="afterEffect">
                                  <p:stCondLst>
                                    <p:cond delay="0"/>
                                  </p:stCondLst>
                                  <p:childTnLst>
                                    <p:set>
                                      <p:cBhvr>
                                        <p:cTn id="77" dur="1" fill="hold">
                                          <p:stCondLst>
                                            <p:cond delay="0"/>
                                          </p:stCondLst>
                                        </p:cTn>
                                        <p:tgtEl>
                                          <p:spTgt spid="10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2" grpId="0"/>
      <p:bldP spid="10336" grpId="0"/>
      <p:bldP spid="1039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ext Box 35">
            <a:extLst>
              <a:ext uri="{FF2B5EF4-FFF2-40B4-BE49-F238E27FC236}">
                <a16:creationId xmlns:a16="http://schemas.microsoft.com/office/drawing/2014/main" id="{E61E6D5A-D81E-6944-8475-47DC70A21EE1}"/>
              </a:ext>
            </a:extLst>
          </p:cNvPr>
          <p:cNvSpPr txBox="1">
            <a:spLocks noChangeArrowheads="1"/>
          </p:cNvSpPr>
          <p:nvPr/>
        </p:nvSpPr>
        <p:spPr bwMode="auto">
          <a:xfrm>
            <a:off x="3657600" y="457200"/>
            <a:ext cx="4800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en-US" altLang="en-US" sz="4400" i="1">
                <a:latin typeface="Times New Roman" panose="02020603050405020304" pitchFamily="18" charset="0"/>
              </a:rPr>
              <a:t>Proof cont</a:t>
            </a:r>
            <a:r>
              <a:rPr lang="ja-JP" altLang="en-US" sz="4400" i="1">
                <a:latin typeface="Times New Roman" panose="02020603050405020304" pitchFamily="18" charset="0"/>
              </a:rPr>
              <a:t>’</a:t>
            </a:r>
            <a:r>
              <a:rPr lang="en-US" altLang="ja-JP" sz="4400" i="1">
                <a:latin typeface="Times New Roman" panose="02020603050405020304" pitchFamily="18" charset="0"/>
              </a:rPr>
              <a:t>d</a:t>
            </a:r>
            <a:endParaRPr lang="en-US" altLang="en-US" sz="4400" i="1">
              <a:latin typeface="Times New Roman" panose="02020603050405020304" pitchFamily="18" charset="0"/>
            </a:endParaRPr>
          </a:p>
        </p:txBody>
      </p:sp>
      <p:sp>
        <p:nvSpPr>
          <p:cNvPr id="27650" name="Text Box 36">
            <a:extLst>
              <a:ext uri="{FF2B5EF4-FFF2-40B4-BE49-F238E27FC236}">
                <a16:creationId xmlns:a16="http://schemas.microsoft.com/office/drawing/2014/main" id="{493AF6CC-483C-4B46-B2B8-1C988912D7F1}"/>
              </a:ext>
            </a:extLst>
          </p:cNvPr>
          <p:cNvSpPr txBox="1">
            <a:spLocks noChangeArrowheads="1"/>
          </p:cNvSpPr>
          <p:nvPr/>
        </p:nvSpPr>
        <p:spPr bwMode="auto">
          <a:xfrm>
            <a:off x="2057400" y="3276601"/>
            <a:ext cx="815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en-US" altLang="en-US" sz="2000" i="1">
                <a:latin typeface="Times New Roman" panose="02020603050405020304" pitchFamily="18" charset="0"/>
              </a:rPr>
              <a:t>C´ = D + C</a:t>
            </a:r>
          </a:p>
        </p:txBody>
      </p:sp>
      <p:sp>
        <p:nvSpPr>
          <p:cNvPr id="27651" name="Text Box 40">
            <a:extLst>
              <a:ext uri="{FF2B5EF4-FFF2-40B4-BE49-F238E27FC236}">
                <a16:creationId xmlns:a16="http://schemas.microsoft.com/office/drawing/2014/main" id="{35C94EB5-4611-E443-A160-4AE90AB94D8F}"/>
              </a:ext>
            </a:extLst>
          </p:cNvPr>
          <p:cNvSpPr txBox="1">
            <a:spLocks noChangeArrowheads="1"/>
          </p:cNvSpPr>
          <p:nvPr/>
        </p:nvSpPr>
        <p:spPr bwMode="auto">
          <a:xfrm>
            <a:off x="2057400" y="1752601"/>
            <a:ext cx="83058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pPr>
            <a:r>
              <a:rPr lang="en-US" altLang="en-US" sz="1800">
                <a:latin typeface="Times New Roman" panose="02020603050405020304" pitchFamily="18" charset="0"/>
              </a:rPr>
              <a:t>    </a:t>
            </a:r>
            <a:r>
              <a:rPr lang="en-US" altLang="en-US" sz="2000">
                <a:latin typeface="Times New Roman" panose="02020603050405020304" pitchFamily="18" charset="0"/>
              </a:rPr>
              <a:t>Since </a:t>
            </a:r>
            <a:r>
              <a:rPr lang="en-US" altLang="en-US" sz="2000" i="1">
                <a:latin typeface="Times New Roman" panose="02020603050405020304" pitchFamily="18" charset="0"/>
              </a:rPr>
              <a:t>C</a:t>
            </a:r>
            <a:r>
              <a:rPr lang="en-US" altLang="en-US" sz="2000">
                <a:latin typeface="Times New Roman" panose="02020603050405020304" pitchFamily="18" charset="0"/>
              </a:rPr>
              <a:t> and </a:t>
            </a:r>
            <a:r>
              <a:rPr lang="en-US" altLang="en-US" sz="2000" i="1">
                <a:latin typeface="Times New Roman" panose="02020603050405020304" pitchFamily="18" charset="0"/>
              </a:rPr>
              <a:t>D</a:t>
            </a:r>
            <a:r>
              <a:rPr lang="en-US" altLang="en-US" sz="2000">
                <a:latin typeface="Times New Roman" panose="02020603050405020304" pitchFamily="18" charset="0"/>
              </a:rPr>
              <a:t> were originally connected, there must be at least one common vertex; pick one (point d)</a:t>
            </a:r>
          </a:p>
          <a:p>
            <a:pPr eaLnBrk="1" hangingPunct="1">
              <a:spcBef>
                <a:spcPct val="0"/>
              </a:spcBef>
            </a:pPr>
            <a:r>
              <a:rPr lang="en-US" altLang="en-US" sz="2000">
                <a:latin typeface="Times New Roman" panose="02020603050405020304" pitchFamily="18" charset="0"/>
              </a:rPr>
              <a:t>    Build a new cycle </a:t>
            </a:r>
            <a:r>
              <a:rPr lang="en-US" altLang="en-US" sz="2000" i="1">
                <a:latin typeface="Times New Roman" panose="02020603050405020304" pitchFamily="18" charset="0"/>
              </a:rPr>
              <a:t>C</a:t>
            </a:r>
            <a:r>
              <a:rPr lang="en-US" altLang="en-US" sz="2000">
                <a:latin typeface="Times New Roman" panose="02020603050405020304" pitchFamily="18" charset="0"/>
              </a:rPr>
              <a:t>´, by putting </a:t>
            </a:r>
            <a:r>
              <a:rPr lang="en-US" altLang="en-US" sz="2000" i="1">
                <a:latin typeface="Times New Roman" panose="02020603050405020304" pitchFamily="18" charset="0"/>
              </a:rPr>
              <a:t>D</a:t>
            </a:r>
            <a:r>
              <a:rPr lang="en-US" altLang="en-US" sz="2000">
                <a:latin typeface="Times New Roman" panose="02020603050405020304" pitchFamily="18" charset="0"/>
              </a:rPr>
              <a:t> into </a:t>
            </a:r>
            <a:r>
              <a:rPr lang="en-US" altLang="en-US" sz="2000" i="1">
                <a:latin typeface="Times New Roman" panose="02020603050405020304" pitchFamily="18" charset="0"/>
              </a:rPr>
              <a:t>C</a:t>
            </a:r>
            <a:r>
              <a:rPr lang="en-US" altLang="en-US" sz="2000">
                <a:latin typeface="Times New Roman" panose="02020603050405020304" pitchFamily="18" charset="0"/>
              </a:rPr>
              <a:t> at the common point to get a larger cycle</a:t>
            </a:r>
            <a:r>
              <a:rPr lang="en-US" altLang="en-US" sz="1800">
                <a:latin typeface="Times New Roman" panose="02020603050405020304" pitchFamily="18" charset="0"/>
              </a:rPr>
              <a:t>.</a:t>
            </a:r>
          </a:p>
        </p:txBody>
      </p:sp>
      <p:sp>
        <p:nvSpPr>
          <p:cNvPr id="27652" name="Text Box 41">
            <a:extLst>
              <a:ext uri="{FF2B5EF4-FFF2-40B4-BE49-F238E27FC236}">
                <a16:creationId xmlns:a16="http://schemas.microsoft.com/office/drawing/2014/main" id="{97D1E5BE-48D8-6940-9193-11BE236A68FF}"/>
              </a:ext>
            </a:extLst>
          </p:cNvPr>
          <p:cNvSpPr txBox="1">
            <a:spLocks noChangeArrowheads="1"/>
          </p:cNvSpPr>
          <p:nvPr/>
        </p:nvSpPr>
        <p:spPr bwMode="auto">
          <a:xfrm>
            <a:off x="2286001" y="4343400"/>
            <a:ext cx="34820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i="1">
                <a:latin typeface="Times New Roman" panose="02020603050405020304" pitchFamily="18" charset="0"/>
              </a:rPr>
              <a:t>C´</a:t>
            </a:r>
            <a:r>
              <a:rPr lang="en-US" altLang="en-US" sz="2000">
                <a:latin typeface="Times New Roman" panose="02020603050405020304" pitchFamily="18" charset="0"/>
              </a:rPr>
              <a:t> is presented on the next slide</a:t>
            </a:r>
          </a:p>
        </p:txBody>
      </p:sp>
    </p:spTree>
    <p:extLst>
      <p:ext uri="{BB962C8B-B14F-4D97-AF65-F5344CB8AC3E}">
        <p14:creationId xmlns:p14="http://schemas.microsoft.com/office/powerpoint/2010/main" val="4203044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9F48C22A-D8FA-C149-BF57-A0EF59CA62F3}"/>
              </a:ext>
            </a:extLst>
          </p:cNvPr>
          <p:cNvSpPr>
            <a:spLocks noGrp="1" noChangeArrowheads="1"/>
          </p:cNvSpPr>
          <p:nvPr>
            <p:ph type="title"/>
          </p:nvPr>
        </p:nvSpPr>
        <p:spPr>
          <a:xfrm>
            <a:off x="1981200" y="274638"/>
            <a:ext cx="8229600" cy="944562"/>
          </a:xfrm>
        </p:spPr>
        <p:txBody>
          <a:bodyPr/>
          <a:lstStyle/>
          <a:p>
            <a:pPr eaLnBrk="1" hangingPunct="1"/>
            <a:r>
              <a:rPr lang="en-US" altLang="en-US" i="1">
                <a:latin typeface="Times New Roman" panose="02020603050405020304" pitchFamily="18" charset="0"/>
                <a:ea typeface="ＭＳ Ｐゴシック" panose="020B0600070205080204" pitchFamily="34" charset="-128"/>
              </a:rPr>
              <a:t>Proof Cont</a:t>
            </a:r>
            <a:r>
              <a:rPr lang="ja-JP" altLang="en-US" i="1">
                <a:latin typeface="Times New Roman" panose="02020603050405020304" pitchFamily="18" charset="0"/>
                <a:ea typeface="ＭＳ Ｐゴシック" panose="020B0600070205080204" pitchFamily="34" charset="-128"/>
              </a:rPr>
              <a:t>’</a:t>
            </a:r>
            <a:r>
              <a:rPr lang="en-US" altLang="ja-JP" i="1">
                <a:latin typeface="Times New Roman" panose="02020603050405020304" pitchFamily="18" charset="0"/>
                <a:ea typeface="ＭＳ Ｐゴシック" panose="020B0600070205080204" pitchFamily="34" charset="-128"/>
              </a:rPr>
              <a:t>d</a:t>
            </a:r>
            <a:endParaRPr lang="en-US" altLang="en-US" i="1">
              <a:latin typeface="Times New Roman" panose="02020603050405020304" pitchFamily="18" charset="0"/>
              <a:ea typeface="ＭＳ Ｐゴシック" panose="020B0600070205080204" pitchFamily="34" charset="-128"/>
            </a:endParaRPr>
          </a:p>
        </p:txBody>
      </p:sp>
      <p:grpSp>
        <p:nvGrpSpPr>
          <p:cNvPr id="2" name="Group 78">
            <a:extLst>
              <a:ext uri="{FF2B5EF4-FFF2-40B4-BE49-F238E27FC236}">
                <a16:creationId xmlns:a16="http://schemas.microsoft.com/office/drawing/2014/main" id="{1F450B3F-51AB-F14F-B62B-BFF39E9DF624}"/>
              </a:ext>
            </a:extLst>
          </p:cNvPr>
          <p:cNvGrpSpPr>
            <a:grpSpLocks/>
          </p:cNvGrpSpPr>
          <p:nvPr/>
        </p:nvGrpSpPr>
        <p:grpSpPr bwMode="auto">
          <a:xfrm>
            <a:off x="3733800" y="1905001"/>
            <a:ext cx="3276600" cy="1585913"/>
            <a:chOff x="3552" y="480"/>
            <a:chExt cx="2064" cy="999"/>
          </a:xfrm>
        </p:grpSpPr>
        <p:sp>
          <p:nvSpPr>
            <p:cNvPr id="28720" name="Text Box 5">
              <a:extLst>
                <a:ext uri="{FF2B5EF4-FFF2-40B4-BE49-F238E27FC236}">
                  <a16:creationId xmlns:a16="http://schemas.microsoft.com/office/drawing/2014/main" id="{16191222-5DBE-4348-AB6D-D7B891F76D38}"/>
                </a:ext>
              </a:extLst>
            </p:cNvPr>
            <p:cNvSpPr txBox="1">
              <a:spLocks noChangeArrowheads="1"/>
            </p:cNvSpPr>
            <p:nvPr/>
          </p:nvSpPr>
          <p:spPr bwMode="auto">
            <a:xfrm>
              <a:off x="3648" y="480"/>
              <a:ext cx="19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c                   </a:t>
              </a:r>
              <a:r>
                <a:rPr lang="en-US" altLang="en-US" sz="1600">
                  <a:solidFill>
                    <a:srgbClr val="00FF00"/>
                  </a:solidFill>
                  <a:latin typeface="Times New Roman" panose="02020603050405020304" pitchFamily="18" charset="0"/>
                </a:rPr>
                <a:t>d</a:t>
              </a:r>
              <a:r>
                <a:rPr lang="en-US" altLang="en-US" sz="1600">
                  <a:latin typeface="Times New Roman" panose="02020603050405020304" pitchFamily="18" charset="0"/>
                </a:rPr>
                <a:t>                             e</a:t>
              </a:r>
            </a:p>
          </p:txBody>
        </p:sp>
        <p:sp>
          <p:nvSpPr>
            <p:cNvPr id="28721" name="Freeform 8">
              <a:extLst>
                <a:ext uri="{FF2B5EF4-FFF2-40B4-BE49-F238E27FC236}">
                  <a16:creationId xmlns:a16="http://schemas.microsoft.com/office/drawing/2014/main" id="{4AFEBEFB-FA0F-8C49-A324-3535A42E9D24}"/>
                </a:ext>
              </a:extLst>
            </p:cNvPr>
            <p:cNvSpPr>
              <a:spLocks/>
            </p:cNvSpPr>
            <p:nvPr/>
          </p:nvSpPr>
          <p:spPr bwMode="auto">
            <a:xfrm>
              <a:off x="3744" y="720"/>
              <a:ext cx="1536" cy="576"/>
            </a:xfrm>
            <a:custGeom>
              <a:avLst/>
              <a:gdLst>
                <a:gd name="T0" fmla="*/ 0 w 2544"/>
                <a:gd name="T1" fmla="*/ 0 h 912"/>
                <a:gd name="T2" fmla="*/ 38 w 2544"/>
                <a:gd name="T3" fmla="*/ 0 h 912"/>
                <a:gd name="T4" fmla="*/ 74 w 2544"/>
                <a:gd name="T5" fmla="*/ 0 h 912"/>
                <a:gd name="T6" fmla="*/ 74 w 2544"/>
                <a:gd name="T7" fmla="*/ 37 h 912"/>
                <a:gd name="T8" fmla="*/ 36 w 2544"/>
                <a:gd name="T9" fmla="*/ 37 h 912"/>
                <a:gd name="T10" fmla="*/ 0 w 2544"/>
                <a:gd name="T11" fmla="*/ 37 h 912"/>
                <a:gd name="T12" fmla="*/ 0 w 2544"/>
                <a:gd name="T13" fmla="*/ 0 h 912"/>
                <a:gd name="T14" fmla="*/ 0 60000 65536"/>
                <a:gd name="T15" fmla="*/ 0 60000 65536"/>
                <a:gd name="T16" fmla="*/ 0 60000 65536"/>
                <a:gd name="T17" fmla="*/ 0 60000 65536"/>
                <a:gd name="T18" fmla="*/ 0 60000 65536"/>
                <a:gd name="T19" fmla="*/ 0 60000 65536"/>
                <a:gd name="T20" fmla="*/ 0 60000 65536"/>
                <a:gd name="T21" fmla="*/ 0 w 2544"/>
                <a:gd name="T22" fmla="*/ 0 h 912"/>
                <a:gd name="T23" fmla="*/ 2544 w 2544"/>
                <a:gd name="T24" fmla="*/ 912 h 9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44" h="912">
                  <a:moveTo>
                    <a:pt x="0" y="0"/>
                  </a:moveTo>
                  <a:lnTo>
                    <a:pt x="1296" y="0"/>
                  </a:lnTo>
                  <a:lnTo>
                    <a:pt x="2544" y="0"/>
                  </a:lnTo>
                  <a:lnTo>
                    <a:pt x="2544" y="912"/>
                  </a:lnTo>
                  <a:lnTo>
                    <a:pt x="1248" y="912"/>
                  </a:lnTo>
                  <a:lnTo>
                    <a:pt x="0" y="912"/>
                  </a:lnTo>
                  <a:lnTo>
                    <a:pt x="0" y="0"/>
                  </a:lnTo>
                  <a:close/>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722" name="Oval 9">
              <a:extLst>
                <a:ext uri="{FF2B5EF4-FFF2-40B4-BE49-F238E27FC236}">
                  <a16:creationId xmlns:a16="http://schemas.microsoft.com/office/drawing/2014/main" id="{3A600C37-0851-D544-8B53-68B13F6314AB}"/>
                </a:ext>
              </a:extLst>
            </p:cNvPr>
            <p:cNvSpPr>
              <a:spLocks noChangeArrowheads="1"/>
            </p:cNvSpPr>
            <p:nvPr/>
          </p:nvSpPr>
          <p:spPr bwMode="auto">
            <a:xfrm>
              <a:off x="3696" y="672"/>
              <a:ext cx="96" cy="96"/>
            </a:xfrm>
            <a:prstGeom prst="ellipse">
              <a:avLst/>
            </a:prstGeom>
            <a:solidFill>
              <a:schemeClr val="tx1"/>
            </a:solidFill>
            <a:ln w="19050">
              <a:solidFill>
                <a:srgbClr val="0000FF"/>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23" name="Oval 10">
              <a:extLst>
                <a:ext uri="{FF2B5EF4-FFF2-40B4-BE49-F238E27FC236}">
                  <a16:creationId xmlns:a16="http://schemas.microsoft.com/office/drawing/2014/main" id="{9161C658-65A0-B54E-BD41-9AE50732AE3B}"/>
                </a:ext>
              </a:extLst>
            </p:cNvPr>
            <p:cNvSpPr>
              <a:spLocks noChangeArrowheads="1"/>
            </p:cNvSpPr>
            <p:nvPr/>
          </p:nvSpPr>
          <p:spPr bwMode="auto">
            <a:xfrm>
              <a:off x="4464" y="672"/>
              <a:ext cx="96" cy="96"/>
            </a:xfrm>
            <a:prstGeom prst="ellipse">
              <a:avLst/>
            </a:prstGeom>
            <a:solidFill>
              <a:schemeClr val="tx1"/>
            </a:solidFill>
            <a:ln w="19050">
              <a:solidFill>
                <a:srgbClr val="0000FF"/>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24" name="Oval 11">
              <a:extLst>
                <a:ext uri="{FF2B5EF4-FFF2-40B4-BE49-F238E27FC236}">
                  <a16:creationId xmlns:a16="http://schemas.microsoft.com/office/drawing/2014/main" id="{3B9E442C-BF7F-154F-8B78-6711C0C4E6AC}"/>
                </a:ext>
              </a:extLst>
            </p:cNvPr>
            <p:cNvSpPr>
              <a:spLocks noChangeArrowheads="1"/>
            </p:cNvSpPr>
            <p:nvPr/>
          </p:nvSpPr>
          <p:spPr bwMode="auto">
            <a:xfrm>
              <a:off x="5232" y="672"/>
              <a:ext cx="96" cy="96"/>
            </a:xfrm>
            <a:prstGeom prst="ellipse">
              <a:avLst/>
            </a:prstGeom>
            <a:solidFill>
              <a:schemeClr val="tx1"/>
            </a:solidFill>
            <a:ln w="19050">
              <a:solidFill>
                <a:srgbClr val="0000FF"/>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25" name="Oval 12">
              <a:extLst>
                <a:ext uri="{FF2B5EF4-FFF2-40B4-BE49-F238E27FC236}">
                  <a16:creationId xmlns:a16="http://schemas.microsoft.com/office/drawing/2014/main" id="{F3B928B5-834C-124C-B02E-C1BE5498F871}"/>
                </a:ext>
              </a:extLst>
            </p:cNvPr>
            <p:cNvSpPr>
              <a:spLocks noChangeArrowheads="1"/>
            </p:cNvSpPr>
            <p:nvPr/>
          </p:nvSpPr>
          <p:spPr bwMode="auto">
            <a:xfrm>
              <a:off x="5232" y="1248"/>
              <a:ext cx="96" cy="96"/>
            </a:xfrm>
            <a:prstGeom prst="ellipse">
              <a:avLst/>
            </a:prstGeom>
            <a:solidFill>
              <a:schemeClr val="tx1"/>
            </a:solidFill>
            <a:ln w="19050">
              <a:solidFill>
                <a:srgbClr val="0000FF"/>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26" name="Oval 13">
              <a:extLst>
                <a:ext uri="{FF2B5EF4-FFF2-40B4-BE49-F238E27FC236}">
                  <a16:creationId xmlns:a16="http://schemas.microsoft.com/office/drawing/2014/main" id="{3F627E64-6CE4-B44F-8B2D-22C2FE1221AB}"/>
                </a:ext>
              </a:extLst>
            </p:cNvPr>
            <p:cNvSpPr>
              <a:spLocks noChangeArrowheads="1"/>
            </p:cNvSpPr>
            <p:nvPr/>
          </p:nvSpPr>
          <p:spPr bwMode="auto">
            <a:xfrm>
              <a:off x="4464" y="1248"/>
              <a:ext cx="96" cy="96"/>
            </a:xfrm>
            <a:prstGeom prst="ellipse">
              <a:avLst/>
            </a:prstGeom>
            <a:solidFill>
              <a:schemeClr val="tx1"/>
            </a:solidFill>
            <a:ln w="19050">
              <a:solidFill>
                <a:srgbClr val="0000FF"/>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27" name="Oval 14">
              <a:extLst>
                <a:ext uri="{FF2B5EF4-FFF2-40B4-BE49-F238E27FC236}">
                  <a16:creationId xmlns:a16="http://schemas.microsoft.com/office/drawing/2014/main" id="{40503579-EE30-7F40-B86C-A744A335B153}"/>
                </a:ext>
              </a:extLst>
            </p:cNvPr>
            <p:cNvSpPr>
              <a:spLocks noChangeArrowheads="1"/>
            </p:cNvSpPr>
            <p:nvPr/>
          </p:nvSpPr>
          <p:spPr bwMode="auto">
            <a:xfrm>
              <a:off x="3696" y="1248"/>
              <a:ext cx="96" cy="96"/>
            </a:xfrm>
            <a:prstGeom prst="ellipse">
              <a:avLst/>
            </a:prstGeom>
            <a:solidFill>
              <a:schemeClr val="tx1"/>
            </a:solidFill>
            <a:ln w="19050">
              <a:solidFill>
                <a:srgbClr val="0000FF"/>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28" name="Text Box 15">
              <a:extLst>
                <a:ext uri="{FF2B5EF4-FFF2-40B4-BE49-F238E27FC236}">
                  <a16:creationId xmlns:a16="http://schemas.microsoft.com/office/drawing/2014/main" id="{B5765A13-A5E8-A344-B181-AD466E03D173}"/>
                </a:ext>
              </a:extLst>
            </p:cNvPr>
            <p:cNvSpPr txBox="1">
              <a:spLocks noChangeArrowheads="1"/>
            </p:cNvSpPr>
            <p:nvPr/>
          </p:nvSpPr>
          <p:spPr bwMode="auto">
            <a:xfrm>
              <a:off x="3552" y="1248"/>
              <a:ext cx="19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g</a:t>
              </a:r>
              <a:r>
                <a:rPr lang="en-US" altLang="en-US" sz="1800">
                  <a:latin typeface="Times New Roman" panose="02020603050405020304" pitchFamily="18" charset="0"/>
                </a:rPr>
                <a:t>                     </a:t>
              </a:r>
              <a:r>
                <a:rPr lang="en-US" altLang="en-US" sz="1600">
                  <a:latin typeface="Times New Roman" panose="02020603050405020304" pitchFamily="18" charset="0"/>
                </a:rPr>
                <a:t>h                           i</a:t>
              </a:r>
              <a:endParaRPr lang="en-US" altLang="en-US" sz="1800">
                <a:latin typeface="Times New Roman" panose="02020603050405020304" pitchFamily="18" charset="0"/>
              </a:endParaRPr>
            </a:p>
          </p:txBody>
        </p:sp>
      </p:grpSp>
      <p:grpSp>
        <p:nvGrpSpPr>
          <p:cNvPr id="3" name="Group 74">
            <a:extLst>
              <a:ext uri="{FF2B5EF4-FFF2-40B4-BE49-F238E27FC236}">
                <a16:creationId xmlns:a16="http://schemas.microsoft.com/office/drawing/2014/main" id="{BA0810A7-DE22-A043-AB10-6B8D9E3289F3}"/>
              </a:ext>
            </a:extLst>
          </p:cNvPr>
          <p:cNvGrpSpPr>
            <a:grpSpLocks/>
          </p:cNvGrpSpPr>
          <p:nvPr/>
        </p:nvGrpSpPr>
        <p:grpSpPr bwMode="auto">
          <a:xfrm>
            <a:off x="5181600" y="914400"/>
            <a:ext cx="3048000" cy="3689350"/>
            <a:chOff x="2448" y="1056"/>
            <a:chExt cx="1920" cy="2324"/>
          </a:xfrm>
        </p:grpSpPr>
        <p:sp>
          <p:nvSpPr>
            <p:cNvPr id="28694" name="Text Box 29">
              <a:extLst>
                <a:ext uri="{FF2B5EF4-FFF2-40B4-BE49-F238E27FC236}">
                  <a16:creationId xmlns:a16="http://schemas.microsoft.com/office/drawing/2014/main" id="{53B3AA6A-68C9-8943-A28D-6005A13FC7E4}"/>
                </a:ext>
              </a:extLst>
            </p:cNvPr>
            <p:cNvSpPr txBox="1">
              <a:spLocks noChangeArrowheads="1"/>
            </p:cNvSpPr>
            <p:nvPr/>
          </p:nvSpPr>
          <p:spPr bwMode="auto">
            <a:xfrm>
              <a:off x="2496" y="3168"/>
              <a:ext cx="91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k                   l</a:t>
              </a:r>
            </a:p>
          </p:txBody>
        </p:sp>
        <p:sp>
          <p:nvSpPr>
            <p:cNvPr id="28695" name="Text Box 30">
              <a:extLst>
                <a:ext uri="{FF2B5EF4-FFF2-40B4-BE49-F238E27FC236}">
                  <a16:creationId xmlns:a16="http://schemas.microsoft.com/office/drawing/2014/main" id="{2C0A9949-2304-F049-B5CA-491C6E16973F}"/>
                </a:ext>
              </a:extLst>
            </p:cNvPr>
            <p:cNvSpPr txBox="1">
              <a:spLocks noChangeArrowheads="1"/>
            </p:cNvSpPr>
            <p:nvPr/>
          </p:nvSpPr>
          <p:spPr bwMode="auto">
            <a:xfrm>
              <a:off x="2448" y="1056"/>
              <a:ext cx="9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a                 b</a:t>
              </a:r>
            </a:p>
          </p:txBody>
        </p:sp>
        <p:sp>
          <p:nvSpPr>
            <p:cNvPr id="28696" name="Text Box 31">
              <a:extLst>
                <a:ext uri="{FF2B5EF4-FFF2-40B4-BE49-F238E27FC236}">
                  <a16:creationId xmlns:a16="http://schemas.microsoft.com/office/drawing/2014/main" id="{C9E75BBE-59D3-064D-B0AD-A52BD1BE4D7A}"/>
                </a:ext>
              </a:extLst>
            </p:cNvPr>
            <p:cNvSpPr txBox="1">
              <a:spLocks noChangeArrowheads="1"/>
            </p:cNvSpPr>
            <p:nvPr/>
          </p:nvSpPr>
          <p:spPr bwMode="auto">
            <a:xfrm>
              <a:off x="4080" y="1776"/>
              <a:ext cx="2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f</a:t>
              </a:r>
            </a:p>
          </p:txBody>
        </p:sp>
        <p:sp>
          <p:nvSpPr>
            <p:cNvPr id="28697" name="Text Box 32">
              <a:extLst>
                <a:ext uri="{FF2B5EF4-FFF2-40B4-BE49-F238E27FC236}">
                  <a16:creationId xmlns:a16="http://schemas.microsoft.com/office/drawing/2014/main" id="{C931D047-08E0-AA41-959A-D9D58CFAFA9B}"/>
                </a:ext>
              </a:extLst>
            </p:cNvPr>
            <p:cNvSpPr txBox="1">
              <a:spLocks noChangeArrowheads="1"/>
            </p:cNvSpPr>
            <p:nvPr/>
          </p:nvSpPr>
          <p:spPr bwMode="auto">
            <a:xfrm>
              <a:off x="4080" y="2448"/>
              <a:ext cx="2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600">
                  <a:latin typeface="Times New Roman" panose="02020603050405020304" pitchFamily="18" charset="0"/>
                </a:rPr>
                <a:t>j</a:t>
              </a:r>
            </a:p>
          </p:txBody>
        </p:sp>
        <p:grpSp>
          <p:nvGrpSpPr>
            <p:cNvPr id="28698" name="Group 54">
              <a:extLst>
                <a:ext uri="{FF2B5EF4-FFF2-40B4-BE49-F238E27FC236}">
                  <a16:creationId xmlns:a16="http://schemas.microsoft.com/office/drawing/2014/main" id="{05AFF8AE-A6F6-BF4D-B385-352A5E35970C}"/>
                </a:ext>
              </a:extLst>
            </p:cNvPr>
            <p:cNvGrpSpPr>
              <a:grpSpLocks/>
            </p:cNvGrpSpPr>
            <p:nvPr/>
          </p:nvGrpSpPr>
          <p:grpSpPr bwMode="auto">
            <a:xfrm>
              <a:off x="2448" y="1296"/>
              <a:ext cx="1632" cy="1824"/>
              <a:chOff x="3504" y="432"/>
              <a:chExt cx="1632" cy="1824"/>
            </a:xfrm>
          </p:grpSpPr>
          <p:sp>
            <p:nvSpPr>
              <p:cNvPr id="28699" name="Oval 18">
                <a:extLst>
                  <a:ext uri="{FF2B5EF4-FFF2-40B4-BE49-F238E27FC236}">
                    <a16:creationId xmlns:a16="http://schemas.microsoft.com/office/drawing/2014/main" id="{E5B48CD5-9E22-9146-90FF-4E3A0CF8C31A}"/>
                  </a:ext>
                </a:extLst>
              </p:cNvPr>
              <p:cNvSpPr>
                <a:spLocks noChangeArrowheads="1"/>
              </p:cNvSpPr>
              <p:nvPr/>
            </p:nvSpPr>
            <p:spPr bwMode="auto">
              <a:xfrm>
                <a:off x="4272" y="432"/>
                <a:ext cx="96" cy="96"/>
              </a:xfrm>
              <a:prstGeom prst="ellipse">
                <a:avLst/>
              </a:prstGeom>
              <a:solidFill>
                <a:schemeClr val="tx1"/>
              </a:solidFill>
              <a:ln w="19050">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00" name="Oval 19">
                <a:extLst>
                  <a:ext uri="{FF2B5EF4-FFF2-40B4-BE49-F238E27FC236}">
                    <a16:creationId xmlns:a16="http://schemas.microsoft.com/office/drawing/2014/main" id="{A6FDB061-1163-E742-A04E-1410D9524A53}"/>
                  </a:ext>
                </a:extLst>
              </p:cNvPr>
              <p:cNvSpPr>
                <a:spLocks noChangeArrowheads="1"/>
              </p:cNvSpPr>
              <p:nvPr/>
            </p:nvSpPr>
            <p:spPr bwMode="auto">
              <a:xfrm>
                <a:off x="4272" y="1584"/>
                <a:ext cx="96" cy="96"/>
              </a:xfrm>
              <a:prstGeom prst="ellipse">
                <a:avLst/>
              </a:prstGeom>
              <a:solidFill>
                <a:schemeClr val="tx1"/>
              </a:solidFill>
              <a:ln w="19050">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01" name="Oval 20">
                <a:extLst>
                  <a:ext uri="{FF2B5EF4-FFF2-40B4-BE49-F238E27FC236}">
                    <a16:creationId xmlns:a16="http://schemas.microsoft.com/office/drawing/2014/main" id="{4A86947C-5611-2D45-86D4-4BD7717B761A}"/>
                  </a:ext>
                </a:extLst>
              </p:cNvPr>
              <p:cNvSpPr>
                <a:spLocks noChangeArrowheads="1"/>
              </p:cNvSpPr>
              <p:nvPr/>
            </p:nvSpPr>
            <p:spPr bwMode="auto">
              <a:xfrm>
                <a:off x="4272" y="2160"/>
                <a:ext cx="96" cy="96"/>
              </a:xfrm>
              <a:prstGeom prst="ellipse">
                <a:avLst/>
              </a:prstGeom>
              <a:solidFill>
                <a:schemeClr val="tx1"/>
              </a:solidFill>
              <a:ln w="19050">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02" name="Oval 21">
                <a:extLst>
                  <a:ext uri="{FF2B5EF4-FFF2-40B4-BE49-F238E27FC236}">
                    <a16:creationId xmlns:a16="http://schemas.microsoft.com/office/drawing/2014/main" id="{42265B93-B64D-CB45-B55D-211284D2AEAA}"/>
                  </a:ext>
                </a:extLst>
              </p:cNvPr>
              <p:cNvSpPr>
                <a:spLocks noChangeArrowheads="1"/>
              </p:cNvSpPr>
              <p:nvPr/>
            </p:nvSpPr>
            <p:spPr bwMode="auto">
              <a:xfrm>
                <a:off x="3504" y="2160"/>
                <a:ext cx="96" cy="96"/>
              </a:xfrm>
              <a:prstGeom prst="ellipse">
                <a:avLst/>
              </a:prstGeom>
              <a:solidFill>
                <a:schemeClr val="tx1"/>
              </a:solidFill>
              <a:ln w="19050">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03" name="Oval 22">
                <a:extLst>
                  <a:ext uri="{FF2B5EF4-FFF2-40B4-BE49-F238E27FC236}">
                    <a16:creationId xmlns:a16="http://schemas.microsoft.com/office/drawing/2014/main" id="{E2F5F03D-B0BC-834B-AF70-730AEB521D9F}"/>
                  </a:ext>
                </a:extLst>
              </p:cNvPr>
              <p:cNvSpPr>
                <a:spLocks noChangeArrowheads="1"/>
              </p:cNvSpPr>
              <p:nvPr/>
            </p:nvSpPr>
            <p:spPr bwMode="auto">
              <a:xfrm>
                <a:off x="5040" y="1008"/>
                <a:ext cx="96" cy="96"/>
              </a:xfrm>
              <a:prstGeom prst="ellipse">
                <a:avLst/>
              </a:prstGeom>
              <a:solidFill>
                <a:schemeClr val="tx1"/>
              </a:solidFill>
              <a:ln w="19050">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04" name="Oval 24">
                <a:extLst>
                  <a:ext uri="{FF2B5EF4-FFF2-40B4-BE49-F238E27FC236}">
                    <a16:creationId xmlns:a16="http://schemas.microsoft.com/office/drawing/2014/main" id="{9A7F2DAA-C49C-524B-A2E6-79642D1C456E}"/>
                  </a:ext>
                </a:extLst>
              </p:cNvPr>
              <p:cNvSpPr>
                <a:spLocks noChangeArrowheads="1"/>
              </p:cNvSpPr>
              <p:nvPr/>
            </p:nvSpPr>
            <p:spPr bwMode="auto">
              <a:xfrm>
                <a:off x="3504" y="1584"/>
                <a:ext cx="96" cy="96"/>
              </a:xfrm>
              <a:prstGeom prst="ellipse">
                <a:avLst/>
              </a:prstGeom>
              <a:solidFill>
                <a:schemeClr val="tx1"/>
              </a:solidFill>
              <a:ln w="19050">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05" name="Oval 25">
                <a:extLst>
                  <a:ext uri="{FF2B5EF4-FFF2-40B4-BE49-F238E27FC236}">
                    <a16:creationId xmlns:a16="http://schemas.microsoft.com/office/drawing/2014/main" id="{3097D4BD-E183-CB4D-BC62-96F60FF48706}"/>
                  </a:ext>
                </a:extLst>
              </p:cNvPr>
              <p:cNvSpPr>
                <a:spLocks noChangeArrowheads="1"/>
              </p:cNvSpPr>
              <p:nvPr/>
            </p:nvSpPr>
            <p:spPr bwMode="auto">
              <a:xfrm>
                <a:off x="4272" y="1008"/>
                <a:ext cx="96" cy="96"/>
              </a:xfrm>
              <a:prstGeom prst="ellipse">
                <a:avLst/>
              </a:prstGeom>
              <a:solidFill>
                <a:schemeClr val="tx1"/>
              </a:solidFill>
              <a:ln w="19050">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06" name="Oval 26">
                <a:extLst>
                  <a:ext uri="{FF2B5EF4-FFF2-40B4-BE49-F238E27FC236}">
                    <a16:creationId xmlns:a16="http://schemas.microsoft.com/office/drawing/2014/main" id="{31E88874-1DF6-1243-93A8-2D234B13201E}"/>
                  </a:ext>
                </a:extLst>
              </p:cNvPr>
              <p:cNvSpPr>
                <a:spLocks noChangeArrowheads="1"/>
              </p:cNvSpPr>
              <p:nvPr/>
            </p:nvSpPr>
            <p:spPr bwMode="auto">
              <a:xfrm>
                <a:off x="5040" y="1584"/>
                <a:ext cx="96" cy="96"/>
              </a:xfrm>
              <a:prstGeom prst="ellipse">
                <a:avLst/>
              </a:prstGeom>
              <a:solidFill>
                <a:schemeClr val="tx1"/>
              </a:solidFill>
              <a:ln w="19050">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07" name="Oval 27">
                <a:extLst>
                  <a:ext uri="{FF2B5EF4-FFF2-40B4-BE49-F238E27FC236}">
                    <a16:creationId xmlns:a16="http://schemas.microsoft.com/office/drawing/2014/main" id="{91195185-75C2-4C40-9323-653A24BD1359}"/>
                  </a:ext>
                </a:extLst>
              </p:cNvPr>
              <p:cNvSpPr>
                <a:spLocks noChangeArrowheads="1"/>
              </p:cNvSpPr>
              <p:nvPr/>
            </p:nvSpPr>
            <p:spPr bwMode="auto">
              <a:xfrm>
                <a:off x="3504" y="1008"/>
                <a:ext cx="96" cy="96"/>
              </a:xfrm>
              <a:prstGeom prst="ellipse">
                <a:avLst/>
              </a:prstGeom>
              <a:solidFill>
                <a:schemeClr val="tx1"/>
              </a:solidFill>
              <a:ln w="19050">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08" name="Oval 28">
                <a:extLst>
                  <a:ext uri="{FF2B5EF4-FFF2-40B4-BE49-F238E27FC236}">
                    <a16:creationId xmlns:a16="http://schemas.microsoft.com/office/drawing/2014/main" id="{656FAB9D-D3B8-FE40-BDD1-80F1661F92A0}"/>
                  </a:ext>
                </a:extLst>
              </p:cNvPr>
              <p:cNvSpPr>
                <a:spLocks noChangeArrowheads="1"/>
              </p:cNvSpPr>
              <p:nvPr/>
            </p:nvSpPr>
            <p:spPr bwMode="auto">
              <a:xfrm>
                <a:off x="3504" y="432"/>
                <a:ext cx="96" cy="96"/>
              </a:xfrm>
              <a:prstGeom prst="ellipse">
                <a:avLst/>
              </a:prstGeom>
              <a:solidFill>
                <a:schemeClr val="tx1"/>
              </a:solidFill>
              <a:ln w="19050">
                <a:solidFill>
                  <a:srgbClr val="FF0000"/>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8709" name="Line 35">
                <a:extLst>
                  <a:ext uri="{FF2B5EF4-FFF2-40B4-BE49-F238E27FC236}">
                    <a16:creationId xmlns:a16="http://schemas.microsoft.com/office/drawing/2014/main" id="{6390B97D-4501-0B48-A995-5C430F5322F4}"/>
                  </a:ext>
                </a:extLst>
              </p:cNvPr>
              <p:cNvSpPr>
                <a:spLocks noChangeShapeType="1"/>
              </p:cNvSpPr>
              <p:nvPr/>
            </p:nvSpPr>
            <p:spPr bwMode="auto">
              <a:xfrm>
                <a:off x="3552" y="1152"/>
                <a:ext cx="0" cy="33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0" name="Line 44">
                <a:extLst>
                  <a:ext uri="{FF2B5EF4-FFF2-40B4-BE49-F238E27FC236}">
                    <a16:creationId xmlns:a16="http://schemas.microsoft.com/office/drawing/2014/main" id="{2CAB4586-8360-874C-975A-074CADA4DAA4}"/>
                  </a:ext>
                </a:extLst>
              </p:cNvPr>
              <p:cNvSpPr>
                <a:spLocks noChangeShapeType="1"/>
              </p:cNvSpPr>
              <p:nvPr/>
            </p:nvSpPr>
            <p:spPr bwMode="auto">
              <a:xfrm>
                <a:off x="3552" y="1056"/>
                <a:ext cx="0" cy="57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1" name="Line 45">
                <a:extLst>
                  <a:ext uri="{FF2B5EF4-FFF2-40B4-BE49-F238E27FC236}">
                    <a16:creationId xmlns:a16="http://schemas.microsoft.com/office/drawing/2014/main" id="{6D34EB43-43D3-C84B-9D7C-4AC37672C17B}"/>
                  </a:ext>
                </a:extLst>
              </p:cNvPr>
              <p:cNvSpPr>
                <a:spLocks noChangeShapeType="1"/>
              </p:cNvSpPr>
              <p:nvPr/>
            </p:nvSpPr>
            <p:spPr bwMode="auto">
              <a:xfrm>
                <a:off x="3552" y="1632"/>
                <a:ext cx="0" cy="57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2" name="Line 46">
                <a:extLst>
                  <a:ext uri="{FF2B5EF4-FFF2-40B4-BE49-F238E27FC236}">
                    <a16:creationId xmlns:a16="http://schemas.microsoft.com/office/drawing/2014/main" id="{63547C36-5F6D-2E42-8266-3E09B600A649}"/>
                  </a:ext>
                </a:extLst>
              </p:cNvPr>
              <p:cNvSpPr>
                <a:spLocks noChangeShapeType="1"/>
              </p:cNvSpPr>
              <p:nvPr/>
            </p:nvSpPr>
            <p:spPr bwMode="auto">
              <a:xfrm>
                <a:off x="3552" y="480"/>
                <a:ext cx="0" cy="57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3" name="Line 47">
                <a:extLst>
                  <a:ext uri="{FF2B5EF4-FFF2-40B4-BE49-F238E27FC236}">
                    <a16:creationId xmlns:a16="http://schemas.microsoft.com/office/drawing/2014/main" id="{B90397BC-52FE-8040-96D6-81C20D4704A4}"/>
                  </a:ext>
                </a:extLst>
              </p:cNvPr>
              <p:cNvSpPr>
                <a:spLocks noChangeShapeType="1"/>
              </p:cNvSpPr>
              <p:nvPr/>
            </p:nvSpPr>
            <p:spPr bwMode="auto">
              <a:xfrm>
                <a:off x="5088" y="1056"/>
                <a:ext cx="0" cy="57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4" name="Line 48">
                <a:extLst>
                  <a:ext uri="{FF2B5EF4-FFF2-40B4-BE49-F238E27FC236}">
                    <a16:creationId xmlns:a16="http://schemas.microsoft.com/office/drawing/2014/main" id="{5200EC65-1A87-344A-AA6E-895B35EEC6BF}"/>
                  </a:ext>
                </a:extLst>
              </p:cNvPr>
              <p:cNvSpPr>
                <a:spLocks noChangeShapeType="1"/>
              </p:cNvSpPr>
              <p:nvPr/>
            </p:nvSpPr>
            <p:spPr bwMode="auto">
              <a:xfrm>
                <a:off x="4320" y="1632"/>
                <a:ext cx="0" cy="57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5" name="Line 49">
                <a:extLst>
                  <a:ext uri="{FF2B5EF4-FFF2-40B4-BE49-F238E27FC236}">
                    <a16:creationId xmlns:a16="http://schemas.microsoft.com/office/drawing/2014/main" id="{F25A1760-ECB5-C740-A649-0C9B4149DE22}"/>
                  </a:ext>
                </a:extLst>
              </p:cNvPr>
              <p:cNvSpPr>
                <a:spLocks noChangeShapeType="1"/>
              </p:cNvSpPr>
              <p:nvPr/>
            </p:nvSpPr>
            <p:spPr bwMode="auto">
              <a:xfrm>
                <a:off x="3552" y="2208"/>
                <a:ext cx="7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6" name="Line 50">
                <a:extLst>
                  <a:ext uri="{FF2B5EF4-FFF2-40B4-BE49-F238E27FC236}">
                    <a16:creationId xmlns:a16="http://schemas.microsoft.com/office/drawing/2014/main" id="{4B970FB1-130C-E749-94D0-CFB59EBAF50E}"/>
                  </a:ext>
                </a:extLst>
              </p:cNvPr>
              <p:cNvSpPr>
                <a:spLocks noChangeShapeType="1"/>
              </p:cNvSpPr>
              <p:nvPr/>
            </p:nvSpPr>
            <p:spPr bwMode="auto">
              <a:xfrm>
                <a:off x="4320" y="1632"/>
                <a:ext cx="7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7" name="Line 51">
                <a:extLst>
                  <a:ext uri="{FF2B5EF4-FFF2-40B4-BE49-F238E27FC236}">
                    <a16:creationId xmlns:a16="http://schemas.microsoft.com/office/drawing/2014/main" id="{AB4FE8A9-C2A7-CB43-9E8A-379C2E219614}"/>
                  </a:ext>
                </a:extLst>
              </p:cNvPr>
              <p:cNvSpPr>
                <a:spLocks noChangeShapeType="1"/>
              </p:cNvSpPr>
              <p:nvPr/>
            </p:nvSpPr>
            <p:spPr bwMode="auto">
              <a:xfrm>
                <a:off x="4320" y="1056"/>
                <a:ext cx="7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8" name="Line 52">
                <a:extLst>
                  <a:ext uri="{FF2B5EF4-FFF2-40B4-BE49-F238E27FC236}">
                    <a16:creationId xmlns:a16="http://schemas.microsoft.com/office/drawing/2014/main" id="{3E3A730A-D25D-5A4F-AF4D-A8F66A14884D}"/>
                  </a:ext>
                </a:extLst>
              </p:cNvPr>
              <p:cNvSpPr>
                <a:spLocks noChangeShapeType="1"/>
              </p:cNvSpPr>
              <p:nvPr/>
            </p:nvSpPr>
            <p:spPr bwMode="auto">
              <a:xfrm>
                <a:off x="3552" y="480"/>
                <a:ext cx="7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9" name="Line 53">
                <a:extLst>
                  <a:ext uri="{FF2B5EF4-FFF2-40B4-BE49-F238E27FC236}">
                    <a16:creationId xmlns:a16="http://schemas.microsoft.com/office/drawing/2014/main" id="{B4170915-6357-764C-867D-C1488FD67669}"/>
                  </a:ext>
                </a:extLst>
              </p:cNvPr>
              <p:cNvSpPr>
                <a:spLocks noChangeShapeType="1"/>
              </p:cNvSpPr>
              <p:nvPr/>
            </p:nvSpPr>
            <p:spPr bwMode="auto">
              <a:xfrm>
                <a:off x="4320" y="480"/>
                <a:ext cx="0" cy="57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2584" name="Line 56">
            <a:extLst>
              <a:ext uri="{FF2B5EF4-FFF2-40B4-BE49-F238E27FC236}">
                <a16:creationId xmlns:a16="http://schemas.microsoft.com/office/drawing/2014/main" id="{4DC5F780-E55E-F347-9FED-5E74B38DA30F}"/>
              </a:ext>
            </a:extLst>
          </p:cNvPr>
          <p:cNvSpPr>
            <a:spLocks noChangeShapeType="1"/>
          </p:cNvSpPr>
          <p:nvPr/>
        </p:nvSpPr>
        <p:spPr bwMode="auto">
          <a:xfrm>
            <a:off x="5181600" y="2209800"/>
            <a:ext cx="0" cy="91440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5" name="Line 57">
            <a:extLst>
              <a:ext uri="{FF2B5EF4-FFF2-40B4-BE49-F238E27FC236}">
                <a16:creationId xmlns:a16="http://schemas.microsoft.com/office/drawing/2014/main" id="{02481F7B-0BB6-484F-BA31-E17914108644}"/>
              </a:ext>
            </a:extLst>
          </p:cNvPr>
          <p:cNvSpPr>
            <a:spLocks noChangeShapeType="1"/>
          </p:cNvSpPr>
          <p:nvPr/>
        </p:nvSpPr>
        <p:spPr bwMode="auto">
          <a:xfrm>
            <a:off x="3962400" y="2209800"/>
            <a:ext cx="0" cy="91440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6" name="Line 58">
            <a:extLst>
              <a:ext uri="{FF2B5EF4-FFF2-40B4-BE49-F238E27FC236}">
                <a16:creationId xmlns:a16="http://schemas.microsoft.com/office/drawing/2014/main" id="{9E962A82-3421-E449-B037-867A13C40EB1}"/>
              </a:ext>
            </a:extLst>
          </p:cNvPr>
          <p:cNvSpPr>
            <a:spLocks noChangeShapeType="1"/>
          </p:cNvSpPr>
          <p:nvPr/>
        </p:nvSpPr>
        <p:spPr bwMode="auto">
          <a:xfrm>
            <a:off x="5181600" y="3124200"/>
            <a:ext cx="0" cy="91440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7" name="Line 59">
            <a:extLst>
              <a:ext uri="{FF2B5EF4-FFF2-40B4-BE49-F238E27FC236}">
                <a16:creationId xmlns:a16="http://schemas.microsoft.com/office/drawing/2014/main" id="{7B237B58-EF56-2940-9E9B-690DD33D71C6}"/>
              </a:ext>
            </a:extLst>
          </p:cNvPr>
          <p:cNvSpPr>
            <a:spLocks noChangeShapeType="1"/>
          </p:cNvSpPr>
          <p:nvPr/>
        </p:nvSpPr>
        <p:spPr bwMode="auto">
          <a:xfrm>
            <a:off x="6400800" y="3124200"/>
            <a:ext cx="0" cy="91440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8" name="Line 60">
            <a:extLst>
              <a:ext uri="{FF2B5EF4-FFF2-40B4-BE49-F238E27FC236}">
                <a16:creationId xmlns:a16="http://schemas.microsoft.com/office/drawing/2014/main" id="{F46C9D03-E2BB-C34F-AE0F-1FAD3D87FDD1}"/>
              </a:ext>
            </a:extLst>
          </p:cNvPr>
          <p:cNvSpPr>
            <a:spLocks noChangeShapeType="1"/>
          </p:cNvSpPr>
          <p:nvPr/>
        </p:nvSpPr>
        <p:spPr bwMode="auto">
          <a:xfrm>
            <a:off x="5181600" y="1295400"/>
            <a:ext cx="0" cy="91440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89" name="Line 61">
            <a:extLst>
              <a:ext uri="{FF2B5EF4-FFF2-40B4-BE49-F238E27FC236}">
                <a16:creationId xmlns:a16="http://schemas.microsoft.com/office/drawing/2014/main" id="{9520A2D5-2AA7-3347-872A-B5B8DDDFE4B1}"/>
              </a:ext>
            </a:extLst>
          </p:cNvPr>
          <p:cNvSpPr>
            <a:spLocks noChangeShapeType="1"/>
          </p:cNvSpPr>
          <p:nvPr/>
        </p:nvSpPr>
        <p:spPr bwMode="auto">
          <a:xfrm>
            <a:off x="7620000" y="2209800"/>
            <a:ext cx="0" cy="91440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0" name="Line 62">
            <a:extLst>
              <a:ext uri="{FF2B5EF4-FFF2-40B4-BE49-F238E27FC236}">
                <a16:creationId xmlns:a16="http://schemas.microsoft.com/office/drawing/2014/main" id="{3579B922-F459-904B-9F98-E861467D0DD7}"/>
              </a:ext>
            </a:extLst>
          </p:cNvPr>
          <p:cNvSpPr>
            <a:spLocks noChangeShapeType="1"/>
          </p:cNvSpPr>
          <p:nvPr/>
        </p:nvSpPr>
        <p:spPr bwMode="auto">
          <a:xfrm>
            <a:off x="6400800" y="2209800"/>
            <a:ext cx="0" cy="91440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1" name="Line 63">
            <a:extLst>
              <a:ext uri="{FF2B5EF4-FFF2-40B4-BE49-F238E27FC236}">
                <a16:creationId xmlns:a16="http://schemas.microsoft.com/office/drawing/2014/main" id="{C95C4CB3-93C0-7E4E-AF46-BE3385D52A56}"/>
              </a:ext>
            </a:extLst>
          </p:cNvPr>
          <p:cNvSpPr>
            <a:spLocks noChangeShapeType="1"/>
          </p:cNvSpPr>
          <p:nvPr/>
        </p:nvSpPr>
        <p:spPr bwMode="auto">
          <a:xfrm>
            <a:off x="6400800" y="1295400"/>
            <a:ext cx="0" cy="91440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2" name="Line 64">
            <a:extLst>
              <a:ext uri="{FF2B5EF4-FFF2-40B4-BE49-F238E27FC236}">
                <a16:creationId xmlns:a16="http://schemas.microsoft.com/office/drawing/2014/main" id="{08A4B6BA-62D2-4C46-819B-4F6011D997D2}"/>
              </a:ext>
            </a:extLst>
          </p:cNvPr>
          <p:cNvSpPr>
            <a:spLocks noChangeShapeType="1"/>
          </p:cNvSpPr>
          <p:nvPr/>
        </p:nvSpPr>
        <p:spPr bwMode="auto">
          <a:xfrm>
            <a:off x="3962400" y="3124200"/>
            <a:ext cx="1219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3" name="Line 65">
            <a:extLst>
              <a:ext uri="{FF2B5EF4-FFF2-40B4-BE49-F238E27FC236}">
                <a16:creationId xmlns:a16="http://schemas.microsoft.com/office/drawing/2014/main" id="{61F9B3A7-0022-4A46-BD48-375AF74CB407}"/>
              </a:ext>
            </a:extLst>
          </p:cNvPr>
          <p:cNvSpPr>
            <a:spLocks noChangeShapeType="1"/>
          </p:cNvSpPr>
          <p:nvPr/>
        </p:nvSpPr>
        <p:spPr bwMode="auto">
          <a:xfrm>
            <a:off x="5181600" y="1295400"/>
            <a:ext cx="1219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4" name="Line 66">
            <a:extLst>
              <a:ext uri="{FF2B5EF4-FFF2-40B4-BE49-F238E27FC236}">
                <a16:creationId xmlns:a16="http://schemas.microsoft.com/office/drawing/2014/main" id="{EF2A3D42-B23D-2B4E-94B7-67464D71A3D6}"/>
              </a:ext>
            </a:extLst>
          </p:cNvPr>
          <p:cNvSpPr>
            <a:spLocks noChangeShapeType="1"/>
          </p:cNvSpPr>
          <p:nvPr/>
        </p:nvSpPr>
        <p:spPr bwMode="auto">
          <a:xfrm>
            <a:off x="5181600" y="2209800"/>
            <a:ext cx="1219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5" name="Line 67">
            <a:extLst>
              <a:ext uri="{FF2B5EF4-FFF2-40B4-BE49-F238E27FC236}">
                <a16:creationId xmlns:a16="http://schemas.microsoft.com/office/drawing/2014/main" id="{36A3592D-E86E-BC41-B3DC-30A49EA41A61}"/>
              </a:ext>
            </a:extLst>
          </p:cNvPr>
          <p:cNvSpPr>
            <a:spLocks noChangeShapeType="1"/>
          </p:cNvSpPr>
          <p:nvPr/>
        </p:nvSpPr>
        <p:spPr bwMode="auto">
          <a:xfrm>
            <a:off x="3962400" y="2209800"/>
            <a:ext cx="1219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6" name="Line 68">
            <a:extLst>
              <a:ext uri="{FF2B5EF4-FFF2-40B4-BE49-F238E27FC236}">
                <a16:creationId xmlns:a16="http://schemas.microsoft.com/office/drawing/2014/main" id="{FCC24C01-7EB6-4147-A140-0AB219D778A0}"/>
              </a:ext>
            </a:extLst>
          </p:cNvPr>
          <p:cNvSpPr>
            <a:spLocks noChangeShapeType="1"/>
          </p:cNvSpPr>
          <p:nvPr/>
        </p:nvSpPr>
        <p:spPr bwMode="auto">
          <a:xfrm>
            <a:off x="5181600" y="3124200"/>
            <a:ext cx="1219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7" name="Line 69">
            <a:extLst>
              <a:ext uri="{FF2B5EF4-FFF2-40B4-BE49-F238E27FC236}">
                <a16:creationId xmlns:a16="http://schemas.microsoft.com/office/drawing/2014/main" id="{BBB984D8-B459-AD4C-B857-1B13F8B744C7}"/>
              </a:ext>
            </a:extLst>
          </p:cNvPr>
          <p:cNvSpPr>
            <a:spLocks noChangeShapeType="1"/>
          </p:cNvSpPr>
          <p:nvPr/>
        </p:nvSpPr>
        <p:spPr bwMode="auto">
          <a:xfrm>
            <a:off x="5181600" y="4038600"/>
            <a:ext cx="1219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8" name="Line 70">
            <a:extLst>
              <a:ext uri="{FF2B5EF4-FFF2-40B4-BE49-F238E27FC236}">
                <a16:creationId xmlns:a16="http://schemas.microsoft.com/office/drawing/2014/main" id="{DC055868-9DB6-5D44-A911-8F1A7253DE39}"/>
              </a:ext>
            </a:extLst>
          </p:cNvPr>
          <p:cNvSpPr>
            <a:spLocks noChangeShapeType="1"/>
          </p:cNvSpPr>
          <p:nvPr/>
        </p:nvSpPr>
        <p:spPr bwMode="auto">
          <a:xfrm>
            <a:off x="6400800" y="2209800"/>
            <a:ext cx="1219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9" name="Line 71">
            <a:extLst>
              <a:ext uri="{FF2B5EF4-FFF2-40B4-BE49-F238E27FC236}">
                <a16:creationId xmlns:a16="http://schemas.microsoft.com/office/drawing/2014/main" id="{9EAC267C-DA0A-CD46-8AFD-501462769564}"/>
              </a:ext>
            </a:extLst>
          </p:cNvPr>
          <p:cNvSpPr>
            <a:spLocks noChangeShapeType="1"/>
          </p:cNvSpPr>
          <p:nvPr/>
        </p:nvSpPr>
        <p:spPr bwMode="auto">
          <a:xfrm>
            <a:off x="6400800" y="3124200"/>
            <a:ext cx="1219200" cy="0"/>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603" name="Text Box 75">
            <a:extLst>
              <a:ext uri="{FF2B5EF4-FFF2-40B4-BE49-F238E27FC236}">
                <a16:creationId xmlns:a16="http://schemas.microsoft.com/office/drawing/2014/main" id="{07C19389-F9C2-B947-BE53-1C5C2D39E9D9}"/>
              </a:ext>
            </a:extLst>
          </p:cNvPr>
          <p:cNvSpPr txBox="1">
            <a:spLocks noChangeArrowheads="1"/>
          </p:cNvSpPr>
          <p:nvPr/>
        </p:nvSpPr>
        <p:spPr bwMode="auto">
          <a:xfrm>
            <a:off x="2819400" y="5181601"/>
            <a:ext cx="6705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1800">
                <a:latin typeface="Times New Roman" panose="02020603050405020304" pitchFamily="18" charset="0"/>
              </a:rPr>
              <a:t>   </a:t>
            </a:r>
            <a:r>
              <a:rPr lang="en-US" altLang="en-US" sz="2000">
                <a:latin typeface="Times New Roman" panose="02020603050405020304" pitchFamily="18" charset="0"/>
              </a:rPr>
              <a:t>If all the edges were not used, we would simply pick one adjacent to C</a:t>
            </a:r>
            <a:r>
              <a:rPr lang="en-US" altLang="en-US" sz="1800">
                <a:latin typeface="Times New Roman" panose="02020603050405020304" pitchFamily="18" charset="0"/>
              </a:rPr>
              <a:t>´ and repeat the process.</a:t>
            </a:r>
          </a:p>
        </p:txBody>
      </p:sp>
      <p:sp>
        <p:nvSpPr>
          <p:cNvPr id="22604" name="Text Box 76">
            <a:extLst>
              <a:ext uri="{FF2B5EF4-FFF2-40B4-BE49-F238E27FC236}">
                <a16:creationId xmlns:a16="http://schemas.microsoft.com/office/drawing/2014/main" id="{9B7972D8-615E-4D4C-A469-33AEB7F49128}"/>
              </a:ext>
            </a:extLst>
          </p:cNvPr>
          <p:cNvSpPr txBox="1">
            <a:spLocks noChangeArrowheads="1"/>
          </p:cNvSpPr>
          <p:nvPr/>
        </p:nvSpPr>
        <p:spPr bwMode="auto">
          <a:xfrm>
            <a:off x="2819400" y="4419600"/>
            <a:ext cx="6553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pPr>
            <a:r>
              <a:rPr lang="en-US" altLang="en-US" sz="1800">
                <a:latin typeface="Times New Roman" panose="02020603050405020304" pitchFamily="18" charset="0"/>
              </a:rPr>
              <a:t>   All the edges have been used exactly once, so we have an Euler cycle. </a:t>
            </a:r>
          </a:p>
        </p:txBody>
      </p:sp>
    </p:spTree>
    <p:extLst>
      <p:ext uri="{BB962C8B-B14F-4D97-AF65-F5344CB8AC3E}">
        <p14:creationId xmlns:p14="http://schemas.microsoft.com/office/powerpoint/2010/main" val="9007806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2588"/>
                                        </p:tgtEl>
                                        <p:attrNameLst>
                                          <p:attrName>style.visibility</p:attrName>
                                        </p:attrNameLst>
                                      </p:cBhvr>
                                      <p:to>
                                        <p:strVal val="visible"/>
                                      </p:to>
                                    </p:set>
                                    <p:animEffect transition="in" filter="wipe(up)">
                                      <p:cBhvr>
                                        <p:cTn id="17" dur="500"/>
                                        <p:tgtEl>
                                          <p:spTgt spid="22588"/>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22594"/>
                                        </p:tgtEl>
                                        <p:attrNameLst>
                                          <p:attrName>style.visibility</p:attrName>
                                        </p:attrNameLst>
                                      </p:cBhvr>
                                      <p:to>
                                        <p:strVal val="visible"/>
                                      </p:to>
                                    </p:set>
                                    <p:animEffect transition="in" filter="wipe(left)">
                                      <p:cBhvr>
                                        <p:cTn id="21" dur="500"/>
                                        <p:tgtEl>
                                          <p:spTgt spid="22594"/>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22590"/>
                                        </p:tgtEl>
                                        <p:attrNameLst>
                                          <p:attrName>style.visibility</p:attrName>
                                        </p:attrNameLst>
                                      </p:cBhvr>
                                      <p:to>
                                        <p:strVal val="visible"/>
                                      </p:to>
                                    </p:set>
                                    <p:animEffect transition="in" filter="wipe(up)">
                                      <p:cBhvr>
                                        <p:cTn id="25" dur="500"/>
                                        <p:tgtEl>
                                          <p:spTgt spid="22590"/>
                                        </p:tgtEl>
                                      </p:cBhvr>
                                    </p:animEffect>
                                  </p:childTnLst>
                                </p:cTn>
                              </p:par>
                            </p:childTnLst>
                          </p:cTn>
                        </p:par>
                        <p:par>
                          <p:cTn id="26" fill="hold" nodeType="afterGroup">
                            <p:stCondLst>
                              <p:cond delay="1500"/>
                            </p:stCondLst>
                            <p:childTnLst>
                              <p:par>
                                <p:cTn id="27" presetID="22" presetClass="entr" presetSubtype="2" fill="hold" nodeType="afterEffect">
                                  <p:stCondLst>
                                    <p:cond delay="0"/>
                                  </p:stCondLst>
                                  <p:childTnLst>
                                    <p:set>
                                      <p:cBhvr>
                                        <p:cTn id="28" dur="1" fill="hold">
                                          <p:stCondLst>
                                            <p:cond delay="0"/>
                                          </p:stCondLst>
                                        </p:cTn>
                                        <p:tgtEl>
                                          <p:spTgt spid="22596"/>
                                        </p:tgtEl>
                                        <p:attrNameLst>
                                          <p:attrName>style.visibility</p:attrName>
                                        </p:attrNameLst>
                                      </p:cBhvr>
                                      <p:to>
                                        <p:strVal val="visible"/>
                                      </p:to>
                                    </p:set>
                                    <p:animEffect transition="in" filter="wipe(right)">
                                      <p:cBhvr>
                                        <p:cTn id="29" dur="500"/>
                                        <p:tgtEl>
                                          <p:spTgt spid="22596"/>
                                        </p:tgtEl>
                                      </p:cBhvr>
                                    </p:animEffect>
                                  </p:childTnLst>
                                </p:cTn>
                              </p:par>
                            </p:childTnLst>
                          </p:cTn>
                        </p:par>
                        <p:par>
                          <p:cTn id="30" fill="hold" nodeType="afterGroup">
                            <p:stCondLst>
                              <p:cond delay="2000"/>
                            </p:stCondLst>
                            <p:childTnLst>
                              <p:par>
                                <p:cTn id="31" presetID="22" presetClass="entr" presetSubtype="2" fill="hold" nodeType="afterEffect">
                                  <p:stCondLst>
                                    <p:cond delay="0"/>
                                  </p:stCondLst>
                                  <p:childTnLst>
                                    <p:set>
                                      <p:cBhvr>
                                        <p:cTn id="32" dur="1" fill="hold">
                                          <p:stCondLst>
                                            <p:cond delay="0"/>
                                          </p:stCondLst>
                                        </p:cTn>
                                        <p:tgtEl>
                                          <p:spTgt spid="22592"/>
                                        </p:tgtEl>
                                        <p:attrNameLst>
                                          <p:attrName>style.visibility</p:attrName>
                                        </p:attrNameLst>
                                      </p:cBhvr>
                                      <p:to>
                                        <p:strVal val="visible"/>
                                      </p:to>
                                    </p:set>
                                    <p:animEffect transition="in" filter="wipe(right)">
                                      <p:cBhvr>
                                        <p:cTn id="33" dur="500"/>
                                        <p:tgtEl>
                                          <p:spTgt spid="22592"/>
                                        </p:tgtEl>
                                      </p:cBhvr>
                                    </p:animEffect>
                                  </p:childTnLst>
                                </p:cTn>
                              </p:par>
                            </p:childTnLst>
                          </p:cTn>
                        </p:par>
                        <p:par>
                          <p:cTn id="34" fill="hold" nodeType="afterGroup">
                            <p:stCondLst>
                              <p:cond delay="2500"/>
                            </p:stCondLst>
                            <p:childTnLst>
                              <p:par>
                                <p:cTn id="35" presetID="22" presetClass="entr" presetSubtype="4" fill="hold" nodeType="afterEffect">
                                  <p:stCondLst>
                                    <p:cond delay="0"/>
                                  </p:stCondLst>
                                  <p:childTnLst>
                                    <p:set>
                                      <p:cBhvr>
                                        <p:cTn id="36" dur="1" fill="hold">
                                          <p:stCondLst>
                                            <p:cond delay="0"/>
                                          </p:stCondLst>
                                        </p:cTn>
                                        <p:tgtEl>
                                          <p:spTgt spid="22585"/>
                                        </p:tgtEl>
                                        <p:attrNameLst>
                                          <p:attrName>style.visibility</p:attrName>
                                        </p:attrNameLst>
                                      </p:cBhvr>
                                      <p:to>
                                        <p:strVal val="visible"/>
                                      </p:to>
                                    </p:set>
                                    <p:animEffect transition="in" filter="wipe(down)">
                                      <p:cBhvr>
                                        <p:cTn id="37" dur="500"/>
                                        <p:tgtEl>
                                          <p:spTgt spid="22585"/>
                                        </p:tgtEl>
                                      </p:cBhvr>
                                    </p:animEffect>
                                  </p:childTnLst>
                                </p:cTn>
                              </p:par>
                            </p:childTnLst>
                          </p:cTn>
                        </p:par>
                        <p:par>
                          <p:cTn id="38" fill="hold" nodeType="afterGroup">
                            <p:stCondLst>
                              <p:cond delay="3000"/>
                            </p:stCondLst>
                            <p:childTnLst>
                              <p:par>
                                <p:cTn id="39" presetID="22" presetClass="entr" presetSubtype="8" fill="hold" nodeType="afterEffect">
                                  <p:stCondLst>
                                    <p:cond delay="0"/>
                                  </p:stCondLst>
                                  <p:childTnLst>
                                    <p:set>
                                      <p:cBhvr>
                                        <p:cTn id="40" dur="1" fill="hold">
                                          <p:stCondLst>
                                            <p:cond delay="0"/>
                                          </p:stCondLst>
                                        </p:cTn>
                                        <p:tgtEl>
                                          <p:spTgt spid="22595"/>
                                        </p:tgtEl>
                                        <p:attrNameLst>
                                          <p:attrName>style.visibility</p:attrName>
                                        </p:attrNameLst>
                                      </p:cBhvr>
                                      <p:to>
                                        <p:strVal val="visible"/>
                                      </p:to>
                                    </p:set>
                                    <p:animEffect transition="in" filter="wipe(left)">
                                      <p:cBhvr>
                                        <p:cTn id="41" dur="500"/>
                                        <p:tgtEl>
                                          <p:spTgt spid="22595"/>
                                        </p:tgtEl>
                                      </p:cBhvr>
                                    </p:animEffect>
                                  </p:childTnLst>
                                </p:cTn>
                              </p:par>
                            </p:childTnLst>
                          </p:cTn>
                        </p:par>
                        <p:par>
                          <p:cTn id="42" fill="hold" nodeType="afterGroup">
                            <p:stCondLst>
                              <p:cond delay="3500"/>
                            </p:stCondLst>
                            <p:childTnLst>
                              <p:par>
                                <p:cTn id="43" presetID="22" presetClass="entr" presetSubtype="1" fill="hold" nodeType="afterEffect">
                                  <p:stCondLst>
                                    <p:cond delay="0"/>
                                  </p:stCondLst>
                                  <p:childTnLst>
                                    <p:set>
                                      <p:cBhvr>
                                        <p:cTn id="44" dur="1" fill="hold">
                                          <p:stCondLst>
                                            <p:cond delay="0"/>
                                          </p:stCondLst>
                                        </p:cTn>
                                        <p:tgtEl>
                                          <p:spTgt spid="22584"/>
                                        </p:tgtEl>
                                        <p:attrNameLst>
                                          <p:attrName>style.visibility</p:attrName>
                                        </p:attrNameLst>
                                      </p:cBhvr>
                                      <p:to>
                                        <p:strVal val="visible"/>
                                      </p:to>
                                    </p:set>
                                    <p:animEffect transition="in" filter="wipe(up)">
                                      <p:cBhvr>
                                        <p:cTn id="45" dur="500"/>
                                        <p:tgtEl>
                                          <p:spTgt spid="22584"/>
                                        </p:tgtEl>
                                      </p:cBhvr>
                                    </p:animEffect>
                                  </p:childTnLst>
                                </p:cTn>
                              </p:par>
                            </p:childTnLst>
                          </p:cTn>
                        </p:par>
                        <p:par>
                          <p:cTn id="46" fill="hold" nodeType="afterGroup">
                            <p:stCondLst>
                              <p:cond delay="4000"/>
                            </p:stCondLst>
                            <p:childTnLst>
                              <p:par>
                                <p:cTn id="47" presetID="22" presetClass="entr" presetSubtype="1" fill="hold" nodeType="afterEffect">
                                  <p:stCondLst>
                                    <p:cond delay="0"/>
                                  </p:stCondLst>
                                  <p:childTnLst>
                                    <p:set>
                                      <p:cBhvr>
                                        <p:cTn id="48" dur="1" fill="hold">
                                          <p:stCondLst>
                                            <p:cond delay="0"/>
                                          </p:stCondLst>
                                        </p:cTn>
                                        <p:tgtEl>
                                          <p:spTgt spid="22586"/>
                                        </p:tgtEl>
                                        <p:attrNameLst>
                                          <p:attrName>style.visibility</p:attrName>
                                        </p:attrNameLst>
                                      </p:cBhvr>
                                      <p:to>
                                        <p:strVal val="visible"/>
                                      </p:to>
                                    </p:set>
                                    <p:animEffect transition="in" filter="wipe(up)">
                                      <p:cBhvr>
                                        <p:cTn id="49" dur="500"/>
                                        <p:tgtEl>
                                          <p:spTgt spid="22586"/>
                                        </p:tgtEl>
                                      </p:cBhvr>
                                    </p:animEffect>
                                  </p:childTnLst>
                                </p:cTn>
                              </p:par>
                            </p:childTnLst>
                          </p:cTn>
                        </p:par>
                        <p:par>
                          <p:cTn id="50" fill="hold" nodeType="afterGroup">
                            <p:stCondLst>
                              <p:cond delay="4500"/>
                            </p:stCondLst>
                            <p:childTnLst>
                              <p:par>
                                <p:cTn id="51" presetID="22" presetClass="entr" presetSubtype="8" fill="hold" nodeType="afterEffect">
                                  <p:stCondLst>
                                    <p:cond delay="0"/>
                                  </p:stCondLst>
                                  <p:childTnLst>
                                    <p:set>
                                      <p:cBhvr>
                                        <p:cTn id="52" dur="1" fill="hold">
                                          <p:stCondLst>
                                            <p:cond delay="0"/>
                                          </p:stCondLst>
                                        </p:cTn>
                                        <p:tgtEl>
                                          <p:spTgt spid="22597"/>
                                        </p:tgtEl>
                                        <p:attrNameLst>
                                          <p:attrName>style.visibility</p:attrName>
                                        </p:attrNameLst>
                                      </p:cBhvr>
                                      <p:to>
                                        <p:strVal val="visible"/>
                                      </p:to>
                                    </p:set>
                                    <p:animEffect transition="in" filter="wipe(left)">
                                      <p:cBhvr>
                                        <p:cTn id="53" dur="500"/>
                                        <p:tgtEl>
                                          <p:spTgt spid="22597"/>
                                        </p:tgtEl>
                                      </p:cBhvr>
                                    </p:animEffect>
                                  </p:childTnLst>
                                </p:cTn>
                              </p:par>
                            </p:childTnLst>
                          </p:cTn>
                        </p:par>
                        <p:par>
                          <p:cTn id="54" fill="hold" nodeType="afterGroup">
                            <p:stCondLst>
                              <p:cond delay="5000"/>
                            </p:stCondLst>
                            <p:childTnLst>
                              <p:par>
                                <p:cTn id="55" presetID="22" presetClass="entr" presetSubtype="4" fill="hold" nodeType="afterEffect">
                                  <p:stCondLst>
                                    <p:cond delay="0"/>
                                  </p:stCondLst>
                                  <p:childTnLst>
                                    <p:set>
                                      <p:cBhvr>
                                        <p:cTn id="56" dur="1" fill="hold">
                                          <p:stCondLst>
                                            <p:cond delay="0"/>
                                          </p:stCondLst>
                                        </p:cTn>
                                        <p:tgtEl>
                                          <p:spTgt spid="22587"/>
                                        </p:tgtEl>
                                        <p:attrNameLst>
                                          <p:attrName>style.visibility</p:attrName>
                                        </p:attrNameLst>
                                      </p:cBhvr>
                                      <p:to>
                                        <p:strVal val="visible"/>
                                      </p:to>
                                    </p:set>
                                    <p:animEffect transition="in" filter="wipe(down)">
                                      <p:cBhvr>
                                        <p:cTn id="57" dur="500"/>
                                        <p:tgtEl>
                                          <p:spTgt spid="22587"/>
                                        </p:tgtEl>
                                      </p:cBhvr>
                                    </p:animEffect>
                                  </p:childTnLst>
                                </p:cTn>
                              </p:par>
                            </p:childTnLst>
                          </p:cTn>
                        </p:par>
                        <p:par>
                          <p:cTn id="58" fill="hold" nodeType="afterGroup">
                            <p:stCondLst>
                              <p:cond delay="5500"/>
                            </p:stCondLst>
                            <p:childTnLst>
                              <p:par>
                                <p:cTn id="59" presetID="22" presetClass="entr" presetSubtype="8" fill="hold" nodeType="afterEffect">
                                  <p:stCondLst>
                                    <p:cond delay="0"/>
                                  </p:stCondLst>
                                  <p:childTnLst>
                                    <p:set>
                                      <p:cBhvr>
                                        <p:cTn id="60" dur="1" fill="hold">
                                          <p:stCondLst>
                                            <p:cond delay="0"/>
                                          </p:stCondLst>
                                        </p:cTn>
                                        <p:tgtEl>
                                          <p:spTgt spid="22599"/>
                                        </p:tgtEl>
                                        <p:attrNameLst>
                                          <p:attrName>style.visibility</p:attrName>
                                        </p:attrNameLst>
                                      </p:cBhvr>
                                      <p:to>
                                        <p:strVal val="visible"/>
                                      </p:to>
                                    </p:set>
                                    <p:animEffect transition="in" filter="wipe(left)">
                                      <p:cBhvr>
                                        <p:cTn id="61" dur="500"/>
                                        <p:tgtEl>
                                          <p:spTgt spid="22599"/>
                                        </p:tgtEl>
                                      </p:cBhvr>
                                    </p:animEffect>
                                  </p:childTnLst>
                                </p:cTn>
                              </p:par>
                            </p:childTnLst>
                          </p:cTn>
                        </p:par>
                        <p:par>
                          <p:cTn id="62" fill="hold" nodeType="afterGroup">
                            <p:stCondLst>
                              <p:cond delay="6000"/>
                            </p:stCondLst>
                            <p:childTnLst>
                              <p:par>
                                <p:cTn id="63" presetID="22" presetClass="entr" presetSubtype="4" fill="hold" nodeType="afterEffect">
                                  <p:stCondLst>
                                    <p:cond delay="0"/>
                                  </p:stCondLst>
                                  <p:childTnLst>
                                    <p:set>
                                      <p:cBhvr>
                                        <p:cTn id="64" dur="1" fill="hold">
                                          <p:stCondLst>
                                            <p:cond delay="0"/>
                                          </p:stCondLst>
                                        </p:cTn>
                                        <p:tgtEl>
                                          <p:spTgt spid="22589"/>
                                        </p:tgtEl>
                                        <p:attrNameLst>
                                          <p:attrName>style.visibility</p:attrName>
                                        </p:attrNameLst>
                                      </p:cBhvr>
                                      <p:to>
                                        <p:strVal val="visible"/>
                                      </p:to>
                                    </p:set>
                                    <p:animEffect transition="in" filter="wipe(down)">
                                      <p:cBhvr>
                                        <p:cTn id="65" dur="500"/>
                                        <p:tgtEl>
                                          <p:spTgt spid="22589"/>
                                        </p:tgtEl>
                                      </p:cBhvr>
                                    </p:animEffect>
                                  </p:childTnLst>
                                </p:cTn>
                              </p:par>
                            </p:childTnLst>
                          </p:cTn>
                        </p:par>
                        <p:par>
                          <p:cTn id="66" fill="hold" nodeType="afterGroup">
                            <p:stCondLst>
                              <p:cond delay="6500"/>
                            </p:stCondLst>
                            <p:childTnLst>
                              <p:par>
                                <p:cTn id="67" presetID="22" presetClass="entr" presetSubtype="2" fill="hold" nodeType="afterEffect">
                                  <p:stCondLst>
                                    <p:cond delay="0"/>
                                  </p:stCondLst>
                                  <p:childTnLst>
                                    <p:set>
                                      <p:cBhvr>
                                        <p:cTn id="68" dur="1" fill="hold">
                                          <p:stCondLst>
                                            <p:cond delay="0"/>
                                          </p:stCondLst>
                                        </p:cTn>
                                        <p:tgtEl>
                                          <p:spTgt spid="22598"/>
                                        </p:tgtEl>
                                        <p:attrNameLst>
                                          <p:attrName>style.visibility</p:attrName>
                                        </p:attrNameLst>
                                      </p:cBhvr>
                                      <p:to>
                                        <p:strVal val="visible"/>
                                      </p:to>
                                    </p:set>
                                    <p:animEffect transition="in" filter="wipe(right)">
                                      <p:cBhvr>
                                        <p:cTn id="69" dur="500"/>
                                        <p:tgtEl>
                                          <p:spTgt spid="22598"/>
                                        </p:tgtEl>
                                      </p:cBhvr>
                                    </p:animEffect>
                                  </p:childTnLst>
                                </p:cTn>
                              </p:par>
                            </p:childTnLst>
                          </p:cTn>
                        </p:par>
                        <p:par>
                          <p:cTn id="70" fill="hold" nodeType="afterGroup">
                            <p:stCondLst>
                              <p:cond delay="7000"/>
                            </p:stCondLst>
                            <p:childTnLst>
                              <p:par>
                                <p:cTn id="71" presetID="22" presetClass="entr" presetSubtype="4" fill="hold" nodeType="afterEffect">
                                  <p:stCondLst>
                                    <p:cond delay="0"/>
                                  </p:stCondLst>
                                  <p:childTnLst>
                                    <p:set>
                                      <p:cBhvr>
                                        <p:cTn id="72" dur="1" fill="hold">
                                          <p:stCondLst>
                                            <p:cond delay="0"/>
                                          </p:stCondLst>
                                        </p:cTn>
                                        <p:tgtEl>
                                          <p:spTgt spid="22591"/>
                                        </p:tgtEl>
                                        <p:attrNameLst>
                                          <p:attrName>style.visibility</p:attrName>
                                        </p:attrNameLst>
                                      </p:cBhvr>
                                      <p:to>
                                        <p:strVal val="visible"/>
                                      </p:to>
                                    </p:set>
                                    <p:animEffect transition="in" filter="wipe(down)">
                                      <p:cBhvr>
                                        <p:cTn id="73" dur="500"/>
                                        <p:tgtEl>
                                          <p:spTgt spid="22591"/>
                                        </p:tgtEl>
                                      </p:cBhvr>
                                    </p:animEffect>
                                  </p:childTnLst>
                                </p:cTn>
                              </p:par>
                            </p:childTnLst>
                          </p:cTn>
                        </p:par>
                        <p:par>
                          <p:cTn id="74" fill="hold" nodeType="afterGroup">
                            <p:stCondLst>
                              <p:cond delay="7500"/>
                            </p:stCondLst>
                            <p:childTnLst>
                              <p:par>
                                <p:cTn id="75" presetID="22" presetClass="entr" presetSubtype="2" fill="hold" nodeType="afterEffect">
                                  <p:stCondLst>
                                    <p:cond delay="0"/>
                                  </p:stCondLst>
                                  <p:childTnLst>
                                    <p:set>
                                      <p:cBhvr>
                                        <p:cTn id="76" dur="1" fill="hold">
                                          <p:stCondLst>
                                            <p:cond delay="0"/>
                                          </p:stCondLst>
                                        </p:cTn>
                                        <p:tgtEl>
                                          <p:spTgt spid="22593"/>
                                        </p:tgtEl>
                                        <p:attrNameLst>
                                          <p:attrName>style.visibility</p:attrName>
                                        </p:attrNameLst>
                                      </p:cBhvr>
                                      <p:to>
                                        <p:strVal val="visible"/>
                                      </p:to>
                                    </p:set>
                                    <p:animEffect transition="in" filter="wipe(right)">
                                      <p:cBhvr>
                                        <p:cTn id="77" dur="500"/>
                                        <p:tgtEl>
                                          <p:spTgt spid="2259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22604"/>
                                        </p:tgtEl>
                                        <p:attrNameLst>
                                          <p:attrName>style.visibility</p:attrName>
                                        </p:attrNameLst>
                                      </p:cBhvr>
                                      <p:to>
                                        <p:strVal val="visible"/>
                                      </p:to>
                                    </p:set>
                                  </p:childTnLst>
                                </p:cTn>
                              </p:par>
                            </p:childTnLst>
                          </p:cTn>
                        </p:par>
                        <p:par>
                          <p:cTn id="82" fill="hold" nodeType="afterGroup">
                            <p:stCondLst>
                              <p:cond delay="0"/>
                            </p:stCondLst>
                            <p:childTnLst>
                              <p:par>
                                <p:cTn id="83" presetID="1" presetClass="entr" presetSubtype="0" fill="hold" grpId="0" nodeType="afterEffect">
                                  <p:stCondLst>
                                    <p:cond delay="0"/>
                                  </p:stCondLst>
                                  <p:childTnLst>
                                    <p:set>
                                      <p:cBhvr>
                                        <p:cTn id="84" dur="1" fill="hold">
                                          <p:stCondLst>
                                            <p:cond delay="0"/>
                                          </p:stCondLst>
                                        </p:cTn>
                                        <p:tgtEl>
                                          <p:spTgt spid="22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03" grpId="0"/>
      <p:bldP spid="2260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D7D19707-B9A8-6D47-A9B4-50A37B043985}"/>
              </a:ext>
            </a:extLst>
          </p:cNvPr>
          <p:cNvSpPr>
            <a:spLocks noGrp="1" noChangeArrowheads="1"/>
          </p:cNvSpPr>
          <p:nvPr>
            <p:ph type="title"/>
          </p:nvPr>
        </p:nvSpPr>
        <p:spPr>
          <a:xfrm>
            <a:off x="1981200" y="152400"/>
            <a:ext cx="8229600" cy="914400"/>
          </a:xfrm>
        </p:spPr>
        <p:txBody>
          <a:bodyPr/>
          <a:lstStyle/>
          <a:p>
            <a:pPr eaLnBrk="1" hangingPunct="1"/>
            <a:r>
              <a:rPr lang="en-US" altLang="en-US">
                <a:latin typeface="Times New Roman" panose="02020603050405020304" pitchFamily="18" charset="0"/>
                <a:ea typeface="ＭＳ Ｐゴシック" panose="020B0600070205080204" pitchFamily="34" charset="-128"/>
              </a:rPr>
              <a:t>Corollary</a:t>
            </a:r>
          </a:p>
        </p:txBody>
      </p:sp>
      <p:sp>
        <p:nvSpPr>
          <p:cNvPr id="29698" name="Rectangle 3">
            <a:extLst>
              <a:ext uri="{FF2B5EF4-FFF2-40B4-BE49-F238E27FC236}">
                <a16:creationId xmlns:a16="http://schemas.microsoft.com/office/drawing/2014/main" id="{C379554B-7A37-ED4D-A1AD-5DE5812A5C58}"/>
              </a:ext>
            </a:extLst>
          </p:cNvPr>
          <p:cNvSpPr>
            <a:spLocks noGrp="1" noChangeArrowheads="1"/>
          </p:cNvSpPr>
          <p:nvPr>
            <p:ph type="body" idx="1"/>
          </p:nvPr>
        </p:nvSpPr>
        <p:spPr>
          <a:xfrm>
            <a:off x="1981200" y="1219200"/>
            <a:ext cx="8229600" cy="2895600"/>
          </a:xfrm>
        </p:spPr>
        <p:txBody>
          <a:bodyPr/>
          <a:lstStyle/>
          <a:p>
            <a:pPr eaLnBrk="1" hangingPunct="1">
              <a:lnSpc>
                <a:spcPct val="80000"/>
              </a:lnSpc>
              <a:buFontTx/>
              <a:buNone/>
            </a:pPr>
            <a:r>
              <a:rPr lang="en-US" altLang="en-US" sz="2000">
                <a:latin typeface="Times New Roman" panose="02020603050405020304" pitchFamily="18" charset="0"/>
                <a:ea typeface="ＭＳ Ｐゴシック" panose="020B0600070205080204" pitchFamily="34" charset="-128"/>
              </a:rPr>
              <a:t>	A graph has an Euler trail, but not an Euler cycle, if and only if it is connected and has exactly two vertices of odd degree.</a:t>
            </a:r>
          </a:p>
          <a:p>
            <a:pPr eaLnBrk="1" hangingPunct="1">
              <a:lnSpc>
                <a:spcPct val="80000"/>
              </a:lnSpc>
              <a:buFontTx/>
              <a:buNone/>
            </a:pPr>
            <a:endParaRPr lang="en-US" altLang="en-US" sz="2000">
              <a:latin typeface="Times New Roman" panose="02020603050405020304" pitchFamily="18" charset="0"/>
              <a:ea typeface="ＭＳ Ｐゴシック" panose="020B0600070205080204" pitchFamily="34" charset="-128"/>
            </a:endParaRPr>
          </a:p>
          <a:p>
            <a:pPr eaLnBrk="1" hangingPunct="1">
              <a:lnSpc>
                <a:spcPct val="80000"/>
              </a:lnSpc>
              <a:buFontTx/>
              <a:buNone/>
            </a:pPr>
            <a:r>
              <a:rPr lang="en-US" altLang="en-US" sz="2400" b="1">
                <a:latin typeface="Times New Roman" panose="02020603050405020304" pitchFamily="18" charset="0"/>
                <a:ea typeface="ＭＳ Ｐゴシック" panose="020B0600070205080204" pitchFamily="34" charset="-128"/>
              </a:rPr>
              <a:t>Proof  </a:t>
            </a:r>
          </a:p>
          <a:p>
            <a:pPr eaLnBrk="1" hangingPunct="1">
              <a:lnSpc>
                <a:spcPct val="80000"/>
              </a:lnSpc>
            </a:pPr>
            <a:r>
              <a:rPr lang="en-US" altLang="en-US" sz="2000">
                <a:latin typeface="Times New Roman" panose="02020603050405020304" pitchFamily="18" charset="0"/>
                <a:ea typeface="ＭＳ Ｐゴシック" panose="020B0600070205080204" pitchFamily="34" charset="-128"/>
              </a:rPr>
              <a:t>Suppose a graph </a:t>
            </a:r>
            <a:r>
              <a:rPr lang="en-US" altLang="en-US" sz="2000" i="1">
                <a:latin typeface="Times New Roman" panose="02020603050405020304" pitchFamily="18" charset="0"/>
                <a:ea typeface="ＭＳ Ｐゴシック" panose="020B0600070205080204" pitchFamily="34" charset="-128"/>
              </a:rPr>
              <a:t>H </a:t>
            </a:r>
            <a:r>
              <a:rPr lang="en-US" altLang="en-US" sz="2000">
                <a:latin typeface="Times New Roman" panose="02020603050405020304" pitchFamily="18" charset="0"/>
                <a:ea typeface="ＭＳ Ｐゴシック" panose="020B0600070205080204" pitchFamily="34" charset="-128"/>
              </a:rPr>
              <a:t>has an Euler trail </a:t>
            </a:r>
            <a:r>
              <a:rPr lang="en-US" altLang="en-US" sz="2000" i="1">
                <a:latin typeface="Times New Roman" panose="02020603050405020304" pitchFamily="18" charset="0"/>
                <a:ea typeface="ＭＳ Ｐゴシック" panose="020B0600070205080204" pitchFamily="34" charset="-128"/>
              </a:rPr>
              <a:t>T</a:t>
            </a:r>
            <a:r>
              <a:rPr lang="en-US" altLang="en-US" sz="2000">
                <a:latin typeface="Times New Roman" panose="02020603050405020304" pitchFamily="18" charset="0"/>
                <a:ea typeface="ＭＳ Ｐゴシック" panose="020B0600070205080204" pitchFamily="34" charset="-128"/>
              </a:rPr>
              <a:t>, but not an Euler cycle.</a:t>
            </a:r>
          </a:p>
          <a:p>
            <a:pPr eaLnBrk="1" hangingPunct="1">
              <a:lnSpc>
                <a:spcPct val="80000"/>
              </a:lnSpc>
            </a:pPr>
            <a:r>
              <a:rPr lang="en-US" altLang="en-US" sz="2000">
                <a:latin typeface="Times New Roman" panose="02020603050405020304" pitchFamily="18" charset="0"/>
                <a:ea typeface="ＭＳ Ｐゴシック" panose="020B0600070205080204" pitchFamily="34" charset="-128"/>
              </a:rPr>
              <a:t> The starting and ending vertices of </a:t>
            </a:r>
            <a:r>
              <a:rPr lang="en-US" altLang="en-US" sz="2000" i="1">
                <a:latin typeface="Times New Roman" panose="02020603050405020304" pitchFamily="18" charset="0"/>
                <a:ea typeface="ＭＳ Ｐゴシック" panose="020B0600070205080204" pitchFamily="34" charset="-128"/>
              </a:rPr>
              <a:t>T</a:t>
            </a:r>
            <a:r>
              <a:rPr lang="en-US" altLang="en-US" sz="2000">
                <a:latin typeface="Times New Roman" panose="02020603050405020304" pitchFamily="18" charset="0"/>
                <a:ea typeface="ＭＳ Ｐゴシック" panose="020B0600070205080204" pitchFamily="34" charset="-128"/>
              </a:rPr>
              <a:t> must have odd degree while all other vertices have an even degree (by the same reasoning that showed all vertices with even degree in an Euler cycle).  Also the graph must be connected.</a:t>
            </a:r>
          </a:p>
          <a:p>
            <a:pPr eaLnBrk="1" hangingPunct="1">
              <a:lnSpc>
                <a:spcPct val="80000"/>
              </a:lnSpc>
              <a:buFontTx/>
              <a:buNone/>
            </a:pPr>
            <a:endParaRPr lang="en-US" altLang="en-US" sz="2000" b="1" i="1">
              <a:latin typeface="Times New Roman" panose="02020603050405020304" pitchFamily="18" charset="0"/>
              <a:ea typeface="ＭＳ Ｐゴシック" panose="020B0600070205080204" pitchFamily="34" charset="-128"/>
            </a:endParaRPr>
          </a:p>
        </p:txBody>
      </p:sp>
      <p:grpSp>
        <p:nvGrpSpPr>
          <p:cNvPr id="29699" name="Group 24">
            <a:extLst>
              <a:ext uri="{FF2B5EF4-FFF2-40B4-BE49-F238E27FC236}">
                <a16:creationId xmlns:a16="http://schemas.microsoft.com/office/drawing/2014/main" id="{B23291E4-928C-A744-BB34-DDBF4BE5CBA1}"/>
              </a:ext>
            </a:extLst>
          </p:cNvPr>
          <p:cNvGrpSpPr>
            <a:grpSpLocks/>
          </p:cNvGrpSpPr>
          <p:nvPr/>
        </p:nvGrpSpPr>
        <p:grpSpPr bwMode="auto">
          <a:xfrm>
            <a:off x="3810000" y="4419600"/>
            <a:ext cx="3200400" cy="990600"/>
            <a:chOff x="1440" y="2784"/>
            <a:chExt cx="2016" cy="624"/>
          </a:xfrm>
        </p:grpSpPr>
        <p:sp>
          <p:nvSpPr>
            <p:cNvPr id="29702" name="Oval 4">
              <a:extLst>
                <a:ext uri="{FF2B5EF4-FFF2-40B4-BE49-F238E27FC236}">
                  <a16:creationId xmlns:a16="http://schemas.microsoft.com/office/drawing/2014/main" id="{D851A019-4C81-CE40-BCF4-64B34ECB148F}"/>
                </a:ext>
              </a:extLst>
            </p:cNvPr>
            <p:cNvSpPr>
              <a:spLocks noChangeArrowheads="1"/>
            </p:cNvSpPr>
            <p:nvPr/>
          </p:nvSpPr>
          <p:spPr bwMode="auto">
            <a:xfrm>
              <a:off x="1440" y="283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9703" name="Oval 5">
              <a:extLst>
                <a:ext uri="{FF2B5EF4-FFF2-40B4-BE49-F238E27FC236}">
                  <a16:creationId xmlns:a16="http://schemas.microsoft.com/office/drawing/2014/main" id="{C9F900C4-EC6B-874C-8569-80AE674100CC}"/>
                </a:ext>
              </a:extLst>
            </p:cNvPr>
            <p:cNvSpPr>
              <a:spLocks noChangeArrowheads="1"/>
            </p:cNvSpPr>
            <p:nvPr/>
          </p:nvSpPr>
          <p:spPr bwMode="auto">
            <a:xfrm>
              <a:off x="1440" y="331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9704" name="Oval 6">
              <a:extLst>
                <a:ext uri="{FF2B5EF4-FFF2-40B4-BE49-F238E27FC236}">
                  <a16:creationId xmlns:a16="http://schemas.microsoft.com/office/drawing/2014/main" id="{15D16DD2-FFAE-F74B-9B96-B5A6EF865553}"/>
                </a:ext>
              </a:extLst>
            </p:cNvPr>
            <p:cNvSpPr>
              <a:spLocks noChangeArrowheads="1"/>
            </p:cNvSpPr>
            <p:nvPr/>
          </p:nvSpPr>
          <p:spPr bwMode="auto">
            <a:xfrm>
              <a:off x="1824" y="307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9705" name="Oval 7">
              <a:extLst>
                <a:ext uri="{FF2B5EF4-FFF2-40B4-BE49-F238E27FC236}">
                  <a16:creationId xmlns:a16="http://schemas.microsoft.com/office/drawing/2014/main" id="{BE1D2E6F-D864-A044-9681-20063940B0EB}"/>
                </a:ext>
              </a:extLst>
            </p:cNvPr>
            <p:cNvSpPr>
              <a:spLocks noChangeArrowheads="1"/>
            </p:cNvSpPr>
            <p:nvPr/>
          </p:nvSpPr>
          <p:spPr bwMode="auto">
            <a:xfrm>
              <a:off x="1824" y="278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9706" name="Oval 8">
              <a:extLst>
                <a:ext uri="{FF2B5EF4-FFF2-40B4-BE49-F238E27FC236}">
                  <a16:creationId xmlns:a16="http://schemas.microsoft.com/office/drawing/2014/main" id="{F626976C-17F9-9449-ABC6-35D756210CA1}"/>
                </a:ext>
              </a:extLst>
            </p:cNvPr>
            <p:cNvSpPr>
              <a:spLocks noChangeArrowheads="1"/>
            </p:cNvSpPr>
            <p:nvPr/>
          </p:nvSpPr>
          <p:spPr bwMode="auto">
            <a:xfrm>
              <a:off x="2400" y="278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9707" name="Oval 9">
              <a:extLst>
                <a:ext uri="{FF2B5EF4-FFF2-40B4-BE49-F238E27FC236}">
                  <a16:creationId xmlns:a16="http://schemas.microsoft.com/office/drawing/2014/main" id="{4397F6F2-8EA2-B543-8827-006ADA630797}"/>
                </a:ext>
              </a:extLst>
            </p:cNvPr>
            <p:cNvSpPr>
              <a:spLocks noChangeArrowheads="1"/>
            </p:cNvSpPr>
            <p:nvPr/>
          </p:nvSpPr>
          <p:spPr bwMode="auto">
            <a:xfrm>
              <a:off x="2976" y="278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9708" name="Oval 10">
              <a:extLst>
                <a:ext uri="{FF2B5EF4-FFF2-40B4-BE49-F238E27FC236}">
                  <a16:creationId xmlns:a16="http://schemas.microsoft.com/office/drawing/2014/main" id="{7C3AEAE4-CCF2-2447-86F3-800BDE8821C4}"/>
                </a:ext>
              </a:extLst>
            </p:cNvPr>
            <p:cNvSpPr>
              <a:spLocks noChangeArrowheads="1"/>
            </p:cNvSpPr>
            <p:nvPr/>
          </p:nvSpPr>
          <p:spPr bwMode="auto">
            <a:xfrm>
              <a:off x="2976" y="307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9709" name="Oval 11">
              <a:extLst>
                <a:ext uri="{FF2B5EF4-FFF2-40B4-BE49-F238E27FC236}">
                  <a16:creationId xmlns:a16="http://schemas.microsoft.com/office/drawing/2014/main" id="{27262C6B-896E-2545-8061-A86FB0035020}"/>
                </a:ext>
              </a:extLst>
            </p:cNvPr>
            <p:cNvSpPr>
              <a:spLocks noChangeArrowheads="1"/>
            </p:cNvSpPr>
            <p:nvPr/>
          </p:nvSpPr>
          <p:spPr bwMode="auto">
            <a:xfrm>
              <a:off x="3360" y="283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9710" name="Oval 13">
              <a:extLst>
                <a:ext uri="{FF2B5EF4-FFF2-40B4-BE49-F238E27FC236}">
                  <a16:creationId xmlns:a16="http://schemas.microsoft.com/office/drawing/2014/main" id="{E9E4C58F-E548-FD49-A0EE-42BFC8C4961D}"/>
                </a:ext>
              </a:extLst>
            </p:cNvPr>
            <p:cNvSpPr>
              <a:spLocks noChangeArrowheads="1"/>
            </p:cNvSpPr>
            <p:nvPr/>
          </p:nvSpPr>
          <p:spPr bwMode="auto">
            <a:xfrm>
              <a:off x="3360" y="331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9711" name="Line 14">
              <a:extLst>
                <a:ext uri="{FF2B5EF4-FFF2-40B4-BE49-F238E27FC236}">
                  <a16:creationId xmlns:a16="http://schemas.microsoft.com/office/drawing/2014/main" id="{E37C317C-F237-B84E-970D-F40D2051B0C4}"/>
                </a:ext>
              </a:extLst>
            </p:cNvPr>
            <p:cNvSpPr>
              <a:spLocks noChangeShapeType="1"/>
            </p:cNvSpPr>
            <p:nvPr/>
          </p:nvSpPr>
          <p:spPr bwMode="auto">
            <a:xfrm flipV="1">
              <a:off x="1488" y="28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2" name="Line 15">
              <a:extLst>
                <a:ext uri="{FF2B5EF4-FFF2-40B4-BE49-F238E27FC236}">
                  <a16:creationId xmlns:a16="http://schemas.microsoft.com/office/drawing/2014/main" id="{2A5EF33A-04FB-C14C-8F5C-C9B84522E108}"/>
                </a:ext>
              </a:extLst>
            </p:cNvPr>
            <p:cNvSpPr>
              <a:spLocks noChangeShapeType="1"/>
            </p:cNvSpPr>
            <p:nvPr/>
          </p:nvSpPr>
          <p:spPr bwMode="auto">
            <a:xfrm flipV="1">
              <a:off x="3024" y="2832"/>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3" name="Line 16">
              <a:extLst>
                <a:ext uri="{FF2B5EF4-FFF2-40B4-BE49-F238E27FC236}">
                  <a16:creationId xmlns:a16="http://schemas.microsoft.com/office/drawing/2014/main" id="{12939335-72F1-6544-BF15-ADEBB51C94EB}"/>
                </a:ext>
              </a:extLst>
            </p:cNvPr>
            <p:cNvSpPr>
              <a:spLocks noChangeShapeType="1"/>
            </p:cNvSpPr>
            <p:nvPr/>
          </p:nvSpPr>
          <p:spPr bwMode="auto">
            <a:xfrm flipV="1">
              <a:off x="3408" y="28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4" name="Line 17">
              <a:extLst>
                <a:ext uri="{FF2B5EF4-FFF2-40B4-BE49-F238E27FC236}">
                  <a16:creationId xmlns:a16="http://schemas.microsoft.com/office/drawing/2014/main" id="{20F10F81-2247-5345-B2F8-0BFF9CC0306D}"/>
                </a:ext>
              </a:extLst>
            </p:cNvPr>
            <p:cNvSpPr>
              <a:spLocks noChangeShapeType="1"/>
            </p:cNvSpPr>
            <p:nvPr/>
          </p:nvSpPr>
          <p:spPr bwMode="auto">
            <a:xfrm flipV="1">
              <a:off x="1872" y="2832"/>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5" name="Line 18">
              <a:extLst>
                <a:ext uri="{FF2B5EF4-FFF2-40B4-BE49-F238E27FC236}">
                  <a16:creationId xmlns:a16="http://schemas.microsoft.com/office/drawing/2014/main" id="{CD746DB8-5F4E-704C-BDDC-1D761E169248}"/>
                </a:ext>
              </a:extLst>
            </p:cNvPr>
            <p:cNvSpPr>
              <a:spLocks noChangeShapeType="1"/>
            </p:cNvSpPr>
            <p:nvPr/>
          </p:nvSpPr>
          <p:spPr bwMode="auto">
            <a:xfrm>
              <a:off x="2448" y="2832"/>
              <a:ext cx="5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6" name="Line 19">
              <a:extLst>
                <a:ext uri="{FF2B5EF4-FFF2-40B4-BE49-F238E27FC236}">
                  <a16:creationId xmlns:a16="http://schemas.microsoft.com/office/drawing/2014/main" id="{9AB0D76E-0D80-0C4C-BC0E-A5B882C81FE7}"/>
                </a:ext>
              </a:extLst>
            </p:cNvPr>
            <p:cNvSpPr>
              <a:spLocks noChangeShapeType="1"/>
            </p:cNvSpPr>
            <p:nvPr/>
          </p:nvSpPr>
          <p:spPr bwMode="auto">
            <a:xfrm>
              <a:off x="1872" y="2832"/>
              <a:ext cx="5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7" name="Line 20">
              <a:extLst>
                <a:ext uri="{FF2B5EF4-FFF2-40B4-BE49-F238E27FC236}">
                  <a16:creationId xmlns:a16="http://schemas.microsoft.com/office/drawing/2014/main" id="{CADE4C6C-D77D-1F45-A2E3-7444427ECDFA}"/>
                </a:ext>
              </a:extLst>
            </p:cNvPr>
            <p:cNvSpPr>
              <a:spLocks noChangeShapeType="1"/>
            </p:cNvSpPr>
            <p:nvPr/>
          </p:nvSpPr>
          <p:spPr bwMode="auto">
            <a:xfrm>
              <a:off x="1488" y="2880"/>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8" name="Line 21">
              <a:extLst>
                <a:ext uri="{FF2B5EF4-FFF2-40B4-BE49-F238E27FC236}">
                  <a16:creationId xmlns:a16="http://schemas.microsoft.com/office/drawing/2014/main" id="{B82D79C5-D6BD-3E4B-8110-E564FF2D4794}"/>
                </a:ext>
              </a:extLst>
            </p:cNvPr>
            <p:cNvSpPr>
              <a:spLocks noChangeShapeType="1"/>
            </p:cNvSpPr>
            <p:nvPr/>
          </p:nvSpPr>
          <p:spPr bwMode="auto">
            <a:xfrm>
              <a:off x="3024" y="3120"/>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9" name="Line 22">
              <a:extLst>
                <a:ext uri="{FF2B5EF4-FFF2-40B4-BE49-F238E27FC236}">
                  <a16:creationId xmlns:a16="http://schemas.microsoft.com/office/drawing/2014/main" id="{0069A76B-81FB-3E48-A782-E97343F36441}"/>
                </a:ext>
              </a:extLst>
            </p:cNvPr>
            <p:cNvSpPr>
              <a:spLocks noChangeShapeType="1"/>
            </p:cNvSpPr>
            <p:nvPr/>
          </p:nvSpPr>
          <p:spPr bwMode="auto">
            <a:xfrm flipV="1">
              <a:off x="3024" y="2880"/>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0" name="Line 23">
              <a:extLst>
                <a:ext uri="{FF2B5EF4-FFF2-40B4-BE49-F238E27FC236}">
                  <a16:creationId xmlns:a16="http://schemas.microsoft.com/office/drawing/2014/main" id="{B107B326-7D5D-EA4F-81AB-0E43E028FDFD}"/>
                </a:ext>
              </a:extLst>
            </p:cNvPr>
            <p:cNvSpPr>
              <a:spLocks noChangeShapeType="1"/>
            </p:cNvSpPr>
            <p:nvPr/>
          </p:nvSpPr>
          <p:spPr bwMode="auto">
            <a:xfrm flipV="1">
              <a:off x="1488" y="3120"/>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9700" name="Text Box 25">
            <a:extLst>
              <a:ext uri="{FF2B5EF4-FFF2-40B4-BE49-F238E27FC236}">
                <a16:creationId xmlns:a16="http://schemas.microsoft.com/office/drawing/2014/main" id="{0905C440-F19D-3A44-A336-ACCBBD016014}"/>
              </a:ext>
            </a:extLst>
          </p:cNvPr>
          <p:cNvSpPr txBox="1">
            <a:spLocks noChangeArrowheads="1"/>
          </p:cNvSpPr>
          <p:nvPr/>
        </p:nvSpPr>
        <p:spPr bwMode="auto">
          <a:xfrm>
            <a:off x="4403725" y="4991101"/>
            <a:ext cx="577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imes New Roman" panose="02020603050405020304" pitchFamily="18" charset="0"/>
              </a:rPr>
              <a:t>start</a:t>
            </a:r>
          </a:p>
        </p:txBody>
      </p:sp>
      <p:sp>
        <p:nvSpPr>
          <p:cNvPr id="29701" name="Text Box 26">
            <a:extLst>
              <a:ext uri="{FF2B5EF4-FFF2-40B4-BE49-F238E27FC236}">
                <a16:creationId xmlns:a16="http://schemas.microsoft.com/office/drawing/2014/main" id="{B5B6857A-EAE3-3647-979C-832B0FBF72C4}"/>
              </a:ext>
            </a:extLst>
          </p:cNvPr>
          <p:cNvSpPr txBox="1">
            <a:spLocks noChangeArrowheads="1"/>
          </p:cNvSpPr>
          <p:nvPr/>
        </p:nvSpPr>
        <p:spPr bwMode="auto">
          <a:xfrm>
            <a:off x="5867400" y="49530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imes New Roman" panose="02020603050405020304" pitchFamily="18" charset="0"/>
              </a:rPr>
              <a:t>end</a:t>
            </a:r>
          </a:p>
        </p:txBody>
      </p:sp>
    </p:spTree>
    <p:extLst>
      <p:ext uri="{BB962C8B-B14F-4D97-AF65-F5344CB8AC3E}">
        <p14:creationId xmlns:p14="http://schemas.microsoft.com/office/powerpoint/2010/main" val="815334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05" name="Line 29">
            <a:extLst>
              <a:ext uri="{FF2B5EF4-FFF2-40B4-BE49-F238E27FC236}">
                <a16:creationId xmlns:a16="http://schemas.microsoft.com/office/drawing/2014/main" id="{B9FE2DB5-E4EE-D043-B346-E1EE535117CE}"/>
              </a:ext>
            </a:extLst>
          </p:cNvPr>
          <p:cNvSpPr>
            <a:spLocks noChangeShapeType="1"/>
          </p:cNvSpPr>
          <p:nvPr/>
        </p:nvSpPr>
        <p:spPr bwMode="auto">
          <a:xfrm>
            <a:off x="4495800" y="2895600"/>
            <a:ext cx="1828800"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2" name="Rectangle 3">
            <a:extLst>
              <a:ext uri="{FF2B5EF4-FFF2-40B4-BE49-F238E27FC236}">
                <a16:creationId xmlns:a16="http://schemas.microsoft.com/office/drawing/2014/main" id="{D246FE2F-22A5-CF4F-AD20-10C3B3CDDC3D}"/>
              </a:ext>
            </a:extLst>
          </p:cNvPr>
          <p:cNvSpPr>
            <a:spLocks noGrp="1" noChangeArrowheads="1"/>
          </p:cNvSpPr>
          <p:nvPr>
            <p:ph type="body" idx="1"/>
          </p:nvPr>
        </p:nvSpPr>
        <p:spPr>
          <a:xfrm>
            <a:off x="1981200" y="457200"/>
            <a:ext cx="8229600" cy="1219200"/>
          </a:xfrm>
        </p:spPr>
        <p:txBody>
          <a:bodyPr/>
          <a:lstStyle/>
          <a:p>
            <a:pPr eaLnBrk="1" hangingPunct="1">
              <a:spcBef>
                <a:spcPct val="50000"/>
              </a:spcBef>
            </a:pPr>
            <a:r>
              <a:rPr lang="en-US" altLang="en-US" sz="2000">
                <a:latin typeface="Times New Roman" panose="02020603050405020304" pitchFamily="18" charset="0"/>
                <a:ea typeface="ＭＳ Ｐゴシック" panose="020B0600070205080204" pitchFamily="34" charset="-128"/>
              </a:rPr>
              <a:t>On the other hand if a multigraph </a:t>
            </a:r>
            <a:r>
              <a:rPr lang="en-US" altLang="en-US" sz="2000" i="1">
                <a:latin typeface="Times New Roman" panose="02020603050405020304" pitchFamily="18" charset="0"/>
                <a:ea typeface="ＭＳ Ｐゴシック" panose="020B0600070205080204" pitchFamily="34" charset="-128"/>
              </a:rPr>
              <a:t>H</a:t>
            </a:r>
            <a:r>
              <a:rPr lang="en-US" altLang="en-US" sz="2000">
                <a:latin typeface="Times New Roman" panose="02020603050405020304" pitchFamily="18" charset="0"/>
                <a:ea typeface="ＭＳ Ｐゴシック" panose="020B0600070205080204" pitchFamily="34" charset="-128"/>
              </a:rPr>
              <a:t> is connected and has exactly two vertices, p and q, of odd degree, then to obtain a graph </a:t>
            </a:r>
            <a:r>
              <a:rPr lang="en-US" altLang="en-US" sz="2000" i="1">
                <a:latin typeface="Times New Roman" panose="02020603050405020304" pitchFamily="18" charset="0"/>
                <a:ea typeface="ＭＳ Ｐゴシック" panose="020B0600070205080204" pitchFamily="34" charset="-128"/>
              </a:rPr>
              <a:t>H</a:t>
            </a:r>
            <a:r>
              <a:rPr lang="en-US" altLang="en-US" sz="2000">
                <a:latin typeface="Times New Roman" panose="02020603050405020304" pitchFamily="18" charset="0"/>
                <a:ea typeface="ＭＳ Ｐゴシック" panose="020B0600070205080204" pitchFamily="34" charset="-128"/>
              </a:rPr>
              <a:t>´, add a supplementary edge (p,q) to </a:t>
            </a:r>
            <a:r>
              <a:rPr lang="en-US" altLang="en-US" sz="2000" i="1">
                <a:latin typeface="Times New Roman" panose="02020603050405020304" pitchFamily="18" charset="0"/>
                <a:ea typeface="ＭＳ Ｐゴシック" panose="020B0600070205080204" pitchFamily="34" charset="-128"/>
              </a:rPr>
              <a:t>H</a:t>
            </a:r>
            <a:r>
              <a:rPr lang="en-US" altLang="en-US" sz="2000">
                <a:latin typeface="Times New Roman" panose="02020603050405020304" pitchFamily="18" charset="0"/>
                <a:ea typeface="ＭＳ Ｐゴシック" panose="020B0600070205080204" pitchFamily="34" charset="-128"/>
              </a:rPr>
              <a:t>.</a:t>
            </a:r>
          </a:p>
          <a:p>
            <a:pPr eaLnBrk="1" hangingPunct="1"/>
            <a:endParaRPr lang="en-US" altLang="en-US" sz="2400">
              <a:latin typeface="Times New Roman" panose="02020603050405020304" pitchFamily="18" charset="0"/>
              <a:ea typeface="ＭＳ Ｐゴシック" panose="020B0600070205080204" pitchFamily="34" charset="-128"/>
            </a:endParaRPr>
          </a:p>
        </p:txBody>
      </p:sp>
      <p:grpSp>
        <p:nvGrpSpPr>
          <p:cNvPr id="30723" name="Group 25">
            <a:extLst>
              <a:ext uri="{FF2B5EF4-FFF2-40B4-BE49-F238E27FC236}">
                <a16:creationId xmlns:a16="http://schemas.microsoft.com/office/drawing/2014/main" id="{D4EA774A-C8E1-B745-B8D9-7A53D67A7E7B}"/>
              </a:ext>
            </a:extLst>
          </p:cNvPr>
          <p:cNvGrpSpPr>
            <a:grpSpLocks/>
          </p:cNvGrpSpPr>
          <p:nvPr/>
        </p:nvGrpSpPr>
        <p:grpSpPr bwMode="auto">
          <a:xfrm>
            <a:off x="3810000" y="2362200"/>
            <a:ext cx="3200400" cy="990600"/>
            <a:chOff x="1488" y="1248"/>
            <a:chExt cx="2016" cy="624"/>
          </a:xfrm>
        </p:grpSpPr>
        <p:grpSp>
          <p:nvGrpSpPr>
            <p:cNvPr id="30727" name="Group 4">
              <a:extLst>
                <a:ext uri="{FF2B5EF4-FFF2-40B4-BE49-F238E27FC236}">
                  <a16:creationId xmlns:a16="http://schemas.microsoft.com/office/drawing/2014/main" id="{7068C3AF-6296-DF4F-A4B2-71D6E5171B52}"/>
                </a:ext>
              </a:extLst>
            </p:cNvPr>
            <p:cNvGrpSpPr>
              <a:grpSpLocks/>
            </p:cNvGrpSpPr>
            <p:nvPr/>
          </p:nvGrpSpPr>
          <p:grpSpPr bwMode="auto">
            <a:xfrm>
              <a:off x="1488" y="1248"/>
              <a:ext cx="2016" cy="624"/>
              <a:chOff x="1440" y="2784"/>
              <a:chExt cx="2016" cy="624"/>
            </a:xfrm>
          </p:grpSpPr>
          <p:sp>
            <p:nvSpPr>
              <p:cNvPr id="30729" name="Oval 5">
                <a:extLst>
                  <a:ext uri="{FF2B5EF4-FFF2-40B4-BE49-F238E27FC236}">
                    <a16:creationId xmlns:a16="http://schemas.microsoft.com/office/drawing/2014/main" id="{BBAEB93B-CBD9-9B4F-AF64-2A8B83E769B5}"/>
                  </a:ext>
                </a:extLst>
              </p:cNvPr>
              <p:cNvSpPr>
                <a:spLocks noChangeArrowheads="1"/>
              </p:cNvSpPr>
              <p:nvPr/>
            </p:nvSpPr>
            <p:spPr bwMode="auto">
              <a:xfrm>
                <a:off x="1440" y="283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0730" name="Oval 6">
                <a:extLst>
                  <a:ext uri="{FF2B5EF4-FFF2-40B4-BE49-F238E27FC236}">
                    <a16:creationId xmlns:a16="http://schemas.microsoft.com/office/drawing/2014/main" id="{4E673E16-4358-6249-BCC7-35C8C947822E}"/>
                  </a:ext>
                </a:extLst>
              </p:cNvPr>
              <p:cNvSpPr>
                <a:spLocks noChangeArrowheads="1"/>
              </p:cNvSpPr>
              <p:nvPr/>
            </p:nvSpPr>
            <p:spPr bwMode="auto">
              <a:xfrm>
                <a:off x="1440" y="331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0731" name="Oval 7">
                <a:extLst>
                  <a:ext uri="{FF2B5EF4-FFF2-40B4-BE49-F238E27FC236}">
                    <a16:creationId xmlns:a16="http://schemas.microsoft.com/office/drawing/2014/main" id="{B2EAC11D-665B-D24E-87EB-B5A8B1EF37AD}"/>
                  </a:ext>
                </a:extLst>
              </p:cNvPr>
              <p:cNvSpPr>
                <a:spLocks noChangeArrowheads="1"/>
              </p:cNvSpPr>
              <p:nvPr/>
            </p:nvSpPr>
            <p:spPr bwMode="auto">
              <a:xfrm>
                <a:off x="1824" y="307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0732" name="Oval 8">
                <a:extLst>
                  <a:ext uri="{FF2B5EF4-FFF2-40B4-BE49-F238E27FC236}">
                    <a16:creationId xmlns:a16="http://schemas.microsoft.com/office/drawing/2014/main" id="{E4A45A12-389D-4B49-9AD8-3D02C4B8FA8A}"/>
                  </a:ext>
                </a:extLst>
              </p:cNvPr>
              <p:cNvSpPr>
                <a:spLocks noChangeArrowheads="1"/>
              </p:cNvSpPr>
              <p:nvPr/>
            </p:nvSpPr>
            <p:spPr bwMode="auto">
              <a:xfrm>
                <a:off x="1824" y="278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0733" name="Oval 9">
                <a:extLst>
                  <a:ext uri="{FF2B5EF4-FFF2-40B4-BE49-F238E27FC236}">
                    <a16:creationId xmlns:a16="http://schemas.microsoft.com/office/drawing/2014/main" id="{3981B520-A409-DC4D-942E-344C30B772EC}"/>
                  </a:ext>
                </a:extLst>
              </p:cNvPr>
              <p:cNvSpPr>
                <a:spLocks noChangeArrowheads="1"/>
              </p:cNvSpPr>
              <p:nvPr/>
            </p:nvSpPr>
            <p:spPr bwMode="auto">
              <a:xfrm>
                <a:off x="2400" y="278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0734" name="Oval 10">
                <a:extLst>
                  <a:ext uri="{FF2B5EF4-FFF2-40B4-BE49-F238E27FC236}">
                    <a16:creationId xmlns:a16="http://schemas.microsoft.com/office/drawing/2014/main" id="{330DD9FD-13F8-9D46-85E3-2D862F28B134}"/>
                  </a:ext>
                </a:extLst>
              </p:cNvPr>
              <p:cNvSpPr>
                <a:spLocks noChangeArrowheads="1"/>
              </p:cNvSpPr>
              <p:nvPr/>
            </p:nvSpPr>
            <p:spPr bwMode="auto">
              <a:xfrm>
                <a:off x="2976" y="278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0735" name="Oval 11">
                <a:extLst>
                  <a:ext uri="{FF2B5EF4-FFF2-40B4-BE49-F238E27FC236}">
                    <a16:creationId xmlns:a16="http://schemas.microsoft.com/office/drawing/2014/main" id="{D382FA43-FD97-764C-86CD-AC258C28A6BA}"/>
                  </a:ext>
                </a:extLst>
              </p:cNvPr>
              <p:cNvSpPr>
                <a:spLocks noChangeArrowheads="1"/>
              </p:cNvSpPr>
              <p:nvPr/>
            </p:nvSpPr>
            <p:spPr bwMode="auto">
              <a:xfrm>
                <a:off x="2976" y="307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0736" name="Oval 12">
                <a:extLst>
                  <a:ext uri="{FF2B5EF4-FFF2-40B4-BE49-F238E27FC236}">
                    <a16:creationId xmlns:a16="http://schemas.microsoft.com/office/drawing/2014/main" id="{A7BF5DF0-D06F-0141-86D9-8796F86546AA}"/>
                  </a:ext>
                </a:extLst>
              </p:cNvPr>
              <p:cNvSpPr>
                <a:spLocks noChangeArrowheads="1"/>
              </p:cNvSpPr>
              <p:nvPr/>
            </p:nvSpPr>
            <p:spPr bwMode="auto">
              <a:xfrm>
                <a:off x="3360" y="283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0737" name="Oval 13">
                <a:extLst>
                  <a:ext uri="{FF2B5EF4-FFF2-40B4-BE49-F238E27FC236}">
                    <a16:creationId xmlns:a16="http://schemas.microsoft.com/office/drawing/2014/main" id="{D0569051-C6F3-1D4D-82D9-638AACEA24EA}"/>
                  </a:ext>
                </a:extLst>
              </p:cNvPr>
              <p:cNvSpPr>
                <a:spLocks noChangeArrowheads="1"/>
              </p:cNvSpPr>
              <p:nvPr/>
            </p:nvSpPr>
            <p:spPr bwMode="auto">
              <a:xfrm>
                <a:off x="3360" y="331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0738" name="Line 14">
                <a:extLst>
                  <a:ext uri="{FF2B5EF4-FFF2-40B4-BE49-F238E27FC236}">
                    <a16:creationId xmlns:a16="http://schemas.microsoft.com/office/drawing/2014/main" id="{A685E43E-4C30-FD4D-91EF-DD75CD78F945}"/>
                  </a:ext>
                </a:extLst>
              </p:cNvPr>
              <p:cNvSpPr>
                <a:spLocks noChangeShapeType="1"/>
              </p:cNvSpPr>
              <p:nvPr/>
            </p:nvSpPr>
            <p:spPr bwMode="auto">
              <a:xfrm flipV="1">
                <a:off x="1488" y="28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9" name="Line 15">
                <a:extLst>
                  <a:ext uri="{FF2B5EF4-FFF2-40B4-BE49-F238E27FC236}">
                    <a16:creationId xmlns:a16="http://schemas.microsoft.com/office/drawing/2014/main" id="{53E70013-EB52-E747-83F5-A0CBCAD6BA1E}"/>
                  </a:ext>
                </a:extLst>
              </p:cNvPr>
              <p:cNvSpPr>
                <a:spLocks noChangeShapeType="1"/>
              </p:cNvSpPr>
              <p:nvPr/>
            </p:nvSpPr>
            <p:spPr bwMode="auto">
              <a:xfrm flipV="1">
                <a:off x="3024" y="2832"/>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0" name="Line 16">
                <a:extLst>
                  <a:ext uri="{FF2B5EF4-FFF2-40B4-BE49-F238E27FC236}">
                    <a16:creationId xmlns:a16="http://schemas.microsoft.com/office/drawing/2014/main" id="{D5B66989-B59F-DB4C-A945-E7C6FD63C0A4}"/>
                  </a:ext>
                </a:extLst>
              </p:cNvPr>
              <p:cNvSpPr>
                <a:spLocks noChangeShapeType="1"/>
              </p:cNvSpPr>
              <p:nvPr/>
            </p:nvSpPr>
            <p:spPr bwMode="auto">
              <a:xfrm flipV="1">
                <a:off x="3408" y="28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1" name="Line 17">
                <a:extLst>
                  <a:ext uri="{FF2B5EF4-FFF2-40B4-BE49-F238E27FC236}">
                    <a16:creationId xmlns:a16="http://schemas.microsoft.com/office/drawing/2014/main" id="{48090752-D04B-924E-AB3C-1619786FA4A0}"/>
                  </a:ext>
                </a:extLst>
              </p:cNvPr>
              <p:cNvSpPr>
                <a:spLocks noChangeShapeType="1"/>
              </p:cNvSpPr>
              <p:nvPr/>
            </p:nvSpPr>
            <p:spPr bwMode="auto">
              <a:xfrm flipV="1">
                <a:off x="1872" y="2832"/>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2" name="Line 18">
                <a:extLst>
                  <a:ext uri="{FF2B5EF4-FFF2-40B4-BE49-F238E27FC236}">
                    <a16:creationId xmlns:a16="http://schemas.microsoft.com/office/drawing/2014/main" id="{8997C1FD-5150-A04F-B27E-CA3FB303DFE2}"/>
                  </a:ext>
                </a:extLst>
              </p:cNvPr>
              <p:cNvSpPr>
                <a:spLocks noChangeShapeType="1"/>
              </p:cNvSpPr>
              <p:nvPr/>
            </p:nvSpPr>
            <p:spPr bwMode="auto">
              <a:xfrm>
                <a:off x="2448" y="2832"/>
                <a:ext cx="5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3" name="Line 19">
                <a:extLst>
                  <a:ext uri="{FF2B5EF4-FFF2-40B4-BE49-F238E27FC236}">
                    <a16:creationId xmlns:a16="http://schemas.microsoft.com/office/drawing/2014/main" id="{8DBE6F0A-A47D-4441-AE7B-B3215363FF78}"/>
                  </a:ext>
                </a:extLst>
              </p:cNvPr>
              <p:cNvSpPr>
                <a:spLocks noChangeShapeType="1"/>
              </p:cNvSpPr>
              <p:nvPr/>
            </p:nvSpPr>
            <p:spPr bwMode="auto">
              <a:xfrm>
                <a:off x="1872" y="2832"/>
                <a:ext cx="57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4" name="Line 20">
                <a:extLst>
                  <a:ext uri="{FF2B5EF4-FFF2-40B4-BE49-F238E27FC236}">
                    <a16:creationId xmlns:a16="http://schemas.microsoft.com/office/drawing/2014/main" id="{A68905B9-6152-8E4A-BDEE-AF1FB95FBF5B}"/>
                  </a:ext>
                </a:extLst>
              </p:cNvPr>
              <p:cNvSpPr>
                <a:spLocks noChangeShapeType="1"/>
              </p:cNvSpPr>
              <p:nvPr/>
            </p:nvSpPr>
            <p:spPr bwMode="auto">
              <a:xfrm>
                <a:off x="1488" y="2880"/>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5" name="Line 21">
                <a:extLst>
                  <a:ext uri="{FF2B5EF4-FFF2-40B4-BE49-F238E27FC236}">
                    <a16:creationId xmlns:a16="http://schemas.microsoft.com/office/drawing/2014/main" id="{6628041E-5C8A-F440-8C23-AC0976B8D79F}"/>
                  </a:ext>
                </a:extLst>
              </p:cNvPr>
              <p:cNvSpPr>
                <a:spLocks noChangeShapeType="1"/>
              </p:cNvSpPr>
              <p:nvPr/>
            </p:nvSpPr>
            <p:spPr bwMode="auto">
              <a:xfrm>
                <a:off x="3024" y="3120"/>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6" name="Line 22">
                <a:extLst>
                  <a:ext uri="{FF2B5EF4-FFF2-40B4-BE49-F238E27FC236}">
                    <a16:creationId xmlns:a16="http://schemas.microsoft.com/office/drawing/2014/main" id="{A0C25AD4-A2AB-C74D-8818-ABDB457590ED}"/>
                  </a:ext>
                </a:extLst>
              </p:cNvPr>
              <p:cNvSpPr>
                <a:spLocks noChangeShapeType="1"/>
              </p:cNvSpPr>
              <p:nvPr/>
            </p:nvSpPr>
            <p:spPr bwMode="auto">
              <a:xfrm flipV="1">
                <a:off x="3024" y="2880"/>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7" name="Line 23">
                <a:extLst>
                  <a:ext uri="{FF2B5EF4-FFF2-40B4-BE49-F238E27FC236}">
                    <a16:creationId xmlns:a16="http://schemas.microsoft.com/office/drawing/2014/main" id="{C6541A09-9F1A-1647-AFCF-C93BA28CD8D6}"/>
                  </a:ext>
                </a:extLst>
              </p:cNvPr>
              <p:cNvSpPr>
                <a:spLocks noChangeShapeType="1"/>
              </p:cNvSpPr>
              <p:nvPr/>
            </p:nvSpPr>
            <p:spPr bwMode="auto">
              <a:xfrm flipV="1">
                <a:off x="1488" y="3120"/>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0728" name="Text Box 24">
              <a:extLst>
                <a:ext uri="{FF2B5EF4-FFF2-40B4-BE49-F238E27FC236}">
                  <a16:creationId xmlns:a16="http://schemas.microsoft.com/office/drawing/2014/main" id="{BE531466-5632-764F-B55D-DC646595706E}"/>
                </a:ext>
              </a:extLst>
            </p:cNvPr>
            <p:cNvSpPr txBox="1">
              <a:spLocks noChangeArrowheads="1"/>
            </p:cNvSpPr>
            <p:nvPr/>
          </p:nvSpPr>
          <p:spPr bwMode="auto">
            <a:xfrm>
              <a:off x="1872" y="1584"/>
              <a:ext cx="1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2000">
                  <a:latin typeface="Times New Roman" panose="02020603050405020304" pitchFamily="18" charset="0"/>
                </a:rPr>
                <a:t>p                        q          </a:t>
              </a:r>
            </a:p>
          </p:txBody>
        </p:sp>
      </p:grpSp>
      <p:sp>
        <p:nvSpPr>
          <p:cNvPr id="24602" name="Oval 26">
            <a:extLst>
              <a:ext uri="{FF2B5EF4-FFF2-40B4-BE49-F238E27FC236}">
                <a16:creationId xmlns:a16="http://schemas.microsoft.com/office/drawing/2014/main" id="{D11ACADB-2E0D-C244-A1A3-F8076DD1AD7F}"/>
              </a:ext>
            </a:extLst>
          </p:cNvPr>
          <p:cNvSpPr>
            <a:spLocks noChangeArrowheads="1"/>
          </p:cNvSpPr>
          <p:nvPr/>
        </p:nvSpPr>
        <p:spPr bwMode="auto">
          <a:xfrm>
            <a:off x="4419600" y="2819400"/>
            <a:ext cx="152400" cy="152400"/>
          </a:xfrm>
          <a:prstGeom prst="ellipse">
            <a:avLst/>
          </a:prstGeom>
          <a:solidFill>
            <a:srgbClr val="FF00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04" name="Oval 28">
            <a:extLst>
              <a:ext uri="{FF2B5EF4-FFF2-40B4-BE49-F238E27FC236}">
                <a16:creationId xmlns:a16="http://schemas.microsoft.com/office/drawing/2014/main" id="{DA3B28FF-ADDB-9045-BB4F-720CBB49D2FB}"/>
              </a:ext>
            </a:extLst>
          </p:cNvPr>
          <p:cNvSpPr>
            <a:spLocks noChangeArrowheads="1"/>
          </p:cNvSpPr>
          <p:nvPr/>
        </p:nvSpPr>
        <p:spPr bwMode="auto">
          <a:xfrm>
            <a:off x="6248400" y="2819400"/>
            <a:ext cx="152400" cy="152400"/>
          </a:xfrm>
          <a:prstGeom prst="ellipse">
            <a:avLst/>
          </a:prstGeom>
          <a:solidFill>
            <a:srgbClr val="FF0000"/>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24609" name="Text Box 33">
            <a:extLst>
              <a:ext uri="{FF2B5EF4-FFF2-40B4-BE49-F238E27FC236}">
                <a16:creationId xmlns:a16="http://schemas.microsoft.com/office/drawing/2014/main" id="{DE318387-14EA-A647-8EE2-D6DF5F03688B}"/>
              </a:ext>
            </a:extLst>
          </p:cNvPr>
          <p:cNvSpPr txBox="1">
            <a:spLocks noChangeArrowheads="1"/>
          </p:cNvSpPr>
          <p:nvPr/>
        </p:nvSpPr>
        <p:spPr bwMode="auto">
          <a:xfrm>
            <a:off x="2057400" y="4038601"/>
            <a:ext cx="80010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a:latin typeface="Times New Roman" panose="02020603050405020304" pitchFamily="18" charset="0"/>
              </a:rPr>
              <a:t>    </a:t>
            </a:r>
            <a:r>
              <a:rPr lang="en-US" altLang="en-US" sz="2000" i="1">
                <a:latin typeface="Times New Roman" panose="02020603050405020304" pitchFamily="18" charset="0"/>
              </a:rPr>
              <a:t>H</a:t>
            </a:r>
            <a:r>
              <a:rPr lang="en-US" altLang="en-US" sz="1800">
                <a:latin typeface="Times New Roman" panose="02020603050405020304" pitchFamily="18" charset="0"/>
              </a:rPr>
              <a:t>´ is</a:t>
            </a:r>
            <a:r>
              <a:rPr lang="en-US" altLang="en-US" sz="2000">
                <a:latin typeface="Times New Roman" panose="02020603050405020304" pitchFamily="18" charset="0"/>
              </a:rPr>
              <a:t> now connected and has all vertices of even degree. Therefore by the </a:t>
            </a:r>
            <a:r>
              <a:rPr lang="en-US" altLang="en-US" sz="1800">
                <a:latin typeface="Times New Roman" panose="02020603050405020304" pitchFamily="18" charset="0"/>
              </a:rPr>
              <a:t>Euler cycle theorem, </a:t>
            </a:r>
            <a:r>
              <a:rPr lang="en-US" altLang="en-US" sz="1800" i="1">
                <a:latin typeface="Times New Roman" panose="02020603050405020304" pitchFamily="18" charset="0"/>
              </a:rPr>
              <a:t>H</a:t>
            </a:r>
            <a:r>
              <a:rPr lang="en-US" altLang="en-US" sz="1800">
                <a:latin typeface="Times New Roman" panose="02020603050405020304" pitchFamily="18" charset="0"/>
              </a:rPr>
              <a:t>´ </a:t>
            </a:r>
            <a:r>
              <a:rPr lang="en-US" altLang="en-US" sz="2000">
                <a:latin typeface="Times New Roman" panose="02020603050405020304" pitchFamily="18" charset="0"/>
              </a:rPr>
              <a:t>has an Euler cycle </a:t>
            </a:r>
            <a:r>
              <a:rPr lang="en-US" altLang="en-US" sz="2000" i="1">
                <a:latin typeface="Times New Roman" panose="02020603050405020304" pitchFamily="18" charset="0"/>
              </a:rPr>
              <a:t>C</a:t>
            </a:r>
            <a:r>
              <a:rPr lang="en-US" altLang="en-US" sz="2000">
                <a:latin typeface="Times New Roman" panose="02020603050405020304" pitchFamily="18" charset="0"/>
              </a:rPr>
              <a:t>.</a:t>
            </a:r>
          </a:p>
          <a:p>
            <a:pPr eaLnBrk="1" hangingPunct="1">
              <a:spcBef>
                <a:spcPct val="50000"/>
              </a:spcBef>
            </a:pPr>
            <a:r>
              <a:rPr lang="en-US" altLang="en-US" sz="2000">
                <a:latin typeface="Times New Roman" panose="02020603050405020304" pitchFamily="18" charset="0"/>
              </a:rPr>
              <a:t>    If you removed the edge (p,q) from </a:t>
            </a:r>
            <a:r>
              <a:rPr lang="en-US" altLang="en-US" sz="2000" i="1">
                <a:latin typeface="Times New Roman" panose="02020603050405020304" pitchFamily="18" charset="0"/>
              </a:rPr>
              <a:t>C</a:t>
            </a:r>
            <a:r>
              <a:rPr lang="en-US" altLang="en-US" sz="2000">
                <a:latin typeface="Times New Roman" panose="02020603050405020304" pitchFamily="18" charset="0"/>
              </a:rPr>
              <a:t>,  this reduces the Euler cycle to an Euler trail that includes all of edges of </a:t>
            </a:r>
            <a:r>
              <a:rPr lang="en-US" altLang="en-US" sz="2000" i="1">
                <a:latin typeface="Times New Roman" panose="02020603050405020304" pitchFamily="18" charset="0"/>
              </a:rPr>
              <a:t>H</a:t>
            </a:r>
            <a:r>
              <a:rPr lang="en-US" altLang="en-US" sz="2000">
                <a:latin typeface="Times New Roman" panose="02020603050405020304" pitchFamily="18" charset="0"/>
              </a:rPr>
              <a:t>.  Hence the corollary.</a:t>
            </a:r>
          </a:p>
        </p:txBody>
      </p:sp>
    </p:spTree>
    <p:extLst>
      <p:ext uri="{BB962C8B-B14F-4D97-AF65-F5344CB8AC3E}">
        <p14:creationId xmlns:p14="http://schemas.microsoft.com/office/powerpoint/2010/main" val="11155898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605"/>
                                        </p:tgtEl>
                                        <p:attrNameLst>
                                          <p:attrName>style.visibility</p:attrName>
                                        </p:attrNameLst>
                                      </p:cBhvr>
                                      <p:to>
                                        <p:strVal val="visible"/>
                                      </p:to>
                                    </p:set>
                                    <p:animEffect transition="in" filter="wipe(left)">
                                      <p:cBhvr>
                                        <p:cTn id="7" dur="500"/>
                                        <p:tgtEl>
                                          <p:spTgt spid="24605"/>
                                        </p:tgtEl>
                                      </p:cBhvr>
                                    </p:animEffect>
                                  </p:childTnLst>
                                </p:cTn>
                              </p:par>
                            </p:childTnLst>
                          </p:cTn>
                        </p:par>
                        <p:par>
                          <p:cTn id="8" fill="hold" nodeType="afterGroup">
                            <p:stCondLst>
                              <p:cond delay="500"/>
                            </p:stCondLst>
                            <p:childTnLst>
                              <p:par>
                                <p:cTn id="9" presetID="10" presetClass="exit" presetSubtype="0" fill="hold" grpId="0" nodeType="afterEffect">
                                  <p:stCondLst>
                                    <p:cond delay="0"/>
                                  </p:stCondLst>
                                  <p:childTnLst>
                                    <p:animEffect transition="out" filter="fade">
                                      <p:cBhvr>
                                        <p:cTn id="10" dur="5000"/>
                                        <p:tgtEl>
                                          <p:spTgt spid="24604"/>
                                        </p:tgtEl>
                                      </p:cBhvr>
                                    </p:animEffect>
                                    <p:set>
                                      <p:cBhvr>
                                        <p:cTn id="11" dur="1" fill="hold">
                                          <p:stCondLst>
                                            <p:cond delay="4999"/>
                                          </p:stCondLst>
                                        </p:cTn>
                                        <p:tgtEl>
                                          <p:spTgt spid="24604"/>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5000"/>
                                        <p:tgtEl>
                                          <p:spTgt spid="24602"/>
                                        </p:tgtEl>
                                      </p:cBhvr>
                                    </p:animEffect>
                                    <p:set>
                                      <p:cBhvr>
                                        <p:cTn id="14" dur="1" fill="hold">
                                          <p:stCondLst>
                                            <p:cond delay="4999"/>
                                          </p:stCondLst>
                                        </p:cTn>
                                        <p:tgtEl>
                                          <p:spTgt spid="24602"/>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609"/>
                                        </p:tgtEl>
                                        <p:attrNameLst>
                                          <p:attrName>style.visibility</p:attrName>
                                        </p:attrNameLst>
                                      </p:cBhvr>
                                      <p:to>
                                        <p:strVal val="visible"/>
                                      </p:to>
                                    </p:set>
                                    <p:anim calcmode="lin" valueType="num">
                                      <p:cBhvr additive="base">
                                        <p:cTn id="19" dur="500" fill="hold"/>
                                        <p:tgtEl>
                                          <p:spTgt spid="24609"/>
                                        </p:tgtEl>
                                        <p:attrNameLst>
                                          <p:attrName>ppt_x</p:attrName>
                                        </p:attrNameLst>
                                      </p:cBhvr>
                                      <p:tavLst>
                                        <p:tav tm="0">
                                          <p:val>
                                            <p:strVal val="#ppt_x"/>
                                          </p:val>
                                        </p:tav>
                                        <p:tav tm="100000">
                                          <p:val>
                                            <p:strVal val="#ppt_x"/>
                                          </p:val>
                                        </p:tav>
                                      </p:tavLst>
                                    </p:anim>
                                    <p:anim calcmode="lin" valueType="num">
                                      <p:cBhvr additive="base">
                                        <p:cTn id="20" dur="500" fill="hold"/>
                                        <p:tgtEl>
                                          <p:spTgt spid="246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02" grpId="0" animBg="1"/>
      <p:bldP spid="24604" grpId="0" animBg="1"/>
      <p:bldP spid="2460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5" name="Group 82">
            <a:extLst>
              <a:ext uri="{FF2B5EF4-FFF2-40B4-BE49-F238E27FC236}">
                <a16:creationId xmlns:a16="http://schemas.microsoft.com/office/drawing/2014/main" id="{81224B1A-6796-2241-95C4-0B6B494B7D37}"/>
              </a:ext>
            </a:extLst>
          </p:cNvPr>
          <p:cNvGrpSpPr>
            <a:grpSpLocks/>
          </p:cNvGrpSpPr>
          <p:nvPr/>
        </p:nvGrpSpPr>
        <p:grpSpPr bwMode="auto">
          <a:xfrm>
            <a:off x="2286000" y="914400"/>
            <a:ext cx="609600" cy="762000"/>
            <a:chOff x="480" y="240"/>
            <a:chExt cx="384" cy="480"/>
          </a:xfrm>
        </p:grpSpPr>
        <p:sp>
          <p:nvSpPr>
            <p:cNvPr id="31834" name="Line 2">
              <a:extLst>
                <a:ext uri="{FF2B5EF4-FFF2-40B4-BE49-F238E27FC236}">
                  <a16:creationId xmlns:a16="http://schemas.microsoft.com/office/drawing/2014/main" id="{6750B892-0A64-EF4D-B106-29B3A377BFE4}"/>
                </a:ext>
              </a:extLst>
            </p:cNvPr>
            <p:cNvSpPr>
              <a:spLocks noChangeShapeType="1"/>
            </p:cNvSpPr>
            <p:nvPr/>
          </p:nvSpPr>
          <p:spPr bwMode="auto">
            <a:xfrm flipH="1">
              <a:off x="528" y="288"/>
              <a:ext cx="28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35" name="Oval 3">
              <a:extLst>
                <a:ext uri="{FF2B5EF4-FFF2-40B4-BE49-F238E27FC236}">
                  <a16:creationId xmlns:a16="http://schemas.microsoft.com/office/drawing/2014/main" id="{DD021FB6-A098-4743-8BF3-1923C17A256A}"/>
                </a:ext>
              </a:extLst>
            </p:cNvPr>
            <p:cNvSpPr>
              <a:spLocks noChangeArrowheads="1"/>
            </p:cNvSpPr>
            <p:nvPr/>
          </p:nvSpPr>
          <p:spPr bwMode="auto">
            <a:xfrm>
              <a:off x="768" y="240"/>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36" name="Oval 4">
              <a:extLst>
                <a:ext uri="{FF2B5EF4-FFF2-40B4-BE49-F238E27FC236}">
                  <a16:creationId xmlns:a16="http://schemas.microsoft.com/office/drawing/2014/main" id="{AAD10257-546A-6444-8AA8-D5951324DCA7}"/>
                </a:ext>
              </a:extLst>
            </p:cNvPr>
            <p:cNvSpPr>
              <a:spLocks noChangeArrowheads="1"/>
            </p:cNvSpPr>
            <p:nvPr/>
          </p:nvSpPr>
          <p:spPr bwMode="auto">
            <a:xfrm>
              <a:off x="480" y="62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grpSp>
      <p:grpSp>
        <p:nvGrpSpPr>
          <p:cNvPr id="31746" name="Group 81">
            <a:extLst>
              <a:ext uri="{FF2B5EF4-FFF2-40B4-BE49-F238E27FC236}">
                <a16:creationId xmlns:a16="http://schemas.microsoft.com/office/drawing/2014/main" id="{250EFDAE-B8A0-274D-9D3B-4BD1608F429E}"/>
              </a:ext>
            </a:extLst>
          </p:cNvPr>
          <p:cNvGrpSpPr>
            <a:grpSpLocks/>
          </p:cNvGrpSpPr>
          <p:nvPr/>
        </p:nvGrpSpPr>
        <p:grpSpPr bwMode="auto">
          <a:xfrm>
            <a:off x="1905000" y="1905000"/>
            <a:ext cx="1066800" cy="990600"/>
            <a:chOff x="384" y="1008"/>
            <a:chExt cx="672" cy="624"/>
          </a:xfrm>
        </p:grpSpPr>
        <p:sp>
          <p:nvSpPr>
            <p:cNvPr id="31830" name="AutoShape 5">
              <a:extLst>
                <a:ext uri="{FF2B5EF4-FFF2-40B4-BE49-F238E27FC236}">
                  <a16:creationId xmlns:a16="http://schemas.microsoft.com/office/drawing/2014/main" id="{8D2934AC-3256-7046-BF53-5114E618D7EA}"/>
                </a:ext>
              </a:extLst>
            </p:cNvPr>
            <p:cNvSpPr>
              <a:spLocks noChangeArrowheads="1"/>
            </p:cNvSpPr>
            <p:nvPr/>
          </p:nvSpPr>
          <p:spPr bwMode="auto">
            <a:xfrm>
              <a:off x="432" y="1056"/>
              <a:ext cx="576" cy="528"/>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31" name="Oval 6">
              <a:extLst>
                <a:ext uri="{FF2B5EF4-FFF2-40B4-BE49-F238E27FC236}">
                  <a16:creationId xmlns:a16="http://schemas.microsoft.com/office/drawing/2014/main" id="{B9363566-5FEA-C443-8E7B-E83E23173E49}"/>
                </a:ext>
              </a:extLst>
            </p:cNvPr>
            <p:cNvSpPr>
              <a:spLocks noChangeArrowheads="1"/>
            </p:cNvSpPr>
            <p:nvPr/>
          </p:nvSpPr>
          <p:spPr bwMode="auto">
            <a:xfrm>
              <a:off x="672" y="100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32" name="Oval 7">
              <a:extLst>
                <a:ext uri="{FF2B5EF4-FFF2-40B4-BE49-F238E27FC236}">
                  <a16:creationId xmlns:a16="http://schemas.microsoft.com/office/drawing/2014/main" id="{06F9381D-448B-9F44-BC62-0633B4677CAB}"/>
                </a:ext>
              </a:extLst>
            </p:cNvPr>
            <p:cNvSpPr>
              <a:spLocks noChangeArrowheads="1"/>
            </p:cNvSpPr>
            <p:nvPr/>
          </p:nvSpPr>
          <p:spPr bwMode="auto">
            <a:xfrm>
              <a:off x="384" y="153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33" name="Oval 8">
              <a:extLst>
                <a:ext uri="{FF2B5EF4-FFF2-40B4-BE49-F238E27FC236}">
                  <a16:creationId xmlns:a16="http://schemas.microsoft.com/office/drawing/2014/main" id="{1DA819BA-386A-1940-ABA0-E603EBBD79DA}"/>
                </a:ext>
              </a:extLst>
            </p:cNvPr>
            <p:cNvSpPr>
              <a:spLocks noChangeArrowheads="1"/>
            </p:cNvSpPr>
            <p:nvPr/>
          </p:nvSpPr>
          <p:spPr bwMode="auto">
            <a:xfrm>
              <a:off x="960" y="153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grpSp>
      <p:grpSp>
        <p:nvGrpSpPr>
          <p:cNvPr id="31747" name="Group 79">
            <a:extLst>
              <a:ext uri="{FF2B5EF4-FFF2-40B4-BE49-F238E27FC236}">
                <a16:creationId xmlns:a16="http://schemas.microsoft.com/office/drawing/2014/main" id="{3360E209-7045-174D-9652-371CDA811437}"/>
              </a:ext>
            </a:extLst>
          </p:cNvPr>
          <p:cNvGrpSpPr>
            <a:grpSpLocks/>
          </p:cNvGrpSpPr>
          <p:nvPr/>
        </p:nvGrpSpPr>
        <p:grpSpPr bwMode="auto">
          <a:xfrm>
            <a:off x="1676400" y="4191000"/>
            <a:ext cx="1447800" cy="1371600"/>
            <a:chOff x="528" y="2784"/>
            <a:chExt cx="912" cy="864"/>
          </a:xfrm>
        </p:grpSpPr>
        <p:sp>
          <p:nvSpPr>
            <p:cNvPr id="31819" name="AutoShape 10">
              <a:extLst>
                <a:ext uri="{FF2B5EF4-FFF2-40B4-BE49-F238E27FC236}">
                  <a16:creationId xmlns:a16="http://schemas.microsoft.com/office/drawing/2014/main" id="{3EA0E2B3-539E-2141-9CCD-44551D665AB0}"/>
                </a:ext>
              </a:extLst>
            </p:cNvPr>
            <p:cNvSpPr>
              <a:spLocks noChangeArrowheads="1"/>
            </p:cNvSpPr>
            <p:nvPr/>
          </p:nvSpPr>
          <p:spPr bwMode="auto">
            <a:xfrm>
              <a:off x="576" y="2832"/>
              <a:ext cx="816" cy="768"/>
            </a:xfrm>
            <a:prstGeom prst="pentag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20" name="Line 12">
              <a:extLst>
                <a:ext uri="{FF2B5EF4-FFF2-40B4-BE49-F238E27FC236}">
                  <a16:creationId xmlns:a16="http://schemas.microsoft.com/office/drawing/2014/main" id="{9B1355FA-88FE-0142-AE2C-D0B5B123483A}"/>
                </a:ext>
              </a:extLst>
            </p:cNvPr>
            <p:cNvSpPr>
              <a:spLocks noChangeShapeType="1"/>
            </p:cNvSpPr>
            <p:nvPr/>
          </p:nvSpPr>
          <p:spPr bwMode="auto">
            <a:xfrm flipH="1">
              <a:off x="768" y="2832"/>
              <a:ext cx="192" cy="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1" name="Line 13">
              <a:extLst>
                <a:ext uri="{FF2B5EF4-FFF2-40B4-BE49-F238E27FC236}">
                  <a16:creationId xmlns:a16="http://schemas.microsoft.com/office/drawing/2014/main" id="{B874709E-3B10-8F44-90F8-FFE7D01A3E5C}"/>
                </a:ext>
              </a:extLst>
            </p:cNvPr>
            <p:cNvSpPr>
              <a:spLocks noChangeShapeType="1"/>
            </p:cNvSpPr>
            <p:nvPr/>
          </p:nvSpPr>
          <p:spPr bwMode="auto">
            <a:xfrm>
              <a:off x="576" y="3120"/>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2" name="Line 14">
              <a:extLst>
                <a:ext uri="{FF2B5EF4-FFF2-40B4-BE49-F238E27FC236}">
                  <a16:creationId xmlns:a16="http://schemas.microsoft.com/office/drawing/2014/main" id="{5BCE7C8F-6619-E540-A5B0-B3B74E3FC66B}"/>
                </a:ext>
              </a:extLst>
            </p:cNvPr>
            <p:cNvSpPr>
              <a:spLocks noChangeShapeType="1"/>
            </p:cNvSpPr>
            <p:nvPr/>
          </p:nvSpPr>
          <p:spPr bwMode="auto">
            <a:xfrm>
              <a:off x="960" y="2832"/>
              <a:ext cx="288" cy="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3" name="Line 15">
              <a:extLst>
                <a:ext uri="{FF2B5EF4-FFF2-40B4-BE49-F238E27FC236}">
                  <a16:creationId xmlns:a16="http://schemas.microsoft.com/office/drawing/2014/main" id="{307AE247-A02A-B148-88F1-965ED1C68652}"/>
                </a:ext>
              </a:extLst>
            </p:cNvPr>
            <p:cNvSpPr>
              <a:spLocks noChangeShapeType="1"/>
            </p:cNvSpPr>
            <p:nvPr/>
          </p:nvSpPr>
          <p:spPr bwMode="auto">
            <a:xfrm flipV="1">
              <a:off x="768" y="3120"/>
              <a:ext cx="624"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4" name="Line 16">
              <a:extLst>
                <a:ext uri="{FF2B5EF4-FFF2-40B4-BE49-F238E27FC236}">
                  <a16:creationId xmlns:a16="http://schemas.microsoft.com/office/drawing/2014/main" id="{96FC2F7D-F261-CC43-9194-814E9DADEF9B}"/>
                </a:ext>
              </a:extLst>
            </p:cNvPr>
            <p:cNvSpPr>
              <a:spLocks noChangeShapeType="1"/>
            </p:cNvSpPr>
            <p:nvPr/>
          </p:nvSpPr>
          <p:spPr bwMode="auto">
            <a:xfrm>
              <a:off x="576" y="3120"/>
              <a:ext cx="672"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5" name="Oval 17">
              <a:extLst>
                <a:ext uri="{FF2B5EF4-FFF2-40B4-BE49-F238E27FC236}">
                  <a16:creationId xmlns:a16="http://schemas.microsoft.com/office/drawing/2014/main" id="{4E93655E-A41A-F841-B6F8-D13FD60FC40D}"/>
                </a:ext>
              </a:extLst>
            </p:cNvPr>
            <p:cNvSpPr>
              <a:spLocks noChangeArrowheads="1"/>
            </p:cNvSpPr>
            <p:nvPr/>
          </p:nvSpPr>
          <p:spPr bwMode="auto">
            <a:xfrm>
              <a:off x="1344" y="307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26" name="Oval 18">
              <a:extLst>
                <a:ext uri="{FF2B5EF4-FFF2-40B4-BE49-F238E27FC236}">
                  <a16:creationId xmlns:a16="http://schemas.microsoft.com/office/drawing/2014/main" id="{85EE046A-CA2B-8348-BE34-E18606E332CE}"/>
                </a:ext>
              </a:extLst>
            </p:cNvPr>
            <p:cNvSpPr>
              <a:spLocks noChangeArrowheads="1"/>
            </p:cNvSpPr>
            <p:nvPr/>
          </p:nvSpPr>
          <p:spPr bwMode="auto">
            <a:xfrm>
              <a:off x="912" y="278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27" name="Oval 19">
              <a:extLst>
                <a:ext uri="{FF2B5EF4-FFF2-40B4-BE49-F238E27FC236}">
                  <a16:creationId xmlns:a16="http://schemas.microsoft.com/office/drawing/2014/main" id="{C47D01D9-ABA8-6049-8444-13552F474875}"/>
                </a:ext>
              </a:extLst>
            </p:cNvPr>
            <p:cNvSpPr>
              <a:spLocks noChangeArrowheads="1"/>
            </p:cNvSpPr>
            <p:nvPr/>
          </p:nvSpPr>
          <p:spPr bwMode="auto">
            <a:xfrm>
              <a:off x="528" y="307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28" name="Oval 20">
              <a:extLst>
                <a:ext uri="{FF2B5EF4-FFF2-40B4-BE49-F238E27FC236}">
                  <a16:creationId xmlns:a16="http://schemas.microsoft.com/office/drawing/2014/main" id="{55DE2968-AD79-574F-BD2D-FF9F616AEB68}"/>
                </a:ext>
              </a:extLst>
            </p:cNvPr>
            <p:cNvSpPr>
              <a:spLocks noChangeArrowheads="1"/>
            </p:cNvSpPr>
            <p:nvPr/>
          </p:nvSpPr>
          <p:spPr bwMode="auto">
            <a:xfrm>
              <a:off x="720" y="355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29" name="Oval 21">
              <a:extLst>
                <a:ext uri="{FF2B5EF4-FFF2-40B4-BE49-F238E27FC236}">
                  <a16:creationId xmlns:a16="http://schemas.microsoft.com/office/drawing/2014/main" id="{4C164B11-1D42-4C48-B25F-F21506616C02}"/>
                </a:ext>
              </a:extLst>
            </p:cNvPr>
            <p:cNvSpPr>
              <a:spLocks noChangeArrowheads="1"/>
            </p:cNvSpPr>
            <p:nvPr/>
          </p:nvSpPr>
          <p:spPr bwMode="auto">
            <a:xfrm>
              <a:off x="1200" y="355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grpSp>
      <p:sp>
        <p:nvSpPr>
          <p:cNvPr id="31748" name="Text Box 29">
            <a:extLst>
              <a:ext uri="{FF2B5EF4-FFF2-40B4-BE49-F238E27FC236}">
                <a16:creationId xmlns:a16="http://schemas.microsoft.com/office/drawing/2014/main" id="{E2E61F13-D622-0A4D-B8C6-F06CCB8B4E5E}"/>
              </a:ext>
            </a:extLst>
          </p:cNvPr>
          <p:cNvSpPr txBox="1">
            <a:spLocks noChangeArrowheads="1"/>
          </p:cNvSpPr>
          <p:nvPr/>
        </p:nvSpPr>
        <p:spPr bwMode="auto">
          <a:xfrm>
            <a:off x="5715000" y="1066801"/>
            <a:ext cx="4648200" cy="450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400">
                <a:latin typeface="Times New Roman" panose="02020603050405020304" pitchFamily="18" charset="0"/>
              </a:rPr>
              <a:t>    :  Euler trail – Yes- exactly two vertices of odd degree.</a:t>
            </a:r>
          </a:p>
          <a:p>
            <a:pPr eaLnBrk="1" hangingPunct="1">
              <a:spcBef>
                <a:spcPct val="50000"/>
              </a:spcBef>
              <a:buFontTx/>
              <a:buNone/>
            </a:pPr>
            <a:r>
              <a:rPr lang="en-US" altLang="en-US" sz="1400">
                <a:latin typeface="Times New Roman" panose="02020603050405020304" pitchFamily="18" charset="0"/>
              </a:rPr>
              <a:t>        Euler cycle – No- vertices are not of even degree.</a:t>
            </a:r>
          </a:p>
          <a:p>
            <a:pPr eaLnBrk="1" hangingPunct="1">
              <a:spcBef>
                <a:spcPct val="50000"/>
              </a:spcBef>
              <a:buFontTx/>
              <a:buNone/>
            </a:pPr>
            <a:r>
              <a:rPr lang="en-US" altLang="en-US" sz="1400">
                <a:latin typeface="Times New Roman" panose="02020603050405020304" pitchFamily="18" charset="0"/>
              </a:rPr>
              <a:t>     :  Euler trail – No- vertices are not of odd degree.</a:t>
            </a:r>
          </a:p>
          <a:p>
            <a:pPr eaLnBrk="1" hangingPunct="1">
              <a:spcBef>
                <a:spcPct val="50000"/>
              </a:spcBef>
              <a:buFontTx/>
              <a:buNone/>
            </a:pPr>
            <a:r>
              <a:rPr lang="en-US" altLang="en-US" sz="1400">
                <a:latin typeface="Times New Roman" panose="02020603050405020304" pitchFamily="18" charset="0"/>
              </a:rPr>
              <a:t>        Euler cycle – Yes- even degree vertices.</a:t>
            </a:r>
          </a:p>
          <a:p>
            <a:pPr eaLnBrk="1" hangingPunct="1">
              <a:spcBef>
                <a:spcPct val="50000"/>
              </a:spcBef>
              <a:buFontTx/>
              <a:buNone/>
            </a:pPr>
            <a:r>
              <a:rPr lang="en-US" altLang="en-US" sz="1400">
                <a:latin typeface="Times New Roman" panose="02020603050405020304" pitchFamily="18" charset="0"/>
              </a:rPr>
              <a:t>     :  Euler trail – No- more than two vertices of odd degree.</a:t>
            </a:r>
          </a:p>
          <a:p>
            <a:pPr eaLnBrk="1" hangingPunct="1">
              <a:spcBef>
                <a:spcPct val="50000"/>
              </a:spcBef>
              <a:buFontTx/>
              <a:buNone/>
            </a:pPr>
            <a:r>
              <a:rPr lang="en-US" altLang="en-US" sz="1400">
                <a:latin typeface="Times New Roman" panose="02020603050405020304" pitchFamily="18" charset="0"/>
              </a:rPr>
              <a:t>        Euler cycle – No- there aren</a:t>
            </a:r>
            <a:r>
              <a:rPr lang="ja-JP" altLang="en-US" sz="1400">
                <a:latin typeface="Times New Roman" panose="02020603050405020304" pitchFamily="18" charset="0"/>
              </a:rPr>
              <a:t>’</a:t>
            </a:r>
            <a:r>
              <a:rPr lang="en-US" altLang="ja-JP" sz="1400">
                <a:latin typeface="Times New Roman" panose="02020603050405020304" pitchFamily="18" charset="0"/>
              </a:rPr>
              <a:t>t any even degree vertices.</a:t>
            </a:r>
          </a:p>
          <a:p>
            <a:pPr eaLnBrk="1" hangingPunct="1">
              <a:spcBef>
                <a:spcPct val="50000"/>
              </a:spcBef>
              <a:buFontTx/>
              <a:buNone/>
            </a:pPr>
            <a:r>
              <a:rPr lang="en-US" altLang="en-US" sz="1400">
                <a:latin typeface="Times New Roman" panose="02020603050405020304" pitchFamily="18" charset="0"/>
              </a:rPr>
              <a:t>     :  Euler trail – No- there are no vertices of odd degree. </a:t>
            </a:r>
          </a:p>
          <a:p>
            <a:pPr eaLnBrk="1" hangingPunct="1">
              <a:spcBef>
                <a:spcPct val="50000"/>
              </a:spcBef>
              <a:buFontTx/>
              <a:buNone/>
            </a:pPr>
            <a:r>
              <a:rPr lang="en-US" altLang="en-US" sz="1400">
                <a:latin typeface="Times New Roman" panose="02020603050405020304" pitchFamily="18" charset="0"/>
              </a:rPr>
              <a:t>        Euler cycle – Yes- cycle is connected and even degree.</a:t>
            </a:r>
          </a:p>
          <a:p>
            <a:pPr eaLnBrk="1" hangingPunct="1">
              <a:spcBef>
                <a:spcPct val="50000"/>
              </a:spcBef>
              <a:buFontTx/>
              <a:buNone/>
            </a:pPr>
            <a:r>
              <a:rPr lang="en-US" altLang="en-US" sz="1400">
                <a:latin typeface="Times New Roman" panose="02020603050405020304" pitchFamily="18" charset="0"/>
              </a:rPr>
              <a:t>     :  Euler trail – No- more than two vertices of odd degree.</a:t>
            </a:r>
          </a:p>
          <a:p>
            <a:pPr eaLnBrk="1" hangingPunct="1">
              <a:spcBef>
                <a:spcPct val="50000"/>
              </a:spcBef>
              <a:buFontTx/>
              <a:buNone/>
            </a:pPr>
            <a:r>
              <a:rPr lang="en-US" altLang="en-US" sz="1400">
                <a:latin typeface="Times New Roman" panose="02020603050405020304" pitchFamily="18" charset="0"/>
              </a:rPr>
              <a:t>        Euler cycle – No- there aren</a:t>
            </a:r>
            <a:r>
              <a:rPr lang="ja-JP" altLang="en-US" sz="1400">
                <a:latin typeface="Times New Roman" panose="02020603050405020304" pitchFamily="18" charset="0"/>
              </a:rPr>
              <a:t>’</a:t>
            </a:r>
            <a:r>
              <a:rPr lang="en-US" altLang="ja-JP" sz="1400">
                <a:latin typeface="Times New Roman" panose="02020603050405020304" pitchFamily="18" charset="0"/>
              </a:rPr>
              <a:t>t any even degree vertices.</a:t>
            </a:r>
          </a:p>
          <a:p>
            <a:pPr eaLnBrk="1" hangingPunct="1">
              <a:spcBef>
                <a:spcPct val="50000"/>
              </a:spcBef>
              <a:buFontTx/>
              <a:buNone/>
            </a:pPr>
            <a:r>
              <a:rPr lang="en-US" altLang="en-US" sz="1400">
                <a:latin typeface="Times New Roman" panose="02020603050405020304" pitchFamily="18" charset="0"/>
              </a:rPr>
              <a:t>.</a:t>
            </a:r>
          </a:p>
          <a:p>
            <a:pPr eaLnBrk="1" hangingPunct="1">
              <a:spcBef>
                <a:spcPct val="50000"/>
              </a:spcBef>
              <a:buFontTx/>
              <a:buNone/>
            </a:pPr>
            <a:r>
              <a:rPr lang="en-US" altLang="en-US" sz="1400">
                <a:latin typeface="Times New Roman" panose="02020603050405020304" pitchFamily="18" charset="0"/>
              </a:rPr>
              <a:t>     :  Euler trail – No- more than two vertices of odd degree. </a:t>
            </a:r>
          </a:p>
          <a:p>
            <a:pPr eaLnBrk="1" hangingPunct="1">
              <a:spcBef>
                <a:spcPct val="50000"/>
              </a:spcBef>
              <a:buFontTx/>
              <a:buNone/>
            </a:pPr>
            <a:r>
              <a:rPr lang="en-US" altLang="en-US" sz="1400">
                <a:latin typeface="Times New Roman" panose="02020603050405020304" pitchFamily="18" charset="0"/>
              </a:rPr>
              <a:t>        Euler cycle – No- there aren</a:t>
            </a:r>
            <a:r>
              <a:rPr lang="ja-JP" altLang="en-US" sz="1400">
                <a:latin typeface="Times New Roman" panose="02020603050405020304" pitchFamily="18" charset="0"/>
              </a:rPr>
              <a:t>’</a:t>
            </a:r>
            <a:r>
              <a:rPr lang="en-US" altLang="ja-JP" sz="1400">
                <a:latin typeface="Times New Roman" panose="02020603050405020304" pitchFamily="18" charset="0"/>
              </a:rPr>
              <a:t>t any even degree vertices.</a:t>
            </a:r>
          </a:p>
          <a:p>
            <a:pPr eaLnBrk="1" hangingPunct="1">
              <a:spcBef>
                <a:spcPct val="50000"/>
              </a:spcBef>
              <a:buFontTx/>
              <a:buNone/>
            </a:pPr>
            <a:endParaRPr lang="en-US" altLang="en-US" sz="1400">
              <a:latin typeface="Times New Roman" panose="02020603050405020304" pitchFamily="18" charset="0"/>
            </a:endParaRPr>
          </a:p>
        </p:txBody>
      </p:sp>
      <p:grpSp>
        <p:nvGrpSpPr>
          <p:cNvPr id="31749" name="Group 83">
            <a:extLst>
              <a:ext uri="{FF2B5EF4-FFF2-40B4-BE49-F238E27FC236}">
                <a16:creationId xmlns:a16="http://schemas.microsoft.com/office/drawing/2014/main" id="{325600C8-E2DC-2840-A401-26AA86DF13E1}"/>
              </a:ext>
            </a:extLst>
          </p:cNvPr>
          <p:cNvGrpSpPr>
            <a:grpSpLocks/>
          </p:cNvGrpSpPr>
          <p:nvPr/>
        </p:nvGrpSpPr>
        <p:grpSpPr bwMode="auto">
          <a:xfrm>
            <a:off x="3733800" y="3124200"/>
            <a:ext cx="1524000" cy="1524000"/>
            <a:chOff x="2016" y="1488"/>
            <a:chExt cx="960" cy="960"/>
          </a:xfrm>
        </p:grpSpPr>
        <p:sp>
          <p:nvSpPr>
            <p:cNvPr id="31790" name="AutoShape 22">
              <a:extLst>
                <a:ext uri="{FF2B5EF4-FFF2-40B4-BE49-F238E27FC236}">
                  <a16:creationId xmlns:a16="http://schemas.microsoft.com/office/drawing/2014/main" id="{B6F88B1A-D04D-E34F-8A9C-3EB5651857F2}"/>
                </a:ext>
              </a:extLst>
            </p:cNvPr>
            <p:cNvSpPr>
              <a:spLocks noChangeArrowheads="1"/>
            </p:cNvSpPr>
            <p:nvPr/>
          </p:nvSpPr>
          <p:spPr bwMode="auto">
            <a:xfrm>
              <a:off x="2064" y="1536"/>
              <a:ext cx="864" cy="864"/>
            </a:xfrm>
            <a:prstGeom prst="octagon">
              <a:avLst>
                <a:gd name="adj" fmla="val 2928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791" name="Line 32">
              <a:extLst>
                <a:ext uri="{FF2B5EF4-FFF2-40B4-BE49-F238E27FC236}">
                  <a16:creationId xmlns:a16="http://schemas.microsoft.com/office/drawing/2014/main" id="{F515B0A4-737C-444B-96BE-E1E5F0E81485}"/>
                </a:ext>
              </a:extLst>
            </p:cNvPr>
            <p:cNvSpPr>
              <a:spLocks noChangeShapeType="1"/>
            </p:cNvSpPr>
            <p:nvPr/>
          </p:nvSpPr>
          <p:spPr bwMode="auto">
            <a:xfrm flipV="1">
              <a:off x="2064" y="1776"/>
              <a:ext cx="864"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2" name="Line 33">
              <a:extLst>
                <a:ext uri="{FF2B5EF4-FFF2-40B4-BE49-F238E27FC236}">
                  <a16:creationId xmlns:a16="http://schemas.microsoft.com/office/drawing/2014/main" id="{C693376A-72B6-FA42-8617-DA7DDB924BDA}"/>
                </a:ext>
              </a:extLst>
            </p:cNvPr>
            <p:cNvSpPr>
              <a:spLocks noChangeShapeType="1"/>
            </p:cNvSpPr>
            <p:nvPr/>
          </p:nvSpPr>
          <p:spPr bwMode="auto">
            <a:xfrm>
              <a:off x="2064" y="2160"/>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3" name="Line 34">
              <a:extLst>
                <a:ext uri="{FF2B5EF4-FFF2-40B4-BE49-F238E27FC236}">
                  <a16:creationId xmlns:a16="http://schemas.microsoft.com/office/drawing/2014/main" id="{12D30857-7D4F-2F41-BFCC-9125CAC6B0F5}"/>
                </a:ext>
              </a:extLst>
            </p:cNvPr>
            <p:cNvSpPr>
              <a:spLocks noChangeShapeType="1"/>
            </p:cNvSpPr>
            <p:nvPr/>
          </p:nvSpPr>
          <p:spPr bwMode="auto">
            <a:xfrm>
              <a:off x="2304" y="1536"/>
              <a:ext cx="0" cy="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4" name="Line 35">
              <a:extLst>
                <a:ext uri="{FF2B5EF4-FFF2-40B4-BE49-F238E27FC236}">
                  <a16:creationId xmlns:a16="http://schemas.microsoft.com/office/drawing/2014/main" id="{63FA0029-F364-2E43-B60D-E928E8646B91}"/>
                </a:ext>
              </a:extLst>
            </p:cNvPr>
            <p:cNvSpPr>
              <a:spLocks noChangeShapeType="1"/>
            </p:cNvSpPr>
            <p:nvPr/>
          </p:nvSpPr>
          <p:spPr bwMode="auto">
            <a:xfrm>
              <a:off x="2688" y="1536"/>
              <a:ext cx="0" cy="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5" name="Line 36">
              <a:extLst>
                <a:ext uri="{FF2B5EF4-FFF2-40B4-BE49-F238E27FC236}">
                  <a16:creationId xmlns:a16="http://schemas.microsoft.com/office/drawing/2014/main" id="{8E1ACCAC-A78E-0648-A9FF-4DEBF17BFF7D}"/>
                </a:ext>
              </a:extLst>
            </p:cNvPr>
            <p:cNvSpPr>
              <a:spLocks noChangeShapeType="1"/>
            </p:cNvSpPr>
            <p:nvPr/>
          </p:nvSpPr>
          <p:spPr bwMode="auto">
            <a:xfrm flipV="1">
              <a:off x="2064" y="1776"/>
              <a:ext cx="86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6" name="Line 37">
              <a:extLst>
                <a:ext uri="{FF2B5EF4-FFF2-40B4-BE49-F238E27FC236}">
                  <a16:creationId xmlns:a16="http://schemas.microsoft.com/office/drawing/2014/main" id="{F6EF8758-5760-3848-B506-F1CBCA5218D8}"/>
                </a:ext>
              </a:extLst>
            </p:cNvPr>
            <p:cNvSpPr>
              <a:spLocks noChangeShapeType="1"/>
            </p:cNvSpPr>
            <p:nvPr/>
          </p:nvSpPr>
          <p:spPr bwMode="auto">
            <a:xfrm>
              <a:off x="2064" y="1824"/>
              <a:ext cx="86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7" name="Line 38">
              <a:extLst>
                <a:ext uri="{FF2B5EF4-FFF2-40B4-BE49-F238E27FC236}">
                  <a16:creationId xmlns:a16="http://schemas.microsoft.com/office/drawing/2014/main" id="{87B2404E-A112-B64C-B9AE-55C701FD27C7}"/>
                </a:ext>
              </a:extLst>
            </p:cNvPr>
            <p:cNvSpPr>
              <a:spLocks noChangeShapeType="1"/>
            </p:cNvSpPr>
            <p:nvPr/>
          </p:nvSpPr>
          <p:spPr bwMode="auto">
            <a:xfrm>
              <a:off x="2304" y="1536"/>
              <a:ext cx="384" cy="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8" name="Line 39">
              <a:extLst>
                <a:ext uri="{FF2B5EF4-FFF2-40B4-BE49-F238E27FC236}">
                  <a16:creationId xmlns:a16="http://schemas.microsoft.com/office/drawing/2014/main" id="{3FBEB257-F2AB-AD48-8D25-F8948E3A0E93}"/>
                </a:ext>
              </a:extLst>
            </p:cNvPr>
            <p:cNvSpPr>
              <a:spLocks noChangeShapeType="1"/>
            </p:cNvSpPr>
            <p:nvPr/>
          </p:nvSpPr>
          <p:spPr bwMode="auto">
            <a:xfrm flipH="1">
              <a:off x="2304" y="1536"/>
              <a:ext cx="384" cy="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9" name="Line 40">
              <a:extLst>
                <a:ext uri="{FF2B5EF4-FFF2-40B4-BE49-F238E27FC236}">
                  <a16:creationId xmlns:a16="http://schemas.microsoft.com/office/drawing/2014/main" id="{D93FD5CA-AA63-FA4E-8E5A-0B3A7F61E4FB}"/>
                </a:ext>
              </a:extLst>
            </p:cNvPr>
            <p:cNvSpPr>
              <a:spLocks noChangeShapeType="1"/>
            </p:cNvSpPr>
            <p:nvPr/>
          </p:nvSpPr>
          <p:spPr bwMode="auto">
            <a:xfrm>
              <a:off x="2064" y="2160"/>
              <a:ext cx="62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0" name="Line 41">
              <a:extLst>
                <a:ext uri="{FF2B5EF4-FFF2-40B4-BE49-F238E27FC236}">
                  <a16:creationId xmlns:a16="http://schemas.microsoft.com/office/drawing/2014/main" id="{7B93625C-1C23-504A-B8FF-F567BB8520AC}"/>
                </a:ext>
              </a:extLst>
            </p:cNvPr>
            <p:cNvSpPr>
              <a:spLocks noChangeShapeType="1"/>
            </p:cNvSpPr>
            <p:nvPr/>
          </p:nvSpPr>
          <p:spPr bwMode="auto">
            <a:xfrm flipH="1">
              <a:off x="2304" y="2160"/>
              <a:ext cx="62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1" name="Line 42">
              <a:extLst>
                <a:ext uri="{FF2B5EF4-FFF2-40B4-BE49-F238E27FC236}">
                  <a16:creationId xmlns:a16="http://schemas.microsoft.com/office/drawing/2014/main" id="{16B710FB-4CBA-FC4A-A662-5577699B6A7C}"/>
                </a:ext>
              </a:extLst>
            </p:cNvPr>
            <p:cNvSpPr>
              <a:spLocks noChangeShapeType="1"/>
            </p:cNvSpPr>
            <p:nvPr/>
          </p:nvSpPr>
          <p:spPr bwMode="auto">
            <a:xfrm>
              <a:off x="2064" y="1824"/>
              <a:ext cx="24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2" name="Line 43">
              <a:extLst>
                <a:ext uri="{FF2B5EF4-FFF2-40B4-BE49-F238E27FC236}">
                  <a16:creationId xmlns:a16="http://schemas.microsoft.com/office/drawing/2014/main" id="{75F89C81-05F9-DF43-B7DD-E82B54A1DE5E}"/>
                </a:ext>
              </a:extLst>
            </p:cNvPr>
            <p:cNvSpPr>
              <a:spLocks noChangeShapeType="1"/>
            </p:cNvSpPr>
            <p:nvPr/>
          </p:nvSpPr>
          <p:spPr bwMode="auto">
            <a:xfrm flipV="1">
              <a:off x="2064" y="1536"/>
              <a:ext cx="24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3" name="Line 44">
              <a:extLst>
                <a:ext uri="{FF2B5EF4-FFF2-40B4-BE49-F238E27FC236}">
                  <a16:creationId xmlns:a16="http://schemas.microsoft.com/office/drawing/2014/main" id="{96A2549B-29D9-DA42-B242-6EFA5AC425A8}"/>
                </a:ext>
              </a:extLst>
            </p:cNvPr>
            <p:cNvSpPr>
              <a:spLocks noChangeShapeType="1"/>
            </p:cNvSpPr>
            <p:nvPr/>
          </p:nvSpPr>
          <p:spPr bwMode="auto">
            <a:xfrm flipV="1">
              <a:off x="2064" y="1536"/>
              <a:ext cx="62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4" name="Line 45">
              <a:extLst>
                <a:ext uri="{FF2B5EF4-FFF2-40B4-BE49-F238E27FC236}">
                  <a16:creationId xmlns:a16="http://schemas.microsoft.com/office/drawing/2014/main" id="{2C3E59D8-8123-5B43-BFF5-515ECD12B947}"/>
                </a:ext>
              </a:extLst>
            </p:cNvPr>
            <p:cNvSpPr>
              <a:spLocks noChangeShapeType="1"/>
            </p:cNvSpPr>
            <p:nvPr/>
          </p:nvSpPr>
          <p:spPr bwMode="auto">
            <a:xfrm>
              <a:off x="2304" y="1536"/>
              <a:ext cx="62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5" name="Line 46">
              <a:extLst>
                <a:ext uri="{FF2B5EF4-FFF2-40B4-BE49-F238E27FC236}">
                  <a16:creationId xmlns:a16="http://schemas.microsoft.com/office/drawing/2014/main" id="{4E17F7D4-358F-9A44-8E28-5F78D75643C0}"/>
                </a:ext>
              </a:extLst>
            </p:cNvPr>
            <p:cNvSpPr>
              <a:spLocks noChangeShapeType="1"/>
            </p:cNvSpPr>
            <p:nvPr/>
          </p:nvSpPr>
          <p:spPr bwMode="auto">
            <a:xfrm flipH="1">
              <a:off x="2688" y="1776"/>
              <a:ext cx="24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6" name="Line 47">
              <a:extLst>
                <a:ext uri="{FF2B5EF4-FFF2-40B4-BE49-F238E27FC236}">
                  <a16:creationId xmlns:a16="http://schemas.microsoft.com/office/drawing/2014/main" id="{2AB1227D-8E0A-DE45-A24A-911A8AC79711}"/>
                </a:ext>
              </a:extLst>
            </p:cNvPr>
            <p:cNvSpPr>
              <a:spLocks noChangeShapeType="1"/>
            </p:cNvSpPr>
            <p:nvPr/>
          </p:nvSpPr>
          <p:spPr bwMode="auto">
            <a:xfrm>
              <a:off x="2688" y="1536"/>
              <a:ext cx="24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7" name="Line 48">
              <a:extLst>
                <a:ext uri="{FF2B5EF4-FFF2-40B4-BE49-F238E27FC236}">
                  <a16:creationId xmlns:a16="http://schemas.microsoft.com/office/drawing/2014/main" id="{E2B363B4-D689-E747-90C4-6E092071DC4E}"/>
                </a:ext>
              </a:extLst>
            </p:cNvPr>
            <p:cNvSpPr>
              <a:spLocks noChangeShapeType="1"/>
            </p:cNvSpPr>
            <p:nvPr/>
          </p:nvSpPr>
          <p:spPr bwMode="auto">
            <a:xfrm>
              <a:off x="2304" y="1536"/>
              <a:ext cx="624"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8" name="Line 49">
              <a:extLst>
                <a:ext uri="{FF2B5EF4-FFF2-40B4-BE49-F238E27FC236}">
                  <a16:creationId xmlns:a16="http://schemas.microsoft.com/office/drawing/2014/main" id="{0FF1DB95-EB90-534C-9F0A-2138D5E7AA9B}"/>
                </a:ext>
              </a:extLst>
            </p:cNvPr>
            <p:cNvSpPr>
              <a:spLocks noChangeShapeType="1"/>
            </p:cNvSpPr>
            <p:nvPr/>
          </p:nvSpPr>
          <p:spPr bwMode="auto">
            <a:xfrm>
              <a:off x="2064" y="1824"/>
              <a:ext cx="6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9" name="Line 50">
              <a:extLst>
                <a:ext uri="{FF2B5EF4-FFF2-40B4-BE49-F238E27FC236}">
                  <a16:creationId xmlns:a16="http://schemas.microsoft.com/office/drawing/2014/main" id="{09C75970-6D38-3647-AF60-F3CC653EE8F1}"/>
                </a:ext>
              </a:extLst>
            </p:cNvPr>
            <p:cNvSpPr>
              <a:spLocks noChangeShapeType="1"/>
            </p:cNvSpPr>
            <p:nvPr/>
          </p:nvSpPr>
          <p:spPr bwMode="auto">
            <a:xfrm flipH="1">
              <a:off x="2304" y="1776"/>
              <a:ext cx="576"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10" name="Line 51">
              <a:extLst>
                <a:ext uri="{FF2B5EF4-FFF2-40B4-BE49-F238E27FC236}">
                  <a16:creationId xmlns:a16="http://schemas.microsoft.com/office/drawing/2014/main" id="{0300B6F7-85DA-A24F-9ACB-4C2351F49923}"/>
                </a:ext>
              </a:extLst>
            </p:cNvPr>
            <p:cNvSpPr>
              <a:spLocks noChangeShapeType="1"/>
            </p:cNvSpPr>
            <p:nvPr/>
          </p:nvSpPr>
          <p:spPr bwMode="auto">
            <a:xfrm flipH="1">
              <a:off x="2064" y="1536"/>
              <a:ext cx="624"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11" name="Oval 52">
              <a:extLst>
                <a:ext uri="{FF2B5EF4-FFF2-40B4-BE49-F238E27FC236}">
                  <a16:creationId xmlns:a16="http://schemas.microsoft.com/office/drawing/2014/main" id="{C3F19983-B725-1444-9E2C-FBC143EF767B}"/>
                </a:ext>
              </a:extLst>
            </p:cNvPr>
            <p:cNvSpPr>
              <a:spLocks noChangeArrowheads="1"/>
            </p:cNvSpPr>
            <p:nvPr/>
          </p:nvSpPr>
          <p:spPr bwMode="auto">
            <a:xfrm>
              <a:off x="2256" y="235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12" name="Oval 53">
              <a:extLst>
                <a:ext uri="{FF2B5EF4-FFF2-40B4-BE49-F238E27FC236}">
                  <a16:creationId xmlns:a16="http://schemas.microsoft.com/office/drawing/2014/main" id="{E69AC066-3004-E544-8AB5-5C2C205D677B}"/>
                </a:ext>
              </a:extLst>
            </p:cNvPr>
            <p:cNvSpPr>
              <a:spLocks noChangeArrowheads="1"/>
            </p:cNvSpPr>
            <p:nvPr/>
          </p:nvSpPr>
          <p:spPr bwMode="auto">
            <a:xfrm>
              <a:off x="2016" y="211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13" name="Oval 54">
              <a:extLst>
                <a:ext uri="{FF2B5EF4-FFF2-40B4-BE49-F238E27FC236}">
                  <a16:creationId xmlns:a16="http://schemas.microsoft.com/office/drawing/2014/main" id="{AE44FE4C-3230-D648-8BA9-B33583A5DF98}"/>
                </a:ext>
              </a:extLst>
            </p:cNvPr>
            <p:cNvSpPr>
              <a:spLocks noChangeArrowheads="1"/>
            </p:cNvSpPr>
            <p:nvPr/>
          </p:nvSpPr>
          <p:spPr bwMode="auto">
            <a:xfrm>
              <a:off x="2016" y="1776"/>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14" name="Oval 55">
              <a:extLst>
                <a:ext uri="{FF2B5EF4-FFF2-40B4-BE49-F238E27FC236}">
                  <a16:creationId xmlns:a16="http://schemas.microsoft.com/office/drawing/2014/main" id="{DEE7ECE2-6125-744B-9EB9-2C8CDB1AC46F}"/>
                </a:ext>
              </a:extLst>
            </p:cNvPr>
            <p:cNvSpPr>
              <a:spLocks noChangeArrowheads="1"/>
            </p:cNvSpPr>
            <p:nvPr/>
          </p:nvSpPr>
          <p:spPr bwMode="auto">
            <a:xfrm>
              <a:off x="2256" y="148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15" name="Oval 56">
              <a:extLst>
                <a:ext uri="{FF2B5EF4-FFF2-40B4-BE49-F238E27FC236}">
                  <a16:creationId xmlns:a16="http://schemas.microsoft.com/office/drawing/2014/main" id="{85EC165E-6D7E-CC4C-B909-37C3A82B50AD}"/>
                </a:ext>
              </a:extLst>
            </p:cNvPr>
            <p:cNvSpPr>
              <a:spLocks noChangeArrowheads="1"/>
            </p:cNvSpPr>
            <p:nvPr/>
          </p:nvSpPr>
          <p:spPr bwMode="auto">
            <a:xfrm>
              <a:off x="2640" y="148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16" name="Oval 57">
              <a:extLst>
                <a:ext uri="{FF2B5EF4-FFF2-40B4-BE49-F238E27FC236}">
                  <a16:creationId xmlns:a16="http://schemas.microsoft.com/office/drawing/2014/main" id="{3E54095B-6C49-AA43-97A2-3EEC6E9C122D}"/>
                </a:ext>
              </a:extLst>
            </p:cNvPr>
            <p:cNvSpPr>
              <a:spLocks noChangeArrowheads="1"/>
            </p:cNvSpPr>
            <p:nvPr/>
          </p:nvSpPr>
          <p:spPr bwMode="auto">
            <a:xfrm>
              <a:off x="2880" y="172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17" name="Oval 58">
              <a:extLst>
                <a:ext uri="{FF2B5EF4-FFF2-40B4-BE49-F238E27FC236}">
                  <a16:creationId xmlns:a16="http://schemas.microsoft.com/office/drawing/2014/main" id="{1425C381-BB72-E040-8F82-B11E132771B7}"/>
                </a:ext>
              </a:extLst>
            </p:cNvPr>
            <p:cNvSpPr>
              <a:spLocks noChangeArrowheads="1"/>
            </p:cNvSpPr>
            <p:nvPr/>
          </p:nvSpPr>
          <p:spPr bwMode="auto">
            <a:xfrm>
              <a:off x="2880" y="211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818" name="Oval 59">
              <a:extLst>
                <a:ext uri="{FF2B5EF4-FFF2-40B4-BE49-F238E27FC236}">
                  <a16:creationId xmlns:a16="http://schemas.microsoft.com/office/drawing/2014/main" id="{A9873C8B-7AC2-E540-A6E7-8EFA43DA0814}"/>
                </a:ext>
              </a:extLst>
            </p:cNvPr>
            <p:cNvSpPr>
              <a:spLocks noChangeArrowheads="1"/>
            </p:cNvSpPr>
            <p:nvPr/>
          </p:nvSpPr>
          <p:spPr bwMode="auto">
            <a:xfrm>
              <a:off x="2640" y="235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grpSp>
      <p:grpSp>
        <p:nvGrpSpPr>
          <p:cNvPr id="31750" name="Group 84">
            <a:extLst>
              <a:ext uri="{FF2B5EF4-FFF2-40B4-BE49-F238E27FC236}">
                <a16:creationId xmlns:a16="http://schemas.microsoft.com/office/drawing/2014/main" id="{4F7D9E8B-3F85-B146-9B7C-A7AA08B580FF}"/>
              </a:ext>
            </a:extLst>
          </p:cNvPr>
          <p:cNvGrpSpPr>
            <a:grpSpLocks/>
          </p:cNvGrpSpPr>
          <p:nvPr/>
        </p:nvGrpSpPr>
        <p:grpSpPr bwMode="auto">
          <a:xfrm>
            <a:off x="3581400" y="1447800"/>
            <a:ext cx="1524000" cy="1295400"/>
            <a:chOff x="1968" y="240"/>
            <a:chExt cx="960" cy="816"/>
          </a:xfrm>
        </p:grpSpPr>
        <p:sp>
          <p:nvSpPr>
            <p:cNvPr id="31774" name="AutoShape 11">
              <a:extLst>
                <a:ext uri="{FF2B5EF4-FFF2-40B4-BE49-F238E27FC236}">
                  <a16:creationId xmlns:a16="http://schemas.microsoft.com/office/drawing/2014/main" id="{5C05F1F5-E633-E944-B4FA-9FA87C3A26C2}"/>
                </a:ext>
              </a:extLst>
            </p:cNvPr>
            <p:cNvSpPr>
              <a:spLocks noChangeArrowheads="1"/>
            </p:cNvSpPr>
            <p:nvPr/>
          </p:nvSpPr>
          <p:spPr bwMode="auto">
            <a:xfrm>
              <a:off x="2016" y="288"/>
              <a:ext cx="864" cy="720"/>
            </a:xfrm>
            <a:prstGeom prst="hexagon">
              <a:avLst>
                <a:gd name="adj" fmla="val 30000"/>
                <a:gd name="vf" fmla="val 11547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775" name="Line 60">
              <a:extLst>
                <a:ext uri="{FF2B5EF4-FFF2-40B4-BE49-F238E27FC236}">
                  <a16:creationId xmlns:a16="http://schemas.microsoft.com/office/drawing/2014/main" id="{6C182865-9FEA-2F4D-8F88-004AEC12B784}"/>
                </a:ext>
              </a:extLst>
            </p:cNvPr>
            <p:cNvSpPr>
              <a:spLocks noChangeShapeType="1"/>
            </p:cNvSpPr>
            <p:nvPr/>
          </p:nvSpPr>
          <p:spPr bwMode="auto">
            <a:xfrm flipH="1">
              <a:off x="2016" y="288"/>
              <a:ext cx="672"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6" name="Line 61">
              <a:extLst>
                <a:ext uri="{FF2B5EF4-FFF2-40B4-BE49-F238E27FC236}">
                  <a16:creationId xmlns:a16="http://schemas.microsoft.com/office/drawing/2014/main" id="{6AE4871F-A969-2047-81DE-F362E0252AB5}"/>
                </a:ext>
              </a:extLst>
            </p:cNvPr>
            <p:cNvSpPr>
              <a:spLocks noChangeShapeType="1"/>
            </p:cNvSpPr>
            <p:nvPr/>
          </p:nvSpPr>
          <p:spPr bwMode="auto">
            <a:xfrm>
              <a:off x="2256" y="288"/>
              <a:ext cx="62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7" name="Line 62">
              <a:extLst>
                <a:ext uri="{FF2B5EF4-FFF2-40B4-BE49-F238E27FC236}">
                  <a16:creationId xmlns:a16="http://schemas.microsoft.com/office/drawing/2014/main" id="{E7F6C01D-AF97-534A-A85E-FBA33CC30297}"/>
                </a:ext>
              </a:extLst>
            </p:cNvPr>
            <p:cNvSpPr>
              <a:spLocks noChangeShapeType="1"/>
            </p:cNvSpPr>
            <p:nvPr/>
          </p:nvSpPr>
          <p:spPr bwMode="auto">
            <a:xfrm flipH="1">
              <a:off x="2256" y="288"/>
              <a:ext cx="432"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8" name="Line 63">
              <a:extLst>
                <a:ext uri="{FF2B5EF4-FFF2-40B4-BE49-F238E27FC236}">
                  <a16:creationId xmlns:a16="http://schemas.microsoft.com/office/drawing/2014/main" id="{D05E39F0-4C1E-8A44-85EA-6ED91CBC430B}"/>
                </a:ext>
              </a:extLst>
            </p:cNvPr>
            <p:cNvSpPr>
              <a:spLocks noChangeShapeType="1"/>
            </p:cNvSpPr>
            <p:nvPr/>
          </p:nvSpPr>
          <p:spPr bwMode="auto">
            <a:xfrm>
              <a:off x="2688" y="288"/>
              <a:ext cx="0"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9" name="Line 64">
              <a:extLst>
                <a:ext uri="{FF2B5EF4-FFF2-40B4-BE49-F238E27FC236}">
                  <a16:creationId xmlns:a16="http://schemas.microsoft.com/office/drawing/2014/main" id="{E3E64D13-C350-4E47-A5AC-5D3E06D77E47}"/>
                </a:ext>
              </a:extLst>
            </p:cNvPr>
            <p:cNvSpPr>
              <a:spLocks noChangeShapeType="1"/>
            </p:cNvSpPr>
            <p:nvPr/>
          </p:nvSpPr>
          <p:spPr bwMode="auto">
            <a:xfrm>
              <a:off x="2256" y="288"/>
              <a:ext cx="0"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0" name="Line 65">
              <a:extLst>
                <a:ext uri="{FF2B5EF4-FFF2-40B4-BE49-F238E27FC236}">
                  <a16:creationId xmlns:a16="http://schemas.microsoft.com/office/drawing/2014/main" id="{2D2FE148-C8BE-AB41-A518-536DB0D1B3CE}"/>
                </a:ext>
              </a:extLst>
            </p:cNvPr>
            <p:cNvSpPr>
              <a:spLocks noChangeShapeType="1"/>
            </p:cNvSpPr>
            <p:nvPr/>
          </p:nvSpPr>
          <p:spPr bwMode="auto">
            <a:xfrm>
              <a:off x="2016" y="672"/>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1" name="Line 66">
              <a:extLst>
                <a:ext uri="{FF2B5EF4-FFF2-40B4-BE49-F238E27FC236}">
                  <a16:creationId xmlns:a16="http://schemas.microsoft.com/office/drawing/2014/main" id="{492AAA74-C5F5-0941-AFDD-0A25A7D6018D}"/>
                </a:ext>
              </a:extLst>
            </p:cNvPr>
            <p:cNvSpPr>
              <a:spLocks noChangeShapeType="1"/>
            </p:cNvSpPr>
            <p:nvPr/>
          </p:nvSpPr>
          <p:spPr bwMode="auto">
            <a:xfrm flipH="1" flipV="1">
              <a:off x="2016" y="672"/>
              <a:ext cx="672"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2" name="Line 67">
              <a:extLst>
                <a:ext uri="{FF2B5EF4-FFF2-40B4-BE49-F238E27FC236}">
                  <a16:creationId xmlns:a16="http://schemas.microsoft.com/office/drawing/2014/main" id="{8A50CDC4-1EC2-6141-9236-AE1D9B436489}"/>
                </a:ext>
              </a:extLst>
            </p:cNvPr>
            <p:cNvSpPr>
              <a:spLocks noChangeShapeType="1"/>
            </p:cNvSpPr>
            <p:nvPr/>
          </p:nvSpPr>
          <p:spPr bwMode="auto">
            <a:xfrm flipV="1">
              <a:off x="2256" y="672"/>
              <a:ext cx="624"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3" name="Line 68">
              <a:extLst>
                <a:ext uri="{FF2B5EF4-FFF2-40B4-BE49-F238E27FC236}">
                  <a16:creationId xmlns:a16="http://schemas.microsoft.com/office/drawing/2014/main" id="{3B8515D6-DD79-D940-9D7B-185EC7530085}"/>
                </a:ext>
              </a:extLst>
            </p:cNvPr>
            <p:cNvSpPr>
              <a:spLocks noChangeShapeType="1"/>
            </p:cNvSpPr>
            <p:nvPr/>
          </p:nvSpPr>
          <p:spPr bwMode="auto">
            <a:xfrm>
              <a:off x="2256" y="288"/>
              <a:ext cx="432"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4" name="Oval 69">
              <a:extLst>
                <a:ext uri="{FF2B5EF4-FFF2-40B4-BE49-F238E27FC236}">
                  <a16:creationId xmlns:a16="http://schemas.microsoft.com/office/drawing/2014/main" id="{023ADBB4-4FFD-D84B-AD2D-054AFF352631}"/>
                </a:ext>
              </a:extLst>
            </p:cNvPr>
            <p:cNvSpPr>
              <a:spLocks noChangeArrowheads="1"/>
            </p:cNvSpPr>
            <p:nvPr/>
          </p:nvSpPr>
          <p:spPr bwMode="auto">
            <a:xfrm>
              <a:off x="2832" y="62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785" name="Oval 70">
              <a:extLst>
                <a:ext uri="{FF2B5EF4-FFF2-40B4-BE49-F238E27FC236}">
                  <a16:creationId xmlns:a16="http://schemas.microsoft.com/office/drawing/2014/main" id="{EFCEC1D0-EFCB-9142-91FF-C8A0985DED50}"/>
                </a:ext>
              </a:extLst>
            </p:cNvPr>
            <p:cNvSpPr>
              <a:spLocks noChangeArrowheads="1"/>
            </p:cNvSpPr>
            <p:nvPr/>
          </p:nvSpPr>
          <p:spPr bwMode="auto">
            <a:xfrm>
              <a:off x="2640" y="240"/>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786" name="Oval 71">
              <a:extLst>
                <a:ext uri="{FF2B5EF4-FFF2-40B4-BE49-F238E27FC236}">
                  <a16:creationId xmlns:a16="http://schemas.microsoft.com/office/drawing/2014/main" id="{938B3E40-97C2-344D-8AE4-9E965D819C1A}"/>
                </a:ext>
              </a:extLst>
            </p:cNvPr>
            <p:cNvSpPr>
              <a:spLocks noChangeArrowheads="1"/>
            </p:cNvSpPr>
            <p:nvPr/>
          </p:nvSpPr>
          <p:spPr bwMode="auto">
            <a:xfrm>
              <a:off x="2208" y="240"/>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787" name="Oval 72">
              <a:extLst>
                <a:ext uri="{FF2B5EF4-FFF2-40B4-BE49-F238E27FC236}">
                  <a16:creationId xmlns:a16="http://schemas.microsoft.com/office/drawing/2014/main" id="{B37F94B6-69FD-F44B-813E-B8CD104B6318}"/>
                </a:ext>
              </a:extLst>
            </p:cNvPr>
            <p:cNvSpPr>
              <a:spLocks noChangeArrowheads="1"/>
            </p:cNvSpPr>
            <p:nvPr/>
          </p:nvSpPr>
          <p:spPr bwMode="auto">
            <a:xfrm>
              <a:off x="1968" y="624"/>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788" name="Oval 73">
              <a:extLst>
                <a:ext uri="{FF2B5EF4-FFF2-40B4-BE49-F238E27FC236}">
                  <a16:creationId xmlns:a16="http://schemas.microsoft.com/office/drawing/2014/main" id="{46D9F658-43B8-BA46-89A2-1CFA31B9470C}"/>
                </a:ext>
              </a:extLst>
            </p:cNvPr>
            <p:cNvSpPr>
              <a:spLocks noChangeArrowheads="1"/>
            </p:cNvSpPr>
            <p:nvPr/>
          </p:nvSpPr>
          <p:spPr bwMode="auto">
            <a:xfrm>
              <a:off x="2208" y="960"/>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789" name="Oval 74">
              <a:extLst>
                <a:ext uri="{FF2B5EF4-FFF2-40B4-BE49-F238E27FC236}">
                  <a16:creationId xmlns:a16="http://schemas.microsoft.com/office/drawing/2014/main" id="{F4521013-32AD-2842-8D32-FFD9524609AD}"/>
                </a:ext>
              </a:extLst>
            </p:cNvPr>
            <p:cNvSpPr>
              <a:spLocks noChangeArrowheads="1"/>
            </p:cNvSpPr>
            <p:nvPr/>
          </p:nvSpPr>
          <p:spPr bwMode="auto">
            <a:xfrm>
              <a:off x="2640" y="960"/>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grpSp>
      <p:grpSp>
        <p:nvGrpSpPr>
          <p:cNvPr id="31751" name="Group 80">
            <a:extLst>
              <a:ext uri="{FF2B5EF4-FFF2-40B4-BE49-F238E27FC236}">
                <a16:creationId xmlns:a16="http://schemas.microsoft.com/office/drawing/2014/main" id="{E0ECF212-34AE-2740-88BC-C66C39D9F135}"/>
              </a:ext>
            </a:extLst>
          </p:cNvPr>
          <p:cNvGrpSpPr>
            <a:grpSpLocks/>
          </p:cNvGrpSpPr>
          <p:nvPr/>
        </p:nvGrpSpPr>
        <p:grpSpPr bwMode="auto">
          <a:xfrm>
            <a:off x="1828800" y="3048000"/>
            <a:ext cx="1143000" cy="1066800"/>
            <a:chOff x="336" y="1872"/>
            <a:chExt cx="720" cy="672"/>
          </a:xfrm>
        </p:grpSpPr>
        <p:sp>
          <p:nvSpPr>
            <p:cNvPr id="31767" name="Rectangle 9">
              <a:extLst>
                <a:ext uri="{FF2B5EF4-FFF2-40B4-BE49-F238E27FC236}">
                  <a16:creationId xmlns:a16="http://schemas.microsoft.com/office/drawing/2014/main" id="{D78A30FF-7371-CE44-B190-3BF263A7F6FD}"/>
                </a:ext>
              </a:extLst>
            </p:cNvPr>
            <p:cNvSpPr>
              <a:spLocks noChangeArrowheads="1"/>
            </p:cNvSpPr>
            <p:nvPr/>
          </p:nvSpPr>
          <p:spPr bwMode="auto">
            <a:xfrm>
              <a:off x="384" y="1920"/>
              <a:ext cx="624" cy="5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768" name="Line 30">
              <a:extLst>
                <a:ext uri="{FF2B5EF4-FFF2-40B4-BE49-F238E27FC236}">
                  <a16:creationId xmlns:a16="http://schemas.microsoft.com/office/drawing/2014/main" id="{ED7CB78E-B1BD-794D-B0FF-BE82C614D92F}"/>
                </a:ext>
              </a:extLst>
            </p:cNvPr>
            <p:cNvSpPr>
              <a:spLocks noChangeShapeType="1"/>
            </p:cNvSpPr>
            <p:nvPr/>
          </p:nvSpPr>
          <p:spPr bwMode="auto">
            <a:xfrm flipH="1">
              <a:off x="384" y="1920"/>
              <a:ext cx="6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9" name="Line 31">
              <a:extLst>
                <a:ext uri="{FF2B5EF4-FFF2-40B4-BE49-F238E27FC236}">
                  <a16:creationId xmlns:a16="http://schemas.microsoft.com/office/drawing/2014/main" id="{1188955B-E29D-F24A-BD6F-4632CFE8604B}"/>
                </a:ext>
              </a:extLst>
            </p:cNvPr>
            <p:cNvSpPr>
              <a:spLocks noChangeShapeType="1"/>
            </p:cNvSpPr>
            <p:nvPr/>
          </p:nvSpPr>
          <p:spPr bwMode="auto">
            <a:xfrm>
              <a:off x="384" y="1920"/>
              <a:ext cx="62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0" name="Oval 75">
              <a:extLst>
                <a:ext uri="{FF2B5EF4-FFF2-40B4-BE49-F238E27FC236}">
                  <a16:creationId xmlns:a16="http://schemas.microsoft.com/office/drawing/2014/main" id="{BAE13806-C1B1-D747-BA0F-EDBC0EC15F7F}"/>
                </a:ext>
              </a:extLst>
            </p:cNvPr>
            <p:cNvSpPr>
              <a:spLocks noChangeArrowheads="1"/>
            </p:cNvSpPr>
            <p:nvPr/>
          </p:nvSpPr>
          <p:spPr bwMode="auto">
            <a:xfrm>
              <a:off x="960" y="187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771" name="Oval 76">
              <a:extLst>
                <a:ext uri="{FF2B5EF4-FFF2-40B4-BE49-F238E27FC236}">
                  <a16:creationId xmlns:a16="http://schemas.microsoft.com/office/drawing/2014/main" id="{585B1488-58DC-FC44-9996-9379411F08C8}"/>
                </a:ext>
              </a:extLst>
            </p:cNvPr>
            <p:cNvSpPr>
              <a:spLocks noChangeArrowheads="1"/>
            </p:cNvSpPr>
            <p:nvPr/>
          </p:nvSpPr>
          <p:spPr bwMode="auto">
            <a:xfrm>
              <a:off x="336" y="1872"/>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772" name="Oval 77">
              <a:extLst>
                <a:ext uri="{FF2B5EF4-FFF2-40B4-BE49-F238E27FC236}">
                  <a16:creationId xmlns:a16="http://schemas.microsoft.com/office/drawing/2014/main" id="{8A0F4D2A-4356-1344-8AD8-4C625539B944}"/>
                </a:ext>
              </a:extLst>
            </p:cNvPr>
            <p:cNvSpPr>
              <a:spLocks noChangeArrowheads="1"/>
            </p:cNvSpPr>
            <p:nvPr/>
          </p:nvSpPr>
          <p:spPr bwMode="auto">
            <a:xfrm>
              <a:off x="336" y="244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1773" name="Oval 78">
              <a:extLst>
                <a:ext uri="{FF2B5EF4-FFF2-40B4-BE49-F238E27FC236}">
                  <a16:creationId xmlns:a16="http://schemas.microsoft.com/office/drawing/2014/main" id="{4B016E2A-C697-264A-8E7E-C4F2124EBEB6}"/>
                </a:ext>
              </a:extLst>
            </p:cNvPr>
            <p:cNvSpPr>
              <a:spLocks noChangeArrowheads="1"/>
            </p:cNvSpPr>
            <p:nvPr/>
          </p:nvSpPr>
          <p:spPr bwMode="auto">
            <a:xfrm>
              <a:off x="960" y="2448"/>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grpSp>
      <p:sp>
        <p:nvSpPr>
          <p:cNvPr id="31752" name="Text Box 85">
            <a:extLst>
              <a:ext uri="{FF2B5EF4-FFF2-40B4-BE49-F238E27FC236}">
                <a16:creationId xmlns:a16="http://schemas.microsoft.com/office/drawing/2014/main" id="{3F380E14-7D03-5946-8FEC-EE13E34355B6}"/>
              </a:ext>
            </a:extLst>
          </p:cNvPr>
          <p:cNvSpPr txBox="1">
            <a:spLocks noChangeArrowheads="1"/>
          </p:cNvSpPr>
          <p:nvPr/>
        </p:nvSpPr>
        <p:spPr bwMode="auto">
          <a:xfrm>
            <a:off x="3149600" y="176213"/>
            <a:ext cx="7162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en-US" altLang="en-US" sz="3600">
                <a:latin typeface="Times New Roman" panose="02020603050405020304" pitchFamily="18" charset="0"/>
              </a:rPr>
              <a:t>Euler cycle for complete graphs</a:t>
            </a:r>
          </a:p>
        </p:txBody>
      </p:sp>
      <p:sp>
        <p:nvSpPr>
          <p:cNvPr id="31753" name="Text Box 86">
            <a:extLst>
              <a:ext uri="{FF2B5EF4-FFF2-40B4-BE49-F238E27FC236}">
                <a16:creationId xmlns:a16="http://schemas.microsoft.com/office/drawing/2014/main" id="{F8A030F1-D2F7-4447-94FC-0F6994F0CD16}"/>
              </a:ext>
            </a:extLst>
          </p:cNvPr>
          <p:cNvSpPr txBox="1">
            <a:spLocks noChangeArrowheads="1"/>
          </p:cNvSpPr>
          <p:nvPr/>
        </p:nvSpPr>
        <p:spPr bwMode="auto">
          <a:xfrm>
            <a:off x="4022726" y="5448301"/>
            <a:ext cx="5959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a:latin typeface="Times New Roman" panose="02020603050405020304" pitchFamily="18" charset="0"/>
              </a:rPr>
              <a:t>In general      has Euler cycle if </a:t>
            </a:r>
            <a:r>
              <a:rPr lang="en-US" altLang="en-US" sz="2000" i="1">
                <a:latin typeface="Times New Roman" panose="02020603050405020304" pitchFamily="18" charset="0"/>
              </a:rPr>
              <a:t>n</a:t>
            </a:r>
            <a:r>
              <a:rPr lang="en-US" altLang="en-US" sz="2000">
                <a:latin typeface="Times New Roman" panose="02020603050405020304" pitchFamily="18" charset="0"/>
              </a:rPr>
              <a:t> is an odd number.</a:t>
            </a:r>
          </a:p>
        </p:txBody>
      </p:sp>
      <p:graphicFrame>
        <p:nvGraphicFramePr>
          <p:cNvPr id="31754" name="Object 105">
            <a:extLst>
              <a:ext uri="{FF2B5EF4-FFF2-40B4-BE49-F238E27FC236}">
                <a16:creationId xmlns:a16="http://schemas.microsoft.com/office/drawing/2014/main" id="{76C5BF8F-C5F0-3C48-B02A-552EAE8EB79D}"/>
              </a:ext>
            </a:extLst>
          </p:cNvPr>
          <p:cNvGraphicFramePr>
            <a:graphicFrameLocks noChangeAspect="1"/>
          </p:cNvGraphicFramePr>
          <p:nvPr/>
        </p:nvGraphicFramePr>
        <p:xfrm>
          <a:off x="5181600" y="5486400"/>
          <a:ext cx="304800" cy="381000"/>
        </p:xfrm>
        <a:graphic>
          <a:graphicData uri="http://schemas.openxmlformats.org/presentationml/2006/ole">
            <mc:AlternateContent xmlns:mc="http://schemas.openxmlformats.org/markup-compatibility/2006">
              <mc:Choice xmlns:v="urn:schemas-microsoft-com:vml" Requires="v">
                <p:oleObj spid="_x0000_s2050" name="Equation" r:id="rId3" imgW="4978400" imgH="5270500" progId="Equation.DSMT4">
                  <p:embed/>
                </p:oleObj>
              </mc:Choice>
              <mc:Fallback>
                <p:oleObj name="Equation" r:id="rId3" imgW="4978400" imgH="5270500" progId="Equation.DSMT4">
                  <p:embed/>
                  <p:pic>
                    <p:nvPicPr>
                      <p:cNvPr id="31754" name="Object 105">
                        <a:extLst>
                          <a:ext uri="{FF2B5EF4-FFF2-40B4-BE49-F238E27FC236}">
                            <a16:creationId xmlns:a16="http://schemas.microsoft.com/office/drawing/2014/main" id="{76C5BF8F-C5F0-3C48-B02A-552EAE8EB7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5486400"/>
                        <a:ext cx="304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55" name="Object 106">
            <a:extLst>
              <a:ext uri="{FF2B5EF4-FFF2-40B4-BE49-F238E27FC236}">
                <a16:creationId xmlns:a16="http://schemas.microsoft.com/office/drawing/2014/main" id="{59916A86-1EE7-C545-B249-B6E7B93CEF21}"/>
              </a:ext>
            </a:extLst>
          </p:cNvPr>
          <p:cNvGraphicFramePr>
            <a:graphicFrameLocks noChangeAspect="1"/>
          </p:cNvGraphicFramePr>
          <p:nvPr/>
        </p:nvGraphicFramePr>
        <p:xfrm>
          <a:off x="5791200" y="4648200"/>
          <a:ext cx="203200" cy="228600"/>
        </p:xfrm>
        <a:graphic>
          <a:graphicData uri="http://schemas.openxmlformats.org/presentationml/2006/ole">
            <mc:AlternateContent xmlns:mc="http://schemas.openxmlformats.org/markup-compatibility/2006">
              <mc:Choice xmlns:v="urn:schemas-microsoft-com:vml" Requires="v">
                <p:oleObj spid="_x0000_s2051" name="Equation" r:id="rId5" imgW="4686300" imgH="5270500" progId="Equation.DSMT4">
                  <p:embed/>
                </p:oleObj>
              </mc:Choice>
              <mc:Fallback>
                <p:oleObj name="Equation" r:id="rId5" imgW="4686300" imgH="5270500" progId="Equation.DSMT4">
                  <p:embed/>
                  <p:pic>
                    <p:nvPicPr>
                      <p:cNvPr id="31755" name="Object 106">
                        <a:extLst>
                          <a:ext uri="{FF2B5EF4-FFF2-40B4-BE49-F238E27FC236}">
                            <a16:creationId xmlns:a16="http://schemas.microsoft.com/office/drawing/2014/main" id="{59916A86-1EE7-C545-B249-B6E7B93CEF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46482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56" name="Object 108">
            <a:extLst>
              <a:ext uri="{FF2B5EF4-FFF2-40B4-BE49-F238E27FC236}">
                <a16:creationId xmlns:a16="http://schemas.microsoft.com/office/drawing/2014/main" id="{30C43ACA-5E24-C343-A327-56ED7AA40877}"/>
              </a:ext>
            </a:extLst>
          </p:cNvPr>
          <p:cNvGraphicFramePr>
            <a:graphicFrameLocks noChangeAspect="1"/>
          </p:cNvGraphicFramePr>
          <p:nvPr/>
        </p:nvGraphicFramePr>
        <p:xfrm>
          <a:off x="4495800" y="4724400"/>
          <a:ext cx="203200" cy="228600"/>
        </p:xfrm>
        <a:graphic>
          <a:graphicData uri="http://schemas.openxmlformats.org/presentationml/2006/ole">
            <mc:AlternateContent xmlns:mc="http://schemas.openxmlformats.org/markup-compatibility/2006">
              <mc:Choice xmlns:v="urn:schemas-microsoft-com:vml" Requires="v">
                <p:oleObj spid="_x0000_s2052" name="Equation" r:id="rId7" imgW="4686300" imgH="5270500" progId="Equation.DSMT4">
                  <p:embed/>
                </p:oleObj>
              </mc:Choice>
              <mc:Fallback>
                <p:oleObj name="Equation" r:id="rId7" imgW="4686300" imgH="5270500" progId="Equation.DSMT4">
                  <p:embed/>
                  <p:pic>
                    <p:nvPicPr>
                      <p:cNvPr id="31756" name="Object 108">
                        <a:extLst>
                          <a:ext uri="{FF2B5EF4-FFF2-40B4-BE49-F238E27FC236}">
                            <a16:creationId xmlns:a16="http://schemas.microsoft.com/office/drawing/2014/main" id="{30C43ACA-5E24-C343-A327-56ED7AA408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47244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57" name="Object 109">
            <a:extLst>
              <a:ext uri="{FF2B5EF4-FFF2-40B4-BE49-F238E27FC236}">
                <a16:creationId xmlns:a16="http://schemas.microsoft.com/office/drawing/2014/main" id="{1A94DB57-11AC-7445-9481-B5AA84936FBB}"/>
              </a:ext>
            </a:extLst>
          </p:cNvPr>
          <p:cNvGraphicFramePr>
            <a:graphicFrameLocks noChangeAspect="1"/>
          </p:cNvGraphicFramePr>
          <p:nvPr/>
        </p:nvGraphicFramePr>
        <p:xfrm>
          <a:off x="5029200" y="2362200"/>
          <a:ext cx="203200" cy="228600"/>
        </p:xfrm>
        <a:graphic>
          <a:graphicData uri="http://schemas.openxmlformats.org/presentationml/2006/ole">
            <mc:AlternateContent xmlns:mc="http://schemas.openxmlformats.org/markup-compatibility/2006">
              <mc:Choice xmlns:v="urn:schemas-microsoft-com:vml" Requires="v">
                <p:oleObj spid="_x0000_s2053" name="Equation" r:id="rId8" imgW="4686300" imgH="5270500" progId="Equation.DSMT4">
                  <p:embed/>
                </p:oleObj>
              </mc:Choice>
              <mc:Fallback>
                <p:oleObj name="Equation" r:id="rId8" imgW="4686300" imgH="5270500" progId="Equation.DSMT4">
                  <p:embed/>
                  <p:pic>
                    <p:nvPicPr>
                      <p:cNvPr id="31757" name="Object 109">
                        <a:extLst>
                          <a:ext uri="{FF2B5EF4-FFF2-40B4-BE49-F238E27FC236}">
                            <a16:creationId xmlns:a16="http://schemas.microsoft.com/office/drawing/2014/main" id="{1A94DB57-11AC-7445-9481-B5AA84936FB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29200" y="23622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58" name="Object 110">
            <a:extLst>
              <a:ext uri="{FF2B5EF4-FFF2-40B4-BE49-F238E27FC236}">
                <a16:creationId xmlns:a16="http://schemas.microsoft.com/office/drawing/2014/main" id="{7FD2C27C-DDE9-A54C-B157-8913F6E42417}"/>
              </a:ext>
            </a:extLst>
          </p:cNvPr>
          <p:cNvGraphicFramePr>
            <a:graphicFrameLocks noChangeAspect="1"/>
          </p:cNvGraphicFramePr>
          <p:nvPr/>
        </p:nvGraphicFramePr>
        <p:xfrm>
          <a:off x="5791200" y="3657600"/>
          <a:ext cx="203200" cy="228600"/>
        </p:xfrm>
        <a:graphic>
          <a:graphicData uri="http://schemas.openxmlformats.org/presentationml/2006/ole">
            <mc:AlternateContent xmlns:mc="http://schemas.openxmlformats.org/markup-compatibility/2006">
              <mc:Choice xmlns:v="urn:schemas-microsoft-com:vml" Requires="v">
                <p:oleObj spid="_x0000_s2054" name="Equation" r:id="rId10" imgW="4686300" imgH="5270500" progId="Equation.DSMT4">
                  <p:embed/>
                </p:oleObj>
              </mc:Choice>
              <mc:Fallback>
                <p:oleObj name="Equation" r:id="rId10" imgW="4686300" imgH="5270500" progId="Equation.DSMT4">
                  <p:embed/>
                  <p:pic>
                    <p:nvPicPr>
                      <p:cNvPr id="31758" name="Object 110">
                        <a:extLst>
                          <a:ext uri="{FF2B5EF4-FFF2-40B4-BE49-F238E27FC236}">
                            <a16:creationId xmlns:a16="http://schemas.microsoft.com/office/drawing/2014/main" id="{7FD2C27C-DDE9-A54C-B157-8913F6E4241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91200" y="36576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59" name="Object 111">
            <a:extLst>
              <a:ext uri="{FF2B5EF4-FFF2-40B4-BE49-F238E27FC236}">
                <a16:creationId xmlns:a16="http://schemas.microsoft.com/office/drawing/2014/main" id="{98D49A97-AE3C-AF4D-8B7F-F5976DF923AA}"/>
              </a:ext>
            </a:extLst>
          </p:cNvPr>
          <p:cNvGraphicFramePr>
            <a:graphicFrameLocks noChangeAspect="1"/>
          </p:cNvGraphicFramePr>
          <p:nvPr/>
        </p:nvGraphicFramePr>
        <p:xfrm>
          <a:off x="3048000" y="5105400"/>
          <a:ext cx="203200" cy="228600"/>
        </p:xfrm>
        <a:graphic>
          <a:graphicData uri="http://schemas.openxmlformats.org/presentationml/2006/ole">
            <mc:AlternateContent xmlns:mc="http://schemas.openxmlformats.org/markup-compatibility/2006">
              <mc:Choice xmlns:v="urn:schemas-microsoft-com:vml" Requires="v">
                <p:oleObj spid="_x0000_s2055" name="Equation" r:id="rId11" imgW="4686300" imgH="5270500" progId="Equation.DSMT4">
                  <p:embed/>
                </p:oleObj>
              </mc:Choice>
              <mc:Fallback>
                <p:oleObj name="Equation" r:id="rId11" imgW="4686300" imgH="5270500" progId="Equation.DSMT4">
                  <p:embed/>
                  <p:pic>
                    <p:nvPicPr>
                      <p:cNvPr id="31759" name="Object 111">
                        <a:extLst>
                          <a:ext uri="{FF2B5EF4-FFF2-40B4-BE49-F238E27FC236}">
                            <a16:creationId xmlns:a16="http://schemas.microsoft.com/office/drawing/2014/main" id="{98D49A97-AE3C-AF4D-8B7F-F5976DF923A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000" y="51054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60" name="Object 112">
            <a:extLst>
              <a:ext uri="{FF2B5EF4-FFF2-40B4-BE49-F238E27FC236}">
                <a16:creationId xmlns:a16="http://schemas.microsoft.com/office/drawing/2014/main" id="{B8A66C36-FD92-A042-BD91-7E3C1947313A}"/>
              </a:ext>
            </a:extLst>
          </p:cNvPr>
          <p:cNvGraphicFramePr>
            <a:graphicFrameLocks noChangeAspect="1"/>
          </p:cNvGraphicFramePr>
          <p:nvPr/>
        </p:nvGraphicFramePr>
        <p:xfrm>
          <a:off x="5791200" y="3048000"/>
          <a:ext cx="203200" cy="228600"/>
        </p:xfrm>
        <a:graphic>
          <a:graphicData uri="http://schemas.openxmlformats.org/presentationml/2006/ole">
            <mc:AlternateContent xmlns:mc="http://schemas.openxmlformats.org/markup-compatibility/2006">
              <mc:Choice xmlns:v="urn:schemas-microsoft-com:vml" Requires="v">
                <p:oleObj spid="_x0000_s2056" name="Equation" r:id="rId13" imgW="4686300" imgH="5270500" progId="Equation.DSMT4">
                  <p:embed/>
                </p:oleObj>
              </mc:Choice>
              <mc:Fallback>
                <p:oleObj name="Equation" r:id="rId13" imgW="4686300" imgH="5270500" progId="Equation.DSMT4">
                  <p:embed/>
                  <p:pic>
                    <p:nvPicPr>
                      <p:cNvPr id="31760" name="Object 112">
                        <a:extLst>
                          <a:ext uri="{FF2B5EF4-FFF2-40B4-BE49-F238E27FC236}">
                            <a16:creationId xmlns:a16="http://schemas.microsoft.com/office/drawing/2014/main" id="{B8A66C36-FD92-A042-BD91-7E3C1947313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91200" y="30480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61" name="Object 113">
            <a:extLst>
              <a:ext uri="{FF2B5EF4-FFF2-40B4-BE49-F238E27FC236}">
                <a16:creationId xmlns:a16="http://schemas.microsoft.com/office/drawing/2014/main" id="{0EA60F8E-E4A8-2B4C-A924-FB48CCF17F62}"/>
              </a:ext>
            </a:extLst>
          </p:cNvPr>
          <p:cNvGraphicFramePr>
            <a:graphicFrameLocks noChangeAspect="1"/>
          </p:cNvGraphicFramePr>
          <p:nvPr/>
        </p:nvGraphicFramePr>
        <p:xfrm>
          <a:off x="3048000" y="3657600"/>
          <a:ext cx="203200" cy="228600"/>
        </p:xfrm>
        <a:graphic>
          <a:graphicData uri="http://schemas.openxmlformats.org/presentationml/2006/ole">
            <mc:AlternateContent xmlns:mc="http://schemas.openxmlformats.org/markup-compatibility/2006">
              <mc:Choice xmlns:v="urn:schemas-microsoft-com:vml" Requires="v">
                <p:oleObj spid="_x0000_s2057" name="Equation" r:id="rId14" imgW="4686300" imgH="5270500" progId="Equation.DSMT4">
                  <p:embed/>
                </p:oleObj>
              </mc:Choice>
              <mc:Fallback>
                <p:oleObj name="Equation" r:id="rId14" imgW="4686300" imgH="5270500" progId="Equation.DSMT4">
                  <p:embed/>
                  <p:pic>
                    <p:nvPicPr>
                      <p:cNvPr id="31761" name="Object 113">
                        <a:extLst>
                          <a:ext uri="{FF2B5EF4-FFF2-40B4-BE49-F238E27FC236}">
                            <a16:creationId xmlns:a16="http://schemas.microsoft.com/office/drawing/2014/main" id="{0EA60F8E-E4A8-2B4C-A924-FB48CCF17F6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48000" y="36576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62" name="Object 114">
            <a:extLst>
              <a:ext uri="{FF2B5EF4-FFF2-40B4-BE49-F238E27FC236}">
                <a16:creationId xmlns:a16="http://schemas.microsoft.com/office/drawing/2014/main" id="{08EBF74B-AD43-8145-96A2-A917C02D4FAC}"/>
              </a:ext>
            </a:extLst>
          </p:cNvPr>
          <p:cNvGraphicFramePr>
            <a:graphicFrameLocks noChangeAspect="1"/>
          </p:cNvGraphicFramePr>
          <p:nvPr/>
        </p:nvGraphicFramePr>
        <p:xfrm>
          <a:off x="5791200" y="2362200"/>
          <a:ext cx="203200" cy="228600"/>
        </p:xfrm>
        <a:graphic>
          <a:graphicData uri="http://schemas.openxmlformats.org/presentationml/2006/ole">
            <mc:AlternateContent xmlns:mc="http://schemas.openxmlformats.org/markup-compatibility/2006">
              <mc:Choice xmlns:v="urn:schemas-microsoft-com:vml" Requires="v">
                <p:oleObj spid="_x0000_s2058" name="Equation" r:id="rId16" imgW="4686300" imgH="5270500" progId="Equation.DSMT4">
                  <p:embed/>
                </p:oleObj>
              </mc:Choice>
              <mc:Fallback>
                <p:oleObj name="Equation" r:id="rId16" imgW="4686300" imgH="5270500" progId="Equation.DSMT4">
                  <p:embed/>
                  <p:pic>
                    <p:nvPicPr>
                      <p:cNvPr id="31762" name="Object 114">
                        <a:extLst>
                          <a:ext uri="{FF2B5EF4-FFF2-40B4-BE49-F238E27FC236}">
                            <a16:creationId xmlns:a16="http://schemas.microsoft.com/office/drawing/2014/main" id="{08EBF74B-AD43-8145-96A2-A917C02D4FA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91200" y="23622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63" name="Object 115">
            <a:extLst>
              <a:ext uri="{FF2B5EF4-FFF2-40B4-BE49-F238E27FC236}">
                <a16:creationId xmlns:a16="http://schemas.microsoft.com/office/drawing/2014/main" id="{38CD4660-2E3A-5545-B157-7C85CFECF69E}"/>
              </a:ext>
            </a:extLst>
          </p:cNvPr>
          <p:cNvGraphicFramePr>
            <a:graphicFrameLocks noChangeAspect="1"/>
          </p:cNvGraphicFramePr>
          <p:nvPr/>
        </p:nvGraphicFramePr>
        <p:xfrm>
          <a:off x="2895600" y="2286000"/>
          <a:ext cx="203200" cy="228600"/>
        </p:xfrm>
        <a:graphic>
          <a:graphicData uri="http://schemas.openxmlformats.org/presentationml/2006/ole">
            <mc:AlternateContent xmlns:mc="http://schemas.openxmlformats.org/markup-compatibility/2006">
              <mc:Choice xmlns:v="urn:schemas-microsoft-com:vml" Requires="v">
                <p:oleObj spid="_x0000_s2059" name="Equation" r:id="rId17" imgW="4686300" imgH="5270500" progId="Equation.DSMT4">
                  <p:embed/>
                </p:oleObj>
              </mc:Choice>
              <mc:Fallback>
                <p:oleObj name="Equation" r:id="rId17" imgW="4686300" imgH="5270500" progId="Equation.DSMT4">
                  <p:embed/>
                  <p:pic>
                    <p:nvPicPr>
                      <p:cNvPr id="31763" name="Object 115">
                        <a:extLst>
                          <a:ext uri="{FF2B5EF4-FFF2-40B4-BE49-F238E27FC236}">
                            <a16:creationId xmlns:a16="http://schemas.microsoft.com/office/drawing/2014/main" id="{38CD4660-2E3A-5545-B157-7C85CFECF69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95600" y="22860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64" name="Object 116">
            <a:extLst>
              <a:ext uri="{FF2B5EF4-FFF2-40B4-BE49-F238E27FC236}">
                <a16:creationId xmlns:a16="http://schemas.microsoft.com/office/drawing/2014/main" id="{212FD09B-A11A-3346-84C0-A9AC79D9D461}"/>
              </a:ext>
            </a:extLst>
          </p:cNvPr>
          <p:cNvGraphicFramePr>
            <a:graphicFrameLocks noChangeAspect="1"/>
          </p:cNvGraphicFramePr>
          <p:nvPr/>
        </p:nvGraphicFramePr>
        <p:xfrm>
          <a:off x="5791200" y="1752600"/>
          <a:ext cx="203200" cy="228600"/>
        </p:xfrm>
        <a:graphic>
          <a:graphicData uri="http://schemas.openxmlformats.org/presentationml/2006/ole">
            <mc:AlternateContent xmlns:mc="http://schemas.openxmlformats.org/markup-compatibility/2006">
              <mc:Choice xmlns:v="urn:schemas-microsoft-com:vml" Requires="v">
                <p:oleObj spid="_x0000_s2060" name="Equation" r:id="rId19" imgW="4686300" imgH="5270500" progId="Equation.DSMT4">
                  <p:embed/>
                </p:oleObj>
              </mc:Choice>
              <mc:Fallback>
                <p:oleObj name="Equation" r:id="rId19" imgW="4686300" imgH="5270500" progId="Equation.DSMT4">
                  <p:embed/>
                  <p:pic>
                    <p:nvPicPr>
                      <p:cNvPr id="31764" name="Object 116">
                        <a:extLst>
                          <a:ext uri="{FF2B5EF4-FFF2-40B4-BE49-F238E27FC236}">
                            <a16:creationId xmlns:a16="http://schemas.microsoft.com/office/drawing/2014/main" id="{212FD09B-A11A-3346-84C0-A9AC79D9D46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91200" y="17526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65" name="Object 117">
            <a:extLst>
              <a:ext uri="{FF2B5EF4-FFF2-40B4-BE49-F238E27FC236}">
                <a16:creationId xmlns:a16="http://schemas.microsoft.com/office/drawing/2014/main" id="{40267CA0-599E-9546-A125-1020E945EBAE}"/>
              </a:ext>
            </a:extLst>
          </p:cNvPr>
          <p:cNvGraphicFramePr>
            <a:graphicFrameLocks noChangeAspect="1"/>
          </p:cNvGraphicFramePr>
          <p:nvPr/>
        </p:nvGraphicFramePr>
        <p:xfrm>
          <a:off x="2743200" y="1371600"/>
          <a:ext cx="203200" cy="228600"/>
        </p:xfrm>
        <a:graphic>
          <a:graphicData uri="http://schemas.openxmlformats.org/presentationml/2006/ole">
            <mc:AlternateContent xmlns:mc="http://schemas.openxmlformats.org/markup-compatibility/2006">
              <mc:Choice xmlns:v="urn:schemas-microsoft-com:vml" Requires="v">
                <p:oleObj spid="_x0000_s2061" name="Equation" r:id="rId20" imgW="4686300" imgH="5270500" progId="Equation.DSMT4">
                  <p:embed/>
                </p:oleObj>
              </mc:Choice>
              <mc:Fallback>
                <p:oleObj name="Equation" r:id="rId20" imgW="4686300" imgH="5270500" progId="Equation.DSMT4">
                  <p:embed/>
                  <p:pic>
                    <p:nvPicPr>
                      <p:cNvPr id="31765" name="Object 117">
                        <a:extLst>
                          <a:ext uri="{FF2B5EF4-FFF2-40B4-BE49-F238E27FC236}">
                            <a16:creationId xmlns:a16="http://schemas.microsoft.com/office/drawing/2014/main" id="{40267CA0-599E-9546-A125-1020E945EBA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43200" y="13716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66" name="Object 118">
            <a:extLst>
              <a:ext uri="{FF2B5EF4-FFF2-40B4-BE49-F238E27FC236}">
                <a16:creationId xmlns:a16="http://schemas.microsoft.com/office/drawing/2014/main" id="{BC1F3BC1-75F2-3449-944A-2B71A987A8BC}"/>
              </a:ext>
            </a:extLst>
          </p:cNvPr>
          <p:cNvGraphicFramePr>
            <a:graphicFrameLocks noChangeAspect="1"/>
          </p:cNvGraphicFramePr>
          <p:nvPr/>
        </p:nvGraphicFramePr>
        <p:xfrm>
          <a:off x="5791200" y="1143000"/>
          <a:ext cx="203200" cy="228600"/>
        </p:xfrm>
        <a:graphic>
          <a:graphicData uri="http://schemas.openxmlformats.org/presentationml/2006/ole">
            <mc:AlternateContent xmlns:mc="http://schemas.openxmlformats.org/markup-compatibility/2006">
              <mc:Choice xmlns:v="urn:schemas-microsoft-com:vml" Requires="v">
                <p:oleObj spid="_x0000_s2062" name="Equation" r:id="rId22" imgW="4686300" imgH="5270500" progId="Equation.DSMT4">
                  <p:embed/>
                </p:oleObj>
              </mc:Choice>
              <mc:Fallback>
                <p:oleObj name="Equation" r:id="rId22" imgW="4686300" imgH="5270500" progId="Equation.DSMT4">
                  <p:embed/>
                  <p:pic>
                    <p:nvPicPr>
                      <p:cNvPr id="31766" name="Object 118">
                        <a:extLst>
                          <a:ext uri="{FF2B5EF4-FFF2-40B4-BE49-F238E27FC236}">
                            <a16:creationId xmlns:a16="http://schemas.microsoft.com/office/drawing/2014/main" id="{BC1F3BC1-75F2-3449-944A-2B71A987A8B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791200" y="1143000"/>
                        <a:ext cx="2032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929996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ext Box 85">
            <a:extLst>
              <a:ext uri="{FF2B5EF4-FFF2-40B4-BE49-F238E27FC236}">
                <a16:creationId xmlns:a16="http://schemas.microsoft.com/office/drawing/2014/main" id="{93BBEBE8-5E27-F34D-82ED-0FEC2AD341E0}"/>
              </a:ext>
            </a:extLst>
          </p:cNvPr>
          <p:cNvSpPr txBox="1">
            <a:spLocks noChangeArrowheads="1"/>
          </p:cNvSpPr>
          <p:nvPr/>
        </p:nvSpPr>
        <p:spPr bwMode="auto">
          <a:xfrm>
            <a:off x="1752600" y="533401"/>
            <a:ext cx="8534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buFontTx/>
              <a:buNone/>
            </a:pPr>
            <a:r>
              <a:rPr lang="en-US" altLang="en-US" sz="3600">
                <a:latin typeface="Times New Roman" panose="02020603050405020304" pitchFamily="18" charset="0"/>
              </a:rPr>
              <a:t>Euler cycle for complete bipartite graphs</a:t>
            </a:r>
          </a:p>
        </p:txBody>
      </p:sp>
      <p:pic>
        <p:nvPicPr>
          <p:cNvPr id="32770" name="Picture 1">
            <a:extLst>
              <a:ext uri="{FF2B5EF4-FFF2-40B4-BE49-F238E27FC236}">
                <a16:creationId xmlns:a16="http://schemas.microsoft.com/office/drawing/2014/main" id="{D118993C-0B94-B742-B0F3-CEBB9D5D1C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293" r="3333"/>
          <a:stretch>
            <a:fillRect/>
          </a:stretch>
        </p:blipFill>
        <p:spPr bwMode="auto">
          <a:xfrm>
            <a:off x="2655888" y="1284288"/>
            <a:ext cx="69342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57D9A64F-2A29-EB43-8A3C-D342D37ADAD4}"/>
              </a:ext>
            </a:extLst>
          </p:cNvPr>
          <p:cNvSpPr txBox="1">
            <a:spLocks noRot="1" noChangeAspect="1" noMove="1" noResize="1" noEditPoints="1" noAdjustHandles="1" noChangeArrowheads="1" noChangeShapeType="1" noTextEdit="1"/>
          </p:cNvSpPr>
          <p:nvPr/>
        </p:nvSpPr>
        <p:spPr>
          <a:xfrm>
            <a:off x="3352800" y="3733800"/>
            <a:ext cx="5541453" cy="369332"/>
          </a:xfrm>
          <a:prstGeom prst="rect">
            <a:avLst/>
          </a:prstGeom>
          <a:blipFill>
            <a:blip r:embed="rId4"/>
            <a:stretch>
              <a:fillRect l="-917" t="-6667" b="-20000"/>
            </a:stretch>
          </a:blipFill>
        </p:spPr>
        <p:txBody>
          <a:bodyPr/>
          <a:lstStyle/>
          <a:p>
            <a:pPr>
              <a:defRPr/>
            </a:pPr>
            <a:r>
              <a:rPr lang="en-US">
                <a:noFill/>
              </a:rPr>
              <a:t> </a:t>
            </a:r>
          </a:p>
        </p:txBody>
      </p:sp>
      <p:pic>
        <p:nvPicPr>
          <p:cNvPr id="32772" name="Picture 3">
            <a:extLst>
              <a:ext uri="{FF2B5EF4-FFF2-40B4-BE49-F238E27FC236}">
                <a16:creationId xmlns:a16="http://schemas.microsoft.com/office/drawing/2014/main" id="{3F772B5C-0302-E547-AF20-9E24D7AF76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0100" y="4267200"/>
            <a:ext cx="29718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BC9529A-DD35-C349-BB22-2AE8EFC25847}"/>
              </a:ext>
            </a:extLst>
          </p:cNvPr>
          <p:cNvSpPr txBox="1">
            <a:spLocks noRot="1" noChangeAspect="1" noMove="1" noResize="1" noEditPoints="1" noAdjustHandles="1" noChangeArrowheads="1" noChangeShapeType="1" noTextEdit="1"/>
          </p:cNvSpPr>
          <p:nvPr/>
        </p:nvSpPr>
        <p:spPr>
          <a:xfrm>
            <a:off x="2971800" y="5887072"/>
            <a:ext cx="6730882" cy="369332"/>
          </a:xfrm>
          <a:prstGeom prst="rect">
            <a:avLst/>
          </a:prstGeom>
          <a:blipFill>
            <a:blip r:embed="rId6"/>
            <a:stretch>
              <a:fillRect l="-753" t="-6667" b="-20000"/>
            </a:stretch>
          </a:blipFill>
        </p:spPr>
        <p:txBody>
          <a:bodyPr/>
          <a:lstStyle/>
          <a:p>
            <a:pPr>
              <a:defRPr/>
            </a:pPr>
            <a:r>
              <a:rPr lang="en-US">
                <a:noFill/>
              </a:rPr>
              <a:t> </a:t>
            </a:r>
          </a:p>
        </p:txBody>
      </p:sp>
    </p:spTree>
    <p:extLst>
      <p:ext uri="{BB962C8B-B14F-4D97-AF65-F5344CB8AC3E}">
        <p14:creationId xmlns:p14="http://schemas.microsoft.com/office/powerpoint/2010/main" val="2281546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CD47FF59-CEDD-3A45-9D85-71FDC1B53C38}"/>
              </a:ext>
            </a:extLst>
          </p:cNvPr>
          <p:cNvSpPr>
            <a:spLocks noGrp="1" noChangeArrowheads="1"/>
          </p:cNvSpPr>
          <p:nvPr>
            <p:ph type="title"/>
          </p:nvPr>
        </p:nvSpPr>
        <p:spPr>
          <a:xfrm>
            <a:off x="1981200" y="274638"/>
            <a:ext cx="8229600" cy="792162"/>
          </a:xfrm>
        </p:spPr>
        <p:txBody>
          <a:bodyPr/>
          <a:lstStyle/>
          <a:p>
            <a:pPr eaLnBrk="1" hangingPunct="1"/>
            <a:r>
              <a:rPr lang="en-US" altLang="en-US">
                <a:latin typeface="Times New Roman" panose="02020603050405020304" pitchFamily="18" charset="0"/>
                <a:ea typeface="ＭＳ Ｐゴシック" panose="020B0600070205080204" pitchFamily="34" charset="-128"/>
              </a:rPr>
              <a:t>Class Exercise</a:t>
            </a:r>
          </a:p>
        </p:txBody>
      </p:sp>
      <p:sp>
        <p:nvSpPr>
          <p:cNvPr id="34818" name="Text Box 4">
            <a:extLst>
              <a:ext uri="{FF2B5EF4-FFF2-40B4-BE49-F238E27FC236}">
                <a16:creationId xmlns:a16="http://schemas.microsoft.com/office/drawing/2014/main" id="{274E4FFE-E7D8-2848-8BC5-E409A9AA8883}"/>
              </a:ext>
            </a:extLst>
          </p:cNvPr>
          <p:cNvSpPr txBox="1">
            <a:spLocks noChangeArrowheads="1"/>
          </p:cNvSpPr>
          <p:nvPr/>
        </p:nvSpPr>
        <p:spPr bwMode="auto">
          <a:xfrm>
            <a:off x="2057400" y="1219200"/>
            <a:ext cx="8153400" cy="125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AutoNum type="alphaUcPeriod"/>
            </a:pPr>
            <a:r>
              <a:rPr lang="en-US" altLang="en-US" sz="2000">
                <a:latin typeface="Times New Roman" panose="02020603050405020304" pitchFamily="18" charset="0"/>
              </a:rPr>
              <a:t>Give an undirected 12 edge graph, that has an Euler cycle. </a:t>
            </a:r>
          </a:p>
          <a:p>
            <a:pPr eaLnBrk="1" hangingPunct="1">
              <a:spcBef>
                <a:spcPct val="0"/>
              </a:spcBef>
              <a:buFontTx/>
              <a:buNone/>
            </a:pPr>
            <a:endParaRPr lang="en-US" altLang="en-US" sz="2000">
              <a:latin typeface="Times New Roman" panose="02020603050405020304" pitchFamily="18" charset="0"/>
            </a:endParaRPr>
          </a:p>
          <a:p>
            <a:pPr eaLnBrk="1" hangingPunct="1">
              <a:spcBef>
                <a:spcPct val="0"/>
              </a:spcBef>
              <a:buFontTx/>
              <a:buNone/>
            </a:pPr>
            <a:r>
              <a:rPr lang="en-US" altLang="en-US" sz="1800">
                <a:latin typeface="Times New Roman" panose="02020603050405020304" pitchFamily="18" charset="0"/>
              </a:rPr>
              <a:t>B.  Can a graph with an Euler cycle have a bridge (an edge whose removal disconnects the graph)?</a:t>
            </a:r>
          </a:p>
        </p:txBody>
      </p:sp>
      <p:sp>
        <p:nvSpPr>
          <p:cNvPr id="25632" name="Text Box 32">
            <a:extLst>
              <a:ext uri="{FF2B5EF4-FFF2-40B4-BE49-F238E27FC236}">
                <a16:creationId xmlns:a16="http://schemas.microsoft.com/office/drawing/2014/main" id="{6FF0B014-1789-6244-98E8-5F63B663330F}"/>
              </a:ext>
            </a:extLst>
          </p:cNvPr>
          <p:cNvSpPr txBox="1">
            <a:spLocks noChangeArrowheads="1"/>
          </p:cNvSpPr>
          <p:nvPr/>
        </p:nvSpPr>
        <p:spPr bwMode="auto">
          <a:xfrm>
            <a:off x="2209800" y="4572001"/>
            <a:ext cx="76200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a:latin typeface="Times New Roman" panose="02020603050405020304" pitchFamily="18" charset="0"/>
              </a:rPr>
              <a:t>  B.	No.  If  you start on one side of the bridge and then you cross it the only way you can get back to where you started, is to cross the bridge again.  This means you have to travel the same edge twice and thus, a Euler cycle cannot exist.</a:t>
            </a:r>
          </a:p>
        </p:txBody>
      </p:sp>
      <p:grpSp>
        <p:nvGrpSpPr>
          <p:cNvPr id="2" name="Group 94">
            <a:extLst>
              <a:ext uri="{FF2B5EF4-FFF2-40B4-BE49-F238E27FC236}">
                <a16:creationId xmlns:a16="http://schemas.microsoft.com/office/drawing/2014/main" id="{782729B9-BF5A-0C49-8651-DA50EC5EB90E}"/>
              </a:ext>
            </a:extLst>
          </p:cNvPr>
          <p:cNvGrpSpPr>
            <a:grpSpLocks/>
          </p:cNvGrpSpPr>
          <p:nvPr/>
        </p:nvGrpSpPr>
        <p:grpSpPr bwMode="auto">
          <a:xfrm>
            <a:off x="2286000" y="2590800"/>
            <a:ext cx="7162800" cy="1976438"/>
            <a:chOff x="480" y="1632"/>
            <a:chExt cx="4512" cy="1245"/>
          </a:xfrm>
        </p:grpSpPr>
        <p:sp>
          <p:nvSpPr>
            <p:cNvPr id="34831" name="Text Box 5">
              <a:extLst>
                <a:ext uri="{FF2B5EF4-FFF2-40B4-BE49-F238E27FC236}">
                  <a16:creationId xmlns:a16="http://schemas.microsoft.com/office/drawing/2014/main" id="{71E5A783-9B65-7A49-90CC-740AF3377100}"/>
                </a:ext>
              </a:extLst>
            </p:cNvPr>
            <p:cNvSpPr txBox="1">
              <a:spLocks noChangeArrowheads="1"/>
            </p:cNvSpPr>
            <p:nvPr/>
          </p:nvSpPr>
          <p:spPr bwMode="auto">
            <a:xfrm>
              <a:off x="480" y="1776"/>
              <a:ext cx="6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800">
                  <a:latin typeface="Times New Roman" panose="02020603050405020304" pitchFamily="18" charset="0"/>
                </a:rPr>
                <a:t>Answers</a:t>
              </a:r>
            </a:p>
          </p:txBody>
        </p:sp>
        <p:sp>
          <p:nvSpPr>
            <p:cNvPr id="34832" name="Text Box 31">
              <a:extLst>
                <a:ext uri="{FF2B5EF4-FFF2-40B4-BE49-F238E27FC236}">
                  <a16:creationId xmlns:a16="http://schemas.microsoft.com/office/drawing/2014/main" id="{0DC8239F-93AC-1D49-B16C-8681770AEDF7}"/>
                </a:ext>
              </a:extLst>
            </p:cNvPr>
            <p:cNvSpPr txBox="1">
              <a:spLocks noChangeArrowheads="1"/>
            </p:cNvSpPr>
            <p:nvPr/>
          </p:nvSpPr>
          <p:spPr bwMode="auto">
            <a:xfrm>
              <a:off x="480" y="2289"/>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000">
                  <a:latin typeface="Times New Roman" panose="02020603050405020304" pitchFamily="18" charset="0"/>
                </a:rPr>
                <a:t>A.</a:t>
              </a:r>
            </a:p>
          </p:txBody>
        </p:sp>
        <p:sp>
          <p:nvSpPr>
            <p:cNvPr id="34833" name="Text Box 42">
              <a:extLst>
                <a:ext uri="{FF2B5EF4-FFF2-40B4-BE49-F238E27FC236}">
                  <a16:creationId xmlns:a16="http://schemas.microsoft.com/office/drawing/2014/main" id="{3EAF87A1-3450-E341-AC66-33DA937329DF}"/>
                </a:ext>
              </a:extLst>
            </p:cNvPr>
            <p:cNvSpPr txBox="1">
              <a:spLocks noChangeArrowheads="1"/>
            </p:cNvSpPr>
            <p:nvPr/>
          </p:nvSpPr>
          <p:spPr bwMode="auto">
            <a:xfrm>
              <a:off x="3120" y="2064"/>
              <a:ext cx="187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Char char="-"/>
              </a:pPr>
              <a:r>
                <a:rPr lang="en-US" altLang="en-US" sz="1800">
                  <a:latin typeface="Times New Roman" panose="02020603050405020304" pitchFamily="18" charset="0"/>
                </a:rPr>
                <a:t>All vertices have even degree</a:t>
              </a:r>
            </a:p>
            <a:p>
              <a:pPr eaLnBrk="1" hangingPunct="1">
                <a:spcBef>
                  <a:spcPct val="0"/>
                </a:spcBef>
                <a:buFontTx/>
                <a:buChar char="-"/>
              </a:pPr>
              <a:r>
                <a:rPr lang="en-US" altLang="en-US" sz="1800">
                  <a:latin typeface="Times New Roman" panose="02020603050405020304" pitchFamily="18" charset="0"/>
                </a:rPr>
                <a:t>Is connected</a:t>
              </a:r>
            </a:p>
          </p:txBody>
        </p:sp>
        <p:grpSp>
          <p:nvGrpSpPr>
            <p:cNvPr id="34834" name="Group 93">
              <a:extLst>
                <a:ext uri="{FF2B5EF4-FFF2-40B4-BE49-F238E27FC236}">
                  <a16:creationId xmlns:a16="http://schemas.microsoft.com/office/drawing/2014/main" id="{7B575E92-BA0E-A24E-B323-A05DC1E8EA98}"/>
                </a:ext>
              </a:extLst>
            </p:cNvPr>
            <p:cNvGrpSpPr>
              <a:grpSpLocks/>
            </p:cNvGrpSpPr>
            <p:nvPr/>
          </p:nvGrpSpPr>
          <p:grpSpPr bwMode="auto">
            <a:xfrm>
              <a:off x="1488" y="1632"/>
              <a:ext cx="1272" cy="1245"/>
              <a:chOff x="1608" y="1691"/>
              <a:chExt cx="1272" cy="1245"/>
            </a:xfrm>
          </p:grpSpPr>
          <p:sp>
            <p:nvSpPr>
              <p:cNvPr id="34835" name="Line 29">
                <a:extLst>
                  <a:ext uri="{FF2B5EF4-FFF2-40B4-BE49-F238E27FC236}">
                    <a16:creationId xmlns:a16="http://schemas.microsoft.com/office/drawing/2014/main" id="{6B715A0D-454D-724E-9668-0A97F6ACDB4A}"/>
                  </a:ext>
                </a:extLst>
              </p:cNvPr>
              <p:cNvSpPr>
                <a:spLocks noChangeShapeType="1"/>
              </p:cNvSpPr>
              <p:nvPr/>
            </p:nvSpPr>
            <p:spPr bwMode="auto">
              <a:xfrm rot="16200000" flipV="1">
                <a:off x="1608" y="2267"/>
                <a:ext cx="528"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6" name="Oval 7">
                <a:extLst>
                  <a:ext uri="{FF2B5EF4-FFF2-40B4-BE49-F238E27FC236}">
                    <a16:creationId xmlns:a16="http://schemas.microsoft.com/office/drawing/2014/main" id="{CB75934B-73F6-D74D-BBEB-651AEBDD607E}"/>
                  </a:ext>
                </a:extLst>
              </p:cNvPr>
              <p:cNvSpPr>
                <a:spLocks noChangeArrowheads="1"/>
              </p:cNvSpPr>
              <p:nvPr/>
            </p:nvSpPr>
            <p:spPr bwMode="auto">
              <a:xfrm rot="-5400000">
                <a:off x="1608" y="2699"/>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4837" name="Oval 8">
                <a:extLst>
                  <a:ext uri="{FF2B5EF4-FFF2-40B4-BE49-F238E27FC236}">
                    <a16:creationId xmlns:a16="http://schemas.microsoft.com/office/drawing/2014/main" id="{0B1EBF6E-EE34-424A-B05C-F888BDDF1C7A}"/>
                  </a:ext>
                </a:extLst>
              </p:cNvPr>
              <p:cNvSpPr>
                <a:spLocks noChangeArrowheads="1"/>
              </p:cNvSpPr>
              <p:nvPr/>
            </p:nvSpPr>
            <p:spPr bwMode="auto">
              <a:xfrm rot="-5400000">
                <a:off x="2040" y="2699"/>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4838" name="Oval 9">
                <a:extLst>
                  <a:ext uri="{FF2B5EF4-FFF2-40B4-BE49-F238E27FC236}">
                    <a16:creationId xmlns:a16="http://schemas.microsoft.com/office/drawing/2014/main" id="{DDD2F4DC-AE7F-D747-B671-51D1E7464777}"/>
                  </a:ext>
                </a:extLst>
              </p:cNvPr>
              <p:cNvSpPr>
                <a:spLocks noChangeArrowheads="1"/>
              </p:cNvSpPr>
              <p:nvPr/>
            </p:nvSpPr>
            <p:spPr bwMode="auto">
              <a:xfrm rot="-5400000">
                <a:off x="1608" y="2171"/>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4839" name="Oval 11">
                <a:extLst>
                  <a:ext uri="{FF2B5EF4-FFF2-40B4-BE49-F238E27FC236}">
                    <a16:creationId xmlns:a16="http://schemas.microsoft.com/office/drawing/2014/main" id="{89FEF4E8-DF1E-D240-9003-064D37B0B20D}"/>
                  </a:ext>
                </a:extLst>
              </p:cNvPr>
              <p:cNvSpPr>
                <a:spLocks noChangeArrowheads="1"/>
              </p:cNvSpPr>
              <p:nvPr/>
            </p:nvSpPr>
            <p:spPr bwMode="auto">
              <a:xfrm rot="-5400000">
                <a:off x="2472" y="1691"/>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4840" name="Oval 16">
                <a:extLst>
                  <a:ext uri="{FF2B5EF4-FFF2-40B4-BE49-F238E27FC236}">
                    <a16:creationId xmlns:a16="http://schemas.microsoft.com/office/drawing/2014/main" id="{A48C2D5B-E7CF-F54B-83DE-365F249A021E}"/>
                  </a:ext>
                </a:extLst>
              </p:cNvPr>
              <p:cNvSpPr>
                <a:spLocks noChangeArrowheads="1"/>
              </p:cNvSpPr>
              <p:nvPr/>
            </p:nvSpPr>
            <p:spPr bwMode="auto">
              <a:xfrm rot="-5400000">
                <a:off x="2040" y="2171"/>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4841" name="Oval 17">
                <a:extLst>
                  <a:ext uri="{FF2B5EF4-FFF2-40B4-BE49-F238E27FC236}">
                    <a16:creationId xmlns:a16="http://schemas.microsoft.com/office/drawing/2014/main" id="{3A275C9C-F168-1F4D-AB0F-C23693CC909E}"/>
                  </a:ext>
                </a:extLst>
              </p:cNvPr>
              <p:cNvSpPr>
                <a:spLocks noChangeArrowheads="1"/>
              </p:cNvSpPr>
              <p:nvPr/>
            </p:nvSpPr>
            <p:spPr bwMode="auto">
              <a:xfrm rot="-5400000">
                <a:off x="2472" y="2651"/>
                <a:ext cx="96" cy="96"/>
              </a:xfrm>
              <a:prstGeom prst="ellipse">
                <a:avLst/>
              </a:prstGeom>
              <a:solidFill>
                <a:schemeClr val="tx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sz="1800">
                  <a:latin typeface="Times New Roman" panose="02020603050405020304" pitchFamily="18" charset="0"/>
                </a:endParaRPr>
              </a:p>
            </p:txBody>
          </p:sp>
          <p:sp>
            <p:nvSpPr>
              <p:cNvPr id="34842" name="Line 18">
                <a:extLst>
                  <a:ext uri="{FF2B5EF4-FFF2-40B4-BE49-F238E27FC236}">
                    <a16:creationId xmlns:a16="http://schemas.microsoft.com/office/drawing/2014/main" id="{BBE83A69-EAC3-7B42-B73E-EF35E710BFAC}"/>
                  </a:ext>
                </a:extLst>
              </p:cNvPr>
              <p:cNvSpPr>
                <a:spLocks noChangeShapeType="1"/>
              </p:cNvSpPr>
              <p:nvPr/>
            </p:nvSpPr>
            <p:spPr bwMode="auto">
              <a:xfrm rot="-5400000">
                <a:off x="1872" y="2003"/>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3" name="Line 19">
                <a:extLst>
                  <a:ext uri="{FF2B5EF4-FFF2-40B4-BE49-F238E27FC236}">
                    <a16:creationId xmlns:a16="http://schemas.microsoft.com/office/drawing/2014/main" id="{3FC09C18-30D0-A34F-AA53-CBDB1F400BCA}"/>
                  </a:ext>
                </a:extLst>
              </p:cNvPr>
              <p:cNvSpPr>
                <a:spLocks noChangeShapeType="1"/>
              </p:cNvSpPr>
              <p:nvPr/>
            </p:nvSpPr>
            <p:spPr bwMode="auto">
              <a:xfrm rot="-5400000">
                <a:off x="1872" y="2531"/>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4" name="Line 20">
                <a:extLst>
                  <a:ext uri="{FF2B5EF4-FFF2-40B4-BE49-F238E27FC236}">
                    <a16:creationId xmlns:a16="http://schemas.microsoft.com/office/drawing/2014/main" id="{63747074-6629-B94F-8AA4-F1F2C5C3FC7B}"/>
                  </a:ext>
                </a:extLst>
              </p:cNvPr>
              <p:cNvSpPr>
                <a:spLocks noChangeShapeType="1"/>
              </p:cNvSpPr>
              <p:nvPr/>
            </p:nvSpPr>
            <p:spPr bwMode="auto">
              <a:xfrm rot="-5400000">
                <a:off x="1848" y="1547"/>
                <a:ext cx="480" cy="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5" name="Line 21">
                <a:extLst>
                  <a:ext uri="{FF2B5EF4-FFF2-40B4-BE49-F238E27FC236}">
                    <a16:creationId xmlns:a16="http://schemas.microsoft.com/office/drawing/2014/main" id="{29919D39-B583-D649-9C25-B2ACC8A6EC1E}"/>
                  </a:ext>
                </a:extLst>
              </p:cNvPr>
              <p:cNvSpPr>
                <a:spLocks noChangeShapeType="1"/>
              </p:cNvSpPr>
              <p:nvPr/>
            </p:nvSpPr>
            <p:spPr bwMode="auto">
              <a:xfrm rot="-5400000">
                <a:off x="1392" y="2483"/>
                <a:ext cx="5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6" name="Line 22">
                <a:extLst>
                  <a:ext uri="{FF2B5EF4-FFF2-40B4-BE49-F238E27FC236}">
                    <a16:creationId xmlns:a16="http://schemas.microsoft.com/office/drawing/2014/main" id="{67EAEBD8-4A5E-2D44-B728-2559C45D67AE}"/>
                  </a:ext>
                </a:extLst>
              </p:cNvPr>
              <p:cNvSpPr>
                <a:spLocks noChangeShapeType="1"/>
              </p:cNvSpPr>
              <p:nvPr/>
            </p:nvSpPr>
            <p:spPr bwMode="auto">
              <a:xfrm rot="16200000" flipV="1">
                <a:off x="2064" y="2243"/>
                <a:ext cx="48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7" name="Line 24">
                <a:extLst>
                  <a:ext uri="{FF2B5EF4-FFF2-40B4-BE49-F238E27FC236}">
                    <a16:creationId xmlns:a16="http://schemas.microsoft.com/office/drawing/2014/main" id="{C42475BA-92E7-BB4C-850F-E618B3501A94}"/>
                  </a:ext>
                </a:extLst>
              </p:cNvPr>
              <p:cNvSpPr>
                <a:spLocks noChangeShapeType="1"/>
              </p:cNvSpPr>
              <p:nvPr/>
            </p:nvSpPr>
            <p:spPr bwMode="auto">
              <a:xfrm rot="-5400000">
                <a:off x="1608" y="2267"/>
                <a:ext cx="528"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8" name="Line 27">
                <a:extLst>
                  <a:ext uri="{FF2B5EF4-FFF2-40B4-BE49-F238E27FC236}">
                    <a16:creationId xmlns:a16="http://schemas.microsoft.com/office/drawing/2014/main" id="{5872B097-7A6C-0C4F-8291-182F67438603}"/>
                  </a:ext>
                </a:extLst>
              </p:cNvPr>
              <p:cNvSpPr>
                <a:spLocks noChangeShapeType="1"/>
              </p:cNvSpPr>
              <p:nvPr/>
            </p:nvSpPr>
            <p:spPr bwMode="auto">
              <a:xfrm rot="-5400000">
                <a:off x="2064" y="1763"/>
                <a:ext cx="48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9" name="Line 37">
                <a:extLst>
                  <a:ext uri="{FF2B5EF4-FFF2-40B4-BE49-F238E27FC236}">
                    <a16:creationId xmlns:a16="http://schemas.microsoft.com/office/drawing/2014/main" id="{302C4C36-9F57-D548-85A3-5A678BB688F0}"/>
                  </a:ext>
                </a:extLst>
              </p:cNvPr>
              <p:cNvSpPr>
                <a:spLocks noChangeShapeType="1"/>
              </p:cNvSpPr>
              <p:nvPr/>
            </p:nvSpPr>
            <p:spPr bwMode="auto">
              <a:xfrm rot="-5400000">
                <a:off x="2040" y="2219"/>
                <a:ext cx="9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0" name="Freeform 91">
                <a:extLst>
                  <a:ext uri="{FF2B5EF4-FFF2-40B4-BE49-F238E27FC236}">
                    <a16:creationId xmlns:a16="http://schemas.microsoft.com/office/drawing/2014/main" id="{9449EFB9-EC64-6E4C-BD48-D26239256CA6}"/>
                  </a:ext>
                </a:extLst>
              </p:cNvPr>
              <p:cNvSpPr>
                <a:spLocks/>
              </p:cNvSpPr>
              <p:nvPr/>
            </p:nvSpPr>
            <p:spPr bwMode="auto">
              <a:xfrm>
                <a:off x="1680" y="1776"/>
                <a:ext cx="1200" cy="1160"/>
              </a:xfrm>
              <a:custGeom>
                <a:avLst/>
                <a:gdLst>
                  <a:gd name="T0" fmla="*/ 0 w 1200"/>
                  <a:gd name="T1" fmla="*/ 960 h 1160"/>
                  <a:gd name="T2" fmla="*/ 336 w 1200"/>
                  <a:gd name="T3" fmla="*/ 1152 h 1160"/>
                  <a:gd name="T4" fmla="*/ 864 w 1200"/>
                  <a:gd name="T5" fmla="*/ 912 h 1160"/>
                  <a:gd name="T6" fmla="*/ 1200 w 1200"/>
                  <a:gd name="T7" fmla="*/ 528 h 1160"/>
                  <a:gd name="T8" fmla="*/ 864 w 1200"/>
                  <a:gd name="T9" fmla="*/ 0 h 1160"/>
                  <a:gd name="T10" fmla="*/ 0 60000 65536"/>
                  <a:gd name="T11" fmla="*/ 0 60000 65536"/>
                  <a:gd name="T12" fmla="*/ 0 60000 65536"/>
                  <a:gd name="T13" fmla="*/ 0 60000 65536"/>
                  <a:gd name="T14" fmla="*/ 0 60000 65536"/>
                  <a:gd name="T15" fmla="*/ 0 w 1200"/>
                  <a:gd name="T16" fmla="*/ 0 h 1160"/>
                  <a:gd name="T17" fmla="*/ 1200 w 1200"/>
                  <a:gd name="T18" fmla="*/ 1160 h 1160"/>
                </a:gdLst>
                <a:ahLst/>
                <a:cxnLst>
                  <a:cxn ang="T10">
                    <a:pos x="T0" y="T1"/>
                  </a:cxn>
                  <a:cxn ang="T11">
                    <a:pos x="T2" y="T3"/>
                  </a:cxn>
                  <a:cxn ang="T12">
                    <a:pos x="T4" y="T5"/>
                  </a:cxn>
                  <a:cxn ang="T13">
                    <a:pos x="T6" y="T7"/>
                  </a:cxn>
                  <a:cxn ang="T14">
                    <a:pos x="T8" y="T9"/>
                  </a:cxn>
                </a:cxnLst>
                <a:rect l="T15" t="T16" r="T17" b="T18"/>
                <a:pathLst>
                  <a:path w="1200" h="1160">
                    <a:moveTo>
                      <a:pt x="0" y="960"/>
                    </a:moveTo>
                    <a:cubicBezTo>
                      <a:pt x="96" y="1060"/>
                      <a:pt x="192" y="1160"/>
                      <a:pt x="336" y="1152"/>
                    </a:cubicBezTo>
                    <a:cubicBezTo>
                      <a:pt x="480" y="1144"/>
                      <a:pt x="720" y="1016"/>
                      <a:pt x="864" y="912"/>
                    </a:cubicBezTo>
                    <a:cubicBezTo>
                      <a:pt x="1008" y="808"/>
                      <a:pt x="1200" y="680"/>
                      <a:pt x="1200" y="528"/>
                    </a:cubicBezTo>
                    <a:cubicBezTo>
                      <a:pt x="1200" y="376"/>
                      <a:pt x="920" y="88"/>
                      <a:pt x="864"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sp>
        <p:nvSpPr>
          <p:cNvPr id="25692" name="Freeform 92">
            <a:extLst>
              <a:ext uri="{FF2B5EF4-FFF2-40B4-BE49-F238E27FC236}">
                <a16:creationId xmlns:a16="http://schemas.microsoft.com/office/drawing/2014/main" id="{B8E4A078-9A04-7947-824C-4DADAA3F5ED7}"/>
              </a:ext>
            </a:extLst>
          </p:cNvPr>
          <p:cNvSpPr>
            <a:spLocks/>
          </p:cNvSpPr>
          <p:nvPr/>
        </p:nvSpPr>
        <p:spPr bwMode="auto">
          <a:xfrm>
            <a:off x="3962400" y="2743200"/>
            <a:ext cx="1981200" cy="1828800"/>
          </a:xfrm>
          <a:custGeom>
            <a:avLst/>
            <a:gdLst>
              <a:gd name="T0" fmla="*/ 0 w 1200"/>
              <a:gd name="T1" fmla="*/ 2147483646 h 1160"/>
              <a:gd name="T2" fmla="*/ 2147483646 w 1200"/>
              <a:gd name="T3" fmla="*/ 2147483646 h 1160"/>
              <a:gd name="T4" fmla="*/ 2147483646 w 1200"/>
              <a:gd name="T5" fmla="*/ 2147483646 h 1160"/>
              <a:gd name="T6" fmla="*/ 2147483646 w 1200"/>
              <a:gd name="T7" fmla="*/ 2147483646 h 1160"/>
              <a:gd name="T8" fmla="*/ 2147483646 w 1200"/>
              <a:gd name="T9" fmla="*/ 0 h 1160"/>
              <a:gd name="T10" fmla="*/ 0 60000 65536"/>
              <a:gd name="T11" fmla="*/ 0 60000 65536"/>
              <a:gd name="T12" fmla="*/ 0 60000 65536"/>
              <a:gd name="T13" fmla="*/ 0 60000 65536"/>
              <a:gd name="T14" fmla="*/ 0 60000 65536"/>
              <a:gd name="T15" fmla="*/ 0 w 1200"/>
              <a:gd name="T16" fmla="*/ 0 h 1160"/>
              <a:gd name="T17" fmla="*/ 1200 w 1200"/>
              <a:gd name="T18" fmla="*/ 1160 h 1160"/>
            </a:gdLst>
            <a:ahLst/>
            <a:cxnLst>
              <a:cxn ang="T10">
                <a:pos x="T0" y="T1"/>
              </a:cxn>
              <a:cxn ang="T11">
                <a:pos x="T2" y="T3"/>
              </a:cxn>
              <a:cxn ang="T12">
                <a:pos x="T4" y="T5"/>
              </a:cxn>
              <a:cxn ang="T13">
                <a:pos x="T6" y="T7"/>
              </a:cxn>
              <a:cxn ang="T14">
                <a:pos x="T8" y="T9"/>
              </a:cxn>
            </a:cxnLst>
            <a:rect l="T15" t="T16" r="T17" b="T18"/>
            <a:pathLst>
              <a:path w="1200" h="1160">
                <a:moveTo>
                  <a:pt x="0" y="960"/>
                </a:moveTo>
                <a:cubicBezTo>
                  <a:pt x="96" y="1060"/>
                  <a:pt x="192" y="1160"/>
                  <a:pt x="336" y="1152"/>
                </a:cubicBezTo>
                <a:cubicBezTo>
                  <a:pt x="480" y="1144"/>
                  <a:pt x="720" y="1016"/>
                  <a:pt x="864" y="912"/>
                </a:cubicBezTo>
                <a:cubicBezTo>
                  <a:pt x="1008" y="808"/>
                  <a:pt x="1200" y="680"/>
                  <a:pt x="1200" y="528"/>
                </a:cubicBezTo>
                <a:cubicBezTo>
                  <a:pt x="1200" y="376"/>
                  <a:pt x="920" y="88"/>
                  <a:pt x="864" y="0"/>
                </a:cubicBezTo>
              </a:path>
            </a:pathLst>
          </a:custGeom>
          <a:noFill/>
          <a:ln w="158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667" name="Line 67">
            <a:extLst>
              <a:ext uri="{FF2B5EF4-FFF2-40B4-BE49-F238E27FC236}">
                <a16:creationId xmlns:a16="http://schemas.microsoft.com/office/drawing/2014/main" id="{22B10824-3F17-0A41-B10F-20AF1B1560D4}"/>
              </a:ext>
            </a:extLst>
          </p:cNvPr>
          <p:cNvSpPr>
            <a:spLocks noChangeShapeType="1"/>
          </p:cNvSpPr>
          <p:nvPr/>
        </p:nvSpPr>
        <p:spPr bwMode="auto">
          <a:xfrm>
            <a:off x="3962400" y="3429000"/>
            <a:ext cx="6858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8" name="Line 68">
            <a:extLst>
              <a:ext uri="{FF2B5EF4-FFF2-40B4-BE49-F238E27FC236}">
                <a16:creationId xmlns:a16="http://schemas.microsoft.com/office/drawing/2014/main" id="{E1EC9DB9-8028-B644-AFED-C1D58EBA86A6}"/>
              </a:ext>
            </a:extLst>
          </p:cNvPr>
          <p:cNvSpPr>
            <a:spLocks noChangeShapeType="1"/>
          </p:cNvSpPr>
          <p:nvPr/>
        </p:nvSpPr>
        <p:spPr bwMode="auto">
          <a:xfrm>
            <a:off x="3962400" y="3429000"/>
            <a:ext cx="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9" name="Line 69">
            <a:extLst>
              <a:ext uri="{FF2B5EF4-FFF2-40B4-BE49-F238E27FC236}">
                <a16:creationId xmlns:a16="http://schemas.microsoft.com/office/drawing/2014/main" id="{DC98BBF3-2BC1-164A-A4AF-1119DA1063F3}"/>
              </a:ext>
            </a:extLst>
          </p:cNvPr>
          <p:cNvSpPr>
            <a:spLocks noChangeShapeType="1"/>
          </p:cNvSpPr>
          <p:nvPr/>
        </p:nvSpPr>
        <p:spPr bwMode="auto">
          <a:xfrm>
            <a:off x="3962400" y="4267200"/>
            <a:ext cx="6858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1" name="Line 71">
            <a:extLst>
              <a:ext uri="{FF2B5EF4-FFF2-40B4-BE49-F238E27FC236}">
                <a16:creationId xmlns:a16="http://schemas.microsoft.com/office/drawing/2014/main" id="{4FB233A0-8DFF-C34D-9D9C-D9C1E563630A}"/>
              </a:ext>
            </a:extLst>
          </p:cNvPr>
          <p:cNvSpPr>
            <a:spLocks noChangeShapeType="1"/>
          </p:cNvSpPr>
          <p:nvPr/>
        </p:nvSpPr>
        <p:spPr bwMode="auto">
          <a:xfrm flipV="1">
            <a:off x="3962400" y="3429000"/>
            <a:ext cx="6858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2" name="Line 72">
            <a:extLst>
              <a:ext uri="{FF2B5EF4-FFF2-40B4-BE49-F238E27FC236}">
                <a16:creationId xmlns:a16="http://schemas.microsoft.com/office/drawing/2014/main" id="{D02947BB-4427-4342-B4F0-AC1840950BAF}"/>
              </a:ext>
            </a:extLst>
          </p:cNvPr>
          <p:cNvSpPr>
            <a:spLocks noChangeShapeType="1"/>
          </p:cNvSpPr>
          <p:nvPr/>
        </p:nvSpPr>
        <p:spPr bwMode="auto">
          <a:xfrm flipH="1" flipV="1">
            <a:off x="3962400" y="3429000"/>
            <a:ext cx="685800" cy="838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3" name="Line 73">
            <a:extLst>
              <a:ext uri="{FF2B5EF4-FFF2-40B4-BE49-F238E27FC236}">
                <a16:creationId xmlns:a16="http://schemas.microsoft.com/office/drawing/2014/main" id="{B590EA61-4D62-1844-BDB7-C92AF091A48F}"/>
              </a:ext>
            </a:extLst>
          </p:cNvPr>
          <p:cNvSpPr>
            <a:spLocks noChangeShapeType="1"/>
          </p:cNvSpPr>
          <p:nvPr/>
        </p:nvSpPr>
        <p:spPr bwMode="auto">
          <a:xfrm flipH="1">
            <a:off x="3962400" y="2667000"/>
            <a:ext cx="13716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4" name="Line 74">
            <a:extLst>
              <a:ext uri="{FF2B5EF4-FFF2-40B4-BE49-F238E27FC236}">
                <a16:creationId xmlns:a16="http://schemas.microsoft.com/office/drawing/2014/main" id="{EBF5C529-EB46-E040-8233-0E1FC4CC0ADF}"/>
              </a:ext>
            </a:extLst>
          </p:cNvPr>
          <p:cNvSpPr>
            <a:spLocks noChangeShapeType="1"/>
          </p:cNvSpPr>
          <p:nvPr/>
        </p:nvSpPr>
        <p:spPr bwMode="auto">
          <a:xfrm flipH="1">
            <a:off x="4648200" y="2667000"/>
            <a:ext cx="685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5" name="Line 75">
            <a:extLst>
              <a:ext uri="{FF2B5EF4-FFF2-40B4-BE49-F238E27FC236}">
                <a16:creationId xmlns:a16="http://schemas.microsoft.com/office/drawing/2014/main" id="{98B73A1E-9DBE-F14C-9210-71253DBDB546}"/>
              </a:ext>
            </a:extLst>
          </p:cNvPr>
          <p:cNvSpPr>
            <a:spLocks noChangeShapeType="1"/>
          </p:cNvSpPr>
          <p:nvPr/>
        </p:nvSpPr>
        <p:spPr bwMode="auto">
          <a:xfrm flipH="1">
            <a:off x="5334000" y="2667000"/>
            <a:ext cx="0" cy="1524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6" name="Line 76">
            <a:extLst>
              <a:ext uri="{FF2B5EF4-FFF2-40B4-BE49-F238E27FC236}">
                <a16:creationId xmlns:a16="http://schemas.microsoft.com/office/drawing/2014/main" id="{C45A184B-E3AB-7648-A020-E11C551C384F}"/>
              </a:ext>
            </a:extLst>
          </p:cNvPr>
          <p:cNvSpPr>
            <a:spLocks noChangeShapeType="1"/>
          </p:cNvSpPr>
          <p:nvPr/>
        </p:nvSpPr>
        <p:spPr bwMode="auto">
          <a:xfrm flipH="1" flipV="1">
            <a:off x="4648200" y="3429000"/>
            <a:ext cx="685800" cy="762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1890337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4" fill="hold" nodeType="afterEffect">
                                  <p:stCondLst>
                                    <p:cond delay="0"/>
                                  </p:stCondLst>
                                  <p:childTnLst>
                                    <p:set>
                                      <p:cBhvr>
                                        <p:cTn id="9" dur="1" fill="hold">
                                          <p:stCondLst>
                                            <p:cond delay="0"/>
                                          </p:stCondLst>
                                        </p:cTn>
                                        <p:tgtEl>
                                          <p:spTgt spid="25668"/>
                                        </p:tgtEl>
                                        <p:attrNameLst>
                                          <p:attrName>style.visibility</p:attrName>
                                        </p:attrNameLst>
                                      </p:cBhvr>
                                      <p:to>
                                        <p:strVal val="visible"/>
                                      </p:to>
                                    </p:set>
                                    <p:animEffect transition="in" filter="wipe(down)">
                                      <p:cBhvr>
                                        <p:cTn id="10" dur="500"/>
                                        <p:tgtEl>
                                          <p:spTgt spid="25668"/>
                                        </p:tgtEl>
                                      </p:cBhvr>
                                    </p:animEffect>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25667"/>
                                        </p:tgtEl>
                                        <p:attrNameLst>
                                          <p:attrName>style.visibility</p:attrName>
                                        </p:attrNameLst>
                                      </p:cBhvr>
                                      <p:to>
                                        <p:strVal val="visible"/>
                                      </p:to>
                                    </p:set>
                                    <p:animEffect transition="in" filter="wipe(left)">
                                      <p:cBhvr>
                                        <p:cTn id="14" dur="500"/>
                                        <p:tgtEl>
                                          <p:spTgt spid="25667"/>
                                        </p:tgtEl>
                                      </p:cBhvr>
                                    </p:animEffect>
                                  </p:childTnLst>
                                </p:cTn>
                              </p:par>
                            </p:childTnLst>
                          </p:cTn>
                        </p:par>
                        <p:par>
                          <p:cTn id="15" fill="hold" nodeType="afterGroup">
                            <p:stCondLst>
                              <p:cond delay="1000"/>
                            </p:stCondLst>
                            <p:childTnLst>
                              <p:par>
                                <p:cTn id="16" presetID="22" presetClass="entr" presetSubtype="1" fill="hold" nodeType="afterEffect">
                                  <p:stCondLst>
                                    <p:cond delay="0"/>
                                  </p:stCondLst>
                                  <p:childTnLst>
                                    <p:set>
                                      <p:cBhvr>
                                        <p:cTn id="17" dur="1" fill="hold">
                                          <p:stCondLst>
                                            <p:cond delay="0"/>
                                          </p:stCondLst>
                                        </p:cTn>
                                        <p:tgtEl>
                                          <p:spTgt spid="25671"/>
                                        </p:tgtEl>
                                        <p:attrNameLst>
                                          <p:attrName>style.visibility</p:attrName>
                                        </p:attrNameLst>
                                      </p:cBhvr>
                                      <p:to>
                                        <p:strVal val="visible"/>
                                      </p:to>
                                    </p:set>
                                    <p:animEffect transition="in" filter="wipe(up)">
                                      <p:cBhvr>
                                        <p:cTn id="18" dur="500"/>
                                        <p:tgtEl>
                                          <p:spTgt spid="25671"/>
                                        </p:tgtEl>
                                      </p:cBhvr>
                                    </p:animEffect>
                                  </p:childTnLst>
                                </p:cTn>
                              </p:par>
                            </p:childTnLst>
                          </p:cTn>
                        </p:par>
                        <p:par>
                          <p:cTn id="19" fill="hold" nodeType="afterGroup">
                            <p:stCondLst>
                              <p:cond delay="1500"/>
                            </p:stCondLst>
                            <p:childTnLst>
                              <p:par>
                                <p:cTn id="20" presetID="22" presetClass="entr" presetSubtype="8" fill="hold" nodeType="afterEffect">
                                  <p:stCondLst>
                                    <p:cond delay="0"/>
                                  </p:stCondLst>
                                  <p:childTnLst>
                                    <p:set>
                                      <p:cBhvr>
                                        <p:cTn id="21" dur="1" fill="hold">
                                          <p:stCondLst>
                                            <p:cond delay="0"/>
                                          </p:stCondLst>
                                        </p:cTn>
                                        <p:tgtEl>
                                          <p:spTgt spid="25669"/>
                                        </p:tgtEl>
                                        <p:attrNameLst>
                                          <p:attrName>style.visibility</p:attrName>
                                        </p:attrNameLst>
                                      </p:cBhvr>
                                      <p:to>
                                        <p:strVal val="visible"/>
                                      </p:to>
                                    </p:set>
                                    <p:animEffect transition="in" filter="wipe(left)">
                                      <p:cBhvr>
                                        <p:cTn id="22" dur="500"/>
                                        <p:tgtEl>
                                          <p:spTgt spid="25669"/>
                                        </p:tgtEl>
                                      </p:cBhvr>
                                    </p:animEffect>
                                  </p:childTnLst>
                                </p:cTn>
                              </p:par>
                            </p:childTnLst>
                          </p:cTn>
                        </p:par>
                        <p:par>
                          <p:cTn id="23" fill="hold" nodeType="afterGroup">
                            <p:stCondLst>
                              <p:cond delay="2000"/>
                            </p:stCondLst>
                            <p:childTnLst>
                              <p:par>
                                <p:cTn id="24" presetID="22" presetClass="entr" presetSubtype="4" fill="hold" nodeType="afterEffect">
                                  <p:stCondLst>
                                    <p:cond delay="0"/>
                                  </p:stCondLst>
                                  <p:childTnLst>
                                    <p:set>
                                      <p:cBhvr>
                                        <p:cTn id="25" dur="1" fill="hold">
                                          <p:stCondLst>
                                            <p:cond delay="0"/>
                                          </p:stCondLst>
                                        </p:cTn>
                                        <p:tgtEl>
                                          <p:spTgt spid="25672"/>
                                        </p:tgtEl>
                                        <p:attrNameLst>
                                          <p:attrName>style.visibility</p:attrName>
                                        </p:attrNameLst>
                                      </p:cBhvr>
                                      <p:to>
                                        <p:strVal val="visible"/>
                                      </p:to>
                                    </p:set>
                                    <p:animEffect transition="in" filter="wipe(down)">
                                      <p:cBhvr>
                                        <p:cTn id="26" dur="500"/>
                                        <p:tgtEl>
                                          <p:spTgt spid="25672"/>
                                        </p:tgtEl>
                                      </p:cBhvr>
                                    </p:animEffect>
                                  </p:childTnLst>
                                </p:cTn>
                              </p:par>
                            </p:childTnLst>
                          </p:cTn>
                        </p:par>
                        <p:par>
                          <p:cTn id="27" fill="hold" nodeType="afterGroup">
                            <p:stCondLst>
                              <p:cond delay="2500"/>
                            </p:stCondLst>
                            <p:childTnLst>
                              <p:par>
                                <p:cTn id="28" presetID="22" presetClass="entr" presetSubtype="4" fill="hold" nodeType="afterEffect">
                                  <p:stCondLst>
                                    <p:cond delay="0"/>
                                  </p:stCondLst>
                                  <p:childTnLst>
                                    <p:set>
                                      <p:cBhvr>
                                        <p:cTn id="29" dur="1" fill="hold">
                                          <p:stCondLst>
                                            <p:cond delay="0"/>
                                          </p:stCondLst>
                                        </p:cTn>
                                        <p:tgtEl>
                                          <p:spTgt spid="25673"/>
                                        </p:tgtEl>
                                        <p:attrNameLst>
                                          <p:attrName>style.visibility</p:attrName>
                                        </p:attrNameLst>
                                      </p:cBhvr>
                                      <p:to>
                                        <p:strVal val="visible"/>
                                      </p:to>
                                    </p:set>
                                    <p:animEffect transition="in" filter="wipe(down)">
                                      <p:cBhvr>
                                        <p:cTn id="30" dur="500"/>
                                        <p:tgtEl>
                                          <p:spTgt spid="25673"/>
                                        </p:tgtEl>
                                      </p:cBhvr>
                                    </p:animEffect>
                                  </p:childTnLst>
                                </p:cTn>
                              </p:par>
                            </p:childTnLst>
                          </p:cTn>
                        </p:par>
                        <p:par>
                          <p:cTn id="31" fill="hold" nodeType="afterGroup">
                            <p:stCondLst>
                              <p:cond delay="3000"/>
                            </p:stCondLst>
                            <p:childTnLst>
                              <p:par>
                                <p:cTn id="32" presetID="22" presetClass="entr" presetSubtype="1" fill="hold" nodeType="afterEffect">
                                  <p:stCondLst>
                                    <p:cond delay="0"/>
                                  </p:stCondLst>
                                  <p:childTnLst>
                                    <p:set>
                                      <p:cBhvr>
                                        <p:cTn id="33" dur="1" fill="hold">
                                          <p:stCondLst>
                                            <p:cond delay="0"/>
                                          </p:stCondLst>
                                        </p:cTn>
                                        <p:tgtEl>
                                          <p:spTgt spid="25674"/>
                                        </p:tgtEl>
                                        <p:attrNameLst>
                                          <p:attrName>style.visibility</p:attrName>
                                        </p:attrNameLst>
                                      </p:cBhvr>
                                      <p:to>
                                        <p:strVal val="visible"/>
                                      </p:to>
                                    </p:set>
                                    <p:animEffect transition="in" filter="wipe(up)">
                                      <p:cBhvr>
                                        <p:cTn id="34" dur="500"/>
                                        <p:tgtEl>
                                          <p:spTgt spid="25674"/>
                                        </p:tgtEl>
                                      </p:cBhvr>
                                    </p:animEffect>
                                  </p:childTnLst>
                                </p:cTn>
                              </p:par>
                            </p:childTnLst>
                          </p:cTn>
                        </p:par>
                        <p:par>
                          <p:cTn id="35" fill="hold" nodeType="afterGroup">
                            <p:stCondLst>
                              <p:cond delay="3500"/>
                            </p:stCondLst>
                            <p:childTnLst>
                              <p:par>
                                <p:cTn id="36" presetID="22" presetClass="entr" presetSubtype="1" fill="hold" nodeType="afterEffect">
                                  <p:stCondLst>
                                    <p:cond delay="0"/>
                                  </p:stCondLst>
                                  <p:childTnLst>
                                    <p:set>
                                      <p:cBhvr>
                                        <p:cTn id="37" dur="1" fill="hold">
                                          <p:stCondLst>
                                            <p:cond delay="0"/>
                                          </p:stCondLst>
                                        </p:cTn>
                                        <p:tgtEl>
                                          <p:spTgt spid="25676"/>
                                        </p:tgtEl>
                                        <p:attrNameLst>
                                          <p:attrName>style.visibility</p:attrName>
                                        </p:attrNameLst>
                                      </p:cBhvr>
                                      <p:to>
                                        <p:strVal val="visible"/>
                                      </p:to>
                                    </p:set>
                                    <p:animEffect transition="in" filter="wipe(up)">
                                      <p:cBhvr>
                                        <p:cTn id="38" dur="500"/>
                                        <p:tgtEl>
                                          <p:spTgt spid="25676"/>
                                        </p:tgtEl>
                                      </p:cBhvr>
                                    </p:animEffect>
                                  </p:childTnLst>
                                </p:cTn>
                              </p:par>
                            </p:childTnLst>
                          </p:cTn>
                        </p:par>
                        <p:par>
                          <p:cTn id="39" fill="hold" nodeType="afterGroup">
                            <p:stCondLst>
                              <p:cond delay="4000"/>
                            </p:stCondLst>
                            <p:childTnLst>
                              <p:par>
                                <p:cTn id="40" presetID="22" presetClass="entr" presetSubtype="4" fill="hold" nodeType="afterEffect">
                                  <p:stCondLst>
                                    <p:cond delay="0"/>
                                  </p:stCondLst>
                                  <p:childTnLst>
                                    <p:set>
                                      <p:cBhvr>
                                        <p:cTn id="41" dur="1" fill="hold">
                                          <p:stCondLst>
                                            <p:cond delay="0"/>
                                          </p:stCondLst>
                                        </p:cTn>
                                        <p:tgtEl>
                                          <p:spTgt spid="25675"/>
                                        </p:tgtEl>
                                        <p:attrNameLst>
                                          <p:attrName>style.visibility</p:attrName>
                                        </p:attrNameLst>
                                      </p:cBhvr>
                                      <p:to>
                                        <p:strVal val="visible"/>
                                      </p:to>
                                    </p:set>
                                    <p:animEffect transition="in" filter="wipe(down)">
                                      <p:cBhvr>
                                        <p:cTn id="42" dur="500"/>
                                        <p:tgtEl>
                                          <p:spTgt spid="25675"/>
                                        </p:tgtEl>
                                      </p:cBhvr>
                                    </p:animEffect>
                                  </p:childTnLst>
                                </p:cTn>
                              </p:par>
                            </p:childTnLst>
                          </p:cTn>
                        </p:par>
                        <p:par>
                          <p:cTn id="43" fill="hold" nodeType="afterGroup">
                            <p:stCondLst>
                              <p:cond delay="4500"/>
                            </p:stCondLst>
                            <p:childTnLst>
                              <p:par>
                                <p:cTn id="44" presetID="22" presetClass="entr" presetSubtype="1" fill="hold" nodeType="afterEffect">
                                  <p:stCondLst>
                                    <p:cond delay="0"/>
                                  </p:stCondLst>
                                  <p:childTnLst>
                                    <p:set>
                                      <p:cBhvr>
                                        <p:cTn id="45" dur="1" fill="hold">
                                          <p:stCondLst>
                                            <p:cond delay="0"/>
                                          </p:stCondLst>
                                        </p:cTn>
                                        <p:tgtEl>
                                          <p:spTgt spid="25692"/>
                                        </p:tgtEl>
                                        <p:attrNameLst>
                                          <p:attrName>style.visibility</p:attrName>
                                        </p:attrNameLst>
                                      </p:cBhvr>
                                      <p:to>
                                        <p:strVal val="visible"/>
                                      </p:to>
                                    </p:set>
                                    <p:animEffect transition="in" filter="wipe(up)">
                                      <p:cBhvr>
                                        <p:cTn id="46" dur="500"/>
                                        <p:tgtEl>
                                          <p:spTgt spid="2569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56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6">
            <a:extLst>
              <a:ext uri="{FF2B5EF4-FFF2-40B4-BE49-F238E27FC236}">
                <a16:creationId xmlns:a16="http://schemas.microsoft.com/office/drawing/2014/main" id="{D5F8C810-73F4-EB41-8FA2-6AEEA7C69F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914401"/>
            <a:ext cx="3962400"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6816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A48D1-7925-4246-89E8-22030731E0CE}"/>
              </a:ext>
            </a:extLst>
          </p:cNvPr>
          <p:cNvSpPr>
            <a:spLocks noGrp="1"/>
          </p:cNvSpPr>
          <p:nvPr>
            <p:ph type="title"/>
          </p:nvPr>
        </p:nvSpPr>
        <p:spPr/>
        <p:txBody>
          <a:bodyPr/>
          <a:lstStyle/>
          <a:p>
            <a:r>
              <a:rPr lang="en-US" sz="3600" b="1" dirty="0"/>
              <a:t>Summary of Previous Class</a:t>
            </a:r>
          </a:p>
        </p:txBody>
      </p:sp>
      <p:sp>
        <p:nvSpPr>
          <p:cNvPr id="6" name="Content Placeholder 5">
            <a:extLst>
              <a:ext uri="{FF2B5EF4-FFF2-40B4-BE49-F238E27FC236}">
                <a16:creationId xmlns:a16="http://schemas.microsoft.com/office/drawing/2014/main" id="{FB8CA4D5-6AC5-3A42-BFCC-C138E103818A}"/>
              </a:ext>
            </a:extLst>
          </p:cNvPr>
          <p:cNvSpPr>
            <a:spLocks noGrp="1"/>
          </p:cNvSpPr>
          <p:nvPr>
            <p:ph idx="1"/>
          </p:nvPr>
        </p:nvSpPr>
        <p:spPr/>
        <p:txBody>
          <a:bodyPr/>
          <a:lstStyle/>
          <a:p>
            <a:r>
              <a:rPr lang="en-US" dirty="0"/>
              <a:t>Euler cycle/trail</a:t>
            </a:r>
          </a:p>
          <a:p>
            <a:r>
              <a:rPr lang="en-US" dirty="0"/>
              <a:t>Existence of Euler cycle/trail</a:t>
            </a:r>
          </a:p>
          <a:p>
            <a:r>
              <a:rPr lang="en-US" dirty="0"/>
              <a:t>Euler cycle/trail on complete graphs</a:t>
            </a:r>
          </a:p>
          <a:p>
            <a:r>
              <a:rPr lang="en-US" dirty="0"/>
              <a:t>The street sweeper’s solution</a:t>
            </a:r>
          </a:p>
          <a:p>
            <a:pPr lvl="1"/>
            <a:r>
              <a:rPr lang="en-US" dirty="0"/>
              <a:t>The street sweeper want to walk through every street without repeating them</a:t>
            </a:r>
          </a:p>
          <a:p>
            <a:endParaRPr lang="en-US" dirty="0"/>
          </a:p>
        </p:txBody>
      </p:sp>
    </p:spTree>
    <p:extLst>
      <p:ext uri="{BB962C8B-B14F-4D97-AF65-F5344CB8AC3E}">
        <p14:creationId xmlns:p14="http://schemas.microsoft.com/office/powerpoint/2010/main" val="327342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Content Placeholder 8">
            <a:extLst>
              <a:ext uri="{FF2B5EF4-FFF2-40B4-BE49-F238E27FC236}">
                <a16:creationId xmlns:a16="http://schemas.microsoft.com/office/drawing/2014/main" id="{4E23A2BB-EF56-8746-9846-43294A3D70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038600" y="1828801"/>
            <a:ext cx="3505200" cy="3471863"/>
          </a:xfrm>
        </p:spPr>
      </p:pic>
      <p:sp>
        <p:nvSpPr>
          <p:cNvPr id="2" name="Title 1">
            <a:extLst>
              <a:ext uri="{FF2B5EF4-FFF2-40B4-BE49-F238E27FC236}">
                <a16:creationId xmlns:a16="http://schemas.microsoft.com/office/drawing/2014/main" id="{399AFC76-718D-BE46-AB58-04D88BED5B05}"/>
              </a:ext>
            </a:extLst>
          </p:cNvPr>
          <p:cNvSpPr>
            <a:spLocks noGrp="1"/>
          </p:cNvSpPr>
          <p:nvPr>
            <p:ph type="title"/>
          </p:nvPr>
        </p:nvSpPr>
        <p:spPr>
          <a:xfrm>
            <a:off x="1974123" y="533400"/>
            <a:ext cx="8229600" cy="1143000"/>
          </a:xfrm>
        </p:spPr>
        <p:txBody>
          <a:bodyPr/>
          <a:lstStyle/>
          <a:p>
            <a:r>
              <a:rPr lang="en-US" sz="3200" dirty="0"/>
              <a:t>Does this graph have Euler trail?</a:t>
            </a:r>
          </a:p>
        </p:txBody>
      </p:sp>
      <p:sp>
        <p:nvSpPr>
          <p:cNvPr id="3" name="TextBox 2">
            <a:extLst>
              <a:ext uri="{FF2B5EF4-FFF2-40B4-BE49-F238E27FC236}">
                <a16:creationId xmlns:a16="http://schemas.microsoft.com/office/drawing/2014/main" id="{FDA3ECFF-71C9-044F-9634-4E3B447786D7}"/>
              </a:ext>
            </a:extLst>
          </p:cNvPr>
          <p:cNvSpPr txBox="1"/>
          <p:nvPr/>
        </p:nvSpPr>
        <p:spPr>
          <a:xfrm>
            <a:off x="5943600" y="2286000"/>
            <a:ext cx="306494" cy="369332"/>
          </a:xfrm>
          <a:prstGeom prst="rect">
            <a:avLst/>
          </a:prstGeom>
          <a:noFill/>
        </p:spPr>
        <p:txBody>
          <a:bodyPr wrap="none" rtlCol="0">
            <a:spAutoFit/>
          </a:bodyPr>
          <a:lstStyle/>
          <a:p>
            <a:r>
              <a:rPr lang="en-US" dirty="0"/>
              <a:t>1</a:t>
            </a:r>
          </a:p>
        </p:txBody>
      </p:sp>
      <p:sp>
        <p:nvSpPr>
          <p:cNvPr id="4" name="TextBox 3">
            <a:extLst>
              <a:ext uri="{FF2B5EF4-FFF2-40B4-BE49-F238E27FC236}">
                <a16:creationId xmlns:a16="http://schemas.microsoft.com/office/drawing/2014/main" id="{67944C09-D361-3346-A7D7-647D652157D5}"/>
              </a:ext>
            </a:extLst>
          </p:cNvPr>
          <p:cNvSpPr txBox="1"/>
          <p:nvPr/>
        </p:nvSpPr>
        <p:spPr>
          <a:xfrm>
            <a:off x="5638800" y="3352800"/>
            <a:ext cx="306494" cy="369332"/>
          </a:xfrm>
          <a:prstGeom prst="rect">
            <a:avLst/>
          </a:prstGeom>
          <a:noFill/>
        </p:spPr>
        <p:txBody>
          <a:bodyPr wrap="none" rtlCol="0">
            <a:spAutoFit/>
          </a:bodyPr>
          <a:lstStyle/>
          <a:p>
            <a:r>
              <a:rPr lang="en-US" dirty="0"/>
              <a:t>2</a:t>
            </a:r>
          </a:p>
        </p:txBody>
      </p:sp>
      <p:sp>
        <p:nvSpPr>
          <p:cNvPr id="5" name="TextBox 4">
            <a:extLst>
              <a:ext uri="{FF2B5EF4-FFF2-40B4-BE49-F238E27FC236}">
                <a16:creationId xmlns:a16="http://schemas.microsoft.com/office/drawing/2014/main" id="{315E737F-3CB5-F047-94E2-2AF6DA581D7D}"/>
              </a:ext>
            </a:extLst>
          </p:cNvPr>
          <p:cNvSpPr txBox="1"/>
          <p:nvPr/>
        </p:nvSpPr>
        <p:spPr>
          <a:xfrm>
            <a:off x="5938882" y="4572000"/>
            <a:ext cx="306494" cy="369332"/>
          </a:xfrm>
          <a:prstGeom prst="rect">
            <a:avLst/>
          </a:prstGeom>
          <a:noFill/>
        </p:spPr>
        <p:txBody>
          <a:bodyPr wrap="none" rtlCol="0">
            <a:spAutoFit/>
          </a:bodyPr>
          <a:lstStyle/>
          <a:p>
            <a:r>
              <a:rPr lang="en-US" dirty="0"/>
              <a:t>3</a:t>
            </a:r>
          </a:p>
        </p:txBody>
      </p:sp>
      <p:sp>
        <p:nvSpPr>
          <p:cNvPr id="6" name="TextBox 5">
            <a:extLst>
              <a:ext uri="{FF2B5EF4-FFF2-40B4-BE49-F238E27FC236}">
                <a16:creationId xmlns:a16="http://schemas.microsoft.com/office/drawing/2014/main" id="{9F72B297-D460-FA4B-9746-CF1AF3F22F4D}"/>
              </a:ext>
            </a:extLst>
          </p:cNvPr>
          <p:cNvSpPr txBox="1"/>
          <p:nvPr/>
        </p:nvSpPr>
        <p:spPr>
          <a:xfrm>
            <a:off x="3962400" y="2895600"/>
            <a:ext cx="306494" cy="369332"/>
          </a:xfrm>
          <a:prstGeom prst="rect">
            <a:avLst/>
          </a:prstGeom>
          <a:noFill/>
        </p:spPr>
        <p:txBody>
          <a:bodyPr wrap="none" rtlCol="0">
            <a:spAutoFit/>
          </a:bodyPr>
          <a:lstStyle/>
          <a:p>
            <a:r>
              <a:rPr lang="en-US" dirty="0"/>
              <a:t>4</a:t>
            </a:r>
          </a:p>
        </p:txBody>
      </p:sp>
      <p:sp>
        <p:nvSpPr>
          <p:cNvPr id="7" name="TextBox 6">
            <a:extLst>
              <a:ext uri="{FF2B5EF4-FFF2-40B4-BE49-F238E27FC236}">
                <a16:creationId xmlns:a16="http://schemas.microsoft.com/office/drawing/2014/main" id="{65CC1EFC-5CC7-2D44-8AC0-B975C4D443F6}"/>
              </a:ext>
            </a:extLst>
          </p:cNvPr>
          <p:cNvSpPr txBox="1"/>
          <p:nvPr/>
        </p:nvSpPr>
        <p:spPr>
          <a:xfrm>
            <a:off x="4800600" y="2895600"/>
            <a:ext cx="306494" cy="369332"/>
          </a:xfrm>
          <a:prstGeom prst="rect">
            <a:avLst/>
          </a:prstGeom>
          <a:noFill/>
        </p:spPr>
        <p:txBody>
          <a:bodyPr wrap="none" rtlCol="0">
            <a:spAutoFit/>
          </a:bodyPr>
          <a:lstStyle/>
          <a:p>
            <a:r>
              <a:rPr lang="en-US" dirty="0"/>
              <a:t>5</a:t>
            </a:r>
          </a:p>
        </p:txBody>
      </p:sp>
      <p:sp>
        <p:nvSpPr>
          <p:cNvPr id="8" name="TextBox 7">
            <a:extLst>
              <a:ext uri="{FF2B5EF4-FFF2-40B4-BE49-F238E27FC236}">
                <a16:creationId xmlns:a16="http://schemas.microsoft.com/office/drawing/2014/main" id="{4465B927-8695-3149-848B-6ED30F013D24}"/>
              </a:ext>
            </a:extLst>
          </p:cNvPr>
          <p:cNvSpPr txBox="1"/>
          <p:nvPr/>
        </p:nvSpPr>
        <p:spPr>
          <a:xfrm>
            <a:off x="4038600" y="4267200"/>
            <a:ext cx="306494" cy="369332"/>
          </a:xfrm>
          <a:prstGeom prst="rect">
            <a:avLst/>
          </a:prstGeom>
          <a:noFill/>
        </p:spPr>
        <p:txBody>
          <a:bodyPr wrap="none" rtlCol="0">
            <a:spAutoFit/>
          </a:bodyPr>
          <a:lstStyle/>
          <a:p>
            <a:r>
              <a:rPr lang="en-US" dirty="0"/>
              <a:t>6</a:t>
            </a:r>
          </a:p>
        </p:txBody>
      </p:sp>
      <p:sp>
        <p:nvSpPr>
          <p:cNvPr id="9" name="TextBox 8">
            <a:extLst>
              <a:ext uri="{FF2B5EF4-FFF2-40B4-BE49-F238E27FC236}">
                <a16:creationId xmlns:a16="http://schemas.microsoft.com/office/drawing/2014/main" id="{A8C35520-7109-5D40-B91B-D5DFFD4109EB}"/>
              </a:ext>
            </a:extLst>
          </p:cNvPr>
          <p:cNvSpPr txBox="1"/>
          <p:nvPr/>
        </p:nvSpPr>
        <p:spPr>
          <a:xfrm>
            <a:off x="4800600" y="4098131"/>
            <a:ext cx="306494" cy="369332"/>
          </a:xfrm>
          <a:prstGeom prst="rect">
            <a:avLst/>
          </a:prstGeom>
          <a:noFill/>
        </p:spPr>
        <p:txBody>
          <a:bodyPr wrap="none" rtlCol="0">
            <a:spAutoFit/>
          </a:bodyPr>
          <a:lstStyle/>
          <a:p>
            <a:r>
              <a:rPr lang="en-US" dirty="0"/>
              <a:t>7</a:t>
            </a:r>
          </a:p>
        </p:txBody>
      </p:sp>
    </p:spTree>
    <p:extLst>
      <p:ext uri="{BB962C8B-B14F-4D97-AF65-F5344CB8AC3E}">
        <p14:creationId xmlns:p14="http://schemas.microsoft.com/office/powerpoint/2010/main" val="155663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Content Placeholder 8">
            <a:extLst>
              <a:ext uri="{FF2B5EF4-FFF2-40B4-BE49-F238E27FC236}">
                <a16:creationId xmlns:a16="http://schemas.microsoft.com/office/drawing/2014/main" id="{4E23A2BB-EF56-8746-9846-43294A3D70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038600" y="1828801"/>
            <a:ext cx="3505200" cy="3471863"/>
          </a:xfrm>
        </p:spPr>
      </p:pic>
      <p:sp>
        <p:nvSpPr>
          <p:cNvPr id="2" name="Title 1">
            <a:extLst>
              <a:ext uri="{FF2B5EF4-FFF2-40B4-BE49-F238E27FC236}">
                <a16:creationId xmlns:a16="http://schemas.microsoft.com/office/drawing/2014/main" id="{399AFC76-718D-BE46-AB58-04D88BED5B05}"/>
              </a:ext>
            </a:extLst>
          </p:cNvPr>
          <p:cNvSpPr>
            <a:spLocks noGrp="1"/>
          </p:cNvSpPr>
          <p:nvPr>
            <p:ph type="title"/>
          </p:nvPr>
        </p:nvSpPr>
        <p:spPr>
          <a:xfrm>
            <a:off x="1974123" y="533400"/>
            <a:ext cx="8229600" cy="1143000"/>
          </a:xfrm>
        </p:spPr>
        <p:txBody>
          <a:bodyPr/>
          <a:lstStyle/>
          <a:p>
            <a:r>
              <a:rPr lang="en-US" sz="3200" dirty="0"/>
              <a:t>Remove which edge will give you Euler trail?</a:t>
            </a:r>
          </a:p>
        </p:txBody>
      </p:sp>
      <p:sp>
        <p:nvSpPr>
          <p:cNvPr id="3" name="TextBox 2">
            <a:extLst>
              <a:ext uri="{FF2B5EF4-FFF2-40B4-BE49-F238E27FC236}">
                <a16:creationId xmlns:a16="http://schemas.microsoft.com/office/drawing/2014/main" id="{FDA3ECFF-71C9-044F-9634-4E3B447786D7}"/>
              </a:ext>
            </a:extLst>
          </p:cNvPr>
          <p:cNvSpPr txBox="1"/>
          <p:nvPr/>
        </p:nvSpPr>
        <p:spPr>
          <a:xfrm>
            <a:off x="5943600" y="2286000"/>
            <a:ext cx="306494" cy="369332"/>
          </a:xfrm>
          <a:prstGeom prst="rect">
            <a:avLst/>
          </a:prstGeom>
          <a:noFill/>
        </p:spPr>
        <p:txBody>
          <a:bodyPr wrap="none" rtlCol="0">
            <a:spAutoFit/>
          </a:bodyPr>
          <a:lstStyle/>
          <a:p>
            <a:r>
              <a:rPr lang="en-US" dirty="0"/>
              <a:t>1</a:t>
            </a:r>
          </a:p>
        </p:txBody>
      </p:sp>
      <p:sp>
        <p:nvSpPr>
          <p:cNvPr id="4" name="TextBox 3">
            <a:extLst>
              <a:ext uri="{FF2B5EF4-FFF2-40B4-BE49-F238E27FC236}">
                <a16:creationId xmlns:a16="http://schemas.microsoft.com/office/drawing/2014/main" id="{67944C09-D361-3346-A7D7-647D652157D5}"/>
              </a:ext>
            </a:extLst>
          </p:cNvPr>
          <p:cNvSpPr txBox="1"/>
          <p:nvPr/>
        </p:nvSpPr>
        <p:spPr>
          <a:xfrm>
            <a:off x="5638800" y="3352800"/>
            <a:ext cx="306494" cy="369332"/>
          </a:xfrm>
          <a:prstGeom prst="rect">
            <a:avLst/>
          </a:prstGeom>
          <a:noFill/>
        </p:spPr>
        <p:txBody>
          <a:bodyPr wrap="none" rtlCol="0">
            <a:spAutoFit/>
          </a:bodyPr>
          <a:lstStyle/>
          <a:p>
            <a:r>
              <a:rPr lang="en-US" dirty="0"/>
              <a:t>2</a:t>
            </a:r>
          </a:p>
        </p:txBody>
      </p:sp>
      <p:sp>
        <p:nvSpPr>
          <p:cNvPr id="5" name="TextBox 4">
            <a:extLst>
              <a:ext uri="{FF2B5EF4-FFF2-40B4-BE49-F238E27FC236}">
                <a16:creationId xmlns:a16="http://schemas.microsoft.com/office/drawing/2014/main" id="{315E737F-3CB5-F047-94E2-2AF6DA581D7D}"/>
              </a:ext>
            </a:extLst>
          </p:cNvPr>
          <p:cNvSpPr txBox="1"/>
          <p:nvPr/>
        </p:nvSpPr>
        <p:spPr>
          <a:xfrm>
            <a:off x="5938882" y="4572000"/>
            <a:ext cx="306494" cy="369332"/>
          </a:xfrm>
          <a:prstGeom prst="rect">
            <a:avLst/>
          </a:prstGeom>
          <a:noFill/>
        </p:spPr>
        <p:txBody>
          <a:bodyPr wrap="none" rtlCol="0">
            <a:spAutoFit/>
          </a:bodyPr>
          <a:lstStyle/>
          <a:p>
            <a:r>
              <a:rPr lang="en-US" dirty="0"/>
              <a:t>3</a:t>
            </a:r>
          </a:p>
        </p:txBody>
      </p:sp>
      <p:sp>
        <p:nvSpPr>
          <p:cNvPr id="6" name="TextBox 5">
            <a:extLst>
              <a:ext uri="{FF2B5EF4-FFF2-40B4-BE49-F238E27FC236}">
                <a16:creationId xmlns:a16="http://schemas.microsoft.com/office/drawing/2014/main" id="{9F72B297-D460-FA4B-9746-CF1AF3F22F4D}"/>
              </a:ext>
            </a:extLst>
          </p:cNvPr>
          <p:cNvSpPr txBox="1"/>
          <p:nvPr/>
        </p:nvSpPr>
        <p:spPr>
          <a:xfrm>
            <a:off x="3962400" y="2895600"/>
            <a:ext cx="306494" cy="369332"/>
          </a:xfrm>
          <a:prstGeom prst="rect">
            <a:avLst/>
          </a:prstGeom>
          <a:noFill/>
        </p:spPr>
        <p:txBody>
          <a:bodyPr wrap="none" rtlCol="0">
            <a:spAutoFit/>
          </a:bodyPr>
          <a:lstStyle/>
          <a:p>
            <a:r>
              <a:rPr lang="en-US" dirty="0"/>
              <a:t>4</a:t>
            </a:r>
          </a:p>
        </p:txBody>
      </p:sp>
      <p:sp>
        <p:nvSpPr>
          <p:cNvPr id="7" name="TextBox 6">
            <a:extLst>
              <a:ext uri="{FF2B5EF4-FFF2-40B4-BE49-F238E27FC236}">
                <a16:creationId xmlns:a16="http://schemas.microsoft.com/office/drawing/2014/main" id="{65CC1EFC-5CC7-2D44-8AC0-B975C4D443F6}"/>
              </a:ext>
            </a:extLst>
          </p:cNvPr>
          <p:cNvSpPr txBox="1"/>
          <p:nvPr/>
        </p:nvSpPr>
        <p:spPr>
          <a:xfrm>
            <a:off x="4800600" y="2895600"/>
            <a:ext cx="306494" cy="369332"/>
          </a:xfrm>
          <a:prstGeom prst="rect">
            <a:avLst/>
          </a:prstGeom>
          <a:noFill/>
        </p:spPr>
        <p:txBody>
          <a:bodyPr wrap="none" rtlCol="0">
            <a:spAutoFit/>
          </a:bodyPr>
          <a:lstStyle/>
          <a:p>
            <a:r>
              <a:rPr lang="en-US" dirty="0"/>
              <a:t>5</a:t>
            </a:r>
          </a:p>
        </p:txBody>
      </p:sp>
      <p:sp>
        <p:nvSpPr>
          <p:cNvPr id="8" name="TextBox 7">
            <a:extLst>
              <a:ext uri="{FF2B5EF4-FFF2-40B4-BE49-F238E27FC236}">
                <a16:creationId xmlns:a16="http://schemas.microsoft.com/office/drawing/2014/main" id="{4465B927-8695-3149-848B-6ED30F013D24}"/>
              </a:ext>
            </a:extLst>
          </p:cNvPr>
          <p:cNvSpPr txBox="1"/>
          <p:nvPr/>
        </p:nvSpPr>
        <p:spPr>
          <a:xfrm>
            <a:off x="4038600" y="4267200"/>
            <a:ext cx="306494" cy="369332"/>
          </a:xfrm>
          <a:prstGeom prst="rect">
            <a:avLst/>
          </a:prstGeom>
          <a:noFill/>
        </p:spPr>
        <p:txBody>
          <a:bodyPr wrap="none" rtlCol="0">
            <a:spAutoFit/>
          </a:bodyPr>
          <a:lstStyle/>
          <a:p>
            <a:r>
              <a:rPr lang="en-US" dirty="0"/>
              <a:t>6</a:t>
            </a:r>
          </a:p>
        </p:txBody>
      </p:sp>
      <p:sp>
        <p:nvSpPr>
          <p:cNvPr id="9" name="TextBox 8">
            <a:extLst>
              <a:ext uri="{FF2B5EF4-FFF2-40B4-BE49-F238E27FC236}">
                <a16:creationId xmlns:a16="http://schemas.microsoft.com/office/drawing/2014/main" id="{A8C35520-7109-5D40-B91B-D5DFFD4109EB}"/>
              </a:ext>
            </a:extLst>
          </p:cNvPr>
          <p:cNvSpPr txBox="1"/>
          <p:nvPr/>
        </p:nvSpPr>
        <p:spPr>
          <a:xfrm>
            <a:off x="4800600" y="4098131"/>
            <a:ext cx="306494" cy="369332"/>
          </a:xfrm>
          <a:prstGeom prst="rect">
            <a:avLst/>
          </a:prstGeom>
          <a:noFill/>
        </p:spPr>
        <p:txBody>
          <a:bodyPr wrap="none" rtlCol="0">
            <a:spAutoFit/>
          </a:bodyPr>
          <a:lstStyle/>
          <a:p>
            <a:r>
              <a:rPr lang="en-US" dirty="0"/>
              <a:t>7</a:t>
            </a:r>
          </a:p>
        </p:txBody>
      </p:sp>
    </p:spTree>
    <p:extLst>
      <p:ext uri="{BB962C8B-B14F-4D97-AF65-F5344CB8AC3E}">
        <p14:creationId xmlns:p14="http://schemas.microsoft.com/office/powerpoint/2010/main" val="4077679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624A3771-67E5-D14B-AE21-BA5D3CFF2AAE}"/>
              </a:ext>
            </a:extLst>
          </p:cNvPr>
          <p:cNvSpPr>
            <a:spLocks noGrp="1"/>
          </p:cNvSpPr>
          <p:nvPr>
            <p:ph type="title"/>
          </p:nvPr>
        </p:nvSpPr>
        <p:spPr>
          <a:xfrm>
            <a:off x="2057400" y="533400"/>
            <a:ext cx="7772400" cy="1143000"/>
          </a:xfrm>
        </p:spPr>
        <p:txBody>
          <a:bodyPr/>
          <a:lstStyle/>
          <a:p>
            <a:r>
              <a:rPr lang="en-US" altLang="en-US" sz="3600" dirty="0">
                <a:ea typeface="ＭＳ Ｐゴシック" panose="020B0600070205080204" pitchFamily="34" charset="-128"/>
              </a:rPr>
              <a:t>Some terminology</a:t>
            </a:r>
          </a:p>
        </p:txBody>
      </p:sp>
      <p:sp>
        <p:nvSpPr>
          <p:cNvPr id="3" name="Content Placeholder 2">
            <a:extLst>
              <a:ext uri="{FF2B5EF4-FFF2-40B4-BE49-F238E27FC236}">
                <a16:creationId xmlns:a16="http://schemas.microsoft.com/office/drawing/2014/main" id="{88925496-3957-5E45-8FE6-9D34459B85EC}"/>
              </a:ext>
            </a:extLst>
          </p:cNvPr>
          <p:cNvSpPr>
            <a:spLocks noGrp="1"/>
          </p:cNvSpPr>
          <p:nvPr>
            <p:ph idx="1"/>
          </p:nvPr>
        </p:nvSpPr>
        <p:spPr>
          <a:xfrm>
            <a:off x="2209800" y="1524000"/>
            <a:ext cx="7772400" cy="4495800"/>
          </a:xfrm>
          <a:solidFill>
            <a:srgbClr val="CCFFCC"/>
          </a:solidFill>
          <a:ln>
            <a:miter lim="800000"/>
            <a:headEnd/>
            <a:tailEnd/>
          </a:ln>
          <a:extLs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a:defRPr/>
            </a:pPr>
            <a:r>
              <a:rPr lang="en-US" sz="2400" dirty="0"/>
              <a:t>Trail: walk with distinct edges, may repeat vertices</a:t>
            </a:r>
          </a:p>
          <a:p>
            <a:pPr>
              <a:defRPr/>
            </a:pPr>
            <a:r>
              <a:rPr lang="en-US" sz="2400" dirty="0"/>
              <a:t>Cycle: closed trail</a:t>
            </a:r>
          </a:p>
          <a:p>
            <a:pPr>
              <a:defRPr/>
            </a:pPr>
            <a:r>
              <a:rPr lang="en-US" sz="2400" dirty="0"/>
              <a:t>Euler trail: goes over all edges</a:t>
            </a:r>
          </a:p>
          <a:p>
            <a:pPr>
              <a:defRPr/>
            </a:pPr>
            <a:r>
              <a:rPr lang="en-US" sz="2400" dirty="0"/>
              <a:t>Euler cycle: closed Euler trail</a:t>
            </a:r>
          </a:p>
          <a:p>
            <a:pPr>
              <a:defRPr/>
            </a:pPr>
            <a:r>
              <a:rPr lang="en-US" sz="2400" dirty="0"/>
              <a:t>Path: trail with distinct vertices</a:t>
            </a:r>
          </a:p>
          <a:p>
            <a:pPr>
              <a:defRPr/>
            </a:pPr>
            <a:r>
              <a:rPr lang="en-US" sz="2400" dirty="0"/>
              <a:t>Circuit: closed path</a:t>
            </a:r>
          </a:p>
          <a:p>
            <a:pPr>
              <a:defRPr/>
            </a:pPr>
            <a:r>
              <a:rPr lang="en-US" sz="2400" dirty="0"/>
              <a:t>Hamilton path: goes over all vertices</a:t>
            </a:r>
          </a:p>
          <a:p>
            <a:pPr>
              <a:defRPr/>
            </a:pPr>
            <a:r>
              <a:rPr lang="en-US" sz="2400" dirty="0"/>
              <a:t>Hamilton circuit: closed Hamilton path</a:t>
            </a:r>
          </a:p>
          <a:p>
            <a:pPr>
              <a:defRPr/>
            </a:pPr>
            <a:endParaRPr lang="en-US" sz="2400" dirty="0"/>
          </a:p>
          <a:p>
            <a:pPr>
              <a:defRPr/>
            </a:pPr>
            <a:endParaRPr lang="en-US" dirty="0"/>
          </a:p>
        </p:txBody>
      </p:sp>
    </p:spTree>
    <p:extLst>
      <p:ext uri="{BB962C8B-B14F-4D97-AF65-F5344CB8AC3E}">
        <p14:creationId xmlns:p14="http://schemas.microsoft.com/office/powerpoint/2010/main" val="1462925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Line 90">
            <a:extLst>
              <a:ext uri="{FF2B5EF4-FFF2-40B4-BE49-F238E27FC236}">
                <a16:creationId xmlns:a16="http://schemas.microsoft.com/office/drawing/2014/main" id="{C7571DA7-2D33-584A-AA3A-D438A5C0CA5C}"/>
              </a:ext>
            </a:extLst>
          </p:cNvPr>
          <p:cNvSpPr>
            <a:spLocks noChangeShapeType="1"/>
          </p:cNvSpPr>
          <p:nvPr/>
        </p:nvSpPr>
        <p:spPr bwMode="auto">
          <a:xfrm>
            <a:off x="2819400" y="3962400"/>
            <a:ext cx="1371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1" name="Line 73">
            <a:extLst>
              <a:ext uri="{FF2B5EF4-FFF2-40B4-BE49-F238E27FC236}">
                <a16:creationId xmlns:a16="http://schemas.microsoft.com/office/drawing/2014/main" id="{926A15AD-2260-6C4F-A251-A2093348F4F4}"/>
              </a:ext>
            </a:extLst>
          </p:cNvPr>
          <p:cNvSpPr>
            <a:spLocks noChangeShapeType="1"/>
          </p:cNvSpPr>
          <p:nvPr/>
        </p:nvSpPr>
        <p:spPr bwMode="auto">
          <a:xfrm>
            <a:off x="5715000" y="40386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9" name="Line 89">
            <a:extLst>
              <a:ext uri="{FF2B5EF4-FFF2-40B4-BE49-F238E27FC236}">
                <a16:creationId xmlns:a16="http://schemas.microsoft.com/office/drawing/2014/main" id="{EE50736E-2994-EA4C-A90F-7932C7E86759}"/>
              </a:ext>
            </a:extLst>
          </p:cNvPr>
          <p:cNvSpPr>
            <a:spLocks noChangeShapeType="1"/>
          </p:cNvSpPr>
          <p:nvPr/>
        </p:nvSpPr>
        <p:spPr bwMode="auto">
          <a:xfrm>
            <a:off x="5715000" y="4038600"/>
            <a:ext cx="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3" name="Line 55">
            <a:extLst>
              <a:ext uri="{FF2B5EF4-FFF2-40B4-BE49-F238E27FC236}">
                <a16:creationId xmlns:a16="http://schemas.microsoft.com/office/drawing/2014/main" id="{181518D8-03DA-AD42-AF0E-187CC771B632}"/>
              </a:ext>
            </a:extLst>
          </p:cNvPr>
          <p:cNvSpPr>
            <a:spLocks noChangeShapeType="1"/>
          </p:cNvSpPr>
          <p:nvPr/>
        </p:nvSpPr>
        <p:spPr bwMode="auto">
          <a:xfrm flipV="1">
            <a:off x="4343400" y="4038600"/>
            <a:ext cx="1295400" cy="1066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4" name="Line 60">
            <a:extLst>
              <a:ext uri="{FF2B5EF4-FFF2-40B4-BE49-F238E27FC236}">
                <a16:creationId xmlns:a16="http://schemas.microsoft.com/office/drawing/2014/main" id="{52439DA7-8FF3-5F42-A840-30AEAB9C4892}"/>
              </a:ext>
            </a:extLst>
          </p:cNvPr>
          <p:cNvSpPr>
            <a:spLocks noChangeShapeType="1"/>
          </p:cNvSpPr>
          <p:nvPr/>
        </p:nvSpPr>
        <p:spPr bwMode="auto">
          <a:xfrm flipV="1">
            <a:off x="4267200" y="4038600"/>
            <a:ext cx="1371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8" name="Line 88">
            <a:extLst>
              <a:ext uri="{FF2B5EF4-FFF2-40B4-BE49-F238E27FC236}">
                <a16:creationId xmlns:a16="http://schemas.microsoft.com/office/drawing/2014/main" id="{EE7EA752-2A41-9C4B-B2CC-EF2FF0230B04}"/>
              </a:ext>
            </a:extLst>
          </p:cNvPr>
          <p:cNvSpPr>
            <a:spLocks noChangeShapeType="1"/>
          </p:cNvSpPr>
          <p:nvPr/>
        </p:nvSpPr>
        <p:spPr bwMode="auto">
          <a:xfrm flipV="1">
            <a:off x="4267200" y="4038600"/>
            <a:ext cx="1371600" cy="1143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6" name="Line 76">
            <a:extLst>
              <a:ext uri="{FF2B5EF4-FFF2-40B4-BE49-F238E27FC236}">
                <a16:creationId xmlns:a16="http://schemas.microsoft.com/office/drawing/2014/main" id="{C8517D05-4DCC-AB4D-B162-4B3C5B448ACD}"/>
              </a:ext>
            </a:extLst>
          </p:cNvPr>
          <p:cNvSpPr>
            <a:spLocks noChangeShapeType="1"/>
          </p:cNvSpPr>
          <p:nvPr/>
        </p:nvSpPr>
        <p:spPr bwMode="auto">
          <a:xfrm flipV="1">
            <a:off x="2895600" y="5181600"/>
            <a:ext cx="12954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7" name="Line 87">
            <a:extLst>
              <a:ext uri="{FF2B5EF4-FFF2-40B4-BE49-F238E27FC236}">
                <a16:creationId xmlns:a16="http://schemas.microsoft.com/office/drawing/2014/main" id="{E5AC275A-E513-6941-ABEA-34B31D865398}"/>
              </a:ext>
            </a:extLst>
          </p:cNvPr>
          <p:cNvSpPr>
            <a:spLocks noChangeShapeType="1"/>
          </p:cNvSpPr>
          <p:nvPr/>
        </p:nvSpPr>
        <p:spPr bwMode="auto">
          <a:xfrm flipV="1">
            <a:off x="2895600" y="5181600"/>
            <a:ext cx="1295400" cy="381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8" name="Line 72">
            <a:extLst>
              <a:ext uri="{FF2B5EF4-FFF2-40B4-BE49-F238E27FC236}">
                <a16:creationId xmlns:a16="http://schemas.microsoft.com/office/drawing/2014/main" id="{3285E72A-6FD7-AB4C-A470-FCDC5AD6936E}"/>
              </a:ext>
            </a:extLst>
          </p:cNvPr>
          <p:cNvSpPr>
            <a:spLocks noChangeShapeType="1"/>
          </p:cNvSpPr>
          <p:nvPr/>
        </p:nvSpPr>
        <p:spPr bwMode="auto">
          <a:xfrm flipV="1">
            <a:off x="2895600" y="3429000"/>
            <a:ext cx="1447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6" name="Line 86">
            <a:extLst>
              <a:ext uri="{FF2B5EF4-FFF2-40B4-BE49-F238E27FC236}">
                <a16:creationId xmlns:a16="http://schemas.microsoft.com/office/drawing/2014/main" id="{FC97885D-B396-EE41-A036-5DC9ED85D4AE}"/>
              </a:ext>
            </a:extLst>
          </p:cNvPr>
          <p:cNvSpPr>
            <a:spLocks noChangeShapeType="1"/>
          </p:cNvSpPr>
          <p:nvPr/>
        </p:nvSpPr>
        <p:spPr bwMode="auto">
          <a:xfrm flipV="1">
            <a:off x="2895600" y="3429000"/>
            <a:ext cx="1447800" cy="533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0" name="Line 67">
            <a:extLst>
              <a:ext uri="{FF2B5EF4-FFF2-40B4-BE49-F238E27FC236}">
                <a16:creationId xmlns:a16="http://schemas.microsoft.com/office/drawing/2014/main" id="{C99893CC-6B67-5D46-A286-32A58AB250AA}"/>
              </a:ext>
            </a:extLst>
          </p:cNvPr>
          <p:cNvSpPr>
            <a:spLocks noChangeShapeType="1"/>
          </p:cNvSpPr>
          <p:nvPr/>
        </p:nvSpPr>
        <p:spPr bwMode="auto">
          <a:xfrm>
            <a:off x="2819400" y="40386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5" name="Line 85">
            <a:extLst>
              <a:ext uri="{FF2B5EF4-FFF2-40B4-BE49-F238E27FC236}">
                <a16:creationId xmlns:a16="http://schemas.microsoft.com/office/drawing/2014/main" id="{94086D64-5EAD-1443-8550-00AE75B0A404}"/>
              </a:ext>
            </a:extLst>
          </p:cNvPr>
          <p:cNvSpPr>
            <a:spLocks noChangeShapeType="1"/>
          </p:cNvSpPr>
          <p:nvPr/>
        </p:nvSpPr>
        <p:spPr bwMode="auto">
          <a:xfrm>
            <a:off x="2819400" y="4038600"/>
            <a:ext cx="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2" name="Rectangle 2">
            <a:extLst>
              <a:ext uri="{FF2B5EF4-FFF2-40B4-BE49-F238E27FC236}">
                <a16:creationId xmlns:a16="http://schemas.microsoft.com/office/drawing/2014/main" id="{2FCC4F2B-2921-434F-B6D7-3B3BE0C10E3D}"/>
              </a:ext>
            </a:extLst>
          </p:cNvPr>
          <p:cNvSpPr>
            <a:spLocks noGrp="1" noChangeArrowheads="1"/>
          </p:cNvSpPr>
          <p:nvPr>
            <p:ph type="title"/>
          </p:nvPr>
        </p:nvSpPr>
        <p:spPr/>
        <p:txBody>
          <a:bodyPr/>
          <a:lstStyle/>
          <a:p>
            <a:pPr eaLnBrk="1" hangingPunct="1"/>
            <a:r>
              <a:rPr lang="en-US" altLang="en-US" sz="3600" dirty="0">
                <a:ea typeface="ＭＳ Ｐゴシック" panose="020B0600070205080204" pitchFamily="34" charset="-128"/>
              </a:rPr>
              <a:t>Hamilton circuit/path</a:t>
            </a:r>
            <a:br>
              <a:rPr lang="en-US" altLang="en-US" sz="3600" dirty="0">
                <a:ea typeface="ＭＳ Ｐゴシック" panose="020B0600070205080204" pitchFamily="34" charset="-128"/>
              </a:rPr>
            </a:br>
            <a:r>
              <a:rPr lang="en-US" altLang="en-US" sz="3600" dirty="0">
                <a:ea typeface="ＭＳ Ｐゴシック" panose="020B0600070205080204" pitchFamily="34" charset="-128"/>
              </a:rPr>
              <a:t>the postman’s solution</a:t>
            </a:r>
          </a:p>
        </p:txBody>
      </p:sp>
      <p:sp>
        <p:nvSpPr>
          <p:cNvPr id="19473" name="Rectangle 3">
            <a:extLst>
              <a:ext uri="{FF2B5EF4-FFF2-40B4-BE49-F238E27FC236}">
                <a16:creationId xmlns:a16="http://schemas.microsoft.com/office/drawing/2014/main" id="{932F5FAB-5C50-9B4C-98FF-B8F9C673C8CD}"/>
              </a:ext>
            </a:extLst>
          </p:cNvPr>
          <p:cNvSpPr>
            <a:spLocks noGrp="1" noChangeArrowheads="1"/>
          </p:cNvSpPr>
          <p:nvPr>
            <p:ph type="body" idx="1"/>
          </p:nvPr>
        </p:nvSpPr>
        <p:spPr>
          <a:xfrm>
            <a:off x="2209800" y="1981201"/>
            <a:ext cx="7772400" cy="1108075"/>
          </a:xfrm>
        </p:spPr>
        <p:txBody>
          <a:bodyPr/>
          <a:lstStyle/>
          <a:p>
            <a:pPr eaLnBrk="1" hangingPunct="1"/>
            <a:r>
              <a:rPr lang="en-US" altLang="en-US" i="1" dirty="0">
                <a:ea typeface="ＭＳ Ｐゴシック" panose="020B0600070205080204" pitchFamily="34" charset="-128"/>
              </a:rPr>
              <a:t>Hamilton Path</a:t>
            </a:r>
            <a:r>
              <a:rPr lang="en-US" altLang="en-US" dirty="0">
                <a:ea typeface="ＭＳ Ｐゴシック" panose="020B0600070205080204" pitchFamily="34" charset="-128"/>
              </a:rPr>
              <a:t> – A path that visits each vertex in a graph exactly once.</a:t>
            </a:r>
          </a:p>
        </p:txBody>
      </p:sp>
      <p:sp>
        <p:nvSpPr>
          <p:cNvPr id="19474" name="Text Box 53">
            <a:extLst>
              <a:ext uri="{FF2B5EF4-FFF2-40B4-BE49-F238E27FC236}">
                <a16:creationId xmlns:a16="http://schemas.microsoft.com/office/drawing/2014/main" id="{BEFF3312-D2F4-234D-96D8-63637B589152}"/>
              </a:ext>
            </a:extLst>
          </p:cNvPr>
          <p:cNvSpPr txBox="1">
            <a:spLocks noChangeArrowheads="1"/>
          </p:cNvSpPr>
          <p:nvPr/>
        </p:nvSpPr>
        <p:spPr bwMode="auto">
          <a:xfrm>
            <a:off x="7527925" y="31607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9475" name="Text Box 47">
            <a:extLst>
              <a:ext uri="{FF2B5EF4-FFF2-40B4-BE49-F238E27FC236}">
                <a16:creationId xmlns:a16="http://schemas.microsoft.com/office/drawing/2014/main" id="{FB0A2E5C-BE4A-904F-A6D0-47A9D85759B5}"/>
              </a:ext>
            </a:extLst>
          </p:cNvPr>
          <p:cNvSpPr txBox="1">
            <a:spLocks noChangeArrowheads="1"/>
          </p:cNvSpPr>
          <p:nvPr/>
        </p:nvSpPr>
        <p:spPr bwMode="auto">
          <a:xfrm>
            <a:off x="5715000" y="35814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19476" name="Text Box 48">
            <a:extLst>
              <a:ext uri="{FF2B5EF4-FFF2-40B4-BE49-F238E27FC236}">
                <a16:creationId xmlns:a16="http://schemas.microsoft.com/office/drawing/2014/main" id="{42BEF845-0E09-FB45-8997-3472E8432A72}"/>
              </a:ext>
            </a:extLst>
          </p:cNvPr>
          <p:cNvSpPr txBox="1">
            <a:spLocks noChangeArrowheads="1"/>
          </p:cNvSpPr>
          <p:nvPr/>
        </p:nvSpPr>
        <p:spPr bwMode="auto">
          <a:xfrm>
            <a:off x="5791200" y="54102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19477" name="Text Box 49">
            <a:extLst>
              <a:ext uri="{FF2B5EF4-FFF2-40B4-BE49-F238E27FC236}">
                <a16:creationId xmlns:a16="http://schemas.microsoft.com/office/drawing/2014/main" id="{74708145-DA64-AB47-B1DA-CD9530F88D33}"/>
              </a:ext>
            </a:extLst>
          </p:cNvPr>
          <p:cNvSpPr txBox="1">
            <a:spLocks noChangeArrowheads="1"/>
          </p:cNvSpPr>
          <p:nvPr/>
        </p:nvSpPr>
        <p:spPr bwMode="auto">
          <a:xfrm>
            <a:off x="4038600" y="52578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19478" name="Text Box 50">
            <a:extLst>
              <a:ext uri="{FF2B5EF4-FFF2-40B4-BE49-F238E27FC236}">
                <a16:creationId xmlns:a16="http://schemas.microsoft.com/office/drawing/2014/main" id="{0C974C9B-856B-C941-94EE-D0015A42DB7E}"/>
              </a:ext>
            </a:extLst>
          </p:cNvPr>
          <p:cNvSpPr txBox="1">
            <a:spLocks noChangeArrowheads="1"/>
          </p:cNvSpPr>
          <p:nvPr/>
        </p:nvSpPr>
        <p:spPr bwMode="auto">
          <a:xfrm>
            <a:off x="2682875" y="56784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19479" name="Text Box 51">
            <a:extLst>
              <a:ext uri="{FF2B5EF4-FFF2-40B4-BE49-F238E27FC236}">
                <a16:creationId xmlns:a16="http://schemas.microsoft.com/office/drawing/2014/main" id="{C12E5B38-3E66-8840-905C-C06005D32EEF}"/>
              </a:ext>
            </a:extLst>
          </p:cNvPr>
          <p:cNvSpPr txBox="1">
            <a:spLocks noChangeArrowheads="1"/>
          </p:cNvSpPr>
          <p:nvPr/>
        </p:nvSpPr>
        <p:spPr bwMode="auto">
          <a:xfrm>
            <a:off x="2667000" y="34290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19480" name="Text Box 56">
            <a:extLst>
              <a:ext uri="{FF2B5EF4-FFF2-40B4-BE49-F238E27FC236}">
                <a16:creationId xmlns:a16="http://schemas.microsoft.com/office/drawing/2014/main" id="{E943B3B2-ADE8-7046-8D30-08A6AB58F899}"/>
              </a:ext>
            </a:extLst>
          </p:cNvPr>
          <p:cNvSpPr txBox="1">
            <a:spLocks noChangeArrowheads="1"/>
          </p:cNvSpPr>
          <p:nvPr/>
        </p:nvSpPr>
        <p:spPr bwMode="auto">
          <a:xfrm>
            <a:off x="6705601" y="3327401"/>
            <a:ext cx="26336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latin typeface="Times New Roman" panose="02020603050405020304" pitchFamily="18" charset="0"/>
              </a:rPr>
              <a:t>Possible Hamilton Path:</a:t>
            </a:r>
          </a:p>
          <a:p>
            <a:pPr eaLnBrk="1" hangingPunct="1"/>
            <a:r>
              <a:rPr lang="en-US" altLang="en-US" sz="2000">
                <a:latin typeface="Times New Roman" panose="02020603050405020304" pitchFamily="18" charset="0"/>
              </a:rPr>
              <a:t>           </a:t>
            </a:r>
            <a:r>
              <a:rPr lang="en-US" altLang="en-US" sz="1800"/>
              <a:t>A-F-E-D-B-C</a:t>
            </a:r>
          </a:p>
        </p:txBody>
      </p:sp>
      <p:sp>
        <p:nvSpPr>
          <p:cNvPr id="19481" name="Text Box 61">
            <a:extLst>
              <a:ext uri="{FF2B5EF4-FFF2-40B4-BE49-F238E27FC236}">
                <a16:creationId xmlns:a16="http://schemas.microsoft.com/office/drawing/2014/main" id="{0F9CA25D-C427-4241-BDBF-810B1E4619B8}"/>
              </a:ext>
            </a:extLst>
          </p:cNvPr>
          <p:cNvSpPr txBox="1">
            <a:spLocks noChangeArrowheads="1"/>
          </p:cNvSpPr>
          <p:nvPr/>
        </p:nvSpPr>
        <p:spPr bwMode="auto">
          <a:xfrm>
            <a:off x="4191000" y="35814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19482" name="Text Box 62">
            <a:extLst>
              <a:ext uri="{FF2B5EF4-FFF2-40B4-BE49-F238E27FC236}">
                <a16:creationId xmlns:a16="http://schemas.microsoft.com/office/drawing/2014/main" id="{E8A65DEE-319F-0A48-BED3-0824EE0CE624}"/>
              </a:ext>
            </a:extLst>
          </p:cNvPr>
          <p:cNvSpPr txBox="1">
            <a:spLocks noChangeArrowheads="1"/>
          </p:cNvSpPr>
          <p:nvPr/>
        </p:nvSpPr>
        <p:spPr bwMode="auto">
          <a:xfrm>
            <a:off x="5715000" y="35814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19483" name="Text Box 63">
            <a:extLst>
              <a:ext uri="{FF2B5EF4-FFF2-40B4-BE49-F238E27FC236}">
                <a16:creationId xmlns:a16="http://schemas.microsoft.com/office/drawing/2014/main" id="{D685DF22-1794-4E42-A201-D1989C043B7C}"/>
              </a:ext>
            </a:extLst>
          </p:cNvPr>
          <p:cNvSpPr txBox="1">
            <a:spLocks noChangeArrowheads="1"/>
          </p:cNvSpPr>
          <p:nvPr/>
        </p:nvSpPr>
        <p:spPr bwMode="auto">
          <a:xfrm>
            <a:off x="5791200" y="54102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19484" name="Text Box 64">
            <a:extLst>
              <a:ext uri="{FF2B5EF4-FFF2-40B4-BE49-F238E27FC236}">
                <a16:creationId xmlns:a16="http://schemas.microsoft.com/office/drawing/2014/main" id="{9F5E17B0-0485-B641-BEAA-F78ED12085DD}"/>
              </a:ext>
            </a:extLst>
          </p:cNvPr>
          <p:cNvSpPr txBox="1">
            <a:spLocks noChangeArrowheads="1"/>
          </p:cNvSpPr>
          <p:nvPr/>
        </p:nvSpPr>
        <p:spPr bwMode="auto">
          <a:xfrm>
            <a:off x="4038600" y="52578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19485" name="Text Box 65">
            <a:extLst>
              <a:ext uri="{FF2B5EF4-FFF2-40B4-BE49-F238E27FC236}">
                <a16:creationId xmlns:a16="http://schemas.microsoft.com/office/drawing/2014/main" id="{D9BC79C3-14ED-3047-9082-3DC790C66A91}"/>
              </a:ext>
            </a:extLst>
          </p:cNvPr>
          <p:cNvSpPr txBox="1">
            <a:spLocks noChangeArrowheads="1"/>
          </p:cNvSpPr>
          <p:nvPr/>
        </p:nvSpPr>
        <p:spPr bwMode="auto">
          <a:xfrm>
            <a:off x="2682875" y="56784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19486" name="Text Box 66">
            <a:extLst>
              <a:ext uri="{FF2B5EF4-FFF2-40B4-BE49-F238E27FC236}">
                <a16:creationId xmlns:a16="http://schemas.microsoft.com/office/drawing/2014/main" id="{C7030DD4-AA3F-3F45-BCCA-80840CA0AD83}"/>
              </a:ext>
            </a:extLst>
          </p:cNvPr>
          <p:cNvSpPr txBox="1">
            <a:spLocks noChangeArrowheads="1"/>
          </p:cNvSpPr>
          <p:nvPr/>
        </p:nvSpPr>
        <p:spPr bwMode="auto">
          <a:xfrm>
            <a:off x="2667000" y="34290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19487" name="Oval 68">
            <a:extLst>
              <a:ext uri="{FF2B5EF4-FFF2-40B4-BE49-F238E27FC236}">
                <a16:creationId xmlns:a16="http://schemas.microsoft.com/office/drawing/2014/main" id="{70426CA2-D421-9E46-81B8-55724643148E}"/>
              </a:ext>
            </a:extLst>
          </p:cNvPr>
          <p:cNvSpPr>
            <a:spLocks noChangeArrowheads="1"/>
          </p:cNvSpPr>
          <p:nvPr/>
        </p:nvSpPr>
        <p:spPr bwMode="auto">
          <a:xfrm>
            <a:off x="2819400" y="55626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9488" name="Oval 69">
            <a:extLst>
              <a:ext uri="{FF2B5EF4-FFF2-40B4-BE49-F238E27FC236}">
                <a16:creationId xmlns:a16="http://schemas.microsoft.com/office/drawing/2014/main" id="{14C231B6-851A-4749-8309-00B64417FCEF}"/>
              </a:ext>
            </a:extLst>
          </p:cNvPr>
          <p:cNvSpPr>
            <a:spLocks noChangeArrowheads="1"/>
          </p:cNvSpPr>
          <p:nvPr/>
        </p:nvSpPr>
        <p:spPr bwMode="auto">
          <a:xfrm>
            <a:off x="5638800" y="39624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9489" name="Oval 70">
            <a:extLst>
              <a:ext uri="{FF2B5EF4-FFF2-40B4-BE49-F238E27FC236}">
                <a16:creationId xmlns:a16="http://schemas.microsoft.com/office/drawing/2014/main" id="{23954ADC-85FC-5E45-8F6C-83637E489BEF}"/>
              </a:ext>
            </a:extLst>
          </p:cNvPr>
          <p:cNvSpPr>
            <a:spLocks noChangeArrowheads="1"/>
          </p:cNvSpPr>
          <p:nvPr/>
        </p:nvSpPr>
        <p:spPr bwMode="auto">
          <a:xfrm>
            <a:off x="5638800" y="55626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9490" name="Oval 71">
            <a:extLst>
              <a:ext uri="{FF2B5EF4-FFF2-40B4-BE49-F238E27FC236}">
                <a16:creationId xmlns:a16="http://schemas.microsoft.com/office/drawing/2014/main" id="{FBEAFAE5-D352-2940-9542-7A4B53B3BB31}"/>
              </a:ext>
            </a:extLst>
          </p:cNvPr>
          <p:cNvSpPr>
            <a:spLocks noChangeArrowheads="1"/>
          </p:cNvSpPr>
          <p:nvPr/>
        </p:nvSpPr>
        <p:spPr bwMode="auto">
          <a:xfrm>
            <a:off x="4343400" y="33528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9491" name="Line 74">
            <a:extLst>
              <a:ext uri="{FF2B5EF4-FFF2-40B4-BE49-F238E27FC236}">
                <a16:creationId xmlns:a16="http://schemas.microsoft.com/office/drawing/2014/main" id="{886F27CD-2D6D-1746-AD9C-F4E9337A8B8E}"/>
              </a:ext>
            </a:extLst>
          </p:cNvPr>
          <p:cNvSpPr>
            <a:spLocks noChangeShapeType="1"/>
          </p:cNvSpPr>
          <p:nvPr/>
        </p:nvSpPr>
        <p:spPr bwMode="auto">
          <a:xfrm>
            <a:off x="4419600" y="3429000"/>
            <a:ext cx="1219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2" name="Oval 75">
            <a:extLst>
              <a:ext uri="{FF2B5EF4-FFF2-40B4-BE49-F238E27FC236}">
                <a16:creationId xmlns:a16="http://schemas.microsoft.com/office/drawing/2014/main" id="{F8481D7E-A438-324A-A9BE-56CF009FC7B4}"/>
              </a:ext>
            </a:extLst>
          </p:cNvPr>
          <p:cNvSpPr>
            <a:spLocks noChangeArrowheads="1"/>
          </p:cNvSpPr>
          <p:nvPr/>
        </p:nvSpPr>
        <p:spPr bwMode="auto">
          <a:xfrm>
            <a:off x="4191000" y="51054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9493" name="Line 77">
            <a:extLst>
              <a:ext uri="{FF2B5EF4-FFF2-40B4-BE49-F238E27FC236}">
                <a16:creationId xmlns:a16="http://schemas.microsoft.com/office/drawing/2014/main" id="{6CC77635-2F44-CB45-9EA2-CAFDF3AB77F5}"/>
              </a:ext>
            </a:extLst>
          </p:cNvPr>
          <p:cNvSpPr>
            <a:spLocks noChangeShapeType="1"/>
          </p:cNvSpPr>
          <p:nvPr/>
        </p:nvSpPr>
        <p:spPr bwMode="auto">
          <a:xfrm>
            <a:off x="4267200" y="5181600"/>
            <a:ext cx="13716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4" name="Oval 78">
            <a:extLst>
              <a:ext uri="{FF2B5EF4-FFF2-40B4-BE49-F238E27FC236}">
                <a16:creationId xmlns:a16="http://schemas.microsoft.com/office/drawing/2014/main" id="{51BE0C00-418A-E44B-A09E-41FD87DFEF84}"/>
              </a:ext>
            </a:extLst>
          </p:cNvPr>
          <p:cNvSpPr>
            <a:spLocks noChangeArrowheads="1"/>
          </p:cNvSpPr>
          <p:nvPr/>
        </p:nvSpPr>
        <p:spPr bwMode="auto">
          <a:xfrm>
            <a:off x="2743200" y="3886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9495" name="Oval 79">
            <a:extLst>
              <a:ext uri="{FF2B5EF4-FFF2-40B4-BE49-F238E27FC236}">
                <a16:creationId xmlns:a16="http://schemas.microsoft.com/office/drawing/2014/main" id="{5707092D-CA67-5944-934B-CB4DFD97EC65}"/>
              </a:ext>
            </a:extLst>
          </p:cNvPr>
          <p:cNvSpPr>
            <a:spLocks noChangeArrowheads="1"/>
          </p:cNvSpPr>
          <p:nvPr/>
        </p:nvSpPr>
        <p:spPr bwMode="auto">
          <a:xfrm>
            <a:off x="4114800" y="5029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9496" name="Oval 80">
            <a:extLst>
              <a:ext uri="{FF2B5EF4-FFF2-40B4-BE49-F238E27FC236}">
                <a16:creationId xmlns:a16="http://schemas.microsoft.com/office/drawing/2014/main" id="{1B7D426D-F234-3C40-ACD3-1344D1BCD300}"/>
              </a:ext>
            </a:extLst>
          </p:cNvPr>
          <p:cNvSpPr>
            <a:spLocks noChangeArrowheads="1"/>
          </p:cNvSpPr>
          <p:nvPr/>
        </p:nvSpPr>
        <p:spPr bwMode="auto">
          <a:xfrm>
            <a:off x="2743200" y="54864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9497" name="Oval 81">
            <a:extLst>
              <a:ext uri="{FF2B5EF4-FFF2-40B4-BE49-F238E27FC236}">
                <a16:creationId xmlns:a16="http://schemas.microsoft.com/office/drawing/2014/main" id="{C3B81E74-6F10-6244-AB85-D556F40E36F4}"/>
              </a:ext>
            </a:extLst>
          </p:cNvPr>
          <p:cNvSpPr>
            <a:spLocks noChangeArrowheads="1"/>
          </p:cNvSpPr>
          <p:nvPr/>
        </p:nvSpPr>
        <p:spPr bwMode="auto">
          <a:xfrm>
            <a:off x="5562600" y="54864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9498" name="Oval 82">
            <a:extLst>
              <a:ext uri="{FF2B5EF4-FFF2-40B4-BE49-F238E27FC236}">
                <a16:creationId xmlns:a16="http://schemas.microsoft.com/office/drawing/2014/main" id="{2C26FD52-1BFC-624B-A430-1279F884798F}"/>
              </a:ext>
            </a:extLst>
          </p:cNvPr>
          <p:cNvSpPr>
            <a:spLocks noChangeArrowheads="1"/>
          </p:cNvSpPr>
          <p:nvPr/>
        </p:nvSpPr>
        <p:spPr bwMode="auto">
          <a:xfrm>
            <a:off x="5562600" y="3886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19499" name="Oval 83">
            <a:extLst>
              <a:ext uri="{FF2B5EF4-FFF2-40B4-BE49-F238E27FC236}">
                <a16:creationId xmlns:a16="http://schemas.microsoft.com/office/drawing/2014/main" id="{2E3EB71E-6C26-BD43-8E59-F7A16BC30796}"/>
              </a:ext>
            </a:extLst>
          </p:cNvPr>
          <p:cNvSpPr>
            <a:spLocks noChangeArrowheads="1"/>
          </p:cNvSpPr>
          <p:nvPr/>
        </p:nvSpPr>
        <p:spPr bwMode="auto">
          <a:xfrm>
            <a:off x="4267200" y="3276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Tree>
    <p:extLst>
      <p:ext uri="{BB962C8B-B14F-4D97-AF65-F5344CB8AC3E}">
        <p14:creationId xmlns:p14="http://schemas.microsoft.com/office/powerpoint/2010/main" val="16433708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206"/>
                                        </p:tgtEl>
                                        <p:attrNameLst>
                                          <p:attrName>style.visibility</p:attrName>
                                        </p:attrNameLst>
                                      </p:cBhvr>
                                      <p:to>
                                        <p:strVal val="visible"/>
                                      </p:to>
                                    </p:set>
                                    <p:animEffect transition="in" filter="wipe(up)">
                                      <p:cBhvr>
                                        <p:cTn id="7" dur="500"/>
                                        <p:tgtEl>
                                          <p:spTgt spid="5206"/>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5205"/>
                                        </p:tgtEl>
                                        <p:attrNameLst>
                                          <p:attrName>style.visibility</p:attrName>
                                        </p:attrNameLst>
                                      </p:cBhvr>
                                      <p:to>
                                        <p:strVal val="visible"/>
                                      </p:to>
                                    </p:set>
                                    <p:animEffect transition="in" filter="wipe(up)">
                                      <p:cBhvr>
                                        <p:cTn id="11" dur="500"/>
                                        <p:tgtEl>
                                          <p:spTgt spid="5205"/>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5207"/>
                                        </p:tgtEl>
                                        <p:attrNameLst>
                                          <p:attrName>style.visibility</p:attrName>
                                        </p:attrNameLst>
                                      </p:cBhvr>
                                      <p:to>
                                        <p:strVal val="visible"/>
                                      </p:to>
                                    </p:set>
                                    <p:animEffect transition="in" filter="wipe(left)">
                                      <p:cBhvr>
                                        <p:cTn id="15" dur="500"/>
                                        <p:tgtEl>
                                          <p:spTgt spid="5207"/>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5208"/>
                                        </p:tgtEl>
                                        <p:attrNameLst>
                                          <p:attrName>style.visibility</p:attrName>
                                        </p:attrNameLst>
                                      </p:cBhvr>
                                      <p:to>
                                        <p:strVal val="visible"/>
                                      </p:to>
                                    </p:set>
                                    <p:animEffect transition="in" filter="wipe(left)">
                                      <p:cBhvr>
                                        <p:cTn id="19" dur="500"/>
                                        <p:tgtEl>
                                          <p:spTgt spid="5208"/>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5209"/>
                                        </p:tgtEl>
                                        <p:attrNameLst>
                                          <p:attrName>style.visibility</p:attrName>
                                        </p:attrNameLst>
                                      </p:cBhvr>
                                      <p:to>
                                        <p:strVal val="visible"/>
                                      </p:to>
                                    </p:set>
                                    <p:animEffect transition="in" filter="wipe(up)">
                                      <p:cBhvr>
                                        <p:cTn id="23" dur="500"/>
                                        <p:tgtEl>
                                          <p:spTgt spid="5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3">
            <a:extLst>
              <a:ext uri="{FF2B5EF4-FFF2-40B4-BE49-F238E27FC236}">
                <a16:creationId xmlns:a16="http://schemas.microsoft.com/office/drawing/2014/main" id="{9CDCB3F6-2CD3-3F4A-93CA-EE75CDC51F9B}"/>
              </a:ext>
            </a:extLst>
          </p:cNvPr>
          <p:cNvSpPr>
            <a:spLocks noGrp="1" noChangeArrowheads="1"/>
          </p:cNvSpPr>
          <p:nvPr>
            <p:ph type="body" idx="1"/>
          </p:nvPr>
        </p:nvSpPr>
        <p:spPr>
          <a:xfrm>
            <a:off x="2254250" y="1293689"/>
            <a:ext cx="7772400" cy="1108075"/>
          </a:xfrm>
        </p:spPr>
        <p:txBody>
          <a:bodyPr/>
          <a:lstStyle/>
          <a:p>
            <a:pPr eaLnBrk="1" hangingPunct="1"/>
            <a:r>
              <a:rPr lang="en-US" altLang="en-US" i="1" dirty="0">
                <a:ea typeface="ＭＳ Ｐゴシック" panose="020B0600070205080204" pitchFamily="34" charset="-128"/>
              </a:rPr>
              <a:t>Hamilton Circuit</a:t>
            </a:r>
            <a:r>
              <a:rPr lang="en-US" altLang="en-US" dirty="0">
                <a:ea typeface="ＭＳ Ｐゴシック" panose="020B0600070205080204" pitchFamily="34" charset="-128"/>
              </a:rPr>
              <a:t> – A circuit that visits each vertex in a graph exactly once.</a:t>
            </a:r>
          </a:p>
          <a:p>
            <a:pPr eaLnBrk="1" hangingPunct="1"/>
            <a:endParaRPr lang="en-US" altLang="en-US" dirty="0">
              <a:ea typeface="ＭＳ Ｐゴシック" panose="020B0600070205080204" pitchFamily="34" charset="-128"/>
            </a:endParaRPr>
          </a:p>
        </p:txBody>
      </p:sp>
      <p:sp>
        <p:nvSpPr>
          <p:cNvPr id="20486" name="Text Box 59">
            <a:extLst>
              <a:ext uri="{FF2B5EF4-FFF2-40B4-BE49-F238E27FC236}">
                <a16:creationId xmlns:a16="http://schemas.microsoft.com/office/drawing/2014/main" id="{9C18DA44-522C-1441-8CBA-94B8272AA52A}"/>
              </a:ext>
            </a:extLst>
          </p:cNvPr>
          <p:cNvSpPr txBox="1">
            <a:spLocks noChangeArrowheads="1"/>
          </p:cNvSpPr>
          <p:nvPr/>
        </p:nvSpPr>
        <p:spPr bwMode="auto">
          <a:xfrm>
            <a:off x="6705601" y="3327401"/>
            <a:ext cx="28860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a:latin typeface="Times New Roman" panose="02020603050405020304" pitchFamily="18" charset="0"/>
              </a:rPr>
              <a:t>Possible Hamilton Circuit:</a:t>
            </a:r>
          </a:p>
          <a:p>
            <a:pPr eaLnBrk="1" hangingPunct="1"/>
            <a:r>
              <a:rPr lang="en-US" altLang="en-US" sz="2000">
                <a:latin typeface="Times New Roman" panose="02020603050405020304" pitchFamily="18" charset="0"/>
              </a:rPr>
              <a:t>         </a:t>
            </a:r>
            <a:r>
              <a:rPr lang="en-US" altLang="en-US" sz="1800"/>
              <a:t>A-F-E-D-C-B-A</a:t>
            </a:r>
          </a:p>
        </p:txBody>
      </p:sp>
      <p:sp>
        <p:nvSpPr>
          <p:cNvPr id="20487" name="Text Box 51">
            <a:extLst>
              <a:ext uri="{FF2B5EF4-FFF2-40B4-BE49-F238E27FC236}">
                <a16:creationId xmlns:a16="http://schemas.microsoft.com/office/drawing/2014/main" id="{3C7EE0EE-29FE-AC43-B9EF-97446461923F}"/>
              </a:ext>
            </a:extLst>
          </p:cNvPr>
          <p:cNvSpPr txBox="1">
            <a:spLocks noChangeArrowheads="1"/>
          </p:cNvSpPr>
          <p:nvPr/>
        </p:nvSpPr>
        <p:spPr bwMode="auto">
          <a:xfrm>
            <a:off x="4191000" y="35052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20488" name="Line 68">
            <a:extLst>
              <a:ext uri="{FF2B5EF4-FFF2-40B4-BE49-F238E27FC236}">
                <a16:creationId xmlns:a16="http://schemas.microsoft.com/office/drawing/2014/main" id="{2F06D5CE-B25B-7440-A554-099A30043178}"/>
              </a:ext>
            </a:extLst>
          </p:cNvPr>
          <p:cNvSpPr>
            <a:spLocks noChangeShapeType="1"/>
          </p:cNvSpPr>
          <p:nvPr/>
        </p:nvSpPr>
        <p:spPr bwMode="auto">
          <a:xfrm>
            <a:off x="2819400" y="3962400"/>
            <a:ext cx="1371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89" name="Line 41">
            <a:extLst>
              <a:ext uri="{FF2B5EF4-FFF2-40B4-BE49-F238E27FC236}">
                <a16:creationId xmlns:a16="http://schemas.microsoft.com/office/drawing/2014/main" id="{8BDA7DC1-C872-D54E-B37A-81B7085171E4}"/>
              </a:ext>
            </a:extLst>
          </p:cNvPr>
          <p:cNvSpPr>
            <a:spLocks noChangeShapeType="1"/>
          </p:cNvSpPr>
          <p:nvPr/>
        </p:nvSpPr>
        <p:spPr bwMode="auto">
          <a:xfrm>
            <a:off x="4419600" y="3429000"/>
            <a:ext cx="1219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62" name="Line 66">
            <a:extLst>
              <a:ext uri="{FF2B5EF4-FFF2-40B4-BE49-F238E27FC236}">
                <a16:creationId xmlns:a16="http://schemas.microsoft.com/office/drawing/2014/main" id="{E4EE087F-75CB-3E4A-BF3D-1D755CA2DA08}"/>
              </a:ext>
            </a:extLst>
          </p:cNvPr>
          <p:cNvSpPr>
            <a:spLocks noChangeShapeType="1"/>
          </p:cNvSpPr>
          <p:nvPr/>
        </p:nvSpPr>
        <p:spPr bwMode="auto">
          <a:xfrm>
            <a:off x="4419600" y="3429000"/>
            <a:ext cx="1219200" cy="533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1" name="Line 40">
            <a:extLst>
              <a:ext uri="{FF2B5EF4-FFF2-40B4-BE49-F238E27FC236}">
                <a16:creationId xmlns:a16="http://schemas.microsoft.com/office/drawing/2014/main" id="{717F0A00-97EA-8749-8F9E-8E1207633D8B}"/>
              </a:ext>
            </a:extLst>
          </p:cNvPr>
          <p:cNvSpPr>
            <a:spLocks noChangeShapeType="1"/>
          </p:cNvSpPr>
          <p:nvPr/>
        </p:nvSpPr>
        <p:spPr bwMode="auto">
          <a:xfrm>
            <a:off x="5715000" y="40386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61" name="Line 65">
            <a:extLst>
              <a:ext uri="{FF2B5EF4-FFF2-40B4-BE49-F238E27FC236}">
                <a16:creationId xmlns:a16="http://schemas.microsoft.com/office/drawing/2014/main" id="{1951097A-45B5-7B4C-862B-A68B611A363F}"/>
              </a:ext>
            </a:extLst>
          </p:cNvPr>
          <p:cNvSpPr>
            <a:spLocks noChangeShapeType="1"/>
          </p:cNvSpPr>
          <p:nvPr/>
        </p:nvSpPr>
        <p:spPr bwMode="auto">
          <a:xfrm>
            <a:off x="5715000" y="4038600"/>
            <a:ext cx="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3" name="Line 44">
            <a:extLst>
              <a:ext uri="{FF2B5EF4-FFF2-40B4-BE49-F238E27FC236}">
                <a16:creationId xmlns:a16="http://schemas.microsoft.com/office/drawing/2014/main" id="{5A779AD1-F9F1-CF45-B93B-66CA253750B6}"/>
              </a:ext>
            </a:extLst>
          </p:cNvPr>
          <p:cNvSpPr>
            <a:spLocks noChangeShapeType="1"/>
          </p:cNvSpPr>
          <p:nvPr/>
        </p:nvSpPr>
        <p:spPr bwMode="auto">
          <a:xfrm>
            <a:off x="4267200" y="5181600"/>
            <a:ext cx="13716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60" name="Line 64">
            <a:extLst>
              <a:ext uri="{FF2B5EF4-FFF2-40B4-BE49-F238E27FC236}">
                <a16:creationId xmlns:a16="http://schemas.microsoft.com/office/drawing/2014/main" id="{FCE3081D-FE12-DD44-B30A-33A851A09C0D}"/>
              </a:ext>
            </a:extLst>
          </p:cNvPr>
          <p:cNvSpPr>
            <a:spLocks noChangeShapeType="1"/>
          </p:cNvSpPr>
          <p:nvPr/>
        </p:nvSpPr>
        <p:spPr bwMode="auto">
          <a:xfrm>
            <a:off x="4267200" y="5181600"/>
            <a:ext cx="1371600" cy="381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5" name="Line 43">
            <a:extLst>
              <a:ext uri="{FF2B5EF4-FFF2-40B4-BE49-F238E27FC236}">
                <a16:creationId xmlns:a16="http://schemas.microsoft.com/office/drawing/2014/main" id="{52DB1F77-8235-0C4B-BDF8-27F5F20399D5}"/>
              </a:ext>
            </a:extLst>
          </p:cNvPr>
          <p:cNvSpPr>
            <a:spLocks noChangeShapeType="1"/>
          </p:cNvSpPr>
          <p:nvPr/>
        </p:nvSpPr>
        <p:spPr bwMode="auto">
          <a:xfrm flipV="1">
            <a:off x="2895600" y="5181600"/>
            <a:ext cx="12954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59" name="Line 63">
            <a:extLst>
              <a:ext uri="{FF2B5EF4-FFF2-40B4-BE49-F238E27FC236}">
                <a16:creationId xmlns:a16="http://schemas.microsoft.com/office/drawing/2014/main" id="{B4E3A5E9-7A8A-6945-9B1E-F62D1D3177D4}"/>
              </a:ext>
            </a:extLst>
          </p:cNvPr>
          <p:cNvSpPr>
            <a:spLocks noChangeShapeType="1"/>
          </p:cNvSpPr>
          <p:nvPr/>
        </p:nvSpPr>
        <p:spPr bwMode="auto">
          <a:xfrm flipV="1">
            <a:off x="2895600" y="5181600"/>
            <a:ext cx="1295400" cy="381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7" name="Line 33">
            <a:extLst>
              <a:ext uri="{FF2B5EF4-FFF2-40B4-BE49-F238E27FC236}">
                <a16:creationId xmlns:a16="http://schemas.microsoft.com/office/drawing/2014/main" id="{EC8CCC9C-9F40-4D42-8746-6D3D0934EEF5}"/>
              </a:ext>
            </a:extLst>
          </p:cNvPr>
          <p:cNvSpPr>
            <a:spLocks noChangeShapeType="1"/>
          </p:cNvSpPr>
          <p:nvPr/>
        </p:nvSpPr>
        <p:spPr bwMode="auto">
          <a:xfrm>
            <a:off x="2819400" y="40386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58" name="Line 62">
            <a:extLst>
              <a:ext uri="{FF2B5EF4-FFF2-40B4-BE49-F238E27FC236}">
                <a16:creationId xmlns:a16="http://schemas.microsoft.com/office/drawing/2014/main" id="{592734D8-29B7-CF41-BFBF-162A2AE23D3C}"/>
              </a:ext>
            </a:extLst>
          </p:cNvPr>
          <p:cNvSpPr>
            <a:spLocks noChangeShapeType="1"/>
          </p:cNvSpPr>
          <p:nvPr/>
        </p:nvSpPr>
        <p:spPr bwMode="auto">
          <a:xfrm>
            <a:off x="2819400" y="4038600"/>
            <a:ext cx="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9" name="Line 39">
            <a:extLst>
              <a:ext uri="{FF2B5EF4-FFF2-40B4-BE49-F238E27FC236}">
                <a16:creationId xmlns:a16="http://schemas.microsoft.com/office/drawing/2014/main" id="{8703B1E7-2BDB-8E46-8184-8A1396462344}"/>
              </a:ext>
            </a:extLst>
          </p:cNvPr>
          <p:cNvSpPr>
            <a:spLocks noChangeShapeType="1"/>
          </p:cNvSpPr>
          <p:nvPr/>
        </p:nvSpPr>
        <p:spPr bwMode="auto">
          <a:xfrm flipV="1">
            <a:off x="2895600" y="3429000"/>
            <a:ext cx="1447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57" name="Line 61">
            <a:extLst>
              <a:ext uri="{FF2B5EF4-FFF2-40B4-BE49-F238E27FC236}">
                <a16:creationId xmlns:a16="http://schemas.microsoft.com/office/drawing/2014/main" id="{BEE60D6F-5122-8E4B-B4A0-284BB15E592C}"/>
              </a:ext>
            </a:extLst>
          </p:cNvPr>
          <p:cNvSpPr>
            <a:spLocks noChangeShapeType="1"/>
          </p:cNvSpPr>
          <p:nvPr/>
        </p:nvSpPr>
        <p:spPr bwMode="auto">
          <a:xfrm flipV="1">
            <a:off x="2895600" y="3429000"/>
            <a:ext cx="1447800" cy="533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1" name="Line 58">
            <a:extLst>
              <a:ext uri="{FF2B5EF4-FFF2-40B4-BE49-F238E27FC236}">
                <a16:creationId xmlns:a16="http://schemas.microsoft.com/office/drawing/2014/main" id="{29447AF8-530A-934B-B787-2C6772118B39}"/>
              </a:ext>
            </a:extLst>
          </p:cNvPr>
          <p:cNvSpPr>
            <a:spLocks noChangeShapeType="1"/>
          </p:cNvSpPr>
          <p:nvPr/>
        </p:nvSpPr>
        <p:spPr bwMode="auto">
          <a:xfrm flipV="1">
            <a:off x="4267200" y="4038600"/>
            <a:ext cx="1371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2" name="Text Box 52">
            <a:extLst>
              <a:ext uri="{FF2B5EF4-FFF2-40B4-BE49-F238E27FC236}">
                <a16:creationId xmlns:a16="http://schemas.microsoft.com/office/drawing/2014/main" id="{AE2CAA57-F871-A941-B45B-131365B30600}"/>
              </a:ext>
            </a:extLst>
          </p:cNvPr>
          <p:cNvSpPr txBox="1">
            <a:spLocks noChangeArrowheads="1"/>
          </p:cNvSpPr>
          <p:nvPr/>
        </p:nvSpPr>
        <p:spPr bwMode="auto">
          <a:xfrm>
            <a:off x="5715000" y="35814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20503" name="Text Box 53">
            <a:extLst>
              <a:ext uri="{FF2B5EF4-FFF2-40B4-BE49-F238E27FC236}">
                <a16:creationId xmlns:a16="http://schemas.microsoft.com/office/drawing/2014/main" id="{374FD632-AC84-B244-AE38-D83DB67F071F}"/>
              </a:ext>
            </a:extLst>
          </p:cNvPr>
          <p:cNvSpPr txBox="1">
            <a:spLocks noChangeArrowheads="1"/>
          </p:cNvSpPr>
          <p:nvPr/>
        </p:nvSpPr>
        <p:spPr bwMode="auto">
          <a:xfrm>
            <a:off x="5791200" y="54102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20504" name="Text Box 54">
            <a:extLst>
              <a:ext uri="{FF2B5EF4-FFF2-40B4-BE49-F238E27FC236}">
                <a16:creationId xmlns:a16="http://schemas.microsoft.com/office/drawing/2014/main" id="{08D614A8-1370-D540-978D-DE3D0BC7D2A8}"/>
              </a:ext>
            </a:extLst>
          </p:cNvPr>
          <p:cNvSpPr txBox="1">
            <a:spLocks noChangeArrowheads="1"/>
          </p:cNvSpPr>
          <p:nvPr/>
        </p:nvSpPr>
        <p:spPr bwMode="auto">
          <a:xfrm>
            <a:off x="4038600" y="52578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20505" name="Text Box 55">
            <a:extLst>
              <a:ext uri="{FF2B5EF4-FFF2-40B4-BE49-F238E27FC236}">
                <a16:creationId xmlns:a16="http://schemas.microsoft.com/office/drawing/2014/main" id="{4BFD1DD2-F3EC-4B40-BAB2-3FD10D89D5CF}"/>
              </a:ext>
            </a:extLst>
          </p:cNvPr>
          <p:cNvSpPr txBox="1">
            <a:spLocks noChangeArrowheads="1"/>
          </p:cNvSpPr>
          <p:nvPr/>
        </p:nvSpPr>
        <p:spPr bwMode="auto">
          <a:xfrm>
            <a:off x="2682875" y="56784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20506" name="Text Box 56">
            <a:extLst>
              <a:ext uri="{FF2B5EF4-FFF2-40B4-BE49-F238E27FC236}">
                <a16:creationId xmlns:a16="http://schemas.microsoft.com/office/drawing/2014/main" id="{52907E07-C5CE-5641-AC5A-0681D63C6ABE}"/>
              </a:ext>
            </a:extLst>
          </p:cNvPr>
          <p:cNvSpPr txBox="1">
            <a:spLocks noChangeArrowheads="1"/>
          </p:cNvSpPr>
          <p:nvPr/>
        </p:nvSpPr>
        <p:spPr bwMode="auto">
          <a:xfrm>
            <a:off x="2667000" y="34290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20507" name="Oval 35">
            <a:extLst>
              <a:ext uri="{FF2B5EF4-FFF2-40B4-BE49-F238E27FC236}">
                <a16:creationId xmlns:a16="http://schemas.microsoft.com/office/drawing/2014/main" id="{C28CB9DD-E0C6-2943-8944-9DCE9EB2139A}"/>
              </a:ext>
            </a:extLst>
          </p:cNvPr>
          <p:cNvSpPr>
            <a:spLocks noChangeArrowheads="1"/>
          </p:cNvSpPr>
          <p:nvPr/>
        </p:nvSpPr>
        <p:spPr bwMode="auto">
          <a:xfrm>
            <a:off x="2819400" y="55626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0508" name="Oval 36">
            <a:extLst>
              <a:ext uri="{FF2B5EF4-FFF2-40B4-BE49-F238E27FC236}">
                <a16:creationId xmlns:a16="http://schemas.microsoft.com/office/drawing/2014/main" id="{844F9FA7-D749-3746-A497-B7FAAF856E3F}"/>
              </a:ext>
            </a:extLst>
          </p:cNvPr>
          <p:cNvSpPr>
            <a:spLocks noChangeArrowheads="1"/>
          </p:cNvSpPr>
          <p:nvPr/>
        </p:nvSpPr>
        <p:spPr bwMode="auto">
          <a:xfrm>
            <a:off x="5638800" y="39624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0509" name="Oval 37">
            <a:extLst>
              <a:ext uri="{FF2B5EF4-FFF2-40B4-BE49-F238E27FC236}">
                <a16:creationId xmlns:a16="http://schemas.microsoft.com/office/drawing/2014/main" id="{942BD7E3-C0D0-FD4F-970F-2D1926EFBB8B}"/>
              </a:ext>
            </a:extLst>
          </p:cNvPr>
          <p:cNvSpPr>
            <a:spLocks noChangeArrowheads="1"/>
          </p:cNvSpPr>
          <p:nvPr/>
        </p:nvSpPr>
        <p:spPr bwMode="auto">
          <a:xfrm>
            <a:off x="5638800" y="55626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0510" name="Oval 38">
            <a:extLst>
              <a:ext uri="{FF2B5EF4-FFF2-40B4-BE49-F238E27FC236}">
                <a16:creationId xmlns:a16="http://schemas.microsoft.com/office/drawing/2014/main" id="{DB35BC1E-7A88-D04F-8FA5-C758CED95A65}"/>
              </a:ext>
            </a:extLst>
          </p:cNvPr>
          <p:cNvSpPr>
            <a:spLocks noChangeArrowheads="1"/>
          </p:cNvSpPr>
          <p:nvPr/>
        </p:nvSpPr>
        <p:spPr bwMode="auto">
          <a:xfrm>
            <a:off x="4343400" y="33528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0511" name="Oval 42">
            <a:extLst>
              <a:ext uri="{FF2B5EF4-FFF2-40B4-BE49-F238E27FC236}">
                <a16:creationId xmlns:a16="http://schemas.microsoft.com/office/drawing/2014/main" id="{008F3513-7D69-914E-928D-9A570BC7A560}"/>
              </a:ext>
            </a:extLst>
          </p:cNvPr>
          <p:cNvSpPr>
            <a:spLocks noChangeArrowheads="1"/>
          </p:cNvSpPr>
          <p:nvPr/>
        </p:nvSpPr>
        <p:spPr bwMode="auto">
          <a:xfrm>
            <a:off x="4191000" y="51054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0512" name="Oval 45">
            <a:extLst>
              <a:ext uri="{FF2B5EF4-FFF2-40B4-BE49-F238E27FC236}">
                <a16:creationId xmlns:a16="http://schemas.microsoft.com/office/drawing/2014/main" id="{4ED2A410-D359-7040-96A3-864B5A538F6D}"/>
              </a:ext>
            </a:extLst>
          </p:cNvPr>
          <p:cNvSpPr>
            <a:spLocks noChangeArrowheads="1"/>
          </p:cNvSpPr>
          <p:nvPr/>
        </p:nvSpPr>
        <p:spPr bwMode="auto">
          <a:xfrm>
            <a:off x="2743200" y="3886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0513" name="Oval 46">
            <a:extLst>
              <a:ext uri="{FF2B5EF4-FFF2-40B4-BE49-F238E27FC236}">
                <a16:creationId xmlns:a16="http://schemas.microsoft.com/office/drawing/2014/main" id="{D975BC80-37F2-4740-BFEF-DFEBC70E61FF}"/>
              </a:ext>
            </a:extLst>
          </p:cNvPr>
          <p:cNvSpPr>
            <a:spLocks noChangeArrowheads="1"/>
          </p:cNvSpPr>
          <p:nvPr/>
        </p:nvSpPr>
        <p:spPr bwMode="auto">
          <a:xfrm>
            <a:off x="4114800" y="5029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0514" name="Oval 47">
            <a:extLst>
              <a:ext uri="{FF2B5EF4-FFF2-40B4-BE49-F238E27FC236}">
                <a16:creationId xmlns:a16="http://schemas.microsoft.com/office/drawing/2014/main" id="{C7DBCE4C-76DB-2C43-B809-33EC7CA7E8D9}"/>
              </a:ext>
            </a:extLst>
          </p:cNvPr>
          <p:cNvSpPr>
            <a:spLocks noChangeArrowheads="1"/>
          </p:cNvSpPr>
          <p:nvPr/>
        </p:nvSpPr>
        <p:spPr bwMode="auto">
          <a:xfrm>
            <a:off x="2743200" y="54864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0515" name="Oval 48">
            <a:extLst>
              <a:ext uri="{FF2B5EF4-FFF2-40B4-BE49-F238E27FC236}">
                <a16:creationId xmlns:a16="http://schemas.microsoft.com/office/drawing/2014/main" id="{9385E839-FB9B-A948-90A0-6D8F9123673D}"/>
              </a:ext>
            </a:extLst>
          </p:cNvPr>
          <p:cNvSpPr>
            <a:spLocks noChangeArrowheads="1"/>
          </p:cNvSpPr>
          <p:nvPr/>
        </p:nvSpPr>
        <p:spPr bwMode="auto">
          <a:xfrm>
            <a:off x="5562600" y="54864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0516" name="Oval 49">
            <a:extLst>
              <a:ext uri="{FF2B5EF4-FFF2-40B4-BE49-F238E27FC236}">
                <a16:creationId xmlns:a16="http://schemas.microsoft.com/office/drawing/2014/main" id="{0B0DFA3B-7C02-9447-A9BD-3D5CDD831AC0}"/>
              </a:ext>
            </a:extLst>
          </p:cNvPr>
          <p:cNvSpPr>
            <a:spLocks noChangeArrowheads="1"/>
          </p:cNvSpPr>
          <p:nvPr/>
        </p:nvSpPr>
        <p:spPr bwMode="auto">
          <a:xfrm>
            <a:off x="5562600" y="3886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0517" name="Oval 50">
            <a:extLst>
              <a:ext uri="{FF2B5EF4-FFF2-40B4-BE49-F238E27FC236}">
                <a16:creationId xmlns:a16="http://schemas.microsoft.com/office/drawing/2014/main" id="{AF7E64AF-7F8C-AD4D-9075-278806FA2A7C}"/>
              </a:ext>
            </a:extLst>
          </p:cNvPr>
          <p:cNvSpPr>
            <a:spLocks noChangeArrowheads="1"/>
          </p:cNvSpPr>
          <p:nvPr/>
        </p:nvSpPr>
        <p:spPr bwMode="auto">
          <a:xfrm>
            <a:off x="4267200" y="3276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Tree>
    <p:extLst>
      <p:ext uri="{BB962C8B-B14F-4D97-AF65-F5344CB8AC3E}">
        <p14:creationId xmlns:p14="http://schemas.microsoft.com/office/powerpoint/2010/main" val="40664129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157"/>
                                        </p:tgtEl>
                                        <p:attrNameLst>
                                          <p:attrName>style.visibility</p:attrName>
                                        </p:attrNameLst>
                                      </p:cBhvr>
                                      <p:to>
                                        <p:strVal val="visible"/>
                                      </p:to>
                                    </p:set>
                                    <p:animEffect transition="in" filter="wipe(up)">
                                      <p:cBhvr>
                                        <p:cTn id="7" dur="500"/>
                                        <p:tgtEl>
                                          <p:spTgt spid="4157"/>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158"/>
                                        </p:tgtEl>
                                        <p:attrNameLst>
                                          <p:attrName>style.visibility</p:attrName>
                                        </p:attrNameLst>
                                      </p:cBhvr>
                                      <p:to>
                                        <p:strVal val="visible"/>
                                      </p:to>
                                    </p:set>
                                    <p:animEffect transition="in" filter="wipe(up)">
                                      <p:cBhvr>
                                        <p:cTn id="11" dur="500"/>
                                        <p:tgtEl>
                                          <p:spTgt spid="4158"/>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4159"/>
                                        </p:tgtEl>
                                        <p:attrNameLst>
                                          <p:attrName>style.visibility</p:attrName>
                                        </p:attrNameLst>
                                      </p:cBhvr>
                                      <p:to>
                                        <p:strVal val="visible"/>
                                      </p:to>
                                    </p:set>
                                    <p:animEffect transition="in" filter="wipe(down)">
                                      <p:cBhvr>
                                        <p:cTn id="15" dur="500"/>
                                        <p:tgtEl>
                                          <p:spTgt spid="4159"/>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4160"/>
                                        </p:tgtEl>
                                        <p:attrNameLst>
                                          <p:attrName>style.visibility</p:attrName>
                                        </p:attrNameLst>
                                      </p:cBhvr>
                                      <p:to>
                                        <p:strVal val="visible"/>
                                      </p:to>
                                    </p:set>
                                    <p:animEffect transition="in" filter="wipe(up)">
                                      <p:cBhvr>
                                        <p:cTn id="19" dur="500"/>
                                        <p:tgtEl>
                                          <p:spTgt spid="4160"/>
                                        </p:tgtEl>
                                      </p:cBhvr>
                                    </p:animEffect>
                                  </p:childTnLst>
                                </p:cTn>
                              </p:par>
                            </p:childTnLst>
                          </p:cTn>
                        </p:par>
                        <p:par>
                          <p:cTn id="20" fill="hold" nodeType="afterGroup">
                            <p:stCondLst>
                              <p:cond delay="2000"/>
                            </p:stCondLst>
                            <p:childTnLst>
                              <p:par>
                                <p:cTn id="21" presetID="22" presetClass="entr" presetSubtype="4" fill="hold" nodeType="afterEffect">
                                  <p:stCondLst>
                                    <p:cond delay="0"/>
                                  </p:stCondLst>
                                  <p:childTnLst>
                                    <p:set>
                                      <p:cBhvr>
                                        <p:cTn id="22" dur="1" fill="hold">
                                          <p:stCondLst>
                                            <p:cond delay="0"/>
                                          </p:stCondLst>
                                        </p:cTn>
                                        <p:tgtEl>
                                          <p:spTgt spid="4161"/>
                                        </p:tgtEl>
                                        <p:attrNameLst>
                                          <p:attrName>style.visibility</p:attrName>
                                        </p:attrNameLst>
                                      </p:cBhvr>
                                      <p:to>
                                        <p:strVal val="visible"/>
                                      </p:to>
                                    </p:set>
                                    <p:animEffect transition="in" filter="wipe(down)">
                                      <p:cBhvr>
                                        <p:cTn id="23" dur="500"/>
                                        <p:tgtEl>
                                          <p:spTgt spid="4161"/>
                                        </p:tgtEl>
                                      </p:cBhvr>
                                    </p:animEffect>
                                  </p:childTnLst>
                                </p:cTn>
                              </p:par>
                            </p:childTnLst>
                          </p:cTn>
                        </p:par>
                        <p:par>
                          <p:cTn id="24" fill="hold" nodeType="afterGroup">
                            <p:stCondLst>
                              <p:cond delay="2500"/>
                            </p:stCondLst>
                            <p:childTnLst>
                              <p:par>
                                <p:cTn id="25" presetID="22" presetClass="entr" presetSubtype="4" fill="hold" nodeType="afterEffect">
                                  <p:stCondLst>
                                    <p:cond delay="0"/>
                                  </p:stCondLst>
                                  <p:childTnLst>
                                    <p:set>
                                      <p:cBhvr>
                                        <p:cTn id="26" dur="1" fill="hold">
                                          <p:stCondLst>
                                            <p:cond delay="0"/>
                                          </p:stCondLst>
                                        </p:cTn>
                                        <p:tgtEl>
                                          <p:spTgt spid="4162"/>
                                        </p:tgtEl>
                                        <p:attrNameLst>
                                          <p:attrName>style.visibility</p:attrName>
                                        </p:attrNameLst>
                                      </p:cBhvr>
                                      <p:to>
                                        <p:strVal val="visible"/>
                                      </p:to>
                                    </p:set>
                                    <p:animEffect transition="in" filter="wipe(down)">
                                      <p:cBhvr>
                                        <p:cTn id="27" dur="500"/>
                                        <p:tgtEl>
                                          <p:spTgt spid="4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a:extLst>
              <a:ext uri="{FF2B5EF4-FFF2-40B4-BE49-F238E27FC236}">
                <a16:creationId xmlns:a16="http://schemas.microsoft.com/office/drawing/2014/main" id="{66F3051F-18E8-A342-AC4C-E87C3E564771}"/>
              </a:ext>
            </a:extLst>
          </p:cNvPr>
          <p:cNvSpPr>
            <a:spLocks noGrp="1" noChangeArrowheads="1"/>
          </p:cNvSpPr>
          <p:nvPr>
            <p:ph type="title"/>
          </p:nvPr>
        </p:nvSpPr>
        <p:spPr>
          <a:xfrm>
            <a:off x="1949450" y="555625"/>
            <a:ext cx="8229600" cy="1143000"/>
          </a:xfrm>
        </p:spPr>
        <p:txBody>
          <a:bodyPr/>
          <a:lstStyle/>
          <a:p>
            <a:pPr eaLnBrk="1" hangingPunct="1"/>
            <a:r>
              <a:rPr lang="en-US" altLang="en-US" dirty="0">
                <a:ea typeface="ＭＳ Ｐゴシック" panose="020B0600070205080204" pitchFamily="34" charset="-128"/>
              </a:rPr>
              <a:t>Rule 1</a:t>
            </a:r>
          </a:p>
        </p:txBody>
      </p:sp>
      <p:sp>
        <p:nvSpPr>
          <p:cNvPr id="21509" name="Rectangle 3">
            <a:extLst>
              <a:ext uri="{FF2B5EF4-FFF2-40B4-BE49-F238E27FC236}">
                <a16:creationId xmlns:a16="http://schemas.microsoft.com/office/drawing/2014/main" id="{3E370E62-3050-4F4D-90BF-F938F3260AB4}"/>
              </a:ext>
            </a:extLst>
          </p:cNvPr>
          <p:cNvSpPr>
            <a:spLocks noGrp="1" noChangeArrowheads="1"/>
          </p:cNvSpPr>
          <p:nvPr>
            <p:ph type="body" idx="1"/>
          </p:nvPr>
        </p:nvSpPr>
        <p:spPr>
          <a:xfrm>
            <a:off x="2209800" y="1981200"/>
            <a:ext cx="7772400" cy="1454150"/>
          </a:xfrm>
        </p:spPr>
        <p:txBody>
          <a:bodyPr/>
          <a:lstStyle/>
          <a:p>
            <a:pPr eaLnBrk="1" hangingPunct="1"/>
            <a:r>
              <a:rPr lang="en-US" altLang="en-US">
                <a:ea typeface="ＭＳ Ｐゴシック" panose="020B0600070205080204" pitchFamily="34" charset="-128"/>
              </a:rPr>
              <a:t>If a vertex </a:t>
            </a:r>
            <a:r>
              <a:rPr lang="en-US" altLang="en-US" i="1">
                <a:ea typeface="ＭＳ Ｐゴシック" panose="020B0600070205080204" pitchFamily="34" charset="-128"/>
              </a:rPr>
              <a:t>x</a:t>
            </a:r>
            <a:r>
              <a:rPr lang="en-US" altLang="en-US">
                <a:ea typeface="ＭＳ Ｐゴシック" panose="020B0600070205080204" pitchFamily="34" charset="-128"/>
              </a:rPr>
              <a:t> has degree 2, both of the edges incident to </a:t>
            </a:r>
            <a:r>
              <a:rPr lang="en-US" altLang="en-US" i="1">
                <a:ea typeface="ＭＳ Ｐゴシック" panose="020B0600070205080204" pitchFamily="34" charset="-128"/>
              </a:rPr>
              <a:t>x</a:t>
            </a:r>
            <a:r>
              <a:rPr lang="en-US" altLang="en-US">
                <a:ea typeface="ＭＳ Ｐゴシック" panose="020B0600070205080204" pitchFamily="34" charset="-128"/>
              </a:rPr>
              <a:t> must be part of any Hamilton Circuit.</a:t>
            </a:r>
          </a:p>
        </p:txBody>
      </p:sp>
      <p:sp>
        <p:nvSpPr>
          <p:cNvPr id="21510" name="Line 38">
            <a:extLst>
              <a:ext uri="{FF2B5EF4-FFF2-40B4-BE49-F238E27FC236}">
                <a16:creationId xmlns:a16="http://schemas.microsoft.com/office/drawing/2014/main" id="{17A9E8CE-CE52-7C4D-B6A9-52D7AD064035}"/>
              </a:ext>
            </a:extLst>
          </p:cNvPr>
          <p:cNvSpPr>
            <a:spLocks noChangeShapeType="1"/>
          </p:cNvSpPr>
          <p:nvPr/>
        </p:nvSpPr>
        <p:spPr bwMode="auto">
          <a:xfrm>
            <a:off x="2743200" y="4114800"/>
            <a:ext cx="1371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1" name="Line 6">
            <a:extLst>
              <a:ext uri="{FF2B5EF4-FFF2-40B4-BE49-F238E27FC236}">
                <a16:creationId xmlns:a16="http://schemas.microsoft.com/office/drawing/2014/main" id="{F9747D90-F721-0B48-A754-33CABD58279F}"/>
              </a:ext>
            </a:extLst>
          </p:cNvPr>
          <p:cNvSpPr>
            <a:spLocks noChangeShapeType="1"/>
          </p:cNvSpPr>
          <p:nvPr/>
        </p:nvSpPr>
        <p:spPr bwMode="auto">
          <a:xfrm>
            <a:off x="4343400" y="3581400"/>
            <a:ext cx="1219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2" name="Line 8">
            <a:extLst>
              <a:ext uri="{FF2B5EF4-FFF2-40B4-BE49-F238E27FC236}">
                <a16:creationId xmlns:a16="http://schemas.microsoft.com/office/drawing/2014/main" id="{79F56846-A344-7D4A-9AEB-2C3831837D88}"/>
              </a:ext>
            </a:extLst>
          </p:cNvPr>
          <p:cNvSpPr>
            <a:spLocks noChangeShapeType="1"/>
          </p:cNvSpPr>
          <p:nvPr/>
        </p:nvSpPr>
        <p:spPr bwMode="auto">
          <a:xfrm>
            <a:off x="5638800" y="41910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3" name="Line 10">
            <a:extLst>
              <a:ext uri="{FF2B5EF4-FFF2-40B4-BE49-F238E27FC236}">
                <a16:creationId xmlns:a16="http://schemas.microsoft.com/office/drawing/2014/main" id="{6A030BA6-0EDB-A24F-AD50-C783591E1B9C}"/>
              </a:ext>
            </a:extLst>
          </p:cNvPr>
          <p:cNvSpPr>
            <a:spLocks noChangeShapeType="1"/>
          </p:cNvSpPr>
          <p:nvPr/>
        </p:nvSpPr>
        <p:spPr bwMode="auto">
          <a:xfrm>
            <a:off x="4191000" y="5334000"/>
            <a:ext cx="13716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4" name="Line 13">
            <a:extLst>
              <a:ext uri="{FF2B5EF4-FFF2-40B4-BE49-F238E27FC236}">
                <a16:creationId xmlns:a16="http://schemas.microsoft.com/office/drawing/2014/main" id="{C19E2860-E182-0A41-A82F-058AB67C0A3E}"/>
              </a:ext>
            </a:extLst>
          </p:cNvPr>
          <p:cNvSpPr>
            <a:spLocks noChangeShapeType="1"/>
          </p:cNvSpPr>
          <p:nvPr/>
        </p:nvSpPr>
        <p:spPr bwMode="auto">
          <a:xfrm flipV="1">
            <a:off x="2819400" y="5334000"/>
            <a:ext cx="1295400" cy="381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5" name="Line 15">
            <a:extLst>
              <a:ext uri="{FF2B5EF4-FFF2-40B4-BE49-F238E27FC236}">
                <a16:creationId xmlns:a16="http://schemas.microsoft.com/office/drawing/2014/main" id="{F4D0BD38-8A14-6846-A2D3-BBA3717DCF53}"/>
              </a:ext>
            </a:extLst>
          </p:cNvPr>
          <p:cNvSpPr>
            <a:spLocks noChangeShapeType="1"/>
          </p:cNvSpPr>
          <p:nvPr/>
        </p:nvSpPr>
        <p:spPr bwMode="auto">
          <a:xfrm>
            <a:off x="2743200" y="4191000"/>
            <a:ext cx="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6" name="Line 16">
            <a:extLst>
              <a:ext uri="{FF2B5EF4-FFF2-40B4-BE49-F238E27FC236}">
                <a16:creationId xmlns:a16="http://schemas.microsoft.com/office/drawing/2014/main" id="{3D47795D-4C6F-EA49-8914-C0F2528ADEA9}"/>
              </a:ext>
            </a:extLst>
          </p:cNvPr>
          <p:cNvSpPr>
            <a:spLocks noChangeShapeType="1"/>
          </p:cNvSpPr>
          <p:nvPr/>
        </p:nvSpPr>
        <p:spPr bwMode="auto">
          <a:xfrm flipV="1">
            <a:off x="2819400" y="3581400"/>
            <a:ext cx="1447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7" name="Line 19">
            <a:extLst>
              <a:ext uri="{FF2B5EF4-FFF2-40B4-BE49-F238E27FC236}">
                <a16:creationId xmlns:a16="http://schemas.microsoft.com/office/drawing/2014/main" id="{382711BD-326A-3E4C-9B89-77250BBBBE05}"/>
              </a:ext>
            </a:extLst>
          </p:cNvPr>
          <p:cNvSpPr>
            <a:spLocks noChangeShapeType="1"/>
          </p:cNvSpPr>
          <p:nvPr/>
        </p:nvSpPr>
        <p:spPr bwMode="auto">
          <a:xfrm flipV="1">
            <a:off x="4191000" y="4191000"/>
            <a:ext cx="1371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8" name="Text Box 20">
            <a:extLst>
              <a:ext uri="{FF2B5EF4-FFF2-40B4-BE49-F238E27FC236}">
                <a16:creationId xmlns:a16="http://schemas.microsoft.com/office/drawing/2014/main" id="{A26D2FD7-42C9-2A48-9EBD-B48BE8838588}"/>
              </a:ext>
            </a:extLst>
          </p:cNvPr>
          <p:cNvSpPr txBox="1">
            <a:spLocks noChangeArrowheads="1"/>
          </p:cNvSpPr>
          <p:nvPr/>
        </p:nvSpPr>
        <p:spPr bwMode="auto">
          <a:xfrm>
            <a:off x="4114800" y="36576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21519" name="Text Box 21">
            <a:extLst>
              <a:ext uri="{FF2B5EF4-FFF2-40B4-BE49-F238E27FC236}">
                <a16:creationId xmlns:a16="http://schemas.microsoft.com/office/drawing/2014/main" id="{CC896D74-2438-9840-9B00-965289A92603}"/>
              </a:ext>
            </a:extLst>
          </p:cNvPr>
          <p:cNvSpPr txBox="1">
            <a:spLocks noChangeArrowheads="1"/>
          </p:cNvSpPr>
          <p:nvPr/>
        </p:nvSpPr>
        <p:spPr bwMode="auto">
          <a:xfrm>
            <a:off x="5638800" y="37338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21520" name="Text Box 22">
            <a:extLst>
              <a:ext uri="{FF2B5EF4-FFF2-40B4-BE49-F238E27FC236}">
                <a16:creationId xmlns:a16="http://schemas.microsoft.com/office/drawing/2014/main" id="{AC3CC433-FC2D-164D-81B1-4017281592E3}"/>
              </a:ext>
            </a:extLst>
          </p:cNvPr>
          <p:cNvSpPr txBox="1">
            <a:spLocks noChangeArrowheads="1"/>
          </p:cNvSpPr>
          <p:nvPr/>
        </p:nvSpPr>
        <p:spPr bwMode="auto">
          <a:xfrm>
            <a:off x="5715000" y="55626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21521" name="Text Box 23">
            <a:extLst>
              <a:ext uri="{FF2B5EF4-FFF2-40B4-BE49-F238E27FC236}">
                <a16:creationId xmlns:a16="http://schemas.microsoft.com/office/drawing/2014/main" id="{30E0ED26-6D62-2145-B486-822DA527DF30}"/>
              </a:ext>
            </a:extLst>
          </p:cNvPr>
          <p:cNvSpPr txBox="1">
            <a:spLocks noChangeArrowheads="1"/>
          </p:cNvSpPr>
          <p:nvPr/>
        </p:nvSpPr>
        <p:spPr bwMode="auto">
          <a:xfrm>
            <a:off x="3962400" y="54102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21522" name="Text Box 24">
            <a:extLst>
              <a:ext uri="{FF2B5EF4-FFF2-40B4-BE49-F238E27FC236}">
                <a16:creationId xmlns:a16="http://schemas.microsoft.com/office/drawing/2014/main" id="{A277D9EE-1942-C84B-BA3F-E62059AE5E8A}"/>
              </a:ext>
            </a:extLst>
          </p:cNvPr>
          <p:cNvSpPr txBox="1">
            <a:spLocks noChangeArrowheads="1"/>
          </p:cNvSpPr>
          <p:nvPr/>
        </p:nvSpPr>
        <p:spPr bwMode="auto">
          <a:xfrm>
            <a:off x="2606675" y="58308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21523" name="Text Box 25">
            <a:extLst>
              <a:ext uri="{FF2B5EF4-FFF2-40B4-BE49-F238E27FC236}">
                <a16:creationId xmlns:a16="http://schemas.microsoft.com/office/drawing/2014/main" id="{11ECB289-E46B-4A4C-B34A-7CF00E23E8AF}"/>
              </a:ext>
            </a:extLst>
          </p:cNvPr>
          <p:cNvSpPr txBox="1">
            <a:spLocks noChangeArrowheads="1"/>
          </p:cNvSpPr>
          <p:nvPr/>
        </p:nvSpPr>
        <p:spPr bwMode="auto">
          <a:xfrm>
            <a:off x="2590800" y="35814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21524" name="Oval 26">
            <a:extLst>
              <a:ext uri="{FF2B5EF4-FFF2-40B4-BE49-F238E27FC236}">
                <a16:creationId xmlns:a16="http://schemas.microsoft.com/office/drawing/2014/main" id="{BC414284-DB52-714C-819F-8B82D8FD61E9}"/>
              </a:ext>
            </a:extLst>
          </p:cNvPr>
          <p:cNvSpPr>
            <a:spLocks noChangeArrowheads="1"/>
          </p:cNvSpPr>
          <p:nvPr/>
        </p:nvSpPr>
        <p:spPr bwMode="auto">
          <a:xfrm>
            <a:off x="2743200" y="57150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525" name="Oval 27">
            <a:extLst>
              <a:ext uri="{FF2B5EF4-FFF2-40B4-BE49-F238E27FC236}">
                <a16:creationId xmlns:a16="http://schemas.microsoft.com/office/drawing/2014/main" id="{AE34E8C8-F2EA-3044-99D1-9B08E1E20AEA}"/>
              </a:ext>
            </a:extLst>
          </p:cNvPr>
          <p:cNvSpPr>
            <a:spLocks noChangeArrowheads="1"/>
          </p:cNvSpPr>
          <p:nvPr/>
        </p:nvSpPr>
        <p:spPr bwMode="auto">
          <a:xfrm>
            <a:off x="5562600" y="41148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526" name="Oval 28">
            <a:extLst>
              <a:ext uri="{FF2B5EF4-FFF2-40B4-BE49-F238E27FC236}">
                <a16:creationId xmlns:a16="http://schemas.microsoft.com/office/drawing/2014/main" id="{24DE9901-140E-8449-B574-EF2B9D8C3C3A}"/>
              </a:ext>
            </a:extLst>
          </p:cNvPr>
          <p:cNvSpPr>
            <a:spLocks noChangeArrowheads="1"/>
          </p:cNvSpPr>
          <p:nvPr/>
        </p:nvSpPr>
        <p:spPr bwMode="auto">
          <a:xfrm>
            <a:off x="5562600" y="57150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527" name="Oval 29">
            <a:extLst>
              <a:ext uri="{FF2B5EF4-FFF2-40B4-BE49-F238E27FC236}">
                <a16:creationId xmlns:a16="http://schemas.microsoft.com/office/drawing/2014/main" id="{70D01EEC-ECD9-7E45-AE6D-07148BC25356}"/>
              </a:ext>
            </a:extLst>
          </p:cNvPr>
          <p:cNvSpPr>
            <a:spLocks noChangeArrowheads="1"/>
          </p:cNvSpPr>
          <p:nvPr/>
        </p:nvSpPr>
        <p:spPr bwMode="auto">
          <a:xfrm>
            <a:off x="4267200" y="35052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528" name="Oval 30">
            <a:extLst>
              <a:ext uri="{FF2B5EF4-FFF2-40B4-BE49-F238E27FC236}">
                <a16:creationId xmlns:a16="http://schemas.microsoft.com/office/drawing/2014/main" id="{C2109EAE-CF85-0046-97C7-3418D474CB4B}"/>
              </a:ext>
            </a:extLst>
          </p:cNvPr>
          <p:cNvSpPr>
            <a:spLocks noChangeArrowheads="1"/>
          </p:cNvSpPr>
          <p:nvPr/>
        </p:nvSpPr>
        <p:spPr bwMode="auto">
          <a:xfrm>
            <a:off x="4114800" y="52578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529" name="Oval 31">
            <a:extLst>
              <a:ext uri="{FF2B5EF4-FFF2-40B4-BE49-F238E27FC236}">
                <a16:creationId xmlns:a16="http://schemas.microsoft.com/office/drawing/2014/main" id="{888F964A-990C-FC4F-9328-A5DA39E37C9D}"/>
              </a:ext>
            </a:extLst>
          </p:cNvPr>
          <p:cNvSpPr>
            <a:spLocks noChangeArrowheads="1"/>
          </p:cNvSpPr>
          <p:nvPr/>
        </p:nvSpPr>
        <p:spPr bwMode="auto">
          <a:xfrm>
            <a:off x="2667000" y="4038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530" name="Oval 32">
            <a:extLst>
              <a:ext uri="{FF2B5EF4-FFF2-40B4-BE49-F238E27FC236}">
                <a16:creationId xmlns:a16="http://schemas.microsoft.com/office/drawing/2014/main" id="{558BC05B-591B-0047-87A7-76F0F7FF6644}"/>
              </a:ext>
            </a:extLst>
          </p:cNvPr>
          <p:cNvSpPr>
            <a:spLocks noChangeArrowheads="1"/>
          </p:cNvSpPr>
          <p:nvPr/>
        </p:nvSpPr>
        <p:spPr bwMode="auto">
          <a:xfrm>
            <a:off x="4038600" y="5181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531" name="Oval 33">
            <a:extLst>
              <a:ext uri="{FF2B5EF4-FFF2-40B4-BE49-F238E27FC236}">
                <a16:creationId xmlns:a16="http://schemas.microsoft.com/office/drawing/2014/main" id="{1546CA56-B357-1F44-84A9-FDBFA353B586}"/>
              </a:ext>
            </a:extLst>
          </p:cNvPr>
          <p:cNvSpPr>
            <a:spLocks noChangeArrowheads="1"/>
          </p:cNvSpPr>
          <p:nvPr/>
        </p:nvSpPr>
        <p:spPr bwMode="auto">
          <a:xfrm>
            <a:off x="2667000" y="56388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532" name="Oval 34">
            <a:extLst>
              <a:ext uri="{FF2B5EF4-FFF2-40B4-BE49-F238E27FC236}">
                <a16:creationId xmlns:a16="http://schemas.microsoft.com/office/drawing/2014/main" id="{356B24D0-519E-B54D-B8F4-D182CAEF837E}"/>
              </a:ext>
            </a:extLst>
          </p:cNvPr>
          <p:cNvSpPr>
            <a:spLocks noChangeArrowheads="1"/>
          </p:cNvSpPr>
          <p:nvPr/>
        </p:nvSpPr>
        <p:spPr bwMode="auto">
          <a:xfrm>
            <a:off x="5486400" y="56388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533" name="Oval 35">
            <a:extLst>
              <a:ext uri="{FF2B5EF4-FFF2-40B4-BE49-F238E27FC236}">
                <a16:creationId xmlns:a16="http://schemas.microsoft.com/office/drawing/2014/main" id="{BE781855-9229-6348-A1E2-C38FF37A1A0F}"/>
              </a:ext>
            </a:extLst>
          </p:cNvPr>
          <p:cNvSpPr>
            <a:spLocks noChangeArrowheads="1"/>
          </p:cNvSpPr>
          <p:nvPr/>
        </p:nvSpPr>
        <p:spPr bwMode="auto">
          <a:xfrm>
            <a:off x="5486400" y="4038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534" name="Oval 36">
            <a:extLst>
              <a:ext uri="{FF2B5EF4-FFF2-40B4-BE49-F238E27FC236}">
                <a16:creationId xmlns:a16="http://schemas.microsoft.com/office/drawing/2014/main" id="{EA8CB6F7-EFB1-3C49-A54C-985CE3B1A1CA}"/>
              </a:ext>
            </a:extLst>
          </p:cNvPr>
          <p:cNvSpPr>
            <a:spLocks noChangeArrowheads="1"/>
          </p:cNvSpPr>
          <p:nvPr/>
        </p:nvSpPr>
        <p:spPr bwMode="auto">
          <a:xfrm>
            <a:off x="4191000" y="34290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535" name="Text Box 37">
            <a:extLst>
              <a:ext uri="{FF2B5EF4-FFF2-40B4-BE49-F238E27FC236}">
                <a16:creationId xmlns:a16="http://schemas.microsoft.com/office/drawing/2014/main" id="{4F744CD9-11CC-6847-BF1E-8A1BD27CA1A0}"/>
              </a:ext>
            </a:extLst>
          </p:cNvPr>
          <p:cNvSpPr txBox="1">
            <a:spLocks noChangeArrowheads="1"/>
          </p:cNvSpPr>
          <p:nvPr/>
        </p:nvSpPr>
        <p:spPr bwMode="auto">
          <a:xfrm>
            <a:off x="6934200" y="3581401"/>
            <a:ext cx="3505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a:latin typeface="Times New Roman" panose="02020603050405020304" pitchFamily="18" charset="0"/>
              </a:rPr>
              <a:t>Edges </a:t>
            </a:r>
            <a:r>
              <a:rPr lang="en-US" altLang="en-US" sz="1800"/>
              <a:t>FE</a:t>
            </a:r>
            <a:r>
              <a:rPr lang="en-US" altLang="en-US" sz="2000">
                <a:latin typeface="Times New Roman" panose="02020603050405020304" pitchFamily="18" charset="0"/>
              </a:rPr>
              <a:t> and </a:t>
            </a:r>
            <a:r>
              <a:rPr lang="en-US" altLang="en-US" sz="1800"/>
              <a:t>ED</a:t>
            </a:r>
            <a:r>
              <a:rPr lang="en-US" altLang="en-US" sz="2000">
                <a:latin typeface="Times New Roman" panose="02020603050405020304" pitchFamily="18" charset="0"/>
              </a:rPr>
              <a:t> must be included in a Hamilton Circuit if one exists.</a:t>
            </a:r>
          </a:p>
        </p:txBody>
      </p:sp>
    </p:spTree>
    <p:extLst>
      <p:ext uri="{BB962C8B-B14F-4D97-AF65-F5344CB8AC3E}">
        <p14:creationId xmlns:p14="http://schemas.microsoft.com/office/powerpoint/2010/main" val="3681652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8F6762BE-1A31-034C-9ED3-14897A4E2850}"/>
              </a:ext>
            </a:extLst>
          </p:cNvPr>
          <p:cNvSpPr>
            <a:spLocks noGrp="1" noChangeArrowheads="1"/>
          </p:cNvSpPr>
          <p:nvPr>
            <p:ph type="title"/>
          </p:nvPr>
        </p:nvSpPr>
        <p:spPr/>
        <p:txBody>
          <a:bodyPr/>
          <a:lstStyle/>
          <a:p>
            <a:pPr eaLnBrk="1" hangingPunct="1"/>
            <a:r>
              <a:rPr lang="en-US" altLang="en-US" dirty="0">
                <a:ea typeface="ＭＳ Ｐゴシック" panose="020B0600070205080204" pitchFamily="34" charset="-128"/>
              </a:rPr>
              <a:t>Rule 2</a:t>
            </a:r>
          </a:p>
        </p:txBody>
      </p:sp>
      <p:sp>
        <p:nvSpPr>
          <p:cNvPr id="23557" name="Rectangle 3">
            <a:extLst>
              <a:ext uri="{FF2B5EF4-FFF2-40B4-BE49-F238E27FC236}">
                <a16:creationId xmlns:a16="http://schemas.microsoft.com/office/drawing/2014/main" id="{30EEA315-DF9E-9B4A-ADCC-609260A8FC27}"/>
              </a:ext>
            </a:extLst>
          </p:cNvPr>
          <p:cNvSpPr>
            <a:spLocks noGrp="1" noChangeArrowheads="1"/>
          </p:cNvSpPr>
          <p:nvPr>
            <p:ph type="body" idx="1"/>
          </p:nvPr>
        </p:nvSpPr>
        <p:spPr>
          <a:xfrm>
            <a:off x="2209800" y="1676400"/>
            <a:ext cx="7772400" cy="1600200"/>
          </a:xfrm>
        </p:spPr>
        <p:txBody>
          <a:bodyPr/>
          <a:lstStyle/>
          <a:p>
            <a:pPr eaLnBrk="1" hangingPunct="1"/>
            <a:r>
              <a:rPr lang="en-US" altLang="en-US">
                <a:ea typeface="ＭＳ Ｐゴシック" panose="020B0600070205080204" pitchFamily="34" charset="-128"/>
              </a:rPr>
              <a:t>Once the Hamilton Circuit is required to use two edges at a vertex </a:t>
            </a:r>
            <a:r>
              <a:rPr lang="en-US" altLang="en-US" i="1">
                <a:ea typeface="ＭＳ Ｐゴシック" panose="020B0600070205080204" pitchFamily="34" charset="-128"/>
              </a:rPr>
              <a:t>x</a:t>
            </a:r>
            <a:r>
              <a:rPr lang="en-US" altLang="en-US">
                <a:ea typeface="ＭＳ Ｐゴシック" panose="020B0600070205080204" pitchFamily="34" charset="-128"/>
              </a:rPr>
              <a:t>, all other (unused) edges incident at </a:t>
            </a:r>
            <a:r>
              <a:rPr lang="en-US" altLang="en-US" i="1">
                <a:ea typeface="ＭＳ Ｐゴシック" panose="020B0600070205080204" pitchFamily="34" charset="-128"/>
              </a:rPr>
              <a:t>x</a:t>
            </a:r>
            <a:r>
              <a:rPr lang="en-US" altLang="en-US">
                <a:ea typeface="ＭＳ Ｐゴシック" panose="020B0600070205080204" pitchFamily="34" charset="-128"/>
              </a:rPr>
              <a:t> can be deleted.</a:t>
            </a:r>
          </a:p>
        </p:txBody>
      </p:sp>
      <p:sp>
        <p:nvSpPr>
          <p:cNvPr id="23558" name="Line 6">
            <a:extLst>
              <a:ext uri="{FF2B5EF4-FFF2-40B4-BE49-F238E27FC236}">
                <a16:creationId xmlns:a16="http://schemas.microsoft.com/office/drawing/2014/main" id="{D2978E7C-49B0-2B47-9C97-4DA062E456D0}"/>
              </a:ext>
            </a:extLst>
          </p:cNvPr>
          <p:cNvSpPr>
            <a:spLocks noChangeShapeType="1"/>
          </p:cNvSpPr>
          <p:nvPr/>
        </p:nvSpPr>
        <p:spPr bwMode="auto">
          <a:xfrm>
            <a:off x="4343400" y="3657600"/>
            <a:ext cx="1219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9" name="Line 7">
            <a:extLst>
              <a:ext uri="{FF2B5EF4-FFF2-40B4-BE49-F238E27FC236}">
                <a16:creationId xmlns:a16="http://schemas.microsoft.com/office/drawing/2014/main" id="{0915EE08-60C7-9E4A-B4C3-4C827B0395BF}"/>
              </a:ext>
            </a:extLst>
          </p:cNvPr>
          <p:cNvSpPr>
            <a:spLocks noChangeShapeType="1"/>
          </p:cNvSpPr>
          <p:nvPr/>
        </p:nvSpPr>
        <p:spPr bwMode="auto">
          <a:xfrm>
            <a:off x="5638800" y="42672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0" name="Line 8">
            <a:extLst>
              <a:ext uri="{FF2B5EF4-FFF2-40B4-BE49-F238E27FC236}">
                <a16:creationId xmlns:a16="http://schemas.microsoft.com/office/drawing/2014/main" id="{15F03F98-9D63-D440-87AB-3955C0B100B2}"/>
              </a:ext>
            </a:extLst>
          </p:cNvPr>
          <p:cNvSpPr>
            <a:spLocks noChangeShapeType="1"/>
          </p:cNvSpPr>
          <p:nvPr/>
        </p:nvSpPr>
        <p:spPr bwMode="auto">
          <a:xfrm>
            <a:off x="4191000" y="5410200"/>
            <a:ext cx="13716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1" name="Line 9">
            <a:extLst>
              <a:ext uri="{FF2B5EF4-FFF2-40B4-BE49-F238E27FC236}">
                <a16:creationId xmlns:a16="http://schemas.microsoft.com/office/drawing/2014/main" id="{25AA0FD6-0008-C44D-8B39-CF642DB1B113}"/>
              </a:ext>
            </a:extLst>
          </p:cNvPr>
          <p:cNvSpPr>
            <a:spLocks noChangeShapeType="1"/>
          </p:cNvSpPr>
          <p:nvPr/>
        </p:nvSpPr>
        <p:spPr bwMode="auto">
          <a:xfrm flipV="1">
            <a:off x="2819400" y="5410200"/>
            <a:ext cx="12954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2" name="Line 10">
            <a:extLst>
              <a:ext uri="{FF2B5EF4-FFF2-40B4-BE49-F238E27FC236}">
                <a16:creationId xmlns:a16="http://schemas.microsoft.com/office/drawing/2014/main" id="{007C923C-907A-824D-BC05-B7CD392E9EB1}"/>
              </a:ext>
            </a:extLst>
          </p:cNvPr>
          <p:cNvSpPr>
            <a:spLocks noChangeShapeType="1"/>
          </p:cNvSpPr>
          <p:nvPr/>
        </p:nvSpPr>
        <p:spPr bwMode="auto">
          <a:xfrm>
            <a:off x="2743200" y="4267200"/>
            <a:ext cx="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3" name="Line 11">
            <a:extLst>
              <a:ext uri="{FF2B5EF4-FFF2-40B4-BE49-F238E27FC236}">
                <a16:creationId xmlns:a16="http://schemas.microsoft.com/office/drawing/2014/main" id="{5D0D1FA5-D596-1B4F-81CE-37B8AB9B6E7F}"/>
              </a:ext>
            </a:extLst>
          </p:cNvPr>
          <p:cNvSpPr>
            <a:spLocks noChangeShapeType="1"/>
          </p:cNvSpPr>
          <p:nvPr/>
        </p:nvSpPr>
        <p:spPr bwMode="auto">
          <a:xfrm flipV="1">
            <a:off x="2819400" y="3657600"/>
            <a:ext cx="1447800" cy="533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04" name="Line 12">
            <a:extLst>
              <a:ext uri="{FF2B5EF4-FFF2-40B4-BE49-F238E27FC236}">
                <a16:creationId xmlns:a16="http://schemas.microsoft.com/office/drawing/2014/main" id="{4F6DE783-D1C9-F144-8DF9-A146B7F72BB8}"/>
              </a:ext>
            </a:extLst>
          </p:cNvPr>
          <p:cNvSpPr>
            <a:spLocks noChangeShapeType="1"/>
          </p:cNvSpPr>
          <p:nvPr/>
        </p:nvSpPr>
        <p:spPr bwMode="auto">
          <a:xfrm>
            <a:off x="2743200" y="4191000"/>
            <a:ext cx="1371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5" name="Line 13">
            <a:extLst>
              <a:ext uri="{FF2B5EF4-FFF2-40B4-BE49-F238E27FC236}">
                <a16:creationId xmlns:a16="http://schemas.microsoft.com/office/drawing/2014/main" id="{050E1122-6108-3846-A76C-120A112FD4F2}"/>
              </a:ext>
            </a:extLst>
          </p:cNvPr>
          <p:cNvSpPr>
            <a:spLocks noChangeShapeType="1"/>
          </p:cNvSpPr>
          <p:nvPr/>
        </p:nvSpPr>
        <p:spPr bwMode="auto">
          <a:xfrm flipV="1">
            <a:off x="4191000" y="4267200"/>
            <a:ext cx="1371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6" name="Text Box 14">
            <a:extLst>
              <a:ext uri="{FF2B5EF4-FFF2-40B4-BE49-F238E27FC236}">
                <a16:creationId xmlns:a16="http://schemas.microsoft.com/office/drawing/2014/main" id="{ADA8E44D-E5BF-4A4E-887D-E3B217EC6C32}"/>
              </a:ext>
            </a:extLst>
          </p:cNvPr>
          <p:cNvSpPr txBox="1">
            <a:spLocks noChangeArrowheads="1"/>
          </p:cNvSpPr>
          <p:nvPr/>
        </p:nvSpPr>
        <p:spPr bwMode="auto">
          <a:xfrm>
            <a:off x="4114800" y="37338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23567" name="Text Box 15">
            <a:extLst>
              <a:ext uri="{FF2B5EF4-FFF2-40B4-BE49-F238E27FC236}">
                <a16:creationId xmlns:a16="http://schemas.microsoft.com/office/drawing/2014/main" id="{4D79B6BB-AF9B-D84B-A622-DB508128876B}"/>
              </a:ext>
            </a:extLst>
          </p:cNvPr>
          <p:cNvSpPr txBox="1">
            <a:spLocks noChangeArrowheads="1"/>
          </p:cNvSpPr>
          <p:nvPr/>
        </p:nvSpPr>
        <p:spPr bwMode="auto">
          <a:xfrm>
            <a:off x="5638800" y="38100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23568" name="Text Box 16">
            <a:extLst>
              <a:ext uri="{FF2B5EF4-FFF2-40B4-BE49-F238E27FC236}">
                <a16:creationId xmlns:a16="http://schemas.microsoft.com/office/drawing/2014/main" id="{13395C9A-8458-C444-AB98-F46EB07BB64A}"/>
              </a:ext>
            </a:extLst>
          </p:cNvPr>
          <p:cNvSpPr txBox="1">
            <a:spLocks noChangeArrowheads="1"/>
          </p:cNvSpPr>
          <p:nvPr/>
        </p:nvSpPr>
        <p:spPr bwMode="auto">
          <a:xfrm>
            <a:off x="5715000" y="56388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23569" name="Text Box 17">
            <a:extLst>
              <a:ext uri="{FF2B5EF4-FFF2-40B4-BE49-F238E27FC236}">
                <a16:creationId xmlns:a16="http://schemas.microsoft.com/office/drawing/2014/main" id="{508E38D5-7C52-7448-B172-DB27D1E96BCA}"/>
              </a:ext>
            </a:extLst>
          </p:cNvPr>
          <p:cNvSpPr txBox="1">
            <a:spLocks noChangeArrowheads="1"/>
          </p:cNvSpPr>
          <p:nvPr/>
        </p:nvSpPr>
        <p:spPr bwMode="auto">
          <a:xfrm>
            <a:off x="3962400" y="54864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23570" name="Text Box 18">
            <a:extLst>
              <a:ext uri="{FF2B5EF4-FFF2-40B4-BE49-F238E27FC236}">
                <a16:creationId xmlns:a16="http://schemas.microsoft.com/office/drawing/2014/main" id="{395FD4C7-6C46-EF42-B1DD-E64B0228677B}"/>
              </a:ext>
            </a:extLst>
          </p:cNvPr>
          <p:cNvSpPr txBox="1">
            <a:spLocks noChangeArrowheads="1"/>
          </p:cNvSpPr>
          <p:nvPr/>
        </p:nvSpPr>
        <p:spPr bwMode="auto">
          <a:xfrm>
            <a:off x="2606675" y="59070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23571" name="Text Box 19">
            <a:extLst>
              <a:ext uri="{FF2B5EF4-FFF2-40B4-BE49-F238E27FC236}">
                <a16:creationId xmlns:a16="http://schemas.microsoft.com/office/drawing/2014/main" id="{C084C290-F090-2044-B004-9E3AB77244D6}"/>
              </a:ext>
            </a:extLst>
          </p:cNvPr>
          <p:cNvSpPr txBox="1">
            <a:spLocks noChangeArrowheads="1"/>
          </p:cNvSpPr>
          <p:nvPr/>
        </p:nvSpPr>
        <p:spPr bwMode="auto">
          <a:xfrm>
            <a:off x="2590800" y="36576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23572" name="Oval 20">
            <a:extLst>
              <a:ext uri="{FF2B5EF4-FFF2-40B4-BE49-F238E27FC236}">
                <a16:creationId xmlns:a16="http://schemas.microsoft.com/office/drawing/2014/main" id="{78047BAA-061A-3246-B942-E32698765E94}"/>
              </a:ext>
            </a:extLst>
          </p:cNvPr>
          <p:cNvSpPr>
            <a:spLocks noChangeArrowheads="1"/>
          </p:cNvSpPr>
          <p:nvPr/>
        </p:nvSpPr>
        <p:spPr bwMode="auto">
          <a:xfrm>
            <a:off x="2743200" y="57912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573" name="Oval 21">
            <a:extLst>
              <a:ext uri="{FF2B5EF4-FFF2-40B4-BE49-F238E27FC236}">
                <a16:creationId xmlns:a16="http://schemas.microsoft.com/office/drawing/2014/main" id="{EF80DF95-57E2-9841-8FBD-E3A7AAAE9EA1}"/>
              </a:ext>
            </a:extLst>
          </p:cNvPr>
          <p:cNvSpPr>
            <a:spLocks noChangeArrowheads="1"/>
          </p:cNvSpPr>
          <p:nvPr/>
        </p:nvSpPr>
        <p:spPr bwMode="auto">
          <a:xfrm>
            <a:off x="5562600" y="41910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574" name="Oval 22">
            <a:extLst>
              <a:ext uri="{FF2B5EF4-FFF2-40B4-BE49-F238E27FC236}">
                <a16:creationId xmlns:a16="http://schemas.microsoft.com/office/drawing/2014/main" id="{DE5C0CDF-9D0D-2546-BCFC-2E08FEF5FE1A}"/>
              </a:ext>
            </a:extLst>
          </p:cNvPr>
          <p:cNvSpPr>
            <a:spLocks noChangeArrowheads="1"/>
          </p:cNvSpPr>
          <p:nvPr/>
        </p:nvSpPr>
        <p:spPr bwMode="auto">
          <a:xfrm>
            <a:off x="5562600" y="57912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575" name="Oval 23">
            <a:extLst>
              <a:ext uri="{FF2B5EF4-FFF2-40B4-BE49-F238E27FC236}">
                <a16:creationId xmlns:a16="http://schemas.microsoft.com/office/drawing/2014/main" id="{DB58AC51-FBCA-6041-A701-EDE573B0A046}"/>
              </a:ext>
            </a:extLst>
          </p:cNvPr>
          <p:cNvSpPr>
            <a:spLocks noChangeArrowheads="1"/>
          </p:cNvSpPr>
          <p:nvPr/>
        </p:nvSpPr>
        <p:spPr bwMode="auto">
          <a:xfrm>
            <a:off x="4267200" y="35814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576" name="Oval 24">
            <a:extLst>
              <a:ext uri="{FF2B5EF4-FFF2-40B4-BE49-F238E27FC236}">
                <a16:creationId xmlns:a16="http://schemas.microsoft.com/office/drawing/2014/main" id="{04901477-C612-9446-8FD6-1EC25AAABCCB}"/>
              </a:ext>
            </a:extLst>
          </p:cNvPr>
          <p:cNvSpPr>
            <a:spLocks noChangeArrowheads="1"/>
          </p:cNvSpPr>
          <p:nvPr/>
        </p:nvSpPr>
        <p:spPr bwMode="auto">
          <a:xfrm>
            <a:off x="4114800" y="53340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577" name="Oval 25">
            <a:extLst>
              <a:ext uri="{FF2B5EF4-FFF2-40B4-BE49-F238E27FC236}">
                <a16:creationId xmlns:a16="http://schemas.microsoft.com/office/drawing/2014/main" id="{AEE861EF-4A03-C74F-BCBB-69CE897084B6}"/>
              </a:ext>
            </a:extLst>
          </p:cNvPr>
          <p:cNvSpPr>
            <a:spLocks noChangeArrowheads="1"/>
          </p:cNvSpPr>
          <p:nvPr/>
        </p:nvSpPr>
        <p:spPr bwMode="auto">
          <a:xfrm>
            <a:off x="2667000" y="41148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578" name="Oval 26">
            <a:extLst>
              <a:ext uri="{FF2B5EF4-FFF2-40B4-BE49-F238E27FC236}">
                <a16:creationId xmlns:a16="http://schemas.microsoft.com/office/drawing/2014/main" id="{3E1C71CE-E657-3D44-B230-602297A8D5F4}"/>
              </a:ext>
            </a:extLst>
          </p:cNvPr>
          <p:cNvSpPr>
            <a:spLocks noChangeArrowheads="1"/>
          </p:cNvSpPr>
          <p:nvPr/>
        </p:nvSpPr>
        <p:spPr bwMode="auto">
          <a:xfrm>
            <a:off x="4038600" y="52578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579" name="Oval 27">
            <a:extLst>
              <a:ext uri="{FF2B5EF4-FFF2-40B4-BE49-F238E27FC236}">
                <a16:creationId xmlns:a16="http://schemas.microsoft.com/office/drawing/2014/main" id="{ED812D81-5C82-ED48-BA9F-B75AC53483DC}"/>
              </a:ext>
            </a:extLst>
          </p:cNvPr>
          <p:cNvSpPr>
            <a:spLocks noChangeArrowheads="1"/>
          </p:cNvSpPr>
          <p:nvPr/>
        </p:nvSpPr>
        <p:spPr bwMode="auto">
          <a:xfrm>
            <a:off x="2667000" y="57150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580" name="Oval 28">
            <a:extLst>
              <a:ext uri="{FF2B5EF4-FFF2-40B4-BE49-F238E27FC236}">
                <a16:creationId xmlns:a16="http://schemas.microsoft.com/office/drawing/2014/main" id="{4C54E43D-7667-794D-984D-8216A98F85BF}"/>
              </a:ext>
            </a:extLst>
          </p:cNvPr>
          <p:cNvSpPr>
            <a:spLocks noChangeArrowheads="1"/>
          </p:cNvSpPr>
          <p:nvPr/>
        </p:nvSpPr>
        <p:spPr bwMode="auto">
          <a:xfrm>
            <a:off x="5486400" y="57150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581" name="Oval 29">
            <a:extLst>
              <a:ext uri="{FF2B5EF4-FFF2-40B4-BE49-F238E27FC236}">
                <a16:creationId xmlns:a16="http://schemas.microsoft.com/office/drawing/2014/main" id="{C387E271-A2ED-DC4C-A43E-B0DB4C0B7462}"/>
              </a:ext>
            </a:extLst>
          </p:cNvPr>
          <p:cNvSpPr>
            <a:spLocks noChangeArrowheads="1"/>
          </p:cNvSpPr>
          <p:nvPr/>
        </p:nvSpPr>
        <p:spPr bwMode="auto">
          <a:xfrm>
            <a:off x="5486400" y="41148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582" name="Oval 30">
            <a:extLst>
              <a:ext uri="{FF2B5EF4-FFF2-40B4-BE49-F238E27FC236}">
                <a16:creationId xmlns:a16="http://schemas.microsoft.com/office/drawing/2014/main" id="{F3D12525-2824-1B40-BE37-9A770DB1E4A1}"/>
              </a:ext>
            </a:extLst>
          </p:cNvPr>
          <p:cNvSpPr>
            <a:spLocks noChangeArrowheads="1"/>
          </p:cNvSpPr>
          <p:nvPr/>
        </p:nvSpPr>
        <p:spPr bwMode="auto">
          <a:xfrm>
            <a:off x="4191000" y="3505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583" name="Text Box 34">
            <a:extLst>
              <a:ext uri="{FF2B5EF4-FFF2-40B4-BE49-F238E27FC236}">
                <a16:creationId xmlns:a16="http://schemas.microsoft.com/office/drawing/2014/main" id="{19185F3E-531F-F64A-87AE-AD600E1B4D8F}"/>
              </a:ext>
            </a:extLst>
          </p:cNvPr>
          <p:cNvSpPr txBox="1">
            <a:spLocks noChangeArrowheads="1"/>
          </p:cNvSpPr>
          <p:nvPr/>
        </p:nvSpPr>
        <p:spPr bwMode="auto">
          <a:xfrm>
            <a:off x="6934200" y="3810001"/>
            <a:ext cx="32766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a:latin typeface="Times New Roman" panose="02020603050405020304" pitchFamily="18" charset="0"/>
              </a:rPr>
              <a:t>If edges </a:t>
            </a:r>
            <a:r>
              <a:rPr lang="en-US" altLang="en-US" sz="1800"/>
              <a:t>FA</a:t>
            </a:r>
            <a:r>
              <a:rPr lang="en-US" altLang="en-US" sz="2000">
                <a:latin typeface="Times New Roman" panose="02020603050405020304" pitchFamily="18" charset="0"/>
              </a:rPr>
              <a:t> and </a:t>
            </a:r>
            <a:r>
              <a:rPr lang="en-US" altLang="en-US" sz="1800"/>
              <a:t>FE</a:t>
            </a:r>
            <a:r>
              <a:rPr lang="en-US" altLang="en-US" sz="2000">
                <a:latin typeface="Times New Roman" panose="02020603050405020304" pitchFamily="18" charset="0"/>
              </a:rPr>
              <a:t> are required in a Hamilton Circuit, then edge </a:t>
            </a:r>
            <a:r>
              <a:rPr lang="en-US" altLang="en-US" sz="1800"/>
              <a:t>FD</a:t>
            </a:r>
            <a:r>
              <a:rPr lang="en-US" altLang="en-US" sz="2000">
                <a:latin typeface="Times New Roman" panose="02020603050405020304" pitchFamily="18" charset="0"/>
              </a:rPr>
              <a:t> can be deleted in the circuit building process.</a:t>
            </a:r>
          </a:p>
        </p:txBody>
      </p:sp>
    </p:spTree>
    <p:extLst>
      <p:ext uri="{BB962C8B-B14F-4D97-AF65-F5344CB8AC3E}">
        <p14:creationId xmlns:p14="http://schemas.microsoft.com/office/powerpoint/2010/main" val="22406978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8204"/>
                                        </p:tgtEl>
                                      </p:cBhvr>
                                    </p:animEffect>
                                    <p:set>
                                      <p:cBhvr>
                                        <p:cTn id="7" dur="1" fill="hold">
                                          <p:stCondLst>
                                            <p:cond delay="499"/>
                                          </p:stCondLst>
                                        </p:cTn>
                                        <p:tgtEl>
                                          <p:spTgt spid="82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a:extLst>
              <a:ext uri="{FF2B5EF4-FFF2-40B4-BE49-F238E27FC236}">
                <a16:creationId xmlns:a16="http://schemas.microsoft.com/office/drawing/2014/main" id="{A5E71100-A282-9E4B-8476-25415A3B541E}"/>
              </a:ext>
            </a:extLst>
          </p:cNvPr>
          <p:cNvSpPr>
            <a:spLocks noGrp="1" noChangeArrowheads="1"/>
          </p:cNvSpPr>
          <p:nvPr>
            <p:ph type="title"/>
          </p:nvPr>
        </p:nvSpPr>
        <p:spPr>
          <a:xfrm>
            <a:off x="1949450" y="513556"/>
            <a:ext cx="8229600" cy="1143000"/>
          </a:xfrm>
        </p:spPr>
        <p:txBody>
          <a:bodyPr/>
          <a:lstStyle/>
          <a:p>
            <a:pPr eaLnBrk="1" hangingPunct="1"/>
            <a:r>
              <a:rPr lang="en-US" altLang="en-US" dirty="0">
                <a:ea typeface="ＭＳ Ｐゴシック" panose="020B0600070205080204" pitchFamily="34" charset="-128"/>
              </a:rPr>
              <a:t>Rule 3</a:t>
            </a:r>
          </a:p>
        </p:txBody>
      </p:sp>
      <p:sp>
        <p:nvSpPr>
          <p:cNvPr id="22533" name="Rectangle 3">
            <a:extLst>
              <a:ext uri="{FF2B5EF4-FFF2-40B4-BE49-F238E27FC236}">
                <a16:creationId xmlns:a16="http://schemas.microsoft.com/office/drawing/2014/main" id="{BB712B2B-F67F-2844-A669-A2844375CBE2}"/>
              </a:ext>
            </a:extLst>
          </p:cNvPr>
          <p:cNvSpPr>
            <a:spLocks noGrp="1" noChangeArrowheads="1"/>
          </p:cNvSpPr>
          <p:nvPr>
            <p:ph type="body" idx="1"/>
          </p:nvPr>
        </p:nvSpPr>
        <p:spPr>
          <a:xfrm>
            <a:off x="2209800" y="1752600"/>
            <a:ext cx="7772400" cy="1454150"/>
          </a:xfrm>
        </p:spPr>
        <p:txBody>
          <a:bodyPr/>
          <a:lstStyle/>
          <a:p>
            <a:pPr eaLnBrk="1" hangingPunct="1"/>
            <a:r>
              <a:rPr lang="en-US" altLang="en-US" dirty="0">
                <a:ea typeface="ＭＳ Ｐゴシック" panose="020B0600070205080204" pitchFamily="34" charset="-128"/>
              </a:rPr>
              <a:t>No </a:t>
            </a:r>
            <a:r>
              <a:rPr lang="en-US" altLang="en-US" dirty="0" err="1">
                <a:ea typeface="ＭＳ Ｐゴシック" panose="020B0600070205080204" pitchFamily="34" charset="-128"/>
              </a:rPr>
              <a:t>subcircuit</a:t>
            </a:r>
            <a:r>
              <a:rPr lang="en-US" altLang="en-US" dirty="0">
                <a:ea typeface="ＭＳ Ｐゴシック" panose="020B0600070205080204" pitchFamily="34" charset="-128"/>
              </a:rPr>
              <a:t> not containing all vertices can be formed when building a Hamilton Circuit.</a:t>
            </a:r>
          </a:p>
        </p:txBody>
      </p:sp>
      <p:sp>
        <p:nvSpPr>
          <p:cNvPr id="22534" name="Line 5">
            <a:extLst>
              <a:ext uri="{FF2B5EF4-FFF2-40B4-BE49-F238E27FC236}">
                <a16:creationId xmlns:a16="http://schemas.microsoft.com/office/drawing/2014/main" id="{91F483D8-839B-F041-AED0-2FBC1AC3F8E1}"/>
              </a:ext>
            </a:extLst>
          </p:cNvPr>
          <p:cNvSpPr>
            <a:spLocks noChangeShapeType="1"/>
          </p:cNvSpPr>
          <p:nvPr/>
        </p:nvSpPr>
        <p:spPr bwMode="auto">
          <a:xfrm>
            <a:off x="4343400" y="3733800"/>
            <a:ext cx="1219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5" name="Line 7">
            <a:extLst>
              <a:ext uri="{FF2B5EF4-FFF2-40B4-BE49-F238E27FC236}">
                <a16:creationId xmlns:a16="http://schemas.microsoft.com/office/drawing/2014/main" id="{31E0ECD4-D691-DA40-9B96-E327D978B3E4}"/>
              </a:ext>
            </a:extLst>
          </p:cNvPr>
          <p:cNvSpPr>
            <a:spLocks noChangeShapeType="1"/>
          </p:cNvSpPr>
          <p:nvPr/>
        </p:nvSpPr>
        <p:spPr bwMode="auto">
          <a:xfrm>
            <a:off x="5638800" y="43434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6" name="Line 9">
            <a:extLst>
              <a:ext uri="{FF2B5EF4-FFF2-40B4-BE49-F238E27FC236}">
                <a16:creationId xmlns:a16="http://schemas.microsoft.com/office/drawing/2014/main" id="{45871EF6-E0CB-4145-99ED-19850429A08C}"/>
              </a:ext>
            </a:extLst>
          </p:cNvPr>
          <p:cNvSpPr>
            <a:spLocks noChangeShapeType="1"/>
          </p:cNvSpPr>
          <p:nvPr/>
        </p:nvSpPr>
        <p:spPr bwMode="auto">
          <a:xfrm>
            <a:off x="4191000" y="5486400"/>
            <a:ext cx="13716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7" name="Line 12">
            <a:extLst>
              <a:ext uri="{FF2B5EF4-FFF2-40B4-BE49-F238E27FC236}">
                <a16:creationId xmlns:a16="http://schemas.microsoft.com/office/drawing/2014/main" id="{74081480-5000-9343-A0F9-BD056912B783}"/>
              </a:ext>
            </a:extLst>
          </p:cNvPr>
          <p:cNvSpPr>
            <a:spLocks noChangeShapeType="1"/>
          </p:cNvSpPr>
          <p:nvPr/>
        </p:nvSpPr>
        <p:spPr bwMode="auto">
          <a:xfrm flipV="1">
            <a:off x="2819400" y="5486400"/>
            <a:ext cx="1295400" cy="381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8" name="Line 14">
            <a:extLst>
              <a:ext uri="{FF2B5EF4-FFF2-40B4-BE49-F238E27FC236}">
                <a16:creationId xmlns:a16="http://schemas.microsoft.com/office/drawing/2014/main" id="{3303A543-D065-AE49-967C-4C55007826BE}"/>
              </a:ext>
            </a:extLst>
          </p:cNvPr>
          <p:cNvSpPr>
            <a:spLocks noChangeShapeType="1"/>
          </p:cNvSpPr>
          <p:nvPr/>
        </p:nvSpPr>
        <p:spPr bwMode="auto">
          <a:xfrm>
            <a:off x="2743200" y="4343400"/>
            <a:ext cx="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9" name="Line 15">
            <a:extLst>
              <a:ext uri="{FF2B5EF4-FFF2-40B4-BE49-F238E27FC236}">
                <a16:creationId xmlns:a16="http://schemas.microsoft.com/office/drawing/2014/main" id="{31D5E4BC-7124-C147-AA8E-9D457A56BF22}"/>
              </a:ext>
            </a:extLst>
          </p:cNvPr>
          <p:cNvSpPr>
            <a:spLocks noChangeShapeType="1"/>
          </p:cNvSpPr>
          <p:nvPr/>
        </p:nvSpPr>
        <p:spPr bwMode="auto">
          <a:xfrm flipV="1">
            <a:off x="2819400" y="3733800"/>
            <a:ext cx="1447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0" name="Line 17">
            <a:extLst>
              <a:ext uri="{FF2B5EF4-FFF2-40B4-BE49-F238E27FC236}">
                <a16:creationId xmlns:a16="http://schemas.microsoft.com/office/drawing/2014/main" id="{D03DED4F-0AE7-E045-B3F3-1FE43F1EC43E}"/>
              </a:ext>
            </a:extLst>
          </p:cNvPr>
          <p:cNvSpPr>
            <a:spLocks noChangeShapeType="1"/>
          </p:cNvSpPr>
          <p:nvPr/>
        </p:nvSpPr>
        <p:spPr bwMode="auto">
          <a:xfrm>
            <a:off x="2743200" y="4267200"/>
            <a:ext cx="1371600" cy="1143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1" name="Line 18">
            <a:extLst>
              <a:ext uri="{FF2B5EF4-FFF2-40B4-BE49-F238E27FC236}">
                <a16:creationId xmlns:a16="http://schemas.microsoft.com/office/drawing/2014/main" id="{6511ECA3-A369-6542-AB51-DD3DD9E35793}"/>
              </a:ext>
            </a:extLst>
          </p:cNvPr>
          <p:cNvSpPr>
            <a:spLocks noChangeShapeType="1"/>
          </p:cNvSpPr>
          <p:nvPr/>
        </p:nvSpPr>
        <p:spPr bwMode="auto">
          <a:xfrm flipV="1">
            <a:off x="4191000" y="4343400"/>
            <a:ext cx="1371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2" name="Text Box 19">
            <a:extLst>
              <a:ext uri="{FF2B5EF4-FFF2-40B4-BE49-F238E27FC236}">
                <a16:creationId xmlns:a16="http://schemas.microsoft.com/office/drawing/2014/main" id="{27FF983E-4759-994E-9F3A-D825E380379E}"/>
              </a:ext>
            </a:extLst>
          </p:cNvPr>
          <p:cNvSpPr txBox="1">
            <a:spLocks noChangeArrowheads="1"/>
          </p:cNvSpPr>
          <p:nvPr/>
        </p:nvSpPr>
        <p:spPr bwMode="auto">
          <a:xfrm>
            <a:off x="4114800" y="38100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22543" name="Text Box 20">
            <a:extLst>
              <a:ext uri="{FF2B5EF4-FFF2-40B4-BE49-F238E27FC236}">
                <a16:creationId xmlns:a16="http://schemas.microsoft.com/office/drawing/2014/main" id="{9D000A12-F3A6-C94B-B33F-5D5F38FAD0A5}"/>
              </a:ext>
            </a:extLst>
          </p:cNvPr>
          <p:cNvSpPr txBox="1">
            <a:spLocks noChangeArrowheads="1"/>
          </p:cNvSpPr>
          <p:nvPr/>
        </p:nvSpPr>
        <p:spPr bwMode="auto">
          <a:xfrm>
            <a:off x="5638800" y="38862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22544" name="Text Box 21">
            <a:extLst>
              <a:ext uri="{FF2B5EF4-FFF2-40B4-BE49-F238E27FC236}">
                <a16:creationId xmlns:a16="http://schemas.microsoft.com/office/drawing/2014/main" id="{B1D976B7-8EFA-6444-876E-E766D7197339}"/>
              </a:ext>
            </a:extLst>
          </p:cNvPr>
          <p:cNvSpPr txBox="1">
            <a:spLocks noChangeArrowheads="1"/>
          </p:cNvSpPr>
          <p:nvPr/>
        </p:nvSpPr>
        <p:spPr bwMode="auto">
          <a:xfrm>
            <a:off x="5715000" y="57150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22545" name="Text Box 22">
            <a:extLst>
              <a:ext uri="{FF2B5EF4-FFF2-40B4-BE49-F238E27FC236}">
                <a16:creationId xmlns:a16="http://schemas.microsoft.com/office/drawing/2014/main" id="{B550465E-6E0F-DF4F-B107-FF5105B73A5A}"/>
              </a:ext>
            </a:extLst>
          </p:cNvPr>
          <p:cNvSpPr txBox="1">
            <a:spLocks noChangeArrowheads="1"/>
          </p:cNvSpPr>
          <p:nvPr/>
        </p:nvSpPr>
        <p:spPr bwMode="auto">
          <a:xfrm>
            <a:off x="3962400" y="55626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22546" name="Text Box 23">
            <a:extLst>
              <a:ext uri="{FF2B5EF4-FFF2-40B4-BE49-F238E27FC236}">
                <a16:creationId xmlns:a16="http://schemas.microsoft.com/office/drawing/2014/main" id="{6C26A64D-0A0A-CC4B-80A3-BA13FC410EC7}"/>
              </a:ext>
            </a:extLst>
          </p:cNvPr>
          <p:cNvSpPr txBox="1">
            <a:spLocks noChangeArrowheads="1"/>
          </p:cNvSpPr>
          <p:nvPr/>
        </p:nvSpPr>
        <p:spPr bwMode="auto">
          <a:xfrm>
            <a:off x="2606675" y="59832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22547" name="Text Box 24">
            <a:extLst>
              <a:ext uri="{FF2B5EF4-FFF2-40B4-BE49-F238E27FC236}">
                <a16:creationId xmlns:a16="http://schemas.microsoft.com/office/drawing/2014/main" id="{3AD3B4AD-53DF-9540-9B86-CBE135270A9A}"/>
              </a:ext>
            </a:extLst>
          </p:cNvPr>
          <p:cNvSpPr txBox="1">
            <a:spLocks noChangeArrowheads="1"/>
          </p:cNvSpPr>
          <p:nvPr/>
        </p:nvSpPr>
        <p:spPr bwMode="auto">
          <a:xfrm>
            <a:off x="2590800" y="37338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22548" name="Oval 25">
            <a:extLst>
              <a:ext uri="{FF2B5EF4-FFF2-40B4-BE49-F238E27FC236}">
                <a16:creationId xmlns:a16="http://schemas.microsoft.com/office/drawing/2014/main" id="{2A1D9582-C121-EC46-AB03-3A859362B729}"/>
              </a:ext>
            </a:extLst>
          </p:cNvPr>
          <p:cNvSpPr>
            <a:spLocks noChangeArrowheads="1"/>
          </p:cNvSpPr>
          <p:nvPr/>
        </p:nvSpPr>
        <p:spPr bwMode="auto">
          <a:xfrm>
            <a:off x="2743200" y="58674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549" name="Oval 26">
            <a:extLst>
              <a:ext uri="{FF2B5EF4-FFF2-40B4-BE49-F238E27FC236}">
                <a16:creationId xmlns:a16="http://schemas.microsoft.com/office/drawing/2014/main" id="{CC166375-350B-7040-9BFD-844998E0AAAA}"/>
              </a:ext>
            </a:extLst>
          </p:cNvPr>
          <p:cNvSpPr>
            <a:spLocks noChangeArrowheads="1"/>
          </p:cNvSpPr>
          <p:nvPr/>
        </p:nvSpPr>
        <p:spPr bwMode="auto">
          <a:xfrm>
            <a:off x="5562600" y="42672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550" name="Oval 27">
            <a:extLst>
              <a:ext uri="{FF2B5EF4-FFF2-40B4-BE49-F238E27FC236}">
                <a16:creationId xmlns:a16="http://schemas.microsoft.com/office/drawing/2014/main" id="{35D29347-1351-D948-A0AF-8B236EA94D02}"/>
              </a:ext>
            </a:extLst>
          </p:cNvPr>
          <p:cNvSpPr>
            <a:spLocks noChangeArrowheads="1"/>
          </p:cNvSpPr>
          <p:nvPr/>
        </p:nvSpPr>
        <p:spPr bwMode="auto">
          <a:xfrm>
            <a:off x="5562600" y="58674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551" name="Oval 28">
            <a:extLst>
              <a:ext uri="{FF2B5EF4-FFF2-40B4-BE49-F238E27FC236}">
                <a16:creationId xmlns:a16="http://schemas.microsoft.com/office/drawing/2014/main" id="{CBE7CB9B-1D50-AD49-9246-92E838FDFBA3}"/>
              </a:ext>
            </a:extLst>
          </p:cNvPr>
          <p:cNvSpPr>
            <a:spLocks noChangeArrowheads="1"/>
          </p:cNvSpPr>
          <p:nvPr/>
        </p:nvSpPr>
        <p:spPr bwMode="auto">
          <a:xfrm>
            <a:off x="4267200" y="36576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552" name="Oval 29">
            <a:extLst>
              <a:ext uri="{FF2B5EF4-FFF2-40B4-BE49-F238E27FC236}">
                <a16:creationId xmlns:a16="http://schemas.microsoft.com/office/drawing/2014/main" id="{71C71ECC-15F5-7348-81CB-C9A4BB43E4F9}"/>
              </a:ext>
            </a:extLst>
          </p:cNvPr>
          <p:cNvSpPr>
            <a:spLocks noChangeArrowheads="1"/>
          </p:cNvSpPr>
          <p:nvPr/>
        </p:nvSpPr>
        <p:spPr bwMode="auto">
          <a:xfrm>
            <a:off x="4114800" y="54102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553" name="Oval 30">
            <a:extLst>
              <a:ext uri="{FF2B5EF4-FFF2-40B4-BE49-F238E27FC236}">
                <a16:creationId xmlns:a16="http://schemas.microsoft.com/office/drawing/2014/main" id="{D597A5C8-8353-B849-BC0E-333829C02A76}"/>
              </a:ext>
            </a:extLst>
          </p:cNvPr>
          <p:cNvSpPr>
            <a:spLocks noChangeArrowheads="1"/>
          </p:cNvSpPr>
          <p:nvPr/>
        </p:nvSpPr>
        <p:spPr bwMode="auto">
          <a:xfrm>
            <a:off x="2667000" y="41910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554" name="Oval 31">
            <a:extLst>
              <a:ext uri="{FF2B5EF4-FFF2-40B4-BE49-F238E27FC236}">
                <a16:creationId xmlns:a16="http://schemas.microsoft.com/office/drawing/2014/main" id="{7DD667AF-74F7-BE41-9B38-13D3E8CB7399}"/>
              </a:ext>
            </a:extLst>
          </p:cNvPr>
          <p:cNvSpPr>
            <a:spLocks noChangeArrowheads="1"/>
          </p:cNvSpPr>
          <p:nvPr/>
        </p:nvSpPr>
        <p:spPr bwMode="auto">
          <a:xfrm>
            <a:off x="4038600" y="53340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555" name="Oval 32">
            <a:extLst>
              <a:ext uri="{FF2B5EF4-FFF2-40B4-BE49-F238E27FC236}">
                <a16:creationId xmlns:a16="http://schemas.microsoft.com/office/drawing/2014/main" id="{03BE047F-1A3E-2E42-AF0D-5DEBBFF0B369}"/>
              </a:ext>
            </a:extLst>
          </p:cNvPr>
          <p:cNvSpPr>
            <a:spLocks noChangeArrowheads="1"/>
          </p:cNvSpPr>
          <p:nvPr/>
        </p:nvSpPr>
        <p:spPr bwMode="auto">
          <a:xfrm>
            <a:off x="2667000" y="5791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556" name="Oval 33">
            <a:extLst>
              <a:ext uri="{FF2B5EF4-FFF2-40B4-BE49-F238E27FC236}">
                <a16:creationId xmlns:a16="http://schemas.microsoft.com/office/drawing/2014/main" id="{0331220E-DCE7-DD45-B166-1B6E213CF70C}"/>
              </a:ext>
            </a:extLst>
          </p:cNvPr>
          <p:cNvSpPr>
            <a:spLocks noChangeArrowheads="1"/>
          </p:cNvSpPr>
          <p:nvPr/>
        </p:nvSpPr>
        <p:spPr bwMode="auto">
          <a:xfrm>
            <a:off x="5486400" y="5791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557" name="Oval 34">
            <a:extLst>
              <a:ext uri="{FF2B5EF4-FFF2-40B4-BE49-F238E27FC236}">
                <a16:creationId xmlns:a16="http://schemas.microsoft.com/office/drawing/2014/main" id="{8747120A-55CB-1D40-A4E8-AC085586B890}"/>
              </a:ext>
            </a:extLst>
          </p:cNvPr>
          <p:cNvSpPr>
            <a:spLocks noChangeArrowheads="1"/>
          </p:cNvSpPr>
          <p:nvPr/>
        </p:nvSpPr>
        <p:spPr bwMode="auto">
          <a:xfrm>
            <a:off x="5486400" y="41910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558" name="Oval 35">
            <a:extLst>
              <a:ext uri="{FF2B5EF4-FFF2-40B4-BE49-F238E27FC236}">
                <a16:creationId xmlns:a16="http://schemas.microsoft.com/office/drawing/2014/main" id="{D9D88B1B-6F96-B64D-B550-B06A86DFE4C8}"/>
              </a:ext>
            </a:extLst>
          </p:cNvPr>
          <p:cNvSpPr>
            <a:spLocks noChangeArrowheads="1"/>
          </p:cNvSpPr>
          <p:nvPr/>
        </p:nvSpPr>
        <p:spPr bwMode="auto">
          <a:xfrm>
            <a:off x="4191000" y="35814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559" name="Text Box 37">
            <a:extLst>
              <a:ext uri="{FF2B5EF4-FFF2-40B4-BE49-F238E27FC236}">
                <a16:creationId xmlns:a16="http://schemas.microsoft.com/office/drawing/2014/main" id="{A696FE5D-24FD-D744-AF74-977CBA9BD561}"/>
              </a:ext>
            </a:extLst>
          </p:cNvPr>
          <p:cNvSpPr txBox="1">
            <a:spLocks noChangeArrowheads="1"/>
          </p:cNvSpPr>
          <p:nvPr/>
        </p:nvSpPr>
        <p:spPr bwMode="auto">
          <a:xfrm>
            <a:off x="6858000" y="3581401"/>
            <a:ext cx="3124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a:latin typeface="Times New Roman" panose="02020603050405020304" pitchFamily="18" charset="0"/>
              </a:rPr>
              <a:t>Edges </a:t>
            </a:r>
            <a:r>
              <a:rPr lang="en-US" altLang="en-US" sz="1800"/>
              <a:t>FE</a:t>
            </a:r>
            <a:r>
              <a:rPr lang="en-US" altLang="en-US" sz="2000">
                <a:latin typeface="Times New Roman" panose="02020603050405020304" pitchFamily="18" charset="0"/>
              </a:rPr>
              <a:t>, </a:t>
            </a:r>
            <a:r>
              <a:rPr lang="en-US" altLang="en-US" sz="1800"/>
              <a:t>FD</a:t>
            </a:r>
            <a:r>
              <a:rPr lang="en-US" altLang="en-US" sz="2000">
                <a:latin typeface="Times New Roman" panose="02020603050405020304" pitchFamily="18" charset="0"/>
              </a:rPr>
              <a:t>, and </a:t>
            </a:r>
            <a:r>
              <a:rPr lang="en-US" altLang="en-US" sz="1800"/>
              <a:t>DE</a:t>
            </a:r>
            <a:r>
              <a:rPr lang="en-US" altLang="en-US" sz="2000">
                <a:latin typeface="Times New Roman" panose="02020603050405020304" pitchFamily="18" charset="0"/>
              </a:rPr>
              <a:t> cannot all be used in a Hamilton Circuit.</a:t>
            </a:r>
          </a:p>
        </p:txBody>
      </p:sp>
    </p:spTree>
    <p:extLst>
      <p:ext uri="{BB962C8B-B14F-4D97-AF65-F5344CB8AC3E}">
        <p14:creationId xmlns:p14="http://schemas.microsoft.com/office/powerpoint/2010/main" val="92434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a:extLst>
              <a:ext uri="{FF2B5EF4-FFF2-40B4-BE49-F238E27FC236}">
                <a16:creationId xmlns:a16="http://schemas.microsoft.com/office/drawing/2014/main" id="{26F3F0EB-9D99-AE4F-8EFD-1C23BF1BB4C3}"/>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Example</a:t>
            </a:r>
          </a:p>
        </p:txBody>
      </p:sp>
      <p:sp>
        <p:nvSpPr>
          <p:cNvPr id="24581" name="Rectangle 3">
            <a:extLst>
              <a:ext uri="{FF2B5EF4-FFF2-40B4-BE49-F238E27FC236}">
                <a16:creationId xmlns:a16="http://schemas.microsoft.com/office/drawing/2014/main" id="{6CCF3FC6-63BE-374C-9E4D-5B06403F8D81}"/>
              </a:ext>
            </a:extLst>
          </p:cNvPr>
          <p:cNvSpPr>
            <a:spLocks noGrp="1" noChangeArrowheads="1"/>
          </p:cNvSpPr>
          <p:nvPr>
            <p:ph type="body" idx="1"/>
          </p:nvPr>
        </p:nvSpPr>
        <p:spPr>
          <a:xfrm>
            <a:off x="2209801" y="1981201"/>
            <a:ext cx="7700963" cy="1108075"/>
          </a:xfrm>
        </p:spPr>
        <p:txBody>
          <a:bodyPr/>
          <a:lstStyle/>
          <a:p>
            <a:pPr eaLnBrk="1" hangingPunct="1"/>
            <a:r>
              <a:rPr lang="en-US" altLang="en-US">
                <a:ea typeface="ＭＳ Ｐゴシック" panose="020B0600070205080204" pitchFamily="34" charset="-128"/>
              </a:rPr>
              <a:t>Using rules to determine if either a Hamilton Path or a Hamilton Circuit exists.</a:t>
            </a:r>
          </a:p>
        </p:txBody>
      </p:sp>
      <p:sp>
        <p:nvSpPr>
          <p:cNvPr id="24582" name="Line 36">
            <a:extLst>
              <a:ext uri="{FF2B5EF4-FFF2-40B4-BE49-F238E27FC236}">
                <a16:creationId xmlns:a16="http://schemas.microsoft.com/office/drawing/2014/main" id="{AF20C932-C235-FC49-9B22-0DBACF0A9D82}"/>
              </a:ext>
            </a:extLst>
          </p:cNvPr>
          <p:cNvSpPr>
            <a:spLocks noChangeShapeType="1"/>
          </p:cNvSpPr>
          <p:nvPr/>
        </p:nvSpPr>
        <p:spPr bwMode="auto">
          <a:xfrm flipH="1" flipV="1">
            <a:off x="4572000" y="3810000"/>
            <a:ext cx="12192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3" name="Line 35">
            <a:extLst>
              <a:ext uri="{FF2B5EF4-FFF2-40B4-BE49-F238E27FC236}">
                <a16:creationId xmlns:a16="http://schemas.microsoft.com/office/drawing/2014/main" id="{F1129E56-840D-8C40-A4F9-A39A464D8288}"/>
              </a:ext>
            </a:extLst>
          </p:cNvPr>
          <p:cNvSpPr>
            <a:spLocks noChangeShapeType="1"/>
          </p:cNvSpPr>
          <p:nvPr/>
        </p:nvSpPr>
        <p:spPr bwMode="auto">
          <a:xfrm flipV="1">
            <a:off x="5791200" y="3810000"/>
            <a:ext cx="12192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4" name="Line 19">
            <a:extLst>
              <a:ext uri="{FF2B5EF4-FFF2-40B4-BE49-F238E27FC236}">
                <a16:creationId xmlns:a16="http://schemas.microsoft.com/office/drawing/2014/main" id="{876ABF93-05D2-584D-BF31-B1F3DA594806}"/>
              </a:ext>
            </a:extLst>
          </p:cNvPr>
          <p:cNvSpPr>
            <a:spLocks noChangeShapeType="1"/>
          </p:cNvSpPr>
          <p:nvPr/>
        </p:nvSpPr>
        <p:spPr bwMode="auto">
          <a:xfrm>
            <a:off x="4572000" y="6096000"/>
            <a:ext cx="2438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5">
            <a:extLst>
              <a:ext uri="{FF2B5EF4-FFF2-40B4-BE49-F238E27FC236}">
                <a16:creationId xmlns:a16="http://schemas.microsoft.com/office/drawing/2014/main" id="{4AF9CE89-55BB-A747-9B1E-A0FC0E842254}"/>
              </a:ext>
            </a:extLst>
          </p:cNvPr>
          <p:cNvSpPr>
            <a:spLocks noChangeShapeType="1"/>
          </p:cNvSpPr>
          <p:nvPr/>
        </p:nvSpPr>
        <p:spPr bwMode="auto">
          <a:xfrm flipV="1">
            <a:off x="4572000" y="3200400"/>
            <a:ext cx="1143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6" name="Line 6">
            <a:extLst>
              <a:ext uri="{FF2B5EF4-FFF2-40B4-BE49-F238E27FC236}">
                <a16:creationId xmlns:a16="http://schemas.microsoft.com/office/drawing/2014/main" id="{B3EECE7E-BB2A-C848-B5EC-1109994DA39D}"/>
              </a:ext>
            </a:extLst>
          </p:cNvPr>
          <p:cNvSpPr>
            <a:spLocks noChangeShapeType="1"/>
          </p:cNvSpPr>
          <p:nvPr/>
        </p:nvSpPr>
        <p:spPr bwMode="auto">
          <a:xfrm flipV="1">
            <a:off x="4572000" y="4648200"/>
            <a:ext cx="1143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7" name="Line 7">
            <a:extLst>
              <a:ext uri="{FF2B5EF4-FFF2-40B4-BE49-F238E27FC236}">
                <a16:creationId xmlns:a16="http://schemas.microsoft.com/office/drawing/2014/main" id="{33AAFBA0-1E19-5C47-855E-65DB553906C0}"/>
              </a:ext>
            </a:extLst>
          </p:cNvPr>
          <p:cNvSpPr>
            <a:spLocks noChangeShapeType="1"/>
          </p:cNvSpPr>
          <p:nvPr/>
        </p:nvSpPr>
        <p:spPr bwMode="auto">
          <a:xfrm flipV="1">
            <a:off x="4572000" y="5410200"/>
            <a:ext cx="12192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8" name="Line 8">
            <a:extLst>
              <a:ext uri="{FF2B5EF4-FFF2-40B4-BE49-F238E27FC236}">
                <a16:creationId xmlns:a16="http://schemas.microsoft.com/office/drawing/2014/main" id="{87D20861-076A-334A-B6B1-74CB0779CD44}"/>
              </a:ext>
            </a:extLst>
          </p:cNvPr>
          <p:cNvSpPr>
            <a:spLocks noChangeShapeType="1"/>
          </p:cNvSpPr>
          <p:nvPr/>
        </p:nvSpPr>
        <p:spPr bwMode="auto">
          <a:xfrm flipH="1" flipV="1">
            <a:off x="5867400" y="3200400"/>
            <a:ext cx="1143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9" name="Line 9">
            <a:extLst>
              <a:ext uri="{FF2B5EF4-FFF2-40B4-BE49-F238E27FC236}">
                <a16:creationId xmlns:a16="http://schemas.microsoft.com/office/drawing/2014/main" id="{D4C355D5-D041-9244-B2AC-0205BB8051F3}"/>
              </a:ext>
            </a:extLst>
          </p:cNvPr>
          <p:cNvSpPr>
            <a:spLocks noChangeShapeType="1"/>
          </p:cNvSpPr>
          <p:nvPr/>
        </p:nvSpPr>
        <p:spPr bwMode="auto">
          <a:xfrm flipH="1" flipV="1">
            <a:off x="5867400" y="4648200"/>
            <a:ext cx="1143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0" name="Line 10">
            <a:extLst>
              <a:ext uri="{FF2B5EF4-FFF2-40B4-BE49-F238E27FC236}">
                <a16:creationId xmlns:a16="http://schemas.microsoft.com/office/drawing/2014/main" id="{8D7EE9CF-2516-D14B-B2A9-A33F96B2E88B}"/>
              </a:ext>
            </a:extLst>
          </p:cNvPr>
          <p:cNvSpPr>
            <a:spLocks noChangeShapeType="1"/>
          </p:cNvSpPr>
          <p:nvPr/>
        </p:nvSpPr>
        <p:spPr bwMode="auto">
          <a:xfrm flipH="1" flipV="1">
            <a:off x="5791200" y="5410200"/>
            <a:ext cx="12192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1" name="Line 11">
            <a:extLst>
              <a:ext uri="{FF2B5EF4-FFF2-40B4-BE49-F238E27FC236}">
                <a16:creationId xmlns:a16="http://schemas.microsoft.com/office/drawing/2014/main" id="{7773A685-B609-0843-94D2-5255773740B1}"/>
              </a:ext>
            </a:extLst>
          </p:cNvPr>
          <p:cNvSpPr>
            <a:spLocks noChangeShapeType="1"/>
          </p:cNvSpPr>
          <p:nvPr/>
        </p:nvSpPr>
        <p:spPr bwMode="auto">
          <a:xfrm>
            <a:off x="5791200" y="39624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2" name="Oval 16">
            <a:extLst>
              <a:ext uri="{FF2B5EF4-FFF2-40B4-BE49-F238E27FC236}">
                <a16:creationId xmlns:a16="http://schemas.microsoft.com/office/drawing/2014/main" id="{6328E2AC-F950-E24B-8435-E743F9700CAC}"/>
              </a:ext>
            </a:extLst>
          </p:cNvPr>
          <p:cNvSpPr>
            <a:spLocks noChangeArrowheads="1"/>
          </p:cNvSpPr>
          <p:nvPr/>
        </p:nvSpPr>
        <p:spPr bwMode="auto">
          <a:xfrm>
            <a:off x="5715000" y="5334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593" name="Oval 20">
            <a:extLst>
              <a:ext uri="{FF2B5EF4-FFF2-40B4-BE49-F238E27FC236}">
                <a16:creationId xmlns:a16="http://schemas.microsoft.com/office/drawing/2014/main" id="{7D7C1B59-56BC-594D-9F80-115084BDD89C}"/>
              </a:ext>
            </a:extLst>
          </p:cNvPr>
          <p:cNvSpPr>
            <a:spLocks noChangeArrowheads="1"/>
          </p:cNvSpPr>
          <p:nvPr/>
        </p:nvSpPr>
        <p:spPr bwMode="auto">
          <a:xfrm>
            <a:off x="5715000" y="4572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594" name="Oval 21">
            <a:extLst>
              <a:ext uri="{FF2B5EF4-FFF2-40B4-BE49-F238E27FC236}">
                <a16:creationId xmlns:a16="http://schemas.microsoft.com/office/drawing/2014/main" id="{621F37D3-61CB-0E4D-B827-BBF43BD5DB5F}"/>
              </a:ext>
            </a:extLst>
          </p:cNvPr>
          <p:cNvSpPr>
            <a:spLocks noChangeArrowheads="1"/>
          </p:cNvSpPr>
          <p:nvPr/>
        </p:nvSpPr>
        <p:spPr bwMode="auto">
          <a:xfrm>
            <a:off x="5715000" y="31242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595" name="Oval 22">
            <a:extLst>
              <a:ext uri="{FF2B5EF4-FFF2-40B4-BE49-F238E27FC236}">
                <a16:creationId xmlns:a16="http://schemas.microsoft.com/office/drawing/2014/main" id="{8745AC7A-0C06-6F4F-8F71-634F5FF9E5D1}"/>
              </a:ext>
            </a:extLst>
          </p:cNvPr>
          <p:cNvSpPr>
            <a:spLocks noChangeArrowheads="1"/>
          </p:cNvSpPr>
          <p:nvPr/>
        </p:nvSpPr>
        <p:spPr bwMode="auto">
          <a:xfrm>
            <a:off x="4495800" y="6019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596" name="Oval 23">
            <a:extLst>
              <a:ext uri="{FF2B5EF4-FFF2-40B4-BE49-F238E27FC236}">
                <a16:creationId xmlns:a16="http://schemas.microsoft.com/office/drawing/2014/main" id="{D17E5CC2-9B3A-A446-BB1E-3C9DBDD12172}"/>
              </a:ext>
            </a:extLst>
          </p:cNvPr>
          <p:cNvSpPr>
            <a:spLocks noChangeArrowheads="1"/>
          </p:cNvSpPr>
          <p:nvPr/>
        </p:nvSpPr>
        <p:spPr bwMode="auto">
          <a:xfrm>
            <a:off x="6934200" y="6019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597" name="Oval 24">
            <a:extLst>
              <a:ext uri="{FF2B5EF4-FFF2-40B4-BE49-F238E27FC236}">
                <a16:creationId xmlns:a16="http://schemas.microsoft.com/office/drawing/2014/main" id="{7796056B-B02F-1E46-AC0E-83B57F3D586E}"/>
              </a:ext>
            </a:extLst>
          </p:cNvPr>
          <p:cNvSpPr>
            <a:spLocks noChangeArrowheads="1"/>
          </p:cNvSpPr>
          <p:nvPr/>
        </p:nvSpPr>
        <p:spPr bwMode="auto">
          <a:xfrm>
            <a:off x="5715000" y="4953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598" name="Line 28">
            <a:extLst>
              <a:ext uri="{FF2B5EF4-FFF2-40B4-BE49-F238E27FC236}">
                <a16:creationId xmlns:a16="http://schemas.microsoft.com/office/drawing/2014/main" id="{73E6C89F-90B6-2248-B247-840577757407}"/>
              </a:ext>
            </a:extLst>
          </p:cNvPr>
          <p:cNvSpPr>
            <a:spLocks noChangeShapeType="1"/>
          </p:cNvSpPr>
          <p:nvPr/>
        </p:nvSpPr>
        <p:spPr bwMode="auto">
          <a:xfrm>
            <a:off x="7010400" y="3886200"/>
            <a:ext cx="0" cy="2133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9" name="Oval 29">
            <a:extLst>
              <a:ext uri="{FF2B5EF4-FFF2-40B4-BE49-F238E27FC236}">
                <a16:creationId xmlns:a16="http://schemas.microsoft.com/office/drawing/2014/main" id="{8AF44172-878E-1F47-8ABF-D114FD1AF4E5}"/>
              </a:ext>
            </a:extLst>
          </p:cNvPr>
          <p:cNvSpPr>
            <a:spLocks noChangeArrowheads="1"/>
          </p:cNvSpPr>
          <p:nvPr/>
        </p:nvSpPr>
        <p:spPr bwMode="auto">
          <a:xfrm>
            <a:off x="6934200" y="3733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600" name="Oval 30">
            <a:extLst>
              <a:ext uri="{FF2B5EF4-FFF2-40B4-BE49-F238E27FC236}">
                <a16:creationId xmlns:a16="http://schemas.microsoft.com/office/drawing/2014/main" id="{51F2969F-87C5-E748-9092-2B49B15648A0}"/>
              </a:ext>
            </a:extLst>
          </p:cNvPr>
          <p:cNvSpPr>
            <a:spLocks noChangeArrowheads="1"/>
          </p:cNvSpPr>
          <p:nvPr/>
        </p:nvSpPr>
        <p:spPr bwMode="auto">
          <a:xfrm>
            <a:off x="4495800" y="3733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601" name="Line 31">
            <a:extLst>
              <a:ext uri="{FF2B5EF4-FFF2-40B4-BE49-F238E27FC236}">
                <a16:creationId xmlns:a16="http://schemas.microsoft.com/office/drawing/2014/main" id="{DDCD33C4-4869-8845-A95E-BF7F095CCDB6}"/>
              </a:ext>
            </a:extLst>
          </p:cNvPr>
          <p:cNvSpPr>
            <a:spLocks noChangeShapeType="1"/>
          </p:cNvSpPr>
          <p:nvPr/>
        </p:nvSpPr>
        <p:spPr bwMode="auto">
          <a:xfrm>
            <a:off x="4572000" y="3886200"/>
            <a:ext cx="0" cy="2133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2" name="Oval 32">
            <a:extLst>
              <a:ext uri="{FF2B5EF4-FFF2-40B4-BE49-F238E27FC236}">
                <a16:creationId xmlns:a16="http://schemas.microsoft.com/office/drawing/2014/main" id="{09029778-FB6A-B749-B6AA-D23DFB625A51}"/>
              </a:ext>
            </a:extLst>
          </p:cNvPr>
          <p:cNvSpPr>
            <a:spLocks noChangeArrowheads="1"/>
          </p:cNvSpPr>
          <p:nvPr/>
        </p:nvSpPr>
        <p:spPr bwMode="auto">
          <a:xfrm>
            <a:off x="4495800" y="5181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603" name="Oval 33">
            <a:extLst>
              <a:ext uri="{FF2B5EF4-FFF2-40B4-BE49-F238E27FC236}">
                <a16:creationId xmlns:a16="http://schemas.microsoft.com/office/drawing/2014/main" id="{53F6A91E-77BC-9A42-AF24-6774D23B1008}"/>
              </a:ext>
            </a:extLst>
          </p:cNvPr>
          <p:cNvSpPr>
            <a:spLocks noChangeArrowheads="1"/>
          </p:cNvSpPr>
          <p:nvPr/>
        </p:nvSpPr>
        <p:spPr bwMode="auto">
          <a:xfrm>
            <a:off x="6934200" y="5181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604" name="Oval 34">
            <a:extLst>
              <a:ext uri="{FF2B5EF4-FFF2-40B4-BE49-F238E27FC236}">
                <a16:creationId xmlns:a16="http://schemas.microsoft.com/office/drawing/2014/main" id="{6C34240F-B604-0B44-AFAC-B6A562215651}"/>
              </a:ext>
            </a:extLst>
          </p:cNvPr>
          <p:cNvSpPr>
            <a:spLocks noChangeArrowheads="1"/>
          </p:cNvSpPr>
          <p:nvPr/>
        </p:nvSpPr>
        <p:spPr bwMode="auto">
          <a:xfrm>
            <a:off x="5715000" y="3810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605" name="Text Box 37">
            <a:extLst>
              <a:ext uri="{FF2B5EF4-FFF2-40B4-BE49-F238E27FC236}">
                <a16:creationId xmlns:a16="http://schemas.microsoft.com/office/drawing/2014/main" id="{59582EE0-B501-8149-91FE-F7E61E3797B4}"/>
              </a:ext>
            </a:extLst>
          </p:cNvPr>
          <p:cNvSpPr txBox="1">
            <a:spLocks noChangeArrowheads="1"/>
          </p:cNvSpPr>
          <p:nvPr/>
        </p:nvSpPr>
        <p:spPr bwMode="auto">
          <a:xfrm>
            <a:off x="5715000" y="32004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24606" name="Text Box 38">
            <a:extLst>
              <a:ext uri="{FF2B5EF4-FFF2-40B4-BE49-F238E27FC236}">
                <a16:creationId xmlns:a16="http://schemas.microsoft.com/office/drawing/2014/main" id="{937CE728-D567-BA4E-851C-02240AE3488E}"/>
              </a:ext>
            </a:extLst>
          </p:cNvPr>
          <p:cNvSpPr txBox="1">
            <a:spLocks noChangeArrowheads="1"/>
          </p:cNvSpPr>
          <p:nvPr/>
        </p:nvSpPr>
        <p:spPr bwMode="auto">
          <a:xfrm>
            <a:off x="5486400" y="35052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24607" name="Text Box 39">
            <a:extLst>
              <a:ext uri="{FF2B5EF4-FFF2-40B4-BE49-F238E27FC236}">
                <a16:creationId xmlns:a16="http://schemas.microsoft.com/office/drawing/2014/main" id="{BFB2F621-7D6F-934F-9EB4-346A86FE34DE}"/>
              </a:ext>
            </a:extLst>
          </p:cNvPr>
          <p:cNvSpPr txBox="1">
            <a:spLocks noChangeArrowheads="1"/>
          </p:cNvSpPr>
          <p:nvPr/>
        </p:nvSpPr>
        <p:spPr bwMode="auto">
          <a:xfrm>
            <a:off x="5791200" y="42672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24608" name="Text Box 40">
            <a:extLst>
              <a:ext uri="{FF2B5EF4-FFF2-40B4-BE49-F238E27FC236}">
                <a16:creationId xmlns:a16="http://schemas.microsoft.com/office/drawing/2014/main" id="{B10D450B-574A-D64E-837F-9D1AC8919CC6}"/>
              </a:ext>
            </a:extLst>
          </p:cNvPr>
          <p:cNvSpPr txBox="1">
            <a:spLocks noChangeArrowheads="1"/>
          </p:cNvSpPr>
          <p:nvPr/>
        </p:nvSpPr>
        <p:spPr bwMode="auto">
          <a:xfrm>
            <a:off x="5791200" y="4876801"/>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 G</a:t>
            </a:r>
          </a:p>
        </p:txBody>
      </p:sp>
      <p:sp>
        <p:nvSpPr>
          <p:cNvPr id="24609" name="Text Box 41">
            <a:extLst>
              <a:ext uri="{FF2B5EF4-FFF2-40B4-BE49-F238E27FC236}">
                <a16:creationId xmlns:a16="http://schemas.microsoft.com/office/drawing/2014/main" id="{1A22D1C5-16EC-6349-8951-C1BB7A576AC9}"/>
              </a:ext>
            </a:extLst>
          </p:cNvPr>
          <p:cNvSpPr txBox="1">
            <a:spLocks noChangeArrowheads="1"/>
          </p:cNvSpPr>
          <p:nvPr/>
        </p:nvSpPr>
        <p:spPr bwMode="auto">
          <a:xfrm>
            <a:off x="4191000" y="49530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24610" name="Text Box 42">
            <a:extLst>
              <a:ext uri="{FF2B5EF4-FFF2-40B4-BE49-F238E27FC236}">
                <a16:creationId xmlns:a16="http://schemas.microsoft.com/office/drawing/2014/main" id="{138D0059-627C-1B47-8F30-8C0910502667}"/>
              </a:ext>
            </a:extLst>
          </p:cNvPr>
          <p:cNvSpPr txBox="1">
            <a:spLocks noChangeArrowheads="1"/>
          </p:cNvSpPr>
          <p:nvPr/>
        </p:nvSpPr>
        <p:spPr bwMode="auto">
          <a:xfrm>
            <a:off x="5638800" y="5486401"/>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I</a:t>
            </a:r>
          </a:p>
        </p:txBody>
      </p:sp>
      <p:sp>
        <p:nvSpPr>
          <p:cNvPr id="24611" name="Text Box 43">
            <a:extLst>
              <a:ext uri="{FF2B5EF4-FFF2-40B4-BE49-F238E27FC236}">
                <a16:creationId xmlns:a16="http://schemas.microsoft.com/office/drawing/2014/main" id="{98EDC4C7-9AD2-F84C-B765-CB46782E1B7A}"/>
              </a:ext>
            </a:extLst>
          </p:cNvPr>
          <p:cNvSpPr txBox="1">
            <a:spLocks noChangeArrowheads="1"/>
          </p:cNvSpPr>
          <p:nvPr/>
        </p:nvSpPr>
        <p:spPr bwMode="auto">
          <a:xfrm>
            <a:off x="7086600" y="49530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H</a:t>
            </a:r>
          </a:p>
        </p:txBody>
      </p:sp>
      <p:sp>
        <p:nvSpPr>
          <p:cNvPr id="24612" name="Text Box 44">
            <a:extLst>
              <a:ext uri="{FF2B5EF4-FFF2-40B4-BE49-F238E27FC236}">
                <a16:creationId xmlns:a16="http://schemas.microsoft.com/office/drawing/2014/main" id="{8777E8BD-034F-BF41-9283-632D3EB20EF9}"/>
              </a:ext>
            </a:extLst>
          </p:cNvPr>
          <p:cNvSpPr txBox="1">
            <a:spLocks noChangeArrowheads="1"/>
          </p:cNvSpPr>
          <p:nvPr/>
        </p:nvSpPr>
        <p:spPr bwMode="auto">
          <a:xfrm>
            <a:off x="7010400" y="35052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24613" name="Text Box 45">
            <a:extLst>
              <a:ext uri="{FF2B5EF4-FFF2-40B4-BE49-F238E27FC236}">
                <a16:creationId xmlns:a16="http://schemas.microsoft.com/office/drawing/2014/main" id="{F2E237CF-B51F-A341-BF8D-A3E016CC795E}"/>
              </a:ext>
            </a:extLst>
          </p:cNvPr>
          <p:cNvSpPr txBox="1">
            <a:spLocks noChangeArrowheads="1"/>
          </p:cNvSpPr>
          <p:nvPr/>
        </p:nvSpPr>
        <p:spPr bwMode="auto">
          <a:xfrm>
            <a:off x="4419600" y="34290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24614" name="Text Box 46">
            <a:extLst>
              <a:ext uri="{FF2B5EF4-FFF2-40B4-BE49-F238E27FC236}">
                <a16:creationId xmlns:a16="http://schemas.microsoft.com/office/drawing/2014/main" id="{69416B85-D36A-F441-B6BF-58C5A8B6AC12}"/>
              </a:ext>
            </a:extLst>
          </p:cNvPr>
          <p:cNvSpPr txBox="1">
            <a:spLocks noChangeArrowheads="1"/>
          </p:cNvSpPr>
          <p:nvPr/>
        </p:nvSpPr>
        <p:spPr bwMode="auto">
          <a:xfrm>
            <a:off x="4191000" y="58674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J</a:t>
            </a:r>
          </a:p>
        </p:txBody>
      </p:sp>
      <p:sp>
        <p:nvSpPr>
          <p:cNvPr id="24615" name="Text Box 47">
            <a:extLst>
              <a:ext uri="{FF2B5EF4-FFF2-40B4-BE49-F238E27FC236}">
                <a16:creationId xmlns:a16="http://schemas.microsoft.com/office/drawing/2014/main" id="{46908016-EF8D-3140-961B-8C2BB8D86716}"/>
              </a:ext>
            </a:extLst>
          </p:cNvPr>
          <p:cNvSpPr txBox="1">
            <a:spLocks noChangeArrowheads="1"/>
          </p:cNvSpPr>
          <p:nvPr/>
        </p:nvSpPr>
        <p:spPr bwMode="auto">
          <a:xfrm>
            <a:off x="7086600" y="58674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K</a:t>
            </a:r>
          </a:p>
        </p:txBody>
      </p:sp>
    </p:spTree>
    <p:extLst>
      <p:ext uri="{BB962C8B-B14F-4D97-AF65-F5344CB8AC3E}">
        <p14:creationId xmlns:p14="http://schemas.microsoft.com/office/powerpoint/2010/main" val="5282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a:extLst>
              <a:ext uri="{FF2B5EF4-FFF2-40B4-BE49-F238E27FC236}">
                <a16:creationId xmlns:a16="http://schemas.microsoft.com/office/drawing/2014/main" id="{2DDD65A2-1827-9D47-B5C9-5E64208CE266}"/>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Using Rules</a:t>
            </a:r>
          </a:p>
        </p:txBody>
      </p:sp>
      <p:sp>
        <p:nvSpPr>
          <p:cNvPr id="25605" name="Rectangle 3">
            <a:extLst>
              <a:ext uri="{FF2B5EF4-FFF2-40B4-BE49-F238E27FC236}">
                <a16:creationId xmlns:a16="http://schemas.microsoft.com/office/drawing/2014/main" id="{3AE4A3A2-ACCA-2047-B8A8-26015BC5F213}"/>
              </a:ext>
            </a:extLst>
          </p:cNvPr>
          <p:cNvSpPr>
            <a:spLocks noGrp="1" noChangeArrowheads="1"/>
          </p:cNvSpPr>
          <p:nvPr>
            <p:ph type="body" idx="1"/>
          </p:nvPr>
        </p:nvSpPr>
        <p:spPr>
          <a:xfrm>
            <a:off x="2209800" y="1981201"/>
            <a:ext cx="7772400" cy="969963"/>
          </a:xfrm>
        </p:spPr>
        <p:txBody>
          <a:bodyPr/>
          <a:lstStyle/>
          <a:p>
            <a:pPr eaLnBrk="1" hangingPunct="1"/>
            <a:r>
              <a:rPr lang="en-US" altLang="en-US">
                <a:ea typeface="ＭＳ Ｐゴシック" panose="020B0600070205080204" pitchFamily="34" charset="-128"/>
              </a:rPr>
              <a:t>Rule 1 tells us that the red edges must be used in any Hamilton Circuit.</a:t>
            </a:r>
          </a:p>
        </p:txBody>
      </p:sp>
      <p:sp>
        <p:nvSpPr>
          <p:cNvPr id="25606" name="Text Box 34">
            <a:extLst>
              <a:ext uri="{FF2B5EF4-FFF2-40B4-BE49-F238E27FC236}">
                <a16:creationId xmlns:a16="http://schemas.microsoft.com/office/drawing/2014/main" id="{5CE0A469-7B19-4E49-8689-B6C12720A626}"/>
              </a:ext>
            </a:extLst>
          </p:cNvPr>
          <p:cNvSpPr txBox="1">
            <a:spLocks noChangeArrowheads="1"/>
          </p:cNvSpPr>
          <p:nvPr/>
        </p:nvSpPr>
        <p:spPr bwMode="auto">
          <a:xfrm>
            <a:off x="5257800" y="47244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H</a:t>
            </a:r>
          </a:p>
        </p:txBody>
      </p:sp>
      <p:sp>
        <p:nvSpPr>
          <p:cNvPr id="25607" name="Line 40">
            <a:extLst>
              <a:ext uri="{FF2B5EF4-FFF2-40B4-BE49-F238E27FC236}">
                <a16:creationId xmlns:a16="http://schemas.microsoft.com/office/drawing/2014/main" id="{BC489305-F0BF-4C4F-82A9-E8B346ACF61D}"/>
              </a:ext>
            </a:extLst>
          </p:cNvPr>
          <p:cNvSpPr>
            <a:spLocks noChangeShapeType="1"/>
          </p:cNvSpPr>
          <p:nvPr/>
        </p:nvSpPr>
        <p:spPr bwMode="auto">
          <a:xfrm>
            <a:off x="3962400" y="4648200"/>
            <a:ext cx="0" cy="762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8" name="Line 5">
            <a:extLst>
              <a:ext uri="{FF2B5EF4-FFF2-40B4-BE49-F238E27FC236}">
                <a16:creationId xmlns:a16="http://schemas.microsoft.com/office/drawing/2014/main" id="{EC55FFB8-6015-324A-8789-A91800C617B4}"/>
              </a:ext>
            </a:extLst>
          </p:cNvPr>
          <p:cNvSpPr>
            <a:spLocks noChangeShapeType="1"/>
          </p:cNvSpPr>
          <p:nvPr/>
        </p:nvSpPr>
        <p:spPr bwMode="auto">
          <a:xfrm flipH="1" flipV="1">
            <a:off x="2743200" y="3810000"/>
            <a:ext cx="12192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9" name="Line 6">
            <a:extLst>
              <a:ext uri="{FF2B5EF4-FFF2-40B4-BE49-F238E27FC236}">
                <a16:creationId xmlns:a16="http://schemas.microsoft.com/office/drawing/2014/main" id="{2D6AE7CD-21F6-7743-A875-91769BA0D308}"/>
              </a:ext>
            </a:extLst>
          </p:cNvPr>
          <p:cNvSpPr>
            <a:spLocks noChangeShapeType="1"/>
          </p:cNvSpPr>
          <p:nvPr/>
        </p:nvSpPr>
        <p:spPr bwMode="auto">
          <a:xfrm flipV="1">
            <a:off x="3962400" y="3810000"/>
            <a:ext cx="12192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0" name="Line 7">
            <a:extLst>
              <a:ext uri="{FF2B5EF4-FFF2-40B4-BE49-F238E27FC236}">
                <a16:creationId xmlns:a16="http://schemas.microsoft.com/office/drawing/2014/main" id="{D20197C0-2E78-3E48-B1F6-78252F5F2FCD}"/>
              </a:ext>
            </a:extLst>
          </p:cNvPr>
          <p:cNvSpPr>
            <a:spLocks noChangeShapeType="1"/>
          </p:cNvSpPr>
          <p:nvPr/>
        </p:nvSpPr>
        <p:spPr bwMode="auto">
          <a:xfrm>
            <a:off x="2743200" y="6096000"/>
            <a:ext cx="2438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1" name="Line 8">
            <a:extLst>
              <a:ext uri="{FF2B5EF4-FFF2-40B4-BE49-F238E27FC236}">
                <a16:creationId xmlns:a16="http://schemas.microsoft.com/office/drawing/2014/main" id="{10BECD80-CAD3-BA45-BE88-86BD283F2C85}"/>
              </a:ext>
            </a:extLst>
          </p:cNvPr>
          <p:cNvSpPr>
            <a:spLocks noChangeShapeType="1"/>
          </p:cNvSpPr>
          <p:nvPr/>
        </p:nvSpPr>
        <p:spPr bwMode="auto">
          <a:xfrm flipV="1">
            <a:off x="2743200" y="3200400"/>
            <a:ext cx="11430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2" name="Line 9">
            <a:extLst>
              <a:ext uri="{FF2B5EF4-FFF2-40B4-BE49-F238E27FC236}">
                <a16:creationId xmlns:a16="http://schemas.microsoft.com/office/drawing/2014/main" id="{FBFF5760-387C-4C47-AE2E-B37B6A41595F}"/>
              </a:ext>
            </a:extLst>
          </p:cNvPr>
          <p:cNvSpPr>
            <a:spLocks noChangeShapeType="1"/>
          </p:cNvSpPr>
          <p:nvPr/>
        </p:nvSpPr>
        <p:spPr bwMode="auto">
          <a:xfrm flipV="1">
            <a:off x="2743200" y="4648200"/>
            <a:ext cx="1143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3" name="Line 10">
            <a:extLst>
              <a:ext uri="{FF2B5EF4-FFF2-40B4-BE49-F238E27FC236}">
                <a16:creationId xmlns:a16="http://schemas.microsoft.com/office/drawing/2014/main" id="{FA5747D7-6F0D-244B-B2F1-2CEA97B1A3D8}"/>
              </a:ext>
            </a:extLst>
          </p:cNvPr>
          <p:cNvSpPr>
            <a:spLocks noChangeShapeType="1"/>
          </p:cNvSpPr>
          <p:nvPr/>
        </p:nvSpPr>
        <p:spPr bwMode="auto">
          <a:xfrm flipV="1">
            <a:off x="2743200" y="5410200"/>
            <a:ext cx="12192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4" name="Line 11">
            <a:extLst>
              <a:ext uri="{FF2B5EF4-FFF2-40B4-BE49-F238E27FC236}">
                <a16:creationId xmlns:a16="http://schemas.microsoft.com/office/drawing/2014/main" id="{7BF5D50B-B2BD-D046-B153-C1F7530280CF}"/>
              </a:ext>
            </a:extLst>
          </p:cNvPr>
          <p:cNvSpPr>
            <a:spLocks noChangeShapeType="1"/>
          </p:cNvSpPr>
          <p:nvPr/>
        </p:nvSpPr>
        <p:spPr bwMode="auto">
          <a:xfrm flipH="1" flipV="1">
            <a:off x="4038600" y="3200400"/>
            <a:ext cx="11430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5" name="Line 12">
            <a:extLst>
              <a:ext uri="{FF2B5EF4-FFF2-40B4-BE49-F238E27FC236}">
                <a16:creationId xmlns:a16="http://schemas.microsoft.com/office/drawing/2014/main" id="{FC4E9D27-9E9A-A342-B31B-ADFA77896FF8}"/>
              </a:ext>
            </a:extLst>
          </p:cNvPr>
          <p:cNvSpPr>
            <a:spLocks noChangeShapeType="1"/>
          </p:cNvSpPr>
          <p:nvPr/>
        </p:nvSpPr>
        <p:spPr bwMode="auto">
          <a:xfrm flipH="1" flipV="1">
            <a:off x="4038600" y="4648200"/>
            <a:ext cx="1143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6" name="Line 13">
            <a:extLst>
              <a:ext uri="{FF2B5EF4-FFF2-40B4-BE49-F238E27FC236}">
                <a16:creationId xmlns:a16="http://schemas.microsoft.com/office/drawing/2014/main" id="{F2B79B60-0EC8-194F-9DDA-D99D606E89EC}"/>
              </a:ext>
            </a:extLst>
          </p:cNvPr>
          <p:cNvSpPr>
            <a:spLocks noChangeShapeType="1"/>
          </p:cNvSpPr>
          <p:nvPr/>
        </p:nvSpPr>
        <p:spPr bwMode="auto">
          <a:xfrm flipH="1" flipV="1">
            <a:off x="3962400" y="5410200"/>
            <a:ext cx="12192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7" name="Line 14">
            <a:extLst>
              <a:ext uri="{FF2B5EF4-FFF2-40B4-BE49-F238E27FC236}">
                <a16:creationId xmlns:a16="http://schemas.microsoft.com/office/drawing/2014/main" id="{88638A79-93E0-D74A-83A4-8462BE30D16A}"/>
              </a:ext>
            </a:extLst>
          </p:cNvPr>
          <p:cNvSpPr>
            <a:spLocks noChangeShapeType="1"/>
          </p:cNvSpPr>
          <p:nvPr/>
        </p:nvSpPr>
        <p:spPr bwMode="auto">
          <a:xfrm>
            <a:off x="3962400" y="3962400"/>
            <a:ext cx="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8" name="Oval 15">
            <a:extLst>
              <a:ext uri="{FF2B5EF4-FFF2-40B4-BE49-F238E27FC236}">
                <a16:creationId xmlns:a16="http://schemas.microsoft.com/office/drawing/2014/main" id="{7E1BA8ED-3545-2E4B-B6A8-95377D946E4D}"/>
              </a:ext>
            </a:extLst>
          </p:cNvPr>
          <p:cNvSpPr>
            <a:spLocks noChangeArrowheads="1"/>
          </p:cNvSpPr>
          <p:nvPr/>
        </p:nvSpPr>
        <p:spPr bwMode="auto">
          <a:xfrm>
            <a:off x="3886200" y="5334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619" name="Oval 16">
            <a:extLst>
              <a:ext uri="{FF2B5EF4-FFF2-40B4-BE49-F238E27FC236}">
                <a16:creationId xmlns:a16="http://schemas.microsoft.com/office/drawing/2014/main" id="{9DE58CD8-560A-7C4D-AA6A-4BF24795656F}"/>
              </a:ext>
            </a:extLst>
          </p:cNvPr>
          <p:cNvSpPr>
            <a:spLocks noChangeArrowheads="1"/>
          </p:cNvSpPr>
          <p:nvPr/>
        </p:nvSpPr>
        <p:spPr bwMode="auto">
          <a:xfrm>
            <a:off x="3886200" y="4572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620" name="Oval 17">
            <a:extLst>
              <a:ext uri="{FF2B5EF4-FFF2-40B4-BE49-F238E27FC236}">
                <a16:creationId xmlns:a16="http://schemas.microsoft.com/office/drawing/2014/main" id="{BD13B17F-F90A-754F-BF9F-B2597FA0AB38}"/>
              </a:ext>
            </a:extLst>
          </p:cNvPr>
          <p:cNvSpPr>
            <a:spLocks noChangeArrowheads="1"/>
          </p:cNvSpPr>
          <p:nvPr/>
        </p:nvSpPr>
        <p:spPr bwMode="auto">
          <a:xfrm>
            <a:off x="3886200" y="31242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621" name="Oval 18">
            <a:extLst>
              <a:ext uri="{FF2B5EF4-FFF2-40B4-BE49-F238E27FC236}">
                <a16:creationId xmlns:a16="http://schemas.microsoft.com/office/drawing/2014/main" id="{06CBB29B-7299-0540-84C7-9BEC881EE34A}"/>
              </a:ext>
            </a:extLst>
          </p:cNvPr>
          <p:cNvSpPr>
            <a:spLocks noChangeArrowheads="1"/>
          </p:cNvSpPr>
          <p:nvPr/>
        </p:nvSpPr>
        <p:spPr bwMode="auto">
          <a:xfrm>
            <a:off x="2667000" y="6019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622" name="Oval 19">
            <a:extLst>
              <a:ext uri="{FF2B5EF4-FFF2-40B4-BE49-F238E27FC236}">
                <a16:creationId xmlns:a16="http://schemas.microsoft.com/office/drawing/2014/main" id="{9F497F67-569F-D546-BF8F-0AE4B577BCF5}"/>
              </a:ext>
            </a:extLst>
          </p:cNvPr>
          <p:cNvSpPr>
            <a:spLocks noChangeArrowheads="1"/>
          </p:cNvSpPr>
          <p:nvPr/>
        </p:nvSpPr>
        <p:spPr bwMode="auto">
          <a:xfrm>
            <a:off x="5105400" y="6019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623" name="Oval 20">
            <a:extLst>
              <a:ext uri="{FF2B5EF4-FFF2-40B4-BE49-F238E27FC236}">
                <a16:creationId xmlns:a16="http://schemas.microsoft.com/office/drawing/2014/main" id="{70208430-7C98-B840-B917-40F4D46B3FFC}"/>
              </a:ext>
            </a:extLst>
          </p:cNvPr>
          <p:cNvSpPr>
            <a:spLocks noChangeArrowheads="1"/>
          </p:cNvSpPr>
          <p:nvPr/>
        </p:nvSpPr>
        <p:spPr bwMode="auto">
          <a:xfrm>
            <a:off x="3886200" y="4953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624" name="Line 21">
            <a:extLst>
              <a:ext uri="{FF2B5EF4-FFF2-40B4-BE49-F238E27FC236}">
                <a16:creationId xmlns:a16="http://schemas.microsoft.com/office/drawing/2014/main" id="{A35475E3-D837-2940-BC2F-A9075E0431F9}"/>
              </a:ext>
            </a:extLst>
          </p:cNvPr>
          <p:cNvSpPr>
            <a:spLocks noChangeShapeType="1"/>
          </p:cNvSpPr>
          <p:nvPr/>
        </p:nvSpPr>
        <p:spPr bwMode="auto">
          <a:xfrm>
            <a:off x="5181600" y="3886200"/>
            <a:ext cx="0" cy="2133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5" name="Oval 22">
            <a:extLst>
              <a:ext uri="{FF2B5EF4-FFF2-40B4-BE49-F238E27FC236}">
                <a16:creationId xmlns:a16="http://schemas.microsoft.com/office/drawing/2014/main" id="{38372E04-3FF8-114B-AF4F-CF61B5401742}"/>
              </a:ext>
            </a:extLst>
          </p:cNvPr>
          <p:cNvSpPr>
            <a:spLocks noChangeArrowheads="1"/>
          </p:cNvSpPr>
          <p:nvPr/>
        </p:nvSpPr>
        <p:spPr bwMode="auto">
          <a:xfrm>
            <a:off x="5105400" y="3733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626" name="Oval 23">
            <a:extLst>
              <a:ext uri="{FF2B5EF4-FFF2-40B4-BE49-F238E27FC236}">
                <a16:creationId xmlns:a16="http://schemas.microsoft.com/office/drawing/2014/main" id="{B4D9F7CA-34FC-5F4A-8F1A-66C8E32B8B4D}"/>
              </a:ext>
            </a:extLst>
          </p:cNvPr>
          <p:cNvSpPr>
            <a:spLocks noChangeArrowheads="1"/>
          </p:cNvSpPr>
          <p:nvPr/>
        </p:nvSpPr>
        <p:spPr bwMode="auto">
          <a:xfrm>
            <a:off x="2667000" y="3733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627" name="Line 24">
            <a:extLst>
              <a:ext uri="{FF2B5EF4-FFF2-40B4-BE49-F238E27FC236}">
                <a16:creationId xmlns:a16="http://schemas.microsoft.com/office/drawing/2014/main" id="{694D2355-5C40-E048-9359-5E39A8158BB8}"/>
              </a:ext>
            </a:extLst>
          </p:cNvPr>
          <p:cNvSpPr>
            <a:spLocks noChangeShapeType="1"/>
          </p:cNvSpPr>
          <p:nvPr/>
        </p:nvSpPr>
        <p:spPr bwMode="auto">
          <a:xfrm>
            <a:off x="2743200" y="3886200"/>
            <a:ext cx="0" cy="2133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Oval 25">
            <a:extLst>
              <a:ext uri="{FF2B5EF4-FFF2-40B4-BE49-F238E27FC236}">
                <a16:creationId xmlns:a16="http://schemas.microsoft.com/office/drawing/2014/main" id="{623E119C-B1C1-F242-9936-A5E970BE4BA7}"/>
              </a:ext>
            </a:extLst>
          </p:cNvPr>
          <p:cNvSpPr>
            <a:spLocks noChangeArrowheads="1"/>
          </p:cNvSpPr>
          <p:nvPr/>
        </p:nvSpPr>
        <p:spPr bwMode="auto">
          <a:xfrm>
            <a:off x="2667000" y="5181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629" name="Oval 26">
            <a:extLst>
              <a:ext uri="{FF2B5EF4-FFF2-40B4-BE49-F238E27FC236}">
                <a16:creationId xmlns:a16="http://schemas.microsoft.com/office/drawing/2014/main" id="{01625316-C29D-A747-A720-77D86BF9818F}"/>
              </a:ext>
            </a:extLst>
          </p:cNvPr>
          <p:cNvSpPr>
            <a:spLocks noChangeArrowheads="1"/>
          </p:cNvSpPr>
          <p:nvPr/>
        </p:nvSpPr>
        <p:spPr bwMode="auto">
          <a:xfrm>
            <a:off x="5105400" y="5181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630" name="Oval 27">
            <a:extLst>
              <a:ext uri="{FF2B5EF4-FFF2-40B4-BE49-F238E27FC236}">
                <a16:creationId xmlns:a16="http://schemas.microsoft.com/office/drawing/2014/main" id="{003FFE02-E285-CD41-9B0F-CB2448F9E643}"/>
              </a:ext>
            </a:extLst>
          </p:cNvPr>
          <p:cNvSpPr>
            <a:spLocks noChangeArrowheads="1"/>
          </p:cNvSpPr>
          <p:nvPr/>
        </p:nvSpPr>
        <p:spPr bwMode="auto">
          <a:xfrm>
            <a:off x="3886200" y="3810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631" name="Text Box 28">
            <a:extLst>
              <a:ext uri="{FF2B5EF4-FFF2-40B4-BE49-F238E27FC236}">
                <a16:creationId xmlns:a16="http://schemas.microsoft.com/office/drawing/2014/main" id="{A41FF251-A9E1-3745-A154-CD633B0FEDC9}"/>
              </a:ext>
            </a:extLst>
          </p:cNvPr>
          <p:cNvSpPr txBox="1">
            <a:spLocks noChangeArrowheads="1"/>
          </p:cNvSpPr>
          <p:nvPr/>
        </p:nvSpPr>
        <p:spPr bwMode="auto">
          <a:xfrm>
            <a:off x="3962400" y="32004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25632" name="Text Box 29">
            <a:extLst>
              <a:ext uri="{FF2B5EF4-FFF2-40B4-BE49-F238E27FC236}">
                <a16:creationId xmlns:a16="http://schemas.microsoft.com/office/drawing/2014/main" id="{95BBA062-B03E-6F4A-ACA6-6F21047CEC0E}"/>
              </a:ext>
            </a:extLst>
          </p:cNvPr>
          <p:cNvSpPr txBox="1">
            <a:spLocks noChangeArrowheads="1"/>
          </p:cNvSpPr>
          <p:nvPr/>
        </p:nvSpPr>
        <p:spPr bwMode="auto">
          <a:xfrm>
            <a:off x="3657600" y="35052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25633" name="Text Box 30">
            <a:extLst>
              <a:ext uri="{FF2B5EF4-FFF2-40B4-BE49-F238E27FC236}">
                <a16:creationId xmlns:a16="http://schemas.microsoft.com/office/drawing/2014/main" id="{444BB183-EBE1-0A48-B063-86099624EEBA}"/>
              </a:ext>
            </a:extLst>
          </p:cNvPr>
          <p:cNvSpPr txBox="1">
            <a:spLocks noChangeArrowheads="1"/>
          </p:cNvSpPr>
          <p:nvPr/>
        </p:nvSpPr>
        <p:spPr bwMode="auto">
          <a:xfrm>
            <a:off x="3962400" y="42672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25634" name="Text Box 31">
            <a:extLst>
              <a:ext uri="{FF2B5EF4-FFF2-40B4-BE49-F238E27FC236}">
                <a16:creationId xmlns:a16="http://schemas.microsoft.com/office/drawing/2014/main" id="{FE57956A-86AE-DF43-A652-605CC3CBF2FE}"/>
              </a:ext>
            </a:extLst>
          </p:cNvPr>
          <p:cNvSpPr txBox="1">
            <a:spLocks noChangeArrowheads="1"/>
          </p:cNvSpPr>
          <p:nvPr/>
        </p:nvSpPr>
        <p:spPr bwMode="auto">
          <a:xfrm>
            <a:off x="3962400" y="4876801"/>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 G</a:t>
            </a:r>
          </a:p>
        </p:txBody>
      </p:sp>
      <p:sp>
        <p:nvSpPr>
          <p:cNvPr id="25635" name="Text Box 32">
            <a:extLst>
              <a:ext uri="{FF2B5EF4-FFF2-40B4-BE49-F238E27FC236}">
                <a16:creationId xmlns:a16="http://schemas.microsoft.com/office/drawing/2014/main" id="{E9FE4638-C10A-914B-B0E7-514CA1238FA8}"/>
              </a:ext>
            </a:extLst>
          </p:cNvPr>
          <p:cNvSpPr txBox="1">
            <a:spLocks noChangeArrowheads="1"/>
          </p:cNvSpPr>
          <p:nvPr/>
        </p:nvSpPr>
        <p:spPr bwMode="auto">
          <a:xfrm>
            <a:off x="2362200" y="49530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25636" name="Text Box 33">
            <a:extLst>
              <a:ext uri="{FF2B5EF4-FFF2-40B4-BE49-F238E27FC236}">
                <a16:creationId xmlns:a16="http://schemas.microsoft.com/office/drawing/2014/main" id="{8960E378-B2A3-164C-9EC7-A002E099B529}"/>
              </a:ext>
            </a:extLst>
          </p:cNvPr>
          <p:cNvSpPr txBox="1">
            <a:spLocks noChangeArrowheads="1"/>
          </p:cNvSpPr>
          <p:nvPr/>
        </p:nvSpPr>
        <p:spPr bwMode="auto">
          <a:xfrm>
            <a:off x="3810000" y="5486401"/>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I</a:t>
            </a:r>
          </a:p>
        </p:txBody>
      </p:sp>
      <p:sp>
        <p:nvSpPr>
          <p:cNvPr id="25637" name="Text Box 35">
            <a:extLst>
              <a:ext uri="{FF2B5EF4-FFF2-40B4-BE49-F238E27FC236}">
                <a16:creationId xmlns:a16="http://schemas.microsoft.com/office/drawing/2014/main" id="{EFBDE349-FA8A-B642-94D4-9627A9E2AAA6}"/>
              </a:ext>
            </a:extLst>
          </p:cNvPr>
          <p:cNvSpPr txBox="1">
            <a:spLocks noChangeArrowheads="1"/>
          </p:cNvSpPr>
          <p:nvPr/>
        </p:nvSpPr>
        <p:spPr bwMode="auto">
          <a:xfrm>
            <a:off x="5181600" y="35052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25638" name="Text Box 36">
            <a:extLst>
              <a:ext uri="{FF2B5EF4-FFF2-40B4-BE49-F238E27FC236}">
                <a16:creationId xmlns:a16="http://schemas.microsoft.com/office/drawing/2014/main" id="{D7CD9ADC-B971-6946-9F6B-E7B1C59EAA56}"/>
              </a:ext>
            </a:extLst>
          </p:cNvPr>
          <p:cNvSpPr txBox="1">
            <a:spLocks noChangeArrowheads="1"/>
          </p:cNvSpPr>
          <p:nvPr/>
        </p:nvSpPr>
        <p:spPr bwMode="auto">
          <a:xfrm>
            <a:off x="2590800" y="34290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25639" name="Text Box 37">
            <a:extLst>
              <a:ext uri="{FF2B5EF4-FFF2-40B4-BE49-F238E27FC236}">
                <a16:creationId xmlns:a16="http://schemas.microsoft.com/office/drawing/2014/main" id="{A5BD02C1-D219-DF42-8179-6D4ECD3589E6}"/>
              </a:ext>
            </a:extLst>
          </p:cNvPr>
          <p:cNvSpPr txBox="1">
            <a:spLocks noChangeArrowheads="1"/>
          </p:cNvSpPr>
          <p:nvPr/>
        </p:nvSpPr>
        <p:spPr bwMode="auto">
          <a:xfrm>
            <a:off x="2362200" y="58674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J</a:t>
            </a:r>
          </a:p>
        </p:txBody>
      </p:sp>
      <p:sp>
        <p:nvSpPr>
          <p:cNvPr id="25640" name="Text Box 38">
            <a:extLst>
              <a:ext uri="{FF2B5EF4-FFF2-40B4-BE49-F238E27FC236}">
                <a16:creationId xmlns:a16="http://schemas.microsoft.com/office/drawing/2014/main" id="{A6B7EE38-BCC2-A94A-8FA9-4B42F3B4B341}"/>
              </a:ext>
            </a:extLst>
          </p:cNvPr>
          <p:cNvSpPr txBox="1">
            <a:spLocks noChangeArrowheads="1"/>
          </p:cNvSpPr>
          <p:nvPr/>
        </p:nvSpPr>
        <p:spPr bwMode="auto">
          <a:xfrm>
            <a:off x="5257800" y="56388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K</a:t>
            </a:r>
          </a:p>
        </p:txBody>
      </p:sp>
      <p:sp>
        <p:nvSpPr>
          <p:cNvPr id="25641" name="Text Box 41">
            <a:extLst>
              <a:ext uri="{FF2B5EF4-FFF2-40B4-BE49-F238E27FC236}">
                <a16:creationId xmlns:a16="http://schemas.microsoft.com/office/drawing/2014/main" id="{AD44C163-F20C-6D46-8EA2-F33AB7B4853F}"/>
              </a:ext>
            </a:extLst>
          </p:cNvPr>
          <p:cNvSpPr txBox="1">
            <a:spLocks noChangeArrowheads="1"/>
          </p:cNvSpPr>
          <p:nvPr/>
        </p:nvSpPr>
        <p:spPr bwMode="auto">
          <a:xfrm>
            <a:off x="6705600" y="3276601"/>
            <a:ext cx="3429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a:latin typeface="Times New Roman" panose="02020603050405020304" pitchFamily="18" charset="0"/>
              </a:rPr>
              <a:t>Vertices </a:t>
            </a:r>
            <a:r>
              <a:rPr lang="en-US" altLang="en-US" sz="1800"/>
              <a:t>A</a:t>
            </a:r>
            <a:r>
              <a:rPr lang="en-US" altLang="en-US" sz="2000">
                <a:latin typeface="Times New Roman" panose="02020603050405020304" pitchFamily="18" charset="0"/>
              </a:rPr>
              <a:t> and </a:t>
            </a:r>
            <a:r>
              <a:rPr lang="en-US" altLang="en-US" sz="1800"/>
              <a:t>G</a:t>
            </a:r>
            <a:r>
              <a:rPr lang="en-US" altLang="en-US" sz="2000">
                <a:latin typeface="Times New Roman" panose="02020603050405020304" pitchFamily="18" charset="0"/>
              </a:rPr>
              <a:t> are the only vertices of degree 2.</a:t>
            </a:r>
          </a:p>
        </p:txBody>
      </p:sp>
    </p:spTree>
    <p:extLst>
      <p:ext uri="{BB962C8B-B14F-4D97-AF65-F5344CB8AC3E}">
        <p14:creationId xmlns:p14="http://schemas.microsoft.com/office/powerpoint/2010/main" val="2580104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Date Placeholder 3">
            <a:extLst>
              <a:ext uri="{FF2B5EF4-FFF2-40B4-BE49-F238E27FC236}">
                <a16:creationId xmlns:a16="http://schemas.microsoft.com/office/drawing/2014/main" id="{59595A84-57C1-E842-BA69-F925F1F7FA8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1144A85-575F-F74E-83AB-2AD4E7922044}" type="datetime1">
              <a:rPr lang="en-US" altLang="en-US" sz="1400">
                <a:latin typeface="Times New Roman" panose="02020603050405020304" pitchFamily="18" charset="0"/>
              </a:rPr>
              <a:pPr eaLnBrk="1" hangingPunct="1"/>
              <a:t>9/18/2025</a:t>
            </a:fld>
            <a:endParaRPr lang="en-US" altLang="en-US" sz="1400">
              <a:latin typeface="Times New Roman" panose="02020603050405020304" pitchFamily="18" charset="0"/>
            </a:endParaRPr>
          </a:p>
        </p:txBody>
      </p:sp>
      <p:sp>
        <p:nvSpPr>
          <p:cNvPr id="44" name="Footer Placeholder 4">
            <a:extLst>
              <a:ext uri="{FF2B5EF4-FFF2-40B4-BE49-F238E27FC236}">
                <a16:creationId xmlns:a16="http://schemas.microsoft.com/office/drawing/2014/main" id="{4221DB62-B602-364D-BD30-4F15302E96C3}"/>
              </a:ext>
            </a:extLst>
          </p:cNvPr>
          <p:cNvSpPr>
            <a:spLocks noGrp="1"/>
          </p:cNvSpPr>
          <p:nvPr>
            <p:ph type="ftr" sz="quarter" idx="11"/>
          </p:nvPr>
        </p:nvSpPr>
        <p:spPr/>
        <p:txBody>
          <a:bodyPr/>
          <a:lstStyle/>
          <a:p>
            <a:pPr>
              <a:defRPr/>
            </a:pPr>
            <a:r>
              <a:rPr lang="en-US"/>
              <a:t>Tucker, Sec. 2.2</a:t>
            </a:r>
          </a:p>
        </p:txBody>
      </p:sp>
      <p:sp>
        <p:nvSpPr>
          <p:cNvPr id="26627" name="Slide Number Placeholder 5">
            <a:extLst>
              <a:ext uri="{FF2B5EF4-FFF2-40B4-BE49-F238E27FC236}">
                <a16:creationId xmlns:a16="http://schemas.microsoft.com/office/drawing/2014/main" id="{048F09DF-296E-894F-80CB-72A4CB449EF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DDD094A-FCED-5A4B-A33D-397300955969}" type="slidenum">
              <a:rPr lang="en-US" altLang="en-US" sz="1400">
                <a:latin typeface="Times New Roman" panose="02020603050405020304" pitchFamily="18" charset="0"/>
              </a:rPr>
              <a:pPr eaLnBrk="1" hangingPunct="1"/>
              <a:t>30</a:t>
            </a:fld>
            <a:endParaRPr lang="en-US" altLang="en-US" sz="1400">
              <a:latin typeface="Times New Roman" panose="02020603050405020304" pitchFamily="18" charset="0"/>
            </a:endParaRPr>
          </a:p>
        </p:txBody>
      </p:sp>
      <p:sp>
        <p:nvSpPr>
          <p:cNvPr id="26628" name="Line 21">
            <a:extLst>
              <a:ext uri="{FF2B5EF4-FFF2-40B4-BE49-F238E27FC236}">
                <a16:creationId xmlns:a16="http://schemas.microsoft.com/office/drawing/2014/main" id="{348CB4B9-E5BA-5442-A511-E1EDE17497E4}"/>
              </a:ext>
            </a:extLst>
          </p:cNvPr>
          <p:cNvSpPr>
            <a:spLocks noChangeShapeType="1"/>
          </p:cNvSpPr>
          <p:nvPr/>
        </p:nvSpPr>
        <p:spPr bwMode="auto">
          <a:xfrm>
            <a:off x="5181600" y="3733800"/>
            <a:ext cx="0" cy="2209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29" name="Line 7">
            <a:extLst>
              <a:ext uri="{FF2B5EF4-FFF2-40B4-BE49-F238E27FC236}">
                <a16:creationId xmlns:a16="http://schemas.microsoft.com/office/drawing/2014/main" id="{733F57EF-808B-B647-B41A-0F571C5DBAD7}"/>
              </a:ext>
            </a:extLst>
          </p:cNvPr>
          <p:cNvSpPr>
            <a:spLocks noChangeShapeType="1"/>
          </p:cNvSpPr>
          <p:nvPr/>
        </p:nvSpPr>
        <p:spPr bwMode="auto">
          <a:xfrm>
            <a:off x="2743200" y="5943600"/>
            <a:ext cx="2438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4" name="Line 44">
            <a:extLst>
              <a:ext uri="{FF2B5EF4-FFF2-40B4-BE49-F238E27FC236}">
                <a16:creationId xmlns:a16="http://schemas.microsoft.com/office/drawing/2014/main" id="{3464B376-168D-3E45-868B-BB6DCDBC743C}"/>
              </a:ext>
            </a:extLst>
          </p:cNvPr>
          <p:cNvSpPr>
            <a:spLocks noChangeShapeType="1"/>
          </p:cNvSpPr>
          <p:nvPr/>
        </p:nvSpPr>
        <p:spPr bwMode="auto">
          <a:xfrm>
            <a:off x="2743200" y="5943600"/>
            <a:ext cx="24384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3" name="Line 43">
            <a:extLst>
              <a:ext uri="{FF2B5EF4-FFF2-40B4-BE49-F238E27FC236}">
                <a16:creationId xmlns:a16="http://schemas.microsoft.com/office/drawing/2014/main" id="{5DF6B83F-090A-5047-9A08-F9E232FC8D52}"/>
              </a:ext>
            </a:extLst>
          </p:cNvPr>
          <p:cNvSpPr>
            <a:spLocks noChangeShapeType="1"/>
          </p:cNvSpPr>
          <p:nvPr/>
        </p:nvSpPr>
        <p:spPr bwMode="auto">
          <a:xfrm>
            <a:off x="5181600" y="5105400"/>
            <a:ext cx="0" cy="838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2" name="Line 10">
            <a:extLst>
              <a:ext uri="{FF2B5EF4-FFF2-40B4-BE49-F238E27FC236}">
                <a16:creationId xmlns:a16="http://schemas.microsoft.com/office/drawing/2014/main" id="{AD1EF7E4-659B-4A41-BEC5-49792CF4350B}"/>
              </a:ext>
            </a:extLst>
          </p:cNvPr>
          <p:cNvSpPr>
            <a:spLocks noChangeShapeType="1"/>
          </p:cNvSpPr>
          <p:nvPr/>
        </p:nvSpPr>
        <p:spPr bwMode="auto">
          <a:xfrm flipV="1">
            <a:off x="2743200" y="5257800"/>
            <a:ext cx="12192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22" name="Line 42">
            <a:extLst>
              <a:ext uri="{FF2B5EF4-FFF2-40B4-BE49-F238E27FC236}">
                <a16:creationId xmlns:a16="http://schemas.microsoft.com/office/drawing/2014/main" id="{D82F0EBF-209C-4C4E-AB70-64FE10BB81E1}"/>
              </a:ext>
            </a:extLst>
          </p:cNvPr>
          <p:cNvSpPr>
            <a:spLocks noChangeShapeType="1"/>
          </p:cNvSpPr>
          <p:nvPr/>
        </p:nvSpPr>
        <p:spPr bwMode="auto">
          <a:xfrm flipV="1">
            <a:off x="2743200" y="5257800"/>
            <a:ext cx="1219200" cy="6858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4" name="Line 41">
            <a:extLst>
              <a:ext uri="{FF2B5EF4-FFF2-40B4-BE49-F238E27FC236}">
                <a16:creationId xmlns:a16="http://schemas.microsoft.com/office/drawing/2014/main" id="{FD590EAE-61FA-7F48-8F96-135126DB8FA1}"/>
              </a:ext>
            </a:extLst>
          </p:cNvPr>
          <p:cNvSpPr>
            <a:spLocks noChangeShapeType="1"/>
          </p:cNvSpPr>
          <p:nvPr/>
        </p:nvSpPr>
        <p:spPr bwMode="auto">
          <a:xfrm>
            <a:off x="3962400" y="4495800"/>
            <a:ext cx="0" cy="762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5" name="Rectangle 2">
            <a:extLst>
              <a:ext uri="{FF2B5EF4-FFF2-40B4-BE49-F238E27FC236}">
                <a16:creationId xmlns:a16="http://schemas.microsoft.com/office/drawing/2014/main" id="{49C4A113-8B0C-7C41-8337-E45F93F9905D}"/>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Using Rules</a:t>
            </a:r>
          </a:p>
        </p:txBody>
      </p:sp>
      <p:sp>
        <p:nvSpPr>
          <p:cNvPr id="26636" name="Rectangle 3">
            <a:extLst>
              <a:ext uri="{FF2B5EF4-FFF2-40B4-BE49-F238E27FC236}">
                <a16:creationId xmlns:a16="http://schemas.microsoft.com/office/drawing/2014/main" id="{75255239-4234-AC44-90B2-BABE08D8633D}"/>
              </a:ext>
            </a:extLst>
          </p:cNvPr>
          <p:cNvSpPr>
            <a:spLocks noGrp="1" noChangeArrowheads="1"/>
          </p:cNvSpPr>
          <p:nvPr>
            <p:ph type="body" idx="1"/>
          </p:nvPr>
        </p:nvSpPr>
        <p:spPr>
          <a:xfrm>
            <a:off x="2209800" y="1981201"/>
            <a:ext cx="7772400" cy="900113"/>
          </a:xfrm>
        </p:spPr>
        <p:txBody>
          <a:bodyPr/>
          <a:lstStyle/>
          <a:p>
            <a:pPr eaLnBrk="1" hangingPunct="1">
              <a:lnSpc>
                <a:spcPct val="90000"/>
              </a:lnSpc>
            </a:pPr>
            <a:r>
              <a:rPr lang="en-US" altLang="en-US">
                <a:ea typeface="ＭＳ Ｐゴシック" panose="020B0600070205080204" pitchFamily="34" charset="-128"/>
              </a:rPr>
              <a:t>Rules 3 and 1 advance the building of our Hamilton Circuit.</a:t>
            </a:r>
          </a:p>
        </p:txBody>
      </p:sp>
      <p:sp>
        <p:nvSpPr>
          <p:cNvPr id="26637" name="Line 5">
            <a:extLst>
              <a:ext uri="{FF2B5EF4-FFF2-40B4-BE49-F238E27FC236}">
                <a16:creationId xmlns:a16="http://schemas.microsoft.com/office/drawing/2014/main" id="{8EB248A0-3406-F244-A5EE-F8E359DF7FBD}"/>
              </a:ext>
            </a:extLst>
          </p:cNvPr>
          <p:cNvSpPr>
            <a:spLocks noChangeShapeType="1"/>
          </p:cNvSpPr>
          <p:nvPr/>
        </p:nvSpPr>
        <p:spPr bwMode="auto">
          <a:xfrm flipH="1" flipV="1">
            <a:off x="2743200" y="3657600"/>
            <a:ext cx="12192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8" name="Line 6">
            <a:extLst>
              <a:ext uri="{FF2B5EF4-FFF2-40B4-BE49-F238E27FC236}">
                <a16:creationId xmlns:a16="http://schemas.microsoft.com/office/drawing/2014/main" id="{B3649952-AE60-8F46-82A5-07C0FAC944C7}"/>
              </a:ext>
            </a:extLst>
          </p:cNvPr>
          <p:cNvSpPr>
            <a:spLocks noChangeShapeType="1"/>
          </p:cNvSpPr>
          <p:nvPr/>
        </p:nvSpPr>
        <p:spPr bwMode="auto">
          <a:xfrm flipV="1">
            <a:off x="3962400" y="3657600"/>
            <a:ext cx="12192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9" name="Line 8">
            <a:extLst>
              <a:ext uri="{FF2B5EF4-FFF2-40B4-BE49-F238E27FC236}">
                <a16:creationId xmlns:a16="http://schemas.microsoft.com/office/drawing/2014/main" id="{A7CADED4-D4DE-AE40-A0AC-1C3371D27686}"/>
              </a:ext>
            </a:extLst>
          </p:cNvPr>
          <p:cNvSpPr>
            <a:spLocks noChangeShapeType="1"/>
          </p:cNvSpPr>
          <p:nvPr/>
        </p:nvSpPr>
        <p:spPr bwMode="auto">
          <a:xfrm flipV="1">
            <a:off x="2743200" y="3048000"/>
            <a:ext cx="11430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0" name="Line 9">
            <a:extLst>
              <a:ext uri="{FF2B5EF4-FFF2-40B4-BE49-F238E27FC236}">
                <a16:creationId xmlns:a16="http://schemas.microsoft.com/office/drawing/2014/main" id="{EFDE4343-FAA7-E841-A9D1-BF9975694A71}"/>
              </a:ext>
            </a:extLst>
          </p:cNvPr>
          <p:cNvSpPr>
            <a:spLocks noChangeShapeType="1"/>
          </p:cNvSpPr>
          <p:nvPr/>
        </p:nvSpPr>
        <p:spPr bwMode="auto">
          <a:xfrm flipV="1">
            <a:off x="2743200" y="4495800"/>
            <a:ext cx="1143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1" name="Line 11">
            <a:extLst>
              <a:ext uri="{FF2B5EF4-FFF2-40B4-BE49-F238E27FC236}">
                <a16:creationId xmlns:a16="http://schemas.microsoft.com/office/drawing/2014/main" id="{E8493A6A-F6F4-E44F-AB26-4F7D88B90EA1}"/>
              </a:ext>
            </a:extLst>
          </p:cNvPr>
          <p:cNvSpPr>
            <a:spLocks noChangeShapeType="1"/>
          </p:cNvSpPr>
          <p:nvPr/>
        </p:nvSpPr>
        <p:spPr bwMode="auto">
          <a:xfrm flipH="1" flipV="1">
            <a:off x="4038600" y="3048000"/>
            <a:ext cx="11430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2" name="Line 12">
            <a:extLst>
              <a:ext uri="{FF2B5EF4-FFF2-40B4-BE49-F238E27FC236}">
                <a16:creationId xmlns:a16="http://schemas.microsoft.com/office/drawing/2014/main" id="{4182877F-1CF5-EE49-8C7D-3E2B75B5B528}"/>
              </a:ext>
            </a:extLst>
          </p:cNvPr>
          <p:cNvSpPr>
            <a:spLocks noChangeShapeType="1"/>
          </p:cNvSpPr>
          <p:nvPr/>
        </p:nvSpPr>
        <p:spPr bwMode="auto">
          <a:xfrm flipH="1" flipV="1">
            <a:off x="4038600" y="4495800"/>
            <a:ext cx="1143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3" name="Line 13">
            <a:extLst>
              <a:ext uri="{FF2B5EF4-FFF2-40B4-BE49-F238E27FC236}">
                <a16:creationId xmlns:a16="http://schemas.microsoft.com/office/drawing/2014/main" id="{9F09EBA7-9E37-5549-8541-F657711CCE8E}"/>
              </a:ext>
            </a:extLst>
          </p:cNvPr>
          <p:cNvSpPr>
            <a:spLocks noChangeShapeType="1"/>
          </p:cNvSpPr>
          <p:nvPr/>
        </p:nvSpPr>
        <p:spPr bwMode="auto">
          <a:xfrm flipH="1" flipV="1">
            <a:off x="3962400" y="5257800"/>
            <a:ext cx="12192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4" name="Line 14">
            <a:extLst>
              <a:ext uri="{FF2B5EF4-FFF2-40B4-BE49-F238E27FC236}">
                <a16:creationId xmlns:a16="http://schemas.microsoft.com/office/drawing/2014/main" id="{E2198A6B-A2C2-4D4A-81C3-1446CA9FAACA}"/>
              </a:ext>
            </a:extLst>
          </p:cNvPr>
          <p:cNvSpPr>
            <a:spLocks noChangeShapeType="1"/>
          </p:cNvSpPr>
          <p:nvPr/>
        </p:nvSpPr>
        <p:spPr bwMode="auto">
          <a:xfrm>
            <a:off x="3962400" y="3810000"/>
            <a:ext cx="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5" name="Oval 15">
            <a:extLst>
              <a:ext uri="{FF2B5EF4-FFF2-40B4-BE49-F238E27FC236}">
                <a16:creationId xmlns:a16="http://schemas.microsoft.com/office/drawing/2014/main" id="{8AA43BEE-81A2-AF46-B7BF-DE430646BFB2}"/>
              </a:ext>
            </a:extLst>
          </p:cNvPr>
          <p:cNvSpPr>
            <a:spLocks noChangeArrowheads="1"/>
          </p:cNvSpPr>
          <p:nvPr/>
        </p:nvSpPr>
        <p:spPr bwMode="auto">
          <a:xfrm>
            <a:off x="3886200" y="5181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646" name="Oval 16">
            <a:extLst>
              <a:ext uri="{FF2B5EF4-FFF2-40B4-BE49-F238E27FC236}">
                <a16:creationId xmlns:a16="http://schemas.microsoft.com/office/drawing/2014/main" id="{0FFB5C47-CFAE-084F-9D25-F6C72F67A59A}"/>
              </a:ext>
            </a:extLst>
          </p:cNvPr>
          <p:cNvSpPr>
            <a:spLocks noChangeArrowheads="1"/>
          </p:cNvSpPr>
          <p:nvPr/>
        </p:nvSpPr>
        <p:spPr bwMode="auto">
          <a:xfrm>
            <a:off x="3886200" y="4419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647" name="Oval 17">
            <a:extLst>
              <a:ext uri="{FF2B5EF4-FFF2-40B4-BE49-F238E27FC236}">
                <a16:creationId xmlns:a16="http://schemas.microsoft.com/office/drawing/2014/main" id="{E7C2126C-2971-7943-9CF7-A791D2C54A6A}"/>
              </a:ext>
            </a:extLst>
          </p:cNvPr>
          <p:cNvSpPr>
            <a:spLocks noChangeArrowheads="1"/>
          </p:cNvSpPr>
          <p:nvPr/>
        </p:nvSpPr>
        <p:spPr bwMode="auto">
          <a:xfrm>
            <a:off x="3886200" y="2971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648" name="Oval 18">
            <a:extLst>
              <a:ext uri="{FF2B5EF4-FFF2-40B4-BE49-F238E27FC236}">
                <a16:creationId xmlns:a16="http://schemas.microsoft.com/office/drawing/2014/main" id="{FC385F2C-EC94-2541-A2F7-D2496B2E1330}"/>
              </a:ext>
            </a:extLst>
          </p:cNvPr>
          <p:cNvSpPr>
            <a:spLocks noChangeArrowheads="1"/>
          </p:cNvSpPr>
          <p:nvPr/>
        </p:nvSpPr>
        <p:spPr bwMode="auto">
          <a:xfrm>
            <a:off x="2667000" y="58674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649" name="Oval 19">
            <a:extLst>
              <a:ext uri="{FF2B5EF4-FFF2-40B4-BE49-F238E27FC236}">
                <a16:creationId xmlns:a16="http://schemas.microsoft.com/office/drawing/2014/main" id="{8D29A6A2-3510-DE46-8D45-8820BBA4D2AE}"/>
              </a:ext>
            </a:extLst>
          </p:cNvPr>
          <p:cNvSpPr>
            <a:spLocks noChangeArrowheads="1"/>
          </p:cNvSpPr>
          <p:nvPr/>
        </p:nvSpPr>
        <p:spPr bwMode="auto">
          <a:xfrm>
            <a:off x="5105400" y="58674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650" name="Oval 20">
            <a:extLst>
              <a:ext uri="{FF2B5EF4-FFF2-40B4-BE49-F238E27FC236}">
                <a16:creationId xmlns:a16="http://schemas.microsoft.com/office/drawing/2014/main" id="{24ECD7E8-A04F-3049-848C-985D4C5F482B}"/>
              </a:ext>
            </a:extLst>
          </p:cNvPr>
          <p:cNvSpPr>
            <a:spLocks noChangeArrowheads="1"/>
          </p:cNvSpPr>
          <p:nvPr/>
        </p:nvSpPr>
        <p:spPr bwMode="auto">
          <a:xfrm>
            <a:off x="3886200" y="4800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651" name="Oval 22">
            <a:extLst>
              <a:ext uri="{FF2B5EF4-FFF2-40B4-BE49-F238E27FC236}">
                <a16:creationId xmlns:a16="http://schemas.microsoft.com/office/drawing/2014/main" id="{90D39CF5-0AC0-B049-9442-5390A56B274B}"/>
              </a:ext>
            </a:extLst>
          </p:cNvPr>
          <p:cNvSpPr>
            <a:spLocks noChangeArrowheads="1"/>
          </p:cNvSpPr>
          <p:nvPr/>
        </p:nvSpPr>
        <p:spPr bwMode="auto">
          <a:xfrm>
            <a:off x="5105400" y="35814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652" name="Oval 23">
            <a:extLst>
              <a:ext uri="{FF2B5EF4-FFF2-40B4-BE49-F238E27FC236}">
                <a16:creationId xmlns:a16="http://schemas.microsoft.com/office/drawing/2014/main" id="{885245C6-8195-BA45-8D66-FC919742312E}"/>
              </a:ext>
            </a:extLst>
          </p:cNvPr>
          <p:cNvSpPr>
            <a:spLocks noChangeArrowheads="1"/>
          </p:cNvSpPr>
          <p:nvPr/>
        </p:nvSpPr>
        <p:spPr bwMode="auto">
          <a:xfrm>
            <a:off x="2667000" y="35814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653" name="Line 24">
            <a:extLst>
              <a:ext uri="{FF2B5EF4-FFF2-40B4-BE49-F238E27FC236}">
                <a16:creationId xmlns:a16="http://schemas.microsoft.com/office/drawing/2014/main" id="{B90000AB-9B86-CB47-BE47-9319B90D528E}"/>
              </a:ext>
            </a:extLst>
          </p:cNvPr>
          <p:cNvSpPr>
            <a:spLocks noChangeShapeType="1"/>
          </p:cNvSpPr>
          <p:nvPr/>
        </p:nvSpPr>
        <p:spPr bwMode="auto">
          <a:xfrm>
            <a:off x="2743200" y="3733800"/>
            <a:ext cx="0" cy="2133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4" name="Oval 25">
            <a:extLst>
              <a:ext uri="{FF2B5EF4-FFF2-40B4-BE49-F238E27FC236}">
                <a16:creationId xmlns:a16="http://schemas.microsoft.com/office/drawing/2014/main" id="{97239BC7-8F77-A847-9CF0-AD8445BE1BD1}"/>
              </a:ext>
            </a:extLst>
          </p:cNvPr>
          <p:cNvSpPr>
            <a:spLocks noChangeArrowheads="1"/>
          </p:cNvSpPr>
          <p:nvPr/>
        </p:nvSpPr>
        <p:spPr bwMode="auto">
          <a:xfrm>
            <a:off x="2667000" y="50292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655" name="Oval 26">
            <a:extLst>
              <a:ext uri="{FF2B5EF4-FFF2-40B4-BE49-F238E27FC236}">
                <a16:creationId xmlns:a16="http://schemas.microsoft.com/office/drawing/2014/main" id="{D5EDE906-4DCC-CF49-863A-0506E1501772}"/>
              </a:ext>
            </a:extLst>
          </p:cNvPr>
          <p:cNvSpPr>
            <a:spLocks noChangeArrowheads="1"/>
          </p:cNvSpPr>
          <p:nvPr/>
        </p:nvSpPr>
        <p:spPr bwMode="auto">
          <a:xfrm>
            <a:off x="5105400" y="50292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656" name="Oval 27">
            <a:extLst>
              <a:ext uri="{FF2B5EF4-FFF2-40B4-BE49-F238E27FC236}">
                <a16:creationId xmlns:a16="http://schemas.microsoft.com/office/drawing/2014/main" id="{7345F505-467B-4045-AECC-2EDAB486D497}"/>
              </a:ext>
            </a:extLst>
          </p:cNvPr>
          <p:cNvSpPr>
            <a:spLocks noChangeArrowheads="1"/>
          </p:cNvSpPr>
          <p:nvPr/>
        </p:nvSpPr>
        <p:spPr bwMode="auto">
          <a:xfrm>
            <a:off x="3886200" y="3657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657" name="Text Box 28">
            <a:extLst>
              <a:ext uri="{FF2B5EF4-FFF2-40B4-BE49-F238E27FC236}">
                <a16:creationId xmlns:a16="http://schemas.microsoft.com/office/drawing/2014/main" id="{40F38C3E-A679-8445-AA67-51A438323624}"/>
              </a:ext>
            </a:extLst>
          </p:cNvPr>
          <p:cNvSpPr txBox="1">
            <a:spLocks noChangeArrowheads="1"/>
          </p:cNvSpPr>
          <p:nvPr/>
        </p:nvSpPr>
        <p:spPr bwMode="auto">
          <a:xfrm>
            <a:off x="3886200" y="30480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26658" name="Text Box 29">
            <a:extLst>
              <a:ext uri="{FF2B5EF4-FFF2-40B4-BE49-F238E27FC236}">
                <a16:creationId xmlns:a16="http://schemas.microsoft.com/office/drawing/2014/main" id="{6B13C575-1ACA-8F44-9156-3D4F4880F2EB}"/>
              </a:ext>
            </a:extLst>
          </p:cNvPr>
          <p:cNvSpPr txBox="1">
            <a:spLocks noChangeArrowheads="1"/>
          </p:cNvSpPr>
          <p:nvPr/>
        </p:nvSpPr>
        <p:spPr bwMode="auto">
          <a:xfrm>
            <a:off x="3657600" y="33528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26659" name="Text Box 30">
            <a:extLst>
              <a:ext uri="{FF2B5EF4-FFF2-40B4-BE49-F238E27FC236}">
                <a16:creationId xmlns:a16="http://schemas.microsoft.com/office/drawing/2014/main" id="{9E536C5D-C503-AF43-870F-10302392BE7E}"/>
              </a:ext>
            </a:extLst>
          </p:cNvPr>
          <p:cNvSpPr txBox="1">
            <a:spLocks noChangeArrowheads="1"/>
          </p:cNvSpPr>
          <p:nvPr/>
        </p:nvSpPr>
        <p:spPr bwMode="auto">
          <a:xfrm>
            <a:off x="3962400" y="41148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26660" name="Text Box 31">
            <a:extLst>
              <a:ext uri="{FF2B5EF4-FFF2-40B4-BE49-F238E27FC236}">
                <a16:creationId xmlns:a16="http://schemas.microsoft.com/office/drawing/2014/main" id="{42580E6C-F489-BF4A-A917-E0E7A0033F17}"/>
              </a:ext>
            </a:extLst>
          </p:cNvPr>
          <p:cNvSpPr txBox="1">
            <a:spLocks noChangeArrowheads="1"/>
          </p:cNvSpPr>
          <p:nvPr/>
        </p:nvSpPr>
        <p:spPr bwMode="auto">
          <a:xfrm>
            <a:off x="3962400" y="4724401"/>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 G</a:t>
            </a:r>
          </a:p>
        </p:txBody>
      </p:sp>
      <p:sp>
        <p:nvSpPr>
          <p:cNvPr id="26661" name="Text Box 32">
            <a:extLst>
              <a:ext uri="{FF2B5EF4-FFF2-40B4-BE49-F238E27FC236}">
                <a16:creationId xmlns:a16="http://schemas.microsoft.com/office/drawing/2014/main" id="{2CF455FB-7392-D443-A49E-F77AE381596E}"/>
              </a:ext>
            </a:extLst>
          </p:cNvPr>
          <p:cNvSpPr txBox="1">
            <a:spLocks noChangeArrowheads="1"/>
          </p:cNvSpPr>
          <p:nvPr/>
        </p:nvSpPr>
        <p:spPr bwMode="auto">
          <a:xfrm>
            <a:off x="2362200" y="48006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26662" name="Text Box 33">
            <a:extLst>
              <a:ext uri="{FF2B5EF4-FFF2-40B4-BE49-F238E27FC236}">
                <a16:creationId xmlns:a16="http://schemas.microsoft.com/office/drawing/2014/main" id="{1A087595-D71D-F048-87E9-A0B854D3B9A1}"/>
              </a:ext>
            </a:extLst>
          </p:cNvPr>
          <p:cNvSpPr txBox="1">
            <a:spLocks noChangeArrowheads="1"/>
          </p:cNvSpPr>
          <p:nvPr/>
        </p:nvSpPr>
        <p:spPr bwMode="auto">
          <a:xfrm>
            <a:off x="3810000" y="5334001"/>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I</a:t>
            </a:r>
          </a:p>
        </p:txBody>
      </p:sp>
      <p:sp>
        <p:nvSpPr>
          <p:cNvPr id="26663" name="Text Box 34">
            <a:extLst>
              <a:ext uri="{FF2B5EF4-FFF2-40B4-BE49-F238E27FC236}">
                <a16:creationId xmlns:a16="http://schemas.microsoft.com/office/drawing/2014/main" id="{8C36ACD9-F404-2747-97E3-37CF9728F312}"/>
              </a:ext>
            </a:extLst>
          </p:cNvPr>
          <p:cNvSpPr txBox="1">
            <a:spLocks noChangeArrowheads="1"/>
          </p:cNvSpPr>
          <p:nvPr/>
        </p:nvSpPr>
        <p:spPr bwMode="auto">
          <a:xfrm>
            <a:off x="5257800" y="48006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H</a:t>
            </a:r>
          </a:p>
        </p:txBody>
      </p:sp>
      <p:sp>
        <p:nvSpPr>
          <p:cNvPr id="26664" name="Text Box 35">
            <a:extLst>
              <a:ext uri="{FF2B5EF4-FFF2-40B4-BE49-F238E27FC236}">
                <a16:creationId xmlns:a16="http://schemas.microsoft.com/office/drawing/2014/main" id="{F2CDEC90-4ADE-DE4D-B79B-30795B481CE0}"/>
              </a:ext>
            </a:extLst>
          </p:cNvPr>
          <p:cNvSpPr txBox="1">
            <a:spLocks noChangeArrowheads="1"/>
          </p:cNvSpPr>
          <p:nvPr/>
        </p:nvSpPr>
        <p:spPr bwMode="auto">
          <a:xfrm>
            <a:off x="5181600" y="33528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26665" name="Text Box 36">
            <a:extLst>
              <a:ext uri="{FF2B5EF4-FFF2-40B4-BE49-F238E27FC236}">
                <a16:creationId xmlns:a16="http://schemas.microsoft.com/office/drawing/2014/main" id="{7B276EC8-0BA7-EB43-88A0-74507CC2F853}"/>
              </a:ext>
            </a:extLst>
          </p:cNvPr>
          <p:cNvSpPr txBox="1">
            <a:spLocks noChangeArrowheads="1"/>
          </p:cNvSpPr>
          <p:nvPr/>
        </p:nvSpPr>
        <p:spPr bwMode="auto">
          <a:xfrm>
            <a:off x="2590800" y="32766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26666" name="Text Box 37">
            <a:extLst>
              <a:ext uri="{FF2B5EF4-FFF2-40B4-BE49-F238E27FC236}">
                <a16:creationId xmlns:a16="http://schemas.microsoft.com/office/drawing/2014/main" id="{6D3C9B49-ABA5-8A46-BFC0-D7752F0D0F8D}"/>
              </a:ext>
            </a:extLst>
          </p:cNvPr>
          <p:cNvSpPr txBox="1">
            <a:spLocks noChangeArrowheads="1"/>
          </p:cNvSpPr>
          <p:nvPr/>
        </p:nvSpPr>
        <p:spPr bwMode="auto">
          <a:xfrm>
            <a:off x="2362200" y="57150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J</a:t>
            </a:r>
          </a:p>
        </p:txBody>
      </p:sp>
      <p:sp>
        <p:nvSpPr>
          <p:cNvPr id="26667" name="Text Box 38">
            <a:extLst>
              <a:ext uri="{FF2B5EF4-FFF2-40B4-BE49-F238E27FC236}">
                <a16:creationId xmlns:a16="http://schemas.microsoft.com/office/drawing/2014/main" id="{CCAFBAFF-DA6E-CE47-8EF7-515C7B01AFAD}"/>
              </a:ext>
            </a:extLst>
          </p:cNvPr>
          <p:cNvSpPr txBox="1">
            <a:spLocks noChangeArrowheads="1"/>
          </p:cNvSpPr>
          <p:nvPr/>
        </p:nvSpPr>
        <p:spPr bwMode="auto">
          <a:xfrm>
            <a:off x="5257800" y="57150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K</a:t>
            </a:r>
          </a:p>
        </p:txBody>
      </p:sp>
      <p:sp>
        <p:nvSpPr>
          <p:cNvPr id="26668" name="Text Box 39">
            <a:extLst>
              <a:ext uri="{FF2B5EF4-FFF2-40B4-BE49-F238E27FC236}">
                <a16:creationId xmlns:a16="http://schemas.microsoft.com/office/drawing/2014/main" id="{38BBA3A3-B591-FA4D-A3B5-F55F4D24C515}"/>
              </a:ext>
            </a:extLst>
          </p:cNvPr>
          <p:cNvSpPr txBox="1">
            <a:spLocks noChangeArrowheads="1"/>
          </p:cNvSpPr>
          <p:nvPr/>
        </p:nvSpPr>
        <p:spPr bwMode="auto">
          <a:xfrm>
            <a:off x="5867400" y="3200401"/>
            <a:ext cx="45720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Char char="•"/>
            </a:pPr>
            <a:r>
              <a:rPr lang="en-US" altLang="en-US" sz="2000">
                <a:latin typeface="Times New Roman" panose="02020603050405020304" pitchFamily="18" charset="0"/>
              </a:rPr>
              <a:t>Since the graph is symmetrical, it doesn</a:t>
            </a:r>
            <a:r>
              <a:rPr lang="ja-JP" altLang="en-US" sz="2000">
                <a:latin typeface="Times New Roman" panose="02020603050405020304" pitchFamily="18" charset="0"/>
              </a:rPr>
              <a:t>’</a:t>
            </a:r>
            <a:r>
              <a:rPr lang="en-US" altLang="ja-JP" sz="2000">
                <a:latin typeface="Times New Roman" panose="02020603050405020304" pitchFamily="18" charset="0"/>
              </a:rPr>
              <a:t>t matter whether we use edge </a:t>
            </a:r>
            <a:r>
              <a:rPr lang="en-US" altLang="ja-JP" sz="1800"/>
              <a:t>IJ</a:t>
            </a:r>
            <a:r>
              <a:rPr lang="en-US" altLang="ja-JP" sz="2000">
                <a:latin typeface="Times New Roman" panose="02020603050405020304" pitchFamily="18" charset="0"/>
              </a:rPr>
              <a:t> or edge </a:t>
            </a:r>
            <a:r>
              <a:rPr lang="en-US" altLang="ja-JP" sz="1800"/>
              <a:t>IK</a:t>
            </a:r>
            <a:r>
              <a:rPr lang="en-US" altLang="ja-JP" sz="2000">
                <a:latin typeface="Times New Roman" panose="02020603050405020304" pitchFamily="18" charset="0"/>
              </a:rPr>
              <a:t>. </a:t>
            </a:r>
          </a:p>
          <a:p>
            <a:pPr eaLnBrk="1" hangingPunct="1">
              <a:spcBef>
                <a:spcPct val="50000"/>
              </a:spcBef>
              <a:buFontTx/>
              <a:buChar char="•"/>
            </a:pPr>
            <a:r>
              <a:rPr lang="en-US" altLang="en-US" sz="2000">
                <a:latin typeface="Times New Roman" panose="02020603050405020304" pitchFamily="18" charset="0"/>
              </a:rPr>
              <a:t>If we choose </a:t>
            </a:r>
            <a:r>
              <a:rPr lang="en-US" altLang="en-US" sz="1800"/>
              <a:t>IJ</a:t>
            </a:r>
            <a:r>
              <a:rPr lang="en-US" altLang="en-US" sz="2000">
                <a:latin typeface="Times New Roman" panose="02020603050405020304" pitchFamily="18" charset="0"/>
              </a:rPr>
              <a:t>, Rule 3 lets us eliminate </a:t>
            </a:r>
            <a:r>
              <a:rPr lang="en-US" altLang="en-US" sz="1800"/>
              <a:t>IK</a:t>
            </a:r>
            <a:r>
              <a:rPr lang="en-US" altLang="en-US" sz="2000">
                <a:latin typeface="Times New Roman" panose="02020603050405020304" pitchFamily="18" charset="0"/>
              </a:rPr>
              <a:t> making </a:t>
            </a:r>
            <a:r>
              <a:rPr lang="en-US" altLang="en-US" sz="1800"/>
              <a:t>K</a:t>
            </a:r>
            <a:r>
              <a:rPr lang="en-US" altLang="en-US" sz="2000">
                <a:latin typeface="Times New Roman" panose="02020603050405020304" pitchFamily="18" charset="0"/>
              </a:rPr>
              <a:t> a vertex of degree 2.</a:t>
            </a:r>
          </a:p>
          <a:p>
            <a:pPr eaLnBrk="1" hangingPunct="1">
              <a:spcBef>
                <a:spcPct val="50000"/>
              </a:spcBef>
              <a:buFontTx/>
              <a:buChar char="•"/>
            </a:pPr>
            <a:r>
              <a:rPr lang="en-US" altLang="en-US" sz="2000">
                <a:latin typeface="Times New Roman" panose="02020603050405020304" pitchFamily="18" charset="0"/>
              </a:rPr>
              <a:t>By Rule 1 we must use </a:t>
            </a:r>
            <a:r>
              <a:rPr lang="en-US" altLang="en-US" sz="1800"/>
              <a:t>HK</a:t>
            </a:r>
            <a:r>
              <a:rPr lang="en-US" altLang="en-US" sz="2000">
                <a:latin typeface="Times New Roman" panose="02020603050405020304" pitchFamily="18" charset="0"/>
              </a:rPr>
              <a:t> and </a:t>
            </a:r>
            <a:r>
              <a:rPr lang="en-US" altLang="en-US" sz="1800"/>
              <a:t>JK</a:t>
            </a:r>
            <a:r>
              <a:rPr lang="en-US" altLang="en-US" sz="2000">
                <a:latin typeface="Times New Roman" panose="02020603050405020304" pitchFamily="18" charset="0"/>
              </a:rPr>
              <a:t>.</a:t>
            </a:r>
          </a:p>
        </p:txBody>
      </p:sp>
    </p:spTree>
    <p:extLst>
      <p:ext uri="{BB962C8B-B14F-4D97-AF65-F5344CB8AC3E}">
        <p14:creationId xmlns:p14="http://schemas.microsoft.com/office/powerpoint/2010/main" val="24051505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0522"/>
                                        </p:tgtEl>
                                        <p:attrNameLst>
                                          <p:attrName>style.visibility</p:attrName>
                                        </p:attrNameLst>
                                      </p:cBhvr>
                                      <p:to>
                                        <p:strVal val="visible"/>
                                      </p:to>
                                    </p:set>
                                    <p:animEffect transition="in" filter="dissolve">
                                      <p:cBhvr>
                                        <p:cTn id="7" dur="500"/>
                                        <p:tgtEl>
                                          <p:spTgt spid="205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xit" presetSubtype="0" fill="hold" nodeType="clickEffect">
                                  <p:stCondLst>
                                    <p:cond delay="0"/>
                                  </p:stCondLst>
                                  <p:childTnLst>
                                    <p:animEffect transition="out" filter="dissolve">
                                      <p:cBhvr>
                                        <p:cTn id="11" dur="500"/>
                                        <p:tgtEl>
                                          <p:spTgt spid="20493"/>
                                        </p:tgtEl>
                                      </p:cBhvr>
                                    </p:animEffect>
                                    <p:set>
                                      <p:cBhvr>
                                        <p:cTn id="12" dur="1" fill="hold">
                                          <p:stCondLst>
                                            <p:cond delay="499"/>
                                          </p:stCondLst>
                                        </p:cTn>
                                        <p:tgtEl>
                                          <p:spTgt spid="2049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0523"/>
                                        </p:tgtEl>
                                        <p:attrNameLst>
                                          <p:attrName>style.visibility</p:attrName>
                                        </p:attrNameLst>
                                      </p:cBhvr>
                                      <p:to>
                                        <p:strVal val="visible"/>
                                      </p:to>
                                    </p:set>
                                    <p:animEffect transition="in" filter="dissolve">
                                      <p:cBhvr>
                                        <p:cTn id="17" dur="500"/>
                                        <p:tgtEl>
                                          <p:spTgt spid="20523"/>
                                        </p:tgtEl>
                                      </p:cBhvr>
                                    </p:animEffect>
                                  </p:childTnLst>
                                </p:cTn>
                              </p:par>
                              <p:par>
                                <p:cTn id="18" presetID="9" presetClass="entr" presetSubtype="0" fill="hold" nodeType="withEffect">
                                  <p:stCondLst>
                                    <p:cond delay="0"/>
                                  </p:stCondLst>
                                  <p:childTnLst>
                                    <p:set>
                                      <p:cBhvr>
                                        <p:cTn id="19" dur="1" fill="hold">
                                          <p:stCondLst>
                                            <p:cond delay="0"/>
                                          </p:stCondLst>
                                        </p:cTn>
                                        <p:tgtEl>
                                          <p:spTgt spid="20524"/>
                                        </p:tgtEl>
                                        <p:attrNameLst>
                                          <p:attrName>style.visibility</p:attrName>
                                        </p:attrNameLst>
                                      </p:cBhvr>
                                      <p:to>
                                        <p:strVal val="visible"/>
                                      </p:to>
                                    </p:set>
                                    <p:animEffect transition="in" filter="dissolve">
                                      <p:cBhvr>
                                        <p:cTn id="20" dur="500"/>
                                        <p:tgtEl>
                                          <p:spTgt spid="20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Line 21">
            <a:extLst>
              <a:ext uri="{FF2B5EF4-FFF2-40B4-BE49-F238E27FC236}">
                <a16:creationId xmlns:a16="http://schemas.microsoft.com/office/drawing/2014/main" id="{51AE0DB4-FAF5-3343-B765-F54BC7FEA028}"/>
              </a:ext>
            </a:extLst>
          </p:cNvPr>
          <p:cNvSpPr>
            <a:spLocks noChangeShapeType="1"/>
          </p:cNvSpPr>
          <p:nvPr/>
        </p:nvSpPr>
        <p:spPr bwMode="auto">
          <a:xfrm>
            <a:off x="5181600" y="3733800"/>
            <a:ext cx="0" cy="1371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50" name="Line 46">
            <a:extLst>
              <a:ext uri="{FF2B5EF4-FFF2-40B4-BE49-F238E27FC236}">
                <a16:creationId xmlns:a16="http://schemas.microsoft.com/office/drawing/2014/main" id="{8FBEC593-3EDC-3943-A1D5-C27E1A2594D9}"/>
              </a:ext>
            </a:extLst>
          </p:cNvPr>
          <p:cNvSpPr>
            <a:spLocks noChangeShapeType="1"/>
          </p:cNvSpPr>
          <p:nvPr/>
        </p:nvSpPr>
        <p:spPr bwMode="auto">
          <a:xfrm>
            <a:off x="5181600" y="3657600"/>
            <a:ext cx="0" cy="1371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4" name="Line 24">
            <a:extLst>
              <a:ext uri="{FF2B5EF4-FFF2-40B4-BE49-F238E27FC236}">
                <a16:creationId xmlns:a16="http://schemas.microsoft.com/office/drawing/2014/main" id="{4A0AFC6C-AA9F-A947-9A27-CCCDD3BEB97B}"/>
              </a:ext>
            </a:extLst>
          </p:cNvPr>
          <p:cNvSpPr>
            <a:spLocks noChangeShapeType="1"/>
          </p:cNvSpPr>
          <p:nvPr/>
        </p:nvSpPr>
        <p:spPr bwMode="auto">
          <a:xfrm>
            <a:off x="2743200" y="3657600"/>
            <a:ext cx="0" cy="1371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49" name="Line 45">
            <a:extLst>
              <a:ext uri="{FF2B5EF4-FFF2-40B4-BE49-F238E27FC236}">
                <a16:creationId xmlns:a16="http://schemas.microsoft.com/office/drawing/2014/main" id="{82ADF02D-5496-A142-8423-4A91ACAB9859}"/>
              </a:ext>
            </a:extLst>
          </p:cNvPr>
          <p:cNvSpPr>
            <a:spLocks noChangeShapeType="1"/>
          </p:cNvSpPr>
          <p:nvPr/>
        </p:nvSpPr>
        <p:spPr bwMode="auto">
          <a:xfrm>
            <a:off x="2743200" y="3657600"/>
            <a:ext cx="0" cy="1371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6" name="Line 9">
            <a:extLst>
              <a:ext uri="{FF2B5EF4-FFF2-40B4-BE49-F238E27FC236}">
                <a16:creationId xmlns:a16="http://schemas.microsoft.com/office/drawing/2014/main" id="{8DCCB112-93C6-394A-9C8A-10EE759D258B}"/>
              </a:ext>
            </a:extLst>
          </p:cNvPr>
          <p:cNvSpPr>
            <a:spLocks noChangeShapeType="1"/>
          </p:cNvSpPr>
          <p:nvPr/>
        </p:nvSpPr>
        <p:spPr bwMode="auto">
          <a:xfrm flipV="1">
            <a:off x="2743200" y="4495800"/>
            <a:ext cx="1143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48" name="Line 44">
            <a:extLst>
              <a:ext uri="{FF2B5EF4-FFF2-40B4-BE49-F238E27FC236}">
                <a16:creationId xmlns:a16="http://schemas.microsoft.com/office/drawing/2014/main" id="{C4705362-82F2-EB40-931C-3F4A719A77C0}"/>
              </a:ext>
            </a:extLst>
          </p:cNvPr>
          <p:cNvSpPr>
            <a:spLocks noChangeShapeType="1"/>
          </p:cNvSpPr>
          <p:nvPr/>
        </p:nvSpPr>
        <p:spPr bwMode="auto">
          <a:xfrm flipV="1">
            <a:off x="2743200" y="4495800"/>
            <a:ext cx="11430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47" name="Line 43">
            <a:extLst>
              <a:ext uri="{FF2B5EF4-FFF2-40B4-BE49-F238E27FC236}">
                <a16:creationId xmlns:a16="http://schemas.microsoft.com/office/drawing/2014/main" id="{97FAF944-9826-6D46-9D94-0389E5D6683C}"/>
              </a:ext>
            </a:extLst>
          </p:cNvPr>
          <p:cNvSpPr>
            <a:spLocks noChangeShapeType="1"/>
          </p:cNvSpPr>
          <p:nvPr/>
        </p:nvSpPr>
        <p:spPr bwMode="auto">
          <a:xfrm flipV="1">
            <a:off x="2743200" y="5105400"/>
            <a:ext cx="0" cy="838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9" name="Rectangle 2">
            <a:extLst>
              <a:ext uri="{FF2B5EF4-FFF2-40B4-BE49-F238E27FC236}">
                <a16:creationId xmlns:a16="http://schemas.microsoft.com/office/drawing/2014/main" id="{CB84FE93-B7D1-C54A-AFE6-AA2AF514E931}"/>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Using Rules</a:t>
            </a:r>
          </a:p>
        </p:txBody>
      </p:sp>
      <p:sp>
        <p:nvSpPr>
          <p:cNvPr id="27660" name="Rectangle 3">
            <a:extLst>
              <a:ext uri="{FF2B5EF4-FFF2-40B4-BE49-F238E27FC236}">
                <a16:creationId xmlns:a16="http://schemas.microsoft.com/office/drawing/2014/main" id="{270C7470-BBC5-F246-A02F-9423D4DB1ED3}"/>
              </a:ext>
            </a:extLst>
          </p:cNvPr>
          <p:cNvSpPr>
            <a:spLocks noGrp="1" noChangeArrowheads="1"/>
          </p:cNvSpPr>
          <p:nvPr>
            <p:ph type="body" idx="1"/>
          </p:nvPr>
        </p:nvSpPr>
        <p:spPr>
          <a:xfrm>
            <a:off x="2209800" y="1981200"/>
            <a:ext cx="7772400" cy="990600"/>
          </a:xfrm>
        </p:spPr>
        <p:txBody>
          <a:bodyPr/>
          <a:lstStyle/>
          <a:p>
            <a:pPr eaLnBrk="1" hangingPunct="1">
              <a:lnSpc>
                <a:spcPct val="90000"/>
              </a:lnSpc>
            </a:pPr>
            <a:r>
              <a:rPr lang="en-US" altLang="en-US">
                <a:ea typeface="ＭＳ Ｐゴシック" panose="020B0600070205080204" pitchFamily="34" charset="-128"/>
              </a:rPr>
              <a:t>All the rules advance the building of our Hamilton Circuit.</a:t>
            </a:r>
          </a:p>
        </p:txBody>
      </p:sp>
      <p:sp>
        <p:nvSpPr>
          <p:cNvPr id="27661" name="Line 40">
            <a:extLst>
              <a:ext uri="{FF2B5EF4-FFF2-40B4-BE49-F238E27FC236}">
                <a16:creationId xmlns:a16="http://schemas.microsoft.com/office/drawing/2014/main" id="{75E88CA7-FCE3-C948-869F-5A44F8BA39AC}"/>
              </a:ext>
            </a:extLst>
          </p:cNvPr>
          <p:cNvSpPr>
            <a:spLocks noChangeShapeType="1"/>
          </p:cNvSpPr>
          <p:nvPr/>
        </p:nvSpPr>
        <p:spPr bwMode="auto">
          <a:xfrm>
            <a:off x="5181600" y="5105400"/>
            <a:ext cx="0" cy="838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2" name="Line 39">
            <a:extLst>
              <a:ext uri="{FF2B5EF4-FFF2-40B4-BE49-F238E27FC236}">
                <a16:creationId xmlns:a16="http://schemas.microsoft.com/office/drawing/2014/main" id="{D4593DCD-A1B2-F54B-9CA5-4B79CDC4054E}"/>
              </a:ext>
            </a:extLst>
          </p:cNvPr>
          <p:cNvSpPr>
            <a:spLocks noChangeShapeType="1"/>
          </p:cNvSpPr>
          <p:nvPr/>
        </p:nvSpPr>
        <p:spPr bwMode="auto">
          <a:xfrm>
            <a:off x="3962400" y="4495800"/>
            <a:ext cx="0" cy="6858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3" name="Line 5">
            <a:extLst>
              <a:ext uri="{FF2B5EF4-FFF2-40B4-BE49-F238E27FC236}">
                <a16:creationId xmlns:a16="http://schemas.microsoft.com/office/drawing/2014/main" id="{45B91535-EFA3-B345-B228-883B456C1590}"/>
              </a:ext>
            </a:extLst>
          </p:cNvPr>
          <p:cNvSpPr>
            <a:spLocks noChangeShapeType="1"/>
          </p:cNvSpPr>
          <p:nvPr/>
        </p:nvSpPr>
        <p:spPr bwMode="auto">
          <a:xfrm flipH="1" flipV="1">
            <a:off x="2743200" y="3657600"/>
            <a:ext cx="12192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4" name="Line 6">
            <a:extLst>
              <a:ext uri="{FF2B5EF4-FFF2-40B4-BE49-F238E27FC236}">
                <a16:creationId xmlns:a16="http://schemas.microsoft.com/office/drawing/2014/main" id="{6D6385B7-FA3E-E048-919A-DBB09A734E46}"/>
              </a:ext>
            </a:extLst>
          </p:cNvPr>
          <p:cNvSpPr>
            <a:spLocks noChangeShapeType="1"/>
          </p:cNvSpPr>
          <p:nvPr/>
        </p:nvSpPr>
        <p:spPr bwMode="auto">
          <a:xfrm flipV="1">
            <a:off x="3962400" y="3657600"/>
            <a:ext cx="12192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5" name="Line 7">
            <a:extLst>
              <a:ext uri="{FF2B5EF4-FFF2-40B4-BE49-F238E27FC236}">
                <a16:creationId xmlns:a16="http://schemas.microsoft.com/office/drawing/2014/main" id="{EFE4D105-E3C6-E845-99EF-E4287A3BAC6A}"/>
              </a:ext>
            </a:extLst>
          </p:cNvPr>
          <p:cNvSpPr>
            <a:spLocks noChangeShapeType="1"/>
          </p:cNvSpPr>
          <p:nvPr/>
        </p:nvSpPr>
        <p:spPr bwMode="auto">
          <a:xfrm>
            <a:off x="2743200" y="5943600"/>
            <a:ext cx="24384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6" name="Line 8">
            <a:extLst>
              <a:ext uri="{FF2B5EF4-FFF2-40B4-BE49-F238E27FC236}">
                <a16:creationId xmlns:a16="http://schemas.microsoft.com/office/drawing/2014/main" id="{DDEF6F5C-8732-2042-8041-C9B935BA6490}"/>
              </a:ext>
            </a:extLst>
          </p:cNvPr>
          <p:cNvSpPr>
            <a:spLocks noChangeShapeType="1"/>
          </p:cNvSpPr>
          <p:nvPr/>
        </p:nvSpPr>
        <p:spPr bwMode="auto">
          <a:xfrm flipV="1">
            <a:off x="2743200" y="3048000"/>
            <a:ext cx="11430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7" name="Line 10">
            <a:extLst>
              <a:ext uri="{FF2B5EF4-FFF2-40B4-BE49-F238E27FC236}">
                <a16:creationId xmlns:a16="http://schemas.microsoft.com/office/drawing/2014/main" id="{D89877BB-DEA3-4743-9417-D34270ECB8B8}"/>
              </a:ext>
            </a:extLst>
          </p:cNvPr>
          <p:cNvSpPr>
            <a:spLocks noChangeShapeType="1"/>
          </p:cNvSpPr>
          <p:nvPr/>
        </p:nvSpPr>
        <p:spPr bwMode="auto">
          <a:xfrm flipV="1">
            <a:off x="2743200" y="5257800"/>
            <a:ext cx="1219200" cy="6858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8" name="Line 11">
            <a:extLst>
              <a:ext uri="{FF2B5EF4-FFF2-40B4-BE49-F238E27FC236}">
                <a16:creationId xmlns:a16="http://schemas.microsoft.com/office/drawing/2014/main" id="{D480AE95-F1EC-7146-9490-B28B0B589CEF}"/>
              </a:ext>
            </a:extLst>
          </p:cNvPr>
          <p:cNvSpPr>
            <a:spLocks noChangeShapeType="1"/>
          </p:cNvSpPr>
          <p:nvPr/>
        </p:nvSpPr>
        <p:spPr bwMode="auto">
          <a:xfrm flipH="1" flipV="1">
            <a:off x="4038600" y="3048000"/>
            <a:ext cx="11430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6" name="Line 12">
            <a:extLst>
              <a:ext uri="{FF2B5EF4-FFF2-40B4-BE49-F238E27FC236}">
                <a16:creationId xmlns:a16="http://schemas.microsoft.com/office/drawing/2014/main" id="{F9BCDCD5-D6C4-B54D-9902-7E9746D473DE}"/>
              </a:ext>
            </a:extLst>
          </p:cNvPr>
          <p:cNvSpPr>
            <a:spLocks noChangeShapeType="1"/>
          </p:cNvSpPr>
          <p:nvPr/>
        </p:nvSpPr>
        <p:spPr bwMode="auto">
          <a:xfrm flipH="1" flipV="1">
            <a:off x="4038600" y="4495800"/>
            <a:ext cx="114300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0" name="Line 14">
            <a:extLst>
              <a:ext uri="{FF2B5EF4-FFF2-40B4-BE49-F238E27FC236}">
                <a16:creationId xmlns:a16="http://schemas.microsoft.com/office/drawing/2014/main" id="{944CDE29-D441-7F42-83B1-5D77468BBBB8}"/>
              </a:ext>
            </a:extLst>
          </p:cNvPr>
          <p:cNvSpPr>
            <a:spLocks noChangeShapeType="1"/>
          </p:cNvSpPr>
          <p:nvPr/>
        </p:nvSpPr>
        <p:spPr bwMode="auto">
          <a:xfrm>
            <a:off x="3962400" y="3810000"/>
            <a:ext cx="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1" name="Oval 15">
            <a:extLst>
              <a:ext uri="{FF2B5EF4-FFF2-40B4-BE49-F238E27FC236}">
                <a16:creationId xmlns:a16="http://schemas.microsoft.com/office/drawing/2014/main" id="{0B199422-21F7-F44F-BED6-AB064C195E33}"/>
              </a:ext>
            </a:extLst>
          </p:cNvPr>
          <p:cNvSpPr>
            <a:spLocks noChangeArrowheads="1"/>
          </p:cNvSpPr>
          <p:nvPr/>
        </p:nvSpPr>
        <p:spPr bwMode="auto">
          <a:xfrm>
            <a:off x="3886200" y="5181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672" name="Oval 16">
            <a:extLst>
              <a:ext uri="{FF2B5EF4-FFF2-40B4-BE49-F238E27FC236}">
                <a16:creationId xmlns:a16="http://schemas.microsoft.com/office/drawing/2014/main" id="{43DB30E2-EABF-844B-AA97-BBD6BD984C31}"/>
              </a:ext>
            </a:extLst>
          </p:cNvPr>
          <p:cNvSpPr>
            <a:spLocks noChangeArrowheads="1"/>
          </p:cNvSpPr>
          <p:nvPr/>
        </p:nvSpPr>
        <p:spPr bwMode="auto">
          <a:xfrm>
            <a:off x="3886200" y="4419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673" name="Oval 17">
            <a:extLst>
              <a:ext uri="{FF2B5EF4-FFF2-40B4-BE49-F238E27FC236}">
                <a16:creationId xmlns:a16="http://schemas.microsoft.com/office/drawing/2014/main" id="{851AB6C1-870D-A648-B82D-7597A7B97076}"/>
              </a:ext>
            </a:extLst>
          </p:cNvPr>
          <p:cNvSpPr>
            <a:spLocks noChangeArrowheads="1"/>
          </p:cNvSpPr>
          <p:nvPr/>
        </p:nvSpPr>
        <p:spPr bwMode="auto">
          <a:xfrm>
            <a:off x="3886200" y="2971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674" name="Oval 18">
            <a:extLst>
              <a:ext uri="{FF2B5EF4-FFF2-40B4-BE49-F238E27FC236}">
                <a16:creationId xmlns:a16="http://schemas.microsoft.com/office/drawing/2014/main" id="{8084EBEC-6C05-E44C-AE7E-2DFEE8BB57F4}"/>
              </a:ext>
            </a:extLst>
          </p:cNvPr>
          <p:cNvSpPr>
            <a:spLocks noChangeArrowheads="1"/>
          </p:cNvSpPr>
          <p:nvPr/>
        </p:nvSpPr>
        <p:spPr bwMode="auto">
          <a:xfrm>
            <a:off x="2667000" y="58674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675" name="Oval 19">
            <a:extLst>
              <a:ext uri="{FF2B5EF4-FFF2-40B4-BE49-F238E27FC236}">
                <a16:creationId xmlns:a16="http://schemas.microsoft.com/office/drawing/2014/main" id="{5EA404E0-5551-F94D-AAF7-95C9B3B66015}"/>
              </a:ext>
            </a:extLst>
          </p:cNvPr>
          <p:cNvSpPr>
            <a:spLocks noChangeArrowheads="1"/>
          </p:cNvSpPr>
          <p:nvPr/>
        </p:nvSpPr>
        <p:spPr bwMode="auto">
          <a:xfrm>
            <a:off x="5105400" y="58674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676" name="Oval 20">
            <a:extLst>
              <a:ext uri="{FF2B5EF4-FFF2-40B4-BE49-F238E27FC236}">
                <a16:creationId xmlns:a16="http://schemas.microsoft.com/office/drawing/2014/main" id="{9CC1CD5A-A830-D246-8D01-B7F94BA091C6}"/>
              </a:ext>
            </a:extLst>
          </p:cNvPr>
          <p:cNvSpPr>
            <a:spLocks noChangeArrowheads="1"/>
          </p:cNvSpPr>
          <p:nvPr/>
        </p:nvSpPr>
        <p:spPr bwMode="auto">
          <a:xfrm>
            <a:off x="3886200" y="4800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677" name="Oval 22">
            <a:extLst>
              <a:ext uri="{FF2B5EF4-FFF2-40B4-BE49-F238E27FC236}">
                <a16:creationId xmlns:a16="http://schemas.microsoft.com/office/drawing/2014/main" id="{683ADC65-2763-E744-9FA8-88739EA10AAF}"/>
              </a:ext>
            </a:extLst>
          </p:cNvPr>
          <p:cNvSpPr>
            <a:spLocks noChangeArrowheads="1"/>
          </p:cNvSpPr>
          <p:nvPr/>
        </p:nvSpPr>
        <p:spPr bwMode="auto">
          <a:xfrm>
            <a:off x="5105400" y="35814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678" name="Oval 23">
            <a:extLst>
              <a:ext uri="{FF2B5EF4-FFF2-40B4-BE49-F238E27FC236}">
                <a16:creationId xmlns:a16="http://schemas.microsoft.com/office/drawing/2014/main" id="{78332D92-6C17-A249-A326-0BB544A5D5FC}"/>
              </a:ext>
            </a:extLst>
          </p:cNvPr>
          <p:cNvSpPr>
            <a:spLocks noChangeArrowheads="1"/>
          </p:cNvSpPr>
          <p:nvPr/>
        </p:nvSpPr>
        <p:spPr bwMode="auto">
          <a:xfrm>
            <a:off x="2667000" y="35814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679" name="Oval 25">
            <a:extLst>
              <a:ext uri="{FF2B5EF4-FFF2-40B4-BE49-F238E27FC236}">
                <a16:creationId xmlns:a16="http://schemas.microsoft.com/office/drawing/2014/main" id="{937BCB6D-25BF-AB4E-B227-323E930C4EAB}"/>
              </a:ext>
            </a:extLst>
          </p:cNvPr>
          <p:cNvSpPr>
            <a:spLocks noChangeArrowheads="1"/>
          </p:cNvSpPr>
          <p:nvPr/>
        </p:nvSpPr>
        <p:spPr bwMode="auto">
          <a:xfrm>
            <a:off x="2667000" y="50292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680" name="Oval 26">
            <a:extLst>
              <a:ext uri="{FF2B5EF4-FFF2-40B4-BE49-F238E27FC236}">
                <a16:creationId xmlns:a16="http://schemas.microsoft.com/office/drawing/2014/main" id="{7C0C20CC-29FD-5243-A576-7F806D1C2A70}"/>
              </a:ext>
            </a:extLst>
          </p:cNvPr>
          <p:cNvSpPr>
            <a:spLocks noChangeArrowheads="1"/>
          </p:cNvSpPr>
          <p:nvPr/>
        </p:nvSpPr>
        <p:spPr bwMode="auto">
          <a:xfrm>
            <a:off x="5105400" y="50292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681" name="Oval 27">
            <a:extLst>
              <a:ext uri="{FF2B5EF4-FFF2-40B4-BE49-F238E27FC236}">
                <a16:creationId xmlns:a16="http://schemas.microsoft.com/office/drawing/2014/main" id="{D5E94600-4150-5044-A51E-63A795B7260C}"/>
              </a:ext>
            </a:extLst>
          </p:cNvPr>
          <p:cNvSpPr>
            <a:spLocks noChangeArrowheads="1"/>
          </p:cNvSpPr>
          <p:nvPr/>
        </p:nvSpPr>
        <p:spPr bwMode="auto">
          <a:xfrm>
            <a:off x="3886200" y="3657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682" name="Text Box 28">
            <a:extLst>
              <a:ext uri="{FF2B5EF4-FFF2-40B4-BE49-F238E27FC236}">
                <a16:creationId xmlns:a16="http://schemas.microsoft.com/office/drawing/2014/main" id="{D9EF98FE-1D27-C34E-A00D-FC90DD0E19D7}"/>
              </a:ext>
            </a:extLst>
          </p:cNvPr>
          <p:cNvSpPr txBox="1">
            <a:spLocks noChangeArrowheads="1"/>
          </p:cNvSpPr>
          <p:nvPr/>
        </p:nvSpPr>
        <p:spPr bwMode="auto">
          <a:xfrm>
            <a:off x="3886200" y="30480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27683" name="Text Box 29">
            <a:extLst>
              <a:ext uri="{FF2B5EF4-FFF2-40B4-BE49-F238E27FC236}">
                <a16:creationId xmlns:a16="http://schemas.microsoft.com/office/drawing/2014/main" id="{84E36AF1-0C87-924B-B2CE-DD14C68C8A86}"/>
              </a:ext>
            </a:extLst>
          </p:cNvPr>
          <p:cNvSpPr txBox="1">
            <a:spLocks noChangeArrowheads="1"/>
          </p:cNvSpPr>
          <p:nvPr/>
        </p:nvSpPr>
        <p:spPr bwMode="auto">
          <a:xfrm>
            <a:off x="3657600" y="33528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27684" name="Text Box 30">
            <a:extLst>
              <a:ext uri="{FF2B5EF4-FFF2-40B4-BE49-F238E27FC236}">
                <a16:creationId xmlns:a16="http://schemas.microsoft.com/office/drawing/2014/main" id="{2CE4EB4B-08FF-FB4B-811E-0354A2BAB372}"/>
              </a:ext>
            </a:extLst>
          </p:cNvPr>
          <p:cNvSpPr txBox="1">
            <a:spLocks noChangeArrowheads="1"/>
          </p:cNvSpPr>
          <p:nvPr/>
        </p:nvSpPr>
        <p:spPr bwMode="auto">
          <a:xfrm>
            <a:off x="3962400" y="41148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27685" name="Text Box 31">
            <a:extLst>
              <a:ext uri="{FF2B5EF4-FFF2-40B4-BE49-F238E27FC236}">
                <a16:creationId xmlns:a16="http://schemas.microsoft.com/office/drawing/2014/main" id="{2B607B90-BBA3-374C-B350-80062B1DCEC4}"/>
              </a:ext>
            </a:extLst>
          </p:cNvPr>
          <p:cNvSpPr txBox="1">
            <a:spLocks noChangeArrowheads="1"/>
          </p:cNvSpPr>
          <p:nvPr/>
        </p:nvSpPr>
        <p:spPr bwMode="auto">
          <a:xfrm>
            <a:off x="3962400" y="4724401"/>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 G</a:t>
            </a:r>
          </a:p>
        </p:txBody>
      </p:sp>
      <p:sp>
        <p:nvSpPr>
          <p:cNvPr id="27686" name="Text Box 32">
            <a:extLst>
              <a:ext uri="{FF2B5EF4-FFF2-40B4-BE49-F238E27FC236}">
                <a16:creationId xmlns:a16="http://schemas.microsoft.com/office/drawing/2014/main" id="{E2BBDAD9-51B8-014B-8D57-CC8F35D3E548}"/>
              </a:ext>
            </a:extLst>
          </p:cNvPr>
          <p:cNvSpPr txBox="1">
            <a:spLocks noChangeArrowheads="1"/>
          </p:cNvSpPr>
          <p:nvPr/>
        </p:nvSpPr>
        <p:spPr bwMode="auto">
          <a:xfrm>
            <a:off x="2362200" y="48006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27687" name="Text Box 33">
            <a:extLst>
              <a:ext uri="{FF2B5EF4-FFF2-40B4-BE49-F238E27FC236}">
                <a16:creationId xmlns:a16="http://schemas.microsoft.com/office/drawing/2014/main" id="{EE8640A5-370E-6747-9514-A346F1503A66}"/>
              </a:ext>
            </a:extLst>
          </p:cNvPr>
          <p:cNvSpPr txBox="1">
            <a:spLocks noChangeArrowheads="1"/>
          </p:cNvSpPr>
          <p:nvPr/>
        </p:nvSpPr>
        <p:spPr bwMode="auto">
          <a:xfrm>
            <a:off x="3810000" y="5334001"/>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I</a:t>
            </a:r>
          </a:p>
        </p:txBody>
      </p:sp>
      <p:sp>
        <p:nvSpPr>
          <p:cNvPr id="27688" name="Text Box 35">
            <a:extLst>
              <a:ext uri="{FF2B5EF4-FFF2-40B4-BE49-F238E27FC236}">
                <a16:creationId xmlns:a16="http://schemas.microsoft.com/office/drawing/2014/main" id="{02FB08DF-A36E-CC4C-85B8-3E84E6E67FB5}"/>
              </a:ext>
            </a:extLst>
          </p:cNvPr>
          <p:cNvSpPr txBox="1">
            <a:spLocks noChangeArrowheads="1"/>
          </p:cNvSpPr>
          <p:nvPr/>
        </p:nvSpPr>
        <p:spPr bwMode="auto">
          <a:xfrm>
            <a:off x="5181600" y="33528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27689" name="Text Box 36">
            <a:extLst>
              <a:ext uri="{FF2B5EF4-FFF2-40B4-BE49-F238E27FC236}">
                <a16:creationId xmlns:a16="http://schemas.microsoft.com/office/drawing/2014/main" id="{A39B5E62-2D67-0641-B91E-4E46EEC0BFBA}"/>
              </a:ext>
            </a:extLst>
          </p:cNvPr>
          <p:cNvSpPr txBox="1">
            <a:spLocks noChangeArrowheads="1"/>
          </p:cNvSpPr>
          <p:nvPr/>
        </p:nvSpPr>
        <p:spPr bwMode="auto">
          <a:xfrm>
            <a:off x="2590800" y="32766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27690" name="Text Box 37">
            <a:extLst>
              <a:ext uri="{FF2B5EF4-FFF2-40B4-BE49-F238E27FC236}">
                <a16:creationId xmlns:a16="http://schemas.microsoft.com/office/drawing/2014/main" id="{BA079741-264B-C746-AF23-AE101A2C1333}"/>
              </a:ext>
            </a:extLst>
          </p:cNvPr>
          <p:cNvSpPr txBox="1">
            <a:spLocks noChangeArrowheads="1"/>
          </p:cNvSpPr>
          <p:nvPr/>
        </p:nvSpPr>
        <p:spPr bwMode="auto">
          <a:xfrm>
            <a:off x="2362200" y="57150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J</a:t>
            </a:r>
          </a:p>
        </p:txBody>
      </p:sp>
      <p:grpSp>
        <p:nvGrpSpPr>
          <p:cNvPr id="27691" name="Group 47">
            <a:extLst>
              <a:ext uri="{FF2B5EF4-FFF2-40B4-BE49-F238E27FC236}">
                <a16:creationId xmlns:a16="http://schemas.microsoft.com/office/drawing/2014/main" id="{BB4491DF-8DDA-EE47-AF33-D75F59ED210B}"/>
              </a:ext>
            </a:extLst>
          </p:cNvPr>
          <p:cNvGrpSpPr>
            <a:grpSpLocks/>
          </p:cNvGrpSpPr>
          <p:nvPr/>
        </p:nvGrpSpPr>
        <p:grpSpPr bwMode="auto">
          <a:xfrm>
            <a:off x="5257800" y="4800601"/>
            <a:ext cx="349250" cy="1281113"/>
            <a:chOff x="2352" y="3024"/>
            <a:chExt cx="220" cy="807"/>
          </a:xfrm>
        </p:grpSpPr>
        <p:sp>
          <p:nvSpPr>
            <p:cNvPr id="27693" name="Text Box 34">
              <a:extLst>
                <a:ext uri="{FF2B5EF4-FFF2-40B4-BE49-F238E27FC236}">
                  <a16:creationId xmlns:a16="http://schemas.microsoft.com/office/drawing/2014/main" id="{0E1794ED-71B1-DF4B-9EA5-5D95509C385D}"/>
                </a:ext>
              </a:extLst>
            </p:cNvPr>
            <p:cNvSpPr txBox="1">
              <a:spLocks noChangeArrowheads="1"/>
            </p:cNvSpPr>
            <p:nvPr/>
          </p:nvSpPr>
          <p:spPr bwMode="auto">
            <a:xfrm>
              <a:off x="2352" y="302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H</a:t>
              </a:r>
            </a:p>
          </p:txBody>
        </p:sp>
        <p:sp>
          <p:nvSpPr>
            <p:cNvPr id="27694" name="Text Box 38">
              <a:extLst>
                <a:ext uri="{FF2B5EF4-FFF2-40B4-BE49-F238E27FC236}">
                  <a16:creationId xmlns:a16="http://schemas.microsoft.com/office/drawing/2014/main" id="{27156A11-04F3-2B47-B841-687DADF8ABE3}"/>
                </a:ext>
              </a:extLst>
            </p:cNvPr>
            <p:cNvSpPr txBox="1">
              <a:spLocks noChangeArrowheads="1"/>
            </p:cNvSpPr>
            <p:nvPr/>
          </p:nvSpPr>
          <p:spPr bwMode="auto">
            <a:xfrm>
              <a:off x="2352" y="3600"/>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K</a:t>
              </a:r>
            </a:p>
          </p:txBody>
        </p:sp>
      </p:grpSp>
      <p:sp>
        <p:nvSpPr>
          <p:cNvPr id="27692" name="Text Box 42">
            <a:extLst>
              <a:ext uri="{FF2B5EF4-FFF2-40B4-BE49-F238E27FC236}">
                <a16:creationId xmlns:a16="http://schemas.microsoft.com/office/drawing/2014/main" id="{3B54BFBA-8921-0F41-AAFB-092232FA5466}"/>
              </a:ext>
            </a:extLst>
          </p:cNvPr>
          <p:cNvSpPr txBox="1">
            <a:spLocks noChangeArrowheads="1"/>
          </p:cNvSpPr>
          <p:nvPr/>
        </p:nvSpPr>
        <p:spPr bwMode="auto">
          <a:xfrm>
            <a:off x="6096000" y="3429001"/>
            <a:ext cx="40386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a:latin typeface="Times New Roman" panose="02020603050405020304" pitchFamily="18" charset="0"/>
              </a:rPr>
              <a:t>Rule 2 allows us to eliminate edge </a:t>
            </a:r>
            <a:r>
              <a:rPr lang="en-US" altLang="en-US" sz="1800"/>
              <a:t>EH</a:t>
            </a:r>
            <a:r>
              <a:rPr lang="en-US" altLang="en-US" sz="2000">
                <a:latin typeface="Times New Roman" panose="02020603050405020304" pitchFamily="18" charset="0"/>
              </a:rPr>
              <a:t> and  Rule 3 allows us to eliminate </a:t>
            </a:r>
            <a:r>
              <a:rPr lang="en-US" altLang="en-US" sz="1800"/>
              <a:t>FJ</a:t>
            </a:r>
            <a:r>
              <a:rPr lang="en-US" altLang="en-US" sz="2000">
                <a:latin typeface="Times New Roman" panose="02020603050405020304" pitchFamily="18" charset="0"/>
              </a:rPr>
              <a:t>. Now, according to Rule 1, we must use edges </a:t>
            </a:r>
            <a:r>
              <a:rPr lang="en-US" altLang="en-US" sz="1800"/>
              <a:t>BF</a:t>
            </a:r>
            <a:r>
              <a:rPr lang="en-US" altLang="en-US" sz="2000">
                <a:latin typeface="Times New Roman" panose="02020603050405020304" pitchFamily="18" charset="0"/>
              </a:rPr>
              <a:t>, </a:t>
            </a:r>
            <a:r>
              <a:rPr lang="en-US" altLang="en-US" sz="1800"/>
              <a:t>FE</a:t>
            </a:r>
            <a:r>
              <a:rPr lang="en-US" altLang="en-US" sz="2000">
                <a:latin typeface="Times New Roman" panose="02020603050405020304" pitchFamily="18" charset="0"/>
              </a:rPr>
              <a:t>, and </a:t>
            </a:r>
            <a:r>
              <a:rPr lang="en-US" altLang="en-US" sz="1800"/>
              <a:t>CH</a:t>
            </a:r>
            <a:r>
              <a:rPr lang="en-US" altLang="en-US" sz="2000">
                <a:latin typeface="Times New Roman" panose="02020603050405020304" pitchFamily="18" charset="0"/>
              </a:rPr>
              <a:t>.</a:t>
            </a:r>
          </a:p>
        </p:txBody>
      </p:sp>
    </p:spTree>
    <p:extLst>
      <p:ext uri="{BB962C8B-B14F-4D97-AF65-F5344CB8AC3E}">
        <p14:creationId xmlns:p14="http://schemas.microsoft.com/office/powerpoint/2010/main" val="36517209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21516"/>
                                        </p:tgtEl>
                                      </p:cBhvr>
                                    </p:animEffect>
                                    <p:set>
                                      <p:cBhvr>
                                        <p:cTn id="7" dur="1" fill="hold">
                                          <p:stCondLst>
                                            <p:cond delay="499"/>
                                          </p:stCondLst>
                                        </p:cTn>
                                        <p:tgtEl>
                                          <p:spTgt spid="21516"/>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xit" presetSubtype="0" fill="hold" nodeType="clickEffect">
                                  <p:stCondLst>
                                    <p:cond delay="0"/>
                                  </p:stCondLst>
                                  <p:childTnLst>
                                    <p:animEffect transition="out" filter="dissolve">
                                      <p:cBhvr>
                                        <p:cTn id="11" dur="500"/>
                                        <p:tgtEl>
                                          <p:spTgt spid="21547"/>
                                        </p:tgtEl>
                                      </p:cBhvr>
                                    </p:animEffect>
                                    <p:set>
                                      <p:cBhvr>
                                        <p:cTn id="12" dur="1" fill="hold">
                                          <p:stCondLst>
                                            <p:cond delay="499"/>
                                          </p:stCondLst>
                                        </p:cTn>
                                        <p:tgtEl>
                                          <p:spTgt spid="21547"/>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1548"/>
                                        </p:tgtEl>
                                        <p:attrNameLst>
                                          <p:attrName>style.visibility</p:attrName>
                                        </p:attrNameLst>
                                      </p:cBhvr>
                                      <p:to>
                                        <p:strVal val="visible"/>
                                      </p:to>
                                    </p:set>
                                    <p:animEffect transition="in" filter="dissolve">
                                      <p:cBhvr>
                                        <p:cTn id="17" dur="500"/>
                                        <p:tgtEl>
                                          <p:spTgt spid="21548"/>
                                        </p:tgtEl>
                                      </p:cBhvr>
                                    </p:animEffect>
                                  </p:childTnLst>
                                </p:cTn>
                              </p:par>
                              <p:par>
                                <p:cTn id="18" presetID="9" presetClass="entr" presetSubtype="0" fill="hold" nodeType="withEffect">
                                  <p:stCondLst>
                                    <p:cond delay="0"/>
                                  </p:stCondLst>
                                  <p:childTnLst>
                                    <p:set>
                                      <p:cBhvr>
                                        <p:cTn id="19" dur="1" fill="hold">
                                          <p:stCondLst>
                                            <p:cond delay="0"/>
                                          </p:stCondLst>
                                        </p:cTn>
                                        <p:tgtEl>
                                          <p:spTgt spid="21549"/>
                                        </p:tgtEl>
                                        <p:attrNameLst>
                                          <p:attrName>style.visibility</p:attrName>
                                        </p:attrNameLst>
                                      </p:cBhvr>
                                      <p:to>
                                        <p:strVal val="visible"/>
                                      </p:to>
                                    </p:set>
                                    <p:animEffect transition="in" filter="dissolve">
                                      <p:cBhvr>
                                        <p:cTn id="20" dur="500"/>
                                        <p:tgtEl>
                                          <p:spTgt spid="21549"/>
                                        </p:tgtEl>
                                      </p:cBhvr>
                                    </p:animEffect>
                                  </p:childTnLst>
                                </p:cTn>
                              </p:par>
                              <p:par>
                                <p:cTn id="21" presetID="9" presetClass="entr" presetSubtype="0" fill="hold" nodeType="withEffect">
                                  <p:stCondLst>
                                    <p:cond delay="0"/>
                                  </p:stCondLst>
                                  <p:childTnLst>
                                    <p:set>
                                      <p:cBhvr>
                                        <p:cTn id="22" dur="1" fill="hold">
                                          <p:stCondLst>
                                            <p:cond delay="0"/>
                                          </p:stCondLst>
                                        </p:cTn>
                                        <p:tgtEl>
                                          <p:spTgt spid="21550"/>
                                        </p:tgtEl>
                                        <p:attrNameLst>
                                          <p:attrName>style.visibility</p:attrName>
                                        </p:attrNameLst>
                                      </p:cBhvr>
                                      <p:to>
                                        <p:strVal val="visible"/>
                                      </p:to>
                                    </p:set>
                                    <p:animEffect transition="in" filter="dissolve">
                                      <p:cBhvr>
                                        <p:cTn id="23" dur="500"/>
                                        <p:tgtEl>
                                          <p:spTgt spid="21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Line 38">
            <a:extLst>
              <a:ext uri="{FF2B5EF4-FFF2-40B4-BE49-F238E27FC236}">
                <a16:creationId xmlns:a16="http://schemas.microsoft.com/office/drawing/2014/main" id="{4D24ED6E-7D37-0545-9225-B6F87AED3247}"/>
              </a:ext>
            </a:extLst>
          </p:cNvPr>
          <p:cNvSpPr>
            <a:spLocks noChangeShapeType="1"/>
          </p:cNvSpPr>
          <p:nvPr/>
        </p:nvSpPr>
        <p:spPr bwMode="auto">
          <a:xfrm>
            <a:off x="5181600" y="5257800"/>
            <a:ext cx="0" cy="838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7" name="Rectangle 2">
            <a:extLst>
              <a:ext uri="{FF2B5EF4-FFF2-40B4-BE49-F238E27FC236}">
                <a16:creationId xmlns:a16="http://schemas.microsoft.com/office/drawing/2014/main" id="{72954CB4-E4B6-B343-8FF5-23B7BE257892}"/>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Using Rules</a:t>
            </a:r>
          </a:p>
        </p:txBody>
      </p:sp>
      <p:sp>
        <p:nvSpPr>
          <p:cNvPr id="28678" name="Rectangle 3">
            <a:extLst>
              <a:ext uri="{FF2B5EF4-FFF2-40B4-BE49-F238E27FC236}">
                <a16:creationId xmlns:a16="http://schemas.microsoft.com/office/drawing/2014/main" id="{50214306-8820-B74E-976B-4BF3E27844AD}"/>
              </a:ext>
            </a:extLst>
          </p:cNvPr>
          <p:cNvSpPr>
            <a:spLocks noGrp="1" noChangeArrowheads="1"/>
          </p:cNvSpPr>
          <p:nvPr>
            <p:ph type="body" idx="1"/>
          </p:nvPr>
        </p:nvSpPr>
        <p:spPr>
          <a:xfrm>
            <a:off x="2209800" y="1981200"/>
            <a:ext cx="7772400" cy="990600"/>
          </a:xfrm>
        </p:spPr>
        <p:txBody>
          <a:bodyPr/>
          <a:lstStyle/>
          <a:p>
            <a:pPr eaLnBrk="1" hangingPunct="1">
              <a:lnSpc>
                <a:spcPct val="90000"/>
              </a:lnSpc>
            </a:pPr>
            <a:r>
              <a:rPr lang="en-US" altLang="en-US">
                <a:ea typeface="ＭＳ Ｐゴシック" panose="020B0600070205080204" pitchFamily="34" charset="-128"/>
              </a:rPr>
              <a:t>Rule 2 tells us that no Hamilton Circuit exists.</a:t>
            </a:r>
          </a:p>
        </p:txBody>
      </p:sp>
      <p:sp>
        <p:nvSpPr>
          <p:cNvPr id="28679" name="Line 5">
            <a:extLst>
              <a:ext uri="{FF2B5EF4-FFF2-40B4-BE49-F238E27FC236}">
                <a16:creationId xmlns:a16="http://schemas.microsoft.com/office/drawing/2014/main" id="{9CF96A10-1BC5-A54F-B441-5B21D1872A66}"/>
              </a:ext>
            </a:extLst>
          </p:cNvPr>
          <p:cNvSpPr>
            <a:spLocks noChangeShapeType="1"/>
          </p:cNvSpPr>
          <p:nvPr/>
        </p:nvSpPr>
        <p:spPr bwMode="auto">
          <a:xfrm>
            <a:off x="3962400" y="4648200"/>
            <a:ext cx="0" cy="762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0" name="Line 6">
            <a:extLst>
              <a:ext uri="{FF2B5EF4-FFF2-40B4-BE49-F238E27FC236}">
                <a16:creationId xmlns:a16="http://schemas.microsoft.com/office/drawing/2014/main" id="{86759A31-E043-0E4B-ACEA-343A7C8C790B}"/>
              </a:ext>
            </a:extLst>
          </p:cNvPr>
          <p:cNvSpPr>
            <a:spLocks noChangeShapeType="1"/>
          </p:cNvSpPr>
          <p:nvPr/>
        </p:nvSpPr>
        <p:spPr bwMode="auto">
          <a:xfrm flipH="1" flipV="1">
            <a:off x="2743200" y="3810000"/>
            <a:ext cx="12192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1" name="Line 7">
            <a:extLst>
              <a:ext uri="{FF2B5EF4-FFF2-40B4-BE49-F238E27FC236}">
                <a16:creationId xmlns:a16="http://schemas.microsoft.com/office/drawing/2014/main" id="{CD9284AD-4DF5-1D47-84E8-09A3AC7670DC}"/>
              </a:ext>
            </a:extLst>
          </p:cNvPr>
          <p:cNvSpPr>
            <a:spLocks noChangeShapeType="1"/>
          </p:cNvSpPr>
          <p:nvPr/>
        </p:nvSpPr>
        <p:spPr bwMode="auto">
          <a:xfrm flipV="1">
            <a:off x="3962400" y="3810000"/>
            <a:ext cx="12192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2" name="Line 8">
            <a:extLst>
              <a:ext uri="{FF2B5EF4-FFF2-40B4-BE49-F238E27FC236}">
                <a16:creationId xmlns:a16="http://schemas.microsoft.com/office/drawing/2014/main" id="{D00FE720-E143-084C-A3A9-586A17BC5343}"/>
              </a:ext>
            </a:extLst>
          </p:cNvPr>
          <p:cNvSpPr>
            <a:spLocks noChangeShapeType="1"/>
          </p:cNvSpPr>
          <p:nvPr/>
        </p:nvSpPr>
        <p:spPr bwMode="auto">
          <a:xfrm>
            <a:off x="2743200" y="6096000"/>
            <a:ext cx="24384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3" name="Line 9">
            <a:extLst>
              <a:ext uri="{FF2B5EF4-FFF2-40B4-BE49-F238E27FC236}">
                <a16:creationId xmlns:a16="http://schemas.microsoft.com/office/drawing/2014/main" id="{919D370B-B0B9-FF49-BF28-20E4CFB0ECA3}"/>
              </a:ext>
            </a:extLst>
          </p:cNvPr>
          <p:cNvSpPr>
            <a:spLocks noChangeShapeType="1"/>
          </p:cNvSpPr>
          <p:nvPr/>
        </p:nvSpPr>
        <p:spPr bwMode="auto">
          <a:xfrm flipV="1">
            <a:off x="2743200" y="3200400"/>
            <a:ext cx="11430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4" name="Line 10">
            <a:extLst>
              <a:ext uri="{FF2B5EF4-FFF2-40B4-BE49-F238E27FC236}">
                <a16:creationId xmlns:a16="http://schemas.microsoft.com/office/drawing/2014/main" id="{B2096B96-338F-B343-9B8C-4372CB0FDD94}"/>
              </a:ext>
            </a:extLst>
          </p:cNvPr>
          <p:cNvSpPr>
            <a:spLocks noChangeShapeType="1"/>
          </p:cNvSpPr>
          <p:nvPr/>
        </p:nvSpPr>
        <p:spPr bwMode="auto">
          <a:xfrm flipV="1">
            <a:off x="2743200" y="4648200"/>
            <a:ext cx="11430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5" name="Line 11">
            <a:extLst>
              <a:ext uri="{FF2B5EF4-FFF2-40B4-BE49-F238E27FC236}">
                <a16:creationId xmlns:a16="http://schemas.microsoft.com/office/drawing/2014/main" id="{D324F50F-5AC2-9D42-B70C-B82009006D5A}"/>
              </a:ext>
            </a:extLst>
          </p:cNvPr>
          <p:cNvSpPr>
            <a:spLocks noChangeShapeType="1"/>
          </p:cNvSpPr>
          <p:nvPr/>
        </p:nvSpPr>
        <p:spPr bwMode="auto">
          <a:xfrm flipV="1">
            <a:off x="2743200" y="5410200"/>
            <a:ext cx="1219200" cy="6858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6" name="Line 12">
            <a:extLst>
              <a:ext uri="{FF2B5EF4-FFF2-40B4-BE49-F238E27FC236}">
                <a16:creationId xmlns:a16="http://schemas.microsoft.com/office/drawing/2014/main" id="{FA77689D-A333-E042-B7FD-8B7CD59D2D75}"/>
              </a:ext>
            </a:extLst>
          </p:cNvPr>
          <p:cNvSpPr>
            <a:spLocks noChangeShapeType="1"/>
          </p:cNvSpPr>
          <p:nvPr/>
        </p:nvSpPr>
        <p:spPr bwMode="auto">
          <a:xfrm flipH="1" flipV="1">
            <a:off x="4038600" y="3200400"/>
            <a:ext cx="11430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7" name="Line 15">
            <a:extLst>
              <a:ext uri="{FF2B5EF4-FFF2-40B4-BE49-F238E27FC236}">
                <a16:creationId xmlns:a16="http://schemas.microsoft.com/office/drawing/2014/main" id="{DDD0C927-1346-D243-BE2E-36AB6CD1B04F}"/>
              </a:ext>
            </a:extLst>
          </p:cNvPr>
          <p:cNvSpPr>
            <a:spLocks noChangeShapeType="1"/>
          </p:cNvSpPr>
          <p:nvPr/>
        </p:nvSpPr>
        <p:spPr bwMode="auto">
          <a:xfrm>
            <a:off x="3962400" y="3962400"/>
            <a:ext cx="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8" name="Oval 16">
            <a:extLst>
              <a:ext uri="{FF2B5EF4-FFF2-40B4-BE49-F238E27FC236}">
                <a16:creationId xmlns:a16="http://schemas.microsoft.com/office/drawing/2014/main" id="{23D237CF-8133-904D-8E70-66D4C4ABB05D}"/>
              </a:ext>
            </a:extLst>
          </p:cNvPr>
          <p:cNvSpPr>
            <a:spLocks noChangeArrowheads="1"/>
          </p:cNvSpPr>
          <p:nvPr/>
        </p:nvSpPr>
        <p:spPr bwMode="auto">
          <a:xfrm>
            <a:off x="3886200" y="5334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689" name="Oval 17">
            <a:extLst>
              <a:ext uri="{FF2B5EF4-FFF2-40B4-BE49-F238E27FC236}">
                <a16:creationId xmlns:a16="http://schemas.microsoft.com/office/drawing/2014/main" id="{4B47503A-9073-8F46-8410-C99D113C261F}"/>
              </a:ext>
            </a:extLst>
          </p:cNvPr>
          <p:cNvSpPr>
            <a:spLocks noChangeArrowheads="1"/>
          </p:cNvSpPr>
          <p:nvPr/>
        </p:nvSpPr>
        <p:spPr bwMode="auto">
          <a:xfrm>
            <a:off x="3886200" y="4572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690" name="Oval 18">
            <a:extLst>
              <a:ext uri="{FF2B5EF4-FFF2-40B4-BE49-F238E27FC236}">
                <a16:creationId xmlns:a16="http://schemas.microsoft.com/office/drawing/2014/main" id="{A5669E5C-B716-6D49-B739-C4355D14D5ED}"/>
              </a:ext>
            </a:extLst>
          </p:cNvPr>
          <p:cNvSpPr>
            <a:spLocks noChangeArrowheads="1"/>
          </p:cNvSpPr>
          <p:nvPr/>
        </p:nvSpPr>
        <p:spPr bwMode="auto">
          <a:xfrm>
            <a:off x="3886200" y="31242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691" name="Oval 19">
            <a:extLst>
              <a:ext uri="{FF2B5EF4-FFF2-40B4-BE49-F238E27FC236}">
                <a16:creationId xmlns:a16="http://schemas.microsoft.com/office/drawing/2014/main" id="{F21AAACA-D806-8540-91A0-B010B4086143}"/>
              </a:ext>
            </a:extLst>
          </p:cNvPr>
          <p:cNvSpPr>
            <a:spLocks noChangeArrowheads="1"/>
          </p:cNvSpPr>
          <p:nvPr/>
        </p:nvSpPr>
        <p:spPr bwMode="auto">
          <a:xfrm>
            <a:off x="2667000" y="6019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692" name="Oval 20">
            <a:extLst>
              <a:ext uri="{FF2B5EF4-FFF2-40B4-BE49-F238E27FC236}">
                <a16:creationId xmlns:a16="http://schemas.microsoft.com/office/drawing/2014/main" id="{4DFF5246-2A49-AC4D-B813-7290CC7EABE9}"/>
              </a:ext>
            </a:extLst>
          </p:cNvPr>
          <p:cNvSpPr>
            <a:spLocks noChangeArrowheads="1"/>
          </p:cNvSpPr>
          <p:nvPr/>
        </p:nvSpPr>
        <p:spPr bwMode="auto">
          <a:xfrm>
            <a:off x="5105400" y="6019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693" name="Oval 21">
            <a:extLst>
              <a:ext uri="{FF2B5EF4-FFF2-40B4-BE49-F238E27FC236}">
                <a16:creationId xmlns:a16="http://schemas.microsoft.com/office/drawing/2014/main" id="{0F790DDE-251A-A94B-9B3C-5770758FD9A8}"/>
              </a:ext>
            </a:extLst>
          </p:cNvPr>
          <p:cNvSpPr>
            <a:spLocks noChangeArrowheads="1"/>
          </p:cNvSpPr>
          <p:nvPr/>
        </p:nvSpPr>
        <p:spPr bwMode="auto">
          <a:xfrm>
            <a:off x="3886200" y="4953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694" name="Line 22">
            <a:extLst>
              <a:ext uri="{FF2B5EF4-FFF2-40B4-BE49-F238E27FC236}">
                <a16:creationId xmlns:a16="http://schemas.microsoft.com/office/drawing/2014/main" id="{5D82E187-AD61-6543-BB14-42F0CDD4C236}"/>
              </a:ext>
            </a:extLst>
          </p:cNvPr>
          <p:cNvSpPr>
            <a:spLocks noChangeShapeType="1"/>
          </p:cNvSpPr>
          <p:nvPr/>
        </p:nvSpPr>
        <p:spPr bwMode="auto">
          <a:xfrm>
            <a:off x="5181600" y="3886200"/>
            <a:ext cx="0" cy="1371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5" name="Oval 23">
            <a:extLst>
              <a:ext uri="{FF2B5EF4-FFF2-40B4-BE49-F238E27FC236}">
                <a16:creationId xmlns:a16="http://schemas.microsoft.com/office/drawing/2014/main" id="{2006936C-6C53-9B4F-BC8B-E806B05615E2}"/>
              </a:ext>
            </a:extLst>
          </p:cNvPr>
          <p:cNvSpPr>
            <a:spLocks noChangeArrowheads="1"/>
          </p:cNvSpPr>
          <p:nvPr/>
        </p:nvSpPr>
        <p:spPr bwMode="auto">
          <a:xfrm>
            <a:off x="5105400" y="3733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696" name="Oval 24">
            <a:extLst>
              <a:ext uri="{FF2B5EF4-FFF2-40B4-BE49-F238E27FC236}">
                <a16:creationId xmlns:a16="http://schemas.microsoft.com/office/drawing/2014/main" id="{56C7CBA4-11C0-4C42-A7A4-860438996C1F}"/>
              </a:ext>
            </a:extLst>
          </p:cNvPr>
          <p:cNvSpPr>
            <a:spLocks noChangeArrowheads="1"/>
          </p:cNvSpPr>
          <p:nvPr/>
        </p:nvSpPr>
        <p:spPr bwMode="auto">
          <a:xfrm>
            <a:off x="2667000" y="3733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697" name="Line 25">
            <a:extLst>
              <a:ext uri="{FF2B5EF4-FFF2-40B4-BE49-F238E27FC236}">
                <a16:creationId xmlns:a16="http://schemas.microsoft.com/office/drawing/2014/main" id="{BD46D2F7-B62F-5746-BDD0-CFD67F892E9F}"/>
              </a:ext>
            </a:extLst>
          </p:cNvPr>
          <p:cNvSpPr>
            <a:spLocks noChangeShapeType="1"/>
          </p:cNvSpPr>
          <p:nvPr/>
        </p:nvSpPr>
        <p:spPr bwMode="auto">
          <a:xfrm>
            <a:off x="2743200" y="3886200"/>
            <a:ext cx="0" cy="1371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8" name="Oval 26">
            <a:extLst>
              <a:ext uri="{FF2B5EF4-FFF2-40B4-BE49-F238E27FC236}">
                <a16:creationId xmlns:a16="http://schemas.microsoft.com/office/drawing/2014/main" id="{1C30B00F-7AF3-404D-BCC4-57EF5D6CCE8E}"/>
              </a:ext>
            </a:extLst>
          </p:cNvPr>
          <p:cNvSpPr>
            <a:spLocks noChangeArrowheads="1"/>
          </p:cNvSpPr>
          <p:nvPr/>
        </p:nvSpPr>
        <p:spPr bwMode="auto">
          <a:xfrm>
            <a:off x="2667000" y="5181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699" name="Oval 27">
            <a:extLst>
              <a:ext uri="{FF2B5EF4-FFF2-40B4-BE49-F238E27FC236}">
                <a16:creationId xmlns:a16="http://schemas.microsoft.com/office/drawing/2014/main" id="{91C2E00F-0C2D-D14D-BC50-33355FB953F8}"/>
              </a:ext>
            </a:extLst>
          </p:cNvPr>
          <p:cNvSpPr>
            <a:spLocks noChangeArrowheads="1"/>
          </p:cNvSpPr>
          <p:nvPr/>
        </p:nvSpPr>
        <p:spPr bwMode="auto">
          <a:xfrm>
            <a:off x="5105400" y="5181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700" name="Oval 28">
            <a:extLst>
              <a:ext uri="{FF2B5EF4-FFF2-40B4-BE49-F238E27FC236}">
                <a16:creationId xmlns:a16="http://schemas.microsoft.com/office/drawing/2014/main" id="{2A846F84-457D-B442-8B8F-13EAC6E1D999}"/>
              </a:ext>
            </a:extLst>
          </p:cNvPr>
          <p:cNvSpPr>
            <a:spLocks noChangeArrowheads="1"/>
          </p:cNvSpPr>
          <p:nvPr/>
        </p:nvSpPr>
        <p:spPr bwMode="auto">
          <a:xfrm>
            <a:off x="3886200" y="3810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701" name="Text Box 29">
            <a:extLst>
              <a:ext uri="{FF2B5EF4-FFF2-40B4-BE49-F238E27FC236}">
                <a16:creationId xmlns:a16="http://schemas.microsoft.com/office/drawing/2014/main" id="{F13EE828-F677-9A43-9A5C-EBABCBA6E119}"/>
              </a:ext>
            </a:extLst>
          </p:cNvPr>
          <p:cNvSpPr txBox="1">
            <a:spLocks noChangeArrowheads="1"/>
          </p:cNvSpPr>
          <p:nvPr/>
        </p:nvSpPr>
        <p:spPr bwMode="auto">
          <a:xfrm>
            <a:off x="3886200" y="32004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28702" name="Text Box 30">
            <a:extLst>
              <a:ext uri="{FF2B5EF4-FFF2-40B4-BE49-F238E27FC236}">
                <a16:creationId xmlns:a16="http://schemas.microsoft.com/office/drawing/2014/main" id="{4D3FC9C3-D072-7543-B625-1C07050ED15F}"/>
              </a:ext>
            </a:extLst>
          </p:cNvPr>
          <p:cNvSpPr txBox="1">
            <a:spLocks noChangeArrowheads="1"/>
          </p:cNvSpPr>
          <p:nvPr/>
        </p:nvSpPr>
        <p:spPr bwMode="auto">
          <a:xfrm>
            <a:off x="3657600" y="35052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28703" name="Text Box 31">
            <a:extLst>
              <a:ext uri="{FF2B5EF4-FFF2-40B4-BE49-F238E27FC236}">
                <a16:creationId xmlns:a16="http://schemas.microsoft.com/office/drawing/2014/main" id="{ED8F9406-E4FD-B541-9DBC-A8089A1344A6}"/>
              </a:ext>
            </a:extLst>
          </p:cNvPr>
          <p:cNvSpPr txBox="1">
            <a:spLocks noChangeArrowheads="1"/>
          </p:cNvSpPr>
          <p:nvPr/>
        </p:nvSpPr>
        <p:spPr bwMode="auto">
          <a:xfrm>
            <a:off x="3962400" y="42672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28704" name="Text Box 32">
            <a:extLst>
              <a:ext uri="{FF2B5EF4-FFF2-40B4-BE49-F238E27FC236}">
                <a16:creationId xmlns:a16="http://schemas.microsoft.com/office/drawing/2014/main" id="{76239C25-1443-DD49-BFBE-DF52F200E4D0}"/>
              </a:ext>
            </a:extLst>
          </p:cNvPr>
          <p:cNvSpPr txBox="1">
            <a:spLocks noChangeArrowheads="1"/>
          </p:cNvSpPr>
          <p:nvPr/>
        </p:nvSpPr>
        <p:spPr bwMode="auto">
          <a:xfrm>
            <a:off x="3962400" y="4876801"/>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 G</a:t>
            </a:r>
          </a:p>
        </p:txBody>
      </p:sp>
      <p:sp>
        <p:nvSpPr>
          <p:cNvPr id="28705" name="Text Box 33">
            <a:extLst>
              <a:ext uri="{FF2B5EF4-FFF2-40B4-BE49-F238E27FC236}">
                <a16:creationId xmlns:a16="http://schemas.microsoft.com/office/drawing/2014/main" id="{E756052D-9DFB-8B46-ABF8-82A8996C56C5}"/>
              </a:ext>
            </a:extLst>
          </p:cNvPr>
          <p:cNvSpPr txBox="1">
            <a:spLocks noChangeArrowheads="1"/>
          </p:cNvSpPr>
          <p:nvPr/>
        </p:nvSpPr>
        <p:spPr bwMode="auto">
          <a:xfrm>
            <a:off x="2362200" y="49530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28706" name="Text Box 34">
            <a:extLst>
              <a:ext uri="{FF2B5EF4-FFF2-40B4-BE49-F238E27FC236}">
                <a16:creationId xmlns:a16="http://schemas.microsoft.com/office/drawing/2014/main" id="{D54FD872-955F-9143-9B16-9DFA2468580E}"/>
              </a:ext>
            </a:extLst>
          </p:cNvPr>
          <p:cNvSpPr txBox="1">
            <a:spLocks noChangeArrowheads="1"/>
          </p:cNvSpPr>
          <p:nvPr/>
        </p:nvSpPr>
        <p:spPr bwMode="auto">
          <a:xfrm>
            <a:off x="3810000" y="5486401"/>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I</a:t>
            </a:r>
          </a:p>
        </p:txBody>
      </p:sp>
      <p:sp>
        <p:nvSpPr>
          <p:cNvPr id="28707" name="Text Box 35">
            <a:extLst>
              <a:ext uri="{FF2B5EF4-FFF2-40B4-BE49-F238E27FC236}">
                <a16:creationId xmlns:a16="http://schemas.microsoft.com/office/drawing/2014/main" id="{7580EBC6-E674-CA4A-B303-E376B63AA42E}"/>
              </a:ext>
            </a:extLst>
          </p:cNvPr>
          <p:cNvSpPr txBox="1">
            <a:spLocks noChangeArrowheads="1"/>
          </p:cNvSpPr>
          <p:nvPr/>
        </p:nvSpPr>
        <p:spPr bwMode="auto">
          <a:xfrm>
            <a:off x="5181600" y="35052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28708" name="Text Box 36">
            <a:extLst>
              <a:ext uri="{FF2B5EF4-FFF2-40B4-BE49-F238E27FC236}">
                <a16:creationId xmlns:a16="http://schemas.microsoft.com/office/drawing/2014/main" id="{7771BCF8-E06B-7340-B7FA-82170CB1D46C}"/>
              </a:ext>
            </a:extLst>
          </p:cNvPr>
          <p:cNvSpPr txBox="1">
            <a:spLocks noChangeArrowheads="1"/>
          </p:cNvSpPr>
          <p:nvPr/>
        </p:nvSpPr>
        <p:spPr bwMode="auto">
          <a:xfrm>
            <a:off x="2590800" y="34290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28709" name="Text Box 37">
            <a:extLst>
              <a:ext uri="{FF2B5EF4-FFF2-40B4-BE49-F238E27FC236}">
                <a16:creationId xmlns:a16="http://schemas.microsoft.com/office/drawing/2014/main" id="{3B8D9AB8-4C00-DC4E-B526-DCA9DA22F666}"/>
              </a:ext>
            </a:extLst>
          </p:cNvPr>
          <p:cNvSpPr txBox="1">
            <a:spLocks noChangeArrowheads="1"/>
          </p:cNvSpPr>
          <p:nvPr/>
        </p:nvSpPr>
        <p:spPr bwMode="auto">
          <a:xfrm>
            <a:off x="2362200" y="5867401"/>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J</a:t>
            </a:r>
          </a:p>
        </p:txBody>
      </p:sp>
      <p:sp>
        <p:nvSpPr>
          <p:cNvPr id="28710" name="Text Box 39">
            <a:extLst>
              <a:ext uri="{FF2B5EF4-FFF2-40B4-BE49-F238E27FC236}">
                <a16:creationId xmlns:a16="http://schemas.microsoft.com/office/drawing/2014/main" id="{20C4DE77-0DBA-A746-94EB-D27C48D718EA}"/>
              </a:ext>
            </a:extLst>
          </p:cNvPr>
          <p:cNvSpPr txBox="1">
            <a:spLocks noChangeArrowheads="1"/>
          </p:cNvSpPr>
          <p:nvPr/>
        </p:nvSpPr>
        <p:spPr bwMode="auto">
          <a:xfrm>
            <a:off x="5715000" y="3657601"/>
            <a:ext cx="44958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a:latin typeface="Times New Roman" panose="02020603050405020304" pitchFamily="18" charset="0"/>
              </a:rPr>
              <a:t>Since the circuit </a:t>
            </a:r>
            <a:r>
              <a:rPr lang="en-US" altLang="en-US" sz="1800"/>
              <a:t>A-C-H-K-J-I-G-E-F-B-A</a:t>
            </a:r>
            <a:r>
              <a:rPr lang="en-US" altLang="en-US" sz="2000">
                <a:latin typeface="Times New Roman" panose="02020603050405020304" pitchFamily="18" charset="0"/>
              </a:rPr>
              <a:t> that we were forced to form does not include every vertex (missing </a:t>
            </a:r>
            <a:r>
              <a:rPr lang="en-US" altLang="en-US" sz="1800"/>
              <a:t>D</a:t>
            </a:r>
            <a:r>
              <a:rPr lang="en-US" altLang="en-US" sz="2000">
                <a:latin typeface="Times New Roman" panose="02020603050405020304" pitchFamily="18" charset="0"/>
              </a:rPr>
              <a:t>), it is a subcircuit.  This violates Rule 2.</a:t>
            </a:r>
          </a:p>
        </p:txBody>
      </p:sp>
      <p:grpSp>
        <p:nvGrpSpPr>
          <p:cNvPr id="28711" name="Group 40">
            <a:extLst>
              <a:ext uri="{FF2B5EF4-FFF2-40B4-BE49-F238E27FC236}">
                <a16:creationId xmlns:a16="http://schemas.microsoft.com/office/drawing/2014/main" id="{5D3D18CA-9262-AB4B-BD30-0DDC461AD0AB}"/>
              </a:ext>
            </a:extLst>
          </p:cNvPr>
          <p:cNvGrpSpPr>
            <a:grpSpLocks/>
          </p:cNvGrpSpPr>
          <p:nvPr/>
        </p:nvGrpSpPr>
        <p:grpSpPr bwMode="auto">
          <a:xfrm>
            <a:off x="5257800" y="4876801"/>
            <a:ext cx="349250" cy="1281113"/>
            <a:chOff x="2352" y="3024"/>
            <a:chExt cx="220" cy="807"/>
          </a:xfrm>
        </p:grpSpPr>
        <p:sp>
          <p:nvSpPr>
            <p:cNvPr id="28712" name="Text Box 41">
              <a:extLst>
                <a:ext uri="{FF2B5EF4-FFF2-40B4-BE49-F238E27FC236}">
                  <a16:creationId xmlns:a16="http://schemas.microsoft.com/office/drawing/2014/main" id="{C97F51FA-527D-CF45-9270-A3129BA30C8C}"/>
                </a:ext>
              </a:extLst>
            </p:cNvPr>
            <p:cNvSpPr txBox="1">
              <a:spLocks noChangeArrowheads="1"/>
            </p:cNvSpPr>
            <p:nvPr/>
          </p:nvSpPr>
          <p:spPr bwMode="auto">
            <a:xfrm>
              <a:off x="2352" y="302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H</a:t>
              </a:r>
            </a:p>
          </p:txBody>
        </p:sp>
        <p:sp>
          <p:nvSpPr>
            <p:cNvPr id="28713" name="Text Box 42">
              <a:extLst>
                <a:ext uri="{FF2B5EF4-FFF2-40B4-BE49-F238E27FC236}">
                  <a16:creationId xmlns:a16="http://schemas.microsoft.com/office/drawing/2014/main" id="{C65E7B2D-4BE5-024C-985F-F8705845CB9E}"/>
                </a:ext>
              </a:extLst>
            </p:cNvPr>
            <p:cNvSpPr txBox="1">
              <a:spLocks noChangeArrowheads="1"/>
            </p:cNvSpPr>
            <p:nvPr/>
          </p:nvSpPr>
          <p:spPr bwMode="auto">
            <a:xfrm>
              <a:off x="2352" y="3600"/>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K</a:t>
              </a:r>
            </a:p>
          </p:txBody>
        </p:sp>
      </p:grpSp>
    </p:spTree>
    <p:extLst>
      <p:ext uri="{BB962C8B-B14F-4D97-AF65-F5344CB8AC3E}">
        <p14:creationId xmlns:p14="http://schemas.microsoft.com/office/powerpoint/2010/main" val="2170651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Line 18">
            <a:extLst>
              <a:ext uri="{FF2B5EF4-FFF2-40B4-BE49-F238E27FC236}">
                <a16:creationId xmlns:a16="http://schemas.microsoft.com/office/drawing/2014/main" id="{C0C50E41-DD38-9D4E-AA32-578F1B56FCBD}"/>
              </a:ext>
            </a:extLst>
          </p:cNvPr>
          <p:cNvSpPr>
            <a:spLocks noChangeShapeType="1"/>
          </p:cNvSpPr>
          <p:nvPr/>
        </p:nvSpPr>
        <p:spPr bwMode="auto">
          <a:xfrm flipH="1">
            <a:off x="3581400" y="3810000"/>
            <a:ext cx="129540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1" name="Line 14">
            <a:extLst>
              <a:ext uri="{FF2B5EF4-FFF2-40B4-BE49-F238E27FC236}">
                <a16:creationId xmlns:a16="http://schemas.microsoft.com/office/drawing/2014/main" id="{FC37B562-C42D-2745-A5F4-2021001ACAA7}"/>
              </a:ext>
            </a:extLst>
          </p:cNvPr>
          <p:cNvSpPr>
            <a:spLocks noChangeShapeType="1"/>
          </p:cNvSpPr>
          <p:nvPr/>
        </p:nvSpPr>
        <p:spPr bwMode="auto">
          <a:xfrm>
            <a:off x="3581400" y="4495800"/>
            <a:ext cx="457200" cy="990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2" name="Line 35">
            <a:extLst>
              <a:ext uri="{FF2B5EF4-FFF2-40B4-BE49-F238E27FC236}">
                <a16:creationId xmlns:a16="http://schemas.microsoft.com/office/drawing/2014/main" id="{06C80094-92A1-414B-9177-55C981969248}"/>
              </a:ext>
            </a:extLst>
          </p:cNvPr>
          <p:cNvSpPr>
            <a:spLocks noChangeShapeType="1"/>
          </p:cNvSpPr>
          <p:nvPr/>
        </p:nvSpPr>
        <p:spPr bwMode="auto">
          <a:xfrm>
            <a:off x="3810000" y="3810000"/>
            <a:ext cx="182880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85" name="Line 45">
            <a:extLst>
              <a:ext uri="{FF2B5EF4-FFF2-40B4-BE49-F238E27FC236}">
                <a16:creationId xmlns:a16="http://schemas.microsoft.com/office/drawing/2014/main" id="{1DC09505-E984-D44C-8A1B-634D98CDFD8E}"/>
              </a:ext>
            </a:extLst>
          </p:cNvPr>
          <p:cNvSpPr>
            <a:spLocks noChangeShapeType="1"/>
          </p:cNvSpPr>
          <p:nvPr/>
        </p:nvSpPr>
        <p:spPr bwMode="auto">
          <a:xfrm>
            <a:off x="3810000" y="3810000"/>
            <a:ext cx="182880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4" name="Line 21">
            <a:extLst>
              <a:ext uri="{FF2B5EF4-FFF2-40B4-BE49-F238E27FC236}">
                <a16:creationId xmlns:a16="http://schemas.microsoft.com/office/drawing/2014/main" id="{74E39A84-19A7-9844-BB33-B11A04A48FB4}"/>
              </a:ext>
            </a:extLst>
          </p:cNvPr>
          <p:cNvSpPr>
            <a:spLocks noChangeShapeType="1"/>
          </p:cNvSpPr>
          <p:nvPr/>
        </p:nvSpPr>
        <p:spPr bwMode="auto">
          <a:xfrm flipV="1">
            <a:off x="4038600" y="3810000"/>
            <a:ext cx="838200" cy="1676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83" name="Line 43">
            <a:extLst>
              <a:ext uri="{FF2B5EF4-FFF2-40B4-BE49-F238E27FC236}">
                <a16:creationId xmlns:a16="http://schemas.microsoft.com/office/drawing/2014/main" id="{07B32A93-AD29-084F-B6D0-0AF8A718700E}"/>
              </a:ext>
            </a:extLst>
          </p:cNvPr>
          <p:cNvSpPr>
            <a:spLocks noChangeShapeType="1"/>
          </p:cNvSpPr>
          <p:nvPr/>
        </p:nvSpPr>
        <p:spPr bwMode="auto">
          <a:xfrm flipV="1">
            <a:off x="4038600" y="3810000"/>
            <a:ext cx="838200" cy="1676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6" name="Line 11">
            <a:extLst>
              <a:ext uri="{FF2B5EF4-FFF2-40B4-BE49-F238E27FC236}">
                <a16:creationId xmlns:a16="http://schemas.microsoft.com/office/drawing/2014/main" id="{70FDFEC9-C294-FC4D-A9F7-347E2FD37094}"/>
              </a:ext>
            </a:extLst>
          </p:cNvPr>
          <p:cNvSpPr>
            <a:spLocks noChangeShapeType="1"/>
          </p:cNvSpPr>
          <p:nvPr/>
        </p:nvSpPr>
        <p:spPr bwMode="auto">
          <a:xfrm flipV="1">
            <a:off x="4038600" y="5029200"/>
            <a:ext cx="9144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82" name="Line 42">
            <a:extLst>
              <a:ext uri="{FF2B5EF4-FFF2-40B4-BE49-F238E27FC236}">
                <a16:creationId xmlns:a16="http://schemas.microsoft.com/office/drawing/2014/main" id="{F4BABD62-6E36-8B4D-801A-BA94BE0C3A16}"/>
              </a:ext>
            </a:extLst>
          </p:cNvPr>
          <p:cNvSpPr>
            <a:spLocks noChangeShapeType="1"/>
          </p:cNvSpPr>
          <p:nvPr/>
        </p:nvSpPr>
        <p:spPr bwMode="auto">
          <a:xfrm flipV="1">
            <a:off x="4038600" y="5029200"/>
            <a:ext cx="914400" cy="457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8" name="Line 12">
            <a:extLst>
              <a:ext uri="{FF2B5EF4-FFF2-40B4-BE49-F238E27FC236}">
                <a16:creationId xmlns:a16="http://schemas.microsoft.com/office/drawing/2014/main" id="{C41B08DD-632A-794B-AA2E-F4FD2E22A9E8}"/>
              </a:ext>
            </a:extLst>
          </p:cNvPr>
          <p:cNvSpPr>
            <a:spLocks noChangeShapeType="1"/>
          </p:cNvSpPr>
          <p:nvPr/>
        </p:nvSpPr>
        <p:spPr bwMode="auto">
          <a:xfrm flipH="1" flipV="1">
            <a:off x="3657600" y="4495800"/>
            <a:ext cx="12954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81" name="Line 41">
            <a:extLst>
              <a:ext uri="{FF2B5EF4-FFF2-40B4-BE49-F238E27FC236}">
                <a16:creationId xmlns:a16="http://schemas.microsoft.com/office/drawing/2014/main" id="{5BF315C3-342F-CA47-9C8E-42FF782EFEAC}"/>
              </a:ext>
            </a:extLst>
          </p:cNvPr>
          <p:cNvSpPr>
            <a:spLocks noChangeShapeType="1"/>
          </p:cNvSpPr>
          <p:nvPr/>
        </p:nvSpPr>
        <p:spPr bwMode="auto">
          <a:xfrm flipH="1" flipV="1">
            <a:off x="3657600" y="4495800"/>
            <a:ext cx="1295400" cy="533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0" name="Rectangle 2">
            <a:extLst>
              <a:ext uri="{FF2B5EF4-FFF2-40B4-BE49-F238E27FC236}">
                <a16:creationId xmlns:a16="http://schemas.microsoft.com/office/drawing/2014/main" id="{5387075B-B501-A742-B615-999CE27C4AD1}"/>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Theorem 1</a:t>
            </a:r>
          </a:p>
        </p:txBody>
      </p:sp>
      <p:sp>
        <p:nvSpPr>
          <p:cNvPr id="29711" name="Rectangle 3">
            <a:extLst>
              <a:ext uri="{FF2B5EF4-FFF2-40B4-BE49-F238E27FC236}">
                <a16:creationId xmlns:a16="http://schemas.microsoft.com/office/drawing/2014/main" id="{A6E611B0-AE4E-064E-AF91-D04020788FF8}"/>
              </a:ext>
            </a:extLst>
          </p:cNvPr>
          <p:cNvSpPr>
            <a:spLocks noGrp="1" noChangeArrowheads="1"/>
          </p:cNvSpPr>
          <p:nvPr>
            <p:ph type="body" idx="1"/>
          </p:nvPr>
        </p:nvSpPr>
        <p:spPr/>
        <p:txBody>
          <a:bodyPr/>
          <a:lstStyle/>
          <a:p>
            <a:pPr eaLnBrk="1" hangingPunct="1"/>
            <a:r>
              <a:rPr lang="en-US" altLang="en-US">
                <a:ea typeface="ＭＳ Ｐゴシック" panose="020B0600070205080204" pitchFamily="34" charset="-128"/>
              </a:rPr>
              <a:t>A graph with </a:t>
            </a:r>
            <a:r>
              <a:rPr lang="en-US" altLang="en-US" i="1">
                <a:ea typeface="ＭＳ Ｐゴシック" panose="020B0600070205080204" pitchFamily="34" charset="-128"/>
              </a:rPr>
              <a:t>n</a:t>
            </a:r>
            <a:r>
              <a:rPr lang="en-US" altLang="en-US">
                <a:ea typeface="ＭＳ Ｐゴシック" panose="020B0600070205080204" pitchFamily="34" charset="-128"/>
              </a:rPr>
              <a:t> vertices, </a:t>
            </a:r>
            <a:r>
              <a:rPr lang="en-US" altLang="en-US" i="1">
                <a:ea typeface="ＭＳ Ｐゴシック" panose="020B0600070205080204" pitchFamily="34" charset="-128"/>
              </a:rPr>
              <a:t>n</a:t>
            </a:r>
            <a:r>
              <a:rPr lang="en-US" altLang="en-US">
                <a:ea typeface="ＭＳ Ｐゴシック" panose="020B0600070205080204" pitchFamily="34" charset="-128"/>
              </a:rPr>
              <a:t> &gt; 2, has a Hamilton circuit if the degree of each vertex is at least </a:t>
            </a:r>
            <a:r>
              <a:rPr lang="en-US" altLang="en-US" i="1">
                <a:ea typeface="ＭＳ Ｐゴシック" panose="020B0600070205080204" pitchFamily="34" charset="-128"/>
              </a:rPr>
              <a:t>n</a:t>
            </a:r>
            <a:r>
              <a:rPr lang="en-US" altLang="en-US">
                <a:ea typeface="ＭＳ Ｐゴシック" panose="020B0600070205080204" pitchFamily="34" charset="-128"/>
              </a:rPr>
              <a:t>/2.</a:t>
            </a:r>
          </a:p>
        </p:txBody>
      </p:sp>
      <p:sp>
        <p:nvSpPr>
          <p:cNvPr id="29712" name="Oval 6">
            <a:extLst>
              <a:ext uri="{FF2B5EF4-FFF2-40B4-BE49-F238E27FC236}">
                <a16:creationId xmlns:a16="http://schemas.microsoft.com/office/drawing/2014/main" id="{A523A61C-BDBB-2145-946C-7F057FCD611C}"/>
              </a:ext>
            </a:extLst>
          </p:cNvPr>
          <p:cNvSpPr>
            <a:spLocks noChangeArrowheads="1"/>
          </p:cNvSpPr>
          <p:nvPr/>
        </p:nvSpPr>
        <p:spPr bwMode="auto">
          <a:xfrm>
            <a:off x="3962400" y="54102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9713" name="Oval 7">
            <a:extLst>
              <a:ext uri="{FF2B5EF4-FFF2-40B4-BE49-F238E27FC236}">
                <a16:creationId xmlns:a16="http://schemas.microsoft.com/office/drawing/2014/main" id="{1676060C-875B-2D49-BA10-8313E63C8984}"/>
              </a:ext>
            </a:extLst>
          </p:cNvPr>
          <p:cNvSpPr>
            <a:spLocks noChangeArrowheads="1"/>
          </p:cNvSpPr>
          <p:nvPr/>
        </p:nvSpPr>
        <p:spPr bwMode="auto">
          <a:xfrm>
            <a:off x="4800600" y="3733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9714" name="Oval 8">
            <a:extLst>
              <a:ext uri="{FF2B5EF4-FFF2-40B4-BE49-F238E27FC236}">
                <a16:creationId xmlns:a16="http://schemas.microsoft.com/office/drawing/2014/main" id="{79B51884-77CF-874D-96A1-581C14540ECE}"/>
              </a:ext>
            </a:extLst>
          </p:cNvPr>
          <p:cNvSpPr>
            <a:spLocks noChangeArrowheads="1"/>
          </p:cNvSpPr>
          <p:nvPr/>
        </p:nvSpPr>
        <p:spPr bwMode="auto">
          <a:xfrm>
            <a:off x="4876800" y="49530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9715" name="Oval 9">
            <a:extLst>
              <a:ext uri="{FF2B5EF4-FFF2-40B4-BE49-F238E27FC236}">
                <a16:creationId xmlns:a16="http://schemas.microsoft.com/office/drawing/2014/main" id="{13685F30-10B4-8B40-BA4A-1A68D58BF62F}"/>
              </a:ext>
            </a:extLst>
          </p:cNvPr>
          <p:cNvSpPr>
            <a:spLocks noChangeArrowheads="1"/>
          </p:cNvSpPr>
          <p:nvPr/>
        </p:nvSpPr>
        <p:spPr bwMode="auto">
          <a:xfrm>
            <a:off x="3505200" y="44196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9716" name="Line 17">
            <a:extLst>
              <a:ext uri="{FF2B5EF4-FFF2-40B4-BE49-F238E27FC236}">
                <a16:creationId xmlns:a16="http://schemas.microsoft.com/office/drawing/2014/main" id="{D9D8A283-5FB5-7B4C-98F3-FE96C439B109}"/>
              </a:ext>
            </a:extLst>
          </p:cNvPr>
          <p:cNvSpPr>
            <a:spLocks noChangeShapeType="1"/>
          </p:cNvSpPr>
          <p:nvPr/>
        </p:nvSpPr>
        <p:spPr bwMode="auto">
          <a:xfrm flipH="1" flipV="1">
            <a:off x="4876800" y="3886200"/>
            <a:ext cx="762000" cy="1447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7" name="Line 20">
            <a:extLst>
              <a:ext uri="{FF2B5EF4-FFF2-40B4-BE49-F238E27FC236}">
                <a16:creationId xmlns:a16="http://schemas.microsoft.com/office/drawing/2014/main" id="{CB338E21-BD93-5B42-AF62-198910117259}"/>
              </a:ext>
            </a:extLst>
          </p:cNvPr>
          <p:cNvSpPr>
            <a:spLocks noChangeShapeType="1"/>
          </p:cNvSpPr>
          <p:nvPr/>
        </p:nvSpPr>
        <p:spPr bwMode="auto">
          <a:xfrm>
            <a:off x="5029200" y="5029200"/>
            <a:ext cx="6096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8" name="Oval 22">
            <a:extLst>
              <a:ext uri="{FF2B5EF4-FFF2-40B4-BE49-F238E27FC236}">
                <a16:creationId xmlns:a16="http://schemas.microsoft.com/office/drawing/2014/main" id="{41B336CD-58CA-8343-BB04-D158F0F8E6A1}"/>
              </a:ext>
            </a:extLst>
          </p:cNvPr>
          <p:cNvSpPr>
            <a:spLocks noChangeArrowheads="1"/>
          </p:cNvSpPr>
          <p:nvPr/>
        </p:nvSpPr>
        <p:spPr bwMode="auto">
          <a:xfrm>
            <a:off x="3733800" y="3733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9719" name="Line 23">
            <a:extLst>
              <a:ext uri="{FF2B5EF4-FFF2-40B4-BE49-F238E27FC236}">
                <a16:creationId xmlns:a16="http://schemas.microsoft.com/office/drawing/2014/main" id="{0DF4AB6A-DD64-AA46-9AC2-05573A985903}"/>
              </a:ext>
            </a:extLst>
          </p:cNvPr>
          <p:cNvSpPr>
            <a:spLocks noChangeShapeType="1"/>
          </p:cNvSpPr>
          <p:nvPr/>
        </p:nvSpPr>
        <p:spPr bwMode="auto">
          <a:xfrm>
            <a:off x="3886200" y="3810000"/>
            <a:ext cx="914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0" name="Line 24">
            <a:extLst>
              <a:ext uri="{FF2B5EF4-FFF2-40B4-BE49-F238E27FC236}">
                <a16:creationId xmlns:a16="http://schemas.microsoft.com/office/drawing/2014/main" id="{0246DFF2-E13C-ED49-AC85-9CC4CFDD47CE}"/>
              </a:ext>
            </a:extLst>
          </p:cNvPr>
          <p:cNvSpPr>
            <a:spLocks noChangeShapeType="1"/>
          </p:cNvSpPr>
          <p:nvPr/>
        </p:nvSpPr>
        <p:spPr bwMode="auto">
          <a:xfrm flipV="1">
            <a:off x="3581400" y="3886200"/>
            <a:ext cx="2286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1" name="Text Box 25">
            <a:extLst>
              <a:ext uri="{FF2B5EF4-FFF2-40B4-BE49-F238E27FC236}">
                <a16:creationId xmlns:a16="http://schemas.microsoft.com/office/drawing/2014/main" id="{2061F91F-C26F-A946-81F6-CA9756F6876E}"/>
              </a:ext>
            </a:extLst>
          </p:cNvPr>
          <p:cNvSpPr txBox="1">
            <a:spLocks noChangeArrowheads="1"/>
          </p:cNvSpPr>
          <p:nvPr/>
        </p:nvSpPr>
        <p:spPr bwMode="auto">
          <a:xfrm>
            <a:off x="3641725" y="338931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29722" name="Text Box 26">
            <a:extLst>
              <a:ext uri="{FF2B5EF4-FFF2-40B4-BE49-F238E27FC236}">
                <a16:creationId xmlns:a16="http://schemas.microsoft.com/office/drawing/2014/main" id="{B11441EC-9AD2-7A4D-A0EC-3D1EEBE90821}"/>
              </a:ext>
            </a:extLst>
          </p:cNvPr>
          <p:cNvSpPr txBox="1">
            <a:spLocks noChangeArrowheads="1"/>
          </p:cNvSpPr>
          <p:nvPr/>
        </p:nvSpPr>
        <p:spPr bwMode="auto">
          <a:xfrm>
            <a:off x="3184525" y="430371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29723" name="Text Box 27">
            <a:extLst>
              <a:ext uri="{FF2B5EF4-FFF2-40B4-BE49-F238E27FC236}">
                <a16:creationId xmlns:a16="http://schemas.microsoft.com/office/drawing/2014/main" id="{79A45917-1D51-E94C-BAE8-DCAE25F3F4CB}"/>
              </a:ext>
            </a:extLst>
          </p:cNvPr>
          <p:cNvSpPr txBox="1">
            <a:spLocks noChangeArrowheads="1"/>
          </p:cNvSpPr>
          <p:nvPr/>
        </p:nvSpPr>
        <p:spPr bwMode="auto">
          <a:xfrm>
            <a:off x="4784725" y="338931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29724" name="Text Box 28">
            <a:extLst>
              <a:ext uri="{FF2B5EF4-FFF2-40B4-BE49-F238E27FC236}">
                <a16:creationId xmlns:a16="http://schemas.microsoft.com/office/drawing/2014/main" id="{263D8ED7-F572-D84D-AB8A-857EFDFD03B8}"/>
              </a:ext>
            </a:extLst>
          </p:cNvPr>
          <p:cNvSpPr txBox="1">
            <a:spLocks noChangeArrowheads="1"/>
          </p:cNvSpPr>
          <p:nvPr/>
        </p:nvSpPr>
        <p:spPr bwMode="auto">
          <a:xfrm>
            <a:off x="3565525" y="537051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29725" name="Text Box 29">
            <a:extLst>
              <a:ext uri="{FF2B5EF4-FFF2-40B4-BE49-F238E27FC236}">
                <a16:creationId xmlns:a16="http://schemas.microsoft.com/office/drawing/2014/main" id="{5A89CC61-792F-3648-ADFB-52E0DD9107D1}"/>
              </a:ext>
            </a:extLst>
          </p:cNvPr>
          <p:cNvSpPr txBox="1">
            <a:spLocks noChangeArrowheads="1"/>
          </p:cNvSpPr>
          <p:nvPr/>
        </p:nvSpPr>
        <p:spPr bwMode="auto">
          <a:xfrm>
            <a:off x="4708525" y="506571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29726" name="Text Box 31">
            <a:extLst>
              <a:ext uri="{FF2B5EF4-FFF2-40B4-BE49-F238E27FC236}">
                <a16:creationId xmlns:a16="http://schemas.microsoft.com/office/drawing/2014/main" id="{4BED95DF-47FF-7449-BBD3-F5FDE0D2BDAD}"/>
              </a:ext>
            </a:extLst>
          </p:cNvPr>
          <p:cNvSpPr txBox="1">
            <a:spLocks noChangeArrowheads="1"/>
          </p:cNvSpPr>
          <p:nvPr/>
        </p:nvSpPr>
        <p:spPr bwMode="auto">
          <a:xfrm>
            <a:off x="5791200" y="52578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10272" name="Text Box 32">
            <a:extLst>
              <a:ext uri="{FF2B5EF4-FFF2-40B4-BE49-F238E27FC236}">
                <a16:creationId xmlns:a16="http://schemas.microsoft.com/office/drawing/2014/main" id="{4F3EB18E-FD6A-CE44-B67D-D6B49264BDDE}"/>
              </a:ext>
            </a:extLst>
          </p:cNvPr>
          <p:cNvSpPr txBox="1">
            <a:spLocks noChangeArrowheads="1"/>
          </p:cNvSpPr>
          <p:nvPr/>
        </p:nvSpPr>
        <p:spPr bwMode="auto">
          <a:xfrm>
            <a:off x="6629400" y="3657600"/>
            <a:ext cx="30480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i="1">
                <a:latin typeface="Times New Roman" panose="02020603050405020304" pitchFamily="18" charset="0"/>
              </a:rPr>
              <a:t>n</a:t>
            </a:r>
            <a:r>
              <a:rPr lang="en-US" altLang="en-US" sz="2000">
                <a:latin typeface="Times New Roman" panose="02020603050405020304" pitchFamily="18" charset="0"/>
              </a:rPr>
              <a:t> = 6                   </a:t>
            </a:r>
            <a:r>
              <a:rPr lang="en-US" altLang="en-US" sz="2000" i="1">
                <a:latin typeface="Times New Roman" panose="02020603050405020304" pitchFamily="18" charset="0"/>
              </a:rPr>
              <a:t>n</a:t>
            </a:r>
            <a:r>
              <a:rPr lang="en-US" altLang="en-US" sz="2000">
                <a:latin typeface="Times New Roman" panose="02020603050405020304" pitchFamily="18" charset="0"/>
              </a:rPr>
              <a:t>/2 = 3                         Possible Hamilton Circuit:  </a:t>
            </a:r>
            <a:r>
              <a:rPr lang="en-US" altLang="en-US" sz="1800"/>
              <a:t>A-B-E-D-C-F-A</a:t>
            </a:r>
          </a:p>
        </p:txBody>
      </p:sp>
      <p:sp>
        <p:nvSpPr>
          <p:cNvPr id="10280" name="Line 40">
            <a:extLst>
              <a:ext uri="{FF2B5EF4-FFF2-40B4-BE49-F238E27FC236}">
                <a16:creationId xmlns:a16="http://schemas.microsoft.com/office/drawing/2014/main" id="{8FBE9E04-37D8-174C-ACDA-9541370A4B17}"/>
              </a:ext>
            </a:extLst>
          </p:cNvPr>
          <p:cNvSpPr>
            <a:spLocks noChangeShapeType="1"/>
          </p:cNvSpPr>
          <p:nvPr/>
        </p:nvSpPr>
        <p:spPr bwMode="auto">
          <a:xfrm flipV="1">
            <a:off x="3581400" y="3886200"/>
            <a:ext cx="228600" cy="533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84" name="Line 44">
            <a:extLst>
              <a:ext uri="{FF2B5EF4-FFF2-40B4-BE49-F238E27FC236}">
                <a16:creationId xmlns:a16="http://schemas.microsoft.com/office/drawing/2014/main" id="{9AC7F260-138E-584B-954C-73A078590255}"/>
              </a:ext>
            </a:extLst>
          </p:cNvPr>
          <p:cNvSpPr>
            <a:spLocks noChangeShapeType="1"/>
          </p:cNvSpPr>
          <p:nvPr/>
        </p:nvSpPr>
        <p:spPr bwMode="auto">
          <a:xfrm flipH="1" flipV="1">
            <a:off x="4876800" y="3886200"/>
            <a:ext cx="762000" cy="14478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0" name="Oval 5">
            <a:extLst>
              <a:ext uri="{FF2B5EF4-FFF2-40B4-BE49-F238E27FC236}">
                <a16:creationId xmlns:a16="http://schemas.microsoft.com/office/drawing/2014/main" id="{2A6ECD39-F269-6D43-954C-9EF46CF925D2}"/>
              </a:ext>
            </a:extLst>
          </p:cNvPr>
          <p:cNvSpPr>
            <a:spLocks noChangeArrowheads="1"/>
          </p:cNvSpPr>
          <p:nvPr/>
        </p:nvSpPr>
        <p:spPr bwMode="auto">
          <a:xfrm>
            <a:off x="5562600" y="5257800"/>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Tree>
    <p:extLst>
      <p:ext uri="{BB962C8B-B14F-4D97-AF65-F5344CB8AC3E}">
        <p14:creationId xmlns:p14="http://schemas.microsoft.com/office/powerpoint/2010/main" val="21000558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10280"/>
                                        </p:tgtEl>
                                        <p:attrNameLst>
                                          <p:attrName>style.visibility</p:attrName>
                                        </p:attrNameLst>
                                      </p:cBhvr>
                                      <p:to>
                                        <p:strVal val="visible"/>
                                      </p:to>
                                    </p:set>
                                    <p:animEffect transition="in" filter="wipe(up)">
                                      <p:cBhvr>
                                        <p:cTn id="11" dur="500"/>
                                        <p:tgtEl>
                                          <p:spTgt spid="10280"/>
                                        </p:tgtEl>
                                      </p:cBhvr>
                                    </p:animEffect>
                                  </p:childTnLst>
                                </p:cTn>
                              </p:par>
                            </p:childTnLst>
                          </p:cTn>
                        </p:par>
                        <p:par>
                          <p:cTn id="12" fill="hold" nodeType="afterGroup">
                            <p:stCondLst>
                              <p:cond delay="500"/>
                            </p:stCondLst>
                            <p:childTnLst>
                              <p:par>
                                <p:cTn id="13" presetID="22" presetClass="entr" presetSubtype="1" fill="hold" nodeType="afterEffect">
                                  <p:stCondLst>
                                    <p:cond delay="0"/>
                                  </p:stCondLst>
                                  <p:childTnLst>
                                    <p:set>
                                      <p:cBhvr>
                                        <p:cTn id="14" dur="1" fill="hold">
                                          <p:stCondLst>
                                            <p:cond delay="0"/>
                                          </p:stCondLst>
                                        </p:cTn>
                                        <p:tgtEl>
                                          <p:spTgt spid="10281"/>
                                        </p:tgtEl>
                                        <p:attrNameLst>
                                          <p:attrName>style.visibility</p:attrName>
                                        </p:attrNameLst>
                                      </p:cBhvr>
                                      <p:to>
                                        <p:strVal val="visible"/>
                                      </p:to>
                                    </p:set>
                                    <p:animEffect transition="in" filter="wipe(up)">
                                      <p:cBhvr>
                                        <p:cTn id="15" dur="500"/>
                                        <p:tgtEl>
                                          <p:spTgt spid="10281"/>
                                        </p:tgtEl>
                                      </p:cBhvr>
                                    </p:animEffect>
                                  </p:childTnLst>
                                </p:cTn>
                              </p:par>
                            </p:childTnLst>
                          </p:cTn>
                        </p:par>
                        <p:par>
                          <p:cTn id="16" fill="hold" nodeType="afterGroup">
                            <p:stCondLst>
                              <p:cond delay="1000"/>
                            </p:stCondLst>
                            <p:childTnLst>
                              <p:par>
                                <p:cTn id="17" presetID="22" presetClass="entr" presetSubtype="1" fill="hold" nodeType="afterEffect">
                                  <p:stCondLst>
                                    <p:cond delay="0"/>
                                  </p:stCondLst>
                                  <p:childTnLst>
                                    <p:set>
                                      <p:cBhvr>
                                        <p:cTn id="18" dur="1" fill="hold">
                                          <p:stCondLst>
                                            <p:cond delay="0"/>
                                          </p:stCondLst>
                                        </p:cTn>
                                        <p:tgtEl>
                                          <p:spTgt spid="10282"/>
                                        </p:tgtEl>
                                        <p:attrNameLst>
                                          <p:attrName>style.visibility</p:attrName>
                                        </p:attrNameLst>
                                      </p:cBhvr>
                                      <p:to>
                                        <p:strVal val="visible"/>
                                      </p:to>
                                    </p:set>
                                    <p:animEffect transition="in" filter="wipe(up)">
                                      <p:cBhvr>
                                        <p:cTn id="19" dur="500"/>
                                        <p:tgtEl>
                                          <p:spTgt spid="10282"/>
                                        </p:tgtEl>
                                      </p:cBhvr>
                                    </p:animEffect>
                                  </p:childTnLst>
                                </p:cTn>
                              </p:par>
                            </p:childTnLst>
                          </p:cTn>
                        </p:par>
                        <p:par>
                          <p:cTn id="20" fill="hold" nodeType="afterGroup">
                            <p:stCondLst>
                              <p:cond delay="1500"/>
                            </p:stCondLst>
                            <p:childTnLst>
                              <p:par>
                                <p:cTn id="21" presetID="22" presetClass="entr" presetSubtype="4" fill="hold" nodeType="afterEffect">
                                  <p:stCondLst>
                                    <p:cond delay="0"/>
                                  </p:stCondLst>
                                  <p:childTnLst>
                                    <p:set>
                                      <p:cBhvr>
                                        <p:cTn id="22" dur="1" fill="hold">
                                          <p:stCondLst>
                                            <p:cond delay="0"/>
                                          </p:stCondLst>
                                        </p:cTn>
                                        <p:tgtEl>
                                          <p:spTgt spid="10283"/>
                                        </p:tgtEl>
                                        <p:attrNameLst>
                                          <p:attrName>style.visibility</p:attrName>
                                        </p:attrNameLst>
                                      </p:cBhvr>
                                      <p:to>
                                        <p:strVal val="visible"/>
                                      </p:to>
                                    </p:set>
                                    <p:animEffect transition="in" filter="wipe(down)">
                                      <p:cBhvr>
                                        <p:cTn id="23" dur="500"/>
                                        <p:tgtEl>
                                          <p:spTgt spid="10283"/>
                                        </p:tgtEl>
                                      </p:cBhvr>
                                    </p:animEffect>
                                  </p:childTnLst>
                                </p:cTn>
                              </p:par>
                            </p:childTnLst>
                          </p:cTn>
                        </p:par>
                        <p:par>
                          <p:cTn id="24" fill="hold" nodeType="afterGroup">
                            <p:stCondLst>
                              <p:cond delay="2000"/>
                            </p:stCondLst>
                            <p:childTnLst>
                              <p:par>
                                <p:cTn id="25" presetID="22" presetClass="entr" presetSubtype="1" fill="hold" nodeType="afterEffect">
                                  <p:stCondLst>
                                    <p:cond delay="0"/>
                                  </p:stCondLst>
                                  <p:childTnLst>
                                    <p:set>
                                      <p:cBhvr>
                                        <p:cTn id="26" dur="1" fill="hold">
                                          <p:stCondLst>
                                            <p:cond delay="0"/>
                                          </p:stCondLst>
                                        </p:cTn>
                                        <p:tgtEl>
                                          <p:spTgt spid="10284"/>
                                        </p:tgtEl>
                                        <p:attrNameLst>
                                          <p:attrName>style.visibility</p:attrName>
                                        </p:attrNameLst>
                                      </p:cBhvr>
                                      <p:to>
                                        <p:strVal val="visible"/>
                                      </p:to>
                                    </p:set>
                                    <p:animEffect transition="in" filter="wipe(up)">
                                      <p:cBhvr>
                                        <p:cTn id="27" dur="500"/>
                                        <p:tgtEl>
                                          <p:spTgt spid="10284"/>
                                        </p:tgtEl>
                                      </p:cBhvr>
                                    </p:animEffect>
                                  </p:childTnLst>
                                </p:cTn>
                              </p:par>
                            </p:childTnLst>
                          </p:cTn>
                        </p:par>
                        <p:par>
                          <p:cTn id="28" fill="hold" nodeType="afterGroup">
                            <p:stCondLst>
                              <p:cond delay="2500"/>
                            </p:stCondLst>
                            <p:childTnLst>
                              <p:par>
                                <p:cTn id="29" presetID="22" presetClass="entr" presetSubtype="4" fill="hold" nodeType="afterEffect">
                                  <p:stCondLst>
                                    <p:cond delay="0"/>
                                  </p:stCondLst>
                                  <p:childTnLst>
                                    <p:set>
                                      <p:cBhvr>
                                        <p:cTn id="30" dur="1" fill="hold">
                                          <p:stCondLst>
                                            <p:cond delay="0"/>
                                          </p:stCondLst>
                                        </p:cTn>
                                        <p:tgtEl>
                                          <p:spTgt spid="10285"/>
                                        </p:tgtEl>
                                        <p:attrNameLst>
                                          <p:attrName>style.visibility</p:attrName>
                                        </p:attrNameLst>
                                      </p:cBhvr>
                                      <p:to>
                                        <p:strVal val="visible"/>
                                      </p:to>
                                    </p:set>
                                    <p:animEffect transition="in" filter="wipe(down)">
                                      <p:cBhvr>
                                        <p:cTn id="31" dur="500"/>
                                        <p:tgtEl>
                                          <p:spTgt spid="10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Line 33">
            <a:extLst>
              <a:ext uri="{FF2B5EF4-FFF2-40B4-BE49-F238E27FC236}">
                <a16:creationId xmlns:a16="http://schemas.microsoft.com/office/drawing/2014/main" id="{6EBA78FA-38FC-7E4C-AEDA-D4BB32FC86D4}"/>
              </a:ext>
            </a:extLst>
          </p:cNvPr>
          <p:cNvSpPr>
            <a:spLocks noChangeShapeType="1"/>
          </p:cNvSpPr>
          <p:nvPr/>
        </p:nvSpPr>
        <p:spPr bwMode="auto">
          <a:xfrm>
            <a:off x="4267200" y="4495800"/>
            <a:ext cx="13716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7" name="Line 41">
            <a:extLst>
              <a:ext uri="{FF2B5EF4-FFF2-40B4-BE49-F238E27FC236}">
                <a16:creationId xmlns:a16="http://schemas.microsoft.com/office/drawing/2014/main" id="{E93A9DC8-6E8E-394A-8394-115353213BA9}"/>
              </a:ext>
            </a:extLst>
          </p:cNvPr>
          <p:cNvSpPr>
            <a:spLocks noChangeShapeType="1"/>
          </p:cNvSpPr>
          <p:nvPr/>
        </p:nvSpPr>
        <p:spPr bwMode="auto">
          <a:xfrm>
            <a:off x="4267200" y="4495800"/>
            <a:ext cx="1371600" cy="381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6" name="Line 31">
            <a:extLst>
              <a:ext uri="{FF2B5EF4-FFF2-40B4-BE49-F238E27FC236}">
                <a16:creationId xmlns:a16="http://schemas.microsoft.com/office/drawing/2014/main" id="{53AFC8F1-9819-0C46-8389-F97C8C8E29F7}"/>
              </a:ext>
            </a:extLst>
          </p:cNvPr>
          <p:cNvSpPr>
            <a:spLocks noChangeShapeType="1"/>
          </p:cNvSpPr>
          <p:nvPr/>
        </p:nvSpPr>
        <p:spPr bwMode="auto">
          <a:xfrm>
            <a:off x="4419600" y="2743200"/>
            <a:ext cx="1219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8" name="Line 42">
            <a:extLst>
              <a:ext uri="{FF2B5EF4-FFF2-40B4-BE49-F238E27FC236}">
                <a16:creationId xmlns:a16="http://schemas.microsoft.com/office/drawing/2014/main" id="{229152E3-FC9F-2142-880B-2699BFA3C83E}"/>
              </a:ext>
            </a:extLst>
          </p:cNvPr>
          <p:cNvSpPr>
            <a:spLocks noChangeShapeType="1"/>
          </p:cNvSpPr>
          <p:nvPr/>
        </p:nvSpPr>
        <p:spPr bwMode="auto">
          <a:xfrm>
            <a:off x="4419600" y="2743200"/>
            <a:ext cx="1219200" cy="533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8" name="Rectangle 2">
            <a:extLst>
              <a:ext uri="{FF2B5EF4-FFF2-40B4-BE49-F238E27FC236}">
                <a16:creationId xmlns:a16="http://schemas.microsoft.com/office/drawing/2014/main" id="{89CF5D61-8E20-844B-803E-B3FCE8FD3C2F}"/>
              </a:ext>
            </a:extLst>
          </p:cNvPr>
          <p:cNvSpPr>
            <a:spLocks noGrp="1" noChangeArrowheads="1"/>
          </p:cNvSpPr>
          <p:nvPr>
            <p:ph type="title"/>
          </p:nvPr>
        </p:nvSpPr>
        <p:spPr>
          <a:xfrm>
            <a:off x="1981200" y="861585"/>
            <a:ext cx="8229600" cy="1143000"/>
          </a:xfrm>
        </p:spPr>
        <p:txBody>
          <a:bodyPr/>
          <a:lstStyle/>
          <a:p>
            <a:pPr eaLnBrk="1" hangingPunct="1"/>
            <a:r>
              <a:rPr lang="en-US" altLang="en-US" sz="3600" dirty="0">
                <a:ea typeface="ＭＳ Ｐゴシック" panose="020B0600070205080204" pitchFamily="34" charset="-128"/>
              </a:rPr>
              <a:t>The condition in Theorem 1 is </a:t>
            </a:r>
            <a:r>
              <a:rPr lang="en-US" altLang="en-US" sz="3600" b="1" dirty="0">
                <a:ea typeface="ＭＳ Ｐゴシック" panose="020B0600070205080204" pitchFamily="34" charset="-128"/>
              </a:rPr>
              <a:t>sufficient</a:t>
            </a:r>
            <a:r>
              <a:rPr lang="en-US" altLang="en-US" sz="3600" dirty="0">
                <a:ea typeface="ＭＳ Ｐゴシック" panose="020B0600070205080204" pitchFamily="34" charset="-128"/>
              </a:rPr>
              <a:t>, but not </a:t>
            </a:r>
            <a:r>
              <a:rPr lang="en-US" altLang="en-US" sz="3600" b="1" dirty="0">
                <a:ea typeface="ＭＳ Ｐゴシック" panose="020B0600070205080204" pitchFamily="34" charset="-128"/>
              </a:rPr>
              <a:t>necessary</a:t>
            </a:r>
            <a:r>
              <a:rPr lang="en-US" altLang="en-US" sz="3600" dirty="0">
                <a:ea typeface="ＭＳ Ｐゴシック" panose="020B0600070205080204" pitchFamily="34" charset="-128"/>
              </a:rPr>
              <a:t> </a:t>
            </a:r>
          </a:p>
        </p:txBody>
      </p:sp>
      <p:sp>
        <p:nvSpPr>
          <p:cNvPr id="30729" name="Text Box 25">
            <a:extLst>
              <a:ext uri="{FF2B5EF4-FFF2-40B4-BE49-F238E27FC236}">
                <a16:creationId xmlns:a16="http://schemas.microsoft.com/office/drawing/2014/main" id="{E6A93D13-80D4-144F-AD4C-4BDA1B6D97E6}"/>
              </a:ext>
            </a:extLst>
          </p:cNvPr>
          <p:cNvSpPr txBox="1">
            <a:spLocks noChangeArrowheads="1"/>
          </p:cNvSpPr>
          <p:nvPr/>
        </p:nvSpPr>
        <p:spPr bwMode="auto">
          <a:xfrm>
            <a:off x="2667000" y="50292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30730" name="Line 5">
            <a:extLst>
              <a:ext uri="{FF2B5EF4-FFF2-40B4-BE49-F238E27FC236}">
                <a16:creationId xmlns:a16="http://schemas.microsoft.com/office/drawing/2014/main" id="{6663B0E4-EBC8-B74B-9332-C83644DC6FEC}"/>
              </a:ext>
            </a:extLst>
          </p:cNvPr>
          <p:cNvSpPr>
            <a:spLocks noChangeShapeType="1"/>
          </p:cNvSpPr>
          <p:nvPr/>
        </p:nvSpPr>
        <p:spPr bwMode="auto">
          <a:xfrm>
            <a:off x="5715000" y="33528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2" name="Line 6">
            <a:extLst>
              <a:ext uri="{FF2B5EF4-FFF2-40B4-BE49-F238E27FC236}">
                <a16:creationId xmlns:a16="http://schemas.microsoft.com/office/drawing/2014/main" id="{CFF57155-0658-8E4E-ADF7-8F549FCE9133}"/>
              </a:ext>
            </a:extLst>
          </p:cNvPr>
          <p:cNvSpPr>
            <a:spLocks noChangeShapeType="1"/>
          </p:cNvSpPr>
          <p:nvPr/>
        </p:nvSpPr>
        <p:spPr bwMode="auto">
          <a:xfrm>
            <a:off x="5715000" y="3352800"/>
            <a:ext cx="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2" name="Line 10">
            <a:extLst>
              <a:ext uri="{FF2B5EF4-FFF2-40B4-BE49-F238E27FC236}">
                <a16:creationId xmlns:a16="http://schemas.microsoft.com/office/drawing/2014/main" id="{35913512-1693-8E46-AA61-18D126BBF4AA}"/>
              </a:ext>
            </a:extLst>
          </p:cNvPr>
          <p:cNvSpPr>
            <a:spLocks noChangeShapeType="1"/>
          </p:cNvSpPr>
          <p:nvPr/>
        </p:nvSpPr>
        <p:spPr bwMode="auto">
          <a:xfrm flipV="1">
            <a:off x="2895600" y="4495800"/>
            <a:ext cx="12954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7" name="Line 11">
            <a:extLst>
              <a:ext uri="{FF2B5EF4-FFF2-40B4-BE49-F238E27FC236}">
                <a16:creationId xmlns:a16="http://schemas.microsoft.com/office/drawing/2014/main" id="{D42E6BC8-A49C-5845-80DF-A0F839EA1405}"/>
              </a:ext>
            </a:extLst>
          </p:cNvPr>
          <p:cNvSpPr>
            <a:spLocks noChangeShapeType="1"/>
          </p:cNvSpPr>
          <p:nvPr/>
        </p:nvSpPr>
        <p:spPr bwMode="auto">
          <a:xfrm flipV="1">
            <a:off x="2895600" y="4495800"/>
            <a:ext cx="1295400" cy="381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4" name="Line 12">
            <a:extLst>
              <a:ext uri="{FF2B5EF4-FFF2-40B4-BE49-F238E27FC236}">
                <a16:creationId xmlns:a16="http://schemas.microsoft.com/office/drawing/2014/main" id="{7D42CB3B-9F37-8546-B05B-5C31C4C7A31E}"/>
              </a:ext>
            </a:extLst>
          </p:cNvPr>
          <p:cNvSpPr>
            <a:spLocks noChangeShapeType="1"/>
          </p:cNvSpPr>
          <p:nvPr/>
        </p:nvSpPr>
        <p:spPr bwMode="auto">
          <a:xfrm flipV="1">
            <a:off x="2895600" y="2743200"/>
            <a:ext cx="1447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9" name="Line 13">
            <a:extLst>
              <a:ext uri="{FF2B5EF4-FFF2-40B4-BE49-F238E27FC236}">
                <a16:creationId xmlns:a16="http://schemas.microsoft.com/office/drawing/2014/main" id="{20CE727D-3DC8-A349-BCE2-2EFE3C892076}"/>
              </a:ext>
            </a:extLst>
          </p:cNvPr>
          <p:cNvSpPr>
            <a:spLocks noChangeShapeType="1"/>
          </p:cNvSpPr>
          <p:nvPr/>
        </p:nvSpPr>
        <p:spPr bwMode="auto">
          <a:xfrm flipV="1">
            <a:off x="2895600" y="2743200"/>
            <a:ext cx="1447800" cy="533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6" name="Line 14">
            <a:extLst>
              <a:ext uri="{FF2B5EF4-FFF2-40B4-BE49-F238E27FC236}">
                <a16:creationId xmlns:a16="http://schemas.microsoft.com/office/drawing/2014/main" id="{AAB2B1E9-9B5A-524D-BABD-75C322F71491}"/>
              </a:ext>
            </a:extLst>
          </p:cNvPr>
          <p:cNvSpPr>
            <a:spLocks noChangeShapeType="1"/>
          </p:cNvSpPr>
          <p:nvPr/>
        </p:nvSpPr>
        <p:spPr bwMode="auto">
          <a:xfrm>
            <a:off x="2819400" y="33528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1" name="Line 15">
            <a:extLst>
              <a:ext uri="{FF2B5EF4-FFF2-40B4-BE49-F238E27FC236}">
                <a16:creationId xmlns:a16="http://schemas.microsoft.com/office/drawing/2014/main" id="{13A1FBF5-0BA2-D841-A8F3-D3372197D53D}"/>
              </a:ext>
            </a:extLst>
          </p:cNvPr>
          <p:cNvSpPr>
            <a:spLocks noChangeShapeType="1"/>
          </p:cNvSpPr>
          <p:nvPr/>
        </p:nvSpPr>
        <p:spPr bwMode="auto">
          <a:xfrm>
            <a:off x="2819400" y="3352800"/>
            <a:ext cx="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8" name="Text Box 16">
            <a:extLst>
              <a:ext uri="{FF2B5EF4-FFF2-40B4-BE49-F238E27FC236}">
                <a16:creationId xmlns:a16="http://schemas.microsoft.com/office/drawing/2014/main" id="{EA46542F-0E26-2840-B9AC-9BF507A24F0B}"/>
              </a:ext>
            </a:extLst>
          </p:cNvPr>
          <p:cNvSpPr txBox="1">
            <a:spLocks noChangeArrowheads="1"/>
          </p:cNvSpPr>
          <p:nvPr/>
        </p:nvSpPr>
        <p:spPr bwMode="auto">
          <a:xfrm>
            <a:off x="5715000" y="28956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30739" name="Text Box 17">
            <a:extLst>
              <a:ext uri="{FF2B5EF4-FFF2-40B4-BE49-F238E27FC236}">
                <a16:creationId xmlns:a16="http://schemas.microsoft.com/office/drawing/2014/main" id="{4F58B1A6-D95B-5E4B-B120-5A0EE921D6CE}"/>
              </a:ext>
            </a:extLst>
          </p:cNvPr>
          <p:cNvSpPr txBox="1">
            <a:spLocks noChangeArrowheads="1"/>
          </p:cNvSpPr>
          <p:nvPr/>
        </p:nvSpPr>
        <p:spPr bwMode="auto">
          <a:xfrm>
            <a:off x="5791200" y="47244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30740" name="Text Box 18">
            <a:extLst>
              <a:ext uri="{FF2B5EF4-FFF2-40B4-BE49-F238E27FC236}">
                <a16:creationId xmlns:a16="http://schemas.microsoft.com/office/drawing/2014/main" id="{3286BE91-6C77-5C49-8A0F-49DFC22322EC}"/>
              </a:ext>
            </a:extLst>
          </p:cNvPr>
          <p:cNvSpPr txBox="1">
            <a:spLocks noChangeArrowheads="1"/>
          </p:cNvSpPr>
          <p:nvPr/>
        </p:nvSpPr>
        <p:spPr bwMode="auto">
          <a:xfrm>
            <a:off x="4038600" y="45720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30741" name="Text Box 20">
            <a:extLst>
              <a:ext uri="{FF2B5EF4-FFF2-40B4-BE49-F238E27FC236}">
                <a16:creationId xmlns:a16="http://schemas.microsoft.com/office/drawing/2014/main" id="{8DB2B05E-F1BC-EA46-A77D-BF4AC6C4A12C}"/>
              </a:ext>
            </a:extLst>
          </p:cNvPr>
          <p:cNvSpPr txBox="1">
            <a:spLocks noChangeArrowheads="1"/>
          </p:cNvSpPr>
          <p:nvPr/>
        </p:nvSpPr>
        <p:spPr bwMode="auto">
          <a:xfrm>
            <a:off x="2667000" y="27432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30742" name="Text Box 21">
            <a:extLst>
              <a:ext uri="{FF2B5EF4-FFF2-40B4-BE49-F238E27FC236}">
                <a16:creationId xmlns:a16="http://schemas.microsoft.com/office/drawing/2014/main" id="{E73C9CB0-68F7-8F4F-9F83-882B63F7FF7E}"/>
              </a:ext>
            </a:extLst>
          </p:cNvPr>
          <p:cNvSpPr txBox="1">
            <a:spLocks noChangeArrowheads="1"/>
          </p:cNvSpPr>
          <p:nvPr/>
        </p:nvSpPr>
        <p:spPr bwMode="auto">
          <a:xfrm>
            <a:off x="4191000" y="28956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30743" name="Text Box 22">
            <a:extLst>
              <a:ext uri="{FF2B5EF4-FFF2-40B4-BE49-F238E27FC236}">
                <a16:creationId xmlns:a16="http://schemas.microsoft.com/office/drawing/2014/main" id="{F4745D3F-E7D4-AA43-8730-64E9FF02F8FD}"/>
              </a:ext>
            </a:extLst>
          </p:cNvPr>
          <p:cNvSpPr txBox="1">
            <a:spLocks noChangeArrowheads="1"/>
          </p:cNvSpPr>
          <p:nvPr/>
        </p:nvSpPr>
        <p:spPr bwMode="auto">
          <a:xfrm>
            <a:off x="5715000" y="2895601"/>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30744" name="Text Box 23">
            <a:extLst>
              <a:ext uri="{FF2B5EF4-FFF2-40B4-BE49-F238E27FC236}">
                <a16:creationId xmlns:a16="http://schemas.microsoft.com/office/drawing/2014/main" id="{CC36F483-5533-0D41-81CB-5FFF77A9CDA3}"/>
              </a:ext>
            </a:extLst>
          </p:cNvPr>
          <p:cNvSpPr txBox="1">
            <a:spLocks noChangeArrowheads="1"/>
          </p:cNvSpPr>
          <p:nvPr/>
        </p:nvSpPr>
        <p:spPr bwMode="auto">
          <a:xfrm>
            <a:off x="5791200" y="47244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30745" name="Text Box 24">
            <a:extLst>
              <a:ext uri="{FF2B5EF4-FFF2-40B4-BE49-F238E27FC236}">
                <a16:creationId xmlns:a16="http://schemas.microsoft.com/office/drawing/2014/main" id="{534A4EF1-1AFC-D949-A598-C729218AE98C}"/>
              </a:ext>
            </a:extLst>
          </p:cNvPr>
          <p:cNvSpPr txBox="1">
            <a:spLocks noChangeArrowheads="1"/>
          </p:cNvSpPr>
          <p:nvPr/>
        </p:nvSpPr>
        <p:spPr bwMode="auto">
          <a:xfrm>
            <a:off x="4038600" y="45720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30746" name="Text Box 26">
            <a:extLst>
              <a:ext uri="{FF2B5EF4-FFF2-40B4-BE49-F238E27FC236}">
                <a16:creationId xmlns:a16="http://schemas.microsoft.com/office/drawing/2014/main" id="{72BD2E2D-9D1E-4A41-8EFC-74D557C54A42}"/>
              </a:ext>
            </a:extLst>
          </p:cNvPr>
          <p:cNvSpPr txBox="1">
            <a:spLocks noChangeArrowheads="1"/>
          </p:cNvSpPr>
          <p:nvPr/>
        </p:nvSpPr>
        <p:spPr bwMode="auto">
          <a:xfrm>
            <a:off x="2667000" y="27432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30747" name="Oval 27">
            <a:extLst>
              <a:ext uri="{FF2B5EF4-FFF2-40B4-BE49-F238E27FC236}">
                <a16:creationId xmlns:a16="http://schemas.microsoft.com/office/drawing/2014/main" id="{8C2B65C3-320E-AA47-8830-3E9B60DB55ED}"/>
              </a:ext>
            </a:extLst>
          </p:cNvPr>
          <p:cNvSpPr>
            <a:spLocks noChangeArrowheads="1"/>
          </p:cNvSpPr>
          <p:nvPr/>
        </p:nvSpPr>
        <p:spPr bwMode="auto">
          <a:xfrm>
            <a:off x="2819400" y="48768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0748" name="Oval 28">
            <a:extLst>
              <a:ext uri="{FF2B5EF4-FFF2-40B4-BE49-F238E27FC236}">
                <a16:creationId xmlns:a16="http://schemas.microsoft.com/office/drawing/2014/main" id="{014D1C22-9B43-7649-A139-89841E84ECBF}"/>
              </a:ext>
            </a:extLst>
          </p:cNvPr>
          <p:cNvSpPr>
            <a:spLocks noChangeArrowheads="1"/>
          </p:cNvSpPr>
          <p:nvPr/>
        </p:nvSpPr>
        <p:spPr bwMode="auto">
          <a:xfrm>
            <a:off x="5638800" y="32766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0749" name="Oval 29">
            <a:extLst>
              <a:ext uri="{FF2B5EF4-FFF2-40B4-BE49-F238E27FC236}">
                <a16:creationId xmlns:a16="http://schemas.microsoft.com/office/drawing/2014/main" id="{24716199-B597-9545-A0D1-3AA3551A0603}"/>
              </a:ext>
            </a:extLst>
          </p:cNvPr>
          <p:cNvSpPr>
            <a:spLocks noChangeArrowheads="1"/>
          </p:cNvSpPr>
          <p:nvPr/>
        </p:nvSpPr>
        <p:spPr bwMode="auto">
          <a:xfrm>
            <a:off x="5638800" y="48768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0750" name="Oval 30">
            <a:extLst>
              <a:ext uri="{FF2B5EF4-FFF2-40B4-BE49-F238E27FC236}">
                <a16:creationId xmlns:a16="http://schemas.microsoft.com/office/drawing/2014/main" id="{06F055FC-683B-2648-93CA-94BA593C4DD5}"/>
              </a:ext>
            </a:extLst>
          </p:cNvPr>
          <p:cNvSpPr>
            <a:spLocks noChangeArrowheads="1"/>
          </p:cNvSpPr>
          <p:nvPr/>
        </p:nvSpPr>
        <p:spPr bwMode="auto">
          <a:xfrm>
            <a:off x="4343400" y="26670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0751" name="Oval 32">
            <a:extLst>
              <a:ext uri="{FF2B5EF4-FFF2-40B4-BE49-F238E27FC236}">
                <a16:creationId xmlns:a16="http://schemas.microsoft.com/office/drawing/2014/main" id="{525CA5C8-FAFB-534B-8B2E-B2BBF3EDA721}"/>
              </a:ext>
            </a:extLst>
          </p:cNvPr>
          <p:cNvSpPr>
            <a:spLocks noChangeArrowheads="1"/>
          </p:cNvSpPr>
          <p:nvPr/>
        </p:nvSpPr>
        <p:spPr bwMode="auto">
          <a:xfrm>
            <a:off x="4191000" y="44196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0752" name="Oval 34">
            <a:extLst>
              <a:ext uri="{FF2B5EF4-FFF2-40B4-BE49-F238E27FC236}">
                <a16:creationId xmlns:a16="http://schemas.microsoft.com/office/drawing/2014/main" id="{D4BDC3D3-0054-EC48-8D13-02D17384C363}"/>
              </a:ext>
            </a:extLst>
          </p:cNvPr>
          <p:cNvSpPr>
            <a:spLocks noChangeArrowheads="1"/>
          </p:cNvSpPr>
          <p:nvPr/>
        </p:nvSpPr>
        <p:spPr bwMode="auto">
          <a:xfrm>
            <a:off x="2743200" y="32004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0753" name="Oval 35">
            <a:extLst>
              <a:ext uri="{FF2B5EF4-FFF2-40B4-BE49-F238E27FC236}">
                <a16:creationId xmlns:a16="http://schemas.microsoft.com/office/drawing/2014/main" id="{D92D627F-F1BF-4246-B497-86E661629EB9}"/>
              </a:ext>
            </a:extLst>
          </p:cNvPr>
          <p:cNvSpPr>
            <a:spLocks noChangeArrowheads="1"/>
          </p:cNvSpPr>
          <p:nvPr/>
        </p:nvSpPr>
        <p:spPr bwMode="auto">
          <a:xfrm>
            <a:off x="4114800" y="43434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0754" name="Oval 36">
            <a:extLst>
              <a:ext uri="{FF2B5EF4-FFF2-40B4-BE49-F238E27FC236}">
                <a16:creationId xmlns:a16="http://schemas.microsoft.com/office/drawing/2014/main" id="{C2C9CA43-FC4A-C54D-BDF6-9C76C1C7FA15}"/>
              </a:ext>
            </a:extLst>
          </p:cNvPr>
          <p:cNvSpPr>
            <a:spLocks noChangeArrowheads="1"/>
          </p:cNvSpPr>
          <p:nvPr/>
        </p:nvSpPr>
        <p:spPr bwMode="auto">
          <a:xfrm>
            <a:off x="2743200" y="4800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0755" name="Oval 37">
            <a:extLst>
              <a:ext uri="{FF2B5EF4-FFF2-40B4-BE49-F238E27FC236}">
                <a16:creationId xmlns:a16="http://schemas.microsoft.com/office/drawing/2014/main" id="{C79AF23F-0159-D848-A707-225336AEBE56}"/>
              </a:ext>
            </a:extLst>
          </p:cNvPr>
          <p:cNvSpPr>
            <a:spLocks noChangeArrowheads="1"/>
          </p:cNvSpPr>
          <p:nvPr/>
        </p:nvSpPr>
        <p:spPr bwMode="auto">
          <a:xfrm>
            <a:off x="5562600" y="4800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0756" name="Oval 38">
            <a:extLst>
              <a:ext uri="{FF2B5EF4-FFF2-40B4-BE49-F238E27FC236}">
                <a16:creationId xmlns:a16="http://schemas.microsoft.com/office/drawing/2014/main" id="{E74E989B-00E1-A248-983B-0C1868B815F2}"/>
              </a:ext>
            </a:extLst>
          </p:cNvPr>
          <p:cNvSpPr>
            <a:spLocks noChangeArrowheads="1"/>
          </p:cNvSpPr>
          <p:nvPr/>
        </p:nvSpPr>
        <p:spPr bwMode="auto">
          <a:xfrm>
            <a:off x="5562600" y="32004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0757" name="Oval 39">
            <a:extLst>
              <a:ext uri="{FF2B5EF4-FFF2-40B4-BE49-F238E27FC236}">
                <a16:creationId xmlns:a16="http://schemas.microsoft.com/office/drawing/2014/main" id="{BC78AD36-9489-4844-978E-162A69EC033D}"/>
              </a:ext>
            </a:extLst>
          </p:cNvPr>
          <p:cNvSpPr>
            <a:spLocks noChangeArrowheads="1"/>
          </p:cNvSpPr>
          <p:nvPr/>
        </p:nvSpPr>
        <p:spPr bwMode="auto">
          <a:xfrm>
            <a:off x="4267200" y="25908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0758" name="Text Box 43">
            <a:extLst>
              <a:ext uri="{FF2B5EF4-FFF2-40B4-BE49-F238E27FC236}">
                <a16:creationId xmlns:a16="http://schemas.microsoft.com/office/drawing/2014/main" id="{4EA830B5-3EE1-6841-AA1C-E8FE9FB2F884}"/>
              </a:ext>
            </a:extLst>
          </p:cNvPr>
          <p:cNvSpPr txBox="1">
            <a:spLocks noChangeArrowheads="1"/>
          </p:cNvSpPr>
          <p:nvPr/>
        </p:nvSpPr>
        <p:spPr bwMode="auto">
          <a:xfrm>
            <a:off x="6858000" y="2590801"/>
            <a:ext cx="3505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a:latin typeface="Times New Roman" panose="02020603050405020304" pitchFamily="18" charset="0"/>
              </a:rPr>
              <a:t>Theorem 1 does not necessarily have to be true in order for a Hamilton Circuit to exist. Here, each vertex is of degree 2 which is less than </a:t>
            </a:r>
            <a:r>
              <a:rPr lang="en-US" altLang="en-US" sz="2000" i="1">
                <a:latin typeface="Times New Roman" panose="02020603050405020304" pitchFamily="18" charset="0"/>
              </a:rPr>
              <a:t>n</a:t>
            </a:r>
            <a:r>
              <a:rPr lang="en-US" altLang="en-US" sz="2000">
                <a:latin typeface="Times New Roman" panose="02020603050405020304" pitchFamily="18" charset="0"/>
              </a:rPr>
              <a:t>/2 and yet a Hamilton Circuit still exists.</a:t>
            </a:r>
          </a:p>
        </p:txBody>
      </p:sp>
    </p:spTree>
    <p:extLst>
      <p:ext uri="{BB962C8B-B14F-4D97-AF65-F5344CB8AC3E}">
        <p14:creationId xmlns:p14="http://schemas.microsoft.com/office/powerpoint/2010/main" val="37507830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34829"/>
                                        </p:tgtEl>
                                        <p:attrNameLst>
                                          <p:attrName>style.visibility</p:attrName>
                                        </p:attrNameLst>
                                      </p:cBhvr>
                                      <p:to>
                                        <p:strVal val="visible"/>
                                      </p:to>
                                    </p:set>
                                    <p:animEffect transition="in" filter="wipe(right)">
                                      <p:cBhvr>
                                        <p:cTn id="7" dur="500"/>
                                        <p:tgtEl>
                                          <p:spTgt spid="34829"/>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4831"/>
                                        </p:tgtEl>
                                        <p:attrNameLst>
                                          <p:attrName>style.visibility</p:attrName>
                                        </p:attrNameLst>
                                      </p:cBhvr>
                                      <p:to>
                                        <p:strVal val="visible"/>
                                      </p:to>
                                    </p:set>
                                    <p:animEffect transition="in" filter="wipe(up)">
                                      <p:cBhvr>
                                        <p:cTn id="11" dur="500"/>
                                        <p:tgtEl>
                                          <p:spTgt spid="34831"/>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4827"/>
                                        </p:tgtEl>
                                        <p:attrNameLst>
                                          <p:attrName>style.visibility</p:attrName>
                                        </p:attrNameLst>
                                      </p:cBhvr>
                                      <p:to>
                                        <p:strVal val="visible"/>
                                      </p:to>
                                    </p:set>
                                    <p:animEffect transition="in" filter="wipe(left)">
                                      <p:cBhvr>
                                        <p:cTn id="15" dur="500"/>
                                        <p:tgtEl>
                                          <p:spTgt spid="34827"/>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4857"/>
                                        </p:tgtEl>
                                        <p:attrNameLst>
                                          <p:attrName>style.visibility</p:attrName>
                                        </p:attrNameLst>
                                      </p:cBhvr>
                                      <p:to>
                                        <p:strVal val="visible"/>
                                      </p:to>
                                    </p:set>
                                    <p:animEffect transition="in" filter="wipe(left)">
                                      <p:cBhvr>
                                        <p:cTn id="19" dur="500"/>
                                        <p:tgtEl>
                                          <p:spTgt spid="34857"/>
                                        </p:tgtEl>
                                      </p:cBhvr>
                                    </p:animEffect>
                                  </p:childTnLst>
                                </p:cTn>
                              </p:par>
                            </p:childTnLst>
                          </p:cTn>
                        </p:par>
                        <p:par>
                          <p:cTn id="20" fill="hold" nodeType="afterGroup">
                            <p:stCondLst>
                              <p:cond delay="2000"/>
                            </p:stCondLst>
                            <p:childTnLst>
                              <p:par>
                                <p:cTn id="21" presetID="22" presetClass="entr" presetSubtype="4" fill="hold" nodeType="afterEffect">
                                  <p:stCondLst>
                                    <p:cond delay="0"/>
                                  </p:stCondLst>
                                  <p:childTnLst>
                                    <p:set>
                                      <p:cBhvr>
                                        <p:cTn id="22" dur="1" fill="hold">
                                          <p:stCondLst>
                                            <p:cond delay="0"/>
                                          </p:stCondLst>
                                        </p:cTn>
                                        <p:tgtEl>
                                          <p:spTgt spid="34822"/>
                                        </p:tgtEl>
                                        <p:attrNameLst>
                                          <p:attrName>style.visibility</p:attrName>
                                        </p:attrNameLst>
                                      </p:cBhvr>
                                      <p:to>
                                        <p:strVal val="visible"/>
                                      </p:to>
                                    </p:set>
                                    <p:animEffect transition="in" filter="wipe(down)">
                                      <p:cBhvr>
                                        <p:cTn id="23" dur="500"/>
                                        <p:tgtEl>
                                          <p:spTgt spid="34822"/>
                                        </p:tgtEl>
                                      </p:cBhvr>
                                    </p:animEffect>
                                  </p:childTnLst>
                                </p:cTn>
                              </p:par>
                            </p:childTnLst>
                          </p:cTn>
                        </p:par>
                        <p:par>
                          <p:cTn id="24" fill="hold" nodeType="afterGroup">
                            <p:stCondLst>
                              <p:cond delay="2500"/>
                            </p:stCondLst>
                            <p:childTnLst>
                              <p:par>
                                <p:cTn id="25" presetID="22" presetClass="entr" presetSubtype="2" fill="hold" nodeType="afterEffect">
                                  <p:stCondLst>
                                    <p:cond delay="0"/>
                                  </p:stCondLst>
                                  <p:childTnLst>
                                    <p:set>
                                      <p:cBhvr>
                                        <p:cTn id="26" dur="1" fill="hold">
                                          <p:stCondLst>
                                            <p:cond delay="0"/>
                                          </p:stCondLst>
                                        </p:cTn>
                                        <p:tgtEl>
                                          <p:spTgt spid="34858"/>
                                        </p:tgtEl>
                                        <p:attrNameLst>
                                          <p:attrName>style.visibility</p:attrName>
                                        </p:attrNameLst>
                                      </p:cBhvr>
                                      <p:to>
                                        <p:strVal val="visible"/>
                                      </p:to>
                                    </p:set>
                                    <p:animEffect transition="in" filter="wipe(right)">
                                      <p:cBhvr>
                                        <p:cTn id="27" dur="500"/>
                                        <p:tgtEl>
                                          <p:spTgt spid="34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a:extLst>
              <a:ext uri="{FF2B5EF4-FFF2-40B4-BE49-F238E27FC236}">
                <a16:creationId xmlns:a16="http://schemas.microsoft.com/office/drawing/2014/main" id="{10D846A0-5AD1-C340-9366-1FC8EBDB9EBD}"/>
              </a:ext>
            </a:extLst>
          </p:cNvPr>
          <p:cNvSpPr>
            <a:spLocks noGrp="1" noChangeArrowheads="1"/>
          </p:cNvSpPr>
          <p:nvPr>
            <p:ph type="title"/>
          </p:nvPr>
        </p:nvSpPr>
        <p:spPr>
          <a:xfrm>
            <a:off x="1981200" y="488157"/>
            <a:ext cx="8229600" cy="1143000"/>
          </a:xfrm>
        </p:spPr>
        <p:txBody>
          <a:bodyPr/>
          <a:lstStyle/>
          <a:p>
            <a:pPr eaLnBrk="1" hangingPunct="1"/>
            <a:r>
              <a:rPr lang="en-US" altLang="en-US" dirty="0">
                <a:ea typeface="ＭＳ Ｐゴシック" panose="020B0600070205080204" pitchFamily="34" charset="-128"/>
              </a:rPr>
              <a:t>Theorem 2</a:t>
            </a:r>
          </a:p>
        </p:txBody>
      </p:sp>
      <mc:AlternateContent xmlns:mc="http://schemas.openxmlformats.org/markup-compatibility/2006">
        <mc:Choice xmlns:a14="http://schemas.microsoft.com/office/drawing/2010/main" Requires="a14">
          <p:sp>
            <p:nvSpPr>
              <p:cNvPr id="31749" name="Rectangle 3">
                <a:extLst>
                  <a:ext uri="{FF2B5EF4-FFF2-40B4-BE49-F238E27FC236}">
                    <a16:creationId xmlns:a16="http://schemas.microsoft.com/office/drawing/2014/main" id="{442E687E-FF7C-114E-BB65-0CD0C8C088C4}"/>
                  </a:ext>
                </a:extLst>
              </p:cNvPr>
              <p:cNvSpPr>
                <a:spLocks noGrp="1" noChangeArrowheads="1"/>
              </p:cNvSpPr>
              <p:nvPr>
                <p:ph type="body" idx="1"/>
              </p:nvPr>
            </p:nvSpPr>
            <p:spPr>
              <a:xfrm>
                <a:off x="2209800" y="1981200"/>
                <a:ext cx="4724400" cy="4114800"/>
              </a:xfrm>
            </p:spPr>
            <p:txBody>
              <a:bodyPr/>
              <a:lstStyle/>
              <a:p>
                <a:pPr eaLnBrk="1" hangingPunct="1"/>
                <a:r>
                  <a:rPr lang="en-US" altLang="en-US" dirty="0">
                    <a:ea typeface="ＭＳ Ｐゴシック" panose="020B0600070205080204" pitchFamily="34" charset="-128"/>
                  </a:rPr>
                  <a:t>Let </a:t>
                </a:r>
                <a:r>
                  <a:rPr lang="en-US" altLang="en-US" i="1" dirty="0">
                    <a:ea typeface="ＭＳ Ｐゴシック" panose="020B0600070205080204" pitchFamily="34" charset="-128"/>
                  </a:rPr>
                  <a:t>G</a:t>
                </a:r>
                <a:r>
                  <a:rPr lang="en-US" altLang="en-US" dirty="0">
                    <a:ea typeface="ＭＳ Ｐゴシック" panose="020B0600070205080204" pitchFamily="34" charset="-128"/>
                  </a:rPr>
                  <a:t> be a connected graph with </a:t>
                </a:r>
                <a:r>
                  <a:rPr lang="en-US" altLang="en-US" i="1" dirty="0">
                    <a:ea typeface="ＭＳ Ｐゴシック" panose="020B0600070205080204" pitchFamily="34" charset="-128"/>
                  </a:rPr>
                  <a:t>n</a:t>
                </a:r>
                <a:r>
                  <a:rPr lang="en-US" altLang="en-US" dirty="0">
                    <a:ea typeface="ＭＳ Ｐゴシック" panose="020B0600070205080204" pitchFamily="34" charset="-128"/>
                  </a:rPr>
                  <a:t> vertices, and let the vertices be indexed </a:t>
                </a:r>
                <a:r>
                  <a:rPr lang="en-US" altLang="en-US" i="1" dirty="0">
                    <a:ea typeface="ＭＳ Ｐゴシック" panose="020B0600070205080204" pitchFamily="34" charset="-128"/>
                  </a:rPr>
                  <a:t>x</a:t>
                </a:r>
                <a:r>
                  <a:rPr lang="en-US" altLang="en-US" i="1" baseline="-25000" dirty="0">
                    <a:ea typeface="ＭＳ Ｐゴシック" panose="020B0600070205080204" pitchFamily="34" charset="-128"/>
                  </a:rPr>
                  <a:t>1</a:t>
                </a:r>
                <a:r>
                  <a:rPr lang="en-US" altLang="en-US" dirty="0">
                    <a:ea typeface="ＭＳ Ｐゴシック" panose="020B0600070205080204" pitchFamily="34" charset="-128"/>
                  </a:rPr>
                  <a:t>,</a:t>
                </a:r>
                <a:r>
                  <a:rPr lang="en-US" altLang="en-US" i="1" dirty="0">
                    <a:ea typeface="ＭＳ Ｐゴシック" panose="020B0600070205080204" pitchFamily="34" charset="-128"/>
                  </a:rPr>
                  <a:t>x</a:t>
                </a:r>
                <a:r>
                  <a:rPr lang="en-US" altLang="en-US" i="1" baseline="-25000" dirty="0">
                    <a:ea typeface="ＭＳ Ｐゴシック" panose="020B0600070205080204" pitchFamily="34" charset="-128"/>
                  </a:rPr>
                  <a:t>2</a:t>
                </a:r>
                <a:r>
                  <a:rPr lang="en-US" altLang="en-US" dirty="0">
                    <a:ea typeface="ＭＳ Ｐゴシック" panose="020B0600070205080204" pitchFamily="34" charset="-128"/>
                  </a:rPr>
                  <a:t>,…,</a:t>
                </a:r>
                <a:r>
                  <a:rPr lang="en-US" altLang="en-US" i="1" dirty="0" err="1">
                    <a:ea typeface="ＭＳ Ｐゴシック" panose="020B0600070205080204" pitchFamily="34" charset="-128"/>
                  </a:rPr>
                  <a:t>x</a:t>
                </a:r>
                <a:r>
                  <a:rPr lang="en-US" altLang="en-US" i="1" baseline="-25000" dirty="0" err="1">
                    <a:ea typeface="ＭＳ Ｐゴシック" panose="020B0600070205080204" pitchFamily="34" charset="-128"/>
                  </a:rPr>
                  <a:t>n</a:t>
                </a:r>
                <a:r>
                  <a:rPr lang="en-US" altLang="en-US" i="1" dirty="0">
                    <a:ea typeface="ＭＳ Ｐゴシック" panose="020B0600070205080204" pitchFamily="34" charset="-128"/>
                  </a:rPr>
                  <a:t>,</a:t>
                </a:r>
                <a:r>
                  <a:rPr lang="en-US" altLang="en-US" dirty="0">
                    <a:ea typeface="ＭＳ Ｐゴシック" panose="020B0600070205080204" pitchFamily="34" charset="-128"/>
                  </a:rPr>
                  <a:t> so that </a:t>
                </a:r>
              </a:p>
              <a:p>
                <a:pPr marL="400050" lvl="1" indent="0">
                  <a:buNone/>
                </a:pPr>
                <a:r>
                  <a:rPr lang="en-US" altLang="en-US" dirty="0">
                    <a:ea typeface="ＭＳ Ｐゴシック" panose="020B0600070205080204" pitchFamily="34" charset="-128"/>
                  </a:rPr>
                  <a:t>deg(</a:t>
                </a:r>
                <a:r>
                  <a:rPr lang="en-US" altLang="en-US" i="1" dirty="0">
                    <a:ea typeface="ＭＳ Ｐゴシック" panose="020B0600070205080204" pitchFamily="34" charset="-128"/>
                  </a:rPr>
                  <a:t>x</a:t>
                </a:r>
                <a:r>
                  <a:rPr lang="en-US" altLang="en-US" i="1" baseline="-25000" dirty="0">
                    <a:ea typeface="ＭＳ Ｐゴシック" panose="020B0600070205080204" pitchFamily="34" charset="-128"/>
                  </a:rPr>
                  <a:t>i</a:t>
                </a:r>
                <a:r>
                  <a:rPr lang="en-US" altLang="en-US" dirty="0">
                    <a:ea typeface="ＭＳ Ｐゴシック" panose="020B0600070205080204" pitchFamily="34" charset="-128"/>
                  </a:rPr>
                  <a:t>) </a:t>
                </a:r>
                <a14:m>
                  <m:oMath xmlns:m="http://schemas.openxmlformats.org/officeDocument/2006/math">
                    <m:r>
                      <a:rPr lang="en-US" altLang="en-US" i="1">
                        <a:latin typeface="Cambria Math" panose="02040503050406030204" pitchFamily="18" charset="0"/>
                        <a:ea typeface="Cambria Math" panose="02040503050406030204" pitchFamily="18" charset="0"/>
                      </a:rPr>
                      <m:t>≤</m:t>
                    </m:r>
                  </m:oMath>
                </a14:m>
                <a:r>
                  <a:rPr lang="en-US" altLang="en-US" dirty="0">
                    <a:ea typeface="ＭＳ Ｐゴシック" panose="020B0600070205080204" pitchFamily="34" charset="-128"/>
                  </a:rPr>
                  <a:t> deg(</a:t>
                </a:r>
                <a:r>
                  <a:rPr lang="en-US" altLang="en-US" i="1" dirty="0">
                    <a:ea typeface="ＭＳ Ｐゴシック" panose="020B0600070205080204" pitchFamily="34" charset="-128"/>
                  </a:rPr>
                  <a:t>x</a:t>
                </a:r>
                <a:r>
                  <a:rPr lang="en-US" altLang="en-US" i="1" baseline="-25000" dirty="0">
                    <a:ea typeface="ＭＳ Ｐゴシック" panose="020B0600070205080204" pitchFamily="34" charset="-128"/>
                  </a:rPr>
                  <a:t>i+</a:t>
                </a:r>
                <a:r>
                  <a:rPr lang="en-US" altLang="en-US" baseline="-25000" dirty="0">
                    <a:ea typeface="ＭＳ Ｐゴシック" panose="020B0600070205080204" pitchFamily="34" charset="-128"/>
                  </a:rPr>
                  <a:t>1</a:t>
                </a:r>
                <a:r>
                  <a:rPr lang="en-US" altLang="en-US" dirty="0">
                    <a:ea typeface="ＭＳ Ｐゴシック" panose="020B0600070205080204" pitchFamily="34" charset="-128"/>
                  </a:rPr>
                  <a:t>).</a:t>
                </a:r>
              </a:p>
              <a:p>
                <a:pPr eaLnBrk="1" hangingPunct="1"/>
                <a:r>
                  <a:rPr lang="en-US" altLang="en-US" dirty="0">
                    <a:ea typeface="ＭＳ Ｐゴシック" panose="020B0600070205080204" pitchFamily="34" charset="-128"/>
                  </a:rPr>
                  <a:t>If for each </a:t>
                </a:r>
                <a:r>
                  <a:rPr lang="en-US" altLang="en-US" i="1" dirty="0">
                    <a:ea typeface="ＭＳ Ｐゴシック" panose="020B0600070205080204" pitchFamily="34" charset="-128"/>
                  </a:rPr>
                  <a:t>k </a:t>
                </a:r>
                <a14:m>
                  <m:oMath xmlns:m="http://schemas.openxmlformats.org/officeDocument/2006/math">
                    <m:r>
                      <a:rPr lang="en-US" altLang="en-US" i="1">
                        <a:latin typeface="Cambria Math" panose="02040503050406030204" pitchFamily="18" charset="0"/>
                        <a:ea typeface="Cambria Math" panose="02040503050406030204" pitchFamily="18" charset="0"/>
                      </a:rPr>
                      <m:t>≤</m:t>
                    </m:r>
                  </m:oMath>
                </a14:m>
                <a:r>
                  <a:rPr lang="en-US" altLang="en-US" i="1" dirty="0">
                    <a:ea typeface="ＭＳ Ｐゴシック" panose="020B0600070205080204" pitchFamily="34" charset="-128"/>
                  </a:rPr>
                  <a:t> n</a:t>
                </a:r>
                <a:r>
                  <a:rPr lang="en-US" altLang="en-US" dirty="0">
                    <a:ea typeface="ＭＳ Ｐゴシック" panose="020B0600070205080204" pitchFamily="34" charset="-128"/>
                  </a:rPr>
                  <a:t>/2, either deg(</a:t>
                </a:r>
                <a:r>
                  <a:rPr lang="en-US" altLang="en-US" i="1" dirty="0" err="1">
                    <a:ea typeface="ＭＳ Ｐゴシック" panose="020B0600070205080204" pitchFamily="34" charset="-128"/>
                  </a:rPr>
                  <a:t>x</a:t>
                </a:r>
                <a:r>
                  <a:rPr lang="en-US" altLang="en-US" i="1" baseline="-25000" dirty="0" err="1">
                    <a:ea typeface="ＭＳ Ｐゴシック" panose="020B0600070205080204" pitchFamily="34" charset="-128"/>
                  </a:rPr>
                  <a:t>k</a:t>
                </a:r>
                <a:r>
                  <a:rPr lang="en-US" altLang="en-US" dirty="0">
                    <a:ea typeface="ＭＳ Ｐゴシック" panose="020B0600070205080204" pitchFamily="34" charset="-128"/>
                  </a:rPr>
                  <a:t>) </a:t>
                </a:r>
                <a:r>
                  <a:rPr lang="en-US" altLang="en-US" b="1" dirty="0">
                    <a:ea typeface="ＭＳ Ｐゴシック" panose="020B0600070205080204" pitchFamily="34" charset="-128"/>
                  </a:rPr>
                  <a:t>&gt;</a:t>
                </a:r>
                <a:r>
                  <a:rPr lang="en-US" altLang="en-US" dirty="0">
                    <a:ea typeface="ＭＳ Ｐゴシック" panose="020B0600070205080204" pitchFamily="34" charset="-128"/>
                  </a:rPr>
                  <a:t> </a:t>
                </a:r>
                <a:r>
                  <a:rPr lang="en-US" altLang="en-US" i="1" dirty="0">
                    <a:ea typeface="ＭＳ Ｐゴシック" panose="020B0600070205080204" pitchFamily="34" charset="-128"/>
                  </a:rPr>
                  <a:t>k</a:t>
                </a:r>
                <a:r>
                  <a:rPr lang="en-US" altLang="en-US" dirty="0">
                    <a:ea typeface="ＭＳ Ｐゴシック" panose="020B0600070205080204" pitchFamily="34" charset="-128"/>
                  </a:rPr>
                  <a:t> or deg(</a:t>
                </a:r>
                <a:r>
                  <a:rPr lang="en-US" altLang="en-US" i="1" dirty="0" err="1">
                    <a:ea typeface="ＭＳ Ｐゴシック" panose="020B0600070205080204" pitchFamily="34" charset="-128"/>
                  </a:rPr>
                  <a:t>x</a:t>
                </a:r>
                <a:r>
                  <a:rPr lang="en-US" altLang="en-US" i="1" baseline="-25000" dirty="0" err="1">
                    <a:ea typeface="ＭＳ Ｐゴシック" panose="020B0600070205080204" pitchFamily="34" charset="-128"/>
                  </a:rPr>
                  <a:t>n</a:t>
                </a:r>
                <a:r>
                  <a:rPr lang="en-US" altLang="en-US" baseline="-25000" dirty="0">
                    <a:ea typeface="ＭＳ Ｐゴシック" panose="020B0600070205080204" pitchFamily="34" charset="-128"/>
                  </a:rPr>
                  <a:t>-</a:t>
                </a:r>
                <a:r>
                  <a:rPr lang="en-US" altLang="en-US" i="1" baseline="-25000" dirty="0">
                    <a:ea typeface="ＭＳ Ｐゴシック" panose="020B0600070205080204" pitchFamily="34" charset="-128"/>
                  </a:rPr>
                  <a:t>k</a:t>
                </a:r>
                <a:r>
                  <a:rPr lang="en-US" altLang="en-US" dirty="0">
                    <a:ea typeface="ＭＳ Ｐゴシック" panose="020B0600070205080204" pitchFamily="34" charset="-128"/>
                  </a:rPr>
                  <a:t>) </a:t>
                </a:r>
                <a14:m>
                  <m:oMath xmlns:m="http://schemas.openxmlformats.org/officeDocument/2006/math">
                    <m:r>
                      <a:rPr lang="en-US" altLang="en-US" i="1">
                        <a:latin typeface="Cambria Math" panose="02040503050406030204" pitchFamily="18" charset="0"/>
                        <a:ea typeface="Cambria Math" panose="02040503050406030204" pitchFamily="18" charset="0"/>
                      </a:rPr>
                      <m:t>≥</m:t>
                    </m:r>
                  </m:oMath>
                </a14:m>
                <a:r>
                  <a:rPr lang="en-US" altLang="en-US" i="1" dirty="0">
                    <a:ea typeface="ＭＳ Ｐゴシック" panose="020B0600070205080204" pitchFamily="34" charset="-128"/>
                  </a:rPr>
                  <a:t> n</a:t>
                </a:r>
                <a:r>
                  <a:rPr lang="en-US" altLang="en-US" dirty="0">
                    <a:ea typeface="ＭＳ Ｐゴシック" panose="020B0600070205080204" pitchFamily="34" charset="-128"/>
                  </a:rPr>
                  <a:t>-</a:t>
                </a:r>
                <a:r>
                  <a:rPr lang="en-US" altLang="en-US" i="1" dirty="0">
                    <a:ea typeface="ＭＳ Ｐゴシック" panose="020B0600070205080204" pitchFamily="34" charset="-128"/>
                  </a:rPr>
                  <a:t>k</a:t>
                </a:r>
                <a:r>
                  <a:rPr lang="en-US" altLang="en-US" dirty="0">
                    <a:ea typeface="ＭＳ Ｐゴシック" panose="020B0600070205080204" pitchFamily="34" charset="-128"/>
                  </a:rPr>
                  <a:t>, then </a:t>
                </a:r>
                <a:r>
                  <a:rPr lang="en-US" altLang="en-US" i="1" dirty="0">
                    <a:ea typeface="ＭＳ Ｐゴシック" panose="020B0600070205080204" pitchFamily="34" charset="-128"/>
                  </a:rPr>
                  <a:t>G</a:t>
                </a:r>
                <a:r>
                  <a:rPr lang="en-US" altLang="en-US" dirty="0">
                    <a:ea typeface="ＭＳ Ｐゴシック" panose="020B0600070205080204" pitchFamily="34" charset="-128"/>
                  </a:rPr>
                  <a:t> has a Hamilton Circuit.</a:t>
                </a:r>
              </a:p>
            </p:txBody>
          </p:sp>
        </mc:Choice>
        <mc:Fallback>
          <p:sp>
            <p:nvSpPr>
              <p:cNvPr id="31749" name="Rectangle 3">
                <a:extLst>
                  <a:ext uri="{FF2B5EF4-FFF2-40B4-BE49-F238E27FC236}">
                    <a16:creationId xmlns:a16="http://schemas.microsoft.com/office/drawing/2014/main" id="{442E687E-FF7C-114E-BB65-0CD0C8C088C4}"/>
                  </a:ext>
                </a:extLst>
              </p:cNvPr>
              <p:cNvSpPr>
                <a:spLocks noGrp="1" noRot="1" noChangeAspect="1" noMove="1" noResize="1" noEditPoints="1" noAdjustHandles="1" noChangeArrowheads="1" noChangeShapeType="1" noTextEdit="1"/>
              </p:cNvSpPr>
              <p:nvPr>
                <p:ph type="body" idx="1"/>
              </p:nvPr>
            </p:nvSpPr>
            <p:spPr>
              <a:xfrm>
                <a:off x="2209800" y="1981200"/>
                <a:ext cx="4724400" cy="4114800"/>
              </a:xfrm>
              <a:blipFill>
                <a:blip r:embed="rId2"/>
                <a:stretch>
                  <a:fillRect l="-2323" t="-2667" r="-3355"/>
                </a:stretch>
              </a:blipFill>
            </p:spPr>
            <p:txBody>
              <a:bodyPr/>
              <a:lstStyle/>
              <a:p>
                <a:r>
                  <a:rPr lang="zh-CN" altLang="en-US">
                    <a:noFill/>
                  </a:rPr>
                  <a:t> </a:t>
                </a:r>
              </a:p>
            </p:txBody>
          </p:sp>
        </mc:Fallback>
      </mc:AlternateContent>
      <p:sp>
        <p:nvSpPr>
          <p:cNvPr id="11311" name="Text Box 47">
            <a:extLst>
              <a:ext uri="{FF2B5EF4-FFF2-40B4-BE49-F238E27FC236}">
                <a16:creationId xmlns:a16="http://schemas.microsoft.com/office/drawing/2014/main" id="{6307EAD1-8A04-BB45-B7C7-DF4DCBDAA160}"/>
              </a:ext>
            </a:extLst>
          </p:cNvPr>
          <p:cNvSpPr txBox="1">
            <a:spLocks noChangeArrowheads="1"/>
          </p:cNvSpPr>
          <p:nvPr/>
        </p:nvSpPr>
        <p:spPr bwMode="auto">
          <a:xfrm>
            <a:off x="7162800" y="4724401"/>
            <a:ext cx="2895600" cy="128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i="1" dirty="0">
                <a:latin typeface="Times New Roman" panose="02020603050405020304" pitchFamily="18" charset="0"/>
              </a:rPr>
              <a:t>n</a:t>
            </a:r>
            <a:r>
              <a:rPr lang="en-US" altLang="en-US" sz="2000" dirty="0">
                <a:latin typeface="Times New Roman" panose="02020603050405020304" pitchFamily="18" charset="0"/>
              </a:rPr>
              <a:t>/2 = 3                              </a:t>
            </a:r>
            <a:r>
              <a:rPr lang="en-US" altLang="en-US" sz="2000" i="1" dirty="0">
                <a:latin typeface="Times New Roman" panose="02020603050405020304" pitchFamily="18" charset="0"/>
              </a:rPr>
              <a:t>k</a:t>
            </a:r>
            <a:r>
              <a:rPr lang="en-US" altLang="en-US" sz="2000" dirty="0">
                <a:latin typeface="Times New Roman" panose="02020603050405020304" pitchFamily="18" charset="0"/>
              </a:rPr>
              <a:t> = 3,2,or 1               Possible Hamilton Circuit: </a:t>
            </a:r>
            <a:r>
              <a:rPr lang="en-US" altLang="en-US" sz="1800" dirty="0"/>
              <a:t>X</a:t>
            </a:r>
            <a:r>
              <a:rPr lang="en-US" altLang="en-US" sz="1800" baseline="-25000" dirty="0"/>
              <a:t>1</a:t>
            </a:r>
            <a:r>
              <a:rPr lang="en-US" altLang="en-US" sz="1800" dirty="0"/>
              <a:t>-X</a:t>
            </a:r>
            <a:r>
              <a:rPr lang="en-US" altLang="en-US" sz="1800" baseline="-25000" dirty="0"/>
              <a:t>5</a:t>
            </a:r>
            <a:r>
              <a:rPr lang="en-US" altLang="en-US" sz="1800" dirty="0"/>
              <a:t>-X</a:t>
            </a:r>
            <a:r>
              <a:rPr lang="en-US" altLang="en-US" sz="1800" baseline="-25000" dirty="0"/>
              <a:t>3</a:t>
            </a:r>
            <a:r>
              <a:rPr lang="en-US" altLang="en-US" sz="1800" dirty="0"/>
              <a:t>-X</a:t>
            </a:r>
            <a:r>
              <a:rPr lang="en-US" altLang="en-US" sz="1800" baseline="-25000" dirty="0"/>
              <a:t>4</a:t>
            </a:r>
            <a:r>
              <a:rPr lang="en-US" altLang="en-US" sz="1800" dirty="0"/>
              <a:t>-X</a:t>
            </a:r>
            <a:r>
              <a:rPr lang="en-US" altLang="en-US" sz="1800" baseline="-25000" dirty="0"/>
              <a:t>2</a:t>
            </a:r>
            <a:r>
              <a:rPr lang="en-US" altLang="en-US" sz="1800" dirty="0"/>
              <a:t>-X</a:t>
            </a:r>
            <a:r>
              <a:rPr lang="en-US" altLang="en-US" sz="1800" baseline="-25000" dirty="0"/>
              <a:t>6</a:t>
            </a:r>
            <a:r>
              <a:rPr lang="en-US" altLang="en-US" sz="1800" dirty="0"/>
              <a:t>-X</a:t>
            </a:r>
            <a:r>
              <a:rPr lang="en-US" altLang="en-US" sz="1800" baseline="-25000" dirty="0"/>
              <a:t>1</a:t>
            </a:r>
            <a:endParaRPr lang="en-US" altLang="en-US" sz="1800" dirty="0"/>
          </a:p>
        </p:txBody>
      </p:sp>
      <p:sp>
        <p:nvSpPr>
          <p:cNvPr id="31754" name="Line 49">
            <a:extLst>
              <a:ext uri="{FF2B5EF4-FFF2-40B4-BE49-F238E27FC236}">
                <a16:creationId xmlns:a16="http://schemas.microsoft.com/office/drawing/2014/main" id="{7FBACFD0-5CF6-8041-AF4B-080EC7EB7D1E}"/>
              </a:ext>
            </a:extLst>
          </p:cNvPr>
          <p:cNvSpPr>
            <a:spLocks noChangeShapeType="1"/>
          </p:cNvSpPr>
          <p:nvPr/>
        </p:nvSpPr>
        <p:spPr bwMode="auto">
          <a:xfrm>
            <a:off x="6934200" y="2743200"/>
            <a:ext cx="1371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5" name="Line 50">
            <a:extLst>
              <a:ext uri="{FF2B5EF4-FFF2-40B4-BE49-F238E27FC236}">
                <a16:creationId xmlns:a16="http://schemas.microsoft.com/office/drawing/2014/main" id="{BD360406-EB94-1142-BA0A-18B5E1B5E159}"/>
              </a:ext>
            </a:extLst>
          </p:cNvPr>
          <p:cNvSpPr>
            <a:spLocks noChangeShapeType="1"/>
          </p:cNvSpPr>
          <p:nvPr/>
        </p:nvSpPr>
        <p:spPr bwMode="auto">
          <a:xfrm>
            <a:off x="8534400" y="2209800"/>
            <a:ext cx="1219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6" name="Line 52">
            <a:extLst>
              <a:ext uri="{FF2B5EF4-FFF2-40B4-BE49-F238E27FC236}">
                <a16:creationId xmlns:a16="http://schemas.microsoft.com/office/drawing/2014/main" id="{1466DD6E-53BB-A54E-8A43-CED9635C46A1}"/>
              </a:ext>
            </a:extLst>
          </p:cNvPr>
          <p:cNvSpPr>
            <a:spLocks noChangeShapeType="1"/>
          </p:cNvSpPr>
          <p:nvPr/>
        </p:nvSpPr>
        <p:spPr bwMode="auto">
          <a:xfrm>
            <a:off x="9829800" y="28194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17" name="Line 53">
            <a:extLst>
              <a:ext uri="{FF2B5EF4-FFF2-40B4-BE49-F238E27FC236}">
                <a16:creationId xmlns:a16="http://schemas.microsoft.com/office/drawing/2014/main" id="{EC6680F1-8A37-C24A-9A5A-BDB17F713036}"/>
              </a:ext>
            </a:extLst>
          </p:cNvPr>
          <p:cNvSpPr>
            <a:spLocks noChangeShapeType="1"/>
          </p:cNvSpPr>
          <p:nvPr/>
        </p:nvSpPr>
        <p:spPr bwMode="auto">
          <a:xfrm>
            <a:off x="9829800" y="2819400"/>
            <a:ext cx="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8" name="Line 54">
            <a:extLst>
              <a:ext uri="{FF2B5EF4-FFF2-40B4-BE49-F238E27FC236}">
                <a16:creationId xmlns:a16="http://schemas.microsoft.com/office/drawing/2014/main" id="{21B2EF62-2CBB-3A46-AFD6-0E6A94E4D27D}"/>
              </a:ext>
            </a:extLst>
          </p:cNvPr>
          <p:cNvSpPr>
            <a:spLocks noChangeShapeType="1"/>
          </p:cNvSpPr>
          <p:nvPr/>
        </p:nvSpPr>
        <p:spPr bwMode="auto">
          <a:xfrm>
            <a:off x="8382000" y="3962400"/>
            <a:ext cx="13716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19" name="Line 55">
            <a:extLst>
              <a:ext uri="{FF2B5EF4-FFF2-40B4-BE49-F238E27FC236}">
                <a16:creationId xmlns:a16="http://schemas.microsoft.com/office/drawing/2014/main" id="{93D2FAD3-10F0-864F-89E2-B90D46EA1E02}"/>
              </a:ext>
            </a:extLst>
          </p:cNvPr>
          <p:cNvSpPr>
            <a:spLocks noChangeShapeType="1"/>
          </p:cNvSpPr>
          <p:nvPr/>
        </p:nvSpPr>
        <p:spPr bwMode="auto">
          <a:xfrm>
            <a:off x="8382000" y="3962400"/>
            <a:ext cx="1371600" cy="381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0" name="Line 56">
            <a:extLst>
              <a:ext uri="{FF2B5EF4-FFF2-40B4-BE49-F238E27FC236}">
                <a16:creationId xmlns:a16="http://schemas.microsoft.com/office/drawing/2014/main" id="{2C941F05-9E6F-E443-82F8-222542A18CF5}"/>
              </a:ext>
            </a:extLst>
          </p:cNvPr>
          <p:cNvSpPr>
            <a:spLocks noChangeShapeType="1"/>
          </p:cNvSpPr>
          <p:nvPr/>
        </p:nvSpPr>
        <p:spPr bwMode="auto">
          <a:xfrm flipV="1">
            <a:off x="7010400" y="3962400"/>
            <a:ext cx="12954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1" name="Line 58">
            <a:extLst>
              <a:ext uri="{FF2B5EF4-FFF2-40B4-BE49-F238E27FC236}">
                <a16:creationId xmlns:a16="http://schemas.microsoft.com/office/drawing/2014/main" id="{89FC5CFF-4537-7C49-9AC0-92FAA7E83736}"/>
              </a:ext>
            </a:extLst>
          </p:cNvPr>
          <p:cNvSpPr>
            <a:spLocks noChangeShapeType="1"/>
          </p:cNvSpPr>
          <p:nvPr/>
        </p:nvSpPr>
        <p:spPr bwMode="auto">
          <a:xfrm>
            <a:off x="6934200" y="2819400"/>
            <a:ext cx="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23" name="Line 59">
            <a:extLst>
              <a:ext uri="{FF2B5EF4-FFF2-40B4-BE49-F238E27FC236}">
                <a16:creationId xmlns:a16="http://schemas.microsoft.com/office/drawing/2014/main" id="{0604EA24-061D-0746-92D8-DFAA3123534B}"/>
              </a:ext>
            </a:extLst>
          </p:cNvPr>
          <p:cNvSpPr>
            <a:spLocks noChangeShapeType="1"/>
          </p:cNvSpPr>
          <p:nvPr/>
        </p:nvSpPr>
        <p:spPr bwMode="auto">
          <a:xfrm>
            <a:off x="6934200" y="2819400"/>
            <a:ext cx="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3" name="Line 60">
            <a:extLst>
              <a:ext uri="{FF2B5EF4-FFF2-40B4-BE49-F238E27FC236}">
                <a16:creationId xmlns:a16="http://schemas.microsoft.com/office/drawing/2014/main" id="{DFFE675E-54C1-F24D-8D30-0EED5CEE639F}"/>
              </a:ext>
            </a:extLst>
          </p:cNvPr>
          <p:cNvSpPr>
            <a:spLocks noChangeShapeType="1"/>
          </p:cNvSpPr>
          <p:nvPr/>
        </p:nvSpPr>
        <p:spPr bwMode="auto">
          <a:xfrm flipV="1">
            <a:off x="7010400" y="2209800"/>
            <a:ext cx="1447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25" name="Line 61">
            <a:extLst>
              <a:ext uri="{FF2B5EF4-FFF2-40B4-BE49-F238E27FC236}">
                <a16:creationId xmlns:a16="http://schemas.microsoft.com/office/drawing/2014/main" id="{494ADA40-736E-CC46-BC8F-DB5685D5BD3A}"/>
              </a:ext>
            </a:extLst>
          </p:cNvPr>
          <p:cNvSpPr>
            <a:spLocks noChangeShapeType="1"/>
          </p:cNvSpPr>
          <p:nvPr/>
        </p:nvSpPr>
        <p:spPr bwMode="auto">
          <a:xfrm flipV="1">
            <a:off x="7010400" y="2209800"/>
            <a:ext cx="1447800" cy="533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5" name="Line 62">
            <a:extLst>
              <a:ext uri="{FF2B5EF4-FFF2-40B4-BE49-F238E27FC236}">
                <a16:creationId xmlns:a16="http://schemas.microsoft.com/office/drawing/2014/main" id="{42B59722-42D2-8942-9200-A9CBCBCB0F52}"/>
              </a:ext>
            </a:extLst>
          </p:cNvPr>
          <p:cNvSpPr>
            <a:spLocks noChangeShapeType="1"/>
          </p:cNvSpPr>
          <p:nvPr/>
        </p:nvSpPr>
        <p:spPr bwMode="auto">
          <a:xfrm flipV="1">
            <a:off x="8382000" y="2819400"/>
            <a:ext cx="13716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6" name="Text Box 63">
            <a:extLst>
              <a:ext uri="{FF2B5EF4-FFF2-40B4-BE49-F238E27FC236}">
                <a16:creationId xmlns:a16="http://schemas.microsoft.com/office/drawing/2014/main" id="{91462190-04FD-0741-B7D1-7AF335AC2071}"/>
              </a:ext>
            </a:extLst>
          </p:cNvPr>
          <p:cNvSpPr txBox="1">
            <a:spLocks noChangeArrowheads="1"/>
          </p:cNvSpPr>
          <p:nvPr/>
        </p:nvSpPr>
        <p:spPr bwMode="auto">
          <a:xfrm>
            <a:off x="9829800" y="2362201"/>
            <a:ext cx="4206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X</a:t>
            </a:r>
            <a:r>
              <a:rPr lang="en-US" altLang="en-US" sz="1800" baseline="-25000"/>
              <a:t>5</a:t>
            </a:r>
            <a:endParaRPr lang="en-US" altLang="en-US" sz="1800"/>
          </a:p>
        </p:txBody>
      </p:sp>
      <p:sp>
        <p:nvSpPr>
          <p:cNvPr id="31767" name="Text Box 64">
            <a:extLst>
              <a:ext uri="{FF2B5EF4-FFF2-40B4-BE49-F238E27FC236}">
                <a16:creationId xmlns:a16="http://schemas.microsoft.com/office/drawing/2014/main" id="{BE7C9FA8-DB57-1440-B3EB-C11380B8585D}"/>
              </a:ext>
            </a:extLst>
          </p:cNvPr>
          <p:cNvSpPr txBox="1">
            <a:spLocks noChangeArrowheads="1"/>
          </p:cNvSpPr>
          <p:nvPr/>
        </p:nvSpPr>
        <p:spPr bwMode="auto">
          <a:xfrm>
            <a:off x="9906000" y="4191001"/>
            <a:ext cx="4206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X</a:t>
            </a:r>
            <a:r>
              <a:rPr lang="en-US" altLang="en-US" sz="1800" baseline="-25000"/>
              <a:t>1</a:t>
            </a:r>
            <a:endParaRPr lang="en-US" altLang="en-US" sz="1800"/>
          </a:p>
        </p:txBody>
      </p:sp>
      <p:sp>
        <p:nvSpPr>
          <p:cNvPr id="31768" name="Text Box 65">
            <a:extLst>
              <a:ext uri="{FF2B5EF4-FFF2-40B4-BE49-F238E27FC236}">
                <a16:creationId xmlns:a16="http://schemas.microsoft.com/office/drawing/2014/main" id="{434F1347-FB27-3D4A-B7EF-C7BFF00BA56A}"/>
              </a:ext>
            </a:extLst>
          </p:cNvPr>
          <p:cNvSpPr txBox="1">
            <a:spLocks noChangeArrowheads="1"/>
          </p:cNvSpPr>
          <p:nvPr/>
        </p:nvSpPr>
        <p:spPr bwMode="auto">
          <a:xfrm>
            <a:off x="8153400" y="4038601"/>
            <a:ext cx="4206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X</a:t>
            </a:r>
            <a:r>
              <a:rPr lang="en-US" altLang="en-US" sz="1800" baseline="-25000"/>
              <a:t>6</a:t>
            </a:r>
            <a:endParaRPr lang="en-US" altLang="en-US" sz="1800"/>
          </a:p>
        </p:txBody>
      </p:sp>
      <p:sp>
        <p:nvSpPr>
          <p:cNvPr id="31769" name="Text Box 66">
            <a:extLst>
              <a:ext uri="{FF2B5EF4-FFF2-40B4-BE49-F238E27FC236}">
                <a16:creationId xmlns:a16="http://schemas.microsoft.com/office/drawing/2014/main" id="{10BC5EB0-A457-9A46-B8D3-7055A7EA702B}"/>
              </a:ext>
            </a:extLst>
          </p:cNvPr>
          <p:cNvSpPr txBox="1">
            <a:spLocks noChangeArrowheads="1"/>
          </p:cNvSpPr>
          <p:nvPr/>
        </p:nvSpPr>
        <p:spPr bwMode="auto">
          <a:xfrm>
            <a:off x="6797675" y="4459288"/>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X</a:t>
            </a:r>
            <a:r>
              <a:rPr lang="en-US" altLang="en-US" sz="1800" baseline="-25000"/>
              <a:t>3</a:t>
            </a:r>
            <a:endParaRPr lang="en-US" altLang="en-US" sz="1800"/>
          </a:p>
        </p:txBody>
      </p:sp>
      <p:sp>
        <p:nvSpPr>
          <p:cNvPr id="31770" name="Text Box 67">
            <a:extLst>
              <a:ext uri="{FF2B5EF4-FFF2-40B4-BE49-F238E27FC236}">
                <a16:creationId xmlns:a16="http://schemas.microsoft.com/office/drawing/2014/main" id="{DC8333F4-E7D4-3F45-8B32-C6C9B747B27F}"/>
              </a:ext>
            </a:extLst>
          </p:cNvPr>
          <p:cNvSpPr txBox="1">
            <a:spLocks noChangeArrowheads="1"/>
          </p:cNvSpPr>
          <p:nvPr/>
        </p:nvSpPr>
        <p:spPr bwMode="auto">
          <a:xfrm>
            <a:off x="6781800" y="2209801"/>
            <a:ext cx="4206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X</a:t>
            </a:r>
            <a:r>
              <a:rPr lang="en-US" altLang="en-US" sz="1800" baseline="-25000"/>
              <a:t>4</a:t>
            </a:r>
            <a:endParaRPr lang="en-US" altLang="en-US" sz="1800"/>
          </a:p>
        </p:txBody>
      </p:sp>
      <p:sp>
        <p:nvSpPr>
          <p:cNvPr id="31771" name="Oval 68">
            <a:extLst>
              <a:ext uri="{FF2B5EF4-FFF2-40B4-BE49-F238E27FC236}">
                <a16:creationId xmlns:a16="http://schemas.microsoft.com/office/drawing/2014/main" id="{984B6C79-3971-1F42-A7BC-02E1DB7D35E5}"/>
              </a:ext>
            </a:extLst>
          </p:cNvPr>
          <p:cNvSpPr>
            <a:spLocks noChangeArrowheads="1"/>
          </p:cNvSpPr>
          <p:nvPr/>
        </p:nvSpPr>
        <p:spPr bwMode="auto">
          <a:xfrm>
            <a:off x="6934200" y="43434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1772" name="Oval 69">
            <a:extLst>
              <a:ext uri="{FF2B5EF4-FFF2-40B4-BE49-F238E27FC236}">
                <a16:creationId xmlns:a16="http://schemas.microsoft.com/office/drawing/2014/main" id="{97353F24-B953-494A-8F53-BF99C28DD4B5}"/>
              </a:ext>
            </a:extLst>
          </p:cNvPr>
          <p:cNvSpPr>
            <a:spLocks noChangeArrowheads="1"/>
          </p:cNvSpPr>
          <p:nvPr/>
        </p:nvSpPr>
        <p:spPr bwMode="auto">
          <a:xfrm>
            <a:off x="9753600" y="27432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1773" name="Oval 70">
            <a:extLst>
              <a:ext uri="{FF2B5EF4-FFF2-40B4-BE49-F238E27FC236}">
                <a16:creationId xmlns:a16="http://schemas.microsoft.com/office/drawing/2014/main" id="{33C63652-870B-164B-B6D5-8D0543569289}"/>
              </a:ext>
            </a:extLst>
          </p:cNvPr>
          <p:cNvSpPr>
            <a:spLocks noChangeArrowheads="1"/>
          </p:cNvSpPr>
          <p:nvPr/>
        </p:nvSpPr>
        <p:spPr bwMode="auto">
          <a:xfrm>
            <a:off x="9753600" y="43434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1774" name="Oval 71">
            <a:extLst>
              <a:ext uri="{FF2B5EF4-FFF2-40B4-BE49-F238E27FC236}">
                <a16:creationId xmlns:a16="http://schemas.microsoft.com/office/drawing/2014/main" id="{5BE3E77E-6BF6-284D-A70E-B90E730B5A22}"/>
              </a:ext>
            </a:extLst>
          </p:cNvPr>
          <p:cNvSpPr>
            <a:spLocks noChangeArrowheads="1"/>
          </p:cNvSpPr>
          <p:nvPr/>
        </p:nvSpPr>
        <p:spPr bwMode="auto">
          <a:xfrm>
            <a:off x="8458200" y="21336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1775" name="Oval 72">
            <a:extLst>
              <a:ext uri="{FF2B5EF4-FFF2-40B4-BE49-F238E27FC236}">
                <a16:creationId xmlns:a16="http://schemas.microsoft.com/office/drawing/2014/main" id="{02CCE3DC-31DD-164D-9ED6-2CB152362B93}"/>
              </a:ext>
            </a:extLst>
          </p:cNvPr>
          <p:cNvSpPr>
            <a:spLocks noChangeArrowheads="1"/>
          </p:cNvSpPr>
          <p:nvPr/>
        </p:nvSpPr>
        <p:spPr bwMode="auto">
          <a:xfrm>
            <a:off x="8305800" y="3886200"/>
            <a:ext cx="76200" cy="762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1776" name="Oval 73">
            <a:extLst>
              <a:ext uri="{FF2B5EF4-FFF2-40B4-BE49-F238E27FC236}">
                <a16:creationId xmlns:a16="http://schemas.microsoft.com/office/drawing/2014/main" id="{836F7BCA-A38D-684F-BD6D-FDC4E4DDA9FF}"/>
              </a:ext>
            </a:extLst>
          </p:cNvPr>
          <p:cNvSpPr>
            <a:spLocks noChangeArrowheads="1"/>
          </p:cNvSpPr>
          <p:nvPr/>
        </p:nvSpPr>
        <p:spPr bwMode="auto">
          <a:xfrm>
            <a:off x="6858000" y="26670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1777" name="Oval 74">
            <a:extLst>
              <a:ext uri="{FF2B5EF4-FFF2-40B4-BE49-F238E27FC236}">
                <a16:creationId xmlns:a16="http://schemas.microsoft.com/office/drawing/2014/main" id="{2742A58A-6016-A34F-964A-7336476911F5}"/>
              </a:ext>
            </a:extLst>
          </p:cNvPr>
          <p:cNvSpPr>
            <a:spLocks noChangeArrowheads="1"/>
          </p:cNvSpPr>
          <p:nvPr/>
        </p:nvSpPr>
        <p:spPr bwMode="auto">
          <a:xfrm>
            <a:off x="8229600" y="38100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1778" name="Oval 75">
            <a:extLst>
              <a:ext uri="{FF2B5EF4-FFF2-40B4-BE49-F238E27FC236}">
                <a16:creationId xmlns:a16="http://schemas.microsoft.com/office/drawing/2014/main" id="{01F8A5CC-1B01-DD44-8963-87002BDB343A}"/>
              </a:ext>
            </a:extLst>
          </p:cNvPr>
          <p:cNvSpPr>
            <a:spLocks noChangeArrowheads="1"/>
          </p:cNvSpPr>
          <p:nvPr/>
        </p:nvSpPr>
        <p:spPr bwMode="auto">
          <a:xfrm>
            <a:off x="6858000" y="4267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1779" name="Oval 76">
            <a:extLst>
              <a:ext uri="{FF2B5EF4-FFF2-40B4-BE49-F238E27FC236}">
                <a16:creationId xmlns:a16="http://schemas.microsoft.com/office/drawing/2014/main" id="{92FA927D-A085-014C-ACC6-15634FD28D7E}"/>
              </a:ext>
            </a:extLst>
          </p:cNvPr>
          <p:cNvSpPr>
            <a:spLocks noChangeArrowheads="1"/>
          </p:cNvSpPr>
          <p:nvPr/>
        </p:nvSpPr>
        <p:spPr bwMode="auto">
          <a:xfrm>
            <a:off x="9677400" y="42672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1780" name="Oval 77">
            <a:extLst>
              <a:ext uri="{FF2B5EF4-FFF2-40B4-BE49-F238E27FC236}">
                <a16:creationId xmlns:a16="http://schemas.microsoft.com/office/drawing/2014/main" id="{EE791EEB-E0AC-4147-B022-4CF7F0A07EFC}"/>
              </a:ext>
            </a:extLst>
          </p:cNvPr>
          <p:cNvSpPr>
            <a:spLocks noChangeArrowheads="1"/>
          </p:cNvSpPr>
          <p:nvPr/>
        </p:nvSpPr>
        <p:spPr bwMode="auto">
          <a:xfrm>
            <a:off x="9677400" y="26670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1781" name="Oval 78">
            <a:extLst>
              <a:ext uri="{FF2B5EF4-FFF2-40B4-BE49-F238E27FC236}">
                <a16:creationId xmlns:a16="http://schemas.microsoft.com/office/drawing/2014/main" id="{E1512CDD-BF23-8946-9E9A-6A31D4DB25A7}"/>
              </a:ext>
            </a:extLst>
          </p:cNvPr>
          <p:cNvSpPr>
            <a:spLocks noChangeArrowheads="1"/>
          </p:cNvSpPr>
          <p:nvPr/>
        </p:nvSpPr>
        <p:spPr bwMode="auto">
          <a:xfrm>
            <a:off x="8382000" y="20574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1782" name="Text Box 79">
            <a:extLst>
              <a:ext uri="{FF2B5EF4-FFF2-40B4-BE49-F238E27FC236}">
                <a16:creationId xmlns:a16="http://schemas.microsoft.com/office/drawing/2014/main" id="{D2B7D418-6E71-7A47-85B9-8F6027768E31}"/>
              </a:ext>
            </a:extLst>
          </p:cNvPr>
          <p:cNvSpPr txBox="1">
            <a:spLocks noChangeArrowheads="1"/>
          </p:cNvSpPr>
          <p:nvPr/>
        </p:nvSpPr>
        <p:spPr bwMode="auto">
          <a:xfrm>
            <a:off x="8213725" y="1636713"/>
            <a:ext cx="4206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X</a:t>
            </a:r>
            <a:r>
              <a:rPr lang="en-US" altLang="en-US" sz="1800" baseline="-25000"/>
              <a:t>2</a:t>
            </a:r>
            <a:endParaRPr lang="en-US" altLang="en-US" sz="1800"/>
          </a:p>
        </p:txBody>
      </p:sp>
      <p:sp>
        <p:nvSpPr>
          <p:cNvPr id="31783" name="Line 80">
            <a:extLst>
              <a:ext uri="{FF2B5EF4-FFF2-40B4-BE49-F238E27FC236}">
                <a16:creationId xmlns:a16="http://schemas.microsoft.com/office/drawing/2014/main" id="{BFD91DDE-B79D-3543-9D77-BCF21F594D16}"/>
              </a:ext>
            </a:extLst>
          </p:cNvPr>
          <p:cNvSpPr>
            <a:spLocks noChangeShapeType="1"/>
          </p:cNvSpPr>
          <p:nvPr/>
        </p:nvSpPr>
        <p:spPr bwMode="auto">
          <a:xfrm flipV="1">
            <a:off x="7010400" y="2819400"/>
            <a:ext cx="2667000" cy="1447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45" name="Line 81">
            <a:extLst>
              <a:ext uri="{FF2B5EF4-FFF2-40B4-BE49-F238E27FC236}">
                <a16:creationId xmlns:a16="http://schemas.microsoft.com/office/drawing/2014/main" id="{C5D5BFC7-4ED2-A645-A13A-FA00A126FE9B}"/>
              </a:ext>
            </a:extLst>
          </p:cNvPr>
          <p:cNvSpPr>
            <a:spLocks noChangeShapeType="1"/>
          </p:cNvSpPr>
          <p:nvPr/>
        </p:nvSpPr>
        <p:spPr bwMode="auto">
          <a:xfrm flipV="1">
            <a:off x="7010400" y="2819400"/>
            <a:ext cx="2667000" cy="14478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5" name="Line 83">
            <a:extLst>
              <a:ext uri="{FF2B5EF4-FFF2-40B4-BE49-F238E27FC236}">
                <a16:creationId xmlns:a16="http://schemas.microsoft.com/office/drawing/2014/main" id="{107DD78A-5636-2D4C-A682-FB97EC66804D}"/>
              </a:ext>
            </a:extLst>
          </p:cNvPr>
          <p:cNvSpPr>
            <a:spLocks noChangeShapeType="1"/>
          </p:cNvSpPr>
          <p:nvPr/>
        </p:nvSpPr>
        <p:spPr bwMode="auto">
          <a:xfrm flipV="1">
            <a:off x="8382000" y="2286000"/>
            <a:ext cx="76200" cy="1524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48" name="Line 84">
            <a:extLst>
              <a:ext uri="{FF2B5EF4-FFF2-40B4-BE49-F238E27FC236}">
                <a16:creationId xmlns:a16="http://schemas.microsoft.com/office/drawing/2014/main" id="{C258E182-4C95-534A-A2A0-655F8A933E2A}"/>
              </a:ext>
            </a:extLst>
          </p:cNvPr>
          <p:cNvSpPr>
            <a:spLocks noChangeShapeType="1"/>
          </p:cNvSpPr>
          <p:nvPr/>
        </p:nvSpPr>
        <p:spPr bwMode="auto">
          <a:xfrm flipV="1">
            <a:off x="8382000" y="2286000"/>
            <a:ext cx="76200" cy="1524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7" name="Line 85">
            <a:extLst>
              <a:ext uri="{FF2B5EF4-FFF2-40B4-BE49-F238E27FC236}">
                <a16:creationId xmlns:a16="http://schemas.microsoft.com/office/drawing/2014/main" id="{72DE49EA-E647-A544-8198-55BD13BF5149}"/>
              </a:ext>
            </a:extLst>
          </p:cNvPr>
          <p:cNvSpPr>
            <a:spLocks noChangeShapeType="1"/>
          </p:cNvSpPr>
          <p:nvPr/>
        </p:nvSpPr>
        <p:spPr bwMode="auto">
          <a:xfrm>
            <a:off x="7086600" y="2743200"/>
            <a:ext cx="2590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879058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4" fill="hold" nodeType="clickEffect">
                                  <p:stCondLst>
                                    <p:cond delay="0"/>
                                  </p:stCondLst>
                                  <p:childTnLst>
                                    <p:set>
                                      <p:cBhvr>
                                        <p:cTn id="10" dur="1" fill="hold">
                                          <p:stCondLst>
                                            <p:cond delay="0"/>
                                          </p:stCondLst>
                                        </p:cTn>
                                        <p:tgtEl>
                                          <p:spTgt spid="11317"/>
                                        </p:tgtEl>
                                        <p:attrNameLst>
                                          <p:attrName>style.visibility</p:attrName>
                                        </p:attrNameLst>
                                      </p:cBhvr>
                                      <p:to>
                                        <p:strVal val="visible"/>
                                      </p:to>
                                    </p:set>
                                    <p:animEffect transition="in" filter="wipe(down)">
                                      <p:cBhvr>
                                        <p:cTn id="11" dur="500"/>
                                        <p:tgtEl>
                                          <p:spTgt spid="11317"/>
                                        </p:tgtEl>
                                      </p:cBhvr>
                                    </p:animEffect>
                                  </p:childTnLst>
                                </p:cTn>
                              </p:par>
                            </p:childTnLst>
                          </p:cTn>
                        </p:par>
                        <p:par>
                          <p:cTn id="12" fill="hold" nodeType="afterGroup">
                            <p:stCondLst>
                              <p:cond delay="500"/>
                            </p:stCondLst>
                            <p:childTnLst>
                              <p:par>
                                <p:cTn id="13" presetID="22" presetClass="entr" presetSubtype="2" fill="hold" nodeType="afterEffect">
                                  <p:stCondLst>
                                    <p:cond delay="0"/>
                                  </p:stCondLst>
                                  <p:childTnLst>
                                    <p:set>
                                      <p:cBhvr>
                                        <p:cTn id="14" dur="1" fill="hold">
                                          <p:stCondLst>
                                            <p:cond delay="0"/>
                                          </p:stCondLst>
                                        </p:cTn>
                                        <p:tgtEl>
                                          <p:spTgt spid="11345"/>
                                        </p:tgtEl>
                                        <p:attrNameLst>
                                          <p:attrName>style.visibility</p:attrName>
                                        </p:attrNameLst>
                                      </p:cBhvr>
                                      <p:to>
                                        <p:strVal val="visible"/>
                                      </p:to>
                                    </p:set>
                                    <p:animEffect transition="in" filter="wipe(right)">
                                      <p:cBhvr>
                                        <p:cTn id="15" dur="500"/>
                                        <p:tgtEl>
                                          <p:spTgt spid="11345"/>
                                        </p:tgtEl>
                                      </p:cBhvr>
                                    </p:animEffect>
                                  </p:childTnLst>
                                </p:cTn>
                              </p:par>
                            </p:childTnLst>
                          </p:cTn>
                        </p:par>
                        <p:par>
                          <p:cTn id="16" fill="hold" nodeType="afterGroup">
                            <p:stCondLst>
                              <p:cond delay="1000"/>
                            </p:stCondLst>
                            <p:childTnLst>
                              <p:par>
                                <p:cTn id="17" presetID="22" presetClass="entr" presetSubtype="4" fill="hold" nodeType="afterEffect">
                                  <p:stCondLst>
                                    <p:cond delay="0"/>
                                  </p:stCondLst>
                                  <p:childTnLst>
                                    <p:set>
                                      <p:cBhvr>
                                        <p:cTn id="18" dur="1" fill="hold">
                                          <p:stCondLst>
                                            <p:cond delay="0"/>
                                          </p:stCondLst>
                                        </p:cTn>
                                        <p:tgtEl>
                                          <p:spTgt spid="11323"/>
                                        </p:tgtEl>
                                        <p:attrNameLst>
                                          <p:attrName>style.visibility</p:attrName>
                                        </p:attrNameLst>
                                      </p:cBhvr>
                                      <p:to>
                                        <p:strVal val="visible"/>
                                      </p:to>
                                    </p:set>
                                    <p:animEffect transition="in" filter="wipe(down)">
                                      <p:cBhvr>
                                        <p:cTn id="19" dur="500"/>
                                        <p:tgtEl>
                                          <p:spTgt spid="11323"/>
                                        </p:tgtEl>
                                      </p:cBhvr>
                                    </p:animEffect>
                                  </p:childTnLst>
                                </p:cTn>
                              </p:par>
                            </p:childTnLst>
                          </p:cTn>
                        </p:par>
                        <p:par>
                          <p:cTn id="20" fill="hold" nodeType="afterGroup">
                            <p:stCondLst>
                              <p:cond delay="1500"/>
                            </p:stCondLst>
                            <p:childTnLst>
                              <p:par>
                                <p:cTn id="21" presetID="22" presetClass="entr" presetSubtype="4" fill="hold" nodeType="afterEffect">
                                  <p:stCondLst>
                                    <p:cond delay="0"/>
                                  </p:stCondLst>
                                  <p:childTnLst>
                                    <p:set>
                                      <p:cBhvr>
                                        <p:cTn id="22" dur="1" fill="hold">
                                          <p:stCondLst>
                                            <p:cond delay="0"/>
                                          </p:stCondLst>
                                        </p:cTn>
                                        <p:tgtEl>
                                          <p:spTgt spid="11325"/>
                                        </p:tgtEl>
                                        <p:attrNameLst>
                                          <p:attrName>style.visibility</p:attrName>
                                        </p:attrNameLst>
                                      </p:cBhvr>
                                      <p:to>
                                        <p:strVal val="visible"/>
                                      </p:to>
                                    </p:set>
                                    <p:animEffect transition="in" filter="wipe(down)">
                                      <p:cBhvr>
                                        <p:cTn id="23" dur="500"/>
                                        <p:tgtEl>
                                          <p:spTgt spid="11325"/>
                                        </p:tgtEl>
                                      </p:cBhvr>
                                    </p:animEffect>
                                  </p:childTnLst>
                                </p:cTn>
                              </p:par>
                            </p:childTnLst>
                          </p:cTn>
                        </p:par>
                        <p:par>
                          <p:cTn id="24" fill="hold" nodeType="afterGroup">
                            <p:stCondLst>
                              <p:cond delay="2000"/>
                            </p:stCondLst>
                            <p:childTnLst>
                              <p:par>
                                <p:cTn id="25" presetID="22" presetClass="entr" presetSubtype="1" fill="hold" nodeType="afterEffect">
                                  <p:stCondLst>
                                    <p:cond delay="0"/>
                                  </p:stCondLst>
                                  <p:childTnLst>
                                    <p:set>
                                      <p:cBhvr>
                                        <p:cTn id="26" dur="1" fill="hold">
                                          <p:stCondLst>
                                            <p:cond delay="0"/>
                                          </p:stCondLst>
                                        </p:cTn>
                                        <p:tgtEl>
                                          <p:spTgt spid="11348"/>
                                        </p:tgtEl>
                                        <p:attrNameLst>
                                          <p:attrName>style.visibility</p:attrName>
                                        </p:attrNameLst>
                                      </p:cBhvr>
                                      <p:to>
                                        <p:strVal val="visible"/>
                                      </p:to>
                                    </p:set>
                                    <p:animEffect transition="in" filter="wipe(up)">
                                      <p:cBhvr>
                                        <p:cTn id="27" dur="500"/>
                                        <p:tgtEl>
                                          <p:spTgt spid="11348"/>
                                        </p:tgtEl>
                                      </p:cBhvr>
                                    </p:animEffect>
                                  </p:childTnLst>
                                </p:cTn>
                              </p:par>
                            </p:childTnLst>
                          </p:cTn>
                        </p:par>
                        <p:par>
                          <p:cTn id="28" fill="hold" nodeType="afterGroup">
                            <p:stCondLst>
                              <p:cond delay="2500"/>
                            </p:stCondLst>
                            <p:childTnLst>
                              <p:par>
                                <p:cTn id="29" presetID="22" presetClass="entr" presetSubtype="8" fill="hold" nodeType="afterEffect">
                                  <p:stCondLst>
                                    <p:cond delay="0"/>
                                  </p:stCondLst>
                                  <p:childTnLst>
                                    <p:set>
                                      <p:cBhvr>
                                        <p:cTn id="30" dur="1" fill="hold">
                                          <p:stCondLst>
                                            <p:cond delay="0"/>
                                          </p:stCondLst>
                                        </p:cTn>
                                        <p:tgtEl>
                                          <p:spTgt spid="11319"/>
                                        </p:tgtEl>
                                        <p:attrNameLst>
                                          <p:attrName>style.visibility</p:attrName>
                                        </p:attrNameLst>
                                      </p:cBhvr>
                                      <p:to>
                                        <p:strVal val="visible"/>
                                      </p:to>
                                    </p:set>
                                    <p:animEffect transition="in" filter="wipe(left)">
                                      <p:cBhvr>
                                        <p:cTn id="31" dur="500"/>
                                        <p:tgtEl>
                                          <p:spTgt spid="11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615873D-FD36-0A4E-A806-AF6D5F27D999}"/>
                  </a:ext>
                </a:extLst>
              </p:cNvPr>
              <p:cNvSpPr>
                <a:spLocks noGrp="1"/>
              </p:cNvSpPr>
              <p:nvPr>
                <p:ph type="title"/>
              </p:nvPr>
            </p:nvSpPr>
            <p:spPr/>
            <p:txBody>
              <a:bodyPr/>
              <a:lstStyle/>
              <a:p>
                <a:r>
                  <a:rPr lang="en-US" sz="3600" dirty="0"/>
                  <a:t>Complete graphs: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𝐾</m:t>
                        </m:r>
                      </m:e>
                      <m:sub>
                        <m:r>
                          <a:rPr lang="en-US" sz="3600" i="1">
                            <a:latin typeface="Cambria Math" panose="02040503050406030204" pitchFamily="18" charset="0"/>
                          </a:rPr>
                          <m:t>𝑛</m:t>
                        </m:r>
                      </m:sub>
                    </m:sSub>
                  </m:oMath>
                </a14:m>
                <a:r>
                  <a:rPr lang="en-US" sz="3600" dirty="0"/>
                  <a:t> and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𝐾</m:t>
                        </m:r>
                      </m:e>
                      <m:sub>
                        <m:r>
                          <a:rPr lang="en-US" sz="3600" i="1">
                            <a:latin typeface="Cambria Math" panose="02040503050406030204" pitchFamily="18" charset="0"/>
                          </a:rPr>
                          <m:t>𝑛𝑛</m:t>
                        </m:r>
                      </m:sub>
                    </m:sSub>
                  </m:oMath>
                </a14:m>
                <a:endParaRPr lang="en-US" sz="3600" dirty="0"/>
              </a:p>
            </p:txBody>
          </p:sp>
        </mc:Choice>
        <mc:Fallback xmlns="">
          <p:sp>
            <p:nvSpPr>
              <p:cNvPr id="2" name="Title 1">
                <a:extLst>
                  <a:ext uri="{FF2B5EF4-FFF2-40B4-BE49-F238E27FC236}">
                    <a16:creationId xmlns:a16="http://schemas.microsoft.com/office/drawing/2014/main" id="{F615873D-FD36-0A4E-A806-AF6D5F27D999}"/>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7D153A-3160-964B-932A-2945F32ADAF2}"/>
                  </a:ext>
                </a:extLst>
              </p:cNvPr>
              <p:cNvSpPr>
                <a:spLocks noGrp="1"/>
              </p:cNvSpPr>
              <p:nvPr>
                <p:ph idx="1"/>
              </p:nvPr>
            </p:nvSpPr>
            <p:spPr/>
            <p:txBody>
              <a:bodyPr/>
              <a:lstStyle/>
              <a:p>
                <a:r>
                  <a:rPr lang="en-US" dirty="0"/>
                  <a:t>The degree of each vertex in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𝑛</m:t>
                        </m:r>
                      </m:sub>
                    </m:sSub>
                  </m:oMath>
                </a14:m>
                <a:r>
                  <a:rPr lang="en-US" dirty="0"/>
                  <a:t> is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which, no matter how you index it, is either greater than or equal to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/2</m:t>
                    </m:r>
                  </m:oMath>
                </a14:m>
                <a:r>
                  <a:rPr lang="en-US" dirty="0"/>
                  <a:t> or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oMath>
                </a14:m>
                <a:r>
                  <a:rPr lang="en-US" dirty="0"/>
                  <a:t>.</a:t>
                </a:r>
              </a:p>
              <a:p>
                <a:r>
                  <a:rPr lang="en-US" dirty="0"/>
                  <a:t>The degree of each vertex in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𝑛𝑛</m:t>
                        </m:r>
                      </m:sub>
                    </m:sSub>
                  </m:oMath>
                </a14:m>
                <a:r>
                  <a:rPr lang="en-US" dirty="0"/>
                  <a:t> is </a:t>
                </a:r>
                <a14:m>
                  <m:oMath xmlns:m="http://schemas.openxmlformats.org/officeDocument/2006/math">
                    <m:r>
                      <a:rPr lang="en-US" b="0" i="1" smtClean="0">
                        <a:latin typeface="Cambria Math" panose="02040503050406030204" pitchFamily="18" charset="0"/>
                      </a:rPr>
                      <m:t>𝑛</m:t>
                    </m:r>
                  </m:oMath>
                </a14:m>
                <a:r>
                  <a:rPr lang="en-US" dirty="0"/>
                  <a:t> which, no matter how you index it, is equal to </a:t>
                </a:r>
                <a14:m>
                  <m:oMath xmlns:m="http://schemas.openxmlformats.org/officeDocument/2006/math">
                    <m:r>
                      <a:rPr lang="en-US" i="1">
                        <a:latin typeface="Cambria Math" panose="02040503050406030204" pitchFamily="18" charset="0"/>
                      </a:rPr>
                      <m:t>𝑛</m:t>
                    </m:r>
                  </m:oMath>
                </a14:m>
                <a:r>
                  <a:rPr lang="en-US" dirty="0"/>
                  <a:t> or </a:t>
                </a:r>
                <a14:m>
                  <m:oMath xmlns:m="http://schemas.openxmlformats.org/officeDocument/2006/math">
                    <m:r>
                      <a:rPr lang="en-US" b="0" i="0" smtClean="0">
                        <a:latin typeface="Cambria Math" panose="02040503050406030204" pitchFamily="18" charset="0"/>
                      </a:rPr>
                      <m:t>2</m:t>
                    </m:r>
                    <m:r>
                      <a:rPr lang="en-US" i="1">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a:t>
                </a:r>
              </a:p>
              <a:p>
                <a:r>
                  <a:rPr lang="en-US" dirty="0"/>
                  <a:t>Therefore they both have </a:t>
                </a:r>
                <a:r>
                  <a:rPr lang="en-US"/>
                  <a:t>Hamilton circuits</a:t>
                </a:r>
                <a:r>
                  <a:rPr lang="en-US" dirty="0"/>
                  <a:t>.</a:t>
                </a:r>
              </a:p>
            </p:txBody>
          </p:sp>
        </mc:Choice>
        <mc:Fallback xmlns="">
          <p:sp>
            <p:nvSpPr>
              <p:cNvPr id="3" name="Content Placeholder 2">
                <a:extLst>
                  <a:ext uri="{FF2B5EF4-FFF2-40B4-BE49-F238E27FC236}">
                    <a16:creationId xmlns:a16="http://schemas.microsoft.com/office/drawing/2014/main" id="{347D153A-3160-964B-932A-2945F32ADAF2}"/>
                  </a:ext>
                </a:extLst>
              </p:cNvPr>
              <p:cNvSpPr>
                <a:spLocks noGrp="1" noRot="1" noChangeAspect="1" noMove="1" noResize="1" noEditPoints="1" noAdjustHandles="1" noChangeArrowheads="1" noChangeShapeType="1" noTextEdit="1"/>
              </p:cNvSpPr>
              <p:nvPr>
                <p:ph idx="1"/>
              </p:nvPr>
            </p:nvSpPr>
            <p:spPr>
              <a:blipFill>
                <a:blip r:embed="rId3"/>
                <a:stretch>
                  <a:fillRect l="-1852" t="-1401" r="-2469"/>
                </a:stretch>
              </a:blipFill>
            </p:spPr>
            <p:txBody>
              <a:bodyPr/>
              <a:lstStyle/>
              <a:p>
                <a:r>
                  <a:rPr lang="en-US">
                    <a:noFill/>
                  </a:rPr>
                  <a:t> </a:t>
                </a:r>
              </a:p>
            </p:txBody>
          </p:sp>
        </mc:Fallback>
      </mc:AlternateContent>
    </p:spTree>
    <p:extLst>
      <p:ext uri="{BB962C8B-B14F-4D97-AF65-F5344CB8AC3E}">
        <p14:creationId xmlns:p14="http://schemas.microsoft.com/office/powerpoint/2010/main" val="18972909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a:extLst>
              <a:ext uri="{FF2B5EF4-FFF2-40B4-BE49-F238E27FC236}">
                <a16:creationId xmlns:a16="http://schemas.microsoft.com/office/drawing/2014/main" id="{D1C5A982-686A-C443-BC58-AF547D5E6C88}"/>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Theorem 3</a:t>
            </a:r>
          </a:p>
        </p:txBody>
      </p:sp>
      <mc:AlternateContent xmlns:mc="http://schemas.openxmlformats.org/markup-compatibility/2006">
        <mc:Choice xmlns:a14="http://schemas.microsoft.com/office/drawing/2010/main" Requires="a14">
          <p:sp>
            <p:nvSpPr>
              <p:cNvPr id="32773" name="Rectangle 3">
                <a:extLst>
                  <a:ext uri="{FF2B5EF4-FFF2-40B4-BE49-F238E27FC236}">
                    <a16:creationId xmlns:a16="http://schemas.microsoft.com/office/drawing/2014/main" id="{93E04DCC-C0D7-CB44-8F6F-61F67E58996B}"/>
                  </a:ext>
                </a:extLst>
              </p:cNvPr>
              <p:cNvSpPr>
                <a:spLocks noGrp="1" noChangeArrowheads="1"/>
              </p:cNvSpPr>
              <p:nvPr>
                <p:ph type="body" sz="half" idx="1"/>
              </p:nvPr>
            </p:nvSpPr>
            <p:spPr>
              <a:xfrm>
                <a:off x="2095500" y="1667271"/>
                <a:ext cx="7696200" cy="3733800"/>
              </a:xfrm>
            </p:spPr>
            <p:txBody>
              <a:bodyPr/>
              <a:lstStyle/>
              <a:p>
                <a:pPr eaLnBrk="1" hangingPunct="1"/>
                <a:r>
                  <a:rPr lang="en-US" altLang="en-US" sz="2400" dirty="0">
                    <a:ea typeface="ＭＳ Ｐゴシック" panose="020B0600070205080204" pitchFamily="34" charset="-128"/>
                  </a:rPr>
                  <a:t>Suppose a planar graph </a:t>
                </a:r>
                <a:r>
                  <a:rPr lang="en-US" altLang="en-US" sz="2400" i="1" dirty="0">
                    <a:ea typeface="ＭＳ Ｐゴシック" panose="020B0600070205080204" pitchFamily="34" charset="-128"/>
                  </a:rPr>
                  <a:t>G</a:t>
                </a:r>
                <a:r>
                  <a:rPr lang="en-US" altLang="en-US" sz="2400" dirty="0">
                    <a:ea typeface="ＭＳ Ｐゴシック" panose="020B0600070205080204" pitchFamily="34" charset="-128"/>
                  </a:rPr>
                  <a:t>, has a Hamilton Circuit </a:t>
                </a:r>
                <a:r>
                  <a:rPr lang="en-US" altLang="en-US" sz="2400" i="1" dirty="0">
                    <a:ea typeface="ＭＳ Ｐゴシック" panose="020B0600070205080204" pitchFamily="34" charset="-128"/>
                  </a:rPr>
                  <a:t>H</a:t>
                </a:r>
                <a:r>
                  <a:rPr lang="en-US" altLang="en-US" sz="2400" dirty="0">
                    <a:ea typeface="ＭＳ Ｐゴシック" panose="020B0600070205080204" pitchFamily="34" charset="-128"/>
                  </a:rPr>
                  <a:t>.</a:t>
                </a:r>
              </a:p>
              <a:p>
                <a:pPr eaLnBrk="1" hangingPunct="1"/>
                <a:r>
                  <a:rPr lang="en-US" altLang="en-US" sz="2400" dirty="0">
                    <a:ea typeface="ＭＳ Ｐゴシック" panose="020B0600070205080204" pitchFamily="34" charset="-128"/>
                  </a:rPr>
                  <a:t>Let </a:t>
                </a:r>
                <a:r>
                  <a:rPr lang="en-US" altLang="en-US" sz="2400" i="1" dirty="0">
                    <a:ea typeface="ＭＳ Ｐゴシック" panose="020B0600070205080204" pitchFamily="34" charset="-128"/>
                  </a:rPr>
                  <a:t>G</a:t>
                </a:r>
                <a:r>
                  <a:rPr lang="en-US" altLang="en-US" sz="2400" dirty="0">
                    <a:ea typeface="ＭＳ Ｐゴシック" panose="020B0600070205080204" pitchFamily="34" charset="-128"/>
                  </a:rPr>
                  <a:t> be drawn with any planar depiction.</a:t>
                </a:r>
              </a:p>
              <a:p>
                <a:pPr eaLnBrk="1" hangingPunct="1"/>
                <a:r>
                  <a:rPr lang="en-US" altLang="en-US" sz="2400" dirty="0">
                    <a:ea typeface="ＭＳ Ｐゴシック" panose="020B0600070205080204" pitchFamily="34" charset="-128"/>
                  </a:rPr>
                  <a:t>Let </a:t>
                </a:r>
                <a14:m>
                  <m:oMath xmlns:m="http://schemas.openxmlformats.org/officeDocument/2006/math">
                    <m:sSub>
                      <m:sSubPr>
                        <m:ctrlPr>
                          <a:rPr lang="en-US" altLang="en-US" sz="2400" i="1">
                            <a:latin typeface="Cambria Math" panose="02040503050406030204" pitchFamily="18" charset="0"/>
                            <a:ea typeface="ＭＳ Ｐゴシック" panose="020B0600070205080204" pitchFamily="34" charset="-128"/>
                          </a:rPr>
                        </m:ctrlPr>
                      </m:sSubPr>
                      <m:e>
                        <m:r>
                          <a:rPr lang="en-US" altLang="en-US" sz="2400" i="1">
                            <a:latin typeface="Cambria Math" panose="02040503050406030204" pitchFamily="18" charset="0"/>
                            <a:ea typeface="ＭＳ Ｐゴシック" panose="020B0600070205080204" pitchFamily="34" charset="-128"/>
                          </a:rPr>
                          <m:t>𝑟</m:t>
                        </m:r>
                      </m:e>
                      <m:sub>
                        <m:r>
                          <a:rPr lang="en-US" altLang="en-US" sz="2400" i="1">
                            <a:latin typeface="Cambria Math" panose="02040503050406030204" pitchFamily="18" charset="0"/>
                            <a:ea typeface="ＭＳ Ｐゴシック" panose="020B0600070205080204" pitchFamily="34" charset="-128"/>
                          </a:rPr>
                          <m:t>𝑖</m:t>
                        </m:r>
                      </m:sub>
                    </m:sSub>
                  </m:oMath>
                </a14:m>
                <a:r>
                  <a:rPr lang="en-US" altLang="en-US" sz="2400" dirty="0">
                    <a:ea typeface="ＭＳ Ｐゴシック" panose="020B0600070205080204" pitchFamily="34" charset="-128"/>
                  </a:rPr>
                  <a:t> denote the number of regions inside the Hamilton Circuit bounded by </a:t>
                </a:r>
                <a14:m>
                  <m:oMath xmlns:m="http://schemas.openxmlformats.org/officeDocument/2006/math">
                    <m:r>
                      <a:rPr lang="en-US" altLang="en-US" sz="2400" i="1">
                        <a:latin typeface="Cambria Math" panose="02040503050406030204" pitchFamily="18" charset="0"/>
                        <a:ea typeface="ＭＳ Ｐゴシック" panose="020B0600070205080204" pitchFamily="34" charset="-128"/>
                      </a:rPr>
                      <m:t>𝑖</m:t>
                    </m:r>
                  </m:oMath>
                </a14:m>
                <a:r>
                  <a:rPr lang="en-US" altLang="en-US" sz="2400" dirty="0">
                    <a:ea typeface="ＭＳ Ｐゴシック" panose="020B0600070205080204" pitchFamily="34" charset="-128"/>
                  </a:rPr>
                  <a:t> edges in this depiction.  </a:t>
                </a:r>
              </a:p>
              <a:p>
                <a:pPr eaLnBrk="1" hangingPunct="1"/>
                <a:r>
                  <a:rPr lang="en-US" altLang="en-US" sz="2400" dirty="0">
                    <a:ea typeface="ＭＳ Ｐゴシック" panose="020B0600070205080204" pitchFamily="34" charset="-128"/>
                  </a:rPr>
                  <a:t>Let </a:t>
                </a:r>
                <a14:m>
                  <m:oMath xmlns:m="http://schemas.openxmlformats.org/officeDocument/2006/math">
                    <m:sSubSup>
                      <m:sSubSupPr>
                        <m:ctrlPr>
                          <a:rPr lang="en-US" altLang="en-US" sz="2400" i="1">
                            <a:latin typeface="Cambria Math" panose="02040503050406030204" pitchFamily="18" charset="0"/>
                            <a:ea typeface="ＭＳ Ｐゴシック" panose="020B0600070205080204" pitchFamily="34" charset="-128"/>
                          </a:rPr>
                        </m:ctrlPr>
                      </m:sSubSupPr>
                      <m:e>
                        <m:r>
                          <a:rPr lang="en-US" altLang="en-US" sz="2400" i="1">
                            <a:latin typeface="Cambria Math" panose="02040503050406030204" pitchFamily="18" charset="0"/>
                            <a:ea typeface="ＭＳ Ｐゴシック" panose="020B0600070205080204" pitchFamily="34" charset="-128"/>
                          </a:rPr>
                          <m:t>𝑟</m:t>
                        </m:r>
                      </m:e>
                      <m:sub>
                        <m:r>
                          <a:rPr lang="en-US" altLang="en-US" sz="2400" i="1">
                            <a:latin typeface="Cambria Math" panose="02040503050406030204" pitchFamily="18" charset="0"/>
                            <a:ea typeface="ＭＳ Ｐゴシック" panose="020B0600070205080204" pitchFamily="34" charset="-128"/>
                          </a:rPr>
                          <m:t>𝑖</m:t>
                        </m:r>
                      </m:sub>
                      <m:sup>
                        <m:r>
                          <a:rPr lang="en-US" altLang="en-US" sz="2400" i="1">
                            <a:latin typeface="Cambria Math" panose="02040503050406030204" pitchFamily="18" charset="0"/>
                            <a:ea typeface="ＭＳ Ｐゴシック" panose="020B0600070205080204" pitchFamily="34" charset="-128"/>
                          </a:rPr>
                          <m:t>′</m:t>
                        </m:r>
                      </m:sup>
                    </m:sSubSup>
                  </m:oMath>
                </a14:m>
                <a:r>
                  <a:rPr lang="en-US" altLang="en-US" sz="2400" dirty="0">
                    <a:ea typeface="ＭＳ Ｐゴシック" panose="020B0600070205080204" pitchFamily="34" charset="-128"/>
                  </a:rPr>
                  <a:t> be the number of regions outside the circuit bounded by </a:t>
                </a:r>
                <a14:m>
                  <m:oMath xmlns:m="http://schemas.openxmlformats.org/officeDocument/2006/math">
                    <m:r>
                      <a:rPr lang="en-US" altLang="en-US" sz="2400" i="1">
                        <a:latin typeface="Cambria Math" panose="02040503050406030204" pitchFamily="18" charset="0"/>
                        <a:ea typeface="ＭＳ Ｐゴシック" panose="020B0600070205080204" pitchFamily="34" charset="-128"/>
                      </a:rPr>
                      <m:t>𝑖</m:t>
                    </m:r>
                  </m:oMath>
                </a14:m>
                <a:r>
                  <a:rPr lang="en-US" altLang="en-US" sz="2400" dirty="0">
                    <a:ea typeface="ＭＳ Ｐゴシック" panose="020B0600070205080204" pitchFamily="34" charset="-128"/>
                  </a:rPr>
                  <a:t> edges.  Then numbers </a:t>
                </a:r>
                <a14:m>
                  <m:oMath xmlns:m="http://schemas.openxmlformats.org/officeDocument/2006/math">
                    <m:sSub>
                      <m:sSubPr>
                        <m:ctrlPr>
                          <a:rPr lang="en-US" altLang="en-US" sz="2400" i="1">
                            <a:latin typeface="Cambria Math" panose="02040503050406030204" pitchFamily="18" charset="0"/>
                            <a:ea typeface="ＭＳ Ｐゴシック" panose="020B0600070205080204" pitchFamily="34" charset="-128"/>
                          </a:rPr>
                        </m:ctrlPr>
                      </m:sSubPr>
                      <m:e>
                        <m:r>
                          <a:rPr lang="en-US" altLang="en-US" sz="2400" i="1">
                            <a:latin typeface="Cambria Math" panose="02040503050406030204" pitchFamily="18" charset="0"/>
                            <a:ea typeface="ＭＳ Ｐゴシック" panose="020B0600070205080204" pitchFamily="34" charset="-128"/>
                          </a:rPr>
                          <m:t>𝑟</m:t>
                        </m:r>
                      </m:e>
                      <m:sub>
                        <m:r>
                          <a:rPr lang="en-US" altLang="en-US" sz="2400" i="1">
                            <a:latin typeface="Cambria Math" panose="02040503050406030204" pitchFamily="18" charset="0"/>
                            <a:ea typeface="ＭＳ Ｐゴシック" panose="020B0600070205080204" pitchFamily="34" charset="-128"/>
                          </a:rPr>
                          <m:t>𝑖</m:t>
                        </m:r>
                      </m:sub>
                    </m:sSub>
                  </m:oMath>
                </a14:m>
                <a:r>
                  <a:rPr lang="en-US" altLang="en-US" sz="2400" dirty="0">
                    <a:ea typeface="ＭＳ Ｐゴシック" panose="020B0600070205080204" pitchFamily="34" charset="-128"/>
                  </a:rPr>
                  <a:t> and </a:t>
                </a:r>
                <a14:m>
                  <m:oMath xmlns:m="http://schemas.openxmlformats.org/officeDocument/2006/math">
                    <m:sSubSup>
                      <m:sSubSupPr>
                        <m:ctrlPr>
                          <a:rPr lang="en-US" altLang="en-US" sz="2400" i="1">
                            <a:latin typeface="Cambria Math" panose="02040503050406030204" pitchFamily="18" charset="0"/>
                            <a:ea typeface="ＭＳ Ｐゴシック" panose="020B0600070205080204" pitchFamily="34" charset="-128"/>
                          </a:rPr>
                        </m:ctrlPr>
                      </m:sSubSupPr>
                      <m:e>
                        <m:r>
                          <a:rPr lang="en-US" altLang="en-US" sz="2400" i="1">
                            <a:latin typeface="Cambria Math" panose="02040503050406030204" pitchFamily="18" charset="0"/>
                            <a:ea typeface="ＭＳ Ｐゴシック" panose="020B0600070205080204" pitchFamily="34" charset="-128"/>
                          </a:rPr>
                          <m:t>𝑟</m:t>
                        </m:r>
                      </m:e>
                      <m:sub>
                        <m:r>
                          <a:rPr lang="en-US" altLang="en-US" sz="2400" i="1">
                            <a:latin typeface="Cambria Math" panose="02040503050406030204" pitchFamily="18" charset="0"/>
                            <a:ea typeface="ＭＳ Ｐゴシック" panose="020B0600070205080204" pitchFamily="34" charset="-128"/>
                          </a:rPr>
                          <m:t>𝑖</m:t>
                        </m:r>
                      </m:sub>
                      <m:sup>
                        <m:r>
                          <a:rPr lang="en-US" altLang="en-US" sz="2400" i="1">
                            <a:latin typeface="Cambria Math" panose="02040503050406030204" pitchFamily="18" charset="0"/>
                            <a:ea typeface="ＭＳ Ｐゴシック" panose="020B0600070205080204" pitchFamily="34" charset="-128"/>
                          </a:rPr>
                          <m:t>′</m:t>
                        </m:r>
                      </m:sup>
                    </m:sSubSup>
                  </m:oMath>
                </a14:m>
                <a:r>
                  <a:rPr lang="en-US" altLang="en-US" sz="2400" dirty="0">
                    <a:ea typeface="ＭＳ Ｐゴシック" panose="020B0600070205080204" pitchFamily="34" charset="-128"/>
                  </a:rPr>
                  <a:t>satisfy the following equation.</a:t>
                </a:r>
              </a:p>
            </p:txBody>
          </p:sp>
        </mc:Choice>
        <mc:Fallback>
          <p:sp>
            <p:nvSpPr>
              <p:cNvPr id="32773" name="Rectangle 3">
                <a:extLst>
                  <a:ext uri="{FF2B5EF4-FFF2-40B4-BE49-F238E27FC236}">
                    <a16:creationId xmlns:a16="http://schemas.microsoft.com/office/drawing/2014/main" id="{93E04DCC-C0D7-CB44-8F6F-61F67E58996B}"/>
                  </a:ext>
                </a:extLst>
              </p:cNvPr>
              <p:cNvSpPr>
                <a:spLocks noGrp="1" noRot="1" noChangeAspect="1" noMove="1" noResize="1" noEditPoints="1" noAdjustHandles="1" noChangeArrowheads="1" noChangeShapeType="1" noTextEdit="1"/>
              </p:cNvSpPr>
              <p:nvPr>
                <p:ph type="body" sz="half" idx="1"/>
              </p:nvPr>
            </p:nvSpPr>
            <p:spPr>
              <a:xfrm>
                <a:off x="2095500" y="1667271"/>
                <a:ext cx="7696200" cy="3733800"/>
              </a:xfrm>
              <a:blipFill>
                <a:blip r:embed="rId3"/>
                <a:stretch>
                  <a:fillRect l="-1109" t="-2124" r="-872"/>
                </a:stretch>
              </a:blipFill>
            </p:spPr>
            <p:txBody>
              <a:bodyPr/>
              <a:lstStyle/>
              <a:p>
                <a:r>
                  <a:rPr lang="zh-CN" altLang="en-US">
                    <a:noFill/>
                  </a:rPr>
                  <a:t> </a:t>
                </a:r>
              </a:p>
            </p:txBody>
          </p:sp>
        </mc:Fallback>
      </mc:AlternateContent>
      <p:graphicFrame>
        <p:nvGraphicFramePr>
          <p:cNvPr id="32776" name="Object 4">
            <a:extLst>
              <a:ext uri="{FF2B5EF4-FFF2-40B4-BE49-F238E27FC236}">
                <a16:creationId xmlns:a16="http://schemas.microsoft.com/office/drawing/2014/main" id="{38626BD8-CE0C-8D4C-90BB-ABEBF58AF736}"/>
              </a:ext>
            </a:extLst>
          </p:cNvPr>
          <p:cNvGraphicFramePr>
            <a:graphicFrameLocks noChangeAspect="1"/>
          </p:cNvGraphicFramePr>
          <p:nvPr>
            <p:extLst/>
          </p:nvPr>
        </p:nvGraphicFramePr>
        <p:xfrm>
          <a:off x="4495800" y="5001815"/>
          <a:ext cx="2895600" cy="798513"/>
        </p:xfrm>
        <a:graphic>
          <a:graphicData uri="http://schemas.openxmlformats.org/presentationml/2006/ole">
            <mc:AlternateContent xmlns:mc="http://schemas.openxmlformats.org/markup-compatibility/2006">
              <mc:Choice xmlns:v="urn:schemas-microsoft-com:vml" Requires="v">
                <p:oleObj spid="_x0000_s3074" name="Equation" r:id="rId4" imgW="28676600" imgH="7899400" progId="Equation.DSMT4">
                  <p:embed/>
                </p:oleObj>
              </mc:Choice>
              <mc:Fallback>
                <p:oleObj name="Equation" r:id="rId4" imgW="28676600" imgH="7899400" progId="Equation.DSMT4">
                  <p:embed/>
                  <p:pic>
                    <p:nvPicPr>
                      <p:cNvPr id="32776" name="Object 4">
                        <a:extLst>
                          <a:ext uri="{FF2B5EF4-FFF2-40B4-BE49-F238E27FC236}">
                            <a16:creationId xmlns:a16="http://schemas.microsoft.com/office/drawing/2014/main" id="{38626BD8-CE0C-8D4C-90BB-ABEBF58AF7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5001815"/>
                        <a:ext cx="2895600" cy="798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861480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Line 38">
            <a:extLst>
              <a:ext uri="{FF2B5EF4-FFF2-40B4-BE49-F238E27FC236}">
                <a16:creationId xmlns:a16="http://schemas.microsoft.com/office/drawing/2014/main" id="{69AF7B53-5D33-AF41-8583-279B169A96BF}"/>
              </a:ext>
            </a:extLst>
          </p:cNvPr>
          <p:cNvSpPr>
            <a:spLocks noChangeShapeType="1"/>
          </p:cNvSpPr>
          <p:nvPr/>
        </p:nvSpPr>
        <p:spPr bwMode="auto">
          <a:xfrm flipV="1">
            <a:off x="3733800" y="2492376"/>
            <a:ext cx="909638" cy="5556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797" name="Line 41">
            <a:extLst>
              <a:ext uri="{FF2B5EF4-FFF2-40B4-BE49-F238E27FC236}">
                <a16:creationId xmlns:a16="http://schemas.microsoft.com/office/drawing/2014/main" id="{9D5A3316-BC8D-8C46-893F-5CA47855C294}"/>
              </a:ext>
            </a:extLst>
          </p:cNvPr>
          <p:cNvSpPr>
            <a:spLocks noChangeShapeType="1"/>
          </p:cNvSpPr>
          <p:nvPr/>
        </p:nvSpPr>
        <p:spPr bwMode="auto">
          <a:xfrm flipH="1">
            <a:off x="4719638" y="4191001"/>
            <a:ext cx="614362" cy="3587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798" name="Line 36">
            <a:extLst>
              <a:ext uri="{FF2B5EF4-FFF2-40B4-BE49-F238E27FC236}">
                <a16:creationId xmlns:a16="http://schemas.microsoft.com/office/drawing/2014/main" id="{87499D76-DB72-304B-9850-C219006DF87A}"/>
              </a:ext>
            </a:extLst>
          </p:cNvPr>
          <p:cNvSpPr>
            <a:spLocks noChangeShapeType="1"/>
          </p:cNvSpPr>
          <p:nvPr/>
        </p:nvSpPr>
        <p:spPr bwMode="auto">
          <a:xfrm>
            <a:off x="2967038" y="2568576"/>
            <a:ext cx="842962" cy="4794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799" name="Line 33">
            <a:extLst>
              <a:ext uri="{FF2B5EF4-FFF2-40B4-BE49-F238E27FC236}">
                <a16:creationId xmlns:a16="http://schemas.microsoft.com/office/drawing/2014/main" id="{50C276E5-AD57-D743-94D8-2E68BFB505F5}"/>
              </a:ext>
            </a:extLst>
          </p:cNvPr>
          <p:cNvSpPr>
            <a:spLocks noChangeShapeType="1"/>
          </p:cNvSpPr>
          <p:nvPr/>
        </p:nvSpPr>
        <p:spPr bwMode="auto">
          <a:xfrm>
            <a:off x="3810000" y="4114800"/>
            <a:ext cx="9144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0" name="Line 34">
            <a:extLst>
              <a:ext uri="{FF2B5EF4-FFF2-40B4-BE49-F238E27FC236}">
                <a16:creationId xmlns:a16="http://schemas.microsoft.com/office/drawing/2014/main" id="{65861309-1714-D14B-9CAE-7E1261BF6EDD}"/>
              </a:ext>
            </a:extLst>
          </p:cNvPr>
          <p:cNvSpPr>
            <a:spLocks noChangeShapeType="1"/>
          </p:cNvSpPr>
          <p:nvPr/>
        </p:nvSpPr>
        <p:spPr bwMode="auto">
          <a:xfrm flipH="1">
            <a:off x="3729038" y="3124201"/>
            <a:ext cx="4762" cy="8921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1" name="Line 32">
            <a:extLst>
              <a:ext uri="{FF2B5EF4-FFF2-40B4-BE49-F238E27FC236}">
                <a16:creationId xmlns:a16="http://schemas.microsoft.com/office/drawing/2014/main" id="{7D6E112F-6EC5-264C-BA31-CDD11DA3C7BD}"/>
              </a:ext>
            </a:extLst>
          </p:cNvPr>
          <p:cNvSpPr>
            <a:spLocks noChangeShapeType="1"/>
          </p:cNvSpPr>
          <p:nvPr/>
        </p:nvSpPr>
        <p:spPr bwMode="auto">
          <a:xfrm flipV="1">
            <a:off x="2895600" y="4114800"/>
            <a:ext cx="8382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2" name="Rectangle 2">
            <a:extLst>
              <a:ext uri="{FF2B5EF4-FFF2-40B4-BE49-F238E27FC236}">
                <a16:creationId xmlns:a16="http://schemas.microsoft.com/office/drawing/2014/main" id="{21E68DA6-5439-AA4F-93D1-C604C126F1B3}"/>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Use of Theorem 3</a:t>
            </a:r>
          </a:p>
        </p:txBody>
      </p:sp>
      <p:graphicFrame>
        <p:nvGraphicFramePr>
          <p:cNvPr id="33803" name="Object 2">
            <a:extLst>
              <a:ext uri="{FF2B5EF4-FFF2-40B4-BE49-F238E27FC236}">
                <a16:creationId xmlns:a16="http://schemas.microsoft.com/office/drawing/2014/main" id="{CC6F8793-F33A-D540-9ABD-402335066C03}"/>
              </a:ext>
            </a:extLst>
          </p:cNvPr>
          <p:cNvGraphicFramePr>
            <a:graphicFrameLocks noGrp="1" noChangeAspect="1"/>
          </p:cNvGraphicFramePr>
          <p:nvPr>
            <p:ph sz="half" idx="1"/>
          </p:nvPr>
        </p:nvGraphicFramePr>
        <p:xfrm>
          <a:off x="7391400" y="1905000"/>
          <a:ext cx="2514600" cy="692150"/>
        </p:xfrm>
        <a:graphic>
          <a:graphicData uri="http://schemas.openxmlformats.org/presentationml/2006/ole">
            <mc:AlternateContent xmlns:mc="http://schemas.openxmlformats.org/markup-compatibility/2006">
              <mc:Choice xmlns:v="urn:schemas-microsoft-com:vml" Requires="v">
                <p:oleObj spid="_x0000_s4098" name="Equation" r:id="rId3" imgW="28676600" imgH="7899400" progId="Equation.DSMT4">
                  <p:embed/>
                </p:oleObj>
              </mc:Choice>
              <mc:Fallback>
                <p:oleObj name="Equation" r:id="rId3" imgW="28676600" imgH="7899400" progId="Equation.DSMT4">
                  <p:embed/>
                  <p:pic>
                    <p:nvPicPr>
                      <p:cNvPr id="33803" name="Object 2">
                        <a:extLst>
                          <a:ext uri="{FF2B5EF4-FFF2-40B4-BE49-F238E27FC236}">
                            <a16:creationId xmlns:a16="http://schemas.microsoft.com/office/drawing/2014/main" id="{CC6F8793-F33A-D540-9ABD-402335066C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1905000"/>
                        <a:ext cx="2514600" cy="692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3804" name="Line 37">
            <a:extLst>
              <a:ext uri="{FF2B5EF4-FFF2-40B4-BE49-F238E27FC236}">
                <a16:creationId xmlns:a16="http://schemas.microsoft.com/office/drawing/2014/main" id="{CC456511-68A7-EF49-AAD6-7763B8CD5769}"/>
              </a:ext>
            </a:extLst>
          </p:cNvPr>
          <p:cNvSpPr>
            <a:spLocks noChangeShapeType="1"/>
          </p:cNvSpPr>
          <p:nvPr/>
        </p:nvSpPr>
        <p:spPr bwMode="auto">
          <a:xfrm>
            <a:off x="3805238" y="1882775"/>
            <a:ext cx="8382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5" name="Line 26">
            <a:extLst>
              <a:ext uri="{FF2B5EF4-FFF2-40B4-BE49-F238E27FC236}">
                <a16:creationId xmlns:a16="http://schemas.microsoft.com/office/drawing/2014/main" id="{859F569B-DEF1-A84A-817C-70EB7F04C0BC}"/>
              </a:ext>
            </a:extLst>
          </p:cNvPr>
          <p:cNvSpPr>
            <a:spLocks noChangeShapeType="1"/>
          </p:cNvSpPr>
          <p:nvPr/>
        </p:nvSpPr>
        <p:spPr bwMode="auto">
          <a:xfrm>
            <a:off x="2128838" y="5311775"/>
            <a:ext cx="6858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6" name="Oval 4">
            <a:extLst>
              <a:ext uri="{FF2B5EF4-FFF2-40B4-BE49-F238E27FC236}">
                <a16:creationId xmlns:a16="http://schemas.microsoft.com/office/drawing/2014/main" id="{A42EF7D7-5987-4A4A-920F-76733A39A69F}"/>
              </a:ext>
            </a:extLst>
          </p:cNvPr>
          <p:cNvSpPr>
            <a:spLocks noChangeArrowheads="1"/>
          </p:cNvSpPr>
          <p:nvPr/>
        </p:nvSpPr>
        <p:spPr bwMode="auto">
          <a:xfrm>
            <a:off x="1976438" y="30257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07" name="Oval 5">
            <a:extLst>
              <a:ext uri="{FF2B5EF4-FFF2-40B4-BE49-F238E27FC236}">
                <a16:creationId xmlns:a16="http://schemas.microsoft.com/office/drawing/2014/main" id="{F34DE49F-8AA3-C146-B4E3-7A56F398C51F}"/>
              </a:ext>
            </a:extLst>
          </p:cNvPr>
          <p:cNvSpPr>
            <a:spLocks noChangeArrowheads="1"/>
          </p:cNvSpPr>
          <p:nvPr/>
        </p:nvSpPr>
        <p:spPr bwMode="auto">
          <a:xfrm>
            <a:off x="1976438" y="40163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08" name="Oval 6">
            <a:extLst>
              <a:ext uri="{FF2B5EF4-FFF2-40B4-BE49-F238E27FC236}">
                <a16:creationId xmlns:a16="http://schemas.microsoft.com/office/drawing/2014/main" id="{4C4B1D6A-5B8B-AC40-A188-33C56B219C06}"/>
              </a:ext>
            </a:extLst>
          </p:cNvPr>
          <p:cNvSpPr>
            <a:spLocks noChangeArrowheads="1"/>
          </p:cNvSpPr>
          <p:nvPr/>
        </p:nvSpPr>
        <p:spPr bwMode="auto">
          <a:xfrm>
            <a:off x="1976438" y="51593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09" name="Oval 7">
            <a:extLst>
              <a:ext uri="{FF2B5EF4-FFF2-40B4-BE49-F238E27FC236}">
                <a16:creationId xmlns:a16="http://schemas.microsoft.com/office/drawing/2014/main" id="{D28CFF16-9171-984A-90A1-4B0E597D52CA}"/>
              </a:ext>
            </a:extLst>
          </p:cNvPr>
          <p:cNvSpPr>
            <a:spLocks noChangeArrowheads="1"/>
          </p:cNvSpPr>
          <p:nvPr/>
        </p:nvSpPr>
        <p:spPr bwMode="auto">
          <a:xfrm>
            <a:off x="2814638" y="55403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10" name="Oval 8">
            <a:extLst>
              <a:ext uri="{FF2B5EF4-FFF2-40B4-BE49-F238E27FC236}">
                <a16:creationId xmlns:a16="http://schemas.microsoft.com/office/drawing/2014/main" id="{CBF10243-5DCE-1542-9E0F-DE6F5B9EDFDE}"/>
              </a:ext>
            </a:extLst>
          </p:cNvPr>
          <p:cNvSpPr>
            <a:spLocks noChangeArrowheads="1"/>
          </p:cNvSpPr>
          <p:nvPr/>
        </p:nvSpPr>
        <p:spPr bwMode="auto">
          <a:xfrm>
            <a:off x="3729038" y="59213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11" name="Oval 9">
            <a:extLst>
              <a:ext uri="{FF2B5EF4-FFF2-40B4-BE49-F238E27FC236}">
                <a16:creationId xmlns:a16="http://schemas.microsoft.com/office/drawing/2014/main" id="{5382B062-9E60-0344-8A1F-8E95F246ECBD}"/>
              </a:ext>
            </a:extLst>
          </p:cNvPr>
          <p:cNvSpPr>
            <a:spLocks noChangeArrowheads="1"/>
          </p:cNvSpPr>
          <p:nvPr/>
        </p:nvSpPr>
        <p:spPr bwMode="auto">
          <a:xfrm>
            <a:off x="2814638" y="44735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12" name="Oval 10">
            <a:extLst>
              <a:ext uri="{FF2B5EF4-FFF2-40B4-BE49-F238E27FC236}">
                <a16:creationId xmlns:a16="http://schemas.microsoft.com/office/drawing/2014/main" id="{335A0602-AFE1-F44B-9B67-18A1588835A6}"/>
              </a:ext>
            </a:extLst>
          </p:cNvPr>
          <p:cNvSpPr>
            <a:spLocks noChangeArrowheads="1"/>
          </p:cNvSpPr>
          <p:nvPr/>
        </p:nvSpPr>
        <p:spPr bwMode="auto">
          <a:xfrm>
            <a:off x="2738438" y="24161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13" name="Oval 11">
            <a:extLst>
              <a:ext uri="{FF2B5EF4-FFF2-40B4-BE49-F238E27FC236}">
                <a16:creationId xmlns:a16="http://schemas.microsoft.com/office/drawing/2014/main" id="{260288C1-BB3F-0240-AD39-E695E4E27C5E}"/>
              </a:ext>
            </a:extLst>
          </p:cNvPr>
          <p:cNvSpPr>
            <a:spLocks noChangeArrowheads="1"/>
          </p:cNvSpPr>
          <p:nvPr/>
        </p:nvSpPr>
        <p:spPr bwMode="auto">
          <a:xfrm>
            <a:off x="3576638" y="17303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14" name="Oval 12">
            <a:extLst>
              <a:ext uri="{FF2B5EF4-FFF2-40B4-BE49-F238E27FC236}">
                <a16:creationId xmlns:a16="http://schemas.microsoft.com/office/drawing/2014/main" id="{7C488DFD-5A7B-1243-81A4-086867EF3867}"/>
              </a:ext>
            </a:extLst>
          </p:cNvPr>
          <p:cNvSpPr>
            <a:spLocks noChangeArrowheads="1"/>
          </p:cNvSpPr>
          <p:nvPr/>
        </p:nvSpPr>
        <p:spPr bwMode="auto">
          <a:xfrm>
            <a:off x="3652838" y="29495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15" name="Oval 13">
            <a:extLst>
              <a:ext uri="{FF2B5EF4-FFF2-40B4-BE49-F238E27FC236}">
                <a16:creationId xmlns:a16="http://schemas.microsoft.com/office/drawing/2014/main" id="{2F03BC18-33FC-574C-9C3A-38259811A224}"/>
              </a:ext>
            </a:extLst>
          </p:cNvPr>
          <p:cNvSpPr>
            <a:spLocks noChangeArrowheads="1"/>
          </p:cNvSpPr>
          <p:nvPr/>
        </p:nvSpPr>
        <p:spPr bwMode="auto">
          <a:xfrm>
            <a:off x="3652838" y="40163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16" name="Oval 14">
            <a:extLst>
              <a:ext uri="{FF2B5EF4-FFF2-40B4-BE49-F238E27FC236}">
                <a16:creationId xmlns:a16="http://schemas.microsoft.com/office/drawing/2014/main" id="{728E03AC-3D51-F746-B18B-DC27433BA176}"/>
              </a:ext>
            </a:extLst>
          </p:cNvPr>
          <p:cNvSpPr>
            <a:spLocks noChangeArrowheads="1"/>
          </p:cNvSpPr>
          <p:nvPr/>
        </p:nvSpPr>
        <p:spPr bwMode="auto">
          <a:xfrm>
            <a:off x="4567238" y="23399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17" name="Oval 15">
            <a:extLst>
              <a:ext uri="{FF2B5EF4-FFF2-40B4-BE49-F238E27FC236}">
                <a16:creationId xmlns:a16="http://schemas.microsoft.com/office/drawing/2014/main" id="{11D9C41F-1CC5-8740-A276-215B268C4F44}"/>
              </a:ext>
            </a:extLst>
          </p:cNvPr>
          <p:cNvSpPr>
            <a:spLocks noChangeArrowheads="1"/>
          </p:cNvSpPr>
          <p:nvPr/>
        </p:nvSpPr>
        <p:spPr bwMode="auto">
          <a:xfrm>
            <a:off x="5253038" y="29495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18" name="Oval 16">
            <a:extLst>
              <a:ext uri="{FF2B5EF4-FFF2-40B4-BE49-F238E27FC236}">
                <a16:creationId xmlns:a16="http://schemas.microsoft.com/office/drawing/2014/main" id="{92A74102-DEA5-9749-965D-5FF17A28472F}"/>
              </a:ext>
            </a:extLst>
          </p:cNvPr>
          <p:cNvSpPr>
            <a:spLocks noChangeArrowheads="1"/>
          </p:cNvSpPr>
          <p:nvPr/>
        </p:nvSpPr>
        <p:spPr bwMode="auto">
          <a:xfrm>
            <a:off x="6624638" y="29495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19" name="Oval 17">
            <a:extLst>
              <a:ext uri="{FF2B5EF4-FFF2-40B4-BE49-F238E27FC236}">
                <a16:creationId xmlns:a16="http://schemas.microsoft.com/office/drawing/2014/main" id="{5192B6E2-32A6-A645-900D-6DED6EB27C2F}"/>
              </a:ext>
            </a:extLst>
          </p:cNvPr>
          <p:cNvSpPr>
            <a:spLocks noChangeArrowheads="1"/>
          </p:cNvSpPr>
          <p:nvPr/>
        </p:nvSpPr>
        <p:spPr bwMode="auto">
          <a:xfrm>
            <a:off x="4567238" y="44735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20" name="Oval 18">
            <a:extLst>
              <a:ext uri="{FF2B5EF4-FFF2-40B4-BE49-F238E27FC236}">
                <a16:creationId xmlns:a16="http://schemas.microsoft.com/office/drawing/2014/main" id="{40656410-D2FB-0247-8B9E-B15B5C2CBDC5}"/>
              </a:ext>
            </a:extLst>
          </p:cNvPr>
          <p:cNvSpPr>
            <a:spLocks noChangeArrowheads="1"/>
          </p:cNvSpPr>
          <p:nvPr/>
        </p:nvSpPr>
        <p:spPr bwMode="auto">
          <a:xfrm>
            <a:off x="5253038" y="40163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21" name="Oval 19">
            <a:extLst>
              <a:ext uri="{FF2B5EF4-FFF2-40B4-BE49-F238E27FC236}">
                <a16:creationId xmlns:a16="http://schemas.microsoft.com/office/drawing/2014/main" id="{A4DCCB5B-D7AB-E64B-A7B7-CD2E8FCB425F}"/>
              </a:ext>
            </a:extLst>
          </p:cNvPr>
          <p:cNvSpPr>
            <a:spLocks noChangeArrowheads="1"/>
          </p:cNvSpPr>
          <p:nvPr/>
        </p:nvSpPr>
        <p:spPr bwMode="auto">
          <a:xfrm>
            <a:off x="4643438" y="55403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22" name="Oval 20">
            <a:extLst>
              <a:ext uri="{FF2B5EF4-FFF2-40B4-BE49-F238E27FC236}">
                <a16:creationId xmlns:a16="http://schemas.microsoft.com/office/drawing/2014/main" id="{FE7DE6AB-8EBC-9C4F-A5D2-85554F2E85AD}"/>
              </a:ext>
            </a:extLst>
          </p:cNvPr>
          <p:cNvSpPr>
            <a:spLocks noChangeArrowheads="1"/>
          </p:cNvSpPr>
          <p:nvPr/>
        </p:nvSpPr>
        <p:spPr bwMode="auto">
          <a:xfrm>
            <a:off x="5329238" y="5159375"/>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3823" name="Line 21">
            <a:extLst>
              <a:ext uri="{FF2B5EF4-FFF2-40B4-BE49-F238E27FC236}">
                <a16:creationId xmlns:a16="http://schemas.microsoft.com/office/drawing/2014/main" id="{D28F13D2-73A0-B645-AACA-DFCB439958C9}"/>
              </a:ext>
            </a:extLst>
          </p:cNvPr>
          <p:cNvSpPr>
            <a:spLocks noChangeShapeType="1"/>
          </p:cNvSpPr>
          <p:nvPr/>
        </p:nvSpPr>
        <p:spPr bwMode="auto">
          <a:xfrm>
            <a:off x="2890838" y="4702175"/>
            <a:ext cx="0" cy="838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4" name="Line 22">
            <a:extLst>
              <a:ext uri="{FF2B5EF4-FFF2-40B4-BE49-F238E27FC236}">
                <a16:creationId xmlns:a16="http://schemas.microsoft.com/office/drawing/2014/main" id="{1CD26098-1BA9-3842-B353-C8AF13C72500}"/>
              </a:ext>
            </a:extLst>
          </p:cNvPr>
          <p:cNvSpPr>
            <a:spLocks noChangeShapeType="1"/>
          </p:cNvSpPr>
          <p:nvPr/>
        </p:nvSpPr>
        <p:spPr bwMode="auto">
          <a:xfrm>
            <a:off x="3043238" y="5692775"/>
            <a:ext cx="6858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5" name="Line 23">
            <a:extLst>
              <a:ext uri="{FF2B5EF4-FFF2-40B4-BE49-F238E27FC236}">
                <a16:creationId xmlns:a16="http://schemas.microsoft.com/office/drawing/2014/main" id="{E0029A87-1F96-C34A-BABF-3EE35A64B237}"/>
              </a:ext>
            </a:extLst>
          </p:cNvPr>
          <p:cNvSpPr>
            <a:spLocks noChangeShapeType="1"/>
          </p:cNvSpPr>
          <p:nvPr/>
        </p:nvSpPr>
        <p:spPr bwMode="auto">
          <a:xfrm flipV="1">
            <a:off x="2052638" y="4244975"/>
            <a:ext cx="0" cy="914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6" name="Line 25">
            <a:extLst>
              <a:ext uri="{FF2B5EF4-FFF2-40B4-BE49-F238E27FC236}">
                <a16:creationId xmlns:a16="http://schemas.microsoft.com/office/drawing/2014/main" id="{1605A0C3-4D3F-F94E-AEC3-2D203EE87CB2}"/>
              </a:ext>
            </a:extLst>
          </p:cNvPr>
          <p:cNvSpPr>
            <a:spLocks noChangeShapeType="1"/>
          </p:cNvSpPr>
          <p:nvPr/>
        </p:nvSpPr>
        <p:spPr bwMode="auto">
          <a:xfrm flipV="1">
            <a:off x="2052638" y="3254375"/>
            <a:ext cx="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7" name="Line 27">
            <a:extLst>
              <a:ext uri="{FF2B5EF4-FFF2-40B4-BE49-F238E27FC236}">
                <a16:creationId xmlns:a16="http://schemas.microsoft.com/office/drawing/2014/main" id="{529C0779-9965-0C42-A508-A05021D3B85C}"/>
              </a:ext>
            </a:extLst>
          </p:cNvPr>
          <p:cNvSpPr>
            <a:spLocks noChangeShapeType="1"/>
          </p:cNvSpPr>
          <p:nvPr/>
        </p:nvSpPr>
        <p:spPr bwMode="auto">
          <a:xfrm flipV="1">
            <a:off x="3957638" y="5692775"/>
            <a:ext cx="6858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8" name="Line 28">
            <a:extLst>
              <a:ext uri="{FF2B5EF4-FFF2-40B4-BE49-F238E27FC236}">
                <a16:creationId xmlns:a16="http://schemas.microsoft.com/office/drawing/2014/main" id="{90FAFAED-C408-D541-A6A0-92E26385DF05}"/>
              </a:ext>
            </a:extLst>
          </p:cNvPr>
          <p:cNvSpPr>
            <a:spLocks noChangeShapeType="1"/>
          </p:cNvSpPr>
          <p:nvPr/>
        </p:nvSpPr>
        <p:spPr bwMode="auto">
          <a:xfrm flipV="1">
            <a:off x="4719638" y="4702175"/>
            <a:ext cx="0" cy="838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29" name="Line 29">
            <a:extLst>
              <a:ext uri="{FF2B5EF4-FFF2-40B4-BE49-F238E27FC236}">
                <a16:creationId xmlns:a16="http://schemas.microsoft.com/office/drawing/2014/main" id="{87BAE8BA-16F7-3B44-B7C6-2493E8D07312}"/>
              </a:ext>
            </a:extLst>
          </p:cNvPr>
          <p:cNvSpPr>
            <a:spLocks noChangeShapeType="1"/>
          </p:cNvSpPr>
          <p:nvPr/>
        </p:nvSpPr>
        <p:spPr bwMode="auto">
          <a:xfrm flipH="1" flipV="1">
            <a:off x="2205038" y="4168775"/>
            <a:ext cx="60960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0" name="Line 30">
            <a:extLst>
              <a:ext uri="{FF2B5EF4-FFF2-40B4-BE49-F238E27FC236}">
                <a16:creationId xmlns:a16="http://schemas.microsoft.com/office/drawing/2014/main" id="{63444F0E-9942-0C4E-8EF0-0F629EC7F126}"/>
              </a:ext>
            </a:extLst>
          </p:cNvPr>
          <p:cNvSpPr>
            <a:spLocks noChangeShapeType="1"/>
          </p:cNvSpPr>
          <p:nvPr/>
        </p:nvSpPr>
        <p:spPr bwMode="auto">
          <a:xfrm flipV="1">
            <a:off x="2128838" y="2568575"/>
            <a:ext cx="6096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1" name="Line 31">
            <a:extLst>
              <a:ext uri="{FF2B5EF4-FFF2-40B4-BE49-F238E27FC236}">
                <a16:creationId xmlns:a16="http://schemas.microsoft.com/office/drawing/2014/main" id="{B1C94EF9-9B57-8443-B944-1E6F705CBD34}"/>
              </a:ext>
            </a:extLst>
          </p:cNvPr>
          <p:cNvSpPr>
            <a:spLocks noChangeShapeType="1"/>
          </p:cNvSpPr>
          <p:nvPr/>
        </p:nvSpPr>
        <p:spPr bwMode="auto">
          <a:xfrm flipV="1">
            <a:off x="2890838" y="1882775"/>
            <a:ext cx="685800" cy="533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2" name="Line 35">
            <a:extLst>
              <a:ext uri="{FF2B5EF4-FFF2-40B4-BE49-F238E27FC236}">
                <a16:creationId xmlns:a16="http://schemas.microsoft.com/office/drawing/2014/main" id="{6509E5C4-DA8D-F042-B0F8-B653D3B9C4DD}"/>
              </a:ext>
            </a:extLst>
          </p:cNvPr>
          <p:cNvSpPr>
            <a:spLocks noChangeShapeType="1"/>
          </p:cNvSpPr>
          <p:nvPr/>
        </p:nvSpPr>
        <p:spPr bwMode="auto">
          <a:xfrm flipV="1">
            <a:off x="4872038" y="5311775"/>
            <a:ext cx="4572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3" name="Line 39">
            <a:extLst>
              <a:ext uri="{FF2B5EF4-FFF2-40B4-BE49-F238E27FC236}">
                <a16:creationId xmlns:a16="http://schemas.microsoft.com/office/drawing/2014/main" id="{26E79129-3304-B64E-A3E3-979AEC8B2654}"/>
              </a:ext>
            </a:extLst>
          </p:cNvPr>
          <p:cNvSpPr>
            <a:spLocks noChangeShapeType="1"/>
          </p:cNvSpPr>
          <p:nvPr/>
        </p:nvSpPr>
        <p:spPr bwMode="auto">
          <a:xfrm>
            <a:off x="5405438" y="3178175"/>
            <a:ext cx="0" cy="838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4" name="Line 40">
            <a:extLst>
              <a:ext uri="{FF2B5EF4-FFF2-40B4-BE49-F238E27FC236}">
                <a16:creationId xmlns:a16="http://schemas.microsoft.com/office/drawing/2014/main" id="{03365A7D-0F3C-1F46-A021-9867CF67C8CD}"/>
              </a:ext>
            </a:extLst>
          </p:cNvPr>
          <p:cNvSpPr>
            <a:spLocks noChangeShapeType="1"/>
          </p:cNvSpPr>
          <p:nvPr/>
        </p:nvSpPr>
        <p:spPr bwMode="auto">
          <a:xfrm>
            <a:off x="4795838" y="2492375"/>
            <a:ext cx="533400" cy="457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5" name="Line 42">
            <a:extLst>
              <a:ext uri="{FF2B5EF4-FFF2-40B4-BE49-F238E27FC236}">
                <a16:creationId xmlns:a16="http://schemas.microsoft.com/office/drawing/2014/main" id="{D5E945C2-151F-F84E-A06B-EC705EC5A661}"/>
              </a:ext>
            </a:extLst>
          </p:cNvPr>
          <p:cNvSpPr>
            <a:spLocks noChangeShapeType="1"/>
          </p:cNvSpPr>
          <p:nvPr/>
        </p:nvSpPr>
        <p:spPr bwMode="auto">
          <a:xfrm>
            <a:off x="5405438" y="4244975"/>
            <a:ext cx="0" cy="914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6" name="Line 43">
            <a:extLst>
              <a:ext uri="{FF2B5EF4-FFF2-40B4-BE49-F238E27FC236}">
                <a16:creationId xmlns:a16="http://schemas.microsoft.com/office/drawing/2014/main" id="{D965F2C3-DE88-1640-881C-859E15F6D169}"/>
              </a:ext>
            </a:extLst>
          </p:cNvPr>
          <p:cNvSpPr>
            <a:spLocks noChangeShapeType="1"/>
          </p:cNvSpPr>
          <p:nvPr/>
        </p:nvSpPr>
        <p:spPr bwMode="auto">
          <a:xfrm>
            <a:off x="5481638" y="3025775"/>
            <a:ext cx="1143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37" name="Freeform 45">
            <a:extLst>
              <a:ext uri="{FF2B5EF4-FFF2-40B4-BE49-F238E27FC236}">
                <a16:creationId xmlns:a16="http://schemas.microsoft.com/office/drawing/2014/main" id="{816AD21D-40EB-4348-9B70-12700936B0F4}"/>
              </a:ext>
            </a:extLst>
          </p:cNvPr>
          <p:cNvSpPr>
            <a:spLocks/>
          </p:cNvSpPr>
          <p:nvPr/>
        </p:nvSpPr>
        <p:spPr bwMode="auto">
          <a:xfrm>
            <a:off x="3873500" y="3178175"/>
            <a:ext cx="2865438" cy="3119438"/>
          </a:xfrm>
          <a:custGeom>
            <a:avLst/>
            <a:gdLst>
              <a:gd name="T0" fmla="*/ 0 w 1805"/>
              <a:gd name="T1" fmla="*/ 2147483647 h 1965"/>
              <a:gd name="T2" fmla="*/ 2147483647 w 1805"/>
              <a:gd name="T3" fmla="*/ 2147483647 h 1965"/>
              <a:gd name="T4" fmla="*/ 2147483647 w 1805"/>
              <a:gd name="T5" fmla="*/ 2147483647 h 1965"/>
              <a:gd name="T6" fmla="*/ 2147483647 w 1805"/>
              <a:gd name="T7" fmla="*/ 2147483647 h 1965"/>
              <a:gd name="T8" fmla="*/ 2147483647 w 1805"/>
              <a:gd name="T9" fmla="*/ 2147483647 h 1965"/>
              <a:gd name="T10" fmla="*/ 2147483647 w 1805"/>
              <a:gd name="T11" fmla="*/ 2147483647 h 1965"/>
              <a:gd name="T12" fmla="*/ 2147483647 w 1805"/>
              <a:gd name="T13" fmla="*/ 2147483647 h 1965"/>
              <a:gd name="T14" fmla="*/ 2147483647 w 1805"/>
              <a:gd name="T15" fmla="*/ 2147483647 h 1965"/>
              <a:gd name="T16" fmla="*/ 2147483647 w 1805"/>
              <a:gd name="T17" fmla="*/ 2147483647 h 1965"/>
              <a:gd name="T18" fmla="*/ 2147483647 w 1805"/>
              <a:gd name="T19" fmla="*/ 2147483647 h 1965"/>
              <a:gd name="T20" fmla="*/ 2147483647 w 1805"/>
              <a:gd name="T21" fmla="*/ 2147483647 h 1965"/>
              <a:gd name="T22" fmla="*/ 2147483647 w 1805"/>
              <a:gd name="T23" fmla="*/ 2147483647 h 1965"/>
              <a:gd name="T24" fmla="*/ 2147483647 w 1805"/>
              <a:gd name="T25" fmla="*/ 2147483647 h 1965"/>
              <a:gd name="T26" fmla="*/ 2147483647 w 1805"/>
              <a:gd name="T27" fmla="*/ 2147483647 h 1965"/>
              <a:gd name="T28" fmla="*/ 2147483647 w 1805"/>
              <a:gd name="T29" fmla="*/ 2147483647 h 1965"/>
              <a:gd name="T30" fmla="*/ 2147483647 w 1805"/>
              <a:gd name="T31" fmla="*/ 0 h 19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05"/>
              <a:gd name="T49" fmla="*/ 0 h 1965"/>
              <a:gd name="T50" fmla="*/ 1805 w 1805"/>
              <a:gd name="T51" fmla="*/ 1965 h 19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05" h="1965">
                <a:moveTo>
                  <a:pt x="0" y="1865"/>
                </a:moveTo>
                <a:cubicBezTo>
                  <a:pt x="4" y="1880"/>
                  <a:pt x="10" y="1919"/>
                  <a:pt x="28" y="1929"/>
                </a:cubicBezTo>
                <a:cubicBezTo>
                  <a:pt x="42" y="1937"/>
                  <a:pt x="58" y="1937"/>
                  <a:pt x="74" y="1938"/>
                </a:cubicBezTo>
                <a:cubicBezTo>
                  <a:pt x="177" y="1943"/>
                  <a:pt x="281" y="1944"/>
                  <a:pt x="384" y="1947"/>
                </a:cubicBezTo>
                <a:cubicBezTo>
                  <a:pt x="672" y="1939"/>
                  <a:pt x="991" y="1965"/>
                  <a:pt x="1280" y="1893"/>
                </a:cubicBezTo>
                <a:cubicBezTo>
                  <a:pt x="1298" y="1884"/>
                  <a:pt x="1317" y="1876"/>
                  <a:pt x="1335" y="1865"/>
                </a:cubicBezTo>
                <a:cubicBezTo>
                  <a:pt x="1348" y="1857"/>
                  <a:pt x="1359" y="1845"/>
                  <a:pt x="1372" y="1838"/>
                </a:cubicBezTo>
                <a:cubicBezTo>
                  <a:pt x="1425" y="1809"/>
                  <a:pt x="1486" y="1791"/>
                  <a:pt x="1536" y="1755"/>
                </a:cubicBezTo>
                <a:cubicBezTo>
                  <a:pt x="1563" y="1735"/>
                  <a:pt x="1577" y="1706"/>
                  <a:pt x="1600" y="1682"/>
                </a:cubicBezTo>
                <a:cubicBezTo>
                  <a:pt x="1623" y="1622"/>
                  <a:pt x="1652" y="1569"/>
                  <a:pt x="1674" y="1509"/>
                </a:cubicBezTo>
                <a:cubicBezTo>
                  <a:pt x="1680" y="1494"/>
                  <a:pt x="1686" y="1478"/>
                  <a:pt x="1692" y="1463"/>
                </a:cubicBezTo>
                <a:cubicBezTo>
                  <a:pt x="1701" y="1440"/>
                  <a:pt x="1710" y="1390"/>
                  <a:pt x="1710" y="1390"/>
                </a:cubicBezTo>
                <a:cubicBezTo>
                  <a:pt x="1711" y="1348"/>
                  <a:pt x="1689" y="1009"/>
                  <a:pt x="1738" y="878"/>
                </a:cubicBezTo>
                <a:cubicBezTo>
                  <a:pt x="1747" y="790"/>
                  <a:pt x="1746" y="699"/>
                  <a:pt x="1765" y="613"/>
                </a:cubicBezTo>
                <a:cubicBezTo>
                  <a:pt x="1776" y="562"/>
                  <a:pt x="1801" y="501"/>
                  <a:pt x="1802" y="448"/>
                </a:cubicBezTo>
                <a:cubicBezTo>
                  <a:pt x="1805" y="299"/>
                  <a:pt x="1802" y="149"/>
                  <a:pt x="1802" y="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38" name="Freeform 46">
            <a:extLst>
              <a:ext uri="{FF2B5EF4-FFF2-40B4-BE49-F238E27FC236}">
                <a16:creationId xmlns:a16="http://schemas.microsoft.com/office/drawing/2014/main" id="{290C779B-AB0A-5A4E-BDCC-A01B327979BD}"/>
              </a:ext>
            </a:extLst>
          </p:cNvPr>
          <p:cNvSpPr>
            <a:spLocks/>
          </p:cNvSpPr>
          <p:nvPr/>
        </p:nvSpPr>
        <p:spPr bwMode="auto">
          <a:xfrm>
            <a:off x="1905001" y="1524000"/>
            <a:ext cx="4799013" cy="1538288"/>
          </a:xfrm>
          <a:custGeom>
            <a:avLst/>
            <a:gdLst>
              <a:gd name="T0" fmla="*/ 2147483647 w 3023"/>
              <a:gd name="T1" fmla="*/ 2147483647 h 969"/>
              <a:gd name="T2" fmla="*/ 2147483647 w 3023"/>
              <a:gd name="T3" fmla="*/ 2147483647 h 969"/>
              <a:gd name="T4" fmla="*/ 2147483647 w 3023"/>
              <a:gd name="T5" fmla="*/ 2147483647 h 969"/>
              <a:gd name="T6" fmla="*/ 2147483647 w 3023"/>
              <a:gd name="T7" fmla="*/ 2147483647 h 969"/>
              <a:gd name="T8" fmla="*/ 2147483647 w 3023"/>
              <a:gd name="T9" fmla="*/ 2147483647 h 969"/>
              <a:gd name="T10" fmla="*/ 2147483647 w 3023"/>
              <a:gd name="T11" fmla="*/ 2147483647 h 969"/>
              <a:gd name="T12" fmla="*/ 2147483647 w 3023"/>
              <a:gd name="T13" fmla="*/ 2147483647 h 969"/>
              <a:gd name="T14" fmla="*/ 2147483647 w 3023"/>
              <a:gd name="T15" fmla="*/ 2147483647 h 969"/>
              <a:gd name="T16" fmla="*/ 2147483647 w 3023"/>
              <a:gd name="T17" fmla="*/ 2147483647 h 969"/>
              <a:gd name="T18" fmla="*/ 2147483647 w 3023"/>
              <a:gd name="T19" fmla="*/ 2147483647 h 969"/>
              <a:gd name="T20" fmla="*/ 2147483647 w 3023"/>
              <a:gd name="T21" fmla="*/ 0 h 969"/>
              <a:gd name="T22" fmla="*/ 2147483647 w 3023"/>
              <a:gd name="T23" fmla="*/ 2147483647 h 969"/>
              <a:gd name="T24" fmla="*/ 2147483647 w 3023"/>
              <a:gd name="T25" fmla="*/ 2147483647 h 969"/>
              <a:gd name="T26" fmla="*/ 2147483647 w 3023"/>
              <a:gd name="T27" fmla="*/ 2147483647 h 969"/>
              <a:gd name="T28" fmla="*/ 2147483647 w 3023"/>
              <a:gd name="T29" fmla="*/ 2147483647 h 969"/>
              <a:gd name="T30" fmla="*/ 2147483647 w 3023"/>
              <a:gd name="T31" fmla="*/ 2147483647 h 969"/>
              <a:gd name="T32" fmla="*/ 2147483647 w 3023"/>
              <a:gd name="T33" fmla="*/ 2147483647 h 969"/>
              <a:gd name="T34" fmla="*/ 2147483647 w 3023"/>
              <a:gd name="T35" fmla="*/ 2147483647 h 969"/>
              <a:gd name="T36" fmla="*/ 2147483647 w 3023"/>
              <a:gd name="T37" fmla="*/ 2147483647 h 969"/>
              <a:gd name="T38" fmla="*/ 2147483647 w 3023"/>
              <a:gd name="T39" fmla="*/ 2147483647 h 969"/>
              <a:gd name="T40" fmla="*/ 2147483647 w 3023"/>
              <a:gd name="T41" fmla="*/ 2147483647 h 969"/>
              <a:gd name="T42" fmla="*/ 2147483647 w 3023"/>
              <a:gd name="T43" fmla="*/ 2147483647 h 969"/>
              <a:gd name="T44" fmla="*/ 2147483647 w 3023"/>
              <a:gd name="T45" fmla="*/ 2147483647 h 969"/>
              <a:gd name="T46" fmla="*/ 2147483647 w 3023"/>
              <a:gd name="T47" fmla="*/ 2147483647 h 969"/>
              <a:gd name="T48" fmla="*/ 2147483647 w 3023"/>
              <a:gd name="T49" fmla="*/ 2147483647 h 96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23"/>
              <a:gd name="T76" fmla="*/ 0 h 969"/>
              <a:gd name="T77" fmla="*/ 3023 w 3023"/>
              <a:gd name="T78" fmla="*/ 969 h 96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23" h="969">
                <a:moveTo>
                  <a:pt x="3023" y="905"/>
                </a:moveTo>
                <a:cubicBezTo>
                  <a:pt x="3010" y="851"/>
                  <a:pt x="2988" y="789"/>
                  <a:pt x="2950" y="749"/>
                </a:cubicBezTo>
                <a:cubicBezTo>
                  <a:pt x="2926" y="676"/>
                  <a:pt x="2868" y="564"/>
                  <a:pt x="2804" y="521"/>
                </a:cubicBezTo>
                <a:cubicBezTo>
                  <a:pt x="2763" y="457"/>
                  <a:pt x="2815" y="524"/>
                  <a:pt x="2749" y="484"/>
                </a:cubicBezTo>
                <a:cubicBezTo>
                  <a:pt x="2734" y="475"/>
                  <a:pt x="2727" y="456"/>
                  <a:pt x="2712" y="448"/>
                </a:cubicBezTo>
                <a:cubicBezTo>
                  <a:pt x="2542" y="359"/>
                  <a:pt x="2628" y="419"/>
                  <a:pt x="2520" y="375"/>
                </a:cubicBezTo>
                <a:cubicBezTo>
                  <a:pt x="2482" y="360"/>
                  <a:pt x="2460" y="339"/>
                  <a:pt x="2420" y="329"/>
                </a:cubicBezTo>
                <a:cubicBezTo>
                  <a:pt x="2381" y="290"/>
                  <a:pt x="2365" y="291"/>
                  <a:pt x="2319" y="265"/>
                </a:cubicBezTo>
                <a:cubicBezTo>
                  <a:pt x="2271" y="238"/>
                  <a:pt x="2228" y="205"/>
                  <a:pt x="2173" y="192"/>
                </a:cubicBezTo>
                <a:cubicBezTo>
                  <a:pt x="2072" y="121"/>
                  <a:pt x="1958" y="107"/>
                  <a:pt x="1844" y="73"/>
                </a:cubicBezTo>
                <a:cubicBezTo>
                  <a:pt x="1758" y="47"/>
                  <a:pt x="1677" y="15"/>
                  <a:pt x="1588" y="0"/>
                </a:cubicBezTo>
                <a:cubicBezTo>
                  <a:pt x="1387" y="3"/>
                  <a:pt x="1185" y="3"/>
                  <a:pt x="984" y="9"/>
                </a:cubicBezTo>
                <a:cubicBezTo>
                  <a:pt x="927" y="11"/>
                  <a:pt x="963" y="33"/>
                  <a:pt x="893" y="36"/>
                </a:cubicBezTo>
                <a:cubicBezTo>
                  <a:pt x="823" y="39"/>
                  <a:pt x="753" y="42"/>
                  <a:pt x="683" y="45"/>
                </a:cubicBezTo>
                <a:cubicBezTo>
                  <a:pt x="643" y="59"/>
                  <a:pt x="605" y="72"/>
                  <a:pt x="564" y="82"/>
                </a:cubicBezTo>
                <a:cubicBezTo>
                  <a:pt x="529" y="103"/>
                  <a:pt x="498" y="111"/>
                  <a:pt x="463" y="128"/>
                </a:cubicBezTo>
                <a:cubicBezTo>
                  <a:pt x="376" y="171"/>
                  <a:pt x="453" y="144"/>
                  <a:pt x="390" y="164"/>
                </a:cubicBezTo>
                <a:cubicBezTo>
                  <a:pt x="363" y="183"/>
                  <a:pt x="348" y="200"/>
                  <a:pt x="317" y="210"/>
                </a:cubicBezTo>
                <a:cubicBezTo>
                  <a:pt x="265" y="248"/>
                  <a:pt x="223" y="290"/>
                  <a:pt x="180" y="338"/>
                </a:cubicBezTo>
                <a:cubicBezTo>
                  <a:pt x="166" y="354"/>
                  <a:pt x="146" y="366"/>
                  <a:pt x="134" y="384"/>
                </a:cubicBezTo>
                <a:cubicBezTo>
                  <a:pt x="119" y="408"/>
                  <a:pt x="104" y="433"/>
                  <a:pt x="88" y="457"/>
                </a:cubicBezTo>
                <a:cubicBezTo>
                  <a:pt x="82" y="466"/>
                  <a:pt x="70" y="484"/>
                  <a:pt x="70" y="484"/>
                </a:cubicBezTo>
                <a:cubicBezTo>
                  <a:pt x="57" y="526"/>
                  <a:pt x="38" y="559"/>
                  <a:pt x="24" y="603"/>
                </a:cubicBezTo>
                <a:cubicBezTo>
                  <a:pt x="18" y="621"/>
                  <a:pt x="6" y="658"/>
                  <a:pt x="6" y="658"/>
                </a:cubicBezTo>
                <a:cubicBezTo>
                  <a:pt x="9" y="721"/>
                  <a:pt x="0" y="908"/>
                  <a:pt x="61" y="969"/>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839" name="Text Box 47">
            <a:extLst>
              <a:ext uri="{FF2B5EF4-FFF2-40B4-BE49-F238E27FC236}">
                <a16:creationId xmlns:a16="http://schemas.microsoft.com/office/drawing/2014/main" id="{7AF6F7D8-23F7-2143-BB4A-E467F710C10F}"/>
              </a:ext>
            </a:extLst>
          </p:cNvPr>
          <p:cNvSpPr txBox="1">
            <a:spLocks noChangeArrowheads="1"/>
          </p:cNvSpPr>
          <p:nvPr/>
        </p:nvSpPr>
        <p:spPr bwMode="auto">
          <a:xfrm>
            <a:off x="3484563" y="22240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4</a:t>
            </a:r>
          </a:p>
        </p:txBody>
      </p:sp>
      <p:sp>
        <p:nvSpPr>
          <p:cNvPr id="33840" name="Text Box 48">
            <a:extLst>
              <a:ext uri="{FF2B5EF4-FFF2-40B4-BE49-F238E27FC236}">
                <a16:creationId xmlns:a16="http://schemas.microsoft.com/office/drawing/2014/main" id="{968D8281-4062-EB44-8FBD-E2B51971661A}"/>
              </a:ext>
            </a:extLst>
          </p:cNvPr>
          <p:cNvSpPr txBox="1">
            <a:spLocks noChangeArrowheads="1"/>
          </p:cNvSpPr>
          <p:nvPr/>
        </p:nvSpPr>
        <p:spPr bwMode="auto">
          <a:xfrm>
            <a:off x="2265363" y="47386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4</a:t>
            </a:r>
          </a:p>
        </p:txBody>
      </p:sp>
      <p:sp>
        <p:nvSpPr>
          <p:cNvPr id="33841" name="Text Box 49">
            <a:extLst>
              <a:ext uri="{FF2B5EF4-FFF2-40B4-BE49-F238E27FC236}">
                <a16:creationId xmlns:a16="http://schemas.microsoft.com/office/drawing/2014/main" id="{340794BA-7AEE-7047-897C-52FFBB487442}"/>
              </a:ext>
            </a:extLst>
          </p:cNvPr>
          <p:cNvSpPr txBox="1">
            <a:spLocks noChangeArrowheads="1"/>
          </p:cNvSpPr>
          <p:nvPr/>
        </p:nvSpPr>
        <p:spPr bwMode="auto">
          <a:xfrm>
            <a:off x="4932363" y="47386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4</a:t>
            </a:r>
          </a:p>
        </p:txBody>
      </p:sp>
      <p:sp>
        <p:nvSpPr>
          <p:cNvPr id="33842" name="Text Box 50">
            <a:extLst>
              <a:ext uri="{FF2B5EF4-FFF2-40B4-BE49-F238E27FC236}">
                <a16:creationId xmlns:a16="http://schemas.microsoft.com/office/drawing/2014/main" id="{502297CE-025E-AF4C-B89D-2516263D0D97}"/>
              </a:ext>
            </a:extLst>
          </p:cNvPr>
          <p:cNvSpPr txBox="1">
            <a:spLocks noChangeArrowheads="1"/>
          </p:cNvSpPr>
          <p:nvPr/>
        </p:nvSpPr>
        <p:spPr bwMode="auto">
          <a:xfrm>
            <a:off x="2646363" y="32908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6</a:t>
            </a:r>
          </a:p>
        </p:txBody>
      </p:sp>
      <p:sp>
        <p:nvSpPr>
          <p:cNvPr id="33843" name="Text Box 51">
            <a:extLst>
              <a:ext uri="{FF2B5EF4-FFF2-40B4-BE49-F238E27FC236}">
                <a16:creationId xmlns:a16="http://schemas.microsoft.com/office/drawing/2014/main" id="{F11C3810-EA79-CC4F-8E7B-12DE86BBD4C9}"/>
              </a:ext>
            </a:extLst>
          </p:cNvPr>
          <p:cNvSpPr txBox="1">
            <a:spLocks noChangeArrowheads="1"/>
          </p:cNvSpPr>
          <p:nvPr/>
        </p:nvSpPr>
        <p:spPr bwMode="auto">
          <a:xfrm>
            <a:off x="4475163" y="32908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6</a:t>
            </a:r>
          </a:p>
        </p:txBody>
      </p:sp>
      <p:sp>
        <p:nvSpPr>
          <p:cNvPr id="33844" name="Text Box 52">
            <a:extLst>
              <a:ext uri="{FF2B5EF4-FFF2-40B4-BE49-F238E27FC236}">
                <a16:creationId xmlns:a16="http://schemas.microsoft.com/office/drawing/2014/main" id="{F075564A-9081-7142-98B0-239C35FAEAA4}"/>
              </a:ext>
            </a:extLst>
          </p:cNvPr>
          <p:cNvSpPr txBox="1">
            <a:spLocks noChangeArrowheads="1"/>
          </p:cNvSpPr>
          <p:nvPr/>
        </p:nvSpPr>
        <p:spPr bwMode="auto">
          <a:xfrm>
            <a:off x="3560763" y="48910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6</a:t>
            </a:r>
          </a:p>
        </p:txBody>
      </p:sp>
      <p:sp>
        <p:nvSpPr>
          <p:cNvPr id="33845" name="Text Box 53">
            <a:extLst>
              <a:ext uri="{FF2B5EF4-FFF2-40B4-BE49-F238E27FC236}">
                <a16:creationId xmlns:a16="http://schemas.microsoft.com/office/drawing/2014/main" id="{146B3460-0DE4-3A49-AD1B-30F60F73808B}"/>
              </a:ext>
            </a:extLst>
          </p:cNvPr>
          <p:cNvSpPr txBox="1">
            <a:spLocks noChangeArrowheads="1"/>
          </p:cNvSpPr>
          <p:nvPr/>
        </p:nvSpPr>
        <p:spPr bwMode="auto">
          <a:xfrm>
            <a:off x="6075363" y="42052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6</a:t>
            </a:r>
          </a:p>
        </p:txBody>
      </p:sp>
      <p:sp>
        <p:nvSpPr>
          <p:cNvPr id="33846" name="Text Box 54">
            <a:extLst>
              <a:ext uri="{FF2B5EF4-FFF2-40B4-BE49-F238E27FC236}">
                <a16:creationId xmlns:a16="http://schemas.microsoft.com/office/drawing/2014/main" id="{6CF3F523-956A-F246-AA86-D56AA4C139E3}"/>
              </a:ext>
            </a:extLst>
          </p:cNvPr>
          <p:cNvSpPr txBox="1">
            <a:spLocks noChangeArrowheads="1"/>
          </p:cNvSpPr>
          <p:nvPr/>
        </p:nvSpPr>
        <p:spPr bwMode="auto">
          <a:xfrm>
            <a:off x="5329238" y="2332038"/>
            <a:ext cx="228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1800"/>
              <a:t>6</a:t>
            </a:r>
          </a:p>
        </p:txBody>
      </p:sp>
      <p:sp>
        <p:nvSpPr>
          <p:cNvPr id="33847" name="Text Box 55">
            <a:extLst>
              <a:ext uri="{FF2B5EF4-FFF2-40B4-BE49-F238E27FC236}">
                <a16:creationId xmlns:a16="http://schemas.microsoft.com/office/drawing/2014/main" id="{1078CD17-6F59-664D-8EB1-DC99407810B2}"/>
              </a:ext>
            </a:extLst>
          </p:cNvPr>
          <p:cNvSpPr txBox="1">
            <a:spLocks noChangeArrowheads="1"/>
          </p:cNvSpPr>
          <p:nvPr/>
        </p:nvSpPr>
        <p:spPr bwMode="auto">
          <a:xfrm>
            <a:off x="2427288" y="5954535"/>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6</a:t>
            </a:r>
          </a:p>
        </p:txBody>
      </p:sp>
      <p:sp>
        <p:nvSpPr>
          <p:cNvPr id="33848" name="Text Box 60">
            <a:extLst>
              <a:ext uri="{FF2B5EF4-FFF2-40B4-BE49-F238E27FC236}">
                <a16:creationId xmlns:a16="http://schemas.microsoft.com/office/drawing/2014/main" id="{0151FF9E-2717-904A-B064-2D5A086D56CA}"/>
              </a:ext>
            </a:extLst>
          </p:cNvPr>
          <p:cNvSpPr txBox="1">
            <a:spLocks noChangeArrowheads="1"/>
          </p:cNvSpPr>
          <p:nvPr/>
        </p:nvSpPr>
        <p:spPr bwMode="auto">
          <a:xfrm>
            <a:off x="1524000" y="1219201"/>
            <a:ext cx="297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a:latin typeface="Times New Roman" panose="02020603050405020304" pitchFamily="18" charset="0"/>
              </a:rPr>
              <a:t>Planar Graph </a:t>
            </a:r>
            <a:r>
              <a:rPr lang="en-US" altLang="en-US" sz="2000" i="1">
                <a:latin typeface="Times New Roman" panose="02020603050405020304" pitchFamily="18" charset="0"/>
              </a:rPr>
              <a:t>G</a:t>
            </a:r>
          </a:p>
        </p:txBody>
      </p:sp>
      <p:graphicFrame>
        <p:nvGraphicFramePr>
          <p:cNvPr id="33849" name="Object 3">
            <a:extLst>
              <a:ext uri="{FF2B5EF4-FFF2-40B4-BE49-F238E27FC236}">
                <a16:creationId xmlns:a16="http://schemas.microsoft.com/office/drawing/2014/main" id="{521CC3AA-F960-F443-B828-2149F7CA1915}"/>
              </a:ext>
            </a:extLst>
          </p:cNvPr>
          <p:cNvGraphicFramePr>
            <a:graphicFrameLocks noChangeAspect="1"/>
          </p:cNvGraphicFramePr>
          <p:nvPr>
            <p:extLst/>
          </p:nvPr>
        </p:nvGraphicFramePr>
        <p:xfrm>
          <a:off x="7235826" y="2719620"/>
          <a:ext cx="2974975" cy="492125"/>
        </p:xfrm>
        <a:graphic>
          <a:graphicData uri="http://schemas.openxmlformats.org/presentationml/2006/ole">
            <mc:AlternateContent xmlns:mc="http://schemas.openxmlformats.org/markup-compatibility/2006">
              <mc:Choice xmlns:v="urn:schemas-microsoft-com:vml" Requires="v">
                <p:oleObj spid="_x0000_s4099" name="Equation" r:id="rId5" imgW="33642300" imgH="5562600" progId="Equation.DSMT4">
                  <p:embed/>
                </p:oleObj>
              </mc:Choice>
              <mc:Fallback>
                <p:oleObj name="Equation" r:id="rId5" imgW="33642300" imgH="5562600" progId="Equation.DSMT4">
                  <p:embed/>
                  <p:pic>
                    <p:nvPicPr>
                      <p:cNvPr id="33849" name="Object 3">
                        <a:extLst>
                          <a:ext uri="{FF2B5EF4-FFF2-40B4-BE49-F238E27FC236}">
                            <a16:creationId xmlns:a16="http://schemas.microsoft.com/office/drawing/2014/main" id="{521CC3AA-F960-F443-B828-2149F7CA19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5826" y="2719620"/>
                        <a:ext cx="2974975"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3850" name="Text Box 62">
            <a:extLst>
              <a:ext uri="{FF2B5EF4-FFF2-40B4-BE49-F238E27FC236}">
                <a16:creationId xmlns:a16="http://schemas.microsoft.com/office/drawing/2014/main" id="{FD6E5B7E-65AC-C343-A7C8-42114E89B26F}"/>
              </a:ext>
            </a:extLst>
          </p:cNvPr>
          <p:cNvSpPr txBox="1">
            <a:spLocks noChangeArrowheads="1"/>
          </p:cNvSpPr>
          <p:nvPr/>
        </p:nvSpPr>
        <p:spPr bwMode="auto">
          <a:xfrm>
            <a:off x="7086600" y="3810001"/>
            <a:ext cx="32004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1800" dirty="0">
                <a:latin typeface="Times New Roman" panose="02020603050405020304" pitchFamily="18" charset="0"/>
              </a:rPr>
              <a:t>No matter where a Hamilton Circuit is drawn (if it exists), we know that                          and</a:t>
            </a:r>
          </a:p>
          <a:p>
            <a:pPr eaLnBrk="1" hangingPunct="1">
              <a:spcBef>
                <a:spcPct val="50000"/>
              </a:spcBef>
            </a:pPr>
            <a:r>
              <a:rPr lang="en-US" altLang="en-US" sz="1800" dirty="0">
                <a:latin typeface="Times New Roman" panose="02020603050405020304" pitchFamily="18" charset="0"/>
              </a:rPr>
              <a:t>                     .  Therefore,     and      must have the same parity and</a:t>
            </a:r>
          </a:p>
          <a:p>
            <a:pPr eaLnBrk="1" hangingPunct="1">
              <a:spcBef>
                <a:spcPct val="50000"/>
              </a:spcBef>
            </a:pPr>
            <a:r>
              <a:rPr lang="en-US" altLang="en-US" sz="1800" dirty="0">
                <a:latin typeface="Times New Roman" panose="02020603050405020304" pitchFamily="18" charset="0"/>
              </a:rPr>
              <a:t>                     .</a:t>
            </a:r>
          </a:p>
        </p:txBody>
      </p:sp>
      <p:graphicFrame>
        <p:nvGraphicFramePr>
          <p:cNvPr id="33851" name="Object 4">
            <a:extLst>
              <a:ext uri="{FF2B5EF4-FFF2-40B4-BE49-F238E27FC236}">
                <a16:creationId xmlns:a16="http://schemas.microsoft.com/office/drawing/2014/main" id="{322A5258-25F2-0A45-8FDB-722F70C75BB6}"/>
              </a:ext>
            </a:extLst>
          </p:cNvPr>
          <p:cNvGraphicFramePr>
            <a:graphicFrameLocks noChangeAspect="1"/>
          </p:cNvGraphicFramePr>
          <p:nvPr/>
        </p:nvGraphicFramePr>
        <p:xfrm>
          <a:off x="8153400" y="4343400"/>
          <a:ext cx="1295400" cy="457200"/>
        </p:xfrm>
        <a:graphic>
          <a:graphicData uri="http://schemas.openxmlformats.org/presentationml/2006/ole">
            <mc:AlternateContent xmlns:mc="http://schemas.openxmlformats.org/markup-compatibility/2006">
              <mc:Choice xmlns:v="urn:schemas-microsoft-com:vml" Requires="v">
                <p:oleObj spid="_x0000_s4100" name="Equation" r:id="rId7" imgW="14046200" imgH="5562600" progId="Equation.DSMT4">
                  <p:embed/>
                </p:oleObj>
              </mc:Choice>
              <mc:Fallback>
                <p:oleObj name="Equation" r:id="rId7" imgW="14046200" imgH="5562600" progId="Equation.DSMT4">
                  <p:embed/>
                  <p:pic>
                    <p:nvPicPr>
                      <p:cNvPr id="33851" name="Object 4">
                        <a:extLst>
                          <a:ext uri="{FF2B5EF4-FFF2-40B4-BE49-F238E27FC236}">
                            <a16:creationId xmlns:a16="http://schemas.microsoft.com/office/drawing/2014/main" id="{322A5258-25F2-0A45-8FDB-722F70C75B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53400" y="4343400"/>
                        <a:ext cx="1295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852" name="Object 5">
            <a:extLst>
              <a:ext uri="{FF2B5EF4-FFF2-40B4-BE49-F238E27FC236}">
                <a16:creationId xmlns:a16="http://schemas.microsoft.com/office/drawing/2014/main" id="{0D254411-8DA6-0E4A-AB11-30E36DB4D48E}"/>
              </a:ext>
            </a:extLst>
          </p:cNvPr>
          <p:cNvGraphicFramePr>
            <a:graphicFrameLocks noGrp="1" noChangeAspect="1"/>
          </p:cNvGraphicFramePr>
          <p:nvPr>
            <p:ph sz="half" idx="2"/>
          </p:nvPr>
        </p:nvGraphicFramePr>
        <p:xfrm>
          <a:off x="7162800" y="4724400"/>
          <a:ext cx="1295400" cy="457200"/>
        </p:xfrm>
        <a:graphic>
          <a:graphicData uri="http://schemas.openxmlformats.org/presentationml/2006/ole">
            <mc:AlternateContent xmlns:mc="http://schemas.openxmlformats.org/markup-compatibility/2006">
              <mc:Choice xmlns:v="urn:schemas-microsoft-com:vml" Requires="v">
                <p:oleObj spid="_x0000_s4101" name="Equation" r:id="rId9" imgW="14338300" imgH="5562600" progId="Equation.DSMT4">
                  <p:embed/>
                </p:oleObj>
              </mc:Choice>
              <mc:Fallback>
                <p:oleObj name="Equation" r:id="rId9" imgW="14338300" imgH="5562600" progId="Equation.DSMT4">
                  <p:embed/>
                  <p:pic>
                    <p:nvPicPr>
                      <p:cNvPr id="33852" name="Object 5">
                        <a:extLst>
                          <a:ext uri="{FF2B5EF4-FFF2-40B4-BE49-F238E27FC236}">
                            <a16:creationId xmlns:a16="http://schemas.microsoft.com/office/drawing/2014/main" id="{0D254411-8DA6-0E4A-AB11-30E36DB4D4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62800" y="4724400"/>
                        <a:ext cx="1295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853" name="Object 6">
            <a:extLst>
              <a:ext uri="{FF2B5EF4-FFF2-40B4-BE49-F238E27FC236}">
                <a16:creationId xmlns:a16="http://schemas.microsoft.com/office/drawing/2014/main" id="{9BA6A454-927D-4F43-A4C6-FA75FE67262E}"/>
              </a:ext>
            </a:extLst>
          </p:cNvPr>
          <p:cNvGraphicFramePr>
            <a:graphicFrameLocks noChangeAspect="1"/>
          </p:cNvGraphicFramePr>
          <p:nvPr/>
        </p:nvGraphicFramePr>
        <p:xfrm>
          <a:off x="7162800" y="5334000"/>
          <a:ext cx="1174750" cy="457200"/>
        </p:xfrm>
        <a:graphic>
          <a:graphicData uri="http://schemas.openxmlformats.org/presentationml/2006/ole">
            <mc:AlternateContent xmlns:mc="http://schemas.openxmlformats.org/markup-compatibility/2006">
              <mc:Choice xmlns:v="urn:schemas-microsoft-com:vml" Requires="v">
                <p:oleObj spid="_x0000_s4102" name="Equation" r:id="rId11" imgW="15506700" imgH="5562600" progId="Equation.DSMT4">
                  <p:embed/>
                </p:oleObj>
              </mc:Choice>
              <mc:Fallback>
                <p:oleObj name="Equation" r:id="rId11" imgW="15506700" imgH="5562600" progId="Equation.DSMT4">
                  <p:embed/>
                  <p:pic>
                    <p:nvPicPr>
                      <p:cNvPr id="33853" name="Object 6">
                        <a:extLst>
                          <a:ext uri="{FF2B5EF4-FFF2-40B4-BE49-F238E27FC236}">
                            <a16:creationId xmlns:a16="http://schemas.microsoft.com/office/drawing/2014/main" id="{9BA6A454-927D-4F43-A4C6-FA75FE67262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62800" y="5334000"/>
                        <a:ext cx="1174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854" name="Object 7">
            <a:extLst>
              <a:ext uri="{FF2B5EF4-FFF2-40B4-BE49-F238E27FC236}">
                <a16:creationId xmlns:a16="http://schemas.microsoft.com/office/drawing/2014/main" id="{213A2C6A-ED3B-184E-8D59-B632667E738F}"/>
              </a:ext>
            </a:extLst>
          </p:cNvPr>
          <p:cNvGraphicFramePr>
            <a:graphicFrameLocks noChangeAspect="1"/>
          </p:cNvGraphicFramePr>
          <p:nvPr/>
        </p:nvGraphicFramePr>
        <p:xfrm>
          <a:off x="10210800" y="4703764"/>
          <a:ext cx="228600" cy="388937"/>
        </p:xfrm>
        <a:graphic>
          <a:graphicData uri="http://schemas.openxmlformats.org/presentationml/2006/ole">
            <mc:AlternateContent xmlns:mc="http://schemas.openxmlformats.org/markup-compatibility/2006">
              <mc:Choice xmlns:v="urn:schemas-microsoft-com:vml" Requires="v">
                <p:oleObj spid="_x0000_s4103" name="Equation" r:id="rId13" imgW="127000" imgH="215900" progId="Equation.3">
                  <p:embed/>
                </p:oleObj>
              </mc:Choice>
              <mc:Fallback>
                <p:oleObj name="Equation" r:id="rId13" imgW="127000" imgH="215900" progId="Equation.3">
                  <p:embed/>
                  <p:pic>
                    <p:nvPicPr>
                      <p:cNvPr id="33854" name="Object 7">
                        <a:extLst>
                          <a:ext uri="{FF2B5EF4-FFF2-40B4-BE49-F238E27FC236}">
                            <a16:creationId xmlns:a16="http://schemas.microsoft.com/office/drawing/2014/main" id="{213A2C6A-ED3B-184E-8D59-B632667E738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210800" y="4703764"/>
                        <a:ext cx="228600" cy="388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855" name="Object 8">
            <a:extLst>
              <a:ext uri="{FF2B5EF4-FFF2-40B4-BE49-F238E27FC236}">
                <a16:creationId xmlns:a16="http://schemas.microsoft.com/office/drawing/2014/main" id="{690586C2-6A78-9B44-ACBF-F5C75A357733}"/>
              </a:ext>
            </a:extLst>
          </p:cNvPr>
          <p:cNvGraphicFramePr>
            <a:graphicFrameLocks noChangeAspect="1"/>
          </p:cNvGraphicFramePr>
          <p:nvPr/>
        </p:nvGraphicFramePr>
        <p:xfrm>
          <a:off x="9525000" y="4724401"/>
          <a:ext cx="228600" cy="365125"/>
        </p:xfrm>
        <a:graphic>
          <a:graphicData uri="http://schemas.openxmlformats.org/presentationml/2006/ole">
            <mc:AlternateContent xmlns:mc="http://schemas.openxmlformats.org/markup-compatibility/2006">
              <mc:Choice xmlns:v="urn:schemas-microsoft-com:vml" Requires="v">
                <p:oleObj spid="_x0000_s4104" name="Equation" r:id="rId15" imgW="127000" imgH="203200" progId="Equation.3">
                  <p:embed/>
                </p:oleObj>
              </mc:Choice>
              <mc:Fallback>
                <p:oleObj name="Equation" r:id="rId15" imgW="127000" imgH="203200" progId="Equation.3">
                  <p:embed/>
                  <p:pic>
                    <p:nvPicPr>
                      <p:cNvPr id="33855" name="Object 8">
                        <a:extLst>
                          <a:ext uri="{FF2B5EF4-FFF2-40B4-BE49-F238E27FC236}">
                            <a16:creationId xmlns:a16="http://schemas.microsoft.com/office/drawing/2014/main" id="{690586C2-6A78-9B44-ACBF-F5C75A35773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525000" y="4724401"/>
                        <a:ext cx="228600"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5388801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a:extLst>
              <a:ext uri="{FF2B5EF4-FFF2-40B4-BE49-F238E27FC236}">
                <a16:creationId xmlns:a16="http://schemas.microsoft.com/office/drawing/2014/main" id="{6EB4A4E6-9CB3-2444-B163-6D2A4C343DE4}"/>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Use of Theorem 3 Cont</a:t>
            </a:r>
            <a:r>
              <a:rPr lang="ja-JP" altLang="en-US">
                <a:ea typeface="ＭＳ Ｐゴシック" panose="020B0600070205080204" pitchFamily="34" charset="-128"/>
              </a:rPr>
              <a:t>’</a:t>
            </a:r>
            <a:r>
              <a:rPr lang="en-US" altLang="ja-JP">
                <a:ea typeface="ＭＳ Ｐゴシック" panose="020B0600070205080204" pitchFamily="34" charset="-128"/>
              </a:rPr>
              <a:t>d</a:t>
            </a:r>
            <a:endParaRPr lang="en-US" altLang="en-US">
              <a:ea typeface="ＭＳ Ｐゴシック" panose="020B0600070205080204" pitchFamily="34" charset="-128"/>
            </a:endParaRPr>
          </a:p>
        </p:txBody>
      </p:sp>
      <p:graphicFrame>
        <p:nvGraphicFramePr>
          <p:cNvPr id="34821" name="Object 2">
            <a:extLst>
              <a:ext uri="{FF2B5EF4-FFF2-40B4-BE49-F238E27FC236}">
                <a16:creationId xmlns:a16="http://schemas.microsoft.com/office/drawing/2014/main" id="{B6B2A408-C53D-5A48-8696-306ED752B476}"/>
              </a:ext>
            </a:extLst>
          </p:cNvPr>
          <p:cNvGraphicFramePr>
            <a:graphicFrameLocks noGrp="1" noChangeAspect="1"/>
          </p:cNvGraphicFramePr>
          <p:nvPr>
            <p:ph sz="half" idx="2"/>
            <p:extLst/>
          </p:nvPr>
        </p:nvGraphicFramePr>
        <p:xfrm>
          <a:off x="8153400" y="2494534"/>
          <a:ext cx="1295400" cy="457200"/>
        </p:xfrm>
        <a:graphic>
          <a:graphicData uri="http://schemas.openxmlformats.org/presentationml/2006/ole">
            <mc:AlternateContent xmlns:mc="http://schemas.openxmlformats.org/markup-compatibility/2006">
              <mc:Choice xmlns:v="urn:schemas-microsoft-com:vml" Requires="v">
                <p:oleObj spid="_x0000_s5122" name="Equation" r:id="rId3" imgW="14338300" imgH="5562600" progId="Equation.DSMT4">
                  <p:embed/>
                </p:oleObj>
              </mc:Choice>
              <mc:Fallback>
                <p:oleObj name="Equation" r:id="rId3" imgW="14338300" imgH="5562600" progId="Equation.DSMT4">
                  <p:embed/>
                  <p:pic>
                    <p:nvPicPr>
                      <p:cNvPr id="34821" name="Object 2">
                        <a:extLst>
                          <a:ext uri="{FF2B5EF4-FFF2-40B4-BE49-F238E27FC236}">
                            <a16:creationId xmlns:a16="http://schemas.microsoft.com/office/drawing/2014/main" id="{B6B2A408-C53D-5A48-8696-306ED752B4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3400" y="2494534"/>
                        <a:ext cx="1295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4823" name="Text Box 11">
            <a:extLst>
              <a:ext uri="{FF2B5EF4-FFF2-40B4-BE49-F238E27FC236}">
                <a16:creationId xmlns:a16="http://schemas.microsoft.com/office/drawing/2014/main" id="{A264CE80-0001-C647-A7A5-0CC3660CFE77}"/>
              </a:ext>
            </a:extLst>
          </p:cNvPr>
          <p:cNvSpPr txBox="1">
            <a:spLocks noChangeArrowheads="1"/>
          </p:cNvSpPr>
          <p:nvPr/>
        </p:nvSpPr>
        <p:spPr bwMode="auto">
          <a:xfrm>
            <a:off x="7881135" y="1505968"/>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2000" dirty="0">
                <a:latin typeface="Times New Roman" panose="02020603050405020304" pitchFamily="18" charset="0"/>
              </a:rPr>
              <a:t> (1)</a:t>
            </a:r>
          </a:p>
        </p:txBody>
      </p:sp>
      <p:sp>
        <p:nvSpPr>
          <p:cNvPr id="34824" name="Text Box 12">
            <a:extLst>
              <a:ext uri="{FF2B5EF4-FFF2-40B4-BE49-F238E27FC236}">
                <a16:creationId xmlns:a16="http://schemas.microsoft.com/office/drawing/2014/main" id="{2AB8F410-1CDC-2E41-9C3A-25658EECB505}"/>
              </a:ext>
            </a:extLst>
          </p:cNvPr>
          <p:cNvSpPr txBox="1">
            <a:spLocks noChangeArrowheads="1"/>
          </p:cNvSpPr>
          <p:nvPr/>
        </p:nvSpPr>
        <p:spPr bwMode="auto">
          <a:xfrm>
            <a:off x="2362200" y="2113534"/>
            <a:ext cx="78486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Char char="•"/>
            </a:pPr>
            <a:r>
              <a:rPr lang="en-US" altLang="en-US" sz="1800" dirty="0">
                <a:latin typeface="Times New Roman" panose="02020603050405020304" pitchFamily="18" charset="0"/>
              </a:rPr>
              <a:t>Consider the case                    .  </a:t>
            </a:r>
          </a:p>
          <a:p>
            <a:pPr eaLnBrk="1" hangingPunct="1">
              <a:spcBef>
                <a:spcPct val="50000"/>
              </a:spcBef>
              <a:buFontTx/>
              <a:buChar char="•"/>
            </a:pPr>
            <a:r>
              <a:rPr lang="en-US" altLang="en-US" sz="1800" dirty="0">
                <a:latin typeface="Times New Roman" panose="02020603050405020304" pitchFamily="18" charset="0"/>
              </a:rPr>
              <a:t>This is impossible since then the equation would require that                        which is impossible since                      .</a:t>
            </a:r>
          </a:p>
          <a:p>
            <a:pPr eaLnBrk="1" hangingPunct="1">
              <a:spcBef>
                <a:spcPct val="50000"/>
              </a:spcBef>
              <a:buFontTx/>
              <a:buChar char="•"/>
            </a:pPr>
            <a:r>
              <a:rPr lang="en-US" altLang="en-US" sz="1800" dirty="0">
                <a:latin typeface="Times New Roman" panose="02020603050405020304" pitchFamily="18" charset="0"/>
              </a:rPr>
              <a:t>We now know that                            , and therefore                             .</a:t>
            </a:r>
          </a:p>
          <a:p>
            <a:pPr eaLnBrk="1" hangingPunct="1">
              <a:spcBef>
                <a:spcPct val="50000"/>
              </a:spcBef>
              <a:buFontTx/>
              <a:buChar char="•"/>
            </a:pPr>
            <a:r>
              <a:rPr lang="en-US" altLang="en-US" sz="1800" dirty="0">
                <a:latin typeface="Times New Roman" panose="02020603050405020304" pitchFamily="18" charset="0"/>
              </a:rPr>
              <a:t>Now we cannot satisfy Eq. (1) because regardless of what possible value is taken on by                           , it cannot compensate for the other term to make the equation equal zero.</a:t>
            </a:r>
          </a:p>
          <a:p>
            <a:pPr eaLnBrk="1" hangingPunct="1">
              <a:spcBef>
                <a:spcPct val="50000"/>
              </a:spcBef>
              <a:buFontTx/>
              <a:buChar char="•"/>
            </a:pPr>
            <a:r>
              <a:rPr lang="en-US" altLang="en-US" sz="1800" dirty="0">
                <a:latin typeface="Times New Roman" panose="02020603050405020304" pitchFamily="18" charset="0"/>
              </a:rPr>
              <a:t>Therefore, no Hamilton Circuit can exist.</a:t>
            </a:r>
          </a:p>
        </p:txBody>
      </p:sp>
      <p:graphicFrame>
        <p:nvGraphicFramePr>
          <p:cNvPr id="34825" name="Object 3">
            <a:extLst>
              <a:ext uri="{FF2B5EF4-FFF2-40B4-BE49-F238E27FC236}">
                <a16:creationId xmlns:a16="http://schemas.microsoft.com/office/drawing/2014/main" id="{19B7F56E-6201-E743-9494-519300FA8AB9}"/>
              </a:ext>
            </a:extLst>
          </p:cNvPr>
          <p:cNvGraphicFramePr>
            <a:graphicFrameLocks noChangeAspect="1"/>
          </p:cNvGraphicFramePr>
          <p:nvPr>
            <p:extLst/>
          </p:nvPr>
        </p:nvGraphicFramePr>
        <p:xfrm>
          <a:off x="4225926" y="2102422"/>
          <a:ext cx="1184275" cy="449262"/>
        </p:xfrm>
        <a:graphic>
          <a:graphicData uri="http://schemas.openxmlformats.org/presentationml/2006/ole">
            <mc:AlternateContent xmlns:mc="http://schemas.openxmlformats.org/markup-compatibility/2006">
              <mc:Choice xmlns:v="urn:schemas-microsoft-com:vml" Requires="v">
                <p:oleObj spid="_x0000_s5123" name="Equation" r:id="rId5" imgW="584200" imgH="254000" progId="Equation.3">
                  <p:embed/>
                </p:oleObj>
              </mc:Choice>
              <mc:Fallback>
                <p:oleObj name="Equation" r:id="rId5" imgW="584200" imgH="254000" progId="Equation.3">
                  <p:embed/>
                  <p:pic>
                    <p:nvPicPr>
                      <p:cNvPr id="34825" name="Object 3">
                        <a:extLst>
                          <a:ext uri="{FF2B5EF4-FFF2-40B4-BE49-F238E27FC236}">
                            <a16:creationId xmlns:a16="http://schemas.microsoft.com/office/drawing/2014/main" id="{19B7F56E-6201-E743-9494-519300FA8A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5926" y="2102422"/>
                        <a:ext cx="118427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6" name="Object 4">
            <a:extLst>
              <a:ext uri="{FF2B5EF4-FFF2-40B4-BE49-F238E27FC236}">
                <a16:creationId xmlns:a16="http://schemas.microsoft.com/office/drawing/2014/main" id="{5E536959-0626-D248-AA3B-EA8C91DC01E9}"/>
              </a:ext>
            </a:extLst>
          </p:cNvPr>
          <p:cNvGraphicFramePr>
            <a:graphicFrameLocks noGrp="1" noChangeAspect="1"/>
          </p:cNvGraphicFramePr>
          <p:nvPr>
            <p:ph sz="half" idx="1"/>
            <p:extLst/>
          </p:nvPr>
        </p:nvGraphicFramePr>
        <p:xfrm>
          <a:off x="4191000" y="2799334"/>
          <a:ext cx="1295400" cy="425450"/>
        </p:xfrm>
        <a:graphic>
          <a:graphicData uri="http://schemas.openxmlformats.org/presentationml/2006/ole">
            <mc:AlternateContent xmlns:mc="http://schemas.openxmlformats.org/markup-compatibility/2006">
              <mc:Choice xmlns:v="urn:schemas-microsoft-com:vml" Requires="v">
                <p:oleObj spid="_x0000_s5124" name="Equation" r:id="rId7" imgW="14046200" imgH="5562600" progId="Equation.DSMT4">
                  <p:embed/>
                </p:oleObj>
              </mc:Choice>
              <mc:Fallback>
                <p:oleObj name="Equation" r:id="rId7" imgW="14046200" imgH="5562600" progId="Equation.DSMT4">
                  <p:embed/>
                  <p:pic>
                    <p:nvPicPr>
                      <p:cNvPr id="34826" name="Object 4">
                        <a:extLst>
                          <a:ext uri="{FF2B5EF4-FFF2-40B4-BE49-F238E27FC236}">
                            <a16:creationId xmlns:a16="http://schemas.microsoft.com/office/drawing/2014/main" id="{5E536959-0626-D248-AA3B-EA8C91DC01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000" y="2799334"/>
                        <a:ext cx="1295400"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4827" name="Object 5">
            <a:extLst>
              <a:ext uri="{FF2B5EF4-FFF2-40B4-BE49-F238E27FC236}">
                <a16:creationId xmlns:a16="http://schemas.microsoft.com/office/drawing/2014/main" id="{6AC2FCC5-E30D-2048-8D68-E09DB7208BDF}"/>
              </a:ext>
            </a:extLst>
          </p:cNvPr>
          <p:cNvGraphicFramePr>
            <a:graphicFrameLocks noChangeAspect="1"/>
          </p:cNvGraphicFramePr>
          <p:nvPr>
            <p:extLst/>
          </p:nvPr>
        </p:nvGraphicFramePr>
        <p:xfrm>
          <a:off x="4267200" y="3180334"/>
          <a:ext cx="1676400" cy="457200"/>
        </p:xfrm>
        <a:graphic>
          <a:graphicData uri="http://schemas.openxmlformats.org/presentationml/2006/ole">
            <mc:AlternateContent xmlns:mc="http://schemas.openxmlformats.org/markup-compatibility/2006">
              <mc:Choice xmlns:v="urn:schemas-microsoft-com:vml" Requires="v">
                <p:oleObj spid="_x0000_s5125" name="Equation" r:id="rId9" imgW="15798800" imgH="5562600" progId="Equation.DSMT4">
                  <p:embed/>
                </p:oleObj>
              </mc:Choice>
              <mc:Fallback>
                <p:oleObj name="Equation" r:id="rId9" imgW="15798800" imgH="5562600" progId="Equation.DSMT4">
                  <p:embed/>
                  <p:pic>
                    <p:nvPicPr>
                      <p:cNvPr id="34827" name="Object 5">
                        <a:extLst>
                          <a:ext uri="{FF2B5EF4-FFF2-40B4-BE49-F238E27FC236}">
                            <a16:creationId xmlns:a16="http://schemas.microsoft.com/office/drawing/2014/main" id="{6AC2FCC5-E30D-2048-8D68-E09DB7208BD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7200" y="3180334"/>
                        <a:ext cx="1676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4828" name="Object 6">
            <a:extLst>
              <a:ext uri="{FF2B5EF4-FFF2-40B4-BE49-F238E27FC236}">
                <a16:creationId xmlns:a16="http://schemas.microsoft.com/office/drawing/2014/main" id="{FFF37C50-314C-E445-A47A-C04EFE9205ED}"/>
              </a:ext>
            </a:extLst>
          </p:cNvPr>
          <p:cNvGraphicFramePr>
            <a:graphicFrameLocks noChangeAspect="1"/>
          </p:cNvGraphicFramePr>
          <p:nvPr>
            <p:extLst/>
          </p:nvPr>
        </p:nvGraphicFramePr>
        <p:xfrm>
          <a:off x="7239000" y="3180334"/>
          <a:ext cx="1600200" cy="457200"/>
        </p:xfrm>
        <a:graphic>
          <a:graphicData uri="http://schemas.openxmlformats.org/presentationml/2006/ole">
            <mc:AlternateContent xmlns:mc="http://schemas.openxmlformats.org/markup-compatibility/2006">
              <mc:Choice xmlns:v="urn:schemas-microsoft-com:vml" Requires="v">
                <p:oleObj spid="_x0000_s5126" name="Equation" r:id="rId11" imgW="19900900" imgH="5562600" progId="Equation.DSMT4">
                  <p:embed/>
                </p:oleObj>
              </mc:Choice>
              <mc:Fallback>
                <p:oleObj name="Equation" r:id="rId11" imgW="19900900" imgH="5562600" progId="Equation.DSMT4">
                  <p:embed/>
                  <p:pic>
                    <p:nvPicPr>
                      <p:cNvPr id="34828" name="Object 6">
                        <a:extLst>
                          <a:ext uri="{FF2B5EF4-FFF2-40B4-BE49-F238E27FC236}">
                            <a16:creationId xmlns:a16="http://schemas.microsoft.com/office/drawing/2014/main" id="{FFF37C50-314C-E445-A47A-C04EFE9205E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39000" y="3180334"/>
                        <a:ext cx="1600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4829" name="Object 7">
            <a:extLst>
              <a:ext uri="{FF2B5EF4-FFF2-40B4-BE49-F238E27FC236}">
                <a16:creationId xmlns:a16="http://schemas.microsoft.com/office/drawing/2014/main" id="{64301AF9-91E4-6849-8DD9-F8D480E2FC57}"/>
              </a:ext>
            </a:extLst>
          </p:cNvPr>
          <p:cNvGraphicFramePr>
            <a:graphicFrameLocks noChangeAspect="1"/>
          </p:cNvGraphicFramePr>
          <p:nvPr>
            <p:extLst/>
          </p:nvPr>
        </p:nvGraphicFramePr>
        <p:xfrm>
          <a:off x="3048000" y="3866134"/>
          <a:ext cx="1447800" cy="457200"/>
        </p:xfrm>
        <a:graphic>
          <a:graphicData uri="http://schemas.openxmlformats.org/presentationml/2006/ole">
            <mc:AlternateContent xmlns:mc="http://schemas.openxmlformats.org/markup-compatibility/2006">
              <mc:Choice xmlns:v="urn:schemas-microsoft-com:vml" Requires="v">
                <p:oleObj spid="_x0000_s5127" name="Equation" r:id="rId13" imgW="13169900" imgH="5562600" progId="Equation.DSMT4">
                  <p:embed/>
                </p:oleObj>
              </mc:Choice>
              <mc:Fallback>
                <p:oleObj name="Equation" r:id="rId13" imgW="13169900" imgH="5562600" progId="Equation.DSMT4">
                  <p:embed/>
                  <p:pic>
                    <p:nvPicPr>
                      <p:cNvPr id="34829" name="Object 7">
                        <a:extLst>
                          <a:ext uri="{FF2B5EF4-FFF2-40B4-BE49-F238E27FC236}">
                            <a16:creationId xmlns:a16="http://schemas.microsoft.com/office/drawing/2014/main" id="{64301AF9-91E4-6849-8DD9-F8D480E2FC5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0" y="3866134"/>
                        <a:ext cx="1447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4830" name="Object 8">
            <a:extLst>
              <a:ext uri="{FF2B5EF4-FFF2-40B4-BE49-F238E27FC236}">
                <a16:creationId xmlns:a16="http://schemas.microsoft.com/office/drawing/2014/main" id="{A38A1B2C-50B4-9D4E-93F3-B923E1F5256A}"/>
              </a:ext>
            </a:extLst>
          </p:cNvPr>
          <p:cNvGraphicFramePr>
            <a:graphicFrameLocks noChangeAspect="1"/>
          </p:cNvGraphicFramePr>
          <p:nvPr>
            <p:extLst/>
          </p:nvPr>
        </p:nvGraphicFramePr>
        <p:xfrm>
          <a:off x="4664075" y="1459618"/>
          <a:ext cx="2863850" cy="473075"/>
        </p:xfrm>
        <a:graphic>
          <a:graphicData uri="http://schemas.openxmlformats.org/presentationml/2006/ole">
            <mc:AlternateContent xmlns:mc="http://schemas.openxmlformats.org/markup-compatibility/2006">
              <mc:Choice xmlns:v="urn:schemas-microsoft-com:vml" Requires="v">
                <p:oleObj spid="_x0000_s5128" name="Equation" r:id="rId15" imgW="33642300" imgH="5562600" progId="Equation.DSMT4">
                  <p:embed/>
                </p:oleObj>
              </mc:Choice>
              <mc:Fallback>
                <p:oleObj name="Equation" r:id="rId15" imgW="33642300" imgH="5562600" progId="Equation.DSMT4">
                  <p:embed/>
                  <p:pic>
                    <p:nvPicPr>
                      <p:cNvPr id="34830" name="Object 8">
                        <a:extLst>
                          <a:ext uri="{FF2B5EF4-FFF2-40B4-BE49-F238E27FC236}">
                            <a16:creationId xmlns:a16="http://schemas.microsoft.com/office/drawing/2014/main" id="{A38A1B2C-50B4-9D4E-93F3-B923E1F5256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64075" y="1459618"/>
                        <a:ext cx="2863850"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7866227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3">
            <a:extLst>
              <a:ext uri="{FF2B5EF4-FFF2-40B4-BE49-F238E27FC236}">
                <a16:creationId xmlns:a16="http://schemas.microsoft.com/office/drawing/2014/main" id="{9C0F6EA7-F31A-0940-A2B8-485CE924297C}"/>
              </a:ext>
            </a:extLst>
          </p:cNvPr>
          <p:cNvSpPr>
            <a:spLocks noGrp="1" noChangeArrowheads="1"/>
          </p:cNvSpPr>
          <p:nvPr>
            <p:ph type="body" idx="1"/>
          </p:nvPr>
        </p:nvSpPr>
        <p:spPr>
          <a:xfrm>
            <a:off x="2209800" y="1600201"/>
            <a:ext cx="7772400" cy="1039813"/>
          </a:xfrm>
        </p:spPr>
        <p:txBody>
          <a:bodyPr/>
          <a:lstStyle/>
          <a:p>
            <a:pPr eaLnBrk="1" hangingPunct="1"/>
            <a:r>
              <a:rPr lang="en-US" altLang="en-US" dirty="0">
                <a:ea typeface="ＭＳ Ｐゴシック" panose="020B0600070205080204" pitchFamily="34" charset="-128"/>
              </a:rPr>
              <a:t>Does this graph have Hamilton circuit?</a:t>
            </a:r>
          </a:p>
        </p:txBody>
      </p:sp>
      <p:grpSp>
        <p:nvGrpSpPr>
          <p:cNvPr id="37894" name="Group 30">
            <a:extLst>
              <a:ext uri="{FF2B5EF4-FFF2-40B4-BE49-F238E27FC236}">
                <a16:creationId xmlns:a16="http://schemas.microsoft.com/office/drawing/2014/main" id="{C7DD38EF-A67C-4343-B883-9F7BDC4EF99F}"/>
              </a:ext>
            </a:extLst>
          </p:cNvPr>
          <p:cNvGrpSpPr>
            <a:grpSpLocks/>
          </p:cNvGrpSpPr>
          <p:nvPr/>
        </p:nvGrpSpPr>
        <p:grpSpPr bwMode="auto">
          <a:xfrm>
            <a:off x="4247356" y="2712244"/>
            <a:ext cx="3697288" cy="2471738"/>
            <a:chOff x="1440" y="2064"/>
            <a:chExt cx="2863" cy="1605"/>
          </a:xfrm>
        </p:grpSpPr>
        <p:sp>
          <p:nvSpPr>
            <p:cNvPr id="37897" name="Line 4">
              <a:extLst>
                <a:ext uri="{FF2B5EF4-FFF2-40B4-BE49-F238E27FC236}">
                  <a16:creationId xmlns:a16="http://schemas.microsoft.com/office/drawing/2014/main" id="{554F4D66-A46F-5740-AD98-563506F9B957}"/>
                </a:ext>
              </a:extLst>
            </p:cNvPr>
            <p:cNvSpPr>
              <a:spLocks noChangeShapeType="1"/>
            </p:cNvSpPr>
            <p:nvPr/>
          </p:nvSpPr>
          <p:spPr bwMode="auto">
            <a:xfrm>
              <a:off x="1546" y="2352"/>
              <a:ext cx="25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8" name="Line 5">
              <a:extLst>
                <a:ext uri="{FF2B5EF4-FFF2-40B4-BE49-F238E27FC236}">
                  <a16:creationId xmlns:a16="http://schemas.microsoft.com/office/drawing/2014/main" id="{0821A173-8F46-7E42-A95E-56D957DCE624}"/>
                </a:ext>
              </a:extLst>
            </p:cNvPr>
            <p:cNvSpPr>
              <a:spLocks noChangeShapeType="1"/>
            </p:cNvSpPr>
            <p:nvPr/>
          </p:nvSpPr>
          <p:spPr bwMode="auto">
            <a:xfrm>
              <a:off x="1546" y="3408"/>
              <a:ext cx="25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9" name="Line 6">
              <a:extLst>
                <a:ext uri="{FF2B5EF4-FFF2-40B4-BE49-F238E27FC236}">
                  <a16:creationId xmlns:a16="http://schemas.microsoft.com/office/drawing/2014/main" id="{7B05BB8E-8052-5345-A29E-E7A04417BA28}"/>
                </a:ext>
              </a:extLst>
            </p:cNvPr>
            <p:cNvSpPr>
              <a:spLocks noChangeShapeType="1"/>
            </p:cNvSpPr>
            <p:nvPr/>
          </p:nvSpPr>
          <p:spPr bwMode="auto">
            <a:xfrm>
              <a:off x="1546" y="2352"/>
              <a:ext cx="0"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0" name="Line 7">
              <a:extLst>
                <a:ext uri="{FF2B5EF4-FFF2-40B4-BE49-F238E27FC236}">
                  <a16:creationId xmlns:a16="http://schemas.microsoft.com/office/drawing/2014/main" id="{2B4BCE49-56C9-9641-A7E6-92F7C17E600A}"/>
                </a:ext>
              </a:extLst>
            </p:cNvPr>
            <p:cNvSpPr>
              <a:spLocks noChangeShapeType="1"/>
            </p:cNvSpPr>
            <p:nvPr/>
          </p:nvSpPr>
          <p:spPr bwMode="auto">
            <a:xfrm>
              <a:off x="4090" y="2352"/>
              <a:ext cx="0"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1" name="Line 9">
              <a:extLst>
                <a:ext uri="{FF2B5EF4-FFF2-40B4-BE49-F238E27FC236}">
                  <a16:creationId xmlns:a16="http://schemas.microsoft.com/office/drawing/2014/main" id="{A3F3EC14-9D16-644D-B194-B002A2EA1EC8}"/>
                </a:ext>
              </a:extLst>
            </p:cNvPr>
            <p:cNvSpPr>
              <a:spLocks noChangeShapeType="1"/>
            </p:cNvSpPr>
            <p:nvPr/>
          </p:nvSpPr>
          <p:spPr bwMode="auto">
            <a:xfrm>
              <a:off x="1546" y="2352"/>
              <a:ext cx="1296"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2" name="Line 10">
              <a:extLst>
                <a:ext uri="{FF2B5EF4-FFF2-40B4-BE49-F238E27FC236}">
                  <a16:creationId xmlns:a16="http://schemas.microsoft.com/office/drawing/2014/main" id="{66395911-7AB5-7444-A307-6A8BB1721FA7}"/>
                </a:ext>
              </a:extLst>
            </p:cNvPr>
            <p:cNvSpPr>
              <a:spLocks noChangeShapeType="1"/>
            </p:cNvSpPr>
            <p:nvPr/>
          </p:nvSpPr>
          <p:spPr bwMode="auto">
            <a:xfrm>
              <a:off x="2842" y="2352"/>
              <a:ext cx="1248"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03" name="Group 29">
              <a:extLst>
                <a:ext uri="{FF2B5EF4-FFF2-40B4-BE49-F238E27FC236}">
                  <a16:creationId xmlns:a16="http://schemas.microsoft.com/office/drawing/2014/main" id="{BFB2BD60-B816-5746-BEA1-A42A0827D6FB}"/>
                </a:ext>
              </a:extLst>
            </p:cNvPr>
            <p:cNvGrpSpPr>
              <a:grpSpLocks/>
            </p:cNvGrpSpPr>
            <p:nvPr/>
          </p:nvGrpSpPr>
          <p:grpSpPr bwMode="auto">
            <a:xfrm>
              <a:off x="1440" y="2064"/>
              <a:ext cx="2832" cy="238"/>
              <a:chOff x="384" y="2016"/>
              <a:chExt cx="2832" cy="238"/>
            </a:xfrm>
          </p:grpSpPr>
          <p:sp>
            <p:nvSpPr>
              <p:cNvPr id="37918" name="Text Box 20">
                <a:extLst>
                  <a:ext uri="{FF2B5EF4-FFF2-40B4-BE49-F238E27FC236}">
                    <a16:creationId xmlns:a16="http://schemas.microsoft.com/office/drawing/2014/main" id="{F7E3BBDD-9192-F44C-A2DD-7D994B7C39F9}"/>
                  </a:ext>
                </a:extLst>
              </p:cNvPr>
              <p:cNvSpPr txBox="1">
                <a:spLocks noChangeArrowheads="1"/>
              </p:cNvSpPr>
              <p:nvPr/>
            </p:nvSpPr>
            <p:spPr bwMode="auto">
              <a:xfrm>
                <a:off x="384" y="2016"/>
                <a:ext cx="26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37919" name="Text Box 21">
                <a:extLst>
                  <a:ext uri="{FF2B5EF4-FFF2-40B4-BE49-F238E27FC236}">
                    <a16:creationId xmlns:a16="http://schemas.microsoft.com/office/drawing/2014/main" id="{0E048886-AB0A-9A45-A278-C00C8B7BA729}"/>
                  </a:ext>
                </a:extLst>
              </p:cNvPr>
              <p:cNvSpPr txBox="1">
                <a:spLocks noChangeArrowheads="1"/>
              </p:cNvSpPr>
              <p:nvPr/>
            </p:nvSpPr>
            <p:spPr bwMode="auto">
              <a:xfrm>
                <a:off x="1680" y="2016"/>
                <a:ext cx="26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37920" name="Text Box 22">
                <a:extLst>
                  <a:ext uri="{FF2B5EF4-FFF2-40B4-BE49-F238E27FC236}">
                    <a16:creationId xmlns:a16="http://schemas.microsoft.com/office/drawing/2014/main" id="{14655901-EA86-A74C-9B73-1795E2157C39}"/>
                  </a:ext>
                </a:extLst>
              </p:cNvPr>
              <p:cNvSpPr txBox="1">
                <a:spLocks noChangeArrowheads="1"/>
              </p:cNvSpPr>
              <p:nvPr/>
            </p:nvSpPr>
            <p:spPr bwMode="auto">
              <a:xfrm>
                <a:off x="2976" y="2016"/>
                <a:ext cx="24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grpSp>
        <p:sp>
          <p:nvSpPr>
            <p:cNvPr id="37904" name="Line 8">
              <a:extLst>
                <a:ext uri="{FF2B5EF4-FFF2-40B4-BE49-F238E27FC236}">
                  <a16:creationId xmlns:a16="http://schemas.microsoft.com/office/drawing/2014/main" id="{8BE26AB1-B4C4-FA4A-8407-635CE2037A7E}"/>
                </a:ext>
              </a:extLst>
            </p:cNvPr>
            <p:cNvSpPr>
              <a:spLocks noChangeShapeType="1"/>
            </p:cNvSpPr>
            <p:nvPr/>
          </p:nvSpPr>
          <p:spPr bwMode="auto">
            <a:xfrm>
              <a:off x="2842" y="2352"/>
              <a:ext cx="0"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5" name="Oval 11">
              <a:extLst>
                <a:ext uri="{FF2B5EF4-FFF2-40B4-BE49-F238E27FC236}">
                  <a16:creationId xmlns:a16="http://schemas.microsoft.com/office/drawing/2014/main" id="{1B74A985-3029-7141-8A53-F3F1D83C4B5C}"/>
                </a:ext>
              </a:extLst>
            </p:cNvPr>
            <p:cNvSpPr>
              <a:spLocks noChangeArrowheads="1"/>
            </p:cNvSpPr>
            <p:nvPr/>
          </p:nvSpPr>
          <p:spPr bwMode="auto">
            <a:xfrm>
              <a:off x="1498" y="230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06" name="Oval 13">
              <a:extLst>
                <a:ext uri="{FF2B5EF4-FFF2-40B4-BE49-F238E27FC236}">
                  <a16:creationId xmlns:a16="http://schemas.microsoft.com/office/drawing/2014/main" id="{E2E111E0-EC47-B340-AE1B-F83B807F1D5E}"/>
                </a:ext>
              </a:extLst>
            </p:cNvPr>
            <p:cNvSpPr>
              <a:spLocks noChangeArrowheads="1"/>
            </p:cNvSpPr>
            <p:nvPr/>
          </p:nvSpPr>
          <p:spPr bwMode="auto">
            <a:xfrm>
              <a:off x="2074" y="278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07" name="Oval 14">
              <a:extLst>
                <a:ext uri="{FF2B5EF4-FFF2-40B4-BE49-F238E27FC236}">
                  <a16:creationId xmlns:a16="http://schemas.microsoft.com/office/drawing/2014/main" id="{653348DB-47F0-D14A-993E-763A8481988F}"/>
                </a:ext>
              </a:extLst>
            </p:cNvPr>
            <p:cNvSpPr>
              <a:spLocks noChangeArrowheads="1"/>
            </p:cNvSpPr>
            <p:nvPr/>
          </p:nvSpPr>
          <p:spPr bwMode="auto">
            <a:xfrm>
              <a:off x="3370" y="278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08" name="Oval 15">
              <a:extLst>
                <a:ext uri="{FF2B5EF4-FFF2-40B4-BE49-F238E27FC236}">
                  <a16:creationId xmlns:a16="http://schemas.microsoft.com/office/drawing/2014/main" id="{E2A9FA1B-3E19-FB46-BFF7-62F138590DA2}"/>
                </a:ext>
              </a:extLst>
            </p:cNvPr>
            <p:cNvSpPr>
              <a:spLocks noChangeArrowheads="1"/>
            </p:cNvSpPr>
            <p:nvPr/>
          </p:nvSpPr>
          <p:spPr bwMode="auto">
            <a:xfrm>
              <a:off x="1498" y="3312"/>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09" name="Oval 16">
              <a:extLst>
                <a:ext uri="{FF2B5EF4-FFF2-40B4-BE49-F238E27FC236}">
                  <a16:creationId xmlns:a16="http://schemas.microsoft.com/office/drawing/2014/main" id="{BA0BA148-017F-C64A-987E-1280B28B02CC}"/>
                </a:ext>
              </a:extLst>
            </p:cNvPr>
            <p:cNvSpPr>
              <a:spLocks noChangeArrowheads="1"/>
            </p:cNvSpPr>
            <p:nvPr/>
          </p:nvSpPr>
          <p:spPr bwMode="auto">
            <a:xfrm>
              <a:off x="3994" y="3312"/>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10" name="Oval 17">
              <a:extLst>
                <a:ext uri="{FF2B5EF4-FFF2-40B4-BE49-F238E27FC236}">
                  <a16:creationId xmlns:a16="http://schemas.microsoft.com/office/drawing/2014/main" id="{B44AA09E-4BDF-1848-9B5D-B191E2652022}"/>
                </a:ext>
              </a:extLst>
            </p:cNvPr>
            <p:cNvSpPr>
              <a:spLocks noChangeArrowheads="1"/>
            </p:cNvSpPr>
            <p:nvPr/>
          </p:nvSpPr>
          <p:spPr bwMode="auto">
            <a:xfrm>
              <a:off x="3994" y="230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11" name="Oval 18">
              <a:extLst>
                <a:ext uri="{FF2B5EF4-FFF2-40B4-BE49-F238E27FC236}">
                  <a16:creationId xmlns:a16="http://schemas.microsoft.com/office/drawing/2014/main" id="{F9F8CD83-CED2-2249-AE57-C117D97378B4}"/>
                </a:ext>
              </a:extLst>
            </p:cNvPr>
            <p:cNvSpPr>
              <a:spLocks noChangeArrowheads="1"/>
            </p:cNvSpPr>
            <p:nvPr/>
          </p:nvSpPr>
          <p:spPr bwMode="auto">
            <a:xfrm>
              <a:off x="2746" y="3312"/>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12" name="Oval 19">
              <a:extLst>
                <a:ext uri="{FF2B5EF4-FFF2-40B4-BE49-F238E27FC236}">
                  <a16:creationId xmlns:a16="http://schemas.microsoft.com/office/drawing/2014/main" id="{49BCD8AA-9FB3-1C48-AEE4-5CA519493A6F}"/>
                </a:ext>
              </a:extLst>
            </p:cNvPr>
            <p:cNvSpPr>
              <a:spLocks noChangeArrowheads="1"/>
            </p:cNvSpPr>
            <p:nvPr/>
          </p:nvSpPr>
          <p:spPr bwMode="auto">
            <a:xfrm>
              <a:off x="2746" y="230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13" name="Text Box 23">
              <a:extLst>
                <a:ext uri="{FF2B5EF4-FFF2-40B4-BE49-F238E27FC236}">
                  <a16:creationId xmlns:a16="http://schemas.microsoft.com/office/drawing/2014/main" id="{CE10CD39-8BF5-6441-9034-B3D48DDB14FA}"/>
                </a:ext>
              </a:extLst>
            </p:cNvPr>
            <p:cNvSpPr txBox="1">
              <a:spLocks noChangeArrowheads="1"/>
            </p:cNvSpPr>
            <p:nvPr/>
          </p:nvSpPr>
          <p:spPr bwMode="auto">
            <a:xfrm>
              <a:off x="2256" y="2711"/>
              <a:ext cx="27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37914" name="Text Box 24">
              <a:extLst>
                <a:ext uri="{FF2B5EF4-FFF2-40B4-BE49-F238E27FC236}">
                  <a16:creationId xmlns:a16="http://schemas.microsoft.com/office/drawing/2014/main" id="{761EF341-37F6-954F-AE80-5E10A5A64190}"/>
                </a:ext>
              </a:extLst>
            </p:cNvPr>
            <p:cNvSpPr txBox="1">
              <a:spLocks noChangeArrowheads="1"/>
            </p:cNvSpPr>
            <p:nvPr/>
          </p:nvSpPr>
          <p:spPr bwMode="auto">
            <a:xfrm>
              <a:off x="3552" y="2711"/>
              <a:ext cx="26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37915" name="Text Box 25">
              <a:extLst>
                <a:ext uri="{FF2B5EF4-FFF2-40B4-BE49-F238E27FC236}">
                  <a16:creationId xmlns:a16="http://schemas.microsoft.com/office/drawing/2014/main" id="{EB2D537E-C1CC-774C-B7DB-1D81FAC1912E}"/>
                </a:ext>
              </a:extLst>
            </p:cNvPr>
            <p:cNvSpPr txBox="1">
              <a:spLocks noChangeArrowheads="1"/>
            </p:cNvSpPr>
            <p:nvPr/>
          </p:nvSpPr>
          <p:spPr bwMode="auto">
            <a:xfrm>
              <a:off x="1488" y="3431"/>
              <a:ext cx="25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37916" name="Text Box 26">
              <a:extLst>
                <a:ext uri="{FF2B5EF4-FFF2-40B4-BE49-F238E27FC236}">
                  <a16:creationId xmlns:a16="http://schemas.microsoft.com/office/drawing/2014/main" id="{03A49B26-4DCD-4343-B16D-885A4295C877}"/>
                </a:ext>
              </a:extLst>
            </p:cNvPr>
            <p:cNvSpPr txBox="1">
              <a:spLocks noChangeArrowheads="1"/>
            </p:cNvSpPr>
            <p:nvPr/>
          </p:nvSpPr>
          <p:spPr bwMode="auto">
            <a:xfrm>
              <a:off x="2736" y="3431"/>
              <a:ext cx="28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G</a:t>
              </a:r>
            </a:p>
          </p:txBody>
        </p:sp>
        <p:sp>
          <p:nvSpPr>
            <p:cNvPr id="37917" name="Text Box 27">
              <a:extLst>
                <a:ext uri="{FF2B5EF4-FFF2-40B4-BE49-F238E27FC236}">
                  <a16:creationId xmlns:a16="http://schemas.microsoft.com/office/drawing/2014/main" id="{1CD274FF-4E3F-8640-8262-0B7428C23CF7}"/>
                </a:ext>
              </a:extLst>
            </p:cNvPr>
            <p:cNvSpPr txBox="1">
              <a:spLocks noChangeArrowheads="1"/>
            </p:cNvSpPr>
            <p:nvPr/>
          </p:nvSpPr>
          <p:spPr bwMode="auto">
            <a:xfrm>
              <a:off x="4032" y="3431"/>
              <a:ext cx="27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H</a:t>
              </a:r>
            </a:p>
          </p:txBody>
        </p:sp>
      </p:grpSp>
      <p:sp>
        <p:nvSpPr>
          <p:cNvPr id="37895" name="Text Box 31">
            <a:extLst>
              <a:ext uri="{FF2B5EF4-FFF2-40B4-BE49-F238E27FC236}">
                <a16:creationId xmlns:a16="http://schemas.microsoft.com/office/drawing/2014/main" id="{EF89B72B-F40C-A548-8B64-DD00925093F7}"/>
              </a:ext>
            </a:extLst>
          </p:cNvPr>
          <p:cNvSpPr txBox="1">
            <a:spLocks noChangeArrowheads="1"/>
          </p:cNvSpPr>
          <p:nvPr/>
        </p:nvSpPr>
        <p:spPr bwMode="auto">
          <a:xfrm>
            <a:off x="2362200" y="3581401"/>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endParaRPr lang="en-US" altLang="en-US" sz="1800"/>
          </a:p>
        </p:txBody>
      </p:sp>
    </p:spTree>
    <p:extLst>
      <p:ext uri="{BB962C8B-B14F-4D97-AF65-F5344CB8AC3E}">
        <p14:creationId xmlns:p14="http://schemas.microsoft.com/office/powerpoint/2010/main" val="40776672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Line 11">
            <a:extLst>
              <a:ext uri="{FF2B5EF4-FFF2-40B4-BE49-F238E27FC236}">
                <a16:creationId xmlns:a16="http://schemas.microsoft.com/office/drawing/2014/main" id="{4239E099-F94E-D64A-AEA8-6F799B279546}"/>
              </a:ext>
            </a:extLst>
          </p:cNvPr>
          <p:cNvSpPr>
            <a:spLocks noChangeShapeType="1"/>
          </p:cNvSpPr>
          <p:nvPr/>
        </p:nvSpPr>
        <p:spPr bwMode="auto">
          <a:xfrm>
            <a:off x="4511675" y="3733800"/>
            <a:ext cx="0" cy="1676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17" name="Line 29">
            <a:extLst>
              <a:ext uri="{FF2B5EF4-FFF2-40B4-BE49-F238E27FC236}">
                <a16:creationId xmlns:a16="http://schemas.microsoft.com/office/drawing/2014/main" id="{2DA91B02-DB2F-B940-BB7A-F16147ADCF68}"/>
              </a:ext>
            </a:extLst>
          </p:cNvPr>
          <p:cNvSpPr>
            <a:spLocks noChangeShapeType="1"/>
          </p:cNvSpPr>
          <p:nvPr/>
        </p:nvSpPr>
        <p:spPr bwMode="auto">
          <a:xfrm>
            <a:off x="4648200" y="5410200"/>
            <a:ext cx="18288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18" name="Line 30">
            <a:extLst>
              <a:ext uri="{FF2B5EF4-FFF2-40B4-BE49-F238E27FC236}">
                <a16:creationId xmlns:a16="http://schemas.microsoft.com/office/drawing/2014/main" id="{D165BDC1-EB06-804C-A7B9-BDA7E0F087A5}"/>
              </a:ext>
            </a:extLst>
          </p:cNvPr>
          <p:cNvSpPr>
            <a:spLocks noChangeShapeType="1"/>
          </p:cNvSpPr>
          <p:nvPr/>
        </p:nvSpPr>
        <p:spPr bwMode="auto">
          <a:xfrm>
            <a:off x="6705600" y="5410200"/>
            <a:ext cx="1752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19" name="Line 32">
            <a:extLst>
              <a:ext uri="{FF2B5EF4-FFF2-40B4-BE49-F238E27FC236}">
                <a16:creationId xmlns:a16="http://schemas.microsoft.com/office/drawing/2014/main" id="{B01439D6-0355-BC44-BCE8-90FC2A3113B3}"/>
              </a:ext>
            </a:extLst>
          </p:cNvPr>
          <p:cNvSpPr>
            <a:spLocks noChangeShapeType="1"/>
          </p:cNvSpPr>
          <p:nvPr/>
        </p:nvSpPr>
        <p:spPr bwMode="auto">
          <a:xfrm>
            <a:off x="6569075" y="3738880"/>
            <a:ext cx="18288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0" name="Line 31">
            <a:extLst>
              <a:ext uri="{FF2B5EF4-FFF2-40B4-BE49-F238E27FC236}">
                <a16:creationId xmlns:a16="http://schemas.microsoft.com/office/drawing/2014/main" id="{1E60BA88-8DA6-6846-89E9-22E523A9A44F}"/>
              </a:ext>
            </a:extLst>
          </p:cNvPr>
          <p:cNvSpPr>
            <a:spLocks noChangeShapeType="1"/>
          </p:cNvSpPr>
          <p:nvPr/>
        </p:nvSpPr>
        <p:spPr bwMode="auto">
          <a:xfrm flipH="1">
            <a:off x="4648200" y="3733800"/>
            <a:ext cx="1828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1" name="Rectangle 2">
            <a:extLst>
              <a:ext uri="{FF2B5EF4-FFF2-40B4-BE49-F238E27FC236}">
                <a16:creationId xmlns:a16="http://schemas.microsoft.com/office/drawing/2014/main" id="{443AA5A3-619C-1C4F-9102-73F6F456A917}"/>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Solution</a:t>
            </a:r>
          </a:p>
        </p:txBody>
      </p:sp>
      <p:sp>
        <p:nvSpPr>
          <p:cNvPr id="38922" name="Rectangle 3">
            <a:extLst>
              <a:ext uri="{FF2B5EF4-FFF2-40B4-BE49-F238E27FC236}">
                <a16:creationId xmlns:a16="http://schemas.microsoft.com/office/drawing/2014/main" id="{005C489E-2BB0-3441-B38D-2B0FD8054C78}"/>
              </a:ext>
            </a:extLst>
          </p:cNvPr>
          <p:cNvSpPr>
            <a:spLocks noGrp="1" noChangeArrowheads="1"/>
          </p:cNvSpPr>
          <p:nvPr>
            <p:ph type="body" idx="1"/>
          </p:nvPr>
        </p:nvSpPr>
        <p:spPr>
          <a:xfrm>
            <a:off x="1981200" y="1524000"/>
            <a:ext cx="8229600" cy="1752600"/>
          </a:xfrm>
        </p:spPr>
        <p:txBody>
          <a:bodyPr/>
          <a:lstStyle/>
          <a:p>
            <a:pPr eaLnBrk="1" hangingPunct="1"/>
            <a:r>
              <a:rPr lang="en-US" altLang="en-US">
                <a:ea typeface="ＭＳ Ｐゴシック" panose="020B0600070205080204" pitchFamily="34" charset="-128"/>
              </a:rPr>
              <a:t>By Rule One, the red edges must be used</a:t>
            </a:r>
          </a:p>
          <a:p>
            <a:pPr eaLnBrk="1" hangingPunct="1"/>
            <a:r>
              <a:rPr lang="en-US" altLang="en-US">
                <a:ea typeface="ＭＳ Ｐゴシック" panose="020B0600070205080204" pitchFamily="34" charset="-128"/>
              </a:rPr>
              <a:t>Since the red edges form subcircuits, Rule Two tells us that no Hamilton Circuits can exist.</a:t>
            </a:r>
          </a:p>
        </p:txBody>
      </p:sp>
      <p:grpSp>
        <p:nvGrpSpPr>
          <p:cNvPr id="38923" name="Group 4">
            <a:extLst>
              <a:ext uri="{FF2B5EF4-FFF2-40B4-BE49-F238E27FC236}">
                <a16:creationId xmlns:a16="http://schemas.microsoft.com/office/drawing/2014/main" id="{2C8A3FFC-500A-ED41-9CC2-3AC848A2F34E}"/>
              </a:ext>
            </a:extLst>
          </p:cNvPr>
          <p:cNvGrpSpPr>
            <a:grpSpLocks/>
          </p:cNvGrpSpPr>
          <p:nvPr/>
        </p:nvGrpSpPr>
        <p:grpSpPr bwMode="auto">
          <a:xfrm>
            <a:off x="4343400" y="3352801"/>
            <a:ext cx="4495800" cy="366713"/>
            <a:chOff x="384" y="2016"/>
            <a:chExt cx="2832" cy="231"/>
          </a:xfrm>
        </p:grpSpPr>
        <p:sp>
          <p:nvSpPr>
            <p:cNvPr id="38941" name="Text Box 5">
              <a:extLst>
                <a:ext uri="{FF2B5EF4-FFF2-40B4-BE49-F238E27FC236}">
                  <a16:creationId xmlns:a16="http://schemas.microsoft.com/office/drawing/2014/main" id="{B455C3FE-1F78-BC45-839F-546ECCA22956}"/>
                </a:ext>
              </a:extLst>
            </p:cNvPr>
            <p:cNvSpPr txBox="1">
              <a:spLocks noChangeArrowheads="1"/>
            </p:cNvSpPr>
            <p:nvPr/>
          </p:nvSpPr>
          <p:spPr bwMode="auto">
            <a:xfrm>
              <a:off x="384" y="2016"/>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38942" name="Text Box 6">
              <a:extLst>
                <a:ext uri="{FF2B5EF4-FFF2-40B4-BE49-F238E27FC236}">
                  <a16:creationId xmlns:a16="http://schemas.microsoft.com/office/drawing/2014/main" id="{66820838-153D-ED46-A58E-9F1C3A59069A}"/>
                </a:ext>
              </a:extLst>
            </p:cNvPr>
            <p:cNvSpPr txBox="1">
              <a:spLocks noChangeArrowheads="1"/>
            </p:cNvSpPr>
            <p:nvPr/>
          </p:nvSpPr>
          <p:spPr bwMode="auto">
            <a:xfrm>
              <a:off x="1680" y="2016"/>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38943" name="Text Box 7">
              <a:extLst>
                <a:ext uri="{FF2B5EF4-FFF2-40B4-BE49-F238E27FC236}">
                  <a16:creationId xmlns:a16="http://schemas.microsoft.com/office/drawing/2014/main" id="{7E92E64F-D554-E64B-884F-F8E94D11EC42}"/>
                </a:ext>
              </a:extLst>
            </p:cNvPr>
            <p:cNvSpPr txBox="1">
              <a:spLocks noChangeArrowheads="1"/>
            </p:cNvSpPr>
            <p:nvPr/>
          </p:nvSpPr>
          <p:spPr bwMode="auto">
            <a:xfrm>
              <a:off x="2976" y="201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grpSp>
      <p:sp>
        <p:nvSpPr>
          <p:cNvPr id="38924" name="Line 12">
            <a:extLst>
              <a:ext uri="{FF2B5EF4-FFF2-40B4-BE49-F238E27FC236}">
                <a16:creationId xmlns:a16="http://schemas.microsoft.com/office/drawing/2014/main" id="{7CD9AFB7-518B-A145-9D76-8A216691E37E}"/>
              </a:ext>
            </a:extLst>
          </p:cNvPr>
          <p:cNvSpPr>
            <a:spLocks noChangeShapeType="1"/>
          </p:cNvSpPr>
          <p:nvPr/>
        </p:nvSpPr>
        <p:spPr bwMode="auto">
          <a:xfrm>
            <a:off x="8550275" y="3733800"/>
            <a:ext cx="0" cy="1676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5" name="Line 13">
            <a:extLst>
              <a:ext uri="{FF2B5EF4-FFF2-40B4-BE49-F238E27FC236}">
                <a16:creationId xmlns:a16="http://schemas.microsoft.com/office/drawing/2014/main" id="{BFACAA24-AB6D-9344-8988-B0A0ACDC054D}"/>
              </a:ext>
            </a:extLst>
          </p:cNvPr>
          <p:cNvSpPr>
            <a:spLocks noChangeShapeType="1"/>
          </p:cNvSpPr>
          <p:nvPr/>
        </p:nvSpPr>
        <p:spPr bwMode="auto">
          <a:xfrm>
            <a:off x="6569075" y="3733800"/>
            <a:ext cx="0" cy="1676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6" name="Line 14">
            <a:extLst>
              <a:ext uri="{FF2B5EF4-FFF2-40B4-BE49-F238E27FC236}">
                <a16:creationId xmlns:a16="http://schemas.microsoft.com/office/drawing/2014/main" id="{8CA6B7D9-4824-944F-AE06-875DB1427D91}"/>
              </a:ext>
            </a:extLst>
          </p:cNvPr>
          <p:cNvSpPr>
            <a:spLocks noChangeShapeType="1"/>
          </p:cNvSpPr>
          <p:nvPr/>
        </p:nvSpPr>
        <p:spPr bwMode="auto">
          <a:xfrm>
            <a:off x="4511675" y="3733800"/>
            <a:ext cx="2057400" cy="1676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7" name="Line 15">
            <a:extLst>
              <a:ext uri="{FF2B5EF4-FFF2-40B4-BE49-F238E27FC236}">
                <a16:creationId xmlns:a16="http://schemas.microsoft.com/office/drawing/2014/main" id="{C7E2F8BD-2E18-A04A-A641-26CC272EB0AE}"/>
              </a:ext>
            </a:extLst>
          </p:cNvPr>
          <p:cNvSpPr>
            <a:spLocks noChangeShapeType="1"/>
          </p:cNvSpPr>
          <p:nvPr/>
        </p:nvSpPr>
        <p:spPr bwMode="auto">
          <a:xfrm>
            <a:off x="6569075" y="3733800"/>
            <a:ext cx="1981200" cy="1676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8" name="Oval 16">
            <a:extLst>
              <a:ext uri="{FF2B5EF4-FFF2-40B4-BE49-F238E27FC236}">
                <a16:creationId xmlns:a16="http://schemas.microsoft.com/office/drawing/2014/main" id="{C23CAABA-0196-D143-AA82-A9C6404FA68D}"/>
              </a:ext>
            </a:extLst>
          </p:cNvPr>
          <p:cNvSpPr>
            <a:spLocks noChangeArrowheads="1"/>
          </p:cNvSpPr>
          <p:nvPr/>
        </p:nvSpPr>
        <p:spPr bwMode="auto">
          <a:xfrm>
            <a:off x="4435475" y="3657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8929" name="Oval 17">
            <a:extLst>
              <a:ext uri="{FF2B5EF4-FFF2-40B4-BE49-F238E27FC236}">
                <a16:creationId xmlns:a16="http://schemas.microsoft.com/office/drawing/2014/main" id="{0B7908A9-F20F-F94D-AEFE-CA690F08E595}"/>
              </a:ext>
            </a:extLst>
          </p:cNvPr>
          <p:cNvSpPr>
            <a:spLocks noChangeArrowheads="1"/>
          </p:cNvSpPr>
          <p:nvPr/>
        </p:nvSpPr>
        <p:spPr bwMode="auto">
          <a:xfrm>
            <a:off x="5349875" y="4419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8930" name="Oval 18">
            <a:extLst>
              <a:ext uri="{FF2B5EF4-FFF2-40B4-BE49-F238E27FC236}">
                <a16:creationId xmlns:a16="http://schemas.microsoft.com/office/drawing/2014/main" id="{77B08B46-77D9-7145-AA91-55CC8550251C}"/>
              </a:ext>
            </a:extLst>
          </p:cNvPr>
          <p:cNvSpPr>
            <a:spLocks noChangeArrowheads="1"/>
          </p:cNvSpPr>
          <p:nvPr/>
        </p:nvSpPr>
        <p:spPr bwMode="auto">
          <a:xfrm>
            <a:off x="7407275" y="4419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8931" name="Oval 19">
            <a:extLst>
              <a:ext uri="{FF2B5EF4-FFF2-40B4-BE49-F238E27FC236}">
                <a16:creationId xmlns:a16="http://schemas.microsoft.com/office/drawing/2014/main" id="{2D02188D-A3B3-0349-9712-8701B9AEDDFD}"/>
              </a:ext>
            </a:extLst>
          </p:cNvPr>
          <p:cNvSpPr>
            <a:spLocks noChangeArrowheads="1"/>
          </p:cNvSpPr>
          <p:nvPr/>
        </p:nvSpPr>
        <p:spPr bwMode="auto">
          <a:xfrm>
            <a:off x="4435475" y="52578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8932" name="Oval 20">
            <a:extLst>
              <a:ext uri="{FF2B5EF4-FFF2-40B4-BE49-F238E27FC236}">
                <a16:creationId xmlns:a16="http://schemas.microsoft.com/office/drawing/2014/main" id="{C12B4CAE-6EC8-3943-A564-0CB3F6F3D277}"/>
              </a:ext>
            </a:extLst>
          </p:cNvPr>
          <p:cNvSpPr>
            <a:spLocks noChangeArrowheads="1"/>
          </p:cNvSpPr>
          <p:nvPr/>
        </p:nvSpPr>
        <p:spPr bwMode="auto">
          <a:xfrm>
            <a:off x="8458200" y="52578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8933" name="Oval 21">
            <a:extLst>
              <a:ext uri="{FF2B5EF4-FFF2-40B4-BE49-F238E27FC236}">
                <a16:creationId xmlns:a16="http://schemas.microsoft.com/office/drawing/2014/main" id="{32FA7BFF-A72E-5540-9F6E-E6132F397F13}"/>
              </a:ext>
            </a:extLst>
          </p:cNvPr>
          <p:cNvSpPr>
            <a:spLocks noChangeArrowheads="1"/>
          </p:cNvSpPr>
          <p:nvPr/>
        </p:nvSpPr>
        <p:spPr bwMode="auto">
          <a:xfrm>
            <a:off x="8397875" y="3657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8934" name="Oval 22">
            <a:extLst>
              <a:ext uri="{FF2B5EF4-FFF2-40B4-BE49-F238E27FC236}">
                <a16:creationId xmlns:a16="http://schemas.microsoft.com/office/drawing/2014/main" id="{73488F72-F45E-5B4B-A27D-94576B0F6194}"/>
              </a:ext>
            </a:extLst>
          </p:cNvPr>
          <p:cNvSpPr>
            <a:spLocks noChangeArrowheads="1"/>
          </p:cNvSpPr>
          <p:nvPr/>
        </p:nvSpPr>
        <p:spPr bwMode="auto">
          <a:xfrm>
            <a:off x="6477000" y="52578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8935" name="Oval 23">
            <a:extLst>
              <a:ext uri="{FF2B5EF4-FFF2-40B4-BE49-F238E27FC236}">
                <a16:creationId xmlns:a16="http://schemas.microsoft.com/office/drawing/2014/main" id="{6D0412A0-2782-6046-9EB4-6EFB0454872E}"/>
              </a:ext>
            </a:extLst>
          </p:cNvPr>
          <p:cNvSpPr>
            <a:spLocks noChangeArrowheads="1"/>
          </p:cNvSpPr>
          <p:nvPr/>
        </p:nvSpPr>
        <p:spPr bwMode="auto">
          <a:xfrm>
            <a:off x="6416675" y="3657600"/>
            <a:ext cx="228600" cy="2286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8936" name="Text Box 24">
            <a:extLst>
              <a:ext uri="{FF2B5EF4-FFF2-40B4-BE49-F238E27FC236}">
                <a16:creationId xmlns:a16="http://schemas.microsoft.com/office/drawing/2014/main" id="{DF7871BF-81DF-6C49-A5E1-020D84388EC0}"/>
              </a:ext>
            </a:extLst>
          </p:cNvPr>
          <p:cNvSpPr txBox="1">
            <a:spLocks noChangeArrowheads="1"/>
          </p:cNvSpPr>
          <p:nvPr/>
        </p:nvSpPr>
        <p:spPr bwMode="auto">
          <a:xfrm>
            <a:off x="5638800" y="430371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38937" name="Text Box 25">
            <a:extLst>
              <a:ext uri="{FF2B5EF4-FFF2-40B4-BE49-F238E27FC236}">
                <a16:creationId xmlns:a16="http://schemas.microsoft.com/office/drawing/2014/main" id="{53E13A5B-44DE-1F41-9A1F-96A178C1A3B6}"/>
              </a:ext>
            </a:extLst>
          </p:cNvPr>
          <p:cNvSpPr txBox="1">
            <a:spLocks noChangeArrowheads="1"/>
          </p:cNvSpPr>
          <p:nvPr/>
        </p:nvSpPr>
        <p:spPr bwMode="auto">
          <a:xfrm>
            <a:off x="7696200" y="430371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38938" name="Text Box 26">
            <a:extLst>
              <a:ext uri="{FF2B5EF4-FFF2-40B4-BE49-F238E27FC236}">
                <a16:creationId xmlns:a16="http://schemas.microsoft.com/office/drawing/2014/main" id="{184D105E-94B7-8748-999B-4A7780A7E38E}"/>
              </a:ext>
            </a:extLst>
          </p:cNvPr>
          <p:cNvSpPr txBox="1">
            <a:spLocks noChangeArrowheads="1"/>
          </p:cNvSpPr>
          <p:nvPr/>
        </p:nvSpPr>
        <p:spPr bwMode="auto">
          <a:xfrm>
            <a:off x="4419600" y="5446713"/>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38939" name="Text Box 27">
            <a:extLst>
              <a:ext uri="{FF2B5EF4-FFF2-40B4-BE49-F238E27FC236}">
                <a16:creationId xmlns:a16="http://schemas.microsoft.com/office/drawing/2014/main" id="{590321BA-FE44-6C4D-8A23-079659BC7BDA}"/>
              </a:ext>
            </a:extLst>
          </p:cNvPr>
          <p:cNvSpPr txBox="1">
            <a:spLocks noChangeArrowheads="1"/>
          </p:cNvSpPr>
          <p:nvPr/>
        </p:nvSpPr>
        <p:spPr bwMode="auto">
          <a:xfrm>
            <a:off x="6400800" y="5446713"/>
            <a:ext cx="361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G</a:t>
            </a:r>
          </a:p>
        </p:txBody>
      </p:sp>
      <p:sp>
        <p:nvSpPr>
          <p:cNvPr id="38940" name="Text Box 28">
            <a:extLst>
              <a:ext uri="{FF2B5EF4-FFF2-40B4-BE49-F238E27FC236}">
                <a16:creationId xmlns:a16="http://schemas.microsoft.com/office/drawing/2014/main" id="{80186015-1D00-9D49-AE70-F9489965FF3A}"/>
              </a:ext>
            </a:extLst>
          </p:cNvPr>
          <p:cNvSpPr txBox="1">
            <a:spLocks noChangeArrowheads="1"/>
          </p:cNvSpPr>
          <p:nvPr/>
        </p:nvSpPr>
        <p:spPr bwMode="auto">
          <a:xfrm>
            <a:off x="8458200" y="544671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H</a:t>
            </a:r>
          </a:p>
        </p:txBody>
      </p:sp>
    </p:spTree>
    <p:extLst>
      <p:ext uri="{BB962C8B-B14F-4D97-AF65-F5344CB8AC3E}">
        <p14:creationId xmlns:p14="http://schemas.microsoft.com/office/powerpoint/2010/main" val="715871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A6FBA5B-C9E9-1B48-9DC6-02FA74374949}"/>
              </a:ext>
            </a:extLst>
          </p:cNvPr>
          <p:cNvSpPr>
            <a:spLocks noGrp="1"/>
          </p:cNvSpPr>
          <p:nvPr>
            <p:ph type="title"/>
          </p:nvPr>
        </p:nvSpPr>
        <p:spPr/>
        <p:txBody>
          <a:bodyPr/>
          <a:lstStyle/>
          <a:p>
            <a:r>
              <a:rPr lang="en-US" sz="3600" b="1" dirty="0"/>
              <a:t>Re-examine Theorem 3</a:t>
            </a:r>
          </a:p>
        </p:txBody>
      </p:sp>
      <mc:AlternateContent xmlns:mc="http://schemas.openxmlformats.org/markup-compatibility/2006">
        <mc:Choice xmlns:a14="http://schemas.microsoft.com/office/drawing/2010/main" Requires="a14">
          <p:sp>
            <p:nvSpPr>
              <p:cNvPr id="10" name="Content Placeholder 9">
                <a:extLst>
                  <a:ext uri="{FF2B5EF4-FFF2-40B4-BE49-F238E27FC236}">
                    <a16:creationId xmlns:a16="http://schemas.microsoft.com/office/drawing/2014/main" id="{BAD46785-FB9F-914C-8513-7DB44828DEFE}"/>
                  </a:ext>
                </a:extLst>
              </p:cNvPr>
              <p:cNvSpPr>
                <a:spLocks noGrp="1"/>
              </p:cNvSpPr>
              <p:nvPr>
                <p:ph idx="1"/>
              </p:nvPr>
            </p:nvSpPr>
            <p:spPr>
              <a:xfrm>
                <a:off x="1981200" y="3678571"/>
                <a:ext cx="8229600" cy="2447592"/>
              </a:xfrm>
            </p:spPr>
            <p:txBody>
              <a:bodyPr/>
              <a:lstStyle/>
              <a:p>
                <a:pPr eaLnBrk="1" hangingPunct="1">
                  <a:spcBef>
                    <a:spcPct val="50000"/>
                  </a:spcBef>
                </a:pPr>
                <a:r>
                  <a:rPr lang="en-US" altLang="en-US" sz="2400" dirty="0">
                    <a:latin typeface="Times New Roman" panose="02020603050405020304" pitchFamily="18" charset="0"/>
                  </a:rPr>
                  <a:t>There 4 regions with boundary 4, one region (outside) with boundary 6. We can let </a:t>
                </a:r>
                <a14:m>
                  <m:oMath xmlns:m="http://schemas.openxmlformats.org/officeDocument/2006/math">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𝑟</m:t>
                        </m:r>
                      </m:e>
                      <m:sub>
                        <m:r>
                          <a:rPr lang="en-US" altLang="en-US" sz="2400" i="1">
                            <a:latin typeface="Cambria Math" panose="02040503050406030204" pitchFamily="18" charset="0"/>
                          </a:rPr>
                          <m:t>6</m:t>
                        </m:r>
                      </m:sub>
                    </m:sSub>
                    <m:r>
                      <a:rPr lang="en-US" altLang="en-US" sz="2400" i="1">
                        <a:latin typeface="Cambria Math" panose="02040503050406030204" pitchFamily="18" charset="0"/>
                      </a:rPr>
                      <m:t>=1, </m:t>
                    </m:r>
                    <m:sSubSup>
                      <m:sSubSupPr>
                        <m:ctrlPr>
                          <a:rPr lang="en-US" altLang="en-US" sz="2400" i="1">
                            <a:latin typeface="Cambria Math" panose="02040503050406030204" pitchFamily="18" charset="0"/>
                          </a:rPr>
                        </m:ctrlPr>
                      </m:sSubSupPr>
                      <m:e>
                        <m:r>
                          <a:rPr lang="en-US" altLang="en-US" sz="2400" i="1">
                            <a:latin typeface="Cambria Math" panose="02040503050406030204" pitchFamily="18" charset="0"/>
                          </a:rPr>
                          <m:t>𝑟</m:t>
                        </m:r>
                      </m:e>
                      <m:sub>
                        <m:r>
                          <a:rPr lang="en-US" altLang="en-US" sz="2400" i="1">
                            <a:latin typeface="Cambria Math" panose="02040503050406030204" pitchFamily="18" charset="0"/>
                          </a:rPr>
                          <m:t>6</m:t>
                        </m:r>
                      </m:sub>
                      <m:sup>
                        <m:r>
                          <a:rPr lang="en-US" altLang="en-US" sz="2400" i="1">
                            <a:latin typeface="Cambria Math" panose="02040503050406030204" pitchFamily="18" charset="0"/>
                          </a:rPr>
                          <m:t>′</m:t>
                        </m:r>
                      </m:sup>
                    </m:sSubSup>
                    <m:r>
                      <a:rPr lang="en-US" altLang="en-US" sz="2400" i="1">
                        <a:latin typeface="Cambria Math" panose="02040503050406030204" pitchFamily="18" charset="0"/>
                      </a:rPr>
                      <m:t>=0</m:t>
                    </m:r>
                  </m:oMath>
                </a14:m>
                <a:r>
                  <a:rPr lang="en-US" altLang="en-US" sz="2400" dirty="0">
                    <a:latin typeface="Times New Roman" panose="02020603050405020304" pitchFamily="18" charset="0"/>
                  </a:rPr>
                  <a:t> and </a:t>
                </a:r>
                <a14:m>
                  <m:oMath xmlns:m="http://schemas.openxmlformats.org/officeDocument/2006/math">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𝑟</m:t>
                        </m:r>
                      </m:e>
                      <m:sub>
                        <m:r>
                          <a:rPr lang="en-US" altLang="en-US" sz="2400" i="1">
                            <a:latin typeface="Cambria Math" panose="02040503050406030204" pitchFamily="18" charset="0"/>
                          </a:rPr>
                          <m:t>4</m:t>
                        </m:r>
                      </m:sub>
                    </m:sSub>
                    <m:r>
                      <a:rPr lang="en-US" altLang="en-US" sz="2400" i="1">
                        <a:latin typeface="Cambria Math" panose="02040503050406030204" pitchFamily="18" charset="0"/>
                      </a:rPr>
                      <m:t>=1, </m:t>
                    </m:r>
                    <m:sSubSup>
                      <m:sSubSupPr>
                        <m:ctrlPr>
                          <a:rPr lang="en-US" altLang="en-US" sz="2400" i="1">
                            <a:latin typeface="Cambria Math" panose="02040503050406030204" pitchFamily="18" charset="0"/>
                          </a:rPr>
                        </m:ctrlPr>
                      </m:sSubSupPr>
                      <m:e>
                        <m:r>
                          <a:rPr lang="en-US" altLang="en-US" sz="2400" i="1">
                            <a:latin typeface="Cambria Math" panose="02040503050406030204" pitchFamily="18" charset="0"/>
                          </a:rPr>
                          <m:t>𝑟</m:t>
                        </m:r>
                      </m:e>
                      <m:sub>
                        <m:r>
                          <a:rPr lang="en-US" altLang="en-US" sz="2400" i="1">
                            <a:latin typeface="Cambria Math" panose="02040503050406030204" pitchFamily="18" charset="0"/>
                          </a:rPr>
                          <m:t>4</m:t>
                        </m:r>
                      </m:sub>
                      <m:sup>
                        <m:r>
                          <a:rPr lang="en-US" altLang="en-US" sz="2400" i="1">
                            <a:latin typeface="Cambria Math" panose="02040503050406030204" pitchFamily="18" charset="0"/>
                          </a:rPr>
                          <m:t>′</m:t>
                        </m:r>
                      </m:sup>
                    </m:sSubSup>
                    <m:r>
                      <a:rPr lang="en-US" altLang="en-US" sz="2400" i="1">
                        <a:latin typeface="Cambria Math" panose="02040503050406030204" pitchFamily="18" charset="0"/>
                      </a:rPr>
                      <m:t>=3</m:t>
                    </m:r>
                  </m:oMath>
                </a14:m>
                <a:r>
                  <a:rPr lang="en-US" altLang="en-US" sz="2400" dirty="0">
                    <a:latin typeface="Times New Roman" panose="02020603050405020304" pitchFamily="18" charset="0"/>
                  </a:rPr>
                  <a:t> so that </a:t>
                </a:r>
                <a14:m>
                  <m:oMath xmlns:m="http://schemas.openxmlformats.org/officeDocument/2006/math">
                    <m:d>
                      <m:dPr>
                        <m:ctrlPr>
                          <a:rPr lang="en-US" altLang="en-US" sz="2400" i="1">
                            <a:latin typeface="Cambria Math" panose="02040503050406030204" pitchFamily="18" charset="0"/>
                          </a:rPr>
                        </m:ctrlPr>
                      </m:dPr>
                      <m:e>
                        <m:r>
                          <a:rPr lang="en-US" altLang="en-US" sz="2400" i="1">
                            <a:latin typeface="Cambria Math" panose="02040503050406030204" pitchFamily="18" charset="0"/>
                          </a:rPr>
                          <m:t>4−2</m:t>
                        </m:r>
                      </m:e>
                    </m:d>
                    <m:d>
                      <m:dPr>
                        <m:ctrlPr>
                          <a:rPr lang="en-US" altLang="en-US" sz="2400" i="1">
                            <a:latin typeface="Cambria Math" panose="02040503050406030204" pitchFamily="18" charset="0"/>
                          </a:rPr>
                        </m:ctrlPr>
                      </m:dPr>
                      <m:e>
                        <m:r>
                          <a:rPr lang="en-US" altLang="en-US" sz="2400" i="1">
                            <a:latin typeface="Cambria Math" panose="02040503050406030204" pitchFamily="18" charset="0"/>
                          </a:rPr>
                          <m:t>1−3</m:t>
                        </m:r>
                      </m:e>
                    </m:d>
                    <m:r>
                      <a:rPr lang="en-US" altLang="en-US" sz="2400" i="1">
                        <a:latin typeface="Cambria Math" panose="02040503050406030204" pitchFamily="18" charset="0"/>
                      </a:rPr>
                      <m:t>+</m:t>
                    </m:r>
                    <m:d>
                      <m:dPr>
                        <m:ctrlPr>
                          <a:rPr lang="en-US" altLang="en-US" sz="2400" i="1">
                            <a:latin typeface="Cambria Math" panose="02040503050406030204" pitchFamily="18" charset="0"/>
                          </a:rPr>
                        </m:ctrlPr>
                      </m:dPr>
                      <m:e>
                        <m:r>
                          <a:rPr lang="en-US" altLang="en-US" sz="2400" i="1">
                            <a:latin typeface="Cambria Math" panose="02040503050406030204" pitchFamily="18" charset="0"/>
                          </a:rPr>
                          <m:t>6−2</m:t>
                        </m:r>
                      </m:e>
                    </m:d>
                    <m:d>
                      <m:dPr>
                        <m:ctrlPr>
                          <a:rPr lang="en-US" altLang="en-US" sz="2400" i="1">
                            <a:latin typeface="Cambria Math" panose="02040503050406030204" pitchFamily="18" charset="0"/>
                          </a:rPr>
                        </m:ctrlPr>
                      </m:dPr>
                      <m:e>
                        <m:r>
                          <a:rPr lang="en-US" altLang="en-US" sz="2400" i="1">
                            <a:latin typeface="Cambria Math" panose="02040503050406030204" pitchFamily="18" charset="0"/>
                          </a:rPr>
                          <m:t>1−0</m:t>
                        </m:r>
                      </m:e>
                    </m:d>
                    <m:r>
                      <a:rPr lang="en-US" altLang="en-US" sz="2400" i="1">
                        <a:latin typeface="Cambria Math" panose="02040503050406030204" pitchFamily="18" charset="0"/>
                      </a:rPr>
                      <m:t>=0</m:t>
                    </m:r>
                  </m:oMath>
                </a14:m>
                <a:r>
                  <a:rPr lang="en-US" altLang="en-US" sz="2400" dirty="0">
                    <a:latin typeface="Times New Roman" panose="02020603050405020304" pitchFamily="18" charset="0"/>
                  </a:rPr>
                  <a:t>, the condition in Theorem 3 is satisfied, but there is no Hamilton circuit!</a:t>
                </a:r>
              </a:p>
              <a:p>
                <a:pPr eaLnBrk="1" hangingPunct="1">
                  <a:spcBef>
                    <a:spcPct val="50000"/>
                  </a:spcBef>
                </a:pPr>
                <a:r>
                  <a:rPr lang="en-US" altLang="en-US" sz="2400" dirty="0">
                    <a:latin typeface="Times New Roman" panose="02020603050405020304" pitchFamily="18" charset="0"/>
                  </a:rPr>
                  <a:t>Condition in Theorem 3 is </a:t>
                </a:r>
                <a:r>
                  <a:rPr lang="en-US" altLang="en-US" sz="2400" b="1" dirty="0">
                    <a:latin typeface="Times New Roman" panose="02020603050405020304" pitchFamily="18" charset="0"/>
                  </a:rPr>
                  <a:t>necessary </a:t>
                </a:r>
                <a:r>
                  <a:rPr lang="en-US" altLang="en-US" sz="2400" dirty="0">
                    <a:latin typeface="Times New Roman" panose="02020603050405020304" pitchFamily="18" charset="0"/>
                  </a:rPr>
                  <a:t>but not </a:t>
                </a:r>
                <a:r>
                  <a:rPr lang="en-US" altLang="en-US" sz="2400" b="1" dirty="0">
                    <a:latin typeface="Times New Roman" panose="02020603050405020304" pitchFamily="18" charset="0"/>
                  </a:rPr>
                  <a:t>sufficient</a:t>
                </a:r>
              </a:p>
              <a:p>
                <a:endParaRPr lang="en-US" dirty="0"/>
              </a:p>
            </p:txBody>
          </p:sp>
        </mc:Choice>
        <mc:Fallback>
          <p:sp>
            <p:nvSpPr>
              <p:cNvPr id="10" name="Content Placeholder 9">
                <a:extLst>
                  <a:ext uri="{FF2B5EF4-FFF2-40B4-BE49-F238E27FC236}">
                    <a16:creationId xmlns:a16="http://schemas.microsoft.com/office/drawing/2014/main" id="{BAD46785-FB9F-914C-8513-7DB44828DEFE}"/>
                  </a:ext>
                </a:extLst>
              </p:cNvPr>
              <p:cNvSpPr>
                <a:spLocks noGrp="1" noRot="1" noChangeAspect="1" noMove="1" noResize="1" noEditPoints="1" noAdjustHandles="1" noChangeArrowheads="1" noChangeShapeType="1" noTextEdit="1"/>
              </p:cNvSpPr>
              <p:nvPr>
                <p:ph idx="1"/>
              </p:nvPr>
            </p:nvSpPr>
            <p:spPr>
              <a:xfrm>
                <a:off x="1981200" y="3678571"/>
                <a:ext cx="8229600" cy="2447592"/>
              </a:xfrm>
              <a:blipFill>
                <a:blip r:embed="rId2"/>
                <a:stretch>
                  <a:fillRect l="-963" t="-3483"/>
                </a:stretch>
              </a:blipFill>
            </p:spPr>
            <p:txBody>
              <a:bodyPr/>
              <a:lstStyle/>
              <a:p>
                <a:r>
                  <a:rPr lang="zh-CN" altLang="en-US">
                    <a:noFill/>
                  </a:rPr>
                  <a:t> </a:t>
                </a:r>
              </a:p>
            </p:txBody>
          </p:sp>
        </mc:Fallback>
      </mc:AlternateContent>
      <p:grpSp>
        <p:nvGrpSpPr>
          <p:cNvPr id="11" name="Group 30">
            <a:extLst>
              <a:ext uri="{FF2B5EF4-FFF2-40B4-BE49-F238E27FC236}">
                <a16:creationId xmlns:a16="http://schemas.microsoft.com/office/drawing/2014/main" id="{E087FBAA-0752-2147-A77F-37307157001F}"/>
              </a:ext>
            </a:extLst>
          </p:cNvPr>
          <p:cNvGrpSpPr>
            <a:grpSpLocks/>
          </p:cNvGrpSpPr>
          <p:nvPr/>
        </p:nvGrpSpPr>
        <p:grpSpPr bwMode="auto">
          <a:xfrm>
            <a:off x="4343400" y="1417639"/>
            <a:ext cx="3110812" cy="2149077"/>
            <a:chOff x="1440" y="2064"/>
            <a:chExt cx="2922" cy="1651"/>
          </a:xfrm>
        </p:grpSpPr>
        <p:sp>
          <p:nvSpPr>
            <p:cNvPr id="12" name="Line 4">
              <a:extLst>
                <a:ext uri="{FF2B5EF4-FFF2-40B4-BE49-F238E27FC236}">
                  <a16:creationId xmlns:a16="http://schemas.microsoft.com/office/drawing/2014/main" id="{4FEEAD00-A1A7-A849-A576-5638F94B4BD8}"/>
                </a:ext>
              </a:extLst>
            </p:cNvPr>
            <p:cNvSpPr>
              <a:spLocks noChangeShapeType="1"/>
            </p:cNvSpPr>
            <p:nvPr/>
          </p:nvSpPr>
          <p:spPr bwMode="auto">
            <a:xfrm>
              <a:off x="1546" y="2352"/>
              <a:ext cx="25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5">
              <a:extLst>
                <a:ext uri="{FF2B5EF4-FFF2-40B4-BE49-F238E27FC236}">
                  <a16:creationId xmlns:a16="http://schemas.microsoft.com/office/drawing/2014/main" id="{95F15F3D-93FA-364D-8CA9-306F4535BCD5}"/>
                </a:ext>
              </a:extLst>
            </p:cNvPr>
            <p:cNvSpPr>
              <a:spLocks noChangeShapeType="1"/>
            </p:cNvSpPr>
            <p:nvPr/>
          </p:nvSpPr>
          <p:spPr bwMode="auto">
            <a:xfrm>
              <a:off x="1546" y="3408"/>
              <a:ext cx="25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Line 6">
              <a:extLst>
                <a:ext uri="{FF2B5EF4-FFF2-40B4-BE49-F238E27FC236}">
                  <a16:creationId xmlns:a16="http://schemas.microsoft.com/office/drawing/2014/main" id="{CA2ACA6F-C044-2240-98FA-80D5E1085A98}"/>
                </a:ext>
              </a:extLst>
            </p:cNvPr>
            <p:cNvSpPr>
              <a:spLocks noChangeShapeType="1"/>
            </p:cNvSpPr>
            <p:nvPr/>
          </p:nvSpPr>
          <p:spPr bwMode="auto">
            <a:xfrm>
              <a:off x="1546" y="2352"/>
              <a:ext cx="0"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7">
              <a:extLst>
                <a:ext uri="{FF2B5EF4-FFF2-40B4-BE49-F238E27FC236}">
                  <a16:creationId xmlns:a16="http://schemas.microsoft.com/office/drawing/2014/main" id="{4BF8543F-D5B5-CA4B-A8E9-328901DD1CB6}"/>
                </a:ext>
              </a:extLst>
            </p:cNvPr>
            <p:cNvSpPr>
              <a:spLocks noChangeShapeType="1"/>
            </p:cNvSpPr>
            <p:nvPr/>
          </p:nvSpPr>
          <p:spPr bwMode="auto">
            <a:xfrm>
              <a:off x="4090" y="2352"/>
              <a:ext cx="0"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Line 9">
              <a:extLst>
                <a:ext uri="{FF2B5EF4-FFF2-40B4-BE49-F238E27FC236}">
                  <a16:creationId xmlns:a16="http://schemas.microsoft.com/office/drawing/2014/main" id="{4DB6B8F5-E5BE-DB4C-ADC7-0C3447A3A0DE}"/>
                </a:ext>
              </a:extLst>
            </p:cNvPr>
            <p:cNvSpPr>
              <a:spLocks noChangeShapeType="1"/>
            </p:cNvSpPr>
            <p:nvPr/>
          </p:nvSpPr>
          <p:spPr bwMode="auto">
            <a:xfrm>
              <a:off x="1546" y="2352"/>
              <a:ext cx="1296"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Line 10">
              <a:extLst>
                <a:ext uri="{FF2B5EF4-FFF2-40B4-BE49-F238E27FC236}">
                  <a16:creationId xmlns:a16="http://schemas.microsoft.com/office/drawing/2014/main" id="{63CE4C1A-0AE2-234F-8AED-A57A8A99A811}"/>
                </a:ext>
              </a:extLst>
            </p:cNvPr>
            <p:cNvSpPr>
              <a:spLocks noChangeShapeType="1"/>
            </p:cNvSpPr>
            <p:nvPr/>
          </p:nvSpPr>
          <p:spPr bwMode="auto">
            <a:xfrm>
              <a:off x="2842" y="2352"/>
              <a:ext cx="1248"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 name="Group 29">
              <a:extLst>
                <a:ext uri="{FF2B5EF4-FFF2-40B4-BE49-F238E27FC236}">
                  <a16:creationId xmlns:a16="http://schemas.microsoft.com/office/drawing/2014/main" id="{D0A321E7-A379-ED4F-B7C6-81A9AD823A42}"/>
                </a:ext>
              </a:extLst>
            </p:cNvPr>
            <p:cNvGrpSpPr>
              <a:grpSpLocks/>
            </p:cNvGrpSpPr>
            <p:nvPr/>
          </p:nvGrpSpPr>
          <p:grpSpPr bwMode="auto">
            <a:xfrm>
              <a:off x="1440" y="2064"/>
              <a:ext cx="2832" cy="284"/>
              <a:chOff x="384" y="2016"/>
              <a:chExt cx="2832" cy="284"/>
            </a:xfrm>
          </p:grpSpPr>
          <p:sp>
            <p:nvSpPr>
              <p:cNvPr id="33" name="Text Box 20">
                <a:extLst>
                  <a:ext uri="{FF2B5EF4-FFF2-40B4-BE49-F238E27FC236}">
                    <a16:creationId xmlns:a16="http://schemas.microsoft.com/office/drawing/2014/main" id="{0626BB60-7716-0442-9CCE-880E89DB56B7}"/>
                  </a:ext>
                </a:extLst>
              </p:cNvPr>
              <p:cNvSpPr txBox="1">
                <a:spLocks noChangeArrowheads="1"/>
              </p:cNvSpPr>
              <p:nvPr/>
            </p:nvSpPr>
            <p:spPr bwMode="auto">
              <a:xfrm>
                <a:off x="384" y="2016"/>
                <a:ext cx="31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34" name="Text Box 21">
                <a:extLst>
                  <a:ext uri="{FF2B5EF4-FFF2-40B4-BE49-F238E27FC236}">
                    <a16:creationId xmlns:a16="http://schemas.microsoft.com/office/drawing/2014/main" id="{8B5A935C-94A5-D44E-B8A3-F6EFAC343EC5}"/>
                  </a:ext>
                </a:extLst>
              </p:cNvPr>
              <p:cNvSpPr txBox="1">
                <a:spLocks noChangeArrowheads="1"/>
              </p:cNvSpPr>
              <p:nvPr/>
            </p:nvSpPr>
            <p:spPr bwMode="auto">
              <a:xfrm>
                <a:off x="1680" y="2016"/>
                <a:ext cx="31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35" name="Text Box 22">
                <a:extLst>
                  <a:ext uri="{FF2B5EF4-FFF2-40B4-BE49-F238E27FC236}">
                    <a16:creationId xmlns:a16="http://schemas.microsoft.com/office/drawing/2014/main" id="{F1995858-FCCE-4A4B-8BAB-1697347741AB}"/>
                  </a:ext>
                </a:extLst>
              </p:cNvPr>
              <p:cNvSpPr txBox="1">
                <a:spLocks noChangeArrowheads="1"/>
              </p:cNvSpPr>
              <p:nvPr/>
            </p:nvSpPr>
            <p:spPr bwMode="auto">
              <a:xfrm>
                <a:off x="2976" y="2016"/>
                <a:ext cx="240"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grpSp>
        <p:sp>
          <p:nvSpPr>
            <p:cNvPr id="19" name="Line 8">
              <a:extLst>
                <a:ext uri="{FF2B5EF4-FFF2-40B4-BE49-F238E27FC236}">
                  <a16:creationId xmlns:a16="http://schemas.microsoft.com/office/drawing/2014/main" id="{139DCF11-A67E-C641-A697-65D7EBFD8F75}"/>
                </a:ext>
              </a:extLst>
            </p:cNvPr>
            <p:cNvSpPr>
              <a:spLocks noChangeShapeType="1"/>
            </p:cNvSpPr>
            <p:nvPr/>
          </p:nvSpPr>
          <p:spPr bwMode="auto">
            <a:xfrm>
              <a:off x="2842" y="2352"/>
              <a:ext cx="0"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Oval 11">
              <a:extLst>
                <a:ext uri="{FF2B5EF4-FFF2-40B4-BE49-F238E27FC236}">
                  <a16:creationId xmlns:a16="http://schemas.microsoft.com/office/drawing/2014/main" id="{855CC82E-A595-E245-88F5-23E4A10E1DDC}"/>
                </a:ext>
              </a:extLst>
            </p:cNvPr>
            <p:cNvSpPr>
              <a:spLocks noChangeArrowheads="1"/>
            </p:cNvSpPr>
            <p:nvPr/>
          </p:nvSpPr>
          <p:spPr bwMode="auto">
            <a:xfrm>
              <a:off x="1498" y="230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1" name="Oval 13">
              <a:extLst>
                <a:ext uri="{FF2B5EF4-FFF2-40B4-BE49-F238E27FC236}">
                  <a16:creationId xmlns:a16="http://schemas.microsoft.com/office/drawing/2014/main" id="{7E7E2779-102C-7744-968D-5043E87F4400}"/>
                </a:ext>
              </a:extLst>
            </p:cNvPr>
            <p:cNvSpPr>
              <a:spLocks noChangeArrowheads="1"/>
            </p:cNvSpPr>
            <p:nvPr/>
          </p:nvSpPr>
          <p:spPr bwMode="auto">
            <a:xfrm>
              <a:off x="2074" y="278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2" name="Oval 14">
              <a:extLst>
                <a:ext uri="{FF2B5EF4-FFF2-40B4-BE49-F238E27FC236}">
                  <a16:creationId xmlns:a16="http://schemas.microsoft.com/office/drawing/2014/main" id="{6276B7D1-CA8F-8D4E-8004-A71A68E04D53}"/>
                </a:ext>
              </a:extLst>
            </p:cNvPr>
            <p:cNvSpPr>
              <a:spLocks noChangeArrowheads="1"/>
            </p:cNvSpPr>
            <p:nvPr/>
          </p:nvSpPr>
          <p:spPr bwMode="auto">
            <a:xfrm>
              <a:off x="3370" y="278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3" name="Oval 15">
              <a:extLst>
                <a:ext uri="{FF2B5EF4-FFF2-40B4-BE49-F238E27FC236}">
                  <a16:creationId xmlns:a16="http://schemas.microsoft.com/office/drawing/2014/main" id="{30D8DAEC-6464-5F41-B17D-A4091CE11EBA}"/>
                </a:ext>
              </a:extLst>
            </p:cNvPr>
            <p:cNvSpPr>
              <a:spLocks noChangeArrowheads="1"/>
            </p:cNvSpPr>
            <p:nvPr/>
          </p:nvSpPr>
          <p:spPr bwMode="auto">
            <a:xfrm>
              <a:off x="1498" y="3312"/>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4" name="Oval 16">
              <a:extLst>
                <a:ext uri="{FF2B5EF4-FFF2-40B4-BE49-F238E27FC236}">
                  <a16:creationId xmlns:a16="http://schemas.microsoft.com/office/drawing/2014/main" id="{6BD22EA0-3972-EB4D-9576-A6BBA3697549}"/>
                </a:ext>
              </a:extLst>
            </p:cNvPr>
            <p:cNvSpPr>
              <a:spLocks noChangeArrowheads="1"/>
            </p:cNvSpPr>
            <p:nvPr/>
          </p:nvSpPr>
          <p:spPr bwMode="auto">
            <a:xfrm>
              <a:off x="3994" y="3312"/>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5" name="Oval 17">
              <a:extLst>
                <a:ext uri="{FF2B5EF4-FFF2-40B4-BE49-F238E27FC236}">
                  <a16:creationId xmlns:a16="http://schemas.microsoft.com/office/drawing/2014/main" id="{A7A998F0-A291-5046-946B-1E2678BBFA08}"/>
                </a:ext>
              </a:extLst>
            </p:cNvPr>
            <p:cNvSpPr>
              <a:spLocks noChangeArrowheads="1"/>
            </p:cNvSpPr>
            <p:nvPr/>
          </p:nvSpPr>
          <p:spPr bwMode="auto">
            <a:xfrm>
              <a:off x="3994" y="230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6" name="Oval 18">
              <a:extLst>
                <a:ext uri="{FF2B5EF4-FFF2-40B4-BE49-F238E27FC236}">
                  <a16:creationId xmlns:a16="http://schemas.microsoft.com/office/drawing/2014/main" id="{3A8C23C6-3433-8D45-BB90-1EE9831D582A}"/>
                </a:ext>
              </a:extLst>
            </p:cNvPr>
            <p:cNvSpPr>
              <a:spLocks noChangeArrowheads="1"/>
            </p:cNvSpPr>
            <p:nvPr/>
          </p:nvSpPr>
          <p:spPr bwMode="auto">
            <a:xfrm>
              <a:off x="2746" y="3312"/>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7" name="Oval 19">
              <a:extLst>
                <a:ext uri="{FF2B5EF4-FFF2-40B4-BE49-F238E27FC236}">
                  <a16:creationId xmlns:a16="http://schemas.microsoft.com/office/drawing/2014/main" id="{E2C67CEE-80A6-464D-95CE-6ADFE995D8C4}"/>
                </a:ext>
              </a:extLst>
            </p:cNvPr>
            <p:cNvSpPr>
              <a:spLocks noChangeArrowheads="1"/>
            </p:cNvSpPr>
            <p:nvPr/>
          </p:nvSpPr>
          <p:spPr bwMode="auto">
            <a:xfrm>
              <a:off x="2746" y="230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28" name="Text Box 23">
              <a:extLst>
                <a:ext uri="{FF2B5EF4-FFF2-40B4-BE49-F238E27FC236}">
                  <a16:creationId xmlns:a16="http://schemas.microsoft.com/office/drawing/2014/main" id="{590B416B-1A87-AF4D-AAC9-3311CBD8DA13}"/>
                </a:ext>
              </a:extLst>
            </p:cNvPr>
            <p:cNvSpPr txBox="1">
              <a:spLocks noChangeArrowheads="1"/>
            </p:cNvSpPr>
            <p:nvPr/>
          </p:nvSpPr>
          <p:spPr bwMode="auto">
            <a:xfrm>
              <a:off x="2256" y="2711"/>
              <a:ext cx="330"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29" name="Text Box 24">
              <a:extLst>
                <a:ext uri="{FF2B5EF4-FFF2-40B4-BE49-F238E27FC236}">
                  <a16:creationId xmlns:a16="http://schemas.microsoft.com/office/drawing/2014/main" id="{FD48FBDC-3993-FA46-B6BF-0AC062288A9B}"/>
                </a:ext>
              </a:extLst>
            </p:cNvPr>
            <p:cNvSpPr txBox="1">
              <a:spLocks noChangeArrowheads="1"/>
            </p:cNvSpPr>
            <p:nvPr/>
          </p:nvSpPr>
          <p:spPr bwMode="auto">
            <a:xfrm>
              <a:off x="3552" y="2711"/>
              <a:ext cx="31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30" name="Text Box 25">
              <a:extLst>
                <a:ext uri="{FF2B5EF4-FFF2-40B4-BE49-F238E27FC236}">
                  <a16:creationId xmlns:a16="http://schemas.microsoft.com/office/drawing/2014/main" id="{2609AE25-FE78-AC41-95AC-E53EDA63E1D3}"/>
                </a:ext>
              </a:extLst>
            </p:cNvPr>
            <p:cNvSpPr txBox="1">
              <a:spLocks noChangeArrowheads="1"/>
            </p:cNvSpPr>
            <p:nvPr/>
          </p:nvSpPr>
          <p:spPr bwMode="auto">
            <a:xfrm>
              <a:off x="1488" y="3431"/>
              <a:ext cx="30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31" name="Text Box 26">
              <a:extLst>
                <a:ext uri="{FF2B5EF4-FFF2-40B4-BE49-F238E27FC236}">
                  <a16:creationId xmlns:a16="http://schemas.microsoft.com/office/drawing/2014/main" id="{D62AE167-07BA-AA43-B06E-B1532ED401E4}"/>
                </a:ext>
              </a:extLst>
            </p:cNvPr>
            <p:cNvSpPr txBox="1">
              <a:spLocks noChangeArrowheads="1"/>
            </p:cNvSpPr>
            <p:nvPr/>
          </p:nvSpPr>
          <p:spPr bwMode="auto">
            <a:xfrm>
              <a:off x="2736" y="3431"/>
              <a:ext cx="342"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G</a:t>
              </a:r>
            </a:p>
          </p:txBody>
        </p:sp>
        <p:sp>
          <p:nvSpPr>
            <p:cNvPr id="32" name="Text Box 27">
              <a:extLst>
                <a:ext uri="{FF2B5EF4-FFF2-40B4-BE49-F238E27FC236}">
                  <a16:creationId xmlns:a16="http://schemas.microsoft.com/office/drawing/2014/main" id="{600AEE4A-8E1F-584A-A9EA-E043134B7628}"/>
                </a:ext>
              </a:extLst>
            </p:cNvPr>
            <p:cNvSpPr txBox="1">
              <a:spLocks noChangeArrowheads="1"/>
            </p:cNvSpPr>
            <p:nvPr/>
          </p:nvSpPr>
          <p:spPr bwMode="auto">
            <a:xfrm>
              <a:off x="4032" y="3431"/>
              <a:ext cx="330"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dirty="0"/>
                <a:t>H</a:t>
              </a:r>
            </a:p>
          </p:txBody>
        </p:sp>
      </p:grpSp>
    </p:spTree>
    <p:extLst>
      <p:ext uri="{BB962C8B-B14F-4D97-AF65-F5344CB8AC3E}">
        <p14:creationId xmlns:p14="http://schemas.microsoft.com/office/powerpoint/2010/main" val="10041167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3">
            <a:extLst>
              <a:ext uri="{FF2B5EF4-FFF2-40B4-BE49-F238E27FC236}">
                <a16:creationId xmlns:a16="http://schemas.microsoft.com/office/drawing/2014/main" id="{9C0F6EA7-F31A-0940-A2B8-485CE924297C}"/>
              </a:ext>
            </a:extLst>
          </p:cNvPr>
          <p:cNvSpPr>
            <a:spLocks noGrp="1" noChangeArrowheads="1"/>
          </p:cNvSpPr>
          <p:nvPr>
            <p:ph type="body" idx="1"/>
          </p:nvPr>
        </p:nvSpPr>
        <p:spPr>
          <a:xfrm>
            <a:off x="2209800" y="1600201"/>
            <a:ext cx="7772400" cy="1039813"/>
          </a:xfrm>
        </p:spPr>
        <p:txBody>
          <a:bodyPr/>
          <a:lstStyle/>
          <a:p>
            <a:pPr eaLnBrk="1" hangingPunct="1"/>
            <a:r>
              <a:rPr lang="en-US" altLang="en-US" dirty="0">
                <a:ea typeface="ＭＳ Ｐゴシック" panose="020B0600070205080204" pitchFamily="34" charset="-128"/>
              </a:rPr>
              <a:t>Does this graph have Hamilton path?</a:t>
            </a:r>
          </a:p>
        </p:txBody>
      </p:sp>
      <p:grpSp>
        <p:nvGrpSpPr>
          <p:cNvPr id="37894" name="Group 30">
            <a:extLst>
              <a:ext uri="{FF2B5EF4-FFF2-40B4-BE49-F238E27FC236}">
                <a16:creationId xmlns:a16="http://schemas.microsoft.com/office/drawing/2014/main" id="{C7DD38EF-A67C-4343-B883-9F7BDC4EF99F}"/>
              </a:ext>
            </a:extLst>
          </p:cNvPr>
          <p:cNvGrpSpPr>
            <a:grpSpLocks/>
          </p:cNvGrpSpPr>
          <p:nvPr/>
        </p:nvGrpSpPr>
        <p:grpSpPr bwMode="auto">
          <a:xfrm>
            <a:off x="4247356" y="2712244"/>
            <a:ext cx="3697288" cy="2471738"/>
            <a:chOff x="1440" y="2064"/>
            <a:chExt cx="2863" cy="1605"/>
          </a:xfrm>
        </p:grpSpPr>
        <p:sp>
          <p:nvSpPr>
            <p:cNvPr id="37897" name="Line 4">
              <a:extLst>
                <a:ext uri="{FF2B5EF4-FFF2-40B4-BE49-F238E27FC236}">
                  <a16:creationId xmlns:a16="http://schemas.microsoft.com/office/drawing/2014/main" id="{554F4D66-A46F-5740-AD98-563506F9B957}"/>
                </a:ext>
              </a:extLst>
            </p:cNvPr>
            <p:cNvSpPr>
              <a:spLocks noChangeShapeType="1"/>
            </p:cNvSpPr>
            <p:nvPr/>
          </p:nvSpPr>
          <p:spPr bwMode="auto">
            <a:xfrm>
              <a:off x="1546" y="2352"/>
              <a:ext cx="25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8" name="Line 5">
              <a:extLst>
                <a:ext uri="{FF2B5EF4-FFF2-40B4-BE49-F238E27FC236}">
                  <a16:creationId xmlns:a16="http://schemas.microsoft.com/office/drawing/2014/main" id="{0821A173-8F46-7E42-A95E-56D957DCE624}"/>
                </a:ext>
              </a:extLst>
            </p:cNvPr>
            <p:cNvSpPr>
              <a:spLocks noChangeShapeType="1"/>
            </p:cNvSpPr>
            <p:nvPr/>
          </p:nvSpPr>
          <p:spPr bwMode="auto">
            <a:xfrm>
              <a:off x="1546" y="3408"/>
              <a:ext cx="25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9" name="Line 6">
              <a:extLst>
                <a:ext uri="{FF2B5EF4-FFF2-40B4-BE49-F238E27FC236}">
                  <a16:creationId xmlns:a16="http://schemas.microsoft.com/office/drawing/2014/main" id="{7B05BB8E-8052-5345-A29E-E7A04417BA28}"/>
                </a:ext>
              </a:extLst>
            </p:cNvPr>
            <p:cNvSpPr>
              <a:spLocks noChangeShapeType="1"/>
            </p:cNvSpPr>
            <p:nvPr/>
          </p:nvSpPr>
          <p:spPr bwMode="auto">
            <a:xfrm>
              <a:off x="1546" y="2352"/>
              <a:ext cx="0"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0" name="Line 7">
              <a:extLst>
                <a:ext uri="{FF2B5EF4-FFF2-40B4-BE49-F238E27FC236}">
                  <a16:creationId xmlns:a16="http://schemas.microsoft.com/office/drawing/2014/main" id="{2B4BCE49-56C9-9641-A7E6-92F7C17E600A}"/>
                </a:ext>
              </a:extLst>
            </p:cNvPr>
            <p:cNvSpPr>
              <a:spLocks noChangeShapeType="1"/>
            </p:cNvSpPr>
            <p:nvPr/>
          </p:nvSpPr>
          <p:spPr bwMode="auto">
            <a:xfrm>
              <a:off x="4090" y="2352"/>
              <a:ext cx="0"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1" name="Line 9">
              <a:extLst>
                <a:ext uri="{FF2B5EF4-FFF2-40B4-BE49-F238E27FC236}">
                  <a16:creationId xmlns:a16="http://schemas.microsoft.com/office/drawing/2014/main" id="{A3F3EC14-9D16-644D-B194-B002A2EA1EC8}"/>
                </a:ext>
              </a:extLst>
            </p:cNvPr>
            <p:cNvSpPr>
              <a:spLocks noChangeShapeType="1"/>
            </p:cNvSpPr>
            <p:nvPr/>
          </p:nvSpPr>
          <p:spPr bwMode="auto">
            <a:xfrm>
              <a:off x="1546" y="2352"/>
              <a:ext cx="1296"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2" name="Line 10">
              <a:extLst>
                <a:ext uri="{FF2B5EF4-FFF2-40B4-BE49-F238E27FC236}">
                  <a16:creationId xmlns:a16="http://schemas.microsoft.com/office/drawing/2014/main" id="{66395911-7AB5-7444-A307-6A8BB1721FA7}"/>
                </a:ext>
              </a:extLst>
            </p:cNvPr>
            <p:cNvSpPr>
              <a:spLocks noChangeShapeType="1"/>
            </p:cNvSpPr>
            <p:nvPr/>
          </p:nvSpPr>
          <p:spPr bwMode="auto">
            <a:xfrm>
              <a:off x="2842" y="2352"/>
              <a:ext cx="1248"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03" name="Group 29">
              <a:extLst>
                <a:ext uri="{FF2B5EF4-FFF2-40B4-BE49-F238E27FC236}">
                  <a16:creationId xmlns:a16="http://schemas.microsoft.com/office/drawing/2014/main" id="{BFB2BD60-B816-5746-BEA1-A42A0827D6FB}"/>
                </a:ext>
              </a:extLst>
            </p:cNvPr>
            <p:cNvGrpSpPr>
              <a:grpSpLocks/>
            </p:cNvGrpSpPr>
            <p:nvPr/>
          </p:nvGrpSpPr>
          <p:grpSpPr bwMode="auto">
            <a:xfrm>
              <a:off x="1440" y="2064"/>
              <a:ext cx="2832" cy="238"/>
              <a:chOff x="384" y="2016"/>
              <a:chExt cx="2832" cy="238"/>
            </a:xfrm>
          </p:grpSpPr>
          <p:sp>
            <p:nvSpPr>
              <p:cNvPr id="37918" name="Text Box 20">
                <a:extLst>
                  <a:ext uri="{FF2B5EF4-FFF2-40B4-BE49-F238E27FC236}">
                    <a16:creationId xmlns:a16="http://schemas.microsoft.com/office/drawing/2014/main" id="{F7E3BBDD-9192-F44C-A2DD-7D994B7C39F9}"/>
                  </a:ext>
                </a:extLst>
              </p:cNvPr>
              <p:cNvSpPr txBox="1">
                <a:spLocks noChangeArrowheads="1"/>
              </p:cNvSpPr>
              <p:nvPr/>
            </p:nvSpPr>
            <p:spPr bwMode="auto">
              <a:xfrm>
                <a:off x="384" y="2016"/>
                <a:ext cx="26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37919" name="Text Box 21">
                <a:extLst>
                  <a:ext uri="{FF2B5EF4-FFF2-40B4-BE49-F238E27FC236}">
                    <a16:creationId xmlns:a16="http://schemas.microsoft.com/office/drawing/2014/main" id="{0E048886-AB0A-9A45-A278-C00C8B7BA729}"/>
                  </a:ext>
                </a:extLst>
              </p:cNvPr>
              <p:cNvSpPr txBox="1">
                <a:spLocks noChangeArrowheads="1"/>
              </p:cNvSpPr>
              <p:nvPr/>
            </p:nvSpPr>
            <p:spPr bwMode="auto">
              <a:xfrm>
                <a:off x="1680" y="2016"/>
                <a:ext cx="26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37920" name="Text Box 22">
                <a:extLst>
                  <a:ext uri="{FF2B5EF4-FFF2-40B4-BE49-F238E27FC236}">
                    <a16:creationId xmlns:a16="http://schemas.microsoft.com/office/drawing/2014/main" id="{14655901-EA86-A74C-9B73-1795E2157C39}"/>
                  </a:ext>
                </a:extLst>
              </p:cNvPr>
              <p:cNvSpPr txBox="1">
                <a:spLocks noChangeArrowheads="1"/>
              </p:cNvSpPr>
              <p:nvPr/>
            </p:nvSpPr>
            <p:spPr bwMode="auto">
              <a:xfrm>
                <a:off x="2976" y="2016"/>
                <a:ext cx="24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grpSp>
        <p:sp>
          <p:nvSpPr>
            <p:cNvPr id="37904" name="Line 8">
              <a:extLst>
                <a:ext uri="{FF2B5EF4-FFF2-40B4-BE49-F238E27FC236}">
                  <a16:creationId xmlns:a16="http://schemas.microsoft.com/office/drawing/2014/main" id="{8BE26AB1-B4C4-FA4A-8407-635CE2037A7E}"/>
                </a:ext>
              </a:extLst>
            </p:cNvPr>
            <p:cNvSpPr>
              <a:spLocks noChangeShapeType="1"/>
            </p:cNvSpPr>
            <p:nvPr/>
          </p:nvSpPr>
          <p:spPr bwMode="auto">
            <a:xfrm>
              <a:off x="2842" y="2352"/>
              <a:ext cx="0"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5" name="Oval 11">
              <a:extLst>
                <a:ext uri="{FF2B5EF4-FFF2-40B4-BE49-F238E27FC236}">
                  <a16:creationId xmlns:a16="http://schemas.microsoft.com/office/drawing/2014/main" id="{1B74A985-3029-7141-8A53-F3F1D83C4B5C}"/>
                </a:ext>
              </a:extLst>
            </p:cNvPr>
            <p:cNvSpPr>
              <a:spLocks noChangeArrowheads="1"/>
            </p:cNvSpPr>
            <p:nvPr/>
          </p:nvSpPr>
          <p:spPr bwMode="auto">
            <a:xfrm>
              <a:off x="1498" y="230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06" name="Oval 13">
              <a:extLst>
                <a:ext uri="{FF2B5EF4-FFF2-40B4-BE49-F238E27FC236}">
                  <a16:creationId xmlns:a16="http://schemas.microsoft.com/office/drawing/2014/main" id="{E2E111E0-EC47-B340-AE1B-F83B807F1D5E}"/>
                </a:ext>
              </a:extLst>
            </p:cNvPr>
            <p:cNvSpPr>
              <a:spLocks noChangeArrowheads="1"/>
            </p:cNvSpPr>
            <p:nvPr/>
          </p:nvSpPr>
          <p:spPr bwMode="auto">
            <a:xfrm>
              <a:off x="2074" y="278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07" name="Oval 14">
              <a:extLst>
                <a:ext uri="{FF2B5EF4-FFF2-40B4-BE49-F238E27FC236}">
                  <a16:creationId xmlns:a16="http://schemas.microsoft.com/office/drawing/2014/main" id="{653348DB-47F0-D14A-993E-763A8481988F}"/>
                </a:ext>
              </a:extLst>
            </p:cNvPr>
            <p:cNvSpPr>
              <a:spLocks noChangeArrowheads="1"/>
            </p:cNvSpPr>
            <p:nvPr/>
          </p:nvSpPr>
          <p:spPr bwMode="auto">
            <a:xfrm>
              <a:off x="3370" y="278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08" name="Oval 15">
              <a:extLst>
                <a:ext uri="{FF2B5EF4-FFF2-40B4-BE49-F238E27FC236}">
                  <a16:creationId xmlns:a16="http://schemas.microsoft.com/office/drawing/2014/main" id="{E2A9FA1B-3E19-FB46-BFF7-62F138590DA2}"/>
                </a:ext>
              </a:extLst>
            </p:cNvPr>
            <p:cNvSpPr>
              <a:spLocks noChangeArrowheads="1"/>
            </p:cNvSpPr>
            <p:nvPr/>
          </p:nvSpPr>
          <p:spPr bwMode="auto">
            <a:xfrm>
              <a:off x="1498" y="3312"/>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09" name="Oval 16">
              <a:extLst>
                <a:ext uri="{FF2B5EF4-FFF2-40B4-BE49-F238E27FC236}">
                  <a16:creationId xmlns:a16="http://schemas.microsoft.com/office/drawing/2014/main" id="{BA0BA148-017F-C64A-987E-1280B28B02CC}"/>
                </a:ext>
              </a:extLst>
            </p:cNvPr>
            <p:cNvSpPr>
              <a:spLocks noChangeArrowheads="1"/>
            </p:cNvSpPr>
            <p:nvPr/>
          </p:nvSpPr>
          <p:spPr bwMode="auto">
            <a:xfrm>
              <a:off x="3994" y="3312"/>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10" name="Oval 17">
              <a:extLst>
                <a:ext uri="{FF2B5EF4-FFF2-40B4-BE49-F238E27FC236}">
                  <a16:creationId xmlns:a16="http://schemas.microsoft.com/office/drawing/2014/main" id="{B44AA09E-4BDF-1848-9B5D-B191E2652022}"/>
                </a:ext>
              </a:extLst>
            </p:cNvPr>
            <p:cNvSpPr>
              <a:spLocks noChangeArrowheads="1"/>
            </p:cNvSpPr>
            <p:nvPr/>
          </p:nvSpPr>
          <p:spPr bwMode="auto">
            <a:xfrm>
              <a:off x="3994" y="230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11" name="Oval 18">
              <a:extLst>
                <a:ext uri="{FF2B5EF4-FFF2-40B4-BE49-F238E27FC236}">
                  <a16:creationId xmlns:a16="http://schemas.microsoft.com/office/drawing/2014/main" id="{F9F8CD83-CED2-2249-AE57-C117D97378B4}"/>
                </a:ext>
              </a:extLst>
            </p:cNvPr>
            <p:cNvSpPr>
              <a:spLocks noChangeArrowheads="1"/>
            </p:cNvSpPr>
            <p:nvPr/>
          </p:nvSpPr>
          <p:spPr bwMode="auto">
            <a:xfrm>
              <a:off x="2746" y="3312"/>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12" name="Oval 19">
              <a:extLst>
                <a:ext uri="{FF2B5EF4-FFF2-40B4-BE49-F238E27FC236}">
                  <a16:creationId xmlns:a16="http://schemas.microsoft.com/office/drawing/2014/main" id="{49BCD8AA-9FB3-1C48-AEE4-5CA519493A6F}"/>
                </a:ext>
              </a:extLst>
            </p:cNvPr>
            <p:cNvSpPr>
              <a:spLocks noChangeArrowheads="1"/>
            </p:cNvSpPr>
            <p:nvPr/>
          </p:nvSpPr>
          <p:spPr bwMode="auto">
            <a:xfrm>
              <a:off x="2746" y="2304"/>
              <a:ext cx="144" cy="144"/>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7913" name="Text Box 23">
              <a:extLst>
                <a:ext uri="{FF2B5EF4-FFF2-40B4-BE49-F238E27FC236}">
                  <a16:creationId xmlns:a16="http://schemas.microsoft.com/office/drawing/2014/main" id="{CE10CD39-8BF5-6441-9034-B3D48DDB14FA}"/>
                </a:ext>
              </a:extLst>
            </p:cNvPr>
            <p:cNvSpPr txBox="1">
              <a:spLocks noChangeArrowheads="1"/>
            </p:cNvSpPr>
            <p:nvPr/>
          </p:nvSpPr>
          <p:spPr bwMode="auto">
            <a:xfrm>
              <a:off x="2256" y="2711"/>
              <a:ext cx="27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37914" name="Text Box 24">
              <a:extLst>
                <a:ext uri="{FF2B5EF4-FFF2-40B4-BE49-F238E27FC236}">
                  <a16:creationId xmlns:a16="http://schemas.microsoft.com/office/drawing/2014/main" id="{761EF341-37F6-954F-AE80-5E10A5A64190}"/>
                </a:ext>
              </a:extLst>
            </p:cNvPr>
            <p:cNvSpPr txBox="1">
              <a:spLocks noChangeArrowheads="1"/>
            </p:cNvSpPr>
            <p:nvPr/>
          </p:nvSpPr>
          <p:spPr bwMode="auto">
            <a:xfrm>
              <a:off x="3552" y="2711"/>
              <a:ext cx="26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E</a:t>
              </a:r>
            </a:p>
          </p:txBody>
        </p:sp>
        <p:sp>
          <p:nvSpPr>
            <p:cNvPr id="37915" name="Text Box 25">
              <a:extLst>
                <a:ext uri="{FF2B5EF4-FFF2-40B4-BE49-F238E27FC236}">
                  <a16:creationId xmlns:a16="http://schemas.microsoft.com/office/drawing/2014/main" id="{EB2D537E-C1CC-774C-B7DB-1D81FAC1912E}"/>
                </a:ext>
              </a:extLst>
            </p:cNvPr>
            <p:cNvSpPr txBox="1">
              <a:spLocks noChangeArrowheads="1"/>
            </p:cNvSpPr>
            <p:nvPr/>
          </p:nvSpPr>
          <p:spPr bwMode="auto">
            <a:xfrm>
              <a:off x="1488" y="3431"/>
              <a:ext cx="25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F</a:t>
              </a:r>
            </a:p>
          </p:txBody>
        </p:sp>
        <p:sp>
          <p:nvSpPr>
            <p:cNvPr id="37916" name="Text Box 26">
              <a:extLst>
                <a:ext uri="{FF2B5EF4-FFF2-40B4-BE49-F238E27FC236}">
                  <a16:creationId xmlns:a16="http://schemas.microsoft.com/office/drawing/2014/main" id="{03A49B26-4DCD-4343-B16D-885A4295C877}"/>
                </a:ext>
              </a:extLst>
            </p:cNvPr>
            <p:cNvSpPr txBox="1">
              <a:spLocks noChangeArrowheads="1"/>
            </p:cNvSpPr>
            <p:nvPr/>
          </p:nvSpPr>
          <p:spPr bwMode="auto">
            <a:xfrm>
              <a:off x="2736" y="3431"/>
              <a:ext cx="28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G</a:t>
              </a:r>
            </a:p>
          </p:txBody>
        </p:sp>
        <p:sp>
          <p:nvSpPr>
            <p:cNvPr id="37917" name="Text Box 27">
              <a:extLst>
                <a:ext uri="{FF2B5EF4-FFF2-40B4-BE49-F238E27FC236}">
                  <a16:creationId xmlns:a16="http://schemas.microsoft.com/office/drawing/2014/main" id="{1CD274FF-4E3F-8640-8262-0B7428C23CF7}"/>
                </a:ext>
              </a:extLst>
            </p:cNvPr>
            <p:cNvSpPr txBox="1">
              <a:spLocks noChangeArrowheads="1"/>
            </p:cNvSpPr>
            <p:nvPr/>
          </p:nvSpPr>
          <p:spPr bwMode="auto">
            <a:xfrm>
              <a:off x="4032" y="3431"/>
              <a:ext cx="27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H</a:t>
              </a:r>
            </a:p>
          </p:txBody>
        </p:sp>
      </p:grpSp>
      <p:sp>
        <p:nvSpPr>
          <p:cNvPr id="37895" name="Text Box 31">
            <a:extLst>
              <a:ext uri="{FF2B5EF4-FFF2-40B4-BE49-F238E27FC236}">
                <a16:creationId xmlns:a16="http://schemas.microsoft.com/office/drawing/2014/main" id="{EF89B72B-F40C-A548-8B64-DD00925093F7}"/>
              </a:ext>
            </a:extLst>
          </p:cNvPr>
          <p:cNvSpPr txBox="1">
            <a:spLocks noChangeArrowheads="1"/>
          </p:cNvSpPr>
          <p:nvPr/>
        </p:nvSpPr>
        <p:spPr bwMode="auto">
          <a:xfrm>
            <a:off x="2362200" y="3581401"/>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endParaRPr lang="en-US" altLang="en-US" sz="1800"/>
          </a:p>
        </p:txBody>
      </p:sp>
    </p:spTree>
    <p:extLst>
      <p:ext uri="{BB962C8B-B14F-4D97-AF65-F5344CB8AC3E}">
        <p14:creationId xmlns:p14="http://schemas.microsoft.com/office/powerpoint/2010/main" val="38146390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A2E1E19-6E99-B241-8196-1B3283989261}"/>
              </a:ext>
            </a:extLst>
          </p:cNvPr>
          <p:cNvSpPr>
            <a:spLocks noGrp="1"/>
          </p:cNvSpPr>
          <p:nvPr>
            <p:ph type="title"/>
          </p:nvPr>
        </p:nvSpPr>
        <p:spPr/>
        <p:txBody>
          <a:bodyPr/>
          <a:lstStyle/>
          <a:p>
            <a:r>
              <a:rPr lang="en-US" sz="2800" dirty="0"/>
              <a:t>Amendment to Euler cycle for directed graph</a:t>
            </a:r>
          </a:p>
        </p:txBody>
      </p:sp>
      <p:sp>
        <p:nvSpPr>
          <p:cNvPr id="11" name="Content Placeholder 10">
            <a:extLst>
              <a:ext uri="{FF2B5EF4-FFF2-40B4-BE49-F238E27FC236}">
                <a16:creationId xmlns:a16="http://schemas.microsoft.com/office/drawing/2014/main" id="{E7EF269D-A2F0-CC43-933F-851A5AAF8C1E}"/>
              </a:ext>
            </a:extLst>
          </p:cNvPr>
          <p:cNvSpPr>
            <a:spLocks noGrp="1"/>
          </p:cNvSpPr>
          <p:nvPr>
            <p:ph idx="1"/>
          </p:nvPr>
        </p:nvSpPr>
        <p:spPr/>
        <p:txBody>
          <a:bodyPr/>
          <a:lstStyle/>
          <a:p>
            <a:r>
              <a:rPr lang="en-US" dirty="0"/>
              <a:t>Euler cycle exist in directed graph if any only if </a:t>
            </a:r>
          </a:p>
          <a:p>
            <a:pPr lvl="1"/>
            <a:r>
              <a:rPr lang="en-US" dirty="0"/>
              <a:t>The graph is connected</a:t>
            </a:r>
          </a:p>
          <a:p>
            <a:pPr lvl="1"/>
            <a:r>
              <a:rPr lang="en-US" dirty="0"/>
              <a:t>For every vertex in the graph, the in-degree equals the out-degree</a:t>
            </a:r>
          </a:p>
        </p:txBody>
      </p:sp>
      <p:pic>
        <p:nvPicPr>
          <p:cNvPr id="2" name="Picture 1">
            <a:extLst>
              <a:ext uri="{FF2B5EF4-FFF2-40B4-BE49-F238E27FC236}">
                <a16:creationId xmlns:a16="http://schemas.microsoft.com/office/drawing/2014/main" id="{FF4FA94C-C7E7-FC4E-A5B3-7FC20A7DB665}"/>
              </a:ext>
            </a:extLst>
          </p:cNvPr>
          <p:cNvPicPr>
            <a:picLocks noChangeAspect="1"/>
          </p:cNvPicPr>
          <p:nvPr/>
        </p:nvPicPr>
        <p:blipFill>
          <a:blip r:embed="rId2"/>
          <a:stretch>
            <a:fillRect/>
          </a:stretch>
        </p:blipFill>
        <p:spPr>
          <a:xfrm>
            <a:off x="3200401" y="3733800"/>
            <a:ext cx="1996201" cy="1933575"/>
          </a:xfrm>
          <a:prstGeom prst="rect">
            <a:avLst/>
          </a:prstGeom>
        </p:spPr>
      </p:pic>
      <p:pic>
        <p:nvPicPr>
          <p:cNvPr id="3" name="Picture 2">
            <a:extLst>
              <a:ext uri="{FF2B5EF4-FFF2-40B4-BE49-F238E27FC236}">
                <a16:creationId xmlns:a16="http://schemas.microsoft.com/office/drawing/2014/main" id="{CC7FDB7E-9DB2-6641-8AE3-15F40CB62F39}"/>
              </a:ext>
            </a:extLst>
          </p:cNvPr>
          <p:cNvPicPr>
            <a:picLocks noChangeAspect="1"/>
          </p:cNvPicPr>
          <p:nvPr/>
        </p:nvPicPr>
        <p:blipFill>
          <a:blip r:embed="rId3"/>
          <a:stretch>
            <a:fillRect/>
          </a:stretch>
        </p:blipFill>
        <p:spPr>
          <a:xfrm>
            <a:off x="6116081" y="3733799"/>
            <a:ext cx="2939032" cy="1933574"/>
          </a:xfrm>
          <a:prstGeom prst="rect">
            <a:avLst/>
          </a:prstGeom>
        </p:spPr>
      </p:pic>
    </p:spTree>
    <p:extLst>
      <p:ext uri="{BB962C8B-B14F-4D97-AF65-F5344CB8AC3E}">
        <p14:creationId xmlns:p14="http://schemas.microsoft.com/office/powerpoint/2010/main" val="33417972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A2E1E19-6E99-B241-8196-1B3283989261}"/>
              </a:ext>
            </a:extLst>
          </p:cNvPr>
          <p:cNvSpPr>
            <a:spLocks noGrp="1"/>
          </p:cNvSpPr>
          <p:nvPr>
            <p:ph type="title"/>
          </p:nvPr>
        </p:nvSpPr>
        <p:spPr/>
        <p:txBody>
          <a:bodyPr/>
          <a:lstStyle/>
          <a:p>
            <a:r>
              <a:rPr lang="en-US" sz="3200" dirty="0"/>
              <a:t>Can this directed graph have Euler cycle?</a:t>
            </a:r>
          </a:p>
        </p:txBody>
      </p:sp>
      <p:pic>
        <p:nvPicPr>
          <p:cNvPr id="12" name="Picture 11">
            <a:extLst>
              <a:ext uri="{FF2B5EF4-FFF2-40B4-BE49-F238E27FC236}">
                <a16:creationId xmlns:a16="http://schemas.microsoft.com/office/drawing/2014/main" id="{E54C904A-8834-F546-ADB3-18150A471FB9}"/>
              </a:ext>
            </a:extLst>
          </p:cNvPr>
          <p:cNvPicPr>
            <a:picLocks noChangeAspect="1"/>
          </p:cNvPicPr>
          <p:nvPr/>
        </p:nvPicPr>
        <p:blipFill>
          <a:blip r:embed="rId2"/>
          <a:stretch>
            <a:fillRect/>
          </a:stretch>
        </p:blipFill>
        <p:spPr>
          <a:xfrm>
            <a:off x="4114800" y="1600200"/>
            <a:ext cx="3962400" cy="3962400"/>
          </a:xfrm>
          <a:prstGeom prst="rect">
            <a:avLst/>
          </a:prstGeom>
        </p:spPr>
      </p:pic>
    </p:spTree>
    <p:extLst>
      <p:ext uri="{BB962C8B-B14F-4D97-AF65-F5344CB8AC3E}">
        <p14:creationId xmlns:p14="http://schemas.microsoft.com/office/powerpoint/2010/main" val="21988900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F4B75-89EB-0344-9618-10E0789D7A02}"/>
              </a:ext>
            </a:extLst>
          </p:cNvPr>
          <p:cNvSpPr>
            <a:spLocks noGrp="1"/>
          </p:cNvSpPr>
          <p:nvPr>
            <p:ph type="title"/>
          </p:nvPr>
        </p:nvSpPr>
        <p:spPr/>
        <p:txBody>
          <a:bodyPr/>
          <a:lstStyle/>
          <a:p>
            <a:r>
              <a:rPr lang="en-US" sz="3600" dirty="0"/>
              <a:t>Summary of previous lecture</a:t>
            </a:r>
          </a:p>
        </p:txBody>
      </p:sp>
      <p:sp>
        <p:nvSpPr>
          <p:cNvPr id="3" name="Content Placeholder 2">
            <a:extLst>
              <a:ext uri="{FF2B5EF4-FFF2-40B4-BE49-F238E27FC236}">
                <a16:creationId xmlns:a16="http://schemas.microsoft.com/office/drawing/2014/main" id="{17247C7D-1C11-1C4F-9830-2B29E8619875}"/>
              </a:ext>
            </a:extLst>
          </p:cNvPr>
          <p:cNvSpPr>
            <a:spLocks noGrp="1"/>
          </p:cNvSpPr>
          <p:nvPr>
            <p:ph idx="1"/>
          </p:nvPr>
        </p:nvSpPr>
        <p:spPr>
          <a:xfrm>
            <a:off x="1981200" y="1295400"/>
            <a:ext cx="8229600" cy="5211762"/>
          </a:xfrm>
        </p:spPr>
        <p:txBody>
          <a:bodyPr/>
          <a:lstStyle/>
          <a:p>
            <a:r>
              <a:rPr lang="en-US" dirty="0"/>
              <a:t>Hamilton circuit/path</a:t>
            </a:r>
          </a:p>
          <a:p>
            <a:pPr lvl="1"/>
            <a:r>
              <a:rPr lang="en-US" dirty="0"/>
              <a:t>Visit every vertex exactly once (once and only once)</a:t>
            </a:r>
          </a:p>
          <a:p>
            <a:pPr lvl="1"/>
            <a:r>
              <a:rPr lang="en-US" dirty="0"/>
              <a:t>Postman’s solution</a:t>
            </a:r>
          </a:p>
          <a:p>
            <a:pPr marL="514350" indent="-457200"/>
            <a:r>
              <a:rPr lang="en-US" dirty="0"/>
              <a:t>Three rules to construct the Hamilton circuit</a:t>
            </a:r>
          </a:p>
          <a:p>
            <a:pPr marL="914400" lvl="1" indent="-457200"/>
            <a:r>
              <a:rPr lang="en-US" dirty="0"/>
              <a:t>Any vertex with degree 2, its two incident edges must be included in the Hamilton circuit</a:t>
            </a:r>
          </a:p>
          <a:p>
            <a:pPr marL="914400" lvl="1" indent="-457200"/>
            <a:r>
              <a:rPr lang="en-US" dirty="0"/>
              <a:t>If two edges of a vertex have already been used, the remaining edges must not be included</a:t>
            </a:r>
          </a:p>
          <a:p>
            <a:pPr marL="914400" lvl="1" indent="-457200"/>
            <a:r>
              <a:rPr lang="en-US" dirty="0"/>
              <a:t>There can be no sub-circuit</a:t>
            </a:r>
          </a:p>
          <a:p>
            <a:pPr marL="514350" indent="-457200"/>
            <a:r>
              <a:rPr lang="en-US" dirty="0"/>
              <a:t>The three theorems about the existence of Hamilton circuit</a:t>
            </a:r>
          </a:p>
          <a:p>
            <a:pPr lvl="1"/>
            <a:endParaRPr lang="en-US" dirty="0"/>
          </a:p>
        </p:txBody>
      </p:sp>
    </p:spTree>
    <p:extLst>
      <p:ext uri="{BB962C8B-B14F-4D97-AF65-F5344CB8AC3E}">
        <p14:creationId xmlns:p14="http://schemas.microsoft.com/office/powerpoint/2010/main" val="1126320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3">
            <a:extLst>
              <a:ext uri="{FF2B5EF4-FFF2-40B4-BE49-F238E27FC236}">
                <a16:creationId xmlns:a16="http://schemas.microsoft.com/office/drawing/2014/main" id="{9C0F6EA7-F31A-0940-A2B8-485CE924297C}"/>
              </a:ext>
            </a:extLst>
          </p:cNvPr>
          <p:cNvSpPr>
            <a:spLocks noGrp="1" noChangeArrowheads="1"/>
          </p:cNvSpPr>
          <p:nvPr>
            <p:ph type="body" idx="1"/>
          </p:nvPr>
        </p:nvSpPr>
        <p:spPr>
          <a:xfrm>
            <a:off x="2209800" y="1600201"/>
            <a:ext cx="7772400" cy="1039813"/>
          </a:xfrm>
        </p:spPr>
        <p:txBody>
          <a:bodyPr/>
          <a:lstStyle/>
          <a:p>
            <a:pPr eaLnBrk="1" hangingPunct="1"/>
            <a:r>
              <a:rPr lang="en-US" altLang="en-US" dirty="0">
                <a:ea typeface="ＭＳ Ｐゴシック" panose="020B0600070205080204" pitchFamily="34" charset="-128"/>
              </a:rPr>
              <a:t>Does this graph have Hamilton circuit?</a:t>
            </a:r>
          </a:p>
        </p:txBody>
      </p:sp>
      <p:sp>
        <p:nvSpPr>
          <p:cNvPr id="37895" name="Text Box 31">
            <a:extLst>
              <a:ext uri="{FF2B5EF4-FFF2-40B4-BE49-F238E27FC236}">
                <a16:creationId xmlns:a16="http://schemas.microsoft.com/office/drawing/2014/main" id="{EF89B72B-F40C-A548-8B64-DD00925093F7}"/>
              </a:ext>
            </a:extLst>
          </p:cNvPr>
          <p:cNvSpPr txBox="1">
            <a:spLocks noChangeArrowheads="1"/>
          </p:cNvSpPr>
          <p:nvPr/>
        </p:nvSpPr>
        <p:spPr bwMode="auto">
          <a:xfrm>
            <a:off x="2362200" y="3581401"/>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endParaRPr lang="en-US" altLang="en-US" sz="1800"/>
          </a:p>
        </p:txBody>
      </p:sp>
      <p:pic>
        <p:nvPicPr>
          <p:cNvPr id="2" name="Picture 1">
            <a:extLst>
              <a:ext uri="{FF2B5EF4-FFF2-40B4-BE49-F238E27FC236}">
                <a16:creationId xmlns:a16="http://schemas.microsoft.com/office/drawing/2014/main" id="{747F9082-45FE-064F-ADE9-AAC2A32E0332}"/>
              </a:ext>
            </a:extLst>
          </p:cNvPr>
          <p:cNvPicPr>
            <a:picLocks noChangeAspect="1"/>
          </p:cNvPicPr>
          <p:nvPr/>
        </p:nvPicPr>
        <p:blipFill rotWithShape="1">
          <a:blip r:embed="rId3"/>
          <a:srcRect l="11562" t="26890" r="16250" b="9778"/>
          <a:stretch/>
        </p:blipFill>
        <p:spPr>
          <a:xfrm>
            <a:off x="2971800" y="2614613"/>
            <a:ext cx="5867400" cy="2895600"/>
          </a:xfrm>
          <a:prstGeom prst="rect">
            <a:avLst/>
          </a:prstGeom>
        </p:spPr>
      </p:pic>
    </p:spTree>
    <p:extLst>
      <p:ext uri="{BB962C8B-B14F-4D97-AF65-F5344CB8AC3E}">
        <p14:creationId xmlns:p14="http://schemas.microsoft.com/office/powerpoint/2010/main" val="31091599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5" name="Text Box 31">
            <a:extLst>
              <a:ext uri="{FF2B5EF4-FFF2-40B4-BE49-F238E27FC236}">
                <a16:creationId xmlns:a16="http://schemas.microsoft.com/office/drawing/2014/main" id="{EF89B72B-F40C-A548-8B64-DD00925093F7}"/>
              </a:ext>
            </a:extLst>
          </p:cNvPr>
          <p:cNvSpPr txBox="1">
            <a:spLocks noChangeArrowheads="1"/>
          </p:cNvSpPr>
          <p:nvPr/>
        </p:nvSpPr>
        <p:spPr bwMode="auto">
          <a:xfrm>
            <a:off x="2362200" y="3581401"/>
            <a:ext cx="205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endParaRPr lang="en-US" altLang="en-US" sz="1800"/>
          </a:p>
        </p:txBody>
      </p:sp>
      <p:sp>
        <p:nvSpPr>
          <p:cNvPr id="5" name="Title 4">
            <a:extLst>
              <a:ext uri="{FF2B5EF4-FFF2-40B4-BE49-F238E27FC236}">
                <a16:creationId xmlns:a16="http://schemas.microsoft.com/office/drawing/2014/main" id="{19672B19-403A-774E-93AD-8DC784F5ED1A}"/>
              </a:ext>
            </a:extLst>
          </p:cNvPr>
          <p:cNvSpPr>
            <a:spLocks noGrp="1"/>
          </p:cNvSpPr>
          <p:nvPr>
            <p:ph type="title"/>
          </p:nvPr>
        </p:nvSpPr>
        <p:spPr>
          <a:xfrm>
            <a:off x="1981200" y="457200"/>
            <a:ext cx="8229600" cy="1143000"/>
          </a:xfrm>
        </p:spPr>
        <p:txBody>
          <a:bodyPr/>
          <a:lstStyle/>
          <a:p>
            <a:r>
              <a:rPr lang="en-US" sz="3600" dirty="0"/>
              <a:t>Three types of Conditions</a:t>
            </a:r>
          </a:p>
        </p:txBody>
      </p:sp>
      <p:sp>
        <p:nvSpPr>
          <p:cNvPr id="6" name="Content Placeholder 5">
            <a:extLst>
              <a:ext uri="{FF2B5EF4-FFF2-40B4-BE49-F238E27FC236}">
                <a16:creationId xmlns:a16="http://schemas.microsoft.com/office/drawing/2014/main" id="{FCD8C5B8-3DD2-B845-80E7-CED8D98882E5}"/>
              </a:ext>
            </a:extLst>
          </p:cNvPr>
          <p:cNvSpPr>
            <a:spLocks noGrp="1"/>
          </p:cNvSpPr>
          <p:nvPr>
            <p:ph idx="1"/>
          </p:nvPr>
        </p:nvSpPr>
        <p:spPr/>
        <p:txBody>
          <a:bodyPr/>
          <a:lstStyle/>
          <a:p>
            <a:r>
              <a:rPr lang="en-US" dirty="0"/>
              <a:t>Necessary condition</a:t>
            </a:r>
          </a:p>
          <a:p>
            <a:pPr lvl="1"/>
            <a:r>
              <a:rPr lang="en-US" dirty="0"/>
              <a:t>If the condition is violated, it cannot be true</a:t>
            </a:r>
          </a:p>
          <a:p>
            <a:r>
              <a:rPr lang="en-US" dirty="0"/>
              <a:t>Sufficient condition</a:t>
            </a:r>
          </a:p>
          <a:p>
            <a:pPr lvl="1"/>
            <a:r>
              <a:rPr lang="en-US" dirty="0"/>
              <a:t>If the condition is satisfied, it must be true</a:t>
            </a:r>
          </a:p>
          <a:p>
            <a:r>
              <a:rPr lang="en-US" dirty="0"/>
              <a:t>Necessary and sufficient condition</a:t>
            </a:r>
          </a:p>
          <a:p>
            <a:pPr lvl="1"/>
            <a:r>
              <a:rPr lang="en-US" dirty="0"/>
              <a:t>If the condition is satisfied, it is true; if the condition is violated, it cannot be true</a:t>
            </a:r>
          </a:p>
        </p:txBody>
      </p:sp>
    </p:spTree>
    <p:extLst>
      <p:ext uri="{BB962C8B-B14F-4D97-AF65-F5344CB8AC3E}">
        <p14:creationId xmlns:p14="http://schemas.microsoft.com/office/powerpoint/2010/main" val="40248897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a:extLst>
              <a:ext uri="{FF2B5EF4-FFF2-40B4-BE49-F238E27FC236}">
                <a16:creationId xmlns:a16="http://schemas.microsoft.com/office/drawing/2014/main" id="{8F05400A-01FF-AF46-9B50-48112E17293D}"/>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Theorem 4</a:t>
            </a:r>
          </a:p>
        </p:txBody>
      </p:sp>
      <p:sp>
        <p:nvSpPr>
          <p:cNvPr id="35845" name="Rectangle 3">
            <a:extLst>
              <a:ext uri="{FF2B5EF4-FFF2-40B4-BE49-F238E27FC236}">
                <a16:creationId xmlns:a16="http://schemas.microsoft.com/office/drawing/2014/main" id="{E5228144-81F9-0348-9C63-7AF9698D35F2}"/>
              </a:ext>
            </a:extLst>
          </p:cNvPr>
          <p:cNvSpPr>
            <a:spLocks noGrp="1" noChangeArrowheads="1"/>
          </p:cNvSpPr>
          <p:nvPr>
            <p:ph type="body" idx="1"/>
          </p:nvPr>
        </p:nvSpPr>
        <p:spPr>
          <a:xfrm>
            <a:off x="2286000" y="1461783"/>
            <a:ext cx="7772400" cy="1866900"/>
          </a:xfrm>
        </p:spPr>
        <p:txBody>
          <a:bodyPr/>
          <a:lstStyle/>
          <a:p>
            <a:pPr eaLnBrk="1" hangingPunct="1"/>
            <a:r>
              <a:rPr lang="en-US" altLang="en-US" sz="2400" dirty="0">
                <a:ea typeface="ＭＳ Ｐゴシック" panose="020B0600070205080204" pitchFamily="34" charset="-128"/>
              </a:rPr>
              <a:t>Every tournament has a directed Hamilton Path.</a:t>
            </a:r>
          </a:p>
          <a:p>
            <a:pPr eaLnBrk="1" hangingPunct="1"/>
            <a:r>
              <a:rPr lang="en-US" altLang="en-US" sz="2400" i="1" dirty="0">
                <a:ea typeface="ＭＳ Ｐゴシック" panose="020B0600070205080204" pitchFamily="34" charset="-128"/>
              </a:rPr>
              <a:t>Tournament</a:t>
            </a:r>
            <a:r>
              <a:rPr lang="en-US" altLang="en-US" sz="2400" dirty="0">
                <a:ea typeface="ＭＳ Ｐゴシック" panose="020B0600070205080204" pitchFamily="34" charset="-128"/>
              </a:rPr>
              <a:t> – A directed graph obtained from a (undirected) complete graph, by giving a direction to each edge.</a:t>
            </a:r>
          </a:p>
        </p:txBody>
      </p:sp>
      <p:sp>
        <p:nvSpPr>
          <p:cNvPr id="35846" name="Oval 4">
            <a:extLst>
              <a:ext uri="{FF2B5EF4-FFF2-40B4-BE49-F238E27FC236}">
                <a16:creationId xmlns:a16="http://schemas.microsoft.com/office/drawing/2014/main" id="{A737F41C-1109-914F-985A-C06DD127C8B2}"/>
              </a:ext>
            </a:extLst>
          </p:cNvPr>
          <p:cNvSpPr>
            <a:spLocks noChangeArrowheads="1"/>
          </p:cNvSpPr>
          <p:nvPr/>
        </p:nvSpPr>
        <p:spPr bwMode="auto">
          <a:xfrm>
            <a:off x="2789756" y="3737927"/>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5847" name="Oval 5">
            <a:extLst>
              <a:ext uri="{FF2B5EF4-FFF2-40B4-BE49-F238E27FC236}">
                <a16:creationId xmlns:a16="http://schemas.microsoft.com/office/drawing/2014/main" id="{E9ED5BFC-44F5-114A-B879-FC6AFE1B87DE}"/>
              </a:ext>
            </a:extLst>
          </p:cNvPr>
          <p:cNvSpPr>
            <a:spLocks noChangeArrowheads="1"/>
          </p:cNvSpPr>
          <p:nvPr/>
        </p:nvSpPr>
        <p:spPr bwMode="auto">
          <a:xfrm>
            <a:off x="2789756" y="4880927"/>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5848" name="Oval 6">
            <a:extLst>
              <a:ext uri="{FF2B5EF4-FFF2-40B4-BE49-F238E27FC236}">
                <a16:creationId xmlns:a16="http://schemas.microsoft.com/office/drawing/2014/main" id="{92C4F48D-C9DB-1042-B0DE-C6EB2EE04534}"/>
              </a:ext>
            </a:extLst>
          </p:cNvPr>
          <p:cNvSpPr>
            <a:spLocks noChangeArrowheads="1"/>
          </p:cNvSpPr>
          <p:nvPr/>
        </p:nvSpPr>
        <p:spPr bwMode="auto">
          <a:xfrm>
            <a:off x="4999556" y="4880927"/>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5849" name="Oval 7">
            <a:extLst>
              <a:ext uri="{FF2B5EF4-FFF2-40B4-BE49-F238E27FC236}">
                <a16:creationId xmlns:a16="http://schemas.microsoft.com/office/drawing/2014/main" id="{78939012-B620-3C45-A974-CB946E42A154}"/>
              </a:ext>
            </a:extLst>
          </p:cNvPr>
          <p:cNvSpPr>
            <a:spLocks noChangeArrowheads="1"/>
          </p:cNvSpPr>
          <p:nvPr/>
        </p:nvSpPr>
        <p:spPr bwMode="auto">
          <a:xfrm>
            <a:off x="4999556" y="3737927"/>
            <a:ext cx="152400" cy="152400"/>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35850" name="Line 8">
            <a:extLst>
              <a:ext uri="{FF2B5EF4-FFF2-40B4-BE49-F238E27FC236}">
                <a16:creationId xmlns:a16="http://schemas.microsoft.com/office/drawing/2014/main" id="{DA980DB9-8B8F-E74C-BAB5-716618E71711}"/>
              </a:ext>
            </a:extLst>
          </p:cNvPr>
          <p:cNvSpPr>
            <a:spLocks noChangeShapeType="1"/>
          </p:cNvSpPr>
          <p:nvPr/>
        </p:nvSpPr>
        <p:spPr bwMode="auto">
          <a:xfrm>
            <a:off x="2865956" y="3890327"/>
            <a:ext cx="0" cy="990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1" name="Line 9">
            <a:extLst>
              <a:ext uri="{FF2B5EF4-FFF2-40B4-BE49-F238E27FC236}">
                <a16:creationId xmlns:a16="http://schemas.microsoft.com/office/drawing/2014/main" id="{1A09ECA1-126A-B14C-B352-3C9A638BF38F}"/>
              </a:ext>
            </a:extLst>
          </p:cNvPr>
          <p:cNvSpPr>
            <a:spLocks noChangeShapeType="1"/>
          </p:cNvSpPr>
          <p:nvPr/>
        </p:nvSpPr>
        <p:spPr bwMode="auto">
          <a:xfrm>
            <a:off x="2942156" y="4957127"/>
            <a:ext cx="2057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2" name="Line 10">
            <a:extLst>
              <a:ext uri="{FF2B5EF4-FFF2-40B4-BE49-F238E27FC236}">
                <a16:creationId xmlns:a16="http://schemas.microsoft.com/office/drawing/2014/main" id="{87EC526D-8B86-334C-8938-6EAA90C041D1}"/>
              </a:ext>
            </a:extLst>
          </p:cNvPr>
          <p:cNvSpPr>
            <a:spLocks noChangeShapeType="1"/>
          </p:cNvSpPr>
          <p:nvPr/>
        </p:nvSpPr>
        <p:spPr bwMode="auto">
          <a:xfrm>
            <a:off x="5075756" y="3890327"/>
            <a:ext cx="0" cy="990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3" name="Line 11">
            <a:extLst>
              <a:ext uri="{FF2B5EF4-FFF2-40B4-BE49-F238E27FC236}">
                <a16:creationId xmlns:a16="http://schemas.microsoft.com/office/drawing/2014/main" id="{4E66031A-D52E-EC4F-8E4C-1C80EA1D3645}"/>
              </a:ext>
            </a:extLst>
          </p:cNvPr>
          <p:cNvSpPr>
            <a:spLocks noChangeShapeType="1"/>
          </p:cNvSpPr>
          <p:nvPr/>
        </p:nvSpPr>
        <p:spPr bwMode="auto">
          <a:xfrm>
            <a:off x="2942156" y="3814127"/>
            <a:ext cx="2057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4" name="Line 13">
            <a:extLst>
              <a:ext uri="{FF2B5EF4-FFF2-40B4-BE49-F238E27FC236}">
                <a16:creationId xmlns:a16="http://schemas.microsoft.com/office/drawing/2014/main" id="{87D81F68-F0C4-E94A-86F7-7A210990FCF8}"/>
              </a:ext>
            </a:extLst>
          </p:cNvPr>
          <p:cNvSpPr>
            <a:spLocks noChangeShapeType="1"/>
          </p:cNvSpPr>
          <p:nvPr/>
        </p:nvSpPr>
        <p:spPr bwMode="auto">
          <a:xfrm flipV="1">
            <a:off x="2865956" y="3814127"/>
            <a:ext cx="2133600" cy="1066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5" name="Line 14">
            <a:extLst>
              <a:ext uri="{FF2B5EF4-FFF2-40B4-BE49-F238E27FC236}">
                <a16:creationId xmlns:a16="http://schemas.microsoft.com/office/drawing/2014/main" id="{4FD443F6-785A-D248-88AD-DB75006FF17C}"/>
              </a:ext>
            </a:extLst>
          </p:cNvPr>
          <p:cNvSpPr>
            <a:spLocks noChangeShapeType="1"/>
          </p:cNvSpPr>
          <p:nvPr/>
        </p:nvSpPr>
        <p:spPr bwMode="auto">
          <a:xfrm>
            <a:off x="2865956" y="3890327"/>
            <a:ext cx="2209800" cy="990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6" name="Text Box 15">
            <a:extLst>
              <a:ext uri="{FF2B5EF4-FFF2-40B4-BE49-F238E27FC236}">
                <a16:creationId xmlns:a16="http://schemas.microsoft.com/office/drawing/2014/main" id="{53954BE2-E8A1-4647-9683-7052C643287A}"/>
              </a:ext>
            </a:extLst>
          </p:cNvPr>
          <p:cNvSpPr txBox="1">
            <a:spLocks noChangeArrowheads="1"/>
          </p:cNvSpPr>
          <p:nvPr/>
        </p:nvSpPr>
        <p:spPr bwMode="auto">
          <a:xfrm>
            <a:off x="2697681" y="3393440"/>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A</a:t>
            </a:r>
          </a:p>
        </p:txBody>
      </p:sp>
      <p:sp>
        <p:nvSpPr>
          <p:cNvPr id="35857" name="Text Box 16">
            <a:extLst>
              <a:ext uri="{FF2B5EF4-FFF2-40B4-BE49-F238E27FC236}">
                <a16:creationId xmlns:a16="http://schemas.microsoft.com/office/drawing/2014/main" id="{23415800-130C-B347-815F-81DC270A23B8}"/>
              </a:ext>
            </a:extLst>
          </p:cNvPr>
          <p:cNvSpPr txBox="1">
            <a:spLocks noChangeArrowheads="1"/>
          </p:cNvSpPr>
          <p:nvPr/>
        </p:nvSpPr>
        <p:spPr bwMode="auto">
          <a:xfrm>
            <a:off x="4983681" y="3393440"/>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B</a:t>
            </a:r>
          </a:p>
        </p:txBody>
      </p:sp>
      <p:sp>
        <p:nvSpPr>
          <p:cNvPr id="35858" name="Text Box 18">
            <a:extLst>
              <a:ext uri="{FF2B5EF4-FFF2-40B4-BE49-F238E27FC236}">
                <a16:creationId xmlns:a16="http://schemas.microsoft.com/office/drawing/2014/main" id="{450E2E6A-E6D4-8742-B3D1-037E57F9FC1E}"/>
              </a:ext>
            </a:extLst>
          </p:cNvPr>
          <p:cNvSpPr txBox="1">
            <a:spLocks noChangeArrowheads="1"/>
          </p:cNvSpPr>
          <p:nvPr/>
        </p:nvSpPr>
        <p:spPr bwMode="auto">
          <a:xfrm>
            <a:off x="2697681" y="4993640"/>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C</a:t>
            </a:r>
          </a:p>
        </p:txBody>
      </p:sp>
      <p:sp>
        <p:nvSpPr>
          <p:cNvPr id="35859" name="Text Box 19">
            <a:extLst>
              <a:ext uri="{FF2B5EF4-FFF2-40B4-BE49-F238E27FC236}">
                <a16:creationId xmlns:a16="http://schemas.microsoft.com/office/drawing/2014/main" id="{1B2F01A9-C36C-F644-9687-09F32E8D8F68}"/>
              </a:ext>
            </a:extLst>
          </p:cNvPr>
          <p:cNvSpPr txBox="1">
            <a:spLocks noChangeArrowheads="1"/>
          </p:cNvSpPr>
          <p:nvPr/>
        </p:nvSpPr>
        <p:spPr bwMode="auto">
          <a:xfrm>
            <a:off x="4923356" y="5033328"/>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D</a:t>
            </a:r>
          </a:p>
        </p:txBody>
      </p:sp>
      <p:sp>
        <p:nvSpPr>
          <p:cNvPr id="35860" name="Line 22">
            <a:extLst>
              <a:ext uri="{FF2B5EF4-FFF2-40B4-BE49-F238E27FC236}">
                <a16:creationId xmlns:a16="http://schemas.microsoft.com/office/drawing/2014/main" id="{4A8D9F61-38C3-3442-B1FC-E7A8EF343224}"/>
              </a:ext>
            </a:extLst>
          </p:cNvPr>
          <p:cNvSpPr>
            <a:spLocks noChangeShapeType="1"/>
          </p:cNvSpPr>
          <p:nvPr/>
        </p:nvSpPr>
        <p:spPr bwMode="auto">
          <a:xfrm>
            <a:off x="3094556" y="3814127"/>
            <a:ext cx="1066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1" name="Line 23">
            <a:extLst>
              <a:ext uri="{FF2B5EF4-FFF2-40B4-BE49-F238E27FC236}">
                <a16:creationId xmlns:a16="http://schemas.microsoft.com/office/drawing/2014/main" id="{99B07C07-5C49-E54A-A00B-DDF97AF8FA47}"/>
              </a:ext>
            </a:extLst>
          </p:cNvPr>
          <p:cNvSpPr>
            <a:spLocks noChangeShapeType="1"/>
          </p:cNvSpPr>
          <p:nvPr/>
        </p:nvSpPr>
        <p:spPr bwMode="auto">
          <a:xfrm>
            <a:off x="3704156" y="4271327"/>
            <a:ext cx="990600" cy="457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2" name="Line 24">
            <a:extLst>
              <a:ext uri="{FF2B5EF4-FFF2-40B4-BE49-F238E27FC236}">
                <a16:creationId xmlns:a16="http://schemas.microsoft.com/office/drawing/2014/main" id="{92321350-F978-9240-92A1-3F651FB45FC4}"/>
              </a:ext>
            </a:extLst>
          </p:cNvPr>
          <p:cNvSpPr>
            <a:spLocks noChangeShapeType="1"/>
          </p:cNvSpPr>
          <p:nvPr/>
        </p:nvSpPr>
        <p:spPr bwMode="auto">
          <a:xfrm>
            <a:off x="3018356" y="3966527"/>
            <a:ext cx="53340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3" name="Line 25">
            <a:extLst>
              <a:ext uri="{FF2B5EF4-FFF2-40B4-BE49-F238E27FC236}">
                <a16:creationId xmlns:a16="http://schemas.microsoft.com/office/drawing/2014/main" id="{13A8A8AD-6267-F84A-BE42-C9E1ED8639E7}"/>
              </a:ext>
            </a:extLst>
          </p:cNvPr>
          <p:cNvSpPr>
            <a:spLocks noChangeShapeType="1"/>
          </p:cNvSpPr>
          <p:nvPr/>
        </p:nvSpPr>
        <p:spPr bwMode="auto">
          <a:xfrm flipV="1">
            <a:off x="5075756" y="4195127"/>
            <a:ext cx="0" cy="609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4" name="Line 26">
            <a:extLst>
              <a:ext uri="{FF2B5EF4-FFF2-40B4-BE49-F238E27FC236}">
                <a16:creationId xmlns:a16="http://schemas.microsoft.com/office/drawing/2014/main" id="{EA8751ED-221A-1241-A0F8-9DBF3A98C7FE}"/>
              </a:ext>
            </a:extLst>
          </p:cNvPr>
          <p:cNvSpPr>
            <a:spLocks noChangeShapeType="1"/>
          </p:cNvSpPr>
          <p:nvPr/>
        </p:nvSpPr>
        <p:spPr bwMode="auto">
          <a:xfrm flipV="1">
            <a:off x="2865956" y="4195127"/>
            <a:ext cx="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5" name="Line 27">
            <a:extLst>
              <a:ext uri="{FF2B5EF4-FFF2-40B4-BE49-F238E27FC236}">
                <a16:creationId xmlns:a16="http://schemas.microsoft.com/office/drawing/2014/main" id="{339D413C-6E44-514E-865B-90597201B9EF}"/>
              </a:ext>
            </a:extLst>
          </p:cNvPr>
          <p:cNvSpPr>
            <a:spLocks noChangeShapeType="1"/>
          </p:cNvSpPr>
          <p:nvPr/>
        </p:nvSpPr>
        <p:spPr bwMode="auto">
          <a:xfrm flipH="1">
            <a:off x="4389956" y="3890327"/>
            <a:ext cx="45720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6" name="Line 28">
            <a:extLst>
              <a:ext uri="{FF2B5EF4-FFF2-40B4-BE49-F238E27FC236}">
                <a16:creationId xmlns:a16="http://schemas.microsoft.com/office/drawing/2014/main" id="{C494E8C4-7373-6F4B-8F79-72FA375254A2}"/>
              </a:ext>
            </a:extLst>
          </p:cNvPr>
          <p:cNvSpPr>
            <a:spLocks noChangeShapeType="1"/>
          </p:cNvSpPr>
          <p:nvPr/>
        </p:nvSpPr>
        <p:spPr bwMode="auto">
          <a:xfrm flipH="1">
            <a:off x="3170756" y="4499927"/>
            <a:ext cx="45720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867" name="Line 29">
            <a:extLst>
              <a:ext uri="{FF2B5EF4-FFF2-40B4-BE49-F238E27FC236}">
                <a16:creationId xmlns:a16="http://schemas.microsoft.com/office/drawing/2014/main" id="{F7288E18-73FB-9841-A1AB-82268D23B878}"/>
              </a:ext>
            </a:extLst>
          </p:cNvPr>
          <p:cNvSpPr>
            <a:spLocks noChangeShapeType="1"/>
          </p:cNvSpPr>
          <p:nvPr/>
        </p:nvSpPr>
        <p:spPr bwMode="auto">
          <a:xfrm flipH="1">
            <a:off x="3475556" y="4957127"/>
            <a:ext cx="990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66" name="Text Box 30">
            <a:extLst>
              <a:ext uri="{FF2B5EF4-FFF2-40B4-BE49-F238E27FC236}">
                <a16:creationId xmlns:a16="http://schemas.microsoft.com/office/drawing/2014/main" id="{D1F52E0F-1265-C842-AF9E-690D0D968630}"/>
              </a:ext>
            </a:extLst>
          </p:cNvPr>
          <p:cNvSpPr txBox="1">
            <a:spLocks noChangeArrowheads="1"/>
          </p:cNvSpPr>
          <p:nvPr/>
        </p:nvSpPr>
        <p:spPr bwMode="auto">
          <a:xfrm>
            <a:off x="6096000" y="3685756"/>
            <a:ext cx="3276600" cy="128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000" dirty="0">
                <a:latin typeface="Times New Roman" panose="02020603050405020304" pitchFamily="18" charset="0"/>
              </a:rPr>
              <a:t>The tournaments (Hamilton Paths) in this graph are:</a:t>
            </a:r>
          </a:p>
          <a:p>
            <a:pPr eaLnBrk="1" hangingPunct="1"/>
            <a:r>
              <a:rPr lang="en-US" altLang="en-US" sz="1800" dirty="0"/>
              <a:t>A-D-B-C, B-C-A-D, C-A-D-B, D-B-C-A, </a:t>
            </a:r>
            <a:r>
              <a:rPr lang="en-US" altLang="en-US" sz="2000" dirty="0">
                <a:latin typeface="Times New Roman" panose="02020603050405020304" pitchFamily="18" charset="0"/>
              </a:rPr>
              <a:t>and</a:t>
            </a:r>
            <a:r>
              <a:rPr lang="en-US" altLang="en-US" sz="1800" dirty="0">
                <a:latin typeface="Times New Roman" panose="02020603050405020304" pitchFamily="18" charset="0"/>
              </a:rPr>
              <a:t> </a:t>
            </a:r>
            <a:r>
              <a:rPr lang="en-US" altLang="en-US" sz="1800" dirty="0"/>
              <a:t>D-C-A-B</a:t>
            </a:r>
            <a:r>
              <a:rPr lang="en-US" altLang="en-US" sz="2000" dirty="0">
                <a:latin typeface="Times New Roman" panose="02020603050405020304" pitchFamily="18" charset="0"/>
              </a:rPr>
              <a:t>.</a:t>
            </a:r>
          </a:p>
        </p:txBody>
      </p:sp>
      <p:sp>
        <p:nvSpPr>
          <p:cNvPr id="35869" name="Text Box 31">
            <a:extLst>
              <a:ext uri="{FF2B5EF4-FFF2-40B4-BE49-F238E27FC236}">
                <a16:creationId xmlns:a16="http://schemas.microsoft.com/office/drawing/2014/main" id="{02CB5011-DCAE-084B-A583-4BDD08827702}"/>
              </a:ext>
            </a:extLst>
          </p:cNvPr>
          <p:cNvSpPr txBox="1">
            <a:spLocks noChangeArrowheads="1"/>
          </p:cNvSpPr>
          <p:nvPr/>
        </p:nvSpPr>
        <p:spPr bwMode="auto">
          <a:xfrm>
            <a:off x="3154881" y="5069840"/>
            <a:ext cx="18557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a:t>(K</a:t>
            </a:r>
            <a:r>
              <a:rPr lang="en-US" altLang="en-US" sz="1800" baseline="-25000"/>
              <a:t>4</a:t>
            </a:r>
            <a:r>
              <a:rPr lang="en-US" altLang="en-US" sz="1800"/>
              <a:t>, with arrows)</a:t>
            </a:r>
          </a:p>
        </p:txBody>
      </p:sp>
    </p:spTree>
    <p:extLst>
      <p:ext uri="{BB962C8B-B14F-4D97-AF65-F5344CB8AC3E}">
        <p14:creationId xmlns:p14="http://schemas.microsoft.com/office/powerpoint/2010/main" val="4224702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6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B808D-C2F6-C94D-9BF9-AAD32311FB87}"/>
              </a:ext>
            </a:extLst>
          </p:cNvPr>
          <p:cNvSpPr>
            <a:spLocks noGrp="1"/>
          </p:cNvSpPr>
          <p:nvPr>
            <p:ph type="title"/>
          </p:nvPr>
        </p:nvSpPr>
        <p:spPr/>
        <p:txBody>
          <a:bodyPr/>
          <a:lstStyle/>
          <a:p>
            <a:pPr algn="l"/>
            <a:r>
              <a:rPr lang="en-US" sz="3600" dirty="0"/>
              <a:t>Proof (inductive method):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543564-7207-4945-9495-541059384BB4}"/>
                  </a:ext>
                </a:extLst>
              </p:cNvPr>
              <p:cNvSpPr>
                <a:spLocks noGrp="1"/>
              </p:cNvSpPr>
              <p:nvPr>
                <p:ph idx="1"/>
              </p:nvPr>
            </p:nvSpPr>
            <p:spPr/>
            <p:txBody>
              <a:bodyPr/>
              <a:lstStyle/>
              <a:p>
                <a:r>
                  <a:rPr lang="en-US" sz="2400" dirty="0"/>
                  <a:t>This true for base case such as directed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𝐾</m:t>
                        </m:r>
                      </m:e>
                      <m:sub>
                        <m:r>
                          <a:rPr lang="en-US" sz="2400" i="1">
                            <a:latin typeface="Cambria Math" panose="02040503050406030204" pitchFamily="18" charset="0"/>
                          </a:rPr>
                          <m:t>3</m:t>
                        </m:r>
                      </m:sub>
                    </m:sSub>
                  </m:oMath>
                </a14:m>
                <a:endParaRPr lang="en-US" sz="2400" dirty="0"/>
              </a:p>
            </p:txBody>
          </p:sp>
        </mc:Choice>
        <mc:Fallback xmlns="">
          <p:sp>
            <p:nvSpPr>
              <p:cNvPr id="3" name="Content Placeholder 2">
                <a:extLst>
                  <a:ext uri="{FF2B5EF4-FFF2-40B4-BE49-F238E27FC236}">
                    <a16:creationId xmlns:a16="http://schemas.microsoft.com/office/drawing/2014/main" id="{D0543564-7207-4945-9495-541059384BB4}"/>
                  </a:ext>
                </a:extLst>
              </p:cNvPr>
              <p:cNvSpPr>
                <a:spLocks noGrp="1" noRot="1" noChangeAspect="1" noMove="1" noResize="1" noEditPoints="1" noAdjustHandles="1" noChangeArrowheads="1" noChangeShapeType="1" noTextEdit="1"/>
              </p:cNvSpPr>
              <p:nvPr>
                <p:ph idx="1"/>
              </p:nvPr>
            </p:nvSpPr>
            <p:spPr>
              <a:blipFill>
                <a:blip r:embed="rId2"/>
                <a:stretch>
                  <a:fillRect l="-1080" t="-1120"/>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4F8F2577-BEEB-874F-B08A-5125BA0A430F}"/>
              </a:ext>
            </a:extLst>
          </p:cNvPr>
          <p:cNvPicPr>
            <a:picLocks noChangeAspect="1"/>
          </p:cNvPicPr>
          <p:nvPr/>
        </p:nvPicPr>
        <p:blipFill>
          <a:blip r:embed="rId3"/>
          <a:stretch>
            <a:fillRect/>
          </a:stretch>
        </p:blipFill>
        <p:spPr>
          <a:xfrm>
            <a:off x="4572001" y="2362200"/>
            <a:ext cx="2071425" cy="1600200"/>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9F85F0C-62EC-CA48-AD0D-834096965419}"/>
                  </a:ext>
                </a:extLst>
              </p:cNvPr>
              <p:cNvSpPr txBox="1"/>
              <p:nvPr/>
            </p:nvSpPr>
            <p:spPr>
              <a:xfrm>
                <a:off x="3962401" y="4277976"/>
                <a:ext cx="3693255" cy="461665"/>
              </a:xfrm>
              <a:prstGeom prst="rect">
                <a:avLst/>
              </a:prstGeom>
              <a:noFill/>
            </p:spPr>
            <p:txBody>
              <a:bodyPr wrap="none" rtlCol="0">
                <a:spAutoFit/>
              </a:bodyPr>
              <a:lstStyle/>
              <a:p>
                <a:r>
                  <a:rPr lang="en-US" sz="2400" dirty="0"/>
                  <a:t>Hamilton path: </a:t>
                </a:r>
                <a14:m>
                  <m:oMath xmlns:m="http://schemas.openxmlformats.org/officeDocument/2006/math">
                    <m:r>
                      <a:rPr lang="en-US" sz="2400" i="1">
                        <a:latin typeface="Cambria Math" panose="02040503050406030204" pitchFamily="18" charset="0"/>
                      </a:rPr>
                      <m:t>𝐴</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𝐵</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𝐶</m:t>
                    </m:r>
                  </m:oMath>
                </a14:m>
                <a:endParaRPr lang="en-US" sz="2400" dirty="0"/>
              </a:p>
            </p:txBody>
          </p:sp>
        </mc:Choice>
        <mc:Fallback>
          <p:sp>
            <p:nvSpPr>
              <p:cNvPr id="9" name="TextBox 8">
                <a:extLst>
                  <a:ext uri="{FF2B5EF4-FFF2-40B4-BE49-F238E27FC236}">
                    <a16:creationId xmlns:a16="http://schemas.microsoft.com/office/drawing/2014/main" id="{29F85F0C-62EC-CA48-AD0D-834096965419}"/>
                  </a:ext>
                </a:extLst>
              </p:cNvPr>
              <p:cNvSpPr txBox="1">
                <a:spLocks noRot="1" noChangeAspect="1" noMove="1" noResize="1" noEditPoints="1" noAdjustHandles="1" noChangeArrowheads="1" noChangeShapeType="1" noTextEdit="1"/>
              </p:cNvSpPr>
              <p:nvPr/>
            </p:nvSpPr>
            <p:spPr>
              <a:xfrm>
                <a:off x="3962401" y="4277976"/>
                <a:ext cx="3693255" cy="461665"/>
              </a:xfrm>
              <a:prstGeom prst="rect">
                <a:avLst/>
              </a:prstGeom>
              <a:blipFill>
                <a:blip r:embed="rId4"/>
                <a:stretch>
                  <a:fillRect l="-2475" t="-9211" b="-302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36547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E314B55-E2A8-2347-B6EC-7FB727108FE5}"/>
              </a:ext>
            </a:extLst>
          </p:cNvPr>
          <p:cNvSpPr>
            <a:spLocks noGrp="1"/>
          </p:cNvSpPr>
          <p:nvPr>
            <p:ph type="title"/>
          </p:nvPr>
        </p:nvSpPr>
        <p:spPr/>
        <p:txBody>
          <a:bodyPr/>
          <a:lstStyle/>
          <a:p>
            <a:pPr algn="l"/>
            <a:r>
              <a:rPr lang="en-US" sz="3600" dirty="0"/>
              <a:t>Proof (continue):</a:t>
            </a:r>
          </a:p>
        </p:txBody>
      </p:sp>
      <mc:AlternateContent xmlns:mc="http://schemas.openxmlformats.org/markup-compatibility/2006">
        <mc:Choice xmlns:a14="http://schemas.microsoft.com/office/drawing/2010/main" Requires="a14">
          <p:sp>
            <p:nvSpPr>
              <p:cNvPr id="10" name="Content Placeholder 9">
                <a:extLst>
                  <a:ext uri="{FF2B5EF4-FFF2-40B4-BE49-F238E27FC236}">
                    <a16:creationId xmlns:a16="http://schemas.microsoft.com/office/drawing/2014/main" id="{76F9BB25-E332-C94A-842F-9364D2270DD3}"/>
                  </a:ext>
                </a:extLst>
              </p:cNvPr>
              <p:cNvSpPr>
                <a:spLocks noGrp="1"/>
              </p:cNvSpPr>
              <p:nvPr>
                <p:ph idx="1"/>
              </p:nvPr>
            </p:nvSpPr>
            <p:spPr>
              <a:xfrm>
                <a:off x="2133600" y="1371601"/>
                <a:ext cx="8229600" cy="4525963"/>
              </a:xfrm>
            </p:spPr>
            <p:txBody>
              <a:bodyPr/>
              <a:lstStyle/>
              <a:p>
                <a:r>
                  <a:rPr lang="en-US" sz="2000" dirty="0"/>
                  <a:t>Now assume it is true for a tournament with </a:t>
                </a:r>
                <a14:m>
                  <m:oMath xmlns:m="http://schemas.openxmlformats.org/officeDocument/2006/math">
                    <m:r>
                      <a:rPr lang="en-US" sz="2000" i="1">
                        <a:latin typeface="Cambria Math" panose="02040503050406030204" pitchFamily="18" charset="0"/>
                      </a:rPr>
                      <m:t>𝑘</m:t>
                    </m:r>
                  </m:oMath>
                </a14:m>
                <a:r>
                  <a:rPr lang="en-US" sz="2000" dirty="0"/>
                  <a:t> vertices, that is, we have Hamilton path as</a:t>
                </a: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𝑘</m:t>
                          </m:r>
                        </m:sub>
                      </m:sSub>
                    </m:oMath>
                  </m:oMathPara>
                </a14:m>
                <a:endParaRPr lang="en-US" sz="2000" dirty="0"/>
              </a:p>
              <a:p>
                <a:pPr marL="400050" lvl="1" indent="0">
                  <a:buNone/>
                </a:pPr>
                <a:r>
                  <a:rPr lang="en-US" sz="2000" dirty="0"/>
                  <a:t>where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oMath>
                </a14:m>
                <a:r>
                  <a:rPr lang="en-US" sz="2000" dirty="0"/>
                  <a:t> are labeled as it in the order of Hamilton path</a:t>
                </a:r>
              </a:p>
              <a:p>
                <a:r>
                  <a:rPr lang="en-US" sz="2000" dirty="0"/>
                  <a:t>Now we add a new vertex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𝑘</m:t>
                        </m:r>
                        <m:r>
                          <a:rPr lang="en-US" sz="2000" i="1">
                            <a:latin typeface="Cambria Math" panose="02040503050406030204" pitchFamily="18" charset="0"/>
                          </a:rPr>
                          <m:t>+1</m:t>
                        </m:r>
                      </m:sub>
                    </m:sSub>
                  </m:oMath>
                </a14:m>
                <a:r>
                  <a:rPr lang="en-US" sz="2000" dirty="0"/>
                  <a:t>, if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𝑘</m:t>
                        </m:r>
                        <m:r>
                          <a:rPr lang="en-US" sz="200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1</m:t>
                        </m:r>
                      </m:sub>
                    </m:sSub>
                  </m:oMath>
                </a14:m>
                <a:r>
                  <a:rPr lang="en-US" sz="2000" dirty="0"/>
                  <a:t>, we can add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𝑘</m:t>
                        </m:r>
                        <m:r>
                          <a:rPr lang="en-US" sz="2000" i="1">
                            <a:latin typeface="Cambria Math" panose="02040503050406030204" pitchFamily="18" charset="0"/>
                          </a:rPr>
                          <m:t>+1</m:t>
                        </m:r>
                      </m:sub>
                    </m:sSub>
                  </m:oMath>
                </a14:m>
                <a:r>
                  <a:rPr lang="en-US" sz="2000" dirty="0"/>
                  <a:t> at the start of the existing Hamilton circuit to form a new Hamilton circuit</a:t>
                </a:r>
              </a:p>
              <a:p>
                <a:r>
                  <a:rPr lang="en-US" sz="2000" dirty="0"/>
                  <a:t>If the edges on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𝑘</m:t>
                        </m:r>
                        <m:r>
                          <a:rPr lang="en-US" sz="2000" i="1">
                            <a:latin typeface="Cambria Math" panose="02040503050406030204" pitchFamily="18" charset="0"/>
                          </a:rPr>
                          <m:t>+1</m:t>
                        </m:r>
                      </m:sub>
                    </m:sSub>
                  </m:oMath>
                </a14:m>
                <a:r>
                  <a:rPr lang="en-US" sz="2000" dirty="0"/>
                  <a:t> are all pointing inward, we can make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𝑘</m:t>
                        </m:r>
                      </m:e>
                      <m:sub>
                        <m:r>
                          <a:rPr lang="en-US" sz="2000" i="1">
                            <a:latin typeface="Cambria Math" panose="02040503050406030204" pitchFamily="18" charset="0"/>
                          </a:rPr>
                          <m:t>𝑘</m:t>
                        </m:r>
                        <m:r>
                          <a:rPr lang="en-US" sz="2000" i="1">
                            <a:latin typeface="Cambria Math" panose="02040503050406030204" pitchFamily="18" charset="0"/>
                          </a:rPr>
                          <m:t>+1</m:t>
                        </m:r>
                      </m:sub>
                    </m:sSub>
                  </m:oMath>
                </a14:m>
                <a:r>
                  <a:rPr lang="en-US" sz="2000" dirty="0"/>
                  <a:t> as the ending vertex and connect it to the existing Hamilton path</a:t>
                </a:r>
              </a:p>
              <a:p>
                <a:r>
                  <a:rPr lang="en-US" sz="2000" dirty="0"/>
                  <a:t>Otherwise there exists at least one conjunction where we have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r>
                          <a:rPr lang="en-US" sz="2000" i="1">
                            <a:latin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+1</m:t>
                        </m:r>
                      </m:sub>
                    </m:sSub>
                  </m:oMath>
                </a14:m>
                <a:r>
                  <a:rPr lang="en-US" sz="2000" dirty="0"/>
                  <a:t>, we can then break the original Hamilton path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+1</m:t>
                        </m:r>
                      </m:sub>
                    </m:sSub>
                  </m:oMath>
                </a14:m>
                <a:r>
                  <a:rPr lang="en-US" sz="2000" dirty="0"/>
                  <a:t> and insert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𝑘</m:t>
                        </m:r>
                        <m:r>
                          <a:rPr lang="en-US" sz="2000" i="1">
                            <a:latin typeface="Cambria Math" panose="02040503050406030204" pitchFamily="18" charset="0"/>
                          </a:rPr>
                          <m:t>+1</m:t>
                        </m:r>
                      </m:sub>
                    </m:sSub>
                  </m:oMath>
                </a14:m>
                <a:r>
                  <a:rPr lang="en-US" sz="2000" dirty="0"/>
                  <a:t> in between</a:t>
                </a:r>
              </a:p>
            </p:txBody>
          </p:sp>
        </mc:Choice>
        <mc:Fallback>
          <p:sp>
            <p:nvSpPr>
              <p:cNvPr id="10" name="Content Placeholder 9">
                <a:extLst>
                  <a:ext uri="{FF2B5EF4-FFF2-40B4-BE49-F238E27FC236}">
                    <a16:creationId xmlns:a16="http://schemas.microsoft.com/office/drawing/2014/main" id="{76F9BB25-E332-C94A-842F-9364D2270DD3}"/>
                  </a:ext>
                </a:extLst>
              </p:cNvPr>
              <p:cNvSpPr>
                <a:spLocks noGrp="1" noRot="1" noChangeAspect="1" noMove="1" noResize="1" noEditPoints="1" noAdjustHandles="1" noChangeArrowheads="1" noChangeShapeType="1" noTextEdit="1"/>
              </p:cNvSpPr>
              <p:nvPr>
                <p:ph idx="1"/>
              </p:nvPr>
            </p:nvSpPr>
            <p:spPr>
              <a:xfrm>
                <a:off x="2133600" y="1371601"/>
                <a:ext cx="8229600" cy="4525963"/>
              </a:xfrm>
              <a:blipFill>
                <a:blip r:embed="rId2"/>
                <a:stretch>
                  <a:fillRect l="-667" t="-1348" r="-3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995743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C500D32C-AB32-7F46-848B-822C73C7E4F4}"/>
              </a:ext>
            </a:extLst>
          </p:cNvPr>
          <p:cNvSpPr>
            <a:spLocks noGrp="1"/>
          </p:cNvSpPr>
          <p:nvPr>
            <p:ph type="title"/>
          </p:nvPr>
        </p:nvSpPr>
        <p:spPr/>
        <p:txBody>
          <a:bodyPr/>
          <a:lstStyle/>
          <a:p>
            <a:r>
              <a:rPr lang="en-US" altLang="en-US">
                <a:ea typeface="ＭＳ Ｐゴシック" panose="020B0600070205080204" pitchFamily="34" charset="-128"/>
              </a:rPr>
              <a:t>Bipartite graphs</a:t>
            </a:r>
          </a:p>
        </p:txBody>
      </p:sp>
      <p:sp>
        <p:nvSpPr>
          <p:cNvPr id="40962" name="Content Placeholder 2">
            <a:extLst>
              <a:ext uri="{FF2B5EF4-FFF2-40B4-BE49-F238E27FC236}">
                <a16:creationId xmlns:a16="http://schemas.microsoft.com/office/drawing/2014/main" id="{A290B72C-5900-3A45-AEF6-1B1D13F3CF93}"/>
              </a:ext>
            </a:extLst>
          </p:cNvPr>
          <p:cNvSpPr>
            <a:spLocks noGrp="1"/>
          </p:cNvSpPr>
          <p:nvPr>
            <p:ph idx="1"/>
          </p:nvPr>
        </p:nvSpPr>
        <p:spPr/>
        <p:txBody>
          <a:bodyPr/>
          <a:lstStyle/>
          <a:p>
            <a:r>
              <a:rPr lang="en-US" altLang="en-US" sz="2000">
                <a:ea typeface="ＭＳ Ｐゴシック" panose="020B0600070205080204" pitchFamily="34" charset="-128"/>
              </a:rPr>
              <a:t>Bipartite graphs: to have a Hamilton circuit the two parts must have equal numbers of vertices (necessary, not sufficient)</a:t>
            </a:r>
          </a:p>
          <a:p>
            <a:r>
              <a:rPr lang="en-US" altLang="en-US" sz="2000">
                <a:ea typeface="ＭＳ Ｐゴシック" panose="020B0600070205080204" pitchFamily="34" charset="-128"/>
              </a:rPr>
              <a:t>Why? Any circuit in a bipartite graph must have an even number of vertices, and it alternates between the two parts.</a:t>
            </a:r>
          </a:p>
          <a:p>
            <a:r>
              <a:rPr lang="en-US" altLang="en-US" sz="2000">
                <a:ea typeface="ＭＳ Ｐゴシック" panose="020B0600070205080204" pitchFamily="34" charset="-128"/>
              </a:rPr>
              <a:t>So, to get a closed circuit that includes all vertices we must be able to alternate between two sides, eventually returning where we started. Every other vertex on the circuit belongs to one side. Couldn</a:t>
            </a:r>
            <a:r>
              <a:rPr lang="ja-JP" altLang="en-US" sz="2000">
                <a:ea typeface="ＭＳ Ｐゴシック" panose="020B0600070205080204" pitchFamily="34" charset="-128"/>
              </a:rPr>
              <a:t>’</a:t>
            </a:r>
            <a:r>
              <a:rPr lang="en-US" altLang="ja-JP" sz="2000">
                <a:ea typeface="ＭＳ Ｐゴシック" panose="020B0600070205080204" pitchFamily="34" charset="-128"/>
              </a:rPr>
              <a:t>t do that unless the two sets of vertices have same number of elements. </a:t>
            </a:r>
          </a:p>
          <a:p>
            <a:r>
              <a:rPr lang="en-US" altLang="en-US" sz="2000">
                <a:ea typeface="ＭＳ Ｐゴシック" panose="020B0600070205080204" pitchFamily="34" charset="-128"/>
              </a:rPr>
              <a:t>To have a Hamilton path then we must either have equal numbers (begin in one side, end in the other) or one side may have one vertex more than the other (begin and end in same side).</a:t>
            </a:r>
          </a:p>
          <a:p>
            <a:endParaRPr lang="en-US" altLang="en-US" sz="2400">
              <a:ea typeface="ＭＳ Ｐゴシック" panose="020B0600070205080204" pitchFamily="34" charset="-128"/>
            </a:endParaRPr>
          </a:p>
        </p:txBody>
      </p:sp>
    </p:spTree>
    <p:extLst>
      <p:ext uri="{BB962C8B-B14F-4D97-AF65-F5344CB8AC3E}">
        <p14:creationId xmlns:p14="http://schemas.microsoft.com/office/powerpoint/2010/main" val="280259653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2367</Words>
  <Application>Microsoft Office PowerPoint</Application>
  <PresentationFormat>宽屏</PresentationFormat>
  <Paragraphs>455</Paragraphs>
  <Slides>52</Slides>
  <Notes>6</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52</vt:i4>
      </vt:variant>
    </vt:vector>
  </HeadingPairs>
  <TitlesOfParts>
    <vt:vector size="61" baseType="lpstr">
      <vt:lpstr>ＭＳ Ｐゴシック</vt:lpstr>
      <vt:lpstr>等线</vt:lpstr>
      <vt:lpstr>等线 Light</vt:lpstr>
      <vt:lpstr>Arial</vt:lpstr>
      <vt:lpstr>Cambria Math</vt:lpstr>
      <vt:lpstr>Times New Roman</vt:lpstr>
      <vt:lpstr>Wingdings</vt:lpstr>
      <vt:lpstr>Office 主题​​</vt:lpstr>
      <vt:lpstr>Equation</vt:lpstr>
      <vt:lpstr>Chapter 2  Covering circuits and  graph coloring</vt:lpstr>
      <vt:lpstr>The bridges of Königsberg</vt:lpstr>
      <vt:lpstr>Euler Cycle</vt:lpstr>
      <vt:lpstr>Theorem</vt:lpstr>
      <vt:lpstr>PowerPoint 演示文稿</vt:lpstr>
      <vt:lpstr>PowerPoint 演示文稿</vt:lpstr>
      <vt:lpstr>Example</vt:lpstr>
      <vt:lpstr>Proof</vt:lpstr>
      <vt:lpstr>Proof</vt:lpstr>
      <vt:lpstr>PowerPoint 演示文稿</vt:lpstr>
      <vt:lpstr>PowerPoint 演示文稿</vt:lpstr>
      <vt:lpstr>Proof Cont’d</vt:lpstr>
      <vt:lpstr>Corollary</vt:lpstr>
      <vt:lpstr>PowerPoint 演示文稿</vt:lpstr>
      <vt:lpstr>PowerPoint 演示文稿</vt:lpstr>
      <vt:lpstr>PowerPoint 演示文稿</vt:lpstr>
      <vt:lpstr>Class Exercise</vt:lpstr>
      <vt:lpstr>PowerPoint 演示文稿</vt:lpstr>
      <vt:lpstr>Summary of Previous Class</vt:lpstr>
      <vt:lpstr>Does this graph have Euler trail?</vt:lpstr>
      <vt:lpstr>Remove which edge will give you Euler trail?</vt:lpstr>
      <vt:lpstr>Some terminology</vt:lpstr>
      <vt:lpstr>Hamilton circuit/path the postman’s solution</vt:lpstr>
      <vt:lpstr>PowerPoint 演示文稿</vt:lpstr>
      <vt:lpstr>Rule 1</vt:lpstr>
      <vt:lpstr>Rule 2</vt:lpstr>
      <vt:lpstr>Rule 3</vt:lpstr>
      <vt:lpstr>Example</vt:lpstr>
      <vt:lpstr>Using Rules</vt:lpstr>
      <vt:lpstr>Using Rules</vt:lpstr>
      <vt:lpstr>Using Rules</vt:lpstr>
      <vt:lpstr>Using Rules</vt:lpstr>
      <vt:lpstr>Theorem 1</vt:lpstr>
      <vt:lpstr>The condition in Theorem 1 is sufficient, but not necessary </vt:lpstr>
      <vt:lpstr>Theorem 2</vt:lpstr>
      <vt:lpstr>Complete graphs: K_n and K_nn</vt:lpstr>
      <vt:lpstr>Theorem 3</vt:lpstr>
      <vt:lpstr>Use of Theorem 3</vt:lpstr>
      <vt:lpstr>Use of Theorem 3 Cont’d</vt:lpstr>
      <vt:lpstr>PowerPoint 演示文稿</vt:lpstr>
      <vt:lpstr>Solution</vt:lpstr>
      <vt:lpstr>Re-examine Theorem 3</vt:lpstr>
      <vt:lpstr>PowerPoint 演示文稿</vt:lpstr>
      <vt:lpstr>Amendment to Euler cycle for directed graph</vt:lpstr>
      <vt:lpstr>Can this directed graph have Euler cycle?</vt:lpstr>
      <vt:lpstr>Summary of previous lecture</vt:lpstr>
      <vt:lpstr>PowerPoint 演示文稿</vt:lpstr>
      <vt:lpstr>Three types of Conditions</vt:lpstr>
      <vt:lpstr>Theorem 4</vt:lpstr>
      <vt:lpstr>Proof (inductive method):</vt:lpstr>
      <vt:lpstr>Proof (continue):</vt:lpstr>
      <vt:lpstr>Bipartite graphs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Covering circuits and  graph coloring</dc:title>
  <dc:creator>xing</dc:creator>
  <cp:lastModifiedBy>xing</cp:lastModifiedBy>
  <cp:revision>1</cp:revision>
  <dcterms:created xsi:type="dcterms:W3CDTF">2025-09-18T08:28:18Z</dcterms:created>
  <dcterms:modified xsi:type="dcterms:W3CDTF">2025-09-18T08:28:25Z</dcterms:modified>
</cp:coreProperties>
</file>