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handoutMasterIdLst>
    <p:handoutMasterId r:id="rId69"/>
  </p:handoutMasterIdLst>
  <p:sldIdLst>
    <p:sldId id="256" r:id="rId2"/>
    <p:sldId id="294" r:id="rId3"/>
    <p:sldId id="270" r:id="rId4"/>
    <p:sldId id="271" r:id="rId5"/>
    <p:sldId id="280" r:id="rId6"/>
    <p:sldId id="272" r:id="rId7"/>
    <p:sldId id="279" r:id="rId8"/>
    <p:sldId id="293" r:id="rId9"/>
    <p:sldId id="291" r:id="rId10"/>
    <p:sldId id="257" r:id="rId11"/>
    <p:sldId id="295" r:id="rId12"/>
    <p:sldId id="273" r:id="rId13"/>
    <p:sldId id="274" r:id="rId14"/>
    <p:sldId id="275" r:id="rId15"/>
    <p:sldId id="276" r:id="rId16"/>
    <p:sldId id="258" r:id="rId17"/>
    <p:sldId id="259" r:id="rId18"/>
    <p:sldId id="278" r:id="rId19"/>
    <p:sldId id="260" r:id="rId20"/>
    <p:sldId id="261" r:id="rId21"/>
    <p:sldId id="262" r:id="rId22"/>
    <p:sldId id="263" r:id="rId23"/>
    <p:sldId id="264" r:id="rId24"/>
    <p:sldId id="265" r:id="rId25"/>
    <p:sldId id="266" r:id="rId26"/>
    <p:sldId id="267" r:id="rId27"/>
    <p:sldId id="268" r:id="rId28"/>
    <p:sldId id="277" r:id="rId29"/>
    <p:sldId id="296" r:id="rId30"/>
    <p:sldId id="304" r:id="rId31"/>
    <p:sldId id="306" r:id="rId32"/>
    <p:sldId id="319" r:id="rId33"/>
    <p:sldId id="320" r:id="rId34"/>
    <p:sldId id="307" r:id="rId35"/>
    <p:sldId id="321" r:id="rId36"/>
    <p:sldId id="322" r:id="rId37"/>
    <p:sldId id="323" r:id="rId38"/>
    <p:sldId id="269" r:id="rId39"/>
    <p:sldId id="310" r:id="rId40"/>
    <p:sldId id="311" r:id="rId41"/>
    <p:sldId id="312" r:id="rId42"/>
    <p:sldId id="313" r:id="rId43"/>
    <p:sldId id="314" r:id="rId44"/>
    <p:sldId id="315" r:id="rId45"/>
    <p:sldId id="316" r:id="rId46"/>
    <p:sldId id="317" r:id="rId47"/>
    <p:sldId id="318" r:id="rId48"/>
    <p:sldId id="324" r:id="rId49"/>
    <p:sldId id="325" r:id="rId50"/>
    <p:sldId id="326" r:id="rId51"/>
    <p:sldId id="327" r:id="rId52"/>
    <p:sldId id="329" r:id="rId53"/>
    <p:sldId id="330" r:id="rId54"/>
    <p:sldId id="331" r:id="rId55"/>
    <p:sldId id="332" r:id="rId56"/>
    <p:sldId id="333" r:id="rId57"/>
    <p:sldId id="340" r:id="rId58"/>
    <p:sldId id="341" r:id="rId59"/>
    <p:sldId id="334" r:id="rId60"/>
    <p:sldId id="335" r:id="rId61"/>
    <p:sldId id="336" r:id="rId62"/>
    <p:sldId id="337" r:id="rId63"/>
    <p:sldId id="338" r:id="rId64"/>
    <p:sldId id="339" r:id="rId65"/>
    <p:sldId id="342" r:id="rId66"/>
    <p:sldId id="376" r:id="rId67"/>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109" d="100"/>
          <a:sy n="109" d="100"/>
        </p:scale>
        <p:origin x="636"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2B73A09C-95E2-4CCB-B2A9-0622E9C764CD}" type="datetimeFigureOut">
              <a:rPr lang="zh-CN" altLang="en-US" smtClean="0"/>
              <a:t>2025/11/8</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B2A306DA-4399-4115-899D-80154407ED7B}" type="slidenum">
              <a:rPr lang="zh-CN" altLang="en-US" smtClean="0"/>
              <a:t>‹#›</a:t>
            </a:fld>
            <a:endParaRPr lang="zh-CN" altLang="en-US"/>
          </a:p>
        </p:txBody>
      </p:sp>
    </p:spTree>
    <p:extLst>
      <p:ext uri="{BB962C8B-B14F-4D97-AF65-F5344CB8AC3E}">
        <p14:creationId xmlns:p14="http://schemas.microsoft.com/office/powerpoint/2010/main" val="3560976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ECC36592-1921-6E4B-8A8F-4789C52CB6B4}" type="datetimeFigureOut">
              <a:rPr lang="en-US" smtClean="0"/>
              <a:t>11/8/2025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29D3213-EA3F-7F42-9A10-D8EB162AFB62}" type="slidenum">
              <a:rPr lang="en-US" smtClean="0"/>
              <a:t>‹#›</a:t>
            </a:fld>
            <a:endParaRPr lang="en-US"/>
          </a:p>
        </p:txBody>
      </p:sp>
    </p:spTree>
    <p:extLst>
      <p:ext uri="{BB962C8B-B14F-4D97-AF65-F5344CB8AC3E}">
        <p14:creationId xmlns:p14="http://schemas.microsoft.com/office/powerpoint/2010/main" val="1771317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6">
            <a:extLst>
              <a:ext uri="{FF2B5EF4-FFF2-40B4-BE49-F238E27FC236}">
                <a16:creationId xmlns:a16="http://schemas.microsoft.com/office/drawing/2014/main" id="{7DA26890-CDE4-FD48-B9B6-530AE3F44DF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40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40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40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4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1200">
                <a:latin typeface="Arial" panose="020B0604020202020204" pitchFamily="34" charset="0"/>
              </a:rPr>
              <a:t>Section 3.3</a:t>
            </a:r>
          </a:p>
        </p:txBody>
      </p:sp>
      <p:sp>
        <p:nvSpPr>
          <p:cNvPr id="17410" name="Rectangle 7">
            <a:extLst>
              <a:ext uri="{FF2B5EF4-FFF2-40B4-BE49-F238E27FC236}">
                <a16:creationId xmlns:a16="http://schemas.microsoft.com/office/drawing/2014/main" id="{D46BFB83-F9AC-1C41-93FD-9DE12415ED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40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40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40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4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9pPr>
          </a:lstStyle>
          <a:p>
            <a:pPr eaLnBrk="1" hangingPunct="1"/>
            <a:fld id="{AEE41F99-C78E-0F40-AEA1-A811136630A9}" type="slidenum">
              <a:rPr lang="en-US" altLang="en-US" sz="1200">
                <a:latin typeface="Arial" panose="020B0604020202020204" pitchFamily="34" charset="0"/>
              </a:rPr>
              <a:pPr eaLnBrk="1" hangingPunct="1"/>
              <a:t>30</a:t>
            </a:fld>
            <a:endParaRPr lang="en-US" altLang="en-US" sz="1200">
              <a:latin typeface="Arial" panose="020B0604020202020204" pitchFamily="34" charset="0"/>
            </a:endParaRPr>
          </a:p>
        </p:txBody>
      </p:sp>
      <p:sp>
        <p:nvSpPr>
          <p:cNvPr id="17411" name="Rectangle 2">
            <a:extLst>
              <a:ext uri="{FF2B5EF4-FFF2-40B4-BE49-F238E27FC236}">
                <a16:creationId xmlns:a16="http://schemas.microsoft.com/office/drawing/2014/main" id="{2EBD322C-6027-9349-A0C3-B9BBB2C20797}"/>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47905DD3-BA0C-E34D-9D83-951E096269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4224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86A3-FF13-ED45-AA32-8437C76ABB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E07128-6D65-7E4F-BBE1-8BD50F6A2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74BE4A-2455-6748-ADE5-149DA9ED85DE}"/>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5" name="Footer Placeholder 4">
            <a:extLst>
              <a:ext uri="{FF2B5EF4-FFF2-40B4-BE49-F238E27FC236}">
                <a16:creationId xmlns:a16="http://schemas.microsoft.com/office/drawing/2014/main" id="{FF299C4A-6589-3549-877B-C46347D23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CECCC-2431-DD4E-87CD-8014A0D0E5D6}"/>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245153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8EDA-DA53-C144-BE39-0B8E172662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B50CC9-1D7A-5C4A-B192-CDED9F108B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EB19F-D4E2-DB48-89F4-E6DEE9ADC8A8}"/>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5" name="Footer Placeholder 4">
            <a:extLst>
              <a:ext uri="{FF2B5EF4-FFF2-40B4-BE49-F238E27FC236}">
                <a16:creationId xmlns:a16="http://schemas.microsoft.com/office/drawing/2014/main" id="{5CA60E6F-CF03-8D49-A8EF-A6A9EC42F8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9A907D-3609-4F41-8509-262F3F18D859}"/>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979348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7580D-C2B3-404F-A83E-4942B3F996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4C8068-30A6-B64A-ABE0-1C26860533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A0BAF2-C9F9-7744-B4FC-D1BFC537AC87}"/>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5" name="Footer Placeholder 4">
            <a:extLst>
              <a:ext uri="{FF2B5EF4-FFF2-40B4-BE49-F238E27FC236}">
                <a16:creationId xmlns:a16="http://schemas.microsoft.com/office/drawing/2014/main" id="{45A3ED52-9AC3-3C4E-8445-3797C78B8B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0BF43-4E90-7343-83BA-BF69BCCD4528}"/>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3819715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8DCBC-BFBE-8A47-BB9E-67D1FB691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0E6C64-FDD8-F449-9327-0E0AD6DBFE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2AC66A-BFF8-8C45-88F3-8C1F24B4CE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9E17FE-CF8F-5F4C-930A-9866DE1E2230}"/>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6" name="Footer Placeholder 5">
            <a:extLst>
              <a:ext uri="{FF2B5EF4-FFF2-40B4-BE49-F238E27FC236}">
                <a16:creationId xmlns:a16="http://schemas.microsoft.com/office/drawing/2014/main" id="{DED59F0D-A45B-E343-842C-038D55AFF1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CDD3C2-A5B6-034E-BEA2-DFCE0DFA0CC1}"/>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417579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0E0F-53A9-4E41-AA57-352AB382A6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34F6F1-68E2-E247-819D-2CAEAD3A8B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A5C7DA-26D5-654F-8EB7-BC2A020E30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8D93CF-9335-224B-BC96-6EBD6D7EA1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F49D4A-1F21-BF47-B645-3D779C749E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0740A7-680A-E541-AEB8-5D614A0983A9}"/>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8" name="Footer Placeholder 7">
            <a:extLst>
              <a:ext uri="{FF2B5EF4-FFF2-40B4-BE49-F238E27FC236}">
                <a16:creationId xmlns:a16="http://schemas.microsoft.com/office/drawing/2014/main" id="{B6FF3DE3-38CA-C440-8379-776FE2741B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45FB31-F0A0-F54E-BB5A-A38BDBE488EA}"/>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4223860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3BBA-9C2F-D54C-8052-DB74E4D28C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4D22B7-452C-DA4F-8334-266C25AB6151}"/>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4" name="Footer Placeholder 3">
            <a:extLst>
              <a:ext uri="{FF2B5EF4-FFF2-40B4-BE49-F238E27FC236}">
                <a16:creationId xmlns:a16="http://schemas.microsoft.com/office/drawing/2014/main" id="{7EC21E08-FDC0-974A-9CB4-E50607F53C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7C7B85-BD57-8544-8C8F-B66FE871CDD1}"/>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810513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95F6F8-9150-F44B-A491-FC29F1C9A14D}"/>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3" name="Footer Placeholder 2">
            <a:extLst>
              <a:ext uri="{FF2B5EF4-FFF2-40B4-BE49-F238E27FC236}">
                <a16:creationId xmlns:a16="http://schemas.microsoft.com/office/drawing/2014/main" id="{DAEF2F87-71E3-2549-A539-677AB69861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6B6E14-F6E5-DD46-B5CD-21A1B420AFD8}"/>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4136954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E9984-3796-E44D-8E4F-222D708D9F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42DB67-56B7-984C-B72E-13F2AAC1AD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3DE664-4772-774E-B069-E01DF2B58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FE399-B859-4446-8F0A-1A79910B5411}"/>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6" name="Footer Placeholder 5">
            <a:extLst>
              <a:ext uri="{FF2B5EF4-FFF2-40B4-BE49-F238E27FC236}">
                <a16:creationId xmlns:a16="http://schemas.microsoft.com/office/drawing/2014/main" id="{00D9266B-61BF-8540-A149-418AD78C49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70158-357C-9340-B65D-A59520AD2CFB}"/>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61215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E5003-2C7D-4747-A98E-D6357C4DF7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066988-19C1-2343-8BBC-0EADF1F8D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EFCB02-E966-9C41-ACE7-00B4841277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88CB75-3D61-5F4C-B1BD-9046858DA296}"/>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6" name="Footer Placeholder 5">
            <a:extLst>
              <a:ext uri="{FF2B5EF4-FFF2-40B4-BE49-F238E27FC236}">
                <a16:creationId xmlns:a16="http://schemas.microsoft.com/office/drawing/2014/main" id="{A2238489-E2FA-C04E-9BDB-C7B644F953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1B4FC4-FA5B-5346-8EE4-B6B6D67D4FC3}"/>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1044547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9CD7-1D3A-FE4E-99D3-24C6B4EC59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178533-F9BD-0741-B38D-446F57C6C9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62F78-345D-AD48-97B8-6416049F26C2}"/>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5" name="Footer Placeholder 4">
            <a:extLst>
              <a:ext uri="{FF2B5EF4-FFF2-40B4-BE49-F238E27FC236}">
                <a16:creationId xmlns:a16="http://schemas.microsoft.com/office/drawing/2014/main" id="{8103F8E9-3084-524A-B862-B2F3A33EE9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027A38-C0D5-5847-822F-A9DED4002EA8}"/>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1024134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372EF6-0543-534F-AD0B-6E941E8AE0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4755C1-1949-1249-9C08-C59E5159BD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99E842-5BBE-A54F-8D74-49F646E7DD4C}"/>
              </a:ext>
            </a:extLst>
          </p:cNvPr>
          <p:cNvSpPr>
            <a:spLocks noGrp="1"/>
          </p:cNvSpPr>
          <p:nvPr>
            <p:ph type="dt" sz="half" idx="10"/>
          </p:nvPr>
        </p:nvSpPr>
        <p:spPr/>
        <p:txBody>
          <a:bodyPr/>
          <a:lstStyle/>
          <a:p>
            <a:fld id="{883B8AE0-FE04-C54A-A0F0-89C261F1DE7A}" type="datetimeFigureOut">
              <a:rPr lang="en-US" smtClean="0"/>
              <a:t>11/8/2025</a:t>
            </a:fld>
            <a:endParaRPr lang="en-US"/>
          </a:p>
        </p:txBody>
      </p:sp>
      <p:sp>
        <p:nvSpPr>
          <p:cNvPr id="5" name="Footer Placeholder 4">
            <a:extLst>
              <a:ext uri="{FF2B5EF4-FFF2-40B4-BE49-F238E27FC236}">
                <a16:creationId xmlns:a16="http://schemas.microsoft.com/office/drawing/2014/main" id="{45265906-B801-1947-AC29-4DB16069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03383-F71D-D44F-B8AF-27A210B35759}"/>
              </a:ext>
            </a:extLst>
          </p:cNvPr>
          <p:cNvSpPr>
            <a:spLocks noGrp="1"/>
          </p:cNvSpPr>
          <p:nvPr>
            <p:ph type="sldNum" sz="quarter" idx="12"/>
          </p:nvPr>
        </p:nvSpPr>
        <p:spPr/>
        <p:txBody>
          <a:bodyPr/>
          <a:lstStyle/>
          <a:p>
            <a:fld id="{8CED62CF-0756-3A4C-BB0C-1D4F55E54A1E}" type="slidenum">
              <a:rPr lang="en-US" smtClean="0"/>
              <a:t>‹#›</a:t>
            </a:fld>
            <a:endParaRPr lang="en-US"/>
          </a:p>
        </p:txBody>
      </p:sp>
    </p:spTree>
    <p:extLst>
      <p:ext uri="{BB962C8B-B14F-4D97-AF65-F5344CB8AC3E}">
        <p14:creationId xmlns:p14="http://schemas.microsoft.com/office/powerpoint/2010/main" val="3808516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7C3B25A5-A47C-2541-AA3B-CF8881ED5A81}"/>
              </a:ext>
            </a:extLst>
          </p:cNvPr>
          <p:cNvSpPr>
            <a:spLocks noGrp="1" noChangeArrowheads="1"/>
          </p:cNvSpPr>
          <p:nvPr>
            <p:ph type="dt" sz="half" idx="10"/>
          </p:nvPr>
        </p:nvSpPr>
        <p:spPr>
          <a:ln/>
        </p:spPr>
        <p:txBody>
          <a:bodyPr/>
          <a:lstStyle>
            <a:lvl1pPr>
              <a:defRPr/>
            </a:lvl1pPr>
          </a:lstStyle>
          <a:p>
            <a:fld id="{B49495CA-7F8C-1045-B4AA-4DC9FBA19AF5}" type="datetime1">
              <a:rPr lang="en-US" altLang="en-US"/>
              <a:pPr/>
              <a:t>11/8/2025</a:t>
            </a:fld>
            <a:endParaRPr lang="en-US" altLang="en-US"/>
          </a:p>
        </p:txBody>
      </p:sp>
      <p:sp>
        <p:nvSpPr>
          <p:cNvPr id="7" name="Rectangle 5">
            <a:extLst>
              <a:ext uri="{FF2B5EF4-FFF2-40B4-BE49-F238E27FC236}">
                <a16:creationId xmlns:a16="http://schemas.microsoft.com/office/drawing/2014/main" id="{764A11D2-2B66-B149-9CC9-C46D074BBD9D}"/>
              </a:ext>
            </a:extLst>
          </p:cNvPr>
          <p:cNvSpPr>
            <a:spLocks noGrp="1" noChangeArrowheads="1"/>
          </p:cNvSpPr>
          <p:nvPr>
            <p:ph type="ftr" sz="quarter" idx="11"/>
          </p:nvPr>
        </p:nvSpPr>
        <p:spPr>
          <a:ln/>
        </p:spPr>
        <p:txBody>
          <a:bodyPr/>
          <a:lstStyle>
            <a:lvl1pPr>
              <a:defRPr/>
            </a:lvl1pPr>
          </a:lstStyle>
          <a:p>
            <a:pPr>
              <a:defRPr/>
            </a:pPr>
            <a:r>
              <a:rPr lang="en-US"/>
              <a:t>Tucker, Sec. 5.3</a:t>
            </a:r>
          </a:p>
        </p:txBody>
      </p:sp>
      <p:sp>
        <p:nvSpPr>
          <p:cNvPr id="8" name="Rectangle 6">
            <a:extLst>
              <a:ext uri="{FF2B5EF4-FFF2-40B4-BE49-F238E27FC236}">
                <a16:creationId xmlns:a16="http://schemas.microsoft.com/office/drawing/2014/main" id="{3BB548AC-A588-E04A-89B5-EA08F3C77CA9}"/>
              </a:ext>
            </a:extLst>
          </p:cNvPr>
          <p:cNvSpPr>
            <a:spLocks noGrp="1" noChangeArrowheads="1"/>
          </p:cNvSpPr>
          <p:nvPr>
            <p:ph type="sldNum" sz="quarter" idx="12"/>
          </p:nvPr>
        </p:nvSpPr>
        <p:spPr>
          <a:ln/>
        </p:spPr>
        <p:txBody>
          <a:bodyPr/>
          <a:lstStyle>
            <a:lvl1pPr>
              <a:defRPr/>
            </a:lvl1pPr>
          </a:lstStyle>
          <a:p>
            <a:fld id="{404D4D42-8C61-3B42-AABB-E34F66D8354D}" type="slidenum">
              <a:rPr lang="en-US" altLang="en-US"/>
              <a:pPr/>
              <a:t>‹#›</a:t>
            </a:fld>
            <a:endParaRPr lang="en-US" altLang="en-US"/>
          </a:p>
        </p:txBody>
      </p:sp>
    </p:spTree>
    <p:extLst>
      <p:ext uri="{BB962C8B-B14F-4D97-AF65-F5344CB8AC3E}">
        <p14:creationId xmlns:p14="http://schemas.microsoft.com/office/powerpoint/2010/main" val="3569788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4FB358B-E737-0E49-984C-FCC094004D9B}"/>
              </a:ext>
            </a:extLst>
          </p:cNvPr>
          <p:cNvSpPr>
            <a:spLocks noGrp="1" noChangeArrowheads="1"/>
          </p:cNvSpPr>
          <p:nvPr>
            <p:ph type="dt" sz="half" idx="10"/>
          </p:nvPr>
        </p:nvSpPr>
        <p:spPr>
          <a:ln/>
        </p:spPr>
        <p:txBody>
          <a:bodyPr/>
          <a:lstStyle>
            <a:lvl1pPr>
              <a:defRPr/>
            </a:lvl1pPr>
          </a:lstStyle>
          <a:p>
            <a:fld id="{84AF1BFE-82CF-594E-92F2-58C514BAAD5E}" type="datetime1">
              <a:rPr lang="en-US" altLang="en-US"/>
              <a:pPr/>
              <a:t>11/8/2025</a:t>
            </a:fld>
            <a:endParaRPr lang="en-US" altLang="en-US"/>
          </a:p>
        </p:txBody>
      </p:sp>
      <p:sp>
        <p:nvSpPr>
          <p:cNvPr id="6" name="Rectangle 5">
            <a:extLst>
              <a:ext uri="{FF2B5EF4-FFF2-40B4-BE49-F238E27FC236}">
                <a16:creationId xmlns:a16="http://schemas.microsoft.com/office/drawing/2014/main" id="{14E3B868-71ED-C048-A33C-EE7C6AF84FE1}"/>
              </a:ext>
            </a:extLst>
          </p:cNvPr>
          <p:cNvSpPr>
            <a:spLocks noGrp="1" noChangeArrowheads="1"/>
          </p:cNvSpPr>
          <p:nvPr>
            <p:ph type="ftr" sz="quarter" idx="11"/>
          </p:nvPr>
        </p:nvSpPr>
        <p:spPr>
          <a:ln/>
        </p:spPr>
        <p:txBody>
          <a:bodyPr/>
          <a:lstStyle>
            <a:lvl1pPr>
              <a:defRPr/>
            </a:lvl1pPr>
          </a:lstStyle>
          <a:p>
            <a:pPr>
              <a:defRPr/>
            </a:pPr>
            <a:r>
              <a:rPr lang="en-US"/>
              <a:t>Tucker, Sec. 5.3</a:t>
            </a:r>
          </a:p>
        </p:txBody>
      </p:sp>
      <p:sp>
        <p:nvSpPr>
          <p:cNvPr id="7" name="Rectangle 6">
            <a:extLst>
              <a:ext uri="{FF2B5EF4-FFF2-40B4-BE49-F238E27FC236}">
                <a16:creationId xmlns:a16="http://schemas.microsoft.com/office/drawing/2014/main" id="{4A035DBC-77FF-3C45-BF12-79D76EFF99BA}"/>
              </a:ext>
            </a:extLst>
          </p:cNvPr>
          <p:cNvSpPr>
            <a:spLocks noGrp="1" noChangeArrowheads="1"/>
          </p:cNvSpPr>
          <p:nvPr>
            <p:ph type="sldNum" sz="quarter" idx="12"/>
          </p:nvPr>
        </p:nvSpPr>
        <p:spPr>
          <a:ln/>
        </p:spPr>
        <p:txBody>
          <a:bodyPr/>
          <a:lstStyle>
            <a:lvl1pPr>
              <a:defRPr/>
            </a:lvl1pPr>
          </a:lstStyle>
          <a:p>
            <a:fld id="{473C9804-BDA4-634B-B3BC-212F295A9D36}" type="slidenum">
              <a:rPr lang="en-US" altLang="en-US"/>
              <a:pPr/>
              <a:t>‹#›</a:t>
            </a:fld>
            <a:endParaRPr lang="en-US" altLang="en-US"/>
          </a:p>
        </p:txBody>
      </p:sp>
    </p:spTree>
    <p:extLst>
      <p:ext uri="{BB962C8B-B14F-4D97-AF65-F5344CB8AC3E}">
        <p14:creationId xmlns:p14="http://schemas.microsoft.com/office/powerpoint/2010/main" val="3089692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38386A-420F-7143-9D3A-7CE6974D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F84847-7DFF-E24C-801F-2BAE35B99B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F4AC75-E9DC-8C4B-BC9C-32DE1839BD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3B8AE0-FE04-C54A-A0F0-89C261F1DE7A}" type="datetimeFigureOut">
              <a:rPr lang="en-US" smtClean="0"/>
              <a:t>11/8/2025</a:t>
            </a:fld>
            <a:endParaRPr lang="en-US"/>
          </a:p>
        </p:txBody>
      </p:sp>
      <p:sp>
        <p:nvSpPr>
          <p:cNvPr id="5" name="Footer Placeholder 4">
            <a:extLst>
              <a:ext uri="{FF2B5EF4-FFF2-40B4-BE49-F238E27FC236}">
                <a16:creationId xmlns:a16="http://schemas.microsoft.com/office/drawing/2014/main" id="{3A3647AA-CDAB-624C-9BF2-BD23EBFD03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3F61B6-AB64-B847-B2E4-7A016A1D76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ED62CF-0756-3A4C-BB0C-1D4F55E54A1E}" type="slidenum">
              <a:rPr lang="en-US" smtClean="0"/>
              <a:t>‹#›</a:t>
            </a:fld>
            <a:endParaRPr lang="en-US"/>
          </a:p>
        </p:txBody>
      </p:sp>
    </p:spTree>
    <p:extLst>
      <p:ext uri="{BB962C8B-B14F-4D97-AF65-F5344CB8AC3E}">
        <p14:creationId xmlns:p14="http://schemas.microsoft.com/office/powerpoint/2010/main" val="1689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7.wmf"/><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1.bin"/><Relationship Id="rId5" Type="http://schemas.openxmlformats.org/officeDocument/2006/relationships/image" Target="../media/image10.wmf"/><Relationship Id="rId4" Type="http://schemas.openxmlformats.org/officeDocument/2006/relationships/oleObject" Target="../embeddings/oleObject10.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tif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5.tif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7.emf"/></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image" Target="../media/image19.wmf"/><Relationship Id="rId5" Type="http://schemas.openxmlformats.org/officeDocument/2006/relationships/oleObject" Target="../embeddings/oleObject15.bin"/><Relationship Id="rId4" Type="http://schemas.openxmlformats.org/officeDocument/2006/relationships/image" Target="../media/image18.wmf"/></Relationships>
</file>

<file path=ppt/slides/_rels/slide53.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image" Target="../media/image21.emf"/><Relationship Id="rId5" Type="http://schemas.openxmlformats.org/officeDocument/2006/relationships/oleObject" Target="../embeddings/oleObject17.bin"/><Relationship Id="rId4" Type="http://schemas.openxmlformats.org/officeDocument/2006/relationships/image" Target="../media/image20.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4.emf"/><Relationship Id="rId5" Type="http://schemas.openxmlformats.org/officeDocument/2006/relationships/oleObject" Target="../embeddings/oleObject20.bin"/><Relationship Id="rId4" Type="http://schemas.openxmlformats.org/officeDocument/2006/relationships/image" Target="../media/image23.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3B6DB-20D2-E644-B17A-5230B5FF297B}"/>
              </a:ext>
            </a:extLst>
          </p:cNvPr>
          <p:cNvSpPr>
            <a:spLocks noGrp="1"/>
          </p:cNvSpPr>
          <p:nvPr>
            <p:ph type="ctrTitle"/>
          </p:nvPr>
        </p:nvSpPr>
        <p:spPr/>
        <p:txBody>
          <a:bodyPr/>
          <a:lstStyle/>
          <a:p>
            <a:r>
              <a:rPr lang="en-US" b="1" dirty="0"/>
              <a:t>Chapter 5: Counting</a:t>
            </a:r>
          </a:p>
        </p:txBody>
      </p:sp>
    </p:spTree>
    <p:extLst>
      <p:ext uri="{BB962C8B-B14F-4D97-AF65-F5344CB8AC3E}">
        <p14:creationId xmlns:p14="http://schemas.microsoft.com/office/powerpoint/2010/main" val="938517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28B89-3D8B-504D-B17C-0837A85873EC}"/>
              </a:ext>
            </a:extLst>
          </p:cNvPr>
          <p:cNvSpPr>
            <a:spLocks noGrp="1"/>
          </p:cNvSpPr>
          <p:nvPr>
            <p:ph type="title"/>
          </p:nvPr>
        </p:nvSpPr>
        <p:spPr/>
        <p:txBody>
          <a:bodyPr/>
          <a:lstStyle/>
          <a:p>
            <a:r>
              <a:rPr lang="en-US" dirty="0"/>
              <a:t>Why counting?</a:t>
            </a:r>
          </a:p>
        </p:txBody>
      </p:sp>
      <p:pic>
        <p:nvPicPr>
          <p:cNvPr id="4" name="Content Placeholder 3">
            <a:extLst>
              <a:ext uri="{FF2B5EF4-FFF2-40B4-BE49-F238E27FC236}">
                <a16:creationId xmlns:a16="http://schemas.microsoft.com/office/drawing/2014/main" id="{774156EF-0F3C-9542-B78A-AE300EEA957A}"/>
              </a:ext>
            </a:extLst>
          </p:cNvPr>
          <p:cNvPicPr>
            <a:picLocks noGrp="1" noChangeAspect="1"/>
          </p:cNvPicPr>
          <p:nvPr>
            <p:ph idx="1"/>
          </p:nvPr>
        </p:nvPicPr>
        <p:blipFill>
          <a:blip r:embed="rId2"/>
          <a:stretch>
            <a:fillRect/>
          </a:stretch>
        </p:blipFill>
        <p:spPr>
          <a:xfrm>
            <a:off x="3073114" y="2359284"/>
            <a:ext cx="5051663" cy="2644230"/>
          </a:xfrm>
          <a:prstGeom prst="rect">
            <a:avLst/>
          </a:prstGeom>
        </p:spPr>
      </p:pic>
    </p:spTree>
    <p:extLst>
      <p:ext uri="{BB962C8B-B14F-4D97-AF65-F5344CB8AC3E}">
        <p14:creationId xmlns:p14="http://schemas.microsoft.com/office/powerpoint/2010/main" val="2274546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a:xfrm>
            <a:off x="2209800" y="304800"/>
            <a:ext cx="7772400" cy="1143000"/>
          </a:xfrm>
        </p:spPr>
        <p:txBody>
          <a:bodyPr/>
          <a:lstStyle/>
          <a:p>
            <a:pPr eaLnBrk="1" hangingPunct="1"/>
            <a:r>
              <a:rPr lang="en-US" sz="3600"/>
              <a:t>Introduction</a:t>
            </a:r>
          </a:p>
        </p:txBody>
      </p:sp>
      <p:sp>
        <p:nvSpPr>
          <p:cNvPr id="18438" name="Rectangle 3"/>
          <p:cNvSpPr>
            <a:spLocks noGrp="1" noChangeArrowheads="1"/>
          </p:cNvSpPr>
          <p:nvPr>
            <p:ph type="body" idx="1"/>
          </p:nvPr>
        </p:nvSpPr>
        <p:spPr>
          <a:xfrm>
            <a:off x="2235200" y="1563688"/>
            <a:ext cx="7772400" cy="4114800"/>
          </a:xfrm>
        </p:spPr>
        <p:txBody>
          <a:bodyPr/>
          <a:lstStyle/>
          <a:p>
            <a:pPr eaLnBrk="1" hangingPunct="1">
              <a:lnSpc>
                <a:spcPct val="90000"/>
              </a:lnSpc>
            </a:pPr>
            <a:r>
              <a:rPr lang="en-US" dirty="0"/>
              <a:t>We will be using </a:t>
            </a:r>
            <a:r>
              <a:rPr lang="en-US" b="1" dirty="0"/>
              <a:t>two basic counting principles</a:t>
            </a:r>
            <a:r>
              <a:rPr lang="en-US" dirty="0"/>
              <a:t> to solve a few combinatorial word problems.</a:t>
            </a:r>
          </a:p>
          <a:p>
            <a:pPr eaLnBrk="1" hangingPunct="1">
              <a:lnSpc>
                <a:spcPct val="90000"/>
              </a:lnSpc>
            </a:pPr>
            <a:r>
              <a:rPr lang="en-US" b="1" dirty="0"/>
              <a:t>The addition principle</a:t>
            </a:r>
          </a:p>
          <a:p>
            <a:pPr eaLnBrk="1" hangingPunct="1">
              <a:lnSpc>
                <a:spcPct val="90000"/>
              </a:lnSpc>
            </a:pPr>
            <a:r>
              <a:rPr lang="en-US" b="1" dirty="0"/>
              <a:t>The multiplication principle</a:t>
            </a:r>
          </a:p>
        </p:txBody>
      </p:sp>
    </p:spTree>
    <p:extLst>
      <p:ext uri="{BB962C8B-B14F-4D97-AF65-F5344CB8AC3E}">
        <p14:creationId xmlns:p14="http://schemas.microsoft.com/office/powerpoint/2010/main" val="4218981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2"/>
          <p:cNvSpPr>
            <a:spLocks noGrp="1" noChangeArrowheads="1"/>
          </p:cNvSpPr>
          <p:nvPr>
            <p:ph type="title"/>
          </p:nvPr>
        </p:nvSpPr>
        <p:spPr>
          <a:xfrm>
            <a:off x="2133600" y="228600"/>
            <a:ext cx="7772400" cy="1143000"/>
          </a:xfrm>
        </p:spPr>
        <p:txBody>
          <a:bodyPr/>
          <a:lstStyle/>
          <a:p>
            <a:pPr eaLnBrk="1" hangingPunct="1"/>
            <a:r>
              <a:rPr lang="en-US" sz="3600" b="1" dirty="0"/>
              <a:t>The Addition Principle</a:t>
            </a:r>
          </a:p>
        </p:txBody>
      </p:sp>
      <p:graphicFrame>
        <p:nvGraphicFramePr>
          <p:cNvPr id="19458" name="Object 2"/>
          <p:cNvGraphicFramePr>
            <a:graphicFrameLocks noChangeAspect="1"/>
          </p:cNvGraphicFramePr>
          <p:nvPr>
            <p:extLst>
              <p:ext uri="{D42A27DB-BD31-4B8C-83A1-F6EECF244321}">
                <p14:modId xmlns:p14="http://schemas.microsoft.com/office/powerpoint/2010/main" val="746583770"/>
              </p:ext>
            </p:extLst>
          </p:nvPr>
        </p:nvGraphicFramePr>
        <p:xfrm>
          <a:off x="2514601" y="1370014"/>
          <a:ext cx="7059613" cy="4803775"/>
        </p:xfrm>
        <a:graphic>
          <a:graphicData uri="http://schemas.openxmlformats.org/presentationml/2006/ole">
            <mc:AlternateContent xmlns:mc="http://schemas.openxmlformats.org/markup-compatibility/2006">
              <mc:Choice xmlns:v="urn:schemas-microsoft-com:vml" Requires="v">
                <p:oleObj spid="_x0000_s1079" name="Equation" r:id="rId3" imgW="3048000" imgH="2362200" progId="Equation.3">
                  <p:embed/>
                </p:oleObj>
              </mc:Choice>
              <mc:Fallback>
                <p:oleObj name="Equation" r:id="rId3" imgW="3048000" imgH="2362200" progId="Equation.3">
                  <p:embed/>
                  <p:pic>
                    <p:nvPicPr>
                      <p:cNvPr id="19458" name="Object 2"/>
                      <p:cNvPicPr>
                        <a:picLocks noChangeAspect="1" noChangeArrowheads="1"/>
                      </p:cNvPicPr>
                      <p:nvPr/>
                    </p:nvPicPr>
                    <p:blipFill>
                      <a:blip r:embed="rId4"/>
                      <a:srcRect/>
                      <a:stretch>
                        <a:fillRect/>
                      </a:stretch>
                    </p:blipFill>
                    <p:spPr bwMode="auto">
                      <a:xfrm>
                        <a:off x="2514601" y="1370014"/>
                        <a:ext cx="7059613" cy="480377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66035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2"/>
          <p:cNvSpPr>
            <a:spLocks noGrp="1" noChangeArrowheads="1"/>
          </p:cNvSpPr>
          <p:nvPr>
            <p:ph type="title"/>
          </p:nvPr>
        </p:nvSpPr>
        <p:spPr/>
        <p:txBody>
          <a:bodyPr/>
          <a:lstStyle/>
          <a:p>
            <a:pPr eaLnBrk="1" hangingPunct="1"/>
            <a:r>
              <a:rPr lang="en-US" sz="3200"/>
              <a:t>A Visualization of the Addition Principle</a:t>
            </a:r>
          </a:p>
        </p:txBody>
      </p:sp>
      <p:sp>
        <p:nvSpPr>
          <p:cNvPr id="20487" name="AutoShape 3"/>
          <p:cNvSpPr>
            <a:spLocks noChangeArrowheads="1"/>
          </p:cNvSpPr>
          <p:nvPr/>
        </p:nvSpPr>
        <p:spPr bwMode="auto">
          <a:xfrm>
            <a:off x="2439989" y="2698751"/>
            <a:ext cx="428625" cy="334963"/>
          </a:xfrm>
          <a:prstGeom prst="triangle">
            <a:avLst>
              <a:gd name="adj" fmla="val 50000"/>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20488" name="Rectangle 4"/>
          <p:cNvSpPr>
            <a:spLocks noChangeArrowheads="1"/>
          </p:cNvSpPr>
          <p:nvPr/>
        </p:nvSpPr>
        <p:spPr bwMode="auto">
          <a:xfrm>
            <a:off x="2987676" y="2698751"/>
            <a:ext cx="346075" cy="347663"/>
          </a:xfrm>
          <a:prstGeom prst="rect">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20489" name="Oval 5"/>
          <p:cNvSpPr>
            <a:spLocks noChangeArrowheads="1"/>
          </p:cNvSpPr>
          <p:nvPr/>
        </p:nvSpPr>
        <p:spPr bwMode="auto">
          <a:xfrm>
            <a:off x="3536951" y="2698751"/>
            <a:ext cx="365125" cy="366713"/>
          </a:xfrm>
          <a:prstGeom prst="ellipse">
            <a:avLst/>
          </a:prstGeom>
          <a:solidFill>
            <a:srgbClr val="FD330B"/>
          </a:solidFill>
          <a:ln w="9525">
            <a:solidFill>
              <a:schemeClr val="tx1"/>
            </a:solidFill>
            <a:round/>
            <a:headEnd/>
            <a:tailEnd/>
          </a:ln>
        </p:spPr>
        <p:txBody>
          <a:bodyPr wrap="none" anchor="ctr">
            <a:prstTxWarp prst="textNoShape">
              <a:avLst/>
            </a:prstTxWarp>
          </a:bodyPr>
          <a:lstStyle/>
          <a:p>
            <a:endParaRPr lang="en-US"/>
          </a:p>
        </p:txBody>
      </p:sp>
      <p:sp>
        <p:nvSpPr>
          <p:cNvPr id="20490" name="AutoShape 6"/>
          <p:cNvSpPr>
            <a:spLocks noChangeArrowheads="1"/>
          </p:cNvSpPr>
          <p:nvPr/>
        </p:nvSpPr>
        <p:spPr bwMode="auto">
          <a:xfrm>
            <a:off x="2439989" y="3795713"/>
            <a:ext cx="428625" cy="334962"/>
          </a:xfrm>
          <a:prstGeom prst="triangle">
            <a:avLst>
              <a:gd name="adj" fmla="val 50000"/>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20491" name="Rectangle 8"/>
          <p:cNvSpPr>
            <a:spLocks noChangeArrowheads="1"/>
          </p:cNvSpPr>
          <p:nvPr/>
        </p:nvSpPr>
        <p:spPr bwMode="auto">
          <a:xfrm>
            <a:off x="2987676" y="3795713"/>
            <a:ext cx="346075" cy="347662"/>
          </a:xfrm>
          <a:prstGeom prst="rect">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20492" name="Rectangle 9"/>
          <p:cNvSpPr>
            <a:spLocks noChangeArrowheads="1"/>
          </p:cNvSpPr>
          <p:nvPr/>
        </p:nvSpPr>
        <p:spPr bwMode="auto">
          <a:xfrm>
            <a:off x="2987676" y="3246438"/>
            <a:ext cx="346075" cy="347662"/>
          </a:xfrm>
          <a:prstGeom prst="rect">
            <a:avLst/>
          </a:prstGeom>
          <a:solidFill>
            <a:schemeClr val="folHlink"/>
          </a:solidFill>
          <a:ln w="9525">
            <a:solidFill>
              <a:schemeClr val="tx1"/>
            </a:solidFill>
            <a:miter lim="800000"/>
            <a:headEnd/>
            <a:tailEnd/>
          </a:ln>
        </p:spPr>
        <p:txBody>
          <a:bodyPr wrap="none" anchor="ctr">
            <a:prstTxWarp prst="textNoShape">
              <a:avLst/>
            </a:prstTxWarp>
          </a:bodyPr>
          <a:lstStyle/>
          <a:p>
            <a:endParaRPr lang="en-US"/>
          </a:p>
        </p:txBody>
      </p:sp>
      <p:sp>
        <p:nvSpPr>
          <p:cNvPr id="20493" name="Oval 10"/>
          <p:cNvSpPr>
            <a:spLocks noChangeArrowheads="1"/>
          </p:cNvSpPr>
          <p:nvPr/>
        </p:nvSpPr>
        <p:spPr bwMode="auto">
          <a:xfrm>
            <a:off x="3536951" y="3795713"/>
            <a:ext cx="365125" cy="366712"/>
          </a:xfrm>
          <a:prstGeom prst="ellipse">
            <a:avLst/>
          </a:prstGeom>
          <a:solidFill>
            <a:schemeClr val="hlink"/>
          </a:solidFill>
          <a:ln w="9525">
            <a:solidFill>
              <a:schemeClr val="tx1"/>
            </a:solidFill>
            <a:round/>
            <a:headEnd/>
            <a:tailEnd/>
          </a:ln>
        </p:spPr>
        <p:txBody>
          <a:bodyPr wrap="none" anchor="ctr">
            <a:prstTxWarp prst="textNoShape">
              <a:avLst/>
            </a:prstTxWarp>
          </a:bodyPr>
          <a:lstStyle/>
          <a:p>
            <a:endParaRPr lang="en-US"/>
          </a:p>
        </p:txBody>
      </p:sp>
      <p:sp>
        <p:nvSpPr>
          <p:cNvPr id="20494" name="Oval 11"/>
          <p:cNvSpPr>
            <a:spLocks noChangeArrowheads="1"/>
          </p:cNvSpPr>
          <p:nvPr/>
        </p:nvSpPr>
        <p:spPr bwMode="auto">
          <a:xfrm>
            <a:off x="3536951" y="3246438"/>
            <a:ext cx="365125" cy="366712"/>
          </a:xfrm>
          <a:prstGeom prst="ellipse">
            <a:avLst/>
          </a:prstGeom>
          <a:solidFill>
            <a:schemeClr val="folHlink"/>
          </a:solidFill>
          <a:ln w="9525">
            <a:solidFill>
              <a:schemeClr val="tx1"/>
            </a:solidFill>
            <a:round/>
            <a:headEnd/>
            <a:tailEnd/>
          </a:ln>
        </p:spPr>
        <p:txBody>
          <a:bodyPr wrap="none" anchor="ctr">
            <a:prstTxWarp prst="textNoShape">
              <a:avLst/>
            </a:prstTxWarp>
          </a:bodyPr>
          <a:lstStyle/>
          <a:p>
            <a:endParaRPr lang="en-US"/>
          </a:p>
        </p:txBody>
      </p:sp>
      <p:sp>
        <p:nvSpPr>
          <p:cNvPr id="20495" name="Text Box 12"/>
          <p:cNvSpPr txBox="1">
            <a:spLocks noChangeArrowheads="1"/>
          </p:cNvSpPr>
          <p:nvPr/>
        </p:nvSpPr>
        <p:spPr bwMode="auto">
          <a:xfrm>
            <a:off x="1889125" y="1417639"/>
            <a:ext cx="2863284" cy="646331"/>
          </a:xfrm>
          <a:prstGeom prst="rect">
            <a:avLst/>
          </a:prstGeom>
          <a:noFill/>
          <a:ln w="9525">
            <a:noFill/>
            <a:miter lim="800000"/>
            <a:headEnd/>
            <a:tailEnd/>
          </a:ln>
        </p:spPr>
        <p:txBody>
          <a:bodyPr wrap="none">
            <a:prstTxWarp prst="textNoShape">
              <a:avLst/>
            </a:prstTxWarp>
            <a:spAutoFit/>
          </a:bodyPr>
          <a:lstStyle/>
          <a:p>
            <a:r>
              <a:rPr lang="en-US" dirty="0">
                <a:ea typeface="Arial" pitchFamily="4" charset="0"/>
                <a:cs typeface="Arial" pitchFamily="4" charset="0"/>
              </a:rPr>
              <a:t>How many ways are there to</a:t>
            </a:r>
          </a:p>
          <a:p>
            <a:r>
              <a:rPr lang="en-US" dirty="0">
                <a:ea typeface="Arial" pitchFamily="4" charset="0"/>
                <a:cs typeface="Arial" pitchFamily="4" charset="0"/>
              </a:rPr>
              <a:t>choose 1 object?</a:t>
            </a:r>
          </a:p>
        </p:txBody>
      </p:sp>
      <p:sp>
        <p:nvSpPr>
          <p:cNvPr id="40974" name="Text Box 14"/>
          <p:cNvSpPr txBox="1">
            <a:spLocks noChangeArrowheads="1"/>
          </p:cNvSpPr>
          <p:nvPr/>
        </p:nvSpPr>
        <p:spPr bwMode="auto">
          <a:xfrm>
            <a:off x="5913439" y="1417638"/>
            <a:ext cx="1979709" cy="369332"/>
          </a:xfrm>
          <a:prstGeom prst="rect">
            <a:avLst/>
          </a:prstGeom>
          <a:noFill/>
          <a:ln w="9525">
            <a:noFill/>
            <a:miter lim="800000"/>
            <a:headEnd/>
            <a:tailEnd/>
          </a:ln>
        </p:spPr>
        <p:txBody>
          <a:bodyPr wrap="none">
            <a:prstTxWarp prst="textNoShape">
              <a:avLst/>
            </a:prstTxWarp>
            <a:spAutoFit/>
          </a:bodyPr>
          <a:lstStyle/>
          <a:p>
            <a:r>
              <a:rPr lang="en-US">
                <a:ea typeface="Arial" pitchFamily="4" charset="0"/>
                <a:cs typeface="Arial" pitchFamily="4" charset="0"/>
              </a:rPr>
              <a:t>Choose from 3 red,</a:t>
            </a:r>
          </a:p>
        </p:txBody>
      </p:sp>
      <p:graphicFrame>
        <p:nvGraphicFramePr>
          <p:cNvPr id="40998" name="Object 2"/>
          <p:cNvGraphicFramePr>
            <a:graphicFrameLocks noGrp="1" noChangeAspect="1"/>
          </p:cNvGraphicFramePr>
          <p:nvPr>
            <p:ph idx="1"/>
          </p:nvPr>
        </p:nvGraphicFramePr>
        <p:xfrm>
          <a:off x="8107363" y="5440363"/>
          <a:ext cx="2176462" cy="508000"/>
        </p:xfrm>
        <a:graphic>
          <a:graphicData uri="http://schemas.openxmlformats.org/presentationml/2006/ole">
            <mc:AlternateContent xmlns:mc="http://schemas.openxmlformats.org/markup-compatibility/2006">
              <mc:Choice xmlns:v="urn:schemas-microsoft-com:vml" Requires="v">
                <p:oleObj spid="_x0000_s2103" name="Equation" r:id="rId3" imgW="761760" imgH="177480" progId="Equation.3">
                  <p:embed/>
                </p:oleObj>
              </mc:Choice>
              <mc:Fallback>
                <p:oleObj name="Equation" r:id="rId3" imgW="761760" imgH="177480" progId="Equation.3">
                  <p:embed/>
                  <p:pic>
                    <p:nvPicPr>
                      <p:cNvPr id="409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7363" y="5440363"/>
                        <a:ext cx="2176462" cy="508000"/>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
        <p:nvSpPr>
          <p:cNvPr id="20497" name="AutoShape 41"/>
          <p:cNvSpPr>
            <a:spLocks noChangeArrowheads="1"/>
          </p:cNvSpPr>
          <p:nvPr/>
        </p:nvSpPr>
        <p:spPr bwMode="auto">
          <a:xfrm>
            <a:off x="4084639" y="3794126"/>
            <a:ext cx="365125" cy="365125"/>
          </a:xfrm>
          <a:prstGeom prst="pentagon">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41002" name="AutoShape 42"/>
          <p:cNvSpPr>
            <a:spLocks noChangeArrowheads="1"/>
          </p:cNvSpPr>
          <p:nvPr/>
        </p:nvSpPr>
        <p:spPr bwMode="auto">
          <a:xfrm>
            <a:off x="6097589" y="1965326"/>
            <a:ext cx="428625" cy="334963"/>
          </a:xfrm>
          <a:prstGeom prst="triangle">
            <a:avLst>
              <a:gd name="adj" fmla="val 50000"/>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41003" name="Rectangle 43"/>
          <p:cNvSpPr>
            <a:spLocks noChangeArrowheads="1"/>
          </p:cNvSpPr>
          <p:nvPr/>
        </p:nvSpPr>
        <p:spPr bwMode="auto">
          <a:xfrm>
            <a:off x="6645276" y="1965326"/>
            <a:ext cx="346075" cy="347663"/>
          </a:xfrm>
          <a:prstGeom prst="rect">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41004" name="Oval 44"/>
          <p:cNvSpPr>
            <a:spLocks noChangeArrowheads="1"/>
          </p:cNvSpPr>
          <p:nvPr/>
        </p:nvSpPr>
        <p:spPr bwMode="auto">
          <a:xfrm>
            <a:off x="7194551" y="1965326"/>
            <a:ext cx="365125" cy="366713"/>
          </a:xfrm>
          <a:prstGeom prst="ellipse">
            <a:avLst/>
          </a:prstGeom>
          <a:solidFill>
            <a:srgbClr val="FD330B"/>
          </a:solidFill>
          <a:ln w="9525">
            <a:solidFill>
              <a:schemeClr val="tx1"/>
            </a:solidFill>
            <a:round/>
            <a:headEnd/>
            <a:tailEnd/>
          </a:ln>
        </p:spPr>
        <p:txBody>
          <a:bodyPr wrap="none" anchor="ctr">
            <a:prstTxWarp prst="textNoShape">
              <a:avLst/>
            </a:prstTxWarp>
          </a:bodyPr>
          <a:lstStyle/>
          <a:p>
            <a:endParaRPr lang="en-US"/>
          </a:p>
        </p:txBody>
      </p:sp>
      <p:sp>
        <p:nvSpPr>
          <p:cNvPr id="41005" name="Text Box 45"/>
          <p:cNvSpPr txBox="1">
            <a:spLocks noChangeArrowheads="1"/>
          </p:cNvSpPr>
          <p:nvPr/>
        </p:nvSpPr>
        <p:spPr bwMode="auto">
          <a:xfrm>
            <a:off x="5913438" y="2879725"/>
            <a:ext cx="951094" cy="369332"/>
          </a:xfrm>
          <a:prstGeom prst="rect">
            <a:avLst/>
          </a:prstGeom>
          <a:noFill/>
          <a:ln w="9525">
            <a:noFill/>
            <a:miter lim="800000"/>
            <a:headEnd/>
            <a:tailEnd/>
          </a:ln>
        </p:spPr>
        <p:txBody>
          <a:bodyPr wrap="none">
            <a:prstTxWarp prst="textNoShape">
              <a:avLst/>
            </a:prstTxWarp>
            <a:spAutoFit/>
          </a:bodyPr>
          <a:lstStyle/>
          <a:p>
            <a:r>
              <a:rPr lang="en-US">
                <a:ea typeface="Arial" pitchFamily="4" charset="0"/>
                <a:cs typeface="Arial" pitchFamily="4" charset="0"/>
              </a:rPr>
              <a:t>2 green,</a:t>
            </a:r>
          </a:p>
        </p:txBody>
      </p:sp>
      <p:sp>
        <p:nvSpPr>
          <p:cNvPr id="41006" name="Text Box 46"/>
          <p:cNvSpPr txBox="1">
            <a:spLocks noChangeArrowheads="1"/>
          </p:cNvSpPr>
          <p:nvPr/>
        </p:nvSpPr>
        <p:spPr bwMode="auto">
          <a:xfrm>
            <a:off x="5913439" y="4160838"/>
            <a:ext cx="1231427" cy="369332"/>
          </a:xfrm>
          <a:prstGeom prst="rect">
            <a:avLst/>
          </a:prstGeom>
          <a:noFill/>
          <a:ln w="9525">
            <a:noFill/>
            <a:miter lim="800000"/>
            <a:headEnd/>
            <a:tailEnd/>
          </a:ln>
        </p:spPr>
        <p:txBody>
          <a:bodyPr wrap="none">
            <a:prstTxWarp prst="textNoShape">
              <a:avLst/>
            </a:prstTxWarp>
            <a:spAutoFit/>
          </a:bodyPr>
          <a:lstStyle/>
          <a:p>
            <a:r>
              <a:rPr lang="en-US">
                <a:ea typeface="Arial" pitchFamily="4" charset="0"/>
                <a:cs typeface="Arial" pitchFamily="4" charset="0"/>
              </a:rPr>
              <a:t>and 4 blue.</a:t>
            </a:r>
          </a:p>
        </p:txBody>
      </p:sp>
      <p:sp>
        <p:nvSpPr>
          <p:cNvPr id="41007" name="Rectangle 47"/>
          <p:cNvSpPr>
            <a:spLocks noChangeArrowheads="1"/>
          </p:cNvSpPr>
          <p:nvPr/>
        </p:nvSpPr>
        <p:spPr bwMode="auto">
          <a:xfrm>
            <a:off x="6096001" y="3429001"/>
            <a:ext cx="346075" cy="347663"/>
          </a:xfrm>
          <a:prstGeom prst="rect">
            <a:avLst/>
          </a:prstGeom>
          <a:solidFill>
            <a:schemeClr val="folHlink"/>
          </a:solidFill>
          <a:ln w="9525">
            <a:solidFill>
              <a:schemeClr val="tx1"/>
            </a:solidFill>
            <a:miter lim="800000"/>
            <a:headEnd/>
            <a:tailEnd/>
          </a:ln>
        </p:spPr>
        <p:txBody>
          <a:bodyPr wrap="none" anchor="ctr">
            <a:prstTxWarp prst="textNoShape">
              <a:avLst/>
            </a:prstTxWarp>
          </a:bodyPr>
          <a:lstStyle/>
          <a:p>
            <a:endParaRPr lang="en-US"/>
          </a:p>
        </p:txBody>
      </p:sp>
      <p:sp>
        <p:nvSpPr>
          <p:cNvPr id="41008" name="Oval 48"/>
          <p:cNvSpPr>
            <a:spLocks noChangeArrowheads="1"/>
          </p:cNvSpPr>
          <p:nvPr/>
        </p:nvSpPr>
        <p:spPr bwMode="auto">
          <a:xfrm>
            <a:off x="6645276" y="3429001"/>
            <a:ext cx="365125" cy="366713"/>
          </a:xfrm>
          <a:prstGeom prst="ellipse">
            <a:avLst/>
          </a:prstGeom>
          <a:solidFill>
            <a:schemeClr val="folHlink"/>
          </a:solidFill>
          <a:ln w="9525">
            <a:solidFill>
              <a:schemeClr val="tx1"/>
            </a:solidFill>
            <a:round/>
            <a:headEnd/>
            <a:tailEnd/>
          </a:ln>
        </p:spPr>
        <p:txBody>
          <a:bodyPr wrap="none" anchor="ctr">
            <a:prstTxWarp prst="textNoShape">
              <a:avLst/>
            </a:prstTxWarp>
          </a:bodyPr>
          <a:lstStyle/>
          <a:p>
            <a:endParaRPr lang="en-US"/>
          </a:p>
        </p:txBody>
      </p:sp>
      <p:sp>
        <p:nvSpPr>
          <p:cNvPr id="41009" name="AutoShape 49"/>
          <p:cNvSpPr>
            <a:spLocks noChangeArrowheads="1"/>
          </p:cNvSpPr>
          <p:nvPr/>
        </p:nvSpPr>
        <p:spPr bwMode="auto">
          <a:xfrm>
            <a:off x="6096001" y="4708526"/>
            <a:ext cx="428625" cy="334963"/>
          </a:xfrm>
          <a:prstGeom prst="triangle">
            <a:avLst>
              <a:gd name="adj" fmla="val 50000"/>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41010" name="Rectangle 50"/>
          <p:cNvSpPr>
            <a:spLocks noChangeArrowheads="1"/>
          </p:cNvSpPr>
          <p:nvPr/>
        </p:nvSpPr>
        <p:spPr bwMode="auto">
          <a:xfrm>
            <a:off x="6643689" y="4708526"/>
            <a:ext cx="346075" cy="347663"/>
          </a:xfrm>
          <a:prstGeom prst="rect">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41011" name="Oval 51"/>
          <p:cNvSpPr>
            <a:spLocks noChangeArrowheads="1"/>
          </p:cNvSpPr>
          <p:nvPr/>
        </p:nvSpPr>
        <p:spPr bwMode="auto">
          <a:xfrm>
            <a:off x="7192964" y="4708526"/>
            <a:ext cx="365125" cy="366713"/>
          </a:xfrm>
          <a:prstGeom prst="ellipse">
            <a:avLst/>
          </a:prstGeom>
          <a:solidFill>
            <a:schemeClr val="hlink"/>
          </a:solidFill>
          <a:ln w="9525">
            <a:solidFill>
              <a:schemeClr val="tx1"/>
            </a:solidFill>
            <a:round/>
            <a:headEnd/>
            <a:tailEnd/>
          </a:ln>
        </p:spPr>
        <p:txBody>
          <a:bodyPr wrap="none" anchor="ctr">
            <a:prstTxWarp prst="textNoShape">
              <a:avLst/>
            </a:prstTxWarp>
          </a:bodyPr>
          <a:lstStyle/>
          <a:p>
            <a:endParaRPr lang="en-US"/>
          </a:p>
        </p:txBody>
      </p:sp>
      <p:sp>
        <p:nvSpPr>
          <p:cNvPr id="41012" name="AutoShape 52"/>
          <p:cNvSpPr>
            <a:spLocks noChangeArrowheads="1"/>
          </p:cNvSpPr>
          <p:nvPr/>
        </p:nvSpPr>
        <p:spPr bwMode="auto">
          <a:xfrm>
            <a:off x="7740651" y="4706939"/>
            <a:ext cx="365125" cy="365125"/>
          </a:xfrm>
          <a:prstGeom prst="pentagon">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Tree>
    <p:extLst>
      <p:ext uri="{BB962C8B-B14F-4D97-AF65-F5344CB8AC3E}">
        <p14:creationId xmlns:p14="http://schemas.microsoft.com/office/powerpoint/2010/main" val="315327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974"/>
                                        </p:tgtEl>
                                        <p:attrNameLst>
                                          <p:attrName>style.visibility</p:attrName>
                                        </p:attrNameLst>
                                      </p:cBhvr>
                                      <p:to>
                                        <p:strVal val="visible"/>
                                      </p:to>
                                    </p:set>
                                    <p:animEffect transition="in" filter="fade">
                                      <p:cBhvr>
                                        <p:cTn id="7" dur="500"/>
                                        <p:tgtEl>
                                          <p:spTgt spid="409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002"/>
                                        </p:tgtEl>
                                        <p:attrNameLst>
                                          <p:attrName>style.visibility</p:attrName>
                                        </p:attrNameLst>
                                      </p:cBhvr>
                                      <p:to>
                                        <p:strVal val="visible"/>
                                      </p:to>
                                    </p:set>
                                    <p:animEffect transition="in" filter="fade">
                                      <p:cBhvr>
                                        <p:cTn id="10" dur="500"/>
                                        <p:tgtEl>
                                          <p:spTgt spid="4100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1003"/>
                                        </p:tgtEl>
                                        <p:attrNameLst>
                                          <p:attrName>style.visibility</p:attrName>
                                        </p:attrNameLst>
                                      </p:cBhvr>
                                      <p:to>
                                        <p:strVal val="visible"/>
                                      </p:to>
                                    </p:set>
                                    <p:animEffect transition="in" filter="fade">
                                      <p:cBhvr>
                                        <p:cTn id="13" dur="500"/>
                                        <p:tgtEl>
                                          <p:spTgt spid="4100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004"/>
                                        </p:tgtEl>
                                        <p:attrNameLst>
                                          <p:attrName>style.visibility</p:attrName>
                                        </p:attrNameLst>
                                      </p:cBhvr>
                                      <p:to>
                                        <p:strVal val="visible"/>
                                      </p:to>
                                    </p:set>
                                    <p:animEffect transition="in" filter="fade">
                                      <p:cBhvr>
                                        <p:cTn id="16" dur="500"/>
                                        <p:tgtEl>
                                          <p:spTgt spid="4100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1005"/>
                                        </p:tgtEl>
                                        <p:attrNameLst>
                                          <p:attrName>style.visibility</p:attrName>
                                        </p:attrNameLst>
                                      </p:cBhvr>
                                      <p:to>
                                        <p:strVal val="visible"/>
                                      </p:to>
                                    </p:set>
                                    <p:animEffect transition="in" filter="fade">
                                      <p:cBhvr>
                                        <p:cTn id="21" dur="500"/>
                                        <p:tgtEl>
                                          <p:spTgt spid="4100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007"/>
                                        </p:tgtEl>
                                        <p:attrNameLst>
                                          <p:attrName>style.visibility</p:attrName>
                                        </p:attrNameLst>
                                      </p:cBhvr>
                                      <p:to>
                                        <p:strVal val="visible"/>
                                      </p:to>
                                    </p:set>
                                    <p:animEffect transition="in" filter="fade">
                                      <p:cBhvr>
                                        <p:cTn id="24" dur="500"/>
                                        <p:tgtEl>
                                          <p:spTgt spid="4100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1008"/>
                                        </p:tgtEl>
                                        <p:attrNameLst>
                                          <p:attrName>style.visibility</p:attrName>
                                        </p:attrNameLst>
                                      </p:cBhvr>
                                      <p:to>
                                        <p:strVal val="visible"/>
                                      </p:to>
                                    </p:set>
                                    <p:animEffect transition="in" filter="fade">
                                      <p:cBhvr>
                                        <p:cTn id="27" dur="500"/>
                                        <p:tgtEl>
                                          <p:spTgt spid="4100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1006"/>
                                        </p:tgtEl>
                                        <p:attrNameLst>
                                          <p:attrName>style.visibility</p:attrName>
                                        </p:attrNameLst>
                                      </p:cBhvr>
                                      <p:to>
                                        <p:strVal val="visible"/>
                                      </p:to>
                                    </p:set>
                                    <p:animEffect transition="in" filter="fade">
                                      <p:cBhvr>
                                        <p:cTn id="32" dur="500"/>
                                        <p:tgtEl>
                                          <p:spTgt spid="410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009"/>
                                        </p:tgtEl>
                                        <p:attrNameLst>
                                          <p:attrName>style.visibility</p:attrName>
                                        </p:attrNameLst>
                                      </p:cBhvr>
                                      <p:to>
                                        <p:strVal val="visible"/>
                                      </p:to>
                                    </p:set>
                                    <p:animEffect transition="in" filter="fade">
                                      <p:cBhvr>
                                        <p:cTn id="35" dur="500"/>
                                        <p:tgtEl>
                                          <p:spTgt spid="4100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010"/>
                                        </p:tgtEl>
                                        <p:attrNameLst>
                                          <p:attrName>style.visibility</p:attrName>
                                        </p:attrNameLst>
                                      </p:cBhvr>
                                      <p:to>
                                        <p:strVal val="visible"/>
                                      </p:to>
                                    </p:set>
                                    <p:animEffect transition="in" filter="fade">
                                      <p:cBhvr>
                                        <p:cTn id="38" dur="500"/>
                                        <p:tgtEl>
                                          <p:spTgt spid="410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1011"/>
                                        </p:tgtEl>
                                        <p:attrNameLst>
                                          <p:attrName>style.visibility</p:attrName>
                                        </p:attrNameLst>
                                      </p:cBhvr>
                                      <p:to>
                                        <p:strVal val="visible"/>
                                      </p:to>
                                    </p:set>
                                    <p:animEffect transition="in" filter="fade">
                                      <p:cBhvr>
                                        <p:cTn id="41" dur="500"/>
                                        <p:tgtEl>
                                          <p:spTgt spid="410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1012"/>
                                        </p:tgtEl>
                                        <p:attrNameLst>
                                          <p:attrName>style.visibility</p:attrName>
                                        </p:attrNameLst>
                                      </p:cBhvr>
                                      <p:to>
                                        <p:strVal val="visible"/>
                                      </p:to>
                                    </p:set>
                                    <p:animEffect transition="in" filter="fade">
                                      <p:cBhvr>
                                        <p:cTn id="44" dur="500"/>
                                        <p:tgtEl>
                                          <p:spTgt spid="41012"/>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40998"/>
                                        </p:tgtEl>
                                        <p:attrNameLst>
                                          <p:attrName>style.visibility</p:attrName>
                                        </p:attrNameLst>
                                      </p:cBhvr>
                                      <p:to>
                                        <p:strVal val="visible"/>
                                      </p:to>
                                    </p:set>
                                    <p:animEffect transition="in" filter="fade">
                                      <p:cBhvr>
                                        <p:cTn id="48" dur="2000"/>
                                        <p:tgtEl>
                                          <p:spTgt spid="40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4" grpId="0"/>
      <p:bldP spid="41002" grpId="0" animBg="1"/>
      <p:bldP spid="41003" grpId="0" animBg="1"/>
      <p:bldP spid="41004" grpId="0" animBg="1"/>
      <p:bldP spid="41005" grpId="0"/>
      <p:bldP spid="41006" grpId="0"/>
      <p:bldP spid="41007" grpId="0" animBg="1"/>
      <p:bldP spid="41008" grpId="0" animBg="1"/>
      <p:bldP spid="41009" grpId="0" animBg="1"/>
      <p:bldP spid="41010" grpId="0" animBg="1"/>
      <p:bldP spid="41011" grpId="0" animBg="1"/>
      <p:bldP spid="410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Rectangle 2"/>
          <p:cNvSpPr>
            <a:spLocks noGrp="1" noChangeArrowheads="1"/>
          </p:cNvSpPr>
          <p:nvPr>
            <p:ph type="title"/>
          </p:nvPr>
        </p:nvSpPr>
        <p:spPr>
          <a:xfrm>
            <a:off x="2286000" y="228600"/>
            <a:ext cx="7772400" cy="1143000"/>
          </a:xfrm>
        </p:spPr>
        <p:txBody>
          <a:bodyPr/>
          <a:lstStyle/>
          <a:p>
            <a:pPr eaLnBrk="1" hangingPunct="1"/>
            <a:r>
              <a:rPr lang="en-US" sz="3600" b="1" dirty="0"/>
              <a:t>The Multiplication Principle</a:t>
            </a:r>
          </a:p>
        </p:txBody>
      </p:sp>
      <p:graphicFrame>
        <p:nvGraphicFramePr>
          <p:cNvPr id="21506" name="Object 2"/>
          <p:cNvGraphicFramePr>
            <a:graphicFrameLocks noChangeAspect="1"/>
          </p:cNvGraphicFramePr>
          <p:nvPr>
            <p:extLst>
              <p:ext uri="{D42A27DB-BD31-4B8C-83A1-F6EECF244321}">
                <p14:modId xmlns:p14="http://schemas.microsoft.com/office/powerpoint/2010/main" val="203496334"/>
              </p:ext>
            </p:extLst>
          </p:nvPr>
        </p:nvGraphicFramePr>
        <p:xfrm>
          <a:off x="2464118" y="1355725"/>
          <a:ext cx="7472362" cy="4643438"/>
        </p:xfrm>
        <a:graphic>
          <a:graphicData uri="http://schemas.openxmlformats.org/presentationml/2006/ole">
            <mc:AlternateContent xmlns:mc="http://schemas.openxmlformats.org/markup-compatibility/2006">
              <mc:Choice xmlns:v="urn:schemas-microsoft-com:vml" Requires="v">
                <p:oleObj spid="_x0000_s3127" name="Equation" r:id="rId3" imgW="4457700" imgH="2768600" progId="Equation.3">
                  <p:embed/>
                </p:oleObj>
              </mc:Choice>
              <mc:Fallback>
                <p:oleObj name="Equation" r:id="rId3" imgW="4457700" imgH="2768600" progId="Equation.3">
                  <p:embed/>
                  <p:pic>
                    <p:nvPicPr>
                      <p:cNvPr id="21506" name="Object 2"/>
                      <p:cNvPicPr>
                        <a:picLocks noChangeAspect="1" noChangeArrowheads="1"/>
                      </p:cNvPicPr>
                      <p:nvPr/>
                    </p:nvPicPr>
                    <p:blipFill>
                      <a:blip r:embed="rId4"/>
                      <a:srcRect/>
                      <a:stretch>
                        <a:fillRect/>
                      </a:stretch>
                    </p:blipFill>
                    <p:spPr bwMode="auto">
                      <a:xfrm>
                        <a:off x="2464118" y="1355725"/>
                        <a:ext cx="7472362" cy="464343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45007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2"/>
          <p:cNvSpPr>
            <a:spLocks noGrp="1" noChangeArrowheads="1"/>
          </p:cNvSpPr>
          <p:nvPr>
            <p:ph type="title"/>
          </p:nvPr>
        </p:nvSpPr>
        <p:spPr/>
        <p:txBody>
          <a:bodyPr/>
          <a:lstStyle/>
          <a:p>
            <a:pPr eaLnBrk="1" hangingPunct="1"/>
            <a:r>
              <a:rPr lang="en-US" sz="3200"/>
              <a:t>A Visualization of the Multiplication Principle</a:t>
            </a:r>
          </a:p>
        </p:txBody>
      </p:sp>
      <p:sp>
        <p:nvSpPr>
          <p:cNvPr id="22535" name="AutoShape 4"/>
          <p:cNvSpPr>
            <a:spLocks noChangeArrowheads="1"/>
          </p:cNvSpPr>
          <p:nvPr/>
        </p:nvSpPr>
        <p:spPr bwMode="auto">
          <a:xfrm>
            <a:off x="2439989" y="2698751"/>
            <a:ext cx="428625" cy="334963"/>
          </a:xfrm>
          <a:prstGeom prst="triangle">
            <a:avLst>
              <a:gd name="adj" fmla="val 50000"/>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22536" name="Rectangle 6"/>
          <p:cNvSpPr>
            <a:spLocks noChangeArrowheads="1"/>
          </p:cNvSpPr>
          <p:nvPr/>
        </p:nvSpPr>
        <p:spPr bwMode="auto">
          <a:xfrm>
            <a:off x="2987676" y="2698751"/>
            <a:ext cx="346075" cy="347663"/>
          </a:xfrm>
          <a:prstGeom prst="rect">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22537" name="Oval 7"/>
          <p:cNvSpPr>
            <a:spLocks noChangeArrowheads="1"/>
          </p:cNvSpPr>
          <p:nvPr/>
        </p:nvSpPr>
        <p:spPr bwMode="auto">
          <a:xfrm>
            <a:off x="3536951" y="2698751"/>
            <a:ext cx="365125" cy="366713"/>
          </a:xfrm>
          <a:prstGeom prst="ellipse">
            <a:avLst/>
          </a:prstGeom>
          <a:solidFill>
            <a:srgbClr val="FD330B"/>
          </a:solidFill>
          <a:ln w="9525">
            <a:solidFill>
              <a:schemeClr val="tx1"/>
            </a:solidFill>
            <a:round/>
            <a:headEnd/>
            <a:tailEnd/>
          </a:ln>
        </p:spPr>
        <p:txBody>
          <a:bodyPr wrap="none" anchor="ctr">
            <a:prstTxWarp prst="textNoShape">
              <a:avLst/>
            </a:prstTxWarp>
          </a:bodyPr>
          <a:lstStyle/>
          <a:p>
            <a:endParaRPr lang="en-US"/>
          </a:p>
        </p:txBody>
      </p:sp>
      <p:sp>
        <p:nvSpPr>
          <p:cNvPr id="22538" name="AutoShape 8"/>
          <p:cNvSpPr>
            <a:spLocks noChangeArrowheads="1"/>
          </p:cNvSpPr>
          <p:nvPr/>
        </p:nvSpPr>
        <p:spPr bwMode="auto">
          <a:xfrm>
            <a:off x="2439989" y="3795713"/>
            <a:ext cx="428625" cy="334962"/>
          </a:xfrm>
          <a:prstGeom prst="triangle">
            <a:avLst>
              <a:gd name="adj" fmla="val 50000"/>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22539" name="AutoShape 9"/>
          <p:cNvSpPr>
            <a:spLocks noChangeArrowheads="1"/>
          </p:cNvSpPr>
          <p:nvPr/>
        </p:nvSpPr>
        <p:spPr bwMode="auto">
          <a:xfrm>
            <a:off x="2439989" y="3246438"/>
            <a:ext cx="428625" cy="334962"/>
          </a:xfrm>
          <a:prstGeom prst="triangle">
            <a:avLst>
              <a:gd name="adj" fmla="val 50000"/>
            </a:avLst>
          </a:prstGeom>
          <a:solidFill>
            <a:schemeClr val="folHlink"/>
          </a:solidFill>
          <a:ln w="9525">
            <a:solidFill>
              <a:schemeClr val="tx1"/>
            </a:solidFill>
            <a:miter lim="800000"/>
            <a:headEnd/>
            <a:tailEnd/>
          </a:ln>
        </p:spPr>
        <p:txBody>
          <a:bodyPr wrap="none" anchor="ctr">
            <a:prstTxWarp prst="textNoShape">
              <a:avLst/>
            </a:prstTxWarp>
          </a:bodyPr>
          <a:lstStyle/>
          <a:p>
            <a:endParaRPr lang="en-US"/>
          </a:p>
        </p:txBody>
      </p:sp>
      <p:sp>
        <p:nvSpPr>
          <p:cNvPr id="22540" name="Rectangle 10"/>
          <p:cNvSpPr>
            <a:spLocks noChangeArrowheads="1"/>
          </p:cNvSpPr>
          <p:nvPr/>
        </p:nvSpPr>
        <p:spPr bwMode="auto">
          <a:xfrm>
            <a:off x="2987676" y="3795713"/>
            <a:ext cx="346075" cy="347662"/>
          </a:xfrm>
          <a:prstGeom prst="rect">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22541" name="Rectangle 11"/>
          <p:cNvSpPr>
            <a:spLocks noChangeArrowheads="1"/>
          </p:cNvSpPr>
          <p:nvPr/>
        </p:nvSpPr>
        <p:spPr bwMode="auto">
          <a:xfrm>
            <a:off x="2987676" y="3246438"/>
            <a:ext cx="346075" cy="347662"/>
          </a:xfrm>
          <a:prstGeom prst="rect">
            <a:avLst/>
          </a:prstGeom>
          <a:solidFill>
            <a:schemeClr val="folHlink"/>
          </a:solidFill>
          <a:ln w="9525">
            <a:solidFill>
              <a:schemeClr val="tx1"/>
            </a:solidFill>
            <a:miter lim="800000"/>
            <a:headEnd/>
            <a:tailEnd/>
          </a:ln>
        </p:spPr>
        <p:txBody>
          <a:bodyPr wrap="none" anchor="ctr">
            <a:prstTxWarp prst="textNoShape">
              <a:avLst/>
            </a:prstTxWarp>
          </a:bodyPr>
          <a:lstStyle/>
          <a:p>
            <a:endParaRPr lang="en-US"/>
          </a:p>
        </p:txBody>
      </p:sp>
      <p:sp>
        <p:nvSpPr>
          <p:cNvPr id="22542" name="Oval 12"/>
          <p:cNvSpPr>
            <a:spLocks noChangeArrowheads="1"/>
          </p:cNvSpPr>
          <p:nvPr/>
        </p:nvSpPr>
        <p:spPr bwMode="auto">
          <a:xfrm>
            <a:off x="3536951" y="3795713"/>
            <a:ext cx="365125" cy="366712"/>
          </a:xfrm>
          <a:prstGeom prst="ellipse">
            <a:avLst/>
          </a:prstGeom>
          <a:solidFill>
            <a:schemeClr val="hlink"/>
          </a:solidFill>
          <a:ln w="9525">
            <a:solidFill>
              <a:schemeClr val="tx1"/>
            </a:solidFill>
            <a:round/>
            <a:headEnd/>
            <a:tailEnd/>
          </a:ln>
        </p:spPr>
        <p:txBody>
          <a:bodyPr wrap="none" anchor="ctr">
            <a:prstTxWarp prst="textNoShape">
              <a:avLst/>
            </a:prstTxWarp>
          </a:bodyPr>
          <a:lstStyle/>
          <a:p>
            <a:endParaRPr lang="en-US"/>
          </a:p>
        </p:txBody>
      </p:sp>
      <p:sp>
        <p:nvSpPr>
          <p:cNvPr id="22543" name="Oval 13"/>
          <p:cNvSpPr>
            <a:spLocks noChangeArrowheads="1"/>
          </p:cNvSpPr>
          <p:nvPr/>
        </p:nvSpPr>
        <p:spPr bwMode="auto">
          <a:xfrm>
            <a:off x="3536951" y="3246438"/>
            <a:ext cx="365125" cy="366712"/>
          </a:xfrm>
          <a:prstGeom prst="ellipse">
            <a:avLst/>
          </a:prstGeom>
          <a:solidFill>
            <a:schemeClr val="folHlink"/>
          </a:solidFill>
          <a:ln w="9525">
            <a:solidFill>
              <a:schemeClr val="tx1"/>
            </a:solidFill>
            <a:round/>
            <a:headEnd/>
            <a:tailEnd/>
          </a:ln>
        </p:spPr>
        <p:txBody>
          <a:bodyPr wrap="none" anchor="ctr">
            <a:prstTxWarp prst="textNoShape">
              <a:avLst/>
            </a:prstTxWarp>
          </a:bodyPr>
          <a:lstStyle/>
          <a:p>
            <a:endParaRPr lang="en-US"/>
          </a:p>
        </p:txBody>
      </p:sp>
      <p:sp>
        <p:nvSpPr>
          <p:cNvPr id="22544" name="Text Box 14"/>
          <p:cNvSpPr txBox="1">
            <a:spLocks noChangeArrowheads="1"/>
          </p:cNvSpPr>
          <p:nvPr/>
        </p:nvSpPr>
        <p:spPr bwMode="auto">
          <a:xfrm>
            <a:off x="1889126" y="1417639"/>
            <a:ext cx="3012043" cy="646331"/>
          </a:xfrm>
          <a:prstGeom prst="rect">
            <a:avLst/>
          </a:prstGeom>
          <a:noFill/>
          <a:ln w="9525">
            <a:noFill/>
            <a:miter lim="800000"/>
            <a:headEnd/>
            <a:tailEnd/>
          </a:ln>
        </p:spPr>
        <p:txBody>
          <a:bodyPr wrap="none">
            <a:prstTxWarp prst="textNoShape">
              <a:avLst/>
            </a:prstTxWarp>
            <a:spAutoFit/>
          </a:bodyPr>
          <a:lstStyle/>
          <a:p>
            <a:r>
              <a:rPr lang="en-US">
                <a:ea typeface="Arial" pitchFamily="4" charset="0"/>
                <a:cs typeface="Arial" pitchFamily="4" charset="0"/>
              </a:rPr>
              <a:t>How many ways are there to</a:t>
            </a:r>
          </a:p>
          <a:p>
            <a:r>
              <a:rPr lang="en-US">
                <a:ea typeface="Arial" pitchFamily="4" charset="0"/>
                <a:cs typeface="Arial" pitchFamily="4" charset="0"/>
              </a:rPr>
              <a:t>choose 1 shape of each color?</a:t>
            </a:r>
          </a:p>
        </p:txBody>
      </p:sp>
      <p:sp>
        <p:nvSpPr>
          <p:cNvPr id="22545" name="Line 15"/>
          <p:cNvSpPr>
            <a:spLocks noChangeShapeType="1"/>
          </p:cNvSpPr>
          <p:nvPr/>
        </p:nvSpPr>
        <p:spPr bwMode="auto">
          <a:xfrm>
            <a:off x="5913439" y="5440363"/>
            <a:ext cx="731837"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8930" name="Text Box 18"/>
          <p:cNvSpPr txBox="1">
            <a:spLocks noChangeArrowheads="1"/>
          </p:cNvSpPr>
          <p:nvPr/>
        </p:nvSpPr>
        <p:spPr bwMode="auto">
          <a:xfrm>
            <a:off x="5913438" y="1416050"/>
            <a:ext cx="1212320" cy="923330"/>
          </a:xfrm>
          <a:prstGeom prst="rect">
            <a:avLst/>
          </a:prstGeom>
          <a:noFill/>
          <a:ln w="9525">
            <a:noFill/>
            <a:miter lim="800000"/>
            <a:headEnd/>
            <a:tailEnd/>
          </a:ln>
        </p:spPr>
        <p:txBody>
          <a:bodyPr wrap="none">
            <a:prstTxWarp prst="textNoShape">
              <a:avLst/>
            </a:prstTxWarp>
            <a:spAutoFit/>
          </a:bodyPr>
          <a:lstStyle/>
          <a:p>
            <a:r>
              <a:rPr lang="en-US" b="1">
                <a:ea typeface="Arial" pitchFamily="4" charset="0"/>
                <a:cs typeface="Arial" pitchFamily="4" charset="0"/>
              </a:rPr>
              <a:t>First stage</a:t>
            </a:r>
            <a:r>
              <a:rPr lang="en-US">
                <a:ea typeface="Arial" pitchFamily="4" charset="0"/>
                <a:cs typeface="Arial" pitchFamily="4" charset="0"/>
              </a:rPr>
              <a:t>:</a:t>
            </a:r>
          </a:p>
          <a:p>
            <a:r>
              <a:rPr lang="en-US">
                <a:ea typeface="Arial" pitchFamily="4" charset="0"/>
                <a:cs typeface="Arial" pitchFamily="4" charset="0"/>
              </a:rPr>
              <a:t>3 possible</a:t>
            </a:r>
          </a:p>
          <a:p>
            <a:r>
              <a:rPr lang="en-US">
                <a:ea typeface="Arial" pitchFamily="4" charset="0"/>
                <a:cs typeface="Arial" pitchFamily="4" charset="0"/>
              </a:rPr>
              <a:t>outcomes</a:t>
            </a:r>
          </a:p>
        </p:txBody>
      </p:sp>
      <p:sp>
        <p:nvSpPr>
          <p:cNvPr id="38931" name="Text Box 19"/>
          <p:cNvSpPr txBox="1">
            <a:spLocks noChangeArrowheads="1"/>
          </p:cNvSpPr>
          <p:nvPr/>
        </p:nvSpPr>
        <p:spPr bwMode="auto">
          <a:xfrm>
            <a:off x="9021764" y="1416050"/>
            <a:ext cx="1298241" cy="923330"/>
          </a:xfrm>
          <a:prstGeom prst="rect">
            <a:avLst/>
          </a:prstGeom>
          <a:noFill/>
          <a:ln w="9525">
            <a:noFill/>
            <a:miter lim="800000"/>
            <a:headEnd/>
            <a:tailEnd/>
          </a:ln>
        </p:spPr>
        <p:txBody>
          <a:bodyPr wrap="none">
            <a:prstTxWarp prst="textNoShape">
              <a:avLst/>
            </a:prstTxWarp>
            <a:spAutoFit/>
          </a:bodyPr>
          <a:lstStyle/>
          <a:p>
            <a:r>
              <a:rPr lang="en-US" b="1">
                <a:ea typeface="Arial" pitchFamily="4" charset="0"/>
                <a:cs typeface="Arial" pitchFamily="4" charset="0"/>
              </a:rPr>
              <a:t>Third stage</a:t>
            </a:r>
            <a:r>
              <a:rPr lang="en-US">
                <a:ea typeface="Arial" pitchFamily="4" charset="0"/>
                <a:cs typeface="Arial" pitchFamily="4" charset="0"/>
              </a:rPr>
              <a:t>:</a:t>
            </a:r>
          </a:p>
          <a:p>
            <a:r>
              <a:rPr lang="en-US">
                <a:ea typeface="Arial" pitchFamily="4" charset="0"/>
                <a:cs typeface="Arial" pitchFamily="4" charset="0"/>
              </a:rPr>
              <a:t>3 possible</a:t>
            </a:r>
          </a:p>
          <a:p>
            <a:r>
              <a:rPr lang="en-US">
                <a:ea typeface="Arial" pitchFamily="4" charset="0"/>
                <a:cs typeface="Arial" pitchFamily="4" charset="0"/>
              </a:rPr>
              <a:t>outcomes</a:t>
            </a:r>
          </a:p>
        </p:txBody>
      </p:sp>
      <p:sp>
        <p:nvSpPr>
          <p:cNvPr id="38932" name="Text Box 20"/>
          <p:cNvSpPr txBox="1">
            <a:spLocks noChangeArrowheads="1"/>
          </p:cNvSpPr>
          <p:nvPr/>
        </p:nvSpPr>
        <p:spPr bwMode="auto">
          <a:xfrm>
            <a:off x="7375525" y="1417639"/>
            <a:ext cx="1498600" cy="915987"/>
          </a:xfrm>
          <a:prstGeom prst="rect">
            <a:avLst/>
          </a:prstGeom>
          <a:noFill/>
          <a:ln w="9525">
            <a:noFill/>
            <a:miter lim="800000"/>
            <a:headEnd/>
            <a:tailEnd/>
          </a:ln>
        </p:spPr>
        <p:txBody>
          <a:bodyPr wrap="none">
            <a:prstTxWarp prst="textNoShape">
              <a:avLst/>
            </a:prstTxWarp>
            <a:spAutoFit/>
          </a:bodyPr>
          <a:lstStyle/>
          <a:p>
            <a:r>
              <a:rPr lang="en-US" b="1">
                <a:ea typeface="Arial" pitchFamily="4" charset="0"/>
                <a:cs typeface="Arial" pitchFamily="4" charset="0"/>
              </a:rPr>
              <a:t>Second stage</a:t>
            </a:r>
            <a:r>
              <a:rPr lang="en-US">
                <a:ea typeface="Arial" pitchFamily="4" charset="0"/>
                <a:cs typeface="Arial" pitchFamily="4" charset="0"/>
              </a:rPr>
              <a:t>:</a:t>
            </a:r>
          </a:p>
          <a:p>
            <a:r>
              <a:rPr lang="en-US">
                <a:ea typeface="Arial" pitchFamily="4" charset="0"/>
                <a:cs typeface="Arial" pitchFamily="4" charset="0"/>
              </a:rPr>
              <a:t>3 possible</a:t>
            </a:r>
          </a:p>
          <a:p>
            <a:r>
              <a:rPr lang="en-US">
                <a:ea typeface="Arial" pitchFamily="4" charset="0"/>
                <a:cs typeface="Arial" pitchFamily="4" charset="0"/>
              </a:rPr>
              <a:t>outcomes</a:t>
            </a:r>
          </a:p>
        </p:txBody>
      </p:sp>
      <p:sp>
        <p:nvSpPr>
          <p:cNvPr id="38933" name="AutoShape 21"/>
          <p:cNvSpPr>
            <a:spLocks noChangeArrowheads="1"/>
          </p:cNvSpPr>
          <p:nvPr/>
        </p:nvSpPr>
        <p:spPr bwMode="auto">
          <a:xfrm>
            <a:off x="6096001" y="2514601"/>
            <a:ext cx="214313" cy="180975"/>
          </a:xfrm>
          <a:prstGeom prst="triangle">
            <a:avLst>
              <a:gd name="adj" fmla="val 50000"/>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38934" name="Rectangle 22"/>
          <p:cNvSpPr>
            <a:spLocks noChangeArrowheads="1"/>
          </p:cNvSpPr>
          <p:nvPr/>
        </p:nvSpPr>
        <p:spPr bwMode="auto">
          <a:xfrm>
            <a:off x="6461126" y="2514601"/>
            <a:ext cx="180975" cy="180975"/>
          </a:xfrm>
          <a:prstGeom prst="rect">
            <a:avLst/>
          </a:prstGeom>
          <a:solidFill>
            <a:srgbClr val="FD330B"/>
          </a:solidFill>
          <a:ln w="9525">
            <a:solidFill>
              <a:schemeClr val="tx1"/>
            </a:solidFill>
            <a:miter lim="800000"/>
            <a:headEnd/>
            <a:tailEnd/>
          </a:ln>
        </p:spPr>
        <p:txBody>
          <a:bodyPr wrap="none" anchor="ctr">
            <a:prstTxWarp prst="textNoShape">
              <a:avLst/>
            </a:prstTxWarp>
          </a:bodyPr>
          <a:lstStyle/>
          <a:p>
            <a:endParaRPr lang="en-US"/>
          </a:p>
        </p:txBody>
      </p:sp>
      <p:sp>
        <p:nvSpPr>
          <p:cNvPr id="38935" name="Oval 23"/>
          <p:cNvSpPr>
            <a:spLocks noChangeArrowheads="1"/>
          </p:cNvSpPr>
          <p:nvPr/>
        </p:nvSpPr>
        <p:spPr bwMode="auto">
          <a:xfrm>
            <a:off x="6827838" y="2514601"/>
            <a:ext cx="182562" cy="182563"/>
          </a:xfrm>
          <a:prstGeom prst="ellipse">
            <a:avLst/>
          </a:prstGeom>
          <a:solidFill>
            <a:srgbClr val="FD330B"/>
          </a:solidFill>
          <a:ln w="9525">
            <a:solidFill>
              <a:schemeClr val="tx1"/>
            </a:solidFill>
            <a:round/>
            <a:headEnd/>
            <a:tailEnd/>
          </a:ln>
        </p:spPr>
        <p:txBody>
          <a:bodyPr wrap="none" anchor="ctr">
            <a:prstTxWarp prst="textNoShape">
              <a:avLst/>
            </a:prstTxWarp>
          </a:bodyPr>
          <a:lstStyle/>
          <a:p>
            <a:endParaRPr lang="en-US"/>
          </a:p>
        </p:txBody>
      </p:sp>
      <p:sp>
        <p:nvSpPr>
          <p:cNvPr id="38937" name="AutoShape 25"/>
          <p:cNvSpPr>
            <a:spLocks noChangeArrowheads="1"/>
          </p:cNvSpPr>
          <p:nvPr/>
        </p:nvSpPr>
        <p:spPr bwMode="auto">
          <a:xfrm>
            <a:off x="7559676" y="2879726"/>
            <a:ext cx="214313" cy="180975"/>
          </a:xfrm>
          <a:prstGeom prst="triangle">
            <a:avLst>
              <a:gd name="adj" fmla="val 50000"/>
            </a:avLst>
          </a:prstGeom>
          <a:solidFill>
            <a:schemeClr val="folHlink"/>
          </a:solidFill>
          <a:ln w="9525">
            <a:solidFill>
              <a:schemeClr val="tx1"/>
            </a:solidFill>
            <a:miter lim="800000"/>
            <a:headEnd/>
            <a:tailEnd/>
          </a:ln>
        </p:spPr>
        <p:txBody>
          <a:bodyPr wrap="none" anchor="ctr">
            <a:prstTxWarp prst="textNoShape">
              <a:avLst/>
            </a:prstTxWarp>
          </a:bodyPr>
          <a:lstStyle/>
          <a:p>
            <a:endParaRPr lang="en-US"/>
          </a:p>
        </p:txBody>
      </p:sp>
      <p:sp>
        <p:nvSpPr>
          <p:cNvPr id="38939" name="Rectangle 27"/>
          <p:cNvSpPr>
            <a:spLocks noChangeArrowheads="1"/>
          </p:cNvSpPr>
          <p:nvPr/>
        </p:nvSpPr>
        <p:spPr bwMode="auto">
          <a:xfrm>
            <a:off x="7924801" y="2879726"/>
            <a:ext cx="180975" cy="180975"/>
          </a:xfrm>
          <a:prstGeom prst="rect">
            <a:avLst/>
          </a:prstGeom>
          <a:solidFill>
            <a:schemeClr val="folHlink"/>
          </a:solidFill>
          <a:ln w="9525">
            <a:solidFill>
              <a:schemeClr val="tx1"/>
            </a:solidFill>
            <a:miter lim="800000"/>
            <a:headEnd/>
            <a:tailEnd/>
          </a:ln>
        </p:spPr>
        <p:txBody>
          <a:bodyPr wrap="none" anchor="ctr">
            <a:prstTxWarp prst="textNoShape">
              <a:avLst/>
            </a:prstTxWarp>
          </a:bodyPr>
          <a:lstStyle/>
          <a:p>
            <a:endParaRPr lang="en-US"/>
          </a:p>
        </p:txBody>
      </p:sp>
      <p:sp>
        <p:nvSpPr>
          <p:cNvPr id="38941" name="Oval 29"/>
          <p:cNvSpPr>
            <a:spLocks noChangeArrowheads="1"/>
          </p:cNvSpPr>
          <p:nvPr/>
        </p:nvSpPr>
        <p:spPr bwMode="auto">
          <a:xfrm>
            <a:off x="8291513" y="2879726"/>
            <a:ext cx="182562" cy="182563"/>
          </a:xfrm>
          <a:prstGeom prst="ellipse">
            <a:avLst/>
          </a:prstGeom>
          <a:solidFill>
            <a:schemeClr val="folHlink"/>
          </a:solidFill>
          <a:ln w="9525">
            <a:solidFill>
              <a:schemeClr val="tx1"/>
            </a:solidFill>
            <a:round/>
            <a:headEnd/>
            <a:tailEnd/>
          </a:ln>
        </p:spPr>
        <p:txBody>
          <a:bodyPr wrap="none" anchor="ctr">
            <a:prstTxWarp prst="textNoShape">
              <a:avLst/>
            </a:prstTxWarp>
          </a:bodyPr>
          <a:lstStyle/>
          <a:p>
            <a:endParaRPr lang="en-US"/>
          </a:p>
        </p:txBody>
      </p:sp>
      <p:sp>
        <p:nvSpPr>
          <p:cNvPr id="38963" name="AutoShape 51"/>
          <p:cNvSpPr>
            <a:spLocks noChangeArrowheads="1"/>
          </p:cNvSpPr>
          <p:nvPr/>
        </p:nvSpPr>
        <p:spPr bwMode="auto">
          <a:xfrm>
            <a:off x="9021763" y="3244851"/>
            <a:ext cx="214312" cy="180975"/>
          </a:xfrm>
          <a:prstGeom prst="triangle">
            <a:avLst>
              <a:gd name="adj" fmla="val 50000"/>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38965" name="Rectangle 53"/>
          <p:cNvSpPr>
            <a:spLocks noChangeArrowheads="1"/>
          </p:cNvSpPr>
          <p:nvPr/>
        </p:nvSpPr>
        <p:spPr bwMode="auto">
          <a:xfrm>
            <a:off x="9388476" y="3244851"/>
            <a:ext cx="180975" cy="180975"/>
          </a:xfrm>
          <a:prstGeom prst="rect">
            <a:avLst/>
          </a:prstGeom>
          <a:solidFill>
            <a:schemeClr val="hlink"/>
          </a:solidFill>
          <a:ln w="9525">
            <a:solidFill>
              <a:schemeClr val="tx1"/>
            </a:solidFill>
            <a:miter lim="800000"/>
            <a:headEnd/>
            <a:tailEnd/>
          </a:ln>
        </p:spPr>
        <p:txBody>
          <a:bodyPr wrap="none" anchor="ctr">
            <a:prstTxWarp prst="textNoShape">
              <a:avLst/>
            </a:prstTxWarp>
          </a:bodyPr>
          <a:lstStyle/>
          <a:p>
            <a:endParaRPr lang="en-US"/>
          </a:p>
        </p:txBody>
      </p:sp>
      <p:sp>
        <p:nvSpPr>
          <p:cNvPr id="38967" name="Oval 55"/>
          <p:cNvSpPr>
            <a:spLocks noChangeArrowheads="1"/>
          </p:cNvSpPr>
          <p:nvPr/>
        </p:nvSpPr>
        <p:spPr bwMode="auto">
          <a:xfrm>
            <a:off x="9753601" y="3244851"/>
            <a:ext cx="182563" cy="182563"/>
          </a:xfrm>
          <a:prstGeom prst="ellipse">
            <a:avLst/>
          </a:prstGeom>
          <a:solidFill>
            <a:schemeClr val="hlink"/>
          </a:solidFill>
          <a:ln w="9525">
            <a:solidFill>
              <a:schemeClr val="tx1"/>
            </a:solidFill>
            <a:round/>
            <a:headEnd/>
            <a:tailEnd/>
          </a:ln>
        </p:spPr>
        <p:txBody>
          <a:bodyPr wrap="none" anchor="ctr">
            <a:prstTxWarp prst="textNoShape">
              <a:avLst/>
            </a:prstTxWarp>
          </a:bodyPr>
          <a:lstStyle/>
          <a:p>
            <a:endParaRPr lang="en-US"/>
          </a:p>
        </p:txBody>
      </p:sp>
      <p:sp>
        <p:nvSpPr>
          <p:cNvPr id="38969" name="Rectangle 57"/>
          <p:cNvSpPr>
            <a:spLocks noChangeArrowheads="1"/>
          </p:cNvSpPr>
          <p:nvPr/>
        </p:nvSpPr>
        <p:spPr bwMode="auto">
          <a:xfrm>
            <a:off x="7742239" y="4892676"/>
            <a:ext cx="346075" cy="347663"/>
          </a:xfrm>
          <a:prstGeom prst="rect">
            <a:avLst/>
          </a:prstGeom>
          <a:solidFill>
            <a:schemeClr val="folHlink"/>
          </a:solidFill>
          <a:ln w="9525">
            <a:solidFill>
              <a:schemeClr val="tx1"/>
            </a:solidFill>
            <a:miter lim="800000"/>
            <a:headEnd/>
            <a:tailEnd/>
          </a:ln>
        </p:spPr>
        <p:txBody>
          <a:bodyPr wrap="none" anchor="ctr">
            <a:prstTxWarp prst="textNoShape">
              <a:avLst/>
            </a:prstTxWarp>
          </a:bodyPr>
          <a:lstStyle/>
          <a:p>
            <a:endParaRPr lang="en-US"/>
          </a:p>
        </p:txBody>
      </p:sp>
      <p:sp>
        <p:nvSpPr>
          <p:cNvPr id="38970" name="Oval 58"/>
          <p:cNvSpPr>
            <a:spLocks noChangeArrowheads="1"/>
          </p:cNvSpPr>
          <p:nvPr/>
        </p:nvSpPr>
        <p:spPr bwMode="auto">
          <a:xfrm>
            <a:off x="6096001" y="4892676"/>
            <a:ext cx="365125" cy="366713"/>
          </a:xfrm>
          <a:prstGeom prst="ellipse">
            <a:avLst/>
          </a:prstGeom>
          <a:solidFill>
            <a:srgbClr val="FD330B"/>
          </a:solidFill>
          <a:ln w="9525">
            <a:solidFill>
              <a:schemeClr val="tx1"/>
            </a:solidFill>
            <a:round/>
            <a:headEnd/>
            <a:tailEnd/>
          </a:ln>
        </p:spPr>
        <p:txBody>
          <a:bodyPr wrap="none" anchor="ctr">
            <a:prstTxWarp prst="textNoShape">
              <a:avLst/>
            </a:prstTxWarp>
          </a:bodyPr>
          <a:lstStyle/>
          <a:p>
            <a:endParaRPr lang="en-US"/>
          </a:p>
        </p:txBody>
      </p:sp>
      <p:sp>
        <p:nvSpPr>
          <p:cNvPr id="38971" name="Oval 59"/>
          <p:cNvSpPr>
            <a:spLocks noChangeArrowheads="1"/>
          </p:cNvSpPr>
          <p:nvPr/>
        </p:nvSpPr>
        <p:spPr bwMode="auto">
          <a:xfrm>
            <a:off x="9388476" y="4892676"/>
            <a:ext cx="365125" cy="366713"/>
          </a:xfrm>
          <a:prstGeom prst="ellipse">
            <a:avLst/>
          </a:prstGeom>
          <a:solidFill>
            <a:schemeClr val="hlink"/>
          </a:solidFill>
          <a:ln w="9525">
            <a:solidFill>
              <a:schemeClr val="tx1"/>
            </a:solidFill>
            <a:round/>
            <a:headEnd/>
            <a:tailEnd/>
          </a:ln>
        </p:spPr>
        <p:txBody>
          <a:bodyPr wrap="none" anchor="ctr">
            <a:prstTxWarp prst="textNoShape">
              <a:avLst/>
            </a:prstTxWarp>
          </a:bodyPr>
          <a:lstStyle/>
          <a:p>
            <a:endParaRPr lang="en-US"/>
          </a:p>
        </p:txBody>
      </p:sp>
      <p:graphicFrame>
        <p:nvGraphicFramePr>
          <p:cNvPr id="38975" name="Object 2"/>
          <p:cNvGraphicFramePr>
            <a:graphicFrameLocks noGrp="1" noChangeAspect="1"/>
          </p:cNvGraphicFramePr>
          <p:nvPr>
            <p:ph idx="1"/>
          </p:nvPr>
        </p:nvGraphicFramePr>
        <p:xfrm>
          <a:off x="6861175" y="3794125"/>
          <a:ext cx="2249488" cy="508000"/>
        </p:xfrm>
        <a:graphic>
          <a:graphicData uri="http://schemas.openxmlformats.org/presentationml/2006/ole">
            <mc:AlternateContent xmlns:mc="http://schemas.openxmlformats.org/markup-compatibility/2006">
              <mc:Choice xmlns:v="urn:schemas-microsoft-com:vml" Requires="v">
                <p:oleObj spid="_x0000_s4151" name="Equation" r:id="rId3" imgW="787320" imgH="177480" progId="Equation.3">
                  <p:embed/>
                </p:oleObj>
              </mc:Choice>
              <mc:Fallback>
                <p:oleObj name="Equation" r:id="rId3" imgW="787320" imgH="177480" progId="Equation.3">
                  <p:embed/>
                  <p:pic>
                    <p:nvPicPr>
                      <p:cNvPr id="3897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1175" y="3794125"/>
                        <a:ext cx="2249488" cy="508000"/>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
        <p:nvSpPr>
          <p:cNvPr id="22561" name="Line 65"/>
          <p:cNvSpPr>
            <a:spLocks noChangeShapeType="1"/>
          </p:cNvSpPr>
          <p:nvPr/>
        </p:nvSpPr>
        <p:spPr bwMode="auto">
          <a:xfrm>
            <a:off x="7559675" y="5440363"/>
            <a:ext cx="73183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22562" name="Line 66"/>
          <p:cNvSpPr>
            <a:spLocks noChangeShapeType="1"/>
          </p:cNvSpPr>
          <p:nvPr/>
        </p:nvSpPr>
        <p:spPr bwMode="auto">
          <a:xfrm>
            <a:off x="9204325" y="5440363"/>
            <a:ext cx="731838" cy="0"/>
          </a:xfrm>
          <a:prstGeom prst="line">
            <a:avLst/>
          </a:prstGeom>
          <a:noFill/>
          <a:ln w="9525">
            <a:solidFill>
              <a:schemeClr val="tx1"/>
            </a:solidFill>
            <a:round/>
            <a:headEnd/>
            <a:tailEnd/>
          </a:ln>
        </p:spPr>
        <p:txBody>
          <a:bodyPr>
            <a:prstTxWarp prst="textNoShape">
              <a:avLst/>
            </a:prstTxWarp>
          </a:bodyPr>
          <a:lstStyle/>
          <a:p>
            <a:endParaRPr lang="en-US"/>
          </a:p>
        </p:txBody>
      </p:sp>
    </p:spTree>
    <p:extLst>
      <p:ext uri="{BB962C8B-B14F-4D97-AF65-F5344CB8AC3E}">
        <p14:creationId xmlns:p14="http://schemas.microsoft.com/office/powerpoint/2010/main" val="108318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30">
                                            <p:txEl>
                                              <p:pRg st="1" end="1"/>
                                            </p:txEl>
                                          </p:spTgt>
                                        </p:tgtEl>
                                        <p:attrNameLst>
                                          <p:attrName>style.visibility</p:attrName>
                                        </p:attrNameLst>
                                      </p:cBhvr>
                                      <p:to>
                                        <p:strVal val="visible"/>
                                      </p:to>
                                    </p:set>
                                    <p:animEffect transition="in" filter="fade">
                                      <p:cBhvr>
                                        <p:cTn id="7" dur="500"/>
                                        <p:tgtEl>
                                          <p:spTgt spid="38930">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930">
                                            <p:txEl>
                                              <p:pRg st="2" end="2"/>
                                            </p:txEl>
                                          </p:spTgt>
                                        </p:tgtEl>
                                        <p:attrNameLst>
                                          <p:attrName>style.visibility</p:attrName>
                                        </p:attrNameLst>
                                      </p:cBhvr>
                                      <p:to>
                                        <p:strVal val="visible"/>
                                      </p:to>
                                    </p:set>
                                    <p:animEffect transition="in" filter="fade">
                                      <p:cBhvr>
                                        <p:cTn id="10" dur="500"/>
                                        <p:tgtEl>
                                          <p:spTgt spid="38930">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933"/>
                                        </p:tgtEl>
                                        <p:attrNameLst>
                                          <p:attrName>style.visibility</p:attrName>
                                        </p:attrNameLst>
                                      </p:cBhvr>
                                      <p:to>
                                        <p:strVal val="visible"/>
                                      </p:to>
                                    </p:set>
                                    <p:animEffect transition="in" filter="fade">
                                      <p:cBhvr>
                                        <p:cTn id="13" dur="500"/>
                                        <p:tgtEl>
                                          <p:spTgt spid="389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8934"/>
                                        </p:tgtEl>
                                        <p:attrNameLst>
                                          <p:attrName>style.visibility</p:attrName>
                                        </p:attrNameLst>
                                      </p:cBhvr>
                                      <p:to>
                                        <p:strVal val="visible"/>
                                      </p:to>
                                    </p:set>
                                    <p:animEffect transition="in" filter="fade">
                                      <p:cBhvr>
                                        <p:cTn id="16" dur="500"/>
                                        <p:tgtEl>
                                          <p:spTgt spid="3893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8935"/>
                                        </p:tgtEl>
                                        <p:attrNameLst>
                                          <p:attrName>style.visibility</p:attrName>
                                        </p:attrNameLst>
                                      </p:cBhvr>
                                      <p:to>
                                        <p:strVal val="visible"/>
                                      </p:to>
                                    </p:set>
                                    <p:animEffect transition="in" filter="fade">
                                      <p:cBhvr>
                                        <p:cTn id="19" dur="500"/>
                                        <p:tgtEl>
                                          <p:spTgt spid="3893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8970"/>
                                        </p:tgtEl>
                                        <p:attrNameLst>
                                          <p:attrName>style.visibility</p:attrName>
                                        </p:attrNameLst>
                                      </p:cBhvr>
                                      <p:to>
                                        <p:strVal val="visible"/>
                                      </p:to>
                                    </p:set>
                                    <p:animEffect transition="in" filter="fade">
                                      <p:cBhvr>
                                        <p:cTn id="24" dur="500"/>
                                        <p:tgtEl>
                                          <p:spTgt spid="3897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8932">
                                            <p:txEl>
                                              <p:pRg st="1" end="1"/>
                                            </p:txEl>
                                          </p:spTgt>
                                        </p:tgtEl>
                                        <p:attrNameLst>
                                          <p:attrName>style.visibility</p:attrName>
                                        </p:attrNameLst>
                                      </p:cBhvr>
                                      <p:to>
                                        <p:strVal val="visible"/>
                                      </p:to>
                                    </p:set>
                                    <p:animEffect transition="in" filter="fade">
                                      <p:cBhvr>
                                        <p:cTn id="29" dur="500"/>
                                        <p:tgtEl>
                                          <p:spTgt spid="38932">
                                            <p:txEl>
                                              <p:p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8932">
                                            <p:txEl>
                                              <p:pRg st="2" end="2"/>
                                            </p:txEl>
                                          </p:spTgt>
                                        </p:tgtEl>
                                        <p:attrNameLst>
                                          <p:attrName>style.visibility</p:attrName>
                                        </p:attrNameLst>
                                      </p:cBhvr>
                                      <p:to>
                                        <p:strVal val="visible"/>
                                      </p:to>
                                    </p:set>
                                    <p:animEffect transition="in" filter="fade">
                                      <p:cBhvr>
                                        <p:cTn id="32" dur="500"/>
                                        <p:tgtEl>
                                          <p:spTgt spid="38932">
                                            <p:txEl>
                                              <p:pRg st="2" end="2"/>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8937"/>
                                        </p:tgtEl>
                                        <p:attrNameLst>
                                          <p:attrName>style.visibility</p:attrName>
                                        </p:attrNameLst>
                                      </p:cBhvr>
                                      <p:to>
                                        <p:strVal val="visible"/>
                                      </p:to>
                                    </p:set>
                                    <p:animEffect transition="in" filter="fade">
                                      <p:cBhvr>
                                        <p:cTn id="35" dur="500"/>
                                        <p:tgtEl>
                                          <p:spTgt spid="389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8939"/>
                                        </p:tgtEl>
                                        <p:attrNameLst>
                                          <p:attrName>style.visibility</p:attrName>
                                        </p:attrNameLst>
                                      </p:cBhvr>
                                      <p:to>
                                        <p:strVal val="visible"/>
                                      </p:to>
                                    </p:set>
                                    <p:animEffect transition="in" filter="fade">
                                      <p:cBhvr>
                                        <p:cTn id="38" dur="500"/>
                                        <p:tgtEl>
                                          <p:spTgt spid="3893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8941"/>
                                        </p:tgtEl>
                                        <p:attrNameLst>
                                          <p:attrName>style.visibility</p:attrName>
                                        </p:attrNameLst>
                                      </p:cBhvr>
                                      <p:to>
                                        <p:strVal val="visible"/>
                                      </p:to>
                                    </p:set>
                                    <p:animEffect transition="in" filter="fade">
                                      <p:cBhvr>
                                        <p:cTn id="41" dur="500"/>
                                        <p:tgtEl>
                                          <p:spTgt spid="3894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969"/>
                                        </p:tgtEl>
                                        <p:attrNameLst>
                                          <p:attrName>style.visibility</p:attrName>
                                        </p:attrNameLst>
                                      </p:cBhvr>
                                      <p:to>
                                        <p:strVal val="visible"/>
                                      </p:to>
                                    </p:set>
                                    <p:animEffect transition="in" filter="fade">
                                      <p:cBhvr>
                                        <p:cTn id="46" dur="500"/>
                                        <p:tgtEl>
                                          <p:spTgt spid="3896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8931">
                                            <p:txEl>
                                              <p:pRg st="1" end="1"/>
                                            </p:txEl>
                                          </p:spTgt>
                                        </p:tgtEl>
                                        <p:attrNameLst>
                                          <p:attrName>style.visibility</p:attrName>
                                        </p:attrNameLst>
                                      </p:cBhvr>
                                      <p:to>
                                        <p:strVal val="visible"/>
                                      </p:to>
                                    </p:set>
                                    <p:animEffect transition="in" filter="fade">
                                      <p:cBhvr>
                                        <p:cTn id="51" dur="500"/>
                                        <p:tgtEl>
                                          <p:spTgt spid="38931">
                                            <p:txEl>
                                              <p:pRg st="1" end="1"/>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8931">
                                            <p:txEl>
                                              <p:pRg st="2" end="2"/>
                                            </p:txEl>
                                          </p:spTgt>
                                        </p:tgtEl>
                                        <p:attrNameLst>
                                          <p:attrName>style.visibility</p:attrName>
                                        </p:attrNameLst>
                                      </p:cBhvr>
                                      <p:to>
                                        <p:strVal val="visible"/>
                                      </p:to>
                                    </p:set>
                                    <p:animEffect transition="in" filter="fade">
                                      <p:cBhvr>
                                        <p:cTn id="54" dur="500"/>
                                        <p:tgtEl>
                                          <p:spTgt spid="38931">
                                            <p:txEl>
                                              <p:pRg st="2" end="2"/>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963"/>
                                        </p:tgtEl>
                                        <p:attrNameLst>
                                          <p:attrName>style.visibility</p:attrName>
                                        </p:attrNameLst>
                                      </p:cBhvr>
                                      <p:to>
                                        <p:strVal val="visible"/>
                                      </p:to>
                                    </p:set>
                                    <p:animEffect transition="in" filter="fade">
                                      <p:cBhvr>
                                        <p:cTn id="57" dur="500"/>
                                        <p:tgtEl>
                                          <p:spTgt spid="3896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965"/>
                                        </p:tgtEl>
                                        <p:attrNameLst>
                                          <p:attrName>style.visibility</p:attrName>
                                        </p:attrNameLst>
                                      </p:cBhvr>
                                      <p:to>
                                        <p:strVal val="visible"/>
                                      </p:to>
                                    </p:set>
                                    <p:animEffect transition="in" filter="fade">
                                      <p:cBhvr>
                                        <p:cTn id="60" dur="500"/>
                                        <p:tgtEl>
                                          <p:spTgt spid="3896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967"/>
                                        </p:tgtEl>
                                        <p:attrNameLst>
                                          <p:attrName>style.visibility</p:attrName>
                                        </p:attrNameLst>
                                      </p:cBhvr>
                                      <p:to>
                                        <p:strVal val="visible"/>
                                      </p:to>
                                    </p:set>
                                    <p:animEffect transition="in" filter="fade">
                                      <p:cBhvr>
                                        <p:cTn id="63" dur="500"/>
                                        <p:tgtEl>
                                          <p:spTgt spid="3896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8971"/>
                                        </p:tgtEl>
                                        <p:attrNameLst>
                                          <p:attrName>style.visibility</p:attrName>
                                        </p:attrNameLst>
                                      </p:cBhvr>
                                      <p:to>
                                        <p:strVal val="visible"/>
                                      </p:to>
                                    </p:set>
                                    <p:animEffect transition="in" filter="fade">
                                      <p:cBhvr>
                                        <p:cTn id="68" dur="500"/>
                                        <p:tgtEl>
                                          <p:spTgt spid="38971"/>
                                        </p:tgtEl>
                                      </p:cBhvr>
                                    </p:animEffect>
                                  </p:childTnLst>
                                </p:cTn>
                              </p:par>
                            </p:childTnLst>
                          </p:cTn>
                        </p:par>
                        <p:par>
                          <p:cTn id="69" fill="hold">
                            <p:stCondLst>
                              <p:cond delay="500"/>
                            </p:stCondLst>
                            <p:childTnLst>
                              <p:par>
                                <p:cTn id="70" presetID="10" presetClass="entr" presetSubtype="0" fill="hold" nodeType="afterEffect">
                                  <p:stCondLst>
                                    <p:cond delay="0"/>
                                  </p:stCondLst>
                                  <p:childTnLst>
                                    <p:set>
                                      <p:cBhvr>
                                        <p:cTn id="71" dur="1" fill="hold">
                                          <p:stCondLst>
                                            <p:cond delay="0"/>
                                          </p:stCondLst>
                                        </p:cTn>
                                        <p:tgtEl>
                                          <p:spTgt spid="38975"/>
                                        </p:tgtEl>
                                        <p:attrNameLst>
                                          <p:attrName>style.visibility</p:attrName>
                                        </p:attrNameLst>
                                      </p:cBhvr>
                                      <p:to>
                                        <p:strVal val="visible"/>
                                      </p:to>
                                    </p:set>
                                    <p:animEffect transition="in" filter="fade">
                                      <p:cBhvr>
                                        <p:cTn id="72" dur="2000"/>
                                        <p:tgtEl>
                                          <p:spTgt spid="38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3" grpId="0" animBg="1"/>
      <p:bldP spid="38934" grpId="0" animBg="1"/>
      <p:bldP spid="38935" grpId="0" animBg="1"/>
      <p:bldP spid="38937" grpId="0" animBg="1"/>
      <p:bldP spid="38939" grpId="0" animBg="1"/>
      <p:bldP spid="38941" grpId="0" animBg="1"/>
      <p:bldP spid="38963" grpId="0" animBg="1"/>
      <p:bldP spid="38965" grpId="0" animBg="1"/>
      <p:bldP spid="38967" grpId="0" animBg="1"/>
      <p:bldP spid="38969" grpId="0" animBg="1"/>
      <p:bldP spid="38970" grpId="0" animBg="1"/>
      <p:bldP spid="3897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901F4-0E1F-B046-945D-4E237287F135}"/>
              </a:ext>
            </a:extLst>
          </p:cNvPr>
          <p:cNvSpPr>
            <a:spLocks noGrp="1"/>
          </p:cNvSpPr>
          <p:nvPr>
            <p:ph type="title"/>
          </p:nvPr>
        </p:nvSpPr>
        <p:spPr/>
        <p:txBody>
          <a:bodyPr/>
          <a:lstStyle/>
          <a:p>
            <a:r>
              <a:rPr lang="en-US" dirty="0"/>
              <a:t>The condition to use two principles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A308BF-398D-D642-BFC9-595321E3C89F}"/>
                  </a:ext>
                </a:extLst>
              </p:cNvPr>
              <p:cNvSpPr>
                <a:spLocks noGrp="1"/>
              </p:cNvSpPr>
              <p:nvPr>
                <p:ph idx="1"/>
              </p:nvPr>
            </p:nvSpPr>
            <p:spPr/>
            <p:txBody>
              <a:bodyPr/>
              <a:lstStyle/>
              <a:p>
                <a:r>
                  <a:rPr lang="en-US" dirty="0"/>
                  <a:t>Addition principle: set to be counted can be split into </a:t>
                </a:r>
                <a:r>
                  <a:rPr lang="en-US" b="1" dirty="0"/>
                  <a:t>mutually exclusive subsets</a:t>
                </a:r>
              </a:p>
              <a:p>
                <a:pPr marL="0" indent="0" algn="ctr">
                  <a:buNone/>
                </a:pP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𝑛</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endParaRPr lang="en-US" b="1"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d>
                        <m:dPr>
                          <m:ctrlPr>
                            <a:rPr lang="en-US" i="1" smtClean="0">
                              <a:latin typeface="Cambria Math" panose="02040503050406030204" pitchFamily="18" charset="0"/>
                            </a:rPr>
                          </m:ctrlPr>
                        </m:dPr>
                        <m:e>
                          <m:r>
                            <a:rPr lang="en-US" b="0" i="1" smtClean="0">
                              <a:latin typeface="Cambria Math" panose="02040503050406030204" pitchFamily="18" charset="0"/>
                            </a:rPr>
                            <m:t>𝑆</m:t>
                          </m:r>
                        </m:e>
                      </m:d>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oMath>
                  </m:oMathPara>
                </a14:m>
                <a:endParaRPr lang="en-US" dirty="0"/>
              </a:p>
              <a:p>
                <a:pPr marL="0" indent="0" algn="ctr">
                  <a:buNone/>
                </a:pPr>
                <a:endParaRPr lang="en-US" dirty="0"/>
              </a:p>
              <a:p>
                <a:r>
                  <a:rPr lang="en-US" dirty="0"/>
                  <a:t>Multiplication principle: set to be counted is a </a:t>
                </a:r>
                <a:r>
                  <a:rPr lang="en-US" b="1" dirty="0"/>
                  <a:t>sequence of subsets </a:t>
                </a:r>
                <a:r>
                  <a:rPr lang="en-US" dirty="0"/>
                  <a:t>and the subsets are </a:t>
                </a:r>
                <a:r>
                  <a:rPr lang="en-US" b="1" dirty="0"/>
                  <a:t>independent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𝑛</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𝑆</m:t>
                          </m:r>
                        </m:e>
                      </m:d>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3CA308BF-398D-D642-BFC9-595321E3C89F}"/>
                  </a:ext>
                </a:extLst>
              </p:cNvPr>
              <p:cNvSpPr>
                <a:spLocks noGrp="1" noRot="1" noChangeAspect="1" noMove="1" noResize="1" noEditPoints="1" noAdjustHandles="1" noChangeArrowheads="1" noChangeShapeType="1" noTextEdit="1"/>
              </p:cNvSpPr>
              <p:nvPr>
                <p:ph idx="1"/>
              </p:nvPr>
            </p:nvSpPr>
            <p:spPr>
              <a:blipFill>
                <a:blip r:embed="rId2"/>
                <a:stretch>
                  <a:fillRect l="-965" t="-2632"/>
                </a:stretch>
              </a:blipFill>
            </p:spPr>
            <p:txBody>
              <a:bodyPr/>
              <a:lstStyle/>
              <a:p>
                <a:r>
                  <a:rPr lang="en-US">
                    <a:noFill/>
                  </a:rPr>
                  <a:t> </a:t>
                </a:r>
              </a:p>
            </p:txBody>
          </p:sp>
        </mc:Fallback>
      </mc:AlternateContent>
    </p:spTree>
    <p:extLst>
      <p:ext uri="{BB962C8B-B14F-4D97-AF65-F5344CB8AC3E}">
        <p14:creationId xmlns:p14="http://schemas.microsoft.com/office/powerpoint/2010/main" val="3131761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4"/>
          <p:cNvSpPr>
            <a:spLocks noGrp="1" noChangeArrowheads="1"/>
          </p:cNvSpPr>
          <p:nvPr>
            <p:ph type="title"/>
          </p:nvPr>
        </p:nvSpPr>
        <p:spPr/>
        <p:txBody>
          <a:bodyPr/>
          <a:lstStyle/>
          <a:p>
            <a:pPr eaLnBrk="1" hangingPunct="1"/>
            <a:r>
              <a:rPr lang="en-US" sz="3600"/>
              <a:t>Example 1: Adding Sets of Students</a:t>
            </a:r>
          </a:p>
        </p:txBody>
      </p:sp>
      <p:sp>
        <p:nvSpPr>
          <p:cNvPr id="23558" name="Rectangle 5"/>
          <p:cNvSpPr>
            <a:spLocks noGrp="1" noChangeArrowheads="1"/>
          </p:cNvSpPr>
          <p:nvPr>
            <p:ph type="body" idx="1"/>
          </p:nvPr>
        </p:nvSpPr>
        <p:spPr/>
        <p:txBody>
          <a:bodyPr/>
          <a:lstStyle/>
          <a:p>
            <a:pPr eaLnBrk="1" hangingPunct="1"/>
            <a:r>
              <a:rPr lang="en-US" dirty="0"/>
              <a:t>A professor has 40 students in his algebra class from computer science major and 40 students from applied math major. How</a:t>
            </a:r>
          </a:p>
          <a:p>
            <a:pPr eaLnBrk="1" hangingPunct="1">
              <a:buFont typeface="Wingdings" pitchFamily="4" charset="2"/>
              <a:buNone/>
            </a:pPr>
            <a:r>
              <a:rPr lang="en-US" dirty="0"/>
              <a:t>many different students are in his algebra </a:t>
            </a:r>
            <a:r>
              <a:rPr lang="en-US" dirty="0" smtClean="0"/>
              <a:t>classe</a:t>
            </a:r>
            <a:r>
              <a:rPr lang="en-US" altLang="zh-CN" dirty="0" smtClean="0"/>
              <a:t>s</a:t>
            </a:r>
            <a:r>
              <a:rPr lang="en-US" dirty="0" smtClean="0"/>
              <a:t>?</a:t>
            </a:r>
            <a:endParaRPr lang="en-US" dirty="0"/>
          </a:p>
          <a:p>
            <a:pPr marL="0" indent="0" eaLnBrk="1" hangingPunct="1">
              <a:buNone/>
            </a:pPr>
            <a:endParaRPr lang="en-US" dirty="0"/>
          </a:p>
          <a:p>
            <a:r>
              <a:rPr lang="en-US" dirty="0"/>
              <a:t>No student can have two different majors, the two subsets are </a:t>
            </a:r>
            <a:r>
              <a:rPr lang="en-US" b="1" dirty="0"/>
              <a:t>mutually exclusive</a:t>
            </a:r>
            <a:r>
              <a:rPr lang="en-US" dirty="0"/>
              <a:t>, therefore we can use addition principle.</a:t>
            </a:r>
          </a:p>
          <a:p>
            <a:r>
              <a:rPr lang="en-US" dirty="0"/>
              <a:t>The answer is obvious: 40+40=80.</a:t>
            </a:r>
          </a:p>
          <a:p>
            <a:pPr eaLnBrk="1" hangingPunct="1">
              <a:buFont typeface="Wingdings" pitchFamily="4" charset="2"/>
              <a:buNone/>
            </a:pPr>
            <a:endParaRPr lang="en-US" dirty="0"/>
          </a:p>
        </p:txBody>
      </p:sp>
    </p:spTree>
    <p:extLst>
      <p:ext uri="{BB962C8B-B14F-4D97-AF65-F5344CB8AC3E}">
        <p14:creationId xmlns:p14="http://schemas.microsoft.com/office/powerpoint/2010/main" val="1548261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en-US" sz="3600" dirty="0"/>
              <a:t>Example 2 </a:t>
            </a:r>
          </a:p>
        </p:txBody>
      </p:sp>
      <p:sp>
        <p:nvSpPr>
          <p:cNvPr id="24582" name="Rectangle 3"/>
          <p:cNvSpPr>
            <a:spLocks noGrp="1" noChangeArrowheads="1"/>
          </p:cNvSpPr>
          <p:nvPr>
            <p:ph type="body" idx="1"/>
          </p:nvPr>
        </p:nvSpPr>
        <p:spPr/>
        <p:txBody>
          <a:bodyPr/>
          <a:lstStyle/>
          <a:p>
            <a:pPr eaLnBrk="1" hangingPunct="1"/>
            <a:r>
              <a:rPr lang="en-US" dirty="0"/>
              <a:t>A professor’s algebra course has 40 student, and geometry course has 40 students, how many students he is teaching?</a:t>
            </a:r>
          </a:p>
        </p:txBody>
      </p:sp>
    </p:spTree>
    <p:extLst>
      <p:ext uri="{BB962C8B-B14F-4D97-AF65-F5344CB8AC3E}">
        <p14:creationId xmlns:p14="http://schemas.microsoft.com/office/powerpoint/2010/main" val="3866832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en-US" sz="3600" dirty="0"/>
              <a:t>Analysis: student who take algebra may also take geometry, the two subsets are </a:t>
            </a:r>
            <a:r>
              <a:rPr lang="en-US" sz="3600" b="1" dirty="0"/>
              <a:t>NOT</a:t>
            </a:r>
            <a:r>
              <a:rPr lang="en-US" sz="3600" dirty="0"/>
              <a:t> exclusive. </a:t>
            </a:r>
          </a:p>
        </p:txBody>
      </p:sp>
      <p:sp>
        <p:nvSpPr>
          <p:cNvPr id="24582" name="Rectangle 3"/>
          <p:cNvSpPr>
            <a:spLocks noGrp="1" noChangeArrowheads="1"/>
          </p:cNvSpPr>
          <p:nvPr>
            <p:ph type="body" idx="1"/>
          </p:nvPr>
        </p:nvSpPr>
        <p:spPr/>
        <p:txBody>
          <a:bodyPr/>
          <a:lstStyle/>
          <a:p>
            <a:pPr eaLnBrk="1" hangingPunct="1"/>
            <a:r>
              <a:rPr lang="en-US" dirty="0"/>
              <a:t>Now suppose 10 students are in both classes.</a:t>
            </a:r>
          </a:p>
          <a:p>
            <a:pPr eaLnBrk="1" hangingPunct="1"/>
            <a:r>
              <a:rPr lang="en-US" dirty="0"/>
              <a:t>To obtain disjoint sets, we  categorize the students as follows:</a:t>
            </a:r>
          </a:p>
          <a:p>
            <a:pPr lvl="3" eaLnBrk="1" hangingPunct="1"/>
            <a:r>
              <a:rPr lang="en-US" dirty="0">
                <a:solidFill>
                  <a:srgbClr val="0000FF"/>
                </a:solidFill>
              </a:rPr>
              <a:t>Just in algebra</a:t>
            </a:r>
          </a:p>
          <a:p>
            <a:pPr lvl="3" eaLnBrk="1" hangingPunct="1"/>
            <a:r>
              <a:rPr lang="en-US" dirty="0">
                <a:solidFill>
                  <a:srgbClr val="FF0000"/>
                </a:solidFill>
              </a:rPr>
              <a:t>Just in geometry</a:t>
            </a:r>
          </a:p>
          <a:p>
            <a:pPr lvl="3" eaLnBrk="1" hangingPunct="1"/>
            <a:r>
              <a:rPr lang="en-US" dirty="0">
                <a:solidFill>
                  <a:srgbClr val="CC3399"/>
                </a:solidFill>
              </a:rPr>
              <a:t>In both classes</a:t>
            </a:r>
          </a:p>
          <a:p>
            <a:pPr eaLnBrk="1" hangingPunct="1"/>
            <a:endParaRPr lang="en-US" sz="2000" dirty="0">
              <a:solidFill>
                <a:srgbClr val="CC3399"/>
              </a:solidFill>
            </a:endParaRPr>
          </a:p>
        </p:txBody>
      </p:sp>
      <p:sp>
        <p:nvSpPr>
          <p:cNvPr id="5124" name="Text Box 4"/>
          <p:cNvSpPr txBox="1">
            <a:spLocks noChangeArrowheads="1"/>
          </p:cNvSpPr>
          <p:nvPr/>
        </p:nvSpPr>
        <p:spPr bwMode="auto">
          <a:xfrm>
            <a:off x="1539875" y="4149557"/>
            <a:ext cx="8382000" cy="2868612"/>
          </a:xfrm>
          <a:prstGeom prst="rect">
            <a:avLst/>
          </a:prstGeom>
          <a:noFill/>
          <a:ln w="9525">
            <a:noFill/>
            <a:miter lim="800000"/>
            <a:headEnd/>
            <a:tailEnd/>
          </a:ln>
        </p:spPr>
        <p:txBody>
          <a:bodyPr>
            <a:prstTxWarp prst="textNoShape">
              <a:avLst/>
            </a:prstTxWarp>
            <a:spAutoFit/>
          </a:bodyPr>
          <a:lstStyle/>
          <a:p>
            <a:pPr>
              <a:buFont typeface="Wingdings" pitchFamily="4" charset="2"/>
              <a:buChar char="Ø"/>
            </a:pPr>
            <a:r>
              <a:rPr lang="en-US" sz="2800" dirty="0"/>
              <a:t>  Since 10 students are in both classes, there are </a:t>
            </a:r>
          </a:p>
          <a:p>
            <a:pPr lvl="1">
              <a:buFont typeface="Wingdings" pitchFamily="4" charset="2"/>
              <a:buNone/>
            </a:pPr>
            <a:r>
              <a:rPr lang="en-US" sz="2800" dirty="0"/>
              <a:t>40 – 10 = 30 students in just algebra and 30 in just</a:t>
            </a:r>
          </a:p>
          <a:p>
            <a:pPr lvl="1">
              <a:buFont typeface="Wingdings" pitchFamily="4" charset="2"/>
              <a:buNone/>
            </a:pPr>
            <a:r>
              <a:rPr lang="en-US" sz="2800" dirty="0"/>
              <a:t>geometry.</a:t>
            </a:r>
          </a:p>
          <a:p>
            <a:pPr>
              <a:buFont typeface="Wingdings" pitchFamily="4" charset="2"/>
              <a:buChar char="Ø"/>
            </a:pPr>
            <a:r>
              <a:rPr lang="en-US" sz="2800" dirty="0"/>
              <a:t>  The total number of students is then</a:t>
            </a:r>
          </a:p>
          <a:p>
            <a:pPr algn="ctr"/>
            <a:r>
              <a:rPr lang="en-US" sz="2800" dirty="0"/>
              <a:t>30 + 30 + 10 = 70.</a:t>
            </a:r>
          </a:p>
          <a:p>
            <a:pPr>
              <a:spcBef>
                <a:spcPct val="50000"/>
              </a:spcBef>
              <a:buFontTx/>
              <a:buChar char="•"/>
            </a:pPr>
            <a:endParaRPr lang="en-US" sz="2800" dirty="0"/>
          </a:p>
        </p:txBody>
      </p:sp>
      <p:sp>
        <p:nvSpPr>
          <p:cNvPr id="24584" name="Oval 38"/>
          <p:cNvSpPr>
            <a:spLocks noChangeArrowheads="1"/>
          </p:cNvSpPr>
          <p:nvPr/>
        </p:nvSpPr>
        <p:spPr bwMode="auto">
          <a:xfrm>
            <a:off x="6461126" y="2697163"/>
            <a:ext cx="1279525" cy="1281112"/>
          </a:xfrm>
          <a:prstGeom prst="ellipse">
            <a:avLst/>
          </a:prstGeom>
          <a:solidFill>
            <a:srgbClr val="0000FF">
              <a:alpha val="43137"/>
            </a:srgbClr>
          </a:solidFill>
          <a:ln w="9525">
            <a:solidFill>
              <a:schemeClr val="tx1"/>
            </a:solidFill>
            <a:round/>
            <a:headEnd/>
            <a:tailEnd/>
          </a:ln>
        </p:spPr>
        <p:txBody>
          <a:bodyPr wrap="none" anchor="ctr">
            <a:prstTxWarp prst="textNoShape">
              <a:avLst/>
            </a:prstTxWarp>
          </a:bodyPr>
          <a:lstStyle/>
          <a:p>
            <a:endParaRPr lang="en-US"/>
          </a:p>
        </p:txBody>
      </p:sp>
      <p:sp>
        <p:nvSpPr>
          <p:cNvPr id="24585" name="Oval 39"/>
          <p:cNvSpPr>
            <a:spLocks noChangeArrowheads="1"/>
          </p:cNvSpPr>
          <p:nvPr/>
        </p:nvSpPr>
        <p:spPr bwMode="auto">
          <a:xfrm>
            <a:off x="7192964" y="2697163"/>
            <a:ext cx="1279525" cy="1281112"/>
          </a:xfrm>
          <a:prstGeom prst="ellipse">
            <a:avLst/>
          </a:prstGeom>
          <a:solidFill>
            <a:srgbClr val="FF0000">
              <a:alpha val="43137"/>
            </a:srgbClr>
          </a:solidFill>
          <a:ln w="9525">
            <a:solidFill>
              <a:schemeClr val="tx1"/>
            </a:solidFill>
            <a:round/>
            <a:headEnd/>
            <a:tailEnd/>
          </a:ln>
        </p:spPr>
        <p:txBody>
          <a:bodyPr wrap="none" anchor="ctr">
            <a:prstTxWarp prst="textNoShape">
              <a:avLst/>
            </a:prstTxWarp>
          </a:bodyPr>
          <a:lstStyle/>
          <a:p>
            <a:endParaRPr lang="en-US"/>
          </a:p>
        </p:txBody>
      </p:sp>
      <p:sp>
        <p:nvSpPr>
          <p:cNvPr id="5160" name="Text Box 40"/>
          <p:cNvSpPr txBox="1">
            <a:spLocks noChangeArrowheads="1"/>
          </p:cNvSpPr>
          <p:nvPr/>
        </p:nvSpPr>
        <p:spPr bwMode="auto">
          <a:xfrm>
            <a:off x="7192963" y="3063875"/>
            <a:ext cx="418704" cy="369332"/>
          </a:xfrm>
          <a:prstGeom prst="rect">
            <a:avLst/>
          </a:prstGeom>
          <a:noFill/>
          <a:ln w="9525">
            <a:noFill/>
            <a:miter lim="800000"/>
            <a:headEnd/>
            <a:tailEnd/>
          </a:ln>
        </p:spPr>
        <p:txBody>
          <a:bodyPr wrap="none">
            <a:prstTxWarp prst="textNoShape">
              <a:avLst/>
            </a:prstTxWarp>
            <a:spAutoFit/>
          </a:bodyPr>
          <a:lstStyle/>
          <a:p>
            <a:r>
              <a:rPr lang="en-US"/>
              <a:t>10</a:t>
            </a:r>
          </a:p>
        </p:txBody>
      </p:sp>
      <p:sp>
        <p:nvSpPr>
          <p:cNvPr id="5162" name="Text Box 42"/>
          <p:cNvSpPr txBox="1">
            <a:spLocks noChangeArrowheads="1"/>
          </p:cNvSpPr>
          <p:nvPr/>
        </p:nvSpPr>
        <p:spPr bwMode="auto">
          <a:xfrm>
            <a:off x="7742238" y="3063875"/>
            <a:ext cx="418704" cy="369332"/>
          </a:xfrm>
          <a:prstGeom prst="rect">
            <a:avLst/>
          </a:prstGeom>
          <a:noFill/>
          <a:ln w="9525">
            <a:noFill/>
            <a:miter lim="800000"/>
            <a:headEnd/>
            <a:tailEnd/>
          </a:ln>
        </p:spPr>
        <p:txBody>
          <a:bodyPr wrap="none">
            <a:prstTxWarp prst="textNoShape">
              <a:avLst/>
            </a:prstTxWarp>
            <a:spAutoFit/>
          </a:bodyPr>
          <a:lstStyle/>
          <a:p>
            <a:r>
              <a:rPr lang="en-US"/>
              <a:t>30</a:t>
            </a:r>
          </a:p>
        </p:txBody>
      </p:sp>
      <p:sp>
        <p:nvSpPr>
          <p:cNvPr id="5163" name="Text Box 43"/>
          <p:cNvSpPr txBox="1">
            <a:spLocks noChangeArrowheads="1"/>
          </p:cNvSpPr>
          <p:nvPr/>
        </p:nvSpPr>
        <p:spPr bwMode="auto">
          <a:xfrm>
            <a:off x="6645275" y="3063875"/>
            <a:ext cx="418704" cy="369332"/>
          </a:xfrm>
          <a:prstGeom prst="rect">
            <a:avLst/>
          </a:prstGeom>
          <a:noFill/>
          <a:ln w="9525">
            <a:noFill/>
            <a:miter lim="800000"/>
            <a:headEnd/>
            <a:tailEnd/>
          </a:ln>
        </p:spPr>
        <p:txBody>
          <a:bodyPr wrap="none">
            <a:prstTxWarp prst="textNoShape">
              <a:avLst/>
            </a:prstTxWarp>
            <a:spAutoFit/>
          </a:bodyPr>
          <a:lstStyle/>
          <a:p>
            <a:r>
              <a:rPr lang="en-US"/>
              <a:t>30</a:t>
            </a:r>
          </a:p>
        </p:txBody>
      </p:sp>
    </p:spTree>
    <p:extLst>
      <p:ext uri="{BB962C8B-B14F-4D97-AF65-F5344CB8AC3E}">
        <p14:creationId xmlns:p14="http://schemas.microsoft.com/office/powerpoint/2010/main" val="424187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2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6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124">
                                            <p:txEl>
                                              <p:pRg st="3" end="3"/>
                                            </p:txEl>
                                          </p:spTgt>
                                        </p:tgtEl>
                                        <p:attrNameLst>
                                          <p:attrName>style.visibility</p:attrName>
                                        </p:attrNameLst>
                                      </p:cBhvr>
                                      <p:to>
                                        <p:strVal val="visible"/>
                                      </p:to>
                                    </p:set>
                                    <p:anim calcmode="lin" valueType="num">
                                      <p:cBhvr additive="base">
                                        <p:cTn id="21" dur="500" fill="hold"/>
                                        <p:tgtEl>
                                          <p:spTgt spid="512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124">
                                            <p:txEl>
                                              <p:pRg st="4" end="4"/>
                                            </p:txEl>
                                          </p:spTgt>
                                        </p:tgtEl>
                                        <p:attrNameLst>
                                          <p:attrName>style.visibility</p:attrName>
                                        </p:attrNameLst>
                                      </p:cBhvr>
                                      <p:to>
                                        <p:strVal val="visible"/>
                                      </p:to>
                                    </p:set>
                                    <p:anim calcmode="lin" valueType="num">
                                      <p:cBhvr additive="base">
                                        <p:cTn id="25" dur="500" fill="hold"/>
                                        <p:tgtEl>
                                          <p:spTgt spid="512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uild="allAtOnce"/>
      <p:bldP spid="5160" grpId="0"/>
      <p:bldP spid="5162" grpId="0"/>
      <p:bldP spid="516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2"/>
          <p:cNvSpPr>
            <a:spLocks noGrp="1" noChangeArrowheads="1"/>
          </p:cNvSpPr>
          <p:nvPr>
            <p:ph type="title"/>
          </p:nvPr>
        </p:nvSpPr>
        <p:spPr/>
        <p:txBody>
          <a:bodyPr/>
          <a:lstStyle/>
          <a:p>
            <a:pPr eaLnBrk="1" hangingPunct="1"/>
            <a:r>
              <a:rPr lang="en-US" sz="3600" dirty="0"/>
              <a:t>Example 3: Rolling Dice</a:t>
            </a:r>
          </a:p>
        </p:txBody>
      </p:sp>
      <p:graphicFrame>
        <p:nvGraphicFramePr>
          <p:cNvPr id="25602" name="Object 2"/>
          <p:cNvGraphicFramePr>
            <a:graphicFrameLocks noGrp="1" noChangeAspect="1"/>
          </p:cNvGraphicFramePr>
          <p:nvPr>
            <p:ph sz="half" idx="1"/>
          </p:nvPr>
        </p:nvGraphicFramePr>
        <p:xfrm>
          <a:off x="2255839" y="1970088"/>
          <a:ext cx="5000625" cy="2724150"/>
        </p:xfrm>
        <a:graphic>
          <a:graphicData uri="http://schemas.openxmlformats.org/presentationml/2006/ole">
            <mc:AlternateContent xmlns:mc="http://schemas.openxmlformats.org/markup-compatibility/2006">
              <mc:Choice xmlns:v="urn:schemas-microsoft-com:vml" Requires="v">
                <p:oleObj spid="_x0000_s5176" name="Equation" r:id="rId3" imgW="3263760" imgH="1777680" progId="">
                  <p:embed/>
                </p:oleObj>
              </mc:Choice>
              <mc:Fallback>
                <p:oleObj name="Equation" r:id="rId3" imgW="3263760" imgH="1777680" progId="">
                  <p:embed/>
                  <p:pic>
                    <p:nvPicPr>
                      <p:cNvPr id="2560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5839" y="1970088"/>
                        <a:ext cx="5000625" cy="2724150"/>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
        <p:nvSpPr>
          <p:cNvPr id="25607" name="Line 8"/>
          <p:cNvSpPr>
            <a:spLocks noChangeShapeType="1"/>
          </p:cNvSpPr>
          <p:nvPr/>
        </p:nvSpPr>
        <p:spPr bwMode="auto">
          <a:xfrm>
            <a:off x="2255838" y="3246438"/>
            <a:ext cx="7497762"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25608" name="Text Box 9"/>
          <p:cNvSpPr txBox="1">
            <a:spLocks noChangeArrowheads="1"/>
          </p:cNvSpPr>
          <p:nvPr/>
        </p:nvSpPr>
        <p:spPr bwMode="auto">
          <a:xfrm>
            <a:off x="7795982" y="3429000"/>
            <a:ext cx="2377639" cy="1661993"/>
          </a:xfrm>
          <a:prstGeom prst="rect">
            <a:avLst/>
          </a:prstGeom>
          <a:noFill/>
          <a:ln w="9525">
            <a:noFill/>
            <a:miter lim="800000"/>
            <a:headEnd/>
            <a:tailEnd/>
          </a:ln>
        </p:spPr>
        <p:txBody>
          <a:bodyPr wrap="none">
            <a:prstTxWarp prst="textNoShape">
              <a:avLst/>
            </a:prstTxWarp>
            <a:spAutoFit/>
          </a:bodyPr>
          <a:lstStyle/>
          <a:p>
            <a:r>
              <a:rPr lang="en-US" sz="1700" b="1" dirty="0">
                <a:ea typeface="Arial" pitchFamily="4" charset="0"/>
                <a:cs typeface="Arial" pitchFamily="4" charset="0"/>
              </a:rPr>
              <a:t>Note</a:t>
            </a:r>
            <a:r>
              <a:rPr lang="en-US" sz="1700" dirty="0">
                <a:ea typeface="Arial" pitchFamily="4" charset="0"/>
                <a:cs typeface="Arial" pitchFamily="4" charset="0"/>
              </a:rPr>
              <a:t>: </a:t>
            </a:r>
          </a:p>
          <a:p>
            <a:r>
              <a:rPr lang="en-US" sz="1700" dirty="0">
                <a:ea typeface="Arial" pitchFamily="4" charset="0"/>
                <a:cs typeface="Arial" pitchFamily="4" charset="0"/>
              </a:rPr>
              <a:t>“Independent”</a:t>
            </a:r>
          </a:p>
          <a:p>
            <a:r>
              <a:rPr lang="en-US" sz="1700" dirty="0">
                <a:ea typeface="Arial" pitchFamily="4" charset="0"/>
                <a:cs typeface="Arial" pitchFamily="4" charset="0"/>
              </a:rPr>
              <a:t>means that what we roll </a:t>
            </a:r>
          </a:p>
          <a:p>
            <a:r>
              <a:rPr lang="en-US" sz="1700" dirty="0">
                <a:ea typeface="Arial" pitchFamily="4" charset="0"/>
                <a:cs typeface="Arial" pitchFamily="4" charset="0"/>
              </a:rPr>
              <a:t>on the first die does not </a:t>
            </a:r>
          </a:p>
          <a:p>
            <a:r>
              <a:rPr lang="en-US" sz="1700" dirty="0">
                <a:ea typeface="Arial" pitchFamily="4" charset="0"/>
                <a:cs typeface="Arial" pitchFamily="4" charset="0"/>
              </a:rPr>
              <a:t>influence what we roll </a:t>
            </a:r>
          </a:p>
          <a:p>
            <a:r>
              <a:rPr lang="en-US" sz="1700" dirty="0">
                <a:ea typeface="Arial" pitchFamily="4" charset="0"/>
                <a:cs typeface="Arial" pitchFamily="4" charset="0"/>
              </a:rPr>
              <a:t>on the second.</a:t>
            </a:r>
          </a:p>
        </p:txBody>
      </p:sp>
      <p:pic>
        <p:nvPicPr>
          <p:cNvPr id="25609" name="Picture 10" descr="j0299527"/>
          <p:cNvPicPr>
            <a:picLocks noGrp="1" noChangeAspect="1" noChangeArrowheads="1"/>
          </p:cNvPicPr>
          <p:nvPr>
            <p:ph sz="half" idx="2"/>
          </p:nvPr>
        </p:nvPicPr>
        <p:blipFill>
          <a:blip r:embed="rId5"/>
          <a:srcRect/>
          <a:stretch>
            <a:fillRect/>
          </a:stretch>
        </p:blipFill>
        <p:spPr>
          <a:xfrm>
            <a:off x="7924801" y="1965326"/>
            <a:ext cx="1192213" cy="989013"/>
          </a:xfrm>
          <a:noFill/>
        </p:spPr>
      </p:pic>
    </p:spTree>
    <p:extLst>
      <p:ext uri="{BB962C8B-B14F-4D97-AF65-F5344CB8AC3E}">
        <p14:creationId xmlns:p14="http://schemas.microsoft.com/office/powerpoint/2010/main" val="2930416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2"/>
          <p:cNvSpPr>
            <a:spLocks noGrp="1" noChangeArrowheads="1"/>
          </p:cNvSpPr>
          <p:nvPr>
            <p:ph type="title"/>
          </p:nvPr>
        </p:nvSpPr>
        <p:spPr>
          <a:xfrm>
            <a:off x="2209800" y="228600"/>
            <a:ext cx="7772400" cy="1143000"/>
          </a:xfrm>
        </p:spPr>
        <p:txBody>
          <a:bodyPr/>
          <a:lstStyle/>
          <a:p>
            <a:pPr eaLnBrk="1" hangingPunct="1"/>
            <a:r>
              <a:rPr lang="en-US" sz="3600" dirty="0"/>
              <a:t>Example 3 (continued)</a:t>
            </a:r>
          </a:p>
        </p:txBody>
      </p:sp>
      <p:graphicFrame>
        <p:nvGraphicFramePr>
          <p:cNvPr id="26626" name="Object 2"/>
          <p:cNvGraphicFramePr>
            <a:graphicFrameLocks noChangeAspect="1"/>
          </p:cNvGraphicFramePr>
          <p:nvPr>
            <p:extLst>
              <p:ext uri="{D42A27DB-BD31-4B8C-83A1-F6EECF244321}">
                <p14:modId xmlns:p14="http://schemas.microsoft.com/office/powerpoint/2010/main" val="171942235"/>
              </p:ext>
            </p:extLst>
          </p:nvPr>
        </p:nvGraphicFramePr>
        <p:xfrm>
          <a:off x="1903412" y="1404145"/>
          <a:ext cx="8108950" cy="4367212"/>
        </p:xfrm>
        <a:graphic>
          <a:graphicData uri="http://schemas.openxmlformats.org/presentationml/2006/ole">
            <mc:AlternateContent xmlns:mc="http://schemas.openxmlformats.org/markup-compatibility/2006">
              <mc:Choice xmlns:v="urn:schemas-microsoft-com:vml" Requires="v">
                <p:oleObj spid="_x0000_s6200" name="Equation" r:id="rId3" imgW="4902120" imgH="2641320" progId="Equation.DSMT4">
                  <p:embed/>
                </p:oleObj>
              </mc:Choice>
              <mc:Fallback>
                <p:oleObj name="Equation" r:id="rId3" imgW="4902120" imgH="2641320" progId="Equation.DSMT4">
                  <p:embed/>
                  <p:pic>
                    <p:nvPicPr>
                      <p:cNvPr id="26626" name="Object 2"/>
                      <p:cNvPicPr>
                        <a:picLocks noChangeAspect="1" noChangeArrowheads="1"/>
                      </p:cNvPicPr>
                      <p:nvPr/>
                    </p:nvPicPr>
                    <p:blipFill>
                      <a:blip r:embed="rId4"/>
                      <a:srcRect/>
                      <a:stretch>
                        <a:fillRect/>
                      </a:stretch>
                    </p:blipFill>
                    <p:spPr bwMode="auto">
                      <a:xfrm>
                        <a:off x="1903412" y="1404145"/>
                        <a:ext cx="8108950" cy="4367212"/>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26631" name="Text Box 4"/>
          <p:cNvSpPr txBox="1">
            <a:spLocks noChangeArrowheads="1"/>
          </p:cNvSpPr>
          <p:nvPr/>
        </p:nvSpPr>
        <p:spPr bwMode="auto">
          <a:xfrm>
            <a:off x="7526214" y="5175251"/>
            <a:ext cx="3341078" cy="1200329"/>
          </a:xfrm>
          <a:prstGeom prst="rect">
            <a:avLst/>
          </a:prstGeom>
          <a:noFill/>
          <a:ln w="9525">
            <a:noFill/>
            <a:miter lim="800000"/>
            <a:headEnd/>
            <a:tailEnd/>
          </a:ln>
        </p:spPr>
        <p:txBody>
          <a:bodyPr wrap="square">
            <a:prstTxWarp prst="textNoShape">
              <a:avLst/>
            </a:prstTxWarp>
            <a:spAutoFit/>
          </a:bodyPr>
          <a:lstStyle/>
          <a:p>
            <a:pPr>
              <a:spcBef>
                <a:spcPct val="50000"/>
              </a:spcBef>
            </a:pPr>
            <a:r>
              <a:rPr lang="en-US" b="1" dirty="0"/>
              <a:t>Recall:</a:t>
            </a:r>
          </a:p>
          <a:p>
            <a:pPr>
              <a:spcBef>
                <a:spcPct val="50000"/>
              </a:spcBef>
            </a:pPr>
            <a:r>
              <a:rPr lang="en-US" dirty="0" smtClean="0"/>
              <a:t>                      desired </a:t>
            </a:r>
            <a:r>
              <a:rPr lang="en-US" dirty="0"/>
              <a:t>outcomes</a:t>
            </a:r>
          </a:p>
          <a:p>
            <a:pPr>
              <a:spcBef>
                <a:spcPct val="50000"/>
              </a:spcBef>
            </a:pPr>
            <a:r>
              <a:rPr lang="en-US" dirty="0"/>
              <a:t>                        total outcomes </a:t>
            </a:r>
          </a:p>
        </p:txBody>
      </p:sp>
      <p:sp>
        <p:nvSpPr>
          <p:cNvPr id="26632" name="Line 5"/>
          <p:cNvSpPr>
            <a:spLocks noChangeShapeType="1"/>
          </p:cNvSpPr>
          <p:nvPr/>
        </p:nvSpPr>
        <p:spPr bwMode="auto">
          <a:xfrm>
            <a:off x="8827476" y="5997575"/>
            <a:ext cx="1353161"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2" name="文本框 1"/>
          <p:cNvSpPr txBox="1"/>
          <p:nvPr/>
        </p:nvSpPr>
        <p:spPr>
          <a:xfrm>
            <a:off x="7359162" y="5803902"/>
            <a:ext cx="1363963" cy="369332"/>
          </a:xfrm>
          <a:prstGeom prst="rect">
            <a:avLst/>
          </a:prstGeom>
          <a:noFill/>
        </p:spPr>
        <p:txBody>
          <a:bodyPr wrap="none" rtlCol="0">
            <a:spAutoFit/>
          </a:bodyPr>
          <a:lstStyle/>
          <a:p>
            <a:r>
              <a:rPr lang="en-US" altLang="zh-CN" dirty="0"/>
              <a:t>Probability =</a:t>
            </a:r>
            <a:endParaRPr lang="zh-CN" altLang="en-US" dirty="0"/>
          </a:p>
        </p:txBody>
      </p:sp>
    </p:spTree>
    <p:extLst>
      <p:ext uri="{BB962C8B-B14F-4D97-AF65-F5344CB8AC3E}">
        <p14:creationId xmlns:p14="http://schemas.microsoft.com/office/powerpoint/2010/main" val="3613559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a:xfrm>
            <a:off x="2209800" y="228600"/>
            <a:ext cx="7772400" cy="1143000"/>
          </a:xfrm>
        </p:spPr>
        <p:txBody>
          <a:bodyPr/>
          <a:lstStyle/>
          <a:p>
            <a:pPr eaLnBrk="1" hangingPunct="1"/>
            <a:r>
              <a:rPr lang="en-US" sz="3600" dirty="0"/>
              <a:t>Example 4: Arranging Books</a:t>
            </a:r>
          </a:p>
        </p:txBody>
      </p:sp>
      <p:sp>
        <p:nvSpPr>
          <p:cNvPr id="27654" name="Rectangle 3"/>
          <p:cNvSpPr>
            <a:spLocks noGrp="1" noChangeArrowheads="1"/>
          </p:cNvSpPr>
          <p:nvPr>
            <p:ph type="body" idx="1"/>
          </p:nvPr>
        </p:nvSpPr>
        <p:spPr>
          <a:xfrm>
            <a:off x="2287588" y="1550988"/>
            <a:ext cx="7772400" cy="4114800"/>
          </a:xfrm>
        </p:spPr>
        <p:txBody>
          <a:bodyPr/>
          <a:lstStyle/>
          <a:p>
            <a:pPr eaLnBrk="1" hangingPunct="1">
              <a:lnSpc>
                <a:spcPct val="90000"/>
              </a:lnSpc>
              <a:buFont typeface="Wingdings" pitchFamily="4" charset="2"/>
              <a:buNone/>
            </a:pPr>
            <a:endParaRPr lang="en-US"/>
          </a:p>
          <a:p>
            <a:pPr eaLnBrk="1" hangingPunct="1">
              <a:lnSpc>
                <a:spcPct val="90000"/>
              </a:lnSpc>
              <a:buFont typeface="Wingdings" pitchFamily="4" charset="2"/>
              <a:buNone/>
            </a:pPr>
            <a:r>
              <a:rPr lang="en-US"/>
              <a:t>There are 5 different Spanish books,</a:t>
            </a:r>
          </a:p>
          <a:p>
            <a:pPr eaLnBrk="1" hangingPunct="1">
              <a:lnSpc>
                <a:spcPct val="90000"/>
              </a:lnSpc>
              <a:buFont typeface="Wingdings" pitchFamily="4" charset="2"/>
              <a:buNone/>
            </a:pPr>
            <a:r>
              <a:rPr lang="en-US"/>
              <a:t>		       6 different French books,</a:t>
            </a:r>
          </a:p>
          <a:p>
            <a:pPr eaLnBrk="1" hangingPunct="1">
              <a:lnSpc>
                <a:spcPct val="90000"/>
              </a:lnSpc>
              <a:buFont typeface="Wingdings" pitchFamily="4" charset="2"/>
              <a:buNone/>
            </a:pPr>
            <a:r>
              <a:rPr lang="en-US"/>
              <a:t>		       8 different Transylvanian books.</a:t>
            </a:r>
          </a:p>
          <a:p>
            <a:pPr eaLnBrk="1" hangingPunct="1">
              <a:lnSpc>
                <a:spcPct val="90000"/>
              </a:lnSpc>
              <a:buFont typeface="Wingdings" pitchFamily="4" charset="2"/>
              <a:buNone/>
            </a:pPr>
            <a:endParaRPr lang="en-US"/>
          </a:p>
          <a:p>
            <a:pPr eaLnBrk="1" hangingPunct="1">
              <a:lnSpc>
                <a:spcPct val="90000"/>
              </a:lnSpc>
            </a:pPr>
            <a:r>
              <a:rPr lang="en-US"/>
              <a:t>How many different ways are there to pick an (unordered) pair of two books not in the same language?</a:t>
            </a:r>
          </a:p>
        </p:txBody>
      </p:sp>
    </p:spTree>
    <p:extLst>
      <p:ext uri="{BB962C8B-B14F-4D97-AF65-F5344CB8AC3E}">
        <p14:creationId xmlns:p14="http://schemas.microsoft.com/office/powerpoint/2010/main" val="1564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0" name="Rectangle 2"/>
          <p:cNvSpPr>
            <a:spLocks noGrp="1" noChangeArrowheads="1"/>
          </p:cNvSpPr>
          <p:nvPr>
            <p:ph type="title"/>
          </p:nvPr>
        </p:nvSpPr>
        <p:spPr>
          <a:xfrm>
            <a:off x="2209800" y="304800"/>
            <a:ext cx="7772400" cy="1143000"/>
          </a:xfrm>
        </p:spPr>
        <p:txBody>
          <a:bodyPr/>
          <a:lstStyle/>
          <a:p>
            <a:pPr eaLnBrk="1" hangingPunct="1"/>
            <a:r>
              <a:rPr lang="en-US" sz="3600" dirty="0"/>
              <a:t>Example 4 (continued)</a:t>
            </a:r>
          </a:p>
        </p:txBody>
      </p:sp>
      <p:sp>
        <p:nvSpPr>
          <p:cNvPr id="28681" name="Rectangle 3"/>
          <p:cNvSpPr>
            <a:spLocks noGrp="1" noChangeArrowheads="1"/>
          </p:cNvSpPr>
          <p:nvPr>
            <p:ph type="body" idx="1"/>
          </p:nvPr>
        </p:nvSpPr>
        <p:spPr>
          <a:xfrm>
            <a:off x="2222500" y="1589088"/>
            <a:ext cx="7772400" cy="4114800"/>
          </a:xfrm>
        </p:spPr>
        <p:txBody>
          <a:bodyPr/>
          <a:lstStyle/>
          <a:p>
            <a:pPr eaLnBrk="1" hangingPunct="1">
              <a:lnSpc>
                <a:spcPct val="90000"/>
              </a:lnSpc>
              <a:buFont typeface="Wingdings" pitchFamily="4" charset="2"/>
              <a:buNone/>
            </a:pPr>
            <a:r>
              <a:rPr lang="en-US" sz="2400"/>
              <a:t>	There are 3 types of selections, each of which requires successive selections; use the Multiplication Principle:</a:t>
            </a:r>
          </a:p>
          <a:p>
            <a:pPr eaLnBrk="1" hangingPunct="1">
              <a:lnSpc>
                <a:spcPct val="90000"/>
              </a:lnSpc>
              <a:buFont typeface="Wingdings" pitchFamily="4" charset="2"/>
              <a:buNone/>
            </a:pPr>
            <a:r>
              <a:rPr lang="en-US" sz="2400"/>
              <a:t>		1 Spanish and 1 French		5    6 = 30</a:t>
            </a:r>
          </a:p>
          <a:p>
            <a:pPr eaLnBrk="1" hangingPunct="1">
              <a:lnSpc>
                <a:spcPct val="90000"/>
              </a:lnSpc>
              <a:buFont typeface="Wingdings" pitchFamily="4" charset="2"/>
              <a:buNone/>
            </a:pPr>
            <a:r>
              <a:rPr lang="en-US" sz="2400"/>
              <a:t>		1 Spanish and 1 Transylvanian	5    8 = 40</a:t>
            </a:r>
          </a:p>
          <a:p>
            <a:pPr eaLnBrk="1" hangingPunct="1">
              <a:lnSpc>
                <a:spcPct val="90000"/>
              </a:lnSpc>
              <a:buFont typeface="Wingdings" pitchFamily="4" charset="2"/>
              <a:buNone/>
            </a:pPr>
            <a:r>
              <a:rPr lang="en-US" sz="2400"/>
              <a:t>		1 French and 1 Transylvanian		6    8 = 48</a:t>
            </a:r>
          </a:p>
          <a:p>
            <a:pPr eaLnBrk="1" hangingPunct="1">
              <a:lnSpc>
                <a:spcPct val="90000"/>
              </a:lnSpc>
            </a:pPr>
            <a:endParaRPr lang="en-US" sz="2400"/>
          </a:p>
          <a:p>
            <a:pPr eaLnBrk="1" hangingPunct="1">
              <a:lnSpc>
                <a:spcPct val="90000"/>
              </a:lnSpc>
              <a:buFont typeface="Wingdings" pitchFamily="4" charset="2"/>
              <a:buNone/>
            </a:pPr>
            <a:r>
              <a:rPr lang="en-US" sz="2400"/>
              <a:t>	These 3 types of selections are disjoint, so now use the Addition Principle:</a:t>
            </a:r>
          </a:p>
          <a:p>
            <a:pPr eaLnBrk="1" hangingPunct="1">
              <a:lnSpc>
                <a:spcPct val="90000"/>
              </a:lnSpc>
              <a:buFont typeface="Wingdings" pitchFamily="4" charset="2"/>
              <a:buNone/>
            </a:pPr>
            <a:r>
              <a:rPr lang="en-US" sz="2400"/>
              <a:t>		30 + 40 + 48 = 118.</a:t>
            </a:r>
          </a:p>
        </p:txBody>
      </p:sp>
      <p:graphicFrame>
        <p:nvGraphicFramePr>
          <p:cNvPr id="28674" name="Object 2"/>
          <p:cNvGraphicFramePr>
            <a:graphicFrameLocks noChangeAspect="1"/>
          </p:cNvGraphicFramePr>
          <p:nvPr/>
        </p:nvGraphicFramePr>
        <p:xfrm>
          <a:off x="7942263" y="3148013"/>
          <a:ext cx="336550" cy="373062"/>
        </p:xfrm>
        <a:graphic>
          <a:graphicData uri="http://schemas.openxmlformats.org/presentationml/2006/ole">
            <mc:AlternateContent xmlns:mc="http://schemas.openxmlformats.org/markup-compatibility/2006">
              <mc:Choice xmlns:v="urn:schemas-microsoft-com:vml" Requires="v">
                <p:oleObj spid="_x0000_s7331" name="Equation" r:id="rId3" imgW="114120" imgH="126720" progId="">
                  <p:embed/>
                </p:oleObj>
              </mc:Choice>
              <mc:Fallback>
                <p:oleObj name="Equation" r:id="rId3" imgW="114120" imgH="126720" progId="">
                  <p:embed/>
                  <p:pic>
                    <p:nvPicPr>
                      <p:cNvPr id="286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2263" y="3148013"/>
                        <a:ext cx="336550" cy="373062"/>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8675" name="Object 3"/>
          <p:cNvGraphicFramePr>
            <a:graphicFrameLocks noChangeAspect="1"/>
          </p:cNvGraphicFramePr>
          <p:nvPr/>
        </p:nvGraphicFramePr>
        <p:xfrm>
          <a:off x="7924800" y="2382838"/>
          <a:ext cx="323850" cy="360362"/>
        </p:xfrm>
        <a:graphic>
          <a:graphicData uri="http://schemas.openxmlformats.org/presentationml/2006/ole">
            <mc:AlternateContent xmlns:mc="http://schemas.openxmlformats.org/markup-compatibility/2006">
              <mc:Choice xmlns:v="urn:schemas-microsoft-com:vml" Requires="v">
                <p:oleObj spid="_x0000_s7332" name="Equation" r:id="rId5" imgW="114120" imgH="126720" progId="">
                  <p:embed/>
                </p:oleObj>
              </mc:Choice>
              <mc:Fallback>
                <p:oleObj name="Equation" r:id="rId5" imgW="114120" imgH="126720" progId="">
                  <p:embed/>
                  <p:pic>
                    <p:nvPicPr>
                      <p:cNvPr id="2867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2382838"/>
                        <a:ext cx="323850" cy="360362"/>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8676" name="Object 4"/>
          <p:cNvGraphicFramePr>
            <a:graphicFrameLocks noChangeAspect="1"/>
          </p:cNvGraphicFramePr>
          <p:nvPr/>
        </p:nvGraphicFramePr>
        <p:xfrm>
          <a:off x="7935913" y="2762251"/>
          <a:ext cx="323850" cy="360363"/>
        </p:xfrm>
        <a:graphic>
          <a:graphicData uri="http://schemas.openxmlformats.org/presentationml/2006/ole">
            <mc:AlternateContent xmlns:mc="http://schemas.openxmlformats.org/markup-compatibility/2006">
              <mc:Choice xmlns:v="urn:schemas-microsoft-com:vml" Requires="v">
                <p:oleObj spid="_x0000_s7333" name="Equation" r:id="rId6" imgW="114120" imgH="126720" progId="">
                  <p:embed/>
                </p:oleObj>
              </mc:Choice>
              <mc:Fallback>
                <p:oleObj name="Equation" r:id="rId6" imgW="114120" imgH="126720" progId="">
                  <p:embed/>
                  <p:pic>
                    <p:nvPicPr>
                      <p:cNvPr id="286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5913" y="2762251"/>
                        <a:ext cx="323850" cy="3603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74921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sz="3600" dirty="0"/>
              <a:t>Example 5: Sequences of Letters</a:t>
            </a:r>
          </a:p>
        </p:txBody>
      </p:sp>
      <mc:AlternateContent xmlns:mc="http://schemas.openxmlformats.org/markup-compatibility/2006" xmlns:a14="http://schemas.microsoft.com/office/drawing/2010/main">
        <mc:Choice Requires="a14">
          <p:sp>
            <p:nvSpPr>
              <p:cNvPr id="29702" name="Rectangle 3"/>
              <p:cNvSpPr>
                <a:spLocks noGrp="1" noChangeArrowheads="1"/>
              </p:cNvSpPr>
              <p:nvPr>
                <p:ph type="body" idx="1"/>
              </p:nvPr>
            </p:nvSpPr>
            <p:spPr/>
            <p:txBody>
              <a:bodyPr/>
              <a:lstStyle/>
              <a:p>
                <a:pPr marL="609600" indent="-609600"/>
                <a:r>
                  <a:rPr lang="en-US" dirty="0"/>
                  <a:t>How many ways are there to obtain a three-letter sequence using the letters </a:t>
                </a:r>
                <a:r>
                  <a:rPr lang="en-US" i="1" dirty="0"/>
                  <a:t>a</a:t>
                </a:r>
                <a:r>
                  <a:rPr lang="en-US" dirty="0"/>
                  <a:t>, </a:t>
                </a:r>
                <a:r>
                  <a:rPr lang="en-US" i="1" dirty="0"/>
                  <a:t>b</a:t>
                </a:r>
                <a:r>
                  <a:rPr lang="en-US" dirty="0"/>
                  <a:t>, </a:t>
                </a:r>
                <a:r>
                  <a:rPr lang="en-US" i="1" dirty="0"/>
                  <a:t>c</a:t>
                </a:r>
                <a:r>
                  <a:rPr lang="en-US" dirty="0"/>
                  <a:t>, </a:t>
                </a:r>
                <a:r>
                  <a:rPr lang="en-US" i="1" dirty="0"/>
                  <a:t>d</a:t>
                </a:r>
                <a:r>
                  <a:rPr lang="en-US" dirty="0"/>
                  <a:t>, </a:t>
                </a:r>
                <a:r>
                  <a:rPr lang="en-US" i="1" dirty="0"/>
                  <a:t>e</a:t>
                </a:r>
                <a:r>
                  <a:rPr lang="en-US" dirty="0"/>
                  <a:t>, </a:t>
                </a:r>
                <a:r>
                  <a:rPr lang="en-US" i="1" dirty="0"/>
                  <a:t>f</a:t>
                </a:r>
                <a:r>
                  <a:rPr lang="en-US" dirty="0"/>
                  <a:t>:</a:t>
                </a:r>
              </a:p>
              <a:p>
                <a:pPr marL="1752600" lvl="3" indent="-381000">
                  <a:buFontTx/>
                  <a:buAutoNum type="alphaLcParenR"/>
                </a:pPr>
                <a:r>
                  <a:rPr lang="en-US" sz="3200" dirty="0"/>
                  <a:t>with repetition of letters allowed?</a:t>
                </a:r>
              </a:p>
              <a:p>
                <a:pPr marL="1752600" lvl="3" indent="-381000">
                  <a:buFontTx/>
                  <a:buAutoNum type="alphaLcParenR"/>
                </a:pPr>
                <a:r>
                  <a:rPr lang="en-US" sz="3200" dirty="0"/>
                  <a:t>without repetition of any letter?</a:t>
                </a:r>
                <a14:m>
                  <m:oMath xmlns:m="http://schemas.openxmlformats.org/officeDocument/2006/math">
                    <m:r>
                      <a:rPr lang="en-US" sz="3200" b="0" i="1" smtClean="0">
                        <a:latin typeface="Cambria Math" panose="02040503050406030204" pitchFamily="18" charset="0"/>
                      </a:rPr>
                      <m:t>6</m:t>
                    </m:r>
                    <m:r>
                      <a:rPr lang="en-US" sz="3200" b="0" i="1" smtClean="0">
                        <a:latin typeface="Cambria Math" panose="02040503050406030204" pitchFamily="18" charset="0"/>
                        <a:ea typeface="Cambria Math" panose="02040503050406030204" pitchFamily="18" charset="0"/>
                      </a:rPr>
                      <m:t>×5×4=120</m:t>
                    </m:r>
                  </m:oMath>
                </a14:m>
                <a:endParaRPr lang="en-US" sz="3200" dirty="0"/>
              </a:p>
              <a:p>
                <a:pPr marL="1752600" lvl="3" indent="-381000">
                  <a:buFontTx/>
                  <a:buAutoNum type="alphaLcParenR"/>
                </a:pPr>
                <a:r>
                  <a:rPr lang="en-US" sz="3200" dirty="0"/>
                  <a:t>without repetition and containing the letter </a:t>
                </a:r>
                <a:r>
                  <a:rPr lang="en-US" sz="3200" i="1" dirty="0"/>
                  <a:t>e</a:t>
                </a:r>
                <a:r>
                  <a:rPr lang="en-US" sz="3200" dirty="0"/>
                  <a:t>?</a:t>
                </a:r>
              </a:p>
              <a:p>
                <a:pPr marL="1371600" lvl="3" indent="0">
                  <a:buNone/>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5</m:t>
                      </m:r>
                      <m:r>
                        <a:rPr lang="en-US" sz="3200" b="0" i="1" smtClean="0">
                          <a:latin typeface="Cambria Math" panose="02040503050406030204" pitchFamily="18" charset="0"/>
                          <a:ea typeface="Cambria Math" panose="02040503050406030204" pitchFamily="18" charset="0"/>
                        </a:rPr>
                        <m:t>×4+5×4+5×4=60</m:t>
                      </m:r>
                    </m:oMath>
                  </m:oMathPara>
                </a14:m>
                <a:endParaRPr lang="en-US" sz="3200" dirty="0"/>
              </a:p>
              <a:p>
                <a:pPr marL="1752600" lvl="3" indent="-381000">
                  <a:buFontTx/>
                  <a:buAutoNum type="alphaLcParenR"/>
                </a:pPr>
                <a:r>
                  <a:rPr lang="en-US" sz="3200" dirty="0"/>
                  <a:t>with repetition and containing </a:t>
                </a:r>
                <a:r>
                  <a:rPr lang="en-US" sz="3200" i="1" dirty="0"/>
                  <a:t>e</a:t>
                </a:r>
                <a:r>
                  <a:rPr lang="en-US" sz="3200" dirty="0"/>
                  <a:t>?</a:t>
                </a:r>
              </a:p>
              <a:p>
                <a:pPr marL="1371600" lvl="3" indent="0">
                  <a:buNone/>
                </a:pPr>
                <a14:m>
                  <m:oMathPara xmlns:m="http://schemas.openxmlformats.org/officeDocument/2006/math">
                    <m:oMathParaPr>
                      <m:jc m:val="centerGroup"/>
                    </m:oMathParaPr>
                    <m:oMath xmlns:m="http://schemas.openxmlformats.org/officeDocument/2006/math">
                      <m:sSup>
                        <m:sSupPr>
                          <m:ctrlPr>
                            <a:rPr lang="en-US" sz="3200" i="1" smtClean="0">
                              <a:latin typeface="Cambria Math" panose="02040503050406030204" pitchFamily="18" charset="0"/>
                            </a:rPr>
                          </m:ctrlPr>
                        </m:sSupPr>
                        <m:e>
                          <m:r>
                            <a:rPr lang="en-US" sz="3200" b="0" i="1" smtClean="0">
                              <a:latin typeface="Cambria Math" panose="02040503050406030204" pitchFamily="18" charset="0"/>
                            </a:rPr>
                            <m:t>6</m:t>
                          </m:r>
                        </m:e>
                        <m:sup>
                          <m:r>
                            <a:rPr lang="en-US" sz="3200" b="0" i="1" smtClean="0">
                              <a:latin typeface="Cambria Math" panose="02040503050406030204" pitchFamily="18" charset="0"/>
                            </a:rPr>
                            <m:t>3</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5</m:t>
                          </m:r>
                        </m:e>
                        <m:sup>
                          <m:r>
                            <a:rPr lang="en-US" sz="3200" b="0" i="1" smtClean="0">
                              <a:latin typeface="Cambria Math" panose="02040503050406030204" pitchFamily="18" charset="0"/>
                            </a:rPr>
                            <m:t>3</m:t>
                          </m:r>
                        </m:sup>
                      </m:sSup>
                      <m:r>
                        <a:rPr lang="en-US" sz="3200" b="0" i="1" smtClean="0">
                          <a:latin typeface="Cambria Math" panose="02040503050406030204" pitchFamily="18" charset="0"/>
                        </a:rPr>
                        <m:t>=</m:t>
                      </m:r>
                      <m:r>
                        <a:rPr lang="en-US" sz="3200" b="0" i="1" smtClean="0">
                          <a:latin typeface="Cambria Math" panose="02040503050406030204" pitchFamily="18" charset="0"/>
                        </a:rPr>
                        <m:t>𝑎𝑛𝑠𝑤𝑒𝑟</m:t>
                      </m:r>
                    </m:oMath>
                  </m:oMathPara>
                </a14:m>
                <a:endParaRPr lang="en-US" sz="3200" dirty="0"/>
              </a:p>
              <a:p>
                <a:pPr marL="2209800" lvl="4" indent="-381000">
                  <a:buFontTx/>
                  <a:buAutoNum type="alphaLcParenR"/>
                </a:pPr>
                <a:endParaRPr lang="en-US" sz="3200" dirty="0"/>
              </a:p>
            </p:txBody>
          </p:sp>
        </mc:Choice>
        <mc:Fallback xmlns="">
          <p:sp>
            <p:nvSpPr>
              <p:cNvPr id="29702" name="Rectangle 3"/>
              <p:cNvSpPr>
                <a:spLocks noGrp="1" noRot="1" noChangeAspect="1" noMove="1" noResize="1" noEditPoints="1" noAdjustHandles="1" noChangeArrowheads="1" noChangeShapeType="1" noTextEdit="1"/>
              </p:cNvSpPr>
              <p:nvPr>
                <p:ph type="body" idx="1"/>
              </p:nvPr>
            </p:nvSpPr>
            <p:spPr>
              <a:blipFill>
                <a:blip r:embed="rId2"/>
                <a:stretch>
                  <a:fillRect l="-965" t="-2632"/>
                </a:stretch>
              </a:blipFill>
            </p:spPr>
            <p:txBody>
              <a:bodyPr/>
              <a:lstStyle/>
              <a:p>
                <a:r>
                  <a:rPr lang="en-US">
                    <a:noFill/>
                  </a:rPr>
                  <a:t> </a:t>
                </a:r>
              </a:p>
            </p:txBody>
          </p:sp>
        </mc:Fallback>
      </mc:AlternateContent>
    </p:spTree>
    <p:extLst>
      <p:ext uri="{BB962C8B-B14F-4D97-AF65-F5344CB8AC3E}">
        <p14:creationId xmlns:p14="http://schemas.microsoft.com/office/powerpoint/2010/main" val="3366622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7" name="Rectangle 2"/>
          <p:cNvSpPr>
            <a:spLocks noGrp="1" noChangeArrowheads="1"/>
          </p:cNvSpPr>
          <p:nvPr>
            <p:ph type="title"/>
          </p:nvPr>
        </p:nvSpPr>
        <p:spPr/>
        <p:txBody>
          <a:bodyPr/>
          <a:lstStyle/>
          <a:p>
            <a:pPr eaLnBrk="1" hangingPunct="1"/>
            <a:r>
              <a:rPr lang="en-US" sz="3600" dirty="0"/>
              <a:t>Example 5 (continued)</a:t>
            </a:r>
          </a:p>
        </p:txBody>
      </p:sp>
      <mc:AlternateContent xmlns:mc="http://schemas.openxmlformats.org/markup-compatibility/2006" xmlns:a14="http://schemas.microsoft.com/office/drawing/2010/main">
        <mc:Choice Requires="a14">
          <p:sp>
            <p:nvSpPr>
              <p:cNvPr id="30728" name="Rectangle 3"/>
              <p:cNvSpPr>
                <a:spLocks noGrp="1" noChangeArrowheads="1"/>
              </p:cNvSpPr>
              <p:nvPr>
                <p:ph type="body" idx="1"/>
              </p:nvPr>
            </p:nvSpPr>
            <p:spPr/>
            <p:txBody>
              <a:bodyPr/>
              <a:lstStyle/>
              <a:p>
                <a:pPr marL="609600" indent="-609600">
                  <a:buFontTx/>
                  <a:buAutoNum type="alphaLcParenR"/>
                </a:pPr>
                <a:r>
                  <a:rPr lang="en-US" dirty="0"/>
                  <a:t>Repetition allowed:</a:t>
                </a:r>
              </a:p>
              <a:p>
                <a:pPr marL="609600" indent="-609600">
                  <a:buNone/>
                </a:pPr>
                <a:r>
                  <a:rPr lang="en-US" dirty="0"/>
                  <a:t>	</a:t>
                </a:r>
              </a:p>
              <a:p>
                <a:pPr marL="609600" indent="-609600">
                  <a:buNone/>
                </a:pPr>
                <a:r>
                  <a:rPr lang="en-US" dirty="0"/>
                  <a:t>	With repetition we have six letter choices for each letter in the sequence. So there are </a:t>
                </a:r>
              </a:p>
              <a:p>
                <a:pPr marL="609600" indent="-609600">
                  <a:buNone/>
                </a:pPr>
                <a:r>
                  <a:rPr lang="en-US" dirty="0"/>
                  <a:t>	</a:t>
                </a:r>
                <a14:m>
                  <m:oMath xmlns:m="http://schemas.openxmlformats.org/officeDocument/2006/math">
                    <m:r>
                      <a:rPr lang="en-US" b="0" i="1" smtClean="0">
                        <a:latin typeface="Cambria Math" panose="02040503050406030204" pitchFamily="18" charset="0"/>
                      </a:rPr>
                      <m:t>6</m:t>
                    </m:r>
                    <m:r>
                      <a:rPr lang="en-US" b="0" i="1" smtClean="0">
                        <a:latin typeface="Cambria Math" panose="02040503050406030204" pitchFamily="18" charset="0"/>
                        <a:ea typeface="Cambria Math" panose="02040503050406030204" pitchFamily="18" charset="0"/>
                      </a:rPr>
                      <m:t>×6×6=216</m:t>
                    </m:r>
                  </m:oMath>
                </a14:m>
                <a:r>
                  <a:rPr lang="en-US" dirty="0"/>
                  <a:t> three-letter sequences.</a:t>
                </a:r>
              </a:p>
              <a:p>
                <a:pPr marL="609600" indent="-609600">
                  <a:buFontTx/>
                  <a:buAutoNum type="alphaLcParenR" startAt="2"/>
                </a:pPr>
                <a:endParaRPr lang="en-US" dirty="0"/>
              </a:p>
              <a:p>
                <a:pPr marL="609600" indent="-609600">
                  <a:buFontTx/>
                  <a:buAutoNum type="alphaLcParenR" startAt="2"/>
                </a:pPr>
                <a:endParaRPr lang="en-US" dirty="0"/>
              </a:p>
            </p:txBody>
          </p:sp>
        </mc:Choice>
        <mc:Fallback xmlns="">
          <p:sp>
            <p:nvSpPr>
              <p:cNvPr id="30728" name="Rectangle 3"/>
              <p:cNvSpPr>
                <a:spLocks noGrp="1" noRot="1" noChangeAspect="1" noMove="1" noResize="1" noEditPoints="1" noAdjustHandles="1" noChangeArrowheads="1" noChangeShapeType="1" noTextEdit="1"/>
              </p:cNvSpPr>
              <p:nvPr>
                <p:ph type="body" idx="1"/>
              </p:nvPr>
            </p:nvSpPr>
            <p:spPr>
              <a:blipFill>
                <a:blip r:embed="rId2"/>
                <a:stretch>
                  <a:fillRect l="-1086" t="-2924"/>
                </a:stretch>
              </a:blipFill>
            </p:spPr>
            <p:txBody>
              <a:bodyPr/>
              <a:lstStyle/>
              <a:p>
                <a:r>
                  <a:rPr lang="en-US">
                    <a:noFill/>
                  </a:rPr>
                  <a:t> </a:t>
                </a:r>
              </a:p>
            </p:txBody>
          </p:sp>
        </mc:Fallback>
      </mc:AlternateContent>
    </p:spTree>
    <p:extLst>
      <p:ext uri="{BB962C8B-B14F-4D97-AF65-F5344CB8AC3E}">
        <p14:creationId xmlns:p14="http://schemas.microsoft.com/office/powerpoint/2010/main" val="3337943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1" name="Rectangle 2"/>
          <p:cNvSpPr>
            <a:spLocks noGrp="1" noChangeArrowheads="1"/>
          </p:cNvSpPr>
          <p:nvPr>
            <p:ph type="title"/>
          </p:nvPr>
        </p:nvSpPr>
        <p:spPr/>
        <p:txBody>
          <a:bodyPr/>
          <a:lstStyle/>
          <a:p>
            <a:pPr eaLnBrk="1" hangingPunct="1"/>
            <a:r>
              <a:rPr lang="en-US" sz="3600" dirty="0"/>
              <a:t>Example 5 (continued)</a:t>
            </a:r>
          </a:p>
        </p:txBody>
      </p:sp>
      <mc:AlternateContent xmlns:mc="http://schemas.openxmlformats.org/markup-compatibility/2006" xmlns:a14="http://schemas.microsoft.com/office/drawing/2010/main">
        <mc:Choice Requires="a14">
          <p:sp>
            <p:nvSpPr>
              <p:cNvPr id="31752" name="Rectangle 3"/>
              <p:cNvSpPr>
                <a:spLocks noGrp="1" noChangeArrowheads="1"/>
              </p:cNvSpPr>
              <p:nvPr>
                <p:ph type="body" idx="1"/>
              </p:nvPr>
            </p:nvSpPr>
            <p:spPr/>
            <p:txBody>
              <a:bodyPr/>
              <a:lstStyle/>
              <a:p>
                <a:pPr marL="609600" indent="-609600">
                  <a:buFontTx/>
                  <a:buAutoNum type="alphaLcParenR" startAt="2"/>
                </a:pPr>
                <a:r>
                  <a:rPr lang="en-US" dirty="0"/>
                  <a:t>Without any repetition:</a:t>
                </a:r>
              </a:p>
              <a:p>
                <a:pPr marL="609600" indent="-609600">
                  <a:buNone/>
                </a:pPr>
                <a:r>
                  <a:rPr lang="en-US" dirty="0"/>
                  <a:t>	</a:t>
                </a:r>
              </a:p>
              <a:p>
                <a:pPr marL="609600" indent="-609600">
                  <a:buNone/>
                </a:pPr>
                <a:r>
                  <a:rPr lang="en-US" dirty="0"/>
                  <a:t>	Without repetition we have six choices for the first letter, 5 for the second and 4 for the third, so there are </a:t>
                </a:r>
                <a14:m>
                  <m:oMath xmlns:m="http://schemas.openxmlformats.org/officeDocument/2006/math">
                    <m:r>
                      <a:rPr lang="en-US" b="0" i="1" smtClean="0">
                        <a:latin typeface="Cambria Math" panose="02040503050406030204" pitchFamily="18" charset="0"/>
                      </a:rPr>
                      <m:t>6</m:t>
                    </m:r>
                    <m:r>
                      <a:rPr lang="en-US" b="0" i="1" smtClean="0">
                        <a:latin typeface="Cambria Math" panose="02040503050406030204" pitchFamily="18" charset="0"/>
                        <a:ea typeface="Cambria Math" panose="02040503050406030204" pitchFamily="18" charset="0"/>
                      </a:rPr>
                      <m:t>×5×4</m:t>
                    </m:r>
                  </m:oMath>
                </a14:m>
                <a:r>
                  <a:rPr lang="en-US" dirty="0"/>
                  <a:t> three-letter sequences.</a:t>
                </a:r>
              </a:p>
            </p:txBody>
          </p:sp>
        </mc:Choice>
        <mc:Fallback xmlns="">
          <p:sp>
            <p:nvSpPr>
              <p:cNvPr id="31752" name="Rectangle 3"/>
              <p:cNvSpPr>
                <a:spLocks noGrp="1" noRot="1" noChangeAspect="1" noMove="1" noResize="1" noEditPoints="1" noAdjustHandles="1" noChangeArrowheads="1" noChangeShapeType="1" noTextEdit="1"/>
              </p:cNvSpPr>
              <p:nvPr>
                <p:ph type="body" idx="1"/>
              </p:nvPr>
            </p:nvSpPr>
            <p:spPr>
              <a:blipFill>
                <a:blip r:embed="rId2"/>
                <a:stretch>
                  <a:fillRect l="-1086" t="-2924" r="-121"/>
                </a:stretch>
              </a:blipFill>
            </p:spPr>
            <p:txBody>
              <a:bodyPr/>
              <a:lstStyle/>
              <a:p>
                <a:r>
                  <a:rPr lang="en-US">
                    <a:noFill/>
                  </a:rPr>
                  <a:t> </a:t>
                </a:r>
              </a:p>
            </p:txBody>
          </p:sp>
        </mc:Fallback>
      </mc:AlternateContent>
    </p:spTree>
    <p:extLst>
      <p:ext uri="{BB962C8B-B14F-4D97-AF65-F5344CB8AC3E}">
        <p14:creationId xmlns:p14="http://schemas.microsoft.com/office/powerpoint/2010/main" val="4203030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sz="3600" dirty="0"/>
              <a:t>Example 5 (continued)</a:t>
            </a:r>
          </a:p>
        </p:txBody>
      </p:sp>
      <p:sp>
        <p:nvSpPr>
          <p:cNvPr id="32774" name="Rectangle 3"/>
          <p:cNvSpPr>
            <a:spLocks noGrp="1" noChangeArrowheads="1"/>
          </p:cNvSpPr>
          <p:nvPr>
            <p:ph type="body" idx="1"/>
          </p:nvPr>
        </p:nvSpPr>
        <p:spPr>
          <a:xfrm>
            <a:off x="1981200" y="1600200"/>
            <a:ext cx="8229600" cy="2514600"/>
          </a:xfrm>
        </p:spPr>
        <p:txBody>
          <a:bodyPr>
            <a:normAutofit fontScale="92500" lnSpcReduction="10000"/>
          </a:bodyPr>
          <a:lstStyle/>
          <a:p>
            <a:pPr marL="609600" indent="-609600">
              <a:lnSpc>
                <a:spcPct val="80000"/>
              </a:lnSpc>
              <a:buFontTx/>
              <a:buAutoNum type="alphaLcParenR" startAt="3"/>
            </a:pPr>
            <a:r>
              <a:rPr lang="en-US" sz="2400">
                <a:ea typeface="Times New Roman" pitchFamily="4" charset="0"/>
                <a:cs typeface="Times New Roman" pitchFamily="4" charset="0"/>
              </a:rPr>
              <a:t>Without repetition and containing the letter </a:t>
            </a:r>
            <a:r>
              <a:rPr lang="en-US" sz="2400" i="1">
                <a:ea typeface="Times New Roman" pitchFamily="4" charset="0"/>
                <a:cs typeface="Times New Roman" pitchFamily="4" charset="0"/>
              </a:rPr>
              <a:t>e</a:t>
            </a:r>
            <a:r>
              <a:rPr lang="en-US" sz="2400">
                <a:ea typeface="Times New Roman" pitchFamily="4" charset="0"/>
                <a:cs typeface="Times New Roman" pitchFamily="4" charset="0"/>
              </a:rPr>
              <a:t>:</a:t>
            </a:r>
          </a:p>
          <a:p>
            <a:pPr marL="609600" indent="-609600">
              <a:lnSpc>
                <a:spcPct val="80000"/>
              </a:lnSpc>
              <a:buFontTx/>
              <a:buAutoNum type="alphaLcParenR" startAt="3"/>
            </a:pPr>
            <a:endParaRPr lang="en-US" sz="2400">
              <a:ea typeface="Times New Roman" pitchFamily="4" charset="0"/>
              <a:cs typeface="Times New Roman" pitchFamily="4" charset="0"/>
            </a:endParaRPr>
          </a:p>
          <a:p>
            <a:pPr marL="609600" indent="-609600">
              <a:lnSpc>
                <a:spcPct val="80000"/>
              </a:lnSpc>
              <a:buFontTx/>
              <a:buAutoNum type="alphaLcParenR" startAt="3"/>
            </a:pPr>
            <a:endParaRPr lang="en-US" sz="2400">
              <a:ea typeface="Times New Roman" pitchFamily="4" charset="0"/>
              <a:cs typeface="Times New Roman" pitchFamily="4" charset="0"/>
            </a:endParaRPr>
          </a:p>
          <a:p>
            <a:pPr marL="609600" indent="-609600">
              <a:lnSpc>
                <a:spcPct val="80000"/>
              </a:lnSpc>
              <a:buNone/>
            </a:pPr>
            <a:r>
              <a:rPr lang="en-US" sz="2400">
                <a:ea typeface="Times New Roman" pitchFamily="4" charset="0"/>
                <a:cs typeface="Times New Roman" pitchFamily="4" charset="0"/>
              </a:rPr>
              <a:t>It can be helpful to make a diagram showing the positions in a sequence.</a:t>
            </a:r>
          </a:p>
          <a:p>
            <a:pPr marL="990600" lvl="1" indent="-533400">
              <a:lnSpc>
                <a:spcPct val="80000"/>
              </a:lnSpc>
            </a:pPr>
            <a:r>
              <a:rPr lang="en-US">
                <a:ea typeface="Times New Roman" pitchFamily="4" charset="0"/>
                <a:cs typeface="Times New Roman" pitchFamily="4" charset="0"/>
              </a:rPr>
              <a:t>Since the sequence must contain </a:t>
            </a:r>
            <a:r>
              <a:rPr lang="en-US" i="1">
                <a:ea typeface="Times New Roman" pitchFamily="4" charset="0"/>
                <a:cs typeface="Times New Roman" pitchFamily="4" charset="0"/>
              </a:rPr>
              <a:t>e</a:t>
            </a:r>
            <a:r>
              <a:rPr lang="en-US">
                <a:ea typeface="Times New Roman" pitchFamily="4" charset="0"/>
                <a:cs typeface="Times New Roman" pitchFamily="4" charset="0"/>
              </a:rPr>
              <a:t>, there are three choices for which position in the sequence is </a:t>
            </a:r>
            <a:r>
              <a:rPr lang="en-US" i="1">
                <a:ea typeface="Times New Roman" pitchFamily="4" charset="0"/>
                <a:cs typeface="Times New Roman" pitchFamily="4" charset="0"/>
              </a:rPr>
              <a:t>e,</a:t>
            </a:r>
            <a:r>
              <a:rPr lang="en-US">
                <a:ea typeface="Times New Roman" pitchFamily="4" charset="0"/>
                <a:cs typeface="Times New Roman" pitchFamily="4" charset="0"/>
              </a:rPr>
              <a:t> as is shown in the following three diagrams:</a:t>
            </a:r>
          </a:p>
          <a:p>
            <a:pPr marL="990600" lvl="1" indent="-533400">
              <a:lnSpc>
                <a:spcPct val="80000"/>
              </a:lnSpc>
              <a:buFontTx/>
              <a:buChar char="•"/>
            </a:pPr>
            <a:endParaRPr lang="en-US">
              <a:ea typeface="Times New Roman" pitchFamily="4" charset="0"/>
              <a:cs typeface="Times New Roman" pitchFamily="4" charset="0"/>
            </a:endParaRPr>
          </a:p>
          <a:p>
            <a:pPr marL="990600" lvl="1" indent="-533400">
              <a:lnSpc>
                <a:spcPct val="80000"/>
              </a:lnSpc>
              <a:buFontTx/>
              <a:buChar char="•"/>
            </a:pPr>
            <a:endParaRPr lang="en-US" sz="1800" i="1"/>
          </a:p>
        </p:txBody>
      </p:sp>
      <p:grpSp>
        <p:nvGrpSpPr>
          <p:cNvPr id="32775" name="Group 19"/>
          <p:cNvGrpSpPr>
            <a:grpSpLocks/>
          </p:cNvGrpSpPr>
          <p:nvPr/>
        </p:nvGrpSpPr>
        <p:grpSpPr bwMode="auto">
          <a:xfrm>
            <a:off x="2362200" y="4876804"/>
            <a:ext cx="7391400" cy="554038"/>
            <a:chOff x="528" y="3072"/>
            <a:chExt cx="4656" cy="349"/>
          </a:xfrm>
        </p:grpSpPr>
        <p:grpSp>
          <p:nvGrpSpPr>
            <p:cNvPr id="32776" name="Group 7"/>
            <p:cNvGrpSpPr>
              <a:grpSpLocks/>
            </p:cNvGrpSpPr>
            <p:nvPr/>
          </p:nvGrpSpPr>
          <p:grpSpPr bwMode="auto">
            <a:xfrm>
              <a:off x="528" y="3360"/>
              <a:ext cx="1152" cy="0"/>
              <a:chOff x="528" y="3360"/>
              <a:chExt cx="1152" cy="0"/>
            </a:xfrm>
          </p:grpSpPr>
          <p:sp>
            <p:nvSpPr>
              <p:cNvPr id="32788" name="Line 4"/>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2789" name="Line 5"/>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2790" name="Line 6"/>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grpSp>
          <p:nvGrpSpPr>
            <p:cNvPr id="32777" name="Group 8"/>
            <p:cNvGrpSpPr>
              <a:grpSpLocks/>
            </p:cNvGrpSpPr>
            <p:nvPr/>
          </p:nvGrpSpPr>
          <p:grpSpPr bwMode="auto">
            <a:xfrm>
              <a:off x="2208" y="3360"/>
              <a:ext cx="1152" cy="0"/>
              <a:chOff x="528" y="3360"/>
              <a:chExt cx="1152" cy="0"/>
            </a:xfrm>
          </p:grpSpPr>
          <p:sp>
            <p:nvSpPr>
              <p:cNvPr id="32785" name="Line 9"/>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2786" name="Line 10"/>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2787" name="Line 11"/>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grpSp>
          <p:nvGrpSpPr>
            <p:cNvPr id="32778" name="Group 12"/>
            <p:cNvGrpSpPr>
              <a:grpSpLocks/>
            </p:cNvGrpSpPr>
            <p:nvPr/>
          </p:nvGrpSpPr>
          <p:grpSpPr bwMode="auto">
            <a:xfrm>
              <a:off x="4032" y="3360"/>
              <a:ext cx="1152" cy="48"/>
              <a:chOff x="528" y="3360"/>
              <a:chExt cx="1152" cy="0"/>
            </a:xfrm>
          </p:grpSpPr>
          <p:sp>
            <p:nvSpPr>
              <p:cNvPr id="32782" name="Line 13"/>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2783" name="Line 14"/>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2784" name="Line 15"/>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32779" name="Text Box 16"/>
            <p:cNvSpPr txBox="1">
              <a:spLocks noChangeArrowheads="1"/>
            </p:cNvSpPr>
            <p:nvPr/>
          </p:nvSpPr>
          <p:spPr bwMode="auto">
            <a:xfrm>
              <a:off x="576" y="3072"/>
              <a:ext cx="232" cy="349"/>
            </a:xfrm>
            <a:prstGeom prst="rect">
              <a:avLst/>
            </a:prstGeom>
            <a:noFill/>
            <a:ln w="9525">
              <a:noFill/>
              <a:miter lim="800000"/>
              <a:headEnd/>
              <a:tailEnd/>
            </a:ln>
          </p:spPr>
          <p:txBody>
            <a:bodyPr wrap="none">
              <a:prstTxWarp prst="textNoShape">
                <a:avLst/>
              </a:prstTxWarp>
              <a:spAutoFit/>
            </a:bodyPr>
            <a:lstStyle/>
            <a:p>
              <a:r>
                <a:rPr lang="en-US" sz="3000" i="1"/>
                <a:t>e</a:t>
              </a:r>
            </a:p>
          </p:txBody>
        </p:sp>
        <p:sp>
          <p:nvSpPr>
            <p:cNvPr id="32780" name="Text Box 17"/>
            <p:cNvSpPr txBox="1">
              <a:spLocks noChangeArrowheads="1"/>
            </p:cNvSpPr>
            <p:nvPr/>
          </p:nvSpPr>
          <p:spPr bwMode="auto">
            <a:xfrm>
              <a:off x="2688" y="3072"/>
              <a:ext cx="232" cy="349"/>
            </a:xfrm>
            <a:prstGeom prst="rect">
              <a:avLst/>
            </a:prstGeom>
            <a:noFill/>
            <a:ln w="9525">
              <a:noFill/>
              <a:miter lim="800000"/>
              <a:headEnd/>
              <a:tailEnd/>
            </a:ln>
          </p:spPr>
          <p:txBody>
            <a:bodyPr wrap="none">
              <a:prstTxWarp prst="textNoShape">
                <a:avLst/>
              </a:prstTxWarp>
              <a:spAutoFit/>
            </a:bodyPr>
            <a:lstStyle/>
            <a:p>
              <a:r>
                <a:rPr lang="en-US" sz="3000" i="1"/>
                <a:t>e</a:t>
              </a:r>
            </a:p>
          </p:txBody>
        </p:sp>
        <p:sp>
          <p:nvSpPr>
            <p:cNvPr id="32781" name="Text Box 18"/>
            <p:cNvSpPr txBox="1">
              <a:spLocks noChangeArrowheads="1"/>
            </p:cNvSpPr>
            <p:nvPr/>
          </p:nvSpPr>
          <p:spPr bwMode="auto">
            <a:xfrm>
              <a:off x="4944" y="3072"/>
              <a:ext cx="232" cy="349"/>
            </a:xfrm>
            <a:prstGeom prst="rect">
              <a:avLst/>
            </a:prstGeom>
            <a:noFill/>
            <a:ln w="9525">
              <a:noFill/>
              <a:miter lim="800000"/>
              <a:headEnd/>
              <a:tailEnd/>
            </a:ln>
          </p:spPr>
          <p:txBody>
            <a:bodyPr wrap="none">
              <a:prstTxWarp prst="textNoShape">
                <a:avLst/>
              </a:prstTxWarp>
              <a:spAutoFit/>
            </a:bodyPr>
            <a:lstStyle/>
            <a:p>
              <a:r>
                <a:rPr lang="en-US" sz="3000" i="1"/>
                <a:t>e</a:t>
              </a:r>
            </a:p>
          </p:txBody>
        </p:sp>
      </p:grpSp>
    </p:spTree>
    <p:extLst>
      <p:ext uri="{BB962C8B-B14F-4D97-AF65-F5344CB8AC3E}">
        <p14:creationId xmlns:p14="http://schemas.microsoft.com/office/powerpoint/2010/main" val="3988903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Date Placeholder 3"/>
          <p:cNvSpPr>
            <a:spLocks noGrp="1"/>
          </p:cNvSpPr>
          <p:nvPr>
            <p:ph type="dt" sz="quarter" idx="10"/>
          </p:nvPr>
        </p:nvSpPr>
        <p:spPr>
          <a:noFill/>
        </p:spPr>
        <p:txBody>
          <a:bodyPr/>
          <a:lstStyle/>
          <a:p>
            <a:fld id="{845EE9B6-B19E-F245-8760-64E225FE778A}" type="datetime1">
              <a:rPr lang="en-US" smtClean="0">
                <a:latin typeface="Times New Roman" pitchFamily="4" charset="0"/>
                <a:ea typeface="Times New Roman" pitchFamily="4" charset="0"/>
                <a:cs typeface="Times New Roman" pitchFamily="4" charset="0"/>
              </a:rPr>
              <a:pPr/>
              <a:t>11/8/2025</a:t>
            </a:fld>
            <a:endParaRPr lang="en-US">
              <a:latin typeface="Times New Roman" pitchFamily="4" charset="0"/>
              <a:ea typeface="Times New Roman" pitchFamily="4" charset="0"/>
              <a:cs typeface="Times New Roman" pitchFamily="4" charset="0"/>
            </a:endParaRPr>
          </a:p>
        </p:txBody>
      </p:sp>
      <p:sp>
        <p:nvSpPr>
          <p:cNvPr id="33797" name="Footer Placeholder 4"/>
          <p:cNvSpPr>
            <a:spLocks noGrp="1"/>
          </p:cNvSpPr>
          <p:nvPr>
            <p:ph type="ftr" sz="quarter" idx="11"/>
          </p:nvPr>
        </p:nvSpPr>
        <p:spPr>
          <a:noFill/>
        </p:spPr>
        <p:txBody>
          <a:bodyPr/>
          <a:lstStyle/>
          <a:p>
            <a:r>
              <a:rPr lang="en-US">
                <a:latin typeface="Times New Roman" pitchFamily="4" charset="0"/>
                <a:ea typeface="Times New Roman" pitchFamily="4" charset="0"/>
                <a:cs typeface="Times New Roman" pitchFamily="4" charset="0"/>
              </a:rPr>
              <a:t>Tucker, Sec. 5.1</a:t>
            </a:r>
          </a:p>
        </p:txBody>
      </p:sp>
      <p:sp>
        <p:nvSpPr>
          <p:cNvPr id="24" name="Slide Number Placeholder 5"/>
          <p:cNvSpPr>
            <a:spLocks noGrp="1"/>
          </p:cNvSpPr>
          <p:nvPr>
            <p:ph type="sldNum" sz="quarter" idx="12"/>
          </p:nvPr>
        </p:nvSpPr>
        <p:spPr/>
        <p:txBody>
          <a:bodyPr/>
          <a:lstStyle/>
          <a:p>
            <a:pPr>
              <a:defRPr/>
            </a:pPr>
            <a:fld id="{5C6FF9CC-112A-F242-80C4-DA521A87C384}" type="slidenum">
              <a:rPr lang="en-US"/>
              <a:pPr>
                <a:defRPr/>
              </a:pPr>
              <a:t>20</a:t>
            </a:fld>
            <a:endParaRPr lang="en-US"/>
          </a:p>
        </p:txBody>
      </p:sp>
      <p:sp>
        <p:nvSpPr>
          <p:cNvPr id="33799" name="Rectangle 2"/>
          <p:cNvSpPr>
            <a:spLocks noGrp="1" noChangeArrowheads="1"/>
          </p:cNvSpPr>
          <p:nvPr>
            <p:ph type="title"/>
          </p:nvPr>
        </p:nvSpPr>
        <p:spPr/>
        <p:txBody>
          <a:bodyPr/>
          <a:lstStyle/>
          <a:p>
            <a:pPr eaLnBrk="1" hangingPunct="1"/>
            <a:r>
              <a:rPr lang="en-US" sz="3600"/>
              <a:t>Example 4 (continued)</a:t>
            </a:r>
          </a:p>
        </p:txBody>
      </p:sp>
      <mc:AlternateContent xmlns:mc="http://schemas.openxmlformats.org/markup-compatibility/2006" xmlns:a14="http://schemas.microsoft.com/office/drawing/2010/main">
        <mc:Choice Requires="a14">
          <p:sp>
            <p:nvSpPr>
              <p:cNvPr id="9219" name="Rectangle 3"/>
              <p:cNvSpPr>
                <a:spLocks noGrp="1" noChangeArrowheads="1"/>
              </p:cNvSpPr>
              <p:nvPr>
                <p:ph type="body" idx="1"/>
              </p:nvPr>
            </p:nvSpPr>
            <p:spPr>
              <a:xfrm>
                <a:off x="2255839" y="1681163"/>
                <a:ext cx="7780337" cy="3916362"/>
              </a:xfrm>
            </p:spPr>
            <p:txBody>
              <a:bodyPr>
                <a:normAutofit lnSpcReduction="10000"/>
              </a:bodyPr>
              <a:lstStyle/>
              <a:p>
                <a:pPr marL="457200" indent="-457200">
                  <a:lnSpc>
                    <a:spcPct val="80000"/>
                  </a:lnSpc>
                </a:pPr>
                <a:r>
                  <a:rPr lang="en-US" sz="2600" dirty="0"/>
                  <a:t>In each diagram, there are 5 letter choices (all of the letters except </a:t>
                </a:r>
                <a:r>
                  <a:rPr lang="en-US" sz="2600" i="1" dirty="0"/>
                  <a:t>e</a:t>
                </a:r>
                <a:r>
                  <a:rPr lang="en-US" sz="2600" dirty="0"/>
                  <a:t>) for the first open position, which leaves 4 letter choices remaining for the last open position.  </a:t>
                </a:r>
              </a:p>
              <a:p>
                <a:pPr marL="457200" indent="-457200">
                  <a:lnSpc>
                    <a:spcPct val="80000"/>
                  </a:lnSpc>
                </a:pPr>
                <a:endParaRPr lang="en-US" sz="2600" dirty="0"/>
              </a:p>
              <a:p>
                <a:pPr marL="457200" indent="-457200">
                  <a:lnSpc>
                    <a:spcPct val="80000"/>
                  </a:lnSpc>
                </a:pPr>
                <a:endParaRPr lang="en-US" sz="2600" dirty="0"/>
              </a:p>
              <a:p>
                <a:pPr marL="457200" indent="-457200">
                  <a:lnSpc>
                    <a:spcPct val="80000"/>
                  </a:lnSpc>
                </a:pPr>
                <a:r>
                  <a:rPr lang="en-US" sz="2600" dirty="0"/>
                  <a:t>So, we get </a:t>
                </a:r>
              </a:p>
              <a:p>
                <a:pPr marL="1257300" lvl="2" indent="-342900" algn="ctr">
                  <a:lnSpc>
                    <a:spcPct val="80000"/>
                  </a:lnSpc>
                  <a:buFont typeface="Wingdings" pitchFamily="4" charset="2"/>
                  <a:buAutoNum type="arabicPlain" startAt="3"/>
                </a:pPr>
                <a:endParaRPr lang="en-US" sz="2600" dirty="0"/>
              </a:p>
              <a:p>
                <a:pPr marL="914400" lvl="2" indent="0" algn="ctr">
                  <a:lnSpc>
                    <a:spcPct val="80000"/>
                  </a:lnSpc>
                  <a:buNone/>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3</m:t>
                      </m:r>
                      <m:r>
                        <a:rPr lang="en-US" sz="2600" b="0" i="1" smtClean="0">
                          <a:latin typeface="Cambria Math" panose="02040503050406030204" pitchFamily="18" charset="0"/>
                          <a:ea typeface="Cambria Math" panose="02040503050406030204" pitchFamily="18" charset="0"/>
                        </a:rPr>
                        <m:t>×4×5=60</m:t>
                      </m:r>
                    </m:oMath>
                  </m:oMathPara>
                </a14:m>
                <a:endParaRPr lang="en-US" sz="2600" dirty="0"/>
              </a:p>
              <a:p>
                <a:pPr marL="1257300" lvl="2" indent="-342900" algn="ctr">
                  <a:lnSpc>
                    <a:spcPct val="80000"/>
                  </a:lnSpc>
                  <a:buNone/>
                </a:pPr>
                <a:endParaRPr lang="en-US" sz="2600" dirty="0"/>
              </a:p>
              <a:p>
                <a:pPr marL="1257300" lvl="2" indent="-342900" algn="ctr">
                  <a:lnSpc>
                    <a:spcPct val="80000"/>
                  </a:lnSpc>
                  <a:buNone/>
                </a:pPr>
                <a:r>
                  <a:rPr lang="en-US" sz="2600" dirty="0"/>
                  <a:t>three-letter sequences with </a:t>
                </a:r>
                <a:r>
                  <a:rPr lang="en-US" sz="2600" i="1" dirty="0"/>
                  <a:t>e</a:t>
                </a:r>
                <a:r>
                  <a:rPr lang="en-US" sz="2600" dirty="0"/>
                  <a:t>.</a:t>
                </a:r>
              </a:p>
            </p:txBody>
          </p:sp>
        </mc:Choice>
        <mc:Fallback xmlns="">
          <p:sp>
            <p:nvSpPr>
              <p:cNvPr id="9219" name="Rectangle 3"/>
              <p:cNvSpPr>
                <a:spLocks noGrp="1" noRot="1" noChangeAspect="1" noMove="1" noResize="1" noEditPoints="1" noAdjustHandles="1" noChangeArrowheads="1" noChangeShapeType="1" noTextEdit="1"/>
              </p:cNvSpPr>
              <p:nvPr>
                <p:ph type="body" idx="1"/>
              </p:nvPr>
            </p:nvSpPr>
            <p:spPr>
              <a:xfrm>
                <a:off x="2255839" y="1681163"/>
                <a:ext cx="7780337" cy="3916362"/>
              </a:xfrm>
              <a:blipFill>
                <a:blip r:embed="rId2"/>
                <a:stretch>
                  <a:fillRect l="-1305" t="-3883" r="-489"/>
                </a:stretch>
              </a:blipFill>
            </p:spPr>
            <p:txBody>
              <a:bodyPr/>
              <a:lstStyle/>
              <a:p>
                <a:r>
                  <a:rPr lang="en-US">
                    <a:noFill/>
                  </a:rPr>
                  <a:t> </a:t>
                </a:r>
              </a:p>
            </p:txBody>
          </p:sp>
        </mc:Fallback>
      </mc:AlternateContent>
      <p:grpSp>
        <p:nvGrpSpPr>
          <p:cNvPr id="33801" name="Group 8"/>
          <p:cNvGrpSpPr>
            <a:grpSpLocks/>
          </p:cNvGrpSpPr>
          <p:nvPr/>
        </p:nvGrpSpPr>
        <p:grpSpPr bwMode="auto">
          <a:xfrm>
            <a:off x="2159000" y="3179767"/>
            <a:ext cx="7391400" cy="554038"/>
            <a:chOff x="528" y="3072"/>
            <a:chExt cx="4656" cy="349"/>
          </a:xfrm>
        </p:grpSpPr>
        <p:grpSp>
          <p:nvGrpSpPr>
            <p:cNvPr id="33802" name="Group 9"/>
            <p:cNvGrpSpPr>
              <a:grpSpLocks/>
            </p:cNvGrpSpPr>
            <p:nvPr/>
          </p:nvGrpSpPr>
          <p:grpSpPr bwMode="auto">
            <a:xfrm>
              <a:off x="528" y="3360"/>
              <a:ext cx="1152" cy="0"/>
              <a:chOff x="528" y="3360"/>
              <a:chExt cx="1152" cy="0"/>
            </a:xfrm>
          </p:grpSpPr>
          <p:sp>
            <p:nvSpPr>
              <p:cNvPr id="33814" name="Line 10"/>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3815" name="Line 11"/>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3816" name="Line 12"/>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grpSp>
          <p:nvGrpSpPr>
            <p:cNvPr id="33803" name="Group 13"/>
            <p:cNvGrpSpPr>
              <a:grpSpLocks/>
            </p:cNvGrpSpPr>
            <p:nvPr/>
          </p:nvGrpSpPr>
          <p:grpSpPr bwMode="auto">
            <a:xfrm>
              <a:off x="2208" y="3360"/>
              <a:ext cx="1152" cy="0"/>
              <a:chOff x="528" y="3360"/>
              <a:chExt cx="1152" cy="0"/>
            </a:xfrm>
          </p:grpSpPr>
          <p:sp>
            <p:nvSpPr>
              <p:cNvPr id="33811" name="Line 14"/>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3812" name="Line 15"/>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3813" name="Line 16"/>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grpSp>
          <p:nvGrpSpPr>
            <p:cNvPr id="33804" name="Group 17"/>
            <p:cNvGrpSpPr>
              <a:grpSpLocks/>
            </p:cNvGrpSpPr>
            <p:nvPr/>
          </p:nvGrpSpPr>
          <p:grpSpPr bwMode="auto">
            <a:xfrm>
              <a:off x="4032" y="3360"/>
              <a:ext cx="1152" cy="48"/>
              <a:chOff x="528" y="3360"/>
              <a:chExt cx="1152" cy="0"/>
            </a:xfrm>
          </p:grpSpPr>
          <p:sp>
            <p:nvSpPr>
              <p:cNvPr id="33808" name="Line 18"/>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3809" name="Line 19"/>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3810" name="Line 20"/>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33805" name="Text Box 21"/>
            <p:cNvSpPr txBox="1">
              <a:spLocks noChangeArrowheads="1"/>
            </p:cNvSpPr>
            <p:nvPr/>
          </p:nvSpPr>
          <p:spPr bwMode="auto">
            <a:xfrm>
              <a:off x="576" y="3072"/>
              <a:ext cx="232" cy="349"/>
            </a:xfrm>
            <a:prstGeom prst="rect">
              <a:avLst/>
            </a:prstGeom>
            <a:noFill/>
            <a:ln w="9525">
              <a:noFill/>
              <a:miter lim="800000"/>
              <a:headEnd/>
              <a:tailEnd/>
            </a:ln>
          </p:spPr>
          <p:txBody>
            <a:bodyPr wrap="none">
              <a:prstTxWarp prst="textNoShape">
                <a:avLst/>
              </a:prstTxWarp>
              <a:spAutoFit/>
            </a:bodyPr>
            <a:lstStyle/>
            <a:p>
              <a:r>
                <a:rPr lang="en-US" sz="3000" i="1"/>
                <a:t>e</a:t>
              </a:r>
            </a:p>
          </p:txBody>
        </p:sp>
        <p:sp>
          <p:nvSpPr>
            <p:cNvPr id="33806" name="Text Box 22"/>
            <p:cNvSpPr txBox="1">
              <a:spLocks noChangeArrowheads="1"/>
            </p:cNvSpPr>
            <p:nvPr/>
          </p:nvSpPr>
          <p:spPr bwMode="auto">
            <a:xfrm>
              <a:off x="2688" y="3072"/>
              <a:ext cx="232" cy="349"/>
            </a:xfrm>
            <a:prstGeom prst="rect">
              <a:avLst/>
            </a:prstGeom>
            <a:noFill/>
            <a:ln w="9525">
              <a:noFill/>
              <a:miter lim="800000"/>
              <a:headEnd/>
              <a:tailEnd/>
            </a:ln>
          </p:spPr>
          <p:txBody>
            <a:bodyPr wrap="none">
              <a:prstTxWarp prst="textNoShape">
                <a:avLst/>
              </a:prstTxWarp>
              <a:spAutoFit/>
            </a:bodyPr>
            <a:lstStyle/>
            <a:p>
              <a:r>
                <a:rPr lang="en-US" sz="3000" i="1"/>
                <a:t>e</a:t>
              </a:r>
            </a:p>
          </p:txBody>
        </p:sp>
        <p:sp>
          <p:nvSpPr>
            <p:cNvPr id="33807" name="Text Box 23"/>
            <p:cNvSpPr txBox="1">
              <a:spLocks noChangeArrowheads="1"/>
            </p:cNvSpPr>
            <p:nvPr/>
          </p:nvSpPr>
          <p:spPr bwMode="auto">
            <a:xfrm>
              <a:off x="4944" y="3072"/>
              <a:ext cx="232" cy="349"/>
            </a:xfrm>
            <a:prstGeom prst="rect">
              <a:avLst/>
            </a:prstGeom>
            <a:noFill/>
            <a:ln w="9525">
              <a:noFill/>
              <a:miter lim="800000"/>
              <a:headEnd/>
              <a:tailEnd/>
            </a:ln>
          </p:spPr>
          <p:txBody>
            <a:bodyPr wrap="none">
              <a:prstTxWarp prst="textNoShape">
                <a:avLst/>
              </a:prstTxWarp>
              <a:spAutoFit/>
            </a:bodyPr>
            <a:lstStyle/>
            <a:p>
              <a:r>
                <a:rPr lang="en-US" sz="3000" i="1"/>
                <a:t>e</a:t>
              </a:r>
            </a:p>
          </p:txBody>
        </p:sp>
      </p:grpSp>
    </p:spTree>
    <p:extLst>
      <p:ext uri="{BB962C8B-B14F-4D97-AF65-F5344CB8AC3E}">
        <p14:creationId xmlns:p14="http://schemas.microsoft.com/office/powerpoint/2010/main" val="3327431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Rectangle 2"/>
          <p:cNvSpPr>
            <a:spLocks noGrp="1" noChangeArrowheads="1"/>
          </p:cNvSpPr>
          <p:nvPr>
            <p:ph type="title"/>
          </p:nvPr>
        </p:nvSpPr>
        <p:spPr/>
        <p:txBody>
          <a:bodyPr/>
          <a:lstStyle/>
          <a:p>
            <a:pPr eaLnBrk="1" hangingPunct="1"/>
            <a:r>
              <a:rPr lang="en-US" sz="3600"/>
              <a:t>Example 4 (continued)</a:t>
            </a:r>
          </a:p>
        </p:txBody>
      </p:sp>
      <mc:AlternateContent xmlns:mc="http://schemas.openxmlformats.org/markup-compatibility/2006" xmlns:a14="http://schemas.microsoft.com/office/drawing/2010/main">
        <mc:Choice Requires="a14">
          <p:sp>
            <p:nvSpPr>
              <p:cNvPr id="34824" name="Rectangle 3"/>
              <p:cNvSpPr>
                <a:spLocks noGrp="1" noChangeArrowheads="1"/>
              </p:cNvSpPr>
              <p:nvPr>
                <p:ph type="body" idx="1"/>
              </p:nvPr>
            </p:nvSpPr>
            <p:spPr/>
            <p:txBody>
              <a:bodyPr/>
              <a:lstStyle/>
              <a:p>
                <a:pPr marL="609600" indent="-609600">
                  <a:buFontTx/>
                  <a:buAutoNum type="alphaLcParenR" startAt="4"/>
                </a:pPr>
                <a:r>
                  <a:rPr lang="en-US" dirty="0"/>
                  <a:t>With repetition and containing the letter </a:t>
                </a:r>
                <a:r>
                  <a:rPr lang="en-US" i="1" dirty="0"/>
                  <a:t>e</a:t>
                </a:r>
                <a:r>
                  <a:rPr lang="en-US" dirty="0"/>
                  <a:t>:</a:t>
                </a:r>
              </a:p>
              <a:p>
                <a:pPr marL="609600" indent="-609600">
                  <a:buFontTx/>
                  <a:buAutoNum type="alphaLcParenR" startAt="4"/>
                </a:pPr>
                <a:endParaRPr lang="en-US" dirty="0"/>
              </a:p>
              <a:p>
                <a:pPr marL="609600" indent="-609600">
                  <a:buNone/>
                </a:pPr>
                <a:r>
                  <a:rPr lang="en-US" dirty="0"/>
                  <a:t>	Start with approach used in c), but this time, repetition is allowed. For any of the three choices for </a:t>
                </a:r>
                <a:r>
                  <a:rPr lang="en-US" i="1" dirty="0"/>
                  <a:t>e</a:t>
                </a:r>
                <a:r>
                  <a:rPr lang="en-US" dirty="0"/>
                  <a:t>’s position, there are six letter choices for each of the other two positions, which would mean that there are </a:t>
                </a:r>
                <a14:m>
                  <m:oMath xmlns:m="http://schemas.openxmlformats.org/officeDocument/2006/math">
                    <m:r>
                      <a:rPr lang="en-US" b="0" i="1" smtClean="0">
                        <a:latin typeface="Cambria Math" panose="02040503050406030204" pitchFamily="18" charset="0"/>
                      </a:rPr>
                      <m:t>6</m:t>
                    </m:r>
                    <m:r>
                      <a:rPr lang="en-US" b="0" i="1" smtClean="0">
                        <a:latin typeface="Cambria Math" panose="02040503050406030204" pitchFamily="18" charset="0"/>
                        <a:ea typeface="Cambria Math" panose="02040503050406030204" pitchFamily="18" charset="0"/>
                      </a:rPr>
                      <m:t>×6=36</m:t>
                    </m:r>
                  </m:oMath>
                </a14:m>
                <a:r>
                  <a:rPr lang="en-US" dirty="0"/>
                  <a:t> choices for the other two positions. But the answer of </a:t>
                </a:r>
                <a14:m>
                  <m:oMath xmlns:m="http://schemas.openxmlformats.org/officeDocument/2006/math">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×36=108</m:t>
                    </m:r>
                  </m:oMath>
                </a14:m>
                <a:r>
                  <a:rPr lang="en-US" dirty="0"/>
                  <a:t> is incorrect.	</a:t>
                </a:r>
              </a:p>
            </p:txBody>
          </p:sp>
        </mc:Choice>
        <mc:Fallback xmlns="">
          <p:sp>
            <p:nvSpPr>
              <p:cNvPr id="34824" name="Rectangle 3"/>
              <p:cNvSpPr>
                <a:spLocks noGrp="1" noRot="1" noChangeAspect="1" noMove="1" noResize="1" noEditPoints="1" noAdjustHandles="1" noChangeArrowheads="1" noChangeShapeType="1" noTextEdit="1"/>
              </p:cNvSpPr>
              <p:nvPr>
                <p:ph type="body" idx="1"/>
              </p:nvPr>
            </p:nvSpPr>
            <p:spPr>
              <a:blipFill>
                <a:blip r:embed="rId2"/>
                <a:stretch>
                  <a:fillRect l="-1086" t="-2924" r="-121"/>
                </a:stretch>
              </a:blipFill>
            </p:spPr>
            <p:txBody>
              <a:bodyPr/>
              <a:lstStyle/>
              <a:p>
                <a:r>
                  <a:rPr lang="en-US">
                    <a:noFill/>
                  </a:rPr>
                  <a:t> </a:t>
                </a:r>
              </a:p>
            </p:txBody>
          </p:sp>
        </mc:Fallback>
      </mc:AlternateContent>
    </p:spTree>
    <p:extLst>
      <p:ext uri="{BB962C8B-B14F-4D97-AF65-F5344CB8AC3E}">
        <p14:creationId xmlns:p14="http://schemas.microsoft.com/office/powerpoint/2010/main" val="2766261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3"/>
          <p:cNvSpPr>
            <a:spLocks noGrp="1" noChangeArrowheads="1"/>
          </p:cNvSpPr>
          <p:nvPr>
            <p:ph type="body" idx="1"/>
          </p:nvPr>
        </p:nvSpPr>
        <p:spPr/>
        <p:txBody>
          <a:bodyPr/>
          <a:lstStyle/>
          <a:p>
            <a:pPr eaLnBrk="1" hangingPunct="1">
              <a:lnSpc>
                <a:spcPct val="90000"/>
              </a:lnSpc>
            </a:pPr>
            <a:r>
              <a:rPr lang="en-US"/>
              <a:t>The problem is that some sequences were counted more than once using the previous method. Consider this sequence:</a:t>
            </a:r>
          </a:p>
          <a:p>
            <a:pPr eaLnBrk="1" hangingPunct="1">
              <a:lnSpc>
                <a:spcPct val="90000"/>
              </a:lnSpc>
            </a:pPr>
            <a:endParaRPr lang="en-US"/>
          </a:p>
          <a:p>
            <a:pPr eaLnBrk="1" hangingPunct="1">
              <a:lnSpc>
                <a:spcPct val="90000"/>
              </a:lnSpc>
            </a:pPr>
            <a:endParaRPr lang="en-US"/>
          </a:p>
          <a:p>
            <a:pPr eaLnBrk="1" hangingPunct="1">
              <a:lnSpc>
                <a:spcPct val="90000"/>
              </a:lnSpc>
              <a:buFont typeface="Wingdings" pitchFamily="4" charset="2"/>
              <a:buNone/>
            </a:pPr>
            <a:r>
              <a:rPr lang="en-US"/>
              <a:t>It was generated twice using our previous method: once when </a:t>
            </a:r>
            <a:r>
              <a:rPr lang="en-US" i="1"/>
              <a:t>e</a:t>
            </a:r>
            <a:r>
              <a:rPr lang="en-US"/>
              <a:t> was put in the first position and followed by </a:t>
            </a:r>
            <a:r>
              <a:rPr lang="en-US" i="1"/>
              <a:t>ce</a:t>
            </a:r>
            <a:r>
              <a:rPr lang="en-US"/>
              <a:t> as one of the 36 choices for the latter two positions, and once when </a:t>
            </a:r>
            <a:r>
              <a:rPr lang="en-US" i="1"/>
              <a:t>e</a:t>
            </a:r>
            <a:r>
              <a:rPr lang="en-US"/>
              <a:t> was put in the third position with </a:t>
            </a:r>
            <a:r>
              <a:rPr lang="en-US" i="1"/>
              <a:t>ec</a:t>
            </a:r>
            <a:r>
              <a:rPr lang="en-US"/>
              <a:t> in the first two positions.</a:t>
            </a:r>
          </a:p>
          <a:p>
            <a:pPr algn="ctr" eaLnBrk="1" hangingPunct="1">
              <a:lnSpc>
                <a:spcPct val="90000"/>
              </a:lnSpc>
              <a:buFont typeface="Wingdings" pitchFamily="4" charset="2"/>
              <a:buNone/>
            </a:pPr>
            <a:endParaRPr lang="en-US"/>
          </a:p>
        </p:txBody>
      </p:sp>
      <p:sp>
        <p:nvSpPr>
          <p:cNvPr id="35846" name="Rectangle 2"/>
          <p:cNvSpPr>
            <a:spLocks noGrp="1" noChangeArrowheads="1"/>
          </p:cNvSpPr>
          <p:nvPr>
            <p:ph type="title"/>
          </p:nvPr>
        </p:nvSpPr>
        <p:spPr/>
        <p:txBody>
          <a:bodyPr/>
          <a:lstStyle/>
          <a:p>
            <a:pPr eaLnBrk="1" hangingPunct="1"/>
            <a:r>
              <a:rPr lang="en-US" sz="3600" dirty="0"/>
              <a:t>Example 5 (continued)</a:t>
            </a:r>
          </a:p>
        </p:txBody>
      </p:sp>
      <p:grpSp>
        <p:nvGrpSpPr>
          <p:cNvPr id="35847" name="Group 4"/>
          <p:cNvGrpSpPr>
            <a:grpSpLocks/>
          </p:cNvGrpSpPr>
          <p:nvPr/>
        </p:nvGrpSpPr>
        <p:grpSpPr bwMode="auto">
          <a:xfrm>
            <a:off x="4876800" y="3581400"/>
            <a:ext cx="1828800" cy="0"/>
            <a:chOff x="528" y="3360"/>
            <a:chExt cx="1152" cy="0"/>
          </a:xfrm>
        </p:grpSpPr>
        <p:sp>
          <p:nvSpPr>
            <p:cNvPr id="35851" name="Line 5"/>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5852" name="Line 6"/>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5853" name="Line 7"/>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35848" name="Text Box 9"/>
          <p:cNvSpPr txBox="1">
            <a:spLocks noChangeArrowheads="1"/>
          </p:cNvSpPr>
          <p:nvPr/>
        </p:nvSpPr>
        <p:spPr bwMode="auto">
          <a:xfrm>
            <a:off x="5638801" y="3124201"/>
            <a:ext cx="320675" cy="549275"/>
          </a:xfrm>
          <a:prstGeom prst="rect">
            <a:avLst/>
          </a:prstGeom>
          <a:noFill/>
          <a:ln w="9525">
            <a:noFill/>
            <a:miter lim="800000"/>
            <a:headEnd/>
            <a:tailEnd/>
          </a:ln>
        </p:spPr>
        <p:txBody>
          <a:bodyPr>
            <a:prstTxWarp prst="textNoShape">
              <a:avLst/>
            </a:prstTxWarp>
            <a:spAutoFit/>
          </a:bodyPr>
          <a:lstStyle/>
          <a:p>
            <a:pPr>
              <a:spcBef>
                <a:spcPct val="50000"/>
              </a:spcBef>
            </a:pPr>
            <a:r>
              <a:rPr lang="en-US" sz="3000" i="1"/>
              <a:t>c</a:t>
            </a:r>
          </a:p>
        </p:txBody>
      </p:sp>
      <p:sp>
        <p:nvSpPr>
          <p:cNvPr id="35849" name="Text Box 10"/>
          <p:cNvSpPr txBox="1">
            <a:spLocks noChangeArrowheads="1"/>
          </p:cNvSpPr>
          <p:nvPr/>
        </p:nvSpPr>
        <p:spPr bwMode="auto">
          <a:xfrm>
            <a:off x="6324601" y="3124201"/>
            <a:ext cx="320675" cy="549275"/>
          </a:xfrm>
          <a:prstGeom prst="rect">
            <a:avLst/>
          </a:prstGeom>
          <a:noFill/>
          <a:ln w="9525">
            <a:noFill/>
            <a:miter lim="800000"/>
            <a:headEnd/>
            <a:tailEnd/>
          </a:ln>
        </p:spPr>
        <p:txBody>
          <a:bodyPr>
            <a:prstTxWarp prst="textNoShape">
              <a:avLst/>
            </a:prstTxWarp>
            <a:spAutoFit/>
          </a:bodyPr>
          <a:lstStyle/>
          <a:p>
            <a:pPr>
              <a:spcBef>
                <a:spcPct val="50000"/>
              </a:spcBef>
            </a:pPr>
            <a:r>
              <a:rPr lang="en-US" sz="3000" i="1"/>
              <a:t>e</a:t>
            </a:r>
          </a:p>
        </p:txBody>
      </p:sp>
      <p:sp>
        <p:nvSpPr>
          <p:cNvPr id="35850" name="Text Box 11"/>
          <p:cNvSpPr txBox="1">
            <a:spLocks noChangeArrowheads="1"/>
          </p:cNvSpPr>
          <p:nvPr/>
        </p:nvSpPr>
        <p:spPr bwMode="auto">
          <a:xfrm>
            <a:off x="4953001" y="3124201"/>
            <a:ext cx="320675" cy="549275"/>
          </a:xfrm>
          <a:prstGeom prst="rect">
            <a:avLst/>
          </a:prstGeom>
          <a:noFill/>
          <a:ln w="9525">
            <a:noFill/>
            <a:miter lim="800000"/>
            <a:headEnd/>
            <a:tailEnd/>
          </a:ln>
        </p:spPr>
        <p:txBody>
          <a:bodyPr>
            <a:prstTxWarp prst="textNoShape">
              <a:avLst/>
            </a:prstTxWarp>
            <a:spAutoFit/>
          </a:bodyPr>
          <a:lstStyle/>
          <a:p>
            <a:pPr>
              <a:spcBef>
                <a:spcPct val="50000"/>
              </a:spcBef>
            </a:pPr>
            <a:r>
              <a:rPr lang="en-US" sz="3000" i="1"/>
              <a:t>e</a:t>
            </a:r>
          </a:p>
        </p:txBody>
      </p:sp>
    </p:spTree>
    <p:extLst>
      <p:ext uri="{BB962C8B-B14F-4D97-AF65-F5344CB8AC3E}">
        <p14:creationId xmlns:p14="http://schemas.microsoft.com/office/powerpoint/2010/main" val="703674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1" name="Rectangle 3"/>
              <p:cNvSpPr>
                <a:spLocks noGrp="1" noChangeArrowheads="1"/>
              </p:cNvSpPr>
              <p:nvPr>
                <p:ph type="body" idx="1"/>
              </p:nvPr>
            </p:nvSpPr>
            <p:spPr/>
            <p:txBody>
              <a:bodyPr>
                <a:normAutofit fontScale="92500" lnSpcReduction="20000"/>
              </a:bodyPr>
              <a:lstStyle/>
              <a:p>
                <a:pPr eaLnBrk="1" hangingPunct="1">
                  <a:lnSpc>
                    <a:spcPct val="80000"/>
                  </a:lnSpc>
                </a:pPr>
                <a:r>
                  <a:rPr lang="en-US" sz="1800" dirty="0"/>
                  <a:t>We must use an approach that breaks up the problem into parts.</a:t>
                </a:r>
              </a:p>
              <a:p>
                <a:pPr eaLnBrk="1" hangingPunct="1">
                  <a:lnSpc>
                    <a:spcPct val="80000"/>
                  </a:lnSpc>
                </a:pPr>
                <a:r>
                  <a:rPr lang="en-US" sz="1800" dirty="0"/>
                  <a:t>First suppose the first </a:t>
                </a:r>
                <a:r>
                  <a:rPr lang="en-US" sz="1800" i="1" dirty="0"/>
                  <a:t>e</a:t>
                </a:r>
                <a:r>
                  <a:rPr lang="en-US" sz="1800" dirty="0"/>
                  <a:t> is in the first position:</a:t>
                </a:r>
              </a:p>
              <a:p>
                <a:pPr eaLnBrk="1" hangingPunct="1">
                  <a:lnSpc>
                    <a:spcPct val="80000"/>
                  </a:lnSpc>
                </a:pPr>
                <a:endParaRPr lang="en-US" sz="1800" dirty="0"/>
              </a:p>
              <a:p>
                <a:pPr eaLnBrk="1" hangingPunct="1">
                  <a:lnSpc>
                    <a:spcPct val="80000"/>
                  </a:lnSpc>
                </a:pPr>
                <a:r>
                  <a:rPr lang="en-US" sz="1800" dirty="0"/>
                  <a:t>Thus, there are six choices for the second and third positions:  (6    6) ways.</a:t>
                </a:r>
              </a:p>
              <a:p>
                <a:pPr eaLnBrk="1" hangingPunct="1">
                  <a:lnSpc>
                    <a:spcPct val="80000"/>
                  </a:lnSpc>
                </a:pPr>
                <a:r>
                  <a:rPr lang="en-US" sz="1800" dirty="0"/>
                  <a:t>Next, suppose the first e is in the second position:</a:t>
                </a:r>
              </a:p>
              <a:p>
                <a:pPr eaLnBrk="1" hangingPunct="1">
                  <a:lnSpc>
                    <a:spcPct val="80000"/>
                  </a:lnSpc>
                </a:pPr>
                <a:endParaRPr lang="en-US" sz="1800" dirty="0"/>
              </a:p>
              <a:p>
                <a:pPr eaLnBrk="1" hangingPunct="1">
                  <a:lnSpc>
                    <a:spcPct val="80000"/>
                  </a:lnSpc>
                </a:pPr>
                <a:endParaRPr lang="en-US" sz="1800" dirty="0"/>
              </a:p>
              <a:p>
                <a:pPr eaLnBrk="1" hangingPunct="1">
                  <a:lnSpc>
                    <a:spcPct val="80000"/>
                  </a:lnSpc>
                </a:pPr>
                <a:r>
                  <a:rPr lang="en-US" sz="1800" dirty="0"/>
                  <a:t>Then there are 5 choices for the first position and six choices for the last position   (5   6).</a:t>
                </a:r>
              </a:p>
              <a:p>
                <a:pPr eaLnBrk="1" hangingPunct="1">
                  <a:lnSpc>
                    <a:spcPct val="80000"/>
                  </a:lnSpc>
                </a:pPr>
                <a:endParaRPr lang="en-US" sz="1800" dirty="0"/>
              </a:p>
              <a:p>
                <a:pPr eaLnBrk="1" hangingPunct="1">
                  <a:lnSpc>
                    <a:spcPct val="80000"/>
                  </a:lnSpc>
                </a:pPr>
                <a:r>
                  <a:rPr lang="en-US" sz="1800" dirty="0"/>
                  <a:t>Finally, let the first (and only) </a:t>
                </a:r>
                <a:r>
                  <a:rPr lang="en-US" sz="1800" i="1" dirty="0"/>
                  <a:t>e</a:t>
                </a:r>
                <a:r>
                  <a:rPr lang="en-US" sz="1800" dirty="0"/>
                  <a:t> be in the last position:</a:t>
                </a:r>
              </a:p>
              <a:p>
                <a:pPr eaLnBrk="1" hangingPunct="1">
                  <a:lnSpc>
                    <a:spcPct val="80000"/>
                  </a:lnSpc>
                </a:pPr>
                <a:endParaRPr lang="en-US" sz="1800" i="1" dirty="0"/>
              </a:p>
              <a:p>
                <a:pPr eaLnBrk="1" hangingPunct="1">
                  <a:lnSpc>
                    <a:spcPct val="80000"/>
                  </a:lnSpc>
                </a:pPr>
                <a:endParaRPr lang="en-US" sz="1800" dirty="0"/>
              </a:p>
              <a:p>
                <a:pPr eaLnBrk="1" hangingPunct="1">
                  <a:lnSpc>
                    <a:spcPct val="80000"/>
                  </a:lnSpc>
                </a:pPr>
                <a:r>
                  <a:rPr lang="en-US" sz="1800" dirty="0"/>
                  <a:t>Then there are 5 choices for each of the two first positions (5    5).</a:t>
                </a:r>
              </a:p>
              <a:p>
                <a:pPr eaLnBrk="1" hangingPunct="1">
                  <a:lnSpc>
                    <a:spcPct val="80000"/>
                  </a:lnSpc>
                </a:pPr>
                <a:endParaRPr lang="en-US" sz="1800" dirty="0"/>
              </a:p>
              <a:p>
                <a:pPr eaLnBrk="1" hangingPunct="1">
                  <a:lnSpc>
                    <a:spcPct val="80000"/>
                  </a:lnSpc>
                </a:pPr>
                <a:r>
                  <a:rPr lang="en-US" sz="1800" dirty="0"/>
                  <a:t>Our final answer is </a:t>
                </a:r>
                <a14:m>
                  <m:oMath xmlns:m="http://schemas.openxmlformats.org/officeDocument/2006/math">
                    <m:d>
                      <m:dPr>
                        <m:ctrlPr>
                          <a:rPr lang="en-US" sz="1800" b="0" i="1" smtClean="0">
                            <a:latin typeface="Cambria Math" panose="02040503050406030204" pitchFamily="18" charset="0"/>
                          </a:rPr>
                        </m:ctrlPr>
                      </m:dPr>
                      <m:e>
                        <m:r>
                          <a:rPr lang="en-US" sz="1800" b="0" i="1" smtClean="0">
                            <a:latin typeface="Cambria Math" panose="02040503050406030204" pitchFamily="18" charset="0"/>
                          </a:rPr>
                          <m:t>6</m:t>
                        </m:r>
                        <m:r>
                          <a:rPr lang="en-US" sz="1800" b="0" i="1" smtClean="0">
                            <a:latin typeface="Cambria Math" panose="02040503050406030204" pitchFamily="18" charset="0"/>
                            <a:ea typeface="Cambria Math" panose="02040503050406030204" pitchFamily="18" charset="0"/>
                          </a:rPr>
                          <m:t>×6</m:t>
                        </m:r>
                      </m:e>
                    </m:d>
                    <m:r>
                      <a:rPr lang="en-US" sz="1800" b="0" i="1" smtClean="0">
                        <a:latin typeface="Cambria Math" panose="02040503050406030204" pitchFamily="18" charset="0"/>
                        <a:ea typeface="Cambria Math" panose="02040503050406030204" pitchFamily="18" charset="0"/>
                      </a:rPr>
                      <m:t>+</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5×6</m:t>
                        </m:r>
                      </m:e>
                    </m:d>
                    <m:r>
                      <a:rPr lang="en-US" sz="1800" b="0" i="1" smtClean="0">
                        <a:latin typeface="Cambria Math" panose="02040503050406030204" pitchFamily="18" charset="0"/>
                        <a:ea typeface="Cambria Math" panose="02040503050406030204" pitchFamily="18" charset="0"/>
                      </a:rPr>
                      <m:t>+</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5×5</m:t>
                        </m:r>
                      </m:e>
                    </m:d>
                    <m:r>
                      <a:rPr lang="en-US" sz="1800" b="0" i="1" smtClean="0">
                        <a:latin typeface="Cambria Math" panose="02040503050406030204" pitchFamily="18" charset="0"/>
                        <a:ea typeface="Cambria Math" panose="02040503050406030204" pitchFamily="18" charset="0"/>
                      </a:rPr>
                      <m:t>=91</m:t>
                    </m:r>
                  </m:oMath>
                </a14:m>
                <a:endParaRPr lang="en-US" sz="1800" dirty="0"/>
              </a:p>
            </p:txBody>
          </p:sp>
        </mc:Choice>
        <mc:Fallback xmlns="">
          <p:sp>
            <p:nvSpPr>
              <p:cNvPr id="12291" name="Rectangle 3"/>
              <p:cNvSpPr>
                <a:spLocks noGrp="1" noRot="1" noChangeAspect="1" noMove="1" noResize="1" noEditPoints="1" noAdjustHandles="1" noChangeArrowheads="1" noChangeShapeType="1" noTextEdit="1"/>
              </p:cNvSpPr>
              <p:nvPr>
                <p:ph type="body" idx="1"/>
              </p:nvPr>
            </p:nvSpPr>
            <p:spPr>
              <a:blipFill>
                <a:blip r:embed="rId3"/>
                <a:stretch>
                  <a:fillRect l="-241" t="-2924"/>
                </a:stretch>
              </a:blipFill>
            </p:spPr>
            <p:txBody>
              <a:bodyPr/>
              <a:lstStyle/>
              <a:p>
                <a:r>
                  <a:rPr lang="en-US">
                    <a:noFill/>
                  </a:rPr>
                  <a:t> </a:t>
                </a:r>
              </a:p>
            </p:txBody>
          </p:sp>
        </mc:Fallback>
      </mc:AlternateContent>
      <p:sp>
        <p:nvSpPr>
          <p:cNvPr id="36876" name="Rectangle 2"/>
          <p:cNvSpPr>
            <a:spLocks noGrp="1" noChangeArrowheads="1"/>
          </p:cNvSpPr>
          <p:nvPr>
            <p:ph type="title"/>
          </p:nvPr>
        </p:nvSpPr>
        <p:spPr/>
        <p:txBody>
          <a:bodyPr/>
          <a:lstStyle/>
          <a:p>
            <a:pPr eaLnBrk="1" hangingPunct="1"/>
            <a:r>
              <a:rPr lang="en-US" sz="3600" dirty="0"/>
              <a:t>Example 5 (continued)</a:t>
            </a:r>
          </a:p>
        </p:txBody>
      </p:sp>
      <p:grpSp>
        <p:nvGrpSpPr>
          <p:cNvPr id="36877" name="Group 4"/>
          <p:cNvGrpSpPr>
            <a:grpSpLocks/>
          </p:cNvGrpSpPr>
          <p:nvPr/>
        </p:nvGrpSpPr>
        <p:grpSpPr bwMode="auto">
          <a:xfrm>
            <a:off x="5105400" y="2438400"/>
            <a:ext cx="1447800" cy="0"/>
            <a:chOff x="528" y="3360"/>
            <a:chExt cx="1152" cy="0"/>
          </a:xfrm>
        </p:grpSpPr>
        <p:sp>
          <p:nvSpPr>
            <p:cNvPr id="36892" name="Line 5"/>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6893" name="Line 6"/>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6894" name="Line 7"/>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36878" name="Text Box 8"/>
          <p:cNvSpPr txBox="1">
            <a:spLocks noChangeArrowheads="1"/>
          </p:cNvSpPr>
          <p:nvPr/>
        </p:nvSpPr>
        <p:spPr bwMode="auto">
          <a:xfrm>
            <a:off x="5165726" y="2133601"/>
            <a:ext cx="473075" cy="366713"/>
          </a:xfrm>
          <a:prstGeom prst="rect">
            <a:avLst/>
          </a:prstGeom>
          <a:noFill/>
          <a:ln w="9525">
            <a:noFill/>
            <a:miter lim="800000"/>
            <a:headEnd/>
            <a:tailEnd/>
          </a:ln>
        </p:spPr>
        <p:txBody>
          <a:bodyPr>
            <a:prstTxWarp prst="textNoShape">
              <a:avLst/>
            </a:prstTxWarp>
            <a:spAutoFit/>
          </a:bodyPr>
          <a:lstStyle/>
          <a:p>
            <a:pPr>
              <a:spcBef>
                <a:spcPct val="50000"/>
              </a:spcBef>
            </a:pPr>
            <a:r>
              <a:rPr lang="en-US" i="1"/>
              <a:t>e</a:t>
            </a:r>
          </a:p>
        </p:txBody>
      </p:sp>
      <p:sp>
        <p:nvSpPr>
          <p:cNvPr id="36879" name="Text Box 9"/>
          <p:cNvSpPr txBox="1">
            <a:spLocks noChangeArrowheads="1"/>
          </p:cNvSpPr>
          <p:nvPr/>
        </p:nvSpPr>
        <p:spPr bwMode="auto">
          <a:xfrm>
            <a:off x="5715001" y="2971801"/>
            <a:ext cx="320675" cy="366713"/>
          </a:xfrm>
          <a:prstGeom prst="rect">
            <a:avLst/>
          </a:prstGeom>
          <a:noFill/>
          <a:ln w="9525">
            <a:noFill/>
            <a:miter lim="800000"/>
            <a:headEnd/>
            <a:tailEnd/>
          </a:ln>
        </p:spPr>
        <p:txBody>
          <a:bodyPr>
            <a:prstTxWarp prst="textNoShape">
              <a:avLst/>
            </a:prstTxWarp>
            <a:spAutoFit/>
          </a:bodyPr>
          <a:lstStyle/>
          <a:p>
            <a:pPr>
              <a:spcBef>
                <a:spcPct val="50000"/>
              </a:spcBef>
            </a:pPr>
            <a:r>
              <a:rPr lang="en-US" i="1"/>
              <a:t>e</a:t>
            </a:r>
          </a:p>
        </p:txBody>
      </p:sp>
      <p:sp>
        <p:nvSpPr>
          <p:cNvPr id="36880" name="Text Box 14"/>
          <p:cNvSpPr txBox="1">
            <a:spLocks noChangeArrowheads="1"/>
          </p:cNvSpPr>
          <p:nvPr/>
        </p:nvSpPr>
        <p:spPr bwMode="auto">
          <a:xfrm>
            <a:off x="5029200" y="3201988"/>
            <a:ext cx="545342" cy="338554"/>
          </a:xfrm>
          <a:prstGeom prst="rect">
            <a:avLst/>
          </a:prstGeom>
          <a:noFill/>
          <a:ln w="9525">
            <a:noFill/>
            <a:miter lim="800000"/>
            <a:headEnd/>
            <a:tailEnd/>
          </a:ln>
        </p:spPr>
        <p:txBody>
          <a:bodyPr wrap="none">
            <a:prstTxWarp prst="textNoShape">
              <a:avLst/>
            </a:prstTxWarp>
            <a:spAutoFit/>
          </a:bodyPr>
          <a:lstStyle/>
          <a:p>
            <a:r>
              <a:rPr lang="en-US" sz="1600"/>
              <a:t>no </a:t>
            </a:r>
            <a:r>
              <a:rPr lang="en-US" sz="1600" i="1"/>
              <a:t>e</a:t>
            </a:r>
          </a:p>
        </p:txBody>
      </p:sp>
      <p:grpSp>
        <p:nvGrpSpPr>
          <p:cNvPr id="36881" name="Group 28"/>
          <p:cNvGrpSpPr>
            <a:grpSpLocks/>
          </p:cNvGrpSpPr>
          <p:nvPr/>
        </p:nvGrpSpPr>
        <p:grpSpPr bwMode="auto">
          <a:xfrm>
            <a:off x="5105400" y="3276600"/>
            <a:ext cx="1447800" cy="0"/>
            <a:chOff x="528" y="3360"/>
            <a:chExt cx="1152" cy="0"/>
          </a:xfrm>
        </p:grpSpPr>
        <p:sp>
          <p:nvSpPr>
            <p:cNvPr id="36889" name="Line 29"/>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6890" name="Line 30"/>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6891" name="Line 31"/>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grpSp>
        <p:nvGrpSpPr>
          <p:cNvPr id="36882" name="Group 32"/>
          <p:cNvGrpSpPr>
            <a:grpSpLocks/>
          </p:cNvGrpSpPr>
          <p:nvPr/>
        </p:nvGrpSpPr>
        <p:grpSpPr bwMode="auto">
          <a:xfrm>
            <a:off x="5181600" y="4876800"/>
            <a:ext cx="1447800" cy="0"/>
            <a:chOff x="528" y="3360"/>
            <a:chExt cx="1152" cy="0"/>
          </a:xfrm>
        </p:grpSpPr>
        <p:sp>
          <p:nvSpPr>
            <p:cNvPr id="36886" name="Line 33"/>
            <p:cNvSpPr>
              <a:spLocks noChangeShapeType="1"/>
            </p:cNvSpPr>
            <p:nvPr/>
          </p:nvSpPr>
          <p:spPr bwMode="auto">
            <a:xfrm>
              <a:off x="528"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6887" name="Line 34"/>
            <p:cNvSpPr>
              <a:spLocks noChangeShapeType="1"/>
            </p:cNvSpPr>
            <p:nvPr/>
          </p:nvSpPr>
          <p:spPr bwMode="auto">
            <a:xfrm>
              <a:off x="960" y="3360"/>
              <a:ext cx="288"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36888" name="Line 35"/>
            <p:cNvSpPr>
              <a:spLocks noChangeShapeType="1"/>
            </p:cNvSpPr>
            <p:nvPr/>
          </p:nvSpPr>
          <p:spPr bwMode="auto">
            <a:xfrm>
              <a:off x="1392" y="3360"/>
              <a:ext cx="288" cy="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36883" name="Text Box 36"/>
          <p:cNvSpPr txBox="1">
            <a:spLocks noChangeArrowheads="1"/>
          </p:cNvSpPr>
          <p:nvPr/>
        </p:nvSpPr>
        <p:spPr bwMode="auto">
          <a:xfrm>
            <a:off x="5105400" y="4800600"/>
            <a:ext cx="545342" cy="338554"/>
          </a:xfrm>
          <a:prstGeom prst="rect">
            <a:avLst/>
          </a:prstGeom>
          <a:noFill/>
          <a:ln w="9525">
            <a:noFill/>
            <a:miter lim="800000"/>
            <a:headEnd/>
            <a:tailEnd/>
          </a:ln>
        </p:spPr>
        <p:txBody>
          <a:bodyPr wrap="none">
            <a:prstTxWarp prst="textNoShape">
              <a:avLst/>
            </a:prstTxWarp>
            <a:spAutoFit/>
          </a:bodyPr>
          <a:lstStyle/>
          <a:p>
            <a:r>
              <a:rPr lang="en-US" sz="1600"/>
              <a:t>no </a:t>
            </a:r>
            <a:r>
              <a:rPr lang="en-US" sz="1600" i="1"/>
              <a:t>e</a:t>
            </a:r>
            <a:endParaRPr lang="en-US"/>
          </a:p>
        </p:txBody>
      </p:sp>
      <p:sp>
        <p:nvSpPr>
          <p:cNvPr id="36884" name="Text Box 37"/>
          <p:cNvSpPr txBox="1">
            <a:spLocks noChangeArrowheads="1"/>
          </p:cNvSpPr>
          <p:nvPr/>
        </p:nvSpPr>
        <p:spPr bwMode="auto">
          <a:xfrm>
            <a:off x="5638800" y="4800600"/>
            <a:ext cx="545342" cy="338554"/>
          </a:xfrm>
          <a:prstGeom prst="rect">
            <a:avLst/>
          </a:prstGeom>
          <a:noFill/>
          <a:ln w="9525">
            <a:noFill/>
            <a:miter lim="800000"/>
            <a:headEnd/>
            <a:tailEnd/>
          </a:ln>
        </p:spPr>
        <p:txBody>
          <a:bodyPr wrap="none">
            <a:prstTxWarp prst="textNoShape">
              <a:avLst/>
            </a:prstTxWarp>
            <a:spAutoFit/>
          </a:bodyPr>
          <a:lstStyle/>
          <a:p>
            <a:r>
              <a:rPr lang="en-US" sz="1600"/>
              <a:t>no </a:t>
            </a:r>
            <a:r>
              <a:rPr lang="en-US" sz="1600" i="1"/>
              <a:t>e</a:t>
            </a:r>
            <a:endParaRPr lang="en-US"/>
          </a:p>
        </p:txBody>
      </p:sp>
      <p:sp>
        <p:nvSpPr>
          <p:cNvPr id="36885" name="Text Box 38"/>
          <p:cNvSpPr txBox="1">
            <a:spLocks noChangeArrowheads="1"/>
          </p:cNvSpPr>
          <p:nvPr/>
        </p:nvSpPr>
        <p:spPr bwMode="auto">
          <a:xfrm>
            <a:off x="6324601" y="4572001"/>
            <a:ext cx="320675" cy="366713"/>
          </a:xfrm>
          <a:prstGeom prst="rect">
            <a:avLst/>
          </a:prstGeom>
          <a:noFill/>
          <a:ln w="9525">
            <a:noFill/>
            <a:miter lim="800000"/>
            <a:headEnd/>
            <a:tailEnd/>
          </a:ln>
        </p:spPr>
        <p:txBody>
          <a:bodyPr>
            <a:prstTxWarp prst="textNoShape">
              <a:avLst/>
            </a:prstTxWarp>
            <a:spAutoFit/>
          </a:bodyPr>
          <a:lstStyle/>
          <a:p>
            <a:r>
              <a:rPr lang="en-US" i="1">
                <a:ea typeface="Arial" pitchFamily="4" charset="0"/>
                <a:cs typeface="Arial" pitchFamily="4" charset="0"/>
              </a:rPr>
              <a:t>e</a:t>
            </a:r>
            <a:endParaRPr lang="en-US">
              <a:latin typeface="Arial" pitchFamily="4" charset="0"/>
              <a:ea typeface="Arial" pitchFamily="4" charset="0"/>
              <a:cs typeface="Arial" pitchFamily="4" charset="0"/>
            </a:endParaRPr>
          </a:p>
        </p:txBody>
      </p:sp>
      <p:graphicFrame>
        <p:nvGraphicFramePr>
          <p:cNvPr id="36866" name="Object 2"/>
          <p:cNvGraphicFramePr>
            <a:graphicFrameLocks noChangeAspect="1"/>
          </p:cNvGraphicFramePr>
          <p:nvPr/>
        </p:nvGraphicFramePr>
        <p:xfrm>
          <a:off x="8310563" y="2474914"/>
          <a:ext cx="190500" cy="211137"/>
        </p:xfrm>
        <a:graphic>
          <a:graphicData uri="http://schemas.openxmlformats.org/presentationml/2006/ole">
            <mc:AlternateContent xmlns:mc="http://schemas.openxmlformats.org/markup-compatibility/2006">
              <mc:Choice xmlns:v="urn:schemas-microsoft-com:vml" Requires="v">
                <p:oleObj spid="_x0000_s12466" name="Equation" r:id="rId4" imgW="114120" imgH="126720" progId="">
                  <p:embed/>
                </p:oleObj>
              </mc:Choice>
              <mc:Fallback>
                <p:oleObj name="Equation" r:id="rId4" imgW="114120" imgH="126720" progId="">
                  <p:embed/>
                  <p:pic>
                    <p:nvPicPr>
                      <p:cNvPr id="3686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0563" y="2474914"/>
                        <a:ext cx="190500" cy="21113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36867" name="Object 3"/>
          <p:cNvGraphicFramePr>
            <a:graphicFrameLocks noChangeAspect="1"/>
          </p:cNvGraphicFramePr>
          <p:nvPr/>
        </p:nvGraphicFramePr>
        <p:xfrm>
          <a:off x="2578100" y="3787775"/>
          <a:ext cx="190500" cy="211138"/>
        </p:xfrm>
        <a:graphic>
          <a:graphicData uri="http://schemas.openxmlformats.org/presentationml/2006/ole">
            <mc:AlternateContent xmlns:mc="http://schemas.openxmlformats.org/markup-compatibility/2006">
              <mc:Choice xmlns:v="urn:schemas-microsoft-com:vml" Requires="v">
                <p:oleObj spid="_x0000_s12467" name="Equation" r:id="rId6" imgW="114120" imgH="126720" progId="">
                  <p:embed/>
                </p:oleObj>
              </mc:Choice>
              <mc:Fallback>
                <p:oleObj name="Equation" r:id="rId6" imgW="114120" imgH="126720" progId="">
                  <p:embed/>
                  <p:pic>
                    <p:nvPicPr>
                      <p:cNvPr id="3686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8100" y="3787775"/>
                        <a:ext cx="190500" cy="21113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36868" name="Object 4"/>
          <p:cNvGraphicFramePr>
            <a:graphicFrameLocks noChangeAspect="1"/>
          </p:cNvGraphicFramePr>
          <p:nvPr/>
        </p:nvGraphicFramePr>
        <p:xfrm>
          <a:off x="7991475" y="5157789"/>
          <a:ext cx="190500" cy="211137"/>
        </p:xfrm>
        <a:graphic>
          <a:graphicData uri="http://schemas.openxmlformats.org/presentationml/2006/ole">
            <mc:AlternateContent xmlns:mc="http://schemas.openxmlformats.org/markup-compatibility/2006">
              <mc:Choice xmlns:v="urn:schemas-microsoft-com:vml" Requires="v">
                <p:oleObj spid="_x0000_s12468" name="Equation" r:id="rId7" imgW="114120" imgH="126720" progId="">
                  <p:embed/>
                </p:oleObj>
              </mc:Choice>
              <mc:Fallback>
                <p:oleObj name="Equation" r:id="rId7" imgW="114120" imgH="126720" progId="">
                  <p:embed/>
                  <p:pic>
                    <p:nvPicPr>
                      <p:cNvPr id="3686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1475" y="5157789"/>
                        <a:ext cx="190500" cy="21113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7747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p:txBody>
          <a:bodyPr/>
          <a:lstStyle/>
          <a:p>
            <a:pPr eaLnBrk="1" hangingPunct="1"/>
            <a:r>
              <a:rPr lang="en-US" sz="3600" dirty="0"/>
              <a:t>Example 6: Nonempty Collections</a:t>
            </a:r>
          </a:p>
        </p:txBody>
      </p:sp>
      <p:sp>
        <p:nvSpPr>
          <p:cNvPr id="37894" name="Rectangle 3"/>
          <p:cNvSpPr>
            <a:spLocks noGrp="1" noChangeArrowheads="1"/>
          </p:cNvSpPr>
          <p:nvPr>
            <p:ph type="body" sz="half" idx="4294967295"/>
          </p:nvPr>
        </p:nvSpPr>
        <p:spPr>
          <a:xfrm>
            <a:off x="2255839" y="1600201"/>
            <a:ext cx="8778875" cy="4525963"/>
          </a:xfrm>
        </p:spPr>
        <p:txBody>
          <a:bodyPr/>
          <a:lstStyle/>
          <a:p>
            <a:pPr eaLnBrk="1" hangingPunct="1"/>
            <a:endParaRPr lang="en-US" dirty="0"/>
          </a:p>
          <a:p>
            <a:pPr eaLnBrk="1" hangingPunct="1"/>
            <a:endParaRPr lang="en-US" dirty="0"/>
          </a:p>
          <a:p>
            <a:pPr eaLnBrk="1" hangingPunct="1">
              <a:buFont typeface="Wingdings" pitchFamily="4" charset="2"/>
              <a:buNone/>
            </a:pPr>
            <a:r>
              <a:rPr lang="en-US" dirty="0"/>
              <a:t>How many nonempty different collections can</a:t>
            </a:r>
          </a:p>
          <a:p>
            <a:pPr eaLnBrk="1" hangingPunct="1">
              <a:buFont typeface="Wingdings" pitchFamily="4" charset="2"/>
              <a:buNone/>
            </a:pPr>
            <a:r>
              <a:rPr lang="en-US" dirty="0"/>
              <a:t>formed from five (identical) apples and eight</a:t>
            </a:r>
          </a:p>
          <a:p>
            <a:pPr eaLnBrk="1" hangingPunct="1">
              <a:buFont typeface="Wingdings" pitchFamily="4" charset="2"/>
              <a:buNone/>
            </a:pPr>
            <a:r>
              <a:rPr lang="en-US" dirty="0"/>
              <a:t>(identical) grapefruits?</a:t>
            </a:r>
          </a:p>
          <a:p>
            <a:pPr eaLnBrk="1" hangingPunct="1"/>
            <a:endParaRPr lang="en-US" dirty="0"/>
          </a:p>
          <a:p>
            <a:pPr marL="0" indent="0" eaLnBrk="1" hangingPunct="1">
              <a:buNone/>
            </a:pPr>
            <a:endParaRPr lang="en-US" dirty="0"/>
          </a:p>
          <a:p>
            <a:pPr eaLnBrk="1" hangingPunct="1"/>
            <a:endParaRPr lang="en-US" dirty="0"/>
          </a:p>
        </p:txBody>
      </p:sp>
    </p:spTree>
    <p:extLst>
      <p:ext uri="{BB962C8B-B14F-4D97-AF65-F5344CB8AC3E}">
        <p14:creationId xmlns:p14="http://schemas.microsoft.com/office/powerpoint/2010/main" val="2438402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Rectangle 2"/>
          <p:cNvSpPr>
            <a:spLocks noGrp="1" noChangeArrowheads="1"/>
          </p:cNvSpPr>
          <p:nvPr>
            <p:ph type="title"/>
          </p:nvPr>
        </p:nvSpPr>
        <p:spPr/>
        <p:txBody>
          <a:bodyPr/>
          <a:lstStyle/>
          <a:p>
            <a:pPr eaLnBrk="1" hangingPunct="1"/>
            <a:r>
              <a:rPr lang="en-US" sz="3600" dirty="0"/>
              <a:t>Example 6 (continued)</a:t>
            </a:r>
          </a:p>
        </p:txBody>
      </p:sp>
      <mc:AlternateContent xmlns:mc="http://schemas.openxmlformats.org/markup-compatibility/2006" xmlns:a14="http://schemas.microsoft.com/office/drawing/2010/main">
        <mc:Choice Requires="a14">
          <p:sp>
            <p:nvSpPr>
              <p:cNvPr id="38919" name="Rectangle 3"/>
              <p:cNvSpPr>
                <a:spLocks noGrp="1" noChangeArrowheads="1"/>
              </p:cNvSpPr>
              <p:nvPr>
                <p:ph type="body" idx="1"/>
              </p:nvPr>
            </p:nvSpPr>
            <p:spPr/>
            <p:txBody>
              <a:bodyPr/>
              <a:lstStyle/>
              <a:p>
                <a:pPr eaLnBrk="1" hangingPunct="1">
                  <a:lnSpc>
                    <a:spcPct val="80000"/>
                  </a:lnSpc>
                </a:pPr>
                <a:endParaRPr lang="en-US" dirty="0"/>
              </a:p>
              <a:p>
                <a:pPr eaLnBrk="1" hangingPunct="1">
                  <a:lnSpc>
                    <a:spcPct val="80000"/>
                  </a:lnSpc>
                </a:pPr>
                <a:r>
                  <a:rPr lang="en-US" dirty="0"/>
                  <a:t>The number of apples and the number of grapefruits will be different in different collections. </a:t>
                </a:r>
              </a:p>
              <a:p>
                <a:pPr eaLnBrk="1" hangingPunct="1">
                  <a:lnSpc>
                    <a:spcPct val="80000"/>
                  </a:lnSpc>
                </a:pPr>
                <a:r>
                  <a:rPr lang="en-US" dirty="0"/>
                  <a:t>We can characterize any collections by a pair for integers (</a:t>
                </a:r>
                <a:r>
                  <a:rPr lang="en-US" i="1" dirty="0" err="1"/>
                  <a:t>a</a:t>
                </a:r>
                <a:r>
                  <a:rPr lang="en-US" dirty="0" err="1"/>
                  <a:t>,</a:t>
                </a:r>
                <a:r>
                  <a:rPr lang="en-US" i="1" dirty="0" err="1"/>
                  <a:t>g</a:t>
                </a:r>
                <a:r>
                  <a:rPr lang="en-US" dirty="0"/>
                  <a:t>), where </a:t>
                </a:r>
                <a:r>
                  <a:rPr lang="en-US" i="1" dirty="0"/>
                  <a:t>a</a:t>
                </a:r>
                <a:r>
                  <a:rPr lang="en-US" dirty="0"/>
                  <a:t> is the number of apples and </a:t>
                </a:r>
                <a:r>
                  <a:rPr lang="en-US" i="1" dirty="0"/>
                  <a:t>g</a:t>
                </a:r>
                <a:r>
                  <a:rPr lang="en-US" dirty="0"/>
                  <a:t> is the number of grapefruits. </a:t>
                </a:r>
              </a:p>
              <a:p>
                <a:pPr eaLnBrk="1" hangingPunct="1">
                  <a:lnSpc>
                    <a:spcPct val="80000"/>
                  </a:lnSpc>
                </a:pPr>
                <a:r>
                  <a:rPr lang="en-US" dirty="0"/>
                  <a:t>There are 6 possible values for </a:t>
                </a:r>
                <a:r>
                  <a:rPr lang="en-US" i="1" dirty="0"/>
                  <a:t>a</a:t>
                </a:r>
                <a:r>
                  <a:rPr lang="en-US" dirty="0"/>
                  <a:t> and 9 possible values for </a:t>
                </a:r>
                <a:r>
                  <a:rPr lang="en-US" i="1" dirty="0"/>
                  <a:t>g</a:t>
                </a:r>
                <a:r>
                  <a:rPr lang="en-US" dirty="0"/>
                  <a:t>.  </a:t>
                </a:r>
              </a:p>
              <a:p>
                <a:pPr eaLnBrk="1" hangingPunct="1">
                  <a:lnSpc>
                    <a:spcPct val="80000"/>
                  </a:lnSpc>
                </a:pPr>
                <a:r>
                  <a:rPr lang="en-US" dirty="0"/>
                  <a:t>Together there are </a:t>
                </a:r>
                <a14:m>
                  <m:oMath xmlns:m="http://schemas.openxmlformats.org/officeDocument/2006/math">
                    <m:r>
                      <a:rPr lang="en-US" b="0" i="1" smtClean="0">
                        <a:latin typeface="Cambria Math" panose="02040503050406030204" pitchFamily="18" charset="0"/>
                      </a:rPr>
                      <m:t>9</m:t>
                    </m:r>
                    <m:r>
                      <a:rPr lang="en-US" b="0" i="1" smtClean="0">
                        <a:latin typeface="Cambria Math" panose="02040503050406030204" pitchFamily="18" charset="0"/>
                        <a:ea typeface="Cambria Math" panose="02040503050406030204" pitchFamily="18" charset="0"/>
                      </a:rPr>
                      <m:t>×6=54</m:t>
                    </m:r>
                  </m:oMath>
                </a14:m>
                <a:r>
                  <a:rPr lang="en-US" dirty="0"/>
                  <a:t>.  Since the problem  asked for non-empty collections and one of the solutions is (0,0), the desired answer is</a:t>
                </a:r>
                <a:r>
                  <a:rPr lang="en-US" i="1" dirty="0"/>
                  <a:t> </a:t>
                </a:r>
                <a:r>
                  <a:rPr lang="en-US" dirty="0"/>
                  <a:t>54 – 1 = 53.</a:t>
                </a:r>
                <a:endParaRPr lang="en-US" i="1" dirty="0"/>
              </a:p>
              <a:p>
                <a:pPr eaLnBrk="1" hangingPunct="1">
                  <a:lnSpc>
                    <a:spcPct val="80000"/>
                  </a:lnSpc>
                </a:pPr>
                <a:endParaRPr lang="en-US" dirty="0"/>
              </a:p>
            </p:txBody>
          </p:sp>
        </mc:Choice>
        <mc:Fallback xmlns="">
          <p:sp>
            <p:nvSpPr>
              <p:cNvPr id="38919" name="Rectangle 3"/>
              <p:cNvSpPr>
                <a:spLocks noGrp="1" noRot="1" noChangeAspect="1" noMove="1" noResize="1" noEditPoints="1" noAdjustHandles="1" noChangeArrowheads="1" noChangeShapeType="1" noTextEdit="1"/>
              </p:cNvSpPr>
              <p:nvPr>
                <p:ph type="body" idx="1"/>
              </p:nvPr>
            </p:nvSpPr>
            <p:spPr>
              <a:blipFill>
                <a:blip r:embed="rId2"/>
                <a:stretch>
                  <a:fillRect l="-965" r="-844"/>
                </a:stretch>
              </a:blipFill>
            </p:spPr>
            <p:txBody>
              <a:bodyPr/>
              <a:lstStyle/>
              <a:p>
                <a:r>
                  <a:rPr lang="en-US">
                    <a:noFill/>
                  </a:rPr>
                  <a:t> </a:t>
                </a:r>
              </a:p>
            </p:txBody>
          </p:sp>
        </mc:Fallback>
      </mc:AlternateContent>
      <p:pic>
        <p:nvPicPr>
          <p:cNvPr id="38920" name="Picture 5" descr="j0300097"/>
          <p:cNvPicPr>
            <a:picLocks noGrp="1" noChangeAspect="1" noChangeArrowheads="1"/>
          </p:cNvPicPr>
          <p:nvPr>
            <p:ph sz="half" idx="4294967295"/>
          </p:nvPr>
        </p:nvPicPr>
        <p:blipFill>
          <a:blip r:embed="rId3"/>
          <a:srcRect/>
          <a:stretch>
            <a:fillRect/>
          </a:stretch>
        </p:blipFill>
        <p:spPr>
          <a:xfrm>
            <a:off x="2255838" y="1235076"/>
            <a:ext cx="508000" cy="549275"/>
          </a:xfrm>
          <a:noFill/>
        </p:spPr>
      </p:pic>
      <p:pic>
        <p:nvPicPr>
          <p:cNvPr id="38921" name="Picture 7" descr="j0300097"/>
          <p:cNvPicPr>
            <a:picLocks noChangeAspect="1" noChangeArrowheads="1"/>
          </p:cNvPicPr>
          <p:nvPr/>
        </p:nvPicPr>
        <p:blipFill>
          <a:blip r:embed="rId3"/>
          <a:srcRect/>
          <a:stretch>
            <a:fillRect/>
          </a:stretch>
        </p:blipFill>
        <p:spPr bwMode="auto">
          <a:xfrm>
            <a:off x="2987675" y="1235076"/>
            <a:ext cx="508000" cy="549275"/>
          </a:xfrm>
          <a:prstGeom prst="rect">
            <a:avLst/>
          </a:prstGeom>
          <a:noFill/>
          <a:ln w="9525">
            <a:noFill/>
            <a:miter lim="800000"/>
            <a:headEnd/>
            <a:tailEnd/>
          </a:ln>
        </p:spPr>
      </p:pic>
      <p:pic>
        <p:nvPicPr>
          <p:cNvPr id="38922" name="Picture 8" descr="j0300097"/>
          <p:cNvPicPr>
            <a:picLocks noChangeAspect="1" noChangeArrowheads="1"/>
          </p:cNvPicPr>
          <p:nvPr/>
        </p:nvPicPr>
        <p:blipFill>
          <a:blip r:embed="rId3"/>
          <a:srcRect/>
          <a:stretch>
            <a:fillRect/>
          </a:stretch>
        </p:blipFill>
        <p:spPr bwMode="auto">
          <a:xfrm>
            <a:off x="3717925" y="1235076"/>
            <a:ext cx="508000" cy="549275"/>
          </a:xfrm>
          <a:prstGeom prst="rect">
            <a:avLst/>
          </a:prstGeom>
          <a:noFill/>
          <a:ln w="9525">
            <a:noFill/>
            <a:miter lim="800000"/>
            <a:headEnd/>
            <a:tailEnd/>
          </a:ln>
        </p:spPr>
      </p:pic>
      <p:pic>
        <p:nvPicPr>
          <p:cNvPr id="38923" name="Picture 9" descr="j0300097"/>
          <p:cNvPicPr>
            <a:picLocks noChangeAspect="1" noChangeArrowheads="1"/>
          </p:cNvPicPr>
          <p:nvPr/>
        </p:nvPicPr>
        <p:blipFill>
          <a:blip r:embed="rId3"/>
          <a:srcRect/>
          <a:stretch>
            <a:fillRect/>
          </a:stretch>
        </p:blipFill>
        <p:spPr bwMode="auto">
          <a:xfrm>
            <a:off x="5181600" y="1235076"/>
            <a:ext cx="508000" cy="549275"/>
          </a:xfrm>
          <a:prstGeom prst="rect">
            <a:avLst/>
          </a:prstGeom>
          <a:noFill/>
          <a:ln w="9525">
            <a:noFill/>
            <a:miter lim="800000"/>
            <a:headEnd/>
            <a:tailEnd/>
          </a:ln>
        </p:spPr>
      </p:pic>
      <p:pic>
        <p:nvPicPr>
          <p:cNvPr id="38924" name="Picture 10" descr="j0300097"/>
          <p:cNvPicPr>
            <a:picLocks noChangeAspect="1" noChangeArrowheads="1"/>
          </p:cNvPicPr>
          <p:nvPr/>
        </p:nvPicPr>
        <p:blipFill>
          <a:blip r:embed="rId3"/>
          <a:srcRect/>
          <a:stretch>
            <a:fillRect/>
          </a:stretch>
        </p:blipFill>
        <p:spPr bwMode="auto">
          <a:xfrm>
            <a:off x="4449763" y="1235076"/>
            <a:ext cx="508000" cy="549275"/>
          </a:xfrm>
          <a:prstGeom prst="rect">
            <a:avLst/>
          </a:prstGeom>
          <a:noFill/>
          <a:ln w="9525">
            <a:noFill/>
            <a:miter lim="800000"/>
            <a:headEnd/>
            <a:tailEnd/>
          </a:ln>
        </p:spPr>
      </p:pic>
      <p:pic>
        <p:nvPicPr>
          <p:cNvPr id="38925" name="Picture 11" descr="MCj01934640000[1]"/>
          <p:cNvPicPr>
            <a:picLocks noChangeAspect="1" noChangeArrowheads="1"/>
          </p:cNvPicPr>
          <p:nvPr/>
        </p:nvPicPr>
        <p:blipFill>
          <a:blip r:embed="rId4"/>
          <a:srcRect/>
          <a:stretch>
            <a:fillRect/>
          </a:stretch>
        </p:blipFill>
        <p:spPr bwMode="auto">
          <a:xfrm>
            <a:off x="5913438" y="1417638"/>
            <a:ext cx="360362" cy="366712"/>
          </a:xfrm>
          <a:prstGeom prst="rect">
            <a:avLst/>
          </a:prstGeom>
          <a:noFill/>
          <a:ln w="9525">
            <a:noFill/>
            <a:miter lim="800000"/>
            <a:headEnd/>
            <a:tailEnd/>
          </a:ln>
        </p:spPr>
      </p:pic>
      <p:pic>
        <p:nvPicPr>
          <p:cNvPr id="38926" name="Picture 13" descr="MCj01934640000[1]"/>
          <p:cNvPicPr>
            <a:picLocks noChangeAspect="1" noChangeArrowheads="1"/>
          </p:cNvPicPr>
          <p:nvPr/>
        </p:nvPicPr>
        <p:blipFill>
          <a:blip r:embed="rId4"/>
          <a:srcRect/>
          <a:stretch>
            <a:fillRect/>
          </a:stretch>
        </p:blipFill>
        <p:spPr bwMode="auto">
          <a:xfrm>
            <a:off x="6278563" y="1417638"/>
            <a:ext cx="360362" cy="366712"/>
          </a:xfrm>
          <a:prstGeom prst="rect">
            <a:avLst/>
          </a:prstGeom>
          <a:noFill/>
          <a:ln w="9525">
            <a:noFill/>
            <a:miter lim="800000"/>
            <a:headEnd/>
            <a:tailEnd/>
          </a:ln>
        </p:spPr>
      </p:pic>
      <p:pic>
        <p:nvPicPr>
          <p:cNvPr id="38927" name="Picture 14" descr="MCj01934640000[1]"/>
          <p:cNvPicPr>
            <a:picLocks noChangeAspect="1" noChangeArrowheads="1"/>
          </p:cNvPicPr>
          <p:nvPr/>
        </p:nvPicPr>
        <p:blipFill>
          <a:blip r:embed="rId4"/>
          <a:srcRect/>
          <a:stretch>
            <a:fillRect/>
          </a:stretch>
        </p:blipFill>
        <p:spPr bwMode="auto">
          <a:xfrm>
            <a:off x="7010401" y="1417638"/>
            <a:ext cx="360363" cy="366712"/>
          </a:xfrm>
          <a:prstGeom prst="rect">
            <a:avLst/>
          </a:prstGeom>
          <a:noFill/>
          <a:ln w="9525">
            <a:noFill/>
            <a:miter lim="800000"/>
            <a:headEnd/>
            <a:tailEnd/>
          </a:ln>
        </p:spPr>
      </p:pic>
      <p:pic>
        <p:nvPicPr>
          <p:cNvPr id="38928" name="Picture 15" descr="MCj01934640000[1]"/>
          <p:cNvPicPr>
            <a:picLocks noChangeAspect="1" noChangeArrowheads="1"/>
          </p:cNvPicPr>
          <p:nvPr/>
        </p:nvPicPr>
        <p:blipFill>
          <a:blip r:embed="rId4"/>
          <a:srcRect/>
          <a:stretch>
            <a:fillRect/>
          </a:stretch>
        </p:blipFill>
        <p:spPr bwMode="auto">
          <a:xfrm>
            <a:off x="6645276" y="1417638"/>
            <a:ext cx="360363" cy="366712"/>
          </a:xfrm>
          <a:prstGeom prst="rect">
            <a:avLst/>
          </a:prstGeom>
          <a:noFill/>
          <a:ln w="9525">
            <a:noFill/>
            <a:miter lim="800000"/>
            <a:headEnd/>
            <a:tailEnd/>
          </a:ln>
        </p:spPr>
      </p:pic>
      <p:pic>
        <p:nvPicPr>
          <p:cNvPr id="38929" name="Picture 16" descr="MCj01934640000[1]"/>
          <p:cNvPicPr>
            <a:picLocks noChangeAspect="1" noChangeArrowheads="1"/>
          </p:cNvPicPr>
          <p:nvPr/>
        </p:nvPicPr>
        <p:blipFill>
          <a:blip r:embed="rId4"/>
          <a:srcRect/>
          <a:stretch>
            <a:fillRect/>
          </a:stretch>
        </p:blipFill>
        <p:spPr bwMode="auto">
          <a:xfrm>
            <a:off x="7375526" y="1417638"/>
            <a:ext cx="360363" cy="366712"/>
          </a:xfrm>
          <a:prstGeom prst="rect">
            <a:avLst/>
          </a:prstGeom>
          <a:noFill/>
          <a:ln w="9525">
            <a:noFill/>
            <a:miter lim="800000"/>
            <a:headEnd/>
            <a:tailEnd/>
          </a:ln>
        </p:spPr>
      </p:pic>
      <p:pic>
        <p:nvPicPr>
          <p:cNvPr id="38930" name="Picture 17" descr="MCj01934640000[1]"/>
          <p:cNvPicPr>
            <a:picLocks noChangeAspect="1" noChangeArrowheads="1"/>
          </p:cNvPicPr>
          <p:nvPr/>
        </p:nvPicPr>
        <p:blipFill>
          <a:blip r:embed="rId4"/>
          <a:srcRect/>
          <a:stretch>
            <a:fillRect/>
          </a:stretch>
        </p:blipFill>
        <p:spPr bwMode="auto">
          <a:xfrm>
            <a:off x="8107363" y="1417638"/>
            <a:ext cx="360362" cy="366712"/>
          </a:xfrm>
          <a:prstGeom prst="rect">
            <a:avLst/>
          </a:prstGeom>
          <a:noFill/>
          <a:ln w="9525">
            <a:noFill/>
            <a:miter lim="800000"/>
            <a:headEnd/>
            <a:tailEnd/>
          </a:ln>
        </p:spPr>
      </p:pic>
      <p:pic>
        <p:nvPicPr>
          <p:cNvPr id="38931" name="Picture 18" descr="MCj01934640000[1]"/>
          <p:cNvPicPr>
            <a:picLocks noChangeAspect="1" noChangeArrowheads="1"/>
          </p:cNvPicPr>
          <p:nvPr/>
        </p:nvPicPr>
        <p:blipFill>
          <a:blip r:embed="rId4"/>
          <a:srcRect/>
          <a:stretch>
            <a:fillRect/>
          </a:stretch>
        </p:blipFill>
        <p:spPr bwMode="auto">
          <a:xfrm>
            <a:off x="7742238" y="1417638"/>
            <a:ext cx="360362" cy="366712"/>
          </a:xfrm>
          <a:prstGeom prst="rect">
            <a:avLst/>
          </a:prstGeom>
          <a:noFill/>
          <a:ln w="9525">
            <a:noFill/>
            <a:miter lim="800000"/>
            <a:headEnd/>
            <a:tailEnd/>
          </a:ln>
        </p:spPr>
      </p:pic>
      <p:pic>
        <p:nvPicPr>
          <p:cNvPr id="38932" name="Picture 19" descr="MCj01934640000[1]"/>
          <p:cNvPicPr>
            <a:picLocks noChangeAspect="1" noChangeArrowheads="1"/>
          </p:cNvPicPr>
          <p:nvPr/>
        </p:nvPicPr>
        <p:blipFill>
          <a:blip r:embed="rId4"/>
          <a:srcRect/>
          <a:stretch>
            <a:fillRect/>
          </a:stretch>
        </p:blipFill>
        <p:spPr bwMode="auto">
          <a:xfrm>
            <a:off x="8474076" y="1417638"/>
            <a:ext cx="360363" cy="366712"/>
          </a:xfrm>
          <a:prstGeom prst="rect">
            <a:avLst/>
          </a:prstGeom>
          <a:noFill/>
          <a:ln w="9525">
            <a:noFill/>
            <a:miter lim="800000"/>
            <a:headEnd/>
            <a:tailEnd/>
          </a:ln>
        </p:spPr>
      </p:pic>
    </p:spTree>
    <p:extLst>
      <p:ext uri="{BB962C8B-B14F-4D97-AF65-F5344CB8AC3E}">
        <p14:creationId xmlns:p14="http://schemas.microsoft.com/office/powerpoint/2010/main" val="2134076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p:txBody>
          <a:bodyPr/>
          <a:lstStyle/>
          <a:p>
            <a:pPr eaLnBrk="1" hangingPunct="1"/>
            <a:r>
              <a:rPr lang="en-US" sz="3600"/>
              <a:t>Advice</a:t>
            </a:r>
          </a:p>
        </p:txBody>
      </p:sp>
      <p:sp>
        <p:nvSpPr>
          <p:cNvPr id="39942" name="Rectangle 3"/>
          <p:cNvSpPr>
            <a:spLocks noGrp="1" noChangeArrowheads="1"/>
          </p:cNvSpPr>
          <p:nvPr>
            <p:ph type="body" idx="1"/>
          </p:nvPr>
        </p:nvSpPr>
        <p:spPr/>
        <p:txBody>
          <a:bodyPr/>
          <a:lstStyle/>
          <a:p>
            <a:pPr eaLnBrk="1" hangingPunct="1"/>
            <a:r>
              <a:rPr lang="en-US"/>
              <a:t>Try writing down in a systematic way some of the possible outcomes you want to enumerate.</a:t>
            </a:r>
          </a:p>
          <a:p>
            <a:pPr eaLnBrk="1" hangingPunct="1"/>
            <a:r>
              <a:rPr lang="en-US"/>
              <a:t>Think of your list as part of a particular subcase.</a:t>
            </a:r>
          </a:p>
          <a:p>
            <a:pPr eaLnBrk="1" hangingPunct="1"/>
            <a:r>
              <a:rPr lang="en-US"/>
              <a:t>Ask yourself how many outcomes would your list need to complete that subcase.</a:t>
            </a:r>
          </a:p>
          <a:p>
            <a:pPr eaLnBrk="1" hangingPunct="1"/>
            <a:r>
              <a:rPr lang="en-US"/>
              <a:t>Figure out what other subcases need to be counted.</a:t>
            </a:r>
          </a:p>
          <a:p>
            <a:pPr eaLnBrk="1" hangingPunct="1"/>
            <a:endParaRPr lang="en-US"/>
          </a:p>
        </p:txBody>
      </p:sp>
    </p:spTree>
    <p:extLst>
      <p:ext uri="{BB962C8B-B14F-4D97-AF65-F5344CB8AC3E}">
        <p14:creationId xmlns:p14="http://schemas.microsoft.com/office/powerpoint/2010/main" val="3599639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ChangeArrowheads="1"/>
          </p:cNvSpPr>
          <p:nvPr>
            <p:ph type="title"/>
          </p:nvPr>
        </p:nvSpPr>
        <p:spPr/>
        <p:txBody>
          <a:bodyPr/>
          <a:lstStyle/>
          <a:p>
            <a:pPr eaLnBrk="1" hangingPunct="1"/>
            <a:r>
              <a:rPr lang="en-US" sz="3600"/>
              <a:t>Summary</a:t>
            </a:r>
          </a:p>
        </p:txBody>
      </p:sp>
      <p:sp>
        <p:nvSpPr>
          <p:cNvPr id="40966" name="Rectangle 3"/>
          <p:cNvSpPr>
            <a:spLocks noGrp="1" noChangeArrowheads="1"/>
          </p:cNvSpPr>
          <p:nvPr>
            <p:ph type="body" idx="1"/>
          </p:nvPr>
        </p:nvSpPr>
        <p:spPr/>
        <p:txBody>
          <a:bodyPr/>
          <a:lstStyle/>
          <a:p>
            <a:pPr eaLnBrk="1" hangingPunct="1"/>
            <a:r>
              <a:rPr lang="en-US"/>
              <a:t>We must find a way to recast the constraints on the problem so that some combination of the addition and multiplication principles can be applied.</a:t>
            </a:r>
          </a:p>
          <a:p>
            <a:pPr eaLnBrk="1" hangingPunct="1"/>
            <a:r>
              <a:rPr lang="en-US"/>
              <a:t>To use these principles, we must break the problem into pieces or stages, and be sure that the outcomes in the different pieces are distinct.</a:t>
            </a:r>
          </a:p>
        </p:txBody>
      </p:sp>
    </p:spTree>
    <p:extLst>
      <p:ext uri="{BB962C8B-B14F-4D97-AF65-F5344CB8AC3E}">
        <p14:creationId xmlns:p14="http://schemas.microsoft.com/office/powerpoint/2010/main" val="2730008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ChangeArrowheads="1"/>
          </p:cNvSpPr>
          <p:nvPr>
            <p:ph type="title"/>
          </p:nvPr>
        </p:nvSpPr>
        <p:spPr/>
        <p:txBody>
          <a:bodyPr/>
          <a:lstStyle/>
          <a:p>
            <a:pPr eaLnBrk="1" hangingPunct="1"/>
            <a:r>
              <a:rPr lang="en-US" sz="3600" dirty="0"/>
              <a:t>Class quiz problem 1:</a:t>
            </a:r>
          </a:p>
        </p:txBody>
      </p:sp>
      <p:sp>
        <p:nvSpPr>
          <p:cNvPr id="25603" name="Rectangle 3"/>
          <p:cNvSpPr>
            <a:spLocks noGrp="1" noChangeArrowheads="1"/>
          </p:cNvSpPr>
          <p:nvPr>
            <p:ph type="body" idx="1"/>
          </p:nvPr>
        </p:nvSpPr>
        <p:spPr/>
        <p:txBody>
          <a:bodyPr/>
          <a:lstStyle/>
          <a:p>
            <a:pPr eaLnBrk="1" hangingPunct="1">
              <a:lnSpc>
                <a:spcPct val="90000"/>
              </a:lnSpc>
            </a:pPr>
            <a:r>
              <a:rPr lang="en-US" dirty="0"/>
              <a:t>How many ways are there to pick a man and a woman who are not husband and wife from a group of </a:t>
            </a:r>
            <a:r>
              <a:rPr lang="en-US" i="1" dirty="0"/>
              <a:t>n </a:t>
            </a:r>
            <a:r>
              <a:rPr lang="en-US" dirty="0"/>
              <a:t>married couples?</a:t>
            </a:r>
          </a:p>
        </p:txBody>
      </p:sp>
    </p:spTree>
    <p:extLst>
      <p:ext uri="{BB962C8B-B14F-4D97-AF65-F5344CB8AC3E}">
        <p14:creationId xmlns:p14="http://schemas.microsoft.com/office/powerpoint/2010/main" val="3582095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7724-113D-894C-A19D-17F8F2699BDE}"/>
              </a:ext>
            </a:extLst>
          </p:cNvPr>
          <p:cNvSpPr>
            <a:spLocks noGrp="1"/>
          </p:cNvSpPr>
          <p:nvPr>
            <p:ph type="title"/>
          </p:nvPr>
        </p:nvSpPr>
        <p:spPr/>
        <p:txBody>
          <a:bodyPr/>
          <a:lstStyle/>
          <a:p>
            <a:r>
              <a:rPr lang="en-US" dirty="0"/>
              <a:t>Class quiz problem 2:</a:t>
            </a:r>
          </a:p>
        </p:txBody>
      </p:sp>
      <p:sp>
        <p:nvSpPr>
          <p:cNvPr id="3" name="Content Placeholder 2">
            <a:extLst>
              <a:ext uri="{FF2B5EF4-FFF2-40B4-BE49-F238E27FC236}">
                <a16:creationId xmlns:a16="http://schemas.microsoft.com/office/drawing/2014/main" id="{ABF85AB6-D2F6-1549-9EB3-653F9BEFEE78}"/>
              </a:ext>
            </a:extLst>
          </p:cNvPr>
          <p:cNvSpPr>
            <a:spLocks noGrp="1"/>
          </p:cNvSpPr>
          <p:nvPr>
            <p:ph idx="1"/>
          </p:nvPr>
        </p:nvSpPr>
        <p:spPr/>
        <p:txBody>
          <a:bodyPr/>
          <a:lstStyle/>
          <a:p>
            <a:r>
              <a:rPr lang="en-US" dirty="0"/>
              <a:t>Diane packed 2 skirts, 4 blouses, and a sweater for her business trip. She will need to choose a skirt and a blouse for each outfit and decide whether to wear the sweater. Use the Multiplication Principle to find the total number of possible outfits.</a:t>
            </a:r>
          </a:p>
        </p:txBody>
      </p:sp>
    </p:spTree>
    <p:extLst>
      <p:ext uri="{BB962C8B-B14F-4D97-AF65-F5344CB8AC3E}">
        <p14:creationId xmlns:p14="http://schemas.microsoft.com/office/powerpoint/2010/main" val="4265533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3">
            <a:extLst>
              <a:ext uri="{FF2B5EF4-FFF2-40B4-BE49-F238E27FC236}">
                <a16:creationId xmlns:a16="http://schemas.microsoft.com/office/drawing/2014/main" id="{2FF03288-4846-1A41-A248-99DC6B3E8F6E}"/>
              </a:ext>
            </a:extLst>
          </p:cNvPr>
          <p:cNvSpPr>
            <a:spLocks noGrp="1" noChangeArrowheads="1"/>
          </p:cNvSpPr>
          <p:nvPr>
            <p:ph type="body" idx="1"/>
          </p:nvPr>
        </p:nvSpPr>
        <p:spPr>
          <a:xfrm>
            <a:off x="1752600" y="2394735"/>
            <a:ext cx="8686800" cy="1684106"/>
          </a:xfrm>
        </p:spPr>
        <p:txBody>
          <a:bodyPr>
            <a:normAutofit fontScale="92500" lnSpcReduction="10000"/>
          </a:bodyPr>
          <a:lstStyle/>
          <a:p>
            <a:pPr algn="ctr" eaLnBrk="1" hangingPunct="1">
              <a:buFontTx/>
              <a:buNone/>
            </a:pPr>
            <a:r>
              <a:rPr lang="en-US" altLang="en-US" i="1" dirty="0">
                <a:latin typeface="Times New Roman" panose="02020603050405020304" pitchFamily="18" charset="0"/>
                <a:ea typeface="ＭＳ Ｐゴシック" panose="020B0600070205080204" pitchFamily="34" charset="-128"/>
              </a:rPr>
              <a:t>		</a:t>
            </a:r>
            <a:r>
              <a:rPr lang="en-US" altLang="en-US" sz="3200" b="1" i="1" dirty="0">
                <a:latin typeface="Times New Roman" panose="02020603050405020304" pitchFamily="18" charset="0"/>
                <a:ea typeface="ＭＳ Ｐゴシック" panose="020B0600070205080204" pitchFamily="34" charset="-128"/>
              </a:rPr>
              <a:t>Simple Arrangements and Selections</a:t>
            </a:r>
          </a:p>
          <a:p>
            <a:pPr algn="ctr" eaLnBrk="1" hangingPunct="1">
              <a:buFontTx/>
              <a:buNone/>
            </a:pPr>
            <a:r>
              <a:rPr lang="en-US" altLang="en-US" dirty="0">
                <a:latin typeface="Times New Roman" panose="02020603050405020304" pitchFamily="18" charset="0"/>
                <a:ea typeface="ＭＳ Ｐゴシック" panose="020B0600070205080204" pitchFamily="34" charset="-128"/>
              </a:rPr>
              <a:t>																												</a:t>
            </a:r>
            <a:endParaRPr lang="en-US" altLang="en-US" sz="200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4932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BC0CCF60-AB05-4A41-847E-37F202ECF69C}"/>
              </a:ext>
            </a:extLst>
          </p:cNvPr>
          <p:cNvSpPr>
            <a:spLocks noGrp="1" noChangeArrowheads="1"/>
          </p:cNvSpPr>
          <p:nvPr>
            <p:ph type="title"/>
          </p:nvPr>
        </p:nvSpPr>
        <p:spPr/>
        <p:txBody>
          <a:bodyPr/>
          <a:lstStyle/>
          <a:p>
            <a:pPr eaLnBrk="1" hangingPunct="1"/>
            <a:r>
              <a:rPr lang="en-US" altLang="en-US" sz="4000">
                <a:latin typeface="Times New Roman" panose="02020603050405020304" pitchFamily="18" charset="0"/>
                <a:ea typeface="ＭＳ Ｐゴシック" panose="020B0600070205080204" pitchFamily="34" charset="-128"/>
              </a:rPr>
              <a:t>Definitions </a:t>
            </a:r>
          </a:p>
        </p:txBody>
      </p:sp>
      <p:sp>
        <p:nvSpPr>
          <p:cNvPr id="19461" name="Rectangle 3">
            <a:extLst>
              <a:ext uri="{FF2B5EF4-FFF2-40B4-BE49-F238E27FC236}">
                <a16:creationId xmlns:a16="http://schemas.microsoft.com/office/drawing/2014/main" id="{92F0CB18-3FC7-F043-B0DD-53F5FAEF8930}"/>
              </a:ext>
            </a:extLst>
          </p:cNvPr>
          <p:cNvSpPr>
            <a:spLocks noGrp="1" noChangeArrowheads="1"/>
          </p:cNvSpPr>
          <p:nvPr>
            <p:ph type="body" idx="1"/>
          </p:nvPr>
        </p:nvSpPr>
        <p:spPr>
          <a:xfrm>
            <a:off x="1905000" y="1981200"/>
            <a:ext cx="8382000" cy="3200400"/>
          </a:xfrm>
        </p:spPr>
        <p:txBody>
          <a:bodyPr/>
          <a:lstStyle/>
          <a:p>
            <a:pPr eaLnBrk="1" hangingPunct="1">
              <a:lnSpc>
                <a:spcPct val="80000"/>
              </a:lnSpc>
            </a:pPr>
            <a:r>
              <a:rPr lang="en-US" altLang="en-US" sz="2000" b="1" u="sng" dirty="0">
                <a:latin typeface="Times New Roman" panose="02020603050405020304" pitchFamily="18" charset="0"/>
                <a:ea typeface="ＭＳ Ｐゴシック" panose="020B0600070205080204" pitchFamily="34" charset="-128"/>
              </a:rPr>
              <a:t>Total Permutation</a:t>
            </a:r>
            <a:r>
              <a:rPr lang="en-US" altLang="en-US" sz="2000" dirty="0">
                <a:latin typeface="Times New Roman" panose="02020603050405020304" pitchFamily="18" charset="0"/>
                <a:ea typeface="ＭＳ Ｐゴシック" panose="020B0600070205080204" pitchFamily="34" charset="-128"/>
              </a:rPr>
              <a:t> of </a:t>
            </a:r>
            <a:r>
              <a:rPr lang="en-US" altLang="en-US" sz="2000" i="1" dirty="0">
                <a:latin typeface="Times New Roman" panose="02020603050405020304" pitchFamily="18" charset="0"/>
                <a:ea typeface="ＭＳ Ｐゴシック" panose="020B0600070205080204" pitchFamily="34" charset="-128"/>
              </a:rPr>
              <a:t>n </a:t>
            </a:r>
            <a:r>
              <a:rPr lang="en-US" altLang="en-US" sz="2000" dirty="0">
                <a:latin typeface="Times New Roman" panose="02020603050405020304" pitchFamily="18" charset="0"/>
                <a:ea typeface="ＭＳ Ｐゴシック" panose="020B0600070205080204" pitchFamily="34" charset="-128"/>
              </a:rPr>
              <a:t>distinct objects is an arrangement, or ordering, of the </a:t>
            </a:r>
            <a:r>
              <a:rPr lang="en-US" altLang="en-US" sz="2000" i="1" dirty="0">
                <a:latin typeface="Times New Roman" panose="02020603050405020304" pitchFamily="18" charset="0"/>
                <a:ea typeface="ＭＳ Ｐゴシック" panose="020B0600070205080204" pitchFamily="34" charset="-128"/>
              </a:rPr>
              <a:t>n </a:t>
            </a:r>
            <a:r>
              <a:rPr lang="en-US" altLang="en-US" sz="2000" dirty="0">
                <a:latin typeface="Times New Roman" panose="02020603050405020304" pitchFamily="18" charset="0"/>
                <a:ea typeface="ＭＳ Ｐゴシック" panose="020B0600070205080204" pitchFamily="34" charset="-128"/>
              </a:rPr>
              <a:t>objects.  </a:t>
            </a:r>
          </a:p>
          <a:p>
            <a:pPr eaLnBrk="1" hangingPunct="1">
              <a:lnSpc>
                <a:spcPct val="80000"/>
              </a:lnSpc>
              <a:buFontTx/>
              <a:buNone/>
            </a:pPr>
            <a:endParaRPr lang="en-US" altLang="en-US" sz="2000" dirty="0">
              <a:latin typeface="Times New Roman" panose="02020603050405020304" pitchFamily="18" charset="0"/>
              <a:ea typeface="ＭＳ Ｐゴシック" panose="020B0600070205080204" pitchFamily="34" charset="-128"/>
            </a:endParaRPr>
          </a:p>
          <a:p>
            <a:pPr eaLnBrk="1" hangingPunct="1">
              <a:lnSpc>
                <a:spcPct val="80000"/>
              </a:lnSpc>
            </a:pPr>
            <a:r>
              <a:rPr lang="en-US" altLang="en-US" sz="2000" b="1" i="1" u="sng" dirty="0">
                <a:latin typeface="Times New Roman" panose="02020603050405020304" pitchFamily="18" charset="0"/>
                <a:ea typeface="ＭＳ Ｐゴシック" panose="020B0600070205080204" pitchFamily="34" charset="-128"/>
              </a:rPr>
              <a:t>N choose r</a:t>
            </a:r>
            <a:r>
              <a:rPr lang="en-US" altLang="en-US" sz="2000" b="1" u="sng" dirty="0">
                <a:latin typeface="Times New Roman" panose="02020603050405020304" pitchFamily="18" charset="0"/>
                <a:ea typeface="ＭＳ Ｐゴシック" panose="020B0600070205080204" pitchFamily="34" charset="-128"/>
              </a:rPr>
              <a:t>-Permutation</a:t>
            </a:r>
            <a:r>
              <a:rPr lang="en-US" altLang="en-US" sz="2000" dirty="0">
                <a:latin typeface="Times New Roman" panose="02020603050405020304" pitchFamily="18" charset="0"/>
                <a:ea typeface="ＭＳ Ｐゴシック" panose="020B0600070205080204" pitchFamily="34" charset="-128"/>
              </a:rPr>
              <a:t> of </a:t>
            </a:r>
            <a:r>
              <a:rPr lang="en-US" altLang="en-US" sz="2000" i="1" dirty="0">
                <a:latin typeface="Times New Roman" panose="02020603050405020304" pitchFamily="18" charset="0"/>
                <a:ea typeface="ＭＳ Ｐゴシック" panose="020B0600070205080204" pitchFamily="34" charset="-128"/>
              </a:rPr>
              <a:t>n </a:t>
            </a:r>
            <a:r>
              <a:rPr lang="en-US" altLang="en-US" sz="2000" dirty="0">
                <a:latin typeface="Times New Roman" panose="02020603050405020304" pitchFamily="18" charset="0"/>
                <a:ea typeface="ＭＳ Ｐゴシック" panose="020B0600070205080204" pitchFamily="34" charset="-128"/>
              </a:rPr>
              <a:t>distinct objects is an arrangement using </a:t>
            </a:r>
            <a:r>
              <a:rPr lang="en-US" altLang="en-US" sz="2000" i="1" dirty="0">
                <a:latin typeface="Times New Roman" panose="02020603050405020304" pitchFamily="18" charset="0"/>
                <a:ea typeface="ＭＳ Ｐゴシック" panose="020B0600070205080204" pitchFamily="34" charset="-128"/>
              </a:rPr>
              <a:t>r </a:t>
            </a:r>
            <a:r>
              <a:rPr lang="en-US" altLang="en-US" sz="2000" dirty="0">
                <a:latin typeface="Times New Roman" panose="02020603050405020304" pitchFamily="18" charset="0"/>
                <a:ea typeface="ＭＳ Ｐゴシック" panose="020B0600070205080204" pitchFamily="34" charset="-128"/>
              </a:rPr>
              <a:t>of the </a:t>
            </a:r>
            <a:r>
              <a:rPr lang="en-US" altLang="en-US" sz="2000" i="1" dirty="0">
                <a:latin typeface="Times New Roman" panose="02020603050405020304" pitchFamily="18" charset="0"/>
                <a:ea typeface="ＭＳ Ｐゴシック" panose="020B0600070205080204" pitchFamily="34" charset="-128"/>
              </a:rPr>
              <a:t>n</a:t>
            </a:r>
            <a:r>
              <a:rPr lang="en-US" altLang="en-US" sz="2000" dirty="0">
                <a:latin typeface="Times New Roman" panose="02020603050405020304" pitchFamily="18" charset="0"/>
                <a:ea typeface="ＭＳ Ｐゴシック" panose="020B0600070205080204" pitchFamily="34" charset="-128"/>
              </a:rPr>
              <a:t> objects. We use </a:t>
            </a:r>
            <a:r>
              <a:rPr lang="en-US" altLang="en-US" sz="2000" i="1" dirty="0">
                <a:latin typeface="Times New Roman" panose="02020603050405020304" pitchFamily="18" charset="0"/>
                <a:ea typeface="ＭＳ Ｐゴシック" panose="020B0600070205080204" pitchFamily="34" charset="-128"/>
              </a:rPr>
              <a:t>P </a:t>
            </a:r>
            <a:r>
              <a:rPr lang="en-US" altLang="en-US" sz="2000" dirty="0">
                <a:latin typeface="Times New Roman" panose="02020603050405020304" pitchFamily="18" charset="0"/>
                <a:ea typeface="ＭＳ Ｐゴシック" panose="020B0600070205080204" pitchFamily="34" charset="-128"/>
              </a:rPr>
              <a:t>(</a:t>
            </a:r>
            <a:r>
              <a:rPr lang="en-US" altLang="en-US" sz="2000" i="1" dirty="0">
                <a:latin typeface="Times New Roman" panose="02020603050405020304" pitchFamily="18" charset="0"/>
                <a:ea typeface="ＭＳ Ｐゴシック" panose="020B0600070205080204" pitchFamily="34" charset="-128"/>
              </a:rPr>
              <a:t>n</a:t>
            </a:r>
            <a:r>
              <a:rPr lang="en-US" altLang="en-US" sz="2000" dirty="0">
                <a:latin typeface="Times New Roman" panose="02020603050405020304" pitchFamily="18" charset="0"/>
                <a:ea typeface="ＭＳ Ｐゴシック" panose="020B0600070205080204" pitchFamily="34" charset="-128"/>
              </a:rPr>
              <a:t>, </a:t>
            </a:r>
            <a:r>
              <a:rPr lang="en-US" altLang="en-US" sz="2000" i="1" dirty="0">
                <a:latin typeface="Times New Roman" panose="02020603050405020304" pitchFamily="18" charset="0"/>
                <a:ea typeface="ＭＳ Ｐゴシック" panose="020B0600070205080204" pitchFamily="34" charset="-128"/>
              </a:rPr>
              <a:t>r</a:t>
            </a:r>
            <a:r>
              <a:rPr lang="en-US" altLang="en-US" sz="2000" dirty="0">
                <a:latin typeface="Times New Roman" panose="02020603050405020304" pitchFamily="18" charset="0"/>
                <a:ea typeface="ＭＳ Ｐゴシック" panose="020B0600070205080204" pitchFamily="34" charset="-128"/>
              </a:rPr>
              <a:t>) to denote the number of </a:t>
            </a:r>
            <a:r>
              <a:rPr lang="en-US" altLang="en-US" sz="2000" i="1" dirty="0">
                <a:latin typeface="Times New Roman" panose="02020603050405020304" pitchFamily="18" charset="0"/>
                <a:ea typeface="ＭＳ Ｐゴシック" panose="020B0600070205080204" pitchFamily="34" charset="-128"/>
              </a:rPr>
              <a:t>r</a:t>
            </a:r>
            <a:r>
              <a:rPr lang="en-US" altLang="en-US" sz="2000" dirty="0">
                <a:latin typeface="Times New Roman" panose="02020603050405020304" pitchFamily="18" charset="0"/>
                <a:ea typeface="ＭＳ Ｐゴシック" panose="020B0600070205080204" pitchFamily="34" charset="-128"/>
              </a:rPr>
              <a:t>-permutations of a set of </a:t>
            </a:r>
            <a:r>
              <a:rPr lang="en-US" altLang="en-US" sz="2000" i="1" dirty="0">
                <a:latin typeface="Times New Roman" panose="02020603050405020304" pitchFamily="18" charset="0"/>
                <a:ea typeface="ＭＳ Ｐゴシック" panose="020B0600070205080204" pitchFamily="34" charset="-128"/>
              </a:rPr>
              <a:t>n </a:t>
            </a:r>
            <a:r>
              <a:rPr lang="en-US" altLang="en-US" sz="2000" dirty="0">
                <a:latin typeface="Times New Roman" panose="02020603050405020304" pitchFamily="18" charset="0"/>
                <a:ea typeface="ＭＳ Ｐゴシック" panose="020B0600070205080204" pitchFamily="34" charset="-128"/>
              </a:rPr>
              <a:t>objects.</a:t>
            </a:r>
          </a:p>
          <a:p>
            <a:pPr eaLnBrk="1" hangingPunct="1">
              <a:lnSpc>
                <a:spcPct val="80000"/>
              </a:lnSpc>
              <a:buFontTx/>
              <a:buNone/>
            </a:pPr>
            <a:endParaRPr lang="en-US" altLang="en-US" sz="2000" dirty="0">
              <a:latin typeface="Times New Roman" panose="02020603050405020304" pitchFamily="18" charset="0"/>
              <a:ea typeface="ＭＳ Ｐゴシック" panose="020B0600070205080204" pitchFamily="34" charset="-128"/>
            </a:endParaRPr>
          </a:p>
          <a:p>
            <a:pPr eaLnBrk="1" hangingPunct="1">
              <a:lnSpc>
                <a:spcPct val="80000"/>
              </a:lnSpc>
            </a:pPr>
            <a:r>
              <a:rPr lang="en-US" altLang="en-US" sz="2000" b="1" i="1" u="sng" dirty="0">
                <a:latin typeface="Times New Roman" panose="02020603050405020304" pitchFamily="18" charset="0"/>
                <a:ea typeface="ＭＳ Ｐゴシック" panose="020B0600070205080204" pitchFamily="34" charset="-128"/>
              </a:rPr>
              <a:t>N choose r-</a:t>
            </a:r>
            <a:r>
              <a:rPr lang="en-US" altLang="en-US" sz="2000" b="1" u="sng" dirty="0">
                <a:latin typeface="Times New Roman" panose="02020603050405020304" pitchFamily="18" charset="0"/>
                <a:ea typeface="ＭＳ Ｐゴシック" panose="020B0600070205080204" pitchFamily="34" charset="-128"/>
              </a:rPr>
              <a:t>Combination</a:t>
            </a:r>
            <a:r>
              <a:rPr lang="en-US" altLang="en-US" sz="2000" dirty="0">
                <a:latin typeface="Times New Roman" panose="02020603050405020304" pitchFamily="18" charset="0"/>
                <a:ea typeface="ＭＳ Ｐゴシック" panose="020B0600070205080204" pitchFamily="34" charset="-128"/>
              </a:rPr>
              <a:t> of </a:t>
            </a:r>
            <a:r>
              <a:rPr lang="en-US" altLang="en-US" sz="2000" i="1" dirty="0">
                <a:latin typeface="Times New Roman" panose="02020603050405020304" pitchFamily="18" charset="0"/>
                <a:ea typeface="ＭＳ Ｐゴシック" panose="020B0600070205080204" pitchFamily="34" charset="-128"/>
              </a:rPr>
              <a:t>n </a:t>
            </a:r>
            <a:r>
              <a:rPr lang="en-US" altLang="en-US" sz="2000" dirty="0">
                <a:latin typeface="Times New Roman" panose="02020603050405020304" pitchFamily="18" charset="0"/>
                <a:ea typeface="ＭＳ Ｐゴシック" panose="020B0600070205080204" pitchFamily="34" charset="-128"/>
              </a:rPr>
              <a:t>distinct objects is an unordered selection, or </a:t>
            </a:r>
            <a:r>
              <a:rPr lang="en-US" altLang="en-US" sz="2000" i="1" dirty="0">
                <a:latin typeface="Times New Roman" panose="02020603050405020304" pitchFamily="18" charset="0"/>
                <a:ea typeface="ＭＳ Ｐゴシック" panose="020B0600070205080204" pitchFamily="34" charset="-128"/>
              </a:rPr>
              <a:t>subset</a:t>
            </a:r>
            <a:r>
              <a:rPr lang="en-US" altLang="en-US" sz="2000" dirty="0">
                <a:latin typeface="Times New Roman" panose="02020603050405020304" pitchFamily="18" charset="0"/>
                <a:ea typeface="ＭＳ Ｐゴシック" panose="020B0600070205080204" pitchFamily="34" charset="-128"/>
              </a:rPr>
              <a:t>, of </a:t>
            </a:r>
            <a:r>
              <a:rPr lang="en-US" altLang="en-US" sz="2000" i="1" dirty="0">
                <a:latin typeface="Times New Roman" panose="02020603050405020304" pitchFamily="18" charset="0"/>
                <a:ea typeface="ＭＳ Ｐゴシック" panose="020B0600070205080204" pitchFamily="34" charset="-128"/>
              </a:rPr>
              <a:t>r </a:t>
            </a:r>
            <a:r>
              <a:rPr lang="en-US" altLang="en-US" sz="2000" dirty="0">
                <a:latin typeface="Times New Roman" panose="02020603050405020304" pitchFamily="18" charset="0"/>
                <a:ea typeface="ＭＳ Ｐゴシック" panose="020B0600070205080204" pitchFamily="34" charset="-128"/>
              </a:rPr>
              <a:t>out of the </a:t>
            </a:r>
            <a:r>
              <a:rPr lang="en-US" altLang="en-US" sz="2000" i="1" dirty="0">
                <a:latin typeface="Times New Roman" panose="02020603050405020304" pitchFamily="18" charset="0"/>
                <a:ea typeface="ＭＳ Ｐゴシック" panose="020B0600070205080204" pitchFamily="34" charset="-128"/>
              </a:rPr>
              <a:t>n </a:t>
            </a:r>
            <a:r>
              <a:rPr lang="en-US" altLang="en-US" sz="2000" dirty="0">
                <a:latin typeface="Times New Roman" panose="02020603050405020304" pitchFamily="18" charset="0"/>
                <a:ea typeface="ＭＳ Ｐゴシック" panose="020B0600070205080204" pitchFamily="34" charset="-128"/>
              </a:rPr>
              <a:t>objects. We use </a:t>
            </a:r>
            <a:r>
              <a:rPr lang="en-US" altLang="en-US" sz="2000" i="1" dirty="0">
                <a:latin typeface="Times New Roman" panose="02020603050405020304" pitchFamily="18" charset="0"/>
                <a:ea typeface="ＭＳ Ｐゴシック" panose="020B0600070205080204" pitchFamily="34" charset="-128"/>
              </a:rPr>
              <a:t>C </a:t>
            </a:r>
            <a:r>
              <a:rPr lang="en-US" altLang="en-US" sz="2000" dirty="0">
                <a:latin typeface="Times New Roman" panose="02020603050405020304" pitchFamily="18" charset="0"/>
                <a:ea typeface="ＭＳ Ｐゴシック" panose="020B0600070205080204" pitchFamily="34" charset="-128"/>
              </a:rPr>
              <a:t>(</a:t>
            </a:r>
            <a:r>
              <a:rPr lang="en-US" altLang="en-US" sz="2000" i="1" dirty="0">
                <a:latin typeface="Times New Roman" panose="02020603050405020304" pitchFamily="18" charset="0"/>
                <a:ea typeface="ＭＳ Ｐゴシック" panose="020B0600070205080204" pitchFamily="34" charset="-128"/>
              </a:rPr>
              <a:t>n</a:t>
            </a:r>
            <a:r>
              <a:rPr lang="en-US" altLang="en-US" sz="2000" dirty="0">
                <a:latin typeface="Times New Roman" panose="02020603050405020304" pitchFamily="18" charset="0"/>
                <a:ea typeface="ＭＳ Ｐゴシック" panose="020B0600070205080204" pitchFamily="34" charset="-128"/>
              </a:rPr>
              <a:t>, </a:t>
            </a:r>
            <a:r>
              <a:rPr lang="en-US" altLang="en-US" sz="2000" i="1" dirty="0">
                <a:latin typeface="Times New Roman" panose="02020603050405020304" pitchFamily="18" charset="0"/>
                <a:ea typeface="ＭＳ Ｐゴシック" panose="020B0600070205080204" pitchFamily="34" charset="-128"/>
              </a:rPr>
              <a:t>r</a:t>
            </a:r>
            <a:r>
              <a:rPr lang="en-US" altLang="en-US" sz="2000" dirty="0">
                <a:latin typeface="Times New Roman" panose="02020603050405020304" pitchFamily="18" charset="0"/>
                <a:ea typeface="ＭＳ Ｐゴシック" panose="020B0600070205080204" pitchFamily="34" charset="-128"/>
              </a:rPr>
              <a:t>) to denote the number of </a:t>
            </a:r>
            <a:r>
              <a:rPr lang="en-US" altLang="en-US" sz="2000" i="1" dirty="0">
                <a:latin typeface="Times New Roman" panose="02020603050405020304" pitchFamily="18" charset="0"/>
                <a:ea typeface="ＭＳ Ｐゴシック" panose="020B0600070205080204" pitchFamily="34" charset="-128"/>
              </a:rPr>
              <a:t>r</a:t>
            </a:r>
            <a:r>
              <a:rPr lang="en-US" altLang="en-US" sz="2000" dirty="0">
                <a:latin typeface="Times New Roman" panose="02020603050405020304" pitchFamily="18" charset="0"/>
                <a:ea typeface="ＭＳ Ｐゴシック" panose="020B0600070205080204" pitchFamily="34" charset="-128"/>
              </a:rPr>
              <a:t>-combinations of a set of </a:t>
            </a:r>
            <a:r>
              <a:rPr lang="en-US" altLang="en-US" sz="2000" i="1" dirty="0">
                <a:latin typeface="Times New Roman" panose="02020603050405020304" pitchFamily="18" charset="0"/>
                <a:ea typeface="ＭＳ Ｐゴシック" panose="020B0600070205080204" pitchFamily="34" charset="-128"/>
              </a:rPr>
              <a:t>n </a:t>
            </a:r>
            <a:r>
              <a:rPr lang="en-US" altLang="en-US" sz="2000" dirty="0">
                <a:latin typeface="Times New Roman" panose="02020603050405020304" pitchFamily="18" charset="0"/>
                <a:ea typeface="ＭＳ Ｐゴシック" panose="020B0600070205080204" pitchFamily="34" charset="-128"/>
              </a:rPr>
              <a:t>objects.</a:t>
            </a:r>
          </a:p>
        </p:txBody>
      </p:sp>
    </p:spTree>
    <p:extLst>
      <p:ext uri="{BB962C8B-B14F-4D97-AF65-F5344CB8AC3E}">
        <p14:creationId xmlns:p14="http://schemas.microsoft.com/office/powerpoint/2010/main" val="3792510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AFDE5B-4190-E046-BAC0-55870FCC5559}"/>
              </a:ext>
            </a:extLst>
          </p:cNvPr>
          <p:cNvPicPr>
            <a:picLocks noChangeAspect="1"/>
          </p:cNvPicPr>
          <p:nvPr/>
        </p:nvPicPr>
        <p:blipFill>
          <a:blip r:embed="rId2"/>
          <a:stretch>
            <a:fillRect/>
          </a:stretch>
        </p:blipFill>
        <p:spPr>
          <a:xfrm>
            <a:off x="2438543" y="781051"/>
            <a:ext cx="7314914" cy="5486186"/>
          </a:xfrm>
          <a:prstGeom prst="rect">
            <a:avLst/>
          </a:prstGeom>
        </p:spPr>
      </p:pic>
    </p:spTree>
    <p:extLst>
      <p:ext uri="{BB962C8B-B14F-4D97-AF65-F5344CB8AC3E}">
        <p14:creationId xmlns:p14="http://schemas.microsoft.com/office/powerpoint/2010/main" val="3243335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36594-F1A2-3349-9703-19D35A7916B7}"/>
              </a:ext>
            </a:extLst>
          </p:cNvPr>
          <p:cNvPicPr>
            <a:picLocks noChangeAspect="1"/>
          </p:cNvPicPr>
          <p:nvPr/>
        </p:nvPicPr>
        <p:blipFill rotWithShape="1">
          <a:blip r:embed="rId2"/>
          <a:srcRect b="6429"/>
          <a:stretch/>
        </p:blipFill>
        <p:spPr>
          <a:xfrm>
            <a:off x="2747855" y="594527"/>
            <a:ext cx="6696289" cy="4498501"/>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E88517-0E61-474D-B6E6-F136EF052463}"/>
                  </a:ext>
                </a:extLst>
              </p:cNvPr>
              <p:cNvSpPr txBox="1"/>
              <p:nvPr/>
            </p:nvSpPr>
            <p:spPr>
              <a:xfrm>
                <a:off x="2085654" y="5250094"/>
                <a:ext cx="8370818" cy="461665"/>
              </a:xfrm>
              <a:prstGeom prst="rect">
                <a:avLst/>
              </a:prstGeom>
              <a:noFill/>
            </p:spPr>
            <p:txBody>
              <a:bodyPr wrap="none" rtlCol="0">
                <a:spAutoFit/>
              </a:bodyPr>
              <a:lstStyle/>
              <a:p>
                <a:r>
                  <a:rPr lang="en-US" sz="2400" dirty="0"/>
                  <a:t>Total permutation, also the n choose n permutation: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e>
                    </m:d>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p:txBody>
          </p:sp>
        </mc:Choice>
        <mc:Fallback xmlns="">
          <p:sp>
            <p:nvSpPr>
              <p:cNvPr id="4" name="TextBox 3">
                <a:extLst>
                  <a:ext uri="{FF2B5EF4-FFF2-40B4-BE49-F238E27FC236}">
                    <a16:creationId xmlns:a16="http://schemas.microsoft.com/office/drawing/2014/main" id="{E1E88517-0E61-474D-B6E6-F136EF052463}"/>
                  </a:ext>
                </a:extLst>
              </p:cNvPr>
              <p:cNvSpPr txBox="1">
                <a:spLocks noRot="1" noChangeAspect="1" noMove="1" noResize="1" noEditPoints="1" noAdjustHandles="1" noChangeArrowheads="1" noChangeShapeType="1" noTextEdit="1"/>
              </p:cNvSpPr>
              <p:nvPr/>
            </p:nvSpPr>
            <p:spPr>
              <a:xfrm>
                <a:off x="2085654" y="5250094"/>
                <a:ext cx="8370818" cy="461665"/>
              </a:xfrm>
              <a:prstGeom prst="rect">
                <a:avLst/>
              </a:prstGeom>
              <a:blipFill>
                <a:blip r:embed="rId3"/>
                <a:stretch>
                  <a:fillRect l="-1061" t="-5263" b="-26316"/>
                </a:stretch>
              </a:blipFill>
            </p:spPr>
            <p:txBody>
              <a:bodyPr/>
              <a:lstStyle/>
              <a:p>
                <a:r>
                  <a:rPr lang="en-US">
                    <a:noFill/>
                  </a:rPr>
                  <a:t> </a:t>
                </a:r>
              </a:p>
            </p:txBody>
          </p:sp>
        </mc:Fallback>
      </mc:AlternateContent>
    </p:spTree>
    <p:extLst>
      <p:ext uri="{BB962C8B-B14F-4D97-AF65-F5344CB8AC3E}">
        <p14:creationId xmlns:p14="http://schemas.microsoft.com/office/powerpoint/2010/main" val="2910498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484" name="Rectangle 2">
                <a:extLst>
                  <a:ext uri="{FF2B5EF4-FFF2-40B4-BE49-F238E27FC236}">
                    <a16:creationId xmlns:a16="http://schemas.microsoft.com/office/drawing/2014/main" id="{F7645816-55EF-2C41-A0CB-A40AEA39CF81}"/>
                  </a:ext>
                </a:extLst>
              </p:cNvPr>
              <p:cNvSpPr>
                <a:spLocks noGrp="1" noChangeArrowheads="1"/>
              </p:cNvSpPr>
              <p:nvPr>
                <p:ph type="title"/>
              </p:nvPr>
            </p:nvSpPr>
            <p:spPr>
              <a:xfrm>
                <a:off x="540249" y="868559"/>
                <a:ext cx="10515600" cy="1325563"/>
              </a:xfrm>
            </p:spPr>
            <p:txBody>
              <a:bodyPr>
                <a:normAutofit/>
              </a:bodyPr>
              <a:lstStyle/>
              <a:p>
                <a:pPr algn="ctr" eaLnBrk="1" hangingPunct="1"/>
                <a:r>
                  <a:rPr lang="en-US" altLang="en-US" dirty="0">
                    <a:latin typeface="Times New Roman" panose="02020603050405020304" pitchFamily="18" charset="0"/>
                    <a:ea typeface="ＭＳ Ｐゴシック" panose="020B0600070205080204" pitchFamily="34" charset="-128"/>
                  </a:rPr>
                  <a:t>Definitions: </a:t>
                </a:r>
                <a14:m>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𝑛</m:t>
                    </m:r>
                  </m:oMath>
                </a14:m>
                <a:r>
                  <a:rPr lang="en-US" altLang="en-US" dirty="0">
                    <a:latin typeface="Times New Roman" panose="02020603050405020304" pitchFamily="18" charset="0"/>
                    <a:ea typeface="ＭＳ Ｐゴシック" panose="020B0600070205080204" pitchFamily="34" charset="-128"/>
                  </a:rPr>
                  <a:t> choose </a:t>
                </a:r>
                <a14:m>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𝑟</m:t>
                    </m:r>
                  </m:oMath>
                </a14:m>
                <a:r>
                  <a:rPr lang="en-US" altLang="en-US" dirty="0">
                    <a:latin typeface="Times New Roman" panose="02020603050405020304" pitchFamily="18" charset="0"/>
                    <a:ea typeface="ＭＳ Ｐゴシック" panose="020B0600070205080204" pitchFamily="34" charset="-128"/>
                  </a:rPr>
                  <a:t> permutation</a:t>
                </a:r>
                <a:br>
                  <a:rPr lang="en-US" altLang="en-US" dirty="0">
                    <a:latin typeface="Times New Roman" panose="02020603050405020304" pitchFamily="18" charset="0"/>
                    <a:ea typeface="ＭＳ Ｐゴシック" panose="020B0600070205080204" pitchFamily="34" charset="-128"/>
                  </a:rPr>
                </a:br>
                <a:r>
                  <a:rPr lang="en-US" altLang="en-US" dirty="0">
                    <a:latin typeface="Times New Roman" panose="02020603050405020304" pitchFamily="18" charset="0"/>
                    <a:ea typeface="ＭＳ Ｐゴシック" panose="020B0600070205080204" pitchFamily="34" charset="-128"/>
                  </a:rPr>
                  <a:t>(</a:t>
                </a:r>
                <a:r>
                  <a:rPr lang="en-US" altLang="en-US" sz="3200" dirty="0">
                    <a:latin typeface="Times New Roman" panose="02020603050405020304" pitchFamily="18" charset="0"/>
                    <a:ea typeface="ＭＳ Ｐゴシック" panose="020B0600070205080204" pitchFamily="34" charset="-128"/>
                  </a:rPr>
                  <a:t>select </a:t>
                </a:r>
                <a14:m>
                  <m:oMath xmlns:m="http://schemas.openxmlformats.org/officeDocument/2006/math">
                    <m:r>
                      <a:rPr lang="en-US" altLang="en-US" sz="3200" b="0" i="1" smtClean="0">
                        <a:latin typeface="Cambria Math" panose="02040503050406030204" pitchFamily="18" charset="0"/>
                        <a:ea typeface="ＭＳ Ｐゴシック" panose="020B0600070205080204" pitchFamily="34" charset="-128"/>
                      </a:rPr>
                      <m:t>𝑟</m:t>
                    </m:r>
                  </m:oMath>
                </a14:m>
                <a:r>
                  <a:rPr lang="en-US" altLang="en-US" sz="3200" dirty="0">
                    <a:latin typeface="Times New Roman" panose="02020603050405020304" pitchFamily="18" charset="0"/>
                    <a:ea typeface="ＭＳ Ｐゴシック" panose="020B0600070205080204" pitchFamily="34" charset="-128"/>
                  </a:rPr>
                  <a:t> people from total of </a:t>
                </a:r>
                <a14:m>
                  <m:oMath xmlns:m="http://schemas.openxmlformats.org/officeDocument/2006/math">
                    <m:r>
                      <a:rPr lang="en-US" altLang="en-US" sz="3200" b="0" i="1" smtClean="0">
                        <a:latin typeface="Cambria Math" panose="02040503050406030204" pitchFamily="18" charset="0"/>
                        <a:ea typeface="ＭＳ Ｐゴシック" panose="020B0600070205080204" pitchFamily="34" charset="-128"/>
                      </a:rPr>
                      <m:t>𝑛</m:t>
                    </m:r>
                  </m:oMath>
                </a14:m>
                <a:r>
                  <a:rPr lang="en-US" altLang="en-US" sz="3200" dirty="0">
                    <a:latin typeface="Times New Roman" panose="02020603050405020304" pitchFamily="18" charset="0"/>
                    <a:ea typeface="ＭＳ Ｐゴシック" panose="020B0600070205080204" pitchFamily="34" charset="-128"/>
                  </a:rPr>
                  <a:t> people to line-up):</a:t>
                </a:r>
              </a:p>
            </p:txBody>
          </p:sp>
        </mc:Choice>
        <mc:Fallback xmlns="">
          <p:sp>
            <p:nvSpPr>
              <p:cNvPr id="20484" name="Rectangle 2">
                <a:extLst>
                  <a:ext uri="{FF2B5EF4-FFF2-40B4-BE49-F238E27FC236}">
                    <a16:creationId xmlns:a16="http://schemas.microsoft.com/office/drawing/2014/main" id="{F7645816-55EF-2C41-A0CB-A40AEA39CF81}"/>
                  </a:ext>
                </a:extLst>
              </p:cNvPr>
              <p:cNvSpPr>
                <a:spLocks noGrp="1" noRot="1" noChangeAspect="1" noMove="1" noResize="1" noEditPoints="1" noAdjustHandles="1" noChangeArrowheads="1" noChangeShapeType="1" noTextEdit="1"/>
              </p:cNvSpPr>
              <p:nvPr>
                <p:ph type="title"/>
              </p:nvPr>
            </p:nvSpPr>
            <p:spPr>
              <a:xfrm>
                <a:off x="540249" y="868559"/>
                <a:ext cx="10515600" cy="1325563"/>
              </a:xfrm>
              <a:blipFill>
                <a:blip r:embed="rId2"/>
                <a:stretch>
                  <a:fillRect t="-12264" b="-19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5" name="Rectangle 4">
                <a:extLst>
                  <a:ext uri="{FF2B5EF4-FFF2-40B4-BE49-F238E27FC236}">
                    <a16:creationId xmlns:a16="http://schemas.microsoft.com/office/drawing/2014/main" id="{114AC313-8547-EA42-9291-4C24D070677A}"/>
                  </a:ext>
                </a:extLst>
              </p:cNvPr>
              <p:cNvSpPr>
                <a:spLocks noChangeArrowheads="1"/>
              </p:cNvSpPr>
              <p:nvPr/>
            </p:nvSpPr>
            <p:spPr bwMode="auto">
              <a:xfrm>
                <a:off x="1905000" y="2524481"/>
                <a:ext cx="8382000" cy="3886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sz="40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40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40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40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4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9pPr>
              </a:lstStyle>
              <a:p>
                <a:pPr lvl="1" eaLnBrk="1" hangingPunct="1">
                  <a:lnSpc>
                    <a:spcPct val="90000"/>
                  </a:lnSpc>
                  <a:spcBef>
                    <a:spcPct val="20000"/>
                  </a:spcBef>
                  <a:buFontTx/>
                  <a:buChar char="–"/>
                </a:pPr>
                <a:r>
                  <a:rPr lang="en-US" altLang="en-US" sz="2000" dirty="0"/>
                  <a:t>From the multiplication principle we obtain.</a:t>
                </a:r>
              </a:p>
              <a:p>
                <a:pPr marL="457200" lvl="1" indent="0" eaLnBrk="1" hangingPunct="1">
                  <a:lnSpc>
                    <a:spcPct val="90000"/>
                  </a:lnSpc>
                  <a:spcBef>
                    <a:spcPct val="20000"/>
                  </a:spcBef>
                </a:pPr>
                <a:endParaRPr lang="en-US" altLang="en-US" sz="2000" dirty="0"/>
              </a:p>
              <a:p>
                <a:pPr lvl="2" eaLnBrk="1" hangingPunct="1">
                  <a:lnSpc>
                    <a:spcPct val="90000"/>
                  </a:lnSpc>
                  <a:spcBef>
                    <a:spcPct val="20000"/>
                  </a:spcBef>
                  <a:buFontTx/>
                  <a:buChar char="•"/>
                </a:pPr>
                <a14:m>
                  <m:oMath xmlns:m="http://schemas.openxmlformats.org/officeDocument/2006/math">
                    <m:r>
                      <a:rPr lang="en-US" altLang="en-US" sz="2000" b="0" i="1" smtClean="0">
                        <a:latin typeface="Cambria Math" panose="02040503050406030204" pitchFamily="18" charset="0"/>
                      </a:rPr>
                      <m:t>𝑃</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,2</m:t>
                        </m:r>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oMath>
                </a14:m>
                <a:r>
                  <a:rPr lang="en-US" altLang="en-US" sz="2000" dirty="0"/>
                  <a:t>,	</a:t>
                </a:r>
              </a:p>
              <a:p>
                <a:pPr lvl="2" eaLnBrk="1" hangingPunct="1">
                  <a:lnSpc>
                    <a:spcPct val="90000"/>
                  </a:lnSpc>
                  <a:spcBef>
                    <a:spcPct val="20000"/>
                  </a:spcBef>
                  <a:buFontTx/>
                  <a:buChar char="•"/>
                </a:pPr>
                <a14:m>
                  <m:oMath xmlns:m="http://schemas.openxmlformats.org/officeDocument/2006/math">
                    <m:r>
                      <a:rPr lang="en-US" altLang="en-US" sz="2000" b="0" i="1" smtClean="0">
                        <a:latin typeface="Cambria Math" panose="02040503050406030204" pitchFamily="18" charset="0"/>
                      </a:rPr>
                      <m:t>𝑃</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,3</m:t>
                        </m:r>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−2)</m:t>
                    </m:r>
                  </m:oMath>
                </a14:m>
                <a:r>
                  <a:rPr lang="en-US" altLang="en-US" sz="2000" dirty="0"/>
                  <a:t>,</a:t>
                </a:r>
              </a:p>
              <a:p>
                <a:pPr lvl="2" eaLnBrk="1" hangingPunct="1">
                  <a:lnSpc>
                    <a:spcPct val="90000"/>
                  </a:lnSpc>
                  <a:spcBef>
                    <a:spcPct val="20000"/>
                  </a:spcBef>
                  <a:buFontTx/>
                  <a:buChar char="•"/>
                </a:pPr>
                <a14:m>
                  <m:oMath xmlns:m="http://schemas.openxmlformats.org/officeDocument/2006/math">
                    <m:r>
                      <a:rPr lang="en-US" altLang="en-US" sz="2000" i="1" smtClean="0">
                        <a:latin typeface="Cambria Math" panose="02040503050406030204" pitchFamily="18" charset="0"/>
                        <a:ea typeface="Cambria Math" panose="02040503050406030204" pitchFamily="18" charset="0"/>
                      </a:rPr>
                      <m:t>⋯</m:t>
                    </m:r>
                  </m:oMath>
                </a14:m>
                <a:endParaRPr lang="en-US" altLang="en-US" sz="2000" dirty="0"/>
              </a:p>
              <a:p>
                <a:pPr lvl="2" eaLnBrk="1" hangingPunct="1">
                  <a:lnSpc>
                    <a:spcPct val="90000"/>
                  </a:lnSpc>
                  <a:spcBef>
                    <a:spcPct val="20000"/>
                  </a:spcBef>
                  <a:buFontTx/>
                  <a:buChar char="•"/>
                </a:pPr>
                <a14:m>
                  <m:oMath xmlns:m="http://schemas.openxmlformats.org/officeDocument/2006/math">
                    <m:r>
                      <a:rPr lang="en-US" altLang="en-US" sz="2000" b="0" i="1" smtClean="0">
                        <a:latin typeface="Cambria Math" panose="02040503050406030204" pitchFamily="18" charset="0"/>
                      </a:rPr>
                      <m:t>𝑃</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𝑟</m:t>
                        </m:r>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−2)⋯(</m:t>
                    </m:r>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𝑟</m:t>
                    </m:r>
                    <m:r>
                      <a:rPr lang="en-US" altLang="en-US" sz="2000" b="0" i="1" smtClean="0">
                        <a:latin typeface="Cambria Math" panose="02040503050406030204" pitchFamily="18" charset="0"/>
                        <a:ea typeface="Cambria Math" panose="02040503050406030204" pitchFamily="18" charset="0"/>
                      </a:rPr>
                      <m:t>+1)</m:t>
                    </m:r>
                  </m:oMath>
                </a14:m>
                <a:endParaRPr lang="en-US" altLang="en-US" sz="2000" dirty="0"/>
              </a:p>
              <a:p>
                <a:pPr lvl="2" eaLnBrk="1" hangingPunct="1">
                  <a:lnSpc>
                    <a:spcPct val="90000"/>
                  </a:lnSpc>
                  <a:spcBef>
                    <a:spcPct val="20000"/>
                  </a:spcBef>
                  <a:buFontTx/>
                  <a:buChar char="•"/>
                </a:pPr>
                <a14:m>
                  <m:oMath xmlns:m="http://schemas.openxmlformats.org/officeDocument/2006/math">
                    <m:r>
                      <a:rPr lang="en-US" altLang="en-US" sz="2000" i="1" smtClean="0">
                        <a:latin typeface="Cambria Math" panose="02040503050406030204" pitchFamily="18" charset="0"/>
                        <a:ea typeface="Cambria Math" panose="02040503050406030204" pitchFamily="18" charset="0"/>
                      </a:rPr>
                      <m:t>⋯</m:t>
                    </m:r>
                  </m:oMath>
                </a14:m>
                <a:endParaRPr lang="en-US" altLang="en-US" sz="2000" dirty="0"/>
              </a:p>
              <a:p>
                <a:pPr lvl="2" eaLnBrk="1" hangingPunct="1">
                  <a:lnSpc>
                    <a:spcPct val="90000"/>
                  </a:lnSpc>
                  <a:spcBef>
                    <a:spcPct val="20000"/>
                  </a:spcBef>
                  <a:buFontTx/>
                  <a:buChar char="•"/>
                </a:pPr>
                <a14:m>
                  <m:oMath xmlns:m="http://schemas.openxmlformats.org/officeDocument/2006/math">
                    <m:r>
                      <a:rPr lang="en-US" altLang="en-US" sz="2000" b="0" i="1" smtClean="0">
                        <a:latin typeface="Cambria Math" panose="02040503050406030204" pitchFamily="18" charset="0"/>
                      </a:rPr>
                      <m:t>𝑃</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e>
                    </m:d>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−2</m:t>
                        </m:r>
                      </m:e>
                    </m:d>
                    <m:r>
                      <a:rPr lang="en-US" altLang="en-US" sz="2000" b="0" i="1" smtClean="0">
                        <a:latin typeface="Cambria Math" panose="02040503050406030204" pitchFamily="18" charset="0"/>
                        <a:ea typeface="Cambria Math" panose="02040503050406030204" pitchFamily="18" charset="0"/>
                      </a:rPr>
                      <m:t>⋯×3×2×1=</m:t>
                    </m:r>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oMath>
                </a14:m>
                <a:endParaRPr lang="en-US" altLang="en-US" sz="2000" dirty="0"/>
              </a:p>
            </p:txBody>
          </p:sp>
        </mc:Choice>
        <mc:Fallback xmlns="">
          <p:sp>
            <p:nvSpPr>
              <p:cNvPr id="20485" name="Rectangle 4">
                <a:extLst>
                  <a:ext uri="{FF2B5EF4-FFF2-40B4-BE49-F238E27FC236}">
                    <a16:creationId xmlns:a16="http://schemas.microsoft.com/office/drawing/2014/main" id="{114AC313-8547-EA42-9291-4C24D070677A}"/>
                  </a:ext>
                </a:extLst>
              </p:cNvPr>
              <p:cNvSpPr>
                <a:spLocks noRot="1" noChangeAspect="1" noMove="1" noResize="1" noEditPoints="1" noAdjustHandles="1" noChangeArrowheads="1" noChangeShapeType="1" noTextEdit="1"/>
              </p:cNvSpPr>
              <p:nvPr/>
            </p:nvSpPr>
            <p:spPr bwMode="auto">
              <a:xfrm>
                <a:off x="1905000" y="2524481"/>
                <a:ext cx="8382000" cy="3886200"/>
              </a:xfrm>
              <a:prstGeom prst="rect">
                <a:avLst/>
              </a:prstGeom>
              <a:blipFill>
                <a:blip r:embed="rId3"/>
                <a:stretch>
                  <a:fillRect t="-16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052100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8A82A7-9F46-454C-B4B9-2DC88785A050}"/>
              </a:ext>
            </a:extLst>
          </p:cNvPr>
          <p:cNvPicPr>
            <a:picLocks noChangeAspect="1"/>
          </p:cNvPicPr>
          <p:nvPr/>
        </p:nvPicPr>
        <p:blipFill>
          <a:blip r:embed="rId2"/>
          <a:stretch>
            <a:fillRect/>
          </a:stretch>
        </p:blipFill>
        <p:spPr>
          <a:xfrm>
            <a:off x="2273762" y="2553127"/>
            <a:ext cx="7644473" cy="3192587"/>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AB79061-6872-8D40-807A-801EBA6EC67E}"/>
                  </a:ext>
                </a:extLst>
              </p:cNvPr>
              <p:cNvSpPr txBox="1"/>
              <p:nvPr/>
            </p:nvSpPr>
            <p:spPr>
              <a:xfrm>
                <a:off x="1892032" y="1040367"/>
                <a:ext cx="8407935" cy="1357616"/>
              </a:xfrm>
              <a:prstGeom prst="rect">
                <a:avLst/>
              </a:prstGeom>
              <a:noFill/>
            </p:spPr>
            <p:txBody>
              <a:bodyPr wrap="square" rtlCol="0">
                <a:spAutoFit/>
              </a:bodyPr>
              <a:lstStyle/>
              <a:p>
                <a:r>
                  <a:rPr lang="en-US" sz="3200" b="0" dirty="0"/>
                  <a:t>The </a:t>
                </a:r>
                <a14:m>
                  <m:oMath xmlns:m="http://schemas.openxmlformats.org/officeDocument/2006/math">
                    <m:r>
                      <a:rPr lang="en-US" sz="3200" b="0" i="1" smtClean="0">
                        <a:latin typeface="Cambria Math" panose="02040503050406030204" pitchFamily="18" charset="0"/>
                      </a:rPr>
                      <m:t>𝑛</m:t>
                    </m:r>
                  </m:oMath>
                </a14:m>
                <a:r>
                  <a:rPr lang="en-US" sz="3200" dirty="0"/>
                  <a:t> choose </a:t>
                </a:r>
                <a14:m>
                  <m:oMath xmlns:m="http://schemas.openxmlformats.org/officeDocument/2006/math">
                    <m:r>
                      <a:rPr lang="en-US" sz="3200" b="0" i="1" smtClean="0">
                        <a:latin typeface="Cambria Math" panose="02040503050406030204" pitchFamily="18" charset="0"/>
                      </a:rPr>
                      <m:t>𝑟</m:t>
                    </m:r>
                  </m:oMath>
                </a14:m>
                <a:r>
                  <a:rPr lang="en-US" sz="3200" dirty="0"/>
                  <a:t> permutation:</a:t>
                </a:r>
              </a:p>
              <a:p>
                <a:pPr algn="ctr"/>
                <a:r>
                  <a:rPr lang="en-US" sz="3200" dirty="0"/>
                  <a:t> </a:t>
                </a:r>
                <a14:m>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𝑟</m:t>
                        </m:r>
                      </m:e>
                    </m:d>
                    <m:r>
                      <a:rPr lang="en-US" sz="3200" b="0" i="1" smtClean="0">
                        <a:latin typeface="Cambria Math" panose="02040503050406030204" pitchFamily="18" charset="0"/>
                      </a:rPr>
                      <m:t>=</m:t>
                    </m:r>
                    <m:r>
                      <a:rPr lang="en-US" sz="3200" b="0" i="1" smtClean="0">
                        <a:latin typeface="Cambria Math" panose="02040503050406030204" pitchFamily="18" charset="0"/>
                      </a:rPr>
                      <m:t>𝑛</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−1</m:t>
                        </m:r>
                      </m:e>
                    </m:d>
                    <m:r>
                      <a:rPr lang="en-US" sz="3200" b="0" i="1" smtClean="0">
                        <a:latin typeface="Cambria Math" panose="02040503050406030204" pitchFamily="18" charset="0"/>
                        <a:ea typeface="Cambria Math" panose="02040503050406030204" pitchFamily="18" charset="0"/>
                      </a:rPr>
                      <m:t>⋯</m:t>
                    </m:r>
                    <m:d>
                      <m:dPr>
                        <m:ctrlPr>
                          <a:rPr lang="en-US" sz="3200" b="0" i="1" smtClean="0">
                            <a:latin typeface="Cambria Math" panose="02040503050406030204" pitchFamily="18" charset="0"/>
                            <a:ea typeface="Cambria Math" panose="02040503050406030204" pitchFamily="18" charset="0"/>
                          </a:rPr>
                        </m:ctrlPr>
                      </m:dPr>
                      <m:e>
                        <m:r>
                          <a:rPr lang="en-US" sz="3200" b="0" i="1" smtClean="0">
                            <a:latin typeface="Cambria Math" panose="02040503050406030204" pitchFamily="18" charset="0"/>
                            <a:ea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𝑟</m:t>
                        </m:r>
                        <m:r>
                          <a:rPr lang="en-US" sz="3200" b="0" i="1" smtClean="0">
                            <a:latin typeface="Cambria Math" panose="02040503050406030204" pitchFamily="18" charset="0"/>
                            <a:ea typeface="Cambria Math" panose="02040503050406030204" pitchFamily="18" charset="0"/>
                          </a:rPr>
                          <m:t>+1</m:t>
                        </m:r>
                      </m:e>
                    </m:d>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m:t>
                        </m:r>
                      </m:num>
                      <m:den>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𝑟</m:t>
                        </m:r>
                        <m:r>
                          <a:rPr lang="en-US" sz="3200" b="0" i="1" smtClean="0">
                            <a:latin typeface="Cambria Math" panose="02040503050406030204" pitchFamily="18" charset="0"/>
                            <a:ea typeface="Cambria Math" panose="02040503050406030204" pitchFamily="18" charset="0"/>
                          </a:rPr>
                          <m:t>)!</m:t>
                        </m:r>
                      </m:den>
                    </m:f>
                  </m:oMath>
                </a14:m>
                <a:endParaRPr lang="en-US" sz="3200" dirty="0"/>
              </a:p>
            </p:txBody>
          </p:sp>
        </mc:Choice>
        <mc:Fallback xmlns="">
          <p:sp>
            <p:nvSpPr>
              <p:cNvPr id="4" name="TextBox 3">
                <a:extLst>
                  <a:ext uri="{FF2B5EF4-FFF2-40B4-BE49-F238E27FC236}">
                    <a16:creationId xmlns:a16="http://schemas.microsoft.com/office/drawing/2014/main" id="{3AB79061-6872-8D40-807A-801EBA6EC67E}"/>
                  </a:ext>
                </a:extLst>
              </p:cNvPr>
              <p:cNvSpPr txBox="1">
                <a:spLocks noRot="1" noChangeAspect="1" noMove="1" noResize="1" noEditPoints="1" noAdjustHandles="1" noChangeArrowheads="1" noChangeShapeType="1" noTextEdit="1"/>
              </p:cNvSpPr>
              <p:nvPr/>
            </p:nvSpPr>
            <p:spPr>
              <a:xfrm>
                <a:off x="1892032" y="1040367"/>
                <a:ext cx="8407935" cy="1357616"/>
              </a:xfrm>
              <a:prstGeom prst="rect">
                <a:avLst/>
              </a:prstGeom>
              <a:blipFill>
                <a:blip r:embed="rId3"/>
                <a:stretch>
                  <a:fillRect l="-1810" t="-5556" b="-4630"/>
                </a:stretch>
              </a:blipFill>
            </p:spPr>
            <p:txBody>
              <a:bodyPr/>
              <a:lstStyle/>
              <a:p>
                <a:r>
                  <a:rPr lang="en-US">
                    <a:noFill/>
                  </a:rPr>
                  <a:t> </a:t>
                </a:r>
              </a:p>
            </p:txBody>
          </p:sp>
        </mc:Fallback>
      </mc:AlternateContent>
    </p:spTree>
    <p:extLst>
      <p:ext uri="{BB962C8B-B14F-4D97-AF65-F5344CB8AC3E}">
        <p14:creationId xmlns:p14="http://schemas.microsoft.com/office/powerpoint/2010/main" val="33152157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484" name="Rectangle 2">
                <a:extLst>
                  <a:ext uri="{FF2B5EF4-FFF2-40B4-BE49-F238E27FC236}">
                    <a16:creationId xmlns:a16="http://schemas.microsoft.com/office/drawing/2014/main" id="{F7645816-55EF-2C41-A0CB-A40AEA39CF81}"/>
                  </a:ext>
                </a:extLst>
              </p:cNvPr>
              <p:cNvSpPr>
                <a:spLocks noGrp="1" noChangeArrowheads="1"/>
              </p:cNvSpPr>
              <p:nvPr>
                <p:ph type="title"/>
              </p:nvPr>
            </p:nvSpPr>
            <p:spPr>
              <a:xfrm>
                <a:off x="540249" y="868559"/>
                <a:ext cx="10515600" cy="1325563"/>
              </a:xfrm>
            </p:spPr>
            <p:txBody>
              <a:bodyPr>
                <a:normAutofit/>
              </a:bodyPr>
              <a:lstStyle/>
              <a:p>
                <a:pPr algn="ctr" eaLnBrk="1" hangingPunct="1"/>
                <a:r>
                  <a:rPr lang="en-US" altLang="en-US" dirty="0">
                    <a:latin typeface="Times New Roman" panose="02020603050405020304" pitchFamily="18" charset="0"/>
                    <a:ea typeface="ＭＳ Ｐゴシック" panose="020B0600070205080204" pitchFamily="34" charset="-128"/>
                  </a:rPr>
                  <a:t>Definitions: </a:t>
                </a:r>
                <a14:m>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𝑛</m:t>
                    </m:r>
                  </m:oMath>
                </a14:m>
                <a:r>
                  <a:rPr lang="en-US" altLang="en-US" dirty="0">
                    <a:latin typeface="Times New Roman" panose="02020603050405020304" pitchFamily="18" charset="0"/>
                    <a:ea typeface="ＭＳ Ｐゴシック" panose="020B0600070205080204" pitchFamily="34" charset="-128"/>
                  </a:rPr>
                  <a:t> choose </a:t>
                </a:r>
                <a14:m>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𝑟</m:t>
                    </m:r>
                  </m:oMath>
                </a14:m>
                <a:r>
                  <a:rPr lang="en-US" altLang="en-US" dirty="0">
                    <a:latin typeface="Times New Roman" panose="02020603050405020304" pitchFamily="18" charset="0"/>
                    <a:ea typeface="ＭＳ Ｐゴシック" panose="020B0600070205080204" pitchFamily="34" charset="-128"/>
                  </a:rPr>
                  <a:t> combination</a:t>
                </a:r>
                <a:br>
                  <a:rPr lang="en-US" altLang="en-US" dirty="0">
                    <a:latin typeface="Times New Roman" panose="02020603050405020304" pitchFamily="18" charset="0"/>
                    <a:ea typeface="ＭＳ Ｐゴシック" panose="020B0600070205080204" pitchFamily="34" charset="-128"/>
                  </a:rPr>
                </a:br>
                <a:r>
                  <a:rPr lang="en-US" altLang="en-US" dirty="0">
                    <a:latin typeface="Times New Roman" panose="02020603050405020304" pitchFamily="18" charset="0"/>
                    <a:ea typeface="ＭＳ Ｐゴシック" panose="020B0600070205080204" pitchFamily="34" charset="-128"/>
                  </a:rPr>
                  <a:t>(</a:t>
                </a:r>
                <a:r>
                  <a:rPr lang="en-US" altLang="en-US" sz="3200" dirty="0">
                    <a:latin typeface="Times New Roman" panose="02020603050405020304" pitchFamily="18" charset="0"/>
                    <a:ea typeface="ＭＳ Ｐゴシック" panose="020B0600070205080204" pitchFamily="34" charset="-128"/>
                  </a:rPr>
                  <a:t>select </a:t>
                </a:r>
                <a14:m>
                  <m:oMath xmlns:m="http://schemas.openxmlformats.org/officeDocument/2006/math">
                    <m:r>
                      <a:rPr lang="en-US" altLang="en-US" sz="3200" b="0" i="1" smtClean="0">
                        <a:latin typeface="Cambria Math" panose="02040503050406030204" pitchFamily="18" charset="0"/>
                        <a:ea typeface="ＭＳ Ｐゴシック" panose="020B0600070205080204" pitchFamily="34" charset="-128"/>
                      </a:rPr>
                      <m:t>𝑟</m:t>
                    </m:r>
                  </m:oMath>
                </a14:m>
                <a:r>
                  <a:rPr lang="en-US" altLang="en-US" sz="3200" dirty="0">
                    <a:latin typeface="Times New Roman" panose="02020603050405020304" pitchFamily="18" charset="0"/>
                    <a:ea typeface="ＭＳ Ｐゴシック" panose="020B0600070205080204" pitchFamily="34" charset="-128"/>
                  </a:rPr>
                  <a:t> people from </a:t>
                </a:r>
                <a14:m>
                  <m:oMath xmlns:m="http://schemas.openxmlformats.org/officeDocument/2006/math">
                    <m:r>
                      <a:rPr lang="en-US" altLang="en-US" sz="3200" b="0" i="1" smtClean="0">
                        <a:latin typeface="Cambria Math" panose="02040503050406030204" pitchFamily="18" charset="0"/>
                        <a:ea typeface="ＭＳ Ｐゴシック" panose="020B0600070205080204" pitchFamily="34" charset="-128"/>
                      </a:rPr>
                      <m:t>𝑛</m:t>
                    </m:r>
                  </m:oMath>
                </a14:m>
                <a:r>
                  <a:rPr lang="en-US" altLang="en-US" sz="3200" dirty="0">
                    <a:latin typeface="Times New Roman" panose="02020603050405020304" pitchFamily="18" charset="0"/>
                    <a:ea typeface="ＭＳ Ｐゴシック" panose="020B0600070205080204" pitchFamily="34" charset="-128"/>
                  </a:rPr>
                  <a:t> people to form a committee/group):</a:t>
                </a:r>
              </a:p>
            </p:txBody>
          </p:sp>
        </mc:Choice>
        <mc:Fallback xmlns="">
          <p:sp>
            <p:nvSpPr>
              <p:cNvPr id="20484" name="Rectangle 2">
                <a:extLst>
                  <a:ext uri="{FF2B5EF4-FFF2-40B4-BE49-F238E27FC236}">
                    <a16:creationId xmlns:a16="http://schemas.microsoft.com/office/drawing/2014/main" id="{F7645816-55EF-2C41-A0CB-A40AEA39CF81}"/>
                  </a:ext>
                </a:extLst>
              </p:cNvPr>
              <p:cNvSpPr>
                <a:spLocks noGrp="1" noRot="1" noChangeAspect="1" noMove="1" noResize="1" noEditPoints="1" noAdjustHandles="1" noChangeArrowheads="1" noChangeShapeType="1" noTextEdit="1"/>
              </p:cNvSpPr>
              <p:nvPr>
                <p:ph type="title"/>
              </p:nvPr>
            </p:nvSpPr>
            <p:spPr>
              <a:xfrm>
                <a:off x="540249" y="868559"/>
                <a:ext cx="10515600" cy="1325563"/>
              </a:xfrm>
              <a:blipFill>
                <a:blip r:embed="rId2"/>
                <a:stretch>
                  <a:fillRect t="-12264" b="-19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5" name="Rectangle 4">
                <a:extLst>
                  <a:ext uri="{FF2B5EF4-FFF2-40B4-BE49-F238E27FC236}">
                    <a16:creationId xmlns:a16="http://schemas.microsoft.com/office/drawing/2014/main" id="{114AC313-8547-EA42-9291-4C24D070677A}"/>
                  </a:ext>
                </a:extLst>
              </p:cNvPr>
              <p:cNvSpPr>
                <a:spLocks noChangeArrowheads="1"/>
              </p:cNvSpPr>
              <p:nvPr/>
            </p:nvSpPr>
            <p:spPr bwMode="auto">
              <a:xfrm>
                <a:off x="1905000" y="2524481"/>
                <a:ext cx="8382000" cy="3886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sz="40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40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40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40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4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9pPr>
              </a:lstStyle>
              <a:p>
                <a:pPr lvl="1" eaLnBrk="1" hangingPunct="1">
                  <a:lnSpc>
                    <a:spcPct val="90000"/>
                  </a:lnSpc>
                  <a:spcBef>
                    <a:spcPct val="20000"/>
                  </a:spcBef>
                  <a:buFontTx/>
                  <a:buChar char="–"/>
                </a:pPr>
                <a:r>
                  <a:rPr lang="en-US" altLang="en-US" sz="2000" dirty="0"/>
                  <a:t>From the permutation, the number of ways to select </a:t>
                </a:r>
                <a14:m>
                  <m:oMath xmlns:m="http://schemas.openxmlformats.org/officeDocument/2006/math">
                    <m:r>
                      <a:rPr lang="en-US" altLang="en-US" sz="2000" b="0" i="1" smtClean="0">
                        <a:latin typeface="Cambria Math" panose="02040503050406030204" pitchFamily="18" charset="0"/>
                      </a:rPr>
                      <m:t>𝑟</m:t>
                    </m:r>
                  </m:oMath>
                </a14:m>
                <a:r>
                  <a:rPr lang="en-US" altLang="en-US" sz="2000" dirty="0"/>
                  <a:t> people from </a:t>
                </a:r>
                <a14:m>
                  <m:oMath xmlns:m="http://schemas.openxmlformats.org/officeDocument/2006/math">
                    <m:r>
                      <a:rPr lang="en-US" altLang="en-US" sz="2000" b="0" i="1" smtClean="0">
                        <a:latin typeface="Cambria Math" panose="02040503050406030204" pitchFamily="18" charset="0"/>
                      </a:rPr>
                      <m:t>𝑛</m:t>
                    </m:r>
                  </m:oMath>
                </a14:m>
                <a:r>
                  <a:rPr lang="en-US" altLang="en-US" sz="2000" dirty="0"/>
                  <a:t> people to line-up is</a:t>
                </a:r>
              </a:p>
              <a:p>
                <a:pPr marL="914400" lvl="2" indent="0" eaLnBrk="1" hangingPunct="1">
                  <a:lnSpc>
                    <a:spcPct val="90000"/>
                  </a:lnSpc>
                  <a:spcBef>
                    <a:spcPct val="20000"/>
                  </a:spcBef>
                </a:pPr>
                <a14:m>
                  <m:oMathPara xmlns:m="http://schemas.openxmlformats.org/officeDocument/2006/math">
                    <m:oMathParaPr>
                      <m:jc m:val="center"/>
                    </m:oMathParaPr>
                    <m:oMath xmlns:m="http://schemas.openxmlformats.org/officeDocument/2006/math">
                      <m:r>
                        <a:rPr lang="en-US" altLang="en-US" sz="2000" b="0" i="1" smtClean="0">
                          <a:latin typeface="Cambria Math" panose="02040503050406030204" pitchFamily="18" charset="0"/>
                        </a:rPr>
                        <m:t>𝑃</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𝑟</m:t>
                          </m:r>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e>
                      </m:d>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−2</m:t>
                          </m:r>
                        </m:e>
                      </m:d>
                      <m:r>
                        <a:rPr lang="en-US" altLang="en-US" sz="2000" b="0" i="1" smtClean="0">
                          <a:latin typeface="Cambria Math" panose="02040503050406030204" pitchFamily="18" charset="0"/>
                          <a:ea typeface="Cambria Math" panose="02040503050406030204" pitchFamily="18" charset="0"/>
                        </a:rPr>
                        <m:t>⋯</m:t>
                      </m:r>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𝑟</m:t>
                          </m:r>
                          <m:r>
                            <a:rPr lang="en-US" altLang="en-US" sz="2000" b="0" i="1" smtClean="0">
                              <a:latin typeface="Cambria Math" panose="02040503050406030204" pitchFamily="18" charset="0"/>
                              <a:ea typeface="Cambria Math" panose="02040503050406030204" pitchFamily="18" charset="0"/>
                            </a:rPr>
                            <m:t>+1</m:t>
                          </m:r>
                        </m:e>
                      </m:d>
                      <m:r>
                        <a:rPr lang="en-US" altLang="en-US" sz="2000" b="0" i="1" smtClean="0">
                          <a:latin typeface="Cambria Math" panose="02040503050406030204" pitchFamily="18" charset="0"/>
                          <a:ea typeface="Cambria Math" panose="02040503050406030204" pitchFamily="18" charset="0"/>
                        </a:rPr>
                        <m:t>=</m:t>
                      </m:r>
                      <m:f>
                        <m:fPr>
                          <m:ctrlPr>
                            <a:rPr lang="en-US" altLang="en-US" sz="2000" b="0" i="1" smtClean="0">
                              <a:latin typeface="Cambria Math" panose="02040503050406030204" pitchFamily="18" charset="0"/>
                              <a:ea typeface="Cambria Math" panose="02040503050406030204" pitchFamily="18" charset="0"/>
                            </a:rPr>
                          </m:ctrlPr>
                        </m:fPr>
                        <m:num>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num>
                        <m:den>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𝑟</m:t>
                              </m:r>
                            </m:e>
                          </m:d>
                          <m:r>
                            <a:rPr lang="en-US" altLang="en-US" sz="2000" b="0" i="1" smtClean="0">
                              <a:latin typeface="Cambria Math" panose="02040503050406030204" pitchFamily="18" charset="0"/>
                              <a:ea typeface="Cambria Math" panose="02040503050406030204" pitchFamily="18" charset="0"/>
                            </a:rPr>
                            <m:t>!</m:t>
                          </m:r>
                        </m:den>
                      </m:f>
                    </m:oMath>
                  </m:oMathPara>
                </a14:m>
                <a:endParaRPr lang="en-US" altLang="en-US" sz="2000" dirty="0"/>
              </a:p>
              <a:p>
                <a:pPr marL="914400" lvl="2" indent="0" eaLnBrk="1" hangingPunct="1">
                  <a:lnSpc>
                    <a:spcPct val="90000"/>
                  </a:lnSpc>
                  <a:spcBef>
                    <a:spcPct val="20000"/>
                  </a:spcBef>
                </a:pPr>
                <a:r>
                  <a:rPr lang="en-US" altLang="en-US" sz="2000" dirty="0"/>
                  <a:t>But the committee does not care the order. </a:t>
                </a:r>
              </a:p>
              <a:p>
                <a:pPr marL="914400" lvl="2" indent="0" eaLnBrk="1" hangingPunct="1">
                  <a:lnSpc>
                    <a:spcPct val="90000"/>
                  </a:lnSpc>
                  <a:spcBef>
                    <a:spcPct val="20000"/>
                  </a:spcBef>
                </a:pPr>
                <a:r>
                  <a:rPr lang="en-US" altLang="en-US" sz="2000" dirty="0"/>
                  <a:t>For </a:t>
                </a:r>
                <a14:m>
                  <m:oMath xmlns:m="http://schemas.openxmlformats.org/officeDocument/2006/math">
                    <m:r>
                      <a:rPr lang="en-US" altLang="en-US" sz="2000" b="0" i="1" smtClean="0">
                        <a:latin typeface="Cambria Math" panose="02040503050406030204" pitchFamily="18" charset="0"/>
                      </a:rPr>
                      <m:t>𝑟</m:t>
                    </m:r>
                  </m:oMath>
                </a14:m>
                <a:r>
                  <a:rPr lang="en-US" altLang="en-US" sz="2000" dirty="0"/>
                  <a:t> people chosen, there are </a:t>
                </a:r>
                <a14:m>
                  <m:oMath xmlns:m="http://schemas.openxmlformats.org/officeDocument/2006/math">
                    <m:r>
                      <a:rPr lang="en-US" altLang="en-US" sz="2000" b="0" i="1" smtClean="0">
                        <a:latin typeface="Cambria Math" panose="02040503050406030204" pitchFamily="18" charset="0"/>
                      </a:rPr>
                      <m:t>𝑟</m:t>
                    </m:r>
                    <m:r>
                      <a:rPr lang="en-US" altLang="en-US" sz="2000" b="0" i="1" smtClean="0">
                        <a:latin typeface="Cambria Math" panose="02040503050406030204" pitchFamily="18" charset="0"/>
                      </a:rPr>
                      <m:t>!</m:t>
                    </m:r>
                  </m:oMath>
                </a14:m>
                <a:r>
                  <a:rPr lang="en-US" altLang="en-US" sz="2000" dirty="0"/>
                  <a:t> ways to arrange them (or line them up), but all these </a:t>
                </a:r>
                <a14:m>
                  <m:oMath xmlns:m="http://schemas.openxmlformats.org/officeDocument/2006/math">
                    <m:r>
                      <a:rPr lang="en-US" altLang="en-US" sz="2000" b="0" i="1" smtClean="0">
                        <a:latin typeface="Cambria Math" panose="02040503050406030204" pitchFamily="18" charset="0"/>
                      </a:rPr>
                      <m:t>𝑟</m:t>
                    </m:r>
                    <m:r>
                      <a:rPr lang="en-US" altLang="en-US" sz="2000" b="0" i="1" smtClean="0">
                        <a:latin typeface="Cambria Math" panose="02040503050406030204" pitchFamily="18" charset="0"/>
                      </a:rPr>
                      <m:t>!</m:t>
                    </m:r>
                  </m:oMath>
                </a14:m>
                <a:r>
                  <a:rPr lang="en-US" altLang="en-US" sz="2000" dirty="0"/>
                  <a:t> way should be considered as only one way, since the order doesn’t mater. Therefore the </a:t>
                </a:r>
                <a14:m>
                  <m:oMath xmlns:m="http://schemas.openxmlformats.org/officeDocument/2006/math">
                    <m:r>
                      <a:rPr lang="en-US" altLang="en-US" sz="2000" b="0" i="1" smtClean="0">
                        <a:latin typeface="Cambria Math" panose="02040503050406030204" pitchFamily="18" charset="0"/>
                      </a:rPr>
                      <m:t>𝑛</m:t>
                    </m:r>
                  </m:oMath>
                </a14:m>
                <a:r>
                  <a:rPr lang="en-US" altLang="en-US" sz="2000" dirty="0"/>
                  <a:t> choose </a:t>
                </a:r>
                <a14:m>
                  <m:oMath xmlns:m="http://schemas.openxmlformats.org/officeDocument/2006/math">
                    <m:r>
                      <a:rPr lang="en-US" altLang="en-US" sz="2000" b="0" i="1" smtClean="0">
                        <a:latin typeface="Cambria Math" panose="02040503050406030204" pitchFamily="18" charset="0"/>
                      </a:rPr>
                      <m:t>𝑟</m:t>
                    </m:r>
                  </m:oMath>
                </a14:m>
                <a:r>
                  <a:rPr lang="en-US" altLang="en-US" sz="2000" dirty="0"/>
                  <a:t> selection is</a:t>
                </a:r>
              </a:p>
              <a:p>
                <a:pPr marL="914400" lvl="2" indent="0" eaLnBrk="1" hangingPunct="1">
                  <a:lnSpc>
                    <a:spcPct val="90000"/>
                  </a:lnSpc>
                  <a:spcBef>
                    <a:spcPct val="20000"/>
                  </a:spcBef>
                </a:pPr>
                <a14:m>
                  <m:oMathPara xmlns:m="http://schemas.openxmlformats.org/officeDocument/2006/math">
                    <m:oMathParaPr>
                      <m:jc m:val="centerGroup"/>
                    </m:oMathParaPr>
                    <m:oMath xmlns:m="http://schemas.openxmlformats.org/officeDocument/2006/math">
                      <m:r>
                        <a:rPr lang="en-US" altLang="en-US" sz="2000" b="0" i="1" smtClean="0">
                          <a:latin typeface="Cambria Math" panose="02040503050406030204" pitchFamily="18" charset="0"/>
                        </a:rPr>
                        <m:t>𝐶</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𝑟</m:t>
                          </m:r>
                        </m:e>
                      </m:d>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m>
                            <m:mPr>
                              <m:mcs>
                                <m:mc>
                                  <m:mcPr>
                                    <m:count m:val="1"/>
                                    <m:mcJc m:val="center"/>
                                  </m:mcPr>
                                </m:mc>
                              </m:mcs>
                              <m:ctrlPr>
                                <a:rPr lang="en-US" altLang="en-US" sz="2000" b="0" i="1" smtClean="0">
                                  <a:latin typeface="Cambria Math" panose="02040503050406030204" pitchFamily="18" charset="0"/>
                                </a:rPr>
                              </m:ctrlPr>
                            </m:mPr>
                            <m:mr>
                              <m:e>
                                <m:r>
                                  <m:rPr>
                                    <m:brk m:alnAt="7"/>
                                  </m:rPr>
                                  <a:rPr lang="en-US" altLang="en-US" sz="2000" b="0" i="1" smtClean="0">
                                    <a:latin typeface="Cambria Math" panose="02040503050406030204" pitchFamily="18" charset="0"/>
                                  </a:rPr>
                                  <m:t>𝑛</m:t>
                                </m:r>
                              </m:e>
                            </m:mr>
                            <m:mr>
                              <m:e>
                                <m:r>
                                  <a:rPr lang="en-US" altLang="en-US" sz="2000" b="0" i="1" smtClean="0">
                                    <a:latin typeface="Cambria Math" panose="02040503050406030204" pitchFamily="18" charset="0"/>
                                  </a:rPr>
                                  <m:t>𝑟</m:t>
                                </m:r>
                              </m:e>
                            </m:mr>
                          </m:m>
                        </m:e>
                      </m:d>
                      <m:r>
                        <a:rPr lang="en-US" altLang="en-US" sz="2000" b="0" i="1" smtClean="0">
                          <a:latin typeface="Cambria Math" panose="02040503050406030204" pitchFamily="18" charset="0"/>
                        </a:rPr>
                        <m: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𝑃</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𝑟</m:t>
                          </m:r>
                          <m:r>
                            <a:rPr lang="en-US" altLang="en-US" sz="2000" b="0" i="1" smtClean="0">
                              <a:latin typeface="Cambria Math" panose="02040503050406030204" pitchFamily="18" charset="0"/>
                            </a:rPr>
                            <m:t>)</m:t>
                          </m:r>
                        </m:num>
                        <m:den>
                          <m:r>
                            <a:rPr lang="en-US" altLang="en-US" sz="2000" b="0" i="1" smtClean="0">
                              <a:latin typeface="Cambria Math" panose="02040503050406030204" pitchFamily="18" charset="0"/>
                            </a:rPr>
                            <m:t>𝑟</m:t>
                          </m:r>
                          <m:r>
                            <a:rPr lang="en-US" altLang="en-US" sz="2000" b="0" i="1" smtClean="0">
                              <a:latin typeface="Cambria Math" panose="02040503050406030204" pitchFamily="18" charset="0"/>
                            </a:rPr>
                            <m:t>!</m:t>
                          </m:r>
                        </m:den>
                      </m:f>
                      <m:r>
                        <a:rPr lang="en-US" altLang="en-US" sz="2000" b="0" i="1" smtClean="0">
                          <a:latin typeface="Cambria Math" panose="02040503050406030204" pitchFamily="18" charset="0"/>
                        </a:rPr>
                        <m: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num>
                        <m:den>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𝑟</m:t>
                              </m:r>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𝑟</m:t>
                          </m:r>
                          <m:r>
                            <a:rPr lang="en-US" altLang="en-US" sz="2000" b="0" i="1" smtClean="0">
                              <a:latin typeface="Cambria Math" panose="02040503050406030204" pitchFamily="18" charset="0"/>
                            </a:rPr>
                            <m:t>!</m:t>
                          </m:r>
                        </m:den>
                      </m:f>
                    </m:oMath>
                  </m:oMathPara>
                </a14:m>
                <a:endParaRPr lang="en-US" altLang="en-US" sz="2000" dirty="0"/>
              </a:p>
            </p:txBody>
          </p:sp>
        </mc:Choice>
        <mc:Fallback xmlns="">
          <p:sp>
            <p:nvSpPr>
              <p:cNvPr id="20485" name="Rectangle 4">
                <a:extLst>
                  <a:ext uri="{FF2B5EF4-FFF2-40B4-BE49-F238E27FC236}">
                    <a16:creationId xmlns:a16="http://schemas.microsoft.com/office/drawing/2014/main" id="{114AC313-8547-EA42-9291-4C24D070677A}"/>
                  </a:ext>
                </a:extLst>
              </p:cNvPr>
              <p:cNvSpPr>
                <a:spLocks noRot="1" noChangeAspect="1" noMove="1" noResize="1" noEditPoints="1" noAdjustHandles="1" noChangeArrowheads="1" noChangeShapeType="1" noTextEdit="1"/>
              </p:cNvSpPr>
              <p:nvPr/>
            </p:nvSpPr>
            <p:spPr bwMode="auto">
              <a:xfrm>
                <a:off x="1905000" y="2524481"/>
                <a:ext cx="8382000" cy="3886200"/>
              </a:xfrm>
              <a:prstGeom prst="rect">
                <a:avLst/>
              </a:prstGeom>
              <a:blipFill>
                <a:blip r:embed="rId3"/>
                <a:stretch>
                  <a:fillRect t="-16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53049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556BD5-0F7B-3A45-A769-81F9479B68A7}"/>
              </a:ext>
            </a:extLst>
          </p:cNvPr>
          <p:cNvPicPr>
            <a:picLocks noChangeAspect="1"/>
          </p:cNvPicPr>
          <p:nvPr/>
        </p:nvPicPr>
        <p:blipFill>
          <a:blip r:embed="rId2"/>
          <a:stretch>
            <a:fillRect/>
          </a:stretch>
        </p:blipFill>
        <p:spPr>
          <a:xfrm>
            <a:off x="1993799" y="1715784"/>
            <a:ext cx="8204401" cy="3426432"/>
          </a:xfrm>
          <a:prstGeom prst="rect">
            <a:avLst/>
          </a:prstGeom>
        </p:spPr>
      </p:pic>
    </p:spTree>
    <p:extLst>
      <p:ext uri="{BB962C8B-B14F-4D97-AF65-F5344CB8AC3E}">
        <p14:creationId xmlns:p14="http://schemas.microsoft.com/office/powerpoint/2010/main" val="2040934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5">
            <a:extLst>
              <a:ext uri="{FF2B5EF4-FFF2-40B4-BE49-F238E27FC236}">
                <a16:creationId xmlns:a16="http://schemas.microsoft.com/office/drawing/2014/main" id="{834C134F-975F-B340-97DF-57A23F9053E7}"/>
              </a:ext>
            </a:extLst>
          </p:cNvPr>
          <p:cNvSpPr>
            <a:spLocks noChangeArrowheads="1"/>
          </p:cNvSpPr>
          <p:nvPr/>
        </p:nvSpPr>
        <p:spPr bwMode="auto">
          <a:xfrm>
            <a:off x="2209800" y="396875"/>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40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40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40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40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4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9pPr>
          </a:lstStyle>
          <a:p>
            <a:pPr algn="ctr" eaLnBrk="1" hangingPunct="1"/>
            <a:r>
              <a:rPr lang="en-US" altLang="en-US" dirty="0">
                <a:solidFill>
                  <a:schemeClr val="tx2"/>
                </a:solidFill>
              </a:rPr>
              <a:t>Example 1 – Arrangements with Repeated Letters</a:t>
            </a:r>
          </a:p>
        </p:txBody>
      </p:sp>
      <p:sp>
        <p:nvSpPr>
          <p:cNvPr id="23557" name="Rectangle 6">
            <a:extLst>
              <a:ext uri="{FF2B5EF4-FFF2-40B4-BE49-F238E27FC236}">
                <a16:creationId xmlns:a16="http://schemas.microsoft.com/office/drawing/2014/main" id="{6ACC3A6A-2F6D-934D-A6DB-53DCF676581E}"/>
              </a:ext>
            </a:extLst>
          </p:cNvPr>
          <p:cNvSpPr>
            <a:spLocks noChangeArrowheads="1"/>
          </p:cNvSpPr>
          <p:nvPr/>
        </p:nvSpPr>
        <p:spPr bwMode="auto">
          <a:xfrm>
            <a:off x="2305050" y="2057400"/>
            <a:ext cx="75819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40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40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40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40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4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20000"/>
              </a:spcBef>
            </a:pPr>
            <a:r>
              <a:rPr lang="en-US" altLang="en-US" sz="2400" dirty="0"/>
              <a:t>In the word SYSTEMS how many ways can you arrange the letters so that all three S</a:t>
            </a:r>
            <a:r>
              <a:rPr lang="ja-JP" altLang="en-US" sz="2400"/>
              <a:t>’</a:t>
            </a:r>
            <a:r>
              <a:rPr lang="en-US" altLang="ja-JP" sz="2400" dirty="0"/>
              <a:t>s appear consecutively? </a:t>
            </a:r>
          </a:p>
          <a:p>
            <a:pPr algn="ctr" eaLnBrk="1" hangingPunct="1">
              <a:spcBef>
                <a:spcPct val="20000"/>
              </a:spcBef>
            </a:pPr>
            <a:r>
              <a:rPr lang="en-US" altLang="en-US" sz="2400" dirty="0"/>
              <a:t>What is the probability for putting such a string randomly.</a:t>
            </a:r>
            <a:endParaRPr lang="en-US" altLang="en-US" sz="2000" dirty="0"/>
          </a:p>
          <a:p>
            <a:pPr algn="ctr" eaLnBrk="1" hangingPunct="1">
              <a:spcBef>
                <a:spcPct val="20000"/>
              </a:spcBef>
            </a:pPr>
            <a:endParaRPr lang="en-US" altLang="en-US" sz="2000" dirty="0"/>
          </a:p>
          <a:p>
            <a:pPr algn="ctr" eaLnBrk="1" hangingPunct="1">
              <a:spcBef>
                <a:spcPct val="20000"/>
              </a:spcBef>
            </a:pPr>
            <a:endParaRPr lang="en-US" altLang="en-US" sz="2000" dirty="0"/>
          </a:p>
          <a:p>
            <a:pPr algn="ctr" eaLnBrk="1" hangingPunct="1">
              <a:spcBef>
                <a:spcPct val="20000"/>
              </a:spcBef>
            </a:pPr>
            <a:endParaRPr lang="en-US" altLang="en-US" sz="2000" dirty="0"/>
          </a:p>
        </p:txBody>
      </p:sp>
      <p:sp>
        <p:nvSpPr>
          <p:cNvPr id="22535" name="Text Box 7">
            <a:extLst>
              <a:ext uri="{FF2B5EF4-FFF2-40B4-BE49-F238E27FC236}">
                <a16:creationId xmlns:a16="http://schemas.microsoft.com/office/drawing/2014/main" id="{07334AB1-CC77-B54C-914B-8C88267E579B}"/>
              </a:ext>
            </a:extLst>
          </p:cNvPr>
          <p:cNvSpPr txBox="1">
            <a:spLocks noChangeArrowheads="1"/>
          </p:cNvSpPr>
          <p:nvPr/>
        </p:nvSpPr>
        <p:spPr bwMode="auto">
          <a:xfrm>
            <a:off x="1965789" y="3346013"/>
            <a:ext cx="9144000" cy="2062103"/>
          </a:xfrm>
          <a:prstGeom prst="rect">
            <a:avLst/>
          </a:prstGeom>
          <a:noFill/>
          <a:ln w="9525">
            <a:noFill/>
            <a:miter lim="800000"/>
            <a:headEnd/>
            <a:tailEnd/>
          </a:ln>
        </p:spPr>
        <p:txBody>
          <a:bodyPr>
            <a:spAutoFit/>
          </a:bodyPr>
          <a:lstStyle/>
          <a:p>
            <a:pPr>
              <a:defRPr/>
            </a:pPr>
            <a:r>
              <a:rPr lang="en-US" sz="2400" dirty="0">
                <a:latin typeface="Times New Roman" pitchFamily="4" charset="0"/>
              </a:rPr>
              <a:t>First, we must find all possible ways for putting these seven letters. We have seven positions, for each of these non-S letters, the number of ways to occupying these positions are</a:t>
            </a:r>
          </a:p>
          <a:p>
            <a:pPr algn="ctr">
              <a:defRPr/>
            </a:pPr>
            <a:r>
              <a:rPr lang="en-US" sz="3200" dirty="0">
                <a:latin typeface="Times New Roman" pitchFamily="4" charset="0"/>
              </a:rPr>
              <a:t>P(7,4) = 7!/3! = 840 different ways.</a:t>
            </a:r>
          </a:p>
          <a:p>
            <a:pPr>
              <a:defRPr/>
            </a:pPr>
            <a:r>
              <a:rPr lang="en-US" sz="2400" dirty="0">
                <a:latin typeface="Times New Roman" pitchFamily="4" charset="0"/>
              </a:rPr>
              <a:t>And then there is one way to put the three S’s.</a:t>
            </a:r>
          </a:p>
        </p:txBody>
      </p:sp>
    </p:spTree>
    <p:extLst>
      <p:ext uri="{BB962C8B-B14F-4D97-AF65-F5344CB8AC3E}">
        <p14:creationId xmlns:p14="http://schemas.microsoft.com/office/powerpoint/2010/main" val="2536235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31B299EB-50B6-854F-85FF-D6F23332DAAB}"/>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Example 1 continued:</a:t>
            </a:r>
          </a:p>
        </p:txBody>
      </p:sp>
      <p:sp>
        <p:nvSpPr>
          <p:cNvPr id="24581" name="Rectangle 3">
            <a:extLst>
              <a:ext uri="{FF2B5EF4-FFF2-40B4-BE49-F238E27FC236}">
                <a16:creationId xmlns:a16="http://schemas.microsoft.com/office/drawing/2014/main" id="{EEA7DDFB-9F2C-2040-8D2E-3F49F3D95E89}"/>
              </a:ext>
            </a:extLst>
          </p:cNvPr>
          <p:cNvSpPr>
            <a:spLocks noGrp="1" noChangeArrowheads="1"/>
          </p:cNvSpPr>
          <p:nvPr>
            <p:ph type="body" idx="1"/>
          </p:nvPr>
        </p:nvSpPr>
        <p:spPr>
          <a:xfrm>
            <a:off x="1981200" y="1464068"/>
            <a:ext cx="8229600" cy="4525963"/>
          </a:xfrm>
        </p:spPr>
        <p:txBody>
          <a:bodyPr/>
          <a:lstStyle/>
          <a:p>
            <a:pPr eaLnBrk="1" hangingPunct="1"/>
            <a:r>
              <a:rPr lang="en-US" altLang="en-US" dirty="0">
                <a:ea typeface="ＭＳ Ｐゴシック" panose="020B0600070205080204" pitchFamily="34" charset="-128"/>
              </a:rPr>
              <a:t>Next, we consider three S’s consecutively. </a:t>
            </a:r>
            <a:r>
              <a:rPr lang="en-US" altLang="ja-JP" dirty="0">
                <a:ea typeface="ＭＳ Ｐゴシック" panose="020B0600070205080204" pitchFamily="34" charset="-128"/>
              </a:rPr>
              <a:t>The </a:t>
            </a:r>
            <a:r>
              <a:rPr lang="ja-JP" altLang="en-US">
                <a:ea typeface="ＭＳ Ｐゴシック" panose="020B0600070205080204" pitchFamily="34" charset="-128"/>
              </a:rPr>
              <a:t>“</a:t>
            </a:r>
            <a:r>
              <a:rPr lang="en-US" altLang="ja-JP" dirty="0">
                <a:ea typeface="ＭＳ Ｐゴシック" panose="020B0600070205080204" pitchFamily="34" charset="-128"/>
              </a:rPr>
              <a:t>trick</a:t>
            </a:r>
            <a:r>
              <a:rPr lang="ja-JP" altLang="en-US">
                <a:ea typeface="ＭＳ Ｐゴシック" panose="020B0600070205080204" pitchFamily="34" charset="-128"/>
              </a:rPr>
              <a:t>”</a:t>
            </a:r>
            <a:r>
              <a:rPr lang="en-US" altLang="ja-JP" dirty="0">
                <a:ea typeface="ＭＳ Ｐゴシック" panose="020B0600070205080204" pitchFamily="34" charset="-128"/>
              </a:rPr>
              <a:t> to do this is to group the S’s as one letter.  So the possible letters are E, M, T, Y, and SSS.  These 5 letters can be grouped in 5!, or 120, ways.</a:t>
            </a:r>
          </a:p>
          <a:p>
            <a:pPr eaLnBrk="1" hangingPunct="1"/>
            <a:r>
              <a:rPr lang="en-US" altLang="en-US" dirty="0">
                <a:ea typeface="ＭＳ Ｐゴシック" panose="020B0600070205080204" pitchFamily="34" charset="-128"/>
              </a:rPr>
              <a:t> The probability is then:</a:t>
            </a:r>
          </a:p>
        </p:txBody>
      </p:sp>
      <p:graphicFrame>
        <p:nvGraphicFramePr>
          <p:cNvPr id="24582" name="Object 2">
            <a:extLst>
              <a:ext uri="{FF2B5EF4-FFF2-40B4-BE49-F238E27FC236}">
                <a16:creationId xmlns:a16="http://schemas.microsoft.com/office/drawing/2014/main" id="{3A47EEAB-2EDE-0A4F-908A-DB0E2E0EC4FB}"/>
              </a:ext>
            </a:extLst>
          </p:cNvPr>
          <p:cNvGraphicFramePr>
            <a:graphicFrameLocks noChangeAspect="1"/>
          </p:cNvGraphicFramePr>
          <p:nvPr>
            <p:extLst>
              <p:ext uri="{D42A27DB-BD31-4B8C-83A1-F6EECF244321}">
                <p14:modId xmlns:p14="http://schemas.microsoft.com/office/powerpoint/2010/main" val="3771026821"/>
              </p:ext>
            </p:extLst>
          </p:nvPr>
        </p:nvGraphicFramePr>
        <p:xfrm>
          <a:off x="4336256" y="3937572"/>
          <a:ext cx="3519488" cy="1304925"/>
        </p:xfrm>
        <a:graphic>
          <a:graphicData uri="http://schemas.openxmlformats.org/presentationml/2006/ole">
            <mc:AlternateContent xmlns:mc="http://schemas.openxmlformats.org/markup-compatibility/2006">
              <mc:Choice xmlns:v="urn:schemas-microsoft-com:vml" Requires="v">
                <p:oleObj spid="_x0000_s22569" name="Equation" r:id="rId3" imgW="1130300" imgH="419100" progId="Equation.3">
                  <p:embed/>
                </p:oleObj>
              </mc:Choice>
              <mc:Fallback>
                <p:oleObj name="Equation" r:id="rId3" imgW="1130300" imgH="419100" progId="Equation.3">
                  <p:embed/>
                  <p:pic>
                    <p:nvPicPr>
                      <p:cNvPr id="24582" name="Object 2">
                        <a:extLst>
                          <a:ext uri="{FF2B5EF4-FFF2-40B4-BE49-F238E27FC236}">
                            <a16:creationId xmlns:a16="http://schemas.microsoft.com/office/drawing/2014/main" id="{3A47EEAB-2EDE-0A4F-908A-DB0E2E0EC4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6256" y="3937572"/>
                        <a:ext cx="3519488" cy="1304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635201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695A12E8-5111-934E-9EBB-553DB4418F64}"/>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 2 – Poker Probabilities</a:t>
            </a:r>
          </a:p>
        </p:txBody>
      </p:sp>
      <mc:AlternateContent xmlns:mc="http://schemas.openxmlformats.org/markup-compatibility/2006" xmlns:a14="http://schemas.microsoft.com/office/drawing/2010/main">
        <mc:Choice Requires="a14">
          <p:sp>
            <p:nvSpPr>
              <p:cNvPr id="25605" name="Rectangle 3">
                <a:extLst>
                  <a:ext uri="{FF2B5EF4-FFF2-40B4-BE49-F238E27FC236}">
                    <a16:creationId xmlns:a16="http://schemas.microsoft.com/office/drawing/2014/main" id="{F349E947-3EA4-534B-B8F6-2500699834BB}"/>
                  </a:ext>
                </a:extLst>
              </p:cNvPr>
              <p:cNvSpPr>
                <a:spLocks noGrp="1" noChangeArrowheads="1"/>
              </p:cNvSpPr>
              <p:nvPr>
                <p:ph type="body" idx="1"/>
              </p:nvPr>
            </p:nvSpPr>
            <p:spPr/>
            <p:txBody>
              <a:bodyPr/>
              <a:lstStyle/>
              <a:p>
                <a:pPr eaLnBrk="1" hangingPunct="1"/>
                <a:r>
                  <a:rPr lang="en-US" altLang="en-US" dirty="0">
                    <a:ea typeface="ＭＳ Ｐゴシック" panose="020B0600070205080204" pitchFamily="34" charset="-128"/>
                  </a:rPr>
                  <a:t>How many 5-card hands can be formed from a standard 52-card deck?</a:t>
                </a:r>
              </a:p>
              <a:p>
                <a:pPr eaLnBrk="1" hangingPunct="1"/>
                <a:endParaRPr lang="en-US" altLang="en-US" dirty="0">
                  <a:ea typeface="ＭＳ Ｐゴシック" panose="020B0600070205080204" pitchFamily="34" charset="-128"/>
                </a:endParaRPr>
              </a:p>
              <a:p>
                <a:pPr marL="0" indent="0" eaLnBrk="1" hangingPunct="1">
                  <a:buNone/>
                </a:pPr>
                <a:r>
                  <a:rPr lang="en-US" altLang="en-US" dirty="0">
                    <a:ea typeface="ＭＳ Ｐゴシック" panose="020B0600070205080204" pitchFamily="34" charset="-128"/>
                  </a:rPr>
                  <a:t>This is 52 choose 5 selection problem, since the order or the card in the person’s hand doesn’t matter, therefore</a:t>
                </a:r>
              </a:p>
              <a:p>
                <a:pPr marL="0" indent="0" eaLnBrk="1" hangingPunct="1">
                  <a:buNone/>
                </a:pPr>
                <a:endParaRPr lang="en-US" altLang="en-US" dirty="0">
                  <a:ea typeface="ＭＳ Ｐゴシック" panose="020B0600070205080204" pitchFamily="34" charset="-128"/>
                </a:endParaRPr>
              </a:p>
              <a:p>
                <a:pPr marL="0" indent="0" eaLnBrk="1" hangingPunct="1">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𝐶</m:t>
                      </m:r>
                      <m:d>
                        <m:dPr>
                          <m:ctrlPr>
                            <a:rPr lang="en-US" altLang="en-US" b="0" i="1" smtClean="0">
                              <a:latin typeface="Cambria Math" panose="02040503050406030204" pitchFamily="18" charset="0"/>
                              <a:ea typeface="ＭＳ Ｐゴシック" panose="020B0600070205080204" pitchFamily="34" charset="-128"/>
                            </a:rPr>
                          </m:ctrlPr>
                        </m:dPr>
                        <m:e>
                          <m:r>
                            <a:rPr lang="en-US" altLang="en-US" b="0" i="1" smtClean="0">
                              <a:latin typeface="Cambria Math" panose="02040503050406030204" pitchFamily="18" charset="0"/>
                              <a:ea typeface="ＭＳ Ｐゴシック" panose="020B0600070205080204" pitchFamily="34" charset="-128"/>
                            </a:rPr>
                            <m:t>52,5</m:t>
                          </m:r>
                        </m:e>
                      </m:d>
                      <m:r>
                        <a:rPr lang="en-US" altLang="en-US" b="0" i="1" smtClean="0">
                          <a:latin typeface="Cambria Math" panose="02040503050406030204" pitchFamily="18" charset="0"/>
                          <a:ea typeface="ＭＳ Ｐゴシック" panose="020B0600070205080204" pitchFamily="34" charset="-128"/>
                        </a:rPr>
                        <m:t>=</m:t>
                      </m:r>
                      <m:f>
                        <m:fPr>
                          <m:ctrlPr>
                            <a:rPr lang="en-US" altLang="en-US" b="0" i="1" smtClean="0">
                              <a:latin typeface="Cambria Math" panose="02040503050406030204" pitchFamily="18" charset="0"/>
                              <a:ea typeface="ＭＳ Ｐゴシック" panose="020B0600070205080204" pitchFamily="34" charset="-128"/>
                            </a:rPr>
                          </m:ctrlPr>
                        </m:fPr>
                        <m:num>
                          <m:r>
                            <a:rPr lang="en-US" altLang="en-US" b="0" i="1" smtClean="0">
                              <a:latin typeface="Cambria Math" panose="02040503050406030204" pitchFamily="18" charset="0"/>
                              <a:ea typeface="ＭＳ Ｐゴシック" panose="020B0600070205080204" pitchFamily="34" charset="-128"/>
                            </a:rPr>
                            <m:t>52!</m:t>
                          </m:r>
                        </m:num>
                        <m:den>
                          <m:r>
                            <a:rPr lang="en-US" altLang="en-US" b="0" i="1" smtClean="0">
                              <a:latin typeface="Cambria Math" panose="02040503050406030204" pitchFamily="18" charset="0"/>
                              <a:ea typeface="ＭＳ Ｐゴシック" panose="020B0600070205080204" pitchFamily="34" charset="-128"/>
                            </a:rPr>
                            <m:t>47!5!</m:t>
                          </m:r>
                        </m:den>
                      </m:f>
                      <m:r>
                        <a:rPr lang="en-US" altLang="en-US" b="0" i="1" smtClean="0">
                          <a:latin typeface="Cambria Math" panose="02040503050406030204" pitchFamily="18" charset="0"/>
                          <a:ea typeface="ＭＳ Ｐゴシック" panose="020B0600070205080204" pitchFamily="34" charset="-128"/>
                        </a:rPr>
                        <m:t>=2,598,960</m:t>
                      </m:r>
                    </m:oMath>
                  </m:oMathPara>
                </a14:m>
                <a:endParaRPr lang="en-US" altLang="en-US" dirty="0">
                  <a:ea typeface="ＭＳ Ｐゴシック" panose="020B0600070205080204" pitchFamily="34" charset="-128"/>
                </a:endParaRPr>
              </a:p>
              <a:p>
                <a:pPr eaLnBrk="1" hangingPunct="1">
                  <a:buFontTx/>
                  <a:buNone/>
                </a:pPr>
                <a:r>
                  <a:rPr lang="en-US" altLang="en-US" dirty="0">
                    <a:ea typeface="ＭＳ Ｐゴシック" panose="020B0600070205080204" pitchFamily="34" charset="-128"/>
                  </a:rPr>
                  <a:t>.</a:t>
                </a:r>
              </a:p>
            </p:txBody>
          </p:sp>
        </mc:Choice>
        <mc:Fallback xmlns="">
          <p:sp>
            <p:nvSpPr>
              <p:cNvPr id="25605" name="Rectangle 3">
                <a:extLst>
                  <a:ext uri="{FF2B5EF4-FFF2-40B4-BE49-F238E27FC236}">
                    <a16:creationId xmlns:a16="http://schemas.microsoft.com/office/drawing/2014/main" id="{F349E947-3EA4-534B-B8F6-2500699834BB}"/>
                  </a:ext>
                </a:extLst>
              </p:cNvPr>
              <p:cNvSpPr>
                <a:spLocks noGrp="1" noRot="1" noChangeAspect="1" noMove="1" noResize="1" noEditPoints="1" noAdjustHandles="1" noChangeArrowheads="1" noChangeShapeType="1" noTextEdit="1"/>
              </p:cNvSpPr>
              <p:nvPr>
                <p:ph type="body" idx="1"/>
              </p:nvPr>
            </p:nvSpPr>
            <p:spPr>
              <a:blipFill>
                <a:blip r:embed="rId2"/>
                <a:stretch>
                  <a:fillRect l="-1086" t="-2632" r="-724"/>
                </a:stretch>
              </a:blipFill>
            </p:spPr>
            <p:txBody>
              <a:bodyPr/>
              <a:lstStyle/>
              <a:p>
                <a:r>
                  <a:rPr lang="en-US">
                    <a:noFill/>
                  </a:rPr>
                  <a:t> </a:t>
                </a:r>
              </a:p>
            </p:txBody>
          </p:sp>
        </mc:Fallback>
      </mc:AlternateContent>
    </p:spTree>
    <p:extLst>
      <p:ext uri="{BB962C8B-B14F-4D97-AF65-F5344CB8AC3E}">
        <p14:creationId xmlns:p14="http://schemas.microsoft.com/office/powerpoint/2010/main" val="431098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E269202B-2833-B74E-8BB4-8E5A0E309ED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 2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sp>
        <p:nvSpPr>
          <p:cNvPr id="26629" name="Rectangle 3">
            <a:extLst>
              <a:ext uri="{FF2B5EF4-FFF2-40B4-BE49-F238E27FC236}">
                <a16:creationId xmlns:a16="http://schemas.microsoft.com/office/drawing/2014/main" id="{0EB4A36D-E3FA-984B-AC0F-FA7F01590DC9}"/>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What is the probability that a random 5-card hand from a standard deck will result in a flush (all cards of the same suit)?</a:t>
            </a:r>
          </a:p>
          <a:p>
            <a:pPr eaLnBrk="1" hangingPunct="1"/>
            <a:r>
              <a:rPr lang="en-US" altLang="en-US">
                <a:ea typeface="ＭＳ Ｐゴシック" panose="020B0600070205080204" pitchFamily="34" charset="-128"/>
              </a:rPr>
              <a:t>First, find all subsets of 5-cards within the same suit: C(13,5) = 13! / (5!8!) = 1287 possible flushes for one suit.</a:t>
            </a:r>
          </a:p>
          <a:p>
            <a:pPr eaLnBrk="1" hangingPunct="1"/>
            <a:r>
              <a:rPr lang="en-US" altLang="en-US">
                <a:ea typeface="ＭＳ Ｐゴシック" panose="020B0600070205080204" pitchFamily="34" charset="-128"/>
              </a:rPr>
              <a:t>Multiply that result by 4 (for the 4 suits in a deck): 1287 x 4 = 5148 possible flushes.</a:t>
            </a:r>
          </a:p>
        </p:txBody>
      </p:sp>
    </p:spTree>
    <p:extLst>
      <p:ext uri="{BB962C8B-B14F-4D97-AF65-F5344CB8AC3E}">
        <p14:creationId xmlns:p14="http://schemas.microsoft.com/office/powerpoint/2010/main" val="237875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1903C69E-1DB9-4A4E-964F-B3E52A58120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 2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sp>
        <p:nvSpPr>
          <p:cNvPr id="27653" name="Rectangle 3">
            <a:extLst>
              <a:ext uri="{FF2B5EF4-FFF2-40B4-BE49-F238E27FC236}">
                <a16:creationId xmlns:a16="http://schemas.microsoft.com/office/drawing/2014/main" id="{1ECBDC24-03B9-4D4C-A768-CDC6D59C784B}"/>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To find the probability of getting a flush randomly, take the number of possible flushes and divide by the total number of possible hands: 5148 / 2,598,960 = 0.00198, or roughly 0.2%</a:t>
            </a:r>
          </a:p>
        </p:txBody>
      </p:sp>
    </p:spTree>
    <p:extLst>
      <p:ext uri="{BB962C8B-B14F-4D97-AF65-F5344CB8AC3E}">
        <p14:creationId xmlns:p14="http://schemas.microsoft.com/office/powerpoint/2010/main" val="4075265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a:extLst>
              <a:ext uri="{FF2B5EF4-FFF2-40B4-BE49-F238E27FC236}">
                <a16:creationId xmlns:a16="http://schemas.microsoft.com/office/drawing/2014/main" id="{BE0B4362-B68C-6443-A9E7-B11C00CE3BE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 2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sp>
        <p:nvSpPr>
          <p:cNvPr id="28677" name="Rectangle 3">
            <a:extLst>
              <a:ext uri="{FF2B5EF4-FFF2-40B4-BE49-F238E27FC236}">
                <a16:creationId xmlns:a16="http://schemas.microsoft.com/office/drawing/2014/main" id="{BDC54FE8-318C-5C4C-AC7F-88C8516BEFA5}"/>
              </a:ext>
            </a:extLst>
          </p:cNvPr>
          <p:cNvSpPr>
            <a:spLocks noGrp="1" noChangeArrowheads="1"/>
          </p:cNvSpPr>
          <p:nvPr>
            <p:ph type="body" idx="1"/>
          </p:nvPr>
        </p:nvSpPr>
        <p:spPr/>
        <p:txBody>
          <a:bodyPr/>
          <a:lstStyle/>
          <a:p>
            <a:pPr eaLnBrk="1" hangingPunct="1">
              <a:lnSpc>
                <a:spcPct val="90000"/>
              </a:lnSpc>
            </a:pPr>
            <a:r>
              <a:rPr lang="en-US" altLang="en-US">
                <a:ea typeface="ＭＳ Ｐゴシック" panose="020B0600070205080204" pitchFamily="34" charset="-128"/>
              </a:rPr>
              <a:t>What is the probability of getting 3, but not 4, aces in a 5-card hand?</a:t>
            </a:r>
          </a:p>
          <a:p>
            <a:pPr eaLnBrk="1" hangingPunct="1">
              <a:lnSpc>
                <a:spcPct val="90000"/>
              </a:lnSpc>
            </a:pPr>
            <a:r>
              <a:rPr lang="en-US" altLang="en-US">
                <a:ea typeface="ＭＳ Ｐゴシック" panose="020B0600070205080204" pitchFamily="34" charset="-128"/>
              </a:rPr>
              <a:t>First, you must pick 3 of the four aces, done in C(4,3) = 4 ways.</a:t>
            </a:r>
          </a:p>
          <a:p>
            <a:pPr eaLnBrk="1" hangingPunct="1">
              <a:lnSpc>
                <a:spcPct val="90000"/>
              </a:lnSpc>
            </a:pPr>
            <a:r>
              <a:rPr lang="en-US" altLang="en-US">
                <a:ea typeface="ＭＳ Ｐゴシック" panose="020B0600070205080204" pitchFamily="34" charset="-128"/>
              </a:rPr>
              <a:t>Next, fill your hand with any 2 of the 48 other cards in the deck: C(48,2) = 1128 ways.</a:t>
            </a:r>
          </a:p>
          <a:p>
            <a:pPr eaLnBrk="1" hangingPunct="1">
              <a:lnSpc>
                <a:spcPct val="90000"/>
              </a:lnSpc>
            </a:pPr>
            <a:r>
              <a:rPr lang="en-US" altLang="en-US">
                <a:ea typeface="ＭＳ Ｐゴシック" panose="020B0600070205080204" pitchFamily="34" charset="-128"/>
              </a:rPr>
              <a:t>Multiply the results to get 1128 x 4 = 4512 ways you can get 3 aces.</a:t>
            </a:r>
          </a:p>
        </p:txBody>
      </p:sp>
    </p:spTree>
    <p:extLst>
      <p:ext uri="{BB962C8B-B14F-4D97-AF65-F5344CB8AC3E}">
        <p14:creationId xmlns:p14="http://schemas.microsoft.com/office/powerpoint/2010/main" val="19615414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a:extLst>
              <a:ext uri="{FF2B5EF4-FFF2-40B4-BE49-F238E27FC236}">
                <a16:creationId xmlns:a16="http://schemas.microsoft.com/office/drawing/2014/main" id="{5F8DD5C9-4479-8641-9122-6CFE4308ED1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 2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sp>
        <p:nvSpPr>
          <p:cNvPr id="29701" name="Rectangle 3">
            <a:extLst>
              <a:ext uri="{FF2B5EF4-FFF2-40B4-BE49-F238E27FC236}">
                <a16:creationId xmlns:a16="http://schemas.microsoft.com/office/drawing/2014/main" id="{09F95075-CAE3-3E40-A3BF-52D60AE7C483}"/>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To find the probability, divide by the total number of possible hands:                    4512 / 2,598,960 = 0.00174, or roughly 0.17%</a:t>
            </a:r>
          </a:p>
        </p:txBody>
      </p:sp>
    </p:spTree>
    <p:extLst>
      <p:ext uri="{BB962C8B-B14F-4D97-AF65-F5344CB8AC3E}">
        <p14:creationId xmlns:p14="http://schemas.microsoft.com/office/powerpoint/2010/main" val="1668010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338E52A4-3AD2-CF47-836D-D9574E5E9E4E}"/>
              </a:ext>
            </a:extLst>
          </p:cNvPr>
          <p:cNvSpPr>
            <a:spLocks noGrp="1" noChangeArrowheads="1"/>
          </p:cNvSpPr>
          <p:nvPr>
            <p:ph type="title"/>
          </p:nvPr>
        </p:nvSpPr>
        <p:spPr/>
        <p:txBody>
          <a:bodyPr/>
          <a:lstStyle/>
          <a:p>
            <a:pPr eaLnBrk="1" hangingPunct="1"/>
            <a:r>
              <a:rPr lang="en-US" altLang="en-US" sz="4000">
                <a:ea typeface="ＭＳ Ｐゴシック" panose="020B0600070205080204" pitchFamily="34" charset="-128"/>
              </a:rPr>
              <a:t>Example 3 – Forming Committees</a:t>
            </a:r>
          </a:p>
        </p:txBody>
      </p:sp>
      <p:sp>
        <p:nvSpPr>
          <p:cNvPr id="30725" name="Rectangle 3">
            <a:extLst>
              <a:ext uri="{FF2B5EF4-FFF2-40B4-BE49-F238E27FC236}">
                <a16:creationId xmlns:a16="http://schemas.microsoft.com/office/drawing/2014/main" id="{0FCBAADF-984E-1347-A543-5CDCFD6A6246}"/>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A committee of </a:t>
            </a:r>
            <a:r>
              <a:rPr lang="en-US" altLang="en-US" i="1">
                <a:ea typeface="ＭＳ Ｐゴシック" panose="020B0600070205080204" pitchFamily="34" charset="-128"/>
              </a:rPr>
              <a:t>k</a:t>
            </a:r>
            <a:r>
              <a:rPr lang="en-US" altLang="en-US">
                <a:ea typeface="ＭＳ Ｐゴシック" panose="020B0600070205080204" pitchFamily="34" charset="-128"/>
              </a:rPr>
              <a:t> people is to be chosen from a set of 7 women and 4 men.  How many ways can you form a committee if:</a:t>
            </a:r>
          </a:p>
          <a:p>
            <a:pPr eaLnBrk="1" hangingPunct="1"/>
            <a:r>
              <a:rPr lang="en-US" altLang="en-US">
                <a:ea typeface="ＭＳ Ｐゴシック" panose="020B0600070205080204" pitchFamily="34" charset="-128"/>
              </a:rPr>
              <a:t>The committee consists of 3 women and 2 men?</a:t>
            </a:r>
          </a:p>
          <a:p>
            <a:pPr eaLnBrk="1" hangingPunct="1"/>
            <a:r>
              <a:rPr lang="en-US" altLang="en-US">
                <a:ea typeface="ＭＳ Ｐゴシック" panose="020B0600070205080204" pitchFamily="34" charset="-128"/>
              </a:rPr>
              <a:t>The committee consists of 4 people, and Mr. Baggins must be on it?</a:t>
            </a:r>
          </a:p>
        </p:txBody>
      </p:sp>
    </p:spTree>
    <p:extLst>
      <p:ext uri="{BB962C8B-B14F-4D97-AF65-F5344CB8AC3E}">
        <p14:creationId xmlns:p14="http://schemas.microsoft.com/office/powerpoint/2010/main" val="3148338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a:extLst>
              <a:ext uri="{FF2B5EF4-FFF2-40B4-BE49-F238E27FC236}">
                <a16:creationId xmlns:a16="http://schemas.microsoft.com/office/drawing/2014/main" id="{0456C07F-EB11-2A4C-8A0D-F024967D82D0}"/>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 3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sp>
        <p:nvSpPr>
          <p:cNvPr id="31749" name="Rectangle 3">
            <a:extLst>
              <a:ext uri="{FF2B5EF4-FFF2-40B4-BE49-F238E27FC236}">
                <a16:creationId xmlns:a16="http://schemas.microsoft.com/office/drawing/2014/main" id="{C7A8912C-ED81-2F4D-B21E-9AE44F52417C}"/>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In case 1, you must simply pick between two subsets, men and women.  Since there are three women and 2 men, the numbers are as follows:</a:t>
            </a:r>
          </a:p>
          <a:p>
            <a:pPr eaLnBrk="1" hangingPunct="1"/>
            <a:r>
              <a:rPr lang="en-US" altLang="en-US">
                <a:ea typeface="ＭＳ Ｐゴシック" panose="020B0600070205080204" pitchFamily="34" charset="-128"/>
              </a:rPr>
              <a:t>C(7,3) x C(4,2) = 35 x 6 = 210 different ways</a:t>
            </a:r>
          </a:p>
        </p:txBody>
      </p:sp>
    </p:spTree>
    <p:extLst>
      <p:ext uri="{BB962C8B-B14F-4D97-AF65-F5344CB8AC3E}">
        <p14:creationId xmlns:p14="http://schemas.microsoft.com/office/powerpoint/2010/main" val="1450465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a:extLst>
              <a:ext uri="{FF2B5EF4-FFF2-40B4-BE49-F238E27FC236}">
                <a16:creationId xmlns:a16="http://schemas.microsoft.com/office/drawing/2014/main" id="{10A172C6-5322-F743-928B-6598D6C01BC1}"/>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Example 3 </a:t>
            </a:r>
            <a:r>
              <a:rPr lang="en-US" altLang="en-US" dirty="0" err="1">
                <a:ea typeface="ＭＳ Ｐゴシック" panose="020B0600070205080204" pitchFamily="34" charset="-128"/>
              </a:rPr>
              <a:t>cont</a:t>
            </a:r>
            <a:r>
              <a:rPr lang="ja-JP" altLang="en-US">
                <a:ea typeface="ＭＳ Ｐゴシック" panose="020B0600070205080204" pitchFamily="34" charset="-128"/>
              </a:rPr>
              <a:t>’</a:t>
            </a:r>
            <a:r>
              <a:rPr lang="en-US" altLang="ja-JP" dirty="0">
                <a:ea typeface="ＭＳ Ｐゴシック" panose="020B0600070205080204" pitchFamily="34" charset="-128"/>
              </a:rPr>
              <a:t>d</a:t>
            </a:r>
            <a:endParaRPr lang="en-US" altLang="en-US" dirty="0">
              <a:ea typeface="ＭＳ Ｐゴシック" panose="020B0600070205080204" pitchFamily="34" charset="-128"/>
            </a:endParaRPr>
          </a:p>
        </p:txBody>
      </p:sp>
      <p:sp>
        <p:nvSpPr>
          <p:cNvPr id="32773" name="Rectangle 3">
            <a:extLst>
              <a:ext uri="{FF2B5EF4-FFF2-40B4-BE49-F238E27FC236}">
                <a16:creationId xmlns:a16="http://schemas.microsoft.com/office/drawing/2014/main" id="{D0FF4C44-8805-1541-9B7A-3E4D9F2237DE}"/>
              </a:ext>
            </a:extLst>
          </p:cNvPr>
          <p:cNvSpPr>
            <a:spLocks noGrp="1" noChangeArrowheads="1"/>
          </p:cNvSpPr>
          <p:nvPr>
            <p:ph type="body" idx="1"/>
          </p:nvPr>
        </p:nvSpPr>
        <p:spPr/>
        <p:txBody>
          <a:bodyPr/>
          <a:lstStyle/>
          <a:p>
            <a:pPr eaLnBrk="1" hangingPunct="1">
              <a:lnSpc>
                <a:spcPct val="90000"/>
              </a:lnSpc>
            </a:pPr>
            <a:r>
              <a:rPr lang="en-US" altLang="en-US" dirty="0">
                <a:ea typeface="ＭＳ Ｐゴシック" panose="020B0600070205080204" pitchFamily="34" charset="-128"/>
              </a:rPr>
              <a:t>In case 2, Mr. Baggins forced entry into the committee lessens our choices for who else is on the committee.  But since there were no other restrictions (no gender restrictions), we can simply choose 3 from the remaining 10: C(10,3) = 120</a:t>
            </a:r>
          </a:p>
          <a:p>
            <a:pPr eaLnBrk="1" hangingPunct="1">
              <a:lnSpc>
                <a:spcPct val="90000"/>
              </a:lnSpc>
            </a:pPr>
            <a:r>
              <a:rPr lang="en-US" altLang="en-US" dirty="0">
                <a:ea typeface="ＭＳ Ｐゴシック" panose="020B0600070205080204" pitchFamily="34" charset="-128"/>
              </a:rPr>
              <a:t>An easy mistake to make is to assume gender restrictions; read the problems carefully</a:t>
            </a:r>
          </a:p>
        </p:txBody>
      </p:sp>
    </p:spTree>
    <p:extLst>
      <p:ext uri="{BB962C8B-B14F-4D97-AF65-F5344CB8AC3E}">
        <p14:creationId xmlns:p14="http://schemas.microsoft.com/office/powerpoint/2010/main" val="14613289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A85DC-E11D-354B-AFCA-0F43FB94352F}"/>
              </a:ext>
            </a:extLst>
          </p:cNvPr>
          <p:cNvSpPr>
            <a:spLocks noGrp="1"/>
          </p:cNvSpPr>
          <p:nvPr>
            <p:ph type="title"/>
          </p:nvPr>
        </p:nvSpPr>
        <p:spPr/>
        <p:txBody>
          <a:bodyPr/>
          <a:lstStyle/>
          <a:p>
            <a:r>
              <a:rPr lang="en-US" dirty="0"/>
              <a:t>Example 4: voter power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EDB131-F3DD-CE41-AEC3-38E2726CD519}"/>
                  </a:ext>
                </a:extLst>
              </p:cNvPr>
              <p:cNvSpPr>
                <a:spLocks noGrp="1"/>
              </p:cNvSpPr>
              <p:nvPr>
                <p:ph idx="1"/>
              </p:nvPr>
            </p:nvSpPr>
            <p:spPr/>
            <p:txBody>
              <a:bodyPr/>
              <a:lstStyle/>
              <a:p>
                <a:r>
                  <a:rPr lang="en-US" dirty="0"/>
                  <a:t>Suppose there is a 5-person regional council. Three representatives are from small towns each can cast one vote and two representatives from large towns each can cast two votes. Let’s call three small town representatives as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𝑏</m:t>
                    </m:r>
                    <m:r>
                      <a:rPr lang="en-US" b="0" i="1" smtClean="0">
                        <a:latin typeface="Cambria Math" panose="02040503050406030204" pitchFamily="18" charset="0"/>
                      </a:rPr>
                      <m:t>, </m:t>
                    </m:r>
                    <m:r>
                      <a:rPr lang="en-US" b="0" i="1" smtClean="0">
                        <a:latin typeface="Cambria Math" panose="02040503050406030204" pitchFamily="18" charset="0"/>
                      </a:rPr>
                      <m:t>𝑐</m:t>
                    </m:r>
                  </m:oMath>
                </a14:m>
                <a:r>
                  <a:rPr lang="en-US" dirty="0"/>
                  <a:t>, and two large town representatives as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𝐸</m:t>
                    </m:r>
                  </m:oMath>
                </a14:m>
                <a:r>
                  <a:rPr lang="en-US" dirty="0"/>
                  <a:t>. It takes four votes to win a proposition.</a:t>
                </a:r>
              </a:p>
              <a:p>
                <a:r>
                  <a:rPr lang="en-US" dirty="0"/>
                  <a:t>What is the probability that a representative from small town plays pivotal role in the decision?</a:t>
                </a:r>
              </a:p>
              <a:p>
                <a:r>
                  <a:rPr lang="en-US" dirty="0"/>
                  <a:t>What is the probability that a representative from large town plays pivotal role in the decision?</a:t>
                </a:r>
              </a:p>
            </p:txBody>
          </p:sp>
        </mc:Choice>
        <mc:Fallback xmlns="">
          <p:sp>
            <p:nvSpPr>
              <p:cNvPr id="3" name="Content Placeholder 2">
                <a:extLst>
                  <a:ext uri="{FF2B5EF4-FFF2-40B4-BE49-F238E27FC236}">
                    <a16:creationId xmlns:a16="http://schemas.microsoft.com/office/drawing/2014/main" id="{32EDB131-F3DD-CE41-AEC3-38E2726CD519}"/>
                  </a:ext>
                </a:extLst>
              </p:cNvPr>
              <p:cNvSpPr>
                <a:spLocks noGrp="1" noRot="1" noChangeAspect="1" noMove="1" noResize="1" noEditPoints="1" noAdjustHandles="1" noChangeArrowheads="1" noChangeShapeType="1" noTextEdit="1"/>
              </p:cNvSpPr>
              <p:nvPr>
                <p:ph idx="1"/>
              </p:nvPr>
            </p:nvSpPr>
            <p:spPr>
              <a:blipFill>
                <a:blip r:embed="rId2"/>
                <a:stretch>
                  <a:fillRect l="-965" t="-2632" r="-1086"/>
                </a:stretch>
              </a:blipFill>
            </p:spPr>
            <p:txBody>
              <a:bodyPr/>
              <a:lstStyle/>
              <a:p>
                <a:r>
                  <a:rPr lang="en-US">
                    <a:noFill/>
                  </a:rPr>
                  <a:t> </a:t>
                </a:r>
              </a:p>
            </p:txBody>
          </p:sp>
        </mc:Fallback>
      </mc:AlternateContent>
    </p:spTree>
    <p:extLst>
      <p:ext uri="{BB962C8B-B14F-4D97-AF65-F5344CB8AC3E}">
        <p14:creationId xmlns:p14="http://schemas.microsoft.com/office/powerpoint/2010/main" val="3606707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1FDB9-1E71-6C42-9A2D-6AAC46BE413F}"/>
              </a:ext>
            </a:extLst>
          </p:cNvPr>
          <p:cNvSpPr>
            <a:spLocks noGrp="1"/>
          </p:cNvSpPr>
          <p:nvPr>
            <p:ph type="title"/>
          </p:nvPr>
        </p:nvSpPr>
        <p:spPr/>
        <p:txBody>
          <a:bodyPr/>
          <a:lstStyle/>
          <a:p>
            <a:r>
              <a:rPr lang="en-US" dirty="0"/>
              <a:t>Example 4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EB5ECF-F59B-8A48-A1F6-324AF0A4060A}"/>
                  </a:ext>
                </a:extLst>
              </p:cNvPr>
              <p:cNvSpPr>
                <a:spLocks noGrp="1"/>
              </p:cNvSpPr>
              <p:nvPr>
                <p:ph idx="1"/>
              </p:nvPr>
            </p:nvSpPr>
            <p:spPr/>
            <p:txBody>
              <a:bodyPr>
                <a:normAutofit lnSpcReduction="10000"/>
              </a:bodyPr>
              <a:lstStyle/>
              <a:p>
                <a:r>
                  <a:rPr lang="en-US" dirty="0"/>
                  <a:t>There are total of </a:t>
                </a:r>
                <a14:m>
                  <m:oMath xmlns:m="http://schemas.openxmlformats.org/officeDocument/2006/math">
                    <m:r>
                      <a:rPr lang="en-US" b="0" i="1" smtClean="0">
                        <a:latin typeface="Cambria Math" panose="02040503050406030204" pitchFamily="18" charset="0"/>
                      </a:rPr>
                      <m:t>5!</m:t>
                    </m:r>
                  </m:oMath>
                </a14:m>
                <a:r>
                  <a:rPr lang="en-US" dirty="0"/>
                  <a:t> ways to arrange the representatives</a:t>
                </a:r>
              </a:p>
              <a:p>
                <a:r>
                  <a:rPr lang="en-US" dirty="0"/>
                  <a:t>For representative from small town to play pivotal role, we must have</a:t>
                </a:r>
              </a:p>
              <a:p>
                <a:pPr marL="0" indent="0" algn="ctr">
                  <a:buNone/>
                </a:pPr>
                <a:r>
                  <a:rPr lang="en-US" dirty="0"/>
                  <a:t>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𝑥𝑋</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𝑋𝑥</m:t>
                    </m:r>
                    <m:r>
                      <a:rPr lang="en-US" b="0" i="1" smtClean="0">
                        <a:latin typeface="Cambria Math" panose="02040503050406030204" pitchFamily="18" charset="0"/>
                      </a:rPr>
                      <m:t>)</m:t>
                    </m:r>
                  </m:oMath>
                </a14:m>
                <a:endParaRPr lang="en-US" dirty="0"/>
              </a:p>
              <a:p>
                <a:pPr marL="0" indent="0">
                  <a:buNone/>
                </a:pPr>
                <a:r>
                  <a:rPr lang="en-US" dirty="0"/>
                  <a:t>The number of ways to choose two representatives prior to </a:t>
                </a:r>
                <a14:m>
                  <m:oMath xmlns:m="http://schemas.openxmlformats.org/officeDocument/2006/math">
                    <m:r>
                      <a:rPr lang="en-US" b="0" i="1" smtClean="0">
                        <a:latin typeface="Cambria Math" panose="02040503050406030204" pitchFamily="18" charset="0"/>
                      </a:rPr>
                      <m:t>𝑦</m:t>
                    </m:r>
                  </m:oMath>
                </a14:m>
                <a:r>
                  <a:rPr lang="en-US" dirty="0"/>
                  <a:t> is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(2,1)×</m:t>
                    </m:r>
                    <m:r>
                      <a:rPr lang="en-US" b="0" i="1" smtClean="0">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(2,1)×2</m:t>
                    </m:r>
                  </m:oMath>
                </a14:m>
                <a:r>
                  <a:rPr lang="en-US" dirty="0"/>
                  <a:t>, the two people following </a:t>
                </a:r>
                <a14:m>
                  <m:oMath xmlns:m="http://schemas.openxmlformats.org/officeDocument/2006/math">
                    <m:r>
                      <a:rPr lang="en-US" b="0" i="1" smtClean="0">
                        <a:latin typeface="Cambria Math" panose="02040503050406030204" pitchFamily="18" charset="0"/>
                      </a:rPr>
                      <m:t>𝑦</m:t>
                    </m:r>
                  </m:oMath>
                </a14:m>
                <a:r>
                  <a:rPr lang="en-US" dirty="0"/>
                  <a:t> are then fixed, but can still change positions. Therefore the total number of ways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2,1</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2,1</m:t>
                          </m:r>
                        </m:e>
                      </m:d>
                      <m:r>
                        <a:rPr lang="en-US" b="0" i="1" smtClean="0">
                          <a:latin typeface="Cambria Math" panose="02040503050406030204" pitchFamily="18" charset="0"/>
                          <a:ea typeface="Cambria Math" panose="02040503050406030204" pitchFamily="18" charset="0"/>
                        </a:rPr>
                        <m:t>×2×2=16</m:t>
                      </m:r>
                    </m:oMath>
                  </m:oMathPara>
                </a14:m>
                <a:endParaRPr lang="en-US" dirty="0"/>
              </a:p>
              <a:p>
                <a:r>
                  <a:rPr lang="en-US" dirty="0"/>
                  <a:t>Therefore the probability </a:t>
                </a:r>
                <a14:m>
                  <m:oMath xmlns:m="http://schemas.openxmlformats.org/officeDocument/2006/math">
                    <m:r>
                      <a:rPr lang="en-US" b="0" i="1" smtClean="0">
                        <a:latin typeface="Cambria Math" panose="02040503050406030204" pitchFamily="18" charset="0"/>
                      </a:rPr>
                      <m:t>𝑦</m:t>
                    </m:r>
                  </m:oMath>
                </a14:m>
                <a:r>
                  <a:rPr lang="en-US" dirty="0"/>
                  <a:t> playing pivotal role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𝑃𝑟𝑜𝑏</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16</m:t>
                          </m:r>
                        </m:num>
                        <m:den>
                          <m:r>
                            <a:rPr lang="en-US" b="0" i="1" smtClean="0">
                              <a:latin typeface="Cambria Math" panose="02040503050406030204" pitchFamily="18" charset="0"/>
                            </a:rPr>
                            <m:t>5!</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15</m:t>
                          </m:r>
                        </m:den>
                      </m:f>
                      <m:r>
                        <a:rPr lang="en-US" b="0" i="1" smtClean="0">
                          <a:latin typeface="Cambria Math" panose="02040503050406030204" pitchFamily="18" charset="0"/>
                        </a:rPr>
                        <m:t>=0.1333</m:t>
                      </m:r>
                    </m:oMath>
                  </m:oMathPara>
                </a14:m>
                <a:endParaRPr lang="en-US" dirty="0"/>
              </a:p>
            </p:txBody>
          </p:sp>
        </mc:Choice>
        <mc:Fallback xmlns="">
          <p:sp>
            <p:nvSpPr>
              <p:cNvPr id="3" name="Content Placeholder 2">
                <a:extLst>
                  <a:ext uri="{FF2B5EF4-FFF2-40B4-BE49-F238E27FC236}">
                    <a16:creationId xmlns:a16="http://schemas.microsoft.com/office/drawing/2014/main" id="{5AEB5ECF-F59B-8A48-A1F6-324AF0A4060A}"/>
                  </a:ext>
                </a:extLst>
              </p:cNvPr>
              <p:cNvSpPr>
                <a:spLocks noGrp="1" noRot="1" noChangeAspect="1" noMove="1" noResize="1" noEditPoints="1" noAdjustHandles="1" noChangeArrowheads="1" noChangeShapeType="1" noTextEdit="1"/>
              </p:cNvSpPr>
              <p:nvPr>
                <p:ph idx="1"/>
              </p:nvPr>
            </p:nvSpPr>
            <p:spPr>
              <a:blipFill>
                <a:blip r:embed="rId2"/>
                <a:stretch>
                  <a:fillRect l="-1086" t="-3509" r="-241"/>
                </a:stretch>
              </a:blipFill>
            </p:spPr>
            <p:txBody>
              <a:bodyPr/>
              <a:lstStyle/>
              <a:p>
                <a:r>
                  <a:rPr lang="en-US">
                    <a:noFill/>
                  </a:rPr>
                  <a:t> </a:t>
                </a:r>
              </a:p>
            </p:txBody>
          </p:sp>
        </mc:Fallback>
      </mc:AlternateContent>
    </p:spTree>
    <p:extLst>
      <p:ext uri="{BB962C8B-B14F-4D97-AF65-F5344CB8AC3E}">
        <p14:creationId xmlns:p14="http://schemas.microsoft.com/office/powerpoint/2010/main" val="26790225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6846-4FA0-2D42-A5D6-D2609DC63FFC}"/>
              </a:ext>
            </a:extLst>
          </p:cNvPr>
          <p:cNvSpPr>
            <a:spLocks noGrp="1"/>
          </p:cNvSpPr>
          <p:nvPr>
            <p:ph type="title"/>
          </p:nvPr>
        </p:nvSpPr>
        <p:spPr/>
        <p:txBody>
          <a:bodyPr/>
          <a:lstStyle/>
          <a:p>
            <a:r>
              <a:rPr lang="en-US" dirty="0"/>
              <a:t>Example 4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045542-8E3E-9D40-8DDD-066B28421FA8}"/>
                  </a:ext>
                </a:extLst>
              </p:cNvPr>
              <p:cNvSpPr>
                <a:spLocks noGrp="1"/>
              </p:cNvSpPr>
              <p:nvPr>
                <p:ph idx="1"/>
              </p:nvPr>
            </p:nvSpPr>
            <p:spPr/>
            <p:txBody>
              <a:bodyPr/>
              <a:lstStyle/>
              <a:p>
                <a:r>
                  <a:rPr lang="en-US" dirty="0"/>
                  <a:t>For the representative from large town to play pivotal role, we have have </a:t>
                </a:r>
                <a14:m>
                  <m:oMath xmlns:m="http://schemas.openxmlformats.org/officeDocument/2006/math">
                    <m:r>
                      <a:rPr lang="en-US" b="0" i="1" smtClean="0">
                        <a:latin typeface="Cambria Math" panose="02040503050406030204" pitchFamily="18" charset="0"/>
                      </a:rPr>
                      <m:t>𝑋𝑌</m:t>
                    </m:r>
                    <m:r>
                      <a:rPr lang="en-US" b="0" i="1" smtClean="0">
                        <a:latin typeface="Cambria Math" panose="02040503050406030204" pitchFamily="18" charset="0"/>
                      </a:rPr>
                      <m:t>(</m:t>
                    </m:r>
                    <m:r>
                      <a:rPr lang="en-US" b="0" i="1" smtClean="0">
                        <a:latin typeface="Cambria Math" panose="02040503050406030204" pitchFamily="18" charset="0"/>
                      </a:rPr>
                      <m:t>𝑥𝑥𝑥</m:t>
                    </m:r>
                    <m:r>
                      <a:rPr lang="en-US" b="0" i="1" smtClean="0">
                        <a:latin typeface="Cambria Math" panose="02040503050406030204" pitchFamily="18" charset="0"/>
                      </a:rPr>
                      <m:t>)</m:t>
                    </m:r>
                  </m:oMath>
                </a14:m>
                <a:r>
                  <a:rPr lang="en-US" dirty="0"/>
                  <a:t>, or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𝑥𝑥</m:t>
                        </m:r>
                      </m:e>
                    </m:d>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𝑥𝑋</m:t>
                    </m:r>
                    <m:r>
                      <a:rPr lang="en-US" b="0" i="1" smtClean="0">
                        <a:latin typeface="Cambria Math" panose="02040503050406030204" pitchFamily="18" charset="0"/>
                      </a:rPr>
                      <m:t>)</m:t>
                    </m:r>
                  </m:oMath>
                </a14:m>
                <a:r>
                  <a:rPr lang="en-US" dirty="0"/>
                  <a:t>, or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𝑥𝑋</m:t>
                        </m:r>
                      </m:e>
                    </m:d>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𝑥𝑥</m:t>
                    </m:r>
                    <m:r>
                      <a:rPr lang="en-US" b="0" i="1" smtClean="0">
                        <a:latin typeface="Cambria Math" panose="02040503050406030204" pitchFamily="18" charset="0"/>
                      </a:rPr>
                      <m:t>)</m:t>
                    </m:r>
                  </m:oMath>
                </a14:m>
                <a:r>
                  <a:rPr lang="en-US" dirty="0"/>
                  <a:t>, or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𝑥𝑥𝑥</m:t>
                        </m:r>
                      </m:e>
                    </m:d>
                    <m:r>
                      <a:rPr lang="en-US" b="0" i="1" smtClean="0">
                        <a:latin typeface="Cambria Math" panose="02040503050406030204" pitchFamily="18" charset="0"/>
                      </a:rPr>
                      <m:t>𝑌𝑋</m:t>
                    </m:r>
                  </m:oMath>
                </a14:m>
                <a:endParaRPr lang="en-US" dirty="0"/>
              </a:p>
              <a:p>
                <a:r>
                  <a:rPr lang="en-US" dirty="0"/>
                  <a:t>The number of ways for the first arrangement is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×3!=6</m:t>
                    </m:r>
                  </m:oMath>
                </a14:m>
                <a:r>
                  <a:rPr lang="en-US" dirty="0"/>
                  <a:t>, the number of ways for the second arrangement is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3,2</m:t>
                        </m:r>
                      </m:e>
                    </m:d>
                    <m:r>
                      <a:rPr lang="en-US" b="0" i="1" smtClean="0">
                        <a:latin typeface="Cambria Math" panose="02040503050406030204" pitchFamily="18" charset="0"/>
                        <a:ea typeface="Cambria Math" panose="02040503050406030204" pitchFamily="18" charset="0"/>
                      </a:rPr>
                      <m:t>×2=12</m:t>
                    </m:r>
                  </m:oMath>
                </a14:m>
                <a:r>
                  <a:rPr lang="en-US" dirty="0"/>
                  <a:t>, the number of ways for third arrangement is </a:t>
                </a:r>
                <a14:m>
                  <m:oMath xmlns:m="http://schemas.openxmlformats.org/officeDocument/2006/math">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×1×2×2=12</m:t>
                    </m:r>
                  </m:oMath>
                </a14:m>
                <a:r>
                  <a:rPr lang="en-US" dirty="0"/>
                  <a:t>, the number of ways for the fourth one is 6.</a:t>
                </a:r>
              </a:p>
              <a:p>
                <a:r>
                  <a:rPr lang="en-US" dirty="0"/>
                  <a:t>The total number of ways is 36, therefore the probability that the representative from large town play pivotal role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𝑃𝑟𝑜𝑏</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36</m:t>
                          </m:r>
                        </m:num>
                        <m:den>
                          <m:r>
                            <a:rPr lang="en-US" b="0" i="1" smtClean="0">
                              <a:latin typeface="Cambria Math" panose="02040503050406030204" pitchFamily="18" charset="0"/>
                            </a:rPr>
                            <m:t>5!</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10</m:t>
                          </m:r>
                        </m:den>
                      </m:f>
                      <m:r>
                        <a:rPr lang="en-US" b="0" i="1" smtClean="0">
                          <a:latin typeface="Cambria Math" panose="02040503050406030204" pitchFamily="18" charset="0"/>
                        </a:rPr>
                        <m:t>=0.3</m:t>
                      </m:r>
                    </m:oMath>
                  </m:oMathPara>
                </a14:m>
                <a:endParaRPr lang="en-US" dirty="0"/>
              </a:p>
            </p:txBody>
          </p:sp>
        </mc:Choice>
        <mc:Fallback xmlns="">
          <p:sp>
            <p:nvSpPr>
              <p:cNvPr id="3" name="Content Placeholder 2">
                <a:extLst>
                  <a:ext uri="{FF2B5EF4-FFF2-40B4-BE49-F238E27FC236}">
                    <a16:creationId xmlns:a16="http://schemas.microsoft.com/office/drawing/2014/main" id="{91045542-8E3E-9D40-8DDD-066B28421FA8}"/>
                  </a:ext>
                </a:extLst>
              </p:cNvPr>
              <p:cNvSpPr>
                <a:spLocks noGrp="1" noRot="1" noChangeAspect="1" noMove="1" noResize="1" noEditPoints="1" noAdjustHandles="1" noChangeArrowheads="1" noChangeShapeType="1" noTextEdit="1"/>
              </p:cNvSpPr>
              <p:nvPr>
                <p:ph idx="1"/>
              </p:nvPr>
            </p:nvSpPr>
            <p:spPr>
              <a:blipFill>
                <a:blip r:embed="rId2"/>
                <a:stretch>
                  <a:fillRect l="-965" t="-2632"/>
                </a:stretch>
              </a:blipFill>
            </p:spPr>
            <p:txBody>
              <a:bodyPr/>
              <a:lstStyle/>
              <a:p>
                <a:r>
                  <a:rPr lang="en-US">
                    <a:noFill/>
                  </a:rPr>
                  <a:t> </a:t>
                </a:r>
              </a:p>
            </p:txBody>
          </p:sp>
        </mc:Fallback>
      </mc:AlternateContent>
    </p:spTree>
    <p:extLst>
      <p:ext uri="{BB962C8B-B14F-4D97-AF65-F5344CB8AC3E}">
        <p14:creationId xmlns:p14="http://schemas.microsoft.com/office/powerpoint/2010/main" val="491917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4D9C4C-0C04-F449-9184-4B2ABB10A9A6}"/>
              </a:ext>
            </a:extLst>
          </p:cNvPr>
          <p:cNvSpPr>
            <a:spLocks noGrp="1"/>
          </p:cNvSpPr>
          <p:nvPr>
            <p:ph type="title"/>
          </p:nvPr>
        </p:nvSpPr>
        <p:spPr>
          <a:xfrm>
            <a:off x="838200" y="2666536"/>
            <a:ext cx="10515600" cy="1325563"/>
          </a:xfrm>
        </p:spPr>
        <p:txBody>
          <a:bodyPr>
            <a:normAutofit fontScale="90000"/>
          </a:bodyPr>
          <a:lstStyle/>
          <a:p>
            <a:r>
              <a:rPr lang="en-US" dirty="0"/>
              <a:t>The probability that an entity plays the pivotal role in an election is called the </a:t>
            </a:r>
            <a:r>
              <a:rPr lang="en-US" b="1" i="1" dirty="0"/>
              <a:t>Shapley-</a:t>
            </a:r>
            <a:r>
              <a:rPr lang="en-US" b="1" i="1" dirty="0" err="1"/>
              <a:t>Shibik</a:t>
            </a:r>
            <a:r>
              <a:rPr lang="en-US" b="1" i="1" dirty="0"/>
              <a:t> Index</a:t>
            </a:r>
          </a:p>
        </p:txBody>
      </p:sp>
    </p:spTree>
    <p:extLst>
      <p:ext uri="{BB962C8B-B14F-4D97-AF65-F5344CB8AC3E}">
        <p14:creationId xmlns:p14="http://schemas.microsoft.com/office/powerpoint/2010/main" val="427635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9DB36CD-6D40-EB4C-8A95-2F633B20C44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Theorem 1</a:t>
            </a:r>
          </a:p>
        </p:txBody>
      </p:sp>
      <p:sp>
        <p:nvSpPr>
          <p:cNvPr id="18437" name="Rectangle 3">
            <a:extLst>
              <a:ext uri="{FF2B5EF4-FFF2-40B4-BE49-F238E27FC236}">
                <a16:creationId xmlns:a16="http://schemas.microsoft.com/office/drawing/2014/main" id="{18E1E132-C6D3-B145-A9D2-3A9AE63CD9A3}"/>
              </a:ext>
            </a:extLst>
          </p:cNvPr>
          <p:cNvSpPr>
            <a:spLocks noGrp="1" noChangeArrowheads="1"/>
          </p:cNvSpPr>
          <p:nvPr>
            <p:ph type="body" sz="half" idx="1"/>
          </p:nvPr>
        </p:nvSpPr>
        <p:spPr>
          <a:xfrm>
            <a:off x="2209800" y="1981200"/>
            <a:ext cx="7924800" cy="2286000"/>
          </a:xfrm>
        </p:spPr>
        <p:txBody>
          <a:bodyPr/>
          <a:lstStyle/>
          <a:p>
            <a:pPr eaLnBrk="1" hangingPunct="1"/>
            <a:r>
              <a:rPr lang="en-US" altLang="en-US">
                <a:ea typeface="ＭＳ Ｐゴシック" panose="020B0600070205080204" pitchFamily="34" charset="-128"/>
              </a:rPr>
              <a:t>If there are </a:t>
            </a:r>
            <a:r>
              <a:rPr lang="en-US" altLang="en-US" i="1">
                <a:ea typeface="ＭＳ Ｐゴシック" panose="020B0600070205080204" pitchFamily="34" charset="-128"/>
              </a:rPr>
              <a:t>n</a:t>
            </a:r>
            <a:r>
              <a:rPr lang="en-US" altLang="en-US">
                <a:ea typeface="ＭＳ Ｐゴシック" panose="020B0600070205080204" pitchFamily="34" charset="-128"/>
              </a:rPr>
              <a:t> objects with </a:t>
            </a:r>
            <a:r>
              <a:rPr lang="en-US" altLang="en-US" i="1">
                <a:ea typeface="ＭＳ Ｐゴシック" panose="020B0600070205080204" pitchFamily="34" charset="-128"/>
              </a:rPr>
              <a:t>r</a:t>
            </a:r>
            <a:r>
              <a:rPr lang="en-US" altLang="en-US" baseline="-25000">
                <a:ea typeface="ＭＳ Ｐゴシック" panose="020B0600070205080204" pitchFamily="34" charset="-128"/>
              </a:rPr>
              <a:t>1 </a:t>
            </a:r>
            <a:r>
              <a:rPr lang="en-US" altLang="en-US">
                <a:ea typeface="ＭＳ Ｐゴシック" panose="020B0600070205080204" pitchFamily="34" charset="-128"/>
              </a:rPr>
              <a:t>of type 1, </a:t>
            </a:r>
            <a:r>
              <a:rPr lang="en-US" altLang="en-US" i="1">
                <a:ea typeface="ＭＳ Ｐゴシック" panose="020B0600070205080204" pitchFamily="34" charset="-128"/>
              </a:rPr>
              <a:t>r</a:t>
            </a:r>
            <a:r>
              <a:rPr lang="en-US" altLang="en-US" baseline="-25000">
                <a:ea typeface="ＭＳ Ｐゴシック" panose="020B0600070205080204" pitchFamily="34" charset="-128"/>
              </a:rPr>
              <a:t>2</a:t>
            </a:r>
            <a:r>
              <a:rPr lang="en-US" altLang="en-US">
                <a:ea typeface="ＭＳ Ｐゴシック" panose="020B0600070205080204" pitchFamily="34" charset="-128"/>
              </a:rPr>
              <a:t> of type 2, …, and </a:t>
            </a:r>
            <a:r>
              <a:rPr lang="en-US" altLang="en-US" i="1">
                <a:ea typeface="ＭＳ Ｐゴシック" panose="020B0600070205080204" pitchFamily="34" charset="-128"/>
              </a:rPr>
              <a:t>r</a:t>
            </a:r>
            <a:r>
              <a:rPr lang="en-US" altLang="en-US" i="1" baseline="-25000">
                <a:ea typeface="ＭＳ Ｐゴシック" panose="020B0600070205080204" pitchFamily="34" charset="-128"/>
              </a:rPr>
              <a:t>m</a:t>
            </a:r>
            <a:r>
              <a:rPr lang="en-US" altLang="en-US">
                <a:ea typeface="ＭＳ Ｐゴシック" panose="020B0600070205080204" pitchFamily="34" charset="-128"/>
              </a:rPr>
              <a:t> of type </a:t>
            </a:r>
            <a:r>
              <a:rPr lang="en-US" altLang="en-US" i="1">
                <a:ea typeface="ＭＳ Ｐゴシック" panose="020B0600070205080204" pitchFamily="34" charset="-128"/>
              </a:rPr>
              <a:t>m</a:t>
            </a:r>
            <a:r>
              <a:rPr lang="en-US" altLang="en-US">
                <a:ea typeface="ＭＳ Ｐゴシック" panose="020B0600070205080204" pitchFamily="34" charset="-128"/>
              </a:rPr>
              <a:t>, where </a:t>
            </a:r>
            <a:r>
              <a:rPr lang="en-US" altLang="en-US" i="1">
                <a:ea typeface="ＭＳ Ｐゴシック" panose="020B0600070205080204" pitchFamily="34" charset="-128"/>
              </a:rPr>
              <a:t>r</a:t>
            </a:r>
            <a:r>
              <a:rPr lang="en-US" altLang="en-US" baseline="-25000">
                <a:ea typeface="ＭＳ Ｐゴシック" panose="020B0600070205080204" pitchFamily="34" charset="-128"/>
              </a:rPr>
              <a:t>1</a:t>
            </a:r>
            <a:r>
              <a:rPr lang="en-US" altLang="en-US">
                <a:ea typeface="ＭＳ Ｐゴシック" panose="020B0600070205080204" pitchFamily="34" charset="-128"/>
              </a:rPr>
              <a:t>+</a:t>
            </a:r>
            <a:r>
              <a:rPr lang="en-US" altLang="en-US" i="1">
                <a:ea typeface="ＭＳ Ｐゴシック" panose="020B0600070205080204" pitchFamily="34" charset="-128"/>
              </a:rPr>
              <a:t>r</a:t>
            </a:r>
            <a:r>
              <a:rPr lang="en-US" altLang="en-US" baseline="-25000">
                <a:ea typeface="ＭＳ Ｐゴシック" panose="020B0600070205080204" pitchFamily="34" charset="-128"/>
              </a:rPr>
              <a:t>2</a:t>
            </a:r>
            <a:r>
              <a:rPr lang="en-US" altLang="en-US">
                <a:ea typeface="ＭＳ Ｐゴシック" panose="020B0600070205080204" pitchFamily="34" charset="-128"/>
              </a:rPr>
              <a:t>+…+</a:t>
            </a:r>
            <a:r>
              <a:rPr lang="en-US" altLang="en-US" i="1">
                <a:ea typeface="ＭＳ Ｐゴシック" panose="020B0600070205080204" pitchFamily="34" charset="-128"/>
              </a:rPr>
              <a:t>r</a:t>
            </a:r>
            <a:r>
              <a:rPr lang="en-US" altLang="en-US" i="1" baseline="-25000">
                <a:ea typeface="ＭＳ Ｐゴシック" panose="020B0600070205080204" pitchFamily="34" charset="-128"/>
              </a:rPr>
              <a:t>m</a:t>
            </a:r>
            <a:r>
              <a:rPr lang="en-US" altLang="en-US">
                <a:ea typeface="ＭＳ Ｐゴシック" panose="020B0600070205080204" pitchFamily="34" charset="-128"/>
              </a:rPr>
              <a:t>= </a:t>
            </a:r>
            <a:r>
              <a:rPr lang="en-US" altLang="en-US" i="1">
                <a:ea typeface="ＭＳ Ｐゴシック" panose="020B0600070205080204" pitchFamily="34" charset="-128"/>
              </a:rPr>
              <a:t>n</a:t>
            </a:r>
            <a:r>
              <a:rPr lang="en-US" altLang="en-US">
                <a:ea typeface="ＭＳ Ｐゴシック" panose="020B0600070205080204" pitchFamily="34" charset="-128"/>
              </a:rPr>
              <a:t>, then the number of arrangements of these </a:t>
            </a:r>
            <a:r>
              <a:rPr lang="en-US" altLang="en-US" i="1">
                <a:ea typeface="ＭＳ Ｐゴシック" panose="020B0600070205080204" pitchFamily="34" charset="-128"/>
              </a:rPr>
              <a:t>n</a:t>
            </a:r>
            <a:r>
              <a:rPr lang="en-US" altLang="en-US">
                <a:ea typeface="ＭＳ Ｐゴシック" panose="020B0600070205080204" pitchFamily="34" charset="-128"/>
              </a:rPr>
              <a:t> objects denoted </a:t>
            </a:r>
            <a:r>
              <a:rPr lang="en-US" altLang="en-US" i="1">
                <a:ea typeface="ＭＳ Ｐゴシック" panose="020B0600070205080204" pitchFamily="34" charset="-128"/>
              </a:rPr>
              <a:t>P</a:t>
            </a:r>
            <a:r>
              <a:rPr lang="en-US" altLang="en-US">
                <a:ea typeface="ＭＳ Ｐゴシック" panose="020B0600070205080204" pitchFamily="34" charset="-128"/>
              </a:rPr>
              <a:t>(</a:t>
            </a:r>
            <a:r>
              <a:rPr lang="en-US" altLang="en-US" i="1">
                <a:ea typeface="ＭＳ Ｐゴシック" panose="020B0600070205080204" pitchFamily="34" charset="-128"/>
              </a:rPr>
              <a:t>n</a:t>
            </a:r>
            <a:r>
              <a:rPr lang="en-US" altLang="en-US">
                <a:ea typeface="ＭＳ Ｐゴシック" panose="020B0600070205080204" pitchFamily="34" charset="-128"/>
              </a:rPr>
              <a:t>; </a:t>
            </a:r>
            <a:r>
              <a:rPr lang="en-US" altLang="en-US" i="1">
                <a:ea typeface="ＭＳ Ｐゴシック" panose="020B0600070205080204" pitchFamily="34" charset="-128"/>
              </a:rPr>
              <a:t>r</a:t>
            </a:r>
            <a:r>
              <a:rPr lang="en-US" altLang="en-US" baseline="-25000">
                <a:ea typeface="ＭＳ Ｐゴシック" panose="020B0600070205080204" pitchFamily="34" charset="-128"/>
              </a:rPr>
              <a:t>1</a:t>
            </a:r>
            <a:r>
              <a:rPr lang="en-US" altLang="en-US">
                <a:ea typeface="ＭＳ Ｐゴシック" panose="020B0600070205080204" pitchFamily="34" charset="-128"/>
              </a:rPr>
              <a:t>,</a:t>
            </a:r>
            <a:r>
              <a:rPr lang="en-US" altLang="en-US" i="1">
                <a:ea typeface="ＭＳ Ｐゴシック" panose="020B0600070205080204" pitchFamily="34" charset="-128"/>
              </a:rPr>
              <a:t>r</a:t>
            </a:r>
            <a:r>
              <a:rPr lang="en-US" altLang="en-US" baseline="-25000">
                <a:ea typeface="ＭＳ Ｐゴシック" panose="020B0600070205080204" pitchFamily="34" charset="-128"/>
              </a:rPr>
              <a:t>2</a:t>
            </a:r>
            <a:r>
              <a:rPr lang="en-US" altLang="en-US">
                <a:ea typeface="ＭＳ Ｐゴシック" panose="020B0600070205080204" pitchFamily="34" charset="-128"/>
              </a:rPr>
              <a:t>,…,</a:t>
            </a:r>
            <a:r>
              <a:rPr lang="en-US" altLang="en-US" i="1">
                <a:ea typeface="ＭＳ Ｐゴシック" panose="020B0600070205080204" pitchFamily="34" charset="-128"/>
              </a:rPr>
              <a:t>r</a:t>
            </a:r>
            <a:r>
              <a:rPr lang="en-US" altLang="en-US" i="1" baseline="-25000">
                <a:ea typeface="ＭＳ Ｐゴシック" panose="020B0600070205080204" pitchFamily="34" charset="-128"/>
              </a:rPr>
              <a:t>m</a:t>
            </a:r>
            <a:r>
              <a:rPr lang="en-US" altLang="en-US">
                <a:ea typeface="ＭＳ Ｐゴシック" panose="020B0600070205080204" pitchFamily="34" charset="-128"/>
              </a:rPr>
              <a:t>) is:</a:t>
            </a:r>
          </a:p>
        </p:txBody>
      </p:sp>
      <p:graphicFrame>
        <p:nvGraphicFramePr>
          <p:cNvPr id="5211" name="Object 2">
            <a:extLst>
              <a:ext uri="{FF2B5EF4-FFF2-40B4-BE49-F238E27FC236}">
                <a16:creationId xmlns:a16="http://schemas.microsoft.com/office/drawing/2014/main" id="{A6AF9B75-3685-2146-ABB1-A37C3F79D77E}"/>
              </a:ext>
            </a:extLst>
          </p:cNvPr>
          <p:cNvGraphicFramePr>
            <a:graphicFrameLocks noGrp="1" noChangeAspect="1"/>
          </p:cNvGraphicFramePr>
          <p:nvPr>
            <p:ph sz="quarter" idx="2"/>
            <p:extLst>
              <p:ext uri="{D42A27DB-BD31-4B8C-83A1-F6EECF244321}">
                <p14:modId xmlns:p14="http://schemas.microsoft.com/office/powerpoint/2010/main" val="2988505969"/>
              </p:ext>
            </p:extLst>
          </p:nvPr>
        </p:nvGraphicFramePr>
        <p:xfrm>
          <a:off x="3540125" y="3951288"/>
          <a:ext cx="5111750" cy="803275"/>
        </p:xfrm>
        <a:graphic>
          <a:graphicData uri="http://schemas.openxmlformats.org/presentationml/2006/ole">
            <mc:AlternateContent xmlns:mc="http://schemas.openxmlformats.org/markup-compatibility/2006">
              <mc:Choice xmlns:v="urn:schemas-microsoft-com:vml" Requires="v">
                <p:oleObj spid="_x0000_s25671" name="Equation" r:id="rId3" imgW="4851360" imgH="761760" progId="Equation.DSMT4">
                  <p:embed/>
                </p:oleObj>
              </mc:Choice>
              <mc:Fallback>
                <p:oleObj name="Equation" r:id="rId3" imgW="4851360" imgH="761760" progId="Equation.DSMT4">
                  <p:embed/>
                  <p:pic>
                    <p:nvPicPr>
                      <p:cNvPr id="5211" name="Object 2">
                        <a:extLst>
                          <a:ext uri="{FF2B5EF4-FFF2-40B4-BE49-F238E27FC236}">
                            <a16:creationId xmlns:a16="http://schemas.microsoft.com/office/drawing/2014/main" id="{A6AF9B75-3685-2146-ABB1-A37C3F79D77E}"/>
                          </a:ext>
                        </a:extLst>
                      </p:cNvPr>
                      <p:cNvPicPr>
                        <a:picLocks noChangeAspect="1" noChangeArrowheads="1"/>
                      </p:cNvPicPr>
                      <p:nvPr/>
                    </p:nvPicPr>
                    <p:blipFill>
                      <a:blip r:embed="rId4"/>
                      <a:srcRect/>
                      <a:stretch>
                        <a:fillRect/>
                      </a:stretch>
                    </p:blipFill>
                    <p:spPr bwMode="auto">
                      <a:xfrm>
                        <a:off x="3540125" y="3951288"/>
                        <a:ext cx="5111750"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439" name="Text Box 53">
            <a:extLst>
              <a:ext uri="{FF2B5EF4-FFF2-40B4-BE49-F238E27FC236}">
                <a16:creationId xmlns:a16="http://schemas.microsoft.com/office/drawing/2014/main" id="{C6690422-A4A2-5E43-9F2A-4B1FBE317F13}"/>
              </a:ext>
            </a:extLst>
          </p:cNvPr>
          <p:cNvSpPr txBox="1">
            <a:spLocks noChangeArrowheads="1"/>
          </p:cNvSpPr>
          <p:nvPr/>
        </p:nvSpPr>
        <p:spPr bwMode="auto">
          <a:xfrm>
            <a:off x="7527925" y="31607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aphicFrame>
        <p:nvGraphicFramePr>
          <p:cNvPr id="5213" name="Object 3">
            <a:extLst>
              <a:ext uri="{FF2B5EF4-FFF2-40B4-BE49-F238E27FC236}">
                <a16:creationId xmlns:a16="http://schemas.microsoft.com/office/drawing/2014/main" id="{F8C8C89C-F09D-DB45-9125-8E90B00AE947}"/>
              </a:ext>
            </a:extLst>
          </p:cNvPr>
          <p:cNvGraphicFramePr>
            <a:graphicFrameLocks noGrp="1" noChangeAspect="1"/>
          </p:cNvGraphicFramePr>
          <p:nvPr>
            <p:ph sz="quarter" idx="3"/>
            <p:extLst>
              <p:ext uri="{D42A27DB-BD31-4B8C-83A1-F6EECF244321}">
                <p14:modId xmlns:p14="http://schemas.microsoft.com/office/powerpoint/2010/main" val="2780691418"/>
              </p:ext>
            </p:extLst>
          </p:nvPr>
        </p:nvGraphicFramePr>
        <p:xfrm>
          <a:off x="5237163" y="4986338"/>
          <a:ext cx="1260475" cy="768350"/>
        </p:xfrm>
        <a:graphic>
          <a:graphicData uri="http://schemas.openxmlformats.org/presentationml/2006/ole">
            <mc:AlternateContent xmlns:mc="http://schemas.openxmlformats.org/markup-compatibility/2006">
              <mc:Choice xmlns:v="urn:schemas-microsoft-com:vml" Requires="v">
                <p:oleObj spid="_x0000_s25672" name="Equation" r:id="rId5" imgW="1104840" imgH="672840" progId="Equation.DSMT4">
                  <p:embed/>
                </p:oleObj>
              </mc:Choice>
              <mc:Fallback>
                <p:oleObj name="Equation" r:id="rId5" imgW="1104840" imgH="672840" progId="Equation.DSMT4">
                  <p:embed/>
                  <p:pic>
                    <p:nvPicPr>
                      <p:cNvPr id="5213" name="Object 3">
                        <a:extLst>
                          <a:ext uri="{FF2B5EF4-FFF2-40B4-BE49-F238E27FC236}">
                            <a16:creationId xmlns:a16="http://schemas.microsoft.com/office/drawing/2014/main" id="{F8C8C89C-F09D-DB45-9125-8E90B00AE947}"/>
                          </a:ext>
                        </a:extLst>
                      </p:cNvPr>
                      <p:cNvPicPr>
                        <a:picLocks noChangeAspect="1" noChangeArrowheads="1"/>
                      </p:cNvPicPr>
                      <p:nvPr/>
                    </p:nvPicPr>
                    <p:blipFill>
                      <a:blip r:embed="rId6"/>
                      <a:srcRect/>
                      <a:stretch>
                        <a:fillRect/>
                      </a:stretch>
                    </p:blipFill>
                    <p:spPr bwMode="auto">
                      <a:xfrm>
                        <a:off x="5237163" y="4986338"/>
                        <a:ext cx="1260475"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1941243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213"/>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5211"/>
                                        </p:tgtEl>
                                        <p:attrNameLst>
                                          <p:attrName>style.visibility</p:attrName>
                                        </p:attrNameLst>
                                      </p:cBhvr>
                                      <p:to>
                                        <p:strVal val="visible"/>
                                      </p:to>
                                    </p:set>
                                    <p:animEffect transition="in" filter="wipe(down)">
                                      <p:cBhvr>
                                        <p:cTn id="9" dur="500"/>
                                        <p:tgtEl>
                                          <p:spTgt spid="5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413E420F-2F06-1C4D-AB94-B1E369A7F834}"/>
              </a:ext>
            </a:extLst>
          </p:cNvPr>
          <p:cNvSpPr>
            <a:spLocks noGrp="1" noChangeArrowheads="1"/>
          </p:cNvSpPr>
          <p:nvPr>
            <p:ph type="title"/>
          </p:nvPr>
        </p:nvSpPr>
        <p:spPr>
          <a:xfrm>
            <a:off x="2209800" y="304800"/>
            <a:ext cx="7772400" cy="1143000"/>
          </a:xfrm>
        </p:spPr>
        <p:txBody>
          <a:bodyPr/>
          <a:lstStyle/>
          <a:p>
            <a:pPr eaLnBrk="1" hangingPunct="1"/>
            <a:r>
              <a:rPr lang="en-US" altLang="en-US" sz="3600">
                <a:ea typeface="ＭＳ Ｐゴシック" panose="020B0600070205080204" pitchFamily="34" charset="-128"/>
              </a:rPr>
              <a:t>Example/Proof</a:t>
            </a:r>
          </a:p>
        </p:txBody>
      </p:sp>
      <p:sp>
        <p:nvSpPr>
          <p:cNvPr id="19461" name="Rectangle 3">
            <a:extLst>
              <a:ext uri="{FF2B5EF4-FFF2-40B4-BE49-F238E27FC236}">
                <a16:creationId xmlns:a16="http://schemas.microsoft.com/office/drawing/2014/main" id="{C62D9DA0-8810-B74C-BA74-E12297C20BCD}"/>
              </a:ext>
            </a:extLst>
          </p:cNvPr>
          <p:cNvSpPr>
            <a:spLocks noGrp="1" noChangeArrowheads="1"/>
          </p:cNvSpPr>
          <p:nvPr>
            <p:ph type="body" sz="half" idx="1"/>
          </p:nvPr>
        </p:nvSpPr>
        <p:spPr>
          <a:xfrm>
            <a:off x="2209800" y="1676400"/>
            <a:ext cx="7848600" cy="1295400"/>
          </a:xfrm>
        </p:spPr>
        <p:txBody>
          <a:bodyPr/>
          <a:lstStyle/>
          <a:p>
            <a:pPr algn="ctr" eaLnBrk="1" hangingPunct="1"/>
            <a:r>
              <a:rPr lang="en-US" altLang="en-US">
                <a:ea typeface="ＭＳ Ｐゴシック" panose="020B0600070205080204" pitchFamily="34" charset="-128"/>
              </a:rPr>
              <a:t>How many ways are there to arrange the six letters:	B-A-N-A-N-A ?</a:t>
            </a:r>
          </a:p>
        </p:txBody>
      </p:sp>
      <p:sp>
        <p:nvSpPr>
          <p:cNvPr id="38916" name="Text Box 4">
            <a:extLst>
              <a:ext uri="{FF2B5EF4-FFF2-40B4-BE49-F238E27FC236}">
                <a16:creationId xmlns:a16="http://schemas.microsoft.com/office/drawing/2014/main" id="{3AE73818-1BF7-A249-BD01-F81392FE3315}"/>
              </a:ext>
            </a:extLst>
          </p:cNvPr>
          <p:cNvSpPr txBox="1">
            <a:spLocks noChangeArrowheads="1"/>
          </p:cNvSpPr>
          <p:nvPr/>
        </p:nvSpPr>
        <p:spPr bwMode="auto">
          <a:xfrm>
            <a:off x="2514600" y="2590801"/>
            <a:ext cx="3263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Times New Roman" panose="02020603050405020304" pitchFamily="18" charset="0"/>
              </a:rPr>
              <a:t>Six places:</a:t>
            </a:r>
            <a:r>
              <a:rPr lang="en-US" altLang="en-US" sz="2000">
                <a:latin typeface="Times New Roman" panose="02020603050405020304" pitchFamily="18" charset="0"/>
              </a:rPr>
              <a:t>  </a:t>
            </a:r>
            <a:r>
              <a:rPr lang="en-US" altLang="en-US" sz="2800">
                <a:latin typeface="Times New Roman" panose="02020603050405020304" pitchFamily="18" charset="0"/>
              </a:rPr>
              <a:t>_  _  _  _  _  _</a:t>
            </a:r>
          </a:p>
        </p:txBody>
      </p:sp>
      <p:grpSp>
        <p:nvGrpSpPr>
          <p:cNvPr id="2" name="Group 26">
            <a:extLst>
              <a:ext uri="{FF2B5EF4-FFF2-40B4-BE49-F238E27FC236}">
                <a16:creationId xmlns:a16="http://schemas.microsoft.com/office/drawing/2014/main" id="{A43AB4B6-05D4-CD40-903B-DF46E47F666D}"/>
              </a:ext>
            </a:extLst>
          </p:cNvPr>
          <p:cNvGrpSpPr>
            <a:grpSpLocks/>
          </p:cNvGrpSpPr>
          <p:nvPr/>
        </p:nvGrpSpPr>
        <p:grpSpPr bwMode="auto">
          <a:xfrm>
            <a:off x="2743201" y="3200400"/>
            <a:ext cx="6721475" cy="736600"/>
            <a:chOff x="768" y="1950"/>
            <a:chExt cx="4234" cy="464"/>
          </a:xfrm>
        </p:grpSpPr>
        <p:grpSp>
          <p:nvGrpSpPr>
            <p:cNvPr id="19474" name="Group 12">
              <a:extLst>
                <a:ext uri="{FF2B5EF4-FFF2-40B4-BE49-F238E27FC236}">
                  <a16:creationId xmlns:a16="http://schemas.microsoft.com/office/drawing/2014/main" id="{7039CFE1-7E6B-7842-BD3E-B56190B2E8D1}"/>
                </a:ext>
              </a:extLst>
            </p:cNvPr>
            <p:cNvGrpSpPr>
              <a:grpSpLocks/>
            </p:cNvGrpSpPr>
            <p:nvPr/>
          </p:nvGrpSpPr>
          <p:grpSpPr bwMode="auto">
            <a:xfrm>
              <a:off x="768" y="1950"/>
              <a:ext cx="1768" cy="464"/>
              <a:chOff x="768" y="1920"/>
              <a:chExt cx="1768" cy="464"/>
            </a:xfrm>
          </p:grpSpPr>
          <p:graphicFrame>
            <p:nvGraphicFramePr>
              <p:cNvPr id="19477" name="Object 4">
                <a:extLst>
                  <a:ext uri="{FF2B5EF4-FFF2-40B4-BE49-F238E27FC236}">
                    <a16:creationId xmlns:a16="http://schemas.microsoft.com/office/drawing/2014/main" id="{1232E2F1-B05B-9B4D-9B40-FC64F2D4D4BC}"/>
                  </a:ext>
                </a:extLst>
              </p:cNvPr>
              <p:cNvGraphicFramePr>
                <a:graphicFrameLocks noChangeAspect="1"/>
              </p:cNvGraphicFramePr>
              <p:nvPr/>
            </p:nvGraphicFramePr>
            <p:xfrm>
              <a:off x="768" y="1920"/>
              <a:ext cx="264" cy="464"/>
            </p:xfrm>
            <a:graphic>
              <a:graphicData uri="http://schemas.openxmlformats.org/presentationml/2006/ole">
                <mc:AlternateContent xmlns:mc="http://schemas.openxmlformats.org/markup-compatibility/2006">
                  <mc:Choice xmlns:v="urn:schemas-microsoft-com:vml" Requires="v">
                    <p:oleObj spid="_x0000_s26727" name="Equation" r:id="rId3" imgW="9652000" imgH="16967200" progId="Equation.DSMT4">
                      <p:embed/>
                    </p:oleObj>
                  </mc:Choice>
                  <mc:Fallback>
                    <p:oleObj name="Equation" r:id="rId3" imgW="9652000" imgH="16967200" progId="Equation.DSMT4">
                      <p:embed/>
                      <p:pic>
                        <p:nvPicPr>
                          <p:cNvPr id="19477" name="Object 4">
                            <a:extLst>
                              <a:ext uri="{FF2B5EF4-FFF2-40B4-BE49-F238E27FC236}">
                                <a16:creationId xmlns:a16="http://schemas.microsoft.com/office/drawing/2014/main" id="{1232E2F1-B05B-9B4D-9B40-FC64F2D4D4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 y="1920"/>
                            <a:ext cx="264" cy="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478" name="Text Box 11">
                <a:extLst>
                  <a:ext uri="{FF2B5EF4-FFF2-40B4-BE49-F238E27FC236}">
                    <a16:creationId xmlns:a16="http://schemas.microsoft.com/office/drawing/2014/main" id="{4E41C38F-4860-5845-B2E0-FFA7E6BB459C}"/>
                  </a:ext>
                </a:extLst>
              </p:cNvPr>
              <p:cNvSpPr txBox="1">
                <a:spLocks noChangeArrowheads="1"/>
              </p:cNvSpPr>
              <p:nvPr/>
            </p:nvSpPr>
            <p:spPr bwMode="auto">
              <a:xfrm>
                <a:off x="1200" y="2033"/>
                <a:ext cx="13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Times New Roman" panose="02020603050405020304" pitchFamily="18" charset="0"/>
                  </a:rPr>
                  <a:t>Places to put the A</a:t>
                </a:r>
                <a:r>
                  <a:rPr lang="ja-JP" altLang="en-US" sz="1800">
                    <a:latin typeface="Times New Roman" panose="02020603050405020304" pitchFamily="18" charset="0"/>
                  </a:rPr>
                  <a:t>’</a:t>
                </a:r>
                <a:r>
                  <a:rPr lang="en-US" altLang="ja-JP" sz="1800">
                    <a:latin typeface="Times New Roman" panose="02020603050405020304" pitchFamily="18" charset="0"/>
                  </a:rPr>
                  <a:t>s</a:t>
                </a:r>
                <a:endParaRPr lang="en-US" altLang="en-US" sz="1800">
                  <a:latin typeface="Times New Roman" panose="02020603050405020304" pitchFamily="18" charset="0"/>
                </a:endParaRPr>
              </a:p>
            </p:txBody>
          </p:sp>
        </p:grpSp>
        <p:sp>
          <p:nvSpPr>
            <p:cNvPr id="19475" name="Rectangle 13">
              <a:extLst>
                <a:ext uri="{FF2B5EF4-FFF2-40B4-BE49-F238E27FC236}">
                  <a16:creationId xmlns:a16="http://schemas.microsoft.com/office/drawing/2014/main" id="{D56C5C2F-0FBF-EA43-8696-32B6B3BEAE0C}"/>
                </a:ext>
              </a:extLst>
            </p:cNvPr>
            <p:cNvSpPr>
              <a:spLocks noChangeArrowheads="1"/>
            </p:cNvSpPr>
            <p:nvPr/>
          </p:nvSpPr>
          <p:spPr bwMode="auto">
            <a:xfrm>
              <a:off x="3504" y="1969"/>
              <a:ext cx="14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800" u="sng">
                  <a:latin typeface="Times New Roman" panose="02020603050405020304" pitchFamily="18" charset="0"/>
                </a:rPr>
                <a:t>A</a:t>
              </a:r>
              <a:r>
                <a:rPr lang="en-US" altLang="en-US" sz="2800">
                  <a:latin typeface="Times New Roman" panose="02020603050405020304" pitchFamily="18" charset="0"/>
                </a:rPr>
                <a:t>  _  _  </a:t>
              </a:r>
              <a:r>
                <a:rPr lang="en-US" altLang="en-US" sz="2800" u="sng">
                  <a:latin typeface="Times New Roman" panose="02020603050405020304" pitchFamily="18" charset="0"/>
                </a:rPr>
                <a:t>A</a:t>
              </a:r>
              <a:r>
                <a:rPr lang="en-US" altLang="en-US" sz="2800">
                  <a:latin typeface="Times New Roman" panose="02020603050405020304" pitchFamily="18" charset="0"/>
                </a:rPr>
                <a:t>  _  </a:t>
              </a:r>
              <a:r>
                <a:rPr lang="en-US" altLang="en-US" sz="2800" u="sng">
                  <a:latin typeface="Times New Roman" panose="02020603050405020304" pitchFamily="18" charset="0"/>
                </a:rPr>
                <a:t>A</a:t>
              </a:r>
            </a:p>
          </p:txBody>
        </p:sp>
        <p:sp>
          <p:nvSpPr>
            <p:cNvPr id="19476" name="Line 16">
              <a:extLst>
                <a:ext uri="{FF2B5EF4-FFF2-40B4-BE49-F238E27FC236}">
                  <a16:creationId xmlns:a16="http://schemas.microsoft.com/office/drawing/2014/main" id="{96163C07-F933-434C-8FB3-C93C0F6221A7}"/>
                </a:ext>
              </a:extLst>
            </p:cNvPr>
            <p:cNvSpPr>
              <a:spLocks noChangeShapeType="1"/>
            </p:cNvSpPr>
            <p:nvPr/>
          </p:nvSpPr>
          <p:spPr bwMode="auto">
            <a:xfrm>
              <a:off x="2640" y="2160"/>
              <a:ext cx="72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4" name="Group 27">
            <a:extLst>
              <a:ext uri="{FF2B5EF4-FFF2-40B4-BE49-F238E27FC236}">
                <a16:creationId xmlns:a16="http://schemas.microsoft.com/office/drawing/2014/main" id="{3BED2BF0-C039-9143-8277-3A0159A918DC}"/>
              </a:ext>
            </a:extLst>
          </p:cNvPr>
          <p:cNvGrpSpPr>
            <a:grpSpLocks/>
          </p:cNvGrpSpPr>
          <p:nvPr/>
        </p:nvGrpSpPr>
        <p:grpSpPr bwMode="auto">
          <a:xfrm>
            <a:off x="2590801" y="4114800"/>
            <a:ext cx="7032625" cy="736600"/>
            <a:chOff x="672" y="2400"/>
            <a:chExt cx="4430" cy="464"/>
          </a:xfrm>
        </p:grpSpPr>
        <p:graphicFrame>
          <p:nvGraphicFramePr>
            <p:cNvPr id="19470" name="Object 3">
              <a:extLst>
                <a:ext uri="{FF2B5EF4-FFF2-40B4-BE49-F238E27FC236}">
                  <a16:creationId xmlns:a16="http://schemas.microsoft.com/office/drawing/2014/main" id="{93669685-53D1-2347-9519-0103706B1454}"/>
                </a:ext>
              </a:extLst>
            </p:cNvPr>
            <p:cNvGraphicFramePr>
              <a:graphicFrameLocks noChangeAspect="1"/>
            </p:cNvGraphicFramePr>
            <p:nvPr/>
          </p:nvGraphicFramePr>
          <p:xfrm>
            <a:off x="672" y="2400"/>
            <a:ext cx="472" cy="464"/>
          </p:xfrm>
          <a:graphic>
            <a:graphicData uri="http://schemas.openxmlformats.org/presentationml/2006/ole">
              <mc:AlternateContent xmlns:mc="http://schemas.openxmlformats.org/markup-compatibility/2006">
                <mc:Choice xmlns:v="urn:schemas-microsoft-com:vml" Requires="v">
                  <p:oleObj spid="_x0000_s26728" name="Equation" r:id="rId5" imgW="17259300" imgH="16967200" progId="Equation.DSMT4">
                    <p:embed/>
                  </p:oleObj>
                </mc:Choice>
                <mc:Fallback>
                  <p:oleObj name="Equation" r:id="rId5" imgW="17259300" imgH="16967200" progId="Equation.DSMT4">
                    <p:embed/>
                    <p:pic>
                      <p:nvPicPr>
                        <p:cNvPr id="19470" name="Object 3">
                          <a:extLst>
                            <a:ext uri="{FF2B5EF4-FFF2-40B4-BE49-F238E27FC236}">
                              <a16:creationId xmlns:a16="http://schemas.microsoft.com/office/drawing/2014/main" id="{93669685-53D1-2347-9519-0103706B14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2" y="2400"/>
                          <a:ext cx="472" cy="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471" name="Text Box 15">
              <a:extLst>
                <a:ext uri="{FF2B5EF4-FFF2-40B4-BE49-F238E27FC236}">
                  <a16:creationId xmlns:a16="http://schemas.microsoft.com/office/drawing/2014/main" id="{35519D4D-6397-1249-9C21-FF71DD42B7EC}"/>
                </a:ext>
              </a:extLst>
            </p:cNvPr>
            <p:cNvSpPr txBox="1">
              <a:spLocks noChangeArrowheads="1"/>
            </p:cNvSpPr>
            <p:nvPr/>
          </p:nvSpPr>
          <p:spPr bwMode="auto">
            <a:xfrm>
              <a:off x="1200" y="2497"/>
              <a:ext cx="13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Times New Roman" panose="02020603050405020304" pitchFamily="18" charset="0"/>
                </a:rPr>
                <a:t>Places to put the N</a:t>
              </a:r>
              <a:r>
                <a:rPr lang="ja-JP" altLang="en-US" sz="1800">
                  <a:latin typeface="Times New Roman" panose="02020603050405020304" pitchFamily="18" charset="0"/>
                </a:rPr>
                <a:t>’</a:t>
              </a:r>
              <a:r>
                <a:rPr lang="en-US" altLang="ja-JP" sz="1800">
                  <a:latin typeface="Times New Roman" panose="02020603050405020304" pitchFamily="18" charset="0"/>
                </a:rPr>
                <a:t>s</a:t>
              </a:r>
              <a:endParaRPr lang="en-US" altLang="en-US" sz="1800">
                <a:latin typeface="Times New Roman" panose="02020603050405020304" pitchFamily="18" charset="0"/>
              </a:endParaRPr>
            </a:p>
          </p:txBody>
        </p:sp>
        <p:sp>
          <p:nvSpPr>
            <p:cNvPr id="19472" name="Line 18">
              <a:extLst>
                <a:ext uri="{FF2B5EF4-FFF2-40B4-BE49-F238E27FC236}">
                  <a16:creationId xmlns:a16="http://schemas.microsoft.com/office/drawing/2014/main" id="{9B145CEF-7786-A14B-ACD2-E952ECB52FD9}"/>
                </a:ext>
              </a:extLst>
            </p:cNvPr>
            <p:cNvSpPr>
              <a:spLocks noChangeShapeType="1"/>
            </p:cNvSpPr>
            <p:nvPr/>
          </p:nvSpPr>
          <p:spPr bwMode="auto">
            <a:xfrm>
              <a:off x="2640" y="2592"/>
              <a:ext cx="72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3" name="Rectangle 20">
              <a:extLst>
                <a:ext uri="{FF2B5EF4-FFF2-40B4-BE49-F238E27FC236}">
                  <a16:creationId xmlns:a16="http://schemas.microsoft.com/office/drawing/2014/main" id="{872B4BE0-805A-7F44-9599-271FB6573D3B}"/>
                </a:ext>
              </a:extLst>
            </p:cNvPr>
            <p:cNvSpPr>
              <a:spLocks noChangeArrowheads="1"/>
            </p:cNvSpPr>
            <p:nvPr/>
          </p:nvSpPr>
          <p:spPr bwMode="auto">
            <a:xfrm>
              <a:off x="3504" y="2401"/>
              <a:ext cx="15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800" u="sng">
                  <a:latin typeface="Times New Roman" panose="02020603050405020304" pitchFamily="18" charset="0"/>
                </a:rPr>
                <a:t>A</a:t>
              </a:r>
              <a:r>
                <a:rPr lang="en-US" altLang="en-US" sz="2800">
                  <a:latin typeface="Times New Roman" panose="02020603050405020304" pitchFamily="18" charset="0"/>
                </a:rPr>
                <a:t>  _  </a:t>
              </a:r>
              <a:r>
                <a:rPr lang="en-US" altLang="en-US" sz="2800" u="sng">
                  <a:latin typeface="Times New Roman" panose="02020603050405020304" pitchFamily="18" charset="0"/>
                </a:rPr>
                <a:t>N</a:t>
              </a:r>
              <a:r>
                <a:rPr lang="en-US" altLang="en-US" sz="2800">
                  <a:latin typeface="Times New Roman" panose="02020603050405020304" pitchFamily="18" charset="0"/>
                </a:rPr>
                <a:t>  </a:t>
              </a:r>
              <a:r>
                <a:rPr lang="en-US" altLang="en-US" sz="2800" u="sng">
                  <a:latin typeface="Times New Roman" panose="02020603050405020304" pitchFamily="18" charset="0"/>
                </a:rPr>
                <a:t>A</a:t>
              </a:r>
              <a:r>
                <a:rPr lang="en-US" altLang="en-US" sz="2800">
                  <a:latin typeface="Times New Roman" panose="02020603050405020304" pitchFamily="18" charset="0"/>
                </a:rPr>
                <a:t>  </a:t>
              </a:r>
              <a:r>
                <a:rPr lang="en-US" altLang="en-US" sz="2800" u="sng">
                  <a:latin typeface="Times New Roman" panose="02020603050405020304" pitchFamily="18" charset="0"/>
                </a:rPr>
                <a:t>N</a:t>
              </a:r>
              <a:r>
                <a:rPr lang="en-US" altLang="en-US" sz="2800">
                  <a:latin typeface="Times New Roman" panose="02020603050405020304" pitchFamily="18" charset="0"/>
                </a:rPr>
                <a:t>  </a:t>
              </a:r>
              <a:r>
                <a:rPr lang="en-US" altLang="en-US" sz="2800" u="sng">
                  <a:latin typeface="Times New Roman" panose="02020603050405020304" pitchFamily="18" charset="0"/>
                </a:rPr>
                <a:t>A</a:t>
              </a:r>
            </a:p>
          </p:txBody>
        </p:sp>
      </p:grpSp>
      <p:grpSp>
        <p:nvGrpSpPr>
          <p:cNvPr id="5" name="Group 28">
            <a:extLst>
              <a:ext uri="{FF2B5EF4-FFF2-40B4-BE49-F238E27FC236}">
                <a16:creationId xmlns:a16="http://schemas.microsoft.com/office/drawing/2014/main" id="{A6EDE23D-F6C0-3B48-AA98-D23936AB122F}"/>
              </a:ext>
            </a:extLst>
          </p:cNvPr>
          <p:cNvGrpSpPr>
            <a:grpSpLocks/>
          </p:cNvGrpSpPr>
          <p:nvPr/>
        </p:nvGrpSpPr>
        <p:grpSpPr bwMode="auto">
          <a:xfrm>
            <a:off x="2438401" y="4953001"/>
            <a:ext cx="7396163" cy="811213"/>
            <a:chOff x="576" y="2833"/>
            <a:chExt cx="4659" cy="511"/>
          </a:xfrm>
        </p:grpSpPr>
        <p:graphicFrame>
          <p:nvGraphicFramePr>
            <p:cNvPr id="19466" name="Object 2">
              <a:extLst>
                <a:ext uri="{FF2B5EF4-FFF2-40B4-BE49-F238E27FC236}">
                  <a16:creationId xmlns:a16="http://schemas.microsoft.com/office/drawing/2014/main" id="{D9F3BEC5-645C-0943-A5CA-C3B1EC2EA173}"/>
                </a:ext>
              </a:extLst>
            </p:cNvPr>
            <p:cNvGraphicFramePr>
              <a:graphicFrameLocks noChangeAspect="1"/>
            </p:cNvGraphicFramePr>
            <p:nvPr/>
          </p:nvGraphicFramePr>
          <p:xfrm>
            <a:off x="576" y="2880"/>
            <a:ext cx="696" cy="464"/>
          </p:xfrm>
          <a:graphic>
            <a:graphicData uri="http://schemas.openxmlformats.org/presentationml/2006/ole">
              <mc:AlternateContent xmlns:mc="http://schemas.openxmlformats.org/markup-compatibility/2006">
                <mc:Choice xmlns:v="urn:schemas-microsoft-com:vml" Requires="v">
                  <p:oleObj spid="_x0000_s26729" name="Equation" r:id="rId7" imgW="25450800" imgH="16967200" progId="Equation.DSMT4">
                    <p:embed/>
                  </p:oleObj>
                </mc:Choice>
                <mc:Fallback>
                  <p:oleObj name="Equation" r:id="rId7" imgW="25450800" imgH="16967200" progId="Equation.DSMT4">
                    <p:embed/>
                    <p:pic>
                      <p:nvPicPr>
                        <p:cNvPr id="19466" name="Object 2">
                          <a:extLst>
                            <a:ext uri="{FF2B5EF4-FFF2-40B4-BE49-F238E27FC236}">
                              <a16:creationId xmlns:a16="http://schemas.microsoft.com/office/drawing/2014/main" id="{D9F3BEC5-645C-0943-A5CA-C3B1EC2EA1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6" y="2880"/>
                          <a:ext cx="696" cy="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467" name="Line 19">
              <a:extLst>
                <a:ext uri="{FF2B5EF4-FFF2-40B4-BE49-F238E27FC236}">
                  <a16:creationId xmlns:a16="http://schemas.microsoft.com/office/drawing/2014/main" id="{3774FD54-D3C1-C447-9E3D-72D3F6E5EED0}"/>
                </a:ext>
              </a:extLst>
            </p:cNvPr>
            <p:cNvSpPr>
              <a:spLocks noChangeShapeType="1"/>
            </p:cNvSpPr>
            <p:nvPr/>
          </p:nvSpPr>
          <p:spPr bwMode="auto">
            <a:xfrm>
              <a:off x="2784" y="3072"/>
              <a:ext cx="72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8" name="Rectangle 21">
              <a:extLst>
                <a:ext uri="{FF2B5EF4-FFF2-40B4-BE49-F238E27FC236}">
                  <a16:creationId xmlns:a16="http://schemas.microsoft.com/office/drawing/2014/main" id="{0F5425E2-AB57-634E-897D-3225EC873014}"/>
                </a:ext>
              </a:extLst>
            </p:cNvPr>
            <p:cNvSpPr>
              <a:spLocks noChangeArrowheads="1"/>
            </p:cNvSpPr>
            <p:nvPr/>
          </p:nvSpPr>
          <p:spPr bwMode="auto">
            <a:xfrm>
              <a:off x="3600" y="2833"/>
              <a:ext cx="163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800" u="sng">
                  <a:latin typeface="Times New Roman" panose="02020603050405020304" pitchFamily="18" charset="0"/>
                </a:rPr>
                <a:t>A</a:t>
              </a:r>
              <a:r>
                <a:rPr lang="en-US" altLang="en-US" sz="2800">
                  <a:latin typeface="Times New Roman" panose="02020603050405020304" pitchFamily="18" charset="0"/>
                </a:rPr>
                <a:t>  </a:t>
              </a:r>
              <a:r>
                <a:rPr lang="en-US" altLang="en-US" sz="2800" u="sng">
                  <a:latin typeface="Times New Roman" panose="02020603050405020304" pitchFamily="18" charset="0"/>
                </a:rPr>
                <a:t>B</a:t>
              </a:r>
              <a:r>
                <a:rPr lang="en-US" altLang="en-US" sz="2800">
                  <a:latin typeface="Times New Roman" panose="02020603050405020304" pitchFamily="18" charset="0"/>
                </a:rPr>
                <a:t>  </a:t>
              </a:r>
              <a:r>
                <a:rPr lang="en-US" altLang="en-US" sz="2800" u="sng">
                  <a:latin typeface="Times New Roman" panose="02020603050405020304" pitchFamily="18" charset="0"/>
                </a:rPr>
                <a:t>N</a:t>
              </a:r>
              <a:r>
                <a:rPr lang="en-US" altLang="en-US" sz="2800">
                  <a:latin typeface="Times New Roman" panose="02020603050405020304" pitchFamily="18" charset="0"/>
                </a:rPr>
                <a:t>  </a:t>
              </a:r>
              <a:r>
                <a:rPr lang="en-US" altLang="en-US" sz="2800" u="sng">
                  <a:latin typeface="Times New Roman" panose="02020603050405020304" pitchFamily="18" charset="0"/>
                </a:rPr>
                <a:t>A</a:t>
              </a:r>
              <a:r>
                <a:rPr lang="en-US" altLang="en-US" sz="2800">
                  <a:latin typeface="Times New Roman" panose="02020603050405020304" pitchFamily="18" charset="0"/>
                </a:rPr>
                <a:t>  </a:t>
              </a:r>
              <a:r>
                <a:rPr lang="en-US" altLang="en-US" sz="2800" u="sng">
                  <a:latin typeface="Times New Roman" panose="02020603050405020304" pitchFamily="18" charset="0"/>
                </a:rPr>
                <a:t>N</a:t>
              </a:r>
              <a:r>
                <a:rPr lang="en-US" altLang="en-US" sz="2800">
                  <a:latin typeface="Times New Roman" panose="02020603050405020304" pitchFamily="18" charset="0"/>
                </a:rPr>
                <a:t>  </a:t>
              </a:r>
              <a:r>
                <a:rPr lang="en-US" altLang="en-US" sz="2800" u="sng">
                  <a:latin typeface="Times New Roman" panose="02020603050405020304" pitchFamily="18" charset="0"/>
                </a:rPr>
                <a:t>A</a:t>
              </a:r>
            </a:p>
          </p:txBody>
        </p:sp>
        <p:sp>
          <p:nvSpPr>
            <p:cNvPr id="19469" name="Text Box 22">
              <a:extLst>
                <a:ext uri="{FF2B5EF4-FFF2-40B4-BE49-F238E27FC236}">
                  <a16:creationId xmlns:a16="http://schemas.microsoft.com/office/drawing/2014/main" id="{177AF71E-992E-FE4E-A049-E45557DFE13A}"/>
                </a:ext>
              </a:extLst>
            </p:cNvPr>
            <p:cNvSpPr txBox="1">
              <a:spLocks noChangeArrowheads="1"/>
            </p:cNvSpPr>
            <p:nvPr/>
          </p:nvSpPr>
          <p:spPr bwMode="auto">
            <a:xfrm>
              <a:off x="1296" y="2977"/>
              <a:ext cx="1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Times New Roman" panose="02020603050405020304" pitchFamily="18" charset="0"/>
                </a:rPr>
                <a:t>Places to put the B</a:t>
              </a:r>
            </a:p>
          </p:txBody>
        </p:sp>
      </p:grpSp>
    </p:spTree>
    <p:extLst>
      <p:ext uri="{BB962C8B-B14F-4D97-AF65-F5344CB8AC3E}">
        <p14:creationId xmlns:p14="http://schemas.microsoft.com/office/powerpoint/2010/main" val="3582923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wipe(down)">
                                      <p:cBhvr>
                                        <p:cTn id="7" dur="500"/>
                                        <p:tgtEl>
                                          <p:spTgt spid="389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ACFAC94B-D87C-2746-AD23-C7BC05092720}"/>
              </a:ext>
            </a:extLst>
          </p:cNvPr>
          <p:cNvSpPr>
            <a:spLocks noGrp="1" noChangeArrowheads="1"/>
          </p:cNvSpPr>
          <p:nvPr>
            <p:ph type="title"/>
          </p:nvPr>
        </p:nvSpPr>
        <p:spPr/>
        <p:txBody>
          <a:bodyPr/>
          <a:lstStyle/>
          <a:p>
            <a:pPr eaLnBrk="1" hangingPunct="1"/>
            <a:r>
              <a:rPr lang="en-US" altLang="en-US" sz="3600">
                <a:ea typeface="ＭＳ Ｐゴシック" panose="020B0600070205080204" pitchFamily="34" charset="-128"/>
              </a:rPr>
              <a:t>Example/Proof cont</a:t>
            </a:r>
            <a:r>
              <a:rPr lang="ja-JP" altLang="en-US" sz="3600">
                <a:ea typeface="ＭＳ Ｐゴシック" panose="020B0600070205080204" pitchFamily="34" charset="-128"/>
              </a:rPr>
              <a:t>’</a:t>
            </a:r>
            <a:r>
              <a:rPr lang="en-US" altLang="ja-JP" sz="3600">
                <a:ea typeface="ＭＳ Ｐゴシック" panose="020B0600070205080204" pitchFamily="34" charset="-128"/>
              </a:rPr>
              <a:t>d</a:t>
            </a:r>
            <a:endParaRPr lang="en-US" altLang="en-US" sz="3600">
              <a:ea typeface="ＭＳ Ｐゴシック" panose="020B0600070205080204" pitchFamily="34" charset="-128"/>
            </a:endParaRPr>
          </a:p>
        </p:txBody>
      </p:sp>
      <p:graphicFrame>
        <p:nvGraphicFramePr>
          <p:cNvPr id="20485" name="Object 2">
            <a:extLst>
              <a:ext uri="{FF2B5EF4-FFF2-40B4-BE49-F238E27FC236}">
                <a16:creationId xmlns:a16="http://schemas.microsoft.com/office/drawing/2014/main" id="{FB801438-87ED-D741-8B64-634295720341}"/>
              </a:ext>
            </a:extLst>
          </p:cNvPr>
          <p:cNvGraphicFramePr>
            <a:graphicFrameLocks noChangeAspect="1"/>
          </p:cNvGraphicFramePr>
          <p:nvPr/>
        </p:nvGraphicFramePr>
        <p:xfrm>
          <a:off x="3111500" y="1981200"/>
          <a:ext cx="6388100" cy="749300"/>
        </p:xfrm>
        <a:graphic>
          <a:graphicData uri="http://schemas.openxmlformats.org/presentationml/2006/ole">
            <mc:AlternateContent xmlns:mc="http://schemas.openxmlformats.org/markup-compatibility/2006">
              <mc:Choice xmlns:v="urn:schemas-microsoft-com:vml" Requires="v">
                <p:oleObj spid="_x0000_s27717" name="Equation" r:id="rId3" imgW="147167600" imgH="17259300" progId="Equation.DSMT4">
                  <p:embed/>
                </p:oleObj>
              </mc:Choice>
              <mc:Fallback>
                <p:oleObj name="Equation" r:id="rId3" imgW="147167600" imgH="17259300" progId="Equation.DSMT4">
                  <p:embed/>
                  <p:pic>
                    <p:nvPicPr>
                      <p:cNvPr id="20485" name="Object 2">
                        <a:extLst>
                          <a:ext uri="{FF2B5EF4-FFF2-40B4-BE49-F238E27FC236}">
                            <a16:creationId xmlns:a16="http://schemas.microsoft.com/office/drawing/2014/main" id="{FB801438-87ED-D741-8B64-6342957203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500" y="1981200"/>
                        <a:ext cx="638810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0486" name="Text Box 6">
            <a:extLst>
              <a:ext uri="{FF2B5EF4-FFF2-40B4-BE49-F238E27FC236}">
                <a16:creationId xmlns:a16="http://schemas.microsoft.com/office/drawing/2014/main" id="{2D951085-78AC-AD46-85F4-9EE32E04378B}"/>
              </a:ext>
            </a:extLst>
          </p:cNvPr>
          <p:cNvSpPr txBox="1">
            <a:spLocks noChangeArrowheads="1"/>
          </p:cNvSpPr>
          <p:nvPr/>
        </p:nvSpPr>
        <p:spPr bwMode="auto">
          <a:xfrm>
            <a:off x="2003425" y="2171701"/>
            <a:ext cx="8524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Times New Roman" panose="02020603050405020304" pitchFamily="18" charset="0"/>
              </a:rPr>
              <a:t>Total =</a:t>
            </a:r>
          </a:p>
        </p:txBody>
      </p:sp>
      <p:graphicFrame>
        <p:nvGraphicFramePr>
          <p:cNvPr id="20487" name="Object 3">
            <a:extLst>
              <a:ext uri="{FF2B5EF4-FFF2-40B4-BE49-F238E27FC236}">
                <a16:creationId xmlns:a16="http://schemas.microsoft.com/office/drawing/2014/main" id="{8758A0E8-8E06-FC46-B0FA-CDA7A568870F}"/>
              </a:ext>
            </a:extLst>
          </p:cNvPr>
          <p:cNvGraphicFramePr>
            <a:graphicFrameLocks noChangeAspect="1"/>
          </p:cNvGraphicFramePr>
          <p:nvPr/>
        </p:nvGraphicFramePr>
        <p:xfrm>
          <a:off x="2590800" y="3429000"/>
          <a:ext cx="3670300" cy="660400"/>
        </p:xfrm>
        <a:graphic>
          <a:graphicData uri="http://schemas.openxmlformats.org/presentationml/2006/ole">
            <mc:AlternateContent xmlns:mc="http://schemas.openxmlformats.org/markup-compatibility/2006">
              <mc:Choice xmlns:v="urn:schemas-microsoft-com:vml" Requires="v">
                <p:oleObj spid="_x0000_s27718" name="Equation" r:id="rId5" imgW="84556600" imgH="15214600" progId="Equation.DSMT4">
                  <p:embed/>
                </p:oleObj>
              </mc:Choice>
              <mc:Fallback>
                <p:oleObj name="Equation" r:id="rId5" imgW="84556600" imgH="15214600" progId="Equation.DSMT4">
                  <p:embed/>
                  <p:pic>
                    <p:nvPicPr>
                      <p:cNvPr id="20487" name="Object 3">
                        <a:extLst>
                          <a:ext uri="{FF2B5EF4-FFF2-40B4-BE49-F238E27FC236}">
                            <a16:creationId xmlns:a16="http://schemas.microsoft.com/office/drawing/2014/main" id="{8758A0E8-8E06-FC46-B0FA-CDA7A56887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3429000"/>
                        <a:ext cx="367030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0488" name="Text Box 11">
            <a:extLst>
              <a:ext uri="{FF2B5EF4-FFF2-40B4-BE49-F238E27FC236}">
                <a16:creationId xmlns:a16="http://schemas.microsoft.com/office/drawing/2014/main" id="{CBB629DE-5B3C-1845-8C45-1EFCD0EEF91F}"/>
              </a:ext>
            </a:extLst>
          </p:cNvPr>
          <p:cNvSpPr txBox="1">
            <a:spLocks noChangeArrowheads="1"/>
          </p:cNvSpPr>
          <p:nvPr/>
        </p:nvSpPr>
        <p:spPr bwMode="auto">
          <a:xfrm>
            <a:off x="6324600" y="3581401"/>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Times New Roman" panose="02020603050405020304" pitchFamily="18" charset="0"/>
              </a:rPr>
              <a:t>Combinations</a:t>
            </a:r>
          </a:p>
        </p:txBody>
      </p:sp>
      <p:grpSp>
        <p:nvGrpSpPr>
          <p:cNvPr id="2" name="Group 25">
            <a:extLst>
              <a:ext uri="{FF2B5EF4-FFF2-40B4-BE49-F238E27FC236}">
                <a16:creationId xmlns:a16="http://schemas.microsoft.com/office/drawing/2014/main" id="{2493B2CD-D18E-8B42-B9DE-942BDC217EFB}"/>
              </a:ext>
            </a:extLst>
          </p:cNvPr>
          <p:cNvGrpSpPr>
            <a:grpSpLocks/>
          </p:cNvGrpSpPr>
          <p:nvPr/>
        </p:nvGrpSpPr>
        <p:grpSpPr bwMode="auto">
          <a:xfrm>
            <a:off x="3505200" y="3429000"/>
            <a:ext cx="1066800" cy="609600"/>
            <a:chOff x="1248" y="2160"/>
            <a:chExt cx="672" cy="384"/>
          </a:xfrm>
        </p:grpSpPr>
        <p:sp>
          <p:nvSpPr>
            <p:cNvPr id="20506" name="Line 12">
              <a:extLst>
                <a:ext uri="{FF2B5EF4-FFF2-40B4-BE49-F238E27FC236}">
                  <a16:creationId xmlns:a16="http://schemas.microsoft.com/office/drawing/2014/main" id="{C3663E89-6E22-AF44-9B97-E8C4C39912FF}"/>
                </a:ext>
              </a:extLst>
            </p:cNvPr>
            <p:cNvSpPr>
              <a:spLocks noChangeShapeType="1"/>
            </p:cNvSpPr>
            <p:nvPr/>
          </p:nvSpPr>
          <p:spPr bwMode="auto">
            <a:xfrm flipV="1">
              <a:off x="1248" y="2400"/>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7" name="Line 14">
              <a:extLst>
                <a:ext uri="{FF2B5EF4-FFF2-40B4-BE49-F238E27FC236}">
                  <a16:creationId xmlns:a16="http://schemas.microsoft.com/office/drawing/2014/main" id="{3C357CF9-42EA-7548-91C7-293B8317F9B9}"/>
                </a:ext>
              </a:extLst>
            </p:cNvPr>
            <p:cNvSpPr>
              <a:spLocks noChangeShapeType="1"/>
            </p:cNvSpPr>
            <p:nvPr/>
          </p:nvSpPr>
          <p:spPr bwMode="auto">
            <a:xfrm flipV="1">
              <a:off x="1728" y="2400"/>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8" name="Line 15">
              <a:extLst>
                <a:ext uri="{FF2B5EF4-FFF2-40B4-BE49-F238E27FC236}">
                  <a16:creationId xmlns:a16="http://schemas.microsoft.com/office/drawing/2014/main" id="{623BA2FE-B29F-9744-9CCE-893FC97D49E9}"/>
                </a:ext>
              </a:extLst>
            </p:cNvPr>
            <p:cNvSpPr>
              <a:spLocks noChangeShapeType="1"/>
            </p:cNvSpPr>
            <p:nvPr/>
          </p:nvSpPr>
          <p:spPr bwMode="auto">
            <a:xfrm flipV="1">
              <a:off x="1536" y="2400"/>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9" name="Line 16">
              <a:extLst>
                <a:ext uri="{FF2B5EF4-FFF2-40B4-BE49-F238E27FC236}">
                  <a16:creationId xmlns:a16="http://schemas.microsoft.com/office/drawing/2014/main" id="{08E7D7A3-67E6-5B4C-9AFB-79E0D1D4E6D3}"/>
                </a:ext>
              </a:extLst>
            </p:cNvPr>
            <p:cNvSpPr>
              <a:spLocks noChangeShapeType="1"/>
            </p:cNvSpPr>
            <p:nvPr/>
          </p:nvSpPr>
          <p:spPr bwMode="auto">
            <a:xfrm flipV="1">
              <a:off x="1776" y="2160"/>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24">
            <a:extLst>
              <a:ext uri="{FF2B5EF4-FFF2-40B4-BE49-F238E27FC236}">
                <a16:creationId xmlns:a16="http://schemas.microsoft.com/office/drawing/2014/main" id="{B65211F9-C5EA-0244-9963-5223F42D0924}"/>
              </a:ext>
            </a:extLst>
          </p:cNvPr>
          <p:cNvGrpSpPr>
            <a:grpSpLocks/>
          </p:cNvGrpSpPr>
          <p:nvPr/>
        </p:nvGrpSpPr>
        <p:grpSpPr bwMode="auto">
          <a:xfrm>
            <a:off x="3733800" y="3429000"/>
            <a:ext cx="533400" cy="609600"/>
            <a:chOff x="1392" y="2160"/>
            <a:chExt cx="336" cy="384"/>
          </a:xfrm>
        </p:grpSpPr>
        <p:sp>
          <p:nvSpPr>
            <p:cNvPr id="20504" name="Line 13">
              <a:extLst>
                <a:ext uri="{FF2B5EF4-FFF2-40B4-BE49-F238E27FC236}">
                  <a16:creationId xmlns:a16="http://schemas.microsoft.com/office/drawing/2014/main" id="{BC4955B6-33D2-C845-956D-C1BB8E639DBB}"/>
                </a:ext>
              </a:extLst>
            </p:cNvPr>
            <p:cNvSpPr>
              <a:spLocks noChangeShapeType="1"/>
            </p:cNvSpPr>
            <p:nvPr/>
          </p:nvSpPr>
          <p:spPr bwMode="auto">
            <a:xfrm flipV="1">
              <a:off x="1392" y="2400"/>
              <a:ext cx="144" cy="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5" name="Line 17">
              <a:extLst>
                <a:ext uri="{FF2B5EF4-FFF2-40B4-BE49-F238E27FC236}">
                  <a16:creationId xmlns:a16="http://schemas.microsoft.com/office/drawing/2014/main" id="{132808BA-AC49-FB4B-8F43-E5103BFC2840}"/>
                </a:ext>
              </a:extLst>
            </p:cNvPr>
            <p:cNvSpPr>
              <a:spLocks noChangeShapeType="1"/>
            </p:cNvSpPr>
            <p:nvPr/>
          </p:nvSpPr>
          <p:spPr bwMode="auto">
            <a:xfrm flipV="1">
              <a:off x="1584" y="2160"/>
              <a:ext cx="144" cy="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 name="Group 26">
            <a:extLst>
              <a:ext uri="{FF2B5EF4-FFF2-40B4-BE49-F238E27FC236}">
                <a16:creationId xmlns:a16="http://schemas.microsoft.com/office/drawing/2014/main" id="{B0DDC24F-68E6-204B-AB40-9EFBC9B9DF8F}"/>
              </a:ext>
            </a:extLst>
          </p:cNvPr>
          <p:cNvGrpSpPr>
            <a:grpSpLocks/>
          </p:cNvGrpSpPr>
          <p:nvPr/>
        </p:nvGrpSpPr>
        <p:grpSpPr bwMode="auto">
          <a:xfrm>
            <a:off x="2895600" y="3429000"/>
            <a:ext cx="1066800" cy="609600"/>
            <a:chOff x="864" y="2160"/>
            <a:chExt cx="672" cy="384"/>
          </a:xfrm>
        </p:grpSpPr>
        <p:sp>
          <p:nvSpPr>
            <p:cNvPr id="20502" name="Line 18">
              <a:extLst>
                <a:ext uri="{FF2B5EF4-FFF2-40B4-BE49-F238E27FC236}">
                  <a16:creationId xmlns:a16="http://schemas.microsoft.com/office/drawing/2014/main" id="{D9C60C1C-F808-D34A-9F68-4DF2D21642F6}"/>
                </a:ext>
              </a:extLst>
            </p:cNvPr>
            <p:cNvSpPr>
              <a:spLocks noChangeShapeType="1"/>
            </p:cNvSpPr>
            <p:nvPr/>
          </p:nvSpPr>
          <p:spPr bwMode="auto">
            <a:xfrm flipV="1">
              <a:off x="1392" y="2160"/>
              <a:ext cx="144" cy="144"/>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3" name="Line 19">
              <a:extLst>
                <a:ext uri="{FF2B5EF4-FFF2-40B4-BE49-F238E27FC236}">
                  <a16:creationId xmlns:a16="http://schemas.microsoft.com/office/drawing/2014/main" id="{E24FBBB8-1C88-5F4F-BC88-298D58345495}"/>
                </a:ext>
              </a:extLst>
            </p:cNvPr>
            <p:cNvSpPr>
              <a:spLocks noChangeShapeType="1"/>
            </p:cNvSpPr>
            <p:nvPr/>
          </p:nvSpPr>
          <p:spPr bwMode="auto">
            <a:xfrm flipV="1">
              <a:off x="864" y="2400"/>
              <a:ext cx="144" cy="144"/>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 name="Group 27">
            <a:extLst>
              <a:ext uri="{FF2B5EF4-FFF2-40B4-BE49-F238E27FC236}">
                <a16:creationId xmlns:a16="http://schemas.microsoft.com/office/drawing/2014/main" id="{33A013FB-1AA9-A64D-8745-EA1ABB3DC7F9}"/>
              </a:ext>
            </a:extLst>
          </p:cNvPr>
          <p:cNvGrpSpPr>
            <a:grpSpLocks/>
          </p:cNvGrpSpPr>
          <p:nvPr/>
        </p:nvGrpSpPr>
        <p:grpSpPr bwMode="auto">
          <a:xfrm>
            <a:off x="3200400" y="3429000"/>
            <a:ext cx="533400" cy="609600"/>
            <a:chOff x="1056" y="2160"/>
            <a:chExt cx="336" cy="384"/>
          </a:xfrm>
        </p:grpSpPr>
        <p:sp>
          <p:nvSpPr>
            <p:cNvPr id="20500" name="Line 20">
              <a:extLst>
                <a:ext uri="{FF2B5EF4-FFF2-40B4-BE49-F238E27FC236}">
                  <a16:creationId xmlns:a16="http://schemas.microsoft.com/office/drawing/2014/main" id="{FA3931A6-48AB-0948-90E1-5FB8E7FD7BD5}"/>
                </a:ext>
              </a:extLst>
            </p:cNvPr>
            <p:cNvSpPr>
              <a:spLocks noChangeShapeType="1"/>
            </p:cNvSpPr>
            <p:nvPr/>
          </p:nvSpPr>
          <p:spPr bwMode="auto">
            <a:xfrm flipV="1">
              <a:off x="1056" y="2400"/>
              <a:ext cx="144" cy="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1" name="Line 21">
              <a:extLst>
                <a:ext uri="{FF2B5EF4-FFF2-40B4-BE49-F238E27FC236}">
                  <a16:creationId xmlns:a16="http://schemas.microsoft.com/office/drawing/2014/main" id="{722DE2A4-AD90-B945-97C2-16DCEB5C7FFE}"/>
                </a:ext>
              </a:extLst>
            </p:cNvPr>
            <p:cNvSpPr>
              <a:spLocks noChangeShapeType="1"/>
            </p:cNvSpPr>
            <p:nvPr/>
          </p:nvSpPr>
          <p:spPr bwMode="auto">
            <a:xfrm flipV="1">
              <a:off x="1248" y="2160"/>
              <a:ext cx="144" cy="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319" name="Text Box 23">
            <a:extLst>
              <a:ext uri="{FF2B5EF4-FFF2-40B4-BE49-F238E27FC236}">
                <a16:creationId xmlns:a16="http://schemas.microsoft.com/office/drawing/2014/main" id="{E0C0D9BB-BDE1-3B42-BD4B-9EA304F227A1}"/>
              </a:ext>
            </a:extLst>
          </p:cNvPr>
          <p:cNvSpPr txBox="1">
            <a:spLocks noChangeArrowheads="1"/>
          </p:cNvSpPr>
          <p:nvPr/>
        </p:nvSpPr>
        <p:spPr bwMode="auto">
          <a:xfrm>
            <a:off x="3352800" y="31242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800">
                <a:latin typeface="Times New Roman" panose="02020603050405020304" pitchFamily="18" charset="0"/>
              </a:rPr>
              <a:t>(2)</a:t>
            </a:r>
          </a:p>
        </p:txBody>
      </p:sp>
      <p:grpSp>
        <p:nvGrpSpPr>
          <p:cNvPr id="6" name="Group 32">
            <a:extLst>
              <a:ext uri="{FF2B5EF4-FFF2-40B4-BE49-F238E27FC236}">
                <a16:creationId xmlns:a16="http://schemas.microsoft.com/office/drawing/2014/main" id="{C6BBA634-F6A1-EB48-9294-200DA880D102}"/>
              </a:ext>
            </a:extLst>
          </p:cNvPr>
          <p:cNvGrpSpPr>
            <a:grpSpLocks/>
          </p:cNvGrpSpPr>
          <p:nvPr/>
        </p:nvGrpSpPr>
        <p:grpSpPr bwMode="auto">
          <a:xfrm>
            <a:off x="4572000" y="2057400"/>
            <a:ext cx="1981200" cy="609600"/>
            <a:chOff x="1920" y="1296"/>
            <a:chExt cx="1248" cy="384"/>
          </a:xfrm>
        </p:grpSpPr>
        <p:sp>
          <p:nvSpPr>
            <p:cNvPr id="20498" name="Line 28">
              <a:extLst>
                <a:ext uri="{FF2B5EF4-FFF2-40B4-BE49-F238E27FC236}">
                  <a16:creationId xmlns:a16="http://schemas.microsoft.com/office/drawing/2014/main" id="{5B24CE73-BBD3-B143-91D4-F94888215068}"/>
                </a:ext>
              </a:extLst>
            </p:cNvPr>
            <p:cNvSpPr>
              <a:spLocks noChangeShapeType="1"/>
            </p:cNvSpPr>
            <p:nvPr/>
          </p:nvSpPr>
          <p:spPr bwMode="auto">
            <a:xfrm flipV="1">
              <a:off x="1920" y="1536"/>
              <a:ext cx="38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9" name="Line 29">
              <a:extLst>
                <a:ext uri="{FF2B5EF4-FFF2-40B4-BE49-F238E27FC236}">
                  <a16:creationId xmlns:a16="http://schemas.microsoft.com/office/drawing/2014/main" id="{3175AE44-C63B-B240-9EB3-20B6C1A9F6EC}"/>
                </a:ext>
              </a:extLst>
            </p:cNvPr>
            <p:cNvSpPr>
              <a:spLocks noChangeShapeType="1"/>
            </p:cNvSpPr>
            <p:nvPr/>
          </p:nvSpPr>
          <p:spPr bwMode="auto">
            <a:xfrm flipV="1">
              <a:off x="2784" y="1296"/>
              <a:ext cx="38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 name="Group 33">
            <a:extLst>
              <a:ext uri="{FF2B5EF4-FFF2-40B4-BE49-F238E27FC236}">
                <a16:creationId xmlns:a16="http://schemas.microsoft.com/office/drawing/2014/main" id="{33C42F0B-6FDE-F445-A21F-60F9F7376FCC}"/>
              </a:ext>
            </a:extLst>
          </p:cNvPr>
          <p:cNvGrpSpPr>
            <a:grpSpLocks/>
          </p:cNvGrpSpPr>
          <p:nvPr/>
        </p:nvGrpSpPr>
        <p:grpSpPr bwMode="auto">
          <a:xfrm>
            <a:off x="5638800" y="2057400"/>
            <a:ext cx="2590800" cy="609600"/>
            <a:chOff x="2592" y="1296"/>
            <a:chExt cx="1632" cy="384"/>
          </a:xfrm>
        </p:grpSpPr>
        <p:sp>
          <p:nvSpPr>
            <p:cNvPr id="20496" name="Line 30">
              <a:extLst>
                <a:ext uri="{FF2B5EF4-FFF2-40B4-BE49-F238E27FC236}">
                  <a16:creationId xmlns:a16="http://schemas.microsoft.com/office/drawing/2014/main" id="{C1D4BF9D-2CE9-9047-A7C5-9F342EF0ACD6}"/>
                </a:ext>
              </a:extLst>
            </p:cNvPr>
            <p:cNvSpPr>
              <a:spLocks noChangeShapeType="1"/>
            </p:cNvSpPr>
            <p:nvPr/>
          </p:nvSpPr>
          <p:spPr bwMode="auto">
            <a:xfrm flipV="1">
              <a:off x="2592" y="1536"/>
              <a:ext cx="528"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7" name="Line 31">
              <a:extLst>
                <a:ext uri="{FF2B5EF4-FFF2-40B4-BE49-F238E27FC236}">
                  <a16:creationId xmlns:a16="http://schemas.microsoft.com/office/drawing/2014/main" id="{B72D37CE-7D7A-3E48-8B83-BD260A71D886}"/>
                </a:ext>
              </a:extLst>
            </p:cNvPr>
            <p:cNvSpPr>
              <a:spLocks noChangeShapeType="1"/>
            </p:cNvSpPr>
            <p:nvPr/>
          </p:nvSpPr>
          <p:spPr bwMode="auto">
            <a:xfrm flipV="1">
              <a:off x="3648" y="1296"/>
              <a:ext cx="576"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139808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55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89A39FE6-C7E5-7447-859A-653647EFE997}"/>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Alternate Proof</a:t>
            </a:r>
          </a:p>
        </p:txBody>
      </p:sp>
      <p:sp>
        <p:nvSpPr>
          <p:cNvPr id="21509" name="Rectangle 3">
            <a:extLst>
              <a:ext uri="{FF2B5EF4-FFF2-40B4-BE49-F238E27FC236}">
                <a16:creationId xmlns:a16="http://schemas.microsoft.com/office/drawing/2014/main" id="{00B4543B-E886-DC45-ABD1-97050FB92D0F}"/>
              </a:ext>
            </a:extLst>
          </p:cNvPr>
          <p:cNvSpPr>
            <a:spLocks noGrp="1" noChangeArrowheads="1"/>
          </p:cNvSpPr>
          <p:nvPr>
            <p:ph type="body" idx="1"/>
          </p:nvPr>
        </p:nvSpPr>
        <p:spPr>
          <a:xfrm>
            <a:off x="2057400" y="1981200"/>
            <a:ext cx="8001000" cy="3962400"/>
          </a:xfrm>
        </p:spPr>
        <p:txBody>
          <a:bodyPr>
            <a:normAutofit lnSpcReduction="10000"/>
          </a:bodyPr>
          <a:lstStyle/>
          <a:p>
            <a:pPr eaLnBrk="1" hangingPunct="1">
              <a:lnSpc>
                <a:spcPct val="80000"/>
              </a:lnSpc>
            </a:pPr>
            <a:r>
              <a:rPr lang="en-US" altLang="en-US">
                <a:ea typeface="ＭＳ Ｐゴシック" panose="020B0600070205080204" pitchFamily="34" charset="-128"/>
              </a:rPr>
              <a:t>Suppose we add subscripts to each of the </a:t>
            </a:r>
            <a:r>
              <a:rPr lang="en-US" altLang="en-US" i="1">
                <a:ea typeface="ＭＳ Ｐゴシック" panose="020B0600070205080204" pitchFamily="34" charset="-128"/>
              </a:rPr>
              <a:t>r</a:t>
            </a:r>
            <a:r>
              <a:rPr lang="en-US" altLang="en-US" i="1" baseline="-25000">
                <a:ea typeface="ＭＳ Ｐゴシック" panose="020B0600070205080204" pitchFamily="34" charset="-128"/>
              </a:rPr>
              <a:t>i</a:t>
            </a:r>
            <a:r>
              <a:rPr lang="en-US" altLang="en-US">
                <a:ea typeface="ＭＳ Ｐゴシック" panose="020B0600070205080204" pitchFamily="34" charset="-128"/>
              </a:rPr>
              <a:t> objects of type </a:t>
            </a:r>
            <a:r>
              <a:rPr lang="en-US" altLang="en-US" i="1">
                <a:ea typeface="ＭＳ Ｐゴシック" panose="020B0600070205080204" pitchFamily="34" charset="-128"/>
              </a:rPr>
              <a:t>i</a:t>
            </a:r>
            <a:r>
              <a:rPr lang="en-US" altLang="en-US">
                <a:ea typeface="ＭＳ Ｐゴシック" panose="020B0600070205080204" pitchFamily="34" charset="-128"/>
              </a:rPr>
              <a:t> to make each object distinct.</a:t>
            </a:r>
          </a:p>
          <a:p>
            <a:pPr eaLnBrk="1" hangingPunct="1">
              <a:lnSpc>
                <a:spcPct val="80000"/>
              </a:lnSpc>
            </a:pPr>
            <a:r>
              <a:rPr lang="en-US" altLang="en-US">
                <a:ea typeface="ＭＳ Ｐゴシック" panose="020B0600070205080204" pitchFamily="34" charset="-128"/>
              </a:rPr>
              <a:t>Then there are </a:t>
            </a:r>
            <a:r>
              <a:rPr lang="en-US" altLang="en-US" i="1">
                <a:ea typeface="ＭＳ Ｐゴシック" panose="020B0600070205080204" pitchFamily="34" charset="-128"/>
              </a:rPr>
              <a:t>n</a:t>
            </a:r>
            <a:r>
              <a:rPr lang="en-US" altLang="en-US">
                <a:ea typeface="ＭＳ Ｐゴシック" panose="020B0600070205080204" pitchFamily="34" charset="-128"/>
              </a:rPr>
              <a:t>! ways to arrange the </a:t>
            </a:r>
            <a:r>
              <a:rPr lang="en-US" altLang="en-US" i="1">
                <a:ea typeface="ＭＳ Ｐゴシック" panose="020B0600070205080204" pitchFamily="34" charset="-128"/>
              </a:rPr>
              <a:t>n</a:t>
            </a:r>
            <a:r>
              <a:rPr lang="en-US" altLang="en-US">
                <a:ea typeface="ＭＳ Ｐゴシック" panose="020B0600070205080204" pitchFamily="34" charset="-128"/>
              </a:rPr>
              <a:t> distinct objects.</a:t>
            </a:r>
          </a:p>
          <a:p>
            <a:pPr eaLnBrk="1" hangingPunct="1">
              <a:lnSpc>
                <a:spcPct val="80000"/>
              </a:lnSpc>
            </a:pPr>
            <a:r>
              <a:rPr lang="en-US" altLang="en-US">
                <a:ea typeface="ＭＳ Ｐゴシック" panose="020B0600070205080204" pitchFamily="34" charset="-128"/>
              </a:rPr>
              <a:t>We can account for each of these arrangements by switching the subscripts around in each type of object, as follows with the </a:t>
            </a:r>
            <a:r>
              <a:rPr lang="ja-JP" altLang="en-US">
                <a:ea typeface="ＭＳ Ｐゴシック" panose="020B0600070205080204" pitchFamily="34" charset="-128"/>
              </a:rPr>
              <a:t>“</a:t>
            </a:r>
            <a:r>
              <a:rPr lang="en-US" altLang="ja-JP">
                <a:ea typeface="ＭＳ Ｐゴシック" panose="020B0600070205080204" pitchFamily="34" charset="-128"/>
              </a:rPr>
              <a:t>banana example</a:t>
            </a:r>
            <a:r>
              <a:rPr lang="ja-JP" altLang="en-US">
                <a:ea typeface="ＭＳ Ｐゴシック" panose="020B0600070205080204" pitchFamily="34" charset="-128"/>
              </a:rPr>
              <a:t>”</a:t>
            </a:r>
            <a:r>
              <a:rPr lang="en-US" altLang="ja-JP">
                <a:ea typeface="ＭＳ Ｐゴシック" panose="020B0600070205080204" pitchFamily="34" charset="-128"/>
              </a:rPr>
              <a:t>.</a:t>
            </a:r>
          </a:p>
          <a:p>
            <a:pPr eaLnBrk="1" hangingPunct="1">
              <a:lnSpc>
                <a:spcPct val="80000"/>
              </a:lnSpc>
              <a:buFontTx/>
              <a:buNone/>
            </a:pPr>
            <a:endParaRPr lang="en-US" altLang="en-US">
              <a:ea typeface="ＭＳ Ｐゴシック" panose="020B0600070205080204" pitchFamily="34" charset="-128"/>
            </a:endParaRPr>
          </a:p>
          <a:p>
            <a:pPr eaLnBrk="1" hangingPunct="1">
              <a:lnSpc>
                <a:spcPct val="80000"/>
              </a:lnSpc>
              <a:buFontTx/>
              <a:buNone/>
            </a:pPr>
            <a:r>
              <a:rPr lang="en-US" altLang="en-US">
                <a:ea typeface="ＭＳ Ｐゴシック" panose="020B0600070205080204" pitchFamily="34" charset="-128"/>
              </a:rPr>
              <a:t>            </a:t>
            </a:r>
            <a:r>
              <a:rPr lang="en-US" altLang="en-US" i="1">
                <a:ea typeface="ＭＳ Ｐゴシック" panose="020B0600070205080204" pitchFamily="34" charset="-128"/>
              </a:rPr>
              <a:t>ba</a:t>
            </a:r>
            <a:r>
              <a:rPr lang="en-US" altLang="en-US" baseline="-25000">
                <a:ea typeface="ＭＳ Ｐゴシック" panose="020B0600070205080204" pitchFamily="34" charset="-128"/>
              </a:rPr>
              <a:t>1</a:t>
            </a:r>
            <a:r>
              <a:rPr lang="en-US" altLang="en-US" i="1">
                <a:ea typeface="ＭＳ Ｐゴシック" panose="020B0600070205080204" pitchFamily="34" charset="-128"/>
              </a:rPr>
              <a:t>a</a:t>
            </a:r>
            <a:r>
              <a:rPr lang="en-US" altLang="en-US" baseline="-25000">
                <a:ea typeface="ＭＳ Ｐゴシック" panose="020B0600070205080204" pitchFamily="34" charset="-128"/>
              </a:rPr>
              <a:t>2</a:t>
            </a:r>
            <a:r>
              <a:rPr lang="en-US" altLang="en-US" i="1">
                <a:ea typeface="ＭＳ Ｐゴシック" panose="020B0600070205080204" pitchFamily="34" charset="-128"/>
              </a:rPr>
              <a:t>nna</a:t>
            </a:r>
            <a:r>
              <a:rPr lang="en-US" altLang="en-US" baseline="-25000">
                <a:ea typeface="ＭＳ Ｐゴシック" panose="020B0600070205080204" pitchFamily="34" charset="-128"/>
              </a:rPr>
              <a:t>3          </a:t>
            </a:r>
            <a:r>
              <a:rPr lang="en-US" altLang="en-US" i="1">
                <a:ea typeface="ＭＳ Ｐゴシック" panose="020B0600070205080204" pitchFamily="34" charset="-128"/>
              </a:rPr>
              <a:t>ba</a:t>
            </a:r>
            <a:r>
              <a:rPr lang="en-US" altLang="en-US" baseline="-25000">
                <a:ea typeface="ＭＳ Ｐゴシック" panose="020B0600070205080204" pitchFamily="34" charset="-128"/>
              </a:rPr>
              <a:t>2</a:t>
            </a:r>
            <a:r>
              <a:rPr lang="en-US" altLang="en-US" i="1">
                <a:ea typeface="ＭＳ Ｐゴシック" panose="020B0600070205080204" pitchFamily="34" charset="-128"/>
              </a:rPr>
              <a:t>a</a:t>
            </a:r>
            <a:r>
              <a:rPr lang="en-US" altLang="en-US" baseline="-25000">
                <a:ea typeface="ＭＳ Ｐゴシック" panose="020B0600070205080204" pitchFamily="34" charset="-128"/>
              </a:rPr>
              <a:t>1</a:t>
            </a:r>
            <a:r>
              <a:rPr lang="en-US" altLang="en-US" i="1">
                <a:ea typeface="ＭＳ Ｐゴシック" panose="020B0600070205080204" pitchFamily="34" charset="-128"/>
              </a:rPr>
              <a:t>nna</a:t>
            </a:r>
            <a:r>
              <a:rPr lang="en-US" altLang="en-US" baseline="-25000">
                <a:ea typeface="ＭＳ Ｐゴシック" panose="020B0600070205080204" pitchFamily="34" charset="-128"/>
              </a:rPr>
              <a:t>3          </a:t>
            </a:r>
            <a:r>
              <a:rPr lang="en-US" altLang="en-US" i="1">
                <a:ea typeface="ＭＳ Ｐゴシック" panose="020B0600070205080204" pitchFamily="34" charset="-128"/>
              </a:rPr>
              <a:t>ba</a:t>
            </a:r>
            <a:r>
              <a:rPr lang="en-US" altLang="en-US" baseline="-25000">
                <a:ea typeface="ＭＳ Ｐゴシック" panose="020B0600070205080204" pitchFamily="34" charset="-128"/>
              </a:rPr>
              <a:t>3</a:t>
            </a:r>
            <a:r>
              <a:rPr lang="en-US" altLang="en-US" i="1">
                <a:ea typeface="ＭＳ Ｐゴシック" panose="020B0600070205080204" pitchFamily="34" charset="-128"/>
              </a:rPr>
              <a:t>a</a:t>
            </a:r>
            <a:r>
              <a:rPr lang="en-US" altLang="en-US" baseline="-25000">
                <a:ea typeface="ＭＳ Ｐゴシック" panose="020B0600070205080204" pitchFamily="34" charset="-128"/>
              </a:rPr>
              <a:t>1</a:t>
            </a:r>
            <a:r>
              <a:rPr lang="en-US" altLang="en-US" i="1">
                <a:ea typeface="ＭＳ Ｐゴシック" panose="020B0600070205080204" pitchFamily="34" charset="-128"/>
              </a:rPr>
              <a:t>nna</a:t>
            </a:r>
            <a:r>
              <a:rPr lang="en-US" altLang="en-US" baseline="-25000">
                <a:ea typeface="ＭＳ Ｐゴシック" panose="020B0600070205080204" pitchFamily="34" charset="-128"/>
              </a:rPr>
              <a:t>2</a:t>
            </a:r>
          </a:p>
          <a:p>
            <a:pPr eaLnBrk="1" hangingPunct="1">
              <a:lnSpc>
                <a:spcPct val="80000"/>
              </a:lnSpc>
              <a:buFontTx/>
              <a:buNone/>
            </a:pPr>
            <a:r>
              <a:rPr lang="en-US" altLang="en-US" i="1">
                <a:ea typeface="ＭＳ Ｐゴシック" panose="020B0600070205080204" pitchFamily="34" charset="-128"/>
              </a:rPr>
              <a:t>            ba</a:t>
            </a:r>
            <a:r>
              <a:rPr lang="en-US" altLang="en-US" baseline="-25000">
                <a:ea typeface="ＭＳ Ｐゴシック" panose="020B0600070205080204" pitchFamily="34" charset="-128"/>
              </a:rPr>
              <a:t>3</a:t>
            </a:r>
            <a:r>
              <a:rPr lang="en-US" altLang="en-US" i="1">
                <a:ea typeface="ＭＳ Ｐゴシック" panose="020B0600070205080204" pitchFamily="34" charset="-128"/>
              </a:rPr>
              <a:t>a</a:t>
            </a:r>
            <a:r>
              <a:rPr lang="en-US" altLang="en-US" baseline="-25000">
                <a:ea typeface="ＭＳ Ｐゴシック" panose="020B0600070205080204" pitchFamily="34" charset="-128"/>
              </a:rPr>
              <a:t>2</a:t>
            </a:r>
            <a:r>
              <a:rPr lang="en-US" altLang="en-US" i="1">
                <a:ea typeface="ＭＳ Ｐゴシック" panose="020B0600070205080204" pitchFamily="34" charset="-128"/>
              </a:rPr>
              <a:t>nna</a:t>
            </a:r>
            <a:r>
              <a:rPr lang="en-US" altLang="en-US" baseline="-25000">
                <a:ea typeface="ＭＳ Ｐゴシック" panose="020B0600070205080204" pitchFamily="34" charset="-128"/>
              </a:rPr>
              <a:t>1          </a:t>
            </a:r>
            <a:r>
              <a:rPr lang="en-US" altLang="en-US" i="1">
                <a:ea typeface="ＭＳ Ｐゴシック" panose="020B0600070205080204" pitchFamily="34" charset="-128"/>
              </a:rPr>
              <a:t>ba</a:t>
            </a:r>
            <a:r>
              <a:rPr lang="en-US" altLang="en-US" baseline="-25000">
                <a:ea typeface="ＭＳ Ｐゴシック" panose="020B0600070205080204" pitchFamily="34" charset="-128"/>
              </a:rPr>
              <a:t>1</a:t>
            </a:r>
            <a:r>
              <a:rPr lang="en-US" altLang="en-US" i="1">
                <a:ea typeface="ＭＳ Ｐゴシック" panose="020B0600070205080204" pitchFamily="34" charset="-128"/>
              </a:rPr>
              <a:t>a</a:t>
            </a:r>
            <a:r>
              <a:rPr lang="en-US" altLang="en-US" baseline="-25000">
                <a:ea typeface="ＭＳ Ｐゴシック" panose="020B0600070205080204" pitchFamily="34" charset="-128"/>
              </a:rPr>
              <a:t>3</a:t>
            </a:r>
            <a:r>
              <a:rPr lang="en-US" altLang="en-US" i="1">
                <a:ea typeface="ＭＳ Ｐゴシック" panose="020B0600070205080204" pitchFamily="34" charset="-128"/>
              </a:rPr>
              <a:t>nna</a:t>
            </a:r>
            <a:r>
              <a:rPr lang="en-US" altLang="en-US" baseline="-25000">
                <a:ea typeface="ＭＳ Ｐゴシック" panose="020B0600070205080204" pitchFamily="34" charset="-128"/>
              </a:rPr>
              <a:t>2          </a:t>
            </a:r>
            <a:r>
              <a:rPr lang="en-US" altLang="en-US" i="1">
                <a:ea typeface="ＭＳ Ｐゴシック" panose="020B0600070205080204" pitchFamily="34" charset="-128"/>
              </a:rPr>
              <a:t>ba</a:t>
            </a:r>
            <a:r>
              <a:rPr lang="en-US" altLang="en-US" baseline="-25000">
                <a:ea typeface="ＭＳ Ｐゴシック" panose="020B0600070205080204" pitchFamily="34" charset="-128"/>
              </a:rPr>
              <a:t>2</a:t>
            </a:r>
            <a:r>
              <a:rPr lang="en-US" altLang="en-US" i="1">
                <a:ea typeface="ＭＳ Ｐゴシック" panose="020B0600070205080204" pitchFamily="34" charset="-128"/>
              </a:rPr>
              <a:t>a</a:t>
            </a:r>
            <a:r>
              <a:rPr lang="en-US" altLang="en-US" baseline="-25000">
                <a:ea typeface="ＭＳ Ｐゴシック" panose="020B0600070205080204" pitchFamily="34" charset="-128"/>
              </a:rPr>
              <a:t>3</a:t>
            </a:r>
            <a:r>
              <a:rPr lang="en-US" altLang="en-US" i="1">
                <a:ea typeface="ＭＳ Ｐゴシック" panose="020B0600070205080204" pitchFamily="34" charset="-128"/>
              </a:rPr>
              <a:t>nna</a:t>
            </a:r>
            <a:r>
              <a:rPr lang="en-US" altLang="en-US" baseline="-25000">
                <a:ea typeface="ＭＳ Ｐゴシック" panose="020B0600070205080204" pitchFamily="34" charset="-128"/>
              </a:rPr>
              <a:t>1</a:t>
            </a:r>
          </a:p>
        </p:txBody>
      </p:sp>
    </p:spTree>
    <p:extLst>
      <p:ext uri="{BB962C8B-B14F-4D97-AF65-F5344CB8AC3E}">
        <p14:creationId xmlns:p14="http://schemas.microsoft.com/office/powerpoint/2010/main" val="3102278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E68FEE84-C055-4741-A00F-96430C276354}"/>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Alternate Proof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sp>
        <p:nvSpPr>
          <p:cNvPr id="22533" name="Rectangle 3">
            <a:extLst>
              <a:ext uri="{FF2B5EF4-FFF2-40B4-BE49-F238E27FC236}">
                <a16:creationId xmlns:a16="http://schemas.microsoft.com/office/drawing/2014/main" id="{72FC747F-A80C-1B41-A270-3E01587A5321}"/>
              </a:ext>
            </a:extLst>
          </p:cNvPr>
          <p:cNvSpPr>
            <a:spLocks noGrp="1" noChangeArrowheads="1"/>
          </p:cNvSpPr>
          <p:nvPr>
            <p:ph type="body" idx="1"/>
          </p:nvPr>
        </p:nvSpPr>
        <p:spPr/>
        <p:txBody>
          <a:bodyPr/>
          <a:lstStyle/>
          <a:p>
            <a:pPr eaLnBrk="1" hangingPunct="1">
              <a:lnSpc>
                <a:spcPct val="80000"/>
              </a:lnSpc>
              <a:buFontTx/>
              <a:buNone/>
            </a:pPr>
            <a:r>
              <a:rPr lang="en-US" altLang="en-US" sz="2400" i="1">
                <a:ea typeface="ＭＳ Ｐゴシック" panose="020B0600070205080204" pitchFamily="34" charset="-128"/>
              </a:rPr>
              <a:t>                  ba</a:t>
            </a:r>
            <a:r>
              <a:rPr lang="en-US" altLang="en-US" sz="2400" baseline="-25000">
                <a:ea typeface="ＭＳ Ｐゴシック" panose="020B0600070205080204" pitchFamily="34" charset="-128"/>
              </a:rPr>
              <a:t>1</a:t>
            </a:r>
            <a:r>
              <a:rPr lang="en-US" altLang="en-US" sz="2400" i="1">
                <a:ea typeface="ＭＳ Ｐゴシック" panose="020B0600070205080204" pitchFamily="34" charset="-128"/>
              </a:rPr>
              <a:t>a</a:t>
            </a:r>
            <a:r>
              <a:rPr lang="en-US" altLang="en-US" sz="2400" baseline="-25000">
                <a:ea typeface="ＭＳ Ｐゴシック" panose="020B0600070205080204" pitchFamily="34" charset="-128"/>
              </a:rPr>
              <a:t>2</a:t>
            </a:r>
            <a:r>
              <a:rPr lang="en-US" altLang="en-US" sz="2400" i="1">
                <a:ea typeface="ＭＳ Ｐゴシック" panose="020B0600070205080204" pitchFamily="34" charset="-128"/>
              </a:rPr>
              <a:t>nna</a:t>
            </a:r>
            <a:r>
              <a:rPr lang="en-US" altLang="en-US" sz="2400" baseline="-25000">
                <a:ea typeface="ＭＳ Ｐゴシック" panose="020B0600070205080204" pitchFamily="34" charset="-128"/>
              </a:rPr>
              <a:t>3          </a:t>
            </a:r>
            <a:r>
              <a:rPr lang="en-US" altLang="en-US" sz="2400" i="1">
                <a:ea typeface="ＭＳ Ｐゴシック" panose="020B0600070205080204" pitchFamily="34" charset="-128"/>
              </a:rPr>
              <a:t>ba</a:t>
            </a:r>
            <a:r>
              <a:rPr lang="en-US" altLang="en-US" sz="2400" baseline="-25000">
                <a:ea typeface="ＭＳ Ｐゴシック" panose="020B0600070205080204" pitchFamily="34" charset="-128"/>
              </a:rPr>
              <a:t>2</a:t>
            </a:r>
            <a:r>
              <a:rPr lang="en-US" altLang="en-US" sz="2400" i="1">
                <a:ea typeface="ＭＳ Ｐゴシック" panose="020B0600070205080204" pitchFamily="34" charset="-128"/>
              </a:rPr>
              <a:t>a</a:t>
            </a:r>
            <a:r>
              <a:rPr lang="en-US" altLang="en-US" sz="2400" baseline="-25000">
                <a:ea typeface="ＭＳ Ｐゴシック" panose="020B0600070205080204" pitchFamily="34" charset="-128"/>
              </a:rPr>
              <a:t>1</a:t>
            </a:r>
            <a:r>
              <a:rPr lang="en-US" altLang="en-US" sz="2400" i="1">
                <a:ea typeface="ＭＳ Ｐゴシック" panose="020B0600070205080204" pitchFamily="34" charset="-128"/>
              </a:rPr>
              <a:t>nna</a:t>
            </a:r>
            <a:r>
              <a:rPr lang="en-US" altLang="en-US" sz="2400" baseline="-25000">
                <a:ea typeface="ＭＳ Ｐゴシック" panose="020B0600070205080204" pitchFamily="34" charset="-128"/>
              </a:rPr>
              <a:t>3          </a:t>
            </a:r>
            <a:r>
              <a:rPr lang="en-US" altLang="en-US" sz="2400" i="1">
                <a:ea typeface="ＭＳ Ｐゴシック" panose="020B0600070205080204" pitchFamily="34" charset="-128"/>
              </a:rPr>
              <a:t>ba</a:t>
            </a:r>
            <a:r>
              <a:rPr lang="en-US" altLang="en-US" sz="2400" baseline="-25000">
                <a:ea typeface="ＭＳ Ｐゴシック" panose="020B0600070205080204" pitchFamily="34" charset="-128"/>
              </a:rPr>
              <a:t>3</a:t>
            </a:r>
            <a:r>
              <a:rPr lang="en-US" altLang="en-US" sz="2400" i="1">
                <a:ea typeface="ＭＳ Ｐゴシック" panose="020B0600070205080204" pitchFamily="34" charset="-128"/>
              </a:rPr>
              <a:t>a</a:t>
            </a:r>
            <a:r>
              <a:rPr lang="en-US" altLang="en-US" sz="2400" baseline="-25000">
                <a:ea typeface="ＭＳ Ｐゴシック" panose="020B0600070205080204" pitchFamily="34" charset="-128"/>
              </a:rPr>
              <a:t>1</a:t>
            </a:r>
            <a:r>
              <a:rPr lang="en-US" altLang="en-US" sz="2400" i="1">
                <a:ea typeface="ＭＳ Ｐゴシック" panose="020B0600070205080204" pitchFamily="34" charset="-128"/>
              </a:rPr>
              <a:t>nna</a:t>
            </a:r>
            <a:r>
              <a:rPr lang="en-US" altLang="en-US" sz="2400" baseline="-25000">
                <a:ea typeface="ＭＳ Ｐゴシック" panose="020B0600070205080204" pitchFamily="34" charset="-128"/>
              </a:rPr>
              <a:t>2</a:t>
            </a:r>
          </a:p>
          <a:p>
            <a:pPr eaLnBrk="1" hangingPunct="1">
              <a:lnSpc>
                <a:spcPct val="80000"/>
              </a:lnSpc>
              <a:buFontTx/>
              <a:buNone/>
            </a:pPr>
            <a:r>
              <a:rPr lang="en-US" altLang="en-US" sz="2400" i="1">
                <a:ea typeface="ＭＳ Ｐゴシック" panose="020B0600070205080204" pitchFamily="34" charset="-128"/>
              </a:rPr>
              <a:t>                  ba</a:t>
            </a:r>
            <a:r>
              <a:rPr lang="en-US" altLang="en-US" sz="2400" baseline="-25000">
                <a:ea typeface="ＭＳ Ｐゴシック" panose="020B0600070205080204" pitchFamily="34" charset="-128"/>
              </a:rPr>
              <a:t>3</a:t>
            </a:r>
            <a:r>
              <a:rPr lang="en-US" altLang="en-US" sz="2400" i="1">
                <a:ea typeface="ＭＳ Ｐゴシック" panose="020B0600070205080204" pitchFamily="34" charset="-128"/>
              </a:rPr>
              <a:t>a</a:t>
            </a:r>
            <a:r>
              <a:rPr lang="en-US" altLang="en-US" sz="2400" baseline="-25000">
                <a:ea typeface="ＭＳ Ｐゴシック" panose="020B0600070205080204" pitchFamily="34" charset="-128"/>
              </a:rPr>
              <a:t>2</a:t>
            </a:r>
            <a:r>
              <a:rPr lang="en-US" altLang="en-US" sz="2400" i="1">
                <a:ea typeface="ＭＳ Ｐゴシック" panose="020B0600070205080204" pitchFamily="34" charset="-128"/>
              </a:rPr>
              <a:t>nna</a:t>
            </a:r>
            <a:r>
              <a:rPr lang="en-US" altLang="en-US" sz="2400" baseline="-25000">
                <a:ea typeface="ＭＳ Ｐゴシック" panose="020B0600070205080204" pitchFamily="34" charset="-128"/>
              </a:rPr>
              <a:t>1          </a:t>
            </a:r>
            <a:r>
              <a:rPr lang="en-US" altLang="en-US" sz="2400" i="1">
                <a:ea typeface="ＭＳ Ｐゴシック" panose="020B0600070205080204" pitchFamily="34" charset="-128"/>
              </a:rPr>
              <a:t>ba</a:t>
            </a:r>
            <a:r>
              <a:rPr lang="en-US" altLang="en-US" sz="2400" baseline="-25000">
                <a:ea typeface="ＭＳ Ｐゴシック" panose="020B0600070205080204" pitchFamily="34" charset="-128"/>
              </a:rPr>
              <a:t>1</a:t>
            </a:r>
            <a:r>
              <a:rPr lang="en-US" altLang="en-US" sz="2400" i="1">
                <a:ea typeface="ＭＳ Ｐゴシック" panose="020B0600070205080204" pitchFamily="34" charset="-128"/>
              </a:rPr>
              <a:t>a</a:t>
            </a:r>
            <a:r>
              <a:rPr lang="en-US" altLang="en-US" sz="2400" baseline="-25000">
                <a:ea typeface="ＭＳ Ｐゴシック" panose="020B0600070205080204" pitchFamily="34" charset="-128"/>
              </a:rPr>
              <a:t>3</a:t>
            </a:r>
            <a:r>
              <a:rPr lang="en-US" altLang="en-US" sz="2400" i="1">
                <a:ea typeface="ＭＳ Ｐゴシック" panose="020B0600070205080204" pitchFamily="34" charset="-128"/>
              </a:rPr>
              <a:t>nna</a:t>
            </a:r>
            <a:r>
              <a:rPr lang="en-US" altLang="en-US" sz="2400" baseline="-25000">
                <a:ea typeface="ＭＳ Ｐゴシック" panose="020B0600070205080204" pitchFamily="34" charset="-128"/>
              </a:rPr>
              <a:t>2          </a:t>
            </a:r>
            <a:r>
              <a:rPr lang="en-US" altLang="en-US" sz="2400" i="1">
                <a:ea typeface="ＭＳ Ｐゴシック" panose="020B0600070205080204" pitchFamily="34" charset="-128"/>
              </a:rPr>
              <a:t>ba</a:t>
            </a:r>
            <a:r>
              <a:rPr lang="en-US" altLang="en-US" sz="2400" baseline="-25000">
                <a:ea typeface="ＭＳ Ｐゴシック" panose="020B0600070205080204" pitchFamily="34" charset="-128"/>
              </a:rPr>
              <a:t>2</a:t>
            </a:r>
            <a:r>
              <a:rPr lang="en-US" altLang="en-US" sz="2400" i="1">
                <a:ea typeface="ＭＳ Ｐゴシック" panose="020B0600070205080204" pitchFamily="34" charset="-128"/>
              </a:rPr>
              <a:t>a</a:t>
            </a:r>
            <a:r>
              <a:rPr lang="en-US" altLang="en-US" sz="2400" baseline="-25000">
                <a:ea typeface="ＭＳ Ｐゴシック" panose="020B0600070205080204" pitchFamily="34" charset="-128"/>
              </a:rPr>
              <a:t>3</a:t>
            </a:r>
            <a:r>
              <a:rPr lang="en-US" altLang="en-US" sz="2400" i="1">
                <a:ea typeface="ＭＳ Ｐゴシック" panose="020B0600070205080204" pitchFamily="34" charset="-128"/>
              </a:rPr>
              <a:t>nna</a:t>
            </a:r>
            <a:r>
              <a:rPr lang="en-US" altLang="en-US" sz="2400" baseline="-25000">
                <a:ea typeface="ＭＳ Ｐゴシック" panose="020B0600070205080204" pitchFamily="34" charset="-128"/>
              </a:rPr>
              <a:t>1</a:t>
            </a:r>
          </a:p>
          <a:p>
            <a:pPr eaLnBrk="1" hangingPunct="1">
              <a:lnSpc>
                <a:spcPct val="80000"/>
              </a:lnSpc>
              <a:buFontTx/>
              <a:buNone/>
            </a:pPr>
            <a:endParaRPr lang="en-US" altLang="en-US" sz="2400">
              <a:ea typeface="ＭＳ Ｐゴシック" panose="020B0600070205080204" pitchFamily="34" charset="-128"/>
            </a:endParaRPr>
          </a:p>
          <a:p>
            <a:pPr eaLnBrk="1" hangingPunct="1">
              <a:lnSpc>
                <a:spcPct val="80000"/>
              </a:lnSpc>
            </a:pPr>
            <a:r>
              <a:rPr lang="en-US" altLang="en-US" sz="2400">
                <a:ea typeface="ＭＳ Ｐゴシック" panose="020B0600070205080204" pitchFamily="34" charset="-128"/>
              </a:rPr>
              <a:t>In this example, there are 3! ways to rearrange the </a:t>
            </a:r>
            <a:r>
              <a:rPr lang="en-US" altLang="en-US" sz="2400" i="1">
                <a:ea typeface="ＭＳ Ｐゴシック" panose="020B0600070205080204" pitchFamily="34" charset="-128"/>
              </a:rPr>
              <a:t>a</a:t>
            </a:r>
            <a:r>
              <a:rPr lang="ja-JP" altLang="en-US" sz="2400" i="1">
                <a:ea typeface="ＭＳ Ｐゴシック" panose="020B0600070205080204" pitchFamily="34" charset="-128"/>
              </a:rPr>
              <a:t>’</a:t>
            </a:r>
            <a:r>
              <a:rPr lang="en-US" altLang="ja-JP" sz="2400">
                <a:ea typeface="ＭＳ Ｐゴシック" panose="020B0600070205080204" pitchFamily="34" charset="-128"/>
              </a:rPr>
              <a:t>s and one will notice that there are 2! ways to rearrange the </a:t>
            </a:r>
            <a:r>
              <a:rPr lang="en-US" altLang="ja-JP" sz="2400" i="1">
                <a:ea typeface="ＭＳ Ｐゴシック" panose="020B0600070205080204" pitchFamily="34" charset="-128"/>
              </a:rPr>
              <a:t>n</a:t>
            </a:r>
            <a:r>
              <a:rPr lang="ja-JP" altLang="en-US" sz="2400" i="1">
                <a:ea typeface="ＭＳ Ｐゴシック" panose="020B0600070205080204" pitchFamily="34" charset="-128"/>
              </a:rPr>
              <a:t>’</a:t>
            </a:r>
            <a:r>
              <a:rPr lang="en-US" altLang="ja-JP" sz="2400">
                <a:ea typeface="ＭＳ Ｐゴシック" panose="020B0600070205080204" pitchFamily="34" charset="-128"/>
              </a:rPr>
              <a:t>s in each of these arrangements.</a:t>
            </a:r>
          </a:p>
          <a:p>
            <a:pPr eaLnBrk="1" hangingPunct="1">
              <a:lnSpc>
                <a:spcPct val="80000"/>
              </a:lnSpc>
            </a:pPr>
            <a:r>
              <a:rPr lang="en-US" altLang="en-US" sz="2400">
                <a:ea typeface="ＭＳ Ｐゴシック" panose="020B0600070205080204" pitchFamily="34" charset="-128"/>
              </a:rPr>
              <a:t>In general, there are </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1</a:t>
            </a:r>
            <a:r>
              <a:rPr lang="en-US" altLang="en-US" sz="2400">
                <a:ea typeface="ＭＳ Ｐゴシック" panose="020B0600070205080204" pitchFamily="34" charset="-128"/>
              </a:rPr>
              <a:t>!</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2</a:t>
            </a:r>
            <a:r>
              <a:rPr lang="en-US" altLang="en-US" sz="2400">
                <a:ea typeface="ＭＳ Ｐゴシック" panose="020B0600070205080204" pitchFamily="34" charset="-128"/>
              </a:rPr>
              <a:t>! . . . </a:t>
            </a:r>
            <a:r>
              <a:rPr lang="en-US" altLang="en-US" sz="2400" i="1">
                <a:ea typeface="ＭＳ Ｐゴシック" panose="020B0600070205080204" pitchFamily="34" charset="-128"/>
              </a:rPr>
              <a:t>r</a:t>
            </a:r>
            <a:r>
              <a:rPr lang="en-US" altLang="en-US" sz="2400" i="1" baseline="-25000">
                <a:ea typeface="ＭＳ Ｐゴシック" panose="020B0600070205080204" pitchFamily="34" charset="-128"/>
              </a:rPr>
              <a:t>m</a:t>
            </a:r>
            <a:r>
              <a:rPr lang="en-US" altLang="en-US" sz="2400">
                <a:ea typeface="ＭＳ Ｐゴシック" panose="020B0600070205080204" pitchFamily="34" charset="-128"/>
              </a:rPr>
              <a:t>! arrangements for a group of </a:t>
            </a:r>
            <a:r>
              <a:rPr lang="en-US" altLang="en-US" sz="2400" i="1">
                <a:ea typeface="ＭＳ Ｐゴシック" panose="020B0600070205080204" pitchFamily="34" charset="-128"/>
              </a:rPr>
              <a:t>m</a:t>
            </a:r>
            <a:r>
              <a:rPr lang="en-US" altLang="en-US" sz="2400">
                <a:ea typeface="ＭＳ Ｐゴシック" panose="020B0600070205080204" pitchFamily="34" charset="-128"/>
              </a:rPr>
              <a:t> types.  This gives us:</a:t>
            </a:r>
          </a:p>
          <a:p>
            <a:pPr eaLnBrk="1" hangingPunct="1">
              <a:lnSpc>
                <a:spcPct val="80000"/>
              </a:lnSpc>
              <a:buFontTx/>
              <a:buNone/>
            </a:pPr>
            <a:endParaRPr lang="en-US" altLang="en-US" sz="2400">
              <a:ea typeface="ＭＳ Ｐゴシック" panose="020B0600070205080204" pitchFamily="34" charset="-128"/>
            </a:endParaRPr>
          </a:p>
          <a:p>
            <a:pPr algn="ctr" eaLnBrk="1" hangingPunct="1">
              <a:lnSpc>
                <a:spcPct val="80000"/>
              </a:lnSpc>
              <a:buFontTx/>
              <a:buNone/>
            </a:pPr>
            <a:r>
              <a:rPr lang="en-US" altLang="en-US" sz="2400" i="1">
                <a:ea typeface="ＭＳ Ｐゴシック" panose="020B0600070205080204" pitchFamily="34" charset="-128"/>
              </a:rPr>
              <a:t>n</a:t>
            </a:r>
            <a:r>
              <a:rPr lang="en-US" altLang="en-US" sz="2400">
                <a:ea typeface="ＭＳ Ｐゴシック" panose="020B0600070205080204" pitchFamily="34" charset="-128"/>
              </a:rPr>
              <a:t>!=</a:t>
            </a:r>
            <a:r>
              <a:rPr lang="en-US" altLang="en-US" sz="2400" i="1">
                <a:ea typeface="ＭＳ Ｐゴシック" panose="020B0600070205080204" pitchFamily="34" charset="-128"/>
              </a:rPr>
              <a:t>P</a:t>
            </a:r>
            <a:r>
              <a:rPr lang="en-US" altLang="en-US" sz="2400">
                <a:ea typeface="ＭＳ Ｐゴシック" panose="020B0600070205080204" pitchFamily="34" charset="-128"/>
              </a:rPr>
              <a:t>(</a:t>
            </a:r>
            <a:r>
              <a:rPr lang="en-US" altLang="en-US" sz="2400" i="1">
                <a:ea typeface="ＭＳ Ｐゴシック" panose="020B0600070205080204" pitchFamily="34" charset="-128"/>
              </a:rPr>
              <a:t>n</a:t>
            </a:r>
            <a:r>
              <a:rPr lang="en-US" altLang="en-US" sz="2400">
                <a:ea typeface="ＭＳ Ｐゴシック" panose="020B0600070205080204" pitchFamily="34" charset="-128"/>
              </a:rPr>
              <a:t>;</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1</a:t>
            </a:r>
            <a:r>
              <a:rPr lang="en-US" altLang="en-US" sz="2400">
                <a:ea typeface="ＭＳ Ｐゴシック" panose="020B0600070205080204" pitchFamily="34" charset="-128"/>
              </a:rPr>
              <a:t>, </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2</a:t>
            </a:r>
            <a:r>
              <a:rPr lang="en-US" altLang="en-US" sz="2400">
                <a:ea typeface="ＭＳ Ｐゴシック" panose="020B0600070205080204" pitchFamily="34" charset="-128"/>
              </a:rPr>
              <a:t>, . . . </a:t>
            </a:r>
            <a:r>
              <a:rPr lang="en-US" altLang="en-US" sz="2400" i="1">
                <a:ea typeface="ＭＳ Ｐゴシック" panose="020B0600070205080204" pitchFamily="34" charset="-128"/>
              </a:rPr>
              <a:t>r</a:t>
            </a:r>
            <a:r>
              <a:rPr lang="en-US" altLang="en-US" sz="2400" i="1" baseline="-25000">
                <a:ea typeface="ＭＳ Ｐゴシック" panose="020B0600070205080204" pitchFamily="34" charset="-128"/>
              </a:rPr>
              <a:t>m</a:t>
            </a:r>
            <a:r>
              <a:rPr lang="en-US" altLang="en-US" sz="2400">
                <a:ea typeface="ＭＳ Ｐゴシック" panose="020B0600070205080204" pitchFamily="34" charset="-128"/>
              </a:rPr>
              <a:t>) </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1</a:t>
            </a:r>
            <a:r>
              <a:rPr lang="en-US" altLang="en-US" sz="2400">
                <a:ea typeface="ＭＳ Ｐゴシック" panose="020B0600070205080204" pitchFamily="34" charset="-128"/>
              </a:rPr>
              <a:t>!</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2</a:t>
            </a:r>
            <a:r>
              <a:rPr lang="en-US" altLang="en-US" sz="2400">
                <a:ea typeface="ＭＳ Ｐゴシック" panose="020B0600070205080204" pitchFamily="34" charset="-128"/>
              </a:rPr>
              <a:t>! . . . </a:t>
            </a:r>
            <a:r>
              <a:rPr lang="en-US" altLang="en-US" sz="2400" i="1">
                <a:ea typeface="ＭＳ Ｐゴシック" panose="020B0600070205080204" pitchFamily="34" charset="-128"/>
              </a:rPr>
              <a:t>r</a:t>
            </a:r>
            <a:r>
              <a:rPr lang="en-US" altLang="en-US" sz="2400" i="1" baseline="-25000">
                <a:ea typeface="ＭＳ Ｐゴシック" panose="020B0600070205080204" pitchFamily="34" charset="-128"/>
              </a:rPr>
              <a:t>m</a:t>
            </a:r>
            <a:r>
              <a:rPr lang="en-US" altLang="en-US" sz="2400">
                <a:ea typeface="ＭＳ Ｐゴシック" panose="020B0600070205080204" pitchFamily="34" charset="-128"/>
              </a:rPr>
              <a:t>!</a:t>
            </a:r>
          </a:p>
          <a:p>
            <a:pPr algn="ctr" eaLnBrk="1" hangingPunct="1">
              <a:lnSpc>
                <a:spcPct val="80000"/>
              </a:lnSpc>
              <a:buFontTx/>
              <a:buNone/>
            </a:pPr>
            <a:r>
              <a:rPr lang="en-US" altLang="en-US" sz="2400" i="1">
                <a:ea typeface="ＭＳ Ｐゴシック" panose="020B0600070205080204" pitchFamily="34" charset="-128"/>
              </a:rPr>
              <a:t>P</a:t>
            </a:r>
            <a:r>
              <a:rPr lang="en-US" altLang="en-US" sz="2400">
                <a:ea typeface="ＭＳ Ｐゴシック" panose="020B0600070205080204" pitchFamily="34" charset="-128"/>
              </a:rPr>
              <a:t>(</a:t>
            </a:r>
            <a:r>
              <a:rPr lang="en-US" altLang="en-US" sz="2400" i="1">
                <a:ea typeface="ＭＳ Ｐゴシック" panose="020B0600070205080204" pitchFamily="34" charset="-128"/>
              </a:rPr>
              <a:t>n</a:t>
            </a:r>
            <a:r>
              <a:rPr lang="en-US" altLang="en-US" sz="2400">
                <a:ea typeface="ＭＳ Ｐゴシック" panose="020B0600070205080204" pitchFamily="34" charset="-128"/>
              </a:rPr>
              <a:t>;</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1</a:t>
            </a:r>
            <a:r>
              <a:rPr lang="en-US" altLang="en-US" sz="2400">
                <a:ea typeface="ＭＳ Ｐゴシック" panose="020B0600070205080204" pitchFamily="34" charset="-128"/>
              </a:rPr>
              <a:t>, </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2</a:t>
            </a:r>
            <a:r>
              <a:rPr lang="en-US" altLang="en-US" sz="2400">
                <a:ea typeface="ＭＳ Ｐゴシック" panose="020B0600070205080204" pitchFamily="34" charset="-128"/>
              </a:rPr>
              <a:t>, . . . </a:t>
            </a:r>
            <a:r>
              <a:rPr lang="en-US" altLang="en-US" sz="2400" i="1">
                <a:ea typeface="ＭＳ Ｐゴシック" panose="020B0600070205080204" pitchFamily="34" charset="-128"/>
              </a:rPr>
              <a:t>r</a:t>
            </a:r>
            <a:r>
              <a:rPr lang="en-US" altLang="en-US" sz="2400" i="1" baseline="-25000">
                <a:ea typeface="ＭＳ Ｐゴシック" panose="020B0600070205080204" pitchFamily="34" charset="-128"/>
              </a:rPr>
              <a:t>m</a:t>
            </a:r>
            <a:r>
              <a:rPr lang="en-US" altLang="en-US" sz="2400">
                <a:ea typeface="ＭＳ Ｐゴシック" panose="020B0600070205080204" pitchFamily="34" charset="-128"/>
              </a:rPr>
              <a:t>)=</a:t>
            </a:r>
            <a:r>
              <a:rPr lang="en-US" altLang="en-US" sz="2400" i="1">
                <a:ea typeface="ＭＳ Ｐゴシック" panose="020B0600070205080204" pitchFamily="34" charset="-128"/>
              </a:rPr>
              <a:t>n</a:t>
            </a:r>
            <a:r>
              <a:rPr lang="en-US" altLang="en-US" sz="2400">
                <a:ea typeface="ＭＳ Ｐゴシック" panose="020B0600070205080204" pitchFamily="34" charset="-128"/>
              </a:rPr>
              <a:t>!/(</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1</a:t>
            </a:r>
            <a:r>
              <a:rPr lang="en-US" altLang="en-US" sz="2400">
                <a:ea typeface="ＭＳ Ｐゴシック" panose="020B0600070205080204" pitchFamily="34" charset="-128"/>
              </a:rPr>
              <a:t>!</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2</a:t>
            </a:r>
            <a:r>
              <a:rPr lang="en-US" altLang="en-US" sz="2400">
                <a:ea typeface="ＭＳ Ｐゴシック" panose="020B0600070205080204" pitchFamily="34" charset="-128"/>
              </a:rPr>
              <a:t>! . . . </a:t>
            </a:r>
            <a:r>
              <a:rPr lang="en-US" altLang="en-US" sz="2400" i="1">
                <a:ea typeface="ＭＳ Ｐゴシック" panose="020B0600070205080204" pitchFamily="34" charset="-128"/>
              </a:rPr>
              <a:t>r</a:t>
            </a:r>
            <a:r>
              <a:rPr lang="en-US" altLang="en-US" sz="2400" i="1" baseline="-25000">
                <a:ea typeface="ＭＳ Ｐゴシック" panose="020B0600070205080204" pitchFamily="34" charset="-128"/>
              </a:rPr>
              <a:t>m</a:t>
            </a:r>
            <a:r>
              <a:rPr lang="en-US" altLang="en-US" sz="2400">
                <a:ea typeface="ＭＳ Ｐゴシック" panose="020B0600070205080204" pitchFamily="34" charset="-128"/>
              </a:rPr>
              <a:t>!)</a:t>
            </a:r>
          </a:p>
        </p:txBody>
      </p:sp>
    </p:spTree>
    <p:extLst>
      <p:ext uri="{BB962C8B-B14F-4D97-AF65-F5344CB8AC3E}">
        <p14:creationId xmlns:p14="http://schemas.microsoft.com/office/powerpoint/2010/main" val="558189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a:extLst>
              <a:ext uri="{FF2B5EF4-FFF2-40B4-BE49-F238E27FC236}">
                <a16:creationId xmlns:a16="http://schemas.microsoft.com/office/drawing/2014/main" id="{C1413B6A-502B-AE4E-904E-DD4AADEC50CE}"/>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Example 2</a:t>
            </a:r>
          </a:p>
        </p:txBody>
      </p:sp>
      <p:sp>
        <p:nvSpPr>
          <p:cNvPr id="29701" name="Rectangle 3">
            <a:extLst>
              <a:ext uri="{FF2B5EF4-FFF2-40B4-BE49-F238E27FC236}">
                <a16:creationId xmlns:a16="http://schemas.microsoft.com/office/drawing/2014/main" id="{3CFF0496-55B7-7B49-B3A5-98601D281A82}"/>
              </a:ext>
            </a:extLst>
          </p:cNvPr>
          <p:cNvSpPr>
            <a:spLocks noGrp="1" noChangeArrowheads="1"/>
          </p:cNvSpPr>
          <p:nvPr>
            <p:ph type="body" idx="1"/>
          </p:nvPr>
        </p:nvSpPr>
        <p:spPr>
          <a:xfrm>
            <a:off x="2209800" y="1981200"/>
            <a:ext cx="7772400" cy="1143000"/>
          </a:xfrm>
        </p:spPr>
        <p:txBody>
          <a:bodyPr/>
          <a:lstStyle/>
          <a:p>
            <a:pPr eaLnBrk="1" hangingPunct="1"/>
            <a:r>
              <a:rPr lang="en-US" altLang="en-US">
                <a:ea typeface="ＭＳ Ｐゴシック" panose="020B0600070205080204" pitchFamily="34" charset="-128"/>
              </a:rPr>
              <a:t>This example deals with arrangements with restricted positions.</a:t>
            </a:r>
          </a:p>
        </p:txBody>
      </p:sp>
      <p:sp>
        <p:nvSpPr>
          <p:cNvPr id="29702" name="Text Box 4">
            <a:extLst>
              <a:ext uri="{FF2B5EF4-FFF2-40B4-BE49-F238E27FC236}">
                <a16:creationId xmlns:a16="http://schemas.microsoft.com/office/drawing/2014/main" id="{88C4975F-CF31-9244-9602-E36C2B21A985}"/>
              </a:ext>
            </a:extLst>
          </p:cNvPr>
          <p:cNvSpPr txBox="1">
            <a:spLocks noChangeArrowheads="1"/>
          </p:cNvSpPr>
          <p:nvPr/>
        </p:nvSpPr>
        <p:spPr bwMode="auto">
          <a:xfrm>
            <a:off x="2590800" y="3429001"/>
            <a:ext cx="7010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a:latin typeface="Times New Roman" panose="02020603050405020304" pitchFamily="18" charset="0"/>
              </a:rPr>
              <a:t>How many ways are there to arrange the letters in B-A-N-A-N-A such that the B is always immediately followed by an A?</a:t>
            </a:r>
          </a:p>
        </p:txBody>
      </p:sp>
    </p:spTree>
    <p:extLst>
      <p:ext uri="{BB962C8B-B14F-4D97-AF65-F5344CB8AC3E}">
        <p14:creationId xmlns:p14="http://schemas.microsoft.com/office/powerpoint/2010/main" val="11236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EE0AF427-001D-D44A-9F5B-CF9CA510824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Solution</a:t>
            </a:r>
          </a:p>
        </p:txBody>
      </p:sp>
      <p:sp>
        <p:nvSpPr>
          <p:cNvPr id="30725" name="Rectangle 3">
            <a:extLst>
              <a:ext uri="{FF2B5EF4-FFF2-40B4-BE49-F238E27FC236}">
                <a16:creationId xmlns:a16="http://schemas.microsoft.com/office/drawing/2014/main" id="{AEDB6581-B5CA-5048-A0C4-516534BA816C}"/>
              </a:ext>
            </a:extLst>
          </p:cNvPr>
          <p:cNvSpPr>
            <a:spLocks noGrp="1" noChangeArrowheads="1"/>
          </p:cNvSpPr>
          <p:nvPr>
            <p:ph type="body" idx="1"/>
          </p:nvPr>
        </p:nvSpPr>
        <p:spPr>
          <a:xfrm>
            <a:off x="2209800" y="1981200"/>
            <a:ext cx="7772400" cy="2743200"/>
          </a:xfrm>
        </p:spPr>
        <p:txBody>
          <a:bodyPr/>
          <a:lstStyle/>
          <a:p>
            <a:pPr eaLnBrk="1" hangingPunct="1"/>
            <a:r>
              <a:rPr lang="en-US" altLang="en-US">
                <a:ea typeface="ＭＳ Ｐゴシック" panose="020B0600070205080204" pitchFamily="34" charset="-128"/>
              </a:rPr>
              <a:t>This amounts to sticking the B and an A together as if they were one letter and finding the number of ways to arrange the five objects:  BA, A, A, N, N. </a:t>
            </a:r>
          </a:p>
          <a:p>
            <a:pPr eaLnBrk="1" hangingPunct="1"/>
            <a:r>
              <a:rPr lang="en-US" altLang="en-US">
                <a:ea typeface="ＭＳ Ｐゴシック" panose="020B0600070205080204" pitchFamily="34" charset="-128"/>
              </a:rPr>
              <a:t>Using Theorem 1 this gives us </a:t>
            </a:r>
            <a:r>
              <a:rPr lang="en-US" altLang="en-US" i="1">
                <a:ea typeface="ＭＳ Ｐゴシック" panose="020B0600070205080204" pitchFamily="34" charset="-128"/>
              </a:rPr>
              <a:t>P</a:t>
            </a:r>
            <a:r>
              <a:rPr lang="en-US" altLang="en-US">
                <a:ea typeface="ＭＳ Ｐゴシック" panose="020B0600070205080204" pitchFamily="34" charset="-128"/>
              </a:rPr>
              <a:t>(5; 2, 2, 1)</a:t>
            </a:r>
          </a:p>
        </p:txBody>
      </p:sp>
      <p:sp>
        <p:nvSpPr>
          <p:cNvPr id="30726" name="Text Box 4">
            <a:extLst>
              <a:ext uri="{FF2B5EF4-FFF2-40B4-BE49-F238E27FC236}">
                <a16:creationId xmlns:a16="http://schemas.microsoft.com/office/drawing/2014/main" id="{04741B92-1F4C-B940-B13D-379F50CA9217}"/>
              </a:ext>
            </a:extLst>
          </p:cNvPr>
          <p:cNvSpPr txBox="1">
            <a:spLocks noChangeArrowheads="1"/>
          </p:cNvSpPr>
          <p:nvPr/>
        </p:nvSpPr>
        <p:spPr bwMode="auto">
          <a:xfrm>
            <a:off x="4648200" y="4876801"/>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800">
                <a:latin typeface="Times New Roman" panose="02020603050405020304" pitchFamily="18" charset="0"/>
              </a:rPr>
              <a:t>= 5!/(1!2!2!) = 30 Arrangements</a:t>
            </a:r>
          </a:p>
        </p:txBody>
      </p:sp>
    </p:spTree>
    <p:extLst>
      <p:ext uri="{BB962C8B-B14F-4D97-AF65-F5344CB8AC3E}">
        <p14:creationId xmlns:p14="http://schemas.microsoft.com/office/powerpoint/2010/main" val="4160450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943563A9-1586-A74C-8892-81DAE3A5D43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Theorem </a:t>
            </a:r>
            <a:r>
              <a:rPr lang="en-US" altLang="en-US" dirty="0">
                <a:ea typeface="ＭＳ Ｐゴシック" panose="020B0600070205080204" pitchFamily="34" charset="-128"/>
              </a:rPr>
              <a:t>2</a:t>
            </a:r>
          </a:p>
        </p:txBody>
      </p:sp>
      <p:sp>
        <p:nvSpPr>
          <p:cNvPr id="23557" name="Rectangle 3">
            <a:extLst>
              <a:ext uri="{FF2B5EF4-FFF2-40B4-BE49-F238E27FC236}">
                <a16:creationId xmlns:a16="http://schemas.microsoft.com/office/drawing/2014/main" id="{F62ABCDB-2D3F-B543-86CB-91018D3B73C7}"/>
              </a:ext>
            </a:extLst>
          </p:cNvPr>
          <p:cNvSpPr>
            <a:spLocks noGrp="1" noChangeArrowheads="1"/>
          </p:cNvSpPr>
          <p:nvPr>
            <p:ph type="body" idx="1"/>
          </p:nvPr>
        </p:nvSpPr>
        <p:spPr>
          <a:xfrm>
            <a:off x="2209800" y="1981200"/>
            <a:ext cx="7772400" cy="2819400"/>
          </a:xfrm>
        </p:spPr>
        <p:txBody>
          <a:bodyPr/>
          <a:lstStyle/>
          <a:p>
            <a:pPr eaLnBrk="1" hangingPunct="1">
              <a:lnSpc>
                <a:spcPct val="90000"/>
              </a:lnSpc>
            </a:pPr>
            <a:r>
              <a:rPr lang="en-US" altLang="en-US">
                <a:ea typeface="ＭＳ Ｐゴシック" panose="020B0600070205080204" pitchFamily="34" charset="-128"/>
              </a:rPr>
              <a:t>Selections-With-Repetition</a:t>
            </a:r>
          </a:p>
          <a:p>
            <a:pPr eaLnBrk="1" hangingPunct="1">
              <a:lnSpc>
                <a:spcPct val="90000"/>
              </a:lnSpc>
            </a:pPr>
            <a:r>
              <a:rPr lang="en-US" altLang="en-US">
                <a:ea typeface="ＭＳ Ｐゴシック" panose="020B0600070205080204" pitchFamily="34" charset="-128"/>
              </a:rPr>
              <a:t>The number of selections with repetition of </a:t>
            </a:r>
            <a:r>
              <a:rPr lang="en-US" altLang="en-US" i="1">
                <a:ea typeface="ＭＳ Ｐゴシック" panose="020B0600070205080204" pitchFamily="34" charset="-128"/>
              </a:rPr>
              <a:t>r</a:t>
            </a:r>
            <a:r>
              <a:rPr lang="en-US" altLang="en-US">
                <a:ea typeface="ＭＳ Ｐゴシック" panose="020B0600070205080204" pitchFamily="34" charset="-128"/>
              </a:rPr>
              <a:t> objects, chosen from </a:t>
            </a:r>
            <a:r>
              <a:rPr lang="en-US" altLang="en-US" i="1">
                <a:ea typeface="ＭＳ Ｐゴシック" panose="020B0600070205080204" pitchFamily="34" charset="-128"/>
              </a:rPr>
              <a:t>n</a:t>
            </a:r>
            <a:r>
              <a:rPr lang="en-US" altLang="en-US">
                <a:ea typeface="ＭＳ Ｐゴシック" panose="020B0600070205080204" pitchFamily="34" charset="-128"/>
              </a:rPr>
              <a:t> types of objects is:       			</a:t>
            </a:r>
          </a:p>
          <a:p>
            <a:pPr eaLnBrk="1" hangingPunct="1">
              <a:lnSpc>
                <a:spcPct val="90000"/>
              </a:lnSpc>
            </a:pPr>
            <a:endParaRPr lang="en-US" altLang="en-US">
              <a:ea typeface="ＭＳ Ｐゴシック" panose="020B0600070205080204" pitchFamily="34" charset="-128"/>
            </a:endParaRPr>
          </a:p>
          <a:p>
            <a:pPr eaLnBrk="1" hangingPunct="1">
              <a:lnSpc>
                <a:spcPct val="90000"/>
              </a:lnSpc>
              <a:buFontTx/>
              <a:buNone/>
            </a:pPr>
            <a:r>
              <a:rPr lang="en-US" altLang="en-US" i="1">
                <a:ea typeface="ＭＳ Ｐゴシック" panose="020B0600070205080204" pitchFamily="34" charset="-128"/>
              </a:rPr>
              <a:t>				C</a:t>
            </a:r>
            <a:r>
              <a:rPr lang="en-US" altLang="en-US">
                <a:ea typeface="ＭＳ Ｐゴシック" panose="020B0600070205080204" pitchFamily="34" charset="-128"/>
              </a:rPr>
              <a:t>(</a:t>
            </a:r>
            <a:r>
              <a:rPr lang="en-US" altLang="en-US" i="1">
                <a:ea typeface="ＭＳ Ｐゴシック" panose="020B0600070205080204" pitchFamily="34" charset="-128"/>
              </a:rPr>
              <a:t>r</a:t>
            </a:r>
            <a:r>
              <a:rPr lang="en-US" altLang="en-US">
                <a:ea typeface="ＭＳ Ｐゴシック" panose="020B0600070205080204" pitchFamily="34" charset="-128"/>
              </a:rPr>
              <a:t> + </a:t>
            </a:r>
            <a:r>
              <a:rPr lang="en-US" altLang="en-US" i="1">
                <a:ea typeface="ＭＳ Ｐゴシック" panose="020B0600070205080204" pitchFamily="34" charset="-128"/>
              </a:rPr>
              <a:t>n –</a:t>
            </a:r>
            <a:r>
              <a:rPr lang="en-US" altLang="en-US">
                <a:ea typeface="ＭＳ Ｐゴシック" panose="020B0600070205080204" pitchFamily="34" charset="-128"/>
              </a:rPr>
              <a:t>1, </a:t>
            </a:r>
            <a:r>
              <a:rPr lang="en-US" altLang="en-US" i="1">
                <a:ea typeface="ＭＳ Ｐゴシック" panose="020B0600070205080204" pitchFamily="34" charset="-128"/>
              </a:rPr>
              <a:t>r</a:t>
            </a:r>
            <a:r>
              <a:rPr lang="en-US" altLang="en-US">
                <a:ea typeface="ＭＳ Ｐゴシック" panose="020B0600070205080204" pitchFamily="34" charset="-128"/>
              </a:rPr>
              <a:t>).</a:t>
            </a:r>
          </a:p>
        </p:txBody>
      </p:sp>
    </p:spTree>
    <p:extLst>
      <p:ext uri="{BB962C8B-B14F-4D97-AF65-F5344CB8AC3E}">
        <p14:creationId xmlns:p14="http://schemas.microsoft.com/office/powerpoint/2010/main" val="27639740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2032AF3B-1A5B-8B43-9B15-50F4E7D7DB4F}"/>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Example/Proof</a:t>
            </a:r>
          </a:p>
        </p:txBody>
      </p:sp>
      <p:sp>
        <p:nvSpPr>
          <p:cNvPr id="43011" name="Rectangle 3">
            <a:extLst>
              <a:ext uri="{FF2B5EF4-FFF2-40B4-BE49-F238E27FC236}">
                <a16:creationId xmlns:a16="http://schemas.microsoft.com/office/drawing/2014/main" id="{F5A31FC1-5E93-4443-BA0F-3B212D8B79F3}"/>
              </a:ext>
            </a:extLst>
          </p:cNvPr>
          <p:cNvSpPr>
            <a:spLocks noGrp="1" noChangeArrowheads="1"/>
          </p:cNvSpPr>
          <p:nvPr>
            <p:ph type="body" idx="1"/>
          </p:nvPr>
        </p:nvSpPr>
        <p:spPr>
          <a:xfrm>
            <a:off x="2133600" y="1676400"/>
            <a:ext cx="7848600" cy="2743200"/>
          </a:xfrm>
        </p:spPr>
        <p:txBody>
          <a:bodyPr/>
          <a:lstStyle/>
          <a:p>
            <a:pPr eaLnBrk="1" hangingPunct="1">
              <a:lnSpc>
                <a:spcPct val="80000"/>
              </a:lnSpc>
            </a:pPr>
            <a:r>
              <a:rPr lang="en-US" altLang="en-US" sz="2400">
                <a:ea typeface="ＭＳ Ｐゴシック" panose="020B0600070205080204" pitchFamily="34" charset="-128"/>
              </a:rPr>
              <a:t>How many ways are there to fill a box with a dozen doughnuts chosen from five different varieties with the requirement that at least one doughnut of each variety is picked?</a:t>
            </a:r>
          </a:p>
          <a:p>
            <a:pPr eaLnBrk="1" hangingPunct="1">
              <a:lnSpc>
                <a:spcPct val="80000"/>
              </a:lnSpc>
            </a:pPr>
            <a:r>
              <a:rPr lang="en-US" altLang="en-US" sz="2400">
                <a:ea typeface="ＭＳ Ｐゴシック" panose="020B0600070205080204" pitchFamily="34" charset="-128"/>
              </a:rPr>
              <a:t>First you would pick one doughnut of each variety to meet the requirement and then pick the seven remaining doughnuts anyway you please.</a:t>
            </a:r>
          </a:p>
        </p:txBody>
      </p:sp>
      <p:sp>
        <p:nvSpPr>
          <p:cNvPr id="43012" name="Text Box 4">
            <a:extLst>
              <a:ext uri="{FF2B5EF4-FFF2-40B4-BE49-F238E27FC236}">
                <a16:creationId xmlns:a16="http://schemas.microsoft.com/office/drawing/2014/main" id="{F57044CB-A44D-7446-A823-B00FA6CF39F9}"/>
              </a:ext>
            </a:extLst>
          </p:cNvPr>
          <p:cNvSpPr txBox="1">
            <a:spLocks noChangeArrowheads="1"/>
          </p:cNvSpPr>
          <p:nvPr/>
        </p:nvSpPr>
        <p:spPr bwMode="auto">
          <a:xfrm>
            <a:off x="2362201" y="4191000"/>
            <a:ext cx="57245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0000"/>
              </a:lnSpc>
              <a:spcBef>
                <a:spcPct val="20000"/>
              </a:spcBef>
            </a:pPr>
            <a:r>
              <a:rPr lang="en-US" altLang="en-US" sz="2000" dirty="0">
                <a:latin typeface="Times New Roman" panose="02020603050405020304" pitchFamily="18" charset="0"/>
              </a:rPr>
              <a:t>Using Theorem 2 :  </a:t>
            </a:r>
            <a:r>
              <a:rPr lang="en-US" altLang="en-US" sz="2000" i="1" dirty="0">
                <a:latin typeface="Times New Roman" panose="02020603050405020304" pitchFamily="18" charset="0"/>
              </a:rPr>
              <a:t>C</a:t>
            </a:r>
            <a:r>
              <a:rPr lang="en-US" altLang="en-US" sz="2000" dirty="0">
                <a:latin typeface="Times New Roman" panose="02020603050405020304" pitchFamily="18" charset="0"/>
              </a:rPr>
              <a:t>(</a:t>
            </a:r>
            <a:r>
              <a:rPr lang="en-US" altLang="en-US" sz="2000" i="1" dirty="0">
                <a:latin typeface="Times New Roman" panose="02020603050405020304" pitchFamily="18" charset="0"/>
              </a:rPr>
              <a:t>r</a:t>
            </a:r>
            <a:r>
              <a:rPr lang="en-US" altLang="en-US" sz="2000" dirty="0">
                <a:latin typeface="Times New Roman" panose="02020603050405020304" pitchFamily="18" charset="0"/>
              </a:rPr>
              <a:t> + </a:t>
            </a:r>
            <a:r>
              <a:rPr lang="en-US" altLang="en-US" sz="2000" i="1" dirty="0">
                <a:latin typeface="Times New Roman" panose="02020603050405020304" pitchFamily="18" charset="0"/>
              </a:rPr>
              <a:t>n –</a:t>
            </a:r>
            <a:r>
              <a:rPr lang="en-US" altLang="en-US" sz="2000" dirty="0">
                <a:latin typeface="Times New Roman" panose="02020603050405020304" pitchFamily="18" charset="0"/>
              </a:rPr>
              <a:t>1, </a:t>
            </a:r>
            <a:r>
              <a:rPr lang="en-US" altLang="en-US" sz="2000" i="1" dirty="0">
                <a:latin typeface="Times New Roman" panose="02020603050405020304" pitchFamily="18" charset="0"/>
              </a:rPr>
              <a:t>r</a:t>
            </a:r>
            <a:r>
              <a:rPr lang="en-US" altLang="en-US" sz="2000" dirty="0">
                <a:latin typeface="Times New Roman" panose="02020603050405020304" pitchFamily="18" charset="0"/>
              </a:rPr>
              <a:t>)</a:t>
            </a:r>
          </a:p>
          <a:p>
            <a:pPr eaLnBrk="1" hangingPunct="1"/>
            <a:r>
              <a:rPr lang="en-US" altLang="en-US" sz="2000" dirty="0">
                <a:latin typeface="Times New Roman" panose="02020603050405020304" pitchFamily="18" charset="0"/>
              </a:rPr>
              <a:t>Where 	</a:t>
            </a:r>
            <a:r>
              <a:rPr lang="en-US" altLang="en-US" sz="2000" i="1" dirty="0">
                <a:latin typeface="Times New Roman" panose="02020603050405020304" pitchFamily="18" charset="0"/>
              </a:rPr>
              <a:t>r</a:t>
            </a:r>
            <a:r>
              <a:rPr lang="en-US" altLang="en-US" sz="2000" dirty="0">
                <a:latin typeface="Times New Roman" panose="02020603050405020304" pitchFamily="18" charset="0"/>
              </a:rPr>
              <a:t> is the number of objects picked in any order</a:t>
            </a:r>
          </a:p>
          <a:p>
            <a:pPr eaLnBrk="1" hangingPunct="1"/>
            <a:r>
              <a:rPr lang="en-US" altLang="en-US" sz="2000" dirty="0">
                <a:latin typeface="Times New Roman" panose="02020603050405020304" pitchFamily="18" charset="0"/>
              </a:rPr>
              <a:t>	</a:t>
            </a:r>
            <a:r>
              <a:rPr lang="en-US" altLang="en-US" sz="2000" i="1" dirty="0">
                <a:latin typeface="Times New Roman" panose="02020603050405020304" pitchFamily="18" charset="0"/>
              </a:rPr>
              <a:t>n</a:t>
            </a:r>
            <a:r>
              <a:rPr lang="en-US" altLang="en-US" sz="2000" dirty="0">
                <a:latin typeface="Times New Roman" panose="02020603050405020304" pitchFamily="18" charset="0"/>
              </a:rPr>
              <a:t> is the different types of objects</a:t>
            </a:r>
          </a:p>
        </p:txBody>
      </p:sp>
      <p:sp>
        <p:nvSpPr>
          <p:cNvPr id="43013" name="Text Box 5">
            <a:extLst>
              <a:ext uri="{FF2B5EF4-FFF2-40B4-BE49-F238E27FC236}">
                <a16:creationId xmlns:a16="http://schemas.microsoft.com/office/drawing/2014/main" id="{C8FF32AA-868D-3040-981D-1EB340B7301C}"/>
              </a:ext>
            </a:extLst>
          </p:cNvPr>
          <p:cNvSpPr txBox="1">
            <a:spLocks noChangeArrowheads="1"/>
          </p:cNvSpPr>
          <p:nvPr/>
        </p:nvSpPr>
        <p:spPr bwMode="auto">
          <a:xfrm>
            <a:off x="2286000" y="5410201"/>
            <a:ext cx="6440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latin typeface="Times New Roman" panose="02020603050405020304" pitchFamily="18" charset="0"/>
              </a:rPr>
              <a:t>We get: </a:t>
            </a:r>
            <a:r>
              <a:rPr lang="en-US" altLang="en-US" sz="2000" i="1">
                <a:latin typeface="Times New Roman" panose="02020603050405020304" pitchFamily="18" charset="0"/>
              </a:rPr>
              <a:t>C</a:t>
            </a:r>
            <a:r>
              <a:rPr lang="en-US" altLang="en-US" sz="2000">
                <a:latin typeface="Times New Roman" panose="02020603050405020304" pitchFamily="18" charset="0"/>
              </a:rPr>
              <a:t>(7 + 5</a:t>
            </a:r>
            <a:r>
              <a:rPr lang="en-US" altLang="en-US" sz="2000" i="1">
                <a:latin typeface="Times New Roman" panose="02020603050405020304" pitchFamily="18" charset="0"/>
              </a:rPr>
              <a:t> –</a:t>
            </a:r>
            <a:r>
              <a:rPr lang="en-US" altLang="en-US" sz="2000">
                <a:latin typeface="Times New Roman" panose="02020603050405020304" pitchFamily="18" charset="0"/>
              </a:rPr>
              <a:t>1, 7) = 330 ways to pick a dozen doughnuts</a:t>
            </a:r>
          </a:p>
        </p:txBody>
      </p:sp>
    </p:spTree>
    <p:extLst>
      <p:ext uri="{BB962C8B-B14F-4D97-AF65-F5344CB8AC3E}">
        <p14:creationId xmlns:p14="http://schemas.microsoft.com/office/powerpoint/2010/main" val="53975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43012" grpId="0"/>
      <p:bldP spid="430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16D1D43C-BCCD-1146-B74F-2CD5FDB6BF0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Example/Proof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sp>
        <p:nvSpPr>
          <p:cNvPr id="25605" name="Rectangle 3">
            <a:extLst>
              <a:ext uri="{FF2B5EF4-FFF2-40B4-BE49-F238E27FC236}">
                <a16:creationId xmlns:a16="http://schemas.microsoft.com/office/drawing/2014/main" id="{83C921DA-9C04-4E42-9540-51DCCFD9B390}"/>
              </a:ext>
            </a:extLst>
          </p:cNvPr>
          <p:cNvSpPr>
            <a:spLocks noGrp="1" noChangeArrowheads="1"/>
          </p:cNvSpPr>
          <p:nvPr>
            <p:ph type="body" idx="1"/>
          </p:nvPr>
        </p:nvSpPr>
        <p:spPr>
          <a:xfrm>
            <a:off x="2209800" y="1981200"/>
            <a:ext cx="7772400" cy="1447800"/>
          </a:xfrm>
        </p:spPr>
        <p:txBody>
          <a:bodyPr/>
          <a:lstStyle/>
          <a:p>
            <a:pPr eaLnBrk="1" hangingPunct="1">
              <a:lnSpc>
                <a:spcPct val="90000"/>
              </a:lnSpc>
            </a:pPr>
            <a:r>
              <a:rPr lang="en-US" altLang="en-US" sz="2400">
                <a:ea typeface="ＭＳ Ｐゴシック" panose="020B0600070205080204" pitchFamily="34" charset="-128"/>
              </a:rPr>
              <a:t>Had the requirement been that we need at least two of each type of doughnut, we would have picked two of each variety and then picked the remaining two however we pleased.</a:t>
            </a:r>
          </a:p>
        </p:txBody>
      </p:sp>
      <p:sp>
        <p:nvSpPr>
          <p:cNvPr id="56324" name="Text Box 4">
            <a:extLst>
              <a:ext uri="{FF2B5EF4-FFF2-40B4-BE49-F238E27FC236}">
                <a16:creationId xmlns:a16="http://schemas.microsoft.com/office/drawing/2014/main" id="{30CC0944-60DC-9249-8E58-16ECC3D5324C}"/>
              </a:ext>
            </a:extLst>
          </p:cNvPr>
          <p:cNvSpPr txBox="1">
            <a:spLocks noChangeArrowheads="1"/>
          </p:cNvSpPr>
          <p:nvPr/>
        </p:nvSpPr>
        <p:spPr bwMode="auto">
          <a:xfrm>
            <a:off x="2514601" y="3352801"/>
            <a:ext cx="68437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2000">
              <a:latin typeface="Times New Roman" panose="02020603050405020304" pitchFamily="18" charset="0"/>
            </a:endParaRPr>
          </a:p>
          <a:p>
            <a:pPr eaLnBrk="1" hangingPunct="1"/>
            <a:r>
              <a:rPr lang="en-US" altLang="en-US" sz="2000">
                <a:latin typeface="Times New Roman" panose="02020603050405020304" pitchFamily="18" charset="0"/>
              </a:rPr>
              <a:t>Then we get: </a:t>
            </a:r>
            <a:r>
              <a:rPr lang="en-US" altLang="en-US" sz="2000" i="1">
                <a:latin typeface="Times New Roman" panose="02020603050405020304" pitchFamily="18" charset="0"/>
              </a:rPr>
              <a:t>C</a:t>
            </a:r>
            <a:r>
              <a:rPr lang="en-US" altLang="en-US" sz="2000">
                <a:latin typeface="Times New Roman" panose="02020603050405020304" pitchFamily="18" charset="0"/>
              </a:rPr>
              <a:t>(2 + 5</a:t>
            </a:r>
            <a:r>
              <a:rPr lang="en-US" altLang="en-US" sz="2000" i="1">
                <a:latin typeface="Times New Roman" panose="02020603050405020304" pitchFamily="18" charset="0"/>
              </a:rPr>
              <a:t> –</a:t>
            </a:r>
            <a:r>
              <a:rPr lang="en-US" altLang="en-US" sz="2000">
                <a:latin typeface="Times New Roman" panose="02020603050405020304" pitchFamily="18" charset="0"/>
              </a:rPr>
              <a:t>1, 2) = 15 ways to pick a dozen doughnuts</a:t>
            </a:r>
          </a:p>
        </p:txBody>
      </p:sp>
      <p:sp>
        <p:nvSpPr>
          <p:cNvPr id="56325" name="Rectangle 5">
            <a:extLst>
              <a:ext uri="{FF2B5EF4-FFF2-40B4-BE49-F238E27FC236}">
                <a16:creationId xmlns:a16="http://schemas.microsoft.com/office/drawing/2014/main" id="{39E68DC0-2641-4A40-AE06-31AA0CEEDBFF}"/>
              </a:ext>
            </a:extLst>
          </p:cNvPr>
          <p:cNvSpPr>
            <a:spLocks noChangeArrowheads="1"/>
          </p:cNvSpPr>
          <p:nvPr/>
        </p:nvSpPr>
        <p:spPr bwMode="auto">
          <a:xfrm>
            <a:off x="2209800" y="4267200"/>
            <a:ext cx="7772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buFontTx/>
              <a:buChar char="•"/>
            </a:pPr>
            <a:r>
              <a:rPr lang="en-US" altLang="en-US">
                <a:latin typeface="Times New Roman" panose="02020603050405020304" pitchFamily="18" charset="0"/>
              </a:rPr>
              <a:t>With this requirement we can easily see that this theorem works, since there are 15 combinations of 2 objects if we are selecting the objects from 5 different types (count them!)</a:t>
            </a:r>
          </a:p>
        </p:txBody>
      </p:sp>
    </p:spTree>
    <p:extLst>
      <p:ext uri="{BB962C8B-B14F-4D97-AF65-F5344CB8AC3E}">
        <p14:creationId xmlns:p14="http://schemas.microsoft.com/office/powerpoint/2010/main" val="15101643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p:bldP spid="5632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B2844A6E-2CAF-9D42-B3F9-51EBC0B5484D}"/>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Example 4</a:t>
            </a:r>
          </a:p>
        </p:txBody>
      </p:sp>
      <p:sp>
        <p:nvSpPr>
          <p:cNvPr id="26629" name="Rectangle 3">
            <a:extLst>
              <a:ext uri="{FF2B5EF4-FFF2-40B4-BE49-F238E27FC236}">
                <a16:creationId xmlns:a16="http://schemas.microsoft.com/office/drawing/2014/main" id="{6585D4D1-05D6-9146-8A55-B38BBFA28163}"/>
              </a:ext>
            </a:extLst>
          </p:cNvPr>
          <p:cNvSpPr>
            <a:spLocks noGrp="1" noChangeArrowheads="1"/>
          </p:cNvSpPr>
          <p:nvPr>
            <p:ph type="body" sz="half" idx="1"/>
          </p:nvPr>
        </p:nvSpPr>
        <p:spPr>
          <a:xfrm>
            <a:off x="2209800" y="1981200"/>
            <a:ext cx="7696200" cy="4114800"/>
          </a:xfrm>
        </p:spPr>
        <p:txBody>
          <a:bodyPr/>
          <a:lstStyle/>
          <a:p>
            <a:pPr eaLnBrk="1" hangingPunct="1"/>
            <a:r>
              <a:rPr lang="en-US" altLang="en-US">
                <a:ea typeface="ＭＳ Ｐゴシック" panose="020B0600070205080204" pitchFamily="34" charset="-128"/>
              </a:rPr>
              <a:t>How many different ways are there to select six hot dogs from three different hot dog types?</a:t>
            </a:r>
          </a:p>
        </p:txBody>
      </p:sp>
    </p:spTree>
    <p:extLst>
      <p:ext uri="{BB962C8B-B14F-4D97-AF65-F5344CB8AC3E}">
        <p14:creationId xmlns:p14="http://schemas.microsoft.com/office/powerpoint/2010/main" val="36185141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056B3E9A-F4B0-2E44-B196-DFC09DCD1E80}"/>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Solution</a:t>
            </a:r>
          </a:p>
        </p:txBody>
      </p:sp>
      <p:sp>
        <p:nvSpPr>
          <p:cNvPr id="27653" name="Rectangle 3">
            <a:extLst>
              <a:ext uri="{FF2B5EF4-FFF2-40B4-BE49-F238E27FC236}">
                <a16:creationId xmlns:a16="http://schemas.microsoft.com/office/drawing/2014/main" id="{9AE9AAF2-701A-DB46-9CB8-F40008CF5381}"/>
              </a:ext>
            </a:extLst>
          </p:cNvPr>
          <p:cNvSpPr>
            <a:spLocks noGrp="1" noChangeArrowheads="1"/>
          </p:cNvSpPr>
          <p:nvPr>
            <p:ph type="body" sz="half" idx="1"/>
          </p:nvPr>
        </p:nvSpPr>
        <p:spPr>
          <a:xfrm>
            <a:off x="2209800" y="1981200"/>
            <a:ext cx="7772400" cy="4114800"/>
          </a:xfrm>
        </p:spPr>
        <p:txBody>
          <a:bodyPr>
            <a:normAutofit lnSpcReduction="10000"/>
          </a:bodyPr>
          <a:lstStyle/>
          <a:p>
            <a:pPr eaLnBrk="1" hangingPunct="1">
              <a:lnSpc>
                <a:spcPct val="90000"/>
              </a:lnSpc>
            </a:pPr>
            <a:r>
              <a:rPr lang="en-US" altLang="en-US" sz="2400" dirty="0">
                <a:ea typeface="ＭＳ Ｐゴシック" panose="020B0600070205080204" pitchFamily="34" charset="-128"/>
              </a:rPr>
              <a:t>Suppose the three types are chili dogs, foot-longs, and regular hot dogs.</a:t>
            </a:r>
          </a:p>
          <a:p>
            <a:pPr eaLnBrk="1" hangingPunct="1">
              <a:lnSpc>
                <a:spcPct val="90000"/>
              </a:lnSpc>
            </a:pPr>
            <a:r>
              <a:rPr lang="en-US" altLang="en-US" sz="2400" dirty="0">
                <a:ea typeface="ＭＳ Ｐゴシック" panose="020B0600070205080204" pitchFamily="34" charset="-128"/>
              </a:rPr>
              <a:t>We can show how many of each we choose with the following notation:</a:t>
            </a:r>
          </a:p>
          <a:p>
            <a:pPr eaLnBrk="1" hangingPunct="1">
              <a:lnSpc>
                <a:spcPct val="90000"/>
              </a:lnSpc>
              <a:buFontTx/>
              <a:buNone/>
            </a:pPr>
            <a:r>
              <a:rPr lang="en-US" altLang="en-US" sz="2400" dirty="0">
                <a:ea typeface="ＭＳ Ｐゴシック" panose="020B0600070205080204" pitchFamily="34" charset="-128"/>
              </a:rPr>
              <a:t>                              </a:t>
            </a:r>
            <a:r>
              <a:rPr lang="en-US" altLang="en-US" sz="1800" u="sng" dirty="0">
                <a:ea typeface="ＭＳ Ｐゴシック" panose="020B0600070205080204" pitchFamily="34" charset="-128"/>
              </a:rPr>
              <a:t>Foot-Long</a:t>
            </a:r>
            <a:r>
              <a:rPr lang="en-US" altLang="en-US" sz="1800" dirty="0">
                <a:ea typeface="ＭＳ Ｐゴシック" panose="020B0600070205080204" pitchFamily="34" charset="-128"/>
              </a:rPr>
              <a:t>   </a:t>
            </a:r>
            <a:r>
              <a:rPr lang="en-US" altLang="en-US" sz="1800" u="sng" dirty="0">
                <a:ea typeface="ＭＳ Ｐゴシック" panose="020B0600070205080204" pitchFamily="34" charset="-128"/>
              </a:rPr>
              <a:t>Chili</a:t>
            </a:r>
            <a:r>
              <a:rPr lang="en-US" altLang="en-US" sz="1800" dirty="0">
                <a:ea typeface="ＭＳ Ｐゴシック" panose="020B0600070205080204" pitchFamily="34" charset="-128"/>
              </a:rPr>
              <a:t>   </a:t>
            </a:r>
            <a:r>
              <a:rPr lang="en-US" altLang="en-US" sz="1800" u="sng" dirty="0">
                <a:ea typeface="ＭＳ Ｐゴシック" panose="020B0600070205080204" pitchFamily="34" charset="-128"/>
              </a:rPr>
              <a:t>Regular</a:t>
            </a:r>
            <a:endParaRPr lang="en-US" altLang="en-US" sz="2400" u="sng" dirty="0">
              <a:ea typeface="ＭＳ Ｐゴシック" panose="020B0600070205080204" pitchFamily="34" charset="-128"/>
            </a:endParaRPr>
          </a:p>
          <a:p>
            <a:pPr eaLnBrk="1" hangingPunct="1">
              <a:lnSpc>
                <a:spcPct val="90000"/>
              </a:lnSpc>
              <a:buFontTx/>
              <a:buNone/>
            </a:pPr>
            <a:r>
              <a:rPr lang="en-US" altLang="en-US" sz="2400" i="1" dirty="0">
                <a:ea typeface="ＭＳ Ｐゴシック" panose="020B0600070205080204" pitchFamily="34" charset="-128"/>
              </a:rPr>
              <a:t>                                      x x | x x | x x</a:t>
            </a:r>
            <a:endParaRPr lang="en-US" altLang="en-US" sz="2400" dirty="0">
              <a:ea typeface="ＭＳ Ｐゴシック" panose="020B0600070205080204" pitchFamily="34" charset="-128"/>
            </a:endParaRPr>
          </a:p>
          <a:p>
            <a:pPr eaLnBrk="1" hangingPunct="1">
              <a:lnSpc>
                <a:spcPct val="90000"/>
              </a:lnSpc>
            </a:pPr>
            <a:r>
              <a:rPr lang="en-US" altLang="en-US" sz="2400" dirty="0">
                <a:ea typeface="ＭＳ Ｐゴシック" panose="020B0600070205080204" pitchFamily="34" charset="-128"/>
              </a:rPr>
              <a:t>By placing two vertical lines between the hot dogs (each represented by the letter </a:t>
            </a:r>
            <a:r>
              <a:rPr lang="en-US" altLang="en-US" sz="2400" i="1" dirty="0">
                <a:ea typeface="ＭＳ Ｐゴシック" panose="020B0600070205080204" pitchFamily="34" charset="-128"/>
              </a:rPr>
              <a:t>x</a:t>
            </a:r>
            <a:r>
              <a:rPr lang="en-US" altLang="en-US" sz="2400" dirty="0">
                <a:ea typeface="ＭＳ Ｐゴシック" panose="020B0600070205080204" pitchFamily="34" charset="-128"/>
              </a:rPr>
              <a:t>) we can say that the hot dogs between the lines are chili dogs, those to the left of both lines are foot-longs, and those to the right of both lines are regular hot dogs.</a:t>
            </a:r>
          </a:p>
        </p:txBody>
      </p:sp>
    </p:spTree>
    <p:extLst>
      <p:ext uri="{BB962C8B-B14F-4D97-AF65-F5344CB8AC3E}">
        <p14:creationId xmlns:p14="http://schemas.microsoft.com/office/powerpoint/2010/main" val="20178441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a:extLst>
              <a:ext uri="{FF2B5EF4-FFF2-40B4-BE49-F238E27FC236}">
                <a16:creationId xmlns:a16="http://schemas.microsoft.com/office/drawing/2014/main" id="{5C18A5A5-AD97-DB44-AFE3-EE4CD622F69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Solution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mc:AlternateContent xmlns:mc="http://schemas.openxmlformats.org/markup-compatibility/2006" xmlns:a14="http://schemas.microsoft.com/office/drawing/2010/main">
        <mc:Choice Requires="a14">
          <p:sp>
            <p:nvSpPr>
              <p:cNvPr id="28677" name="Rectangle 3">
                <a:extLst>
                  <a:ext uri="{FF2B5EF4-FFF2-40B4-BE49-F238E27FC236}">
                    <a16:creationId xmlns:a16="http://schemas.microsoft.com/office/drawing/2014/main" id="{2C32B189-F9A2-574E-ACA9-599A2E4E2182}"/>
                  </a:ext>
                </a:extLst>
              </p:cNvPr>
              <p:cNvSpPr>
                <a:spLocks noGrp="1" noChangeArrowheads="1"/>
              </p:cNvSpPr>
              <p:nvPr>
                <p:ph type="body" idx="1"/>
              </p:nvPr>
            </p:nvSpPr>
            <p:spPr>
              <a:xfrm>
                <a:off x="2209800" y="1981200"/>
                <a:ext cx="7772400" cy="3276600"/>
              </a:xfrm>
            </p:spPr>
            <p:txBody>
              <a:bodyPr>
                <a:normAutofit fontScale="92500"/>
              </a:bodyPr>
              <a:lstStyle/>
              <a:p>
                <a:pPr eaLnBrk="1" hangingPunct="1">
                  <a:lnSpc>
                    <a:spcPct val="90000"/>
                  </a:lnSpc>
                </a:pPr>
                <a:r>
                  <a:rPr lang="en-US" altLang="en-US" sz="2400" dirty="0">
                    <a:ea typeface="ＭＳ Ｐゴシック" panose="020B0600070205080204" pitchFamily="34" charset="-128"/>
                  </a:rPr>
                  <a:t>We can think of the total number of hot dog combinations as the number of ways we can arrange 6 </a:t>
                </a:r>
                <a:r>
                  <a:rPr lang="en-US" altLang="en-US" sz="2400" i="1" dirty="0">
                    <a:ea typeface="ＭＳ Ｐゴシック" panose="020B0600070205080204" pitchFamily="34" charset="-128"/>
                  </a:rPr>
                  <a:t>x</a:t>
                </a:r>
                <a:r>
                  <a:rPr lang="ja-JP" altLang="en-US" sz="2400">
                    <a:ea typeface="ＭＳ Ｐゴシック" panose="020B0600070205080204" pitchFamily="34" charset="-128"/>
                  </a:rPr>
                  <a:t>’</a:t>
                </a:r>
                <a:r>
                  <a:rPr lang="en-US" altLang="ja-JP" sz="2400" dirty="0">
                    <a:ea typeface="ＭＳ Ｐゴシック" panose="020B0600070205080204" pitchFamily="34" charset="-128"/>
                  </a:rPr>
                  <a:t>s and 2 separation bars into 8 spots.  For example, here is one arrangement.</a:t>
                </a:r>
              </a:p>
              <a:p>
                <a:pPr eaLnBrk="1" hangingPunct="1">
                  <a:lnSpc>
                    <a:spcPct val="90000"/>
                  </a:lnSpc>
                  <a:buFontTx/>
                  <a:buNone/>
                </a:pPr>
                <a:r>
                  <a:rPr lang="en-US" altLang="en-US" sz="2400" dirty="0">
                    <a:ea typeface="ＭＳ Ｐゴシック" panose="020B0600070205080204" pitchFamily="34" charset="-128"/>
                  </a:rPr>
                  <a:t>        </a:t>
                </a:r>
              </a:p>
              <a:p>
                <a:pPr eaLnBrk="1" hangingPunct="1">
                  <a:lnSpc>
                    <a:spcPct val="90000"/>
                  </a:lnSpc>
                  <a:buFontTx/>
                  <a:buNone/>
                </a:pPr>
                <a:r>
                  <a:rPr lang="en-US" altLang="en-US" sz="2400" dirty="0">
                    <a:ea typeface="ＭＳ Ｐゴシック" panose="020B0600070205080204" pitchFamily="34" charset="-128"/>
                  </a:rPr>
                  <a:t>                         </a:t>
                </a:r>
              </a:p>
              <a:p>
                <a:pPr eaLnBrk="1" hangingPunct="1">
                  <a:lnSpc>
                    <a:spcPct val="90000"/>
                  </a:lnSpc>
                  <a:buFontTx/>
                  <a:buNone/>
                </a:pPr>
                <a:r>
                  <a:rPr lang="en-US" altLang="en-US" sz="2400" dirty="0">
                    <a:ea typeface="ＭＳ Ｐゴシック" panose="020B0600070205080204" pitchFamily="34" charset="-128"/>
                  </a:rPr>
                  <a:t>              Foot-Longs               Chili              Regular</a:t>
                </a:r>
              </a:p>
              <a:p>
                <a:pPr eaLnBrk="1" hangingPunct="1">
                  <a:lnSpc>
                    <a:spcPct val="90000"/>
                  </a:lnSpc>
                  <a:buFontTx/>
                  <a:buNone/>
                </a:pPr>
                <a:endParaRPr lang="en-US" altLang="en-US" sz="2400" dirty="0">
                  <a:ea typeface="ＭＳ Ｐゴシック" panose="020B0600070205080204" pitchFamily="34" charset="-128"/>
                </a:endParaRPr>
              </a:p>
              <a:p>
                <a:pPr eaLnBrk="1" hangingPunct="1">
                  <a:lnSpc>
                    <a:spcPct val="90000"/>
                  </a:lnSpc>
                </a:pPr>
                <a:r>
                  <a:rPr lang="en-US" altLang="en-US" sz="2400" dirty="0">
                    <a:ea typeface="ＭＳ Ｐゴシック" panose="020B0600070205080204" pitchFamily="34" charset="-128"/>
                  </a:rPr>
                  <a:t>Using Theorem 1 this gives us </a:t>
                </a:r>
                <a14:m>
                  <m:oMath xmlns:m="http://schemas.openxmlformats.org/officeDocument/2006/math">
                    <m:r>
                      <a:rPr lang="en-US" altLang="en-US" sz="2400" b="0" i="1" smtClean="0">
                        <a:latin typeface="Cambria Math" panose="02040503050406030204" pitchFamily="18" charset="0"/>
                        <a:ea typeface="ＭＳ Ｐゴシック" panose="020B0600070205080204" pitchFamily="34" charset="-128"/>
                      </a:rPr>
                      <m:t>𝑃</m:t>
                    </m:r>
                    <m:d>
                      <m:dPr>
                        <m:ctrlPr>
                          <a:rPr lang="en-US" altLang="en-US" sz="2400" b="0" i="1" smtClean="0">
                            <a:latin typeface="Cambria Math" panose="02040503050406030204" pitchFamily="18" charset="0"/>
                            <a:ea typeface="ＭＳ Ｐゴシック" panose="020B0600070205080204" pitchFamily="34" charset="-128"/>
                          </a:rPr>
                        </m:ctrlPr>
                      </m:dPr>
                      <m:e>
                        <m:r>
                          <a:rPr lang="en-US" altLang="en-US" sz="2400" b="0" i="1" smtClean="0">
                            <a:latin typeface="Cambria Math" panose="02040503050406030204" pitchFamily="18" charset="0"/>
                            <a:ea typeface="ＭＳ Ｐゴシック" panose="020B0600070205080204" pitchFamily="34" charset="-128"/>
                          </a:rPr>
                          <m:t>8;6, 2</m:t>
                        </m:r>
                      </m:e>
                    </m:d>
                    <m:r>
                      <a:rPr lang="en-US" altLang="en-US" sz="2400" b="0" i="1" smtClean="0">
                        <a:latin typeface="Cambria Math" panose="02040503050406030204" pitchFamily="18" charset="0"/>
                        <a:ea typeface="ＭＳ Ｐゴシック" panose="020B0600070205080204" pitchFamily="34" charset="-128"/>
                      </a:rPr>
                      <m:t>=</m:t>
                    </m:r>
                    <m:f>
                      <m:fPr>
                        <m:ctrlPr>
                          <a:rPr lang="en-US" altLang="en-US" sz="2400" b="0" i="1" smtClean="0">
                            <a:latin typeface="Cambria Math" panose="02040503050406030204" pitchFamily="18" charset="0"/>
                            <a:ea typeface="ＭＳ Ｐゴシック" panose="020B0600070205080204" pitchFamily="34" charset="-128"/>
                          </a:rPr>
                        </m:ctrlPr>
                      </m:fPr>
                      <m:num>
                        <m:r>
                          <a:rPr lang="en-US" altLang="en-US" sz="2400" b="0" i="1" smtClean="0">
                            <a:latin typeface="Cambria Math" panose="02040503050406030204" pitchFamily="18" charset="0"/>
                            <a:ea typeface="ＭＳ Ｐゴシック" panose="020B0600070205080204" pitchFamily="34" charset="-128"/>
                          </a:rPr>
                          <m:t>8!</m:t>
                        </m:r>
                      </m:num>
                      <m:den>
                        <m:r>
                          <a:rPr lang="en-US" altLang="en-US" sz="2400" b="0" i="1" smtClean="0">
                            <a:latin typeface="Cambria Math" panose="02040503050406030204" pitchFamily="18" charset="0"/>
                            <a:ea typeface="ＭＳ Ｐゴシック" panose="020B0600070205080204" pitchFamily="34" charset="-128"/>
                          </a:rPr>
                          <m:t>6!2!</m:t>
                        </m:r>
                      </m:den>
                    </m:f>
                  </m:oMath>
                </a14:m>
                <a:r>
                  <a:rPr lang="en-US" altLang="en-US" sz="2400" dirty="0">
                    <a:ea typeface="ＭＳ Ｐゴシック" panose="020B0600070205080204" pitchFamily="34" charset="-128"/>
                  </a:rPr>
                  <a:t> </a:t>
                </a:r>
              </a:p>
              <a:p>
                <a:pPr eaLnBrk="1" hangingPunct="1">
                  <a:lnSpc>
                    <a:spcPct val="90000"/>
                  </a:lnSpc>
                  <a:buFontTx/>
                  <a:buNone/>
                </a:pPr>
                <a:endParaRPr lang="en-US" altLang="en-US" sz="2400" dirty="0">
                  <a:ea typeface="ＭＳ Ｐゴシック" panose="020B0600070205080204" pitchFamily="34" charset="-128"/>
                </a:endParaRPr>
              </a:p>
            </p:txBody>
          </p:sp>
        </mc:Choice>
        <mc:Fallback xmlns="">
          <p:sp>
            <p:nvSpPr>
              <p:cNvPr id="28677" name="Rectangle 3">
                <a:extLst>
                  <a:ext uri="{FF2B5EF4-FFF2-40B4-BE49-F238E27FC236}">
                    <a16:creationId xmlns:a16="http://schemas.microsoft.com/office/drawing/2014/main" id="{2C32B189-F9A2-574E-ACA9-599A2E4E2182}"/>
                  </a:ext>
                </a:extLst>
              </p:cNvPr>
              <p:cNvSpPr>
                <a:spLocks noGrp="1" noRot="1" noChangeAspect="1" noMove="1" noResize="1" noEditPoints="1" noAdjustHandles="1" noChangeArrowheads="1" noChangeShapeType="1" noTextEdit="1"/>
              </p:cNvSpPr>
              <p:nvPr>
                <p:ph type="body" idx="1"/>
              </p:nvPr>
            </p:nvSpPr>
            <p:spPr>
              <a:xfrm>
                <a:off x="2209800" y="1981200"/>
                <a:ext cx="7772400" cy="3276600"/>
              </a:xfrm>
              <a:blipFill>
                <a:blip r:embed="rId2"/>
                <a:stretch>
                  <a:fillRect l="-816" t="-2713" r="-1631" b="-1938"/>
                </a:stretch>
              </a:blipFill>
            </p:spPr>
            <p:txBody>
              <a:bodyPr/>
              <a:lstStyle/>
              <a:p>
                <a:r>
                  <a:rPr lang="en-US">
                    <a:noFill/>
                  </a:rPr>
                  <a:t> </a:t>
                </a:r>
              </a:p>
            </p:txBody>
          </p:sp>
        </mc:Fallback>
      </mc:AlternateContent>
      <p:sp>
        <p:nvSpPr>
          <p:cNvPr id="28683" name="Text Box 36">
            <a:extLst>
              <a:ext uri="{FF2B5EF4-FFF2-40B4-BE49-F238E27FC236}">
                <a16:creationId xmlns:a16="http://schemas.microsoft.com/office/drawing/2014/main" id="{BFE660FD-2E15-3948-9C3B-EACC54748E86}"/>
              </a:ext>
            </a:extLst>
          </p:cNvPr>
          <p:cNvSpPr txBox="1">
            <a:spLocks noChangeArrowheads="1"/>
          </p:cNvSpPr>
          <p:nvPr/>
        </p:nvSpPr>
        <p:spPr bwMode="auto">
          <a:xfrm>
            <a:off x="3524037" y="3162300"/>
            <a:ext cx="565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i="1" dirty="0">
                <a:latin typeface="Times New Roman" panose="02020603050405020304" pitchFamily="18" charset="0"/>
              </a:rPr>
              <a:t>x      x       |      x       x      x      |       x</a:t>
            </a:r>
          </a:p>
        </p:txBody>
      </p:sp>
    </p:spTree>
    <p:extLst>
      <p:ext uri="{BB962C8B-B14F-4D97-AF65-F5344CB8AC3E}">
        <p14:creationId xmlns:p14="http://schemas.microsoft.com/office/powerpoint/2010/main" val="23749953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2619D-EDD0-1844-A74F-31FDA99DDCA7}"/>
              </a:ext>
            </a:extLst>
          </p:cNvPr>
          <p:cNvSpPr>
            <a:spLocks noGrp="1"/>
          </p:cNvSpPr>
          <p:nvPr>
            <p:ph type="title"/>
          </p:nvPr>
        </p:nvSpPr>
        <p:spPr>
          <a:xfrm>
            <a:off x="838200" y="190465"/>
            <a:ext cx="10515600" cy="1325563"/>
          </a:xfrm>
        </p:spPr>
        <p:txBody>
          <a:bodyPr/>
          <a:lstStyle/>
          <a:p>
            <a:pPr algn="ctr"/>
            <a:r>
              <a:rPr lang="en-US" b="1" dirty="0"/>
              <a:t>The separation bar method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D366FF-7016-C444-9332-8AE762D78152}"/>
                  </a:ext>
                </a:extLst>
              </p:cNvPr>
              <p:cNvSpPr>
                <a:spLocks noGrp="1"/>
              </p:cNvSpPr>
              <p:nvPr>
                <p:ph idx="1"/>
              </p:nvPr>
            </p:nvSpPr>
            <p:spPr>
              <a:xfrm>
                <a:off x="930667" y="1253331"/>
                <a:ext cx="10515600" cy="5322130"/>
              </a:xfrm>
            </p:spPr>
            <p:txBody>
              <a:bodyPr>
                <a:normAutofit fontScale="92500" lnSpcReduction="10000"/>
              </a:bodyPr>
              <a:lstStyle/>
              <a:p>
                <a:r>
                  <a:rPr lang="en-US" dirty="0"/>
                  <a:t>For selection with repetition problem, we create ”rooms” </a:t>
                </a:r>
              </a:p>
              <a:p>
                <a:r>
                  <a:rPr lang="en-US" dirty="0"/>
                  <a:t>Each room contains the same type</a:t>
                </a:r>
              </a:p>
              <a:p>
                <a:r>
                  <a:rPr lang="en-US" dirty="0"/>
                  <a:t>Rooms are separated by “separation bars”</a:t>
                </a:r>
              </a:p>
              <a:p>
                <a:r>
                  <a:rPr lang="en-US" dirty="0"/>
                  <a:t>For </a:t>
                </a:r>
                <a14:m>
                  <m:oMath xmlns:m="http://schemas.openxmlformats.org/officeDocument/2006/math">
                    <m:r>
                      <a:rPr lang="en-US" b="0" i="1" smtClean="0">
                        <a:latin typeface="Cambria Math" panose="02040503050406030204" pitchFamily="18" charset="0"/>
                      </a:rPr>
                      <m:t>𝑛</m:t>
                    </m:r>
                  </m:oMath>
                </a14:m>
                <a:r>
                  <a:rPr lang="en-US" dirty="0"/>
                  <a:t> rooms, we need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separation bars</a:t>
                </a:r>
              </a:p>
              <a:p>
                <a:r>
                  <a:rPr lang="en-US" dirty="0"/>
                  <a:t>Each item of a kind is marked by “</a:t>
                </a:r>
                <a14:m>
                  <m:oMath xmlns:m="http://schemas.openxmlformats.org/officeDocument/2006/math">
                    <m:r>
                      <a:rPr lang="en-US" b="0" i="1" smtClean="0">
                        <a:latin typeface="Cambria Math" panose="02040503050406030204" pitchFamily="18" charset="0"/>
                      </a:rPr>
                      <m:t>𝑥</m:t>
                    </m:r>
                  </m:oMath>
                </a14:m>
                <a:r>
                  <a:rPr lang="en-US" dirty="0"/>
                  <a:t>” of sitting in the corresponding room, there are total of </a:t>
                </a:r>
                <a14:m>
                  <m:oMath xmlns:m="http://schemas.openxmlformats.org/officeDocument/2006/math">
                    <m:r>
                      <a:rPr lang="en-US" b="0" i="1" smtClean="0">
                        <a:latin typeface="Cambria Math" panose="02040503050406030204" pitchFamily="18" charset="0"/>
                      </a:rPr>
                      <m:t>𝑟</m:t>
                    </m:r>
                  </m:oMath>
                </a14:m>
                <a:r>
                  <a:rPr lang="en-US" dirty="0"/>
                  <a:t> items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r>
                  <a:rPr lang="en-US" dirty="0"/>
                  <a:t>)</a:t>
                </a:r>
              </a:p>
              <a:p>
                <a:r>
                  <a:rPr lang="en-US" dirty="0"/>
                  <a:t>The counting is the arrangement among separations bars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endParaRPr lang="en-US" dirty="0"/>
              </a:p>
              <a:p>
                <a:r>
                  <a:rPr lang="en-US" dirty="0"/>
                  <a:t>Total to arrange: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number of separation bars: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number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r>
                  <a:rPr lang="en-US" dirty="0"/>
                  <a:t>: </a:t>
                </a:r>
                <a14:m>
                  <m:oMath xmlns:m="http://schemas.openxmlformats.org/officeDocument/2006/math">
                    <m:r>
                      <a:rPr lang="en-US" b="0" i="1" smtClean="0">
                        <a:latin typeface="Cambria Math" panose="02040503050406030204" pitchFamily="18" charset="0"/>
                      </a:rPr>
                      <m:t>𝑟</m:t>
                    </m:r>
                  </m:oMath>
                </a14:m>
                <a:endParaRPr lang="en-US" dirty="0"/>
              </a:p>
              <a:p>
                <a:r>
                  <a:rPr lang="en-US" dirty="0"/>
                  <a:t>We have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num>
                        <m:den>
                          <m:r>
                            <a:rPr lang="en-US" b="0" i="1" smtClean="0">
                              <a:latin typeface="Cambria Math" panose="02040503050406030204" pitchFamily="18" charset="0"/>
                            </a:rPr>
                            <m:t>𝑟</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den>
                      </m:f>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e>
                      </m:d>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DD366FF-7016-C444-9332-8AE762D78152}"/>
                  </a:ext>
                </a:extLst>
              </p:cNvPr>
              <p:cNvSpPr>
                <a:spLocks noGrp="1" noRot="1" noChangeAspect="1" noMove="1" noResize="1" noEditPoints="1" noAdjustHandles="1" noChangeArrowheads="1" noChangeShapeType="1" noTextEdit="1"/>
              </p:cNvSpPr>
              <p:nvPr>
                <p:ph idx="1"/>
              </p:nvPr>
            </p:nvSpPr>
            <p:spPr>
              <a:xfrm>
                <a:off x="930667" y="1253331"/>
                <a:ext cx="10515600" cy="5322130"/>
              </a:xfrm>
              <a:blipFill>
                <a:blip r:embed="rId2"/>
                <a:stretch>
                  <a:fillRect l="-844" t="-2143" b="-238"/>
                </a:stretch>
              </a:blipFill>
            </p:spPr>
            <p:txBody>
              <a:bodyPr/>
              <a:lstStyle/>
              <a:p>
                <a:r>
                  <a:rPr lang="en-US">
                    <a:noFill/>
                  </a:rPr>
                  <a:t> </a:t>
                </a:r>
              </a:p>
            </p:txBody>
          </p:sp>
        </mc:Fallback>
      </mc:AlternateContent>
    </p:spTree>
    <p:extLst>
      <p:ext uri="{BB962C8B-B14F-4D97-AF65-F5344CB8AC3E}">
        <p14:creationId xmlns:p14="http://schemas.microsoft.com/office/powerpoint/2010/main" val="27208580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DC1F-849A-4245-87AD-B404D8757F88}"/>
              </a:ext>
            </a:extLst>
          </p:cNvPr>
          <p:cNvSpPr>
            <a:spLocks noGrp="1"/>
          </p:cNvSpPr>
          <p:nvPr>
            <p:ph type="title"/>
          </p:nvPr>
        </p:nvSpPr>
        <p:spPr>
          <a:xfrm>
            <a:off x="838200" y="365125"/>
            <a:ext cx="10515600" cy="795855"/>
          </a:xfrm>
        </p:spPr>
        <p:txBody>
          <a:bodyPr>
            <a:normAutofit/>
          </a:bodyPr>
          <a:lstStyle/>
          <a:p>
            <a:r>
              <a:rPr lang="en-US" sz="3200" b="1" dirty="0"/>
              <a:t>Summary of counting with repetitions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29A73B-163C-7344-B1BB-EEF6A310A472}"/>
                  </a:ext>
                </a:extLst>
              </p:cNvPr>
              <p:cNvSpPr>
                <a:spLocks noGrp="1"/>
              </p:cNvSpPr>
              <p:nvPr>
                <p:ph idx="1"/>
              </p:nvPr>
            </p:nvSpPr>
            <p:spPr>
              <a:xfrm>
                <a:off x="838200" y="1160980"/>
                <a:ext cx="10515600" cy="5015983"/>
              </a:xfrm>
            </p:spPr>
            <p:txBody>
              <a:bodyPr>
                <a:normAutofit fontScale="92500" lnSpcReduction="10000"/>
              </a:bodyPr>
              <a:lstStyle/>
              <a:p>
                <a:r>
                  <a:rPr lang="en-US" dirty="0"/>
                  <a:t>Arrangement with repetition: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1123452224</m:t>
                      </m:r>
                    </m:oMath>
                  </m:oMathPara>
                </a14:m>
                <a:endParaRPr lang="en-US" dirty="0"/>
              </a:p>
              <a:p>
                <a:pPr lvl="1"/>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𝑟</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5</m:t>
                        </m:r>
                      </m:e>
                      <m:sup>
                        <m:r>
                          <a:rPr lang="en-US" b="0" i="1" smtClean="0">
                            <a:latin typeface="Cambria Math" panose="02040503050406030204" pitchFamily="18" charset="0"/>
                          </a:rPr>
                          <m:t>10</m:t>
                        </m:r>
                      </m:sup>
                    </m:sSup>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(5)</m:t>
                    </m:r>
                  </m:oMath>
                </a14:m>
                <a:r>
                  <a:rPr lang="en-US" dirty="0"/>
                  <a:t> number and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(10)</m:t>
                    </m:r>
                  </m:oMath>
                </a14:m>
                <a:r>
                  <a:rPr lang="en-US" dirty="0"/>
                  <a:t> positions, repetition allowed</a:t>
                </a:r>
              </a:p>
              <a:p>
                <a:r>
                  <a:rPr lang="en-US" dirty="0"/>
                  <a:t>Arrangement with subgroups: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1123452224</m:t>
                      </m:r>
                    </m:oMath>
                  </m:oMathPara>
                </a14:m>
                <a:endParaRPr lang="en-US" dirty="0"/>
              </a:p>
              <a:p>
                <a:pPr lvl="1"/>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5</m:t>
                            </m:r>
                          </m:sub>
                        </m:sSub>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2!4!1!2!1!</m:t>
                        </m:r>
                      </m:den>
                    </m:f>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=2,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=4,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4</m:t>
                        </m:r>
                      </m:sub>
                    </m:sSub>
                    <m:r>
                      <a:rPr lang="en-US" b="0" i="1" smtClean="0">
                        <a:latin typeface="Cambria Math" panose="02040503050406030204" pitchFamily="18" charset="0"/>
                      </a:rPr>
                      <m:t>=2,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5</m:t>
                        </m:r>
                      </m:sub>
                    </m:sSub>
                    <m:r>
                      <a:rPr lang="en-US" b="0" i="1" smtClean="0">
                        <a:latin typeface="Cambria Math" panose="02040503050406030204" pitchFamily="18" charset="0"/>
                      </a:rPr>
                      <m:t>=1</m:t>
                    </m:r>
                    <m:r>
                      <a:rPr lang="en-US" b="0" i="0" smtClean="0">
                        <a:latin typeface="Cambria Math" panose="02040503050406030204" pitchFamily="18" charset="0"/>
                      </a:rPr>
                      <m:t>. </m:t>
                    </m:r>
                  </m:oMath>
                </a14:m>
                <a:endParaRPr lang="en-US" dirty="0"/>
              </a:p>
              <a:p>
                <a:r>
                  <a:rPr lang="en-US" dirty="0"/>
                  <a:t>Selection with repetition:</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111</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22</m:t>
                          </m:r>
                        </m:e>
                      </m:d>
                      <m:r>
                        <a:rPr lang="en-US" b="0" i="1" smtClean="0">
                          <a:latin typeface="Cambria Math" panose="02040503050406030204" pitchFamily="18" charset="0"/>
                        </a:rPr>
                        <m:t>3|44|55</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m:t>
                      </m:r>
                    </m:oMath>
                  </m:oMathPara>
                </a14:m>
                <a:endParaRPr lang="en-US" dirty="0"/>
              </a:p>
              <a:p>
                <a:pPr lvl="1"/>
                <a:r>
                  <a:rPr lang="en-US" dirty="0"/>
                  <a:t>Total of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=10</m:t>
                    </m:r>
                  </m:oMath>
                </a14:m>
                <a:r>
                  <a:rPr lang="en-US" dirty="0"/>
                  <a:t> items to be selected from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m:t>
                    </m:r>
                  </m:oMath>
                </a14:m>
                <a:r>
                  <a:rPr lang="en-US" dirty="0"/>
                  <a:t> kinds</a:t>
                </a:r>
              </a:p>
              <a:p>
                <a:pPr lvl="1"/>
                <a:r>
                  <a:rPr lang="en-US" dirty="0"/>
                  <a:t>Using ”separation bar” method. </a:t>
                </a:r>
                <a14:m>
                  <m:oMath xmlns:m="http://schemas.openxmlformats.org/officeDocument/2006/math">
                    <m:r>
                      <a:rPr lang="en-US" b="0" i="1" smtClean="0">
                        <a:latin typeface="Cambria Math" panose="02040503050406030204" pitchFamily="18" charset="0"/>
                      </a:rPr>
                      <m:t>𝑛</m:t>
                    </m:r>
                  </m:oMath>
                </a14:m>
                <a:r>
                  <a:rPr lang="en-US" dirty="0"/>
                  <a:t> kind requires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separations bars</a:t>
                </a:r>
              </a:p>
              <a:p>
                <a:pPr lvl="1"/>
                <a:r>
                  <a:rPr lang="en-US" dirty="0"/>
                  <a:t>The counting is the arrangement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r>
                  <a:rPr lang="en-US" dirty="0"/>
                  <a:t> and separation bars:</a:t>
                </a:r>
              </a:p>
              <a:p>
                <a:pPr marL="457200" lvl="1" indent="0" algn="ctr">
                  <a:buNone/>
                </a:pPr>
                <a:r>
                  <a:rPr lang="en-US" dirty="0"/>
                  <a:t> </a:t>
                </a:r>
                <a14:m>
                  <m:oMath xmlns:m="http://schemas.openxmlformats.org/officeDocument/2006/math">
                    <m:f>
                      <m:fPr>
                        <m:ctrlPr>
                          <a:rPr lang="en-US"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num>
                      <m:den>
                        <m:r>
                          <a:rPr lang="en-US" b="0" i="1" smtClean="0">
                            <a:latin typeface="Cambria Math" panose="02040503050406030204" pitchFamily="18" charset="0"/>
                          </a:rPr>
                          <m:t>𝑟</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den>
                    </m:f>
                    <m:r>
                      <a:rPr lang="en-US" b="0" i="1" smtClean="0">
                        <a:latin typeface="Cambria Math" panose="02040503050406030204" pitchFamily="18" charset="0"/>
                      </a:rPr>
                      <m:t>=</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e>
                    </m:d>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−1)</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D29A73B-163C-7344-B1BB-EEF6A310A472}"/>
                  </a:ext>
                </a:extLst>
              </p:cNvPr>
              <p:cNvSpPr>
                <a:spLocks noGrp="1" noRot="1" noChangeAspect="1" noMove="1" noResize="1" noEditPoints="1" noAdjustHandles="1" noChangeArrowheads="1" noChangeShapeType="1" noTextEdit="1"/>
              </p:cNvSpPr>
              <p:nvPr>
                <p:ph idx="1"/>
              </p:nvPr>
            </p:nvSpPr>
            <p:spPr>
              <a:xfrm>
                <a:off x="838200" y="1160980"/>
                <a:ext cx="10515600" cy="5015983"/>
              </a:xfrm>
              <a:blipFill>
                <a:blip r:embed="rId2"/>
                <a:stretch>
                  <a:fillRect l="-844" t="-2020"/>
                </a:stretch>
              </a:blipFill>
            </p:spPr>
            <p:txBody>
              <a:bodyPr/>
              <a:lstStyle/>
              <a:p>
                <a:r>
                  <a:rPr lang="en-US">
                    <a:noFill/>
                  </a:rPr>
                  <a:t> </a:t>
                </a:r>
              </a:p>
            </p:txBody>
          </p:sp>
        </mc:Fallback>
      </mc:AlternateContent>
    </p:spTree>
    <p:extLst>
      <p:ext uri="{BB962C8B-B14F-4D97-AF65-F5344CB8AC3E}">
        <p14:creationId xmlns:p14="http://schemas.microsoft.com/office/powerpoint/2010/main" val="1238651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5922</TotalTime>
  <Words>2948</Words>
  <Application>Microsoft Office PowerPoint</Application>
  <PresentationFormat>宽屏</PresentationFormat>
  <Paragraphs>365</Paragraphs>
  <Slides>66</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76" baseType="lpstr">
      <vt:lpstr>ＭＳ Ｐゴシック</vt:lpstr>
      <vt:lpstr>等线</vt:lpstr>
      <vt:lpstr>Arial</vt:lpstr>
      <vt:lpstr>Calibri</vt:lpstr>
      <vt:lpstr>Calibri Light</vt:lpstr>
      <vt:lpstr>Cambria Math</vt:lpstr>
      <vt:lpstr>Times New Roman</vt:lpstr>
      <vt:lpstr>Wingdings</vt:lpstr>
      <vt:lpstr>Office Theme</vt:lpstr>
      <vt:lpstr>Equation</vt:lpstr>
      <vt:lpstr>Chapter 5: Counting</vt:lpstr>
      <vt:lpstr>Why counting?</vt:lpstr>
      <vt:lpstr>Introduction</vt:lpstr>
      <vt:lpstr>The Addition Principle</vt:lpstr>
      <vt:lpstr>A Visualization of the Addition Principle</vt:lpstr>
      <vt:lpstr>The Multiplication Principle</vt:lpstr>
      <vt:lpstr>A Visualization of the Multiplication Principle</vt:lpstr>
      <vt:lpstr>The condition to use two principles</vt:lpstr>
      <vt:lpstr>Example 1: Adding Sets of Students</vt:lpstr>
      <vt:lpstr>Example 2 </vt:lpstr>
      <vt:lpstr>Analysis: student who take algebra may also take geometry, the two subsets are NOT exclusive. </vt:lpstr>
      <vt:lpstr>Example 3: Rolling Dice</vt:lpstr>
      <vt:lpstr>Example 3 (continued)</vt:lpstr>
      <vt:lpstr>Example 4: Arranging Books</vt:lpstr>
      <vt:lpstr>Example 4 (continued)</vt:lpstr>
      <vt:lpstr>Example 5: Sequences of Letters</vt:lpstr>
      <vt:lpstr>Example 5 (continued)</vt:lpstr>
      <vt:lpstr>Example 5 (continued)</vt:lpstr>
      <vt:lpstr>Example 5 (continued)</vt:lpstr>
      <vt:lpstr>Example 4 (continued)</vt:lpstr>
      <vt:lpstr>Example 4 (continued)</vt:lpstr>
      <vt:lpstr>Example 5 (continued)</vt:lpstr>
      <vt:lpstr>Example 5 (continued)</vt:lpstr>
      <vt:lpstr>Example 6: Nonempty Collections</vt:lpstr>
      <vt:lpstr>Example 6 (continued)</vt:lpstr>
      <vt:lpstr>Advice</vt:lpstr>
      <vt:lpstr>Summary</vt:lpstr>
      <vt:lpstr>Class quiz problem 1:</vt:lpstr>
      <vt:lpstr>Class quiz problem 2:</vt:lpstr>
      <vt:lpstr>PowerPoint 演示文稿</vt:lpstr>
      <vt:lpstr>Definitions </vt:lpstr>
      <vt:lpstr>PowerPoint 演示文稿</vt:lpstr>
      <vt:lpstr>PowerPoint 演示文稿</vt:lpstr>
      <vt:lpstr>Definitions: n choose r permutation (select r people from total of n people to line-up):</vt:lpstr>
      <vt:lpstr>PowerPoint 演示文稿</vt:lpstr>
      <vt:lpstr>Definitions: n choose r combination (select r people from n people to form a committee/group):</vt:lpstr>
      <vt:lpstr>PowerPoint 演示文稿</vt:lpstr>
      <vt:lpstr>PowerPoint 演示文稿</vt:lpstr>
      <vt:lpstr>Example 1 continued:</vt:lpstr>
      <vt:lpstr>Example 2 – Poker Probabilities</vt:lpstr>
      <vt:lpstr>Example 2 cont’d</vt:lpstr>
      <vt:lpstr>Example 2 cont’d</vt:lpstr>
      <vt:lpstr>Example 2 cont’d</vt:lpstr>
      <vt:lpstr>Example 2 cont’d</vt:lpstr>
      <vt:lpstr>Example 3 – Forming Committees</vt:lpstr>
      <vt:lpstr>Example 3 cont’d</vt:lpstr>
      <vt:lpstr>Example 3 cont’d</vt:lpstr>
      <vt:lpstr>Example 4: voter power</vt:lpstr>
      <vt:lpstr>Example 4 continued:</vt:lpstr>
      <vt:lpstr>Example 4 continued:</vt:lpstr>
      <vt:lpstr>The probability that an entity plays the pivotal role in an election is called the Shapley-Shibik Index</vt:lpstr>
      <vt:lpstr>Theorem 1</vt:lpstr>
      <vt:lpstr>Example/Proof</vt:lpstr>
      <vt:lpstr>Example/Proof cont’d</vt:lpstr>
      <vt:lpstr>Alternate Proof</vt:lpstr>
      <vt:lpstr>Alternate Proof cont’d</vt:lpstr>
      <vt:lpstr>Example 2</vt:lpstr>
      <vt:lpstr>Solution</vt:lpstr>
      <vt:lpstr>Theorem 2</vt:lpstr>
      <vt:lpstr>Example/Proof</vt:lpstr>
      <vt:lpstr>Example/Proof cont’d</vt:lpstr>
      <vt:lpstr>Example 4</vt:lpstr>
      <vt:lpstr>Solution</vt:lpstr>
      <vt:lpstr>Solution cont’d</vt:lpstr>
      <vt:lpstr>The separation bar method</vt:lpstr>
      <vt:lpstr>Summary of counting with repetitions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Counting</dc:title>
  <dc:creator>Xiaolin Li</dc:creator>
  <cp:lastModifiedBy>xing</cp:lastModifiedBy>
  <cp:revision>93</cp:revision>
  <cp:lastPrinted>2025-11-07T03:39:52Z</cp:lastPrinted>
  <dcterms:created xsi:type="dcterms:W3CDTF">2020-10-01T15:41:14Z</dcterms:created>
  <dcterms:modified xsi:type="dcterms:W3CDTF">2025-11-08T03:04:53Z</dcterms:modified>
</cp:coreProperties>
</file>