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D9A5B-6B58-4020-8FD3-90AD91ACBCC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7BD46C-CF36-4C5F-A73E-AB8FE9B213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264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BDAA603E-36DC-B04D-9F1D-537371CCE6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510C5E0-84AD-AD44-8F45-9E5787F43727}" type="slidenum">
              <a:rPr lang="en-US" altLang="en-US" sz="1200">
                <a:latin typeface="Arial" panose="020B0604020202020204" pitchFamily="34" charset="0"/>
              </a:rPr>
              <a:pPr eaLnBrk="1" hangingPunct="1"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22065344-3101-4D44-83FA-86F6B348F3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1EEF88E2-F5AB-924E-B4F7-DAE546667F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8506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33A0-91F6-4F4F-9107-A6E88AB48F2B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FC28C-1706-4617-8FE7-917B883656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727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33A0-91F6-4F4F-9107-A6E88AB48F2B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FC28C-1706-4617-8FE7-917B883656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607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33A0-91F6-4F4F-9107-A6E88AB48F2B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FC28C-1706-4617-8FE7-917B883656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7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33A0-91F6-4F4F-9107-A6E88AB48F2B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FC28C-1706-4617-8FE7-917B883656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003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33A0-91F6-4F4F-9107-A6E88AB48F2B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FC28C-1706-4617-8FE7-917B883656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271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33A0-91F6-4F4F-9107-A6E88AB48F2B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FC28C-1706-4617-8FE7-917B883656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51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33A0-91F6-4F4F-9107-A6E88AB48F2B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FC28C-1706-4617-8FE7-917B883656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31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33A0-91F6-4F4F-9107-A6E88AB48F2B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FC28C-1706-4617-8FE7-917B883656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272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33A0-91F6-4F4F-9107-A6E88AB48F2B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FC28C-1706-4617-8FE7-917B883656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898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33A0-91F6-4F4F-9107-A6E88AB48F2B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FC28C-1706-4617-8FE7-917B883656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293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33A0-91F6-4F4F-9107-A6E88AB48F2B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FC28C-1706-4617-8FE7-917B883656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317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533A0-91F6-4F4F-9107-A6E88AB48F2B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FC28C-1706-4617-8FE7-917B883656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248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3">
            <a:extLst>
              <a:ext uri="{FF2B5EF4-FFF2-40B4-BE49-F238E27FC236}">
                <a16:creationId xmlns:a16="http://schemas.microsoft.com/office/drawing/2014/main" id="{4CFAD782-332E-0842-903C-261DBE2195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24088" y="2438400"/>
            <a:ext cx="7772400" cy="3614738"/>
          </a:xfrm>
          <a:noFill/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algn="ctr" eaLnBrk="1" hangingPunct="1">
              <a:buFontTx/>
              <a:buNone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Section 7.1</a:t>
            </a:r>
          </a:p>
          <a:p>
            <a:pPr algn="ctr" eaLnBrk="1" hangingPunct="1">
              <a:buFontTx/>
              <a:buNone/>
            </a:pPr>
            <a:r>
              <a:rPr lang="en-US" altLang="en-US" i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Recurrence Relations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2842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標題 1">
            <a:extLst>
              <a:ext uri="{FF2B5EF4-FFF2-40B4-BE49-F238E27FC236}">
                <a16:creationId xmlns:a16="http://schemas.microsoft.com/office/drawing/2014/main" id="{08193C0E-B9B3-3449-A89D-742FB9C2F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7.1 Recurrence Relations </a:t>
            </a:r>
            <a:endParaRPr lang="zh-TW" altLang="en-US">
              <a:ea typeface="ＭＳ Ｐゴシック" panose="020B0600070205080204" pitchFamily="34" charset="-128"/>
            </a:endParaRPr>
          </a:p>
        </p:txBody>
      </p:sp>
      <p:sp>
        <p:nvSpPr>
          <p:cNvPr id="21506" name="內容版面配置區 2">
            <a:extLst>
              <a:ext uri="{FF2B5EF4-FFF2-40B4-BE49-F238E27FC236}">
                <a16:creationId xmlns:a16="http://schemas.microsoft.com/office/drawing/2014/main" id="{544F9BA0-9E93-F841-ADD9-1832C78AF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u="sng">
              <a:ea typeface="ＭＳ Ｐゴシック" panose="020B0600070205080204" pitchFamily="34" charset="-128"/>
            </a:endParaRPr>
          </a:p>
          <a:p>
            <a:r>
              <a:rPr lang="en-US" altLang="zh-TW" u="sng">
                <a:solidFill>
                  <a:srgbClr val="00B050"/>
                </a:solidFill>
                <a:ea typeface="ＭＳ Ｐゴシック" panose="020B0600070205080204" pitchFamily="34" charset="-128"/>
              </a:rPr>
              <a:t>Recurrence Relations</a:t>
            </a:r>
          </a:p>
          <a:p>
            <a:endParaRPr lang="en-US" altLang="zh-TW" u="sng">
              <a:solidFill>
                <a:srgbClr val="00B050"/>
              </a:solidFill>
              <a:ea typeface="ＭＳ Ｐゴシック" panose="020B0600070205080204" pitchFamily="34" charset="-128"/>
            </a:endParaRPr>
          </a:p>
          <a:p>
            <a:r>
              <a:rPr lang="en-US" altLang="zh-TW" u="sng">
                <a:solidFill>
                  <a:srgbClr val="00B050"/>
                </a:solidFill>
                <a:ea typeface="ＭＳ Ｐゴシック" panose="020B0600070205080204" pitchFamily="34" charset="-128"/>
              </a:rPr>
              <a:t>Modeling with Recurrence Relations</a:t>
            </a:r>
          </a:p>
          <a:p>
            <a:endParaRPr lang="en-US" altLang="zh-TW" u="sng">
              <a:solidFill>
                <a:srgbClr val="00B050"/>
              </a:solidFill>
              <a:ea typeface="ＭＳ Ｐゴシック" panose="020B0600070205080204" pitchFamily="34" charset="-128"/>
            </a:endParaRPr>
          </a:p>
          <a:p>
            <a:endParaRPr lang="en-US" altLang="zh-TW" u="sng">
              <a:solidFill>
                <a:srgbClr val="00B050"/>
              </a:solidFill>
              <a:ea typeface="ＭＳ Ｐゴシック" panose="020B0600070205080204" pitchFamily="34" charset="-128"/>
            </a:endParaRPr>
          </a:p>
          <a:p>
            <a:endParaRPr lang="en-US" altLang="zh-TW" u="sng">
              <a:ea typeface="ＭＳ Ｐゴシック" panose="020B0600070205080204" pitchFamily="34" charset="-128"/>
            </a:endParaRPr>
          </a:p>
          <a:p>
            <a:endParaRPr lang="zh-TW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46494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標題 1">
            <a:extLst>
              <a:ext uri="{FF2B5EF4-FFF2-40B4-BE49-F238E27FC236}">
                <a16:creationId xmlns:a16="http://schemas.microsoft.com/office/drawing/2014/main" id="{EEF511D3-BBA7-4047-B9E1-CB3811910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Recurrence Relations</a:t>
            </a:r>
            <a:endParaRPr lang="zh-TW" altLang="en-US" b="1" u="sng">
              <a:solidFill>
                <a:srgbClr val="00B05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8099AF-51E3-FA4F-B72E-4FEAD1347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zh-TW" dirty="0"/>
              <a:t>The number of bacteria in a colony doubles every hour. If a colony begins with five bacteria , how many will be present in </a:t>
            </a:r>
            <a:r>
              <a:rPr lang="en-US" altLang="zh-TW" i="1" dirty="0"/>
              <a:t>n</a:t>
            </a:r>
            <a:r>
              <a:rPr lang="en-US" altLang="zh-TW" dirty="0"/>
              <a:t> hours? </a:t>
            </a:r>
          </a:p>
          <a:p>
            <a:pPr>
              <a:defRPr/>
            </a:pPr>
            <a:r>
              <a:rPr lang="en-US" altLang="zh-TW" dirty="0"/>
              <a:t>Some of the counting problems that cannot be solved using the techniques discussed in Chapter 5 can be solved by finding relationships, called </a:t>
            </a:r>
            <a:r>
              <a:rPr lang="en-US" altLang="zh-TW" dirty="0">
                <a:solidFill>
                  <a:srgbClr val="0070C0"/>
                </a:solidFill>
              </a:rPr>
              <a:t>recurrence relations</a:t>
            </a:r>
            <a:r>
              <a:rPr lang="en-US" altLang="zh-TW" dirty="0"/>
              <a:t>.</a:t>
            </a:r>
          </a:p>
          <a:p>
            <a:pPr>
              <a:defRPr/>
            </a:pPr>
            <a:r>
              <a:rPr lang="en-US" altLang="zh-TW" dirty="0"/>
              <a:t>We will study a variety of counting problems that can be modeled using recurrence relations.</a:t>
            </a:r>
          </a:p>
          <a:p>
            <a:pPr>
              <a:defRPr/>
            </a:pPr>
            <a:r>
              <a:rPr lang="en-US" altLang="zh-TW" dirty="0"/>
              <a:t>We will develop methods in this section and in Section 7.3-4 for finding explicit formulae for the terms of sequences that satisfy certain types of recurrence relations.</a:t>
            </a:r>
          </a:p>
        </p:txBody>
      </p:sp>
    </p:spTree>
    <p:extLst>
      <p:ext uri="{BB962C8B-B14F-4D97-AF65-F5344CB8AC3E}">
        <p14:creationId xmlns:p14="http://schemas.microsoft.com/office/powerpoint/2010/main" val="2445625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標題 1">
            <a:extLst>
              <a:ext uri="{FF2B5EF4-FFF2-40B4-BE49-F238E27FC236}">
                <a16:creationId xmlns:a16="http://schemas.microsoft.com/office/drawing/2014/main" id="{A1928648-F903-F044-908E-D4CDFC4FA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Recurrence Relations</a:t>
            </a:r>
            <a:endParaRPr lang="zh-TW" altLang="en-US">
              <a:ea typeface="ＭＳ Ｐゴシック" panose="020B0600070205080204" pitchFamily="34" charset="-128"/>
            </a:endParaRPr>
          </a:p>
        </p:txBody>
      </p:sp>
      <p:sp>
        <p:nvSpPr>
          <p:cNvPr id="23554" name="內容版面配置區 2">
            <a:extLst>
              <a:ext uri="{FF2B5EF4-FFF2-40B4-BE49-F238E27FC236}">
                <a16:creationId xmlns:a16="http://schemas.microsoft.com/office/drawing/2014/main" id="{1ADC2B35-2B79-EE44-9930-719FADD34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00B050"/>
                </a:solidFill>
                <a:ea typeface="ＭＳ Ｐゴシック" panose="020B0600070205080204" pitchFamily="34" charset="-128"/>
              </a:rPr>
              <a:t>Example 1: </a:t>
            </a:r>
            <a:r>
              <a:rPr lang="en-US" altLang="zh-TW">
                <a:ea typeface="ＭＳ Ｐゴシック" panose="020B0600070205080204" pitchFamily="34" charset="-128"/>
              </a:rPr>
              <a:t>Let {</a:t>
            </a:r>
            <a:r>
              <a:rPr lang="en-US" altLang="zh-TW" i="1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n</a:t>
            </a:r>
            <a:r>
              <a:rPr lang="en-US" altLang="zh-TW">
                <a:ea typeface="ＭＳ Ｐゴシック" panose="020B0600070205080204" pitchFamily="34" charset="-128"/>
              </a:rPr>
              <a:t>} be a sequence that satisfies  the recurrence relation  </a:t>
            </a:r>
            <a:r>
              <a:rPr lang="en-US" altLang="zh-TW" i="1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n</a:t>
            </a:r>
            <a:r>
              <a:rPr lang="en-US" altLang="zh-TW">
                <a:ea typeface="ＭＳ Ｐゴシック" panose="020B0600070205080204" pitchFamily="34" charset="-128"/>
              </a:rPr>
              <a:t> = </a:t>
            </a:r>
            <a:r>
              <a:rPr lang="en-US" altLang="zh-TW" i="1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n-1</a:t>
            </a:r>
            <a:r>
              <a:rPr lang="en-US" altLang="zh-TW">
                <a:ea typeface="ＭＳ Ｐゴシック" panose="020B0600070205080204" pitchFamily="34" charset="-128"/>
              </a:rPr>
              <a:t> –</a:t>
            </a:r>
            <a:r>
              <a:rPr lang="en-US" altLang="zh-TW" i="1">
                <a:ea typeface="ＭＳ Ｐゴシック" panose="020B0600070205080204" pitchFamily="34" charset="-128"/>
              </a:rPr>
              <a:t> 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n-2</a:t>
            </a:r>
            <a:r>
              <a:rPr lang="en-US" altLang="zh-TW" i="1">
                <a:ea typeface="ＭＳ Ｐゴシック" panose="020B0600070205080204" pitchFamily="34" charset="-128"/>
              </a:rPr>
              <a:t> </a:t>
            </a:r>
            <a:r>
              <a:rPr lang="en-US" altLang="zh-TW">
                <a:ea typeface="ＭＳ Ｐゴシック" panose="020B0600070205080204" pitchFamily="34" charset="-128"/>
              </a:rPr>
              <a:t>for n=2, 3, 4, . . . And suppose that</a:t>
            </a:r>
            <a:r>
              <a:rPr lang="en-US" altLang="zh-TW" i="1">
                <a:ea typeface="ＭＳ Ｐゴシック" panose="020B0600070205080204" pitchFamily="34" charset="-128"/>
              </a:rPr>
              <a:t> 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0</a:t>
            </a:r>
            <a:r>
              <a:rPr lang="en-US" altLang="zh-TW">
                <a:ea typeface="ＭＳ Ｐゴシック" panose="020B0600070205080204" pitchFamily="34" charset="-128"/>
              </a:rPr>
              <a:t>= 3</a:t>
            </a:r>
            <a:r>
              <a:rPr lang="en-US" altLang="zh-TW" i="1">
                <a:ea typeface="ＭＳ Ｐゴシック" panose="020B0600070205080204" pitchFamily="34" charset="-128"/>
              </a:rPr>
              <a:t> </a:t>
            </a:r>
            <a:r>
              <a:rPr lang="en-US" altLang="zh-TW">
                <a:ea typeface="ＭＳ Ｐゴシック" panose="020B0600070205080204" pitchFamily="34" charset="-128"/>
              </a:rPr>
              <a:t>and </a:t>
            </a:r>
            <a:r>
              <a:rPr lang="en-US" altLang="zh-TW" i="1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1</a:t>
            </a:r>
            <a:r>
              <a:rPr lang="en-US" altLang="zh-TW">
                <a:ea typeface="ＭＳ Ｐゴシック" panose="020B0600070205080204" pitchFamily="34" charset="-128"/>
              </a:rPr>
              <a:t>= 5. </a:t>
            </a:r>
          </a:p>
          <a:p>
            <a:pPr>
              <a:buFontTx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    What are </a:t>
            </a:r>
            <a:r>
              <a:rPr lang="en-US" altLang="zh-TW" i="1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2</a:t>
            </a:r>
            <a:r>
              <a:rPr lang="en-US" altLang="zh-TW">
                <a:ea typeface="ＭＳ Ｐゴシック" panose="020B0600070205080204" pitchFamily="34" charset="-128"/>
              </a:rPr>
              <a:t> and </a:t>
            </a:r>
            <a:r>
              <a:rPr lang="en-US" altLang="zh-TW" i="1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3 </a:t>
            </a:r>
            <a:r>
              <a:rPr lang="en-US" altLang="zh-TW">
                <a:ea typeface="ＭＳ Ｐゴシック" panose="020B0600070205080204" pitchFamily="34" charset="-128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50605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標題 1">
            <a:extLst>
              <a:ext uri="{FF2B5EF4-FFF2-40B4-BE49-F238E27FC236}">
                <a16:creationId xmlns:a16="http://schemas.microsoft.com/office/drawing/2014/main" id="{47C6AEEA-996E-284C-9F06-1BB79896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Recurrence Relations</a:t>
            </a:r>
            <a:endParaRPr lang="zh-TW" altLang="en-US">
              <a:ea typeface="ＭＳ Ｐゴシック" panose="020B0600070205080204" pitchFamily="34" charset="-128"/>
            </a:endParaRPr>
          </a:p>
        </p:txBody>
      </p:sp>
      <p:sp>
        <p:nvSpPr>
          <p:cNvPr id="24578" name="內容版面配置區 2">
            <a:extLst>
              <a:ext uri="{FF2B5EF4-FFF2-40B4-BE49-F238E27FC236}">
                <a16:creationId xmlns:a16="http://schemas.microsoft.com/office/drawing/2014/main" id="{16520B47-E967-8345-BAAD-90B95E883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00B050"/>
                </a:solidFill>
                <a:ea typeface="ＭＳ Ｐゴシック" panose="020B0600070205080204" pitchFamily="34" charset="-128"/>
              </a:rPr>
              <a:t>Example 2: </a:t>
            </a:r>
            <a:r>
              <a:rPr lang="en-US" altLang="zh-TW">
                <a:ea typeface="ＭＳ Ｐゴシック" panose="020B0600070205080204" pitchFamily="34" charset="-128"/>
              </a:rPr>
              <a:t>Determine whether the sequence {</a:t>
            </a:r>
            <a:r>
              <a:rPr lang="en-US" altLang="zh-TW" i="1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n</a:t>
            </a:r>
            <a:r>
              <a:rPr lang="en-US" altLang="zh-TW">
                <a:ea typeface="ＭＳ Ｐゴシック" panose="020B0600070205080204" pitchFamily="34" charset="-128"/>
              </a:rPr>
              <a:t>}, where </a:t>
            </a:r>
            <a:r>
              <a:rPr lang="en-US" altLang="zh-TW" i="1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n</a:t>
            </a:r>
            <a:r>
              <a:rPr lang="en-US" altLang="zh-TW">
                <a:ea typeface="ＭＳ Ｐゴシック" panose="020B0600070205080204" pitchFamily="34" charset="-128"/>
              </a:rPr>
              <a:t>=</a:t>
            </a:r>
            <a:r>
              <a:rPr lang="en-US" altLang="zh-TW" i="1">
                <a:ea typeface="ＭＳ Ｐゴシック" panose="020B0600070205080204" pitchFamily="34" charset="-128"/>
              </a:rPr>
              <a:t>3n</a:t>
            </a:r>
            <a:r>
              <a:rPr lang="en-US" altLang="zh-TW">
                <a:ea typeface="ＭＳ Ｐゴシック" panose="020B0600070205080204" pitchFamily="34" charset="-128"/>
              </a:rPr>
              <a:t> for every  nonnegative integer </a:t>
            </a:r>
            <a:r>
              <a:rPr lang="en-US" altLang="zh-TW" i="1">
                <a:ea typeface="ＭＳ Ｐゴシック" panose="020B0600070205080204" pitchFamily="34" charset="-128"/>
              </a:rPr>
              <a:t>n</a:t>
            </a:r>
            <a:r>
              <a:rPr lang="en-US" altLang="zh-TW">
                <a:ea typeface="ＭＳ Ｐゴシック" panose="020B0600070205080204" pitchFamily="34" charset="-128"/>
              </a:rPr>
              <a:t>, is a solution of the recurrence relation </a:t>
            </a:r>
            <a:r>
              <a:rPr lang="en-US" altLang="zh-TW" i="1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n</a:t>
            </a:r>
            <a:r>
              <a:rPr lang="en-US" altLang="zh-TW">
                <a:ea typeface="ＭＳ Ｐゴシック" panose="020B0600070205080204" pitchFamily="34" charset="-128"/>
              </a:rPr>
              <a:t>=2</a:t>
            </a:r>
            <a:r>
              <a:rPr lang="en-US" altLang="zh-TW" i="1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n-1</a:t>
            </a:r>
            <a:r>
              <a:rPr lang="en-US" altLang="zh-TW">
                <a:ea typeface="ＭＳ Ｐゴシック" panose="020B0600070205080204" pitchFamily="34" charset="-128"/>
              </a:rPr>
              <a:t> –</a:t>
            </a:r>
            <a:r>
              <a:rPr lang="en-US" altLang="zh-TW" i="1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n-2</a:t>
            </a:r>
            <a:r>
              <a:rPr lang="en-US" altLang="zh-TW">
                <a:ea typeface="ＭＳ Ｐゴシック" panose="020B0600070205080204" pitchFamily="34" charset="-128"/>
              </a:rPr>
              <a:t> for n=2, 3, 4, . . ., Answer the same question where </a:t>
            </a:r>
            <a:r>
              <a:rPr lang="en-US" altLang="zh-TW" i="1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n</a:t>
            </a:r>
            <a:r>
              <a:rPr lang="en-US" altLang="zh-TW">
                <a:ea typeface="ＭＳ Ｐゴシック" panose="020B0600070205080204" pitchFamily="34" charset="-128"/>
              </a:rPr>
              <a:t>= </a:t>
            </a:r>
            <a:r>
              <a:rPr lang="en-US" altLang="zh-TW" i="1">
                <a:ea typeface="ＭＳ Ｐゴシック" panose="020B0600070205080204" pitchFamily="34" charset="-128"/>
              </a:rPr>
              <a:t>2</a:t>
            </a:r>
            <a:r>
              <a:rPr lang="en-US" altLang="zh-TW" i="1" baseline="30000">
                <a:ea typeface="ＭＳ Ｐゴシック" panose="020B0600070205080204" pitchFamily="34" charset="-128"/>
              </a:rPr>
              <a:t>n</a:t>
            </a:r>
            <a:r>
              <a:rPr lang="en-US" altLang="zh-TW">
                <a:ea typeface="ＭＳ Ｐゴシック" panose="020B0600070205080204" pitchFamily="34" charset="-128"/>
              </a:rPr>
              <a:t> and where </a:t>
            </a:r>
            <a:r>
              <a:rPr lang="en-US" altLang="zh-TW" i="1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n</a:t>
            </a:r>
            <a:r>
              <a:rPr lang="en-US" altLang="zh-TW">
                <a:ea typeface="ＭＳ Ｐゴシック" panose="020B0600070205080204" pitchFamily="34" charset="-128"/>
              </a:rPr>
              <a:t>= 5?</a:t>
            </a:r>
            <a:endParaRPr lang="zh-TW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4506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標題 1">
            <a:extLst>
              <a:ext uri="{FF2B5EF4-FFF2-40B4-BE49-F238E27FC236}">
                <a16:creationId xmlns:a16="http://schemas.microsoft.com/office/drawing/2014/main" id="{539AE0A2-D61A-5A46-A1E8-ACB01863B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r>
              <a:rPr lang="en-US" altLang="zh-TW" sz="36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Modeling with Recurrence Relations</a:t>
            </a:r>
            <a:endParaRPr lang="zh-TW" altLang="en-US" sz="3600" b="1">
              <a:ea typeface="ＭＳ Ｐゴシック" panose="020B0600070205080204" pitchFamily="34" charset="-128"/>
            </a:endParaRPr>
          </a:p>
        </p:txBody>
      </p:sp>
      <p:sp>
        <p:nvSpPr>
          <p:cNvPr id="25602" name="內容版面配置區 2">
            <a:extLst>
              <a:ext uri="{FF2B5EF4-FFF2-40B4-BE49-F238E27FC236}">
                <a16:creationId xmlns:a16="http://schemas.microsoft.com/office/drawing/2014/main" id="{540804BB-CF5E-C04E-A460-1A9A908E2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000126"/>
            <a:ext cx="8229600" cy="5527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TW" sz="3000">
                <a:solidFill>
                  <a:srgbClr val="00B050"/>
                </a:solidFill>
                <a:ea typeface="ＭＳ Ｐゴシック" panose="020B0600070205080204" pitchFamily="34" charset="-128"/>
              </a:rPr>
              <a:t>Example 3: </a:t>
            </a:r>
            <a:r>
              <a:rPr lang="en-US" altLang="zh-TW" sz="3000">
                <a:solidFill>
                  <a:srgbClr val="0070C0"/>
                </a:solidFill>
                <a:ea typeface="ＭＳ Ｐゴシック" panose="020B0600070205080204" pitchFamily="34" charset="-128"/>
              </a:rPr>
              <a:t>Compound Interest       </a:t>
            </a:r>
            <a:r>
              <a:rPr lang="en-US" altLang="zh-TW" sz="3000">
                <a:ea typeface="ＭＳ Ｐゴシック" panose="020B0600070205080204" pitchFamily="34" charset="-128"/>
              </a:rPr>
              <a:t>Suppose a  person deposits $10,000 in a savings account at a bank yielding 11% per year with interest compounded annually (wishfull thinking here!)</a:t>
            </a:r>
          </a:p>
          <a:p>
            <a:pPr>
              <a:lnSpc>
                <a:spcPct val="80000"/>
              </a:lnSpc>
            </a:pPr>
            <a:r>
              <a:rPr lang="en-US" altLang="zh-TW" sz="2400">
                <a:ea typeface="ＭＳ Ｐゴシック" panose="020B0600070205080204" pitchFamily="34" charset="-128"/>
              </a:rPr>
              <a:t>How much will be in the account after 30 years?</a:t>
            </a:r>
          </a:p>
          <a:p>
            <a:pPr>
              <a:lnSpc>
                <a:spcPct val="80000"/>
              </a:lnSpc>
            </a:pPr>
            <a:endParaRPr lang="en-US" altLang="zh-TW" sz="300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endParaRPr lang="en-US" altLang="zh-TW" sz="3000" baseline="-2500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endParaRPr lang="en-US" altLang="zh-TW" sz="300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0151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標題 1">
            <a:extLst>
              <a:ext uri="{FF2B5EF4-FFF2-40B4-BE49-F238E27FC236}">
                <a16:creationId xmlns:a16="http://schemas.microsoft.com/office/drawing/2014/main" id="{8C07EB01-0E0F-B347-A0BA-9744B3293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r>
              <a:rPr lang="en-US" altLang="zh-TW" sz="36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Modeling with Recurrence Relations</a:t>
            </a:r>
            <a:endParaRPr lang="zh-TW" altLang="en-US" sz="3600" b="1">
              <a:ea typeface="ＭＳ Ｐゴシック" panose="020B0600070205080204" pitchFamily="34" charset="-128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71A8B9-5CAA-0840-9F36-2A0E7CD34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000126"/>
            <a:ext cx="8229600" cy="5527675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zh-TW" sz="3000">
                <a:solidFill>
                  <a:srgbClr val="00B050"/>
                </a:solidFill>
                <a:ea typeface="ＭＳ Ｐゴシック" panose="020B0600070205080204" pitchFamily="34" charset="-128"/>
              </a:rPr>
              <a:t>Example 3: </a:t>
            </a:r>
            <a:r>
              <a:rPr lang="en-US" altLang="zh-TW" sz="3000">
                <a:solidFill>
                  <a:srgbClr val="0070C0"/>
                </a:solidFill>
                <a:ea typeface="ＭＳ Ｐゴシック" panose="020B0600070205080204" pitchFamily="34" charset="-128"/>
              </a:rPr>
              <a:t>Compound Interest       </a:t>
            </a:r>
            <a:r>
              <a:rPr lang="en-US" altLang="zh-TW" sz="3000">
                <a:ea typeface="ＭＳ Ｐゴシック" panose="020B0600070205080204" pitchFamily="34" charset="-128"/>
              </a:rPr>
              <a:t>Suppose a  person deposits $10,000 in a savings account at a bank yielding 11% per year with interest compounded annually (wishfull thinking here!)</a:t>
            </a:r>
          </a:p>
          <a:p>
            <a:pPr>
              <a:lnSpc>
                <a:spcPct val="80000"/>
              </a:lnSpc>
            </a:pPr>
            <a:r>
              <a:rPr lang="en-US" altLang="zh-TW" sz="2400">
                <a:ea typeface="ＭＳ Ｐゴシック" panose="020B0600070205080204" pitchFamily="34" charset="-128"/>
              </a:rPr>
              <a:t>How much will be in the account after 30 years?</a:t>
            </a:r>
          </a:p>
          <a:p>
            <a:pPr>
              <a:lnSpc>
                <a:spcPct val="80000"/>
              </a:lnSpc>
            </a:pPr>
            <a:r>
              <a:rPr lang="en-US" altLang="zh-TW" sz="2400">
                <a:solidFill>
                  <a:srgbClr val="22228B"/>
                </a:solidFill>
                <a:ea typeface="ＭＳ Ｐゴシック" panose="020B0600070205080204" pitchFamily="34" charset="-128"/>
              </a:rPr>
              <a:t>Solution: </a:t>
            </a:r>
            <a:r>
              <a:rPr lang="en-US" altLang="zh-TW" sz="2400">
                <a:ea typeface="ＭＳ Ｐゴシック" panose="020B0600070205080204" pitchFamily="34" charset="-128"/>
              </a:rPr>
              <a:t>P</a:t>
            </a:r>
            <a:r>
              <a:rPr lang="en-US" altLang="zh-TW" sz="2400" baseline="-25000">
                <a:ea typeface="ＭＳ Ｐゴシック" panose="020B0600070205080204" pitchFamily="34" charset="-128"/>
              </a:rPr>
              <a:t>n</a:t>
            </a:r>
            <a:r>
              <a:rPr lang="en-US" altLang="zh-TW" sz="2400">
                <a:ea typeface="ＭＳ Ｐゴシック" panose="020B0600070205080204" pitchFamily="34" charset="-128"/>
              </a:rPr>
              <a:t> = P</a:t>
            </a:r>
            <a:r>
              <a:rPr lang="en-US" altLang="zh-TW" sz="2400" baseline="-25000">
                <a:ea typeface="ＭＳ Ｐゴシック" panose="020B0600070205080204" pitchFamily="34" charset="-128"/>
              </a:rPr>
              <a:t>n-1</a:t>
            </a:r>
            <a:r>
              <a:rPr lang="en-US" altLang="zh-TW" sz="2400">
                <a:ea typeface="ＭＳ Ｐゴシック" panose="020B0600070205080204" pitchFamily="34" charset="-128"/>
              </a:rPr>
              <a:t> +0.11P</a:t>
            </a:r>
            <a:r>
              <a:rPr lang="en-US" altLang="zh-TW" sz="2400" baseline="-25000">
                <a:ea typeface="ＭＳ Ｐゴシック" panose="020B0600070205080204" pitchFamily="34" charset="-128"/>
              </a:rPr>
              <a:t>n-1</a:t>
            </a:r>
            <a:r>
              <a:rPr lang="en-US" altLang="zh-TW" sz="2400">
                <a:ea typeface="ＭＳ Ｐゴシック" panose="020B0600070205080204" pitchFamily="34" charset="-128"/>
              </a:rPr>
              <a:t> = (1.11)P</a:t>
            </a:r>
            <a:r>
              <a:rPr lang="en-US" altLang="zh-TW" sz="2400" baseline="-25000">
                <a:ea typeface="ＭＳ Ｐゴシック" panose="020B0600070205080204" pitchFamily="34" charset="-128"/>
              </a:rPr>
              <a:t>n-1</a:t>
            </a:r>
          </a:p>
          <a:p>
            <a:pPr>
              <a:lnSpc>
                <a:spcPct val="80000"/>
              </a:lnSpc>
            </a:pPr>
            <a:r>
              <a:rPr lang="en-US" altLang="zh-TW" sz="2400">
                <a:ea typeface="ＭＳ Ｐゴシック" panose="020B0600070205080204" pitchFamily="34" charset="-128"/>
              </a:rPr>
              <a:t>P</a:t>
            </a:r>
            <a:r>
              <a:rPr lang="en-US" altLang="zh-TW" sz="2400" baseline="-25000">
                <a:ea typeface="ＭＳ Ｐゴシック" panose="020B0600070205080204" pitchFamily="34" charset="-128"/>
              </a:rPr>
              <a:t>1</a:t>
            </a:r>
            <a:r>
              <a:rPr lang="en-US" altLang="zh-TW" sz="2400">
                <a:ea typeface="ＭＳ Ｐゴシック" panose="020B0600070205080204" pitchFamily="34" charset="-128"/>
              </a:rPr>
              <a:t> = (1.11)P</a:t>
            </a:r>
            <a:r>
              <a:rPr lang="en-US" altLang="zh-TW" sz="2400" baseline="-25000">
                <a:ea typeface="ＭＳ Ｐゴシック" panose="020B0600070205080204" pitchFamily="34" charset="-128"/>
              </a:rPr>
              <a:t>0</a:t>
            </a:r>
          </a:p>
          <a:p>
            <a:pPr>
              <a:lnSpc>
                <a:spcPct val="80000"/>
              </a:lnSpc>
            </a:pPr>
            <a:r>
              <a:rPr lang="en-US" altLang="zh-TW" sz="2400">
                <a:ea typeface="ＭＳ Ｐゴシック" panose="020B0600070205080204" pitchFamily="34" charset="-128"/>
              </a:rPr>
              <a:t>P</a:t>
            </a:r>
            <a:r>
              <a:rPr lang="en-US" altLang="zh-TW" sz="2400" baseline="-25000">
                <a:ea typeface="ＭＳ Ｐゴシック" panose="020B0600070205080204" pitchFamily="34" charset="-128"/>
              </a:rPr>
              <a:t>2</a:t>
            </a:r>
            <a:r>
              <a:rPr lang="en-US" altLang="zh-TW" sz="2400">
                <a:ea typeface="ＭＳ Ｐゴシック" panose="020B0600070205080204" pitchFamily="34" charset="-128"/>
              </a:rPr>
              <a:t> = (1.11) p</a:t>
            </a:r>
            <a:r>
              <a:rPr lang="en-US" altLang="zh-TW" sz="2400" baseline="-25000">
                <a:ea typeface="ＭＳ Ｐゴシック" panose="020B0600070205080204" pitchFamily="34" charset="-128"/>
              </a:rPr>
              <a:t>1</a:t>
            </a:r>
            <a:r>
              <a:rPr lang="en-US" altLang="zh-TW" sz="2400">
                <a:ea typeface="ＭＳ Ｐゴシック" panose="020B0600070205080204" pitchFamily="34" charset="-128"/>
              </a:rPr>
              <a:t>=(1.11)</a:t>
            </a:r>
            <a:r>
              <a:rPr lang="en-US" altLang="zh-TW" sz="2400" baseline="30000">
                <a:ea typeface="ＭＳ Ｐゴシック" panose="020B0600070205080204" pitchFamily="34" charset="-128"/>
              </a:rPr>
              <a:t>2 </a:t>
            </a:r>
            <a:r>
              <a:rPr lang="en-US" altLang="zh-TW" sz="2400">
                <a:ea typeface="ＭＳ Ｐゴシック" panose="020B0600070205080204" pitchFamily="34" charset="-128"/>
              </a:rPr>
              <a:t>p</a:t>
            </a:r>
            <a:r>
              <a:rPr lang="en-US" altLang="zh-TW" sz="2400" baseline="-25000">
                <a:ea typeface="ＭＳ Ｐゴシック" panose="020B0600070205080204" pitchFamily="34" charset="-128"/>
              </a:rPr>
              <a:t>0</a:t>
            </a:r>
          </a:p>
          <a:p>
            <a:pPr>
              <a:lnSpc>
                <a:spcPct val="80000"/>
              </a:lnSpc>
            </a:pPr>
            <a:r>
              <a:rPr lang="en-US" altLang="zh-TW" sz="2400">
                <a:ea typeface="ＭＳ Ｐゴシック" panose="020B0600070205080204" pitchFamily="34" charset="-128"/>
              </a:rPr>
              <a:t>P</a:t>
            </a:r>
            <a:r>
              <a:rPr lang="en-US" altLang="zh-TW" sz="2400" baseline="-25000">
                <a:ea typeface="ＭＳ Ｐゴシック" panose="020B0600070205080204" pitchFamily="34" charset="-128"/>
              </a:rPr>
              <a:t>3</a:t>
            </a:r>
            <a:r>
              <a:rPr lang="en-US" altLang="zh-TW" sz="2400">
                <a:ea typeface="ＭＳ Ｐゴシック" panose="020B0600070205080204" pitchFamily="34" charset="-128"/>
              </a:rPr>
              <a:t> = (1.11) P</a:t>
            </a:r>
            <a:r>
              <a:rPr lang="en-US" altLang="zh-TW" sz="2400" baseline="-25000">
                <a:ea typeface="ＭＳ Ｐゴシック" panose="020B0600070205080204" pitchFamily="34" charset="-128"/>
              </a:rPr>
              <a:t>2</a:t>
            </a:r>
            <a:r>
              <a:rPr lang="en-US" altLang="zh-TW" sz="2400">
                <a:ea typeface="ＭＳ Ｐゴシック" panose="020B0600070205080204" pitchFamily="34" charset="-128"/>
              </a:rPr>
              <a:t>=(1.11)</a:t>
            </a:r>
            <a:r>
              <a:rPr lang="en-US" altLang="zh-TW" sz="2400" baseline="30000">
                <a:ea typeface="ＭＳ Ｐゴシック" panose="020B0600070205080204" pitchFamily="34" charset="-128"/>
              </a:rPr>
              <a:t>3 </a:t>
            </a:r>
            <a:r>
              <a:rPr lang="en-US" altLang="zh-TW" sz="2400">
                <a:ea typeface="ＭＳ Ｐゴシック" panose="020B0600070205080204" pitchFamily="34" charset="-128"/>
              </a:rPr>
              <a:t>P</a:t>
            </a:r>
            <a:r>
              <a:rPr lang="en-US" altLang="zh-TW" sz="2400" baseline="-25000">
                <a:ea typeface="ＭＳ Ｐゴシック" panose="020B0600070205080204" pitchFamily="34" charset="-128"/>
              </a:rPr>
              <a:t>0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TW" sz="2400">
                <a:ea typeface="ＭＳ Ｐゴシック" panose="020B0600070205080204" pitchFamily="34" charset="-128"/>
              </a:rPr>
              <a:t>          :</a:t>
            </a:r>
          </a:p>
          <a:p>
            <a:pPr>
              <a:lnSpc>
                <a:spcPct val="80000"/>
              </a:lnSpc>
            </a:pPr>
            <a:r>
              <a:rPr lang="en-US" altLang="zh-TW" sz="2400">
                <a:ea typeface="ＭＳ Ｐゴシック" panose="020B0600070205080204" pitchFamily="34" charset="-128"/>
              </a:rPr>
              <a:t>P</a:t>
            </a:r>
            <a:r>
              <a:rPr lang="en-US" altLang="zh-TW" sz="2400" baseline="-25000">
                <a:ea typeface="ＭＳ Ｐゴシック" panose="020B0600070205080204" pitchFamily="34" charset="-128"/>
              </a:rPr>
              <a:t>n</a:t>
            </a:r>
            <a:r>
              <a:rPr lang="en-US" altLang="zh-TW" sz="2400">
                <a:ea typeface="ＭＳ Ｐゴシック" panose="020B0600070205080204" pitchFamily="34" charset="-128"/>
              </a:rPr>
              <a:t> = (1.11) P</a:t>
            </a:r>
            <a:r>
              <a:rPr lang="en-US" altLang="zh-TW" sz="2400" baseline="-25000">
                <a:ea typeface="ＭＳ Ｐゴシック" panose="020B0600070205080204" pitchFamily="34" charset="-128"/>
              </a:rPr>
              <a:t>n-1</a:t>
            </a:r>
            <a:r>
              <a:rPr lang="en-US" altLang="zh-TW" sz="2400">
                <a:ea typeface="ＭＳ Ｐゴシック" panose="020B0600070205080204" pitchFamily="34" charset="-128"/>
              </a:rPr>
              <a:t>=(1.11)</a:t>
            </a:r>
            <a:r>
              <a:rPr lang="en-US" altLang="zh-TW" sz="2400" baseline="30000">
                <a:ea typeface="ＭＳ Ｐゴシック" panose="020B0600070205080204" pitchFamily="34" charset="-128"/>
              </a:rPr>
              <a:t>n </a:t>
            </a:r>
            <a:r>
              <a:rPr lang="en-US" altLang="zh-TW" sz="2400">
                <a:ea typeface="ＭＳ Ｐゴシック" panose="020B0600070205080204" pitchFamily="34" charset="-128"/>
              </a:rPr>
              <a:t>P</a:t>
            </a:r>
            <a:r>
              <a:rPr lang="en-US" altLang="zh-TW" sz="2400" baseline="-25000">
                <a:ea typeface="ＭＳ Ｐゴシック" panose="020B0600070205080204" pitchFamily="34" charset="-128"/>
              </a:rPr>
              <a:t>0</a:t>
            </a:r>
          </a:p>
          <a:p>
            <a:pPr>
              <a:lnSpc>
                <a:spcPct val="80000"/>
              </a:lnSpc>
            </a:pPr>
            <a:r>
              <a:rPr lang="en-US" altLang="zh-TW" sz="2400">
                <a:ea typeface="ＭＳ Ｐゴシック" panose="020B0600070205080204" pitchFamily="34" charset="-128"/>
              </a:rPr>
              <a:t>Inserting n =30 into the formula P</a:t>
            </a:r>
            <a:r>
              <a:rPr lang="en-US" altLang="zh-TW" sz="2400" baseline="-25000">
                <a:ea typeface="ＭＳ Ｐゴシック" panose="020B0600070205080204" pitchFamily="34" charset="-128"/>
              </a:rPr>
              <a:t>n</a:t>
            </a:r>
            <a:r>
              <a:rPr lang="en-US" altLang="zh-TW" sz="2400">
                <a:ea typeface="ＭＳ Ｐゴシック" panose="020B0600070205080204" pitchFamily="34" charset="-128"/>
              </a:rPr>
              <a:t> =(1.11)</a:t>
            </a:r>
            <a:r>
              <a:rPr lang="en-US" altLang="zh-TW" sz="2400" baseline="30000">
                <a:ea typeface="ＭＳ Ｐゴシック" panose="020B0600070205080204" pitchFamily="34" charset="-128"/>
              </a:rPr>
              <a:t>n  </a:t>
            </a:r>
            <a:r>
              <a:rPr lang="en-US" altLang="zh-TW" sz="2400">
                <a:ea typeface="ＭＳ Ｐゴシック" panose="020B0600070205080204" pitchFamily="34" charset="-128"/>
              </a:rPr>
              <a:t>10,000 shows that after 30 year the account contains</a:t>
            </a:r>
          </a:p>
          <a:p>
            <a:pPr>
              <a:lnSpc>
                <a:spcPct val="80000"/>
              </a:lnSpc>
            </a:pPr>
            <a:r>
              <a:rPr lang="en-US" altLang="zh-TW" sz="2400">
                <a:ea typeface="ＭＳ Ｐゴシック" panose="020B0600070205080204" pitchFamily="34" charset="-128"/>
              </a:rPr>
              <a:t>P</a:t>
            </a:r>
            <a:r>
              <a:rPr lang="en-US" altLang="zh-TW" sz="2400" baseline="-25000">
                <a:ea typeface="ＭＳ Ｐゴシック" panose="020B0600070205080204" pitchFamily="34" charset="-128"/>
              </a:rPr>
              <a:t>30</a:t>
            </a:r>
            <a:r>
              <a:rPr lang="en-US" altLang="zh-TW" sz="2400">
                <a:ea typeface="ＭＳ Ｐゴシック" panose="020B0600070205080204" pitchFamily="34" charset="-128"/>
              </a:rPr>
              <a:t> = (1.11)</a:t>
            </a:r>
            <a:r>
              <a:rPr lang="en-US" altLang="zh-TW" sz="2400" baseline="30000">
                <a:ea typeface="ＭＳ Ｐゴシック" panose="020B0600070205080204" pitchFamily="34" charset="-128"/>
              </a:rPr>
              <a:t>30</a:t>
            </a:r>
            <a:r>
              <a:rPr lang="en-US" altLang="zh-TW" sz="2400">
                <a:ea typeface="ＭＳ Ｐゴシック" panose="020B0600070205080204" pitchFamily="34" charset="-128"/>
              </a:rPr>
              <a:t>10,000=$228,922.97</a:t>
            </a:r>
            <a:endParaRPr lang="en-US" altLang="zh-TW" sz="2400" baseline="-2500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endParaRPr lang="en-US" altLang="zh-TW" sz="300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endParaRPr lang="en-US" altLang="zh-TW" sz="3000" baseline="-2500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endParaRPr lang="en-US" altLang="zh-TW" sz="300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79459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標題 1">
            <a:extLst>
              <a:ext uri="{FF2B5EF4-FFF2-40B4-BE49-F238E27FC236}">
                <a16:creationId xmlns:a16="http://schemas.microsoft.com/office/drawing/2014/main" id="{826872F2-D254-DA46-B451-8AED21639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280988"/>
            <a:ext cx="7772400" cy="1143000"/>
          </a:xfrm>
        </p:spPr>
        <p:txBody>
          <a:bodyPr/>
          <a:lstStyle/>
          <a:p>
            <a:r>
              <a:rPr lang="en-US" altLang="zh-TW" sz="36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Modeling with Recurrence Relations</a:t>
            </a:r>
            <a:endParaRPr lang="zh-TW" altLang="en-US" sz="3600">
              <a:ea typeface="ＭＳ Ｐゴシック" panose="020B0600070205080204" pitchFamily="34" charset="-128"/>
            </a:endParaRPr>
          </a:p>
        </p:txBody>
      </p:sp>
      <p:sp>
        <p:nvSpPr>
          <p:cNvPr id="27650" name="內容版面配置區 2">
            <a:extLst>
              <a:ext uri="{FF2B5EF4-FFF2-40B4-BE49-F238E27FC236}">
                <a16:creationId xmlns:a16="http://schemas.microsoft.com/office/drawing/2014/main" id="{BCAAD7FC-33A8-4949-B8D5-41A6DA6EF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9800" y="1655763"/>
            <a:ext cx="7772400" cy="4114800"/>
          </a:xfrm>
        </p:spPr>
        <p:txBody>
          <a:bodyPr>
            <a:normAutofit fontScale="92500"/>
          </a:bodyPr>
          <a:lstStyle/>
          <a:p>
            <a:r>
              <a:rPr lang="en-US" altLang="zh-TW" sz="24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Example 4: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Rabbits and the Fibonacci Numbers </a:t>
            </a:r>
            <a:r>
              <a:rPr lang="en-US" altLang="zh-TW" sz="2400" dirty="0">
                <a:ea typeface="ＭＳ Ｐゴシック" panose="020B0600070205080204" pitchFamily="34" charset="-128"/>
              </a:rPr>
              <a:t>consider  this problem, which was originally posed by Leonardo Pisano, also Known as Fibonacci, in the thirteenth century in his book </a:t>
            </a:r>
            <a:r>
              <a:rPr lang="en-US" altLang="zh-TW" sz="2400" i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Liber abaci</a:t>
            </a:r>
            <a:r>
              <a:rPr lang="en-US" altLang="zh-TW" sz="2400" dirty="0">
                <a:ea typeface="ＭＳ Ｐゴシック" panose="020B0600070205080204" pitchFamily="34" charset="-128"/>
              </a:rPr>
              <a:t>. A young pair of rabbits ( one of each sex) is placed on an island.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 A pair of rabbits does not breed until they are 2 months old. After they are 2 months old, each pair of rabbits  produces another pair each month, as shown in </a:t>
            </a:r>
            <a:r>
              <a:rPr lang="en-US" altLang="zh-TW" sz="2400" dirty="0">
                <a:solidFill>
                  <a:srgbClr val="22228B"/>
                </a:solidFill>
                <a:ea typeface="ＭＳ Ｐゴシック" panose="020B0600070205080204" pitchFamily="34" charset="-128"/>
              </a:rPr>
              <a:t>Figure 1</a:t>
            </a:r>
            <a:r>
              <a:rPr lang="en-US" altLang="zh-TW" sz="2400" dirty="0">
                <a:ea typeface="ＭＳ Ｐゴシック" panose="020B0600070205080204" pitchFamily="34" charset="-128"/>
              </a:rPr>
              <a:t>. 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Find a recurrence relation for the number of pairs of rabbits on the island after n months, assuming that no rabbits ever die (typical wild rabbits live 1-2 years </a:t>
            </a:r>
          </a:p>
          <a:p>
            <a:pPr>
              <a:buFontTx/>
              <a:buNone/>
            </a:pPr>
            <a:r>
              <a:rPr lang="en-US" altLang="zh-TW" sz="2400" dirty="0">
                <a:ea typeface="ＭＳ Ｐゴシック" panose="020B0600070205080204" pitchFamily="34" charset="-128"/>
              </a:rPr>
              <a:t>    but the record – absent predators - is 18 years!).</a:t>
            </a:r>
          </a:p>
          <a:p>
            <a:endParaRPr lang="zh-TW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34359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標題 1">
            <a:extLst>
              <a:ext uri="{FF2B5EF4-FFF2-40B4-BE49-F238E27FC236}">
                <a16:creationId xmlns:a16="http://schemas.microsoft.com/office/drawing/2014/main" id="{ECE78709-2E65-1945-A0E4-BAE5C5FF3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165100"/>
            <a:ext cx="7772400" cy="1143000"/>
          </a:xfrm>
        </p:spPr>
        <p:txBody>
          <a:bodyPr/>
          <a:lstStyle/>
          <a:p>
            <a:r>
              <a:rPr lang="en-US" altLang="zh-TW" sz="36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Modeling with Recurrence Relations</a:t>
            </a:r>
            <a:endParaRPr lang="zh-TW" altLang="en-US" sz="3600">
              <a:ea typeface="ＭＳ Ｐゴシック" panose="020B0600070205080204" pitchFamily="34" charset="-128"/>
            </a:endParaRPr>
          </a:p>
        </p:txBody>
      </p:sp>
      <p:sp>
        <p:nvSpPr>
          <p:cNvPr id="28674" name="內容版面配置區 2">
            <a:extLst>
              <a:ext uri="{FF2B5EF4-FFF2-40B4-BE49-F238E27FC236}">
                <a16:creationId xmlns:a16="http://schemas.microsoft.com/office/drawing/2014/main" id="{50170B3E-7B6B-D84A-B95F-27377E368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000125"/>
            <a:ext cx="8229600" cy="5500688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endParaRPr lang="en-US" altLang="zh-TW" sz="270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endParaRPr lang="en-US" altLang="zh-TW" sz="270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endParaRPr lang="en-US" altLang="zh-TW" sz="270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endParaRPr lang="en-US" altLang="zh-TW" sz="270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endParaRPr lang="en-US" altLang="zh-TW" sz="270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endParaRPr lang="en-US" altLang="zh-TW" sz="270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endParaRPr lang="en-US" altLang="zh-TW" sz="270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zh-TW" sz="270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endParaRPr lang="en-US" altLang="zh-TW" sz="220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endParaRPr lang="en-US" altLang="zh-TW" sz="220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zh-TW" sz="220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r>
              <a:rPr lang="en-US" altLang="zh-TW" sz="2600">
                <a:ea typeface="ＭＳ Ｐゴシック" panose="020B0600070205080204" pitchFamily="34" charset="-128"/>
              </a:rPr>
              <a:t>Consequently, the sequence {f</a:t>
            </a:r>
            <a:r>
              <a:rPr lang="en-US" altLang="zh-TW" sz="2600" baseline="-25000">
                <a:ea typeface="ＭＳ Ｐゴシック" panose="020B0600070205080204" pitchFamily="34" charset="-128"/>
              </a:rPr>
              <a:t>n</a:t>
            </a:r>
            <a:r>
              <a:rPr lang="en-US" altLang="zh-TW" sz="2600">
                <a:ea typeface="ＭＳ Ｐゴシック" panose="020B0600070205080204" pitchFamily="34" charset="-128"/>
              </a:rPr>
              <a:t>} satisfies the recurrence relation            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altLang="zh-TW" sz="2700">
                <a:ea typeface="ＭＳ Ｐゴシック" panose="020B0600070205080204" pitchFamily="34" charset="-128"/>
              </a:rPr>
              <a:t> f</a:t>
            </a:r>
            <a:r>
              <a:rPr lang="en-US" altLang="zh-TW" sz="2700" baseline="-25000">
                <a:ea typeface="ＭＳ Ｐゴシック" panose="020B0600070205080204" pitchFamily="34" charset="-128"/>
              </a:rPr>
              <a:t>n</a:t>
            </a:r>
            <a:r>
              <a:rPr lang="en-US" altLang="zh-TW" sz="2700">
                <a:ea typeface="ＭＳ Ｐゴシック" panose="020B0600070205080204" pitchFamily="34" charset="-128"/>
              </a:rPr>
              <a:t> =f</a:t>
            </a:r>
            <a:r>
              <a:rPr lang="en-US" altLang="zh-TW" sz="2700" baseline="-25000">
                <a:ea typeface="ＭＳ Ｐゴシック" panose="020B0600070205080204" pitchFamily="34" charset="-128"/>
              </a:rPr>
              <a:t>n-1</a:t>
            </a:r>
            <a:r>
              <a:rPr lang="en-US" altLang="zh-TW" sz="2700">
                <a:ea typeface="ＭＳ Ｐゴシック" panose="020B0600070205080204" pitchFamily="34" charset="-128"/>
              </a:rPr>
              <a:t> + f</a:t>
            </a:r>
            <a:r>
              <a:rPr lang="en-US" altLang="zh-TW" sz="2700" baseline="-25000">
                <a:ea typeface="ＭＳ Ｐゴシック" panose="020B0600070205080204" pitchFamily="34" charset="-128"/>
              </a:rPr>
              <a:t>n-2</a:t>
            </a:r>
            <a:r>
              <a:rPr lang="en-US" altLang="zh-TW" sz="2700">
                <a:ea typeface="ＭＳ Ｐゴシック" panose="020B0600070205080204" pitchFamily="34" charset="-128"/>
              </a:rPr>
              <a:t>   ;  f</a:t>
            </a:r>
            <a:r>
              <a:rPr lang="en-US" altLang="zh-TW" sz="2700" baseline="-25000">
                <a:ea typeface="ＭＳ Ｐゴシック" panose="020B0600070205080204" pitchFamily="34" charset="-128"/>
              </a:rPr>
              <a:t>1</a:t>
            </a:r>
            <a:r>
              <a:rPr lang="en-US" altLang="zh-TW" sz="2700">
                <a:ea typeface="ＭＳ Ｐゴシック" panose="020B0600070205080204" pitchFamily="34" charset="-128"/>
              </a:rPr>
              <a:t>=1, f</a:t>
            </a:r>
            <a:r>
              <a:rPr lang="en-US" altLang="zh-TW" sz="2700" baseline="-25000">
                <a:ea typeface="ＭＳ Ｐゴシック" panose="020B0600070205080204" pitchFamily="34" charset="-128"/>
              </a:rPr>
              <a:t>2</a:t>
            </a:r>
            <a:r>
              <a:rPr lang="en-US" altLang="zh-TW" sz="2700">
                <a:ea typeface="ＭＳ Ｐゴシック" panose="020B0600070205080204" pitchFamily="34" charset="-128"/>
              </a:rPr>
              <a:t>=1</a:t>
            </a:r>
            <a:endParaRPr lang="zh-TW" altLang="en-US" sz="2700">
              <a:ea typeface="ＭＳ Ｐゴシック" panose="020B0600070205080204" pitchFamily="34" charset="-128"/>
            </a:endParaRPr>
          </a:p>
        </p:txBody>
      </p:sp>
      <p:pic>
        <p:nvPicPr>
          <p:cNvPr id="28675" name="Picture 3" descr="07_1_01">
            <a:extLst>
              <a:ext uri="{FF2B5EF4-FFF2-40B4-BE49-F238E27FC236}">
                <a16:creationId xmlns:a16="http://schemas.microsoft.com/office/drawing/2014/main" id="{CDE1BE63-0DA5-AA43-9FC0-DD8B48822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97" r="-296"/>
          <a:stretch>
            <a:fillRect/>
          </a:stretch>
        </p:blipFill>
        <p:spPr bwMode="auto">
          <a:xfrm>
            <a:off x="1901825" y="1160464"/>
            <a:ext cx="8388350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Text Box 8">
            <a:extLst>
              <a:ext uri="{FF2B5EF4-FFF2-40B4-BE49-F238E27FC236}">
                <a16:creationId xmlns:a16="http://schemas.microsoft.com/office/drawing/2014/main" id="{97BC77BA-ADE6-D24A-93EE-BEFE743677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8026" y="4927600"/>
            <a:ext cx="3643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2000" b="1">
                <a:solidFill>
                  <a:srgbClr val="FF6600"/>
                </a:solidFill>
                <a:ea typeface="新細明體" panose="02020500000000000000" pitchFamily="18" charset="-120"/>
              </a:rPr>
              <a:t>FIGURE 1 </a:t>
            </a:r>
            <a:r>
              <a:rPr lang="en-US" altLang="zh-TW" sz="2000">
                <a:ea typeface="新細明體" panose="02020500000000000000" pitchFamily="18" charset="-120"/>
              </a:rPr>
              <a:t> Rabbits on an Island. </a:t>
            </a:r>
          </a:p>
        </p:txBody>
      </p:sp>
    </p:spTree>
    <p:extLst>
      <p:ext uri="{BB962C8B-B14F-4D97-AF65-F5344CB8AC3E}">
        <p14:creationId xmlns:p14="http://schemas.microsoft.com/office/powerpoint/2010/main" val="1040109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標題 1">
            <a:extLst>
              <a:ext uri="{FF2B5EF4-FFF2-40B4-BE49-F238E27FC236}">
                <a16:creationId xmlns:a16="http://schemas.microsoft.com/office/drawing/2014/main" id="{FBC8E155-92AD-024C-AC13-542A36213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120650"/>
            <a:ext cx="7772400" cy="1143000"/>
          </a:xfrm>
        </p:spPr>
        <p:txBody>
          <a:bodyPr/>
          <a:lstStyle/>
          <a:p>
            <a:r>
              <a:rPr lang="en-US" altLang="zh-TW" sz="36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Modeling with Recurrence Relations</a:t>
            </a:r>
            <a:endParaRPr lang="zh-TW" altLang="en-US" sz="3600">
              <a:ea typeface="ＭＳ Ｐゴシック" panose="020B0600070205080204" pitchFamily="34" charset="-128"/>
            </a:endParaRPr>
          </a:p>
        </p:txBody>
      </p:sp>
      <p:sp>
        <p:nvSpPr>
          <p:cNvPr id="29698" name="內容版面配置區 2">
            <a:extLst>
              <a:ext uri="{FF2B5EF4-FFF2-40B4-BE49-F238E27FC236}">
                <a16:creationId xmlns:a16="http://schemas.microsoft.com/office/drawing/2014/main" id="{CDEB6253-8910-1D48-81C9-3F64D6F16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000126"/>
            <a:ext cx="8229600" cy="5643563"/>
          </a:xfrm>
        </p:spPr>
        <p:txBody>
          <a:bodyPr/>
          <a:lstStyle/>
          <a:p>
            <a:r>
              <a:rPr lang="en-US" altLang="zh-TW" sz="24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Example 5: </a:t>
            </a:r>
            <a:r>
              <a:rPr lang="en-US" altLang="zh-TW" sz="24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The Tower of Hanoi  </a:t>
            </a:r>
            <a:r>
              <a:rPr lang="en-US" altLang="zh-TW" sz="2400" dirty="0">
                <a:ea typeface="ＭＳ Ｐゴシック" panose="020B0600070205080204" pitchFamily="34" charset="-128"/>
              </a:rPr>
              <a:t>A popular puzzle of the late nineteenth century invented by the French mathematician Édouard Lucas, called the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Tower of Hanoi</a:t>
            </a:r>
            <a:r>
              <a:rPr lang="en-US" altLang="zh-TW" sz="2400" dirty="0">
                <a:ea typeface="ＭＳ Ｐゴシック" panose="020B0600070205080204" pitchFamily="34" charset="-128"/>
              </a:rPr>
              <a:t>, consists of three pegs mounted on a board together with disks of different sizes.  Initially these disks are placed on the first peg in order of size, with the largest on the bottom ( as shown </a:t>
            </a:r>
            <a:r>
              <a:rPr lang="en-US" altLang="zh-TW" sz="2400" dirty="0">
                <a:solidFill>
                  <a:srgbClr val="22228B"/>
                </a:solidFill>
                <a:ea typeface="ＭＳ Ｐゴシック" panose="020B0600070205080204" pitchFamily="34" charset="-128"/>
              </a:rPr>
              <a:t>in Figure 2</a:t>
            </a:r>
            <a:r>
              <a:rPr lang="en-US" altLang="zh-TW" sz="2400" dirty="0">
                <a:ea typeface="ＭＳ Ｐゴシック" panose="020B0600070205080204" pitchFamily="34" charset="-128"/>
              </a:rPr>
              <a:t>). 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The rules of the puzzle allow disks to be moved one at a time from one peg to another as long as a disk is never placed on top of a smaller disk.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The goal of the puzzle is to have all the disks on the second peg in order of size, with the largest on the bottom.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 Let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{</a:t>
            </a:r>
            <a:r>
              <a:rPr lang="en-US" altLang="zh-TW" sz="2400" i="1" dirty="0" err="1">
                <a:solidFill>
                  <a:srgbClr val="0070C0"/>
                </a:solidFill>
                <a:ea typeface="ＭＳ Ｐゴシック" panose="020B0600070205080204" pitchFamily="34" charset="-128"/>
              </a:rPr>
              <a:t>H</a:t>
            </a:r>
            <a:r>
              <a:rPr lang="en-US" altLang="zh-TW" sz="2400" i="1" baseline="-25000" dirty="0" err="1">
                <a:solidFill>
                  <a:srgbClr val="0070C0"/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} </a:t>
            </a:r>
            <a:r>
              <a:rPr lang="en-US" altLang="zh-TW" sz="2400" dirty="0">
                <a:ea typeface="ＭＳ Ｐゴシック" panose="020B0600070205080204" pitchFamily="34" charset="-128"/>
              </a:rPr>
              <a:t>denote the number of moves needed to solve the Tower of Hanoi problem with n disks. Set up a recurrence relation for the sequence {</a:t>
            </a:r>
            <a:r>
              <a:rPr lang="en-US" altLang="zh-TW" sz="2400" i="1" dirty="0" err="1">
                <a:ea typeface="ＭＳ Ｐゴシック" panose="020B0600070205080204" pitchFamily="34" charset="-128"/>
              </a:rPr>
              <a:t>H</a:t>
            </a:r>
            <a:r>
              <a:rPr lang="en-US" altLang="zh-TW" sz="2400" i="1" baseline="-25000" dirty="0" err="1">
                <a:ea typeface="ＭＳ Ｐゴシック" panose="020B0600070205080204" pitchFamily="34" charset="-128"/>
              </a:rPr>
              <a:t>n</a:t>
            </a:r>
            <a:r>
              <a:rPr lang="en-US" altLang="zh-TW" sz="2400" dirty="0">
                <a:ea typeface="ＭＳ Ｐゴシック" panose="020B0600070205080204" pitchFamily="34" charset="-128"/>
              </a:rPr>
              <a:t>}</a:t>
            </a:r>
          </a:p>
          <a:p>
            <a:endParaRPr lang="zh-TW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27584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標題 1">
            <a:extLst>
              <a:ext uri="{FF2B5EF4-FFF2-40B4-BE49-F238E27FC236}">
                <a16:creationId xmlns:a16="http://schemas.microsoft.com/office/drawing/2014/main" id="{C9728DD2-5944-484B-AE2D-5B115EAF0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209550"/>
            <a:ext cx="7772400" cy="1143000"/>
          </a:xfrm>
        </p:spPr>
        <p:txBody>
          <a:bodyPr/>
          <a:lstStyle/>
          <a:p>
            <a:r>
              <a:rPr lang="en-US" altLang="zh-TW" sz="36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Modeling with Recurrence Relations</a:t>
            </a:r>
            <a:endParaRPr lang="zh-TW" altLang="en-US" sz="3600">
              <a:ea typeface="ＭＳ Ｐゴシック" panose="020B0600070205080204" pitchFamily="34" charset="-128"/>
            </a:endParaRPr>
          </a:p>
        </p:txBody>
      </p:sp>
      <p:sp>
        <p:nvSpPr>
          <p:cNvPr id="30722" name="內容版面配置區 2">
            <a:extLst>
              <a:ext uri="{FF2B5EF4-FFF2-40B4-BE49-F238E27FC236}">
                <a16:creationId xmlns:a16="http://schemas.microsoft.com/office/drawing/2014/main" id="{AA9F5F57-19D2-B54E-BF10-CA5A0207C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>
              <a:ea typeface="ＭＳ Ｐゴシック" panose="020B0600070205080204" pitchFamily="34" charset="-128"/>
            </a:endParaRPr>
          </a:p>
          <a:p>
            <a:endParaRPr lang="en-US" altLang="zh-TW">
              <a:ea typeface="ＭＳ Ｐゴシック" panose="020B0600070205080204" pitchFamily="34" charset="-128"/>
            </a:endParaRPr>
          </a:p>
          <a:p>
            <a:endParaRPr lang="en-US" altLang="zh-TW">
              <a:ea typeface="ＭＳ Ｐゴシック" panose="020B0600070205080204" pitchFamily="34" charset="-128"/>
            </a:endParaRPr>
          </a:p>
          <a:p>
            <a:endParaRPr lang="en-US" altLang="zh-TW">
              <a:ea typeface="ＭＳ Ｐゴシック" panose="020B0600070205080204" pitchFamily="34" charset="-128"/>
            </a:endParaRPr>
          </a:p>
          <a:p>
            <a:endParaRPr lang="en-US" altLang="zh-TW">
              <a:ea typeface="ＭＳ Ｐゴシック" panose="020B0600070205080204" pitchFamily="34" charset="-128"/>
            </a:endParaRPr>
          </a:p>
          <a:p>
            <a:endParaRPr lang="en-US" altLang="zh-TW">
              <a:ea typeface="ＭＳ Ｐゴシック" panose="020B0600070205080204" pitchFamily="34" charset="-128"/>
            </a:endParaRPr>
          </a:p>
          <a:p>
            <a:endParaRPr lang="en-US" altLang="zh-TW">
              <a:ea typeface="ＭＳ Ｐゴシック" panose="020B0600070205080204" pitchFamily="34" charset="-128"/>
            </a:endParaRPr>
          </a:p>
          <a:p>
            <a:endParaRPr lang="en-US" altLang="zh-TW">
              <a:ea typeface="ＭＳ Ｐゴシック" panose="020B0600070205080204" pitchFamily="34" charset="-128"/>
            </a:endParaRPr>
          </a:p>
          <a:p>
            <a:endParaRPr lang="en-US" altLang="zh-TW">
              <a:ea typeface="ＭＳ Ｐゴシック" panose="020B0600070205080204" pitchFamily="34" charset="-128"/>
            </a:endParaRPr>
          </a:p>
          <a:p>
            <a:endParaRPr lang="zh-TW" altLang="en-US">
              <a:ea typeface="ＭＳ Ｐゴシック" panose="020B0600070205080204" pitchFamily="34" charset="-128"/>
            </a:endParaRPr>
          </a:p>
        </p:txBody>
      </p:sp>
      <p:pic>
        <p:nvPicPr>
          <p:cNvPr id="30723" name="Picture 3" descr="07_1_02">
            <a:extLst>
              <a:ext uri="{FF2B5EF4-FFF2-40B4-BE49-F238E27FC236}">
                <a16:creationId xmlns:a16="http://schemas.microsoft.com/office/drawing/2014/main" id="{1DEB9A90-38FC-6941-AD13-B7B67BF6D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23" r="630"/>
          <a:stretch>
            <a:fillRect/>
          </a:stretch>
        </p:blipFill>
        <p:spPr bwMode="auto">
          <a:xfrm>
            <a:off x="1809750" y="1571625"/>
            <a:ext cx="4000500" cy="3714750"/>
          </a:xfrm>
          <a:prstGeom prst="rect">
            <a:avLst/>
          </a:prstGeom>
          <a:noFill/>
          <a:ln w="3175">
            <a:solidFill>
              <a:srgbClr val="FFC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24" name="Text Box 8">
            <a:extLst>
              <a:ext uri="{FF2B5EF4-FFF2-40B4-BE49-F238E27FC236}">
                <a16:creationId xmlns:a16="http://schemas.microsoft.com/office/drawing/2014/main" id="{5EC297A1-8B22-7D43-9C56-47B89B5E0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75" y="5357813"/>
            <a:ext cx="28575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2000" b="1">
                <a:solidFill>
                  <a:srgbClr val="FF6600"/>
                </a:solidFill>
                <a:ea typeface="新細明體" panose="02020500000000000000" pitchFamily="18" charset="-120"/>
              </a:rPr>
              <a:t>FIGURE 2 </a:t>
            </a:r>
            <a:r>
              <a:rPr lang="en-US" altLang="zh-TW" sz="2000">
                <a:ea typeface="新細明體" panose="02020500000000000000" pitchFamily="18" charset="-120"/>
              </a:rPr>
              <a:t> The Initial Position in the Tower of Hanoi. </a:t>
            </a:r>
          </a:p>
        </p:txBody>
      </p:sp>
      <p:pic>
        <p:nvPicPr>
          <p:cNvPr id="30725" name="Picture 3" descr="07_1_03">
            <a:extLst>
              <a:ext uri="{FF2B5EF4-FFF2-40B4-BE49-F238E27FC236}">
                <a16:creationId xmlns:a16="http://schemas.microsoft.com/office/drawing/2014/main" id="{29A19515-ECA4-554D-8E96-15F592E92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81" r="420"/>
          <a:stretch>
            <a:fillRect/>
          </a:stretch>
        </p:blipFill>
        <p:spPr bwMode="auto">
          <a:xfrm>
            <a:off x="6024564" y="1571625"/>
            <a:ext cx="4429125" cy="3714750"/>
          </a:xfrm>
          <a:prstGeom prst="rect">
            <a:avLst/>
          </a:prstGeom>
          <a:noFill/>
          <a:ln w="9525">
            <a:solidFill>
              <a:srgbClr val="FFC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26" name="Text Box 8">
            <a:extLst>
              <a:ext uri="{FF2B5EF4-FFF2-40B4-BE49-F238E27FC236}">
                <a16:creationId xmlns:a16="http://schemas.microsoft.com/office/drawing/2014/main" id="{88E6A9FF-45D6-3A4F-B74D-E9D80459A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189" y="5429251"/>
            <a:ext cx="34575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2000" b="1">
                <a:solidFill>
                  <a:srgbClr val="FF6600"/>
                </a:solidFill>
                <a:ea typeface="新細明體" panose="02020500000000000000" pitchFamily="18" charset="-120"/>
              </a:rPr>
              <a:t>FIGURE 3 </a:t>
            </a:r>
            <a:r>
              <a:rPr lang="en-US" altLang="zh-TW" sz="2000">
                <a:ea typeface="新細明體" panose="02020500000000000000" pitchFamily="18" charset="-120"/>
              </a:rPr>
              <a:t> An Intermediate Position in the Tower of Hanoi. </a:t>
            </a:r>
          </a:p>
        </p:txBody>
      </p:sp>
    </p:spTree>
    <p:extLst>
      <p:ext uri="{BB962C8B-B14F-4D97-AF65-F5344CB8AC3E}">
        <p14:creationId xmlns:p14="http://schemas.microsoft.com/office/powerpoint/2010/main" val="3820953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9E20E-F5A2-B142-A943-A95FA570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Game: Tower of Hanoi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4402CC-5F2D-D04B-B991-B4EB08953D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6312" y="2442618"/>
            <a:ext cx="6909494" cy="3454747"/>
          </a:xfrm>
        </p:spPr>
      </p:pic>
    </p:spTree>
    <p:extLst>
      <p:ext uri="{BB962C8B-B14F-4D97-AF65-F5344CB8AC3E}">
        <p14:creationId xmlns:p14="http://schemas.microsoft.com/office/powerpoint/2010/main" val="1930933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標題 1">
            <a:extLst>
              <a:ext uri="{FF2B5EF4-FFF2-40B4-BE49-F238E27FC236}">
                <a16:creationId xmlns:a16="http://schemas.microsoft.com/office/drawing/2014/main" id="{7C0AB87F-46E1-7A4C-B6BA-B61B9ED1A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209550"/>
            <a:ext cx="7772400" cy="1143000"/>
          </a:xfrm>
        </p:spPr>
        <p:txBody>
          <a:bodyPr/>
          <a:lstStyle/>
          <a:p>
            <a:r>
              <a:rPr lang="en-US" altLang="zh-TW" sz="36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Modeling with Recurrence Relations</a:t>
            </a:r>
            <a:endParaRPr lang="zh-TW" altLang="en-US" sz="3600">
              <a:ea typeface="ＭＳ Ｐゴシック" panose="020B0600070205080204" pitchFamily="34" charset="-128"/>
            </a:endParaRPr>
          </a:p>
        </p:txBody>
      </p:sp>
      <p:sp>
        <p:nvSpPr>
          <p:cNvPr id="31746" name="內容版面配置區 2">
            <a:extLst>
              <a:ext uri="{FF2B5EF4-FFF2-40B4-BE49-F238E27FC236}">
                <a16:creationId xmlns:a16="http://schemas.microsoft.com/office/drawing/2014/main" id="{093F0B9E-1F0D-B74C-93D5-DEC5F9180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9800" y="2398713"/>
            <a:ext cx="7772400" cy="4114800"/>
          </a:xfrm>
        </p:spPr>
        <p:txBody>
          <a:bodyPr>
            <a:normAutofit lnSpcReduction="10000"/>
          </a:bodyPr>
          <a:lstStyle/>
          <a:p>
            <a:endParaRPr lang="en-US" altLang="zh-TW" dirty="0">
              <a:ea typeface="ＭＳ Ｐゴシック" panose="020B0600070205080204" pitchFamily="34" charset="-128"/>
            </a:endParaRPr>
          </a:p>
          <a:p>
            <a:endParaRPr lang="en-US" altLang="zh-TW" dirty="0">
              <a:ea typeface="ＭＳ Ｐゴシック" panose="020B0600070205080204" pitchFamily="34" charset="-128"/>
            </a:endParaRPr>
          </a:p>
          <a:p>
            <a:r>
              <a:rPr lang="en-US" altLang="zh-TW" dirty="0">
                <a:ea typeface="ＭＳ Ｐゴシック" panose="020B0600070205080204" pitchFamily="34" charset="-128"/>
              </a:rPr>
              <a:t>play the game once moving the smaller </a:t>
            </a:r>
          </a:p>
          <a:p>
            <a:pPr>
              <a:buFontTx/>
              <a:buNone/>
            </a:pPr>
            <a:r>
              <a:rPr lang="en-US" altLang="zh-TW" b="1" dirty="0">
                <a:ea typeface="ＭＳ Ｐゴシック" panose="020B0600070205080204" pitchFamily="34" charset="-128"/>
              </a:rPr>
              <a:t>     n-1 </a:t>
            </a:r>
            <a:r>
              <a:rPr lang="en-US" altLang="zh-TW" dirty="0">
                <a:ea typeface="ＭＳ Ｐゴシック" panose="020B0600070205080204" pitchFamily="34" charset="-128"/>
              </a:rPr>
              <a:t>disks   to the third peg (</a:t>
            </a:r>
            <a:r>
              <a:rPr lang="en-US" altLang="zh-TW" b="1" dirty="0">
                <a:ea typeface="ＭＳ Ｐゴシック" panose="020B0600070205080204" pitchFamily="34" charset="-128"/>
              </a:rPr>
              <a:t>a</a:t>
            </a:r>
            <a:r>
              <a:rPr lang="en-US" altLang="zh-TW" b="1" baseline="-25000" dirty="0">
                <a:ea typeface="ＭＳ Ｐゴシック" panose="020B0600070205080204" pitchFamily="34" charset="-128"/>
              </a:rPr>
              <a:t>n-1 </a:t>
            </a:r>
            <a:r>
              <a:rPr lang="en-US" altLang="zh-TW" dirty="0">
                <a:ea typeface="ＭＳ Ｐゴシック" panose="020B0600070205080204" pitchFamily="34" charset="-128"/>
              </a:rPr>
              <a:t>moves)</a:t>
            </a:r>
          </a:p>
          <a:p>
            <a:r>
              <a:rPr lang="en-US" altLang="zh-TW" dirty="0">
                <a:ea typeface="ＭＳ Ｐゴシック" panose="020B0600070205080204" pitchFamily="34" charset="-128"/>
              </a:rPr>
              <a:t>move bottom largest disk to second peg (</a:t>
            </a:r>
            <a:r>
              <a:rPr lang="en-US" altLang="zh-TW" b="1" dirty="0">
                <a:ea typeface="ＭＳ Ｐゴシック" panose="020B0600070205080204" pitchFamily="34" charset="-128"/>
              </a:rPr>
              <a:t>1</a:t>
            </a:r>
            <a:r>
              <a:rPr lang="en-US" altLang="zh-TW" dirty="0">
                <a:ea typeface="ＭＳ Ｐゴシック" panose="020B0600070205080204" pitchFamily="34" charset="-128"/>
              </a:rPr>
              <a:t> move)</a:t>
            </a:r>
          </a:p>
          <a:p>
            <a:r>
              <a:rPr lang="en-US" altLang="zh-TW" dirty="0">
                <a:ea typeface="ＭＳ Ｐゴシック" panose="020B0600070205080204" pitchFamily="34" charset="-128"/>
              </a:rPr>
              <a:t>then move the smaller </a:t>
            </a:r>
            <a:r>
              <a:rPr lang="en-US" altLang="zh-TW" b="1" dirty="0">
                <a:ea typeface="ＭＳ Ｐゴシック" panose="020B0600070205080204" pitchFamily="34" charset="-128"/>
              </a:rPr>
              <a:t>n-1 </a:t>
            </a:r>
            <a:r>
              <a:rPr lang="en-US" altLang="zh-TW" dirty="0">
                <a:ea typeface="ＭＳ Ｐゴシック" panose="020B0600070205080204" pitchFamily="34" charset="-128"/>
              </a:rPr>
              <a:t>disks to second peg on top of the largest disk (another </a:t>
            </a:r>
            <a:r>
              <a:rPr lang="en-US" altLang="zh-TW" b="1" dirty="0">
                <a:ea typeface="ＭＳ Ｐゴシック" panose="020B0600070205080204" pitchFamily="34" charset="-128"/>
              </a:rPr>
              <a:t>a</a:t>
            </a:r>
            <a:r>
              <a:rPr lang="en-US" altLang="zh-TW" b="1" baseline="-25000" dirty="0">
                <a:ea typeface="ＭＳ Ｐゴシック" panose="020B0600070205080204" pitchFamily="34" charset="-128"/>
              </a:rPr>
              <a:t>n-1 </a:t>
            </a:r>
            <a:r>
              <a:rPr lang="en-US" altLang="zh-TW" dirty="0">
                <a:ea typeface="ＭＳ Ｐゴシック" panose="020B0600070205080204" pitchFamily="34" charset="-128"/>
              </a:rPr>
              <a:t>moves)</a:t>
            </a:r>
          </a:p>
          <a:p>
            <a:r>
              <a:rPr lang="en-US" altLang="zh-TW" dirty="0">
                <a:ea typeface="ＭＳ Ｐゴシック" panose="020B0600070205080204" pitchFamily="34" charset="-128"/>
              </a:rPr>
              <a:t>done!</a:t>
            </a:r>
          </a:p>
          <a:p>
            <a:pPr>
              <a:buFontTx/>
              <a:buNone/>
            </a:pPr>
            <a:endParaRPr lang="en-US" altLang="zh-TW" dirty="0">
              <a:ea typeface="ＭＳ Ｐゴシック" panose="020B0600070205080204" pitchFamily="34" charset="-128"/>
            </a:endParaRPr>
          </a:p>
          <a:p>
            <a:pPr>
              <a:buFontTx/>
              <a:buNone/>
            </a:pPr>
            <a:endParaRPr lang="en-US" altLang="zh-TW" dirty="0">
              <a:ea typeface="ＭＳ Ｐゴシック" panose="020B0600070205080204" pitchFamily="34" charset="-128"/>
            </a:endParaRPr>
          </a:p>
          <a:p>
            <a:endParaRPr lang="en-US" altLang="zh-TW" dirty="0">
              <a:ea typeface="ＭＳ Ｐゴシック" panose="020B0600070205080204" pitchFamily="34" charset="-128"/>
            </a:endParaRPr>
          </a:p>
          <a:p>
            <a:endParaRPr lang="en-US" altLang="zh-TW" dirty="0">
              <a:ea typeface="ＭＳ Ｐゴシック" panose="020B0600070205080204" pitchFamily="34" charset="-128"/>
            </a:endParaRPr>
          </a:p>
          <a:p>
            <a:endParaRPr lang="en-US" altLang="zh-TW" dirty="0">
              <a:ea typeface="ＭＳ Ｐゴシック" panose="020B0600070205080204" pitchFamily="34" charset="-128"/>
            </a:endParaRPr>
          </a:p>
          <a:p>
            <a:endParaRPr lang="en-US" altLang="zh-TW" dirty="0">
              <a:ea typeface="ＭＳ Ｐゴシック" panose="020B0600070205080204" pitchFamily="34" charset="-128"/>
            </a:endParaRPr>
          </a:p>
          <a:p>
            <a:endParaRPr lang="en-US" altLang="zh-TW" dirty="0">
              <a:ea typeface="ＭＳ Ｐゴシック" panose="020B0600070205080204" pitchFamily="34" charset="-128"/>
            </a:endParaRPr>
          </a:p>
          <a:p>
            <a:endParaRPr lang="en-US" altLang="zh-TW" dirty="0">
              <a:ea typeface="ＭＳ Ｐゴシック" panose="020B0600070205080204" pitchFamily="34" charset="-128"/>
            </a:endParaRPr>
          </a:p>
          <a:p>
            <a:endParaRPr lang="zh-TW" altLang="en-US" dirty="0">
              <a:ea typeface="ＭＳ Ｐゴシック" panose="020B0600070205080204" pitchFamily="34" charset="-128"/>
            </a:endParaRPr>
          </a:p>
        </p:txBody>
      </p:sp>
      <p:pic>
        <p:nvPicPr>
          <p:cNvPr id="31747" name="Picture 3" descr="07_1_02">
            <a:extLst>
              <a:ext uri="{FF2B5EF4-FFF2-40B4-BE49-F238E27FC236}">
                <a16:creationId xmlns:a16="http://schemas.microsoft.com/office/drawing/2014/main" id="{A150D419-96DA-BA4C-90B8-9D5D8E854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23" r="630"/>
          <a:stretch>
            <a:fillRect/>
          </a:stretch>
        </p:blipFill>
        <p:spPr bwMode="auto">
          <a:xfrm>
            <a:off x="1828800" y="1192213"/>
            <a:ext cx="1720850" cy="1598612"/>
          </a:xfrm>
          <a:prstGeom prst="rect">
            <a:avLst/>
          </a:prstGeom>
          <a:noFill/>
          <a:ln w="3175">
            <a:solidFill>
              <a:srgbClr val="FFC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8" name="Picture 3" descr="07_1_03">
            <a:extLst>
              <a:ext uri="{FF2B5EF4-FFF2-40B4-BE49-F238E27FC236}">
                <a16:creationId xmlns:a16="http://schemas.microsoft.com/office/drawing/2014/main" id="{95DE0298-981C-D64D-90E2-342191F94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81" r="420"/>
          <a:stretch>
            <a:fillRect/>
          </a:stretch>
        </p:blipFill>
        <p:spPr bwMode="auto">
          <a:xfrm>
            <a:off x="8509000" y="2814638"/>
            <a:ext cx="1906588" cy="1598612"/>
          </a:xfrm>
          <a:prstGeom prst="rect">
            <a:avLst/>
          </a:prstGeom>
          <a:noFill/>
          <a:ln w="9525">
            <a:solidFill>
              <a:srgbClr val="FFC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750" name="TextBox 8">
            <a:extLst>
              <a:ext uri="{FF2B5EF4-FFF2-40B4-BE49-F238E27FC236}">
                <a16:creationId xmlns:a16="http://schemas.microsoft.com/office/drawing/2014/main" id="{D4091D73-3750-EB4D-B677-6FB4DCB92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1" y="1362075"/>
            <a:ext cx="6035675" cy="200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800" b="1"/>
              <a:t>a</a:t>
            </a:r>
            <a:r>
              <a:rPr lang="en-US" altLang="en-US" sz="2800" b="1" baseline="-25000"/>
              <a:t>n</a:t>
            </a:r>
            <a:r>
              <a:rPr lang="en-US" altLang="en-US" sz="2800"/>
              <a:t> : number of moves to solve the n-disk game. Then:</a:t>
            </a:r>
            <a:endParaRPr lang="en-US" altLang="en-US" sz="2800" baseline="-25000"/>
          </a:p>
          <a:p>
            <a:pPr eaLnBrk="1" hangingPunct="1"/>
            <a:r>
              <a:rPr lang="en-US" altLang="en-US" sz="2800" b="1"/>
              <a:t>           a</a:t>
            </a:r>
            <a:r>
              <a:rPr lang="en-US" altLang="en-US" sz="2800" b="1" baseline="-25000"/>
              <a:t>n </a:t>
            </a:r>
            <a:r>
              <a:rPr lang="en-US" altLang="en-US" sz="2800" b="1"/>
              <a:t>= 2 a</a:t>
            </a:r>
            <a:r>
              <a:rPr lang="en-US" altLang="en-US" sz="2800" b="1" baseline="-25000"/>
              <a:t>n-1</a:t>
            </a:r>
            <a:r>
              <a:rPr lang="en-US" altLang="en-US" sz="2800" b="1"/>
              <a:t> + 1</a:t>
            </a:r>
          </a:p>
          <a:p>
            <a:pPr eaLnBrk="1" hangingPunct="1"/>
            <a:r>
              <a:rPr lang="en-US" altLang="en-US" sz="6000" b="1" baseline="-25000"/>
              <a:t>   1, 3, 7, 15, 31, </a:t>
            </a:r>
            <a:r>
              <a:rPr lang="en-US" altLang="en-US" sz="6000" b="1" baseline="-25000">
                <a:solidFill>
                  <a:srgbClr val="FF0000"/>
                </a:solidFill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548254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標題 1">
            <a:extLst>
              <a:ext uri="{FF2B5EF4-FFF2-40B4-BE49-F238E27FC236}">
                <a16:creationId xmlns:a16="http://schemas.microsoft.com/office/drawing/2014/main" id="{026F19FA-9B34-8342-AB07-02A694984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r>
              <a:rPr lang="en-US" altLang="zh-TW" sz="36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Modeling with Recurrence Relations</a:t>
            </a:r>
            <a:endParaRPr lang="zh-TW" altLang="en-US" sz="3600">
              <a:ea typeface="ＭＳ Ｐゴシック" panose="020B0600070205080204" pitchFamily="34" charset="-128"/>
            </a:endParaRPr>
          </a:p>
        </p:txBody>
      </p:sp>
      <p:sp>
        <p:nvSpPr>
          <p:cNvPr id="32770" name="內容版面配置區 2">
            <a:extLst>
              <a:ext uri="{FF2B5EF4-FFF2-40B4-BE49-F238E27FC236}">
                <a16:creationId xmlns:a16="http://schemas.microsoft.com/office/drawing/2014/main" id="{A3F9FBC4-F338-214C-8042-1A1C364B8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123951"/>
            <a:ext cx="9144000" cy="557212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Example : </a:t>
            </a:r>
            <a:r>
              <a:rPr lang="en-US" altLang="zh-TW" dirty="0">
                <a:ea typeface="ＭＳ Ｐゴシック" panose="020B0600070205080204" pitchFamily="34" charset="-128"/>
              </a:rPr>
              <a:t>Let </a:t>
            </a:r>
            <a:r>
              <a:rPr lang="en-US" altLang="zh-TW" dirty="0" err="1">
                <a:ea typeface="ＭＳ Ｐゴシック" panose="020B0600070205080204" pitchFamily="34" charset="-128"/>
              </a:rPr>
              <a:t>a</a:t>
            </a:r>
            <a:r>
              <a:rPr lang="en-US" altLang="zh-TW" baseline="-25000" dirty="0" err="1">
                <a:ea typeface="ＭＳ Ｐゴシック" panose="020B0600070205080204" pitchFamily="34" charset="-128"/>
              </a:rPr>
              <a:t>n,k</a:t>
            </a:r>
            <a:r>
              <a:rPr lang="en-US" altLang="zh-TW" dirty="0">
                <a:ea typeface="ＭＳ Ｐゴシック" panose="020B0600070205080204" pitchFamily="34" charset="-128"/>
              </a:rPr>
              <a:t> be the number of ways to select a set of k objects among  n distinct objects?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  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ea typeface="ＭＳ Ｐゴシック" panose="020B0600070205080204" pitchFamily="34" charset="-128"/>
              </a:rPr>
              <a:t>(</a:t>
            </a:r>
            <a:r>
              <a:rPr lang="en-US" altLang="zh-TW" sz="1800" dirty="0">
                <a:ea typeface="ＭＳ Ｐゴシック" panose="020B0600070205080204" pitchFamily="34" charset="-128"/>
              </a:rPr>
              <a:t>choose 1</a:t>
            </a:r>
            <a:r>
              <a:rPr lang="en-US" altLang="zh-TW" sz="1800" baseline="30000" dirty="0">
                <a:ea typeface="ＭＳ Ｐゴシック" panose="020B0600070205080204" pitchFamily="34" charset="-128"/>
              </a:rPr>
              <a:t>st</a:t>
            </a:r>
            <a:r>
              <a:rPr lang="en-US" altLang="zh-TW" sz="1800" dirty="0">
                <a:ea typeface="ＭＳ Ｐゴシック" panose="020B0600070205080204" pitchFamily="34" charset="-128"/>
              </a:rPr>
              <a:t> object, then choose k-1 among remaining n-1; or not choose 1</a:t>
            </a:r>
            <a:r>
              <a:rPr lang="en-US" altLang="zh-TW" sz="1800" baseline="30000" dirty="0">
                <a:ea typeface="ＭＳ Ｐゴシック" panose="020B0600070205080204" pitchFamily="34" charset="-128"/>
              </a:rPr>
              <a:t>st</a:t>
            </a:r>
            <a:r>
              <a:rPr lang="en-US" altLang="zh-TW" sz="1800" dirty="0">
                <a:ea typeface="ＭＳ Ｐゴシック" panose="020B0600070205080204" pitchFamily="34" charset="-128"/>
              </a:rPr>
              <a:t> object and choose k among remaining n-1</a:t>
            </a:r>
            <a:r>
              <a:rPr lang="en-US" altLang="zh-TW" dirty="0">
                <a:ea typeface="ＭＳ Ｐゴシック" panose="020B0600070205080204" pitchFamily="34" charset="-128"/>
              </a:rPr>
              <a:t>)</a:t>
            </a:r>
          </a:p>
          <a:p>
            <a:pPr>
              <a:lnSpc>
                <a:spcPct val="110000"/>
              </a:lnSpc>
              <a:buFontTx/>
              <a:buNone/>
            </a:pPr>
            <a:endParaRPr lang="en-US" altLang="zh-TW" dirty="0">
              <a:solidFill>
                <a:srgbClr val="00B050"/>
              </a:solidFill>
              <a:ea typeface="ＭＳ Ｐゴシック" panose="020B0600070205080204" pitchFamily="34" charset="-128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C(</a:t>
            </a:r>
            <a:r>
              <a:rPr lang="en-US" altLang="zh-TW" dirty="0" err="1">
                <a:ea typeface="ＭＳ Ｐゴシック" panose="020B0600070205080204" pitchFamily="34" charset="-128"/>
              </a:rPr>
              <a:t>n,k</a:t>
            </a:r>
            <a:r>
              <a:rPr lang="en-US" altLang="zh-TW" dirty="0">
                <a:ea typeface="ＭＳ Ｐゴシック" panose="020B0600070205080204" pitchFamily="34" charset="-128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8F9E9B9-2CA6-764D-A1FB-0CC17893F5C7}"/>
                  </a:ext>
                </a:extLst>
              </p:cNvPr>
              <p:cNvSpPr txBox="1"/>
              <p:nvPr/>
            </p:nvSpPr>
            <p:spPr>
              <a:xfrm>
                <a:off x="5640512" y="2974368"/>
                <a:ext cx="20069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413A9152-A233-4FD6-8B6B-4AB0E1771650}" type="mathplaceholder">
                        <a:rPr lang="en-US" altLang="zh-CN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8F9E9B9-2CA6-764D-A1FB-0CC17893F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0512" y="2974368"/>
                <a:ext cx="2006960" cy="276999"/>
              </a:xfrm>
              <a:prstGeom prst="rect">
                <a:avLst/>
              </a:prstGeom>
              <a:blipFill>
                <a:blip r:embed="rId2"/>
                <a:stretch>
                  <a:fillRect l="-3797" t="-4348" r="-2532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7873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標題 1">
            <a:extLst>
              <a:ext uri="{FF2B5EF4-FFF2-40B4-BE49-F238E27FC236}">
                <a16:creationId xmlns:a16="http://schemas.microsoft.com/office/drawing/2014/main" id="{0719DE46-F56A-7045-8CD4-BC8228E4F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r>
              <a:rPr lang="en-US" altLang="zh-TW" sz="36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Modeling with Recurrence Relations</a:t>
            </a:r>
            <a:endParaRPr lang="zh-TW" altLang="en-US" sz="3600">
              <a:ea typeface="ＭＳ Ｐゴシック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794" name="內容版面配置區 2">
                <a:extLst>
                  <a:ext uri="{FF2B5EF4-FFF2-40B4-BE49-F238E27FC236}">
                    <a16:creationId xmlns:a16="http://schemas.microsoft.com/office/drawing/2014/main" id="{D8AADEB5-B21E-E048-BAB9-CCCDEE01F0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0" y="1123951"/>
                <a:ext cx="9144000" cy="5572125"/>
              </a:xfrm>
            </p:spPr>
            <p:txBody>
              <a:bodyPr/>
              <a:lstStyle/>
              <a:p>
                <a:pPr>
                  <a:lnSpc>
                    <a:spcPct val="110000"/>
                  </a:lnSpc>
                </a:pPr>
                <a:r>
                  <a:rPr lang="en-US" altLang="zh-TW" dirty="0">
                    <a:solidFill>
                      <a:srgbClr val="00B050"/>
                    </a:solidFill>
                    <a:ea typeface="ＭＳ Ｐゴシック" panose="020B0600070205080204" pitchFamily="34" charset="-128"/>
                  </a:rPr>
                  <a:t>Example : </a:t>
                </a:r>
                <a:r>
                  <a:rPr lang="en-US" altLang="zh-TW" dirty="0">
                    <a:ea typeface="ＭＳ Ｐゴシック" panose="020B0600070205080204" pitchFamily="34" charset="-128"/>
                  </a:rPr>
                  <a:t>Let </a:t>
                </a:r>
                <a:r>
                  <a:rPr lang="en-US" altLang="zh-TW" dirty="0" err="1">
                    <a:ea typeface="ＭＳ Ｐゴシック" panose="020B0600070205080204" pitchFamily="34" charset="-128"/>
                  </a:rPr>
                  <a:t>a</a:t>
                </a:r>
                <a:r>
                  <a:rPr lang="en-US" altLang="zh-TW" baseline="-25000" dirty="0" err="1">
                    <a:ea typeface="ＭＳ Ｐゴシック" panose="020B0600070205080204" pitchFamily="34" charset="-128"/>
                  </a:rPr>
                  <a:t>n,k</a:t>
                </a:r>
                <a:r>
                  <a:rPr lang="en-US" altLang="zh-TW" dirty="0">
                    <a:ea typeface="ＭＳ Ｐゴシック" panose="020B0600070205080204" pitchFamily="34" charset="-128"/>
                  </a:rPr>
                  <a:t> be the number of ways to select a set of k objects among  n distinct objects?</a:t>
                </a:r>
              </a:p>
              <a:p>
                <a:pPr>
                  <a:lnSpc>
                    <a:spcPct val="110000"/>
                  </a:lnSpc>
                  <a:buFontTx/>
                  <a:buNone/>
                </a:pPr>
                <a:r>
                  <a:rPr lang="en-US" altLang="zh-TW" dirty="0">
                    <a:ea typeface="ＭＳ Ｐゴシック" panose="020B0600070205080204" pitchFamily="34" charset="-128"/>
                  </a:rPr>
                  <a:t>    </a:t>
                </a:r>
                <a:r>
                  <a:rPr lang="en-US" altLang="zh-TW" dirty="0" err="1">
                    <a:ea typeface="ＭＳ Ｐゴシック" panose="020B0600070205080204" pitchFamily="34" charset="-128"/>
                  </a:rPr>
                  <a:t>a</a:t>
                </a:r>
                <a:r>
                  <a:rPr lang="en-US" altLang="zh-TW" baseline="-25000" dirty="0" err="1">
                    <a:ea typeface="ＭＳ Ｐゴシック" panose="020B0600070205080204" pitchFamily="34" charset="-128"/>
                  </a:rPr>
                  <a:t>n,k</a:t>
                </a:r>
                <a:r>
                  <a:rPr lang="en-US" altLang="zh-TW" baseline="-25000" dirty="0">
                    <a:ea typeface="ＭＳ Ｐゴシック" panose="020B0600070205080204" pitchFamily="34" charset="-128"/>
                  </a:rPr>
                  <a:t> = </a:t>
                </a:r>
                <a:r>
                  <a:rPr lang="en-US" altLang="zh-TW" dirty="0">
                    <a:ea typeface="ＭＳ Ｐゴシック" panose="020B0600070205080204" pitchFamily="34" charset="-128"/>
                  </a:rPr>
                  <a:t>a</a:t>
                </a:r>
                <a:r>
                  <a:rPr lang="en-US" altLang="zh-TW" baseline="-25000" dirty="0">
                    <a:ea typeface="ＭＳ Ｐゴシック" panose="020B0600070205080204" pitchFamily="34" charset="-128"/>
                  </a:rPr>
                  <a:t>n-1,k-1</a:t>
                </a:r>
                <a:r>
                  <a:rPr lang="en-US" altLang="zh-TW" dirty="0">
                    <a:ea typeface="ＭＳ Ｐゴシック" panose="020B0600070205080204" pitchFamily="34" charset="-128"/>
                  </a:rPr>
                  <a:t> + a</a:t>
                </a:r>
                <a:r>
                  <a:rPr lang="en-US" altLang="zh-TW" baseline="-25000" dirty="0">
                    <a:ea typeface="ＭＳ Ｐゴシック" panose="020B0600070205080204" pitchFamily="34" charset="-128"/>
                  </a:rPr>
                  <a:t>n-1,k</a:t>
                </a:r>
              </a:p>
              <a:p>
                <a:pPr>
                  <a:lnSpc>
                    <a:spcPct val="110000"/>
                  </a:lnSpc>
                  <a:buFontTx/>
                  <a:buNone/>
                </a:pPr>
                <a:r>
                  <a:rPr lang="en-US" altLang="zh-TW" baseline="-25000" dirty="0">
                    <a:ea typeface="ＭＳ Ｐゴシック" panose="020B0600070205080204" pitchFamily="34" charset="-128"/>
                  </a:rPr>
                  <a:t> </a:t>
                </a:r>
                <a:r>
                  <a:rPr lang="en-US" altLang="zh-TW" dirty="0">
                    <a:ea typeface="ＭＳ Ｐゴシック" panose="020B0600070205080204" pitchFamily="34" charset="-128"/>
                  </a:rPr>
                  <a:t>(</a:t>
                </a:r>
                <a:r>
                  <a:rPr lang="en-US" altLang="zh-TW" sz="1800" dirty="0">
                    <a:ea typeface="ＭＳ Ｐゴシック" panose="020B0600070205080204" pitchFamily="34" charset="-128"/>
                  </a:rPr>
                  <a:t>choose 1</a:t>
                </a:r>
                <a:r>
                  <a:rPr lang="en-US" altLang="zh-TW" sz="1800" baseline="30000" dirty="0">
                    <a:ea typeface="ＭＳ Ｐゴシック" panose="020B0600070205080204" pitchFamily="34" charset="-128"/>
                  </a:rPr>
                  <a:t>st</a:t>
                </a:r>
                <a:r>
                  <a:rPr lang="en-US" altLang="zh-TW" sz="1800" dirty="0">
                    <a:ea typeface="ＭＳ Ｐゴシック" panose="020B0600070205080204" pitchFamily="34" charset="-128"/>
                  </a:rPr>
                  <a:t> object, then choose k-1 among remaining n-1; or not choose 1</a:t>
                </a:r>
                <a:r>
                  <a:rPr lang="en-US" altLang="zh-TW" sz="1800" baseline="30000" dirty="0">
                    <a:ea typeface="ＭＳ Ｐゴシック" panose="020B0600070205080204" pitchFamily="34" charset="-128"/>
                  </a:rPr>
                  <a:t>st</a:t>
                </a:r>
                <a:r>
                  <a:rPr lang="en-US" altLang="zh-TW" sz="1800" dirty="0">
                    <a:ea typeface="ＭＳ Ｐゴシック" panose="020B0600070205080204" pitchFamily="34" charset="-128"/>
                  </a:rPr>
                  <a:t> object and choose k among remaining n-1</a:t>
                </a:r>
                <a:r>
                  <a:rPr lang="en-US" altLang="zh-TW" dirty="0">
                    <a:ea typeface="ＭＳ Ｐゴシック" panose="020B0600070205080204" pitchFamily="34" charset="-128"/>
                  </a:rPr>
                  <a:t>)</a:t>
                </a:r>
              </a:p>
              <a:p>
                <a:pPr>
                  <a:lnSpc>
                    <a:spcPct val="110000"/>
                  </a:lnSpc>
                  <a:buFontTx/>
                  <a:buNone/>
                </a:pPr>
                <a:endParaRPr lang="en-US" altLang="zh-TW" dirty="0">
                  <a:ea typeface="ＭＳ Ｐゴシック" panose="020B0600070205080204" pitchFamily="34" charset="-128"/>
                </a:endParaRPr>
              </a:p>
              <a:p>
                <a:pPr>
                  <a:lnSpc>
                    <a:spcPct val="110000"/>
                  </a:lnSpc>
                  <a:buFontTx/>
                  <a:buNone/>
                </a:pPr>
                <a:r>
                  <a:rPr lang="en-US" altLang="zh-TW" sz="2400" dirty="0">
                    <a:ea typeface="ＭＳ Ｐゴシック" panose="020B0600070205080204" pitchFamily="34" charset="-128"/>
                  </a:rPr>
                  <a:t>This lead to the Shoulder identity of the Pascal triangle:</a:t>
                </a:r>
              </a:p>
              <a:p>
                <a:pPr>
                  <a:lnSpc>
                    <a:spcPct val="110000"/>
                  </a:lnSpc>
                  <a:buFontTx/>
                  <a:buNone/>
                </a:pPr>
                <a:endParaRPr lang="en-US" altLang="zh-TW" sz="2400" dirty="0">
                  <a:ea typeface="ＭＳ Ｐゴシック" panose="020B0600070205080204" pitchFamily="34" charset="-128"/>
                </a:endParaRPr>
              </a:p>
              <a:p>
                <a:pPr>
                  <a:lnSpc>
                    <a:spcPct val="11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𝐶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𝑛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−1,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𝑘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−1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+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𝐶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𝑛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−1,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𝑘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𝐶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𝑛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,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𝑘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)</m:t>
                      </m:r>
                    </m:oMath>
                  </m:oMathPara>
                </a14:m>
                <a:endParaRPr lang="en-US" altLang="zh-TW" sz="2400" dirty="0">
                  <a:ea typeface="ＭＳ Ｐゴシック" panose="020B0600070205080204" pitchFamily="34" charset="-128"/>
                </a:endParaRPr>
              </a:p>
              <a:p>
                <a:pPr>
                  <a:lnSpc>
                    <a:spcPct val="110000"/>
                  </a:lnSpc>
                  <a:buFontTx/>
                  <a:buNone/>
                </a:pPr>
                <a:endParaRPr lang="en-US" altLang="zh-TW" dirty="0">
                  <a:solidFill>
                    <a:srgbClr val="00B050"/>
                  </a:solidFill>
                  <a:ea typeface="ＭＳ Ｐゴシック" panose="020B0600070205080204" pitchFamily="34" charset="-128"/>
                </a:endParaRPr>
              </a:p>
              <a:p>
                <a:pPr>
                  <a:lnSpc>
                    <a:spcPct val="110000"/>
                  </a:lnSpc>
                  <a:buFontTx/>
                  <a:buNone/>
                </a:pPr>
                <a:endParaRPr lang="en-US" altLang="zh-TW" dirty="0">
                  <a:ea typeface="ＭＳ Ｐゴシック" panose="020B0600070205080204" pitchFamily="34" charset="-128"/>
                </a:endParaRPr>
              </a:p>
            </p:txBody>
          </p:sp>
        </mc:Choice>
        <mc:Fallback xmlns="">
          <p:sp>
            <p:nvSpPr>
              <p:cNvPr id="33794" name="內容版面配置區 2">
                <a:extLst>
                  <a:ext uri="{FF2B5EF4-FFF2-40B4-BE49-F238E27FC236}">
                    <a16:creationId xmlns:a16="http://schemas.microsoft.com/office/drawing/2014/main" id="{D8AADEB5-B21E-E048-BAB9-CCCDEE01F0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0" y="1123951"/>
                <a:ext cx="9144000" cy="5572125"/>
              </a:xfrm>
              <a:blipFill>
                <a:blip r:embed="rId2"/>
                <a:stretch>
                  <a:fillRect l="-1250" t="-683" r="-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3411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D01FBE0-1174-E140-B63E-59669BE083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5502" y="1690688"/>
            <a:ext cx="4690078" cy="29516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81A5E73F-508C-1B4D-BD2B-D565FC95D75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b="1" dirty="0"/>
                  <a:t>Suppose we draw n straight lines on a piece of paper so that every pair of lines intersect (but no three lines intersect at a common point). How many regions will be divided by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b="1" dirty="0"/>
                  <a:t> lines?</a:t>
                </a:r>
              </a:p>
            </p:txBody>
          </p:sp>
        </mc:Choice>
        <mc:Fallback xmlns="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81A5E73F-508C-1B4D-BD2B-D565FC95D7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844" r="-965" b="-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F4C8A6-B486-D649-BF5D-1BDEFDC0E178}"/>
                  </a:ext>
                </a:extLst>
              </p:cNvPr>
              <p:cNvSpPr txBox="1"/>
              <p:nvPr/>
            </p:nvSpPr>
            <p:spPr>
              <a:xfrm>
                <a:off x="838199" y="1690688"/>
                <a:ext cx="5655067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Solution: </a:t>
                </a:r>
                <a:r>
                  <a:rPr lang="en-US" sz="2400" dirty="0"/>
                  <a:t>Suppose that after drawing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lines, the number of regions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Now, adding a new line (the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-</a:t>
                </a:r>
                <a:r>
                  <a:rPr lang="en-US" sz="2400" dirty="0" err="1"/>
                  <a:t>th</a:t>
                </a:r>
                <a:r>
                  <a:rPr lang="en-US" sz="2400" dirty="0"/>
                  <a:t> line). It will intersect with each of the existing lines. After each intersection, the traversed region is divided into 2. Totally, it will generate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new regions, therefore: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sz="2400" b="1" dirty="0"/>
              </a:p>
              <a:p>
                <a:r>
                  <a:rPr lang="en-US" sz="2400" dirty="0"/>
                  <a:t>Here the base case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F4C8A6-B486-D649-BF5D-1BDEFDC0E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690688"/>
                <a:ext cx="5655067" cy="3416320"/>
              </a:xfrm>
              <a:prstGeom prst="rect">
                <a:avLst/>
              </a:prstGeom>
              <a:blipFill>
                <a:blip r:embed="rId4"/>
                <a:stretch>
                  <a:fillRect l="-1570" t="-741" r="-2915" b="-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2056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27A2620-DF2A-A144-BBAF-9C7C4826DE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b="1" dirty="0"/>
                  <a:t>A lady has a staircase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b="1" dirty="0"/>
                  <a:t> stairs to climb. Each step she takes can cover either one stair or two stairs. Find the a recurrence relation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400" b="1" dirty="0"/>
                  <a:t>, the number of different ways for her to ascend the staircase.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27A2620-DF2A-A144-BBAF-9C7C4826DE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AE52295-621C-DC4B-90A8-C0113E9F37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807718" y="1690688"/>
            <a:ext cx="3966466" cy="35855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05C7A0-DBE8-C64B-B763-8B1620D871B4}"/>
                  </a:ext>
                </a:extLst>
              </p:cNvPr>
              <p:cNvSpPr txBox="1"/>
              <p:nvPr/>
            </p:nvSpPr>
            <p:spPr>
              <a:xfrm>
                <a:off x="838199" y="1690688"/>
                <a:ext cx="5655067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Solution: </a:t>
                </a:r>
                <a:r>
                  <a:rPr lang="en-US" sz="2400" dirty="0"/>
                  <a:t>Consider the last step, she may cover either one or two stairs (these are exclusive events). If her last step covered one stair, the number of stairs before it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/>
                  <a:t>, or if her last step covered two stairs, the number of stairs before it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2400" dirty="0"/>
                  <a:t>. Therefore, the total number of ways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05C7A0-DBE8-C64B-B763-8B1620D87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690688"/>
                <a:ext cx="5655067" cy="3046988"/>
              </a:xfrm>
              <a:prstGeom prst="rect">
                <a:avLst/>
              </a:prstGeom>
              <a:blipFill>
                <a:blip r:embed="rId4"/>
                <a:stretch>
                  <a:fillRect l="-1570" t="-1245" r="-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5273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F021E5E-CB0D-7A4F-8A98-74E5802588B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b="1" dirty="0"/>
                  <a:t>Find the recurrence relation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400" b="1" dirty="0"/>
                  <a:t>, the number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b="1" dirty="0"/>
                  <a:t>-digit ternary sequences without any occurrence of the subsequence “012”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F021E5E-CB0D-7A4F-8A98-74E5802588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6C7213-75A0-154E-A79C-45BE8AA808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Solution: Consider the last digit, it could be one of three, 0, 1, or 2. For each of case, there are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/>
                  <a:t> digits to form the sequences, and they are exclusive (therefore we can use addition principle), 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However, if the last digit is 0, we must exclude “012” and the associated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US" sz="2400" dirty="0"/>
                  <a:t> digit sequences, therefore: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6C7213-75A0-154E-A79C-45BE8AA808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24" t="-20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5067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1170</Words>
  <Application>Microsoft Office PowerPoint</Application>
  <PresentationFormat>宽屏</PresentationFormat>
  <Paragraphs>118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ＭＳ Ｐゴシック</vt:lpstr>
      <vt:lpstr>新細明體</vt:lpstr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7.1 Recurrence Relations </vt:lpstr>
      <vt:lpstr>Recurrence Relations</vt:lpstr>
      <vt:lpstr>Recurrence Relations</vt:lpstr>
      <vt:lpstr>Recurrence Relations</vt:lpstr>
      <vt:lpstr>Modeling with Recurrence Relations</vt:lpstr>
      <vt:lpstr>Modeling with Recurrence Relations</vt:lpstr>
      <vt:lpstr>Modeling with Recurrence Relations</vt:lpstr>
      <vt:lpstr>Modeling with Recurrence Relations</vt:lpstr>
      <vt:lpstr>Modeling with Recurrence Relations</vt:lpstr>
      <vt:lpstr>Modeling with Recurrence Relations</vt:lpstr>
      <vt:lpstr>Game: Tower of Hanoi</vt:lpstr>
      <vt:lpstr>Modeling with Recurrence Relations</vt:lpstr>
      <vt:lpstr>Modeling with Recurrence Relations</vt:lpstr>
      <vt:lpstr>Modeling with Recurrence Relations</vt:lpstr>
      <vt:lpstr>Suppose we draw n straight lines on a piece of paper so that every pair of lines intersect (but no three lines intersect at a common point). How many regions will be divided by n lines?</vt:lpstr>
      <vt:lpstr>A lady has a staircase of n stairs to climb. Each step she takes can cover either one stair or two stairs. Find the a recurrence relation for a_n, the number of different ways for her to ascend the staircase.</vt:lpstr>
      <vt:lpstr>Find the recurrence relation for a_n, the number of n-digit ternary sequences without any occurrence of the subsequence “012”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xing</dc:creator>
  <cp:lastModifiedBy>xing</cp:lastModifiedBy>
  <cp:revision>1</cp:revision>
  <dcterms:created xsi:type="dcterms:W3CDTF">2025-12-10T08:24:02Z</dcterms:created>
  <dcterms:modified xsi:type="dcterms:W3CDTF">2025-12-10T08:24:12Z</dcterms:modified>
</cp:coreProperties>
</file>