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27T16:17:21.281"/>
    </inkml:context>
    <inkml:brush xml:id="br0">
      <inkml:brushProperty name="width" value="0.05" units="cm"/>
      <inkml:brushProperty name="height" value="0.05" units="cm"/>
    </inkml:brush>
  </inkml:definitions>
  <inkml:trace contextRef="#ctx0" brushRef="#br0">1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27T16:17:21.281"/>
    </inkml:context>
    <inkml:brush xml:id="br0">
      <inkml:brushProperty name="width" value="0.05" units="cm"/>
      <inkml:brushProperty name="height" value="0.05" units="cm"/>
    </inkml:brush>
  </inkml:definitions>
  <inkml:trace contextRef="#ctx0" brushRef="#br0">1 1 24575,'0'0'0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E3B1CF92-0515-49A3-A361-10BA966497FE}" type="datetimeFigureOut">
              <a:rPr lang="zh-CN" altLang="en-US" smtClean="0"/>
              <a:t>2025/9/9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BE73DA0-C756-4B33-A29D-A888A670054D}" type="slidenum">
              <a:rPr lang="zh-CN" altLang="en-US" smtClean="0"/>
              <a:t>‹#›</a:t>
            </a:fld>
            <a:endParaRPr lang="zh-CN" altLang="en-US"/>
          </a:p>
        </p:txBody>
      </p:sp>
    </p:spTree>
    <p:extLst>
      <p:ext uri="{BB962C8B-B14F-4D97-AF65-F5344CB8AC3E}">
        <p14:creationId xmlns:p14="http://schemas.microsoft.com/office/powerpoint/2010/main" val="2373716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3B1CF92-0515-49A3-A361-10BA966497FE}" type="datetimeFigureOut">
              <a:rPr lang="zh-CN" altLang="en-US" smtClean="0"/>
              <a:t>2025/9/9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BE73DA0-C756-4B33-A29D-A888A670054D}" type="slidenum">
              <a:rPr lang="zh-CN" altLang="en-US" smtClean="0"/>
              <a:t>‹#›</a:t>
            </a:fld>
            <a:endParaRPr lang="zh-CN" altLang="en-US"/>
          </a:p>
        </p:txBody>
      </p:sp>
    </p:spTree>
    <p:extLst>
      <p:ext uri="{BB962C8B-B14F-4D97-AF65-F5344CB8AC3E}">
        <p14:creationId xmlns:p14="http://schemas.microsoft.com/office/powerpoint/2010/main" val="116390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E3B1CF92-0515-49A3-A361-10BA966497FE}" type="datetimeFigureOut">
              <a:rPr lang="zh-CN" altLang="en-US" smtClean="0"/>
              <a:t>2025/9/9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BE73DA0-C756-4B33-A29D-A888A670054D}" type="slidenum">
              <a:rPr lang="zh-CN" altLang="en-US" smtClean="0"/>
              <a:t>‹#›</a:t>
            </a:fld>
            <a:endParaRPr lang="zh-CN" altLang="en-US"/>
          </a:p>
        </p:txBody>
      </p:sp>
    </p:spTree>
    <p:extLst>
      <p:ext uri="{BB962C8B-B14F-4D97-AF65-F5344CB8AC3E}">
        <p14:creationId xmlns:p14="http://schemas.microsoft.com/office/powerpoint/2010/main" val="2664978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3B1CF92-0515-49A3-A361-10BA966497FE}" type="datetimeFigureOut">
              <a:rPr lang="zh-CN" altLang="en-US" smtClean="0"/>
              <a:t>2025/9/9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BE73DA0-C756-4B33-A29D-A888A670054D}" type="slidenum">
              <a:rPr lang="zh-CN" altLang="en-US" smtClean="0"/>
              <a:t>‹#›</a:t>
            </a:fld>
            <a:endParaRPr lang="zh-CN" altLang="en-US"/>
          </a:p>
        </p:txBody>
      </p:sp>
    </p:spTree>
    <p:extLst>
      <p:ext uri="{BB962C8B-B14F-4D97-AF65-F5344CB8AC3E}">
        <p14:creationId xmlns:p14="http://schemas.microsoft.com/office/powerpoint/2010/main" val="3988015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3B1CF92-0515-49A3-A361-10BA966497FE}" type="datetimeFigureOut">
              <a:rPr lang="zh-CN" altLang="en-US" smtClean="0"/>
              <a:t>2025/9/9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BE73DA0-C756-4B33-A29D-A888A670054D}" type="slidenum">
              <a:rPr lang="zh-CN" altLang="en-US" smtClean="0"/>
              <a:t>‹#›</a:t>
            </a:fld>
            <a:endParaRPr lang="zh-CN" altLang="en-US"/>
          </a:p>
        </p:txBody>
      </p:sp>
    </p:spTree>
    <p:extLst>
      <p:ext uri="{BB962C8B-B14F-4D97-AF65-F5344CB8AC3E}">
        <p14:creationId xmlns:p14="http://schemas.microsoft.com/office/powerpoint/2010/main" val="2613097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3B1CF92-0515-49A3-A361-10BA966497FE}" type="datetimeFigureOut">
              <a:rPr lang="zh-CN" altLang="en-US" smtClean="0"/>
              <a:t>2025/9/9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BE73DA0-C756-4B33-A29D-A888A670054D}" type="slidenum">
              <a:rPr lang="zh-CN" altLang="en-US" smtClean="0"/>
              <a:t>‹#›</a:t>
            </a:fld>
            <a:endParaRPr lang="zh-CN" altLang="en-US"/>
          </a:p>
        </p:txBody>
      </p:sp>
    </p:spTree>
    <p:extLst>
      <p:ext uri="{BB962C8B-B14F-4D97-AF65-F5344CB8AC3E}">
        <p14:creationId xmlns:p14="http://schemas.microsoft.com/office/powerpoint/2010/main" val="1478658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B1CF92-0515-49A3-A361-10BA966497FE}" type="datetimeFigureOut">
              <a:rPr lang="zh-CN" altLang="en-US" smtClean="0"/>
              <a:t>2025/9/9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BE73DA0-C756-4B33-A29D-A888A670054D}" type="slidenum">
              <a:rPr lang="zh-CN" altLang="en-US" smtClean="0"/>
              <a:t>‹#›</a:t>
            </a:fld>
            <a:endParaRPr lang="zh-CN" altLang="en-US"/>
          </a:p>
        </p:txBody>
      </p:sp>
    </p:spTree>
    <p:extLst>
      <p:ext uri="{BB962C8B-B14F-4D97-AF65-F5344CB8AC3E}">
        <p14:creationId xmlns:p14="http://schemas.microsoft.com/office/powerpoint/2010/main" val="3488540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E3B1CF92-0515-49A3-A361-10BA966497FE}" type="datetimeFigureOut">
              <a:rPr lang="zh-CN" altLang="en-US" smtClean="0"/>
              <a:t>2025/9/9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BE73DA0-C756-4B33-A29D-A888A670054D}" type="slidenum">
              <a:rPr lang="zh-CN" altLang="en-US" smtClean="0"/>
              <a:t>‹#›</a:t>
            </a:fld>
            <a:endParaRPr lang="zh-CN" altLang="en-US"/>
          </a:p>
        </p:txBody>
      </p:sp>
    </p:spTree>
    <p:extLst>
      <p:ext uri="{BB962C8B-B14F-4D97-AF65-F5344CB8AC3E}">
        <p14:creationId xmlns:p14="http://schemas.microsoft.com/office/powerpoint/2010/main" val="3827109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E3B1CF92-0515-49A3-A361-10BA966497FE}" type="datetimeFigureOut">
              <a:rPr lang="zh-CN" altLang="en-US" smtClean="0"/>
              <a:t>2025/9/9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BE73DA0-C756-4B33-A29D-A888A670054D}" type="slidenum">
              <a:rPr lang="zh-CN" altLang="en-US" smtClean="0"/>
              <a:t>‹#›</a:t>
            </a:fld>
            <a:endParaRPr lang="zh-CN" altLang="en-US"/>
          </a:p>
        </p:txBody>
      </p:sp>
    </p:spTree>
    <p:extLst>
      <p:ext uri="{BB962C8B-B14F-4D97-AF65-F5344CB8AC3E}">
        <p14:creationId xmlns:p14="http://schemas.microsoft.com/office/powerpoint/2010/main" val="2396040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3B1CF92-0515-49A3-A361-10BA966497FE}" type="datetimeFigureOut">
              <a:rPr lang="zh-CN" altLang="en-US" smtClean="0"/>
              <a:t>2025/9/9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BE73DA0-C756-4B33-A29D-A888A670054D}" type="slidenum">
              <a:rPr lang="zh-CN" altLang="en-US" smtClean="0"/>
              <a:t>‹#›</a:t>
            </a:fld>
            <a:endParaRPr lang="zh-CN" altLang="en-US"/>
          </a:p>
        </p:txBody>
      </p:sp>
    </p:spTree>
    <p:extLst>
      <p:ext uri="{BB962C8B-B14F-4D97-AF65-F5344CB8AC3E}">
        <p14:creationId xmlns:p14="http://schemas.microsoft.com/office/powerpoint/2010/main" val="447839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3B1CF92-0515-49A3-A361-10BA966497FE}" type="datetimeFigureOut">
              <a:rPr lang="zh-CN" altLang="en-US" smtClean="0"/>
              <a:t>2025/9/9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BE73DA0-C756-4B33-A29D-A888A670054D}" type="slidenum">
              <a:rPr lang="zh-CN" altLang="en-US" smtClean="0"/>
              <a:t>‹#›</a:t>
            </a:fld>
            <a:endParaRPr lang="zh-CN" altLang="en-US"/>
          </a:p>
        </p:txBody>
      </p:sp>
    </p:spTree>
    <p:extLst>
      <p:ext uri="{BB962C8B-B14F-4D97-AF65-F5344CB8AC3E}">
        <p14:creationId xmlns:p14="http://schemas.microsoft.com/office/powerpoint/2010/main" val="1496746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B1CF92-0515-49A3-A361-10BA966497FE}" type="datetimeFigureOut">
              <a:rPr lang="zh-CN" altLang="en-US" smtClean="0"/>
              <a:t>2025/9/9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E73DA0-C756-4B33-A29D-A888A670054D}" type="slidenum">
              <a:rPr lang="zh-CN" altLang="en-US" smtClean="0"/>
              <a:t>‹#›</a:t>
            </a:fld>
            <a:endParaRPr lang="zh-CN" altLang="en-US"/>
          </a:p>
        </p:txBody>
      </p:sp>
    </p:spTree>
    <p:extLst>
      <p:ext uri="{BB962C8B-B14F-4D97-AF65-F5344CB8AC3E}">
        <p14:creationId xmlns:p14="http://schemas.microsoft.com/office/powerpoint/2010/main" val="37364165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gif"/></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tiff"/><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1.tiff"/></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14.gif"/></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en.wikipedia.org/wiki/Andrew_Wiles" TargetMode="External"/><Relationship Id="rId3" Type="http://schemas.openxmlformats.org/officeDocument/2006/relationships/hyperlink" Target="https://en.wikipedia.org/wiki/Kenneth_Appel" TargetMode="External"/><Relationship Id="rId7" Type="http://schemas.openxmlformats.org/officeDocument/2006/relationships/hyperlink" Target="https://en.wikipedia.org/wiki/Fermat's_Last_Theorem#:~:text=In%20number%20theory%2C%20Fermat's%20Last,of%20n%20greater%20than%202." TargetMode="External"/><Relationship Id="rId2" Type="http://schemas.openxmlformats.org/officeDocument/2006/relationships/hyperlink" Target="https://en.wikipedia.org/wiki/Four_color_theorem" TargetMode="External"/><Relationship Id="rId1" Type="http://schemas.openxmlformats.org/officeDocument/2006/relationships/slideLayout" Target="../slideLayouts/slideLayout2.xml"/><Relationship Id="rId6" Type="http://schemas.openxmlformats.org/officeDocument/2006/relationships/hyperlink" Target="https://en.wikipedia.org/wiki/Grigori_Perelman" TargetMode="External"/><Relationship Id="rId5" Type="http://schemas.openxmlformats.org/officeDocument/2006/relationships/hyperlink" Target="https://en.wikipedia.org/wiki/Poincar%C3%A9_conjecture" TargetMode="External"/><Relationship Id="rId10" Type="http://schemas.openxmlformats.org/officeDocument/2006/relationships/hyperlink" Target="https://en.wikipedia.org/wiki/Chen_Jingrun" TargetMode="External"/><Relationship Id="rId4" Type="http://schemas.openxmlformats.org/officeDocument/2006/relationships/hyperlink" Target="https://en.wikipedia.org/wiki/Wolfgang_Haken" TargetMode="External"/><Relationship Id="rId9" Type="http://schemas.openxmlformats.org/officeDocument/2006/relationships/hyperlink" Target="https://en.wikipedia.org/wiki/Goldbach's_conjecture#:~:text=Goldbach's%20conjecture%20is%20one%20of,the%20sum%20of%20two%20prime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tif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tif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tif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tif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customXml" Target="../ink/ink1.xml"/><Relationship Id="rId1" Type="http://schemas.openxmlformats.org/officeDocument/2006/relationships/slideLayout" Target="../slideLayouts/slideLayout2.xml"/><Relationship Id="rId4" Type="http://schemas.openxmlformats.org/officeDocument/2006/relationships/image" Target="../media/image30.tiff"/></Relationships>
</file>

<file path=ppt/slides/_rels/slide26.xml.rels><?xml version="1.0" encoding="UTF-8" standalone="yes"?>
<Relationships xmlns="http://schemas.openxmlformats.org/package/2006/relationships"><Relationship Id="rId2" Type="http://schemas.openxmlformats.org/officeDocument/2006/relationships/image" Target="../media/image31.tif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customXml" Target="../ink/ink2.xml"/><Relationship Id="rId1" Type="http://schemas.openxmlformats.org/officeDocument/2006/relationships/slideLayout" Target="../slideLayouts/slideLayout2.xml"/><Relationship Id="rId4" Type="http://schemas.openxmlformats.org/officeDocument/2006/relationships/image" Target="../media/image32.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918B6-9053-154F-9833-A7F58C066DE0}"/>
              </a:ext>
            </a:extLst>
          </p:cNvPr>
          <p:cNvSpPr>
            <a:spLocks noGrp="1"/>
          </p:cNvSpPr>
          <p:nvPr>
            <p:ph type="ctrTitle"/>
          </p:nvPr>
        </p:nvSpPr>
        <p:spPr>
          <a:xfrm>
            <a:off x="1284515" y="1854201"/>
            <a:ext cx="9144000" cy="668792"/>
          </a:xfrm>
        </p:spPr>
        <p:txBody>
          <a:bodyPr>
            <a:normAutofit/>
          </a:bodyPr>
          <a:lstStyle/>
          <a:p>
            <a:r>
              <a:rPr lang="en-US" sz="3200" b="1" dirty="0" smtClean="0"/>
              <a:t>AMS-301</a:t>
            </a:r>
            <a:endParaRPr lang="en-US" sz="3200" b="1" dirty="0"/>
          </a:p>
        </p:txBody>
      </p:sp>
      <p:sp>
        <p:nvSpPr>
          <p:cNvPr id="3" name="Subtitle 2">
            <a:extLst>
              <a:ext uri="{FF2B5EF4-FFF2-40B4-BE49-F238E27FC236}">
                <a16:creationId xmlns:a16="http://schemas.microsoft.com/office/drawing/2014/main" id="{17CEB389-953C-284B-8A0F-0B23B7DC8E27}"/>
              </a:ext>
            </a:extLst>
          </p:cNvPr>
          <p:cNvSpPr>
            <a:spLocks noGrp="1"/>
          </p:cNvSpPr>
          <p:nvPr>
            <p:ph type="subTitle" idx="1"/>
          </p:nvPr>
        </p:nvSpPr>
        <p:spPr>
          <a:xfrm>
            <a:off x="1404257" y="2992438"/>
            <a:ext cx="9144000" cy="1655762"/>
          </a:xfrm>
        </p:spPr>
        <p:txBody>
          <a:bodyPr>
            <a:normAutofit/>
          </a:bodyPr>
          <a:lstStyle/>
          <a:p>
            <a:r>
              <a:rPr lang="en-US" sz="4000" b="1" dirty="0"/>
              <a:t>Finite Mathematical Structure</a:t>
            </a:r>
          </a:p>
        </p:txBody>
      </p:sp>
    </p:spTree>
    <p:extLst>
      <p:ext uri="{BB962C8B-B14F-4D97-AF65-F5344CB8AC3E}">
        <p14:creationId xmlns:p14="http://schemas.microsoft.com/office/powerpoint/2010/main" val="3533802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AD701-FDF9-2543-8154-ADC6B4738A3C}"/>
              </a:ext>
            </a:extLst>
          </p:cNvPr>
          <p:cNvSpPr>
            <a:spLocks noGrp="1"/>
          </p:cNvSpPr>
          <p:nvPr>
            <p:ph type="title"/>
          </p:nvPr>
        </p:nvSpPr>
        <p:spPr/>
        <p:txBody>
          <a:bodyPr>
            <a:normAutofit/>
          </a:bodyPr>
          <a:lstStyle/>
          <a:p>
            <a:pPr algn="ctr"/>
            <a:r>
              <a:rPr lang="en-US" sz="4000" b="1" dirty="0"/>
              <a:t>Introduction</a:t>
            </a:r>
          </a:p>
        </p:txBody>
      </p:sp>
      <p:sp>
        <p:nvSpPr>
          <p:cNvPr id="3" name="Content Placeholder 2">
            <a:extLst>
              <a:ext uri="{FF2B5EF4-FFF2-40B4-BE49-F238E27FC236}">
                <a16:creationId xmlns:a16="http://schemas.microsoft.com/office/drawing/2014/main" id="{14DE63C3-DD85-794F-8BCB-39CC0298F979}"/>
              </a:ext>
            </a:extLst>
          </p:cNvPr>
          <p:cNvSpPr>
            <a:spLocks noGrp="1"/>
          </p:cNvSpPr>
          <p:nvPr>
            <p:ph idx="1"/>
          </p:nvPr>
        </p:nvSpPr>
        <p:spPr/>
        <p:txBody>
          <a:bodyPr/>
          <a:lstStyle/>
          <a:p>
            <a:r>
              <a:rPr lang="en-US" dirty="0"/>
              <a:t>Syllabus: posted </a:t>
            </a:r>
            <a:r>
              <a:rPr lang="en-US" dirty="0" smtClean="0"/>
              <a:t>on QQ group</a:t>
            </a:r>
            <a:endParaRPr lang="en-US" dirty="0"/>
          </a:p>
          <a:p>
            <a:r>
              <a:rPr lang="en-US" dirty="0" smtClean="0"/>
              <a:t>Office </a:t>
            </a:r>
            <a:r>
              <a:rPr lang="en-US" dirty="0"/>
              <a:t>hours: </a:t>
            </a:r>
            <a:r>
              <a:rPr lang="en-US" dirty="0" smtClean="0"/>
              <a:t>TBD</a:t>
            </a:r>
            <a:endParaRPr lang="en-US" dirty="0"/>
          </a:p>
          <a:p>
            <a:r>
              <a:rPr lang="en-US" dirty="0" smtClean="0"/>
              <a:t>Textbook</a:t>
            </a:r>
            <a:r>
              <a:rPr lang="en-US" dirty="0"/>
              <a:t>: Alan Tucker, Sixth edition</a:t>
            </a:r>
          </a:p>
          <a:p>
            <a:r>
              <a:rPr lang="en-US" dirty="0"/>
              <a:t>Grade breakdown: see syllabus</a:t>
            </a:r>
          </a:p>
          <a:p>
            <a:pPr marL="0" indent="0">
              <a:buNone/>
            </a:pPr>
            <a:endParaRPr lang="en-US" dirty="0"/>
          </a:p>
          <a:p>
            <a:endParaRPr lang="en-US" dirty="0"/>
          </a:p>
        </p:txBody>
      </p:sp>
    </p:spTree>
    <p:extLst>
      <p:ext uri="{BB962C8B-B14F-4D97-AF65-F5344CB8AC3E}">
        <p14:creationId xmlns:p14="http://schemas.microsoft.com/office/powerpoint/2010/main" val="2734502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F96E8-7DB3-194B-A25F-826BBAAAFA0E}"/>
              </a:ext>
            </a:extLst>
          </p:cNvPr>
          <p:cNvSpPr>
            <a:spLocks noGrp="1"/>
          </p:cNvSpPr>
          <p:nvPr>
            <p:ph type="title"/>
          </p:nvPr>
        </p:nvSpPr>
        <p:spPr/>
        <p:txBody>
          <a:bodyPr>
            <a:normAutofit/>
          </a:bodyPr>
          <a:lstStyle/>
          <a:p>
            <a:pPr algn="ctr"/>
            <a:r>
              <a:rPr lang="en-US" sz="3600" b="1" dirty="0"/>
              <a:t>Two Major Parts</a:t>
            </a:r>
          </a:p>
        </p:txBody>
      </p:sp>
      <p:sp>
        <p:nvSpPr>
          <p:cNvPr id="3" name="Content Placeholder 2">
            <a:extLst>
              <a:ext uri="{FF2B5EF4-FFF2-40B4-BE49-F238E27FC236}">
                <a16:creationId xmlns:a16="http://schemas.microsoft.com/office/drawing/2014/main" id="{42F4AE55-03FE-EF42-91F3-1289155BD226}"/>
              </a:ext>
            </a:extLst>
          </p:cNvPr>
          <p:cNvSpPr>
            <a:spLocks noGrp="1"/>
          </p:cNvSpPr>
          <p:nvPr>
            <p:ph idx="1"/>
          </p:nvPr>
        </p:nvSpPr>
        <p:spPr>
          <a:xfrm>
            <a:off x="961490" y="1496852"/>
            <a:ext cx="10515600" cy="4351338"/>
          </a:xfrm>
        </p:spPr>
        <p:txBody>
          <a:bodyPr>
            <a:normAutofit lnSpcReduction="10000"/>
          </a:bodyPr>
          <a:lstStyle/>
          <a:p>
            <a:r>
              <a:rPr lang="en-US" dirty="0"/>
              <a:t>Introduction to graph theory: Chapter 1-4</a:t>
            </a:r>
          </a:p>
          <a:p>
            <a:pPr lvl="1"/>
            <a:r>
              <a:rPr lang="en-US" dirty="0"/>
              <a:t>Isomorphism, edge counting, planar graph</a:t>
            </a:r>
          </a:p>
          <a:p>
            <a:pPr lvl="1"/>
            <a:r>
              <a:rPr lang="en-US" dirty="0"/>
              <a:t>Euler cycle, Hamilton circuit, graph coloring</a:t>
            </a:r>
          </a:p>
          <a:p>
            <a:pPr lvl="1"/>
            <a:r>
              <a:rPr lang="en-US" dirty="0"/>
              <a:t>Trees, search method, spanning trees, shortest path problem</a:t>
            </a:r>
          </a:p>
          <a:p>
            <a:r>
              <a:rPr lang="en-US" dirty="0"/>
              <a:t>Enumeration (counting): Chapter 5-8</a:t>
            </a:r>
          </a:p>
          <a:p>
            <a:pPr lvl="1"/>
            <a:r>
              <a:rPr lang="en-US" dirty="0"/>
              <a:t>Addition and multiplication principles, arrangement, selection</a:t>
            </a:r>
          </a:p>
          <a:p>
            <a:pPr lvl="1"/>
            <a:r>
              <a:rPr lang="en-US" dirty="0"/>
              <a:t>Repetition and distributions</a:t>
            </a:r>
          </a:p>
          <a:p>
            <a:pPr lvl="1"/>
            <a:r>
              <a:rPr lang="en-US" dirty="0"/>
              <a:t>Binomial identities</a:t>
            </a:r>
          </a:p>
          <a:p>
            <a:pPr lvl="1"/>
            <a:r>
              <a:rPr lang="en-US" dirty="0"/>
              <a:t>Generating function model</a:t>
            </a:r>
          </a:p>
          <a:p>
            <a:pPr lvl="1"/>
            <a:r>
              <a:rPr lang="en-US" dirty="0"/>
              <a:t>Recurrence relations, solution to recurrence relations</a:t>
            </a:r>
          </a:p>
          <a:p>
            <a:pPr lvl="1"/>
            <a:r>
              <a:rPr lang="en-US" dirty="0"/>
              <a:t>Venn diagram, set operations, inclusion and exclusion</a:t>
            </a:r>
          </a:p>
        </p:txBody>
      </p:sp>
    </p:spTree>
    <p:extLst>
      <p:ext uri="{BB962C8B-B14F-4D97-AF65-F5344CB8AC3E}">
        <p14:creationId xmlns:p14="http://schemas.microsoft.com/office/powerpoint/2010/main" val="2899267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1E224-60DD-B749-B8F6-0A7E9BA9699A}"/>
              </a:ext>
            </a:extLst>
          </p:cNvPr>
          <p:cNvSpPr>
            <a:spLocks noGrp="1"/>
          </p:cNvSpPr>
          <p:nvPr>
            <p:ph type="title"/>
          </p:nvPr>
        </p:nvSpPr>
        <p:spPr/>
        <p:txBody>
          <a:bodyPr>
            <a:normAutofit/>
          </a:bodyPr>
          <a:lstStyle/>
          <a:p>
            <a:pPr algn="ctr"/>
            <a:r>
              <a:rPr lang="en-US" sz="3600" b="1" dirty="0"/>
              <a:t>Mathematics and Scientific Applications</a:t>
            </a:r>
          </a:p>
        </p:txBody>
      </p:sp>
      <p:sp>
        <p:nvSpPr>
          <p:cNvPr id="3" name="Content Placeholder 2">
            <a:extLst>
              <a:ext uri="{FF2B5EF4-FFF2-40B4-BE49-F238E27FC236}">
                <a16:creationId xmlns:a16="http://schemas.microsoft.com/office/drawing/2014/main" id="{7215FD68-DF27-0243-B11C-C33924967029}"/>
              </a:ext>
            </a:extLst>
          </p:cNvPr>
          <p:cNvSpPr>
            <a:spLocks noGrp="1"/>
          </p:cNvSpPr>
          <p:nvPr>
            <p:ph idx="1"/>
          </p:nvPr>
        </p:nvSpPr>
        <p:spPr>
          <a:xfrm>
            <a:off x="1316376" y="1690688"/>
            <a:ext cx="9559247" cy="4351338"/>
          </a:xfrm>
        </p:spPr>
        <p:txBody>
          <a:bodyPr/>
          <a:lstStyle/>
          <a:p>
            <a:r>
              <a:rPr lang="en-US" dirty="0"/>
              <a:t>The four color conjecture</a:t>
            </a:r>
          </a:p>
          <a:p>
            <a:r>
              <a:rPr lang="en-US" dirty="0"/>
              <a:t>Management, street-sweeper problem and postman problem</a:t>
            </a:r>
          </a:p>
          <a:p>
            <a:r>
              <a:rPr lang="en-US" dirty="0"/>
              <a:t>Data storage and retrieval</a:t>
            </a:r>
          </a:p>
          <a:p>
            <a:r>
              <a:rPr lang="en-US" dirty="0"/>
              <a:t>Risk and reliability analysis</a:t>
            </a:r>
          </a:p>
          <a:p>
            <a:r>
              <a:rPr lang="en-US" dirty="0"/>
              <a:t>Optimization</a:t>
            </a:r>
          </a:p>
          <a:p>
            <a:r>
              <a:rPr lang="en-US" dirty="0"/>
              <a:t>Classical probability</a:t>
            </a:r>
          </a:p>
        </p:txBody>
      </p:sp>
    </p:spTree>
    <p:extLst>
      <p:ext uri="{BB962C8B-B14F-4D97-AF65-F5344CB8AC3E}">
        <p14:creationId xmlns:p14="http://schemas.microsoft.com/office/powerpoint/2010/main" val="3192919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A36F9-F44B-C442-82AC-176CD201BCF5}"/>
              </a:ext>
            </a:extLst>
          </p:cNvPr>
          <p:cNvSpPr>
            <a:spLocks noGrp="1"/>
          </p:cNvSpPr>
          <p:nvPr>
            <p:ph type="title"/>
          </p:nvPr>
        </p:nvSpPr>
        <p:spPr/>
        <p:txBody>
          <a:bodyPr/>
          <a:lstStyle/>
          <a:p>
            <a:pPr algn="ctr"/>
            <a:r>
              <a:rPr lang="en-US" b="1" dirty="0"/>
              <a:t>Graph Theory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BA94A4-84E4-6A4C-83C8-6214D2A8DD5D}"/>
                  </a:ext>
                </a:extLst>
              </p:cNvPr>
              <p:cNvSpPr>
                <a:spLocks noGrp="1"/>
              </p:cNvSpPr>
              <p:nvPr>
                <p:ph idx="1"/>
              </p:nvPr>
            </p:nvSpPr>
            <p:spPr/>
            <p:txBody>
              <a:bodyPr/>
              <a:lstStyle/>
              <a:p>
                <a:r>
                  <a:rPr lang="en-US" dirty="0"/>
                  <a:t>Mathematical graph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endParaRPr lang="en-US" dirty="0"/>
              </a:p>
              <a:p>
                <a:pPr lvl="1"/>
                <a:r>
                  <a:rPr lang="en-US" dirty="0"/>
                  <a:t>Graph is a collection of vertices and edges</a:t>
                </a:r>
              </a:p>
              <a:p>
                <a:pPr lvl="1"/>
                <a:r>
                  <a:rPr lang="en-US" dirty="0"/>
                  <a:t>Each vertex represents an entity, each edge represents a relation</a:t>
                </a:r>
              </a:p>
              <a:p>
                <a:pPr lvl="1"/>
                <a:r>
                  <a:rPr lang="en-US" dirty="0"/>
                  <a:t>Adjacency: two vertices are adjacent if they are connected by an edge</a:t>
                </a:r>
              </a:p>
              <a:p>
                <a:pPr lvl="1"/>
                <a:r>
                  <a:rPr lang="en-US" dirty="0"/>
                  <a:t>Direct and undirect graphs: edge with or without direction</a:t>
                </a:r>
              </a:p>
              <a:p>
                <a:pPr lvl="1"/>
                <a:r>
                  <a:rPr lang="en-US" dirty="0"/>
                  <a:t>Path: a sequence of connected edges</a:t>
                </a:r>
              </a:p>
              <a:p>
                <a:pPr lvl="1"/>
                <a:r>
                  <a:rPr lang="en-US" dirty="0"/>
                  <a:t>Circuit: a closed path</a:t>
                </a:r>
              </a:p>
              <a:p>
                <a:pPr lvl="1"/>
                <a:r>
                  <a:rPr lang="en-US" dirty="0"/>
                  <a:t>Connected graph: there is a path between every pair of vertices</a:t>
                </a:r>
              </a:p>
              <a:p>
                <a:pPr lvl="1"/>
                <a:r>
                  <a:rPr lang="en-US" dirty="0"/>
                  <a:t>Simple graph, bipartite graph, multi-graph</a:t>
                </a:r>
              </a:p>
            </p:txBody>
          </p:sp>
        </mc:Choice>
        <mc:Fallback xmlns="">
          <p:sp>
            <p:nvSpPr>
              <p:cNvPr id="3" name="Content Placeholder 2">
                <a:extLst>
                  <a:ext uri="{FF2B5EF4-FFF2-40B4-BE49-F238E27FC236}">
                    <a16:creationId xmlns:a16="http://schemas.microsoft.com/office/drawing/2014/main" id="{7BBA94A4-84E4-6A4C-83C8-6214D2A8DD5D}"/>
                  </a:ext>
                </a:extLst>
              </p:cNvPr>
              <p:cNvSpPr>
                <a:spLocks noGrp="1" noRot="1" noChangeAspect="1" noMove="1" noResize="1" noEditPoints="1" noAdjustHandles="1" noChangeArrowheads="1" noChangeShapeType="1" noTextEdit="1"/>
              </p:cNvSpPr>
              <p:nvPr>
                <p:ph idx="1"/>
              </p:nvPr>
            </p:nvSpPr>
            <p:spPr>
              <a:blipFill>
                <a:blip r:embed="rId2"/>
                <a:stretch>
                  <a:fillRect l="-965" t="-2632"/>
                </a:stretch>
              </a:blipFill>
            </p:spPr>
            <p:txBody>
              <a:bodyPr/>
              <a:lstStyle/>
              <a:p>
                <a:r>
                  <a:rPr lang="en-US">
                    <a:noFill/>
                  </a:rPr>
                  <a:t> </a:t>
                </a:r>
              </a:p>
            </p:txBody>
          </p:sp>
        </mc:Fallback>
      </mc:AlternateContent>
    </p:spTree>
    <p:extLst>
      <p:ext uri="{BB962C8B-B14F-4D97-AF65-F5344CB8AC3E}">
        <p14:creationId xmlns:p14="http://schemas.microsoft.com/office/powerpoint/2010/main" val="1585158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EC384-985C-7646-AA46-ACB2665802A5}"/>
              </a:ext>
            </a:extLst>
          </p:cNvPr>
          <p:cNvSpPr>
            <a:spLocks noGrp="1"/>
          </p:cNvSpPr>
          <p:nvPr>
            <p:ph type="title"/>
          </p:nvPr>
        </p:nvSpPr>
        <p:spPr/>
        <p:txBody>
          <a:bodyPr>
            <a:normAutofit/>
          </a:bodyPr>
          <a:lstStyle/>
          <a:p>
            <a:pPr algn="ctr"/>
            <a:r>
              <a:rPr lang="en-US" sz="4000" b="1" dirty="0"/>
              <a:t>Variation of graphs</a:t>
            </a:r>
          </a:p>
        </p:txBody>
      </p:sp>
      <p:pic>
        <p:nvPicPr>
          <p:cNvPr id="5" name="Picture 4">
            <a:extLst>
              <a:ext uri="{FF2B5EF4-FFF2-40B4-BE49-F238E27FC236}">
                <a16:creationId xmlns:a16="http://schemas.microsoft.com/office/drawing/2014/main" id="{26181CB4-8B89-204F-B858-50E12251686B}"/>
              </a:ext>
            </a:extLst>
          </p:cNvPr>
          <p:cNvPicPr>
            <a:picLocks noChangeAspect="1"/>
          </p:cNvPicPr>
          <p:nvPr/>
        </p:nvPicPr>
        <p:blipFill>
          <a:blip r:embed="rId2"/>
          <a:stretch>
            <a:fillRect/>
          </a:stretch>
        </p:blipFill>
        <p:spPr>
          <a:xfrm>
            <a:off x="591970" y="2181204"/>
            <a:ext cx="3301584" cy="2179045"/>
          </a:xfrm>
          <a:prstGeom prst="rect">
            <a:avLst/>
          </a:prstGeom>
        </p:spPr>
      </p:pic>
      <p:pic>
        <p:nvPicPr>
          <p:cNvPr id="7" name="Picture 6">
            <a:extLst>
              <a:ext uri="{FF2B5EF4-FFF2-40B4-BE49-F238E27FC236}">
                <a16:creationId xmlns:a16="http://schemas.microsoft.com/office/drawing/2014/main" id="{70367DA5-D67E-B347-8D1A-C2A49D1E7B90}"/>
              </a:ext>
            </a:extLst>
          </p:cNvPr>
          <p:cNvPicPr>
            <a:picLocks noChangeAspect="1"/>
          </p:cNvPicPr>
          <p:nvPr/>
        </p:nvPicPr>
        <p:blipFill>
          <a:blip r:embed="rId3"/>
          <a:stretch>
            <a:fillRect/>
          </a:stretch>
        </p:blipFill>
        <p:spPr>
          <a:xfrm>
            <a:off x="6660260" y="2279955"/>
            <a:ext cx="2091647" cy="1969906"/>
          </a:xfrm>
          <a:prstGeom prst="rect">
            <a:avLst/>
          </a:prstGeom>
        </p:spPr>
      </p:pic>
      <p:sp>
        <p:nvSpPr>
          <p:cNvPr id="10" name="TextBox 9">
            <a:extLst>
              <a:ext uri="{FF2B5EF4-FFF2-40B4-BE49-F238E27FC236}">
                <a16:creationId xmlns:a16="http://schemas.microsoft.com/office/drawing/2014/main" id="{F64AFD54-940F-DA44-B1EB-790057BB93EE}"/>
              </a:ext>
            </a:extLst>
          </p:cNvPr>
          <p:cNvSpPr txBox="1"/>
          <p:nvPr/>
        </p:nvSpPr>
        <p:spPr>
          <a:xfrm>
            <a:off x="838200" y="4746661"/>
            <a:ext cx="2774477" cy="369332"/>
          </a:xfrm>
          <a:prstGeom prst="rect">
            <a:avLst/>
          </a:prstGeom>
          <a:noFill/>
        </p:spPr>
        <p:txBody>
          <a:bodyPr wrap="none" rtlCol="0">
            <a:spAutoFit/>
          </a:bodyPr>
          <a:lstStyle/>
          <a:p>
            <a:r>
              <a:rPr lang="en-US" dirty="0"/>
              <a:t>An undirected simple graph</a:t>
            </a:r>
          </a:p>
        </p:txBody>
      </p:sp>
      <p:pic>
        <p:nvPicPr>
          <p:cNvPr id="12" name="Picture 11">
            <a:extLst>
              <a:ext uri="{FF2B5EF4-FFF2-40B4-BE49-F238E27FC236}">
                <a16:creationId xmlns:a16="http://schemas.microsoft.com/office/drawing/2014/main" id="{C99D71B0-2549-8E48-AC50-D2AE82596F9F}"/>
              </a:ext>
            </a:extLst>
          </p:cNvPr>
          <p:cNvPicPr>
            <a:picLocks noChangeAspect="1"/>
          </p:cNvPicPr>
          <p:nvPr/>
        </p:nvPicPr>
        <p:blipFill>
          <a:blip r:embed="rId4"/>
          <a:stretch>
            <a:fillRect/>
          </a:stretch>
        </p:blipFill>
        <p:spPr>
          <a:xfrm>
            <a:off x="3893554" y="2181204"/>
            <a:ext cx="2511334" cy="2286452"/>
          </a:xfrm>
          <a:prstGeom prst="rect">
            <a:avLst/>
          </a:prstGeom>
        </p:spPr>
      </p:pic>
      <p:sp>
        <p:nvSpPr>
          <p:cNvPr id="13" name="TextBox 12">
            <a:extLst>
              <a:ext uri="{FF2B5EF4-FFF2-40B4-BE49-F238E27FC236}">
                <a16:creationId xmlns:a16="http://schemas.microsoft.com/office/drawing/2014/main" id="{A8802881-4594-AE45-9F49-F0927807994D}"/>
              </a:ext>
            </a:extLst>
          </p:cNvPr>
          <p:cNvSpPr txBox="1"/>
          <p:nvPr/>
        </p:nvSpPr>
        <p:spPr>
          <a:xfrm>
            <a:off x="4099389" y="4746661"/>
            <a:ext cx="1738938" cy="369332"/>
          </a:xfrm>
          <a:prstGeom prst="rect">
            <a:avLst/>
          </a:prstGeom>
          <a:noFill/>
        </p:spPr>
        <p:txBody>
          <a:bodyPr wrap="none" rtlCol="0">
            <a:spAutoFit/>
          </a:bodyPr>
          <a:lstStyle/>
          <a:p>
            <a:r>
              <a:rPr lang="en-US" dirty="0"/>
              <a:t>A directed graph</a:t>
            </a:r>
          </a:p>
        </p:txBody>
      </p:sp>
      <p:sp>
        <p:nvSpPr>
          <p:cNvPr id="14" name="TextBox 13">
            <a:extLst>
              <a:ext uri="{FF2B5EF4-FFF2-40B4-BE49-F238E27FC236}">
                <a16:creationId xmlns:a16="http://schemas.microsoft.com/office/drawing/2014/main" id="{2D816D62-7BB3-924C-8FB1-752543ECC0B8}"/>
              </a:ext>
            </a:extLst>
          </p:cNvPr>
          <p:cNvSpPr txBox="1"/>
          <p:nvPr/>
        </p:nvSpPr>
        <p:spPr>
          <a:xfrm>
            <a:off x="6660260" y="4746661"/>
            <a:ext cx="1398203" cy="369332"/>
          </a:xfrm>
          <a:prstGeom prst="rect">
            <a:avLst/>
          </a:prstGeom>
          <a:noFill/>
        </p:spPr>
        <p:txBody>
          <a:bodyPr wrap="none" rtlCol="0">
            <a:spAutoFit/>
          </a:bodyPr>
          <a:lstStyle/>
          <a:p>
            <a:r>
              <a:rPr lang="en-US" dirty="0"/>
              <a:t>A multigraph</a:t>
            </a:r>
          </a:p>
        </p:txBody>
      </p:sp>
      <p:pic>
        <p:nvPicPr>
          <p:cNvPr id="16" name="Picture 15">
            <a:extLst>
              <a:ext uri="{FF2B5EF4-FFF2-40B4-BE49-F238E27FC236}">
                <a16:creationId xmlns:a16="http://schemas.microsoft.com/office/drawing/2014/main" id="{31AB8043-573A-6E43-A39C-4C7485E0959A}"/>
              </a:ext>
            </a:extLst>
          </p:cNvPr>
          <p:cNvPicPr>
            <a:picLocks noChangeAspect="1"/>
          </p:cNvPicPr>
          <p:nvPr/>
        </p:nvPicPr>
        <p:blipFill>
          <a:blip r:embed="rId5"/>
          <a:stretch>
            <a:fillRect/>
          </a:stretch>
        </p:blipFill>
        <p:spPr>
          <a:xfrm>
            <a:off x="9007279" y="2279955"/>
            <a:ext cx="2310958" cy="2112876"/>
          </a:xfrm>
          <a:prstGeom prst="rect">
            <a:avLst/>
          </a:prstGeom>
        </p:spPr>
      </p:pic>
      <p:sp>
        <p:nvSpPr>
          <p:cNvPr id="17" name="TextBox 16">
            <a:extLst>
              <a:ext uri="{FF2B5EF4-FFF2-40B4-BE49-F238E27FC236}">
                <a16:creationId xmlns:a16="http://schemas.microsoft.com/office/drawing/2014/main" id="{CAE52BA1-6280-FA4C-912C-9B5C373D7A1D}"/>
              </a:ext>
            </a:extLst>
          </p:cNvPr>
          <p:cNvSpPr txBox="1"/>
          <p:nvPr/>
        </p:nvSpPr>
        <p:spPr>
          <a:xfrm>
            <a:off x="9185096" y="4746661"/>
            <a:ext cx="1769202" cy="369332"/>
          </a:xfrm>
          <a:prstGeom prst="rect">
            <a:avLst/>
          </a:prstGeom>
          <a:noFill/>
        </p:spPr>
        <p:txBody>
          <a:bodyPr wrap="none" rtlCol="0">
            <a:spAutoFit/>
          </a:bodyPr>
          <a:lstStyle/>
          <a:p>
            <a:r>
              <a:rPr lang="en-US" dirty="0"/>
              <a:t>A bipartite graph</a:t>
            </a:r>
          </a:p>
        </p:txBody>
      </p:sp>
    </p:spTree>
    <p:extLst>
      <p:ext uri="{BB962C8B-B14F-4D97-AF65-F5344CB8AC3E}">
        <p14:creationId xmlns:p14="http://schemas.microsoft.com/office/powerpoint/2010/main" val="1829026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BE625-A266-B847-9707-6288FF7DB1CC}"/>
              </a:ext>
            </a:extLst>
          </p:cNvPr>
          <p:cNvSpPr>
            <a:spLocks noGrp="1"/>
          </p:cNvSpPr>
          <p:nvPr>
            <p:ph type="title"/>
          </p:nvPr>
        </p:nvSpPr>
        <p:spPr>
          <a:xfrm>
            <a:off x="838200" y="77448"/>
            <a:ext cx="10515600" cy="1325563"/>
          </a:xfrm>
        </p:spPr>
        <p:txBody>
          <a:bodyPr>
            <a:normAutofit/>
          </a:bodyPr>
          <a:lstStyle/>
          <a:p>
            <a:pPr algn="ctr"/>
            <a:r>
              <a:rPr lang="en-US" sz="4000" dirty="0"/>
              <a:t>Complete graph</a:t>
            </a:r>
          </a:p>
        </p:txBody>
      </p:sp>
      <p:pic>
        <p:nvPicPr>
          <p:cNvPr id="7" name="Picture 6">
            <a:extLst>
              <a:ext uri="{FF2B5EF4-FFF2-40B4-BE49-F238E27FC236}">
                <a16:creationId xmlns:a16="http://schemas.microsoft.com/office/drawing/2014/main" id="{4E496C58-37E1-4648-BC18-EDEFE9960444}"/>
              </a:ext>
            </a:extLst>
          </p:cNvPr>
          <p:cNvPicPr>
            <a:picLocks noChangeAspect="1"/>
          </p:cNvPicPr>
          <p:nvPr/>
        </p:nvPicPr>
        <p:blipFill>
          <a:blip r:embed="rId2"/>
          <a:stretch>
            <a:fillRect/>
          </a:stretch>
        </p:blipFill>
        <p:spPr>
          <a:xfrm>
            <a:off x="5454460" y="1394313"/>
            <a:ext cx="1778000" cy="1778000"/>
          </a:xfrm>
          <a:prstGeom prst="rect">
            <a:avLst/>
          </a:prstGeom>
        </p:spPr>
      </p:pic>
      <p:pic>
        <p:nvPicPr>
          <p:cNvPr id="9" name="Picture 8">
            <a:extLst>
              <a:ext uri="{FF2B5EF4-FFF2-40B4-BE49-F238E27FC236}">
                <a16:creationId xmlns:a16="http://schemas.microsoft.com/office/drawing/2014/main" id="{BB89F6F4-6CA4-294C-A29C-A165478BEF25}"/>
              </a:ext>
            </a:extLst>
          </p:cNvPr>
          <p:cNvPicPr>
            <a:picLocks noChangeAspect="1"/>
          </p:cNvPicPr>
          <p:nvPr/>
        </p:nvPicPr>
        <p:blipFill>
          <a:blip r:embed="rId3"/>
          <a:stretch>
            <a:fillRect/>
          </a:stretch>
        </p:blipFill>
        <p:spPr>
          <a:xfrm>
            <a:off x="3664122" y="3848259"/>
            <a:ext cx="1954724" cy="2025989"/>
          </a:xfrm>
          <a:prstGeom prst="rect">
            <a:avLst/>
          </a:prstGeom>
        </p:spPr>
      </p:pic>
      <p:pic>
        <p:nvPicPr>
          <p:cNvPr id="11" name="Picture 10">
            <a:extLst>
              <a:ext uri="{FF2B5EF4-FFF2-40B4-BE49-F238E27FC236}">
                <a16:creationId xmlns:a16="http://schemas.microsoft.com/office/drawing/2014/main" id="{B04A759E-D722-214F-B815-AFB09E4C634C}"/>
              </a:ext>
            </a:extLst>
          </p:cNvPr>
          <p:cNvPicPr>
            <a:picLocks noChangeAspect="1"/>
          </p:cNvPicPr>
          <p:nvPr/>
        </p:nvPicPr>
        <p:blipFill>
          <a:blip r:embed="rId4"/>
          <a:stretch>
            <a:fillRect/>
          </a:stretch>
        </p:blipFill>
        <p:spPr>
          <a:xfrm>
            <a:off x="2145302" y="1394313"/>
            <a:ext cx="2025988" cy="2025988"/>
          </a:xfrm>
          <a:prstGeom prst="rect">
            <a:avLst/>
          </a:prstGeom>
        </p:spPr>
      </p:pic>
      <p:pic>
        <p:nvPicPr>
          <p:cNvPr id="13" name="Picture 12">
            <a:extLst>
              <a:ext uri="{FF2B5EF4-FFF2-40B4-BE49-F238E27FC236}">
                <a16:creationId xmlns:a16="http://schemas.microsoft.com/office/drawing/2014/main" id="{62533FBE-F36E-BB42-8750-69CDEB6F73FF}"/>
              </a:ext>
            </a:extLst>
          </p:cNvPr>
          <p:cNvPicPr>
            <a:picLocks noChangeAspect="1"/>
          </p:cNvPicPr>
          <p:nvPr/>
        </p:nvPicPr>
        <p:blipFill>
          <a:blip r:embed="rId5"/>
          <a:stretch>
            <a:fillRect/>
          </a:stretch>
        </p:blipFill>
        <p:spPr>
          <a:xfrm>
            <a:off x="8515630" y="1403012"/>
            <a:ext cx="2025988" cy="2025988"/>
          </a:xfrm>
          <a:prstGeom prst="rect">
            <a:avLst/>
          </a:prstGeom>
        </p:spPr>
      </p:pic>
      <p:pic>
        <p:nvPicPr>
          <p:cNvPr id="15" name="Picture 14">
            <a:extLst>
              <a:ext uri="{FF2B5EF4-FFF2-40B4-BE49-F238E27FC236}">
                <a16:creationId xmlns:a16="http://schemas.microsoft.com/office/drawing/2014/main" id="{F63D1B39-B7BE-494E-B37C-3E8DF44CF8A9}"/>
              </a:ext>
            </a:extLst>
          </p:cNvPr>
          <p:cNvPicPr>
            <a:picLocks noChangeAspect="1"/>
          </p:cNvPicPr>
          <p:nvPr/>
        </p:nvPicPr>
        <p:blipFill>
          <a:blip r:embed="rId6"/>
          <a:stretch>
            <a:fillRect/>
          </a:stretch>
        </p:blipFill>
        <p:spPr>
          <a:xfrm>
            <a:off x="6994396" y="3848259"/>
            <a:ext cx="2116375" cy="2025988"/>
          </a:xfrm>
          <a:prstGeom prst="rect">
            <a:avLst/>
          </a:prstGeom>
        </p:spPr>
      </p:pic>
      <p:sp>
        <p:nvSpPr>
          <p:cNvPr id="16" name="TextBox 15">
            <a:extLst>
              <a:ext uri="{FF2B5EF4-FFF2-40B4-BE49-F238E27FC236}">
                <a16:creationId xmlns:a16="http://schemas.microsoft.com/office/drawing/2014/main" id="{010E55A1-A8B2-5941-980E-599ED2ABEF9F}"/>
              </a:ext>
            </a:extLst>
          </p:cNvPr>
          <p:cNvSpPr txBox="1"/>
          <p:nvPr/>
        </p:nvSpPr>
        <p:spPr>
          <a:xfrm>
            <a:off x="3082247" y="3172313"/>
            <a:ext cx="421910" cy="369332"/>
          </a:xfrm>
          <a:prstGeom prst="rect">
            <a:avLst/>
          </a:prstGeom>
          <a:noFill/>
        </p:spPr>
        <p:txBody>
          <a:bodyPr wrap="none" rtlCol="0">
            <a:spAutoFit/>
          </a:bodyPr>
          <a:lstStyle/>
          <a:p>
            <a:r>
              <a:rPr lang="en-US" dirty="0"/>
              <a:t>K2</a:t>
            </a:r>
          </a:p>
        </p:txBody>
      </p:sp>
      <p:sp>
        <p:nvSpPr>
          <p:cNvPr id="17" name="TextBox 16">
            <a:extLst>
              <a:ext uri="{FF2B5EF4-FFF2-40B4-BE49-F238E27FC236}">
                <a16:creationId xmlns:a16="http://schemas.microsoft.com/office/drawing/2014/main" id="{7E78EF12-6934-434C-9359-6D24279630F8}"/>
              </a:ext>
            </a:extLst>
          </p:cNvPr>
          <p:cNvSpPr txBox="1"/>
          <p:nvPr/>
        </p:nvSpPr>
        <p:spPr>
          <a:xfrm>
            <a:off x="6132505" y="3235635"/>
            <a:ext cx="421910" cy="369332"/>
          </a:xfrm>
          <a:prstGeom prst="rect">
            <a:avLst/>
          </a:prstGeom>
          <a:noFill/>
        </p:spPr>
        <p:txBody>
          <a:bodyPr wrap="none" rtlCol="0">
            <a:spAutoFit/>
          </a:bodyPr>
          <a:lstStyle/>
          <a:p>
            <a:r>
              <a:rPr lang="en-US" dirty="0"/>
              <a:t>K3</a:t>
            </a:r>
          </a:p>
        </p:txBody>
      </p:sp>
      <p:sp>
        <p:nvSpPr>
          <p:cNvPr id="18" name="TextBox 17">
            <a:extLst>
              <a:ext uri="{FF2B5EF4-FFF2-40B4-BE49-F238E27FC236}">
                <a16:creationId xmlns:a16="http://schemas.microsoft.com/office/drawing/2014/main" id="{E2F3A1E2-336F-D942-871D-6716D5106073}"/>
              </a:ext>
            </a:extLst>
          </p:cNvPr>
          <p:cNvSpPr txBox="1"/>
          <p:nvPr/>
        </p:nvSpPr>
        <p:spPr>
          <a:xfrm>
            <a:off x="9835743" y="3356979"/>
            <a:ext cx="421910" cy="369332"/>
          </a:xfrm>
          <a:prstGeom prst="rect">
            <a:avLst/>
          </a:prstGeom>
          <a:noFill/>
        </p:spPr>
        <p:txBody>
          <a:bodyPr wrap="none" rtlCol="0">
            <a:spAutoFit/>
          </a:bodyPr>
          <a:lstStyle/>
          <a:p>
            <a:r>
              <a:rPr lang="en-US" dirty="0"/>
              <a:t>K4</a:t>
            </a:r>
          </a:p>
        </p:txBody>
      </p:sp>
      <p:sp>
        <p:nvSpPr>
          <p:cNvPr id="19" name="TextBox 18">
            <a:extLst>
              <a:ext uri="{FF2B5EF4-FFF2-40B4-BE49-F238E27FC236}">
                <a16:creationId xmlns:a16="http://schemas.microsoft.com/office/drawing/2014/main" id="{88CAED8F-47AB-7C4C-AED4-DA47FD77EF32}"/>
              </a:ext>
            </a:extLst>
          </p:cNvPr>
          <p:cNvSpPr txBox="1"/>
          <p:nvPr/>
        </p:nvSpPr>
        <p:spPr>
          <a:xfrm>
            <a:off x="5407891" y="5522793"/>
            <a:ext cx="421910" cy="369332"/>
          </a:xfrm>
          <a:prstGeom prst="rect">
            <a:avLst/>
          </a:prstGeom>
          <a:noFill/>
        </p:spPr>
        <p:txBody>
          <a:bodyPr wrap="none" rtlCol="0">
            <a:spAutoFit/>
          </a:bodyPr>
          <a:lstStyle/>
          <a:p>
            <a:r>
              <a:rPr lang="en-US" dirty="0"/>
              <a:t>K5</a:t>
            </a:r>
          </a:p>
        </p:txBody>
      </p:sp>
      <p:sp>
        <p:nvSpPr>
          <p:cNvPr id="20" name="TextBox 19">
            <a:extLst>
              <a:ext uri="{FF2B5EF4-FFF2-40B4-BE49-F238E27FC236}">
                <a16:creationId xmlns:a16="http://schemas.microsoft.com/office/drawing/2014/main" id="{701B4D91-14B7-114B-8C7D-966F6BBD736E}"/>
              </a:ext>
            </a:extLst>
          </p:cNvPr>
          <p:cNvSpPr txBox="1"/>
          <p:nvPr/>
        </p:nvSpPr>
        <p:spPr>
          <a:xfrm>
            <a:off x="9234754" y="5454988"/>
            <a:ext cx="538930" cy="369332"/>
          </a:xfrm>
          <a:prstGeom prst="rect">
            <a:avLst/>
          </a:prstGeom>
          <a:noFill/>
        </p:spPr>
        <p:txBody>
          <a:bodyPr wrap="none" rtlCol="0">
            <a:spAutoFit/>
          </a:bodyPr>
          <a:lstStyle/>
          <a:p>
            <a:r>
              <a:rPr lang="en-US" dirty="0"/>
              <a:t>K10</a:t>
            </a:r>
          </a:p>
        </p:txBody>
      </p:sp>
    </p:spTree>
    <p:extLst>
      <p:ext uri="{BB962C8B-B14F-4D97-AF65-F5344CB8AC3E}">
        <p14:creationId xmlns:p14="http://schemas.microsoft.com/office/powerpoint/2010/main" val="1714578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BE625-A266-B847-9707-6288FF7DB1CC}"/>
              </a:ext>
            </a:extLst>
          </p:cNvPr>
          <p:cNvSpPr>
            <a:spLocks noGrp="1"/>
          </p:cNvSpPr>
          <p:nvPr>
            <p:ph type="title"/>
          </p:nvPr>
        </p:nvSpPr>
        <p:spPr>
          <a:xfrm>
            <a:off x="838200" y="77448"/>
            <a:ext cx="10515600" cy="1325563"/>
          </a:xfrm>
        </p:spPr>
        <p:txBody>
          <a:bodyPr>
            <a:normAutofit/>
          </a:bodyPr>
          <a:lstStyle/>
          <a:p>
            <a:pPr algn="ctr"/>
            <a:r>
              <a:rPr lang="en-US" sz="4000" dirty="0"/>
              <a:t>Complete bipartite graph</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CAED8F-47AB-7C4C-AED4-DA47FD77EF32}"/>
                  </a:ext>
                </a:extLst>
              </p:cNvPr>
              <p:cNvSpPr txBox="1"/>
              <p:nvPr/>
            </p:nvSpPr>
            <p:spPr>
              <a:xfrm>
                <a:off x="6003743" y="5799753"/>
                <a:ext cx="58612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53</m:t>
                          </m:r>
                        </m:sub>
                      </m:sSub>
                    </m:oMath>
                  </m:oMathPara>
                </a14:m>
                <a:endParaRPr lang="en-US" dirty="0"/>
              </a:p>
            </p:txBody>
          </p:sp>
        </mc:Choice>
        <mc:Fallback xmlns="">
          <p:sp>
            <p:nvSpPr>
              <p:cNvPr id="19" name="TextBox 18">
                <a:extLst>
                  <a:ext uri="{FF2B5EF4-FFF2-40B4-BE49-F238E27FC236}">
                    <a16:creationId xmlns:a16="http://schemas.microsoft.com/office/drawing/2014/main" id="{88CAED8F-47AB-7C4C-AED4-DA47FD77EF32}"/>
                  </a:ext>
                </a:extLst>
              </p:cNvPr>
              <p:cNvSpPr txBox="1">
                <a:spLocks noRot="1" noChangeAspect="1" noMove="1" noResize="1" noEditPoints="1" noAdjustHandles="1" noChangeArrowheads="1" noChangeShapeType="1" noTextEdit="1"/>
              </p:cNvSpPr>
              <p:nvPr/>
            </p:nvSpPr>
            <p:spPr>
              <a:xfrm>
                <a:off x="6003743" y="5799753"/>
                <a:ext cx="586122" cy="369332"/>
              </a:xfrm>
              <a:prstGeom prst="rect">
                <a:avLst/>
              </a:prstGeom>
              <a:blipFill>
                <a:blip r:embed="rId2"/>
                <a:stretch>
                  <a:fillRect/>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09DA5675-AF9D-0F41-9EE2-7ABAB5B8420E}"/>
              </a:ext>
            </a:extLst>
          </p:cNvPr>
          <p:cNvPicPr>
            <a:picLocks noChangeAspect="1"/>
          </p:cNvPicPr>
          <p:nvPr/>
        </p:nvPicPr>
        <p:blipFill>
          <a:blip r:embed="rId3"/>
          <a:stretch>
            <a:fillRect/>
          </a:stretch>
        </p:blipFill>
        <p:spPr>
          <a:xfrm>
            <a:off x="4507009" y="3962275"/>
            <a:ext cx="3415378" cy="1673535"/>
          </a:xfrm>
          <a:prstGeom prst="rect">
            <a:avLst/>
          </a:prstGeom>
        </p:spPr>
      </p:pic>
      <p:pic>
        <p:nvPicPr>
          <p:cNvPr id="6" name="Picture 5">
            <a:extLst>
              <a:ext uri="{FF2B5EF4-FFF2-40B4-BE49-F238E27FC236}">
                <a16:creationId xmlns:a16="http://schemas.microsoft.com/office/drawing/2014/main" id="{6BF340A5-AEAB-BE4C-9C3D-7EE385227C4F}"/>
              </a:ext>
            </a:extLst>
          </p:cNvPr>
          <p:cNvPicPr>
            <a:picLocks noChangeAspect="1"/>
          </p:cNvPicPr>
          <p:nvPr/>
        </p:nvPicPr>
        <p:blipFill rotWithShape="1">
          <a:blip r:embed="rId4"/>
          <a:srcRect r="-521" b="16008"/>
          <a:stretch/>
        </p:blipFill>
        <p:spPr>
          <a:xfrm>
            <a:off x="1145043" y="1665909"/>
            <a:ext cx="9901914" cy="1555211"/>
          </a:xfrm>
          <a:prstGeom prst="rect">
            <a:avLst/>
          </a:prstGeom>
        </p:spPr>
      </p:pic>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D936C11-216C-B54B-BDE6-F373C110D911}"/>
                  </a:ext>
                </a:extLst>
              </p:cNvPr>
              <p:cNvSpPr txBox="1"/>
              <p:nvPr/>
            </p:nvSpPr>
            <p:spPr>
              <a:xfrm>
                <a:off x="1820449" y="3318553"/>
                <a:ext cx="58612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22</m:t>
                          </m:r>
                        </m:sub>
                      </m:sSub>
                    </m:oMath>
                  </m:oMathPara>
                </a14:m>
                <a:endParaRPr lang="en-US" dirty="0"/>
              </a:p>
            </p:txBody>
          </p:sp>
        </mc:Choice>
        <mc:Fallback xmlns="">
          <p:sp>
            <p:nvSpPr>
              <p:cNvPr id="23" name="TextBox 22">
                <a:extLst>
                  <a:ext uri="{FF2B5EF4-FFF2-40B4-BE49-F238E27FC236}">
                    <a16:creationId xmlns:a16="http://schemas.microsoft.com/office/drawing/2014/main" id="{9D936C11-216C-B54B-BDE6-F373C110D911}"/>
                  </a:ext>
                </a:extLst>
              </p:cNvPr>
              <p:cNvSpPr txBox="1">
                <a:spLocks noRot="1" noChangeAspect="1" noMove="1" noResize="1" noEditPoints="1" noAdjustHandles="1" noChangeArrowheads="1" noChangeShapeType="1" noTextEdit="1"/>
              </p:cNvSpPr>
              <p:nvPr/>
            </p:nvSpPr>
            <p:spPr>
              <a:xfrm>
                <a:off x="1820449" y="3318553"/>
                <a:ext cx="586122"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2761F03-0E18-3A42-8B2F-24FE2A7B45A7}"/>
                  </a:ext>
                </a:extLst>
              </p:cNvPr>
              <p:cNvSpPr txBox="1"/>
              <p:nvPr/>
            </p:nvSpPr>
            <p:spPr>
              <a:xfrm flipH="1">
                <a:off x="4376791" y="3318553"/>
                <a:ext cx="150023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33</m:t>
                          </m:r>
                        </m:sub>
                      </m:sSub>
                    </m:oMath>
                  </m:oMathPara>
                </a14:m>
                <a:endParaRPr lang="en-US" dirty="0"/>
              </a:p>
            </p:txBody>
          </p:sp>
        </mc:Choice>
        <mc:Fallback xmlns="">
          <p:sp>
            <p:nvSpPr>
              <p:cNvPr id="24" name="TextBox 23">
                <a:extLst>
                  <a:ext uri="{FF2B5EF4-FFF2-40B4-BE49-F238E27FC236}">
                    <a16:creationId xmlns:a16="http://schemas.microsoft.com/office/drawing/2014/main" id="{72761F03-0E18-3A42-8B2F-24FE2A7B45A7}"/>
                  </a:ext>
                </a:extLst>
              </p:cNvPr>
              <p:cNvSpPr txBox="1">
                <a:spLocks noRot="1" noChangeAspect="1" noMove="1" noResize="1" noEditPoints="1" noAdjustHandles="1" noChangeArrowheads="1" noChangeShapeType="1" noTextEdit="1"/>
              </p:cNvSpPr>
              <p:nvPr/>
            </p:nvSpPr>
            <p:spPr>
              <a:xfrm flipH="1">
                <a:off x="4376791" y="3318553"/>
                <a:ext cx="1500237"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7C62252-A9F1-4E41-8D0A-E8F472AA55BE}"/>
                  </a:ext>
                </a:extLst>
              </p:cNvPr>
              <p:cNvSpPr txBox="1"/>
              <p:nvPr/>
            </p:nvSpPr>
            <p:spPr>
              <a:xfrm>
                <a:off x="8967838" y="3318553"/>
                <a:ext cx="58612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44</m:t>
                          </m:r>
                        </m:sub>
                      </m:sSub>
                    </m:oMath>
                  </m:oMathPara>
                </a14:m>
                <a:endParaRPr lang="en-US" dirty="0"/>
              </a:p>
            </p:txBody>
          </p:sp>
        </mc:Choice>
        <mc:Fallback xmlns="">
          <p:sp>
            <p:nvSpPr>
              <p:cNvPr id="25" name="TextBox 24">
                <a:extLst>
                  <a:ext uri="{FF2B5EF4-FFF2-40B4-BE49-F238E27FC236}">
                    <a16:creationId xmlns:a16="http://schemas.microsoft.com/office/drawing/2014/main" id="{47C62252-A9F1-4E41-8D0A-E8F472AA55BE}"/>
                  </a:ext>
                </a:extLst>
              </p:cNvPr>
              <p:cNvSpPr txBox="1">
                <a:spLocks noRot="1" noChangeAspect="1" noMove="1" noResize="1" noEditPoints="1" noAdjustHandles="1" noChangeArrowheads="1" noChangeShapeType="1" noTextEdit="1"/>
              </p:cNvSpPr>
              <p:nvPr/>
            </p:nvSpPr>
            <p:spPr>
              <a:xfrm>
                <a:off x="8967838" y="3318553"/>
                <a:ext cx="586122" cy="369332"/>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77026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BE625-A266-B847-9707-6288FF7DB1CC}"/>
              </a:ext>
            </a:extLst>
          </p:cNvPr>
          <p:cNvSpPr>
            <a:spLocks noGrp="1"/>
          </p:cNvSpPr>
          <p:nvPr>
            <p:ph type="title"/>
          </p:nvPr>
        </p:nvSpPr>
        <p:spPr>
          <a:xfrm>
            <a:off x="838200" y="77448"/>
            <a:ext cx="10515600" cy="1325563"/>
          </a:xfrm>
        </p:spPr>
        <p:txBody>
          <a:bodyPr>
            <a:normAutofit/>
          </a:bodyPr>
          <a:lstStyle/>
          <a:p>
            <a:pPr algn="ctr"/>
            <a:r>
              <a:rPr lang="en-US" sz="4000" dirty="0"/>
              <a:t>Complement of a graph</a:t>
            </a:r>
          </a:p>
        </p:txBody>
      </p:sp>
      <p:pic>
        <p:nvPicPr>
          <p:cNvPr id="4" name="Picture 3">
            <a:extLst>
              <a:ext uri="{FF2B5EF4-FFF2-40B4-BE49-F238E27FC236}">
                <a16:creationId xmlns:a16="http://schemas.microsoft.com/office/drawing/2014/main" id="{4AD32982-5F78-7343-A9FB-D7F6180F8C4C}"/>
              </a:ext>
            </a:extLst>
          </p:cNvPr>
          <p:cNvPicPr>
            <a:picLocks noChangeAspect="1"/>
          </p:cNvPicPr>
          <p:nvPr/>
        </p:nvPicPr>
        <p:blipFill>
          <a:blip r:embed="rId2"/>
          <a:stretch>
            <a:fillRect/>
          </a:stretch>
        </p:blipFill>
        <p:spPr>
          <a:xfrm>
            <a:off x="1217844" y="1544120"/>
            <a:ext cx="5139042" cy="1959367"/>
          </a:xfrm>
          <a:prstGeom prst="rect">
            <a:avLst/>
          </a:prstGeom>
        </p:spPr>
      </p:pic>
      <p:pic>
        <p:nvPicPr>
          <p:cNvPr id="6" name="Picture 5">
            <a:extLst>
              <a:ext uri="{FF2B5EF4-FFF2-40B4-BE49-F238E27FC236}">
                <a16:creationId xmlns:a16="http://schemas.microsoft.com/office/drawing/2014/main" id="{2639B5C9-9D13-7B43-89F8-4C5294D540C8}"/>
              </a:ext>
            </a:extLst>
          </p:cNvPr>
          <p:cNvPicPr>
            <a:picLocks noChangeAspect="1"/>
          </p:cNvPicPr>
          <p:nvPr/>
        </p:nvPicPr>
        <p:blipFill>
          <a:blip r:embed="rId3"/>
          <a:stretch>
            <a:fillRect/>
          </a:stretch>
        </p:blipFill>
        <p:spPr>
          <a:xfrm>
            <a:off x="4281507" y="3644596"/>
            <a:ext cx="3986373" cy="1949586"/>
          </a:xfrm>
          <a:prstGeom prst="rect">
            <a:avLst/>
          </a:prstGeom>
        </p:spPr>
      </p:pic>
      <p:pic>
        <p:nvPicPr>
          <p:cNvPr id="10" name="Picture 9">
            <a:extLst>
              <a:ext uri="{FF2B5EF4-FFF2-40B4-BE49-F238E27FC236}">
                <a16:creationId xmlns:a16="http://schemas.microsoft.com/office/drawing/2014/main" id="{C6FA532D-099C-8B4E-96EE-A84C808DD5B3}"/>
              </a:ext>
            </a:extLst>
          </p:cNvPr>
          <p:cNvPicPr>
            <a:picLocks noChangeAspect="1"/>
          </p:cNvPicPr>
          <p:nvPr/>
        </p:nvPicPr>
        <p:blipFill>
          <a:blip r:embed="rId4"/>
          <a:stretch>
            <a:fillRect/>
          </a:stretch>
        </p:blipFill>
        <p:spPr>
          <a:xfrm>
            <a:off x="6519309" y="1473785"/>
            <a:ext cx="5797260" cy="1815030"/>
          </a:xfrm>
          <a:prstGeom prst="rect">
            <a:avLst/>
          </a:prstGeom>
        </p:spPr>
      </p:pic>
      <p:sp>
        <p:nvSpPr>
          <p:cNvPr id="12" name="TextBox 11">
            <a:extLst>
              <a:ext uri="{FF2B5EF4-FFF2-40B4-BE49-F238E27FC236}">
                <a16:creationId xmlns:a16="http://schemas.microsoft.com/office/drawing/2014/main" id="{08E6C01C-1E69-0E4E-AB66-9F0C0AF23198}"/>
              </a:ext>
            </a:extLst>
          </p:cNvPr>
          <p:cNvSpPr txBox="1"/>
          <p:nvPr/>
        </p:nvSpPr>
        <p:spPr>
          <a:xfrm>
            <a:off x="1867202" y="5876817"/>
            <a:ext cx="9304214" cy="400110"/>
          </a:xfrm>
          <a:prstGeom prst="rect">
            <a:avLst/>
          </a:prstGeom>
          <a:noFill/>
        </p:spPr>
        <p:txBody>
          <a:bodyPr wrap="none" rtlCol="0">
            <a:spAutoFit/>
          </a:bodyPr>
          <a:lstStyle/>
          <a:p>
            <a:r>
              <a:rPr lang="en-US" sz="2000" dirty="0"/>
              <a:t>One important property: the more complex is the graph, the simpler is the complement</a:t>
            </a:r>
          </a:p>
        </p:txBody>
      </p:sp>
    </p:spTree>
    <p:extLst>
      <p:ext uri="{BB962C8B-B14F-4D97-AF65-F5344CB8AC3E}">
        <p14:creationId xmlns:p14="http://schemas.microsoft.com/office/powerpoint/2010/main" val="942751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E3C54-290F-F048-B47E-35DBF70E99A0}"/>
              </a:ext>
            </a:extLst>
          </p:cNvPr>
          <p:cNvSpPr>
            <a:spLocks noGrp="1"/>
          </p:cNvSpPr>
          <p:nvPr>
            <p:ph type="title"/>
          </p:nvPr>
        </p:nvSpPr>
        <p:spPr/>
        <p:txBody>
          <a:bodyPr>
            <a:normAutofit/>
          </a:bodyPr>
          <a:lstStyle/>
          <a:p>
            <a:pPr algn="ctr"/>
            <a:r>
              <a:rPr lang="en-US" sz="4000" dirty="0"/>
              <a:t>Subgraph</a:t>
            </a:r>
          </a:p>
        </p:txBody>
      </p:sp>
      <p:sp>
        <p:nvSpPr>
          <p:cNvPr id="3" name="Content Placeholder 2">
            <a:extLst>
              <a:ext uri="{FF2B5EF4-FFF2-40B4-BE49-F238E27FC236}">
                <a16:creationId xmlns:a16="http://schemas.microsoft.com/office/drawing/2014/main" id="{08F6AF1D-F912-334C-BFFD-CC41483ABF12}"/>
              </a:ext>
            </a:extLst>
          </p:cNvPr>
          <p:cNvSpPr>
            <a:spLocks noGrp="1"/>
          </p:cNvSpPr>
          <p:nvPr>
            <p:ph idx="1"/>
          </p:nvPr>
        </p:nvSpPr>
        <p:spPr>
          <a:xfrm>
            <a:off x="838200" y="1568770"/>
            <a:ext cx="10515600" cy="4351338"/>
          </a:xfrm>
        </p:spPr>
        <p:txBody>
          <a:bodyPr/>
          <a:lstStyle/>
          <a:p>
            <a:pPr marL="0" indent="0">
              <a:buNone/>
            </a:pPr>
            <a:r>
              <a:rPr lang="en-US" dirty="0"/>
              <a:t>Subgraph is a subset of vertices and edges</a:t>
            </a:r>
          </a:p>
        </p:txBody>
      </p:sp>
      <p:pic>
        <p:nvPicPr>
          <p:cNvPr id="4" name="Picture 3">
            <a:extLst>
              <a:ext uri="{FF2B5EF4-FFF2-40B4-BE49-F238E27FC236}">
                <a16:creationId xmlns:a16="http://schemas.microsoft.com/office/drawing/2014/main" id="{31011C26-A6C4-BA4C-9C64-4D9920A54D3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133465" y="2337760"/>
            <a:ext cx="6849745" cy="2416810"/>
          </a:xfrm>
          <a:prstGeom prst="rect">
            <a:avLst/>
          </a:prstGeom>
          <a:noFill/>
          <a:ln>
            <a:noFill/>
          </a:ln>
        </p:spPr>
      </p:pic>
      <p:sp>
        <p:nvSpPr>
          <p:cNvPr id="5" name="TextBox 4">
            <a:extLst>
              <a:ext uri="{FF2B5EF4-FFF2-40B4-BE49-F238E27FC236}">
                <a16:creationId xmlns:a16="http://schemas.microsoft.com/office/drawing/2014/main" id="{CBC06122-21E8-C34A-A740-CA33DE684A00}"/>
              </a:ext>
            </a:extLst>
          </p:cNvPr>
          <p:cNvSpPr txBox="1"/>
          <p:nvPr/>
        </p:nvSpPr>
        <p:spPr>
          <a:xfrm>
            <a:off x="3267029" y="5401643"/>
            <a:ext cx="5650649" cy="523220"/>
          </a:xfrm>
          <a:prstGeom prst="rect">
            <a:avLst/>
          </a:prstGeom>
          <a:noFill/>
        </p:spPr>
        <p:txBody>
          <a:bodyPr wrap="none" rtlCol="0">
            <a:spAutoFit/>
          </a:bodyPr>
          <a:lstStyle/>
          <a:p>
            <a:r>
              <a:rPr lang="en-US" sz="2800" dirty="0"/>
              <a:t>There is a K4 subgraph in both graphs</a:t>
            </a:r>
          </a:p>
        </p:txBody>
      </p:sp>
    </p:spTree>
    <p:extLst>
      <p:ext uri="{BB962C8B-B14F-4D97-AF65-F5344CB8AC3E}">
        <p14:creationId xmlns:p14="http://schemas.microsoft.com/office/powerpoint/2010/main" val="260693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10634-33AA-904D-8340-B51FBAF31881}"/>
              </a:ext>
            </a:extLst>
          </p:cNvPr>
          <p:cNvSpPr>
            <a:spLocks noGrp="1"/>
          </p:cNvSpPr>
          <p:nvPr>
            <p:ph type="title"/>
          </p:nvPr>
        </p:nvSpPr>
        <p:spPr/>
        <p:txBody>
          <a:bodyPr>
            <a:normAutofit/>
          </a:bodyPr>
          <a:lstStyle/>
          <a:p>
            <a:pPr algn="ctr"/>
            <a:r>
              <a:rPr lang="en-US" sz="4000" b="1" dirty="0"/>
              <a:t>Isomorphism</a:t>
            </a:r>
          </a:p>
        </p:txBody>
      </p:sp>
      <p:sp>
        <p:nvSpPr>
          <p:cNvPr id="3" name="Content Placeholder 2">
            <a:extLst>
              <a:ext uri="{FF2B5EF4-FFF2-40B4-BE49-F238E27FC236}">
                <a16:creationId xmlns:a16="http://schemas.microsoft.com/office/drawing/2014/main" id="{B097F8EA-55D5-844E-A4D9-1D38327FBF49}"/>
              </a:ext>
            </a:extLst>
          </p:cNvPr>
          <p:cNvSpPr>
            <a:spLocks noGrp="1"/>
          </p:cNvSpPr>
          <p:nvPr>
            <p:ph idx="1"/>
          </p:nvPr>
        </p:nvSpPr>
        <p:spPr>
          <a:xfrm>
            <a:off x="838200" y="1589319"/>
            <a:ext cx="10515600" cy="4351338"/>
          </a:xfrm>
        </p:spPr>
        <p:txBody>
          <a:bodyPr/>
          <a:lstStyle/>
          <a:p>
            <a:pPr marL="0" indent="0">
              <a:buNone/>
            </a:pPr>
            <a:r>
              <a:rPr lang="en-US" dirty="0"/>
              <a:t>Consider two graphs: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They look different, but are they really different?</a:t>
            </a:r>
          </a:p>
        </p:txBody>
      </p:sp>
      <p:pic>
        <p:nvPicPr>
          <p:cNvPr id="4" name="Picture 3">
            <a:extLst>
              <a:ext uri="{FF2B5EF4-FFF2-40B4-BE49-F238E27FC236}">
                <a16:creationId xmlns:a16="http://schemas.microsoft.com/office/drawing/2014/main" id="{B7465A93-708B-974E-B0B1-D8801BFCBE2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051271" y="2412745"/>
            <a:ext cx="6849745" cy="2416810"/>
          </a:xfrm>
          <a:prstGeom prst="rect">
            <a:avLst/>
          </a:prstGeom>
          <a:noFill/>
          <a:ln>
            <a:noFill/>
          </a:ln>
        </p:spPr>
      </p:pic>
    </p:spTree>
    <p:extLst>
      <p:ext uri="{BB962C8B-B14F-4D97-AF65-F5344CB8AC3E}">
        <p14:creationId xmlns:p14="http://schemas.microsoft.com/office/powerpoint/2010/main" val="3753100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504BC-7694-BA47-AC6F-0FEA61AF585B}"/>
              </a:ext>
            </a:extLst>
          </p:cNvPr>
          <p:cNvSpPr>
            <a:spLocks noGrp="1"/>
          </p:cNvSpPr>
          <p:nvPr>
            <p:ph type="title"/>
          </p:nvPr>
        </p:nvSpPr>
        <p:spPr/>
        <p:txBody>
          <a:bodyPr>
            <a:normAutofit/>
          </a:bodyPr>
          <a:lstStyle/>
          <a:p>
            <a:pPr algn="ctr"/>
            <a:r>
              <a:rPr lang="en-US" sz="4000" dirty="0" smtClean="0"/>
              <a:t>Isomorphism</a:t>
            </a:r>
            <a:endParaRPr lang="en-US" sz="4000" dirty="0"/>
          </a:p>
        </p:txBody>
      </p:sp>
      <p:sp>
        <p:nvSpPr>
          <p:cNvPr id="3" name="Content Placeholder 2">
            <a:extLst>
              <a:ext uri="{FF2B5EF4-FFF2-40B4-BE49-F238E27FC236}">
                <a16:creationId xmlns:a16="http://schemas.microsoft.com/office/drawing/2014/main" id="{0F846437-1A56-694A-B827-BC71695653F0}"/>
              </a:ext>
            </a:extLst>
          </p:cNvPr>
          <p:cNvSpPr>
            <a:spLocks noGrp="1"/>
          </p:cNvSpPr>
          <p:nvPr>
            <p:ph idx="1"/>
          </p:nvPr>
        </p:nvSpPr>
        <p:spPr/>
        <p:txBody>
          <a:bodyPr/>
          <a:lstStyle/>
          <a:p>
            <a:r>
              <a:rPr lang="en-US" dirty="0"/>
              <a:t>Definition: two graphs </a:t>
            </a:r>
            <a:r>
              <a:rPr lang="en-US" i="1" dirty="0"/>
              <a:t>G </a:t>
            </a:r>
            <a:r>
              <a:rPr lang="en-US" dirty="0"/>
              <a:t>and G’ are isomorphic if there exists a one-to-one correspondence between the vertices in </a:t>
            </a:r>
            <a:r>
              <a:rPr lang="en-US" i="1" dirty="0"/>
              <a:t>G </a:t>
            </a:r>
            <a:r>
              <a:rPr lang="en-US" dirty="0"/>
              <a:t>and vertices in </a:t>
            </a:r>
            <a:r>
              <a:rPr lang="en-US" i="1" dirty="0"/>
              <a:t>G’ </a:t>
            </a:r>
            <a:r>
              <a:rPr lang="en-US" dirty="0"/>
              <a:t>such that a pair of vertices are adjacent in </a:t>
            </a:r>
            <a:r>
              <a:rPr lang="en-US" i="1" dirty="0"/>
              <a:t>G</a:t>
            </a:r>
            <a:r>
              <a:rPr lang="en-US" dirty="0"/>
              <a:t> if and only if the corresponding pair of vertices are adjacent in </a:t>
            </a:r>
            <a:r>
              <a:rPr lang="en-US" i="1" dirty="0"/>
              <a:t>G’.</a:t>
            </a:r>
          </a:p>
          <a:p>
            <a:pPr marL="0" indent="0">
              <a:buNone/>
            </a:pPr>
            <a:endParaRPr lang="en-US" i="1" dirty="0"/>
          </a:p>
          <a:p>
            <a:pPr marL="0" indent="0">
              <a:buNone/>
            </a:pPr>
            <a:r>
              <a:rPr lang="en-US" dirty="0"/>
              <a:t>Find isomorphism between two graphs, especially two graphs with substantial complexity, is challenging and difficult. Here we will introduce some techniques to two identify relatively simple graphs.</a:t>
            </a:r>
          </a:p>
        </p:txBody>
      </p:sp>
      <p:sp>
        <p:nvSpPr>
          <p:cNvPr id="7" name="AutoShape 5" descr="{\displaystyle f\colon V(G)\to V(H)}">
            <a:extLst>
              <a:ext uri="{FF2B5EF4-FFF2-40B4-BE49-F238E27FC236}">
                <a16:creationId xmlns:a16="http://schemas.microsoft.com/office/drawing/2014/main" id="{71C6E7DC-BACC-5846-9B43-988452522BC7}"/>
              </a:ext>
            </a:extLst>
          </p:cNvPr>
          <p:cNvSpPr>
            <a:spLocks noChangeAspect="1" noChangeArrowheads="1"/>
          </p:cNvSpPr>
          <p:nvPr/>
        </p:nvSpPr>
        <p:spPr bwMode="auto">
          <a:xfrm>
            <a:off x="19685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94425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5B97E-6E8B-A149-B191-70760E63D3F3}"/>
              </a:ext>
            </a:extLst>
          </p:cNvPr>
          <p:cNvSpPr>
            <a:spLocks noGrp="1"/>
          </p:cNvSpPr>
          <p:nvPr>
            <p:ph type="title"/>
          </p:nvPr>
        </p:nvSpPr>
        <p:spPr/>
        <p:txBody>
          <a:bodyPr>
            <a:normAutofit/>
          </a:bodyPr>
          <a:lstStyle/>
          <a:p>
            <a:pPr algn="ctr"/>
            <a:r>
              <a:rPr lang="en-US" sz="4000" dirty="0"/>
              <a:t>Degree counting, a </a:t>
            </a:r>
            <a:r>
              <a:rPr lang="en-US" sz="4000" b="1" i="1" dirty="0"/>
              <a:t>necessary</a:t>
            </a:r>
            <a:r>
              <a:rPr lang="en-US" sz="4000" dirty="0"/>
              <a:t> condition</a:t>
            </a:r>
          </a:p>
        </p:txBody>
      </p:sp>
      <p:sp>
        <p:nvSpPr>
          <p:cNvPr id="3" name="Content Placeholder 2">
            <a:extLst>
              <a:ext uri="{FF2B5EF4-FFF2-40B4-BE49-F238E27FC236}">
                <a16:creationId xmlns:a16="http://schemas.microsoft.com/office/drawing/2014/main" id="{D6D1452A-DF7D-7040-A265-D9D9E2B13890}"/>
              </a:ext>
            </a:extLst>
          </p:cNvPr>
          <p:cNvSpPr>
            <a:spLocks noGrp="1"/>
          </p:cNvSpPr>
          <p:nvPr>
            <p:ph idx="1"/>
          </p:nvPr>
        </p:nvSpPr>
        <p:spPr>
          <a:xfrm>
            <a:off x="838200" y="1455755"/>
            <a:ext cx="10515600" cy="4351338"/>
          </a:xfrm>
        </p:spPr>
        <p:txBody>
          <a:bodyPr/>
          <a:lstStyle/>
          <a:p>
            <a:pPr marL="0" indent="0">
              <a:buNone/>
            </a:pPr>
            <a:r>
              <a:rPr lang="en-US" dirty="0"/>
              <a:t>Degree: vertex degree is the number of incident edges to the vertex.</a:t>
            </a:r>
          </a:p>
        </p:txBody>
      </p:sp>
      <p:pic>
        <p:nvPicPr>
          <p:cNvPr id="5" name="Picture 4">
            <a:extLst>
              <a:ext uri="{FF2B5EF4-FFF2-40B4-BE49-F238E27FC236}">
                <a16:creationId xmlns:a16="http://schemas.microsoft.com/office/drawing/2014/main" id="{D90D2462-84CA-5F48-A372-E1A1603AB4C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08765" y="2617892"/>
            <a:ext cx="5229698" cy="2261997"/>
          </a:xfrm>
          <a:prstGeom prst="rect">
            <a:avLst/>
          </a:prstGeom>
          <a:noFill/>
          <a:ln>
            <a:noFill/>
          </a:ln>
        </p:spPr>
      </p:pic>
      <p:pic>
        <p:nvPicPr>
          <p:cNvPr id="6" name="Picture 5">
            <a:extLst>
              <a:ext uri="{FF2B5EF4-FFF2-40B4-BE49-F238E27FC236}">
                <a16:creationId xmlns:a16="http://schemas.microsoft.com/office/drawing/2014/main" id="{46B251A9-059E-FC49-B64F-470DFAF362F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441330" y="2617892"/>
            <a:ext cx="5142630" cy="2354464"/>
          </a:xfrm>
          <a:prstGeom prst="rect">
            <a:avLst/>
          </a:prstGeom>
          <a:noFill/>
          <a:ln>
            <a:noFill/>
          </a:ln>
        </p:spPr>
      </p:pic>
    </p:spTree>
    <p:extLst>
      <p:ext uri="{BB962C8B-B14F-4D97-AF65-F5344CB8AC3E}">
        <p14:creationId xmlns:p14="http://schemas.microsoft.com/office/powerpoint/2010/main" val="2342924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D4951-042E-9549-8B91-D15259D5E90D}"/>
              </a:ext>
            </a:extLst>
          </p:cNvPr>
          <p:cNvSpPr>
            <a:spLocks noGrp="1"/>
          </p:cNvSpPr>
          <p:nvPr>
            <p:ph type="title"/>
          </p:nvPr>
        </p:nvSpPr>
        <p:spPr/>
        <p:txBody>
          <a:bodyPr>
            <a:normAutofit/>
          </a:bodyPr>
          <a:lstStyle/>
          <a:p>
            <a:pPr algn="ctr"/>
            <a:r>
              <a:rPr lang="en-US" sz="4000" b="1" dirty="0"/>
              <a:t>Application of symmetry</a:t>
            </a:r>
          </a:p>
        </p:txBody>
      </p:sp>
      <p:pic>
        <p:nvPicPr>
          <p:cNvPr id="4" name="Content Placeholder 3">
            <a:extLst>
              <a:ext uri="{FF2B5EF4-FFF2-40B4-BE49-F238E27FC236}">
                <a16:creationId xmlns:a16="http://schemas.microsoft.com/office/drawing/2014/main" id="{53A92047-30EE-5442-B5A8-58F79FAE3478}"/>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87436" y="1382463"/>
            <a:ext cx="3213100" cy="3060700"/>
          </a:xfrm>
          <a:prstGeom prst="rect">
            <a:avLst/>
          </a:prstGeom>
          <a:noFill/>
          <a:ln>
            <a:noFill/>
          </a:ln>
        </p:spPr>
      </p:pic>
      <p:pic>
        <p:nvPicPr>
          <p:cNvPr id="5" name="Picture 4">
            <a:extLst>
              <a:ext uri="{FF2B5EF4-FFF2-40B4-BE49-F238E27FC236}">
                <a16:creationId xmlns:a16="http://schemas.microsoft.com/office/drawing/2014/main" id="{C614AE7E-F80A-4A4C-ADDD-D14626ED866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576554" y="1382463"/>
            <a:ext cx="3128010" cy="3192145"/>
          </a:xfrm>
          <a:prstGeom prst="rect">
            <a:avLst/>
          </a:prstGeom>
          <a:noFill/>
          <a:ln>
            <a:noFill/>
          </a:ln>
        </p:spPr>
      </p:pic>
      <p:sp>
        <p:nvSpPr>
          <p:cNvPr id="6" name="TextBox 5">
            <a:extLst>
              <a:ext uri="{FF2B5EF4-FFF2-40B4-BE49-F238E27FC236}">
                <a16:creationId xmlns:a16="http://schemas.microsoft.com/office/drawing/2014/main" id="{4118082B-3B4C-3D4D-9E08-A1CB88EA411C}"/>
              </a:ext>
            </a:extLst>
          </p:cNvPr>
          <p:cNvSpPr txBox="1"/>
          <p:nvPr/>
        </p:nvSpPr>
        <p:spPr>
          <a:xfrm>
            <a:off x="1868094" y="4574608"/>
            <a:ext cx="9246742" cy="1631216"/>
          </a:xfrm>
          <a:prstGeom prst="rect">
            <a:avLst/>
          </a:prstGeom>
          <a:noFill/>
        </p:spPr>
        <p:txBody>
          <a:bodyPr wrap="square" rtlCol="0">
            <a:spAutoFit/>
          </a:bodyPr>
          <a:lstStyle/>
          <a:p>
            <a:r>
              <a:rPr lang="en-US" sz="2000" dirty="0"/>
              <a:t>Two graphs are both symmetric. If there is an isomorphism, </a:t>
            </a:r>
            <a:r>
              <a:rPr lang="en-US" sz="2000" i="1" dirty="0"/>
              <a:t>a</a:t>
            </a:r>
            <a:r>
              <a:rPr lang="en-US" sz="2000" dirty="0"/>
              <a:t> can be associated with any vertex in the right graph: choose a - 1. Use AC Principle to try to continue isomorphism. Neighbors of a must match up with neighbors of 1. Consequently, we have: g-5,b-4; f-2,c-7; e-3,d-6.</a:t>
            </a:r>
          </a:p>
          <a:p>
            <a:r>
              <a:rPr lang="en-US" sz="2000" dirty="0"/>
              <a:t>AP principle: Assumption and consequence.</a:t>
            </a:r>
          </a:p>
        </p:txBody>
      </p:sp>
    </p:spTree>
    <p:extLst>
      <p:ext uri="{BB962C8B-B14F-4D97-AF65-F5344CB8AC3E}">
        <p14:creationId xmlns:p14="http://schemas.microsoft.com/office/powerpoint/2010/main" val="1265953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D4951-042E-9549-8B91-D15259D5E90D}"/>
              </a:ext>
            </a:extLst>
          </p:cNvPr>
          <p:cNvSpPr>
            <a:spLocks noGrp="1"/>
          </p:cNvSpPr>
          <p:nvPr>
            <p:ph type="title"/>
          </p:nvPr>
        </p:nvSpPr>
        <p:spPr>
          <a:xfrm>
            <a:off x="838200" y="282932"/>
            <a:ext cx="10515600" cy="1325563"/>
          </a:xfrm>
        </p:spPr>
        <p:txBody>
          <a:bodyPr>
            <a:normAutofit/>
          </a:bodyPr>
          <a:lstStyle/>
          <a:p>
            <a:pPr algn="ctr"/>
            <a:r>
              <a:rPr lang="en-US" sz="4000" b="1" dirty="0"/>
              <a:t>Applying complements</a:t>
            </a:r>
          </a:p>
        </p:txBody>
      </p:sp>
      <p:pic>
        <p:nvPicPr>
          <p:cNvPr id="4" name="Content Placeholder 3">
            <a:extLst>
              <a:ext uri="{FF2B5EF4-FFF2-40B4-BE49-F238E27FC236}">
                <a16:creationId xmlns:a16="http://schemas.microsoft.com/office/drawing/2014/main" id="{53A92047-30EE-5442-B5A8-58F79FAE3478}"/>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50739" y="1406071"/>
            <a:ext cx="2464708" cy="2460072"/>
          </a:xfrm>
          <a:prstGeom prst="rect">
            <a:avLst/>
          </a:prstGeom>
          <a:noFill/>
          <a:ln>
            <a:noFill/>
          </a:ln>
        </p:spPr>
      </p:pic>
      <p:pic>
        <p:nvPicPr>
          <p:cNvPr id="5" name="Picture 4">
            <a:extLst>
              <a:ext uri="{FF2B5EF4-FFF2-40B4-BE49-F238E27FC236}">
                <a16:creationId xmlns:a16="http://schemas.microsoft.com/office/drawing/2014/main" id="{C614AE7E-F80A-4A4C-ADDD-D14626ED866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940638" y="1406071"/>
            <a:ext cx="2121170" cy="2460072"/>
          </a:xfrm>
          <a:prstGeom prst="rect">
            <a:avLst/>
          </a:prstGeom>
          <a:noFill/>
          <a:ln>
            <a:noFill/>
          </a:ln>
        </p:spPr>
      </p:pic>
      <p:pic>
        <p:nvPicPr>
          <p:cNvPr id="7" name="Picture 6">
            <a:extLst>
              <a:ext uri="{FF2B5EF4-FFF2-40B4-BE49-F238E27FC236}">
                <a16:creationId xmlns:a16="http://schemas.microsoft.com/office/drawing/2014/main" id="{E74AF3AA-0193-8746-8E2B-8CAC5DB83417}"/>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3304851" y="3794211"/>
            <a:ext cx="2464708" cy="2460072"/>
          </a:xfrm>
          <a:prstGeom prst="rect">
            <a:avLst/>
          </a:prstGeom>
          <a:noFill/>
          <a:ln>
            <a:noFill/>
          </a:ln>
        </p:spPr>
      </p:pic>
      <p:pic>
        <p:nvPicPr>
          <p:cNvPr id="8" name="Picture 7">
            <a:extLst>
              <a:ext uri="{FF2B5EF4-FFF2-40B4-BE49-F238E27FC236}">
                <a16:creationId xmlns:a16="http://schemas.microsoft.com/office/drawing/2014/main" id="{B43F8478-8A6E-AC46-9A77-15BC187D79B8}"/>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6940638" y="3902096"/>
            <a:ext cx="2357474" cy="2244303"/>
          </a:xfrm>
          <a:prstGeom prst="rect">
            <a:avLst/>
          </a:prstGeom>
          <a:noFill/>
          <a:ln>
            <a:noFill/>
          </a:ln>
        </p:spPr>
      </p:pic>
      <p:sp>
        <p:nvSpPr>
          <p:cNvPr id="3" name="TextBox 2">
            <a:extLst>
              <a:ext uri="{FF2B5EF4-FFF2-40B4-BE49-F238E27FC236}">
                <a16:creationId xmlns:a16="http://schemas.microsoft.com/office/drawing/2014/main" id="{3A69E4D2-A182-3C44-BBB4-2A9CA10B7B78}"/>
              </a:ext>
            </a:extLst>
          </p:cNvPr>
          <p:cNvSpPr txBox="1"/>
          <p:nvPr/>
        </p:nvSpPr>
        <p:spPr>
          <a:xfrm>
            <a:off x="3122461" y="6213331"/>
            <a:ext cx="5947077" cy="369332"/>
          </a:xfrm>
          <a:prstGeom prst="rect">
            <a:avLst/>
          </a:prstGeom>
          <a:noFill/>
        </p:spPr>
        <p:txBody>
          <a:bodyPr wrap="none" rtlCol="0">
            <a:spAutoFit/>
          </a:bodyPr>
          <a:lstStyle/>
          <a:p>
            <a:r>
              <a:rPr lang="en-US" dirty="0"/>
              <a:t>If the complements are isomorphic, so are the original graphs</a:t>
            </a:r>
          </a:p>
        </p:txBody>
      </p:sp>
    </p:spTree>
    <p:extLst>
      <p:ext uri="{BB962C8B-B14F-4D97-AF65-F5344CB8AC3E}">
        <p14:creationId xmlns:p14="http://schemas.microsoft.com/office/powerpoint/2010/main" val="2539798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56943-506E-B24F-94B2-68520A773F8A}"/>
              </a:ext>
            </a:extLst>
          </p:cNvPr>
          <p:cNvSpPr>
            <a:spLocks noGrp="1"/>
          </p:cNvSpPr>
          <p:nvPr>
            <p:ph type="title"/>
          </p:nvPr>
        </p:nvSpPr>
        <p:spPr>
          <a:xfrm>
            <a:off x="838200" y="78822"/>
            <a:ext cx="10515600" cy="1325563"/>
          </a:xfrm>
        </p:spPr>
        <p:txBody>
          <a:bodyPr>
            <a:normAutofit/>
          </a:bodyPr>
          <a:lstStyle/>
          <a:p>
            <a:pPr algn="ctr"/>
            <a:r>
              <a:rPr lang="en-US" sz="4000" dirty="0"/>
              <a:t>The four color theorem</a:t>
            </a:r>
          </a:p>
        </p:txBody>
      </p:sp>
      <p:sp>
        <p:nvSpPr>
          <p:cNvPr id="3" name="Content Placeholder 2">
            <a:extLst>
              <a:ext uri="{FF2B5EF4-FFF2-40B4-BE49-F238E27FC236}">
                <a16:creationId xmlns:a16="http://schemas.microsoft.com/office/drawing/2014/main" id="{C9BB0C73-7D27-0149-AABD-F032D703B15D}"/>
              </a:ext>
            </a:extLst>
          </p:cNvPr>
          <p:cNvSpPr>
            <a:spLocks noGrp="1"/>
          </p:cNvSpPr>
          <p:nvPr>
            <p:ph idx="1"/>
          </p:nvPr>
        </p:nvSpPr>
        <p:spPr>
          <a:xfrm>
            <a:off x="838200" y="1404385"/>
            <a:ext cx="10515600" cy="4351338"/>
          </a:xfrm>
        </p:spPr>
        <p:txBody>
          <a:bodyPr>
            <a:normAutofit fontScale="92500"/>
          </a:bodyPr>
          <a:lstStyle/>
          <a:p>
            <a:r>
              <a:rPr lang="en-US" dirty="0"/>
              <a:t>The conjecture: The </a:t>
            </a:r>
            <a:r>
              <a:rPr lang="en-US" b="1" dirty="0"/>
              <a:t>four color theorem</a:t>
            </a:r>
            <a:r>
              <a:rPr lang="en-US" dirty="0"/>
              <a:t>, or the </a:t>
            </a:r>
            <a:r>
              <a:rPr lang="en-US" b="1" dirty="0"/>
              <a:t>four color map theorem</a:t>
            </a:r>
            <a:r>
              <a:rPr lang="en-US" dirty="0"/>
              <a:t>, states that, given any separation of a plane into contiguous regions, producing a figure called a </a:t>
            </a:r>
            <a:r>
              <a:rPr lang="en-US" i="1" dirty="0"/>
              <a:t>map</a:t>
            </a:r>
            <a:r>
              <a:rPr lang="en-US" dirty="0"/>
              <a:t>, no more than four colors are required to color the regions of the map so that no two adjacent regions have the same color.</a:t>
            </a:r>
          </a:p>
          <a:p>
            <a:r>
              <a:rPr lang="en-US" dirty="0"/>
              <a:t>History: It was first proposed on October 23, 1852 when Francis Guthrie, while trying to color the map of counties of England, noticed that only four different colors were needed. Guthrie's brother, Frederick at University College London. then took it to De Morgan.</a:t>
            </a:r>
          </a:p>
          <a:p>
            <a:r>
              <a:rPr lang="en-US" dirty="0"/>
              <a:t>Outcome: The four color theorem was proved in 1976 by Kenneth Appel and Wolfgang Haken</a:t>
            </a:r>
            <a:r>
              <a:rPr lang="en-US" u="sng" dirty="0"/>
              <a:t>. </a:t>
            </a:r>
            <a:endParaRPr lang="en-US" dirty="0"/>
          </a:p>
        </p:txBody>
      </p:sp>
    </p:spTree>
    <p:extLst>
      <p:ext uri="{BB962C8B-B14F-4D97-AF65-F5344CB8AC3E}">
        <p14:creationId xmlns:p14="http://schemas.microsoft.com/office/powerpoint/2010/main" val="2162040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82806EC-B339-9141-B89F-F9E398A54E74}"/>
              </a:ext>
            </a:extLst>
          </p:cNvPr>
          <p:cNvPicPr>
            <a:picLocks noChangeAspect="1"/>
          </p:cNvPicPr>
          <p:nvPr/>
        </p:nvPicPr>
        <p:blipFill>
          <a:blip r:embed="rId2"/>
          <a:stretch>
            <a:fillRect/>
          </a:stretch>
        </p:blipFill>
        <p:spPr>
          <a:xfrm>
            <a:off x="1201288" y="886147"/>
            <a:ext cx="3235698" cy="4312578"/>
          </a:xfrm>
          <a:prstGeom prst="rect">
            <a:avLst/>
          </a:prstGeom>
        </p:spPr>
      </p:pic>
      <p:pic>
        <p:nvPicPr>
          <p:cNvPr id="7" name="Picture 6">
            <a:extLst>
              <a:ext uri="{FF2B5EF4-FFF2-40B4-BE49-F238E27FC236}">
                <a16:creationId xmlns:a16="http://schemas.microsoft.com/office/drawing/2014/main" id="{D50ADE9E-22DF-994E-8A9C-7FB6F20EB92E}"/>
              </a:ext>
            </a:extLst>
          </p:cNvPr>
          <p:cNvPicPr>
            <a:picLocks noChangeAspect="1"/>
          </p:cNvPicPr>
          <p:nvPr/>
        </p:nvPicPr>
        <p:blipFill>
          <a:blip r:embed="rId3"/>
          <a:stretch>
            <a:fillRect/>
          </a:stretch>
        </p:blipFill>
        <p:spPr>
          <a:xfrm>
            <a:off x="4525765" y="886147"/>
            <a:ext cx="6927284" cy="4283371"/>
          </a:xfrm>
          <a:prstGeom prst="rect">
            <a:avLst/>
          </a:prstGeom>
        </p:spPr>
      </p:pic>
    </p:spTree>
    <p:extLst>
      <p:ext uri="{BB962C8B-B14F-4D97-AF65-F5344CB8AC3E}">
        <p14:creationId xmlns:p14="http://schemas.microsoft.com/office/powerpoint/2010/main" val="213336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56943-506E-B24F-94B2-68520A773F8A}"/>
              </a:ext>
            </a:extLst>
          </p:cNvPr>
          <p:cNvSpPr>
            <a:spLocks noGrp="1"/>
          </p:cNvSpPr>
          <p:nvPr>
            <p:ph type="title"/>
          </p:nvPr>
        </p:nvSpPr>
        <p:spPr>
          <a:xfrm>
            <a:off x="838200" y="78822"/>
            <a:ext cx="10515600" cy="1325563"/>
          </a:xfrm>
        </p:spPr>
        <p:txBody>
          <a:bodyPr>
            <a:normAutofit/>
          </a:bodyPr>
          <a:lstStyle/>
          <a:p>
            <a:pPr algn="ctr"/>
            <a:r>
              <a:rPr lang="en-US" sz="4000" dirty="0"/>
              <a:t>The four outstanding mathematics problems</a:t>
            </a:r>
          </a:p>
        </p:txBody>
      </p:sp>
      <p:sp>
        <p:nvSpPr>
          <p:cNvPr id="3" name="Content Placeholder 2">
            <a:extLst>
              <a:ext uri="{FF2B5EF4-FFF2-40B4-BE49-F238E27FC236}">
                <a16:creationId xmlns:a16="http://schemas.microsoft.com/office/drawing/2014/main" id="{C9BB0C73-7D27-0149-AABD-F032D703B15D}"/>
              </a:ext>
            </a:extLst>
          </p:cNvPr>
          <p:cNvSpPr>
            <a:spLocks noGrp="1"/>
          </p:cNvSpPr>
          <p:nvPr>
            <p:ph idx="1"/>
          </p:nvPr>
        </p:nvSpPr>
        <p:spPr>
          <a:xfrm>
            <a:off x="838200" y="1404385"/>
            <a:ext cx="10515600" cy="4351338"/>
          </a:xfrm>
        </p:spPr>
        <p:txBody>
          <a:bodyPr>
            <a:normAutofit/>
          </a:bodyPr>
          <a:lstStyle/>
          <a:p>
            <a:r>
              <a:rPr lang="en-US" dirty="0">
                <a:hlinkClick r:id="rId2"/>
              </a:rPr>
              <a:t>The four color conjecture</a:t>
            </a:r>
            <a:r>
              <a:rPr lang="en-US" dirty="0"/>
              <a:t>, proved in 1976 by </a:t>
            </a:r>
            <a:r>
              <a:rPr lang="en-US" dirty="0">
                <a:hlinkClick r:id="rId3" tooltip="Kenneth Appel"/>
              </a:rPr>
              <a:t>Kenneth Appel</a:t>
            </a:r>
            <a:r>
              <a:rPr lang="en-US" dirty="0"/>
              <a:t> and </a:t>
            </a:r>
            <a:r>
              <a:rPr lang="en-US" u="sng" dirty="0">
                <a:hlinkClick r:id="rId4"/>
              </a:rPr>
              <a:t>Wolfgang Haken</a:t>
            </a:r>
            <a:r>
              <a:rPr lang="en-US" dirty="0"/>
              <a:t>, case closed.</a:t>
            </a:r>
          </a:p>
          <a:p>
            <a:r>
              <a:rPr lang="en-US" dirty="0">
                <a:hlinkClick r:id="rId5"/>
              </a:rPr>
              <a:t>The Poincare conjecture</a:t>
            </a:r>
            <a:r>
              <a:rPr lang="en-US" dirty="0"/>
              <a:t>, proved in 2002 by </a:t>
            </a:r>
            <a:r>
              <a:rPr lang="en-US" u="sng" dirty="0">
                <a:hlinkClick r:id="rId6"/>
              </a:rPr>
              <a:t>Grigori Perelman</a:t>
            </a:r>
            <a:r>
              <a:rPr lang="en-US" u="sng" dirty="0"/>
              <a:t>, </a:t>
            </a:r>
            <a:r>
              <a:rPr lang="en-US" dirty="0"/>
              <a:t>case closed.</a:t>
            </a:r>
          </a:p>
          <a:p>
            <a:r>
              <a:rPr lang="en-US" u="sng" dirty="0">
                <a:hlinkClick r:id="rId7"/>
              </a:rPr>
              <a:t>The Format conjecture</a:t>
            </a:r>
            <a:r>
              <a:rPr lang="en-US" dirty="0"/>
              <a:t>, proved in in 1994 by </a:t>
            </a:r>
            <a:r>
              <a:rPr lang="en-US" dirty="0">
                <a:hlinkClick r:id="rId8" tooltip="Andrew Wiles"/>
              </a:rPr>
              <a:t>Andrew Wiles</a:t>
            </a:r>
            <a:r>
              <a:rPr lang="en-US" dirty="0"/>
              <a:t>, case closed.</a:t>
            </a:r>
          </a:p>
          <a:p>
            <a:r>
              <a:rPr lang="en-US" u="sng" dirty="0">
                <a:hlinkClick r:id="rId9"/>
              </a:rPr>
              <a:t>The Goldbach conjecture</a:t>
            </a:r>
            <a:r>
              <a:rPr lang="en-US" dirty="0"/>
              <a:t>, not proved, case open. Second best result by </a:t>
            </a:r>
            <a:r>
              <a:rPr lang="en-US" dirty="0">
                <a:hlinkClick r:id="rId10" tooltip="Chen Jingrun"/>
              </a:rPr>
              <a:t>Jingrun</a:t>
            </a:r>
            <a:r>
              <a:rPr lang="en-US">
                <a:hlinkClick r:id="rId10" tooltip="Chen Jingrun"/>
              </a:rPr>
              <a:t> Chen</a:t>
            </a:r>
            <a:r>
              <a:rPr lang="en-US"/>
              <a:t>  in </a:t>
            </a:r>
            <a:r>
              <a:rPr lang="en-US" dirty="0"/>
              <a:t>1973.</a:t>
            </a:r>
            <a:endParaRPr lang="en-US" u="sng" dirty="0"/>
          </a:p>
        </p:txBody>
      </p:sp>
    </p:spTree>
    <p:extLst>
      <p:ext uri="{BB962C8B-B14F-4D97-AF65-F5344CB8AC3E}">
        <p14:creationId xmlns:p14="http://schemas.microsoft.com/office/powerpoint/2010/main" val="2235640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C6672-5F1D-2043-81F7-A5EBB7343B57}"/>
              </a:ext>
            </a:extLst>
          </p:cNvPr>
          <p:cNvSpPr>
            <a:spLocks noGrp="1"/>
          </p:cNvSpPr>
          <p:nvPr>
            <p:ph type="title"/>
          </p:nvPr>
        </p:nvSpPr>
        <p:spPr/>
        <p:txBody>
          <a:bodyPr>
            <a:normAutofit/>
          </a:bodyPr>
          <a:lstStyle/>
          <a:p>
            <a:pPr algn="ctr"/>
            <a:r>
              <a:rPr lang="en-US" sz="3200" b="1" dirty="0"/>
              <a:t>Summary of previous class</a:t>
            </a:r>
          </a:p>
        </p:txBody>
      </p:sp>
      <p:sp>
        <p:nvSpPr>
          <p:cNvPr id="3" name="Content Placeholder 2">
            <a:extLst>
              <a:ext uri="{FF2B5EF4-FFF2-40B4-BE49-F238E27FC236}">
                <a16:creationId xmlns:a16="http://schemas.microsoft.com/office/drawing/2014/main" id="{3D50B6E9-6E8A-4943-9EA2-7E75AE1FC05D}"/>
              </a:ext>
            </a:extLst>
          </p:cNvPr>
          <p:cNvSpPr>
            <a:spLocks noGrp="1"/>
          </p:cNvSpPr>
          <p:nvPr>
            <p:ph idx="1"/>
          </p:nvPr>
        </p:nvSpPr>
        <p:spPr>
          <a:xfrm>
            <a:off x="838200" y="1568771"/>
            <a:ext cx="10515600" cy="4351338"/>
          </a:xfrm>
        </p:spPr>
        <p:txBody>
          <a:bodyPr>
            <a:normAutofit/>
          </a:bodyPr>
          <a:lstStyle/>
          <a:p>
            <a:r>
              <a:rPr lang="en-US" sz="2400" dirty="0"/>
              <a:t>Graph as a collection of vertices and edges</a:t>
            </a:r>
          </a:p>
          <a:p>
            <a:r>
              <a:rPr lang="en-US" sz="2400" dirty="0"/>
              <a:t>Simple graph, directed graph, multigraph, bipartite graph</a:t>
            </a:r>
          </a:p>
          <a:p>
            <a:r>
              <a:rPr lang="en-US" sz="2400" dirty="0"/>
              <a:t>Path, circuit, connectivity</a:t>
            </a:r>
          </a:p>
          <a:p>
            <a:r>
              <a:rPr lang="en-US" sz="2400" dirty="0"/>
              <a:t>Isomorphism</a:t>
            </a:r>
          </a:p>
          <a:p>
            <a:r>
              <a:rPr lang="en-US" sz="2400" dirty="0"/>
              <a:t>Complete graph, complete bipartite graph, complement</a:t>
            </a:r>
          </a:p>
          <a:p>
            <a:r>
              <a:rPr lang="en-US" sz="2400" dirty="0"/>
              <a:t>Subgraph, symmetry, assumption and consequence</a:t>
            </a:r>
          </a:p>
          <a:p>
            <a:endParaRPr lang="en-US" sz="2400" dirty="0"/>
          </a:p>
          <a:p>
            <a:endParaRPr lang="en-US" sz="2400" dirty="0"/>
          </a:p>
        </p:txBody>
      </p:sp>
    </p:spTree>
    <p:extLst>
      <p:ext uri="{BB962C8B-B14F-4D97-AF65-F5344CB8AC3E}">
        <p14:creationId xmlns:p14="http://schemas.microsoft.com/office/powerpoint/2010/main" val="1391684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235CA-8EB8-9A40-AED3-FB7FCA39B1EE}"/>
              </a:ext>
            </a:extLst>
          </p:cNvPr>
          <p:cNvSpPr>
            <a:spLocks noGrp="1"/>
          </p:cNvSpPr>
          <p:nvPr>
            <p:ph type="title"/>
          </p:nvPr>
        </p:nvSpPr>
        <p:spPr/>
        <p:txBody>
          <a:bodyPr>
            <a:normAutofit/>
          </a:bodyPr>
          <a:lstStyle/>
          <a:p>
            <a:pPr algn="ctr"/>
            <a:r>
              <a:rPr lang="en-US" sz="3600" dirty="0"/>
              <a:t>Are these two graphs isomorphic to each other?</a:t>
            </a:r>
          </a:p>
        </p:txBody>
      </p:sp>
      <p:pic>
        <p:nvPicPr>
          <p:cNvPr id="4" name="Content Placeholder 3">
            <a:extLst>
              <a:ext uri="{FF2B5EF4-FFF2-40B4-BE49-F238E27FC236}">
                <a16:creationId xmlns:a16="http://schemas.microsoft.com/office/drawing/2014/main" id="{47C3F0D2-8231-C941-8753-7693047E30FA}"/>
              </a:ext>
            </a:extLst>
          </p:cNvPr>
          <p:cNvPicPr>
            <a:picLocks noGrp="1" noChangeAspect="1"/>
          </p:cNvPicPr>
          <p:nvPr>
            <p:ph idx="1"/>
          </p:nvPr>
        </p:nvPicPr>
        <p:blipFill>
          <a:blip r:embed="rId2"/>
          <a:stretch>
            <a:fillRect/>
          </a:stretch>
        </p:blipFill>
        <p:spPr>
          <a:xfrm>
            <a:off x="2741774" y="1690688"/>
            <a:ext cx="7366000" cy="4279900"/>
          </a:xfrm>
          <a:prstGeom prst="rect">
            <a:avLst/>
          </a:prstGeom>
        </p:spPr>
      </p:pic>
    </p:spTree>
    <p:extLst>
      <p:ext uri="{BB962C8B-B14F-4D97-AF65-F5344CB8AC3E}">
        <p14:creationId xmlns:p14="http://schemas.microsoft.com/office/powerpoint/2010/main" val="1999518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235CA-8EB8-9A40-AED3-FB7FCA39B1EE}"/>
              </a:ext>
            </a:extLst>
          </p:cNvPr>
          <p:cNvSpPr>
            <a:spLocks noGrp="1"/>
          </p:cNvSpPr>
          <p:nvPr>
            <p:ph type="title"/>
          </p:nvPr>
        </p:nvSpPr>
        <p:spPr/>
        <p:txBody>
          <a:bodyPr>
            <a:normAutofit/>
          </a:bodyPr>
          <a:lstStyle/>
          <a:p>
            <a:pPr algn="ctr"/>
            <a:r>
              <a:rPr lang="en-US" sz="3600" dirty="0"/>
              <a:t>Are these two graphs isomorphic to each other?</a:t>
            </a:r>
          </a:p>
        </p:txBody>
      </p:sp>
      <p:pic>
        <p:nvPicPr>
          <p:cNvPr id="5" name="Content Placeholder 4">
            <a:extLst>
              <a:ext uri="{FF2B5EF4-FFF2-40B4-BE49-F238E27FC236}">
                <a16:creationId xmlns:a16="http://schemas.microsoft.com/office/drawing/2014/main" id="{52B1945D-3E96-0A46-81C7-7D0A81B9D265}"/>
              </a:ext>
            </a:extLst>
          </p:cNvPr>
          <p:cNvPicPr>
            <a:picLocks noGrp="1" noChangeAspect="1"/>
          </p:cNvPicPr>
          <p:nvPr>
            <p:ph idx="1"/>
          </p:nvPr>
        </p:nvPicPr>
        <p:blipFill>
          <a:blip r:embed="rId2"/>
          <a:stretch>
            <a:fillRect/>
          </a:stretch>
        </p:blipFill>
        <p:spPr>
          <a:xfrm>
            <a:off x="1170540" y="2127399"/>
            <a:ext cx="9331283" cy="2002812"/>
          </a:xfrm>
          <a:prstGeom prst="rect">
            <a:avLst/>
          </a:prstGeom>
        </p:spPr>
      </p:pic>
    </p:spTree>
    <p:extLst>
      <p:ext uri="{BB962C8B-B14F-4D97-AF65-F5344CB8AC3E}">
        <p14:creationId xmlns:p14="http://schemas.microsoft.com/office/powerpoint/2010/main" val="854098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235CA-8EB8-9A40-AED3-FB7FCA39B1EE}"/>
              </a:ext>
            </a:extLst>
          </p:cNvPr>
          <p:cNvSpPr>
            <a:spLocks noGrp="1"/>
          </p:cNvSpPr>
          <p:nvPr>
            <p:ph type="title"/>
          </p:nvPr>
        </p:nvSpPr>
        <p:spPr/>
        <p:txBody>
          <a:bodyPr>
            <a:normAutofit/>
          </a:bodyPr>
          <a:lstStyle/>
          <a:p>
            <a:pPr algn="ctr"/>
            <a:r>
              <a:rPr lang="en-US" sz="3600" dirty="0"/>
              <a:t>Are these two graphs isomorphic to each other?</a:t>
            </a:r>
          </a:p>
        </p:txBody>
      </p:sp>
      <p:pic>
        <p:nvPicPr>
          <p:cNvPr id="4" name="Content Placeholder 3">
            <a:extLst>
              <a:ext uri="{FF2B5EF4-FFF2-40B4-BE49-F238E27FC236}">
                <a16:creationId xmlns:a16="http://schemas.microsoft.com/office/drawing/2014/main" id="{03FA4195-3896-A54C-97DE-E5C2F2D425A0}"/>
              </a:ext>
            </a:extLst>
          </p:cNvPr>
          <p:cNvPicPr>
            <a:picLocks noGrp="1" noChangeAspect="1"/>
          </p:cNvPicPr>
          <p:nvPr>
            <p:ph idx="1"/>
          </p:nvPr>
        </p:nvPicPr>
        <p:blipFill>
          <a:blip r:embed="rId2"/>
          <a:stretch>
            <a:fillRect/>
          </a:stretch>
        </p:blipFill>
        <p:spPr>
          <a:xfrm>
            <a:off x="3053065" y="2244127"/>
            <a:ext cx="6311900" cy="2692400"/>
          </a:xfrm>
          <a:prstGeom prst="rect">
            <a:avLst/>
          </a:prstGeom>
        </p:spPr>
      </p:pic>
    </p:spTree>
    <p:extLst>
      <p:ext uri="{BB962C8B-B14F-4D97-AF65-F5344CB8AC3E}">
        <p14:creationId xmlns:p14="http://schemas.microsoft.com/office/powerpoint/2010/main" val="4009964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235CA-8EB8-9A40-AED3-FB7FCA39B1EE}"/>
              </a:ext>
            </a:extLst>
          </p:cNvPr>
          <p:cNvSpPr>
            <a:spLocks noGrp="1"/>
          </p:cNvSpPr>
          <p:nvPr>
            <p:ph type="title"/>
          </p:nvPr>
        </p:nvSpPr>
        <p:spPr/>
        <p:txBody>
          <a:bodyPr>
            <a:normAutofit/>
          </a:bodyPr>
          <a:lstStyle/>
          <a:p>
            <a:pPr algn="ctr"/>
            <a:r>
              <a:rPr lang="en-US" sz="3600" dirty="0"/>
              <a:t>Are these two graphs isomorphic to each other?</a:t>
            </a:r>
          </a:p>
        </p:txBody>
      </p:sp>
      <p:pic>
        <p:nvPicPr>
          <p:cNvPr id="4" name="Content Placeholder 3">
            <a:extLst>
              <a:ext uri="{FF2B5EF4-FFF2-40B4-BE49-F238E27FC236}">
                <a16:creationId xmlns:a16="http://schemas.microsoft.com/office/drawing/2014/main" id="{1A9A64FF-8351-7649-824C-3D7DD2CB070E}"/>
              </a:ext>
            </a:extLst>
          </p:cNvPr>
          <p:cNvPicPr>
            <a:picLocks noGrp="1" noChangeAspect="1"/>
          </p:cNvPicPr>
          <p:nvPr>
            <p:ph idx="1"/>
          </p:nvPr>
        </p:nvPicPr>
        <p:blipFill>
          <a:blip r:embed="rId2"/>
          <a:stretch>
            <a:fillRect/>
          </a:stretch>
        </p:blipFill>
        <p:spPr>
          <a:xfrm>
            <a:off x="2931559" y="1948862"/>
            <a:ext cx="7128011" cy="3630006"/>
          </a:xfrm>
          <a:prstGeom prst="rect">
            <a:avLst/>
          </a:prstGeom>
        </p:spPr>
      </p:pic>
      <p:sp>
        <p:nvSpPr>
          <p:cNvPr id="3" name="TextBox 2">
            <a:extLst>
              <a:ext uri="{FF2B5EF4-FFF2-40B4-BE49-F238E27FC236}">
                <a16:creationId xmlns:a16="http://schemas.microsoft.com/office/drawing/2014/main" id="{98A3320A-4FD2-1847-85A2-4DBEF2A4008A}"/>
              </a:ext>
            </a:extLst>
          </p:cNvPr>
          <p:cNvSpPr txBox="1"/>
          <p:nvPr/>
        </p:nvSpPr>
        <p:spPr>
          <a:xfrm>
            <a:off x="4530903" y="5117203"/>
            <a:ext cx="2272866" cy="923330"/>
          </a:xfrm>
          <a:prstGeom prst="rect">
            <a:avLst/>
          </a:prstGeom>
          <a:noFill/>
        </p:spPr>
        <p:txBody>
          <a:bodyPr wrap="none" rtlCol="0">
            <a:spAutoFit/>
          </a:bodyPr>
          <a:lstStyle/>
          <a:p>
            <a:r>
              <a:rPr lang="en-US" dirty="0"/>
              <a:t>Degree counting:</a:t>
            </a:r>
          </a:p>
          <a:p>
            <a:pPr lvl="1"/>
            <a:r>
              <a:rPr lang="en-US" dirty="0"/>
              <a:t>Left: 2, 3, 3, 3, 3</a:t>
            </a:r>
          </a:p>
          <a:p>
            <a:pPr lvl="1"/>
            <a:r>
              <a:rPr lang="en-US" dirty="0"/>
              <a:t>Right: 2, 2, 3, 3, 4</a:t>
            </a:r>
          </a:p>
        </p:txBody>
      </p:sp>
    </p:spTree>
    <p:extLst>
      <p:ext uri="{BB962C8B-B14F-4D97-AF65-F5344CB8AC3E}">
        <p14:creationId xmlns:p14="http://schemas.microsoft.com/office/powerpoint/2010/main" val="1335971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235CA-8EB8-9A40-AED3-FB7FCA39B1EE}"/>
              </a:ext>
            </a:extLst>
          </p:cNvPr>
          <p:cNvSpPr>
            <a:spLocks noGrp="1"/>
          </p:cNvSpPr>
          <p:nvPr>
            <p:ph type="title"/>
          </p:nvPr>
        </p:nvSpPr>
        <p:spPr/>
        <p:txBody>
          <a:bodyPr>
            <a:normAutofit/>
          </a:bodyPr>
          <a:lstStyle/>
          <a:p>
            <a:pPr algn="ctr"/>
            <a:r>
              <a:rPr lang="en-US" sz="3600" dirty="0"/>
              <a:t>Are these two graphs isomorphic to each other?</a:t>
            </a:r>
          </a:p>
        </p:txBody>
      </p:sp>
      <p:pic>
        <p:nvPicPr>
          <p:cNvPr id="6" name="Content Placeholder 5">
            <a:extLst>
              <a:ext uri="{FF2B5EF4-FFF2-40B4-BE49-F238E27FC236}">
                <a16:creationId xmlns:a16="http://schemas.microsoft.com/office/drawing/2014/main" id="{F10C9968-2292-FA49-A96E-7128684B5F86}"/>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45167" y="1994797"/>
            <a:ext cx="7292084" cy="3135535"/>
          </a:xfrm>
          <a:prstGeom prst="rect">
            <a:avLst/>
          </a:prstGeom>
          <a:noFill/>
          <a:ln>
            <a:noFill/>
          </a:ln>
        </p:spPr>
      </p:pic>
    </p:spTree>
    <p:extLst>
      <p:ext uri="{BB962C8B-B14F-4D97-AF65-F5344CB8AC3E}">
        <p14:creationId xmlns:p14="http://schemas.microsoft.com/office/powerpoint/2010/main" val="723828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235CA-8EB8-9A40-AED3-FB7FCA39B1EE}"/>
              </a:ext>
            </a:extLst>
          </p:cNvPr>
          <p:cNvSpPr>
            <a:spLocks noGrp="1"/>
          </p:cNvSpPr>
          <p:nvPr>
            <p:ph type="title"/>
          </p:nvPr>
        </p:nvSpPr>
        <p:spPr/>
        <p:txBody>
          <a:bodyPr>
            <a:normAutofit/>
          </a:bodyPr>
          <a:lstStyle/>
          <a:p>
            <a:pPr algn="ctr"/>
            <a:r>
              <a:rPr lang="en-US" sz="3600" dirty="0"/>
              <a:t>Are these two graphs isomorphic to each other?</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C9990443-39AF-9D48-90D6-52D82E54CE31}"/>
                  </a:ext>
                </a:extLst>
              </p14:cNvPr>
              <p14:cNvContentPartPr/>
              <p14:nvPr/>
            </p14:nvContentPartPr>
            <p14:xfrm>
              <a:off x="2226547" y="2537523"/>
              <a:ext cx="360" cy="360"/>
            </p14:xfrm>
          </p:contentPart>
        </mc:Choice>
        <mc:Fallback xmlns="">
          <p:pic>
            <p:nvPicPr>
              <p:cNvPr id="3" name="Ink 2">
                <a:extLst>
                  <a:ext uri="{FF2B5EF4-FFF2-40B4-BE49-F238E27FC236}">
                    <a16:creationId xmlns:a16="http://schemas.microsoft.com/office/drawing/2014/main" id="{C9990443-39AF-9D48-90D6-52D82E54CE31}"/>
                  </a:ext>
                </a:extLst>
              </p:cNvPr>
              <p:cNvPicPr/>
              <p:nvPr/>
            </p:nvPicPr>
            <p:blipFill>
              <a:blip r:embed="rId3"/>
              <a:stretch>
                <a:fillRect/>
              </a:stretch>
            </p:blipFill>
            <p:spPr>
              <a:xfrm>
                <a:off x="2217907" y="2528883"/>
                <a:ext cx="18000" cy="18000"/>
              </a:xfrm>
              <a:prstGeom prst="rect">
                <a:avLst/>
              </a:prstGeom>
            </p:spPr>
          </p:pic>
        </mc:Fallback>
      </mc:AlternateContent>
      <p:pic>
        <p:nvPicPr>
          <p:cNvPr id="6" name="Content Placeholder 5">
            <a:extLst>
              <a:ext uri="{FF2B5EF4-FFF2-40B4-BE49-F238E27FC236}">
                <a16:creationId xmlns:a16="http://schemas.microsoft.com/office/drawing/2014/main" id="{13C71418-C4D4-044A-B766-AD90B1C9C81C}"/>
              </a:ext>
            </a:extLst>
          </p:cNvPr>
          <p:cNvPicPr>
            <a:picLocks noGrp="1" noChangeAspect="1"/>
          </p:cNvPicPr>
          <p:nvPr>
            <p:ph idx="1"/>
          </p:nvPr>
        </p:nvPicPr>
        <p:blipFill>
          <a:blip r:embed="rId4"/>
          <a:stretch>
            <a:fillRect/>
          </a:stretch>
        </p:blipFill>
        <p:spPr>
          <a:xfrm>
            <a:off x="2498759" y="1807182"/>
            <a:ext cx="6203451" cy="3243635"/>
          </a:xfrm>
          <a:prstGeom prst="rect">
            <a:avLst/>
          </a:prstGeom>
        </p:spPr>
      </p:pic>
    </p:spTree>
    <p:extLst>
      <p:ext uri="{BB962C8B-B14F-4D97-AF65-F5344CB8AC3E}">
        <p14:creationId xmlns:p14="http://schemas.microsoft.com/office/powerpoint/2010/main" val="30849452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235CA-8EB8-9A40-AED3-FB7FCA39B1EE}"/>
              </a:ext>
            </a:extLst>
          </p:cNvPr>
          <p:cNvSpPr>
            <a:spLocks noGrp="1"/>
          </p:cNvSpPr>
          <p:nvPr>
            <p:ph type="title"/>
          </p:nvPr>
        </p:nvSpPr>
        <p:spPr/>
        <p:txBody>
          <a:bodyPr>
            <a:normAutofit/>
          </a:bodyPr>
          <a:lstStyle/>
          <a:p>
            <a:pPr algn="ctr"/>
            <a:r>
              <a:rPr lang="en-US" sz="3600" dirty="0"/>
              <a:t>Are these two graphs isomorphic to each other?</a:t>
            </a:r>
          </a:p>
        </p:txBody>
      </p:sp>
      <p:pic>
        <p:nvPicPr>
          <p:cNvPr id="5" name="Content Placeholder 4">
            <a:extLst>
              <a:ext uri="{FF2B5EF4-FFF2-40B4-BE49-F238E27FC236}">
                <a16:creationId xmlns:a16="http://schemas.microsoft.com/office/drawing/2014/main" id="{A53AD815-F010-804D-8B73-B1C2D542E713}"/>
              </a:ext>
            </a:extLst>
          </p:cNvPr>
          <p:cNvPicPr>
            <a:picLocks noGrp="1" noChangeAspect="1"/>
          </p:cNvPicPr>
          <p:nvPr>
            <p:ph idx="1"/>
          </p:nvPr>
        </p:nvPicPr>
        <p:blipFill>
          <a:blip r:embed="rId2"/>
          <a:stretch>
            <a:fillRect/>
          </a:stretch>
        </p:blipFill>
        <p:spPr>
          <a:xfrm>
            <a:off x="3251595" y="1952312"/>
            <a:ext cx="5688809" cy="3431345"/>
          </a:xfrm>
          <a:prstGeom prst="rect">
            <a:avLst/>
          </a:prstGeom>
        </p:spPr>
      </p:pic>
    </p:spTree>
    <p:extLst>
      <p:ext uri="{BB962C8B-B14F-4D97-AF65-F5344CB8AC3E}">
        <p14:creationId xmlns:p14="http://schemas.microsoft.com/office/powerpoint/2010/main" val="26534049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235CA-8EB8-9A40-AED3-FB7FCA39B1EE}"/>
              </a:ext>
            </a:extLst>
          </p:cNvPr>
          <p:cNvSpPr>
            <a:spLocks noGrp="1"/>
          </p:cNvSpPr>
          <p:nvPr>
            <p:ph type="title"/>
          </p:nvPr>
        </p:nvSpPr>
        <p:spPr/>
        <p:txBody>
          <a:bodyPr>
            <a:normAutofit/>
          </a:bodyPr>
          <a:lstStyle/>
          <a:p>
            <a:pPr algn="ctr"/>
            <a:r>
              <a:rPr lang="en-US" sz="3600" dirty="0"/>
              <a:t>Are these two graphs isomorphic to each other?</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C9990443-39AF-9D48-90D6-52D82E54CE31}"/>
                  </a:ext>
                </a:extLst>
              </p14:cNvPr>
              <p14:cNvContentPartPr/>
              <p14:nvPr/>
            </p14:nvContentPartPr>
            <p14:xfrm>
              <a:off x="2226547" y="2537523"/>
              <a:ext cx="360" cy="360"/>
            </p14:xfrm>
          </p:contentPart>
        </mc:Choice>
        <mc:Fallback xmlns="">
          <p:pic>
            <p:nvPicPr>
              <p:cNvPr id="3" name="Ink 2">
                <a:extLst>
                  <a:ext uri="{FF2B5EF4-FFF2-40B4-BE49-F238E27FC236}">
                    <a16:creationId xmlns:a16="http://schemas.microsoft.com/office/drawing/2014/main" id="{C9990443-39AF-9D48-90D6-52D82E54CE31}"/>
                  </a:ext>
                </a:extLst>
              </p:cNvPr>
              <p:cNvPicPr/>
              <p:nvPr/>
            </p:nvPicPr>
            <p:blipFill>
              <a:blip r:embed="rId3"/>
              <a:stretch>
                <a:fillRect/>
              </a:stretch>
            </p:blipFill>
            <p:spPr>
              <a:xfrm>
                <a:off x="2217907" y="2528883"/>
                <a:ext cx="18000" cy="18000"/>
              </a:xfrm>
              <a:prstGeom prst="rect">
                <a:avLst/>
              </a:prstGeom>
            </p:spPr>
          </p:pic>
        </mc:Fallback>
      </mc:AlternateContent>
      <p:pic>
        <p:nvPicPr>
          <p:cNvPr id="4" name="Picture 3">
            <a:extLst>
              <a:ext uri="{FF2B5EF4-FFF2-40B4-BE49-F238E27FC236}">
                <a16:creationId xmlns:a16="http://schemas.microsoft.com/office/drawing/2014/main" id="{2FD6102B-2ABF-3548-AF53-B90F77C1D93D}"/>
              </a:ext>
            </a:extLst>
          </p:cNvPr>
          <p:cNvPicPr>
            <a:picLocks noChangeAspect="1"/>
          </p:cNvPicPr>
          <p:nvPr/>
        </p:nvPicPr>
        <p:blipFill>
          <a:blip r:embed="rId4"/>
          <a:stretch>
            <a:fillRect/>
          </a:stretch>
        </p:blipFill>
        <p:spPr>
          <a:xfrm>
            <a:off x="3336246" y="2126180"/>
            <a:ext cx="5704212" cy="2852106"/>
          </a:xfrm>
          <a:prstGeom prst="rect">
            <a:avLst/>
          </a:prstGeom>
        </p:spPr>
      </p:pic>
    </p:spTree>
    <p:extLst>
      <p:ext uri="{BB962C8B-B14F-4D97-AF65-F5344CB8AC3E}">
        <p14:creationId xmlns:p14="http://schemas.microsoft.com/office/powerpoint/2010/main" val="127037546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634</Words>
  <Application>Microsoft Office PowerPoint</Application>
  <PresentationFormat>宽屏</PresentationFormat>
  <Paragraphs>104</Paragraphs>
  <Slides>27</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27</vt:i4>
      </vt:variant>
    </vt:vector>
  </HeadingPairs>
  <TitlesOfParts>
    <vt:vector size="32" baseType="lpstr">
      <vt:lpstr>等线</vt:lpstr>
      <vt:lpstr>等线 Light</vt:lpstr>
      <vt:lpstr>Arial</vt:lpstr>
      <vt:lpstr>Cambria Math</vt:lpstr>
      <vt:lpstr>Office 主题​​</vt:lpstr>
      <vt:lpstr>AMS-301</vt:lpstr>
      <vt:lpstr>Introduction</vt:lpstr>
      <vt:lpstr>Two Major Parts</vt:lpstr>
      <vt:lpstr>Mathematics and Scientific Applications</vt:lpstr>
      <vt:lpstr>Graph Theory</vt:lpstr>
      <vt:lpstr>Variation of graphs</vt:lpstr>
      <vt:lpstr>Complete graph</vt:lpstr>
      <vt:lpstr>Complete bipartite graph</vt:lpstr>
      <vt:lpstr>Complement of a graph</vt:lpstr>
      <vt:lpstr>Subgraph</vt:lpstr>
      <vt:lpstr>Isomorphism</vt:lpstr>
      <vt:lpstr>Isomorphism</vt:lpstr>
      <vt:lpstr>Degree counting, a necessary condition</vt:lpstr>
      <vt:lpstr>Application of symmetry</vt:lpstr>
      <vt:lpstr>Applying complements</vt:lpstr>
      <vt:lpstr>The four color theorem</vt:lpstr>
      <vt:lpstr>PowerPoint 演示文稿</vt:lpstr>
      <vt:lpstr>The four outstanding mathematics problems</vt:lpstr>
      <vt:lpstr>Summary of previous class</vt:lpstr>
      <vt:lpstr>Are these two graphs isomorphic to each other?</vt:lpstr>
      <vt:lpstr>Are these two graphs isomorphic to each other?</vt:lpstr>
      <vt:lpstr>Are these two graphs isomorphic to each other?</vt:lpstr>
      <vt:lpstr>Are these two graphs isomorphic to each other?</vt:lpstr>
      <vt:lpstr>Are these two graphs isomorphic to each other?</vt:lpstr>
      <vt:lpstr>Are these two graphs isomorphic to each other?</vt:lpstr>
      <vt:lpstr>Are these two graphs isomorphic to each other?</vt:lpstr>
      <vt:lpstr>Are these two graphs isomorphic to each other?</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AMS-301</dc:title>
  <dc:creator>xing</dc:creator>
  <cp:lastModifiedBy>xing</cp:lastModifiedBy>
  <cp:revision>1</cp:revision>
  <dcterms:created xsi:type="dcterms:W3CDTF">2025-09-09T00:46:14Z</dcterms:created>
  <dcterms:modified xsi:type="dcterms:W3CDTF">2025-09-09T00:46:23Z</dcterms:modified>
</cp:coreProperties>
</file>