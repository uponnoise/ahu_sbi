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CB118-46E9-4059-9604-AC6B07E34EF3}" type="datetimeFigureOut">
              <a:rPr lang="zh-CN" altLang="en-US" smtClean="0"/>
              <a:t>2025/11/16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33CA29-11CA-4296-8F5D-8E2505B903F8}" type="slidenum">
              <a:rPr lang="zh-CN" altLang="en-US" smtClean="0"/>
              <a:t>‹#›</a:t>
            </a:fld>
            <a:endParaRPr lang="zh-CN" altLang="en-US"/>
          </a:p>
        </p:txBody>
      </p:sp>
    </p:spTree>
    <p:extLst>
      <p:ext uri="{BB962C8B-B14F-4D97-AF65-F5344CB8AC3E}">
        <p14:creationId xmlns:p14="http://schemas.microsoft.com/office/powerpoint/2010/main" val="4078540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29D3213-EA3F-7F42-9A10-D8EB162AFB62}" type="slidenum">
              <a:rPr lang="en-US" smtClean="0"/>
              <a:t>16</a:t>
            </a:fld>
            <a:endParaRPr lang="en-US"/>
          </a:p>
        </p:txBody>
      </p:sp>
    </p:spTree>
    <p:extLst>
      <p:ext uri="{BB962C8B-B14F-4D97-AF65-F5344CB8AC3E}">
        <p14:creationId xmlns:p14="http://schemas.microsoft.com/office/powerpoint/2010/main" val="3993174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617270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2273295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3082975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1485738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3894951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120633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2312197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2017495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405841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1065679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0920B12-C30F-4E7B-90A3-5AB8D3135934}" type="datetimeFigureOut">
              <a:rPr lang="zh-CN" altLang="en-US" smtClean="0"/>
              <a:t>2025/11/16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330914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20B12-C30F-4E7B-90A3-5AB8D3135934}" type="datetimeFigureOut">
              <a:rPr lang="zh-CN" altLang="en-US" smtClean="0"/>
              <a:t>2025/11/16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678EE4-88D3-44F3-A0F5-ED780B50E44B}" type="slidenum">
              <a:rPr lang="zh-CN" altLang="en-US" smtClean="0"/>
              <a:t>‹#›</a:t>
            </a:fld>
            <a:endParaRPr lang="zh-CN" altLang="en-US"/>
          </a:p>
        </p:txBody>
      </p:sp>
    </p:spTree>
    <p:extLst>
      <p:ext uri="{BB962C8B-B14F-4D97-AF65-F5344CB8AC3E}">
        <p14:creationId xmlns:p14="http://schemas.microsoft.com/office/powerpoint/2010/main" val="3128084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8.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6.tif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2619D-EDD0-1844-A74F-31FDA99DDCA7}"/>
              </a:ext>
            </a:extLst>
          </p:cNvPr>
          <p:cNvSpPr>
            <a:spLocks noGrp="1"/>
          </p:cNvSpPr>
          <p:nvPr>
            <p:ph type="title"/>
          </p:nvPr>
        </p:nvSpPr>
        <p:spPr>
          <a:xfrm>
            <a:off x="838200" y="190465"/>
            <a:ext cx="10515600" cy="1325563"/>
          </a:xfrm>
        </p:spPr>
        <p:txBody>
          <a:bodyPr/>
          <a:lstStyle/>
          <a:p>
            <a:pPr algn="ctr"/>
            <a:r>
              <a:rPr lang="en-US" b="1" dirty="0"/>
              <a:t>The separation bar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D366FF-7016-C444-9332-8AE762D78152}"/>
                  </a:ext>
                </a:extLst>
              </p:cNvPr>
              <p:cNvSpPr>
                <a:spLocks noGrp="1"/>
              </p:cNvSpPr>
              <p:nvPr>
                <p:ph idx="1"/>
              </p:nvPr>
            </p:nvSpPr>
            <p:spPr>
              <a:xfrm>
                <a:off x="930667" y="1253331"/>
                <a:ext cx="10515600" cy="5322130"/>
              </a:xfrm>
            </p:spPr>
            <p:txBody>
              <a:bodyPr>
                <a:normAutofit fontScale="92500" lnSpcReduction="10000"/>
              </a:bodyPr>
              <a:lstStyle/>
              <a:p>
                <a:r>
                  <a:rPr lang="en-US" dirty="0"/>
                  <a:t>For selection with repetition problem, we create ”rooms” </a:t>
                </a:r>
              </a:p>
              <a:p>
                <a:r>
                  <a:rPr lang="en-US" dirty="0"/>
                  <a:t>Each room contains the same type</a:t>
                </a:r>
              </a:p>
              <a:p>
                <a:r>
                  <a:rPr lang="en-US" dirty="0"/>
                  <a:t>Rooms are separated by “separation bars”</a:t>
                </a:r>
              </a:p>
              <a:p>
                <a:r>
                  <a:rPr lang="en-US" dirty="0"/>
                  <a:t>For </a:t>
                </a:r>
                <a14:m>
                  <m:oMath xmlns:m="http://schemas.openxmlformats.org/officeDocument/2006/math">
                    <m:r>
                      <a:rPr lang="en-US" b="0" i="1" smtClean="0">
                        <a:latin typeface="Cambria Math" panose="02040503050406030204" pitchFamily="18" charset="0"/>
                      </a:rPr>
                      <m:t>𝑛</m:t>
                    </m:r>
                  </m:oMath>
                </a14:m>
                <a:r>
                  <a:rPr lang="en-US" dirty="0"/>
                  <a:t> rooms, we need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separation bars</a:t>
                </a:r>
              </a:p>
              <a:p>
                <a:r>
                  <a:rPr lang="en-US" dirty="0"/>
                  <a:t>Each item of a kind is marked by “</a:t>
                </a:r>
                <a14:m>
                  <m:oMath xmlns:m="http://schemas.openxmlformats.org/officeDocument/2006/math">
                    <m:r>
                      <a:rPr lang="en-US" b="0" i="1" smtClean="0">
                        <a:latin typeface="Cambria Math" panose="02040503050406030204" pitchFamily="18" charset="0"/>
                      </a:rPr>
                      <m:t>𝑥</m:t>
                    </m:r>
                  </m:oMath>
                </a14:m>
                <a:r>
                  <a:rPr lang="en-US" dirty="0"/>
                  <a:t>” of sitting in the corresponding room, there are total of </a:t>
                </a:r>
                <a14:m>
                  <m:oMath xmlns:m="http://schemas.openxmlformats.org/officeDocument/2006/math">
                    <m:r>
                      <a:rPr lang="en-US" b="0" i="1" smtClean="0">
                        <a:latin typeface="Cambria Math" panose="02040503050406030204" pitchFamily="18" charset="0"/>
                      </a:rPr>
                      <m:t>𝑟</m:t>
                    </m:r>
                  </m:oMath>
                </a14:m>
                <a:r>
                  <a:rPr lang="en-US" dirty="0"/>
                  <a:t> items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r>
                  <a:rPr lang="en-US" dirty="0"/>
                  <a:t>)</a:t>
                </a:r>
              </a:p>
              <a:p>
                <a:r>
                  <a:rPr lang="en-US" dirty="0"/>
                  <a:t>The counting is the arrangement among separations bars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endParaRPr lang="en-US" dirty="0"/>
              </a:p>
              <a:p>
                <a:r>
                  <a:rPr lang="en-US" dirty="0"/>
                  <a:t>Total to arrange: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number of separation bars: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number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r>
                  <a:rPr lang="en-US" dirty="0"/>
                  <a:t>: </a:t>
                </a:r>
                <a14:m>
                  <m:oMath xmlns:m="http://schemas.openxmlformats.org/officeDocument/2006/math">
                    <m:r>
                      <a:rPr lang="en-US" b="0" i="1" smtClean="0">
                        <a:latin typeface="Cambria Math" panose="02040503050406030204" pitchFamily="18" charset="0"/>
                      </a:rPr>
                      <m:t>𝑟</m:t>
                    </m:r>
                  </m:oMath>
                </a14:m>
                <a:endParaRPr lang="en-US" dirty="0"/>
              </a:p>
              <a:p>
                <a:r>
                  <a:rPr lang="en-US" dirty="0"/>
                  <a:t>We have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𝑟</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en>
                      </m:f>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DD366FF-7016-C444-9332-8AE762D78152}"/>
                  </a:ext>
                </a:extLst>
              </p:cNvPr>
              <p:cNvSpPr>
                <a:spLocks noGrp="1" noRot="1" noChangeAspect="1" noMove="1" noResize="1" noEditPoints="1" noAdjustHandles="1" noChangeArrowheads="1" noChangeShapeType="1" noTextEdit="1"/>
              </p:cNvSpPr>
              <p:nvPr>
                <p:ph idx="1"/>
              </p:nvPr>
            </p:nvSpPr>
            <p:spPr>
              <a:xfrm>
                <a:off x="930667" y="1253331"/>
                <a:ext cx="10515600" cy="5322130"/>
              </a:xfrm>
              <a:blipFill>
                <a:blip r:embed="rId2"/>
                <a:stretch>
                  <a:fillRect l="-844" t="-2143" b="-238"/>
                </a:stretch>
              </a:blipFill>
            </p:spPr>
            <p:txBody>
              <a:bodyPr/>
              <a:lstStyle/>
              <a:p>
                <a:r>
                  <a:rPr lang="en-US">
                    <a:noFill/>
                  </a:rPr>
                  <a:t> </a:t>
                </a:r>
              </a:p>
            </p:txBody>
          </p:sp>
        </mc:Fallback>
      </mc:AlternateContent>
    </p:spTree>
    <p:extLst>
      <p:ext uri="{BB962C8B-B14F-4D97-AF65-F5344CB8AC3E}">
        <p14:creationId xmlns:p14="http://schemas.microsoft.com/office/powerpoint/2010/main" val="1367877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DC1F-849A-4245-87AD-B404D8757F88}"/>
              </a:ext>
            </a:extLst>
          </p:cNvPr>
          <p:cNvSpPr>
            <a:spLocks noGrp="1"/>
          </p:cNvSpPr>
          <p:nvPr>
            <p:ph type="title"/>
          </p:nvPr>
        </p:nvSpPr>
        <p:spPr>
          <a:xfrm>
            <a:off x="838200" y="365125"/>
            <a:ext cx="10515600" cy="795855"/>
          </a:xfrm>
        </p:spPr>
        <p:txBody>
          <a:bodyPr>
            <a:normAutofit/>
          </a:bodyPr>
          <a:lstStyle/>
          <a:p>
            <a:r>
              <a:rPr lang="en-US" sz="3200" b="1" dirty="0"/>
              <a:t>Summary of counting with repetitions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29A73B-163C-7344-B1BB-EEF6A310A472}"/>
                  </a:ext>
                </a:extLst>
              </p:cNvPr>
              <p:cNvSpPr>
                <a:spLocks noGrp="1"/>
              </p:cNvSpPr>
              <p:nvPr>
                <p:ph idx="1"/>
              </p:nvPr>
            </p:nvSpPr>
            <p:spPr>
              <a:xfrm>
                <a:off x="838200" y="1160980"/>
                <a:ext cx="10515600" cy="5015983"/>
              </a:xfrm>
            </p:spPr>
            <p:txBody>
              <a:bodyPr>
                <a:normAutofit fontScale="92500" lnSpcReduction="10000"/>
              </a:bodyPr>
              <a:lstStyle/>
              <a:p>
                <a:r>
                  <a:rPr lang="en-US" dirty="0"/>
                  <a:t>Arrangement with repetition: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1123452224</m:t>
                      </m:r>
                    </m:oMath>
                  </m:oMathPara>
                </a14:m>
                <a:endParaRPr lang="en-US" dirty="0"/>
              </a:p>
              <a:p>
                <a:pPr lvl="1"/>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𝑟</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5</m:t>
                        </m:r>
                      </m:e>
                      <m:sup>
                        <m:r>
                          <a:rPr lang="en-US" b="0" i="1" smtClean="0">
                            <a:latin typeface="Cambria Math" panose="02040503050406030204" pitchFamily="18" charset="0"/>
                          </a:rPr>
                          <m:t>10</m:t>
                        </m:r>
                      </m:sup>
                    </m:sSup>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(5)</m:t>
                    </m:r>
                  </m:oMath>
                </a14:m>
                <a:r>
                  <a:rPr lang="en-US" dirty="0"/>
                  <a:t> number and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(10)</m:t>
                    </m:r>
                  </m:oMath>
                </a14:m>
                <a:r>
                  <a:rPr lang="en-US" dirty="0"/>
                  <a:t> positions, repetition allowed</a:t>
                </a:r>
              </a:p>
              <a:p>
                <a:r>
                  <a:rPr lang="en-US" dirty="0"/>
                  <a:t>Arrangement with subgroups: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1123452224</m:t>
                      </m:r>
                    </m:oMath>
                  </m:oMathPara>
                </a14:m>
                <a:endParaRPr lang="en-US" dirty="0"/>
              </a:p>
              <a:p>
                <a:pPr lvl="1"/>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5</m:t>
                            </m:r>
                          </m:sub>
                        </m:sSub>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2!4!1!2!1!</m:t>
                        </m:r>
                      </m:den>
                    </m:f>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=2,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=4,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4</m:t>
                        </m:r>
                      </m:sub>
                    </m:sSub>
                    <m:r>
                      <a:rPr lang="en-US" b="0" i="1" smtClean="0">
                        <a:latin typeface="Cambria Math" panose="02040503050406030204" pitchFamily="18" charset="0"/>
                      </a:rPr>
                      <m:t>=2,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5</m:t>
                        </m:r>
                      </m:sub>
                    </m:sSub>
                    <m:r>
                      <a:rPr lang="en-US" b="0" i="1" smtClean="0">
                        <a:latin typeface="Cambria Math" panose="02040503050406030204" pitchFamily="18" charset="0"/>
                      </a:rPr>
                      <m:t>=1</m:t>
                    </m:r>
                    <m:r>
                      <a:rPr lang="en-US" b="0" i="0" smtClean="0">
                        <a:latin typeface="Cambria Math" panose="02040503050406030204" pitchFamily="18" charset="0"/>
                      </a:rPr>
                      <m:t>. </m:t>
                    </m:r>
                  </m:oMath>
                </a14:m>
                <a:endParaRPr lang="en-US" dirty="0"/>
              </a:p>
              <a:p>
                <a:r>
                  <a:rPr lang="en-US" dirty="0"/>
                  <a:t>Selection with repetition:</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111</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22</m:t>
                          </m:r>
                        </m:e>
                      </m:d>
                      <m:r>
                        <a:rPr lang="en-US" b="0" i="1" smtClean="0">
                          <a:latin typeface="Cambria Math" panose="02040503050406030204" pitchFamily="18" charset="0"/>
                        </a:rPr>
                        <m:t>3|44|55</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𝑥𝑥</m:t>
                      </m:r>
                    </m:oMath>
                  </m:oMathPara>
                </a14:m>
                <a:endParaRPr lang="en-US" dirty="0"/>
              </a:p>
              <a:p>
                <a:pPr lvl="1"/>
                <a:r>
                  <a:rPr lang="en-US" dirty="0"/>
                  <a:t>Total of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=10</m:t>
                    </m:r>
                  </m:oMath>
                </a14:m>
                <a:r>
                  <a:rPr lang="en-US" dirty="0"/>
                  <a:t> items to be selected from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m:t>
                    </m:r>
                  </m:oMath>
                </a14:m>
                <a:r>
                  <a:rPr lang="en-US" dirty="0"/>
                  <a:t> kinds</a:t>
                </a:r>
              </a:p>
              <a:p>
                <a:pPr lvl="1"/>
                <a:r>
                  <a:rPr lang="en-US" dirty="0"/>
                  <a:t>Using ”separation bar” method. </a:t>
                </a:r>
                <a14:m>
                  <m:oMath xmlns:m="http://schemas.openxmlformats.org/officeDocument/2006/math">
                    <m:r>
                      <a:rPr lang="en-US" b="0" i="1" smtClean="0">
                        <a:latin typeface="Cambria Math" panose="02040503050406030204" pitchFamily="18" charset="0"/>
                      </a:rPr>
                      <m:t>𝑛</m:t>
                    </m:r>
                  </m:oMath>
                </a14:m>
                <a:r>
                  <a:rPr lang="en-US" dirty="0"/>
                  <a:t> kind requires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separations bars</a:t>
                </a:r>
              </a:p>
              <a:p>
                <a:pPr lvl="1"/>
                <a:r>
                  <a:rPr lang="en-US" dirty="0"/>
                  <a:t>The counting is the arrangement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𝑠</m:t>
                    </m:r>
                  </m:oMath>
                </a14:m>
                <a:r>
                  <a:rPr lang="en-US" dirty="0"/>
                  <a:t> and separation bars:</a:t>
                </a:r>
              </a:p>
              <a:p>
                <a:pPr marL="457200" lvl="1" indent="0" algn="ctr">
                  <a:buNone/>
                </a:pPr>
                <a:r>
                  <a:rPr lang="en-US" dirty="0"/>
                  <a:t> </a:t>
                </a:r>
                <a14:m>
                  <m:oMath xmlns:m="http://schemas.openxmlformats.org/officeDocument/2006/math">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𝑟</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D29A73B-163C-7344-B1BB-EEF6A310A472}"/>
                  </a:ext>
                </a:extLst>
              </p:cNvPr>
              <p:cNvSpPr>
                <a:spLocks noGrp="1" noRot="1" noChangeAspect="1" noMove="1" noResize="1" noEditPoints="1" noAdjustHandles="1" noChangeArrowheads="1" noChangeShapeType="1" noTextEdit="1"/>
              </p:cNvSpPr>
              <p:nvPr>
                <p:ph idx="1"/>
              </p:nvPr>
            </p:nvSpPr>
            <p:spPr>
              <a:xfrm>
                <a:off x="838200" y="1160980"/>
                <a:ext cx="10515600" cy="5015983"/>
              </a:xfrm>
              <a:blipFill>
                <a:blip r:embed="rId2"/>
                <a:stretch>
                  <a:fillRect l="-844" t="-2020"/>
                </a:stretch>
              </a:blipFill>
            </p:spPr>
            <p:txBody>
              <a:bodyPr/>
              <a:lstStyle/>
              <a:p>
                <a:r>
                  <a:rPr lang="en-US">
                    <a:noFill/>
                  </a:rPr>
                  <a:t> </a:t>
                </a:r>
              </a:p>
            </p:txBody>
          </p:sp>
        </mc:Fallback>
      </mc:AlternateContent>
    </p:spTree>
    <p:extLst>
      <p:ext uri="{BB962C8B-B14F-4D97-AF65-F5344CB8AC3E}">
        <p14:creationId xmlns:p14="http://schemas.microsoft.com/office/powerpoint/2010/main" val="1105935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a:extLst>
              <a:ext uri="{FF2B5EF4-FFF2-40B4-BE49-F238E27FC236}">
                <a16:creationId xmlns:a16="http://schemas.microsoft.com/office/drawing/2014/main" id="{7FD8F4E2-7DD1-9844-905D-47B1D751D65F}"/>
              </a:ext>
            </a:extLst>
          </p:cNvPr>
          <p:cNvSpPr>
            <a:spLocks noGrp="1" noChangeArrowheads="1"/>
          </p:cNvSpPr>
          <p:nvPr>
            <p:ph type="title"/>
          </p:nvPr>
        </p:nvSpPr>
        <p:spPr>
          <a:xfrm>
            <a:off x="2225675" y="412750"/>
            <a:ext cx="7772400" cy="1143000"/>
          </a:xfrm>
        </p:spPr>
        <p:txBody>
          <a:bodyPr/>
          <a:lstStyle/>
          <a:p>
            <a:pPr eaLnBrk="1" hangingPunct="1"/>
            <a:r>
              <a:rPr lang="en-US" altLang="en-US">
                <a:ea typeface="ＭＳ Ｐゴシック" panose="020B0600070205080204" pitchFamily="34" charset="-128"/>
              </a:rPr>
              <a:t>Basic Models for Distributions</a:t>
            </a:r>
          </a:p>
        </p:txBody>
      </p:sp>
      <mc:AlternateContent xmlns:mc="http://schemas.openxmlformats.org/markup-compatibility/2006" xmlns:a14="http://schemas.microsoft.com/office/drawing/2010/main">
        <mc:Choice Requires="a14">
          <p:sp>
            <p:nvSpPr>
              <p:cNvPr id="17413" name="Rectangle 3">
                <a:extLst>
                  <a:ext uri="{FF2B5EF4-FFF2-40B4-BE49-F238E27FC236}">
                    <a16:creationId xmlns:a16="http://schemas.microsoft.com/office/drawing/2014/main" id="{9A729AE0-3FFE-F546-966B-5226B9CD1A2B}"/>
                  </a:ext>
                </a:extLst>
              </p:cNvPr>
              <p:cNvSpPr>
                <a:spLocks noGrp="1" noChangeArrowheads="1"/>
              </p:cNvSpPr>
              <p:nvPr>
                <p:ph type="body" idx="1"/>
              </p:nvPr>
            </p:nvSpPr>
            <p:spPr>
              <a:xfrm>
                <a:off x="2286000" y="1371600"/>
                <a:ext cx="7772400" cy="4648200"/>
              </a:xfrm>
            </p:spPr>
            <p:txBody>
              <a:bodyPr/>
              <a:lstStyle/>
              <a:p>
                <a:pPr eaLnBrk="1" hangingPunct="1"/>
                <a:r>
                  <a:rPr lang="en-US" altLang="en-US" sz="3600" dirty="0">
                    <a:ea typeface="ＭＳ Ｐゴシック" panose="020B0600070205080204" pitchFamily="34" charset="-128"/>
                  </a:rPr>
                  <a:t>Distinct Objects:</a:t>
                </a:r>
              </a:p>
              <a:p>
                <a:pPr eaLnBrk="1" hangingPunct="1">
                  <a:buFontTx/>
                  <a:buNone/>
                </a:pPr>
                <a:r>
                  <a:rPr lang="en-US" altLang="en-US" dirty="0">
                    <a:ea typeface="ＭＳ Ｐゴシック" panose="020B0600070205080204" pitchFamily="34" charset="-128"/>
                  </a:rPr>
                  <a:t>		</a:t>
                </a:r>
                <a:r>
                  <a:rPr lang="en-US" altLang="en-US" sz="2000" dirty="0">
                    <a:ea typeface="ＭＳ Ｐゴシック" panose="020B0600070205080204" pitchFamily="34" charset="-128"/>
                  </a:rPr>
                  <a:t>The process of distributing </a:t>
                </a:r>
                <a:r>
                  <a:rPr lang="en-US" altLang="en-US" sz="2000" i="1" dirty="0">
                    <a:ea typeface="ＭＳ Ｐゴシック" panose="020B0600070205080204" pitchFamily="34" charset="-128"/>
                  </a:rPr>
                  <a:t>r</a:t>
                </a:r>
                <a:r>
                  <a:rPr lang="en-US" altLang="en-US" sz="2000" dirty="0">
                    <a:ea typeface="ＭＳ Ｐゴシック" panose="020B0600070205080204" pitchFamily="34" charset="-128"/>
                  </a:rPr>
                  <a:t> distinct objects into </a:t>
                </a:r>
                <a:r>
                  <a:rPr lang="en-US" altLang="en-US" sz="2000" i="1" dirty="0">
                    <a:ea typeface="ＭＳ Ｐゴシック" panose="020B0600070205080204" pitchFamily="34" charset="-128"/>
                  </a:rPr>
                  <a:t>n</a:t>
                </a:r>
                <a:r>
                  <a:rPr lang="en-US" altLang="en-US" sz="2000" dirty="0">
                    <a:ea typeface="ＭＳ Ｐゴシック" panose="020B0600070205080204" pitchFamily="34" charset="-128"/>
                  </a:rPr>
                  <a:t> different boxes is equivalent to putting the distinct objects in a row and then stamping one of the </a:t>
                </a:r>
                <a14:m>
                  <m:oMath xmlns:m="http://schemas.openxmlformats.org/officeDocument/2006/math">
                    <m:r>
                      <a:rPr lang="en-US" altLang="en-US" sz="2000" b="0" i="1" smtClean="0">
                        <a:latin typeface="Cambria Math" panose="02040503050406030204" pitchFamily="18" charset="0"/>
                        <a:ea typeface="ＭＳ Ｐゴシック" panose="020B0600070205080204" pitchFamily="34" charset="-128"/>
                      </a:rPr>
                      <m:t>𝑛</m:t>
                    </m:r>
                  </m:oMath>
                </a14:m>
                <a:r>
                  <a:rPr lang="en-US" altLang="en-US" sz="2000" dirty="0">
                    <a:ea typeface="ＭＳ Ｐゴシック" panose="020B0600070205080204" pitchFamily="34" charset="-128"/>
                  </a:rPr>
                  <a:t> different box names on each object.</a:t>
                </a:r>
              </a:p>
              <a:p>
                <a:pPr eaLnBrk="1" hangingPunct="1">
                  <a:buFontTx/>
                  <a:buNone/>
                </a:pPr>
                <a:r>
                  <a:rPr lang="en-US" altLang="en-US" sz="2000" dirty="0">
                    <a:ea typeface="ＭＳ Ｐゴシック" panose="020B0600070205080204" pitchFamily="34" charset="-128"/>
                  </a:rPr>
                  <a:t>		Thus there are </a:t>
                </a:r>
                <a14:m>
                  <m:oMath xmlns:m="http://schemas.openxmlformats.org/officeDocument/2006/math">
                    <m:r>
                      <a:rPr lang="en-US" altLang="en-US" sz="2000" b="0" i="1" smtClean="0">
                        <a:latin typeface="Cambria Math" panose="02040503050406030204" pitchFamily="18" charset="0"/>
                        <a:ea typeface="ＭＳ Ｐゴシック" panose="020B0600070205080204" pitchFamily="34" charset="-128"/>
                      </a:rPr>
                      <m:t>𝑛</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sSup>
                      <m:sSupPr>
                        <m:ctrlPr>
                          <a:rPr lang="en-US" altLang="en-US" sz="2000" b="0" i="1" smtClean="0">
                            <a:latin typeface="Cambria Math" panose="02040503050406030204" pitchFamily="18" charset="0"/>
                            <a:ea typeface="Cambria Math" panose="02040503050406030204" pitchFamily="18" charset="0"/>
                          </a:rPr>
                        </m:ctrlPr>
                      </m:sSupPr>
                      <m:e>
                        <m:r>
                          <a:rPr lang="en-US" altLang="en-US" sz="2000" b="0" i="1" smtClean="0">
                            <a:latin typeface="Cambria Math" panose="02040503050406030204" pitchFamily="18" charset="0"/>
                            <a:ea typeface="Cambria Math" panose="02040503050406030204" pitchFamily="18" charset="0"/>
                          </a:rPr>
                          <m:t>𝑛</m:t>
                        </m:r>
                      </m:e>
                      <m:sup>
                        <m:r>
                          <a:rPr lang="en-US" altLang="en-US" sz="2000" b="0" i="1" smtClean="0">
                            <a:latin typeface="Cambria Math" panose="02040503050406030204" pitchFamily="18" charset="0"/>
                            <a:ea typeface="Cambria Math" panose="02040503050406030204" pitchFamily="18" charset="0"/>
                          </a:rPr>
                          <m:t>𝑟</m:t>
                        </m:r>
                      </m:sup>
                    </m:sSup>
                  </m:oMath>
                </a14:m>
                <a:r>
                  <a:rPr lang="en-US" altLang="en-US" sz="2000" i="1" baseline="30000" dirty="0">
                    <a:ea typeface="ＭＳ Ｐゴシック" panose="020B0600070205080204" pitchFamily="34" charset="-128"/>
                  </a:rPr>
                  <a:t> </a:t>
                </a:r>
                <a:r>
                  <a:rPr lang="en-US" altLang="en-US" sz="2000" dirty="0">
                    <a:ea typeface="ＭＳ Ｐゴシック" panose="020B0600070205080204" pitchFamily="34" charset="-128"/>
                  </a:rPr>
                  <a:t>distributions of the </a:t>
                </a:r>
                <a:r>
                  <a:rPr lang="en-US" altLang="en-US" sz="2000" i="1" dirty="0">
                    <a:ea typeface="ＭＳ Ｐゴシック" panose="020B0600070205080204" pitchFamily="34" charset="-128"/>
                  </a:rPr>
                  <a:t>r</a:t>
                </a:r>
                <a:r>
                  <a:rPr lang="en-US" altLang="en-US" sz="2000" dirty="0">
                    <a:ea typeface="ＭＳ Ｐゴシック" panose="020B0600070205080204" pitchFamily="34" charset="-128"/>
                  </a:rPr>
                  <a:t> distinct objects. </a:t>
                </a:r>
              </a:p>
              <a:p>
                <a:pPr eaLnBrk="1" hangingPunct="1">
                  <a:buFontTx/>
                  <a:buNone/>
                </a:pPr>
                <a:r>
                  <a:rPr lang="en-US" altLang="en-US" sz="2000" dirty="0">
                    <a:ea typeface="ＭＳ Ｐゴシック" panose="020B0600070205080204" pitchFamily="34" charset="-128"/>
                  </a:rPr>
                  <a:t>		</a:t>
                </a:r>
                <a:endParaRPr lang="en-US" altLang="en-US" sz="2000" u="sng" dirty="0">
                  <a:ea typeface="ＭＳ Ｐゴシック" panose="020B0600070205080204" pitchFamily="34" charset="-128"/>
                </a:endParaRPr>
              </a:p>
            </p:txBody>
          </p:sp>
        </mc:Choice>
        <mc:Fallback xmlns="">
          <p:sp>
            <p:nvSpPr>
              <p:cNvPr id="17413" name="Rectangle 3">
                <a:extLst>
                  <a:ext uri="{FF2B5EF4-FFF2-40B4-BE49-F238E27FC236}">
                    <a16:creationId xmlns:a16="http://schemas.microsoft.com/office/drawing/2014/main" id="{9A729AE0-3FFE-F546-966B-5226B9CD1A2B}"/>
                  </a:ext>
                </a:extLst>
              </p:cNvPr>
              <p:cNvSpPr>
                <a:spLocks noGrp="1" noRot="1" noChangeAspect="1" noMove="1" noResize="1" noEditPoints="1" noAdjustHandles="1" noChangeArrowheads="1" noChangeShapeType="1" noTextEdit="1"/>
              </p:cNvSpPr>
              <p:nvPr>
                <p:ph type="body" idx="1"/>
              </p:nvPr>
            </p:nvSpPr>
            <p:spPr>
              <a:xfrm>
                <a:off x="2286000" y="1371600"/>
                <a:ext cx="7772400" cy="4648200"/>
              </a:xfrm>
              <a:blipFill>
                <a:blip r:embed="rId2"/>
                <a:stretch>
                  <a:fillRect l="-2124" t="-3552"/>
                </a:stretch>
              </a:blipFill>
            </p:spPr>
            <p:txBody>
              <a:bodyPr/>
              <a:lstStyle/>
              <a:p>
                <a:r>
                  <a:rPr lang="en-US">
                    <a:noFill/>
                  </a:rPr>
                  <a:t> </a:t>
                </a:r>
              </a:p>
            </p:txBody>
          </p:sp>
        </mc:Fallback>
      </mc:AlternateContent>
      <p:sp>
        <p:nvSpPr>
          <p:cNvPr id="17414" name="AutoShape 4">
            <a:extLst>
              <a:ext uri="{FF2B5EF4-FFF2-40B4-BE49-F238E27FC236}">
                <a16:creationId xmlns:a16="http://schemas.microsoft.com/office/drawing/2014/main" id="{7F6B600F-1103-4C4D-9742-DCE6BF97537B}"/>
              </a:ext>
            </a:extLst>
          </p:cNvPr>
          <p:cNvSpPr>
            <a:spLocks noChangeArrowheads="1"/>
          </p:cNvSpPr>
          <p:nvPr/>
        </p:nvSpPr>
        <p:spPr bwMode="auto">
          <a:xfrm>
            <a:off x="7131050" y="5151438"/>
            <a:ext cx="457200" cy="533400"/>
          </a:xfrm>
          <a:prstGeom prst="diamond">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415" name="AutoShape 5">
            <a:extLst>
              <a:ext uri="{FF2B5EF4-FFF2-40B4-BE49-F238E27FC236}">
                <a16:creationId xmlns:a16="http://schemas.microsoft.com/office/drawing/2014/main" id="{459D20D1-FCEC-7646-83CF-437A5E011C2E}"/>
              </a:ext>
            </a:extLst>
          </p:cNvPr>
          <p:cNvSpPr>
            <a:spLocks noChangeArrowheads="1"/>
          </p:cNvSpPr>
          <p:nvPr/>
        </p:nvSpPr>
        <p:spPr bwMode="auto">
          <a:xfrm>
            <a:off x="7969250" y="5227638"/>
            <a:ext cx="3810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416" name="AutoShape 6">
            <a:extLst>
              <a:ext uri="{FF2B5EF4-FFF2-40B4-BE49-F238E27FC236}">
                <a16:creationId xmlns:a16="http://schemas.microsoft.com/office/drawing/2014/main" id="{11F638F1-5097-EE41-BA82-F8F8D4BF34BA}"/>
              </a:ext>
            </a:extLst>
          </p:cNvPr>
          <p:cNvSpPr>
            <a:spLocks noChangeArrowheads="1"/>
          </p:cNvSpPr>
          <p:nvPr/>
        </p:nvSpPr>
        <p:spPr bwMode="auto">
          <a:xfrm>
            <a:off x="8731250" y="5227638"/>
            <a:ext cx="457200" cy="381000"/>
          </a:xfrm>
          <a:prstGeom prst="hexagon">
            <a:avLst>
              <a:gd name="adj" fmla="val 30000"/>
              <a:gd name="vf" fmla="val 11547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417" name="Oval 7">
            <a:extLst>
              <a:ext uri="{FF2B5EF4-FFF2-40B4-BE49-F238E27FC236}">
                <a16:creationId xmlns:a16="http://schemas.microsoft.com/office/drawing/2014/main" id="{E3DBFDF6-915D-E546-8692-819BD89CAD00}"/>
              </a:ext>
            </a:extLst>
          </p:cNvPr>
          <p:cNvSpPr>
            <a:spLocks noChangeArrowheads="1"/>
          </p:cNvSpPr>
          <p:nvPr/>
        </p:nvSpPr>
        <p:spPr bwMode="auto">
          <a:xfrm>
            <a:off x="9569450" y="5151438"/>
            <a:ext cx="457200" cy="457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418" name="AutoShape 8">
            <a:extLst>
              <a:ext uri="{FF2B5EF4-FFF2-40B4-BE49-F238E27FC236}">
                <a16:creationId xmlns:a16="http://schemas.microsoft.com/office/drawing/2014/main" id="{6F1E41E1-9545-BF44-9FDC-DD6C85FE565D}"/>
              </a:ext>
            </a:extLst>
          </p:cNvPr>
          <p:cNvSpPr>
            <a:spLocks/>
          </p:cNvSpPr>
          <p:nvPr/>
        </p:nvSpPr>
        <p:spPr bwMode="auto">
          <a:xfrm rot="5440038">
            <a:off x="8488363" y="3597275"/>
            <a:ext cx="381000" cy="2667000"/>
          </a:xfrm>
          <a:prstGeom prst="leftBrace">
            <a:avLst>
              <a:gd name="adj1" fmla="val 162005"/>
              <a:gd name="adj2" fmla="val 5198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419" name="Rectangle 9">
            <a:extLst>
              <a:ext uri="{FF2B5EF4-FFF2-40B4-BE49-F238E27FC236}">
                <a16:creationId xmlns:a16="http://schemas.microsoft.com/office/drawing/2014/main" id="{B36612BB-59E1-E14F-A3BB-A7B2FF29E1D9}"/>
              </a:ext>
            </a:extLst>
          </p:cNvPr>
          <p:cNvSpPr>
            <a:spLocks noChangeArrowheads="1"/>
          </p:cNvSpPr>
          <p:nvPr/>
        </p:nvSpPr>
        <p:spPr bwMode="auto">
          <a:xfrm>
            <a:off x="7435850" y="4297364"/>
            <a:ext cx="2319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b="1" i="1">
                <a:latin typeface="Tahoma" panose="020B0604030504040204" pitchFamily="34" charset="0"/>
              </a:rPr>
              <a:t>r</a:t>
            </a:r>
            <a:r>
              <a:rPr lang="en-US" altLang="en-US" sz="2000" b="1">
                <a:latin typeface="Tahoma" panose="020B0604030504040204" pitchFamily="34" charset="0"/>
              </a:rPr>
              <a:t> distinct objects</a:t>
            </a:r>
          </a:p>
        </p:txBody>
      </p:sp>
      <p:sp>
        <p:nvSpPr>
          <p:cNvPr id="17420" name="Rectangle 10">
            <a:extLst>
              <a:ext uri="{FF2B5EF4-FFF2-40B4-BE49-F238E27FC236}">
                <a16:creationId xmlns:a16="http://schemas.microsoft.com/office/drawing/2014/main" id="{3DCE0320-4EF8-1044-BCD8-086DFCF25E52}"/>
              </a:ext>
            </a:extLst>
          </p:cNvPr>
          <p:cNvSpPr>
            <a:spLocks noChangeArrowheads="1"/>
          </p:cNvSpPr>
          <p:nvPr/>
        </p:nvSpPr>
        <p:spPr bwMode="auto">
          <a:xfrm>
            <a:off x="2651125" y="5197475"/>
            <a:ext cx="533400" cy="609600"/>
          </a:xfrm>
          <a:prstGeom prst="rect">
            <a:avLst/>
          </a:prstGeom>
          <a:solidFill>
            <a:srgbClr val="2504C8"/>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17421" name="Rectangle 11">
            <a:extLst>
              <a:ext uri="{FF2B5EF4-FFF2-40B4-BE49-F238E27FC236}">
                <a16:creationId xmlns:a16="http://schemas.microsoft.com/office/drawing/2014/main" id="{17D1B17E-B3ED-FA4F-B49C-A0CDB681E9FE}"/>
              </a:ext>
            </a:extLst>
          </p:cNvPr>
          <p:cNvSpPr>
            <a:spLocks noChangeArrowheads="1"/>
          </p:cNvSpPr>
          <p:nvPr/>
        </p:nvSpPr>
        <p:spPr bwMode="auto">
          <a:xfrm>
            <a:off x="3489325" y="5197475"/>
            <a:ext cx="533400" cy="609600"/>
          </a:xfrm>
          <a:prstGeom prst="rect">
            <a:avLst/>
          </a:prstGeom>
          <a:solidFill>
            <a:srgbClr val="C6180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17422" name="Rectangle 12">
            <a:extLst>
              <a:ext uri="{FF2B5EF4-FFF2-40B4-BE49-F238E27FC236}">
                <a16:creationId xmlns:a16="http://schemas.microsoft.com/office/drawing/2014/main" id="{B2F0CBC3-04DB-B340-8A09-B0285E55F15D}"/>
              </a:ext>
            </a:extLst>
          </p:cNvPr>
          <p:cNvSpPr>
            <a:spLocks noChangeArrowheads="1"/>
          </p:cNvSpPr>
          <p:nvPr/>
        </p:nvSpPr>
        <p:spPr bwMode="auto">
          <a:xfrm>
            <a:off x="4311650" y="5197475"/>
            <a:ext cx="533400" cy="609600"/>
          </a:xfrm>
          <a:prstGeom prst="rect">
            <a:avLst/>
          </a:prstGeom>
          <a:solidFill>
            <a:srgbClr val="0EBE1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17423" name="AutoShape 13">
            <a:extLst>
              <a:ext uri="{FF2B5EF4-FFF2-40B4-BE49-F238E27FC236}">
                <a16:creationId xmlns:a16="http://schemas.microsoft.com/office/drawing/2014/main" id="{D9CD5D5B-417F-9440-8D00-91F375015451}"/>
              </a:ext>
            </a:extLst>
          </p:cNvPr>
          <p:cNvSpPr>
            <a:spLocks/>
          </p:cNvSpPr>
          <p:nvPr/>
        </p:nvSpPr>
        <p:spPr bwMode="auto">
          <a:xfrm rot="5440038">
            <a:off x="3627438" y="3671888"/>
            <a:ext cx="381000" cy="2667000"/>
          </a:xfrm>
          <a:prstGeom prst="leftBrace">
            <a:avLst>
              <a:gd name="adj1" fmla="val 162005"/>
              <a:gd name="adj2" fmla="val 5198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424" name="Rectangle 14">
            <a:extLst>
              <a:ext uri="{FF2B5EF4-FFF2-40B4-BE49-F238E27FC236}">
                <a16:creationId xmlns:a16="http://schemas.microsoft.com/office/drawing/2014/main" id="{E106D78F-79EB-D547-838D-E375D0EFD59B}"/>
              </a:ext>
            </a:extLst>
          </p:cNvPr>
          <p:cNvSpPr>
            <a:spLocks noChangeArrowheads="1"/>
          </p:cNvSpPr>
          <p:nvPr/>
        </p:nvSpPr>
        <p:spPr bwMode="auto">
          <a:xfrm>
            <a:off x="2713038" y="4465639"/>
            <a:ext cx="2355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b="1" i="1">
                <a:latin typeface="Tahoma" panose="020B0604030504040204" pitchFamily="34" charset="0"/>
              </a:rPr>
              <a:t>n </a:t>
            </a:r>
            <a:r>
              <a:rPr lang="en-US" altLang="en-US" sz="2000" b="1">
                <a:latin typeface="Tahoma" panose="020B0604030504040204" pitchFamily="34" charset="0"/>
              </a:rPr>
              <a:t>different boxes</a:t>
            </a:r>
          </a:p>
        </p:txBody>
      </p:sp>
      <p:sp>
        <p:nvSpPr>
          <p:cNvPr id="17425" name="Text Box 15">
            <a:extLst>
              <a:ext uri="{FF2B5EF4-FFF2-40B4-BE49-F238E27FC236}">
                <a16:creationId xmlns:a16="http://schemas.microsoft.com/office/drawing/2014/main" id="{D2BA710E-D1C4-844F-9F24-370E10689927}"/>
              </a:ext>
            </a:extLst>
          </p:cNvPr>
          <p:cNvSpPr txBox="1">
            <a:spLocks noChangeArrowheads="1"/>
          </p:cNvSpPr>
          <p:nvPr/>
        </p:nvSpPr>
        <p:spPr bwMode="auto">
          <a:xfrm>
            <a:off x="6615113" y="5684838"/>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Tahoma" panose="020B0604030504040204" pitchFamily="34" charset="0"/>
              </a:rPr>
              <a:t>   </a:t>
            </a:r>
            <a:r>
              <a:rPr lang="en-US" altLang="en-US" b="1" dirty="0">
                <a:solidFill>
                  <a:srgbClr val="C61806"/>
                </a:solidFill>
                <a:latin typeface="Tahoma" panose="020B0604030504040204" pitchFamily="34" charset="0"/>
              </a:rPr>
              <a:t>Red</a:t>
            </a:r>
            <a:r>
              <a:rPr lang="en-US" altLang="en-US" dirty="0">
                <a:latin typeface="Tahoma" panose="020B0604030504040204" pitchFamily="34" charset="0"/>
              </a:rPr>
              <a:t>  </a:t>
            </a:r>
            <a:r>
              <a:rPr lang="en-US" altLang="en-US" b="1" dirty="0">
                <a:solidFill>
                  <a:srgbClr val="C61806"/>
                </a:solidFill>
                <a:latin typeface="Tahoma" panose="020B0604030504040204" pitchFamily="34" charset="0"/>
              </a:rPr>
              <a:t>Red</a:t>
            </a:r>
            <a:r>
              <a:rPr lang="en-US" altLang="en-US" dirty="0">
                <a:latin typeface="Tahoma" panose="020B0604030504040204" pitchFamily="34" charset="0"/>
              </a:rPr>
              <a:t>  </a:t>
            </a:r>
            <a:r>
              <a:rPr lang="en-US" altLang="en-US" b="1" dirty="0">
                <a:solidFill>
                  <a:srgbClr val="2504C8"/>
                </a:solidFill>
                <a:latin typeface="Tahoma" panose="020B0604030504040204" pitchFamily="34" charset="0"/>
              </a:rPr>
              <a:t>Blue</a:t>
            </a:r>
            <a:r>
              <a:rPr lang="en-US" altLang="en-US" dirty="0">
                <a:latin typeface="Tahoma" panose="020B0604030504040204" pitchFamily="34" charset="0"/>
              </a:rPr>
              <a:t> </a:t>
            </a:r>
            <a:r>
              <a:rPr lang="en-US" altLang="en-US" b="1" dirty="0">
                <a:solidFill>
                  <a:srgbClr val="0EBE1F"/>
                </a:solidFill>
                <a:latin typeface="Tahoma" panose="020B0604030504040204" pitchFamily="34" charset="0"/>
              </a:rPr>
              <a:t>Green</a:t>
            </a:r>
          </a:p>
        </p:txBody>
      </p:sp>
    </p:spTree>
    <p:extLst>
      <p:ext uri="{BB962C8B-B14F-4D97-AF65-F5344CB8AC3E}">
        <p14:creationId xmlns:p14="http://schemas.microsoft.com/office/powerpoint/2010/main" val="263588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35315548-0A6F-2F40-B115-6785AFF6689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Specified amount in each box</a:t>
            </a:r>
          </a:p>
        </p:txBody>
      </p:sp>
      <p:sp>
        <p:nvSpPr>
          <p:cNvPr id="18437" name="Rectangle 3">
            <a:extLst>
              <a:ext uri="{FF2B5EF4-FFF2-40B4-BE49-F238E27FC236}">
                <a16:creationId xmlns:a16="http://schemas.microsoft.com/office/drawing/2014/main" id="{87CB5D5E-F17C-8842-98F8-B917756C0EAF}"/>
              </a:ext>
            </a:extLst>
          </p:cNvPr>
          <p:cNvSpPr>
            <a:spLocks noGrp="1" noChangeArrowheads="1"/>
          </p:cNvSpPr>
          <p:nvPr>
            <p:ph type="body" idx="1"/>
          </p:nvPr>
        </p:nvSpPr>
        <p:spPr/>
        <p:txBody>
          <a:bodyPr/>
          <a:lstStyle/>
          <a:p>
            <a:pPr eaLnBrk="1" hangingPunct="1">
              <a:buFontTx/>
              <a:buNone/>
            </a:pPr>
            <a:r>
              <a:rPr lang="en-US" altLang="en-US" sz="2400">
                <a:ea typeface="ＭＳ Ｐゴシック" panose="020B0600070205080204" pitchFamily="34" charset="-128"/>
              </a:rPr>
              <a:t>If</a:t>
            </a:r>
            <a:r>
              <a:rPr lang="en-US" altLang="en-US" sz="2400" i="1">
                <a:ea typeface="ＭＳ Ｐゴシック" panose="020B0600070205080204" pitchFamily="34" charset="-128"/>
              </a:rPr>
              <a:t> r</a:t>
            </a:r>
            <a:r>
              <a:rPr lang="en-US" altLang="en-US" sz="2400" i="1" baseline="-25000">
                <a:ea typeface="ＭＳ Ｐゴシック" panose="020B0600070205080204" pitchFamily="34" charset="-128"/>
              </a:rPr>
              <a:t>i</a:t>
            </a:r>
            <a:r>
              <a:rPr lang="en-US" altLang="en-US" sz="2400" baseline="-25000">
                <a:ea typeface="ＭＳ Ｐゴシック" panose="020B0600070205080204" pitchFamily="34" charset="-128"/>
              </a:rPr>
              <a:t>  </a:t>
            </a:r>
            <a:r>
              <a:rPr lang="en-US" altLang="en-US" sz="2400">
                <a:ea typeface="ＭＳ Ｐゴシック" panose="020B0600070205080204" pitchFamily="34" charset="-128"/>
              </a:rPr>
              <a:t>objects must go in box</a:t>
            </a:r>
            <a:r>
              <a:rPr lang="en-US" altLang="en-US" sz="2400" i="1">
                <a:ea typeface="ＭＳ Ｐゴシック" panose="020B0600070205080204" pitchFamily="34" charset="-128"/>
              </a:rPr>
              <a:t> i</a:t>
            </a:r>
            <a:r>
              <a:rPr lang="en-US" altLang="en-US" sz="2400">
                <a:ea typeface="ＭＳ Ｐゴシック" panose="020B0600070205080204" pitchFamily="34" charset="-128"/>
              </a:rPr>
              <a:t>, then there are P(</a:t>
            </a:r>
            <a:r>
              <a:rPr lang="en-US" altLang="en-US" sz="2400" i="1">
                <a:ea typeface="ＭＳ Ｐゴシック" panose="020B0600070205080204" pitchFamily="34" charset="-128"/>
              </a:rPr>
              <a:t>r</a:t>
            </a:r>
            <a:r>
              <a:rPr lang="en-US" altLang="en-US" sz="2400">
                <a:ea typeface="ＭＳ Ｐゴシック" panose="020B0600070205080204" pitchFamily="34" charset="-128"/>
              </a:rPr>
              <a:t>; </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1</a:t>
            </a:r>
            <a:r>
              <a:rPr lang="en-US" altLang="en-US" sz="2400">
                <a:ea typeface="ＭＳ Ｐゴシック" panose="020B0600070205080204" pitchFamily="34" charset="-128"/>
              </a:rPr>
              <a:t>, </a:t>
            </a:r>
            <a:r>
              <a:rPr lang="en-US" altLang="en-US" sz="2400" i="1">
                <a:ea typeface="ＭＳ Ｐゴシック" panose="020B0600070205080204" pitchFamily="34" charset="-128"/>
              </a:rPr>
              <a:t>r</a:t>
            </a:r>
            <a:r>
              <a:rPr lang="en-US" altLang="en-US" sz="2400" baseline="-25000">
                <a:ea typeface="ＭＳ Ｐゴシック" panose="020B0600070205080204" pitchFamily="34" charset="-128"/>
              </a:rPr>
              <a:t>2</a:t>
            </a:r>
            <a:r>
              <a:rPr lang="en-US" altLang="en-US" sz="2400">
                <a:ea typeface="ＭＳ Ｐゴシック" panose="020B0600070205080204" pitchFamily="34" charset="-128"/>
              </a:rPr>
              <a:t>, …, </a:t>
            </a:r>
            <a:r>
              <a:rPr lang="en-US" altLang="en-US" sz="2400" i="1">
                <a:ea typeface="ＭＳ Ｐゴシック" panose="020B0600070205080204" pitchFamily="34" charset="-128"/>
              </a:rPr>
              <a:t>r</a:t>
            </a:r>
            <a:r>
              <a:rPr lang="en-US" altLang="en-US" sz="2400" i="1" baseline="-25000">
                <a:ea typeface="ＭＳ Ｐゴシック" panose="020B0600070205080204" pitchFamily="34" charset="-128"/>
              </a:rPr>
              <a:t>n</a:t>
            </a:r>
            <a:r>
              <a:rPr lang="en-US" altLang="en-US" sz="2400">
                <a:ea typeface="ＭＳ Ｐゴシック" panose="020B0600070205080204" pitchFamily="34" charset="-128"/>
              </a:rPr>
              <a:t>) distributions. </a:t>
            </a:r>
            <a:endParaRPr lang="en-US" altLang="en-US" sz="2400" u="sng">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
        <p:nvSpPr>
          <p:cNvPr id="18438" name="AutoShape 4">
            <a:extLst>
              <a:ext uri="{FF2B5EF4-FFF2-40B4-BE49-F238E27FC236}">
                <a16:creationId xmlns:a16="http://schemas.microsoft.com/office/drawing/2014/main" id="{019A0CAF-DE01-6345-9B98-2440FA685706}"/>
              </a:ext>
            </a:extLst>
          </p:cNvPr>
          <p:cNvSpPr>
            <a:spLocks noChangeArrowheads="1"/>
          </p:cNvSpPr>
          <p:nvPr/>
        </p:nvSpPr>
        <p:spPr bwMode="auto">
          <a:xfrm>
            <a:off x="2330450" y="3017838"/>
            <a:ext cx="457200" cy="533400"/>
          </a:xfrm>
          <a:prstGeom prst="diamond">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439" name="AutoShape 5">
            <a:extLst>
              <a:ext uri="{FF2B5EF4-FFF2-40B4-BE49-F238E27FC236}">
                <a16:creationId xmlns:a16="http://schemas.microsoft.com/office/drawing/2014/main" id="{D21C74F1-3532-8B44-8B40-88305CC78C4C}"/>
              </a:ext>
            </a:extLst>
          </p:cNvPr>
          <p:cNvSpPr>
            <a:spLocks noChangeArrowheads="1"/>
          </p:cNvSpPr>
          <p:nvPr/>
        </p:nvSpPr>
        <p:spPr bwMode="auto">
          <a:xfrm>
            <a:off x="2986088" y="3079750"/>
            <a:ext cx="381000" cy="381000"/>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440" name="AutoShape 6">
            <a:extLst>
              <a:ext uri="{FF2B5EF4-FFF2-40B4-BE49-F238E27FC236}">
                <a16:creationId xmlns:a16="http://schemas.microsoft.com/office/drawing/2014/main" id="{64DE7557-DC38-3B45-B3B5-B1B925EE38F9}"/>
              </a:ext>
            </a:extLst>
          </p:cNvPr>
          <p:cNvSpPr>
            <a:spLocks noChangeArrowheads="1"/>
          </p:cNvSpPr>
          <p:nvPr/>
        </p:nvSpPr>
        <p:spPr bwMode="auto">
          <a:xfrm>
            <a:off x="3748088" y="3079750"/>
            <a:ext cx="457200" cy="381000"/>
          </a:xfrm>
          <a:prstGeom prst="hexagon">
            <a:avLst>
              <a:gd name="adj" fmla="val 30000"/>
              <a:gd name="vf" fmla="val 11547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441" name="Oval 7">
            <a:extLst>
              <a:ext uri="{FF2B5EF4-FFF2-40B4-BE49-F238E27FC236}">
                <a16:creationId xmlns:a16="http://schemas.microsoft.com/office/drawing/2014/main" id="{FE312672-3821-AA4E-B44D-15C2DC32515D}"/>
              </a:ext>
            </a:extLst>
          </p:cNvPr>
          <p:cNvSpPr>
            <a:spLocks noChangeArrowheads="1"/>
          </p:cNvSpPr>
          <p:nvPr/>
        </p:nvSpPr>
        <p:spPr bwMode="auto">
          <a:xfrm>
            <a:off x="4586288" y="3003550"/>
            <a:ext cx="457200" cy="457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442" name="AutoShape 8">
            <a:extLst>
              <a:ext uri="{FF2B5EF4-FFF2-40B4-BE49-F238E27FC236}">
                <a16:creationId xmlns:a16="http://schemas.microsoft.com/office/drawing/2014/main" id="{DC4AEE02-88E8-BB48-885E-52E313604E3C}"/>
              </a:ext>
            </a:extLst>
          </p:cNvPr>
          <p:cNvSpPr>
            <a:spLocks noChangeArrowheads="1"/>
          </p:cNvSpPr>
          <p:nvPr/>
        </p:nvSpPr>
        <p:spPr bwMode="auto">
          <a:xfrm>
            <a:off x="5300664" y="3017839"/>
            <a:ext cx="458787" cy="473075"/>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443" name="AutoShape 9">
            <a:extLst>
              <a:ext uri="{FF2B5EF4-FFF2-40B4-BE49-F238E27FC236}">
                <a16:creationId xmlns:a16="http://schemas.microsoft.com/office/drawing/2014/main" id="{8DB46F3A-9409-C541-8926-7F24B50A9243}"/>
              </a:ext>
            </a:extLst>
          </p:cNvPr>
          <p:cNvSpPr>
            <a:spLocks noChangeArrowheads="1"/>
          </p:cNvSpPr>
          <p:nvPr/>
        </p:nvSpPr>
        <p:spPr bwMode="auto">
          <a:xfrm>
            <a:off x="6003925" y="2955926"/>
            <a:ext cx="533400" cy="519113"/>
          </a:xfrm>
          <a:prstGeom prst="pentagon">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444" name="Rectangle 10">
            <a:extLst>
              <a:ext uri="{FF2B5EF4-FFF2-40B4-BE49-F238E27FC236}">
                <a16:creationId xmlns:a16="http://schemas.microsoft.com/office/drawing/2014/main" id="{EDF4F685-FAB2-6C45-A4F1-785C2F46755D}"/>
              </a:ext>
            </a:extLst>
          </p:cNvPr>
          <p:cNvSpPr>
            <a:spLocks noChangeArrowheads="1"/>
          </p:cNvSpPr>
          <p:nvPr/>
        </p:nvSpPr>
        <p:spPr bwMode="auto">
          <a:xfrm>
            <a:off x="4037013" y="3962400"/>
            <a:ext cx="533400" cy="609600"/>
          </a:xfrm>
          <a:prstGeom prst="rect">
            <a:avLst/>
          </a:prstGeom>
          <a:solidFill>
            <a:srgbClr val="2504C8"/>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18445" name="Rectangle 11">
            <a:extLst>
              <a:ext uri="{FF2B5EF4-FFF2-40B4-BE49-F238E27FC236}">
                <a16:creationId xmlns:a16="http://schemas.microsoft.com/office/drawing/2014/main" id="{DBB8C931-F891-884C-A5E9-74CE36204318}"/>
              </a:ext>
            </a:extLst>
          </p:cNvPr>
          <p:cNvSpPr>
            <a:spLocks noChangeArrowheads="1"/>
          </p:cNvSpPr>
          <p:nvPr/>
        </p:nvSpPr>
        <p:spPr bwMode="auto">
          <a:xfrm>
            <a:off x="4875213" y="3962400"/>
            <a:ext cx="533400" cy="609600"/>
          </a:xfrm>
          <a:prstGeom prst="rect">
            <a:avLst/>
          </a:prstGeom>
          <a:solidFill>
            <a:srgbClr val="C6180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18446" name="Rectangle 12">
            <a:extLst>
              <a:ext uri="{FF2B5EF4-FFF2-40B4-BE49-F238E27FC236}">
                <a16:creationId xmlns:a16="http://schemas.microsoft.com/office/drawing/2014/main" id="{FFFBB1CA-F95D-DF4A-8001-C8831300867B}"/>
              </a:ext>
            </a:extLst>
          </p:cNvPr>
          <p:cNvSpPr>
            <a:spLocks noChangeArrowheads="1"/>
          </p:cNvSpPr>
          <p:nvPr/>
        </p:nvSpPr>
        <p:spPr bwMode="auto">
          <a:xfrm>
            <a:off x="5697538" y="3962400"/>
            <a:ext cx="533400" cy="609600"/>
          </a:xfrm>
          <a:prstGeom prst="rect">
            <a:avLst/>
          </a:prstGeom>
          <a:solidFill>
            <a:srgbClr val="0EBE1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18447" name="Text Box 13">
            <a:extLst>
              <a:ext uri="{FF2B5EF4-FFF2-40B4-BE49-F238E27FC236}">
                <a16:creationId xmlns:a16="http://schemas.microsoft.com/office/drawing/2014/main" id="{E73550D9-1764-7C43-A37F-6DD469A05532}"/>
              </a:ext>
            </a:extLst>
          </p:cNvPr>
          <p:cNvSpPr txBox="1">
            <a:spLocks noChangeArrowheads="1"/>
          </p:cNvSpPr>
          <p:nvPr/>
        </p:nvSpPr>
        <p:spPr bwMode="auto">
          <a:xfrm>
            <a:off x="7040563" y="2973388"/>
            <a:ext cx="2316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6 distinct objects</a:t>
            </a:r>
          </a:p>
        </p:txBody>
      </p:sp>
      <p:sp>
        <p:nvSpPr>
          <p:cNvPr id="18448" name="Text Box 14">
            <a:extLst>
              <a:ext uri="{FF2B5EF4-FFF2-40B4-BE49-F238E27FC236}">
                <a16:creationId xmlns:a16="http://schemas.microsoft.com/office/drawing/2014/main" id="{45B7DB40-F98F-F848-AB30-E8A7001BED78}"/>
              </a:ext>
            </a:extLst>
          </p:cNvPr>
          <p:cNvSpPr txBox="1">
            <a:spLocks noChangeArrowheads="1"/>
          </p:cNvSpPr>
          <p:nvPr/>
        </p:nvSpPr>
        <p:spPr bwMode="auto">
          <a:xfrm>
            <a:off x="4114800" y="4116388"/>
            <a:ext cx="35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3</a:t>
            </a:r>
          </a:p>
        </p:txBody>
      </p:sp>
      <p:sp>
        <p:nvSpPr>
          <p:cNvPr id="18449" name="Text Box 15">
            <a:extLst>
              <a:ext uri="{FF2B5EF4-FFF2-40B4-BE49-F238E27FC236}">
                <a16:creationId xmlns:a16="http://schemas.microsoft.com/office/drawing/2014/main" id="{534949E0-EA58-DB4E-97D0-69D082E009F7}"/>
              </a:ext>
            </a:extLst>
          </p:cNvPr>
          <p:cNvSpPr txBox="1">
            <a:spLocks noChangeArrowheads="1"/>
          </p:cNvSpPr>
          <p:nvPr/>
        </p:nvSpPr>
        <p:spPr bwMode="auto">
          <a:xfrm>
            <a:off x="4967289" y="4054475"/>
            <a:ext cx="350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p>
        </p:txBody>
      </p:sp>
      <p:sp>
        <p:nvSpPr>
          <p:cNvPr id="18450" name="Text Box 16">
            <a:extLst>
              <a:ext uri="{FF2B5EF4-FFF2-40B4-BE49-F238E27FC236}">
                <a16:creationId xmlns:a16="http://schemas.microsoft.com/office/drawing/2014/main" id="{A856CDF2-F76F-8A4E-8189-1BB4D98CAB2C}"/>
              </a:ext>
            </a:extLst>
          </p:cNvPr>
          <p:cNvSpPr txBox="1">
            <a:spLocks noChangeArrowheads="1"/>
          </p:cNvSpPr>
          <p:nvPr/>
        </p:nvSpPr>
        <p:spPr bwMode="auto">
          <a:xfrm>
            <a:off x="5821364" y="4054475"/>
            <a:ext cx="350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2</a:t>
            </a:r>
          </a:p>
        </p:txBody>
      </p:sp>
      <p:sp>
        <p:nvSpPr>
          <p:cNvPr id="18451" name="Text Box 17">
            <a:extLst>
              <a:ext uri="{FF2B5EF4-FFF2-40B4-BE49-F238E27FC236}">
                <a16:creationId xmlns:a16="http://schemas.microsoft.com/office/drawing/2014/main" id="{C9AC5766-D636-F14B-B315-76D4198D02A8}"/>
              </a:ext>
            </a:extLst>
          </p:cNvPr>
          <p:cNvSpPr txBox="1">
            <a:spLocks noChangeArrowheads="1"/>
          </p:cNvSpPr>
          <p:nvPr/>
        </p:nvSpPr>
        <p:spPr bwMode="auto">
          <a:xfrm>
            <a:off x="7345363" y="3810001"/>
            <a:ext cx="2286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How many in each box</a:t>
            </a:r>
          </a:p>
        </p:txBody>
      </p:sp>
      <p:graphicFrame>
        <p:nvGraphicFramePr>
          <p:cNvPr id="18452" name="Object 2">
            <a:extLst>
              <a:ext uri="{FF2B5EF4-FFF2-40B4-BE49-F238E27FC236}">
                <a16:creationId xmlns:a16="http://schemas.microsoft.com/office/drawing/2014/main" id="{2F0A9AC6-9885-F244-8141-5C6D2676A959}"/>
              </a:ext>
            </a:extLst>
          </p:cNvPr>
          <p:cNvGraphicFramePr>
            <a:graphicFrameLocks noChangeAspect="1"/>
          </p:cNvGraphicFramePr>
          <p:nvPr/>
        </p:nvGraphicFramePr>
        <p:xfrm>
          <a:off x="4003675" y="4854575"/>
          <a:ext cx="3556000" cy="736600"/>
        </p:xfrm>
        <a:graphic>
          <a:graphicData uri="http://schemas.openxmlformats.org/presentationml/2006/ole">
            <mc:AlternateContent xmlns:mc="http://schemas.openxmlformats.org/markup-compatibility/2006">
              <mc:Choice xmlns:v="urn:schemas-microsoft-com:vml" Requires="v">
                <p:oleObj spid="_x0000_s1026" name="Equation" r:id="rId3" imgW="81915000" imgH="16967200" progId="Equation.DSMT4">
                  <p:embed/>
                </p:oleObj>
              </mc:Choice>
              <mc:Fallback>
                <p:oleObj name="Equation" r:id="rId3" imgW="81915000" imgH="16967200" progId="Equation.DSMT4">
                  <p:embed/>
                  <p:pic>
                    <p:nvPicPr>
                      <p:cNvPr id="18452" name="Object 2">
                        <a:extLst>
                          <a:ext uri="{FF2B5EF4-FFF2-40B4-BE49-F238E27FC236}">
                            <a16:creationId xmlns:a16="http://schemas.microsoft.com/office/drawing/2014/main" id="{2F0A9AC6-9885-F244-8141-5C6D2676A9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675" y="4854575"/>
                        <a:ext cx="35560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114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BC6670C8-C247-9746-9D60-78361BE4C879}"/>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Basic Models for Distributions</a:t>
            </a:r>
          </a:p>
        </p:txBody>
      </p:sp>
      <p:sp>
        <p:nvSpPr>
          <p:cNvPr id="19461" name="Rectangle 3">
            <a:extLst>
              <a:ext uri="{FF2B5EF4-FFF2-40B4-BE49-F238E27FC236}">
                <a16:creationId xmlns:a16="http://schemas.microsoft.com/office/drawing/2014/main" id="{F0138E7C-0E88-984D-AA4A-C060D5243ADD}"/>
              </a:ext>
            </a:extLst>
          </p:cNvPr>
          <p:cNvSpPr>
            <a:spLocks noGrp="1" noChangeArrowheads="1"/>
          </p:cNvSpPr>
          <p:nvPr>
            <p:ph type="body" idx="1"/>
          </p:nvPr>
        </p:nvSpPr>
        <p:spPr>
          <a:xfrm>
            <a:off x="2147888" y="1676401"/>
            <a:ext cx="7772400" cy="3414713"/>
          </a:xfrm>
        </p:spPr>
        <p:txBody>
          <a:bodyPr/>
          <a:lstStyle/>
          <a:p>
            <a:pPr eaLnBrk="1" hangingPunct="1"/>
            <a:r>
              <a:rPr lang="en-US" altLang="en-US">
                <a:ea typeface="ＭＳ Ｐゴシック" panose="020B0600070205080204" pitchFamily="34" charset="-128"/>
              </a:rPr>
              <a:t>Identical Objects: </a:t>
            </a:r>
          </a:p>
          <a:p>
            <a:pPr eaLnBrk="1" hangingPunct="1">
              <a:buFontTx/>
              <a:buNone/>
            </a:pPr>
            <a:r>
              <a:rPr lang="en-US" altLang="en-US">
                <a:ea typeface="ＭＳ Ｐゴシック" panose="020B0600070205080204" pitchFamily="34" charset="-128"/>
              </a:rPr>
              <a:t>		</a:t>
            </a:r>
            <a:r>
              <a:rPr lang="en-US" altLang="en-US" sz="2400">
                <a:ea typeface="ＭＳ Ｐゴシック" panose="020B0600070205080204" pitchFamily="34" charset="-128"/>
              </a:rPr>
              <a:t>The process of distributing </a:t>
            </a:r>
            <a:r>
              <a:rPr lang="en-US" altLang="en-US" sz="2400" i="1">
                <a:ea typeface="ＭＳ Ｐゴシック" panose="020B0600070205080204" pitchFamily="34" charset="-128"/>
              </a:rPr>
              <a:t>r</a:t>
            </a:r>
            <a:r>
              <a:rPr lang="en-US" altLang="en-US" sz="2400">
                <a:ea typeface="ＭＳ Ｐゴシック" panose="020B0600070205080204" pitchFamily="34" charset="-128"/>
              </a:rPr>
              <a:t> identical objects into </a:t>
            </a:r>
            <a:r>
              <a:rPr lang="en-US" altLang="en-US" sz="2400" i="1">
                <a:ea typeface="ＭＳ Ｐゴシック" panose="020B0600070205080204" pitchFamily="34" charset="-128"/>
              </a:rPr>
              <a:t>n</a:t>
            </a:r>
            <a:r>
              <a:rPr lang="en-US" altLang="en-US" sz="2400">
                <a:ea typeface="ＭＳ Ｐゴシック" panose="020B0600070205080204" pitchFamily="34" charset="-128"/>
              </a:rPr>
              <a:t> different boxes is equivalent to choosing an (unordered) subset of </a:t>
            </a:r>
            <a:r>
              <a:rPr lang="en-US" altLang="en-US" sz="2400" i="1">
                <a:ea typeface="ＭＳ Ｐゴシック" panose="020B0600070205080204" pitchFamily="34" charset="-128"/>
              </a:rPr>
              <a:t>r</a:t>
            </a:r>
            <a:r>
              <a:rPr lang="en-US" altLang="en-US" sz="2400">
                <a:ea typeface="ＭＳ Ｐゴシック" panose="020B0600070205080204" pitchFamily="34" charset="-128"/>
              </a:rPr>
              <a:t> box names with repetition from among the </a:t>
            </a:r>
            <a:r>
              <a:rPr lang="en-US" altLang="en-US" sz="2400" i="1">
                <a:ea typeface="ＭＳ Ｐゴシック" panose="020B0600070205080204" pitchFamily="34" charset="-128"/>
              </a:rPr>
              <a:t>n</a:t>
            </a:r>
            <a:r>
              <a:rPr lang="en-US" altLang="en-US" sz="2400">
                <a:ea typeface="ＭＳ Ｐゴシック" panose="020B0600070205080204" pitchFamily="34" charset="-128"/>
              </a:rPr>
              <a:t> choices of boxes.</a:t>
            </a:r>
          </a:p>
          <a:p>
            <a:pPr eaLnBrk="1" hangingPunct="1">
              <a:buFontTx/>
              <a:buNone/>
            </a:pPr>
            <a:r>
              <a:rPr lang="en-US" altLang="en-US" sz="2400">
                <a:ea typeface="ＭＳ Ｐゴシック" panose="020B0600070205080204" pitchFamily="34" charset="-128"/>
              </a:rPr>
              <a:t>		Thus there are </a:t>
            </a:r>
            <a:r>
              <a:rPr lang="en-US" altLang="en-US" sz="2400" i="1">
                <a:ea typeface="ＭＳ Ｐゴシック" panose="020B0600070205080204" pitchFamily="34" charset="-128"/>
              </a:rPr>
              <a:t>C</a:t>
            </a:r>
            <a:r>
              <a:rPr lang="en-US" altLang="en-US" sz="2400">
                <a:ea typeface="ＭＳ Ｐゴシック" panose="020B0600070205080204" pitchFamily="34" charset="-128"/>
              </a:rPr>
              <a:t>(</a:t>
            </a:r>
            <a:r>
              <a:rPr lang="en-US" altLang="en-US" sz="2400" i="1">
                <a:ea typeface="ＭＳ Ｐゴシック" panose="020B0600070205080204" pitchFamily="34" charset="-128"/>
              </a:rPr>
              <a:t>r</a:t>
            </a:r>
            <a:r>
              <a:rPr lang="en-US" altLang="en-US" sz="2400">
                <a:ea typeface="ＭＳ Ｐゴシック" panose="020B0600070205080204" pitchFamily="34" charset="-128"/>
              </a:rPr>
              <a:t>+</a:t>
            </a:r>
            <a:r>
              <a:rPr lang="en-US" altLang="en-US" sz="2400" i="1">
                <a:ea typeface="ＭＳ Ｐゴシック" panose="020B0600070205080204" pitchFamily="34" charset="-128"/>
              </a:rPr>
              <a:t>n</a:t>
            </a:r>
            <a:r>
              <a:rPr lang="en-US" altLang="en-US" sz="2400">
                <a:ea typeface="ＭＳ Ｐゴシック" panose="020B0600070205080204" pitchFamily="34" charset="-128"/>
              </a:rPr>
              <a:t>-1, </a:t>
            </a:r>
            <a:r>
              <a:rPr lang="en-US" altLang="en-US" sz="2400" i="1">
                <a:ea typeface="ＭＳ Ｐゴシック" panose="020B0600070205080204" pitchFamily="34" charset="-128"/>
              </a:rPr>
              <a:t>r</a:t>
            </a:r>
            <a:r>
              <a:rPr lang="en-US" altLang="en-US" sz="2400">
                <a:ea typeface="ＭＳ Ｐゴシック" panose="020B0600070205080204" pitchFamily="34" charset="-128"/>
              </a:rPr>
              <a:t>) = (</a:t>
            </a:r>
            <a:r>
              <a:rPr lang="en-US" altLang="en-US" sz="2400" i="1">
                <a:ea typeface="ＭＳ Ｐゴシック" panose="020B0600070205080204" pitchFamily="34" charset="-128"/>
              </a:rPr>
              <a:t>r</a:t>
            </a:r>
            <a:r>
              <a:rPr lang="en-US" altLang="en-US" sz="2400">
                <a:ea typeface="ＭＳ Ｐゴシック" panose="020B0600070205080204" pitchFamily="34" charset="-128"/>
              </a:rPr>
              <a:t>+</a:t>
            </a:r>
            <a:r>
              <a:rPr lang="en-US" altLang="en-US" sz="2400" i="1">
                <a:ea typeface="ＭＳ Ｐゴシック" panose="020B0600070205080204" pitchFamily="34" charset="-128"/>
              </a:rPr>
              <a:t>n</a:t>
            </a:r>
            <a:r>
              <a:rPr lang="en-US" altLang="en-US" sz="2400">
                <a:ea typeface="ＭＳ Ｐゴシック" panose="020B0600070205080204" pitchFamily="34" charset="-128"/>
              </a:rPr>
              <a:t>-1)!/</a:t>
            </a:r>
            <a:r>
              <a:rPr lang="en-US" altLang="en-US" sz="2400" i="1">
                <a:ea typeface="ＭＳ Ｐゴシック" panose="020B0600070205080204" pitchFamily="34" charset="-128"/>
              </a:rPr>
              <a:t>r</a:t>
            </a:r>
            <a:r>
              <a:rPr lang="en-US" altLang="en-US" sz="2400">
                <a:ea typeface="ＭＳ Ｐゴシック" panose="020B0600070205080204" pitchFamily="34" charset="-128"/>
              </a:rPr>
              <a:t>!(</a:t>
            </a:r>
            <a:r>
              <a:rPr lang="en-US" altLang="en-US" sz="2400" i="1">
                <a:ea typeface="ＭＳ Ｐゴシック" panose="020B0600070205080204" pitchFamily="34" charset="-128"/>
              </a:rPr>
              <a:t>n</a:t>
            </a:r>
            <a:r>
              <a:rPr lang="en-US" altLang="en-US" sz="2400">
                <a:ea typeface="ＭＳ Ｐゴシック" panose="020B0600070205080204" pitchFamily="34" charset="-128"/>
              </a:rPr>
              <a:t>-1)! distributions of the </a:t>
            </a:r>
            <a:r>
              <a:rPr lang="en-US" altLang="en-US" sz="2400" i="1">
                <a:ea typeface="ＭＳ Ｐゴシック" panose="020B0600070205080204" pitchFamily="34" charset="-128"/>
              </a:rPr>
              <a:t>r</a:t>
            </a:r>
            <a:r>
              <a:rPr lang="en-US" altLang="en-US" sz="2400">
                <a:ea typeface="ＭＳ Ｐゴシック" panose="020B0600070205080204" pitchFamily="34" charset="-128"/>
              </a:rPr>
              <a:t> identical objects.  </a:t>
            </a:r>
          </a:p>
        </p:txBody>
      </p:sp>
      <p:grpSp>
        <p:nvGrpSpPr>
          <p:cNvPr id="19462" name="Group 4">
            <a:extLst>
              <a:ext uri="{FF2B5EF4-FFF2-40B4-BE49-F238E27FC236}">
                <a16:creationId xmlns:a16="http://schemas.microsoft.com/office/drawing/2014/main" id="{E6B4B5E2-1D04-4844-A672-452267DFAED0}"/>
              </a:ext>
            </a:extLst>
          </p:cNvPr>
          <p:cNvGrpSpPr>
            <a:grpSpLocks/>
          </p:cNvGrpSpPr>
          <p:nvPr/>
        </p:nvGrpSpPr>
        <p:grpSpPr bwMode="auto">
          <a:xfrm>
            <a:off x="1752600" y="4830763"/>
            <a:ext cx="9144000" cy="990600"/>
            <a:chOff x="192" y="3312"/>
            <a:chExt cx="5760" cy="624"/>
          </a:xfrm>
        </p:grpSpPr>
        <p:sp>
          <p:nvSpPr>
            <p:cNvPr id="19465" name="Text Box 5">
              <a:extLst>
                <a:ext uri="{FF2B5EF4-FFF2-40B4-BE49-F238E27FC236}">
                  <a16:creationId xmlns:a16="http://schemas.microsoft.com/office/drawing/2014/main" id="{94EE569B-684E-114F-9F26-E03CA2421203}"/>
                </a:ext>
              </a:extLst>
            </p:cNvPr>
            <p:cNvSpPr txBox="1">
              <a:spLocks noChangeArrowheads="1"/>
            </p:cNvSpPr>
            <p:nvPr/>
          </p:nvSpPr>
          <p:spPr bwMode="auto">
            <a:xfrm>
              <a:off x="1248" y="3648"/>
              <a:ext cx="47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rgbClr val="C61806"/>
                  </a:solidFill>
                  <a:latin typeface="Tahoma" panose="020B0604030504040204" pitchFamily="34" charset="0"/>
                </a:rPr>
                <a:t>Red  Red   </a:t>
              </a:r>
              <a:r>
                <a:rPr lang="en-US" altLang="en-US" b="1">
                  <a:solidFill>
                    <a:srgbClr val="2504C8"/>
                  </a:solidFill>
                  <a:latin typeface="Tahoma" panose="020B0604030504040204" pitchFamily="34" charset="0"/>
                </a:rPr>
                <a:t>Blue  Blue   </a:t>
              </a:r>
              <a:r>
                <a:rPr lang="en-US" altLang="en-US" b="1">
                  <a:solidFill>
                    <a:srgbClr val="0EBE1F"/>
                  </a:solidFill>
                  <a:latin typeface="Tahoma" panose="020B0604030504040204" pitchFamily="34" charset="0"/>
                </a:rPr>
                <a:t>Green  Green  Green</a:t>
              </a:r>
              <a:endParaRPr lang="en-US" altLang="en-US" b="1">
                <a:solidFill>
                  <a:srgbClr val="C61806"/>
                </a:solidFill>
                <a:latin typeface="Tahoma" panose="020B0604030504040204" pitchFamily="34" charset="0"/>
              </a:endParaRPr>
            </a:p>
          </p:txBody>
        </p:sp>
        <p:grpSp>
          <p:nvGrpSpPr>
            <p:cNvPr id="19466" name="Group 6">
              <a:extLst>
                <a:ext uri="{FF2B5EF4-FFF2-40B4-BE49-F238E27FC236}">
                  <a16:creationId xmlns:a16="http://schemas.microsoft.com/office/drawing/2014/main" id="{019871E6-565E-D54A-9381-AA0F03A09776}"/>
                </a:ext>
              </a:extLst>
            </p:cNvPr>
            <p:cNvGrpSpPr>
              <a:grpSpLocks/>
            </p:cNvGrpSpPr>
            <p:nvPr/>
          </p:nvGrpSpPr>
          <p:grpSpPr bwMode="auto">
            <a:xfrm>
              <a:off x="1392" y="3360"/>
              <a:ext cx="3888" cy="288"/>
              <a:chOff x="672" y="3552"/>
              <a:chExt cx="3888" cy="288"/>
            </a:xfrm>
          </p:grpSpPr>
          <p:sp>
            <p:nvSpPr>
              <p:cNvPr id="19469" name="AutoShape 7">
                <a:extLst>
                  <a:ext uri="{FF2B5EF4-FFF2-40B4-BE49-F238E27FC236}">
                    <a16:creationId xmlns:a16="http://schemas.microsoft.com/office/drawing/2014/main" id="{1A13EEF9-6EFC-1546-BB61-97C537F665E7}"/>
                  </a:ext>
                </a:extLst>
              </p:cNvPr>
              <p:cNvSpPr>
                <a:spLocks noChangeArrowheads="1"/>
              </p:cNvSpPr>
              <p:nvPr/>
            </p:nvSpPr>
            <p:spPr bwMode="auto">
              <a:xfrm>
                <a:off x="168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70" name="AutoShape 8">
                <a:extLst>
                  <a:ext uri="{FF2B5EF4-FFF2-40B4-BE49-F238E27FC236}">
                    <a16:creationId xmlns:a16="http://schemas.microsoft.com/office/drawing/2014/main" id="{DECE0C84-C24F-1B4F-96DD-903A96BF2F03}"/>
                  </a:ext>
                </a:extLst>
              </p:cNvPr>
              <p:cNvSpPr>
                <a:spLocks noChangeArrowheads="1"/>
              </p:cNvSpPr>
              <p:nvPr/>
            </p:nvSpPr>
            <p:spPr bwMode="auto">
              <a:xfrm>
                <a:off x="2256"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71" name="AutoShape 9">
                <a:extLst>
                  <a:ext uri="{FF2B5EF4-FFF2-40B4-BE49-F238E27FC236}">
                    <a16:creationId xmlns:a16="http://schemas.microsoft.com/office/drawing/2014/main" id="{10B051FB-3741-EA41-B996-E536B465ED76}"/>
                  </a:ext>
                </a:extLst>
              </p:cNvPr>
              <p:cNvSpPr>
                <a:spLocks noChangeArrowheads="1"/>
              </p:cNvSpPr>
              <p:nvPr/>
            </p:nvSpPr>
            <p:spPr bwMode="auto">
              <a:xfrm>
                <a:off x="288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72" name="AutoShape 10">
                <a:extLst>
                  <a:ext uri="{FF2B5EF4-FFF2-40B4-BE49-F238E27FC236}">
                    <a16:creationId xmlns:a16="http://schemas.microsoft.com/office/drawing/2014/main" id="{C2845C08-B2CF-4548-8BA9-3E5DE159A335}"/>
                  </a:ext>
                </a:extLst>
              </p:cNvPr>
              <p:cNvSpPr>
                <a:spLocks noChangeArrowheads="1"/>
              </p:cNvSpPr>
              <p:nvPr/>
            </p:nvSpPr>
            <p:spPr bwMode="auto">
              <a:xfrm>
                <a:off x="360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73" name="AutoShape 11">
                <a:extLst>
                  <a:ext uri="{FF2B5EF4-FFF2-40B4-BE49-F238E27FC236}">
                    <a16:creationId xmlns:a16="http://schemas.microsoft.com/office/drawing/2014/main" id="{227EB225-9220-2D4D-A4AD-217AB8591197}"/>
                  </a:ext>
                </a:extLst>
              </p:cNvPr>
              <p:cNvSpPr>
                <a:spLocks noChangeArrowheads="1"/>
              </p:cNvSpPr>
              <p:nvPr/>
            </p:nvSpPr>
            <p:spPr bwMode="auto">
              <a:xfrm>
                <a:off x="427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74" name="AutoShape 12">
                <a:extLst>
                  <a:ext uri="{FF2B5EF4-FFF2-40B4-BE49-F238E27FC236}">
                    <a16:creationId xmlns:a16="http://schemas.microsoft.com/office/drawing/2014/main" id="{2A8BED31-5944-D545-8B4B-E56C672369E0}"/>
                  </a:ext>
                </a:extLst>
              </p:cNvPr>
              <p:cNvSpPr>
                <a:spLocks noChangeArrowheads="1"/>
              </p:cNvSpPr>
              <p:nvPr/>
            </p:nvSpPr>
            <p:spPr bwMode="auto">
              <a:xfrm>
                <a:off x="67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75" name="AutoShape 13">
                <a:extLst>
                  <a:ext uri="{FF2B5EF4-FFF2-40B4-BE49-F238E27FC236}">
                    <a16:creationId xmlns:a16="http://schemas.microsoft.com/office/drawing/2014/main" id="{B054E830-0788-DB40-BA5C-7A3F0700E837}"/>
                  </a:ext>
                </a:extLst>
              </p:cNvPr>
              <p:cNvSpPr>
                <a:spLocks noChangeArrowheads="1"/>
              </p:cNvSpPr>
              <p:nvPr/>
            </p:nvSpPr>
            <p:spPr bwMode="auto">
              <a:xfrm>
                <a:off x="115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19467" name="AutoShape 14">
              <a:extLst>
                <a:ext uri="{FF2B5EF4-FFF2-40B4-BE49-F238E27FC236}">
                  <a16:creationId xmlns:a16="http://schemas.microsoft.com/office/drawing/2014/main" id="{E4D12432-5CD6-554A-B2B9-1D20C19F3163}"/>
                </a:ext>
              </a:extLst>
            </p:cNvPr>
            <p:cNvSpPr>
              <a:spLocks/>
            </p:cNvSpPr>
            <p:nvPr/>
          </p:nvSpPr>
          <p:spPr bwMode="auto">
            <a:xfrm>
              <a:off x="1104" y="3360"/>
              <a:ext cx="144" cy="336"/>
            </a:xfrm>
            <a:prstGeom prst="leftBrace">
              <a:avLst>
                <a:gd name="adj1" fmla="val 1944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9468" name="Rectangle 15">
              <a:extLst>
                <a:ext uri="{FF2B5EF4-FFF2-40B4-BE49-F238E27FC236}">
                  <a16:creationId xmlns:a16="http://schemas.microsoft.com/office/drawing/2014/main" id="{BD651BEE-DF7A-A142-B1DD-4EA01D833A7C}"/>
                </a:ext>
              </a:extLst>
            </p:cNvPr>
            <p:cNvSpPr>
              <a:spLocks noChangeArrowheads="1"/>
            </p:cNvSpPr>
            <p:nvPr/>
          </p:nvSpPr>
          <p:spPr bwMode="auto">
            <a:xfrm>
              <a:off x="192" y="3312"/>
              <a:ext cx="105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b="1" i="1">
                  <a:latin typeface="Tahoma" panose="020B0604030504040204" pitchFamily="34" charset="0"/>
                </a:rPr>
                <a:t>r </a:t>
              </a:r>
              <a:r>
                <a:rPr lang="en-US" altLang="en-US" sz="2000" b="1">
                  <a:latin typeface="Tahoma" panose="020B0604030504040204" pitchFamily="34" charset="0"/>
                </a:rPr>
                <a:t>identical objects</a:t>
              </a:r>
            </a:p>
          </p:txBody>
        </p:sp>
      </p:grpSp>
      <p:sp>
        <p:nvSpPr>
          <p:cNvPr id="19463" name="Line 16">
            <a:extLst>
              <a:ext uri="{FF2B5EF4-FFF2-40B4-BE49-F238E27FC236}">
                <a16:creationId xmlns:a16="http://schemas.microsoft.com/office/drawing/2014/main" id="{C6AFB5F8-A789-5240-BF05-AB29041E5C04}"/>
              </a:ext>
            </a:extLst>
          </p:cNvPr>
          <p:cNvSpPr>
            <a:spLocks noChangeShapeType="1"/>
          </p:cNvSpPr>
          <p:nvPr/>
        </p:nvSpPr>
        <p:spPr bwMode="auto">
          <a:xfrm>
            <a:off x="5029200" y="4678363"/>
            <a:ext cx="0" cy="1204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4" name="Line 17">
            <a:extLst>
              <a:ext uri="{FF2B5EF4-FFF2-40B4-BE49-F238E27FC236}">
                <a16:creationId xmlns:a16="http://schemas.microsoft.com/office/drawing/2014/main" id="{6632E691-F20F-884C-B8E2-906084F15833}"/>
              </a:ext>
            </a:extLst>
          </p:cNvPr>
          <p:cNvSpPr>
            <a:spLocks noChangeShapeType="1"/>
          </p:cNvSpPr>
          <p:nvPr/>
        </p:nvSpPr>
        <p:spPr bwMode="auto">
          <a:xfrm>
            <a:off x="6858000" y="4710113"/>
            <a:ext cx="0" cy="1204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85094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336C3D89-2380-1A4F-BC41-BBE2CA2BCF81}"/>
              </a:ext>
            </a:extLst>
          </p:cNvPr>
          <p:cNvSpPr>
            <a:spLocks noGrp="1" noChangeArrowheads="1"/>
          </p:cNvSpPr>
          <p:nvPr>
            <p:ph type="title"/>
          </p:nvPr>
        </p:nvSpPr>
        <p:spPr>
          <a:xfrm>
            <a:off x="1905000" y="304800"/>
            <a:ext cx="8763000" cy="838200"/>
          </a:xfrm>
        </p:spPr>
        <p:txBody>
          <a:bodyPr/>
          <a:lstStyle/>
          <a:p>
            <a:pPr eaLnBrk="1" hangingPunct="1"/>
            <a:r>
              <a:rPr lang="en-US" altLang="en-US" sz="3200">
                <a:ea typeface="ＭＳ Ｐゴシック" panose="020B0600070205080204" pitchFamily="34" charset="-128"/>
              </a:rPr>
              <a:t>Equivalent Forms for Selection with Repetition</a:t>
            </a:r>
          </a:p>
        </p:txBody>
      </p:sp>
      <p:sp>
        <p:nvSpPr>
          <p:cNvPr id="20485" name="Text Box 3">
            <a:extLst>
              <a:ext uri="{FF2B5EF4-FFF2-40B4-BE49-F238E27FC236}">
                <a16:creationId xmlns:a16="http://schemas.microsoft.com/office/drawing/2014/main" id="{528B7F01-9099-CF46-810D-217FEEE67DC5}"/>
              </a:ext>
            </a:extLst>
          </p:cNvPr>
          <p:cNvSpPr txBox="1">
            <a:spLocks noChangeArrowheads="1"/>
          </p:cNvSpPr>
          <p:nvPr/>
        </p:nvSpPr>
        <p:spPr bwMode="auto">
          <a:xfrm>
            <a:off x="2422525" y="1098550"/>
            <a:ext cx="7620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AutoNum type="arabicPeriod"/>
            </a:pPr>
            <a:r>
              <a:rPr lang="en-US" altLang="en-US"/>
              <a:t>The number of ways to select </a:t>
            </a:r>
            <a:r>
              <a:rPr lang="en-US" altLang="en-US" i="1"/>
              <a:t>r</a:t>
            </a:r>
            <a:r>
              <a:rPr lang="en-US" altLang="en-US"/>
              <a:t> objects with repetition from </a:t>
            </a:r>
            <a:r>
              <a:rPr lang="en-US" altLang="en-US" i="1"/>
              <a:t>n</a:t>
            </a:r>
            <a:r>
              <a:rPr lang="en-US" altLang="en-US"/>
              <a:t> different types of objects.</a:t>
            </a:r>
          </a:p>
          <a:p>
            <a:pPr eaLnBrk="1" hangingPunct="1">
              <a:spcBef>
                <a:spcPct val="50000"/>
              </a:spcBef>
              <a:buFontTx/>
              <a:buAutoNum type="arabicPeriod"/>
            </a:pPr>
            <a:r>
              <a:rPr lang="en-US" altLang="en-US"/>
              <a:t>The number of ways to distribute </a:t>
            </a:r>
            <a:r>
              <a:rPr lang="en-US" altLang="en-US" i="1"/>
              <a:t>r</a:t>
            </a:r>
            <a:r>
              <a:rPr lang="en-US" altLang="en-US"/>
              <a:t> identical objects into </a:t>
            </a:r>
            <a:r>
              <a:rPr lang="en-US" altLang="en-US" i="1"/>
              <a:t>n</a:t>
            </a:r>
            <a:r>
              <a:rPr lang="en-US" altLang="en-US"/>
              <a:t> distinct boxes.</a:t>
            </a:r>
          </a:p>
          <a:p>
            <a:pPr eaLnBrk="1" hangingPunct="1">
              <a:spcBef>
                <a:spcPct val="50000"/>
              </a:spcBef>
              <a:buFontTx/>
              <a:buAutoNum type="arabicPeriod"/>
            </a:pPr>
            <a:r>
              <a:rPr lang="en-US" altLang="en-US"/>
              <a:t>The number of nonnegative integer solutions to </a:t>
            </a:r>
            <a:r>
              <a:rPr lang="en-US" altLang="en-US" i="1"/>
              <a:t>x</a:t>
            </a:r>
            <a:r>
              <a:rPr lang="en-US" altLang="en-US" baseline="-25000"/>
              <a:t>1</a:t>
            </a:r>
            <a:r>
              <a:rPr lang="en-US" altLang="en-US"/>
              <a:t>+</a:t>
            </a:r>
            <a:r>
              <a:rPr lang="en-US" altLang="en-US" i="1"/>
              <a:t>x</a:t>
            </a:r>
            <a:r>
              <a:rPr lang="en-US" altLang="en-US" baseline="-25000"/>
              <a:t>2</a:t>
            </a:r>
            <a:r>
              <a:rPr lang="en-US" altLang="en-US"/>
              <a:t>+…+</a:t>
            </a:r>
            <a:r>
              <a:rPr lang="en-US" altLang="en-US" i="1"/>
              <a:t>x</a:t>
            </a:r>
            <a:r>
              <a:rPr lang="en-US" altLang="en-US" i="1" baseline="-25000"/>
              <a:t>n</a:t>
            </a:r>
            <a:r>
              <a:rPr lang="en-US" altLang="en-US"/>
              <a:t>=</a:t>
            </a:r>
            <a:r>
              <a:rPr lang="en-US" altLang="en-US" i="1"/>
              <a:t>r</a:t>
            </a:r>
            <a:r>
              <a:rPr lang="en-US" altLang="en-US"/>
              <a:t>.  </a:t>
            </a:r>
          </a:p>
        </p:txBody>
      </p:sp>
      <p:sp>
        <p:nvSpPr>
          <p:cNvPr id="20486" name="Text Box 4">
            <a:extLst>
              <a:ext uri="{FF2B5EF4-FFF2-40B4-BE49-F238E27FC236}">
                <a16:creationId xmlns:a16="http://schemas.microsoft.com/office/drawing/2014/main" id="{061FB2F6-700F-7842-B7A5-DF15590BC8B0}"/>
              </a:ext>
            </a:extLst>
          </p:cNvPr>
          <p:cNvSpPr txBox="1">
            <a:spLocks noChangeArrowheads="1"/>
          </p:cNvSpPr>
          <p:nvPr/>
        </p:nvSpPr>
        <p:spPr bwMode="auto">
          <a:xfrm>
            <a:off x="3278189" y="5011738"/>
            <a:ext cx="7069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rgbClr val="C61806"/>
                </a:solidFill>
                <a:latin typeface="Tahoma" panose="020B0604030504040204" pitchFamily="34" charset="0"/>
              </a:rPr>
              <a:t>Red  Red   </a:t>
            </a:r>
            <a:r>
              <a:rPr lang="en-US" altLang="en-US" b="1">
                <a:solidFill>
                  <a:srgbClr val="2504C8"/>
                </a:solidFill>
                <a:latin typeface="Tahoma" panose="020B0604030504040204" pitchFamily="34" charset="0"/>
              </a:rPr>
              <a:t>Blue  Blue   </a:t>
            </a:r>
            <a:r>
              <a:rPr lang="en-US" altLang="en-US" b="1">
                <a:solidFill>
                  <a:srgbClr val="0EBE1F"/>
                </a:solidFill>
                <a:latin typeface="Tahoma" panose="020B0604030504040204" pitchFamily="34" charset="0"/>
              </a:rPr>
              <a:t>Green  Green  Green</a:t>
            </a:r>
            <a:endParaRPr lang="en-US" altLang="en-US" b="1">
              <a:solidFill>
                <a:srgbClr val="C61806"/>
              </a:solidFill>
              <a:latin typeface="Tahoma" panose="020B0604030504040204" pitchFamily="34" charset="0"/>
            </a:endParaRPr>
          </a:p>
        </p:txBody>
      </p:sp>
      <p:sp>
        <p:nvSpPr>
          <p:cNvPr id="20487" name="AutoShape 5">
            <a:extLst>
              <a:ext uri="{FF2B5EF4-FFF2-40B4-BE49-F238E27FC236}">
                <a16:creationId xmlns:a16="http://schemas.microsoft.com/office/drawing/2014/main" id="{AF38F2C2-A789-E745-B995-D17532901E0F}"/>
              </a:ext>
            </a:extLst>
          </p:cNvPr>
          <p:cNvSpPr>
            <a:spLocks noChangeArrowheads="1"/>
          </p:cNvSpPr>
          <p:nvPr/>
        </p:nvSpPr>
        <p:spPr bwMode="auto">
          <a:xfrm>
            <a:off x="5002213" y="4570414"/>
            <a:ext cx="449262"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88" name="AutoShape 6">
            <a:extLst>
              <a:ext uri="{FF2B5EF4-FFF2-40B4-BE49-F238E27FC236}">
                <a16:creationId xmlns:a16="http://schemas.microsoft.com/office/drawing/2014/main" id="{720704CB-FAD9-8142-8275-22C94731E2A1}"/>
              </a:ext>
            </a:extLst>
          </p:cNvPr>
          <p:cNvSpPr>
            <a:spLocks noChangeArrowheads="1"/>
          </p:cNvSpPr>
          <p:nvPr/>
        </p:nvSpPr>
        <p:spPr bwMode="auto">
          <a:xfrm>
            <a:off x="5902326" y="4570414"/>
            <a:ext cx="449263"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89" name="AutoShape 7">
            <a:extLst>
              <a:ext uri="{FF2B5EF4-FFF2-40B4-BE49-F238E27FC236}">
                <a16:creationId xmlns:a16="http://schemas.microsoft.com/office/drawing/2014/main" id="{8CAF742B-0429-A142-AC52-1F0C2347487C}"/>
              </a:ext>
            </a:extLst>
          </p:cNvPr>
          <p:cNvSpPr>
            <a:spLocks noChangeArrowheads="1"/>
          </p:cNvSpPr>
          <p:nvPr/>
        </p:nvSpPr>
        <p:spPr bwMode="auto">
          <a:xfrm>
            <a:off x="6875463" y="4570414"/>
            <a:ext cx="449262"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90" name="AutoShape 8">
            <a:extLst>
              <a:ext uri="{FF2B5EF4-FFF2-40B4-BE49-F238E27FC236}">
                <a16:creationId xmlns:a16="http://schemas.microsoft.com/office/drawing/2014/main" id="{A5CC9E19-A78A-794A-B7F3-A5073CCC5A31}"/>
              </a:ext>
            </a:extLst>
          </p:cNvPr>
          <p:cNvSpPr>
            <a:spLocks noChangeArrowheads="1"/>
          </p:cNvSpPr>
          <p:nvPr/>
        </p:nvSpPr>
        <p:spPr bwMode="auto">
          <a:xfrm>
            <a:off x="7999413" y="4570414"/>
            <a:ext cx="449262"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91" name="AutoShape 9">
            <a:extLst>
              <a:ext uri="{FF2B5EF4-FFF2-40B4-BE49-F238E27FC236}">
                <a16:creationId xmlns:a16="http://schemas.microsoft.com/office/drawing/2014/main" id="{28FE451A-3262-8542-AB74-0F771E11CC25}"/>
              </a:ext>
            </a:extLst>
          </p:cNvPr>
          <p:cNvSpPr>
            <a:spLocks noChangeArrowheads="1"/>
          </p:cNvSpPr>
          <p:nvPr/>
        </p:nvSpPr>
        <p:spPr bwMode="auto">
          <a:xfrm>
            <a:off x="9048751" y="4570414"/>
            <a:ext cx="449263"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92" name="AutoShape 10">
            <a:extLst>
              <a:ext uri="{FF2B5EF4-FFF2-40B4-BE49-F238E27FC236}">
                <a16:creationId xmlns:a16="http://schemas.microsoft.com/office/drawing/2014/main" id="{ED442277-0B72-9A4A-9776-68FC14287D1D}"/>
              </a:ext>
            </a:extLst>
          </p:cNvPr>
          <p:cNvSpPr>
            <a:spLocks noChangeArrowheads="1"/>
          </p:cNvSpPr>
          <p:nvPr/>
        </p:nvSpPr>
        <p:spPr bwMode="auto">
          <a:xfrm>
            <a:off x="3429001" y="4570414"/>
            <a:ext cx="449263"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93" name="AutoShape 11">
            <a:extLst>
              <a:ext uri="{FF2B5EF4-FFF2-40B4-BE49-F238E27FC236}">
                <a16:creationId xmlns:a16="http://schemas.microsoft.com/office/drawing/2014/main" id="{A1400E7F-665E-2A48-9D05-3918940882AD}"/>
              </a:ext>
            </a:extLst>
          </p:cNvPr>
          <p:cNvSpPr>
            <a:spLocks noChangeArrowheads="1"/>
          </p:cNvSpPr>
          <p:nvPr/>
        </p:nvSpPr>
        <p:spPr bwMode="auto">
          <a:xfrm>
            <a:off x="4162426" y="4554539"/>
            <a:ext cx="449263" cy="339725"/>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0494" name="Rectangle 13">
            <a:extLst>
              <a:ext uri="{FF2B5EF4-FFF2-40B4-BE49-F238E27FC236}">
                <a16:creationId xmlns:a16="http://schemas.microsoft.com/office/drawing/2014/main" id="{3D770110-BBFA-1740-A4B7-8EBC267A4911}"/>
              </a:ext>
            </a:extLst>
          </p:cNvPr>
          <p:cNvSpPr>
            <a:spLocks noChangeArrowheads="1"/>
          </p:cNvSpPr>
          <p:nvPr/>
        </p:nvSpPr>
        <p:spPr bwMode="auto">
          <a:xfrm>
            <a:off x="3717926" y="3857626"/>
            <a:ext cx="5413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b="1">
                <a:latin typeface="Tahoma" panose="020B0604030504040204" pitchFamily="34" charset="0"/>
              </a:rPr>
              <a:t>7 identical objects into 3 distinct boxes</a:t>
            </a:r>
          </a:p>
        </p:txBody>
      </p:sp>
      <p:sp>
        <p:nvSpPr>
          <p:cNvPr id="20495" name="Text Box 14">
            <a:extLst>
              <a:ext uri="{FF2B5EF4-FFF2-40B4-BE49-F238E27FC236}">
                <a16:creationId xmlns:a16="http://schemas.microsoft.com/office/drawing/2014/main" id="{40F48EA1-7B18-1D4E-8319-28885ACC3FDE}"/>
              </a:ext>
            </a:extLst>
          </p:cNvPr>
          <p:cNvSpPr txBox="1">
            <a:spLocks noChangeArrowheads="1"/>
          </p:cNvSpPr>
          <p:nvPr/>
        </p:nvSpPr>
        <p:spPr bwMode="auto">
          <a:xfrm>
            <a:off x="2590800" y="5624513"/>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latin typeface="Tahoma" panose="020B0604030504040204" pitchFamily="34" charset="0"/>
              </a:rPr>
              <a:t>7   =       </a:t>
            </a:r>
            <a:r>
              <a:rPr lang="en-US" altLang="en-US" b="1">
                <a:solidFill>
                  <a:srgbClr val="C61806"/>
                </a:solidFill>
                <a:latin typeface="Tahoma" panose="020B0604030504040204" pitchFamily="34" charset="0"/>
              </a:rPr>
              <a:t>2</a:t>
            </a:r>
            <a:r>
              <a:rPr lang="en-US" altLang="en-US" b="1">
                <a:latin typeface="Tahoma" panose="020B0604030504040204" pitchFamily="34" charset="0"/>
              </a:rPr>
              <a:t>      +        </a:t>
            </a:r>
            <a:r>
              <a:rPr lang="en-US" altLang="en-US" b="1">
                <a:solidFill>
                  <a:srgbClr val="2504C8"/>
                </a:solidFill>
                <a:latin typeface="Tahoma" panose="020B0604030504040204" pitchFamily="34" charset="0"/>
              </a:rPr>
              <a:t>2</a:t>
            </a:r>
            <a:r>
              <a:rPr lang="en-US" altLang="en-US" b="1">
                <a:latin typeface="Tahoma" panose="020B0604030504040204" pitchFamily="34" charset="0"/>
              </a:rPr>
              <a:t>        +             </a:t>
            </a:r>
            <a:r>
              <a:rPr lang="en-US" altLang="en-US" b="1">
                <a:solidFill>
                  <a:srgbClr val="0EBE1F"/>
                </a:solidFill>
                <a:latin typeface="Tahoma" panose="020B0604030504040204" pitchFamily="34" charset="0"/>
              </a:rPr>
              <a:t>3</a:t>
            </a:r>
          </a:p>
        </p:txBody>
      </p:sp>
      <p:sp>
        <p:nvSpPr>
          <p:cNvPr id="20496" name="Line 15">
            <a:extLst>
              <a:ext uri="{FF2B5EF4-FFF2-40B4-BE49-F238E27FC236}">
                <a16:creationId xmlns:a16="http://schemas.microsoft.com/office/drawing/2014/main" id="{C39411BB-2985-7940-9DD7-4F2E0EA64443}"/>
              </a:ext>
            </a:extLst>
          </p:cNvPr>
          <p:cNvSpPr>
            <a:spLocks noChangeShapeType="1"/>
          </p:cNvSpPr>
          <p:nvPr/>
        </p:nvSpPr>
        <p:spPr bwMode="auto">
          <a:xfrm>
            <a:off x="4846638" y="4267201"/>
            <a:ext cx="0" cy="1173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7" name="Line 16">
            <a:extLst>
              <a:ext uri="{FF2B5EF4-FFF2-40B4-BE49-F238E27FC236}">
                <a16:creationId xmlns:a16="http://schemas.microsoft.com/office/drawing/2014/main" id="{076D65C2-E190-2D4C-87FD-10650C1C40C9}"/>
              </a:ext>
            </a:extLst>
          </p:cNvPr>
          <p:cNvSpPr>
            <a:spLocks noChangeShapeType="1"/>
          </p:cNvSpPr>
          <p:nvPr/>
        </p:nvSpPr>
        <p:spPr bwMode="auto">
          <a:xfrm>
            <a:off x="6659563" y="4298951"/>
            <a:ext cx="0" cy="1173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95773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3FFD7AEE-08BE-4E44-AE99-3B6E1A794978}"/>
              </a:ext>
            </a:extLst>
          </p:cNvPr>
          <p:cNvSpPr>
            <a:spLocks noGrp="1" noChangeArrowheads="1"/>
          </p:cNvSpPr>
          <p:nvPr>
            <p:ph type="title"/>
          </p:nvPr>
        </p:nvSpPr>
        <p:spPr>
          <a:xfrm>
            <a:off x="2057400" y="381000"/>
            <a:ext cx="7772400" cy="1143000"/>
          </a:xfrm>
        </p:spPr>
        <p:txBody>
          <a:bodyPr/>
          <a:lstStyle/>
          <a:p>
            <a:pPr eaLnBrk="1" hangingPunct="1"/>
            <a:r>
              <a:rPr lang="en-US" altLang="en-US" sz="2800">
                <a:ea typeface="ＭＳ Ｐゴシック" panose="020B0600070205080204" pitchFamily="34" charset="-128"/>
              </a:rPr>
              <a:t>Ways to Arrange, Select, or Distribute </a:t>
            </a:r>
            <a:r>
              <a:rPr lang="en-US" altLang="en-US" sz="2800" i="1">
                <a:ea typeface="ＭＳ Ｐゴシック" panose="020B0600070205080204" pitchFamily="34" charset="-128"/>
              </a:rPr>
              <a:t>r</a:t>
            </a:r>
            <a:r>
              <a:rPr lang="en-US" altLang="en-US" sz="2800">
                <a:ea typeface="ＭＳ Ｐゴシック" panose="020B0600070205080204" pitchFamily="34" charset="-128"/>
              </a:rPr>
              <a:t>  Objects from </a:t>
            </a:r>
            <a:r>
              <a:rPr lang="en-US" altLang="en-US" sz="2800" i="1">
                <a:ea typeface="ＭＳ Ｐゴシック" panose="020B0600070205080204" pitchFamily="34" charset="-128"/>
              </a:rPr>
              <a:t>n</a:t>
            </a:r>
            <a:r>
              <a:rPr lang="en-US" altLang="en-US" sz="2800">
                <a:ea typeface="ＭＳ Ｐゴシック" panose="020B0600070205080204" pitchFamily="34" charset="-128"/>
              </a:rPr>
              <a:t> Items or into </a:t>
            </a:r>
            <a:r>
              <a:rPr lang="en-US" altLang="en-US" sz="2800" i="1">
                <a:ea typeface="ＭＳ Ｐゴシック" panose="020B0600070205080204" pitchFamily="34" charset="-128"/>
              </a:rPr>
              <a:t>n</a:t>
            </a:r>
            <a:r>
              <a:rPr lang="en-US" altLang="en-US" sz="2800">
                <a:ea typeface="ＭＳ Ｐゴシック" panose="020B0600070205080204" pitchFamily="34" charset="-128"/>
              </a:rPr>
              <a:t> Boxes</a:t>
            </a:r>
            <a:endParaRPr lang="en-US" altLang="en-US" sz="2800" i="1">
              <a:ea typeface="ＭＳ Ｐゴシック" panose="020B0600070205080204" pitchFamily="34" charset="-128"/>
            </a:endParaRPr>
          </a:p>
        </p:txBody>
      </p:sp>
      <p:sp>
        <p:nvSpPr>
          <p:cNvPr id="21509" name="Text Box 4">
            <a:extLst>
              <a:ext uri="{FF2B5EF4-FFF2-40B4-BE49-F238E27FC236}">
                <a16:creationId xmlns:a16="http://schemas.microsoft.com/office/drawing/2014/main" id="{CCAA1962-B5EB-CC4E-A272-DDBE658C2F21}"/>
              </a:ext>
            </a:extLst>
          </p:cNvPr>
          <p:cNvSpPr txBox="1">
            <a:spLocks noChangeArrowheads="1"/>
          </p:cNvSpPr>
          <p:nvPr/>
        </p:nvSpPr>
        <p:spPr bwMode="auto">
          <a:xfrm>
            <a:off x="1762018" y="1605831"/>
            <a:ext cx="48609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t>Arrangement (ordered outcome) </a:t>
            </a:r>
          </a:p>
          <a:p>
            <a:pPr eaLnBrk="1" hangingPunct="1">
              <a:spcBef>
                <a:spcPct val="50000"/>
              </a:spcBef>
            </a:pPr>
            <a:r>
              <a:rPr lang="en-US" altLang="en-US" dirty="0"/>
              <a:t>	or</a:t>
            </a:r>
          </a:p>
          <a:p>
            <a:pPr eaLnBrk="1" hangingPunct="1">
              <a:spcBef>
                <a:spcPct val="50000"/>
              </a:spcBef>
            </a:pPr>
            <a:r>
              <a:rPr lang="en-US" altLang="en-US" dirty="0"/>
              <a:t>Distribution of distinct objects</a:t>
            </a:r>
          </a:p>
        </p:txBody>
      </p:sp>
      <p:sp>
        <p:nvSpPr>
          <p:cNvPr id="21510" name="Text Box 5">
            <a:extLst>
              <a:ext uri="{FF2B5EF4-FFF2-40B4-BE49-F238E27FC236}">
                <a16:creationId xmlns:a16="http://schemas.microsoft.com/office/drawing/2014/main" id="{3225A875-47DB-EE4A-BE2D-32CDAFCAE6E0}"/>
              </a:ext>
            </a:extLst>
          </p:cNvPr>
          <p:cNvSpPr txBox="1">
            <a:spLocks noChangeArrowheads="1"/>
          </p:cNvSpPr>
          <p:nvPr/>
        </p:nvSpPr>
        <p:spPr bwMode="auto">
          <a:xfrm>
            <a:off x="6947338" y="1264036"/>
            <a:ext cx="377983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t>Combination (unordered outcome)</a:t>
            </a:r>
          </a:p>
          <a:p>
            <a:pPr eaLnBrk="1" hangingPunct="1">
              <a:spcBef>
                <a:spcPct val="50000"/>
              </a:spcBef>
            </a:pPr>
            <a:r>
              <a:rPr lang="en-US" altLang="en-US" dirty="0"/>
              <a:t>	or</a:t>
            </a:r>
          </a:p>
          <a:p>
            <a:pPr eaLnBrk="1" hangingPunct="1">
              <a:spcBef>
                <a:spcPct val="50000"/>
              </a:spcBef>
            </a:pPr>
            <a:r>
              <a:rPr lang="en-US" altLang="en-US" dirty="0"/>
              <a:t>Distribution of identical objects</a:t>
            </a:r>
          </a:p>
        </p:txBody>
      </p:sp>
      <p:sp>
        <p:nvSpPr>
          <p:cNvPr id="21511" name="Line 6">
            <a:extLst>
              <a:ext uri="{FF2B5EF4-FFF2-40B4-BE49-F238E27FC236}">
                <a16:creationId xmlns:a16="http://schemas.microsoft.com/office/drawing/2014/main" id="{0C1AD03F-124F-CE45-A7BB-F12A5ED7BCDE}"/>
              </a:ext>
            </a:extLst>
          </p:cNvPr>
          <p:cNvSpPr>
            <a:spLocks noChangeShapeType="1"/>
          </p:cNvSpPr>
          <p:nvPr/>
        </p:nvSpPr>
        <p:spPr bwMode="auto">
          <a:xfrm>
            <a:off x="2103438" y="3749675"/>
            <a:ext cx="815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1512" name="Line 7">
            <a:extLst>
              <a:ext uri="{FF2B5EF4-FFF2-40B4-BE49-F238E27FC236}">
                <a16:creationId xmlns:a16="http://schemas.microsoft.com/office/drawing/2014/main" id="{1ED15A3C-FBEC-8948-A53F-E6AAD0EA82C8}"/>
              </a:ext>
            </a:extLst>
          </p:cNvPr>
          <p:cNvSpPr>
            <a:spLocks noChangeShapeType="1"/>
          </p:cNvSpPr>
          <p:nvPr/>
        </p:nvSpPr>
        <p:spPr bwMode="auto">
          <a:xfrm>
            <a:off x="6765925" y="1493838"/>
            <a:ext cx="0" cy="5105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1514" name="Text Box 8">
            <a:extLst>
              <a:ext uri="{FF2B5EF4-FFF2-40B4-BE49-F238E27FC236}">
                <a16:creationId xmlns:a16="http://schemas.microsoft.com/office/drawing/2014/main" id="{AB9A5972-BA59-D64A-8457-629A96A8CDAA}"/>
              </a:ext>
            </a:extLst>
          </p:cNvPr>
          <p:cNvSpPr txBox="1">
            <a:spLocks noChangeArrowheads="1"/>
          </p:cNvSpPr>
          <p:nvPr/>
        </p:nvSpPr>
        <p:spPr bwMode="auto">
          <a:xfrm>
            <a:off x="1752600" y="3968851"/>
            <a:ext cx="8382000" cy="3170099"/>
          </a:xfrm>
          <a:prstGeom prst="rect">
            <a:avLst/>
          </a:prstGeom>
          <a:noFill/>
          <a:ln w="9525">
            <a:noFill/>
            <a:miter lim="800000"/>
            <a:headEnd/>
            <a:tailEnd/>
          </a:ln>
        </p:spPr>
        <p:txBody>
          <a:bodyPr>
            <a:spAutoFit/>
          </a:bodyPr>
          <a:lstStyle/>
          <a:p>
            <a:pPr>
              <a:spcBef>
                <a:spcPct val="50000"/>
              </a:spcBef>
              <a:defRPr/>
            </a:pPr>
            <a:r>
              <a:rPr lang="en-US" sz="2000" dirty="0">
                <a:latin typeface="Times New Roman" pitchFamily="-93" charset="0"/>
              </a:rPr>
              <a:t>No repetition                                 </a:t>
            </a:r>
            <a:r>
              <a:rPr lang="en-US" sz="2000" b="1" i="1" dirty="0" err="1">
                <a:latin typeface="Times New Roman" pitchFamily="-93" charset="0"/>
              </a:rPr>
              <a:t>P</a:t>
            </a:r>
            <a:r>
              <a:rPr lang="en-US" sz="2000" b="1" dirty="0" err="1">
                <a:latin typeface="Times New Roman" pitchFamily="-93" charset="0"/>
              </a:rPr>
              <a:t>(</a:t>
            </a:r>
            <a:r>
              <a:rPr lang="en-US" sz="2000" b="1" i="1" dirty="0" err="1">
                <a:latin typeface="Times New Roman" pitchFamily="-93" charset="0"/>
              </a:rPr>
              <a:t>n,r</a:t>
            </a:r>
            <a:r>
              <a:rPr lang="en-US" sz="2000" b="1" dirty="0">
                <a:latin typeface="Times New Roman" pitchFamily="-93" charset="0"/>
              </a:rPr>
              <a:t>)                    </a:t>
            </a:r>
            <a:r>
              <a:rPr lang="en-US" sz="2000" b="1" i="1" dirty="0" err="1">
                <a:latin typeface="Times New Roman" pitchFamily="-93" charset="0"/>
              </a:rPr>
              <a:t>C</a:t>
            </a:r>
            <a:r>
              <a:rPr lang="en-US" sz="2000" b="1" dirty="0" err="1">
                <a:latin typeface="Times New Roman" pitchFamily="-93" charset="0"/>
              </a:rPr>
              <a:t>(</a:t>
            </a:r>
            <a:r>
              <a:rPr lang="en-US" sz="2000" b="1" i="1" dirty="0" err="1">
                <a:latin typeface="Times New Roman" pitchFamily="-93" charset="0"/>
              </a:rPr>
              <a:t>n,r</a:t>
            </a:r>
            <a:r>
              <a:rPr lang="en-US" sz="2000" b="1" dirty="0">
                <a:latin typeface="Times New Roman" pitchFamily="-93" charset="0"/>
              </a:rPr>
              <a:t>)</a:t>
            </a:r>
          </a:p>
          <a:p>
            <a:pPr>
              <a:spcBef>
                <a:spcPct val="50000"/>
              </a:spcBef>
              <a:defRPr/>
            </a:pPr>
            <a:endParaRPr lang="en-US" sz="2000" b="1" dirty="0">
              <a:latin typeface="Times New Roman" pitchFamily="-93" charset="0"/>
            </a:endParaRPr>
          </a:p>
          <a:p>
            <a:pPr>
              <a:spcBef>
                <a:spcPct val="50000"/>
              </a:spcBef>
              <a:defRPr/>
            </a:pPr>
            <a:r>
              <a:rPr lang="en-US" sz="2000" dirty="0">
                <a:latin typeface="Times New Roman" pitchFamily="-93" charset="0"/>
              </a:rPr>
              <a:t>Unlimited Repetition                      </a:t>
            </a:r>
            <a:r>
              <a:rPr lang="en-US" sz="2000" b="1" i="1" dirty="0" err="1">
                <a:latin typeface="Times New Roman" pitchFamily="-93" charset="0"/>
              </a:rPr>
              <a:t>n</a:t>
            </a:r>
            <a:r>
              <a:rPr lang="en-US" sz="2000" b="1" i="1" dirty="0">
                <a:latin typeface="Times New Roman" pitchFamily="-93" charset="0"/>
              </a:rPr>
              <a:t> </a:t>
            </a:r>
            <a:r>
              <a:rPr lang="en-US" sz="2000" b="1" i="1" baseline="30000" dirty="0" err="1">
                <a:latin typeface="Times New Roman" pitchFamily="-93" charset="0"/>
              </a:rPr>
              <a:t>r</a:t>
            </a:r>
            <a:r>
              <a:rPr lang="en-US" sz="2000" b="1" i="1" baseline="30000" dirty="0">
                <a:latin typeface="Times New Roman" pitchFamily="-93" charset="0"/>
              </a:rPr>
              <a:t> </a:t>
            </a:r>
            <a:r>
              <a:rPr lang="en-US" sz="2000" b="1" i="1" dirty="0">
                <a:latin typeface="Times New Roman" pitchFamily="-93" charset="0"/>
              </a:rPr>
              <a:t>                       C(r+n-</a:t>
            </a:r>
            <a:r>
              <a:rPr lang="en-US" sz="2000" b="1" dirty="0">
                <a:latin typeface="Times New Roman" pitchFamily="-93" charset="0"/>
              </a:rPr>
              <a:t>1</a:t>
            </a:r>
            <a:r>
              <a:rPr lang="en-US" sz="2000" b="1" i="1" dirty="0">
                <a:latin typeface="Times New Roman" pitchFamily="-93" charset="0"/>
              </a:rPr>
              <a:t>, </a:t>
            </a:r>
            <a:r>
              <a:rPr lang="en-US" sz="2000" b="1" i="1" dirty="0" err="1">
                <a:latin typeface="Times New Roman" pitchFamily="-93" charset="0"/>
              </a:rPr>
              <a:t>r</a:t>
            </a:r>
            <a:r>
              <a:rPr lang="en-US" sz="2000" b="1" i="1" dirty="0">
                <a:latin typeface="Times New Roman" pitchFamily="-93" charset="0"/>
              </a:rPr>
              <a:t>)</a:t>
            </a:r>
          </a:p>
          <a:p>
            <a:pPr>
              <a:spcBef>
                <a:spcPct val="50000"/>
              </a:spcBef>
              <a:defRPr/>
            </a:pPr>
            <a:endParaRPr lang="en-US" sz="2000" dirty="0">
              <a:latin typeface="Times New Roman" pitchFamily="-93" charset="0"/>
            </a:endParaRPr>
          </a:p>
          <a:p>
            <a:pPr>
              <a:spcBef>
                <a:spcPct val="50000"/>
              </a:spcBef>
              <a:defRPr/>
            </a:pPr>
            <a:r>
              <a:rPr lang="en-US" sz="2000" dirty="0">
                <a:latin typeface="Times New Roman" pitchFamily="-93" charset="0"/>
              </a:rPr>
              <a:t>Restricted Repetition       </a:t>
            </a:r>
            <a:r>
              <a:rPr lang="en-US" sz="2000" b="1" i="1" dirty="0" err="1">
                <a:ln>
                  <a:solidFill>
                    <a:srgbClr val="FF0000"/>
                  </a:solidFill>
                </a:ln>
                <a:latin typeface="Times New Roman" pitchFamily="-93" charset="0"/>
              </a:rPr>
              <a:t>P</a:t>
            </a:r>
            <a:r>
              <a:rPr lang="en-US" sz="2000" b="1" dirty="0" err="1">
                <a:ln>
                  <a:solidFill>
                    <a:srgbClr val="FF0000"/>
                  </a:solidFill>
                </a:ln>
                <a:latin typeface="Times New Roman" pitchFamily="-93" charset="0"/>
              </a:rPr>
              <a:t>(</a:t>
            </a:r>
            <a:r>
              <a:rPr lang="en-US" sz="2000" b="1" i="1" dirty="0" err="1">
                <a:ln>
                  <a:solidFill>
                    <a:srgbClr val="FF0000"/>
                  </a:solidFill>
                </a:ln>
                <a:latin typeface="Times New Roman" pitchFamily="-93" charset="0"/>
              </a:rPr>
              <a:t>r</a:t>
            </a:r>
            <a:r>
              <a:rPr lang="en-US" sz="2000" b="1" dirty="0">
                <a:ln>
                  <a:solidFill>
                    <a:srgbClr val="FF0000"/>
                  </a:solidFill>
                </a:ln>
                <a:latin typeface="Times New Roman" pitchFamily="-93" charset="0"/>
              </a:rPr>
              <a:t>; </a:t>
            </a:r>
            <a:r>
              <a:rPr lang="en-US" sz="2000" b="1" i="1" dirty="0">
                <a:ln>
                  <a:solidFill>
                    <a:srgbClr val="FF0000"/>
                  </a:solidFill>
                </a:ln>
                <a:latin typeface="Times New Roman" pitchFamily="-93" charset="0"/>
              </a:rPr>
              <a:t>r</a:t>
            </a:r>
            <a:r>
              <a:rPr lang="en-US" sz="2000" b="1" baseline="-25000" dirty="0">
                <a:ln>
                  <a:solidFill>
                    <a:srgbClr val="FF0000"/>
                  </a:solidFill>
                </a:ln>
                <a:latin typeface="Times New Roman" pitchFamily="-93" charset="0"/>
              </a:rPr>
              <a:t>1</a:t>
            </a:r>
            <a:r>
              <a:rPr lang="en-US" sz="2000" b="1" dirty="0">
                <a:ln>
                  <a:solidFill>
                    <a:srgbClr val="FF0000"/>
                  </a:solidFill>
                </a:ln>
                <a:latin typeface="Times New Roman" pitchFamily="-93" charset="0"/>
              </a:rPr>
              <a:t>, </a:t>
            </a:r>
            <a:r>
              <a:rPr lang="en-US" sz="2000" b="1" i="1" dirty="0">
                <a:ln>
                  <a:solidFill>
                    <a:srgbClr val="FF0000"/>
                  </a:solidFill>
                </a:ln>
                <a:latin typeface="Times New Roman" pitchFamily="-93" charset="0"/>
              </a:rPr>
              <a:t>r</a:t>
            </a:r>
            <a:r>
              <a:rPr lang="en-US" sz="2000" b="1" baseline="-25000" dirty="0">
                <a:ln>
                  <a:solidFill>
                    <a:srgbClr val="FF0000"/>
                  </a:solidFill>
                </a:ln>
                <a:latin typeface="Times New Roman" pitchFamily="-93" charset="0"/>
              </a:rPr>
              <a:t>2</a:t>
            </a:r>
            <a:r>
              <a:rPr lang="en-US" sz="2000" b="1" dirty="0">
                <a:ln>
                  <a:solidFill>
                    <a:srgbClr val="FF0000"/>
                  </a:solidFill>
                </a:ln>
                <a:latin typeface="Times New Roman" pitchFamily="-93" charset="0"/>
              </a:rPr>
              <a:t>, …, </a:t>
            </a:r>
            <a:r>
              <a:rPr lang="en-US" sz="2000" b="1" i="1" dirty="0" err="1">
                <a:ln>
                  <a:solidFill>
                    <a:srgbClr val="FF0000"/>
                  </a:solidFill>
                </a:ln>
                <a:latin typeface="Times New Roman" pitchFamily="-93" charset="0"/>
              </a:rPr>
              <a:t>r</a:t>
            </a:r>
            <a:r>
              <a:rPr lang="en-US" sz="2000" b="1" baseline="-25000" dirty="0" err="1">
                <a:ln>
                  <a:solidFill>
                    <a:srgbClr val="FF0000"/>
                  </a:solidFill>
                </a:ln>
                <a:latin typeface="Times New Roman" pitchFamily="-93" charset="0"/>
              </a:rPr>
              <a:t>n</a:t>
            </a:r>
            <a:r>
              <a:rPr lang="en-US" sz="2000" b="1" dirty="0">
                <a:ln>
                  <a:solidFill>
                    <a:srgbClr val="FF0000"/>
                  </a:solidFill>
                </a:ln>
                <a:latin typeface="Times New Roman" pitchFamily="-93" charset="0"/>
              </a:rPr>
              <a:t>)              </a:t>
            </a:r>
            <a:r>
              <a:rPr lang="en-US" sz="2000" b="1" dirty="0">
                <a:ln w="9525" cap="flat" cmpd="sng" algn="ctr">
                  <a:solidFill>
                    <a:schemeClr val="tx1"/>
                  </a:solidFill>
                  <a:prstDash val="dash"/>
                  <a:round/>
                  <a:headEnd type="none" w="med" len="med"/>
                  <a:tailEnd type="none" w="med" len="med"/>
                </a:ln>
                <a:latin typeface="Times New Roman" pitchFamily="-93" charset="0"/>
              </a:rPr>
              <a:t> --------</a:t>
            </a:r>
          </a:p>
          <a:p>
            <a:pPr>
              <a:spcBef>
                <a:spcPct val="50000"/>
              </a:spcBef>
              <a:defRPr/>
            </a:pPr>
            <a:r>
              <a:rPr lang="en-US" sz="2000" b="1" dirty="0">
                <a:ln>
                  <a:solidFill>
                    <a:srgbClr val="FF0000"/>
                  </a:solidFill>
                </a:ln>
                <a:latin typeface="Times New Roman" pitchFamily="-93" charset="0"/>
              </a:rPr>
              <a:t>                       </a:t>
            </a:r>
          </a:p>
          <a:p>
            <a:pPr>
              <a:spcBef>
                <a:spcPct val="50000"/>
              </a:spcBef>
              <a:defRPr/>
            </a:pPr>
            <a:r>
              <a:rPr lang="en-US" sz="2000" dirty="0">
                <a:latin typeface="Times New Roman" pitchFamily="-93" charset="0"/>
              </a:rPr>
              <a:t>                                           </a:t>
            </a:r>
          </a:p>
        </p:txBody>
      </p:sp>
    </p:spTree>
    <p:extLst>
      <p:ext uri="{BB962C8B-B14F-4D97-AF65-F5344CB8AC3E}">
        <p14:creationId xmlns:p14="http://schemas.microsoft.com/office/powerpoint/2010/main" val="405583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9B10A4EF-E49A-DC4C-BDEE-A3674A09B4AF}"/>
              </a:ext>
            </a:extLst>
          </p:cNvPr>
          <p:cNvSpPr>
            <a:spLocks noGrp="1" noChangeArrowheads="1"/>
          </p:cNvSpPr>
          <p:nvPr>
            <p:ph type="title"/>
          </p:nvPr>
        </p:nvSpPr>
        <p:spPr>
          <a:xfrm>
            <a:off x="2119313" y="182563"/>
            <a:ext cx="7772400" cy="1143000"/>
          </a:xfrm>
        </p:spPr>
        <p:txBody>
          <a:bodyPr/>
          <a:lstStyle/>
          <a:p>
            <a:pPr eaLnBrk="1" hangingPunct="1"/>
            <a:r>
              <a:rPr lang="en-US" altLang="en-US" sz="3200">
                <a:ea typeface="ＭＳ Ｐゴシック" panose="020B0600070205080204" pitchFamily="34" charset="-128"/>
              </a:rPr>
              <a:t>Example 1</a:t>
            </a:r>
          </a:p>
        </p:txBody>
      </p:sp>
      <p:sp>
        <p:nvSpPr>
          <p:cNvPr id="22533" name="Rectangle 3">
            <a:extLst>
              <a:ext uri="{FF2B5EF4-FFF2-40B4-BE49-F238E27FC236}">
                <a16:creationId xmlns:a16="http://schemas.microsoft.com/office/drawing/2014/main" id="{ACDFFB65-4744-CD4B-B1C8-935FA1D64453}"/>
              </a:ext>
            </a:extLst>
          </p:cNvPr>
          <p:cNvSpPr>
            <a:spLocks noGrp="1" noChangeArrowheads="1"/>
          </p:cNvSpPr>
          <p:nvPr>
            <p:ph type="body" idx="1"/>
          </p:nvPr>
        </p:nvSpPr>
        <p:spPr>
          <a:xfrm>
            <a:off x="2149475" y="1004888"/>
            <a:ext cx="8305800" cy="1600200"/>
          </a:xfrm>
        </p:spPr>
        <p:txBody>
          <a:bodyPr/>
          <a:lstStyle/>
          <a:p>
            <a:pPr eaLnBrk="1" hangingPunct="1">
              <a:buFontTx/>
              <a:buNone/>
            </a:pPr>
            <a:r>
              <a:rPr lang="en-US" altLang="en-US" sz="2400" b="1">
                <a:ea typeface="ＭＳ Ｐゴシック" panose="020B0600070205080204" pitchFamily="34" charset="-128"/>
              </a:rPr>
              <a:t>How many ways are there to assign 100 different diplomats  to 5 different continents? How many ways if 20 diplomats must be assigned to each continent?</a:t>
            </a:r>
          </a:p>
        </p:txBody>
      </p:sp>
      <p:grpSp>
        <p:nvGrpSpPr>
          <p:cNvPr id="22534" name="Group 4">
            <a:extLst>
              <a:ext uri="{FF2B5EF4-FFF2-40B4-BE49-F238E27FC236}">
                <a16:creationId xmlns:a16="http://schemas.microsoft.com/office/drawing/2014/main" id="{6ABF1905-BB8A-584B-948C-06B68F5A479B}"/>
              </a:ext>
            </a:extLst>
          </p:cNvPr>
          <p:cNvGrpSpPr>
            <a:grpSpLocks/>
          </p:cNvGrpSpPr>
          <p:nvPr/>
        </p:nvGrpSpPr>
        <p:grpSpPr bwMode="auto">
          <a:xfrm>
            <a:off x="2636838" y="3808413"/>
            <a:ext cx="6781800" cy="2209800"/>
            <a:chOff x="912" y="2016"/>
            <a:chExt cx="4272" cy="1392"/>
          </a:xfrm>
        </p:grpSpPr>
        <p:sp>
          <p:nvSpPr>
            <p:cNvPr id="22539" name="Text Box 5">
              <a:extLst>
                <a:ext uri="{FF2B5EF4-FFF2-40B4-BE49-F238E27FC236}">
                  <a16:creationId xmlns:a16="http://schemas.microsoft.com/office/drawing/2014/main" id="{7C827192-8A5C-B843-9B39-0116317D6583}"/>
                </a:ext>
              </a:extLst>
            </p:cNvPr>
            <p:cNvSpPr txBox="1">
              <a:spLocks noChangeArrowheads="1"/>
            </p:cNvSpPr>
            <p:nvPr/>
          </p:nvSpPr>
          <p:spPr bwMode="auto">
            <a:xfrm>
              <a:off x="2544" y="201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distinct objects</a:t>
              </a:r>
            </a:p>
          </p:txBody>
        </p:sp>
        <p:sp>
          <p:nvSpPr>
            <p:cNvPr id="22540" name="Text Box 6">
              <a:extLst>
                <a:ext uri="{FF2B5EF4-FFF2-40B4-BE49-F238E27FC236}">
                  <a16:creationId xmlns:a16="http://schemas.microsoft.com/office/drawing/2014/main" id="{ECA8C6CA-D217-E549-868F-ABEDB747DC11}"/>
                </a:ext>
              </a:extLst>
            </p:cNvPr>
            <p:cNvSpPr txBox="1">
              <a:spLocks noChangeArrowheads="1"/>
            </p:cNvSpPr>
            <p:nvPr/>
          </p:nvSpPr>
          <p:spPr bwMode="auto">
            <a:xfrm>
              <a:off x="3840" y="2016"/>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identical objects</a:t>
              </a:r>
            </a:p>
          </p:txBody>
        </p:sp>
        <p:sp>
          <p:nvSpPr>
            <p:cNvPr id="22541" name="Line 7">
              <a:extLst>
                <a:ext uri="{FF2B5EF4-FFF2-40B4-BE49-F238E27FC236}">
                  <a16:creationId xmlns:a16="http://schemas.microsoft.com/office/drawing/2014/main" id="{F2B3580A-B4F8-5540-B262-CAA3A7FA68EA}"/>
                </a:ext>
              </a:extLst>
            </p:cNvPr>
            <p:cNvSpPr>
              <a:spLocks noChangeShapeType="1"/>
            </p:cNvSpPr>
            <p:nvPr/>
          </p:nvSpPr>
          <p:spPr bwMode="auto">
            <a:xfrm>
              <a:off x="912" y="2496"/>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542" name="Line 8">
              <a:extLst>
                <a:ext uri="{FF2B5EF4-FFF2-40B4-BE49-F238E27FC236}">
                  <a16:creationId xmlns:a16="http://schemas.microsoft.com/office/drawing/2014/main" id="{397F7C92-878C-3342-BCFD-DDCB376B04A8}"/>
                </a:ext>
              </a:extLst>
            </p:cNvPr>
            <p:cNvSpPr>
              <a:spLocks noChangeShapeType="1"/>
            </p:cNvSpPr>
            <p:nvPr/>
          </p:nvSpPr>
          <p:spPr bwMode="auto">
            <a:xfrm>
              <a:off x="3744" y="2016"/>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543" name="Text Box 9">
              <a:extLst>
                <a:ext uri="{FF2B5EF4-FFF2-40B4-BE49-F238E27FC236}">
                  <a16:creationId xmlns:a16="http://schemas.microsoft.com/office/drawing/2014/main" id="{AC414DAF-124E-0F4E-9F58-672D37032184}"/>
                </a:ext>
              </a:extLst>
            </p:cNvPr>
            <p:cNvSpPr txBox="1">
              <a:spLocks noChangeArrowheads="1"/>
            </p:cNvSpPr>
            <p:nvPr/>
          </p:nvSpPr>
          <p:spPr bwMode="auto">
            <a:xfrm>
              <a:off x="960" y="2592"/>
              <a:ext cx="4224"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No repetition                            </a:t>
              </a:r>
              <a:r>
                <a:rPr lang="en-US" altLang="en-US" sz="1800" b="1" i="1"/>
                <a:t>P</a:t>
              </a:r>
              <a:r>
                <a:rPr lang="en-US" altLang="en-US" sz="1800" b="1"/>
                <a:t>(</a:t>
              </a:r>
              <a:r>
                <a:rPr lang="en-US" altLang="en-US" sz="1800" b="1" i="1"/>
                <a:t>n,r</a:t>
              </a:r>
              <a:r>
                <a:rPr lang="en-US" altLang="en-US" sz="1800" b="1"/>
                <a:t>)                    </a:t>
              </a:r>
              <a:r>
                <a:rPr lang="en-US" altLang="en-US" sz="1800" b="1" i="1"/>
                <a:t>C</a:t>
              </a:r>
              <a:r>
                <a:rPr lang="en-US" altLang="en-US" sz="1800" b="1"/>
                <a:t>(</a:t>
              </a:r>
              <a:r>
                <a:rPr lang="en-US" altLang="en-US" sz="1800" b="1" i="1"/>
                <a:t>n,r</a:t>
              </a:r>
              <a:r>
                <a:rPr lang="en-US" altLang="en-US" sz="1800" b="1"/>
                <a:t>)</a:t>
              </a:r>
            </a:p>
            <a:p>
              <a:pPr eaLnBrk="1" hangingPunct="1">
                <a:spcBef>
                  <a:spcPct val="50000"/>
                </a:spcBef>
              </a:pPr>
              <a:r>
                <a:rPr lang="en-US" altLang="en-US" sz="1800"/>
                <a:t>Unlimited Repetition                 </a:t>
              </a:r>
              <a:r>
                <a:rPr lang="en-US" altLang="en-US" sz="1800" b="1" i="1"/>
                <a:t>n </a:t>
              </a:r>
              <a:r>
                <a:rPr lang="en-US" altLang="en-US" sz="1800" b="1" i="1" baseline="30000"/>
                <a:t>r </a:t>
              </a:r>
              <a:r>
                <a:rPr lang="en-US" altLang="en-US" sz="1800" b="1" i="1"/>
                <a:t>                       C(r+n-</a:t>
              </a:r>
              <a:r>
                <a:rPr lang="en-US" altLang="en-US" sz="1800" b="1"/>
                <a:t>1</a:t>
              </a:r>
              <a:r>
                <a:rPr lang="en-US" altLang="en-US" sz="1800" b="1" i="1"/>
                <a:t>, r)</a:t>
              </a:r>
            </a:p>
            <a:p>
              <a:pPr eaLnBrk="1" hangingPunct="1">
                <a:spcBef>
                  <a:spcPct val="50000"/>
                </a:spcBef>
              </a:pPr>
              <a:r>
                <a:rPr lang="en-US" altLang="en-US" sz="1800"/>
                <a:t>Restricted Repetition          </a:t>
              </a:r>
              <a:r>
                <a:rPr lang="en-US" altLang="en-US" sz="1800" b="1" i="1"/>
                <a:t>P</a:t>
              </a:r>
              <a:r>
                <a:rPr lang="en-US" altLang="en-US" sz="1800" b="1"/>
                <a:t>(</a:t>
              </a:r>
              <a:r>
                <a:rPr lang="en-US" altLang="en-US" sz="1800" b="1" i="1"/>
                <a:t>r</a:t>
              </a:r>
              <a:r>
                <a:rPr lang="en-US" altLang="en-US" sz="1800" b="1"/>
                <a:t>; </a:t>
              </a:r>
              <a:r>
                <a:rPr lang="en-US" altLang="en-US" sz="1800" b="1" i="1"/>
                <a:t>r</a:t>
              </a:r>
              <a:r>
                <a:rPr lang="en-US" altLang="en-US" sz="1800" b="1" baseline="-25000"/>
                <a:t>1</a:t>
              </a:r>
              <a:r>
                <a:rPr lang="en-US" altLang="en-US" sz="1800" b="1"/>
                <a:t>, </a:t>
              </a:r>
              <a:r>
                <a:rPr lang="en-US" altLang="en-US" sz="1800" b="1" i="1"/>
                <a:t>r</a:t>
              </a:r>
              <a:r>
                <a:rPr lang="en-US" altLang="en-US" sz="1800" b="1" baseline="-25000"/>
                <a:t>2</a:t>
              </a:r>
              <a:r>
                <a:rPr lang="en-US" altLang="en-US" sz="1800" b="1"/>
                <a:t>, …, </a:t>
              </a:r>
              <a:r>
                <a:rPr lang="en-US" altLang="en-US" sz="1800" b="1" i="1"/>
                <a:t>r</a:t>
              </a:r>
              <a:r>
                <a:rPr lang="en-US" altLang="en-US" sz="1800" b="1" baseline="-25000"/>
                <a:t>n</a:t>
              </a:r>
              <a:r>
                <a:rPr lang="en-US" altLang="en-US" sz="1800" b="1"/>
                <a:t>)</a:t>
              </a:r>
              <a:r>
                <a:rPr lang="en-US" altLang="en-US" sz="1800"/>
                <a:t>       -----</a:t>
              </a:r>
            </a:p>
          </p:txBody>
        </p:sp>
      </p:grpSp>
      <p:sp>
        <p:nvSpPr>
          <p:cNvPr id="22535" name="Text Box 10">
            <a:extLst>
              <a:ext uri="{FF2B5EF4-FFF2-40B4-BE49-F238E27FC236}">
                <a16:creationId xmlns:a16="http://schemas.microsoft.com/office/drawing/2014/main" id="{0F269961-FF95-E94A-9809-ECEF7D6131F5}"/>
              </a:ext>
            </a:extLst>
          </p:cNvPr>
          <p:cNvSpPr txBox="1">
            <a:spLocks noChangeArrowheads="1"/>
          </p:cNvSpPr>
          <p:nvPr/>
        </p:nvSpPr>
        <p:spPr bwMode="auto">
          <a:xfrm>
            <a:off x="2209800" y="2193926"/>
            <a:ext cx="8458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solidFill>
                  <a:srgbClr val="C61806"/>
                </a:solidFill>
              </a:rPr>
              <a:t>For part one we want to use the distinct objects with unlimited repetition model from below. </a:t>
            </a:r>
          </a:p>
        </p:txBody>
      </p:sp>
      <p:sp>
        <p:nvSpPr>
          <p:cNvPr id="22536" name="Rectangle 11">
            <a:extLst>
              <a:ext uri="{FF2B5EF4-FFF2-40B4-BE49-F238E27FC236}">
                <a16:creationId xmlns:a16="http://schemas.microsoft.com/office/drawing/2014/main" id="{64C27F4C-8939-F04A-813A-64DC1D8BB3E7}"/>
              </a:ext>
            </a:extLst>
          </p:cNvPr>
          <p:cNvSpPr>
            <a:spLocks noChangeArrowheads="1"/>
          </p:cNvSpPr>
          <p:nvPr/>
        </p:nvSpPr>
        <p:spPr bwMode="auto">
          <a:xfrm>
            <a:off x="5530850" y="5165725"/>
            <a:ext cx="533400" cy="304800"/>
          </a:xfrm>
          <a:prstGeom prst="rect">
            <a:avLst/>
          </a:prstGeom>
          <a:noFill/>
          <a:ln w="28575">
            <a:solidFill>
              <a:srgbClr val="C6180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2537" name="Text Box 12">
            <a:extLst>
              <a:ext uri="{FF2B5EF4-FFF2-40B4-BE49-F238E27FC236}">
                <a16:creationId xmlns:a16="http://schemas.microsoft.com/office/drawing/2014/main" id="{83BAF443-DEE9-4E4A-B583-0FC781C47C62}"/>
              </a:ext>
            </a:extLst>
          </p:cNvPr>
          <p:cNvSpPr txBox="1">
            <a:spLocks noChangeArrowheads="1"/>
          </p:cNvSpPr>
          <p:nvPr/>
        </p:nvSpPr>
        <p:spPr bwMode="auto">
          <a:xfrm>
            <a:off x="2133600" y="2911476"/>
            <a:ext cx="8001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solidFill>
                  <a:srgbClr val="0EBE1F"/>
                </a:solidFill>
              </a:rPr>
              <a:t>For the second part we want to use the distinct objects with restricted repetition model from below.</a:t>
            </a:r>
          </a:p>
        </p:txBody>
      </p:sp>
      <p:sp>
        <p:nvSpPr>
          <p:cNvPr id="22538" name="Rectangle 13">
            <a:extLst>
              <a:ext uri="{FF2B5EF4-FFF2-40B4-BE49-F238E27FC236}">
                <a16:creationId xmlns:a16="http://schemas.microsoft.com/office/drawing/2014/main" id="{02274FF9-498D-7F4F-8219-63431E2E38BB}"/>
              </a:ext>
            </a:extLst>
          </p:cNvPr>
          <p:cNvSpPr>
            <a:spLocks noChangeArrowheads="1"/>
          </p:cNvSpPr>
          <p:nvPr/>
        </p:nvSpPr>
        <p:spPr bwMode="auto">
          <a:xfrm>
            <a:off x="4983163" y="5548313"/>
            <a:ext cx="2133600" cy="457200"/>
          </a:xfrm>
          <a:prstGeom prst="rect">
            <a:avLst/>
          </a:prstGeom>
          <a:noFill/>
          <a:ln w="28575">
            <a:solidFill>
              <a:srgbClr val="0EBE1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Tree>
    <p:extLst>
      <p:ext uri="{BB962C8B-B14F-4D97-AF65-F5344CB8AC3E}">
        <p14:creationId xmlns:p14="http://schemas.microsoft.com/office/powerpoint/2010/main" val="2979739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2A9F080C-FA87-7141-8ED1-8F2016A0832C}"/>
              </a:ext>
            </a:extLst>
          </p:cNvPr>
          <p:cNvSpPr>
            <a:spLocks noGrp="1" noChangeArrowheads="1"/>
          </p:cNvSpPr>
          <p:nvPr>
            <p:ph type="title"/>
          </p:nvPr>
        </p:nvSpPr>
        <p:spPr/>
        <p:txBody>
          <a:bodyPr/>
          <a:lstStyle/>
          <a:p>
            <a:pPr eaLnBrk="1" hangingPunct="1"/>
            <a:r>
              <a:rPr lang="en-US" altLang="en-US" sz="3200">
                <a:ea typeface="ＭＳ Ｐゴシック" panose="020B0600070205080204" pitchFamily="34" charset="-128"/>
              </a:rPr>
              <a:t>Example 1 </a:t>
            </a:r>
            <a:r>
              <a:rPr lang="en-US" altLang="en-US" sz="2400">
                <a:ea typeface="ＭＳ Ｐゴシック" panose="020B0600070205080204" pitchFamily="34" charset="-128"/>
              </a:rPr>
              <a:t>(Continued)</a:t>
            </a:r>
          </a:p>
        </p:txBody>
      </p:sp>
      <p:sp>
        <p:nvSpPr>
          <p:cNvPr id="23557" name="Text Box 3">
            <a:extLst>
              <a:ext uri="{FF2B5EF4-FFF2-40B4-BE49-F238E27FC236}">
                <a16:creationId xmlns:a16="http://schemas.microsoft.com/office/drawing/2014/main" id="{A8C667CA-5A29-AE42-8ED3-78FEACA4DC47}"/>
              </a:ext>
            </a:extLst>
          </p:cNvPr>
          <p:cNvSpPr txBox="1">
            <a:spLocks noChangeArrowheads="1"/>
          </p:cNvSpPr>
          <p:nvPr/>
        </p:nvSpPr>
        <p:spPr bwMode="auto">
          <a:xfrm>
            <a:off x="2362200" y="1676401"/>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	These are distinct objects according to the model for distributions.  Following that model that means it equals the number of sequences of length 100 involving 5 continents. </a:t>
            </a:r>
          </a:p>
        </p:txBody>
      </p:sp>
      <p:sp>
        <p:nvSpPr>
          <p:cNvPr id="23558" name="Text Box 4">
            <a:extLst>
              <a:ext uri="{FF2B5EF4-FFF2-40B4-BE49-F238E27FC236}">
                <a16:creationId xmlns:a16="http://schemas.microsoft.com/office/drawing/2014/main" id="{0E5950DC-7B3C-7749-9005-C7616806D4EF}"/>
              </a:ext>
            </a:extLst>
          </p:cNvPr>
          <p:cNvSpPr txBox="1">
            <a:spLocks noChangeArrowheads="1"/>
          </p:cNvSpPr>
          <p:nvPr/>
        </p:nvSpPr>
        <p:spPr bwMode="auto">
          <a:xfrm>
            <a:off x="4267200" y="28194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5</a:t>
            </a:r>
            <a:r>
              <a:rPr lang="en-US" altLang="en-US" b="1" baseline="30000"/>
              <a:t>100 </a:t>
            </a:r>
            <a:r>
              <a:rPr lang="en-US" altLang="en-US" b="1"/>
              <a:t> sequences.</a:t>
            </a:r>
            <a:r>
              <a:rPr lang="en-US" altLang="en-US" b="1">
                <a:latin typeface="Tahoma" panose="020B0604030504040204" pitchFamily="34" charset="0"/>
              </a:rPr>
              <a:t>  </a:t>
            </a:r>
          </a:p>
        </p:txBody>
      </p:sp>
      <p:sp>
        <p:nvSpPr>
          <p:cNvPr id="23559" name="Text Box 5">
            <a:extLst>
              <a:ext uri="{FF2B5EF4-FFF2-40B4-BE49-F238E27FC236}">
                <a16:creationId xmlns:a16="http://schemas.microsoft.com/office/drawing/2014/main" id="{3AD3D5D1-B946-0648-AB62-A4DF2B87D57D}"/>
              </a:ext>
            </a:extLst>
          </p:cNvPr>
          <p:cNvSpPr txBox="1">
            <a:spLocks noChangeArrowheads="1"/>
          </p:cNvSpPr>
          <p:nvPr/>
        </p:nvSpPr>
        <p:spPr bwMode="auto">
          <a:xfrm>
            <a:off x="2362200" y="3429001"/>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	If you add the constraint of assigning 20 diplomats to each continent, that means that each continent name should appear 20 times in a sequence.  </a:t>
            </a:r>
          </a:p>
        </p:txBody>
      </p:sp>
      <p:sp>
        <p:nvSpPr>
          <p:cNvPr id="23560" name="Text Box 6">
            <a:extLst>
              <a:ext uri="{FF2B5EF4-FFF2-40B4-BE49-F238E27FC236}">
                <a16:creationId xmlns:a16="http://schemas.microsoft.com/office/drawing/2014/main" id="{6F24DB74-D05E-2440-AEF0-139E35951D3B}"/>
              </a:ext>
            </a:extLst>
          </p:cNvPr>
          <p:cNvSpPr txBox="1">
            <a:spLocks noChangeArrowheads="1"/>
          </p:cNvSpPr>
          <p:nvPr/>
        </p:nvSpPr>
        <p:spPr bwMode="auto">
          <a:xfrm>
            <a:off x="2286000" y="48006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	P(100; 20, 20, 20, 20, 20) = 100!/(20!)</a:t>
            </a:r>
            <a:r>
              <a:rPr lang="en-US" altLang="en-US" b="1" baseline="30000"/>
              <a:t>5  </a:t>
            </a:r>
            <a:r>
              <a:rPr lang="en-US" altLang="en-US" b="1"/>
              <a:t>ways.</a:t>
            </a:r>
          </a:p>
        </p:txBody>
      </p:sp>
    </p:spTree>
    <p:extLst>
      <p:ext uri="{BB962C8B-B14F-4D97-AF65-F5344CB8AC3E}">
        <p14:creationId xmlns:p14="http://schemas.microsoft.com/office/powerpoint/2010/main" val="123862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80" name="Group 11">
            <a:extLst>
              <a:ext uri="{FF2B5EF4-FFF2-40B4-BE49-F238E27FC236}">
                <a16:creationId xmlns:a16="http://schemas.microsoft.com/office/drawing/2014/main" id="{0F0134B9-2051-8244-833E-5EB39D97D695}"/>
              </a:ext>
            </a:extLst>
          </p:cNvPr>
          <p:cNvGrpSpPr>
            <a:grpSpLocks/>
          </p:cNvGrpSpPr>
          <p:nvPr/>
        </p:nvGrpSpPr>
        <p:grpSpPr bwMode="auto">
          <a:xfrm>
            <a:off x="2636838" y="3808413"/>
            <a:ext cx="6781800" cy="2209800"/>
            <a:chOff x="912" y="2016"/>
            <a:chExt cx="4272" cy="1392"/>
          </a:xfrm>
        </p:grpSpPr>
        <p:sp>
          <p:nvSpPr>
            <p:cNvPr id="24584" name="Text Box 12">
              <a:extLst>
                <a:ext uri="{FF2B5EF4-FFF2-40B4-BE49-F238E27FC236}">
                  <a16:creationId xmlns:a16="http://schemas.microsoft.com/office/drawing/2014/main" id="{719DC193-F88B-7344-8AF4-1CB6AD1382CE}"/>
                </a:ext>
              </a:extLst>
            </p:cNvPr>
            <p:cNvSpPr txBox="1">
              <a:spLocks noChangeArrowheads="1"/>
            </p:cNvSpPr>
            <p:nvPr/>
          </p:nvSpPr>
          <p:spPr bwMode="auto">
            <a:xfrm>
              <a:off x="2544" y="201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distinct objects</a:t>
              </a:r>
            </a:p>
          </p:txBody>
        </p:sp>
        <p:sp>
          <p:nvSpPr>
            <p:cNvPr id="24585" name="Text Box 13">
              <a:extLst>
                <a:ext uri="{FF2B5EF4-FFF2-40B4-BE49-F238E27FC236}">
                  <a16:creationId xmlns:a16="http://schemas.microsoft.com/office/drawing/2014/main" id="{738534D3-3D0B-9645-BC2D-B674F9CC54D4}"/>
                </a:ext>
              </a:extLst>
            </p:cNvPr>
            <p:cNvSpPr txBox="1">
              <a:spLocks noChangeArrowheads="1"/>
            </p:cNvSpPr>
            <p:nvPr/>
          </p:nvSpPr>
          <p:spPr bwMode="auto">
            <a:xfrm>
              <a:off x="3840" y="2016"/>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identical objects</a:t>
              </a:r>
            </a:p>
          </p:txBody>
        </p:sp>
        <p:sp>
          <p:nvSpPr>
            <p:cNvPr id="24586" name="Line 14">
              <a:extLst>
                <a:ext uri="{FF2B5EF4-FFF2-40B4-BE49-F238E27FC236}">
                  <a16:creationId xmlns:a16="http://schemas.microsoft.com/office/drawing/2014/main" id="{49B278A6-BAFC-CD47-83F7-01D3E090CE10}"/>
                </a:ext>
              </a:extLst>
            </p:cNvPr>
            <p:cNvSpPr>
              <a:spLocks noChangeShapeType="1"/>
            </p:cNvSpPr>
            <p:nvPr/>
          </p:nvSpPr>
          <p:spPr bwMode="auto">
            <a:xfrm>
              <a:off x="912" y="2496"/>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587" name="Line 15">
              <a:extLst>
                <a:ext uri="{FF2B5EF4-FFF2-40B4-BE49-F238E27FC236}">
                  <a16:creationId xmlns:a16="http://schemas.microsoft.com/office/drawing/2014/main" id="{7281CAE7-A357-1A4B-AB19-79EC6FCFA66E}"/>
                </a:ext>
              </a:extLst>
            </p:cNvPr>
            <p:cNvSpPr>
              <a:spLocks noChangeShapeType="1"/>
            </p:cNvSpPr>
            <p:nvPr/>
          </p:nvSpPr>
          <p:spPr bwMode="auto">
            <a:xfrm>
              <a:off x="3744" y="2016"/>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588" name="Text Box 16">
              <a:extLst>
                <a:ext uri="{FF2B5EF4-FFF2-40B4-BE49-F238E27FC236}">
                  <a16:creationId xmlns:a16="http://schemas.microsoft.com/office/drawing/2014/main" id="{879F77CA-9B85-CB48-BAD9-90F44D5ECC5B}"/>
                </a:ext>
              </a:extLst>
            </p:cNvPr>
            <p:cNvSpPr txBox="1">
              <a:spLocks noChangeArrowheads="1"/>
            </p:cNvSpPr>
            <p:nvPr/>
          </p:nvSpPr>
          <p:spPr bwMode="auto">
            <a:xfrm>
              <a:off x="960" y="2592"/>
              <a:ext cx="4224"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No repetition                            </a:t>
              </a:r>
              <a:r>
                <a:rPr lang="en-US" altLang="en-US" sz="1800" b="1" i="1"/>
                <a:t>P</a:t>
              </a:r>
              <a:r>
                <a:rPr lang="en-US" altLang="en-US" sz="1800" b="1"/>
                <a:t>(</a:t>
              </a:r>
              <a:r>
                <a:rPr lang="en-US" altLang="en-US" sz="1800" b="1" i="1"/>
                <a:t>n,r</a:t>
              </a:r>
              <a:r>
                <a:rPr lang="en-US" altLang="en-US" sz="1800" b="1"/>
                <a:t>)                    </a:t>
              </a:r>
              <a:r>
                <a:rPr lang="en-US" altLang="en-US" sz="1800" b="1" i="1"/>
                <a:t>C</a:t>
              </a:r>
              <a:r>
                <a:rPr lang="en-US" altLang="en-US" sz="1800" b="1"/>
                <a:t>(</a:t>
              </a:r>
              <a:r>
                <a:rPr lang="en-US" altLang="en-US" sz="1800" b="1" i="1"/>
                <a:t>n,r</a:t>
              </a:r>
              <a:r>
                <a:rPr lang="en-US" altLang="en-US" sz="1800" b="1"/>
                <a:t>)</a:t>
              </a:r>
            </a:p>
            <a:p>
              <a:pPr eaLnBrk="1" hangingPunct="1">
                <a:spcBef>
                  <a:spcPct val="50000"/>
                </a:spcBef>
              </a:pPr>
              <a:r>
                <a:rPr lang="en-US" altLang="en-US" sz="1800"/>
                <a:t>Unlimited Repetition                 </a:t>
              </a:r>
              <a:r>
                <a:rPr lang="en-US" altLang="en-US" sz="1800" b="1" i="1"/>
                <a:t>n </a:t>
              </a:r>
              <a:r>
                <a:rPr lang="en-US" altLang="en-US" sz="1800" b="1" i="1" baseline="30000"/>
                <a:t>r </a:t>
              </a:r>
              <a:r>
                <a:rPr lang="en-US" altLang="en-US" sz="1800" b="1" i="1"/>
                <a:t>                       C(r+n-</a:t>
              </a:r>
              <a:r>
                <a:rPr lang="en-US" altLang="en-US" sz="1800" b="1"/>
                <a:t>1</a:t>
              </a:r>
              <a:r>
                <a:rPr lang="en-US" altLang="en-US" sz="1800" b="1" i="1"/>
                <a:t>, r)</a:t>
              </a:r>
            </a:p>
            <a:p>
              <a:pPr eaLnBrk="1" hangingPunct="1">
                <a:spcBef>
                  <a:spcPct val="50000"/>
                </a:spcBef>
              </a:pPr>
              <a:r>
                <a:rPr lang="en-US" altLang="en-US" sz="1800"/>
                <a:t>Restricted Repetition          </a:t>
              </a:r>
              <a:r>
                <a:rPr lang="en-US" altLang="en-US" sz="1800" b="1" i="1"/>
                <a:t>P</a:t>
              </a:r>
              <a:r>
                <a:rPr lang="en-US" altLang="en-US" sz="1800" b="1"/>
                <a:t>(</a:t>
              </a:r>
              <a:r>
                <a:rPr lang="en-US" altLang="en-US" sz="1800" b="1" i="1"/>
                <a:t>r</a:t>
              </a:r>
              <a:r>
                <a:rPr lang="en-US" altLang="en-US" sz="1800" b="1"/>
                <a:t>; </a:t>
              </a:r>
              <a:r>
                <a:rPr lang="en-US" altLang="en-US" sz="1800" b="1" i="1"/>
                <a:t>r</a:t>
              </a:r>
              <a:r>
                <a:rPr lang="en-US" altLang="en-US" sz="1800" b="1" baseline="-25000"/>
                <a:t>1</a:t>
              </a:r>
              <a:r>
                <a:rPr lang="en-US" altLang="en-US" sz="1800" b="1"/>
                <a:t>, </a:t>
              </a:r>
              <a:r>
                <a:rPr lang="en-US" altLang="en-US" sz="1800" b="1" i="1"/>
                <a:t>r</a:t>
              </a:r>
              <a:r>
                <a:rPr lang="en-US" altLang="en-US" sz="1800" b="1" baseline="-25000"/>
                <a:t>2</a:t>
              </a:r>
              <a:r>
                <a:rPr lang="en-US" altLang="en-US" sz="1800" b="1"/>
                <a:t>, …, </a:t>
              </a:r>
              <a:r>
                <a:rPr lang="en-US" altLang="en-US" sz="1800" b="1" i="1"/>
                <a:t>r</a:t>
              </a:r>
              <a:r>
                <a:rPr lang="en-US" altLang="en-US" sz="1800" b="1" baseline="-25000"/>
                <a:t>n</a:t>
              </a:r>
              <a:r>
                <a:rPr lang="en-US" altLang="en-US" sz="1800" b="1"/>
                <a:t>)</a:t>
              </a:r>
              <a:r>
                <a:rPr lang="en-US" altLang="en-US" sz="1800"/>
                <a:t>       -----</a:t>
              </a:r>
            </a:p>
          </p:txBody>
        </p:sp>
      </p:grpSp>
      <p:sp>
        <p:nvSpPr>
          <p:cNvPr id="24581" name="Rectangle 2">
            <a:extLst>
              <a:ext uri="{FF2B5EF4-FFF2-40B4-BE49-F238E27FC236}">
                <a16:creationId xmlns:a16="http://schemas.microsoft.com/office/drawing/2014/main" id="{96D6D886-7E5C-6044-8AF0-093F82602086}"/>
              </a:ext>
            </a:extLst>
          </p:cNvPr>
          <p:cNvSpPr>
            <a:spLocks noGrp="1" noChangeArrowheads="1"/>
          </p:cNvSpPr>
          <p:nvPr>
            <p:ph type="title"/>
          </p:nvPr>
        </p:nvSpPr>
        <p:spPr>
          <a:xfrm>
            <a:off x="1105328" y="97996"/>
            <a:ext cx="10515600" cy="1325563"/>
          </a:xfrm>
        </p:spPr>
        <p:txBody>
          <a:bodyPr/>
          <a:lstStyle/>
          <a:p>
            <a:pPr eaLnBrk="1" hangingPunct="1"/>
            <a:r>
              <a:rPr lang="en-US" altLang="en-US" sz="3600" dirty="0">
                <a:ea typeface="ＭＳ Ｐゴシック" panose="020B0600070205080204" pitchFamily="34" charset="-128"/>
              </a:rPr>
              <a:t>Example 2</a:t>
            </a:r>
            <a:endParaRPr lang="en-US" altLang="en-US" dirty="0">
              <a:ea typeface="ＭＳ Ｐゴシック" panose="020B0600070205080204" pitchFamily="34" charset="-128"/>
            </a:endParaRPr>
          </a:p>
        </p:txBody>
      </p:sp>
      <p:sp>
        <p:nvSpPr>
          <p:cNvPr id="24582" name="Text Box 3">
            <a:extLst>
              <a:ext uri="{FF2B5EF4-FFF2-40B4-BE49-F238E27FC236}">
                <a16:creationId xmlns:a16="http://schemas.microsoft.com/office/drawing/2014/main" id="{16046F04-16C4-8A4B-9255-744852B2CCF6}"/>
              </a:ext>
            </a:extLst>
          </p:cNvPr>
          <p:cNvSpPr txBox="1">
            <a:spLocks noChangeArrowheads="1"/>
          </p:cNvSpPr>
          <p:nvPr/>
        </p:nvSpPr>
        <p:spPr bwMode="auto">
          <a:xfrm>
            <a:off x="1989138" y="1042373"/>
            <a:ext cx="81534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latin typeface="Tahoma" panose="020B0604030504040204" pitchFamily="34" charset="0"/>
              </a:rPr>
              <a:t>	</a:t>
            </a:r>
            <a:r>
              <a:rPr lang="en-US" altLang="en-US" dirty="0"/>
              <a:t>In Bridge, the 52 cards of a standard card deck are randomly dealt 13 apiece to players North, East, South, and West. What is the probability that West has all 13 spades? That each player has one Ace?</a:t>
            </a:r>
          </a:p>
          <a:p>
            <a:pPr marL="1085850" lvl="1" indent="-342900" eaLnBrk="1" hangingPunct="1">
              <a:spcBef>
                <a:spcPct val="50000"/>
              </a:spcBef>
              <a:buFont typeface="Arial" panose="020B0604020202020204" pitchFamily="34" charset="0"/>
              <a:buChar char="•"/>
            </a:pPr>
            <a:r>
              <a:rPr lang="en-US" altLang="en-US" dirty="0"/>
              <a:t>First, how many ways (without any restriction) to distribute 52 cards to four people, each has 13 cards?</a:t>
            </a:r>
          </a:p>
        </p:txBody>
      </p:sp>
      <p:sp>
        <p:nvSpPr>
          <p:cNvPr id="24583" name="Rectangle 10">
            <a:extLst>
              <a:ext uri="{FF2B5EF4-FFF2-40B4-BE49-F238E27FC236}">
                <a16:creationId xmlns:a16="http://schemas.microsoft.com/office/drawing/2014/main" id="{C93DDE9B-BF29-0747-9BAE-9B4BD90F45FD}"/>
              </a:ext>
            </a:extLst>
          </p:cNvPr>
          <p:cNvSpPr>
            <a:spLocks noChangeArrowheads="1"/>
          </p:cNvSpPr>
          <p:nvPr/>
        </p:nvSpPr>
        <p:spPr bwMode="auto">
          <a:xfrm>
            <a:off x="5105401" y="5546725"/>
            <a:ext cx="1920875" cy="381000"/>
          </a:xfrm>
          <a:prstGeom prst="rect">
            <a:avLst/>
          </a:prstGeom>
          <a:noFill/>
          <a:ln w="12700">
            <a:solidFill>
              <a:srgbClr val="C6180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Tree>
    <p:extLst>
      <p:ext uri="{BB962C8B-B14F-4D97-AF65-F5344CB8AC3E}">
        <p14:creationId xmlns:p14="http://schemas.microsoft.com/office/powerpoint/2010/main" val="3684241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20192116-BA34-4E45-A10A-34BCBD200407}"/>
              </a:ext>
            </a:extLst>
          </p:cNvPr>
          <p:cNvSpPr>
            <a:spLocks noGrp="1" noChangeArrowheads="1"/>
          </p:cNvSpPr>
          <p:nvPr>
            <p:ph type="title"/>
          </p:nvPr>
        </p:nvSpPr>
        <p:spPr>
          <a:xfrm>
            <a:off x="2193925" y="319088"/>
            <a:ext cx="7772400" cy="1143000"/>
          </a:xfrm>
        </p:spPr>
        <p:txBody>
          <a:bodyPr/>
          <a:lstStyle/>
          <a:p>
            <a:pPr eaLnBrk="1" hangingPunct="1"/>
            <a:r>
              <a:rPr lang="en-US" altLang="en-US" sz="3600">
                <a:ea typeface="ＭＳ Ｐゴシック" panose="020B0600070205080204" pitchFamily="34" charset="-128"/>
              </a:rPr>
              <a:t>Example 2 </a:t>
            </a:r>
            <a:r>
              <a:rPr lang="en-US" altLang="en-US" sz="2800">
                <a:ea typeface="ＭＳ Ｐゴシック" panose="020B0600070205080204" pitchFamily="34" charset="-128"/>
              </a:rPr>
              <a:t>(part 1)</a:t>
            </a:r>
            <a:r>
              <a:rPr lang="en-US" altLang="en-US" sz="3600">
                <a:ea typeface="ＭＳ Ｐゴシック" panose="020B0600070205080204" pitchFamily="34" charset="-128"/>
              </a:rPr>
              <a:t> </a:t>
            </a:r>
          </a:p>
        </p:txBody>
      </p:sp>
      <p:sp>
        <p:nvSpPr>
          <p:cNvPr id="25605" name="Rectangle 3">
            <a:extLst>
              <a:ext uri="{FF2B5EF4-FFF2-40B4-BE49-F238E27FC236}">
                <a16:creationId xmlns:a16="http://schemas.microsoft.com/office/drawing/2014/main" id="{210D96CE-B2BD-704F-8C40-2DC0771A241D}"/>
              </a:ext>
            </a:extLst>
          </p:cNvPr>
          <p:cNvSpPr>
            <a:spLocks noChangeArrowheads="1"/>
          </p:cNvSpPr>
          <p:nvPr/>
        </p:nvSpPr>
        <p:spPr bwMode="auto">
          <a:xfrm>
            <a:off x="1981200" y="4648201"/>
            <a:ext cx="8382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a:t>	Alternatively, ask the probability that West has all 13 spades (one way) out of all ways West can be dealt 13 cards:  </a:t>
            </a:r>
          </a:p>
          <a:p>
            <a:pPr eaLnBrk="1" hangingPunct="1"/>
            <a:r>
              <a:rPr lang="en-US" altLang="en-US"/>
              <a:t>	                             </a:t>
            </a:r>
            <a:r>
              <a:rPr lang="en-US" altLang="en-US" b="1"/>
              <a:t>1/C(52,13).</a:t>
            </a:r>
          </a:p>
        </p:txBody>
      </p:sp>
      <p:sp>
        <p:nvSpPr>
          <p:cNvPr id="25606" name="Text Box 5">
            <a:extLst>
              <a:ext uri="{FF2B5EF4-FFF2-40B4-BE49-F238E27FC236}">
                <a16:creationId xmlns:a16="http://schemas.microsoft.com/office/drawing/2014/main" id="{1C50664D-7EB0-A446-9F5A-DB0FC6E7CF3A}"/>
              </a:ext>
            </a:extLst>
          </p:cNvPr>
          <p:cNvSpPr txBox="1">
            <a:spLocks noChangeArrowheads="1"/>
          </p:cNvSpPr>
          <p:nvPr/>
        </p:nvSpPr>
        <p:spPr bwMode="auto">
          <a:xfrm>
            <a:off x="1931988" y="1393825"/>
            <a:ext cx="8458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Char char="•"/>
            </a:pPr>
            <a:r>
              <a:rPr lang="en-US" altLang="en-US"/>
              <a:t>    Count the ways West can get all spades-- </a:t>
            </a:r>
            <a:r>
              <a:rPr lang="en-US" altLang="en-US" b="1"/>
              <a:t>1 way.</a:t>
            </a:r>
          </a:p>
          <a:p>
            <a:pPr eaLnBrk="1" hangingPunct="1">
              <a:spcBef>
                <a:spcPct val="50000"/>
              </a:spcBef>
              <a:buFontTx/>
              <a:buChar char="•"/>
            </a:pPr>
            <a:r>
              <a:rPr lang="en-US" altLang="en-US" b="1"/>
              <a:t>   </a:t>
            </a:r>
            <a:r>
              <a:rPr lang="en-US" altLang="en-US"/>
              <a:t>Count the ways to distribute the 39 non-spade cards among the 3 other hands-- </a:t>
            </a:r>
            <a:r>
              <a:rPr lang="en-US" altLang="en-US" b="1"/>
              <a:t>P(39; 13, 13, 13) ways</a:t>
            </a:r>
            <a:r>
              <a:rPr lang="en-US" altLang="en-US"/>
              <a:t>.</a:t>
            </a:r>
          </a:p>
          <a:p>
            <a:pPr eaLnBrk="1" hangingPunct="1">
              <a:spcBef>
                <a:spcPct val="50000"/>
              </a:spcBef>
              <a:buFontTx/>
              <a:buChar char="•"/>
            </a:pPr>
            <a:r>
              <a:rPr lang="en-US" altLang="en-US"/>
              <a:t>   To get the probability, divide by the distributions of the 52 cards into 13-card hands-- </a:t>
            </a:r>
            <a:r>
              <a:rPr lang="en-US" altLang="en-US" b="1"/>
              <a:t>P(52; 13, 13, 13, 13)</a:t>
            </a:r>
            <a:r>
              <a:rPr lang="en-US" altLang="en-US"/>
              <a:t> </a:t>
            </a:r>
            <a:r>
              <a:rPr lang="en-US" altLang="en-US" b="1"/>
              <a:t>ways.</a:t>
            </a:r>
            <a:endParaRPr lang="en-US" altLang="en-US"/>
          </a:p>
        </p:txBody>
      </p:sp>
      <p:grpSp>
        <p:nvGrpSpPr>
          <p:cNvPr id="25607" name="Group 6">
            <a:extLst>
              <a:ext uri="{FF2B5EF4-FFF2-40B4-BE49-F238E27FC236}">
                <a16:creationId xmlns:a16="http://schemas.microsoft.com/office/drawing/2014/main" id="{70E4814D-C5E6-F44A-9FA1-E5764E85A9CE}"/>
              </a:ext>
            </a:extLst>
          </p:cNvPr>
          <p:cNvGrpSpPr>
            <a:grpSpLocks/>
          </p:cNvGrpSpPr>
          <p:nvPr/>
        </p:nvGrpSpPr>
        <p:grpSpPr bwMode="auto">
          <a:xfrm>
            <a:off x="2895600" y="3810000"/>
            <a:ext cx="6172200" cy="838200"/>
            <a:chOff x="288" y="3648"/>
            <a:chExt cx="3888" cy="528"/>
          </a:xfrm>
        </p:grpSpPr>
        <p:sp>
          <p:nvSpPr>
            <p:cNvPr id="25608" name="Text Box 7">
              <a:extLst>
                <a:ext uri="{FF2B5EF4-FFF2-40B4-BE49-F238E27FC236}">
                  <a16:creationId xmlns:a16="http://schemas.microsoft.com/office/drawing/2014/main" id="{854025C7-DDF5-264F-A8F0-55088C3CAC8E}"/>
                </a:ext>
              </a:extLst>
            </p:cNvPr>
            <p:cNvSpPr txBox="1">
              <a:spLocks noChangeArrowheads="1"/>
            </p:cNvSpPr>
            <p:nvPr/>
          </p:nvSpPr>
          <p:spPr bwMode="auto">
            <a:xfrm>
              <a:off x="432" y="369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39!</a:t>
              </a:r>
            </a:p>
          </p:txBody>
        </p:sp>
        <p:sp>
          <p:nvSpPr>
            <p:cNvPr id="25609" name="Text Box 8">
              <a:extLst>
                <a:ext uri="{FF2B5EF4-FFF2-40B4-BE49-F238E27FC236}">
                  <a16:creationId xmlns:a16="http://schemas.microsoft.com/office/drawing/2014/main" id="{94133AB1-5B35-764E-8B16-010E0AC013F6}"/>
                </a:ext>
              </a:extLst>
            </p:cNvPr>
            <p:cNvSpPr txBox="1">
              <a:spLocks noChangeArrowheads="1"/>
            </p:cNvSpPr>
            <p:nvPr/>
          </p:nvSpPr>
          <p:spPr bwMode="auto">
            <a:xfrm>
              <a:off x="288" y="3888"/>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(13!)</a:t>
              </a:r>
              <a:r>
                <a:rPr lang="en-US" altLang="en-US" b="1" baseline="30000"/>
                <a:t>3</a:t>
              </a:r>
              <a:endParaRPr lang="en-US" altLang="en-US" b="1"/>
            </a:p>
          </p:txBody>
        </p:sp>
        <p:sp>
          <p:nvSpPr>
            <p:cNvPr id="25610" name="Text Box 9">
              <a:extLst>
                <a:ext uri="{FF2B5EF4-FFF2-40B4-BE49-F238E27FC236}">
                  <a16:creationId xmlns:a16="http://schemas.microsoft.com/office/drawing/2014/main" id="{814F3BC4-38C5-E848-9EA7-B922103DEC77}"/>
                </a:ext>
              </a:extLst>
            </p:cNvPr>
            <p:cNvSpPr txBox="1">
              <a:spLocks noChangeArrowheads="1"/>
            </p:cNvSpPr>
            <p:nvPr/>
          </p:nvSpPr>
          <p:spPr bwMode="auto">
            <a:xfrm>
              <a:off x="1104" y="369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52!</a:t>
              </a:r>
            </a:p>
          </p:txBody>
        </p:sp>
        <p:sp>
          <p:nvSpPr>
            <p:cNvPr id="25611" name="Text Box 10">
              <a:extLst>
                <a:ext uri="{FF2B5EF4-FFF2-40B4-BE49-F238E27FC236}">
                  <a16:creationId xmlns:a16="http://schemas.microsoft.com/office/drawing/2014/main" id="{9E3AEBCD-3247-774D-B8E1-32DCBC2E1AC1}"/>
                </a:ext>
              </a:extLst>
            </p:cNvPr>
            <p:cNvSpPr txBox="1">
              <a:spLocks noChangeArrowheads="1"/>
            </p:cNvSpPr>
            <p:nvPr/>
          </p:nvSpPr>
          <p:spPr bwMode="auto">
            <a:xfrm>
              <a:off x="1008" y="3888"/>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(13!)</a:t>
              </a:r>
              <a:r>
                <a:rPr lang="en-US" altLang="en-US" b="1" baseline="30000"/>
                <a:t>4</a:t>
              </a:r>
              <a:endParaRPr lang="en-US" altLang="en-US" b="1"/>
            </a:p>
          </p:txBody>
        </p:sp>
        <p:sp>
          <p:nvSpPr>
            <p:cNvPr id="25612" name="Text Box 11">
              <a:extLst>
                <a:ext uri="{FF2B5EF4-FFF2-40B4-BE49-F238E27FC236}">
                  <a16:creationId xmlns:a16="http://schemas.microsoft.com/office/drawing/2014/main" id="{236B0823-9455-9F45-8893-462D6CFFF0F2}"/>
                </a:ext>
              </a:extLst>
            </p:cNvPr>
            <p:cNvSpPr txBox="1">
              <a:spLocks noChangeArrowheads="1"/>
            </p:cNvSpPr>
            <p:nvPr/>
          </p:nvSpPr>
          <p:spPr bwMode="auto">
            <a:xfrm>
              <a:off x="1584" y="3792"/>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  1</a:t>
              </a:r>
            </a:p>
          </p:txBody>
        </p:sp>
        <p:sp>
          <p:nvSpPr>
            <p:cNvPr id="25613" name="Line 12">
              <a:extLst>
                <a:ext uri="{FF2B5EF4-FFF2-40B4-BE49-F238E27FC236}">
                  <a16:creationId xmlns:a16="http://schemas.microsoft.com/office/drawing/2014/main" id="{5090B89B-672A-EE49-B11C-950A33375149}"/>
                </a:ext>
              </a:extLst>
            </p:cNvPr>
            <p:cNvSpPr>
              <a:spLocks noChangeShapeType="1"/>
            </p:cNvSpPr>
            <p:nvPr/>
          </p:nvSpPr>
          <p:spPr bwMode="auto">
            <a:xfrm flipV="1">
              <a:off x="864" y="3744"/>
              <a:ext cx="24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14" name="Line 13">
              <a:extLst>
                <a:ext uri="{FF2B5EF4-FFF2-40B4-BE49-F238E27FC236}">
                  <a16:creationId xmlns:a16="http://schemas.microsoft.com/office/drawing/2014/main" id="{3827C35F-09C9-494A-A790-B53DD1BF1B2D}"/>
                </a:ext>
              </a:extLst>
            </p:cNvPr>
            <p:cNvSpPr>
              <a:spLocks noChangeShapeType="1"/>
            </p:cNvSpPr>
            <p:nvPr/>
          </p:nvSpPr>
          <p:spPr bwMode="auto">
            <a:xfrm>
              <a:off x="384" y="3936"/>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15" name="Line 14">
              <a:extLst>
                <a:ext uri="{FF2B5EF4-FFF2-40B4-BE49-F238E27FC236}">
                  <a16:creationId xmlns:a16="http://schemas.microsoft.com/office/drawing/2014/main" id="{E3198097-A01E-D24F-B76E-CA02462E49A4}"/>
                </a:ext>
              </a:extLst>
            </p:cNvPr>
            <p:cNvSpPr>
              <a:spLocks noChangeShapeType="1"/>
            </p:cNvSpPr>
            <p:nvPr/>
          </p:nvSpPr>
          <p:spPr bwMode="auto">
            <a:xfrm>
              <a:off x="1104" y="3936"/>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16" name="Line 15">
              <a:extLst>
                <a:ext uri="{FF2B5EF4-FFF2-40B4-BE49-F238E27FC236}">
                  <a16:creationId xmlns:a16="http://schemas.microsoft.com/office/drawing/2014/main" id="{55F54A4A-C492-D948-91B3-57836C162050}"/>
                </a:ext>
              </a:extLst>
            </p:cNvPr>
            <p:cNvSpPr>
              <a:spLocks noChangeShapeType="1"/>
            </p:cNvSpPr>
            <p:nvPr/>
          </p:nvSpPr>
          <p:spPr bwMode="auto">
            <a:xfrm flipV="1">
              <a:off x="1920" y="3744"/>
              <a:ext cx="24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17" name="Text Box 16">
              <a:extLst>
                <a:ext uri="{FF2B5EF4-FFF2-40B4-BE49-F238E27FC236}">
                  <a16:creationId xmlns:a16="http://schemas.microsoft.com/office/drawing/2014/main" id="{A55A68EC-D817-3045-8951-5BEF33E5DB75}"/>
                </a:ext>
              </a:extLst>
            </p:cNvPr>
            <p:cNvSpPr txBox="1">
              <a:spLocks noChangeArrowheads="1"/>
            </p:cNvSpPr>
            <p:nvPr/>
          </p:nvSpPr>
          <p:spPr bwMode="auto">
            <a:xfrm>
              <a:off x="2208" y="3648"/>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52!</a:t>
              </a:r>
            </a:p>
          </p:txBody>
        </p:sp>
        <p:sp>
          <p:nvSpPr>
            <p:cNvPr id="25618" name="Text Box 17">
              <a:extLst>
                <a:ext uri="{FF2B5EF4-FFF2-40B4-BE49-F238E27FC236}">
                  <a16:creationId xmlns:a16="http://schemas.microsoft.com/office/drawing/2014/main" id="{CFF52902-08FC-D14F-A080-7B3819B23BFE}"/>
                </a:ext>
              </a:extLst>
            </p:cNvPr>
            <p:cNvSpPr txBox="1">
              <a:spLocks noChangeArrowheads="1"/>
            </p:cNvSpPr>
            <p:nvPr/>
          </p:nvSpPr>
          <p:spPr bwMode="auto">
            <a:xfrm>
              <a:off x="2064" y="3888"/>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13!39!</a:t>
              </a:r>
            </a:p>
          </p:txBody>
        </p:sp>
        <p:sp>
          <p:nvSpPr>
            <p:cNvPr id="25619" name="Line 18">
              <a:extLst>
                <a:ext uri="{FF2B5EF4-FFF2-40B4-BE49-F238E27FC236}">
                  <a16:creationId xmlns:a16="http://schemas.microsoft.com/office/drawing/2014/main" id="{20E04D84-AFA2-4B4C-A361-FDC852CAD6C3}"/>
                </a:ext>
              </a:extLst>
            </p:cNvPr>
            <p:cNvSpPr>
              <a:spLocks noChangeShapeType="1"/>
            </p:cNvSpPr>
            <p:nvPr/>
          </p:nvSpPr>
          <p:spPr bwMode="auto">
            <a:xfrm>
              <a:off x="2160" y="3888"/>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20" name="Text Box 19">
              <a:extLst>
                <a:ext uri="{FF2B5EF4-FFF2-40B4-BE49-F238E27FC236}">
                  <a16:creationId xmlns:a16="http://schemas.microsoft.com/office/drawing/2014/main" id="{2B7F3544-4A16-D544-913C-5B834BBAA46D}"/>
                </a:ext>
              </a:extLst>
            </p:cNvPr>
            <p:cNvSpPr txBox="1">
              <a:spLocks noChangeArrowheads="1"/>
            </p:cNvSpPr>
            <p:nvPr/>
          </p:nvSpPr>
          <p:spPr bwMode="auto">
            <a:xfrm>
              <a:off x="2784" y="3744"/>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  1</a:t>
              </a:r>
            </a:p>
          </p:txBody>
        </p:sp>
        <p:sp>
          <p:nvSpPr>
            <p:cNvPr id="25621" name="Line 20">
              <a:extLst>
                <a:ext uri="{FF2B5EF4-FFF2-40B4-BE49-F238E27FC236}">
                  <a16:creationId xmlns:a16="http://schemas.microsoft.com/office/drawing/2014/main" id="{72A2E61D-8336-5E48-A20E-174B7CF0E9AF}"/>
                </a:ext>
              </a:extLst>
            </p:cNvPr>
            <p:cNvSpPr>
              <a:spLocks noChangeShapeType="1"/>
            </p:cNvSpPr>
            <p:nvPr/>
          </p:nvSpPr>
          <p:spPr bwMode="auto">
            <a:xfrm flipV="1">
              <a:off x="3072" y="3744"/>
              <a:ext cx="24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22" name="Text Box 21">
              <a:extLst>
                <a:ext uri="{FF2B5EF4-FFF2-40B4-BE49-F238E27FC236}">
                  <a16:creationId xmlns:a16="http://schemas.microsoft.com/office/drawing/2014/main" id="{0D13EC0E-190F-364F-A340-C2474E0D2873}"/>
                </a:ext>
              </a:extLst>
            </p:cNvPr>
            <p:cNvSpPr txBox="1">
              <a:spLocks noChangeArrowheads="1"/>
            </p:cNvSpPr>
            <p:nvPr/>
          </p:nvSpPr>
          <p:spPr bwMode="auto">
            <a:xfrm>
              <a:off x="3360" y="3696"/>
              <a:ext cx="81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3600"/>
                <a:t>(   )</a:t>
              </a:r>
            </a:p>
          </p:txBody>
        </p:sp>
        <p:sp>
          <p:nvSpPr>
            <p:cNvPr id="25623" name="Rectangle 22">
              <a:extLst>
                <a:ext uri="{FF2B5EF4-FFF2-40B4-BE49-F238E27FC236}">
                  <a16:creationId xmlns:a16="http://schemas.microsoft.com/office/drawing/2014/main" id="{2331F7E9-91F2-0547-8961-D265A6057673}"/>
                </a:ext>
              </a:extLst>
            </p:cNvPr>
            <p:cNvSpPr>
              <a:spLocks noChangeArrowheads="1"/>
            </p:cNvSpPr>
            <p:nvPr/>
          </p:nvSpPr>
          <p:spPr bwMode="auto">
            <a:xfrm>
              <a:off x="3504" y="365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a:t>52</a:t>
              </a:r>
            </a:p>
          </p:txBody>
        </p:sp>
        <p:sp>
          <p:nvSpPr>
            <p:cNvPr id="25624" name="Rectangle 23">
              <a:extLst>
                <a:ext uri="{FF2B5EF4-FFF2-40B4-BE49-F238E27FC236}">
                  <a16:creationId xmlns:a16="http://schemas.microsoft.com/office/drawing/2014/main" id="{5609EAAD-F975-D74C-8453-19D73BA4B80F}"/>
                </a:ext>
              </a:extLst>
            </p:cNvPr>
            <p:cNvSpPr>
              <a:spLocks noChangeArrowheads="1"/>
            </p:cNvSpPr>
            <p:nvPr/>
          </p:nvSpPr>
          <p:spPr bwMode="auto">
            <a:xfrm>
              <a:off x="3504" y="384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a:t>13</a:t>
              </a:r>
            </a:p>
          </p:txBody>
        </p:sp>
      </p:grpSp>
    </p:spTree>
    <p:extLst>
      <p:ext uri="{BB962C8B-B14F-4D97-AF65-F5344CB8AC3E}">
        <p14:creationId xmlns:p14="http://schemas.microsoft.com/office/powerpoint/2010/main" val="293829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F0C829F3-E3CB-8B4C-B8EA-F79BA4679F24}"/>
              </a:ext>
            </a:extLst>
          </p:cNvPr>
          <p:cNvSpPr>
            <a:spLocks noGrp="1" noChangeArrowheads="1"/>
          </p:cNvSpPr>
          <p:nvPr>
            <p:ph type="title"/>
          </p:nvPr>
        </p:nvSpPr>
        <p:spPr/>
        <p:txBody>
          <a:bodyPr/>
          <a:lstStyle/>
          <a:p>
            <a:pPr eaLnBrk="1" hangingPunct="1"/>
            <a:r>
              <a:rPr lang="en-US" altLang="en-US" sz="3600">
                <a:ea typeface="ＭＳ Ｐゴシック" panose="020B0600070205080204" pitchFamily="34" charset="-128"/>
              </a:rPr>
              <a:t>Example 2 </a:t>
            </a:r>
            <a:r>
              <a:rPr lang="en-US" altLang="en-US" sz="2800">
                <a:ea typeface="ＭＳ Ｐゴシック" panose="020B0600070205080204" pitchFamily="34" charset="-128"/>
              </a:rPr>
              <a:t>(part 2)</a:t>
            </a:r>
          </a:p>
        </p:txBody>
      </p:sp>
      <p:sp>
        <p:nvSpPr>
          <p:cNvPr id="26629" name="Rectangle 3">
            <a:extLst>
              <a:ext uri="{FF2B5EF4-FFF2-40B4-BE49-F238E27FC236}">
                <a16:creationId xmlns:a16="http://schemas.microsoft.com/office/drawing/2014/main" id="{54A0BCC6-D1C5-9E49-BEE9-997DD52FD792}"/>
              </a:ext>
            </a:extLst>
          </p:cNvPr>
          <p:cNvSpPr>
            <a:spLocks noChangeArrowheads="1"/>
          </p:cNvSpPr>
          <p:nvPr/>
        </p:nvSpPr>
        <p:spPr bwMode="auto">
          <a:xfrm>
            <a:off x="2362200" y="16764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What is the probability that each player has one Ace?</a:t>
            </a:r>
          </a:p>
        </p:txBody>
      </p:sp>
      <p:sp>
        <p:nvSpPr>
          <p:cNvPr id="26630" name="Text Box 4">
            <a:extLst>
              <a:ext uri="{FF2B5EF4-FFF2-40B4-BE49-F238E27FC236}">
                <a16:creationId xmlns:a16="http://schemas.microsoft.com/office/drawing/2014/main" id="{91AD5E95-B7D8-1641-B0E5-EDEE5D217AF8}"/>
              </a:ext>
            </a:extLst>
          </p:cNvPr>
          <p:cNvSpPr txBox="1">
            <a:spLocks noChangeArrowheads="1"/>
          </p:cNvSpPr>
          <p:nvPr/>
        </p:nvSpPr>
        <p:spPr bwMode="auto">
          <a:xfrm>
            <a:off x="2438400" y="2286000"/>
            <a:ext cx="7391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Char char="•"/>
            </a:pPr>
            <a:r>
              <a:rPr lang="en-US" altLang="en-US"/>
              <a:t> First distribute the Aces– </a:t>
            </a:r>
            <a:r>
              <a:rPr lang="en-US" altLang="en-US" b="1"/>
              <a:t>4! </a:t>
            </a:r>
            <a:r>
              <a:rPr lang="en-US" altLang="en-US"/>
              <a:t>Ways.</a:t>
            </a:r>
          </a:p>
          <a:p>
            <a:pPr eaLnBrk="1" hangingPunct="1">
              <a:spcBef>
                <a:spcPct val="50000"/>
              </a:spcBef>
              <a:buFontTx/>
              <a:buChar char="•"/>
            </a:pPr>
            <a:r>
              <a:rPr lang="en-US" altLang="en-US"/>
              <a:t>Then distribute the 48 non-Aces—</a:t>
            </a:r>
          </a:p>
          <a:p>
            <a:pPr eaLnBrk="1" hangingPunct="1">
              <a:spcBef>
                <a:spcPct val="50000"/>
              </a:spcBef>
            </a:pPr>
            <a:r>
              <a:rPr lang="en-US" altLang="en-US" b="1"/>
              <a:t>	P(48; 12, 12, 12, 12)  </a:t>
            </a:r>
            <a:r>
              <a:rPr lang="en-US" altLang="en-US"/>
              <a:t>= </a:t>
            </a:r>
            <a:r>
              <a:rPr lang="en-US" altLang="en-US" b="1"/>
              <a:t>48! / (12!)</a:t>
            </a:r>
            <a:r>
              <a:rPr lang="en-US" altLang="en-US" b="1" baseline="30000"/>
              <a:t>4 </a:t>
            </a:r>
            <a:r>
              <a:rPr lang="en-US" altLang="en-US"/>
              <a:t> ways.	</a:t>
            </a:r>
          </a:p>
          <a:p>
            <a:pPr eaLnBrk="1" hangingPunct="1">
              <a:spcBef>
                <a:spcPct val="50000"/>
              </a:spcBef>
            </a:pPr>
            <a:r>
              <a:rPr lang="en-US" altLang="en-US"/>
              <a:t>So the probability that each player gets an Ace is:</a:t>
            </a:r>
          </a:p>
        </p:txBody>
      </p:sp>
      <p:graphicFrame>
        <p:nvGraphicFramePr>
          <p:cNvPr id="26631" name="Object 2">
            <a:extLst>
              <a:ext uri="{FF2B5EF4-FFF2-40B4-BE49-F238E27FC236}">
                <a16:creationId xmlns:a16="http://schemas.microsoft.com/office/drawing/2014/main" id="{D9E86A5E-5E07-3245-A54E-61A6653CFB7E}"/>
              </a:ext>
            </a:extLst>
          </p:cNvPr>
          <p:cNvGraphicFramePr>
            <a:graphicFrameLocks noChangeAspect="1"/>
          </p:cNvGraphicFramePr>
          <p:nvPr/>
        </p:nvGraphicFramePr>
        <p:xfrm>
          <a:off x="2417763" y="4667250"/>
          <a:ext cx="7124700" cy="1447800"/>
        </p:xfrm>
        <a:graphic>
          <a:graphicData uri="http://schemas.openxmlformats.org/presentationml/2006/ole">
            <mc:AlternateContent xmlns:mc="http://schemas.openxmlformats.org/markup-compatibility/2006">
              <mc:Choice xmlns:v="urn:schemas-microsoft-com:vml" Requires="v">
                <p:oleObj spid="_x0000_s2050" name="Equation" r:id="rId3" imgW="164134800" imgH="33350200" progId="Equation.DSMT4">
                  <p:embed/>
                </p:oleObj>
              </mc:Choice>
              <mc:Fallback>
                <p:oleObj name="Equation" r:id="rId3" imgW="164134800" imgH="33350200" progId="Equation.DSMT4">
                  <p:embed/>
                  <p:pic>
                    <p:nvPicPr>
                      <p:cNvPr id="26631" name="Object 2">
                        <a:extLst>
                          <a:ext uri="{FF2B5EF4-FFF2-40B4-BE49-F238E27FC236}">
                            <a16:creationId xmlns:a16="http://schemas.microsoft.com/office/drawing/2014/main" id="{D9E86A5E-5E07-3245-A54E-61A6653CFB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7763" y="4667250"/>
                        <a:ext cx="71247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754660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1B4F3241-25A4-6C47-B0A6-C592C1E82610}"/>
              </a:ext>
            </a:extLst>
          </p:cNvPr>
          <p:cNvSpPr>
            <a:spLocks noGrp="1" noChangeArrowheads="1"/>
          </p:cNvSpPr>
          <p:nvPr>
            <p:ph type="title"/>
          </p:nvPr>
        </p:nvSpPr>
        <p:spPr>
          <a:xfrm>
            <a:off x="2209800" y="65087"/>
            <a:ext cx="7772400" cy="1143000"/>
          </a:xfrm>
        </p:spPr>
        <p:txBody>
          <a:bodyPr/>
          <a:lstStyle/>
          <a:p>
            <a:pPr eaLnBrk="1" hangingPunct="1"/>
            <a:r>
              <a:rPr lang="en-US" altLang="en-US" sz="3600" dirty="0">
                <a:ea typeface="ＭＳ Ｐゴシック" panose="020B0600070205080204" pitchFamily="34" charset="-128"/>
              </a:rPr>
              <a:t>Example 3</a:t>
            </a:r>
          </a:p>
        </p:txBody>
      </p:sp>
      <p:sp>
        <p:nvSpPr>
          <p:cNvPr id="27653" name="Text Box 3">
            <a:extLst>
              <a:ext uri="{FF2B5EF4-FFF2-40B4-BE49-F238E27FC236}">
                <a16:creationId xmlns:a16="http://schemas.microsoft.com/office/drawing/2014/main" id="{89A92F0A-B15C-4F48-A3A9-EAADF2479AEC}"/>
              </a:ext>
            </a:extLst>
          </p:cNvPr>
          <p:cNvSpPr txBox="1">
            <a:spLocks noChangeArrowheads="1"/>
          </p:cNvSpPr>
          <p:nvPr/>
        </p:nvSpPr>
        <p:spPr bwMode="auto">
          <a:xfrm>
            <a:off x="2133600" y="1053110"/>
            <a:ext cx="8229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t>	Show that the number of ways to distribute </a:t>
            </a:r>
            <a:r>
              <a:rPr lang="en-US" altLang="en-US" i="1" dirty="0"/>
              <a:t>r</a:t>
            </a:r>
            <a:r>
              <a:rPr lang="en-US" altLang="en-US" dirty="0"/>
              <a:t> identical balls into </a:t>
            </a:r>
            <a:r>
              <a:rPr lang="en-US" altLang="en-US" i="1" dirty="0"/>
              <a:t>n</a:t>
            </a:r>
            <a:r>
              <a:rPr lang="en-US" altLang="en-US" dirty="0"/>
              <a:t> distinct boxes with at least one ball in each box is </a:t>
            </a:r>
            <a:r>
              <a:rPr lang="en-US" altLang="en-US" i="1" dirty="0"/>
              <a:t>C</a:t>
            </a:r>
            <a:r>
              <a:rPr lang="en-US" altLang="en-US" dirty="0"/>
              <a:t>(</a:t>
            </a:r>
            <a:r>
              <a:rPr lang="en-US" altLang="en-US" i="1" dirty="0"/>
              <a:t>r</a:t>
            </a:r>
            <a:r>
              <a:rPr lang="en-US" altLang="en-US" dirty="0"/>
              <a:t>-1, </a:t>
            </a:r>
            <a:r>
              <a:rPr lang="en-US" altLang="en-US" i="1" dirty="0"/>
              <a:t>n</a:t>
            </a:r>
            <a:r>
              <a:rPr lang="en-US" altLang="en-US" dirty="0"/>
              <a:t>-1).  With at least </a:t>
            </a:r>
            <a:r>
              <a:rPr lang="en-US" altLang="en-US" i="1" dirty="0"/>
              <a:t>r</a:t>
            </a:r>
            <a:r>
              <a:rPr lang="en-US" altLang="en-US" baseline="-25000" dirty="0"/>
              <a:t>1</a:t>
            </a:r>
            <a:r>
              <a:rPr lang="en-US" altLang="en-US" dirty="0"/>
              <a:t> balls in the first box, at least </a:t>
            </a:r>
            <a:r>
              <a:rPr lang="en-US" altLang="en-US" i="1" dirty="0"/>
              <a:t>r</a:t>
            </a:r>
            <a:r>
              <a:rPr lang="en-US" altLang="en-US" baseline="-25000" dirty="0"/>
              <a:t>2</a:t>
            </a:r>
            <a:r>
              <a:rPr lang="en-US" altLang="en-US" dirty="0"/>
              <a:t> balls in the second box, …, and at least </a:t>
            </a:r>
            <a:r>
              <a:rPr lang="en-US" altLang="en-US" i="1" dirty="0" err="1"/>
              <a:t>r</a:t>
            </a:r>
            <a:r>
              <a:rPr lang="en-US" altLang="en-US" i="1" baseline="-25000" dirty="0" err="1"/>
              <a:t>n</a:t>
            </a:r>
            <a:r>
              <a:rPr lang="en-US" altLang="en-US" dirty="0"/>
              <a:t> balls in the </a:t>
            </a:r>
            <a:r>
              <a:rPr lang="en-US" altLang="en-US" i="1" dirty="0"/>
              <a:t>n</a:t>
            </a:r>
            <a:r>
              <a:rPr lang="en-US" altLang="en-US" baseline="30000" dirty="0"/>
              <a:t>th</a:t>
            </a:r>
            <a:r>
              <a:rPr lang="en-US" altLang="en-US" dirty="0"/>
              <a:t> box, the number is</a:t>
            </a:r>
            <a:r>
              <a:rPr lang="en-US" altLang="en-US" i="1" dirty="0"/>
              <a:t> C</a:t>
            </a:r>
            <a:r>
              <a:rPr lang="en-US" altLang="en-US" dirty="0"/>
              <a:t>(</a:t>
            </a:r>
            <a:r>
              <a:rPr lang="en-US" altLang="en-US" i="1" dirty="0"/>
              <a:t>r</a:t>
            </a:r>
            <a:r>
              <a:rPr lang="en-US" altLang="en-US" dirty="0"/>
              <a:t> - </a:t>
            </a:r>
            <a:r>
              <a:rPr lang="en-US" altLang="en-US" i="1" dirty="0"/>
              <a:t>r</a:t>
            </a:r>
            <a:r>
              <a:rPr lang="en-US" altLang="en-US" baseline="-25000" dirty="0"/>
              <a:t>1</a:t>
            </a:r>
            <a:r>
              <a:rPr lang="en-US" altLang="en-US" dirty="0"/>
              <a:t> - </a:t>
            </a:r>
            <a:r>
              <a:rPr lang="en-US" altLang="en-US" i="1" dirty="0"/>
              <a:t>r</a:t>
            </a:r>
            <a:r>
              <a:rPr lang="en-US" altLang="en-US" baseline="-25000" dirty="0"/>
              <a:t>2</a:t>
            </a:r>
            <a:r>
              <a:rPr lang="en-US" altLang="en-US" dirty="0"/>
              <a:t> -…- </a:t>
            </a:r>
            <a:r>
              <a:rPr lang="en-US" altLang="en-US" i="1" dirty="0" err="1"/>
              <a:t>r</a:t>
            </a:r>
            <a:r>
              <a:rPr lang="en-US" altLang="en-US" i="1" baseline="-25000" dirty="0" err="1"/>
              <a:t>n</a:t>
            </a:r>
            <a:r>
              <a:rPr lang="en-US" altLang="en-US" dirty="0"/>
              <a:t> + </a:t>
            </a:r>
            <a:r>
              <a:rPr lang="en-US" altLang="en-US" i="1" dirty="0"/>
              <a:t>n</a:t>
            </a:r>
            <a:r>
              <a:rPr lang="en-US" altLang="en-US" dirty="0"/>
              <a:t> – 1, </a:t>
            </a:r>
            <a:r>
              <a:rPr lang="en-US" altLang="en-US" i="1" dirty="0"/>
              <a:t>n</a:t>
            </a:r>
            <a:r>
              <a:rPr lang="en-US" altLang="en-US" dirty="0"/>
              <a:t>-1).</a:t>
            </a:r>
          </a:p>
          <a:p>
            <a:pPr marL="800100" lvl="1" indent="-342900" eaLnBrk="1" hangingPunct="1">
              <a:spcBef>
                <a:spcPct val="50000"/>
              </a:spcBef>
              <a:buFont typeface="Arial" panose="020B0604020202020204" pitchFamily="34" charset="0"/>
              <a:buChar char="•"/>
            </a:pPr>
            <a:r>
              <a:rPr lang="en-US" altLang="en-US" dirty="0"/>
              <a:t>This is called “minimum condition” problem, the rule is: “satisfy it first”. The key word is: ”at least”.</a:t>
            </a:r>
          </a:p>
        </p:txBody>
      </p:sp>
      <p:grpSp>
        <p:nvGrpSpPr>
          <p:cNvPr id="27654" name="Group 4">
            <a:extLst>
              <a:ext uri="{FF2B5EF4-FFF2-40B4-BE49-F238E27FC236}">
                <a16:creationId xmlns:a16="http://schemas.microsoft.com/office/drawing/2014/main" id="{D4B154E5-097D-484A-A9D8-4AECAA3692D7}"/>
              </a:ext>
            </a:extLst>
          </p:cNvPr>
          <p:cNvGrpSpPr>
            <a:grpSpLocks/>
          </p:cNvGrpSpPr>
          <p:nvPr/>
        </p:nvGrpSpPr>
        <p:grpSpPr bwMode="auto">
          <a:xfrm>
            <a:off x="2705100" y="4310009"/>
            <a:ext cx="6781800" cy="2209800"/>
            <a:chOff x="912" y="2016"/>
            <a:chExt cx="4272" cy="1392"/>
          </a:xfrm>
        </p:grpSpPr>
        <p:sp>
          <p:nvSpPr>
            <p:cNvPr id="27656" name="Text Box 5">
              <a:extLst>
                <a:ext uri="{FF2B5EF4-FFF2-40B4-BE49-F238E27FC236}">
                  <a16:creationId xmlns:a16="http://schemas.microsoft.com/office/drawing/2014/main" id="{8E70918D-E718-E847-95ED-A1565B52D444}"/>
                </a:ext>
              </a:extLst>
            </p:cNvPr>
            <p:cNvSpPr txBox="1">
              <a:spLocks noChangeArrowheads="1"/>
            </p:cNvSpPr>
            <p:nvPr/>
          </p:nvSpPr>
          <p:spPr bwMode="auto">
            <a:xfrm>
              <a:off x="2544" y="201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distinct objects</a:t>
              </a:r>
            </a:p>
          </p:txBody>
        </p:sp>
        <p:sp>
          <p:nvSpPr>
            <p:cNvPr id="27657" name="Text Box 6">
              <a:extLst>
                <a:ext uri="{FF2B5EF4-FFF2-40B4-BE49-F238E27FC236}">
                  <a16:creationId xmlns:a16="http://schemas.microsoft.com/office/drawing/2014/main" id="{DC73A091-BA07-F344-9461-C00250897A18}"/>
                </a:ext>
              </a:extLst>
            </p:cNvPr>
            <p:cNvSpPr txBox="1">
              <a:spLocks noChangeArrowheads="1"/>
            </p:cNvSpPr>
            <p:nvPr/>
          </p:nvSpPr>
          <p:spPr bwMode="auto">
            <a:xfrm>
              <a:off x="3840" y="2016"/>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identical objects</a:t>
              </a:r>
            </a:p>
          </p:txBody>
        </p:sp>
        <p:sp>
          <p:nvSpPr>
            <p:cNvPr id="27658" name="Line 7">
              <a:extLst>
                <a:ext uri="{FF2B5EF4-FFF2-40B4-BE49-F238E27FC236}">
                  <a16:creationId xmlns:a16="http://schemas.microsoft.com/office/drawing/2014/main" id="{7C382EF9-067A-BC4F-9CC3-B325252574CC}"/>
                </a:ext>
              </a:extLst>
            </p:cNvPr>
            <p:cNvSpPr>
              <a:spLocks noChangeShapeType="1"/>
            </p:cNvSpPr>
            <p:nvPr/>
          </p:nvSpPr>
          <p:spPr bwMode="auto">
            <a:xfrm>
              <a:off x="912" y="2496"/>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659" name="Line 8">
              <a:extLst>
                <a:ext uri="{FF2B5EF4-FFF2-40B4-BE49-F238E27FC236}">
                  <a16:creationId xmlns:a16="http://schemas.microsoft.com/office/drawing/2014/main" id="{34D98F6F-0741-8445-8FBB-3EE21B6FFBA7}"/>
                </a:ext>
              </a:extLst>
            </p:cNvPr>
            <p:cNvSpPr>
              <a:spLocks noChangeShapeType="1"/>
            </p:cNvSpPr>
            <p:nvPr/>
          </p:nvSpPr>
          <p:spPr bwMode="auto">
            <a:xfrm>
              <a:off x="3744" y="2016"/>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660" name="Text Box 9">
              <a:extLst>
                <a:ext uri="{FF2B5EF4-FFF2-40B4-BE49-F238E27FC236}">
                  <a16:creationId xmlns:a16="http://schemas.microsoft.com/office/drawing/2014/main" id="{984206D6-D213-6143-8BEF-081CFD51A869}"/>
                </a:ext>
              </a:extLst>
            </p:cNvPr>
            <p:cNvSpPr txBox="1">
              <a:spLocks noChangeArrowheads="1"/>
            </p:cNvSpPr>
            <p:nvPr/>
          </p:nvSpPr>
          <p:spPr bwMode="auto">
            <a:xfrm>
              <a:off x="960" y="2592"/>
              <a:ext cx="4224"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No repetition                              </a:t>
              </a:r>
              <a:r>
                <a:rPr lang="en-US" altLang="en-US" sz="1800" b="1" i="1"/>
                <a:t>P</a:t>
              </a:r>
              <a:r>
                <a:rPr lang="en-US" altLang="en-US" sz="1800" b="1"/>
                <a:t>(</a:t>
              </a:r>
              <a:r>
                <a:rPr lang="en-US" altLang="en-US" sz="1800" b="1" i="1"/>
                <a:t>n,r</a:t>
              </a:r>
              <a:r>
                <a:rPr lang="en-US" altLang="en-US" sz="1800" b="1"/>
                <a:t>)                    </a:t>
              </a:r>
              <a:r>
                <a:rPr lang="en-US" altLang="en-US" sz="1800" b="1" i="1"/>
                <a:t>C</a:t>
              </a:r>
              <a:r>
                <a:rPr lang="en-US" altLang="en-US" sz="1800" b="1"/>
                <a:t>(</a:t>
              </a:r>
              <a:r>
                <a:rPr lang="en-US" altLang="en-US" sz="1800" b="1" i="1"/>
                <a:t>n,r</a:t>
              </a:r>
              <a:r>
                <a:rPr lang="en-US" altLang="en-US" sz="1800" b="1"/>
                <a:t>)</a:t>
              </a:r>
            </a:p>
            <a:p>
              <a:pPr eaLnBrk="1" hangingPunct="1">
                <a:spcBef>
                  <a:spcPct val="50000"/>
                </a:spcBef>
              </a:pPr>
              <a:r>
                <a:rPr lang="en-US" altLang="en-US" sz="1800"/>
                <a:t>Unlimited Repetition                    </a:t>
              </a:r>
              <a:r>
                <a:rPr lang="en-US" altLang="en-US" sz="1800" b="1" i="1"/>
                <a:t>n </a:t>
              </a:r>
              <a:r>
                <a:rPr lang="en-US" altLang="en-US" sz="1800" b="1" i="1" baseline="30000"/>
                <a:t>r </a:t>
              </a:r>
              <a:r>
                <a:rPr lang="en-US" altLang="en-US" sz="1800" b="1" i="1"/>
                <a:t>                       C(r+n-</a:t>
              </a:r>
              <a:r>
                <a:rPr lang="en-US" altLang="en-US" sz="1800" b="1"/>
                <a:t>1</a:t>
              </a:r>
              <a:r>
                <a:rPr lang="en-US" altLang="en-US" sz="1800" b="1" i="1"/>
                <a:t>, r)</a:t>
              </a:r>
            </a:p>
            <a:p>
              <a:pPr eaLnBrk="1" hangingPunct="1">
                <a:spcBef>
                  <a:spcPct val="50000"/>
                </a:spcBef>
              </a:pPr>
              <a:r>
                <a:rPr lang="en-US" altLang="en-US" sz="1800"/>
                <a:t>Restricted Repetition           </a:t>
              </a:r>
              <a:r>
                <a:rPr lang="en-US" altLang="en-US" sz="1800" b="1" i="1"/>
                <a:t>P</a:t>
              </a:r>
              <a:r>
                <a:rPr lang="en-US" altLang="en-US" sz="1800" b="1"/>
                <a:t>(</a:t>
              </a:r>
              <a:r>
                <a:rPr lang="en-US" altLang="en-US" sz="1800" b="1" i="1"/>
                <a:t>r</a:t>
              </a:r>
              <a:r>
                <a:rPr lang="en-US" altLang="en-US" sz="1800" b="1"/>
                <a:t>; </a:t>
              </a:r>
              <a:r>
                <a:rPr lang="en-US" altLang="en-US" sz="1800" b="1" i="1"/>
                <a:t>r</a:t>
              </a:r>
              <a:r>
                <a:rPr lang="en-US" altLang="en-US" sz="1800" b="1" baseline="-25000"/>
                <a:t>1</a:t>
              </a:r>
              <a:r>
                <a:rPr lang="en-US" altLang="en-US" sz="1800" b="1"/>
                <a:t>, </a:t>
              </a:r>
              <a:r>
                <a:rPr lang="en-US" altLang="en-US" sz="1800" b="1" i="1"/>
                <a:t>r</a:t>
              </a:r>
              <a:r>
                <a:rPr lang="en-US" altLang="en-US" sz="1800" b="1" baseline="-25000"/>
                <a:t>2</a:t>
              </a:r>
              <a:r>
                <a:rPr lang="en-US" altLang="en-US" sz="1800" b="1"/>
                <a:t>, …, </a:t>
              </a:r>
              <a:r>
                <a:rPr lang="en-US" altLang="en-US" sz="1800" b="1" i="1"/>
                <a:t>r</a:t>
              </a:r>
              <a:r>
                <a:rPr lang="en-US" altLang="en-US" sz="1800" b="1" baseline="-25000"/>
                <a:t>n</a:t>
              </a:r>
              <a:r>
                <a:rPr lang="en-US" altLang="en-US" sz="1800" b="1"/>
                <a:t>)</a:t>
              </a:r>
              <a:r>
                <a:rPr lang="en-US" altLang="en-US" sz="1800"/>
                <a:t>       -----</a:t>
              </a:r>
            </a:p>
          </p:txBody>
        </p:sp>
      </p:grpSp>
      <p:sp>
        <p:nvSpPr>
          <p:cNvPr id="27655" name="Rectangle 10">
            <a:extLst>
              <a:ext uri="{FF2B5EF4-FFF2-40B4-BE49-F238E27FC236}">
                <a16:creationId xmlns:a16="http://schemas.microsoft.com/office/drawing/2014/main" id="{5EF2FA64-9A7E-D644-BFF2-5B3E9FCFBA47}"/>
              </a:ext>
            </a:extLst>
          </p:cNvPr>
          <p:cNvSpPr>
            <a:spLocks noChangeArrowheads="1"/>
          </p:cNvSpPr>
          <p:nvPr/>
        </p:nvSpPr>
        <p:spPr bwMode="auto">
          <a:xfrm>
            <a:off x="7353300" y="5591915"/>
            <a:ext cx="1600200" cy="457200"/>
          </a:xfrm>
          <a:prstGeom prst="rect">
            <a:avLst/>
          </a:prstGeom>
          <a:noFill/>
          <a:ln w="28575">
            <a:solidFill>
              <a:srgbClr val="C6180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Tree>
    <p:extLst>
      <p:ext uri="{BB962C8B-B14F-4D97-AF65-F5344CB8AC3E}">
        <p14:creationId xmlns:p14="http://schemas.microsoft.com/office/powerpoint/2010/main" val="1444467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D8F16253-F112-B649-88F3-22D28FDDF0D9}"/>
              </a:ext>
            </a:extLst>
          </p:cNvPr>
          <p:cNvSpPr>
            <a:spLocks noGrp="1" noChangeArrowheads="1"/>
          </p:cNvSpPr>
          <p:nvPr>
            <p:ph type="title"/>
          </p:nvPr>
        </p:nvSpPr>
        <p:spPr/>
        <p:txBody>
          <a:bodyPr/>
          <a:lstStyle/>
          <a:p>
            <a:pPr eaLnBrk="1" hangingPunct="1"/>
            <a:r>
              <a:rPr lang="en-US" altLang="en-US" sz="3600">
                <a:ea typeface="ＭＳ Ｐゴシック" panose="020B0600070205080204" pitchFamily="34" charset="-128"/>
              </a:rPr>
              <a:t>Example 3 </a:t>
            </a:r>
            <a:r>
              <a:rPr lang="en-US" altLang="en-US" sz="2800">
                <a:ea typeface="ＭＳ Ｐゴシック" panose="020B0600070205080204" pitchFamily="34" charset="-128"/>
              </a:rPr>
              <a:t>(at least one ball in each box)</a:t>
            </a:r>
          </a:p>
        </p:txBody>
      </p:sp>
      <p:sp>
        <p:nvSpPr>
          <p:cNvPr id="28677" name="Text Box 3">
            <a:extLst>
              <a:ext uri="{FF2B5EF4-FFF2-40B4-BE49-F238E27FC236}">
                <a16:creationId xmlns:a16="http://schemas.microsoft.com/office/drawing/2014/main" id="{1DFE28AF-8FD2-484C-AF81-67267B05BA60}"/>
              </a:ext>
            </a:extLst>
          </p:cNvPr>
          <p:cNvSpPr txBox="1">
            <a:spLocks noChangeArrowheads="1"/>
          </p:cNvSpPr>
          <p:nvPr/>
        </p:nvSpPr>
        <p:spPr bwMode="auto">
          <a:xfrm>
            <a:off x="2106613" y="1605509"/>
            <a:ext cx="8153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Char char="•"/>
            </a:pPr>
            <a:r>
              <a:rPr lang="en-US" altLang="en-US" dirty="0"/>
              <a:t>   First put one ball in each of the </a:t>
            </a:r>
            <a:r>
              <a:rPr lang="en-US" altLang="en-US" i="1" dirty="0"/>
              <a:t>r </a:t>
            </a:r>
            <a:r>
              <a:rPr lang="en-US" altLang="en-US" dirty="0"/>
              <a:t>boxes. </a:t>
            </a:r>
          </a:p>
          <a:p>
            <a:pPr eaLnBrk="1" hangingPunct="1">
              <a:spcBef>
                <a:spcPct val="50000"/>
              </a:spcBef>
              <a:buFontTx/>
              <a:buChar char="•"/>
            </a:pPr>
            <a:r>
              <a:rPr lang="en-US" altLang="en-US" dirty="0"/>
              <a:t>   Then  count the ways to distribute without restriction the remaining </a:t>
            </a:r>
            <a:r>
              <a:rPr lang="en-US" altLang="en-US" i="1" dirty="0"/>
              <a:t>r-n</a:t>
            </a:r>
            <a:r>
              <a:rPr lang="en-US" altLang="en-US" dirty="0"/>
              <a:t> balls into the </a:t>
            </a:r>
            <a:r>
              <a:rPr lang="en-US" altLang="en-US" i="1" dirty="0"/>
              <a:t>n</a:t>
            </a:r>
            <a:r>
              <a:rPr lang="en-US" altLang="en-US" dirty="0"/>
              <a:t> boxes. You can do this in</a:t>
            </a:r>
          </a:p>
        </p:txBody>
      </p:sp>
      <p:grpSp>
        <p:nvGrpSpPr>
          <p:cNvPr id="28678" name="Group 4">
            <a:extLst>
              <a:ext uri="{FF2B5EF4-FFF2-40B4-BE49-F238E27FC236}">
                <a16:creationId xmlns:a16="http://schemas.microsoft.com/office/drawing/2014/main" id="{E46E1465-70E9-3545-A66D-9AE884824199}"/>
              </a:ext>
            </a:extLst>
          </p:cNvPr>
          <p:cNvGrpSpPr>
            <a:grpSpLocks/>
          </p:cNvGrpSpPr>
          <p:nvPr/>
        </p:nvGrpSpPr>
        <p:grpSpPr bwMode="auto">
          <a:xfrm>
            <a:off x="2605882" y="3273319"/>
            <a:ext cx="7467600" cy="854075"/>
            <a:chOff x="384" y="2544"/>
            <a:chExt cx="4704" cy="538"/>
          </a:xfrm>
        </p:grpSpPr>
        <p:sp>
          <p:nvSpPr>
            <p:cNvPr id="28681" name="Text Box 5">
              <a:extLst>
                <a:ext uri="{FF2B5EF4-FFF2-40B4-BE49-F238E27FC236}">
                  <a16:creationId xmlns:a16="http://schemas.microsoft.com/office/drawing/2014/main" id="{2AF57B65-B7DA-DB40-83A7-689CEA4DEDAF}"/>
                </a:ext>
              </a:extLst>
            </p:cNvPr>
            <p:cNvSpPr txBox="1">
              <a:spLocks noChangeArrowheads="1"/>
            </p:cNvSpPr>
            <p:nvPr/>
          </p:nvSpPr>
          <p:spPr bwMode="auto">
            <a:xfrm>
              <a:off x="384" y="2688"/>
              <a:ext cx="23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i="1"/>
                <a:t>C</a:t>
              </a:r>
              <a:r>
                <a:rPr lang="en-US" altLang="en-US"/>
                <a:t>((</a:t>
              </a:r>
              <a:r>
                <a:rPr lang="en-US" altLang="en-US" i="1"/>
                <a:t>r-n</a:t>
              </a:r>
              <a:r>
                <a:rPr lang="en-US" altLang="en-US"/>
                <a:t>)+</a:t>
              </a:r>
              <a:r>
                <a:rPr lang="en-US" altLang="en-US" i="1"/>
                <a:t>n</a:t>
              </a:r>
              <a:r>
                <a:rPr lang="en-US" altLang="en-US"/>
                <a:t>-1, (</a:t>
              </a:r>
              <a:r>
                <a:rPr lang="en-US" altLang="en-US" i="1"/>
                <a:t>r-n</a:t>
              </a:r>
              <a:r>
                <a:rPr lang="en-US" altLang="en-US"/>
                <a:t>)) = </a:t>
              </a:r>
            </a:p>
          </p:txBody>
        </p:sp>
        <p:sp>
          <p:nvSpPr>
            <p:cNvPr id="28682" name="Text Box 6">
              <a:extLst>
                <a:ext uri="{FF2B5EF4-FFF2-40B4-BE49-F238E27FC236}">
                  <a16:creationId xmlns:a16="http://schemas.microsoft.com/office/drawing/2014/main" id="{4B7BAA63-6DFE-564B-AD06-78879362CF88}"/>
                </a:ext>
              </a:extLst>
            </p:cNvPr>
            <p:cNvSpPr txBox="1">
              <a:spLocks noChangeArrowheads="1"/>
            </p:cNvSpPr>
            <p:nvPr/>
          </p:nvSpPr>
          <p:spPr bwMode="auto">
            <a:xfrm>
              <a:off x="2256" y="2544"/>
              <a:ext cx="1344"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dirty="0"/>
                <a:t>[(</a:t>
              </a:r>
              <a:r>
                <a:rPr lang="en-US" altLang="en-US" sz="2000" i="1" dirty="0"/>
                <a:t>r-n</a:t>
              </a:r>
              <a:r>
                <a:rPr lang="en-US" altLang="en-US" sz="2000" dirty="0"/>
                <a:t>)+</a:t>
              </a:r>
              <a:r>
                <a:rPr lang="en-US" altLang="en-US" sz="2000" i="1" dirty="0"/>
                <a:t>n</a:t>
              </a:r>
              <a:r>
                <a:rPr lang="en-US" altLang="en-US" sz="2000" dirty="0"/>
                <a:t>-1]!</a:t>
              </a:r>
            </a:p>
            <a:p>
              <a:pPr eaLnBrk="1" hangingPunct="1">
                <a:spcBef>
                  <a:spcPct val="50000"/>
                </a:spcBef>
              </a:pPr>
              <a:r>
                <a:rPr lang="en-US" altLang="en-US" sz="2000" dirty="0"/>
                <a:t> (</a:t>
              </a:r>
              <a:r>
                <a:rPr lang="en-US" altLang="en-US" sz="2000" i="1" dirty="0"/>
                <a:t>r-n</a:t>
              </a:r>
              <a:r>
                <a:rPr lang="en-US" altLang="en-US" sz="2000" dirty="0"/>
                <a:t>)!(</a:t>
              </a:r>
              <a:r>
                <a:rPr lang="en-US" altLang="en-US" sz="2000" i="1" dirty="0"/>
                <a:t>n</a:t>
              </a:r>
              <a:r>
                <a:rPr lang="en-US" altLang="en-US" sz="2000" dirty="0"/>
                <a:t>-1)!</a:t>
              </a:r>
            </a:p>
          </p:txBody>
        </p:sp>
        <p:sp>
          <p:nvSpPr>
            <p:cNvPr id="28683" name="Line 7">
              <a:extLst>
                <a:ext uri="{FF2B5EF4-FFF2-40B4-BE49-F238E27FC236}">
                  <a16:creationId xmlns:a16="http://schemas.microsoft.com/office/drawing/2014/main" id="{4DF506EE-610B-3242-8E65-6E462DFF9377}"/>
                </a:ext>
              </a:extLst>
            </p:cNvPr>
            <p:cNvSpPr>
              <a:spLocks noChangeShapeType="1"/>
            </p:cNvSpPr>
            <p:nvPr/>
          </p:nvSpPr>
          <p:spPr bwMode="auto">
            <a:xfrm>
              <a:off x="2304" y="2832"/>
              <a:ext cx="8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8684" name="Text Box 8">
              <a:extLst>
                <a:ext uri="{FF2B5EF4-FFF2-40B4-BE49-F238E27FC236}">
                  <a16:creationId xmlns:a16="http://schemas.microsoft.com/office/drawing/2014/main" id="{871E742D-3C3C-994E-BB59-8402B9A980C6}"/>
                </a:ext>
              </a:extLst>
            </p:cNvPr>
            <p:cNvSpPr txBox="1">
              <a:spLocks noChangeArrowheads="1"/>
            </p:cNvSpPr>
            <p:nvPr/>
          </p:nvSpPr>
          <p:spPr bwMode="auto">
            <a:xfrm>
              <a:off x="3216" y="2688"/>
              <a:ext cx="18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 </a:t>
              </a:r>
              <a:r>
                <a:rPr lang="en-US" altLang="en-US" i="1"/>
                <a:t>C</a:t>
              </a:r>
              <a:r>
                <a:rPr lang="en-US" altLang="en-US"/>
                <a:t>(</a:t>
              </a:r>
              <a:r>
                <a:rPr lang="en-US" altLang="en-US" i="1"/>
                <a:t>r</a:t>
              </a:r>
              <a:r>
                <a:rPr lang="en-US" altLang="en-US"/>
                <a:t>-1, </a:t>
              </a:r>
              <a:r>
                <a:rPr lang="en-US" altLang="en-US" i="1"/>
                <a:t>n</a:t>
              </a:r>
              <a:r>
                <a:rPr lang="en-US" altLang="en-US"/>
                <a:t>-1) ways.</a:t>
              </a:r>
            </a:p>
          </p:txBody>
        </p:sp>
      </p:grpSp>
      <p:sp>
        <p:nvSpPr>
          <p:cNvPr id="28679" name="Rectangle 13">
            <a:extLst>
              <a:ext uri="{FF2B5EF4-FFF2-40B4-BE49-F238E27FC236}">
                <a16:creationId xmlns:a16="http://schemas.microsoft.com/office/drawing/2014/main" id="{7BDA6ED0-5ACB-7947-A441-F34993BA4A3B}"/>
              </a:ext>
            </a:extLst>
          </p:cNvPr>
          <p:cNvSpPr>
            <a:spLocks noChangeArrowheads="1"/>
          </p:cNvSpPr>
          <p:nvPr/>
        </p:nvSpPr>
        <p:spPr bwMode="auto">
          <a:xfrm>
            <a:off x="2730500" y="4584594"/>
            <a:ext cx="70659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t>Recalling that the number of ways to distribute </a:t>
            </a:r>
            <a:r>
              <a:rPr lang="en-US" altLang="en-US" i="1" dirty="0"/>
              <a:t>R</a:t>
            </a:r>
            <a:r>
              <a:rPr lang="en-US" altLang="en-US" dirty="0"/>
              <a:t> things</a:t>
            </a:r>
          </a:p>
          <a:p>
            <a:pPr eaLnBrk="1" hangingPunct="1">
              <a:spcBef>
                <a:spcPct val="50000"/>
              </a:spcBef>
            </a:pPr>
            <a:r>
              <a:rPr lang="en-US" altLang="en-US" dirty="0"/>
              <a:t>without restriction into </a:t>
            </a:r>
            <a:r>
              <a:rPr lang="en-US" altLang="en-US" i="1" dirty="0"/>
              <a:t>N</a:t>
            </a:r>
            <a:r>
              <a:rPr lang="en-US" altLang="en-US" dirty="0"/>
              <a:t> boxes is </a:t>
            </a:r>
            <a:r>
              <a:rPr lang="en-US" altLang="en-US" i="1" dirty="0"/>
              <a:t>C</a:t>
            </a:r>
            <a:r>
              <a:rPr lang="en-US" altLang="en-US" dirty="0"/>
              <a:t>(R+</a:t>
            </a:r>
            <a:r>
              <a:rPr lang="en-US" altLang="en-US" i="1" dirty="0"/>
              <a:t>N-</a:t>
            </a:r>
            <a:r>
              <a:rPr lang="en-US" altLang="en-US" dirty="0"/>
              <a:t>1</a:t>
            </a:r>
            <a:r>
              <a:rPr lang="en-US" altLang="en-US" i="1" dirty="0"/>
              <a:t>, R</a:t>
            </a:r>
            <a:r>
              <a:rPr lang="en-US" altLang="en-US" dirty="0"/>
              <a:t>).</a:t>
            </a:r>
          </a:p>
        </p:txBody>
      </p:sp>
      <p:sp>
        <p:nvSpPr>
          <p:cNvPr id="28680" name="Text Box 14">
            <a:hlinkClick r:id="rId2" action="ppaction://hlinksldjump"/>
            <a:extLst>
              <a:ext uri="{FF2B5EF4-FFF2-40B4-BE49-F238E27FC236}">
                <a16:creationId xmlns:a16="http://schemas.microsoft.com/office/drawing/2014/main" id="{0000CC24-1DC3-1D4E-92C3-56327CCEDA8C}"/>
              </a:ext>
            </a:extLst>
          </p:cNvPr>
          <p:cNvSpPr txBox="1">
            <a:spLocks noChangeArrowheads="1"/>
          </p:cNvSpPr>
          <p:nvPr/>
        </p:nvSpPr>
        <p:spPr bwMode="auto">
          <a:xfrm>
            <a:off x="8977313" y="6230938"/>
            <a:ext cx="609600" cy="336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600"/>
              <a:t>back</a:t>
            </a:r>
          </a:p>
        </p:txBody>
      </p:sp>
    </p:spTree>
    <p:extLst>
      <p:ext uri="{BB962C8B-B14F-4D97-AF65-F5344CB8AC3E}">
        <p14:creationId xmlns:p14="http://schemas.microsoft.com/office/powerpoint/2010/main" val="2742147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700" name="Group 5">
            <a:extLst>
              <a:ext uri="{FF2B5EF4-FFF2-40B4-BE49-F238E27FC236}">
                <a16:creationId xmlns:a16="http://schemas.microsoft.com/office/drawing/2014/main" id="{A2B825F0-C95F-D34F-AAA5-5E99C9CF694B}"/>
              </a:ext>
            </a:extLst>
          </p:cNvPr>
          <p:cNvGrpSpPr>
            <a:grpSpLocks/>
          </p:cNvGrpSpPr>
          <p:nvPr/>
        </p:nvGrpSpPr>
        <p:grpSpPr bwMode="auto">
          <a:xfrm>
            <a:off x="2395538" y="4240213"/>
            <a:ext cx="7391400" cy="838200"/>
            <a:chOff x="384" y="3600"/>
            <a:chExt cx="4656" cy="528"/>
          </a:xfrm>
        </p:grpSpPr>
        <p:sp>
          <p:nvSpPr>
            <p:cNvPr id="29705" name="Text Box 6">
              <a:extLst>
                <a:ext uri="{FF2B5EF4-FFF2-40B4-BE49-F238E27FC236}">
                  <a16:creationId xmlns:a16="http://schemas.microsoft.com/office/drawing/2014/main" id="{2BBCF01F-97BD-4D46-86A9-9999DDB8A2B0}"/>
                </a:ext>
              </a:extLst>
            </p:cNvPr>
            <p:cNvSpPr txBox="1">
              <a:spLocks noChangeArrowheads="1"/>
            </p:cNvSpPr>
            <p:nvPr/>
          </p:nvSpPr>
          <p:spPr bwMode="auto">
            <a:xfrm>
              <a:off x="384" y="3600"/>
              <a:ext cx="41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i="1"/>
                <a:t>C</a:t>
              </a:r>
              <a:r>
                <a:rPr lang="en-US" altLang="en-US"/>
                <a:t>((</a:t>
              </a:r>
              <a:r>
                <a:rPr lang="en-US" altLang="en-US" i="1"/>
                <a:t>r</a:t>
              </a:r>
              <a:r>
                <a:rPr lang="en-US" altLang="en-US"/>
                <a:t>-</a:t>
              </a:r>
              <a:r>
                <a:rPr lang="en-US" altLang="en-US" i="1"/>
                <a:t>r</a:t>
              </a:r>
              <a:r>
                <a:rPr lang="en-US" altLang="en-US" baseline="-25000"/>
                <a:t>1</a:t>
              </a:r>
              <a:r>
                <a:rPr lang="en-US" altLang="en-US"/>
                <a:t>-</a:t>
              </a:r>
              <a:r>
                <a:rPr lang="en-US" altLang="en-US" i="1"/>
                <a:t>r</a:t>
              </a:r>
              <a:r>
                <a:rPr lang="en-US" altLang="en-US" baseline="-25000"/>
                <a:t>2</a:t>
              </a:r>
              <a:r>
                <a:rPr lang="en-US" altLang="en-US"/>
                <a:t>-…-</a:t>
              </a:r>
              <a:r>
                <a:rPr lang="en-US" altLang="en-US" i="1"/>
                <a:t>r</a:t>
              </a:r>
              <a:r>
                <a:rPr lang="en-US" altLang="en-US" i="1" baseline="-25000"/>
                <a:t>n</a:t>
              </a:r>
              <a:r>
                <a:rPr lang="en-US" altLang="en-US"/>
                <a:t>)+</a:t>
              </a:r>
              <a:r>
                <a:rPr lang="en-US" altLang="en-US" i="1"/>
                <a:t>n</a:t>
              </a:r>
              <a:r>
                <a:rPr lang="en-US" altLang="en-US"/>
                <a:t>-1, (</a:t>
              </a:r>
              <a:r>
                <a:rPr lang="en-US" altLang="en-US" i="1"/>
                <a:t>r</a:t>
              </a:r>
              <a:r>
                <a:rPr lang="en-US" altLang="en-US"/>
                <a:t>-</a:t>
              </a:r>
              <a:r>
                <a:rPr lang="en-US" altLang="en-US" i="1"/>
                <a:t>r</a:t>
              </a:r>
              <a:r>
                <a:rPr lang="en-US" altLang="en-US" baseline="-25000"/>
                <a:t>1</a:t>
              </a:r>
              <a:r>
                <a:rPr lang="en-US" altLang="en-US"/>
                <a:t>-</a:t>
              </a:r>
              <a:r>
                <a:rPr lang="en-US" altLang="en-US" i="1"/>
                <a:t>r</a:t>
              </a:r>
              <a:r>
                <a:rPr lang="en-US" altLang="en-US" baseline="-25000"/>
                <a:t>2</a:t>
              </a:r>
              <a:r>
                <a:rPr lang="en-US" altLang="en-US"/>
                <a:t>-…-</a:t>
              </a:r>
              <a:r>
                <a:rPr lang="en-US" altLang="en-US" i="1"/>
                <a:t>r</a:t>
              </a:r>
              <a:r>
                <a:rPr lang="en-US" altLang="en-US" i="1" baseline="-25000"/>
                <a:t>n</a:t>
              </a:r>
              <a:r>
                <a:rPr lang="en-US" altLang="en-US"/>
                <a:t>))</a:t>
              </a:r>
            </a:p>
          </p:txBody>
        </p:sp>
        <p:sp>
          <p:nvSpPr>
            <p:cNvPr id="29706" name="Text Box 7">
              <a:extLst>
                <a:ext uri="{FF2B5EF4-FFF2-40B4-BE49-F238E27FC236}">
                  <a16:creationId xmlns:a16="http://schemas.microsoft.com/office/drawing/2014/main" id="{E53026FA-3C40-8C4E-95C8-9C81B53C7C0F}"/>
                </a:ext>
              </a:extLst>
            </p:cNvPr>
            <p:cNvSpPr txBox="1">
              <a:spLocks noChangeArrowheads="1"/>
            </p:cNvSpPr>
            <p:nvPr/>
          </p:nvSpPr>
          <p:spPr bwMode="auto">
            <a:xfrm>
              <a:off x="1776" y="3840"/>
              <a:ext cx="3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 </a:t>
              </a:r>
              <a:r>
                <a:rPr lang="en-US" altLang="en-US" i="1"/>
                <a:t>C</a:t>
              </a:r>
              <a:r>
                <a:rPr lang="en-US" altLang="en-US"/>
                <a:t>((</a:t>
              </a:r>
              <a:r>
                <a:rPr lang="en-US" altLang="en-US" i="1"/>
                <a:t>r</a:t>
              </a:r>
              <a:r>
                <a:rPr lang="en-US" altLang="en-US"/>
                <a:t>-</a:t>
              </a:r>
              <a:r>
                <a:rPr lang="en-US" altLang="en-US" i="1"/>
                <a:t>r</a:t>
              </a:r>
              <a:r>
                <a:rPr lang="en-US" altLang="en-US" baseline="-25000"/>
                <a:t>1</a:t>
              </a:r>
              <a:r>
                <a:rPr lang="en-US" altLang="en-US"/>
                <a:t>-</a:t>
              </a:r>
              <a:r>
                <a:rPr lang="en-US" altLang="en-US" i="1"/>
                <a:t>r</a:t>
              </a:r>
              <a:r>
                <a:rPr lang="en-US" altLang="en-US" baseline="-25000"/>
                <a:t>2</a:t>
              </a:r>
              <a:r>
                <a:rPr lang="en-US" altLang="en-US"/>
                <a:t>-…-</a:t>
              </a:r>
              <a:r>
                <a:rPr lang="en-US" altLang="en-US" i="1"/>
                <a:t>r</a:t>
              </a:r>
              <a:r>
                <a:rPr lang="en-US" altLang="en-US" i="1" baseline="-25000"/>
                <a:t>n</a:t>
              </a:r>
              <a:r>
                <a:rPr lang="en-US" altLang="en-US"/>
                <a:t>) +</a:t>
              </a:r>
              <a:r>
                <a:rPr lang="en-US" altLang="en-US" i="1"/>
                <a:t>n</a:t>
              </a:r>
              <a:r>
                <a:rPr lang="en-US" altLang="en-US"/>
                <a:t>-1, </a:t>
              </a:r>
              <a:r>
                <a:rPr lang="en-US" altLang="en-US" i="1"/>
                <a:t>n</a:t>
              </a:r>
              <a:r>
                <a:rPr lang="en-US" altLang="en-US"/>
                <a:t>-1) ways.</a:t>
              </a:r>
            </a:p>
          </p:txBody>
        </p:sp>
      </p:grpSp>
      <p:sp>
        <p:nvSpPr>
          <p:cNvPr id="29701" name="Rectangle 8">
            <a:extLst>
              <a:ext uri="{FF2B5EF4-FFF2-40B4-BE49-F238E27FC236}">
                <a16:creationId xmlns:a16="http://schemas.microsoft.com/office/drawing/2014/main" id="{4A02384C-E131-9E4C-B2C7-278BD98D0A01}"/>
              </a:ext>
            </a:extLst>
          </p:cNvPr>
          <p:cNvSpPr>
            <a:spLocks noGrp="1" noChangeArrowheads="1"/>
          </p:cNvSpPr>
          <p:nvPr>
            <p:ph type="title"/>
          </p:nvPr>
        </p:nvSpPr>
        <p:spPr>
          <a:noFill/>
        </p:spPr>
        <p:txBody>
          <a:bodyPr/>
          <a:lstStyle/>
          <a:p>
            <a:pPr eaLnBrk="1" hangingPunct="1"/>
            <a:r>
              <a:rPr lang="en-US" altLang="en-US" sz="3600">
                <a:ea typeface="ＭＳ Ｐゴシック" panose="020B0600070205080204" pitchFamily="34" charset="-128"/>
              </a:rPr>
              <a:t>Example 3</a:t>
            </a:r>
            <a:r>
              <a:rPr lang="en-US" altLang="en-US">
                <a:ea typeface="ＭＳ Ｐゴシック" panose="020B0600070205080204" pitchFamily="34" charset="-128"/>
              </a:rPr>
              <a:t> </a:t>
            </a:r>
            <a:r>
              <a:rPr lang="en-US" altLang="en-US" sz="2800">
                <a:ea typeface="ＭＳ Ｐゴシック" panose="020B0600070205080204" pitchFamily="34" charset="-128"/>
              </a:rPr>
              <a:t>(</a:t>
            </a:r>
            <a:r>
              <a:rPr lang="en-US" altLang="en-US" sz="2800" i="1">
                <a:ea typeface="ＭＳ Ｐゴシック" panose="020B0600070205080204" pitchFamily="34" charset="-128"/>
              </a:rPr>
              <a:t>r</a:t>
            </a:r>
            <a:r>
              <a:rPr lang="en-US" altLang="en-US" sz="2800" i="1" baseline="-25000">
                <a:ea typeface="ＭＳ Ｐゴシック" panose="020B0600070205080204" pitchFamily="34" charset="-128"/>
              </a:rPr>
              <a:t>i</a:t>
            </a:r>
            <a:r>
              <a:rPr lang="en-US" altLang="en-US" sz="2800" i="1">
                <a:ea typeface="ＭＳ Ｐゴシック" panose="020B0600070205080204" pitchFamily="34" charset="-128"/>
              </a:rPr>
              <a:t> </a:t>
            </a:r>
            <a:r>
              <a:rPr lang="en-US" altLang="en-US" sz="2800">
                <a:ea typeface="ＭＳ Ｐゴシック" panose="020B0600070205080204" pitchFamily="34" charset="-128"/>
              </a:rPr>
              <a:t>balls in the </a:t>
            </a:r>
            <a:r>
              <a:rPr lang="en-US" altLang="en-US" sz="2800" i="1">
                <a:ea typeface="ＭＳ Ｐゴシック" panose="020B0600070205080204" pitchFamily="34" charset="-128"/>
              </a:rPr>
              <a:t>i</a:t>
            </a:r>
            <a:r>
              <a:rPr lang="en-US" altLang="en-US" sz="2800" i="1" baseline="30000">
                <a:ea typeface="ＭＳ Ｐゴシック" panose="020B0600070205080204" pitchFamily="34" charset="-128"/>
              </a:rPr>
              <a:t>th</a:t>
            </a:r>
            <a:r>
              <a:rPr lang="en-US" altLang="en-US" sz="2800">
                <a:ea typeface="ＭＳ Ｐゴシック" panose="020B0600070205080204" pitchFamily="34" charset="-128"/>
              </a:rPr>
              <a:t> box)</a:t>
            </a:r>
          </a:p>
        </p:txBody>
      </p:sp>
      <p:sp>
        <p:nvSpPr>
          <p:cNvPr id="29702" name="Rectangle 9">
            <a:extLst>
              <a:ext uri="{FF2B5EF4-FFF2-40B4-BE49-F238E27FC236}">
                <a16:creationId xmlns:a16="http://schemas.microsoft.com/office/drawing/2014/main" id="{854F45C2-CF75-D949-A6FC-5E59DC792F6F}"/>
              </a:ext>
            </a:extLst>
          </p:cNvPr>
          <p:cNvSpPr>
            <a:spLocks noChangeArrowheads="1"/>
          </p:cNvSpPr>
          <p:nvPr/>
        </p:nvSpPr>
        <p:spPr bwMode="auto">
          <a:xfrm>
            <a:off x="2736851" y="5170488"/>
            <a:ext cx="70659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Recalling that the number of ways to distribute </a:t>
            </a:r>
            <a:r>
              <a:rPr lang="en-US" altLang="en-US" i="1"/>
              <a:t>R</a:t>
            </a:r>
            <a:r>
              <a:rPr lang="en-US" altLang="en-US"/>
              <a:t> things</a:t>
            </a:r>
          </a:p>
          <a:p>
            <a:pPr eaLnBrk="1" hangingPunct="1">
              <a:spcBef>
                <a:spcPct val="50000"/>
              </a:spcBef>
            </a:pPr>
            <a:r>
              <a:rPr lang="en-US" altLang="en-US"/>
              <a:t>without restriction into </a:t>
            </a:r>
            <a:r>
              <a:rPr lang="en-US" altLang="en-US" i="1"/>
              <a:t>N</a:t>
            </a:r>
            <a:r>
              <a:rPr lang="en-US" altLang="en-US"/>
              <a:t> boxes is </a:t>
            </a:r>
            <a:r>
              <a:rPr lang="en-US" altLang="en-US" i="1"/>
              <a:t>C</a:t>
            </a:r>
            <a:r>
              <a:rPr lang="en-US" altLang="en-US"/>
              <a:t>(R+</a:t>
            </a:r>
            <a:r>
              <a:rPr lang="en-US" altLang="en-US" i="1"/>
              <a:t>N-</a:t>
            </a:r>
            <a:r>
              <a:rPr lang="en-US" altLang="en-US"/>
              <a:t>1</a:t>
            </a:r>
            <a:r>
              <a:rPr lang="en-US" altLang="en-US" i="1"/>
              <a:t>, R</a:t>
            </a:r>
            <a:r>
              <a:rPr lang="en-US" altLang="en-US"/>
              <a:t>).</a:t>
            </a:r>
          </a:p>
        </p:txBody>
      </p:sp>
      <p:sp>
        <p:nvSpPr>
          <p:cNvPr id="29703" name="Text Box 10">
            <a:extLst>
              <a:ext uri="{FF2B5EF4-FFF2-40B4-BE49-F238E27FC236}">
                <a16:creationId xmlns:a16="http://schemas.microsoft.com/office/drawing/2014/main" id="{E335AFAD-150E-CC4A-821E-CE6CCD439AFB}"/>
              </a:ext>
            </a:extLst>
          </p:cNvPr>
          <p:cNvSpPr txBox="1">
            <a:spLocks noChangeArrowheads="1"/>
          </p:cNvSpPr>
          <p:nvPr/>
        </p:nvSpPr>
        <p:spPr bwMode="auto">
          <a:xfrm>
            <a:off x="2122488" y="1784351"/>
            <a:ext cx="81534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Char char="•"/>
            </a:pPr>
            <a:r>
              <a:rPr lang="en-US" altLang="en-US"/>
              <a:t>   First, for each </a:t>
            </a:r>
            <a:r>
              <a:rPr lang="en-US" altLang="en-US" i="1"/>
              <a:t>i</a:t>
            </a:r>
            <a:fld id="{138042A1-E45C-644F-A3C8-CECDCC74FC02}" type="datetime1">
              <a:rPr lang="en-US" altLang="en-US" i="1"/>
              <a:pPr eaLnBrk="1" hangingPunct="1">
                <a:spcBef>
                  <a:spcPct val="50000"/>
                </a:spcBef>
                <a:buFontTx/>
                <a:buChar char="•"/>
              </a:pPr>
              <a:t>11/16/2025</a:t>
            </a:fld>
            <a:r>
              <a:rPr lang="en-US" altLang="en-US"/>
              <a:t>, put </a:t>
            </a:r>
            <a:r>
              <a:rPr lang="en-US" altLang="en-US" i="1"/>
              <a:t>r</a:t>
            </a:r>
            <a:r>
              <a:rPr lang="en-US" altLang="en-US" i="1" baseline="-25000"/>
              <a:t>i</a:t>
            </a:r>
            <a:r>
              <a:rPr lang="en-US" altLang="en-US"/>
              <a:t> balls in the </a:t>
            </a:r>
            <a:r>
              <a:rPr lang="en-US" altLang="en-US" i="1"/>
              <a:t>i</a:t>
            </a:r>
            <a:r>
              <a:rPr lang="en-US" altLang="en-US" i="1" baseline="30000"/>
              <a:t>th </a:t>
            </a:r>
            <a:r>
              <a:rPr lang="en-US" altLang="en-US"/>
              <a:t>box. </a:t>
            </a:r>
          </a:p>
          <a:p>
            <a:pPr eaLnBrk="1" hangingPunct="1">
              <a:spcBef>
                <a:spcPct val="50000"/>
              </a:spcBef>
              <a:buFontTx/>
              <a:buChar char="•"/>
            </a:pPr>
            <a:r>
              <a:rPr lang="en-US" altLang="en-US"/>
              <a:t>   Note that there are now </a:t>
            </a:r>
            <a:r>
              <a:rPr lang="en-US" altLang="en-US" i="1"/>
              <a:t>r</a:t>
            </a:r>
            <a:r>
              <a:rPr lang="en-US" altLang="en-US"/>
              <a:t>-</a:t>
            </a:r>
            <a:r>
              <a:rPr lang="en-US" altLang="en-US" i="1"/>
              <a:t>r</a:t>
            </a:r>
            <a:r>
              <a:rPr lang="en-US" altLang="en-US" baseline="-25000"/>
              <a:t>1</a:t>
            </a:r>
            <a:r>
              <a:rPr lang="en-US" altLang="en-US"/>
              <a:t>-</a:t>
            </a:r>
            <a:r>
              <a:rPr lang="en-US" altLang="en-US" i="1"/>
              <a:t>r</a:t>
            </a:r>
            <a:r>
              <a:rPr lang="en-US" altLang="en-US" baseline="-25000"/>
              <a:t>2</a:t>
            </a:r>
            <a:r>
              <a:rPr lang="en-US" altLang="en-US"/>
              <a:t>-…-</a:t>
            </a:r>
            <a:r>
              <a:rPr lang="en-US" altLang="en-US" i="1"/>
              <a:t>r</a:t>
            </a:r>
            <a:r>
              <a:rPr lang="en-US" altLang="en-US" i="1" baseline="-25000"/>
              <a:t>n </a:t>
            </a:r>
            <a:r>
              <a:rPr lang="en-US" altLang="en-US"/>
              <a:t>balls left.</a:t>
            </a:r>
            <a:endParaRPr lang="en-US" altLang="en-US" baseline="-25000"/>
          </a:p>
          <a:p>
            <a:pPr eaLnBrk="1" hangingPunct="1">
              <a:spcBef>
                <a:spcPct val="50000"/>
              </a:spcBef>
              <a:buFontTx/>
              <a:buChar char="•"/>
            </a:pPr>
            <a:r>
              <a:rPr lang="en-US" altLang="en-US"/>
              <a:t>   Finally, count the ways to distribute without restriction the remaining </a:t>
            </a:r>
            <a:r>
              <a:rPr lang="en-US" altLang="en-US" i="1"/>
              <a:t>r</a:t>
            </a:r>
            <a:r>
              <a:rPr lang="en-US" altLang="en-US"/>
              <a:t>-</a:t>
            </a:r>
            <a:r>
              <a:rPr lang="en-US" altLang="en-US" i="1"/>
              <a:t>r</a:t>
            </a:r>
            <a:r>
              <a:rPr lang="en-US" altLang="en-US" baseline="-25000"/>
              <a:t>1</a:t>
            </a:r>
            <a:r>
              <a:rPr lang="en-US" altLang="en-US"/>
              <a:t>-</a:t>
            </a:r>
            <a:r>
              <a:rPr lang="en-US" altLang="en-US" i="1"/>
              <a:t>r</a:t>
            </a:r>
            <a:r>
              <a:rPr lang="en-US" altLang="en-US" baseline="-25000"/>
              <a:t>2</a:t>
            </a:r>
            <a:r>
              <a:rPr lang="en-US" altLang="en-US"/>
              <a:t>-…-</a:t>
            </a:r>
            <a:r>
              <a:rPr lang="en-US" altLang="en-US" i="1"/>
              <a:t>r</a:t>
            </a:r>
            <a:r>
              <a:rPr lang="en-US" altLang="en-US" i="1" baseline="-25000"/>
              <a:t>n</a:t>
            </a:r>
            <a:r>
              <a:rPr lang="en-US" altLang="en-US"/>
              <a:t> balls into the </a:t>
            </a:r>
            <a:r>
              <a:rPr lang="en-US" altLang="en-US" i="1"/>
              <a:t>n</a:t>
            </a:r>
            <a:r>
              <a:rPr lang="en-US" altLang="en-US"/>
              <a:t> boxes. </a:t>
            </a:r>
          </a:p>
          <a:p>
            <a:pPr eaLnBrk="1" hangingPunct="1">
              <a:spcBef>
                <a:spcPct val="50000"/>
              </a:spcBef>
              <a:buFontTx/>
              <a:buChar char="•"/>
            </a:pPr>
            <a:r>
              <a:rPr lang="en-US" altLang="en-US"/>
              <a:t>    This can be done in </a:t>
            </a:r>
          </a:p>
        </p:txBody>
      </p:sp>
      <p:sp>
        <p:nvSpPr>
          <p:cNvPr id="29704" name="Text Box 11">
            <a:hlinkClick r:id="rId2" action="ppaction://hlinksldjump"/>
            <a:extLst>
              <a:ext uri="{FF2B5EF4-FFF2-40B4-BE49-F238E27FC236}">
                <a16:creationId xmlns:a16="http://schemas.microsoft.com/office/drawing/2014/main" id="{79F3764C-B2FE-1F49-8C3A-7CC71851D30A}"/>
              </a:ext>
            </a:extLst>
          </p:cNvPr>
          <p:cNvSpPr txBox="1">
            <a:spLocks noChangeArrowheads="1"/>
          </p:cNvSpPr>
          <p:nvPr/>
        </p:nvSpPr>
        <p:spPr bwMode="auto">
          <a:xfrm>
            <a:off x="8977313" y="6230938"/>
            <a:ext cx="609600" cy="3365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600"/>
              <a:t>back</a:t>
            </a:r>
          </a:p>
        </p:txBody>
      </p:sp>
    </p:spTree>
    <p:extLst>
      <p:ext uri="{BB962C8B-B14F-4D97-AF65-F5344CB8AC3E}">
        <p14:creationId xmlns:p14="http://schemas.microsoft.com/office/powerpoint/2010/main" val="3364520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6BF4F560-941D-9445-9AC6-A72681C37D6E}"/>
              </a:ext>
            </a:extLst>
          </p:cNvPr>
          <p:cNvSpPr>
            <a:spLocks noGrp="1" noChangeArrowheads="1"/>
          </p:cNvSpPr>
          <p:nvPr>
            <p:ph type="title"/>
          </p:nvPr>
        </p:nvSpPr>
        <p:spPr>
          <a:xfrm>
            <a:off x="2209800" y="287338"/>
            <a:ext cx="7772400" cy="1143000"/>
          </a:xfrm>
        </p:spPr>
        <p:txBody>
          <a:bodyPr/>
          <a:lstStyle/>
          <a:p>
            <a:pPr eaLnBrk="1" hangingPunct="1"/>
            <a:r>
              <a:rPr lang="en-US" altLang="en-US" sz="3600">
                <a:ea typeface="ＭＳ Ｐゴシック" panose="020B0600070205080204" pitchFamily="34" charset="-128"/>
              </a:rPr>
              <a:t>Example 4</a:t>
            </a:r>
            <a:endParaRPr lang="en-US" altLang="en-US" sz="2400">
              <a:ea typeface="ＭＳ Ｐゴシック" panose="020B0600070205080204" pitchFamily="34" charset="-128"/>
            </a:endParaRPr>
          </a:p>
        </p:txBody>
      </p:sp>
      <p:sp>
        <p:nvSpPr>
          <p:cNvPr id="30725" name="Rectangle 3">
            <a:extLst>
              <a:ext uri="{FF2B5EF4-FFF2-40B4-BE49-F238E27FC236}">
                <a16:creationId xmlns:a16="http://schemas.microsoft.com/office/drawing/2014/main" id="{033810D2-A3D6-D443-A50D-3B38F4E2D6C1}"/>
              </a:ext>
            </a:extLst>
          </p:cNvPr>
          <p:cNvSpPr>
            <a:spLocks noGrp="1" noChangeArrowheads="1"/>
          </p:cNvSpPr>
          <p:nvPr>
            <p:ph type="body" idx="1"/>
          </p:nvPr>
        </p:nvSpPr>
        <p:spPr>
          <a:xfrm>
            <a:off x="2284413" y="1120775"/>
            <a:ext cx="7848600" cy="2514600"/>
          </a:xfrm>
        </p:spPr>
        <p:txBody>
          <a:bodyPr>
            <a:normAutofit fontScale="92500" lnSpcReduction="10000"/>
          </a:bodyPr>
          <a:lstStyle/>
          <a:p>
            <a:pPr eaLnBrk="1" hangingPunct="1">
              <a:buFontTx/>
              <a:buNone/>
            </a:pPr>
            <a:r>
              <a:rPr lang="en-US" altLang="en-US" sz="2400" b="1">
                <a:ea typeface="ＭＳ Ｐゴシック" panose="020B0600070205080204" pitchFamily="34" charset="-128"/>
              </a:rPr>
              <a:t>How many integer solutions are there to the equation </a:t>
            </a:r>
          </a:p>
          <a:p>
            <a:pPr algn="ctr" eaLnBrk="1" hangingPunct="1">
              <a:buFontTx/>
              <a:buNone/>
            </a:pPr>
            <a:r>
              <a:rPr lang="en-US" altLang="en-US" sz="2400" b="1">
                <a:ea typeface="ＭＳ Ｐゴシック" panose="020B0600070205080204" pitchFamily="34" charset="-128"/>
              </a:rPr>
              <a:t>x</a:t>
            </a:r>
            <a:r>
              <a:rPr lang="en-US" altLang="en-US" sz="2400" b="1" baseline="-25000">
                <a:ea typeface="ＭＳ Ｐゴシック" panose="020B0600070205080204" pitchFamily="34" charset="-128"/>
              </a:rPr>
              <a:t>1</a:t>
            </a:r>
            <a:r>
              <a:rPr lang="en-US" altLang="en-US" sz="2400" b="1">
                <a:ea typeface="ＭＳ Ｐゴシック" panose="020B0600070205080204" pitchFamily="34" charset="-128"/>
              </a:rPr>
              <a:t> + x</a:t>
            </a:r>
            <a:r>
              <a:rPr lang="en-US" altLang="en-US" sz="2400" b="1" baseline="-25000">
                <a:ea typeface="ＭＳ Ｐゴシック" panose="020B0600070205080204" pitchFamily="34" charset="-128"/>
              </a:rPr>
              <a:t>2</a:t>
            </a:r>
            <a:r>
              <a:rPr lang="en-US" altLang="en-US" sz="2400" b="1">
                <a:ea typeface="ＭＳ Ｐゴシック" panose="020B0600070205080204" pitchFamily="34" charset="-128"/>
              </a:rPr>
              <a:t> + x</a:t>
            </a:r>
            <a:r>
              <a:rPr lang="en-US" altLang="en-US" sz="2400" b="1" baseline="-25000">
                <a:ea typeface="ＭＳ Ｐゴシック" panose="020B0600070205080204" pitchFamily="34" charset="-128"/>
              </a:rPr>
              <a:t>3</a:t>
            </a:r>
            <a:r>
              <a:rPr lang="en-US" altLang="en-US" sz="2400" b="1">
                <a:ea typeface="ＭＳ Ｐゴシック" panose="020B0600070205080204" pitchFamily="34" charset="-128"/>
              </a:rPr>
              <a:t> + x</a:t>
            </a:r>
            <a:r>
              <a:rPr lang="en-US" altLang="en-US" sz="2400" b="1" baseline="-25000">
                <a:ea typeface="ＭＳ Ｐゴシック" panose="020B0600070205080204" pitchFamily="34" charset="-128"/>
              </a:rPr>
              <a:t>4</a:t>
            </a:r>
            <a:r>
              <a:rPr lang="en-US" altLang="en-US" sz="2400" b="1">
                <a:ea typeface="ＭＳ Ｐゴシック" panose="020B0600070205080204" pitchFamily="34" charset="-128"/>
              </a:rPr>
              <a:t> = 12, with x</a:t>
            </a:r>
            <a:r>
              <a:rPr lang="en-US" altLang="en-US" sz="2400" b="1" baseline="-25000">
                <a:ea typeface="ＭＳ Ｐゴシック" panose="020B0600070205080204" pitchFamily="34" charset="-128"/>
              </a:rPr>
              <a:t>i </a:t>
            </a:r>
            <a:r>
              <a:rPr lang="en-US" altLang="en-US" sz="2400" b="1" u="sng">
                <a:ea typeface="ＭＳ Ｐゴシック" panose="020B0600070205080204" pitchFamily="34" charset="-128"/>
              </a:rPr>
              <a:t>&gt;</a:t>
            </a:r>
            <a:r>
              <a:rPr lang="en-US" altLang="en-US" sz="2400" b="1">
                <a:ea typeface="ＭＳ Ｐゴシック" panose="020B0600070205080204" pitchFamily="34" charset="-128"/>
              </a:rPr>
              <a:t> 0?  </a:t>
            </a:r>
          </a:p>
          <a:p>
            <a:pPr eaLnBrk="1" hangingPunct="1">
              <a:buFontTx/>
              <a:buNone/>
            </a:pPr>
            <a:endParaRPr lang="en-US" altLang="en-US" sz="2400" b="1">
              <a:ea typeface="ＭＳ Ｐゴシック" panose="020B0600070205080204" pitchFamily="34" charset="-128"/>
            </a:endParaRPr>
          </a:p>
          <a:p>
            <a:pPr eaLnBrk="1" hangingPunct="1">
              <a:buFontTx/>
              <a:buNone/>
            </a:pPr>
            <a:r>
              <a:rPr lang="en-US" altLang="en-US" sz="2400" b="1">
                <a:ea typeface="ＭＳ Ｐゴシック" panose="020B0600070205080204" pitchFamily="34" charset="-128"/>
              </a:rPr>
              <a:t>How many solutions with  x</a:t>
            </a:r>
            <a:r>
              <a:rPr lang="en-US" altLang="en-US" sz="2400" b="1" baseline="-25000">
                <a:ea typeface="ＭＳ Ｐゴシック" panose="020B0600070205080204" pitchFamily="34" charset="-128"/>
              </a:rPr>
              <a:t>i</a:t>
            </a:r>
            <a:r>
              <a:rPr lang="en-US" altLang="en-US" sz="2400" b="1">
                <a:ea typeface="ＭＳ Ｐゴシック" panose="020B0600070205080204" pitchFamily="34" charset="-128"/>
              </a:rPr>
              <a:t> </a:t>
            </a:r>
            <a:r>
              <a:rPr lang="en-US" altLang="en-US" sz="2400" b="1" u="sng">
                <a:ea typeface="ＭＳ Ｐゴシック" panose="020B0600070205080204" pitchFamily="34" charset="-128"/>
              </a:rPr>
              <a:t>&gt;</a:t>
            </a:r>
            <a:r>
              <a:rPr lang="en-US" altLang="en-US" sz="2400" b="1">
                <a:ea typeface="ＭＳ Ｐゴシック" panose="020B0600070205080204" pitchFamily="34" charset="-128"/>
              </a:rPr>
              <a:t> 1?  </a:t>
            </a:r>
          </a:p>
          <a:p>
            <a:pPr eaLnBrk="1" hangingPunct="1">
              <a:buFontTx/>
              <a:buNone/>
            </a:pPr>
            <a:endParaRPr lang="en-US" altLang="en-US" sz="2400" b="1">
              <a:ea typeface="ＭＳ Ｐゴシック" panose="020B0600070205080204" pitchFamily="34" charset="-128"/>
            </a:endParaRPr>
          </a:p>
          <a:p>
            <a:pPr eaLnBrk="1" hangingPunct="1">
              <a:buFontTx/>
              <a:buNone/>
            </a:pPr>
            <a:r>
              <a:rPr lang="en-US" altLang="en-US" sz="2400" b="1">
                <a:ea typeface="ＭＳ Ｐゴシック" panose="020B0600070205080204" pitchFamily="34" charset="-128"/>
              </a:rPr>
              <a:t>How many solutions with x</a:t>
            </a:r>
            <a:r>
              <a:rPr lang="en-US" altLang="en-US" sz="2400" b="1" baseline="-25000">
                <a:ea typeface="ＭＳ Ｐゴシック" panose="020B0600070205080204" pitchFamily="34" charset="-128"/>
              </a:rPr>
              <a:t>1</a:t>
            </a:r>
            <a:r>
              <a:rPr lang="en-US" altLang="en-US" sz="2400" b="1">
                <a:ea typeface="ＭＳ Ｐゴシック" panose="020B0600070205080204" pitchFamily="34" charset="-128"/>
              </a:rPr>
              <a:t> </a:t>
            </a:r>
            <a:r>
              <a:rPr lang="en-US" altLang="en-US" sz="2400" b="1" u="sng">
                <a:ea typeface="ＭＳ Ｐゴシック" panose="020B0600070205080204" pitchFamily="34" charset="-128"/>
              </a:rPr>
              <a:t>&gt;</a:t>
            </a:r>
            <a:r>
              <a:rPr lang="en-US" altLang="en-US" sz="2400" b="1">
                <a:ea typeface="ＭＳ Ｐゴシック" panose="020B0600070205080204" pitchFamily="34" charset="-128"/>
              </a:rPr>
              <a:t> 2,  x</a:t>
            </a:r>
            <a:r>
              <a:rPr lang="en-US" altLang="en-US" sz="2400" b="1" baseline="-25000">
                <a:ea typeface="ＭＳ Ｐゴシック" panose="020B0600070205080204" pitchFamily="34" charset="-128"/>
              </a:rPr>
              <a:t>2</a:t>
            </a:r>
            <a:r>
              <a:rPr lang="en-US" altLang="en-US" sz="2400" b="1">
                <a:ea typeface="ＭＳ Ｐゴシック" panose="020B0600070205080204" pitchFamily="34" charset="-128"/>
              </a:rPr>
              <a:t> </a:t>
            </a:r>
            <a:r>
              <a:rPr lang="en-US" altLang="en-US" sz="2400" b="1" u="sng">
                <a:ea typeface="ＭＳ Ｐゴシック" panose="020B0600070205080204" pitchFamily="34" charset="-128"/>
              </a:rPr>
              <a:t>&gt;</a:t>
            </a:r>
            <a:r>
              <a:rPr lang="en-US" altLang="en-US" sz="2400" b="1">
                <a:ea typeface="ＭＳ Ｐゴシック" panose="020B0600070205080204" pitchFamily="34" charset="-128"/>
              </a:rPr>
              <a:t> 2, x</a:t>
            </a:r>
            <a:r>
              <a:rPr lang="en-US" altLang="en-US" sz="2400" b="1" baseline="-25000">
                <a:ea typeface="ＭＳ Ｐゴシック" panose="020B0600070205080204" pitchFamily="34" charset="-128"/>
              </a:rPr>
              <a:t>3</a:t>
            </a:r>
            <a:r>
              <a:rPr lang="en-US" altLang="en-US" sz="2400" b="1">
                <a:ea typeface="ＭＳ Ｐゴシック" panose="020B0600070205080204" pitchFamily="34" charset="-128"/>
              </a:rPr>
              <a:t> </a:t>
            </a:r>
            <a:r>
              <a:rPr lang="en-US" altLang="en-US" sz="2400" b="1" u="sng">
                <a:ea typeface="ＭＳ Ｐゴシック" panose="020B0600070205080204" pitchFamily="34" charset="-128"/>
              </a:rPr>
              <a:t>&gt;</a:t>
            </a:r>
            <a:r>
              <a:rPr lang="en-US" altLang="en-US" sz="2400" b="1">
                <a:ea typeface="ＭＳ Ｐゴシック" panose="020B0600070205080204" pitchFamily="34" charset="-128"/>
              </a:rPr>
              <a:t> 4, x</a:t>
            </a:r>
            <a:r>
              <a:rPr lang="en-US" altLang="en-US" sz="2400" b="1" baseline="-25000">
                <a:ea typeface="ＭＳ Ｐゴシック" panose="020B0600070205080204" pitchFamily="34" charset="-128"/>
              </a:rPr>
              <a:t>4</a:t>
            </a:r>
            <a:r>
              <a:rPr lang="en-US" altLang="en-US" sz="2400" b="1">
                <a:ea typeface="ＭＳ Ｐゴシック" panose="020B0600070205080204" pitchFamily="34" charset="-128"/>
              </a:rPr>
              <a:t> </a:t>
            </a:r>
            <a:r>
              <a:rPr lang="en-US" altLang="en-US" sz="2400" b="1" u="sng">
                <a:ea typeface="ＭＳ Ｐゴシック" panose="020B0600070205080204" pitchFamily="34" charset="-128"/>
              </a:rPr>
              <a:t>&gt;</a:t>
            </a:r>
            <a:r>
              <a:rPr lang="en-US" altLang="en-US" sz="2400" b="1">
                <a:ea typeface="ＭＳ Ｐゴシック" panose="020B0600070205080204" pitchFamily="34" charset="-128"/>
              </a:rPr>
              <a:t> 0?</a:t>
            </a:r>
            <a:r>
              <a:rPr lang="en-US" altLang="en-US" b="1">
                <a:ea typeface="ＭＳ Ｐゴシック" panose="020B0600070205080204" pitchFamily="34" charset="-128"/>
              </a:rPr>
              <a:t>  </a:t>
            </a:r>
          </a:p>
        </p:txBody>
      </p:sp>
      <p:grpSp>
        <p:nvGrpSpPr>
          <p:cNvPr id="30726" name="Group 4">
            <a:extLst>
              <a:ext uri="{FF2B5EF4-FFF2-40B4-BE49-F238E27FC236}">
                <a16:creationId xmlns:a16="http://schemas.microsoft.com/office/drawing/2014/main" id="{8A862343-03F9-0A40-9535-8D9BF8C483A9}"/>
              </a:ext>
            </a:extLst>
          </p:cNvPr>
          <p:cNvGrpSpPr>
            <a:grpSpLocks/>
          </p:cNvGrpSpPr>
          <p:nvPr/>
        </p:nvGrpSpPr>
        <p:grpSpPr bwMode="auto">
          <a:xfrm>
            <a:off x="2667000" y="4114800"/>
            <a:ext cx="6781800" cy="2209800"/>
            <a:chOff x="912" y="2016"/>
            <a:chExt cx="4272" cy="1392"/>
          </a:xfrm>
        </p:grpSpPr>
        <p:sp>
          <p:nvSpPr>
            <p:cNvPr id="30728" name="Text Box 5">
              <a:extLst>
                <a:ext uri="{FF2B5EF4-FFF2-40B4-BE49-F238E27FC236}">
                  <a16:creationId xmlns:a16="http://schemas.microsoft.com/office/drawing/2014/main" id="{5D7128D5-13F3-3B4B-B0EB-17FAA5F9EEAB}"/>
                </a:ext>
              </a:extLst>
            </p:cNvPr>
            <p:cNvSpPr txBox="1">
              <a:spLocks noChangeArrowheads="1"/>
            </p:cNvSpPr>
            <p:nvPr/>
          </p:nvSpPr>
          <p:spPr bwMode="auto">
            <a:xfrm>
              <a:off x="2544" y="201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distinct objects</a:t>
              </a:r>
            </a:p>
          </p:txBody>
        </p:sp>
        <p:sp>
          <p:nvSpPr>
            <p:cNvPr id="30729" name="Text Box 6">
              <a:extLst>
                <a:ext uri="{FF2B5EF4-FFF2-40B4-BE49-F238E27FC236}">
                  <a16:creationId xmlns:a16="http://schemas.microsoft.com/office/drawing/2014/main" id="{B54DD932-642A-B849-8F5C-433A651EC0A2}"/>
                </a:ext>
              </a:extLst>
            </p:cNvPr>
            <p:cNvSpPr txBox="1">
              <a:spLocks noChangeArrowheads="1"/>
            </p:cNvSpPr>
            <p:nvPr/>
          </p:nvSpPr>
          <p:spPr bwMode="auto">
            <a:xfrm>
              <a:off x="3840" y="2016"/>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identical objects</a:t>
              </a:r>
            </a:p>
          </p:txBody>
        </p:sp>
        <p:sp>
          <p:nvSpPr>
            <p:cNvPr id="30730" name="Line 7">
              <a:extLst>
                <a:ext uri="{FF2B5EF4-FFF2-40B4-BE49-F238E27FC236}">
                  <a16:creationId xmlns:a16="http://schemas.microsoft.com/office/drawing/2014/main" id="{A0CE3668-E10A-8548-92E7-DD0A6B0DC35F}"/>
                </a:ext>
              </a:extLst>
            </p:cNvPr>
            <p:cNvSpPr>
              <a:spLocks noChangeShapeType="1"/>
            </p:cNvSpPr>
            <p:nvPr/>
          </p:nvSpPr>
          <p:spPr bwMode="auto">
            <a:xfrm>
              <a:off x="912" y="2496"/>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0731" name="Line 8">
              <a:extLst>
                <a:ext uri="{FF2B5EF4-FFF2-40B4-BE49-F238E27FC236}">
                  <a16:creationId xmlns:a16="http://schemas.microsoft.com/office/drawing/2014/main" id="{321C42C6-EC9B-3F46-99C9-25424A223739}"/>
                </a:ext>
              </a:extLst>
            </p:cNvPr>
            <p:cNvSpPr>
              <a:spLocks noChangeShapeType="1"/>
            </p:cNvSpPr>
            <p:nvPr/>
          </p:nvSpPr>
          <p:spPr bwMode="auto">
            <a:xfrm>
              <a:off x="3744" y="2016"/>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0732" name="Text Box 9">
              <a:extLst>
                <a:ext uri="{FF2B5EF4-FFF2-40B4-BE49-F238E27FC236}">
                  <a16:creationId xmlns:a16="http://schemas.microsoft.com/office/drawing/2014/main" id="{0779A759-8411-BE4D-AB09-11290AAE1E15}"/>
                </a:ext>
              </a:extLst>
            </p:cNvPr>
            <p:cNvSpPr txBox="1">
              <a:spLocks noChangeArrowheads="1"/>
            </p:cNvSpPr>
            <p:nvPr/>
          </p:nvSpPr>
          <p:spPr bwMode="auto">
            <a:xfrm>
              <a:off x="960" y="2592"/>
              <a:ext cx="4224"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No repetition                                 </a:t>
              </a:r>
              <a:r>
                <a:rPr lang="en-US" altLang="en-US" sz="1800" b="1" i="1"/>
                <a:t>P</a:t>
              </a:r>
              <a:r>
                <a:rPr lang="en-US" altLang="en-US" sz="1800" b="1"/>
                <a:t>(</a:t>
              </a:r>
              <a:r>
                <a:rPr lang="en-US" altLang="en-US" sz="1800" b="1" i="1"/>
                <a:t>n,r</a:t>
              </a:r>
              <a:r>
                <a:rPr lang="en-US" altLang="en-US" sz="1800" b="1"/>
                <a:t>)                    </a:t>
              </a:r>
              <a:r>
                <a:rPr lang="en-US" altLang="en-US" sz="1800" b="1" i="1"/>
                <a:t>C</a:t>
              </a:r>
              <a:r>
                <a:rPr lang="en-US" altLang="en-US" sz="1800" b="1"/>
                <a:t>(</a:t>
              </a:r>
              <a:r>
                <a:rPr lang="en-US" altLang="en-US" sz="1800" b="1" i="1"/>
                <a:t>n,r</a:t>
              </a:r>
              <a:r>
                <a:rPr lang="en-US" altLang="en-US" sz="1800" b="1"/>
                <a:t>)</a:t>
              </a:r>
            </a:p>
            <a:p>
              <a:pPr eaLnBrk="1" hangingPunct="1">
                <a:spcBef>
                  <a:spcPct val="50000"/>
                </a:spcBef>
              </a:pPr>
              <a:r>
                <a:rPr lang="en-US" altLang="en-US" sz="1800"/>
                <a:t>Unlimited Repetition                       </a:t>
              </a:r>
              <a:r>
                <a:rPr lang="en-US" altLang="en-US" sz="1800" b="1" i="1"/>
                <a:t>n </a:t>
              </a:r>
              <a:r>
                <a:rPr lang="en-US" altLang="en-US" sz="1800" b="1" i="1" baseline="30000"/>
                <a:t>r </a:t>
              </a:r>
              <a:r>
                <a:rPr lang="en-US" altLang="en-US" sz="1800" b="1" i="1"/>
                <a:t>                       C(r+n-</a:t>
              </a:r>
              <a:r>
                <a:rPr lang="en-US" altLang="en-US" sz="1800" b="1"/>
                <a:t>1</a:t>
              </a:r>
              <a:r>
                <a:rPr lang="en-US" altLang="en-US" sz="1800" b="1" i="1"/>
                <a:t>, r)</a:t>
              </a:r>
            </a:p>
            <a:p>
              <a:pPr eaLnBrk="1" hangingPunct="1">
                <a:spcBef>
                  <a:spcPct val="50000"/>
                </a:spcBef>
              </a:pPr>
              <a:r>
                <a:rPr lang="en-US" altLang="en-US" sz="1800"/>
                <a:t>Restricted Repetition           </a:t>
              </a:r>
              <a:r>
                <a:rPr lang="en-US" altLang="en-US" sz="1800" b="1" i="1"/>
                <a:t>P</a:t>
              </a:r>
              <a:r>
                <a:rPr lang="en-US" altLang="en-US" sz="1800" b="1"/>
                <a:t>(</a:t>
              </a:r>
              <a:r>
                <a:rPr lang="en-US" altLang="en-US" sz="1800" b="1" i="1"/>
                <a:t>r</a:t>
              </a:r>
              <a:r>
                <a:rPr lang="en-US" altLang="en-US" sz="1800" b="1"/>
                <a:t>; </a:t>
              </a:r>
              <a:r>
                <a:rPr lang="en-US" altLang="en-US" sz="1800" b="1" i="1"/>
                <a:t>r</a:t>
              </a:r>
              <a:r>
                <a:rPr lang="en-US" altLang="en-US" sz="1800" b="1" baseline="-25000"/>
                <a:t>1</a:t>
              </a:r>
              <a:r>
                <a:rPr lang="en-US" altLang="en-US" sz="1800" b="1"/>
                <a:t>, </a:t>
              </a:r>
              <a:r>
                <a:rPr lang="en-US" altLang="en-US" sz="1800" b="1" i="1"/>
                <a:t>r</a:t>
              </a:r>
              <a:r>
                <a:rPr lang="en-US" altLang="en-US" sz="1800" b="1" baseline="-25000"/>
                <a:t>2</a:t>
              </a:r>
              <a:r>
                <a:rPr lang="en-US" altLang="en-US" sz="1800" b="1"/>
                <a:t>, …, </a:t>
              </a:r>
              <a:r>
                <a:rPr lang="en-US" altLang="en-US" sz="1800" b="1" i="1"/>
                <a:t>r</a:t>
              </a:r>
              <a:r>
                <a:rPr lang="en-US" altLang="en-US" sz="1800" b="1" baseline="-25000"/>
                <a:t>n</a:t>
              </a:r>
              <a:r>
                <a:rPr lang="en-US" altLang="en-US" sz="1800" b="1"/>
                <a:t>)</a:t>
              </a:r>
              <a:r>
                <a:rPr lang="en-US" altLang="en-US" sz="1800"/>
                <a:t>               -----</a:t>
              </a:r>
            </a:p>
          </p:txBody>
        </p:sp>
      </p:grpSp>
      <p:sp>
        <p:nvSpPr>
          <p:cNvPr id="30727" name="Rectangle 10">
            <a:extLst>
              <a:ext uri="{FF2B5EF4-FFF2-40B4-BE49-F238E27FC236}">
                <a16:creationId xmlns:a16="http://schemas.microsoft.com/office/drawing/2014/main" id="{5B226642-18E2-164D-ACEE-DA766C1EF15E}"/>
              </a:ext>
            </a:extLst>
          </p:cNvPr>
          <p:cNvSpPr>
            <a:spLocks noChangeArrowheads="1"/>
          </p:cNvSpPr>
          <p:nvPr/>
        </p:nvSpPr>
        <p:spPr bwMode="auto">
          <a:xfrm>
            <a:off x="7315200" y="5410200"/>
            <a:ext cx="1447800" cy="533400"/>
          </a:xfrm>
          <a:prstGeom prst="rect">
            <a:avLst/>
          </a:prstGeom>
          <a:noFill/>
          <a:ln w="28575">
            <a:solidFill>
              <a:srgbClr val="C6180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Tree>
    <p:extLst>
      <p:ext uri="{BB962C8B-B14F-4D97-AF65-F5344CB8AC3E}">
        <p14:creationId xmlns:p14="http://schemas.microsoft.com/office/powerpoint/2010/main" val="3649700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43C58DA3-47A7-5A46-90C0-14F207395F69}"/>
              </a:ext>
            </a:extLst>
          </p:cNvPr>
          <p:cNvSpPr>
            <a:spLocks noGrp="1" noChangeArrowheads="1"/>
          </p:cNvSpPr>
          <p:nvPr>
            <p:ph type="title"/>
          </p:nvPr>
        </p:nvSpPr>
        <p:spPr>
          <a:xfrm>
            <a:off x="2193925" y="258763"/>
            <a:ext cx="7772400" cy="1143000"/>
          </a:xfrm>
        </p:spPr>
        <p:txBody>
          <a:bodyPr/>
          <a:lstStyle/>
          <a:p>
            <a:pPr eaLnBrk="1" hangingPunct="1"/>
            <a:r>
              <a:rPr lang="en-US" altLang="en-US" sz="3600">
                <a:ea typeface="ＭＳ Ｐゴシック" panose="020B0600070205080204" pitchFamily="34" charset="-128"/>
              </a:rPr>
              <a:t>Example 4 </a:t>
            </a:r>
            <a:r>
              <a:rPr lang="en-US" altLang="en-US" sz="2400">
                <a:ea typeface="ＭＳ Ｐゴシック" panose="020B0600070205080204" pitchFamily="34" charset="-128"/>
              </a:rPr>
              <a:t>(Continued)</a:t>
            </a:r>
          </a:p>
        </p:txBody>
      </p:sp>
      <p:sp>
        <p:nvSpPr>
          <p:cNvPr id="31749" name="Text Box 3">
            <a:extLst>
              <a:ext uri="{FF2B5EF4-FFF2-40B4-BE49-F238E27FC236}">
                <a16:creationId xmlns:a16="http://schemas.microsoft.com/office/drawing/2014/main" id="{EB62F903-CD9F-BF4C-8F2F-C32273786EBD}"/>
              </a:ext>
            </a:extLst>
          </p:cNvPr>
          <p:cNvSpPr txBox="1">
            <a:spLocks noChangeArrowheads="1"/>
          </p:cNvSpPr>
          <p:nvPr/>
        </p:nvSpPr>
        <p:spPr bwMode="auto">
          <a:xfrm>
            <a:off x="2149475" y="1920875"/>
            <a:ext cx="792480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    An example of one solution is:  </a:t>
            </a:r>
            <a:r>
              <a:rPr lang="en-US" altLang="en-US" i="1"/>
              <a:t>x</a:t>
            </a:r>
            <a:r>
              <a:rPr lang="en-US" altLang="en-US" baseline="-25000"/>
              <a:t>1</a:t>
            </a:r>
            <a:r>
              <a:rPr lang="en-US" altLang="en-US"/>
              <a:t> = 2, </a:t>
            </a:r>
            <a:r>
              <a:rPr lang="en-US" altLang="en-US" i="1"/>
              <a:t>x</a:t>
            </a:r>
            <a:r>
              <a:rPr lang="en-US" altLang="en-US" baseline="-25000"/>
              <a:t>2</a:t>
            </a:r>
            <a:r>
              <a:rPr lang="en-US" altLang="en-US"/>
              <a:t> = 3, </a:t>
            </a:r>
            <a:r>
              <a:rPr lang="en-US" altLang="en-US" i="1"/>
              <a:t>x</a:t>
            </a:r>
            <a:r>
              <a:rPr lang="en-US" altLang="en-US" baseline="-25000"/>
              <a:t>3</a:t>
            </a:r>
            <a:r>
              <a:rPr lang="en-US" altLang="en-US"/>
              <a:t> = 3, </a:t>
            </a:r>
            <a:r>
              <a:rPr lang="en-US" altLang="en-US" i="1"/>
              <a:t>x</a:t>
            </a:r>
            <a:r>
              <a:rPr lang="en-US" altLang="en-US" baseline="-25000"/>
              <a:t>4</a:t>
            </a:r>
            <a:r>
              <a:rPr lang="en-US" altLang="en-US"/>
              <a:t> = 4. </a:t>
            </a:r>
          </a:p>
          <a:p>
            <a:pPr eaLnBrk="1" hangingPunct="1">
              <a:spcBef>
                <a:spcPct val="50000"/>
              </a:spcBef>
            </a:pPr>
            <a:r>
              <a:rPr lang="en-US" altLang="en-US"/>
              <a:t>    Two ways to think about this:</a:t>
            </a:r>
          </a:p>
          <a:p>
            <a:pPr eaLnBrk="1" hangingPunct="1">
              <a:spcBef>
                <a:spcPct val="50000"/>
              </a:spcBef>
              <a:buFontTx/>
              <a:buAutoNum type="arabicPeriod"/>
            </a:pPr>
            <a:r>
              <a:rPr lang="en-US" altLang="en-US"/>
              <a:t>Let </a:t>
            </a:r>
            <a:r>
              <a:rPr lang="en-US" altLang="en-US" i="1"/>
              <a:t>x</a:t>
            </a:r>
            <a:r>
              <a:rPr lang="en-US" altLang="en-US" i="1" baseline="-25000"/>
              <a:t>i</a:t>
            </a:r>
            <a:r>
              <a:rPr lang="en-US" altLang="en-US"/>
              <a:t> be the number of (identical) objects in box </a:t>
            </a:r>
            <a:r>
              <a:rPr lang="en-US" altLang="en-US" i="1"/>
              <a:t>i</a:t>
            </a:r>
            <a:r>
              <a:rPr lang="en-US" altLang="en-US"/>
              <a:t>, or </a:t>
            </a:r>
          </a:p>
          <a:p>
            <a:pPr eaLnBrk="1" hangingPunct="1">
              <a:spcBef>
                <a:spcPct val="50000"/>
              </a:spcBef>
              <a:buFontTx/>
              <a:buAutoNum type="arabicPeriod"/>
            </a:pPr>
            <a:r>
              <a:rPr lang="en-US" altLang="en-US"/>
              <a:t>Let </a:t>
            </a:r>
            <a:r>
              <a:rPr lang="en-US" altLang="en-US" i="1"/>
              <a:t>x</a:t>
            </a:r>
            <a:r>
              <a:rPr lang="en-US" altLang="en-US" i="1" baseline="-25000"/>
              <a:t>i</a:t>
            </a:r>
            <a:r>
              <a:rPr lang="en-US" altLang="en-US" i="1"/>
              <a:t> </a:t>
            </a:r>
            <a:r>
              <a:rPr lang="en-US" altLang="en-US"/>
              <a:t>be the number of objects of type </a:t>
            </a:r>
            <a:r>
              <a:rPr lang="en-US" altLang="en-US" i="1"/>
              <a:t>i</a:t>
            </a:r>
            <a:r>
              <a:rPr lang="en-US" altLang="en-US"/>
              <a:t> chosen. </a:t>
            </a:r>
          </a:p>
          <a:p>
            <a:pPr eaLnBrk="1" hangingPunct="1">
              <a:spcBef>
                <a:spcPct val="50000"/>
              </a:spcBef>
              <a:buFontTx/>
              <a:buAutoNum type="arabicPeriod"/>
            </a:pPr>
            <a:endParaRPr lang="en-US" altLang="en-US"/>
          </a:p>
          <a:p>
            <a:pPr eaLnBrk="1" hangingPunct="1">
              <a:spcBef>
                <a:spcPct val="50000"/>
              </a:spcBef>
            </a:pPr>
            <a:r>
              <a:rPr lang="en-US" altLang="en-US"/>
              <a:t>                    </a:t>
            </a:r>
          </a:p>
          <a:p>
            <a:pPr eaLnBrk="1" hangingPunct="1">
              <a:spcBef>
                <a:spcPct val="50000"/>
              </a:spcBef>
            </a:pPr>
            <a:r>
              <a:rPr lang="en-US" altLang="en-US"/>
              <a:t>Either way,  the number of integer solutions is </a:t>
            </a:r>
          </a:p>
          <a:p>
            <a:pPr algn="ctr" eaLnBrk="1" hangingPunct="1">
              <a:spcBef>
                <a:spcPct val="50000"/>
              </a:spcBef>
            </a:pPr>
            <a:r>
              <a:rPr lang="en-US" altLang="en-US" b="1" i="1"/>
              <a:t>C</a:t>
            </a:r>
            <a:r>
              <a:rPr lang="en-US" altLang="en-US" b="1"/>
              <a:t>(12+4-1, 12) = 455</a:t>
            </a:r>
            <a:r>
              <a:rPr lang="en-US" altLang="en-US"/>
              <a:t>.</a:t>
            </a:r>
          </a:p>
        </p:txBody>
      </p:sp>
      <p:sp>
        <p:nvSpPr>
          <p:cNvPr id="31750" name="Rectangle 4">
            <a:extLst>
              <a:ext uri="{FF2B5EF4-FFF2-40B4-BE49-F238E27FC236}">
                <a16:creationId xmlns:a16="http://schemas.microsoft.com/office/drawing/2014/main" id="{7E6E19E6-56CC-B24F-AD68-9904479D8875}"/>
              </a:ext>
            </a:extLst>
          </p:cNvPr>
          <p:cNvSpPr>
            <a:spLocks noChangeArrowheads="1"/>
          </p:cNvSpPr>
          <p:nvPr/>
        </p:nvSpPr>
        <p:spPr bwMode="auto">
          <a:xfrm>
            <a:off x="2286000" y="1143001"/>
            <a:ext cx="8382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a:t>How many integer solutions are there to the equation              x</a:t>
            </a:r>
            <a:r>
              <a:rPr lang="en-US" altLang="en-US" b="1" baseline="-25000"/>
              <a:t>1</a:t>
            </a:r>
            <a:r>
              <a:rPr lang="en-US" altLang="en-US" b="1"/>
              <a:t> + x</a:t>
            </a:r>
            <a:r>
              <a:rPr lang="en-US" altLang="en-US" b="1" baseline="-25000"/>
              <a:t>2</a:t>
            </a:r>
            <a:r>
              <a:rPr lang="en-US" altLang="en-US" b="1"/>
              <a:t> + x</a:t>
            </a:r>
            <a:r>
              <a:rPr lang="en-US" altLang="en-US" b="1" baseline="-25000"/>
              <a:t>3</a:t>
            </a:r>
            <a:r>
              <a:rPr lang="en-US" altLang="en-US" b="1"/>
              <a:t> + x</a:t>
            </a:r>
            <a:r>
              <a:rPr lang="en-US" altLang="en-US" b="1" baseline="-25000"/>
              <a:t>4</a:t>
            </a:r>
            <a:r>
              <a:rPr lang="en-US" altLang="en-US" b="1"/>
              <a:t> = 12, with x</a:t>
            </a:r>
            <a:r>
              <a:rPr lang="en-US" altLang="en-US" b="1" baseline="-25000"/>
              <a:t>i </a:t>
            </a:r>
            <a:r>
              <a:rPr lang="en-US" altLang="en-US" b="1" u="sng"/>
              <a:t>&gt;</a:t>
            </a:r>
            <a:r>
              <a:rPr lang="en-US" altLang="en-US" b="1"/>
              <a:t> 0?</a:t>
            </a:r>
          </a:p>
        </p:txBody>
      </p:sp>
      <p:sp>
        <p:nvSpPr>
          <p:cNvPr id="31751" name="Text Box 6">
            <a:extLst>
              <a:ext uri="{FF2B5EF4-FFF2-40B4-BE49-F238E27FC236}">
                <a16:creationId xmlns:a16="http://schemas.microsoft.com/office/drawing/2014/main" id="{CA578FAA-17EA-774D-952A-013F6971A6C9}"/>
              </a:ext>
            </a:extLst>
          </p:cNvPr>
          <p:cNvSpPr txBox="1">
            <a:spLocks noChangeArrowheads="1"/>
          </p:cNvSpPr>
          <p:nvPr/>
        </p:nvSpPr>
        <p:spPr bwMode="auto">
          <a:xfrm>
            <a:off x="3538539" y="4738689"/>
            <a:ext cx="6302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solidFill>
                  <a:srgbClr val="C61806"/>
                </a:solidFill>
              </a:rPr>
              <a:t>Box 1      </a:t>
            </a:r>
            <a:r>
              <a:rPr lang="en-US" altLang="en-US" sz="2000" b="1">
                <a:solidFill>
                  <a:srgbClr val="2504C8"/>
                </a:solidFill>
              </a:rPr>
              <a:t>Box 2          </a:t>
            </a:r>
            <a:r>
              <a:rPr lang="en-US" altLang="en-US" sz="2000" b="1">
                <a:solidFill>
                  <a:srgbClr val="0EBE1F"/>
                </a:solidFill>
              </a:rPr>
              <a:t>Box 3                   </a:t>
            </a:r>
            <a:r>
              <a:rPr lang="en-US" altLang="en-US" sz="2000" b="1">
                <a:solidFill>
                  <a:srgbClr val="FE8206"/>
                </a:solidFill>
              </a:rPr>
              <a:t>Box 4</a:t>
            </a:r>
            <a:endParaRPr lang="en-US" altLang="en-US" sz="2000" b="1">
              <a:solidFill>
                <a:srgbClr val="C61806"/>
              </a:solidFill>
            </a:endParaRPr>
          </a:p>
        </p:txBody>
      </p:sp>
      <p:grpSp>
        <p:nvGrpSpPr>
          <p:cNvPr id="31752" name="Group 7">
            <a:extLst>
              <a:ext uri="{FF2B5EF4-FFF2-40B4-BE49-F238E27FC236}">
                <a16:creationId xmlns:a16="http://schemas.microsoft.com/office/drawing/2014/main" id="{7305A406-B3E6-C148-B85C-ACE4016AABD7}"/>
              </a:ext>
            </a:extLst>
          </p:cNvPr>
          <p:cNvGrpSpPr>
            <a:grpSpLocks/>
          </p:cNvGrpSpPr>
          <p:nvPr/>
        </p:nvGrpSpPr>
        <p:grpSpPr bwMode="auto">
          <a:xfrm>
            <a:off x="3597275" y="4359275"/>
            <a:ext cx="3073400" cy="298450"/>
            <a:chOff x="672" y="3552"/>
            <a:chExt cx="3888" cy="288"/>
          </a:xfrm>
        </p:grpSpPr>
        <p:sp>
          <p:nvSpPr>
            <p:cNvPr id="31764" name="AutoShape 8">
              <a:extLst>
                <a:ext uri="{FF2B5EF4-FFF2-40B4-BE49-F238E27FC236}">
                  <a16:creationId xmlns:a16="http://schemas.microsoft.com/office/drawing/2014/main" id="{58029C18-9A3E-FD4C-8D68-22D4DBDE6DF3}"/>
                </a:ext>
              </a:extLst>
            </p:cNvPr>
            <p:cNvSpPr>
              <a:spLocks noChangeArrowheads="1"/>
            </p:cNvSpPr>
            <p:nvPr/>
          </p:nvSpPr>
          <p:spPr bwMode="auto">
            <a:xfrm>
              <a:off x="168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5" name="AutoShape 9">
              <a:extLst>
                <a:ext uri="{FF2B5EF4-FFF2-40B4-BE49-F238E27FC236}">
                  <a16:creationId xmlns:a16="http://schemas.microsoft.com/office/drawing/2014/main" id="{48EC71BA-9CC8-7243-9F86-C5CE09E6C535}"/>
                </a:ext>
              </a:extLst>
            </p:cNvPr>
            <p:cNvSpPr>
              <a:spLocks noChangeArrowheads="1"/>
            </p:cNvSpPr>
            <p:nvPr/>
          </p:nvSpPr>
          <p:spPr bwMode="auto">
            <a:xfrm>
              <a:off x="2256"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6" name="AutoShape 10">
              <a:extLst>
                <a:ext uri="{FF2B5EF4-FFF2-40B4-BE49-F238E27FC236}">
                  <a16:creationId xmlns:a16="http://schemas.microsoft.com/office/drawing/2014/main" id="{C1FA931B-C74A-EC47-B6EF-961A25E47EEA}"/>
                </a:ext>
              </a:extLst>
            </p:cNvPr>
            <p:cNvSpPr>
              <a:spLocks noChangeArrowheads="1"/>
            </p:cNvSpPr>
            <p:nvPr/>
          </p:nvSpPr>
          <p:spPr bwMode="auto">
            <a:xfrm>
              <a:off x="288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7" name="AutoShape 11">
              <a:extLst>
                <a:ext uri="{FF2B5EF4-FFF2-40B4-BE49-F238E27FC236}">
                  <a16:creationId xmlns:a16="http://schemas.microsoft.com/office/drawing/2014/main" id="{792A7781-9DEF-724D-A333-20C608C32ABF}"/>
                </a:ext>
              </a:extLst>
            </p:cNvPr>
            <p:cNvSpPr>
              <a:spLocks noChangeArrowheads="1"/>
            </p:cNvSpPr>
            <p:nvPr/>
          </p:nvSpPr>
          <p:spPr bwMode="auto">
            <a:xfrm>
              <a:off x="360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8" name="AutoShape 12">
              <a:extLst>
                <a:ext uri="{FF2B5EF4-FFF2-40B4-BE49-F238E27FC236}">
                  <a16:creationId xmlns:a16="http://schemas.microsoft.com/office/drawing/2014/main" id="{24ED1E9E-35BA-4A48-AE59-E480B827D04A}"/>
                </a:ext>
              </a:extLst>
            </p:cNvPr>
            <p:cNvSpPr>
              <a:spLocks noChangeArrowheads="1"/>
            </p:cNvSpPr>
            <p:nvPr/>
          </p:nvSpPr>
          <p:spPr bwMode="auto">
            <a:xfrm>
              <a:off x="427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9" name="AutoShape 13">
              <a:extLst>
                <a:ext uri="{FF2B5EF4-FFF2-40B4-BE49-F238E27FC236}">
                  <a16:creationId xmlns:a16="http://schemas.microsoft.com/office/drawing/2014/main" id="{4392A153-3F35-894A-9CB0-54E206118F65}"/>
                </a:ext>
              </a:extLst>
            </p:cNvPr>
            <p:cNvSpPr>
              <a:spLocks noChangeArrowheads="1"/>
            </p:cNvSpPr>
            <p:nvPr/>
          </p:nvSpPr>
          <p:spPr bwMode="auto">
            <a:xfrm>
              <a:off x="67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70" name="AutoShape 14">
              <a:extLst>
                <a:ext uri="{FF2B5EF4-FFF2-40B4-BE49-F238E27FC236}">
                  <a16:creationId xmlns:a16="http://schemas.microsoft.com/office/drawing/2014/main" id="{CC1ACE70-D150-6F48-88C7-5CE8E007A63D}"/>
                </a:ext>
              </a:extLst>
            </p:cNvPr>
            <p:cNvSpPr>
              <a:spLocks noChangeArrowheads="1"/>
            </p:cNvSpPr>
            <p:nvPr/>
          </p:nvSpPr>
          <p:spPr bwMode="auto">
            <a:xfrm>
              <a:off x="115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1753" name="AutoShape 15">
            <a:extLst>
              <a:ext uri="{FF2B5EF4-FFF2-40B4-BE49-F238E27FC236}">
                <a16:creationId xmlns:a16="http://schemas.microsoft.com/office/drawing/2014/main" id="{2D23A7E0-7CD1-3E43-A920-BEAA7F5780C2}"/>
              </a:ext>
            </a:extLst>
          </p:cNvPr>
          <p:cNvSpPr>
            <a:spLocks/>
          </p:cNvSpPr>
          <p:nvPr/>
        </p:nvSpPr>
        <p:spPr bwMode="auto">
          <a:xfrm>
            <a:off x="3406776" y="4376738"/>
            <a:ext cx="150813" cy="349250"/>
          </a:xfrm>
          <a:prstGeom prst="leftBrace">
            <a:avLst>
              <a:gd name="adj1" fmla="val 192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54" name="Rectangle 16">
            <a:extLst>
              <a:ext uri="{FF2B5EF4-FFF2-40B4-BE49-F238E27FC236}">
                <a16:creationId xmlns:a16="http://schemas.microsoft.com/office/drawing/2014/main" id="{767BBC00-3FA6-3C46-A34C-30C513B41B5A}"/>
              </a:ext>
            </a:extLst>
          </p:cNvPr>
          <p:cNvSpPr>
            <a:spLocks noChangeArrowheads="1"/>
          </p:cNvSpPr>
          <p:nvPr/>
        </p:nvSpPr>
        <p:spPr bwMode="auto">
          <a:xfrm>
            <a:off x="1906588" y="4268789"/>
            <a:ext cx="1466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b="1"/>
              <a:t>12</a:t>
            </a:r>
            <a:r>
              <a:rPr lang="en-US" altLang="en-US" sz="2000" b="1" i="1"/>
              <a:t> </a:t>
            </a:r>
            <a:r>
              <a:rPr lang="en-US" altLang="en-US" sz="2000" b="1"/>
              <a:t>identical objects</a:t>
            </a:r>
          </a:p>
        </p:txBody>
      </p:sp>
      <p:grpSp>
        <p:nvGrpSpPr>
          <p:cNvPr id="31755" name="Group 29">
            <a:extLst>
              <a:ext uri="{FF2B5EF4-FFF2-40B4-BE49-F238E27FC236}">
                <a16:creationId xmlns:a16="http://schemas.microsoft.com/office/drawing/2014/main" id="{56643BB6-F134-C149-854A-EBEA6E6CD9B1}"/>
              </a:ext>
            </a:extLst>
          </p:cNvPr>
          <p:cNvGrpSpPr>
            <a:grpSpLocks/>
          </p:cNvGrpSpPr>
          <p:nvPr/>
        </p:nvGrpSpPr>
        <p:grpSpPr bwMode="auto">
          <a:xfrm>
            <a:off x="6856413" y="4324350"/>
            <a:ext cx="2114550" cy="319088"/>
            <a:chOff x="2206" y="3528"/>
            <a:chExt cx="1755" cy="202"/>
          </a:xfrm>
        </p:grpSpPr>
        <p:sp>
          <p:nvSpPr>
            <p:cNvPr id="31759" name="AutoShape 20">
              <a:extLst>
                <a:ext uri="{FF2B5EF4-FFF2-40B4-BE49-F238E27FC236}">
                  <a16:creationId xmlns:a16="http://schemas.microsoft.com/office/drawing/2014/main" id="{9B3E74EB-8BBB-A74D-90E2-A4B215817627}"/>
                </a:ext>
              </a:extLst>
            </p:cNvPr>
            <p:cNvSpPr>
              <a:spLocks noChangeArrowheads="1"/>
            </p:cNvSpPr>
            <p:nvPr/>
          </p:nvSpPr>
          <p:spPr bwMode="auto">
            <a:xfrm>
              <a:off x="2915" y="3528"/>
              <a:ext cx="202" cy="202"/>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0" name="AutoShape 21">
              <a:extLst>
                <a:ext uri="{FF2B5EF4-FFF2-40B4-BE49-F238E27FC236}">
                  <a16:creationId xmlns:a16="http://schemas.microsoft.com/office/drawing/2014/main" id="{2D6CDAC8-C39E-6140-A615-98B11934A7F9}"/>
                </a:ext>
              </a:extLst>
            </p:cNvPr>
            <p:cNvSpPr>
              <a:spLocks noChangeArrowheads="1"/>
            </p:cNvSpPr>
            <p:nvPr/>
          </p:nvSpPr>
          <p:spPr bwMode="auto">
            <a:xfrm>
              <a:off x="3320" y="3528"/>
              <a:ext cx="202" cy="202"/>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1" name="AutoShape 22">
              <a:extLst>
                <a:ext uri="{FF2B5EF4-FFF2-40B4-BE49-F238E27FC236}">
                  <a16:creationId xmlns:a16="http://schemas.microsoft.com/office/drawing/2014/main" id="{217A5A34-FF3A-394B-BF5B-5CA84AF1899B}"/>
                </a:ext>
              </a:extLst>
            </p:cNvPr>
            <p:cNvSpPr>
              <a:spLocks noChangeArrowheads="1"/>
            </p:cNvSpPr>
            <p:nvPr/>
          </p:nvSpPr>
          <p:spPr bwMode="auto">
            <a:xfrm>
              <a:off x="3759" y="3528"/>
              <a:ext cx="202" cy="202"/>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2" name="AutoShape 25">
              <a:extLst>
                <a:ext uri="{FF2B5EF4-FFF2-40B4-BE49-F238E27FC236}">
                  <a16:creationId xmlns:a16="http://schemas.microsoft.com/office/drawing/2014/main" id="{84E927A2-8E3E-F345-99A4-E34D483B4676}"/>
                </a:ext>
              </a:extLst>
            </p:cNvPr>
            <p:cNvSpPr>
              <a:spLocks noChangeArrowheads="1"/>
            </p:cNvSpPr>
            <p:nvPr/>
          </p:nvSpPr>
          <p:spPr bwMode="auto">
            <a:xfrm>
              <a:off x="2206" y="3528"/>
              <a:ext cx="203" cy="202"/>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1763" name="AutoShape 26">
              <a:extLst>
                <a:ext uri="{FF2B5EF4-FFF2-40B4-BE49-F238E27FC236}">
                  <a16:creationId xmlns:a16="http://schemas.microsoft.com/office/drawing/2014/main" id="{BEA93E25-811D-584C-B0E1-783752D047FB}"/>
                </a:ext>
              </a:extLst>
            </p:cNvPr>
            <p:cNvSpPr>
              <a:spLocks noChangeArrowheads="1"/>
            </p:cNvSpPr>
            <p:nvPr/>
          </p:nvSpPr>
          <p:spPr bwMode="auto">
            <a:xfrm>
              <a:off x="2544" y="3528"/>
              <a:ext cx="202" cy="202"/>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1756" name="Line 30">
            <a:extLst>
              <a:ext uri="{FF2B5EF4-FFF2-40B4-BE49-F238E27FC236}">
                <a16:creationId xmlns:a16="http://schemas.microsoft.com/office/drawing/2014/main" id="{663567EE-5C7D-C249-914D-A3C6BC39DA5A}"/>
              </a:ext>
            </a:extLst>
          </p:cNvPr>
          <p:cNvSpPr>
            <a:spLocks noChangeShapeType="1"/>
          </p:cNvSpPr>
          <p:nvPr/>
        </p:nvSpPr>
        <p:spPr bwMode="auto">
          <a:xfrm>
            <a:off x="4313238" y="4130675"/>
            <a:ext cx="0" cy="776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7" name="Line 32">
            <a:extLst>
              <a:ext uri="{FF2B5EF4-FFF2-40B4-BE49-F238E27FC236}">
                <a16:creationId xmlns:a16="http://schemas.microsoft.com/office/drawing/2014/main" id="{3784F6F6-E62E-374A-94EE-81F7CBB60CDA}"/>
              </a:ext>
            </a:extLst>
          </p:cNvPr>
          <p:cNvSpPr>
            <a:spLocks noChangeShapeType="1"/>
          </p:cNvSpPr>
          <p:nvPr/>
        </p:nvSpPr>
        <p:spPr bwMode="auto">
          <a:xfrm>
            <a:off x="7164388" y="4206875"/>
            <a:ext cx="0" cy="776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8" name="Line 33">
            <a:extLst>
              <a:ext uri="{FF2B5EF4-FFF2-40B4-BE49-F238E27FC236}">
                <a16:creationId xmlns:a16="http://schemas.microsoft.com/office/drawing/2014/main" id="{17FA773E-C066-E64E-A9E7-F37A24F0E010}"/>
              </a:ext>
            </a:extLst>
          </p:cNvPr>
          <p:cNvSpPr>
            <a:spLocks noChangeShapeType="1"/>
          </p:cNvSpPr>
          <p:nvPr/>
        </p:nvSpPr>
        <p:spPr bwMode="auto">
          <a:xfrm>
            <a:off x="5716588" y="4206875"/>
            <a:ext cx="0" cy="776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538924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a:extLst>
              <a:ext uri="{FF2B5EF4-FFF2-40B4-BE49-F238E27FC236}">
                <a16:creationId xmlns:a16="http://schemas.microsoft.com/office/drawing/2014/main" id="{11930A9C-12E8-594B-832F-24E9A198E534}"/>
              </a:ext>
            </a:extLst>
          </p:cNvPr>
          <p:cNvSpPr>
            <a:spLocks noGrp="1" noChangeArrowheads="1"/>
          </p:cNvSpPr>
          <p:nvPr>
            <p:ph type="title"/>
          </p:nvPr>
        </p:nvSpPr>
        <p:spPr>
          <a:xfrm>
            <a:off x="1979486" y="565078"/>
            <a:ext cx="8746733" cy="1232899"/>
          </a:xfrm>
        </p:spPr>
        <p:txBody>
          <a:bodyPr>
            <a:normAutofit fontScale="90000"/>
          </a:bodyPr>
          <a:lstStyle/>
          <a:p>
            <a:pPr algn="ctr"/>
            <a:r>
              <a:rPr lang="en-US" altLang="en-US" sz="3100" b="1" dirty="0">
                <a:ea typeface="ＭＳ Ｐゴシック" panose="020B0600070205080204" pitchFamily="34" charset="-128"/>
              </a:rPr>
              <a:t>Example 4 (continue) </a:t>
            </a:r>
            <a:r>
              <a:rPr lang="en-US" altLang="en-US" sz="3100" b="1" dirty="0"/>
              <a:t>“</a:t>
            </a:r>
            <a:r>
              <a:rPr lang="en-US" altLang="en-US" sz="3100" b="1" i="1" dirty="0"/>
              <a:t>Minimum condition</a:t>
            </a:r>
            <a:r>
              <a:rPr lang="en-US" altLang="en-US" sz="3100" b="1" dirty="0"/>
              <a:t>” problem</a:t>
            </a:r>
            <a:br>
              <a:rPr lang="en-US" altLang="en-US" sz="3100" b="1" dirty="0"/>
            </a:br>
            <a:r>
              <a:rPr lang="en-US" altLang="en-US" sz="3100" b="1" dirty="0"/>
              <a:t>The rule is: “</a:t>
            </a:r>
            <a:r>
              <a:rPr lang="en-US" altLang="en-US" sz="3100" b="1" i="1" dirty="0"/>
              <a:t>satisfy it first</a:t>
            </a:r>
            <a:r>
              <a:rPr lang="en-US" altLang="en-US" sz="3100" b="1" dirty="0"/>
              <a:t>”</a:t>
            </a:r>
            <a:r>
              <a:rPr lang="en-US" altLang="en-US" dirty="0"/>
              <a:t/>
            </a:r>
            <a:br>
              <a:rPr lang="en-US" altLang="en-US" dirty="0"/>
            </a:br>
            <a:endParaRPr lang="en-US" altLang="en-US" dirty="0">
              <a:ea typeface="ＭＳ Ｐゴシック" panose="020B0600070205080204" pitchFamily="34" charset="-128"/>
            </a:endParaRPr>
          </a:p>
        </p:txBody>
      </p:sp>
      <p:sp>
        <p:nvSpPr>
          <p:cNvPr id="32773" name="Text Box 3">
            <a:extLst>
              <a:ext uri="{FF2B5EF4-FFF2-40B4-BE49-F238E27FC236}">
                <a16:creationId xmlns:a16="http://schemas.microsoft.com/office/drawing/2014/main" id="{AAC42B99-6390-5D47-A424-A59729378A70}"/>
              </a:ext>
            </a:extLst>
          </p:cNvPr>
          <p:cNvSpPr txBox="1">
            <a:spLocks noChangeArrowheads="1"/>
          </p:cNvSpPr>
          <p:nvPr/>
        </p:nvSpPr>
        <p:spPr bwMode="auto">
          <a:xfrm>
            <a:off x="2352353" y="1504701"/>
            <a:ext cx="80010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dirty="0"/>
              <a:t>Solutions with </a:t>
            </a:r>
            <a:r>
              <a:rPr lang="en-US" altLang="en-US" sz="2000" b="1" i="1" dirty="0"/>
              <a:t>x</a:t>
            </a:r>
            <a:r>
              <a:rPr lang="en-US" altLang="en-US" sz="2000" b="1" i="1" baseline="-25000" dirty="0"/>
              <a:t>i</a:t>
            </a:r>
            <a:r>
              <a:rPr lang="en-US" altLang="en-US" sz="2000" b="1" dirty="0"/>
              <a:t> </a:t>
            </a:r>
            <a:r>
              <a:rPr lang="en-US" altLang="en-US" sz="2000" b="1" u="sng" dirty="0"/>
              <a:t>&gt;</a:t>
            </a:r>
            <a:r>
              <a:rPr lang="en-US" altLang="en-US" sz="2000" b="1" dirty="0"/>
              <a:t> 1:</a:t>
            </a:r>
            <a:r>
              <a:rPr lang="en-US" altLang="en-US" sz="2000" dirty="0"/>
              <a:t> (</a:t>
            </a:r>
            <a:r>
              <a:rPr lang="en-US" altLang="en-US" sz="2000" b="1" i="1" dirty="0"/>
              <a:t>x</a:t>
            </a:r>
            <a:r>
              <a:rPr lang="en-US" altLang="en-US" sz="2000" b="1" i="1" baseline="-25000" dirty="0"/>
              <a:t>i</a:t>
            </a:r>
            <a:r>
              <a:rPr lang="en-US" altLang="en-US" sz="2000" b="1" dirty="0"/>
              <a:t>=</a:t>
            </a:r>
            <a:r>
              <a:rPr lang="en-US" altLang="en-US" sz="2000" b="1" i="1" dirty="0"/>
              <a:t>z</a:t>
            </a:r>
            <a:r>
              <a:rPr lang="en-US" altLang="en-US" sz="2000" b="1" i="1" baseline="-25000" dirty="0"/>
              <a:t>i</a:t>
            </a:r>
            <a:r>
              <a:rPr lang="en-US" altLang="en-US" sz="2000" b="1" dirty="0"/>
              <a:t>+1)</a:t>
            </a:r>
            <a:r>
              <a:rPr lang="en-US" altLang="en-US" sz="2000" dirty="0"/>
              <a:t>	</a:t>
            </a:r>
          </a:p>
          <a:p>
            <a:pPr eaLnBrk="1" hangingPunct="1">
              <a:spcBef>
                <a:spcPct val="50000"/>
              </a:spcBef>
            </a:pPr>
            <a:r>
              <a:rPr lang="en-US" altLang="en-US" sz="2000" dirty="0"/>
              <a:t>First put one object in each box, and then solve </a:t>
            </a:r>
          </a:p>
          <a:p>
            <a:pPr eaLnBrk="1" hangingPunct="1">
              <a:spcBef>
                <a:spcPct val="50000"/>
              </a:spcBef>
            </a:pPr>
            <a:r>
              <a:rPr lang="en-US" altLang="en-US" sz="2000" dirty="0"/>
              <a:t>	z</a:t>
            </a:r>
            <a:r>
              <a:rPr lang="en-US" altLang="en-US" sz="2000" baseline="-25000" dirty="0"/>
              <a:t>1</a:t>
            </a:r>
            <a:r>
              <a:rPr lang="en-US" altLang="en-US" sz="2000" dirty="0"/>
              <a:t> + z</a:t>
            </a:r>
            <a:r>
              <a:rPr lang="en-US" altLang="en-US" sz="2000" baseline="-25000" dirty="0"/>
              <a:t>2</a:t>
            </a:r>
            <a:r>
              <a:rPr lang="en-US" altLang="en-US" sz="2000" dirty="0"/>
              <a:t> + z</a:t>
            </a:r>
            <a:r>
              <a:rPr lang="en-US" altLang="en-US" sz="2000" baseline="-25000" dirty="0"/>
              <a:t>3</a:t>
            </a:r>
            <a:r>
              <a:rPr lang="en-US" altLang="en-US" sz="2000" dirty="0"/>
              <a:t> + z</a:t>
            </a:r>
            <a:r>
              <a:rPr lang="en-US" altLang="en-US" sz="2000" baseline="-25000" dirty="0"/>
              <a:t>4</a:t>
            </a:r>
            <a:r>
              <a:rPr lang="en-US" altLang="en-US" sz="2000" dirty="0"/>
              <a:t> = 12-4 = 8.</a:t>
            </a:r>
          </a:p>
          <a:p>
            <a:pPr algn="ctr" eaLnBrk="1" hangingPunct="1">
              <a:spcBef>
                <a:spcPct val="50000"/>
              </a:spcBef>
            </a:pPr>
            <a:r>
              <a:rPr lang="en-US" altLang="en-US" sz="2000" dirty="0"/>
              <a:t>	 </a:t>
            </a:r>
            <a:r>
              <a:rPr lang="en-US" altLang="en-US" sz="2000" b="1" i="1" dirty="0"/>
              <a:t>C</a:t>
            </a:r>
            <a:r>
              <a:rPr lang="en-US" altLang="en-US" sz="2000" b="1" dirty="0"/>
              <a:t>(12-4 +(4-1), 4-1) = C(8+4-1, 4-1)</a:t>
            </a:r>
            <a:r>
              <a:rPr lang="en-US" altLang="en-US" sz="2000" dirty="0"/>
              <a:t> </a:t>
            </a:r>
            <a:r>
              <a:rPr lang="en-US" altLang="en-US" sz="2000" b="1" dirty="0"/>
              <a:t>= 165</a:t>
            </a:r>
            <a:r>
              <a:rPr lang="en-US" altLang="en-US" sz="2000" dirty="0"/>
              <a:t>  ways.</a:t>
            </a:r>
          </a:p>
          <a:p>
            <a:pPr algn="ctr" eaLnBrk="1" hangingPunct="1">
              <a:spcBef>
                <a:spcPct val="50000"/>
              </a:spcBef>
            </a:pPr>
            <a:endParaRPr lang="en-US" altLang="en-US" sz="2000" dirty="0"/>
          </a:p>
          <a:p>
            <a:pPr eaLnBrk="1" hangingPunct="1">
              <a:spcBef>
                <a:spcPct val="50000"/>
              </a:spcBef>
            </a:pPr>
            <a:r>
              <a:rPr lang="en-US" altLang="en-US" sz="2000" b="1" dirty="0"/>
              <a:t>Solution with </a:t>
            </a:r>
            <a:r>
              <a:rPr lang="en-US" altLang="en-US" sz="2000" b="1" i="1" dirty="0"/>
              <a:t>x</a:t>
            </a:r>
            <a:r>
              <a:rPr lang="en-US" altLang="en-US" sz="2000" b="1" i="1" baseline="-25000" dirty="0"/>
              <a:t>1</a:t>
            </a:r>
            <a:r>
              <a:rPr lang="en-US" altLang="en-US" sz="2000" b="1" u="sng" dirty="0"/>
              <a:t>&gt;</a:t>
            </a:r>
            <a:r>
              <a:rPr lang="en-US" altLang="en-US" sz="2000" b="1" dirty="0"/>
              <a:t>2, </a:t>
            </a:r>
            <a:r>
              <a:rPr lang="en-US" altLang="en-US" sz="2000" b="1" i="1" dirty="0"/>
              <a:t>x</a:t>
            </a:r>
            <a:r>
              <a:rPr lang="en-US" altLang="en-US" sz="2000" b="1" i="1" baseline="-25000" dirty="0"/>
              <a:t>2</a:t>
            </a:r>
            <a:r>
              <a:rPr lang="en-US" altLang="en-US" sz="2000" b="1" u="sng" dirty="0"/>
              <a:t>&gt;</a:t>
            </a:r>
            <a:r>
              <a:rPr lang="en-US" altLang="en-US" sz="2000" b="1" dirty="0"/>
              <a:t>2, </a:t>
            </a:r>
            <a:r>
              <a:rPr lang="en-US" altLang="en-US" sz="2000" b="1" i="1" dirty="0"/>
              <a:t>x</a:t>
            </a:r>
            <a:r>
              <a:rPr lang="en-US" altLang="en-US" sz="2000" b="1" i="1" baseline="-25000" dirty="0"/>
              <a:t>3</a:t>
            </a:r>
            <a:r>
              <a:rPr lang="en-US" altLang="en-US" sz="2000" b="1" u="sng" dirty="0"/>
              <a:t>&gt;</a:t>
            </a:r>
            <a:r>
              <a:rPr lang="en-US" altLang="en-US" sz="2000" b="1" dirty="0"/>
              <a:t>4, </a:t>
            </a:r>
            <a:r>
              <a:rPr lang="en-US" altLang="en-US" sz="2000" b="1" i="1" dirty="0"/>
              <a:t>x</a:t>
            </a:r>
            <a:r>
              <a:rPr lang="en-US" altLang="en-US" sz="2000" b="1" i="1" baseline="-25000" dirty="0"/>
              <a:t>4</a:t>
            </a:r>
            <a:r>
              <a:rPr lang="en-US" altLang="en-US" sz="2000" b="1" u="sng" dirty="0"/>
              <a:t>&gt;</a:t>
            </a:r>
            <a:r>
              <a:rPr lang="en-US" altLang="en-US" sz="2000" b="1" dirty="0"/>
              <a:t>0: </a:t>
            </a:r>
            <a:r>
              <a:rPr lang="en-US" altLang="en-US" sz="2000" dirty="0"/>
              <a:t>(</a:t>
            </a:r>
            <a:r>
              <a:rPr lang="en-US" altLang="en-US" sz="2000" b="1" i="1" dirty="0"/>
              <a:t>x</a:t>
            </a:r>
            <a:r>
              <a:rPr lang="en-US" altLang="en-US" sz="2000" b="1" i="1" baseline="-25000" dirty="0"/>
              <a:t>1</a:t>
            </a:r>
            <a:r>
              <a:rPr lang="en-US" altLang="en-US" sz="2000" b="1" dirty="0"/>
              <a:t>=</a:t>
            </a:r>
            <a:r>
              <a:rPr lang="en-US" altLang="en-US" sz="2000" b="1" i="1" dirty="0"/>
              <a:t>z</a:t>
            </a:r>
            <a:r>
              <a:rPr lang="en-US" altLang="en-US" sz="2000" b="1" i="1" baseline="-25000" dirty="0"/>
              <a:t>1</a:t>
            </a:r>
            <a:r>
              <a:rPr lang="en-US" altLang="en-US" sz="2000" b="1" dirty="0"/>
              <a:t>+2,</a:t>
            </a:r>
            <a:r>
              <a:rPr lang="en-US" altLang="en-US" sz="2000" b="1" i="1" dirty="0"/>
              <a:t> x</a:t>
            </a:r>
            <a:r>
              <a:rPr lang="en-US" altLang="en-US" sz="2000" b="1" i="1" baseline="-25000" dirty="0"/>
              <a:t>2</a:t>
            </a:r>
            <a:r>
              <a:rPr lang="en-US" altLang="en-US" sz="2000" b="1" dirty="0"/>
              <a:t>=</a:t>
            </a:r>
            <a:r>
              <a:rPr lang="en-US" altLang="en-US" sz="2000" b="1" i="1" dirty="0"/>
              <a:t>z</a:t>
            </a:r>
            <a:r>
              <a:rPr lang="en-US" altLang="en-US" sz="2000" b="1" i="1" baseline="-25000" dirty="0"/>
              <a:t>2</a:t>
            </a:r>
            <a:r>
              <a:rPr lang="en-US" altLang="en-US" sz="2000" b="1" dirty="0"/>
              <a:t>+2 </a:t>
            </a:r>
            <a:r>
              <a:rPr lang="en-US" altLang="en-US" sz="2000" b="1" dirty="0" err="1"/>
              <a:t>etc</a:t>
            </a:r>
            <a:r>
              <a:rPr lang="en-US" altLang="en-US" sz="2000" b="1" dirty="0"/>
              <a:t>)</a:t>
            </a:r>
          </a:p>
          <a:p>
            <a:pPr eaLnBrk="1" hangingPunct="1">
              <a:spcBef>
                <a:spcPct val="50000"/>
              </a:spcBef>
            </a:pPr>
            <a:r>
              <a:rPr lang="en-US" altLang="en-US" sz="2000" dirty="0"/>
              <a:t>	First put 2 objects in the first and second boxes, 4 	objects in the third box, and then solve</a:t>
            </a:r>
          </a:p>
          <a:p>
            <a:pPr eaLnBrk="1" hangingPunct="1">
              <a:spcBef>
                <a:spcPct val="50000"/>
              </a:spcBef>
            </a:pPr>
            <a:r>
              <a:rPr lang="en-US" altLang="en-US" sz="2000" dirty="0"/>
              <a:t>	z</a:t>
            </a:r>
            <a:r>
              <a:rPr lang="en-US" altLang="en-US" sz="2000" baseline="-25000" dirty="0"/>
              <a:t>1</a:t>
            </a:r>
            <a:r>
              <a:rPr lang="en-US" altLang="en-US" sz="2000" dirty="0"/>
              <a:t> + z</a:t>
            </a:r>
            <a:r>
              <a:rPr lang="en-US" altLang="en-US" sz="2000" baseline="-25000" dirty="0"/>
              <a:t>2</a:t>
            </a:r>
            <a:r>
              <a:rPr lang="en-US" altLang="en-US" sz="2000" dirty="0"/>
              <a:t> + z</a:t>
            </a:r>
            <a:r>
              <a:rPr lang="en-US" altLang="en-US" sz="2000" baseline="-25000" dirty="0"/>
              <a:t>3</a:t>
            </a:r>
            <a:r>
              <a:rPr lang="en-US" altLang="en-US" sz="2000" dirty="0"/>
              <a:t> + z</a:t>
            </a:r>
            <a:r>
              <a:rPr lang="en-US" altLang="en-US" sz="2000" baseline="-25000" dirty="0"/>
              <a:t>4</a:t>
            </a:r>
            <a:r>
              <a:rPr lang="en-US" altLang="en-US" sz="2000" dirty="0"/>
              <a:t> =12 – (2 + 2+4) = 4.</a:t>
            </a:r>
          </a:p>
          <a:p>
            <a:pPr algn="ctr" eaLnBrk="1" hangingPunct="1">
              <a:spcBef>
                <a:spcPct val="50000"/>
              </a:spcBef>
            </a:pPr>
            <a:r>
              <a:rPr lang="en-US" altLang="en-US" sz="2000" b="1" i="1" dirty="0"/>
              <a:t>C </a:t>
            </a:r>
            <a:r>
              <a:rPr lang="en-US" altLang="en-US" sz="2000" b="1" dirty="0"/>
              <a:t>(12 –(2+2+4) + (4-1), 4-1) =</a:t>
            </a:r>
            <a:r>
              <a:rPr lang="en-US" altLang="en-US" sz="2000" b="1" i="1" dirty="0"/>
              <a:t>  C</a:t>
            </a:r>
            <a:r>
              <a:rPr lang="en-US" altLang="en-US" sz="2000" b="1" dirty="0"/>
              <a:t>(4+4-1, 4-1) = 35 </a:t>
            </a:r>
            <a:r>
              <a:rPr lang="en-US" altLang="en-US" sz="2000" dirty="0"/>
              <a:t>ways. </a:t>
            </a:r>
          </a:p>
        </p:txBody>
      </p:sp>
    </p:spTree>
    <p:extLst>
      <p:ext uri="{BB962C8B-B14F-4D97-AF65-F5344CB8AC3E}">
        <p14:creationId xmlns:p14="http://schemas.microsoft.com/office/powerpoint/2010/main" val="701801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D1ED3-0040-914D-A7D8-CC71EE896C74}"/>
              </a:ext>
            </a:extLst>
          </p:cNvPr>
          <p:cNvSpPr>
            <a:spLocks noGrp="1"/>
          </p:cNvSpPr>
          <p:nvPr>
            <p:ph type="title"/>
          </p:nvPr>
        </p:nvSpPr>
        <p:spPr/>
        <p:txBody>
          <a:bodyPr>
            <a:normAutofit/>
          </a:bodyPr>
          <a:lstStyle/>
          <a:p>
            <a:pPr algn="ctr"/>
            <a:r>
              <a:rPr lang="en-US" sz="3600" b="1" dirty="0"/>
              <a:t>Similarity among arrangement, selection, and integer equation problems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AA5833-F064-EA40-95EF-6D0E6BA30EB3}"/>
                  </a:ext>
                </a:extLst>
              </p:cNvPr>
              <p:cNvSpPr>
                <a:spLocks noGrp="1"/>
              </p:cNvSpPr>
              <p:nvPr>
                <p:ph idx="1"/>
              </p:nvPr>
            </p:nvSpPr>
            <p:spPr/>
            <p:txBody>
              <a:bodyPr>
                <a:normAutofit lnSpcReduction="10000"/>
              </a:bodyPr>
              <a:lstStyle/>
              <a:p>
                <a:r>
                  <a:rPr lang="en-US" dirty="0"/>
                  <a:t>Solution: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𝑟</m:t>
                        </m:r>
                      </m:sup>
                    </m:sSup>
                  </m:oMath>
                </a14:m>
                <a:endParaRPr lang="en-US" dirty="0"/>
              </a:p>
              <a:p>
                <a:pPr lvl="1"/>
                <a:r>
                  <a:rPr lang="en-US" dirty="0"/>
                  <a:t>Arrangement of </a:t>
                </a:r>
                <a14:m>
                  <m:oMath xmlns:m="http://schemas.openxmlformats.org/officeDocument/2006/math">
                    <m:r>
                      <a:rPr lang="en-US" b="0" i="1" smtClean="0">
                        <a:latin typeface="Cambria Math" panose="02040503050406030204" pitchFamily="18" charset="0"/>
                      </a:rPr>
                      <m:t>𝑛</m:t>
                    </m:r>
                  </m:oMath>
                </a14:m>
                <a:r>
                  <a:rPr lang="en-US" dirty="0"/>
                  <a:t> distinct objects to </a:t>
                </a:r>
                <a14:m>
                  <m:oMath xmlns:m="http://schemas.openxmlformats.org/officeDocument/2006/math">
                    <m:r>
                      <a:rPr lang="en-US" b="0" i="1" smtClean="0">
                        <a:latin typeface="Cambria Math" panose="02040503050406030204" pitchFamily="18" charset="0"/>
                      </a:rPr>
                      <m:t>𝑟</m:t>
                    </m:r>
                  </m:oMath>
                </a14:m>
                <a:r>
                  <a:rPr lang="en-US" dirty="0"/>
                  <a:t> positions, repetition allowed</a:t>
                </a:r>
              </a:p>
              <a:p>
                <a:pPr lvl="1"/>
                <a:r>
                  <a:rPr lang="en-US" dirty="0"/>
                  <a:t>Distribute </a:t>
                </a:r>
                <a14:m>
                  <m:oMath xmlns:m="http://schemas.openxmlformats.org/officeDocument/2006/math">
                    <m:r>
                      <a:rPr lang="en-US" b="0" i="1" smtClean="0">
                        <a:latin typeface="Cambria Math" panose="02040503050406030204" pitchFamily="18" charset="0"/>
                      </a:rPr>
                      <m:t>𝑟</m:t>
                    </m:r>
                  </m:oMath>
                </a14:m>
                <a:r>
                  <a:rPr lang="en-US" dirty="0"/>
                  <a:t> distinct object to </a:t>
                </a:r>
                <a14:m>
                  <m:oMath xmlns:m="http://schemas.openxmlformats.org/officeDocument/2006/math">
                    <m:r>
                      <a:rPr lang="en-US" b="0" i="1" smtClean="0">
                        <a:latin typeface="Cambria Math" panose="02040503050406030204" pitchFamily="18" charset="0"/>
                      </a:rPr>
                      <m:t>𝑛</m:t>
                    </m:r>
                  </m:oMath>
                </a14:m>
                <a:r>
                  <a:rPr lang="en-US" dirty="0"/>
                  <a:t> different destinations</a:t>
                </a:r>
              </a:p>
              <a:p>
                <a:r>
                  <a:rPr lang="en-US" dirty="0"/>
                  <a:t>Solution: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den>
                    </m:f>
                  </m:oMath>
                </a14:m>
                <a:endParaRPr lang="en-US" dirty="0"/>
              </a:p>
              <a:p>
                <a:pPr lvl="1"/>
                <a:r>
                  <a:rPr lang="en-US" dirty="0"/>
                  <a:t>Arrange </a:t>
                </a:r>
                <a14:m>
                  <m:oMath xmlns:m="http://schemas.openxmlformats.org/officeDocument/2006/math">
                    <m:r>
                      <a:rPr lang="en-US" b="0" i="1" smtClean="0">
                        <a:latin typeface="Cambria Math" panose="02040503050406030204" pitchFamily="18" charset="0"/>
                      </a:rPr>
                      <m:t>𝑟</m:t>
                    </m:r>
                  </m:oMath>
                </a14:m>
                <a:r>
                  <a:rPr lang="en-US" dirty="0"/>
                  <a:t> objects, 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a14:m>
                <a:r>
                  <a:rPr lang="en-US" dirty="0"/>
                  <a:t> are identical,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a14:m>
                <a:r>
                  <a:rPr lang="en-US" dirty="0"/>
                  <a:t> are identical,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𝑛</m:t>
                        </m:r>
                      </m:sub>
                    </m:sSub>
                  </m:oMath>
                </a14:m>
                <a:r>
                  <a:rPr lang="en-US" dirty="0"/>
                  <a:t> are identical</a:t>
                </a:r>
              </a:p>
              <a:p>
                <a:pPr lvl="1"/>
                <a:r>
                  <a:rPr lang="en-US" dirty="0"/>
                  <a:t>Distribute </a:t>
                </a:r>
                <a14:m>
                  <m:oMath xmlns:m="http://schemas.openxmlformats.org/officeDocument/2006/math">
                    <m:r>
                      <a:rPr lang="en-US" b="0" i="1" smtClean="0">
                        <a:latin typeface="Cambria Math" panose="02040503050406030204" pitchFamily="18" charset="0"/>
                      </a:rPr>
                      <m:t>𝑟</m:t>
                    </m:r>
                  </m:oMath>
                </a14:m>
                <a:r>
                  <a:rPr lang="en-US" dirty="0"/>
                  <a:t> distinct objects to </a:t>
                </a:r>
                <a14:m>
                  <m:oMath xmlns:m="http://schemas.openxmlformats.org/officeDocument/2006/math">
                    <m:r>
                      <a:rPr lang="en-US" b="0" i="1" smtClean="0">
                        <a:latin typeface="Cambria Math" panose="02040503050406030204" pitchFamily="18" charset="0"/>
                      </a:rPr>
                      <m:t>𝑛</m:t>
                    </m:r>
                  </m:oMath>
                </a14:m>
                <a:r>
                  <a:rPr lang="en-US" dirty="0"/>
                  <a:t> destinations, where destination 1 must have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oMath>
                </a14:m>
                <a:r>
                  <a:rPr lang="en-US" dirty="0"/>
                  <a:t> objects, destination 2 must have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a14:m>
                <a:r>
                  <a:rPr lang="en-US" dirty="0"/>
                  <a:t> objects,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and destination </a:t>
                </a:r>
                <a14:m>
                  <m:oMath xmlns:m="http://schemas.openxmlformats.org/officeDocument/2006/math">
                    <m:r>
                      <a:rPr lang="en-US" b="0" i="1" smtClean="0">
                        <a:latin typeface="Cambria Math" panose="02040503050406030204" pitchFamily="18" charset="0"/>
                      </a:rPr>
                      <m:t>𝑛</m:t>
                    </m:r>
                  </m:oMath>
                </a14:m>
                <a:r>
                  <a:rPr lang="en-US" dirty="0"/>
                  <a:t> must have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𝑛</m:t>
                        </m:r>
                      </m:sub>
                    </m:sSub>
                  </m:oMath>
                </a14:m>
                <a:r>
                  <a:rPr lang="en-US" dirty="0"/>
                  <a:t> objects.</a:t>
                </a:r>
              </a:p>
              <a:p>
                <a:pPr lvl="1"/>
                <a:r>
                  <a:rPr lang="en-US" dirty="0"/>
                  <a:t>In these problems:</a:t>
                </a: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𝑛</m:t>
                          </m:r>
                        </m:sub>
                      </m:sSub>
                    </m:oMath>
                  </m:oMathPara>
                </a14:m>
                <a:endParaRPr lang="en-US" dirty="0"/>
              </a:p>
            </p:txBody>
          </p:sp>
        </mc:Choice>
        <mc:Fallback>
          <p:sp>
            <p:nvSpPr>
              <p:cNvPr id="3" name="Content Placeholder 2">
                <a:extLst>
                  <a:ext uri="{FF2B5EF4-FFF2-40B4-BE49-F238E27FC236}">
                    <a16:creationId xmlns:a16="http://schemas.microsoft.com/office/drawing/2014/main" id="{F7AA5833-F064-EA40-95EF-6D0E6BA30EB3}"/>
                  </a:ext>
                </a:extLst>
              </p:cNvPr>
              <p:cNvSpPr>
                <a:spLocks noGrp="1" noRot="1" noChangeAspect="1" noMove="1" noResize="1" noEditPoints="1" noAdjustHandles="1" noChangeArrowheads="1" noChangeShapeType="1" noTextEdit="1"/>
              </p:cNvSpPr>
              <p:nvPr>
                <p:ph idx="1"/>
              </p:nvPr>
            </p:nvSpPr>
            <p:spPr>
              <a:blipFill>
                <a:blip r:embed="rId2"/>
                <a:stretch>
                  <a:fillRect l="-1043" t="-32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58842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8591-D095-5E47-A86C-DA229AACDE7F}"/>
              </a:ext>
            </a:extLst>
          </p:cNvPr>
          <p:cNvSpPr>
            <a:spLocks noGrp="1"/>
          </p:cNvSpPr>
          <p:nvPr>
            <p:ph type="title"/>
          </p:nvPr>
        </p:nvSpPr>
        <p:spPr>
          <a:xfrm>
            <a:off x="838200" y="852656"/>
            <a:ext cx="10515600" cy="1325563"/>
          </a:xfrm>
        </p:spPr>
        <p:txBody>
          <a:bodyPr>
            <a:normAutofit/>
          </a:bodyPr>
          <a:lstStyle/>
          <a:p>
            <a:pPr algn="ctr"/>
            <a:r>
              <a:rPr lang="en-US" sz="3600" b="1" dirty="0"/>
              <a:t>Three problems that can be solved by using the separation bar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999A1D-DCF8-F444-ADF2-91899EBA81E6}"/>
                  </a:ext>
                </a:extLst>
              </p:cNvPr>
              <p:cNvSpPr>
                <a:spLocks noGrp="1"/>
              </p:cNvSpPr>
              <p:nvPr>
                <p:ph idx="1"/>
              </p:nvPr>
            </p:nvSpPr>
            <p:spPr>
              <a:xfrm>
                <a:off x="1043683" y="2406214"/>
                <a:ext cx="10515600" cy="3599130"/>
              </a:xfrm>
            </p:spPr>
            <p:txBody>
              <a:bodyPr>
                <a:normAutofit fontScale="77500" lnSpcReduction="20000"/>
              </a:bodyPr>
              <a:lstStyle/>
              <a:p>
                <a:r>
                  <a:rPr lang="en-US" dirty="0"/>
                  <a:t>Select r objects from n kinds, repetition allowed</a:t>
                </a:r>
              </a:p>
              <a:p>
                <a:r>
                  <a:rPr lang="en-US" dirty="0"/>
                  <a:t>Distribute r identical objects to n different destinations (e.g. box)</a:t>
                </a:r>
              </a:p>
              <a:p>
                <a:r>
                  <a:rPr lang="en-US" dirty="0"/>
                  <a:t>Number of non-negative integer solutions to equation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oMath>
                  </m:oMathPara>
                </a14:m>
                <a:endParaRPr lang="en-US" dirty="0"/>
              </a:p>
              <a:p>
                <a:r>
                  <a:rPr lang="en-US" dirty="0"/>
                  <a:t>It is equivalent to arrange r symbols (x’s) and n-1 separation bars: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𝑟</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𝑟</m:t>
                          </m:r>
                        </m:e>
                      </m:d>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endParaRPr lang="en-US" dirty="0"/>
              </a:p>
            </p:txBody>
          </p:sp>
        </mc:Choice>
        <mc:Fallback xmlns="">
          <p:sp>
            <p:nvSpPr>
              <p:cNvPr id="3" name="Content Placeholder 2">
                <a:extLst>
                  <a:ext uri="{FF2B5EF4-FFF2-40B4-BE49-F238E27FC236}">
                    <a16:creationId xmlns:a16="http://schemas.microsoft.com/office/drawing/2014/main" id="{36999A1D-DCF8-F444-ADF2-91899EBA81E6}"/>
                  </a:ext>
                </a:extLst>
              </p:cNvPr>
              <p:cNvSpPr>
                <a:spLocks noGrp="1" noRot="1" noChangeAspect="1" noMove="1" noResize="1" noEditPoints="1" noAdjustHandles="1" noChangeArrowheads="1" noChangeShapeType="1" noTextEdit="1"/>
              </p:cNvSpPr>
              <p:nvPr>
                <p:ph idx="1"/>
              </p:nvPr>
            </p:nvSpPr>
            <p:spPr>
              <a:xfrm>
                <a:off x="1043683" y="2406214"/>
                <a:ext cx="10515600" cy="3599130"/>
              </a:xfrm>
              <a:blipFill>
                <a:blip r:embed="rId2"/>
                <a:stretch>
                  <a:fillRect l="-603" t="-3158"/>
                </a:stretch>
              </a:blipFill>
            </p:spPr>
            <p:txBody>
              <a:bodyPr/>
              <a:lstStyle/>
              <a:p>
                <a:r>
                  <a:rPr lang="en-US">
                    <a:noFill/>
                  </a:rPr>
                  <a:t> </a:t>
                </a:r>
              </a:p>
            </p:txBody>
          </p:sp>
        </mc:Fallback>
      </mc:AlternateContent>
    </p:spTree>
    <p:extLst>
      <p:ext uri="{BB962C8B-B14F-4D97-AF65-F5344CB8AC3E}">
        <p14:creationId xmlns:p14="http://schemas.microsoft.com/office/powerpoint/2010/main" val="2550926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a:extLst>
              <a:ext uri="{FF2B5EF4-FFF2-40B4-BE49-F238E27FC236}">
                <a16:creationId xmlns:a16="http://schemas.microsoft.com/office/drawing/2014/main" id="{A501216B-9C7B-924B-8BCA-151C718901CF}"/>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Class Problem 1 </a:t>
            </a:r>
          </a:p>
        </p:txBody>
      </p:sp>
      <p:sp>
        <p:nvSpPr>
          <p:cNvPr id="33797" name="Text Box 3">
            <a:extLst>
              <a:ext uri="{FF2B5EF4-FFF2-40B4-BE49-F238E27FC236}">
                <a16:creationId xmlns:a16="http://schemas.microsoft.com/office/drawing/2014/main" id="{19E3306A-F210-7644-90D5-318EC936B9A4}"/>
              </a:ext>
            </a:extLst>
          </p:cNvPr>
          <p:cNvSpPr txBox="1">
            <a:spLocks noChangeArrowheads="1"/>
          </p:cNvSpPr>
          <p:nvPr/>
        </p:nvSpPr>
        <p:spPr bwMode="auto">
          <a:xfrm>
            <a:off x="2209800" y="1752601"/>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     How many ways are there to distribute 20 (identical) sticks of red licorice and 15 (identical) sticks of black licorice among five children?</a:t>
            </a:r>
          </a:p>
        </p:txBody>
      </p:sp>
      <p:grpSp>
        <p:nvGrpSpPr>
          <p:cNvPr id="33798" name="Group 4">
            <a:extLst>
              <a:ext uri="{FF2B5EF4-FFF2-40B4-BE49-F238E27FC236}">
                <a16:creationId xmlns:a16="http://schemas.microsoft.com/office/drawing/2014/main" id="{693921F3-099E-8041-8640-DCB10D35C575}"/>
              </a:ext>
            </a:extLst>
          </p:cNvPr>
          <p:cNvGrpSpPr>
            <a:grpSpLocks/>
          </p:cNvGrpSpPr>
          <p:nvPr/>
        </p:nvGrpSpPr>
        <p:grpSpPr bwMode="auto">
          <a:xfrm>
            <a:off x="2759075" y="3290888"/>
            <a:ext cx="6858000" cy="2743200"/>
            <a:chOff x="864" y="2256"/>
            <a:chExt cx="4320" cy="1728"/>
          </a:xfrm>
        </p:grpSpPr>
        <p:grpSp>
          <p:nvGrpSpPr>
            <p:cNvPr id="33799" name="Group 5">
              <a:extLst>
                <a:ext uri="{FF2B5EF4-FFF2-40B4-BE49-F238E27FC236}">
                  <a16:creationId xmlns:a16="http://schemas.microsoft.com/office/drawing/2014/main" id="{E5BCA8E1-8498-D24A-B29B-C82AEEF76D06}"/>
                </a:ext>
              </a:extLst>
            </p:cNvPr>
            <p:cNvGrpSpPr>
              <a:grpSpLocks/>
            </p:cNvGrpSpPr>
            <p:nvPr/>
          </p:nvGrpSpPr>
          <p:grpSpPr bwMode="auto">
            <a:xfrm>
              <a:off x="912" y="2592"/>
              <a:ext cx="4272" cy="1392"/>
              <a:chOff x="912" y="2016"/>
              <a:chExt cx="4272" cy="1392"/>
            </a:xfrm>
          </p:grpSpPr>
          <p:sp>
            <p:nvSpPr>
              <p:cNvPr id="33802" name="Text Box 6">
                <a:extLst>
                  <a:ext uri="{FF2B5EF4-FFF2-40B4-BE49-F238E27FC236}">
                    <a16:creationId xmlns:a16="http://schemas.microsoft.com/office/drawing/2014/main" id="{11B3A69B-5923-E940-A403-68D78BC9DA11}"/>
                  </a:ext>
                </a:extLst>
              </p:cNvPr>
              <p:cNvSpPr txBox="1">
                <a:spLocks noChangeArrowheads="1"/>
              </p:cNvSpPr>
              <p:nvPr/>
            </p:nvSpPr>
            <p:spPr bwMode="auto">
              <a:xfrm>
                <a:off x="2544" y="201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distinct objects</a:t>
                </a:r>
              </a:p>
            </p:txBody>
          </p:sp>
          <p:sp>
            <p:nvSpPr>
              <p:cNvPr id="33803" name="Text Box 7">
                <a:extLst>
                  <a:ext uri="{FF2B5EF4-FFF2-40B4-BE49-F238E27FC236}">
                    <a16:creationId xmlns:a16="http://schemas.microsoft.com/office/drawing/2014/main" id="{55EB5740-B2F6-374B-B797-D6F35EDC0141}"/>
                  </a:ext>
                </a:extLst>
              </p:cNvPr>
              <p:cNvSpPr txBox="1">
                <a:spLocks noChangeArrowheads="1"/>
              </p:cNvSpPr>
              <p:nvPr/>
            </p:nvSpPr>
            <p:spPr bwMode="auto">
              <a:xfrm>
                <a:off x="3840" y="2016"/>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identical objects</a:t>
                </a:r>
              </a:p>
            </p:txBody>
          </p:sp>
          <p:sp>
            <p:nvSpPr>
              <p:cNvPr id="33804" name="Line 8">
                <a:extLst>
                  <a:ext uri="{FF2B5EF4-FFF2-40B4-BE49-F238E27FC236}">
                    <a16:creationId xmlns:a16="http://schemas.microsoft.com/office/drawing/2014/main" id="{98E229D9-2273-5A41-ADC1-86972587071E}"/>
                  </a:ext>
                </a:extLst>
              </p:cNvPr>
              <p:cNvSpPr>
                <a:spLocks noChangeShapeType="1"/>
              </p:cNvSpPr>
              <p:nvPr/>
            </p:nvSpPr>
            <p:spPr bwMode="auto">
              <a:xfrm>
                <a:off x="912" y="2496"/>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3805" name="Line 9">
                <a:extLst>
                  <a:ext uri="{FF2B5EF4-FFF2-40B4-BE49-F238E27FC236}">
                    <a16:creationId xmlns:a16="http://schemas.microsoft.com/office/drawing/2014/main" id="{0F559858-3122-3D43-B5BD-F7C7C80F5C43}"/>
                  </a:ext>
                </a:extLst>
              </p:cNvPr>
              <p:cNvSpPr>
                <a:spLocks noChangeShapeType="1"/>
              </p:cNvSpPr>
              <p:nvPr/>
            </p:nvSpPr>
            <p:spPr bwMode="auto">
              <a:xfrm>
                <a:off x="3744" y="2016"/>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3806" name="Text Box 10">
                <a:extLst>
                  <a:ext uri="{FF2B5EF4-FFF2-40B4-BE49-F238E27FC236}">
                    <a16:creationId xmlns:a16="http://schemas.microsoft.com/office/drawing/2014/main" id="{97E23C45-443F-744B-87AD-A281364B5C01}"/>
                  </a:ext>
                </a:extLst>
              </p:cNvPr>
              <p:cNvSpPr txBox="1">
                <a:spLocks noChangeArrowheads="1"/>
              </p:cNvSpPr>
              <p:nvPr/>
            </p:nvSpPr>
            <p:spPr bwMode="auto">
              <a:xfrm>
                <a:off x="960" y="2592"/>
                <a:ext cx="4224"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No repetition                            </a:t>
                </a:r>
                <a:r>
                  <a:rPr lang="en-US" altLang="en-US" sz="1800" b="1" i="1"/>
                  <a:t>P</a:t>
                </a:r>
                <a:r>
                  <a:rPr lang="en-US" altLang="en-US" sz="1800" b="1"/>
                  <a:t>(</a:t>
                </a:r>
                <a:r>
                  <a:rPr lang="en-US" altLang="en-US" sz="1800" b="1" i="1"/>
                  <a:t>n,r</a:t>
                </a:r>
                <a:r>
                  <a:rPr lang="en-US" altLang="en-US" sz="1800" b="1"/>
                  <a:t>)                    </a:t>
                </a:r>
                <a:r>
                  <a:rPr lang="en-US" altLang="en-US" sz="1800" b="1" i="1"/>
                  <a:t>C</a:t>
                </a:r>
                <a:r>
                  <a:rPr lang="en-US" altLang="en-US" sz="1800" b="1"/>
                  <a:t>(</a:t>
                </a:r>
                <a:r>
                  <a:rPr lang="en-US" altLang="en-US" sz="1800" b="1" i="1"/>
                  <a:t>n,r</a:t>
                </a:r>
                <a:r>
                  <a:rPr lang="en-US" altLang="en-US" sz="1800" b="1"/>
                  <a:t>)</a:t>
                </a:r>
              </a:p>
              <a:p>
                <a:pPr eaLnBrk="1" hangingPunct="1">
                  <a:spcBef>
                    <a:spcPct val="50000"/>
                  </a:spcBef>
                </a:pPr>
                <a:r>
                  <a:rPr lang="en-US" altLang="en-US" sz="1800"/>
                  <a:t>Unlimited Repetition                 </a:t>
                </a:r>
                <a:r>
                  <a:rPr lang="en-US" altLang="en-US" sz="1800" b="1" i="1"/>
                  <a:t>n </a:t>
                </a:r>
                <a:r>
                  <a:rPr lang="en-US" altLang="en-US" sz="1800" b="1" i="1" baseline="30000"/>
                  <a:t>r </a:t>
                </a:r>
                <a:r>
                  <a:rPr lang="en-US" altLang="en-US" sz="1800" b="1" i="1"/>
                  <a:t>                       C(r+n-</a:t>
                </a:r>
                <a:r>
                  <a:rPr lang="en-US" altLang="en-US" sz="1800" b="1"/>
                  <a:t>1</a:t>
                </a:r>
                <a:r>
                  <a:rPr lang="en-US" altLang="en-US" sz="1800" b="1" i="1"/>
                  <a:t>, r)</a:t>
                </a:r>
              </a:p>
              <a:p>
                <a:pPr eaLnBrk="1" hangingPunct="1">
                  <a:spcBef>
                    <a:spcPct val="50000"/>
                  </a:spcBef>
                </a:pPr>
                <a:r>
                  <a:rPr lang="en-US" altLang="en-US" sz="1800"/>
                  <a:t>Restricted Repetition           </a:t>
                </a:r>
                <a:r>
                  <a:rPr lang="en-US" altLang="en-US" sz="1800" b="1" i="1"/>
                  <a:t>P</a:t>
                </a:r>
                <a:r>
                  <a:rPr lang="en-US" altLang="en-US" sz="1800" b="1"/>
                  <a:t>(</a:t>
                </a:r>
                <a:r>
                  <a:rPr lang="en-US" altLang="en-US" sz="1800" b="1" i="1"/>
                  <a:t>r</a:t>
                </a:r>
                <a:r>
                  <a:rPr lang="en-US" altLang="en-US" sz="1800" b="1"/>
                  <a:t>; </a:t>
                </a:r>
                <a:r>
                  <a:rPr lang="en-US" altLang="en-US" sz="1800" b="1" i="1"/>
                  <a:t>r</a:t>
                </a:r>
                <a:r>
                  <a:rPr lang="en-US" altLang="en-US" sz="1800" b="1" baseline="-25000"/>
                  <a:t>1</a:t>
                </a:r>
                <a:r>
                  <a:rPr lang="en-US" altLang="en-US" sz="1800" b="1"/>
                  <a:t>, </a:t>
                </a:r>
                <a:r>
                  <a:rPr lang="en-US" altLang="en-US" sz="1800" b="1" i="1"/>
                  <a:t>r</a:t>
                </a:r>
                <a:r>
                  <a:rPr lang="en-US" altLang="en-US" sz="1800" b="1" baseline="-25000"/>
                  <a:t>2</a:t>
                </a:r>
                <a:r>
                  <a:rPr lang="en-US" altLang="en-US" sz="1800" b="1"/>
                  <a:t>, …, </a:t>
                </a:r>
                <a:r>
                  <a:rPr lang="en-US" altLang="en-US" sz="1800" b="1" i="1"/>
                  <a:t>r</a:t>
                </a:r>
                <a:r>
                  <a:rPr lang="en-US" altLang="en-US" sz="1800" b="1" baseline="-25000"/>
                  <a:t>n</a:t>
                </a:r>
                <a:r>
                  <a:rPr lang="en-US" altLang="en-US" sz="1800" b="1"/>
                  <a:t>)</a:t>
                </a:r>
                <a:r>
                  <a:rPr lang="en-US" altLang="en-US" sz="1800"/>
                  <a:t>       -----</a:t>
                </a:r>
              </a:p>
            </p:txBody>
          </p:sp>
        </p:grpSp>
        <p:sp>
          <p:nvSpPr>
            <p:cNvPr id="33800" name="Rectangle 11">
              <a:extLst>
                <a:ext uri="{FF2B5EF4-FFF2-40B4-BE49-F238E27FC236}">
                  <a16:creationId xmlns:a16="http://schemas.microsoft.com/office/drawing/2014/main" id="{AFF7CD9D-17A7-F947-A26A-C7F25F926B92}"/>
                </a:ext>
              </a:extLst>
            </p:cNvPr>
            <p:cNvSpPr>
              <a:spLocks noChangeArrowheads="1"/>
            </p:cNvSpPr>
            <p:nvPr/>
          </p:nvSpPr>
          <p:spPr bwMode="auto">
            <a:xfrm>
              <a:off x="3840" y="3408"/>
              <a:ext cx="960" cy="240"/>
            </a:xfrm>
            <a:prstGeom prst="rect">
              <a:avLst/>
            </a:prstGeom>
            <a:noFill/>
            <a:ln w="28575">
              <a:solidFill>
                <a:srgbClr val="C6180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3801" name="Text Box 12">
              <a:extLst>
                <a:ext uri="{FF2B5EF4-FFF2-40B4-BE49-F238E27FC236}">
                  <a16:creationId xmlns:a16="http://schemas.microsoft.com/office/drawing/2014/main" id="{2E648575-B67F-D94D-99C6-110B20F25542}"/>
                </a:ext>
              </a:extLst>
            </p:cNvPr>
            <p:cNvSpPr txBox="1">
              <a:spLocks noChangeArrowheads="1"/>
            </p:cNvSpPr>
            <p:nvPr/>
          </p:nvSpPr>
          <p:spPr bwMode="auto">
            <a:xfrm>
              <a:off x="864" y="2256"/>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rgbClr val="C61806"/>
                  </a:solidFill>
                </a:rPr>
                <a:t>Hint:</a:t>
              </a:r>
            </a:p>
          </p:txBody>
        </p:sp>
      </p:grpSp>
    </p:spTree>
    <p:extLst>
      <p:ext uri="{BB962C8B-B14F-4D97-AF65-F5344CB8AC3E}">
        <p14:creationId xmlns:p14="http://schemas.microsoft.com/office/powerpoint/2010/main" val="1562847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a:extLst>
              <a:ext uri="{FF2B5EF4-FFF2-40B4-BE49-F238E27FC236}">
                <a16:creationId xmlns:a16="http://schemas.microsoft.com/office/drawing/2014/main" id="{FC99385F-1D2C-2947-A7D5-3B3966B99A25}"/>
              </a:ext>
            </a:extLst>
          </p:cNvPr>
          <p:cNvSpPr>
            <a:spLocks noGrp="1" noChangeArrowheads="1"/>
          </p:cNvSpPr>
          <p:nvPr>
            <p:ph type="title"/>
          </p:nvPr>
        </p:nvSpPr>
        <p:spPr>
          <a:xfrm>
            <a:off x="2135188" y="196850"/>
            <a:ext cx="7772400" cy="1143000"/>
          </a:xfrm>
        </p:spPr>
        <p:txBody>
          <a:bodyPr/>
          <a:lstStyle/>
          <a:p>
            <a:pPr eaLnBrk="1" hangingPunct="1"/>
            <a:r>
              <a:rPr lang="en-US" altLang="en-US">
                <a:ea typeface="ＭＳ Ｐゴシック" panose="020B0600070205080204" pitchFamily="34" charset="-128"/>
              </a:rPr>
              <a:t>Solution</a:t>
            </a:r>
          </a:p>
        </p:txBody>
      </p:sp>
      <p:sp>
        <p:nvSpPr>
          <p:cNvPr id="93187" name="Text Box 3">
            <a:extLst>
              <a:ext uri="{FF2B5EF4-FFF2-40B4-BE49-F238E27FC236}">
                <a16:creationId xmlns:a16="http://schemas.microsoft.com/office/drawing/2014/main" id="{6677780A-F788-BB4E-9ED1-817FA448E490}"/>
              </a:ext>
            </a:extLst>
          </p:cNvPr>
          <p:cNvSpPr txBox="1">
            <a:spLocks noChangeArrowheads="1"/>
          </p:cNvSpPr>
          <p:nvPr/>
        </p:nvSpPr>
        <p:spPr bwMode="auto">
          <a:xfrm>
            <a:off x="2012950" y="10191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First distribute the red sticks among the 5 children:</a:t>
            </a:r>
          </a:p>
        </p:txBody>
      </p:sp>
      <p:sp>
        <p:nvSpPr>
          <p:cNvPr id="34822" name="Text Box 6">
            <a:extLst>
              <a:ext uri="{FF2B5EF4-FFF2-40B4-BE49-F238E27FC236}">
                <a16:creationId xmlns:a16="http://schemas.microsoft.com/office/drawing/2014/main" id="{3002BB60-691A-2F41-90DF-24AA1BEAE04B}"/>
              </a:ext>
            </a:extLst>
          </p:cNvPr>
          <p:cNvSpPr txBox="1">
            <a:spLocks noChangeArrowheads="1"/>
          </p:cNvSpPr>
          <p:nvPr/>
        </p:nvSpPr>
        <p:spPr bwMode="auto">
          <a:xfrm>
            <a:off x="6096000" y="5181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p:grpSp>
        <p:nvGrpSpPr>
          <p:cNvPr id="2" name="Group 63">
            <a:extLst>
              <a:ext uri="{FF2B5EF4-FFF2-40B4-BE49-F238E27FC236}">
                <a16:creationId xmlns:a16="http://schemas.microsoft.com/office/drawing/2014/main" id="{650D97D8-4CA7-2549-94B3-D5055A287233}"/>
              </a:ext>
            </a:extLst>
          </p:cNvPr>
          <p:cNvGrpSpPr>
            <a:grpSpLocks/>
          </p:cNvGrpSpPr>
          <p:nvPr/>
        </p:nvGrpSpPr>
        <p:grpSpPr bwMode="auto">
          <a:xfrm>
            <a:off x="2198688" y="1431925"/>
            <a:ext cx="5078412" cy="1646238"/>
            <a:chOff x="425" y="902"/>
            <a:chExt cx="3199" cy="1037"/>
          </a:xfrm>
        </p:grpSpPr>
        <p:grpSp>
          <p:nvGrpSpPr>
            <p:cNvPr id="34824" name="Group 32">
              <a:extLst>
                <a:ext uri="{FF2B5EF4-FFF2-40B4-BE49-F238E27FC236}">
                  <a16:creationId xmlns:a16="http://schemas.microsoft.com/office/drawing/2014/main" id="{419A7A1B-6633-D349-99F7-E9C33A281B05}"/>
                </a:ext>
              </a:extLst>
            </p:cNvPr>
            <p:cNvGrpSpPr>
              <a:grpSpLocks/>
            </p:cNvGrpSpPr>
            <p:nvPr/>
          </p:nvGrpSpPr>
          <p:grpSpPr bwMode="auto">
            <a:xfrm>
              <a:off x="425" y="1063"/>
              <a:ext cx="3199" cy="714"/>
              <a:chOff x="442" y="1648"/>
              <a:chExt cx="3995" cy="781"/>
            </a:xfrm>
          </p:grpSpPr>
          <p:sp>
            <p:nvSpPr>
              <p:cNvPr id="34829" name="Rectangle 8" descr="Wide upward diagonal">
                <a:extLst>
                  <a:ext uri="{FF2B5EF4-FFF2-40B4-BE49-F238E27FC236}">
                    <a16:creationId xmlns:a16="http://schemas.microsoft.com/office/drawing/2014/main" id="{24010EB9-D117-D84B-A375-3E9D456244F5}"/>
                  </a:ext>
                </a:extLst>
              </p:cNvPr>
              <p:cNvSpPr>
                <a:spLocks noChangeArrowheads="1"/>
              </p:cNvSpPr>
              <p:nvPr/>
            </p:nvSpPr>
            <p:spPr bwMode="auto">
              <a:xfrm>
                <a:off x="442"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0" name="Rectangle 10" descr="Wide upward diagonal">
                <a:extLst>
                  <a:ext uri="{FF2B5EF4-FFF2-40B4-BE49-F238E27FC236}">
                    <a16:creationId xmlns:a16="http://schemas.microsoft.com/office/drawing/2014/main" id="{C261298C-2FBB-7442-9224-E622DB238A5B}"/>
                  </a:ext>
                </a:extLst>
              </p:cNvPr>
              <p:cNvSpPr>
                <a:spLocks noChangeArrowheads="1"/>
              </p:cNvSpPr>
              <p:nvPr/>
            </p:nvSpPr>
            <p:spPr bwMode="auto">
              <a:xfrm>
                <a:off x="654"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1" name="Rectangle 11" descr="Wide upward diagonal">
                <a:extLst>
                  <a:ext uri="{FF2B5EF4-FFF2-40B4-BE49-F238E27FC236}">
                    <a16:creationId xmlns:a16="http://schemas.microsoft.com/office/drawing/2014/main" id="{CCC50D6F-445D-1C42-B797-4B7B1C7DBADE}"/>
                  </a:ext>
                </a:extLst>
              </p:cNvPr>
              <p:cNvSpPr>
                <a:spLocks noChangeArrowheads="1"/>
              </p:cNvSpPr>
              <p:nvPr/>
            </p:nvSpPr>
            <p:spPr bwMode="auto">
              <a:xfrm>
                <a:off x="855"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2" name="Rectangle 12" descr="Wide upward diagonal">
                <a:extLst>
                  <a:ext uri="{FF2B5EF4-FFF2-40B4-BE49-F238E27FC236}">
                    <a16:creationId xmlns:a16="http://schemas.microsoft.com/office/drawing/2014/main" id="{FEABD055-0EFB-BB48-A9F2-6D4C4920476A}"/>
                  </a:ext>
                </a:extLst>
              </p:cNvPr>
              <p:cNvSpPr>
                <a:spLocks noChangeArrowheads="1"/>
              </p:cNvSpPr>
              <p:nvPr/>
            </p:nvSpPr>
            <p:spPr bwMode="auto">
              <a:xfrm>
                <a:off x="1067"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3" name="Rectangle 15" descr="Wide upward diagonal">
                <a:extLst>
                  <a:ext uri="{FF2B5EF4-FFF2-40B4-BE49-F238E27FC236}">
                    <a16:creationId xmlns:a16="http://schemas.microsoft.com/office/drawing/2014/main" id="{82FC3ABA-67E8-2B4A-898E-BA3671482750}"/>
                  </a:ext>
                </a:extLst>
              </p:cNvPr>
              <p:cNvSpPr>
                <a:spLocks noChangeArrowheads="1"/>
              </p:cNvSpPr>
              <p:nvPr/>
            </p:nvSpPr>
            <p:spPr bwMode="auto">
              <a:xfrm>
                <a:off x="1258"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4" name="Rectangle 16" descr="Wide upward diagonal">
                <a:extLst>
                  <a:ext uri="{FF2B5EF4-FFF2-40B4-BE49-F238E27FC236}">
                    <a16:creationId xmlns:a16="http://schemas.microsoft.com/office/drawing/2014/main" id="{D609B20B-8AD7-B945-AD83-EC2B30B9F0B1}"/>
                  </a:ext>
                </a:extLst>
              </p:cNvPr>
              <p:cNvSpPr>
                <a:spLocks noChangeArrowheads="1"/>
              </p:cNvSpPr>
              <p:nvPr/>
            </p:nvSpPr>
            <p:spPr bwMode="auto">
              <a:xfrm>
                <a:off x="1460"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5" name="Rectangle 17" descr="Wide upward diagonal">
                <a:extLst>
                  <a:ext uri="{FF2B5EF4-FFF2-40B4-BE49-F238E27FC236}">
                    <a16:creationId xmlns:a16="http://schemas.microsoft.com/office/drawing/2014/main" id="{62F91DD8-F252-FF4D-97CB-E1A30ED24DD5}"/>
                  </a:ext>
                </a:extLst>
              </p:cNvPr>
              <p:cNvSpPr>
                <a:spLocks noChangeArrowheads="1"/>
              </p:cNvSpPr>
              <p:nvPr/>
            </p:nvSpPr>
            <p:spPr bwMode="auto">
              <a:xfrm>
                <a:off x="1661"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6" name="Rectangle 18" descr="Wide upward diagonal">
                <a:extLst>
                  <a:ext uri="{FF2B5EF4-FFF2-40B4-BE49-F238E27FC236}">
                    <a16:creationId xmlns:a16="http://schemas.microsoft.com/office/drawing/2014/main" id="{ED298B83-C582-334F-A515-8EA65123E660}"/>
                  </a:ext>
                </a:extLst>
              </p:cNvPr>
              <p:cNvSpPr>
                <a:spLocks noChangeArrowheads="1"/>
              </p:cNvSpPr>
              <p:nvPr/>
            </p:nvSpPr>
            <p:spPr bwMode="auto">
              <a:xfrm>
                <a:off x="187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7" name="Rectangle 19" descr="Wide upward diagonal">
                <a:extLst>
                  <a:ext uri="{FF2B5EF4-FFF2-40B4-BE49-F238E27FC236}">
                    <a16:creationId xmlns:a16="http://schemas.microsoft.com/office/drawing/2014/main" id="{257338DE-C2BE-314B-B5D7-4AA34907AFEE}"/>
                  </a:ext>
                </a:extLst>
              </p:cNvPr>
              <p:cNvSpPr>
                <a:spLocks noChangeArrowheads="1"/>
              </p:cNvSpPr>
              <p:nvPr/>
            </p:nvSpPr>
            <p:spPr bwMode="auto">
              <a:xfrm>
                <a:off x="3707" y="1649"/>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8" name="Rectangle 20" descr="Wide upward diagonal">
                <a:extLst>
                  <a:ext uri="{FF2B5EF4-FFF2-40B4-BE49-F238E27FC236}">
                    <a16:creationId xmlns:a16="http://schemas.microsoft.com/office/drawing/2014/main" id="{872D14C2-342E-174B-A636-5DE4AC6AE11A}"/>
                  </a:ext>
                </a:extLst>
              </p:cNvPr>
              <p:cNvSpPr>
                <a:spLocks noChangeArrowheads="1"/>
              </p:cNvSpPr>
              <p:nvPr/>
            </p:nvSpPr>
            <p:spPr bwMode="auto">
              <a:xfrm>
                <a:off x="390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39" name="Rectangle 21" descr="Wide upward diagonal">
                <a:extLst>
                  <a:ext uri="{FF2B5EF4-FFF2-40B4-BE49-F238E27FC236}">
                    <a16:creationId xmlns:a16="http://schemas.microsoft.com/office/drawing/2014/main" id="{2824DE3A-5141-2D43-B37C-8849E43EE034}"/>
                  </a:ext>
                </a:extLst>
              </p:cNvPr>
              <p:cNvSpPr>
                <a:spLocks noChangeArrowheads="1"/>
              </p:cNvSpPr>
              <p:nvPr/>
            </p:nvSpPr>
            <p:spPr bwMode="auto">
              <a:xfrm>
                <a:off x="411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0" name="Rectangle 22" descr="Wide upward diagonal">
                <a:extLst>
                  <a:ext uri="{FF2B5EF4-FFF2-40B4-BE49-F238E27FC236}">
                    <a16:creationId xmlns:a16="http://schemas.microsoft.com/office/drawing/2014/main" id="{36ED174E-0685-7E4A-BACB-D087B0D8A05F}"/>
                  </a:ext>
                </a:extLst>
              </p:cNvPr>
              <p:cNvSpPr>
                <a:spLocks noChangeArrowheads="1"/>
              </p:cNvSpPr>
              <p:nvPr/>
            </p:nvSpPr>
            <p:spPr bwMode="auto">
              <a:xfrm>
                <a:off x="431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1" name="Rectangle 23" descr="Wide upward diagonal">
                <a:extLst>
                  <a:ext uri="{FF2B5EF4-FFF2-40B4-BE49-F238E27FC236}">
                    <a16:creationId xmlns:a16="http://schemas.microsoft.com/office/drawing/2014/main" id="{D0F550F5-B511-7542-9A8D-864EED38DF43}"/>
                  </a:ext>
                </a:extLst>
              </p:cNvPr>
              <p:cNvSpPr>
                <a:spLocks noChangeArrowheads="1"/>
              </p:cNvSpPr>
              <p:nvPr/>
            </p:nvSpPr>
            <p:spPr bwMode="auto">
              <a:xfrm>
                <a:off x="2074"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2" name="Rectangle 24" descr="Wide upward diagonal">
                <a:extLst>
                  <a:ext uri="{FF2B5EF4-FFF2-40B4-BE49-F238E27FC236}">
                    <a16:creationId xmlns:a16="http://schemas.microsoft.com/office/drawing/2014/main" id="{100B6773-A748-564E-83B2-3F1688426030}"/>
                  </a:ext>
                </a:extLst>
              </p:cNvPr>
              <p:cNvSpPr>
                <a:spLocks noChangeArrowheads="1"/>
              </p:cNvSpPr>
              <p:nvPr/>
            </p:nvSpPr>
            <p:spPr bwMode="auto">
              <a:xfrm>
                <a:off x="2286"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3" name="Rectangle 25" descr="Wide upward diagonal">
                <a:extLst>
                  <a:ext uri="{FF2B5EF4-FFF2-40B4-BE49-F238E27FC236}">
                    <a16:creationId xmlns:a16="http://schemas.microsoft.com/office/drawing/2014/main" id="{58C9C3CC-554B-7044-A1B0-FBBFC933B96B}"/>
                  </a:ext>
                </a:extLst>
              </p:cNvPr>
              <p:cNvSpPr>
                <a:spLocks noChangeArrowheads="1"/>
              </p:cNvSpPr>
              <p:nvPr/>
            </p:nvSpPr>
            <p:spPr bwMode="auto">
              <a:xfrm>
                <a:off x="2487"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4" name="Rectangle 26" descr="Wide upward diagonal">
                <a:extLst>
                  <a:ext uri="{FF2B5EF4-FFF2-40B4-BE49-F238E27FC236}">
                    <a16:creationId xmlns:a16="http://schemas.microsoft.com/office/drawing/2014/main" id="{F865D42F-7785-0640-8C63-CC26AE8436B3}"/>
                  </a:ext>
                </a:extLst>
              </p:cNvPr>
              <p:cNvSpPr>
                <a:spLocks noChangeArrowheads="1"/>
              </p:cNvSpPr>
              <p:nvPr/>
            </p:nvSpPr>
            <p:spPr bwMode="auto">
              <a:xfrm>
                <a:off x="2699"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5" name="Rectangle 27" descr="Wide upward diagonal">
                <a:extLst>
                  <a:ext uri="{FF2B5EF4-FFF2-40B4-BE49-F238E27FC236}">
                    <a16:creationId xmlns:a16="http://schemas.microsoft.com/office/drawing/2014/main" id="{BCC32267-2678-2740-A86D-970768EB088A}"/>
                  </a:ext>
                </a:extLst>
              </p:cNvPr>
              <p:cNvSpPr>
                <a:spLocks noChangeArrowheads="1"/>
              </p:cNvSpPr>
              <p:nvPr/>
            </p:nvSpPr>
            <p:spPr bwMode="auto">
              <a:xfrm>
                <a:off x="2880"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6" name="Rectangle 28" descr="Wide upward diagonal">
                <a:extLst>
                  <a:ext uri="{FF2B5EF4-FFF2-40B4-BE49-F238E27FC236}">
                    <a16:creationId xmlns:a16="http://schemas.microsoft.com/office/drawing/2014/main" id="{FE9EB86D-1B16-2B4D-89FE-4875DCB4B9A8}"/>
                  </a:ext>
                </a:extLst>
              </p:cNvPr>
              <p:cNvSpPr>
                <a:spLocks noChangeArrowheads="1"/>
              </p:cNvSpPr>
              <p:nvPr/>
            </p:nvSpPr>
            <p:spPr bwMode="auto">
              <a:xfrm>
                <a:off x="3092"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7" name="Rectangle 29" descr="Wide upward diagonal">
                <a:extLst>
                  <a:ext uri="{FF2B5EF4-FFF2-40B4-BE49-F238E27FC236}">
                    <a16:creationId xmlns:a16="http://schemas.microsoft.com/office/drawing/2014/main" id="{3E25AA7A-E1F3-444E-AEB2-94B749457A83}"/>
                  </a:ext>
                </a:extLst>
              </p:cNvPr>
              <p:cNvSpPr>
                <a:spLocks noChangeArrowheads="1"/>
              </p:cNvSpPr>
              <p:nvPr/>
            </p:nvSpPr>
            <p:spPr bwMode="auto">
              <a:xfrm>
                <a:off x="3293"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4848" name="Rectangle 30" descr="Wide upward diagonal">
                <a:extLst>
                  <a:ext uri="{FF2B5EF4-FFF2-40B4-BE49-F238E27FC236}">
                    <a16:creationId xmlns:a16="http://schemas.microsoft.com/office/drawing/2014/main" id="{C268BD41-1AF6-F343-B33A-393526B240EF}"/>
                  </a:ext>
                </a:extLst>
              </p:cNvPr>
              <p:cNvSpPr>
                <a:spLocks noChangeArrowheads="1"/>
              </p:cNvSpPr>
              <p:nvPr/>
            </p:nvSpPr>
            <p:spPr bwMode="auto">
              <a:xfrm>
                <a:off x="3505"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4825" name="Line 33">
              <a:extLst>
                <a:ext uri="{FF2B5EF4-FFF2-40B4-BE49-F238E27FC236}">
                  <a16:creationId xmlns:a16="http://schemas.microsoft.com/office/drawing/2014/main" id="{968AAF71-7161-9342-B7BC-537F5A7413A2}"/>
                </a:ext>
              </a:extLst>
            </p:cNvPr>
            <p:cNvSpPr>
              <a:spLocks noChangeShapeType="1"/>
            </p:cNvSpPr>
            <p:nvPr/>
          </p:nvSpPr>
          <p:spPr bwMode="auto">
            <a:xfrm>
              <a:off x="876" y="92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6" name="Line 34">
              <a:extLst>
                <a:ext uri="{FF2B5EF4-FFF2-40B4-BE49-F238E27FC236}">
                  <a16:creationId xmlns:a16="http://schemas.microsoft.com/office/drawing/2014/main" id="{BDCA827B-A391-2249-B17F-6ED5F68708C5}"/>
                </a:ext>
              </a:extLst>
            </p:cNvPr>
            <p:cNvSpPr>
              <a:spLocks noChangeShapeType="1"/>
            </p:cNvSpPr>
            <p:nvPr/>
          </p:nvSpPr>
          <p:spPr bwMode="auto">
            <a:xfrm>
              <a:off x="1213"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7" name="Line 35">
              <a:extLst>
                <a:ext uri="{FF2B5EF4-FFF2-40B4-BE49-F238E27FC236}">
                  <a16:creationId xmlns:a16="http://schemas.microsoft.com/office/drawing/2014/main" id="{A935F09A-668E-5245-B21B-83D15C514005}"/>
                </a:ext>
              </a:extLst>
            </p:cNvPr>
            <p:cNvSpPr>
              <a:spLocks noChangeShapeType="1"/>
            </p:cNvSpPr>
            <p:nvPr/>
          </p:nvSpPr>
          <p:spPr bwMode="auto">
            <a:xfrm>
              <a:off x="2191"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8" name="Line 36">
              <a:extLst>
                <a:ext uri="{FF2B5EF4-FFF2-40B4-BE49-F238E27FC236}">
                  <a16:creationId xmlns:a16="http://schemas.microsoft.com/office/drawing/2014/main" id="{E1846082-CCA4-FA4A-B402-6341D76D89C6}"/>
                </a:ext>
              </a:extLst>
            </p:cNvPr>
            <p:cNvSpPr>
              <a:spLocks noChangeShapeType="1"/>
            </p:cNvSpPr>
            <p:nvPr/>
          </p:nvSpPr>
          <p:spPr bwMode="auto">
            <a:xfrm>
              <a:off x="2844" y="90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4257472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a:extLst>
              <a:ext uri="{FF2B5EF4-FFF2-40B4-BE49-F238E27FC236}">
                <a16:creationId xmlns:a16="http://schemas.microsoft.com/office/drawing/2014/main" id="{825B0887-D6B4-FA43-B8A6-4AEF836F7397}"/>
              </a:ext>
            </a:extLst>
          </p:cNvPr>
          <p:cNvSpPr>
            <a:spLocks noGrp="1" noChangeArrowheads="1"/>
          </p:cNvSpPr>
          <p:nvPr>
            <p:ph type="title"/>
          </p:nvPr>
        </p:nvSpPr>
        <p:spPr>
          <a:xfrm>
            <a:off x="2135188" y="196850"/>
            <a:ext cx="7772400" cy="1143000"/>
          </a:xfrm>
        </p:spPr>
        <p:txBody>
          <a:bodyPr/>
          <a:lstStyle/>
          <a:p>
            <a:pPr eaLnBrk="1" hangingPunct="1"/>
            <a:r>
              <a:rPr lang="en-US" altLang="en-US">
                <a:ea typeface="ＭＳ Ｐゴシック" panose="020B0600070205080204" pitchFamily="34" charset="-128"/>
              </a:rPr>
              <a:t>Solution</a:t>
            </a:r>
          </a:p>
        </p:txBody>
      </p:sp>
      <p:sp>
        <p:nvSpPr>
          <p:cNvPr id="93187" name="Text Box 3">
            <a:extLst>
              <a:ext uri="{FF2B5EF4-FFF2-40B4-BE49-F238E27FC236}">
                <a16:creationId xmlns:a16="http://schemas.microsoft.com/office/drawing/2014/main" id="{2CF241A8-DFC7-2A4A-B0AB-F74E64D40E54}"/>
              </a:ext>
            </a:extLst>
          </p:cNvPr>
          <p:cNvSpPr txBox="1">
            <a:spLocks noChangeArrowheads="1"/>
          </p:cNvSpPr>
          <p:nvPr/>
        </p:nvSpPr>
        <p:spPr bwMode="auto">
          <a:xfrm>
            <a:off x="2012950" y="10191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First distribute the red sticks among the 5 children:</a:t>
            </a:r>
          </a:p>
        </p:txBody>
      </p:sp>
      <p:sp>
        <p:nvSpPr>
          <p:cNvPr id="93188" name="Text Box 4">
            <a:extLst>
              <a:ext uri="{FF2B5EF4-FFF2-40B4-BE49-F238E27FC236}">
                <a16:creationId xmlns:a16="http://schemas.microsoft.com/office/drawing/2014/main" id="{08720FB0-8B0F-3B43-9BE1-1BFD75CB9579}"/>
              </a:ext>
            </a:extLst>
          </p:cNvPr>
          <p:cNvSpPr txBox="1">
            <a:spLocks noChangeArrowheads="1"/>
          </p:cNvSpPr>
          <p:nvPr/>
        </p:nvSpPr>
        <p:spPr bwMode="auto">
          <a:xfrm>
            <a:off x="7559675" y="1584326"/>
            <a:ext cx="27876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t>There are</a:t>
            </a:r>
            <a:r>
              <a:rPr lang="en-US" altLang="en-US" sz="2000" b="1" i="1"/>
              <a:t> </a:t>
            </a:r>
          </a:p>
          <a:p>
            <a:pPr eaLnBrk="1" hangingPunct="1">
              <a:spcBef>
                <a:spcPct val="50000"/>
              </a:spcBef>
            </a:pPr>
            <a:r>
              <a:rPr lang="en-US" altLang="en-US" sz="2000" b="1" i="1"/>
              <a:t>C</a:t>
            </a:r>
            <a:r>
              <a:rPr lang="en-US" altLang="en-US" sz="2000" b="1"/>
              <a:t>(20+5-1, 20) = 10,626 ways.</a:t>
            </a:r>
          </a:p>
        </p:txBody>
      </p:sp>
      <p:sp>
        <p:nvSpPr>
          <p:cNvPr id="35847" name="Text Box 6">
            <a:extLst>
              <a:ext uri="{FF2B5EF4-FFF2-40B4-BE49-F238E27FC236}">
                <a16:creationId xmlns:a16="http://schemas.microsoft.com/office/drawing/2014/main" id="{8908455D-F747-4441-9B2C-BCA128B22ADD}"/>
              </a:ext>
            </a:extLst>
          </p:cNvPr>
          <p:cNvSpPr txBox="1">
            <a:spLocks noChangeArrowheads="1"/>
          </p:cNvSpPr>
          <p:nvPr/>
        </p:nvSpPr>
        <p:spPr bwMode="auto">
          <a:xfrm>
            <a:off x="6096000" y="5181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p:grpSp>
        <p:nvGrpSpPr>
          <p:cNvPr id="2" name="Group 63">
            <a:extLst>
              <a:ext uri="{FF2B5EF4-FFF2-40B4-BE49-F238E27FC236}">
                <a16:creationId xmlns:a16="http://schemas.microsoft.com/office/drawing/2014/main" id="{CC05E522-7036-2A4B-A735-39DB5E0FEC90}"/>
              </a:ext>
            </a:extLst>
          </p:cNvPr>
          <p:cNvGrpSpPr>
            <a:grpSpLocks/>
          </p:cNvGrpSpPr>
          <p:nvPr/>
        </p:nvGrpSpPr>
        <p:grpSpPr bwMode="auto">
          <a:xfrm>
            <a:off x="2198688" y="1431925"/>
            <a:ext cx="5078412" cy="1646238"/>
            <a:chOff x="425" y="902"/>
            <a:chExt cx="3199" cy="1037"/>
          </a:xfrm>
        </p:grpSpPr>
        <p:grpSp>
          <p:nvGrpSpPr>
            <p:cNvPr id="35849" name="Group 32">
              <a:extLst>
                <a:ext uri="{FF2B5EF4-FFF2-40B4-BE49-F238E27FC236}">
                  <a16:creationId xmlns:a16="http://schemas.microsoft.com/office/drawing/2014/main" id="{7958546C-269B-F04C-90B9-66F195D6975C}"/>
                </a:ext>
              </a:extLst>
            </p:cNvPr>
            <p:cNvGrpSpPr>
              <a:grpSpLocks/>
            </p:cNvGrpSpPr>
            <p:nvPr/>
          </p:nvGrpSpPr>
          <p:grpSpPr bwMode="auto">
            <a:xfrm>
              <a:off x="425" y="1063"/>
              <a:ext cx="3199" cy="714"/>
              <a:chOff x="442" y="1648"/>
              <a:chExt cx="3995" cy="781"/>
            </a:xfrm>
          </p:grpSpPr>
          <p:sp>
            <p:nvSpPr>
              <p:cNvPr id="35854" name="Rectangle 8" descr="Wide upward diagonal">
                <a:extLst>
                  <a:ext uri="{FF2B5EF4-FFF2-40B4-BE49-F238E27FC236}">
                    <a16:creationId xmlns:a16="http://schemas.microsoft.com/office/drawing/2014/main" id="{01FE0363-5C74-8248-A42E-1C3FA9A74F7C}"/>
                  </a:ext>
                </a:extLst>
              </p:cNvPr>
              <p:cNvSpPr>
                <a:spLocks noChangeArrowheads="1"/>
              </p:cNvSpPr>
              <p:nvPr/>
            </p:nvSpPr>
            <p:spPr bwMode="auto">
              <a:xfrm>
                <a:off x="442"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55" name="Rectangle 10" descr="Wide upward diagonal">
                <a:extLst>
                  <a:ext uri="{FF2B5EF4-FFF2-40B4-BE49-F238E27FC236}">
                    <a16:creationId xmlns:a16="http://schemas.microsoft.com/office/drawing/2014/main" id="{E5506DF6-2463-AD48-8A12-AAE5614160A2}"/>
                  </a:ext>
                </a:extLst>
              </p:cNvPr>
              <p:cNvSpPr>
                <a:spLocks noChangeArrowheads="1"/>
              </p:cNvSpPr>
              <p:nvPr/>
            </p:nvSpPr>
            <p:spPr bwMode="auto">
              <a:xfrm>
                <a:off x="654"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56" name="Rectangle 11" descr="Wide upward diagonal">
                <a:extLst>
                  <a:ext uri="{FF2B5EF4-FFF2-40B4-BE49-F238E27FC236}">
                    <a16:creationId xmlns:a16="http://schemas.microsoft.com/office/drawing/2014/main" id="{C2A5ACA6-430D-5349-A24E-14ECEDD5F134}"/>
                  </a:ext>
                </a:extLst>
              </p:cNvPr>
              <p:cNvSpPr>
                <a:spLocks noChangeArrowheads="1"/>
              </p:cNvSpPr>
              <p:nvPr/>
            </p:nvSpPr>
            <p:spPr bwMode="auto">
              <a:xfrm>
                <a:off x="855"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57" name="Rectangle 12" descr="Wide upward diagonal">
                <a:extLst>
                  <a:ext uri="{FF2B5EF4-FFF2-40B4-BE49-F238E27FC236}">
                    <a16:creationId xmlns:a16="http://schemas.microsoft.com/office/drawing/2014/main" id="{8DF11F62-06FD-9146-8627-48DAB0C85622}"/>
                  </a:ext>
                </a:extLst>
              </p:cNvPr>
              <p:cNvSpPr>
                <a:spLocks noChangeArrowheads="1"/>
              </p:cNvSpPr>
              <p:nvPr/>
            </p:nvSpPr>
            <p:spPr bwMode="auto">
              <a:xfrm>
                <a:off x="1067"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58" name="Rectangle 15" descr="Wide upward diagonal">
                <a:extLst>
                  <a:ext uri="{FF2B5EF4-FFF2-40B4-BE49-F238E27FC236}">
                    <a16:creationId xmlns:a16="http://schemas.microsoft.com/office/drawing/2014/main" id="{8D646AF1-DD44-9646-BD43-5A3CE274FDBC}"/>
                  </a:ext>
                </a:extLst>
              </p:cNvPr>
              <p:cNvSpPr>
                <a:spLocks noChangeArrowheads="1"/>
              </p:cNvSpPr>
              <p:nvPr/>
            </p:nvSpPr>
            <p:spPr bwMode="auto">
              <a:xfrm>
                <a:off x="1258"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59" name="Rectangle 16" descr="Wide upward diagonal">
                <a:extLst>
                  <a:ext uri="{FF2B5EF4-FFF2-40B4-BE49-F238E27FC236}">
                    <a16:creationId xmlns:a16="http://schemas.microsoft.com/office/drawing/2014/main" id="{08EADD57-FFA7-A540-823E-FFFED1059EFF}"/>
                  </a:ext>
                </a:extLst>
              </p:cNvPr>
              <p:cNvSpPr>
                <a:spLocks noChangeArrowheads="1"/>
              </p:cNvSpPr>
              <p:nvPr/>
            </p:nvSpPr>
            <p:spPr bwMode="auto">
              <a:xfrm>
                <a:off x="1460"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0" name="Rectangle 17" descr="Wide upward diagonal">
                <a:extLst>
                  <a:ext uri="{FF2B5EF4-FFF2-40B4-BE49-F238E27FC236}">
                    <a16:creationId xmlns:a16="http://schemas.microsoft.com/office/drawing/2014/main" id="{62674002-5943-6E4A-9CAA-8C843B4BC8F3}"/>
                  </a:ext>
                </a:extLst>
              </p:cNvPr>
              <p:cNvSpPr>
                <a:spLocks noChangeArrowheads="1"/>
              </p:cNvSpPr>
              <p:nvPr/>
            </p:nvSpPr>
            <p:spPr bwMode="auto">
              <a:xfrm>
                <a:off x="1661"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1" name="Rectangle 18" descr="Wide upward diagonal">
                <a:extLst>
                  <a:ext uri="{FF2B5EF4-FFF2-40B4-BE49-F238E27FC236}">
                    <a16:creationId xmlns:a16="http://schemas.microsoft.com/office/drawing/2014/main" id="{FCF42790-629A-5C4E-A21A-43DF62E22C0E}"/>
                  </a:ext>
                </a:extLst>
              </p:cNvPr>
              <p:cNvSpPr>
                <a:spLocks noChangeArrowheads="1"/>
              </p:cNvSpPr>
              <p:nvPr/>
            </p:nvSpPr>
            <p:spPr bwMode="auto">
              <a:xfrm>
                <a:off x="187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2" name="Rectangle 19" descr="Wide upward diagonal">
                <a:extLst>
                  <a:ext uri="{FF2B5EF4-FFF2-40B4-BE49-F238E27FC236}">
                    <a16:creationId xmlns:a16="http://schemas.microsoft.com/office/drawing/2014/main" id="{5AF80AF5-4E68-8449-9942-07C31B17DE5C}"/>
                  </a:ext>
                </a:extLst>
              </p:cNvPr>
              <p:cNvSpPr>
                <a:spLocks noChangeArrowheads="1"/>
              </p:cNvSpPr>
              <p:nvPr/>
            </p:nvSpPr>
            <p:spPr bwMode="auto">
              <a:xfrm>
                <a:off x="3707" y="1649"/>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3" name="Rectangle 20" descr="Wide upward diagonal">
                <a:extLst>
                  <a:ext uri="{FF2B5EF4-FFF2-40B4-BE49-F238E27FC236}">
                    <a16:creationId xmlns:a16="http://schemas.microsoft.com/office/drawing/2014/main" id="{E685891A-93AC-0245-A9A9-CA278AC07516}"/>
                  </a:ext>
                </a:extLst>
              </p:cNvPr>
              <p:cNvSpPr>
                <a:spLocks noChangeArrowheads="1"/>
              </p:cNvSpPr>
              <p:nvPr/>
            </p:nvSpPr>
            <p:spPr bwMode="auto">
              <a:xfrm>
                <a:off x="390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4" name="Rectangle 21" descr="Wide upward diagonal">
                <a:extLst>
                  <a:ext uri="{FF2B5EF4-FFF2-40B4-BE49-F238E27FC236}">
                    <a16:creationId xmlns:a16="http://schemas.microsoft.com/office/drawing/2014/main" id="{76EED197-6817-1F45-BE92-AEA1D9E9B9EC}"/>
                  </a:ext>
                </a:extLst>
              </p:cNvPr>
              <p:cNvSpPr>
                <a:spLocks noChangeArrowheads="1"/>
              </p:cNvSpPr>
              <p:nvPr/>
            </p:nvSpPr>
            <p:spPr bwMode="auto">
              <a:xfrm>
                <a:off x="411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5" name="Rectangle 22" descr="Wide upward diagonal">
                <a:extLst>
                  <a:ext uri="{FF2B5EF4-FFF2-40B4-BE49-F238E27FC236}">
                    <a16:creationId xmlns:a16="http://schemas.microsoft.com/office/drawing/2014/main" id="{BA09120E-147C-024E-91AC-3D7B5A066950}"/>
                  </a:ext>
                </a:extLst>
              </p:cNvPr>
              <p:cNvSpPr>
                <a:spLocks noChangeArrowheads="1"/>
              </p:cNvSpPr>
              <p:nvPr/>
            </p:nvSpPr>
            <p:spPr bwMode="auto">
              <a:xfrm>
                <a:off x="431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6" name="Rectangle 23" descr="Wide upward diagonal">
                <a:extLst>
                  <a:ext uri="{FF2B5EF4-FFF2-40B4-BE49-F238E27FC236}">
                    <a16:creationId xmlns:a16="http://schemas.microsoft.com/office/drawing/2014/main" id="{D689B73C-48BE-DB40-9BF1-FD7B7C298234}"/>
                  </a:ext>
                </a:extLst>
              </p:cNvPr>
              <p:cNvSpPr>
                <a:spLocks noChangeArrowheads="1"/>
              </p:cNvSpPr>
              <p:nvPr/>
            </p:nvSpPr>
            <p:spPr bwMode="auto">
              <a:xfrm>
                <a:off x="2074"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7" name="Rectangle 24" descr="Wide upward diagonal">
                <a:extLst>
                  <a:ext uri="{FF2B5EF4-FFF2-40B4-BE49-F238E27FC236}">
                    <a16:creationId xmlns:a16="http://schemas.microsoft.com/office/drawing/2014/main" id="{02AC07CD-B46F-C047-BB6F-69D63C82281A}"/>
                  </a:ext>
                </a:extLst>
              </p:cNvPr>
              <p:cNvSpPr>
                <a:spLocks noChangeArrowheads="1"/>
              </p:cNvSpPr>
              <p:nvPr/>
            </p:nvSpPr>
            <p:spPr bwMode="auto">
              <a:xfrm>
                <a:off x="2286"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8" name="Rectangle 25" descr="Wide upward diagonal">
                <a:extLst>
                  <a:ext uri="{FF2B5EF4-FFF2-40B4-BE49-F238E27FC236}">
                    <a16:creationId xmlns:a16="http://schemas.microsoft.com/office/drawing/2014/main" id="{7C8E0EFA-77DD-2545-983D-4DAF88D106CE}"/>
                  </a:ext>
                </a:extLst>
              </p:cNvPr>
              <p:cNvSpPr>
                <a:spLocks noChangeArrowheads="1"/>
              </p:cNvSpPr>
              <p:nvPr/>
            </p:nvSpPr>
            <p:spPr bwMode="auto">
              <a:xfrm>
                <a:off x="2487"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69" name="Rectangle 26" descr="Wide upward diagonal">
                <a:extLst>
                  <a:ext uri="{FF2B5EF4-FFF2-40B4-BE49-F238E27FC236}">
                    <a16:creationId xmlns:a16="http://schemas.microsoft.com/office/drawing/2014/main" id="{EDCCC341-6B61-714D-86A9-CF30DA298138}"/>
                  </a:ext>
                </a:extLst>
              </p:cNvPr>
              <p:cNvSpPr>
                <a:spLocks noChangeArrowheads="1"/>
              </p:cNvSpPr>
              <p:nvPr/>
            </p:nvSpPr>
            <p:spPr bwMode="auto">
              <a:xfrm>
                <a:off x="2699"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70" name="Rectangle 27" descr="Wide upward diagonal">
                <a:extLst>
                  <a:ext uri="{FF2B5EF4-FFF2-40B4-BE49-F238E27FC236}">
                    <a16:creationId xmlns:a16="http://schemas.microsoft.com/office/drawing/2014/main" id="{C2AE9A8B-555F-3B4E-ACDC-9888E4D34D18}"/>
                  </a:ext>
                </a:extLst>
              </p:cNvPr>
              <p:cNvSpPr>
                <a:spLocks noChangeArrowheads="1"/>
              </p:cNvSpPr>
              <p:nvPr/>
            </p:nvSpPr>
            <p:spPr bwMode="auto">
              <a:xfrm>
                <a:off x="2880"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71" name="Rectangle 28" descr="Wide upward diagonal">
                <a:extLst>
                  <a:ext uri="{FF2B5EF4-FFF2-40B4-BE49-F238E27FC236}">
                    <a16:creationId xmlns:a16="http://schemas.microsoft.com/office/drawing/2014/main" id="{03F345D1-4E4D-3C4B-9155-09CA311756BE}"/>
                  </a:ext>
                </a:extLst>
              </p:cNvPr>
              <p:cNvSpPr>
                <a:spLocks noChangeArrowheads="1"/>
              </p:cNvSpPr>
              <p:nvPr/>
            </p:nvSpPr>
            <p:spPr bwMode="auto">
              <a:xfrm>
                <a:off x="3092"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72" name="Rectangle 29" descr="Wide upward diagonal">
                <a:extLst>
                  <a:ext uri="{FF2B5EF4-FFF2-40B4-BE49-F238E27FC236}">
                    <a16:creationId xmlns:a16="http://schemas.microsoft.com/office/drawing/2014/main" id="{DC4C14DC-C49A-9849-A900-D9C5879CCF87}"/>
                  </a:ext>
                </a:extLst>
              </p:cNvPr>
              <p:cNvSpPr>
                <a:spLocks noChangeArrowheads="1"/>
              </p:cNvSpPr>
              <p:nvPr/>
            </p:nvSpPr>
            <p:spPr bwMode="auto">
              <a:xfrm>
                <a:off x="3293"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5873" name="Rectangle 30" descr="Wide upward diagonal">
                <a:extLst>
                  <a:ext uri="{FF2B5EF4-FFF2-40B4-BE49-F238E27FC236}">
                    <a16:creationId xmlns:a16="http://schemas.microsoft.com/office/drawing/2014/main" id="{D34203CB-D4BB-5E4B-857D-AF9C46DDED3F}"/>
                  </a:ext>
                </a:extLst>
              </p:cNvPr>
              <p:cNvSpPr>
                <a:spLocks noChangeArrowheads="1"/>
              </p:cNvSpPr>
              <p:nvPr/>
            </p:nvSpPr>
            <p:spPr bwMode="auto">
              <a:xfrm>
                <a:off x="3505"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5850" name="Line 33">
              <a:extLst>
                <a:ext uri="{FF2B5EF4-FFF2-40B4-BE49-F238E27FC236}">
                  <a16:creationId xmlns:a16="http://schemas.microsoft.com/office/drawing/2014/main" id="{91953FF3-9557-124D-80FD-4A6C8715CEFF}"/>
                </a:ext>
              </a:extLst>
            </p:cNvPr>
            <p:cNvSpPr>
              <a:spLocks noChangeShapeType="1"/>
            </p:cNvSpPr>
            <p:nvPr/>
          </p:nvSpPr>
          <p:spPr bwMode="auto">
            <a:xfrm>
              <a:off x="876" y="92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1" name="Line 34">
              <a:extLst>
                <a:ext uri="{FF2B5EF4-FFF2-40B4-BE49-F238E27FC236}">
                  <a16:creationId xmlns:a16="http://schemas.microsoft.com/office/drawing/2014/main" id="{8D64DA89-F8DE-304F-849D-CA608C6FB4AA}"/>
                </a:ext>
              </a:extLst>
            </p:cNvPr>
            <p:cNvSpPr>
              <a:spLocks noChangeShapeType="1"/>
            </p:cNvSpPr>
            <p:nvPr/>
          </p:nvSpPr>
          <p:spPr bwMode="auto">
            <a:xfrm>
              <a:off x="1213"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2" name="Line 35">
              <a:extLst>
                <a:ext uri="{FF2B5EF4-FFF2-40B4-BE49-F238E27FC236}">
                  <a16:creationId xmlns:a16="http://schemas.microsoft.com/office/drawing/2014/main" id="{C299735A-B9FA-1D4A-9C99-B779A2E3D8B1}"/>
                </a:ext>
              </a:extLst>
            </p:cNvPr>
            <p:cNvSpPr>
              <a:spLocks noChangeShapeType="1"/>
            </p:cNvSpPr>
            <p:nvPr/>
          </p:nvSpPr>
          <p:spPr bwMode="auto">
            <a:xfrm>
              <a:off x="2191"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3" name="Line 36">
              <a:extLst>
                <a:ext uri="{FF2B5EF4-FFF2-40B4-BE49-F238E27FC236}">
                  <a16:creationId xmlns:a16="http://schemas.microsoft.com/office/drawing/2014/main" id="{3E32AD4B-99C6-B743-9E67-516394FD2873}"/>
                </a:ext>
              </a:extLst>
            </p:cNvPr>
            <p:cNvSpPr>
              <a:spLocks noChangeShapeType="1"/>
            </p:cNvSpPr>
            <p:nvPr/>
          </p:nvSpPr>
          <p:spPr bwMode="auto">
            <a:xfrm>
              <a:off x="2844" y="90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247225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P spid="9318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BECF4CA0-16BF-C241-A47C-8D6BF6181C49}"/>
              </a:ext>
            </a:extLst>
          </p:cNvPr>
          <p:cNvSpPr>
            <a:spLocks noGrp="1" noChangeArrowheads="1"/>
          </p:cNvSpPr>
          <p:nvPr>
            <p:ph type="title"/>
          </p:nvPr>
        </p:nvSpPr>
        <p:spPr>
          <a:xfrm>
            <a:off x="2135188" y="196850"/>
            <a:ext cx="7772400" cy="1143000"/>
          </a:xfrm>
        </p:spPr>
        <p:txBody>
          <a:bodyPr/>
          <a:lstStyle/>
          <a:p>
            <a:pPr eaLnBrk="1" hangingPunct="1"/>
            <a:r>
              <a:rPr lang="en-US" altLang="en-US">
                <a:ea typeface="ＭＳ Ｐゴシック" panose="020B0600070205080204" pitchFamily="34" charset="-128"/>
              </a:rPr>
              <a:t>Solution</a:t>
            </a:r>
          </a:p>
        </p:txBody>
      </p:sp>
      <p:sp>
        <p:nvSpPr>
          <p:cNvPr id="93187" name="Text Box 3">
            <a:extLst>
              <a:ext uri="{FF2B5EF4-FFF2-40B4-BE49-F238E27FC236}">
                <a16:creationId xmlns:a16="http://schemas.microsoft.com/office/drawing/2014/main" id="{CF692735-6A03-3D43-8C50-1F31A950EA09}"/>
              </a:ext>
            </a:extLst>
          </p:cNvPr>
          <p:cNvSpPr txBox="1">
            <a:spLocks noChangeArrowheads="1"/>
          </p:cNvSpPr>
          <p:nvPr/>
        </p:nvSpPr>
        <p:spPr bwMode="auto">
          <a:xfrm>
            <a:off x="2012950" y="10191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First distribute the red sticks among the 5 children:</a:t>
            </a:r>
          </a:p>
        </p:txBody>
      </p:sp>
      <p:sp>
        <p:nvSpPr>
          <p:cNvPr id="93188" name="Text Box 4">
            <a:extLst>
              <a:ext uri="{FF2B5EF4-FFF2-40B4-BE49-F238E27FC236}">
                <a16:creationId xmlns:a16="http://schemas.microsoft.com/office/drawing/2014/main" id="{36A99287-CDAA-9846-9DF7-65DB22128A0F}"/>
              </a:ext>
            </a:extLst>
          </p:cNvPr>
          <p:cNvSpPr txBox="1">
            <a:spLocks noChangeArrowheads="1"/>
          </p:cNvSpPr>
          <p:nvPr/>
        </p:nvSpPr>
        <p:spPr bwMode="auto">
          <a:xfrm>
            <a:off x="7559675" y="1584326"/>
            <a:ext cx="27876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t>There are</a:t>
            </a:r>
            <a:r>
              <a:rPr lang="en-US" altLang="en-US" sz="2000" b="1" i="1"/>
              <a:t> </a:t>
            </a:r>
          </a:p>
          <a:p>
            <a:pPr eaLnBrk="1" hangingPunct="1">
              <a:spcBef>
                <a:spcPct val="50000"/>
              </a:spcBef>
            </a:pPr>
            <a:r>
              <a:rPr lang="en-US" altLang="en-US" sz="2000" b="1" i="1"/>
              <a:t>C</a:t>
            </a:r>
            <a:r>
              <a:rPr lang="en-US" altLang="en-US" sz="2000" b="1"/>
              <a:t>(20+5-1, 20) = 10,626 ways.</a:t>
            </a:r>
          </a:p>
        </p:txBody>
      </p:sp>
      <p:sp>
        <p:nvSpPr>
          <p:cNvPr id="93189" name="Text Box 5">
            <a:extLst>
              <a:ext uri="{FF2B5EF4-FFF2-40B4-BE49-F238E27FC236}">
                <a16:creationId xmlns:a16="http://schemas.microsoft.com/office/drawing/2014/main" id="{CA0B31EC-3279-7F45-84C9-5404675B84AB}"/>
              </a:ext>
            </a:extLst>
          </p:cNvPr>
          <p:cNvSpPr txBox="1">
            <a:spLocks noChangeArrowheads="1"/>
          </p:cNvSpPr>
          <p:nvPr/>
        </p:nvSpPr>
        <p:spPr bwMode="auto">
          <a:xfrm>
            <a:off x="1949450" y="3109913"/>
            <a:ext cx="81851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Then distribute the 15 identical sticks of black. </a:t>
            </a:r>
          </a:p>
          <a:p>
            <a:pPr eaLnBrk="1" hangingPunct="1">
              <a:spcBef>
                <a:spcPct val="50000"/>
              </a:spcBef>
            </a:pPr>
            <a:endParaRPr lang="en-US" altLang="en-US"/>
          </a:p>
          <a:p>
            <a:pPr eaLnBrk="1" hangingPunct="1">
              <a:spcBef>
                <a:spcPct val="50000"/>
              </a:spcBef>
            </a:pPr>
            <a:endParaRPr lang="en-US" altLang="en-US"/>
          </a:p>
          <a:p>
            <a:pPr eaLnBrk="1" hangingPunct="1">
              <a:spcBef>
                <a:spcPct val="50000"/>
              </a:spcBef>
            </a:pPr>
            <a:endParaRPr lang="en-US" altLang="en-US"/>
          </a:p>
        </p:txBody>
      </p:sp>
      <p:sp>
        <p:nvSpPr>
          <p:cNvPr id="36872" name="Text Box 6">
            <a:extLst>
              <a:ext uri="{FF2B5EF4-FFF2-40B4-BE49-F238E27FC236}">
                <a16:creationId xmlns:a16="http://schemas.microsoft.com/office/drawing/2014/main" id="{ADCAD244-D1A9-0045-856A-457AC1672472}"/>
              </a:ext>
            </a:extLst>
          </p:cNvPr>
          <p:cNvSpPr txBox="1">
            <a:spLocks noChangeArrowheads="1"/>
          </p:cNvSpPr>
          <p:nvPr/>
        </p:nvSpPr>
        <p:spPr bwMode="auto">
          <a:xfrm>
            <a:off x="6096000" y="5181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p:grpSp>
        <p:nvGrpSpPr>
          <p:cNvPr id="2" name="Group 63">
            <a:extLst>
              <a:ext uri="{FF2B5EF4-FFF2-40B4-BE49-F238E27FC236}">
                <a16:creationId xmlns:a16="http://schemas.microsoft.com/office/drawing/2014/main" id="{1E995A9A-AAA4-C446-918E-9B0085332556}"/>
              </a:ext>
            </a:extLst>
          </p:cNvPr>
          <p:cNvGrpSpPr>
            <a:grpSpLocks/>
          </p:cNvGrpSpPr>
          <p:nvPr/>
        </p:nvGrpSpPr>
        <p:grpSpPr bwMode="auto">
          <a:xfrm>
            <a:off x="2198688" y="1431925"/>
            <a:ext cx="5078412" cy="1646238"/>
            <a:chOff x="425" y="902"/>
            <a:chExt cx="3199" cy="1037"/>
          </a:xfrm>
        </p:grpSpPr>
        <p:grpSp>
          <p:nvGrpSpPr>
            <p:cNvPr id="36894" name="Group 32">
              <a:extLst>
                <a:ext uri="{FF2B5EF4-FFF2-40B4-BE49-F238E27FC236}">
                  <a16:creationId xmlns:a16="http://schemas.microsoft.com/office/drawing/2014/main" id="{0D306957-9DB6-E04A-B924-4C646D86DCA7}"/>
                </a:ext>
              </a:extLst>
            </p:cNvPr>
            <p:cNvGrpSpPr>
              <a:grpSpLocks/>
            </p:cNvGrpSpPr>
            <p:nvPr/>
          </p:nvGrpSpPr>
          <p:grpSpPr bwMode="auto">
            <a:xfrm>
              <a:off x="425" y="1063"/>
              <a:ext cx="3199" cy="714"/>
              <a:chOff x="442" y="1648"/>
              <a:chExt cx="3995" cy="781"/>
            </a:xfrm>
          </p:grpSpPr>
          <p:sp>
            <p:nvSpPr>
              <p:cNvPr id="36899" name="Rectangle 8" descr="Wide upward diagonal">
                <a:extLst>
                  <a:ext uri="{FF2B5EF4-FFF2-40B4-BE49-F238E27FC236}">
                    <a16:creationId xmlns:a16="http://schemas.microsoft.com/office/drawing/2014/main" id="{5F47A75A-5F22-334C-BD02-A1D88F9FC64E}"/>
                  </a:ext>
                </a:extLst>
              </p:cNvPr>
              <p:cNvSpPr>
                <a:spLocks noChangeArrowheads="1"/>
              </p:cNvSpPr>
              <p:nvPr/>
            </p:nvSpPr>
            <p:spPr bwMode="auto">
              <a:xfrm>
                <a:off x="442"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0" name="Rectangle 10" descr="Wide upward diagonal">
                <a:extLst>
                  <a:ext uri="{FF2B5EF4-FFF2-40B4-BE49-F238E27FC236}">
                    <a16:creationId xmlns:a16="http://schemas.microsoft.com/office/drawing/2014/main" id="{A63FE8C8-1489-E148-94A5-711C252E0E86}"/>
                  </a:ext>
                </a:extLst>
              </p:cNvPr>
              <p:cNvSpPr>
                <a:spLocks noChangeArrowheads="1"/>
              </p:cNvSpPr>
              <p:nvPr/>
            </p:nvSpPr>
            <p:spPr bwMode="auto">
              <a:xfrm>
                <a:off x="654"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1" name="Rectangle 11" descr="Wide upward diagonal">
                <a:extLst>
                  <a:ext uri="{FF2B5EF4-FFF2-40B4-BE49-F238E27FC236}">
                    <a16:creationId xmlns:a16="http://schemas.microsoft.com/office/drawing/2014/main" id="{292E0BD3-765D-DD4E-8585-C1B7ACD6FEBA}"/>
                  </a:ext>
                </a:extLst>
              </p:cNvPr>
              <p:cNvSpPr>
                <a:spLocks noChangeArrowheads="1"/>
              </p:cNvSpPr>
              <p:nvPr/>
            </p:nvSpPr>
            <p:spPr bwMode="auto">
              <a:xfrm>
                <a:off x="855"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2" name="Rectangle 12" descr="Wide upward diagonal">
                <a:extLst>
                  <a:ext uri="{FF2B5EF4-FFF2-40B4-BE49-F238E27FC236}">
                    <a16:creationId xmlns:a16="http://schemas.microsoft.com/office/drawing/2014/main" id="{FD29E9AE-1E41-3A4D-ACC0-71042157C769}"/>
                  </a:ext>
                </a:extLst>
              </p:cNvPr>
              <p:cNvSpPr>
                <a:spLocks noChangeArrowheads="1"/>
              </p:cNvSpPr>
              <p:nvPr/>
            </p:nvSpPr>
            <p:spPr bwMode="auto">
              <a:xfrm>
                <a:off x="1067"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3" name="Rectangle 15" descr="Wide upward diagonal">
                <a:extLst>
                  <a:ext uri="{FF2B5EF4-FFF2-40B4-BE49-F238E27FC236}">
                    <a16:creationId xmlns:a16="http://schemas.microsoft.com/office/drawing/2014/main" id="{A7505EF0-B3D2-1B42-9782-34F094F9B80A}"/>
                  </a:ext>
                </a:extLst>
              </p:cNvPr>
              <p:cNvSpPr>
                <a:spLocks noChangeArrowheads="1"/>
              </p:cNvSpPr>
              <p:nvPr/>
            </p:nvSpPr>
            <p:spPr bwMode="auto">
              <a:xfrm>
                <a:off x="1258"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4" name="Rectangle 16" descr="Wide upward diagonal">
                <a:extLst>
                  <a:ext uri="{FF2B5EF4-FFF2-40B4-BE49-F238E27FC236}">
                    <a16:creationId xmlns:a16="http://schemas.microsoft.com/office/drawing/2014/main" id="{42989967-56F8-994E-B908-B136EC597B46}"/>
                  </a:ext>
                </a:extLst>
              </p:cNvPr>
              <p:cNvSpPr>
                <a:spLocks noChangeArrowheads="1"/>
              </p:cNvSpPr>
              <p:nvPr/>
            </p:nvSpPr>
            <p:spPr bwMode="auto">
              <a:xfrm>
                <a:off x="1460"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5" name="Rectangle 17" descr="Wide upward diagonal">
                <a:extLst>
                  <a:ext uri="{FF2B5EF4-FFF2-40B4-BE49-F238E27FC236}">
                    <a16:creationId xmlns:a16="http://schemas.microsoft.com/office/drawing/2014/main" id="{535CC3F4-F7F1-D94C-B5A2-9FEB3DAC4384}"/>
                  </a:ext>
                </a:extLst>
              </p:cNvPr>
              <p:cNvSpPr>
                <a:spLocks noChangeArrowheads="1"/>
              </p:cNvSpPr>
              <p:nvPr/>
            </p:nvSpPr>
            <p:spPr bwMode="auto">
              <a:xfrm>
                <a:off x="1661"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6" name="Rectangle 18" descr="Wide upward diagonal">
                <a:extLst>
                  <a:ext uri="{FF2B5EF4-FFF2-40B4-BE49-F238E27FC236}">
                    <a16:creationId xmlns:a16="http://schemas.microsoft.com/office/drawing/2014/main" id="{CDDD2E3B-4545-9248-84D6-11BAF0AF40E4}"/>
                  </a:ext>
                </a:extLst>
              </p:cNvPr>
              <p:cNvSpPr>
                <a:spLocks noChangeArrowheads="1"/>
              </p:cNvSpPr>
              <p:nvPr/>
            </p:nvSpPr>
            <p:spPr bwMode="auto">
              <a:xfrm>
                <a:off x="187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7" name="Rectangle 19" descr="Wide upward diagonal">
                <a:extLst>
                  <a:ext uri="{FF2B5EF4-FFF2-40B4-BE49-F238E27FC236}">
                    <a16:creationId xmlns:a16="http://schemas.microsoft.com/office/drawing/2014/main" id="{54A17C95-FBBB-CD48-B0F9-CCB8B2D54680}"/>
                  </a:ext>
                </a:extLst>
              </p:cNvPr>
              <p:cNvSpPr>
                <a:spLocks noChangeArrowheads="1"/>
              </p:cNvSpPr>
              <p:nvPr/>
            </p:nvSpPr>
            <p:spPr bwMode="auto">
              <a:xfrm>
                <a:off x="3707" y="1649"/>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8" name="Rectangle 20" descr="Wide upward diagonal">
                <a:extLst>
                  <a:ext uri="{FF2B5EF4-FFF2-40B4-BE49-F238E27FC236}">
                    <a16:creationId xmlns:a16="http://schemas.microsoft.com/office/drawing/2014/main" id="{C4B95585-151D-6541-B88D-DCE9197456A5}"/>
                  </a:ext>
                </a:extLst>
              </p:cNvPr>
              <p:cNvSpPr>
                <a:spLocks noChangeArrowheads="1"/>
              </p:cNvSpPr>
              <p:nvPr/>
            </p:nvSpPr>
            <p:spPr bwMode="auto">
              <a:xfrm>
                <a:off x="390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09" name="Rectangle 21" descr="Wide upward diagonal">
                <a:extLst>
                  <a:ext uri="{FF2B5EF4-FFF2-40B4-BE49-F238E27FC236}">
                    <a16:creationId xmlns:a16="http://schemas.microsoft.com/office/drawing/2014/main" id="{2D6A59F8-C87B-0E45-8B99-0A864271833C}"/>
                  </a:ext>
                </a:extLst>
              </p:cNvPr>
              <p:cNvSpPr>
                <a:spLocks noChangeArrowheads="1"/>
              </p:cNvSpPr>
              <p:nvPr/>
            </p:nvSpPr>
            <p:spPr bwMode="auto">
              <a:xfrm>
                <a:off x="411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0" name="Rectangle 22" descr="Wide upward diagonal">
                <a:extLst>
                  <a:ext uri="{FF2B5EF4-FFF2-40B4-BE49-F238E27FC236}">
                    <a16:creationId xmlns:a16="http://schemas.microsoft.com/office/drawing/2014/main" id="{1542C8B9-E9A0-3543-9715-61A3D84EF030}"/>
                  </a:ext>
                </a:extLst>
              </p:cNvPr>
              <p:cNvSpPr>
                <a:spLocks noChangeArrowheads="1"/>
              </p:cNvSpPr>
              <p:nvPr/>
            </p:nvSpPr>
            <p:spPr bwMode="auto">
              <a:xfrm>
                <a:off x="431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1" name="Rectangle 23" descr="Wide upward diagonal">
                <a:extLst>
                  <a:ext uri="{FF2B5EF4-FFF2-40B4-BE49-F238E27FC236}">
                    <a16:creationId xmlns:a16="http://schemas.microsoft.com/office/drawing/2014/main" id="{F0F0DE57-FE13-8343-A078-7C13CE88DAB7}"/>
                  </a:ext>
                </a:extLst>
              </p:cNvPr>
              <p:cNvSpPr>
                <a:spLocks noChangeArrowheads="1"/>
              </p:cNvSpPr>
              <p:nvPr/>
            </p:nvSpPr>
            <p:spPr bwMode="auto">
              <a:xfrm>
                <a:off x="2074"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2" name="Rectangle 24" descr="Wide upward diagonal">
                <a:extLst>
                  <a:ext uri="{FF2B5EF4-FFF2-40B4-BE49-F238E27FC236}">
                    <a16:creationId xmlns:a16="http://schemas.microsoft.com/office/drawing/2014/main" id="{9E5031FA-C212-CE49-B28A-C613E9F6D207}"/>
                  </a:ext>
                </a:extLst>
              </p:cNvPr>
              <p:cNvSpPr>
                <a:spLocks noChangeArrowheads="1"/>
              </p:cNvSpPr>
              <p:nvPr/>
            </p:nvSpPr>
            <p:spPr bwMode="auto">
              <a:xfrm>
                <a:off x="2286"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3" name="Rectangle 25" descr="Wide upward diagonal">
                <a:extLst>
                  <a:ext uri="{FF2B5EF4-FFF2-40B4-BE49-F238E27FC236}">
                    <a16:creationId xmlns:a16="http://schemas.microsoft.com/office/drawing/2014/main" id="{2C318736-CD52-D44A-B2F8-2C4377D58C61}"/>
                  </a:ext>
                </a:extLst>
              </p:cNvPr>
              <p:cNvSpPr>
                <a:spLocks noChangeArrowheads="1"/>
              </p:cNvSpPr>
              <p:nvPr/>
            </p:nvSpPr>
            <p:spPr bwMode="auto">
              <a:xfrm>
                <a:off x="2487"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4" name="Rectangle 26" descr="Wide upward diagonal">
                <a:extLst>
                  <a:ext uri="{FF2B5EF4-FFF2-40B4-BE49-F238E27FC236}">
                    <a16:creationId xmlns:a16="http://schemas.microsoft.com/office/drawing/2014/main" id="{CEE5A396-E74C-784D-B2CC-F33C6727E0C7}"/>
                  </a:ext>
                </a:extLst>
              </p:cNvPr>
              <p:cNvSpPr>
                <a:spLocks noChangeArrowheads="1"/>
              </p:cNvSpPr>
              <p:nvPr/>
            </p:nvSpPr>
            <p:spPr bwMode="auto">
              <a:xfrm>
                <a:off x="2699"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5" name="Rectangle 27" descr="Wide upward diagonal">
                <a:extLst>
                  <a:ext uri="{FF2B5EF4-FFF2-40B4-BE49-F238E27FC236}">
                    <a16:creationId xmlns:a16="http://schemas.microsoft.com/office/drawing/2014/main" id="{E3330230-BA77-C54F-8E75-20ED2CDFC9FA}"/>
                  </a:ext>
                </a:extLst>
              </p:cNvPr>
              <p:cNvSpPr>
                <a:spLocks noChangeArrowheads="1"/>
              </p:cNvSpPr>
              <p:nvPr/>
            </p:nvSpPr>
            <p:spPr bwMode="auto">
              <a:xfrm>
                <a:off x="2880"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6" name="Rectangle 28" descr="Wide upward diagonal">
                <a:extLst>
                  <a:ext uri="{FF2B5EF4-FFF2-40B4-BE49-F238E27FC236}">
                    <a16:creationId xmlns:a16="http://schemas.microsoft.com/office/drawing/2014/main" id="{EF67A0B3-4B7F-744A-9B57-43D93BA2E7E3}"/>
                  </a:ext>
                </a:extLst>
              </p:cNvPr>
              <p:cNvSpPr>
                <a:spLocks noChangeArrowheads="1"/>
              </p:cNvSpPr>
              <p:nvPr/>
            </p:nvSpPr>
            <p:spPr bwMode="auto">
              <a:xfrm>
                <a:off x="3092"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7" name="Rectangle 29" descr="Wide upward diagonal">
                <a:extLst>
                  <a:ext uri="{FF2B5EF4-FFF2-40B4-BE49-F238E27FC236}">
                    <a16:creationId xmlns:a16="http://schemas.microsoft.com/office/drawing/2014/main" id="{222E8912-F44C-F04C-8B48-DDA82EF7A5A1}"/>
                  </a:ext>
                </a:extLst>
              </p:cNvPr>
              <p:cNvSpPr>
                <a:spLocks noChangeArrowheads="1"/>
              </p:cNvSpPr>
              <p:nvPr/>
            </p:nvSpPr>
            <p:spPr bwMode="auto">
              <a:xfrm>
                <a:off x="3293"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918" name="Rectangle 30" descr="Wide upward diagonal">
                <a:extLst>
                  <a:ext uri="{FF2B5EF4-FFF2-40B4-BE49-F238E27FC236}">
                    <a16:creationId xmlns:a16="http://schemas.microsoft.com/office/drawing/2014/main" id="{0111CE18-C7B6-3C40-987D-BB12BCB3127F}"/>
                  </a:ext>
                </a:extLst>
              </p:cNvPr>
              <p:cNvSpPr>
                <a:spLocks noChangeArrowheads="1"/>
              </p:cNvSpPr>
              <p:nvPr/>
            </p:nvSpPr>
            <p:spPr bwMode="auto">
              <a:xfrm>
                <a:off x="3505"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6895" name="Line 33">
              <a:extLst>
                <a:ext uri="{FF2B5EF4-FFF2-40B4-BE49-F238E27FC236}">
                  <a16:creationId xmlns:a16="http://schemas.microsoft.com/office/drawing/2014/main" id="{B21948D1-07F5-D549-B226-79B9455B7C49}"/>
                </a:ext>
              </a:extLst>
            </p:cNvPr>
            <p:cNvSpPr>
              <a:spLocks noChangeShapeType="1"/>
            </p:cNvSpPr>
            <p:nvPr/>
          </p:nvSpPr>
          <p:spPr bwMode="auto">
            <a:xfrm>
              <a:off x="876" y="92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6" name="Line 34">
              <a:extLst>
                <a:ext uri="{FF2B5EF4-FFF2-40B4-BE49-F238E27FC236}">
                  <a16:creationId xmlns:a16="http://schemas.microsoft.com/office/drawing/2014/main" id="{59EF6851-E199-9B41-A618-7E415245C1F9}"/>
                </a:ext>
              </a:extLst>
            </p:cNvPr>
            <p:cNvSpPr>
              <a:spLocks noChangeShapeType="1"/>
            </p:cNvSpPr>
            <p:nvPr/>
          </p:nvSpPr>
          <p:spPr bwMode="auto">
            <a:xfrm>
              <a:off x="1213"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7" name="Line 35">
              <a:extLst>
                <a:ext uri="{FF2B5EF4-FFF2-40B4-BE49-F238E27FC236}">
                  <a16:creationId xmlns:a16="http://schemas.microsoft.com/office/drawing/2014/main" id="{58209FA3-3D3B-144E-8163-2ACC64481A9F}"/>
                </a:ext>
              </a:extLst>
            </p:cNvPr>
            <p:cNvSpPr>
              <a:spLocks noChangeShapeType="1"/>
            </p:cNvSpPr>
            <p:nvPr/>
          </p:nvSpPr>
          <p:spPr bwMode="auto">
            <a:xfrm>
              <a:off x="2191"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8" name="Line 36">
              <a:extLst>
                <a:ext uri="{FF2B5EF4-FFF2-40B4-BE49-F238E27FC236}">
                  <a16:creationId xmlns:a16="http://schemas.microsoft.com/office/drawing/2014/main" id="{39FABF1F-7BBC-8C44-87AC-7EB4B932E59C}"/>
                </a:ext>
              </a:extLst>
            </p:cNvPr>
            <p:cNvSpPr>
              <a:spLocks noChangeShapeType="1"/>
            </p:cNvSpPr>
            <p:nvPr/>
          </p:nvSpPr>
          <p:spPr bwMode="auto">
            <a:xfrm>
              <a:off x="2844" y="90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 name="Group 64">
            <a:extLst>
              <a:ext uri="{FF2B5EF4-FFF2-40B4-BE49-F238E27FC236}">
                <a16:creationId xmlns:a16="http://schemas.microsoft.com/office/drawing/2014/main" id="{92D7E46E-845C-5943-9681-47B3369ED05A}"/>
              </a:ext>
            </a:extLst>
          </p:cNvPr>
          <p:cNvGrpSpPr>
            <a:grpSpLocks/>
          </p:cNvGrpSpPr>
          <p:nvPr/>
        </p:nvGrpSpPr>
        <p:grpSpPr bwMode="auto">
          <a:xfrm>
            <a:off x="2211389" y="3521075"/>
            <a:ext cx="3781425" cy="1658938"/>
            <a:chOff x="433" y="2218"/>
            <a:chExt cx="2382" cy="1045"/>
          </a:xfrm>
        </p:grpSpPr>
        <p:sp>
          <p:nvSpPr>
            <p:cNvPr id="36875" name="Rectangle 39" descr="Wide upward diagonal">
              <a:extLst>
                <a:ext uri="{FF2B5EF4-FFF2-40B4-BE49-F238E27FC236}">
                  <a16:creationId xmlns:a16="http://schemas.microsoft.com/office/drawing/2014/main" id="{CFFAEDBD-2DC0-4847-91D2-1AB6D6D515A3}"/>
                </a:ext>
              </a:extLst>
            </p:cNvPr>
            <p:cNvSpPr>
              <a:spLocks noChangeArrowheads="1"/>
            </p:cNvSpPr>
            <p:nvPr/>
          </p:nvSpPr>
          <p:spPr bwMode="auto">
            <a:xfrm>
              <a:off x="433"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76" name="Rectangle 40" descr="Wide upward diagonal">
              <a:extLst>
                <a:ext uri="{FF2B5EF4-FFF2-40B4-BE49-F238E27FC236}">
                  <a16:creationId xmlns:a16="http://schemas.microsoft.com/office/drawing/2014/main" id="{92B7B0EA-9AE3-E34B-868E-D7F83DBA3932}"/>
                </a:ext>
              </a:extLst>
            </p:cNvPr>
            <p:cNvSpPr>
              <a:spLocks noChangeArrowheads="1"/>
            </p:cNvSpPr>
            <p:nvPr/>
          </p:nvSpPr>
          <p:spPr bwMode="auto">
            <a:xfrm>
              <a:off x="603"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77" name="Rectangle 41" descr="Wide upward diagonal">
              <a:extLst>
                <a:ext uri="{FF2B5EF4-FFF2-40B4-BE49-F238E27FC236}">
                  <a16:creationId xmlns:a16="http://schemas.microsoft.com/office/drawing/2014/main" id="{BEF72796-EC70-1E44-BEDB-A84EDA609A28}"/>
                </a:ext>
              </a:extLst>
            </p:cNvPr>
            <p:cNvSpPr>
              <a:spLocks noChangeArrowheads="1"/>
            </p:cNvSpPr>
            <p:nvPr/>
          </p:nvSpPr>
          <p:spPr bwMode="auto">
            <a:xfrm>
              <a:off x="764"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78" name="Rectangle 42" descr="Wide upward diagonal">
              <a:extLst>
                <a:ext uri="{FF2B5EF4-FFF2-40B4-BE49-F238E27FC236}">
                  <a16:creationId xmlns:a16="http://schemas.microsoft.com/office/drawing/2014/main" id="{8D5181DF-DC71-8741-9A9B-E6A10371476B}"/>
                </a:ext>
              </a:extLst>
            </p:cNvPr>
            <p:cNvSpPr>
              <a:spLocks noChangeArrowheads="1"/>
            </p:cNvSpPr>
            <p:nvPr/>
          </p:nvSpPr>
          <p:spPr bwMode="auto">
            <a:xfrm>
              <a:off x="933" y="2429"/>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79" name="Rectangle 43" descr="Wide upward diagonal">
              <a:extLst>
                <a:ext uri="{FF2B5EF4-FFF2-40B4-BE49-F238E27FC236}">
                  <a16:creationId xmlns:a16="http://schemas.microsoft.com/office/drawing/2014/main" id="{2CDD6F86-EC7F-284D-8D21-D5DCD93BB2E2}"/>
                </a:ext>
              </a:extLst>
            </p:cNvPr>
            <p:cNvSpPr>
              <a:spLocks noChangeArrowheads="1"/>
            </p:cNvSpPr>
            <p:nvPr/>
          </p:nvSpPr>
          <p:spPr bwMode="auto">
            <a:xfrm>
              <a:off x="1086" y="2429"/>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0" name="Rectangle 44" descr="Wide upward diagonal">
              <a:extLst>
                <a:ext uri="{FF2B5EF4-FFF2-40B4-BE49-F238E27FC236}">
                  <a16:creationId xmlns:a16="http://schemas.microsoft.com/office/drawing/2014/main" id="{A9C99580-C44F-C145-AA2A-2B4705D38455}"/>
                </a:ext>
              </a:extLst>
            </p:cNvPr>
            <p:cNvSpPr>
              <a:spLocks noChangeArrowheads="1"/>
            </p:cNvSpPr>
            <p:nvPr/>
          </p:nvSpPr>
          <p:spPr bwMode="auto">
            <a:xfrm>
              <a:off x="1248"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1" name="Rectangle 45" descr="Wide upward diagonal">
              <a:extLst>
                <a:ext uri="{FF2B5EF4-FFF2-40B4-BE49-F238E27FC236}">
                  <a16:creationId xmlns:a16="http://schemas.microsoft.com/office/drawing/2014/main" id="{D7B712BF-8095-B14E-BD09-19688F378F5D}"/>
                </a:ext>
              </a:extLst>
            </p:cNvPr>
            <p:cNvSpPr>
              <a:spLocks noChangeArrowheads="1"/>
            </p:cNvSpPr>
            <p:nvPr/>
          </p:nvSpPr>
          <p:spPr bwMode="auto">
            <a:xfrm>
              <a:off x="1409"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2" name="Rectangle 46" descr="Wide upward diagonal">
              <a:extLst>
                <a:ext uri="{FF2B5EF4-FFF2-40B4-BE49-F238E27FC236}">
                  <a16:creationId xmlns:a16="http://schemas.microsoft.com/office/drawing/2014/main" id="{B3C99999-419F-D041-81ED-9D65FB40F655}"/>
                </a:ext>
              </a:extLst>
            </p:cNvPr>
            <p:cNvSpPr>
              <a:spLocks noChangeArrowheads="1"/>
            </p:cNvSpPr>
            <p:nvPr/>
          </p:nvSpPr>
          <p:spPr bwMode="auto">
            <a:xfrm>
              <a:off x="1579"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3" name="Rectangle 51" descr="Wide upward diagonal">
              <a:extLst>
                <a:ext uri="{FF2B5EF4-FFF2-40B4-BE49-F238E27FC236}">
                  <a16:creationId xmlns:a16="http://schemas.microsoft.com/office/drawing/2014/main" id="{EE9C08C8-4D68-594E-90D2-F0B4606D245D}"/>
                </a:ext>
              </a:extLst>
            </p:cNvPr>
            <p:cNvSpPr>
              <a:spLocks noChangeArrowheads="1"/>
            </p:cNvSpPr>
            <p:nvPr/>
          </p:nvSpPr>
          <p:spPr bwMode="auto">
            <a:xfrm>
              <a:off x="1740"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4" name="Rectangle 52" descr="Wide upward diagonal">
              <a:extLst>
                <a:ext uri="{FF2B5EF4-FFF2-40B4-BE49-F238E27FC236}">
                  <a16:creationId xmlns:a16="http://schemas.microsoft.com/office/drawing/2014/main" id="{4BF76281-2883-0E4C-8073-095984914CCC}"/>
                </a:ext>
              </a:extLst>
            </p:cNvPr>
            <p:cNvSpPr>
              <a:spLocks noChangeArrowheads="1"/>
            </p:cNvSpPr>
            <p:nvPr/>
          </p:nvSpPr>
          <p:spPr bwMode="auto">
            <a:xfrm>
              <a:off x="1910"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5" name="Rectangle 53" descr="Wide upward diagonal">
              <a:extLst>
                <a:ext uri="{FF2B5EF4-FFF2-40B4-BE49-F238E27FC236}">
                  <a16:creationId xmlns:a16="http://schemas.microsoft.com/office/drawing/2014/main" id="{8A9B7885-ACF9-8C40-8AF2-105121B86544}"/>
                </a:ext>
              </a:extLst>
            </p:cNvPr>
            <p:cNvSpPr>
              <a:spLocks noChangeArrowheads="1"/>
            </p:cNvSpPr>
            <p:nvPr/>
          </p:nvSpPr>
          <p:spPr bwMode="auto">
            <a:xfrm>
              <a:off x="2071"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6" name="Rectangle 54" descr="Wide upward diagonal">
              <a:extLst>
                <a:ext uri="{FF2B5EF4-FFF2-40B4-BE49-F238E27FC236}">
                  <a16:creationId xmlns:a16="http://schemas.microsoft.com/office/drawing/2014/main" id="{D0050794-4557-DE44-A46E-0360B3AE13B1}"/>
                </a:ext>
              </a:extLst>
            </p:cNvPr>
            <p:cNvSpPr>
              <a:spLocks noChangeArrowheads="1"/>
            </p:cNvSpPr>
            <p:nvPr/>
          </p:nvSpPr>
          <p:spPr bwMode="auto">
            <a:xfrm>
              <a:off x="2240" y="2430"/>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7" name="Rectangle 55" descr="Wide upward diagonal">
              <a:extLst>
                <a:ext uri="{FF2B5EF4-FFF2-40B4-BE49-F238E27FC236}">
                  <a16:creationId xmlns:a16="http://schemas.microsoft.com/office/drawing/2014/main" id="{454FD9B4-3E26-864C-9F2D-80B2398E1E67}"/>
                </a:ext>
              </a:extLst>
            </p:cNvPr>
            <p:cNvSpPr>
              <a:spLocks noChangeArrowheads="1"/>
            </p:cNvSpPr>
            <p:nvPr/>
          </p:nvSpPr>
          <p:spPr bwMode="auto">
            <a:xfrm>
              <a:off x="2385" y="2430"/>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8" name="Rectangle 56" descr="Wide upward diagonal">
              <a:extLst>
                <a:ext uri="{FF2B5EF4-FFF2-40B4-BE49-F238E27FC236}">
                  <a16:creationId xmlns:a16="http://schemas.microsoft.com/office/drawing/2014/main" id="{FC0A152D-DD59-6A4F-8857-92F30836AE6C}"/>
                </a:ext>
              </a:extLst>
            </p:cNvPr>
            <p:cNvSpPr>
              <a:spLocks noChangeArrowheads="1"/>
            </p:cNvSpPr>
            <p:nvPr/>
          </p:nvSpPr>
          <p:spPr bwMode="auto">
            <a:xfrm>
              <a:off x="2555"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89" name="Rectangle 57" descr="Wide upward diagonal">
              <a:extLst>
                <a:ext uri="{FF2B5EF4-FFF2-40B4-BE49-F238E27FC236}">
                  <a16:creationId xmlns:a16="http://schemas.microsoft.com/office/drawing/2014/main" id="{BAB7AC31-CC30-E940-AFA7-1B2B00EE9A28}"/>
                </a:ext>
              </a:extLst>
            </p:cNvPr>
            <p:cNvSpPr>
              <a:spLocks noChangeArrowheads="1"/>
            </p:cNvSpPr>
            <p:nvPr/>
          </p:nvSpPr>
          <p:spPr bwMode="auto">
            <a:xfrm>
              <a:off x="2716"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6890" name="Line 59">
              <a:extLst>
                <a:ext uri="{FF2B5EF4-FFF2-40B4-BE49-F238E27FC236}">
                  <a16:creationId xmlns:a16="http://schemas.microsoft.com/office/drawing/2014/main" id="{5FDCB78B-39A5-524D-A4DC-06401734D2CB}"/>
                </a:ext>
              </a:extLst>
            </p:cNvPr>
            <p:cNvSpPr>
              <a:spLocks noChangeShapeType="1"/>
            </p:cNvSpPr>
            <p:nvPr/>
          </p:nvSpPr>
          <p:spPr bwMode="auto">
            <a:xfrm>
              <a:off x="2517" y="2227"/>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1" name="Line 60">
              <a:extLst>
                <a:ext uri="{FF2B5EF4-FFF2-40B4-BE49-F238E27FC236}">
                  <a16:creationId xmlns:a16="http://schemas.microsoft.com/office/drawing/2014/main" id="{C16A55FC-B2F7-EC4A-AEF8-3374CFB811FC}"/>
                </a:ext>
              </a:extLst>
            </p:cNvPr>
            <p:cNvSpPr>
              <a:spLocks noChangeShapeType="1"/>
            </p:cNvSpPr>
            <p:nvPr/>
          </p:nvSpPr>
          <p:spPr bwMode="auto">
            <a:xfrm>
              <a:off x="1883" y="2246"/>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2" name="Line 61">
              <a:extLst>
                <a:ext uri="{FF2B5EF4-FFF2-40B4-BE49-F238E27FC236}">
                  <a16:creationId xmlns:a16="http://schemas.microsoft.com/office/drawing/2014/main" id="{57E5BA36-8B38-1547-A86C-B66971766125}"/>
                </a:ext>
              </a:extLst>
            </p:cNvPr>
            <p:cNvSpPr>
              <a:spLocks noChangeShapeType="1"/>
            </p:cNvSpPr>
            <p:nvPr/>
          </p:nvSpPr>
          <p:spPr bwMode="auto">
            <a:xfrm>
              <a:off x="1711" y="2218"/>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3" name="Line 62">
              <a:extLst>
                <a:ext uri="{FF2B5EF4-FFF2-40B4-BE49-F238E27FC236}">
                  <a16:creationId xmlns:a16="http://schemas.microsoft.com/office/drawing/2014/main" id="{63CC55DE-9BA9-2E4A-8905-1936DF6BADD5}"/>
                </a:ext>
              </a:extLst>
            </p:cNvPr>
            <p:cNvSpPr>
              <a:spLocks noChangeShapeType="1"/>
            </p:cNvSpPr>
            <p:nvPr/>
          </p:nvSpPr>
          <p:spPr bwMode="auto">
            <a:xfrm>
              <a:off x="1365" y="2218"/>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40915833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18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31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P spid="93188" grpId="0"/>
      <p:bldP spid="9318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7D71D07F-DB21-4347-93E5-476E7C3578B7}"/>
              </a:ext>
            </a:extLst>
          </p:cNvPr>
          <p:cNvSpPr>
            <a:spLocks noGrp="1" noChangeArrowheads="1"/>
          </p:cNvSpPr>
          <p:nvPr>
            <p:ph type="title"/>
          </p:nvPr>
        </p:nvSpPr>
        <p:spPr>
          <a:xfrm>
            <a:off x="2135188" y="196850"/>
            <a:ext cx="7772400" cy="1143000"/>
          </a:xfrm>
        </p:spPr>
        <p:txBody>
          <a:bodyPr/>
          <a:lstStyle/>
          <a:p>
            <a:pPr eaLnBrk="1" hangingPunct="1"/>
            <a:r>
              <a:rPr lang="en-US" altLang="en-US">
                <a:ea typeface="ＭＳ Ｐゴシック" panose="020B0600070205080204" pitchFamily="34" charset="-128"/>
              </a:rPr>
              <a:t>Solution</a:t>
            </a:r>
          </a:p>
        </p:txBody>
      </p:sp>
      <p:sp>
        <p:nvSpPr>
          <p:cNvPr id="93187" name="Text Box 3">
            <a:extLst>
              <a:ext uri="{FF2B5EF4-FFF2-40B4-BE49-F238E27FC236}">
                <a16:creationId xmlns:a16="http://schemas.microsoft.com/office/drawing/2014/main" id="{34B4306E-F46E-C440-9CAB-8EE448B55B0A}"/>
              </a:ext>
            </a:extLst>
          </p:cNvPr>
          <p:cNvSpPr txBox="1">
            <a:spLocks noChangeArrowheads="1"/>
          </p:cNvSpPr>
          <p:nvPr/>
        </p:nvSpPr>
        <p:spPr bwMode="auto">
          <a:xfrm>
            <a:off x="2012950" y="10191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First distribute the red sticks among the 5 children:</a:t>
            </a:r>
          </a:p>
        </p:txBody>
      </p:sp>
      <p:sp>
        <p:nvSpPr>
          <p:cNvPr id="93188" name="Text Box 4">
            <a:extLst>
              <a:ext uri="{FF2B5EF4-FFF2-40B4-BE49-F238E27FC236}">
                <a16:creationId xmlns:a16="http://schemas.microsoft.com/office/drawing/2014/main" id="{EE3608C1-DF64-9E4B-9D74-706230E224A6}"/>
              </a:ext>
            </a:extLst>
          </p:cNvPr>
          <p:cNvSpPr txBox="1">
            <a:spLocks noChangeArrowheads="1"/>
          </p:cNvSpPr>
          <p:nvPr/>
        </p:nvSpPr>
        <p:spPr bwMode="auto">
          <a:xfrm>
            <a:off x="7559675" y="1584326"/>
            <a:ext cx="27876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t>There are</a:t>
            </a:r>
            <a:r>
              <a:rPr lang="en-US" altLang="en-US" sz="2000" b="1" i="1"/>
              <a:t> </a:t>
            </a:r>
          </a:p>
          <a:p>
            <a:pPr eaLnBrk="1" hangingPunct="1">
              <a:spcBef>
                <a:spcPct val="50000"/>
              </a:spcBef>
            </a:pPr>
            <a:r>
              <a:rPr lang="en-US" altLang="en-US" sz="2000" b="1" i="1"/>
              <a:t>C</a:t>
            </a:r>
            <a:r>
              <a:rPr lang="en-US" altLang="en-US" sz="2000" b="1"/>
              <a:t>(20+5-1, 20) = 10,626 ways.</a:t>
            </a:r>
          </a:p>
        </p:txBody>
      </p:sp>
      <p:sp>
        <p:nvSpPr>
          <p:cNvPr id="93189" name="Text Box 5">
            <a:extLst>
              <a:ext uri="{FF2B5EF4-FFF2-40B4-BE49-F238E27FC236}">
                <a16:creationId xmlns:a16="http://schemas.microsoft.com/office/drawing/2014/main" id="{9FF610CB-1AE1-BC44-AEEE-5F07490462BA}"/>
              </a:ext>
            </a:extLst>
          </p:cNvPr>
          <p:cNvSpPr txBox="1">
            <a:spLocks noChangeArrowheads="1"/>
          </p:cNvSpPr>
          <p:nvPr/>
        </p:nvSpPr>
        <p:spPr bwMode="auto">
          <a:xfrm>
            <a:off x="1949450" y="3109913"/>
            <a:ext cx="81851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Then distribute the 15 identical sticks of black. </a:t>
            </a:r>
          </a:p>
          <a:p>
            <a:pPr eaLnBrk="1" hangingPunct="1">
              <a:spcBef>
                <a:spcPct val="50000"/>
              </a:spcBef>
            </a:pPr>
            <a:endParaRPr lang="en-US" altLang="en-US"/>
          </a:p>
          <a:p>
            <a:pPr eaLnBrk="1" hangingPunct="1">
              <a:spcBef>
                <a:spcPct val="50000"/>
              </a:spcBef>
            </a:pPr>
            <a:endParaRPr lang="en-US" altLang="en-US"/>
          </a:p>
          <a:p>
            <a:pPr eaLnBrk="1" hangingPunct="1">
              <a:spcBef>
                <a:spcPct val="50000"/>
              </a:spcBef>
            </a:pPr>
            <a:endParaRPr lang="en-US" altLang="en-US"/>
          </a:p>
        </p:txBody>
      </p:sp>
      <p:sp>
        <p:nvSpPr>
          <p:cNvPr id="37896" name="Text Box 6">
            <a:extLst>
              <a:ext uri="{FF2B5EF4-FFF2-40B4-BE49-F238E27FC236}">
                <a16:creationId xmlns:a16="http://schemas.microsoft.com/office/drawing/2014/main" id="{D72E779C-C6BE-5C4B-ABEA-ED4F6AD61855}"/>
              </a:ext>
            </a:extLst>
          </p:cNvPr>
          <p:cNvSpPr txBox="1">
            <a:spLocks noChangeArrowheads="1"/>
          </p:cNvSpPr>
          <p:nvPr/>
        </p:nvSpPr>
        <p:spPr bwMode="auto">
          <a:xfrm>
            <a:off x="6096000" y="5181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p:grpSp>
        <p:nvGrpSpPr>
          <p:cNvPr id="2" name="Group 63">
            <a:extLst>
              <a:ext uri="{FF2B5EF4-FFF2-40B4-BE49-F238E27FC236}">
                <a16:creationId xmlns:a16="http://schemas.microsoft.com/office/drawing/2014/main" id="{DD1FD6D3-D12B-A344-B184-11CE194E6F9C}"/>
              </a:ext>
            </a:extLst>
          </p:cNvPr>
          <p:cNvGrpSpPr>
            <a:grpSpLocks/>
          </p:cNvGrpSpPr>
          <p:nvPr/>
        </p:nvGrpSpPr>
        <p:grpSpPr bwMode="auto">
          <a:xfrm>
            <a:off x="2198688" y="1431925"/>
            <a:ext cx="5078412" cy="1646238"/>
            <a:chOff x="425" y="902"/>
            <a:chExt cx="3199" cy="1037"/>
          </a:xfrm>
        </p:grpSpPr>
        <p:grpSp>
          <p:nvGrpSpPr>
            <p:cNvPr id="37919" name="Group 32">
              <a:extLst>
                <a:ext uri="{FF2B5EF4-FFF2-40B4-BE49-F238E27FC236}">
                  <a16:creationId xmlns:a16="http://schemas.microsoft.com/office/drawing/2014/main" id="{F39EB5B1-E4B3-3140-90AC-4F892302D1DB}"/>
                </a:ext>
              </a:extLst>
            </p:cNvPr>
            <p:cNvGrpSpPr>
              <a:grpSpLocks/>
            </p:cNvGrpSpPr>
            <p:nvPr/>
          </p:nvGrpSpPr>
          <p:grpSpPr bwMode="auto">
            <a:xfrm>
              <a:off x="425" y="1063"/>
              <a:ext cx="3199" cy="714"/>
              <a:chOff x="442" y="1648"/>
              <a:chExt cx="3995" cy="781"/>
            </a:xfrm>
          </p:grpSpPr>
          <p:sp>
            <p:nvSpPr>
              <p:cNvPr id="37924" name="Rectangle 8" descr="Wide upward diagonal">
                <a:extLst>
                  <a:ext uri="{FF2B5EF4-FFF2-40B4-BE49-F238E27FC236}">
                    <a16:creationId xmlns:a16="http://schemas.microsoft.com/office/drawing/2014/main" id="{3DB39094-8D6C-7848-A8F0-99DF28643E44}"/>
                  </a:ext>
                </a:extLst>
              </p:cNvPr>
              <p:cNvSpPr>
                <a:spLocks noChangeArrowheads="1"/>
              </p:cNvSpPr>
              <p:nvPr/>
            </p:nvSpPr>
            <p:spPr bwMode="auto">
              <a:xfrm>
                <a:off x="442"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25" name="Rectangle 10" descr="Wide upward diagonal">
                <a:extLst>
                  <a:ext uri="{FF2B5EF4-FFF2-40B4-BE49-F238E27FC236}">
                    <a16:creationId xmlns:a16="http://schemas.microsoft.com/office/drawing/2014/main" id="{84F37A16-D5D9-5D47-BDAF-D695B6F3F660}"/>
                  </a:ext>
                </a:extLst>
              </p:cNvPr>
              <p:cNvSpPr>
                <a:spLocks noChangeArrowheads="1"/>
              </p:cNvSpPr>
              <p:nvPr/>
            </p:nvSpPr>
            <p:spPr bwMode="auto">
              <a:xfrm>
                <a:off x="654"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26" name="Rectangle 11" descr="Wide upward diagonal">
                <a:extLst>
                  <a:ext uri="{FF2B5EF4-FFF2-40B4-BE49-F238E27FC236}">
                    <a16:creationId xmlns:a16="http://schemas.microsoft.com/office/drawing/2014/main" id="{5D5F6E66-54B4-A640-9757-6A9818B6FFCA}"/>
                  </a:ext>
                </a:extLst>
              </p:cNvPr>
              <p:cNvSpPr>
                <a:spLocks noChangeArrowheads="1"/>
              </p:cNvSpPr>
              <p:nvPr/>
            </p:nvSpPr>
            <p:spPr bwMode="auto">
              <a:xfrm>
                <a:off x="855"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27" name="Rectangle 12" descr="Wide upward diagonal">
                <a:extLst>
                  <a:ext uri="{FF2B5EF4-FFF2-40B4-BE49-F238E27FC236}">
                    <a16:creationId xmlns:a16="http://schemas.microsoft.com/office/drawing/2014/main" id="{6055753E-7984-4441-8269-067C4E835116}"/>
                  </a:ext>
                </a:extLst>
              </p:cNvPr>
              <p:cNvSpPr>
                <a:spLocks noChangeArrowheads="1"/>
              </p:cNvSpPr>
              <p:nvPr/>
            </p:nvSpPr>
            <p:spPr bwMode="auto">
              <a:xfrm>
                <a:off x="1067"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28" name="Rectangle 15" descr="Wide upward diagonal">
                <a:extLst>
                  <a:ext uri="{FF2B5EF4-FFF2-40B4-BE49-F238E27FC236}">
                    <a16:creationId xmlns:a16="http://schemas.microsoft.com/office/drawing/2014/main" id="{F8AA66AF-1DAA-2C43-B3B2-FE18E164E985}"/>
                  </a:ext>
                </a:extLst>
              </p:cNvPr>
              <p:cNvSpPr>
                <a:spLocks noChangeArrowheads="1"/>
              </p:cNvSpPr>
              <p:nvPr/>
            </p:nvSpPr>
            <p:spPr bwMode="auto">
              <a:xfrm>
                <a:off x="1258"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29" name="Rectangle 16" descr="Wide upward diagonal">
                <a:extLst>
                  <a:ext uri="{FF2B5EF4-FFF2-40B4-BE49-F238E27FC236}">
                    <a16:creationId xmlns:a16="http://schemas.microsoft.com/office/drawing/2014/main" id="{F80800BE-58E6-FB44-846E-172D21EB49D8}"/>
                  </a:ext>
                </a:extLst>
              </p:cNvPr>
              <p:cNvSpPr>
                <a:spLocks noChangeArrowheads="1"/>
              </p:cNvSpPr>
              <p:nvPr/>
            </p:nvSpPr>
            <p:spPr bwMode="auto">
              <a:xfrm>
                <a:off x="1460"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0" name="Rectangle 17" descr="Wide upward diagonal">
                <a:extLst>
                  <a:ext uri="{FF2B5EF4-FFF2-40B4-BE49-F238E27FC236}">
                    <a16:creationId xmlns:a16="http://schemas.microsoft.com/office/drawing/2014/main" id="{F9437255-E98C-7A4E-AE3C-926F641F138D}"/>
                  </a:ext>
                </a:extLst>
              </p:cNvPr>
              <p:cNvSpPr>
                <a:spLocks noChangeArrowheads="1"/>
              </p:cNvSpPr>
              <p:nvPr/>
            </p:nvSpPr>
            <p:spPr bwMode="auto">
              <a:xfrm>
                <a:off x="1661"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1" name="Rectangle 18" descr="Wide upward diagonal">
                <a:extLst>
                  <a:ext uri="{FF2B5EF4-FFF2-40B4-BE49-F238E27FC236}">
                    <a16:creationId xmlns:a16="http://schemas.microsoft.com/office/drawing/2014/main" id="{1736A871-B134-B34F-8581-F7F2D8B1FBDF}"/>
                  </a:ext>
                </a:extLst>
              </p:cNvPr>
              <p:cNvSpPr>
                <a:spLocks noChangeArrowheads="1"/>
              </p:cNvSpPr>
              <p:nvPr/>
            </p:nvSpPr>
            <p:spPr bwMode="auto">
              <a:xfrm>
                <a:off x="187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2" name="Rectangle 19" descr="Wide upward diagonal">
                <a:extLst>
                  <a:ext uri="{FF2B5EF4-FFF2-40B4-BE49-F238E27FC236}">
                    <a16:creationId xmlns:a16="http://schemas.microsoft.com/office/drawing/2014/main" id="{3D74A151-C40F-C246-8694-8B34CEE1C219}"/>
                  </a:ext>
                </a:extLst>
              </p:cNvPr>
              <p:cNvSpPr>
                <a:spLocks noChangeArrowheads="1"/>
              </p:cNvSpPr>
              <p:nvPr/>
            </p:nvSpPr>
            <p:spPr bwMode="auto">
              <a:xfrm>
                <a:off x="3707" y="1649"/>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3" name="Rectangle 20" descr="Wide upward diagonal">
                <a:extLst>
                  <a:ext uri="{FF2B5EF4-FFF2-40B4-BE49-F238E27FC236}">
                    <a16:creationId xmlns:a16="http://schemas.microsoft.com/office/drawing/2014/main" id="{0EF98421-B129-CD45-86E1-A28930262C7D}"/>
                  </a:ext>
                </a:extLst>
              </p:cNvPr>
              <p:cNvSpPr>
                <a:spLocks noChangeArrowheads="1"/>
              </p:cNvSpPr>
              <p:nvPr/>
            </p:nvSpPr>
            <p:spPr bwMode="auto">
              <a:xfrm>
                <a:off x="390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4" name="Rectangle 21" descr="Wide upward diagonal">
                <a:extLst>
                  <a:ext uri="{FF2B5EF4-FFF2-40B4-BE49-F238E27FC236}">
                    <a16:creationId xmlns:a16="http://schemas.microsoft.com/office/drawing/2014/main" id="{74A5FFF0-C28D-0A48-8F7B-D33FFB685CC9}"/>
                  </a:ext>
                </a:extLst>
              </p:cNvPr>
              <p:cNvSpPr>
                <a:spLocks noChangeArrowheads="1"/>
              </p:cNvSpPr>
              <p:nvPr/>
            </p:nvSpPr>
            <p:spPr bwMode="auto">
              <a:xfrm>
                <a:off x="4110" y="1648"/>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5" name="Rectangle 22" descr="Wide upward diagonal">
                <a:extLst>
                  <a:ext uri="{FF2B5EF4-FFF2-40B4-BE49-F238E27FC236}">
                    <a16:creationId xmlns:a16="http://schemas.microsoft.com/office/drawing/2014/main" id="{8E5482B0-5F73-EB40-BD32-31DD8CD61C2F}"/>
                  </a:ext>
                </a:extLst>
              </p:cNvPr>
              <p:cNvSpPr>
                <a:spLocks noChangeArrowheads="1"/>
              </p:cNvSpPr>
              <p:nvPr/>
            </p:nvSpPr>
            <p:spPr bwMode="auto">
              <a:xfrm>
                <a:off x="4313" y="1650"/>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6" name="Rectangle 23" descr="Wide upward diagonal">
                <a:extLst>
                  <a:ext uri="{FF2B5EF4-FFF2-40B4-BE49-F238E27FC236}">
                    <a16:creationId xmlns:a16="http://schemas.microsoft.com/office/drawing/2014/main" id="{E162A713-C102-814C-ADD1-F5BB59E7B2DB}"/>
                  </a:ext>
                </a:extLst>
              </p:cNvPr>
              <p:cNvSpPr>
                <a:spLocks noChangeArrowheads="1"/>
              </p:cNvSpPr>
              <p:nvPr/>
            </p:nvSpPr>
            <p:spPr bwMode="auto">
              <a:xfrm>
                <a:off x="2074"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7" name="Rectangle 24" descr="Wide upward diagonal">
                <a:extLst>
                  <a:ext uri="{FF2B5EF4-FFF2-40B4-BE49-F238E27FC236}">
                    <a16:creationId xmlns:a16="http://schemas.microsoft.com/office/drawing/2014/main" id="{F5A9F655-CF67-D84F-9E94-6C2F1E8D8477}"/>
                  </a:ext>
                </a:extLst>
              </p:cNvPr>
              <p:cNvSpPr>
                <a:spLocks noChangeArrowheads="1"/>
              </p:cNvSpPr>
              <p:nvPr/>
            </p:nvSpPr>
            <p:spPr bwMode="auto">
              <a:xfrm>
                <a:off x="2286"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8" name="Rectangle 25" descr="Wide upward diagonal">
                <a:extLst>
                  <a:ext uri="{FF2B5EF4-FFF2-40B4-BE49-F238E27FC236}">
                    <a16:creationId xmlns:a16="http://schemas.microsoft.com/office/drawing/2014/main" id="{BD8DEECF-5510-B140-AC16-5F41A8188BF0}"/>
                  </a:ext>
                </a:extLst>
              </p:cNvPr>
              <p:cNvSpPr>
                <a:spLocks noChangeArrowheads="1"/>
              </p:cNvSpPr>
              <p:nvPr/>
            </p:nvSpPr>
            <p:spPr bwMode="auto">
              <a:xfrm>
                <a:off x="2487"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39" name="Rectangle 26" descr="Wide upward diagonal">
                <a:extLst>
                  <a:ext uri="{FF2B5EF4-FFF2-40B4-BE49-F238E27FC236}">
                    <a16:creationId xmlns:a16="http://schemas.microsoft.com/office/drawing/2014/main" id="{5EE8FFDB-4D63-DD49-AC31-A16EDE736A0A}"/>
                  </a:ext>
                </a:extLst>
              </p:cNvPr>
              <p:cNvSpPr>
                <a:spLocks noChangeArrowheads="1"/>
              </p:cNvSpPr>
              <p:nvPr/>
            </p:nvSpPr>
            <p:spPr bwMode="auto">
              <a:xfrm>
                <a:off x="2699"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40" name="Rectangle 27" descr="Wide upward diagonal">
                <a:extLst>
                  <a:ext uri="{FF2B5EF4-FFF2-40B4-BE49-F238E27FC236}">
                    <a16:creationId xmlns:a16="http://schemas.microsoft.com/office/drawing/2014/main" id="{4FD950C2-F666-124F-9595-1ED268BC2E09}"/>
                  </a:ext>
                </a:extLst>
              </p:cNvPr>
              <p:cNvSpPr>
                <a:spLocks noChangeArrowheads="1"/>
              </p:cNvSpPr>
              <p:nvPr/>
            </p:nvSpPr>
            <p:spPr bwMode="auto">
              <a:xfrm>
                <a:off x="2880"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41" name="Rectangle 28" descr="Wide upward diagonal">
                <a:extLst>
                  <a:ext uri="{FF2B5EF4-FFF2-40B4-BE49-F238E27FC236}">
                    <a16:creationId xmlns:a16="http://schemas.microsoft.com/office/drawing/2014/main" id="{A0B1BB27-CB94-C94B-A73A-2CF52D934ACF}"/>
                  </a:ext>
                </a:extLst>
              </p:cNvPr>
              <p:cNvSpPr>
                <a:spLocks noChangeArrowheads="1"/>
              </p:cNvSpPr>
              <p:nvPr/>
            </p:nvSpPr>
            <p:spPr bwMode="auto">
              <a:xfrm>
                <a:off x="3092"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42" name="Rectangle 29" descr="Wide upward diagonal">
                <a:extLst>
                  <a:ext uri="{FF2B5EF4-FFF2-40B4-BE49-F238E27FC236}">
                    <a16:creationId xmlns:a16="http://schemas.microsoft.com/office/drawing/2014/main" id="{4B3EE474-0FD5-D44F-976D-7F3A21CC439C}"/>
                  </a:ext>
                </a:extLst>
              </p:cNvPr>
              <p:cNvSpPr>
                <a:spLocks noChangeArrowheads="1"/>
              </p:cNvSpPr>
              <p:nvPr/>
            </p:nvSpPr>
            <p:spPr bwMode="auto">
              <a:xfrm>
                <a:off x="3293"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43" name="Rectangle 30" descr="Wide upward diagonal">
                <a:extLst>
                  <a:ext uri="{FF2B5EF4-FFF2-40B4-BE49-F238E27FC236}">
                    <a16:creationId xmlns:a16="http://schemas.microsoft.com/office/drawing/2014/main" id="{81465F7E-82F7-F446-81C2-9F2B030A4084}"/>
                  </a:ext>
                </a:extLst>
              </p:cNvPr>
              <p:cNvSpPr>
                <a:spLocks noChangeArrowheads="1"/>
              </p:cNvSpPr>
              <p:nvPr/>
            </p:nvSpPr>
            <p:spPr bwMode="auto">
              <a:xfrm>
                <a:off x="3505" y="1651"/>
                <a:ext cx="124" cy="778"/>
              </a:xfrm>
              <a:prstGeom prst="rect">
                <a:avLst/>
              </a:prstGeom>
              <a:blipFill dpi="0" rotWithShape="0">
                <a:blip r:embed="rId2"/>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7920" name="Line 33">
              <a:extLst>
                <a:ext uri="{FF2B5EF4-FFF2-40B4-BE49-F238E27FC236}">
                  <a16:creationId xmlns:a16="http://schemas.microsoft.com/office/drawing/2014/main" id="{D4F29280-82B2-5440-A55C-FF7A2D00D476}"/>
                </a:ext>
              </a:extLst>
            </p:cNvPr>
            <p:cNvSpPr>
              <a:spLocks noChangeShapeType="1"/>
            </p:cNvSpPr>
            <p:nvPr/>
          </p:nvSpPr>
          <p:spPr bwMode="auto">
            <a:xfrm>
              <a:off x="876" y="92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1" name="Line 34">
              <a:extLst>
                <a:ext uri="{FF2B5EF4-FFF2-40B4-BE49-F238E27FC236}">
                  <a16:creationId xmlns:a16="http://schemas.microsoft.com/office/drawing/2014/main" id="{44B92BD4-D5B6-F440-805F-AA44321AB236}"/>
                </a:ext>
              </a:extLst>
            </p:cNvPr>
            <p:cNvSpPr>
              <a:spLocks noChangeShapeType="1"/>
            </p:cNvSpPr>
            <p:nvPr/>
          </p:nvSpPr>
          <p:spPr bwMode="auto">
            <a:xfrm>
              <a:off x="1213"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2" name="Line 35">
              <a:extLst>
                <a:ext uri="{FF2B5EF4-FFF2-40B4-BE49-F238E27FC236}">
                  <a16:creationId xmlns:a16="http://schemas.microsoft.com/office/drawing/2014/main" id="{394844C5-AE11-614B-A3F1-FF825B3B2A73}"/>
                </a:ext>
              </a:extLst>
            </p:cNvPr>
            <p:cNvSpPr>
              <a:spLocks noChangeShapeType="1"/>
            </p:cNvSpPr>
            <p:nvPr/>
          </p:nvSpPr>
          <p:spPr bwMode="auto">
            <a:xfrm>
              <a:off x="2191"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3" name="Line 36">
              <a:extLst>
                <a:ext uri="{FF2B5EF4-FFF2-40B4-BE49-F238E27FC236}">
                  <a16:creationId xmlns:a16="http://schemas.microsoft.com/office/drawing/2014/main" id="{43218B54-38FB-DE43-9D8B-0C076BB65972}"/>
                </a:ext>
              </a:extLst>
            </p:cNvPr>
            <p:cNvSpPr>
              <a:spLocks noChangeShapeType="1"/>
            </p:cNvSpPr>
            <p:nvPr/>
          </p:nvSpPr>
          <p:spPr bwMode="auto">
            <a:xfrm>
              <a:off x="2844" y="90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221" name="Text Box 37">
            <a:extLst>
              <a:ext uri="{FF2B5EF4-FFF2-40B4-BE49-F238E27FC236}">
                <a16:creationId xmlns:a16="http://schemas.microsoft.com/office/drawing/2014/main" id="{1F9B5E11-6002-4A47-9B95-2732AD3B9AEF}"/>
              </a:ext>
            </a:extLst>
          </p:cNvPr>
          <p:cNvSpPr txBox="1">
            <a:spLocks noChangeArrowheads="1"/>
          </p:cNvSpPr>
          <p:nvPr/>
        </p:nvSpPr>
        <p:spPr bwMode="auto">
          <a:xfrm>
            <a:off x="7469189" y="3811589"/>
            <a:ext cx="2682875"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t>There are </a:t>
            </a:r>
          </a:p>
          <a:p>
            <a:pPr eaLnBrk="1" hangingPunct="1">
              <a:spcBef>
                <a:spcPct val="50000"/>
              </a:spcBef>
            </a:pPr>
            <a:r>
              <a:rPr lang="en-US" altLang="en-US" sz="2000" i="1"/>
              <a:t>C</a:t>
            </a:r>
            <a:r>
              <a:rPr lang="en-US" altLang="en-US" sz="2000" b="1"/>
              <a:t>(15+5-1, 15) = 3,876 ways.</a:t>
            </a:r>
          </a:p>
        </p:txBody>
      </p:sp>
      <p:grpSp>
        <p:nvGrpSpPr>
          <p:cNvPr id="4" name="Group 64">
            <a:extLst>
              <a:ext uri="{FF2B5EF4-FFF2-40B4-BE49-F238E27FC236}">
                <a16:creationId xmlns:a16="http://schemas.microsoft.com/office/drawing/2014/main" id="{B76CA86A-7F04-ED45-B272-75C7A317F1C7}"/>
              </a:ext>
            </a:extLst>
          </p:cNvPr>
          <p:cNvGrpSpPr>
            <a:grpSpLocks/>
          </p:cNvGrpSpPr>
          <p:nvPr/>
        </p:nvGrpSpPr>
        <p:grpSpPr bwMode="auto">
          <a:xfrm>
            <a:off x="2211389" y="3521075"/>
            <a:ext cx="3781425" cy="1658938"/>
            <a:chOff x="433" y="2218"/>
            <a:chExt cx="2382" cy="1045"/>
          </a:xfrm>
        </p:grpSpPr>
        <p:sp>
          <p:nvSpPr>
            <p:cNvPr id="37900" name="Rectangle 39" descr="Wide upward diagonal">
              <a:extLst>
                <a:ext uri="{FF2B5EF4-FFF2-40B4-BE49-F238E27FC236}">
                  <a16:creationId xmlns:a16="http://schemas.microsoft.com/office/drawing/2014/main" id="{7F890855-2917-9340-A760-DD83C39D45E0}"/>
                </a:ext>
              </a:extLst>
            </p:cNvPr>
            <p:cNvSpPr>
              <a:spLocks noChangeArrowheads="1"/>
            </p:cNvSpPr>
            <p:nvPr/>
          </p:nvSpPr>
          <p:spPr bwMode="auto">
            <a:xfrm>
              <a:off x="433"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1" name="Rectangle 40" descr="Wide upward diagonal">
              <a:extLst>
                <a:ext uri="{FF2B5EF4-FFF2-40B4-BE49-F238E27FC236}">
                  <a16:creationId xmlns:a16="http://schemas.microsoft.com/office/drawing/2014/main" id="{69F6D582-B0A5-5B42-BBE8-9A00A5D79076}"/>
                </a:ext>
              </a:extLst>
            </p:cNvPr>
            <p:cNvSpPr>
              <a:spLocks noChangeArrowheads="1"/>
            </p:cNvSpPr>
            <p:nvPr/>
          </p:nvSpPr>
          <p:spPr bwMode="auto">
            <a:xfrm>
              <a:off x="603"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2" name="Rectangle 41" descr="Wide upward diagonal">
              <a:extLst>
                <a:ext uri="{FF2B5EF4-FFF2-40B4-BE49-F238E27FC236}">
                  <a16:creationId xmlns:a16="http://schemas.microsoft.com/office/drawing/2014/main" id="{608FE566-A78E-7441-88A9-CC02D04C56DB}"/>
                </a:ext>
              </a:extLst>
            </p:cNvPr>
            <p:cNvSpPr>
              <a:spLocks noChangeArrowheads="1"/>
            </p:cNvSpPr>
            <p:nvPr/>
          </p:nvSpPr>
          <p:spPr bwMode="auto">
            <a:xfrm>
              <a:off x="764"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3" name="Rectangle 42" descr="Wide upward diagonal">
              <a:extLst>
                <a:ext uri="{FF2B5EF4-FFF2-40B4-BE49-F238E27FC236}">
                  <a16:creationId xmlns:a16="http://schemas.microsoft.com/office/drawing/2014/main" id="{C7C3D9BE-EDD2-4B49-B137-B1D67E2B07D5}"/>
                </a:ext>
              </a:extLst>
            </p:cNvPr>
            <p:cNvSpPr>
              <a:spLocks noChangeArrowheads="1"/>
            </p:cNvSpPr>
            <p:nvPr/>
          </p:nvSpPr>
          <p:spPr bwMode="auto">
            <a:xfrm>
              <a:off x="933" y="2429"/>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4" name="Rectangle 43" descr="Wide upward diagonal">
              <a:extLst>
                <a:ext uri="{FF2B5EF4-FFF2-40B4-BE49-F238E27FC236}">
                  <a16:creationId xmlns:a16="http://schemas.microsoft.com/office/drawing/2014/main" id="{8A50A945-4B75-C646-A37C-D621558A2872}"/>
                </a:ext>
              </a:extLst>
            </p:cNvPr>
            <p:cNvSpPr>
              <a:spLocks noChangeArrowheads="1"/>
            </p:cNvSpPr>
            <p:nvPr/>
          </p:nvSpPr>
          <p:spPr bwMode="auto">
            <a:xfrm>
              <a:off x="1086" y="2429"/>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5" name="Rectangle 44" descr="Wide upward diagonal">
              <a:extLst>
                <a:ext uri="{FF2B5EF4-FFF2-40B4-BE49-F238E27FC236}">
                  <a16:creationId xmlns:a16="http://schemas.microsoft.com/office/drawing/2014/main" id="{CE82ACF1-5420-104A-A259-0B06EE49C426}"/>
                </a:ext>
              </a:extLst>
            </p:cNvPr>
            <p:cNvSpPr>
              <a:spLocks noChangeArrowheads="1"/>
            </p:cNvSpPr>
            <p:nvPr/>
          </p:nvSpPr>
          <p:spPr bwMode="auto">
            <a:xfrm>
              <a:off x="1248"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6" name="Rectangle 45" descr="Wide upward diagonal">
              <a:extLst>
                <a:ext uri="{FF2B5EF4-FFF2-40B4-BE49-F238E27FC236}">
                  <a16:creationId xmlns:a16="http://schemas.microsoft.com/office/drawing/2014/main" id="{495BBF7E-17FF-EF40-B6E9-8B6DADD8478B}"/>
                </a:ext>
              </a:extLst>
            </p:cNvPr>
            <p:cNvSpPr>
              <a:spLocks noChangeArrowheads="1"/>
            </p:cNvSpPr>
            <p:nvPr/>
          </p:nvSpPr>
          <p:spPr bwMode="auto">
            <a:xfrm>
              <a:off x="1409"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7" name="Rectangle 46" descr="Wide upward diagonal">
              <a:extLst>
                <a:ext uri="{FF2B5EF4-FFF2-40B4-BE49-F238E27FC236}">
                  <a16:creationId xmlns:a16="http://schemas.microsoft.com/office/drawing/2014/main" id="{031BC87F-85B2-A247-B5DF-C9AD2DBD2BCE}"/>
                </a:ext>
              </a:extLst>
            </p:cNvPr>
            <p:cNvSpPr>
              <a:spLocks noChangeArrowheads="1"/>
            </p:cNvSpPr>
            <p:nvPr/>
          </p:nvSpPr>
          <p:spPr bwMode="auto">
            <a:xfrm>
              <a:off x="1579" y="2429"/>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8" name="Rectangle 51" descr="Wide upward diagonal">
              <a:extLst>
                <a:ext uri="{FF2B5EF4-FFF2-40B4-BE49-F238E27FC236}">
                  <a16:creationId xmlns:a16="http://schemas.microsoft.com/office/drawing/2014/main" id="{F659B252-AB96-E645-939A-8EE6EBE70CC2}"/>
                </a:ext>
              </a:extLst>
            </p:cNvPr>
            <p:cNvSpPr>
              <a:spLocks noChangeArrowheads="1"/>
            </p:cNvSpPr>
            <p:nvPr/>
          </p:nvSpPr>
          <p:spPr bwMode="auto">
            <a:xfrm>
              <a:off x="1740"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09" name="Rectangle 52" descr="Wide upward diagonal">
              <a:extLst>
                <a:ext uri="{FF2B5EF4-FFF2-40B4-BE49-F238E27FC236}">
                  <a16:creationId xmlns:a16="http://schemas.microsoft.com/office/drawing/2014/main" id="{DF71FD7B-21A9-9043-B2D7-D21E3CFA56F7}"/>
                </a:ext>
              </a:extLst>
            </p:cNvPr>
            <p:cNvSpPr>
              <a:spLocks noChangeArrowheads="1"/>
            </p:cNvSpPr>
            <p:nvPr/>
          </p:nvSpPr>
          <p:spPr bwMode="auto">
            <a:xfrm>
              <a:off x="1910"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10" name="Rectangle 53" descr="Wide upward diagonal">
              <a:extLst>
                <a:ext uri="{FF2B5EF4-FFF2-40B4-BE49-F238E27FC236}">
                  <a16:creationId xmlns:a16="http://schemas.microsoft.com/office/drawing/2014/main" id="{CCD220A3-2EAF-BF41-8FBD-F8C731C6B3AF}"/>
                </a:ext>
              </a:extLst>
            </p:cNvPr>
            <p:cNvSpPr>
              <a:spLocks noChangeArrowheads="1"/>
            </p:cNvSpPr>
            <p:nvPr/>
          </p:nvSpPr>
          <p:spPr bwMode="auto">
            <a:xfrm>
              <a:off x="2071"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11" name="Rectangle 54" descr="Wide upward diagonal">
              <a:extLst>
                <a:ext uri="{FF2B5EF4-FFF2-40B4-BE49-F238E27FC236}">
                  <a16:creationId xmlns:a16="http://schemas.microsoft.com/office/drawing/2014/main" id="{8F3CC31D-316D-6849-A74C-0D4F8CD0F994}"/>
                </a:ext>
              </a:extLst>
            </p:cNvPr>
            <p:cNvSpPr>
              <a:spLocks noChangeArrowheads="1"/>
            </p:cNvSpPr>
            <p:nvPr/>
          </p:nvSpPr>
          <p:spPr bwMode="auto">
            <a:xfrm>
              <a:off x="2240" y="2430"/>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12" name="Rectangle 55" descr="Wide upward diagonal">
              <a:extLst>
                <a:ext uri="{FF2B5EF4-FFF2-40B4-BE49-F238E27FC236}">
                  <a16:creationId xmlns:a16="http://schemas.microsoft.com/office/drawing/2014/main" id="{F49F2CEC-2177-134A-A39B-B9E42D28FB96}"/>
                </a:ext>
              </a:extLst>
            </p:cNvPr>
            <p:cNvSpPr>
              <a:spLocks noChangeArrowheads="1"/>
            </p:cNvSpPr>
            <p:nvPr/>
          </p:nvSpPr>
          <p:spPr bwMode="auto">
            <a:xfrm>
              <a:off x="2385" y="2430"/>
              <a:ext cx="100"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13" name="Rectangle 56" descr="Wide upward diagonal">
              <a:extLst>
                <a:ext uri="{FF2B5EF4-FFF2-40B4-BE49-F238E27FC236}">
                  <a16:creationId xmlns:a16="http://schemas.microsoft.com/office/drawing/2014/main" id="{9549DC59-818F-A448-AC20-A396DACDFF54}"/>
                </a:ext>
              </a:extLst>
            </p:cNvPr>
            <p:cNvSpPr>
              <a:spLocks noChangeArrowheads="1"/>
            </p:cNvSpPr>
            <p:nvPr/>
          </p:nvSpPr>
          <p:spPr bwMode="auto">
            <a:xfrm>
              <a:off x="2555"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14" name="Rectangle 57" descr="Wide upward diagonal">
              <a:extLst>
                <a:ext uri="{FF2B5EF4-FFF2-40B4-BE49-F238E27FC236}">
                  <a16:creationId xmlns:a16="http://schemas.microsoft.com/office/drawing/2014/main" id="{007C261C-2AF1-7B40-A36C-B18753C2B874}"/>
                </a:ext>
              </a:extLst>
            </p:cNvPr>
            <p:cNvSpPr>
              <a:spLocks noChangeArrowheads="1"/>
            </p:cNvSpPr>
            <p:nvPr/>
          </p:nvSpPr>
          <p:spPr bwMode="auto">
            <a:xfrm>
              <a:off x="2716" y="2430"/>
              <a:ext cx="99" cy="711"/>
            </a:xfrm>
            <a:prstGeom prst="rect">
              <a:avLst/>
            </a:prstGeom>
            <a:blipFill dpi="0" rotWithShape="0">
              <a:blip r:embed="rId3"/>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7915" name="Line 59">
              <a:extLst>
                <a:ext uri="{FF2B5EF4-FFF2-40B4-BE49-F238E27FC236}">
                  <a16:creationId xmlns:a16="http://schemas.microsoft.com/office/drawing/2014/main" id="{C9D579CA-CAB9-1C4D-BC13-67EEC26EE5AF}"/>
                </a:ext>
              </a:extLst>
            </p:cNvPr>
            <p:cNvSpPr>
              <a:spLocks noChangeShapeType="1"/>
            </p:cNvSpPr>
            <p:nvPr/>
          </p:nvSpPr>
          <p:spPr bwMode="auto">
            <a:xfrm>
              <a:off x="2517" y="2227"/>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6" name="Line 60">
              <a:extLst>
                <a:ext uri="{FF2B5EF4-FFF2-40B4-BE49-F238E27FC236}">
                  <a16:creationId xmlns:a16="http://schemas.microsoft.com/office/drawing/2014/main" id="{C82D4F1F-91C2-DF4B-9264-01264BC17D64}"/>
                </a:ext>
              </a:extLst>
            </p:cNvPr>
            <p:cNvSpPr>
              <a:spLocks noChangeShapeType="1"/>
            </p:cNvSpPr>
            <p:nvPr/>
          </p:nvSpPr>
          <p:spPr bwMode="auto">
            <a:xfrm>
              <a:off x="1883" y="2246"/>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7" name="Line 61">
              <a:extLst>
                <a:ext uri="{FF2B5EF4-FFF2-40B4-BE49-F238E27FC236}">
                  <a16:creationId xmlns:a16="http://schemas.microsoft.com/office/drawing/2014/main" id="{A0654316-1904-7A44-A13E-96F9B852C122}"/>
                </a:ext>
              </a:extLst>
            </p:cNvPr>
            <p:cNvSpPr>
              <a:spLocks noChangeShapeType="1"/>
            </p:cNvSpPr>
            <p:nvPr/>
          </p:nvSpPr>
          <p:spPr bwMode="auto">
            <a:xfrm>
              <a:off x="1711" y="2218"/>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8" name="Line 62">
              <a:extLst>
                <a:ext uri="{FF2B5EF4-FFF2-40B4-BE49-F238E27FC236}">
                  <a16:creationId xmlns:a16="http://schemas.microsoft.com/office/drawing/2014/main" id="{1F260B80-97DE-8E42-A7CD-0F925F537E98}"/>
                </a:ext>
              </a:extLst>
            </p:cNvPr>
            <p:cNvSpPr>
              <a:spLocks noChangeShapeType="1"/>
            </p:cNvSpPr>
            <p:nvPr/>
          </p:nvSpPr>
          <p:spPr bwMode="auto">
            <a:xfrm>
              <a:off x="1365" y="2218"/>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401777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18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31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P spid="93188" grpId="0"/>
      <p:bldP spid="93189" grpId="0"/>
      <p:bldP spid="932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a:extLst>
              <a:ext uri="{FF2B5EF4-FFF2-40B4-BE49-F238E27FC236}">
                <a16:creationId xmlns:a16="http://schemas.microsoft.com/office/drawing/2014/main" id="{AE0409AB-49C8-0F46-8A5A-B79762DA8666}"/>
              </a:ext>
            </a:extLst>
          </p:cNvPr>
          <p:cNvSpPr>
            <a:spLocks noGrp="1" noChangeArrowheads="1"/>
          </p:cNvSpPr>
          <p:nvPr>
            <p:ph type="title"/>
          </p:nvPr>
        </p:nvSpPr>
        <p:spPr>
          <a:xfrm>
            <a:off x="2135188" y="196850"/>
            <a:ext cx="7772400" cy="1143000"/>
          </a:xfrm>
        </p:spPr>
        <p:txBody>
          <a:bodyPr/>
          <a:lstStyle/>
          <a:p>
            <a:pPr eaLnBrk="1" hangingPunct="1"/>
            <a:r>
              <a:rPr lang="en-US" altLang="en-US">
                <a:ea typeface="ＭＳ Ｐゴシック" panose="020B0600070205080204" pitchFamily="34" charset="-128"/>
              </a:rPr>
              <a:t>Solution</a:t>
            </a:r>
          </a:p>
        </p:txBody>
      </p:sp>
      <p:sp>
        <p:nvSpPr>
          <p:cNvPr id="93187" name="Text Box 3">
            <a:extLst>
              <a:ext uri="{FF2B5EF4-FFF2-40B4-BE49-F238E27FC236}">
                <a16:creationId xmlns:a16="http://schemas.microsoft.com/office/drawing/2014/main" id="{2A6A8B6D-4544-3442-86F1-7009007BD905}"/>
              </a:ext>
            </a:extLst>
          </p:cNvPr>
          <p:cNvSpPr txBox="1">
            <a:spLocks noChangeArrowheads="1"/>
          </p:cNvSpPr>
          <p:nvPr/>
        </p:nvSpPr>
        <p:spPr bwMode="auto">
          <a:xfrm>
            <a:off x="2012950" y="1019175"/>
            <a:ext cx="830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First distribute the red sticks among the 5 children:</a:t>
            </a:r>
          </a:p>
        </p:txBody>
      </p:sp>
      <p:sp>
        <p:nvSpPr>
          <p:cNvPr id="93188" name="Text Box 4">
            <a:extLst>
              <a:ext uri="{FF2B5EF4-FFF2-40B4-BE49-F238E27FC236}">
                <a16:creationId xmlns:a16="http://schemas.microsoft.com/office/drawing/2014/main" id="{7871E805-29D4-FA44-98BC-3E2387014286}"/>
              </a:ext>
            </a:extLst>
          </p:cNvPr>
          <p:cNvSpPr txBox="1">
            <a:spLocks noChangeArrowheads="1"/>
          </p:cNvSpPr>
          <p:nvPr/>
        </p:nvSpPr>
        <p:spPr bwMode="auto">
          <a:xfrm>
            <a:off x="7559675" y="1584326"/>
            <a:ext cx="278765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t>There are</a:t>
            </a:r>
            <a:r>
              <a:rPr lang="en-US" altLang="en-US" sz="2000" b="1" i="1"/>
              <a:t> </a:t>
            </a:r>
          </a:p>
          <a:p>
            <a:pPr eaLnBrk="1" hangingPunct="1">
              <a:spcBef>
                <a:spcPct val="50000"/>
              </a:spcBef>
            </a:pPr>
            <a:r>
              <a:rPr lang="en-US" altLang="en-US" sz="2000" b="1" i="1"/>
              <a:t>C</a:t>
            </a:r>
            <a:r>
              <a:rPr lang="en-US" altLang="en-US" sz="2000" b="1"/>
              <a:t>(20+5-1, 20) = 10,626 ways.</a:t>
            </a:r>
          </a:p>
        </p:txBody>
      </p:sp>
      <p:sp>
        <p:nvSpPr>
          <p:cNvPr id="93189" name="Text Box 5">
            <a:extLst>
              <a:ext uri="{FF2B5EF4-FFF2-40B4-BE49-F238E27FC236}">
                <a16:creationId xmlns:a16="http://schemas.microsoft.com/office/drawing/2014/main" id="{85161F7B-E267-684C-B081-E5903A21C1F3}"/>
              </a:ext>
            </a:extLst>
          </p:cNvPr>
          <p:cNvSpPr txBox="1">
            <a:spLocks noChangeArrowheads="1"/>
          </p:cNvSpPr>
          <p:nvPr/>
        </p:nvSpPr>
        <p:spPr bwMode="auto">
          <a:xfrm>
            <a:off x="1949450" y="3109913"/>
            <a:ext cx="81851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Then distribute the 15 identical sticks of black. </a:t>
            </a:r>
          </a:p>
          <a:p>
            <a:pPr eaLnBrk="1" hangingPunct="1">
              <a:spcBef>
                <a:spcPct val="50000"/>
              </a:spcBef>
            </a:pPr>
            <a:endParaRPr lang="en-US" altLang="en-US"/>
          </a:p>
          <a:p>
            <a:pPr eaLnBrk="1" hangingPunct="1">
              <a:spcBef>
                <a:spcPct val="50000"/>
              </a:spcBef>
            </a:pPr>
            <a:endParaRPr lang="en-US" altLang="en-US"/>
          </a:p>
          <a:p>
            <a:pPr eaLnBrk="1" hangingPunct="1">
              <a:spcBef>
                <a:spcPct val="50000"/>
              </a:spcBef>
            </a:pPr>
            <a:endParaRPr lang="en-US" altLang="en-US"/>
          </a:p>
        </p:txBody>
      </p:sp>
      <p:sp>
        <p:nvSpPr>
          <p:cNvPr id="38920" name="Text Box 6">
            <a:extLst>
              <a:ext uri="{FF2B5EF4-FFF2-40B4-BE49-F238E27FC236}">
                <a16:creationId xmlns:a16="http://schemas.microsoft.com/office/drawing/2014/main" id="{3905B767-B3D4-2648-BEFE-4175F6CDC9CE}"/>
              </a:ext>
            </a:extLst>
          </p:cNvPr>
          <p:cNvSpPr txBox="1">
            <a:spLocks noChangeArrowheads="1"/>
          </p:cNvSpPr>
          <p:nvPr/>
        </p:nvSpPr>
        <p:spPr bwMode="auto">
          <a:xfrm>
            <a:off x="6096000" y="5181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mc:AlternateContent xmlns:mc="http://schemas.openxmlformats.org/markup-compatibility/2006" xmlns:a14="http://schemas.microsoft.com/office/drawing/2010/main">
        <mc:Choice Requires="a14">
          <p:sp>
            <p:nvSpPr>
              <p:cNvPr id="93191" name="Text Box 7">
                <a:extLst>
                  <a:ext uri="{FF2B5EF4-FFF2-40B4-BE49-F238E27FC236}">
                    <a16:creationId xmlns:a16="http://schemas.microsoft.com/office/drawing/2014/main" id="{57850660-AAA1-D947-BAF1-92CD7B882ED4}"/>
                  </a:ext>
                </a:extLst>
              </p:cNvPr>
              <p:cNvSpPr txBox="1">
                <a:spLocks noChangeArrowheads="1"/>
              </p:cNvSpPr>
              <p:nvPr/>
            </p:nvSpPr>
            <p:spPr bwMode="auto">
              <a:xfrm>
                <a:off x="1979613" y="5197476"/>
                <a:ext cx="8291512" cy="10156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t>The product gives the number of ways to distribute all the candy:</a:t>
                </a:r>
                <a:endParaRPr lang="en-US" altLang="en-US" b="1" dirty="0"/>
              </a:p>
              <a:p>
                <a:pPr algn="ctr" eaLnBrk="1" hangingPunct="1">
                  <a:spcBef>
                    <a:spcPct val="50000"/>
                  </a:spcBef>
                </a:pPr>
                <a:r>
                  <a:rPr lang="en-US" altLang="en-US" b="1" dirty="0"/>
                  <a:t>10,626 </a:t>
                </a:r>
                <a14:m>
                  <m:oMath xmlns:m="http://schemas.openxmlformats.org/officeDocument/2006/math">
                    <m:r>
                      <a:rPr lang="en-US" altLang="en-US" b="1" i="1" smtClean="0">
                        <a:latin typeface="Cambria Math" panose="02040503050406030204" pitchFamily="18" charset="0"/>
                        <a:ea typeface="Cambria Math" panose="02040503050406030204" pitchFamily="18" charset="0"/>
                      </a:rPr>
                      <m:t>×</m:t>
                    </m:r>
                  </m:oMath>
                </a14:m>
                <a:r>
                  <a:rPr lang="en-US" altLang="en-US" b="1" dirty="0"/>
                  <a:t> 3,876 = </a:t>
                </a:r>
                <a:r>
                  <a:rPr lang="en-US" altLang="en-US" b="1" u="sng" dirty="0"/>
                  <a:t>41,186,376</a:t>
                </a:r>
              </a:p>
            </p:txBody>
          </p:sp>
        </mc:Choice>
        <mc:Fallback xmlns="">
          <p:sp>
            <p:nvSpPr>
              <p:cNvPr id="93191" name="Text Box 7">
                <a:extLst>
                  <a:ext uri="{FF2B5EF4-FFF2-40B4-BE49-F238E27FC236}">
                    <a16:creationId xmlns:a16="http://schemas.microsoft.com/office/drawing/2014/main" id="{57850660-AAA1-D947-BAF1-92CD7B882ED4}"/>
                  </a:ext>
                </a:extLst>
              </p:cNvPr>
              <p:cNvSpPr txBox="1">
                <a:spLocks noRot="1" noChangeAspect="1" noMove="1" noResize="1" noEditPoints="1" noAdjustHandles="1" noChangeArrowheads="1" noChangeShapeType="1" noTextEdit="1"/>
              </p:cNvSpPr>
              <p:nvPr/>
            </p:nvSpPr>
            <p:spPr bwMode="auto">
              <a:xfrm>
                <a:off x="1979613" y="5197476"/>
                <a:ext cx="8291512" cy="1015663"/>
              </a:xfrm>
              <a:prstGeom prst="rect">
                <a:avLst/>
              </a:prstGeom>
              <a:blipFill>
                <a:blip r:embed="rId2"/>
                <a:stretch>
                  <a:fillRect l="-1225" t="-3704" b="-123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Group 63">
            <a:extLst>
              <a:ext uri="{FF2B5EF4-FFF2-40B4-BE49-F238E27FC236}">
                <a16:creationId xmlns:a16="http://schemas.microsoft.com/office/drawing/2014/main" id="{B36864A1-3042-DE47-9310-66B9DA20CA41}"/>
              </a:ext>
            </a:extLst>
          </p:cNvPr>
          <p:cNvGrpSpPr>
            <a:grpSpLocks/>
          </p:cNvGrpSpPr>
          <p:nvPr/>
        </p:nvGrpSpPr>
        <p:grpSpPr bwMode="auto">
          <a:xfrm>
            <a:off x="2198688" y="1431925"/>
            <a:ext cx="5078412" cy="1646238"/>
            <a:chOff x="425" y="902"/>
            <a:chExt cx="3199" cy="1037"/>
          </a:xfrm>
        </p:grpSpPr>
        <p:grpSp>
          <p:nvGrpSpPr>
            <p:cNvPr id="38944" name="Group 32">
              <a:extLst>
                <a:ext uri="{FF2B5EF4-FFF2-40B4-BE49-F238E27FC236}">
                  <a16:creationId xmlns:a16="http://schemas.microsoft.com/office/drawing/2014/main" id="{B937FA07-E43F-3C42-B18A-42F0ACBBB205}"/>
                </a:ext>
              </a:extLst>
            </p:cNvPr>
            <p:cNvGrpSpPr>
              <a:grpSpLocks/>
            </p:cNvGrpSpPr>
            <p:nvPr/>
          </p:nvGrpSpPr>
          <p:grpSpPr bwMode="auto">
            <a:xfrm>
              <a:off x="425" y="1063"/>
              <a:ext cx="3199" cy="714"/>
              <a:chOff x="442" y="1648"/>
              <a:chExt cx="3995" cy="781"/>
            </a:xfrm>
          </p:grpSpPr>
          <p:sp>
            <p:nvSpPr>
              <p:cNvPr id="38949" name="Rectangle 8" descr="Wide upward diagonal">
                <a:extLst>
                  <a:ext uri="{FF2B5EF4-FFF2-40B4-BE49-F238E27FC236}">
                    <a16:creationId xmlns:a16="http://schemas.microsoft.com/office/drawing/2014/main" id="{41D96653-43A7-AD4F-B0E8-9ED58190E5E0}"/>
                  </a:ext>
                </a:extLst>
              </p:cNvPr>
              <p:cNvSpPr>
                <a:spLocks noChangeArrowheads="1"/>
              </p:cNvSpPr>
              <p:nvPr/>
            </p:nvSpPr>
            <p:spPr bwMode="auto">
              <a:xfrm>
                <a:off x="442"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0" name="Rectangle 10" descr="Wide upward diagonal">
                <a:extLst>
                  <a:ext uri="{FF2B5EF4-FFF2-40B4-BE49-F238E27FC236}">
                    <a16:creationId xmlns:a16="http://schemas.microsoft.com/office/drawing/2014/main" id="{7604F4DF-D921-9C42-B557-438770956886}"/>
                  </a:ext>
                </a:extLst>
              </p:cNvPr>
              <p:cNvSpPr>
                <a:spLocks noChangeArrowheads="1"/>
              </p:cNvSpPr>
              <p:nvPr/>
            </p:nvSpPr>
            <p:spPr bwMode="auto">
              <a:xfrm>
                <a:off x="654"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1" name="Rectangle 11" descr="Wide upward diagonal">
                <a:extLst>
                  <a:ext uri="{FF2B5EF4-FFF2-40B4-BE49-F238E27FC236}">
                    <a16:creationId xmlns:a16="http://schemas.microsoft.com/office/drawing/2014/main" id="{17C3BBE0-7627-DB4F-A5B4-ED3C82B6FCC1}"/>
                  </a:ext>
                </a:extLst>
              </p:cNvPr>
              <p:cNvSpPr>
                <a:spLocks noChangeArrowheads="1"/>
              </p:cNvSpPr>
              <p:nvPr/>
            </p:nvSpPr>
            <p:spPr bwMode="auto">
              <a:xfrm>
                <a:off x="855"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2" name="Rectangle 12" descr="Wide upward diagonal">
                <a:extLst>
                  <a:ext uri="{FF2B5EF4-FFF2-40B4-BE49-F238E27FC236}">
                    <a16:creationId xmlns:a16="http://schemas.microsoft.com/office/drawing/2014/main" id="{E915885A-315E-E94D-BB95-730198EDA63D}"/>
                  </a:ext>
                </a:extLst>
              </p:cNvPr>
              <p:cNvSpPr>
                <a:spLocks noChangeArrowheads="1"/>
              </p:cNvSpPr>
              <p:nvPr/>
            </p:nvSpPr>
            <p:spPr bwMode="auto">
              <a:xfrm>
                <a:off x="1067"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3" name="Rectangle 15" descr="Wide upward diagonal">
                <a:extLst>
                  <a:ext uri="{FF2B5EF4-FFF2-40B4-BE49-F238E27FC236}">
                    <a16:creationId xmlns:a16="http://schemas.microsoft.com/office/drawing/2014/main" id="{D3298CAA-7AEF-B941-A228-0E9D932B9655}"/>
                  </a:ext>
                </a:extLst>
              </p:cNvPr>
              <p:cNvSpPr>
                <a:spLocks noChangeArrowheads="1"/>
              </p:cNvSpPr>
              <p:nvPr/>
            </p:nvSpPr>
            <p:spPr bwMode="auto">
              <a:xfrm>
                <a:off x="1258"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4" name="Rectangle 16" descr="Wide upward diagonal">
                <a:extLst>
                  <a:ext uri="{FF2B5EF4-FFF2-40B4-BE49-F238E27FC236}">
                    <a16:creationId xmlns:a16="http://schemas.microsoft.com/office/drawing/2014/main" id="{47B820A3-8BC2-CC4B-A2A4-027D6BD3B1C8}"/>
                  </a:ext>
                </a:extLst>
              </p:cNvPr>
              <p:cNvSpPr>
                <a:spLocks noChangeArrowheads="1"/>
              </p:cNvSpPr>
              <p:nvPr/>
            </p:nvSpPr>
            <p:spPr bwMode="auto">
              <a:xfrm>
                <a:off x="1460"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5" name="Rectangle 17" descr="Wide upward diagonal">
                <a:extLst>
                  <a:ext uri="{FF2B5EF4-FFF2-40B4-BE49-F238E27FC236}">
                    <a16:creationId xmlns:a16="http://schemas.microsoft.com/office/drawing/2014/main" id="{8BE4A269-2278-2B43-BBEA-81D3C8DCA370}"/>
                  </a:ext>
                </a:extLst>
              </p:cNvPr>
              <p:cNvSpPr>
                <a:spLocks noChangeArrowheads="1"/>
              </p:cNvSpPr>
              <p:nvPr/>
            </p:nvSpPr>
            <p:spPr bwMode="auto">
              <a:xfrm>
                <a:off x="1661"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6" name="Rectangle 18" descr="Wide upward diagonal">
                <a:extLst>
                  <a:ext uri="{FF2B5EF4-FFF2-40B4-BE49-F238E27FC236}">
                    <a16:creationId xmlns:a16="http://schemas.microsoft.com/office/drawing/2014/main" id="{0891D779-5072-CD4F-A50B-00CB5591F44D}"/>
                  </a:ext>
                </a:extLst>
              </p:cNvPr>
              <p:cNvSpPr>
                <a:spLocks noChangeArrowheads="1"/>
              </p:cNvSpPr>
              <p:nvPr/>
            </p:nvSpPr>
            <p:spPr bwMode="auto">
              <a:xfrm>
                <a:off x="1873"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7" name="Rectangle 19" descr="Wide upward diagonal">
                <a:extLst>
                  <a:ext uri="{FF2B5EF4-FFF2-40B4-BE49-F238E27FC236}">
                    <a16:creationId xmlns:a16="http://schemas.microsoft.com/office/drawing/2014/main" id="{B2E6EEC2-BA83-724A-B5E9-46EB91F2ED65}"/>
                  </a:ext>
                </a:extLst>
              </p:cNvPr>
              <p:cNvSpPr>
                <a:spLocks noChangeArrowheads="1"/>
              </p:cNvSpPr>
              <p:nvPr/>
            </p:nvSpPr>
            <p:spPr bwMode="auto">
              <a:xfrm>
                <a:off x="3707" y="1649"/>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8" name="Rectangle 20" descr="Wide upward diagonal">
                <a:extLst>
                  <a:ext uri="{FF2B5EF4-FFF2-40B4-BE49-F238E27FC236}">
                    <a16:creationId xmlns:a16="http://schemas.microsoft.com/office/drawing/2014/main" id="{10F53118-BD0C-B243-8EBD-B2C2A4F26C37}"/>
                  </a:ext>
                </a:extLst>
              </p:cNvPr>
              <p:cNvSpPr>
                <a:spLocks noChangeArrowheads="1"/>
              </p:cNvSpPr>
              <p:nvPr/>
            </p:nvSpPr>
            <p:spPr bwMode="auto">
              <a:xfrm>
                <a:off x="3900" y="1648"/>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59" name="Rectangle 21" descr="Wide upward diagonal">
                <a:extLst>
                  <a:ext uri="{FF2B5EF4-FFF2-40B4-BE49-F238E27FC236}">
                    <a16:creationId xmlns:a16="http://schemas.microsoft.com/office/drawing/2014/main" id="{832E93C5-744C-264A-924C-AC9C8CB5F4FD}"/>
                  </a:ext>
                </a:extLst>
              </p:cNvPr>
              <p:cNvSpPr>
                <a:spLocks noChangeArrowheads="1"/>
              </p:cNvSpPr>
              <p:nvPr/>
            </p:nvSpPr>
            <p:spPr bwMode="auto">
              <a:xfrm>
                <a:off x="4110" y="1648"/>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0" name="Rectangle 22" descr="Wide upward diagonal">
                <a:extLst>
                  <a:ext uri="{FF2B5EF4-FFF2-40B4-BE49-F238E27FC236}">
                    <a16:creationId xmlns:a16="http://schemas.microsoft.com/office/drawing/2014/main" id="{2893E9AB-19EC-154B-90CF-F74A98F8DA84}"/>
                  </a:ext>
                </a:extLst>
              </p:cNvPr>
              <p:cNvSpPr>
                <a:spLocks noChangeArrowheads="1"/>
              </p:cNvSpPr>
              <p:nvPr/>
            </p:nvSpPr>
            <p:spPr bwMode="auto">
              <a:xfrm>
                <a:off x="4313" y="1650"/>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1" name="Rectangle 23" descr="Wide upward diagonal">
                <a:extLst>
                  <a:ext uri="{FF2B5EF4-FFF2-40B4-BE49-F238E27FC236}">
                    <a16:creationId xmlns:a16="http://schemas.microsoft.com/office/drawing/2014/main" id="{00FFC6F5-C2A5-4F47-ABFA-10E0F18278CD}"/>
                  </a:ext>
                </a:extLst>
              </p:cNvPr>
              <p:cNvSpPr>
                <a:spLocks noChangeArrowheads="1"/>
              </p:cNvSpPr>
              <p:nvPr/>
            </p:nvSpPr>
            <p:spPr bwMode="auto">
              <a:xfrm>
                <a:off x="2074"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2" name="Rectangle 24" descr="Wide upward diagonal">
                <a:extLst>
                  <a:ext uri="{FF2B5EF4-FFF2-40B4-BE49-F238E27FC236}">
                    <a16:creationId xmlns:a16="http://schemas.microsoft.com/office/drawing/2014/main" id="{F6B091B0-AEBE-B340-817B-8477B649D9EF}"/>
                  </a:ext>
                </a:extLst>
              </p:cNvPr>
              <p:cNvSpPr>
                <a:spLocks noChangeArrowheads="1"/>
              </p:cNvSpPr>
              <p:nvPr/>
            </p:nvSpPr>
            <p:spPr bwMode="auto">
              <a:xfrm>
                <a:off x="2286"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3" name="Rectangle 25" descr="Wide upward diagonal">
                <a:extLst>
                  <a:ext uri="{FF2B5EF4-FFF2-40B4-BE49-F238E27FC236}">
                    <a16:creationId xmlns:a16="http://schemas.microsoft.com/office/drawing/2014/main" id="{15D2CCAE-3B00-DD47-88EB-7B74AE31AB3A}"/>
                  </a:ext>
                </a:extLst>
              </p:cNvPr>
              <p:cNvSpPr>
                <a:spLocks noChangeArrowheads="1"/>
              </p:cNvSpPr>
              <p:nvPr/>
            </p:nvSpPr>
            <p:spPr bwMode="auto">
              <a:xfrm>
                <a:off x="2487"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4" name="Rectangle 26" descr="Wide upward diagonal">
                <a:extLst>
                  <a:ext uri="{FF2B5EF4-FFF2-40B4-BE49-F238E27FC236}">
                    <a16:creationId xmlns:a16="http://schemas.microsoft.com/office/drawing/2014/main" id="{D7A85B28-8F05-8C43-96D7-6F9102153B60}"/>
                  </a:ext>
                </a:extLst>
              </p:cNvPr>
              <p:cNvSpPr>
                <a:spLocks noChangeArrowheads="1"/>
              </p:cNvSpPr>
              <p:nvPr/>
            </p:nvSpPr>
            <p:spPr bwMode="auto">
              <a:xfrm>
                <a:off x="2699"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5" name="Rectangle 27" descr="Wide upward diagonal">
                <a:extLst>
                  <a:ext uri="{FF2B5EF4-FFF2-40B4-BE49-F238E27FC236}">
                    <a16:creationId xmlns:a16="http://schemas.microsoft.com/office/drawing/2014/main" id="{9EB8EE9A-DC07-F646-B54E-2C72C5D91FF3}"/>
                  </a:ext>
                </a:extLst>
              </p:cNvPr>
              <p:cNvSpPr>
                <a:spLocks noChangeArrowheads="1"/>
              </p:cNvSpPr>
              <p:nvPr/>
            </p:nvSpPr>
            <p:spPr bwMode="auto">
              <a:xfrm>
                <a:off x="2880"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6" name="Rectangle 28" descr="Wide upward diagonal">
                <a:extLst>
                  <a:ext uri="{FF2B5EF4-FFF2-40B4-BE49-F238E27FC236}">
                    <a16:creationId xmlns:a16="http://schemas.microsoft.com/office/drawing/2014/main" id="{99307938-BA6F-3D43-85C7-96831A559CFE}"/>
                  </a:ext>
                </a:extLst>
              </p:cNvPr>
              <p:cNvSpPr>
                <a:spLocks noChangeArrowheads="1"/>
              </p:cNvSpPr>
              <p:nvPr/>
            </p:nvSpPr>
            <p:spPr bwMode="auto">
              <a:xfrm>
                <a:off x="3092"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7" name="Rectangle 29" descr="Wide upward diagonal">
                <a:extLst>
                  <a:ext uri="{FF2B5EF4-FFF2-40B4-BE49-F238E27FC236}">
                    <a16:creationId xmlns:a16="http://schemas.microsoft.com/office/drawing/2014/main" id="{CBED9B4C-7011-6445-BBD9-C54B945A625B}"/>
                  </a:ext>
                </a:extLst>
              </p:cNvPr>
              <p:cNvSpPr>
                <a:spLocks noChangeArrowheads="1"/>
              </p:cNvSpPr>
              <p:nvPr/>
            </p:nvSpPr>
            <p:spPr bwMode="auto">
              <a:xfrm>
                <a:off x="3293"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68" name="Rectangle 30" descr="Wide upward diagonal">
                <a:extLst>
                  <a:ext uri="{FF2B5EF4-FFF2-40B4-BE49-F238E27FC236}">
                    <a16:creationId xmlns:a16="http://schemas.microsoft.com/office/drawing/2014/main" id="{4C87D69F-AC1D-B049-BC52-8CAFD91EFB76}"/>
                  </a:ext>
                </a:extLst>
              </p:cNvPr>
              <p:cNvSpPr>
                <a:spLocks noChangeArrowheads="1"/>
              </p:cNvSpPr>
              <p:nvPr/>
            </p:nvSpPr>
            <p:spPr bwMode="auto">
              <a:xfrm>
                <a:off x="3505" y="1651"/>
                <a:ext cx="124" cy="778"/>
              </a:xfrm>
              <a:prstGeom prst="rect">
                <a:avLst/>
              </a:prstGeom>
              <a:blipFill dpi="0" rotWithShape="0">
                <a:blip r:embed="rId3"/>
                <a:srcRect/>
                <a:tile tx="0" ty="0" sx="100000" sy="100000" flip="none" algn="tl"/>
              </a:blipFill>
              <a:ln w="28575">
                <a:solidFill>
                  <a:srgbClr val="CC0000"/>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38945" name="Line 33">
              <a:extLst>
                <a:ext uri="{FF2B5EF4-FFF2-40B4-BE49-F238E27FC236}">
                  <a16:creationId xmlns:a16="http://schemas.microsoft.com/office/drawing/2014/main" id="{B0D99B69-E9FA-AF46-BEE6-CC83D3BA90B2}"/>
                </a:ext>
              </a:extLst>
            </p:cNvPr>
            <p:cNvSpPr>
              <a:spLocks noChangeShapeType="1"/>
            </p:cNvSpPr>
            <p:nvPr/>
          </p:nvSpPr>
          <p:spPr bwMode="auto">
            <a:xfrm>
              <a:off x="876" y="92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6" name="Line 34">
              <a:extLst>
                <a:ext uri="{FF2B5EF4-FFF2-40B4-BE49-F238E27FC236}">
                  <a16:creationId xmlns:a16="http://schemas.microsoft.com/office/drawing/2014/main" id="{7E5CC26D-EFC9-054F-8A4F-D8E7F0603DF6}"/>
                </a:ext>
              </a:extLst>
            </p:cNvPr>
            <p:cNvSpPr>
              <a:spLocks noChangeShapeType="1"/>
            </p:cNvSpPr>
            <p:nvPr/>
          </p:nvSpPr>
          <p:spPr bwMode="auto">
            <a:xfrm>
              <a:off x="1213"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7" name="Line 35">
              <a:extLst>
                <a:ext uri="{FF2B5EF4-FFF2-40B4-BE49-F238E27FC236}">
                  <a16:creationId xmlns:a16="http://schemas.microsoft.com/office/drawing/2014/main" id="{E2AF68A9-F098-7C4A-A32F-43B1253E765B}"/>
                </a:ext>
              </a:extLst>
            </p:cNvPr>
            <p:cNvSpPr>
              <a:spLocks noChangeShapeType="1"/>
            </p:cNvSpPr>
            <p:nvPr/>
          </p:nvSpPr>
          <p:spPr bwMode="auto">
            <a:xfrm>
              <a:off x="2191" y="904"/>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8" name="Line 36">
              <a:extLst>
                <a:ext uri="{FF2B5EF4-FFF2-40B4-BE49-F238E27FC236}">
                  <a16:creationId xmlns:a16="http://schemas.microsoft.com/office/drawing/2014/main" id="{1EF89E0F-3EE1-A44C-B65D-B5B54C6E360C}"/>
                </a:ext>
              </a:extLst>
            </p:cNvPr>
            <p:cNvSpPr>
              <a:spLocks noChangeShapeType="1"/>
            </p:cNvSpPr>
            <p:nvPr/>
          </p:nvSpPr>
          <p:spPr bwMode="auto">
            <a:xfrm>
              <a:off x="2844" y="902"/>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221" name="Text Box 37">
            <a:extLst>
              <a:ext uri="{FF2B5EF4-FFF2-40B4-BE49-F238E27FC236}">
                <a16:creationId xmlns:a16="http://schemas.microsoft.com/office/drawing/2014/main" id="{D42E78FB-D7CE-8743-BCDD-C37ADA218A2B}"/>
              </a:ext>
            </a:extLst>
          </p:cNvPr>
          <p:cNvSpPr txBox="1">
            <a:spLocks noChangeArrowheads="1"/>
          </p:cNvSpPr>
          <p:nvPr/>
        </p:nvSpPr>
        <p:spPr bwMode="auto">
          <a:xfrm>
            <a:off x="7469189" y="3811589"/>
            <a:ext cx="2682875"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t>There are </a:t>
            </a:r>
          </a:p>
          <a:p>
            <a:pPr eaLnBrk="1" hangingPunct="1">
              <a:spcBef>
                <a:spcPct val="50000"/>
              </a:spcBef>
            </a:pPr>
            <a:r>
              <a:rPr lang="en-US" altLang="en-US" sz="2000" i="1"/>
              <a:t>C</a:t>
            </a:r>
            <a:r>
              <a:rPr lang="en-US" altLang="en-US" sz="2000" b="1"/>
              <a:t>(15+5-1, 15) = 3,876 ways.</a:t>
            </a:r>
          </a:p>
        </p:txBody>
      </p:sp>
      <p:grpSp>
        <p:nvGrpSpPr>
          <p:cNvPr id="4" name="Group 64">
            <a:extLst>
              <a:ext uri="{FF2B5EF4-FFF2-40B4-BE49-F238E27FC236}">
                <a16:creationId xmlns:a16="http://schemas.microsoft.com/office/drawing/2014/main" id="{D07100BE-C712-6B43-910B-9B01472E7860}"/>
              </a:ext>
            </a:extLst>
          </p:cNvPr>
          <p:cNvGrpSpPr>
            <a:grpSpLocks/>
          </p:cNvGrpSpPr>
          <p:nvPr/>
        </p:nvGrpSpPr>
        <p:grpSpPr bwMode="auto">
          <a:xfrm>
            <a:off x="2211389" y="3521075"/>
            <a:ext cx="3781425" cy="1658938"/>
            <a:chOff x="433" y="2218"/>
            <a:chExt cx="2382" cy="1045"/>
          </a:xfrm>
        </p:grpSpPr>
        <p:sp>
          <p:nvSpPr>
            <p:cNvPr id="38925" name="Rectangle 39" descr="Wide upward diagonal">
              <a:extLst>
                <a:ext uri="{FF2B5EF4-FFF2-40B4-BE49-F238E27FC236}">
                  <a16:creationId xmlns:a16="http://schemas.microsoft.com/office/drawing/2014/main" id="{32059959-224E-A24D-816A-431C2715DFBC}"/>
                </a:ext>
              </a:extLst>
            </p:cNvPr>
            <p:cNvSpPr>
              <a:spLocks noChangeArrowheads="1"/>
            </p:cNvSpPr>
            <p:nvPr/>
          </p:nvSpPr>
          <p:spPr bwMode="auto">
            <a:xfrm>
              <a:off x="433" y="2429"/>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26" name="Rectangle 40" descr="Wide upward diagonal">
              <a:extLst>
                <a:ext uri="{FF2B5EF4-FFF2-40B4-BE49-F238E27FC236}">
                  <a16:creationId xmlns:a16="http://schemas.microsoft.com/office/drawing/2014/main" id="{E9D9050F-F1E4-D14B-89B9-A856557821E4}"/>
                </a:ext>
              </a:extLst>
            </p:cNvPr>
            <p:cNvSpPr>
              <a:spLocks noChangeArrowheads="1"/>
            </p:cNvSpPr>
            <p:nvPr/>
          </p:nvSpPr>
          <p:spPr bwMode="auto">
            <a:xfrm>
              <a:off x="603" y="2429"/>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27" name="Rectangle 41" descr="Wide upward diagonal">
              <a:extLst>
                <a:ext uri="{FF2B5EF4-FFF2-40B4-BE49-F238E27FC236}">
                  <a16:creationId xmlns:a16="http://schemas.microsoft.com/office/drawing/2014/main" id="{E9B9F9F2-1F53-5D4F-BF75-C4090B48129D}"/>
                </a:ext>
              </a:extLst>
            </p:cNvPr>
            <p:cNvSpPr>
              <a:spLocks noChangeArrowheads="1"/>
            </p:cNvSpPr>
            <p:nvPr/>
          </p:nvSpPr>
          <p:spPr bwMode="auto">
            <a:xfrm>
              <a:off x="764" y="2429"/>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28" name="Rectangle 42" descr="Wide upward diagonal">
              <a:extLst>
                <a:ext uri="{FF2B5EF4-FFF2-40B4-BE49-F238E27FC236}">
                  <a16:creationId xmlns:a16="http://schemas.microsoft.com/office/drawing/2014/main" id="{C28444E0-10D5-644A-BC31-56FF52771ED2}"/>
                </a:ext>
              </a:extLst>
            </p:cNvPr>
            <p:cNvSpPr>
              <a:spLocks noChangeArrowheads="1"/>
            </p:cNvSpPr>
            <p:nvPr/>
          </p:nvSpPr>
          <p:spPr bwMode="auto">
            <a:xfrm>
              <a:off x="933" y="2429"/>
              <a:ext cx="100"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29" name="Rectangle 43" descr="Wide upward diagonal">
              <a:extLst>
                <a:ext uri="{FF2B5EF4-FFF2-40B4-BE49-F238E27FC236}">
                  <a16:creationId xmlns:a16="http://schemas.microsoft.com/office/drawing/2014/main" id="{53BA0E4D-E3EF-7D46-A337-0C019BCD78DE}"/>
                </a:ext>
              </a:extLst>
            </p:cNvPr>
            <p:cNvSpPr>
              <a:spLocks noChangeArrowheads="1"/>
            </p:cNvSpPr>
            <p:nvPr/>
          </p:nvSpPr>
          <p:spPr bwMode="auto">
            <a:xfrm>
              <a:off x="1086" y="2429"/>
              <a:ext cx="100"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0" name="Rectangle 44" descr="Wide upward diagonal">
              <a:extLst>
                <a:ext uri="{FF2B5EF4-FFF2-40B4-BE49-F238E27FC236}">
                  <a16:creationId xmlns:a16="http://schemas.microsoft.com/office/drawing/2014/main" id="{41C93843-993C-E543-8038-3FE800DED5AC}"/>
                </a:ext>
              </a:extLst>
            </p:cNvPr>
            <p:cNvSpPr>
              <a:spLocks noChangeArrowheads="1"/>
            </p:cNvSpPr>
            <p:nvPr/>
          </p:nvSpPr>
          <p:spPr bwMode="auto">
            <a:xfrm>
              <a:off x="1248" y="2429"/>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1" name="Rectangle 45" descr="Wide upward diagonal">
              <a:extLst>
                <a:ext uri="{FF2B5EF4-FFF2-40B4-BE49-F238E27FC236}">
                  <a16:creationId xmlns:a16="http://schemas.microsoft.com/office/drawing/2014/main" id="{AEEE6FDD-5BAE-5646-8A5A-4848DFB14C84}"/>
                </a:ext>
              </a:extLst>
            </p:cNvPr>
            <p:cNvSpPr>
              <a:spLocks noChangeArrowheads="1"/>
            </p:cNvSpPr>
            <p:nvPr/>
          </p:nvSpPr>
          <p:spPr bwMode="auto">
            <a:xfrm>
              <a:off x="1409" y="2429"/>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2" name="Rectangle 46" descr="Wide upward diagonal">
              <a:extLst>
                <a:ext uri="{FF2B5EF4-FFF2-40B4-BE49-F238E27FC236}">
                  <a16:creationId xmlns:a16="http://schemas.microsoft.com/office/drawing/2014/main" id="{6821B941-DCC0-1341-BA9F-1DC70B0A8CE1}"/>
                </a:ext>
              </a:extLst>
            </p:cNvPr>
            <p:cNvSpPr>
              <a:spLocks noChangeArrowheads="1"/>
            </p:cNvSpPr>
            <p:nvPr/>
          </p:nvSpPr>
          <p:spPr bwMode="auto">
            <a:xfrm>
              <a:off x="1579" y="2429"/>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3" name="Rectangle 51" descr="Wide upward diagonal">
              <a:extLst>
                <a:ext uri="{FF2B5EF4-FFF2-40B4-BE49-F238E27FC236}">
                  <a16:creationId xmlns:a16="http://schemas.microsoft.com/office/drawing/2014/main" id="{0382A003-0AEE-994F-965D-B2BAFAFE82DE}"/>
                </a:ext>
              </a:extLst>
            </p:cNvPr>
            <p:cNvSpPr>
              <a:spLocks noChangeArrowheads="1"/>
            </p:cNvSpPr>
            <p:nvPr/>
          </p:nvSpPr>
          <p:spPr bwMode="auto">
            <a:xfrm>
              <a:off x="1740" y="2430"/>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4" name="Rectangle 52" descr="Wide upward diagonal">
              <a:extLst>
                <a:ext uri="{FF2B5EF4-FFF2-40B4-BE49-F238E27FC236}">
                  <a16:creationId xmlns:a16="http://schemas.microsoft.com/office/drawing/2014/main" id="{3B0457ED-824C-134B-A670-9039807706AF}"/>
                </a:ext>
              </a:extLst>
            </p:cNvPr>
            <p:cNvSpPr>
              <a:spLocks noChangeArrowheads="1"/>
            </p:cNvSpPr>
            <p:nvPr/>
          </p:nvSpPr>
          <p:spPr bwMode="auto">
            <a:xfrm>
              <a:off x="1910" y="2430"/>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5" name="Rectangle 53" descr="Wide upward diagonal">
              <a:extLst>
                <a:ext uri="{FF2B5EF4-FFF2-40B4-BE49-F238E27FC236}">
                  <a16:creationId xmlns:a16="http://schemas.microsoft.com/office/drawing/2014/main" id="{58E38300-A3CF-E94F-B9B0-E06B10676E0B}"/>
                </a:ext>
              </a:extLst>
            </p:cNvPr>
            <p:cNvSpPr>
              <a:spLocks noChangeArrowheads="1"/>
            </p:cNvSpPr>
            <p:nvPr/>
          </p:nvSpPr>
          <p:spPr bwMode="auto">
            <a:xfrm>
              <a:off x="2071" y="2430"/>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6" name="Rectangle 54" descr="Wide upward diagonal">
              <a:extLst>
                <a:ext uri="{FF2B5EF4-FFF2-40B4-BE49-F238E27FC236}">
                  <a16:creationId xmlns:a16="http://schemas.microsoft.com/office/drawing/2014/main" id="{65EB413D-8CCA-F349-8993-1E1196BF2B55}"/>
                </a:ext>
              </a:extLst>
            </p:cNvPr>
            <p:cNvSpPr>
              <a:spLocks noChangeArrowheads="1"/>
            </p:cNvSpPr>
            <p:nvPr/>
          </p:nvSpPr>
          <p:spPr bwMode="auto">
            <a:xfrm>
              <a:off x="2240" y="2430"/>
              <a:ext cx="100"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7" name="Rectangle 55" descr="Wide upward diagonal">
              <a:extLst>
                <a:ext uri="{FF2B5EF4-FFF2-40B4-BE49-F238E27FC236}">
                  <a16:creationId xmlns:a16="http://schemas.microsoft.com/office/drawing/2014/main" id="{D5778719-5414-504C-9330-E57F69EF078F}"/>
                </a:ext>
              </a:extLst>
            </p:cNvPr>
            <p:cNvSpPr>
              <a:spLocks noChangeArrowheads="1"/>
            </p:cNvSpPr>
            <p:nvPr/>
          </p:nvSpPr>
          <p:spPr bwMode="auto">
            <a:xfrm>
              <a:off x="2385" y="2430"/>
              <a:ext cx="100"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8" name="Rectangle 56" descr="Wide upward diagonal">
              <a:extLst>
                <a:ext uri="{FF2B5EF4-FFF2-40B4-BE49-F238E27FC236}">
                  <a16:creationId xmlns:a16="http://schemas.microsoft.com/office/drawing/2014/main" id="{DCB357DA-364E-0A4B-A19B-1640DDD83C9B}"/>
                </a:ext>
              </a:extLst>
            </p:cNvPr>
            <p:cNvSpPr>
              <a:spLocks noChangeArrowheads="1"/>
            </p:cNvSpPr>
            <p:nvPr/>
          </p:nvSpPr>
          <p:spPr bwMode="auto">
            <a:xfrm>
              <a:off x="2555" y="2430"/>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39" name="Rectangle 57" descr="Wide upward diagonal">
              <a:extLst>
                <a:ext uri="{FF2B5EF4-FFF2-40B4-BE49-F238E27FC236}">
                  <a16:creationId xmlns:a16="http://schemas.microsoft.com/office/drawing/2014/main" id="{AE1F6EAF-5AA1-EB46-A9D2-DE70B054844E}"/>
                </a:ext>
              </a:extLst>
            </p:cNvPr>
            <p:cNvSpPr>
              <a:spLocks noChangeArrowheads="1"/>
            </p:cNvSpPr>
            <p:nvPr/>
          </p:nvSpPr>
          <p:spPr bwMode="auto">
            <a:xfrm>
              <a:off x="2716" y="2430"/>
              <a:ext cx="99" cy="711"/>
            </a:xfrm>
            <a:prstGeom prst="rect">
              <a:avLst/>
            </a:prstGeom>
            <a:blipFill dpi="0" rotWithShape="0">
              <a:blip r:embed="rId4"/>
              <a:srcRect/>
              <a:tile tx="0" ty="0" sx="100000" sy="100000" flip="none" algn="tl"/>
            </a:blipFill>
            <a:ln w="28575">
              <a:solidFill>
                <a:schemeClr val="tx1"/>
              </a:solidFill>
              <a:prstDash val="sysDot"/>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8940" name="Line 59">
              <a:extLst>
                <a:ext uri="{FF2B5EF4-FFF2-40B4-BE49-F238E27FC236}">
                  <a16:creationId xmlns:a16="http://schemas.microsoft.com/office/drawing/2014/main" id="{0DCE4CDE-E42B-0749-AED8-D0FC1C3CED60}"/>
                </a:ext>
              </a:extLst>
            </p:cNvPr>
            <p:cNvSpPr>
              <a:spLocks noChangeShapeType="1"/>
            </p:cNvSpPr>
            <p:nvPr/>
          </p:nvSpPr>
          <p:spPr bwMode="auto">
            <a:xfrm>
              <a:off x="2517" y="2227"/>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1" name="Line 60">
              <a:extLst>
                <a:ext uri="{FF2B5EF4-FFF2-40B4-BE49-F238E27FC236}">
                  <a16:creationId xmlns:a16="http://schemas.microsoft.com/office/drawing/2014/main" id="{3D7CB59D-CEC8-6446-87D9-4E74365661ED}"/>
                </a:ext>
              </a:extLst>
            </p:cNvPr>
            <p:cNvSpPr>
              <a:spLocks noChangeShapeType="1"/>
            </p:cNvSpPr>
            <p:nvPr/>
          </p:nvSpPr>
          <p:spPr bwMode="auto">
            <a:xfrm>
              <a:off x="1883" y="2246"/>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2" name="Line 61">
              <a:extLst>
                <a:ext uri="{FF2B5EF4-FFF2-40B4-BE49-F238E27FC236}">
                  <a16:creationId xmlns:a16="http://schemas.microsoft.com/office/drawing/2014/main" id="{2A608331-A4AA-6242-B971-C05D4F925B6A}"/>
                </a:ext>
              </a:extLst>
            </p:cNvPr>
            <p:cNvSpPr>
              <a:spLocks noChangeShapeType="1"/>
            </p:cNvSpPr>
            <p:nvPr/>
          </p:nvSpPr>
          <p:spPr bwMode="auto">
            <a:xfrm>
              <a:off x="1711" y="2218"/>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3" name="Line 62">
              <a:extLst>
                <a:ext uri="{FF2B5EF4-FFF2-40B4-BE49-F238E27FC236}">
                  <a16:creationId xmlns:a16="http://schemas.microsoft.com/office/drawing/2014/main" id="{27ACA1A0-43AC-CE48-9A8F-A0EC6ACF82BF}"/>
                </a:ext>
              </a:extLst>
            </p:cNvPr>
            <p:cNvSpPr>
              <a:spLocks noChangeShapeType="1"/>
            </p:cNvSpPr>
            <p:nvPr/>
          </p:nvSpPr>
          <p:spPr bwMode="auto">
            <a:xfrm>
              <a:off x="1365" y="2218"/>
              <a:ext cx="0" cy="1017"/>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47288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18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31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22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3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P spid="93188" grpId="0"/>
      <p:bldP spid="93189" grpId="0"/>
      <p:bldP spid="93191" grpId="0"/>
      <p:bldP spid="932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81EB7689-A58A-F44A-B7DB-432AC217DC52}"/>
              </a:ext>
            </a:extLst>
          </p:cNvPr>
          <p:cNvSpPr>
            <a:spLocks noGrp="1" noChangeArrowheads="1"/>
          </p:cNvSpPr>
          <p:nvPr>
            <p:ph type="title"/>
          </p:nvPr>
        </p:nvSpPr>
        <p:spPr>
          <a:xfrm>
            <a:off x="2149475" y="258763"/>
            <a:ext cx="7772400" cy="1143000"/>
          </a:xfrm>
        </p:spPr>
        <p:txBody>
          <a:bodyPr/>
          <a:lstStyle/>
          <a:p>
            <a:pPr eaLnBrk="1" hangingPunct="1"/>
            <a:r>
              <a:rPr lang="en-US" altLang="en-US">
                <a:ea typeface="ＭＳ Ｐゴシック" panose="020B0600070205080204" pitchFamily="34" charset="-128"/>
              </a:rPr>
              <a:t>Class Problem 2</a:t>
            </a:r>
          </a:p>
        </p:txBody>
      </p:sp>
      <p:sp>
        <p:nvSpPr>
          <p:cNvPr id="39941" name="Text Box 3">
            <a:extLst>
              <a:ext uri="{FF2B5EF4-FFF2-40B4-BE49-F238E27FC236}">
                <a16:creationId xmlns:a16="http://schemas.microsoft.com/office/drawing/2014/main" id="{397B1ECC-11F5-6B4A-BE5B-96088588ED89}"/>
              </a:ext>
            </a:extLst>
          </p:cNvPr>
          <p:cNvSpPr txBox="1">
            <a:spLocks noChangeArrowheads="1"/>
          </p:cNvSpPr>
          <p:nvPr/>
        </p:nvSpPr>
        <p:spPr bwMode="auto">
          <a:xfrm>
            <a:off x="2117725" y="1235075"/>
            <a:ext cx="82296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dirty="0"/>
              <a:t>    </a:t>
            </a:r>
            <a:r>
              <a:rPr lang="en-US" altLang="en-US" b="1" dirty="0"/>
              <a:t>How many binary sequences of length 10 are there consisting of a number of 1s, followed by a number of 0s, followed by a number of 1s, followed by a number of 0s? </a:t>
            </a:r>
          </a:p>
          <a:p>
            <a:pPr algn="ctr" eaLnBrk="1" hangingPunct="1">
              <a:spcBef>
                <a:spcPct val="50000"/>
              </a:spcBef>
            </a:pPr>
            <a:r>
              <a:rPr lang="en-US" altLang="en-US" b="1" dirty="0"/>
              <a:t>E. g.    1110111000.</a:t>
            </a:r>
          </a:p>
        </p:txBody>
      </p:sp>
      <p:grpSp>
        <p:nvGrpSpPr>
          <p:cNvPr id="39942" name="Group 4">
            <a:extLst>
              <a:ext uri="{FF2B5EF4-FFF2-40B4-BE49-F238E27FC236}">
                <a16:creationId xmlns:a16="http://schemas.microsoft.com/office/drawing/2014/main" id="{2E66B284-985C-504C-BB19-95A85986EFA6}"/>
              </a:ext>
            </a:extLst>
          </p:cNvPr>
          <p:cNvGrpSpPr>
            <a:grpSpLocks/>
          </p:cNvGrpSpPr>
          <p:nvPr/>
        </p:nvGrpSpPr>
        <p:grpSpPr bwMode="auto">
          <a:xfrm>
            <a:off x="2530475" y="3778250"/>
            <a:ext cx="6781800" cy="2209800"/>
            <a:chOff x="528" y="2304"/>
            <a:chExt cx="4272" cy="1392"/>
          </a:xfrm>
        </p:grpSpPr>
        <p:grpSp>
          <p:nvGrpSpPr>
            <p:cNvPr id="39943" name="Group 5">
              <a:extLst>
                <a:ext uri="{FF2B5EF4-FFF2-40B4-BE49-F238E27FC236}">
                  <a16:creationId xmlns:a16="http://schemas.microsoft.com/office/drawing/2014/main" id="{B72F72F5-4363-174A-B120-0D21C5FD38FF}"/>
                </a:ext>
              </a:extLst>
            </p:cNvPr>
            <p:cNvGrpSpPr>
              <a:grpSpLocks/>
            </p:cNvGrpSpPr>
            <p:nvPr/>
          </p:nvGrpSpPr>
          <p:grpSpPr bwMode="auto">
            <a:xfrm>
              <a:off x="528" y="2304"/>
              <a:ext cx="4272" cy="1392"/>
              <a:chOff x="912" y="2016"/>
              <a:chExt cx="4272" cy="1392"/>
            </a:xfrm>
          </p:grpSpPr>
          <p:sp>
            <p:nvSpPr>
              <p:cNvPr id="39946" name="Text Box 6">
                <a:extLst>
                  <a:ext uri="{FF2B5EF4-FFF2-40B4-BE49-F238E27FC236}">
                    <a16:creationId xmlns:a16="http://schemas.microsoft.com/office/drawing/2014/main" id="{D4069410-F72A-F04D-A930-5ADFE4217FA9}"/>
                  </a:ext>
                </a:extLst>
              </p:cNvPr>
              <p:cNvSpPr txBox="1">
                <a:spLocks noChangeArrowheads="1"/>
              </p:cNvSpPr>
              <p:nvPr/>
            </p:nvSpPr>
            <p:spPr bwMode="auto">
              <a:xfrm>
                <a:off x="2544" y="201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distinct objects</a:t>
                </a:r>
              </a:p>
            </p:txBody>
          </p:sp>
          <p:sp>
            <p:nvSpPr>
              <p:cNvPr id="39947" name="Text Box 7">
                <a:extLst>
                  <a:ext uri="{FF2B5EF4-FFF2-40B4-BE49-F238E27FC236}">
                    <a16:creationId xmlns:a16="http://schemas.microsoft.com/office/drawing/2014/main" id="{4DCD4001-47C9-484A-A26A-9CE33639FD32}"/>
                  </a:ext>
                </a:extLst>
              </p:cNvPr>
              <p:cNvSpPr txBox="1">
                <a:spLocks noChangeArrowheads="1"/>
              </p:cNvSpPr>
              <p:nvPr/>
            </p:nvSpPr>
            <p:spPr bwMode="auto">
              <a:xfrm>
                <a:off x="3840" y="2016"/>
                <a:ext cx="134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Distribution of  identical objects</a:t>
                </a:r>
              </a:p>
            </p:txBody>
          </p:sp>
          <p:sp>
            <p:nvSpPr>
              <p:cNvPr id="39948" name="Line 8">
                <a:extLst>
                  <a:ext uri="{FF2B5EF4-FFF2-40B4-BE49-F238E27FC236}">
                    <a16:creationId xmlns:a16="http://schemas.microsoft.com/office/drawing/2014/main" id="{4BBD8586-0655-BE49-A5BB-710C99026D72}"/>
                  </a:ext>
                </a:extLst>
              </p:cNvPr>
              <p:cNvSpPr>
                <a:spLocks noChangeShapeType="1"/>
              </p:cNvSpPr>
              <p:nvPr/>
            </p:nvSpPr>
            <p:spPr bwMode="auto">
              <a:xfrm>
                <a:off x="912" y="2496"/>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9949" name="Line 9">
                <a:extLst>
                  <a:ext uri="{FF2B5EF4-FFF2-40B4-BE49-F238E27FC236}">
                    <a16:creationId xmlns:a16="http://schemas.microsoft.com/office/drawing/2014/main" id="{D16FE0FD-1DC9-8240-BC4C-233FD2EDD72C}"/>
                  </a:ext>
                </a:extLst>
              </p:cNvPr>
              <p:cNvSpPr>
                <a:spLocks noChangeShapeType="1"/>
              </p:cNvSpPr>
              <p:nvPr/>
            </p:nvSpPr>
            <p:spPr bwMode="auto">
              <a:xfrm>
                <a:off x="3744" y="2016"/>
                <a:ext cx="0" cy="1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9950" name="Text Box 10">
                <a:extLst>
                  <a:ext uri="{FF2B5EF4-FFF2-40B4-BE49-F238E27FC236}">
                    <a16:creationId xmlns:a16="http://schemas.microsoft.com/office/drawing/2014/main" id="{04D2324C-1FC5-2B42-950B-F0DB5F5EA418}"/>
                  </a:ext>
                </a:extLst>
              </p:cNvPr>
              <p:cNvSpPr txBox="1">
                <a:spLocks noChangeArrowheads="1"/>
              </p:cNvSpPr>
              <p:nvPr/>
            </p:nvSpPr>
            <p:spPr bwMode="auto">
              <a:xfrm>
                <a:off x="960" y="2592"/>
                <a:ext cx="4224"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No repetition                               </a:t>
                </a:r>
                <a:r>
                  <a:rPr lang="en-US" altLang="en-US" sz="1800" b="1" i="1"/>
                  <a:t>P</a:t>
                </a:r>
                <a:r>
                  <a:rPr lang="en-US" altLang="en-US" sz="1800" b="1"/>
                  <a:t>(</a:t>
                </a:r>
                <a:r>
                  <a:rPr lang="en-US" altLang="en-US" sz="1800" b="1" i="1"/>
                  <a:t>n,r</a:t>
                </a:r>
                <a:r>
                  <a:rPr lang="en-US" altLang="en-US" sz="1800" b="1"/>
                  <a:t>)                    </a:t>
                </a:r>
                <a:r>
                  <a:rPr lang="en-US" altLang="en-US" sz="1800" b="1" i="1"/>
                  <a:t>C</a:t>
                </a:r>
                <a:r>
                  <a:rPr lang="en-US" altLang="en-US" sz="1800" b="1"/>
                  <a:t>(</a:t>
                </a:r>
                <a:r>
                  <a:rPr lang="en-US" altLang="en-US" sz="1800" b="1" i="1"/>
                  <a:t>n,r</a:t>
                </a:r>
                <a:r>
                  <a:rPr lang="en-US" altLang="en-US" sz="1800" b="1"/>
                  <a:t>)</a:t>
                </a:r>
              </a:p>
              <a:p>
                <a:pPr eaLnBrk="1" hangingPunct="1">
                  <a:spcBef>
                    <a:spcPct val="50000"/>
                  </a:spcBef>
                </a:pPr>
                <a:r>
                  <a:rPr lang="en-US" altLang="en-US" sz="1800"/>
                  <a:t>Unlimited Repetition                    </a:t>
                </a:r>
                <a:r>
                  <a:rPr lang="en-US" altLang="en-US" sz="1800" b="1" i="1"/>
                  <a:t>n </a:t>
                </a:r>
                <a:r>
                  <a:rPr lang="en-US" altLang="en-US" sz="1800" b="1" i="1" baseline="30000"/>
                  <a:t>r </a:t>
                </a:r>
                <a:r>
                  <a:rPr lang="en-US" altLang="en-US" sz="1800" b="1" i="1"/>
                  <a:t>                       C(r+n-</a:t>
                </a:r>
                <a:r>
                  <a:rPr lang="en-US" altLang="en-US" sz="1800" b="1"/>
                  <a:t>1</a:t>
                </a:r>
                <a:r>
                  <a:rPr lang="en-US" altLang="en-US" sz="1800" b="1" i="1"/>
                  <a:t>, r)</a:t>
                </a:r>
              </a:p>
              <a:p>
                <a:pPr eaLnBrk="1" hangingPunct="1">
                  <a:spcBef>
                    <a:spcPct val="50000"/>
                  </a:spcBef>
                </a:pPr>
                <a:r>
                  <a:rPr lang="en-US" altLang="en-US" sz="1800"/>
                  <a:t>Restricted Repetition           </a:t>
                </a:r>
                <a:r>
                  <a:rPr lang="en-US" altLang="en-US" sz="1800" b="1" i="1"/>
                  <a:t>P</a:t>
                </a:r>
                <a:r>
                  <a:rPr lang="en-US" altLang="en-US" sz="1800" b="1"/>
                  <a:t>(</a:t>
                </a:r>
                <a:r>
                  <a:rPr lang="en-US" altLang="en-US" sz="1800" b="1" i="1"/>
                  <a:t>r</a:t>
                </a:r>
                <a:r>
                  <a:rPr lang="en-US" altLang="en-US" sz="1800" b="1"/>
                  <a:t>; </a:t>
                </a:r>
                <a:r>
                  <a:rPr lang="en-US" altLang="en-US" sz="1800" b="1" i="1"/>
                  <a:t>r</a:t>
                </a:r>
                <a:r>
                  <a:rPr lang="en-US" altLang="en-US" sz="1800" b="1" baseline="-25000"/>
                  <a:t>1</a:t>
                </a:r>
                <a:r>
                  <a:rPr lang="en-US" altLang="en-US" sz="1800" b="1"/>
                  <a:t>, </a:t>
                </a:r>
                <a:r>
                  <a:rPr lang="en-US" altLang="en-US" sz="1800" b="1" i="1"/>
                  <a:t>r</a:t>
                </a:r>
                <a:r>
                  <a:rPr lang="en-US" altLang="en-US" sz="1800" b="1" baseline="-25000"/>
                  <a:t>2</a:t>
                </a:r>
                <a:r>
                  <a:rPr lang="en-US" altLang="en-US" sz="1800" b="1"/>
                  <a:t>, …, </a:t>
                </a:r>
                <a:r>
                  <a:rPr lang="en-US" altLang="en-US" sz="1800" b="1" i="1"/>
                  <a:t>r</a:t>
                </a:r>
                <a:r>
                  <a:rPr lang="en-US" altLang="en-US" sz="1800" b="1" baseline="-25000"/>
                  <a:t>n</a:t>
                </a:r>
                <a:r>
                  <a:rPr lang="en-US" altLang="en-US" sz="1800" b="1"/>
                  <a:t>)</a:t>
                </a:r>
                <a:r>
                  <a:rPr lang="en-US" altLang="en-US" sz="1800"/>
                  <a:t>       -----</a:t>
                </a:r>
              </a:p>
            </p:txBody>
          </p:sp>
        </p:grpSp>
        <p:sp>
          <p:nvSpPr>
            <p:cNvPr id="39944" name="Rectangle 11">
              <a:extLst>
                <a:ext uri="{FF2B5EF4-FFF2-40B4-BE49-F238E27FC236}">
                  <a16:creationId xmlns:a16="http://schemas.microsoft.com/office/drawing/2014/main" id="{314445BC-EA01-7549-B394-4FFF91ED5D6E}"/>
                </a:ext>
              </a:extLst>
            </p:cNvPr>
            <p:cNvSpPr>
              <a:spLocks noChangeArrowheads="1"/>
            </p:cNvSpPr>
            <p:nvPr/>
          </p:nvSpPr>
          <p:spPr bwMode="auto">
            <a:xfrm>
              <a:off x="3456" y="3120"/>
              <a:ext cx="960" cy="240"/>
            </a:xfrm>
            <a:prstGeom prst="rect">
              <a:avLst/>
            </a:prstGeom>
            <a:noFill/>
            <a:ln w="28575">
              <a:solidFill>
                <a:srgbClr val="C6180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39945" name="Text Box 12">
              <a:extLst>
                <a:ext uri="{FF2B5EF4-FFF2-40B4-BE49-F238E27FC236}">
                  <a16:creationId xmlns:a16="http://schemas.microsoft.com/office/drawing/2014/main" id="{40555149-D69E-4641-92E0-8C309FC67F90}"/>
                </a:ext>
              </a:extLst>
            </p:cNvPr>
            <p:cNvSpPr txBox="1">
              <a:spLocks noChangeArrowheads="1"/>
            </p:cNvSpPr>
            <p:nvPr/>
          </p:nvSpPr>
          <p:spPr bwMode="auto">
            <a:xfrm>
              <a:off x="528" y="2352"/>
              <a:ext cx="1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rgbClr val="C61806"/>
                  </a:solidFill>
                </a:rPr>
                <a:t>Hint:</a:t>
              </a:r>
            </a:p>
          </p:txBody>
        </p:sp>
      </p:grpSp>
    </p:spTree>
    <p:extLst>
      <p:ext uri="{BB962C8B-B14F-4D97-AF65-F5344CB8AC3E}">
        <p14:creationId xmlns:p14="http://schemas.microsoft.com/office/powerpoint/2010/main" val="2184759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a:extLst>
              <a:ext uri="{FF2B5EF4-FFF2-40B4-BE49-F238E27FC236}">
                <a16:creationId xmlns:a16="http://schemas.microsoft.com/office/drawing/2014/main" id="{061F4F9F-6910-7C43-BDD0-D80378C00E2A}"/>
              </a:ext>
            </a:extLst>
          </p:cNvPr>
          <p:cNvSpPr>
            <a:spLocks noGrp="1" noChangeArrowheads="1"/>
          </p:cNvSpPr>
          <p:nvPr>
            <p:ph type="title"/>
          </p:nvPr>
        </p:nvSpPr>
        <p:spPr>
          <a:xfrm>
            <a:off x="2162175" y="196850"/>
            <a:ext cx="7772400" cy="1143000"/>
          </a:xfrm>
        </p:spPr>
        <p:txBody>
          <a:bodyPr/>
          <a:lstStyle/>
          <a:p>
            <a:pPr eaLnBrk="1" hangingPunct="1"/>
            <a:r>
              <a:rPr lang="en-US" altLang="en-US">
                <a:ea typeface="ＭＳ Ｐゴシック" panose="020B0600070205080204" pitchFamily="34" charset="-128"/>
              </a:rPr>
              <a:t>Solution</a:t>
            </a:r>
          </a:p>
        </p:txBody>
      </p:sp>
      <p:sp>
        <p:nvSpPr>
          <p:cNvPr id="95239" name="Text Box 7">
            <a:extLst>
              <a:ext uri="{FF2B5EF4-FFF2-40B4-BE49-F238E27FC236}">
                <a16:creationId xmlns:a16="http://schemas.microsoft.com/office/drawing/2014/main" id="{28A15E34-B8A3-734F-821B-30631268B4E9}"/>
              </a:ext>
            </a:extLst>
          </p:cNvPr>
          <p:cNvSpPr txBox="1">
            <a:spLocks noChangeArrowheads="1"/>
          </p:cNvSpPr>
          <p:nvPr/>
        </p:nvSpPr>
        <p:spPr bwMode="auto">
          <a:xfrm>
            <a:off x="4373564" y="2187575"/>
            <a:ext cx="4251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1----   0----    1-----  0-----</a:t>
            </a:r>
          </a:p>
        </p:txBody>
      </p:sp>
      <p:sp>
        <p:nvSpPr>
          <p:cNvPr id="40966" name="Rectangle 13">
            <a:extLst>
              <a:ext uri="{FF2B5EF4-FFF2-40B4-BE49-F238E27FC236}">
                <a16:creationId xmlns:a16="http://schemas.microsoft.com/office/drawing/2014/main" id="{B7A43435-A942-F945-B839-B3075936A87A}"/>
              </a:ext>
            </a:extLst>
          </p:cNvPr>
          <p:cNvSpPr>
            <a:spLocks noChangeArrowheads="1"/>
          </p:cNvSpPr>
          <p:nvPr/>
        </p:nvSpPr>
        <p:spPr bwMode="auto">
          <a:xfrm>
            <a:off x="4478338" y="1357313"/>
            <a:ext cx="533400" cy="609600"/>
          </a:xfrm>
          <a:prstGeom prst="rect">
            <a:avLst/>
          </a:prstGeom>
          <a:solidFill>
            <a:srgbClr val="2504C8"/>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0967" name="Rectangle 14">
            <a:extLst>
              <a:ext uri="{FF2B5EF4-FFF2-40B4-BE49-F238E27FC236}">
                <a16:creationId xmlns:a16="http://schemas.microsoft.com/office/drawing/2014/main" id="{7B956274-FC0E-2348-BEAE-E27664A1BC00}"/>
              </a:ext>
            </a:extLst>
          </p:cNvPr>
          <p:cNvSpPr>
            <a:spLocks noChangeArrowheads="1"/>
          </p:cNvSpPr>
          <p:nvPr/>
        </p:nvSpPr>
        <p:spPr bwMode="auto">
          <a:xfrm>
            <a:off x="5316538" y="1357313"/>
            <a:ext cx="533400" cy="609600"/>
          </a:xfrm>
          <a:prstGeom prst="rect">
            <a:avLst/>
          </a:prstGeom>
          <a:solidFill>
            <a:srgbClr val="C6180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0968" name="Rectangle 15">
            <a:extLst>
              <a:ext uri="{FF2B5EF4-FFF2-40B4-BE49-F238E27FC236}">
                <a16:creationId xmlns:a16="http://schemas.microsoft.com/office/drawing/2014/main" id="{F98864D7-5AA2-7B45-B467-BDA7CC2136CB}"/>
              </a:ext>
            </a:extLst>
          </p:cNvPr>
          <p:cNvSpPr>
            <a:spLocks noChangeArrowheads="1"/>
          </p:cNvSpPr>
          <p:nvPr/>
        </p:nvSpPr>
        <p:spPr bwMode="auto">
          <a:xfrm>
            <a:off x="6138863" y="1357313"/>
            <a:ext cx="533400" cy="609600"/>
          </a:xfrm>
          <a:prstGeom prst="rect">
            <a:avLst/>
          </a:prstGeom>
          <a:solidFill>
            <a:srgbClr val="0EBE1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0969" name="Text Box 16">
            <a:extLst>
              <a:ext uri="{FF2B5EF4-FFF2-40B4-BE49-F238E27FC236}">
                <a16:creationId xmlns:a16="http://schemas.microsoft.com/office/drawing/2014/main" id="{9E11EC83-1C41-7E4A-ACE3-7F4B16C53218}"/>
              </a:ext>
            </a:extLst>
          </p:cNvPr>
          <p:cNvSpPr txBox="1">
            <a:spLocks noChangeArrowheads="1"/>
          </p:cNvSpPr>
          <p:nvPr/>
        </p:nvSpPr>
        <p:spPr bwMode="auto">
          <a:xfrm>
            <a:off x="4433888" y="1481138"/>
            <a:ext cx="671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0970" name="Text Box 17">
            <a:extLst>
              <a:ext uri="{FF2B5EF4-FFF2-40B4-BE49-F238E27FC236}">
                <a16:creationId xmlns:a16="http://schemas.microsoft.com/office/drawing/2014/main" id="{E5065A26-2F0B-EF4B-AAC8-F1519BAC3149}"/>
              </a:ext>
            </a:extLst>
          </p:cNvPr>
          <p:cNvSpPr txBox="1">
            <a:spLocks noChangeArrowheads="1"/>
          </p:cNvSpPr>
          <p:nvPr/>
        </p:nvSpPr>
        <p:spPr bwMode="auto">
          <a:xfrm>
            <a:off x="5302250" y="1449388"/>
            <a:ext cx="61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0</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0971" name="Text Box 19">
            <a:extLst>
              <a:ext uri="{FF2B5EF4-FFF2-40B4-BE49-F238E27FC236}">
                <a16:creationId xmlns:a16="http://schemas.microsoft.com/office/drawing/2014/main" id="{7528F78C-4384-6445-9787-45DBCE2A605C}"/>
              </a:ext>
            </a:extLst>
          </p:cNvPr>
          <p:cNvSpPr txBox="1">
            <a:spLocks noChangeArrowheads="1"/>
          </p:cNvSpPr>
          <p:nvPr/>
        </p:nvSpPr>
        <p:spPr bwMode="auto">
          <a:xfrm>
            <a:off x="2528888" y="1525588"/>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4 Boxes</a:t>
            </a:r>
          </a:p>
        </p:txBody>
      </p:sp>
      <p:sp>
        <p:nvSpPr>
          <p:cNvPr id="40972" name="Rectangle 20">
            <a:extLst>
              <a:ext uri="{FF2B5EF4-FFF2-40B4-BE49-F238E27FC236}">
                <a16:creationId xmlns:a16="http://schemas.microsoft.com/office/drawing/2014/main" id="{8F185D4E-D754-4445-8408-C98FFDC030AD}"/>
              </a:ext>
            </a:extLst>
          </p:cNvPr>
          <p:cNvSpPr>
            <a:spLocks noChangeArrowheads="1"/>
          </p:cNvSpPr>
          <p:nvPr/>
        </p:nvSpPr>
        <p:spPr bwMode="auto">
          <a:xfrm>
            <a:off x="6945313" y="1371600"/>
            <a:ext cx="533400" cy="609600"/>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0973" name="Text Box 21">
            <a:extLst>
              <a:ext uri="{FF2B5EF4-FFF2-40B4-BE49-F238E27FC236}">
                <a16:creationId xmlns:a16="http://schemas.microsoft.com/office/drawing/2014/main" id="{53CE9A08-CF24-9046-B639-51ABE639BD0E}"/>
              </a:ext>
            </a:extLst>
          </p:cNvPr>
          <p:cNvSpPr txBox="1">
            <a:spLocks noChangeArrowheads="1"/>
          </p:cNvSpPr>
          <p:nvPr/>
        </p:nvSpPr>
        <p:spPr bwMode="auto">
          <a:xfrm>
            <a:off x="6916739" y="1463675"/>
            <a:ext cx="65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0</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0974" name="Text Box 22">
            <a:extLst>
              <a:ext uri="{FF2B5EF4-FFF2-40B4-BE49-F238E27FC236}">
                <a16:creationId xmlns:a16="http://schemas.microsoft.com/office/drawing/2014/main" id="{A007C1B9-0E71-B744-B134-D22E487C1F1F}"/>
              </a:ext>
            </a:extLst>
          </p:cNvPr>
          <p:cNvSpPr txBox="1">
            <a:spLocks noChangeArrowheads="1"/>
          </p:cNvSpPr>
          <p:nvPr/>
        </p:nvSpPr>
        <p:spPr bwMode="auto">
          <a:xfrm>
            <a:off x="6094413" y="1452563"/>
            <a:ext cx="671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95255" name="Text Box 23">
            <a:extLst>
              <a:ext uri="{FF2B5EF4-FFF2-40B4-BE49-F238E27FC236}">
                <a16:creationId xmlns:a16="http://schemas.microsoft.com/office/drawing/2014/main" id="{F28B7250-9234-AC4A-AE22-8B1476E0DD5A}"/>
              </a:ext>
            </a:extLst>
          </p:cNvPr>
          <p:cNvSpPr txBox="1">
            <a:spLocks noChangeArrowheads="1"/>
          </p:cNvSpPr>
          <p:nvPr/>
        </p:nvSpPr>
        <p:spPr bwMode="auto">
          <a:xfrm>
            <a:off x="2239964" y="2651125"/>
            <a:ext cx="7223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Put one digit in each box.</a:t>
            </a:r>
          </a:p>
        </p:txBody>
      </p:sp>
    </p:spTree>
    <p:extLst>
      <p:ext uri="{BB962C8B-B14F-4D97-AF65-F5344CB8AC3E}">
        <p14:creationId xmlns:p14="http://schemas.microsoft.com/office/powerpoint/2010/main" val="998188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9" grpId="0"/>
      <p:bldP spid="9525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3073E146-616A-5946-BEA5-5157EEB4BAC4}"/>
              </a:ext>
            </a:extLst>
          </p:cNvPr>
          <p:cNvSpPr>
            <a:spLocks noGrp="1" noChangeArrowheads="1"/>
          </p:cNvSpPr>
          <p:nvPr>
            <p:ph type="title"/>
          </p:nvPr>
        </p:nvSpPr>
        <p:spPr>
          <a:xfrm>
            <a:off x="2162175" y="196850"/>
            <a:ext cx="7772400" cy="1143000"/>
          </a:xfrm>
        </p:spPr>
        <p:txBody>
          <a:bodyPr/>
          <a:lstStyle/>
          <a:p>
            <a:pPr eaLnBrk="1" hangingPunct="1"/>
            <a:r>
              <a:rPr lang="en-US" altLang="en-US">
                <a:ea typeface="ＭＳ Ｐゴシック" panose="020B0600070205080204" pitchFamily="34" charset="-128"/>
              </a:rPr>
              <a:t>Solution</a:t>
            </a:r>
          </a:p>
        </p:txBody>
      </p:sp>
      <p:sp>
        <p:nvSpPr>
          <p:cNvPr id="41989" name="Text Box 5">
            <a:extLst>
              <a:ext uri="{FF2B5EF4-FFF2-40B4-BE49-F238E27FC236}">
                <a16:creationId xmlns:a16="http://schemas.microsoft.com/office/drawing/2014/main" id="{72EA39A6-E6FC-044A-A10C-FD38B3DEC7FB}"/>
              </a:ext>
            </a:extLst>
          </p:cNvPr>
          <p:cNvSpPr txBox="1">
            <a:spLocks noChangeArrowheads="1"/>
          </p:cNvSpPr>
          <p:nvPr/>
        </p:nvSpPr>
        <p:spPr bwMode="auto">
          <a:xfrm>
            <a:off x="2286000" y="37719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p:sp>
        <p:nvSpPr>
          <p:cNvPr id="95239" name="Text Box 7">
            <a:extLst>
              <a:ext uri="{FF2B5EF4-FFF2-40B4-BE49-F238E27FC236}">
                <a16:creationId xmlns:a16="http://schemas.microsoft.com/office/drawing/2014/main" id="{F43A95F7-0D22-7144-9F7B-5C7AE7DE48AB}"/>
              </a:ext>
            </a:extLst>
          </p:cNvPr>
          <p:cNvSpPr txBox="1">
            <a:spLocks noChangeArrowheads="1"/>
          </p:cNvSpPr>
          <p:nvPr/>
        </p:nvSpPr>
        <p:spPr bwMode="auto">
          <a:xfrm>
            <a:off x="4373564" y="2187575"/>
            <a:ext cx="4251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1----   0----    1-----  0-----</a:t>
            </a:r>
          </a:p>
        </p:txBody>
      </p:sp>
      <p:sp>
        <p:nvSpPr>
          <p:cNvPr id="41991" name="Rectangle 13">
            <a:extLst>
              <a:ext uri="{FF2B5EF4-FFF2-40B4-BE49-F238E27FC236}">
                <a16:creationId xmlns:a16="http://schemas.microsoft.com/office/drawing/2014/main" id="{0702CA38-E4DF-EB43-A188-EE921031FD27}"/>
              </a:ext>
            </a:extLst>
          </p:cNvPr>
          <p:cNvSpPr>
            <a:spLocks noChangeArrowheads="1"/>
          </p:cNvSpPr>
          <p:nvPr/>
        </p:nvSpPr>
        <p:spPr bwMode="auto">
          <a:xfrm>
            <a:off x="4478338" y="1357313"/>
            <a:ext cx="533400" cy="609600"/>
          </a:xfrm>
          <a:prstGeom prst="rect">
            <a:avLst/>
          </a:prstGeom>
          <a:solidFill>
            <a:srgbClr val="2504C8"/>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1992" name="Rectangle 14">
            <a:extLst>
              <a:ext uri="{FF2B5EF4-FFF2-40B4-BE49-F238E27FC236}">
                <a16:creationId xmlns:a16="http://schemas.microsoft.com/office/drawing/2014/main" id="{EDB88906-F6DE-754F-951C-3A5107DC0FBB}"/>
              </a:ext>
            </a:extLst>
          </p:cNvPr>
          <p:cNvSpPr>
            <a:spLocks noChangeArrowheads="1"/>
          </p:cNvSpPr>
          <p:nvPr/>
        </p:nvSpPr>
        <p:spPr bwMode="auto">
          <a:xfrm>
            <a:off x="5316538" y="1357313"/>
            <a:ext cx="533400" cy="609600"/>
          </a:xfrm>
          <a:prstGeom prst="rect">
            <a:avLst/>
          </a:prstGeom>
          <a:solidFill>
            <a:srgbClr val="C6180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1993" name="Rectangle 15">
            <a:extLst>
              <a:ext uri="{FF2B5EF4-FFF2-40B4-BE49-F238E27FC236}">
                <a16:creationId xmlns:a16="http://schemas.microsoft.com/office/drawing/2014/main" id="{19999171-52E6-E34A-9B9D-F432D3AE14E1}"/>
              </a:ext>
            </a:extLst>
          </p:cNvPr>
          <p:cNvSpPr>
            <a:spLocks noChangeArrowheads="1"/>
          </p:cNvSpPr>
          <p:nvPr/>
        </p:nvSpPr>
        <p:spPr bwMode="auto">
          <a:xfrm>
            <a:off x="6138863" y="1357313"/>
            <a:ext cx="533400" cy="609600"/>
          </a:xfrm>
          <a:prstGeom prst="rect">
            <a:avLst/>
          </a:prstGeom>
          <a:solidFill>
            <a:srgbClr val="0EBE1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1994" name="Text Box 16">
            <a:extLst>
              <a:ext uri="{FF2B5EF4-FFF2-40B4-BE49-F238E27FC236}">
                <a16:creationId xmlns:a16="http://schemas.microsoft.com/office/drawing/2014/main" id="{3A207A56-106E-D948-9CFA-0985AC62D67B}"/>
              </a:ext>
            </a:extLst>
          </p:cNvPr>
          <p:cNvSpPr txBox="1">
            <a:spLocks noChangeArrowheads="1"/>
          </p:cNvSpPr>
          <p:nvPr/>
        </p:nvSpPr>
        <p:spPr bwMode="auto">
          <a:xfrm>
            <a:off x="4433888" y="1481138"/>
            <a:ext cx="671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1995" name="Text Box 17">
            <a:extLst>
              <a:ext uri="{FF2B5EF4-FFF2-40B4-BE49-F238E27FC236}">
                <a16:creationId xmlns:a16="http://schemas.microsoft.com/office/drawing/2014/main" id="{7A28A976-FE48-D147-9D89-D336966188DC}"/>
              </a:ext>
            </a:extLst>
          </p:cNvPr>
          <p:cNvSpPr txBox="1">
            <a:spLocks noChangeArrowheads="1"/>
          </p:cNvSpPr>
          <p:nvPr/>
        </p:nvSpPr>
        <p:spPr bwMode="auto">
          <a:xfrm>
            <a:off x="5302250" y="1449388"/>
            <a:ext cx="61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0</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1996" name="Text Box 19">
            <a:extLst>
              <a:ext uri="{FF2B5EF4-FFF2-40B4-BE49-F238E27FC236}">
                <a16:creationId xmlns:a16="http://schemas.microsoft.com/office/drawing/2014/main" id="{81A63799-FD8E-EF49-8784-279DD8C5B36B}"/>
              </a:ext>
            </a:extLst>
          </p:cNvPr>
          <p:cNvSpPr txBox="1">
            <a:spLocks noChangeArrowheads="1"/>
          </p:cNvSpPr>
          <p:nvPr/>
        </p:nvSpPr>
        <p:spPr bwMode="auto">
          <a:xfrm>
            <a:off x="2528888" y="1525588"/>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4 Boxes</a:t>
            </a:r>
          </a:p>
        </p:txBody>
      </p:sp>
      <p:sp>
        <p:nvSpPr>
          <p:cNvPr id="41997" name="Rectangle 20">
            <a:extLst>
              <a:ext uri="{FF2B5EF4-FFF2-40B4-BE49-F238E27FC236}">
                <a16:creationId xmlns:a16="http://schemas.microsoft.com/office/drawing/2014/main" id="{D6F0B65D-8ECB-FF42-9F82-8D726F1CD432}"/>
              </a:ext>
            </a:extLst>
          </p:cNvPr>
          <p:cNvSpPr>
            <a:spLocks noChangeArrowheads="1"/>
          </p:cNvSpPr>
          <p:nvPr/>
        </p:nvSpPr>
        <p:spPr bwMode="auto">
          <a:xfrm>
            <a:off x="6945313" y="1371600"/>
            <a:ext cx="533400" cy="609600"/>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1998" name="Text Box 21">
            <a:extLst>
              <a:ext uri="{FF2B5EF4-FFF2-40B4-BE49-F238E27FC236}">
                <a16:creationId xmlns:a16="http://schemas.microsoft.com/office/drawing/2014/main" id="{918C3178-9419-5E4C-81C2-6171C045A895}"/>
              </a:ext>
            </a:extLst>
          </p:cNvPr>
          <p:cNvSpPr txBox="1">
            <a:spLocks noChangeArrowheads="1"/>
          </p:cNvSpPr>
          <p:nvPr/>
        </p:nvSpPr>
        <p:spPr bwMode="auto">
          <a:xfrm>
            <a:off x="6916739" y="1463675"/>
            <a:ext cx="65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0</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1999" name="Text Box 22">
            <a:extLst>
              <a:ext uri="{FF2B5EF4-FFF2-40B4-BE49-F238E27FC236}">
                <a16:creationId xmlns:a16="http://schemas.microsoft.com/office/drawing/2014/main" id="{0F3C33B9-F8D4-A546-80A4-D84B6C351BB3}"/>
              </a:ext>
            </a:extLst>
          </p:cNvPr>
          <p:cNvSpPr txBox="1">
            <a:spLocks noChangeArrowheads="1"/>
          </p:cNvSpPr>
          <p:nvPr/>
        </p:nvSpPr>
        <p:spPr bwMode="auto">
          <a:xfrm>
            <a:off x="6094413" y="1452563"/>
            <a:ext cx="671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95255" name="Text Box 23">
            <a:extLst>
              <a:ext uri="{FF2B5EF4-FFF2-40B4-BE49-F238E27FC236}">
                <a16:creationId xmlns:a16="http://schemas.microsoft.com/office/drawing/2014/main" id="{227F181A-2AF4-304D-A14B-2A285050043A}"/>
              </a:ext>
            </a:extLst>
          </p:cNvPr>
          <p:cNvSpPr txBox="1">
            <a:spLocks noChangeArrowheads="1"/>
          </p:cNvSpPr>
          <p:nvPr/>
        </p:nvSpPr>
        <p:spPr bwMode="auto">
          <a:xfrm>
            <a:off x="2239964" y="2651125"/>
            <a:ext cx="7223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Put one digit in each box.</a:t>
            </a:r>
          </a:p>
        </p:txBody>
      </p:sp>
      <p:grpSp>
        <p:nvGrpSpPr>
          <p:cNvPr id="2" name="Group 30">
            <a:extLst>
              <a:ext uri="{FF2B5EF4-FFF2-40B4-BE49-F238E27FC236}">
                <a16:creationId xmlns:a16="http://schemas.microsoft.com/office/drawing/2014/main" id="{9646AE7D-0CF3-554F-9085-F4EDA1980DFA}"/>
              </a:ext>
            </a:extLst>
          </p:cNvPr>
          <p:cNvGrpSpPr>
            <a:grpSpLocks/>
          </p:cNvGrpSpPr>
          <p:nvPr/>
        </p:nvGrpSpPr>
        <p:grpSpPr bwMode="auto">
          <a:xfrm>
            <a:off x="4086226" y="3154364"/>
            <a:ext cx="4176713" cy="763587"/>
            <a:chOff x="1614" y="1987"/>
            <a:chExt cx="2631" cy="481"/>
          </a:xfrm>
        </p:grpSpPr>
        <p:sp>
          <p:nvSpPr>
            <p:cNvPr id="42003" name="Text Box 25">
              <a:extLst>
                <a:ext uri="{FF2B5EF4-FFF2-40B4-BE49-F238E27FC236}">
                  <a16:creationId xmlns:a16="http://schemas.microsoft.com/office/drawing/2014/main" id="{ED526220-25B9-7D4D-95CC-752DDBCFA106}"/>
                </a:ext>
              </a:extLst>
            </p:cNvPr>
            <p:cNvSpPr txBox="1">
              <a:spLocks noChangeArrowheads="1"/>
            </p:cNvSpPr>
            <p:nvPr/>
          </p:nvSpPr>
          <p:spPr bwMode="auto">
            <a:xfrm>
              <a:off x="1614" y="1987"/>
              <a:ext cx="263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3200"/>
                <a:t>__  __  __  __  __  __</a:t>
              </a:r>
              <a:r>
                <a:rPr lang="en-US" altLang="en-US"/>
                <a:t>  </a:t>
              </a:r>
            </a:p>
          </p:txBody>
        </p:sp>
        <p:sp>
          <p:nvSpPr>
            <p:cNvPr id="42004" name="Line 26">
              <a:extLst>
                <a:ext uri="{FF2B5EF4-FFF2-40B4-BE49-F238E27FC236}">
                  <a16:creationId xmlns:a16="http://schemas.microsoft.com/office/drawing/2014/main" id="{62E4A25E-BD81-BC43-AA0C-F3724F55D1BA}"/>
                </a:ext>
              </a:extLst>
            </p:cNvPr>
            <p:cNvSpPr>
              <a:spLocks noChangeShapeType="1"/>
            </p:cNvSpPr>
            <p:nvPr/>
          </p:nvSpPr>
          <p:spPr bwMode="auto">
            <a:xfrm>
              <a:off x="1978" y="2084"/>
              <a:ext cx="0" cy="38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5" name="Line 27">
              <a:extLst>
                <a:ext uri="{FF2B5EF4-FFF2-40B4-BE49-F238E27FC236}">
                  <a16:creationId xmlns:a16="http://schemas.microsoft.com/office/drawing/2014/main" id="{887094D7-4245-D640-B415-12855676364D}"/>
                </a:ext>
              </a:extLst>
            </p:cNvPr>
            <p:cNvSpPr>
              <a:spLocks noChangeShapeType="1"/>
            </p:cNvSpPr>
            <p:nvPr/>
          </p:nvSpPr>
          <p:spPr bwMode="auto">
            <a:xfrm>
              <a:off x="3149" y="2084"/>
              <a:ext cx="0" cy="38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6" name="Line 28">
              <a:extLst>
                <a:ext uri="{FF2B5EF4-FFF2-40B4-BE49-F238E27FC236}">
                  <a16:creationId xmlns:a16="http://schemas.microsoft.com/office/drawing/2014/main" id="{20564818-66CA-634C-85C9-7631ABC48418}"/>
                </a:ext>
              </a:extLst>
            </p:cNvPr>
            <p:cNvSpPr>
              <a:spLocks noChangeShapeType="1"/>
            </p:cNvSpPr>
            <p:nvPr/>
          </p:nvSpPr>
          <p:spPr bwMode="auto">
            <a:xfrm>
              <a:off x="2381" y="2083"/>
              <a:ext cx="0" cy="38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261" name="Text Box 29">
            <a:extLst>
              <a:ext uri="{FF2B5EF4-FFF2-40B4-BE49-F238E27FC236}">
                <a16:creationId xmlns:a16="http://schemas.microsoft.com/office/drawing/2014/main" id="{AA9BEB8D-3431-ED45-B77F-B101929A93CE}"/>
              </a:ext>
            </a:extLst>
          </p:cNvPr>
          <p:cNvSpPr txBox="1">
            <a:spLocks noChangeArrowheads="1"/>
          </p:cNvSpPr>
          <p:nvPr/>
        </p:nvSpPr>
        <p:spPr bwMode="auto">
          <a:xfrm>
            <a:off x="8077200" y="2941638"/>
            <a:ext cx="2179638"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(Corresponds to </a:t>
            </a:r>
          </a:p>
          <a:p>
            <a:pPr eaLnBrk="1" hangingPunct="1">
              <a:spcBef>
                <a:spcPct val="50000"/>
              </a:spcBef>
            </a:pPr>
            <a:r>
              <a:rPr lang="en-US" altLang="en-US" sz="1800" b="1"/>
              <a:t>1</a:t>
            </a:r>
            <a:r>
              <a:rPr lang="en-US" altLang="en-US" sz="1800"/>
              <a:t>1</a:t>
            </a:r>
            <a:r>
              <a:rPr lang="en-US" altLang="en-US" sz="1800" b="1"/>
              <a:t>0</a:t>
            </a:r>
            <a:r>
              <a:rPr lang="en-US" altLang="en-US" sz="1800"/>
              <a:t>0</a:t>
            </a:r>
            <a:r>
              <a:rPr lang="en-US" altLang="en-US" sz="1800" b="1"/>
              <a:t>1</a:t>
            </a:r>
            <a:r>
              <a:rPr lang="en-US" altLang="en-US" sz="1800"/>
              <a:t>11</a:t>
            </a:r>
            <a:r>
              <a:rPr lang="en-US" altLang="en-US" sz="1800" b="1"/>
              <a:t>0</a:t>
            </a:r>
            <a:r>
              <a:rPr lang="en-US" altLang="en-US" sz="1800"/>
              <a:t>00.)</a:t>
            </a:r>
          </a:p>
        </p:txBody>
      </p:sp>
    </p:spTree>
    <p:extLst>
      <p:ext uri="{BB962C8B-B14F-4D97-AF65-F5344CB8AC3E}">
        <p14:creationId xmlns:p14="http://schemas.microsoft.com/office/powerpoint/2010/main" val="3949667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5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5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9" grpId="0"/>
      <p:bldP spid="95255" grpId="0"/>
      <p:bldP spid="9526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a:extLst>
              <a:ext uri="{FF2B5EF4-FFF2-40B4-BE49-F238E27FC236}">
                <a16:creationId xmlns:a16="http://schemas.microsoft.com/office/drawing/2014/main" id="{13A7DA42-749D-CF44-9EEC-246C9FB67177}"/>
              </a:ext>
            </a:extLst>
          </p:cNvPr>
          <p:cNvSpPr>
            <a:spLocks noGrp="1" noChangeArrowheads="1"/>
          </p:cNvSpPr>
          <p:nvPr>
            <p:ph type="title"/>
          </p:nvPr>
        </p:nvSpPr>
        <p:spPr>
          <a:xfrm>
            <a:off x="2162175" y="196850"/>
            <a:ext cx="7772400" cy="1143000"/>
          </a:xfrm>
        </p:spPr>
        <p:txBody>
          <a:bodyPr/>
          <a:lstStyle/>
          <a:p>
            <a:pPr eaLnBrk="1" hangingPunct="1"/>
            <a:r>
              <a:rPr lang="en-US" altLang="en-US">
                <a:ea typeface="ＭＳ Ｐゴシック" panose="020B0600070205080204" pitchFamily="34" charset="-128"/>
              </a:rPr>
              <a:t>Solution</a:t>
            </a:r>
          </a:p>
        </p:txBody>
      </p:sp>
      <p:sp>
        <p:nvSpPr>
          <p:cNvPr id="95235" name="Text Box 3">
            <a:extLst>
              <a:ext uri="{FF2B5EF4-FFF2-40B4-BE49-F238E27FC236}">
                <a16:creationId xmlns:a16="http://schemas.microsoft.com/office/drawing/2014/main" id="{C3E30FC4-7D8D-5D48-B7A5-CC0A9D6E9B8C}"/>
              </a:ext>
            </a:extLst>
          </p:cNvPr>
          <p:cNvSpPr txBox="1">
            <a:spLocks noChangeArrowheads="1"/>
          </p:cNvSpPr>
          <p:nvPr/>
        </p:nvSpPr>
        <p:spPr bwMode="auto">
          <a:xfrm>
            <a:off x="2128838" y="4727575"/>
            <a:ext cx="78787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pPr>
            <a:r>
              <a:rPr lang="en-US" altLang="en-US" b="1" i="1"/>
              <a:t>C</a:t>
            </a:r>
            <a:r>
              <a:rPr lang="en-US" altLang="en-US" b="1"/>
              <a:t>(6+4-1, 4-1) </a:t>
            </a:r>
            <a:r>
              <a:rPr lang="en-US" altLang="en-US" b="1" i="1"/>
              <a:t>= C</a:t>
            </a:r>
            <a:r>
              <a:rPr lang="en-US" altLang="en-US" b="1"/>
              <a:t>(10-1, 4-1) = 84.  </a:t>
            </a:r>
          </a:p>
          <a:p>
            <a:pPr algn="ctr" eaLnBrk="1" hangingPunct="1">
              <a:spcBef>
                <a:spcPct val="50000"/>
              </a:spcBef>
            </a:pPr>
            <a:r>
              <a:rPr lang="en-US" altLang="en-US" b="1"/>
              <a:t>Thus, there are 84 such binary sequences. </a:t>
            </a:r>
          </a:p>
          <a:p>
            <a:pPr eaLnBrk="1" hangingPunct="1">
              <a:spcBef>
                <a:spcPct val="50000"/>
              </a:spcBef>
            </a:pPr>
            <a:endParaRPr lang="en-US" altLang="en-US"/>
          </a:p>
        </p:txBody>
      </p:sp>
      <p:sp>
        <p:nvSpPr>
          <p:cNvPr id="43014" name="Text Box 5">
            <a:extLst>
              <a:ext uri="{FF2B5EF4-FFF2-40B4-BE49-F238E27FC236}">
                <a16:creationId xmlns:a16="http://schemas.microsoft.com/office/drawing/2014/main" id="{EE1A1986-45AA-7D41-A06E-028238B817FC}"/>
              </a:ext>
            </a:extLst>
          </p:cNvPr>
          <p:cNvSpPr txBox="1">
            <a:spLocks noChangeArrowheads="1"/>
          </p:cNvSpPr>
          <p:nvPr/>
        </p:nvSpPr>
        <p:spPr bwMode="auto">
          <a:xfrm>
            <a:off x="2286000" y="37719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endParaRPr lang="en-US" altLang="en-US"/>
          </a:p>
        </p:txBody>
      </p:sp>
      <p:sp>
        <p:nvSpPr>
          <p:cNvPr id="95239" name="Text Box 7">
            <a:extLst>
              <a:ext uri="{FF2B5EF4-FFF2-40B4-BE49-F238E27FC236}">
                <a16:creationId xmlns:a16="http://schemas.microsoft.com/office/drawing/2014/main" id="{81EB0A8B-BC83-D949-B795-FFAE63C5CC22}"/>
              </a:ext>
            </a:extLst>
          </p:cNvPr>
          <p:cNvSpPr txBox="1">
            <a:spLocks noChangeArrowheads="1"/>
          </p:cNvSpPr>
          <p:nvPr/>
        </p:nvSpPr>
        <p:spPr bwMode="auto">
          <a:xfrm>
            <a:off x="4373564" y="2187575"/>
            <a:ext cx="4251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t>1----   0----    1-----  0-----</a:t>
            </a:r>
          </a:p>
        </p:txBody>
      </p:sp>
      <p:sp>
        <p:nvSpPr>
          <p:cNvPr id="43016" name="Rectangle 13">
            <a:extLst>
              <a:ext uri="{FF2B5EF4-FFF2-40B4-BE49-F238E27FC236}">
                <a16:creationId xmlns:a16="http://schemas.microsoft.com/office/drawing/2014/main" id="{0173044A-54E0-184C-A284-815C6BBF7A58}"/>
              </a:ext>
            </a:extLst>
          </p:cNvPr>
          <p:cNvSpPr>
            <a:spLocks noChangeArrowheads="1"/>
          </p:cNvSpPr>
          <p:nvPr/>
        </p:nvSpPr>
        <p:spPr bwMode="auto">
          <a:xfrm>
            <a:off x="4478338" y="1357313"/>
            <a:ext cx="533400" cy="609600"/>
          </a:xfrm>
          <a:prstGeom prst="rect">
            <a:avLst/>
          </a:prstGeom>
          <a:solidFill>
            <a:srgbClr val="2504C8"/>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3017" name="Rectangle 14">
            <a:extLst>
              <a:ext uri="{FF2B5EF4-FFF2-40B4-BE49-F238E27FC236}">
                <a16:creationId xmlns:a16="http://schemas.microsoft.com/office/drawing/2014/main" id="{EBDD735C-E81C-4641-A825-8CE4158D9FF2}"/>
              </a:ext>
            </a:extLst>
          </p:cNvPr>
          <p:cNvSpPr>
            <a:spLocks noChangeArrowheads="1"/>
          </p:cNvSpPr>
          <p:nvPr/>
        </p:nvSpPr>
        <p:spPr bwMode="auto">
          <a:xfrm>
            <a:off x="5316538" y="1357313"/>
            <a:ext cx="533400" cy="609600"/>
          </a:xfrm>
          <a:prstGeom prst="rect">
            <a:avLst/>
          </a:prstGeom>
          <a:solidFill>
            <a:srgbClr val="C6180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3018" name="Rectangle 15">
            <a:extLst>
              <a:ext uri="{FF2B5EF4-FFF2-40B4-BE49-F238E27FC236}">
                <a16:creationId xmlns:a16="http://schemas.microsoft.com/office/drawing/2014/main" id="{E493FC87-AF85-D848-BA68-3B52AA168C35}"/>
              </a:ext>
            </a:extLst>
          </p:cNvPr>
          <p:cNvSpPr>
            <a:spLocks noChangeArrowheads="1"/>
          </p:cNvSpPr>
          <p:nvPr/>
        </p:nvSpPr>
        <p:spPr bwMode="auto">
          <a:xfrm>
            <a:off x="6138863" y="1357313"/>
            <a:ext cx="533400" cy="609600"/>
          </a:xfrm>
          <a:prstGeom prst="rect">
            <a:avLst/>
          </a:prstGeom>
          <a:solidFill>
            <a:srgbClr val="0EBE1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3019" name="Text Box 16">
            <a:extLst>
              <a:ext uri="{FF2B5EF4-FFF2-40B4-BE49-F238E27FC236}">
                <a16:creationId xmlns:a16="http://schemas.microsoft.com/office/drawing/2014/main" id="{0A3C3726-44E5-7740-B495-D5933CE3CF50}"/>
              </a:ext>
            </a:extLst>
          </p:cNvPr>
          <p:cNvSpPr txBox="1">
            <a:spLocks noChangeArrowheads="1"/>
          </p:cNvSpPr>
          <p:nvPr/>
        </p:nvSpPr>
        <p:spPr bwMode="auto">
          <a:xfrm>
            <a:off x="4433888" y="1481138"/>
            <a:ext cx="671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3020" name="Text Box 17">
            <a:extLst>
              <a:ext uri="{FF2B5EF4-FFF2-40B4-BE49-F238E27FC236}">
                <a16:creationId xmlns:a16="http://schemas.microsoft.com/office/drawing/2014/main" id="{F11E489D-C86F-E74B-A6F7-C3B2E91D728D}"/>
              </a:ext>
            </a:extLst>
          </p:cNvPr>
          <p:cNvSpPr txBox="1">
            <a:spLocks noChangeArrowheads="1"/>
          </p:cNvSpPr>
          <p:nvPr/>
        </p:nvSpPr>
        <p:spPr bwMode="auto">
          <a:xfrm>
            <a:off x="5302250" y="1449388"/>
            <a:ext cx="61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0</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3021" name="Text Box 19">
            <a:extLst>
              <a:ext uri="{FF2B5EF4-FFF2-40B4-BE49-F238E27FC236}">
                <a16:creationId xmlns:a16="http://schemas.microsoft.com/office/drawing/2014/main" id="{D1928D82-51DE-7D43-9011-981A1D51C86E}"/>
              </a:ext>
            </a:extLst>
          </p:cNvPr>
          <p:cNvSpPr txBox="1">
            <a:spLocks noChangeArrowheads="1"/>
          </p:cNvSpPr>
          <p:nvPr/>
        </p:nvSpPr>
        <p:spPr bwMode="auto">
          <a:xfrm>
            <a:off x="2528888" y="1525588"/>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4 Boxes</a:t>
            </a:r>
          </a:p>
        </p:txBody>
      </p:sp>
      <p:sp>
        <p:nvSpPr>
          <p:cNvPr id="43022" name="Rectangle 20">
            <a:extLst>
              <a:ext uri="{FF2B5EF4-FFF2-40B4-BE49-F238E27FC236}">
                <a16:creationId xmlns:a16="http://schemas.microsoft.com/office/drawing/2014/main" id="{3A0D4EDA-37BD-9749-9A6E-842B699CDB1D}"/>
              </a:ext>
            </a:extLst>
          </p:cNvPr>
          <p:cNvSpPr>
            <a:spLocks noChangeArrowheads="1"/>
          </p:cNvSpPr>
          <p:nvPr/>
        </p:nvSpPr>
        <p:spPr bwMode="auto">
          <a:xfrm>
            <a:off x="6945313" y="1371600"/>
            <a:ext cx="533400" cy="609600"/>
          </a:xfrm>
          <a:prstGeom prst="rect">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solidFill>
                <a:srgbClr val="2504C8"/>
              </a:solidFill>
              <a:latin typeface="Tahoma" panose="020B0604030504040204" pitchFamily="34" charset="0"/>
            </a:endParaRPr>
          </a:p>
        </p:txBody>
      </p:sp>
      <p:sp>
        <p:nvSpPr>
          <p:cNvPr id="43023" name="Text Box 21">
            <a:extLst>
              <a:ext uri="{FF2B5EF4-FFF2-40B4-BE49-F238E27FC236}">
                <a16:creationId xmlns:a16="http://schemas.microsoft.com/office/drawing/2014/main" id="{E08C98E4-3EA2-A043-A8CE-FEE1540171E8}"/>
              </a:ext>
            </a:extLst>
          </p:cNvPr>
          <p:cNvSpPr txBox="1">
            <a:spLocks noChangeArrowheads="1"/>
          </p:cNvSpPr>
          <p:nvPr/>
        </p:nvSpPr>
        <p:spPr bwMode="auto">
          <a:xfrm>
            <a:off x="6916739" y="1463675"/>
            <a:ext cx="65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0</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43024" name="Text Box 22">
            <a:extLst>
              <a:ext uri="{FF2B5EF4-FFF2-40B4-BE49-F238E27FC236}">
                <a16:creationId xmlns:a16="http://schemas.microsoft.com/office/drawing/2014/main" id="{5D8B8B37-07AE-C546-82D3-1A7AB9FEB245}"/>
              </a:ext>
            </a:extLst>
          </p:cNvPr>
          <p:cNvSpPr txBox="1">
            <a:spLocks noChangeArrowheads="1"/>
          </p:cNvSpPr>
          <p:nvPr/>
        </p:nvSpPr>
        <p:spPr bwMode="auto">
          <a:xfrm>
            <a:off x="6094413" y="1452563"/>
            <a:ext cx="671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b="1">
                <a:solidFill>
                  <a:schemeClr val="bg1"/>
                </a:solidFill>
              </a:rPr>
              <a:t>1</a:t>
            </a:r>
            <a:r>
              <a:rPr lang="ja-JP" altLang="en-US" b="1">
                <a:solidFill>
                  <a:schemeClr val="bg1"/>
                </a:solidFill>
              </a:rPr>
              <a:t>’</a:t>
            </a:r>
            <a:r>
              <a:rPr lang="en-US" altLang="ja-JP" b="1">
                <a:solidFill>
                  <a:schemeClr val="bg1"/>
                </a:solidFill>
              </a:rPr>
              <a:t>s</a:t>
            </a:r>
            <a:endParaRPr lang="en-US" altLang="en-US" b="1">
              <a:solidFill>
                <a:schemeClr val="bg1"/>
              </a:solidFill>
            </a:endParaRPr>
          </a:p>
        </p:txBody>
      </p:sp>
      <p:sp>
        <p:nvSpPr>
          <p:cNvPr id="95255" name="Text Box 23">
            <a:extLst>
              <a:ext uri="{FF2B5EF4-FFF2-40B4-BE49-F238E27FC236}">
                <a16:creationId xmlns:a16="http://schemas.microsoft.com/office/drawing/2014/main" id="{1456349E-7E59-E744-B842-1542846E989D}"/>
              </a:ext>
            </a:extLst>
          </p:cNvPr>
          <p:cNvSpPr txBox="1">
            <a:spLocks noChangeArrowheads="1"/>
          </p:cNvSpPr>
          <p:nvPr/>
        </p:nvSpPr>
        <p:spPr bwMode="auto">
          <a:xfrm>
            <a:off x="2239964" y="2651125"/>
            <a:ext cx="7223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Put one digit in each box.</a:t>
            </a:r>
          </a:p>
        </p:txBody>
      </p:sp>
      <p:sp>
        <p:nvSpPr>
          <p:cNvPr id="95256" name="Text Box 24">
            <a:extLst>
              <a:ext uri="{FF2B5EF4-FFF2-40B4-BE49-F238E27FC236}">
                <a16:creationId xmlns:a16="http://schemas.microsoft.com/office/drawing/2014/main" id="{A81DC6EA-D242-6A4A-A827-32284C646B21}"/>
              </a:ext>
            </a:extLst>
          </p:cNvPr>
          <p:cNvSpPr txBox="1">
            <a:spLocks noChangeArrowheads="1"/>
          </p:cNvSpPr>
          <p:nvPr/>
        </p:nvSpPr>
        <p:spPr bwMode="auto">
          <a:xfrm>
            <a:off x="2132014" y="3857626"/>
            <a:ext cx="79263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Then distribute the remaining 10 – 4 digits into the 4 boxes:</a:t>
            </a:r>
          </a:p>
          <a:p>
            <a:pPr eaLnBrk="1" hangingPunct="1">
              <a:spcBef>
                <a:spcPct val="50000"/>
              </a:spcBef>
            </a:pPr>
            <a:endParaRPr lang="en-US" altLang="en-US"/>
          </a:p>
        </p:txBody>
      </p:sp>
      <p:grpSp>
        <p:nvGrpSpPr>
          <p:cNvPr id="2" name="Group 30">
            <a:extLst>
              <a:ext uri="{FF2B5EF4-FFF2-40B4-BE49-F238E27FC236}">
                <a16:creationId xmlns:a16="http://schemas.microsoft.com/office/drawing/2014/main" id="{F44437B1-75ED-864F-BE92-57053C8A9470}"/>
              </a:ext>
            </a:extLst>
          </p:cNvPr>
          <p:cNvGrpSpPr>
            <a:grpSpLocks/>
          </p:cNvGrpSpPr>
          <p:nvPr/>
        </p:nvGrpSpPr>
        <p:grpSpPr bwMode="auto">
          <a:xfrm>
            <a:off x="4086226" y="3154364"/>
            <a:ext cx="4176713" cy="763587"/>
            <a:chOff x="1614" y="1987"/>
            <a:chExt cx="2631" cy="481"/>
          </a:xfrm>
        </p:grpSpPr>
        <p:sp>
          <p:nvSpPr>
            <p:cNvPr id="43029" name="Text Box 25">
              <a:extLst>
                <a:ext uri="{FF2B5EF4-FFF2-40B4-BE49-F238E27FC236}">
                  <a16:creationId xmlns:a16="http://schemas.microsoft.com/office/drawing/2014/main" id="{409AD397-A25F-6147-9529-7B98CCEDB971}"/>
                </a:ext>
              </a:extLst>
            </p:cNvPr>
            <p:cNvSpPr txBox="1">
              <a:spLocks noChangeArrowheads="1"/>
            </p:cNvSpPr>
            <p:nvPr/>
          </p:nvSpPr>
          <p:spPr bwMode="auto">
            <a:xfrm>
              <a:off x="1614" y="1987"/>
              <a:ext cx="263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3200"/>
                <a:t>__  __  __  __  __  __</a:t>
              </a:r>
              <a:r>
                <a:rPr lang="en-US" altLang="en-US"/>
                <a:t>  </a:t>
              </a:r>
            </a:p>
          </p:txBody>
        </p:sp>
        <p:sp>
          <p:nvSpPr>
            <p:cNvPr id="43030" name="Line 26">
              <a:extLst>
                <a:ext uri="{FF2B5EF4-FFF2-40B4-BE49-F238E27FC236}">
                  <a16:creationId xmlns:a16="http://schemas.microsoft.com/office/drawing/2014/main" id="{E3AFE7B9-2814-034E-8E0A-5D2243B50AE5}"/>
                </a:ext>
              </a:extLst>
            </p:cNvPr>
            <p:cNvSpPr>
              <a:spLocks noChangeShapeType="1"/>
            </p:cNvSpPr>
            <p:nvPr/>
          </p:nvSpPr>
          <p:spPr bwMode="auto">
            <a:xfrm>
              <a:off x="1978" y="2084"/>
              <a:ext cx="0" cy="38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1" name="Line 27">
              <a:extLst>
                <a:ext uri="{FF2B5EF4-FFF2-40B4-BE49-F238E27FC236}">
                  <a16:creationId xmlns:a16="http://schemas.microsoft.com/office/drawing/2014/main" id="{B3FAA838-0389-9C46-BD20-E9372348D1EE}"/>
                </a:ext>
              </a:extLst>
            </p:cNvPr>
            <p:cNvSpPr>
              <a:spLocks noChangeShapeType="1"/>
            </p:cNvSpPr>
            <p:nvPr/>
          </p:nvSpPr>
          <p:spPr bwMode="auto">
            <a:xfrm>
              <a:off x="3149" y="2084"/>
              <a:ext cx="0" cy="38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Line 28">
              <a:extLst>
                <a:ext uri="{FF2B5EF4-FFF2-40B4-BE49-F238E27FC236}">
                  <a16:creationId xmlns:a16="http://schemas.microsoft.com/office/drawing/2014/main" id="{E90F9308-2600-D149-B6CD-F71AE317B431}"/>
                </a:ext>
              </a:extLst>
            </p:cNvPr>
            <p:cNvSpPr>
              <a:spLocks noChangeShapeType="1"/>
            </p:cNvSpPr>
            <p:nvPr/>
          </p:nvSpPr>
          <p:spPr bwMode="auto">
            <a:xfrm>
              <a:off x="2381" y="2083"/>
              <a:ext cx="0" cy="384"/>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261" name="Text Box 29">
            <a:extLst>
              <a:ext uri="{FF2B5EF4-FFF2-40B4-BE49-F238E27FC236}">
                <a16:creationId xmlns:a16="http://schemas.microsoft.com/office/drawing/2014/main" id="{5E99A5AA-C93C-7143-BF4D-8E12D70AD2A1}"/>
              </a:ext>
            </a:extLst>
          </p:cNvPr>
          <p:cNvSpPr txBox="1">
            <a:spLocks noChangeArrowheads="1"/>
          </p:cNvSpPr>
          <p:nvPr/>
        </p:nvSpPr>
        <p:spPr bwMode="auto">
          <a:xfrm>
            <a:off x="8077200" y="2941638"/>
            <a:ext cx="2179638"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800"/>
              <a:t>(Corresponds to </a:t>
            </a:r>
          </a:p>
          <a:p>
            <a:pPr eaLnBrk="1" hangingPunct="1">
              <a:spcBef>
                <a:spcPct val="50000"/>
              </a:spcBef>
            </a:pPr>
            <a:r>
              <a:rPr lang="en-US" altLang="en-US" sz="1800" b="1"/>
              <a:t>1</a:t>
            </a:r>
            <a:r>
              <a:rPr lang="en-US" altLang="en-US" sz="1800"/>
              <a:t>1</a:t>
            </a:r>
            <a:r>
              <a:rPr lang="en-US" altLang="en-US" sz="1800" b="1"/>
              <a:t>0</a:t>
            </a:r>
            <a:r>
              <a:rPr lang="en-US" altLang="en-US" sz="1800"/>
              <a:t>0</a:t>
            </a:r>
            <a:r>
              <a:rPr lang="en-US" altLang="en-US" sz="1800" b="1"/>
              <a:t>1</a:t>
            </a:r>
            <a:r>
              <a:rPr lang="en-US" altLang="en-US" sz="1800"/>
              <a:t>11</a:t>
            </a:r>
            <a:r>
              <a:rPr lang="en-US" altLang="en-US" sz="1800" b="1"/>
              <a:t>0</a:t>
            </a:r>
            <a:r>
              <a:rPr lang="en-US" altLang="en-US" sz="1800"/>
              <a:t>00.)</a:t>
            </a:r>
          </a:p>
        </p:txBody>
      </p:sp>
    </p:spTree>
    <p:extLst>
      <p:ext uri="{BB962C8B-B14F-4D97-AF65-F5344CB8AC3E}">
        <p14:creationId xmlns:p14="http://schemas.microsoft.com/office/powerpoint/2010/main" val="442552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5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52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526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5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p:bldP spid="95239" grpId="0"/>
      <p:bldP spid="95255" grpId="0"/>
      <p:bldP spid="95256" grpId="0"/>
      <p:bldP spid="9526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E8708A58-E093-4445-A274-018996146700}"/>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p:sp>
        <p:nvSpPr>
          <p:cNvPr id="47109" name="Rectangle 5">
            <a:extLst>
              <a:ext uri="{FF2B5EF4-FFF2-40B4-BE49-F238E27FC236}">
                <a16:creationId xmlns:a16="http://schemas.microsoft.com/office/drawing/2014/main" id="{5F7D5954-3198-6642-87FB-D615FD432653}"/>
              </a:ext>
            </a:extLst>
          </p:cNvPr>
          <p:cNvSpPr>
            <a:spLocks noChangeArrowheads="1"/>
          </p:cNvSpPr>
          <p:nvPr/>
        </p:nvSpPr>
        <p:spPr bwMode="auto">
          <a:xfrm>
            <a:off x="2254250" y="2090739"/>
            <a:ext cx="762158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a:t>How many ways are there to distribute </a:t>
            </a:r>
            <a:r>
              <a:rPr lang="en-US" altLang="en-US" sz="3200" b="1">
                <a:solidFill>
                  <a:srgbClr val="FF0000"/>
                </a:solidFill>
              </a:rPr>
              <a:t>8 balls into 6 boxes</a:t>
            </a:r>
            <a:r>
              <a:rPr lang="en-US" altLang="en-US" sz="3200"/>
              <a:t> with </a:t>
            </a:r>
            <a:r>
              <a:rPr lang="en-US" altLang="en-US" sz="3200" b="1">
                <a:solidFill>
                  <a:srgbClr val="3366FF"/>
                </a:solidFill>
              </a:rPr>
              <a:t>the first two boxes collectively having at most four balls</a:t>
            </a:r>
            <a:r>
              <a:rPr lang="en-US" altLang="en-US" sz="3200"/>
              <a:t> if</a:t>
            </a:r>
          </a:p>
          <a:p>
            <a:pPr eaLnBrk="1" hangingPunct="1"/>
            <a:r>
              <a:rPr lang="en-US" altLang="en-US" sz="3200"/>
              <a:t>(a) The balls are identical?</a:t>
            </a:r>
          </a:p>
          <a:p>
            <a:pPr eaLnBrk="1" hangingPunct="1"/>
            <a:r>
              <a:rPr lang="en-US" altLang="en-US" sz="3200"/>
              <a:t>(b) The balls are distinct?</a:t>
            </a:r>
          </a:p>
        </p:txBody>
      </p:sp>
    </p:spTree>
    <p:extLst>
      <p:ext uri="{BB962C8B-B14F-4D97-AF65-F5344CB8AC3E}">
        <p14:creationId xmlns:p14="http://schemas.microsoft.com/office/powerpoint/2010/main" val="1112987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3EA49270-BC9F-D945-B0EA-E496624FD60F}"/>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8CC22D4-9D9F-3743-916F-4F6EB0E8299A}"/>
                  </a:ext>
                </a:extLst>
              </p:cNvPr>
              <p:cNvSpPr/>
              <p:nvPr/>
            </p:nvSpPr>
            <p:spPr>
              <a:xfrm>
                <a:off x="2392364" y="1703389"/>
                <a:ext cx="7621587" cy="4524375"/>
              </a:xfrm>
              <a:prstGeom prst="rect">
                <a:avLst/>
              </a:prstGeom>
            </p:spPr>
            <p:txBody>
              <a:bodyPr>
                <a:spAutoFit/>
              </a:bodyPr>
              <a:lstStyle/>
              <a:p>
                <a:pPr>
                  <a:defRPr/>
                </a:pPr>
                <a:r>
                  <a:rPr lang="en-US" sz="3200" dirty="0">
                    <a:latin typeface="Times New Roman" charset="0"/>
                    <a:ea typeface="ＭＳ Ｐゴシック" charset="0"/>
                    <a:cs typeface="ＭＳ Ｐゴシック" charset="0"/>
                  </a:rPr>
                  <a:t>How many ways are there to distribute </a:t>
                </a:r>
                <a:r>
                  <a:rPr lang="en-US" sz="3200" b="1" dirty="0">
                    <a:solidFill>
                      <a:srgbClr val="FF0000"/>
                    </a:solidFill>
                    <a:latin typeface="Times New Roman" charset="0"/>
                    <a:ea typeface="ＭＳ Ｐゴシック" charset="0"/>
                    <a:cs typeface="ＭＳ Ｐゴシック" charset="0"/>
                  </a:rPr>
                  <a:t>8 balls into 6 boxes</a:t>
                </a:r>
                <a:r>
                  <a:rPr lang="en-US" sz="3200" dirty="0">
                    <a:latin typeface="Times New Roman" charset="0"/>
                    <a:ea typeface="ＭＳ Ｐゴシック" charset="0"/>
                    <a:cs typeface="ＭＳ Ｐゴシック" charset="0"/>
                  </a:rPr>
                  <a:t> with </a:t>
                </a:r>
                <a:r>
                  <a:rPr lang="en-US" sz="3200" b="1" dirty="0">
                    <a:solidFill>
                      <a:srgbClr val="3366FF"/>
                    </a:solidFill>
                    <a:latin typeface="Times New Roman" charset="0"/>
                    <a:ea typeface="ＭＳ Ｐゴシック" charset="0"/>
                    <a:cs typeface="ＭＳ Ｐゴシック" charset="0"/>
                  </a:rPr>
                  <a:t>the first two boxes collectively having at most four balls</a:t>
                </a:r>
                <a:r>
                  <a:rPr lang="en-US" sz="3200" dirty="0">
                    <a:latin typeface="Times New Roman" charset="0"/>
                    <a:ea typeface="ＭＳ Ｐゴシック" charset="0"/>
                    <a:cs typeface="ＭＳ Ｐゴシック" charset="0"/>
                  </a:rPr>
                  <a:t> if</a:t>
                </a:r>
              </a:p>
              <a:p>
                <a:pPr marL="514350" indent="-514350">
                  <a:buFontTx/>
                  <a:buAutoNum type="alphaLcParenBoth"/>
                  <a:defRPr/>
                </a:pPr>
                <a:r>
                  <a:rPr lang="en-US" sz="3200" dirty="0">
                    <a:latin typeface="Times New Roman" charset="0"/>
                    <a:ea typeface="ＭＳ Ｐゴシック" charset="0"/>
                    <a:cs typeface="ＭＳ Ｐゴシック" charset="0"/>
                  </a:rPr>
                  <a:t>The balls are identical?</a:t>
                </a:r>
              </a:p>
              <a:p>
                <a:pPr>
                  <a:defRPr/>
                </a:pPr>
                <a:r>
                  <a:rPr lang="en-US" sz="3200" dirty="0">
                    <a:latin typeface="Times New Roman" charset="0"/>
                    <a:ea typeface="ＭＳ Ｐゴシック" charset="0"/>
                    <a:cs typeface="ＭＳ Ｐゴシック" charset="0"/>
                  </a:rPr>
                  <a:t>First put 4 in two restricted boxes: C(4+2-1,4) = 5 ways</a:t>
                </a:r>
              </a:p>
              <a:p>
                <a:pPr>
                  <a:defRPr/>
                </a:pPr>
                <a:r>
                  <a:rPr lang="en-US" sz="3200" dirty="0">
                    <a:latin typeface="Times New Roman" charset="0"/>
                    <a:ea typeface="ＭＳ Ｐゴシック" charset="0"/>
                    <a:cs typeface="ＭＳ Ｐゴシック" charset="0"/>
                  </a:rPr>
                  <a:t>Then put remaining 4 in 4 unrestricted boxes:</a:t>
                </a:r>
              </a:p>
              <a:p>
                <a:pPr>
                  <a:defRPr/>
                </a:pPr>
                <a:r>
                  <a:rPr lang="en-US" sz="3200" dirty="0">
                    <a:latin typeface="Times New Roman" charset="0"/>
                    <a:ea typeface="ＭＳ Ｐゴシック" charset="0"/>
                    <a:cs typeface="ＭＳ Ｐゴシック" charset="0"/>
                  </a:rPr>
                  <a:t>C(4+4-1,4) = 7!/4!3! = 35</a:t>
                </a:r>
              </a:p>
              <a:p>
                <a:pPr>
                  <a:defRPr/>
                </a:pPr>
                <a:r>
                  <a:rPr lang="en-US" sz="3200" dirty="0">
                    <a:latin typeface="Times New Roman" charset="0"/>
                    <a:ea typeface="ＭＳ Ｐゴシック" charset="0"/>
                    <a:cs typeface="ＭＳ Ｐゴシック" charset="0"/>
                  </a:rPr>
                  <a:t>      Total: 5</a:t>
                </a:r>
                <a14:m>
                  <m:oMath xmlns:m="http://schemas.openxmlformats.org/officeDocument/2006/math">
                    <m:r>
                      <a:rPr lang="en-US" sz="3200" i="1" smtClean="0">
                        <a:latin typeface="Cambria Math" panose="02040503050406030204" pitchFamily="18" charset="0"/>
                        <a:ea typeface="Cambria Math" panose="02040503050406030204" pitchFamily="18" charset="0"/>
                        <a:cs typeface="ＭＳ Ｐゴシック" charset="0"/>
                      </a:rPr>
                      <m:t>×</m:t>
                    </m:r>
                  </m:oMath>
                </a14:m>
                <a:r>
                  <a:rPr lang="en-US" sz="3200" dirty="0">
                    <a:latin typeface="Times New Roman" charset="0"/>
                    <a:ea typeface="ＭＳ Ｐゴシック" charset="0"/>
                    <a:cs typeface="ＭＳ Ｐゴシック" charset="0"/>
                  </a:rPr>
                  <a:t>35=175</a:t>
                </a:r>
              </a:p>
            </p:txBody>
          </p:sp>
        </mc:Choice>
        <mc:Fallback xmlns="">
          <p:sp>
            <p:nvSpPr>
              <p:cNvPr id="6" name="Rectangle 5">
                <a:extLst>
                  <a:ext uri="{FF2B5EF4-FFF2-40B4-BE49-F238E27FC236}">
                    <a16:creationId xmlns:a16="http://schemas.microsoft.com/office/drawing/2014/main" id="{48CC22D4-9D9F-3743-916F-4F6EB0E8299A}"/>
                  </a:ext>
                </a:extLst>
              </p:cNvPr>
              <p:cNvSpPr>
                <a:spLocks noRot="1" noChangeAspect="1" noMove="1" noResize="1" noEditPoints="1" noAdjustHandles="1" noChangeArrowheads="1" noChangeShapeType="1" noTextEdit="1"/>
              </p:cNvSpPr>
              <p:nvPr/>
            </p:nvSpPr>
            <p:spPr>
              <a:xfrm>
                <a:off x="2392364" y="1703389"/>
                <a:ext cx="7621587" cy="4524375"/>
              </a:xfrm>
              <a:prstGeom prst="rect">
                <a:avLst/>
              </a:prstGeom>
              <a:blipFill>
                <a:blip r:embed="rId2"/>
                <a:stretch>
                  <a:fillRect l="-1827" t="-1401" r="-1495" b="-3361"/>
                </a:stretch>
              </a:blipFill>
            </p:spPr>
            <p:txBody>
              <a:bodyPr/>
              <a:lstStyle/>
              <a:p>
                <a:r>
                  <a:rPr lang="en-US">
                    <a:noFill/>
                  </a:rPr>
                  <a:t> </a:t>
                </a:r>
              </a:p>
            </p:txBody>
          </p:sp>
        </mc:Fallback>
      </mc:AlternateContent>
    </p:spTree>
    <p:extLst>
      <p:ext uri="{BB962C8B-B14F-4D97-AF65-F5344CB8AC3E}">
        <p14:creationId xmlns:p14="http://schemas.microsoft.com/office/powerpoint/2010/main" val="1502091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1A336E23-C894-BA4B-8D1F-0D7C2AA285AA}"/>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mc:AlternateContent xmlns:mc="http://schemas.openxmlformats.org/markup-compatibility/2006" xmlns:a14="http://schemas.microsoft.com/office/drawing/2010/main">
        <mc:Choice Requires="a14">
          <p:sp>
            <p:nvSpPr>
              <p:cNvPr id="49157" name="Rectangle 5">
                <a:extLst>
                  <a:ext uri="{FF2B5EF4-FFF2-40B4-BE49-F238E27FC236}">
                    <a16:creationId xmlns:a16="http://schemas.microsoft.com/office/drawing/2014/main" id="{588C91C4-1A83-9749-B0AE-E30615D87E89}"/>
                  </a:ext>
                </a:extLst>
              </p:cNvPr>
              <p:cNvSpPr>
                <a:spLocks noChangeArrowheads="1"/>
              </p:cNvSpPr>
              <p:nvPr/>
            </p:nvSpPr>
            <p:spPr bwMode="auto">
              <a:xfrm>
                <a:off x="2392364" y="1703389"/>
                <a:ext cx="7621587" cy="25542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Or put 3 in two restricted boxes: C(3+2-1,3) = 4 ways</a:t>
                </a:r>
              </a:p>
              <a:p>
                <a:pPr eaLnBrk="1" hangingPunct="1"/>
                <a:r>
                  <a:rPr lang="en-US" altLang="en-US" sz="3200" dirty="0"/>
                  <a:t>Then put remaining 5 in 4 unrestricted boxes:</a:t>
                </a:r>
              </a:p>
              <a:p>
                <a:pPr eaLnBrk="1" hangingPunct="1"/>
                <a:r>
                  <a:rPr lang="en-US" altLang="en-US" sz="3200" dirty="0"/>
                  <a:t>C(5+4-1,5) = 8!/5!3! = 56</a:t>
                </a:r>
              </a:p>
              <a:p>
                <a:pPr eaLnBrk="1" hangingPunct="1"/>
                <a:r>
                  <a:rPr lang="en-US" altLang="en-US" sz="3200" dirty="0"/>
                  <a:t>      Total: 4</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56=224</a:t>
                </a:r>
              </a:p>
            </p:txBody>
          </p:sp>
        </mc:Choice>
        <mc:Fallback xmlns="">
          <p:sp>
            <p:nvSpPr>
              <p:cNvPr id="49157" name="Rectangle 5">
                <a:extLst>
                  <a:ext uri="{FF2B5EF4-FFF2-40B4-BE49-F238E27FC236}">
                    <a16:creationId xmlns:a16="http://schemas.microsoft.com/office/drawing/2014/main" id="{588C91C4-1A83-9749-B0AE-E30615D87E89}"/>
                  </a:ext>
                </a:extLst>
              </p:cNvPr>
              <p:cNvSpPr>
                <a:spLocks noRot="1" noChangeAspect="1" noMove="1" noResize="1" noEditPoints="1" noAdjustHandles="1" noChangeArrowheads="1" noChangeShapeType="1" noTextEdit="1"/>
              </p:cNvSpPr>
              <p:nvPr/>
            </p:nvSpPr>
            <p:spPr bwMode="auto">
              <a:xfrm>
                <a:off x="2392364" y="1703389"/>
                <a:ext cx="7621587" cy="2554287"/>
              </a:xfrm>
              <a:prstGeom prst="rect">
                <a:avLst/>
              </a:prstGeom>
              <a:blipFill>
                <a:blip r:embed="rId2"/>
                <a:stretch>
                  <a:fillRect l="-1827" t="-2475" r="-1495" b="-64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261527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2BD8EF1B-3DB1-094F-BA45-599ABB82C6B5}"/>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mc:AlternateContent xmlns:mc="http://schemas.openxmlformats.org/markup-compatibility/2006" xmlns:a14="http://schemas.microsoft.com/office/drawing/2010/main">
        <mc:Choice Requires="a14">
          <p:sp>
            <p:nvSpPr>
              <p:cNvPr id="50181" name="Rectangle 5">
                <a:extLst>
                  <a:ext uri="{FF2B5EF4-FFF2-40B4-BE49-F238E27FC236}">
                    <a16:creationId xmlns:a16="http://schemas.microsoft.com/office/drawing/2014/main" id="{092E1861-3FAE-D94A-8696-20F1572B7998}"/>
                  </a:ext>
                </a:extLst>
              </p:cNvPr>
              <p:cNvSpPr>
                <a:spLocks noChangeArrowheads="1"/>
              </p:cNvSpPr>
              <p:nvPr/>
            </p:nvSpPr>
            <p:spPr bwMode="auto">
              <a:xfrm>
                <a:off x="2392364" y="1703389"/>
                <a:ext cx="7621587" cy="25542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Or put 2 in two restricted boxes: C(2+2-1,2) = 3 ways</a:t>
                </a:r>
              </a:p>
              <a:p>
                <a:pPr eaLnBrk="1" hangingPunct="1"/>
                <a:r>
                  <a:rPr lang="en-US" altLang="en-US" sz="3200" dirty="0"/>
                  <a:t>Then put remaining 6 in 4 unrestricted boxes:</a:t>
                </a:r>
              </a:p>
              <a:p>
                <a:pPr eaLnBrk="1" hangingPunct="1"/>
                <a:r>
                  <a:rPr lang="en-US" altLang="en-US" sz="3200" dirty="0"/>
                  <a:t>C(6+4-1,6) = 9!/6!3! = 84</a:t>
                </a:r>
              </a:p>
              <a:p>
                <a:pPr eaLnBrk="1" hangingPunct="1"/>
                <a:r>
                  <a:rPr lang="en-US" altLang="en-US" sz="3200" dirty="0"/>
                  <a:t>      Total: 3</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84=252</a:t>
                </a:r>
              </a:p>
            </p:txBody>
          </p:sp>
        </mc:Choice>
        <mc:Fallback xmlns="">
          <p:sp>
            <p:nvSpPr>
              <p:cNvPr id="50181" name="Rectangle 5">
                <a:extLst>
                  <a:ext uri="{FF2B5EF4-FFF2-40B4-BE49-F238E27FC236}">
                    <a16:creationId xmlns:a16="http://schemas.microsoft.com/office/drawing/2014/main" id="{092E1861-3FAE-D94A-8696-20F1572B7998}"/>
                  </a:ext>
                </a:extLst>
              </p:cNvPr>
              <p:cNvSpPr>
                <a:spLocks noRot="1" noChangeAspect="1" noMove="1" noResize="1" noEditPoints="1" noAdjustHandles="1" noChangeArrowheads="1" noChangeShapeType="1" noTextEdit="1"/>
              </p:cNvSpPr>
              <p:nvPr/>
            </p:nvSpPr>
            <p:spPr bwMode="auto">
              <a:xfrm>
                <a:off x="2392364" y="1703389"/>
                <a:ext cx="7621587" cy="2554287"/>
              </a:xfrm>
              <a:prstGeom prst="rect">
                <a:avLst/>
              </a:prstGeom>
              <a:blipFill>
                <a:blip r:embed="rId2"/>
                <a:stretch>
                  <a:fillRect l="-1827" t="-2475" r="-1495" b="-64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414792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4AF35125-5689-1B4C-994F-A14E08709FC9}"/>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mc:AlternateContent xmlns:mc="http://schemas.openxmlformats.org/markup-compatibility/2006" xmlns:a14="http://schemas.microsoft.com/office/drawing/2010/main">
        <mc:Choice Requires="a14">
          <p:sp>
            <p:nvSpPr>
              <p:cNvPr id="51205" name="Rectangle 5">
                <a:extLst>
                  <a:ext uri="{FF2B5EF4-FFF2-40B4-BE49-F238E27FC236}">
                    <a16:creationId xmlns:a16="http://schemas.microsoft.com/office/drawing/2014/main" id="{AE5C2DB6-B028-4142-9857-F3EEF188537A}"/>
                  </a:ext>
                </a:extLst>
              </p:cNvPr>
              <p:cNvSpPr>
                <a:spLocks noChangeArrowheads="1"/>
              </p:cNvSpPr>
              <p:nvPr/>
            </p:nvSpPr>
            <p:spPr bwMode="auto">
              <a:xfrm>
                <a:off x="2392364" y="1703389"/>
                <a:ext cx="7621587" cy="25542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Or put 1 in two restricted boxes: C(1+2-1,1) = 2 ways</a:t>
                </a:r>
              </a:p>
              <a:p>
                <a:pPr eaLnBrk="1" hangingPunct="1"/>
                <a:r>
                  <a:rPr lang="en-US" altLang="en-US" sz="3200" dirty="0"/>
                  <a:t>Then put remaining 7 in 4 unrestricted boxes:</a:t>
                </a:r>
              </a:p>
              <a:p>
                <a:pPr eaLnBrk="1" hangingPunct="1"/>
                <a:r>
                  <a:rPr lang="en-US" altLang="en-US" sz="3200" dirty="0"/>
                  <a:t>C(7+4-1,7) = 10!/7!3! = 120</a:t>
                </a:r>
              </a:p>
              <a:p>
                <a:pPr eaLnBrk="1" hangingPunct="1"/>
                <a:r>
                  <a:rPr lang="en-US" altLang="en-US" sz="3200" dirty="0"/>
                  <a:t>      Total: 2</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120=240</a:t>
                </a:r>
              </a:p>
            </p:txBody>
          </p:sp>
        </mc:Choice>
        <mc:Fallback xmlns="">
          <p:sp>
            <p:nvSpPr>
              <p:cNvPr id="51205" name="Rectangle 5">
                <a:extLst>
                  <a:ext uri="{FF2B5EF4-FFF2-40B4-BE49-F238E27FC236}">
                    <a16:creationId xmlns:a16="http://schemas.microsoft.com/office/drawing/2014/main" id="{AE5C2DB6-B028-4142-9857-F3EEF188537A}"/>
                  </a:ext>
                </a:extLst>
              </p:cNvPr>
              <p:cNvSpPr>
                <a:spLocks noRot="1" noChangeAspect="1" noMove="1" noResize="1" noEditPoints="1" noAdjustHandles="1" noChangeArrowheads="1" noChangeShapeType="1" noTextEdit="1"/>
              </p:cNvSpPr>
              <p:nvPr/>
            </p:nvSpPr>
            <p:spPr bwMode="auto">
              <a:xfrm>
                <a:off x="2392364" y="1703389"/>
                <a:ext cx="7621587" cy="2554287"/>
              </a:xfrm>
              <a:prstGeom prst="rect">
                <a:avLst/>
              </a:prstGeom>
              <a:blipFill>
                <a:blip r:embed="rId2"/>
                <a:stretch>
                  <a:fillRect l="-1827" t="-2475" r="-1495" b="-64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6991466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EE1793CA-C0ED-7244-87F7-7414988575A5}"/>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mc:AlternateContent xmlns:mc="http://schemas.openxmlformats.org/markup-compatibility/2006" xmlns:a14="http://schemas.microsoft.com/office/drawing/2010/main">
        <mc:Choice Requires="a14">
          <p:sp>
            <p:nvSpPr>
              <p:cNvPr id="52229" name="Rectangle 5">
                <a:extLst>
                  <a:ext uri="{FF2B5EF4-FFF2-40B4-BE49-F238E27FC236}">
                    <a16:creationId xmlns:a16="http://schemas.microsoft.com/office/drawing/2014/main" id="{AB2AA9DE-2E16-DB4C-8873-20DE47545DE8}"/>
                  </a:ext>
                </a:extLst>
              </p:cNvPr>
              <p:cNvSpPr>
                <a:spLocks noChangeArrowheads="1"/>
              </p:cNvSpPr>
              <p:nvPr/>
            </p:nvSpPr>
            <p:spPr bwMode="auto">
              <a:xfrm>
                <a:off x="2392364" y="1703389"/>
                <a:ext cx="7621587" cy="25542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Or put 0 in two restricted boxes: C(0+2-1,0) = 1 ways</a:t>
                </a:r>
              </a:p>
              <a:p>
                <a:pPr eaLnBrk="1" hangingPunct="1"/>
                <a:r>
                  <a:rPr lang="en-US" altLang="en-US" sz="3200" dirty="0"/>
                  <a:t>Then put remaining 8 in 4 unrestricted boxes:</a:t>
                </a:r>
              </a:p>
              <a:p>
                <a:pPr eaLnBrk="1" hangingPunct="1"/>
                <a:r>
                  <a:rPr lang="en-US" altLang="en-US" sz="3200" dirty="0"/>
                  <a:t>C(8+4-1,8) = 11!/8!3! = 165</a:t>
                </a:r>
              </a:p>
              <a:p>
                <a:pPr eaLnBrk="1" hangingPunct="1"/>
                <a:r>
                  <a:rPr lang="en-US" altLang="en-US" sz="3200" dirty="0"/>
                  <a:t>      Total: 1</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165=165</a:t>
                </a:r>
              </a:p>
            </p:txBody>
          </p:sp>
        </mc:Choice>
        <mc:Fallback xmlns="">
          <p:sp>
            <p:nvSpPr>
              <p:cNvPr id="52229" name="Rectangle 5">
                <a:extLst>
                  <a:ext uri="{FF2B5EF4-FFF2-40B4-BE49-F238E27FC236}">
                    <a16:creationId xmlns:a16="http://schemas.microsoft.com/office/drawing/2014/main" id="{AB2AA9DE-2E16-DB4C-8873-20DE47545DE8}"/>
                  </a:ext>
                </a:extLst>
              </p:cNvPr>
              <p:cNvSpPr>
                <a:spLocks noRot="1" noChangeAspect="1" noMove="1" noResize="1" noEditPoints="1" noAdjustHandles="1" noChangeArrowheads="1" noChangeShapeType="1" noTextEdit="1"/>
              </p:cNvSpPr>
              <p:nvPr/>
            </p:nvSpPr>
            <p:spPr bwMode="auto">
              <a:xfrm>
                <a:off x="2392364" y="1703389"/>
                <a:ext cx="7621587" cy="2554287"/>
              </a:xfrm>
              <a:prstGeom prst="rect">
                <a:avLst/>
              </a:prstGeom>
              <a:blipFill>
                <a:blip r:embed="rId2"/>
                <a:stretch>
                  <a:fillRect l="-1827" t="-2475" r="-1495" b="-64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889297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10C7C017-8E09-D542-9466-8E181C926360}"/>
              </a:ext>
            </a:extLst>
          </p:cNvPr>
          <p:cNvSpPr>
            <a:spLocks noGrp="1"/>
          </p:cNvSpPr>
          <p:nvPr>
            <p:ph type="title"/>
          </p:nvPr>
        </p:nvSpPr>
        <p:spPr/>
        <p:txBody>
          <a:bodyPr/>
          <a:lstStyle/>
          <a:p>
            <a:r>
              <a:rPr lang="en-US" altLang="en-US">
                <a:ea typeface="ＭＳ Ｐゴシック" panose="020B0600070205080204" pitchFamily="34" charset="-128"/>
              </a:rPr>
              <a:t>Problem 5.4.28-cont</a:t>
            </a:r>
          </a:p>
        </p:txBody>
      </p:sp>
      <p:sp>
        <p:nvSpPr>
          <p:cNvPr id="60421" name="TextBox 5">
            <a:extLst>
              <a:ext uri="{FF2B5EF4-FFF2-40B4-BE49-F238E27FC236}">
                <a16:creationId xmlns:a16="http://schemas.microsoft.com/office/drawing/2014/main" id="{947BC73F-76A1-234C-A86D-20FE7B842843}"/>
              </a:ext>
            </a:extLst>
          </p:cNvPr>
          <p:cNvSpPr txBox="1">
            <a:spLocks noChangeArrowheads="1"/>
          </p:cNvSpPr>
          <p:nvPr/>
        </p:nvSpPr>
        <p:spPr bwMode="auto">
          <a:xfrm>
            <a:off x="2806700" y="3021013"/>
            <a:ext cx="72596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600"/>
              <a:t>Total: </a:t>
            </a:r>
          </a:p>
          <a:p>
            <a:pPr eaLnBrk="1" hangingPunct="1"/>
            <a:r>
              <a:rPr lang="en-US" altLang="en-US" sz="3600"/>
              <a:t>175+224+252+240+165=1050 ways </a:t>
            </a:r>
          </a:p>
        </p:txBody>
      </p:sp>
    </p:spTree>
    <p:extLst>
      <p:ext uri="{BB962C8B-B14F-4D97-AF65-F5344CB8AC3E}">
        <p14:creationId xmlns:p14="http://schemas.microsoft.com/office/powerpoint/2010/main" val="3810676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63DD0324-1738-1D45-9F6D-61EFE7B022F4}"/>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mc:AlternateContent xmlns:mc="http://schemas.openxmlformats.org/markup-compatibility/2006" xmlns:a14="http://schemas.microsoft.com/office/drawing/2010/main">
        <mc:Choice Requires="a14">
          <p:sp>
            <p:nvSpPr>
              <p:cNvPr id="53253" name="Rectangle 5">
                <a:extLst>
                  <a:ext uri="{FF2B5EF4-FFF2-40B4-BE49-F238E27FC236}">
                    <a16:creationId xmlns:a16="http://schemas.microsoft.com/office/drawing/2014/main" id="{02B9178E-EDA9-F84A-B9DF-09B283204E67}"/>
                  </a:ext>
                </a:extLst>
              </p:cNvPr>
              <p:cNvSpPr>
                <a:spLocks noChangeArrowheads="1"/>
              </p:cNvSpPr>
              <p:nvPr/>
            </p:nvSpPr>
            <p:spPr bwMode="auto">
              <a:xfrm>
                <a:off x="2254250" y="2090738"/>
                <a:ext cx="7621588" cy="403187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How many ways are there to distribute </a:t>
                </a:r>
                <a:r>
                  <a:rPr lang="en-US" altLang="en-US" sz="3200" b="1" dirty="0">
                    <a:solidFill>
                      <a:srgbClr val="FF0000"/>
                    </a:solidFill>
                  </a:rPr>
                  <a:t>8 balls into 6 boxes</a:t>
                </a:r>
                <a:r>
                  <a:rPr lang="en-US" altLang="en-US" sz="3200" dirty="0"/>
                  <a:t> with </a:t>
                </a:r>
                <a:r>
                  <a:rPr lang="en-US" altLang="en-US" sz="3200" b="1" dirty="0">
                    <a:solidFill>
                      <a:srgbClr val="3366FF"/>
                    </a:solidFill>
                  </a:rPr>
                  <a:t>the first two boxes collectively having at most four balls</a:t>
                </a:r>
                <a:r>
                  <a:rPr lang="en-US" altLang="en-US" sz="3200" dirty="0"/>
                  <a:t> if</a:t>
                </a:r>
              </a:p>
              <a:p>
                <a:pPr eaLnBrk="1" hangingPunct="1"/>
                <a:r>
                  <a:rPr lang="en-US" altLang="en-US" sz="3200" dirty="0"/>
                  <a:t>(b) The balls are distinct?</a:t>
                </a:r>
              </a:p>
              <a:p>
                <a:pPr eaLnBrk="1" hangingPunct="1"/>
                <a:r>
                  <a:rPr lang="en-US" altLang="en-US" sz="3200" dirty="0"/>
                  <a:t>Now choose 4 from 8 distinct objects, C(8,4), and place in the two restricted boxes: 2</a:t>
                </a:r>
                <a:r>
                  <a:rPr lang="en-US" altLang="en-US" sz="3200" baseline="30000" dirty="0"/>
                  <a:t>4</a:t>
                </a:r>
                <a:r>
                  <a:rPr lang="en-US" altLang="en-US" sz="3200" dirty="0"/>
                  <a:t>; then place remaining 4 objects in 4 boxes, 4</a:t>
                </a:r>
                <a:r>
                  <a:rPr lang="en-US" altLang="en-US" sz="3200" baseline="30000" dirty="0"/>
                  <a:t>4</a:t>
                </a:r>
                <a:r>
                  <a:rPr lang="en-US" altLang="en-US" sz="3200" dirty="0"/>
                  <a:t>; total  C(8,4) 2</a:t>
                </a:r>
                <a:r>
                  <a:rPr lang="en-US" altLang="en-US" sz="3200" baseline="30000" dirty="0"/>
                  <a:t>4 </a:t>
                </a:r>
                <a:r>
                  <a:rPr lang="en-US" altLang="en-US" sz="3200" dirty="0"/>
                  <a:t>4</a:t>
                </a:r>
                <a:r>
                  <a:rPr lang="en-US" altLang="en-US" sz="3200" baseline="30000" dirty="0"/>
                  <a:t>4 </a:t>
                </a:r>
                <a:r>
                  <a:rPr lang="en-US" altLang="en-US" sz="3200" dirty="0"/>
                  <a:t>=70</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8</a:t>
                </a:r>
                <a:r>
                  <a:rPr lang="en-US" altLang="en-US" sz="3200" baseline="30000" dirty="0"/>
                  <a:t>4</a:t>
                </a:r>
                <a:r>
                  <a:rPr lang="en-US" altLang="en-US" sz="3200" dirty="0"/>
                  <a:t>=286720</a:t>
                </a:r>
              </a:p>
            </p:txBody>
          </p:sp>
        </mc:Choice>
        <mc:Fallback xmlns="">
          <p:sp>
            <p:nvSpPr>
              <p:cNvPr id="53253" name="Rectangle 5">
                <a:extLst>
                  <a:ext uri="{FF2B5EF4-FFF2-40B4-BE49-F238E27FC236}">
                    <a16:creationId xmlns:a16="http://schemas.microsoft.com/office/drawing/2014/main" id="{02B9178E-EDA9-F84A-B9DF-09B283204E67}"/>
                  </a:ext>
                </a:extLst>
              </p:cNvPr>
              <p:cNvSpPr>
                <a:spLocks noRot="1" noChangeAspect="1" noMove="1" noResize="1" noEditPoints="1" noAdjustHandles="1" noChangeArrowheads="1" noChangeShapeType="1" noTextEdit="1"/>
              </p:cNvSpPr>
              <p:nvPr/>
            </p:nvSpPr>
            <p:spPr bwMode="auto">
              <a:xfrm>
                <a:off x="2254250" y="2090738"/>
                <a:ext cx="7621588" cy="4031873"/>
              </a:xfrm>
              <a:prstGeom prst="rect">
                <a:avLst/>
              </a:prstGeom>
              <a:blipFill>
                <a:blip r:embed="rId2"/>
                <a:stretch>
                  <a:fillRect l="-1997" t="-1887" r="-4326" b="-377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026470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E9C55FDA-2771-D54C-A5D8-37FA4FAE3F85}"/>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p:sp>
        <p:nvSpPr>
          <p:cNvPr id="54277" name="Rectangle 5">
            <a:extLst>
              <a:ext uri="{FF2B5EF4-FFF2-40B4-BE49-F238E27FC236}">
                <a16:creationId xmlns:a16="http://schemas.microsoft.com/office/drawing/2014/main" id="{CD05CA1F-104B-C149-9B39-B5DE3C252502}"/>
              </a:ext>
            </a:extLst>
          </p:cNvPr>
          <p:cNvSpPr>
            <a:spLocks noChangeArrowheads="1"/>
          </p:cNvSpPr>
          <p:nvPr/>
        </p:nvSpPr>
        <p:spPr bwMode="auto">
          <a:xfrm>
            <a:off x="2254250" y="2090738"/>
            <a:ext cx="7621588"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a:t>Or choose 3 from 8 distinct objects, C(8,3), and place in the two restricted boxes: 2</a:t>
            </a:r>
            <a:r>
              <a:rPr lang="en-US" altLang="en-US" sz="3200" baseline="30000"/>
              <a:t>3</a:t>
            </a:r>
            <a:r>
              <a:rPr lang="en-US" altLang="en-US" sz="3200"/>
              <a:t>; then place remaining 5 objects in 4 boxes, 4</a:t>
            </a:r>
            <a:r>
              <a:rPr lang="en-US" altLang="en-US" sz="3200" baseline="30000"/>
              <a:t>5</a:t>
            </a:r>
            <a:r>
              <a:rPr lang="en-US" altLang="en-US" sz="3200"/>
              <a:t>; total  C(8,3) 2</a:t>
            </a:r>
            <a:r>
              <a:rPr lang="en-US" altLang="en-US" sz="3200" baseline="30000"/>
              <a:t>3 </a:t>
            </a:r>
            <a:r>
              <a:rPr lang="en-US" altLang="en-US" sz="3200"/>
              <a:t>4</a:t>
            </a:r>
            <a:r>
              <a:rPr lang="en-US" altLang="en-US" sz="3200" baseline="30000"/>
              <a:t>5</a:t>
            </a:r>
            <a:r>
              <a:rPr lang="en-US" altLang="en-US" sz="3200"/>
              <a:t>=</a:t>
            </a:r>
            <a:r>
              <a:rPr lang="fi-FI" altLang="en-US" sz="3200"/>
              <a:t>458752</a:t>
            </a:r>
            <a:endParaRPr lang="en-US" altLang="en-US" sz="3200"/>
          </a:p>
        </p:txBody>
      </p:sp>
    </p:spTree>
    <p:extLst>
      <p:ext uri="{BB962C8B-B14F-4D97-AF65-F5344CB8AC3E}">
        <p14:creationId xmlns:p14="http://schemas.microsoft.com/office/powerpoint/2010/main" val="2307362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B9E235D0-1476-7748-8E54-E9336A4D8CCF}"/>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p:sp>
        <p:nvSpPr>
          <p:cNvPr id="55301" name="Rectangle 5">
            <a:extLst>
              <a:ext uri="{FF2B5EF4-FFF2-40B4-BE49-F238E27FC236}">
                <a16:creationId xmlns:a16="http://schemas.microsoft.com/office/drawing/2014/main" id="{A93423ED-33F7-564B-89D5-6367D63E930B}"/>
              </a:ext>
            </a:extLst>
          </p:cNvPr>
          <p:cNvSpPr>
            <a:spLocks noChangeArrowheads="1"/>
          </p:cNvSpPr>
          <p:nvPr/>
        </p:nvSpPr>
        <p:spPr bwMode="auto">
          <a:xfrm>
            <a:off x="2254250" y="2090738"/>
            <a:ext cx="7621588"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a:t>Or choose 2 from 8 distinct objects, C(8,2), and place in the two restricted boxes: 2</a:t>
            </a:r>
            <a:r>
              <a:rPr lang="en-US" altLang="en-US" sz="3200" baseline="30000"/>
              <a:t>2</a:t>
            </a:r>
            <a:r>
              <a:rPr lang="en-US" altLang="en-US" sz="3200"/>
              <a:t>; then place remaining 6 objects in 4 boxes, 4</a:t>
            </a:r>
            <a:r>
              <a:rPr lang="en-US" altLang="en-US" sz="3200" baseline="30000"/>
              <a:t>6</a:t>
            </a:r>
            <a:r>
              <a:rPr lang="en-US" altLang="en-US" sz="3200"/>
              <a:t>; total  C(8,2) 2</a:t>
            </a:r>
            <a:r>
              <a:rPr lang="en-US" altLang="en-US" sz="3200" baseline="30000"/>
              <a:t>2 </a:t>
            </a:r>
            <a:r>
              <a:rPr lang="en-US" altLang="en-US" sz="3200"/>
              <a:t>4</a:t>
            </a:r>
            <a:r>
              <a:rPr lang="en-US" altLang="en-US" sz="3200" baseline="30000"/>
              <a:t>6</a:t>
            </a:r>
            <a:r>
              <a:rPr lang="en-US" altLang="en-US" sz="3200"/>
              <a:t>=</a:t>
            </a:r>
            <a:r>
              <a:rPr lang="fi-FI" altLang="en-US" sz="3200"/>
              <a:t>458752</a:t>
            </a:r>
            <a:endParaRPr lang="en-US" altLang="en-US" sz="3200"/>
          </a:p>
        </p:txBody>
      </p:sp>
    </p:spTree>
    <p:extLst>
      <p:ext uri="{BB962C8B-B14F-4D97-AF65-F5344CB8AC3E}">
        <p14:creationId xmlns:p14="http://schemas.microsoft.com/office/powerpoint/2010/main" val="3483801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11E140A4-911A-1E4C-987E-3380B977C514}"/>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p:sp>
        <p:nvSpPr>
          <p:cNvPr id="56325" name="Rectangle 5">
            <a:extLst>
              <a:ext uri="{FF2B5EF4-FFF2-40B4-BE49-F238E27FC236}">
                <a16:creationId xmlns:a16="http://schemas.microsoft.com/office/drawing/2014/main" id="{AFD50112-2E88-284C-B1A6-6C9AF217675D}"/>
              </a:ext>
            </a:extLst>
          </p:cNvPr>
          <p:cNvSpPr>
            <a:spLocks noChangeArrowheads="1"/>
          </p:cNvSpPr>
          <p:nvPr/>
        </p:nvSpPr>
        <p:spPr bwMode="auto">
          <a:xfrm>
            <a:off x="2254250" y="2090738"/>
            <a:ext cx="7621588"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a:t>Or choose 1 from 8 distinct objects, C(8,1), and place in the two restricted boxes: 2</a:t>
            </a:r>
            <a:r>
              <a:rPr lang="en-US" altLang="en-US" sz="3200" baseline="30000"/>
              <a:t>1</a:t>
            </a:r>
            <a:r>
              <a:rPr lang="en-US" altLang="en-US" sz="3200"/>
              <a:t>; then place remaining 7 objects in 4 boxes, 4</a:t>
            </a:r>
            <a:r>
              <a:rPr lang="en-US" altLang="en-US" sz="3200" baseline="30000"/>
              <a:t>7</a:t>
            </a:r>
            <a:r>
              <a:rPr lang="en-US" altLang="en-US" sz="3200"/>
              <a:t>; total  C(8,1) 2</a:t>
            </a:r>
            <a:r>
              <a:rPr lang="en-US" altLang="en-US" sz="3200" baseline="30000"/>
              <a:t>1 </a:t>
            </a:r>
            <a:r>
              <a:rPr lang="en-US" altLang="en-US" sz="3200"/>
              <a:t>4</a:t>
            </a:r>
            <a:r>
              <a:rPr lang="en-US" altLang="en-US" sz="3200" baseline="30000"/>
              <a:t>7</a:t>
            </a:r>
            <a:r>
              <a:rPr lang="en-US" altLang="en-US" sz="3200"/>
              <a:t>=</a:t>
            </a:r>
            <a:r>
              <a:rPr lang="is-IS" altLang="en-US" sz="3200"/>
              <a:t>262144</a:t>
            </a:r>
            <a:endParaRPr lang="en-US" altLang="en-US" sz="3200"/>
          </a:p>
        </p:txBody>
      </p:sp>
    </p:spTree>
    <p:extLst>
      <p:ext uri="{BB962C8B-B14F-4D97-AF65-F5344CB8AC3E}">
        <p14:creationId xmlns:p14="http://schemas.microsoft.com/office/powerpoint/2010/main" val="27795617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4EA42AA0-8E95-7F40-93C1-C457C445BC0D}"/>
              </a:ext>
            </a:extLst>
          </p:cNvPr>
          <p:cNvSpPr>
            <a:spLocks noGrp="1"/>
          </p:cNvSpPr>
          <p:nvPr>
            <p:ph type="title"/>
          </p:nvPr>
        </p:nvSpPr>
        <p:spPr/>
        <p:txBody>
          <a:bodyPr/>
          <a:lstStyle/>
          <a:p>
            <a:r>
              <a:rPr lang="en-US" altLang="en-US">
                <a:ea typeface="ＭＳ Ｐゴシック" panose="020B0600070205080204" pitchFamily="34" charset="-128"/>
              </a:rPr>
              <a:t>Problem 5.4.28</a:t>
            </a:r>
          </a:p>
        </p:txBody>
      </p:sp>
      <p:sp>
        <p:nvSpPr>
          <p:cNvPr id="57349" name="Rectangle 5">
            <a:extLst>
              <a:ext uri="{FF2B5EF4-FFF2-40B4-BE49-F238E27FC236}">
                <a16:creationId xmlns:a16="http://schemas.microsoft.com/office/drawing/2014/main" id="{3BEA546C-340A-CB41-A1B9-57864F3DD643}"/>
              </a:ext>
            </a:extLst>
          </p:cNvPr>
          <p:cNvSpPr>
            <a:spLocks noChangeArrowheads="1"/>
          </p:cNvSpPr>
          <p:nvPr/>
        </p:nvSpPr>
        <p:spPr bwMode="auto">
          <a:xfrm>
            <a:off x="2254250" y="2090738"/>
            <a:ext cx="7621588"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a:t>Or choose 0 from 8 distinct objects, C(8,0), and place in the two restricted boxes: 2</a:t>
            </a:r>
            <a:r>
              <a:rPr lang="en-US" altLang="en-US" sz="3200" baseline="30000"/>
              <a:t>0</a:t>
            </a:r>
            <a:r>
              <a:rPr lang="en-US" altLang="en-US" sz="3200"/>
              <a:t>; then place remaining 8 objects in 4 boxes, 4</a:t>
            </a:r>
            <a:r>
              <a:rPr lang="en-US" altLang="en-US" sz="3200" baseline="30000"/>
              <a:t>8</a:t>
            </a:r>
            <a:r>
              <a:rPr lang="en-US" altLang="en-US" sz="3200"/>
              <a:t>; total  C(8,0) 2</a:t>
            </a:r>
            <a:r>
              <a:rPr lang="en-US" altLang="en-US" sz="3200" baseline="30000"/>
              <a:t>0 </a:t>
            </a:r>
            <a:r>
              <a:rPr lang="en-US" altLang="en-US" sz="3200"/>
              <a:t>4</a:t>
            </a:r>
            <a:r>
              <a:rPr lang="en-US" altLang="en-US" sz="3200" baseline="30000"/>
              <a:t>8</a:t>
            </a:r>
            <a:r>
              <a:rPr lang="en-US" altLang="en-US" sz="3200"/>
              <a:t>=</a:t>
            </a:r>
            <a:r>
              <a:rPr lang="cs-CZ" altLang="en-US" sz="3200"/>
              <a:t>65536</a:t>
            </a:r>
            <a:endParaRPr lang="en-US" altLang="en-US" sz="3200"/>
          </a:p>
        </p:txBody>
      </p:sp>
    </p:spTree>
    <p:extLst>
      <p:ext uri="{BB962C8B-B14F-4D97-AF65-F5344CB8AC3E}">
        <p14:creationId xmlns:p14="http://schemas.microsoft.com/office/powerpoint/2010/main" val="3010473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7FA05453-632C-DE48-B530-FE7BF59DAFC9}"/>
              </a:ext>
            </a:extLst>
          </p:cNvPr>
          <p:cNvSpPr>
            <a:spLocks noGrp="1"/>
          </p:cNvSpPr>
          <p:nvPr>
            <p:ph type="title"/>
          </p:nvPr>
        </p:nvSpPr>
        <p:spPr/>
        <p:txBody>
          <a:bodyPr/>
          <a:lstStyle/>
          <a:p>
            <a:r>
              <a:rPr lang="en-US" altLang="en-US">
                <a:ea typeface="ＭＳ Ｐゴシック" panose="020B0600070205080204" pitchFamily="34" charset="-128"/>
              </a:rPr>
              <a:t>Problem 5.4.28-cont</a:t>
            </a:r>
          </a:p>
        </p:txBody>
      </p:sp>
      <mc:AlternateContent xmlns:mc="http://schemas.openxmlformats.org/markup-compatibility/2006" xmlns:a14="http://schemas.microsoft.com/office/drawing/2010/main">
        <mc:Choice Requires="a14">
          <p:sp>
            <p:nvSpPr>
              <p:cNvPr id="61445" name="TextBox 5">
                <a:extLst>
                  <a:ext uri="{FF2B5EF4-FFF2-40B4-BE49-F238E27FC236}">
                    <a16:creationId xmlns:a16="http://schemas.microsoft.com/office/drawing/2014/main" id="{3E47D983-D70D-0C43-A18F-1936180C0D2B}"/>
                  </a:ext>
                </a:extLst>
              </p:cNvPr>
              <p:cNvSpPr txBox="1">
                <a:spLocks noChangeArrowheads="1"/>
              </p:cNvSpPr>
              <p:nvPr/>
            </p:nvSpPr>
            <p:spPr bwMode="auto">
              <a:xfrm>
                <a:off x="2806700" y="3021013"/>
                <a:ext cx="7259638" cy="3416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600" dirty="0"/>
                  <a:t>Total: </a:t>
                </a:r>
              </a:p>
              <a:p>
                <a:pPr eaLnBrk="1" hangingPunct="1"/>
                <a:r>
                  <a:rPr lang="en-US" altLang="en-US" sz="3600" dirty="0"/>
                  <a:t>C(8,4)</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2</a:t>
                </a:r>
                <a:r>
                  <a:rPr lang="en-US" altLang="en-US" sz="3600" baseline="30000" dirty="0"/>
                  <a:t>4</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4</a:t>
                </a:r>
                <a:r>
                  <a:rPr lang="en-US" altLang="en-US" sz="3600" baseline="30000" dirty="0"/>
                  <a:t>4</a:t>
                </a:r>
                <a:r>
                  <a:rPr lang="en-US" altLang="en-US" sz="3600" dirty="0"/>
                  <a:t>+C(8,3)</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2</a:t>
                </a:r>
                <a:r>
                  <a:rPr lang="en-US" altLang="en-US" sz="3600" baseline="30000" dirty="0"/>
                  <a:t>3</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4</a:t>
                </a:r>
                <a:r>
                  <a:rPr lang="en-US" altLang="en-US" sz="3600" baseline="30000" dirty="0"/>
                  <a:t>5</a:t>
                </a:r>
                <a:r>
                  <a:rPr lang="en-US" altLang="en-US" sz="3600" dirty="0"/>
                  <a:t>+</a:t>
                </a:r>
              </a:p>
              <a:p>
                <a:pPr eaLnBrk="1" hangingPunct="1"/>
                <a:r>
                  <a:rPr lang="en-US" altLang="en-US" sz="3600" dirty="0"/>
                  <a:t>C(8,2)</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2</a:t>
                </a:r>
                <a:r>
                  <a:rPr lang="en-US" altLang="en-US" sz="3600" baseline="30000" dirty="0"/>
                  <a:t>2</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4</a:t>
                </a:r>
                <a:r>
                  <a:rPr lang="en-US" altLang="en-US" sz="3600" baseline="30000" dirty="0"/>
                  <a:t>6</a:t>
                </a:r>
                <a:r>
                  <a:rPr lang="en-US" altLang="en-US" sz="3600" dirty="0"/>
                  <a:t>+C(8,1)</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2</a:t>
                </a:r>
                <a:r>
                  <a:rPr lang="en-US" altLang="en-US" sz="3600" baseline="30000" dirty="0"/>
                  <a:t>1</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4</a:t>
                </a:r>
                <a:r>
                  <a:rPr lang="en-US" altLang="en-US" sz="3600" baseline="30000" dirty="0"/>
                  <a:t>7</a:t>
                </a:r>
                <a:r>
                  <a:rPr lang="en-US" altLang="en-US" sz="3600" dirty="0"/>
                  <a:t>+</a:t>
                </a:r>
              </a:p>
              <a:p>
                <a:pPr eaLnBrk="1" hangingPunct="1"/>
                <a:r>
                  <a:rPr lang="en-US" altLang="en-US" sz="3600" dirty="0"/>
                  <a:t>C(8,0)</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2</a:t>
                </a:r>
                <a:r>
                  <a:rPr lang="en-US" altLang="en-US" sz="3600" baseline="30000" dirty="0"/>
                  <a:t>0</a:t>
                </a:r>
                <a14:m>
                  <m:oMath xmlns:m="http://schemas.openxmlformats.org/officeDocument/2006/math">
                    <m:r>
                      <a:rPr lang="en-US" altLang="en-US" sz="3600" i="1" smtClean="0">
                        <a:latin typeface="Cambria Math" panose="02040503050406030204" pitchFamily="18" charset="0"/>
                        <a:ea typeface="Cambria Math" panose="02040503050406030204" pitchFamily="18" charset="0"/>
                      </a:rPr>
                      <m:t>×</m:t>
                    </m:r>
                  </m:oMath>
                </a14:m>
                <a:r>
                  <a:rPr lang="en-US" altLang="en-US" sz="3600" dirty="0"/>
                  <a:t>4</a:t>
                </a:r>
                <a:r>
                  <a:rPr lang="en-US" altLang="en-US" sz="3600" baseline="30000" dirty="0"/>
                  <a:t>8</a:t>
                </a:r>
                <a:r>
                  <a:rPr lang="en-US" altLang="en-US" sz="3600" dirty="0"/>
                  <a:t>=</a:t>
                </a:r>
              </a:p>
              <a:p>
                <a:pPr eaLnBrk="1" hangingPunct="1"/>
                <a:r>
                  <a:rPr lang="is-IS" altLang="en-US" sz="3600" dirty="0"/>
                  <a:t>1531904</a:t>
                </a:r>
                <a:endParaRPr lang="en-US" altLang="en-US" sz="3600" dirty="0"/>
              </a:p>
              <a:p>
                <a:pPr eaLnBrk="1" hangingPunct="1"/>
                <a:r>
                  <a:rPr lang="en-US" altLang="en-US" sz="3600" dirty="0"/>
                  <a:t> </a:t>
                </a:r>
              </a:p>
            </p:txBody>
          </p:sp>
        </mc:Choice>
        <mc:Fallback xmlns="">
          <p:sp>
            <p:nvSpPr>
              <p:cNvPr id="61445" name="TextBox 5">
                <a:extLst>
                  <a:ext uri="{FF2B5EF4-FFF2-40B4-BE49-F238E27FC236}">
                    <a16:creationId xmlns:a16="http://schemas.microsoft.com/office/drawing/2014/main" id="{3E47D983-D70D-0C43-A18F-1936180C0D2B}"/>
                  </a:ext>
                </a:extLst>
              </p:cNvPr>
              <p:cNvSpPr txBox="1">
                <a:spLocks noRot="1" noChangeAspect="1" noMove="1" noResize="1" noEditPoints="1" noAdjustHandles="1" noChangeArrowheads="1" noChangeShapeType="1" noTextEdit="1"/>
              </p:cNvSpPr>
              <p:nvPr/>
            </p:nvSpPr>
            <p:spPr bwMode="auto">
              <a:xfrm>
                <a:off x="2806700" y="3021013"/>
                <a:ext cx="7259638" cy="3416320"/>
              </a:xfrm>
              <a:prstGeom prst="rect">
                <a:avLst/>
              </a:prstGeom>
              <a:blipFill>
                <a:blip r:embed="rId2"/>
                <a:stretch>
                  <a:fillRect l="-2443" t="-259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189929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EC9F7399-82ED-D749-8932-7C8427A4AB77}"/>
              </a:ext>
            </a:extLst>
          </p:cNvPr>
          <p:cNvSpPr>
            <a:spLocks noGrp="1"/>
          </p:cNvSpPr>
          <p:nvPr>
            <p:ph type="title"/>
          </p:nvPr>
        </p:nvSpPr>
        <p:spPr/>
        <p:txBody>
          <a:bodyPr/>
          <a:lstStyle/>
          <a:p>
            <a:r>
              <a:rPr lang="en-US" altLang="en-US">
                <a:ea typeface="ＭＳ Ｐゴシック" panose="020B0600070205080204" pitchFamily="34" charset="-128"/>
              </a:rPr>
              <a:t>Problem 5.4.45</a:t>
            </a:r>
          </a:p>
        </p:txBody>
      </p:sp>
      <p:sp>
        <p:nvSpPr>
          <p:cNvPr id="58373" name="Rectangle 5">
            <a:extLst>
              <a:ext uri="{FF2B5EF4-FFF2-40B4-BE49-F238E27FC236}">
                <a16:creationId xmlns:a16="http://schemas.microsoft.com/office/drawing/2014/main" id="{3511B730-80D9-C64F-AA12-EB718D92D3F9}"/>
              </a:ext>
            </a:extLst>
          </p:cNvPr>
          <p:cNvSpPr>
            <a:spLocks noChangeArrowheads="1"/>
          </p:cNvSpPr>
          <p:nvPr/>
        </p:nvSpPr>
        <p:spPr bwMode="auto">
          <a:xfrm>
            <a:off x="1855788" y="2274888"/>
            <a:ext cx="8558212"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How many ways are there to arrange the letters in UNIVERSALLY so that no two vowels occur consecutively and also the consonants appear in alphabetical order?</a:t>
            </a:r>
          </a:p>
          <a:p>
            <a:pPr eaLnBrk="1" hangingPunct="1"/>
            <a:endParaRPr lang="en-US" altLang="en-US" sz="3200" dirty="0"/>
          </a:p>
          <a:p>
            <a:pPr eaLnBrk="1" hangingPunct="1"/>
            <a:endParaRPr lang="en-US" altLang="en-US" sz="3200" dirty="0"/>
          </a:p>
        </p:txBody>
      </p:sp>
    </p:spTree>
    <p:extLst>
      <p:ext uri="{BB962C8B-B14F-4D97-AF65-F5344CB8AC3E}">
        <p14:creationId xmlns:p14="http://schemas.microsoft.com/office/powerpoint/2010/main" val="5988054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B8D26D23-F510-EB45-B722-9DA1E778D00C}"/>
              </a:ext>
            </a:extLst>
          </p:cNvPr>
          <p:cNvSpPr>
            <a:spLocks noGrp="1"/>
          </p:cNvSpPr>
          <p:nvPr>
            <p:ph type="title"/>
          </p:nvPr>
        </p:nvSpPr>
        <p:spPr/>
        <p:txBody>
          <a:bodyPr/>
          <a:lstStyle/>
          <a:p>
            <a:r>
              <a:rPr lang="en-US" altLang="en-US">
                <a:ea typeface="ＭＳ Ｐゴシック" panose="020B0600070205080204" pitchFamily="34" charset="-128"/>
              </a:rPr>
              <a:t>Problem 5.4.45</a:t>
            </a:r>
          </a:p>
        </p:txBody>
      </p:sp>
      <mc:AlternateContent xmlns:mc="http://schemas.openxmlformats.org/markup-compatibility/2006" xmlns:a14="http://schemas.microsoft.com/office/drawing/2010/main">
        <mc:Choice Requires="a14">
          <p:sp>
            <p:nvSpPr>
              <p:cNvPr id="59397" name="Rectangle 5">
                <a:extLst>
                  <a:ext uri="{FF2B5EF4-FFF2-40B4-BE49-F238E27FC236}">
                    <a16:creationId xmlns:a16="http://schemas.microsoft.com/office/drawing/2014/main" id="{6A4E7645-E576-2B48-96CA-9473C7F60962}"/>
                  </a:ext>
                </a:extLst>
              </p:cNvPr>
              <p:cNvSpPr>
                <a:spLocks noChangeArrowheads="1"/>
              </p:cNvSpPr>
              <p:nvPr/>
            </p:nvSpPr>
            <p:spPr bwMode="auto">
              <a:xfrm>
                <a:off x="1855788" y="2274888"/>
                <a:ext cx="8558212" cy="4032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How many ways are arrange the letters in UNIVERSALLY so that no two vowels occur consecutively and also the consonants appear in alphabetical order?</a:t>
                </a:r>
              </a:p>
              <a:p>
                <a:pPr eaLnBrk="1" hangingPunct="1"/>
                <a:endParaRPr lang="en-US" altLang="en-US" sz="3200" dirty="0"/>
              </a:p>
              <a:p>
                <a:pPr eaLnBrk="1" hangingPunct="1"/>
                <a:r>
                  <a:rPr lang="en-US" altLang="en-US" sz="3200" dirty="0"/>
                  <a:t>P(8;4) = 8</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7</a:t>
                </a:r>
                <a14:m>
                  <m:oMath xmlns:m="http://schemas.openxmlformats.org/officeDocument/2006/math">
                    <m:r>
                      <a:rPr lang="en-US" altLang="en-US" sz="3200" i="1" dirty="0" smtClean="0">
                        <a:latin typeface="Cambria Math" panose="02040503050406030204" pitchFamily="18" charset="0"/>
                        <a:ea typeface="Cambria Math" panose="02040503050406030204" pitchFamily="18" charset="0"/>
                      </a:rPr>
                      <m:t>×</m:t>
                    </m:r>
                  </m:oMath>
                </a14:m>
                <a:r>
                  <a:rPr lang="en-US" altLang="en-US" sz="3200" dirty="0"/>
                  <a:t>6</a:t>
                </a:r>
                <a14:m>
                  <m:oMath xmlns:m="http://schemas.openxmlformats.org/officeDocument/2006/math">
                    <m:r>
                      <a:rPr lang="en-US" altLang="en-US" sz="3200" i="1" dirty="0" smtClean="0">
                        <a:latin typeface="Cambria Math" panose="02040503050406030204" pitchFamily="18" charset="0"/>
                        <a:ea typeface="Cambria Math" panose="02040503050406030204" pitchFamily="18" charset="0"/>
                      </a:rPr>
                      <m:t>×</m:t>
                    </m:r>
                  </m:oMath>
                </a14:m>
                <a:r>
                  <a:rPr lang="en-US" altLang="en-US" sz="3200" dirty="0"/>
                  <a:t>5</a:t>
                </a:r>
              </a:p>
              <a:p>
                <a:pPr eaLnBrk="1" hangingPunct="1"/>
                <a:r>
                  <a:rPr lang="en-US" altLang="en-US" sz="3200" dirty="0"/>
                  <a:t>Since there are seven consonants, creating 8 spaces in which at most one of the 4 vowels may reside.</a:t>
                </a:r>
              </a:p>
            </p:txBody>
          </p:sp>
        </mc:Choice>
        <mc:Fallback xmlns="">
          <p:sp>
            <p:nvSpPr>
              <p:cNvPr id="59397" name="Rectangle 5">
                <a:extLst>
                  <a:ext uri="{FF2B5EF4-FFF2-40B4-BE49-F238E27FC236}">
                    <a16:creationId xmlns:a16="http://schemas.microsoft.com/office/drawing/2014/main" id="{6A4E7645-E576-2B48-96CA-9473C7F60962}"/>
                  </a:ext>
                </a:extLst>
              </p:cNvPr>
              <p:cNvSpPr>
                <a:spLocks noRot="1" noChangeAspect="1" noMove="1" noResize="1" noEditPoints="1" noAdjustHandles="1" noChangeArrowheads="1" noChangeShapeType="1" noTextEdit="1"/>
              </p:cNvSpPr>
              <p:nvPr/>
            </p:nvSpPr>
            <p:spPr bwMode="auto">
              <a:xfrm>
                <a:off x="1855788" y="2274888"/>
                <a:ext cx="8558212" cy="4032250"/>
              </a:xfrm>
              <a:prstGeom prst="rect">
                <a:avLst/>
              </a:prstGeom>
              <a:blipFill>
                <a:blip r:embed="rId2"/>
                <a:stretch>
                  <a:fillRect l="-1778" t="-1881" r="-2519" b="-34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2093738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83A0F782-18F6-3A40-B677-C8211CFCF42D}"/>
              </a:ext>
            </a:extLst>
          </p:cNvPr>
          <p:cNvSpPr>
            <a:spLocks noGrp="1"/>
          </p:cNvSpPr>
          <p:nvPr>
            <p:ph type="title"/>
          </p:nvPr>
        </p:nvSpPr>
        <p:spPr/>
        <p:txBody>
          <a:bodyPr/>
          <a:lstStyle/>
          <a:p>
            <a:r>
              <a:rPr lang="en-US" altLang="en-US" dirty="0">
                <a:ea typeface="ＭＳ Ｐゴシック" panose="020B0600070205080204" pitchFamily="34" charset="-128"/>
              </a:rPr>
              <a:t>Problem 5.4.16</a:t>
            </a:r>
          </a:p>
        </p:txBody>
      </p:sp>
      <p:sp>
        <p:nvSpPr>
          <p:cNvPr id="44037" name="Rectangle 5">
            <a:extLst>
              <a:ext uri="{FF2B5EF4-FFF2-40B4-BE49-F238E27FC236}">
                <a16:creationId xmlns:a16="http://schemas.microsoft.com/office/drawing/2014/main" id="{6CF3A25D-69E4-234A-8A6B-8E328D15F664}"/>
              </a:ext>
            </a:extLst>
          </p:cNvPr>
          <p:cNvSpPr>
            <a:spLocks noChangeArrowheads="1"/>
          </p:cNvSpPr>
          <p:nvPr/>
        </p:nvSpPr>
        <p:spPr bwMode="auto">
          <a:xfrm>
            <a:off x="1900239" y="1682751"/>
            <a:ext cx="868362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Consider the problem of distributing </a:t>
            </a:r>
            <a:r>
              <a:rPr lang="en-US" altLang="en-US" sz="3200" b="1" dirty="0">
                <a:solidFill>
                  <a:srgbClr val="FF0000"/>
                </a:solidFill>
              </a:rPr>
              <a:t>10 distinct </a:t>
            </a:r>
            <a:r>
              <a:rPr lang="en-US" altLang="en-US" sz="3200" dirty="0"/>
              <a:t>books among </a:t>
            </a:r>
            <a:r>
              <a:rPr lang="en-US" altLang="en-US" sz="3200" b="1" dirty="0">
                <a:solidFill>
                  <a:srgbClr val="FF0000"/>
                </a:solidFill>
              </a:rPr>
              <a:t>3 different </a:t>
            </a:r>
            <a:r>
              <a:rPr lang="en-US" altLang="en-US" sz="3200" dirty="0"/>
              <a:t>people with each person getting </a:t>
            </a:r>
            <a:r>
              <a:rPr lang="en-US" altLang="en-US" sz="3200" b="1" dirty="0">
                <a:solidFill>
                  <a:srgbClr val="FF0000"/>
                </a:solidFill>
              </a:rPr>
              <a:t>at least one </a:t>
            </a:r>
            <a:r>
              <a:rPr lang="en-US" altLang="en-US" sz="3200" dirty="0"/>
              <a:t>book. </a:t>
            </a:r>
          </a:p>
          <a:p>
            <a:pPr eaLnBrk="1" hangingPunct="1"/>
            <a:r>
              <a:rPr lang="en-US" altLang="en-US" sz="3200" dirty="0"/>
              <a:t>Explain why the following solution strategy is wrong: </a:t>
            </a:r>
            <a:r>
              <a:rPr lang="en-US" altLang="en-US" sz="3200" dirty="0">
                <a:solidFill>
                  <a:srgbClr val="3366FF"/>
                </a:solidFill>
              </a:rPr>
              <a:t>first select a book to give to the first person in 10 ways; then select a book to give to the second person in nine ways; then select a book to give to the third person in eight ways; and finally distribute the remaining seven books in 3</a:t>
            </a:r>
            <a:r>
              <a:rPr lang="en-US" altLang="en-US" sz="3200" baseline="30000" dirty="0">
                <a:solidFill>
                  <a:srgbClr val="3366FF"/>
                </a:solidFill>
              </a:rPr>
              <a:t>7</a:t>
            </a:r>
            <a:r>
              <a:rPr lang="en-US" altLang="en-US" sz="3200" dirty="0">
                <a:solidFill>
                  <a:srgbClr val="3366FF"/>
                </a:solidFill>
              </a:rPr>
              <a:t> ways</a:t>
            </a:r>
            <a:r>
              <a:rPr lang="en-US" altLang="en-US" sz="3200" dirty="0"/>
              <a:t>.</a:t>
            </a:r>
          </a:p>
        </p:txBody>
      </p:sp>
    </p:spTree>
    <p:extLst>
      <p:ext uri="{BB962C8B-B14F-4D97-AF65-F5344CB8AC3E}">
        <p14:creationId xmlns:p14="http://schemas.microsoft.com/office/powerpoint/2010/main" val="2319427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3FAC9F1D-22E8-9D41-ABC5-D1FFAB6E2315}"/>
              </a:ext>
            </a:extLst>
          </p:cNvPr>
          <p:cNvSpPr>
            <a:spLocks noGrp="1"/>
          </p:cNvSpPr>
          <p:nvPr>
            <p:ph type="title"/>
          </p:nvPr>
        </p:nvSpPr>
        <p:spPr/>
        <p:txBody>
          <a:bodyPr/>
          <a:lstStyle/>
          <a:p>
            <a:r>
              <a:rPr lang="en-US" altLang="en-US">
                <a:ea typeface="ＭＳ Ｐゴシック" panose="020B0600070205080204" pitchFamily="34" charset="-128"/>
              </a:rPr>
              <a:t>Problem 5.4.16</a:t>
            </a:r>
          </a:p>
        </p:txBody>
      </p:sp>
      <mc:AlternateContent xmlns:mc="http://schemas.openxmlformats.org/markup-compatibility/2006" xmlns:a14="http://schemas.microsoft.com/office/drawing/2010/main">
        <mc:Choice Requires="a14">
          <p:sp>
            <p:nvSpPr>
              <p:cNvPr id="45061" name="Rectangle 5">
                <a:extLst>
                  <a:ext uri="{FF2B5EF4-FFF2-40B4-BE49-F238E27FC236}">
                    <a16:creationId xmlns:a16="http://schemas.microsoft.com/office/drawing/2014/main" id="{4A714F49-B3D4-1E4E-A6D4-CF19245D8489}"/>
                  </a:ext>
                </a:extLst>
              </p:cNvPr>
              <p:cNvSpPr>
                <a:spLocks noChangeArrowheads="1"/>
              </p:cNvSpPr>
              <p:nvPr/>
            </p:nvSpPr>
            <p:spPr bwMode="auto">
              <a:xfrm>
                <a:off x="1900239" y="1682751"/>
                <a:ext cx="8683625" cy="45243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Consider the problem of distributing </a:t>
                </a:r>
                <a:r>
                  <a:rPr lang="en-US" altLang="en-US" sz="3200" b="1" dirty="0">
                    <a:solidFill>
                      <a:srgbClr val="FF0000"/>
                    </a:solidFill>
                  </a:rPr>
                  <a:t>10 distinct </a:t>
                </a:r>
                <a:r>
                  <a:rPr lang="en-US" altLang="en-US" sz="3200" dirty="0"/>
                  <a:t>books among </a:t>
                </a:r>
                <a:r>
                  <a:rPr lang="en-US" altLang="en-US" sz="3200" b="1" dirty="0">
                    <a:solidFill>
                      <a:srgbClr val="FF0000"/>
                    </a:solidFill>
                  </a:rPr>
                  <a:t>3 different </a:t>
                </a:r>
                <a:r>
                  <a:rPr lang="en-US" altLang="en-US" sz="3200" dirty="0"/>
                  <a:t>people with each person getting </a:t>
                </a:r>
                <a:r>
                  <a:rPr lang="en-US" altLang="en-US" sz="3200" b="1" dirty="0">
                    <a:solidFill>
                      <a:srgbClr val="FF0000"/>
                    </a:solidFill>
                  </a:rPr>
                  <a:t>at least one </a:t>
                </a:r>
                <a:r>
                  <a:rPr lang="en-US" altLang="en-US" sz="3200" dirty="0"/>
                  <a:t>book. </a:t>
                </a:r>
              </a:p>
              <a:p>
                <a:pPr eaLnBrk="1" hangingPunct="1"/>
                <a:r>
                  <a:rPr lang="en-US" altLang="en-US" sz="3200" dirty="0"/>
                  <a:t> Ways we can assign one book to each person: P(10,3) = 10</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9</a:t>
                </a:r>
                <a14:m>
                  <m:oMath xmlns:m="http://schemas.openxmlformats.org/officeDocument/2006/math">
                    <m:r>
                      <a:rPr lang="en-US" altLang="en-US" sz="3200" i="1" dirty="0" smtClean="0">
                        <a:latin typeface="Cambria Math" panose="02040503050406030204" pitchFamily="18" charset="0"/>
                        <a:ea typeface="Cambria Math" panose="02040503050406030204" pitchFamily="18" charset="0"/>
                      </a:rPr>
                      <m:t>×</m:t>
                    </m:r>
                  </m:oMath>
                </a14:m>
                <a:r>
                  <a:rPr lang="en-US" altLang="en-US" sz="3200" dirty="0"/>
                  <a:t>8</a:t>
                </a:r>
              </a:p>
              <a:p>
                <a:pPr eaLnBrk="1" hangingPunct="1"/>
                <a:r>
                  <a:rPr lang="en-US" altLang="en-US" sz="3200" dirty="0"/>
                  <a:t>Assign remaining 7 books to anyone:</a:t>
                </a:r>
              </a:p>
              <a:p>
                <a:pPr eaLnBrk="1" hangingPunct="1"/>
                <a:r>
                  <a:rPr lang="en-US" altLang="en-US" sz="3200" dirty="0"/>
                  <a:t>Each book has 3 choices, so 3</a:t>
                </a:r>
                <a:r>
                  <a:rPr lang="en-US" altLang="en-US" sz="3200" baseline="30000" dirty="0"/>
                  <a:t>7 </a:t>
                </a:r>
                <a:r>
                  <a:rPr lang="en-US" altLang="en-US" sz="3200" dirty="0"/>
                  <a:t>for the 7 of them</a:t>
                </a:r>
                <a:endParaRPr lang="en-US" altLang="en-US" sz="3200" baseline="30000" dirty="0"/>
              </a:p>
              <a:p>
                <a:pPr eaLnBrk="1" hangingPunct="1"/>
                <a:r>
                  <a:rPr lang="en-US" altLang="en-US" sz="3200" dirty="0"/>
                  <a:t>                 Total: 10</a:t>
                </a:r>
                <a14:m>
                  <m:oMath xmlns:m="http://schemas.openxmlformats.org/officeDocument/2006/math">
                    <m:r>
                      <a:rPr lang="en-US" altLang="en-US" sz="3200" i="1" smtClean="0">
                        <a:latin typeface="Cambria Math" panose="02040503050406030204" pitchFamily="18" charset="0"/>
                        <a:ea typeface="Cambria Math" panose="02040503050406030204" pitchFamily="18" charset="0"/>
                      </a:rPr>
                      <m:t>×</m:t>
                    </m:r>
                  </m:oMath>
                </a14:m>
                <a:r>
                  <a:rPr lang="en-US" altLang="en-US" sz="3200" dirty="0"/>
                  <a:t>9</a:t>
                </a:r>
                <a14:m>
                  <m:oMath xmlns:m="http://schemas.openxmlformats.org/officeDocument/2006/math">
                    <m:r>
                      <a:rPr lang="en-US" altLang="en-US" sz="3200" i="1" dirty="0" smtClean="0">
                        <a:latin typeface="Cambria Math" panose="02040503050406030204" pitchFamily="18" charset="0"/>
                        <a:ea typeface="Cambria Math" panose="02040503050406030204" pitchFamily="18" charset="0"/>
                      </a:rPr>
                      <m:t>×</m:t>
                    </m:r>
                  </m:oMath>
                </a14:m>
                <a:r>
                  <a:rPr lang="en-US" altLang="en-US" sz="3200" dirty="0"/>
                  <a:t>8</a:t>
                </a:r>
                <a14:m>
                  <m:oMath xmlns:m="http://schemas.openxmlformats.org/officeDocument/2006/math">
                    <m:r>
                      <a:rPr lang="en-US" altLang="en-US" sz="3200" i="1" dirty="0" smtClean="0">
                        <a:latin typeface="Cambria Math" panose="02040503050406030204" pitchFamily="18" charset="0"/>
                        <a:ea typeface="Cambria Math" panose="02040503050406030204" pitchFamily="18" charset="0"/>
                      </a:rPr>
                      <m:t>×</m:t>
                    </m:r>
                  </m:oMath>
                </a14:m>
                <a:r>
                  <a:rPr lang="en-US" altLang="en-US" sz="3200" dirty="0"/>
                  <a:t>3</a:t>
                </a:r>
                <a:r>
                  <a:rPr lang="en-US" altLang="en-US" sz="3200" baseline="30000" dirty="0"/>
                  <a:t>7</a:t>
                </a:r>
                <a:r>
                  <a:rPr lang="en-US" altLang="en-US" sz="3200" dirty="0"/>
                  <a:t>= </a:t>
                </a:r>
                <a:r>
                  <a:rPr lang="is-IS" altLang="en-US" sz="3200" dirty="0"/>
                  <a:t>1574640</a:t>
                </a:r>
                <a:endParaRPr lang="en-US" altLang="en-US" sz="3200" dirty="0"/>
              </a:p>
              <a:p>
                <a:pPr eaLnBrk="1" hangingPunct="1"/>
                <a:r>
                  <a:rPr lang="en-US" altLang="en-US" sz="3200" dirty="0"/>
                  <a:t>However this approach overcounts.</a:t>
                </a:r>
              </a:p>
            </p:txBody>
          </p:sp>
        </mc:Choice>
        <mc:Fallback xmlns="">
          <p:sp>
            <p:nvSpPr>
              <p:cNvPr id="45061" name="Rectangle 5">
                <a:extLst>
                  <a:ext uri="{FF2B5EF4-FFF2-40B4-BE49-F238E27FC236}">
                    <a16:creationId xmlns:a16="http://schemas.microsoft.com/office/drawing/2014/main" id="{4A714F49-B3D4-1E4E-A6D4-CF19245D8489}"/>
                  </a:ext>
                </a:extLst>
              </p:cNvPr>
              <p:cNvSpPr>
                <a:spLocks noRot="1" noChangeAspect="1" noMove="1" noResize="1" noEditPoints="1" noAdjustHandles="1" noChangeArrowheads="1" noChangeShapeType="1" noTextEdit="1"/>
              </p:cNvSpPr>
              <p:nvPr/>
            </p:nvSpPr>
            <p:spPr bwMode="auto">
              <a:xfrm>
                <a:off x="1900239" y="1682751"/>
                <a:ext cx="8683625" cy="4524315"/>
              </a:xfrm>
              <a:prstGeom prst="rect">
                <a:avLst/>
              </a:prstGeom>
              <a:blipFill>
                <a:blip r:embed="rId2"/>
                <a:stretch>
                  <a:fillRect l="-1754" t="-1681" b="-308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859031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0A2F78-5FB4-C741-86E0-BA858532F68E}"/>
              </a:ext>
            </a:extLst>
          </p:cNvPr>
          <p:cNvSpPr>
            <a:spLocks noGrp="1"/>
          </p:cNvSpPr>
          <p:nvPr>
            <p:ph type="title"/>
          </p:nvPr>
        </p:nvSpPr>
        <p:spPr/>
        <p:txBody>
          <a:bodyPr>
            <a:normAutofit/>
          </a:bodyPr>
          <a:lstStyle/>
          <a:p>
            <a:r>
              <a:rPr lang="en-US" altLang="en-US" sz="4000" dirty="0">
                <a:ea typeface="ＭＳ Ｐゴシック" panose="020B0600070205080204" pitchFamily="34" charset="-128"/>
              </a:rPr>
              <a:t>Problem 5.4.16 (continue)</a:t>
            </a:r>
            <a:endParaRPr lang="en-US" sz="4000" dirty="0"/>
          </a:p>
        </p:txBody>
      </p:sp>
      <p:sp>
        <p:nvSpPr>
          <p:cNvPr id="4" name="Content Placeholder 3">
            <a:extLst>
              <a:ext uri="{FF2B5EF4-FFF2-40B4-BE49-F238E27FC236}">
                <a16:creationId xmlns:a16="http://schemas.microsoft.com/office/drawing/2014/main" id="{7ED737FA-6ED9-CA46-A3A8-DD173492D19C}"/>
              </a:ext>
            </a:extLst>
          </p:cNvPr>
          <p:cNvSpPr>
            <a:spLocks noGrp="1"/>
          </p:cNvSpPr>
          <p:nvPr>
            <p:ph idx="1"/>
          </p:nvPr>
        </p:nvSpPr>
        <p:spPr>
          <a:xfrm>
            <a:off x="838200" y="1435207"/>
            <a:ext cx="10515600" cy="5057667"/>
          </a:xfrm>
        </p:spPr>
        <p:txBody>
          <a:bodyPr>
            <a:normAutofit/>
          </a:bodyPr>
          <a:lstStyle/>
          <a:p>
            <a:r>
              <a:rPr lang="en-US" sz="2400" dirty="0"/>
              <a:t>The event may follow decomposing into subsequences:</a:t>
            </a:r>
          </a:p>
          <a:p>
            <a:pPr lvl="1"/>
            <a:r>
              <a:rPr lang="en-US" dirty="0"/>
              <a:t>Satisfy it first (give one book to each person)</a:t>
            </a:r>
          </a:p>
          <a:p>
            <a:pPr lvl="1"/>
            <a:r>
              <a:rPr lang="en-US" dirty="0"/>
              <a:t>Distribute the remaining (give 7 remaining books to three people)</a:t>
            </a:r>
          </a:p>
          <a:p>
            <a:r>
              <a:rPr lang="en-US" sz="2400" dirty="0"/>
              <a:t>However, the two subsequences are NOT independent!</a:t>
            </a:r>
          </a:p>
          <a:p>
            <a:r>
              <a:rPr lang="en-US" sz="2400" dirty="0"/>
              <a:t>There are </a:t>
            </a:r>
            <a:r>
              <a:rPr lang="en-US" sz="2400" dirty="0" err="1" smtClean="0"/>
              <a:t>overlapings</a:t>
            </a:r>
            <a:r>
              <a:rPr lang="en-US" sz="2400" dirty="0" smtClean="0"/>
              <a:t> </a:t>
            </a:r>
            <a:r>
              <a:rPr lang="en-US" sz="2400" dirty="0"/>
              <a:t>in the counting. Consider Book A to person a. One way person a gets book A could be in the subsequence “satisfy it first”. However if during this subsequence person does not get book A, he/she could also get book A in the subsequence “distribute the remaining books”. So the case of person a getting book A is duplicated.</a:t>
            </a:r>
          </a:p>
          <a:p>
            <a:r>
              <a:rPr lang="en-US" sz="2400" dirty="0"/>
              <a:t>It is equivalent to say that the counting of “distributing remaining books” is dependent on the first subsequence ”satisfy it first”.</a:t>
            </a:r>
          </a:p>
        </p:txBody>
      </p:sp>
    </p:spTree>
    <p:extLst>
      <p:ext uri="{BB962C8B-B14F-4D97-AF65-F5344CB8AC3E}">
        <p14:creationId xmlns:p14="http://schemas.microsoft.com/office/powerpoint/2010/main" val="23511669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D796CD5B-9B81-634B-9489-03DDAD23D47A}"/>
              </a:ext>
            </a:extLst>
          </p:cNvPr>
          <p:cNvSpPr>
            <a:spLocks noGrp="1"/>
          </p:cNvSpPr>
          <p:nvPr>
            <p:ph type="title"/>
          </p:nvPr>
        </p:nvSpPr>
        <p:spPr/>
        <p:txBody>
          <a:bodyPr/>
          <a:lstStyle/>
          <a:p>
            <a:r>
              <a:rPr lang="en-US" altLang="en-US">
                <a:ea typeface="ＭＳ Ｐゴシック" panose="020B0600070205080204" pitchFamily="34" charset="-128"/>
              </a:rPr>
              <a:t>Problem 5.4.16</a:t>
            </a:r>
          </a:p>
        </p:txBody>
      </p:sp>
      <mc:AlternateContent xmlns:mc="http://schemas.openxmlformats.org/markup-compatibility/2006" xmlns:a14="http://schemas.microsoft.com/office/drawing/2010/main">
        <mc:Choice Requires="a14">
          <p:sp>
            <p:nvSpPr>
              <p:cNvPr id="46085" name="Rectangle 5">
                <a:extLst>
                  <a:ext uri="{FF2B5EF4-FFF2-40B4-BE49-F238E27FC236}">
                    <a16:creationId xmlns:a16="http://schemas.microsoft.com/office/drawing/2014/main" id="{09D74F75-9A09-394B-89A3-08001F615454}"/>
                  </a:ext>
                </a:extLst>
              </p:cNvPr>
              <p:cNvSpPr>
                <a:spLocks noChangeArrowheads="1"/>
              </p:cNvSpPr>
              <p:nvPr/>
            </p:nvSpPr>
            <p:spPr bwMode="auto">
              <a:xfrm>
                <a:off x="1900239" y="1682750"/>
                <a:ext cx="8683625" cy="47705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3200" dirty="0"/>
                  <a:t>Consider the problem of distributing </a:t>
                </a:r>
                <a:r>
                  <a:rPr lang="en-US" altLang="en-US" sz="3200" b="1" dirty="0">
                    <a:solidFill>
                      <a:srgbClr val="FF0000"/>
                    </a:solidFill>
                  </a:rPr>
                  <a:t>10 distinct </a:t>
                </a:r>
                <a:r>
                  <a:rPr lang="en-US" altLang="en-US" sz="3200" dirty="0"/>
                  <a:t>books among </a:t>
                </a:r>
                <a:r>
                  <a:rPr lang="en-US" altLang="en-US" sz="3200" b="1" dirty="0">
                    <a:solidFill>
                      <a:srgbClr val="FF0000"/>
                    </a:solidFill>
                  </a:rPr>
                  <a:t>3 different </a:t>
                </a:r>
                <a:r>
                  <a:rPr lang="en-US" altLang="en-US" sz="3200" dirty="0"/>
                  <a:t>people with each person getting </a:t>
                </a:r>
                <a:r>
                  <a:rPr lang="en-US" altLang="en-US" sz="3200" b="1" dirty="0">
                    <a:solidFill>
                      <a:srgbClr val="FF0000"/>
                    </a:solidFill>
                  </a:rPr>
                  <a:t>at least one </a:t>
                </a:r>
                <a:r>
                  <a:rPr lang="en-US" altLang="en-US" sz="3200" dirty="0"/>
                  <a:t>book.</a:t>
                </a:r>
              </a:p>
              <a:p>
                <a:pPr eaLnBrk="1" hangingPunct="1"/>
                <a:r>
                  <a:rPr lang="en-US" altLang="en-US" sz="3200" dirty="0"/>
                  <a:t> </a:t>
                </a:r>
                <a:r>
                  <a:rPr lang="en-US" altLang="en-US" dirty="0"/>
                  <a:t>Assume books are assigned randomly: 3</a:t>
                </a:r>
                <a:r>
                  <a:rPr lang="en-US" altLang="en-US" baseline="30000" dirty="0"/>
                  <a:t>10</a:t>
                </a:r>
                <a:r>
                  <a:rPr lang="en-US" altLang="en-US" dirty="0"/>
                  <a:t> ways.</a:t>
                </a:r>
              </a:p>
              <a:p>
                <a:pPr eaLnBrk="1" hangingPunct="1"/>
                <a:r>
                  <a:rPr lang="en-US" altLang="en-US" dirty="0"/>
                  <a:t>Now subtract cases excluding exactly one person: </a:t>
                </a:r>
              </a:p>
              <a:p>
                <a:pPr eaLnBrk="1" hangingPunct="1"/>
                <a:r>
                  <a:rPr lang="en-US" altLang="en-US" dirty="0"/>
                  <a:t>3</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(2</a:t>
                </a:r>
                <a:r>
                  <a:rPr lang="en-US" altLang="en-US" baseline="30000" dirty="0"/>
                  <a:t>10-</a:t>
                </a:r>
                <a:r>
                  <a:rPr lang="en-US" altLang="en-US" dirty="0"/>
                  <a:t>2) (where we removed two cases where one or the other person gets all the books.</a:t>
                </a:r>
              </a:p>
              <a:p>
                <a:pPr eaLnBrk="1" hangingPunct="1"/>
                <a:r>
                  <a:rPr lang="en-US" altLang="en-US" dirty="0"/>
                  <a:t>Finally, subtract cases where one person gets all: 3</a:t>
                </a:r>
              </a:p>
              <a:p>
                <a:pPr eaLnBrk="1" hangingPunct="1"/>
                <a:r>
                  <a:rPr lang="en-US" altLang="en-US" dirty="0"/>
                  <a:t>Adding these up:  3</a:t>
                </a:r>
                <a:r>
                  <a:rPr lang="en-US" altLang="en-US" baseline="30000" dirty="0"/>
                  <a:t>10</a:t>
                </a:r>
                <a:r>
                  <a:rPr lang="en-US" altLang="en-US" dirty="0"/>
                  <a:t>-3</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(2</a:t>
                </a:r>
                <a:r>
                  <a:rPr lang="en-US" altLang="en-US" baseline="30000" dirty="0"/>
                  <a:t>10-</a:t>
                </a:r>
                <a:r>
                  <a:rPr lang="en-US" altLang="en-US" dirty="0"/>
                  <a:t>2)-3 = 3</a:t>
                </a:r>
                <a:r>
                  <a:rPr lang="en-US" altLang="en-US" baseline="30000" dirty="0"/>
                  <a:t>10</a:t>
                </a:r>
                <a:r>
                  <a:rPr lang="en-US" altLang="en-US" dirty="0"/>
                  <a:t>-3</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dirty="0"/>
                  <a:t>2</a:t>
                </a:r>
                <a:r>
                  <a:rPr lang="en-US" altLang="en-US" baseline="30000" dirty="0"/>
                  <a:t>10</a:t>
                </a:r>
                <a:r>
                  <a:rPr lang="en-US" altLang="en-US" dirty="0"/>
                  <a:t>+3=55980</a:t>
                </a:r>
              </a:p>
              <a:p>
                <a:pPr eaLnBrk="1" hangingPunct="1"/>
                <a:r>
                  <a:rPr lang="en-US" altLang="en-US" dirty="0"/>
                  <a:t>We will revisit this when discussing “Inclusion-Exclusion” </a:t>
                </a:r>
              </a:p>
              <a:p>
                <a:pPr eaLnBrk="1" hangingPunct="1"/>
                <a:endParaRPr lang="en-US" altLang="en-US" sz="3200" dirty="0"/>
              </a:p>
            </p:txBody>
          </p:sp>
        </mc:Choice>
        <mc:Fallback xmlns="">
          <p:sp>
            <p:nvSpPr>
              <p:cNvPr id="46085" name="Rectangle 5">
                <a:extLst>
                  <a:ext uri="{FF2B5EF4-FFF2-40B4-BE49-F238E27FC236}">
                    <a16:creationId xmlns:a16="http://schemas.microsoft.com/office/drawing/2014/main" id="{09D74F75-9A09-394B-89A3-08001F615454}"/>
                  </a:ext>
                </a:extLst>
              </p:cNvPr>
              <p:cNvSpPr>
                <a:spLocks noRot="1" noChangeAspect="1" noMove="1" noResize="1" noEditPoints="1" noAdjustHandles="1" noChangeArrowheads="1" noChangeShapeType="1" noTextEdit="1"/>
              </p:cNvSpPr>
              <p:nvPr/>
            </p:nvSpPr>
            <p:spPr bwMode="auto">
              <a:xfrm>
                <a:off x="1900239" y="1682750"/>
                <a:ext cx="8683625" cy="4770537"/>
              </a:xfrm>
              <a:prstGeom prst="rect">
                <a:avLst/>
              </a:prstGeom>
              <a:blipFill>
                <a:blip r:embed="rId2"/>
                <a:stretch>
                  <a:fillRect l="-1754" t="-159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65270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7DC9-0BE9-F54B-9E7E-66F02B32707A}"/>
              </a:ext>
            </a:extLst>
          </p:cNvPr>
          <p:cNvSpPr>
            <a:spLocks noGrp="1"/>
          </p:cNvSpPr>
          <p:nvPr>
            <p:ph type="title"/>
          </p:nvPr>
        </p:nvSpPr>
        <p:spPr>
          <a:xfrm>
            <a:off x="838200" y="37725"/>
            <a:ext cx="10515600" cy="1325563"/>
          </a:xfrm>
        </p:spPr>
        <p:txBody>
          <a:bodyPr/>
          <a:lstStyle/>
          <a:p>
            <a:pPr algn="ctr"/>
            <a:r>
              <a:rPr lang="en-US" b="1" dirty="0"/>
              <a:t>Some combination identities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6BBF39-A681-704E-92F7-C87DD50932EE}"/>
                  </a:ext>
                </a:extLst>
              </p:cNvPr>
              <p:cNvSpPr>
                <a:spLocks noGrp="1"/>
              </p:cNvSpPr>
              <p:nvPr>
                <p:ph idx="1"/>
              </p:nvPr>
            </p:nvSpPr>
            <p:spPr>
              <a:xfrm>
                <a:off x="838200" y="1219448"/>
                <a:ext cx="10515600" cy="5201899"/>
              </a:xfrm>
            </p:spPr>
            <p:txBody>
              <a:bodyPr>
                <a:normAutofit/>
              </a:bodyPr>
              <a:lstStyle/>
              <a:p>
                <a14:m>
                  <m:oMath xmlns:m="http://schemas.openxmlformats.org/officeDocument/2006/math">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oMath>
                </a14:m>
                <a:r>
                  <a:rPr lang="en-US" sz="2400" b="0" dirty="0"/>
                  <a:t> (symmetry rule)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den>
                      </m:f>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oMath>
                  </m:oMathPara>
                </a14:m>
                <a:endParaRPr lang="en-US" sz="2400" dirty="0"/>
              </a:p>
              <a:p>
                <a:r>
                  <a:rPr lang="en-US" sz="2400" dirty="0"/>
                  <a:t>Binomial expansion</a:t>
                </a:r>
              </a:p>
              <a:p>
                <a:pPr marL="0" indent="0">
                  <a:buNone/>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𝑥</m:t>
                          </m:r>
                          <m:r>
                            <a:rPr lang="en-US" sz="2400" b="0" i="1" smtClean="0">
                              <a:latin typeface="Cambria Math" panose="02040503050406030204" pitchFamily="18" charset="0"/>
                            </a:rPr>
                            <m:t>)</m:t>
                          </m:r>
                        </m:e>
                        <m:sup>
                          <m:r>
                            <a:rPr lang="en-US" sz="2400" b="0" i="1" smtClean="0">
                              <a:latin typeface="Cambria Math" panose="02040503050406030204" pitchFamily="18" charset="0"/>
                            </a:rPr>
                            <m:t>𝑛</m:t>
                          </m:r>
                        </m:sup>
                      </m:sSup>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,0</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,2</m:t>
                          </m:r>
                        </m:e>
                      </m:d>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e>
                      </m:d>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𝑥</m:t>
                          </m:r>
                        </m:e>
                        <m:sup>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𝑥</m:t>
                          </m:r>
                        </m:e>
                        <m:sup>
                          <m:r>
                            <a:rPr lang="en-US" sz="2400" b="0" i="1" smtClean="0">
                              <a:latin typeface="Cambria Math" panose="02040503050406030204" pitchFamily="18" charset="0"/>
                              <a:ea typeface="Cambria Math" panose="02040503050406030204" pitchFamily="18" charset="0"/>
                            </a:rPr>
                            <m:t>𝑛</m:t>
                          </m:r>
                        </m:sup>
                      </m:sSup>
                    </m:oMath>
                  </m:oMathPara>
                </a14:m>
                <a:endParaRPr lang="en-US" sz="2400" dirty="0"/>
              </a:p>
              <a:p>
                <a:pPr marL="457200" lvl="1" indent="0">
                  <a:buNone/>
                </a:pPr>
                <a:r>
                  <a:rPr lang="en-US" sz="2000" dirty="0"/>
                  <a:t>In particular of we let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=1</m:t>
                    </m:r>
                  </m:oMath>
                </a14:m>
                <a:r>
                  <a:rPr lang="en-US" sz="2000" dirty="0"/>
                  <a:t>, we have</a:t>
                </a:r>
              </a:p>
              <a:p>
                <a:pPr marL="0" indent="0">
                  <a:buNone/>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𝑛</m:t>
                          </m:r>
                        </m:sup>
                      </m:sSup>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,0</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e>
                      </m:d>
                      <m:r>
                        <a:rPr lang="en-US" sz="2400" b="0" i="1" smtClean="0">
                          <a:latin typeface="Cambria Math" panose="02040503050406030204" pitchFamily="18" charset="0"/>
                          <a:ea typeface="Cambria Math" panose="02040503050406030204" pitchFamily="18" charset="0"/>
                        </a:rPr>
                        <m:t>=</m:t>
                      </m:r>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ea typeface="Cambria Math" panose="02040503050406030204" pitchFamily="18" charset="0"/>
                            </a:rPr>
                            <m:t>=0</m:t>
                          </m:r>
                        </m:sub>
                        <m:sup>
                          <m:r>
                            <a:rPr lang="en-US" sz="2400" b="0" i="1" smtClean="0">
                              <a:latin typeface="Cambria Math" panose="02040503050406030204" pitchFamily="18" charset="0"/>
                              <a:ea typeface="Cambria Math" panose="02040503050406030204" pitchFamily="18" charset="0"/>
                            </a:rPr>
                            <m:t>𝑛</m:t>
                          </m:r>
                        </m:sup>
                        <m:e>
                          <m:r>
                            <a:rPr lang="en-US" sz="2400" b="0" i="1" smtClean="0">
                              <a:latin typeface="Cambria Math" panose="02040503050406030204" pitchFamily="18" charset="0"/>
                              <a:ea typeface="Cambria Math" panose="02040503050406030204" pitchFamily="18" charset="0"/>
                            </a:rPr>
                            <m:t>𝐶</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ea typeface="Cambria Math" panose="02040503050406030204" pitchFamily="18" charset="0"/>
                            </a:rPr>
                            <m:t>)</m:t>
                          </m:r>
                        </m:e>
                      </m:nary>
                    </m:oMath>
                  </m:oMathPara>
                </a14:m>
                <a:endParaRPr lang="en-US" sz="2400" dirty="0"/>
              </a:p>
              <a:p>
                <a14:m>
                  <m:oMath xmlns:m="http://schemas.openxmlformats.org/officeDocument/2006/math">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r>
                      <a:rPr lang="en-US" sz="2400" b="0" i="1" smtClean="0">
                        <a:latin typeface="Cambria Math" panose="02040503050406030204" pitchFamily="18" charset="0"/>
                      </a:rPr>
                      <m:t>𝑟</m:t>
                    </m:r>
                    <m:r>
                      <a:rPr lang="en-US" sz="2400" b="0" i="1" smtClean="0">
                        <a:latin typeface="Cambria Math" panose="02040503050406030204" pitchFamily="18" charset="0"/>
                      </a:rPr>
                      <m:t>−1)</m:t>
                    </m:r>
                  </m:oMath>
                </a14:m>
                <a:r>
                  <a:rPr lang="en-US" sz="2400" dirty="0"/>
                  <a:t> (shoulder identity)</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r>
                            <a:rPr lang="en-US" sz="2400" b="0" i="1" smtClean="0">
                              <a:latin typeface="Cambria Math" panose="02040503050406030204" pitchFamily="18" charset="0"/>
                            </a:rPr>
                            <m:t>𝑟</m:t>
                          </m:r>
                          <m:r>
                            <a:rPr lang="en-US" sz="2400" b="0" i="1" smtClean="0">
                              <a:latin typeface="Cambria Math" panose="02040503050406030204" pitchFamily="18" charset="0"/>
                            </a:rPr>
                            <m:t>−1</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r>
                                <a:rPr lang="en-US" sz="2400" b="0" i="1" smtClean="0">
                                  <a:latin typeface="Cambria Math" panose="02040503050406030204" pitchFamily="18" charset="0"/>
                                </a:rPr>
                                <m:t>𝑟</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𝑟</m:t>
                              </m:r>
                              <m:r>
                                <a:rPr lang="en-US" sz="2400" b="0" i="1" smtClean="0">
                                  <a:latin typeface="Cambria Math" panose="02040503050406030204" pitchFamily="18" charset="0"/>
                                </a:rPr>
                                <m:t>−1</m:t>
                              </m:r>
                            </m:e>
                          </m:d>
                          <m:r>
                            <a:rPr lang="en-US" sz="2400" b="0" i="1" smtClean="0">
                              <a:latin typeface="Cambria Math" panose="02040503050406030204" pitchFamily="18" charset="0"/>
                            </a:rPr>
                            <m:t>!</m:t>
                          </m:r>
                        </m:den>
                      </m:f>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𝑟</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den>
                      </m:f>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oMath>
                  </m:oMathPara>
                </a14:m>
                <a:endParaRPr lang="en-US" sz="2400" dirty="0"/>
              </a:p>
            </p:txBody>
          </p:sp>
        </mc:Choice>
        <mc:Fallback xmlns="">
          <p:sp>
            <p:nvSpPr>
              <p:cNvPr id="3" name="Content Placeholder 2">
                <a:extLst>
                  <a:ext uri="{FF2B5EF4-FFF2-40B4-BE49-F238E27FC236}">
                    <a16:creationId xmlns:a16="http://schemas.microsoft.com/office/drawing/2014/main" id="{B06BBF39-A681-704E-92F7-C87DD50932EE}"/>
                  </a:ext>
                </a:extLst>
              </p:cNvPr>
              <p:cNvSpPr>
                <a:spLocks noGrp="1" noRot="1" noChangeAspect="1" noMove="1" noResize="1" noEditPoints="1" noAdjustHandles="1" noChangeArrowheads="1" noChangeShapeType="1" noTextEdit="1"/>
              </p:cNvSpPr>
              <p:nvPr>
                <p:ph idx="1"/>
              </p:nvPr>
            </p:nvSpPr>
            <p:spPr>
              <a:xfrm>
                <a:off x="838200" y="1219448"/>
                <a:ext cx="10515600" cy="5201899"/>
              </a:xfrm>
              <a:blipFill>
                <a:blip r:embed="rId2"/>
                <a:stretch>
                  <a:fillRect l="-724" t="-1463"/>
                </a:stretch>
              </a:blipFill>
            </p:spPr>
            <p:txBody>
              <a:bodyPr/>
              <a:lstStyle/>
              <a:p>
                <a:r>
                  <a:rPr lang="en-US">
                    <a:noFill/>
                  </a:rPr>
                  <a:t> </a:t>
                </a:r>
              </a:p>
            </p:txBody>
          </p:sp>
        </mc:Fallback>
      </mc:AlternateContent>
    </p:spTree>
    <p:extLst>
      <p:ext uri="{BB962C8B-B14F-4D97-AF65-F5344CB8AC3E}">
        <p14:creationId xmlns:p14="http://schemas.microsoft.com/office/powerpoint/2010/main" val="3104950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AB896-8B9E-3F4A-8E61-2FCE1D408EE4}"/>
              </a:ext>
            </a:extLst>
          </p:cNvPr>
          <p:cNvSpPr>
            <a:spLocks noGrp="1"/>
          </p:cNvSpPr>
          <p:nvPr>
            <p:ph type="title"/>
          </p:nvPr>
        </p:nvSpPr>
        <p:spPr/>
        <p:txBody>
          <a:bodyPr/>
          <a:lstStyle/>
          <a:p>
            <a:pPr algn="ctr"/>
            <a:r>
              <a:rPr lang="en-US" b="1" dirty="0"/>
              <a:t>Pascal triangle</a:t>
            </a:r>
          </a:p>
        </p:txBody>
      </p:sp>
      <p:pic>
        <p:nvPicPr>
          <p:cNvPr id="5" name="Picture 4">
            <a:extLst>
              <a:ext uri="{FF2B5EF4-FFF2-40B4-BE49-F238E27FC236}">
                <a16:creationId xmlns:a16="http://schemas.microsoft.com/office/drawing/2014/main" id="{AE9181BC-7574-0540-8EC7-6171E49A3D03}"/>
              </a:ext>
            </a:extLst>
          </p:cNvPr>
          <p:cNvPicPr>
            <a:picLocks noChangeAspect="1"/>
          </p:cNvPicPr>
          <p:nvPr/>
        </p:nvPicPr>
        <p:blipFill>
          <a:blip r:embed="rId2"/>
          <a:stretch>
            <a:fillRect/>
          </a:stretch>
        </p:blipFill>
        <p:spPr>
          <a:xfrm>
            <a:off x="4259921" y="1345093"/>
            <a:ext cx="4010775" cy="334231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F2F8E67-9C99-DB4F-8B6B-137226FD10B0}"/>
                  </a:ext>
                </a:extLst>
              </p:cNvPr>
              <p:cNvSpPr txBox="1"/>
              <p:nvPr/>
            </p:nvSpPr>
            <p:spPr>
              <a:xfrm>
                <a:off x="1986121" y="4923215"/>
                <a:ext cx="8558374" cy="1569660"/>
              </a:xfrm>
              <a:prstGeom prst="rect">
                <a:avLst/>
              </a:prstGeom>
              <a:noFill/>
            </p:spPr>
            <p:txBody>
              <a:bodyPr wrap="square" rtlCol="0">
                <a:spAutoFit/>
              </a:bodyPr>
              <a:lstStyle/>
              <a:p>
                <a:pPr marL="342900" indent="-342900">
                  <a:buAutoNum type="arabicPeriod"/>
                </a:pPr>
                <a:r>
                  <a:rPr lang="en-US" sz="2400" dirty="0"/>
                  <a:t>The n-</a:t>
                </a:r>
                <a:r>
                  <a:rPr lang="en-US" sz="2400" dirty="0" err="1"/>
                  <a:t>th</a:t>
                </a:r>
                <a:r>
                  <a:rPr lang="en-US" sz="2400" dirty="0"/>
                  <a:t> row and r-</a:t>
                </a:r>
                <a:r>
                  <a:rPr lang="en-US" sz="2400" dirty="0" err="1"/>
                  <a:t>th</a:t>
                </a:r>
                <a:r>
                  <a:rPr lang="en-US" sz="2400" dirty="0"/>
                  <a:t> item is </a:t>
                </a:r>
                <a14:m>
                  <m:oMath xmlns:m="http://schemas.openxmlformats.org/officeDocument/2006/math">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oMath>
                </a14:m>
                <a:endParaRPr lang="en-US" sz="2400" b="0" dirty="0"/>
              </a:p>
              <a:p>
                <a:pPr marL="342900" indent="-342900">
                  <a:buAutoNum type="arabicPeriod"/>
                </a:pPr>
                <a:r>
                  <a:rPr lang="en-US" sz="2400" dirty="0"/>
                  <a:t>The numbers in Pascal triangle is symmetric</a:t>
                </a:r>
              </a:p>
              <a:p>
                <a:pPr marL="342900" indent="-342900">
                  <a:buAutoNum type="arabicPeriod"/>
                </a:pPr>
                <a:r>
                  <a:rPr lang="en-US" sz="2400" dirty="0"/>
                  <a:t>Any interior number is the sum of two numbers on its shoulders</a:t>
                </a:r>
              </a:p>
              <a:p>
                <a:pPr marL="342900" indent="-342900">
                  <a:buAutoNum type="arabicPeriod"/>
                </a:pPr>
                <a:r>
                  <a:rPr lang="en-US" sz="2400" dirty="0"/>
                  <a:t>The sum of the n-</a:t>
                </a:r>
                <a:r>
                  <a:rPr lang="en-US" sz="2400" dirty="0" err="1"/>
                  <a:t>th</a:t>
                </a:r>
                <a:r>
                  <a:rPr lang="en-US" sz="2400" dirty="0"/>
                  <a:t> row is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𝑛</m:t>
                        </m:r>
                      </m:sup>
                    </m:sSup>
                  </m:oMath>
                </a14:m>
                <a:endParaRPr lang="en-US" sz="2400" dirty="0"/>
              </a:p>
            </p:txBody>
          </p:sp>
        </mc:Choice>
        <mc:Fallback xmlns="">
          <p:sp>
            <p:nvSpPr>
              <p:cNvPr id="6" name="TextBox 5">
                <a:extLst>
                  <a:ext uri="{FF2B5EF4-FFF2-40B4-BE49-F238E27FC236}">
                    <a16:creationId xmlns:a16="http://schemas.microsoft.com/office/drawing/2014/main" id="{2F2F8E67-9C99-DB4F-8B6B-137226FD10B0}"/>
                  </a:ext>
                </a:extLst>
              </p:cNvPr>
              <p:cNvSpPr txBox="1">
                <a:spLocks noRot="1" noChangeAspect="1" noMove="1" noResize="1" noEditPoints="1" noAdjustHandles="1" noChangeArrowheads="1" noChangeShapeType="1" noTextEdit="1"/>
              </p:cNvSpPr>
              <p:nvPr/>
            </p:nvSpPr>
            <p:spPr>
              <a:xfrm>
                <a:off x="1986121" y="4923215"/>
                <a:ext cx="8558374" cy="1569660"/>
              </a:xfrm>
              <a:prstGeom prst="rect">
                <a:avLst/>
              </a:prstGeom>
              <a:blipFill>
                <a:blip r:embed="rId3"/>
                <a:stretch>
                  <a:fillRect l="-1187" t="-2419" b="-7258"/>
                </a:stretch>
              </a:blipFill>
            </p:spPr>
            <p:txBody>
              <a:bodyPr/>
              <a:lstStyle/>
              <a:p>
                <a:r>
                  <a:rPr lang="en-US">
                    <a:noFill/>
                  </a:rPr>
                  <a:t> </a:t>
                </a:r>
              </a:p>
            </p:txBody>
          </p:sp>
        </mc:Fallback>
      </mc:AlternateContent>
    </p:spTree>
    <p:extLst>
      <p:ext uri="{BB962C8B-B14F-4D97-AF65-F5344CB8AC3E}">
        <p14:creationId xmlns:p14="http://schemas.microsoft.com/office/powerpoint/2010/main" val="362094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2529</Words>
  <Application>Microsoft Office PowerPoint</Application>
  <PresentationFormat>宽屏</PresentationFormat>
  <Paragraphs>373</Paragraphs>
  <Slides>51</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60" baseType="lpstr">
      <vt:lpstr>ＭＳ Ｐゴシック</vt:lpstr>
      <vt:lpstr>等线</vt:lpstr>
      <vt:lpstr>等线 Light</vt:lpstr>
      <vt:lpstr>Arial</vt:lpstr>
      <vt:lpstr>Cambria Math</vt:lpstr>
      <vt:lpstr>Tahoma</vt:lpstr>
      <vt:lpstr>Times New Roman</vt:lpstr>
      <vt:lpstr>Office 主题​​</vt:lpstr>
      <vt:lpstr>Equation</vt:lpstr>
      <vt:lpstr>The separation bar method</vt:lpstr>
      <vt:lpstr>Summary of counting with repetitions</vt:lpstr>
      <vt:lpstr>Basic Models for Distributions</vt:lpstr>
      <vt:lpstr>Specified amount in each box</vt:lpstr>
      <vt:lpstr>Basic Models for Distributions</vt:lpstr>
      <vt:lpstr>Equivalent Forms for Selection with Repetition</vt:lpstr>
      <vt:lpstr>Ways to Arrange, Select, or Distribute r  Objects from n Items or into n Boxes</vt:lpstr>
      <vt:lpstr>Example 1</vt:lpstr>
      <vt:lpstr>Example 1 (Continued)</vt:lpstr>
      <vt:lpstr>Example 2</vt:lpstr>
      <vt:lpstr>Example 2 (part 1) </vt:lpstr>
      <vt:lpstr>Example 2 (part 2)</vt:lpstr>
      <vt:lpstr>Example 3</vt:lpstr>
      <vt:lpstr>Example 3 (at least one ball in each box)</vt:lpstr>
      <vt:lpstr>Example 3 (ri balls in the ith box)</vt:lpstr>
      <vt:lpstr>Example 4</vt:lpstr>
      <vt:lpstr>Example 4 (Continued)</vt:lpstr>
      <vt:lpstr>Example 4 (continue) “Minimum condition” problem The rule is: “satisfy it first” </vt:lpstr>
      <vt:lpstr>Similarity among arrangement, selection, and integer equation problems</vt:lpstr>
      <vt:lpstr>Three problems that can be solved by using the separation bar method</vt:lpstr>
      <vt:lpstr>Class Problem 1 </vt:lpstr>
      <vt:lpstr>Solution</vt:lpstr>
      <vt:lpstr>Solution</vt:lpstr>
      <vt:lpstr>Solution</vt:lpstr>
      <vt:lpstr>Solution</vt:lpstr>
      <vt:lpstr>Solution</vt:lpstr>
      <vt:lpstr>Class Problem 2</vt:lpstr>
      <vt:lpstr>Solution</vt:lpstr>
      <vt:lpstr>Solution</vt:lpstr>
      <vt:lpstr>Solution</vt:lpstr>
      <vt:lpstr>Problem 5.4.28</vt:lpstr>
      <vt:lpstr>Problem 5.4.28</vt:lpstr>
      <vt:lpstr>Problem 5.4.28</vt:lpstr>
      <vt:lpstr>Problem 5.4.28</vt:lpstr>
      <vt:lpstr>Problem 5.4.28</vt:lpstr>
      <vt:lpstr>Problem 5.4.28</vt:lpstr>
      <vt:lpstr>Problem 5.4.28-cont</vt:lpstr>
      <vt:lpstr>Problem 5.4.28</vt:lpstr>
      <vt:lpstr>Problem 5.4.28</vt:lpstr>
      <vt:lpstr>Problem 5.4.28</vt:lpstr>
      <vt:lpstr>Problem 5.4.28</vt:lpstr>
      <vt:lpstr>Problem 5.4.28</vt:lpstr>
      <vt:lpstr>Problem 5.4.28-cont</vt:lpstr>
      <vt:lpstr>Problem 5.4.45</vt:lpstr>
      <vt:lpstr>Problem 5.4.45</vt:lpstr>
      <vt:lpstr>Problem 5.4.16</vt:lpstr>
      <vt:lpstr>Problem 5.4.16</vt:lpstr>
      <vt:lpstr>Problem 5.4.16 (continue)</vt:lpstr>
      <vt:lpstr>Problem 5.4.16</vt:lpstr>
      <vt:lpstr>Some combination identities</vt:lpstr>
      <vt:lpstr>Pascal triangle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separation bar method</dc:title>
  <dc:creator>xing</dc:creator>
  <cp:lastModifiedBy>xing</cp:lastModifiedBy>
  <cp:revision>1</cp:revision>
  <dcterms:created xsi:type="dcterms:W3CDTF">2025-11-16T11:20:20Z</dcterms:created>
  <dcterms:modified xsi:type="dcterms:W3CDTF">2025-11-16T11:20:48Z</dcterms:modified>
</cp:coreProperties>
</file>