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37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3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4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2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25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44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59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06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64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3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8E19F-BEEC-4AB2-9894-FD967C42C3AF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D998D-FCC3-4766-9DB6-12DAA208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13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B0B0-85A8-F44D-8817-EF5B16ED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19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Midterm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C7C5-9C7A-8646-BDA7-4206DE31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787"/>
            <a:ext cx="10515600" cy="50981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Graph basics: simple, directed, bipartite, multi, graphs.</a:t>
            </a:r>
          </a:p>
          <a:p>
            <a:r>
              <a:rPr lang="en-US" dirty="0"/>
              <a:t>Vertex, edge, degree, relation between number of degrees and edges</a:t>
            </a:r>
          </a:p>
          <a:p>
            <a:r>
              <a:rPr lang="en-US" dirty="0"/>
              <a:t>Isomorphism</a:t>
            </a:r>
          </a:p>
          <a:p>
            <a:pPr lvl="1"/>
            <a:r>
              <a:rPr lang="en-US" dirty="0"/>
              <a:t>Complete graph, complete bipartite graph</a:t>
            </a:r>
          </a:p>
          <a:p>
            <a:pPr lvl="1"/>
            <a:r>
              <a:rPr lang="en-US" dirty="0"/>
              <a:t>Total and sorted degree comparison</a:t>
            </a:r>
          </a:p>
          <a:p>
            <a:pPr lvl="1"/>
            <a:r>
              <a:rPr lang="en-US" dirty="0"/>
              <a:t>Bipartite or not</a:t>
            </a:r>
          </a:p>
          <a:p>
            <a:pPr lvl="1"/>
            <a:r>
              <a:rPr lang="en-US" dirty="0"/>
              <a:t>Compare complements</a:t>
            </a:r>
          </a:p>
          <a:p>
            <a:pPr lvl="1"/>
            <a:r>
              <a:rPr lang="en-US" dirty="0"/>
              <a:t>Subgraph comparison</a:t>
            </a:r>
          </a:p>
          <a:p>
            <a:pPr lvl="1"/>
            <a:r>
              <a:rPr lang="en-US" dirty="0"/>
              <a:t>Adjacency matching</a:t>
            </a:r>
          </a:p>
          <a:p>
            <a:pPr lvl="1"/>
            <a:r>
              <a:rPr lang="en-US" dirty="0"/>
              <a:t>Directed graph</a:t>
            </a:r>
          </a:p>
          <a:p>
            <a:r>
              <a:rPr lang="en-US" dirty="0"/>
              <a:t>Edge counting: the total number of degrees must be </a:t>
            </a:r>
            <a:r>
              <a:rPr lang="en-US" b="1" dirty="0"/>
              <a:t>EVEN.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69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0AC22-6D56-D24A-8E33-EB8F1269F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20806"/>
                <a:ext cx="10515600" cy="576697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Planar graph</a:t>
                </a:r>
              </a:p>
              <a:p>
                <a:pPr lvl="1"/>
                <a:r>
                  <a:rPr lang="en-US" dirty="0"/>
                  <a:t>Circle-chord method</a:t>
                </a:r>
              </a:p>
              <a:p>
                <a:pPr lvl="1"/>
                <a:r>
                  <a:rPr lang="en-US" dirty="0"/>
                  <a:t>Minimum non-planar complete graphs: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Euler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Euler formula corollary: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dirty="0"/>
                  <a:t> for non-bipartite graph</a:t>
                </a:r>
              </a:p>
              <a:p>
                <a:pPr lvl="1"/>
                <a:r>
                  <a:rPr lang="en-US" dirty="0"/>
                  <a:t>Euler formula corollary: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dirty="0"/>
                  <a:t> for bipartite graph</a:t>
                </a:r>
              </a:p>
              <a:p>
                <a:pPr lvl="1"/>
                <a:r>
                  <a:rPr lang="en-US" dirty="0"/>
                  <a:t>For every planar graph, there is at least one vertex with degree 5 or less.</a:t>
                </a:r>
              </a:p>
              <a:p>
                <a:r>
                  <a:rPr lang="en-US" dirty="0"/>
                  <a:t>Euler cycle</a:t>
                </a:r>
              </a:p>
              <a:p>
                <a:pPr lvl="1"/>
                <a:r>
                  <a:rPr lang="en-US" dirty="0"/>
                  <a:t>Necessary and sufficient condition</a:t>
                </a:r>
              </a:p>
              <a:p>
                <a:pPr lvl="1"/>
                <a:r>
                  <a:rPr lang="en-US" dirty="0"/>
                  <a:t>Revision for directed graph</a:t>
                </a:r>
              </a:p>
              <a:p>
                <a:pPr lvl="1"/>
                <a:r>
                  <a:rPr lang="en-US" dirty="0"/>
                  <a:t>Revision for Euler trail</a:t>
                </a:r>
              </a:p>
              <a:p>
                <a:r>
                  <a:rPr lang="en-US" dirty="0"/>
                  <a:t>Hamilton circuit</a:t>
                </a:r>
              </a:p>
              <a:p>
                <a:pPr lvl="1"/>
                <a:r>
                  <a:rPr lang="en-US" dirty="0"/>
                  <a:t>Three rules in constructing Hamilton circuit</a:t>
                </a:r>
              </a:p>
              <a:p>
                <a:pPr lvl="1"/>
                <a:r>
                  <a:rPr lang="en-US" dirty="0"/>
                  <a:t>Dirac, </a:t>
                </a:r>
                <a:r>
                  <a:rPr lang="en-US" dirty="0" err="1"/>
                  <a:t>Chvatal</a:t>
                </a:r>
                <a:r>
                  <a:rPr lang="en-US" dirty="0"/>
                  <a:t>, and Grinberg theorems</a:t>
                </a:r>
              </a:p>
              <a:p>
                <a:pPr lvl="1"/>
                <a:r>
                  <a:rPr lang="en-US" dirty="0"/>
                  <a:t>Hamilton path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0AC22-6D56-D24A-8E33-EB8F1269F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20806"/>
                <a:ext cx="10515600" cy="5766977"/>
              </a:xfrm>
              <a:blipFill>
                <a:blip r:embed="rId2"/>
                <a:stretch>
                  <a:fillRect l="-965" t="-2418" b="-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73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AC22-6D56-D24A-8E33-EB8F1269F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806"/>
            <a:ext cx="10515600" cy="5766977"/>
          </a:xfrm>
        </p:spPr>
        <p:txBody>
          <a:bodyPr>
            <a:normAutofit/>
          </a:bodyPr>
          <a:lstStyle/>
          <a:p>
            <a:r>
              <a:rPr lang="en-US" dirty="0"/>
              <a:t>Graph coloring</a:t>
            </a:r>
          </a:p>
          <a:p>
            <a:pPr lvl="1"/>
            <a:r>
              <a:rPr lang="en-US" dirty="0"/>
              <a:t>Walking method, chromatic number</a:t>
            </a:r>
          </a:p>
          <a:p>
            <a:pPr lvl="1"/>
            <a:r>
              <a:rPr lang="en-US" dirty="0"/>
              <a:t>Chromatic number for circuit and wheel</a:t>
            </a:r>
          </a:p>
          <a:p>
            <a:pPr lvl="1"/>
            <a:r>
              <a:rPr lang="en-US" dirty="0"/>
              <a:t>Chromatic number for complete, bipartite graphs</a:t>
            </a:r>
          </a:p>
          <a:p>
            <a:pPr lvl="1"/>
            <a:r>
              <a:rPr lang="en-US" dirty="0"/>
              <a:t>Chromatic number for triangulated polygon</a:t>
            </a:r>
          </a:p>
          <a:p>
            <a:pPr lvl="1"/>
            <a:r>
              <a:rPr lang="en-US" dirty="0"/>
              <a:t>Chromatic number for tree</a:t>
            </a:r>
          </a:p>
          <a:p>
            <a:pPr lvl="1"/>
            <a:r>
              <a:rPr lang="en-US" dirty="0"/>
              <a:t>Independent set</a:t>
            </a:r>
          </a:p>
          <a:p>
            <a:pPr lvl="1"/>
            <a:r>
              <a:rPr lang="en-US" dirty="0"/>
              <a:t>Application: scheduling and surveillance</a:t>
            </a:r>
          </a:p>
          <a:p>
            <a:pPr lvl="1"/>
            <a:r>
              <a:rPr lang="en-US" dirty="0"/>
              <a:t>Chromatic polynomial</a:t>
            </a:r>
          </a:p>
          <a:p>
            <a:pPr lvl="2"/>
            <a:r>
              <a:rPr lang="en-US" dirty="0"/>
              <a:t>Deleting and coalescing (merging) method</a:t>
            </a:r>
          </a:p>
          <a:p>
            <a:pPr lvl="1"/>
            <a:r>
              <a:rPr lang="en-US" dirty="0"/>
              <a:t>Coloring planar graph</a:t>
            </a:r>
          </a:p>
          <a:p>
            <a:pPr lvl="2"/>
            <a:r>
              <a:rPr lang="en-US" dirty="0"/>
              <a:t>Six color conjecture proof</a:t>
            </a:r>
          </a:p>
          <a:p>
            <a:pPr lvl="2"/>
            <a:r>
              <a:rPr lang="en-US" dirty="0"/>
              <a:t>Five color conjecture proof</a:t>
            </a:r>
          </a:p>
        </p:txBody>
      </p:sp>
    </p:spTree>
    <p:extLst>
      <p:ext uri="{BB962C8B-B14F-4D97-AF65-F5344CB8AC3E}">
        <p14:creationId xmlns:p14="http://schemas.microsoft.com/office/powerpoint/2010/main" val="346424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0AC22-6D56-D24A-8E33-EB8F1269F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20806"/>
                <a:ext cx="10515600" cy="57669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Tree and search methods</a:t>
                </a:r>
              </a:p>
              <a:p>
                <a:pPr lvl="1"/>
                <a:r>
                  <a:rPr lang="en-US" dirty="0"/>
                  <a:t>Three equivalent definitions (prove one from another)</a:t>
                </a:r>
              </a:p>
              <a:p>
                <a:pPr lvl="1"/>
                <a:r>
                  <a:rPr lang="en-US" dirty="0"/>
                  <a:t>Root, parent, sibling and child</a:t>
                </a:r>
              </a:p>
              <a:p>
                <a:pPr lvl="1"/>
                <a:r>
                  <a:rPr lang="en-US" dirty="0"/>
                  <a:t>The m-</a:t>
                </a:r>
                <a:r>
                  <a:rPr lang="en-US" dirty="0" err="1"/>
                  <a:t>ary</a:t>
                </a:r>
                <a:r>
                  <a:rPr lang="en-US" dirty="0"/>
                  <a:t> tree</a:t>
                </a:r>
              </a:p>
              <a:p>
                <a:pPr lvl="2"/>
                <a:r>
                  <a:rPr lang="en-US" dirty="0"/>
                  <a:t>Four variables: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their relationships</a:t>
                </a:r>
              </a:p>
              <a:p>
                <a:pPr lvl="2"/>
                <a:r>
                  <a:rPr lang="en-US" dirty="0"/>
                  <a:t>Level and height</a:t>
                </a:r>
              </a:p>
              <a:p>
                <a:pPr lvl="1"/>
                <a:r>
                  <a:rPr lang="en-US" dirty="0"/>
                  <a:t>Search methods</a:t>
                </a:r>
              </a:p>
              <a:p>
                <a:pPr lvl="2"/>
                <a:r>
                  <a:rPr lang="en-US" dirty="0"/>
                  <a:t>Breadth-first search</a:t>
                </a:r>
              </a:p>
              <a:p>
                <a:pPr lvl="2"/>
                <a:r>
                  <a:rPr lang="en-US" dirty="0"/>
                  <a:t>Depth-first search</a:t>
                </a:r>
              </a:p>
              <a:p>
                <a:pPr lvl="2"/>
                <a:r>
                  <a:rPr lang="en-US" dirty="0" smtClean="0"/>
                  <a:t>Spanning </a:t>
                </a:r>
                <a:r>
                  <a:rPr lang="en-US" dirty="0"/>
                  <a:t>tree of a graph</a:t>
                </a:r>
              </a:p>
              <a:p>
                <a:pPr lvl="1"/>
                <a:r>
                  <a:rPr lang="en-US" dirty="0" smtClean="0"/>
                  <a:t>Indexed </a:t>
                </a:r>
                <a:r>
                  <a:rPr lang="en-US" dirty="0"/>
                  <a:t>tree and </a:t>
                </a:r>
                <a:r>
                  <a:rPr lang="en-US" dirty="0" err="1"/>
                  <a:t>Prufer</a:t>
                </a:r>
                <a:r>
                  <a:rPr lang="en-US" dirty="0"/>
                  <a:t> sequence</a:t>
                </a:r>
              </a:p>
              <a:p>
                <a:pPr lvl="2"/>
                <a:r>
                  <a:rPr lang="en-US" dirty="0"/>
                  <a:t>From indexed tree to </a:t>
                </a:r>
                <a:r>
                  <a:rPr lang="en-US" dirty="0" err="1"/>
                  <a:t>Prufer</a:t>
                </a:r>
                <a:r>
                  <a:rPr lang="en-US" dirty="0"/>
                  <a:t> sequence</a:t>
                </a:r>
              </a:p>
              <a:p>
                <a:pPr lvl="2"/>
                <a:r>
                  <a:rPr lang="en-US" dirty="0"/>
                  <a:t>From </a:t>
                </a:r>
                <a:r>
                  <a:rPr lang="en-US" dirty="0" err="1"/>
                  <a:t>Prufer</a:t>
                </a:r>
                <a:r>
                  <a:rPr lang="en-US" dirty="0"/>
                  <a:t> sequence to indexed tree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0AC22-6D56-D24A-8E33-EB8F1269F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20806"/>
                <a:ext cx="10515600" cy="5766977"/>
              </a:xfrm>
              <a:blipFill>
                <a:blip r:embed="rId2"/>
                <a:stretch>
                  <a:fillRect l="-1043" t="-1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03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AC22-6D56-D24A-8E33-EB8F1269F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806"/>
            <a:ext cx="10515600" cy="5766977"/>
          </a:xfrm>
        </p:spPr>
        <p:txBody>
          <a:bodyPr>
            <a:normAutofit/>
          </a:bodyPr>
          <a:lstStyle/>
          <a:p>
            <a:r>
              <a:rPr lang="en-US" dirty="0"/>
              <a:t>Network problem (weighted graph)</a:t>
            </a:r>
          </a:p>
          <a:p>
            <a:pPr lvl="1"/>
            <a:r>
              <a:rPr lang="en-US" dirty="0"/>
              <a:t>Dijkstra algorithm for shortest paths</a:t>
            </a:r>
          </a:p>
          <a:p>
            <a:pPr lvl="2"/>
            <a:r>
              <a:rPr lang="en-US" dirty="0"/>
              <a:t>Distance table, initiation and update</a:t>
            </a:r>
          </a:p>
          <a:p>
            <a:pPr lvl="2"/>
            <a:r>
              <a:rPr lang="en-US" dirty="0"/>
              <a:t>Order of visiting unvisited vertices</a:t>
            </a:r>
          </a:p>
          <a:p>
            <a:pPr lvl="1"/>
            <a:r>
              <a:rPr lang="en-US" dirty="0"/>
              <a:t>Minimum (or maximum) spanning tree</a:t>
            </a:r>
          </a:p>
          <a:p>
            <a:pPr lvl="2"/>
            <a:r>
              <a:rPr lang="en-US" dirty="0"/>
              <a:t>Kruskal’s algorithm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8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宽屏</PresentationFormat>
  <Paragraphs>59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Office 主题​​</vt:lpstr>
      <vt:lpstr>Midterm Review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Review</dc:title>
  <dc:creator>xing</dc:creator>
  <cp:lastModifiedBy>xing</cp:lastModifiedBy>
  <cp:revision>5</cp:revision>
  <dcterms:created xsi:type="dcterms:W3CDTF">2025-11-02T12:25:39Z</dcterms:created>
  <dcterms:modified xsi:type="dcterms:W3CDTF">2025-11-02T12:26:23Z</dcterms:modified>
</cp:coreProperties>
</file>