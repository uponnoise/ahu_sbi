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94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11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31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7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69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78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239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428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63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75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57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ADC58-35D2-4232-91A0-D875BE79ABD4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AEE77-8D4B-46C0-9CD9-0677FAE77F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52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3.png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標題 1">
            <a:extLst>
              <a:ext uri="{FF2B5EF4-FFF2-40B4-BE49-F238E27FC236}">
                <a16:creationId xmlns:a16="http://schemas.microsoft.com/office/drawing/2014/main" id="{5FC9EFB8-48DE-9342-8E46-BBBAD0C6F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ＭＳ Ｐゴシック" panose="020B0600070205080204" pitchFamily="34" charset="-128"/>
              </a:rPr>
              <a:t>7.3-4 Solving Linear Recurrence Relations </a:t>
            </a:r>
            <a:endParaRPr lang="zh-TW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1506" name="內容版面配置區 2">
            <a:extLst>
              <a:ext uri="{FF2B5EF4-FFF2-40B4-BE49-F238E27FC236}">
                <a16:creationId xmlns:a16="http://schemas.microsoft.com/office/drawing/2014/main" id="{8AC90B7A-264D-DE43-8DD1-7DA03B8EA9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TW" u="sng" dirty="0">
              <a:ea typeface="ＭＳ Ｐゴシック" panose="020B0600070205080204" pitchFamily="34" charset="-128"/>
            </a:endParaRPr>
          </a:p>
          <a:p>
            <a:r>
              <a:rPr lang="en-US" altLang="zh-TW" u="sng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7.3 Homogeneous Recurrence Relations</a:t>
            </a:r>
          </a:p>
          <a:p>
            <a:endParaRPr lang="en-US" altLang="zh-TW" u="sng" dirty="0">
              <a:solidFill>
                <a:srgbClr val="00B050"/>
              </a:solidFill>
              <a:ea typeface="ＭＳ Ｐゴシック" panose="020B0600070205080204" pitchFamily="34" charset="-128"/>
            </a:endParaRPr>
          </a:p>
          <a:p>
            <a:r>
              <a:rPr lang="en-US" altLang="zh-TW" u="sng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7.4 Nonhomogeneous Recurrence Relations</a:t>
            </a:r>
          </a:p>
          <a:p>
            <a:endParaRPr lang="en-US" altLang="zh-TW" u="sng" dirty="0">
              <a:solidFill>
                <a:srgbClr val="00B050"/>
              </a:solidFill>
              <a:ea typeface="ＭＳ Ｐゴシック" panose="020B0600070205080204" pitchFamily="34" charset="-128"/>
            </a:endParaRPr>
          </a:p>
          <a:p>
            <a:endParaRPr lang="en-US" altLang="zh-TW" u="sng" dirty="0">
              <a:solidFill>
                <a:srgbClr val="00B050"/>
              </a:solidFill>
              <a:ea typeface="ＭＳ Ｐゴシック" panose="020B0600070205080204" pitchFamily="34" charset="-128"/>
            </a:endParaRPr>
          </a:p>
          <a:p>
            <a:endParaRPr lang="en-US" altLang="zh-TW" u="sng" dirty="0">
              <a:ea typeface="ＭＳ Ｐゴシック" panose="020B0600070205080204" pitchFamily="34" charset="-128"/>
            </a:endParaRPr>
          </a:p>
          <a:p>
            <a:endParaRPr lang="zh-TW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278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標題 3">
            <a:extLst>
              <a:ext uri="{FF2B5EF4-FFF2-40B4-BE49-F238E27FC236}">
                <a16:creationId xmlns:a16="http://schemas.microsoft.com/office/drawing/2014/main" id="{80630D3C-6810-9C42-B67D-7EF362BF5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7.3 Solving Linear Recurrence Relations</a:t>
            </a:r>
            <a:endParaRPr lang="zh-TW" altLang="en-US" sz="3200" b="1" u="sng">
              <a:solidFill>
                <a:srgbClr val="00B05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2530" name="內容版面配置區 4">
            <a:extLst>
              <a:ext uri="{FF2B5EF4-FFF2-40B4-BE49-F238E27FC236}">
                <a16:creationId xmlns:a16="http://schemas.microsoft.com/office/drawing/2014/main" id="{716E1096-B247-4542-BA59-228F1E35CB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06600" y="1028700"/>
            <a:ext cx="85090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>
                <a:ea typeface="ＭＳ Ｐゴシック" panose="020B0600070205080204" pitchFamily="34" charset="-128"/>
              </a:rPr>
              <a:t>Some of these recurrence relations can be solved using iteration or some other ad hoc technique. 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However, one important class of recurrence relations can be explicitly solved in a systematic way. These are recurrence relations that express the terms of a sequence as linear combinations of previous terms.</a:t>
            </a:r>
          </a:p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Definition 1: </a:t>
            </a:r>
            <a:r>
              <a:rPr lang="en-US" altLang="zh-TW" dirty="0">
                <a:ea typeface="ＭＳ Ｐゴシック" panose="020B0600070205080204" pitchFamily="34" charset="-128"/>
              </a:rPr>
              <a:t>A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linear</a:t>
            </a:r>
            <a:r>
              <a:rPr lang="en-US" altLang="zh-TW" b="1" dirty="0">
                <a:ea typeface="ＭＳ Ｐゴシック" panose="020B0600070205080204" pitchFamily="34" charset="-128"/>
              </a:rPr>
              <a:t>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homogeneous</a:t>
            </a:r>
            <a:r>
              <a:rPr lang="en-US" altLang="zh-TW" b="1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recurrence relation of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degree k</a:t>
            </a:r>
            <a:r>
              <a:rPr lang="en-US" altLang="zh-TW" dirty="0">
                <a:ea typeface="ＭＳ Ｐゴシック" panose="020B0600070205080204" pitchFamily="34" charset="-128"/>
              </a:rPr>
              <a:t> with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constant coefficients</a:t>
            </a:r>
            <a:r>
              <a:rPr lang="en-US" altLang="zh-TW" dirty="0">
                <a:ea typeface="ＭＳ Ｐゴシック" panose="020B0600070205080204" pitchFamily="34" charset="-128"/>
              </a:rPr>
              <a:t> is a recurrence relation of the form</a:t>
            </a:r>
          </a:p>
          <a:p>
            <a:pPr algn="ctr"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=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</a:t>
            </a:r>
            <a:r>
              <a:rPr lang="en-US" altLang="zh-TW" i="1" dirty="0">
                <a:ea typeface="ＭＳ Ｐゴシック" panose="020B0600070205080204" pitchFamily="34" charset="-128"/>
              </a:rPr>
              <a:t> +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</a:t>
            </a:r>
            <a:r>
              <a:rPr lang="en-US" altLang="zh-TW" i="1" dirty="0">
                <a:ea typeface="ＭＳ Ｐゴシック" panose="020B0600070205080204" pitchFamily="34" charset="-128"/>
              </a:rPr>
              <a:t>+ . . .+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k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-k</a:t>
            </a: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Where c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, c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ea typeface="ＭＳ Ｐゴシック" panose="020B0600070205080204" pitchFamily="34" charset="-128"/>
              </a:rPr>
              <a:t>, . . .,c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 are real numbers, c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 ≠ 0.</a:t>
            </a:r>
            <a:endParaRPr lang="zh-TW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2169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標題 1">
            <a:extLst>
              <a:ext uri="{FF2B5EF4-FFF2-40B4-BE49-F238E27FC236}">
                <a16:creationId xmlns:a16="http://schemas.microsoft.com/office/drawing/2014/main" id="{E531634E-6A9C-8E42-97A1-8C71841D1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Recurrence Relations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23554" name="內容版面配置區 2">
            <a:extLst>
              <a:ext uri="{FF2B5EF4-FFF2-40B4-BE49-F238E27FC236}">
                <a16:creationId xmlns:a16="http://schemas.microsoft.com/office/drawing/2014/main" id="{F83DC318-4869-3C41-B8E7-B72276842D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73275" y="1143000"/>
            <a:ext cx="8229600" cy="5500688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TW" sz="2700" dirty="0">
                <a:ea typeface="ＭＳ Ｐゴシック" panose="020B0600070205080204" pitchFamily="34" charset="-128"/>
              </a:rPr>
              <a:t>The recurrence relation in the definition is </a:t>
            </a:r>
            <a:r>
              <a:rPr lang="en-US" altLang="zh-TW" sz="27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linear</a:t>
            </a:r>
            <a:r>
              <a:rPr lang="en-US" altLang="zh-TW" sz="2700" dirty="0">
                <a:ea typeface="ＭＳ Ｐゴシック" panose="020B0600070205080204" pitchFamily="34" charset="-128"/>
              </a:rPr>
              <a:t> because the right-hand side is a sum of previous terms of the sequence each multiplied by a function of </a:t>
            </a:r>
            <a:r>
              <a:rPr lang="en-US" altLang="zh-TW" sz="2700" i="1" dirty="0">
                <a:ea typeface="ＭＳ Ｐゴシック" panose="020B0600070205080204" pitchFamily="34" charset="-128"/>
              </a:rPr>
              <a:t>n</a:t>
            </a:r>
            <a:r>
              <a:rPr lang="en-US" altLang="zh-TW" sz="2700" dirty="0"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zh-TW" sz="2700" dirty="0">
                <a:ea typeface="ＭＳ Ｐゴシック" panose="020B0600070205080204" pitchFamily="34" charset="-128"/>
              </a:rPr>
              <a:t>The recurrence relation is </a:t>
            </a:r>
            <a:r>
              <a:rPr lang="en-US" altLang="zh-TW" sz="27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homogeneous</a:t>
            </a:r>
            <a:r>
              <a:rPr lang="en-US" altLang="zh-TW" sz="2700" b="1" dirty="0">
                <a:ea typeface="ＭＳ Ｐゴシック" panose="020B0600070205080204" pitchFamily="34" charset="-128"/>
              </a:rPr>
              <a:t> </a:t>
            </a:r>
            <a:r>
              <a:rPr lang="en-US" altLang="zh-TW" sz="2700" dirty="0">
                <a:ea typeface="ＭＳ Ｐゴシック" panose="020B0600070205080204" pitchFamily="34" charset="-128"/>
              </a:rPr>
              <a:t>because no terms occur that are not multiples of the </a:t>
            </a:r>
            <a:r>
              <a:rPr lang="en-US" altLang="zh-TW" sz="2700" i="1" dirty="0" err="1">
                <a:ea typeface="ＭＳ Ｐゴシック" panose="020B0600070205080204" pitchFamily="34" charset="-128"/>
              </a:rPr>
              <a:t>a</a:t>
            </a:r>
            <a:r>
              <a:rPr lang="en-US" altLang="zh-TW" sz="2700" i="1" baseline="-25000" dirty="0" err="1">
                <a:ea typeface="ＭＳ Ｐゴシック" panose="020B0600070205080204" pitchFamily="34" charset="-128"/>
              </a:rPr>
              <a:t>j</a:t>
            </a:r>
            <a:r>
              <a:rPr lang="en-US" altLang="zh-TW" sz="2700" i="1" dirty="0" err="1">
                <a:ea typeface="ＭＳ Ｐゴシック" panose="020B0600070205080204" pitchFamily="34" charset="-128"/>
              </a:rPr>
              <a:t>’</a:t>
            </a:r>
            <a:r>
              <a:rPr lang="en-US" altLang="zh-TW" sz="2700" dirty="0" err="1">
                <a:ea typeface="ＭＳ Ｐゴシック" panose="020B0600070205080204" pitchFamily="34" charset="-128"/>
              </a:rPr>
              <a:t>s</a:t>
            </a:r>
            <a:r>
              <a:rPr lang="en-US" altLang="zh-TW" sz="2700" dirty="0">
                <a:ea typeface="ＭＳ Ｐゴシック" panose="020B0600070205080204" pitchFamily="34" charset="-128"/>
              </a:rPr>
              <a:t>. </a:t>
            </a:r>
          </a:p>
          <a:p>
            <a:pPr>
              <a:lnSpc>
                <a:spcPct val="80000"/>
              </a:lnSpc>
            </a:pPr>
            <a:r>
              <a:rPr lang="en-US" altLang="zh-TW" sz="2700" dirty="0">
                <a:ea typeface="ＭＳ Ｐゴシック" panose="020B0600070205080204" pitchFamily="34" charset="-128"/>
              </a:rPr>
              <a:t>The coefficients of the terms of the sequence are all </a:t>
            </a:r>
            <a:r>
              <a:rPr lang="en-US" altLang="zh-TW" sz="27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constants</a:t>
            </a:r>
            <a:r>
              <a:rPr lang="en-US" altLang="zh-TW" sz="2700" dirty="0">
                <a:ea typeface="ＭＳ Ｐゴシック" panose="020B0600070205080204" pitchFamily="34" charset="-128"/>
              </a:rPr>
              <a:t>, rather than functions that depend on </a:t>
            </a:r>
            <a:r>
              <a:rPr lang="en-US" altLang="zh-TW" sz="2700" i="1" dirty="0">
                <a:ea typeface="ＭＳ Ｐゴシック" panose="020B0600070205080204" pitchFamily="34" charset="-128"/>
              </a:rPr>
              <a:t>n</a:t>
            </a:r>
            <a:r>
              <a:rPr lang="en-US" altLang="zh-TW" sz="2700" dirty="0">
                <a:ea typeface="ＭＳ Ｐゴシック" panose="020B0600070205080204" pitchFamily="34" charset="-128"/>
              </a:rPr>
              <a:t>. </a:t>
            </a:r>
          </a:p>
          <a:p>
            <a:pPr>
              <a:lnSpc>
                <a:spcPct val="80000"/>
              </a:lnSpc>
            </a:pPr>
            <a:r>
              <a:rPr lang="en-US" altLang="zh-TW" sz="2700" dirty="0">
                <a:ea typeface="ＭＳ Ｐゴシック" panose="020B0600070205080204" pitchFamily="34" charset="-128"/>
              </a:rPr>
              <a:t>The</a:t>
            </a:r>
            <a:r>
              <a:rPr lang="en-US" altLang="zh-TW" sz="27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7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degree</a:t>
            </a:r>
            <a:r>
              <a:rPr lang="en-US" altLang="zh-TW" sz="27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700" dirty="0">
                <a:ea typeface="ＭＳ Ｐゴシック" panose="020B0600070205080204" pitchFamily="34" charset="-128"/>
              </a:rPr>
              <a:t>is </a:t>
            </a:r>
            <a:r>
              <a:rPr lang="en-US" altLang="zh-TW" sz="2700" i="1" dirty="0">
                <a:ea typeface="ＭＳ Ｐゴシック" panose="020B0600070205080204" pitchFamily="34" charset="-128"/>
              </a:rPr>
              <a:t>k</a:t>
            </a:r>
            <a:r>
              <a:rPr lang="en-US" altLang="zh-TW" sz="2700" dirty="0">
                <a:ea typeface="ＭＳ Ｐゴシック" panose="020B0600070205080204" pitchFamily="34" charset="-128"/>
              </a:rPr>
              <a:t> because a</a:t>
            </a:r>
            <a:r>
              <a:rPr lang="en-US" altLang="zh-TW" sz="2700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sz="2700" dirty="0">
                <a:ea typeface="ＭＳ Ｐゴシック" panose="020B0600070205080204" pitchFamily="34" charset="-128"/>
              </a:rPr>
              <a:t> is expressed in terms of the previous </a:t>
            </a:r>
            <a:r>
              <a:rPr lang="en-US" altLang="zh-TW" sz="2700" i="1" dirty="0">
                <a:ea typeface="ＭＳ Ｐゴシック" panose="020B0600070205080204" pitchFamily="34" charset="-128"/>
              </a:rPr>
              <a:t>k</a:t>
            </a:r>
            <a:r>
              <a:rPr lang="en-US" altLang="zh-TW" sz="2700" dirty="0">
                <a:ea typeface="ＭＳ Ｐゴシック" panose="020B0600070205080204" pitchFamily="34" charset="-128"/>
              </a:rPr>
              <a:t> terms of the sequence.</a:t>
            </a:r>
          </a:p>
          <a:p>
            <a:pPr>
              <a:lnSpc>
                <a:spcPct val="80000"/>
              </a:lnSpc>
            </a:pPr>
            <a:r>
              <a:rPr lang="en-US" altLang="zh-TW" sz="2700" dirty="0">
                <a:ea typeface="ＭＳ Ｐゴシック" panose="020B0600070205080204" pitchFamily="34" charset="-128"/>
              </a:rPr>
              <a:t>A consequence of the second principle of mathematical induction is that a sequence satisfying the recurrence relation in the definition is uniquely determined by this recurrence relation and the k initial conditions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zh-TW" sz="2700" dirty="0">
                <a:ea typeface="ＭＳ Ｐゴシック" panose="020B0600070205080204" pitchFamily="34" charset="-128"/>
              </a:rPr>
              <a:t> a</a:t>
            </a:r>
            <a:r>
              <a:rPr lang="en-US" altLang="zh-TW" sz="2700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sz="2700" dirty="0">
                <a:ea typeface="ＭＳ Ｐゴシック" panose="020B0600070205080204" pitchFamily="34" charset="-128"/>
              </a:rPr>
              <a:t> =C</a:t>
            </a:r>
            <a:r>
              <a:rPr lang="en-US" altLang="zh-TW" sz="2700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sz="2700" dirty="0">
                <a:ea typeface="ＭＳ Ｐゴシック" panose="020B0600070205080204" pitchFamily="34" charset="-128"/>
              </a:rPr>
              <a:t>,  a</a:t>
            </a:r>
            <a:r>
              <a:rPr lang="en-US" altLang="zh-TW" sz="27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sz="2700" dirty="0">
                <a:ea typeface="ＭＳ Ｐゴシック" panose="020B0600070205080204" pitchFamily="34" charset="-128"/>
              </a:rPr>
              <a:t>=C</a:t>
            </a:r>
            <a:r>
              <a:rPr lang="en-US" altLang="zh-TW" sz="2700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sz="2700" dirty="0">
                <a:ea typeface="ＭＳ Ｐゴシック" panose="020B0600070205080204" pitchFamily="34" charset="-128"/>
              </a:rPr>
              <a:t>,. . . , a</a:t>
            </a:r>
            <a:r>
              <a:rPr lang="en-US" altLang="zh-TW" sz="2700" baseline="-25000" dirty="0">
                <a:ea typeface="ＭＳ Ｐゴシック" panose="020B0600070205080204" pitchFamily="34" charset="-128"/>
              </a:rPr>
              <a:t>k-1</a:t>
            </a:r>
            <a:r>
              <a:rPr lang="en-US" altLang="zh-TW" sz="2700" dirty="0">
                <a:ea typeface="ＭＳ Ｐゴシック" panose="020B0600070205080204" pitchFamily="34" charset="-128"/>
              </a:rPr>
              <a:t>=C</a:t>
            </a:r>
            <a:r>
              <a:rPr lang="en-US" altLang="zh-TW" sz="2700" baseline="-25000" dirty="0">
                <a:ea typeface="ＭＳ Ｐゴシック" panose="020B0600070205080204" pitchFamily="34" charset="-128"/>
              </a:rPr>
              <a:t>k-1</a:t>
            </a:r>
            <a:endParaRPr lang="zh-TW" altLang="en-US" sz="2700" baseline="-250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9528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標題 1">
            <a:extLst>
              <a:ext uri="{FF2B5EF4-FFF2-40B4-BE49-F238E27FC236}">
                <a16:creationId xmlns:a16="http://schemas.microsoft.com/office/drawing/2014/main" id="{AC346A15-5D70-E448-BB3C-3E93E1802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3200" b="1" u="sng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Recurrence Relations</a:t>
            </a:r>
            <a:endParaRPr lang="zh-TW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24578" name="內容版面配置區 2">
            <a:extLst>
              <a:ext uri="{FF2B5EF4-FFF2-40B4-BE49-F238E27FC236}">
                <a16:creationId xmlns:a16="http://schemas.microsoft.com/office/drawing/2014/main" id="{71888C4A-2CE9-7F47-9DCE-013BBEE48C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54200" y="1257300"/>
            <a:ext cx="8559800" cy="4838700"/>
          </a:xfr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Example 1: </a:t>
            </a:r>
            <a:r>
              <a:rPr lang="en-US" altLang="zh-TW" dirty="0">
                <a:ea typeface="ＭＳ Ｐゴシック" panose="020B0600070205080204" pitchFamily="34" charset="-128"/>
              </a:rPr>
              <a:t>the recurrence relation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P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=(1.11)P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is a linear homogeneous recurrence relation of degree one. 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The recurrence relation 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f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=f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</a:t>
            </a:r>
            <a:r>
              <a:rPr lang="en-US" altLang="zh-TW" i="1" dirty="0">
                <a:ea typeface="ＭＳ Ｐゴシック" panose="020B0600070205080204" pitchFamily="34" charset="-128"/>
              </a:rPr>
              <a:t> +f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</a:t>
            </a:r>
            <a:r>
              <a:rPr lang="en-US" altLang="zh-TW" i="1" dirty="0">
                <a:ea typeface="ＭＳ Ｐゴシック" panose="020B0600070205080204" pitchFamily="34" charset="-128"/>
              </a:rPr>
              <a:t>  </a:t>
            </a:r>
            <a:r>
              <a:rPr lang="en-US" altLang="zh-TW" dirty="0">
                <a:ea typeface="ＭＳ Ｐゴシック" panose="020B0600070205080204" pitchFamily="34" charset="-128"/>
              </a:rPr>
              <a:t>(Fibonacci) is a linear homogeneous recurrence relation of degree two. 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The recurrence relation  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=a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n-5</a:t>
            </a:r>
            <a:r>
              <a:rPr lang="en-US" altLang="zh-TW" i="1" dirty="0">
                <a:ea typeface="ＭＳ Ｐゴシック" panose="020B0600070205080204" pitchFamily="34" charset="-128"/>
              </a:rPr>
              <a:t>  </a:t>
            </a:r>
            <a:r>
              <a:rPr lang="en-US" altLang="zh-TW" dirty="0">
                <a:ea typeface="ＭＳ Ｐゴシック" panose="020B0600070205080204" pitchFamily="34" charset="-128"/>
              </a:rPr>
              <a:t>is (poses as!) a linear homogeneous recurrence relation of degree five.</a:t>
            </a:r>
          </a:p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Counter Examples: </a:t>
            </a:r>
            <a:r>
              <a:rPr lang="en-US" altLang="zh-TW" dirty="0">
                <a:ea typeface="ＭＳ Ｐゴシック" panose="020B0600070205080204" pitchFamily="34" charset="-128"/>
              </a:rPr>
              <a:t>The recurrence relation 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=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</a:t>
            </a:r>
            <a:r>
              <a:rPr lang="en-US" altLang="zh-TW" i="1" dirty="0">
                <a:ea typeface="ＭＳ Ｐゴシック" panose="020B0600070205080204" pitchFamily="34" charset="-128"/>
              </a:rPr>
              <a:t>+a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2   </a:t>
            </a:r>
            <a:r>
              <a:rPr lang="en-US" altLang="zh-TW" dirty="0">
                <a:ea typeface="ＭＳ Ｐゴシック" panose="020B0600070205080204" pitchFamily="34" charset="-128"/>
              </a:rPr>
              <a:t>is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nonlinear</a:t>
            </a:r>
            <a:r>
              <a:rPr lang="en-US" altLang="zh-TW" dirty="0">
                <a:ea typeface="ＭＳ Ｐゴシック" panose="020B0600070205080204" pitchFamily="34" charset="-128"/>
              </a:rPr>
              <a:t>. The recurrence relation  </a:t>
            </a:r>
          </a:p>
          <a:p>
            <a:r>
              <a:rPr lang="en-US" altLang="zh-TW" i="1" dirty="0" err="1">
                <a:ea typeface="ＭＳ Ｐゴシック" panose="020B0600070205080204" pitchFamily="34" charset="-128"/>
              </a:rPr>
              <a:t>H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2H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+1   </a:t>
            </a:r>
            <a:r>
              <a:rPr lang="en-US" altLang="zh-TW" dirty="0">
                <a:ea typeface="ＭＳ Ｐゴシック" panose="020B0600070205080204" pitchFamily="34" charset="-128"/>
              </a:rPr>
              <a:t>is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nonhomogeneous</a:t>
            </a:r>
            <a:r>
              <a:rPr lang="en-US" altLang="zh-TW" dirty="0">
                <a:ea typeface="ＭＳ Ｐゴシック" panose="020B0600070205080204" pitchFamily="34" charset="-128"/>
              </a:rPr>
              <a:t>. The recurrence relation </a:t>
            </a:r>
            <a:r>
              <a:rPr lang="en-US" altLang="zh-TW" i="1" dirty="0">
                <a:ea typeface="ＭＳ Ｐゴシック" panose="020B0600070205080204" pitchFamily="34" charset="-128"/>
              </a:rPr>
              <a:t>B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=nB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</a:t>
            </a:r>
            <a:r>
              <a:rPr lang="en-US" altLang="zh-TW" i="1" dirty="0">
                <a:ea typeface="ＭＳ Ｐゴシック" panose="020B0600070205080204" pitchFamily="34" charset="-128"/>
              </a:rPr>
              <a:t> is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not with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constant coefficients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endParaRPr lang="en-US" altLang="zh-TW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762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標題 1">
            <a:extLst>
              <a:ext uri="{FF2B5EF4-FFF2-40B4-BE49-F238E27FC236}">
                <a16:creationId xmlns:a16="http://schemas.microsoft.com/office/drawing/2014/main" id="{AC346A15-5D70-E448-BB3C-3E93E1802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3200" b="1" u="sng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Recurrence Relations</a:t>
            </a:r>
            <a:endParaRPr lang="zh-TW" altLang="en-US" sz="3200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78" name="內容版面配置區 2">
                <a:extLst>
                  <a:ext uri="{FF2B5EF4-FFF2-40B4-BE49-F238E27FC236}">
                    <a16:creationId xmlns:a16="http://schemas.microsoft.com/office/drawing/2014/main" id="{71888C4A-2CE9-7F47-9DCE-013BBEE48C9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854200" y="1257300"/>
                <a:ext cx="8559800" cy="48387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dirty="0">
                    <a:ea typeface="ＭＳ Ｐゴシック" panose="020B0600070205080204" pitchFamily="34" charset="-128"/>
                  </a:rPr>
                  <a:t>Consider a second degree linear homogeneous recurrence relation with constant coefficients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−1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r>
                  <a:rPr lang="en-US" altLang="zh-TW" dirty="0">
                    <a:ea typeface="ＭＳ Ｐゴシック" panose="020B0600070205080204" pitchFamily="34" charset="-128"/>
                  </a:rPr>
                  <a:t>We use the trial solution: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𝑟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r>
                  <a:rPr lang="en-US" altLang="zh-TW" dirty="0">
                    <a:ea typeface="ＭＳ Ｐゴシック" panose="020B0600070205080204" pitchFamily="34" charset="-128"/>
                  </a:rPr>
                  <a:t>Substituting the trial solution to the recurrence relation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𝑟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𝑟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−1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𝑟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ＭＳ Ｐゴシック" panose="020B0600070205080204" pitchFamily="34" charset="-128"/>
                  </a:rPr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𝑟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=0</m:t>
                      </m:r>
                    </m:oMath>
                  </m:oMathPara>
                </a14:m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ＭＳ Ｐゴシック" panose="020B0600070205080204" pitchFamily="34" charset="-128"/>
                  </a:rPr>
                  <a:t>This quadratic equation is the “characteristic equation”, it generally has two roots (will discuss cases with repeated root).</a:t>
                </a:r>
              </a:p>
            </p:txBody>
          </p:sp>
        </mc:Choice>
        <mc:Fallback>
          <p:sp>
            <p:nvSpPr>
              <p:cNvPr id="24578" name="內容版面配置區 2">
                <a:extLst>
                  <a:ext uri="{FF2B5EF4-FFF2-40B4-BE49-F238E27FC236}">
                    <a16:creationId xmlns:a16="http://schemas.microsoft.com/office/drawing/2014/main" id="{71888C4A-2CE9-7F47-9DCE-013BBEE48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4200" y="1257300"/>
                <a:ext cx="8559800" cy="4838700"/>
              </a:xfrm>
              <a:blipFill>
                <a:blip r:embed="rId2"/>
                <a:stretch>
                  <a:fillRect l="-1425" t="-2897" r="-2350" b="-3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7542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標題 1">
            <a:extLst>
              <a:ext uri="{FF2B5EF4-FFF2-40B4-BE49-F238E27FC236}">
                <a16:creationId xmlns:a16="http://schemas.microsoft.com/office/drawing/2014/main" id="{AC346A15-5D70-E448-BB3C-3E93E1802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TW" sz="3200" b="1" u="sng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Recurrence Relations</a:t>
            </a:r>
            <a:endParaRPr lang="zh-TW" altLang="en-US" sz="3200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8" name="內容版面配置區 2">
                <a:extLst>
                  <a:ext uri="{FF2B5EF4-FFF2-40B4-BE49-F238E27FC236}">
                    <a16:creationId xmlns:a16="http://schemas.microsoft.com/office/drawing/2014/main" id="{71888C4A-2CE9-7F47-9DCE-013BBEE48C9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854200" y="1257300"/>
                <a:ext cx="8559800" cy="4838700"/>
              </a:xfrm>
            </p:spPr>
            <p:txBody>
              <a:bodyPr/>
              <a:lstStyle/>
              <a:p>
                <a:r>
                  <a:rPr lang="en-US" altLang="zh-TW" dirty="0">
                    <a:ea typeface="ＭＳ Ｐゴシック" panose="020B0600070205080204" pitchFamily="34" charset="-128"/>
                  </a:rPr>
                  <a:t>If the characteristic equation has two distinct roots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ea typeface="ＭＳ Ｐゴシック" panose="020B0600070205080204" pitchFamily="34" charset="-128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ea typeface="ＭＳ Ｐゴシック" panose="020B0600070205080204" pitchFamily="34" charset="-128"/>
                  </a:rPr>
                  <a:t>, the </a:t>
                </a:r>
                <a:r>
                  <a:rPr lang="en-US" altLang="zh-TW" b="1" dirty="0">
                    <a:ea typeface="ＭＳ Ｐゴシック" panose="020B0600070205080204" pitchFamily="34" charset="-128"/>
                  </a:rPr>
                  <a:t>general solution</a:t>
                </a:r>
                <a:r>
                  <a:rPr lang="en-US" altLang="zh-TW" dirty="0">
                    <a:ea typeface="ＭＳ Ｐゴシック" panose="020B0600070205080204" pitchFamily="34" charset="-128"/>
                  </a:rPr>
                  <a:t> to the recurrence relation is in the form of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</m:sup>
                      </m:sSubSup>
                      <m:r>
                        <a:rPr lang="en-US" altLang="zh-TW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ＭＳ Ｐゴシック" panose="020B0600070205080204" pitchFamily="34" charset="-128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ea typeface="ＭＳ Ｐゴシック" panose="020B0600070205080204" pitchFamily="34" charset="-128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ea typeface="ＭＳ Ｐゴシック" panose="020B0600070205080204" pitchFamily="34" charset="-128"/>
                  </a:rPr>
                  <a:t> are two constants to be determined by the initial conditions</a:t>
                </a:r>
              </a:p>
            </p:txBody>
          </p:sp>
        </mc:Choice>
        <mc:Fallback xmlns="">
          <p:sp>
            <p:nvSpPr>
              <p:cNvPr id="24578" name="內容版面配置區 2">
                <a:extLst>
                  <a:ext uri="{FF2B5EF4-FFF2-40B4-BE49-F238E27FC236}">
                    <a16:creationId xmlns:a16="http://schemas.microsoft.com/office/drawing/2014/main" id="{71888C4A-2CE9-7F47-9DCE-013BBEE48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4200" y="1257300"/>
                <a:ext cx="8559800" cy="4838700"/>
              </a:xfrm>
              <a:blipFill>
                <a:blip r:embed="rId2"/>
                <a:stretch>
                  <a:fillRect l="-1481" t="-2094"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93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標題 1">
            <a:extLst>
              <a:ext uri="{FF2B5EF4-FFF2-40B4-BE49-F238E27FC236}">
                <a16:creationId xmlns:a16="http://schemas.microsoft.com/office/drawing/2014/main" id="{59603333-84E5-6B4F-9068-DDFC3533C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011238"/>
          </a:xfrm>
        </p:spPr>
        <p:txBody>
          <a:bodyPr/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26626" name="內容版面配置區 2">
            <a:extLst>
              <a:ext uri="{FF2B5EF4-FFF2-40B4-BE49-F238E27FC236}">
                <a16:creationId xmlns:a16="http://schemas.microsoft.com/office/drawing/2014/main" id="{FD7EDAE0-8C51-054A-884C-3A592D69F7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85875"/>
            <a:ext cx="8229600" cy="5143500"/>
          </a:xfrm>
        </p:spPr>
        <p:txBody>
          <a:bodyPr/>
          <a:lstStyle/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Example</a:t>
            </a:r>
            <a:r>
              <a:rPr lang="en-US" altLang="zh-TW" dirty="0">
                <a:ea typeface="ＭＳ Ｐゴシック" panose="020B0600070205080204" pitchFamily="34" charset="-128"/>
              </a:rPr>
              <a:t>: what is the solution of the recurrence relation</a:t>
            </a:r>
          </a:p>
          <a:p>
            <a:pPr algn="ctr"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a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 = a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dirty="0">
                <a:ea typeface="ＭＳ Ｐゴシック" panose="020B0600070205080204" pitchFamily="34" charset="-128"/>
              </a:rPr>
              <a:t>+ 2a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n-2</a:t>
            </a: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 With a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dirty="0">
                <a:ea typeface="ＭＳ Ｐゴシック" panose="020B0600070205080204" pitchFamily="34" charset="-128"/>
              </a:rPr>
              <a:t>= 2 and a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= 7 ?</a:t>
            </a: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zh-TW" altLang="en-US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33E982-BAED-0848-B542-78243753B601}"/>
                  </a:ext>
                </a:extLst>
              </p:cNvPr>
              <p:cNvSpPr txBox="1"/>
              <p:nvPr/>
            </p:nvSpPr>
            <p:spPr>
              <a:xfrm>
                <a:off x="3708970" y="3642181"/>
                <a:ext cx="402747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433E982-BAED-0848-B542-78243753B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970" y="3642181"/>
                <a:ext cx="4027470" cy="430887"/>
              </a:xfrm>
              <a:prstGeom prst="rect">
                <a:avLst/>
              </a:prstGeom>
              <a:blipFill>
                <a:blip r:embed="rId2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6EA716-88F9-224E-A964-BFDB5E2C6540}"/>
                  </a:ext>
                </a:extLst>
              </p:cNvPr>
              <p:cNvSpPr txBox="1"/>
              <p:nvPr/>
            </p:nvSpPr>
            <p:spPr>
              <a:xfrm>
                <a:off x="4642601" y="4224415"/>
                <a:ext cx="18952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6EA716-88F9-224E-A964-BFDB5E2C6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601" y="4224415"/>
                <a:ext cx="189526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71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49" name="Object 1">
            <a:extLst>
              <a:ext uri="{FF2B5EF4-FFF2-40B4-BE49-F238E27FC236}">
                <a16:creationId xmlns:a16="http://schemas.microsoft.com/office/drawing/2014/main" id="{1C222A07-84D9-0B47-8760-5B88C5ED471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88427" y="1564098"/>
          <a:ext cx="7342188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2971800" imgH="1231900" progId="Equation.3">
                  <p:embed/>
                </p:oleObj>
              </mc:Choice>
              <mc:Fallback>
                <p:oleObj name="Equation" r:id="rId3" imgW="2971800" imgH="1231900" progId="Equation.3">
                  <p:embed/>
                  <p:pic>
                    <p:nvPicPr>
                      <p:cNvPr id="27649" name="Object 1">
                        <a:extLst>
                          <a:ext uri="{FF2B5EF4-FFF2-40B4-BE49-F238E27FC236}">
                            <a16:creationId xmlns:a16="http://schemas.microsoft.com/office/drawing/2014/main" id="{1C222A07-84D9-0B47-8760-5B88C5ED47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427" y="1564098"/>
                        <a:ext cx="7342188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0" name="標題 1">
            <a:extLst>
              <a:ext uri="{FF2B5EF4-FFF2-40B4-BE49-F238E27FC236}">
                <a16:creationId xmlns:a16="http://schemas.microsoft.com/office/drawing/2014/main" id="{1D6B5563-A390-BC40-8BBB-2376B29AB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011238"/>
          </a:xfrm>
        </p:spPr>
        <p:txBody>
          <a:bodyPr/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A61AE1-09AD-2C43-BCA1-7DCAD1810339}"/>
                  </a:ext>
                </a:extLst>
              </p:cNvPr>
              <p:cNvSpPr txBox="1"/>
              <p:nvPr/>
            </p:nvSpPr>
            <p:spPr>
              <a:xfrm>
                <a:off x="3616503" y="5032292"/>
                <a:ext cx="43665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A61AE1-09AD-2C43-BCA1-7DCAD1810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503" y="5032292"/>
                <a:ext cx="436651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102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標題 1">
            <a:extLst>
              <a:ext uri="{FF2B5EF4-FFF2-40B4-BE49-F238E27FC236}">
                <a16:creationId xmlns:a16="http://schemas.microsoft.com/office/drawing/2014/main" id="{B338A1EE-A976-8945-A97D-C3B4B9F02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011238"/>
          </a:xfrm>
        </p:spPr>
        <p:txBody>
          <a:bodyPr/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A0EA859-706F-0C42-9F5B-6F8A733878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4658"/>
                <a:ext cx="10515600" cy="4986141"/>
              </a:xfrm>
            </p:spPr>
            <p:txBody>
              <a:bodyPr/>
              <a:lstStyle/>
              <a:p>
                <a:r>
                  <a:rPr lang="en-US" dirty="0"/>
                  <a:t>Example: Fibonacci recurrence relation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    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characteristic equation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A0EA859-706F-0C42-9F5B-6F8A733878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4658"/>
                <a:ext cx="10515600" cy="4986141"/>
              </a:xfrm>
              <a:blipFill>
                <a:blip r:embed="rId2"/>
                <a:stretch>
                  <a:fillRect l="-96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282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標題 1">
            <a:extLst>
              <a:ext uri="{FF2B5EF4-FFF2-40B4-BE49-F238E27FC236}">
                <a16:creationId xmlns:a16="http://schemas.microsoft.com/office/drawing/2014/main" id="{E8919704-150A-BB41-A208-59773B94A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011238"/>
          </a:xfrm>
        </p:spPr>
        <p:txBody>
          <a:bodyPr/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graphicFrame>
        <p:nvGraphicFramePr>
          <p:cNvPr id="29699" name="Object 2">
            <a:extLst>
              <a:ext uri="{FF2B5EF4-FFF2-40B4-BE49-F238E27FC236}">
                <a16:creationId xmlns:a16="http://schemas.microsoft.com/office/drawing/2014/main" id="{B075E4D3-AE45-5A40-8856-911A7F0DD9D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31356" y="1570271"/>
          <a:ext cx="5729288" cy="350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2222500" imgH="1358900" progId="Equation.3">
                  <p:embed/>
                </p:oleObj>
              </mc:Choice>
              <mc:Fallback>
                <p:oleObj name="Equation" r:id="rId3" imgW="2222500" imgH="1358900" progId="Equation.3">
                  <p:embed/>
                  <p:pic>
                    <p:nvPicPr>
                      <p:cNvPr id="29699" name="Object 2">
                        <a:extLst>
                          <a:ext uri="{FF2B5EF4-FFF2-40B4-BE49-F238E27FC236}">
                            <a16:creationId xmlns:a16="http://schemas.microsoft.com/office/drawing/2014/main" id="{B075E4D3-AE45-5A40-8856-911A7F0DD9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1356" y="1570271"/>
                        <a:ext cx="5729288" cy="350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5107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標題 1">
            <a:extLst>
              <a:ext uri="{FF2B5EF4-FFF2-40B4-BE49-F238E27FC236}">
                <a16:creationId xmlns:a16="http://schemas.microsoft.com/office/drawing/2014/main" id="{E6BC74DD-F059-7A49-BB20-BD44A83E2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41289"/>
            <a:ext cx="8229600" cy="1082675"/>
          </a:xfrm>
        </p:spPr>
        <p:txBody>
          <a:bodyPr/>
          <a:lstStyle/>
          <a:p>
            <a:r>
              <a:rPr lang="en-US" altLang="zh-TW" sz="28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Coefficients: equal roots</a:t>
            </a:r>
            <a:endParaRPr lang="zh-TW" altLang="en-US" sz="2800">
              <a:ea typeface="ＭＳ Ｐゴシック" panose="020B0600070205080204" pitchFamily="34" charset="-128"/>
            </a:endParaRPr>
          </a:p>
        </p:txBody>
      </p:sp>
      <p:sp>
        <p:nvSpPr>
          <p:cNvPr id="30722" name="內容版面配置區 2">
            <a:extLst>
              <a:ext uri="{FF2B5EF4-FFF2-40B4-BE49-F238E27FC236}">
                <a16:creationId xmlns:a16="http://schemas.microsoft.com/office/drawing/2014/main" id="{312F7A0A-7D0A-E24A-8540-B94523772B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500188"/>
            <a:ext cx="8229600" cy="5072062"/>
          </a:xfrm>
        </p:spPr>
        <p:txBody>
          <a:bodyPr/>
          <a:lstStyle/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Theorem 2: </a:t>
            </a:r>
            <a:r>
              <a:rPr lang="en-US" altLang="zh-TW" dirty="0">
                <a:ea typeface="ＭＳ Ｐゴシック" panose="020B0600070205080204" pitchFamily="34" charset="-128"/>
              </a:rPr>
              <a:t>Let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ea typeface="ＭＳ Ｐゴシック" panose="020B0600070205080204" pitchFamily="34" charset="-128"/>
              </a:rPr>
              <a:t> be real numbers with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 </a:t>
            </a:r>
            <a:r>
              <a:rPr lang="en-US" altLang="zh-TW" i="1" dirty="0">
                <a:ea typeface="ＭＳ Ｐゴシック" panose="020B0600070205080204" pitchFamily="34" charset="-128"/>
              </a:rPr>
              <a:t>≠0. </a:t>
            </a:r>
            <a:r>
              <a:rPr lang="en-US" altLang="zh-TW" dirty="0">
                <a:ea typeface="ＭＳ Ｐゴシック" panose="020B0600070205080204" pitchFamily="34" charset="-128"/>
              </a:rPr>
              <a:t>Suppose that  </a:t>
            </a:r>
            <a:r>
              <a:rPr lang="en-US" altLang="zh-TW" i="1" dirty="0">
                <a:ea typeface="ＭＳ Ｐゴシック" panose="020B0600070205080204" pitchFamily="34" charset="-128"/>
              </a:rPr>
              <a:t>r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2 </a:t>
            </a:r>
            <a:r>
              <a:rPr lang="en-US" altLang="zh-TW" i="1" dirty="0">
                <a:ea typeface="ＭＳ Ｐゴシック" panose="020B0600070205080204" pitchFamily="34" charset="-128"/>
              </a:rPr>
              <a:t>-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ea typeface="ＭＳ Ｐゴシック" panose="020B0600070205080204" pitchFamily="34" charset="-128"/>
              </a:rPr>
              <a:t>r -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ea typeface="ＭＳ Ｐゴシック" panose="020B0600070205080204" pitchFamily="34" charset="-128"/>
              </a:rPr>
              <a:t> = 0</a:t>
            </a:r>
            <a:r>
              <a:rPr lang="en-US" altLang="zh-TW" dirty="0">
                <a:ea typeface="ＭＳ Ｐゴシック" panose="020B0600070205080204" pitchFamily="34" charset="-128"/>
              </a:rPr>
              <a:t>  has only one root r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dirty="0">
                <a:ea typeface="ＭＳ Ｐゴシック" panose="020B0600070205080204" pitchFamily="34" charset="-128"/>
              </a:rPr>
              <a:t>. 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A sequence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{</a:t>
            </a:r>
            <a:r>
              <a:rPr lang="en-US" altLang="zh-TW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} </a:t>
            </a:r>
            <a:r>
              <a:rPr lang="en-US" altLang="zh-TW" dirty="0">
                <a:ea typeface="ＭＳ Ｐゴシック" panose="020B0600070205080204" pitchFamily="34" charset="-128"/>
              </a:rPr>
              <a:t>is a solution of the recurrence relation             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 </a:t>
            </a:r>
            <a:r>
              <a:rPr lang="en-US" altLang="zh-TW" i="1" dirty="0">
                <a:ea typeface="ＭＳ Ｐゴシック" panose="020B0600070205080204" pitchFamily="34" charset="-128"/>
              </a:rPr>
              <a:t>=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+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 </a:t>
            </a:r>
            <a:r>
              <a:rPr lang="en-US" altLang="zh-TW" dirty="0">
                <a:ea typeface="ＭＳ Ｐゴシック" panose="020B0600070205080204" pitchFamily="34" charset="-128"/>
              </a:rPr>
              <a:t>   </a:t>
            </a:r>
          </a:p>
          <a:p>
            <a:pPr marL="0" indent="0"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has the form of solution: </a:t>
            </a:r>
          </a:p>
          <a:p>
            <a:pPr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                            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=</a:t>
            </a:r>
            <a:r>
              <a:rPr lang="el-GR" altLang="zh-TW" i="1" dirty="0">
                <a:ea typeface="ＭＳ Ｐゴシック" panose="020B0600070205080204" pitchFamily="34" charset="-128"/>
              </a:rPr>
              <a:t> α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ea typeface="ＭＳ Ｐゴシック" panose="020B0600070205080204" pitchFamily="34" charset="-128"/>
              </a:rPr>
              <a:t>r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+</a:t>
            </a:r>
            <a:r>
              <a:rPr lang="el-GR" altLang="zh-TW" i="1" dirty="0">
                <a:ea typeface="ＭＳ Ｐゴシック" panose="020B0600070205080204" pitchFamily="34" charset="-128"/>
              </a:rPr>
              <a:t> α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ea typeface="ＭＳ Ｐゴシック" panose="020B0600070205080204" pitchFamily="34" charset="-128"/>
              </a:rPr>
              <a:t>nr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n</a:t>
            </a:r>
            <a:endParaRPr lang="en-US" altLang="zh-TW" i="1" dirty="0"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for n=0, 1, 2,. . .,where </a:t>
            </a:r>
            <a:r>
              <a:rPr lang="el-GR" altLang="zh-TW" dirty="0">
                <a:ea typeface="ＭＳ Ｐゴシック" panose="020B0600070205080204" pitchFamily="34" charset="-128"/>
              </a:rPr>
              <a:t>α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l-GR" altLang="zh-TW" dirty="0">
                <a:ea typeface="ＭＳ Ｐゴシック" panose="020B0600070205080204" pitchFamily="34" charset="-128"/>
              </a:rPr>
              <a:t>α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 </a:t>
            </a:r>
            <a:r>
              <a:rPr lang="en-US" altLang="zh-TW" dirty="0">
                <a:ea typeface="ＭＳ Ｐゴシック" panose="020B0600070205080204" pitchFamily="34" charset="-128"/>
              </a:rPr>
              <a:t>are constants to be determined by the initial conditions</a:t>
            </a:r>
          </a:p>
          <a:p>
            <a:pPr>
              <a:buFontTx/>
              <a:buNone/>
            </a:pPr>
            <a:endParaRPr lang="zh-TW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0193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標題 1">
            <a:extLst>
              <a:ext uri="{FF2B5EF4-FFF2-40B4-BE49-F238E27FC236}">
                <a16:creationId xmlns:a16="http://schemas.microsoft.com/office/drawing/2014/main" id="{3C1C9FB0-C63B-734A-BE22-005FB5094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1011237"/>
          </a:xfrm>
        </p:spPr>
        <p:txBody>
          <a:bodyPr/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32770" name="內容版面配置區 2">
            <a:extLst>
              <a:ext uri="{FF2B5EF4-FFF2-40B4-BE49-F238E27FC236}">
                <a16:creationId xmlns:a16="http://schemas.microsoft.com/office/drawing/2014/main" id="{5564A841-D831-DF4B-B485-95641A7408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16125" y="1481138"/>
            <a:ext cx="8459788" cy="5143500"/>
          </a:xfrm>
        </p:spPr>
        <p:txBody>
          <a:bodyPr/>
          <a:lstStyle/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Theorem 3: </a:t>
            </a:r>
            <a:r>
              <a:rPr lang="en-US" altLang="zh-TW" dirty="0">
                <a:ea typeface="ＭＳ Ｐゴシック" panose="020B0600070205080204" pitchFamily="34" charset="-128"/>
              </a:rPr>
              <a:t>Let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 ,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ea typeface="ＭＳ Ｐゴシック" panose="020B0600070205080204" pitchFamily="34" charset="-128"/>
              </a:rPr>
              <a:t> ,. . .,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k </a:t>
            </a:r>
            <a:r>
              <a:rPr lang="en-US" altLang="zh-TW" dirty="0">
                <a:ea typeface="ＭＳ Ｐゴシック" panose="020B0600070205080204" pitchFamily="34" charset="-128"/>
              </a:rPr>
              <a:t>be real numbers. Suppose that the characteristic equation </a:t>
            </a:r>
          </a:p>
          <a:p>
            <a:pPr algn="ctr"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r</a:t>
            </a:r>
            <a:r>
              <a:rPr lang="en-US" altLang="zh-TW" i="1" baseline="30000" dirty="0" err="1">
                <a:ea typeface="ＭＳ Ｐゴシック" panose="020B0600070205080204" pitchFamily="34" charset="-128"/>
              </a:rPr>
              <a:t>k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-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ea typeface="ＭＳ Ｐゴシック" panose="020B0600070205080204" pitchFamily="34" charset="-128"/>
              </a:rPr>
              <a:t>r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k-1 </a:t>
            </a:r>
            <a:r>
              <a:rPr lang="en-US" altLang="zh-TW" i="1" dirty="0">
                <a:ea typeface="ＭＳ Ｐゴシック" panose="020B0600070205080204" pitchFamily="34" charset="-128"/>
              </a:rPr>
              <a:t>- . . . -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k </a:t>
            </a:r>
            <a:r>
              <a:rPr lang="en-US" altLang="zh-TW" i="1" dirty="0">
                <a:ea typeface="ＭＳ Ｐゴシック" panose="020B0600070205080204" pitchFamily="34" charset="-128"/>
              </a:rPr>
              <a:t>= 0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has k distinct roots r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, r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ea typeface="ＭＳ Ｐゴシック" panose="020B0600070205080204" pitchFamily="34" charset="-128"/>
              </a:rPr>
              <a:t>,. . .,</a:t>
            </a:r>
            <a:r>
              <a:rPr lang="en-US" altLang="zh-TW" dirty="0" err="1">
                <a:ea typeface="ＭＳ Ｐゴシック" panose="020B0600070205080204" pitchFamily="34" charset="-128"/>
              </a:rPr>
              <a:t>r</a:t>
            </a:r>
            <a:r>
              <a:rPr lang="en-US" altLang="zh-TW" baseline="-25000" dirty="0" err="1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. Then a sequence 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{</a:t>
            </a:r>
            <a:r>
              <a:rPr lang="en-US" altLang="zh-TW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} </a:t>
            </a:r>
            <a:r>
              <a:rPr lang="en-US" altLang="zh-TW" dirty="0">
                <a:ea typeface="ＭＳ Ｐゴシック" panose="020B0600070205080204" pitchFamily="34" charset="-128"/>
              </a:rPr>
              <a:t>is a solution of the recurrence relation  </a:t>
            </a:r>
          </a:p>
          <a:p>
            <a:pPr algn="ctr">
              <a:buFontTx/>
              <a:buNone/>
            </a:pP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 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= c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+ c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n-2 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+. . . + 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-k</a:t>
            </a: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if and only if  </a:t>
            </a:r>
          </a:p>
          <a:p>
            <a:pPr algn="ctr">
              <a:buFontTx/>
              <a:buNone/>
            </a:pP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=</a:t>
            </a:r>
            <a:r>
              <a:rPr lang="el-GR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l-GR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α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i="1" baseline="30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+</a:t>
            </a:r>
            <a:r>
              <a:rPr lang="el-GR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l-GR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α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i="1" baseline="30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 +. . .+ </a:t>
            </a:r>
            <a:r>
              <a:rPr lang="el-GR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α</a:t>
            </a:r>
            <a:r>
              <a:rPr lang="en-US" altLang="zh-TW" i="1" baseline="-25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zh-TW" i="1" baseline="-25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i="1" baseline="30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for n=0, 1, 2,. . .,where </a:t>
            </a:r>
            <a:r>
              <a:rPr lang="el-GR" altLang="zh-TW" dirty="0">
                <a:ea typeface="ＭＳ Ｐゴシック" panose="020B0600070205080204" pitchFamily="34" charset="-128"/>
              </a:rPr>
              <a:t>α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, </a:t>
            </a:r>
            <a:r>
              <a:rPr lang="el-GR" altLang="zh-TW" dirty="0">
                <a:ea typeface="ＭＳ Ｐゴシック" panose="020B0600070205080204" pitchFamily="34" charset="-128"/>
              </a:rPr>
              <a:t>α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2 , </a:t>
            </a:r>
            <a:r>
              <a:rPr lang="en-US" altLang="zh-TW" dirty="0">
                <a:ea typeface="ＭＳ Ｐゴシック" panose="020B0600070205080204" pitchFamily="34" charset="-128"/>
              </a:rPr>
              <a:t>. . .,</a:t>
            </a:r>
            <a:r>
              <a:rPr lang="el-GR" altLang="zh-TW" dirty="0">
                <a:ea typeface="ＭＳ Ｐゴシック" panose="020B0600070205080204" pitchFamily="34" charset="-128"/>
              </a:rPr>
              <a:t> α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 are constants.</a:t>
            </a:r>
            <a:endParaRPr lang="zh-TW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2146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B617EC-1CF8-B94D-AF66-4306D771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25450"/>
            <a:ext cx="8229600" cy="939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TW" sz="3200" b="1" u="sng">
                <a:solidFill>
                  <a:srgbClr val="00B050"/>
                </a:solidFill>
                <a:ea typeface="ＭＳ Ｐゴシック" charset="0"/>
                <a:cs typeface="ＭＳ Ｐゴシック" charset="0"/>
              </a:rPr>
              <a:t>Solving Linear Homogeneous Recurrence Relations with Constant Coefficients</a:t>
            </a:r>
            <a:endParaRPr lang="zh-TW" altLang="en-US" sz="3200">
              <a:ea typeface="ＭＳ Ｐゴシック" charset="0"/>
              <a:cs typeface="ＭＳ Ｐゴシック" charset="0"/>
            </a:endParaRPr>
          </a:p>
        </p:txBody>
      </p:sp>
      <p:sp>
        <p:nvSpPr>
          <p:cNvPr id="33794" name="內容版面配置區 2">
            <a:extLst>
              <a:ext uri="{FF2B5EF4-FFF2-40B4-BE49-F238E27FC236}">
                <a16:creationId xmlns:a16="http://schemas.microsoft.com/office/drawing/2014/main" id="{9A910C60-EEE6-AB4A-9E18-973DA4FD1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2530476"/>
            <a:ext cx="8229600" cy="3038475"/>
          </a:xfrm>
        </p:spPr>
        <p:txBody>
          <a:bodyPr/>
          <a:lstStyle/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Example: </a:t>
            </a:r>
            <a:r>
              <a:rPr lang="en-US" altLang="zh-TW" dirty="0">
                <a:ea typeface="ＭＳ Ｐゴシック" panose="020B0600070205080204" pitchFamily="34" charset="-128"/>
              </a:rPr>
              <a:t>Find the solution to the recurrence relation</a:t>
            </a:r>
          </a:p>
          <a:p>
            <a:pPr algn="ctr"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  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6a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- 11a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 </a:t>
            </a:r>
            <a:r>
              <a:rPr lang="en-US" altLang="zh-TW" i="1" dirty="0">
                <a:ea typeface="ＭＳ Ｐゴシック" panose="020B0600070205080204" pitchFamily="34" charset="-128"/>
              </a:rPr>
              <a:t>+ 6a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n-3</a:t>
            </a: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With the initial conditions a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dirty="0">
                <a:ea typeface="ＭＳ Ｐゴシック" panose="020B0600070205080204" pitchFamily="34" charset="-128"/>
              </a:rPr>
              <a:t>=2 and a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=5, and a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ea typeface="ＭＳ Ｐゴシック" panose="020B0600070205080204" pitchFamily="34" charset="-128"/>
              </a:rPr>
              <a:t>=15.</a:t>
            </a:r>
          </a:p>
          <a:p>
            <a:pPr>
              <a:buFontTx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endParaRPr lang="zh-TW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7478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內容版面配置區 2">
            <a:extLst>
              <a:ext uri="{FF2B5EF4-FFF2-40B4-BE49-F238E27FC236}">
                <a16:creationId xmlns:a16="http://schemas.microsoft.com/office/drawing/2014/main" id="{B7119B2E-0810-7240-B4D7-9814C1B2B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43100" y="0"/>
            <a:ext cx="8229600" cy="1917700"/>
          </a:xfrm>
        </p:spPr>
        <p:txBody>
          <a:bodyPr/>
          <a:lstStyle/>
          <a:p>
            <a:r>
              <a:rPr lang="en-US" altLang="zh-TW">
                <a:solidFill>
                  <a:srgbClr val="00B050"/>
                </a:solidFill>
                <a:ea typeface="ＭＳ Ｐゴシック" panose="020B0600070205080204" pitchFamily="34" charset="-128"/>
              </a:rPr>
              <a:t>Example 6: </a:t>
            </a:r>
            <a:r>
              <a:rPr lang="en-US" altLang="zh-TW">
                <a:ea typeface="ＭＳ Ｐゴシック" panose="020B0600070205080204" pitchFamily="34" charset="-128"/>
              </a:rPr>
              <a:t>Find the solution to the recurrence relation</a:t>
            </a:r>
            <a:r>
              <a:rPr lang="en-US" altLang="zh-TW" i="1">
                <a:ea typeface="ＭＳ Ｐゴシック" panose="020B0600070205080204" pitchFamily="34" charset="-128"/>
              </a:rPr>
              <a:t>    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 i="1">
                <a:ea typeface="ＭＳ Ｐゴシック" panose="020B0600070205080204" pitchFamily="34" charset="-128"/>
              </a:rPr>
              <a:t> = 6a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n-1 </a:t>
            </a:r>
            <a:r>
              <a:rPr lang="en-US" altLang="zh-TW" i="1">
                <a:ea typeface="ＭＳ Ｐゴシック" panose="020B0600070205080204" pitchFamily="34" charset="-128"/>
              </a:rPr>
              <a:t>- 11a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n-2 </a:t>
            </a:r>
            <a:r>
              <a:rPr lang="en-US" altLang="zh-TW" i="1">
                <a:ea typeface="ＭＳ Ｐゴシック" panose="020B0600070205080204" pitchFamily="34" charset="-128"/>
              </a:rPr>
              <a:t>+ 6a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n-3</a:t>
            </a:r>
          </a:p>
          <a:p>
            <a:pPr>
              <a:buFontTx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    With the initial conditions a</a:t>
            </a:r>
            <a:r>
              <a:rPr lang="en-US" altLang="zh-TW" baseline="-25000">
                <a:ea typeface="ＭＳ Ｐゴシック" panose="020B0600070205080204" pitchFamily="34" charset="-128"/>
              </a:rPr>
              <a:t>0</a:t>
            </a:r>
            <a:r>
              <a:rPr lang="en-US" altLang="zh-TW">
                <a:ea typeface="ＭＳ Ｐゴシック" panose="020B0600070205080204" pitchFamily="34" charset="-128"/>
              </a:rPr>
              <a:t>=2 and a</a:t>
            </a:r>
            <a:r>
              <a:rPr lang="en-US" altLang="zh-TW" baseline="-25000">
                <a:ea typeface="ＭＳ Ｐゴシック" panose="020B0600070205080204" pitchFamily="34" charset="-128"/>
              </a:rPr>
              <a:t>1</a:t>
            </a:r>
            <a:r>
              <a:rPr lang="en-US" altLang="zh-TW">
                <a:ea typeface="ＭＳ Ｐゴシック" panose="020B0600070205080204" pitchFamily="34" charset="-128"/>
              </a:rPr>
              <a:t>=5, and a</a:t>
            </a:r>
            <a:r>
              <a:rPr lang="en-US" altLang="zh-TW" baseline="-25000">
                <a:ea typeface="ＭＳ Ｐゴシック" panose="020B0600070205080204" pitchFamily="34" charset="-128"/>
              </a:rPr>
              <a:t>2</a:t>
            </a:r>
            <a:r>
              <a:rPr lang="en-US" altLang="zh-TW">
                <a:ea typeface="ＭＳ Ｐゴシック" panose="020B0600070205080204" pitchFamily="34" charset="-128"/>
              </a:rPr>
              <a:t>=15.</a:t>
            </a:r>
          </a:p>
          <a:p>
            <a:pPr>
              <a:buFontTx/>
              <a:buNone/>
            </a:pPr>
            <a:endParaRPr lang="en-US" altLang="zh-TW">
              <a:ea typeface="ＭＳ Ｐゴシック" panose="020B0600070205080204" pitchFamily="34" charset="-128"/>
            </a:endParaRPr>
          </a:p>
          <a:p>
            <a:endParaRPr lang="zh-TW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34818" name="Object 3">
            <a:extLst>
              <a:ext uri="{FF2B5EF4-FFF2-40B4-BE49-F238E27FC236}">
                <a16:creationId xmlns:a16="http://schemas.microsoft.com/office/drawing/2014/main" id="{C520392C-611A-C14B-8917-EE10DE3FF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6600" y="1892300"/>
          <a:ext cx="8256588" cy="416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2819400" imgH="1422400" progId="Equation.3">
                  <p:embed/>
                </p:oleObj>
              </mc:Choice>
              <mc:Fallback>
                <p:oleObj name="Equation" r:id="rId3" imgW="2819400" imgH="1422400" progId="Equation.3">
                  <p:embed/>
                  <p:pic>
                    <p:nvPicPr>
                      <p:cNvPr id="34818" name="Object 3">
                        <a:extLst>
                          <a:ext uri="{FF2B5EF4-FFF2-40B4-BE49-F238E27FC236}">
                            <a16:creationId xmlns:a16="http://schemas.microsoft.com/office/drawing/2014/main" id="{C520392C-611A-C14B-8917-EE10DE3FF2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1892300"/>
                        <a:ext cx="8256588" cy="416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369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標題 1">
            <a:extLst>
              <a:ext uri="{FF2B5EF4-FFF2-40B4-BE49-F238E27FC236}">
                <a16:creationId xmlns:a16="http://schemas.microsoft.com/office/drawing/2014/main" id="{8FEB291C-C06D-6641-AEE6-6C5D288CF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4063" y="142876"/>
            <a:ext cx="8229600" cy="868363"/>
          </a:xfrm>
        </p:spPr>
        <p:txBody>
          <a:bodyPr/>
          <a:lstStyle/>
          <a:p>
            <a:r>
              <a:rPr lang="en-US" altLang="zh-TW" sz="28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</a:t>
            </a:r>
            <a:endParaRPr lang="zh-TW" altLang="en-US" sz="2800">
              <a:ea typeface="ＭＳ Ｐゴシック" panose="020B0600070205080204" pitchFamily="34" charset="-128"/>
            </a:endParaRPr>
          </a:p>
        </p:txBody>
      </p:sp>
      <p:sp>
        <p:nvSpPr>
          <p:cNvPr id="35842" name="內容版面配置區 2">
            <a:extLst>
              <a:ext uri="{FF2B5EF4-FFF2-40B4-BE49-F238E27FC236}">
                <a16:creationId xmlns:a16="http://schemas.microsoft.com/office/drawing/2014/main" id="{30B4CCA7-3B8D-6C47-8251-C98A0E4F9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071564"/>
            <a:ext cx="8229600" cy="578643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700">
                <a:solidFill>
                  <a:srgbClr val="00B050"/>
                </a:solidFill>
                <a:ea typeface="ＭＳ Ｐゴシック" panose="020B0600070205080204" pitchFamily="34" charset="-128"/>
              </a:rPr>
              <a:t>Theorem 4: </a:t>
            </a:r>
            <a:r>
              <a:rPr lang="en-US" altLang="zh-TW" sz="2700">
                <a:ea typeface="ＭＳ Ｐゴシック" panose="020B0600070205080204" pitchFamily="34" charset="-128"/>
              </a:rPr>
              <a:t>Let </a:t>
            </a:r>
            <a:r>
              <a:rPr lang="en-US" altLang="zh-TW" sz="2700" i="1">
                <a:ea typeface="ＭＳ Ｐゴシック" panose="020B0600070205080204" pitchFamily="34" charset="-128"/>
              </a:rPr>
              <a:t>c</a:t>
            </a:r>
            <a:r>
              <a:rPr lang="en-US" altLang="zh-TW" sz="2700" i="1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700">
                <a:ea typeface="ＭＳ Ｐゴシック" panose="020B0600070205080204" pitchFamily="34" charset="-128"/>
              </a:rPr>
              <a:t> , </a:t>
            </a:r>
            <a:r>
              <a:rPr lang="en-US" altLang="zh-TW" sz="2700" i="1">
                <a:ea typeface="ＭＳ Ｐゴシック" panose="020B0600070205080204" pitchFamily="34" charset="-128"/>
              </a:rPr>
              <a:t>c</a:t>
            </a:r>
            <a:r>
              <a:rPr lang="en-US" altLang="zh-TW" sz="2700" i="1" baseline="-25000">
                <a:ea typeface="ＭＳ Ｐゴシック" panose="020B0600070205080204" pitchFamily="34" charset="-128"/>
              </a:rPr>
              <a:t>2</a:t>
            </a:r>
            <a:r>
              <a:rPr lang="en-US" altLang="zh-TW" sz="2700">
                <a:ea typeface="ＭＳ Ｐゴシック" panose="020B0600070205080204" pitchFamily="34" charset="-128"/>
              </a:rPr>
              <a:t> ,. . ., </a:t>
            </a:r>
            <a:r>
              <a:rPr lang="en-US" altLang="zh-TW" sz="2700" i="1">
                <a:ea typeface="ＭＳ Ｐゴシック" panose="020B0600070205080204" pitchFamily="34" charset="-128"/>
              </a:rPr>
              <a:t>c</a:t>
            </a:r>
            <a:r>
              <a:rPr lang="en-US" altLang="zh-TW" sz="2700" i="1" baseline="-25000">
                <a:ea typeface="ＭＳ Ｐゴシック" panose="020B0600070205080204" pitchFamily="34" charset="-128"/>
              </a:rPr>
              <a:t>k </a:t>
            </a:r>
            <a:r>
              <a:rPr lang="en-US" altLang="zh-TW" sz="2700">
                <a:ea typeface="ＭＳ Ｐゴシック" panose="020B0600070205080204" pitchFamily="34" charset="-128"/>
              </a:rPr>
              <a:t>be real numbers. Suppose that the characteristic equation 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zh-TW" sz="2700">
                <a:ea typeface="ＭＳ Ｐゴシック" panose="020B0600070205080204" pitchFamily="34" charset="-128"/>
              </a:rPr>
              <a:t> </a:t>
            </a:r>
            <a:r>
              <a:rPr lang="en-US" altLang="zh-TW" sz="2700" i="1">
                <a:ea typeface="ＭＳ Ｐゴシック" panose="020B0600070205080204" pitchFamily="34" charset="-128"/>
              </a:rPr>
              <a:t>r</a:t>
            </a:r>
            <a:r>
              <a:rPr lang="en-US" altLang="zh-TW" sz="2700" i="1" baseline="30000">
                <a:ea typeface="ＭＳ Ｐゴシック" panose="020B0600070205080204" pitchFamily="34" charset="-128"/>
              </a:rPr>
              <a:t>k</a:t>
            </a:r>
            <a:r>
              <a:rPr lang="en-US" altLang="zh-TW" sz="2700" i="1">
                <a:ea typeface="ＭＳ Ｐゴシック" panose="020B0600070205080204" pitchFamily="34" charset="-128"/>
              </a:rPr>
              <a:t>-c</a:t>
            </a:r>
            <a:r>
              <a:rPr lang="en-US" altLang="zh-TW" sz="2700" i="1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700" i="1">
                <a:ea typeface="ＭＳ Ｐゴシック" panose="020B0600070205080204" pitchFamily="34" charset="-128"/>
              </a:rPr>
              <a:t>r</a:t>
            </a:r>
            <a:r>
              <a:rPr lang="en-US" altLang="zh-TW" sz="2700" i="1" baseline="30000">
                <a:ea typeface="ＭＳ Ｐゴシック" panose="020B0600070205080204" pitchFamily="34" charset="-128"/>
              </a:rPr>
              <a:t>k-1</a:t>
            </a:r>
            <a:r>
              <a:rPr lang="en-US" altLang="zh-TW" sz="2700" i="1">
                <a:ea typeface="ＭＳ Ｐゴシック" panose="020B0600070205080204" pitchFamily="34" charset="-128"/>
              </a:rPr>
              <a:t>-. . .- c</a:t>
            </a:r>
            <a:r>
              <a:rPr lang="en-US" altLang="zh-TW" sz="2700" i="1" baseline="-25000">
                <a:ea typeface="ＭＳ Ｐゴシック" panose="020B0600070205080204" pitchFamily="34" charset="-128"/>
              </a:rPr>
              <a:t>k</a:t>
            </a:r>
            <a:r>
              <a:rPr lang="en-US" altLang="zh-TW" sz="2700" i="1">
                <a:ea typeface="ＭＳ Ｐゴシック" panose="020B0600070205080204" pitchFamily="34" charset="-128"/>
              </a:rPr>
              <a:t>= 0</a:t>
            </a:r>
            <a:r>
              <a:rPr lang="en-US" altLang="zh-TW" sz="270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700">
                <a:ea typeface="ＭＳ Ｐゴシック" panose="020B0600070205080204" pitchFamily="34" charset="-128"/>
              </a:rPr>
              <a:t>    has t distinct roots r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700">
                <a:ea typeface="ＭＳ Ｐゴシック" panose="020B0600070205080204" pitchFamily="34" charset="-128"/>
              </a:rPr>
              <a:t>, r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2</a:t>
            </a:r>
            <a:r>
              <a:rPr lang="en-US" altLang="zh-TW" sz="2700">
                <a:ea typeface="ＭＳ Ｐゴシック" panose="020B0600070205080204" pitchFamily="34" charset="-128"/>
              </a:rPr>
              <a:t>,. . .,r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t</a:t>
            </a:r>
            <a:r>
              <a:rPr lang="en-US" altLang="zh-TW" sz="2700">
                <a:ea typeface="ＭＳ Ｐゴシック" panose="020B0600070205080204" pitchFamily="34" charset="-128"/>
              </a:rPr>
              <a:t> with multiplicities m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700">
                <a:ea typeface="ＭＳ Ｐゴシック" panose="020B0600070205080204" pitchFamily="34" charset="-128"/>
              </a:rPr>
              <a:t>, m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2</a:t>
            </a:r>
            <a:r>
              <a:rPr lang="en-US" altLang="zh-TW" sz="2700">
                <a:ea typeface="ＭＳ Ｐゴシック" panose="020B0600070205080204" pitchFamily="34" charset="-128"/>
              </a:rPr>
              <a:t>,. . .,m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t</a:t>
            </a:r>
            <a:r>
              <a:rPr lang="en-US" altLang="zh-TW" sz="2700">
                <a:ea typeface="ＭＳ Ｐゴシック" panose="020B0600070205080204" pitchFamily="34" charset="-128"/>
              </a:rPr>
              <a:t> , respectively, so that m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i</a:t>
            </a:r>
            <a:r>
              <a:rPr lang="en-US" altLang="zh-TW" sz="2700">
                <a:ea typeface="ＭＳ Ｐゴシック" panose="020B0600070205080204" pitchFamily="34" charset="-128"/>
              </a:rPr>
              <a:t> ≧ </a:t>
            </a:r>
            <a:r>
              <a:rPr lang="en-US" altLang="zh-TW" sz="2700" i="1">
                <a:ea typeface="ＭＳ Ｐゴシック" panose="020B0600070205080204" pitchFamily="34" charset="-128"/>
              </a:rPr>
              <a:t>1 </a:t>
            </a:r>
            <a:r>
              <a:rPr lang="en-US" altLang="zh-TW" sz="2700">
                <a:ea typeface="ＭＳ Ｐゴシック" panose="020B0600070205080204" pitchFamily="34" charset="-128"/>
              </a:rPr>
              <a:t>for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700" i="1">
                <a:ea typeface="ＭＳ Ｐゴシック" panose="020B0600070205080204" pitchFamily="34" charset="-128"/>
              </a:rPr>
              <a:t>     i</a:t>
            </a:r>
            <a:r>
              <a:rPr lang="en-US" altLang="zh-TW" sz="2700">
                <a:ea typeface="ＭＳ Ｐゴシック" panose="020B0600070205080204" pitchFamily="34" charset="-128"/>
              </a:rPr>
              <a:t>= 1, 2,. . ., t and m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700">
                <a:ea typeface="ＭＳ Ｐゴシック" panose="020B0600070205080204" pitchFamily="34" charset="-128"/>
              </a:rPr>
              <a:t>+ m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2</a:t>
            </a:r>
            <a:r>
              <a:rPr lang="en-US" altLang="zh-TW" sz="2700">
                <a:ea typeface="ＭＳ Ｐゴシック" panose="020B0600070205080204" pitchFamily="34" charset="-128"/>
              </a:rPr>
              <a:t>+. . .+m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t</a:t>
            </a:r>
            <a:r>
              <a:rPr lang="en-US" altLang="zh-TW" sz="2700">
                <a:ea typeface="ＭＳ Ｐゴシック" panose="020B0600070205080204" pitchFamily="34" charset="-128"/>
              </a:rPr>
              <a:t> =k. Then a sequence  {</a:t>
            </a:r>
            <a:r>
              <a:rPr lang="en-US" altLang="zh-TW" sz="2700" i="1">
                <a:ea typeface="ＭＳ Ｐゴシック" panose="020B0600070205080204" pitchFamily="34" charset="-128"/>
              </a:rPr>
              <a:t>a</a:t>
            </a:r>
            <a:r>
              <a:rPr lang="en-US" altLang="zh-TW" sz="2700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 sz="2700">
                <a:ea typeface="ＭＳ Ｐゴシック" panose="020B0600070205080204" pitchFamily="34" charset="-128"/>
              </a:rPr>
              <a:t>} is a solution of the recurrence relation 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=c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n-1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+c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n-2 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+. . . +c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n-k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700">
                <a:ea typeface="ＭＳ Ｐゴシック" panose="020B0600070205080204" pitchFamily="34" charset="-128"/>
              </a:rPr>
              <a:t>    if and only if 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= ( </a:t>
            </a:r>
            <a:r>
              <a:rPr lang="el-GR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α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1 , 0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+</a:t>
            </a:r>
            <a:r>
              <a:rPr lang="el-GR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 α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1, 1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n +. . .+ </a:t>
            </a:r>
            <a:r>
              <a:rPr lang="el-GR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α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1, m</a:t>
            </a:r>
            <a:r>
              <a:rPr lang="en-US" altLang="zh-TW" sz="2700" i="1" baseline="-40000">
                <a:solidFill>
                  <a:srgbClr val="0070C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-1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700" i="1" baseline="30000">
                <a:solidFill>
                  <a:srgbClr val="0070C0"/>
                </a:solidFill>
                <a:ea typeface="ＭＳ Ｐゴシック" panose="020B0600070205080204" pitchFamily="34" charset="-128"/>
              </a:rPr>
              <a:t>m</a:t>
            </a:r>
            <a:r>
              <a:rPr lang="en-US" altLang="zh-TW" sz="2700" i="1" baseline="10000">
                <a:solidFill>
                  <a:srgbClr val="0070C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700" i="1" baseline="30000">
                <a:solidFill>
                  <a:srgbClr val="0070C0"/>
                </a:solidFill>
                <a:ea typeface="ＭＳ Ｐゴシック" panose="020B0600070205080204" pitchFamily="34" charset="-128"/>
              </a:rPr>
              <a:t>-1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)  r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700" i="1" baseline="30000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+ ( </a:t>
            </a:r>
            <a:r>
              <a:rPr lang="el-GR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α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2 , 0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+</a:t>
            </a:r>
            <a:r>
              <a:rPr lang="el-GR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 α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2 , 1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n +. . .+ </a:t>
            </a:r>
            <a:r>
              <a:rPr lang="el-GR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α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2, m</a:t>
            </a:r>
            <a:r>
              <a:rPr lang="en-US" altLang="zh-TW" sz="2700" i="1" baseline="-40000">
                <a:solidFill>
                  <a:srgbClr val="0070C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-1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700" i="1" baseline="30000">
                <a:solidFill>
                  <a:srgbClr val="0070C0"/>
                </a:solidFill>
                <a:ea typeface="ＭＳ Ｐゴシック" panose="020B0600070205080204" pitchFamily="34" charset="-128"/>
              </a:rPr>
              <a:t>m</a:t>
            </a:r>
            <a:r>
              <a:rPr lang="en-US" altLang="zh-TW" sz="2700" i="1" baseline="10000">
                <a:solidFill>
                  <a:srgbClr val="0070C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sz="2700" i="1" baseline="30000">
                <a:solidFill>
                  <a:srgbClr val="0070C0"/>
                </a:solidFill>
                <a:ea typeface="ＭＳ Ｐゴシック" panose="020B0600070205080204" pitchFamily="34" charset="-128"/>
              </a:rPr>
              <a:t>-1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)  r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sz="2700" i="1" baseline="30000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endParaRPr lang="en-US" altLang="zh-TW" sz="2700" i="1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+  … +( </a:t>
            </a:r>
            <a:r>
              <a:rPr lang="el-GR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α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t , 0 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+</a:t>
            </a:r>
            <a:r>
              <a:rPr lang="el-GR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 α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t , 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n +. . .+ </a:t>
            </a:r>
            <a:r>
              <a:rPr lang="el-GR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α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t, m</a:t>
            </a:r>
            <a:r>
              <a:rPr lang="en-US" altLang="zh-TW" sz="2700" i="1" baseline="-40000">
                <a:solidFill>
                  <a:srgbClr val="0070C0"/>
                </a:solidFill>
                <a:ea typeface="ＭＳ Ｐゴシック" panose="020B0600070205080204" pitchFamily="34" charset="-128"/>
              </a:rPr>
              <a:t>t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-1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700" i="1" baseline="30000">
                <a:solidFill>
                  <a:srgbClr val="0070C0"/>
                </a:solidFill>
                <a:ea typeface="ＭＳ Ｐゴシック" panose="020B0600070205080204" pitchFamily="34" charset="-128"/>
              </a:rPr>
              <a:t>m</a:t>
            </a:r>
            <a:r>
              <a:rPr lang="en-US" altLang="zh-TW" sz="2700" i="1" baseline="10000">
                <a:solidFill>
                  <a:srgbClr val="0070C0"/>
                </a:solidFill>
                <a:ea typeface="ＭＳ Ｐゴシック" panose="020B0600070205080204" pitchFamily="34" charset="-128"/>
              </a:rPr>
              <a:t>t</a:t>
            </a:r>
            <a:r>
              <a:rPr lang="en-US" altLang="zh-TW" sz="2700" i="1" baseline="30000">
                <a:solidFill>
                  <a:srgbClr val="0070C0"/>
                </a:solidFill>
                <a:ea typeface="ＭＳ Ｐゴシック" panose="020B0600070205080204" pitchFamily="34" charset="-128"/>
              </a:rPr>
              <a:t>-1</a:t>
            </a:r>
            <a:r>
              <a:rPr lang="en-US" altLang="zh-TW" sz="2700" i="1">
                <a:solidFill>
                  <a:srgbClr val="0070C0"/>
                </a:solidFill>
                <a:ea typeface="ＭＳ Ｐゴシック" panose="020B0600070205080204" pitchFamily="34" charset="-128"/>
              </a:rPr>
              <a:t>)  r</a:t>
            </a:r>
            <a:r>
              <a:rPr lang="en-US" altLang="zh-TW" sz="2700" i="1" baseline="-25000">
                <a:solidFill>
                  <a:srgbClr val="0070C0"/>
                </a:solidFill>
                <a:ea typeface="ＭＳ Ｐゴシック" panose="020B0600070205080204" pitchFamily="34" charset="-128"/>
              </a:rPr>
              <a:t>t</a:t>
            </a:r>
            <a:r>
              <a:rPr lang="en-US" altLang="zh-TW" sz="2700" i="1" baseline="30000">
                <a:solidFill>
                  <a:srgbClr val="0070C0"/>
                </a:solidFill>
                <a:ea typeface="ＭＳ Ｐゴシック" panose="020B0600070205080204" pitchFamily="34" charset="-128"/>
              </a:rPr>
              <a:t>n</a:t>
            </a:r>
            <a:endParaRPr lang="en-US" altLang="zh-TW" sz="2700" i="1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700">
                <a:ea typeface="ＭＳ Ｐゴシック" panose="020B0600070205080204" pitchFamily="34" charset="-128"/>
              </a:rPr>
              <a:t>    for n=0, 1, 2,. . .,where </a:t>
            </a:r>
            <a:r>
              <a:rPr lang="el-GR" altLang="zh-TW" sz="2700">
                <a:ea typeface="ＭＳ Ｐゴシック" panose="020B0600070205080204" pitchFamily="34" charset="-128"/>
              </a:rPr>
              <a:t>α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700">
                <a:ea typeface="ＭＳ Ｐゴシック" panose="020B0600070205080204" pitchFamily="34" charset="-128"/>
              </a:rPr>
              <a:t>, </a:t>
            </a:r>
            <a:r>
              <a:rPr lang="el-GR" altLang="zh-TW" sz="2700">
                <a:ea typeface="ＭＳ Ｐゴシック" panose="020B0600070205080204" pitchFamily="34" charset="-128"/>
              </a:rPr>
              <a:t>α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2 , </a:t>
            </a:r>
            <a:r>
              <a:rPr lang="en-US" altLang="zh-TW" sz="2700">
                <a:ea typeface="ＭＳ Ｐゴシック" panose="020B0600070205080204" pitchFamily="34" charset="-128"/>
              </a:rPr>
              <a:t>. . .,</a:t>
            </a:r>
            <a:r>
              <a:rPr lang="el-GR" altLang="zh-TW" sz="2700">
                <a:ea typeface="ＭＳ Ｐゴシック" panose="020B0600070205080204" pitchFamily="34" charset="-128"/>
              </a:rPr>
              <a:t> α</a:t>
            </a:r>
            <a:r>
              <a:rPr lang="en-US" altLang="zh-TW" sz="2700" baseline="-25000">
                <a:ea typeface="ＭＳ Ｐゴシック" panose="020B0600070205080204" pitchFamily="34" charset="-128"/>
              </a:rPr>
              <a:t>k</a:t>
            </a:r>
            <a:r>
              <a:rPr lang="en-US" altLang="zh-TW" sz="2700">
                <a:ea typeface="ＭＳ Ｐゴシック" panose="020B0600070205080204" pitchFamily="34" charset="-128"/>
              </a:rPr>
              <a:t> are constants</a:t>
            </a:r>
            <a:endParaRPr lang="zh-TW" altLang="en-US" sz="2700">
              <a:ea typeface="ＭＳ Ｐゴシック" panose="020B0600070205080204" pitchFamily="34" charset="-128"/>
            </a:endParaRPr>
          </a:p>
        </p:txBody>
      </p:sp>
      <p:sp>
        <p:nvSpPr>
          <p:cNvPr id="35843" name="投影片編號版面配置區 3">
            <a:extLst>
              <a:ext uri="{FF2B5EF4-FFF2-40B4-BE49-F238E27FC236}">
                <a16:creationId xmlns:a16="http://schemas.microsoft.com/office/drawing/2014/main" id="{D64202A4-3F28-0B43-8626-14A47504D9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75AE72-E6E4-444D-975C-EABB0C42308D}" type="slidenum">
              <a:rPr lang="zh-TW" altLang="en-US" sz="140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zh-TW" alt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820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標題 1">
            <a:extLst>
              <a:ext uri="{FF2B5EF4-FFF2-40B4-BE49-F238E27FC236}">
                <a16:creationId xmlns:a16="http://schemas.microsoft.com/office/drawing/2014/main" id="{C77990A9-D94C-924F-996E-C42F6A1CE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36866" name="內容版面配置區 2">
            <a:extLst>
              <a:ext uri="{FF2B5EF4-FFF2-40B4-BE49-F238E27FC236}">
                <a16:creationId xmlns:a16="http://schemas.microsoft.com/office/drawing/2014/main" id="{31C77A33-6306-BC46-BBE1-FCF2C88ACE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489075"/>
            <a:ext cx="8229600" cy="5214938"/>
          </a:xfrm>
        </p:spPr>
        <p:txBody>
          <a:bodyPr/>
          <a:lstStyle/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Example: </a:t>
            </a:r>
            <a:r>
              <a:rPr lang="en-US" altLang="zh-TW" dirty="0">
                <a:ea typeface="ＭＳ Ｐゴシック" panose="020B0600070205080204" pitchFamily="34" charset="-128"/>
              </a:rPr>
              <a:t>Suppose that the roots of the characteristic equation of a linear homogeneous recurrence relation are 2, 2, 2, 5, 5, and 9 (that is, there are three roots, the root 2 with multiplicity three, the root 5 with multiplicity two, and the root 9 with multiplicity one). 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What is the form of the general solution?</a:t>
            </a:r>
          </a:p>
        </p:txBody>
      </p:sp>
      <p:graphicFrame>
        <p:nvGraphicFramePr>
          <p:cNvPr id="36867" name="Object 1">
            <a:extLst>
              <a:ext uri="{FF2B5EF4-FFF2-40B4-BE49-F238E27FC236}">
                <a16:creationId xmlns:a16="http://schemas.microsoft.com/office/drawing/2014/main" id="{E6C247AA-9AA1-8F49-93DC-B025225D9C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8651" y="5111750"/>
          <a:ext cx="82899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2692400" imgH="241300" progId="Equation.3">
                  <p:embed/>
                </p:oleObj>
              </mc:Choice>
              <mc:Fallback>
                <p:oleObj name="Equation" r:id="rId3" imgW="2692400" imgH="241300" progId="Equation.3">
                  <p:embed/>
                  <p:pic>
                    <p:nvPicPr>
                      <p:cNvPr id="36867" name="Object 1">
                        <a:extLst>
                          <a:ext uri="{FF2B5EF4-FFF2-40B4-BE49-F238E27FC236}">
                            <a16:creationId xmlns:a16="http://schemas.microsoft.com/office/drawing/2014/main" id="{E6C247AA-9AA1-8F49-93DC-B025225D9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1" y="5111750"/>
                        <a:ext cx="82899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4998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標題 1">
            <a:extLst>
              <a:ext uri="{FF2B5EF4-FFF2-40B4-BE49-F238E27FC236}">
                <a16:creationId xmlns:a16="http://schemas.microsoft.com/office/drawing/2014/main" id="{375722C6-B694-B746-A790-3A9088BA7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37890" name="內容版面配置區 2">
            <a:extLst>
              <a:ext uri="{FF2B5EF4-FFF2-40B4-BE49-F238E27FC236}">
                <a16:creationId xmlns:a16="http://schemas.microsoft.com/office/drawing/2014/main" id="{ECBC8676-050F-3B43-ADB9-7DACB8A227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489075"/>
            <a:ext cx="8229600" cy="5214938"/>
          </a:xfrm>
        </p:spPr>
        <p:txBody>
          <a:bodyPr/>
          <a:lstStyle/>
          <a:p>
            <a:r>
              <a:rPr lang="en-US" altLang="zh-TW">
                <a:solidFill>
                  <a:srgbClr val="00B050"/>
                </a:solidFill>
                <a:ea typeface="ＭＳ Ｐゴシック" panose="020B0600070205080204" pitchFamily="34" charset="-128"/>
              </a:rPr>
              <a:t>Example 8: </a:t>
            </a:r>
            <a:r>
              <a:rPr lang="en-US" altLang="zh-TW">
                <a:ea typeface="ＭＳ Ｐゴシック" panose="020B0600070205080204" pitchFamily="34" charset="-128"/>
              </a:rPr>
              <a:t>Find the solution to the recurrence relation     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 i="1">
                <a:ea typeface="ＭＳ Ｐゴシック" panose="020B0600070205080204" pitchFamily="34" charset="-128"/>
              </a:rPr>
              <a:t> = -3a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n-1 </a:t>
            </a:r>
            <a:r>
              <a:rPr lang="en-US" altLang="zh-TW" i="1">
                <a:ea typeface="ＭＳ Ｐゴシック" panose="020B0600070205080204" pitchFamily="34" charset="-128"/>
              </a:rPr>
              <a:t>- 3a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n-2 </a:t>
            </a:r>
            <a:r>
              <a:rPr lang="en-US" altLang="zh-TW" i="1">
                <a:ea typeface="ＭＳ Ｐゴシック" panose="020B0600070205080204" pitchFamily="34" charset="-128"/>
              </a:rPr>
              <a:t>- 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n-3</a:t>
            </a:r>
          </a:p>
          <a:p>
            <a:pPr>
              <a:buFontTx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With the initial conditions</a:t>
            </a:r>
            <a:r>
              <a:rPr lang="en-US" altLang="zh-TW" i="1">
                <a:ea typeface="ＭＳ Ｐゴシック" panose="020B0600070205080204" pitchFamily="34" charset="-128"/>
              </a:rPr>
              <a:t> 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0</a:t>
            </a:r>
            <a:r>
              <a:rPr lang="en-US" altLang="zh-TW" i="1">
                <a:ea typeface="ＭＳ Ｐゴシック" panose="020B0600070205080204" pitchFamily="34" charset="-128"/>
              </a:rPr>
              <a:t>=1 </a:t>
            </a:r>
            <a:r>
              <a:rPr lang="en-US" altLang="zh-TW">
                <a:ea typeface="ＭＳ Ｐゴシック" panose="020B0600070205080204" pitchFamily="34" charset="-128"/>
              </a:rPr>
              <a:t>and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1</a:t>
            </a:r>
            <a:r>
              <a:rPr lang="en-US" altLang="zh-TW">
                <a:ea typeface="ＭＳ Ｐゴシック" panose="020B0600070205080204" pitchFamily="34" charset="-128"/>
              </a:rPr>
              <a:t>=-2, and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2</a:t>
            </a:r>
            <a:r>
              <a:rPr lang="en-US" altLang="zh-TW">
                <a:ea typeface="ＭＳ Ｐゴシック" panose="020B0600070205080204" pitchFamily="34" charset="-128"/>
              </a:rPr>
              <a:t>=-1.</a:t>
            </a:r>
            <a:endParaRPr lang="zh-TW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5771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內容版面配置區 2">
            <a:extLst>
              <a:ext uri="{FF2B5EF4-FFF2-40B4-BE49-F238E27FC236}">
                <a16:creationId xmlns:a16="http://schemas.microsoft.com/office/drawing/2014/main" id="{27EE89EF-3817-D949-8BC5-83021F7818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489075"/>
            <a:ext cx="8229600" cy="5214938"/>
          </a:xfrm>
        </p:spPr>
        <p:txBody>
          <a:bodyPr/>
          <a:lstStyle/>
          <a:p>
            <a:r>
              <a:rPr lang="en-US" altLang="zh-TW">
                <a:solidFill>
                  <a:srgbClr val="00B050"/>
                </a:solidFill>
                <a:ea typeface="ＭＳ Ｐゴシック" panose="020B0600070205080204" pitchFamily="34" charset="-128"/>
              </a:rPr>
              <a:t>Example 8: </a:t>
            </a:r>
            <a:r>
              <a:rPr lang="en-US" altLang="zh-TW">
                <a:ea typeface="ＭＳ Ｐゴシック" panose="020B0600070205080204" pitchFamily="34" charset="-128"/>
              </a:rPr>
              <a:t>Find the solution to the recurrence relation     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 i="1">
                <a:ea typeface="ＭＳ Ｐゴシック" panose="020B0600070205080204" pitchFamily="34" charset="-128"/>
              </a:rPr>
              <a:t> = -3a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n-1 </a:t>
            </a:r>
            <a:r>
              <a:rPr lang="en-US" altLang="zh-TW" i="1">
                <a:ea typeface="ＭＳ Ｐゴシック" panose="020B0600070205080204" pitchFamily="34" charset="-128"/>
              </a:rPr>
              <a:t>- 3a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n-2 </a:t>
            </a:r>
            <a:r>
              <a:rPr lang="en-US" altLang="zh-TW" i="1">
                <a:ea typeface="ＭＳ Ｐゴシック" panose="020B0600070205080204" pitchFamily="34" charset="-128"/>
              </a:rPr>
              <a:t>- 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n-3</a:t>
            </a:r>
          </a:p>
          <a:p>
            <a:pPr>
              <a:buFontTx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With the initial conditions</a:t>
            </a:r>
            <a:r>
              <a:rPr lang="en-US" altLang="zh-TW" i="1">
                <a:ea typeface="ＭＳ Ｐゴシック" panose="020B0600070205080204" pitchFamily="34" charset="-128"/>
              </a:rPr>
              <a:t> 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0</a:t>
            </a:r>
            <a:r>
              <a:rPr lang="en-US" altLang="zh-TW" i="1">
                <a:ea typeface="ＭＳ Ｐゴシック" panose="020B0600070205080204" pitchFamily="34" charset="-128"/>
              </a:rPr>
              <a:t>=1 </a:t>
            </a:r>
            <a:r>
              <a:rPr lang="en-US" altLang="zh-TW">
                <a:ea typeface="ＭＳ Ｐゴシック" panose="020B0600070205080204" pitchFamily="34" charset="-128"/>
              </a:rPr>
              <a:t>and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1</a:t>
            </a:r>
            <a:r>
              <a:rPr lang="en-US" altLang="zh-TW">
                <a:ea typeface="ＭＳ Ｐゴシック" panose="020B0600070205080204" pitchFamily="34" charset="-128"/>
              </a:rPr>
              <a:t>=-2, and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2</a:t>
            </a:r>
            <a:r>
              <a:rPr lang="en-US" altLang="zh-TW">
                <a:ea typeface="ＭＳ Ｐゴシック" panose="020B0600070205080204" pitchFamily="34" charset="-128"/>
              </a:rPr>
              <a:t>=-1.</a:t>
            </a:r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38914" name="標題 1">
            <a:extLst>
              <a:ext uri="{FF2B5EF4-FFF2-40B4-BE49-F238E27FC236}">
                <a16:creationId xmlns:a16="http://schemas.microsoft.com/office/drawing/2014/main" id="{0690CC1D-4042-9442-81A6-B7FFDB234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Linear 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graphicFrame>
        <p:nvGraphicFramePr>
          <p:cNvPr id="38915" name="Object 1">
            <a:extLst>
              <a:ext uri="{FF2B5EF4-FFF2-40B4-BE49-F238E27FC236}">
                <a16:creationId xmlns:a16="http://schemas.microsoft.com/office/drawing/2014/main" id="{E87BA48C-B671-CD4F-B9FE-75FE9FA13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8663" y="3092450"/>
          <a:ext cx="5643562" cy="368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2273300" imgH="1485900" progId="Equation.3">
                  <p:embed/>
                </p:oleObj>
              </mc:Choice>
              <mc:Fallback>
                <p:oleObj name="Equation" r:id="rId3" imgW="2273300" imgH="1485900" progId="Equation.3">
                  <p:embed/>
                  <p:pic>
                    <p:nvPicPr>
                      <p:cNvPr id="38915" name="Object 1">
                        <a:extLst>
                          <a:ext uri="{FF2B5EF4-FFF2-40B4-BE49-F238E27FC236}">
                            <a16:creationId xmlns:a16="http://schemas.microsoft.com/office/drawing/2014/main" id="{E87BA48C-B671-CD4F-B9FE-75FE9FA137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63" y="3092450"/>
                        <a:ext cx="5643562" cy="368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616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標題 1">
            <a:extLst>
              <a:ext uri="{FF2B5EF4-FFF2-40B4-BE49-F238E27FC236}">
                <a16:creationId xmlns:a16="http://schemas.microsoft.com/office/drawing/2014/main" id="{A033F1B7-E24A-094C-8299-BE584574F1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7.4 Linear Nonhomogeneous Recurrence Relations with Constant Coefficients</a:t>
            </a:r>
            <a:endParaRPr lang="zh-TW" altLang="en-US" sz="3200" b="1" u="sng">
              <a:solidFill>
                <a:srgbClr val="00B05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9938" name="內容版面配置區 2">
            <a:extLst>
              <a:ext uri="{FF2B5EF4-FFF2-40B4-BE49-F238E27FC236}">
                <a16:creationId xmlns:a16="http://schemas.microsoft.com/office/drawing/2014/main" id="{1C3569E9-0256-2343-9C5B-1AB4046D69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4439"/>
            <a:ext cx="8229600" cy="5214937"/>
          </a:xfrm>
        </p:spPr>
        <p:txBody>
          <a:bodyPr/>
          <a:lstStyle/>
          <a:p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Linear nonhomogeneous recurrence relation with constant coefficients</a:t>
            </a:r>
            <a:r>
              <a:rPr lang="en-US" altLang="zh-TW" dirty="0">
                <a:ea typeface="ＭＳ Ｐゴシック" panose="020B0600070205080204" pitchFamily="34" charset="-128"/>
              </a:rPr>
              <a:t>,</a:t>
            </a:r>
          </a:p>
          <a:p>
            <a:pPr algn="ctr"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 </a:t>
            </a:r>
            <a:r>
              <a:rPr lang="en-US" altLang="zh-TW" i="1" dirty="0">
                <a:ea typeface="ＭＳ Ｐゴシック" panose="020B0600070205080204" pitchFamily="34" charset="-128"/>
              </a:rPr>
              <a:t>=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+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  </a:t>
            </a:r>
            <a:r>
              <a:rPr lang="en-US" altLang="zh-TW" i="1" dirty="0">
                <a:ea typeface="ＭＳ Ｐゴシック" panose="020B0600070205080204" pitchFamily="34" charset="-128"/>
              </a:rPr>
              <a:t>+. . . +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k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-k </a:t>
            </a:r>
            <a:r>
              <a:rPr lang="en-US" altLang="zh-TW" i="1" dirty="0">
                <a:ea typeface="ＭＳ Ｐゴシック" panose="020B0600070205080204" pitchFamily="34" charset="-128"/>
              </a:rPr>
              <a:t>+ F(n)</a:t>
            </a:r>
            <a:endParaRPr lang="en-US" altLang="zh-TW" i="1" baseline="-25000" dirty="0"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Where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 ,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ea typeface="ＭＳ Ｐゴシック" panose="020B0600070205080204" pitchFamily="34" charset="-128"/>
              </a:rPr>
              <a:t> ,. . .,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k </a:t>
            </a:r>
            <a:r>
              <a:rPr lang="en-US" altLang="zh-TW" dirty="0">
                <a:ea typeface="ＭＳ Ｐゴシック" panose="020B0600070205080204" pitchFamily="34" charset="-128"/>
              </a:rPr>
              <a:t>be real numbers and </a:t>
            </a:r>
            <a:r>
              <a:rPr lang="en-US" altLang="zh-TW" i="1" dirty="0">
                <a:ea typeface="ＭＳ Ｐゴシック" panose="020B0600070205080204" pitchFamily="34" charset="-128"/>
              </a:rPr>
              <a:t>F(n)</a:t>
            </a:r>
            <a:r>
              <a:rPr lang="zh-TW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is a function not identically zero depending only on </a:t>
            </a:r>
            <a:r>
              <a:rPr lang="en-US" altLang="zh-TW" i="1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The recurrence relation</a:t>
            </a:r>
          </a:p>
          <a:p>
            <a:pPr algn="ctr"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 </a:t>
            </a:r>
            <a:r>
              <a:rPr lang="en-US" altLang="zh-TW" i="1" dirty="0">
                <a:ea typeface="ＭＳ Ｐゴシック" panose="020B0600070205080204" pitchFamily="34" charset="-128"/>
              </a:rPr>
              <a:t>=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+ c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  </a:t>
            </a:r>
            <a:r>
              <a:rPr lang="en-US" altLang="zh-TW" i="1" dirty="0">
                <a:ea typeface="ＭＳ Ｐゴシック" panose="020B0600070205080204" pitchFamily="34" charset="-128"/>
              </a:rPr>
              <a:t>+. . . +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k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-k</a:t>
            </a: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is called the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associated homogeneous recurrence relation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9746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標題 1">
            <a:extLst>
              <a:ext uri="{FF2B5EF4-FFF2-40B4-BE49-F238E27FC236}">
                <a16:creationId xmlns:a16="http://schemas.microsoft.com/office/drawing/2014/main" id="{DBD60222-C20B-D64F-93A6-1893345C5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4700" y="0"/>
            <a:ext cx="8229600" cy="1011238"/>
          </a:xfrm>
        </p:spPr>
        <p:txBody>
          <a:bodyPr/>
          <a:lstStyle/>
          <a:p>
            <a:r>
              <a:rPr lang="en-US" altLang="zh-TW" sz="28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Linear Nonhomogeneous Recurrence Relations with Constant Coefficients</a:t>
            </a:r>
            <a:endParaRPr lang="zh-TW" altLang="en-US" sz="2800">
              <a:ea typeface="ＭＳ Ｐゴシック" panose="020B0600070205080204" pitchFamily="34" charset="-128"/>
            </a:endParaRPr>
          </a:p>
        </p:txBody>
      </p:sp>
      <p:sp>
        <p:nvSpPr>
          <p:cNvPr id="40962" name="內容版面配置區 2">
            <a:extLst>
              <a:ext uri="{FF2B5EF4-FFF2-40B4-BE49-F238E27FC236}">
                <a16:creationId xmlns:a16="http://schemas.microsoft.com/office/drawing/2014/main" id="{111FEF62-8D64-B244-8F19-E240713A8B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30400" y="1166813"/>
            <a:ext cx="8331200" cy="51435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Example 9: </a:t>
            </a:r>
            <a:r>
              <a:rPr lang="en-US" altLang="zh-TW" dirty="0">
                <a:ea typeface="ＭＳ Ｐゴシック" panose="020B0600070205080204" pitchFamily="34" charset="-128"/>
              </a:rPr>
              <a:t>Each of the recurrence relations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  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+ 2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 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  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+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 </a:t>
            </a:r>
            <a:r>
              <a:rPr lang="en-US" altLang="zh-TW" i="1" dirty="0">
                <a:ea typeface="ＭＳ Ｐゴシック" panose="020B0600070205080204" pitchFamily="34" charset="-128"/>
              </a:rPr>
              <a:t>+n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ea typeface="ＭＳ Ｐゴシック" panose="020B0600070205080204" pitchFamily="34" charset="-128"/>
              </a:rPr>
              <a:t>+ n +1 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  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3a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+n3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 +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 </a:t>
            </a:r>
            <a:r>
              <a:rPr lang="en-US" altLang="zh-TW" i="1" dirty="0">
                <a:ea typeface="ＭＳ Ｐゴシック" panose="020B0600070205080204" pitchFamily="34" charset="-128"/>
              </a:rPr>
              <a:t>+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n-3 </a:t>
            </a:r>
            <a:r>
              <a:rPr lang="en-US" altLang="zh-TW" i="1" dirty="0">
                <a:ea typeface="ＭＳ Ｐゴシック" panose="020B0600070205080204" pitchFamily="34" charset="-128"/>
              </a:rPr>
              <a:t>+ n! </a:t>
            </a:r>
            <a:r>
              <a:rPr lang="en-US" altLang="zh-TW" dirty="0">
                <a:ea typeface="ＭＳ Ｐゴシック" panose="020B0600070205080204" pitchFamily="34" charset="-128"/>
              </a:rPr>
              <a:t>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is a linear nonhomogeneous recurrence relation with constant coefficients. The associated linear homogeneous recurrence relations are                      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                                  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</a:t>
            </a:r>
            <a:r>
              <a:rPr lang="en-US" altLang="zh-TW" dirty="0">
                <a:ea typeface="ＭＳ Ｐゴシック" panose="020B0600070205080204" pitchFamily="34" charset="-128"/>
              </a:rPr>
              <a:t> 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                                  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 +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  </a:t>
            </a:r>
            <a:r>
              <a:rPr lang="en-US" altLang="zh-TW" i="1" dirty="0">
                <a:ea typeface="ＭＳ Ｐゴシック" panose="020B0600070205080204" pitchFamily="34" charset="-128"/>
              </a:rPr>
              <a:t>  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                                  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3a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endParaRPr lang="en-US" altLang="zh-TW" i="1" dirty="0">
              <a:ea typeface="ＭＳ Ｐゴシック" panose="020B0600070205080204" pitchFamily="34" charset="-128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 +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n-2 </a:t>
            </a:r>
            <a:r>
              <a:rPr lang="en-US" altLang="zh-TW" i="1" dirty="0">
                <a:ea typeface="ＭＳ Ｐゴシック" panose="020B0600070205080204" pitchFamily="34" charset="-128"/>
              </a:rPr>
              <a:t>+ 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n-3   </a:t>
            </a:r>
            <a:endParaRPr lang="en-US" altLang="zh-TW" i="1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respectively.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TW" sz="30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zh-TW" sz="3000" i="1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8722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標題 1">
            <a:extLst>
              <a:ext uri="{FF2B5EF4-FFF2-40B4-BE49-F238E27FC236}">
                <a16:creationId xmlns:a16="http://schemas.microsoft.com/office/drawing/2014/main" id="{1D703DF2-CBB7-DB4F-BCDC-9771A795B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Linear Nonhomogeneous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41986" name="內容版面配置區 2">
            <a:extLst>
              <a:ext uri="{FF2B5EF4-FFF2-40B4-BE49-F238E27FC236}">
                <a16:creationId xmlns:a16="http://schemas.microsoft.com/office/drawing/2014/main" id="{503F4A12-93D8-A644-BAE5-1F65021FBE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368425"/>
            <a:ext cx="8229600" cy="5214938"/>
          </a:xfrm>
        </p:spPr>
        <p:txBody>
          <a:bodyPr/>
          <a:lstStyle/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Theorem 5: </a:t>
            </a:r>
            <a:r>
              <a:rPr lang="en-US" altLang="zh-TW" dirty="0">
                <a:ea typeface="ＭＳ Ｐゴシック" panose="020B0600070205080204" pitchFamily="34" charset="-128"/>
              </a:rPr>
              <a:t>if {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(p)</a:t>
            </a:r>
            <a:r>
              <a:rPr lang="en-US" altLang="zh-TW" dirty="0">
                <a:ea typeface="ＭＳ Ｐゴシック" panose="020B0600070205080204" pitchFamily="34" charset="-128"/>
              </a:rPr>
              <a:t>}</a:t>
            </a:r>
            <a:r>
              <a:rPr lang="zh-TW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is a particular solution of the nonhomogeneous linear  recurrence relation with constant coefficients </a:t>
            </a:r>
          </a:p>
          <a:p>
            <a:pPr algn="ctr">
              <a:buFontTx/>
              <a:buNone/>
            </a:pP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= c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+ c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n-2 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+. . . + 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-k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+ F(n)</a:t>
            </a:r>
          </a:p>
          <a:p>
            <a:pPr>
              <a:buFontTx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Then every solution is of the form {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(p)</a:t>
            </a:r>
            <a:r>
              <a:rPr lang="en-US" altLang="zh-TW" dirty="0">
                <a:ea typeface="ＭＳ Ｐゴシック" panose="020B0600070205080204" pitchFamily="34" charset="-128"/>
              </a:rPr>
              <a:t>+</a:t>
            </a:r>
            <a:r>
              <a:rPr lang="en-US" altLang="zh-TW" i="1" dirty="0">
                <a:ea typeface="ＭＳ Ｐゴシック" panose="020B0600070205080204" pitchFamily="34" charset="-128"/>
              </a:rPr>
              <a:t>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(h)</a:t>
            </a:r>
            <a:r>
              <a:rPr lang="zh-TW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}  , where {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baseline="30000" dirty="0">
                <a:ea typeface="ＭＳ Ｐゴシック" panose="020B0600070205080204" pitchFamily="34" charset="-128"/>
              </a:rPr>
              <a:t>(h)</a:t>
            </a:r>
            <a:r>
              <a:rPr lang="en-US" altLang="zh-TW" dirty="0">
                <a:ea typeface="ＭＳ Ｐゴシック" panose="020B0600070205080204" pitchFamily="34" charset="-128"/>
              </a:rPr>
              <a:t>}</a:t>
            </a:r>
            <a:r>
              <a:rPr lang="zh-TW" altLang="en-US" dirty="0">
                <a:ea typeface="ＭＳ Ｐゴシック" panose="020B0600070205080204" pitchFamily="34" charset="-128"/>
              </a:rPr>
              <a:t>  </a:t>
            </a:r>
            <a:r>
              <a:rPr lang="en-US" altLang="zh-TW" dirty="0">
                <a:ea typeface="ＭＳ Ｐゴシック" panose="020B0600070205080204" pitchFamily="34" charset="-128"/>
              </a:rPr>
              <a:t>is a solution of the associated homogeneous recurrence relation </a:t>
            </a:r>
          </a:p>
          <a:p>
            <a:pPr algn="ctr">
              <a:buFontTx/>
              <a:buNone/>
            </a:pP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= c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+ c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n-2  </a:t>
            </a:r>
            <a:r>
              <a:rPr lang="en-US" altLang="zh-TW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+. . . + 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c</a:t>
            </a:r>
            <a:r>
              <a:rPr lang="en-US" altLang="zh-TW" i="1" baseline="-25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i="1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i="1" baseline="-25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-k</a:t>
            </a:r>
            <a:endParaRPr lang="en-US" altLang="zh-TW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 algn="ctr">
              <a:buFontTx/>
              <a:buNone/>
            </a:pPr>
            <a:endParaRPr lang="zh-TW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7285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標題 1">
            <a:extLst>
              <a:ext uri="{FF2B5EF4-FFF2-40B4-BE49-F238E27FC236}">
                <a16:creationId xmlns:a16="http://schemas.microsoft.com/office/drawing/2014/main" id="{CD605BD3-E8DE-9145-8118-D43D63EFE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-228600"/>
            <a:ext cx="7772400" cy="1143000"/>
          </a:xfrm>
        </p:spPr>
        <p:txBody>
          <a:bodyPr/>
          <a:lstStyle/>
          <a:p>
            <a:r>
              <a:rPr lang="en-US" altLang="zh-TW" sz="36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Solving the Towers of Hanoi</a:t>
            </a:r>
            <a:endParaRPr lang="zh-TW" altLang="en-US" sz="360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0" name="內容版面配置區 2">
                <a:extLst>
                  <a:ext uri="{FF2B5EF4-FFF2-40B4-BE49-F238E27FC236}">
                    <a16:creationId xmlns:a16="http://schemas.microsoft.com/office/drawing/2014/main" id="{5426EBD5-8AAE-F944-ADE1-0DDEEB5819D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209800" y="1752601"/>
                <a:ext cx="7772400" cy="4176713"/>
              </a:xfrm>
            </p:spPr>
            <p:txBody>
              <a:bodyPr>
                <a:normAutofit/>
              </a:bodyPr>
              <a:lstStyle/>
              <a:p>
                <a:pPr>
                  <a:buFontTx/>
                  <a:buNone/>
                </a:pPr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r>
                  <a:rPr lang="en-US" altLang="en-US" b="1" dirty="0">
                    <a:ea typeface="ＭＳ Ｐゴシック" panose="020B0600070205080204" pitchFamily="34" charset="-128"/>
                  </a:rPr>
                  <a:t>A</a:t>
                </a:r>
                <a:r>
                  <a:rPr lang="en-US" altLang="en-US" b="1" baseline="-25000" dirty="0">
                    <a:ea typeface="ＭＳ Ｐゴシック" panose="020B0600070205080204" pitchFamily="34" charset="-128"/>
                  </a:rPr>
                  <a:t>n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 = 2 A</a:t>
                </a:r>
                <a:r>
                  <a:rPr lang="en-US" altLang="en-US" b="1" baseline="-25000" dirty="0">
                    <a:ea typeface="ＭＳ Ｐゴシック" panose="020B0600070205080204" pitchFamily="34" charset="-128"/>
                  </a:rPr>
                  <a:t>n-1 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then A</a:t>
                </a:r>
                <a:r>
                  <a:rPr lang="en-US" altLang="en-US" b="1" baseline="-25000" dirty="0">
                    <a:ea typeface="ＭＳ Ｐゴシック" panose="020B0600070205080204" pitchFamily="34" charset="-128"/>
                  </a:rPr>
                  <a:t>n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=2</a:t>
                </a:r>
                <a:r>
                  <a:rPr lang="en-US" altLang="en-US" b="1" baseline="30000" dirty="0">
                    <a:ea typeface="ＭＳ Ｐゴシック" panose="020B0600070205080204" pitchFamily="34" charset="-128"/>
                  </a:rPr>
                  <a:t>n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C, is </a:t>
                </a:r>
                <a:r>
                  <a:rPr lang="en-US" altLang="en-US" b="1" dirty="0" err="1">
                    <a:ea typeface="ＭＳ Ｐゴシック" panose="020B0600070205080204" pitchFamily="34" charset="-128"/>
                  </a:rPr>
                  <a:t>homog</a:t>
                </a:r>
                <a:r>
                  <a:rPr lang="en-US" altLang="en-US" b="1" dirty="0">
                    <a:ea typeface="ＭＳ Ｐゴシック" panose="020B0600070205080204" pitchFamily="34" charset="-128"/>
                  </a:rPr>
                  <a:t>. solution</a:t>
                </a:r>
              </a:p>
              <a:p>
                <a:r>
                  <a:rPr lang="en-US" altLang="en-US" sz="3600" dirty="0">
                    <a:ea typeface="ＭＳ Ｐゴシック" panose="020B0600070205080204" pitchFamily="34" charset="-128"/>
                  </a:rPr>
                  <a:t>Try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60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sz="36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𝐵</m:t>
                        </m:r>
                      </m:e>
                      <m:sub>
                        <m:r>
                          <a:rPr lang="en-US" altLang="en-US" sz="36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b>
                    </m:sSub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</m:t>
                    </m:r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𝐷</m:t>
                    </m:r>
                  </m:oMath>
                </a14:m>
                <a:r>
                  <a:rPr lang="en-US" altLang="en-US" sz="3600" dirty="0">
                    <a:ea typeface="ＭＳ Ｐゴシック" panose="020B0600070205080204" pitchFamily="34" charset="-128"/>
                  </a:rPr>
                  <a:t>, we have</a:t>
                </a:r>
              </a:p>
              <a:p>
                <a14:m>
                  <m:oMath xmlns:m="http://schemas.openxmlformats.org/officeDocument/2006/math"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𝐷</m:t>
                    </m:r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=2</m:t>
                    </m:r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𝐷</m:t>
                    </m:r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+1</m:t>
                    </m:r>
                  </m:oMath>
                </a14:m>
                <a:endParaRPr lang="en-US" altLang="en-US" sz="3600" b="0" dirty="0">
                  <a:ea typeface="ＭＳ Ｐゴシック" panose="020B0600070205080204" pitchFamily="34" charset="-128"/>
                </a:endParaRPr>
              </a:p>
              <a:p>
                <a14:m>
                  <m:oMath xmlns:m="http://schemas.openxmlformats.org/officeDocument/2006/math"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𝐷</m:t>
                    </m:r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=−1</m:t>
                    </m:r>
                  </m:oMath>
                </a14:m>
                <a:r>
                  <a:rPr lang="en-US" altLang="en-US" sz="3600" dirty="0">
                    <a:ea typeface="ＭＳ Ｐゴシック" panose="020B0600070205080204" pitchFamily="34" charset="-128"/>
                  </a:rPr>
                  <a:t>, 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60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sz="36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𝑎</m:t>
                        </m:r>
                      </m:e>
                      <m:sub>
                        <m:r>
                          <a:rPr lang="en-US" altLang="en-US" sz="36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b>
                    </m:sSub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</m:t>
                    </m:r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𝐶</m:t>
                    </m:r>
                    <m:sSup>
                      <m:sSupPr>
                        <m:ctrlPr>
                          <a:rPr lang="en-US" altLang="en-US" sz="36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pPr>
                      <m:e>
                        <m:r>
                          <a:rPr lang="en-US" altLang="en-US" sz="36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2</m:t>
                        </m:r>
                      </m:e>
                      <m:sup>
                        <m:r>
                          <a:rPr lang="en-US" altLang="en-US" sz="36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𝑛</m:t>
                        </m:r>
                      </m:sup>
                    </m:sSup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−1</m:t>
                    </m:r>
                  </m:oMath>
                </a14:m>
                <a:endParaRPr lang="en-US" altLang="en-US" sz="3600" b="0" dirty="0">
                  <a:ea typeface="ＭＳ Ｐゴシック" panose="020B0600070205080204" pitchFamily="34" charset="-128"/>
                </a:endParaRPr>
              </a:p>
              <a:p>
                <a:r>
                  <a:rPr lang="en-US" altLang="en-US" sz="3600" dirty="0">
                    <a:ea typeface="ＭＳ Ｐゴシック" panose="020B0600070205080204" pitchFamily="34" charset="-128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60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US" sz="36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𝑎</m:t>
                        </m:r>
                      </m:e>
                      <m:sub>
                        <m:r>
                          <a:rPr lang="en-US" altLang="en-US" sz="36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1</m:t>
                        </m:r>
                      </m:sub>
                    </m:sSub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=1</m:t>
                    </m:r>
                  </m:oMath>
                </a14:m>
                <a:r>
                  <a:rPr lang="en-US" altLang="en-US" sz="3600" dirty="0">
                    <a:ea typeface="ＭＳ Ｐゴシック" panose="020B0600070205080204" pitchFamily="34" charset="-128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𝐶</m:t>
                    </m:r>
                    <m:r>
                      <a:rPr lang="en-US" altLang="en-US" sz="36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=1</m:t>
                    </m:r>
                  </m:oMath>
                </a14:m>
                <a:r>
                  <a:rPr lang="en-US" altLang="en-US" sz="3600" dirty="0">
                    <a:ea typeface="ＭＳ Ｐゴシック" panose="020B0600070205080204" pitchFamily="34" charset="-128"/>
                  </a:rPr>
                  <a:t>, that is</a:t>
                </a:r>
              </a:p>
              <a:p>
                <a:r>
                  <a:rPr lang="en-US" altLang="en-US" sz="3600" b="1" dirty="0">
                    <a:ea typeface="ＭＳ Ｐゴシック" panose="020B0600070205080204" pitchFamily="34" charset="-128"/>
                  </a:rPr>
                  <a:t>a</a:t>
                </a:r>
                <a:r>
                  <a:rPr lang="en-US" altLang="en-US" sz="3600" b="1" baseline="-25000" dirty="0">
                    <a:ea typeface="ＭＳ Ｐゴシック" panose="020B0600070205080204" pitchFamily="34" charset="-128"/>
                  </a:rPr>
                  <a:t>n</a:t>
                </a:r>
                <a:r>
                  <a:rPr lang="en-US" altLang="en-US" sz="3600" b="1" dirty="0">
                    <a:ea typeface="ＭＳ Ｐゴシック" panose="020B0600070205080204" pitchFamily="34" charset="-128"/>
                  </a:rPr>
                  <a:t> = 2</a:t>
                </a:r>
                <a:r>
                  <a:rPr lang="en-US" altLang="en-US" sz="3600" b="1" baseline="30000" dirty="0">
                    <a:ea typeface="ＭＳ Ｐゴシック" panose="020B0600070205080204" pitchFamily="34" charset="-128"/>
                  </a:rPr>
                  <a:t>n</a:t>
                </a:r>
                <a:r>
                  <a:rPr lang="en-US" altLang="en-US" sz="3600" b="1" dirty="0">
                    <a:ea typeface="ＭＳ Ｐゴシック" panose="020B0600070205080204" pitchFamily="34" charset="-128"/>
                  </a:rPr>
                  <a:t>-1</a:t>
                </a:r>
                <a:endParaRPr lang="en-US" altLang="zh-TW" sz="3600" b="1" dirty="0">
                  <a:ea typeface="ＭＳ Ｐゴシック" panose="020B0600070205080204" pitchFamily="34" charset="-128"/>
                </a:endParaRPr>
              </a:p>
              <a:p>
                <a:pPr>
                  <a:buFontTx/>
                  <a:buNone/>
                </a:pPr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endParaRPr lang="en-US" altLang="zh-TW" dirty="0">
                  <a:ea typeface="ＭＳ Ｐゴシック" panose="020B0600070205080204" pitchFamily="34" charset="-128"/>
                </a:endParaRPr>
              </a:p>
              <a:p>
                <a:endParaRPr lang="zh-TW" altLang="en-US" dirty="0"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43010" name="內容版面配置區 2">
                <a:extLst>
                  <a:ext uri="{FF2B5EF4-FFF2-40B4-BE49-F238E27FC236}">
                    <a16:creationId xmlns:a16="http://schemas.microsoft.com/office/drawing/2014/main" id="{5426EBD5-8AAE-F944-ADE1-0DDEEB5819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09800" y="1752601"/>
                <a:ext cx="7772400" cy="4176713"/>
              </a:xfrm>
              <a:blipFill>
                <a:blip r:embed="rId2"/>
                <a:stretch>
                  <a:fillRect l="-2121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011" name="Picture 3" descr="07_1_02">
            <a:extLst>
              <a:ext uri="{FF2B5EF4-FFF2-40B4-BE49-F238E27FC236}">
                <a16:creationId xmlns:a16="http://schemas.microsoft.com/office/drawing/2014/main" id="{F58DDA4F-D686-7648-B461-F3B90DB09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3" r="630"/>
          <a:stretch>
            <a:fillRect/>
          </a:stretch>
        </p:blipFill>
        <p:spPr bwMode="auto">
          <a:xfrm>
            <a:off x="1752600" y="633413"/>
            <a:ext cx="1720850" cy="1598612"/>
          </a:xfrm>
          <a:prstGeom prst="rect">
            <a:avLst/>
          </a:prstGeom>
          <a:noFill/>
          <a:ln w="317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2" name="Picture 3" descr="07_1_03">
            <a:extLst>
              <a:ext uri="{FF2B5EF4-FFF2-40B4-BE49-F238E27FC236}">
                <a16:creationId xmlns:a16="http://schemas.microsoft.com/office/drawing/2014/main" id="{25C6EFDF-5A35-DA4D-9065-88DDD7B0D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1" r="420"/>
          <a:stretch>
            <a:fillRect/>
          </a:stretch>
        </p:blipFill>
        <p:spPr bwMode="auto">
          <a:xfrm>
            <a:off x="8585200" y="655638"/>
            <a:ext cx="1906588" cy="1598612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3" name="TextBox 8">
            <a:extLst>
              <a:ext uri="{FF2B5EF4-FFF2-40B4-BE49-F238E27FC236}">
                <a16:creationId xmlns:a16="http://schemas.microsoft.com/office/drawing/2014/main" id="{5F7C7005-8D45-5347-8589-751002771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4475" y="765176"/>
            <a:ext cx="408305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a</a:t>
            </a:r>
            <a:r>
              <a:rPr lang="en-US" altLang="en-US" sz="2800" b="1" baseline="-25000"/>
              <a:t>n </a:t>
            </a:r>
            <a:r>
              <a:rPr lang="en-US" altLang="en-US" sz="2800" b="1"/>
              <a:t>= 2 a</a:t>
            </a:r>
            <a:r>
              <a:rPr lang="en-US" altLang="en-US" sz="2800" b="1" baseline="-25000"/>
              <a:t>n-1</a:t>
            </a:r>
            <a:r>
              <a:rPr lang="en-US" altLang="en-US" sz="2800" b="1"/>
              <a:t> + 1: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/>
              <a:t>1, 3, 7, 15, 31, </a:t>
            </a:r>
            <a:r>
              <a:rPr lang="en-US" altLang="en-US" sz="3600" b="1">
                <a:solidFill>
                  <a:srgbClr val="FF0000"/>
                </a:solidFill>
              </a:rPr>
              <a:t>63,</a:t>
            </a:r>
            <a:r>
              <a:rPr lang="en-US" altLang="en-US" sz="3600" b="1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52283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標題 1">
            <a:extLst>
              <a:ext uri="{FF2B5EF4-FFF2-40B4-BE49-F238E27FC236}">
                <a16:creationId xmlns:a16="http://schemas.microsoft.com/office/drawing/2014/main" id="{05423D04-15F3-2E49-97A4-9B611C9EF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Linear Nonhomogeneous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44034" name="內容版面配置區 2">
            <a:extLst>
              <a:ext uri="{FF2B5EF4-FFF2-40B4-BE49-F238E27FC236}">
                <a16:creationId xmlns:a16="http://schemas.microsoft.com/office/drawing/2014/main" id="{9896C020-405B-4D47-AF3A-600483A3DB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4439"/>
            <a:ext cx="8229600" cy="5214937"/>
          </a:xfrm>
        </p:spPr>
        <p:txBody>
          <a:bodyPr/>
          <a:lstStyle/>
          <a:p>
            <a:r>
              <a:rPr lang="en-US" altLang="zh-TW">
                <a:solidFill>
                  <a:srgbClr val="00B050"/>
                </a:solidFill>
                <a:ea typeface="ＭＳ Ｐゴシック" panose="020B0600070205080204" pitchFamily="34" charset="-128"/>
              </a:rPr>
              <a:t>Example 10: </a:t>
            </a:r>
            <a:r>
              <a:rPr lang="en-US" altLang="zh-TW">
                <a:ea typeface="ＭＳ Ｐゴシック" panose="020B0600070205080204" pitchFamily="34" charset="-128"/>
              </a:rPr>
              <a:t>Find all solutions of the recurrence relation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 i="1">
                <a:ea typeface="ＭＳ Ｐゴシック" panose="020B0600070205080204" pitchFamily="34" charset="-128"/>
              </a:rPr>
              <a:t> = 3a</a:t>
            </a:r>
            <a:r>
              <a:rPr lang="en-US" altLang="zh-TW" i="1" baseline="-25000">
                <a:ea typeface="ＭＳ Ｐゴシック" panose="020B0600070205080204" pitchFamily="34" charset="-128"/>
              </a:rPr>
              <a:t>n-1 </a:t>
            </a:r>
            <a:r>
              <a:rPr lang="en-US" altLang="zh-TW" i="1">
                <a:ea typeface="ＭＳ Ｐゴシック" panose="020B0600070205080204" pitchFamily="34" charset="-128"/>
              </a:rPr>
              <a:t>+ 2n. </a:t>
            </a:r>
          </a:p>
          <a:p>
            <a:r>
              <a:rPr lang="en-US" altLang="zh-TW">
                <a:ea typeface="ＭＳ Ｐゴシック" panose="020B0600070205080204" pitchFamily="34" charset="-128"/>
              </a:rPr>
              <a:t>What is the solution with </a:t>
            </a:r>
            <a:r>
              <a:rPr lang="en-US" altLang="zh-TW" i="1">
                <a:ea typeface="ＭＳ Ｐゴシック" panose="020B0600070205080204" pitchFamily="34" charset="-128"/>
              </a:rPr>
              <a:t>a</a:t>
            </a:r>
            <a:r>
              <a:rPr lang="en-US" altLang="zh-TW" baseline="-25000">
                <a:ea typeface="ＭＳ Ｐゴシック" panose="020B0600070205080204" pitchFamily="34" charset="-128"/>
              </a:rPr>
              <a:t>1</a:t>
            </a:r>
            <a:r>
              <a:rPr lang="en-US" altLang="zh-TW">
                <a:ea typeface="ＭＳ Ｐゴシック" panose="020B0600070205080204" pitchFamily="34" charset="-128"/>
              </a:rPr>
              <a:t>= 3?</a:t>
            </a:r>
          </a:p>
          <a:p>
            <a:endParaRPr lang="en-US" altLang="zh-TW">
              <a:ea typeface="ＭＳ Ｐゴシック" panose="020B0600070205080204" pitchFamily="34" charset="-128"/>
            </a:endParaRPr>
          </a:p>
          <a:p>
            <a:endParaRPr lang="zh-TW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0305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標題 1">
            <a:extLst>
              <a:ext uri="{FF2B5EF4-FFF2-40B4-BE49-F238E27FC236}">
                <a16:creationId xmlns:a16="http://schemas.microsoft.com/office/drawing/2014/main" id="{A9BC7AE6-99F6-AC49-900C-E47488071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Linear Nonhomogeneous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45058" name="內容版面配置區 2">
            <a:extLst>
              <a:ext uri="{FF2B5EF4-FFF2-40B4-BE49-F238E27FC236}">
                <a16:creationId xmlns:a16="http://schemas.microsoft.com/office/drawing/2014/main" id="{CDADF0BE-7A57-A842-BE52-C01EDDC573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4439"/>
            <a:ext cx="8229600" cy="5214937"/>
          </a:xfrm>
        </p:spPr>
        <p:txBody>
          <a:bodyPr/>
          <a:lstStyle/>
          <a:p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Example 10: </a:t>
            </a:r>
            <a:r>
              <a:rPr lang="en-US" altLang="zh-TW" dirty="0">
                <a:ea typeface="ＭＳ Ｐゴシック" panose="020B0600070205080204" pitchFamily="34" charset="-128"/>
              </a:rPr>
              <a:t>Find all solutions of the recurrence relation 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 = 3a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n-1 </a:t>
            </a:r>
            <a:r>
              <a:rPr lang="en-US" altLang="zh-TW" i="1" dirty="0">
                <a:ea typeface="ＭＳ Ｐゴシック" panose="020B0600070205080204" pitchFamily="34" charset="-128"/>
              </a:rPr>
              <a:t>+ 2n. 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What is the solution with 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= 3?</a:t>
            </a: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zh-TW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45059" name="Object 1">
            <a:extLst>
              <a:ext uri="{FF2B5EF4-FFF2-40B4-BE49-F238E27FC236}">
                <a16:creationId xmlns:a16="http://schemas.microsoft.com/office/drawing/2014/main" id="{096A9297-F60A-E545-A293-1DEC3CB09DA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64424" y="2738403"/>
          <a:ext cx="6323013" cy="340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3022600" imgH="1625600" progId="Equation.3">
                  <p:embed/>
                </p:oleObj>
              </mc:Choice>
              <mc:Fallback>
                <p:oleObj name="Equation" r:id="rId3" imgW="3022600" imgH="1625600" progId="Equation.3">
                  <p:embed/>
                  <p:pic>
                    <p:nvPicPr>
                      <p:cNvPr id="45059" name="Object 1">
                        <a:extLst>
                          <a:ext uri="{FF2B5EF4-FFF2-40B4-BE49-F238E27FC236}">
                            <a16:creationId xmlns:a16="http://schemas.microsoft.com/office/drawing/2014/main" id="{096A9297-F60A-E545-A293-1DEC3CB09D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424" y="2738403"/>
                        <a:ext cx="6323013" cy="340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1736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標題 1">
            <a:extLst>
              <a:ext uri="{FF2B5EF4-FFF2-40B4-BE49-F238E27FC236}">
                <a16:creationId xmlns:a16="http://schemas.microsoft.com/office/drawing/2014/main" id="{9F040B88-642E-B94A-B0E7-DE0296F6A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Linear Nonhomogeneous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36866" name="內容版面配置區 2">
            <a:extLst>
              <a:ext uri="{FF2B5EF4-FFF2-40B4-BE49-F238E27FC236}">
                <a16:creationId xmlns:a16="http://schemas.microsoft.com/office/drawing/2014/main" id="{28D55344-9C16-FA40-9937-B101B12BB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14439"/>
            <a:ext cx="8229600" cy="521493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 altLang="zh-TW" dirty="0">
                <a:solidFill>
                  <a:srgbClr val="00B050"/>
                </a:solidFill>
                <a:ea typeface="ＭＳ Ｐゴシック" charset="0"/>
                <a:cs typeface="ＭＳ Ｐゴシック" charset="0"/>
              </a:rPr>
              <a:t>Example 11: </a:t>
            </a:r>
            <a:r>
              <a:rPr lang="en-US" altLang="zh-TW" dirty="0">
                <a:ea typeface="ＭＳ Ｐゴシック" charset="0"/>
                <a:cs typeface="ＭＳ Ｐゴシック" charset="0"/>
              </a:rPr>
              <a:t>Find all solution of the recurrence relation 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a</a:t>
            </a:r>
            <a:r>
              <a:rPr lang="en-US" altLang="zh-TW" i="1" baseline="-25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=5a</a:t>
            </a:r>
            <a:r>
              <a:rPr lang="en-US" altLang="zh-TW" i="1" baseline="-25000" dirty="0">
                <a:ea typeface="ＭＳ Ｐゴシック" charset="0"/>
                <a:cs typeface="ＭＳ Ｐゴシック" charset="0"/>
              </a:rPr>
              <a:t>n-1 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- 6a</a:t>
            </a:r>
            <a:r>
              <a:rPr lang="en-US" altLang="zh-TW" i="1" baseline="-25000" dirty="0">
                <a:ea typeface="ＭＳ Ｐゴシック" charset="0"/>
                <a:cs typeface="ＭＳ Ｐゴシック" charset="0"/>
              </a:rPr>
              <a:t>n-2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+ 7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n</a:t>
            </a:r>
          </a:p>
          <a:p>
            <a:pPr>
              <a:defRPr/>
            </a:pPr>
            <a:endParaRPr lang="zh-TW" alt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545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標題 1">
            <a:extLst>
              <a:ext uri="{FF2B5EF4-FFF2-40B4-BE49-F238E27FC236}">
                <a16:creationId xmlns:a16="http://schemas.microsoft.com/office/drawing/2014/main" id="{E8EA3034-442C-D047-A267-BFA0E7375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Linear Nonhomogeneous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36866" name="內容版面配置區 2">
            <a:extLst>
              <a:ext uri="{FF2B5EF4-FFF2-40B4-BE49-F238E27FC236}">
                <a16:creationId xmlns:a16="http://schemas.microsoft.com/office/drawing/2014/main" id="{035EB93F-2F93-8941-8A0E-BA2D3FCAC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14439"/>
            <a:ext cx="8229600" cy="521493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 altLang="zh-TW" dirty="0">
                <a:solidFill>
                  <a:srgbClr val="00B050"/>
                </a:solidFill>
                <a:ea typeface="ＭＳ Ｐゴシック" charset="0"/>
                <a:cs typeface="ＭＳ Ｐゴシック" charset="0"/>
              </a:rPr>
              <a:t>Example 11: </a:t>
            </a:r>
            <a:r>
              <a:rPr lang="en-US" altLang="zh-TW" dirty="0">
                <a:ea typeface="ＭＳ Ｐゴシック" charset="0"/>
                <a:cs typeface="ＭＳ Ｐゴシック" charset="0"/>
              </a:rPr>
              <a:t>Find all solution of the recurrence relation 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a</a:t>
            </a:r>
            <a:r>
              <a:rPr lang="en-US" altLang="zh-TW" i="1" baseline="-25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=5a</a:t>
            </a:r>
            <a:r>
              <a:rPr lang="en-US" altLang="zh-TW" i="1" baseline="-25000" dirty="0">
                <a:ea typeface="ＭＳ Ｐゴシック" charset="0"/>
                <a:cs typeface="ＭＳ Ｐゴシック" charset="0"/>
              </a:rPr>
              <a:t>n-1 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- 6a</a:t>
            </a:r>
            <a:r>
              <a:rPr lang="en-US" altLang="zh-TW" i="1" baseline="-25000" dirty="0">
                <a:ea typeface="ＭＳ Ｐゴシック" charset="0"/>
                <a:cs typeface="ＭＳ Ｐゴシック" charset="0"/>
              </a:rPr>
              <a:t>n-2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+ 7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n</a:t>
            </a:r>
          </a:p>
          <a:p>
            <a:pPr>
              <a:defRPr/>
            </a:pPr>
            <a:endParaRPr lang="zh-TW" altLang="en-US" dirty="0"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47107" name="Object 1">
            <a:extLst>
              <a:ext uri="{FF2B5EF4-FFF2-40B4-BE49-F238E27FC236}">
                <a16:creationId xmlns:a16="http://schemas.microsoft.com/office/drawing/2014/main" id="{47A9D81F-2F0B-F64C-86BA-465E89156C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33464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114300" imgH="165100" progId="Equation.3">
                  <p:embed/>
                </p:oleObj>
              </mc:Choice>
              <mc:Fallback>
                <p:oleObj name="Equation" r:id="rId3" imgW="114300" imgH="165100" progId="Equation.3">
                  <p:embed/>
                  <p:pic>
                    <p:nvPicPr>
                      <p:cNvPr id="47107" name="Object 1">
                        <a:extLst>
                          <a:ext uri="{FF2B5EF4-FFF2-40B4-BE49-F238E27FC236}">
                            <a16:creationId xmlns:a16="http://schemas.microsoft.com/office/drawing/2014/main" id="{47A9D81F-2F0B-F64C-86BA-465E89156C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46450"/>
                        <a:ext cx="1143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5">
            <a:extLst>
              <a:ext uri="{FF2B5EF4-FFF2-40B4-BE49-F238E27FC236}">
                <a16:creationId xmlns:a16="http://schemas.microsoft.com/office/drawing/2014/main" id="{C4FAF67D-6DD5-C548-90A8-CCEC0006AE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0963" y="3087688"/>
          <a:ext cx="4330700" cy="358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2070100" imgH="1714500" progId="Equation.3">
                  <p:embed/>
                </p:oleObj>
              </mc:Choice>
              <mc:Fallback>
                <p:oleObj name="Equation" r:id="rId5" imgW="2070100" imgH="1714500" progId="Equation.3">
                  <p:embed/>
                  <p:pic>
                    <p:nvPicPr>
                      <p:cNvPr id="47108" name="Object 5">
                        <a:extLst>
                          <a:ext uri="{FF2B5EF4-FFF2-40B4-BE49-F238E27FC236}">
                            <a16:creationId xmlns:a16="http://schemas.microsoft.com/office/drawing/2014/main" id="{C4FAF67D-6DD5-C548-90A8-CCEC0006AE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3087688"/>
                        <a:ext cx="4330700" cy="358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4914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標題 1">
            <a:extLst>
              <a:ext uri="{FF2B5EF4-FFF2-40B4-BE49-F238E27FC236}">
                <a16:creationId xmlns:a16="http://schemas.microsoft.com/office/drawing/2014/main" id="{C885EF8A-4D94-F54D-B6BD-2F0DF3D21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Linear Nonhomogeneous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48130" name="內容版面配置區 2">
            <a:extLst>
              <a:ext uri="{FF2B5EF4-FFF2-40B4-BE49-F238E27FC236}">
                <a16:creationId xmlns:a16="http://schemas.microsoft.com/office/drawing/2014/main" id="{C59BD19A-676D-7748-8F5E-6270DA035B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4439"/>
            <a:ext cx="8229600" cy="5500687"/>
          </a:xfrm>
        </p:spPr>
        <p:txBody>
          <a:bodyPr/>
          <a:lstStyle/>
          <a:p>
            <a:r>
              <a:rPr lang="en-US" altLang="zh-TW" sz="2400">
                <a:solidFill>
                  <a:srgbClr val="00B050"/>
                </a:solidFill>
                <a:ea typeface="ＭＳ Ｐゴシック" panose="020B0600070205080204" pitchFamily="34" charset="-128"/>
              </a:rPr>
              <a:t>Theorem 6: </a:t>
            </a:r>
            <a:r>
              <a:rPr lang="en-US" altLang="zh-TW" sz="2400">
                <a:ea typeface="ＭＳ Ｐゴシック" panose="020B0600070205080204" pitchFamily="34" charset="-128"/>
              </a:rPr>
              <a:t>Suppose {</a:t>
            </a:r>
            <a:r>
              <a:rPr lang="en-US" altLang="zh-TW" sz="2400" i="1">
                <a:ea typeface="ＭＳ Ｐゴシック" panose="020B0600070205080204" pitchFamily="34" charset="-128"/>
              </a:rPr>
              <a:t>a</a:t>
            </a:r>
            <a:r>
              <a:rPr lang="en-US" altLang="zh-TW" sz="2400" i="1" baseline="-25000">
                <a:ea typeface="ＭＳ Ｐゴシック" panose="020B0600070205080204" pitchFamily="34" charset="-128"/>
              </a:rPr>
              <a:t>n</a:t>
            </a:r>
            <a:r>
              <a:rPr lang="en-US" altLang="zh-TW" sz="2400">
                <a:ea typeface="ＭＳ Ｐゴシック" panose="020B0600070205080204" pitchFamily="34" charset="-128"/>
              </a:rPr>
              <a:t>} satisfies the linear nonhomogeneous recurrence relation</a:t>
            </a:r>
          </a:p>
          <a:p>
            <a:pPr algn="ctr">
              <a:buFontTx/>
              <a:buNone/>
            </a:pP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n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= c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n-1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 c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n-2 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+. . . + c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n-k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 F(n) </a:t>
            </a:r>
          </a:p>
          <a:p>
            <a:pPr>
              <a:buFontTx/>
              <a:buNone/>
            </a:pPr>
            <a:r>
              <a:rPr lang="en-US" altLang="zh-TW" sz="2400">
                <a:ea typeface="ＭＳ Ｐゴシック" panose="020B0600070205080204" pitchFamily="34" charset="-128"/>
              </a:rPr>
              <a:t>     Where </a:t>
            </a:r>
            <a:r>
              <a:rPr lang="en-US" altLang="zh-TW" sz="2400" i="1">
                <a:ea typeface="ＭＳ Ｐゴシック" panose="020B0600070205080204" pitchFamily="34" charset="-128"/>
              </a:rPr>
              <a:t>c</a:t>
            </a:r>
            <a:r>
              <a:rPr lang="en-US" altLang="zh-TW" sz="2400" i="1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400">
                <a:ea typeface="ＭＳ Ｐゴシック" panose="020B0600070205080204" pitchFamily="34" charset="-128"/>
              </a:rPr>
              <a:t> , </a:t>
            </a:r>
            <a:r>
              <a:rPr lang="en-US" altLang="zh-TW" sz="2400" i="1">
                <a:ea typeface="ＭＳ Ｐゴシック" panose="020B0600070205080204" pitchFamily="34" charset="-128"/>
              </a:rPr>
              <a:t>c</a:t>
            </a:r>
            <a:r>
              <a:rPr lang="en-US" altLang="zh-TW" sz="2400" i="1" baseline="-25000">
                <a:ea typeface="ＭＳ Ｐゴシック" panose="020B0600070205080204" pitchFamily="34" charset="-128"/>
              </a:rPr>
              <a:t>2</a:t>
            </a:r>
            <a:r>
              <a:rPr lang="en-US" altLang="zh-TW" sz="2400">
                <a:ea typeface="ＭＳ Ｐゴシック" panose="020B0600070205080204" pitchFamily="34" charset="-128"/>
              </a:rPr>
              <a:t> ,. . ., </a:t>
            </a:r>
            <a:r>
              <a:rPr lang="en-US" altLang="zh-TW" sz="2400" i="1">
                <a:ea typeface="ＭＳ Ｐゴシック" panose="020B0600070205080204" pitchFamily="34" charset="-128"/>
              </a:rPr>
              <a:t>c</a:t>
            </a:r>
            <a:r>
              <a:rPr lang="en-US" altLang="zh-TW" sz="2400" i="1" baseline="-25000">
                <a:ea typeface="ＭＳ Ｐゴシック" panose="020B0600070205080204" pitchFamily="34" charset="-128"/>
              </a:rPr>
              <a:t>k </a:t>
            </a:r>
            <a:r>
              <a:rPr lang="en-US" altLang="zh-TW" sz="2400">
                <a:ea typeface="ＭＳ Ｐゴシック" panose="020B0600070205080204" pitchFamily="34" charset="-128"/>
              </a:rPr>
              <a:t>be real numbers and </a:t>
            </a:r>
          </a:p>
          <a:p>
            <a:pPr algn="ctr">
              <a:buFontTx/>
              <a:buNone/>
            </a:pP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F(n) = (b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t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 b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t-1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t-1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 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+. . .+ b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 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 b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0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 )*s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n </a:t>
            </a:r>
          </a:p>
          <a:p>
            <a:pPr>
              <a:buFontTx/>
              <a:buNone/>
            </a:pPr>
            <a:r>
              <a:rPr lang="en-US" altLang="zh-TW" sz="2400">
                <a:ea typeface="ＭＳ Ｐゴシック" panose="020B0600070205080204" pitchFamily="34" charset="-128"/>
              </a:rPr>
              <a:t>     Where </a:t>
            </a:r>
            <a:r>
              <a:rPr lang="en-US" altLang="zh-TW" sz="2400" i="1">
                <a:ea typeface="ＭＳ Ｐゴシック" panose="020B0600070205080204" pitchFamily="34" charset="-128"/>
              </a:rPr>
              <a:t>b</a:t>
            </a:r>
            <a:r>
              <a:rPr lang="en-US" altLang="zh-TW" sz="2400" i="1" baseline="-25000">
                <a:ea typeface="ＭＳ Ｐゴシック" panose="020B0600070205080204" pitchFamily="34" charset="-128"/>
              </a:rPr>
              <a:t>1</a:t>
            </a:r>
            <a:r>
              <a:rPr lang="en-US" altLang="zh-TW" sz="2400">
                <a:ea typeface="ＭＳ Ｐゴシック" panose="020B0600070205080204" pitchFamily="34" charset="-128"/>
              </a:rPr>
              <a:t> , </a:t>
            </a:r>
            <a:r>
              <a:rPr lang="en-US" altLang="zh-TW" sz="2400" i="1">
                <a:ea typeface="ＭＳ Ｐゴシック" panose="020B0600070205080204" pitchFamily="34" charset="-128"/>
              </a:rPr>
              <a:t>b</a:t>
            </a:r>
            <a:r>
              <a:rPr lang="en-US" altLang="zh-TW" sz="2400" i="1" baseline="-25000">
                <a:ea typeface="ＭＳ Ｐゴシック" panose="020B0600070205080204" pitchFamily="34" charset="-128"/>
              </a:rPr>
              <a:t>2</a:t>
            </a:r>
            <a:r>
              <a:rPr lang="en-US" altLang="zh-TW" sz="2400">
                <a:ea typeface="ＭＳ Ｐゴシック" panose="020B0600070205080204" pitchFamily="34" charset="-128"/>
              </a:rPr>
              <a:t> ,. . ., </a:t>
            </a:r>
            <a:r>
              <a:rPr lang="en-US" altLang="zh-TW" sz="2400" i="1">
                <a:ea typeface="ＭＳ Ｐゴシック" panose="020B0600070205080204" pitchFamily="34" charset="-128"/>
              </a:rPr>
              <a:t>b</a:t>
            </a:r>
            <a:r>
              <a:rPr lang="en-US" altLang="zh-TW" sz="2400" i="1" baseline="-25000">
                <a:ea typeface="ＭＳ Ｐゴシック" panose="020B0600070205080204" pitchFamily="34" charset="-128"/>
              </a:rPr>
              <a:t>t  </a:t>
            </a:r>
            <a:r>
              <a:rPr lang="en-US" altLang="zh-TW" sz="2400" i="1">
                <a:ea typeface="ＭＳ Ｐゴシック" panose="020B0600070205080204" pitchFamily="34" charset="-128"/>
              </a:rPr>
              <a:t> </a:t>
            </a:r>
            <a:r>
              <a:rPr lang="en-US" altLang="zh-TW" sz="2400">
                <a:ea typeface="ＭＳ Ｐゴシック" panose="020B0600070205080204" pitchFamily="34" charset="-128"/>
              </a:rPr>
              <a:t>and </a:t>
            </a:r>
            <a:r>
              <a:rPr lang="en-US" altLang="zh-TW" sz="2400" i="1">
                <a:solidFill>
                  <a:srgbClr val="0070C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zh-TW" sz="2400">
                <a:ea typeface="ＭＳ Ｐゴシック" panose="020B0600070205080204" pitchFamily="34" charset="-128"/>
              </a:rPr>
              <a:t> are real numbers. When s is not a root  of  the  characteristic  equation of the associated linear homogeneous recurrence relation, there is a particular  solution of the form</a:t>
            </a:r>
          </a:p>
          <a:p>
            <a:pPr algn="ctr">
              <a:buFontTx/>
              <a:buNone/>
            </a:pP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(p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t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 p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t-1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t-1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 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+. . .+ p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 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 p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0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 )*s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endParaRPr lang="en-US" altLang="zh-TW" sz="240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zh-TW" sz="2400">
                <a:ea typeface="ＭＳ Ｐゴシック" panose="020B0600070205080204" pitchFamily="34" charset="-128"/>
              </a:rPr>
              <a:t>     When </a:t>
            </a:r>
            <a:r>
              <a:rPr lang="en-US" altLang="zh-TW" sz="2400" i="1">
                <a:solidFill>
                  <a:srgbClr val="0070C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zh-TW" sz="2400">
                <a:ea typeface="ＭＳ Ｐゴシック" panose="020B0600070205080204" pitchFamily="34" charset="-128"/>
              </a:rPr>
              <a:t> is a root of this characteristic equation and its multiplicity is m, there is a particular solution of the form</a:t>
            </a:r>
          </a:p>
          <a:p>
            <a:pPr algn="ctr">
              <a:buFontTx/>
              <a:buNone/>
            </a:pP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m</a:t>
            </a:r>
            <a:r>
              <a:rPr lang="en-US" altLang="zh-TW" sz="2400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(p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t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 p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t-1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t-1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 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+. . .+ p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  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+ p</a:t>
            </a:r>
            <a:r>
              <a:rPr lang="en-US" altLang="zh-TW" sz="2400" i="1" baseline="-25000">
                <a:solidFill>
                  <a:srgbClr val="C00000"/>
                </a:solidFill>
                <a:ea typeface="ＭＳ Ｐゴシック" panose="020B0600070205080204" pitchFamily="34" charset="-128"/>
              </a:rPr>
              <a:t>0</a:t>
            </a:r>
            <a:r>
              <a:rPr lang="en-US" altLang="zh-TW" sz="2400" i="1">
                <a:solidFill>
                  <a:srgbClr val="C00000"/>
                </a:solidFill>
                <a:ea typeface="ＭＳ Ｐゴシック" panose="020B0600070205080204" pitchFamily="34" charset="-128"/>
              </a:rPr>
              <a:t> )*s</a:t>
            </a:r>
            <a:r>
              <a:rPr lang="en-US" altLang="zh-TW" sz="2400" i="1" baseline="30000">
                <a:solidFill>
                  <a:srgbClr val="C00000"/>
                </a:solidFill>
                <a:ea typeface="ＭＳ Ｐゴシック" panose="020B0600070205080204" pitchFamily="34" charset="-128"/>
              </a:rPr>
              <a:t>n</a:t>
            </a:r>
            <a:endParaRPr lang="en-US" altLang="zh-TW" sz="240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zh-TW" altLang="en-US" sz="2500" baseline="300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4089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標題 1">
            <a:extLst>
              <a:ext uri="{FF2B5EF4-FFF2-40B4-BE49-F238E27FC236}">
                <a16:creationId xmlns:a16="http://schemas.microsoft.com/office/drawing/2014/main" id="{7DCB17F5-79BB-7746-990C-2B59459D5D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altLang="zh-TW" sz="3200" b="1" u="sng">
                <a:solidFill>
                  <a:srgbClr val="00B050"/>
                </a:solidFill>
                <a:ea typeface="ＭＳ Ｐゴシック" panose="020B0600070205080204" pitchFamily="34" charset="-128"/>
              </a:rPr>
              <a:t>Linear Nonhomogeneous Recurrence Relations with Constant Coefficients</a:t>
            </a:r>
            <a:endParaRPr lang="zh-TW" altLang="en-US" sz="3200">
              <a:ea typeface="ＭＳ Ｐゴシック" panose="020B0600070205080204" pitchFamily="34" charset="-128"/>
            </a:endParaRPr>
          </a:p>
        </p:txBody>
      </p:sp>
      <p:sp>
        <p:nvSpPr>
          <p:cNvPr id="49154" name="內容版面配置區 2">
            <a:extLst>
              <a:ext uri="{FF2B5EF4-FFF2-40B4-BE49-F238E27FC236}">
                <a16:creationId xmlns:a16="http://schemas.microsoft.com/office/drawing/2014/main" id="{79E8B9F3-A2AD-FB49-8619-ABBD579A5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14439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rgbClr val="00B050"/>
                </a:solidFill>
                <a:ea typeface="ＭＳ Ｐゴシック" charset="0"/>
                <a:cs typeface="ＭＳ Ｐゴシック" charset="0"/>
              </a:rPr>
              <a:t>Example 12: </a:t>
            </a:r>
            <a:r>
              <a:rPr lang="en-US" altLang="zh-TW" dirty="0">
                <a:ea typeface="ＭＳ Ｐゴシック" charset="0"/>
                <a:cs typeface="ＭＳ Ｐゴシック" charset="0"/>
              </a:rPr>
              <a:t>What form does a particular solution for the linear nonhomogeneous recurrence relation </a:t>
            </a:r>
          </a:p>
          <a:p>
            <a:pPr>
              <a:buFontTx/>
              <a:buNone/>
              <a:defRPr/>
            </a:pPr>
            <a:r>
              <a:rPr lang="en-US" altLang="zh-TW" i="1" dirty="0">
                <a:ea typeface="ＭＳ Ｐゴシック" charset="0"/>
                <a:cs typeface="ＭＳ Ｐゴシック" charset="0"/>
              </a:rPr>
              <a:t>             a</a:t>
            </a:r>
            <a:r>
              <a:rPr lang="en-US" altLang="zh-TW" i="1" baseline="-25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= 6a</a:t>
            </a:r>
            <a:r>
              <a:rPr lang="en-US" altLang="zh-TW" i="1" baseline="-25000" dirty="0">
                <a:ea typeface="ＭＳ Ｐゴシック" charset="0"/>
                <a:cs typeface="ＭＳ Ｐゴシック" charset="0"/>
              </a:rPr>
              <a:t>n-1 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- 9a</a:t>
            </a:r>
            <a:r>
              <a:rPr lang="en-US" altLang="zh-TW" i="1" baseline="-25000" dirty="0">
                <a:ea typeface="ＭＳ Ｐゴシック" charset="0"/>
                <a:cs typeface="ＭＳ Ｐゴシック" charset="0"/>
              </a:rPr>
              <a:t>n-2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+ F(n)</a:t>
            </a:r>
          </a:p>
          <a:p>
            <a:pPr>
              <a:buFontTx/>
              <a:buNone/>
              <a:defRPr/>
            </a:pPr>
            <a:r>
              <a:rPr lang="en-US" altLang="zh-TW" i="1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TW" dirty="0">
                <a:ea typeface="ＭＳ Ｐゴシック" charset="0"/>
                <a:cs typeface="ＭＳ Ｐゴシック" charset="0"/>
              </a:rPr>
              <a:t>have if</a:t>
            </a:r>
          </a:p>
          <a:p>
            <a:pPr>
              <a:buFontTx/>
              <a:buAutoNum type="arabicParenBoth"/>
              <a:defRPr/>
            </a:pPr>
            <a:r>
              <a:rPr lang="en-US" altLang="zh-TW" i="1" dirty="0">
                <a:ea typeface="ＭＳ Ｐゴシック" charset="0"/>
                <a:cs typeface="ＭＳ Ｐゴシック" charset="0"/>
              </a:rPr>
              <a:t>   F(n) = 3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,  </a:t>
            </a:r>
            <a:r>
              <a:rPr lang="en-US" altLang="zh-TW" sz="2400" i="1" dirty="0">
                <a:ea typeface="ＭＳ Ｐゴシック" charset="0"/>
                <a:cs typeface="ＭＳ Ｐゴシック" charset="0"/>
              </a:rPr>
              <a:t>(try an</a:t>
            </a:r>
            <a:r>
              <a:rPr lang="en-US" altLang="zh-TW" sz="2400" i="1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altLang="zh-TW" sz="2400" i="1" dirty="0">
                <a:ea typeface="ＭＳ Ｐゴシック" charset="0"/>
                <a:cs typeface="ＭＳ Ｐゴシック" charset="0"/>
              </a:rPr>
              <a:t>3</a:t>
            </a:r>
            <a:r>
              <a:rPr lang="en-US" altLang="zh-TW" sz="2400" i="1" baseline="30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sz="2400" i="1" dirty="0">
                <a:ea typeface="ＭＳ Ｐゴシック" charset="0"/>
                <a:cs typeface="ＭＳ Ｐゴシック" charset="0"/>
              </a:rPr>
              <a:t>)</a:t>
            </a:r>
          </a:p>
          <a:p>
            <a:pPr>
              <a:buFontTx/>
              <a:buAutoNum type="arabicParenBoth"/>
              <a:defRPr/>
            </a:pPr>
            <a:r>
              <a:rPr lang="en-US" altLang="zh-TW" i="1" dirty="0">
                <a:ea typeface="ＭＳ Ｐゴシック" charset="0"/>
                <a:cs typeface="ＭＳ Ｐゴシック" charset="0"/>
              </a:rPr>
              <a:t>   F(n) = n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2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, </a:t>
            </a:r>
            <a:r>
              <a:rPr lang="en-US" altLang="zh-TW" sz="2000" i="1" dirty="0">
                <a:ea typeface="ＭＳ Ｐゴシック" charset="0"/>
                <a:cs typeface="ＭＳ Ｐゴシック" charset="0"/>
              </a:rPr>
              <a:t>(try (an</a:t>
            </a:r>
            <a:r>
              <a:rPr lang="en-US" altLang="zh-TW" sz="2000" i="1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altLang="zh-TW" sz="2000" i="1" dirty="0">
                <a:ea typeface="ＭＳ Ｐゴシック" charset="0"/>
                <a:cs typeface="ＭＳ Ｐゴシック" charset="0"/>
              </a:rPr>
              <a:t>+bn+c)2</a:t>
            </a:r>
            <a:r>
              <a:rPr lang="en-US" altLang="zh-TW" sz="2000" i="1" baseline="30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sz="2000" i="1" dirty="0">
                <a:ea typeface="ＭＳ Ｐゴシック" charset="0"/>
                <a:cs typeface="ＭＳ Ｐゴシック" charset="0"/>
              </a:rPr>
              <a:t>)</a:t>
            </a:r>
          </a:p>
          <a:p>
            <a:pPr>
              <a:buFontTx/>
              <a:buAutoNum type="arabicParenBoth"/>
              <a:defRPr/>
            </a:pPr>
            <a:r>
              <a:rPr lang="en-US" altLang="zh-TW" i="1" dirty="0">
                <a:ea typeface="ＭＳ Ｐゴシック" charset="0"/>
                <a:cs typeface="ＭＳ Ｐゴシック" charset="0"/>
              </a:rPr>
              <a:t>F(n) = (n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+1)3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TW" sz="2000" i="1" dirty="0">
                <a:ea typeface="ＭＳ Ｐゴシック" charset="0"/>
                <a:cs typeface="ＭＳ Ｐゴシック" charset="0"/>
              </a:rPr>
              <a:t>(try n</a:t>
            </a:r>
            <a:r>
              <a:rPr lang="en-US" altLang="zh-TW" sz="2000" i="1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altLang="zh-TW" sz="2000" i="1" dirty="0">
                <a:ea typeface="ＭＳ Ｐゴシック" charset="0"/>
                <a:cs typeface="ＭＳ Ｐゴシック" charset="0"/>
              </a:rPr>
              <a:t>(an</a:t>
            </a:r>
            <a:r>
              <a:rPr lang="en-US" altLang="zh-TW" sz="2000" i="1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altLang="zh-TW" sz="2000" i="1" dirty="0">
                <a:ea typeface="ＭＳ Ｐゴシック" charset="0"/>
                <a:cs typeface="ＭＳ Ｐゴシック" charset="0"/>
              </a:rPr>
              <a:t>+bn+c)3</a:t>
            </a:r>
            <a:r>
              <a:rPr lang="en-US" altLang="zh-TW" sz="2000" i="1" baseline="30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sz="2000" i="1" dirty="0">
                <a:ea typeface="ＭＳ Ｐゴシック" charset="0"/>
                <a:cs typeface="ＭＳ Ｐゴシック" charset="0"/>
              </a:rPr>
              <a:t>)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?</a:t>
            </a:r>
          </a:p>
          <a:p>
            <a:pPr marL="0" indent="0">
              <a:buNone/>
              <a:defRPr/>
            </a:pPr>
            <a:r>
              <a:rPr lang="en-US" altLang="zh-TW" i="1" dirty="0">
                <a:ea typeface="ＭＳ Ｐゴシック" charset="0"/>
                <a:cs typeface="ＭＳ Ｐゴシック" charset="0"/>
              </a:rPr>
              <a:t>hint: r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-6r+9=(r-3)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so (</a:t>
            </a:r>
            <a:r>
              <a:rPr lang="en-US" altLang="zh-TW" i="1" dirty="0" err="1">
                <a:ea typeface="ＭＳ Ｐゴシック" charset="0"/>
                <a:cs typeface="ＭＳ Ｐゴシック" charset="0"/>
              </a:rPr>
              <a:t>a+bn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)3</a:t>
            </a:r>
            <a:r>
              <a:rPr lang="en-US" altLang="zh-TW" i="1" baseline="30000" dirty="0">
                <a:ea typeface="ＭＳ Ｐゴシック" charset="0"/>
                <a:cs typeface="ＭＳ Ｐゴシック" charset="0"/>
              </a:rPr>
              <a:t>n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 is </a:t>
            </a:r>
            <a:r>
              <a:rPr lang="en-US" altLang="zh-TW" i="1" dirty="0" err="1">
                <a:ea typeface="ＭＳ Ｐゴシック" charset="0"/>
                <a:cs typeface="ＭＳ Ｐゴシック" charset="0"/>
              </a:rPr>
              <a:t>homog</a:t>
            </a:r>
            <a:r>
              <a:rPr lang="en-US" altLang="zh-TW" i="1" dirty="0">
                <a:ea typeface="ＭＳ Ｐゴシック" charset="0"/>
                <a:cs typeface="ＭＳ Ｐゴシック" charset="0"/>
              </a:rPr>
              <a:t>. </a:t>
            </a:r>
            <a:r>
              <a:rPr lang="en-US" altLang="zh-TW" i="1" dirty="0" err="1">
                <a:ea typeface="ＭＳ Ｐゴシック" charset="0"/>
                <a:cs typeface="ＭＳ Ｐゴシック" charset="0"/>
              </a:rPr>
              <a:t>soln</a:t>
            </a:r>
            <a:endParaRPr lang="zh-TW" alt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272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1704</Words>
  <Application>Microsoft Office PowerPoint</Application>
  <PresentationFormat>宽屏</PresentationFormat>
  <Paragraphs>167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ＭＳ Ｐゴシック</vt:lpstr>
      <vt:lpstr>等线</vt:lpstr>
      <vt:lpstr>等线 Light</vt:lpstr>
      <vt:lpstr>Arial</vt:lpstr>
      <vt:lpstr>Cambria Math</vt:lpstr>
      <vt:lpstr>Times New Roman</vt:lpstr>
      <vt:lpstr>Office 主题​​</vt:lpstr>
      <vt:lpstr>Equation</vt:lpstr>
      <vt:lpstr>7.3-4 Solving Linear Recurrence Relations </vt:lpstr>
      <vt:lpstr>7.3 Solving Linear Recurrence Relations</vt:lpstr>
      <vt:lpstr>Solving Linear Recurrence Relations</vt:lpstr>
      <vt:lpstr>Solving Linear Recurrence Relations</vt:lpstr>
      <vt:lpstr>Solving Linear Recurrence Relations</vt:lpstr>
      <vt:lpstr>Solving Linear Recurrence Relations</vt:lpstr>
      <vt:lpstr>Solving Linear Homogeneous Recurrence Relations with Constant Coefficients</vt:lpstr>
      <vt:lpstr>Solving Linear Homogeneous Recurrence Relations with Constant Coefficients</vt:lpstr>
      <vt:lpstr>Solving Linear Homogeneous Recurrence Relations with Constant Coefficients</vt:lpstr>
      <vt:lpstr>Solving Linear Homogeneous Recurrence Relations with Constant Coefficients</vt:lpstr>
      <vt:lpstr>Solving Linear Homogeneous Recurrence Relations with Constant Coefficients: equal roots</vt:lpstr>
      <vt:lpstr>Solving Linear Homogeneous Recurrence Relations with Constant Coefficients</vt:lpstr>
      <vt:lpstr>Solving Linear Homogeneous Recurrence Relations with Constant Coefficients</vt:lpstr>
      <vt:lpstr>PowerPoint 演示文稿</vt:lpstr>
      <vt:lpstr>Solving Linear Homogeneous Recurrence Relations with Constant Coefficients</vt:lpstr>
      <vt:lpstr>Solving Linear Homogeneous Recurrence Relations with Constant Coefficients</vt:lpstr>
      <vt:lpstr>Solving Linear Homogeneous Recurrence Relations with Constant Coefficients</vt:lpstr>
      <vt:lpstr>Solving Linear Homogeneous Recurrence Relations with Constant Coefficients</vt:lpstr>
      <vt:lpstr>7.4 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Solving the Towers of Hanoi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  <vt:lpstr>Linear Nonhomogeneous Recurrence Relations with Constant Coefficients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7.3-4 Solving Linear Recurrence Relations </dc:title>
  <dc:creator>xing</dc:creator>
  <cp:lastModifiedBy>xing</cp:lastModifiedBy>
  <cp:revision>1</cp:revision>
  <dcterms:created xsi:type="dcterms:W3CDTF">2025-12-15T13:36:57Z</dcterms:created>
  <dcterms:modified xsi:type="dcterms:W3CDTF">2025-12-15T13:37:09Z</dcterms:modified>
</cp:coreProperties>
</file>