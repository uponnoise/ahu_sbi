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91" r:id="rId3"/>
    <p:sldId id="275" r:id="rId4"/>
    <p:sldId id="258" r:id="rId5"/>
    <p:sldId id="269" r:id="rId6"/>
    <p:sldId id="261" r:id="rId7"/>
    <p:sldId id="262" r:id="rId8"/>
    <p:sldId id="263" r:id="rId9"/>
    <p:sldId id="264" r:id="rId10"/>
    <p:sldId id="292" r:id="rId11"/>
    <p:sldId id="265" r:id="rId12"/>
    <p:sldId id="266" r:id="rId13"/>
    <p:sldId id="270" r:id="rId14"/>
    <p:sldId id="271" r:id="rId15"/>
    <p:sldId id="272" r:id="rId16"/>
    <p:sldId id="273" r:id="rId17"/>
    <p:sldId id="274"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i3shpnM7JDcSLJeH5QofpLuPSKU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Jaiswal" initials="JJ" lastIdx="4" clrIdx="0">
    <p:extLst>
      <p:ext uri="{19B8F6BF-5375-455C-9EA6-DF929625EA0E}">
        <p15:presenceInfo xmlns:p15="http://schemas.microsoft.com/office/powerpoint/2012/main" userId="Jennifer Jaisw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498C1B-34B0-4C3C-94AA-386FDA666D10}" v="1" dt="2025-09-12T07:34:46.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9" autoAdjust="0"/>
    <p:restoredTop sz="94712" autoAdjust="0"/>
  </p:normalViewPr>
  <p:slideViewPr>
    <p:cSldViewPr snapToGrid="0">
      <p:cViewPr varScale="1">
        <p:scale>
          <a:sx n="143" d="100"/>
          <a:sy n="143" d="100"/>
        </p:scale>
        <p:origin x="2313" y="6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0" Type="http://schemas.openxmlformats.org/officeDocument/2006/relationships/slide" Target="slides/slide19.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34F8855-C621-4438-806B-08A2E2CB3E3D}"/>
    <pc:docChg chg="undo custSel addSld delSld modSld">
      <pc:chgData name="于 心瑞 Xinrui YU" userId="e6fcc6d4-2b88-4beb-95d7-57ae4d33a768" providerId="ADAL" clId="{F34F8855-C621-4438-806B-08A2E2CB3E3D}" dt="2025-09-13T05:07:06.854" v="5" actId="20577"/>
      <pc:docMkLst>
        <pc:docMk/>
      </pc:docMkLst>
      <pc:sldChg chg="modNotesTx">
        <pc:chgData name="于 心瑞 Xinrui YU" userId="e6fcc6d4-2b88-4beb-95d7-57ae4d33a768" providerId="ADAL" clId="{F34F8855-C621-4438-806B-08A2E2CB3E3D}" dt="2025-09-13T05:06:48.984" v="0" actId="20577"/>
        <pc:sldMkLst>
          <pc:docMk/>
          <pc:sldMk cId="0" sldId="264"/>
        </pc:sldMkLst>
      </pc:sldChg>
      <pc:sldChg chg="modNotesTx">
        <pc:chgData name="于 心瑞 Xinrui YU" userId="e6fcc6d4-2b88-4beb-95d7-57ae4d33a768" providerId="ADAL" clId="{F34F8855-C621-4438-806B-08A2E2CB3E3D}" dt="2025-09-13T05:07:06.854" v="5" actId="20577"/>
        <pc:sldMkLst>
          <pc:docMk/>
          <pc:sldMk cId="0" sldId="266"/>
        </pc:sldMkLst>
      </pc:sldChg>
      <pc:sldChg chg="modNotesTx">
        <pc:chgData name="于 心瑞 Xinrui YU" userId="e6fcc6d4-2b88-4beb-95d7-57ae4d33a768" providerId="ADAL" clId="{F34F8855-C621-4438-806B-08A2E2CB3E3D}" dt="2025-09-13T05:07:00.563" v="4" actId="20577"/>
        <pc:sldMkLst>
          <pc:docMk/>
          <pc:sldMk cId="4260735941" sldId="270"/>
        </pc:sldMkLst>
      </pc:sldChg>
      <pc:sldChg chg="modNotesTx">
        <pc:chgData name="于 心瑞 Xinrui YU" userId="e6fcc6d4-2b88-4beb-95d7-57ae4d33a768" providerId="ADAL" clId="{F34F8855-C621-4438-806B-08A2E2CB3E3D}" dt="2025-09-13T05:06:53.173" v="1" actId="20577"/>
        <pc:sldMkLst>
          <pc:docMk/>
          <pc:sldMk cId="4177775162" sldId="292"/>
        </pc:sldMkLst>
      </pc:sldChg>
      <pc:sldChg chg="new del">
        <pc:chgData name="于 心瑞 Xinrui YU" userId="e6fcc6d4-2b88-4beb-95d7-57ae4d33a768" providerId="ADAL" clId="{F34F8855-C621-4438-806B-08A2E2CB3E3D}" dt="2025-09-13T05:06:58.323" v="3" actId="680"/>
        <pc:sldMkLst>
          <pc:docMk/>
          <pc:sldMk cId="2156864299" sldId="293"/>
        </pc:sldMkLst>
      </pc:sldChg>
    </pc:docChg>
  </pc:docChgLst>
  <pc:docChgLst>
    <pc:chgData name="于 心瑞 Xinrui YU" userId="e6fcc6d4-2b88-4beb-95d7-57ae4d33a768" providerId="ADAL" clId="{CFFA9A75-F840-4F6F-AF7D-069F806E1180}"/>
    <pc:docChg chg="modSld">
      <pc:chgData name="于 心瑞 Xinrui YU" userId="e6fcc6d4-2b88-4beb-95d7-57ae4d33a768" providerId="ADAL" clId="{CFFA9A75-F840-4F6F-AF7D-069F806E1180}" dt="2025-09-12T10:15:02.405" v="53" actId="20577"/>
      <pc:docMkLst>
        <pc:docMk/>
      </pc:docMkLst>
      <pc:sldChg chg="addSp delSp mod">
        <pc:chgData name="于 心瑞 Xinrui YU" userId="e6fcc6d4-2b88-4beb-95d7-57ae4d33a768" providerId="ADAL" clId="{CFFA9A75-F840-4F6F-AF7D-069F806E1180}" dt="2025-09-12T09:03:13.413" v="25" actId="33639"/>
        <pc:sldMkLst>
          <pc:docMk/>
          <pc:sldMk cId="0" sldId="258"/>
        </pc:sldMkLst>
        <pc:inkChg chg="add del">
          <ac:chgData name="于 心瑞 Xinrui YU" userId="e6fcc6d4-2b88-4beb-95d7-57ae4d33a768" providerId="ADAL" clId="{CFFA9A75-F840-4F6F-AF7D-069F806E1180}" dt="2025-09-12T09:03:13.413" v="25" actId="33639"/>
          <ac:inkMkLst>
            <pc:docMk/>
            <pc:sldMk cId="0" sldId="258"/>
            <ac:inkMk id="2" creationId="{DBDA4693-F61D-62B8-8BA9-8DC04D91B12B}"/>
          </ac:inkMkLst>
        </pc:inkChg>
      </pc:sldChg>
      <pc:sldChg chg="addSp delSp mod">
        <pc:chgData name="于 心瑞 Xinrui YU" userId="e6fcc6d4-2b88-4beb-95d7-57ae4d33a768" providerId="ADAL" clId="{CFFA9A75-F840-4F6F-AF7D-069F806E1180}" dt="2025-09-12T09:03:13.413" v="25" actId="33639"/>
        <pc:sldMkLst>
          <pc:docMk/>
          <pc:sldMk cId="0" sldId="261"/>
        </pc:sldMkLst>
        <pc:inkChg chg="add del">
          <ac:chgData name="于 心瑞 Xinrui YU" userId="e6fcc6d4-2b88-4beb-95d7-57ae4d33a768" providerId="ADAL" clId="{CFFA9A75-F840-4F6F-AF7D-069F806E1180}" dt="2025-09-12T09:03:13.413" v="25" actId="33639"/>
          <ac:inkMkLst>
            <pc:docMk/>
            <pc:sldMk cId="0" sldId="261"/>
            <ac:inkMk id="3" creationId="{61CBFD64-090E-2257-DCF5-110416624EE8}"/>
          </ac:inkMkLst>
        </pc:inkChg>
      </pc:sldChg>
      <pc:sldChg chg="addSp delSp mod">
        <pc:chgData name="于 心瑞 Xinrui YU" userId="e6fcc6d4-2b88-4beb-95d7-57ae4d33a768" providerId="ADAL" clId="{CFFA9A75-F840-4F6F-AF7D-069F806E1180}" dt="2025-09-12T09:03:13.413" v="25" actId="33639"/>
        <pc:sldMkLst>
          <pc:docMk/>
          <pc:sldMk cId="0" sldId="263"/>
        </pc:sldMkLst>
        <pc:inkChg chg="add del">
          <ac:chgData name="于 心瑞 Xinrui YU" userId="e6fcc6d4-2b88-4beb-95d7-57ae4d33a768" providerId="ADAL" clId="{CFFA9A75-F840-4F6F-AF7D-069F806E1180}" dt="2025-09-12T09:03:13.413" v="25" actId="33639"/>
          <ac:inkMkLst>
            <pc:docMk/>
            <pc:sldMk cId="0" sldId="263"/>
            <ac:inkMk id="2" creationId="{D3856FD9-DE3F-DEF0-B992-51E0E454FB96}"/>
          </ac:inkMkLst>
        </pc:inkChg>
      </pc:sldChg>
      <pc:sldChg chg="addSp delSp mod">
        <pc:chgData name="于 心瑞 Xinrui YU" userId="e6fcc6d4-2b88-4beb-95d7-57ae4d33a768" providerId="ADAL" clId="{CFFA9A75-F840-4F6F-AF7D-069F806E1180}" dt="2025-09-12T09:03:13.413" v="25" actId="33639"/>
        <pc:sldMkLst>
          <pc:docMk/>
          <pc:sldMk cId="0" sldId="264"/>
        </pc:sldMkLst>
        <pc:inkChg chg="add del">
          <ac:chgData name="于 心瑞 Xinrui YU" userId="e6fcc6d4-2b88-4beb-95d7-57ae4d33a768" providerId="ADAL" clId="{CFFA9A75-F840-4F6F-AF7D-069F806E1180}" dt="2025-09-12T09:03:13.413" v="25" actId="33639"/>
          <ac:inkMkLst>
            <pc:docMk/>
            <pc:sldMk cId="0" sldId="264"/>
            <ac:inkMk id="2" creationId="{86D21BC7-F7A5-9A0D-2830-1DC1D9B42A2E}"/>
          </ac:inkMkLst>
        </pc:inkChg>
      </pc:sldChg>
      <pc:sldChg chg="addSp delSp mod">
        <pc:chgData name="于 心瑞 Xinrui YU" userId="e6fcc6d4-2b88-4beb-95d7-57ae4d33a768" providerId="ADAL" clId="{CFFA9A75-F840-4F6F-AF7D-069F806E1180}" dt="2025-09-12T09:03:13.413" v="25" actId="33639"/>
        <pc:sldMkLst>
          <pc:docMk/>
          <pc:sldMk cId="0" sldId="265"/>
        </pc:sldMkLst>
        <pc:inkChg chg="add del">
          <ac:chgData name="于 心瑞 Xinrui YU" userId="e6fcc6d4-2b88-4beb-95d7-57ae4d33a768" providerId="ADAL" clId="{CFFA9A75-F840-4F6F-AF7D-069F806E1180}" dt="2025-09-12T09:03:13.413" v="25" actId="33639"/>
          <ac:inkMkLst>
            <pc:docMk/>
            <pc:sldMk cId="0" sldId="265"/>
            <ac:inkMk id="2" creationId="{71E6ECDB-481F-957E-AEA4-D61B098DA8DB}"/>
          </ac:inkMkLst>
        </pc:inkChg>
      </pc:sldChg>
      <pc:sldChg chg="addSp delSp mod modNotesTx">
        <pc:chgData name="于 心瑞 Xinrui YU" userId="e6fcc6d4-2b88-4beb-95d7-57ae4d33a768" providerId="ADAL" clId="{CFFA9A75-F840-4F6F-AF7D-069F806E1180}" dt="2025-09-12T09:03:13.413" v="25" actId="33639"/>
        <pc:sldMkLst>
          <pc:docMk/>
          <pc:sldMk cId="0" sldId="266"/>
        </pc:sldMkLst>
        <pc:inkChg chg="add del">
          <ac:chgData name="于 心瑞 Xinrui YU" userId="e6fcc6d4-2b88-4beb-95d7-57ae4d33a768" providerId="ADAL" clId="{CFFA9A75-F840-4F6F-AF7D-069F806E1180}" dt="2025-09-12T09:03:13.413" v="25" actId="33639"/>
          <ac:inkMkLst>
            <pc:docMk/>
            <pc:sldMk cId="0" sldId="266"/>
            <ac:inkMk id="2" creationId="{D156355A-7B3B-5E60-B26F-4EBE78A0A96A}"/>
          </ac:inkMkLst>
        </pc:inkChg>
      </pc:sldChg>
      <pc:sldChg chg="addSp delSp mod">
        <pc:chgData name="于 心瑞 Xinrui YU" userId="e6fcc6d4-2b88-4beb-95d7-57ae4d33a768" providerId="ADAL" clId="{CFFA9A75-F840-4F6F-AF7D-069F806E1180}" dt="2025-09-12T09:03:13.413" v="25" actId="33639"/>
        <pc:sldMkLst>
          <pc:docMk/>
          <pc:sldMk cId="1303234049" sldId="269"/>
        </pc:sldMkLst>
        <pc:inkChg chg="add del">
          <ac:chgData name="于 心瑞 Xinrui YU" userId="e6fcc6d4-2b88-4beb-95d7-57ae4d33a768" providerId="ADAL" clId="{CFFA9A75-F840-4F6F-AF7D-069F806E1180}" dt="2025-09-12T09:03:13.413" v="25" actId="33639"/>
          <ac:inkMkLst>
            <pc:docMk/>
            <pc:sldMk cId="1303234049" sldId="269"/>
            <ac:inkMk id="3" creationId="{7AD1A35F-223D-6802-C389-C14BEDFD8702}"/>
          </ac:inkMkLst>
        </pc:inkChg>
      </pc:sldChg>
      <pc:sldChg chg="modNotesTx">
        <pc:chgData name="于 心瑞 Xinrui YU" userId="e6fcc6d4-2b88-4beb-95d7-57ae4d33a768" providerId="ADAL" clId="{CFFA9A75-F840-4F6F-AF7D-069F806E1180}" dt="2025-09-12T10:15:02.405" v="53" actId="20577"/>
        <pc:sldMkLst>
          <pc:docMk/>
          <pc:sldMk cId="4260735941" sldId="270"/>
        </pc:sldMkLst>
      </pc:sldChg>
      <pc:sldChg chg="addSp delSp mod">
        <pc:chgData name="于 心瑞 Xinrui YU" userId="e6fcc6d4-2b88-4beb-95d7-57ae4d33a768" providerId="ADAL" clId="{CFFA9A75-F840-4F6F-AF7D-069F806E1180}" dt="2025-09-12T09:03:13.413" v="25" actId="33639"/>
        <pc:sldMkLst>
          <pc:docMk/>
          <pc:sldMk cId="1041437718" sldId="275"/>
        </pc:sldMkLst>
        <pc:inkChg chg="add del">
          <ac:chgData name="于 心瑞 Xinrui YU" userId="e6fcc6d4-2b88-4beb-95d7-57ae4d33a768" providerId="ADAL" clId="{CFFA9A75-F840-4F6F-AF7D-069F806E1180}" dt="2025-09-12T09:03:13.413" v="25" actId="33639"/>
          <ac:inkMkLst>
            <pc:docMk/>
            <pc:sldMk cId="1041437718" sldId="275"/>
            <ac:inkMk id="2" creationId="{3688A43E-67EC-2308-1354-3AACD50F58DC}"/>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9218311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343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81339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69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795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3231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5678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1077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7949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03687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41971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8614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53972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4063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9983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5838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247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8987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047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643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88732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8516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849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0679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722915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650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1540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9540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13675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3484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
        <p:cNvGrpSpPr/>
        <p:nvPr/>
      </p:nvGrpSpPr>
      <p:grpSpPr>
        <a:xfrm>
          <a:off x="0" y="0"/>
          <a:ext cx="0" cy="0"/>
          <a:chOff x="0" y="0"/>
          <a:chExt cx="0" cy="0"/>
        </a:xfrm>
      </p:grpSpPr>
      <p:sp>
        <p:nvSpPr>
          <p:cNvPr id="14" name="Google Shape;14;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6" name="Google Shape;16;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7" name="Google Shape;17;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1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0" name="Google Shape;20;p1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1" name="Google Shape;2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1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4" name="Google Shape;2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thejavaprogrammer.com/java-platform-independent-languag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hyperlink" Target="https://learnittolive.wordpress.com/2015/07/11/why-java-is-platform-independen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5" name="Google Shape;55;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1800"/>
              <a:buNone/>
            </a:pPr>
            <a:endParaRPr sz="3200" b="1" dirty="0">
              <a:solidFill>
                <a:schemeClr val="dk1"/>
              </a:solidFill>
            </a:endParaRPr>
          </a:p>
          <a:p>
            <a:pPr marL="0" lvl="0" indent="0" algn="ctr" rtl="0">
              <a:lnSpc>
                <a:spcPct val="100000"/>
              </a:lnSpc>
              <a:spcBef>
                <a:spcPts val="0"/>
              </a:spcBef>
              <a:spcAft>
                <a:spcPts val="0"/>
              </a:spcAft>
              <a:buSzPts val="1800"/>
              <a:buNone/>
            </a:pPr>
            <a:r>
              <a:rPr lang="en-US" sz="3200" b="1" dirty="0">
                <a:solidFill>
                  <a:schemeClr val="dk1"/>
                </a:solidFill>
              </a:rPr>
              <a:t>Java and Platform Independence</a:t>
            </a:r>
            <a:endParaRPr sz="3200" b="1" dirty="0">
              <a:solidFill>
                <a:schemeClr val="dk1"/>
              </a:solidFill>
            </a:endParaRPr>
          </a:p>
        </p:txBody>
      </p:sp>
      <p:pic>
        <p:nvPicPr>
          <p:cNvPr id="2" name="그림 1" descr="Text, letter&#10;&#10;Description automatically generated">
            <a:extLst>
              <a:ext uri="{FF2B5EF4-FFF2-40B4-BE49-F238E27FC236}">
                <a16:creationId xmlns:a16="http://schemas.microsoft.com/office/drawing/2014/main" id="{21E2876D-AE69-EDF3-C52D-8F49D5FE22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 </a:t>
            </a:r>
          </a:p>
        </p:txBody>
      </p:sp>
      <p:sp>
        <p:nvSpPr>
          <p:cNvPr id="3" name="Text Placeholder 2"/>
          <p:cNvSpPr>
            <a:spLocks noGrp="1"/>
          </p:cNvSpPr>
          <p:nvPr>
            <p:ph type="body" idx="1"/>
          </p:nvPr>
        </p:nvSpPr>
        <p:spPr/>
        <p:txBody>
          <a:bodyPr>
            <a:normAutofit/>
          </a:bodyPr>
          <a:lstStyle/>
          <a:p>
            <a:pPr fontAlgn="base"/>
            <a:r>
              <a:rPr lang="en-US" sz="2100" dirty="0">
                <a:solidFill>
                  <a:schemeClr val="tx1"/>
                </a:solidFill>
                <a:cs typeface="Courier New" pitchFamily="49" charset="0"/>
              </a:rPr>
              <a:t>Java history, motivation</a:t>
            </a:r>
          </a:p>
          <a:p>
            <a:pPr fontAlgn="base"/>
            <a:r>
              <a:rPr lang="en-US" sz="2100" dirty="0">
                <a:solidFill>
                  <a:schemeClr val="tx1"/>
                </a:solidFill>
                <a:cs typeface="Courier New" pitchFamily="49" charset="0"/>
              </a:rPr>
              <a:t>Java platform independence</a:t>
            </a:r>
          </a:p>
          <a:p>
            <a:pPr fontAlgn="base"/>
            <a:r>
              <a:rPr lang="en-US" sz="2100" dirty="0">
                <a:solidFill>
                  <a:schemeClr val="tx1"/>
                </a:solidFill>
                <a:cs typeface="Courier New" pitchFamily="49" charset="0"/>
              </a:rPr>
              <a:t>Java compilation process</a:t>
            </a:r>
          </a:p>
          <a:p>
            <a:pPr fontAlgn="base"/>
            <a:r>
              <a:rPr lang="en-US" sz="2100" dirty="0">
                <a:solidFill>
                  <a:schemeClr val="tx1"/>
                </a:solidFill>
                <a:cs typeface="Courier New" pitchFamily="49" charset="0"/>
              </a:rPr>
              <a:t>Tracing a Java program</a:t>
            </a:r>
          </a:p>
          <a:p>
            <a:pPr fontAlgn="base"/>
            <a:r>
              <a:rPr lang="en-US" sz="2100" dirty="0">
                <a:solidFill>
                  <a:schemeClr val="tx1"/>
                </a:solidFill>
                <a:cs typeface="Courier New" pitchFamily="49" charset="0"/>
              </a:rPr>
              <a:t>Scanner class: getting user input</a:t>
            </a:r>
          </a:p>
          <a:p>
            <a:pPr fontAlgn="base"/>
            <a:r>
              <a:rPr lang="en-US" sz="2100" dirty="0">
                <a:solidFill>
                  <a:schemeClr val="tx1"/>
                </a:solidFill>
                <a:cs typeface="Courier New" pitchFamily="49" charset="0"/>
              </a:rPr>
              <a:t>Anatomy of a Java program</a:t>
            </a:r>
          </a:p>
          <a:p>
            <a:pPr lvl="1" fontAlgn="base"/>
            <a:endParaRPr lang="en-US" sz="1500" dirty="0">
              <a:solidFill>
                <a:schemeClr val="tx1"/>
              </a:solidFill>
              <a:cs typeface="Courier New" pitchFamily="49" charset="0"/>
            </a:endParaRPr>
          </a:p>
          <a:p>
            <a:pPr marL="596900" lvl="1" indent="0" fontAlgn="base">
              <a:buNone/>
            </a:pPr>
            <a:endParaRPr lang="en-US" sz="1500" dirty="0">
              <a:solidFill>
                <a:schemeClr val="tx1"/>
              </a:solidFill>
              <a:cs typeface="Courier New" pitchFamily="49" charset="0"/>
            </a:endParaRPr>
          </a:p>
          <a:p>
            <a:pPr lvl="1" fontAlgn="base"/>
            <a:endParaRPr lang="en-US" sz="1500" dirty="0">
              <a:solidFill>
                <a:schemeClr val="tx1"/>
              </a:solidFill>
              <a:cs typeface="Courier New" pitchFamily="49" charset="0"/>
            </a:endParaRPr>
          </a:p>
          <a:p>
            <a:endParaRPr lang="en-US" dirty="0"/>
          </a:p>
        </p:txBody>
      </p:sp>
    </p:spTree>
    <p:extLst>
      <p:ext uri="{BB962C8B-B14F-4D97-AF65-F5344CB8AC3E}">
        <p14:creationId xmlns:p14="http://schemas.microsoft.com/office/powerpoint/2010/main" val="4294376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US" b="1" dirty="0"/>
              <a:t>J</a:t>
            </a:r>
            <a:r>
              <a:rPr lang="en" b="1" dirty="0"/>
              <a:t>ava History</a:t>
            </a:r>
            <a:endParaRPr dirty="0"/>
          </a:p>
          <a:p>
            <a:pPr marL="0" lvl="0" indent="0" algn="l" rtl="0">
              <a:lnSpc>
                <a:spcPct val="100000"/>
              </a:lnSpc>
              <a:spcBef>
                <a:spcPts val="0"/>
              </a:spcBef>
              <a:spcAft>
                <a:spcPts val="0"/>
              </a:spcAft>
              <a:buSzPct val="111111"/>
              <a:buNone/>
            </a:pPr>
            <a:endParaRPr dirty="0"/>
          </a:p>
        </p:txBody>
      </p:sp>
      <p:sp>
        <p:nvSpPr>
          <p:cNvPr id="62"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285750" indent="-285750">
              <a:buClr>
                <a:schemeClr val="dk1"/>
              </a:buClr>
              <a:buSzPct val="100000"/>
            </a:pPr>
            <a:r>
              <a:rPr lang="en-US" dirty="0"/>
              <a:t>James Gosling, Mike Sheridan, and Patrick Naughton initiated the Java language project in June 1991 [*]</a:t>
            </a:r>
          </a:p>
          <a:p>
            <a:pPr marL="0" indent="0">
              <a:buClr>
                <a:schemeClr val="dk1"/>
              </a:buClr>
              <a:buSzPct val="100000"/>
              <a:buNone/>
            </a:pPr>
            <a:endParaRPr lang="en-US" dirty="0"/>
          </a:p>
          <a:p>
            <a:pPr marL="285750" indent="-285750"/>
            <a:r>
              <a:rPr lang="en-US" dirty="0"/>
              <a:t>Sun Microsystems released the first public implementation as Java 1.0 in 1996[*]</a:t>
            </a:r>
          </a:p>
          <a:p>
            <a:pPr marL="0" indent="0">
              <a:buNone/>
            </a:pPr>
            <a:endParaRPr lang="en-US" dirty="0"/>
          </a:p>
          <a:p>
            <a:pPr marL="285750" indent="-285750"/>
            <a:r>
              <a:rPr lang="en-US" dirty="0"/>
              <a:t>As of S</a:t>
            </a:r>
            <a:r>
              <a:rPr lang="en-US" altLang="zh-CN" dirty="0"/>
              <a:t>ep</a:t>
            </a:r>
            <a:r>
              <a:rPr lang="en-US" dirty="0"/>
              <a:t>, 2025, latest Java edition with LTS (Long Term Support) is Java 21</a:t>
            </a:r>
            <a:r>
              <a:rPr lang="en-US" b="1" dirty="0"/>
              <a:t>.</a:t>
            </a:r>
            <a:br>
              <a:rPr lang="en-US" b="1" dirty="0"/>
            </a:br>
            <a:endParaRPr lang="en-US" dirty="0"/>
          </a:p>
          <a:p>
            <a:pPr marL="0" lvl="0" indent="0">
              <a:buClr>
                <a:schemeClr val="dk1"/>
              </a:buClr>
              <a:buSzPts val="1100"/>
              <a:buNone/>
            </a:pPr>
            <a:endParaRPr lang="en-US" dirty="0"/>
          </a:p>
          <a:p>
            <a:pPr marL="0" lvl="0" indent="0">
              <a:buClr>
                <a:schemeClr val="dk1"/>
              </a:buClr>
              <a:buSzPts val="1100"/>
              <a:buNone/>
            </a:pPr>
            <a:endParaRPr lang="en-US" dirty="0"/>
          </a:p>
        </p:txBody>
      </p:sp>
      <p:sp>
        <p:nvSpPr>
          <p:cNvPr id="4" name="TextBox 3"/>
          <p:cNvSpPr txBox="1"/>
          <p:nvPr/>
        </p:nvSpPr>
        <p:spPr>
          <a:xfrm>
            <a:off x="776847" y="4260508"/>
            <a:ext cx="5118709" cy="307777"/>
          </a:xfrm>
          <a:prstGeom prst="rect">
            <a:avLst/>
          </a:prstGeom>
          <a:noFill/>
        </p:spPr>
        <p:txBody>
          <a:bodyPr wrap="none" rtlCol="0">
            <a:spAutoFit/>
          </a:bodyPr>
          <a:lstStyle/>
          <a:p>
            <a:r>
              <a:rPr lang="en-US" dirty="0"/>
              <a:t>[*] https://en.wikipedia.org/wiki/Java_(programming_language)</a:t>
            </a:r>
          </a:p>
        </p:txBody>
      </p:sp>
    </p:spTree>
    <p:extLst>
      <p:ext uri="{BB962C8B-B14F-4D97-AF65-F5344CB8AC3E}">
        <p14:creationId xmlns:p14="http://schemas.microsoft.com/office/powerpoint/2010/main" val="104143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b="1" dirty="0"/>
              <a:t>Why Java ? </a:t>
            </a:r>
            <a:br>
              <a:rPr lang="en-US" dirty="0"/>
            </a:br>
            <a:endParaRPr dirty="0"/>
          </a:p>
        </p:txBody>
      </p:sp>
      <p:sp>
        <p:nvSpPr>
          <p:cNvPr id="68" name="Google Shape;68;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spcBef>
                <a:spcPts val="900"/>
              </a:spcBef>
              <a:buNone/>
            </a:pPr>
            <a:r>
              <a:rPr lang="en-US" dirty="0"/>
              <a:t>Java is somewhat different: </a:t>
            </a:r>
            <a:r>
              <a:rPr lang="en-US" b="1" dirty="0"/>
              <a:t>Platform independence.</a:t>
            </a:r>
            <a:endParaRPr dirty="0"/>
          </a:p>
          <a:p>
            <a:pPr marL="742950" lvl="1" indent="-285750" algn="l" rtl="0">
              <a:lnSpc>
                <a:spcPct val="115000"/>
              </a:lnSpc>
              <a:spcBef>
                <a:spcPts val="0"/>
              </a:spcBef>
              <a:spcAft>
                <a:spcPts val="0"/>
              </a:spcAft>
              <a:buSzPts val="1400"/>
              <a:buChar char="○"/>
            </a:pPr>
            <a:r>
              <a:rPr lang="en-US" sz="1800" dirty="0"/>
              <a:t>Java has a principle, “write once, run anywhere”.</a:t>
            </a:r>
            <a:endParaRPr dirty="0"/>
          </a:p>
          <a:p>
            <a:pPr marL="742950" lvl="1" indent="-285750" algn="l" rtl="0">
              <a:lnSpc>
                <a:spcPct val="115000"/>
              </a:lnSpc>
              <a:spcBef>
                <a:spcPts val="0"/>
              </a:spcBef>
              <a:spcAft>
                <a:spcPts val="0"/>
              </a:spcAft>
              <a:buSzPts val="1400"/>
              <a:buChar char="○"/>
            </a:pPr>
            <a:r>
              <a:rPr lang="en-US" sz="1800" dirty="0"/>
              <a:t>What does that mean?</a:t>
            </a:r>
            <a:endParaRPr sz="1800" dirty="0"/>
          </a:p>
          <a:p>
            <a:pPr marL="457200" lvl="1" indent="0" algn="l" rtl="0">
              <a:lnSpc>
                <a:spcPct val="115000"/>
              </a:lnSpc>
              <a:spcBef>
                <a:spcPts val="0"/>
              </a:spcBef>
              <a:spcAft>
                <a:spcPts val="0"/>
              </a:spcAft>
              <a:buSzPts val="1400"/>
              <a:buNone/>
            </a:pPr>
            <a:r>
              <a:rPr lang="en-US" sz="1800" dirty="0"/>
              <a:t>	</a:t>
            </a:r>
            <a:r>
              <a:rPr lang="en-US" sz="1800" b="1" dirty="0"/>
              <a:t>Platform independence </a:t>
            </a:r>
            <a:r>
              <a:rPr lang="en-US" sz="1800" dirty="0"/>
              <a:t>for compiled Java code.</a:t>
            </a:r>
            <a:endParaRPr sz="1800" dirty="0"/>
          </a:p>
          <a:p>
            <a:pPr marL="742950" lvl="1" indent="-285750" algn="l" rtl="0">
              <a:lnSpc>
                <a:spcPct val="115000"/>
              </a:lnSpc>
              <a:spcBef>
                <a:spcPts val="0"/>
              </a:spcBef>
              <a:spcAft>
                <a:spcPts val="0"/>
              </a:spcAft>
              <a:buSzPts val="1400"/>
              <a:buChar char="○"/>
            </a:pPr>
            <a:r>
              <a:rPr lang="en-US" sz="1800" dirty="0"/>
              <a:t>How?</a:t>
            </a:r>
            <a:endParaRPr sz="1800" dirty="0"/>
          </a:p>
          <a:p>
            <a:pPr marL="457200" lvl="1" indent="0" algn="l" rtl="0">
              <a:lnSpc>
                <a:spcPct val="115000"/>
              </a:lnSpc>
              <a:spcBef>
                <a:spcPts val="0"/>
              </a:spcBef>
              <a:spcAft>
                <a:spcPts val="0"/>
              </a:spcAft>
              <a:buSzPts val="1400"/>
              <a:buNone/>
            </a:pPr>
            <a:r>
              <a:rPr lang="en-US" sz="1800" dirty="0"/>
              <a:t>	The Java Virtual Machine.</a:t>
            </a:r>
            <a:endParaRPr sz="1800" dirty="0"/>
          </a:p>
          <a:p>
            <a:pPr marL="742950" lvl="1" indent="-285750" algn="l" rtl="0">
              <a:lnSpc>
                <a:spcPct val="115000"/>
              </a:lnSpc>
              <a:spcBef>
                <a:spcPts val="0"/>
              </a:spcBef>
              <a:spcAft>
                <a:spcPts val="0"/>
              </a:spcAft>
              <a:buSzPts val="1400"/>
              <a:buChar char="○"/>
            </a:pPr>
            <a:r>
              <a:rPr lang="en-US" sz="1800" dirty="0"/>
              <a:t>Java programs are compiled into Java </a:t>
            </a:r>
            <a:r>
              <a:rPr lang="en-US" sz="1800" dirty="0" err="1"/>
              <a:t>bytecode</a:t>
            </a:r>
            <a:r>
              <a:rPr lang="en-US" sz="1800" dirty="0"/>
              <a:t>.</a:t>
            </a:r>
            <a:endParaRPr sz="1800" dirty="0"/>
          </a:p>
          <a:p>
            <a:pPr marL="457200" lvl="1" indent="0" algn="l" rtl="0">
              <a:lnSpc>
                <a:spcPct val="115000"/>
              </a:lnSpc>
              <a:spcBef>
                <a:spcPts val="0"/>
              </a:spcBef>
              <a:spcAft>
                <a:spcPts val="0"/>
              </a:spcAft>
              <a:buSzPts val="1400"/>
              <a:buNone/>
            </a:pPr>
            <a:r>
              <a:rPr lang="en-US" sz="1800" dirty="0"/>
              <a:t>	bytecode is executed by the J</a:t>
            </a:r>
            <a:r>
              <a:rPr lang="en-US" sz="1800" b="1" dirty="0"/>
              <a:t>ava Virtual Machine (JVM).</a:t>
            </a:r>
            <a:endParaRPr sz="1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8">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Java: Platform Independence</a:t>
            </a:r>
            <a:endParaRPr dirty="0"/>
          </a:p>
          <a:p>
            <a:pPr marL="0" lvl="0" indent="0" algn="l" rtl="0">
              <a:spcBef>
                <a:spcPts val="0"/>
              </a:spcBef>
              <a:spcAft>
                <a:spcPts val="0"/>
              </a:spcAft>
              <a:buNone/>
            </a:pPr>
            <a:endParaRPr dirty="0"/>
          </a:p>
        </p:txBody>
      </p:sp>
      <p:sp>
        <p:nvSpPr>
          <p:cNvPr id="61" name="Google Shape;61;p14"/>
          <p:cNvSpPr txBox="1">
            <a:spLocks noGrp="1"/>
          </p:cNvSpPr>
          <p:nvPr>
            <p:ph type="body" idx="1"/>
          </p:nvPr>
        </p:nvSpPr>
        <p:spPr>
          <a:prstGeom prst="rect">
            <a:avLst/>
          </a:prstGeom>
        </p:spPr>
        <p:txBody>
          <a:bodyPr spcFirstLastPara="1" wrap="square" lIns="91425" tIns="91425" rIns="91425" bIns="91425" anchor="t" anchorCtr="0">
            <a:normAutofit/>
          </a:bodyPr>
          <a:lstStyle/>
          <a:p>
            <a:pPr marL="0" indent="0">
              <a:spcBef>
                <a:spcPts val="1200"/>
              </a:spcBef>
              <a:spcAft>
                <a:spcPts val="1200"/>
              </a:spcAft>
              <a:buNone/>
            </a:pPr>
            <a:r>
              <a:rPr lang="en-US" sz="1200" b="1" dirty="0">
                <a:solidFill>
                  <a:srgbClr val="7030A0"/>
                </a:solidFill>
                <a:hlinkClick r:id="rId3">
                  <a:extLst>
                    <a:ext uri="{A12FA001-AC4F-418D-AE19-62706E023703}">
                      <ahyp:hlinkClr xmlns:ahyp="http://schemas.microsoft.com/office/drawing/2018/hyperlinkcolor" val="tx"/>
                    </a:ext>
                  </a:extLst>
                </a:hlinkClick>
              </a:rPr>
              <a:t>Source: https://www.thejavaprogrammer.com/java-platform-independent-language/</a:t>
            </a:r>
            <a:endParaRPr lang="en-US" sz="1200" b="1" dirty="0">
              <a:solidFill>
                <a:srgbClr val="7030A0"/>
              </a:solidFill>
            </a:endParaRPr>
          </a:p>
          <a:p>
            <a:pPr marL="0" lvl="0" indent="0" algn="l" rtl="0">
              <a:spcBef>
                <a:spcPts val="1200"/>
              </a:spcBef>
              <a:spcAft>
                <a:spcPts val="1200"/>
              </a:spcAft>
              <a:buNone/>
            </a:pPr>
            <a:endParaRPr dirty="0"/>
          </a:p>
        </p:txBody>
      </p:sp>
      <p:sp>
        <p:nvSpPr>
          <p:cNvPr id="2" name="Text Placeholder 1">
            <a:extLst>
              <a:ext uri="{FF2B5EF4-FFF2-40B4-BE49-F238E27FC236}">
                <a16:creationId xmlns:a16="http://schemas.microsoft.com/office/drawing/2014/main" id="{895FCFCE-A33A-4629-9B11-D2CCFCF83466}"/>
              </a:ext>
            </a:extLst>
          </p:cNvPr>
          <p:cNvSpPr>
            <a:spLocks noGrp="1"/>
          </p:cNvSpPr>
          <p:nvPr>
            <p:ph type="body" idx="2"/>
          </p:nvPr>
        </p:nvSpPr>
        <p:spPr/>
        <p:txBody>
          <a:bodyPr/>
          <a:lstStyle/>
          <a:p>
            <a:pPr marL="0" indent="0">
              <a:spcBef>
                <a:spcPts val="1200"/>
              </a:spcBef>
              <a:spcAft>
                <a:spcPts val="1200"/>
              </a:spcAft>
              <a:buNone/>
            </a:pPr>
            <a:r>
              <a:rPr lang="en-US" sz="1200" b="1" dirty="0">
                <a:solidFill>
                  <a:srgbClr val="7030A0"/>
                </a:solidFill>
                <a:hlinkClick r:id="rId4">
                  <a:extLst>
                    <a:ext uri="{A12FA001-AC4F-418D-AE19-62706E023703}">
                      <ahyp:hlinkClr xmlns:ahyp="http://schemas.microsoft.com/office/drawing/2018/hyperlinkcolor" val="tx"/>
                    </a:ext>
                  </a:extLst>
                </a:hlinkClick>
              </a:rPr>
              <a:t>Source: https://learnittolive.wordpress.com/2015/07/11/why-java-is-platform-independent/</a:t>
            </a:r>
            <a:endParaRPr lang="en-US" sz="1200" b="1" dirty="0">
              <a:solidFill>
                <a:srgbClr val="7030A0"/>
              </a:solidFill>
            </a:endParaRPr>
          </a:p>
          <a:p>
            <a:endParaRPr lang="en-US" dirty="0"/>
          </a:p>
        </p:txBody>
      </p:sp>
      <p:pic>
        <p:nvPicPr>
          <p:cNvPr id="6" name="Picture 4" descr="Why Java is Platform Independent Language? - The Java Programmer">
            <a:extLst>
              <a:ext uri="{FF2B5EF4-FFF2-40B4-BE49-F238E27FC236}">
                <a16:creationId xmlns:a16="http://schemas.microsoft.com/office/drawing/2014/main" id="{2AA63466-49D8-416D-A9FA-5731E8F5DD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700" y="2253528"/>
            <a:ext cx="3921465" cy="21864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Java is Platform Independent – Java Stuffs">
            <a:extLst>
              <a:ext uri="{FF2B5EF4-FFF2-40B4-BE49-F238E27FC236}">
                <a16:creationId xmlns:a16="http://schemas.microsoft.com/office/drawing/2014/main" id="{EE44526A-68C5-48B3-8635-894D59F8BE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9838" y="2085473"/>
            <a:ext cx="2791643" cy="267868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E16AD89-1295-4EFE-A94B-7AA7AFC1DA49}"/>
              </a:ext>
            </a:extLst>
          </p:cNvPr>
          <p:cNvSpPr/>
          <p:nvPr/>
        </p:nvSpPr>
        <p:spPr>
          <a:xfrm>
            <a:off x="233028" y="1285661"/>
            <a:ext cx="4227160" cy="36265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1FE32A7-BF58-4319-A638-33651949D646}"/>
              </a:ext>
            </a:extLst>
          </p:cNvPr>
          <p:cNvSpPr/>
          <p:nvPr/>
        </p:nvSpPr>
        <p:spPr>
          <a:xfrm>
            <a:off x="4683814" y="1290850"/>
            <a:ext cx="4227160" cy="36265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323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bldP spid="2" grpId="0" build="p"/>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6"/>
          <p:cNvSpPr txBox="1">
            <a:spLocks noGrp="1"/>
          </p:cNvSpPr>
          <p:nvPr>
            <p:ph type="title"/>
          </p:nvPr>
        </p:nvSpPr>
        <p:spPr>
          <a:xfrm>
            <a:off x="311700" y="309943"/>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US" b="1"/>
              <a:t>Creating, Compiling, and Running Programs:</a:t>
            </a:r>
            <a:endParaRPr/>
          </a:p>
          <a:p>
            <a:pPr marL="0" lvl="0" indent="0" algn="l" rtl="0">
              <a:lnSpc>
                <a:spcPct val="100000"/>
              </a:lnSpc>
              <a:spcBef>
                <a:spcPts val="0"/>
              </a:spcBef>
              <a:spcAft>
                <a:spcPts val="0"/>
              </a:spcAft>
              <a:buSzPct val="111111"/>
              <a:buNone/>
            </a:pPr>
            <a:endParaRPr/>
          </a:p>
        </p:txBody>
      </p:sp>
      <p:pic>
        <p:nvPicPr>
          <p:cNvPr id="92" name="Google Shape;92;p6" descr="Start with creating/modifying source code. After source code is saved on the disk, compilation of the code will begin, if there are errors, go back to creating/modifying the code. If no errors, code would be stored on the disk as bytecode and it will run. After running the bytecode, a result will appear. If runtime errors or incorrect results occur, go back to creating/modifying the source code. "/>
          <p:cNvPicPr preferRelativeResize="0"/>
          <p:nvPr/>
        </p:nvPicPr>
        <p:blipFill rotWithShape="1">
          <a:blip r:embed="rId3">
            <a:alphaModFix/>
          </a:blip>
          <a:srcRect/>
          <a:stretch/>
        </p:blipFill>
        <p:spPr>
          <a:xfrm>
            <a:off x="1855498" y="934598"/>
            <a:ext cx="4116721" cy="3742966"/>
          </a:xfrm>
          <a:prstGeom prst="rect">
            <a:avLst/>
          </a:prstGeom>
          <a:noFill/>
          <a:ln>
            <a:noFill/>
          </a:ln>
        </p:spPr>
      </p:pic>
      <p:sp>
        <p:nvSpPr>
          <p:cNvPr id="2" name="TextBox 1">
            <a:extLst>
              <a:ext uri="{FF2B5EF4-FFF2-40B4-BE49-F238E27FC236}">
                <a16:creationId xmlns:a16="http://schemas.microsoft.com/office/drawing/2014/main" id="{C9060DB2-75E3-409F-B51A-15373EE25F26}"/>
              </a:ext>
            </a:extLst>
          </p:cNvPr>
          <p:cNvSpPr txBox="1"/>
          <p:nvPr/>
        </p:nvSpPr>
        <p:spPr>
          <a:xfrm>
            <a:off x="1049483" y="4836967"/>
            <a:ext cx="7315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Introduction To Java Programming, Brief Version, Author: Daniel Liang, Publisher: Pearson , Edition: 11th, 2018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01" name="Google Shape;101;p7">
            <a:extLst>
              <a:ext uri="{C183D7F6-B498-43B3-948B-1728B52AA6E4}">
                <adec:decorative xmlns:adec="http://schemas.microsoft.com/office/drawing/2017/decorative" val="1"/>
              </a:ext>
            </a:extLst>
          </p:cNvPr>
          <p:cNvSpPr/>
          <p:nvPr/>
        </p:nvSpPr>
        <p:spPr>
          <a:xfrm>
            <a:off x="3257453" y="1115002"/>
            <a:ext cx="5392642" cy="2760352"/>
          </a:xfrm>
          <a:prstGeom prst="rect">
            <a:avLst/>
          </a:prstGeom>
          <a:noFill/>
          <a:ln w="25400" cap="flat" cmpd="sng">
            <a:solidFill>
              <a:schemeClr val="bg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9" name="Google Shape;99;p7">
            <a:extLst>
              <a:ext uri="{C183D7F6-B498-43B3-948B-1728B52AA6E4}">
                <adec:decorative xmlns:adec="http://schemas.microsoft.com/office/drawing/2017/decorative" val="1"/>
              </a:ext>
            </a:extLst>
          </p:cNvPr>
          <p:cNvSpPr txBox="1">
            <a:spLocks noGrp="1"/>
          </p:cNvSpPr>
          <p:nvPr>
            <p:ph type="body" idx="2"/>
          </p:nvPr>
        </p:nvSpPr>
        <p:spPr>
          <a:xfrm>
            <a:off x="3257453" y="1187444"/>
            <a:ext cx="5392642" cy="2687910"/>
          </a:xfrm>
          <a:prstGeom prst="rect">
            <a:avLst/>
          </a:prstGeom>
          <a:noFill/>
          <a:ln>
            <a:noFill/>
          </a:ln>
        </p:spPr>
        <p:txBody>
          <a:bodyPr spcFirstLastPara="1" wrap="square" lIns="91425" tIns="91425" rIns="91425" bIns="91425" anchor="t" anchorCtr="0">
            <a:normAutofit/>
          </a:bodyPr>
          <a:lstStyle/>
          <a:p>
            <a:pPr marL="139700" lvl="0" indent="0" algn="l" rtl="0">
              <a:lnSpc>
                <a:spcPct val="135000"/>
              </a:lnSpc>
              <a:spcBef>
                <a:spcPts val="0"/>
              </a:spcBef>
              <a:spcAft>
                <a:spcPts val="0"/>
              </a:spcAft>
              <a:buSzPts val="1400"/>
              <a:buNone/>
            </a:pPr>
            <a:r>
              <a:rPr lang="en-US" sz="1500" b="1" dirty="0">
                <a:solidFill>
                  <a:srgbClr val="0070C0"/>
                </a:solidFill>
                <a:latin typeface="Courier New"/>
                <a:ea typeface="Courier New"/>
                <a:cs typeface="Courier New"/>
                <a:sym typeface="Courier New"/>
              </a:rPr>
              <a:t>Java</a:t>
            </a:r>
            <a:endParaRPr dirty="0"/>
          </a:p>
          <a:p>
            <a:pPr marL="139700" lvl="0" indent="0" algn="l" rtl="0">
              <a:lnSpc>
                <a:spcPct val="135000"/>
              </a:lnSpc>
              <a:spcBef>
                <a:spcPts val="0"/>
              </a:spcBef>
              <a:spcAft>
                <a:spcPts val="0"/>
              </a:spcAft>
              <a:buSzPts val="1400"/>
              <a:buNone/>
            </a:pPr>
            <a:r>
              <a:rPr lang="en-US" sz="1500" dirty="0">
                <a:latin typeface="Courier New"/>
                <a:ea typeface="Courier New"/>
                <a:cs typeface="Courier New"/>
                <a:sym typeface="Courier New"/>
              </a:rPr>
              <a:t>public class Hello</a:t>
            </a:r>
            <a:br>
              <a:rPr lang="en-US" sz="1500" dirty="0">
                <a:latin typeface="Courier New"/>
                <a:ea typeface="Courier New"/>
                <a:cs typeface="Courier New"/>
                <a:sym typeface="Courier New"/>
              </a:rPr>
            </a:br>
            <a:r>
              <a:rPr lang="en-US" sz="1500" dirty="0">
                <a:latin typeface="Courier New"/>
                <a:ea typeface="Courier New"/>
                <a:cs typeface="Courier New"/>
                <a:sym typeface="Courier New"/>
              </a:rPr>
              <a:t>{</a:t>
            </a:r>
            <a:endParaRPr dirty="0"/>
          </a:p>
          <a:p>
            <a:pPr marL="139700" lvl="0" indent="0" algn="l" rtl="0">
              <a:lnSpc>
                <a:spcPct val="135000"/>
              </a:lnSpc>
              <a:spcBef>
                <a:spcPts val="0"/>
              </a:spcBef>
              <a:spcAft>
                <a:spcPts val="0"/>
              </a:spcAft>
              <a:buSzPts val="1400"/>
              <a:buNone/>
            </a:pPr>
            <a:r>
              <a:rPr lang="en-US" sz="1500" dirty="0">
                <a:latin typeface="Courier New"/>
                <a:ea typeface="Courier New"/>
                <a:cs typeface="Courier New"/>
                <a:sym typeface="Courier New"/>
              </a:rPr>
              <a:t>    public static void main (String [] </a:t>
            </a:r>
            <a:r>
              <a:rPr lang="en-US" sz="1500" dirty="0" err="1">
                <a:latin typeface="Courier New"/>
                <a:ea typeface="Courier New"/>
                <a:cs typeface="Courier New"/>
                <a:sym typeface="Courier New"/>
              </a:rPr>
              <a:t>args</a:t>
            </a:r>
            <a:r>
              <a:rPr lang="en-US" sz="1500" dirty="0">
                <a:latin typeface="Courier New"/>
                <a:ea typeface="Courier New"/>
                <a:cs typeface="Courier New"/>
                <a:sym typeface="Courier New"/>
              </a:rPr>
              <a:t>)</a:t>
            </a:r>
            <a:br>
              <a:rPr lang="en-US" sz="1500" dirty="0">
                <a:latin typeface="Courier New"/>
                <a:ea typeface="Courier New"/>
                <a:cs typeface="Courier New"/>
                <a:sym typeface="Courier New"/>
              </a:rPr>
            </a:br>
            <a:r>
              <a:rPr lang="en-US" sz="1500" dirty="0">
                <a:latin typeface="Courier New"/>
                <a:ea typeface="Courier New"/>
                <a:cs typeface="Courier New"/>
                <a:sym typeface="Courier New"/>
              </a:rPr>
              <a:t>    {</a:t>
            </a:r>
            <a:endParaRPr dirty="0"/>
          </a:p>
          <a:p>
            <a:pPr marL="139700" lvl="0" indent="0" algn="l" rtl="0">
              <a:lnSpc>
                <a:spcPct val="135000"/>
              </a:lnSpc>
              <a:spcBef>
                <a:spcPts val="0"/>
              </a:spcBef>
              <a:spcAft>
                <a:spcPts val="0"/>
              </a:spcAft>
              <a:buSzPts val="1400"/>
              <a:buNone/>
            </a:pPr>
            <a:r>
              <a:rPr lang="en-US" sz="1500" dirty="0">
                <a:latin typeface="Courier New"/>
                <a:ea typeface="Courier New"/>
                <a:cs typeface="Courier New"/>
                <a:sym typeface="Courier New"/>
              </a:rPr>
              <a:t>        </a:t>
            </a:r>
            <a:r>
              <a:rPr lang="en-US" sz="1500" dirty="0" err="1">
                <a:latin typeface="Courier New"/>
                <a:ea typeface="Courier New"/>
                <a:cs typeface="Courier New"/>
                <a:sym typeface="Courier New"/>
              </a:rPr>
              <a:t>System.out.println</a:t>
            </a:r>
            <a:r>
              <a:rPr lang="en-US" sz="1500" dirty="0">
                <a:latin typeface="Courier New"/>
                <a:ea typeface="Courier New"/>
                <a:cs typeface="Courier New"/>
                <a:sym typeface="Courier New"/>
              </a:rPr>
              <a:t>(“Hello, World!”);</a:t>
            </a:r>
            <a:endParaRPr dirty="0"/>
          </a:p>
          <a:p>
            <a:pPr marL="139700" lvl="0" indent="0" algn="l" rtl="0">
              <a:lnSpc>
                <a:spcPct val="135000"/>
              </a:lnSpc>
              <a:spcBef>
                <a:spcPts val="0"/>
              </a:spcBef>
              <a:spcAft>
                <a:spcPts val="0"/>
              </a:spcAft>
              <a:buSzPts val="1400"/>
              <a:buNone/>
            </a:pPr>
            <a:r>
              <a:rPr lang="en-US" sz="1500" dirty="0">
                <a:latin typeface="Courier New"/>
                <a:ea typeface="Courier New"/>
                <a:cs typeface="Courier New"/>
                <a:sym typeface="Courier New"/>
              </a:rPr>
              <a:t>    }</a:t>
            </a:r>
            <a:endParaRPr dirty="0"/>
          </a:p>
          <a:p>
            <a:pPr marL="139700" lvl="0" indent="0" algn="l" rtl="0">
              <a:lnSpc>
                <a:spcPct val="135000"/>
              </a:lnSpc>
              <a:spcBef>
                <a:spcPts val="0"/>
              </a:spcBef>
              <a:spcAft>
                <a:spcPts val="0"/>
              </a:spcAft>
              <a:buSzPts val="1400"/>
              <a:buNone/>
            </a:pPr>
            <a:r>
              <a:rPr lang="en-US" sz="1500" dirty="0">
                <a:latin typeface="Courier New"/>
                <a:ea typeface="Courier New"/>
                <a:cs typeface="Courier New"/>
                <a:sym typeface="Courier New"/>
              </a:rPr>
              <a:t>}</a:t>
            </a:r>
            <a:endParaRPr dirty="0"/>
          </a:p>
          <a:p>
            <a:pPr marL="457200" lvl="0" indent="-228600" algn="l" rtl="0">
              <a:lnSpc>
                <a:spcPct val="115000"/>
              </a:lnSpc>
              <a:spcBef>
                <a:spcPts val="0"/>
              </a:spcBef>
              <a:spcAft>
                <a:spcPts val="0"/>
              </a:spcAft>
              <a:buSzPts val="1400"/>
              <a:buNone/>
            </a:pPr>
            <a:endParaRPr dirty="0"/>
          </a:p>
        </p:txBody>
      </p:sp>
      <p:sp>
        <p:nvSpPr>
          <p:cNvPr id="100" name="Google Shape;100;p7">
            <a:extLst>
              <a:ext uri="{C183D7F6-B498-43B3-948B-1728B52AA6E4}">
                <adec:decorative xmlns:adec="http://schemas.microsoft.com/office/drawing/2017/decorative" val="1"/>
              </a:ext>
            </a:extLst>
          </p:cNvPr>
          <p:cNvSpPr/>
          <p:nvPr/>
        </p:nvSpPr>
        <p:spPr>
          <a:xfrm>
            <a:off x="360419" y="1117506"/>
            <a:ext cx="2821853" cy="2770742"/>
          </a:xfrm>
          <a:prstGeom prst="rect">
            <a:avLst/>
          </a:prstGeom>
          <a:noFill/>
          <a:ln w="25400" cap="flat" cmpd="sng">
            <a:solidFill>
              <a:schemeClr val="bg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lang="en-US" sz="1400" b="0" i="0" u="none" strike="noStrike" cap="none" dirty="0">
              <a:solidFill>
                <a:schemeClr val="lt1"/>
              </a:solidFill>
              <a:highlight>
                <a:srgbClr val="000000"/>
              </a:highlight>
              <a:latin typeface="Arial"/>
              <a:ea typeface="Arial"/>
              <a:cs typeface="Arial"/>
            </a:endParaRPr>
          </a:p>
        </p:txBody>
      </p:sp>
      <p:sp>
        <p:nvSpPr>
          <p:cNvPr id="98" name="Google Shape;98;p7">
            <a:extLst>
              <a:ext uri="{C183D7F6-B498-43B3-948B-1728B52AA6E4}">
                <adec:decorative xmlns:adec="http://schemas.microsoft.com/office/drawing/2017/decorative" val="1"/>
              </a:ext>
            </a:extLst>
          </p:cNvPr>
          <p:cNvSpPr txBox="1">
            <a:spLocks noGrp="1"/>
          </p:cNvSpPr>
          <p:nvPr>
            <p:ph type="body" idx="1"/>
          </p:nvPr>
        </p:nvSpPr>
        <p:spPr>
          <a:xfrm>
            <a:off x="311700" y="1152475"/>
            <a:ext cx="2818619" cy="2425032"/>
          </a:xfrm>
          <a:prstGeom prst="rect">
            <a:avLst/>
          </a:prstGeom>
          <a:noFill/>
          <a:ln>
            <a:noFill/>
          </a:ln>
        </p:spPr>
        <p:txBody>
          <a:bodyPr spcFirstLastPara="1" wrap="square" lIns="91425" tIns="91425" rIns="91425" bIns="91425" anchor="t" anchorCtr="0">
            <a:normAutofit/>
          </a:bodyPr>
          <a:lstStyle/>
          <a:p>
            <a:pPr marL="139700" lvl="0" indent="0" algn="l" rtl="0">
              <a:lnSpc>
                <a:spcPct val="115000"/>
              </a:lnSpc>
              <a:spcBef>
                <a:spcPts val="0"/>
              </a:spcBef>
              <a:spcAft>
                <a:spcPts val="0"/>
              </a:spcAft>
              <a:buSzPts val="1400"/>
              <a:buNone/>
            </a:pPr>
            <a:r>
              <a:rPr lang="en-US" b="1" dirty="0">
                <a:solidFill>
                  <a:srgbClr val="0070C0"/>
                </a:solidFill>
                <a:latin typeface="Courier New"/>
                <a:ea typeface="Courier New"/>
                <a:cs typeface="Courier New"/>
                <a:sym typeface="Courier New"/>
              </a:rPr>
              <a:t>Python</a:t>
            </a:r>
            <a:endParaRPr dirty="0"/>
          </a:p>
          <a:p>
            <a:pPr marL="139700" lvl="0" indent="0" algn="l" rtl="0">
              <a:lnSpc>
                <a:spcPct val="115000"/>
              </a:lnSpc>
              <a:spcBef>
                <a:spcPts val="0"/>
              </a:spcBef>
              <a:spcAft>
                <a:spcPts val="0"/>
              </a:spcAft>
              <a:buSzPts val="1400"/>
              <a:buNone/>
            </a:pPr>
            <a:r>
              <a:rPr lang="en-US" dirty="0">
                <a:latin typeface="Courier New"/>
                <a:ea typeface="Courier New"/>
                <a:cs typeface="Courier New"/>
                <a:sym typeface="Courier New"/>
              </a:rPr>
              <a:t>print(“Hello, World!”)</a:t>
            </a:r>
            <a:endParaRPr dirty="0"/>
          </a:p>
        </p:txBody>
      </p:sp>
      <p:sp>
        <p:nvSpPr>
          <p:cNvPr id="97" name="Google Shape;9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b="1"/>
              <a:t>“Hello, world!” Comparison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39285"/>
              <a:buNone/>
            </a:pPr>
            <a:r>
              <a:rPr lang="en-US" b="1"/>
              <a:t>My First Java Program</a:t>
            </a:r>
            <a:endParaRPr/>
          </a:p>
        </p:txBody>
      </p:sp>
      <p:sp>
        <p:nvSpPr>
          <p:cNvPr id="107" name="Google Shape;107;p8">
            <a:extLst>
              <a:ext uri="{C183D7F6-B498-43B3-948B-1728B52AA6E4}">
                <adec:decorative xmlns:adec="http://schemas.microsoft.com/office/drawing/2017/decorative" val="1"/>
              </a:ext>
            </a:extLst>
          </p:cNvPr>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70000" lnSpcReduction="20000"/>
          </a:bodyPr>
          <a:lstStyle/>
          <a:p>
            <a:pPr marL="114300" lvl="0" indent="0" algn="l" rtl="0">
              <a:lnSpc>
                <a:spcPct val="115000"/>
              </a:lnSpc>
              <a:spcBef>
                <a:spcPts val="0"/>
              </a:spcBef>
              <a:spcAft>
                <a:spcPts val="0"/>
              </a:spcAft>
              <a:buSzPct val="80357"/>
              <a:buNone/>
            </a:pPr>
            <a:r>
              <a:rPr lang="en-US" sz="3200" dirty="0">
                <a:latin typeface="Courier New"/>
                <a:ea typeface="Courier New"/>
                <a:cs typeface="Courier New"/>
                <a:sym typeface="Courier New"/>
              </a:rPr>
              <a:t>public class </a:t>
            </a:r>
            <a:r>
              <a:rPr lang="en-US" sz="3200" dirty="0" err="1">
                <a:latin typeface="Courier New"/>
                <a:ea typeface="Courier New"/>
                <a:cs typeface="Courier New"/>
                <a:sym typeface="Courier New"/>
              </a:rPr>
              <a:t>MyProgram</a:t>
            </a:r>
            <a:br>
              <a:rPr lang="en-US" sz="3200" dirty="0">
                <a:latin typeface="Courier New"/>
                <a:ea typeface="Courier New"/>
                <a:cs typeface="Courier New"/>
                <a:sym typeface="Courier New"/>
              </a:rPr>
            </a:br>
            <a:r>
              <a:rPr lang="en-US" sz="3200" dirty="0">
                <a:latin typeface="Courier New"/>
                <a:ea typeface="Courier New"/>
                <a:cs typeface="Courier New"/>
                <a:sym typeface="Courier New"/>
              </a:rPr>
              <a:t>{</a:t>
            </a:r>
            <a:br>
              <a:rPr lang="en-US" sz="3200" dirty="0">
                <a:latin typeface="Courier New"/>
                <a:ea typeface="Courier New"/>
                <a:cs typeface="Courier New"/>
                <a:sym typeface="Courier New"/>
              </a:rPr>
            </a:br>
            <a:r>
              <a:rPr lang="en-US" sz="3200" dirty="0">
                <a:latin typeface="Courier New"/>
                <a:ea typeface="Courier New"/>
                <a:cs typeface="Courier New"/>
                <a:sym typeface="Courier New"/>
              </a:rPr>
              <a:t>	public static void main (String [ ] </a:t>
            </a:r>
            <a:r>
              <a:rPr lang="en-US" sz="3200" dirty="0" err="1">
                <a:latin typeface="Courier New"/>
                <a:ea typeface="Courier New"/>
                <a:cs typeface="Courier New"/>
                <a:sym typeface="Courier New"/>
              </a:rPr>
              <a:t>args</a:t>
            </a:r>
            <a:r>
              <a:rPr lang="en-US" sz="3200" dirty="0">
                <a:latin typeface="Courier New"/>
                <a:ea typeface="Courier New"/>
                <a:cs typeface="Courier New"/>
                <a:sym typeface="Courier New"/>
              </a:rPr>
              <a:t>)</a:t>
            </a:r>
            <a:br>
              <a:rPr lang="en-US" sz="3200" dirty="0">
                <a:latin typeface="Courier New"/>
                <a:ea typeface="Courier New"/>
                <a:cs typeface="Courier New"/>
                <a:sym typeface="Courier New"/>
              </a:rPr>
            </a:br>
            <a:r>
              <a:rPr lang="en-US" sz="3200" dirty="0">
                <a:latin typeface="Courier New"/>
                <a:ea typeface="Courier New"/>
                <a:cs typeface="Courier New"/>
                <a:sym typeface="Courier New"/>
              </a:rPr>
              <a:t>	{</a:t>
            </a:r>
            <a:br>
              <a:rPr lang="en-US" sz="3200" dirty="0">
                <a:latin typeface="Courier New"/>
                <a:ea typeface="Courier New"/>
                <a:cs typeface="Courier New"/>
                <a:sym typeface="Courier New"/>
              </a:rPr>
            </a:br>
            <a:r>
              <a:rPr lang="en-US" sz="3200" dirty="0">
                <a:latin typeface="Courier New"/>
                <a:ea typeface="Courier New"/>
                <a:cs typeface="Courier New"/>
                <a:sym typeface="Courier New"/>
              </a:rPr>
              <a:t>		</a:t>
            </a:r>
            <a:r>
              <a:rPr lang="en-US" sz="3200" dirty="0" err="1">
                <a:latin typeface="Courier New"/>
                <a:ea typeface="Courier New"/>
                <a:cs typeface="Courier New"/>
                <a:sym typeface="Courier New"/>
              </a:rPr>
              <a:t>System.out.println</a:t>
            </a:r>
            <a:r>
              <a:rPr lang="en-US" sz="3200" dirty="0">
                <a:latin typeface="Courier New"/>
                <a:ea typeface="Courier New"/>
                <a:cs typeface="Courier New"/>
                <a:sym typeface="Courier New"/>
              </a:rPr>
              <a:t>(“Hello, world!”);</a:t>
            </a:r>
            <a:br>
              <a:rPr lang="en-US" sz="3200" dirty="0">
                <a:latin typeface="Courier New"/>
                <a:ea typeface="Courier New"/>
                <a:cs typeface="Courier New"/>
                <a:sym typeface="Courier New"/>
              </a:rPr>
            </a:br>
            <a:r>
              <a:rPr lang="en-US" sz="3200" dirty="0">
                <a:latin typeface="Courier New"/>
                <a:ea typeface="Courier New"/>
                <a:cs typeface="Courier New"/>
                <a:sym typeface="Courier New"/>
              </a:rPr>
              <a:t>	}</a:t>
            </a:r>
            <a:br>
              <a:rPr lang="en-US" sz="3200" dirty="0">
                <a:latin typeface="Courier New"/>
                <a:ea typeface="Courier New"/>
                <a:cs typeface="Courier New"/>
                <a:sym typeface="Courier New"/>
              </a:rPr>
            </a:br>
            <a:r>
              <a:rPr lang="en-US" sz="3200" dirty="0">
                <a:latin typeface="Courier New"/>
                <a:ea typeface="Courier New"/>
                <a:cs typeface="Courier New"/>
                <a:sym typeface="Courier New"/>
              </a:rPr>
              <a:t>}</a:t>
            </a:r>
            <a:endParaRPr dirty="0"/>
          </a:p>
          <a:p>
            <a:pPr marL="114300" lvl="0" indent="0" algn="l" rtl="0">
              <a:lnSpc>
                <a:spcPct val="115000"/>
              </a:lnSpc>
              <a:spcBef>
                <a:spcPts val="0"/>
              </a:spcBef>
              <a:spcAft>
                <a:spcPts val="0"/>
              </a:spcAft>
              <a:buSzPct val="82949"/>
              <a:buNone/>
            </a:pPr>
            <a:endParaRPr sz="3100" dirty="0"/>
          </a:p>
          <a:p>
            <a:pPr marL="0" lvl="0" indent="0" algn="l" rtl="0">
              <a:lnSpc>
                <a:spcPct val="115000"/>
              </a:lnSpc>
              <a:spcBef>
                <a:spcPts val="0"/>
              </a:spcBef>
              <a:spcAft>
                <a:spcPts val="0"/>
              </a:spcAft>
              <a:buSzPct val="82949"/>
              <a:buNone/>
            </a:pPr>
            <a:endParaRPr sz="3100" dirty="0"/>
          </a:p>
          <a:p>
            <a:pPr marL="0" lvl="0" indent="0" algn="l" rtl="0">
              <a:lnSpc>
                <a:spcPct val="115000"/>
              </a:lnSpc>
              <a:spcBef>
                <a:spcPts val="1200"/>
              </a:spcBef>
              <a:spcAft>
                <a:spcPts val="0"/>
              </a:spcAft>
              <a:buSzPct val="142857"/>
              <a:buNone/>
            </a:pPr>
            <a:endParaRPr dirty="0"/>
          </a:p>
          <a:p>
            <a:pPr marL="0" lvl="0" indent="0" algn="l" rtl="0">
              <a:lnSpc>
                <a:spcPct val="115000"/>
              </a:lnSpc>
              <a:spcBef>
                <a:spcPts val="2400"/>
              </a:spcBef>
              <a:spcAft>
                <a:spcPts val="0"/>
              </a:spcAft>
              <a:buSzPct val="142857"/>
              <a:buNone/>
            </a:pPr>
            <a:endParaRPr dirty="0"/>
          </a:p>
          <a:p>
            <a:pPr marL="0" lvl="0" indent="0" algn="l" rtl="0">
              <a:lnSpc>
                <a:spcPct val="115000"/>
              </a:lnSpc>
              <a:spcBef>
                <a:spcPts val="2400"/>
              </a:spcBef>
              <a:spcAft>
                <a:spcPts val="1200"/>
              </a:spcAft>
              <a:buSzPct val="142857"/>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39285"/>
              <a:buNone/>
            </a:pPr>
            <a:r>
              <a:rPr lang="en-US" b="1" dirty="0"/>
              <a:t>Line-by-Line Breakdown</a:t>
            </a:r>
            <a:endParaRPr dirty="0"/>
          </a:p>
        </p:txBody>
      </p:sp>
      <p:sp>
        <p:nvSpPr>
          <p:cNvPr id="113" name="Google Shape;113;p9">
            <a:extLst>
              <a:ext uri="{C183D7F6-B498-43B3-948B-1728B52AA6E4}">
                <adec:decorative xmlns:adec="http://schemas.microsoft.com/office/drawing/2017/decorative" val="1"/>
              </a:ext>
            </a:extLst>
          </p:cNvPr>
          <p:cNvSpPr txBox="1">
            <a:spLocks noGrp="1"/>
          </p:cNvSpPr>
          <p:nvPr>
            <p:ph type="body" idx="1"/>
          </p:nvPr>
        </p:nvSpPr>
        <p:spPr>
          <a:xfrm>
            <a:off x="590141" y="1124190"/>
            <a:ext cx="6891920" cy="1812569"/>
          </a:xfrm>
          <a:prstGeom prst="rect">
            <a:avLst/>
          </a:prstGeom>
          <a:noFill/>
          <a:ln>
            <a:noFill/>
          </a:ln>
        </p:spPr>
        <p:txBody>
          <a:bodyPr spcFirstLastPara="1" wrap="square" lIns="91425" tIns="91425" rIns="91425" bIns="91425" anchor="t" anchorCtr="0">
            <a:normAutofit fontScale="85000" lnSpcReduction="20000"/>
          </a:bodyPr>
          <a:lstStyle/>
          <a:p>
            <a:pPr marL="114300" lvl="0" indent="0" algn="l" rtl="0">
              <a:lnSpc>
                <a:spcPct val="115000"/>
              </a:lnSpc>
              <a:spcBef>
                <a:spcPts val="0"/>
              </a:spcBef>
              <a:spcAft>
                <a:spcPts val="0"/>
              </a:spcAft>
              <a:buSzPct val="111455"/>
              <a:buNone/>
            </a:pPr>
            <a:r>
              <a:rPr lang="en-US" sz="1900" b="1" dirty="0">
                <a:solidFill>
                  <a:schemeClr val="bg2"/>
                </a:solidFill>
                <a:latin typeface="Courier New"/>
                <a:ea typeface="Courier New"/>
                <a:cs typeface="Courier New"/>
                <a:sym typeface="Courier New"/>
              </a:rPr>
              <a:t>public class </a:t>
            </a:r>
            <a:r>
              <a:rPr lang="en-US" sz="1900" b="1" dirty="0" err="1">
                <a:solidFill>
                  <a:schemeClr val="bg2"/>
                </a:solidFill>
                <a:latin typeface="Courier New"/>
                <a:ea typeface="Courier New"/>
                <a:cs typeface="Courier New"/>
                <a:sym typeface="Courier New"/>
              </a:rPr>
              <a:t>MyProgram</a:t>
            </a:r>
            <a:br>
              <a:rPr lang="en-US" sz="1900" b="1" dirty="0">
                <a:solidFill>
                  <a:schemeClr val="bg2"/>
                </a:solidFill>
                <a:latin typeface="Courier New"/>
                <a:ea typeface="Courier New"/>
                <a:cs typeface="Courier New"/>
              </a:rPr>
            </a:br>
            <a:r>
              <a:rPr lang="en-US" sz="1900" b="1" dirty="0">
                <a:solidFill>
                  <a:schemeClr val="bg2"/>
                </a:solidFill>
                <a:latin typeface="Courier New"/>
                <a:ea typeface="Courier New"/>
                <a:cs typeface="Courier New"/>
                <a:sym typeface="Courier New"/>
              </a:rPr>
              <a:t>{</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public static void main (String [ ] </a:t>
            </a:r>
            <a:r>
              <a:rPr lang="en-US" sz="1900" dirty="0" err="1">
                <a:solidFill>
                  <a:schemeClr val="bg2"/>
                </a:solidFill>
                <a:latin typeface="Courier New"/>
                <a:ea typeface="Courier New"/>
                <a:cs typeface="Courier New"/>
                <a:sym typeface="Courier New"/>
              </a:rPr>
              <a:t>args</a:t>
            </a:r>
            <a:r>
              <a:rPr lang="en-US" sz="1900" dirty="0">
                <a:solidFill>
                  <a:schemeClr val="bg2"/>
                </a:solidFill>
                <a:latin typeface="Courier New"/>
                <a:ea typeface="Courier New"/>
                <a:cs typeface="Courier New"/>
                <a:sym typeface="Courier New"/>
              </a:rPr>
              <a:t>)</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r>
              <a:rPr lang="en-US" sz="1900" dirty="0" err="1">
                <a:solidFill>
                  <a:schemeClr val="bg2"/>
                </a:solidFill>
                <a:latin typeface="Courier New"/>
                <a:ea typeface="Courier New"/>
                <a:cs typeface="Courier New"/>
                <a:sym typeface="Courier New"/>
              </a:rPr>
              <a:t>System.out.println</a:t>
            </a:r>
            <a:r>
              <a:rPr lang="en-US" sz="1900" dirty="0">
                <a:solidFill>
                  <a:schemeClr val="bg2"/>
                </a:solidFill>
                <a:latin typeface="Courier New"/>
                <a:ea typeface="Courier New"/>
                <a:cs typeface="Courier New"/>
                <a:sym typeface="Courier New"/>
              </a:rPr>
              <a:t>(“Hello, world!”);</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br>
              <a:rPr lang="en-US" sz="1900" dirty="0">
                <a:solidFill>
                  <a:schemeClr val="bg2"/>
                </a:solidFill>
                <a:latin typeface="Courier New"/>
                <a:ea typeface="Courier New"/>
                <a:cs typeface="Courier New"/>
              </a:rPr>
            </a:br>
            <a:r>
              <a:rPr lang="en-US" sz="1900" b="1" dirty="0">
                <a:solidFill>
                  <a:schemeClr val="bg2"/>
                </a:solidFill>
                <a:latin typeface="Courier New"/>
                <a:ea typeface="Courier New"/>
                <a:cs typeface="Courier New"/>
                <a:sym typeface="Courier New"/>
              </a:rPr>
              <a:t>}</a:t>
            </a:r>
            <a:endParaRPr b="1" dirty="0">
              <a:solidFill>
                <a:schemeClr val="bg2"/>
              </a:solidFill>
            </a:endParaRPr>
          </a:p>
          <a:p>
            <a:pPr marL="114300" lvl="0" indent="0" algn="l" rtl="0">
              <a:lnSpc>
                <a:spcPct val="115000"/>
              </a:lnSpc>
              <a:spcBef>
                <a:spcPts val="0"/>
              </a:spcBef>
              <a:spcAft>
                <a:spcPts val="0"/>
              </a:spcAft>
              <a:buSzPct val="68311"/>
              <a:buNone/>
            </a:pPr>
            <a:endParaRPr sz="3100" dirty="0"/>
          </a:p>
          <a:p>
            <a:pPr marL="0" lvl="0" indent="0" algn="l" rtl="0">
              <a:lnSpc>
                <a:spcPct val="115000"/>
              </a:lnSpc>
              <a:spcBef>
                <a:spcPts val="0"/>
              </a:spcBef>
              <a:spcAft>
                <a:spcPts val="0"/>
              </a:spcAft>
              <a:buSzPct val="68311"/>
              <a:buNone/>
            </a:pPr>
            <a:endParaRPr sz="3100" dirty="0"/>
          </a:p>
          <a:p>
            <a:pPr marL="0" lvl="0" indent="0" algn="l" rtl="0">
              <a:lnSpc>
                <a:spcPct val="115000"/>
              </a:lnSpc>
              <a:spcBef>
                <a:spcPts val="1200"/>
              </a:spcBef>
              <a:spcAft>
                <a:spcPts val="0"/>
              </a:spcAft>
              <a:buSzPct val="117647"/>
              <a:buNone/>
            </a:pPr>
            <a:endParaRPr dirty="0"/>
          </a:p>
          <a:p>
            <a:pPr marL="0" lvl="0" indent="0" algn="l" rtl="0">
              <a:lnSpc>
                <a:spcPct val="115000"/>
              </a:lnSpc>
              <a:spcBef>
                <a:spcPts val="2400"/>
              </a:spcBef>
              <a:spcAft>
                <a:spcPts val="0"/>
              </a:spcAft>
              <a:buSzPct val="117647"/>
              <a:buNone/>
            </a:pPr>
            <a:endParaRPr dirty="0"/>
          </a:p>
          <a:p>
            <a:pPr marL="0" lvl="0" indent="0" algn="l" rtl="0">
              <a:lnSpc>
                <a:spcPct val="115000"/>
              </a:lnSpc>
              <a:spcBef>
                <a:spcPts val="2400"/>
              </a:spcBef>
              <a:spcAft>
                <a:spcPts val="1200"/>
              </a:spcAft>
              <a:buSzPct val="117647"/>
              <a:buNone/>
            </a:pPr>
            <a:endParaRPr dirty="0"/>
          </a:p>
        </p:txBody>
      </p:sp>
      <p:sp>
        <p:nvSpPr>
          <p:cNvPr id="114" name="Google Shape;114;p9"/>
          <p:cNvSpPr txBox="1"/>
          <p:nvPr/>
        </p:nvSpPr>
        <p:spPr>
          <a:xfrm>
            <a:off x="359121" y="3259502"/>
            <a:ext cx="4212879" cy="160043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Every Java program consists of one or more classes.</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A class is a block of Java code.</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Classes are indicated by the reserved word </a:t>
            </a:r>
            <a:r>
              <a:rPr lang="en-US" sz="1600" b="1" i="1" u="none" strike="noStrike" cap="none" dirty="0">
                <a:solidFill>
                  <a:schemeClr val="bg2"/>
                </a:solidFill>
                <a:latin typeface="Arial"/>
                <a:ea typeface="Arial"/>
                <a:cs typeface="Arial"/>
                <a:sym typeface="Arial"/>
              </a:rPr>
              <a:t>class.</a:t>
            </a:r>
            <a:endParaRPr dirty="0">
              <a:solidFill>
                <a:schemeClr val="bg2"/>
              </a:solidFill>
            </a:endParaRP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15" name="Google Shape;115;p9"/>
          <p:cNvSpPr txBox="1"/>
          <p:nvPr/>
        </p:nvSpPr>
        <p:spPr>
          <a:xfrm>
            <a:off x="4843829" y="3248522"/>
            <a:ext cx="3844422" cy="160043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1" i="1" u="none" strike="noStrike" cap="none" dirty="0">
                <a:solidFill>
                  <a:schemeClr val="bg2"/>
                </a:solidFill>
                <a:latin typeface="Arial"/>
                <a:ea typeface="Arial"/>
                <a:cs typeface="Arial"/>
                <a:sym typeface="Arial"/>
              </a:rPr>
              <a:t>public</a:t>
            </a:r>
            <a:r>
              <a:rPr lang="en-US" sz="1600" b="0" i="0" u="none" strike="noStrike" cap="none" dirty="0">
                <a:solidFill>
                  <a:schemeClr val="bg2"/>
                </a:solidFill>
                <a:latin typeface="Arial"/>
                <a:ea typeface="Arial"/>
                <a:cs typeface="Arial"/>
                <a:sym typeface="Arial"/>
              </a:rPr>
              <a:t> </a:t>
            </a:r>
            <a:r>
              <a:rPr lang="en-US" sz="1600" b="0" i="0" u="none" strike="noStrike" cap="none" dirty="0">
                <a:solidFill>
                  <a:schemeClr val="dk2"/>
                </a:solidFill>
                <a:latin typeface="Arial"/>
                <a:ea typeface="Arial"/>
                <a:cs typeface="Arial"/>
                <a:sym typeface="Arial"/>
              </a:rPr>
              <a:t>is a modifier that tells Java that the class can be seen/used all over.</a:t>
            </a:r>
            <a:endParaRPr dirty="0">
              <a:solidFill>
                <a:schemeClr val="dk2"/>
              </a:solidFil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Curly braces surround the contents of the class.</a:t>
            </a:r>
            <a:endParaRPr dirty="0">
              <a:solidFill>
                <a:schemeClr val="dk2"/>
              </a:solidFill>
            </a:endParaRP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16" name="Google Shape;116;p9">
            <a:extLst>
              <a:ext uri="{C183D7F6-B498-43B3-948B-1728B52AA6E4}">
                <adec:decorative xmlns:adec="http://schemas.microsoft.com/office/drawing/2017/decorative" val="1"/>
              </a:ext>
            </a:extLst>
          </p:cNvPr>
          <p:cNvSpPr/>
          <p:nvPr/>
        </p:nvSpPr>
        <p:spPr>
          <a:xfrm>
            <a:off x="445189" y="1017725"/>
            <a:ext cx="7277153" cy="2083983"/>
          </a:xfrm>
          <a:prstGeom prst="rect">
            <a:avLst/>
          </a:prstGeom>
          <a:noFill/>
          <a:ln w="25400" cap="flat" cmpd="sng">
            <a:solidFill>
              <a:schemeClr val="bg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uiExpand="1" build="p"/>
      <p:bldP spid="11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39285"/>
              <a:buNone/>
            </a:pPr>
            <a:r>
              <a:rPr lang="en-US" b="1" dirty="0"/>
              <a:t>B</a:t>
            </a:r>
            <a:r>
              <a:rPr lang="en-US" altLang="zh-CN" b="1" dirty="0"/>
              <a:t>races vs Parentheses vs Brackets</a:t>
            </a:r>
            <a:endParaRPr dirty="0"/>
          </a:p>
        </p:txBody>
      </p:sp>
      <p:sp>
        <p:nvSpPr>
          <p:cNvPr id="113" name="Google Shape;113;p9">
            <a:extLst>
              <a:ext uri="{C183D7F6-B498-43B3-948B-1728B52AA6E4}">
                <adec:decorative xmlns:adec="http://schemas.microsoft.com/office/drawing/2017/decorative" val="1"/>
              </a:ext>
            </a:extLst>
          </p:cNvPr>
          <p:cNvSpPr txBox="1">
            <a:spLocks noGrp="1"/>
          </p:cNvSpPr>
          <p:nvPr>
            <p:ph type="body" idx="1"/>
          </p:nvPr>
        </p:nvSpPr>
        <p:spPr>
          <a:xfrm>
            <a:off x="590141" y="1124190"/>
            <a:ext cx="6891920" cy="1812569"/>
          </a:xfrm>
          <a:prstGeom prst="rect">
            <a:avLst/>
          </a:prstGeom>
          <a:noFill/>
          <a:ln>
            <a:noFill/>
          </a:ln>
        </p:spPr>
        <p:txBody>
          <a:bodyPr spcFirstLastPara="1" wrap="square" lIns="91425" tIns="91425" rIns="91425" bIns="91425" anchor="t" anchorCtr="0">
            <a:normAutofit fontScale="92500"/>
          </a:bodyPr>
          <a:lstStyle/>
          <a:p>
            <a:pPr marL="114300" lvl="0" indent="0" algn="l" rtl="0">
              <a:lnSpc>
                <a:spcPct val="115000"/>
              </a:lnSpc>
              <a:spcBef>
                <a:spcPts val="0"/>
              </a:spcBef>
              <a:spcAft>
                <a:spcPts val="0"/>
              </a:spcAft>
              <a:buSzPct val="111455"/>
              <a:buNone/>
            </a:pPr>
            <a:r>
              <a:rPr lang="en-US" sz="3200" b="1" dirty="0">
                <a:solidFill>
                  <a:schemeClr val="bg2"/>
                </a:solidFill>
                <a:latin typeface="Courier New"/>
                <a:ea typeface="Courier New"/>
                <a:cs typeface="Courier New"/>
                <a:sym typeface="Courier New"/>
              </a:rPr>
              <a:t>Braces (Curly braces): 	{}</a:t>
            </a:r>
          </a:p>
          <a:p>
            <a:pPr marL="114300" lvl="0" indent="0" algn="l" rtl="0">
              <a:lnSpc>
                <a:spcPct val="115000"/>
              </a:lnSpc>
              <a:spcBef>
                <a:spcPts val="0"/>
              </a:spcBef>
              <a:spcAft>
                <a:spcPts val="0"/>
              </a:spcAft>
              <a:buSzPct val="111455"/>
              <a:buNone/>
            </a:pPr>
            <a:r>
              <a:rPr lang="en-US" sz="3200" b="1" dirty="0">
                <a:solidFill>
                  <a:schemeClr val="bg2"/>
                </a:solidFill>
                <a:latin typeface="Courier New"/>
                <a:cs typeface="Courier New"/>
                <a:sym typeface="Courier New"/>
              </a:rPr>
              <a:t>Parentheses: 			()</a:t>
            </a:r>
          </a:p>
          <a:p>
            <a:pPr marL="114300" lvl="0" indent="0" algn="l" rtl="0">
              <a:lnSpc>
                <a:spcPct val="115000"/>
              </a:lnSpc>
              <a:spcBef>
                <a:spcPts val="0"/>
              </a:spcBef>
              <a:spcAft>
                <a:spcPts val="0"/>
              </a:spcAft>
              <a:buSzPct val="111455"/>
              <a:buNone/>
            </a:pPr>
            <a:r>
              <a:rPr lang="en-US" sz="3200" b="1" dirty="0">
                <a:solidFill>
                  <a:schemeClr val="bg2"/>
                </a:solidFill>
                <a:latin typeface="Courier New"/>
                <a:cs typeface="Courier New"/>
                <a:sym typeface="Courier New"/>
              </a:rPr>
              <a:t>Brackets:				[]</a:t>
            </a:r>
            <a:endParaRPr sz="3200" b="1" dirty="0">
              <a:solidFill>
                <a:schemeClr val="bg2"/>
              </a:solidFill>
            </a:endParaRPr>
          </a:p>
          <a:p>
            <a:pPr marL="114300" lvl="0" indent="0" algn="l" rtl="0">
              <a:lnSpc>
                <a:spcPct val="115000"/>
              </a:lnSpc>
              <a:spcBef>
                <a:spcPts val="0"/>
              </a:spcBef>
              <a:spcAft>
                <a:spcPts val="0"/>
              </a:spcAft>
              <a:buSzPct val="68311"/>
              <a:buNone/>
            </a:pPr>
            <a:endParaRPr sz="3100" dirty="0"/>
          </a:p>
          <a:p>
            <a:pPr marL="0" lvl="0" indent="0" algn="l" rtl="0">
              <a:lnSpc>
                <a:spcPct val="115000"/>
              </a:lnSpc>
              <a:spcBef>
                <a:spcPts val="0"/>
              </a:spcBef>
              <a:spcAft>
                <a:spcPts val="0"/>
              </a:spcAft>
              <a:buSzPct val="68311"/>
              <a:buNone/>
            </a:pPr>
            <a:endParaRPr sz="3100" dirty="0"/>
          </a:p>
          <a:p>
            <a:pPr marL="0" lvl="0" indent="0" algn="l" rtl="0">
              <a:lnSpc>
                <a:spcPct val="115000"/>
              </a:lnSpc>
              <a:spcBef>
                <a:spcPts val="1200"/>
              </a:spcBef>
              <a:spcAft>
                <a:spcPts val="0"/>
              </a:spcAft>
              <a:buSzPct val="117647"/>
              <a:buNone/>
            </a:pPr>
            <a:endParaRPr dirty="0"/>
          </a:p>
          <a:p>
            <a:pPr marL="0" lvl="0" indent="0" algn="l" rtl="0">
              <a:lnSpc>
                <a:spcPct val="115000"/>
              </a:lnSpc>
              <a:spcBef>
                <a:spcPts val="2400"/>
              </a:spcBef>
              <a:spcAft>
                <a:spcPts val="0"/>
              </a:spcAft>
              <a:buSzPct val="117647"/>
              <a:buNone/>
            </a:pPr>
            <a:endParaRPr dirty="0"/>
          </a:p>
          <a:p>
            <a:pPr marL="0" lvl="0" indent="0" algn="l" rtl="0">
              <a:lnSpc>
                <a:spcPct val="115000"/>
              </a:lnSpc>
              <a:spcBef>
                <a:spcPts val="2400"/>
              </a:spcBef>
              <a:spcAft>
                <a:spcPts val="1200"/>
              </a:spcAft>
              <a:buSzPct val="117647"/>
              <a:buNone/>
            </a:pPr>
            <a:endParaRPr dirty="0"/>
          </a:p>
        </p:txBody>
      </p:sp>
      <p:sp>
        <p:nvSpPr>
          <p:cNvPr id="116" name="Google Shape;116;p9">
            <a:extLst>
              <a:ext uri="{C183D7F6-B498-43B3-948B-1728B52AA6E4}">
                <adec:decorative xmlns:adec="http://schemas.microsoft.com/office/drawing/2017/decorative" val="1"/>
              </a:ext>
            </a:extLst>
          </p:cNvPr>
          <p:cNvSpPr/>
          <p:nvPr/>
        </p:nvSpPr>
        <p:spPr>
          <a:xfrm>
            <a:off x="445189" y="1017725"/>
            <a:ext cx="7277153" cy="2083983"/>
          </a:xfrm>
          <a:prstGeom prst="rect">
            <a:avLst/>
          </a:prstGeom>
          <a:noFill/>
          <a:ln w="25400" cap="flat" cmpd="sng">
            <a:solidFill>
              <a:schemeClr val="bg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a:p>
        </p:txBody>
      </p:sp>
    </p:spTree>
    <p:extLst>
      <p:ext uri="{BB962C8B-B14F-4D97-AF65-F5344CB8AC3E}">
        <p14:creationId xmlns:p14="http://schemas.microsoft.com/office/powerpoint/2010/main" val="4177775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a:buSzPct val="39285"/>
            </a:pPr>
            <a:r>
              <a:rPr lang="en-US" b="1" dirty="0"/>
              <a:t>Line-by-Line Breakdown (contd.)</a:t>
            </a:r>
            <a:endParaRPr lang="en-US" dirty="0"/>
          </a:p>
        </p:txBody>
      </p:sp>
      <p:sp>
        <p:nvSpPr>
          <p:cNvPr id="122" name="Google Shape;122;p10">
            <a:extLst>
              <a:ext uri="{C183D7F6-B498-43B3-948B-1728B52AA6E4}">
                <adec:decorative xmlns:adec="http://schemas.microsoft.com/office/drawing/2017/decorative" val="1"/>
              </a:ext>
            </a:extLst>
          </p:cNvPr>
          <p:cNvSpPr txBox="1">
            <a:spLocks noGrp="1"/>
          </p:cNvSpPr>
          <p:nvPr>
            <p:ph type="body" idx="1"/>
          </p:nvPr>
        </p:nvSpPr>
        <p:spPr>
          <a:xfrm>
            <a:off x="590141" y="1124190"/>
            <a:ext cx="6891920" cy="1812569"/>
          </a:xfrm>
          <a:prstGeom prst="rect">
            <a:avLst/>
          </a:prstGeom>
          <a:noFill/>
          <a:ln>
            <a:noFill/>
          </a:ln>
        </p:spPr>
        <p:txBody>
          <a:bodyPr spcFirstLastPara="1" wrap="square" lIns="91425" tIns="91425" rIns="91425" bIns="91425" anchor="t" anchorCtr="0">
            <a:normAutofit fontScale="85000" lnSpcReduction="20000"/>
          </a:bodyPr>
          <a:lstStyle/>
          <a:p>
            <a:pPr marL="114300" lvl="0" indent="0" algn="l" rtl="0">
              <a:lnSpc>
                <a:spcPct val="115000"/>
              </a:lnSpc>
              <a:spcBef>
                <a:spcPts val="0"/>
              </a:spcBef>
              <a:spcAft>
                <a:spcPts val="0"/>
              </a:spcAft>
              <a:buSzPct val="111455"/>
              <a:buNone/>
            </a:pPr>
            <a:r>
              <a:rPr lang="en-US" sz="1900" dirty="0">
                <a:solidFill>
                  <a:schemeClr val="bg2"/>
                </a:solidFill>
                <a:latin typeface="Courier New"/>
                <a:ea typeface="Courier New"/>
                <a:cs typeface="Courier New"/>
                <a:sym typeface="Courier New"/>
              </a:rPr>
              <a:t>public class </a:t>
            </a:r>
            <a:r>
              <a:rPr lang="en-US" sz="1900" dirty="0" err="1">
                <a:solidFill>
                  <a:schemeClr val="bg2"/>
                </a:solidFill>
                <a:latin typeface="Courier New"/>
                <a:ea typeface="Courier New"/>
                <a:cs typeface="Courier New"/>
                <a:sym typeface="Courier New"/>
              </a:rPr>
              <a:t>MyProgram</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r>
              <a:rPr lang="en-US" sz="1900" b="1" dirty="0">
                <a:solidFill>
                  <a:schemeClr val="bg2"/>
                </a:solidFill>
                <a:latin typeface="Courier New"/>
                <a:ea typeface="Courier New"/>
                <a:cs typeface="Courier New"/>
                <a:sym typeface="Courier New"/>
              </a:rPr>
              <a:t>public static void main (String [ ] </a:t>
            </a:r>
            <a:r>
              <a:rPr lang="en-US" sz="1900" b="1" dirty="0" err="1">
                <a:solidFill>
                  <a:schemeClr val="bg2"/>
                </a:solidFill>
                <a:latin typeface="Courier New"/>
                <a:ea typeface="Courier New"/>
                <a:cs typeface="Courier New"/>
                <a:sym typeface="Courier New"/>
              </a:rPr>
              <a:t>args</a:t>
            </a:r>
            <a:r>
              <a:rPr lang="en-US" sz="1900" b="1" dirty="0">
                <a:solidFill>
                  <a:schemeClr val="bg2"/>
                </a:solidFill>
                <a:latin typeface="Courier New"/>
                <a:ea typeface="Courier New"/>
                <a:cs typeface="Courier New"/>
                <a:sym typeface="Courier New"/>
              </a:rPr>
              <a:t>)</a:t>
            </a:r>
            <a:br>
              <a:rPr lang="en-US" sz="1900" b="1" dirty="0">
                <a:solidFill>
                  <a:schemeClr val="bg2"/>
                </a:solidFill>
                <a:latin typeface="Courier New"/>
                <a:ea typeface="Courier New"/>
                <a:cs typeface="Courier New"/>
              </a:rPr>
            </a:br>
            <a:r>
              <a:rPr lang="en-US" sz="1900" b="1" dirty="0">
                <a:solidFill>
                  <a:schemeClr val="bg2"/>
                </a:solidFill>
                <a:latin typeface="Courier New"/>
                <a:ea typeface="Courier New"/>
                <a:cs typeface="Courier New"/>
                <a:sym typeface="Courier New"/>
              </a:rPr>
              <a:t>	{</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r>
              <a:rPr lang="en-US" sz="1900" dirty="0" err="1">
                <a:solidFill>
                  <a:schemeClr val="bg2"/>
                </a:solidFill>
                <a:latin typeface="Courier New"/>
                <a:ea typeface="Courier New"/>
                <a:cs typeface="Courier New"/>
                <a:sym typeface="Courier New"/>
              </a:rPr>
              <a:t>System.out.println</a:t>
            </a:r>
            <a:r>
              <a:rPr lang="en-US" sz="1900" dirty="0">
                <a:solidFill>
                  <a:schemeClr val="bg2"/>
                </a:solidFill>
                <a:latin typeface="Courier New"/>
                <a:ea typeface="Courier New"/>
                <a:cs typeface="Courier New"/>
                <a:sym typeface="Courier New"/>
              </a:rPr>
              <a:t>(“Hello, world!”);</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r>
              <a:rPr lang="en-US" sz="1900" b="1" dirty="0">
                <a:solidFill>
                  <a:schemeClr val="bg2"/>
                </a:solidFill>
                <a:latin typeface="Courier New"/>
                <a:ea typeface="Courier New"/>
                <a:cs typeface="Courier New"/>
                <a:sym typeface="Courier New"/>
              </a:rPr>
              <a:t>}</a:t>
            </a:r>
            <a:br>
              <a:rPr lang="en-US" sz="1900" b="1"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a:t>
            </a:r>
            <a:endParaRPr lang="en-US" dirty="0">
              <a:solidFill>
                <a:schemeClr val="bg2"/>
              </a:solidFill>
            </a:endParaRPr>
          </a:p>
          <a:p>
            <a:pPr marL="114300" lvl="0" indent="0" algn="l" rtl="0">
              <a:lnSpc>
                <a:spcPct val="115000"/>
              </a:lnSpc>
              <a:spcBef>
                <a:spcPts val="0"/>
              </a:spcBef>
              <a:spcAft>
                <a:spcPts val="0"/>
              </a:spcAft>
              <a:buSzPct val="68311"/>
              <a:buNone/>
            </a:pPr>
            <a:endParaRPr sz="3100" dirty="0"/>
          </a:p>
          <a:p>
            <a:pPr marL="0" lvl="0" indent="0" algn="l" rtl="0">
              <a:lnSpc>
                <a:spcPct val="115000"/>
              </a:lnSpc>
              <a:spcBef>
                <a:spcPts val="0"/>
              </a:spcBef>
              <a:spcAft>
                <a:spcPts val="0"/>
              </a:spcAft>
              <a:buSzPct val="68311"/>
              <a:buNone/>
            </a:pPr>
            <a:endParaRPr sz="3100" dirty="0"/>
          </a:p>
          <a:p>
            <a:pPr marL="0" lvl="0" indent="0" algn="l" rtl="0">
              <a:lnSpc>
                <a:spcPct val="115000"/>
              </a:lnSpc>
              <a:spcBef>
                <a:spcPts val="1200"/>
              </a:spcBef>
              <a:spcAft>
                <a:spcPts val="0"/>
              </a:spcAft>
              <a:buSzPct val="117647"/>
              <a:buNone/>
            </a:pPr>
            <a:endParaRPr dirty="0"/>
          </a:p>
          <a:p>
            <a:pPr marL="0" lvl="0" indent="0" algn="l" rtl="0">
              <a:lnSpc>
                <a:spcPct val="115000"/>
              </a:lnSpc>
              <a:spcBef>
                <a:spcPts val="2400"/>
              </a:spcBef>
              <a:spcAft>
                <a:spcPts val="0"/>
              </a:spcAft>
              <a:buSzPct val="117647"/>
              <a:buNone/>
            </a:pPr>
            <a:endParaRPr dirty="0"/>
          </a:p>
          <a:p>
            <a:pPr marL="0" lvl="0" indent="0" algn="l" rtl="0">
              <a:lnSpc>
                <a:spcPct val="115000"/>
              </a:lnSpc>
              <a:spcBef>
                <a:spcPts val="2400"/>
              </a:spcBef>
              <a:spcAft>
                <a:spcPts val="1200"/>
              </a:spcAft>
              <a:buSzPct val="117647"/>
              <a:buNone/>
            </a:pPr>
            <a:endParaRPr dirty="0"/>
          </a:p>
        </p:txBody>
      </p:sp>
      <p:sp>
        <p:nvSpPr>
          <p:cNvPr id="123" name="Google Shape;123;p10"/>
          <p:cNvSpPr txBox="1"/>
          <p:nvPr/>
        </p:nvSpPr>
        <p:spPr>
          <a:xfrm>
            <a:off x="359121" y="3259502"/>
            <a:ext cx="4484708" cy="110799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A method is a block of Java statements.</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main() is a special method.</a:t>
            </a:r>
            <a:endParaRPr dirty="0"/>
          </a:p>
          <a:p>
            <a:pPr marL="285750" marR="0" lvl="4"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It tells the JVM how to start the program.</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24" name="Google Shape;124;p10"/>
          <p:cNvSpPr txBox="1"/>
          <p:nvPr/>
        </p:nvSpPr>
        <p:spPr>
          <a:xfrm>
            <a:off x="4843829" y="3248522"/>
            <a:ext cx="3844422" cy="1846659"/>
          </a:xfrm>
          <a:prstGeom prst="rect">
            <a:avLst/>
          </a:prstGeom>
          <a:noFill/>
          <a:ln>
            <a:noFill/>
          </a:ln>
        </p:spPr>
        <p:txBody>
          <a:bodyPr spcFirstLastPara="1" wrap="square" lIns="91425" tIns="45700" rIns="91425" bIns="45700" anchor="t" anchorCtr="0">
            <a:spAutoFit/>
          </a:bodyPr>
          <a:lstStyle/>
          <a:p>
            <a:pPr marL="285750" marR="0" lvl="2"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Every Java program (not every class) must have a main() method.</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main() always has the same header (first line).</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The body of a method is surrounded by curly braces.</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25" name="Google Shape;125;p10">
            <a:extLst>
              <a:ext uri="{C183D7F6-B498-43B3-948B-1728B52AA6E4}">
                <adec:decorative xmlns:adec="http://schemas.microsoft.com/office/drawing/2017/decorative" val="1"/>
              </a:ext>
            </a:extLst>
          </p:cNvPr>
          <p:cNvSpPr/>
          <p:nvPr/>
        </p:nvSpPr>
        <p:spPr>
          <a:xfrm>
            <a:off x="445189" y="1017725"/>
            <a:ext cx="7277153" cy="2083983"/>
          </a:xfrm>
          <a:prstGeom prst="rect">
            <a:avLst/>
          </a:prstGeom>
          <a:noFill/>
          <a:ln w="25400" cap="flat" cmpd="sng">
            <a:solidFill>
              <a:schemeClr val="bg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uiExpand="1" build="p"/>
      <p:bldP spid="12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a:buSzPct val="39285"/>
            </a:pPr>
            <a:r>
              <a:rPr lang="en-US" b="1" dirty="0"/>
              <a:t>Line-by-Line Breakdown </a:t>
            </a:r>
            <a:endParaRPr dirty="0"/>
          </a:p>
        </p:txBody>
      </p:sp>
      <p:sp>
        <p:nvSpPr>
          <p:cNvPr id="131" name="Google Shape;131;p11">
            <a:extLst>
              <a:ext uri="{C183D7F6-B498-43B3-948B-1728B52AA6E4}">
                <adec:decorative xmlns:adec="http://schemas.microsoft.com/office/drawing/2017/decorative" val="1"/>
              </a:ext>
            </a:extLst>
          </p:cNvPr>
          <p:cNvSpPr txBox="1">
            <a:spLocks noGrp="1"/>
          </p:cNvSpPr>
          <p:nvPr>
            <p:ph type="body" idx="1"/>
          </p:nvPr>
        </p:nvSpPr>
        <p:spPr>
          <a:xfrm>
            <a:off x="590141" y="1124190"/>
            <a:ext cx="6891920" cy="1812569"/>
          </a:xfrm>
          <a:prstGeom prst="rect">
            <a:avLst/>
          </a:prstGeom>
          <a:noFill/>
          <a:ln>
            <a:noFill/>
          </a:ln>
        </p:spPr>
        <p:txBody>
          <a:bodyPr spcFirstLastPara="1" wrap="square" lIns="91425" tIns="91425" rIns="91425" bIns="91425" anchor="t" anchorCtr="0">
            <a:normAutofit fontScale="85000" lnSpcReduction="20000"/>
          </a:bodyPr>
          <a:lstStyle/>
          <a:p>
            <a:pPr marL="114300" lvl="0" indent="0" algn="l" rtl="0">
              <a:lnSpc>
                <a:spcPct val="115000"/>
              </a:lnSpc>
              <a:spcBef>
                <a:spcPts val="0"/>
              </a:spcBef>
              <a:spcAft>
                <a:spcPts val="0"/>
              </a:spcAft>
              <a:buSzPct val="111455"/>
              <a:buNone/>
            </a:pPr>
            <a:r>
              <a:rPr lang="en-US" sz="1900" dirty="0">
                <a:solidFill>
                  <a:schemeClr val="bg2"/>
                </a:solidFill>
                <a:latin typeface="Courier New"/>
                <a:ea typeface="Courier New"/>
                <a:cs typeface="Courier New"/>
                <a:sym typeface="Courier New"/>
              </a:rPr>
              <a:t>public class </a:t>
            </a:r>
            <a:r>
              <a:rPr lang="en-US" sz="1900" dirty="0" err="1">
                <a:solidFill>
                  <a:schemeClr val="bg2"/>
                </a:solidFill>
                <a:latin typeface="Courier New"/>
                <a:ea typeface="Courier New"/>
                <a:cs typeface="Courier New"/>
                <a:sym typeface="Courier New"/>
              </a:rPr>
              <a:t>MyProgram</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public static void main (String [ ] </a:t>
            </a:r>
            <a:r>
              <a:rPr lang="en-US" sz="1900" dirty="0" err="1">
                <a:solidFill>
                  <a:schemeClr val="bg2"/>
                </a:solidFill>
                <a:latin typeface="Courier New"/>
                <a:ea typeface="Courier New"/>
                <a:cs typeface="Courier New"/>
                <a:sym typeface="Courier New"/>
              </a:rPr>
              <a:t>args</a:t>
            </a:r>
            <a:r>
              <a:rPr lang="en-US" sz="1900" dirty="0">
                <a:solidFill>
                  <a:schemeClr val="bg2"/>
                </a:solidFill>
                <a:latin typeface="Courier New"/>
                <a:ea typeface="Courier New"/>
                <a:cs typeface="Courier New"/>
                <a:sym typeface="Courier New"/>
              </a:rPr>
              <a:t>)</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r>
              <a:rPr lang="en-US" sz="1900" b="1" dirty="0">
                <a:solidFill>
                  <a:schemeClr val="bg2"/>
                </a:solidFill>
                <a:latin typeface="Courier New"/>
                <a:ea typeface="Courier New"/>
                <a:cs typeface="Courier New"/>
                <a:sym typeface="Courier New"/>
              </a:rPr>
              <a:t>	</a:t>
            </a:r>
            <a:r>
              <a:rPr lang="en-US" sz="1900" b="1" dirty="0" err="1">
                <a:solidFill>
                  <a:schemeClr val="bg2"/>
                </a:solidFill>
                <a:latin typeface="Courier New"/>
                <a:ea typeface="Courier New"/>
                <a:cs typeface="Courier New"/>
                <a:sym typeface="Courier New"/>
              </a:rPr>
              <a:t>System.out.println</a:t>
            </a:r>
            <a:r>
              <a:rPr lang="en-US" sz="1900" b="1" dirty="0">
                <a:solidFill>
                  <a:schemeClr val="bg2"/>
                </a:solidFill>
                <a:latin typeface="Courier New"/>
                <a:ea typeface="Courier New"/>
                <a:cs typeface="Courier New"/>
                <a:sym typeface="Courier New"/>
              </a:rPr>
              <a:t>(“Hello, world!”);</a:t>
            </a:r>
            <a:br>
              <a:rPr lang="en-US" sz="1900" b="1"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	}</a:t>
            </a:r>
            <a:br>
              <a:rPr lang="en-US" sz="1900" dirty="0">
                <a:solidFill>
                  <a:schemeClr val="bg2"/>
                </a:solidFill>
                <a:latin typeface="Courier New"/>
                <a:ea typeface="Courier New"/>
                <a:cs typeface="Courier New"/>
              </a:rPr>
            </a:br>
            <a:r>
              <a:rPr lang="en-US" sz="1900" dirty="0">
                <a:solidFill>
                  <a:schemeClr val="bg2"/>
                </a:solidFill>
                <a:latin typeface="Courier New"/>
                <a:ea typeface="Courier New"/>
                <a:cs typeface="Courier New"/>
                <a:sym typeface="Courier New"/>
              </a:rPr>
              <a:t>}</a:t>
            </a:r>
            <a:endParaRPr dirty="0">
              <a:solidFill>
                <a:schemeClr val="bg2"/>
              </a:solidFill>
            </a:endParaRPr>
          </a:p>
          <a:p>
            <a:pPr marL="114300" lvl="0" indent="0" algn="l" rtl="0">
              <a:lnSpc>
                <a:spcPct val="115000"/>
              </a:lnSpc>
              <a:spcBef>
                <a:spcPts val="0"/>
              </a:spcBef>
              <a:spcAft>
                <a:spcPts val="0"/>
              </a:spcAft>
              <a:buSzPct val="68311"/>
              <a:buNone/>
            </a:pPr>
            <a:endParaRPr sz="3100" dirty="0"/>
          </a:p>
          <a:p>
            <a:pPr marL="0" lvl="0" indent="0" algn="l" rtl="0">
              <a:lnSpc>
                <a:spcPct val="115000"/>
              </a:lnSpc>
              <a:spcBef>
                <a:spcPts val="0"/>
              </a:spcBef>
              <a:spcAft>
                <a:spcPts val="0"/>
              </a:spcAft>
              <a:buSzPct val="68311"/>
              <a:buNone/>
            </a:pPr>
            <a:endParaRPr sz="3100" dirty="0"/>
          </a:p>
          <a:p>
            <a:pPr marL="0" lvl="0" indent="0" algn="l" rtl="0">
              <a:lnSpc>
                <a:spcPct val="115000"/>
              </a:lnSpc>
              <a:spcBef>
                <a:spcPts val="1200"/>
              </a:spcBef>
              <a:spcAft>
                <a:spcPts val="0"/>
              </a:spcAft>
              <a:buSzPct val="117647"/>
              <a:buNone/>
            </a:pPr>
            <a:endParaRPr dirty="0"/>
          </a:p>
          <a:p>
            <a:pPr marL="0" lvl="0" indent="0" algn="l" rtl="0">
              <a:lnSpc>
                <a:spcPct val="115000"/>
              </a:lnSpc>
              <a:spcBef>
                <a:spcPts val="2400"/>
              </a:spcBef>
              <a:spcAft>
                <a:spcPts val="0"/>
              </a:spcAft>
              <a:buSzPct val="117647"/>
              <a:buNone/>
            </a:pPr>
            <a:endParaRPr dirty="0"/>
          </a:p>
          <a:p>
            <a:pPr marL="0" lvl="0" indent="0" algn="l" rtl="0">
              <a:lnSpc>
                <a:spcPct val="115000"/>
              </a:lnSpc>
              <a:spcBef>
                <a:spcPts val="2400"/>
              </a:spcBef>
              <a:spcAft>
                <a:spcPts val="1200"/>
              </a:spcAft>
              <a:buSzPct val="117647"/>
              <a:buNone/>
            </a:pPr>
            <a:endParaRPr dirty="0"/>
          </a:p>
        </p:txBody>
      </p:sp>
      <p:sp>
        <p:nvSpPr>
          <p:cNvPr id="132" name="Google Shape;132;p11"/>
          <p:cNvSpPr txBox="1"/>
          <p:nvPr/>
        </p:nvSpPr>
        <p:spPr>
          <a:xfrm>
            <a:off x="359121" y="3259502"/>
            <a:ext cx="4212879" cy="184665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err="1">
                <a:solidFill>
                  <a:schemeClr val="dk2"/>
                </a:solidFill>
                <a:latin typeface="Arial"/>
                <a:ea typeface="Arial"/>
                <a:cs typeface="Arial"/>
                <a:sym typeface="Arial"/>
              </a:rPr>
              <a:t>System.out.println</a:t>
            </a:r>
            <a:r>
              <a:rPr lang="en-US" sz="1600" b="0" i="0" u="none" strike="noStrike" cap="none" dirty="0">
                <a:solidFill>
                  <a:schemeClr val="dk2"/>
                </a:solidFill>
                <a:latin typeface="Arial"/>
                <a:ea typeface="Arial"/>
                <a:cs typeface="Arial"/>
                <a:sym typeface="Arial"/>
              </a:rPr>
              <a:t>() is another Java method.</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It tells the program to print something to the console (screen).</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The information to print goes inside the parentheses.</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33" name="Google Shape;133;p11"/>
          <p:cNvSpPr txBox="1"/>
          <p:nvPr/>
        </p:nvSpPr>
        <p:spPr>
          <a:xfrm>
            <a:off x="4843829" y="3248522"/>
            <a:ext cx="3844422" cy="135421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Here, we’re printing a string of characters.</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2"/>
                </a:solidFill>
                <a:latin typeface="Arial"/>
                <a:ea typeface="Arial"/>
                <a:cs typeface="Arial"/>
                <a:sym typeface="Arial"/>
              </a:rPr>
              <a:t>This is a method call — main() was a method definition.</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34" name="Google Shape;134;p11">
            <a:extLst>
              <a:ext uri="{C183D7F6-B498-43B3-948B-1728B52AA6E4}">
                <adec:decorative xmlns:adec="http://schemas.microsoft.com/office/drawing/2017/decorative" val="1"/>
              </a:ext>
            </a:extLst>
          </p:cNvPr>
          <p:cNvSpPr/>
          <p:nvPr/>
        </p:nvSpPr>
        <p:spPr>
          <a:xfrm>
            <a:off x="445189" y="1017725"/>
            <a:ext cx="7277153" cy="2083983"/>
          </a:xfrm>
          <a:prstGeom prst="rect">
            <a:avLst/>
          </a:prstGeom>
          <a:noFill/>
          <a:ln w="25400" cap="flat" cmpd="sng">
            <a:solidFill>
              <a:schemeClr val="bg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build="p"/>
      <p:bldP spid="13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b="1"/>
              <a:t>Compiling Your Java Code</a:t>
            </a:r>
            <a:endParaRPr/>
          </a:p>
          <a:p>
            <a:pPr marL="0" lvl="0" indent="0" algn="l" rtl="0">
              <a:lnSpc>
                <a:spcPct val="100000"/>
              </a:lnSpc>
              <a:spcBef>
                <a:spcPts val="0"/>
              </a:spcBef>
              <a:spcAft>
                <a:spcPts val="0"/>
              </a:spcAft>
              <a:buSzPct val="111111"/>
              <a:buNone/>
            </a:pPr>
            <a:endParaRPr/>
          </a:p>
        </p:txBody>
      </p:sp>
      <p:sp>
        <p:nvSpPr>
          <p:cNvPr id="62"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285750" lvl="0" indent="-285750" algn="l" rtl="0">
              <a:lnSpc>
                <a:spcPct val="115000"/>
              </a:lnSpc>
              <a:spcBef>
                <a:spcPts val="0"/>
              </a:spcBef>
              <a:spcAft>
                <a:spcPts val="0"/>
              </a:spcAft>
              <a:buClr>
                <a:schemeClr val="dk1"/>
              </a:buClr>
              <a:buSzPct val="100000"/>
              <a:buChar char="●"/>
            </a:pPr>
            <a:r>
              <a:rPr lang="en" dirty="0"/>
              <a:t>Write and save your source code using a text editor</a:t>
            </a:r>
            <a:endParaRPr dirty="0"/>
          </a:p>
          <a:p>
            <a:pPr marL="742950" lvl="1" indent="-285750" algn="l" rtl="0">
              <a:lnSpc>
                <a:spcPct val="115000"/>
              </a:lnSpc>
              <a:spcBef>
                <a:spcPts val="0"/>
              </a:spcBef>
              <a:spcAft>
                <a:spcPts val="0"/>
              </a:spcAft>
              <a:buClr>
                <a:schemeClr val="dk1"/>
              </a:buClr>
              <a:buSzPct val="100000"/>
              <a:buChar char="○"/>
            </a:pPr>
            <a:r>
              <a:rPr lang="en" sz="1800" dirty="0"/>
              <a:t>The source code MUST be a plain text file.</a:t>
            </a:r>
            <a:endParaRPr dirty="0"/>
          </a:p>
          <a:p>
            <a:pPr marL="742950" lvl="1" indent="-285750">
              <a:buClr>
                <a:schemeClr val="dk1"/>
              </a:buClr>
              <a:buSzPct val="100000"/>
            </a:pPr>
            <a:r>
              <a:rPr lang="en" sz="1800" dirty="0"/>
              <a:t>The file should be named after the class it contains (e.g., a class named Welcome must live in a file named Welcome.java ).</a:t>
            </a:r>
            <a:endParaRPr dirty="0"/>
          </a:p>
          <a:p>
            <a:pPr marL="285750" lvl="0" indent="-285750" algn="l" rtl="0">
              <a:lnSpc>
                <a:spcPct val="115000"/>
              </a:lnSpc>
              <a:spcBef>
                <a:spcPts val="0"/>
              </a:spcBef>
              <a:spcAft>
                <a:spcPts val="0"/>
              </a:spcAft>
              <a:buClr>
                <a:schemeClr val="dk1"/>
              </a:buClr>
              <a:buSzPct val="100000"/>
              <a:buChar char="●"/>
            </a:pPr>
            <a:r>
              <a:rPr lang="en" dirty="0"/>
              <a:t>Run the Java compiler (javac) to compile your source code file into a Java bytecode file:</a:t>
            </a:r>
            <a:endParaRPr dirty="0"/>
          </a:p>
          <a:p>
            <a:pPr marL="742950" lvl="1" indent="-285750">
              <a:buClr>
                <a:schemeClr val="dk1"/>
              </a:buClr>
              <a:buSzPct val="100000"/>
            </a:pPr>
            <a:r>
              <a:rPr lang="en" sz="1800" dirty="0"/>
              <a:t>javac Welcome.java 	</a:t>
            </a:r>
            <a:endParaRPr dirty="0"/>
          </a:p>
          <a:p>
            <a:pPr marL="285750" lvl="0" indent="-285750">
              <a:buClr>
                <a:schemeClr val="dk1"/>
              </a:buClr>
              <a:buSzPct val="100000"/>
            </a:pPr>
            <a:r>
              <a:rPr lang="en" dirty="0"/>
              <a:t>This will produce a file named Welcome.class.</a:t>
            </a:r>
            <a:endParaRPr dirty="0"/>
          </a:p>
        </p:txBody>
      </p:sp>
    </p:spTree>
    <p:extLst>
      <p:ext uri="{BB962C8B-B14F-4D97-AF65-F5344CB8AC3E}">
        <p14:creationId xmlns:p14="http://schemas.microsoft.com/office/powerpoint/2010/main" val="426073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39285"/>
            </a:pPr>
            <a:r>
              <a:rPr lang="en" b="1" dirty="0"/>
              <a:t>Executing Your Java Code</a:t>
            </a:r>
            <a:endParaRPr dirty="0"/>
          </a:p>
        </p:txBody>
      </p:sp>
      <p:sp>
        <p:nvSpPr>
          <p:cNvPr id="62"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285750" indent="-285750">
              <a:buClr>
                <a:schemeClr val="dk1"/>
              </a:buClr>
              <a:buSzPct val="100000"/>
            </a:pPr>
            <a:r>
              <a:rPr lang="en" dirty="0"/>
              <a:t>To execute your program, run the JVM with your compiled .class file: </a:t>
            </a:r>
          </a:p>
          <a:p>
            <a:pPr marL="742950" lvl="1" indent="-285750">
              <a:buClr>
                <a:schemeClr val="dk1"/>
              </a:buClr>
              <a:buSzPct val="100000"/>
            </a:pPr>
            <a:r>
              <a:rPr lang="en" sz="1800" dirty="0"/>
              <a:t>java Welcome</a:t>
            </a:r>
          </a:p>
          <a:p>
            <a:pPr marL="742950" lvl="1" indent="-285750">
              <a:buClr>
                <a:schemeClr val="dk1"/>
              </a:buClr>
              <a:buSzPct val="100000"/>
            </a:pPr>
            <a:endParaRPr lang="en" sz="1800" dirty="0"/>
          </a:p>
          <a:p>
            <a:pPr marL="457200" lvl="1" indent="0">
              <a:buClr>
                <a:schemeClr val="dk1"/>
              </a:buClr>
              <a:buSzPct val="100000"/>
              <a:buNone/>
            </a:pPr>
            <a:endParaRPr lang="en" dirty="0"/>
          </a:p>
          <a:p>
            <a:pPr marL="285750" indent="-285750">
              <a:buClr>
                <a:schemeClr val="dk1"/>
              </a:buClr>
              <a:buSzPct val="100000"/>
            </a:pPr>
            <a:r>
              <a:rPr lang="en-US" dirty="0"/>
              <a:t>Note that the “.class” extension is omitted (The JVM fills that in automatically).</a:t>
            </a:r>
          </a:p>
          <a:p>
            <a:pPr marL="0" lvl="0" indent="0">
              <a:buClr>
                <a:schemeClr val="dk1"/>
              </a:buClr>
              <a:buSzPct val="100000"/>
              <a:buNone/>
            </a:pPr>
            <a:endParaRPr lang="en-US" dirty="0"/>
          </a:p>
          <a:p>
            <a:pPr marL="0" lvl="0" indent="0">
              <a:buClr>
                <a:schemeClr val="dk1"/>
              </a:buClr>
              <a:buSzPct val="100000"/>
              <a:buNone/>
            </a:pPr>
            <a:endParaRPr lang="en-US" dirty="0"/>
          </a:p>
          <a:p>
            <a:pPr marL="285750" indent="-285750">
              <a:buClr>
                <a:schemeClr val="dk1"/>
              </a:buClr>
              <a:buSzPct val="100000"/>
            </a:pPr>
            <a:r>
              <a:rPr lang="en-US" dirty="0"/>
              <a:t>You can only directly execute a class file that contains a main() method.</a:t>
            </a:r>
          </a:p>
          <a:p>
            <a:pPr marL="0" lvl="0" indent="0">
              <a:buClr>
                <a:schemeClr val="dk1"/>
              </a:buClr>
              <a:buSzPct val="100000"/>
              <a:buNone/>
            </a:pPr>
            <a:endParaRPr lang="en" sz="1800" dirty="0"/>
          </a:p>
        </p:txBody>
      </p:sp>
    </p:spTree>
    <p:extLst>
      <p:ext uri="{BB962C8B-B14F-4D97-AF65-F5344CB8AC3E}">
        <p14:creationId xmlns:p14="http://schemas.microsoft.com/office/powerpoint/2010/main" val="68602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6" name="Google Shape;76;p4" descr="public static void main(String[] args)"/>
          <p:cNvSpPr/>
          <p:nvPr/>
        </p:nvSpPr>
        <p:spPr>
          <a:xfrm>
            <a:off x="859465" y="2642191"/>
            <a:ext cx="7086600" cy="371475"/>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74" name="Google Shape;74;p4"/>
          <p:cNvSpPr/>
          <p:nvPr/>
        </p:nvSpPr>
        <p:spPr>
          <a:xfrm>
            <a:off x="526500" y="1830572"/>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//This program prints Welcome to Java!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public class Welcome {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public static void main(String[] args) {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System.out.println("Welcome to Java!");</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a:t>
            </a:r>
            <a:endParaRPr sz="2800" b="1" i="0" u="none" strike="noStrike" cap="none">
              <a:solidFill>
                <a:schemeClr val="dk1"/>
              </a:solidFill>
              <a:latin typeface="Times New Roman"/>
              <a:ea typeface="Times New Roman"/>
              <a:cs typeface="Times New Roman"/>
              <a:sym typeface="Times New Roman"/>
            </a:endParaRPr>
          </a:p>
        </p:txBody>
      </p:sp>
      <p:sp>
        <p:nvSpPr>
          <p:cNvPr id="75" name="Google Shape;75;p4"/>
          <p:cNvSpPr/>
          <p:nvPr/>
        </p:nvSpPr>
        <p:spPr>
          <a:xfrm>
            <a:off x="6264794" y="422829"/>
            <a:ext cx="2490788" cy="674688"/>
          </a:xfrm>
          <a:prstGeom prst="wedgeRoundRectCallout">
            <a:avLst>
              <a:gd name="adj1" fmla="val 12738"/>
              <a:gd name="adj2" fmla="val 270306"/>
              <a:gd name="adj3"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1800" b="0" i="0" u="none" strike="noStrike" cap="none">
                <a:solidFill>
                  <a:schemeClr val="dk1"/>
                </a:solidFill>
                <a:latin typeface="Times New Roman"/>
                <a:ea typeface="Times New Roman"/>
                <a:cs typeface="Times New Roman"/>
                <a:sym typeface="Times New Roman"/>
              </a:rPr>
              <a:t>Enter main method</a:t>
            </a:r>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Trace a Program Execution</a:t>
            </a:r>
            <a:br>
              <a:rPr lang="en" dirty="0"/>
            </a:br>
            <a:endParaRPr dirty="0"/>
          </a:p>
        </p:txBody>
      </p:sp>
    </p:spTree>
    <p:extLst>
      <p:ext uri="{BB962C8B-B14F-4D97-AF65-F5344CB8AC3E}">
        <p14:creationId xmlns:p14="http://schemas.microsoft.com/office/powerpoint/2010/main" val="3632415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4" name="Google Shape;84;p5" descr="System.out.println(&quot;Welcome to Java!&quot;);​"/>
          <p:cNvSpPr/>
          <p:nvPr/>
        </p:nvSpPr>
        <p:spPr>
          <a:xfrm>
            <a:off x="1306032" y="2996609"/>
            <a:ext cx="7197655" cy="377456"/>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82" name="Google Shape;82;p5"/>
          <p:cNvSpPr/>
          <p:nvPr/>
        </p:nvSpPr>
        <p:spPr>
          <a:xfrm>
            <a:off x="526500" y="1830572"/>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//This program prints Welcome to Java!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public class Welcome {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public static void main(String[] args) {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System.out.println("Welcome to Java!");</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a:t>
            </a:r>
            <a:endParaRPr sz="2800" b="1" i="0" u="none" strike="noStrike" cap="none">
              <a:solidFill>
                <a:schemeClr val="dk1"/>
              </a:solidFill>
              <a:latin typeface="Times New Roman"/>
              <a:ea typeface="Times New Roman"/>
              <a:cs typeface="Times New Roman"/>
              <a:sym typeface="Times New Roman"/>
            </a:endParaRPr>
          </a:p>
        </p:txBody>
      </p:sp>
      <p:sp>
        <p:nvSpPr>
          <p:cNvPr id="83" name="Google Shape;83;p5"/>
          <p:cNvSpPr/>
          <p:nvPr/>
        </p:nvSpPr>
        <p:spPr>
          <a:xfrm>
            <a:off x="6341512" y="731375"/>
            <a:ext cx="2490788" cy="615950"/>
          </a:xfrm>
          <a:prstGeom prst="wedgeRoundRectCallout">
            <a:avLst>
              <a:gd name="adj1" fmla="val 16962"/>
              <a:gd name="adj2" fmla="val 310288"/>
              <a:gd name="adj3"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1800" b="0" i="0" u="none" strike="noStrike" cap="none">
                <a:solidFill>
                  <a:schemeClr val="dk1"/>
                </a:solidFill>
                <a:latin typeface="Times New Roman"/>
                <a:ea typeface="Times New Roman"/>
                <a:cs typeface="Times New Roman"/>
                <a:sym typeface="Times New Roman"/>
              </a:rPr>
              <a:t>Execute statement</a:t>
            </a:r>
            <a:endParaRPr/>
          </a:p>
        </p:txBody>
      </p:sp>
      <p:sp>
        <p:nvSpPr>
          <p:cNvPr id="81" name="Google Shape;8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Trace a Program Execution</a:t>
            </a:r>
            <a:br>
              <a:rPr lang="en" dirty="0"/>
            </a:br>
            <a:endParaRPr dirty="0"/>
          </a:p>
        </p:txBody>
      </p:sp>
    </p:spTree>
    <p:extLst>
      <p:ext uri="{BB962C8B-B14F-4D97-AF65-F5344CB8AC3E}">
        <p14:creationId xmlns:p14="http://schemas.microsoft.com/office/powerpoint/2010/main" val="4042562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3" name="Google Shape;93;p6"/>
          <p:cNvSpPr/>
          <p:nvPr/>
        </p:nvSpPr>
        <p:spPr>
          <a:xfrm>
            <a:off x="6049965" y="3554782"/>
            <a:ext cx="2687638" cy="692150"/>
          </a:xfrm>
          <a:prstGeom prst="wedgeRoundRectCallout">
            <a:avLst>
              <a:gd name="adj1" fmla="val -122829"/>
              <a:gd name="adj2" fmla="val -9176"/>
              <a:gd name="adj3"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800" b="0" i="0" u="none" strike="noStrike" cap="none">
                <a:solidFill>
                  <a:schemeClr val="dk1"/>
                </a:solidFill>
                <a:latin typeface="Times New Roman"/>
                <a:ea typeface="Times New Roman"/>
                <a:cs typeface="Times New Roman"/>
                <a:sym typeface="Times New Roman"/>
              </a:rPr>
              <a:t>print a message to the console</a:t>
            </a:r>
            <a:endParaRPr/>
          </a:p>
        </p:txBody>
      </p:sp>
      <p:pic>
        <p:nvPicPr>
          <p:cNvPr id="94" name="Google Shape;94;p6" descr="Command Prompt&#10;C: \book&amp;#62;java Welcome&#10;Welcome to Java!&#10;&#10;C: \book&amp;#62;"/>
          <p:cNvPicPr preferRelativeResize="0"/>
          <p:nvPr/>
        </p:nvPicPr>
        <p:blipFill rotWithShape="1">
          <a:blip r:embed="rId3">
            <a:alphaModFix/>
          </a:blip>
          <a:srcRect/>
          <a:stretch/>
        </p:blipFill>
        <p:spPr>
          <a:xfrm>
            <a:off x="1951115" y="3717334"/>
            <a:ext cx="2073275" cy="1036638"/>
          </a:xfrm>
          <a:prstGeom prst="rect">
            <a:avLst/>
          </a:prstGeom>
          <a:noFill/>
          <a:ln>
            <a:noFill/>
          </a:ln>
        </p:spPr>
      </p:pic>
      <p:cxnSp>
        <p:nvCxnSpPr>
          <p:cNvPr id="92" name="Google Shape;92;p6" descr="arrow from System.out.println(&quot;Welcome to Java!&quot;);​ pointing to command prompt"/>
          <p:cNvCxnSpPr/>
          <p:nvPr/>
        </p:nvCxnSpPr>
        <p:spPr>
          <a:xfrm flipH="1">
            <a:off x="3094113" y="3374064"/>
            <a:ext cx="1570035" cy="267069"/>
          </a:xfrm>
          <a:prstGeom prst="straightConnector1">
            <a:avLst/>
          </a:prstGeom>
          <a:noFill/>
          <a:ln w="12700" cap="flat" cmpd="sng">
            <a:solidFill>
              <a:srgbClr val="FF0000"/>
            </a:solidFill>
            <a:prstDash val="solid"/>
            <a:round/>
            <a:headEnd type="none" w="sm" len="sm"/>
            <a:tailEnd type="stealth" w="sm" len="sm"/>
          </a:ln>
        </p:spPr>
      </p:cxnSp>
      <p:sp>
        <p:nvSpPr>
          <p:cNvPr id="91" name="Google Shape;91;p6" descr="System.out.println(&quot;Welcome to Java!&quot;);​"/>
          <p:cNvSpPr/>
          <p:nvPr/>
        </p:nvSpPr>
        <p:spPr>
          <a:xfrm>
            <a:off x="1306032" y="2996609"/>
            <a:ext cx="7197655" cy="377456"/>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90" name="Google Shape;90;p6"/>
          <p:cNvSpPr/>
          <p:nvPr/>
        </p:nvSpPr>
        <p:spPr>
          <a:xfrm>
            <a:off x="526500" y="1830572"/>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//This program prints Welcome to Java!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public class Welcome {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public static void main(String[] args) {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System.out.println("Welcome to Java!");</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  }</a:t>
            </a:r>
            <a:endParaRPr/>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a:solidFill>
                  <a:schemeClr val="dk1"/>
                </a:solidFill>
                <a:latin typeface="Courier New"/>
                <a:ea typeface="Courier New"/>
                <a:cs typeface="Courier New"/>
                <a:sym typeface="Courier New"/>
              </a:rPr>
              <a:t>}</a:t>
            </a:r>
            <a:endParaRPr sz="2800" b="1" i="0" u="none" strike="noStrike" cap="none">
              <a:solidFill>
                <a:schemeClr val="dk1"/>
              </a:solidFill>
              <a:latin typeface="Times New Roman"/>
              <a:ea typeface="Times New Roman"/>
              <a:cs typeface="Times New Roman"/>
              <a:sym typeface="Times New Roman"/>
            </a:endParaRPr>
          </a:p>
        </p:txBody>
      </p:sp>
      <p:sp>
        <p:nvSpPr>
          <p:cNvPr id="89" name="Google Shape;89;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Trace a Program Execution</a:t>
            </a:r>
            <a:br>
              <a:rPr lang="en" dirty="0"/>
            </a:br>
            <a:endParaRPr dirty="0"/>
          </a:p>
        </p:txBody>
      </p:sp>
    </p:spTree>
    <p:extLst>
      <p:ext uri="{BB962C8B-B14F-4D97-AF65-F5344CB8AC3E}">
        <p14:creationId xmlns:p14="http://schemas.microsoft.com/office/powerpoint/2010/main" val="3173342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Getting User Input</a:t>
            </a:r>
          </a:p>
        </p:txBody>
      </p:sp>
      <p:sp>
        <p:nvSpPr>
          <p:cNvPr id="3" name="Text Placeholder 2"/>
          <p:cNvSpPr>
            <a:spLocks noGrp="1"/>
          </p:cNvSpPr>
          <p:nvPr>
            <p:ph type="body" idx="1"/>
          </p:nvPr>
        </p:nvSpPr>
        <p:spPr/>
        <p:txBody>
          <a:bodyPr>
            <a:normAutofit lnSpcReduction="10000"/>
          </a:bodyPr>
          <a:lstStyle/>
          <a:p>
            <a:r>
              <a:rPr lang="en-US" dirty="0"/>
              <a:t>You must include import </a:t>
            </a:r>
            <a:r>
              <a:rPr lang="en-US" b="1" dirty="0" err="1">
                <a:latin typeface="Courier New" panose="02070309020205020404" pitchFamily="49" charset="0"/>
                <a:cs typeface="Courier New" panose="02070309020205020404" pitchFamily="49" charset="0"/>
              </a:rPr>
              <a:t>java.util.Scanner</a:t>
            </a:r>
            <a:r>
              <a:rPr lang="en-US" b="1" dirty="0">
                <a:latin typeface="Courier New" panose="02070309020205020404" pitchFamily="49" charset="0"/>
                <a:cs typeface="Courier New" panose="02070309020205020404" pitchFamily="49" charset="0"/>
              </a:rPr>
              <a:t>;</a:t>
            </a:r>
            <a:r>
              <a:rPr lang="en-US" dirty="0"/>
              <a:t> at the top of your source code file!</a:t>
            </a:r>
          </a:p>
          <a:p>
            <a:pPr marL="114300" indent="0">
              <a:buNone/>
            </a:pPr>
            <a:endParaRPr lang="en-US" dirty="0"/>
          </a:p>
          <a:p>
            <a:r>
              <a:rPr lang="en-US" dirty="0"/>
              <a:t>Create a Scanner object:</a:t>
            </a:r>
          </a:p>
          <a:p>
            <a:pPr marL="114300" indent="0">
              <a:buNone/>
            </a:pPr>
            <a:r>
              <a:rPr lang="en-US" dirty="0"/>
              <a:t>      </a:t>
            </a:r>
            <a:r>
              <a:rPr lang="en-US" b="1" dirty="0">
                <a:latin typeface="Courier New" panose="02070309020205020404" pitchFamily="49" charset="0"/>
                <a:cs typeface="Courier New" panose="02070309020205020404" pitchFamily="49" charset="0"/>
              </a:rPr>
              <a:t>Scanner input = new Scanner (System.in);</a:t>
            </a:r>
          </a:p>
          <a:p>
            <a:pPr marL="114300" indent="0">
              <a:buNone/>
            </a:pPr>
            <a:endParaRPr lang="en-US" dirty="0"/>
          </a:p>
          <a:p>
            <a:r>
              <a:rPr lang="en-US" dirty="0"/>
              <a:t>Use the method </a:t>
            </a:r>
            <a:r>
              <a:rPr lang="en-US" b="1" dirty="0" err="1">
                <a:latin typeface="Courier New" panose="02070309020205020404" pitchFamily="49" charset="0"/>
                <a:cs typeface="Courier New" panose="02070309020205020404" pitchFamily="49" charset="0"/>
              </a:rPr>
              <a:t>nextDouble</a:t>
            </a:r>
            <a:r>
              <a:rPr lang="en-US" b="1" dirty="0">
                <a:latin typeface="Courier New" panose="02070309020205020404" pitchFamily="49" charset="0"/>
                <a:cs typeface="Courier New" panose="02070309020205020404" pitchFamily="49" charset="0"/>
              </a:rPr>
              <a:t>() </a:t>
            </a:r>
            <a:r>
              <a:rPr lang="en-US" dirty="0"/>
              <a:t>to obtain a double value.</a:t>
            </a:r>
          </a:p>
          <a:p>
            <a:pPr marL="114300" indent="0">
              <a:buNone/>
            </a:pPr>
            <a:r>
              <a:rPr lang="en-US" dirty="0"/>
              <a:t>     Example:</a:t>
            </a:r>
          </a:p>
          <a:p>
            <a:pPr marL="114300" indent="0">
              <a:buNone/>
            </a:pPr>
            <a:r>
              <a:rPr lang="en-US" dirty="0"/>
              <a:t>     </a:t>
            </a: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(“Enter a double value: ”);</a:t>
            </a:r>
          </a:p>
          <a:p>
            <a:pPr marL="114300" indent="0">
              <a:buNone/>
            </a:pPr>
            <a:r>
              <a:rPr lang="en-US" b="1" dirty="0">
                <a:latin typeface="Courier New" panose="02070309020205020404" pitchFamily="49" charset="0"/>
                <a:cs typeface="Courier New" panose="02070309020205020404" pitchFamily="49" charset="0"/>
              </a:rPr>
              <a:t>  Scanner input = new Scanner (System.in);</a:t>
            </a:r>
          </a:p>
          <a:p>
            <a:pPr marL="114300" indent="0">
              <a:buNone/>
            </a:pPr>
            <a:r>
              <a:rPr lang="en-US" b="1" dirty="0">
                <a:latin typeface="Courier New" panose="02070309020205020404" pitchFamily="49" charset="0"/>
                <a:cs typeface="Courier New" panose="02070309020205020404" pitchFamily="49" charset="0"/>
              </a:rPr>
              <a:t>  double d = </a:t>
            </a:r>
            <a:r>
              <a:rPr lang="en-US" b="1" dirty="0" err="1">
                <a:latin typeface="Courier New" panose="02070309020205020404" pitchFamily="49" charset="0"/>
                <a:cs typeface="Courier New" panose="02070309020205020404" pitchFamily="49" charset="0"/>
              </a:rPr>
              <a:t>input.nextDouble</a:t>
            </a:r>
            <a:r>
              <a:rPr lang="en-US" b="1" dirty="0">
                <a:latin typeface="Courier New" panose="02070309020205020404" pitchFamily="49" charset="0"/>
                <a:cs typeface="Courier New" panose="02070309020205020404" pitchFamily="49" charset="0"/>
              </a:rPr>
              <a:t>();</a:t>
            </a:r>
          </a:p>
          <a:p>
            <a:pPr marL="114300" indent="0">
              <a:buNone/>
            </a:pPr>
            <a:endParaRPr lang="en-US" dirty="0"/>
          </a:p>
        </p:txBody>
      </p:sp>
    </p:spTree>
    <p:extLst>
      <p:ext uri="{BB962C8B-B14F-4D97-AF65-F5344CB8AC3E}">
        <p14:creationId xmlns:p14="http://schemas.microsoft.com/office/powerpoint/2010/main" val="109789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Scanner class methods:</a:t>
            </a:r>
          </a:p>
        </p:txBody>
      </p:sp>
      <p:graphicFrame>
        <p:nvGraphicFramePr>
          <p:cNvPr id="4" name="Table 3" descr="Scanner class has methods to accept the inputs from the console (keyboard). nextByte() reads a byte input, nextShort() reads teh short type input and nextLong() accepts the long type input from the keyboard. nextFloat() and nextDouble() methods accept the float and the double type values respectively from the keyboard. next() and nextLine() methods read the string type data from the keyboard." title="Scanner class methods"/>
          <p:cNvGraphicFramePr>
            <a:graphicFrameLocks noGrp="1"/>
          </p:cNvGraphicFramePr>
          <p:nvPr/>
        </p:nvGraphicFramePr>
        <p:xfrm>
          <a:off x="399207" y="1300402"/>
          <a:ext cx="7571448" cy="3362960"/>
        </p:xfrm>
        <a:graphic>
          <a:graphicData uri="http://schemas.openxmlformats.org/drawingml/2006/table">
            <a:tbl>
              <a:tblPr firstRow="1" bandRow="1">
                <a:tableStyleId>{21E4AEA4-8DFA-4A89-87EB-49C32662AFE0}</a:tableStyleId>
              </a:tblPr>
              <a:tblGrid>
                <a:gridCol w="2396144">
                  <a:extLst>
                    <a:ext uri="{9D8B030D-6E8A-4147-A177-3AD203B41FA5}">
                      <a16:colId xmlns:a16="http://schemas.microsoft.com/office/drawing/2014/main" val="20000"/>
                    </a:ext>
                  </a:extLst>
                </a:gridCol>
                <a:gridCol w="5175304">
                  <a:extLst>
                    <a:ext uri="{9D8B030D-6E8A-4147-A177-3AD203B41FA5}">
                      <a16:colId xmlns:a16="http://schemas.microsoft.com/office/drawing/2014/main" val="20001"/>
                    </a:ext>
                  </a:extLst>
                </a:gridCol>
              </a:tblGrid>
              <a:tr h="370840">
                <a:tc>
                  <a:txBody>
                    <a:bodyPr/>
                    <a:lstStyle/>
                    <a:p>
                      <a:r>
                        <a:rPr lang="en-US" sz="2000" dirty="0"/>
                        <a:t>Method</a:t>
                      </a:r>
                    </a:p>
                  </a:txBody>
                  <a:tcPr/>
                </a:tc>
                <a:tc>
                  <a:txBody>
                    <a:bodyPr/>
                    <a:lstStyle/>
                    <a:p>
                      <a:r>
                        <a:rPr lang="en-US" sz="2000" dirty="0"/>
                        <a:t>Description</a:t>
                      </a:r>
                    </a:p>
                  </a:txBody>
                  <a:tcPr/>
                </a:tc>
                <a:extLst>
                  <a:ext uri="{0D108BD9-81ED-4DB2-BD59-A6C34878D82A}">
                    <a16:rowId xmlns:a16="http://schemas.microsoft.com/office/drawing/2014/main" val="10000"/>
                  </a:ext>
                </a:extLst>
              </a:tr>
              <a:tr h="370840">
                <a:tc>
                  <a:txBody>
                    <a:bodyPr/>
                    <a:lstStyle/>
                    <a:p>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nextByte</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byte</a:t>
                      </a:r>
                      <a:r>
                        <a:rPr lang="en-US" dirty="0"/>
                        <a:t> type.</a:t>
                      </a:r>
                    </a:p>
                  </a:txBody>
                  <a:tcPr/>
                </a:tc>
                <a:extLst>
                  <a:ext uri="{0D108BD9-81ED-4DB2-BD59-A6C34878D82A}">
                    <a16:rowId xmlns:a16="http://schemas.microsoft.com/office/drawing/2014/main" val="10001"/>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nextShort</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short</a:t>
                      </a:r>
                      <a:r>
                        <a:rPr lang="en-US" dirty="0"/>
                        <a:t> type.</a:t>
                      </a:r>
                    </a:p>
                  </a:txBody>
                  <a:tcPr/>
                </a:tc>
                <a:extLst>
                  <a:ext uri="{0D108BD9-81ED-4DB2-BD59-A6C34878D82A}">
                    <a16:rowId xmlns:a16="http://schemas.microsoft.com/office/drawing/2014/main" val="10002"/>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nextInt</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int</a:t>
                      </a:r>
                      <a:r>
                        <a:rPr lang="en-US" sz="1800" u="none" strike="noStrike" cap="none" dirty="0">
                          <a:sym typeface="Arial"/>
                        </a:rPr>
                        <a:t> </a:t>
                      </a:r>
                      <a:r>
                        <a:rPr lang="en-US" dirty="0"/>
                        <a:t>type.</a:t>
                      </a:r>
                    </a:p>
                  </a:txBody>
                  <a:tcPr/>
                </a:tc>
                <a:extLst>
                  <a:ext uri="{0D108BD9-81ED-4DB2-BD59-A6C34878D82A}">
                    <a16:rowId xmlns:a16="http://schemas.microsoft.com/office/drawing/2014/main" val="10003"/>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nextLong</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long</a:t>
                      </a:r>
                      <a:r>
                        <a:rPr lang="en-US" dirty="0"/>
                        <a:t> type.</a:t>
                      </a:r>
                    </a:p>
                  </a:txBody>
                  <a:tcPr/>
                </a:tc>
                <a:extLst>
                  <a:ext uri="{0D108BD9-81ED-4DB2-BD59-A6C34878D82A}">
                    <a16:rowId xmlns:a16="http://schemas.microsoft.com/office/drawing/2014/main" val="10004"/>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nextFloat</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 number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float</a:t>
                      </a:r>
                      <a:r>
                        <a:rPr lang="en-US" dirty="0"/>
                        <a:t> type.</a:t>
                      </a:r>
                    </a:p>
                  </a:txBody>
                  <a:tcPr/>
                </a:tc>
                <a:extLst>
                  <a:ext uri="{0D108BD9-81ED-4DB2-BD59-A6C34878D82A}">
                    <a16:rowId xmlns:a16="http://schemas.microsoft.com/office/drawing/2014/main" val="10005"/>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nextDouble</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 number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double</a:t>
                      </a:r>
                      <a:r>
                        <a:rPr lang="en-US" dirty="0"/>
                        <a:t> type.</a:t>
                      </a:r>
                    </a:p>
                  </a:txBody>
                  <a:tcPr/>
                </a:tc>
                <a:extLst>
                  <a:ext uri="{0D108BD9-81ED-4DB2-BD59-A6C34878D82A}">
                    <a16:rowId xmlns:a16="http://schemas.microsoft.com/office/drawing/2014/main" val="10006"/>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next()</a:t>
                      </a:r>
                    </a:p>
                  </a:txBody>
                  <a:tcPr/>
                </a:tc>
                <a:tc>
                  <a:txBody>
                    <a:bodyPr/>
                    <a:lstStyle/>
                    <a:p>
                      <a:r>
                        <a:rPr lang="en-US" dirty="0"/>
                        <a:t>Read a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String</a:t>
                      </a:r>
                      <a:r>
                        <a:rPr lang="en-US" dirty="0"/>
                        <a:t> that ends with a whitespace</a:t>
                      </a:r>
                      <a:r>
                        <a:rPr lang="en-US" baseline="0" dirty="0"/>
                        <a:t> character.</a:t>
                      </a:r>
                      <a:endParaRPr lang="en-US" dirty="0"/>
                    </a:p>
                  </a:txBody>
                  <a:tcPr/>
                </a:tc>
                <a:extLst>
                  <a:ext uri="{0D108BD9-81ED-4DB2-BD59-A6C34878D82A}">
                    <a16:rowId xmlns:a16="http://schemas.microsoft.com/office/drawing/2014/main" val="10007"/>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nextLine</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 an entire line of text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String</a:t>
                      </a:r>
                      <a:r>
                        <a:rPr lang="en-US" dirty="0"/>
                        <a:t>).</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92736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b="1" dirty="0"/>
              <a:t> A Simple Java program Structure:</a:t>
            </a:r>
            <a:endParaRPr dirty="0"/>
          </a:p>
          <a:p>
            <a:pPr marL="0" lvl="0" indent="0" algn="l" rtl="0">
              <a:lnSpc>
                <a:spcPct val="100000"/>
              </a:lnSpc>
              <a:spcBef>
                <a:spcPts val="0"/>
              </a:spcBef>
              <a:spcAft>
                <a:spcPts val="0"/>
              </a:spcAft>
              <a:buSzPct val="111111"/>
              <a:buNone/>
            </a:pPr>
            <a:endParaRPr dirty="0"/>
          </a:p>
        </p:txBody>
      </p:sp>
      <p:sp>
        <p:nvSpPr>
          <p:cNvPr id="62"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r>
              <a:rPr lang="en" dirty="0"/>
              <a:t>May constist of:</a:t>
            </a:r>
          </a:p>
          <a:p>
            <a:pPr lvl="1" indent="-342900">
              <a:buSzPts val="1800"/>
              <a:buChar char="●"/>
            </a:pPr>
            <a:r>
              <a:rPr lang="en" sz="1800" dirty="0"/>
              <a:t>Class name	</a:t>
            </a:r>
            <a:endParaRPr sz="1800" dirty="0"/>
          </a:p>
          <a:p>
            <a:pPr lvl="1" indent="-342900">
              <a:buSzPts val="1800"/>
              <a:buChar char="●"/>
            </a:pPr>
            <a:r>
              <a:rPr lang="en-US" sz="1800" dirty="0"/>
              <a:t>Main method</a:t>
            </a:r>
            <a:endParaRPr sz="1800" dirty="0"/>
          </a:p>
          <a:p>
            <a:pPr lvl="1" indent="-342900">
              <a:buSzPts val="1800"/>
              <a:buChar char="●"/>
            </a:pPr>
            <a:r>
              <a:rPr lang="en" sz="1800" dirty="0"/>
              <a:t>Statements</a:t>
            </a:r>
          </a:p>
          <a:p>
            <a:pPr lvl="1" indent="-342900">
              <a:buSzPts val="1800"/>
              <a:buChar char="●"/>
            </a:pPr>
            <a:r>
              <a:rPr lang="en" sz="1800" dirty="0"/>
              <a:t>Statement terminator</a:t>
            </a:r>
            <a:endParaRPr sz="1800" dirty="0"/>
          </a:p>
          <a:p>
            <a:pPr lvl="1" indent="-342900">
              <a:buSzPts val="1800"/>
              <a:buChar char="●"/>
            </a:pPr>
            <a:r>
              <a:rPr lang="en" sz="1800" dirty="0"/>
              <a:t>Reserved words</a:t>
            </a:r>
            <a:endParaRPr sz="1800" dirty="0"/>
          </a:p>
          <a:p>
            <a:pPr lvl="1" indent="-342900">
              <a:buSzPts val="1800"/>
              <a:buChar char="●"/>
            </a:pPr>
            <a:r>
              <a:rPr lang="en" sz="1800" dirty="0"/>
              <a:t>Comments</a:t>
            </a:r>
            <a:endParaRPr sz="1800" dirty="0"/>
          </a:p>
          <a:p>
            <a:pPr lvl="1" indent="-342900">
              <a:buSzPts val="1800"/>
              <a:buChar char="●"/>
            </a:pPr>
            <a:r>
              <a:rPr lang="en" sz="1800" dirty="0"/>
              <a:t>Blocks</a:t>
            </a:r>
            <a:endParaRPr sz="1800" dirty="0"/>
          </a:p>
          <a:p>
            <a:pPr marL="0" lvl="0" indent="0" algn="l" rtl="0">
              <a:lnSpc>
                <a:spcPct val="115000"/>
              </a:lnSpc>
              <a:spcBef>
                <a:spcPts val="0"/>
              </a:spcBef>
              <a:spcAft>
                <a:spcPts val="0"/>
              </a:spcAft>
              <a:buClr>
                <a:schemeClr val="dk1"/>
              </a:buClr>
              <a:buSzPts val="1100"/>
              <a:buNone/>
            </a:pPr>
            <a:endParaRPr dirty="0"/>
          </a:p>
        </p:txBody>
      </p:sp>
    </p:spTree>
    <p:extLst>
      <p:ext uri="{BB962C8B-B14F-4D97-AF65-F5344CB8AC3E}">
        <p14:creationId xmlns:p14="http://schemas.microsoft.com/office/powerpoint/2010/main" val="1462266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6" name="Google Shape;76;p4" descr="public static void main(String[] args)"/>
          <p:cNvSpPr/>
          <p:nvPr/>
        </p:nvSpPr>
        <p:spPr>
          <a:xfrm>
            <a:off x="2809645" y="2488442"/>
            <a:ext cx="1511501" cy="35995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6" name="Google Shape;62;p2"/>
          <p:cNvSpPr txBox="1">
            <a:spLocks noGrp="1"/>
          </p:cNvSpPr>
          <p:nvPr>
            <p:ph type="body" idx="1"/>
          </p:nvPr>
        </p:nvSpPr>
        <p:spPr>
          <a:xfrm>
            <a:off x="311700" y="1152475"/>
            <a:ext cx="8520600" cy="821982"/>
          </a:xfrm>
          <a:prstGeom prst="rect">
            <a:avLst/>
          </a:prstGeom>
          <a:noFill/>
          <a:ln>
            <a:noFill/>
          </a:ln>
        </p:spPr>
        <p:txBody>
          <a:bodyPr spcFirstLastPara="1" wrap="square" lIns="91425" tIns="91425" rIns="91425" bIns="91425" anchor="t" anchorCtr="0">
            <a:normAutofit/>
          </a:bodyPr>
          <a:lstStyle/>
          <a:p>
            <a:r>
              <a:rPr lang="en-US" dirty="0"/>
              <a:t>Every Java program must have at least one class</a:t>
            </a:r>
          </a:p>
          <a:p>
            <a:r>
              <a:rPr lang="en-US" dirty="0"/>
              <a:t>By convention class name starts with an uppercase letter.</a:t>
            </a: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Class name</a:t>
            </a:r>
            <a:br>
              <a:rPr lang="en" dirty="0"/>
            </a:br>
            <a:endParaRPr dirty="0"/>
          </a:p>
        </p:txBody>
      </p:sp>
    </p:spTree>
    <p:extLst>
      <p:ext uri="{BB962C8B-B14F-4D97-AF65-F5344CB8AC3E}">
        <p14:creationId xmlns:p14="http://schemas.microsoft.com/office/powerpoint/2010/main" val="317212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6" name="Google Shape;76;p4" descr="public static void main(String[] args)"/>
          <p:cNvSpPr/>
          <p:nvPr/>
        </p:nvSpPr>
        <p:spPr>
          <a:xfrm>
            <a:off x="770452" y="2860674"/>
            <a:ext cx="7127375" cy="400415"/>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Main method</a:t>
            </a:r>
            <a:br>
              <a:rPr lang="en" dirty="0"/>
            </a:br>
            <a:endParaRPr dirty="0"/>
          </a:p>
        </p:txBody>
      </p:sp>
      <p:sp>
        <p:nvSpPr>
          <p:cNvPr id="6"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r>
              <a:rPr lang="en-US" dirty="0"/>
              <a:t>In order to run  a class, the class must contain a method named main </a:t>
            </a:r>
          </a:p>
        </p:txBody>
      </p:sp>
    </p:spTree>
    <p:extLst>
      <p:ext uri="{BB962C8B-B14F-4D97-AF65-F5344CB8AC3E}">
        <p14:creationId xmlns:p14="http://schemas.microsoft.com/office/powerpoint/2010/main" val="373995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6" name="Google Shape;76;p4" descr="public static void main(String[] args)"/>
          <p:cNvSpPr/>
          <p:nvPr/>
        </p:nvSpPr>
        <p:spPr>
          <a:xfrm>
            <a:off x="1264064" y="3192446"/>
            <a:ext cx="7127375" cy="400415"/>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6"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r>
              <a:rPr lang="en-US" dirty="0"/>
              <a:t>A statement represents an action or a sequence of actions.</a:t>
            </a:r>
          </a:p>
          <a:p>
            <a:r>
              <a:rPr lang="en-US" dirty="0"/>
              <a:t>Statement below displays the greeting “Welcome to Java!”</a:t>
            </a: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Statement</a:t>
            </a:r>
            <a:br>
              <a:rPr lang="en" dirty="0"/>
            </a:br>
            <a:endParaRPr dirty="0"/>
          </a:p>
        </p:txBody>
      </p:sp>
    </p:spTree>
    <p:extLst>
      <p:ext uri="{BB962C8B-B14F-4D97-AF65-F5344CB8AC3E}">
        <p14:creationId xmlns:p14="http://schemas.microsoft.com/office/powerpoint/2010/main" val="198618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6" name="Google Shape;76;p4" descr="public static void main(String[] args)"/>
          <p:cNvSpPr/>
          <p:nvPr/>
        </p:nvSpPr>
        <p:spPr>
          <a:xfrm>
            <a:off x="8189140" y="3192446"/>
            <a:ext cx="234667" cy="400415"/>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6"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r>
              <a:rPr lang="en-US" dirty="0"/>
              <a:t>Every statement in Java ends with a semicolon (;)</a:t>
            </a: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Statement Terminator</a:t>
            </a:r>
            <a:br>
              <a:rPr lang="en" dirty="0"/>
            </a:br>
            <a:endParaRPr dirty="0"/>
          </a:p>
        </p:txBody>
      </p:sp>
    </p:spTree>
    <p:extLst>
      <p:ext uri="{BB962C8B-B14F-4D97-AF65-F5344CB8AC3E}">
        <p14:creationId xmlns:p14="http://schemas.microsoft.com/office/powerpoint/2010/main" val="327276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6"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r>
              <a:rPr lang="en-US" dirty="0"/>
              <a:t>Reserved words or Keywords have a specific meaning to the compiler.</a:t>
            </a:r>
          </a:p>
          <a:p>
            <a:r>
              <a:rPr lang="en-US" dirty="0"/>
              <a:t>Can’t use keywords for other purposes in the program.</a:t>
            </a:r>
          </a:p>
        </p:txBody>
      </p:sp>
      <p:sp>
        <p:nvSpPr>
          <p:cNvPr id="76" name="Google Shape;76;p4" descr="public static void main(String[] args)"/>
          <p:cNvSpPr/>
          <p:nvPr/>
        </p:nvSpPr>
        <p:spPr>
          <a:xfrm>
            <a:off x="501706" y="2484255"/>
            <a:ext cx="2346690" cy="35214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Reserved words</a:t>
            </a:r>
            <a:br>
              <a:rPr lang="en" dirty="0"/>
            </a:br>
            <a:endParaRPr dirty="0"/>
          </a:p>
        </p:txBody>
      </p:sp>
      <p:sp>
        <p:nvSpPr>
          <p:cNvPr id="7" name="Google Shape;76;p4" descr="public static void main(String[] args)"/>
          <p:cNvSpPr/>
          <p:nvPr/>
        </p:nvSpPr>
        <p:spPr>
          <a:xfrm>
            <a:off x="651769" y="2868767"/>
            <a:ext cx="3669377" cy="386646"/>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8087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6" name="Google Shape;62;p2"/>
          <p:cNvSpPr txBox="1">
            <a:spLocks noGrp="1"/>
          </p:cNvSpPr>
          <p:nvPr>
            <p:ph type="body" idx="1"/>
          </p:nvPr>
        </p:nvSpPr>
        <p:spPr>
          <a:xfrm>
            <a:off x="311700" y="1152475"/>
            <a:ext cx="8520600" cy="758706"/>
          </a:xfrm>
          <a:prstGeom prst="rect">
            <a:avLst/>
          </a:prstGeom>
          <a:noFill/>
          <a:ln>
            <a:noFill/>
          </a:ln>
        </p:spPr>
        <p:txBody>
          <a:bodyPr spcFirstLastPara="1" wrap="square" lIns="91425" tIns="91425" rIns="91425" bIns="91425" anchor="t" anchorCtr="0">
            <a:normAutofit fontScale="92500"/>
          </a:bodyPr>
          <a:lstStyle/>
          <a:p>
            <a:r>
              <a:rPr lang="en-US" dirty="0"/>
              <a:t>A pair of braces in a program forms a block that groups components of a program.</a:t>
            </a:r>
            <a:r>
              <a:rPr lang="en-US" sz="2800" dirty="0">
                <a:solidFill>
                  <a:schemeClr val="lt2"/>
                </a:solidFill>
                <a:latin typeface="Courier"/>
                <a:ea typeface="Courier"/>
                <a:cs typeface="Courier"/>
                <a:sym typeface="Courier"/>
              </a:rPr>
              <a:t> </a:t>
            </a:r>
            <a:endParaRPr lang="en-US" dirty="0"/>
          </a:p>
        </p:txBody>
      </p:sp>
      <p:sp>
        <p:nvSpPr>
          <p:cNvPr id="74" name="Google Shape;74;p4"/>
          <p:cNvSpPr/>
          <p:nvPr/>
        </p:nvSpPr>
        <p:spPr>
          <a:xfrm>
            <a:off x="311701" y="2065241"/>
            <a:ext cx="8710918"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1800" i="0" u="none" strike="noStrike" cap="none" dirty="0">
                <a:solidFill>
                  <a:schemeClr val="dk1"/>
                </a:solidFill>
                <a:latin typeface="Courier New"/>
                <a:ea typeface="Courier New"/>
                <a:cs typeface="Courier New"/>
                <a:sym typeface="Courier New"/>
              </a:rPr>
              <a:t>//This program prints Welcome to Java! </a:t>
            </a:r>
            <a:endParaRPr sz="1800" dirty="0"/>
          </a:p>
          <a:p>
            <a:pPr marL="342900" marR="0" lvl="0" indent="-342900" algn="l" rtl="0">
              <a:lnSpc>
                <a:spcPct val="100000"/>
              </a:lnSpc>
              <a:spcBef>
                <a:spcPts val="0"/>
              </a:spcBef>
              <a:spcAft>
                <a:spcPts val="0"/>
              </a:spcAft>
              <a:buClr>
                <a:schemeClr val="lt2"/>
              </a:buClr>
              <a:buSzPts val="1800"/>
              <a:buFont typeface="Arial"/>
              <a:buNone/>
            </a:pPr>
            <a:r>
              <a:rPr lang="en" sz="1800" i="0" u="none" strike="noStrike" cap="none" dirty="0">
                <a:solidFill>
                  <a:schemeClr val="dk1"/>
                </a:solidFill>
                <a:latin typeface="Courier New"/>
                <a:ea typeface="Courier New"/>
                <a:cs typeface="Courier New"/>
                <a:sym typeface="Courier New"/>
              </a:rPr>
              <a:t>public class Welcome {	</a:t>
            </a:r>
            <a:endParaRPr sz="1800" dirty="0"/>
          </a:p>
          <a:p>
            <a:pPr marL="342900" marR="0" lvl="0" indent="-342900" algn="l" rtl="0">
              <a:lnSpc>
                <a:spcPct val="100000"/>
              </a:lnSpc>
              <a:spcBef>
                <a:spcPts val="0"/>
              </a:spcBef>
              <a:spcAft>
                <a:spcPts val="0"/>
              </a:spcAft>
              <a:buClr>
                <a:schemeClr val="lt2"/>
              </a:buClr>
              <a:buSzPts val="1800"/>
              <a:buFont typeface="Arial"/>
              <a:buNone/>
            </a:pPr>
            <a:r>
              <a:rPr lang="en" sz="1800" i="0" u="none" strike="noStrike" cap="none" dirty="0">
                <a:solidFill>
                  <a:schemeClr val="dk1"/>
                </a:solidFill>
                <a:latin typeface="Courier New"/>
                <a:ea typeface="Courier New"/>
                <a:cs typeface="Courier New"/>
                <a:sym typeface="Courier New"/>
              </a:rPr>
              <a:t>  public static void main(String[] args) { </a:t>
            </a:r>
            <a:endParaRPr sz="1800" dirty="0"/>
          </a:p>
          <a:p>
            <a:pPr marL="342900" marR="0" lvl="0" indent="-342900" algn="l" rtl="0">
              <a:lnSpc>
                <a:spcPct val="100000"/>
              </a:lnSpc>
              <a:spcBef>
                <a:spcPts val="0"/>
              </a:spcBef>
              <a:spcAft>
                <a:spcPts val="0"/>
              </a:spcAft>
              <a:buClr>
                <a:schemeClr val="lt2"/>
              </a:buClr>
              <a:buSzPts val="1800"/>
              <a:buFont typeface="Arial"/>
              <a:buNone/>
            </a:pPr>
            <a:r>
              <a:rPr lang="en" sz="1800" i="0" u="none" strike="noStrike" cap="none" dirty="0">
                <a:solidFill>
                  <a:schemeClr val="dk1"/>
                </a:solidFill>
                <a:latin typeface="Courier New"/>
                <a:ea typeface="Courier New"/>
                <a:cs typeface="Courier New"/>
                <a:sym typeface="Courier New"/>
              </a:rPr>
              <a:t>    System.out.println("Welcome to Java!");</a:t>
            </a:r>
            <a:endParaRPr sz="1800" dirty="0"/>
          </a:p>
          <a:p>
            <a:pPr marL="342900" marR="0" lvl="0" indent="-342900" algn="l" rtl="0">
              <a:lnSpc>
                <a:spcPct val="100000"/>
              </a:lnSpc>
              <a:spcBef>
                <a:spcPts val="0"/>
              </a:spcBef>
              <a:spcAft>
                <a:spcPts val="0"/>
              </a:spcAft>
              <a:buClr>
                <a:schemeClr val="lt2"/>
              </a:buClr>
              <a:buSzPts val="1800"/>
              <a:buFont typeface="Arial"/>
              <a:buNone/>
            </a:pPr>
            <a:r>
              <a:rPr lang="en" sz="1800" i="0" u="none" strike="noStrike" cap="none" dirty="0">
                <a:solidFill>
                  <a:schemeClr val="dk1"/>
                </a:solidFill>
                <a:latin typeface="Courier New"/>
                <a:ea typeface="Courier New"/>
                <a:cs typeface="Courier New"/>
                <a:sym typeface="Courier New"/>
              </a:rPr>
              <a:t>  }</a:t>
            </a:r>
            <a:endParaRPr sz="1800" dirty="0"/>
          </a:p>
          <a:p>
            <a:pPr marL="342900" marR="0" lvl="0" indent="-342900" algn="l" rtl="0">
              <a:lnSpc>
                <a:spcPct val="100000"/>
              </a:lnSpc>
              <a:spcBef>
                <a:spcPts val="0"/>
              </a:spcBef>
              <a:spcAft>
                <a:spcPts val="0"/>
              </a:spcAft>
              <a:buClr>
                <a:schemeClr val="lt2"/>
              </a:buClr>
              <a:buSzPts val="1800"/>
              <a:buFont typeface="Arial"/>
              <a:buNone/>
            </a:pPr>
            <a:r>
              <a:rPr lang="en" sz="1800" i="0" u="none" strike="noStrike" cap="none" dirty="0">
                <a:solidFill>
                  <a:schemeClr val="dk1"/>
                </a:solidFill>
                <a:latin typeface="Courier New"/>
                <a:ea typeface="Courier New"/>
                <a:cs typeface="Courier New"/>
                <a:sym typeface="Courier New"/>
              </a:rPr>
              <a:t>}</a:t>
            </a:r>
            <a:endParaRPr sz="1800" i="0" u="none" strike="noStrike" cap="none" dirty="0">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t>Blocks</a:t>
            </a:r>
            <a:br>
              <a:rPr lang="en" dirty="0"/>
            </a:br>
            <a:endParaRPr dirty="0"/>
          </a:p>
        </p:txBody>
      </p:sp>
      <p:cxnSp>
        <p:nvCxnSpPr>
          <p:cNvPr id="11" name="Straight Connector 10"/>
          <p:cNvCxnSpPr/>
          <p:nvPr/>
        </p:nvCxnSpPr>
        <p:spPr>
          <a:xfrm>
            <a:off x="3404803" y="2532807"/>
            <a:ext cx="4630588" cy="24276"/>
          </a:xfrm>
          <a:prstGeom prst="line">
            <a:avLst/>
          </a:prstGeom>
          <a:ln w="25400">
            <a:solidFill>
              <a:schemeClr val="tx1"/>
            </a:solidFill>
            <a:headEnd type="arrow"/>
            <a:tailEnd w="lg" len="lg"/>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548768" y="3604599"/>
            <a:ext cx="7494715" cy="14836"/>
          </a:xfrm>
          <a:prstGeom prst="line">
            <a:avLst/>
          </a:prstGeom>
          <a:ln w="25400">
            <a:solidFill>
              <a:schemeClr val="tx1"/>
            </a:solidFill>
            <a:headEnd type="arrow"/>
            <a:tailEnd w="lg" len="lg"/>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027299" y="2557083"/>
            <a:ext cx="0" cy="303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035391" y="3281673"/>
            <a:ext cx="0" cy="303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638881" y="2924859"/>
            <a:ext cx="1101584" cy="307777"/>
          </a:xfrm>
          <a:prstGeom prst="rect">
            <a:avLst/>
          </a:prstGeom>
          <a:noFill/>
        </p:spPr>
        <p:txBody>
          <a:bodyPr wrap="none" rtlCol="0">
            <a:spAutoFit/>
          </a:bodyPr>
          <a:lstStyle/>
          <a:p>
            <a:r>
              <a:rPr lang="en-US" dirty="0"/>
              <a:t>Class block</a:t>
            </a:r>
          </a:p>
        </p:txBody>
      </p:sp>
      <p:cxnSp>
        <p:nvCxnSpPr>
          <p:cNvPr id="29" name="Straight Connector 28"/>
          <p:cNvCxnSpPr/>
          <p:nvPr/>
        </p:nvCxnSpPr>
        <p:spPr>
          <a:xfrm>
            <a:off x="6101395" y="2800107"/>
            <a:ext cx="865847" cy="10658"/>
          </a:xfrm>
          <a:prstGeom prst="line">
            <a:avLst/>
          </a:prstGeom>
          <a:ln w="25400">
            <a:solidFill>
              <a:schemeClr val="tx1"/>
            </a:solidFill>
            <a:headEnd type="arrow"/>
            <a:tailEnd w="lg" len="lg"/>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784182" y="3360641"/>
            <a:ext cx="6183060" cy="14543"/>
          </a:xfrm>
          <a:prstGeom prst="line">
            <a:avLst/>
          </a:prstGeom>
          <a:ln w="25400">
            <a:solidFill>
              <a:schemeClr val="tx1"/>
            </a:solidFill>
            <a:headEnd type="arrow"/>
            <a:tailEnd w="lg" len="lg"/>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976666" y="2810221"/>
            <a:ext cx="103" cy="1618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313126" y="2947787"/>
            <a:ext cx="1249060" cy="307777"/>
          </a:xfrm>
          <a:prstGeom prst="rect">
            <a:avLst/>
          </a:prstGeom>
          <a:noFill/>
        </p:spPr>
        <p:txBody>
          <a:bodyPr wrap="none" rtlCol="0">
            <a:spAutoFit/>
          </a:bodyPr>
          <a:lstStyle/>
          <a:p>
            <a:r>
              <a:rPr lang="en-US" dirty="0"/>
              <a:t>Method block</a:t>
            </a:r>
          </a:p>
        </p:txBody>
      </p:sp>
      <p:cxnSp>
        <p:nvCxnSpPr>
          <p:cNvPr id="42" name="Straight Connector 41"/>
          <p:cNvCxnSpPr/>
          <p:nvPr/>
        </p:nvCxnSpPr>
        <p:spPr>
          <a:xfrm>
            <a:off x="6967226" y="3205381"/>
            <a:ext cx="103" cy="1618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806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39285"/>
              <a:buNone/>
            </a:pPr>
            <a:r>
              <a:rPr lang="en-US" b="1" dirty="0"/>
              <a:t>S</a:t>
            </a:r>
            <a:r>
              <a:rPr lang="en" b="1" dirty="0"/>
              <a:t>pecial Symbols:</a:t>
            </a:r>
            <a:endParaRPr dirty="0"/>
          </a:p>
        </p:txBody>
      </p:sp>
      <p:graphicFrame>
        <p:nvGraphicFramePr>
          <p:cNvPr id="2" name="Table 1"/>
          <p:cNvGraphicFramePr>
            <a:graphicFrameLocks noGrp="1"/>
          </p:cNvGraphicFramePr>
          <p:nvPr/>
        </p:nvGraphicFramePr>
        <p:xfrm>
          <a:off x="461246" y="1820706"/>
          <a:ext cx="8278152" cy="2607990"/>
        </p:xfrm>
        <a:graphic>
          <a:graphicData uri="http://schemas.openxmlformats.org/drawingml/2006/table">
            <a:tbl>
              <a:tblPr firstRow="1" bandRow="1">
                <a:tableStyleId>{8A107856-5554-42FB-B03E-39F5DBC370BA}</a:tableStyleId>
              </a:tblPr>
              <a:tblGrid>
                <a:gridCol w="3954082">
                  <a:extLst>
                    <a:ext uri="{9D8B030D-6E8A-4147-A177-3AD203B41FA5}">
                      <a16:colId xmlns:a16="http://schemas.microsoft.com/office/drawing/2014/main" val="20000"/>
                    </a:ext>
                  </a:extLst>
                </a:gridCol>
                <a:gridCol w="4324070">
                  <a:extLst>
                    <a:ext uri="{9D8B030D-6E8A-4147-A177-3AD203B41FA5}">
                      <a16:colId xmlns:a16="http://schemas.microsoft.com/office/drawing/2014/main" val="20001"/>
                    </a:ext>
                  </a:extLst>
                </a:gridCol>
              </a:tblGrid>
              <a:tr h="372570">
                <a:tc>
                  <a:txBody>
                    <a:bodyPr/>
                    <a:lstStyle/>
                    <a:p>
                      <a:r>
                        <a:rPr lang="en-US" dirty="0"/>
                        <a:t>Character name</a:t>
                      </a:r>
                    </a:p>
                  </a:txBody>
                  <a:tcPr/>
                </a:tc>
                <a:tc>
                  <a:txBody>
                    <a:bodyPr/>
                    <a:lstStyle/>
                    <a:p>
                      <a:r>
                        <a:rPr lang="en-US" dirty="0"/>
                        <a:t>Description </a:t>
                      </a:r>
                    </a:p>
                  </a:txBody>
                  <a:tcPr/>
                </a:tc>
                <a:extLst>
                  <a:ext uri="{0D108BD9-81ED-4DB2-BD59-A6C34878D82A}">
                    <a16:rowId xmlns:a16="http://schemas.microsoft.com/office/drawing/2014/main" val="10000"/>
                  </a:ext>
                </a:extLst>
              </a:tr>
              <a:tr h="372570">
                <a:tc>
                  <a:txBody>
                    <a:bodyPr/>
                    <a:lstStyle/>
                    <a:p>
                      <a:r>
                        <a:rPr lang="en-US" dirty="0"/>
                        <a:t>{ }      Opening and closing braces</a:t>
                      </a:r>
                    </a:p>
                  </a:txBody>
                  <a:tcPr/>
                </a:tc>
                <a:tc>
                  <a:txBody>
                    <a:bodyPr/>
                    <a:lstStyle/>
                    <a:p>
                      <a:r>
                        <a:rPr lang="en-US" dirty="0"/>
                        <a:t>Denotes a block that encloses</a:t>
                      </a:r>
                      <a:r>
                        <a:rPr lang="en-US" baseline="0" dirty="0"/>
                        <a:t> statements.</a:t>
                      </a:r>
                      <a:endParaRPr lang="en-US" dirty="0"/>
                    </a:p>
                  </a:txBody>
                  <a:tcPr/>
                </a:tc>
                <a:extLst>
                  <a:ext uri="{0D108BD9-81ED-4DB2-BD59-A6C34878D82A}">
                    <a16:rowId xmlns:a16="http://schemas.microsoft.com/office/drawing/2014/main" val="10001"/>
                  </a:ext>
                </a:extLst>
              </a:tr>
              <a:tr h="372570">
                <a:tc>
                  <a:txBody>
                    <a:bodyPr/>
                    <a:lstStyle/>
                    <a:p>
                      <a:r>
                        <a:rPr lang="en-US" dirty="0"/>
                        <a:t>( )      Opening and closing parentheses</a:t>
                      </a:r>
                    </a:p>
                  </a:txBody>
                  <a:tcPr/>
                </a:tc>
                <a:tc>
                  <a:txBody>
                    <a:bodyPr/>
                    <a:lstStyle/>
                    <a:p>
                      <a:r>
                        <a:rPr lang="en-US" dirty="0"/>
                        <a:t>Used with methods.</a:t>
                      </a:r>
                    </a:p>
                  </a:txBody>
                  <a:tcPr/>
                </a:tc>
                <a:extLst>
                  <a:ext uri="{0D108BD9-81ED-4DB2-BD59-A6C34878D82A}">
                    <a16:rowId xmlns:a16="http://schemas.microsoft.com/office/drawing/2014/main" val="10002"/>
                  </a:ext>
                </a:extLst>
              </a:tr>
              <a:tr h="372570">
                <a:tc>
                  <a:txBody>
                    <a:bodyPr/>
                    <a:lstStyle/>
                    <a:p>
                      <a:r>
                        <a:rPr lang="en-US" dirty="0"/>
                        <a:t>[ ]       Opening and closing brackets</a:t>
                      </a:r>
                    </a:p>
                  </a:txBody>
                  <a:tcPr/>
                </a:tc>
                <a:tc>
                  <a:txBody>
                    <a:bodyPr/>
                    <a:lstStyle/>
                    <a:p>
                      <a:r>
                        <a:rPr lang="en-US" dirty="0"/>
                        <a:t>Denotes an array.</a:t>
                      </a:r>
                    </a:p>
                  </a:txBody>
                  <a:tcPr/>
                </a:tc>
                <a:extLst>
                  <a:ext uri="{0D108BD9-81ED-4DB2-BD59-A6C34878D82A}">
                    <a16:rowId xmlns:a16="http://schemas.microsoft.com/office/drawing/2014/main" val="10003"/>
                  </a:ext>
                </a:extLst>
              </a:tr>
              <a:tr h="372570">
                <a:tc>
                  <a:txBody>
                    <a:bodyPr/>
                    <a:lstStyle/>
                    <a:p>
                      <a:r>
                        <a:rPr lang="en-US" dirty="0"/>
                        <a:t>//        Double slashes</a:t>
                      </a:r>
                    </a:p>
                  </a:txBody>
                  <a:tcPr/>
                </a:tc>
                <a:tc>
                  <a:txBody>
                    <a:bodyPr/>
                    <a:lstStyle/>
                    <a:p>
                      <a:r>
                        <a:rPr lang="en-US" dirty="0"/>
                        <a:t>Precedes a comment line.</a:t>
                      </a:r>
                    </a:p>
                  </a:txBody>
                  <a:tcPr/>
                </a:tc>
                <a:extLst>
                  <a:ext uri="{0D108BD9-81ED-4DB2-BD59-A6C34878D82A}">
                    <a16:rowId xmlns:a16="http://schemas.microsoft.com/office/drawing/2014/main" val="10004"/>
                  </a:ext>
                </a:extLst>
              </a:tr>
              <a:tr h="372570">
                <a:tc>
                  <a:txBody>
                    <a:bodyPr/>
                    <a:lstStyle/>
                    <a:p>
                      <a:r>
                        <a:rPr lang="en" b="1" dirty="0">
                          <a:latin typeface="Courier New"/>
                          <a:ea typeface="Courier New"/>
                          <a:cs typeface="Courier New"/>
                          <a:sym typeface="Courier New"/>
                        </a:rPr>
                        <a:t>" "</a:t>
                      </a:r>
                      <a:r>
                        <a:rPr lang="en-US" dirty="0"/>
                        <a:t>       Opening and</a:t>
                      </a:r>
                      <a:r>
                        <a:rPr lang="en-US" baseline="0" dirty="0"/>
                        <a:t> closing quotation marks</a:t>
                      </a:r>
                      <a:endParaRPr lang="en-US" dirty="0"/>
                    </a:p>
                  </a:txBody>
                  <a:tcPr/>
                </a:tc>
                <a:tc>
                  <a:txBody>
                    <a:bodyPr/>
                    <a:lstStyle/>
                    <a:p>
                      <a:r>
                        <a:rPr lang="en-US" dirty="0"/>
                        <a:t>Enclosing a string (i.e.,</a:t>
                      </a:r>
                      <a:r>
                        <a:rPr lang="en-US" baseline="0" dirty="0"/>
                        <a:t> sequence of characters</a:t>
                      </a:r>
                      <a:r>
                        <a:rPr lang="en-US" dirty="0"/>
                        <a:t>).</a:t>
                      </a:r>
                    </a:p>
                  </a:txBody>
                  <a:tcPr/>
                </a:tc>
                <a:extLst>
                  <a:ext uri="{0D108BD9-81ED-4DB2-BD59-A6C34878D82A}">
                    <a16:rowId xmlns:a16="http://schemas.microsoft.com/office/drawing/2014/main" val="10005"/>
                  </a:ext>
                </a:extLst>
              </a:tr>
              <a:tr h="372570">
                <a:tc>
                  <a:txBody>
                    <a:bodyPr/>
                    <a:lstStyle/>
                    <a:p>
                      <a:r>
                        <a:rPr lang="en-US" dirty="0"/>
                        <a:t>;         Semicolon</a:t>
                      </a:r>
                    </a:p>
                  </a:txBody>
                  <a:tcPr/>
                </a:tc>
                <a:tc>
                  <a:txBody>
                    <a:bodyPr/>
                    <a:lstStyle/>
                    <a:p>
                      <a:r>
                        <a:rPr lang="en-US" dirty="0"/>
                        <a:t>Marks the</a:t>
                      </a:r>
                      <a:r>
                        <a:rPr lang="en-US" baseline="0" dirty="0"/>
                        <a:t> end of a statement.</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44197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6" name="Google Shape;76;p4" descr="public static void main(String[] args)"/>
          <p:cNvSpPr/>
          <p:nvPr/>
        </p:nvSpPr>
        <p:spPr>
          <a:xfrm>
            <a:off x="4410160" y="2508531"/>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b="1" dirty="0"/>
              <a:t>{ …}</a:t>
            </a:r>
            <a:br>
              <a:rPr lang="en" dirty="0"/>
            </a:br>
            <a:endParaRPr dirty="0"/>
          </a:p>
        </p:txBody>
      </p:sp>
      <p:sp>
        <p:nvSpPr>
          <p:cNvPr id="8" name="Google Shape;76;p4" descr="public static void main(String[] args)"/>
          <p:cNvSpPr/>
          <p:nvPr/>
        </p:nvSpPr>
        <p:spPr>
          <a:xfrm>
            <a:off x="8042136" y="2860675"/>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9" name="Google Shape;76;p4" descr="public static void main(String[] args)"/>
          <p:cNvSpPr/>
          <p:nvPr/>
        </p:nvSpPr>
        <p:spPr>
          <a:xfrm>
            <a:off x="913053" y="3615791"/>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0" name="Google Shape;76;p4" descr="public static void main(String[] args)"/>
          <p:cNvSpPr/>
          <p:nvPr/>
        </p:nvSpPr>
        <p:spPr>
          <a:xfrm>
            <a:off x="548911" y="3988025"/>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8707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 grpId="0" animBg="1"/>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6" name="Google Shape;76;p4" descr="public static void main(String[] args)"/>
          <p:cNvSpPr/>
          <p:nvPr/>
        </p:nvSpPr>
        <p:spPr>
          <a:xfrm>
            <a:off x="5154627" y="2860675"/>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b="1" dirty="0"/>
              <a:t>(…)</a:t>
            </a:r>
            <a:br>
              <a:rPr lang="en" dirty="0"/>
            </a:br>
            <a:endParaRPr dirty="0"/>
          </a:p>
        </p:txBody>
      </p:sp>
      <p:sp>
        <p:nvSpPr>
          <p:cNvPr id="8" name="Google Shape;76;p4" descr="public static void main(String[] args)"/>
          <p:cNvSpPr/>
          <p:nvPr/>
        </p:nvSpPr>
        <p:spPr>
          <a:xfrm>
            <a:off x="7677994" y="2864861"/>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9" name="Google Shape;76;p4" descr="public static void main(String[] args)"/>
          <p:cNvSpPr/>
          <p:nvPr/>
        </p:nvSpPr>
        <p:spPr>
          <a:xfrm>
            <a:off x="4593087" y="3229003"/>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0" name="Google Shape;76;p4" descr="public static void main(String[] args)"/>
          <p:cNvSpPr/>
          <p:nvPr/>
        </p:nvSpPr>
        <p:spPr>
          <a:xfrm>
            <a:off x="8027223" y="3229003"/>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2042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b="1" dirty="0"/>
              <a:t>;</a:t>
            </a:r>
            <a:br>
              <a:rPr lang="en" dirty="0"/>
            </a:br>
            <a:endParaRPr dirty="0"/>
          </a:p>
        </p:txBody>
      </p:sp>
      <p:sp>
        <p:nvSpPr>
          <p:cNvPr id="10" name="Google Shape;76;p4" descr="public static void main(String[] args)"/>
          <p:cNvSpPr/>
          <p:nvPr/>
        </p:nvSpPr>
        <p:spPr>
          <a:xfrm>
            <a:off x="8221431" y="3229003"/>
            <a:ext cx="169932"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6680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b="1" dirty="0"/>
              <a:t>// …</a:t>
            </a:r>
            <a:br>
              <a:rPr lang="en" dirty="0"/>
            </a:br>
            <a:endParaRPr dirty="0"/>
          </a:p>
        </p:txBody>
      </p:sp>
      <p:sp>
        <p:nvSpPr>
          <p:cNvPr id="10" name="Google Shape;76;p4" descr="public static void main(String[] args)"/>
          <p:cNvSpPr/>
          <p:nvPr/>
        </p:nvSpPr>
        <p:spPr>
          <a:xfrm>
            <a:off x="533996" y="2120394"/>
            <a:ext cx="380404"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5277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4"/>
          <p:cNvSpPr/>
          <p:nvPr/>
        </p:nvSpPr>
        <p:spPr>
          <a:xfrm>
            <a:off x="461764" y="2065241"/>
            <a:ext cx="8305800" cy="2590800"/>
          </a:xfrm>
          <a:prstGeom prst="rect">
            <a:avLst/>
          </a:prstGeom>
          <a:noFill/>
          <a:ln w="9525" cap="flat" cmpd="sng">
            <a:solidFill>
              <a:schemeClr val="dk2"/>
            </a:solidFill>
            <a:prstDash val="solid"/>
            <a:miter lim="800000"/>
            <a:headEnd type="none" w="sm" len="sm"/>
            <a:tailEnd type="none" w="sm" len="sm"/>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//This program prints Welcome to Java!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public class Welcome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public static void main(String[] args) {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System.out.println("Welcome to Java!");</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  }</a:t>
            </a:r>
            <a:endParaRPr dirty="0"/>
          </a:p>
          <a:p>
            <a:pPr marL="342900" marR="0" lvl="0" indent="-342900" algn="l" rtl="0">
              <a:lnSpc>
                <a:spcPct val="100000"/>
              </a:lnSpc>
              <a:spcBef>
                <a:spcPts val="0"/>
              </a:spcBef>
              <a:spcAft>
                <a:spcPts val="0"/>
              </a:spcAft>
              <a:buClr>
                <a:schemeClr val="lt2"/>
              </a:buClr>
              <a:buSzPts val="1800"/>
              <a:buFont typeface="Arial"/>
              <a:buNone/>
            </a:pPr>
            <a:r>
              <a:rPr lang="en" sz="2400" b="1" i="0" u="none" strike="noStrike" cap="none" dirty="0">
                <a:solidFill>
                  <a:schemeClr val="dk1"/>
                </a:solidFill>
                <a:latin typeface="Courier New"/>
                <a:ea typeface="Courier New"/>
                <a:cs typeface="Courier New"/>
                <a:sym typeface="Courier New"/>
              </a:rPr>
              <a:t>}</a:t>
            </a:r>
            <a:endParaRPr sz="2800" b="1" i="0" u="none" strike="noStrike" cap="none" dirty="0">
              <a:solidFill>
                <a:schemeClr val="dk1"/>
              </a:solidFill>
              <a:latin typeface="Times New Roman"/>
              <a:ea typeface="Times New Roman"/>
              <a:cs typeface="Times New Roman"/>
              <a:sym typeface="Times New Roman"/>
            </a:endParaRPr>
          </a:p>
        </p:txBody>
      </p:sp>
      <p:sp>
        <p:nvSpPr>
          <p:cNvPr id="73" name="Google Shape;7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lgn="ctr">
              <a:buSzPct val="111111"/>
            </a:pPr>
            <a:r>
              <a:rPr lang="en" b="1" dirty="0">
                <a:latin typeface="Courier New"/>
                <a:ea typeface="Courier New"/>
                <a:cs typeface="Courier New"/>
                <a:sym typeface="Courier New"/>
              </a:rPr>
              <a:t>"</a:t>
            </a:r>
            <a:r>
              <a:rPr lang="en" b="1" dirty="0"/>
              <a:t>…</a:t>
            </a:r>
            <a:r>
              <a:rPr lang="en" b="1" dirty="0">
                <a:latin typeface="Courier New"/>
                <a:ea typeface="Courier New"/>
                <a:cs typeface="Courier New"/>
                <a:sym typeface="Courier New"/>
              </a:rPr>
              <a:t>"</a:t>
            </a:r>
            <a:br>
              <a:rPr lang="en" dirty="0"/>
            </a:br>
            <a:endParaRPr dirty="0"/>
          </a:p>
        </p:txBody>
      </p:sp>
      <p:sp>
        <p:nvSpPr>
          <p:cNvPr id="5" name="Google Shape;76;p4" descr="public static void main(String[] args)"/>
          <p:cNvSpPr/>
          <p:nvPr/>
        </p:nvSpPr>
        <p:spPr>
          <a:xfrm>
            <a:off x="4741933" y="3243838"/>
            <a:ext cx="169934"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6" name="Google Shape;76;p4" descr="public static void main(String[] args)"/>
          <p:cNvSpPr/>
          <p:nvPr/>
        </p:nvSpPr>
        <p:spPr>
          <a:xfrm>
            <a:off x="7872202" y="3243838"/>
            <a:ext cx="169934" cy="372234"/>
          </a:xfrm>
          <a:prstGeom prst="rect">
            <a:avLst/>
          </a:prstGeom>
          <a:solidFill>
            <a:schemeClr val="accent1">
              <a:alpha val="44705"/>
            </a:schemeClr>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97902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5538c6363dcc66390f334cc79d134dde">
  <xsd:schema xmlns:xsd="http://www.w3.org/2001/XMLSchema" xmlns:xs="http://www.w3.org/2001/XMLSchema" xmlns:p="http://schemas.microsoft.com/office/2006/metadata/properties" xmlns:ns2="dd520bba-7c1e-4c79-bf9d-255d7ed0f3a3" targetNamespace="http://schemas.microsoft.com/office/2006/metadata/properties" ma:root="true" ma:fieldsID="f941384ee89c8d55594949fcab33c8bd"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21F6F7-84BB-48E0-BCDD-1C4617D36456}"/>
</file>

<file path=customXml/itemProps2.xml><?xml version="1.0" encoding="utf-8"?>
<ds:datastoreItem xmlns:ds="http://schemas.openxmlformats.org/officeDocument/2006/customXml" ds:itemID="{3D3CD9D0-E1A4-4125-A806-3AE43FA255E2}"/>
</file>

<file path=customXml/itemProps3.xml><?xml version="1.0" encoding="utf-8"?>
<ds:datastoreItem xmlns:ds="http://schemas.openxmlformats.org/officeDocument/2006/customXml" ds:itemID="{D9BC5D21-8E18-4E8C-A327-257EBECBBD38}"/>
</file>

<file path=docProps/app.xml><?xml version="1.0" encoding="utf-8"?>
<Properties xmlns="http://schemas.openxmlformats.org/officeDocument/2006/extended-properties" xmlns:vt="http://schemas.openxmlformats.org/officeDocument/2006/docPropsVTypes">
  <TotalTime>831</TotalTime>
  <Words>1742</Words>
  <Application>Microsoft Office PowerPoint</Application>
  <PresentationFormat>On-screen Show (16:9)</PresentationFormat>
  <Paragraphs>266</Paragraphs>
  <Slides>32</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Courier</vt:lpstr>
      <vt:lpstr>Arial</vt:lpstr>
      <vt:lpstr>Courier New</vt:lpstr>
      <vt:lpstr>Times New Roman</vt:lpstr>
      <vt:lpstr>Simple Light</vt:lpstr>
      <vt:lpstr>PowerPoint Presentation</vt:lpstr>
      <vt:lpstr>Objectives: </vt:lpstr>
      <vt:lpstr>Java History </vt:lpstr>
      <vt:lpstr>Why Java ?  </vt:lpstr>
      <vt:lpstr>Java: Platform Independence </vt:lpstr>
      <vt:lpstr>Creating, Compiling, and Running Programs: </vt:lpstr>
      <vt:lpstr>“Hello, world!” Comparison</vt:lpstr>
      <vt:lpstr>My First Java Program</vt:lpstr>
      <vt:lpstr>Line-by-Line Breakdown</vt:lpstr>
      <vt:lpstr>Braces vs Parentheses vs Brackets</vt:lpstr>
      <vt:lpstr>Line-by-Line Breakdown (contd.)</vt:lpstr>
      <vt:lpstr>Line-by-Line Breakdown </vt:lpstr>
      <vt:lpstr>Compiling Your Java Code </vt:lpstr>
      <vt:lpstr>Executing Your Java Code</vt:lpstr>
      <vt:lpstr>Trace a Program Execution </vt:lpstr>
      <vt:lpstr>Trace a Program Execution </vt:lpstr>
      <vt:lpstr>Trace a Program Execution </vt:lpstr>
      <vt:lpstr>Getting User Input</vt:lpstr>
      <vt:lpstr>Scanner class methods:</vt:lpstr>
      <vt:lpstr> A Simple Java program Structure: </vt:lpstr>
      <vt:lpstr>Class name </vt:lpstr>
      <vt:lpstr>Main method </vt:lpstr>
      <vt:lpstr>Statement </vt:lpstr>
      <vt:lpstr>Statement Terminator </vt:lpstr>
      <vt:lpstr>Reserved words </vt:lpstr>
      <vt:lpstr>Blocks </vt:lpstr>
      <vt:lpstr>Special Symbols:</vt:lpstr>
      <vt:lpstr>{ …} </vt:lpstr>
      <vt:lpstr>(…) </vt:lpstr>
      <vt:lpstr>; </vt:lpstr>
      <vt:lpstr>// …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and Platform Independence</dc:title>
  <dc:creator>admin</dc:creator>
  <cp:lastModifiedBy>于 心瑞 Xinrui YU</cp:lastModifiedBy>
  <cp:revision>141</cp:revision>
  <dcterms:modified xsi:type="dcterms:W3CDTF">2025-09-13T05:07:07Z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