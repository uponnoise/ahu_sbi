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84" r:id="rId3"/>
    <p:sldId id="264" r:id="rId4"/>
    <p:sldId id="276" r:id="rId5"/>
    <p:sldId id="277" r:id="rId6"/>
    <p:sldId id="278" r:id="rId7"/>
    <p:sldId id="279" r:id="rId8"/>
    <p:sldId id="280" r:id="rId9"/>
    <p:sldId id="285" r:id="rId10"/>
    <p:sldId id="281" r:id="rId11"/>
    <p:sldId id="282" r:id="rId12"/>
    <p:sldId id="283"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A9EDA5-45A3-4C60-A390-B448C6031513}" v="3" dt="2025-03-02T01:20:02.0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0" d="100"/>
          <a:sy n="200" d="100"/>
        </p:scale>
        <p:origin x="654" y="15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23" Type="http://schemas.openxmlformats.org/officeDocument/2006/relationships/customXml" Target="../customXml/item3.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3AA9EDA5-45A3-4C60-A390-B448C6031513}"/>
    <pc:docChg chg="custSel addSld delSld modSld">
      <pc:chgData name="于 心瑞 Xinrui YU" userId="e6fcc6d4-2b88-4beb-95d7-57ae4d33a768" providerId="ADAL" clId="{3AA9EDA5-45A3-4C60-A390-B448C6031513}" dt="2025-03-02T01:20:06.249" v="7" actId="478"/>
      <pc:docMkLst>
        <pc:docMk/>
      </pc:docMkLst>
      <pc:sldChg chg="addSp delSp modSp mod">
        <pc:chgData name="于 心瑞 Xinrui YU" userId="e6fcc6d4-2b88-4beb-95d7-57ae4d33a768" providerId="ADAL" clId="{3AA9EDA5-45A3-4C60-A390-B448C6031513}" dt="2025-03-02T01:11:32.973" v="1" actId="478"/>
        <pc:sldMkLst>
          <pc:docMk/>
          <pc:sldMk cId="0" sldId="256"/>
        </pc:sldMkLst>
        <pc:picChg chg="add mod">
          <ac:chgData name="于 心瑞 Xinrui YU" userId="e6fcc6d4-2b88-4beb-95d7-57ae4d33a768" providerId="ADAL" clId="{3AA9EDA5-45A3-4C60-A390-B448C6031513}" dt="2025-03-02T01:11:30.732" v="0"/>
          <ac:picMkLst>
            <pc:docMk/>
            <pc:sldMk cId="0" sldId="256"/>
            <ac:picMk id="3" creationId="{C905284E-DB14-BBE1-41EC-DBCB033129E8}"/>
          </ac:picMkLst>
        </pc:picChg>
        <pc:picChg chg="del">
          <ac:chgData name="于 心瑞 Xinrui YU" userId="e6fcc6d4-2b88-4beb-95d7-57ae4d33a768" providerId="ADAL" clId="{3AA9EDA5-45A3-4C60-A390-B448C6031513}" dt="2025-03-02T01:11:32.973" v="1" actId="478"/>
          <ac:picMkLst>
            <pc:docMk/>
            <pc:sldMk cId="0" sldId="256"/>
            <ac:picMk id="55" creationId="{00000000-0000-0000-0000-000000000000}"/>
          </ac:picMkLst>
        </pc:picChg>
      </pc:sldChg>
      <pc:sldChg chg="del">
        <pc:chgData name="于 心瑞 Xinrui YU" userId="e6fcc6d4-2b88-4beb-95d7-57ae4d33a768" providerId="ADAL" clId="{3AA9EDA5-45A3-4C60-A390-B448C6031513}" dt="2025-03-02T01:12:00.285" v="2" actId="47"/>
        <pc:sldMkLst>
          <pc:docMk/>
          <pc:sldMk cId="0" sldId="260"/>
        </pc:sldMkLst>
      </pc:sldChg>
      <pc:sldChg chg="addSp delSp modSp new mod">
        <pc:chgData name="于 心瑞 Xinrui YU" userId="e6fcc6d4-2b88-4beb-95d7-57ae4d33a768" providerId="ADAL" clId="{3AA9EDA5-45A3-4C60-A390-B448C6031513}" dt="2025-03-02T01:20:06.249" v="7" actId="478"/>
        <pc:sldMkLst>
          <pc:docMk/>
          <pc:sldMk cId="1952881624" sldId="285"/>
        </pc:sldMkLst>
        <pc:spChg chg="del">
          <ac:chgData name="于 心瑞 Xinrui YU" userId="e6fcc6d4-2b88-4beb-95d7-57ae4d33a768" providerId="ADAL" clId="{3AA9EDA5-45A3-4C60-A390-B448C6031513}" dt="2025-03-02T01:20:05.208" v="6" actId="478"/>
          <ac:spMkLst>
            <pc:docMk/>
            <pc:sldMk cId="1952881624" sldId="285"/>
            <ac:spMk id="2" creationId="{D871ED05-4CCE-7DED-7CAE-895805300E04}"/>
          </ac:spMkLst>
        </pc:spChg>
        <pc:spChg chg="del">
          <ac:chgData name="于 心瑞 Xinrui YU" userId="e6fcc6d4-2b88-4beb-95d7-57ae4d33a768" providerId="ADAL" clId="{3AA9EDA5-45A3-4C60-A390-B448C6031513}" dt="2025-03-02T01:20:06.249" v="7" actId="478"/>
          <ac:spMkLst>
            <pc:docMk/>
            <pc:sldMk cId="1952881624" sldId="285"/>
            <ac:spMk id="3" creationId="{EED83D51-7617-E938-5B88-08D20431623C}"/>
          </ac:spMkLst>
        </pc:spChg>
        <pc:picChg chg="add mod">
          <ac:chgData name="于 心瑞 Xinrui YU" userId="e6fcc6d4-2b88-4beb-95d7-57ae4d33a768" providerId="ADAL" clId="{3AA9EDA5-45A3-4C60-A390-B448C6031513}" dt="2025-03-02T01:20:02.093" v="5" actId="27636"/>
          <ac:picMkLst>
            <pc:docMk/>
            <pc:sldMk cId="1952881624" sldId="285"/>
            <ac:picMk id="2050" creationId="{BF1EAD4E-D0E4-9FFF-7F4A-D58D22CA9B1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p:txBody>
          <a:bodyPr>
            <a:normAutofit fontScale="90000"/>
          </a:bodyPr>
          <a:lstStyle/>
          <a:p>
            <a:r>
              <a:rPr lang="en-US" dirty="0"/>
              <a:t>Character Data Type</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US" sz="3200" b="1" dirty="0">
                <a:solidFill>
                  <a:schemeClr val="dk1"/>
                </a:solidFill>
              </a:rPr>
              <a:t>Character Data Type</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C905284E-DB14-BBE1-41EC-DBCB033129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 </a:t>
            </a:r>
          </a:p>
        </p:txBody>
      </p:sp>
      <p:sp>
        <p:nvSpPr>
          <p:cNvPr id="3" name="Text Placeholder 2"/>
          <p:cNvSpPr>
            <a:spLocks noGrp="1"/>
          </p:cNvSpPr>
          <p:nvPr>
            <p:ph type="body" idx="1"/>
          </p:nvPr>
        </p:nvSpPr>
        <p:spPr/>
        <p:txBody>
          <a:bodyPr>
            <a:normAutofit/>
          </a:bodyPr>
          <a:lstStyle/>
          <a:p>
            <a:pPr fontAlgn="base"/>
            <a:r>
              <a:rPr lang="en-US" dirty="0">
                <a:solidFill>
                  <a:schemeClr val="tx1"/>
                </a:solidFill>
                <a:cs typeface="Courier New" pitchFamily="49" charset="0"/>
              </a:rPr>
              <a:t>ASCII and Unicode</a:t>
            </a:r>
          </a:p>
          <a:p>
            <a:pPr fontAlgn="base"/>
            <a:r>
              <a:rPr lang="en-US" dirty="0">
                <a:solidFill>
                  <a:schemeClr val="tx1"/>
                </a:solidFill>
                <a:cs typeface="Courier New" pitchFamily="49" charset="0"/>
              </a:rPr>
              <a:t>ASCII code table</a:t>
            </a:r>
          </a:p>
          <a:p>
            <a:pPr fontAlgn="base"/>
            <a:r>
              <a:rPr lang="en-US" dirty="0">
                <a:solidFill>
                  <a:schemeClr val="tx1"/>
                </a:solidFill>
                <a:cs typeface="Courier New" pitchFamily="49" charset="0"/>
              </a:rPr>
              <a:t>Unicode format</a:t>
            </a:r>
          </a:p>
          <a:p>
            <a:pPr fontAlgn="base"/>
            <a:r>
              <a:rPr lang="en-US" dirty="0">
                <a:solidFill>
                  <a:schemeClr val="tx1"/>
                </a:solidFill>
                <a:cs typeface="Courier New" pitchFamily="49" charset="0"/>
              </a:rPr>
              <a:t>Generating random characters</a:t>
            </a:r>
          </a:p>
          <a:p>
            <a:pPr fontAlgn="base"/>
            <a:r>
              <a:rPr lang="en-US" dirty="0">
                <a:solidFill>
                  <a:schemeClr val="tx1"/>
                </a:solidFill>
                <a:cs typeface="Courier New" pitchFamily="49" charset="0"/>
              </a:rPr>
              <a:t>Comparing and testing characters</a:t>
            </a:r>
          </a:p>
          <a:p>
            <a:pPr fontAlgn="base"/>
            <a:endParaRPr lang="en-US" dirty="0">
              <a:solidFill>
                <a:schemeClr val="tx1"/>
              </a:solidFill>
              <a:cs typeface="Courier New" pitchFamily="49" charset="0"/>
            </a:endParaRPr>
          </a:p>
          <a:p>
            <a:pPr lvl="1" fontAlgn="base"/>
            <a:endParaRPr lang="en-US" dirty="0">
              <a:solidFill>
                <a:schemeClr val="tx1"/>
              </a:solidFill>
              <a:cs typeface="Courier New" pitchFamily="49" charset="0"/>
            </a:endParaRPr>
          </a:p>
          <a:p>
            <a:pPr marL="596900" lvl="1" indent="0" fontAlgn="base">
              <a:buNone/>
            </a:pPr>
            <a:endParaRPr lang="en-US" sz="1500" dirty="0">
              <a:solidFill>
                <a:schemeClr val="tx1"/>
              </a:solidFill>
              <a:cs typeface="Courier New" pitchFamily="49" charset="0"/>
            </a:endParaRPr>
          </a:p>
          <a:p>
            <a:pPr lvl="1" fontAlgn="base"/>
            <a:endParaRPr lang="en-US" sz="1500" dirty="0">
              <a:solidFill>
                <a:schemeClr val="tx1"/>
              </a:solidFill>
              <a:cs typeface="Courier New" pitchFamily="49" charset="0"/>
            </a:endParaRPr>
          </a:p>
          <a:p>
            <a:endParaRPr lang="en-US" dirty="0"/>
          </a:p>
        </p:txBody>
      </p:sp>
    </p:spTree>
    <p:extLst>
      <p:ext uri="{BB962C8B-B14F-4D97-AF65-F5344CB8AC3E}">
        <p14:creationId xmlns:p14="http://schemas.microsoft.com/office/powerpoint/2010/main" val="3146863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Character Data Type: Example</a:t>
            </a:r>
          </a:p>
        </p:txBody>
      </p:sp>
      <p:sp>
        <p:nvSpPr>
          <p:cNvPr id="3" name="Text Placeholder 2"/>
          <p:cNvSpPr>
            <a:spLocks noGrp="1"/>
          </p:cNvSpPr>
          <p:nvPr>
            <p:ph type="body" idx="1"/>
          </p:nvPr>
        </p:nvSpPr>
        <p:spPr/>
        <p:txBody>
          <a:bodyPr>
            <a:normAutofit/>
          </a:bodyPr>
          <a:lstStyle/>
          <a:p>
            <a:pPr marL="239164" indent="-239164" algn="just" defTabSz="637771">
              <a:spcBef>
                <a:spcPts val="475"/>
              </a:spcBef>
              <a:buSzTx/>
              <a:buNone/>
              <a:defRPr sz="3906"/>
            </a:pPr>
            <a:r>
              <a:rPr lang="en-US" sz="1900" b="1" dirty="0">
                <a:solidFill>
                  <a:schemeClr val="tx1"/>
                </a:solidFill>
                <a:latin typeface="Courier New" panose="02070309020205020404" pitchFamily="49" charset="0"/>
                <a:cs typeface="Courier New" panose="02070309020205020404" pitchFamily="49" charset="0"/>
              </a:rPr>
              <a:t>char letter = 'A'; </a:t>
            </a:r>
            <a:r>
              <a:rPr lang="en-US" sz="1900" dirty="0">
                <a:latin typeface="+mn-lt"/>
              </a:rPr>
              <a:t>(ASCII)       </a:t>
            </a:r>
          </a:p>
          <a:p>
            <a:pPr marL="239164" indent="-239164" algn="just" defTabSz="637771">
              <a:spcBef>
                <a:spcPts val="475"/>
              </a:spcBef>
              <a:buSzTx/>
              <a:buNone/>
              <a:defRPr sz="3906"/>
            </a:pPr>
            <a:r>
              <a:rPr lang="en-US" sz="1900" b="1" dirty="0">
                <a:solidFill>
                  <a:schemeClr val="tx1"/>
                </a:solidFill>
                <a:latin typeface="Courier New" panose="02070309020205020404" pitchFamily="49" charset="0"/>
                <a:cs typeface="Courier New" panose="02070309020205020404" pitchFamily="49" charset="0"/>
              </a:rPr>
              <a:t>char </a:t>
            </a:r>
            <a:r>
              <a:rPr lang="en-US" sz="1900" b="1" dirty="0" err="1">
                <a:solidFill>
                  <a:schemeClr val="tx1"/>
                </a:solidFill>
                <a:latin typeface="Courier New" panose="02070309020205020404" pitchFamily="49" charset="0"/>
                <a:cs typeface="Courier New" panose="02070309020205020404" pitchFamily="49" charset="0"/>
              </a:rPr>
              <a:t>numChar</a:t>
            </a:r>
            <a:r>
              <a:rPr lang="en-US" sz="1900" b="1" dirty="0">
                <a:solidFill>
                  <a:schemeClr val="tx1"/>
                </a:solidFill>
                <a:latin typeface="Courier New" panose="02070309020205020404" pitchFamily="49" charset="0"/>
                <a:cs typeface="Courier New" panose="02070309020205020404" pitchFamily="49" charset="0"/>
              </a:rPr>
              <a:t> = '4'; </a:t>
            </a:r>
            <a:r>
              <a:rPr lang="en-US" sz="1900" dirty="0">
                <a:latin typeface="+mn-lt"/>
              </a:rPr>
              <a:t>(ASCII)</a:t>
            </a:r>
          </a:p>
          <a:p>
            <a:pPr marL="239164" indent="-239164" defTabSz="637771">
              <a:lnSpc>
                <a:spcPct val="30000"/>
              </a:lnSpc>
              <a:spcBef>
                <a:spcPts val="2479"/>
              </a:spcBef>
              <a:buSzTx/>
              <a:buNone/>
              <a:defRPr sz="3906"/>
            </a:pPr>
            <a:r>
              <a:rPr lang="en-US" sz="1900" b="1" dirty="0">
                <a:solidFill>
                  <a:schemeClr val="tx1"/>
                </a:solidFill>
                <a:latin typeface="Courier New" panose="02070309020205020404" pitchFamily="49" charset="0"/>
                <a:cs typeface="Courier New" panose="02070309020205020404" pitchFamily="49" charset="0"/>
              </a:rPr>
              <a:t>char letter = '\u0041'; </a:t>
            </a:r>
            <a:r>
              <a:rPr lang="en-US" sz="1900" dirty="0">
                <a:latin typeface="+mn-lt"/>
              </a:rPr>
              <a:t>(Unicode)</a:t>
            </a:r>
          </a:p>
          <a:p>
            <a:pPr marL="239164" indent="-239164" defTabSz="637771">
              <a:lnSpc>
                <a:spcPct val="30000"/>
              </a:lnSpc>
              <a:spcBef>
                <a:spcPts val="2479"/>
              </a:spcBef>
              <a:buSzTx/>
              <a:buNone/>
              <a:defRPr sz="3906"/>
            </a:pPr>
            <a:r>
              <a:rPr lang="en-US" sz="1900" b="1" dirty="0">
                <a:solidFill>
                  <a:schemeClr val="tx1"/>
                </a:solidFill>
                <a:latin typeface="Courier New" panose="02070309020205020404" pitchFamily="49" charset="0"/>
                <a:cs typeface="Courier New" panose="02070309020205020404" pitchFamily="49" charset="0"/>
              </a:rPr>
              <a:t>char </a:t>
            </a:r>
            <a:r>
              <a:rPr lang="en-US" sz="1900" b="1" dirty="0" err="1">
                <a:solidFill>
                  <a:schemeClr val="tx1"/>
                </a:solidFill>
                <a:latin typeface="Courier New" panose="02070309020205020404" pitchFamily="49" charset="0"/>
                <a:cs typeface="Courier New" panose="02070309020205020404" pitchFamily="49" charset="0"/>
              </a:rPr>
              <a:t>numChar</a:t>
            </a:r>
            <a:r>
              <a:rPr lang="en-US" sz="1900" b="1" dirty="0">
                <a:solidFill>
                  <a:schemeClr val="tx1"/>
                </a:solidFill>
                <a:latin typeface="Courier New" panose="02070309020205020404" pitchFamily="49" charset="0"/>
                <a:cs typeface="Courier New" panose="02070309020205020404" pitchFamily="49" charset="0"/>
              </a:rPr>
              <a:t> = '\u0034';</a:t>
            </a:r>
            <a:r>
              <a:rPr lang="en-US" sz="1900" dirty="0">
                <a:latin typeface="+mn-lt"/>
              </a:rPr>
              <a:t> (Unicode)</a:t>
            </a:r>
          </a:p>
          <a:p>
            <a:pPr marL="239164" indent="-239164" defTabSz="637771">
              <a:lnSpc>
                <a:spcPct val="30000"/>
              </a:lnSpc>
              <a:spcBef>
                <a:spcPts val="2479"/>
              </a:spcBef>
              <a:buSzTx/>
              <a:buNone/>
              <a:defRPr sz="3906"/>
            </a:pPr>
            <a:endParaRPr lang="en-US" sz="2100" dirty="0">
              <a:latin typeface="+mn-lt"/>
            </a:endParaRPr>
          </a:p>
          <a:p>
            <a:pPr marL="239164" indent="-239164" algn="just" defTabSz="637771">
              <a:lnSpc>
                <a:spcPct val="100000"/>
              </a:lnSpc>
              <a:spcBef>
                <a:spcPts val="422"/>
              </a:spcBef>
              <a:buSzTx/>
              <a:buNone/>
              <a:defRPr sz="3906"/>
            </a:pPr>
            <a:r>
              <a:rPr lang="en-US" sz="1900" dirty="0">
                <a:latin typeface="+mn-lt"/>
                <a:sym typeface="Times New Roman"/>
              </a:rPr>
              <a:t>NOTE: The increment and decrement operators can also be used on char variables to get the next or preceding Unicode character. </a:t>
            </a:r>
          </a:p>
          <a:p>
            <a:pPr marL="239164" lvl="1" indent="-239164" algn="just" defTabSz="637771">
              <a:lnSpc>
                <a:spcPct val="100000"/>
              </a:lnSpc>
              <a:buSzTx/>
              <a:buNone/>
              <a:defRPr sz="3906"/>
            </a:pPr>
            <a:r>
              <a:rPr lang="en-US" sz="1900" dirty="0">
                <a:latin typeface="+mn-lt"/>
                <a:sym typeface="Times New Roman"/>
              </a:rPr>
              <a:t>    </a:t>
            </a:r>
            <a:r>
              <a:rPr lang="en-US" sz="1900" b="1" dirty="0">
                <a:solidFill>
                  <a:schemeClr val="tx1"/>
                </a:solidFill>
                <a:latin typeface="Courier New" panose="02070309020205020404" pitchFamily="49" charset="0"/>
                <a:cs typeface="Courier New" panose="02070309020205020404" pitchFamily="49" charset="0"/>
                <a:sym typeface="Times New Roman"/>
              </a:rPr>
              <a:t>char </a:t>
            </a:r>
            <a:r>
              <a:rPr lang="en-US" sz="1900" b="1" dirty="0" err="1">
                <a:solidFill>
                  <a:schemeClr val="tx1"/>
                </a:solidFill>
                <a:latin typeface="Courier New" panose="02070309020205020404" pitchFamily="49" charset="0"/>
                <a:cs typeface="Courier New" panose="02070309020205020404" pitchFamily="49" charset="0"/>
                <a:sym typeface="Times New Roman"/>
              </a:rPr>
              <a:t>ch</a:t>
            </a:r>
            <a:r>
              <a:rPr lang="en-US" sz="1900" b="1" dirty="0">
                <a:solidFill>
                  <a:schemeClr val="tx1"/>
                </a:solidFill>
                <a:latin typeface="Courier New" panose="02070309020205020404" pitchFamily="49" charset="0"/>
                <a:cs typeface="Courier New" panose="02070309020205020404" pitchFamily="49" charset="0"/>
                <a:sym typeface="Times New Roman"/>
              </a:rPr>
              <a:t> = 'a';</a:t>
            </a:r>
          </a:p>
          <a:p>
            <a:pPr marL="239164" lvl="1" indent="-239164" algn="just" defTabSz="637771">
              <a:lnSpc>
                <a:spcPct val="100000"/>
              </a:lnSpc>
              <a:buSzTx/>
              <a:buNone/>
              <a:defRPr sz="3906"/>
            </a:pPr>
            <a:r>
              <a:rPr lang="en-US" sz="1900" dirty="0">
                <a:latin typeface="+mn-lt"/>
                <a:sym typeface="Times New Roman"/>
              </a:rPr>
              <a:t>    </a:t>
            </a:r>
            <a:r>
              <a:rPr lang="en-US" sz="1900" b="1" dirty="0" err="1">
                <a:solidFill>
                  <a:schemeClr val="tx1"/>
                </a:solidFill>
                <a:latin typeface="Courier New" panose="02070309020205020404" pitchFamily="49" charset="0"/>
                <a:cs typeface="Courier New" panose="02070309020205020404" pitchFamily="49" charset="0"/>
                <a:sym typeface="Times New Roman"/>
              </a:rPr>
              <a:t>System.out.println</a:t>
            </a:r>
            <a:r>
              <a:rPr lang="en-US" sz="1900" b="1" dirty="0">
                <a:solidFill>
                  <a:schemeClr val="tx1"/>
                </a:solidFill>
                <a:latin typeface="Courier New" panose="02070309020205020404" pitchFamily="49" charset="0"/>
                <a:cs typeface="Courier New" panose="02070309020205020404" pitchFamily="49" charset="0"/>
                <a:sym typeface="Times New Roman"/>
              </a:rPr>
              <a:t>(++</a:t>
            </a:r>
            <a:r>
              <a:rPr lang="en-US" sz="1900" b="1" dirty="0" err="1">
                <a:solidFill>
                  <a:schemeClr val="tx1"/>
                </a:solidFill>
                <a:latin typeface="Courier New" panose="02070309020205020404" pitchFamily="49" charset="0"/>
                <a:cs typeface="Courier New" panose="02070309020205020404" pitchFamily="49" charset="0"/>
                <a:sym typeface="Times New Roman"/>
              </a:rPr>
              <a:t>ch</a:t>
            </a:r>
            <a:r>
              <a:rPr lang="en-US" sz="1900" b="1" dirty="0">
                <a:solidFill>
                  <a:schemeClr val="tx1"/>
                </a:solidFill>
                <a:latin typeface="Courier New" panose="02070309020205020404" pitchFamily="49" charset="0"/>
                <a:cs typeface="Courier New" panose="02070309020205020404" pitchFamily="49" charset="0"/>
                <a:sym typeface="Times New Roman"/>
              </a:rPr>
              <a:t>);</a:t>
            </a:r>
          </a:p>
          <a:p>
            <a:pPr marL="239164" indent="-239164" defTabSz="637771">
              <a:lnSpc>
                <a:spcPct val="30000"/>
              </a:lnSpc>
              <a:spcBef>
                <a:spcPts val="2479"/>
              </a:spcBef>
              <a:buSzTx/>
              <a:buNone/>
              <a:defRPr sz="3906"/>
            </a:pPr>
            <a:endParaRPr lang="en-US" dirty="0"/>
          </a:p>
          <a:p>
            <a:endParaRPr lang="en-US" altLang="en-US" sz="2700" dirty="0"/>
          </a:p>
          <a:p>
            <a:pPr marL="114300" indent="0">
              <a:buNone/>
            </a:pPr>
            <a:endParaRPr lang="en-US" dirty="0"/>
          </a:p>
        </p:txBody>
      </p:sp>
      <p:sp>
        <p:nvSpPr>
          <p:cNvPr id="4" name="Four hexadecimal digits."/>
          <p:cNvSpPr txBox="1"/>
          <p:nvPr/>
        </p:nvSpPr>
        <p:spPr>
          <a:xfrm>
            <a:off x="4571999" y="1653365"/>
            <a:ext cx="2057401" cy="297039"/>
          </a:xfrm>
          <a:prstGeom prst="rect">
            <a:avLst/>
          </a:prstGeom>
          <a:ln w="3175">
            <a:miter lim="400000"/>
          </a:ln>
          <a:extLst>
            <a:ext uri="{C572A759-6A51-4108-AA02-DFA0A04FC94B}">
              <ma14:wrappingTextBoxFlag xmlns:ma14="http://schemas.microsoft.com/office/mac/drawingml/2011/main" xmlns="" val="1"/>
            </a:ext>
          </a:extLst>
        </p:spPr>
        <p:txBody>
          <a:bodyPr wrap="square" lIns="34529" tIns="34529" rIns="34529" bIns="34529">
            <a:spAutoFit/>
          </a:bodyPr>
          <a:lstStyle>
            <a:lvl1pPr defTabSz="1300480">
              <a:spcBef>
                <a:spcPts val="600"/>
              </a:spcBef>
              <a:defRPr sz="2800">
                <a:solidFill>
                  <a:srgbClr val="000000"/>
                </a:solidFill>
                <a:latin typeface="Times New Roman"/>
                <a:ea typeface="Times New Roman"/>
                <a:cs typeface="Times New Roman"/>
                <a:sym typeface="Times New Roman"/>
              </a:defRPr>
            </a:lvl1pPr>
          </a:lstStyle>
          <a:p>
            <a:r>
              <a:rPr sz="1477" dirty="0"/>
              <a:t>Four hexadecimal digits. </a:t>
            </a:r>
          </a:p>
        </p:txBody>
      </p:sp>
      <p:sp>
        <p:nvSpPr>
          <p:cNvPr id="5" name="Line"/>
          <p:cNvSpPr/>
          <p:nvPr/>
        </p:nvSpPr>
        <p:spPr>
          <a:xfrm flipH="1">
            <a:off x="2907791" y="1869259"/>
            <a:ext cx="1664206" cy="343589"/>
          </a:xfrm>
          <a:prstGeom prst="line">
            <a:avLst/>
          </a:prstGeom>
          <a:ln w="38100">
            <a:solidFill>
              <a:schemeClr val="tx1"/>
            </a:solidFill>
            <a:tailEnd type="stealth"/>
          </a:ln>
        </p:spPr>
        <p:txBody>
          <a:bodyPr lIns="34289" tIns="34289" rIns="34289" bIns="34289"/>
          <a:lstStyle/>
          <a:p>
            <a:pPr defTabSz="685775">
              <a:defRPr sz="2200">
                <a:solidFill>
                  <a:srgbClr val="000000"/>
                </a:solidFill>
                <a:latin typeface="Times New Roman"/>
                <a:ea typeface="Times New Roman"/>
                <a:cs typeface="Times New Roman"/>
                <a:sym typeface="Times New Roman"/>
              </a:defRPr>
            </a:pPr>
            <a:endParaRPr sz="1160">
              <a:latin typeface="Times New Roman"/>
              <a:ea typeface="Times New Roman"/>
              <a:cs typeface="Times New Roman"/>
              <a:sym typeface="Times New Roman"/>
            </a:endParaRPr>
          </a:p>
        </p:txBody>
      </p:sp>
      <p:sp>
        <p:nvSpPr>
          <p:cNvPr id="6" name="Four hexadecimal digits."/>
          <p:cNvSpPr txBox="1"/>
          <p:nvPr/>
        </p:nvSpPr>
        <p:spPr>
          <a:xfrm>
            <a:off x="4214603" y="1190773"/>
            <a:ext cx="4217298" cy="297039"/>
          </a:xfrm>
          <a:prstGeom prst="rect">
            <a:avLst/>
          </a:prstGeom>
          <a:ln w="3175">
            <a:miter lim="400000"/>
          </a:ln>
          <a:extLst>
            <a:ext uri="{C572A759-6A51-4108-AA02-DFA0A04FC94B}">
              <ma14:wrappingTextBoxFlag xmlns:ma14="http://schemas.microsoft.com/office/mac/drawingml/2011/main" xmlns="" val="1"/>
            </a:ext>
          </a:extLst>
        </p:spPr>
        <p:txBody>
          <a:bodyPr wrap="square" lIns="34529" tIns="34529" rIns="34529" bIns="34529">
            <a:spAutoFit/>
          </a:bodyPr>
          <a:lstStyle>
            <a:lvl1pPr defTabSz="1300480">
              <a:spcBef>
                <a:spcPts val="600"/>
              </a:spcBef>
              <a:defRPr sz="2800">
                <a:solidFill>
                  <a:srgbClr val="000000"/>
                </a:solidFill>
                <a:latin typeface="Times New Roman"/>
                <a:ea typeface="Times New Roman"/>
                <a:cs typeface="Times New Roman"/>
                <a:sym typeface="Times New Roman"/>
              </a:defRPr>
            </a:lvl1pPr>
          </a:lstStyle>
          <a:p>
            <a:r>
              <a:rPr lang="en-US" sz="1477" b="1" dirty="0"/>
              <a:t>A</a:t>
            </a:r>
            <a:r>
              <a:rPr lang="en-US" sz="1477" dirty="0"/>
              <a:t>merican </a:t>
            </a:r>
            <a:r>
              <a:rPr lang="en-US" sz="1477" b="1" dirty="0"/>
              <a:t>S</a:t>
            </a:r>
            <a:r>
              <a:rPr lang="en-US" sz="1477" dirty="0"/>
              <a:t>tandard </a:t>
            </a:r>
            <a:r>
              <a:rPr lang="en-US" sz="1477" b="1" dirty="0"/>
              <a:t>C</a:t>
            </a:r>
            <a:r>
              <a:rPr lang="en-US" sz="1477" dirty="0"/>
              <a:t>ode for </a:t>
            </a:r>
            <a:r>
              <a:rPr lang="en-US" sz="1477" b="1" dirty="0"/>
              <a:t>I</a:t>
            </a:r>
            <a:r>
              <a:rPr lang="en-US" sz="1477" dirty="0"/>
              <a:t>nformation </a:t>
            </a:r>
            <a:r>
              <a:rPr lang="en-US" sz="1477" b="1" dirty="0"/>
              <a:t>I</a:t>
            </a:r>
            <a:r>
              <a:rPr lang="en-US" sz="1477" dirty="0"/>
              <a:t>nterchange</a:t>
            </a:r>
            <a:r>
              <a:rPr sz="1477" dirty="0"/>
              <a:t> </a:t>
            </a:r>
          </a:p>
        </p:txBody>
      </p:sp>
      <p:sp>
        <p:nvSpPr>
          <p:cNvPr id="7" name="Line"/>
          <p:cNvSpPr/>
          <p:nvPr/>
        </p:nvSpPr>
        <p:spPr>
          <a:xfrm flipH="1">
            <a:off x="3931919" y="1319002"/>
            <a:ext cx="315051" cy="80170"/>
          </a:xfrm>
          <a:prstGeom prst="line">
            <a:avLst/>
          </a:prstGeom>
          <a:ln w="38100">
            <a:solidFill>
              <a:schemeClr val="tx1"/>
            </a:solidFill>
            <a:tailEnd type="stealth"/>
          </a:ln>
        </p:spPr>
        <p:txBody>
          <a:bodyPr lIns="34289" tIns="34289" rIns="34289" bIns="34289"/>
          <a:lstStyle/>
          <a:p>
            <a:pPr defTabSz="685775">
              <a:defRPr sz="2200">
                <a:solidFill>
                  <a:srgbClr val="000000"/>
                </a:solidFill>
                <a:latin typeface="Times New Roman"/>
                <a:ea typeface="Times New Roman"/>
                <a:cs typeface="Times New Roman"/>
                <a:sym typeface="Times New Roman"/>
              </a:defRPr>
            </a:pPr>
            <a:endParaRPr sz="1160">
              <a:latin typeface="Times New Roman"/>
              <a:ea typeface="Times New Roman"/>
              <a:cs typeface="Times New Roman"/>
              <a:sym typeface="Times New Roman"/>
            </a:endParaRPr>
          </a:p>
        </p:txBody>
      </p:sp>
    </p:spTree>
    <p:extLst>
      <p:ext uri="{BB962C8B-B14F-4D97-AF65-F5344CB8AC3E}">
        <p14:creationId xmlns:p14="http://schemas.microsoft.com/office/powerpoint/2010/main" val="54271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Unicode Format</a:t>
            </a:r>
            <a:endParaRPr lang="en-US" dirty="0"/>
          </a:p>
        </p:txBody>
      </p:sp>
      <p:sp>
        <p:nvSpPr>
          <p:cNvPr id="3" name="Text Placeholder 2"/>
          <p:cNvSpPr>
            <a:spLocks noGrp="1"/>
          </p:cNvSpPr>
          <p:nvPr>
            <p:ph type="body" idx="1"/>
          </p:nvPr>
        </p:nvSpPr>
        <p:spPr/>
        <p:txBody>
          <a:bodyPr/>
          <a:lstStyle/>
          <a:p>
            <a:r>
              <a:rPr lang="en-US" dirty="0">
                <a:ea typeface="Times New Roman"/>
                <a:cs typeface="Times New Roman"/>
                <a:sym typeface="Times New Roman"/>
              </a:rPr>
              <a:t>Java characters use </a:t>
            </a:r>
            <a:r>
              <a:rPr lang="en-US" b="1" i="1" dirty="0">
                <a:solidFill>
                  <a:schemeClr val="tx1"/>
                </a:solidFill>
                <a:latin typeface="Courier New" panose="02070309020205020404" pitchFamily="49" charset="0"/>
                <a:cs typeface="Courier New" panose="02070309020205020404" pitchFamily="49" charset="0"/>
                <a:sym typeface="Times New Roman"/>
              </a:rPr>
              <a:t>Unicode</a:t>
            </a:r>
            <a:r>
              <a:rPr lang="en-US" dirty="0">
                <a:ea typeface="Times New Roman"/>
                <a:cs typeface="Times New Roman"/>
                <a:sym typeface="Times New Roman"/>
              </a:rPr>
              <a:t>, a </a:t>
            </a:r>
            <a:r>
              <a:rPr lang="en-US" b="1" i="1" dirty="0">
                <a:solidFill>
                  <a:schemeClr val="tx1"/>
                </a:solidFill>
                <a:latin typeface="Courier New" panose="02070309020205020404" pitchFamily="49" charset="0"/>
                <a:cs typeface="Courier New" panose="02070309020205020404" pitchFamily="49" charset="0"/>
                <a:sym typeface="Times New Roman"/>
              </a:rPr>
              <a:t>16-bit</a:t>
            </a:r>
            <a:r>
              <a:rPr lang="en-US" dirty="0">
                <a:ea typeface="Times New Roman"/>
                <a:cs typeface="Times New Roman"/>
                <a:sym typeface="Times New Roman"/>
              </a:rPr>
              <a:t> encoding scheme by the Unicode Consortium.</a:t>
            </a:r>
          </a:p>
          <a:p>
            <a:r>
              <a:rPr lang="en-US" dirty="0">
                <a:ea typeface="Times New Roman"/>
                <a:cs typeface="Times New Roman"/>
                <a:sym typeface="Times New Roman"/>
              </a:rPr>
              <a:t> Unicode support the interchange, processing, and display of written texts in the world’s diverse languages.</a:t>
            </a:r>
          </a:p>
          <a:p>
            <a:r>
              <a:rPr lang="en-US" dirty="0">
                <a:ea typeface="Times New Roman"/>
                <a:cs typeface="Times New Roman"/>
                <a:sym typeface="Times New Roman"/>
              </a:rPr>
              <a:t> Unicode takes two bytes, preceded by </a:t>
            </a:r>
            <a:r>
              <a:rPr lang="en-US" b="1" dirty="0">
                <a:solidFill>
                  <a:schemeClr val="tx1"/>
                </a:solidFill>
                <a:latin typeface="Courier New" panose="02070309020205020404" pitchFamily="49" charset="0"/>
                <a:cs typeface="Courier New" panose="02070309020205020404" pitchFamily="49" charset="0"/>
                <a:sym typeface="Times New Roman"/>
              </a:rPr>
              <a:t>\u</a:t>
            </a:r>
            <a:r>
              <a:rPr lang="en-US" dirty="0">
                <a:ea typeface="Times New Roman"/>
                <a:cs typeface="Times New Roman"/>
                <a:sym typeface="Times New Roman"/>
              </a:rPr>
              <a:t>, expressed in four hexadecimal numbers that run from </a:t>
            </a:r>
            <a:r>
              <a:rPr lang="en-US" b="1" dirty="0">
                <a:solidFill>
                  <a:schemeClr val="tx1"/>
                </a:solidFill>
                <a:latin typeface="Courier New" panose="02070309020205020404" pitchFamily="49" charset="0"/>
                <a:cs typeface="Courier New" panose="02070309020205020404" pitchFamily="49" charset="0"/>
                <a:sym typeface="Times New Roman"/>
              </a:rPr>
              <a:t>'\u0000' </a:t>
            </a:r>
            <a:r>
              <a:rPr lang="en-US" dirty="0">
                <a:ea typeface="Times New Roman"/>
                <a:cs typeface="Times New Roman"/>
                <a:sym typeface="Times New Roman"/>
              </a:rPr>
              <a:t>to </a:t>
            </a:r>
            <a:r>
              <a:rPr lang="en-US" b="1" dirty="0">
                <a:solidFill>
                  <a:schemeClr val="tx1"/>
                </a:solidFill>
                <a:latin typeface="Courier New" panose="02070309020205020404" pitchFamily="49" charset="0"/>
                <a:cs typeface="Courier New" panose="02070309020205020404" pitchFamily="49" charset="0"/>
                <a:sym typeface="Times New Roman"/>
              </a:rPr>
              <a:t>'\</a:t>
            </a:r>
            <a:r>
              <a:rPr lang="en-US" b="1" dirty="0" err="1">
                <a:solidFill>
                  <a:schemeClr val="tx1"/>
                </a:solidFill>
                <a:latin typeface="Courier New" panose="02070309020205020404" pitchFamily="49" charset="0"/>
                <a:cs typeface="Courier New" panose="02070309020205020404" pitchFamily="49" charset="0"/>
                <a:sym typeface="Times New Roman"/>
              </a:rPr>
              <a:t>uFFFF</a:t>
            </a:r>
            <a:r>
              <a:rPr lang="en-US" b="1" dirty="0">
                <a:solidFill>
                  <a:schemeClr val="tx1"/>
                </a:solidFill>
                <a:latin typeface="Courier New" panose="02070309020205020404" pitchFamily="49" charset="0"/>
                <a:cs typeface="Courier New" panose="02070309020205020404" pitchFamily="49" charset="0"/>
                <a:sym typeface="Times New Roman"/>
              </a:rPr>
              <a:t>' </a:t>
            </a:r>
            <a:r>
              <a:rPr lang="en-US" dirty="0">
                <a:ea typeface="Times New Roman"/>
                <a:cs typeface="Times New Roman"/>
                <a:sym typeface="Times New Roman"/>
              </a:rPr>
              <a:t>So, Unicode can represent </a:t>
            </a:r>
            <a:r>
              <a:rPr lang="en-US" b="1" dirty="0">
                <a:solidFill>
                  <a:schemeClr val="tx1"/>
                </a:solidFill>
                <a:latin typeface="Courier New" panose="02070309020205020404" pitchFamily="49" charset="0"/>
                <a:cs typeface="Courier New" panose="02070309020205020404" pitchFamily="49" charset="0"/>
                <a:sym typeface="Courier New"/>
              </a:rPr>
              <a:t>65536 </a:t>
            </a:r>
            <a:r>
              <a:rPr lang="en-US" dirty="0">
                <a:ea typeface="Courier New"/>
                <a:cs typeface="Courier New"/>
                <a:sym typeface="Courier New"/>
              </a:rPr>
              <a:t>characters</a:t>
            </a:r>
            <a:r>
              <a:rPr lang="en-US" dirty="0">
                <a:ea typeface="Times New Roman"/>
                <a:cs typeface="Times New Roman"/>
                <a:sym typeface="Times New Roman"/>
              </a:rPr>
              <a:t>.</a:t>
            </a:r>
          </a:p>
          <a:p>
            <a:r>
              <a:rPr lang="en-US" dirty="0">
                <a:ea typeface="Times New Roman"/>
                <a:cs typeface="Times New Roman"/>
                <a:sym typeface="Times New Roman"/>
              </a:rPr>
              <a:t>Unicode includes </a:t>
            </a:r>
            <a:r>
              <a:rPr lang="en-US" b="1" dirty="0">
                <a:solidFill>
                  <a:schemeClr val="tx1"/>
                </a:solidFill>
                <a:latin typeface="Courier New" panose="02070309020205020404" pitchFamily="49" charset="0"/>
                <a:cs typeface="Courier New" panose="02070309020205020404" pitchFamily="49" charset="0"/>
                <a:sym typeface="Times New Roman"/>
              </a:rPr>
              <a:t>ASCII</a:t>
            </a:r>
            <a:r>
              <a:rPr lang="en-US" dirty="0">
                <a:ea typeface="Times New Roman"/>
                <a:cs typeface="Times New Roman"/>
                <a:sym typeface="Times New Roman"/>
              </a:rPr>
              <a:t> code, with </a:t>
            </a:r>
            <a:r>
              <a:rPr lang="en-US" b="1" dirty="0">
                <a:solidFill>
                  <a:schemeClr val="tx1"/>
                </a:solidFill>
                <a:latin typeface="Courier New" panose="02070309020205020404" pitchFamily="49" charset="0"/>
                <a:cs typeface="Courier New" panose="02070309020205020404" pitchFamily="49" charset="0"/>
                <a:sym typeface="Times New Roman"/>
              </a:rPr>
              <a:t>'\u0000' </a:t>
            </a:r>
            <a:r>
              <a:rPr lang="en-US" dirty="0">
                <a:ea typeface="Times New Roman"/>
                <a:cs typeface="Times New Roman"/>
                <a:sym typeface="Times New Roman"/>
              </a:rPr>
              <a:t>to </a:t>
            </a:r>
            <a:r>
              <a:rPr lang="en-US" b="1" dirty="0">
                <a:solidFill>
                  <a:schemeClr val="tx1"/>
                </a:solidFill>
                <a:latin typeface="Courier New" panose="02070309020205020404" pitchFamily="49" charset="0"/>
                <a:cs typeface="Courier New" panose="02070309020205020404" pitchFamily="49" charset="0"/>
                <a:sym typeface="Times New Roman"/>
              </a:rPr>
              <a:t>'\u007F'</a:t>
            </a:r>
            <a:r>
              <a:rPr lang="en-US" dirty="0">
                <a:ea typeface="Times New Roman"/>
                <a:cs typeface="Times New Roman"/>
                <a:sym typeface="Times New Roman"/>
              </a:rPr>
              <a:t> corresponding to the </a:t>
            </a:r>
            <a:r>
              <a:rPr lang="en-US" b="1" dirty="0">
                <a:solidFill>
                  <a:schemeClr val="tx1"/>
                </a:solidFill>
                <a:latin typeface="Courier New" panose="02070309020205020404" pitchFamily="49" charset="0"/>
                <a:cs typeface="Courier New" panose="02070309020205020404" pitchFamily="49" charset="0"/>
                <a:sym typeface="Times New Roman"/>
              </a:rPr>
              <a:t>128 ASCII </a:t>
            </a:r>
            <a:r>
              <a:rPr lang="en-US" dirty="0">
                <a:ea typeface="Times New Roman"/>
                <a:cs typeface="Times New Roman"/>
                <a:sym typeface="Times New Roman"/>
              </a:rPr>
              <a:t>characters.  </a:t>
            </a:r>
          </a:p>
          <a:p>
            <a:pPr marL="114300" indent="0">
              <a:buNone/>
            </a:pPr>
            <a:endParaRPr lang="en-US" dirty="0"/>
          </a:p>
        </p:txBody>
      </p:sp>
    </p:spTree>
    <p:extLst>
      <p:ext uri="{BB962C8B-B14F-4D97-AF65-F5344CB8AC3E}">
        <p14:creationId xmlns:p14="http://schemas.microsoft.com/office/powerpoint/2010/main" val="308460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ASCII Code for Commonly Used Characters</a:t>
            </a:r>
          </a:p>
        </p:txBody>
      </p:sp>
      <p:pic>
        <p:nvPicPr>
          <p:cNvPr id="5" name="image.pdf" descr="A chart displaying &amp;#34;characters&amp;#34; and their &amp;#34;code value in decimal&amp;#34; and &amp;#34;unicode value&amp;#34;. 0 to 9 is 48 to 57 and \u0030 to \u0039 respectively. A (uppercase) to Z (uppercase) is 65 to 90 and \u0041 to \u005A respectively. a (lower case) to z (lower case) is 97 to 122 and \u0061 to \u007A respectively."/>
          <p:cNvPicPr>
            <a:picLocks noChangeAspect="1"/>
          </p:cNvPicPr>
          <p:nvPr/>
        </p:nvPicPr>
        <p:blipFill>
          <a:blip r:embed="rId2"/>
          <a:stretch>
            <a:fillRect/>
          </a:stretch>
        </p:blipFill>
        <p:spPr>
          <a:xfrm>
            <a:off x="535610" y="1287889"/>
            <a:ext cx="6519863" cy="1497806"/>
          </a:xfrm>
          <a:prstGeom prst="rect">
            <a:avLst/>
          </a:prstGeom>
          <a:ln w="3175">
            <a:miter lim="400000"/>
          </a:ln>
        </p:spPr>
      </p:pic>
    </p:spTree>
    <p:extLst>
      <p:ext uri="{BB962C8B-B14F-4D97-AF65-F5344CB8AC3E}">
        <p14:creationId xmlns:p14="http://schemas.microsoft.com/office/powerpoint/2010/main" val="39733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Escape Sequences for Special Characters</a:t>
            </a:r>
          </a:p>
        </p:txBody>
      </p:sp>
      <p:pic>
        <p:nvPicPr>
          <p:cNvPr id="4" name="image.png" descr="Backspace has the escape sequence of \b and unicode Code of \u0008 and decimal value of 8. Tab has the escape sequence of \t and unicode Code of \u0009 and decimal value of 9. Linefeed has the escape sequence of \n and unicode Code of \u000A and decimal value of 10. Formfeed has the escape sequence of \f and unicode Code of \u000C and decimal value of 12. Carriage Return has the escape sequence of \r and unicode Code of \u000D and decimal value of 13. Backslash has the escape sequence of \\ and unicode Code of \u005C and decimal value of 92. Double Quote has the escape sequence of \&amp;#34; and unicode Code of \u0022 and decimal value of 34. "/>
          <p:cNvPicPr>
            <a:picLocks noChangeAspect="1"/>
          </p:cNvPicPr>
          <p:nvPr/>
        </p:nvPicPr>
        <p:blipFill>
          <a:blip r:embed="rId2"/>
          <a:stretch>
            <a:fillRect/>
          </a:stretch>
        </p:blipFill>
        <p:spPr>
          <a:xfrm>
            <a:off x="311700" y="1152475"/>
            <a:ext cx="6559154" cy="2276476"/>
          </a:xfrm>
          <a:prstGeom prst="rect">
            <a:avLst/>
          </a:prstGeom>
          <a:ln w="3175">
            <a:miter lim="400000"/>
          </a:ln>
        </p:spPr>
      </p:pic>
    </p:spTree>
    <p:extLst>
      <p:ext uri="{BB962C8B-B14F-4D97-AF65-F5344CB8AC3E}">
        <p14:creationId xmlns:p14="http://schemas.microsoft.com/office/powerpoint/2010/main" val="4068622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Appendix B: ASCII Character Set</a:t>
            </a:r>
          </a:p>
        </p:txBody>
      </p:sp>
      <p:sp>
        <p:nvSpPr>
          <p:cNvPr id="3" name="Text Placeholder 2"/>
          <p:cNvSpPr>
            <a:spLocks noGrp="1"/>
          </p:cNvSpPr>
          <p:nvPr>
            <p:ph type="body" idx="1"/>
          </p:nvPr>
        </p:nvSpPr>
        <p:spPr/>
        <p:txBody>
          <a:bodyPr/>
          <a:lstStyle/>
          <a:p>
            <a:r>
              <a:rPr lang="en-US" b="1" dirty="0">
                <a:solidFill>
                  <a:schemeClr val="tx1"/>
                </a:solidFill>
                <a:latin typeface="Courier New" panose="02070309020205020404" pitchFamily="49" charset="0"/>
                <a:cs typeface="Courier New" panose="02070309020205020404" pitchFamily="49" charset="0"/>
              </a:rPr>
              <a:t>ASCII</a:t>
            </a:r>
            <a:r>
              <a:rPr lang="en-US" dirty="0"/>
              <a:t> Character Set is a subset of the Unicode from </a:t>
            </a:r>
            <a:r>
              <a:rPr lang="en-US" b="1" dirty="0">
                <a:solidFill>
                  <a:schemeClr val="tx1"/>
                </a:solidFill>
                <a:latin typeface="Courier New" panose="02070309020205020404" pitchFamily="49" charset="0"/>
                <a:cs typeface="Courier New" panose="02070309020205020404" pitchFamily="49" charset="0"/>
                <a:sym typeface="Times New Roman"/>
              </a:rPr>
              <a:t>'\u0000' </a:t>
            </a:r>
            <a:r>
              <a:rPr lang="en-US" dirty="0">
                <a:ea typeface="Times New Roman"/>
                <a:cs typeface="Times New Roman"/>
                <a:sym typeface="Times New Roman"/>
              </a:rPr>
              <a:t>to </a:t>
            </a:r>
            <a:r>
              <a:rPr lang="en-US" b="1" dirty="0">
                <a:solidFill>
                  <a:schemeClr val="tx1"/>
                </a:solidFill>
                <a:latin typeface="Courier New" panose="02070309020205020404" pitchFamily="49" charset="0"/>
                <a:cs typeface="Courier New" panose="02070309020205020404" pitchFamily="49" charset="0"/>
                <a:sym typeface="Times New Roman"/>
              </a:rPr>
              <a:t>'\u007F'</a:t>
            </a:r>
            <a:r>
              <a:rPr lang="en-US" dirty="0">
                <a:ea typeface="Times New Roman"/>
                <a:cs typeface="Times New Roman"/>
                <a:sym typeface="Times New Roman"/>
              </a:rPr>
              <a:t> </a:t>
            </a:r>
            <a:endParaRPr lang="en-US" dirty="0"/>
          </a:p>
          <a:p>
            <a:endParaRPr lang="en-US" dirty="0"/>
          </a:p>
        </p:txBody>
      </p:sp>
      <p:pic>
        <p:nvPicPr>
          <p:cNvPr id="4" name="image.png" descr="Chart of ASCII Character Set in the Decimal Index"/>
          <p:cNvPicPr>
            <a:picLocks noChangeAspect="1"/>
          </p:cNvPicPr>
          <p:nvPr/>
        </p:nvPicPr>
        <p:blipFill>
          <a:blip r:embed="rId2"/>
          <a:stretch>
            <a:fillRect/>
          </a:stretch>
        </p:blipFill>
        <p:spPr>
          <a:xfrm>
            <a:off x="593753" y="1923443"/>
            <a:ext cx="6572251" cy="2839641"/>
          </a:xfrm>
          <a:prstGeom prst="rect">
            <a:avLst/>
          </a:prstGeom>
          <a:ln w="3175">
            <a:miter lim="400000"/>
          </a:ln>
        </p:spPr>
      </p:pic>
    </p:spTree>
    <p:extLst>
      <p:ext uri="{BB962C8B-B14F-4D97-AF65-F5344CB8AC3E}">
        <p14:creationId xmlns:p14="http://schemas.microsoft.com/office/powerpoint/2010/main" val="2208152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ASCII Character Set, cont.</a:t>
            </a:r>
          </a:p>
        </p:txBody>
      </p:sp>
      <p:sp>
        <p:nvSpPr>
          <p:cNvPr id="3" name="Text Placeholder 2"/>
          <p:cNvSpPr>
            <a:spLocks noGrp="1"/>
          </p:cNvSpPr>
          <p:nvPr>
            <p:ph type="body" idx="1"/>
          </p:nvPr>
        </p:nvSpPr>
        <p:spPr/>
        <p:txBody>
          <a:bodyPr/>
          <a:lstStyle/>
          <a:p>
            <a:r>
              <a:rPr lang="en-US" b="1" dirty="0">
                <a:solidFill>
                  <a:schemeClr val="tx1"/>
                </a:solidFill>
                <a:latin typeface="Courier New" panose="02070309020205020404" pitchFamily="49" charset="0"/>
                <a:cs typeface="Courier New" panose="02070309020205020404" pitchFamily="49" charset="0"/>
              </a:rPr>
              <a:t>ASCII</a:t>
            </a:r>
            <a:r>
              <a:rPr lang="en-US" dirty="0"/>
              <a:t> Character Set is a subset of the Unicode from </a:t>
            </a:r>
            <a:r>
              <a:rPr lang="en-US" b="1" dirty="0">
                <a:solidFill>
                  <a:schemeClr val="tx1"/>
                </a:solidFill>
                <a:latin typeface="Courier New" panose="02070309020205020404" pitchFamily="49" charset="0"/>
                <a:cs typeface="Courier New" panose="02070309020205020404" pitchFamily="49" charset="0"/>
                <a:sym typeface="Times New Roman"/>
              </a:rPr>
              <a:t>'\u0000' </a:t>
            </a:r>
            <a:r>
              <a:rPr lang="en-US" dirty="0">
                <a:ea typeface="Times New Roman"/>
                <a:cs typeface="Times New Roman"/>
                <a:sym typeface="Times New Roman"/>
              </a:rPr>
              <a:t>to </a:t>
            </a:r>
            <a:r>
              <a:rPr lang="en-US" b="1" dirty="0">
                <a:solidFill>
                  <a:schemeClr val="tx1"/>
                </a:solidFill>
                <a:latin typeface="Courier New" panose="02070309020205020404" pitchFamily="49" charset="0"/>
                <a:cs typeface="Courier New" panose="02070309020205020404" pitchFamily="49" charset="0"/>
                <a:sym typeface="Times New Roman"/>
              </a:rPr>
              <a:t>'\u007F'</a:t>
            </a:r>
            <a:r>
              <a:rPr lang="en-US" dirty="0">
                <a:ea typeface="Times New Roman"/>
                <a:cs typeface="Times New Roman"/>
                <a:sym typeface="Times New Roman"/>
              </a:rPr>
              <a:t> </a:t>
            </a:r>
            <a:endParaRPr lang="en-US" dirty="0"/>
          </a:p>
          <a:p>
            <a:endParaRPr lang="en-US" dirty="0"/>
          </a:p>
        </p:txBody>
      </p:sp>
      <p:pic>
        <p:nvPicPr>
          <p:cNvPr id="4" name="image.png" descr="Chart of ASCII Character Set in the Hexadecimal Index"/>
          <p:cNvPicPr>
            <a:picLocks noChangeAspect="1"/>
          </p:cNvPicPr>
          <p:nvPr/>
        </p:nvPicPr>
        <p:blipFill>
          <a:blip r:embed="rId2"/>
          <a:stretch>
            <a:fillRect/>
          </a:stretch>
        </p:blipFill>
        <p:spPr>
          <a:xfrm>
            <a:off x="537109" y="2015421"/>
            <a:ext cx="6629401" cy="2121695"/>
          </a:xfrm>
          <a:prstGeom prst="rect">
            <a:avLst/>
          </a:prstGeom>
          <a:ln w="3175">
            <a:miter lim="400000"/>
          </a:ln>
        </p:spPr>
      </p:pic>
    </p:spTree>
    <p:extLst>
      <p:ext uri="{BB962C8B-B14F-4D97-AF65-F5344CB8AC3E}">
        <p14:creationId xmlns:p14="http://schemas.microsoft.com/office/powerpoint/2010/main" val="1731351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SCII - Simple English Wikipedia, the free encyclopedia">
            <a:extLst>
              <a:ext uri="{FF2B5EF4-FFF2-40B4-BE49-F238E27FC236}">
                <a16:creationId xmlns:a16="http://schemas.microsoft.com/office/drawing/2014/main" id="{BF1EAD4E-D0E4-9FFF-7F4A-D58D22CA9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0"/>
            <a:ext cx="7732713"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288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8" charset="0"/>
              </a:rPr>
              <a:t>Generating Random Characters</a:t>
            </a:r>
            <a:endParaRPr lang="en-US" b="1" dirty="0"/>
          </a:p>
        </p:txBody>
      </p:sp>
      <p:sp>
        <p:nvSpPr>
          <p:cNvPr id="3" name="Text Placeholder 2"/>
          <p:cNvSpPr>
            <a:spLocks noGrp="1"/>
          </p:cNvSpPr>
          <p:nvPr>
            <p:ph type="body" idx="1"/>
          </p:nvPr>
        </p:nvSpPr>
        <p:spPr/>
        <p:txBody>
          <a:bodyPr/>
          <a:lstStyle/>
          <a:p>
            <a:pPr>
              <a:buNone/>
            </a:pPr>
            <a:r>
              <a:rPr lang="en-US" altLang="en-US" b="1" dirty="0">
                <a:solidFill>
                  <a:schemeClr val="tx1"/>
                </a:solidFill>
                <a:latin typeface="Courier New" pitchFamily="49" charset="0"/>
                <a:cs typeface="Courier New" pitchFamily="49" charset="0"/>
              </a:rPr>
              <a:t>(char)((</a:t>
            </a:r>
            <a:r>
              <a:rPr lang="en-US" altLang="en-US" b="1" dirty="0" err="1">
                <a:solidFill>
                  <a:schemeClr val="tx1"/>
                </a:solidFill>
                <a:latin typeface="Courier New" pitchFamily="49" charset="0"/>
                <a:cs typeface="Courier New" pitchFamily="49" charset="0"/>
              </a:rPr>
              <a:t>int</a:t>
            </a:r>
            <a:r>
              <a:rPr lang="en-US" altLang="en-US" b="1" dirty="0">
                <a:solidFill>
                  <a:schemeClr val="tx1"/>
                </a:solidFill>
                <a:latin typeface="Courier New" pitchFamily="49" charset="0"/>
                <a:cs typeface="Courier New" pitchFamily="49" charset="0"/>
              </a:rPr>
              <a:t>)'a' + </a:t>
            </a:r>
            <a:r>
              <a:rPr lang="en-US" altLang="en-US" b="1" dirty="0" err="1">
                <a:solidFill>
                  <a:schemeClr val="tx1"/>
                </a:solidFill>
                <a:latin typeface="Courier New" pitchFamily="49" charset="0"/>
                <a:cs typeface="Courier New" pitchFamily="49" charset="0"/>
              </a:rPr>
              <a:t>Math.random</a:t>
            </a:r>
            <a:r>
              <a:rPr lang="en-US" altLang="en-US" b="1" dirty="0">
                <a:solidFill>
                  <a:schemeClr val="tx1"/>
                </a:solidFill>
                <a:latin typeface="Courier New" pitchFamily="49" charset="0"/>
                <a:cs typeface="Courier New" pitchFamily="49" charset="0"/>
              </a:rPr>
              <a:t>() * ((</a:t>
            </a:r>
            <a:r>
              <a:rPr lang="en-US" altLang="en-US" b="1" dirty="0" err="1">
                <a:solidFill>
                  <a:schemeClr val="tx1"/>
                </a:solidFill>
                <a:latin typeface="Courier New" pitchFamily="49" charset="0"/>
                <a:cs typeface="Courier New" pitchFamily="49" charset="0"/>
              </a:rPr>
              <a:t>int</a:t>
            </a:r>
            <a:r>
              <a:rPr lang="en-US" altLang="en-US" b="1" dirty="0">
                <a:solidFill>
                  <a:schemeClr val="tx1"/>
                </a:solidFill>
                <a:latin typeface="Courier New" pitchFamily="49" charset="0"/>
                <a:cs typeface="Courier New" pitchFamily="49" charset="0"/>
              </a:rPr>
              <a:t>)'z' - (</a:t>
            </a:r>
            <a:r>
              <a:rPr lang="en-US" altLang="en-US" b="1" dirty="0" err="1">
                <a:solidFill>
                  <a:schemeClr val="tx1"/>
                </a:solidFill>
                <a:latin typeface="Courier New" pitchFamily="49" charset="0"/>
                <a:cs typeface="Courier New" pitchFamily="49" charset="0"/>
              </a:rPr>
              <a:t>int</a:t>
            </a:r>
            <a:r>
              <a:rPr lang="en-US" altLang="en-US" b="1" dirty="0">
                <a:solidFill>
                  <a:schemeClr val="tx1"/>
                </a:solidFill>
                <a:latin typeface="Courier New" pitchFamily="49" charset="0"/>
                <a:cs typeface="Courier New" pitchFamily="49" charset="0"/>
              </a:rPr>
              <a:t>)'a' + 1))</a:t>
            </a:r>
          </a:p>
          <a:p>
            <a:pPr marL="0" indent="0">
              <a:buNone/>
            </a:pPr>
            <a:endParaRPr lang="en-US" altLang="en-US" dirty="0">
              <a:cs typeface="Courier New" pitchFamily="49" charset="0"/>
            </a:endParaRPr>
          </a:p>
          <a:p>
            <a:r>
              <a:rPr lang="en-US" altLang="en-US" sz="2100" dirty="0">
                <a:cs typeface="Courier New" pitchFamily="49" charset="0"/>
              </a:rPr>
              <a:t>All numeric operators can be applied to the </a:t>
            </a:r>
            <a:r>
              <a:rPr lang="en-US" altLang="en-US" b="1" dirty="0">
                <a:solidFill>
                  <a:schemeClr val="tx1"/>
                </a:solidFill>
                <a:latin typeface="Courier New" pitchFamily="49" charset="0"/>
                <a:cs typeface="Courier New" pitchFamily="49" charset="0"/>
              </a:rPr>
              <a:t>char</a:t>
            </a:r>
            <a:r>
              <a:rPr lang="en-US" altLang="en-US" sz="2100" dirty="0">
                <a:cs typeface="Courier New" pitchFamily="49" charset="0"/>
              </a:rPr>
              <a:t> operands</a:t>
            </a:r>
          </a:p>
          <a:p>
            <a:pPr lvl="1"/>
            <a:r>
              <a:rPr lang="en-US" altLang="en-US" sz="2100" dirty="0">
                <a:cs typeface="Courier New" pitchFamily="49" charset="0"/>
              </a:rPr>
              <a:t>The </a:t>
            </a:r>
            <a:r>
              <a:rPr lang="en-US" altLang="en-US" sz="1800" b="1" dirty="0">
                <a:solidFill>
                  <a:schemeClr val="tx1"/>
                </a:solidFill>
                <a:latin typeface="Courier New" pitchFamily="49" charset="0"/>
                <a:cs typeface="Courier New" pitchFamily="49" charset="0"/>
              </a:rPr>
              <a:t>char</a:t>
            </a:r>
            <a:r>
              <a:rPr lang="en-US" altLang="en-US" sz="2100" dirty="0">
                <a:cs typeface="Courier New" pitchFamily="49" charset="0"/>
              </a:rPr>
              <a:t> operand is cast into a number if the other operand is a number or a character. </a:t>
            </a:r>
          </a:p>
          <a:p>
            <a:pPr lvl="1"/>
            <a:r>
              <a:rPr lang="en-US" altLang="en-US" sz="2100" dirty="0">
                <a:cs typeface="Courier New" pitchFamily="49" charset="0"/>
              </a:rPr>
              <a:t>So, the preceding expression can be simplified as follows: </a:t>
            </a:r>
          </a:p>
          <a:p>
            <a:pPr lvl="1"/>
            <a:endParaRPr lang="en-US" altLang="en-US" dirty="0">
              <a:cs typeface="Courier New" pitchFamily="49" charset="0"/>
            </a:endParaRPr>
          </a:p>
          <a:p>
            <a:pPr marL="0" indent="0">
              <a:buNone/>
            </a:pPr>
            <a:r>
              <a:rPr lang="en-US" altLang="en-US" sz="1500" b="1" dirty="0">
                <a:solidFill>
                  <a:srgbClr val="FF0000"/>
                </a:solidFill>
                <a:latin typeface="Courier New" pitchFamily="49" charset="0"/>
                <a:cs typeface="Courier New" pitchFamily="49" charset="0"/>
              </a:rPr>
              <a:t>  </a:t>
            </a:r>
            <a:r>
              <a:rPr lang="en-US" altLang="en-US" b="1" dirty="0">
                <a:solidFill>
                  <a:schemeClr val="tx1"/>
                </a:solidFill>
                <a:latin typeface="Courier New" pitchFamily="49" charset="0"/>
                <a:cs typeface="Courier New" pitchFamily="49" charset="0"/>
              </a:rPr>
              <a:t>(char)('a' + </a:t>
            </a:r>
            <a:r>
              <a:rPr lang="en-US" altLang="en-US" b="1" dirty="0" err="1">
                <a:solidFill>
                  <a:schemeClr val="tx1"/>
                </a:solidFill>
                <a:latin typeface="Courier New" pitchFamily="49" charset="0"/>
                <a:cs typeface="Courier New" pitchFamily="49" charset="0"/>
              </a:rPr>
              <a:t>Math.random</a:t>
            </a:r>
            <a:r>
              <a:rPr lang="en-US" altLang="en-US" b="1" dirty="0">
                <a:solidFill>
                  <a:schemeClr val="tx1"/>
                </a:solidFill>
                <a:latin typeface="Courier New" pitchFamily="49" charset="0"/>
                <a:cs typeface="Courier New" pitchFamily="49" charset="0"/>
              </a:rPr>
              <a:t>() * ('z' - 'a' + 1))</a:t>
            </a:r>
          </a:p>
          <a:p>
            <a:endParaRPr lang="en-US" dirty="0"/>
          </a:p>
        </p:txBody>
      </p:sp>
    </p:spTree>
    <p:extLst>
      <p:ext uri="{BB962C8B-B14F-4D97-AF65-F5344CB8AC3E}">
        <p14:creationId xmlns:p14="http://schemas.microsoft.com/office/powerpoint/2010/main" val="165414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Comparing and Testing Characters</a:t>
            </a:r>
            <a:endParaRPr lang="en-US" b="1" dirty="0"/>
          </a:p>
        </p:txBody>
      </p:sp>
      <p:sp>
        <p:nvSpPr>
          <p:cNvPr id="3" name="Text Placeholder 2"/>
          <p:cNvSpPr>
            <a:spLocks noGrp="1"/>
          </p:cNvSpPr>
          <p:nvPr>
            <p:ph type="body" idx="1"/>
          </p:nvPr>
        </p:nvSpPr>
        <p:spPr/>
        <p:txBody>
          <a:bodyPr/>
          <a:lstStyle/>
          <a:p>
            <a:pPr>
              <a:spcBef>
                <a:spcPct val="0"/>
              </a:spcBef>
              <a:buClrTx/>
              <a:buSzTx/>
              <a:buFontTx/>
              <a:buNone/>
            </a:pPr>
            <a:r>
              <a:rPr lang="en-US" altLang="en-US" b="1" dirty="0">
                <a:latin typeface="Courier New" panose="02070309020205020404" pitchFamily="49" charset="0"/>
                <a:cs typeface="Courier New" panose="02070309020205020404" pitchFamily="49" charset="0"/>
              </a:rPr>
              <a:t>if (</a:t>
            </a:r>
            <a:r>
              <a:rPr lang="en-US" altLang="en-US" b="1" dirty="0" err="1">
                <a:solidFill>
                  <a:schemeClr val="tx1"/>
                </a:solidFill>
                <a:latin typeface="Courier New" panose="02070309020205020404" pitchFamily="49" charset="0"/>
                <a:cs typeface="Courier New" panose="02070309020205020404" pitchFamily="49" charset="0"/>
              </a:rPr>
              <a:t>ch</a:t>
            </a:r>
            <a:r>
              <a:rPr lang="en-US" altLang="en-US" b="1" dirty="0">
                <a:solidFill>
                  <a:schemeClr val="tx1"/>
                </a:solidFill>
                <a:latin typeface="Courier New" panose="02070309020205020404" pitchFamily="49" charset="0"/>
                <a:cs typeface="Courier New" panose="02070309020205020404" pitchFamily="49" charset="0"/>
              </a:rPr>
              <a:t> &gt;= 'A' &amp;&amp; </a:t>
            </a:r>
            <a:r>
              <a:rPr lang="en-US" altLang="en-US" b="1" dirty="0" err="1">
                <a:solidFill>
                  <a:schemeClr val="tx1"/>
                </a:solidFill>
                <a:latin typeface="Courier New" panose="02070309020205020404" pitchFamily="49" charset="0"/>
                <a:cs typeface="Courier New" panose="02070309020205020404" pitchFamily="49" charset="0"/>
              </a:rPr>
              <a:t>ch</a:t>
            </a:r>
            <a:r>
              <a:rPr lang="en-US" altLang="en-US" b="1" dirty="0">
                <a:solidFill>
                  <a:schemeClr val="tx1"/>
                </a:solidFill>
                <a:latin typeface="Courier New" panose="02070309020205020404" pitchFamily="49" charset="0"/>
                <a:cs typeface="Courier New" panose="02070309020205020404" pitchFamily="49" charset="0"/>
              </a:rPr>
              <a:t> &lt;= 'Z') </a:t>
            </a:r>
            <a:endParaRPr lang="en-US" altLang="en-US" b="1" u="sng" dirty="0">
              <a:solidFill>
                <a:schemeClr val="tx1"/>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System.out.println</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ch</a:t>
            </a:r>
            <a:r>
              <a:rPr lang="en-US" altLang="en-US" b="1" dirty="0">
                <a:latin typeface="Courier New" panose="02070309020205020404" pitchFamily="49" charset="0"/>
                <a:cs typeface="Courier New" panose="02070309020205020404" pitchFamily="49" charset="0"/>
              </a:rPr>
              <a:t> + " is an uppercase letter");</a:t>
            </a:r>
          </a:p>
          <a:p>
            <a:pPr>
              <a:spcBef>
                <a:spcPct val="0"/>
              </a:spcBef>
              <a:buClrTx/>
              <a:buSzTx/>
              <a:buFontTx/>
              <a:buNone/>
            </a:pPr>
            <a:r>
              <a:rPr lang="en-US" altLang="en-US" b="1" dirty="0">
                <a:latin typeface="Courier New" panose="02070309020205020404" pitchFamily="49" charset="0"/>
                <a:cs typeface="Courier New" panose="02070309020205020404" pitchFamily="49" charset="0"/>
              </a:rPr>
              <a:t> </a:t>
            </a:r>
            <a:endParaRPr lang="en-US" altLang="en-US" b="1" u="sng" dirty="0">
              <a:latin typeface="Courier New" panose="02070309020205020404" pitchFamily="49" charset="0"/>
              <a:cs typeface="Courier New" panose="02070309020205020404" pitchFamily="49" charset="0"/>
            </a:endParaRPr>
          </a:p>
          <a:p>
            <a:pPr>
              <a:spcBef>
                <a:spcPct val="0"/>
              </a:spcBef>
              <a:buClrTx/>
              <a:buSzTx/>
              <a:buFontTx/>
              <a:buNone/>
            </a:pPr>
            <a:r>
              <a:rPr lang="en-US" altLang="en-US" b="1" dirty="0">
                <a:latin typeface="Courier New" panose="02070309020205020404" pitchFamily="49" charset="0"/>
                <a:cs typeface="Courier New" panose="02070309020205020404" pitchFamily="49" charset="0"/>
              </a:rPr>
              <a:t>if (</a:t>
            </a:r>
            <a:r>
              <a:rPr lang="en-US" altLang="en-US" b="1" dirty="0" err="1">
                <a:solidFill>
                  <a:schemeClr val="tx1"/>
                </a:solidFill>
                <a:latin typeface="Courier New" panose="02070309020205020404" pitchFamily="49" charset="0"/>
                <a:cs typeface="Courier New" panose="02070309020205020404" pitchFamily="49" charset="0"/>
              </a:rPr>
              <a:t>ch</a:t>
            </a:r>
            <a:r>
              <a:rPr lang="en-US" altLang="en-US" b="1" dirty="0">
                <a:solidFill>
                  <a:schemeClr val="tx1"/>
                </a:solidFill>
                <a:latin typeface="Courier New" panose="02070309020205020404" pitchFamily="49" charset="0"/>
                <a:cs typeface="Courier New" panose="02070309020205020404" pitchFamily="49" charset="0"/>
              </a:rPr>
              <a:t> &gt;= 'a' &amp;&amp; </a:t>
            </a:r>
            <a:r>
              <a:rPr lang="en-US" altLang="en-US" b="1" dirty="0" err="1">
                <a:solidFill>
                  <a:schemeClr val="tx1"/>
                </a:solidFill>
                <a:latin typeface="Courier New" panose="02070309020205020404" pitchFamily="49" charset="0"/>
                <a:cs typeface="Courier New" panose="02070309020205020404" pitchFamily="49" charset="0"/>
              </a:rPr>
              <a:t>ch</a:t>
            </a:r>
            <a:r>
              <a:rPr lang="en-US" altLang="en-US" b="1" dirty="0">
                <a:solidFill>
                  <a:schemeClr val="tx1"/>
                </a:solidFill>
                <a:latin typeface="Courier New" panose="02070309020205020404" pitchFamily="49" charset="0"/>
                <a:cs typeface="Courier New" panose="02070309020205020404" pitchFamily="49" charset="0"/>
              </a:rPr>
              <a:t> &lt;= 'z') </a:t>
            </a:r>
            <a:endParaRPr lang="en-US" altLang="en-US" b="1" u="sng" dirty="0">
              <a:solidFill>
                <a:schemeClr val="tx1"/>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System.out.println</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ch</a:t>
            </a:r>
            <a:r>
              <a:rPr lang="en-US" altLang="en-US" b="1" dirty="0">
                <a:latin typeface="Courier New" panose="02070309020205020404" pitchFamily="49" charset="0"/>
                <a:cs typeface="Courier New" panose="02070309020205020404" pitchFamily="49" charset="0"/>
              </a:rPr>
              <a:t> + " is a lowercase letter"); </a:t>
            </a:r>
            <a:endParaRPr lang="en-US" altLang="en-US" b="1" u="sng" dirty="0">
              <a:latin typeface="Courier New" panose="02070309020205020404" pitchFamily="49" charset="0"/>
              <a:cs typeface="Courier New" panose="02070309020205020404" pitchFamily="49" charset="0"/>
            </a:endParaRPr>
          </a:p>
          <a:p>
            <a:pPr>
              <a:spcBef>
                <a:spcPct val="0"/>
              </a:spcBef>
              <a:buClrTx/>
              <a:buSzTx/>
              <a:buFontTx/>
              <a:buNone/>
            </a:pPr>
            <a:endParaRPr lang="en-US" altLang="en-US" b="1" dirty="0">
              <a:latin typeface="Courier New" panose="02070309020205020404" pitchFamily="49" charset="0"/>
              <a:cs typeface="Courier New" panose="02070309020205020404" pitchFamily="49" charset="0"/>
            </a:endParaRPr>
          </a:p>
          <a:p>
            <a:pPr>
              <a:spcBef>
                <a:spcPct val="0"/>
              </a:spcBef>
              <a:buClrTx/>
              <a:buSzTx/>
              <a:buFontTx/>
              <a:buNone/>
            </a:pPr>
            <a:r>
              <a:rPr lang="en-US" altLang="en-US" b="1" dirty="0">
                <a:latin typeface="Courier New" panose="02070309020205020404" pitchFamily="49" charset="0"/>
                <a:cs typeface="Courier New" panose="02070309020205020404" pitchFamily="49" charset="0"/>
              </a:rPr>
              <a:t>if (</a:t>
            </a:r>
            <a:r>
              <a:rPr lang="en-US" altLang="en-US" b="1" dirty="0" err="1">
                <a:solidFill>
                  <a:schemeClr val="tx1"/>
                </a:solidFill>
                <a:latin typeface="Courier New" panose="02070309020205020404" pitchFamily="49" charset="0"/>
                <a:cs typeface="Courier New" panose="02070309020205020404" pitchFamily="49" charset="0"/>
              </a:rPr>
              <a:t>ch</a:t>
            </a:r>
            <a:r>
              <a:rPr lang="en-US" altLang="en-US" b="1" dirty="0">
                <a:solidFill>
                  <a:schemeClr val="tx1"/>
                </a:solidFill>
                <a:latin typeface="Courier New" panose="02070309020205020404" pitchFamily="49" charset="0"/>
                <a:cs typeface="Courier New" panose="02070309020205020404" pitchFamily="49" charset="0"/>
              </a:rPr>
              <a:t> &gt;= '0' &amp;&amp; </a:t>
            </a:r>
            <a:r>
              <a:rPr lang="en-US" altLang="en-US" b="1" dirty="0" err="1">
                <a:solidFill>
                  <a:schemeClr val="tx1"/>
                </a:solidFill>
                <a:latin typeface="Courier New" panose="02070309020205020404" pitchFamily="49" charset="0"/>
                <a:cs typeface="Courier New" panose="02070309020205020404" pitchFamily="49" charset="0"/>
              </a:rPr>
              <a:t>ch</a:t>
            </a:r>
            <a:r>
              <a:rPr lang="en-US" altLang="en-US" b="1" dirty="0">
                <a:solidFill>
                  <a:schemeClr val="tx1"/>
                </a:solidFill>
                <a:latin typeface="Courier New" panose="02070309020205020404" pitchFamily="49" charset="0"/>
                <a:cs typeface="Courier New" panose="02070309020205020404" pitchFamily="49" charset="0"/>
              </a:rPr>
              <a:t> &lt;= '9') </a:t>
            </a:r>
            <a:endParaRPr lang="en-US" altLang="en-US" b="1" u="sng" dirty="0">
              <a:solidFill>
                <a:schemeClr val="tx1"/>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System.out.println</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ch</a:t>
            </a:r>
            <a:r>
              <a:rPr lang="en-US" altLang="en-US" b="1" dirty="0">
                <a:latin typeface="Courier New" panose="02070309020205020404" pitchFamily="49" charset="0"/>
                <a:cs typeface="Courier New" panose="02070309020205020404" pitchFamily="49" charset="0"/>
              </a:rPr>
              <a:t> + " is a numeric character"); </a:t>
            </a:r>
            <a:endParaRPr lang="en-US" altLang="en-US" b="1" u="sng"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281081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Methods in the Character Class</a:t>
            </a:r>
            <a:endParaRPr lang="en-US" b="1" dirty="0"/>
          </a:p>
        </p:txBody>
      </p:sp>
      <p:sp>
        <p:nvSpPr>
          <p:cNvPr id="3" name="Text Placeholder 2"/>
          <p:cNvSpPr>
            <a:spLocks noGrp="1"/>
          </p:cNvSpPr>
          <p:nvPr>
            <p:ph type="body" idx="1"/>
          </p:nvPr>
        </p:nvSpPr>
        <p:spPr/>
        <p:txBody>
          <a:bodyPr/>
          <a:lstStyle/>
          <a:p>
            <a:endParaRPr lang="en-US"/>
          </a:p>
        </p:txBody>
      </p:sp>
      <p:graphicFrame>
        <p:nvGraphicFramePr>
          <p:cNvPr id="4" name="Object 3"/>
          <p:cNvGraphicFramePr>
            <a:graphicFrameLocks noChangeAspect="1"/>
          </p:cNvGraphicFramePr>
          <p:nvPr/>
        </p:nvGraphicFramePr>
        <p:xfrm>
          <a:off x="186571" y="1091319"/>
          <a:ext cx="6488906" cy="2416969"/>
        </p:xfrm>
        <a:graphic>
          <a:graphicData uri="http://schemas.openxmlformats.org/presentationml/2006/ole">
            <mc:AlternateContent xmlns:mc="http://schemas.openxmlformats.org/markup-compatibility/2006">
              <mc:Choice xmlns:v="urn:schemas-microsoft-com:vml" Requires="v">
                <p:oleObj name="Picture" r:id="rId2" imgW="4025880" imgH="1638360" progId="Word.Picture.8">
                  <p:embed/>
                </p:oleObj>
              </mc:Choice>
              <mc:Fallback>
                <p:oleObj name="Picture" r:id="rId2" imgW="4025880" imgH="1638360" progId="Word.Picture.8">
                  <p:embed/>
                  <p:pic>
                    <p:nvPicPr>
                      <p:cNvPr id="4" name="Object 3"/>
                      <p:cNvPicPr>
                        <a:picLocks noChangeAspect="1" noChangeArrowheads="1"/>
                      </p:cNvPicPr>
                      <p:nvPr/>
                    </p:nvPicPr>
                    <p:blipFill>
                      <a:blip r:embed="rId3"/>
                      <a:srcRect/>
                      <a:stretch>
                        <a:fillRect/>
                      </a:stretch>
                    </p:blipFill>
                    <p:spPr bwMode="auto">
                      <a:xfrm>
                        <a:off x="186571" y="1091319"/>
                        <a:ext cx="6488906" cy="2416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3212445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5538c6363dcc66390f334cc79d134dde">
  <xsd:schema xmlns:xsd="http://www.w3.org/2001/XMLSchema" xmlns:xs="http://www.w3.org/2001/XMLSchema" xmlns:p="http://schemas.microsoft.com/office/2006/metadata/properties" xmlns:ns2="dd520bba-7c1e-4c79-bf9d-255d7ed0f3a3" targetNamespace="http://schemas.microsoft.com/office/2006/metadata/properties" ma:root="true" ma:fieldsID="f941384ee89c8d55594949fcab33c8bd"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4D2CDF-1499-4D37-85E3-8F753B5FC003}"/>
</file>

<file path=customXml/itemProps2.xml><?xml version="1.0" encoding="utf-8"?>
<ds:datastoreItem xmlns:ds="http://schemas.openxmlformats.org/officeDocument/2006/customXml" ds:itemID="{31EB48F8-8550-438D-8E24-58EAAC500E0A}"/>
</file>

<file path=customXml/itemProps3.xml><?xml version="1.0" encoding="utf-8"?>
<ds:datastoreItem xmlns:ds="http://schemas.openxmlformats.org/officeDocument/2006/customXml" ds:itemID="{B8A161B2-D728-4DA5-A89B-62B05CA6C055}"/>
</file>

<file path=docProps/app.xml><?xml version="1.0" encoding="utf-8"?>
<Properties xmlns="http://schemas.openxmlformats.org/officeDocument/2006/extended-properties" xmlns:vt="http://schemas.openxmlformats.org/officeDocument/2006/docPropsVTypes">
  <TotalTime>11584</TotalTime>
  <Words>435</Words>
  <Application>Microsoft Office PowerPoint</Application>
  <PresentationFormat>On-screen Show (16:9)</PresentationFormat>
  <Paragraphs>52</Paragraphs>
  <Slides>12</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7" baseType="lpstr">
      <vt:lpstr>Arial</vt:lpstr>
      <vt:lpstr>Courier New</vt:lpstr>
      <vt:lpstr>Times New Roman</vt:lpstr>
      <vt:lpstr>Simple Light</vt:lpstr>
      <vt:lpstr>Picture</vt:lpstr>
      <vt:lpstr>Character Data Type</vt:lpstr>
      <vt:lpstr>Objectives: </vt:lpstr>
      <vt:lpstr>Character Data Type: Example</vt:lpstr>
      <vt:lpstr>Unicode Format</vt:lpstr>
      <vt:lpstr>ASCII Code for Commonly Used Characters</vt:lpstr>
      <vt:lpstr>Escape Sequences for Special Characters</vt:lpstr>
      <vt:lpstr>Appendix B: ASCII Character Set</vt:lpstr>
      <vt:lpstr>ASCII Character Set, cont.</vt:lpstr>
      <vt:lpstr>PowerPoint Presentation</vt:lpstr>
      <vt:lpstr>Generating Random Characters</vt:lpstr>
      <vt:lpstr>Comparing and Testing Characters</vt:lpstr>
      <vt:lpstr>Methods in the Character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于 心瑞 Xinrui YU</cp:lastModifiedBy>
  <cp:revision>446</cp:revision>
  <dcterms:modified xsi:type="dcterms:W3CDTF">2025-03-02T01:20:12Z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