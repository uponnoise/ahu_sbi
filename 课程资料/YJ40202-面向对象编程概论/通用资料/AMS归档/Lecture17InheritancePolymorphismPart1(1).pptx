
<file path=[Content_Types].xml><?xml version="1.0" encoding="utf-8"?>
<Types xmlns="http://schemas.openxmlformats.org/package/2006/content-types">
  <Default Extension="xml" ContentType="application/xml"/>
  <Default Extension="vml" ContentType="application/vnd.openxmlformats-officedocument.vmlDrawing"/>
  <Default Extension="bin" ContentType="application/vnd.openxmlformats-officedocument.oleObject"/>
  <Default Extension="jpeg" ContentType="image/jpeg"/>
  <Default Extension="JPG" ContentType="image/.jpg"/>
  <Default Extension="wmf" ContentType="image/x-wmf"/>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344" r:id="rId6"/>
    <p:sldId id="345" r:id="rId7"/>
    <p:sldId id="381" r:id="rId8"/>
    <p:sldId id="306" r:id="rId9"/>
    <p:sldId id="348" r:id="rId10"/>
    <p:sldId id="349" r:id="rId11"/>
    <p:sldId id="350" r:id="rId12"/>
    <p:sldId id="351" r:id="rId13"/>
    <p:sldId id="379" r:id="rId14"/>
    <p:sldId id="316" r:id="rId15"/>
    <p:sldId id="317" r:id="rId16"/>
    <p:sldId id="354" r:id="rId17"/>
    <p:sldId id="355" r:id="rId18"/>
    <p:sldId id="356" r:id="rId19"/>
    <p:sldId id="357" r:id="rId20"/>
    <p:sldId id="358" r:id="rId21"/>
    <p:sldId id="359" r:id="rId22"/>
    <p:sldId id="360" r:id="rId23"/>
    <p:sldId id="361" r:id="rId24"/>
    <p:sldId id="363" r:id="rId25"/>
    <p:sldId id="380" r:id="rId26"/>
    <p:sldId id="366" r:id="rId27"/>
    <p:sldId id="367" r:id="rId28"/>
    <p:sldId id="368" r:id="rId29"/>
    <p:sldId id="369" r:id="rId30"/>
    <p:sldId id="370" r:id="rId31"/>
    <p:sldId id="371" r:id="rId32"/>
    <p:sldId id="372" r:id="rId33"/>
    <p:sldId id="373" r:id="rId34"/>
    <p:sldId id="374" r:id="rId35"/>
    <p:sldId id="375" r:id="rId36"/>
    <p:sldId id="376" r:id="rId37"/>
    <p:sldId id="377" r:id="rId38"/>
    <p:sldId id="378" r:id="rId3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46" autoAdjust="0"/>
    <p:restoredTop sz="84588" autoAdjust="0"/>
  </p:normalViewPr>
  <p:slideViewPr>
    <p:cSldViewPr snapToGrid="0" showGuides="1">
      <p:cViewPr varScale="1">
        <p:scale>
          <a:sx n="126" d="100"/>
          <a:sy n="126" d="100"/>
        </p:scale>
        <p:origin x="2706" y="69"/>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5" Type="http://schemas.openxmlformats.org/officeDocument/2006/relationships/customXml" Target="../customXml/item3.xml"/><Relationship Id="rId44" Type="http://schemas.openxmlformats.org/officeDocument/2006/relationships/customXml" Target="../customXml/item2.xml"/><Relationship Id="rId43" Type="http://schemas.openxmlformats.org/officeDocument/2006/relationships/customXml" Target="../customXml/item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
        <p:cNvGrpSpPr/>
        <p:nvPr/>
      </p:nvGrpSpPr>
      <p:grpSpPr>
        <a:xfrm>
          <a:off x="0" y="0"/>
          <a:ext cx="0" cy="0"/>
          <a:chOff x="0" y="0"/>
          <a:chExt cx="0" cy="0"/>
        </a:xfrm>
      </p:grpSpPr>
      <p:sp>
        <p:nvSpPr>
          <p:cNvPr id="51" name="Google Shape;51;gbe5cd7aa5a_2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be5cd7aa5a_2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超类与派生类，又称父类与子类</a:t>
            </a:r>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a:t>Class 01 halfway on </a:t>
            </a:r>
            <a:r>
              <a:rPr lang="en-US" altLang="zh-CN"/>
              <a:t>this slide 11/25</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方法重写</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err="1"/>
              <a:t>lineIs</a:t>
            </a:r>
            <a:r>
              <a:rPr lang="en-US" dirty="0"/>
              <a:t>() is declared as **static** in both classes → this is </a:t>
            </a:r>
            <a:r>
              <a:rPr lang="en-US" b="1" dirty="0"/>
              <a:t>method hiding</a:t>
            </a:r>
            <a:r>
              <a:rPr lang="en-US" dirty="0"/>
              <a:t>, </a:t>
            </a:r>
            <a:r>
              <a:rPr lang="en-US" b="1" dirty="0"/>
              <a:t>not</a:t>
            </a:r>
            <a:r>
              <a:rPr lang="en-US" dirty="0"/>
              <a:t> overriding.</a:t>
            </a:r>
            <a:endParaRPr lang="en-US" dirty="0"/>
          </a:p>
          <a:p>
            <a:pPr>
              <a:buFont typeface="Arial" panose="020B0604020202020204" pitchFamily="34" charset="0"/>
              <a:buChar char="•"/>
            </a:pPr>
            <a:r>
              <a:rPr lang="en-US" dirty="0"/>
              <a:t>letter is a </a:t>
            </a:r>
            <a:r>
              <a:rPr lang="en-US" b="1" dirty="0"/>
              <a:t>field</a:t>
            </a:r>
            <a:r>
              <a:rPr lang="en-US" dirty="0"/>
              <a:t> declared in both classes → this is </a:t>
            </a:r>
            <a:r>
              <a:rPr lang="en-US" b="1" dirty="0"/>
              <a:t>field hiding</a:t>
            </a:r>
            <a:r>
              <a:rPr lang="en-US" dirty="0"/>
              <a:t>, </a:t>
            </a:r>
            <a:r>
              <a:rPr lang="en-US" b="1" dirty="0"/>
              <a:t>not</a:t>
            </a:r>
            <a:r>
              <a:rPr lang="en-US" dirty="0"/>
              <a:t> overriding either.</a:t>
            </a:r>
            <a:endParaRPr lang="en-US" dirty="0"/>
          </a:p>
          <a:p>
            <a:r>
              <a:rPr lang="en-US" dirty="0"/>
              <a:t>Fields are </a:t>
            </a:r>
            <a:r>
              <a:rPr lang="en-US" b="1" dirty="0"/>
              <a:t>never overridden</a:t>
            </a:r>
            <a:r>
              <a:rPr lang="en-US" dirty="0"/>
              <a:t> in Java — they are always hidden if re-declared in a subclass.</a:t>
            </a:r>
            <a:endParaRPr lang="en-US" dirty="0"/>
          </a:p>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buNone/>
            </a:pPr>
            <a:r>
              <a:rPr lang="en-US" b="1" dirty="0"/>
              <a:t>Method: </a:t>
            </a:r>
            <a:r>
              <a:rPr lang="en-US" b="1" dirty="0" err="1"/>
              <a:t>lineIs</a:t>
            </a:r>
            <a:r>
              <a:rPr lang="en-US" b="1" dirty="0"/>
              <a:t>()</a:t>
            </a:r>
            <a:endParaRPr lang="en-US" b="1" dirty="0"/>
          </a:p>
          <a:p>
            <a:pPr>
              <a:buNone/>
            </a:pPr>
            <a:r>
              <a:rPr lang="en-US" b="0" dirty="0"/>
              <a:t>Java allows overriding of instance methods when </a:t>
            </a:r>
            <a:r>
              <a:rPr lang="en-US" altLang="zh-CN" b="0" dirty="0"/>
              <a:t>t</a:t>
            </a:r>
            <a:r>
              <a:rPr lang="en-US" b="0" dirty="0"/>
              <a:t>he method in the subclass has the same signature (name and parameters), return type is the same or covariant, access is not more restrictive, and the method in the superclass is not final, static, or private.</a:t>
            </a:r>
            <a:endParaRPr lang="en-US" dirty="0"/>
          </a:p>
          <a:p>
            <a:pPr>
              <a:buNone/>
            </a:pPr>
            <a:r>
              <a:rPr lang="en-US" b="1" dirty="0"/>
              <a:t>Field: letter -&gt; hiding</a:t>
            </a:r>
            <a:endParaRPr lang="en-US" b="1" dirty="0"/>
          </a:p>
          <a:p>
            <a:endParaRPr lang="en-US" dirty="0"/>
          </a:p>
          <a:p>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让一个构造方法调用同一个类的另一个构造方法，以它作为本构造方法的第一条语句。</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zh-CN" altLang="en-US" dirty="0"/>
              <a:t>符合逻辑和常识：先以超类作为模板创建对象，之后再修改成子类的样子</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5" name="Rectangle 4"/>
          <p:cNvSpPr/>
          <p:nvPr/>
        </p:nvSpPr>
        <p:spPr>
          <a:xfrm>
            <a:off x="63501" y="1087042"/>
            <a:ext cx="9020175" cy="1145381"/>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6" name="Rectangle 5"/>
          <p:cNvSpPr/>
          <p:nvPr/>
        </p:nvSpPr>
        <p:spPr>
          <a:xfrm>
            <a:off x="63501" y="1047751"/>
            <a:ext cx="9020175" cy="9048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7" name="Rectangle 6"/>
          <p:cNvSpPr/>
          <p:nvPr/>
        </p:nvSpPr>
        <p:spPr>
          <a:xfrm>
            <a:off x="63501" y="2232423"/>
            <a:ext cx="9020175" cy="83344"/>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9" name="Subtitle 8"/>
          <p:cNvSpPr>
            <a:spLocks noGrp="1"/>
          </p:cNvSpPr>
          <p:nvPr>
            <p:ph type="subTitle" idx="1"/>
          </p:nvPr>
        </p:nvSpPr>
        <p:spPr>
          <a:xfrm>
            <a:off x="1295400" y="2400300"/>
            <a:ext cx="6400800" cy="1200150"/>
          </a:xfrm>
        </p:spPr>
        <p:txBody>
          <a:bodyPr/>
          <a:lstStyle>
            <a:lvl1pPr marL="0" indent="0" algn="ctr">
              <a:buNone/>
              <a:defRPr sz="1950">
                <a:solidFill>
                  <a:schemeClr val="tx2"/>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endParaRPr lang="en-US"/>
          </a:p>
        </p:txBody>
      </p:sp>
      <p:sp>
        <p:nvSpPr>
          <p:cNvPr id="8" name="Title 7"/>
          <p:cNvSpPr>
            <a:spLocks noGrp="1"/>
          </p:cNvSpPr>
          <p:nvPr>
            <p:ph type="ctrTitle"/>
          </p:nvPr>
        </p:nvSpPr>
        <p:spPr>
          <a:xfrm>
            <a:off x="457200" y="1129448"/>
            <a:ext cx="8229600" cy="1102519"/>
          </a:xfrm>
        </p:spPr>
        <p:txBody>
          <a:bodyPr anchor="ctr"/>
          <a:lstStyle>
            <a:lvl1pPr algn="ctr">
              <a:defRPr lang="en-US" dirty="0">
                <a:solidFill>
                  <a:srgbClr val="FFFFFF"/>
                </a:solidFill>
              </a:defRPr>
            </a:lvl1pPr>
          </a:lstStyle>
          <a:p>
            <a:r>
              <a:rPr lang="en-US"/>
              <a:t>Click to edit Master title style</a:t>
            </a:r>
            <a:endParaRPr lang="en-US"/>
          </a:p>
        </p:txBody>
      </p:sp>
      <p:sp>
        <p:nvSpPr>
          <p:cNvPr id="10" name="Slide Number Placeholder 28"/>
          <p:cNvSpPr>
            <a:spLocks noGrp="1"/>
          </p:cNvSpPr>
          <p:nvPr>
            <p:ph type="sldNum" sz="quarter" idx="10"/>
          </p:nvPr>
        </p:nvSpPr>
        <p:spPr/>
        <p:txBody>
          <a:bodyPr/>
          <a:lstStyle>
            <a:lvl1pPr>
              <a:defRPr sz="1050">
                <a:solidFill>
                  <a:srgbClr val="FFFFFF"/>
                </a:solidFill>
              </a:defRPr>
            </a:lvl1pPr>
          </a:lstStyle>
          <a:p>
            <a:pPr>
              <a:defRPr/>
            </a:pPr>
            <a:fld id="{ECDE1E07-2448-40FF-8584-209FDFF46A96}" type="slidenum">
              <a:rPr lang="en-US"/>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8" name="Content Placeholder 7"/>
          <p:cNvSpPr>
            <a:spLocks noGrp="1"/>
          </p:cNvSpPr>
          <p:nvPr>
            <p:ph sz="quarter" idx="1"/>
          </p:nvPr>
        </p:nvSpPr>
        <p:spPr>
          <a:xfrm>
            <a:off x="914400" y="929937"/>
            <a:ext cx="7772400" cy="358491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Footer Placeholder 4"/>
          <p:cNvSpPr>
            <a:spLocks noGrp="1"/>
          </p:cNvSpPr>
          <p:nvPr>
            <p:ph type="ftr" sz="quarter" idx="10"/>
          </p:nvPr>
        </p:nvSpPr>
        <p:spPr>
          <a:xfrm>
            <a:off x="914400" y="4629150"/>
            <a:ext cx="914400" cy="342900"/>
          </a:xfrm>
        </p:spPr>
        <p:txBody>
          <a:bodyPr/>
          <a:lstStyle>
            <a:lvl1pPr>
              <a:defRPr/>
            </a:lvl1pPr>
          </a:lstStyle>
          <a:p>
            <a:pPr>
              <a:defRPr/>
            </a:pPr>
            <a:endParaRPr lang="en-US">
              <a:solidFill>
                <a:srgbClr val="696464"/>
              </a:solidFill>
            </a:endParaRPr>
          </a:p>
        </p:txBody>
      </p:sp>
      <p:sp>
        <p:nvSpPr>
          <p:cNvPr id="5" name="Slide Number Placeholder 5"/>
          <p:cNvSpPr>
            <a:spLocks noGrp="1"/>
          </p:cNvSpPr>
          <p:nvPr>
            <p:ph type="sldNum" sz="quarter" idx="11"/>
          </p:nvPr>
        </p:nvSpPr>
        <p:spPr/>
        <p:txBody>
          <a:bodyPr/>
          <a:lstStyle>
            <a:lvl1pPr>
              <a:defRPr/>
            </a:lvl1pPr>
          </a:lstStyle>
          <a:p>
            <a:pPr>
              <a:defRPr/>
            </a:pPr>
            <a:fld id="{7C11BA7E-98E2-41E7-96D2-A4FD08297D1E}"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0"/>
            <a:ext cx="9144000" cy="51435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useBgFill="1">
        <p:nvSpPr>
          <p:cNvPr id="5" name="Rounded Rectangle 4"/>
          <p:cNvSpPr/>
          <p:nvPr/>
        </p:nvSpPr>
        <p:spPr>
          <a:xfrm>
            <a:off x="65313" y="52317"/>
            <a:ext cx="9013372" cy="501915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6" name="Rectangle 5"/>
          <p:cNvSpPr/>
          <p:nvPr/>
        </p:nvSpPr>
        <p:spPr>
          <a:xfrm flipV="1">
            <a:off x="69850" y="1782367"/>
            <a:ext cx="9013825" cy="69056"/>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7" name="Rectangle 6"/>
          <p:cNvSpPr/>
          <p:nvPr/>
        </p:nvSpPr>
        <p:spPr>
          <a:xfrm>
            <a:off x="69850" y="1756173"/>
            <a:ext cx="9013825" cy="3452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8" name="Rectangle 7"/>
          <p:cNvSpPr/>
          <p:nvPr/>
        </p:nvSpPr>
        <p:spPr>
          <a:xfrm>
            <a:off x="68263" y="1851423"/>
            <a:ext cx="9015412" cy="34528"/>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2" name="Title 1"/>
          <p:cNvSpPr>
            <a:spLocks noGrp="1"/>
          </p:cNvSpPr>
          <p:nvPr>
            <p:ph type="title"/>
          </p:nvPr>
        </p:nvSpPr>
        <p:spPr>
          <a:xfrm>
            <a:off x="722313" y="714376"/>
            <a:ext cx="7772400" cy="1021556"/>
          </a:xfrm>
        </p:spPr>
        <p:txBody>
          <a:bodyPr/>
          <a:lstStyle>
            <a:lvl1pPr algn="l">
              <a:buNone/>
              <a:defRPr sz="3000" b="0" cap="none"/>
            </a:lvl1pPr>
          </a:lstStyle>
          <a:p>
            <a:r>
              <a:rPr lang="en-US"/>
              <a:t>Click to edit Master title style</a:t>
            </a:r>
            <a:endParaRPr lang="en-US"/>
          </a:p>
        </p:txBody>
      </p:sp>
      <p:sp>
        <p:nvSpPr>
          <p:cNvPr id="3" name="Text Placeholder 2"/>
          <p:cNvSpPr>
            <a:spLocks noGrp="1"/>
          </p:cNvSpPr>
          <p:nvPr>
            <p:ph type="body" idx="1"/>
          </p:nvPr>
        </p:nvSpPr>
        <p:spPr>
          <a:xfrm>
            <a:off x="722313" y="1910953"/>
            <a:ext cx="7772400" cy="1003697"/>
          </a:xfrm>
        </p:spPr>
        <p:txBody>
          <a:bodyPr/>
          <a:lstStyle>
            <a:lvl1pPr marL="0" indent="0">
              <a:buNone/>
              <a:defRPr sz="1800">
                <a:solidFill>
                  <a:schemeClr val="tx1">
                    <a:tint val="75000"/>
                  </a:schemeClr>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endParaRPr lang="en-US"/>
          </a:p>
        </p:txBody>
      </p:sp>
      <p:sp>
        <p:nvSpPr>
          <p:cNvPr id="9" name="Footer Placeholder 4"/>
          <p:cNvSpPr>
            <a:spLocks noGrp="1"/>
          </p:cNvSpPr>
          <p:nvPr>
            <p:ph type="ftr" sz="quarter" idx="10"/>
          </p:nvPr>
        </p:nvSpPr>
        <p:spPr>
          <a:xfrm>
            <a:off x="800100" y="4629150"/>
            <a:ext cx="4000500" cy="342900"/>
          </a:xfrm>
        </p:spPr>
        <p:txBody>
          <a:bodyPr/>
          <a:lstStyle>
            <a:lvl1pPr>
              <a:defRPr/>
            </a:lvl1pPr>
          </a:lstStyle>
          <a:p>
            <a:pPr>
              <a:defRPr/>
            </a:pPr>
            <a:endParaRPr lang="en-US">
              <a:solidFill>
                <a:srgbClr val="696464"/>
              </a:solidFill>
            </a:endParaRPr>
          </a:p>
        </p:txBody>
      </p:sp>
      <p:sp>
        <p:nvSpPr>
          <p:cNvPr id="10" name="Slide Number Placeholder 5"/>
          <p:cNvSpPr>
            <a:spLocks noGrp="1"/>
          </p:cNvSpPr>
          <p:nvPr>
            <p:ph type="sldNum" sz="quarter" idx="11"/>
          </p:nvPr>
        </p:nvSpPr>
        <p:spPr>
          <a:xfrm>
            <a:off x="146050" y="4656535"/>
            <a:ext cx="457200" cy="342900"/>
          </a:xfrm>
        </p:spPr>
        <p:txBody>
          <a:bodyPr/>
          <a:lstStyle>
            <a:lvl1pPr>
              <a:defRPr/>
            </a:lvl1pPr>
          </a:lstStyle>
          <a:p>
            <a:pPr>
              <a:defRPr/>
            </a:pPr>
            <a:fld id="{B3E636C4-D012-4F69-81D8-459522B0B205}" type="slidenum">
              <a:rPr lang="en-US"/>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9" name="Content Placeholder 8"/>
          <p:cNvSpPr>
            <a:spLocks noGrp="1"/>
          </p:cNvSpPr>
          <p:nvPr>
            <p:ph sz="quarter" idx="1"/>
          </p:nvPr>
        </p:nvSpPr>
        <p:spPr>
          <a:xfrm>
            <a:off x="914400" y="1085850"/>
            <a:ext cx="3749040" cy="3429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1" name="Content Placeholder 10"/>
          <p:cNvSpPr>
            <a:spLocks noGrp="1"/>
          </p:cNvSpPr>
          <p:nvPr>
            <p:ph sz="quarter" idx="2"/>
          </p:nvPr>
        </p:nvSpPr>
        <p:spPr>
          <a:xfrm>
            <a:off x="4933950" y="1085850"/>
            <a:ext cx="3749040" cy="34290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6" name="Slide Number Placeholder 22"/>
          <p:cNvSpPr>
            <a:spLocks noGrp="1"/>
          </p:cNvSpPr>
          <p:nvPr>
            <p:ph type="sldNum" sz="quarter" idx="11"/>
          </p:nvPr>
        </p:nvSpPr>
        <p:spPr/>
        <p:txBody>
          <a:bodyPr/>
          <a:lstStyle>
            <a:lvl1pPr>
              <a:defRPr/>
            </a:lvl1pPr>
          </a:lstStyle>
          <a:p>
            <a:pPr>
              <a:defRPr/>
            </a:pPr>
            <a:fld id="{D9FB8032-5CD4-4328-96BC-5E613AAD81B1}"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04787"/>
            <a:ext cx="7772400" cy="523523"/>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14400" y="843525"/>
            <a:ext cx="3733800" cy="547271"/>
          </a:xfrm>
          <a:noFill/>
          <a:ln w="12700" cap="sq" cmpd="sng" algn="ctr">
            <a:noFill/>
            <a:prstDash val="solid"/>
          </a:ln>
        </p:spPr>
        <p:txBody>
          <a:bodyPr anchor="b">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a:r>
              <a:rPr lang="en-US"/>
              <a:t>Click to edit Master text styles</a:t>
            </a:r>
            <a:endParaRPr lang="en-US"/>
          </a:p>
        </p:txBody>
      </p:sp>
      <p:sp>
        <p:nvSpPr>
          <p:cNvPr id="4" name="Text Placeholder 3"/>
          <p:cNvSpPr>
            <a:spLocks noGrp="1"/>
          </p:cNvSpPr>
          <p:nvPr>
            <p:ph type="body" sz="half" idx="3"/>
          </p:nvPr>
        </p:nvSpPr>
        <p:spPr>
          <a:xfrm>
            <a:off x="4953000" y="872329"/>
            <a:ext cx="3733800" cy="518468"/>
          </a:xfrm>
          <a:noFill/>
          <a:ln w="12700" cap="sq" cmpd="sng" algn="ctr">
            <a:noFill/>
            <a:prstDash val="solid"/>
          </a:ln>
        </p:spPr>
        <p:txBody>
          <a:bodyPr anchor="b">
            <a:noAutofit/>
          </a:bodyPr>
          <a:lstStyle>
            <a:lvl1pPr marL="0" indent="0">
              <a:buNone/>
              <a:defRPr sz="1800" b="1">
                <a:solidFill>
                  <a:schemeClr val="accent1"/>
                </a:solidFill>
                <a:latin typeface="+mj-lt"/>
                <a:ea typeface="+mj-ea"/>
                <a:cs typeface="+mj-cs"/>
              </a:defRPr>
            </a:lvl1pPr>
            <a:lvl2pPr>
              <a:buNone/>
              <a:defRPr sz="1500" b="1"/>
            </a:lvl2pPr>
            <a:lvl3pPr>
              <a:buNone/>
              <a:defRPr sz="1350" b="1"/>
            </a:lvl3pPr>
            <a:lvl4pPr>
              <a:buNone/>
              <a:defRPr sz="1200" b="1"/>
            </a:lvl4pPr>
            <a:lvl5pPr>
              <a:buNone/>
              <a:defRPr sz="1200" b="1"/>
            </a:lvl5pPr>
          </a:lstStyle>
          <a:p>
            <a:pPr lvl="0"/>
            <a:r>
              <a:rPr lang="en-US"/>
              <a:t>Click to edit Master text styles</a:t>
            </a:r>
            <a:endParaRPr lang="en-US"/>
          </a:p>
        </p:txBody>
      </p:sp>
      <p:sp>
        <p:nvSpPr>
          <p:cNvPr id="11" name="Content Placeholder 10"/>
          <p:cNvSpPr>
            <a:spLocks noGrp="1"/>
          </p:cNvSpPr>
          <p:nvPr>
            <p:ph sz="half" idx="2"/>
          </p:nvPr>
        </p:nvSpPr>
        <p:spPr>
          <a:xfrm>
            <a:off x="914400" y="1419600"/>
            <a:ext cx="3733800" cy="31809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3" name="Content Placeholder 12"/>
          <p:cNvSpPr>
            <a:spLocks noGrp="1"/>
          </p:cNvSpPr>
          <p:nvPr>
            <p:ph sz="half" idx="4"/>
          </p:nvPr>
        </p:nvSpPr>
        <p:spPr>
          <a:xfrm>
            <a:off x="4953000" y="1419600"/>
            <a:ext cx="3733800" cy="31809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8" name="Slide Number Placeholder 22"/>
          <p:cNvSpPr>
            <a:spLocks noGrp="1"/>
          </p:cNvSpPr>
          <p:nvPr>
            <p:ph type="sldNum" sz="quarter" idx="11"/>
          </p:nvPr>
        </p:nvSpPr>
        <p:spPr/>
        <p:txBody>
          <a:bodyPr/>
          <a:lstStyle>
            <a:lvl1pPr>
              <a:defRPr/>
            </a:lvl1pPr>
          </a:lstStyle>
          <a:p>
            <a:pPr>
              <a:defRPr/>
            </a:pPr>
            <a:fld id="{0C6D2939-9DA1-4DB2-8AB1-2A1A3D1CC6D5}"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4" name="Slide Number Placeholder 22"/>
          <p:cNvSpPr>
            <a:spLocks noGrp="1"/>
          </p:cNvSpPr>
          <p:nvPr>
            <p:ph type="sldNum" sz="quarter" idx="11"/>
          </p:nvPr>
        </p:nvSpPr>
        <p:spPr/>
        <p:txBody>
          <a:bodyPr/>
          <a:lstStyle>
            <a:lvl1pPr>
              <a:defRPr/>
            </a:lvl1pPr>
          </a:lstStyle>
          <a:p>
            <a:pPr>
              <a:defRPr/>
            </a:pPr>
            <a:fld id="{E4A53EDD-1FC3-4FCC-8000-AE68BA40DC83}"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3" name="Slide Number Placeholder 22"/>
          <p:cNvSpPr>
            <a:spLocks noGrp="1"/>
          </p:cNvSpPr>
          <p:nvPr>
            <p:ph type="sldNum" sz="quarter" idx="11"/>
          </p:nvPr>
        </p:nvSpPr>
        <p:spPr/>
        <p:txBody>
          <a:bodyPr/>
          <a:lstStyle>
            <a:lvl1pPr>
              <a:defRPr/>
            </a:lvl1pPr>
          </a:lstStyle>
          <a:p>
            <a:pPr>
              <a:defRPr/>
            </a:pPr>
            <a:fld id="{53D7F83E-215A-4249-81E2-09D0DCEA5BC1}"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9144000" cy="51435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useBgFill="1">
        <p:nvSpPr>
          <p:cNvPr id="6" name="Rounded Rectangle 5"/>
          <p:cNvSpPr/>
          <p:nvPr/>
        </p:nvSpPr>
        <p:spPr>
          <a:xfrm>
            <a:off x="63501" y="52388"/>
            <a:ext cx="9013825" cy="5019675"/>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2" name="Title 1"/>
          <p:cNvSpPr>
            <a:spLocks noGrp="1"/>
          </p:cNvSpPr>
          <p:nvPr>
            <p:ph type="title"/>
          </p:nvPr>
        </p:nvSpPr>
        <p:spPr>
          <a:xfrm>
            <a:off x="914400" y="204787"/>
            <a:ext cx="7772400" cy="523523"/>
          </a:xfrm>
        </p:spPr>
        <p:txBody>
          <a:bodyPr/>
          <a:lstStyle>
            <a:lvl1pPr algn="l">
              <a:buNone/>
              <a:defRPr sz="3000" b="0"/>
            </a:lvl1pPr>
          </a:lstStyle>
          <a:p>
            <a:r>
              <a:rPr lang="en-US"/>
              <a:t>Click to edit Master title style</a:t>
            </a:r>
            <a:endParaRPr lang="en-US" dirty="0"/>
          </a:p>
        </p:txBody>
      </p:sp>
      <p:sp>
        <p:nvSpPr>
          <p:cNvPr id="3" name="Text Placeholder 2"/>
          <p:cNvSpPr>
            <a:spLocks noGrp="1"/>
          </p:cNvSpPr>
          <p:nvPr>
            <p:ph type="body" idx="2"/>
          </p:nvPr>
        </p:nvSpPr>
        <p:spPr>
          <a:xfrm>
            <a:off x="914400" y="814721"/>
            <a:ext cx="1905000" cy="3757279"/>
          </a:xfrm>
        </p:spPr>
        <p:txBody>
          <a:bodyPr/>
          <a:lstStyle>
            <a:lvl1pPr marL="0" indent="0">
              <a:buNone/>
              <a:defRPr sz="1350"/>
            </a:lvl1pPr>
            <a:lvl2pPr>
              <a:buNone/>
              <a:defRPr sz="900"/>
            </a:lvl2pPr>
            <a:lvl3pPr>
              <a:buNone/>
              <a:defRPr sz="750"/>
            </a:lvl3pPr>
            <a:lvl4pPr>
              <a:buNone/>
              <a:defRPr sz="675"/>
            </a:lvl4pPr>
            <a:lvl5pPr>
              <a:buNone/>
              <a:defRPr sz="675"/>
            </a:lvl5pPr>
          </a:lstStyle>
          <a:p>
            <a:pPr lvl="0"/>
            <a:r>
              <a:rPr lang="en-US"/>
              <a:t>Click to edit Master text styles</a:t>
            </a:r>
            <a:endParaRPr lang="en-US"/>
          </a:p>
        </p:txBody>
      </p:sp>
      <p:sp>
        <p:nvSpPr>
          <p:cNvPr id="11" name="Content Placeholder 10"/>
          <p:cNvSpPr>
            <a:spLocks noGrp="1"/>
          </p:cNvSpPr>
          <p:nvPr>
            <p:ph sz="quarter" idx="1"/>
          </p:nvPr>
        </p:nvSpPr>
        <p:spPr>
          <a:xfrm>
            <a:off x="2971800" y="814721"/>
            <a:ext cx="5715000" cy="375727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Footer Placeholder 5"/>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8" name="Slide Number Placeholder 6"/>
          <p:cNvSpPr>
            <a:spLocks noGrp="1"/>
          </p:cNvSpPr>
          <p:nvPr>
            <p:ph type="sldNum" sz="quarter" idx="11"/>
          </p:nvPr>
        </p:nvSpPr>
        <p:spPr/>
        <p:txBody>
          <a:bodyPr/>
          <a:lstStyle>
            <a:lvl1pPr>
              <a:defRPr/>
            </a:lvl1pPr>
          </a:lstStyle>
          <a:p>
            <a:pPr>
              <a:defRPr/>
            </a:pPr>
            <a:fld id="{14A81DE2-D808-412D-9C5E-8E914F30D7CA}"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p:cNvSpPr/>
          <p:nvPr/>
        </p:nvSpPr>
        <p:spPr>
          <a:xfrm flipV="1">
            <a:off x="68264" y="3512344"/>
            <a:ext cx="9007475" cy="69056"/>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6" name="Rectangle 5"/>
          <p:cNvSpPr/>
          <p:nvPr/>
        </p:nvSpPr>
        <p:spPr>
          <a:xfrm>
            <a:off x="68264" y="3487341"/>
            <a:ext cx="9007475" cy="34528"/>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7" name="Rectangle 6"/>
          <p:cNvSpPr/>
          <p:nvPr/>
        </p:nvSpPr>
        <p:spPr>
          <a:xfrm>
            <a:off x="68264" y="3580210"/>
            <a:ext cx="9007475" cy="35719"/>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2" name="Title 1"/>
          <p:cNvSpPr>
            <a:spLocks noGrp="1"/>
          </p:cNvSpPr>
          <p:nvPr>
            <p:ph type="title"/>
          </p:nvPr>
        </p:nvSpPr>
        <p:spPr>
          <a:xfrm>
            <a:off x="914400" y="3675413"/>
            <a:ext cx="7315200" cy="391716"/>
          </a:xfrm>
        </p:spPr>
        <p:txBody>
          <a:bodyPr anchor="ctr">
            <a:noAutofit/>
          </a:bodyPr>
          <a:lstStyle>
            <a:lvl1pPr algn="l">
              <a:buNone/>
              <a:defRPr sz="2100" b="0"/>
            </a:lvl1pPr>
          </a:lstStyle>
          <a:p>
            <a:r>
              <a:rPr lang="en-US"/>
              <a:t>Click to edit Master title style</a:t>
            </a:r>
            <a:endParaRPr lang="en-US"/>
          </a:p>
        </p:txBody>
      </p:sp>
      <p:sp>
        <p:nvSpPr>
          <p:cNvPr id="4" name="Text Placeholder 3"/>
          <p:cNvSpPr>
            <a:spLocks noGrp="1"/>
          </p:cNvSpPr>
          <p:nvPr>
            <p:ph type="body" sz="half" idx="2"/>
          </p:nvPr>
        </p:nvSpPr>
        <p:spPr>
          <a:xfrm>
            <a:off x="914400" y="4084369"/>
            <a:ext cx="7315200" cy="514350"/>
          </a:xfrm>
        </p:spPr>
        <p:txBody>
          <a:bodyPr/>
          <a:lstStyle>
            <a:lvl1pPr marL="0" indent="0">
              <a:buFontTx/>
              <a:buNone/>
              <a:defRPr sz="1200"/>
            </a:lvl1pPr>
            <a:lvl2pPr>
              <a:defRPr sz="900"/>
            </a:lvl2pPr>
            <a:lvl3pPr>
              <a:defRPr sz="750"/>
            </a:lvl3pPr>
            <a:lvl4pPr>
              <a:defRPr sz="675"/>
            </a:lvl4pPr>
            <a:lvl5pPr>
              <a:defRPr sz="675"/>
            </a:lvl5pPr>
          </a:lstStyle>
          <a:p>
            <a:pPr lvl="0"/>
            <a:r>
              <a:rPr lang="en-US"/>
              <a:t>Click to edit Master text styles</a:t>
            </a:r>
            <a:endParaRPr lang="en-US"/>
          </a:p>
        </p:txBody>
      </p:sp>
      <p:sp>
        <p:nvSpPr>
          <p:cNvPr id="3" name="Picture Placeholder 2"/>
          <p:cNvSpPr>
            <a:spLocks noGrp="1"/>
          </p:cNvSpPr>
          <p:nvPr>
            <p:ph type="pic" idx="1"/>
          </p:nvPr>
        </p:nvSpPr>
        <p:spPr>
          <a:xfrm>
            <a:off x="68309" y="50007"/>
            <a:ext cx="9001873" cy="3436144"/>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2400"/>
            </a:lvl1pPr>
          </a:lstStyle>
          <a:p>
            <a:pPr lvl="0"/>
            <a:r>
              <a:rPr lang="en-US" noProof="0"/>
              <a:t>Click icon to add picture</a:t>
            </a:r>
            <a:endParaRPr lang="en-US" noProof="0" dirty="0"/>
          </a:p>
        </p:txBody>
      </p:sp>
      <p:sp>
        <p:nvSpPr>
          <p:cNvPr id="8" name="Footer Placeholder 5"/>
          <p:cNvSpPr>
            <a:spLocks noGrp="1"/>
          </p:cNvSpPr>
          <p:nvPr>
            <p:ph type="ftr" sz="quarter" idx="10"/>
          </p:nvPr>
        </p:nvSpPr>
        <p:spPr>
          <a:xfrm>
            <a:off x="914400" y="4629150"/>
            <a:ext cx="3886200" cy="342900"/>
          </a:xfrm>
        </p:spPr>
        <p:txBody>
          <a:bodyPr/>
          <a:lstStyle>
            <a:lvl1pPr>
              <a:defRPr/>
            </a:lvl1pPr>
          </a:lstStyle>
          <a:p>
            <a:pPr>
              <a:defRPr/>
            </a:pPr>
            <a:endParaRPr lang="en-US">
              <a:solidFill>
                <a:srgbClr val="696464"/>
              </a:solidFill>
            </a:endParaRPr>
          </a:p>
        </p:txBody>
      </p:sp>
      <p:sp>
        <p:nvSpPr>
          <p:cNvPr id="9" name="Slide Number Placeholder 6"/>
          <p:cNvSpPr>
            <a:spLocks noGrp="1"/>
          </p:cNvSpPr>
          <p:nvPr>
            <p:ph type="sldNum" sz="quarter" idx="11"/>
          </p:nvPr>
        </p:nvSpPr>
        <p:spPr>
          <a:xfrm>
            <a:off x="146050" y="4656535"/>
            <a:ext cx="457200" cy="342900"/>
          </a:xfrm>
        </p:spPr>
        <p:txBody>
          <a:bodyPr/>
          <a:lstStyle>
            <a:lvl1pPr>
              <a:defRPr/>
            </a:lvl1pPr>
          </a:lstStyle>
          <a:p>
            <a:pPr>
              <a:defRPr/>
            </a:pPr>
            <a:fld id="{3F78656C-E49E-4E74-8A9F-6234FD9E2030}"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5" name="Slide Number Placeholder 22"/>
          <p:cNvSpPr>
            <a:spLocks noGrp="1"/>
          </p:cNvSpPr>
          <p:nvPr>
            <p:ph type="sldNum" sz="quarter" idx="11"/>
          </p:nvPr>
        </p:nvSpPr>
        <p:spPr/>
        <p:txBody>
          <a:bodyPr/>
          <a:lstStyle>
            <a:lvl1pPr>
              <a:defRPr/>
            </a:lvl1pPr>
          </a:lstStyle>
          <a:p>
            <a:pPr>
              <a:defRPr/>
            </a:pPr>
            <a:fld id="{688A6736-09FA-4137-8E12-9C30E895EFA3}"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1168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914400" y="205981"/>
            <a:ext cx="55626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Footer Placeholder 2"/>
          <p:cNvSpPr>
            <a:spLocks noGrp="1"/>
          </p:cNvSpPr>
          <p:nvPr>
            <p:ph type="ftr" sz="quarter" idx="10"/>
          </p:nvPr>
        </p:nvSpPr>
        <p:spPr/>
        <p:txBody>
          <a:bodyPr/>
          <a:lstStyle>
            <a:lvl1pPr>
              <a:defRPr/>
            </a:lvl1pPr>
          </a:lstStyle>
          <a:p>
            <a:pPr>
              <a:defRPr/>
            </a:pPr>
            <a:endParaRPr lang="en-US">
              <a:solidFill>
                <a:srgbClr val="696464"/>
              </a:solidFill>
            </a:endParaRPr>
          </a:p>
        </p:txBody>
      </p:sp>
      <p:sp>
        <p:nvSpPr>
          <p:cNvPr id="5" name="Slide Number Placeholder 22"/>
          <p:cNvSpPr>
            <a:spLocks noGrp="1"/>
          </p:cNvSpPr>
          <p:nvPr>
            <p:ph type="sldNum" sz="quarter" idx="11"/>
          </p:nvPr>
        </p:nvSpPr>
        <p:spPr/>
        <p:txBody>
          <a:bodyPr/>
          <a:lstStyle>
            <a:lvl1pPr>
              <a:defRPr/>
            </a:lvl1pPr>
          </a:lstStyle>
          <a:p>
            <a:pPr>
              <a:defRPr/>
            </a:pPr>
            <a:fld id="{D8595B79-203A-4771-B52F-27B1A01B422F}"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14313"/>
            <a:ext cx="7772400" cy="542801"/>
          </a:xfrm>
        </p:spPr>
        <p:txBody>
          <a:bodyPr/>
          <a:lstStyle/>
          <a:p>
            <a:r>
              <a:rPr lang="en-US"/>
              <a:t>Click to edit Master title style</a:t>
            </a:r>
            <a:endParaRPr lang="en-US" dirty="0"/>
          </a:p>
        </p:txBody>
      </p:sp>
      <p:sp>
        <p:nvSpPr>
          <p:cNvPr id="3" name="Text Placeholder 2"/>
          <p:cNvSpPr>
            <a:spLocks noGrp="1"/>
          </p:cNvSpPr>
          <p:nvPr>
            <p:ph type="body" sz="half" idx="1"/>
          </p:nvPr>
        </p:nvSpPr>
        <p:spPr>
          <a:xfrm>
            <a:off x="685800" y="814722"/>
            <a:ext cx="3810000" cy="351439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48200" y="814722"/>
            <a:ext cx="3810000" cy="3514391"/>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Slide Number Placeholder 5"/>
          <p:cNvSpPr>
            <a:spLocks noGrp="1"/>
          </p:cNvSpPr>
          <p:nvPr>
            <p:ph type="sldNum" sz="quarter" idx="10"/>
          </p:nvPr>
        </p:nvSpPr>
        <p:spPr>
          <a:xfrm>
            <a:off x="152400" y="4686300"/>
            <a:ext cx="457200" cy="342900"/>
          </a:xfrm>
        </p:spPr>
        <p:txBody>
          <a:bodyPr/>
          <a:lstStyle>
            <a:lvl1pPr>
              <a:defRPr/>
            </a:lvl1pPr>
          </a:lstStyle>
          <a:p>
            <a:pPr>
              <a:defRPr/>
            </a:pPr>
            <a:fld id="{526BE94D-282F-4E94-AE77-E64E10400071}" type="slidenum">
              <a:rPr lang="en-US"/>
            </a:fld>
            <a:endParaRPr lang="en-US"/>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85800" y="214313"/>
            <a:ext cx="7772400" cy="485194"/>
          </a:xfrm>
        </p:spPr>
        <p:txBody>
          <a:bodyPr/>
          <a:lstStyle/>
          <a:p>
            <a:r>
              <a:rPr lang="en-US"/>
              <a:t>Click to edit Master title style</a:t>
            </a:r>
            <a:endParaRPr lang="en-US" dirty="0"/>
          </a:p>
        </p:txBody>
      </p:sp>
      <p:sp>
        <p:nvSpPr>
          <p:cNvPr id="3" name="Content Placeholder 2"/>
          <p:cNvSpPr>
            <a:spLocks noGrp="1"/>
          </p:cNvSpPr>
          <p:nvPr>
            <p:ph sz="quarter" idx="1"/>
          </p:nvPr>
        </p:nvSpPr>
        <p:spPr>
          <a:xfrm>
            <a:off x="685800" y="1243013"/>
            <a:ext cx="3810000" cy="1485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quarter" idx="2"/>
          </p:nvPr>
        </p:nvSpPr>
        <p:spPr>
          <a:xfrm>
            <a:off x="4648200" y="1243013"/>
            <a:ext cx="3810000" cy="1485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Content Placeholder 4"/>
          <p:cNvSpPr>
            <a:spLocks noGrp="1"/>
          </p:cNvSpPr>
          <p:nvPr>
            <p:ph sz="quarter" idx="3"/>
          </p:nvPr>
        </p:nvSpPr>
        <p:spPr>
          <a:xfrm>
            <a:off x="685800" y="2843213"/>
            <a:ext cx="3810000" cy="1485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Content Placeholder 5"/>
          <p:cNvSpPr>
            <a:spLocks noGrp="1"/>
          </p:cNvSpPr>
          <p:nvPr>
            <p:ph sz="quarter" idx="4"/>
          </p:nvPr>
        </p:nvSpPr>
        <p:spPr>
          <a:xfrm>
            <a:off x="4648200" y="2843213"/>
            <a:ext cx="3810000" cy="148590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Slide Number Placeholder 7"/>
          <p:cNvSpPr>
            <a:spLocks noGrp="1"/>
          </p:cNvSpPr>
          <p:nvPr>
            <p:ph type="sldNum" sz="quarter" idx="10"/>
          </p:nvPr>
        </p:nvSpPr>
        <p:spPr>
          <a:xfrm>
            <a:off x="152400" y="4686300"/>
            <a:ext cx="457200" cy="342900"/>
          </a:xfrm>
        </p:spPr>
        <p:txBody>
          <a:bodyPr/>
          <a:lstStyle>
            <a:lvl1pPr>
              <a:defRPr/>
            </a:lvl1pPr>
          </a:lstStyle>
          <a:p>
            <a:pPr>
              <a:defRPr/>
            </a:pPr>
            <a:fld id="{6F02CC12-A990-4DB5-BA08-32B2A2AB174C}" type="slidenum">
              <a:rPr lang="en-US"/>
            </a:fld>
            <a:endParaRPr lang="en-US"/>
          </a:p>
        </p:txBody>
      </p:sp>
    </p:spTree>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Bullet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2" name="Body Level One…"/>
          <p:cNvSpPr txBox="1">
            <a:spLocks noGrp="1"/>
          </p:cNvSpPr>
          <p:nvPr>
            <p:ph type="body" idx="1" hasCustomPrompt="1"/>
          </p:nvPr>
        </p:nvSpPr>
        <p:spPr>
          <a:xfrm>
            <a:off x="533400" y="390525"/>
            <a:ext cx="8064500" cy="4371975"/>
          </a:xfrm>
          <a:prstGeom prst="rect">
            <a:avLst/>
          </a:prstGeom>
          <a:effectLst>
            <a:outerShdw blurRad="12700" dist="38100" dir="2700000" rotWithShape="0">
              <a:srgbClr val="FFFFFF">
                <a:alpha val="90000"/>
              </a:srgbClr>
            </a:outerShdw>
          </a:effectLst>
        </p:spPr>
        <p:txBody>
          <a:bodyPr lIns="38100" tIns="38100" rIns="38100" bIns="38100"/>
          <a:lstStyle>
            <a:lvl1pPr marL="523875" indent="-333375">
              <a:buSzPct val="35000"/>
              <a:buFont typeface="Lucida Grande"/>
              <a:buBlip>
                <a:blip r:embed="rId3"/>
              </a:buBlip>
              <a:defRPr sz="2100">
                <a:solidFill>
                  <a:srgbClr val="6C6963"/>
                </a:solidFill>
                <a:latin typeface="+mj-lt"/>
                <a:ea typeface="+mj-ea"/>
                <a:cs typeface="+mj-cs"/>
                <a:sym typeface="Baskerville"/>
              </a:defRPr>
            </a:lvl1pPr>
            <a:lvl2pPr marL="781050" indent="-333375">
              <a:buSzPct val="35000"/>
              <a:buFont typeface="Lucida Grande"/>
              <a:buBlip>
                <a:blip r:embed="rId3"/>
              </a:buBlip>
              <a:defRPr sz="2100">
                <a:solidFill>
                  <a:srgbClr val="6C6963"/>
                </a:solidFill>
                <a:latin typeface="+mj-lt"/>
                <a:ea typeface="+mj-ea"/>
                <a:cs typeface="+mj-cs"/>
                <a:sym typeface="Baskerville"/>
              </a:defRPr>
            </a:lvl2pPr>
            <a:lvl3pPr marL="1038225" indent="-333375">
              <a:buSzPct val="35000"/>
              <a:buFont typeface="Lucida Grande"/>
              <a:buBlip>
                <a:blip r:embed="rId3"/>
              </a:buBlip>
              <a:defRPr sz="2100">
                <a:solidFill>
                  <a:srgbClr val="6C6963"/>
                </a:solidFill>
                <a:latin typeface="+mj-lt"/>
                <a:ea typeface="+mj-ea"/>
                <a:cs typeface="+mj-cs"/>
                <a:sym typeface="Baskerville"/>
              </a:defRPr>
            </a:lvl3pPr>
            <a:lvl4pPr marL="1295400" indent="-333375">
              <a:buSzPct val="35000"/>
              <a:buFont typeface="Lucida Grande"/>
              <a:buBlip>
                <a:blip r:embed="rId3"/>
              </a:buBlip>
              <a:defRPr sz="2100">
                <a:solidFill>
                  <a:srgbClr val="6C6963"/>
                </a:solidFill>
                <a:latin typeface="+mj-lt"/>
                <a:ea typeface="+mj-ea"/>
                <a:cs typeface="+mj-cs"/>
                <a:sym typeface="Baskerville"/>
              </a:defRPr>
            </a:lvl4pPr>
            <a:lvl5pPr marL="1552575" indent="-333375">
              <a:buSzPct val="35000"/>
              <a:buFont typeface="Lucida Grande"/>
              <a:buBlip>
                <a:blip r:embed="rId3"/>
              </a:buBlip>
              <a:defRPr sz="2100">
                <a:solidFill>
                  <a:srgbClr val="6C6963"/>
                </a:solidFill>
                <a:latin typeface="+mj-lt"/>
                <a:ea typeface="+mj-ea"/>
                <a:cs typeface="+mj-cs"/>
                <a:sym typeface="Baskerville"/>
              </a:defRPr>
            </a:lvl5pPr>
          </a:lstStyle>
          <a:p>
            <a:r>
              <a:t>Body Level One</a:t>
            </a:r>
          </a:p>
          <a:p>
            <a:pPr lvl="1"/>
            <a:r>
              <a:t>Body Level Two</a:t>
            </a:r>
          </a:p>
          <a:p>
            <a:pPr lvl="2"/>
            <a:r>
              <a:t>Body Level Three</a:t>
            </a:r>
          </a:p>
          <a:p>
            <a:pPr lvl="3"/>
            <a:r>
              <a:t>Body Level Four</a:t>
            </a:r>
          </a:p>
          <a:p>
            <a:pPr lvl="4"/>
            <a:r>
              <a:t>Body Level Five</a:t>
            </a:r>
          </a:p>
        </p:txBody>
      </p:sp>
      <p:sp>
        <p:nvSpPr>
          <p:cNvPr id="103" name="Slide Number"/>
          <p:cNvSpPr txBox="1">
            <a:spLocks noGrp="1"/>
          </p:cNvSpPr>
          <p:nvPr>
            <p:ph type="sldNum" sz="quarter" idx="2"/>
          </p:nvPr>
        </p:nvSpPr>
        <p:spPr>
          <a:xfrm>
            <a:off x="4445000" y="4762500"/>
            <a:ext cx="241300" cy="190500"/>
          </a:xfrm>
          <a:prstGeom prst="rect">
            <a:avLst/>
          </a:prstGeom>
          <a:effectLst>
            <a:outerShdw blurRad="12700" dist="38100" dir="2700000" rotWithShape="0">
              <a:srgbClr val="FFFFFF">
                <a:alpha val="90000"/>
              </a:srgbClr>
            </a:outerShdw>
          </a:effectLst>
        </p:spPr>
        <p:txBody>
          <a:bodyPr/>
          <a:lstStyle>
            <a:lvl1pPr>
              <a:defRPr>
                <a:solidFill>
                  <a:srgbClr val="6C6963"/>
                </a:solidFill>
                <a:latin typeface="+mj-lt"/>
                <a:ea typeface="+mj-ea"/>
                <a:cs typeface="+mj-cs"/>
                <a:sym typeface="Baskerville"/>
              </a:defRPr>
            </a:lvl1p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slideLayout" Target="../slideLayouts/slideLayout25.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p:cNvSpPr/>
          <p:nvPr/>
        </p:nvSpPr>
        <p:spPr>
          <a:xfrm>
            <a:off x="0" y="0"/>
            <a:ext cx="9144000" cy="51435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useBgFill="1">
        <p:nvSpPr>
          <p:cNvPr id="8" name="Rounded Rectangle 7"/>
          <p:cNvSpPr/>
          <p:nvPr/>
        </p:nvSpPr>
        <p:spPr>
          <a:xfrm>
            <a:off x="63501" y="52388"/>
            <a:ext cx="9013825" cy="5019675"/>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defTabSz="685800" fontAlgn="base">
              <a:spcBef>
                <a:spcPct val="0"/>
              </a:spcBef>
              <a:spcAft>
                <a:spcPct val="0"/>
              </a:spcAft>
              <a:buClrTx/>
              <a:buFontTx/>
              <a:buNone/>
              <a:defRPr/>
            </a:pPr>
            <a:endParaRPr lang="en-US" sz="1200" kern="1200">
              <a:solidFill>
                <a:prstClr val="white"/>
              </a:solidFill>
              <a:sym typeface="Helvetica"/>
            </a:endParaRPr>
          </a:p>
        </p:txBody>
      </p:sp>
      <p:sp>
        <p:nvSpPr>
          <p:cNvPr id="1028" name="Title Placeholder 21"/>
          <p:cNvSpPr>
            <a:spLocks noGrp="1"/>
          </p:cNvSpPr>
          <p:nvPr>
            <p:ph type="title"/>
          </p:nvPr>
        </p:nvSpPr>
        <p:spPr bwMode="auto">
          <a:xfrm>
            <a:off x="914400" y="205978"/>
            <a:ext cx="7772400" cy="551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lstStyle/>
          <a:p>
            <a:pPr lvl="0"/>
            <a:r>
              <a:rPr lang="en-US" altLang="en-US"/>
              <a:t>Click to edit Master title style</a:t>
            </a:r>
            <a:endParaRPr lang="en-US" altLang="en-US"/>
          </a:p>
        </p:txBody>
      </p:sp>
      <p:sp>
        <p:nvSpPr>
          <p:cNvPr id="1029" name="Text Placeholder 12"/>
          <p:cNvSpPr>
            <a:spLocks noGrp="1"/>
          </p:cNvSpPr>
          <p:nvPr>
            <p:ph type="body" idx="1"/>
          </p:nvPr>
        </p:nvSpPr>
        <p:spPr bwMode="auto">
          <a:xfrm>
            <a:off x="914400" y="842963"/>
            <a:ext cx="7772400" cy="3671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US" altLang="en-US"/>
          </a:p>
        </p:txBody>
      </p:sp>
      <p:sp>
        <p:nvSpPr>
          <p:cNvPr id="3" name="Footer Placeholder 2"/>
          <p:cNvSpPr>
            <a:spLocks noGrp="1"/>
          </p:cNvSpPr>
          <p:nvPr>
            <p:ph type="ftr" sz="quarter" idx="3"/>
          </p:nvPr>
        </p:nvSpPr>
        <p:spPr>
          <a:xfrm>
            <a:off x="914400" y="4629150"/>
            <a:ext cx="1066800" cy="342900"/>
          </a:xfrm>
          <a:prstGeom prst="rect">
            <a:avLst/>
          </a:prstGeom>
        </p:spPr>
        <p:txBody>
          <a:bodyPr anchor="ctr" anchorCtr="0"/>
          <a:lstStyle>
            <a:lvl1pPr eaLnBrk="1" latinLnBrk="0" hangingPunct="1">
              <a:defRPr kumimoji="0" sz="1050">
                <a:solidFill>
                  <a:schemeClr val="tx2"/>
                </a:solidFill>
              </a:defRPr>
            </a:lvl1pPr>
          </a:lstStyle>
          <a:p>
            <a:pPr defTabSz="685800" fontAlgn="base">
              <a:spcBef>
                <a:spcPct val="0"/>
              </a:spcBef>
              <a:spcAft>
                <a:spcPct val="0"/>
              </a:spcAft>
              <a:buClrTx/>
              <a:defRPr/>
            </a:pPr>
            <a:endParaRPr lang="en-US" kern="1200">
              <a:solidFill>
                <a:srgbClr val="696464"/>
              </a:solidFill>
              <a:latin typeface="Times New Roman" panose="02020603050405020304" pitchFamily="18" charset="0"/>
              <a:cs typeface="Helvetica"/>
              <a:sym typeface="Helvetica"/>
            </a:endParaRPr>
          </a:p>
        </p:txBody>
      </p:sp>
      <p:sp>
        <p:nvSpPr>
          <p:cNvPr id="23" name="Slide Number Placeholder 22"/>
          <p:cNvSpPr>
            <a:spLocks noGrp="1"/>
          </p:cNvSpPr>
          <p:nvPr>
            <p:ph type="sldNum" sz="quarter" idx="4"/>
          </p:nvPr>
        </p:nvSpPr>
        <p:spPr>
          <a:xfrm>
            <a:off x="146050" y="4657725"/>
            <a:ext cx="457200" cy="342900"/>
          </a:xfrm>
          <a:prstGeom prst="ellipse">
            <a:avLst/>
          </a:prstGeom>
          <a:solidFill>
            <a:schemeClr val="accent1"/>
          </a:solidFill>
        </p:spPr>
        <p:txBody>
          <a:bodyPr wrap="none" lIns="0" tIns="0" rIns="0" bIns="0" anchor="ctr" anchorCtr="1">
            <a:noAutofit/>
          </a:bodyPr>
          <a:lstStyle>
            <a:lvl1pPr algn="ctr" eaLnBrk="1" latinLnBrk="0" hangingPunct="1">
              <a:defRPr kumimoji="0" sz="1050">
                <a:solidFill>
                  <a:srgbClr val="FFFFFF"/>
                </a:solidFill>
                <a:latin typeface="+mj-lt"/>
                <a:ea typeface="+mj-ea"/>
                <a:cs typeface="+mj-cs"/>
              </a:defRPr>
            </a:lvl1pPr>
          </a:lstStyle>
          <a:p>
            <a:pPr defTabSz="685800" fontAlgn="base">
              <a:spcBef>
                <a:spcPct val="0"/>
              </a:spcBef>
              <a:spcAft>
                <a:spcPct val="0"/>
              </a:spcAft>
              <a:buClrTx/>
              <a:defRPr/>
            </a:pPr>
            <a:fld id="{329AE4DB-E10B-4A05-8560-B7022E6BE15D}" type="slidenum">
              <a:rPr lang="en-US" kern="1200" smtClean="0">
                <a:sym typeface="Helvetica"/>
              </a:rPr>
            </a:fld>
            <a:endParaRPr lang="en-US" kern="1200">
              <a:sym typeface="Helvetica"/>
            </a:endParaRPr>
          </a:p>
        </p:txBody>
      </p:sp>
      <p:sp>
        <p:nvSpPr>
          <p:cNvPr id="1032" name="Rectangle 35"/>
          <p:cNvSpPr>
            <a:spLocks noChangeArrowheads="1"/>
          </p:cNvSpPr>
          <p:nvPr/>
        </p:nvSpPr>
        <p:spPr bwMode="auto">
          <a:xfrm>
            <a:off x="1676400" y="4829175"/>
            <a:ext cx="55816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defTabSz="685800" fontAlgn="base">
              <a:spcBef>
                <a:spcPct val="0"/>
              </a:spcBef>
              <a:spcAft>
                <a:spcPct val="0"/>
              </a:spcAft>
              <a:buClrTx/>
              <a:buFontTx/>
              <a:buNone/>
              <a:defRPr/>
            </a:pPr>
            <a:r>
              <a:rPr lang="en-US" altLang="en-US" sz="750" kern="1200">
                <a:solidFill>
                  <a:prstClr val="black"/>
                </a:solidFill>
                <a:latin typeface="Arial" panose="020B0604020202020204" pitchFamily="34" charset="0"/>
                <a:cs typeface="Helvetica"/>
                <a:sym typeface="Helvetica"/>
              </a:rPr>
              <a:t>(c) Pearson Education, Inc. &amp; Paul Fodor (CS Stony Brook)</a:t>
            </a:r>
            <a:endParaRPr lang="en-US" altLang="en-US" sz="750" kern="1200">
              <a:solidFill>
                <a:prstClr val="black"/>
              </a:solidFill>
              <a:latin typeface="Arial" panose="020B0604020202020204" pitchFamily="34" charset="0"/>
              <a:cs typeface="Helvetica"/>
              <a:sym typeface="Helvetica"/>
            </a:endParaRPr>
          </a:p>
        </p:txBody>
      </p:sp>
      <p:sp>
        <p:nvSpPr>
          <p:cNvPr id="1033" name="Rectangle 35"/>
          <p:cNvSpPr>
            <a:spLocks noChangeArrowheads="1"/>
          </p:cNvSpPr>
          <p:nvPr userDrawn="1"/>
        </p:nvSpPr>
        <p:spPr bwMode="auto">
          <a:xfrm>
            <a:off x="1676400" y="4829175"/>
            <a:ext cx="558165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algn="ctr" defTabSz="685800" fontAlgn="base">
              <a:spcBef>
                <a:spcPct val="0"/>
              </a:spcBef>
              <a:spcAft>
                <a:spcPct val="0"/>
              </a:spcAft>
              <a:buClrTx/>
              <a:buFontTx/>
              <a:buNone/>
              <a:defRPr/>
            </a:pPr>
            <a:endParaRPr lang="en-US" altLang="en-US" sz="750" kern="1200">
              <a:solidFill>
                <a:prstClr val="black"/>
              </a:solidFill>
              <a:latin typeface="Arial" panose="020B0604020202020204" pitchFamily="34" charset="0"/>
              <a:cs typeface="Helvetica"/>
              <a:sym typeface="Helvetica"/>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hf hdr="0" ftr="0" dt="0"/>
  <p:txStyles>
    <p:titleStyle>
      <a:lvl1pPr algn="l" rtl="0" eaLnBrk="0" fontAlgn="base" hangingPunct="0">
        <a:spcBef>
          <a:spcPct val="0"/>
        </a:spcBef>
        <a:spcAft>
          <a:spcPct val="0"/>
        </a:spcAft>
        <a:defRPr sz="3000" kern="1200">
          <a:solidFill>
            <a:schemeClr val="tx2"/>
          </a:solidFill>
          <a:latin typeface="+mj-lt"/>
          <a:ea typeface="+mj-ea"/>
          <a:cs typeface="+mj-cs"/>
        </a:defRPr>
      </a:lvl1pPr>
      <a:lvl2pPr algn="l" rtl="0" eaLnBrk="0" fontAlgn="base" hangingPunct="0">
        <a:spcBef>
          <a:spcPct val="0"/>
        </a:spcBef>
        <a:spcAft>
          <a:spcPct val="0"/>
        </a:spcAft>
        <a:defRPr sz="3000">
          <a:solidFill>
            <a:schemeClr val="tx2"/>
          </a:solidFill>
          <a:latin typeface="Franklin Gothic Book" panose="020B0503020102020204" pitchFamily="34" charset="0"/>
        </a:defRPr>
      </a:lvl2pPr>
      <a:lvl3pPr algn="l" rtl="0" eaLnBrk="0" fontAlgn="base" hangingPunct="0">
        <a:spcBef>
          <a:spcPct val="0"/>
        </a:spcBef>
        <a:spcAft>
          <a:spcPct val="0"/>
        </a:spcAft>
        <a:defRPr sz="3000">
          <a:solidFill>
            <a:schemeClr val="tx2"/>
          </a:solidFill>
          <a:latin typeface="Franklin Gothic Book" panose="020B0503020102020204" pitchFamily="34" charset="0"/>
        </a:defRPr>
      </a:lvl3pPr>
      <a:lvl4pPr algn="l" rtl="0" eaLnBrk="0" fontAlgn="base" hangingPunct="0">
        <a:spcBef>
          <a:spcPct val="0"/>
        </a:spcBef>
        <a:spcAft>
          <a:spcPct val="0"/>
        </a:spcAft>
        <a:defRPr sz="3000">
          <a:solidFill>
            <a:schemeClr val="tx2"/>
          </a:solidFill>
          <a:latin typeface="Franklin Gothic Book" panose="020B0503020102020204" pitchFamily="34" charset="0"/>
        </a:defRPr>
      </a:lvl4pPr>
      <a:lvl5pPr algn="l" rtl="0" eaLnBrk="0" fontAlgn="base" hangingPunct="0">
        <a:spcBef>
          <a:spcPct val="0"/>
        </a:spcBef>
        <a:spcAft>
          <a:spcPct val="0"/>
        </a:spcAft>
        <a:defRPr sz="3000">
          <a:solidFill>
            <a:schemeClr val="tx2"/>
          </a:solidFill>
          <a:latin typeface="Franklin Gothic Book" panose="020B0503020102020204" pitchFamily="34" charset="0"/>
        </a:defRPr>
      </a:lvl5pPr>
      <a:lvl6pPr marL="342900" algn="l" rtl="0" fontAlgn="base">
        <a:spcBef>
          <a:spcPct val="0"/>
        </a:spcBef>
        <a:spcAft>
          <a:spcPct val="0"/>
        </a:spcAft>
        <a:defRPr sz="3000">
          <a:solidFill>
            <a:schemeClr val="tx2"/>
          </a:solidFill>
          <a:latin typeface="Franklin Gothic Book" panose="020B0503020102020204" pitchFamily="34" charset="0"/>
        </a:defRPr>
      </a:lvl6pPr>
      <a:lvl7pPr marL="685800" algn="l" rtl="0" fontAlgn="base">
        <a:spcBef>
          <a:spcPct val="0"/>
        </a:spcBef>
        <a:spcAft>
          <a:spcPct val="0"/>
        </a:spcAft>
        <a:defRPr sz="3000">
          <a:solidFill>
            <a:schemeClr val="tx2"/>
          </a:solidFill>
          <a:latin typeface="Franklin Gothic Book" panose="020B0503020102020204" pitchFamily="34" charset="0"/>
        </a:defRPr>
      </a:lvl7pPr>
      <a:lvl8pPr marL="1028700" algn="l" rtl="0" fontAlgn="base">
        <a:spcBef>
          <a:spcPct val="0"/>
        </a:spcBef>
        <a:spcAft>
          <a:spcPct val="0"/>
        </a:spcAft>
        <a:defRPr sz="3000">
          <a:solidFill>
            <a:schemeClr val="tx2"/>
          </a:solidFill>
          <a:latin typeface="Franklin Gothic Book" panose="020B0503020102020204" pitchFamily="34" charset="0"/>
        </a:defRPr>
      </a:lvl8pPr>
      <a:lvl9pPr marL="1371600" algn="l" rtl="0" fontAlgn="base">
        <a:spcBef>
          <a:spcPct val="0"/>
        </a:spcBef>
        <a:spcAft>
          <a:spcPct val="0"/>
        </a:spcAft>
        <a:defRPr sz="3000">
          <a:solidFill>
            <a:schemeClr val="tx2"/>
          </a:solidFill>
          <a:latin typeface="Franklin Gothic Book" panose="020B0503020102020204" pitchFamily="34" charset="0"/>
        </a:defRPr>
      </a:lvl9pPr>
    </p:titleStyle>
    <p:bodyStyle>
      <a:lvl1pPr marL="204470" indent="-204470" algn="l" rtl="0" eaLnBrk="0" fontAlgn="base" hangingPunct="0">
        <a:spcBef>
          <a:spcPts val="430"/>
        </a:spcBef>
        <a:spcAft>
          <a:spcPct val="0"/>
        </a:spcAft>
        <a:buClr>
          <a:schemeClr val="accent1"/>
        </a:buClr>
        <a:buSzPct val="85000"/>
        <a:buFont typeface="Wingdings 2" panose="05020102010507070707" pitchFamily="18" charset="2"/>
        <a:buChar char=""/>
        <a:defRPr sz="1950" kern="1200">
          <a:solidFill>
            <a:schemeClr val="tx1"/>
          </a:solidFill>
          <a:latin typeface="+mn-lt"/>
          <a:ea typeface="+mn-ea"/>
          <a:cs typeface="+mn-cs"/>
        </a:defRPr>
      </a:lvl1pPr>
      <a:lvl2pPr marL="410845" indent="-171450" algn="l" rtl="0" eaLnBrk="0" fontAlgn="base" hangingPunct="0">
        <a:spcBef>
          <a:spcPts val="280"/>
        </a:spcBef>
        <a:spcAft>
          <a:spcPct val="0"/>
        </a:spcAft>
        <a:buClr>
          <a:schemeClr val="accent2"/>
        </a:buClr>
        <a:buSzPct val="85000"/>
        <a:buFont typeface="Wingdings 2" panose="05020102010507070707" pitchFamily="18" charset="2"/>
        <a:buChar char=""/>
        <a:defRPr sz="1800" kern="1200">
          <a:solidFill>
            <a:schemeClr val="tx1"/>
          </a:solidFill>
          <a:latin typeface="+mn-lt"/>
          <a:ea typeface="+mn-ea"/>
          <a:cs typeface="+mn-cs"/>
        </a:defRPr>
      </a:lvl2pPr>
      <a:lvl3pPr marL="616585" indent="-171450" algn="l" rtl="0" eaLnBrk="0" fontAlgn="base" hangingPunct="0">
        <a:spcBef>
          <a:spcPts val="280"/>
        </a:spcBef>
        <a:spcAft>
          <a:spcPct val="0"/>
        </a:spcAft>
        <a:buClr>
          <a:srgbClr val="E6B1AB"/>
        </a:buClr>
        <a:buSzPct val="85000"/>
        <a:buFont typeface="Wingdings 2" panose="05020102010507070707" pitchFamily="18" charset="2"/>
        <a:buChar char=""/>
        <a:defRPr sz="1500" kern="1200">
          <a:solidFill>
            <a:schemeClr val="tx1"/>
          </a:solidFill>
          <a:latin typeface="+mn-lt"/>
          <a:ea typeface="+mn-ea"/>
          <a:cs typeface="+mn-cs"/>
        </a:defRPr>
      </a:lvl3pPr>
      <a:lvl4pPr marL="822325" indent="-171450" algn="l" rtl="0" eaLnBrk="0" fontAlgn="base" hangingPunct="0">
        <a:spcBef>
          <a:spcPts val="280"/>
        </a:spcBef>
        <a:spcAft>
          <a:spcPct val="0"/>
        </a:spcAft>
        <a:buClr>
          <a:srgbClr val="A28E6A"/>
        </a:buClr>
        <a:buSzPct val="80000"/>
        <a:buFont typeface="Wingdings 2" panose="05020102010507070707" pitchFamily="18" charset="2"/>
        <a:buChar char=""/>
        <a:defRPr sz="1500" kern="1200">
          <a:solidFill>
            <a:schemeClr val="tx1"/>
          </a:solidFill>
          <a:latin typeface="+mn-lt"/>
          <a:ea typeface="+mn-ea"/>
          <a:cs typeface="+mn-cs"/>
        </a:defRPr>
      </a:lvl4pPr>
      <a:lvl5pPr marL="1028700" indent="-171450" algn="l" rtl="0" eaLnBrk="0" fontAlgn="base" hangingPunct="0">
        <a:spcBef>
          <a:spcPts val="280"/>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5"/>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5"/>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5"/>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5"/>
        </a:spcBef>
        <a:buClr>
          <a:schemeClr val="accent2">
            <a:tint val="60000"/>
          </a:schemeClr>
        </a:buClr>
        <a:buChar char="•"/>
        <a:defRPr kumimoji="0" sz="135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342900" algn="l" rtl="0" eaLnBrk="1" latinLnBrk="0" hangingPunct="1">
        <a:defRPr kumimoji="0" kern="1200">
          <a:solidFill>
            <a:schemeClr val="tx1"/>
          </a:solidFill>
          <a:latin typeface="+mn-lt"/>
          <a:ea typeface="+mn-ea"/>
          <a:cs typeface="+mn-cs"/>
        </a:defRPr>
      </a:lvl2pPr>
      <a:lvl3pPr marL="685800" algn="l" rtl="0" eaLnBrk="1" latinLnBrk="0" hangingPunct="1">
        <a:defRPr kumimoji="0" kern="1200">
          <a:solidFill>
            <a:schemeClr val="tx1"/>
          </a:solidFill>
          <a:latin typeface="+mn-lt"/>
          <a:ea typeface="+mn-ea"/>
          <a:cs typeface="+mn-cs"/>
        </a:defRPr>
      </a:lvl3pPr>
      <a:lvl4pPr marL="1028700" algn="l" rtl="0" eaLnBrk="1" latinLnBrk="0" hangingPunct="1">
        <a:defRPr kumimoji="0" kern="1200">
          <a:solidFill>
            <a:schemeClr val="tx1"/>
          </a:solidFill>
          <a:latin typeface="+mn-lt"/>
          <a:ea typeface="+mn-ea"/>
          <a:cs typeface="+mn-cs"/>
        </a:defRPr>
      </a:lvl4pPr>
      <a:lvl5pPr marL="1371600" algn="l" rtl="0" eaLnBrk="1" latinLnBrk="0" hangingPunct="1">
        <a:defRPr kumimoji="0" kern="1200">
          <a:solidFill>
            <a:schemeClr val="tx1"/>
          </a:solidFill>
          <a:latin typeface="+mn-lt"/>
          <a:ea typeface="+mn-ea"/>
          <a:cs typeface="+mn-cs"/>
        </a:defRPr>
      </a:lvl5pPr>
      <a:lvl6pPr marL="1714500" algn="l" rtl="0" eaLnBrk="1" latinLnBrk="0" hangingPunct="1">
        <a:defRPr kumimoji="0" kern="1200">
          <a:solidFill>
            <a:schemeClr val="tx1"/>
          </a:solidFill>
          <a:latin typeface="+mn-lt"/>
          <a:ea typeface="+mn-ea"/>
          <a:cs typeface="+mn-cs"/>
        </a:defRPr>
      </a:lvl6pPr>
      <a:lvl7pPr marL="2057400" algn="l" rtl="0" eaLnBrk="1" latinLnBrk="0" hangingPunct="1">
        <a:defRPr kumimoji="0" kern="1200">
          <a:solidFill>
            <a:schemeClr val="tx1"/>
          </a:solidFill>
          <a:latin typeface="+mn-lt"/>
          <a:ea typeface="+mn-ea"/>
          <a:cs typeface="+mn-cs"/>
        </a:defRPr>
      </a:lvl7pPr>
      <a:lvl8pPr marL="2400300" algn="l" rtl="0" eaLnBrk="1" latinLnBrk="0" hangingPunct="1">
        <a:defRPr kumimoji="0" kern="1200">
          <a:solidFill>
            <a:schemeClr val="tx1"/>
          </a:solidFill>
          <a:latin typeface="+mn-lt"/>
          <a:ea typeface="+mn-ea"/>
          <a:cs typeface="+mn-cs"/>
        </a:defRPr>
      </a:lvl8pPr>
      <a:lvl9pPr marL="27432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3.xml"/><Relationship Id="rId2" Type="http://schemas.openxmlformats.org/officeDocument/2006/relationships/image" Target="../media/image6.pn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10.wmf"/><Relationship Id="rId3" Type="http://schemas.openxmlformats.org/officeDocument/2006/relationships/oleObject" Target="../embeddings/oleObject2.bin"/><Relationship Id="rId2" Type="http://schemas.openxmlformats.org/officeDocument/2006/relationships/image" Target="../media/image9.wmf"/><Relationship Id="rId1" Type="http://schemas.openxmlformats.org/officeDocument/2006/relationships/oleObject" Target="../embeddings/oleObject1.bin"/></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53"/>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Inheritance and Polymorphism</a:t>
            </a:r>
            <a:endParaRPr lang="en-US" dirty="0"/>
          </a:p>
        </p:txBody>
      </p:sp>
      <p:sp>
        <p:nvSpPr>
          <p:cNvPr id="54" name="Google Shape;54;p13"/>
          <p:cNvSpPr txBox="1">
            <a:spLocks noGrp="1"/>
          </p:cNvSpPr>
          <p:nvPr>
            <p:ph type="body" idx="1"/>
          </p:nvPr>
        </p:nvSpPr>
        <p:spPr>
          <a:prstGeom prst="rect">
            <a:avLst/>
          </a:prstGeom>
        </p:spPr>
        <p:txBody>
          <a:bodyPr spcFirstLastPara="1" wrap="square" lIns="91425" tIns="91425" rIns="91425" bIns="91425" anchor="t" anchorCtr="0">
            <a:normAutofit/>
          </a:bodyPr>
          <a:lstStyle/>
          <a:p>
            <a:pPr marL="0" lvl="0" indent="0" algn="ctr" rtl="0">
              <a:lnSpc>
                <a:spcPct val="100000"/>
              </a:lnSpc>
              <a:spcBef>
                <a:spcPts val="0"/>
              </a:spcBef>
              <a:spcAft>
                <a:spcPts val="0"/>
              </a:spcAft>
              <a:buNone/>
            </a:pPr>
            <a:r>
              <a:rPr lang="en-US" sz="3200" b="1" dirty="0">
                <a:solidFill>
                  <a:schemeClr val="dk1"/>
                </a:solidFill>
              </a:rPr>
              <a:t>Inheritance and Polymorphism</a:t>
            </a:r>
            <a:endParaRPr sz="3200" b="1" dirty="0">
              <a:solidFill>
                <a:schemeClr val="dk1"/>
              </a:solidFill>
            </a:endParaRPr>
          </a:p>
        </p:txBody>
      </p:sp>
      <p:pic>
        <p:nvPicPr>
          <p:cNvPr id="5" name="그림 1" descr="Text, letter&#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97847" y="3702160"/>
            <a:ext cx="2948305" cy="10877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cs typeface="Times New Roman" panose="02020603050405020304" pitchFamily="18" charset="0"/>
              </a:rPr>
              <a:t>Cats and Dogs</a:t>
            </a:r>
            <a:endParaRPr lang="en-US" dirty="0"/>
          </a:p>
        </p:txBody>
      </p:sp>
      <p:sp>
        <p:nvSpPr>
          <p:cNvPr id="4" name="Text Placeholder 3"/>
          <p:cNvSpPr>
            <a:spLocks noGrp="1"/>
          </p:cNvSpPr>
          <p:nvPr>
            <p:ph type="body" idx="1"/>
          </p:nvPr>
        </p:nvSpPr>
        <p:spPr>
          <a:xfrm>
            <a:off x="311700" y="1416225"/>
            <a:ext cx="3999900" cy="3416400"/>
          </a:xfrm>
        </p:spPr>
        <p:txBody>
          <a:bodyPr/>
          <a:lstStyle/>
          <a:p>
            <a:pPr lvl="1">
              <a:buSzPct val="100000"/>
              <a:buFont typeface="Arial" panose="020B0604020202020204" pitchFamily="34" charset="0"/>
              <a:buChar char="•"/>
            </a:pPr>
            <a:r>
              <a:rPr lang="en-US" sz="1800" dirty="0"/>
              <a:t>A mammal.</a:t>
            </a:r>
            <a:endParaRPr lang="en-US" sz="1800" dirty="0"/>
          </a:p>
          <a:p>
            <a:pPr lvl="1">
              <a:buSzPct val="100000"/>
              <a:buFont typeface="Arial" panose="020B0604020202020204" pitchFamily="34" charset="0"/>
              <a:buChar char="•"/>
            </a:pPr>
            <a:r>
              <a:rPr lang="en-US" sz="1800" dirty="0"/>
              <a:t>Has fur.</a:t>
            </a:r>
            <a:endParaRPr lang="en-US" sz="1800" dirty="0"/>
          </a:p>
          <a:p>
            <a:pPr lvl="1">
              <a:buSzPct val="100000"/>
              <a:buFont typeface="Arial" panose="020B0604020202020204" pitchFamily="34" charset="0"/>
              <a:buChar char="•"/>
            </a:pPr>
            <a:r>
              <a:rPr lang="en-US" sz="1800" dirty="0"/>
              <a:t>Common house pet.</a:t>
            </a:r>
            <a:endParaRPr lang="en-US" sz="1800" dirty="0"/>
          </a:p>
          <a:p>
            <a:pPr lvl="1">
              <a:buSzPct val="100000"/>
              <a:buFont typeface="Arial" panose="020B0604020202020204" pitchFamily="34" charset="0"/>
              <a:buChar char="•"/>
            </a:pPr>
            <a:r>
              <a:rPr lang="en-US" sz="1800" dirty="0"/>
              <a:t>Has several breeds.</a:t>
            </a:r>
            <a:endParaRPr lang="en-US" sz="1800" dirty="0"/>
          </a:p>
          <a:p>
            <a:pPr lvl="1">
              <a:buSzPct val="100000"/>
              <a:buFont typeface="Arial" panose="020B0604020202020204" pitchFamily="34" charset="0"/>
              <a:buChar char="•"/>
            </a:pPr>
            <a:endParaRPr lang="en-US" sz="1800" dirty="0"/>
          </a:p>
          <a:p>
            <a:pPr lvl="1">
              <a:buSzPct val="100000"/>
              <a:buFont typeface="Arial" panose="020B0604020202020204" pitchFamily="34" charset="0"/>
              <a:buChar char="•"/>
            </a:pPr>
            <a:r>
              <a:rPr lang="en-US" sz="1800" dirty="0"/>
              <a:t>Meows.</a:t>
            </a:r>
            <a:endParaRPr lang="en-US" sz="1800" dirty="0"/>
          </a:p>
          <a:p>
            <a:pPr lvl="1">
              <a:buSzPct val="100000"/>
              <a:buFont typeface="Arial" panose="020B0604020202020204" pitchFamily="34" charset="0"/>
              <a:buChar char="•"/>
            </a:pPr>
            <a:r>
              <a:rPr lang="en-US" sz="1800" dirty="0"/>
              <a:t>Scratches the furniture.</a:t>
            </a:r>
            <a:endParaRPr lang="en-US" sz="1800" dirty="0"/>
          </a:p>
          <a:p>
            <a:pPr lvl="1">
              <a:buSzPct val="100000"/>
              <a:buFont typeface="Arial" panose="020B0604020202020204" pitchFamily="34" charset="0"/>
              <a:buChar char="•"/>
            </a:pPr>
            <a:r>
              <a:rPr lang="en-US" sz="1800" dirty="0"/>
              <a:t>Catches mice.</a:t>
            </a:r>
            <a:endParaRPr lang="en-US" sz="1800" dirty="0"/>
          </a:p>
          <a:p>
            <a:pPr marL="139700" indent="0">
              <a:buNone/>
            </a:pPr>
            <a:endParaRPr lang="en-US" dirty="0"/>
          </a:p>
        </p:txBody>
      </p:sp>
      <p:sp>
        <p:nvSpPr>
          <p:cNvPr id="5" name="Text Placeholder 4"/>
          <p:cNvSpPr>
            <a:spLocks noGrp="1"/>
          </p:cNvSpPr>
          <p:nvPr>
            <p:ph type="body" idx="2"/>
          </p:nvPr>
        </p:nvSpPr>
        <p:spPr>
          <a:xfrm>
            <a:off x="4832400" y="1419431"/>
            <a:ext cx="3999900" cy="3416400"/>
          </a:xfrm>
        </p:spPr>
        <p:txBody>
          <a:bodyPr/>
          <a:lstStyle/>
          <a:p>
            <a:pPr lvl="1">
              <a:buSzPct val="100000"/>
              <a:buFont typeface="Arial" panose="020B0604020202020204" pitchFamily="34" charset="0"/>
              <a:buChar char="•"/>
            </a:pPr>
            <a:r>
              <a:rPr lang="en-US" sz="1800" dirty="0"/>
              <a:t>Is a mammal.</a:t>
            </a:r>
            <a:endParaRPr lang="en-US" sz="1800" dirty="0"/>
          </a:p>
          <a:p>
            <a:pPr lvl="1">
              <a:buSzPct val="100000"/>
              <a:buFont typeface="Arial" panose="020B0604020202020204" pitchFamily="34" charset="0"/>
              <a:buChar char="•"/>
            </a:pPr>
            <a:r>
              <a:rPr lang="en-US" sz="1800" dirty="0"/>
              <a:t>Has fur.</a:t>
            </a:r>
            <a:endParaRPr lang="en-US" sz="1800" dirty="0"/>
          </a:p>
          <a:p>
            <a:pPr lvl="1">
              <a:buSzPct val="100000"/>
              <a:buFont typeface="Arial" panose="020B0604020202020204" pitchFamily="34" charset="0"/>
              <a:buChar char="•"/>
            </a:pPr>
            <a:r>
              <a:rPr lang="en-US" sz="1800" dirty="0"/>
              <a:t>Common house pet.</a:t>
            </a:r>
            <a:endParaRPr lang="en-US" sz="1800" dirty="0"/>
          </a:p>
          <a:p>
            <a:pPr lvl="1">
              <a:buSzPct val="100000"/>
              <a:buFont typeface="Arial" panose="020B0604020202020204" pitchFamily="34" charset="0"/>
              <a:buChar char="•"/>
            </a:pPr>
            <a:r>
              <a:rPr lang="en-US" sz="1800" dirty="0"/>
              <a:t>Has several breeds.</a:t>
            </a:r>
            <a:endParaRPr lang="en-US" sz="1800" dirty="0"/>
          </a:p>
          <a:p>
            <a:pPr lvl="1">
              <a:buSzPct val="100000"/>
              <a:buFont typeface="Arial" panose="020B0604020202020204" pitchFamily="34" charset="0"/>
              <a:buChar char="•"/>
            </a:pPr>
            <a:endParaRPr lang="en-US" sz="1800" dirty="0"/>
          </a:p>
          <a:p>
            <a:pPr lvl="1">
              <a:buSzPct val="100000"/>
              <a:buFont typeface="Arial" panose="020B0604020202020204" pitchFamily="34" charset="0"/>
              <a:buChar char="•"/>
            </a:pPr>
            <a:r>
              <a:rPr lang="en-US" sz="1800" dirty="0"/>
              <a:t>Barks.</a:t>
            </a:r>
            <a:endParaRPr lang="en-US" sz="1800" dirty="0"/>
          </a:p>
          <a:p>
            <a:pPr lvl="1">
              <a:buSzPct val="100000"/>
              <a:buFont typeface="Arial" panose="020B0604020202020204" pitchFamily="34" charset="0"/>
              <a:buChar char="•"/>
            </a:pPr>
            <a:r>
              <a:rPr lang="en-US" sz="1800" dirty="0"/>
              <a:t>Catches Frisbees.</a:t>
            </a:r>
            <a:endParaRPr lang="en-US" sz="1800" dirty="0"/>
          </a:p>
          <a:p>
            <a:pPr lvl="1">
              <a:buSzPct val="100000"/>
              <a:buFont typeface="Arial" panose="020B0604020202020204" pitchFamily="34" charset="0"/>
              <a:buChar char="•"/>
            </a:pPr>
            <a:r>
              <a:rPr lang="en-US" sz="1800" dirty="0"/>
              <a:t>Chases squirrels.</a:t>
            </a:r>
            <a:endParaRPr lang="en-US" sz="1800" dirty="0"/>
          </a:p>
          <a:p>
            <a:pPr lvl="1">
              <a:buSzPct val="100000"/>
              <a:buFont typeface="Arial" panose="020B0604020202020204" pitchFamily="34" charset="0"/>
              <a:buChar char="•"/>
            </a:pPr>
            <a:r>
              <a:rPr lang="en-US" sz="1800" dirty="0"/>
              <a:t>Can guard a house.</a:t>
            </a:r>
            <a:endParaRPr lang="en-US" sz="1800" dirty="0"/>
          </a:p>
          <a:p>
            <a:endParaRPr lang="en-US" dirty="0"/>
          </a:p>
        </p:txBody>
      </p:sp>
      <p:sp>
        <p:nvSpPr>
          <p:cNvPr id="6" name="Text Placeholder 4"/>
          <p:cNvSpPr txBox="1"/>
          <p:nvPr/>
        </p:nvSpPr>
        <p:spPr>
          <a:xfrm>
            <a:off x="-97100" y="930626"/>
            <a:ext cx="3733800" cy="54727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04800" algn="l" rtl="0">
              <a:lnSpc>
                <a:spcPct val="115000"/>
              </a:lnSpc>
              <a:spcBef>
                <a:spcPts val="0"/>
              </a:spcBef>
              <a:spcAft>
                <a:spcPts val="0"/>
              </a:spcAft>
              <a:buClr>
                <a:schemeClr val="dk2"/>
              </a:buClr>
              <a:buSzPts val="1200"/>
              <a:buFont typeface="Arial" panose="020B0604020202020204"/>
              <a:buChar char="■"/>
              <a:defRPr sz="12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39700" indent="0" algn="ctr">
              <a:lnSpc>
                <a:spcPct val="120000"/>
              </a:lnSpc>
              <a:buClr>
                <a:srgbClr val="000000"/>
              </a:buClr>
              <a:buFont typeface="Arial" panose="020B0604020202020204"/>
              <a:buNone/>
            </a:pPr>
            <a:r>
              <a:rPr lang="en-US" sz="2000" b="1" dirty="0">
                <a:solidFill>
                  <a:srgbClr val="000000"/>
                </a:solidFill>
              </a:rPr>
              <a:t>Cat</a:t>
            </a:r>
            <a:endParaRPr lang="en-US" sz="2000" b="1" dirty="0">
              <a:solidFill>
                <a:srgbClr val="000000"/>
              </a:solidFill>
            </a:endParaRPr>
          </a:p>
        </p:txBody>
      </p:sp>
      <p:sp>
        <p:nvSpPr>
          <p:cNvPr id="7" name="Text Placeholder 5"/>
          <p:cNvSpPr txBox="1"/>
          <p:nvPr/>
        </p:nvSpPr>
        <p:spPr>
          <a:xfrm>
            <a:off x="4451295" y="1017725"/>
            <a:ext cx="3733800" cy="518468"/>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pPr algn="ctr"/>
            <a:r>
              <a:rPr lang="en-US" sz="2000" b="1" dirty="0"/>
              <a:t>Dog</a:t>
            </a:r>
            <a:endParaRPr lang="en-US" sz="20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6" end="6"/>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
                                            <p:txEl>
                                              <p:pRg st="7" end="7"/>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altLang="en-US" b="1" dirty="0">
                <a:cs typeface="Times New Roman" panose="02020603050405020304" pitchFamily="18" charset="0"/>
              </a:rPr>
              <a:t>Cats and Dogs cont..</a:t>
            </a:r>
            <a:endParaRPr lang="en-US" dirty="0"/>
          </a:p>
        </p:txBody>
      </p:sp>
      <p:sp>
        <p:nvSpPr>
          <p:cNvPr id="6" name="Text Placeholder 5"/>
          <p:cNvSpPr>
            <a:spLocks noGrp="1"/>
          </p:cNvSpPr>
          <p:nvPr>
            <p:ph type="body" idx="1"/>
          </p:nvPr>
        </p:nvSpPr>
        <p:spPr/>
        <p:txBody>
          <a:bodyPr/>
          <a:lstStyle/>
          <a:p>
            <a:pPr>
              <a:lnSpc>
                <a:spcPct val="90000"/>
              </a:lnSpc>
            </a:pPr>
            <a:r>
              <a:rPr lang="en-US" dirty="0"/>
              <a:t>Some classes share properties that are similar.</a:t>
            </a:r>
            <a:endParaRPr lang="en-US" dirty="0"/>
          </a:p>
          <a:p>
            <a:pPr marL="114300" indent="0">
              <a:lnSpc>
                <a:spcPct val="90000"/>
              </a:lnSpc>
              <a:buNone/>
            </a:pPr>
            <a:endParaRPr lang="en-US" dirty="0"/>
          </a:p>
          <a:p>
            <a:pPr>
              <a:lnSpc>
                <a:spcPct val="90000"/>
              </a:lnSpc>
            </a:pPr>
            <a:r>
              <a:rPr lang="en-US" dirty="0"/>
              <a:t>For example, cats and dogs are both mammals and common house pets.</a:t>
            </a:r>
            <a:endParaRPr lang="en-US" dirty="0"/>
          </a:p>
          <a:p>
            <a:pPr marL="114300" indent="0">
              <a:lnSpc>
                <a:spcPct val="90000"/>
              </a:lnSpc>
              <a:buNone/>
            </a:pPr>
            <a:endParaRPr lang="en-US" dirty="0"/>
          </a:p>
          <a:p>
            <a:pPr>
              <a:lnSpc>
                <a:spcPct val="90000"/>
              </a:lnSpc>
            </a:pPr>
            <a:r>
              <a:rPr lang="en-US" dirty="0"/>
              <a:t>It doesn’t make sense to duplicate shared properties unnecessarily.</a:t>
            </a:r>
            <a:endParaRPr lang="en-US" dirty="0"/>
          </a:p>
          <a:p>
            <a:pPr marL="114300" indent="0">
              <a:lnSpc>
                <a:spcPct val="90000"/>
              </a:lnSpc>
              <a:buNone/>
            </a:pPr>
            <a:endParaRPr lang="en-US" dirty="0"/>
          </a:p>
          <a:p>
            <a:pPr>
              <a:lnSpc>
                <a:spcPct val="90000"/>
              </a:lnSpc>
            </a:pPr>
            <a:r>
              <a:rPr lang="en-US" dirty="0"/>
              <a:t>Instead, we can abstract out common characteristics.</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Cats and Dogs: Inheritance</a:t>
            </a:r>
            <a:endParaRPr lang="en-US" b="1" dirty="0"/>
          </a:p>
        </p:txBody>
      </p:sp>
      <p:pic>
        <p:nvPicPr>
          <p:cNvPr id="4" name="image.png" descr="mammal&#10;under mammal are cat and dog&#10;under cat are persian and manx&#10;under dog are collie and poodle"/>
          <p:cNvPicPr/>
          <p:nvPr/>
        </p:nvPicPr>
        <p:blipFill>
          <a:blip r:embed="rId1"/>
          <a:srcRect l="3630" t="7121" r="3601" b="7980"/>
          <a:stretch>
            <a:fillRect/>
          </a:stretch>
        </p:blipFill>
        <p:spPr>
          <a:xfrm>
            <a:off x="1487978" y="1429789"/>
            <a:ext cx="5993475" cy="2909453"/>
          </a:xfrm>
          <a:custGeom>
            <a:avLst/>
            <a:gdLst/>
            <a:ahLst/>
            <a:cxnLst>
              <a:cxn ang="0">
                <a:pos x="wd2" y="hd2"/>
              </a:cxn>
              <a:cxn ang="5400000">
                <a:pos x="wd2" y="hd2"/>
              </a:cxn>
              <a:cxn ang="10800000">
                <a:pos x="wd2" y="hd2"/>
              </a:cxn>
              <a:cxn ang="16200000">
                <a:pos x="wd2" y="hd2"/>
              </a:cxn>
            </a:cxnLst>
            <a:rect l="0" t="0" r="r" b="b"/>
            <a:pathLst>
              <a:path w="21592" h="21593" extrusionOk="0">
                <a:moveTo>
                  <a:pt x="10632" y="0"/>
                </a:moveTo>
                <a:lnTo>
                  <a:pt x="9091" y="3"/>
                </a:lnTo>
                <a:cubicBezTo>
                  <a:pt x="8999" y="5"/>
                  <a:pt x="8939" y="10"/>
                  <a:pt x="8929" y="14"/>
                </a:cubicBezTo>
                <a:cubicBezTo>
                  <a:pt x="8793" y="65"/>
                  <a:pt x="8648" y="256"/>
                  <a:pt x="8547" y="519"/>
                </a:cubicBezTo>
                <a:cubicBezTo>
                  <a:pt x="8505" y="629"/>
                  <a:pt x="8438" y="860"/>
                  <a:pt x="8412" y="983"/>
                </a:cubicBezTo>
                <a:cubicBezTo>
                  <a:pt x="8390" y="1087"/>
                  <a:pt x="8337" y="1421"/>
                  <a:pt x="8337" y="1451"/>
                </a:cubicBezTo>
                <a:cubicBezTo>
                  <a:pt x="8337" y="1465"/>
                  <a:pt x="8331" y="1482"/>
                  <a:pt x="8323" y="1488"/>
                </a:cubicBezTo>
                <a:cubicBezTo>
                  <a:pt x="8312" y="1499"/>
                  <a:pt x="8309" y="1515"/>
                  <a:pt x="8304" y="1601"/>
                </a:cubicBezTo>
                <a:cubicBezTo>
                  <a:pt x="8299" y="1668"/>
                  <a:pt x="8294" y="1710"/>
                  <a:pt x="8287" y="1724"/>
                </a:cubicBezTo>
                <a:cubicBezTo>
                  <a:pt x="8274" y="1750"/>
                  <a:pt x="8263" y="1831"/>
                  <a:pt x="8258" y="1956"/>
                </a:cubicBezTo>
                <a:cubicBezTo>
                  <a:pt x="8256" y="2011"/>
                  <a:pt x="8252" y="2059"/>
                  <a:pt x="8250" y="2063"/>
                </a:cubicBezTo>
                <a:cubicBezTo>
                  <a:pt x="8247" y="2067"/>
                  <a:pt x="8245" y="2101"/>
                  <a:pt x="8245" y="2138"/>
                </a:cubicBezTo>
                <a:cubicBezTo>
                  <a:pt x="8245" y="2188"/>
                  <a:pt x="8243" y="2208"/>
                  <a:pt x="8235" y="2218"/>
                </a:cubicBezTo>
                <a:cubicBezTo>
                  <a:pt x="8226" y="2230"/>
                  <a:pt x="8225" y="2263"/>
                  <a:pt x="8225" y="2573"/>
                </a:cubicBezTo>
                <a:cubicBezTo>
                  <a:pt x="8225" y="2883"/>
                  <a:pt x="8226" y="2914"/>
                  <a:pt x="8235" y="2926"/>
                </a:cubicBezTo>
                <a:cubicBezTo>
                  <a:pt x="8243" y="2936"/>
                  <a:pt x="8245" y="2959"/>
                  <a:pt x="8245" y="3009"/>
                </a:cubicBezTo>
                <a:cubicBezTo>
                  <a:pt x="8245" y="3046"/>
                  <a:pt x="8247" y="3079"/>
                  <a:pt x="8250" y="3083"/>
                </a:cubicBezTo>
                <a:cubicBezTo>
                  <a:pt x="8252" y="3087"/>
                  <a:pt x="8256" y="3134"/>
                  <a:pt x="8258" y="3188"/>
                </a:cubicBezTo>
                <a:cubicBezTo>
                  <a:pt x="8263" y="3308"/>
                  <a:pt x="8274" y="3412"/>
                  <a:pt x="8284" y="3431"/>
                </a:cubicBezTo>
                <a:cubicBezTo>
                  <a:pt x="8292" y="3446"/>
                  <a:pt x="8301" y="3520"/>
                  <a:pt x="8306" y="3604"/>
                </a:cubicBezTo>
                <a:cubicBezTo>
                  <a:pt x="8308" y="3643"/>
                  <a:pt x="8312" y="3657"/>
                  <a:pt x="8321" y="3661"/>
                </a:cubicBezTo>
                <a:cubicBezTo>
                  <a:pt x="8330" y="3664"/>
                  <a:pt x="8334" y="3679"/>
                  <a:pt x="8338" y="3719"/>
                </a:cubicBezTo>
                <a:cubicBezTo>
                  <a:pt x="8340" y="3749"/>
                  <a:pt x="8346" y="3782"/>
                  <a:pt x="8350" y="3794"/>
                </a:cubicBezTo>
                <a:cubicBezTo>
                  <a:pt x="8354" y="3806"/>
                  <a:pt x="8359" y="3832"/>
                  <a:pt x="8360" y="3850"/>
                </a:cubicBezTo>
                <a:cubicBezTo>
                  <a:pt x="8361" y="3873"/>
                  <a:pt x="8367" y="3888"/>
                  <a:pt x="8376" y="3893"/>
                </a:cubicBezTo>
                <a:cubicBezTo>
                  <a:pt x="8386" y="3899"/>
                  <a:pt x="8392" y="3912"/>
                  <a:pt x="8394" y="3941"/>
                </a:cubicBezTo>
                <a:cubicBezTo>
                  <a:pt x="8399" y="3997"/>
                  <a:pt x="8416" y="4070"/>
                  <a:pt x="8432" y="4101"/>
                </a:cubicBezTo>
                <a:cubicBezTo>
                  <a:pt x="8439" y="4115"/>
                  <a:pt x="8447" y="4147"/>
                  <a:pt x="8449" y="4171"/>
                </a:cubicBezTo>
                <a:cubicBezTo>
                  <a:pt x="8452" y="4198"/>
                  <a:pt x="8458" y="4219"/>
                  <a:pt x="8465" y="4222"/>
                </a:cubicBezTo>
                <a:cubicBezTo>
                  <a:pt x="8480" y="4228"/>
                  <a:pt x="8501" y="4280"/>
                  <a:pt x="8501" y="4310"/>
                </a:cubicBezTo>
                <a:cubicBezTo>
                  <a:pt x="8501" y="4325"/>
                  <a:pt x="8506" y="4334"/>
                  <a:pt x="8512" y="4334"/>
                </a:cubicBezTo>
                <a:cubicBezTo>
                  <a:pt x="8528" y="4334"/>
                  <a:pt x="8547" y="4371"/>
                  <a:pt x="8549" y="4406"/>
                </a:cubicBezTo>
                <a:cubicBezTo>
                  <a:pt x="8550" y="4426"/>
                  <a:pt x="8557" y="4447"/>
                  <a:pt x="8571" y="4462"/>
                </a:cubicBezTo>
                <a:cubicBezTo>
                  <a:pt x="8582" y="4475"/>
                  <a:pt x="8595" y="4497"/>
                  <a:pt x="8599" y="4510"/>
                </a:cubicBezTo>
                <a:cubicBezTo>
                  <a:pt x="8607" y="4536"/>
                  <a:pt x="8636" y="4570"/>
                  <a:pt x="8664" y="4590"/>
                </a:cubicBezTo>
                <a:cubicBezTo>
                  <a:pt x="8674" y="4597"/>
                  <a:pt x="8684" y="4617"/>
                  <a:pt x="8686" y="4633"/>
                </a:cubicBezTo>
                <a:cubicBezTo>
                  <a:pt x="8690" y="4654"/>
                  <a:pt x="8701" y="4666"/>
                  <a:pt x="8724" y="4678"/>
                </a:cubicBezTo>
                <a:cubicBezTo>
                  <a:pt x="8763" y="4700"/>
                  <a:pt x="8785" y="4725"/>
                  <a:pt x="8789" y="4753"/>
                </a:cubicBezTo>
                <a:cubicBezTo>
                  <a:pt x="8791" y="4765"/>
                  <a:pt x="8798" y="4775"/>
                  <a:pt x="8806" y="4775"/>
                </a:cubicBezTo>
                <a:cubicBezTo>
                  <a:pt x="8813" y="4775"/>
                  <a:pt x="8821" y="4781"/>
                  <a:pt x="8824" y="4788"/>
                </a:cubicBezTo>
                <a:cubicBezTo>
                  <a:pt x="8829" y="4799"/>
                  <a:pt x="8847" y="4808"/>
                  <a:pt x="8940" y="4841"/>
                </a:cubicBezTo>
                <a:cubicBezTo>
                  <a:pt x="8951" y="4845"/>
                  <a:pt x="8962" y="4856"/>
                  <a:pt x="8966" y="4865"/>
                </a:cubicBezTo>
                <a:cubicBezTo>
                  <a:pt x="8976" y="4898"/>
                  <a:pt x="9023" y="4903"/>
                  <a:pt x="9268" y="4911"/>
                </a:cubicBezTo>
                <a:lnTo>
                  <a:pt x="9513" y="4922"/>
                </a:lnTo>
                <a:lnTo>
                  <a:pt x="9517" y="5280"/>
                </a:lnTo>
                <a:cubicBezTo>
                  <a:pt x="9520" y="5477"/>
                  <a:pt x="9521" y="6722"/>
                  <a:pt x="9521" y="8048"/>
                </a:cubicBezTo>
                <a:lnTo>
                  <a:pt x="9519" y="10457"/>
                </a:lnTo>
                <a:lnTo>
                  <a:pt x="9513" y="10457"/>
                </a:lnTo>
                <a:lnTo>
                  <a:pt x="7824" y="10460"/>
                </a:lnTo>
                <a:cubicBezTo>
                  <a:pt x="6692" y="10462"/>
                  <a:pt x="6127" y="10469"/>
                  <a:pt x="6122" y="10479"/>
                </a:cubicBezTo>
                <a:cubicBezTo>
                  <a:pt x="6110" y="10504"/>
                  <a:pt x="6103" y="10461"/>
                  <a:pt x="6100" y="10313"/>
                </a:cubicBezTo>
                <a:cubicBezTo>
                  <a:pt x="6098" y="10202"/>
                  <a:pt x="6095" y="10168"/>
                  <a:pt x="6088" y="10158"/>
                </a:cubicBezTo>
                <a:cubicBezTo>
                  <a:pt x="6082" y="10150"/>
                  <a:pt x="6079" y="10125"/>
                  <a:pt x="6079" y="10078"/>
                </a:cubicBezTo>
                <a:cubicBezTo>
                  <a:pt x="6079" y="10041"/>
                  <a:pt x="6078" y="10007"/>
                  <a:pt x="6075" y="10003"/>
                </a:cubicBezTo>
                <a:cubicBezTo>
                  <a:pt x="6072" y="9999"/>
                  <a:pt x="6068" y="9941"/>
                  <a:pt x="6066" y="9872"/>
                </a:cubicBezTo>
                <a:cubicBezTo>
                  <a:pt x="6064" y="9804"/>
                  <a:pt x="6059" y="9743"/>
                  <a:pt x="6056" y="9739"/>
                </a:cubicBezTo>
                <a:cubicBezTo>
                  <a:pt x="6053" y="9734"/>
                  <a:pt x="6051" y="9716"/>
                  <a:pt x="6051" y="9699"/>
                </a:cubicBezTo>
                <a:cubicBezTo>
                  <a:pt x="6051" y="9679"/>
                  <a:pt x="6047" y="9665"/>
                  <a:pt x="6041" y="9661"/>
                </a:cubicBezTo>
                <a:cubicBezTo>
                  <a:pt x="6033" y="9656"/>
                  <a:pt x="6029" y="9637"/>
                  <a:pt x="6026" y="9597"/>
                </a:cubicBezTo>
                <a:cubicBezTo>
                  <a:pt x="6024" y="9566"/>
                  <a:pt x="6021" y="9515"/>
                  <a:pt x="6019" y="9485"/>
                </a:cubicBezTo>
                <a:cubicBezTo>
                  <a:pt x="6017" y="9454"/>
                  <a:pt x="6014" y="9425"/>
                  <a:pt x="6011" y="9421"/>
                </a:cubicBezTo>
                <a:cubicBezTo>
                  <a:pt x="6008" y="9417"/>
                  <a:pt x="6005" y="9398"/>
                  <a:pt x="6005" y="9381"/>
                </a:cubicBezTo>
                <a:cubicBezTo>
                  <a:pt x="6005" y="9362"/>
                  <a:pt x="6000" y="9339"/>
                  <a:pt x="5992" y="9327"/>
                </a:cubicBezTo>
                <a:cubicBezTo>
                  <a:pt x="5982" y="9312"/>
                  <a:pt x="5976" y="9279"/>
                  <a:pt x="5969" y="9204"/>
                </a:cubicBezTo>
                <a:cubicBezTo>
                  <a:pt x="5963" y="9149"/>
                  <a:pt x="5955" y="9096"/>
                  <a:pt x="5951" y="9084"/>
                </a:cubicBezTo>
                <a:cubicBezTo>
                  <a:pt x="5948" y="9073"/>
                  <a:pt x="5936" y="9008"/>
                  <a:pt x="5926" y="8940"/>
                </a:cubicBezTo>
                <a:cubicBezTo>
                  <a:pt x="5859" y="8503"/>
                  <a:pt x="5760" y="8226"/>
                  <a:pt x="5649" y="8173"/>
                </a:cubicBezTo>
                <a:cubicBezTo>
                  <a:pt x="5646" y="8172"/>
                  <a:pt x="5627" y="8171"/>
                  <a:pt x="5619" y="8170"/>
                </a:cubicBezTo>
                <a:cubicBezTo>
                  <a:pt x="5592" y="8166"/>
                  <a:pt x="5502" y="8165"/>
                  <a:pt x="5348" y="8162"/>
                </a:cubicBezTo>
                <a:cubicBezTo>
                  <a:pt x="5347" y="8162"/>
                  <a:pt x="5345" y="8162"/>
                  <a:pt x="5343" y="8162"/>
                </a:cubicBezTo>
                <a:cubicBezTo>
                  <a:pt x="4996" y="8158"/>
                  <a:pt x="4433" y="8158"/>
                  <a:pt x="4086" y="8162"/>
                </a:cubicBezTo>
                <a:cubicBezTo>
                  <a:pt x="4084" y="8162"/>
                  <a:pt x="4082" y="8162"/>
                  <a:pt x="4081" y="8162"/>
                </a:cubicBezTo>
                <a:cubicBezTo>
                  <a:pt x="3927" y="8165"/>
                  <a:pt x="3837" y="8166"/>
                  <a:pt x="3810" y="8170"/>
                </a:cubicBezTo>
                <a:cubicBezTo>
                  <a:pt x="3802" y="8171"/>
                  <a:pt x="3782" y="8172"/>
                  <a:pt x="3780" y="8173"/>
                </a:cubicBezTo>
                <a:cubicBezTo>
                  <a:pt x="3772" y="8177"/>
                  <a:pt x="3764" y="8183"/>
                  <a:pt x="3757" y="8189"/>
                </a:cubicBezTo>
                <a:cubicBezTo>
                  <a:pt x="3753" y="8192"/>
                  <a:pt x="3749" y="8196"/>
                  <a:pt x="3745" y="8200"/>
                </a:cubicBezTo>
                <a:cubicBezTo>
                  <a:pt x="3713" y="8229"/>
                  <a:pt x="3682" y="8275"/>
                  <a:pt x="3651" y="8347"/>
                </a:cubicBezTo>
                <a:cubicBezTo>
                  <a:pt x="3591" y="8484"/>
                  <a:pt x="3543" y="8679"/>
                  <a:pt x="3503" y="8940"/>
                </a:cubicBezTo>
                <a:cubicBezTo>
                  <a:pt x="3493" y="9008"/>
                  <a:pt x="3481" y="9073"/>
                  <a:pt x="3478" y="9084"/>
                </a:cubicBezTo>
                <a:cubicBezTo>
                  <a:pt x="3474" y="9096"/>
                  <a:pt x="3466" y="9149"/>
                  <a:pt x="3460" y="9204"/>
                </a:cubicBezTo>
                <a:cubicBezTo>
                  <a:pt x="3453" y="9279"/>
                  <a:pt x="3447" y="9312"/>
                  <a:pt x="3437" y="9327"/>
                </a:cubicBezTo>
                <a:cubicBezTo>
                  <a:pt x="3429" y="9339"/>
                  <a:pt x="3424" y="9362"/>
                  <a:pt x="3424" y="9381"/>
                </a:cubicBezTo>
                <a:cubicBezTo>
                  <a:pt x="3424" y="9398"/>
                  <a:pt x="3421" y="9417"/>
                  <a:pt x="3418" y="9421"/>
                </a:cubicBezTo>
                <a:cubicBezTo>
                  <a:pt x="3415" y="9425"/>
                  <a:pt x="3412" y="9454"/>
                  <a:pt x="3410" y="9485"/>
                </a:cubicBezTo>
                <a:cubicBezTo>
                  <a:pt x="3408" y="9515"/>
                  <a:pt x="3405" y="9566"/>
                  <a:pt x="3403" y="9597"/>
                </a:cubicBezTo>
                <a:cubicBezTo>
                  <a:pt x="3400" y="9635"/>
                  <a:pt x="3396" y="9654"/>
                  <a:pt x="3389" y="9659"/>
                </a:cubicBezTo>
                <a:cubicBezTo>
                  <a:pt x="3379" y="9665"/>
                  <a:pt x="3372" y="9724"/>
                  <a:pt x="3372" y="9811"/>
                </a:cubicBezTo>
                <a:cubicBezTo>
                  <a:pt x="3372" y="9835"/>
                  <a:pt x="3369" y="9860"/>
                  <a:pt x="3366" y="9864"/>
                </a:cubicBezTo>
                <a:cubicBezTo>
                  <a:pt x="3363" y="9869"/>
                  <a:pt x="3361" y="9900"/>
                  <a:pt x="3361" y="9934"/>
                </a:cubicBezTo>
                <a:cubicBezTo>
                  <a:pt x="3361" y="9967"/>
                  <a:pt x="3358" y="9996"/>
                  <a:pt x="3355" y="10001"/>
                </a:cubicBezTo>
                <a:cubicBezTo>
                  <a:pt x="3352" y="10005"/>
                  <a:pt x="3350" y="10041"/>
                  <a:pt x="3350" y="10078"/>
                </a:cubicBezTo>
                <a:cubicBezTo>
                  <a:pt x="3350" y="10124"/>
                  <a:pt x="3347" y="10150"/>
                  <a:pt x="3341" y="10158"/>
                </a:cubicBezTo>
                <a:cubicBezTo>
                  <a:pt x="3315" y="10193"/>
                  <a:pt x="3315" y="11288"/>
                  <a:pt x="3341" y="11323"/>
                </a:cubicBezTo>
                <a:cubicBezTo>
                  <a:pt x="3347" y="11331"/>
                  <a:pt x="3350" y="11358"/>
                  <a:pt x="3350" y="11403"/>
                </a:cubicBezTo>
                <a:cubicBezTo>
                  <a:pt x="3350" y="11440"/>
                  <a:pt x="3352" y="11473"/>
                  <a:pt x="3355" y="11478"/>
                </a:cubicBezTo>
                <a:cubicBezTo>
                  <a:pt x="3358" y="11483"/>
                  <a:pt x="3361" y="11514"/>
                  <a:pt x="3361" y="11547"/>
                </a:cubicBezTo>
                <a:cubicBezTo>
                  <a:pt x="3361" y="11581"/>
                  <a:pt x="3363" y="11612"/>
                  <a:pt x="3366" y="11617"/>
                </a:cubicBezTo>
                <a:cubicBezTo>
                  <a:pt x="3369" y="11622"/>
                  <a:pt x="3372" y="11648"/>
                  <a:pt x="3372" y="11676"/>
                </a:cubicBezTo>
                <a:cubicBezTo>
                  <a:pt x="3372" y="11771"/>
                  <a:pt x="3379" y="11829"/>
                  <a:pt x="3391" y="11836"/>
                </a:cubicBezTo>
                <a:cubicBezTo>
                  <a:pt x="3398" y="11841"/>
                  <a:pt x="3400" y="11855"/>
                  <a:pt x="3400" y="11884"/>
                </a:cubicBezTo>
                <a:cubicBezTo>
                  <a:pt x="3400" y="11907"/>
                  <a:pt x="3403" y="11930"/>
                  <a:pt x="3406" y="11935"/>
                </a:cubicBezTo>
                <a:cubicBezTo>
                  <a:pt x="3409" y="11940"/>
                  <a:pt x="3413" y="11965"/>
                  <a:pt x="3413" y="11991"/>
                </a:cubicBezTo>
                <a:cubicBezTo>
                  <a:pt x="3413" y="12058"/>
                  <a:pt x="3424" y="12162"/>
                  <a:pt x="3432" y="12162"/>
                </a:cubicBezTo>
                <a:cubicBezTo>
                  <a:pt x="3443" y="12162"/>
                  <a:pt x="3455" y="12218"/>
                  <a:pt x="3463" y="12304"/>
                </a:cubicBezTo>
                <a:cubicBezTo>
                  <a:pt x="3469" y="12361"/>
                  <a:pt x="3474" y="12389"/>
                  <a:pt x="3487" y="12410"/>
                </a:cubicBezTo>
                <a:cubicBezTo>
                  <a:pt x="3497" y="12429"/>
                  <a:pt x="3503" y="12453"/>
                  <a:pt x="3503" y="12475"/>
                </a:cubicBezTo>
                <a:cubicBezTo>
                  <a:pt x="3503" y="12500"/>
                  <a:pt x="3509" y="12515"/>
                  <a:pt x="3525" y="12533"/>
                </a:cubicBezTo>
                <a:cubicBezTo>
                  <a:pt x="3537" y="12547"/>
                  <a:pt x="3547" y="12569"/>
                  <a:pt x="3548" y="12584"/>
                </a:cubicBezTo>
                <a:cubicBezTo>
                  <a:pt x="3553" y="12629"/>
                  <a:pt x="3574" y="12702"/>
                  <a:pt x="3581" y="12702"/>
                </a:cubicBezTo>
                <a:cubicBezTo>
                  <a:pt x="3585" y="12702"/>
                  <a:pt x="3592" y="12715"/>
                  <a:pt x="3597" y="12734"/>
                </a:cubicBezTo>
                <a:cubicBezTo>
                  <a:pt x="3602" y="12752"/>
                  <a:pt x="3611" y="12771"/>
                  <a:pt x="3618" y="12774"/>
                </a:cubicBezTo>
                <a:cubicBezTo>
                  <a:pt x="3625" y="12776"/>
                  <a:pt x="3633" y="12788"/>
                  <a:pt x="3637" y="12803"/>
                </a:cubicBezTo>
                <a:cubicBezTo>
                  <a:pt x="3646" y="12845"/>
                  <a:pt x="3659" y="12867"/>
                  <a:pt x="3675" y="12867"/>
                </a:cubicBezTo>
                <a:cubicBezTo>
                  <a:pt x="3683" y="12868"/>
                  <a:pt x="3697" y="12883"/>
                  <a:pt x="3705" y="12902"/>
                </a:cubicBezTo>
                <a:cubicBezTo>
                  <a:pt x="3713" y="12921"/>
                  <a:pt x="3723" y="12937"/>
                  <a:pt x="3726" y="12937"/>
                </a:cubicBezTo>
                <a:cubicBezTo>
                  <a:pt x="3729" y="12937"/>
                  <a:pt x="3736" y="12943"/>
                  <a:pt x="3741" y="12950"/>
                </a:cubicBezTo>
                <a:cubicBezTo>
                  <a:pt x="3747" y="12957"/>
                  <a:pt x="3773" y="12973"/>
                  <a:pt x="3800" y="12985"/>
                </a:cubicBezTo>
                <a:cubicBezTo>
                  <a:pt x="3828" y="12997"/>
                  <a:pt x="3851" y="13013"/>
                  <a:pt x="3855" y="13025"/>
                </a:cubicBezTo>
                <a:cubicBezTo>
                  <a:pt x="3859" y="13038"/>
                  <a:pt x="3875" y="13052"/>
                  <a:pt x="3899" y="13057"/>
                </a:cubicBezTo>
                <a:cubicBezTo>
                  <a:pt x="3920" y="13062"/>
                  <a:pt x="3938" y="13069"/>
                  <a:pt x="3940" y="13076"/>
                </a:cubicBezTo>
                <a:cubicBezTo>
                  <a:pt x="3942" y="13082"/>
                  <a:pt x="3948" y="13089"/>
                  <a:pt x="3954" y="13089"/>
                </a:cubicBezTo>
                <a:cubicBezTo>
                  <a:pt x="3960" y="13089"/>
                  <a:pt x="3968" y="13101"/>
                  <a:pt x="3971" y="13116"/>
                </a:cubicBezTo>
                <a:cubicBezTo>
                  <a:pt x="3974" y="13129"/>
                  <a:pt x="3975" y="13289"/>
                  <a:pt x="3975" y="13522"/>
                </a:cubicBezTo>
                <a:cubicBezTo>
                  <a:pt x="3975" y="13599"/>
                  <a:pt x="3976" y="13653"/>
                  <a:pt x="3975" y="13754"/>
                </a:cubicBezTo>
                <a:cubicBezTo>
                  <a:pt x="3975" y="13762"/>
                  <a:pt x="3975" y="13768"/>
                  <a:pt x="3975" y="13776"/>
                </a:cubicBezTo>
                <a:cubicBezTo>
                  <a:pt x="3975" y="13813"/>
                  <a:pt x="3975" y="13841"/>
                  <a:pt x="3975" y="13880"/>
                </a:cubicBezTo>
                <a:lnTo>
                  <a:pt x="3973" y="14366"/>
                </a:lnTo>
                <a:lnTo>
                  <a:pt x="3240" y="14371"/>
                </a:lnTo>
                <a:cubicBezTo>
                  <a:pt x="2746" y="14376"/>
                  <a:pt x="2509" y="14383"/>
                  <a:pt x="2502" y="14393"/>
                </a:cubicBezTo>
                <a:cubicBezTo>
                  <a:pt x="2501" y="14396"/>
                  <a:pt x="2501" y="14411"/>
                  <a:pt x="2500" y="14425"/>
                </a:cubicBezTo>
                <a:cubicBezTo>
                  <a:pt x="2500" y="14437"/>
                  <a:pt x="2498" y="14438"/>
                  <a:pt x="2498" y="14465"/>
                </a:cubicBezTo>
                <a:cubicBezTo>
                  <a:pt x="2496" y="14603"/>
                  <a:pt x="2494" y="14941"/>
                  <a:pt x="2494" y="15483"/>
                </a:cubicBezTo>
                <a:lnTo>
                  <a:pt x="2491" y="16560"/>
                </a:lnTo>
                <a:lnTo>
                  <a:pt x="1515" y="16568"/>
                </a:lnTo>
                <a:lnTo>
                  <a:pt x="543" y="16576"/>
                </a:lnTo>
                <a:lnTo>
                  <a:pt x="505" y="16608"/>
                </a:lnTo>
                <a:cubicBezTo>
                  <a:pt x="461" y="16646"/>
                  <a:pt x="421" y="16703"/>
                  <a:pt x="383" y="16776"/>
                </a:cubicBezTo>
                <a:cubicBezTo>
                  <a:pt x="381" y="16779"/>
                  <a:pt x="380" y="16781"/>
                  <a:pt x="378" y="16784"/>
                </a:cubicBezTo>
                <a:cubicBezTo>
                  <a:pt x="366" y="16809"/>
                  <a:pt x="354" y="16836"/>
                  <a:pt x="342" y="16864"/>
                </a:cubicBezTo>
                <a:cubicBezTo>
                  <a:pt x="293" y="16983"/>
                  <a:pt x="249" y="17135"/>
                  <a:pt x="211" y="17321"/>
                </a:cubicBezTo>
                <a:cubicBezTo>
                  <a:pt x="182" y="17459"/>
                  <a:pt x="135" y="17747"/>
                  <a:pt x="135" y="17786"/>
                </a:cubicBezTo>
                <a:cubicBezTo>
                  <a:pt x="135" y="17797"/>
                  <a:pt x="130" y="17821"/>
                  <a:pt x="122" y="17839"/>
                </a:cubicBezTo>
                <a:cubicBezTo>
                  <a:pt x="106" y="17882"/>
                  <a:pt x="95" y="17939"/>
                  <a:pt x="95" y="17984"/>
                </a:cubicBezTo>
                <a:cubicBezTo>
                  <a:pt x="95" y="18003"/>
                  <a:pt x="90" y="18036"/>
                  <a:pt x="84" y="18056"/>
                </a:cubicBezTo>
                <a:cubicBezTo>
                  <a:pt x="78" y="18075"/>
                  <a:pt x="73" y="18105"/>
                  <a:pt x="73" y="18123"/>
                </a:cubicBezTo>
                <a:cubicBezTo>
                  <a:pt x="73" y="18140"/>
                  <a:pt x="68" y="18161"/>
                  <a:pt x="63" y="18168"/>
                </a:cubicBezTo>
                <a:cubicBezTo>
                  <a:pt x="53" y="18181"/>
                  <a:pt x="39" y="18349"/>
                  <a:pt x="39" y="18462"/>
                </a:cubicBezTo>
                <a:cubicBezTo>
                  <a:pt x="38" y="18490"/>
                  <a:pt x="35" y="18516"/>
                  <a:pt x="32" y="18521"/>
                </a:cubicBezTo>
                <a:cubicBezTo>
                  <a:pt x="29" y="18525"/>
                  <a:pt x="26" y="18561"/>
                  <a:pt x="26" y="18598"/>
                </a:cubicBezTo>
                <a:cubicBezTo>
                  <a:pt x="26" y="18645"/>
                  <a:pt x="24" y="18670"/>
                  <a:pt x="18" y="18678"/>
                </a:cubicBezTo>
                <a:cubicBezTo>
                  <a:pt x="-6" y="18710"/>
                  <a:pt x="-6" y="19576"/>
                  <a:pt x="18" y="19608"/>
                </a:cubicBezTo>
                <a:cubicBezTo>
                  <a:pt x="24" y="19616"/>
                  <a:pt x="26" y="19642"/>
                  <a:pt x="26" y="19688"/>
                </a:cubicBezTo>
                <a:cubicBezTo>
                  <a:pt x="26" y="19725"/>
                  <a:pt x="29" y="19759"/>
                  <a:pt x="32" y="19763"/>
                </a:cubicBezTo>
                <a:cubicBezTo>
                  <a:pt x="35" y="19767"/>
                  <a:pt x="39" y="19822"/>
                  <a:pt x="41" y="19886"/>
                </a:cubicBezTo>
                <a:cubicBezTo>
                  <a:pt x="46" y="20037"/>
                  <a:pt x="53" y="20103"/>
                  <a:pt x="64" y="20118"/>
                </a:cubicBezTo>
                <a:cubicBezTo>
                  <a:pt x="69" y="20125"/>
                  <a:pt x="73" y="20144"/>
                  <a:pt x="73" y="20161"/>
                </a:cubicBezTo>
                <a:cubicBezTo>
                  <a:pt x="73" y="20178"/>
                  <a:pt x="78" y="20214"/>
                  <a:pt x="84" y="20239"/>
                </a:cubicBezTo>
                <a:cubicBezTo>
                  <a:pt x="90" y="20263"/>
                  <a:pt x="95" y="20293"/>
                  <a:pt x="95" y="20308"/>
                </a:cubicBezTo>
                <a:cubicBezTo>
                  <a:pt x="95" y="20345"/>
                  <a:pt x="107" y="20404"/>
                  <a:pt x="122" y="20444"/>
                </a:cubicBezTo>
                <a:cubicBezTo>
                  <a:pt x="130" y="20463"/>
                  <a:pt x="135" y="20495"/>
                  <a:pt x="135" y="20514"/>
                </a:cubicBezTo>
                <a:cubicBezTo>
                  <a:pt x="135" y="20533"/>
                  <a:pt x="143" y="20564"/>
                  <a:pt x="152" y="20586"/>
                </a:cubicBezTo>
                <a:cubicBezTo>
                  <a:pt x="161" y="20607"/>
                  <a:pt x="170" y="20640"/>
                  <a:pt x="172" y="20661"/>
                </a:cubicBezTo>
                <a:cubicBezTo>
                  <a:pt x="174" y="20681"/>
                  <a:pt x="178" y="20699"/>
                  <a:pt x="181" y="20703"/>
                </a:cubicBezTo>
                <a:cubicBezTo>
                  <a:pt x="184" y="20708"/>
                  <a:pt x="186" y="20725"/>
                  <a:pt x="186" y="20744"/>
                </a:cubicBezTo>
                <a:cubicBezTo>
                  <a:pt x="186" y="20766"/>
                  <a:pt x="192" y="20782"/>
                  <a:pt x="202" y="20794"/>
                </a:cubicBezTo>
                <a:cubicBezTo>
                  <a:pt x="210" y="20804"/>
                  <a:pt x="222" y="20838"/>
                  <a:pt x="228" y="20866"/>
                </a:cubicBezTo>
                <a:cubicBezTo>
                  <a:pt x="235" y="20895"/>
                  <a:pt x="244" y="20917"/>
                  <a:pt x="249" y="20917"/>
                </a:cubicBezTo>
                <a:cubicBezTo>
                  <a:pt x="262" y="20917"/>
                  <a:pt x="276" y="20955"/>
                  <a:pt x="280" y="21003"/>
                </a:cubicBezTo>
                <a:cubicBezTo>
                  <a:pt x="283" y="21032"/>
                  <a:pt x="287" y="21043"/>
                  <a:pt x="298" y="21043"/>
                </a:cubicBezTo>
                <a:cubicBezTo>
                  <a:pt x="309" y="21043"/>
                  <a:pt x="315" y="21053"/>
                  <a:pt x="321" y="21091"/>
                </a:cubicBezTo>
                <a:cubicBezTo>
                  <a:pt x="326" y="21118"/>
                  <a:pt x="333" y="21143"/>
                  <a:pt x="339" y="21147"/>
                </a:cubicBezTo>
                <a:cubicBezTo>
                  <a:pt x="365" y="21168"/>
                  <a:pt x="386" y="21196"/>
                  <a:pt x="386" y="21211"/>
                </a:cubicBezTo>
                <a:cubicBezTo>
                  <a:pt x="386" y="21226"/>
                  <a:pt x="398" y="21239"/>
                  <a:pt x="450" y="21273"/>
                </a:cubicBezTo>
                <a:cubicBezTo>
                  <a:pt x="456" y="21276"/>
                  <a:pt x="464" y="21294"/>
                  <a:pt x="469" y="21313"/>
                </a:cubicBezTo>
                <a:cubicBezTo>
                  <a:pt x="474" y="21331"/>
                  <a:pt x="483" y="21345"/>
                  <a:pt x="489" y="21345"/>
                </a:cubicBezTo>
                <a:cubicBezTo>
                  <a:pt x="494" y="21345"/>
                  <a:pt x="506" y="21355"/>
                  <a:pt x="515" y="21366"/>
                </a:cubicBezTo>
                <a:cubicBezTo>
                  <a:pt x="524" y="21377"/>
                  <a:pt x="539" y="21387"/>
                  <a:pt x="548" y="21387"/>
                </a:cubicBezTo>
                <a:cubicBezTo>
                  <a:pt x="576" y="21388"/>
                  <a:pt x="616" y="21414"/>
                  <a:pt x="622" y="21435"/>
                </a:cubicBezTo>
                <a:cubicBezTo>
                  <a:pt x="636" y="21481"/>
                  <a:pt x="718" y="21484"/>
                  <a:pt x="1794" y="21484"/>
                </a:cubicBezTo>
                <a:cubicBezTo>
                  <a:pt x="2870" y="21484"/>
                  <a:pt x="2950" y="21481"/>
                  <a:pt x="2965" y="21435"/>
                </a:cubicBezTo>
                <a:cubicBezTo>
                  <a:pt x="2971" y="21414"/>
                  <a:pt x="3011" y="21388"/>
                  <a:pt x="3039" y="21387"/>
                </a:cubicBezTo>
                <a:cubicBezTo>
                  <a:pt x="3048" y="21387"/>
                  <a:pt x="3064" y="21377"/>
                  <a:pt x="3073" y="21366"/>
                </a:cubicBezTo>
                <a:cubicBezTo>
                  <a:pt x="3082" y="21355"/>
                  <a:pt x="3094" y="21345"/>
                  <a:pt x="3099" y="21345"/>
                </a:cubicBezTo>
                <a:cubicBezTo>
                  <a:pt x="3105" y="21345"/>
                  <a:pt x="3113" y="21331"/>
                  <a:pt x="3118" y="21313"/>
                </a:cubicBezTo>
                <a:cubicBezTo>
                  <a:pt x="3123" y="21294"/>
                  <a:pt x="3131" y="21276"/>
                  <a:pt x="3137" y="21273"/>
                </a:cubicBezTo>
                <a:cubicBezTo>
                  <a:pt x="3189" y="21239"/>
                  <a:pt x="3202" y="21226"/>
                  <a:pt x="3202" y="21211"/>
                </a:cubicBezTo>
                <a:cubicBezTo>
                  <a:pt x="3202" y="21196"/>
                  <a:pt x="3222" y="21168"/>
                  <a:pt x="3248" y="21147"/>
                </a:cubicBezTo>
                <a:cubicBezTo>
                  <a:pt x="3254" y="21143"/>
                  <a:pt x="3261" y="21118"/>
                  <a:pt x="3266" y="21091"/>
                </a:cubicBezTo>
                <a:cubicBezTo>
                  <a:pt x="3272" y="21053"/>
                  <a:pt x="3278" y="21043"/>
                  <a:pt x="3289" y="21043"/>
                </a:cubicBezTo>
                <a:cubicBezTo>
                  <a:pt x="3301" y="21043"/>
                  <a:pt x="3305" y="21032"/>
                  <a:pt x="3308" y="21000"/>
                </a:cubicBezTo>
                <a:cubicBezTo>
                  <a:pt x="3311" y="20955"/>
                  <a:pt x="3324" y="20922"/>
                  <a:pt x="3341" y="20915"/>
                </a:cubicBezTo>
                <a:cubicBezTo>
                  <a:pt x="3351" y="20910"/>
                  <a:pt x="3355" y="20896"/>
                  <a:pt x="3366" y="20834"/>
                </a:cubicBezTo>
                <a:cubicBezTo>
                  <a:pt x="3368" y="20823"/>
                  <a:pt x="3378" y="20804"/>
                  <a:pt x="3386" y="20794"/>
                </a:cubicBezTo>
                <a:cubicBezTo>
                  <a:pt x="3396" y="20782"/>
                  <a:pt x="3400" y="20765"/>
                  <a:pt x="3400" y="20744"/>
                </a:cubicBezTo>
                <a:cubicBezTo>
                  <a:pt x="3400" y="20725"/>
                  <a:pt x="3403" y="20708"/>
                  <a:pt x="3406" y="20703"/>
                </a:cubicBezTo>
                <a:cubicBezTo>
                  <a:pt x="3409" y="20699"/>
                  <a:pt x="3413" y="20681"/>
                  <a:pt x="3415" y="20661"/>
                </a:cubicBezTo>
                <a:cubicBezTo>
                  <a:pt x="3417" y="20640"/>
                  <a:pt x="3427" y="20607"/>
                  <a:pt x="3436" y="20586"/>
                </a:cubicBezTo>
                <a:cubicBezTo>
                  <a:pt x="3445" y="20564"/>
                  <a:pt x="3452" y="20533"/>
                  <a:pt x="3452" y="20514"/>
                </a:cubicBezTo>
                <a:cubicBezTo>
                  <a:pt x="3452" y="20495"/>
                  <a:pt x="3457" y="20463"/>
                  <a:pt x="3464" y="20444"/>
                </a:cubicBezTo>
                <a:cubicBezTo>
                  <a:pt x="3484" y="20393"/>
                  <a:pt x="3515" y="20214"/>
                  <a:pt x="3515" y="20153"/>
                </a:cubicBezTo>
                <a:cubicBezTo>
                  <a:pt x="3515" y="20141"/>
                  <a:pt x="3519" y="20125"/>
                  <a:pt x="3524" y="20118"/>
                </a:cubicBezTo>
                <a:cubicBezTo>
                  <a:pt x="3535" y="20103"/>
                  <a:pt x="3541" y="20037"/>
                  <a:pt x="3546" y="19886"/>
                </a:cubicBezTo>
                <a:cubicBezTo>
                  <a:pt x="3548" y="19822"/>
                  <a:pt x="3552" y="19767"/>
                  <a:pt x="3555" y="19763"/>
                </a:cubicBezTo>
                <a:cubicBezTo>
                  <a:pt x="3558" y="19759"/>
                  <a:pt x="3560" y="19725"/>
                  <a:pt x="3560" y="19688"/>
                </a:cubicBezTo>
                <a:cubicBezTo>
                  <a:pt x="3560" y="19642"/>
                  <a:pt x="3563" y="19616"/>
                  <a:pt x="3569" y="19608"/>
                </a:cubicBezTo>
                <a:cubicBezTo>
                  <a:pt x="3593" y="19576"/>
                  <a:pt x="3593" y="18710"/>
                  <a:pt x="3569" y="18678"/>
                </a:cubicBezTo>
                <a:cubicBezTo>
                  <a:pt x="3563" y="18670"/>
                  <a:pt x="3560" y="18645"/>
                  <a:pt x="3560" y="18598"/>
                </a:cubicBezTo>
                <a:cubicBezTo>
                  <a:pt x="3560" y="18561"/>
                  <a:pt x="3558" y="18525"/>
                  <a:pt x="3555" y="18521"/>
                </a:cubicBezTo>
                <a:cubicBezTo>
                  <a:pt x="3552" y="18516"/>
                  <a:pt x="3548" y="18490"/>
                  <a:pt x="3548" y="18462"/>
                </a:cubicBezTo>
                <a:cubicBezTo>
                  <a:pt x="3548" y="18349"/>
                  <a:pt x="3534" y="18181"/>
                  <a:pt x="3524" y="18168"/>
                </a:cubicBezTo>
                <a:cubicBezTo>
                  <a:pt x="3519" y="18161"/>
                  <a:pt x="3515" y="18145"/>
                  <a:pt x="3515" y="18133"/>
                </a:cubicBezTo>
                <a:cubicBezTo>
                  <a:pt x="3515" y="18072"/>
                  <a:pt x="3484" y="17891"/>
                  <a:pt x="3464" y="17839"/>
                </a:cubicBezTo>
                <a:cubicBezTo>
                  <a:pt x="3457" y="17820"/>
                  <a:pt x="3452" y="17797"/>
                  <a:pt x="3452" y="17786"/>
                </a:cubicBezTo>
                <a:cubicBezTo>
                  <a:pt x="3452" y="17747"/>
                  <a:pt x="3406" y="17459"/>
                  <a:pt x="3377" y="17321"/>
                </a:cubicBezTo>
                <a:cubicBezTo>
                  <a:pt x="3339" y="17135"/>
                  <a:pt x="3295" y="16983"/>
                  <a:pt x="3246" y="16864"/>
                </a:cubicBezTo>
                <a:cubicBezTo>
                  <a:pt x="3235" y="16837"/>
                  <a:pt x="3223" y="16811"/>
                  <a:pt x="3211" y="16787"/>
                </a:cubicBezTo>
                <a:cubicBezTo>
                  <a:pt x="3208" y="16781"/>
                  <a:pt x="3205" y="16776"/>
                  <a:pt x="3202" y="16771"/>
                </a:cubicBezTo>
                <a:cubicBezTo>
                  <a:pt x="3164" y="16699"/>
                  <a:pt x="3125" y="16645"/>
                  <a:pt x="3082" y="16608"/>
                </a:cubicBezTo>
                <a:cubicBezTo>
                  <a:pt x="3064" y="16592"/>
                  <a:pt x="3052" y="16583"/>
                  <a:pt x="3018" y="16578"/>
                </a:cubicBezTo>
                <a:cubicBezTo>
                  <a:pt x="2980" y="16574"/>
                  <a:pt x="2915" y="16571"/>
                  <a:pt x="2794" y="16568"/>
                </a:cubicBezTo>
                <a:lnTo>
                  <a:pt x="2538" y="16560"/>
                </a:lnTo>
                <a:lnTo>
                  <a:pt x="2538" y="15518"/>
                </a:lnTo>
                <a:lnTo>
                  <a:pt x="2538" y="14476"/>
                </a:lnTo>
                <a:lnTo>
                  <a:pt x="3269" y="14473"/>
                </a:lnTo>
                <a:cubicBezTo>
                  <a:pt x="3271" y="14473"/>
                  <a:pt x="3272" y="14473"/>
                  <a:pt x="3274" y="14473"/>
                </a:cubicBezTo>
                <a:cubicBezTo>
                  <a:pt x="3769" y="14471"/>
                  <a:pt x="4003" y="14464"/>
                  <a:pt x="4007" y="14454"/>
                </a:cubicBezTo>
                <a:cubicBezTo>
                  <a:pt x="4011" y="14445"/>
                  <a:pt x="4014" y="14208"/>
                  <a:pt x="4016" y="13768"/>
                </a:cubicBezTo>
                <a:lnTo>
                  <a:pt x="4019" y="13094"/>
                </a:lnTo>
                <a:lnTo>
                  <a:pt x="4734" y="13094"/>
                </a:lnTo>
                <a:lnTo>
                  <a:pt x="5449" y="13094"/>
                </a:lnTo>
                <a:lnTo>
                  <a:pt x="5453" y="13778"/>
                </a:lnTo>
                <a:lnTo>
                  <a:pt x="5455" y="14462"/>
                </a:lnTo>
                <a:lnTo>
                  <a:pt x="6250" y="14468"/>
                </a:lnTo>
                <a:lnTo>
                  <a:pt x="7046" y="14476"/>
                </a:lnTo>
                <a:lnTo>
                  <a:pt x="7046" y="15574"/>
                </a:lnTo>
                <a:lnTo>
                  <a:pt x="7046" y="16672"/>
                </a:lnTo>
                <a:lnTo>
                  <a:pt x="6812" y="16680"/>
                </a:lnTo>
                <a:cubicBezTo>
                  <a:pt x="6718" y="16683"/>
                  <a:pt x="6667" y="16686"/>
                  <a:pt x="6628" y="16691"/>
                </a:cubicBezTo>
                <a:cubicBezTo>
                  <a:pt x="6613" y="16692"/>
                  <a:pt x="6598" y="16693"/>
                  <a:pt x="6587" y="16696"/>
                </a:cubicBezTo>
                <a:cubicBezTo>
                  <a:pt x="6552" y="16705"/>
                  <a:pt x="6536" y="16722"/>
                  <a:pt x="6504" y="16755"/>
                </a:cubicBezTo>
                <a:cubicBezTo>
                  <a:pt x="6437" y="16824"/>
                  <a:pt x="6348" y="17017"/>
                  <a:pt x="6294" y="17212"/>
                </a:cubicBezTo>
                <a:cubicBezTo>
                  <a:pt x="6263" y="17327"/>
                  <a:pt x="6219" y="17540"/>
                  <a:pt x="6196" y="17684"/>
                </a:cubicBezTo>
                <a:cubicBezTo>
                  <a:pt x="6188" y="17741"/>
                  <a:pt x="6177" y="17804"/>
                  <a:pt x="6173" y="17823"/>
                </a:cubicBezTo>
                <a:cubicBezTo>
                  <a:pt x="6169" y="17843"/>
                  <a:pt x="6165" y="17876"/>
                  <a:pt x="6165" y="17895"/>
                </a:cubicBezTo>
                <a:cubicBezTo>
                  <a:pt x="6165" y="17915"/>
                  <a:pt x="6159" y="17946"/>
                  <a:pt x="6152" y="17965"/>
                </a:cubicBezTo>
                <a:cubicBezTo>
                  <a:pt x="6133" y="18017"/>
                  <a:pt x="6125" y="18054"/>
                  <a:pt x="6125" y="18096"/>
                </a:cubicBezTo>
                <a:cubicBezTo>
                  <a:pt x="6124" y="18117"/>
                  <a:pt x="6121" y="18152"/>
                  <a:pt x="6117" y="18171"/>
                </a:cubicBezTo>
                <a:cubicBezTo>
                  <a:pt x="6112" y="18190"/>
                  <a:pt x="6108" y="18224"/>
                  <a:pt x="6108" y="18248"/>
                </a:cubicBezTo>
                <a:cubicBezTo>
                  <a:pt x="6108" y="18277"/>
                  <a:pt x="6104" y="18297"/>
                  <a:pt x="6097" y="18307"/>
                </a:cubicBezTo>
                <a:cubicBezTo>
                  <a:pt x="6089" y="18317"/>
                  <a:pt x="6085" y="18342"/>
                  <a:pt x="6083" y="18400"/>
                </a:cubicBezTo>
                <a:cubicBezTo>
                  <a:pt x="6081" y="18444"/>
                  <a:pt x="6077" y="18491"/>
                  <a:pt x="6074" y="18505"/>
                </a:cubicBezTo>
                <a:cubicBezTo>
                  <a:pt x="6071" y="18518"/>
                  <a:pt x="6068" y="18551"/>
                  <a:pt x="6068" y="18577"/>
                </a:cubicBezTo>
                <a:cubicBezTo>
                  <a:pt x="6068" y="18603"/>
                  <a:pt x="6066" y="18628"/>
                  <a:pt x="6063" y="18633"/>
                </a:cubicBezTo>
                <a:cubicBezTo>
                  <a:pt x="6060" y="18638"/>
                  <a:pt x="6056" y="18671"/>
                  <a:pt x="6056" y="18708"/>
                </a:cubicBezTo>
                <a:cubicBezTo>
                  <a:pt x="6056" y="18755"/>
                  <a:pt x="6054" y="18779"/>
                  <a:pt x="6047" y="18788"/>
                </a:cubicBezTo>
                <a:cubicBezTo>
                  <a:pt x="6024" y="18820"/>
                  <a:pt x="6025" y="19702"/>
                  <a:pt x="6048" y="19734"/>
                </a:cubicBezTo>
                <a:cubicBezTo>
                  <a:pt x="6054" y="19741"/>
                  <a:pt x="6056" y="19768"/>
                  <a:pt x="6056" y="19814"/>
                </a:cubicBezTo>
                <a:cubicBezTo>
                  <a:pt x="6056" y="19851"/>
                  <a:pt x="6060" y="19884"/>
                  <a:pt x="6063" y="19889"/>
                </a:cubicBezTo>
                <a:cubicBezTo>
                  <a:pt x="6066" y="19893"/>
                  <a:pt x="6068" y="19925"/>
                  <a:pt x="6068" y="19958"/>
                </a:cubicBezTo>
                <a:cubicBezTo>
                  <a:pt x="6068" y="19991"/>
                  <a:pt x="6070" y="20021"/>
                  <a:pt x="6073" y="20025"/>
                </a:cubicBezTo>
                <a:cubicBezTo>
                  <a:pt x="6075" y="20029"/>
                  <a:pt x="6079" y="20070"/>
                  <a:pt x="6082" y="20116"/>
                </a:cubicBezTo>
                <a:cubicBezTo>
                  <a:pt x="6084" y="20178"/>
                  <a:pt x="6089" y="20204"/>
                  <a:pt x="6097" y="20215"/>
                </a:cubicBezTo>
                <a:cubicBezTo>
                  <a:pt x="6103" y="20222"/>
                  <a:pt x="6108" y="20240"/>
                  <a:pt x="6108" y="20257"/>
                </a:cubicBezTo>
                <a:cubicBezTo>
                  <a:pt x="6108" y="20274"/>
                  <a:pt x="6112" y="20321"/>
                  <a:pt x="6117" y="20359"/>
                </a:cubicBezTo>
                <a:cubicBezTo>
                  <a:pt x="6122" y="20397"/>
                  <a:pt x="6128" y="20446"/>
                  <a:pt x="6131" y="20471"/>
                </a:cubicBezTo>
                <a:cubicBezTo>
                  <a:pt x="6134" y="20496"/>
                  <a:pt x="6143" y="20532"/>
                  <a:pt x="6150" y="20551"/>
                </a:cubicBezTo>
                <a:cubicBezTo>
                  <a:pt x="6157" y="20570"/>
                  <a:pt x="6166" y="20612"/>
                  <a:pt x="6168" y="20642"/>
                </a:cubicBezTo>
                <a:cubicBezTo>
                  <a:pt x="6170" y="20679"/>
                  <a:pt x="6176" y="20704"/>
                  <a:pt x="6185" y="20719"/>
                </a:cubicBezTo>
                <a:cubicBezTo>
                  <a:pt x="6193" y="20732"/>
                  <a:pt x="6200" y="20747"/>
                  <a:pt x="6200" y="20757"/>
                </a:cubicBezTo>
                <a:cubicBezTo>
                  <a:pt x="6200" y="20766"/>
                  <a:pt x="6204" y="20791"/>
                  <a:pt x="6211" y="20810"/>
                </a:cubicBezTo>
                <a:cubicBezTo>
                  <a:pt x="6217" y="20830"/>
                  <a:pt x="6222" y="20859"/>
                  <a:pt x="6222" y="20874"/>
                </a:cubicBezTo>
                <a:cubicBezTo>
                  <a:pt x="6222" y="20893"/>
                  <a:pt x="6226" y="20904"/>
                  <a:pt x="6233" y="20904"/>
                </a:cubicBezTo>
                <a:cubicBezTo>
                  <a:pt x="6247" y="20904"/>
                  <a:pt x="6260" y="20942"/>
                  <a:pt x="6265" y="20997"/>
                </a:cubicBezTo>
                <a:cubicBezTo>
                  <a:pt x="6267" y="21028"/>
                  <a:pt x="6273" y="21048"/>
                  <a:pt x="6282" y="21056"/>
                </a:cubicBezTo>
                <a:cubicBezTo>
                  <a:pt x="6290" y="21063"/>
                  <a:pt x="6299" y="21085"/>
                  <a:pt x="6302" y="21104"/>
                </a:cubicBezTo>
                <a:cubicBezTo>
                  <a:pt x="6305" y="21124"/>
                  <a:pt x="6312" y="21143"/>
                  <a:pt x="6318" y="21147"/>
                </a:cubicBezTo>
                <a:cubicBezTo>
                  <a:pt x="6337" y="21161"/>
                  <a:pt x="6344" y="21176"/>
                  <a:pt x="6353" y="21216"/>
                </a:cubicBezTo>
                <a:cubicBezTo>
                  <a:pt x="6358" y="21240"/>
                  <a:pt x="6368" y="21256"/>
                  <a:pt x="6376" y="21259"/>
                </a:cubicBezTo>
                <a:cubicBezTo>
                  <a:pt x="6392" y="21265"/>
                  <a:pt x="6410" y="21300"/>
                  <a:pt x="6410" y="21326"/>
                </a:cubicBezTo>
                <a:cubicBezTo>
                  <a:pt x="6410" y="21336"/>
                  <a:pt x="6414" y="21345"/>
                  <a:pt x="6419" y="21345"/>
                </a:cubicBezTo>
                <a:cubicBezTo>
                  <a:pt x="6424" y="21345"/>
                  <a:pt x="6433" y="21355"/>
                  <a:pt x="6438" y="21366"/>
                </a:cubicBezTo>
                <a:cubicBezTo>
                  <a:pt x="6443" y="21377"/>
                  <a:pt x="6458" y="21392"/>
                  <a:pt x="6470" y="21398"/>
                </a:cubicBezTo>
                <a:cubicBezTo>
                  <a:pt x="6485" y="21405"/>
                  <a:pt x="6494" y="21419"/>
                  <a:pt x="6497" y="21438"/>
                </a:cubicBezTo>
                <a:cubicBezTo>
                  <a:pt x="6501" y="21456"/>
                  <a:pt x="6510" y="21471"/>
                  <a:pt x="6521" y="21476"/>
                </a:cubicBezTo>
                <a:cubicBezTo>
                  <a:pt x="6530" y="21480"/>
                  <a:pt x="6551" y="21489"/>
                  <a:pt x="6567" y="21497"/>
                </a:cubicBezTo>
                <a:cubicBezTo>
                  <a:pt x="6583" y="21505"/>
                  <a:pt x="6608" y="21514"/>
                  <a:pt x="6623" y="21518"/>
                </a:cubicBezTo>
                <a:cubicBezTo>
                  <a:pt x="6639" y="21523"/>
                  <a:pt x="6655" y="21537"/>
                  <a:pt x="6659" y="21548"/>
                </a:cubicBezTo>
                <a:cubicBezTo>
                  <a:pt x="6662" y="21558"/>
                  <a:pt x="6680" y="21573"/>
                  <a:pt x="6698" y="21580"/>
                </a:cubicBezTo>
                <a:cubicBezTo>
                  <a:pt x="6717" y="21586"/>
                  <a:pt x="7221" y="21592"/>
                  <a:pt x="7819" y="21593"/>
                </a:cubicBezTo>
                <a:cubicBezTo>
                  <a:pt x="8917" y="21595"/>
                  <a:pt x="8979" y="21591"/>
                  <a:pt x="8994" y="21545"/>
                </a:cubicBezTo>
                <a:cubicBezTo>
                  <a:pt x="8998" y="21535"/>
                  <a:pt x="9010" y="21525"/>
                  <a:pt x="9023" y="21521"/>
                </a:cubicBezTo>
                <a:cubicBezTo>
                  <a:pt x="9036" y="21517"/>
                  <a:pt x="9069" y="21503"/>
                  <a:pt x="9098" y="21489"/>
                </a:cubicBezTo>
                <a:cubicBezTo>
                  <a:pt x="9142" y="21468"/>
                  <a:pt x="9151" y="21459"/>
                  <a:pt x="9152" y="21435"/>
                </a:cubicBezTo>
                <a:cubicBezTo>
                  <a:pt x="9153" y="21415"/>
                  <a:pt x="9160" y="21404"/>
                  <a:pt x="9180" y="21395"/>
                </a:cubicBezTo>
                <a:cubicBezTo>
                  <a:pt x="9194" y="21389"/>
                  <a:pt x="9210" y="21374"/>
                  <a:pt x="9215" y="21363"/>
                </a:cubicBezTo>
                <a:cubicBezTo>
                  <a:pt x="9220" y="21353"/>
                  <a:pt x="9227" y="21345"/>
                  <a:pt x="9233" y="21345"/>
                </a:cubicBezTo>
                <a:cubicBezTo>
                  <a:pt x="9238" y="21345"/>
                  <a:pt x="9243" y="21336"/>
                  <a:pt x="9243" y="21326"/>
                </a:cubicBezTo>
                <a:cubicBezTo>
                  <a:pt x="9243" y="21299"/>
                  <a:pt x="9260" y="21265"/>
                  <a:pt x="9277" y="21259"/>
                </a:cubicBezTo>
                <a:cubicBezTo>
                  <a:pt x="9286" y="21256"/>
                  <a:pt x="9292" y="21244"/>
                  <a:pt x="9293" y="21227"/>
                </a:cubicBezTo>
                <a:cubicBezTo>
                  <a:pt x="9296" y="21186"/>
                  <a:pt x="9310" y="21156"/>
                  <a:pt x="9329" y="21147"/>
                </a:cubicBezTo>
                <a:cubicBezTo>
                  <a:pt x="9339" y="21142"/>
                  <a:pt x="9345" y="21130"/>
                  <a:pt x="9345" y="21115"/>
                </a:cubicBezTo>
                <a:cubicBezTo>
                  <a:pt x="9345" y="21083"/>
                  <a:pt x="9361" y="21043"/>
                  <a:pt x="9374" y="21043"/>
                </a:cubicBezTo>
                <a:cubicBezTo>
                  <a:pt x="9381" y="21043"/>
                  <a:pt x="9386" y="21027"/>
                  <a:pt x="9388" y="21003"/>
                </a:cubicBezTo>
                <a:cubicBezTo>
                  <a:pt x="9393" y="20946"/>
                  <a:pt x="9399" y="20926"/>
                  <a:pt x="9416" y="20906"/>
                </a:cubicBezTo>
                <a:cubicBezTo>
                  <a:pt x="9424" y="20897"/>
                  <a:pt x="9430" y="20879"/>
                  <a:pt x="9430" y="20869"/>
                </a:cubicBezTo>
                <a:cubicBezTo>
                  <a:pt x="9430" y="20828"/>
                  <a:pt x="9454" y="20726"/>
                  <a:pt x="9468" y="20709"/>
                </a:cubicBezTo>
                <a:cubicBezTo>
                  <a:pt x="9478" y="20695"/>
                  <a:pt x="9483" y="20677"/>
                  <a:pt x="9485" y="20639"/>
                </a:cubicBezTo>
                <a:cubicBezTo>
                  <a:pt x="9487" y="20610"/>
                  <a:pt x="9495" y="20570"/>
                  <a:pt x="9502" y="20551"/>
                </a:cubicBezTo>
                <a:cubicBezTo>
                  <a:pt x="9509" y="20532"/>
                  <a:pt x="9518" y="20496"/>
                  <a:pt x="9521" y="20471"/>
                </a:cubicBezTo>
                <a:cubicBezTo>
                  <a:pt x="9524" y="20446"/>
                  <a:pt x="9531" y="20397"/>
                  <a:pt x="9536" y="20359"/>
                </a:cubicBezTo>
                <a:cubicBezTo>
                  <a:pt x="9541" y="20321"/>
                  <a:pt x="9545" y="20276"/>
                  <a:pt x="9545" y="20260"/>
                </a:cubicBezTo>
                <a:cubicBezTo>
                  <a:pt x="9545" y="20244"/>
                  <a:pt x="9550" y="20222"/>
                  <a:pt x="9556" y="20212"/>
                </a:cubicBezTo>
                <a:cubicBezTo>
                  <a:pt x="9565" y="20197"/>
                  <a:pt x="9569" y="20166"/>
                  <a:pt x="9574" y="20054"/>
                </a:cubicBezTo>
                <a:cubicBezTo>
                  <a:pt x="9577" y="19978"/>
                  <a:pt x="9582" y="19904"/>
                  <a:pt x="9585" y="19891"/>
                </a:cubicBezTo>
                <a:cubicBezTo>
                  <a:pt x="9587" y="19878"/>
                  <a:pt x="9590" y="19840"/>
                  <a:pt x="9590" y="19806"/>
                </a:cubicBezTo>
                <a:cubicBezTo>
                  <a:pt x="9590" y="19765"/>
                  <a:pt x="9593" y="19741"/>
                  <a:pt x="9599" y="19734"/>
                </a:cubicBezTo>
                <a:cubicBezTo>
                  <a:pt x="9605" y="19725"/>
                  <a:pt x="9608" y="19685"/>
                  <a:pt x="9611" y="19579"/>
                </a:cubicBezTo>
                <a:cubicBezTo>
                  <a:pt x="9613" y="19501"/>
                  <a:pt x="9617" y="19436"/>
                  <a:pt x="9620" y="19432"/>
                </a:cubicBezTo>
                <a:cubicBezTo>
                  <a:pt x="9626" y="19422"/>
                  <a:pt x="9626" y="19113"/>
                  <a:pt x="9620" y="19103"/>
                </a:cubicBezTo>
                <a:cubicBezTo>
                  <a:pt x="9617" y="19099"/>
                  <a:pt x="9613" y="19029"/>
                  <a:pt x="9611" y="18948"/>
                </a:cubicBezTo>
                <a:cubicBezTo>
                  <a:pt x="9609" y="18841"/>
                  <a:pt x="9606" y="18797"/>
                  <a:pt x="9600" y="18785"/>
                </a:cubicBezTo>
                <a:cubicBezTo>
                  <a:pt x="9595" y="18776"/>
                  <a:pt x="9589" y="18746"/>
                  <a:pt x="9588" y="18716"/>
                </a:cubicBezTo>
                <a:cubicBezTo>
                  <a:pt x="9572" y="18400"/>
                  <a:pt x="9566" y="18327"/>
                  <a:pt x="9556" y="18307"/>
                </a:cubicBezTo>
                <a:cubicBezTo>
                  <a:pt x="9550" y="18296"/>
                  <a:pt x="9544" y="18264"/>
                  <a:pt x="9543" y="18237"/>
                </a:cubicBezTo>
                <a:cubicBezTo>
                  <a:pt x="9541" y="18211"/>
                  <a:pt x="9538" y="18172"/>
                  <a:pt x="9535" y="18149"/>
                </a:cubicBezTo>
                <a:cubicBezTo>
                  <a:pt x="9532" y="18126"/>
                  <a:pt x="9525" y="18084"/>
                  <a:pt x="9522" y="18056"/>
                </a:cubicBezTo>
                <a:cubicBezTo>
                  <a:pt x="9518" y="18027"/>
                  <a:pt x="9509" y="17987"/>
                  <a:pt x="9502" y="17968"/>
                </a:cubicBezTo>
                <a:cubicBezTo>
                  <a:pt x="9494" y="17948"/>
                  <a:pt x="9487" y="17913"/>
                  <a:pt x="9487" y="17893"/>
                </a:cubicBezTo>
                <a:cubicBezTo>
                  <a:pt x="9487" y="17873"/>
                  <a:pt x="9484" y="17846"/>
                  <a:pt x="9480" y="17831"/>
                </a:cubicBezTo>
                <a:cubicBezTo>
                  <a:pt x="9475" y="17816"/>
                  <a:pt x="9465" y="17757"/>
                  <a:pt x="9457" y="17700"/>
                </a:cubicBezTo>
                <a:cubicBezTo>
                  <a:pt x="9423" y="17472"/>
                  <a:pt x="9364" y="17215"/>
                  <a:pt x="9307" y="17051"/>
                </a:cubicBezTo>
                <a:cubicBezTo>
                  <a:pt x="9294" y="17016"/>
                  <a:pt x="9280" y="16984"/>
                  <a:pt x="9266" y="16952"/>
                </a:cubicBezTo>
                <a:cubicBezTo>
                  <a:pt x="9264" y="16948"/>
                  <a:pt x="9262" y="16943"/>
                  <a:pt x="9260" y="16939"/>
                </a:cubicBezTo>
                <a:cubicBezTo>
                  <a:pt x="9213" y="16838"/>
                  <a:pt x="9156" y="16754"/>
                  <a:pt x="9100" y="16709"/>
                </a:cubicBezTo>
                <a:cubicBezTo>
                  <a:pt x="9070" y="16685"/>
                  <a:pt x="9020" y="16684"/>
                  <a:pt x="8083" y="16677"/>
                </a:cubicBezTo>
                <a:lnTo>
                  <a:pt x="8080" y="16677"/>
                </a:lnTo>
                <a:lnTo>
                  <a:pt x="7091" y="16672"/>
                </a:lnTo>
                <a:lnTo>
                  <a:pt x="7090" y="15539"/>
                </a:lnTo>
                <a:cubicBezTo>
                  <a:pt x="7089" y="14776"/>
                  <a:pt x="7086" y="14403"/>
                  <a:pt x="7082" y="14393"/>
                </a:cubicBezTo>
                <a:cubicBezTo>
                  <a:pt x="7078" y="14383"/>
                  <a:pt x="6824" y="14376"/>
                  <a:pt x="6286" y="14371"/>
                </a:cubicBezTo>
                <a:lnTo>
                  <a:pt x="5496" y="14366"/>
                </a:lnTo>
                <a:lnTo>
                  <a:pt x="5496" y="13826"/>
                </a:lnTo>
                <a:lnTo>
                  <a:pt x="5496" y="13717"/>
                </a:lnTo>
                <a:lnTo>
                  <a:pt x="5496" y="13289"/>
                </a:lnTo>
                <a:lnTo>
                  <a:pt x="5496" y="13068"/>
                </a:lnTo>
                <a:lnTo>
                  <a:pt x="5532" y="13057"/>
                </a:lnTo>
                <a:cubicBezTo>
                  <a:pt x="5553" y="13051"/>
                  <a:pt x="5571" y="13036"/>
                  <a:pt x="5574" y="13025"/>
                </a:cubicBezTo>
                <a:cubicBezTo>
                  <a:pt x="5577" y="13014"/>
                  <a:pt x="5603" y="12997"/>
                  <a:pt x="5629" y="12985"/>
                </a:cubicBezTo>
                <a:cubicBezTo>
                  <a:pt x="5656" y="12973"/>
                  <a:pt x="5682" y="12957"/>
                  <a:pt x="5688" y="12950"/>
                </a:cubicBezTo>
                <a:cubicBezTo>
                  <a:pt x="5693" y="12943"/>
                  <a:pt x="5700" y="12937"/>
                  <a:pt x="5703" y="12937"/>
                </a:cubicBezTo>
                <a:cubicBezTo>
                  <a:pt x="5706" y="12937"/>
                  <a:pt x="5716" y="12921"/>
                  <a:pt x="5724" y="12902"/>
                </a:cubicBezTo>
                <a:cubicBezTo>
                  <a:pt x="5733" y="12883"/>
                  <a:pt x="5746" y="12868"/>
                  <a:pt x="5754" y="12867"/>
                </a:cubicBezTo>
                <a:cubicBezTo>
                  <a:pt x="5770" y="12867"/>
                  <a:pt x="5783" y="12845"/>
                  <a:pt x="5792" y="12803"/>
                </a:cubicBezTo>
                <a:cubicBezTo>
                  <a:pt x="5796" y="12788"/>
                  <a:pt x="5804" y="12776"/>
                  <a:pt x="5811" y="12774"/>
                </a:cubicBezTo>
                <a:cubicBezTo>
                  <a:pt x="5818" y="12771"/>
                  <a:pt x="5827" y="12752"/>
                  <a:pt x="5832" y="12734"/>
                </a:cubicBezTo>
                <a:cubicBezTo>
                  <a:pt x="5837" y="12715"/>
                  <a:pt x="5844" y="12702"/>
                  <a:pt x="5848" y="12702"/>
                </a:cubicBezTo>
                <a:cubicBezTo>
                  <a:pt x="5855" y="12702"/>
                  <a:pt x="5875" y="12629"/>
                  <a:pt x="5880" y="12584"/>
                </a:cubicBezTo>
                <a:cubicBezTo>
                  <a:pt x="5881" y="12569"/>
                  <a:pt x="5892" y="12547"/>
                  <a:pt x="5904" y="12533"/>
                </a:cubicBezTo>
                <a:cubicBezTo>
                  <a:pt x="5920" y="12515"/>
                  <a:pt x="5926" y="12500"/>
                  <a:pt x="5926" y="12475"/>
                </a:cubicBezTo>
                <a:cubicBezTo>
                  <a:pt x="5926" y="12453"/>
                  <a:pt x="5931" y="12429"/>
                  <a:pt x="5941" y="12410"/>
                </a:cubicBezTo>
                <a:cubicBezTo>
                  <a:pt x="5953" y="12389"/>
                  <a:pt x="5960" y="12361"/>
                  <a:pt x="5966" y="12304"/>
                </a:cubicBezTo>
                <a:cubicBezTo>
                  <a:pt x="5974" y="12218"/>
                  <a:pt x="5986" y="12162"/>
                  <a:pt x="5997" y="12162"/>
                </a:cubicBezTo>
                <a:cubicBezTo>
                  <a:pt x="6005" y="12162"/>
                  <a:pt x="6016" y="12058"/>
                  <a:pt x="6016" y="11991"/>
                </a:cubicBezTo>
                <a:cubicBezTo>
                  <a:pt x="6016" y="11965"/>
                  <a:pt x="6019" y="11940"/>
                  <a:pt x="6022" y="11935"/>
                </a:cubicBezTo>
                <a:cubicBezTo>
                  <a:pt x="6025" y="11930"/>
                  <a:pt x="6029" y="11907"/>
                  <a:pt x="6029" y="11884"/>
                </a:cubicBezTo>
                <a:cubicBezTo>
                  <a:pt x="6029" y="11854"/>
                  <a:pt x="6031" y="11841"/>
                  <a:pt x="6040" y="11836"/>
                </a:cubicBezTo>
                <a:cubicBezTo>
                  <a:pt x="6047" y="11831"/>
                  <a:pt x="6051" y="11816"/>
                  <a:pt x="6051" y="11796"/>
                </a:cubicBezTo>
                <a:cubicBezTo>
                  <a:pt x="6051" y="11778"/>
                  <a:pt x="6053" y="11760"/>
                  <a:pt x="6056" y="11756"/>
                </a:cubicBezTo>
                <a:cubicBezTo>
                  <a:pt x="6059" y="11752"/>
                  <a:pt x="6063" y="11689"/>
                  <a:pt x="6065" y="11617"/>
                </a:cubicBezTo>
                <a:cubicBezTo>
                  <a:pt x="6067" y="11545"/>
                  <a:pt x="6072" y="11482"/>
                  <a:pt x="6075" y="11478"/>
                </a:cubicBezTo>
                <a:cubicBezTo>
                  <a:pt x="6078" y="11474"/>
                  <a:pt x="6079" y="11440"/>
                  <a:pt x="6079" y="11403"/>
                </a:cubicBezTo>
                <a:cubicBezTo>
                  <a:pt x="6079" y="11358"/>
                  <a:pt x="6082" y="11331"/>
                  <a:pt x="6088" y="11323"/>
                </a:cubicBezTo>
                <a:cubicBezTo>
                  <a:pt x="6099" y="11308"/>
                  <a:pt x="6108" y="11064"/>
                  <a:pt x="6108" y="10767"/>
                </a:cubicBezTo>
                <a:cubicBezTo>
                  <a:pt x="6108" y="10649"/>
                  <a:pt x="6109" y="10548"/>
                  <a:pt x="6111" y="10543"/>
                </a:cubicBezTo>
                <a:cubicBezTo>
                  <a:pt x="6113" y="10538"/>
                  <a:pt x="6119" y="10541"/>
                  <a:pt x="6122" y="10548"/>
                </a:cubicBezTo>
                <a:cubicBezTo>
                  <a:pt x="6127" y="10557"/>
                  <a:pt x="6714" y="10561"/>
                  <a:pt x="7841" y="10559"/>
                </a:cubicBezTo>
                <a:lnTo>
                  <a:pt x="9379" y="10554"/>
                </a:lnTo>
                <a:cubicBezTo>
                  <a:pt x="9482" y="10551"/>
                  <a:pt x="9551" y="10549"/>
                  <a:pt x="9553" y="10546"/>
                </a:cubicBezTo>
                <a:cubicBezTo>
                  <a:pt x="9553" y="10545"/>
                  <a:pt x="9552" y="10526"/>
                  <a:pt x="9553" y="10524"/>
                </a:cubicBezTo>
                <a:lnTo>
                  <a:pt x="9556" y="7748"/>
                </a:lnTo>
                <a:cubicBezTo>
                  <a:pt x="9558" y="5812"/>
                  <a:pt x="9561" y="4937"/>
                  <a:pt x="9565" y="4927"/>
                </a:cubicBezTo>
                <a:cubicBezTo>
                  <a:pt x="9569" y="4917"/>
                  <a:pt x="9917" y="4914"/>
                  <a:pt x="10702" y="4916"/>
                </a:cubicBezTo>
                <a:lnTo>
                  <a:pt x="11833" y="4922"/>
                </a:lnTo>
                <a:lnTo>
                  <a:pt x="11835" y="7727"/>
                </a:lnTo>
                <a:cubicBezTo>
                  <a:pt x="11837" y="9659"/>
                  <a:pt x="11840" y="10533"/>
                  <a:pt x="11844" y="10546"/>
                </a:cubicBezTo>
                <a:cubicBezTo>
                  <a:pt x="11845" y="10547"/>
                  <a:pt x="11879" y="10547"/>
                  <a:pt x="11898" y="10548"/>
                </a:cubicBezTo>
                <a:cubicBezTo>
                  <a:pt x="11917" y="10549"/>
                  <a:pt x="11918" y="10553"/>
                  <a:pt x="11956" y="10554"/>
                </a:cubicBezTo>
                <a:cubicBezTo>
                  <a:pt x="12177" y="10559"/>
                  <a:pt x="12737" y="10561"/>
                  <a:pt x="13706" y="10559"/>
                </a:cubicBezTo>
                <a:lnTo>
                  <a:pt x="15560" y="10554"/>
                </a:lnTo>
                <a:lnTo>
                  <a:pt x="15560" y="10514"/>
                </a:lnTo>
                <a:lnTo>
                  <a:pt x="15560" y="10471"/>
                </a:lnTo>
                <a:lnTo>
                  <a:pt x="13719" y="10465"/>
                </a:lnTo>
                <a:lnTo>
                  <a:pt x="11878" y="10457"/>
                </a:lnTo>
                <a:lnTo>
                  <a:pt x="11878" y="7807"/>
                </a:lnTo>
                <a:lnTo>
                  <a:pt x="11878" y="7690"/>
                </a:lnTo>
                <a:lnTo>
                  <a:pt x="11878" y="5154"/>
                </a:lnTo>
                <a:lnTo>
                  <a:pt x="11878" y="4922"/>
                </a:lnTo>
                <a:lnTo>
                  <a:pt x="12078" y="4911"/>
                </a:lnTo>
                <a:cubicBezTo>
                  <a:pt x="12279" y="4902"/>
                  <a:pt x="12324" y="4895"/>
                  <a:pt x="12334" y="4865"/>
                </a:cubicBezTo>
                <a:cubicBezTo>
                  <a:pt x="12340" y="4848"/>
                  <a:pt x="12388" y="4824"/>
                  <a:pt x="12444" y="4809"/>
                </a:cubicBezTo>
                <a:cubicBezTo>
                  <a:pt x="12464" y="4804"/>
                  <a:pt x="12481" y="4795"/>
                  <a:pt x="12483" y="4788"/>
                </a:cubicBezTo>
                <a:cubicBezTo>
                  <a:pt x="12485" y="4781"/>
                  <a:pt x="12492" y="4775"/>
                  <a:pt x="12498" y="4775"/>
                </a:cubicBezTo>
                <a:cubicBezTo>
                  <a:pt x="12505" y="4775"/>
                  <a:pt x="12516" y="4760"/>
                  <a:pt x="12523" y="4740"/>
                </a:cubicBezTo>
                <a:cubicBezTo>
                  <a:pt x="12534" y="4707"/>
                  <a:pt x="12542" y="4699"/>
                  <a:pt x="12600" y="4670"/>
                </a:cubicBezTo>
                <a:cubicBezTo>
                  <a:pt x="12608" y="4666"/>
                  <a:pt x="12617" y="4649"/>
                  <a:pt x="12620" y="4633"/>
                </a:cubicBezTo>
                <a:cubicBezTo>
                  <a:pt x="12623" y="4617"/>
                  <a:pt x="12632" y="4597"/>
                  <a:pt x="12642" y="4590"/>
                </a:cubicBezTo>
                <a:cubicBezTo>
                  <a:pt x="12651" y="4583"/>
                  <a:pt x="12662" y="4577"/>
                  <a:pt x="12665" y="4574"/>
                </a:cubicBezTo>
                <a:cubicBezTo>
                  <a:pt x="12677" y="4564"/>
                  <a:pt x="12693" y="4534"/>
                  <a:pt x="12700" y="4510"/>
                </a:cubicBezTo>
                <a:cubicBezTo>
                  <a:pt x="12705" y="4497"/>
                  <a:pt x="12718" y="4475"/>
                  <a:pt x="12729" y="4462"/>
                </a:cubicBezTo>
                <a:cubicBezTo>
                  <a:pt x="12740" y="4449"/>
                  <a:pt x="12754" y="4418"/>
                  <a:pt x="12759" y="4395"/>
                </a:cubicBezTo>
                <a:cubicBezTo>
                  <a:pt x="12764" y="4370"/>
                  <a:pt x="12775" y="4350"/>
                  <a:pt x="12786" y="4342"/>
                </a:cubicBezTo>
                <a:cubicBezTo>
                  <a:pt x="12797" y="4334"/>
                  <a:pt x="12804" y="4320"/>
                  <a:pt x="12804" y="4307"/>
                </a:cubicBezTo>
                <a:cubicBezTo>
                  <a:pt x="12804" y="4272"/>
                  <a:pt x="12821" y="4226"/>
                  <a:pt x="12835" y="4222"/>
                </a:cubicBezTo>
                <a:cubicBezTo>
                  <a:pt x="12844" y="4218"/>
                  <a:pt x="12848" y="4205"/>
                  <a:pt x="12849" y="4179"/>
                </a:cubicBezTo>
                <a:cubicBezTo>
                  <a:pt x="12850" y="4158"/>
                  <a:pt x="12859" y="4123"/>
                  <a:pt x="12868" y="4099"/>
                </a:cubicBezTo>
                <a:cubicBezTo>
                  <a:pt x="12877" y="4075"/>
                  <a:pt x="12885" y="4049"/>
                  <a:pt x="12885" y="4043"/>
                </a:cubicBezTo>
                <a:cubicBezTo>
                  <a:pt x="12885" y="4036"/>
                  <a:pt x="12889" y="4023"/>
                  <a:pt x="12896" y="4013"/>
                </a:cubicBezTo>
                <a:cubicBezTo>
                  <a:pt x="12902" y="4004"/>
                  <a:pt x="12907" y="3984"/>
                  <a:pt x="12907" y="3970"/>
                </a:cubicBezTo>
                <a:cubicBezTo>
                  <a:pt x="12907" y="3930"/>
                  <a:pt x="12918" y="3893"/>
                  <a:pt x="12930" y="3893"/>
                </a:cubicBezTo>
                <a:cubicBezTo>
                  <a:pt x="12937" y="3893"/>
                  <a:pt x="12942" y="3878"/>
                  <a:pt x="12944" y="3853"/>
                </a:cubicBezTo>
                <a:cubicBezTo>
                  <a:pt x="12957" y="3722"/>
                  <a:pt x="12966" y="3667"/>
                  <a:pt x="12976" y="3661"/>
                </a:cubicBezTo>
                <a:cubicBezTo>
                  <a:pt x="12988" y="3653"/>
                  <a:pt x="12990" y="3639"/>
                  <a:pt x="12996" y="3554"/>
                </a:cubicBezTo>
                <a:cubicBezTo>
                  <a:pt x="13001" y="3479"/>
                  <a:pt x="13011" y="3405"/>
                  <a:pt x="13018" y="3388"/>
                </a:cubicBezTo>
                <a:cubicBezTo>
                  <a:pt x="13038" y="3341"/>
                  <a:pt x="13053" y="3190"/>
                  <a:pt x="13059" y="2966"/>
                </a:cubicBezTo>
                <a:cubicBezTo>
                  <a:pt x="13061" y="2903"/>
                  <a:pt x="13064" y="2871"/>
                  <a:pt x="13071" y="2859"/>
                </a:cubicBezTo>
                <a:cubicBezTo>
                  <a:pt x="13080" y="2843"/>
                  <a:pt x="13081" y="2808"/>
                  <a:pt x="13081" y="2573"/>
                </a:cubicBezTo>
                <a:cubicBezTo>
                  <a:pt x="13081" y="2338"/>
                  <a:pt x="13080" y="2303"/>
                  <a:pt x="13071" y="2287"/>
                </a:cubicBezTo>
                <a:cubicBezTo>
                  <a:pt x="13064" y="2275"/>
                  <a:pt x="13061" y="2242"/>
                  <a:pt x="13059" y="2180"/>
                </a:cubicBezTo>
                <a:cubicBezTo>
                  <a:pt x="13054" y="2012"/>
                  <a:pt x="13043" y="1855"/>
                  <a:pt x="13035" y="1833"/>
                </a:cubicBezTo>
                <a:cubicBezTo>
                  <a:pt x="13030" y="1821"/>
                  <a:pt x="13027" y="1804"/>
                  <a:pt x="13027" y="1796"/>
                </a:cubicBezTo>
                <a:cubicBezTo>
                  <a:pt x="13027" y="1787"/>
                  <a:pt x="13021" y="1764"/>
                  <a:pt x="13014" y="1745"/>
                </a:cubicBezTo>
                <a:cubicBezTo>
                  <a:pt x="13004" y="1719"/>
                  <a:pt x="13000" y="1689"/>
                  <a:pt x="12997" y="1625"/>
                </a:cubicBezTo>
                <a:cubicBezTo>
                  <a:pt x="12993" y="1519"/>
                  <a:pt x="12989" y="1494"/>
                  <a:pt x="12976" y="1486"/>
                </a:cubicBezTo>
                <a:cubicBezTo>
                  <a:pt x="12969" y="1481"/>
                  <a:pt x="12962" y="1449"/>
                  <a:pt x="12955" y="1384"/>
                </a:cubicBezTo>
                <a:cubicBezTo>
                  <a:pt x="12942" y="1266"/>
                  <a:pt x="12925" y="1161"/>
                  <a:pt x="12892" y="1002"/>
                </a:cubicBezTo>
                <a:cubicBezTo>
                  <a:pt x="12847" y="786"/>
                  <a:pt x="12795" y="610"/>
                  <a:pt x="12727" y="452"/>
                </a:cubicBezTo>
                <a:cubicBezTo>
                  <a:pt x="12705" y="400"/>
                  <a:pt x="12683" y="354"/>
                  <a:pt x="12661" y="313"/>
                </a:cubicBezTo>
                <a:cubicBezTo>
                  <a:pt x="12660" y="312"/>
                  <a:pt x="12660" y="313"/>
                  <a:pt x="12660" y="313"/>
                </a:cubicBezTo>
                <a:cubicBezTo>
                  <a:pt x="12659" y="312"/>
                  <a:pt x="12659" y="309"/>
                  <a:pt x="12658" y="308"/>
                </a:cubicBezTo>
                <a:cubicBezTo>
                  <a:pt x="12639" y="273"/>
                  <a:pt x="12619" y="243"/>
                  <a:pt x="12599" y="214"/>
                </a:cubicBezTo>
                <a:cubicBezTo>
                  <a:pt x="12592" y="204"/>
                  <a:pt x="12585" y="194"/>
                  <a:pt x="12578" y="185"/>
                </a:cubicBezTo>
                <a:cubicBezTo>
                  <a:pt x="12559" y="160"/>
                  <a:pt x="12540" y="139"/>
                  <a:pt x="12519" y="118"/>
                </a:cubicBezTo>
                <a:cubicBezTo>
                  <a:pt x="12515" y="113"/>
                  <a:pt x="12511" y="106"/>
                  <a:pt x="12506" y="102"/>
                </a:cubicBezTo>
                <a:cubicBezTo>
                  <a:pt x="12489" y="85"/>
                  <a:pt x="12471" y="71"/>
                  <a:pt x="12452" y="56"/>
                </a:cubicBezTo>
                <a:cubicBezTo>
                  <a:pt x="12435" y="44"/>
                  <a:pt x="12419" y="33"/>
                  <a:pt x="12401" y="24"/>
                </a:cubicBezTo>
                <a:cubicBezTo>
                  <a:pt x="12381" y="14"/>
                  <a:pt x="12333" y="9"/>
                  <a:pt x="12211" y="6"/>
                </a:cubicBezTo>
                <a:lnTo>
                  <a:pt x="10878" y="0"/>
                </a:lnTo>
                <a:cubicBezTo>
                  <a:pt x="10762" y="1"/>
                  <a:pt x="10769" y="0"/>
                  <a:pt x="10632" y="0"/>
                </a:cubicBezTo>
                <a:close/>
                <a:moveTo>
                  <a:pt x="16016" y="8291"/>
                </a:moveTo>
                <a:lnTo>
                  <a:pt x="15977" y="8336"/>
                </a:lnTo>
                <a:cubicBezTo>
                  <a:pt x="15959" y="8358"/>
                  <a:pt x="15941" y="8389"/>
                  <a:pt x="15923" y="8424"/>
                </a:cubicBezTo>
                <a:cubicBezTo>
                  <a:pt x="15913" y="8446"/>
                  <a:pt x="15903" y="8466"/>
                  <a:pt x="15890" y="8496"/>
                </a:cubicBezTo>
                <a:cubicBezTo>
                  <a:pt x="15835" y="8636"/>
                  <a:pt x="15787" y="8838"/>
                  <a:pt x="15751" y="9084"/>
                </a:cubicBezTo>
                <a:cubicBezTo>
                  <a:pt x="15744" y="9134"/>
                  <a:pt x="15735" y="9182"/>
                  <a:pt x="15731" y="9194"/>
                </a:cubicBezTo>
                <a:cubicBezTo>
                  <a:pt x="15727" y="9205"/>
                  <a:pt x="15721" y="9252"/>
                  <a:pt x="15717" y="9298"/>
                </a:cubicBezTo>
                <a:cubicBezTo>
                  <a:pt x="15709" y="9387"/>
                  <a:pt x="15697" y="9442"/>
                  <a:pt x="15686" y="9442"/>
                </a:cubicBezTo>
                <a:cubicBezTo>
                  <a:pt x="15678" y="9442"/>
                  <a:pt x="15666" y="9549"/>
                  <a:pt x="15666" y="9616"/>
                </a:cubicBezTo>
                <a:cubicBezTo>
                  <a:pt x="15666" y="9642"/>
                  <a:pt x="15663" y="9665"/>
                  <a:pt x="15659" y="9669"/>
                </a:cubicBezTo>
                <a:cubicBezTo>
                  <a:pt x="15656" y="9674"/>
                  <a:pt x="15654" y="9697"/>
                  <a:pt x="15654" y="9720"/>
                </a:cubicBezTo>
                <a:cubicBezTo>
                  <a:pt x="15654" y="9749"/>
                  <a:pt x="15652" y="9766"/>
                  <a:pt x="15644" y="9771"/>
                </a:cubicBezTo>
                <a:cubicBezTo>
                  <a:pt x="15633" y="9778"/>
                  <a:pt x="15625" y="9832"/>
                  <a:pt x="15625" y="9920"/>
                </a:cubicBezTo>
                <a:cubicBezTo>
                  <a:pt x="15625" y="9945"/>
                  <a:pt x="15623" y="9969"/>
                  <a:pt x="15620" y="9974"/>
                </a:cubicBezTo>
                <a:cubicBezTo>
                  <a:pt x="15617" y="9979"/>
                  <a:pt x="15614" y="10010"/>
                  <a:pt x="15614" y="10043"/>
                </a:cubicBezTo>
                <a:cubicBezTo>
                  <a:pt x="15614" y="10077"/>
                  <a:pt x="15612" y="10108"/>
                  <a:pt x="15609" y="10113"/>
                </a:cubicBezTo>
                <a:cubicBezTo>
                  <a:pt x="15606" y="10117"/>
                  <a:pt x="15603" y="10150"/>
                  <a:pt x="15603" y="10188"/>
                </a:cubicBezTo>
                <a:cubicBezTo>
                  <a:pt x="15603" y="10232"/>
                  <a:pt x="15600" y="10260"/>
                  <a:pt x="15594" y="10268"/>
                </a:cubicBezTo>
                <a:cubicBezTo>
                  <a:pt x="15568" y="10303"/>
                  <a:pt x="15568" y="11413"/>
                  <a:pt x="15594" y="11449"/>
                </a:cubicBezTo>
                <a:cubicBezTo>
                  <a:pt x="15600" y="11456"/>
                  <a:pt x="15603" y="11484"/>
                  <a:pt x="15603" y="11529"/>
                </a:cubicBezTo>
                <a:cubicBezTo>
                  <a:pt x="15603" y="11566"/>
                  <a:pt x="15606" y="11599"/>
                  <a:pt x="15609" y="11604"/>
                </a:cubicBezTo>
                <a:cubicBezTo>
                  <a:pt x="15612" y="11608"/>
                  <a:pt x="15614" y="11640"/>
                  <a:pt x="15614" y="11673"/>
                </a:cubicBezTo>
                <a:cubicBezTo>
                  <a:pt x="15614" y="11706"/>
                  <a:pt x="15617" y="11738"/>
                  <a:pt x="15620" y="11742"/>
                </a:cubicBezTo>
                <a:cubicBezTo>
                  <a:pt x="15623" y="11747"/>
                  <a:pt x="15625" y="11769"/>
                  <a:pt x="15625" y="11793"/>
                </a:cubicBezTo>
                <a:cubicBezTo>
                  <a:pt x="15625" y="11882"/>
                  <a:pt x="15633" y="11939"/>
                  <a:pt x="15644" y="11946"/>
                </a:cubicBezTo>
                <a:cubicBezTo>
                  <a:pt x="15651" y="11950"/>
                  <a:pt x="15654" y="11965"/>
                  <a:pt x="15654" y="11988"/>
                </a:cubicBezTo>
                <a:cubicBezTo>
                  <a:pt x="15654" y="12008"/>
                  <a:pt x="15657" y="12038"/>
                  <a:pt x="15659" y="12055"/>
                </a:cubicBezTo>
                <a:cubicBezTo>
                  <a:pt x="15662" y="12073"/>
                  <a:pt x="15668" y="12124"/>
                  <a:pt x="15672" y="12170"/>
                </a:cubicBezTo>
                <a:cubicBezTo>
                  <a:pt x="15677" y="12228"/>
                  <a:pt x="15684" y="12265"/>
                  <a:pt x="15695" y="12290"/>
                </a:cubicBezTo>
                <a:cubicBezTo>
                  <a:pt x="15704" y="12310"/>
                  <a:pt x="15711" y="12338"/>
                  <a:pt x="15711" y="12354"/>
                </a:cubicBezTo>
                <a:cubicBezTo>
                  <a:pt x="15711" y="12370"/>
                  <a:pt x="15714" y="12411"/>
                  <a:pt x="15718" y="12445"/>
                </a:cubicBezTo>
                <a:cubicBezTo>
                  <a:pt x="15723" y="12490"/>
                  <a:pt x="15728" y="12509"/>
                  <a:pt x="15736" y="12509"/>
                </a:cubicBezTo>
                <a:cubicBezTo>
                  <a:pt x="15742" y="12509"/>
                  <a:pt x="15749" y="12525"/>
                  <a:pt x="15752" y="12547"/>
                </a:cubicBezTo>
                <a:cubicBezTo>
                  <a:pt x="15763" y="12614"/>
                  <a:pt x="15766" y="12624"/>
                  <a:pt x="15782" y="12646"/>
                </a:cubicBezTo>
                <a:cubicBezTo>
                  <a:pt x="15791" y="12658"/>
                  <a:pt x="15800" y="12687"/>
                  <a:pt x="15804" y="12715"/>
                </a:cubicBezTo>
                <a:cubicBezTo>
                  <a:pt x="15808" y="12745"/>
                  <a:pt x="15816" y="12771"/>
                  <a:pt x="15826" y="12782"/>
                </a:cubicBezTo>
                <a:cubicBezTo>
                  <a:pt x="15835" y="12792"/>
                  <a:pt x="15843" y="12807"/>
                  <a:pt x="15843" y="12817"/>
                </a:cubicBezTo>
                <a:cubicBezTo>
                  <a:pt x="15843" y="12840"/>
                  <a:pt x="15859" y="12877"/>
                  <a:pt x="15874" y="12883"/>
                </a:cubicBezTo>
                <a:cubicBezTo>
                  <a:pt x="15880" y="12886"/>
                  <a:pt x="15887" y="12902"/>
                  <a:pt x="15890" y="12918"/>
                </a:cubicBezTo>
                <a:cubicBezTo>
                  <a:pt x="15896" y="12950"/>
                  <a:pt x="15916" y="12977"/>
                  <a:pt x="15933" y="12977"/>
                </a:cubicBezTo>
                <a:cubicBezTo>
                  <a:pt x="15939" y="12977"/>
                  <a:pt x="15950" y="12993"/>
                  <a:pt x="15959" y="13012"/>
                </a:cubicBezTo>
                <a:cubicBezTo>
                  <a:pt x="15967" y="13031"/>
                  <a:pt x="15977" y="13046"/>
                  <a:pt x="15982" y="13046"/>
                </a:cubicBezTo>
                <a:cubicBezTo>
                  <a:pt x="15986" y="13046"/>
                  <a:pt x="15992" y="13054"/>
                  <a:pt x="15995" y="13065"/>
                </a:cubicBezTo>
                <a:cubicBezTo>
                  <a:pt x="15998" y="13077"/>
                  <a:pt x="16016" y="13091"/>
                  <a:pt x="16041" y="13100"/>
                </a:cubicBezTo>
                <a:cubicBezTo>
                  <a:pt x="16108" y="13122"/>
                  <a:pt x="16124" y="13131"/>
                  <a:pt x="16131" y="13148"/>
                </a:cubicBezTo>
                <a:cubicBezTo>
                  <a:pt x="16134" y="13157"/>
                  <a:pt x="16143" y="13171"/>
                  <a:pt x="16152" y="13180"/>
                </a:cubicBezTo>
                <a:lnTo>
                  <a:pt x="16167" y="13199"/>
                </a:lnTo>
                <a:lnTo>
                  <a:pt x="16166" y="13842"/>
                </a:lnTo>
                <a:lnTo>
                  <a:pt x="16165" y="14489"/>
                </a:lnTo>
                <a:lnTo>
                  <a:pt x="15369" y="14497"/>
                </a:lnTo>
                <a:lnTo>
                  <a:pt x="14673" y="14502"/>
                </a:lnTo>
                <a:cubicBezTo>
                  <a:pt x="14615" y="14505"/>
                  <a:pt x="14575" y="14507"/>
                  <a:pt x="14574" y="14510"/>
                </a:cubicBezTo>
                <a:cubicBezTo>
                  <a:pt x="14574" y="14511"/>
                  <a:pt x="14574" y="14515"/>
                  <a:pt x="14574" y="14516"/>
                </a:cubicBezTo>
                <a:lnTo>
                  <a:pt x="14572" y="15576"/>
                </a:lnTo>
                <a:cubicBezTo>
                  <a:pt x="14570" y="16272"/>
                  <a:pt x="14567" y="16626"/>
                  <a:pt x="14563" y="16650"/>
                </a:cubicBezTo>
                <a:lnTo>
                  <a:pt x="14563" y="16672"/>
                </a:lnTo>
                <a:lnTo>
                  <a:pt x="14416" y="16672"/>
                </a:lnTo>
                <a:cubicBezTo>
                  <a:pt x="14263" y="16676"/>
                  <a:pt x="13992" y="16681"/>
                  <a:pt x="13560" y="16683"/>
                </a:cubicBezTo>
                <a:cubicBezTo>
                  <a:pt x="13338" y="16683"/>
                  <a:pt x="13192" y="16682"/>
                  <a:pt x="13057" y="16683"/>
                </a:cubicBezTo>
                <a:cubicBezTo>
                  <a:pt x="13010" y="16683"/>
                  <a:pt x="12932" y="16685"/>
                  <a:pt x="12896" y="16685"/>
                </a:cubicBezTo>
                <a:cubicBezTo>
                  <a:pt x="12615" y="16689"/>
                  <a:pt x="12548" y="16698"/>
                  <a:pt x="12517" y="16725"/>
                </a:cubicBezTo>
                <a:cubicBezTo>
                  <a:pt x="12504" y="16737"/>
                  <a:pt x="12492" y="16750"/>
                  <a:pt x="12478" y="16768"/>
                </a:cubicBezTo>
                <a:cubicBezTo>
                  <a:pt x="12462" y="16787"/>
                  <a:pt x="12447" y="16809"/>
                  <a:pt x="12432" y="16832"/>
                </a:cubicBezTo>
                <a:cubicBezTo>
                  <a:pt x="12377" y="16925"/>
                  <a:pt x="12318" y="17068"/>
                  <a:pt x="12279" y="17212"/>
                </a:cubicBezTo>
                <a:cubicBezTo>
                  <a:pt x="12247" y="17327"/>
                  <a:pt x="12203" y="17540"/>
                  <a:pt x="12181" y="17684"/>
                </a:cubicBezTo>
                <a:cubicBezTo>
                  <a:pt x="12172" y="17741"/>
                  <a:pt x="12161" y="17804"/>
                  <a:pt x="12156" y="17823"/>
                </a:cubicBezTo>
                <a:cubicBezTo>
                  <a:pt x="12152" y="17843"/>
                  <a:pt x="12149" y="17876"/>
                  <a:pt x="12149" y="17895"/>
                </a:cubicBezTo>
                <a:cubicBezTo>
                  <a:pt x="12149" y="17915"/>
                  <a:pt x="12144" y="17946"/>
                  <a:pt x="12137" y="17965"/>
                </a:cubicBezTo>
                <a:cubicBezTo>
                  <a:pt x="12117" y="18017"/>
                  <a:pt x="12109" y="18054"/>
                  <a:pt x="12109" y="18096"/>
                </a:cubicBezTo>
                <a:cubicBezTo>
                  <a:pt x="12109" y="18117"/>
                  <a:pt x="12105" y="18152"/>
                  <a:pt x="12100" y="18171"/>
                </a:cubicBezTo>
                <a:cubicBezTo>
                  <a:pt x="12096" y="18190"/>
                  <a:pt x="12093" y="18224"/>
                  <a:pt x="12092" y="18248"/>
                </a:cubicBezTo>
                <a:cubicBezTo>
                  <a:pt x="12092" y="18277"/>
                  <a:pt x="12089" y="18297"/>
                  <a:pt x="12081" y="18307"/>
                </a:cubicBezTo>
                <a:cubicBezTo>
                  <a:pt x="12073" y="18317"/>
                  <a:pt x="12070" y="18342"/>
                  <a:pt x="12067" y="18400"/>
                </a:cubicBezTo>
                <a:cubicBezTo>
                  <a:pt x="12065" y="18444"/>
                  <a:pt x="12060" y="18491"/>
                  <a:pt x="12057" y="18505"/>
                </a:cubicBezTo>
                <a:cubicBezTo>
                  <a:pt x="12054" y="18518"/>
                  <a:pt x="12053" y="18551"/>
                  <a:pt x="12053" y="18577"/>
                </a:cubicBezTo>
                <a:cubicBezTo>
                  <a:pt x="12053" y="18603"/>
                  <a:pt x="12049" y="18628"/>
                  <a:pt x="12046" y="18633"/>
                </a:cubicBezTo>
                <a:cubicBezTo>
                  <a:pt x="12043" y="18638"/>
                  <a:pt x="12041" y="18671"/>
                  <a:pt x="12041" y="18708"/>
                </a:cubicBezTo>
                <a:cubicBezTo>
                  <a:pt x="12041" y="18755"/>
                  <a:pt x="12038" y="18779"/>
                  <a:pt x="12032" y="18788"/>
                </a:cubicBezTo>
                <a:cubicBezTo>
                  <a:pt x="12008" y="18820"/>
                  <a:pt x="12009" y="19702"/>
                  <a:pt x="12033" y="19734"/>
                </a:cubicBezTo>
                <a:cubicBezTo>
                  <a:pt x="12039" y="19741"/>
                  <a:pt x="12041" y="19768"/>
                  <a:pt x="12041" y="19814"/>
                </a:cubicBezTo>
                <a:cubicBezTo>
                  <a:pt x="12041" y="19851"/>
                  <a:pt x="12043" y="19884"/>
                  <a:pt x="12046" y="19889"/>
                </a:cubicBezTo>
                <a:cubicBezTo>
                  <a:pt x="12049" y="19893"/>
                  <a:pt x="12053" y="19925"/>
                  <a:pt x="12053" y="19958"/>
                </a:cubicBezTo>
                <a:cubicBezTo>
                  <a:pt x="12053" y="19991"/>
                  <a:pt x="12054" y="20021"/>
                  <a:pt x="12057" y="20025"/>
                </a:cubicBezTo>
                <a:cubicBezTo>
                  <a:pt x="12060" y="20029"/>
                  <a:pt x="12064" y="20070"/>
                  <a:pt x="12066" y="20116"/>
                </a:cubicBezTo>
                <a:cubicBezTo>
                  <a:pt x="12069" y="20178"/>
                  <a:pt x="12073" y="20204"/>
                  <a:pt x="12081" y="20215"/>
                </a:cubicBezTo>
                <a:cubicBezTo>
                  <a:pt x="12088" y="20222"/>
                  <a:pt x="12092" y="20240"/>
                  <a:pt x="12092" y="20257"/>
                </a:cubicBezTo>
                <a:cubicBezTo>
                  <a:pt x="12092" y="20274"/>
                  <a:pt x="12096" y="20321"/>
                  <a:pt x="12101" y="20359"/>
                </a:cubicBezTo>
                <a:cubicBezTo>
                  <a:pt x="12106" y="20397"/>
                  <a:pt x="12113" y="20446"/>
                  <a:pt x="12116" y="20471"/>
                </a:cubicBezTo>
                <a:cubicBezTo>
                  <a:pt x="12119" y="20496"/>
                  <a:pt x="12127" y="20532"/>
                  <a:pt x="12134" y="20551"/>
                </a:cubicBezTo>
                <a:cubicBezTo>
                  <a:pt x="12142" y="20570"/>
                  <a:pt x="12149" y="20612"/>
                  <a:pt x="12151" y="20642"/>
                </a:cubicBezTo>
                <a:cubicBezTo>
                  <a:pt x="12153" y="20679"/>
                  <a:pt x="12159" y="20704"/>
                  <a:pt x="12169" y="20719"/>
                </a:cubicBezTo>
                <a:cubicBezTo>
                  <a:pt x="12176" y="20732"/>
                  <a:pt x="12183" y="20747"/>
                  <a:pt x="12183" y="20757"/>
                </a:cubicBezTo>
                <a:cubicBezTo>
                  <a:pt x="12183" y="20766"/>
                  <a:pt x="12189" y="20791"/>
                  <a:pt x="12195" y="20810"/>
                </a:cubicBezTo>
                <a:cubicBezTo>
                  <a:pt x="12201" y="20830"/>
                  <a:pt x="12206" y="20859"/>
                  <a:pt x="12206" y="20874"/>
                </a:cubicBezTo>
                <a:cubicBezTo>
                  <a:pt x="12206" y="20893"/>
                  <a:pt x="12210" y="20904"/>
                  <a:pt x="12217" y="20904"/>
                </a:cubicBezTo>
                <a:cubicBezTo>
                  <a:pt x="12231" y="20904"/>
                  <a:pt x="12244" y="20942"/>
                  <a:pt x="12249" y="20997"/>
                </a:cubicBezTo>
                <a:cubicBezTo>
                  <a:pt x="12252" y="21028"/>
                  <a:pt x="12258" y="21048"/>
                  <a:pt x="12267" y="21056"/>
                </a:cubicBezTo>
                <a:cubicBezTo>
                  <a:pt x="12274" y="21063"/>
                  <a:pt x="12282" y="21085"/>
                  <a:pt x="12286" y="21104"/>
                </a:cubicBezTo>
                <a:cubicBezTo>
                  <a:pt x="12289" y="21124"/>
                  <a:pt x="12297" y="21143"/>
                  <a:pt x="12302" y="21147"/>
                </a:cubicBezTo>
                <a:cubicBezTo>
                  <a:pt x="12321" y="21161"/>
                  <a:pt x="12328" y="21176"/>
                  <a:pt x="12337" y="21216"/>
                </a:cubicBezTo>
                <a:cubicBezTo>
                  <a:pt x="12343" y="21240"/>
                  <a:pt x="12352" y="21256"/>
                  <a:pt x="12361" y="21259"/>
                </a:cubicBezTo>
                <a:cubicBezTo>
                  <a:pt x="12377" y="21265"/>
                  <a:pt x="12395" y="21300"/>
                  <a:pt x="12395" y="21326"/>
                </a:cubicBezTo>
                <a:cubicBezTo>
                  <a:pt x="12395" y="21336"/>
                  <a:pt x="12398" y="21345"/>
                  <a:pt x="12404" y="21345"/>
                </a:cubicBezTo>
                <a:cubicBezTo>
                  <a:pt x="12409" y="21345"/>
                  <a:pt x="12417" y="21355"/>
                  <a:pt x="12422" y="21366"/>
                </a:cubicBezTo>
                <a:cubicBezTo>
                  <a:pt x="12427" y="21377"/>
                  <a:pt x="12442" y="21392"/>
                  <a:pt x="12454" y="21398"/>
                </a:cubicBezTo>
                <a:cubicBezTo>
                  <a:pt x="12469" y="21405"/>
                  <a:pt x="12478" y="21419"/>
                  <a:pt x="12482" y="21438"/>
                </a:cubicBezTo>
                <a:cubicBezTo>
                  <a:pt x="12485" y="21456"/>
                  <a:pt x="12495" y="21471"/>
                  <a:pt x="12505" y="21476"/>
                </a:cubicBezTo>
                <a:cubicBezTo>
                  <a:pt x="12515" y="21480"/>
                  <a:pt x="12536" y="21489"/>
                  <a:pt x="12551" y="21497"/>
                </a:cubicBezTo>
                <a:cubicBezTo>
                  <a:pt x="12567" y="21505"/>
                  <a:pt x="12592" y="21514"/>
                  <a:pt x="12608" y="21518"/>
                </a:cubicBezTo>
                <a:cubicBezTo>
                  <a:pt x="12623" y="21523"/>
                  <a:pt x="12639" y="21537"/>
                  <a:pt x="12643" y="21548"/>
                </a:cubicBezTo>
                <a:cubicBezTo>
                  <a:pt x="12647" y="21558"/>
                  <a:pt x="12664" y="21573"/>
                  <a:pt x="12683" y="21580"/>
                </a:cubicBezTo>
                <a:cubicBezTo>
                  <a:pt x="12701" y="21586"/>
                  <a:pt x="13206" y="21592"/>
                  <a:pt x="13804" y="21593"/>
                </a:cubicBezTo>
                <a:cubicBezTo>
                  <a:pt x="14901" y="21595"/>
                  <a:pt x="14964" y="21591"/>
                  <a:pt x="14979" y="21545"/>
                </a:cubicBezTo>
                <a:cubicBezTo>
                  <a:pt x="14982" y="21535"/>
                  <a:pt x="14995" y="21525"/>
                  <a:pt x="15007" y="21521"/>
                </a:cubicBezTo>
                <a:cubicBezTo>
                  <a:pt x="15020" y="21517"/>
                  <a:pt x="15054" y="21503"/>
                  <a:pt x="15082" y="21489"/>
                </a:cubicBezTo>
                <a:cubicBezTo>
                  <a:pt x="15126" y="21468"/>
                  <a:pt x="15135" y="21459"/>
                  <a:pt x="15137" y="21435"/>
                </a:cubicBezTo>
                <a:cubicBezTo>
                  <a:pt x="15138" y="21415"/>
                  <a:pt x="15145" y="21404"/>
                  <a:pt x="15164" y="21395"/>
                </a:cubicBezTo>
                <a:cubicBezTo>
                  <a:pt x="15178" y="21389"/>
                  <a:pt x="15193" y="21374"/>
                  <a:pt x="15198" y="21363"/>
                </a:cubicBezTo>
                <a:cubicBezTo>
                  <a:pt x="15203" y="21353"/>
                  <a:pt x="15212" y="21345"/>
                  <a:pt x="15217" y="21345"/>
                </a:cubicBezTo>
                <a:cubicBezTo>
                  <a:pt x="15222" y="21345"/>
                  <a:pt x="15227" y="21336"/>
                  <a:pt x="15227" y="21326"/>
                </a:cubicBezTo>
                <a:cubicBezTo>
                  <a:pt x="15227" y="21299"/>
                  <a:pt x="15245" y="21265"/>
                  <a:pt x="15261" y="21259"/>
                </a:cubicBezTo>
                <a:cubicBezTo>
                  <a:pt x="15270" y="21256"/>
                  <a:pt x="15275" y="21244"/>
                  <a:pt x="15277" y="21227"/>
                </a:cubicBezTo>
                <a:cubicBezTo>
                  <a:pt x="15280" y="21186"/>
                  <a:pt x="15294" y="21156"/>
                  <a:pt x="15313" y="21147"/>
                </a:cubicBezTo>
                <a:cubicBezTo>
                  <a:pt x="15324" y="21142"/>
                  <a:pt x="15330" y="21130"/>
                  <a:pt x="15330" y="21115"/>
                </a:cubicBezTo>
                <a:cubicBezTo>
                  <a:pt x="15330" y="21083"/>
                  <a:pt x="15346" y="21043"/>
                  <a:pt x="15358" y="21043"/>
                </a:cubicBezTo>
                <a:cubicBezTo>
                  <a:pt x="15365" y="21043"/>
                  <a:pt x="15370" y="21027"/>
                  <a:pt x="15373" y="21003"/>
                </a:cubicBezTo>
                <a:cubicBezTo>
                  <a:pt x="15378" y="20946"/>
                  <a:pt x="15384" y="20926"/>
                  <a:pt x="15400" y="20906"/>
                </a:cubicBezTo>
                <a:cubicBezTo>
                  <a:pt x="15409" y="20897"/>
                  <a:pt x="15415" y="20879"/>
                  <a:pt x="15415" y="20869"/>
                </a:cubicBezTo>
                <a:cubicBezTo>
                  <a:pt x="15415" y="20828"/>
                  <a:pt x="15439" y="20726"/>
                  <a:pt x="15452" y="20709"/>
                </a:cubicBezTo>
                <a:cubicBezTo>
                  <a:pt x="15462" y="20695"/>
                  <a:pt x="15467" y="20677"/>
                  <a:pt x="15470" y="20639"/>
                </a:cubicBezTo>
                <a:cubicBezTo>
                  <a:pt x="15472" y="20610"/>
                  <a:pt x="15479" y="20570"/>
                  <a:pt x="15486" y="20551"/>
                </a:cubicBezTo>
                <a:cubicBezTo>
                  <a:pt x="15493" y="20532"/>
                  <a:pt x="15502" y="20496"/>
                  <a:pt x="15505" y="20471"/>
                </a:cubicBezTo>
                <a:cubicBezTo>
                  <a:pt x="15508" y="20446"/>
                  <a:pt x="15514" y="20397"/>
                  <a:pt x="15519" y="20359"/>
                </a:cubicBezTo>
                <a:cubicBezTo>
                  <a:pt x="15524" y="20321"/>
                  <a:pt x="15529" y="20276"/>
                  <a:pt x="15529" y="20260"/>
                </a:cubicBezTo>
                <a:cubicBezTo>
                  <a:pt x="15529" y="20244"/>
                  <a:pt x="15534" y="20222"/>
                  <a:pt x="15540" y="20212"/>
                </a:cubicBezTo>
                <a:cubicBezTo>
                  <a:pt x="15550" y="20197"/>
                  <a:pt x="15553" y="20166"/>
                  <a:pt x="15558" y="20054"/>
                </a:cubicBezTo>
                <a:cubicBezTo>
                  <a:pt x="15561" y="19978"/>
                  <a:pt x="15566" y="19904"/>
                  <a:pt x="15569" y="19891"/>
                </a:cubicBezTo>
                <a:cubicBezTo>
                  <a:pt x="15572" y="19878"/>
                  <a:pt x="15575" y="19840"/>
                  <a:pt x="15575" y="19806"/>
                </a:cubicBezTo>
                <a:cubicBezTo>
                  <a:pt x="15575" y="19765"/>
                  <a:pt x="15578" y="19741"/>
                  <a:pt x="15583" y="19734"/>
                </a:cubicBezTo>
                <a:cubicBezTo>
                  <a:pt x="15590" y="19725"/>
                  <a:pt x="15593" y="19685"/>
                  <a:pt x="15596" y="19579"/>
                </a:cubicBezTo>
                <a:cubicBezTo>
                  <a:pt x="15597" y="19501"/>
                  <a:pt x="15602" y="19436"/>
                  <a:pt x="15604" y="19432"/>
                </a:cubicBezTo>
                <a:cubicBezTo>
                  <a:pt x="15611" y="19422"/>
                  <a:pt x="15611" y="19113"/>
                  <a:pt x="15604" y="19103"/>
                </a:cubicBezTo>
                <a:cubicBezTo>
                  <a:pt x="15602" y="19099"/>
                  <a:pt x="15597" y="19029"/>
                  <a:pt x="15596" y="18948"/>
                </a:cubicBezTo>
                <a:cubicBezTo>
                  <a:pt x="15593" y="18841"/>
                  <a:pt x="15591" y="18797"/>
                  <a:pt x="15584" y="18785"/>
                </a:cubicBezTo>
                <a:cubicBezTo>
                  <a:pt x="15580" y="18776"/>
                  <a:pt x="15574" y="18746"/>
                  <a:pt x="15572" y="18716"/>
                </a:cubicBezTo>
                <a:cubicBezTo>
                  <a:pt x="15556" y="18400"/>
                  <a:pt x="15550" y="18327"/>
                  <a:pt x="15540" y="18307"/>
                </a:cubicBezTo>
                <a:cubicBezTo>
                  <a:pt x="15534" y="18296"/>
                  <a:pt x="15529" y="18264"/>
                  <a:pt x="15527" y="18237"/>
                </a:cubicBezTo>
                <a:cubicBezTo>
                  <a:pt x="15526" y="18211"/>
                  <a:pt x="15522" y="18172"/>
                  <a:pt x="15518" y="18149"/>
                </a:cubicBezTo>
                <a:cubicBezTo>
                  <a:pt x="15515" y="18126"/>
                  <a:pt x="15510" y="18084"/>
                  <a:pt x="15506" y="18056"/>
                </a:cubicBezTo>
                <a:cubicBezTo>
                  <a:pt x="15503" y="18027"/>
                  <a:pt x="15493" y="17987"/>
                  <a:pt x="15485" y="17968"/>
                </a:cubicBezTo>
                <a:cubicBezTo>
                  <a:pt x="15478" y="17948"/>
                  <a:pt x="15472" y="17913"/>
                  <a:pt x="15472" y="17893"/>
                </a:cubicBezTo>
                <a:cubicBezTo>
                  <a:pt x="15472" y="17873"/>
                  <a:pt x="15469" y="17846"/>
                  <a:pt x="15464" y="17831"/>
                </a:cubicBezTo>
                <a:cubicBezTo>
                  <a:pt x="15460" y="17816"/>
                  <a:pt x="15449" y="17757"/>
                  <a:pt x="15441" y="17700"/>
                </a:cubicBezTo>
                <a:cubicBezTo>
                  <a:pt x="15433" y="17643"/>
                  <a:pt x="15413" y="17533"/>
                  <a:pt x="15398" y="17457"/>
                </a:cubicBezTo>
                <a:cubicBezTo>
                  <a:pt x="15356" y="17251"/>
                  <a:pt x="15308" y="17086"/>
                  <a:pt x="15253" y="16960"/>
                </a:cubicBezTo>
                <a:cubicBezTo>
                  <a:pt x="15253" y="16960"/>
                  <a:pt x="15253" y="16958"/>
                  <a:pt x="15252" y="16958"/>
                </a:cubicBezTo>
                <a:cubicBezTo>
                  <a:pt x="15252" y="16956"/>
                  <a:pt x="15251" y="16954"/>
                  <a:pt x="15250" y="16952"/>
                </a:cubicBezTo>
                <a:cubicBezTo>
                  <a:pt x="15237" y="16923"/>
                  <a:pt x="15223" y="16895"/>
                  <a:pt x="15209" y="16870"/>
                </a:cubicBezTo>
                <a:cubicBezTo>
                  <a:pt x="15166" y="16791"/>
                  <a:pt x="15119" y="16738"/>
                  <a:pt x="15069" y="16707"/>
                </a:cubicBezTo>
                <a:cubicBezTo>
                  <a:pt x="15060" y="16701"/>
                  <a:pt x="15051" y="16694"/>
                  <a:pt x="15041" y="16691"/>
                </a:cubicBezTo>
                <a:cubicBezTo>
                  <a:pt x="15040" y="16690"/>
                  <a:pt x="15040" y="16691"/>
                  <a:pt x="15039" y="16691"/>
                </a:cubicBezTo>
                <a:cubicBezTo>
                  <a:pt x="15039" y="16690"/>
                  <a:pt x="15038" y="16691"/>
                  <a:pt x="15037" y="16691"/>
                </a:cubicBezTo>
                <a:cubicBezTo>
                  <a:pt x="15036" y="16690"/>
                  <a:pt x="15032" y="16688"/>
                  <a:pt x="15031" y="16688"/>
                </a:cubicBezTo>
                <a:cubicBezTo>
                  <a:pt x="14997" y="16683"/>
                  <a:pt x="14942" y="16683"/>
                  <a:pt x="14836" y="16680"/>
                </a:cubicBezTo>
                <a:lnTo>
                  <a:pt x="14821" y="16677"/>
                </a:lnTo>
                <a:cubicBezTo>
                  <a:pt x="14709" y="16677"/>
                  <a:pt x="14662" y="16677"/>
                  <a:pt x="14638" y="16672"/>
                </a:cubicBezTo>
                <a:lnTo>
                  <a:pt x="14614" y="16672"/>
                </a:lnTo>
                <a:lnTo>
                  <a:pt x="14614" y="16656"/>
                </a:lnTo>
                <a:cubicBezTo>
                  <a:pt x="14613" y="16654"/>
                  <a:pt x="14612" y="16653"/>
                  <a:pt x="14611" y="16650"/>
                </a:cubicBezTo>
                <a:cubicBezTo>
                  <a:pt x="14607" y="16632"/>
                  <a:pt x="14606" y="16293"/>
                  <a:pt x="14607" y="15611"/>
                </a:cubicBezTo>
                <a:lnTo>
                  <a:pt x="14608" y="14601"/>
                </a:lnTo>
                <a:lnTo>
                  <a:pt x="14614" y="14601"/>
                </a:lnTo>
                <a:lnTo>
                  <a:pt x="15406" y="14593"/>
                </a:lnTo>
                <a:cubicBezTo>
                  <a:pt x="15845" y="14589"/>
                  <a:pt x="16205" y="14584"/>
                  <a:pt x="16206" y="14583"/>
                </a:cubicBezTo>
                <a:cubicBezTo>
                  <a:pt x="16206" y="14581"/>
                  <a:pt x="16207" y="14275"/>
                  <a:pt x="16207" y="13904"/>
                </a:cubicBezTo>
                <a:cubicBezTo>
                  <a:pt x="16207" y="13352"/>
                  <a:pt x="16208" y="13227"/>
                  <a:pt x="16214" y="13215"/>
                </a:cubicBezTo>
                <a:cubicBezTo>
                  <a:pt x="16220" y="13203"/>
                  <a:pt x="16412" y="13199"/>
                  <a:pt x="16932" y="13201"/>
                </a:cubicBezTo>
                <a:lnTo>
                  <a:pt x="17640" y="13207"/>
                </a:lnTo>
                <a:lnTo>
                  <a:pt x="17642" y="13610"/>
                </a:lnTo>
                <a:cubicBezTo>
                  <a:pt x="17643" y="13662"/>
                  <a:pt x="17643" y="13737"/>
                  <a:pt x="17643" y="13818"/>
                </a:cubicBezTo>
                <a:lnTo>
                  <a:pt x="17643" y="13885"/>
                </a:lnTo>
                <a:cubicBezTo>
                  <a:pt x="17645" y="14259"/>
                  <a:pt x="17648" y="14568"/>
                  <a:pt x="17651" y="14575"/>
                </a:cubicBezTo>
                <a:cubicBezTo>
                  <a:pt x="17652" y="14577"/>
                  <a:pt x="17734" y="14582"/>
                  <a:pt x="17842" y="14585"/>
                </a:cubicBezTo>
                <a:cubicBezTo>
                  <a:pt x="17854" y="14586"/>
                  <a:pt x="17850" y="14585"/>
                  <a:pt x="17863" y="14585"/>
                </a:cubicBezTo>
                <a:cubicBezTo>
                  <a:pt x="17863" y="14585"/>
                  <a:pt x="17863" y="14585"/>
                  <a:pt x="17864" y="14585"/>
                </a:cubicBezTo>
                <a:cubicBezTo>
                  <a:pt x="17994" y="14589"/>
                  <a:pt x="18171" y="14591"/>
                  <a:pt x="18366" y="14593"/>
                </a:cubicBezTo>
                <a:cubicBezTo>
                  <a:pt x="18366" y="14593"/>
                  <a:pt x="18367" y="14593"/>
                  <a:pt x="18367" y="14593"/>
                </a:cubicBezTo>
                <a:lnTo>
                  <a:pt x="19076" y="14601"/>
                </a:lnTo>
                <a:lnTo>
                  <a:pt x="19078" y="15464"/>
                </a:lnTo>
                <a:cubicBezTo>
                  <a:pt x="19078" y="15803"/>
                  <a:pt x="19078" y="16086"/>
                  <a:pt x="19076" y="16284"/>
                </a:cubicBezTo>
                <a:lnTo>
                  <a:pt x="19076" y="16672"/>
                </a:lnTo>
                <a:lnTo>
                  <a:pt x="19071" y="16672"/>
                </a:lnTo>
                <a:lnTo>
                  <a:pt x="18812" y="16680"/>
                </a:lnTo>
                <a:cubicBezTo>
                  <a:pt x="18706" y="16683"/>
                  <a:pt x="18649" y="16686"/>
                  <a:pt x="18605" y="16691"/>
                </a:cubicBezTo>
                <a:cubicBezTo>
                  <a:pt x="18589" y="16692"/>
                  <a:pt x="18570" y="16693"/>
                  <a:pt x="18558" y="16696"/>
                </a:cubicBezTo>
                <a:cubicBezTo>
                  <a:pt x="18521" y="16705"/>
                  <a:pt x="18505" y="16722"/>
                  <a:pt x="18473" y="16755"/>
                </a:cubicBezTo>
                <a:cubicBezTo>
                  <a:pt x="18406" y="16824"/>
                  <a:pt x="18317" y="17017"/>
                  <a:pt x="18263" y="17212"/>
                </a:cubicBezTo>
                <a:cubicBezTo>
                  <a:pt x="18231" y="17327"/>
                  <a:pt x="18186" y="17540"/>
                  <a:pt x="18164" y="17684"/>
                </a:cubicBezTo>
                <a:cubicBezTo>
                  <a:pt x="18155" y="17741"/>
                  <a:pt x="18145" y="17804"/>
                  <a:pt x="18141" y="17823"/>
                </a:cubicBezTo>
                <a:cubicBezTo>
                  <a:pt x="18137" y="17843"/>
                  <a:pt x="18133" y="17876"/>
                  <a:pt x="18133" y="17895"/>
                </a:cubicBezTo>
                <a:cubicBezTo>
                  <a:pt x="18133" y="17915"/>
                  <a:pt x="18128" y="17946"/>
                  <a:pt x="18121" y="17965"/>
                </a:cubicBezTo>
                <a:cubicBezTo>
                  <a:pt x="18102" y="18017"/>
                  <a:pt x="18094" y="18054"/>
                  <a:pt x="18093" y="18096"/>
                </a:cubicBezTo>
                <a:cubicBezTo>
                  <a:pt x="18093" y="18117"/>
                  <a:pt x="18089" y="18152"/>
                  <a:pt x="18085" y="18171"/>
                </a:cubicBezTo>
                <a:cubicBezTo>
                  <a:pt x="18080" y="18190"/>
                  <a:pt x="18077" y="18224"/>
                  <a:pt x="18077" y="18248"/>
                </a:cubicBezTo>
                <a:cubicBezTo>
                  <a:pt x="18077" y="18277"/>
                  <a:pt x="18073" y="18297"/>
                  <a:pt x="18066" y="18307"/>
                </a:cubicBezTo>
                <a:cubicBezTo>
                  <a:pt x="18058" y="18317"/>
                  <a:pt x="18053" y="18342"/>
                  <a:pt x="18050" y="18400"/>
                </a:cubicBezTo>
                <a:cubicBezTo>
                  <a:pt x="18048" y="18444"/>
                  <a:pt x="18045" y="18491"/>
                  <a:pt x="18042" y="18505"/>
                </a:cubicBezTo>
                <a:cubicBezTo>
                  <a:pt x="18039" y="18518"/>
                  <a:pt x="18036" y="18551"/>
                  <a:pt x="18036" y="18577"/>
                </a:cubicBezTo>
                <a:cubicBezTo>
                  <a:pt x="18036" y="18603"/>
                  <a:pt x="18034" y="18628"/>
                  <a:pt x="18031" y="18633"/>
                </a:cubicBezTo>
                <a:cubicBezTo>
                  <a:pt x="18027" y="18638"/>
                  <a:pt x="18025" y="18671"/>
                  <a:pt x="18025" y="18708"/>
                </a:cubicBezTo>
                <a:cubicBezTo>
                  <a:pt x="18025" y="18755"/>
                  <a:pt x="18022" y="18779"/>
                  <a:pt x="18016" y="18788"/>
                </a:cubicBezTo>
                <a:cubicBezTo>
                  <a:pt x="17993" y="18820"/>
                  <a:pt x="17993" y="19702"/>
                  <a:pt x="18016" y="19734"/>
                </a:cubicBezTo>
                <a:cubicBezTo>
                  <a:pt x="18022" y="19741"/>
                  <a:pt x="18025" y="19768"/>
                  <a:pt x="18025" y="19814"/>
                </a:cubicBezTo>
                <a:cubicBezTo>
                  <a:pt x="18025" y="19851"/>
                  <a:pt x="18027" y="19884"/>
                  <a:pt x="18031" y="19889"/>
                </a:cubicBezTo>
                <a:cubicBezTo>
                  <a:pt x="18034" y="19893"/>
                  <a:pt x="18036" y="19925"/>
                  <a:pt x="18036" y="19958"/>
                </a:cubicBezTo>
                <a:cubicBezTo>
                  <a:pt x="18036" y="19991"/>
                  <a:pt x="18039" y="20021"/>
                  <a:pt x="18042" y="20025"/>
                </a:cubicBezTo>
                <a:cubicBezTo>
                  <a:pt x="18044" y="20029"/>
                  <a:pt x="18048" y="20070"/>
                  <a:pt x="18050" y="20116"/>
                </a:cubicBezTo>
                <a:cubicBezTo>
                  <a:pt x="18053" y="20178"/>
                  <a:pt x="18058" y="20204"/>
                  <a:pt x="18066" y="20215"/>
                </a:cubicBezTo>
                <a:cubicBezTo>
                  <a:pt x="18072" y="20222"/>
                  <a:pt x="18077" y="20240"/>
                  <a:pt x="18077" y="20257"/>
                </a:cubicBezTo>
                <a:cubicBezTo>
                  <a:pt x="18077" y="20274"/>
                  <a:pt x="18081" y="20321"/>
                  <a:pt x="18086" y="20359"/>
                </a:cubicBezTo>
                <a:cubicBezTo>
                  <a:pt x="18091" y="20397"/>
                  <a:pt x="18097" y="20446"/>
                  <a:pt x="18100" y="20471"/>
                </a:cubicBezTo>
                <a:cubicBezTo>
                  <a:pt x="18103" y="20496"/>
                  <a:pt x="18112" y="20532"/>
                  <a:pt x="18119" y="20551"/>
                </a:cubicBezTo>
                <a:cubicBezTo>
                  <a:pt x="18126" y="20570"/>
                  <a:pt x="18133" y="20612"/>
                  <a:pt x="18135" y="20642"/>
                </a:cubicBezTo>
                <a:cubicBezTo>
                  <a:pt x="18138" y="20679"/>
                  <a:pt x="18143" y="20704"/>
                  <a:pt x="18153" y="20719"/>
                </a:cubicBezTo>
                <a:cubicBezTo>
                  <a:pt x="18161" y="20732"/>
                  <a:pt x="18167" y="20747"/>
                  <a:pt x="18167" y="20757"/>
                </a:cubicBezTo>
                <a:cubicBezTo>
                  <a:pt x="18167" y="20766"/>
                  <a:pt x="18173" y="20791"/>
                  <a:pt x="18179" y="20810"/>
                </a:cubicBezTo>
                <a:cubicBezTo>
                  <a:pt x="18186" y="20830"/>
                  <a:pt x="18191" y="20859"/>
                  <a:pt x="18191" y="20874"/>
                </a:cubicBezTo>
                <a:cubicBezTo>
                  <a:pt x="18191" y="20893"/>
                  <a:pt x="18194" y="20904"/>
                  <a:pt x="18200" y="20904"/>
                </a:cubicBezTo>
                <a:cubicBezTo>
                  <a:pt x="18215" y="20904"/>
                  <a:pt x="18228" y="20942"/>
                  <a:pt x="18232" y="20997"/>
                </a:cubicBezTo>
                <a:cubicBezTo>
                  <a:pt x="18235" y="21028"/>
                  <a:pt x="18242" y="21048"/>
                  <a:pt x="18251" y="21056"/>
                </a:cubicBezTo>
                <a:cubicBezTo>
                  <a:pt x="18259" y="21063"/>
                  <a:pt x="18267" y="21085"/>
                  <a:pt x="18270" y="21104"/>
                </a:cubicBezTo>
                <a:cubicBezTo>
                  <a:pt x="18273" y="21124"/>
                  <a:pt x="18280" y="21143"/>
                  <a:pt x="18285" y="21147"/>
                </a:cubicBezTo>
                <a:cubicBezTo>
                  <a:pt x="18305" y="21161"/>
                  <a:pt x="18313" y="21176"/>
                  <a:pt x="18322" y="21216"/>
                </a:cubicBezTo>
                <a:cubicBezTo>
                  <a:pt x="18327" y="21240"/>
                  <a:pt x="18337" y="21256"/>
                  <a:pt x="18345" y="21259"/>
                </a:cubicBezTo>
                <a:cubicBezTo>
                  <a:pt x="18361" y="21265"/>
                  <a:pt x="18378" y="21300"/>
                  <a:pt x="18378" y="21326"/>
                </a:cubicBezTo>
                <a:cubicBezTo>
                  <a:pt x="18378" y="21336"/>
                  <a:pt x="18383" y="21345"/>
                  <a:pt x="18388" y="21345"/>
                </a:cubicBezTo>
                <a:cubicBezTo>
                  <a:pt x="18393" y="21345"/>
                  <a:pt x="18402" y="21355"/>
                  <a:pt x="18407" y="21366"/>
                </a:cubicBezTo>
                <a:cubicBezTo>
                  <a:pt x="18412" y="21377"/>
                  <a:pt x="18426" y="21392"/>
                  <a:pt x="18439" y="21398"/>
                </a:cubicBezTo>
                <a:cubicBezTo>
                  <a:pt x="18453" y="21405"/>
                  <a:pt x="18463" y="21419"/>
                  <a:pt x="18466" y="21438"/>
                </a:cubicBezTo>
                <a:cubicBezTo>
                  <a:pt x="18470" y="21456"/>
                  <a:pt x="18479" y="21471"/>
                  <a:pt x="18490" y="21476"/>
                </a:cubicBezTo>
                <a:cubicBezTo>
                  <a:pt x="18499" y="21480"/>
                  <a:pt x="18519" y="21489"/>
                  <a:pt x="18535" y="21497"/>
                </a:cubicBezTo>
                <a:cubicBezTo>
                  <a:pt x="18550" y="21505"/>
                  <a:pt x="18576" y="21514"/>
                  <a:pt x="18592" y="21518"/>
                </a:cubicBezTo>
                <a:cubicBezTo>
                  <a:pt x="18608" y="21523"/>
                  <a:pt x="18623" y="21537"/>
                  <a:pt x="18626" y="21548"/>
                </a:cubicBezTo>
                <a:cubicBezTo>
                  <a:pt x="18630" y="21558"/>
                  <a:pt x="18651" y="21572"/>
                  <a:pt x="18673" y="21580"/>
                </a:cubicBezTo>
                <a:cubicBezTo>
                  <a:pt x="18730" y="21600"/>
                  <a:pt x="20862" y="21597"/>
                  <a:pt x="20916" y="21577"/>
                </a:cubicBezTo>
                <a:cubicBezTo>
                  <a:pt x="20938" y="21569"/>
                  <a:pt x="20960" y="21555"/>
                  <a:pt x="20963" y="21545"/>
                </a:cubicBezTo>
                <a:cubicBezTo>
                  <a:pt x="20966" y="21535"/>
                  <a:pt x="20979" y="21525"/>
                  <a:pt x="20992" y="21521"/>
                </a:cubicBezTo>
                <a:cubicBezTo>
                  <a:pt x="21004" y="21517"/>
                  <a:pt x="21038" y="21503"/>
                  <a:pt x="21067" y="21489"/>
                </a:cubicBezTo>
                <a:cubicBezTo>
                  <a:pt x="21111" y="21468"/>
                  <a:pt x="21120" y="21459"/>
                  <a:pt x="21121" y="21435"/>
                </a:cubicBezTo>
                <a:cubicBezTo>
                  <a:pt x="21122" y="21415"/>
                  <a:pt x="21129" y="21404"/>
                  <a:pt x="21149" y="21395"/>
                </a:cubicBezTo>
                <a:cubicBezTo>
                  <a:pt x="21163" y="21389"/>
                  <a:pt x="21178" y="21374"/>
                  <a:pt x="21183" y="21363"/>
                </a:cubicBezTo>
                <a:cubicBezTo>
                  <a:pt x="21188" y="21353"/>
                  <a:pt x="21196" y="21345"/>
                  <a:pt x="21202" y="21345"/>
                </a:cubicBezTo>
                <a:cubicBezTo>
                  <a:pt x="21207" y="21345"/>
                  <a:pt x="21211" y="21336"/>
                  <a:pt x="21211" y="21326"/>
                </a:cubicBezTo>
                <a:cubicBezTo>
                  <a:pt x="21211" y="21299"/>
                  <a:pt x="21229" y="21265"/>
                  <a:pt x="21246" y="21259"/>
                </a:cubicBezTo>
                <a:cubicBezTo>
                  <a:pt x="21254" y="21256"/>
                  <a:pt x="21260" y="21244"/>
                  <a:pt x="21261" y="21227"/>
                </a:cubicBezTo>
                <a:cubicBezTo>
                  <a:pt x="21264" y="21186"/>
                  <a:pt x="21277" y="21156"/>
                  <a:pt x="21296" y="21147"/>
                </a:cubicBezTo>
                <a:cubicBezTo>
                  <a:pt x="21307" y="21142"/>
                  <a:pt x="21314" y="21130"/>
                  <a:pt x="21314" y="21115"/>
                </a:cubicBezTo>
                <a:cubicBezTo>
                  <a:pt x="21314" y="21083"/>
                  <a:pt x="21330" y="21043"/>
                  <a:pt x="21343" y="21043"/>
                </a:cubicBezTo>
                <a:cubicBezTo>
                  <a:pt x="21349" y="21043"/>
                  <a:pt x="21354" y="21027"/>
                  <a:pt x="21356" y="21003"/>
                </a:cubicBezTo>
                <a:cubicBezTo>
                  <a:pt x="21361" y="20946"/>
                  <a:pt x="21367" y="20926"/>
                  <a:pt x="21384" y="20906"/>
                </a:cubicBezTo>
                <a:cubicBezTo>
                  <a:pt x="21392" y="20897"/>
                  <a:pt x="21399" y="20879"/>
                  <a:pt x="21399" y="20869"/>
                </a:cubicBezTo>
                <a:cubicBezTo>
                  <a:pt x="21399" y="20828"/>
                  <a:pt x="21422" y="20726"/>
                  <a:pt x="21435" y="20709"/>
                </a:cubicBezTo>
                <a:cubicBezTo>
                  <a:pt x="21446" y="20695"/>
                  <a:pt x="21452" y="20677"/>
                  <a:pt x="21454" y="20639"/>
                </a:cubicBezTo>
                <a:cubicBezTo>
                  <a:pt x="21456" y="20610"/>
                  <a:pt x="21464" y="20570"/>
                  <a:pt x="21471" y="20551"/>
                </a:cubicBezTo>
                <a:cubicBezTo>
                  <a:pt x="21478" y="20532"/>
                  <a:pt x="21486" y="20496"/>
                  <a:pt x="21489" y="20471"/>
                </a:cubicBezTo>
                <a:cubicBezTo>
                  <a:pt x="21493" y="20446"/>
                  <a:pt x="21499" y="20397"/>
                  <a:pt x="21504" y="20359"/>
                </a:cubicBezTo>
                <a:cubicBezTo>
                  <a:pt x="21509" y="20321"/>
                  <a:pt x="21513" y="20276"/>
                  <a:pt x="21513" y="20260"/>
                </a:cubicBezTo>
                <a:cubicBezTo>
                  <a:pt x="21513" y="20244"/>
                  <a:pt x="21519" y="20222"/>
                  <a:pt x="21525" y="20212"/>
                </a:cubicBezTo>
                <a:cubicBezTo>
                  <a:pt x="21534" y="20197"/>
                  <a:pt x="21537" y="20166"/>
                  <a:pt x="21542" y="20054"/>
                </a:cubicBezTo>
                <a:cubicBezTo>
                  <a:pt x="21546" y="19978"/>
                  <a:pt x="21551" y="19904"/>
                  <a:pt x="21553" y="19891"/>
                </a:cubicBezTo>
                <a:cubicBezTo>
                  <a:pt x="21556" y="19878"/>
                  <a:pt x="21559" y="19840"/>
                  <a:pt x="21559" y="19806"/>
                </a:cubicBezTo>
                <a:cubicBezTo>
                  <a:pt x="21559" y="19765"/>
                  <a:pt x="21562" y="19741"/>
                  <a:pt x="21568" y="19734"/>
                </a:cubicBezTo>
                <a:cubicBezTo>
                  <a:pt x="21574" y="19725"/>
                  <a:pt x="21577" y="19685"/>
                  <a:pt x="21580" y="19579"/>
                </a:cubicBezTo>
                <a:cubicBezTo>
                  <a:pt x="21582" y="19501"/>
                  <a:pt x="21585" y="19436"/>
                  <a:pt x="21588" y="19432"/>
                </a:cubicBezTo>
                <a:cubicBezTo>
                  <a:pt x="21594" y="19422"/>
                  <a:pt x="21594" y="19113"/>
                  <a:pt x="21588" y="19103"/>
                </a:cubicBezTo>
                <a:cubicBezTo>
                  <a:pt x="21585" y="19099"/>
                  <a:pt x="21582" y="19029"/>
                  <a:pt x="21580" y="18948"/>
                </a:cubicBezTo>
                <a:cubicBezTo>
                  <a:pt x="21578" y="18841"/>
                  <a:pt x="21574" y="18797"/>
                  <a:pt x="21568" y="18785"/>
                </a:cubicBezTo>
                <a:cubicBezTo>
                  <a:pt x="21563" y="18776"/>
                  <a:pt x="21558" y="18746"/>
                  <a:pt x="21557" y="18716"/>
                </a:cubicBezTo>
                <a:cubicBezTo>
                  <a:pt x="21541" y="18400"/>
                  <a:pt x="21535" y="18327"/>
                  <a:pt x="21525" y="18307"/>
                </a:cubicBezTo>
                <a:cubicBezTo>
                  <a:pt x="21519" y="18296"/>
                  <a:pt x="21513" y="18264"/>
                  <a:pt x="21512" y="18237"/>
                </a:cubicBezTo>
                <a:cubicBezTo>
                  <a:pt x="21510" y="18211"/>
                  <a:pt x="21506" y="18172"/>
                  <a:pt x="21503" y="18149"/>
                </a:cubicBezTo>
                <a:cubicBezTo>
                  <a:pt x="21499" y="18126"/>
                  <a:pt x="21494" y="18084"/>
                  <a:pt x="21491" y="18056"/>
                </a:cubicBezTo>
                <a:cubicBezTo>
                  <a:pt x="21487" y="18027"/>
                  <a:pt x="21477" y="17987"/>
                  <a:pt x="21470" y="17968"/>
                </a:cubicBezTo>
                <a:cubicBezTo>
                  <a:pt x="21462" y="17948"/>
                  <a:pt x="21456" y="17913"/>
                  <a:pt x="21456" y="17893"/>
                </a:cubicBezTo>
                <a:cubicBezTo>
                  <a:pt x="21456" y="17873"/>
                  <a:pt x="21453" y="17846"/>
                  <a:pt x="21449" y="17831"/>
                </a:cubicBezTo>
                <a:cubicBezTo>
                  <a:pt x="21444" y="17816"/>
                  <a:pt x="21434" y="17757"/>
                  <a:pt x="21425" y="17700"/>
                </a:cubicBezTo>
                <a:cubicBezTo>
                  <a:pt x="21392" y="17472"/>
                  <a:pt x="21332" y="17215"/>
                  <a:pt x="21274" y="17051"/>
                </a:cubicBezTo>
                <a:cubicBezTo>
                  <a:pt x="21262" y="17016"/>
                  <a:pt x="21248" y="16984"/>
                  <a:pt x="21234" y="16952"/>
                </a:cubicBezTo>
                <a:cubicBezTo>
                  <a:pt x="21232" y="16948"/>
                  <a:pt x="21230" y="16943"/>
                  <a:pt x="21228" y="16939"/>
                </a:cubicBezTo>
                <a:cubicBezTo>
                  <a:pt x="21181" y="16838"/>
                  <a:pt x="21123" y="16754"/>
                  <a:pt x="21068" y="16709"/>
                </a:cubicBezTo>
                <a:cubicBezTo>
                  <a:pt x="21038" y="16685"/>
                  <a:pt x="20990" y="16684"/>
                  <a:pt x="20083" y="16677"/>
                </a:cubicBezTo>
                <a:lnTo>
                  <a:pt x="20079" y="16677"/>
                </a:lnTo>
                <a:lnTo>
                  <a:pt x="19122" y="16672"/>
                </a:lnTo>
                <a:lnTo>
                  <a:pt x="19120" y="15587"/>
                </a:lnTo>
                <a:cubicBezTo>
                  <a:pt x="19119" y="15436"/>
                  <a:pt x="19119" y="15443"/>
                  <a:pt x="19118" y="15312"/>
                </a:cubicBezTo>
                <a:cubicBezTo>
                  <a:pt x="19117" y="14825"/>
                  <a:pt x="19114" y="14518"/>
                  <a:pt x="19111" y="14510"/>
                </a:cubicBezTo>
                <a:cubicBezTo>
                  <a:pt x="19107" y="14501"/>
                  <a:pt x="18880" y="14494"/>
                  <a:pt x="18400" y="14492"/>
                </a:cubicBezTo>
                <a:lnTo>
                  <a:pt x="18396" y="14492"/>
                </a:lnTo>
                <a:lnTo>
                  <a:pt x="17686" y="14489"/>
                </a:lnTo>
                <a:lnTo>
                  <a:pt x="17684" y="13850"/>
                </a:lnTo>
                <a:cubicBezTo>
                  <a:pt x="17683" y="13346"/>
                  <a:pt x="17685" y="13211"/>
                  <a:pt x="17691" y="13207"/>
                </a:cubicBezTo>
                <a:cubicBezTo>
                  <a:pt x="17695" y="13204"/>
                  <a:pt x="17719" y="13195"/>
                  <a:pt x="17747" y="13188"/>
                </a:cubicBezTo>
                <a:cubicBezTo>
                  <a:pt x="17780" y="13179"/>
                  <a:pt x="17800" y="13167"/>
                  <a:pt x="17804" y="13153"/>
                </a:cubicBezTo>
                <a:cubicBezTo>
                  <a:pt x="17812" y="13131"/>
                  <a:pt x="17824" y="13123"/>
                  <a:pt x="17894" y="13100"/>
                </a:cubicBezTo>
                <a:cubicBezTo>
                  <a:pt x="17919" y="13091"/>
                  <a:pt x="17938" y="13077"/>
                  <a:pt x="17941" y="13065"/>
                </a:cubicBezTo>
                <a:cubicBezTo>
                  <a:pt x="17944" y="13054"/>
                  <a:pt x="17949" y="13046"/>
                  <a:pt x="17953" y="13046"/>
                </a:cubicBezTo>
                <a:cubicBezTo>
                  <a:pt x="17958" y="13046"/>
                  <a:pt x="17969" y="13031"/>
                  <a:pt x="17978" y="13012"/>
                </a:cubicBezTo>
                <a:cubicBezTo>
                  <a:pt x="17986" y="12993"/>
                  <a:pt x="17997" y="12977"/>
                  <a:pt x="18003" y="12977"/>
                </a:cubicBezTo>
                <a:cubicBezTo>
                  <a:pt x="18020" y="12977"/>
                  <a:pt x="18039" y="12950"/>
                  <a:pt x="18045" y="12918"/>
                </a:cubicBezTo>
                <a:cubicBezTo>
                  <a:pt x="18048" y="12902"/>
                  <a:pt x="18056" y="12886"/>
                  <a:pt x="18063" y="12883"/>
                </a:cubicBezTo>
                <a:cubicBezTo>
                  <a:pt x="18077" y="12877"/>
                  <a:pt x="18093" y="12840"/>
                  <a:pt x="18093" y="12817"/>
                </a:cubicBezTo>
                <a:cubicBezTo>
                  <a:pt x="18093" y="12807"/>
                  <a:pt x="18100" y="12792"/>
                  <a:pt x="18109" y="12782"/>
                </a:cubicBezTo>
                <a:cubicBezTo>
                  <a:pt x="18119" y="12770"/>
                  <a:pt x="18127" y="12745"/>
                  <a:pt x="18131" y="12715"/>
                </a:cubicBezTo>
                <a:cubicBezTo>
                  <a:pt x="18135" y="12681"/>
                  <a:pt x="18144" y="12660"/>
                  <a:pt x="18159" y="12643"/>
                </a:cubicBezTo>
                <a:cubicBezTo>
                  <a:pt x="18172" y="12627"/>
                  <a:pt x="18179" y="12608"/>
                  <a:pt x="18179" y="12589"/>
                </a:cubicBezTo>
                <a:cubicBezTo>
                  <a:pt x="18179" y="12547"/>
                  <a:pt x="18189" y="12509"/>
                  <a:pt x="18200" y="12509"/>
                </a:cubicBezTo>
                <a:cubicBezTo>
                  <a:pt x="18211" y="12509"/>
                  <a:pt x="18225" y="12419"/>
                  <a:pt x="18225" y="12354"/>
                </a:cubicBezTo>
                <a:cubicBezTo>
                  <a:pt x="18225" y="12338"/>
                  <a:pt x="18231" y="12310"/>
                  <a:pt x="18240" y="12290"/>
                </a:cubicBezTo>
                <a:cubicBezTo>
                  <a:pt x="18251" y="12265"/>
                  <a:pt x="18259" y="12228"/>
                  <a:pt x="18264" y="12170"/>
                </a:cubicBezTo>
                <a:cubicBezTo>
                  <a:pt x="18269" y="12124"/>
                  <a:pt x="18274" y="12073"/>
                  <a:pt x="18277" y="12055"/>
                </a:cubicBezTo>
                <a:cubicBezTo>
                  <a:pt x="18279" y="12038"/>
                  <a:pt x="18281" y="12008"/>
                  <a:pt x="18281" y="11988"/>
                </a:cubicBezTo>
                <a:cubicBezTo>
                  <a:pt x="18281" y="11965"/>
                  <a:pt x="18286" y="11950"/>
                  <a:pt x="18293" y="11946"/>
                </a:cubicBezTo>
                <a:cubicBezTo>
                  <a:pt x="18300" y="11941"/>
                  <a:pt x="18304" y="11926"/>
                  <a:pt x="18304" y="11905"/>
                </a:cubicBezTo>
                <a:cubicBezTo>
                  <a:pt x="18304" y="11888"/>
                  <a:pt x="18307" y="11870"/>
                  <a:pt x="18310" y="11865"/>
                </a:cubicBezTo>
                <a:cubicBezTo>
                  <a:pt x="18313" y="11861"/>
                  <a:pt x="18316" y="11803"/>
                  <a:pt x="18319" y="11734"/>
                </a:cubicBezTo>
                <a:cubicBezTo>
                  <a:pt x="18321" y="11666"/>
                  <a:pt x="18325" y="11608"/>
                  <a:pt x="18327" y="11604"/>
                </a:cubicBezTo>
                <a:cubicBezTo>
                  <a:pt x="18330" y="11599"/>
                  <a:pt x="18333" y="11566"/>
                  <a:pt x="18333" y="11529"/>
                </a:cubicBezTo>
                <a:cubicBezTo>
                  <a:pt x="18333" y="11484"/>
                  <a:pt x="18336" y="11456"/>
                  <a:pt x="18342" y="11449"/>
                </a:cubicBezTo>
                <a:cubicBezTo>
                  <a:pt x="18368" y="11413"/>
                  <a:pt x="18368" y="10303"/>
                  <a:pt x="18342" y="10268"/>
                </a:cubicBezTo>
                <a:cubicBezTo>
                  <a:pt x="18336" y="10260"/>
                  <a:pt x="18333" y="10232"/>
                  <a:pt x="18333" y="10188"/>
                </a:cubicBezTo>
                <a:cubicBezTo>
                  <a:pt x="18333" y="10150"/>
                  <a:pt x="18330" y="10117"/>
                  <a:pt x="18327" y="10113"/>
                </a:cubicBezTo>
                <a:cubicBezTo>
                  <a:pt x="18325" y="10109"/>
                  <a:pt x="18321" y="10050"/>
                  <a:pt x="18319" y="9982"/>
                </a:cubicBezTo>
                <a:cubicBezTo>
                  <a:pt x="18316" y="9913"/>
                  <a:pt x="18313" y="9853"/>
                  <a:pt x="18310" y="9848"/>
                </a:cubicBezTo>
                <a:cubicBezTo>
                  <a:pt x="18307" y="9844"/>
                  <a:pt x="18304" y="9826"/>
                  <a:pt x="18304" y="9808"/>
                </a:cubicBezTo>
                <a:cubicBezTo>
                  <a:pt x="18304" y="9788"/>
                  <a:pt x="18300" y="9775"/>
                  <a:pt x="18293" y="9771"/>
                </a:cubicBezTo>
                <a:cubicBezTo>
                  <a:pt x="18285" y="9766"/>
                  <a:pt x="18281" y="9750"/>
                  <a:pt x="18281" y="9720"/>
                </a:cubicBezTo>
                <a:cubicBezTo>
                  <a:pt x="18281" y="9697"/>
                  <a:pt x="18279" y="9674"/>
                  <a:pt x="18275" y="9669"/>
                </a:cubicBezTo>
                <a:cubicBezTo>
                  <a:pt x="18272" y="9665"/>
                  <a:pt x="18270" y="9642"/>
                  <a:pt x="18270" y="9616"/>
                </a:cubicBezTo>
                <a:cubicBezTo>
                  <a:pt x="18270" y="9549"/>
                  <a:pt x="18258" y="9442"/>
                  <a:pt x="18250" y="9442"/>
                </a:cubicBezTo>
                <a:cubicBezTo>
                  <a:pt x="18239" y="9442"/>
                  <a:pt x="18227" y="9387"/>
                  <a:pt x="18219" y="9298"/>
                </a:cubicBezTo>
                <a:cubicBezTo>
                  <a:pt x="18215" y="9252"/>
                  <a:pt x="18209" y="9205"/>
                  <a:pt x="18205" y="9194"/>
                </a:cubicBezTo>
                <a:cubicBezTo>
                  <a:pt x="18201" y="9182"/>
                  <a:pt x="18192" y="9134"/>
                  <a:pt x="18185" y="9084"/>
                </a:cubicBezTo>
                <a:cubicBezTo>
                  <a:pt x="18149" y="8838"/>
                  <a:pt x="18100" y="8636"/>
                  <a:pt x="18045" y="8496"/>
                </a:cubicBezTo>
                <a:cubicBezTo>
                  <a:pt x="18032" y="8466"/>
                  <a:pt x="18023" y="8446"/>
                  <a:pt x="18013" y="8424"/>
                </a:cubicBezTo>
                <a:cubicBezTo>
                  <a:pt x="17995" y="8389"/>
                  <a:pt x="17977" y="8358"/>
                  <a:pt x="17959" y="8336"/>
                </a:cubicBezTo>
                <a:lnTo>
                  <a:pt x="17920" y="8291"/>
                </a:lnTo>
                <a:lnTo>
                  <a:pt x="16968" y="8291"/>
                </a:lnTo>
                <a:lnTo>
                  <a:pt x="16016" y="8291"/>
                </a:lnTo>
                <a:close/>
              </a:path>
            </a:pathLst>
          </a:custGeom>
          <a:ln w="12700">
            <a:miter lim="4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Inheritance</a:t>
            </a:r>
            <a:endParaRPr lang="en-US" b="1" dirty="0"/>
          </a:p>
        </p:txBody>
      </p:sp>
      <p:sp>
        <p:nvSpPr>
          <p:cNvPr id="3" name="Text Placeholder 2"/>
          <p:cNvSpPr>
            <a:spLocks noGrp="1"/>
          </p:cNvSpPr>
          <p:nvPr>
            <p:ph type="body" idx="1"/>
          </p:nvPr>
        </p:nvSpPr>
        <p:spPr>
          <a:xfrm>
            <a:off x="518710" y="1152475"/>
            <a:ext cx="8520600" cy="3416400"/>
          </a:xfrm>
        </p:spPr>
        <p:txBody>
          <a:bodyPr/>
          <a:lstStyle/>
          <a:p>
            <a:r>
              <a:rPr lang="en-US" b="1" dirty="0"/>
              <a:t>Inheritance</a:t>
            </a:r>
            <a:r>
              <a:rPr lang="en-US" dirty="0"/>
              <a:t> A mechanism by which one class acquires (inherits) the properties (both data fields and methods) of another class.</a:t>
            </a:r>
            <a:endParaRPr lang="en-US" dirty="0"/>
          </a:p>
          <a:p>
            <a:pPr marL="114300" indent="0">
              <a:buNone/>
            </a:pPr>
            <a:endParaRPr lang="en-US" dirty="0"/>
          </a:p>
          <a:p>
            <a:r>
              <a:rPr lang="en-US" b="1" dirty="0"/>
              <a:t>Superclass</a:t>
            </a:r>
            <a:r>
              <a:rPr lang="en-US" dirty="0"/>
              <a:t> The class being inherited from.</a:t>
            </a:r>
            <a:endParaRPr lang="en-US" dirty="0"/>
          </a:p>
          <a:p>
            <a:pPr marL="114300" indent="0">
              <a:buNone/>
            </a:pPr>
            <a:endParaRPr lang="en-US" dirty="0"/>
          </a:p>
          <a:p>
            <a:r>
              <a:rPr lang="en-US" b="1" dirty="0"/>
              <a:t>Derived class </a:t>
            </a:r>
            <a:r>
              <a:rPr lang="en-US" dirty="0"/>
              <a:t>The class that inherits.</a:t>
            </a:r>
            <a:endParaRPr lang="en-US" dirty="0"/>
          </a:p>
          <a:p>
            <a:pPr marL="114300" indent="0">
              <a:buNone/>
            </a:pPr>
            <a:endParaRPr lang="en-US" dirty="0"/>
          </a:p>
          <a:p>
            <a:r>
              <a:rPr lang="en-US" dirty="0"/>
              <a:t>The derived class is </a:t>
            </a:r>
            <a:r>
              <a:rPr lang="en-US" b="1" dirty="0"/>
              <a:t>specialized</a:t>
            </a:r>
            <a:r>
              <a:rPr lang="en-US" dirty="0"/>
              <a:t> by adding properties specific to it.</a:t>
            </a: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Inheritance: Terminologies</a:t>
            </a:r>
            <a:endParaRPr lang="en-US" b="1" dirty="0"/>
          </a:p>
        </p:txBody>
      </p:sp>
      <p:sp>
        <p:nvSpPr>
          <p:cNvPr id="10" name="Content Placeholder 2"/>
          <p:cNvSpPr txBox="1"/>
          <p:nvPr/>
        </p:nvSpPr>
        <p:spPr>
          <a:xfrm>
            <a:off x="307500" y="1116053"/>
            <a:ext cx="7772400" cy="358491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r>
              <a:rPr lang="en-US" dirty="0"/>
              <a:t>An object class that is derived from another class inherits its instance variables and methods.</a:t>
            </a:r>
            <a:endParaRPr lang="en-US" dirty="0"/>
          </a:p>
          <a:p>
            <a:pPr marL="133985" indent="0" algn="ctr">
              <a:buSzTx/>
              <a:buFont typeface="Arial" panose="020B0604020202020204"/>
              <a:buNone/>
              <a:tabLst>
                <a:tab pos="200660" algn="l"/>
                <a:tab pos="501650" algn="l"/>
              </a:tabLst>
            </a:pPr>
            <a:r>
              <a:rPr lang="en-US" dirty="0"/>
              <a:t>   </a:t>
            </a:r>
            <a:endParaRPr lang="en-US" dirty="0"/>
          </a:p>
          <a:p>
            <a:pPr marL="133985" indent="0" algn="ctr">
              <a:buSzTx/>
              <a:buFont typeface="Arial" panose="020B0604020202020204"/>
              <a:buNone/>
              <a:tabLst>
                <a:tab pos="200660" algn="l"/>
                <a:tab pos="501650" algn="l"/>
              </a:tabLst>
            </a:pPr>
            <a:r>
              <a:rPr lang="en-US" dirty="0"/>
              <a:t>            child class                         		parent class</a:t>
            </a:r>
            <a:endParaRPr lang="en-US" dirty="0"/>
          </a:p>
          <a:p>
            <a:pPr marL="133985" indent="0" algn="ctr">
              <a:buSzTx/>
              <a:buFont typeface="Arial" panose="020B0604020202020204"/>
              <a:buNone/>
              <a:tabLst>
                <a:tab pos="200660" algn="l"/>
                <a:tab pos="501650" algn="l"/>
              </a:tabLst>
            </a:pPr>
            <a:r>
              <a:rPr lang="en-US" dirty="0"/>
              <a:t>                          subclass 		                          super class	          		derived class                  	            base class</a:t>
            </a:r>
            <a:endParaRPr lang="en-US" dirty="0"/>
          </a:p>
          <a:p>
            <a:endParaRPr lang="en-US" dirty="0"/>
          </a:p>
          <a:p>
            <a:r>
              <a:rPr lang="en-US" dirty="0"/>
              <a:t>Any instance variable or method that is inherited by a subclass does not need to be redefined.</a:t>
            </a:r>
            <a:endParaRPr lang="en-US" dirty="0"/>
          </a:p>
          <a:p>
            <a:endParaRPr lang="en-US" dirty="0"/>
          </a:p>
        </p:txBody>
      </p:sp>
      <p:sp>
        <p:nvSpPr>
          <p:cNvPr id="11" name="Arrow"/>
          <p:cNvSpPr/>
          <p:nvPr/>
        </p:nvSpPr>
        <p:spPr>
          <a:xfrm>
            <a:off x="4054941" y="2437503"/>
            <a:ext cx="957709" cy="207615"/>
          </a:xfrm>
          <a:prstGeom prst="rightArrow">
            <a:avLst>
              <a:gd name="adj1" fmla="val 32000"/>
              <a:gd name="adj2" fmla="val 141935"/>
            </a:avLst>
          </a:prstGeom>
          <a:blipFill>
            <a:blip r:embed="rId1"/>
          </a:blipFill>
          <a:ln w="25400">
            <a:solidFill>
              <a:srgbClr val="453F3E"/>
            </a:solidFill>
            <a:miter lim="400000"/>
          </a:ln>
        </p:spPr>
        <p:txBody>
          <a:bodyPr lIns="20092" tIns="20092" rIns="20092" bIns="20092" anchor="ctr"/>
          <a:lstStyle/>
          <a:p>
            <a:pPr defTabSz="241300" hangingPunct="0">
              <a:buClrTx/>
              <a:defRPr sz="2000">
                <a:solidFill>
                  <a:srgbClr val="FFFFFF"/>
                </a:solidFill>
              </a:defRPr>
            </a:pPr>
            <a:endParaRPr sz="1055">
              <a:solidFill>
                <a:srgbClr val="FFFFFF"/>
              </a:solidFill>
              <a:latin typeface="Helvetica"/>
              <a:cs typeface="Helvetica"/>
              <a:sym typeface="Helvetica"/>
            </a:endParaRPr>
          </a:p>
        </p:txBody>
      </p:sp>
      <p:sp>
        <p:nvSpPr>
          <p:cNvPr id="12" name="Right Brace 11"/>
          <p:cNvSpPr/>
          <p:nvPr/>
        </p:nvSpPr>
        <p:spPr>
          <a:xfrm>
            <a:off x="3242348" y="2157323"/>
            <a:ext cx="442020" cy="1004590"/>
          </a:xfrm>
          <a:prstGeom prst="rightBrace">
            <a:avLst/>
          </a:prstGeom>
          <a:ln w="22225">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241300" hangingPunct="0">
              <a:buClrTx/>
            </a:pPr>
            <a:endParaRPr lang="en-US" sz="635">
              <a:solidFill>
                <a:prstClr val="black"/>
              </a:solidFill>
              <a:sym typeface="Helvetica"/>
            </a:endParaRPr>
          </a:p>
        </p:txBody>
      </p:sp>
      <p:sp>
        <p:nvSpPr>
          <p:cNvPr id="13" name="Right Brace 12"/>
          <p:cNvSpPr/>
          <p:nvPr/>
        </p:nvSpPr>
        <p:spPr>
          <a:xfrm rot="10800000">
            <a:off x="5333553" y="2133047"/>
            <a:ext cx="442020" cy="1004590"/>
          </a:xfrm>
          <a:prstGeom prst="rightBrace">
            <a:avLst/>
          </a:prstGeom>
          <a:ln w="22225">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241300" hangingPunct="0">
              <a:buClrTx/>
            </a:pPr>
            <a:endParaRPr lang="en-US" sz="635">
              <a:solidFill>
                <a:prstClr val="black"/>
              </a:solidFill>
              <a:sym typeface="Helvetica"/>
            </a:endParaRPr>
          </a:p>
        </p:txBody>
      </p:sp>
      <p:sp>
        <p:nvSpPr>
          <p:cNvPr id="14" name="TextBox 13"/>
          <p:cNvSpPr txBox="1"/>
          <p:nvPr/>
        </p:nvSpPr>
        <p:spPr>
          <a:xfrm>
            <a:off x="3880788" y="2129125"/>
            <a:ext cx="932308" cy="351956"/>
          </a:xfrm>
          <a:prstGeom prst="rect">
            <a:avLst/>
          </a:prstGeom>
          <a:noFill/>
        </p:spPr>
        <p:txBody>
          <a:bodyPr wrap="none" rtlCol="0">
            <a:spAutoFit/>
          </a:bodyPr>
          <a:lstStyle/>
          <a:p>
            <a:pPr marL="180975" indent="-46990" algn="ctr" defTabSz="213995">
              <a:spcBef>
                <a:spcPts val="950"/>
              </a:spcBef>
              <a:buClrTx/>
              <a:tabLst>
                <a:tab pos="200660" algn="l"/>
                <a:tab pos="501650" algn="l"/>
              </a:tabLst>
            </a:pPr>
            <a:r>
              <a:rPr lang="en-US" sz="1685" dirty="0">
                <a:solidFill>
                  <a:srgbClr val="6C6963"/>
                </a:solidFill>
                <a:latin typeface="Baskerville"/>
                <a:cs typeface="Helvetica"/>
                <a:sym typeface="Baskerville"/>
              </a:rPr>
              <a:t>“IS–A”</a:t>
            </a:r>
            <a:endParaRPr lang="en-US" sz="1685" dirty="0">
              <a:solidFill>
                <a:srgbClr val="6C6963"/>
              </a:solidFill>
              <a:latin typeface="Baskerville"/>
              <a:cs typeface="Helvetica"/>
              <a:sym typeface="Baskerville"/>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Why use Inheritance?</a:t>
            </a:r>
            <a:endParaRPr lang="en-US" b="1" dirty="0"/>
          </a:p>
        </p:txBody>
      </p:sp>
      <p:sp>
        <p:nvSpPr>
          <p:cNvPr id="3" name="Text Placeholder 2"/>
          <p:cNvSpPr>
            <a:spLocks noGrp="1"/>
          </p:cNvSpPr>
          <p:nvPr>
            <p:ph type="body" idx="1"/>
          </p:nvPr>
        </p:nvSpPr>
        <p:spPr/>
        <p:txBody>
          <a:bodyPr>
            <a:normAutofit/>
          </a:bodyPr>
          <a:lstStyle/>
          <a:p>
            <a:r>
              <a:rPr lang="en-US" dirty="0"/>
              <a:t>Customize classes (from the JDK or your own).</a:t>
            </a:r>
            <a:endParaRPr lang="en-US" dirty="0"/>
          </a:p>
          <a:p>
            <a:pPr marL="114300" indent="0">
              <a:buNone/>
            </a:pPr>
            <a:endParaRPr lang="en-US" dirty="0"/>
          </a:p>
          <a:p>
            <a:r>
              <a:rPr lang="en-US" dirty="0"/>
              <a:t>Benefits:</a:t>
            </a:r>
            <a:endParaRPr lang="en-US" dirty="0"/>
          </a:p>
          <a:p>
            <a:pPr lvl="1"/>
            <a:r>
              <a:rPr lang="en-US" sz="1800" dirty="0"/>
              <a:t>Don’t have to re-write code:</a:t>
            </a:r>
            <a:endParaRPr lang="en-US" sz="1800" dirty="0"/>
          </a:p>
          <a:p>
            <a:pPr lvl="2"/>
            <a:r>
              <a:rPr lang="en-US" sz="1800" dirty="0"/>
              <a:t>Use methods and variables from fully tested classes.</a:t>
            </a:r>
            <a:endParaRPr lang="en-US" sz="1800" dirty="0"/>
          </a:p>
          <a:p>
            <a:pPr lvl="2"/>
            <a:r>
              <a:rPr lang="en-US" sz="1800" dirty="0"/>
              <a:t>Superclass code can be used in any number of subclasses.</a:t>
            </a:r>
            <a:endParaRPr lang="en-US" sz="1800" dirty="0"/>
          </a:p>
          <a:p>
            <a:pPr lvl="1"/>
            <a:r>
              <a:rPr lang="en-US" sz="1800" dirty="0"/>
              <a:t>Changing common properties is easy – just change the parent class.</a:t>
            </a:r>
            <a:endParaRPr lang="en-US" sz="1800"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Inheritance Syntax</a:t>
            </a:r>
            <a:endParaRPr lang="en-US" b="1" dirty="0"/>
          </a:p>
        </p:txBody>
      </p:sp>
      <p:sp>
        <p:nvSpPr>
          <p:cNvPr id="3" name="Text Placeholder 2"/>
          <p:cNvSpPr>
            <a:spLocks noGrp="1"/>
          </p:cNvSpPr>
          <p:nvPr>
            <p:ph type="body" idx="1"/>
          </p:nvPr>
        </p:nvSpPr>
        <p:spPr/>
        <p:txBody>
          <a:bodyPr>
            <a:normAutofit/>
          </a:bodyPr>
          <a:lstStyle/>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r>
              <a:rPr lang="en-US" b="1" dirty="0" err="1">
                <a:latin typeface="Courier New" panose="02070309020205020404"/>
                <a:ea typeface="Courier New" panose="02070309020205020404"/>
                <a:cs typeface="Courier New" panose="02070309020205020404"/>
                <a:sym typeface="Courier New" panose="02070309020205020404"/>
              </a:rPr>
              <a:t>ChildClass</a:t>
            </a:r>
            <a:r>
              <a:rPr lang="en-US" dirty="0"/>
              <a:t> now contains all instance variables and methods defined above, as well as those defined inside </a:t>
            </a:r>
            <a:r>
              <a:rPr lang="en-US" b="1" dirty="0" err="1">
                <a:latin typeface="Courier New" panose="02070309020205020404"/>
                <a:ea typeface="Courier New" panose="02070309020205020404"/>
                <a:cs typeface="Courier New" panose="02070309020205020404"/>
                <a:sym typeface="Courier New" panose="02070309020205020404"/>
              </a:rPr>
              <a:t>ParentClass</a:t>
            </a:r>
            <a:endParaRPr lang="en-US" b="1" dirty="0">
              <a:latin typeface="Courier New" panose="02070309020205020404"/>
              <a:ea typeface="Courier New" panose="02070309020205020404"/>
              <a:cs typeface="Courier New" panose="02070309020205020404"/>
              <a:sym typeface="Courier New" panose="02070309020205020404"/>
            </a:endParaRPr>
          </a:p>
          <a:p>
            <a:endParaRPr lang="en-US" dirty="0"/>
          </a:p>
        </p:txBody>
      </p:sp>
      <p:sp>
        <p:nvSpPr>
          <p:cNvPr id="5" name="Content Placeholder 2"/>
          <p:cNvSpPr txBox="1"/>
          <p:nvPr/>
        </p:nvSpPr>
        <p:spPr>
          <a:xfrm>
            <a:off x="525982" y="1152475"/>
            <a:ext cx="7772400" cy="1602870"/>
          </a:xfrm>
          <a:prstGeom prst="rect">
            <a:avLst/>
          </a:prstGeom>
          <a:noFill/>
          <a:ln>
            <a:noFill/>
          </a:ln>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133985" indent="0">
              <a:buSzTx/>
              <a:buFont typeface="Arial" panose="020B0604020202020204"/>
              <a:buNone/>
              <a:tabLst>
                <a:tab pos="200660" algn="l"/>
                <a:tab pos="501650" algn="l"/>
              </a:tabLst>
              <a:defRPr sz="2600" b="1">
                <a:latin typeface="Courier New" panose="02070309020205020404"/>
                <a:ea typeface="Courier New" panose="02070309020205020404"/>
                <a:cs typeface="Courier New" panose="02070309020205020404"/>
                <a:sym typeface="Courier New" panose="02070309020205020404"/>
              </a:defRPr>
            </a:pPr>
            <a:r>
              <a:rPr lang="en-US" sz="1685" b="1" dirty="0">
                <a:latin typeface="Courier New" panose="02070309020205020404"/>
                <a:ea typeface="Courier New" panose="02070309020205020404"/>
                <a:cs typeface="Courier New" panose="02070309020205020404"/>
                <a:sym typeface="Courier New" panose="02070309020205020404"/>
              </a:rPr>
              <a:t>public class </a:t>
            </a:r>
            <a:r>
              <a:rPr lang="en-US" sz="1685" b="1" dirty="0" err="1">
                <a:latin typeface="Courier New" panose="02070309020205020404"/>
                <a:ea typeface="Courier New" panose="02070309020205020404"/>
                <a:cs typeface="Courier New" panose="02070309020205020404"/>
                <a:sym typeface="Courier New" panose="02070309020205020404"/>
              </a:rPr>
              <a:t>ChildClass</a:t>
            </a:r>
            <a:r>
              <a:rPr lang="en-US" sz="1685" b="1" dirty="0">
                <a:latin typeface="Courier New" panose="02070309020205020404"/>
                <a:ea typeface="Courier New" panose="02070309020205020404"/>
                <a:cs typeface="Courier New" panose="02070309020205020404"/>
                <a:sym typeface="Courier New" panose="02070309020205020404"/>
              </a:rPr>
              <a:t> </a:t>
            </a:r>
            <a:r>
              <a:rPr lang="en-US" sz="1685" b="1" dirty="0">
                <a:solidFill>
                  <a:schemeClr val="tx1"/>
                </a:solidFill>
                <a:latin typeface="Courier New" panose="02070309020205020404"/>
                <a:ea typeface="Courier New" panose="02070309020205020404"/>
                <a:cs typeface="Courier New" panose="02070309020205020404"/>
                <a:sym typeface="Courier New" panose="02070309020205020404"/>
              </a:rPr>
              <a:t>extends</a:t>
            </a:r>
            <a:r>
              <a:rPr lang="en-US" sz="1685" b="1" dirty="0">
                <a:latin typeface="Courier New" panose="02070309020205020404"/>
                <a:ea typeface="Courier New" panose="02070309020205020404"/>
                <a:cs typeface="Courier New" panose="02070309020205020404"/>
                <a:sym typeface="Courier New" panose="02070309020205020404"/>
              </a:rPr>
              <a:t> </a:t>
            </a:r>
            <a:r>
              <a:rPr lang="en-US" sz="1685" b="1" dirty="0" err="1">
                <a:latin typeface="Courier New" panose="02070309020205020404"/>
                <a:ea typeface="Courier New" panose="02070309020205020404"/>
                <a:cs typeface="Courier New" panose="02070309020205020404"/>
                <a:sym typeface="Courier New" panose="02070309020205020404"/>
              </a:rPr>
              <a:t>ParentClass</a:t>
            </a:r>
            <a:endParaRPr lang="en-US" sz="1685" b="1" dirty="0">
              <a:latin typeface="Courier New" panose="02070309020205020404"/>
              <a:ea typeface="Courier New" panose="02070309020205020404"/>
              <a:cs typeface="Courier New" panose="02070309020205020404"/>
              <a:sym typeface="Courier New" panose="02070309020205020404"/>
            </a:endParaRPr>
          </a:p>
          <a:p>
            <a:pPr marL="133985" indent="0">
              <a:buSzTx/>
              <a:buFont typeface="Arial" panose="020B0604020202020204"/>
              <a:buNone/>
              <a:tabLst>
                <a:tab pos="200660" algn="l"/>
                <a:tab pos="501650" algn="l"/>
              </a:tabLst>
              <a:defRPr sz="2600" b="1">
                <a:latin typeface="Courier New" panose="02070309020205020404"/>
                <a:ea typeface="Courier New" panose="02070309020205020404"/>
                <a:cs typeface="Courier New" panose="02070309020205020404"/>
                <a:sym typeface="Courier New" panose="02070309020205020404"/>
              </a:defRPr>
            </a:pPr>
            <a:r>
              <a:rPr lang="en-US" sz="1685" b="1" dirty="0">
                <a:latin typeface="Courier New" panose="02070309020205020404"/>
                <a:ea typeface="Courier New" panose="02070309020205020404"/>
                <a:cs typeface="Courier New" panose="02070309020205020404"/>
                <a:sym typeface="Courier New" panose="02070309020205020404"/>
              </a:rPr>
              <a:t>{</a:t>
            </a:r>
            <a:endParaRPr lang="en-US" sz="1685" b="1" dirty="0">
              <a:latin typeface="Courier New" panose="02070309020205020404"/>
              <a:ea typeface="Courier New" panose="02070309020205020404"/>
              <a:cs typeface="Courier New" panose="02070309020205020404"/>
              <a:sym typeface="Courier New" panose="02070309020205020404"/>
            </a:endParaRPr>
          </a:p>
          <a:p>
            <a:pPr marL="133985" indent="0">
              <a:buSzTx/>
              <a:buFont typeface="Arial" panose="020B0604020202020204"/>
              <a:buNone/>
              <a:tabLst>
                <a:tab pos="200660" algn="l"/>
                <a:tab pos="501650" algn="l"/>
              </a:tabLst>
              <a:defRPr sz="2600" b="1">
                <a:latin typeface="Courier New" panose="02070309020205020404"/>
                <a:ea typeface="Courier New" panose="02070309020205020404"/>
                <a:cs typeface="Courier New" panose="02070309020205020404"/>
                <a:sym typeface="Courier New" panose="02070309020205020404"/>
              </a:defRPr>
            </a:pPr>
            <a:r>
              <a:rPr lang="en-US" sz="1685" b="1" dirty="0">
                <a:latin typeface="Courier New" panose="02070309020205020404"/>
                <a:ea typeface="Courier New" panose="02070309020205020404"/>
                <a:cs typeface="Courier New" panose="02070309020205020404"/>
                <a:sym typeface="Courier New" panose="02070309020205020404"/>
              </a:rPr>
              <a:t>	// instance variables for Child only</a:t>
            </a:r>
            <a:endParaRPr lang="en-US" sz="1685" b="1" dirty="0">
              <a:latin typeface="Courier New" panose="02070309020205020404"/>
              <a:ea typeface="Courier New" panose="02070309020205020404"/>
              <a:cs typeface="Courier New" panose="02070309020205020404"/>
              <a:sym typeface="Courier New" panose="02070309020205020404"/>
            </a:endParaRPr>
          </a:p>
          <a:p>
            <a:pPr marL="133985" indent="0">
              <a:buSzTx/>
              <a:buFont typeface="Arial" panose="020B0604020202020204"/>
              <a:buNone/>
              <a:tabLst>
                <a:tab pos="200660" algn="l"/>
                <a:tab pos="501650" algn="l"/>
              </a:tabLst>
              <a:defRPr sz="2600" b="1">
                <a:latin typeface="Courier New" panose="02070309020205020404"/>
                <a:ea typeface="Courier New" panose="02070309020205020404"/>
                <a:cs typeface="Courier New" panose="02070309020205020404"/>
                <a:sym typeface="Courier New" panose="02070309020205020404"/>
              </a:defRPr>
            </a:pPr>
            <a:r>
              <a:rPr lang="en-US" sz="1685" b="1" dirty="0">
                <a:latin typeface="Courier New" panose="02070309020205020404"/>
                <a:ea typeface="Courier New" panose="02070309020205020404"/>
                <a:cs typeface="Courier New" panose="02070309020205020404"/>
                <a:sym typeface="Courier New" panose="02070309020205020404"/>
              </a:rPr>
              <a:t>	// methods for Child only</a:t>
            </a:r>
            <a:endParaRPr lang="en-US" sz="1685" b="1" dirty="0">
              <a:latin typeface="Courier New" panose="02070309020205020404"/>
              <a:ea typeface="Courier New" panose="02070309020205020404"/>
              <a:cs typeface="Courier New" panose="02070309020205020404"/>
              <a:sym typeface="Courier New" panose="02070309020205020404"/>
            </a:endParaRPr>
          </a:p>
          <a:p>
            <a:pPr marL="133985" indent="0">
              <a:buSzTx/>
              <a:buFont typeface="Arial" panose="020B0604020202020204"/>
              <a:buNone/>
              <a:tabLst>
                <a:tab pos="200660" algn="l"/>
                <a:tab pos="501650" algn="l"/>
              </a:tabLst>
              <a:defRPr sz="2600" b="1">
                <a:latin typeface="Courier New" panose="02070309020205020404"/>
                <a:ea typeface="Courier New" panose="02070309020205020404"/>
                <a:cs typeface="Courier New" panose="02070309020205020404"/>
                <a:sym typeface="Courier New" panose="02070309020205020404"/>
              </a:defRPr>
            </a:pPr>
            <a:r>
              <a:rPr lang="en-US" sz="1685" b="1" dirty="0">
                <a:latin typeface="Courier New" panose="02070309020205020404"/>
                <a:ea typeface="Courier New" panose="02070309020205020404"/>
                <a:cs typeface="Courier New" panose="02070309020205020404"/>
                <a:sym typeface="Courier New" panose="02070309020205020404"/>
              </a:rPr>
              <a:t>}</a:t>
            </a:r>
            <a:endParaRPr lang="en-US" sz="1685" b="1" dirty="0">
              <a:latin typeface="Courier New" panose="02070309020205020404"/>
              <a:ea typeface="Courier New" panose="02070309020205020404"/>
              <a:cs typeface="Courier New" panose="02070309020205020404"/>
              <a:sym typeface="Courier New" panose="02070309020205020404"/>
            </a:endParaRPr>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Sample Inheritance Code:</a:t>
            </a:r>
            <a:endParaRPr lang="en-US" b="1" dirty="0"/>
          </a:p>
        </p:txBody>
      </p:sp>
      <p:sp>
        <p:nvSpPr>
          <p:cNvPr id="3" name="Text Placeholder 2"/>
          <p:cNvSpPr>
            <a:spLocks noGrp="1"/>
          </p:cNvSpPr>
          <p:nvPr>
            <p:ph type="body" idx="1"/>
          </p:nvPr>
        </p:nvSpPr>
        <p:spPr>
          <a:xfrm>
            <a:off x="4871404" y="1427603"/>
            <a:ext cx="3960895" cy="3416400"/>
          </a:xfrm>
        </p:spPr>
        <p:txBody>
          <a:bodyPr>
            <a:normAutofit fontScale="92500" lnSpcReduction="20000"/>
          </a:bodyPr>
          <a:lstStyle/>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endParaRPr lang="en-US" b="1" dirty="0">
              <a:latin typeface="Courier New" panose="02070309020205020404"/>
              <a:ea typeface="Courier New" panose="02070309020205020404"/>
              <a:cs typeface="Courier New" panose="02070309020205020404"/>
              <a:sym typeface="Courier New" panose="02070309020205020404"/>
            </a:endParaRPr>
          </a:p>
          <a:p>
            <a:pPr defTabSz="213995" hangingPunct="0">
              <a:buClrTx/>
            </a:pPr>
            <a:r>
              <a:rPr lang="en-US" dirty="0">
                <a:solidFill>
                  <a:srgbClr val="6C6963"/>
                </a:solidFill>
              </a:rPr>
              <a:t>The </a:t>
            </a:r>
            <a:r>
              <a:rPr lang="en-US" dirty="0">
                <a:solidFill>
                  <a:srgbClr val="6C6963"/>
                </a:solidFill>
                <a:latin typeface="Courier New" panose="02070309020205020404"/>
                <a:ea typeface="Courier New" panose="02070309020205020404"/>
                <a:cs typeface="Courier New" panose="02070309020205020404"/>
                <a:sym typeface="Courier New" panose="02070309020205020404"/>
              </a:rPr>
              <a:t>Persian</a:t>
            </a:r>
            <a:r>
              <a:rPr lang="en-US" dirty="0">
                <a:solidFill>
                  <a:srgbClr val="6C6963"/>
                </a:solidFill>
              </a:rPr>
              <a:t> class </a:t>
            </a:r>
            <a:r>
              <a:rPr lang="en-US" i="1" dirty="0">
                <a:solidFill>
                  <a:srgbClr val="6C6963"/>
                </a:solidFill>
              </a:rPr>
              <a:t>inherits</a:t>
            </a:r>
            <a:r>
              <a:rPr lang="en-US" dirty="0">
                <a:solidFill>
                  <a:srgbClr val="6C6963"/>
                </a:solidFill>
              </a:rPr>
              <a:t> </a:t>
            </a:r>
            <a:r>
              <a:rPr lang="en-US" dirty="0" err="1">
                <a:solidFill>
                  <a:srgbClr val="6C6963"/>
                </a:solidFill>
                <a:latin typeface="Courier New" panose="02070309020205020404"/>
                <a:ea typeface="Courier New" panose="02070309020205020404"/>
                <a:cs typeface="Courier New" panose="02070309020205020404"/>
                <a:sym typeface="Courier New" panose="02070309020205020404"/>
              </a:rPr>
              <a:t>hasClaws</a:t>
            </a:r>
            <a:r>
              <a:rPr lang="en-US" dirty="0">
                <a:solidFill>
                  <a:srgbClr val="6C6963"/>
                </a:solidFill>
              </a:rPr>
              <a:t> from the </a:t>
            </a:r>
            <a:r>
              <a:rPr lang="en-US" dirty="0">
                <a:solidFill>
                  <a:srgbClr val="6C6963"/>
                </a:solidFill>
                <a:latin typeface="Courier New" panose="02070309020205020404"/>
                <a:ea typeface="Courier New" panose="02070309020205020404"/>
                <a:cs typeface="Courier New" panose="02070309020205020404"/>
                <a:sym typeface="Courier New" panose="02070309020205020404"/>
              </a:rPr>
              <a:t>Cat</a:t>
            </a:r>
            <a:r>
              <a:rPr lang="en-US" dirty="0">
                <a:solidFill>
                  <a:srgbClr val="6C6963"/>
                </a:solidFill>
              </a:rPr>
              <a:t> parent class. It </a:t>
            </a:r>
            <a:r>
              <a:rPr lang="en-US" b="1" i="1" dirty="0">
                <a:solidFill>
                  <a:schemeClr val="tx1"/>
                </a:solidFill>
              </a:rPr>
              <a:t>overrides</a:t>
            </a:r>
            <a:r>
              <a:rPr lang="en-US" dirty="0">
                <a:solidFill>
                  <a:srgbClr val="6C6963"/>
                </a:solidFill>
              </a:rPr>
              <a:t> the </a:t>
            </a:r>
            <a:r>
              <a:rPr lang="en-US" dirty="0" err="1">
                <a:solidFill>
                  <a:srgbClr val="6C6963"/>
                </a:solidFill>
                <a:latin typeface="Courier New" panose="02070309020205020404"/>
                <a:ea typeface="Courier New" panose="02070309020205020404"/>
                <a:cs typeface="Courier New" panose="02070309020205020404"/>
                <a:sym typeface="Courier New" panose="02070309020205020404"/>
              </a:rPr>
              <a:t>makeSound</a:t>
            </a:r>
            <a:r>
              <a:rPr lang="en-US" dirty="0">
                <a:solidFill>
                  <a:srgbClr val="6C6963"/>
                </a:solidFill>
                <a:latin typeface="Courier New" panose="02070309020205020404"/>
                <a:ea typeface="Courier New" panose="02070309020205020404"/>
                <a:cs typeface="Courier New" panose="02070309020205020404"/>
                <a:sym typeface="Courier New" panose="02070309020205020404"/>
              </a:rPr>
              <a:t>()</a:t>
            </a:r>
            <a:r>
              <a:rPr lang="en-US" dirty="0">
                <a:solidFill>
                  <a:srgbClr val="6C6963"/>
                </a:solidFill>
              </a:rPr>
              <a:t> method, and </a:t>
            </a:r>
            <a:r>
              <a:rPr lang="en-US" b="1" i="1" dirty="0">
                <a:solidFill>
                  <a:schemeClr val="tx1"/>
                </a:solidFill>
              </a:rPr>
              <a:t>hides</a:t>
            </a:r>
            <a:r>
              <a:rPr lang="en-US" dirty="0">
                <a:solidFill>
                  <a:srgbClr val="6C6963"/>
                </a:solidFill>
              </a:rPr>
              <a:t> the </a:t>
            </a:r>
            <a:r>
              <a:rPr lang="en-US" dirty="0" err="1">
                <a:solidFill>
                  <a:srgbClr val="6C6963"/>
                </a:solidFill>
                <a:latin typeface="Courier New" panose="02070309020205020404"/>
                <a:ea typeface="Courier New" panose="02070309020205020404"/>
                <a:cs typeface="Courier New" panose="02070309020205020404"/>
                <a:sym typeface="Courier New" panose="02070309020205020404"/>
              </a:rPr>
              <a:t>furColor</a:t>
            </a:r>
            <a:r>
              <a:rPr lang="en-US" dirty="0">
                <a:solidFill>
                  <a:srgbClr val="6C6963"/>
                </a:solidFill>
              </a:rPr>
              <a:t> field from </a:t>
            </a:r>
            <a:r>
              <a:rPr lang="en-US" dirty="0">
                <a:solidFill>
                  <a:srgbClr val="6C6963"/>
                </a:solidFill>
                <a:latin typeface="Courier New" panose="02070309020205020404"/>
                <a:ea typeface="Courier New" panose="02070309020205020404"/>
                <a:cs typeface="Courier New" panose="02070309020205020404"/>
                <a:sym typeface="Courier New" panose="02070309020205020404"/>
              </a:rPr>
              <a:t>Cat</a:t>
            </a:r>
            <a:r>
              <a:rPr lang="en-US" dirty="0">
                <a:solidFill>
                  <a:srgbClr val="6C6963"/>
                </a:solidFill>
              </a:rPr>
              <a:t>.</a:t>
            </a:r>
            <a:endParaRPr lang="en-US" dirty="0">
              <a:solidFill>
                <a:srgbClr val="6C6963"/>
              </a:solidFill>
            </a:endParaRPr>
          </a:p>
          <a:p>
            <a:endParaRPr lang="en-US" dirty="0"/>
          </a:p>
        </p:txBody>
      </p:sp>
      <p:sp>
        <p:nvSpPr>
          <p:cNvPr id="6" name="Rectangle 5"/>
          <p:cNvSpPr/>
          <p:nvPr/>
        </p:nvSpPr>
        <p:spPr>
          <a:xfrm>
            <a:off x="4818457" y="757237"/>
            <a:ext cx="3621536" cy="2010240"/>
          </a:xfrm>
          <a:prstGeom prst="rect">
            <a:avLst/>
          </a:prstGeom>
          <a:solidFill>
            <a:schemeClr val="accent1">
              <a:alpha val="0"/>
            </a:schemeClr>
          </a:solid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41300" hangingPunct="0">
              <a:buClrTx/>
            </a:pPr>
            <a:endParaRPr lang="en-US" sz="635">
              <a:solidFill>
                <a:prstClr val="white"/>
              </a:solidFill>
              <a:sym typeface="Helvetica"/>
            </a:endParaRPr>
          </a:p>
        </p:txBody>
      </p:sp>
      <p:sp>
        <p:nvSpPr>
          <p:cNvPr id="7" name="Rectangle 6"/>
          <p:cNvSpPr/>
          <p:nvPr/>
        </p:nvSpPr>
        <p:spPr>
          <a:xfrm>
            <a:off x="801112" y="1174351"/>
            <a:ext cx="3866258" cy="1342271"/>
          </a:xfrm>
          <a:prstGeom prst="rect">
            <a:avLst/>
          </a:prstGeom>
          <a:solidFill>
            <a:schemeClr val="accent1">
              <a:alpha val="0"/>
            </a:schemeClr>
          </a:solid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41300" hangingPunct="0">
              <a:buClrTx/>
            </a:pPr>
            <a:endParaRPr lang="en-US" sz="635">
              <a:solidFill>
                <a:prstClr val="white"/>
              </a:solidFill>
              <a:sym typeface="Helvetica"/>
            </a:endParaRPr>
          </a:p>
        </p:txBody>
      </p:sp>
      <p:sp>
        <p:nvSpPr>
          <p:cNvPr id="8" name="Content Placeholder 2"/>
          <p:cNvSpPr txBox="1"/>
          <p:nvPr/>
        </p:nvSpPr>
        <p:spPr>
          <a:xfrm>
            <a:off x="906308" y="1174352"/>
            <a:ext cx="3761061" cy="3584914"/>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panose="020B0604020202020204"/>
              <a:buChar char="●"/>
              <a:defRPr sz="1800" b="0" i="0" u="none" strike="noStrike" cap="none">
                <a:solidFill>
                  <a:schemeClr val="dk2"/>
                </a:solidFill>
                <a:latin typeface="Arial" panose="020B0604020202020204"/>
                <a:ea typeface="Arial" panose="020B0604020202020204"/>
                <a:cs typeface="Arial" panose="020B0604020202020204"/>
                <a:sym typeface="Arial" panose="020B0604020202020204"/>
              </a:defRPr>
            </a:lvl1pPr>
            <a:lvl2pPr marL="914400" marR="0" lvl="1"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2pPr>
            <a:lvl3pPr marL="1371600" marR="0" lvl="2"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115000"/>
              </a:lnSpc>
              <a:spcBef>
                <a:spcPts val="0"/>
              </a:spcBef>
              <a:spcAft>
                <a:spcPts val="0"/>
              </a:spcAft>
              <a:buClr>
                <a:schemeClr val="dk2"/>
              </a:buClr>
              <a:buSzPts val="1400"/>
              <a:buFont typeface="Arial" panose="020B0604020202020204"/>
              <a:buChar char="■"/>
              <a:defRPr sz="1400" b="0" i="0" u="none" strike="noStrike" cap="none">
                <a:solidFill>
                  <a:schemeClr val="dk2"/>
                </a:solidFill>
                <a:latin typeface="Arial" panose="020B0604020202020204"/>
                <a:ea typeface="Arial" panose="020B0604020202020204"/>
                <a:cs typeface="Arial" panose="020B0604020202020204"/>
                <a:sym typeface="Arial" panose="020B0604020202020204"/>
              </a:defRPr>
            </a:lvl9pPr>
          </a:lstStyle>
          <a:p>
            <a:pPr marL="0" indent="0">
              <a:buFont typeface="Arial" panose="020B0604020202020204"/>
              <a:buNone/>
            </a:pPr>
            <a:r>
              <a:rPr lang="en-US" sz="1265" b="1" dirty="0">
                <a:solidFill>
                  <a:srgbClr val="7F0055"/>
                </a:solidFill>
                <a:latin typeface="Consolas" panose="020B0609020204030204" pitchFamily="49" charset="0"/>
              </a:rPr>
              <a:t>public</a:t>
            </a:r>
            <a:r>
              <a:rPr lang="en-US" sz="1265" b="1" dirty="0">
                <a:solidFill>
                  <a:srgbClr val="000000"/>
                </a:solidFill>
                <a:latin typeface="Consolas" panose="020B0609020204030204" pitchFamily="49" charset="0"/>
              </a:rPr>
              <a:t> </a:t>
            </a:r>
            <a:r>
              <a:rPr lang="en-US" sz="1265" b="1" dirty="0">
                <a:solidFill>
                  <a:srgbClr val="7F0055"/>
                </a:solidFill>
                <a:latin typeface="Consolas" panose="020B0609020204030204" pitchFamily="49" charset="0"/>
              </a:rPr>
              <a:t>class</a:t>
            </a:r>
            <a:r>
              <a:rPr lang="en-US" sz="1265" b="1" dirty="0">
                <a:solidFill>
                  <a:srgbClr val="000000"/>
                </a:solidFill>
                <a:latin typeface="Consolas" panose="020B0609020204030204" pitchFamily="49" charset="0"/>
              </a:rPr>
              <a:t> Mammal</a:t>
            </a:r>
            <a:endParaRPr lang="en-US" sz="1265" b="1" dirty="0">
              <a:solidFill>
                <a:srgbClr val="000000"/>
              </a:solidFill>
              <a:latin typeface="Consolas" panose="020B0609020204030204" pitchFamily="49" charset="0"/>
            </a:endParaRPr>
          </a:p>
          <a:p>
            <a:pPr marL="0"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205740" lvl="1" indent="0">
              <a:buFont typeface="Arial" panose="020B0604020202020204"/>
              <a:buNone/>
            </a:pPr>
            <a:r>
              <a:rPr lang="en-US" sz="1265" b="1" dirty="0" err="1">
                <a:solidFill>
                  <a:srgbClr val="7F0055"/>
                </a:solidFill>
                <a:latin typeface="Consolas" panose="020B0609020204030204" pitchFamily="49" charset="0"/>
              </a:rPr>
              <a:t>boolean</a:t>
            </a:r>
            <a:r>
              <a:rPr lang="en-US" sz="1265" b="1" dirty="0">
                <a:solidFill>
                  <a:srgbClr val="000000"/>
                </a:solidFill>
                <a:latin typeface="Consolas" panose="020B0609020204030204" pitchFamily="49" charset="0"/>
              </a:rPr>
              <a:t> </a:t>
            </a:r>
            <a:r>
              <a:rPr lang="en-US" sz="1265" b="1" dirty="0" err="1">
                <a:solidFill>
                  <a:srgbClr val="0000C0"/>
                </a:solidFill>
                <a:latin typeface="Consolas" panose="020B0609020204030204" pitchFamily="49" charset="0"/>
              </a:rPr>
              <a:t>hasFur</a:t>
            </a:r>
            <a:r>
              <a:rPr lang="en-US" sz="1265" b="1" dirty="0">
                <a:solidFill>
                  <a:srgbClr val="000000"/>
                </a:solidFill>
                <a:latin typeface="Consolas" panose="020B0609020204030204" pitchFamily="49" charset="0"/>
              </a:rPr>
              <a:t> = </a:t>
            </a:r>
            <a:r>
              <a:rPr lang="en-US" sz="1265" b="1" dirty="0">
                <a:solidFill>
                  <a:srgbClr val="7F0055"/>
                </a:solidFill>
                <a:latin typeface="Consolas" panose="020B0609020204030204" pitchFamily="49" charset="0"/>
              </a:rPr>
              <a:t>true</a:t>
            </a:r>
            <a:r>
              <a:rPr lang="en-US" sz="1265" b="1" dirty="0">
                <a:solidFill>
                  <a:srgbClr val="000000"/>
                </a:solidFill>
                <a:latin typeface="Consolas" panose="020B0609020204030204" pitchFamily="49" charset="0"/>
              </a:rPr>
              <a:t>;</a:t>
            </a:r>
            <a:endParaRPr lang="en-US" sz="1265" b="1" dirty="0">
              <a:solidFill>
                <a:srgbClr val="000000"/>
              </a:solidFill>
              <a:latin typeface="Consolas" panose="020B0609020204030204" pitchFamily="49" charset="0"/>
            </a:endParaRPr>
          </a:p>
          <a:p>
            <a:pPr marL="205740" lvl="1" indent="0">
              <a:buFont typeface="Arial" panose="020B0604020202020204"/>
              <a:buNone/>
            </a:pPr>
            <a:r>
              <a:rPr lang="en-US" sz="1265" b="1" dirty="0">
                <a:solidFill>
                  <a:srgbClr val="7F0055"/>
                </a:solidFill>
                <a:latin typeface="Consolas" panose="020B0609020204030204" pitchFamily="49" charset="0"/>
              </a:rPr>
              <a:t>public</a:t>
            </a:r>
            <a:r>
              <a:rPr lang="en-US" sz="1265" b="1" dirty="0">
                <a:solidFill>
                  <a:srgbClr val="000000"/>
                </a:solidFill>
                <a:latin typeface="Consolas" panose="020B0609020204030204" pitchFamily="49" charset="0"/>
              </a:rPr>
              <a:t> </a:t>
            </a:r>
            <a:r>
              <a:rPr lang="en-US" sz="1265" b="1" dirty="0">
                <a:solidFill>
                  <a:srgbClr val="7F0055"/>
                </a:solidFill>
                <a:latin typeface="Consolas" panose="020B0609020204030204" pitchFamily="49" charset="0"/>
              </a:rPr>
              <a:t>void</a:t>
            </a:r>
            <a:r>
              <a:rPr lang="en-US" sz="1265" b="1" dirty="0">
                <a:solidFill>
                  <a:srgbClr val="000000"/>
                </a:solidFill>
                <a:latin typeface="Consolas" panose="020B0609020204030204" pitchFamily="49" charset="0"/>
              </a:rPr>
              <a:t> </a:t>
            </a:r>
            <a:r>
              <a:rPr lang="en-US" sz="1265" b="1" dirty="0" err="1">
                <a:solidFill>
                  <a:srgbClr val="000000"/>
                </a:solidFill>
                <a:latin typeface="Consolas" panose="020B0609020204030204" pitchFamily="49" charset="0"/>
              </a:rPr>
              <a:t>makeSound</a:t>
            </a:r>
            <a:r>
              <a:rPr lang="en-US" sz="1265" b="1" dirty="0">
                <a:solidFill>
                  <a:srgbClr val="000000"/>
                </a:solidFill>
                <a:latin typeface="Consolas" panose="020B0609020204030204" pitchFamily="49" charset="0"/>
              </a:rPr>
              <a:t>(){}</a:t>
            </a:r>
            <a:endParaRPr lang="en-US" sz="1265" b="1" dirty="0">
              <a:solidFill>
                <a:srgbClr val="000000"/>
              </a:solidFill>
              <a:latin typeface="Consolas" panose="020B0609020204030204" pitchFamily="49" charset="0"/>
            </a:endParaRPr>
          </a:p>
          <a:p>
            <a:pPr marL="0"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0" indent="0">
              <a:buFont typeface="Arial" panose="020B0604020202020204"/>
              <a:buNone/>
            </a:pPr>
            <a:endParaRPr lang="en-US" sz="1265" dirty="0">
              <a:latin typeface="Consolas" panose="020B0609020204030204" pitchFamily="49" charset="0"/>
            </a:endParaRPr>
          </a:p>
          <a:p>
            <a:pPr marL="0" indent="0">
              <a:buFont typeface="Arial" panose="020B0604020202020204"/>
              <a:buNone/>
            </a:pPr>
            <a:r>
              <a:rPr lang="en-US" sz="1265" b="1" dirty="0">
                <a:solidFill>
                  <a:srgbClr val="7F0055"/>
                </a:solidFill>
                <a:latin typeface="Consolas" panose="020B0609020204030204" pitchFamily="49" charset="0"/>
              </a:rPr>
              <a:t>public</a:t>
            </a:r>
            <a:r>
              <a:rPr lang="en-US" sz="1265" b="1" dirty="0">
                <a:solidFill>
                  <a:srgbClr val="000000"/>
                </a:solidFill>
                <a:latin typeface="Consolas" panose="020B0609020204030204" pitchFamily="49" charset="0"/>
              </a:rPr>
              <a:t> </a:t>
            </a:r>
            <a:r>
              <a:rPr lang="en-US" sz="1265" b="1" dirty="0">
                <a:solidFill>
                  <a:srgbClr val="7F0055"/>
                </a:solidFill>
                <a:latin typeface="Consolas" panose="020B0609020204030204" pitchFamily="49" charset="0"/>
              </a:rPr>
              <a:t>class</a:t>
            </a:r>
            <a:r>
              <a:rPr lang="en-US" sz="1265" b="1" dirty="0">
                <a:solidFill>
                  <a:srgbClr val="000000"/>
                </a:solidFill>
                <a:latin typeface="Consolas" panose="020B0609020204030204" pitchFamily="49" charset="0"/>
              </a:rPr>
              <a:t> Cat </a:t>
            </a:r>
            <a:r>
              <a:rPr lang="en-US" sz="1265" b="1" dirty="0">
                <a:solidFill>
                  <a:srgbClr val="7F0055"/>
                </a:solidFill>
                <a:latin typeface="Consolas" panose="020B0609020204030204" pitchFamily="49" charset="0"/>
              </a:rPr>
              <a:t>extends</a:t>
            </a:r>
            <a:r>
              <a:rPr lang="en-US" sz="1265" b="1" dirty="0">
                <a:solidFill>
                  <a:srgbClr val="000000"/>
                </a:solidFill>
                <a:latin typeface="Consolas" panose="020B0609020204030204" pitchFamily="49" charset="0"/>
              </a:rPr>
              <a:t> Mammal</a:t>
            </a:r>
            <a:endParaRPr lang="en-US" sz="1265" b="1" dirty="0">
              <a:solidFill>
                <a:srgbClr val="000000"/>
              </a:solidFill>
              <a:latin typeface="Consolas" panose="020B0609020204030204" pitchFamily="49" charset="0"/>
            </a:endParaRPr>
          </a:p>
          <a:p>
            <a:pPr marL="0"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205740" lvl="1" indent="0">
              <a:buFont typeface="Arial" panose="020B0604020202020204"/>
              <a:buNone/>
            </a:pPr>
            <a:r>
              <a:rPr lang="en-US" sz="1265" b="1" dirty="0" err="1">
                <a:solidFill>
                  <a:srgbClr val="7F0055"/>
                </a:solidFill>
                <a:latin typeface="Consolas" panose="020B0609020204030204" pitchFamily="49" charset="0"/>
              </a:rPr>
              <a:t>boolean</a:t>
            </a:r>
            <a:r>
              <a:rPr lang="en-US" sz="1265" b="1" dirty="0">
                <a:solidFill>
                  <a:srgbClr val="000000"/>
                </a:solidFill>
                <a:latin typeface="Consolas" panose="020B0609020204030204" pitchFamily="49" charset="0"/>
              </a:rPr>
              <a:t> </a:t>
            </a:r>
            <a:r>
              <a:rPr lang="en-US" sz="1265" b="1" dirty="0" err="1">
                <a:solidFill>
                  <a:srgbClr val="0000C0"/>
                </a:solidFill>
                <a:latin typeface="Consolas" panose="020B0609020204030204" pitchFamily="49" charset="0"/>
              </a:rPr>
              <a:t>hasClaws</a:t>
            </a:r>
            <a:r>
              <a:rPr lang="en-US" sz="1265" b="1" dirty="0">
                <a:solidFill>
                  <a:srgbClr val="000000"/>
                </a:solidFill>
                <a:latin typeface="Consolas" panose="020B0609020204030204" pitchFamily="49" charset="0"/>
              </a:rPr>
              <a:t>;</a:t>
            </a:r>
            <a:endParaRPr lang="en-US" sz="1265" b="1" dirty="0">
              <a:solidFill>
                <a:srgbClr val="000000"/>
              </a:solidFill>
              <a:latin typeface="Consolas" panose="020B0609020204030204" pitchFamily="49" charset="0"/>
            </a:endParaRPr>
          </a:p>
          <a:p>
            <a:pPr marL="205740" lvl="1" indent="0">
              <a:buFont typeface="Arial" panose="020B0604020202020204"/>
              <a:buNone/>
            </a:pPr>
            <a:r>
              <a:rPr lang="en-US" sz="1265" dirty="0">
                <a:solidFill>
                  <a:srgbClr val="000000"/>
                </a:solidFill>
                <a:latin typeface="Consolas" panose="020B0609020204030204" pitchFamily="49" charset="0"/>
              </a:rPr>
              <a:t>String </a:t>
            </a:r>
            <a:r>
              <a:rPr lang="en-US" sz="1265" dirty="0" err="1">
                <a:solidFill>
                  <a:srgbClr val="0000C0"/>
                </a:solidFill>
                <a:latin typeface="Consolas" panose="020B0609020204030204" pitchFamily="49" charset="0"/>
              </a:rPr>
              <a:t>furColor</a:t>
            </a: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205740" lvl="1" indent="0">
              <a:buFont typeface="Arial" panose="020B0604020202020204"/>
              <a:buNone/>
            </a:pPr>
            <a:r>
              <a:rPr lang="en-US" sz="1265" b="1" dirty="0">
                <a:solidFill>
                  <a:srgbClr val="7F0055"/>
                </a:solidFill>
                <a:latin typeface="Consolas" panose="020B0609020204030204" pitchFamily="49" charset="0"/>
              </a:rPr>
              <a:t>public</a:t>
            </a:r>
            <a:r>
              <a:rPr lang="en-US" sz="1265" b="1" dirty="0">
                <a:solidFill>
                  <a:srgbClr val="000000"/>
                </a:solidFill>
                <a:latin typeface="Consolas" panose="020B0609020204030204" pitchFamily="49" charset="0"/>
              </a:rPr>
              <a:t> </a:t>
            </a:r>
            <a:r>
              <a:rPr lang="en-US" sz="1265" b="1" dirty="0">
                <a:solidFill>
                  <a:srgbClr val="7F0055"/>
                </a:solidFill>
                <a:latin typeface="Consolas" panose="020B0609020204030204" pitchFamily="49" charset="0"/>
              </a:rPr>
              <a:t>void</a:t>
            </a:r>
            <a:r>
              <a:rPr lang="en-US" sz="1265" b="1" dirty="0">
                <a:solidFill>
                  <a:srgbClr val="000000"/>
                </a:solidFill>
                <a:latin typeface="Consolas" panose="020B0609020204030204" pitchFamily="49" charset="0"/>
              </a:rPr>
              <a:t> </a:t>
            </a:r>
            <a:r>
              <a:rPr lang="en-US" sz="1265" b="1" dirty="0" err="1">
                <a:solidFill>
                  <a:srgbClr val="000000"/>
                </a:solidFill>
                <a:latin typeface="Consolas" panose="020B0609020204030204" pitchFamily="49" charset="0"/>
              </a:rPr>
              <a:t>makeSound</a:t>
            </a:r>
            <a:r>
              <a:rPr lang="en-US" sz="1265" b="1" dirty="0">
                <a:solidFill>
                  <a:srgbClr val="000000"/>
                </a:solidFill>
                <a:latin typeface="Consolas" panose="020B0609020204030204" pitchFamily="49" charset="0"/>
              </a:rPr>
              <a:t>()</a:t>
            </a:r>
            <a:endParaRPr lang="en-US" sz="1265" b="1" dirty="0">
              <a:solidFill>
                <a:srgbClr val="000000"/>
              </a:solidFill>
              <a:latin typeface="Consolas" panose="020B0609020204030204" pitchFamily="49" charset="0"/>
            </a:endParaRPr>
          </a:p>
          <a:p>
            <a:pPr marL="205740" lvl="1"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205740" lvl="1" indent="0">
              <a:buFont typeface="Arial" panose="020B0604020202020204"/>
              <a:buNone/>
            </a:pPr>
            <a:r>
              <a:rPr lang="en-US" sz="1265" dirty="0">
                <a:solidFill>
                  <a:srgbClr val="000000"/>
                </a:solidFill>
                <a:latin typeface="Consolas" panose="020B0609020204030204" pitchFamily="49" charset="0"/>
              </a:rPr>
              <a:t>	</a:t>
            </a:r>
            <a:r>
              <a:rPr lang="en-US" sz="1265" dirty="0" err="1">
                <a:solidFill>
                  <a:srgbClr val="000000"/>
                </a:solidFill>
                <a:latin typeface="Consolas" panose="020B0609020204030204" pitchFamily="49" charset="0"/>
              </a:rPr>
              <a:t>System.out.println</a:t>
            </a:r>
            <a:r>
              <a:rPr lang="en-US" sz="1265" dirty="0">
                <a:solidFill>
                  <a:srgbClr val="000000"/>
                </a:solidFill>
                <a:latin typeface="Consolas" panose="020B0609020204030204" pitchFamily="49" charset="0"/>
              </a:rPr>
              <a:t>(“Meow!”);</a:t>
            </a:r>
            <a:endParaRPr lang="en-US" sz="1265" dirty="0">
              <a:solidFill>
                <a:srgbClr val="000000"/>
              </a:solidFill>
              <a:latin typeface="Consolas" panose="020B0609020204030204" pitchFamily="49" charset="0"/>
            </a:endParaRPr>
          </a:p>
          <a:p>
            <a:pPr marL="205740" lvl="1"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a:p>
            <a:pPr marL="0" indent="0">
              <a:buFont typeface="Arial" panose="020B0604020202020204"/>
              <a:buNone/>
            </a:pPr>
            <a:r>
              <a:rPr lang="en-US" sz="1265" dirty="0">
                <a:solidFill>
                  <a:srgbClr val="000000"/>
                </a:solidFill>
                <a:latin typeface="Consolas" panose="020B0609020204030204" pitchFamily="49" charset="0"/>
              </a:rPr>
              <a:t>}</a:t>
            </a:r>
            <a:endParaRPr lang="en-US" sz="1265" dirty="0">
              <a:solidFill>
                <a:srgbClr val="000000"/>
              </a:solidFill>
              <a:latin typeface="Consolas" panose="020B0609020204030204" pitchFamily="49" charset="0"/>
            </a:endParaRPr>
          </a:p>
        </p:txBody>
      </p:sp>
      <p:sp>
        <p:nvSpPr>
          <p:cNvPr id="9" name="TextBox 8"/>
          <p:cNvSpPr txBox="1"/>
          <p:nvPr/>
        </p:nvSpPr>
        <p:spPr>
          <a:xfrm>
            <a:off x="4818458" y="799506"/>
            <a:ext cx="3419233" cy="1650708"/>
          </a:xfrm>
          <a:prstGeom prst="rect">
            <a:avLst/>
          </a:prstGeom>
          <a:noFill/>
        </p:spPr>
        <p:txBody>
          <a:bodyPr wrap="square" rtlCol="0">
            <a:spAutoFit/>
          </a:bodyPr>
          <a:lstStyle/>
          <a:p>
            <a:pPr defTabSz="241300" hangingPunct="0">
              <a:buClrTx/>
            </a:pPr>
            <a:r>
              <a:rPr lang="en-US" sz="1265" b="1" dirty="0">
                <a:solidFill>
                  <a:srgbClr val="7F0055"/>
                </a:solidFill>
                <a:latin typeface="Consolas" panose="020B0609020204030204" pitchFamily="49" charset="0"/>
                <a:cs typeface="Helvetica"/>
                <a:sym typeface="Helvetica"/>
              </a:rPr>
              <a:t>public</a:t>
            </a:r>
            <a:r>
              <a:rPr lang="en-US" sz="1265" b="1" dirty="0">
                <a:latin typeface="Consolas" panose="020B0609020204030204" pitchFamily="49" charset="0"/>
                <a:cs typeface="Helvetica"/>
                <a:sym typeface="Helvetica"/>
              </a:rPr>
              <a:t> </a:t>
            </a:r>
            <a:r>
              <a:rPr lang="en-US" sz="1265" b="1" dirty="0">
                <a:solidFill>
                  <a:srgbClr val="7F0055"/>
                </a:solidFill>
                <a:latin typeface="Consolas" panose="020B0609020204030204" pitchFamily="49" charset="0"/>
                <a:cs typeface="Helvetica"/>
                <a:sym typeface="Helvetica"/>
              </a:rPr>
              <a:t>class</a:t>
            </a:r>
            <a:r>
              <a:rPr lang="en-US" sz="1265" b="1" dirty="0">
                <a:latin typeface="Consolas" panose="020B0609020204030204" pitchFamily="49" charset="0"/>
                <a:cs typeface="Helvetica"/>
                <a:sym typeface="Helvetica"/>
              </a:rPr>
              <a:t> Persian </a:t>
            </a:r>
            <a:r>
              <a:rPr lang="en-US" sz="1265" b="1" dirty="0">
                <a:solidFill>
                  <a:srgbClr val="7F0055"/>
                </a:solidFill>
                <a:latin typeface="Consolas" panose="020B0609020204030204" pitchFamily="49" charset="0"/>
                <a:cs typeface="Helvetica"/>
                <a:sym typeface="Helvetica"/>
              </a:rPr>
              <a:t>extends</a:t>
            </a:r>
            <a:r>
              <a:rPr lang="en-US" sz="1265" b="1" dirty="0">
                <a:latin typeface="Consolas" panose="020B0609020204030204" pitchFamily="49" charset="0"/>
                <a:cs typeface="Helvetica"/>
                <a:sym typeface="Helvetica"/>
              </a:rPr>
              <a:t> Cat</a:t>
            </a:r>
            <a:endParaRPr lang="en-US" sz="1265" b="1" dirty="0">
              <a:latin typeface="Consolas" panose="020B0609020204030204" pitchFamily="49" charset="0"/>
              <a:cs typeface="Helvetica"/>
              <a:sym typeface="Helvetica"/>
            </a:endParaRPr>
          </a:p>
          <a:p>
            <a:pPr defTabSz="241300" hangingPunct="0">
              <a:buClrTx/>
            </a:pPr>
            <a:r>
              <a:rPr lang="en-US" sz="1265" dirty="0">
                <a:latin typeface="Consolas" panose="020B0609020204030204" pitchFamily="49" charset="0"/>
                <a:cs typeface="Helvetica"/>
                <a:sym typeface="Helvetica"/>
              </a:rPr>
              <a:t>{</a:t>
            </a:r>
            <a:endParaRPr lang="en-US" sz="1265" dirty="0">
              <a:latin typeface="Consolas" panose="020B0609020204030204" pitchFamily="49" charset="0"/>
              <a:cs typeface="Helvetica"/>
              <a:sym typeface="Helvetica"/>
            </a:endParaRPr>
          </a:p>
          <a:p>
            <a:pPr lvl="1" indent="120650" defTabSz="241300" hangingPunct="0">
              <a:buClrTx/>
            </a:pPr>
            <a:r>
              <a:rPr lang="en-US" sz="1265" dirty="0">
                <a:latin typeface="Consolas" panose="020B0609020204030204" pitchFamily="49" charset="0"/>
                <a:cs typeface="Helvetica"/>
                <a:sym typeface="Helvetica"/>
              </a:rPr>
              <a:t>String </a:t>
            </a:r>
            <a:r>
              <a:rPr lang="en-US" sz="1265" dirty="0" err="1">
                <a:latin typeface="Consolas" panose="020B0609020204030204" pitchFamily="49" charset="0"/>
                <a:cs typeface="Helvetica"/>
                <a:sym typeface="Helvetica"/>
              </a:rPr>
              <a:t>furColor</a:t>
            </a:r>
            <a:r>
              <a:rPr lang="en-US" sz="1265" dirty="0">
                <a:latin typeface="Consolas" panose="020B0609020204030204" pitchFamily="49" charset="0"/>
                <a:cs typeface="Helvetica"/>
                <a:sym typeface="Helvetica"/>
              </a:rPr>
              <a:t> = “White”;</a:t>
            </a:r>
            <a:endParaRPr lang="en-US" sz="1265" dirty="0">
              <a:latin typeface="Consolas" panose="020B0609020204030204" pitchFamily="49" charset="0"/>
              <a:cs typeface="Helvetica"/>
              <a:sym typeface="Helvetica"/>
            </a:endParaRPr>
          </a:p>
          <a:p>
            <a:pPr lvl="1" indent="120650" defTabSz="241300" hangingPunct="0">
              <a:buClrTx/>
            </a:pPr>
            <a:r>
              <a:rPr lang="en-US" sz="1265" b="1" dirty="0">
                <a:solidFill>
                  <a:srgbClr val="7F0055"/>
                </a:solidFill>
                <a:latin typeface="Consolas" panose="020B0609020204030204" pitchFamily="49" charset="0"/>
                <a:cs typeface="Helvetica"/>
                <a:sym typeface="Helvetica"/>
              </a:rPr>
              <a:t>public</a:t>
            </a:r>
            <a:r>
              <a:rPr lang="en-US" sz="1265" b="1" dirty="0">
                <a:latin typeface="Consolas" panose="020B0609020204030204" pitchFamily="49" charset="0"/>
                <a:cs typeface="Helvetica"/>
                <a:sym typeface="Helvetica"/>
              </a:rPr>
              <a:t> </a:t>
            </a:r>
            <a:r>
              <a:rPr lang="en-US" sz="1265" b="1" dirty="0">
                <a:solidFill>
                  <a:srgbClr val="7F0055"/>
                </a:solidFill>
                <a:latin typeface="Consolas" panose="020B0609020204030204" pitchFamily="49" charset="0"/>
                <a:cs typeface="Helvetica"/>
                <a:sym typeface="Helvetica"/>
              </a:rPr>
              <a:t>void</a:t>
            </a:r>
            <a:r>
              <a:rPr lang="en-US" sz="1265" b="1" dirty="0">
                <a:latin typeface="Consolas" panose="020B0609020204030204" pitchFamily="49" charset="0"/>
                <a:cs typeface="Helvetica"/>
                <a:sym typeface="Helvetica"/>
              </a:rPr>
              <a:t> </a:t>
            </a:r>
            <a:r>
              <a:rPr lang="en-US" sz="1265" b="1" dirty="0" err="1">
                <a:latin typeface="Consolas" panose="020B0609020204030204" pitchFamily="49" charset="0"/>
                <a:cs typeface="Helvetica"/>
                <a:sym typeface="Helvetica"/>
              </a:rPr>
              <a:t>makeSound</a:t>
            </a:r>
            <a:r>
              <a:rPr lang="en-US" sz="1265" b="1" dirty="0">
                <a:latin typeface="Consolas" panose="020B0609020204030204" pitchFamily="49" charset="0"/>
                <a:cs typeface="Helvetica"/>
                <a:sym typeface="Helvetica"/>
              </a:rPr>
              <a:t>()</a:t>
            </a:r>
            <a:endParaRPr lang="en-US" sz="1265" b="1" dirty="0">
              <a:latin typeface="Consolas" panose="020B0609020204030204" pitchFamily="49" charset="0"/>
              <a:cs typeface="Helvetica"/>
              <a:sym typeface="Helvetica"/>
            </a:endParaRPr>
          </a:p>
          <a:p>
            <a:pPr lvl="1" indent="120650" defTabSz="241300" hangingPunct="0">
              <a:buClrTx/>
            </a:pPr>
            <a:r>
              <a:rPr lang="en-US" sz="1265" dirty="0">
                <a:latin typeface="Consolas" panose="020B0609020204030204" pitchFamily="49" charset="0"/>
                <a:cs typeface="Helvetica"/>
                <a:sym typeface="Helvetica"/>
              </a:rPr>
              <a:t>{</a:t>
            </a:r>
            <a:endParaRPr lang="en-US" sz="1265" dirty="0">
              <a:latin typeface="Consolas" panose="020B0609020204030204" pitchFamily="49" charset="0"/>
              <a:cs typeface="Helvetica"/>
              <a:sym typeface="Helvetica"/>
            </a:endParaRPr>
          </a:p>
          <a:p>
            <a:pPr lvl="2" indent="241300" defTabSz="241300" hangingPunct="0">
              <a:buClrTx/>
            </a:pPr>
            <a:r>
              <a:rPr lang="en-US" sz="1265" dirty="0" err="1">
                <a:latin typeface="Consolas" panose="020B0609020204030204" pitchFamily="49" charset="0"/>
                <a:cs typeface="Helvetica"/>
                <a:sym typeface="Helvetica"/>
              </a:rPr>
              <a:t>System.out.println</a:t>
            </a:r>
            <a:r>
              <a:rPr lang="en-US" sz="1265" dirty="0">
                <a:latin typeface="Consolas" panose="020B0609020204030204" pitchFamily="49" charset="0"/>
                <a:cs typeface="Helvetica"/>
                <a:sym typeface="Helvetica"/>
              </a:rPr>
              <a:t>(“</a:t>
            </a:r>
            <a:r>
              <a:rPr lang="en-US" sz="1265" dirty="0" err="1">
                <a:latin typeface="Consolas" panose="020B0609020204030204" pitchFamily="49" charset="0"/>
                <a:cs typeface="Helvetica"/>
                <a:sym typeface="Helvetica"/>
              </a:rPr>
              <a:t>Hisss</a:t>
            </a:r>
            <a:r>
              <a:rPr lang="en-US" sz="1265" dirty="0">
                <a:latin typeface="Consolas" panose="020B0609020204030204" pitchFamily="49" charset="0"/>
                <a:cs typeface="Helvetica"/>
                <a:sym typeface="Helvetica"/>
              </a:rPr>
              <a:t>!”);</a:t>
            </a:r>
            <a:endParaRPr lang="en-US" sz="1265" dirty="0">
              <a:latin typeface="Consolas" panose="020B0609020204030204" pitchFamily="49" charset="0"/>
              <a:cs typeface="Helvetica"/>
              <a:sym typeface="Helvetica"/>
            </a:endParaRPr>
          </a:p>
          <a:p>
            <a:pPr lvl="1" indent="120650" defTabSz="241300" hangingPunct="0">
              <a:buClrTx/>
            </a:pPr>
            <a:r>
              <a:rPr lang="en-US" sz="1265" dirty="0">
                <a:latin typeface="Consolas" panose="020B0609020204030204" pitchFamily="49" charset="0"/>
                <a:cs typeface="Helvetica"/>
                <a:sym typeface="Helvetica"/>
              </a:rPr>
              <a:t>}</a:t>
            </a:r>
            <a:endParaRPr lang="en-US" sz="1265" dirty="0">
              <a:latin typeface="Consolas" panose="020B0609020204030204" pitchFamily="49" charset="0"/>
              <a:cs typeface="Helvetica"/>
              <a:sym typeface="Helvetica"/>
            </a:endParaRPr>
          </a:p>
          <a:p>
            <a:pPr defTabSz="241300" hangingPunct="0">
              <a:buClrTx/>
            </a:pPr>
            <a:r>
              <a:rPr lang="en-US" sz="1265" dirty="0">
                <a:latin typeface="Consolas" panose="020B0609020204030204" pitchFamily="49" charset="0"/>
                <a:cs typeface="Helvetica"/>
                <a:sym typeface="Helvetica"/>
              </a:rPr>
              <a:t>}</a:t>
            </a:r>
            <a:endParaRPr lang="en-US" sz="1265" dirty="0">
              <a:solidFill>
                <a:srgbClr val="C00000"/>
              </a:solidFill>
              <a:latin typeface="Perpetua" panose="02020502060401020303"/>
              <a:cs typeface="Helvetica"/>
              <a:sym typeface="Helvetica"/>
            </a:endParaRPr>
          </a:p>
        </p:txBody>
      </p:sp>
      <p:sp>
        <p:nvSpPr>
          <p:cNvPr id="10" name="Rectangle 9"/>
          <p:cNvSpPr/>
          <p:nvPr/>
        </p:nvSpPr>
        <p:spPr>
          <a:xfrm>
            <a:off x="801112" y="2573267"/>
            <a:ext cx="3866256" cy="2070204"/>
          </a:xfrm>
          <a:prstGeom prst="rect">
            <a:avLst/>
          </a:prstGeom>
          <a:solidFill>
            <a:schemeClr val="accent1">
              <a:alpha val="0"/>
            </a:schemeClr>
          </a:solidFill>
          <a:ln w="254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241300" hangingPunct="0">
              <a:buClrTx/>
            </a:pPr>
            <a:endParaRPr lang="en-US" sz="635">
              <a:solidFill>
                <a:prstClr val="white"/>
              </a:solidFill>
              <a:sym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xEl>
                                              <p:pRg st="9" end="9"/>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8">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
                                            <p:txEl>
                                              <p:pRg st="12" end="1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0" end="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xEl>
                                              <p:pRg st="1" end="1"/>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9">
                                            <p:txEl>
                                              <p:pRg st="2" end="2"/>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3" end="3"/>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9">
                                            <p:txEl>
                                              <p:pRg st="4" end="4"/>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xEl>
                                              <p:pRg st="5" end="5"/>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9">
                                            <p:txEl>
                                              <p:pRg st="6" end="6"/>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More Definitions</a:t>
            </a:r>
            <a:endParaRPr lang="en-US" dirty="0"/>
          </a:p>
        </p:txBody>
      </p:sp>
      <p:sp>
        <p:nvSpPr>
          <p:cNvPr id="3" name="Text Placeholder 2"/>
          <p:cNvSpPr>
            <a:spLocks noGrp="1"/>
          </p:cNvSpPr>
          <p:nvPr>
            <p:ph type="body" idx="1"/>
          </p:nvPr>
        </p:nvSpPr>
        <p:spPr/>
        <p:txBody>
          <a:bodyPr>
            <a:normAutofit/>
          </a:bodyPr>
          <a:lstStyle/>
          <a:p>
            <a:pPr marL="476250" indent="-285750">
              <a:lnSpc>
                <a:spcPct val="90000"/>
              </a:lnSpc>
              <a:buSzTx/>
              <a:tabLst>
                <a:tab pos="285115" algn="l"/>
                <a:tab pos="713740" algn="l"/>
              </a:tabLst>
            </a:pPr>
            <a:r>
              <a:rPr lang="en-US" b="1" dirty="0">
                <a:solidFill>
                  <a:schemeClr val="tx1"/>
                </a:solidFill>
                <a:uFill>
                  <a:solidFill>
                    <a:srgbClr val="B6192B"/>
                  </a:solidFill>
                </a:uFill>
              </a:rPr>
              <a:t>Override</a:t>
            </a:r>
            <a:r>
              <a:rPr lang="en-US" dirty="0"/>
              <a:t> When an </a:t>
            </a:r>
            <a:r>
              <a:rPr lang="en-US" b="1" dirty="0">
                <a:solidFill>
                  <a:schemeClr val="tx1"/>
                </a:solidFill>
                <a:uFill>
                  <a:solidFill>
                    <a:srgbClr val="0329D6"/>
                  </a:solidFill>
                </a:uFill>
              </a:rPr>
              <a:t>instance</a:t>
            </a:r>
            <a:r>
              <a:rPr lang="en-US" b="1" dirty="0">
                <a:solidFill>
                  <a:schemeClr val="tx1"/>
                </a:solidFill>
              </a:rPr>
              <a:t> </a:t>
            </a:r>
            <a:r>
              <a:rPr lang="en-US" b="1" dirty="0">
                <a:solidFill>
                  <a:schemeClr val="tx1"/>
                </a:solidFill>
                <a:uFill>
                  <a:solidFill>
                    <a:srgbClr val="0329D6"/>
                  </a:solidFill>
                </a:uFill>
              </a:rPr>
              <a:t>method </a:t>
            </a:r>
            <a:r>
              <a:rPr lang="en-US" dirty="0"/>
              <a:t>in a derived class has the same form of heading </a:t>
            </a:r>
            <a:r>
              <a:rPr lang="en-US" b="1" i="1" dirty="0">
                <a:solidFill>
                  <a:schemeClr val="tx1"/>
                </a:solidFill>
              </a:rPr>
              <a:t>(signature) </a:t>
            </a:r>
            <a:r>
              <a:rPr lang="en-US" dirty="0"/>
              <a:t>as an </a:t>
            </a:r>
            <a:r>
              <a:rPr lang="en-US" b="1" dirty="0">
                <a:solidFill>
                  <a:schemeClr val="tx1"/>
                </a:solidFill>
                <a:uFill>
                  <a:solidFill>
                    <a:srgbClr val="0329D6"/>
                  </a:solidFill>
                </a:uFill>
              </a:rPr>
              <a:t>instance method</a:t>
            </a:r>
            <a:r>
              <a:rPr lang="en-US" b="1" dirty="0">
                <a:solidFill>
                  <a:schemeClr val="tx1"/>
                </a:solidFill>
              </a:rPr>
              <a:t> </a:t>
            </a:r>
            <a:r>
              <a:rPr lang="en-US" dirty="0"/>
              <a:t>in its superclass, the method in the derived class </a:t>
            </a:r>
            <a:r>
              <a:rPr lang="en-US" b="1" dirty="0">
                <a:solidFill>
                  <a:schemeClr val="tx1"/>
                </a:solidFill>
                <a:uFill>
                  <a:solidFill>
                    <a:srgbClr val="B6192B"/>
                  </a:solidFill>
                </a:uFill>
              </a:rPr>
              <a:t>overrides</a:t>
            </a:r>
            <a:r>
              <a:rPr lang="en-US" b="1" dirty="0">
                <a:solidFill>
                  <a:schemeClr val="tx1"/>
                </a:solidFill>
              </a:rPr>
              <a:t> </a:t>
            </a:r>
            <a:r>
              <a:rPr lang="en-US" dirty="0"/>
              <a:t>(redefines) the method in the superclass.</a:t>
            </a:r>
            <a:endParaRPr lang="en-US" dirty="0"/>
          </a:p>
          <a:p>
            <a:pPr marL="190500" indent="0">
              <a:lnSpc>
                <a:spcPct val="90000"/>
              </a:lnSpc>
              <a:buSzTx/>
              <a:buNone/>
              <a:tabLst>
                <a:tab pos="285115" algn="l"/>
                <a:tab pos="713740" algn="l"/>
              </a:tabLst>
            </a:pPr>
            <a:endParaRPr lang="en-US" b="1" dirty="0">
              <a:solidFill>
                <a:schemeClr val="tx1"/>
              </a:solidFill>
              <a:uFill>
                <a:solidFill>
                  <a:srgbClr val="B6192B"/>
                </a:solidFill>
              </a:uFill>
            </a:endParaRPr>
          </a:p>
          <a:p>
            <a:pPr marL="476250" indent="-285750">
              <a:lnSpc>
                <a:spcPct val="90000"/>
              </a:lnSpc>
              <a:buSzTx/>
              <a:tabLst>
                <a:tab pos="285115" algn="l"/>
                <a:tab pos="713740" algn="l"/>
              </a:tabLst>
            </a:pPr>
            <a:r>
              <a:rPr lang="en-US" b="1" dirty="0">
                <a:solidFill>
                  <a:schemeClr val="tx1"/>
                </a:solidFill>
                <a:uFill>
                  <a:solidFill>
                    <a:srgbClr val="B6192B"/>
                  </a:solidFill>
                </a:uFill>
              </a:rPr>
              <a:t>Hide</a:t>
            </a:r>
            <a:r>
              <a:rPr lang="en-US" dirty="0"/>
              <a:t> When a data </a:t>
            </a:r>
            <a:r>
              <a:rPr lang="en-US" b="1" dirty="0">
                <a:solidFill>
                  <a:schemeClr val="tx1"/>
                </a:solidFill>
                <a:uFill>
                  <a:solidFill>
                    <a:srgbClr val="B6192B"/>
                  </a:solidFill>
                </a:uFill>
              </a:rPr>
              <a:t>field</a:t>
            </a:r>
            <a:r>
              <a:rPr lang="en-US" dirty="0"/>
              <a:t> in a derived class has the same name as one in its superclass or a </a:t>
            </a:r>
            <a:r>
              <a:rPr lang="en-US" b="1" dirty="0">
                <a:solidFill>
                  <a:schemeClr val="tx1"/>
                </a:solidFill>
                <a:uFill>
                  <a:solidFill>
                    <a:srgbClr val="B6192B"/>
                  </a:solidFill>
                </a:uFill>
              </a:rPr>
              <a:t>class method </a:t>
            </a:r>
            <a:r>
              <a:rPr lang="en-US" dirty="0"/>
              <a:t>has the same form of heading </a:t>
            </a:r>
            <a:r>
              <a:rPr lang="en-US" b="1" dirty="0">
                <a:solidFill>
                  <a:schemeClr val="tx1"/>
                </a:solidFill>
                <a:uFill>
                  <a:solidFill>
                    <a:srgbClr val="B6192B"/>
                  </a:solidFill>
                </a:uFill>
              </a:rPr>
              <a:t>(signature) </a:t>
            </a:r>
            <a:r>
              <a:rPr lang="en-US" dirty="0"/>
              <a:t>as a </a:t>
            </a:r>
            <a:r>
              <a:rPr lang="en-US" b="1" dirty="0">
                <a:solidFill>
                  <a:schemeClr val="tx1"/>
                </a:solidFill>
                <a:uFill>
                  <a:solidFill>
                    <a:srgbClr val="B6192B"/>
                  </a:solidFill>
                </a:uFill>
              </a:rPr>
              <a:t>class method </a:t>
            </a:r>
            <a:r>
              <a:rPr lang="en-US" dirty="0"/>
              <a:t>in its superclass, the data field or class method </a:t>
            </a:r>
            <a:r>
              <a:rPr lang="en-US" b="1" dirty="0">
                <a:solidFill>
                  <a:schemeClr val="tx1"/>
                </a:solidFill>
                <a:uFill>
                  <a:solidFill>
                    <a:srgbClr val="B6192B"/>
                  </a:solidFill>
                </a:uFill>
              </a:rPr>
              <a:t>hide</a:t>
            </a:r>
            <a:r>
              <a:rPr lang="en-US" dirty="0"/>
              <a:t> the corresponding component in the superclass.</a:t>
            </a:r>
            <a:endParaRPr lang="en-US" dirty="0"/>
          </a:p>
          <a:p>
            <a:pPr marL="476250" indent="-285750">
              <a:lnSpc>
                <a:spcPct val="90000"/>
              </a:lnSpc>
              <a:buSzTx/>
              <a:tabLst>
                <a:tab pos="285115" algn="l"/>
                <a:tab pos="713740" algn="l"/>
              </a:tabLst>
            </a:pPr>
            <a:endParaRPr lang="en-US" dirty="0"/>
          </a:p>
          <a:p>
            <a:pPr marL="190500" indent="0">
              <a:lnSpc>
                <a:spcPct val="90000"/>
              </a:lnSpc>
              <a:buSzTx/>
              <a:buNone/>
              <a:tabLst>
                <a:tab pos="285115" algn="l"/>
                <a:tab pos="713740" algn="l"/>
              </a:tabLst>
            </a:pPr>
            <a:r>
              <a:rPr lang="en-US" dirty="0"/>
              <a:t>									</a:t>
            </a:r>
            <a:r>
              <a:rPr lang="en-US" i="1" dirty="0"/>
              <a:t>Say again?</a:t>
            </a:r>
            <a:endParaRPr lang="en-US" i="1"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public class Example…"/>
          <p:cNvSpPr txBox="1">
            <a:spLocks noGrp="1"/>
          </p:cNvSpPr>
          <p:nvPr>
            <p:ph type="body" idx="1"/>
          </p:nvPr>
        </p:nvSpPr>
        <p:spPr>
          <a:xfrm>
            <a:off x="1457325" y="419100"/>
            <a:ext cx="6219825" cy="4305300"/>
          </a:xfrm>
          <a:prstGeom prst="rect">
            <a:avLst/>
          </a:prstGeom>
        </p:spPr>
        <p:txBody>
          <a:bodyPr vert="horz" wrap="square" lIns="0" tIns="0" rIns="0" bIns="0" numCol="1" anchor="t" anchorCtr="0" compatLnSpc="1"/>
          <a:lstStyle/>
          <a:p>
            <a:pPr marL="257175" indent="-66675">
              <a:spcBef>
                <a:spcPts val="0"/>
              </a:spcBef>
              <a:buSzTx/>
              <a:buNone/>
              <a:tabLst>
                <a:tab pos="285115" algn="l"/>
                <a:tab pos="713740" algn="l"/>
              </a:tabLst>
              <a:defRPr sz="2400">
                <a:latin typeface="Courier"/>
                <a:ea typeface="Courier"/>
                <a:cs typeface="Courier"/>
                <a:sym typeface="Courier"/>
              </a:defRPr>
            </a:pPr>
            <a:r>
              <a:rPr sz="1900" dirty="0"/>
              <a:t>public class Example</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char letter;</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public static String </a:t>
            </a:r>
            <a:r>
              <a:rPr sz="1900" dirty="0" err="1"/>
              <a:t>lineIs</a:t>
            </a: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endParaRPr sz="1900" dirty="0"/>
          </a:p>
          <a:p>
            <a:pPr marL="257175" indent="-66675">
              <a:spcBef>
                <a:spcPts val="0"/>
              </a:spcBef>
              <a:buSzTx/>
              <a:buNone/>
              <a:tabLst>
                <a:tab pos="285115" algn="l"/>
                <a:tab pos="713740" algn="l"/>
              </a:tabLst>
              <a:defRPr sz="2400">
                <a:latin typeface="Courier"/>
                <a:ea typeface="Courier"/>
                <a:cs typeface="Courier"/>
                <a:sym typeface="Courier"/>
              </a:defRPr>
            </a:pP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public class </a:t>
            </a:r>
            <a:r>
              <a:rPr sz="1900" dirty="0" err="1"/>
              <a:t>ExtExample</a:t>
            </a:r>
            <a:r>
              <a:rPr sz="1900" dirty="0"/>
              <a:t> extends Example</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char letter;</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public static String </a:t>
            </a:r>
            <a:r>
              <a:rPr sz="1900" dirty="0" err="1"/>
              <a:t>lineIs</a:t>
            </a: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lgn="r">
              <a:spcBef>
                <a:spcPts val="0"/>
              </a:spcBef>
              <a:buSzTx/>
              <a:buNone/>
              <a:tabLst>
                <a:tab pos="285115" algn="l"/>
                <a:tab pos="713740" algn="l"/>
              </a:tabLst>
              <a:defRPr sz="2400"/>
            </a:pPr>
            <a:r>
              <a:rPr sz="1900" dirty="0"/>
              <a:t>	</a:t>
            </a:r>
            <a:r>
              <a:rPr sz="1900" b="1" i="1" dirty="0">
                <a:solidFill>
                  <a:schemeClr val="tx1"/>
                </a:solidFill>
                <a:uFill>
                  <a:solidFill>
                    <a:srgbClr val="AB1942"/>
                  </a:solidFill>
                </a:uFill>
                <a:latin typeface="+mn-lt"/>
                <a:ea typeface="+mn-ea"/>
                <a:cs typeface="+mn-cs"/>
                <a:sym typeface="Times New Roman" panose="02020603050405020304"/>
              </a:rPr>
              <a:t>Hiding or overriding?</a:t>
            </a:r>
            <a:endParaRPr sz="1900" b="1" i="1" dirty="0">
              <a:solidFill>
                <a:schemeClr val="tx1"/>
              </a:solidFill>
              <a:uFill>
                <a:solidFill>
                  <a:srgbClr val="AB1942"/>
                </a:solidFill>
              </a:uFill>
              <a:latin typeface="+mn-lt"/>
              <a:ea typeface="+mn-ea"/>
              <a:cs typeface="+mn-cs"/>
              <a:sym typeface="Times New Roman" panose="02020603050405020304"/>
            </a:endParaRP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ublic class Example…"/>
          <p:cNvSpPr txBox="1">
            <a:spLocks noGrp="1"/>
          </p:cNvSpPr>
          <p:nvPr>
            <p:ph type="body" idx="1"/>
          </p:nvPr>
        </p:nvSpPr>
        <p:spPr>
          <a:xfrm>
            <a:off x="1543050" y="295275"/>
            <a:ext cx="6048375" cy="4552950"/>
          </a:xfrm>
          <a:prstGeom prst="rect">
            <a:avLst/>
          </a:prstGeom>
        </p:spPr>
        <p:txBody>
          <a:bodyPr vert="horz" wrap="square" lIns="0" tIns="0" rIns="0" bIns="0" numCol="1" anchor="t" anchorCtr="0" compatLnSpc="1"/>
          <a:lstStyle/>
          <a:p>
            <a:pPr marL="257175" indent="-66675">
              <a:spcBef>
                <a:spcPts val="0"/>
              </a:spcBef>
              <a:buSzTx/>
              <a:buNone/>
              <a:tabLst>
                <a:tab pos="285115" algn="l"/>
                <a:tab pos="713740" algn="l"/>
              </a:tabLst>
              <a:defRPr sz="2400">
                <a:latin typeface="Courier"/>
                <a:ea typeface="Courier"/>
                <a:cs typeface="Courier"/>
                <a:sym typeface="Courier"/>
              </a:defRPr>
            </a:pPr>
            <a:r>
              <a:rPr sz="1900" dirty="0"/>
              <a:t>public class Example</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br>
              <a:rPr sz="1900" dirty="0"/>
            </a:br>
            <a:r>
              <a:rPr sz="1900" dirty="0"/>
              <a:t>  char letter;</a:t>
            </a:r>
            <a:br>
              <a:rPr sz="1900" dirty="0"/>
            </a:br>
            <a:r>
              <a:rPr sz="1900" dirty="0"/>
              <a:t>  public String </a:t>
            </a:r>
            <a:r>
              <a:rPr sz="1900" dirty="0" err="1"/>
              <a:t>lineIs</a:t>
            </a:r>
            <a:r>
              <a:rPr sz="1900" dirty="0"/>
              <a:t>();</a:t>
            </a:r>
            <a:br>
              <a:rPr sz="1900" dirty="0"/>
            </a:br>
            <a:r>
              <a:rPr sz="1900" dirty="0"/>
              <a:t>  …</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endParaRPr sz="1900" dirty="0"/>
          </a:p>
          <a:p>
            <a:pPr marL="257175" indent="-66675">
              <a:spcBef>
                <a:spcPts val="0"/>
              </a:spcBef>
              <a:buSzTx/>
              <a:buNone/>
              <a:tabLst>
                <a:tab pos="285115" algn="l"/>
                <a:tab pos="713740" algn="l"/>
              </a:tabLst>
              <a:defRPr sz="2400">
                <a:latin typeface="Courier"/>
                <a:ea typeface="Courier"/>
                <a:cs typeface="Courier"/>
                <a:sym typeface="Courier"/>
              </a:defRPr>
            </a:pP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public class </a:t>
            </a:r>
            <a:r>
              <a:rPr sz="1900" dirty="0" err="1"/>
              <a:t>ExtExample</a:t>
            </a:r>
            <a:r>
              <a:rPr sz="1900" dirty="0"/>
              <a:t> extends Example</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String letter;</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public String </a:t>
            </a:r>
            <a:r>
              <a:rPr sz="1900" dirty="0" err="1"/>
              <a:t>lineIs</a:t>
            </a:r>
            <a:r>
              <a:rPr sz="1900" dirty="0"/>
              <a:t>();</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  …</a:t>
            </a:r>
            <a:endParaRPr sz="1900" dirty="0"/>
          </a:p>
          <a:p>
            <a:pPr marL="257175" indent="-66675">
              <a:spcBef>
                <a:spcPts val="0"/>
              </a:spcBef>
              <a:buSzTx/>
              <a:buNone/>
              <a:tabLst>
                <a:tab pos="285115" algn="l"/>
                <a:tab pos="713740" algn="l"/>
              </a:tabLst>
              <a:defRPr sz="2400">
                <a:latin typeface="Courier"/>
                <a:ea typeface="Courier"/>
                <a:cs typeface="Courier"/>
                <a:sym typeface="Courier"/>
              </a:defRPr>
            </a:pPr>
            <a:r>
              <a:rPr sz="1900" dirty="0"/>
              <a:t>}</a:t>
            </a:r>
            <a:endParaRPr sz="1900" dirty="0"/>
          </a:p>
          <a:p>
            <a:pPr marL="257175" indent="-66675" algn="r">
              <a:buSzTx/>
              <a:buNone/>
              <a:tabLst>
                <a:tab pos="285115" algn="l"/>
                <a:tab pos="713740" algn="l"/>
              </a:tabLst>
              <a:defRPr sz="2400"/>
            </a:pPr>
            <a:r>
              <a:rPr sz="1900" dirty="0"/>
              <a:t>	</a:t>
            </a:r>
            <a:r>
              <a:rPr sz="1900" b="1" i="1" dirty="0">
                <a:solidFill>
                  <a:schemeClr val="tx1"/>
                </a:solidFill>
                <a:uFill>
                  <a:solidFill>
                    <a:srgbClr val="AB1942"/>
                  </a:solidFill>
                </a:uFill>
                <a:latin typeface="+mn-lt"/>
                <a:ea typeface="+mn-ea"/>
                <a:cs typeface="+mn-cs"/>
                <a:sym typeface="Times New Roman" panose="02020603050405020304"/>
              </a:rPr>
              <a:t>Hiding or overriding?</a:t>
            </a:r>
            <a:endParaRPr sz="1900" b="1" i="1" dirty="0">
              <a:solidFill>
                <a:schemeClr val="tx1"/>
              </a:solidFill>
              <a:uFill>
                <a:solidFill>
                  <a:srgbClr val="AB1942"/>
                </a:solidFill>
              </a:uFill>
              <a:latin typeface="+mn-lt"/>
              <a:ea typeface="+mn-ea"/>
              <a:cs typeface="+mn-cs"/>
              <a:sym typeface="Times New Roman" panose="02020603050405020304"/>
            </a:endParaRP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Organizing classes with Inheritance</a:t>
            </a:r>
            <a:endParaRPr lang="en-US" b="1" dirty="0"/>
          </a:p>
        </p:txBody>
      </p:sp>
      <p:sp>
        <p:nvSpPr>
          <p:cNvPr id="3" name="Text Placeholder 2"/>
          <p:cNvSpPr>
            <a:spLocks noGrp="1"/>
          </p:cNvSpPr>
          <p:nvPr>
            <p:ph type="body" idx="1"/>
          </p:nvPr>
        </p:nvSpPr>
        <p:spPr/>
        <p:txBody>
          <a:bodyPr>
            <a:normAutofit/>
          </a:bodyPr>
          <a:lstStyle/>
          <a:p>
            <a:pPr marL="314960" indent="-180975">
              <a:lnSpc>
                <a:spcPct val="90000"/>
              </a:lnSpc>
            </a:pPr>
            <a:r>
              <a:rPr lang="en-US" dirty="0"/>
              <a:t>Determine what data you need to store. For example, for storing student and employee data:</a:t>
            </a:r>
            <a:endParaRPr lang="en-US" dirty="0"/>
          </a:p>
          <a:p>
            <a:pPr marL="495300" lvl="1" indent="-180975">
              <a:lnSpc>
                <a:spcPct val="90000"/>
              </a:lnSpc>
            </a:pPr>
            <a:r>
              <a:rPr lang="en-US" sz="1800" dirty="0"/>
              <a:t>Student data:      name, age, </a:t>
            </a:r>
            <a:r>
              <a:rPr lang="en-US" sz="1800" b="1" dirty="0">
                <a:solidFill>
                  <a:schemeClr val="tx1"/>
                </a:solidFill>
                <a:uFill>
                  <a:solidFill>
                    <a:srgbClr val="D81E00"/>
                  </a:solidFill>
                </a:uFill>
              </a:rPr>
              <a:t>GPA</a:t>
            </a:r>
            <a:endParaRPr lang="en-US" sz="1800" b="1" dirty="0">
              <a:solidFill>
                <a:schemeClr val="tx1"/>
              </a:solidFill>
              <a:uFill>
                <a:solidFill>
                  <a:srgbClr val="D81E00"/>
                </a:solidFill>
              </a:uFill>
            </a:endParaRPr>
          </a:p>
          <a:p>
            <a:pPr marL="495300" lvl="1" indent="-180975">
              <a:lnSpc>
                <a:spcPct val="90000"/>
              </a:lnSpc>
            </a:pPr>
            <a:r>
              <a:rPr lang="en-US" sz="1800" dirty="0"/>
              <a:t>Employee data:  name, age, </a:t>
            </a:r>
            <a:r>
              <a:rPr lang="en-US" sz="1800" b="1" dirty="0">
                <a:solidFill>
                  <a:schemeClr val="tx1"/>
                </a:solidFill>
                <a:uFill>
                  <a:solidFill>
                    <a:srgbClr val="434ED6"/>
                  </a:solidFill>
                </a:uFill>
              </a:rPr>
              <a:t>salary</a:t>
            </a:r>
            <a:endParaRPr lang="en-US" sz="1800" b="1" dirty="0">
              <a:solidFill>
                <a:schemeClr val="tx1"/>
              </a:solidFill>
              <a:uFill>
                <a:solidFill>
                  <a:srgbClr val="434ED6"/>
                </a:solidFill>
              </a:uFill>
            </a:endParaRPr>
          </a:p>
          <a:p>
            <a:pPr marL="314960" lvl="1" indent="0">
              <a:lnSpc>
                <a:spcPct val="90000"/>
              </a:lnSpc>
              <a:buNone/>
            </a:pPr>
            <a:endParaRPr lang="en-US" sz="1800" b="1" dirty="0">
              <a:solidFill>
                <a:schemeClr val="tx1"/>
              </a:solidFill>
              <a:uFill>
                <a:solidFill>
                  <a:srgbClr val="434ED6"/>
                </a:solidFill>
              </a:uFill>
            </a:endParaRPr>
          </a:p>
          <a:p>
            <a:pPr marL="314960" indent="-180975">
              <a:lnSpc>
                <a:spcPct val="90000"/>
              </a:lnSpc>
            </a:pPr>
            <a:r>
              <a:rPr lang="en-US" dirty="0"/>
              <a:t>Divide up your classes by state – Students and Employees store different data, so make them into separate classes.</a:t>
            </a:r>
            <a:endParaRPr lang="en-US" dirty="0"/>
          </a:p>
          <a:p>
            <a:pPr marL="133985" indent="0">
              <a:lnSpc>
                <a:spcPct val="90000"/>
              </a:lnSpc>
              <a:buNone/>
            </a:pPr>
            <a:endParaRPr lang="en-US" dirty="0"/>
          </a:p>
          <a:p>
            <a:pPr marL="314960" indent="-180975">
              <a:lnSpc>
                <a:spcPct val="90000"/>
              </a:lnSpc>
            </a:pPr>
            <a:r>
              <a:rPr lang="en-US" dirty="0"/>
              <a:t>Pool common data into a common parent class.</a:t>
            </a:r>
            <a:endParaRPr lang="en-US" dirty="0"/>
          </a:p>
          <a:p>
            <a:pPr marL="495300" lvl="1" indent="-180975">
              <a:lnSpc>
                <a:spcPct val="90000"/>
              </a:lnSpc>
            </a:pPr>
            <a:r>
              <a:rPr lang="en-US" sz="1800" dirty="0"/>
              <a:t>Person data: name, age</a:t>
            </a:r>
            <a:endParaRPr lang="en-US" sz="1800" dirty="0"/>
          </a:p>
          <a:p>
            <a:pPr marL="314960" lvl="1" indent="0">
              <a:lnSpc>
                <a:spcPct val="90000"/>
              </a:lnSpc>
              <a:buNone/>
            </a:pPr>
            <a:endParaRPr lang="en-US" sz="1800" dirty="0"/>
          </a:p>
          <a:p>
            <a:pPr marL="314960" indent="-180975">
              <a:lnSpc>
                <a:spcPct val="90000"/>
              </a:lnSpc>
            </a:pPr>
            <a:r>
              <a:rPr lang="en-US" dirty="0"/>
              <a:t>Have Student and Employee customize Person.</a:t>
            </a:r>
            <a:endParaRPr lang="en-US" dirty="0"/>
          </a:p>
          <a:p>
            <a:pPr marL="319405" marR="69215" indent="0">
              <a:lnSpc>
                <a:spcPct val="120000"/>
              </a:lnSpc>
              <a:buNone/>
            </a:pPr>
            <a:endParaRPr lang="en-US" dirty="0"/>
          </a:p>
          <a:p>
            <a:pPr marL="621030" marR="69215" indent="-301625">
              <a:lnSpc>
                <a:spcPct val="120000"/>
              </a:lnSpc>
            </a:pPr>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Parent Class: </a:t>
            </a:r>
            <a:r>
              <a:rPr lang="en-US" b="1" dirty="0">
                <a:latin typeface="Courier New" panose="02070309020205020404"/>
                <a:ea typeface="Courier New" panose="02070309020205020404"/>
                <a:cs typeface="Courier New" panose="02070309020205020404"/>
                <a:sym typeface="Courier New" panose="02070309020205020404"/>
              </a:rPr>
              <a:t>Person</a:t>
            </a:r>
            <a:endParaRPr lang="en-US" b="1" dirty="0"/>
          </a:p>
        </p:txBody>
      </p:sp>
      <p:sp>
        <p:nvSpPr>
          <p:cNvPr id="3" name="Text Placeholder 2"/>
          <p:cNvSpPr>
            <a:spLocks noGrp="1"/>
          </p:cNvSpPr>
          <p:nvPr>
            <p:ph type="body" idx="1"/>
          </p:nvPr>
        </p:nvSpPr>
        <p:spPr/>
        <p:txBody>
          <a:bodyPr>
            <a:normAutofit/>
          </a:bodyPr>
          <a:lstStyle/>
          <a:p>
            <a:pPr marL="319405" marR="69215" indent="0">
              <a:lnSpc>
                <a:spcPct val="120000"/>
              </a:lnSpc>
              <a:buNone/>
            </a:pPr>
            <a:endParaRPr lang="en-US" dirty="0"/>
          </a:p>
          <a:p>
            <a:pPr marL="621030" marR="69215" indent="-301625">
              <a:lnSpc>
                <a:spcPct val="120000"/>
              </a:lnSpc>
            </a:pPr>
            <a:endParaRPr lang="en-US" dirty="0"/>
          </a:p>
          <a:p>
            <a:endParaRPr lang="en-US" dirty="0"/>
          </a:p>
        </p:txBody>
      </p:sp>
      <p:sp>
        <p:nvSpPr>
          <p:cNvPr id="5" name="Content Placeholder 2"/>
          <p:cNvSpPr txBox="1"/>
          <p:nvPr/>
        </p:nvSpPr>
        <p:spPr bwMode="auto">
          <a:xfrm>
            <a:off x="1715511" y="1152475"/>
            <a:ext cx="5829300"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204470" indent="-204470" algn="l" rtl="0" eaLnBrk="0" fontAlgn="base" hangingPunct="0">
              <a:spcBef>
                <a:spcPts val="430"/>
              </a:spcBef>
              <a:spcAft>
                <a:spcPct val="0"/>
              </a:spcAft>
              <a:buClr>
                <a:schemeClr val="accent1"/>
              </a:buClr>
              <a:buSzPct val="85000"/>
              <a:buFont typeface="Wingdings 2" panose="05020102010507070707" pitchFamily="18" charset="2"/>
              <a:buChar char=""/>
              <a:defRPr sz="1950" kern="1200">
                <a:solidFill>
                  <a:schemeClr val="tx1"/>
                </a:solidFill>
                <a:latin typeface="+mn-lt"/>
                <a:ea typeface="+mn-ea"/>
                <a:cs typeface="+mn-cs"/>
              </a:defRPr>
            </a:lvl1pPr>
            <a:lvl2pPr marL="410845" indent="-171450" algn="l" rtl="0" eaLnBrk="0" fontAlgn="base" hangingPunct="0">
              <a:spcBef>
                <a:spcPts val="280"/>
              </a:spcBef>
              <a:spcAft>
                <a:spcPct val="0"/>
              </a:spcAft>
              <a:buClr>
                <a:schemeClr val="accent2"/>
              </a:buClr>
              <a:buSzPct val="85000"/>
              <a:buFont typeface="Wingdings 2" panose="05020102010507070707" pitchFamily="18" charset="2"/>
              <a:buChar char=""/>
              <a:defRPr sz="1800" kern="1200">
                <a:solidFill>
                  <a:schemeClr val="tx1"/>
                </a:solidFill>
                <a:latin typeface="+mn-lt"/>
                <a:ea typeface="+mn-ea"/>
                <a:cs typeface="+mn-cs"/>
              </a:defRPr>
            </a:lvl2pPr>
            <a:lvl3pPr marL="616585" indent="-171450" algn="l" rtl="0" eaLnBrk="0" fontAlgn="base" hangingPunct="0">
              <a:spcBef>
                <a:spcPts val="280"/>
              </a:spcBef>
              <a:spcAft>
                <a:spcPct val="0"/>
              </a:spcAft>
              <a:buClr>
                <a:srgbClr val="E6B1AB"/>
              </a:buClr>
              <a:buSzPct val="85000"/>
              <a:buFont typeface="Wingdings 2" panose="05020102010507070707" pitchFamily="18" charset="2"/>
              <a:buChar char=""/>
              <a:defRPr sz="1500" kern="1200">
                <a:solidFill>
                  <a:schemeClr val="tx1"/>
                </a:solidFill>
                <a:latin typeface="+mn-lt"/>
                <a:ea typeface="+mn-ea"/>
                <a:cs typeface="+mn-cs"/>
              </a:defRPr>
            </a:lvl3pPr>
            <a:lvl4pPr marL="822325" indent="-171450" algn="l" rtl="0" eaLnBrk="0" fontAlgn="base" hangingPunct="0">
              <a:spcBef>
                <a:spcPts val="280"/>
              </a:spcBef>
              <a:spcAft>
                <a:spcPct val="0"/>
              </a:spcAft>
              <a:buClr>
                <a:srgbClr val="A28E6A"/>
              </a:buClr>
              <a:buSzPct val="80000"/>
              <a:buFont typeface="Wingdings 2" panose="05020102010507070707" pitchFamily="18" charset="2"/>
              <a:buChar char=""/>
              <a:defRPr sz="1500" kern="1200">
                <a:solidFill>
                  <a:schemeClr val="tx1"/>
                </a:solidFill>
                <a:latin typeface="+mn-lt"/>
                <a:ea typeface="+mn-ea"/>
                <a:cs typeface="+mn-cs"/>
              </a:defRPr>
            </a:lvl4pPr>
            <a:lvl5pPr marL="1028700" indent="-171450" algn="l" rtl="0" eaLnBrk="0" fontAlgn="base" hangingPunct="0">
              <a:spcBef>
                <a:spcPts val="280"/>
              </a:spcBef>
              <a:spcAft>
                <a:spcPct val="0"/>
              </a:spcAft>
              <a:buClr>
                <a:srgbClr val="A28E6A"/>
              </a:buClr>
              <a:buChar char="o"/>
              <a:defRPr sz="1500" kern="1200">
                <a:solidFill>
                  <a:schemeClr val="tx1"/>
                </a:solidFill>
                <a:latin typeface="+mn-lt"/>
                <a:ea typeface="+mn-ea"/>
                <a:cs typeface="+mn-cs"/>
              </a:defRPr>
            </a:lvl5pPr>
            <a:lvl6pPr marL="1234440" indent="-171450" algn="l" rtl="0" eaLnBrk="1" latinLnBrk="0" hangingPunct="1">
              <a:spcBef>
                <a:spcPts val="275"/>
              </a:spcBef>
              <a:buClr>
                <a:schemeClr val="accent3"/>
              </a:buClr>
              <a:buChar char="•"/>
              <a:defRPr kumimoji="0" sz="1350" kern="1200" baseline="0">
                <a:solidFill>
                  <a:schemeClr val="tx1"/>
                </a:solidFill>
                <a:latin typeface="+mn-lt"/>
                <a:ea typeface="+mn-ea"/>
                <a:cs typeface="+mn-cs"/>
              </a:defRPr>
            </a:lvl6pPr>
            <a:lvl7pPr marL="1440180" indent="-171450" algn="l" rtl="0" eaLnBrk="1" latinLnBrk="0" hangingPunct="1">
              <a:spcBef>
                <a:spcPts val="275"/>
              </a:spcBef>
              <a:buClr>
                <a:schemeClr val="accent2"/>
              </a:buClr>
              <a:buChar char="•"/>
              <a:defRPr kumimoji="0" sz="1350" kern="1200">
                <a:solidFill>
                  <a:schemeClr val="tx1"/>
                </a:solidFill>
                <a:latin typeface="+mn-lt"/>
                <a:ea typeface="+mn-ea"/>
                <a:cs typeface="+mn-cs"/>
              </a:defRPr>
            </a:lvl7pPr>
            <a:lvl8pPr marL="1645920" indent="-171450" algn="l" rtl="0" eaLnBrk="1" latinLnBrk="0" hangingPunct="1">
              <a:spcBef>
                <a:spcPts val="275"/>
              </a:spcBef>
              <a:buClr>
                <a:schemeClr val="accent1">
                  <a:tint val="60000"/>
                </a:schemeClr>
              </a:buClr>
              <a:buChar char="•"/>
              <a:defRPr kumimoji="0" sz="1350" kern="1200">
                <a:solidFill>
                  <a:schemeClr val="tx1"/>
                </a:solidFill>
                <a:latin typeface="+mn-lt"/>
                <a:ea typeface="+mn-ea"/>
                <a:cs typeface="+mn-cs"/>
              </a:defRPr>
            </a:lvl8pPr>
            <a:lvl9pPr marL="1851660" indent="-171450" algn="l" rtl="0" eaLnBrk="1" latinLnBrk="0" hangingPunct="1">
              <a:spcBef>
                <a:spcPts val="275"/>
              </a:spcBef>
              <a:buClr>
                <a:schemeClr val="accent2">
                  <a:tint val="60000"/>
                </a:schemeClr>
              </a:buClr>
              <a:buChar char="•"/>
              <a:defRPr kumimoji="0" sz="1350" kern="1200">
                <a:solidFill>
                  <a:schemeClr val="tx1"/>
                </a:solidFill>
                <a:latin typeface="+mn-lt"/>
                <a:ea typeface="+mn-ea"/>
                <a:cs typeface="+mn-cs"/>
              </a:defRPr>
            </a:lvl9pPr>
          </a:lstStyle>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public class Person{</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private String name;</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private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int</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age;</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constructor for a Person</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public Person(String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initName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age = 0; 	// just born</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name =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initName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accessor</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method to get Person's name</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public String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getName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return name;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accessor</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method to get Person's age</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public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int</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getAge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return age;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mutator</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method to set person's age</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public void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setAge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int</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newAge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if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newAge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&lt; 0)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age = 0;</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else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1055" b="1" dirty="0">
                <a:solidFill>
                  <a:sysClr val="windowText" lastClr="000000"/>
                </a:solidFill>
                <a:latin typeface="Courier New" panose="02070309020205020404"/>
                <a:ea typeface="Courier New" panose="02070309020205020404"/>
                <a:cs typeface="Courier New" panose="02070309020205020404"/>
                <a:sym typeface="Courier New" panose="02070309020205020404"/>
              </a:rPr>
              <a:t>               </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age = </a:t>
            </a:r>
            <a:r>
              <a:rPr kumimoji="0" lang="en-US" sz="1055" b="1" i="0" u="none" strike="noStrike" kern="1200" cap="none" spc="0" normalizeH="0" baseline="0" noProof="0" dirty="0" err="1">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newAge</a:t>
            </a: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		  	}</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57175" marR="0" lvl="0" indent="-226695" algn="l" defTabSz="914400" rtl="0" eaLnBrk="0" fontAlgn="base" latinLnBrk="0" hangingPunct="0">
              <a:lnSpc>
                <a:spcPct val="80000"/>
              </a:lnSpc>
              <a:spcBef>
                <a:spcPts val="430"/>
              </a:spcBef>
              <a:spcAft>
                <a:spcPct val="0"/>
              </a:spcAft>
              <a:buClr>
                <a:srgbClr val="D34817"/>
              </a:buClr>
              <a:buSzTx/>
              <a:buFont typeface="Wingdings 2" panose="05020102010507070707" pitchFamily="18" charset="2"/>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rPr>
              <a:t>}</a:t>
            </a:r>
            <a:endParaRPr kumimoji="0" lang="en-US" sz="1055" b="1" i="0" u="none" strike="noStrike" kern="1200" cap="none" spc="0" normalizeH="0" baseline="0" noProof="0" dirty="0">
              <a:ln>
                <a:noFill/>
              </a:ln>
              <a:solidFill>
                <a:sysClr val="windowText" lastClr="000000"/>
              </a:solidFill>
              <a:effectLst/>
              <a:uLnTx/>
              <a:uFillTx/>
              <a:latin typeface="Courier New" panose="02070309020205020404"/>
              <a:ea typeface="Courier New" panose="02070309020205020404"/>
              <a:cs typeface="Courier New" panose="02070309020205020404"/>
              <a:sym typeface="Courier New" panose="02070309020205020404"/>
            </a:endParaRPr>
          </a:p>
          <a:p>
            <a:pPr marL="204470" marR="0" lvl="0" indent="-204470" algn="l" defTabSz="914400" rtl="0" eaLnBrk="0" fontAlgn="base" latinLnBrk="0" hangingPunct="0">
              <a:lnSpc>
                <a:spcPct val="100000"/>
              </a:lnSpc>
              <a:spcBef>
                <a:spcPts val="430"/>
              </a:spcBef>
              <a:spcAft>
                <a:spcPct val="0"/>
              </a:spcAft>
              <a:buClr>
                <a:srgbClr val="D34817"/>
              </a:buClr>
              <a:buSzPct val="85000"/>
              <a:buFont typeface="Wingdings 2" panose="05020102010507070707" pitchFamily="18" charset="2"/>
              <a:buChar char=""/>
              <a:defRPr/>
            </a:pPr>
            <a:endParaRPr kumimoji="0" lang="en-US" sz="1055" b="0" i="0" u="none" strike="noStrike" kern="1200" cap="none" spc="0" normalizeH="0" baseline="0" noProof="0" dirty="0">
              <a:ln>
                <a:noFill/>
              </a:ln>
              <a:solidFill>
                <a:sysClr val="windowText" lastClr="000000"/>
              </a:solidFill>
              <a:effectLst/>
              <a:uLnTx/>
              <a:uFillTx/>
              <a:latin typeface="Perpetua" panose="02020502060401020303"/>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
                                            <p:txEl>
                                              <p:pRg st="12" end="12"/>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
                                            <p:txEl>
                                              <p:pRg st="13" end="13"/>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4" end="14"/>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5" end="15"/>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
                                            <p:txEl>
                                              <p:pRg st="16" end="16"/>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
                                            <p:txEl>
                                              <p:pRg st="17" end="17"/>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Child (Sub-)Class: </a:t>
            </a:r>
            <a:r>
              <a:rPr lang="en-US" b="1" dirty="0">
                <a:latin typeface="Courier New" panose="02070309020205020404"/>
                <a:ea typeface="Courier New" panose="02070309020205020404"/>
                <a:cs typeface="Courier New" panose="02070309020205020404"/>
                <a:sym typeface="Courier New" panose="02070309020205020404"/>
              </a:rPr>
              <a:t>Student</a:t>
            </a:r>
            <a:endParaRPr lang="en-US" b="1" dirty="0"/>
          </a:p>
        </p:txBody>
      </p:sp>
      <p:sp>
        <p:nvSpPr>
          <p:cNvPr id="3" name="Text Placeholder 2"/>
          <p:cNvSpPr>
            <a:spLocks noGrp="1"/>
          </p:cNvSpPr>
          <p:nvPr>
            <p:ph type="body" idx="1"/>
          </p:nvPr>
        </p:nvSpPr>
        <p:spPr/>
        <p:txBody>
          <a:bodyPr>
            <a:normAutofit/>
          </a:bodyPr>
          <a:lstStyle/>
          <a:p>
            <a:pPr marL="319405" marR="69215" indent="0">
              <a:lnSpc>
                <a:spcPct val="120000"/>
              </a:lnSpc>
              <a:buNone/>
            </a:pPr>
            <a:endParaRPr lang="en-US" dirty="0"/>
          </a:p>
          <a:p>
            <a:pPr marL="621030" marR="69215" indent="-301625">
              <a:lnSpc>
                <a:spcPct val="120000"/>
              </a:lnSpc>
            </a:pPr>
            <a:endParaRPr lang="en-US" dirty="0"/>
          </a:p>
          <a:p>
            <a:endParaRPr lang="en-US" dirty="0"/>
          </a:p>
        </p:txBody>
      </p:sp>
      <p:sp>
        <p:nvSpPr>
          <p:cNvPr id="6" name="public class Student extends Person…"/>
          <p:cNvSpPr txBox="1"/>
          <p:nvPr/>
        </p:nvSpPr>
        <p:spPr bwMode="auto">
          <a:xfrm>
            <a:off x="884384" y="1011197"/>
            <a:ext cx="5949851" cy="3730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220" tIns="24110" rIns="48220" bIns="24110" numCol="1" anchor="t" anchorCtr="0" compatLnSpc="1"/>
          <a:lstStyle>
            <a:lvl1pPr marL="388620" indent="-388620" algn="l" rtl="0" eaLnBrk="0" fontAlgn="base" hangingPunct="0">
              <a:spcBef>
                <a:spcPts val="820"/>
              </a:spcBef>
              <a:spcAft>
                <a:spcPct val="0"/>
              </a:spcAft>
              <a:buClr>
                <a:schemeClr val="accent1"/>
              </a:buClr>
              <a:buSzPct val="85000"/>
              <a:buFont typeface="Wingdings 2" panose="05020102010507070707" pitchFamily="18" charset="2"/>
              <a:buChar char=""/>
              <a:defRPr sz="3700" kern="1200">
                <a:solidFill>
                  <a:schemeClr val="tx1"/>
                </a:solidFill>
                <a:latin typeface="+mn-lt"/>
                <a:ea typeface="+mn-ea"/>
                <a:cs typeface="+mn-cs"/>
              </a:defRPr>
            </a:lvl1pPr>
            <a:lvl2pPr marL="779145" indent="-325120" algn="l" rtl="0" eaLnBrk="0" fontAlgn="base" hangingPunct="0">
              <a:spcBef>
                <a:spcPts val="535"/>
              </a:spcBef>
              <a:spcAft>
                <a:spcPct val="0"/>
              </a:spcAft>
              <a:buClr>
                <a:schemeClr val="accent2"/>
              </a:buClr>
              <a:buSzPct val="85000"/>
              <a:buFont typeface="Wingdings 2" panose="05020102010507070707" pitchFamily="18" charset="2"/>
              <a:buChar char=""/>
              <a:defRPr sz="3415" kern="1200">
                <a:solidFill>
                  <a:schemeClr val="tx1"/>
                </a:solidFill>
                <a:latin typeface="+mn-lt"/>
                <a:ea typeface="+mn-ea"/>
                <a:cs typeface="+mn-cs"/>
              </a:defRPr>
            </a:lvl2pPr>
            <a:lvl3pPr marL="1169670" indent="-325120" algn="l" rtl="0" eaLnBrk="0" fontAlgn="base" hangingPunct="0">
              <a:spcBef>
                <a:spcPts val="535"/>
              </a:spcBef>
              <a:spcAft>
                <a:spcPct val="0"/>
              </a:spcAft>
              <a:buClr>
                <a:srgbClr val="E6B1AB"/>
              </a:buClr>
              <a:buSzPct val="85000"/>
              <a:buFont typeface="Wingdings 2" panose="05020102010507070707" pitchFamily="18" charset="2"/>
              <a:buChar char=""/>
              <a:defRPr sz="2845" kern="1200">
                <a:solidFill>
                  <a:schemeClr val="tx1"/>
                </a:solidFill>
                <a:latin typeface="+mn-lt"/>
                <a:ea typeface="+mn-ea"/>
                <a:cs typeface="+mn-cs"/>
              </a:defRPr>
            </a:lvl3pPr>
            <a:lvl4pPr marL="1560195" indent="-325120" algn="l" rtl="0" eaLnBrk="0" fontAlgn="base" hangingPunct="0">
              <a:spcBef>
                <a:spcPts val="535"/>
              </a:spcBef>
              <a:spcAft>
                <a:spcPct val="0"/>
              </a:spcAft>
              <a:buClr>
                <a:srgbClr val="A28E6A"/>
              </a:buClr>
              <a:buSzPct val="80000"/>
              <a:buFont typeface="Wingdings 2" panose="05020102010507070707" pitchFamily="18" charset="2"/>
              <a:buChar char=""/>
              <a:defRPr sz="2845" kern="1200">
                <a:solidFill>
                  <a:schemeClr val="tx1"/>
                </a:solidFill>
                <a:latin typeface="+mn-lt"/>
                <a:ea typeface="+mn-ea"/>
                <a:cs typeface="+mn-cs"/>
              </a:defRPr>
            </a:lvl4pPr>
            <a:lvl5pPr marL="1950720" indent="-325120" algn="l" rtl="0" eaLnBrk="0" fontAlgn="base" hangingPunct="0">
              <a:spcBef>
                <a:spcPts val="535"/>
              </a:spcBef>
              <a:spcAft>
                <a:spcPct val="0"/>
              </a:spcAft>
              <a:buClr>
                <a:srgbClr val="A28E6A"/>
              </a:buClr>
              <a:buChar char="o"/>
              <a:defRPr sz="2845" kern="1200">
                <a:solidFill>
                  <a:schemeClr val="tx1"/>
                </a:solidFill>
                <a:latin typeface="+mn-lt"/>
                <a:ea typeface="+mn-ea"/>
                <a:cs typeface="+mn-cs"/>
              </a:defRPr>
            </a:lvl5pPr>
            <a:lvl6pPr marL="2340610" indent="-325120" algn="l" rtl="0" eaLnBrk="1" latinLnBrk="0" hangingPunct="1">
              <a:spcBef>
                <a:spcPts val="525"/>
              </a:spcBef>
              <a:buClr>
                <a:schemeClr val="accent3"/>
              </a:buClr>
              <a:buChar char="•"/>
              <a:defRPr kumimoji="0" sz="2560" kern="1200" baseline="0">
                <a:solidFill>
                  <a:schemeClr val="tx1"/>
                </a:solidFill>
                <a:latin typeface="+mn-lt"/>
                <a:ea typeface="+mn-ea"/>
                <a:cs typeface="+mn-cs"/>
              </a:defRPr>
            </a:lvl6pPr>
            <a:lvl7pPr marL="2731135" indent="-325120" algn="l" rtl="0" eaLnBrk="1" latinLnBrk="0" hangingPunct="1">
              <a:spcBef>
                <a:spcPts val="525"/>
              </a:spcBef>
              <a:buClr>
                <a:schemeClr val="accent2"/>
              </a:buClr>
              <a:buChar char="•"/>
              <a:defRPr kumimoji="0" sz="2560" kern="1200">
                <a:solidFill>
                  <a:schemeClr val="tx1"/>
                </a:solidFill>
                <a:latin typeface="+mn-lt"/>
                <a:ea typeface="+mn-ea"/>
                <a:cs typeface="+mn-cs"/>
              </a:defRPr>
            </a:lvl7pPr>
            <a:lvl8pPr marL="3121025" indent="-325120" algn="l" rtl="0" eaLnBrk="1" latinLnBrk="0" hangingPunct="1">
              <a:spcBef>
                <a:spcPts val="525"/>
              </a:spcBef>
              <a:buClr>
                <a:schemeClr val="accent1">
                  <a:tint val="60000"/>
                </a:schemeClr>
              </a:buClr>
              <a:buChar char="•"/>
              <a:defRPr kumimoji="0" sz="2560" kern="1200">
                <a:solidFill>
                  <a:schemeClr val="tx1"/>
                </a:solidFill>
                <a:latin typeface="+mn-lt"/>
                <a:ea typeface="+mn-ea"/>
                <a:cs typeface="+mn-cs"/>
              </a:defRPr>
            </a:lvl8pPr>
            <a:lvl9pPr marL="3511550" indent="-325120" algn="l" rtl="0" eaLnBrk="1" latinLnBrk="0" hangingPunct="1">
              <a:spcBef>
                <a:spcPts val="525"/>
              </a:spcBef>
              <a:buClr>
                <a:schemeClr val="accent2">
                  <a:tint val="60000"/>
                </a:schemeClr>
              </a:buClr>
              <a:buChar char="•"/>
              <a:defRPr kumimoji="0" sz="2560" kern="1200">
                <a:solidFill>
                  <a:schemeClr val="tx1"/>
                </a:solidFill>
                <a:latin typeface="+mn-lt"/>
                <a:ea typeface="+mn-ea"/>
                <a:cs typeface="+mn-cs"/>
              </a:defRPr>
            </a:lvl9pPr>
          </a:lstStyle>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public class Student extends Person{</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private double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 constructor for a Student</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public Student(String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initName</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super(</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initName</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 0.0;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public double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getGpa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 return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public void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setGpa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(double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newGpa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if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newGpa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&lt; 0.0 ||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newGpa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&gt; 4.0)</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 0.0;</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else</a:t>
            </a:r>
            <a:b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b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 </a:t>
            </a:r>
            <a:r>
              <a:rPr lang="en-US" sz="1055" b="1" dirty="0" err="1">
                <a:solidFill>
                  <a:prstClr val="black"/>
                </a:solidFill>
                <a:latin typeface="Courier New" panose="02070309020205020404"/>
                <a:ea typeface="Courier New" panose="02070309020205020404"/>
                <a:cs typeface="Courier New" panose="02070309020205020404"/>
                <a:sym typeface="Courier New" panose="02070309020205020404"/>
              </a:rPr>
              <a:t>newGpa</a:t>
            </a: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buClr>
                <a:srgbClr val="D34817"/>
              </a:buClr>
              <a:buSzTx/>
              <a:buFont typeface="Wingdings 2" panose="05020102010507070707" pitchFamily="18" charset="2"/>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dirty="0">
              <a:solidFill>
                <a:prstClr val="black"/>
              </a:solidFill>
              <a:latin typeface="Courier New" panose="02070309020205020404"/>
              <a:ea typeface="Courier New" panose="02070309020205020404"/>
              <a:cs typeface="Courier New" panose="02070309020205020404"/>
              <a:sym typeface="Courier New" panose="02070309020205020404"/>
            </a:endParaRPr>
          </a:p>
        </p:txBody>
      </p:sp>
      <p:grpSp>
        <p:nvGrpSpPr>
          <p:cNvPr id="7" name="Group"/>
          <p:cNvGrpSpPr/>
          <p:nvPr/>
        </p:nvGrpSpPr>
        <p:grpSpPr>
          <a:xfrm>
            <a:off x="2893563" y="1949767"/>
            <a:ext cx="3093922" cy="575542"/>
            <a:chOff x="-10427" y="0"/>
            <a:chExt cx="4125228" cy="767387"/>
          </a:xfrm>
        </p:grpSpPr>
        <p:sp>
          <p:nvSpPr>
            <p:cNvPr id="8" name="Runs Person’s constructor"/>
            <p:cNvSpPr/>
            <p:nvPr/>
          </p:nvSpPr>
          <p:spPr>
            <a:xfrm>
              <a:off x="1828800" y="0"/>
              <a:ext cx="2286001" cy="767387"/>
            </a:xfrm>
            <a:prstGeom prst="rect">
              <a:avLst/>
            </a:prstGeom>
            <a:noFill/>
            <a:ln w="12700" cap="flat">
              <a:noFill/>
              <a:miter lim="400000"/>
            </a:ln>
            <a:effectLst/>
          </p:spPr>
          <p:txBody>
            <a:bodyPr wrap="square" lIns="38100" tIns="38100" rIns="38100" bIns="38100" numCol="1" anchor="t">
              <a:spAutoFit/>
            </a:bodyPr>
            <a:lstStyle/>
            <a:p>
              <a:pPr marL="30480" marR="30480" defTabSz="685800" hangingPunct="0">
                <a:lnSpc>
                  <a:spcPct val="90000"/>
                </a:lnSpc>
                <a:spcBef>
                  <a:spcPts val="975"/>
                </a:spcBef>
                <a:buClrTx/>
                <a:defRPr sz="2400">
                  <a:solidFill>
                    <a:srgbClr val="000000"/>
                  </a:solidFill>
                  <a:uFill>
                    <a:solidFill>
                      <a:srgbClr val="000000"/>
                    </a:solidFill>
                  </a:uFill>
                  <a:latin typeface="+mn-lt"/>
                  <a:ea typeface="+mn-ea"/>
                  <a:cs typeface="+mn-cs"/>
                  <a:sym typeface="Times New Roman" panose="02020603050405020304"/>
                </a:defRPr>
              </a:pPr>
              <a:r>
                <a:rPr sz="1800" dirty="0">
                  <a:solidFill>
                    <a:srgbClr val="D81E00"/>
                  </a:solidFill>
                  <a:uFill>
                    <a:solidFill>
                      <a:srgbClr val="D81E00"/>
                    </a:solidFill>
                  </a:uFill>
                  <a:latin typeface="Perpetua" panose="02020502060401020303"/>
                  <a:ea typeface="+mn-ea"/>
                  <a:cs typeface="Helvetica"/>
                  <a:sym typeface="Times New Roman" panose="02020603050405020304"/>
                </a:rPr>
                <a:t>Runs </a:t>
              </a:r>
              <a:r>
                <a:rPr sz="1800" b="1" dirty="0">
                  <a:solidFill>
                    <a:srgbClr val="D81E00"/>
                  </a:solidFill>
                  <a:uFill>
                    <a:solidFill>
                      <a:srgbClr val="D81E00"/>
                    </a:solidFill>
                  </a:uFill>
                  <a:latin typeface="Courier New" panose="02070309020205020404"/>
                  <a:ea typeface="Courier New" panose="02070309020205020404"/>
                  <a:cs typeface="Courier New" panose="02070309020205020404"/>
                  <a:sym typeface="Courier New" panose="02070309020205020404"/>
                </a:rPr>
                <a:t>Person</a:t>
              </a:r>
              <a:r>
                <a:rPr sz="1800" dirty="0">
                  <a:solidFill>
                    <a:srgbClr val="D81E00"/>
                  </a:solidFill>
                  <a:uFill>
                    <a:solidFill>
                      <a:srgbClr val="D81E00"/>
                    </a:solidFill>
                  </a:uFill>
                  <a:latin typeface="Perpetua" panose="02020502060401020303"/>
                  <a:ea typeface="+mn-ea"/>
                  <a:cs typeface="Helvetica"/>
                  <a:sym typeface="Times New Roman" panose="02020603050405020304"/>
                </a:rPr>
                <a:t>’s constructor</a:t>
              </a:r>
              <a:endParaRPr sz="1800" dirty="0">
                <a:solidFill>
                  <a:srgbClr val="D81E00"/>
                </a:solidFill>
                <a:uFill>
                  <a:solidFill>
                    <a:srgbClr val="D81E00"/>
                  </a:solidFill>
                </a:uFill>
                <a:latin typeface="Perpetua" panose="02020502060401020303"/>
                <a:ea typeface="+mn-ea"/>
                <a:cs typeface="Helvetica"/>
                <a:sym typeface="Times New Roman" panose="02020603050405020304"/>
              </a:endParaRPr>
            </a:p>
          </p:txBody>
        </p:sp>
        <p:sp>
          <p:nvSpPr>
            <p:cNvPr id="9" name="Line"/>
            <p:cNvSpPr/>
            <p:nvPr/>
          </p:nvSpPr>
          <p:spPr>
            <a:xfrm flipH="1">
              <a:off x="-10427" y="347107"/>
              <a:ext cx="1928812" cy="6620"/>
            </a:xfrm>
            <a:prstGeom prst="line">
              <a:avLst/>
            </a:prstGeom>
            <a:noFill/>
            <a:ln w="25400" cap="flat">
              <a:solidFill>
                <a:srgbClr val="D81E00"/>
              </a:solidFill>
              <a:prstDash val="solid"/>
              <a:round/>
              <a:tailEnd type="triangle" w="med" len="med"/>
            </a:ln>
            <a:effectLst/>
          </p:spPr>
          <p:txBody>
            <a:bodyPr wrap="square" lIns="38100" tIns="38100" rIns="38100" bIns="38100" numCol="1" anchor="ctr">
              <a:noAutofit/>
            </a:bodyPr>
            <a:lstStyle/>
            <a:p>
              <a:pPr defTabSz="342900" hangingPunct="0">
                <a:buClrTx/>
                <a:defRPr sz="1200">
                  <a:solidFill>
                    <a:srgbClr val="000000"/>
                  </a:solidFill>
                  <a:latin typeface="Helvetica"/>
                  <a:ea typeface="Helvetica"/>
                  <a:cs typeface="Helvetica"/>
                  <a:sym typeface="Helvetica"/>
                </a:defRPr>
              </a:pPr>
              <a:endParaRPr sz="900">
                <a:latin typeface="Helvetica"/>
                <a:ea typeface="Helvetica"/>
                <a:cs typeface="Helvetica"/>
                <a:sym typeface="Helvetica"/>
              </a:endParaRPr>
            </a:p>
          </p:txBody>
        </p:sp>
      </p:grpSp>
      <p:grpSp>
        <p:nvGrpSpPr>
          <p:cNvPr id="10" name="Group"/>
          <p:cNvGrpSpPr/>
          <p:nvPr/>
        </p:nvGrpSpPr>
        <p:grpSpPr>
          <a:xfrm>
            <a:off x="2612278" y="912280"/>
            <a:ext cx="4171950" cy="1022240"/>
            <a:chOff x="0" y="0"/>
            <a:chExt cx="5562600" cy="1362987"/>
          </a:xfrm>
        </p:grpSpPr>
        <p:sp>
          <p:nvSpPr>
            <p:cNvPr id="11" name="Oval"/>
            <p:cNvSpPr/>
            <p:nvPr/>
          </p:nvSpPr>
          <p:spPr>
            <a:xfrm>
              <a:off x="0" y="0"/>
              <a:ext cx="2362200" cy="609600"/>
            </a:xfrm>
            <a:prstGeom prst="ellipse">
              <a:avLst/>
            </a:prstGeom>
            <a:noFill/>
            <a:ln w="25400" cap="flat">
              <a:solidFill>
                <a:srgbClr val="D81E00"/>
              </a:solidFill>
              <a:prstDash val="solid"/>
              <a:round/>
            </a:ln>
            <a:effectLst/>
          </p:spPr>
          <p:txBody>
            <a:bodyPr wrap="square" lIns="38100" tIns="38100" rIns="38100" bIns="38100" numCol="1" anchor="t">
              <a:noAutofit/>
            </a:bodyPr>
            <a:lstStyle/>
            <a:p>
              <a:pPr marL="30480" marR="30480" defTabSz="685800" hangingPunct="0">
                <a:buClrTx/>
                <a:defRPr sz="2400">
                  <a:solidFill>
                    <a:srgbClr val="000000"/>
                  </a:solidFill>
                  <a:uFill>
                    <a:solidFill>
                      <a:srgbClr val="000000"/>
                    </a:solidFill>
                  </a:uFill>
                  <a:latin typeface="+mn-lt"/>
                  <a:ea typeface="+mn-ea"/>
                  <a:cs typeface="+mn-cs"/>
                  <a:sym typeface="Times New Roman" panose="02020603050405020304"/>
                </a:defRPr>
              </a:pPr>
              <a:endParaRPr sz="1800">
                <a:uFill>
                  <a:solidFill>
                    <a:srgbClr val="000000"/>
                  </a:solidFill>
                </a:uFill>
                <a:latin typeface="Perpetua" panose="02020502060401020303"/>
                <a:ea typeface="+mn-ea"/>
                <a:cs typeface="Helvetica"/>
                <a:sym typeface="Times New Roman" panose="02020603050405020304"/>
              </a:endParaRPr>
            </a:p>
          </p:txBody>
        </p:sp>
        <p:sp>
          <p:nvSpPr>
            <p:cNvPr id="12" name="Means Student inherits all instance variables and methods from Person"/>
            <p:cNvSpPr/>
            <p:nvPr/>
          </p:nvSpPr>
          <p:spPr>
            <a:xfrm>
              <a:off x="2895600" y="152399"/>
              <a:ext cx="2667000" cy="1210588"/>
            </a:xfrm>
            <a:prstGeom prst="rect">
              <a:avLst/>
            </a:prstGeom>
            <a:noFill/>
            <a:ln w="12700" cap="flat">
              <a:noFill/>
              <a:miter lim="400000"/>
            </a:ln>
            <a:effectLst/>
          </p:spPr>
          <p:txBody>
            <a:bodyPr wrap="square" lIns="38100" tIns="38100" rIns="38100" bIns="38100" numCol="1" anchor="t">
              <a:spAutoFit/>
            </a:bodyPr>
            <a:lstStyle/>
            <a:p>
              <a:pPr marL="30480" marR="30480" defTabSz="685800" hangingPunct="0">
                <a:lnSpc>
                  <a:spcPct val="90000"/>
                </a:lnSpc>
                <a:spcBef>
                  <a:spcPts val="825"/>
                </a:spcBef>
                <a:buClrTx/>
                <a:defRPr sz="2400">
                  <a:solidFill>
                    <a:srgbClr val="000000"/>
                  </a:solidFill>
                  <a:uFill>
                    <a:solidFill>
                      <a:srgbClr val="000000"/>
                    </a:solidFill>
                  </a:uFill>
                  <a:latin typeface="+mn-lt"/>
                  <a:ea typeface="+mn-ea"/>
                  <a:cs typeface="+mn-cs"/>
                  <a:sym typeface="Times New Roman" panose="02020603050405020304"/>
                </a:defRPr>
              </a:pPr>
              <a:r>
                <a:rPr sz="1500" b="1" dirty="0">
                  <a:solidFill>
                    <a:srgbClr val="D81E00"/>
                  </a:solidFill>
                  <a:uFill>
                    <a:solidFill>
                      <a:srgbClr val="D81E00"/>
                    </a:solidFill>
                  </a:uFill>
                  <a:latin typeface="Perpetua" panose="02020502060401020303"/>
                  <a:ea typeface="+mn-ea"/>
                  <a:cs typeface="Helvetica"/>
                  <a:sym typeface="Times New Roman" panose="02020603050405020304"/>
                </a:rPr>
                <a:t>Means </a:t>
              </a:r>
              <a:r>
                <a:rPr sz="1500" b="1" dirty="0">
                  <a:solidFill>
                    <a:srgbClr val="D81E00"/>
                  </a:solidFill>
                  <a:uFill>
                    <a:solidFill>
                      <a:srgbClr val="D81E00"/>
                    </a:solidFill>
                  </a:uFill>
                  <a:latin typeface="Courier New" panose="02070309020205020404"/>
                  <a:ea typeface="Courier New" panose="02070309020205020404"/>
                  <a:cs typeface="Courier New" panose="02070309020205020404"/>
                  <a:sym typeface="Courier New" panose="02070309020205020404"/>
                </a:rPr>
                <a:t>Student</a:t>
              </a:r>
              <a:r>
                <a:rPr sz="1500" b="1" dirty="0">
                  <a:solidFill>
                    <a:srgbClr val="D81E00"/>
                  </a:solidFill>
                  <a:uFill>
                    <a:solidFill>
                      <a:srgbClr val="D81E00"/>
                    </a:solidFill>
                  </a:uFill>
                  <a:latin typeface="Perpetua" panose="02020502060401020303"/>
                  <a:ea typeface="+mn-ea"/>
                  <a:cs typeface="Helvetica"/>
                  <a:sym typeface="Times New Roman" panose="02020603050405020304"/>
                </a:rPr>
                <a:t> inherits all instance variables and methods from </a:t>
              </a:r>
              <a:r>
                <a:rPr sz="1500" b="1" dirty="0">
                  <a:solidFill>
                    <a:srgbClr val="D81E00"/>
                  </a:solidFill>
                  <a:uFill>
                    <a:solidFill>
                      <a:srgbClr val="D81E00"/>
                    </a:solidFill>
                  </a:uFill>
                  <a:latin typeface="Courier New" panose="02070309020205020404"/>
                  <a:ea typeface="Courier New" panose="02070309020205020404"/>
                  <a:cs typeface="Courier New" panose="02070309020205020404"/>
                  <a:sym typeface="Courier New" panose="02070309020205020404"/>
                </a:rPr>
                <a:t>Person</a:t>
              </a:r>
              <a:endParaRPr sz="1500" b="1" dirty="0">
                <a:solidFill>
                  <a:srgbClr val="D81E00"/>
                </a:solidFill>
                <a:uFill>
                  <a:solidFill>
                    <a:srgbClr val="D81E00"/>
                  </a:solidFill>
                </a:uFill>
                <a:latin typeface="Courier New" panose="02070309020205020404"/>
                <a:ea typeface="Courier New" panose="02070309020205020404"/>
                <a:cs typeface="Courier New" panose="02070309020205020404"/>
                <a:sym typeface="Courier New" panose="02070309020205020404"/>
              </a:endParaRPr>
            </a:p>
          </p:txBody>
        </p:sp>
        <p:sp>
          <p:nvSpPr>
            <p:cNvPr id="13" name="Line"/>
            <p:cNvSpPr/>
            <p:nvPr/>
          </p:nvSpPr>
          <p:spPr>
            <a:xfrm flipH="1" flipV="1">
              <a:off x="2362199" y="304800"/>
              <a:ext cx="676277" cy="86170"/>
            </a:xfrm>
            <a:prstGeom prst="line">
              <a:avLst/>
            </a:prstGeom>
            <a:noFill/>
            <a:ln w="25400" cap="flat">
              <a:solidFill>
                <a:srgbClr val="D81E00"/>
              </a:solidFill>
              <a:prstDash val="solid"/>
              <a:round/>
              <a:tailEnd type="triangle" w="med" len="med"/>
            </a:ln>
            <a:effectLst/>
          </p:spPr>
          <p:txBody>
            <a:bodyPr wrap="square" lIns="38100" tIns="38100" rIns="38100" bIns="38100" numCol="1" anchor="ctr">
              <a:noAutofit/>
            </a:bodyPr>
            <a:lstStyle/>
            <a:p>
              <a:pPr defTabSz="342900" hangingPunct="0">
                <a:buClrTx/>
                <a:defRPr sz="1200">
                  <a:solidFill>
                    <a:srgbClr val="000000"/>
                  </a:solidFill>
                  <a:latin typeface="Helvetica"/>
                  <a:ea typeface="Helvetica"/>
                  <a:cs typeface="Helvetica"/>
                  <a:sym typeface="Helvetica"/>
                </a:defRPr>
              </a:pPr>
              <a:endParaRPr sz="900">
                <a:latin typeface="Helvetica"/>
                <a:ea typeface="Helvetica"/>
                <a:cs typeface="Helvetica"/>
                <a:sym typeface="Helvetic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indefinite" fill="hold"/>
                                        <p:tgtEl>
                                          <p:spTgt spid="10"/>
                                        </p:tgtEl>
                                        <p:attrNameLst>
                                          <p:attrName>style.visibility</p:attrName>
                                        </p:attrNameLst>
                                      </p:cBhvr>
                                      <p:to>
                                        <p:strVal val="visible"/>
                                      </p:to>
                                    </p:set>
                                    <p:anim calcmode="lin" valueType="num">
                                      <p:cBhvr>
                                        <p:cTn id="7" dur="500" fill="hold"/>
                                        <p:tgtEl>
                                          <p:spTgt spid="10"/>
                                        </p:tgtEl>
                                        <p:attrNameLst>
                                          <p:attrName>ppt_x</p:attrName>
                                        </p:attrNameLst>
                                      </p:cBhvr>
                                      <p:tavLst>
                                        <p:tav tm="0">
                                          <p:val>
                                            <p:strVal val="0-#ppt_w/2"/>
                                          </p:val>
                                        </p:tav>
                                        <p:tav tm="100000">
                                          <p:val>
                                            <p:strVal val="#ppt_x"/>
                                          </p:val>
                                        </p:tav>
                                      </p:tavLst>
                                    </p:anim>
                                    <p:anim calcmode="lin" valueType="num">
                                      <p:cBhvr>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indefinite" fill="hold"/>
                                        <p:tgtEl>
                                          <p:spTgt spid="7"/>
                                        </p:tgtEl>
                                        <p:attrNameLst>
                                          <p:attrName>style.visibility</p:attrName>
                                        </p:attrNameLst>
                                      </p:cBhvr>
                                      <p:to>
                                        <p:strVal val="visible"/>
                                      </p:to>
                                    </p:set>
                                    <p:anim calcmode="lin" valueType="num">
                                      <p:cBhvr>
                                        <p:cTn id="13" dur="500" fill="hold"/>
                                        <p:tgtEl>
                                          <p:spTgt spid="7"/>
                                        </p:tgtEl>
                                        <p:attrNameLst>
                                          <p:attrName>ppt_x</p:attrName>
                                        </p:attrNameLst>
                                      </p:cBhvr>
                                      <p:tavLst>
                                        <p:tav tm="0">
                                          <p:val>
                                            <p:strVal val="0-#ppt_w/2"/>
                                          </p:val>
                                        </p:tav>
                                        <p:tav tm="100000">
                                          <p:val>
                                            <p:strVal val="#ppt_x"/>
                                          </p:val>
                                        </p:tav>
                                      </p:tavLst>
                                    </p:anim>
                                    <p:anim calcmode="lin" valueType="num">
                                      <p:cBhvr>
                                        <p:cTn id="14"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10" grpId="0"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490" y="219566"/>
            <a:ext cx="6040549" cy="864767"/>
          </a:xfrm>
        </p:spPr>
        <p:txBody>
          <a:bodyPr>
            <a:normAutofit fontScale="90000"/>
          </a:bodyPr>
          <a:lstStyle/>
          <a:p>
            <a:r>
              <a:rPr lang="en-US" b="1" dirty="0"/>
              <a:t>Example: Child (Sub-)Class: </a:t>
            </a:r>
            <a:r>
              <a:rPr lang="en-US" b="1" dirty="0">
                <a:sym typeface="Courier New" panose="02070309020205020404"/>
              </a:rPr>
              <a:t>Employee</a:t>
            </a:r>
            <a:endParaRPr lang="en-US" b="1" dirty="0"/>
          </a:p>
        </p:txBody>
      </p:sp>
      <p:sp>
        <p:nvSpPr>
          <p:cNvPr id="3" name="Text Placeholder 2"/>
          <p:cNvSpPr>
            <a:spLocks noGrp="1"/>
          </p:cNvSpPr>
          <p:nvPr>
            <p:ph type="body" idx="1"/>
          </p:nvPr>
        </p:nvSpPr>
        <p:spPr/>
        <p:txBody>
          <a:bodyPr>
            <a:normAutofit/>
          </a:bodyPr>
          <a:lstStyle/>
          <a:p>
            <a:pPr marL="319405" marR="69215" indent="0">
              <a:lnSpc>
                <a:spcPct val="120000"/>
              </a:lnSpc>
              <a:buNone/>
            </a:pPr>
            <a:endParaRPr lang="en-US" dirty="0"/>
          </a:p>
          <a:p>
            <a:pPr marL="621030" marR="69215" indent="-301625">
              <a:lnSpc>
                <a:spcPct val="120000"/>
              </a:lnSpc>
            </a:pPr>
            <a:endParaRPr lang="en-US" dirty="0"/>
          </a:p>
          <a:p>
            <a:endParaRPr lang="en-US" dirty="0"/>
          </a:p>
        </p:txBody>
      </p:sp>
      <p:sp>
        <p:nvSpPr>
          <p:cNvPr id="5" name="TextBox 4"/>
          <p:cNvSpPr txBox="1"/>
          <p:nvPr/>
        </p:nvSpPr>
        <p:spPr>
          <a:xfrm>
            <a:off x="890124" y="856429"/>
            <a:ext cx="5211269" cy="4287071"/>
          </a:xfrm>
          <a:prstGeom prst="rect">
            <a:avLst/>
          </a:prstGeom>
          <a:noFill/>
        </p:spPr>
        <p:txBody>
          <a:bodyPr wrap="square" rtlCol="0">
            <a:spAutoFit/>
          </a:bodyPr>
          <a:lstStyle/>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public class Employee extends Person{</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private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int</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salary;</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 constructor for an Employee</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public Employee(String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initName</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super(</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initName</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salary = 0;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public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int</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getSalary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 return salary;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public void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setSalary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int</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newSalary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if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newSalary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&lt; 0 ||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newSalary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&gt; 400000)</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salary = 0;</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else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salary = </a:t>
            </a:r>
            <a:r>
              <a:rPr lang="en-US" sz="1055" b="1" kern="1200" dirty="0" err="1">
                <a:solidFill>
                  <a:prstClr val="black"/>
                </a:solidFill>
                <a:latin typeface="Courier New" panose="02070309020205020404"/>
                <a:ea typeface="Courier New" panose="02070309020205020404"/>
                <a:cs typeface="Courier New" panose="02070309020205020404"/>
                <a:sym typeface="Courier New" panose="02070309020205020404"/>
              </a:rPr>
              <a:t>newSalary</a:t>
            </a: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defTabSz="685800" eaLnBrk="0" fontAlgn="base" hangingPunct="0">
              <a:spcBef>
                <a:spcPts val="820"/>
              </a:spcBef>
              <a:spcAft>
                <a:spcPct val="0"/>
              </a:spcAft>
              <a:buClr>
                <a:srgbClr val="D34817"/>
              </a:buClr>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1055" b="1" kern="1200" dirty="0">
              <a:solidFill>
                <a:prstClr val="black"/>
              </a:solidFill>
              <a:latin typeface="Courier New" panose="02070309020205020404"/>
              <a:ea typeface="Courier New" panose="02070309020205020404"/>
              <a:cs typeface="Courier New" panose="02070309020205020404"/>
              <a:sym typeface="Courier New" panose="02070309020205020404"/>
            </a:endParaRPr>
          </a:p>
          <a:p>
            <a:endParaRPr lang="en-US" sz="1050" dirty="0"/>
          </a:p>
          <a:p>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Example: Using all three classes</a:t>
            </a:r>
            <a:endParaRPr lang="en-US" b="1" dirty="0"/>
          </a:p>
        </p:txBody>
      </p:sp>
      <p:sp>
        <p:nvSpPr>
          <p:cNvPr id="3" name="Text Placeholder 2"/>
          <p:cNvSpPr>
            <a:spLocks noGrp="1"/>
          </p:cNvSpPr>
          <p:nvPr>
            <p:ph type="body" idx="1"/>
          </p:nvPr>
        </p:nvSpPr>
        <p:spPr/>
        <p:txBody>
          <a:bodyPr>
            <a:normAutofit/>
          </a:bodyPr>
          <a:lstStyle/>
          <a:p>
            <a:pPr marL="319405" marR="69215" indent="0">
              <a:lnSpc>
                <a:spcPct val="120000"/>
              </a:lnSpc>
              <a:buNone/>
            </a:pPr>
            <a:endParaRPr lang="en-US" dirty="0"/>
          </a:p>
          <a:p>
            <a:pPr marL="621030" marR="69215" indent="-301625">
              <a:lnSpc>
                <a:spcPct val="120000"/>
              </a:lnSpc>
            </a:pPr>
            <a:endParaRPr lang="en-US" dirty="0"/>
          </a:p>
          <a:p>
            <a:endParaRPr lang="en-US" dirty="0"/>
          </a:p>
        </p:txBody>
      </p:sp>
      <p:sp>
        <p:nvSpPr>
          <p:cNvPr id="5" name="public class PeopleTester…"/>
          <p:cNvSpPr txBox="1"/>
          <p:nvPr/>
        </p:nvSpPr>
        <p:spPr bwMode="auto">
          <a:xfrm>
            <a:off x="1919884" y="1013097"/>
            <a:ext cx="5505152" cy="35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48220" tIns="24110" rIns="48220" bIns="24110" numCol="1" anchor="t" anchorCtr="0" compatLnSpc="1"/>
          <a:lstStyle>
            <a:lvl1pPr marL="388620" indent="-388620" algn="l" rtl="0" eaLnBrk="0" fontAlgn="base" hangingPunct="0">
              <a:spcBef>
                <a:spcPts val="820"/>
              </a:spcBef>
              <a:spcAft>
                <a:spcPct val="0"/>
              </a:spcAft>
              <a:buClr>
                <a:schemeClr val="accent1"/>
              </a:buClr>
              <a:buSzPct val="85000"/>
              <a:buFont typeface="Wingdings 2" panose="05020102010507070707" pitchFamily="18" charset="2"/>
              <a:buChar char=""/>
              <a:defRPr sz="3700" kern="1200">
                <a:solidFill>
                  <a:schemeClr val="tx1"/>
                </a:solidFill>
                <a:latin typeface="+mn-lt"/>
                <a:ea typeface="+mn-ea"/>
                <a:cs typeface="+mn-cs"/>
              </a:defRPr>
            </a:lvl1pPr>
            <a:lvl2pPr marL="779145" indent="-325120" algn="l" rtl="0" eaLnBrk="0" fontAlgn="base" hangingPunct="0">
              <a:spcBef>
                <a:spcPts val="535"/>
              </a:spcBef>
              <a:spcAft>
                <a:spcPct val="0"/>
              </a:spcAft>
              <a:buClr>
                <a:schemeClr val="accent2"/>
              </a:buClr>
              <a:buSzPct val="85000"/>
              <a:buFont typeface="Wingdings 2" panose="05020102010507070707" pitchFamily="18" charset="2"/>
              <a:buChar char=""/>
              <a:defRPr sz="3415" kern="1200">
                <a:solidFill>
                  <a:schemeClr val="tx1"/>
                </a:solidFill>
                <a:latin typeface="+mn-lt"/>
                <a:ea typeface="+mn-ea"/>
                <a:cs typeface="+mn-cs"/>
              </a:defRPr>
            </a:lvl2pPr>
            <a:lvl3pPr marL="1169670" indent="-325120" algn="l" rtl="0" eaLnBrk="0" fontAlgn="base" hangingPunct="0">
              <a:spcBef>
                <a:spcPts val="535"/>
              </a:spcBef>
              <a:spcAft>
                <a:spcPct val="0"/>
              </a:spcAft>
              <a:buClr>
                <a:srgbClr val="E6B1AB"/>
              </a:buClr>
              <a:buSzPct val="85000"/>
              <a:buFont typeface="Wingdings 2" panose="05020102010507070707" pitchFamily="18" charset="2"/>
              <a:buChar char=""/>
              <a:defRPr sz="2845" kern="1200">
                <a:solidFill>
                  <a:schemeClr val="tx1"/>
                </a:solidFill>
                <a:latin typeface="+mn-lt"/>
                <a:ea typeface="+mn-ea"/>
                <a:cs typeface="+mn-cs"/>
              </a:defRPr>
            </a:lvl3pPr>
            <a:lvl4pPr marL="1560195" indent="-325120" algn="l" rtl="0" eaLnBrk="0" fontAlgn="base" hangingPunct="0">
              <a:spcBef>
                <a:spcPts val="535"/>
              </a:spcBef>
              <a:spcAft>
                <a:spcPct val="0"/>
              </a:spcAft>
              <a:buClr>
                <a:srgbClr val="A28E6A"/>
              </a:buClr>
              <a:buSzPct val="80000"/>
              <a:buFont typeface="Wingdings 2" panose="05020102010507070707" pitchFamily="18" charset="2"/>
              <a:buChar char=""/>
              <a:defRPr sz="2845" kern="1200">
                <a:solidFill>
                  <a:schemeClr val="tx1"/>
                </a:solidFill>
                <a:latin typeface="+mn-lt"/>
                <a:ea typeface="+mn-ea"/>
                <a:cs typeface="+mn-cs"/>
              </a:defRPr>
            </a:lvl4pPr>
            <a:lvl5pPr marL="1950720" indent="-325120" algn="l" rtl="0" eaLnBrk="0" fontAlgn="base" hangingPunct="0">
              <a:spcBef>
                <a:spcPts val="535"/>
              </a:spcBef>
              <a:spcAft>
                <a:spcPct val="0"/>
              </a:spcAft>
              <a:buClr>
                <a:srgbClr val="A28E6A"/>
              </a:buClr>
              <a:buChar char="o"/>
              <a:defRPr sz="2845" kern="1200">
                <a:solidFill>
                  <a:schemeClr val="tx1"/>
                </a:solidFill>
                <a:latin typeface="+mn-lt"/>
                <a:ea typeface="+mn-ea"/>
                <a:cs typeface="+mn-cs"/>
              </a:defRPr>
            </a:lvl5pPr>
            <a:lvl6pPr marL="2340610" indent="-325120" algn="l" rtl="0" eaLnBrk="1" latinLnBrk="0" hangingPunct="1">
              <a:spcBef>
                <a:spcPts val="525"/>
              </a:spcBef>
              <a:buClr>
                <a:schemeClr val="accent3"/>
              </a:buClr>
              <a:buChar char="•"/>
              <a:defRPr kumimoji="0" sz="2560" kern="1200" baseline="0">
                <a:solidFill>
                  <a:schemeClr val="tx1"/>
                </a:solidFill>
                <a:latin typeface="+mn-lt"/>
                <a:ea typeface="+mn-ea"/>
                <a:cs typeface="+mn-cs"/>
              </a:defRPr>
            </a:lvl6pPr>
            <a:lvl7pPr marL="2731135" indent="-325120" algn="l" rtl="0" eaLnBrk="1" latinLnBrk="0" hangingPunct="1">
              <a:spcBef>
                <a:spcPts val="525"/>
              </a:spcBef>
              <a:buClr>
                <a:schemeClr val="accent2"/>
              </a:buClr>
              <a:buChar char="•"/>
              <a:defRPr kumimoji="0" sz="2560" kern="1200">
                <a:solidFill>
                  <a:schemeClr val="tx1"/>
                </a:solidFill>
                <a:latin typeface="+mn-lt"/>
                <a:ea typeface="+mn-ea"/>
                <a:cs typeface="+mn-cs"/>
              </a:defRPr>
            </a:lvl7pPr>
            <a:lvl8pPr marL="3121025" indent="-325120" algn="l" rtl="0" eaLnBrk="1" latinLnBrk="0" hangingPunct="1">
              <a:spcBef>
                <a:spcPts val="525"/>
              </a:spcBef>
              <a:buClr>
                <a:schemeClr val="accent1">
                  <a:tint val="60000"/>
                </a:schemeClr>
              </a:buClr>
              <a:buChar char="•"/>
              <a:defRPr kumimoji="0" sz="2560" kern="1200">
                <a:solidFill>
                  <a:schemeClr val="tx1"/>
                </a:solidFill>
                <a:latin typeface="+mn-lt"/>
                <a:ea typeface="+mn-ea"/>
                <a:cs typeface="+mn-cs"/>
              </a:defRPr>
            </a:lvl8pPr>
            <a:lvl9pPr marL="3511550" indent="-325120" algn="l" rtl="0" eaLnBrk="1" latinLnBrk="0" hangingPunct="1">
              <a:spcBef>
                <a:spcPts val="525"/>
              </a:spcBef>
              <a:buClr>
                <a:schemeClr val="accent2">
                  <a:tint val="60000"/>
                </a:schemeClr>
              </a:buClr>
              <a:buChar char="•"/>
              <a:defRPr kumimoji="0" sz="2560" kern="1200">
                <a:solidFill>
                  <a:schemeClr val="tx1"/>
                </a:solidFill>
                <a:latin typeface="+mn-lt"/>
                <a:ea typeface="+mn-ea"/>
                <a:cs typeface="+mn-cs"/>
              </a:defRPr>
            </a:lvl9pPr>
          </a:lstStyle>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public class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PeopleTester</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public static void main(String[]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args</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			Person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moe</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 new Person("Moe Stooge");</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Student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larry</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 new Student("Larry Stooge");</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Employee curly = new Employee("Curly Stooge");</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moe.setAge</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(106);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moe.setGpa</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(2.2);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moe.setSalary</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(100000);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larry.setAge</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(101);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larry.setGpa</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(1.2);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larry.setSalary</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(50000);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curly.setAge</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(100);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curly.setGpa</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(0.5);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r>
              <a:rPr lang="en-US" sz="950" b="1" dirty="0" err="1">
                <a:solidFill>
                  <a:prstClr val="black"/>
                </a:solidFill>
                <a:latin typeface="Courier New" panose="02070309020205020404"/>
                <a:ea typeface="Courier New" panose="02070309020205020404"/>
                <a:cs typeface="Courier New" panose="02070309020205020404"/>
                <a:sym typeface="Courier New" panose="02070309020205020404"/>
              </a:rPr>
              <a:t>curly.setSalary</a:t>
            </a: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(25000); 	// LEGAL?</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  }</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Clr>
                <a:srgbClr val="D34817"/>
              </a:buClr>
              <a:buSzTx/>
              <a:buNone/>
              <a:tabLst>
                <a:tab pos="285115" algn="l"/>
                <a:tab pos="713740" algn="l"/>
              </a:tabLst>
              <a:defRPr sz="1800" b="1">
                <a:latin typeface="Courier New" panose="02070309020205020404"/>
                <a:ea typeface="Courier New" panose="02070309020205020404"/>
                <a:cs typeface="Courier New" panose="02070309020205020404"/>
                <a:sym typeface="Courier New" panose="02070309020205020404"/>
              </a:defRPr>
            </a:pPr>
            <a:r>
              <a:rPr lang="en-US" sz="950" b="1" dirty="0">
                <a:solidFill>
                  <a:prstClr val="black"/>
                </a:solidFill>
                <a:latin typeface="Courier New" panose="02070309020205020404"/>
                <a:ea typeface="Courier New" panose="02070309020205020404"/>
                <a:cs typeface="Courier New" panose="02070309020205020404"/>
                <a:sym typeface="Courier New" panose="02070309020205020404"/>
              </a:rPr>
              <a:t>}</a:t>
            </a:r>
            <a:endParaRPr lang="en-US" sz="950" b="1" dirty="0">
              <a:solidFill>
                <a:prstClr val="black"/>
              </a:solidFill>
              <a:latin typeface="Courier New" panose="02070309020205020404"/>
              <a:ea typeface="Courier New" panose="02070309020205020404"/>
              <a:cs typeface="Courier New" panose="02070309020205020404"/>
              <a:sym typeface="Courier New" panose="02070309020205020404"/>
            </a:endParaRPr>
          </a:p>
        </p:txBody>
      </p:sp>
      <p:sp>
        <p:nvSpPr>
          <p:cNvPr id="7" name="YES!"/>
          <p:cNvSpPr/>
          <p:nvPr/>
        </p:nvSpPr>
        <p:spPr>
          <a:xfrm>
            <a:off x="5616773" y="2173744"/>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007600"/>
                </a:solidFill>
                <a:uFill>
                  <a:solidFill>
                    <a:srgbClr val="007600"/>
                  </a:solidFill>
                </a:uFill>
                <a:latin typeface="+mn-lt"/>
                <a:ea typeface="+mn-ea"/>
                <a:cs typeface="+mn-cs"/>
                <a:sym typeface="Times New Roman" panose="02020603050405020304"/>
              </a:defRPr>
            </a:lvl1pPr>
          </a:lstStyle>
          <a:p>
            <a:pPr hangingPunct="0">
              <a:buClrTx/>
              <a:buFontTx/>
              <a:buNone/>
            </a:pPr>
            <a:r>
              <a:rPr sz="950" dirty="0"/>
              <a:t>YES!</a:t>
            </a:r>
            <a:endParaRPr sz="950" dirty="0"/>
          </a:p>
        </p:txBody>
      </p:sp>
      <p:sp>
        <p:nvSpPr>
          <p:cNvPr id="8" name="NO!"/>
          <p:cNvSpPr/>
          <p:nvPr/>
        </p:nvSpPr>
        <p:spPr>
          <a:xfrm>
            <a:off x="5616773" y="2401473"/>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950" dirty="0"/>
              <a:t>NO!</a:t>
            </a:r>
            <a:endParaRPr sz="950" dirty="0"/>
          </a:p>
        </p:txBody>
      </p:sp>
      <p:sp>
        <p:nvSpPr>
          <p:cNvPr id="9" name="YES!"/>
          <p:cNvSpPr/>
          <p:nvPr/>
        </p:nvSpPr>
        <p:spPr>
          <a:xfrm>
            <a:off x="5616773" y="2817667"/>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007600"/>
                </a:solidFill>
                <a:uFill>
                  <a:solidFill>
                    <a:srgbClr val="007600"/>
                  </a:solidFill>
                </a:uFill>
                <a:latin typeface="+mn-lt"/>
                <a:ea typeface="+mn-ea"/>
                <a:cs typeface="+mn-cs"/>
                <a:sym typeface="Times New Roman" panose="02020603050405020304"/>
              </a:defRPr>
            </a:lvl1pPr>
          </a:lstStyle>
          <a:p>
            <a:pPr hangingPunct="0">
              <a:buClrTx/>
              <a:buFontTx/>
              <a:buNone/>
            </a:pPr>
            <a:r>
              <a:rPr sz="950" dirty="0"/>
              <a:t>YES!</a:t>
            </a:r>
            <a:endParaRPr sz="950" dirty="0"/>
          </a:p>
        </p:txBody>
      </p:sp>
      <p:sp>
        <p:nvSpPr>
          <p:cNvPr id="10" name="YES!"/>
          <p:cNvSpPr/>
          <p:nvPr/>
        </p:nvSpPr>
        <p:spPr>
          <a:xfrm>
            <a:off x="5616773" y="3074481"/>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007600"/>
                </a:solidFill>
                <a:uFill>
                  <a:solidFill>
                    <a:srgbClr val="007600"/>
                  </a:solidFill>
                </a:uFill>
                <a:latin typeface="+mn-lt"/>
                <a:ea typeface="+mn-ea"/>
                <a:cs typeface="+mn-cs"/>
                <a:sym typeface="Times New Roman" panose="02020603050405020304"/>
              </a:defRPr>
            </a:lvl1pPr>
          </a:lstStyle>
          <a:p>
            <a:pPr hangingPunct="0">
              <a:buClrTx/>
              <a:buFontTx/>
              <a:buNone/>
            </a:pPr>
            <a:r>
              <a:rPr sz="950" dirty="0"/>
              <a:t>YES!</a:t>
            </a:r>
            <a:endParaRPr sz="950" dirty="0"/>
          </a:p>
        </p:txBody>
      </p:sp>
      <p:sp>
        <p:nvSpPr>
          <p:cNvPr id="11" name="NO!"/>
          <p:cNvSpPr/>
          <p:nvPr/>
        </p:nvSpPr>
        <p:spPr>
          <a:xfrm>
            <a:off x="5616773" y="2610448"/>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950" dirty="0"/>
              <a:t>NO!</a:t>
            </a:r>
            <a:endParaRPr sz="950" dirty="0"/>
          </a:p>
        </p:txBody>
      </p:sp>
      <p:sp>
        <p:nvSpPr>
          <p:cNvPr id="12" name="NO!"/>
          <p:cNvSpPr/>
          <p:nvPr/>
        </p:nvSpPr>
        <p:spPr>
          <a:xfrm>
            <a:off x="5616773" y="3302210"/>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950" dirty="0"/>
              <a:t>NO!</a:t>
            </a:r>
            <a:endParaRPr sz="950" dirty="0"/>
          </a:p>
        </p:txBody>
      </p:sp>
      <p:sp>
        <p:nvSpPr>
          <p:cNvPr id="13" name="NO!"/>
          <p:cNvSpPr/>
          <p:nvPr/>
        </p:nvSpPr>
        <p:spPr>
          <a:xfrm>
            <a:off x="5616773" y="3779213"/>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950" dirty="0"/>
              <a:t>NO!</a:t>
            </a:r>
            <a:endParaRPr sz="950" dirty="0"/>
          </a:p>
        </p:txBody>
      </p:sp>
      <p:sp>
        <p:nvSpPr>
          <p:cNvPr id="14" name="YES!"/>
          <p:cNvSpPr/>
          <p:nvPr/>
        </p:nvSpPr>
        <p:spPr>
          <a:xfrm>
            <a:off x="5616773" y="3559024"/>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007600"/>
                </a:solidFill>
                <a:uFill>
                  <a:solidFill>
                    <a:srgbClr val="007600"/>
                  </a:solidFill>
                </a:uFill>
                <a:latin typeface="+mn-lt"/>
                <a:ea typeface="+mn-ea"/>
                <a:cs typeface="+mn-cs"/>
                <a:sym typeface="Times New Roman" panose="02020603050405020304"/>
              </a:defRPr>
            </a:lvl1pPr>
          </a:lstStyle>
          <a:p>
            <a:pPr hangingPunct="0">
              <a:buClrTx/>
              <a:buFontTx/>
              <a:buNone/>
            </a:pPr>
            <a:r>
              <a:rPr sz="950" dirty="0"/>
              <a:t>YES!</a:t>
            </a:r>
            <a:endParaRPr sz="950" dirty="0"/>
          </a:p>
        </p:txBody>
      </p:sp>
      <p:sp>
        <p:nvSpPr>
          <p:cNvPr id="15" name="YES!"/>
          <p:cNvSpPr/>
          <p:nvPr/>
        </p:nvSpPr>
        <p:spPr>
          <a:xfrm>
            <a:off x="5616773" y="3985261"/>
            <a:ext cx="685800" cy="208390"/>
          </a:xfrm>
          <a:prstGeom prst="rect">
            <a:avLst/>
          </a:prstGeom>
          <a:ln w="12700">
            <a:miter lim="400000"/>
          </a:ln>
        </p:spPr>
        <p:txBody>
          <a:bodyPr lIns="38100" tIns="38100" rIns="38100" bIns="38100">
            <a:spAutoFit/>
          </a:bodyPr>
          <a:lstStyle>
            <a:lvl1pPr marL="40640" marR="40640" defTabSz="914400">
              <a:lnSpc>
                <a:spcPct val="90000"/>
              </a:lnSpc>
              <a:spcBef>
                <a:spcPts val="1300"/>
              </a:spcBef>
              <a:defRPr sz="2400" b="1">
                <a:solidFill>
                  <a:srgbClr val="007600"/>
                </a:solidFill>
                <a:uFill>
                  <a:solidFill>
                    <a:srgbClr val="007600"/>
                  </a:solidFill>
                </a:uFill>
                <a:latin typeface="+mn-lt"/>
                <a:ea typeface="+mn-ea"/>
                <a:cs typeface="+mn-cs"/>
                <a:sym typeface="Times New Roman" panose="02020603050405020304"/>
              </a:defRPr>
            </a:lvl1pPr>
          </a:lstStyle>
          <a:p>
            <a:pPr hangingPunct="0">
              <a:buClrTx/>
              <a:buFontTx/>
              <a:buNone/>
            </a:pPr>
            <a:r>
              <a:rPr sz="950" dirty="0"/>
              <a:t>YES!</a:t>
            </a:r>
            <a:endParaRPr sz="9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indefinite" fill="hold"/>
                                        <p:tgtEl>
                                          <p:spTgt spid="7"/>
                                        </p:tgtEl>
                                        <p:attrNameLst>
                                          <p:attrName>style.visibility</p:attrName>
                                        </p:attrNameLst>
                                      </p:cBhvr>
                                      <p:to>
                                        <p:strVal val="visible"/>
                                      </p:to>
                                    </p:set>
                                    <p:anim calcmode="lin" valueType="num">
                                      <p:cBhvr>
                                        <p:cTn id="7" dur="500" fill="hold"/>
                                        <p:tgtEl>
                                          <p:spTgt spid="7"/>
                                        </p:tgtEl>
                                        <p:attrNameLst>
                                          <p:attrName>ppt_x</p:attrName>
                                        </p:attrNameLst>
                                      </p:cBhvr>
                                      <p:tavLst>
                                        <p:tav tm="0">
                                          <p:val>
                                            <p:strVal val="0-#ppt_w/2"/>
                                          </p:val>
                                        </p:tav>
                                        <p:tav tm="100000">
                                          <p:val>
                                            <p:strVal val="#ppt_x"/>
                                          </p:val>
                                        </p:tav>
                                      </p:tavLst>
                                    </p:anim>
                                    <p:anim calcmode="lin" valueType="num">
                                      <p:cBhvr>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indefinite" fill="hold"/>
                                        <p:tgtEl>
                                          <p:spTgt spid="8"/>
                                        </p:tgtEl>
                                        <p:attrNameLst>
                                          <p:attrName>style.visibility</p:attrName>
                                        </p:attrNameLst>
                                      </p:cBhvr>
                                      <p:to>
                                        <p:strVal val="visible"/>
                                      </p:to>
                                    </p:set>
                                    <p:anim calcmode="lin" valueType="num">
                                      <p:cBhvr>
                                        <p:cTn id="13" dur="500" fill="hold"/>
                                        <p:tgtEl>
                                          <p:spTgt spid="8"/>
                                        </p:tgtEl>
                                        <p:attrNameLst>
                                          <p:attrName>ppt_x</p:attrName>
                                        </p:attrNameLst>
                                      </p:cBhvr>
                                      <p:tavLst>
                                        <p:tav tm="0">
                                          <p:val>
                                            <p:strVal val="0-#ppt_w/2"/>
                                          </p:val>
                                        </p:tav>
                                        <p:tav tm="100000">
                                          <p:val>
                                            <p:strVal val="#ppt_x"/>
                                          </p:val>
                                        </p:tav>
                                      </p:tavLst>
                                    </p:anim>
                                    <p:anim calcmode="lin" valueType="num">
                                      <p:cBhvr>
                                        <p:cTn id="14"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indefinite" fill="hold"/>
                                        <p:tgtEl>
                                          <p:spTgt spid="11"/>
                                        </p:tgtEl>
                                        <p:attrNameLst>
                                          <p:attrName>style.visibility</p:attrName>
                                        </p:attrNameLst>
                                      </p:cBhvr>
                                      <p:to>
                                        <p:strVal val="visible"/>
                                      </p:to>
                                    </p:set>
                                    <p:anim calcmode="lin" valueType="num">
                                      <p:cBhvr>
                                        <p:cTn id="19" dur="500" fill="hold"/>
                                        <p:tgtEl>
                                          <p:spTgt spid="11"/>
                                        </p:tgtEl>
                                        <p:attrNameLst>
                                          <p:attrName>ppt_x</p:attrName>
                                        </p:attrNameLst>
                                      </p:cBhvr>
                                      <p:tavLst>
                                        <p:tav tm="0">
                                          <p:val>
                                            <p:strVal val="0-#ppt_w/2"/>
                                          </p:val>
                                        </p:tav>
                                        <p:tav tm="100000">
                                          <p:val>
                                            <p:strVal val="#ppt_x"/>
                                          </p:val>
                                        </p:tav>
                                      </p:tavLst>
                                    </p:anim>
                                    <p:anim calcmode="lin" valueType="num">
                                      <p:cBhvr>
                                        <p:cTn id="20"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indefinite" fill="hold"/>
                                        <p:tgtEl>
                                          <p:spTgt spid="9"/>
                                        </p:tgtEl>
                                        <p:attrNameLst>
                                          <p:attrName>style.visibility</p:attrName>
                                        </p:attrNameLst>
                                      </p:cBhvr>
                                      <p:to>
                                        <p:strVal val="visible"/>
                                      </p:to>
                                    </p:set>
                                    <p:anim calcmode="lin" valueType="num">
                                      <p:cBhvr>
                                        <p:cTn id="25" dur="500" fill="hold"/>
                                        <p:tgtEl>
                                          <p:spTgt spid="9"/>
                                        </p:tgtEl>
                                        <p:attrNameLst>
                                          <p:attrName>ppt_x</p:attrName>
                                        </p:attrNameLst>
                                      </p:cBhvr>
                                      <p:tavLst>
                                        <p:tav tm="0">
                                          <p:val>
                                            <p:strVal val="0-#ppt_w/2"/>
                                          </p:val>
                                        </p:tav>
                                        <p:tav tm="100000">
                                          <p:val>
                                            <p:strVal val="#ppt_x"/>
                                          </p:val>
                                        </p:tav>
                                      </p:tavLst>
                                    </p:anim>
                                    <p:anim calcmode="lin" valueType="num">
                                      <p:cBhvr>
                                        <p:cTn id="26" dur="500" fill="hold"/>
                                        <p:tgtEl>
                                          <p:spTgt spid="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indefinite" fill="hold"/>
                                        <p:tgtEl>
                                          <p:spTgt spid="10"/>
                                        </p:tgtEl>
                                        <p:attrNameLst>
                                          <p:attrName>style.visibility</p:attrName>
                                        </p:attrNameLst>
                                      </p:cBhvr>
                                      <p:to>
                                        <p:strVal val="visible"/>
                                      </p:to>
                                    </p:set>
                                    <p:anim calcmode="lin" valueType="num">
                                      <p:cBhvr>
                                        <p:cTn id="31" dur="500" fill="hold"/>
                                        <p:tgtEl>
                                          <p:spTgt spid="10"/>
                                        </p:tgtEl>
                                        <p:attrNameLst>
                                          <p:attrName>ppt_x</p:attrName>
                                        </p:attrNameLst>
                                      </p:cBhvr>
                                      <p:tavLst>
                                        <p:tav tm="0">
                                          <p:val>
                                            <p:strVal val="0-#ppt_w/2"/>
                                          </p:val>
                                        </p:tav>
                                        <p:tav tm="100000">
                                          <p:val>
                                            <p:strVal val="#ppt_x"/>
                                          </p:val>
                                        </p:tav>
                                      </p:tavLst>
                                    </p:anim>
                                    <p:anim calcmode="lin" valueType="num">
                                      <p:cBhvr>
                                        <p:cTn id="3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indefinite" fill="hold"/>
                                        <p:tgtEl>
                                          <p:spTgt spid="12"/>
                                        </p:tgtEl>
                                        <p:attrNameLst>
                                          <p:attrName>style.visibility</p:attrName>
                                        </p:attrNameLst>
                                      </p:cBhvr>
                                      <p:to>
                                        <p:strVal val="visible"/>
                                      </p:to>
                                    </p:set>
                                    <p:anim calcmode="lin" valueType="num">
                                      <p:cBhvr>
                                        <p:cTn id="37" dur="500" fill="hold"/>
                                        <p:tgtEl>
                                          <p:spTgt spid="12"/>
                                        </p:tgtEl>
                                        <p:attrNameLst>
                                          <p:attrName>ppt_x</p:attrName>
                                        </p:attrNameLst>
                                      </p:cBhvr>
                                      <p:tavLst>
                                        <p:tav tm="0">
                                          <p:val>
                                            <p:strVal val="0-#ppt_w/2"/>
                                          </p:val>
                                        </p:tav>
                                        <p:tav tm="100000">
                                          <p:val>
                                            <p:strVal val="#ppt_x"/>
                                          </p:val>
                                        </p:tav>
                                      </p:tavLst>
                                    </p:anim>
                                    <p:anim calcmode="lin" valueType="num">
                                      <p:cBhvr>
                                        <p:cTn id="38" dur="500" fill="hold"/>
                                        <p:tgtEl>
                                          <p:spTgt spid="1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p:cTn id="42" dur="indefinite" fill="hold"/>
                                        <p:tgtEl>
                                          <p:spTgt spid="14"/>
                                        </p:tgtEl>
                                        <p:attrNameLst>
                                          <p:attrName>style.visibility</p:attrName>
                                        </p:attrNameLst>
                                      </p:cBhvr>
                                      <p:to>
                                        <p:strVal val="visible"/>
                                      </p:to>
                                    </p:set>
                                    <p:anim calcmode="lin" valueType="num">
                                      <p:cBhvr>
                                        <p:cTn id="43" dur="500" fill="hold"/>
                                        <p:tgtEl>
                                          <p:spTgt spid="14"/>
                                        </p:tgtEl>
                                        <p:attrNameLst>
                                          <p:attrName>ppt_x</p:attrName>
                                        </p:attrNameLst>
                                      </p:cBhvr>
                                      <p:tavLst>
                                        <p:tav tm="0">
                                          <p:val>
                                            <p:strVal val="0-#ppt_w/2"/>
                                          </p:val>
                                        </p:tav>
                                        <p:tav tm="100000">
                                          <p:val>
                                            <p:strVal val="#ppt_x"/>
                                          </p:val>
                                        </p:tav>
                                      </p:tavLst>
                                    </p:anim>
                                    <p:anim calcmode="lin" valueType="num">
                                      <p:cBhvr>
                                        <p:cTn id="44"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indefinite" fill="hold"/>
                                        <p:tgtEl>
                                          <p:spTgt spid="13"/>
                                        </p:tgtEl>
                                        <p:attrNameLst>
                                          <p:attrName>style.visibility</p:attrName>
                                        </p:attrNameLst>
                                      </p:cBhvr>
                                      <p:to>
                                        <p:strVal val="visible"/>
                                      </p:to>
                                    </p:set>
                                    <p:anim calcmode="lin" valueType="num">
                                      <p:cBhvr>
                                        <p:cTn id="49" dur="500" fill="hold"/>
                                        <p:tgtEl>
                                          <p:spTgt spid="13"/>
                                        </p:tgtEl>
                                        <p:attrNameLst>
                                          <p:attrName>ppt_x</p:attrName>
                                        </p:attrNameLst>
                                      </p:cBhvr>
                                      <p:tavLst>
                                        <p:tav tm="0">
                                          <p:val>
                                            <p:strVal val="0-#ppt_w/2"/>
                                          </p:val>
                                        </p:tav>
                                        <p:tav tm="100000">
                                          <p:val>
                                            <p:strVal val="#ppt_x"/>
                                          </p:val>
                                        </p:tav>
                                      </p:tavLst>
                                    </p:anim>
                                    <p:anim calcmode="lin" valueType="num">
                                      <p:cBhvr>
                                        <p:cTn id="5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p:cTn id="54" dur="indefinite" fill="hold"/>
                                        <p:tgtEl>
                                          <p:spTgt spid="15"/>
                                        </p:tgtEl>
                                        <p:attrNameLst>
                                          <p:attrName>style.visibility</p:attrName>
                                        </p:attrNameLst>
                                      </p:cBhvr>
                                      <p:to>
                                        <p:strVal val="visible"/>
                                      </p:to>
                                    </p:set>
                                    <p:anim calcmode="lin" valueType="num">
                                      <p:cBhvr>
                                        <p:cTn id="55" dur="500" fill="hold"/>
                                        <p:tgtEl>
                                          <p:spTgt spid="15"/>
                                        </p:tgtEl>
                                        <p:attrNameLst>
                                          <p:attrName>ppt_x</p:attrName>
                                        </p:attrNameLst>
                                      </p:cBhvr>
                                      <p:tavLst>
                                        <p:tav tm="0">
                                          <p:val>
                                            <p:strVal val="0-#ppt_w/2"/>
                                          </p:val>
                                        </p:tav>
                                        <p:tav tm="100000">
                                          <p:val>
                                            <p:strVal val="#ppt_x"/>
                                          </p:val>
                                        </p:tav>
                                      </p:tavLst>
                                    </p:anim>
                                    <p:anim calcmode="lin" valueType="num">
                                      <p:cBhvr>
                                        <p:cTn id="56" dur="500" fill="hold"/>
                                        <p:tgtEl>
                                          <p:spTgt spid="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dvAuto="0"/>
      <p:bldP spid="8" grpId="0" animBg="1" advAuto="0"/>
      <p:bldP spid="9" grpId="0" animBg="1" advAuto="0"/>
      <p:bldP spid="10" grpId="0" animBg="1" advAuto="0"/>
      <p:bldP spid="11" grpId="0" animBg="1" advAuto="0"/>
      <p:bldP spid="12" grpId="0" animBg="1" advAuto="0"/>
      <p:bldP spid="13" grpId="0" animBg="1" advAuto="0"/>
      <p:bldP spid="14" grpId="0" animBg="1" advAuto="0"/>
      <p:bldP spid="15" grpId="0"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Inheritance:</a:t>
            </a:r>
            <a:r>
              <a:rPr lang="en-US" dirty="0">
                <a:solidFill>
                  <a:schemeClr val="tx2"/>
                </a:solidFill>
              </a:rPr>
              <a:t> </a:t>
            </a:r>
            <a:r>
              <a:rPr lang="en-US" b="1" dirty="0">
                <a:sym typeface="Courier New" panose="02070309020205020404"/>
              </a:rPr>
              <a:t>public</a:t>
            </a:r>
            <a:r>
              <a:rPr lang="en-US" dirty="0">
                <a:solidFill>
                  <a:schemeClr val="tx2"/>
                </a:solidFill>
              </a:rPr>
              <a:t> </a:t>
            </a:r>
            <a:r>
              <a:rPr lang="en-US" b="1" dirty="0"/>
              <a:t>vs. </a:t>
            </a:r>
            <a:r>
              <a:rPr lang="en-US" b="1" dirty="0">
                <a:sym typeface="Courier New" panose="02070309020205020404"/>
              </a:rPr>
              <a:t>private</a:t>
            </a:r>
            <a:endParaRPr lang="en-US" b="1" dirty="0"/>
          </a:p>
        </p:txBody>
      </p:sp>
      <p:sp>
        <p:nvSpPr>
          <p:cNvPr id="3" name="Text Placeholder 2"/>
          <p:cNvSpPr>
            <a:spLocks noGrp="1"/>
          </p:cNvSpPr>
          <p:nvPr>
            <p:ph type="body" idx="1"/>
          </p:nvPr>
        </p:nvSpPr>
        <p:spPr/>
        <p:txBody>
          <a:bodyPr>
            <a:normAutofit lnSpcReduction="10000"/>
          </a:bodyPr>
          <a:lstStyle/>
          <a:p>
            <a:pPr>
              <a:lnSpc>
                <a:spcPct val="90000"/>
              </a:lnSpc>
            </a:pPr>
            <a:r>
              <a:rPr lang="en-US" dirty="0"/>
              <a:t>Inherited methods are accessible by the derived class if they are </a:t>
            </a:r>
            <a:r>
              <a:rPr lang="en-US" b="1" dirty="0">
                <a:solidFill>
                  <a:schemeClr val="tx1"/>
                </a:solidFill>
                <a:latin typeface="Courier New" panose="02070309020205020404"/>
                <a:ea typeface="Courier New" panose="02070309020205020404"/>
                <a:cs typeface="Courier New" panose="02070309020205020404"/>
                <a:sym typeface="Courier New" panose="02070309020205020404"/>
              </a:rPr>
              <a:t>public</a:t>
            </a:r>
            <a:r>
              <a:rPr lang="en-US" dirty="0"/>
              <a:t> or </a:t>
            </a:r>
            <a:r>
              <a:rPr lang="en-US" b="1" dirty="0">
                <a:solidFill>
                  <a:schemeClr val="tx1"/>
                </a:solidFill>
                <a:latin typeface="Courier New" panose="02070309020205020404"/>
                <a:ea typeface="Courier New" panose="02070309020205020404"/>
                <a:cs typeface="Courier New" panose="02070309020205020404"/>
                <a:sym typeface="Courier New" panose="02070309020205020404"/>
              </a:rPr>
              <a:t>protected</a:t>
            </a:r>
            <a:r>
              <a:rPr lang="en-US" dirty="0"/>
              <a:t>.</a:t>
            </a:r>
            <a:endParaRPr lang="en-US" sz="1800" b="1" dirty="0">
              <a:solidFill>
                <a:schemeClr val="tx1"/>
              </a:solidFill>
              <a:uFill>
                <a:solidFill>
                  <a:srgbClr val="434ED6"/>
                </a:solidFill>
              </a:uFill>
            </a:endParaRPr>
          </a:p>
          <a:p>
            <a:pPr>
              <a:lnSpc>
                <a:spcPct val="90000"/>
              </a:lnSpc>
            </a:pPr>
            <a:r>
              <a:rPr lang="en-US" dirty="0"/>
              <a:t>Inherited instance variables are </a:t>
            </a:r>
            <a:r>
              <a:rPr lang="en-US" b="1" dirty="0">
                <a:solidFill>
                  <a:schemeClr val="tx1"/>
                </a:solidFill>
              </a:rPr>
              <a:t>not directly </a:t>
            </a:r>
            <a:r>
              <a:rPr lang="en-US" dirty="0"/>
              <a:t>accessible by the derived class if they are </a:t>
            </a:r>
            <a:r>
              <a:rPr lang="en-US" dirty="0">
                <a:sym typeface="Courier New" panose="02070309020205020404"/>
              </a:rPr>
              <a:t>private</a:t>
            </a:r>
            <a:r>
              <a:rPr lang="en-US" dirty="0"/>
              <a:t>.</a:t>
            </a:r>
            <a:endParaRPr lang="en-US" dirty="0"/>
          </a:p>
          <a:p>
            <a:pPr lvl="1">
              <a:lnSpc>
                <a:spcPct val="90000"/>
              </a:lnSpc>
            </a:pPr>
            <a:r>
              <a:rPr lang="en-US" sz="1800" dirty="0"/>
              <a:t>Use </a:t>
            </a:r>
            <a:r>
              <a:rPr lang="en-US" sz="1800" dirty="0">
                <a:sym typeface="Courier New" panose="02070309020205020404"/>
              </a:rPr>
              <a:t>public</a:t>
            </a:r>
            <a:r>
              <a:rPr lang="en-US" sz="1800" dirty="0"/>
              <a:t> </a:t>
            </a:r>
            <a:r>
              <a:rPr lang="en-US" sz="1800" dirty="0" err="1"/>
              <a:t>accessor</a:t>
            </a:r>
            <a:r>
              <a:rPr lang="en-US" sz="1800" dirty="0"/>
              <a:t> / </a:t>
            </a:r>
            <a:r>
              <a:rPr lang="en-US" sz="1800" dirty="0" err="1"/>
              <a:t>mutator</a:t>
            </a:r>
            <a:r>
              <a:rPr lang="en-US" sz="1800" dirty="0"/>
              <a:t> methods of parent class instead.</a:t>
            </a:r>
            <a:endParaRPr lang="en-US" sz="1800" dirty="0"/>
          </a:p>
          <a:p>
            <a:pPr lvl="1">
              <a:lnSpc>
                <a:spcPct val="90000"/>
              </a:lnSpc>
            </a:pPr>
            <a:r>
              <a:rPr lang="en-US" sz="1800" dirty="0"/>
              <a:t>For example, if we added a clear method inside </a:t>
            </a:r>
            <a:r>
              <a:rPr lang="en-US" sz="1800" dirty="0">
                <a:sym typeface="Courier New" panose="02070309020205020404"/>
              </a:rPr>
              <a:t>Student</a:t>
            </a:r>
            <a:r>
              <a:rPr lang="en-US" sz="1800" dirty="0"/>
              <a:t>:</a:t>
            </a:r>
            <a:endParaRPr lang="en-US" sz="1800" dirty="0"/>
          </a:p>
          <a:p>
            <a:pPr lvl="1">
              <a:lnSpc>
                <a:spcPct val="90000"/>
              </a:lnSpc>
            </a:pPr>
            <a:endParaRPr lang="en-US" sz="1800" dirty="0"/>
          </a:p>
          <a:p>
            <a:pPr lvl="1">
              <a:lnSpc>
                <a:spcPct val="90000"/>
              </a:lnSpc>
            </a:pPr>
            <a:endParaRPr lang="en-US" sz="1800" dirty="0"/>
          </a:p>
          <a:p>
            <a:pPr lvl="1">
              <a:lnSpc>
                <a:spcPct val="90000"/>
              </a:lnSpc>
            </a:pPr>
            <a:endParaRPr lang="en-US" sz="1800" dirty="0"/>
          </a:p>
          <a:p>
            <a:pPr lvl="1">
              <a:lnSpc>
                <a:spcPct val="90000"/>
              </a:lnSpc>
            </a:pPr>
            <a:endParaRPr lang="en-US" sz="1800" dirty="0"/>
          </a:p>
          <a:p>
            <a:pPr>
              <a:lnSpc>
                <a:spcPct val="90000"/>
              </a:lnSpc>
            </a:pPr>
            <a:endParaRPr lang="en-US" sz="22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a:lnSpc>
                <a:spcPct val="90000"/>
              </a:lnSpc>
            </a:pPr>
            <a:endParaRPr lang="en-US" sz="22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a:lnSpc>
                <a:spcPct val="90000"/>
              </a:lnSpc>
            </a:pPr>
            <a:r>
              <a:rPr lang="en-US" sz="22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private</a:t>
            </a:r>
            <a:r>
              <a:rPr lang="en-US" sz="2200" dirty="0">
                <a:uFill>
                  <a:solidFill>
                    <a:srgbClr val="000000"/>
                  </a:solidFill>
                </a:uFill>
                <a:latin typeface="Perpetua" panose="02020502060401020303"/>
                <a:cs typeface="Helvetica"/>
                <a:sym typeface="Times New Roman" panose="02020603050405020304"/>
              </a:rPr>
              <a:t> </a:t>
            </a:r>
            <a:r>
              <a:rPr lang="en-US" dirty="0">
                <a:sym typeface="Times New Roman" panose="02020603050405020304"/>
              </a:rPr>
              <a:t>methods of a base class are not accessible by the derived class. </a:t>
            </a:r>
            <a:endParaRPr lang="en-US" dirty="0">
              <a:sym typeface="Times New Roman" panose="02020603050405020304"/>
            </a:endParaRPr>
          </a:p>
          <a:p>
            <a:pPr lvl="1">
              <a:lnSpc>
                <a:spcPct val="90000"/>
              </a:lnSpc>
            </a:pPr>
            <a:endParaRPr lang="en-US" sz="1800" dirty="0"/>
          </a:p>
          <a:p>
            <a:pPr marL="133985" indent="0">
              <a:lnSpc>
                <a:spcPct val="90000"/>
              </a:lnSpc>
              <a:buNone/>
            </a:pPr>
            <a:endParaRPr lang="en-US" dirty="0"/>
          </a:p>
          <a:p>
            <a:pPr marL="319405" marR="69215" indent="0">
              <a:lnSpc>
                <a:spcPct val="120000"/>
              </a:lnSpc>
              <a:buNone/>
            </a:pPr>
            <a:endParaRPr lang="en-US" dirty="0"/>
          </a:p>
          <a:p>
            <a:pPr marL="621030" marR="69215" indent="-301625">
              <a:lnSpc>
                <a:spcPct val="120000"/>
              </a:lnSpc>
            </a:pPr>
            <a:endParaRPr lang="en-US" dirty="0"/>
          </a:p>
          <a:p>
            <a:endParaRPr lang="en-US" dirty="0"/>
          </a:p>
        </p:txBody>
      </p:sp>
      <p:sp>
        <p:nvSpPr>
          <p:cNvPr id="4" name="public void clear()…"/>
          <p:cNvSpPr/>
          <p:nvPr/>
        </p:nvSpPr>
        <p:spPr>
          <a:xfrm>
            <a:off x="1314450" y="2628901"/>
            <a:ext cx="3257550" cy="1338828"/>
          </a:xfrm>
          <a:prstGeom prst="rect">
            <a:avLst/>
          </a:prstGeom>
          <a:ln w="12700">
            <a:solidFill>
              <a:srgbClr val="000000"/>
            </a:solidFill>
            <a:miter lim="400000"/>
          </a:ln>
        </p:spPr>
        <p:txBody>
          <a:bodyPr lIns="38100" tIns="38100" rIns="38100" bIns="38100">
            <a:spAutoFit/>
          </a:bodyPr>
          <a:lstStyle/>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public void clear()</a:t>
            </a:r>
            <a:endPar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	age = 0; </a:t>
            </a:r>
            <a:endPar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	</a:t>
            </a:r>
            <a:r>
              <a:rPr sz="1800" b="1" dirty="0" err="1">
                <a:uFill>
                  <a:solidFill>
                    <a:srgbClr val="000000"/>
                  </a:solidFill>
                </a:uFill>
                <a:latin typeface="Courier New" panose="02070309020205020404"/>
                <a:ea typeface="Courier New" panose="02070309020205020404"/>
                <a:cs typeface="Courier New" panose="02070309020205020404"/>
                <a:sym typeface="Courier New" panose="02070309020205020404"/>
              </a:rPr>
              <a:t>gpa</a:t>
            </a:r>
            <a:r>
              <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 = 0.0;</a:t>
            </a:r>
            <a:endPar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rPr>
              <a:t>}</a:t>
            </a:r>
            <a:endParaRPr sz="1800" b="1" dirty="0">
              <a:uFill>
                <a:solidFill>
                  <a:srgbClr val="000000"/>
                </a:solidFill>
              </a:uFill>
              <a:latin typeface="Courier New" panose="02070309020205020404"/>
              <a:ea typeface="Courier New" panose="02070309020205020404"/>
              <a:cs typeface="Courier New" panose="02070309020205020404"/>
              <a:sym typeface="Courier New" panose="02070309020205020404"/>
            </a:endParaRPr>
          </a:p>
        </p:txBody>
      </p:sp>
      <p:sp>
        <p:nvSpPr>
          <p:cNvPr id="5" name="public void clear()…"/>
          <p:cNvSpPr/>
          <p:nvPr/>
        </p:nvSpPr>
        <p:spPr>
          <a:xfrm>
            <a:off x="4572000" y="2628901"/>
            <a:ext cx="3257550" cy="1338828"/>
          </a:xfrm>
          <a:prstGeom prst="rect">
            <a:avLst/>
          </a:prstGeom>
          <a:ln w="12700">
            <a:solidFill>
              <a:srgbClr val="000000"/>
            </a:solidFill>
            <a:miter lim="400000"/>
          </a:ln>
        </p:spPr>
        <p:txBody>
          <a:bodyPr lIns="38100" tIns="38100" rIns="38100" bIns="38100">
            <a:spAutoFit/>
          </a:bodyPr>
          <a:lstStyle/>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a:uFill>
                  <a:solidFill>
                    <a:srgbClr val="000000"/>
                  </a:solidFill>
                </a:uFill>
                <a:latin typeface="Courier New" panose="02070309020205020404"/>
                <a:ea typeface="Courier New" panose="02070309020205020404"/>
                <a:cs typeface="Courier New" panose="02070309020205020404"/>
                <a:sym typeface="Courier New" panose="02070309020205020404"/>
              </a:rPr>
              <a:t>public void clear()</a:t>
            </a:r>
            <a:endParaRPr sz="1800" b="1">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a:uFill>
                  <a:solidFill>
                    <a:srgbClr val="000000"/>
                  </a:solidFill>
                </a:uFill>
                <a:latin typeface="Courier New" panose="02070309020205020404"/>
                <a:ea typeface="Courier New" panose="02070309020205020404"/>
                <a:cs typeface="Courier New" panose="02070309020205020404"/>
                <a:sym typeface="Courier New" panose="02070309020205020404"/>
              </a:rPr>
              <a:t>{	setAge(0); </a:t>
            </a:r>
            <a:endParaRPr sz="1800" b="1">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a:uFill>
                  <a:solidFill>
                    <a:srgbClr val="000000"/>
                  </a:solidFill>
                </a:uFill>
                <a:latin typeface="Courier New" panose="02070309020205020404"/>
                <a:ea typeface="Courier New" panose="02070309020205020404"/>
                <a:cs typeface="Courier New" panose="02070309020205020404"/>
                <a:sym typeface="Courier New" panose="02070309020205020404"/>
              </a:rPr>
              <a:t>	gpa = 0.0;</a:t>
            </a:r>
            <a:endParaRPr sz="1800" b="1">
              <a:uFill>
                <a:solidFill>
                  <a:srgbClr val="000000"/>
                </a:solidFill>
              </a:uFill>
              <a:latin typeface="Courier New" panose="02070309020205020404"/>
              <a:ea typeface="Courier New" panose="02070309020205020404"/>
              <a:cs typeface="Courier New" panose="02070309020205020404"/>
              <a:sym typeface="Courier New" panose="02070309020205020404"/>
            </a:endParaRPr>
          </a:p>
          <a:p>
            <a:pPr marL="373380" marR="30480" defTabSz="685800" hangingPunct="0">
              <a:spcBef>
                <a:spcPts val="375"/>
              </a:spcBef>
              <a:buClrTx/>
              <a:defRPr sz="2400" b="1">
                <a:solidFill>
                  <a:srgbClr val="000000"/>
                </a:solidFill>
                <a:uFill>
                  <a:solidFill>
                    <a:srgbClr val="000000"/>
                  </a:solidFill>
                </a:uFill>
                <a:latin typeface="Courier New" panose="02070309020205020404"/>
                <a:ea typeface="Courier New" panose="02070309020205020404"/>
                <a:cs typeface="Courier New" panose="02070309020205020404"/>
                <a:sym typeface="Courier New" panose="02070309020205020404"/>
              </a:defRPr>
            </a:pPr>
            <a:r>
              <a:rPr sz="1800" b="1">
                <a:uFill>
                  <a:solidFill>
                    <a:srgbClr val="000000"/>
                  </a:solidFill>
                </a:uFill>
                <a:latin typeface="Courier New" panose="02070309020205020404"/>
                <a:ea typeface="Courier New" panose="02070309020205020404"/>
                <a:cs typeface="Courier New" panose="02070309020205020404"/>
                <a:sym typeface="Courier New" panose="02070309020205020404"/>
              </a:rPr>
              <a:t>}</a:t>
            </a:r>
            <a:endParaRPr sz="1800" b="1">
              <a:uFill>
                <a:solidFill>
                  <a:srgbClr val="000000"/>
                </a:solidFill>
              </a:uFill>
              <a:latin typeface="Courier New" panose="02070309020205020404"/>
              <a:ea typeface="Courier New" panose="02070309020205020404"/>
              <a:cs typeface="Courier New" panose="02070309020205020404"/>
              <a:sym typeface="Courier New" panose="02070309020205020404"/>
            </a:endParaRPr>
          </a:p>
        </p:txBody>
      </p:sp>
      <p:grpSp>
        <p:nvGrpSpPr>
          <p:cNvPr id="6" name="Group"/>
          <p:cNvGrpSpPr/>
          <p:nvPr/>
        </p:nvGrpSpPr>
        <p:grpSpPr>
          <a:xfrm>
            <a:off x="213942" y="3211463"/>
            <a:ext cx="1200150" cy="541255"/>
            <a:chOff x="0" y="246718"/>
            <a:chExt cx="1600200" cy="721672"/>
          </a:xfrm>
        </p:grpSpPr>
        <p:sp>
          <p:nvSpPr>
            <p:cNvPr id="7" name="ILLEGAL"/>
            <p:cNvSpPr/>
            <p:nvPr/>
          </p:nvSpPr>
          <p:spPr>
            <a:xfrm>
              <a:off x="0" y="533400"/>
              <a:ext cx="1600200" cy="434990"/>
            </a:xfrm>
            <a:prstGeom prst="rect">
              <a:avLst/>
            </a:prstGeom>
            <a:noFill/>
            <a:ln w="12700" cap="flat">
              <a:noFill/>
              <a:miter lim="400000"/>
            </a:ln>
            <a:effectLst/>
          </p:spPr>
          <p:txBody>
            <a:bodyPr wrap="square" lIns="38100" tIns="38100" rIns="38100" bIns="38100" numCol="1" anchor="t">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1800" dirty="0"/>
                <a:t>ILLEGAL</a:t>
              </a:r>
              <a:endParaRPr sz="1800" dirty="0"/>
            </a:p>
          </p:txBody>
        </p:sp>
        <p:sp>
          <p:nvSpPr>
            <p:cNvPr id="8" name="Line"/>
            <p:cNvSpPr/>
            <p:nvPr/>
          </p:nvSpPr>
          <p:spPr>
            <a:xfrm flipV="1">
              <a:off x="631840" y="246718"/>
              <a:ext cx="835503" cy="286682"/>
            </a:xfrm>
            <a:prstGeom prst="line">
              <a:avLst/>
            </a:prstGeom>
            <a:noFill/>
            <a:ln w="25400" cap="flat">
              <a:solidFill>
                <a:srgbClr val="D81E00"/>
              </a:solidFill>
              <a:prstDash val="solid"/>
              <a:round/>
              <a:tailEnd type="triangle" w="med" len="med"/>
            </a:ln>
            <a:effectLst/>
          </p:spPr>
          <p:txBody>
            <a:bodyPr wrap="square" lIns="38100" tIns="38100" rIns="38100" bIns="38100" numCol="1" anchor="ctr">
              <a:noAutofit/>
            </a:bodyPr>
            <a:lstStyle/>
            <a:p>
              <a:pPr defTabSz="342900" hangingPunct="0">
                <a:buClrTx/>
                <a:defRPr sz="1200">
                  <a:solidFill>
                    <a:srgbClr val="000000"/>
                  </a:solidFill>
                  <a:latin typeface="Helvetica"/>
                  <a:ea typeface="Helvetica"/>
                  <a:cs typeface="Helvetica"/>
                  <a:sym typeface="Helvetica"/>
                </a:defRPr>
              </a:pPr>
              <a:endParaRPr sz="900">
                <a:latin typeface="Helvetica"/>
                <a:ea typeface="Helvetica"/>
                <a:cs typeface="Helvetica"/>
                <a:sym typeface="Helvetica"/>
              </a:endParaRPr>
            </a:p>
          </p:txBody>
        </p:sp>
      </p:grpSp>
      <p:grpSp>
        <p:nvGrpSpPr>
          <p:cNvPr id="9" name="Group"/>
          <p:cNvGrpSpPr/>
          <p:nvPr/>
        </p:nvGrpSpPr>
        <p:grpSpPr>
          <a:xfrm>
            <a:off x="7829550" y="3426474"/>
            <a:ext cx="1262348" cy="552819"/>
            <a:chOff x="-82931" y="231299"/>
            <a:chExt cx="1683131" cy="737092"/>
          </a:xfrm>
        </p:grpSpPr>
        <p:sp>
          <p:nvSpPr>
            <p:cNvPr id="10" name="LEGAL"/>
            <p:cNvSpPr/>
            <p:nvPr/>
          </p:nvSpPr>
          <p:spPr>
            <a:xfrm>
              <a:off x="0" y="533400"/>
              <a:ext cx="1600200" cy="434991"/>
            </a:xfrm>
            <a:prstGeom prst="rect">
              <a:avLst/>
            </a:prstGeom>
            <a:noFill/>
            <a:ln w="12700" cap="flat">
              <a:noFill/>
              <a:miter lim="400000"/>
            </a:ln>
            <a:effectLst/>
          </p:spPr>
          <p:txBody>
            <a:bodyPr wrap="square" lIns="38100" tIns="38100" rIns="38100" bIns="38100" numCol="1" anchor="t">
              <a:spAutoFit/>
            </a:bodyPr>
            <a:lstStyle>
              <a:lvl1pPr marL="40640" marR="40640" defTabSz="914400">
                <a:lnSpc>
                  <a:spcPct val="90000"/>
                </a:lnSpc>
                <a:spcBef>
                  <a:spcPts val="1300"/>
                </a:spcBef>
                <a:defRPr sz="2400" b="1">
                  <a:solidFill>
                    <a:srgbClr val="D81E00"/>
                  </a:solidFill>
                  <a:uFill>
                    <a:solidFill>
                      <a:srgbClr val="D81E00"/>
                    </a:solidFill>
                  </a:uFill>
                  <a:latin typeface="+mn-lt"/>
                  <a:ea typeface="+mn-ea"/>
                  <a:cs typeface="+mn-cs"/>
                  <a:sym typeface="Times New Roman" panose="02020603050405020304"/>
                </a:defRPr>
              </a:lvl1pPr>
            </a:lstStyle>
            <a:p>
              <a:pPr hangingPunct="0">
                <a:buClrTx/>
                <a:buFontTx/>
                <a:buNone/>
              </a:pPr>
              <a:r>
                <a:rPr sz="1800" dirty="0">
                  <a:solidFill>
                    <a:srgbClr val="00B050"/>
                  </a:solidFill>
                </a:rPr>
                <a:t>LEGAL</a:t>
              </a:r>
              <a:endParaRPr sz="1800" dirty="0">
                <a:solidFill>
                  <a:srgbClr val="00B050"/>
                </a:solidFill>
              </a:endParaRPr>
            </a:p>
          </p:txBody>
        </p:sp>
        <p:sp>
          <p:nvSpPr>
            <p:cNvPr id="11" name="Line"/>
            <p:cNvSpPr/>
            <p:nvPr/>
          </p:nvSpPr>
          <p:spPr>
            <a:xfrm flipH="1" flipV="1">
              <a:off x="-82931" y="231299"/>
              <a:ext cx="844931" cy="302103"/>
            </a:xfrm>
            <a:prstGeom prst="line">
              <a:avLst/>
            </a:prstGeom>
            <a:noFill/>
            <a:ln w="25400" cap="flat">
              <a:solidFill>
                <a:srgbClr val="00B050"/>
              </a:solidFill>
              <a:prstDash val="solid"/>
              <a:round/>
              <a:tailEnd type="triangle" w="med" len="med"/>
            </a:ln>
            <a:effectLst/>
          </p:spPr>
          <p:txBody>
            <a:bodyPr wrap="square" lIns="38100" tIns="38100" rIns="38100" bIns="38100" numCol="1" anchor="ctr">
              <a:noAutofit/>
            </a:bodyPr>
            <a:lstStyle/>
            <a:p>
              <a:pPr defTabSz="342900" hangingPunct="0">
                <a:buClrTx/>
                <a:defRPr sz="1200">
                  <a:solidFill>
                    <a:srgbClr val="000000"/>
                  </a:solidFill>
                  <a:latin typeface="Helvetica"/>
                  <a:ea typeface="Helvetica"/>
                  <a:cs typeface="Helvetica"/>
                  <a:sym typeface="Helvetica"/>
                </a:defRPr>
              </a:pPr>
              <a:endParaRPr sz="900">
                <a:solidFill>
                  <a:srgbClr val="00B050"/>
                </a:solidFill>
                <a:latin typeface="Helvetica"/>
                <a:ea typeface="Helvetica"/>
                <a:cs typeface="Helvetica"/>
                <a:sym typeface="Helvetica"/>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2"/>
                </a:solidFill>
              </a:rPr>
              <a:t> </a:t>
            </a:r>
            <a:r>
              <a:rPr lang="en-US" b="1" dirty="0"/>
              <a:t>Four Levels of Class Member Access</a:t>
            </a:r>
            <a:endParaRPr lang="en-US" b="1" dirty="0"/>
          </a:p>
        </p:txBody>
      </p:sp>
      <p:grpSp>
        <p:nvGrpSpPr>
          <p:cNvPr id="13" name="Group"/>
          <p:cNvGrpSpPr/>
          <p:nvPr/>
        </p:nvGrpSpPr>
        <p:grpSpPr>
          <a:xfrm>
            <a:off x="1571625" y="1714500"/>
            <a:ext cx="6000750" cy="2686050"/>
            <a:chOff x="0" y="0"/>
            <a:chExt cx="8001000" cy="3581400"/>
          </a:xfrm>
        </p:grpSpPr>
        <p:grpSp>
          <p:nvGrpSpPr>
            <p:cNvPr id="14" name="Group"/>
            <p:cNvGrpSpPr/>
            <p:nvPr/>
          </p:nvGrpSpPr>
          <p:grpSpPr>
            <a:xfrm>
              <a:off x="0" y="0"/>
              <a:ext cx="8001000" cy="3581400"/>
              <a:chOff x="0" y="0"/>
              <a:chExt cx="8001000" cy="3581400"/>
            </a:xfrm>
          </p:grpSpPr>
          <p:sp>
            <p:nvSpPr>
              <p:cNvPr id="22" name="Oval"/>
              <p:cNvSpPr/>
              <p:nvPr/>
            </p:nvSpPr>
            <p:spPr>
              <a:xfrm>
                <a:off x="0" y="0"/>
                <a:ext cx="8001000" cy="3581400"/>
              </a:xfrm>
              <a:prstGeom prst="ellipse">
                <a:avLst/>
              </a:prstGeom>
              <a:solidFill>
                <a:srgbClr val="FF85FF"/>
              </a:solidFill>
              <a:ln w="12700" cap="flat">
                <a:solidFill>
                  <a:srgbClr val="000000"/>
                </a:solidFill>
                <a:prstDash val="solid"/>
                <a:round/>
              </a:ln>
              <a:effectLst/>
            </p:spPr>
            <p:txBody>
              <a:bodyPr wrap="square" lIns="28575" tIns="28575" rIns="28575" bIns="28575" numCol="1" anchor="ctr">
                <a:noAutofit/>
              </a:bodyPr>
              <a:lstStyle/>
              <a:p>
                <a:pPr defTabSz="241300" hangingPunct="0">
                  <a:buClrTx/>
                  <a:defRPr sz="2000">
                    <a:solidFill>
                      <a:srgbClr val="FFFFFF"/>
                    </a:solidFill>
                  </a:defRPr>
                </a:pPr>
                <a:endParaRPr sz="1500">
                  <a:solidFill>
                    <a:srgbClr val="FFFFFF"/>
                  </a:solidFill>
                  <a:latin typeface="Helvetica"/>
                  <a:cs typeface="Helvetica"/>
                  <a:sym typeface="Helvetica"/>
                </a:endParaRPr>
              </a:p>
            </p:txBody>
          </p:sp>
          <p:sp>
            <p:nvSpPr>
              <p:cNvPr id="23" name="Text"/>
              <p:cNvSpPr/>
              <p:nvPr/>
            </p:nvSpPr>
            <p:spPr>
              <a:xfrm>
                <a:off x="3913851" y="1644507"/>
                <a:ext cx="225276" cy="292388"/>
              </a:xfrm>
              <a:prstGeom prst="rect">
                <a:avLst/>
              </a:prstGeom>
              <a:noFill/>
              <a:ln w="12700" cap="flat">
                <a:noFill/>
                <a:miter lim="400000"/>
              </a:ln>
              <a:effectLst/>
            </p:spPr>
            <p:txBody>
              <a:bodyPr wrap="none" lIns="28575" tIns="28575" rIns="28575" bIns="28575" numCol="1" anchor="ctr">
                <a:spAutoFit/>
              </a:bodyPr>
              <a:lstStyle>
                <a:lvl1pPr marL="40005" marR="40005">
                  <a:defRPr sz="1400" b="1">
                    <a:latin typeface="+mn-lt"/>
                    <a:ea typeface="+mn-ea"/>
                    <a:cs typeface="+mn-cs"/>
                    <a:sym typeface="Times New Roman" panose="02020603050405020304"/>
                  </a:defRPr>
                </a:lvl1pPr>
              </a:lstStyle>
              <a:p>
                <a:pPr defTabSz="241300" hangingPunct="0">
                  <a:buClrTx/>
                </a:pPr>
                <a:r>
                  <a:rPr sz="1050"/>
                  <a:t> </a:t>
                </a:r>
                <a:endParaRPr sz="1050"/>
              </a:p>
            </p:txBody>
          </p:sp>
        </p:grpSp>
        <p:sp>
          <p:nvSpPr>
            <p:cNvPr id="15" name="Oval"/>
            <p:cNvSpPr/>
            <p:nvPr/>
          </p:nvSpPr>
          <p:spPr>
            <a:xfrm>
              <a:off x="1295400" y="381000"/>
              <a:ext cx="6407150" cy="2792413"/>
            </a:xfrm>
            <a:prstGeom prst="ellipse">
              <a:avLst/>
            </a:prstGeom>
            <a:solidFill>
              <a:srgbClr val="FFAFFF"/>
            </a:solidFill>
            <a:ln w="12700" cap="flat">
              <a:solidFill>
                <a:srgbClr val="000000"/>
              </a:solidFill>
              <a:prstDash val="solid"/>
              <a:round/>
            </a:ln>
            <a:effectLst/>
          </p:spPr>
          <p:txBody>
            <a:bodyPr wrap="square" lIns="28575" tIns="28575" rIns="28575" bIns="28575" numCol="1" anchor="ctr">
              <a:noAutofit/>
            </a:bodyPr>
            <a:lstStyle/>
            <a:p>
              <a:pPr defTabSz="241300" hangingPunct="0">
                <a:buClrTx/>
                <a:defRPr sz="2000">
                  <a:solidFill>
                    <a:srgbClr val="FFFFFF"/>
                  </a:solidFill>
                </a:defRPr>
              </a:pPr>
              <a:endParaRPr sz="1500">
                <a:solidFill>
                  <a:srgbClr val="FFFFFF"/>
                </a:solidFill>
                <a:latin typeface="Helvetica"/>
                <a:cs typeface="Helvetica"/>
                <a:sym typeface="Helvetica"/>
              </a:endParaRPr>
            </a:p>
          </p:txBody>
        </p:sp>
        <p:sp>
          <p:nvSpPr>
            <p:cNvPr id="16" name="Oval"/>
            <p:cNvSpPr/>
            <p:nvPr/>
          </p:nvSpPr>
          <p:spPr>
            <a:xfrm>
              <a:off x="3186112" y="755650"/>
              <a:ext cx="4205288" cy="2063750"/>
            </a:xfrm>
            <a:prstGeom prst="ellipse">
              <a:avLst/>
            </a:prstGeom>
            <a:solidFill>
              <a:srgbClr val="FFD8FF"/>
            </a:solidFill>
            <a:ln w="12700" cap="flat">
              <a:solidFill>
                <a:srgbClr val="000000"/>
              </a:solidFill>
              <a:prstDash val="solid"/>
              <a:round/>
            </a:ln>
            <a:effectLst/>
          </p:spPr>
          <p:txBody>
            <a:bodyPr wrap="square" lIns="28575" tIns="28575" rIns="28575" bIns="28575" numCol="1" anchor="ctr">
              <a:noAutofit/>
            </a:bodyPr>
            <a:lstStyle/>
            <a:p>
              <a:pPr defTabSz="241300" hangingPunct="0">
                <a:buClrTx/>
                <a:defRPr sz="2000">
                  <a:solidFill>
                    <a:srgbClr val="FFFFFF"/>
                  </a:solidFill>
                </a:defRPr>
              </a:pPr>
              <a:endParaRPr sz="1500">
                <a:solidFill>
                  <a:srgbClr val="FFFFFF"/>
                </a:solidFill>
                <a:latin typeface="Helvetica"/>
                <a:cs typeface="Helvetica"/>
                <a:sym typeface="Helvetica"/>
              </a:endParaRPr>
            </a:p>
          </p:txBody>
        </p:sp>
        <p:sp>
          <p:nvSpPr>
            <p:cNvPr id="17" name="Oval"/>
            <p:cNvSpPr/>
            <p:nvPr/>
          </p:nvSpPr>
          <p:spPr>
            <a:xfrm>
              <a:off x="4419600" y="1447800"/>
              <a:ext cx="2495550" cy="990600"/>
            </a:xfrm>
            <a:prstGeom prst="ellipse">
              <a:avLst/>
            </a:prstGeom>
            <a:solidFill>
              <a:srgbClr val="FFFFFF"/>
            </a:solidFill>
            <a:ln w="12700" cap="flat">
              <a:solidFill>
                <a:srgbClr val="000000"/>
              </a:solidFill>
              <a:prstDash val="solid"/>
              <a:round/>
            </a:ln>
            <a:effectLst/>
          </p:spPr>
          <p:txBody>
            <a:bodyPr wrap="square" lIns="28575" tIns="28575" rIns="28575" bIns="28575" numCol="1" anchor="ctr">
              <a:noAutofit/>
            </a:bodyPr>
            <a:lstStyle/>
            <a:p>
              <a:pPr defTabSz="241300" hangingPunct="0">
                <a:buClrTx/>
                <a:defRPr sz="2000">
                  <a:solidFill>
                    <a:srgbClr val="FFFFFF"/>
                  </a:solidFill>
                </a:defRPr>
              </a:pPr>
              <a:endParaRPr sz="1500">
                <a:solidFill>
                  <a:srgbClr val="FFFFFF"/>
                </a:solidFill>
                <a:latin typeface="Helvetica"/>
                <a:cs typeface="Helvetica"/>
                <a:sym typeface="Helvetica"/>
              </a:endParaRPr>
            </a:p>
          </p:txBody>
        </p:sp>
        <p:sp>
          <p:nvSpPr>
            <p:cNvPr id="18" name="public"/>
            <p:cNvSpPr/>
            <p:nvPr/>
          </p:nvSpPr>
          <p:spPr>
            <a:xfrm>
              <a:off x="733351" y="768077"/>
              <a:ext cx="1000273" cy="384721"/>
            </a:xfrm>
            <a:prstGeom prst="rect">
              <a:avLst/>
            </a:prstGeom>
            <a:noFill/>
            <a:ln w="12700" cap="flat">
              <a:noFill/>
              <a:miter lim="400000"/>
            </a:ln>
            <a:effectLst/>
          </p:spPr>
          <p:txBody>
            <a:bodyPr wrap="none" lIns="28575" tIns="28575" rIns="28575" bIns="28575" numCol="1" anchor="ctr">
              <a:spAutoFit/>
            </a:bodyPr>
            <a:lstStyle>
              <a:lvl1pPr>
                <a:spcBef>
                  <a:spcPts val="1100"/>
                </a:spcBef>
                <a:defRPr sz="2000" b="1">
                  <a:latin typeface="Courier New" panose="02070309020205020404"/>
                  <a:ea typeface="Courier New" panose="02070309020205020404"/>
                  <a:cs typeface="Courier New" panose="02070309020205020404"/>
                  <a:sym typeface="Courier New" panose="02070309020205020404"/>
                </a:defRPr>
              </a:lvl1pPr>
            </a:lstStyle>
            <a:p>
              <a:pPr defTabSz="241300" hangingPunct="0">
                <a:buClrTx/>
              </a:pPr>
              <a:r>
                <a:rPr sz="1500"/>
                <a:t>public</a:t>
              </a:r>
              <a:endParaRPr sz="1500"/>
            </a:p>
          </p:txBody>
        </p:sp>
        <p:sp>
          <p:nvSpPr>
            <p:cNvPr id="19" name="private"/>
            <p:cNvSpPr/>
            <p:nvPr/>
          </p:nvSpPr>
          <p:spPr>
            <a:xfrm>
              <a:off x="5076739" y="1742803"/>
              <a:ext cx="1154163" cy="384721"/>
            </a:xfrm>
            <a:prstGeom prst="rect">
              <a:avLst/>
            </a:prstGeom>
            <a:noFill/>
            <a:ln w="12700" cap="flat">
              <a:noFill/>
              <a:miter lim="400000"/>
            </a:ln>
            <a:effectLst/>
          </p:spPr>
          <p:txBody>
            <a:bodyPr wrap="none" lIns="28575" tIns="28575" rIns="28575" bIns="28575" numCol="1" anchor="ctr">
              <a:spAutoFit/>
            </a:bodyPr>
            <a:lstStyle>
              <a:lvl1pPr>
                <a:spcBef>
                  <a:spcPts val="1100"/>
                </a:spcBef>
                <a:defRPr sz="2000" b="1">
                  <a:latin typeface="Courier New" panose="02070309020205020404"/>
                  <a:ea typeface="Courier New" panose="02070309020205020404"/>
                  <a:cs typeface="Courier New" panose="02070309020205020404"/>
                  <a:sym typeface="Courier New" panose="02070309020205020404"/>
                </a:defRPr>
              </a:lvl1pPr>
            </a:lstStyle>
            <a:p>
              <a:pPr defTabSz="241300" hangingPunct="0">
                <a:buClrTx/>
              </a:pPr>
              <a:r>
                <a:rPr sz="1500"/>
                <a:t>private</a:t>
              </a:r>
              <a:endParaRPr sz="1500"/>
            </a:p>
          </p:txBody>
        </p:sp>
        <p:sp>
          <p:nvSpPr>
            <p:cNvPr id="20" name="protected"/>
            <p:cNvSpPr/>
            <p:nvPr/>
          </p:nvSpPr>
          <p:spPr>
            <a:xfrm>
              <a:off x="1800113" y="1072877"/>
              <a:ext cx="1461939" cy="384721"/>
            </a:xfrm>
            <a:prstGeom prst="rect">
              <a:avLst/>
            </a:prstGeom>
            <a:noFill/>
            <a:ln w="12700" cap="flat">
              <a:noFill/>
              <a:miter lim="400000"/>
            </a:ln>
            <a:effectLst/>
          </p:spPr>
          <p:txBody>
            <a:bodyPr wrap="none" lIns="28575" tIns="28575" rIns="28575" bIns="28575" numCol="1" anchor="ctr">
              <a:spAutoFit/>
            </a:bodyPr>
            <a:lstStyle>
              <a:lvl1pPr>
                <a:spcBef>
                  <a:spcPts val="1100"/>
                </a:spcBef>
                <a:defRPr sz="2000" b="1">
                  <a:latin typeface="Courier New" panose="02070309020205020404"/>
                  <a:ea typeface="Courier New" panose="02070309020205020404"/>
                  <a:cs typeface="Courier New" panose="02070309020205020404"/>
                  <a:sym typeface="Courier New" panose="02070309020205020404"/>
                </a:defRPr>
              </a:lvl1pPr>
            </a:lstStyle>
            <a:p>
              <a:pPr defTabSz="241300" hangingPunct="0">
                <a:buClrTx/>
              </a:pPr>
              <a:r>
                <a:rPr sz="1500"/>
                <a:t>protected</a:t>
              </a:r>
              <a:endParaRPr sz="1500"/>
            </a:p>
          </p:txBody>
        </p:sp>
        <p:sp>
          <p:nvSpPr>
            <p:cNvPr id="21" name="package"/>
            <p:cNvSpPr/>
            <p:nvPr/>
          </p:nvSpPr>
          <p:spPr>
            <a:xfrm>
              <a:off x="3324139" y="1453877"/>
              <a:ext cx="1154163" cy="384721"/>
            </a:xfrm>
            <a:prstGeom prst="rect">
              <a:avLst/>
            </a:prstGeom>
            <a:noFill/>
            <a:ln w="12700" cap="flat">
              <a:noFill/>
              <a:miter lim="400000"/>
            </a:ln>
            <a:effectLst/>
          </p:spPr>
          <p:txBody>
            <a:bodyPr wrap="none" lIns="28575" tIns="28575" rIns="28575" bIns="28575" numCol="1" anchor="ctr">
              <a:spAutoFit/>
            </a:bodyPr>
            <a:lstStyle>
              <a:lvl1pPr>
                <a:spcBef>
                  <a:spcPts val="1100"/>
                </a:spcBef>
                <a:defRPr sz="2000" b="1">
                  <a:latin typeface="Courier New" panose="02070309020205020404"/>
                  <a:ea typeface="Courier New" panose="02070309020205020404"/>
                  <a:cs typeface="Courier New" panose="02070309020205020404"/>
                  <a:sym typeface="Courier New" panose="02070309020205020404"/>
                </a:defRPr>
              </a:lvl1pPr>
            </a:lstStyle>
            <a:p>
              <a:pPr defTabSz="241300" hangingPunct="0">
                <a:buClrTx/>
              </a:pPr>
              <a:r>
                <a:rPr sz="1500"/>
                <a:t>package</a:t>
              </a:r>
              <a:endParaRPr sz="150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tx2"/>
                </a:solidFill>
              </a:rPr>
              <a:t> </a:t>
            </a:r>
            <a:r>
              <a:rPr lang="en-US" b="1" dirty="0"/>
              <a:t>Member Accessibility</a:t>
            </a:r>
            <a:endParaRPr lang="en-US" b="1" dirty="0"/>
          </a:p>
        </p:txBody>
      </p:sp>
      <p:graphicFrame>
        <p:nvGraphicFramePr>
          <p:cNvPr id="24" name="Table 23"/>
          <p:cNvGraphicFramePr>
            <a:graphicFrameLocks noGrp="1"/>
          </p:cNvGraphicFramePr>
          <p:nvPr/>
        </p:nvGraphicFramePr>
        <p:xfrm>
          <a:off x="938674" y="1576911"/>
          <a:ext cx="7622699" cy="2471259"/>
        </p:xfrm>
        <a:graphic>
          <a:graphicData uri="http://schemas.openxmlformats.org/drawingml/2006/table">
            <a:tbl>
              <a:tblPr firstRow="1" bandRow="1">
                <a:tableStyleId>{5940675A-B579-460E-94D1-54222C63F5DA}</a:tableStyleId>
              </a:tblPr>
              <a:tblGrid>
                <a:gridCol w="1524540"/>
                <a:gridCol w="741232"/>
                <a:gridCol w="1746175"/>
                <a:gridCol w="2485960"/>
                <a:gridCol w="1124792"/>
              </a:tblGrid>
              <a:tr h="562570">
                <a:tc>
                  <a:txBody>
                    <a:bodyPr/>
                    <a:lstStyle/>
                    <a:p>
                      <a:pPr algn="ctr"/>
                      <a:r>
                        <a:rPr lang="en-US" sz="1700" b="1" dirty="0">
                          <a:solidFill>
                            <a:srgbClr val="0070C0"/>
                          </a:solidFill>
                        </a:rPr>
                        <a:t>External Access</a:t>
                      </a:r>
                      <a:endParaRPr lang="en-US" sz="1700" b="1" dirty="0">
                        <a:solidFill>
                          <a:srgbClr val="0070C0"/>
                        </a:solidFill>
                      </a:endParaRPr>
                    </a:p>
                  </a:txBody>
                  <a:tcPr marL="48220" marR="48220" marT="24110" marB="24110"/>
                </a:tc>
                <a:tc>
                  <a:txBody>
                    <a:bodyPr/>
                    <a:lstStyle/>
                    <a:p>
                      <a:r>
                        <a:rPr lang="en-US" sz="1700" b="1" dirty="0">
                          <a:solidFill>
                            <a:srgbClr val="0070C0"/>
                          </a:solidFill>
                        </a:rPr>
                        <a:t>public</a:t>
                      </a:r>
                      <a:endParaRPr lang="en-US" sz="1700" b="1" dirty="0">
                        <a:solidFill>
                          <a:srgbClr val="0070C0"/>
                        </a:solidFill>
                      </a:endParaRPr>
                    </a:p>
                  </a:txBody>
                  <a:tcPr marL="48220" marR="48220" marT="24110" marB="24110"/>
                </a:tc>
                <a:tc>
                  <a:txBody>
                    <a:bodyPr/>
                    <a:lstStyle/>
                    <a:p>
                      <a:pPr algn="ctr"/>
                      <a:r>
                        <a:rPr lang="en-US" sz="1700" b="1" dirty="0">
                          <a:solidFill>
                            <a:srgbClr val="0070C0"/>
                          </a:solidFill>
                        </a:rPr>
                        <a:t>protected</a:t>
                      </a:r>
                      <a:endParaRPr lang="en-US" sz="1700" b="1" dirty="0">
                        <a:solidFill>
                          <a:srgbClr val="0070C0"/>
                        </a:solidFill>
                      </a:endParaRPr>
                    </a:p>
                  </a:txBody>
                  <a:tcPr marL="48220" marR="48220" marT="24110" marB="24110"/>
                </a:tc>
                <a:tc>
                  <a:txBody>
                    <a:bodyPr/>
                    <a:lstStyle/>
                    <a:p>
                      <a:pPr algn="ctr"/>
                      <a:r>
                        <a:rPr lang="en-US" sz="1700" b="1" dirty="0">
                          <a:solidFill>
                            <a:srgbClr val="0070C0"/>
                          </a:solidFill>
                        </a:rPr>
                        <a:t>Default</a:t>
                      </a:r>
                      <a:endParaRPr lang="en-US" sz="1700" b="1" dirty="0">
                        <a:solidFill>
                          <a:srgbClr val="0070C0"/>
                        </a:solidFill>
                      </a:endParaRPr>
                    </a:p>
                    <a:p>
                      <a:pPr algn="ctr"/>
                      <a:r>
                        <a:rPr lang="en-US" sz="1700" b="1" dirty="0">
                          <a:solidFill>
                            <a:srgbClr val="0070C0"/>
                          </a:solidFill>
                        </a:rPr>
                        <a:t>(package private)</a:t>
                      </a:r>
                      <a:endParaRPr lang="en-US" sz="1700" b="1" dirty="0">
                        <a:solidFill>
                          <a:srgbClr val="0070C0"/>
                        </a:solidFill>
                      </a:endParaRPr>
                    </a:p>
                  </a:txBody>
                  <a:tcPr marL="48220" marR="48220" marT="24110" marB="24110"/>
                </a:tc>
                <a:tc>
                  <a:txBody>
                    <a:bodyPr/>
                    <a:lstStyle/>
                    <a:p>
                      <a:pPr algn="ctr"/>
                      <a:r>
                        <a:rPr lang="en-US" sz="1700" b="1" dirty="0">
                          <a:solidFill>
                            <a:srgbClr val="0070C0"/>
                          </a:solidFill>
                        </a:rPr>
                        <a:t>private</a:t>
                      </a:r>
                      <a:endParaRPr lang="en-US" sz="1700" b="1" dirty="0">
                        <a:solidFill>
                          <a:srgbClr val="0070C0"/>
                        </a:solidFill>
                      </a:endParaRPr>
                    </a:p>
                  </a:txBody>
                  <a:tcPr marL="48220" marR="48220" marT="24110" marB="24110"/>
                </a:tc>
              </a:tr>
              <a:tr h="544251">
                <a:tc>
                  <a:txBody>
                    <a:bodyPr/>
                    <a:lstStyle/>
                    <a:p>
                      <a:r>
                        <a:rPr lang="en-US" sz="1500" dirty="0"/>
                        <a:t>Same package</a:t>
                      </a:r>
                      <a:endParaRPr lang="en-US" sz="1500" dirty="0"/>
                    </a:p>
                  </a:txBody>
                  <a:tcPr marL="48220" marR="48220" marT="24110" marB="24110"/>
                </a:tc>
                <a:tc>
                  <a:txBody>
                    <a:bodyPr/>
                    <a:lstStyle/>
                    <a:p>
                      <a:pPr algn="ctr"/>
                      <a:r>
                        <a:rPr lang="en-US" sz="1500" dirty="0"/>
                        <a:t>Yes</a:t>
                      </a:r>
                      <a:endParaRPr lang="en-US" sz="1500" dirty="0"/>
                    </a:p>
                  </a:txBody>
                  <a:tcPr marL="48220" marR="48220" marT="24110" marB="24110"/>
                </a:tc>
                <a:tc>
                  <a:txBody>
                    <a:bodyPr/>
                    <a:lstStyle/>
                    <a:p>
                      <a:pPr algn="ctr"/>
                      <a:r>
                        <a:rPr lang="en-US" sz="1500" dirty="0"/>
                        <a:t>Yes</a:t>
                      </a:r>
                      <a:endParaRPr lang="en-US" sz="1500" dirty="0"/>
                    </a:p>
                  </a:txBody>
                  <a:tcPr marL="48220" marR="48220" marT="24110" marB="24110"/>
                </a:tc>
                <a:tc>
                  <a:txBody>
                    <a:bodyPr/>
                    <a:lstStyle/>
                    <a:p>
                      <a:pPr algn="ctr"/>
                      <a:r>
                        <a:rPr lang="en-US" sz="1500" dirty="0"/>
                        <a:t>Yes</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r>
              <a:tr h="816377">
                <a:tc>
                  <a:txBody>
                    <a:bodyPr/>
                    <a:lstStyle/>
                    <a:p>
                      <a:r>
                        <a:rPr lang="en-US" sz="1500" dirty="0"/>
                        <a:t>Derived class in another package</a:t>
                      </a:r>
                      <a:endParaRPr lang="en-US" sz="1500" dirty="0"/>
                    </a:p>
                  </a:txBody>
                  <a:tcPr marL="48220" marR="48220" marT="24110" marB="24110"/>
                </a:tc>
                <a:tc>
                  <a:txBody>
                    <a:bodyPr/>
                    <a:lstStyle/>
                    <a:p>
                      <a:pPr algn="ctr"/>
                      <a:r>
                        <a:rPr lang="en-US" sz="1500" dirty="0"/>
                        <a:t>Yes</a:t>
                      </a:r>
                      <a:endParaRPr lang="en-US" sz="1500" dirty="0"/>
                    </a:p>
                  </a:txBody>
                  <a:tcPr marL="48220" marR="48220" marT="24110" marB="24110"/>
                </a:tc>
                <a:tc>
                  <a:txBody>
                    <a:bodyPr/>
                    <a:lstStyle/>
                    <a:p>
                      <a:pPr algn="ctr"/>
                      <a:r>
                        <a:rPr lang="en-US" sz="1500" dirty="0"/>
                        <a:t>Yes </a:t>
                      </a:r>
                      <a:endParaRPr lang="en-US" sz="1500" dirty="0"/>
                    </a:p>
                    <a:p>
                      <a:pPr algn="ctr"/>
                      <a:r>
                        <a:rPr lang="en-US" sz="1500" dirty="0"/>
                        <a:t>(inheritance</a:t>
                      </a:r>
                      <a:r>
                        <a:rPr lang="en-US" sz="1500" baseline="0" dirty="0"/>
                        <a:t> only</a:t>
                      </a:r>
                      <a:r>
                        <a:rPr lang="en-US" sz="1500" dirty="0"/>
                        <a:t>)</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r>
              <a:tr h="544251">
                <a:tc>
                  <a:txBody>
                    <a:bodyPr/>
                    <a:lstStyle/>
                    <a:p>
                      <a:r>
                        <a:rPr lang="en-US" sz="1500" dirty="0"/>
                        <a:t>User code</a:t>
                      </a:r>
                      <a:endParaRPr lang="en-US" sz="1500" dirty="0"/>
                    </a:p>
                  </a:txBody>
                  <a:tcPr marL="48220" marR="48220" marT="24110" marB="24110"/>
                </a:tc>
                <a:tc>
                  <a:txBody>
                    <a:bodyPr/>
                    <a:lstStyle/>
                    <a:p>
                      <a:pPr algn="ctr"/>
                      <a:r>
                        <a:rPr lang="en-US" sz="1500" dirty="0"/>
                        <a:t>Yes</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c>
                  <a:txBody>
                    <a:bodyPr/>
                    <a:lstStyle/>
                    <a:p>
                      <a:pPr algn="ctr"/>
                      <a:r>
                        <a:rPr lang="en-US" sz="1500" dirty="0"/>
                        <a:t>No</a:t>
                      </a:r>
                      <a:endParaRPr lang="en-US" sz="1500" dirty="0"/>
                    </a:p>
                  </a:txBody>
                  <a:tcPr marL="48220" marR="48220" marT="24110" marB="24110"/>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Inheritance: </a:t>
            </a:r>
            <a:r>
              <a:rPr lang="en-US" b="1" dirty="0">
                <a:latin typeface="Courier New" panose="02070309020205020404"/>
                <a:ea typeface="Courier New" panose="02070309020205020404"/>
                <a:cs typeface="Courier New" panose="02070309020205020404"/>
                <a:sym typeface="Courier New" panose="02070309020205020404"/>
              </a:rPr>
              <a:t>super()</a:t>
            </a:r>
            <a:r>
              <a:rPr lang="en-US" b="1" dirty="0"/>
              <a:t> and </a:t>
            </a:r>
            <a:r>
              <a:rPr lang="en-US" b="1" dirty="0">
                <a:latin typeface="Courier New" panose="02070309020205020404"/>
                <a:ea typeface="Courier New" panose="02070309020205020404"/>
                <a:cs typeface="Courier New" panose="02070309020205020404"/>
                <a:sym typeface="Courier New" panose="02070309020205020404"/>
              </a:rPr>
              <a:t>this()</a:t>
            </a:r>
            <a:endParaRPr lang="en-US" b="1" dirty="0"/>
          </a:p>
        </p:txBody>
      </p:sp>
      <p:sp>
        <p:nvSpPr>
          <p:cNvPr id="3" name="Text Placeholder 2"/>
          <p:cNvSpPr>
            <a:spLocks noGrp="1"/>
          </p:cNvSpPr>
          <p:nvPr>
            <p:ph type="body" idx="1"/>
          </p:nvPr>
        </p:nvSpPr>
        <p:spPr/>
        <p:txBody>
          <a:bodyPr>
            <a:normAutofit/>
          </a:bodyPr>
          <a:lstStyle/>
          <a:p>
            <a:pPr>
              <a:lnSpc>
                <a:spcPct val="90000"/>
              </a:lnSpc>
            </a:pPr>
            <a:r>
              <a:rPr lang="en-US" b="1" dirty="0">
                <a:latin typeface="Courier New" panose="02070309020205020404"/>
                <a:ea typeface="Courier New" panose="02070309020205020404"/>
                <a:cs typeface="Courier New" panose="02070309020205020404"/>
                <a:sym typeface="Courier New" panose="02070309020205020404"/>
              </a:rPr>
              <a:t>super()</a:t>
            </a:r>
            <a:r>
              <a:rPr lang="en-US" dirty="0"/>
              <a:t> runs base (parent) class' constructor. </a:t>
            </a:r>
            <a:endParaRPr lang="en-US" dirty="0"/>
          </a:p>
          <a:p>
            <a:pPr marL="914400" lvl="2" indent="-342900">
              <a:lnSpc>
                <a:spcPct val="90000"/>
              </a:lnSpc>
              <a:buSzPts val="1800"/>
              <a:buFont typeface="Arial" panose="020B0604020202020204"/>
              <a:buChar char="●"/>
            </a:pPr>
            <a:r>
              <a:rPr lang="en-US" sz="1800" dirty="0"/>
              <a:t>Must be first statement in a derived class' constructor.</a:t>
            </a:r>
            <a:endParaRPr lang="en-US" sz="1800" dirty="0"/>
          </a:p>
          <a:p>
            <a:pPr marL="914400" lvl="2" indent="-342900">
              <a:lnSpc>
                <a:spcPct val="90000"/>
              </a:lnSpc>
              <a:buSzPts val="1800"/>
              <a:buFont typeface="Arial" panose="020B0604020202020204"/>
              <a:buChar char="●"/>
            </a:pPr>
            <a:r>
              <a:rPr lang="en-US" sz="1800" dirty="0"/>
              <a:t>If it is left out, </a:t>
            </a:r>
            <a:r>
              <a:rPr lang="en-US" sz="1800" b="1" dirty="0">
                <a:latin typeface="Courier New" panose="02070309020205020404"/>
                <a:ea typeface="Courier New" panose="02070309020205020404"/>
                <a:cs typeface="Courier New" panose="02070309020205020404"/>
                <a:sym typeface="Courier New" panose="02070309020205020404"/>
              </a:rPr>
              <a:t>super()</a:t>
            </a:r>
            <a:r>
              <a:rPr lang="en-US" sz="1800" b="1" dirty="0">
                <a:latin typeface="Courier New" panose="02070309020205020404"/>
                <a:ea typeface="Courier New" panose="02070309020205020404"/>
                <a:cs typeface="Courier New" panose="02070309020205020404"/>
              </a:rPr>
              <a:t> </a:t>
            </a:r>
            <a:r>
              <a:rPr lang="en-US" sz="1800" dirty="0"/>
              <a:t>is still executed using the base class' default constructor (with no parameters).</a:t>
            </a:r>
            <a:endParaRPr lang="en-US" altLang="en-US" sz="1900" dirty="0"/>
          </a:p>
          <a:p>
            <a:pPr>
              <a:lnSpc>
                <a:spcPct val="90000"/>
              </a:lnSpc>
            </a:pPr>
            <a:r>
              <a:rPr lang="en-US" b="1" dirty="0">
                <a:latin typeface="Courier New" panose="02070309020205020404"/>
                <a:ea typeface="Courier New" panose="02070309020205020404"/>
                <a:cs typeface="Courier New" panose="02070309020205020404"/>
                <a:sym typeface="Courier New" panose="02070309020205020404"/>
              </a:rPr>
              <a:t>this()</a:t>
            </a:r>
            <a:r>
              <a:rPr lang="en-US" dirty="0"/>
              <a:t> runs a class' own constructor.</a:t>
            </a:r>
            <a:endParaRPr lang="en-US" dirty="0"/>
          </a:p>
          <a:p>
            <a:pPr marL="914400" lvl="2" indent="-342900">
              <a:lnSpc>
                <a:spcPct val="90000"/>
              </a:lnSpc>
              <a:buSzPts val="1800"/>
              <a:buFont typeface="Arial" panose="020B0604020202020204"/>
              <a:buChar char="●"/>
            </a:pPr>
            <a:r>
              <a:rPr lang="en-US" sz="1800" dirty="0"/>
              <a:t>Used on first line of another constructor.</a:t>
            </a:r>
            <a:endParaRPr lang="en-US" sz="1800" dirty="0"/>
          </a:p>
          <a:p>
            <a:pPr marL="914400" lvl="2" indent="-342900">
              <a:lnSpc>
                <a:spcPct val="90000"/>
              </a:lnSpc>
              <a:buSzPts val="1800"/>
              <a:buFont typeface="Arial" panose="020B0604020202020204"/>
              <a:buChar char="●"/>
            </a:pPr>
            <a:r>
              <a:rPr lang="en-US" sz="1800" dirty="0"/>
              <a:t>May pass parameters to </a:t>
            </a:r>
            <a:r>
              <a:rPr lang="en-US" sz="1800" dirty="0">
                <a:sym typeface="Courier New" panose="02070309020205020404"/>
              </a:rPr>
              <a:t>this()</a:t>
            </a:r>
            <a:r>
              <a:rPr lang="en-US" sz="1800" dirty="0"/>
              <a:t> as long as they correspond to parameters for another constructor.</a:t>
            </a:r>
            <a:endParaRPr lang="en-US" sz="1800" dirty="0"/>
          </a:p>
          <a:p>
            <a:pPr marL="914400" lvl="2" indent="-342900">
              <a:lnSpc>
                <a:spcPct val="90000"/>
              </a:lnSpc>
              <a:buSzPts val="1800"/>
              <a:buFont typeface="Arial" panose="020B0604020202020204"/>
              <a:buChar char="●"/>
            </a:pPr>
            <a:r>
              <a:rPr lang="en-US" sz="1800" dirty="0"/>
              <a:t>For example, if we added a new constructor for </a:t>
            </a:r>
            <a:r>
              <a:rPr lang="en-US" sz="1800" dirty="0">
                <a:sym typeface="Courier New" panose="02070309020205020404"/>
              </a:rPr>
              <a:t>Student</a:t>
            </a:r>
            <a:r>
              <a:rPr lang="en-US" sz="1800" dirty="0"/>
              <a:t>:</a:t>
            </a:r>
            <a:endParaRPr lang="en-US" sz="1800" dirty="0"/>
          </a:p>
        </p:txBody>
      </p:sp>
      <p:sp>
        <p:nvSpPr>
          <p:cNvPr id="4" name="TextBox 3"/>
          <p:cNvSpPr txBox="1"/>
          <p:nvPr/>
        </p:nvSpPr>
        <p:spPr>
          <a:xfrm>
            <a:off x="1302818" y="3528127"/>
            <a:ext cx="6016712" cy="1415772"/>
          </a:xfrm>
          <a:prstGeom prst="rect">
            <a:avLst/>
          </a:prstGeom>
          <a:noFill/>
        </p:spPr>
        <p:txBody>
          <a:bodyPr wrap="none" rtlCol="0">
            <a:spAutoFit/>
          </a:bodyPr>
          <a:lstStyle/>
          <a:p>
            <a:pPr marL="257175" indent="-226695">
              <a:lnSpc>
                <a:spcPct val="90000"/>
              </a:lnSpc>
              <a:buSzTx/>
              <a:buNone/>
              <a:tabLst>
                <a:tab pos="285115" algn="l"/>
                <a:tab pos="713740" algn="l"/>
              </a:tabLst>
            </a:pPr>
            <a:r>
              <a:rPr lang="en-US" sz="1600" b="1" dirty="0">
                <a:latin typeface="Courier New" panose="02070309020205020404"/>
                <a:ea typeface="Courier New" panose="02070309020205020404"/>
                <a:cs typeface="Courier New" panose="02070309020205020404"/>
                <a:sym typeface="Courier New" panose="02070309020205020404"/>
              </a:rPr>
              <a:t>public Student(String </a:t>
            </a:r>
            <a:r>
              <a:rPr lang="en-US" sz="1600" b="1" dirty="0" err="1">
                <a:latin typeface="Courier New" panose="02070309020205020404"/>
                <a:ea typeface="Courier New" panose="02070309020205020404"/>
                <a:cs typeface="Courier New" panose="02070309020205020404"/>
                <a:sym typeface="Courier New" panose="02070309020205020404"/>
              </a:rPr>
              <a:t>initName</a:t>
            </a:r>
            <a:r>
              <a:rPr lang="en-US" sz="1600" b="1" dirty="0">
                <a:latin typeface="Courier New" panose="02070309020205020404"/>
                <a:ea typeface="Courier New" panose="02070309020205020404"/>
                <a:cs typeface="Courier New" panose="02070309020205020404"/>
                <a:sym typeface="Courier New" panose="02070309020205020404"/>
              </a:rPr>
              <a:t>, double </a:t>
            </a:r>
            <a:r>
              <a:rPr lang="en-US" sz="1600" b="1" dirty="0" err="1">
                <a:latin typeface="Courier New" panose="02070309020205020404"/>
                <a:ea typeface="Courier New" panose="02070309020205020404"/>
                <a:cs typeface="Courier New" panose="02070309020205020404"/>
                <a:sym typeface="Courier New" panose="02070309020205020404"/>
              </a:rPr>
              <a:t>initGpa</a:t>
            </a:r>
            <a:r>
              <a:rPr lang="en-US" sz="1600" b="1" dirty="0">
                <a:latin typeface="Courier New" panose="02070309020205020404"/>
                <a:ea typeface="Courier New" panose="02070309020205020404"/>
                <a:cs typeface="Courier New" panose="02070309020205020404"/>
                <a:sym typeface="Courier New" panose="02070309020205020404"/>
              </a:rPr>
              <a:t>)</a:t>
            </a:r>
            <a:endParaRPr lang="en-US" sz="1600" b="1" dirty="0">
              <a:latin typeface="Courier New" panose="02070309020205020404"/>
              <a:ea typeface="Courier New" panose="02070309020205020404"/>
              <a:cs typeface="Courier New" panose="02070309020205020404"/>
              <a:sym typeface="Courier New" panose="02070309020205020404"/>
            </a:endParaRPr>
          </a:p>
          <a:p>
            <a:pPr marL="257175" indent="-226695">
              <a:lnSpc>
                <a:spcPct val="90000"/>
              </a:lnSpc>
              <a:buSzTx/>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600" dirty="0"/>
              <a:t>	{</a:t>
            </a:r>
            <a:endParaRPr lang="en-US" sz="1600" dirty="0"/>
          </a:p>
          <a:p>
            <a:pPr marL="257175" indent="-226695">
              <a:lnSpc>
                <a:spcPct val="90000"/>
              </a:lnSpc>
              <a:buSzTx/>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600" dirty="0"/>
              <a:t>		   this(</a:t>
            </a:r>
            <a:r>
              <a:rPr lang="en-US" sz="1600" dirty="0" err="1"/>
              <a:t>initName</a:t>
            </a:r>
            <a:r>
              <a:rPr lang="en-US" sz="1600" dirty="0"/>
              <a:t>);</a:t>
            </a:r>
            <a:endParaRPr lang="en-US" sz="1600" dirty="0"/>
          </a:p>
          <a:p>
            <a:pPr marL="257175" indent="-226695">
              <a:lnSpc>
                <a:spcPct val="90000"/>
              </a:lnSpc>
              <a:buSzTx/>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600" dirty="0"/>
              <a:t>      </a:t>
            </a:r>
            <a:r>
              <a:rPr lang="en-US" sz="1600" dirty="0" err="1"/>
              <a:t>gpa</a:t>
            </a:r>
            <a:r>
              <a:rPr lang="en-US" sz="1600" dirty="0"/>
              <a:t> = </a:t>
            </a:r>
            <a:r>
              <a:rPr lang="en-US" sz="1600" dirty="0" err="1"/>
              <a:t>initGpa</a:t>
            </a:r>
            <a:r>
              <a:rPr lang="en-US" sz="1600" dirty="0"/>
              <a:t>;</a:t>
            </a:r>
            <a:endParaRPr lang="en-US" sz="1600" dirty="0"/>
          </a:p>
          <a:p>
            <a:pPr marL="257175" indent="-226695">
              <a:lnSpc>
                <a:spcPct val="90000"/>
              </a:lnSpc>
              <a:buSzTx/>
              <a:buNone/>
              <a:tabLst>
                <a:tab pos="285115" algn="l"/>
                <a:tab pos="713740" algn="l"/>
              </a:tabLst>
              <a:defRPr sz="2000" b="1">
                <a:latin typeface="Courier New" panose="02070309020205020404"/>
                <a:ea typeface="Courier New" panose="02070309020205020404"/>
                <a:cs typeface="Courier New" panose="02070309020205020404"/>
                <a:sym typeface="Courier New" panose="02070309020205020404"/>
              </a:defRPr>
            </a:pPr>
            <a:r>
              <a:rPr lang="en-US" sz="1600" dirty="0"/>
              <a:t>  }</a:t>
            </a:r>
            <a:endParaRPr lang="en-US" sz="1600" dirty="0"/>
          </a:p>
          <a:p>
            <a:endParaRPr lang="en-US" dirty="0"/>
          </a:p>
        </p:txBody>
      </p:sp>
      <p:sp>
        <p:nvSpPr>
          <p:cNvPr id="5" name="Runs the previously defined Student constructor"/>
          <p:cNvSpPr/>
          <p:nvPr/>
        </p:nvSpPr>
        <p:spPr>
          <a:xfrm>
            <a:off x="5175031" y="3927289"/>
            <a:ext cx="2400301" cy="824841"/>
          </a:xfrm>
          <a:prstGeom prst="rect">
            <a:avLst/>
          </a:prstGeom>
          <a:noFill/>
          <a:ln w="12700" cap="flat">
            <a:noFill/>
            <a:miter lim="400000"/>
          </a:ln>
          <a:effectLst/>
        </p:spPr>
        <p:txBody>
          <a:bodyPr wrap="square" lIns="38100" tIns="38100" rIns="38100" bIns="38100" numCol="1" anchor="t">
            <a:spAutoFit/>
          </a:bodyPr>
          <a:lstStyle/>
          <a:p>
            <a:pPr marL="30480" marR="30480" defTabSz="685800" hangingPunct="0">
              <a:lnSpc>
                <a:spcPct val="90000"/>
              </a:lnSpc>
              <a:spcBef>
                <a:spcPts val="975"/>
              </a:spcBef>
              <a:buClrTx/>
              <a:defRPr sz="2400">
                <a:solidFill>
                  <a:srgbClr val="000000"/>
                </a:solidFill>
                <a:uFill>
                  <a:solidFill>
                    <a:srgbClr val="000000"/>
                  </a:solidFill>
                </a:uFill>
                <a:latin typeface="+mn-lt"/>
                <a:ea typeface="+mn-ea"/>
                <a:cs typeface="+mn-cs"/>
                <a:sym typeface="Times New Roman" panose="02020603050405020304"/>
              </a:defRPr>
            </a:pPr>
            <a:r>
              <a:rPr sz="1800" b="1" dirty="0">
                <a:solidFill>
                  <a:srgbClr val="D81E00"/>
                </a:solidFill>
                <a:uFill>
                  <a:solidFill>
                    <a:srgbClr val="D81E00"/>
                  </a:solidFill>
                </a:uFill>
                <a:latin typeface="Perpetua" panose="02020502060401020303"/>
                <a:ea typeface="+mn-ea"/>
                <a:cs typeface="Helvetica"/>
                <a:sym typeface="Times New Roman" panose="02020603050405020304"/>
              </a:rPr>
              <a:t>Runs the previously defined </a:t>
            </a:r>
            <a:r>
              <a:rPr sz="1800" b="1" dirty="0">
                <a:solidFill>
                  <a:srgbClr val="D81E00"/>
                </a:solidFill>
                <a:uFill>
                  <a:solidFill>
                    <a:srgbClr val="D81E00"/>
                  </a:solidFill>
                </a:uFill>
                <a:latin typeface="Courier New" panose="02070309020205020404"/>
                <a:ea typeface="Courier New" panose="02070309020205020404"/>
                <a:cs typeface="Courier New" panose="02070309020205020404"/>
                <a:sym typeface="Courier New" panose="02070309020205020404"/>
              </a:rPr>
              <a:t>Student</a:t>
            </a:r>
            <a:r>
              <a:rPr sz="1800" b="1" dirty="0">
                <a:solidFill>
                  <a:srgbClr val="D81E00"/>
                </a:solidFill>
                <a:uFill>
                  <a:solidFill>
                    <a:srgbClr val="D81E00"/>
                  </a:solidFill>
                </a:uFill>
                <a:latin typeface="Perpetua" panose="02020502060401020303"/>
                <a:ea typeface="+mn-ea"/>
                <a:cs typeface="Helvetica"/>
                <a:sym typeface="Times New Roman" panose="02020603050405020304"/>
              </a:rPr>
              <a:t> constructor</a:t>
            </a:r>
            <a:endParaRPr sz="1800" b="1" dirty="0">
              <a:solidFill>
                <a:srgbClr val="D81E00"/>
              </a:solidFill>
              <a:uFill>
                <a:solidFill>
                  <a:srgbClr val="D81E00"/>
                </a:solidFill>
              </a:uFill>
              <a:latin typeface="Perpetua" panose="02020502060401020303"/>
              <a:ea typeface="+mn-ea"/>
              <a:cs typeface="Helvetica"/>
              <a:sym typeface="Times New Roman" panose="02020603050405020304"/>
            </a:endParaRPr>
          </a:p>
        </p:txBody>
      </p:sp>
      <p:sp>
        <p:nvSpPr>
          <p:cNvPr id="6" name="Line"/>
          <p:cNvSpPr/>
          <p:nvPr/>
        </p:nvSpPr>
        <p:spPr>
          <a:xfrm flipH="1" flipV="1">
            <a:off x="3851982" y="4105437"/>
            <a:ext cx="1371601" cy="1"/>
          </a:xfrm>
          <a:prstGeom prst="line">
            <a:avLst/>
          </a:prstGeom>
          <a:noFill/>
          <a:ln w="25400" cap="flat">
            <a:solidFill>
              <a:srgbClr val="D81E00"/>
            </a:solidFill>
            <a:prstDash val="solid"/>
            <a:round/>
            <a:tailEnd type="triangle" w="med" len="med"/>
          </a:ln>
          <a:effectLst/>
        </p:spPr>
        <p:txBody>
          <a:bodyPr wrap="square" lIns="38100" tIns="38100" rIns="38100" bIns="38100" numCol="1" anchor="ctr">
            <a:noAutofit/>
          </a:bodyPr>
          <a:lstStyle/>
          <a:p>
            <a:pPr defTabSz="342900" hangingPunct="0">
              <a:buClrTx/>
              <a:defRPr sz="1200">
                <a:solidFill>
                  <a:srgbClr val="000000"/>
                </a:solidFill>
                <a:latin typeface="Helvetica"/>
                <a:ea typeface="Helvetica"/>
                <a:cs typeface="Helvetica"/>
                <a:sym typeface="Helvetica"/>
              </a:defRPr>
            </a:pPr>
            <a:endParaRPr sz="900">
              <a:latin typeface="Helvetica"/>
              <a:ea typeface="Helvetica"/>
              <a:cs typeface="Helvetica"/>
              <a:sym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latin typeface="+mn-lt"/>
                <a:cs typeface="Courier New" panose="02070309020205020404" charset="0"/>
              </a:rPr>
              <a:t>Review: </a:t>
            </a:r>
            <a:r>
              <a:rPr lang="en-US" altLang="en-US" b="1" dirty="0">
                <a:latin typeface="Courier New" panose="02070309020205020404" charset="0"/>
                <a:cs typeface="Courier New" panose="02070309020205020404" charset="0"/>
              </a:rPr>
              <a:t>this</a:t>
            </a:r>
            <a:r>
              <a:rPr lang="en-US" altLang="en-US" b="1" dirty="0"/>
              <a:t> Keyword (In </a:t>
            </a:r>
            <a:r>
              <a:rPr lang="en-US" altLang="en-US" b="1" dirty="0" err="1"/>
              <a:t>ThinkingInObjects</a:t>
            </a:r>
            <a:r>
              <a:rPr lang="en-US" altLang="en-US" b="1" dirty="0"/>
              <a:t>)</a:t>
            </a:r>
            <a:endParaRPr lang="en-US" b="1" dirty="0"/>
          </a:p>
        </p:txBody>
      </p:sp>
      <p:sp>
        <p:nvSpPr>
          <p:cNvPr id="3" name="Text Placeholder 2"/>
          <p:cNvSpPr>
            <a:spLocks noGrp="1"/>
          </p:cNvSpPr>
          <p:nvPr>
            <p:ph type="body" idx="1"/>
          </p:nvPr>
        </p:nvSpPr>
        <p:spPr/>
        <p:txBody>
          <a:bodyPr>
            <a:normAutofit/>
          </a:bodyPr>
          <a:lstStyle/>
          <a:p>
            <a:r>
              <a:rPr lang="en-US" altLang="en-US" sz="1900" b="1" u="sng" dirty="0">
                <a:latin typeface="Courier New" panose="02070309020205020404" charset="0"/>
                <a:cs typeface="Courier New" panose="02070309020205020404" charset="0"/>
              </a:rPr>
              <a:t>this</a:t>
            </a:r>
            <a:r>
              <a:rPr lang="en-US" altLang="en-US" sz="1900" dirty="0"/>
              <a:t> keyword is the name of a reference that refers to an object itself.</a:t>
            </a:r>
            <a:endParaRPr lang="en-US" altLang="en-US" sz="1900" dirty="0"/>
          </a:p>
          <a:p>
            <a:pPr marL="114300" indent="0">
              <a:buNone/>
            </a:pPr>
            <a:endParaRPr lang="en-US" altLang="en-US" sz="1900" dirty="0"/>
          </a:p>
          <a:p>
            <a:r>
              <a:rPr lang="en-US" altLang="en-US" sz="1900" dirty="0"/>
              <a:t>Common uses of </a:t>
            </a:r>
            <a:r>
              <a:rPr lang="en-US" altLang="en-US" sz="1900" b="1" u="sng" dirty="0">
                <a:latin typeface="Courier New" panose="02070309020205020404" charset="0"/>
                <a:cs typeface="Courier New" panose="02070309020205020404" charset="0"/>
              </a:rPr>
              <a:t>this</a:t>
            </a:r>
            <a:r>
              <a:rPr lang="en-US" altLang="en-US" sz="1900" dirty="0"/>
              <a:t> keyword:</a:t>
            </a:r>
            <a:endParaRPr lang="en-US" altLang="en-US" sz="1900" dirty="0"/>
          </a:p>
          <a:p>
            <a:pPr marL="582295" lvl="1" indent="-342900">
              <a:buFont typeface="Franklin Gothic Book" panose="020B0503020102020204" pitchFamily="34" charset="0"/>
              <a:buAutoNum type="arabicPeriod"/>
            </a:pPr>
            <a:r>
              <a:rPr lang="en-US" altLang="en-US" sz="1900" dirty="0"/>
              <a:t>Reference a class’s “</a:t>
            </a:r>
            <a:r>
              <a:rPr lang="en-US" altLang="en-US" sz="1900" i="1" dirty="0"/>
              <a:t>hidden”  </a:t>
            </a:r>
            <a:r>
              <a:rPr lang="en-US" altLang="en-US" sz="1900" i="1"/>
              <a:t>data fields. </a:t>
            </a:r>
            <a:endParaRPr lang="en-US" altLang="en-US" sz="1900" dirty="0"/>
          </a:p>
          <a:p>
            <a:pPr marL="582295" lvl="1" indent="-342900">
              <a:buFont typeface="Franklin Gothic Book" panose="020B0503020102020204" pitchFamily="34" charset="0"/>
              <a:buAutoNum type="arabicPeriod"/>
            </a:pPr>
            <a:r>
              <a:rPr lang="en-US" altLang="en-US" sz="1900" dirty="0"/>
              <a:t>To enable a constructor to invoke another constructor of the same class as the first statement in the constructor. </a:t>
            </a:r>
            <a:endParaRPr lang="en-US" altLang="en-US" sz="1900"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Are superclass’s Constructor Inherited?</a:t>
            </a:r>
            <a:endParaRPr lang="en-US" b="1" dirty="0"/>
          </a:p>
        </p:txBody>
      </p:sp>
      <p:sp>
        <p:nvSpPr>
          <p:cNvPr id="3" name="Text Placeholder 2"/>
          <p:cNvSpPr>
            <a:spLocks noGrp="1"/>
          </p:cNvSpPr>
          <p:nvPr>
            <p:ph type="body" idx="1"/>
          </p:nvPr>
        </p:nvSpPr>
        <p:spPr/>
        <p:txBody>
          <a:bodyPr/>
          <a:lstStyle/>
          <a:p>
            <a:r>
              <a:rPr lang="en-US" altLang="en-US" b="1" dirty="0">
                <a:solidFill>
                  <a:schemeClr val="tx1"/>
                </a:solidFill>
              </a:rPr>
              <a:t>No. They are not inherited.</a:t>
            </a:r>
            <a:endParaRPr lang="en-US" altLang="en-US" b="1" dirty="0">
              <a:solidFill>
                <a:schemeClr val="tx1"/>
              </a:solidFill>
            </a:endParaRPr>
          </a:p>
          <a:p>
            <a:r>
              <a:rPr lang="en-US" altLang="en-US" dirty="0"/>
              <a:t>They are invoked explicitly or implicitly:</a:t>
            </a:r>
            <a:endParaRPr lang="en-US" altLang="en-US" dirty="0"/>
          </a:p>
          <a:p>
            <a:pPr lvl="1"/>
            <a:r>
              <a:rPr lang="en-US" altLang="en-US" sz="1800" dirty="0"/>
              <a:t>Explicitly using the </a:t>
            </a:r>
            <a:r>
              <a:rPr lang="en-US" altLang="en-US" sz="1800" b="1" dirty="0">
                <a:solidFill>
                  <a:schemeClr val="tx1"/>
                </a:solidFill>
                <a:latin typeface="Courier New" panose="02070309020205020404" charset="0"/>
                <a:cs typeface="Courier New" panose="02070309020205020404" charset="0"/>
              </a:rPr>
              <a:t>super</a:t>
            </a:r>
            <a:r>
              <a:rPr lang="en-US" altLang="en-US" sz="1800" dirty="0"/>
              <a:t> keyword</a:t>
            </a:r>
            <a:endParaRPr lang="en-US" altLang="en-US" sz="1800" dirty="0"/>
          </a:p>
          <a:p>
            <a:pPr lvl="1"/>
            <a:r>
              <a:rPr lang="en-US" altLang="en-US" sz="1800" dirty="0"/>
              <a:t>If the keyword </a:t>
            </a:r>
            <a:r>
              <a:rPr lang="en-US" altLang="en-US" sz="1800" b="1" dirty="0">
                <a:solidFill>
                  <a:schemeClr val="tx1"/>
                </a:solidFill>
                <a:latin typeface="Courier New" panose="02070309020205020404" charset="0"/>
                <a:cs typeface="Courier New" panose="02070309020205020404" charset="0"/>
              </a:rPr>
              <a:t>super</a:t>
            </a:r>
            <a:r>
              <a:rPr lang="en-US" altLang="en-US" sz="1800" dirty="0">
                <a:solidFill>
                  <a:schemeClr val="tx1"/>
                </a:solidFill>
              </a:rPr>
              <a:t> </a:t>
            </a:r>
            <a:r>
              <a:rPr lang="en-US" altLang="en-US" sz="1800" dirty="0"/>
              <a:t>is not explicitly used, the superclass's no-</a:t>
            </a:r>
            <a:r>
              <a:rPr lang="en-US" altLang="en-US" sz="1800" dirty="0" err="1"/>
              <a:t>arg</a:t>
            </a:r>
            <a:r>
              <a:rPr lang="en-US" altLang="en-US" sz="1800" dirty="0"/>
              <a:t> constructor is automatically invoked as the first statement in the constructor, unless another constructor is invoked (when the last constructor in the chain will invoke the superclass constructor)</a:t>
            </a:r>
            <a:endParaRPr lang="en-US" altLang="en-US" sz="1800" dirty="0"/>
          </a:p>
          <a:p>
            <a:endParaRPr lang="en-US" dirty="0"/>
          </a:p>
        </p:txBody>
      </p:sp>
      <p:graphicFrame>
        <p:nvGraphicFramePr>
          <p:cNvPr id="4" name="Object 2"/>
          <p:cNvGraphicFramePr>
            <a:graphicFrameLocks noChangeAspect="1"/>
          </p:cNvGraphicFramePr>
          <p:nvPr/>
        </p:nvGraphicFramePr>
        <p:xfrm>
          <a:off x="1951435" y="4142185"/>
          <a:ext cx="5478066" cy="1001315"/>
        </p:xfrm>
        <a:graphic>
          <a:graphicData uri="http://schemas.openxmlformats.org/presentationml/2006/ole">
            <mc:AlternateContent xmlns:mc="http://schemas.openxmlformats.org/markup-compatibility/2006">
              <mc:Choice xmlns:v="urn:schemas-microsoft-com:vml" Requires="v">
                <p:oleObj spid="_x0000_s0" name="Picture" r:id="rId1" imgW="4122420" imgH="754380" progId="Word.Picture.8">
                  <p:embed/>
                </p:oleObj>
              </mc:Choice>
              <mc:Fallback>
                <p:oleObj name="Picture" r:id="rId1" imgW="4122420" imgH="754380" progId="Word.Picture.8">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51435" y="4142185"/>
                        <a:ext cx="5478066" cy="1001315"/>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3"/>
          <p:cNvGraphicFramePr>
            <a:graphicFrameLocks noChangeAspect="1"/>
          </p:cNvGraphicFramePr>
          <p:nvPr/>
        </p:nvGraphicFramePr>
        <p:xfrm>
          <a:off x="1951435" y="3352124"/>
          <a:ext cx="5731669" cy="838200"/>
        </p:xfrm>
        <a:graphic>
          <a:graphicData uri="http://schemas.openxmlformats.org/presentationml/2006/ole">
            <mc:AlternateContent xmlns:mc="http://schemas.openxmlformats.org/markup-compatibility/2006">
              <mc:Choice xmlns:v="urn:schemas-microsoft-com:vml" Requires="v">
                <p:oleObj spid="_x0000_s6" name="Picture" r:id="rId3" imgW="4122420" imgH="603250" progId="Word.Picture.8">
                  <p:embed/>
                </p:oleObj>
              </mc:Choice>
              <mc:Fallback>
                <p:oleObj name="Picture" r:id="rId3" imgW="4122420" imgH="603250" progId="Word.Picture.8">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1435" y="3352124"/>
                        <a:ext cx="5731669" cy="838200"/>
                      </a:xfrm>
                      <a:prstGeom prst="rect">
                        <a:avLst/>
                      </a:prstGeom>
                      <a:noFill/>
                      <a:ln>
                        <a:noFill/>
                      </a:ln>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Using the Keyword </a:t>
            </a:r>
            <a:r>
              <a:rPr lang="en-US" altLang="en-US" b="1" dirty="0">
                <a:latin typeface="Courier New" panose="02070309020205020404" charset="0"/>
                <a:cs typeface="Courier New" panose="02070309020205020404" charset="0"/>
              </a:rPr>
              <a:t>super</a:t>
            </a:r>
            <a:endParaRPr lang="en-US" b="1" dirty="0"/>
          </a:p>
        </p:txBody>
      </p:sp>
      <p:sp>
        <p:nvSpPr>
          <p:cNvPr id="3" name="Text Placeholder 2"/>
          <p:cNvSpPr>
            <a:spLocks noGrp="1"/>
          </p:cNvSpPr>
          <p:nvPr>
            <p:ph type="body" idx="1"/>
          </p:nvPr>
        </p:nvSpPr>
        <p:spPr/>
        <p:txBody>
          <a:bodyPr>
            <a:normAutofit/>
          </a:bodyPr>
          <a:lstStyle/>
          <a:p>
            <a:r>
              <a:rPr lang="en-US" altLang="en-US" sz="1900" dirty="0"/>
              <a:t>The keyword </a:t>
            </a:r>
            <a:r>
              <a:rPr lang="en-US" altLang="en-US" sz="1900" b="1" dirty="0">
                <a:solidFill>
                  <a:schemeClr val="tx1"/>
                </a:solidFill>
                <a:latin typeface="Courier New" panose="02070309020205020404" charset="0"/>
                <a:cs typeface="Courier New" panose="02070309020205020404" charset="0"/>
              </a:rPr>
              <a:t>super</a:t>
            </a:r>
            <a:r>
              <a:rPr lang="en-US" altLang="en-US" sz="1900" dirty="0"/>
              <a:t> refers to the superclass of the class in which </a:t>
            </a:r>
            <a:r>
              <a:rPr lang="en-US" altLang="en-US" sz="1900" b="1" dirty="0">
                <a:solidFill>
                  <a:schemeClr val="tx1"/>
                </a:solidFill>
                <a:latin typeface="Courier New" panose="02070309020205020404" charset="0"/>
                <a:cs typeface="Courier New" panose="02070309020205020404" charset="0"/>
              </a:rPr>
              <a:t>super</a:t>
            </a:r>
            <a:r>
              <a:rPr lang="en-US" altLang="en-US" sz="1900" dirty="0"/>
              <a:t> appears. This keyword can be used in two ways:</a:t>
            </a:r>
            <a:endParaRPr lang="en-US" altLang="en-US" sz="1900" dirty="0"/>
          </a:p>
          <a:p>
            <a:pPr marL="114300" indent="0">
              <a:buNone/>
            </a:pPr>
            <a:endParaRPr lang="en-US" altLang="en-US" sz="1900" dirty="0"/>
          </a:p>
          <a:p>
            <a:pPr lvl="1"/>
            <a:r>
              <a:rPr lang="en-US" altLang="en-US" sz="1900" dirty="0"/>
              <a:t>To call a superclass constructor: Java requires that the statement that uses the keyword </a:t>
            </a:r>
            <a:r>
              <a:rPr lang="en-US" altLang="en-US" sz="1900" b="1" dirty="0">
                <a:solidFill>
                  <a:schemeClr val="tx1"/>
                </a:solidFill>
                <a:latin typeface="Courier New" panose="02070309020205020404" charset="0"/>
                <a:cs typeface="Courier New" panose="02070309020205020404" charset="0"/>
              </a:rPr>
              <a:t>super</a:t>
            </a:r>
            <a:r>
              <a:rPr lang="en-US" altLang="en-US" sz="1900" dirty="0"/>
              <a:t> appear first in the constructor (unless another constructor is called or the superclass constructor is called implicitly) to call a superclass method</a:t>
            </a:r>
            <a:endParaRPr lang="en-US" altLang="en-US" sz="1900"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Constructor Chaining</a:t>
            </a:r>
            <a:endParaRPr lang="en-US" b="1" dirty="0"/>
          </a:p>
        </p:txBody>
      </p:sp>
      <p:sp>
        <p:nvSpPr>
          <p:cNvPr id="3" name="Text Placeholder 2"/>
          <p:cNvSpPr>
            <a:spLocks noGrp="1"/>
          </p:cNvSpPr>
          <p:nvPr>
            <p:ph type="body" idx="1"/>
          </p:nvPr>
        </p:nvSpPr>
        <p:spPr/>
        <p:txBody>
          <a:bodyPr/>
          <a:lstStyle/>
          <a:p>
            <a:r>
              <a:rPr lang="en-US" altLang="en-US" b="1" i="1" kern="1200" dirty="0">
                <a:solidFill>
                  <a:prstClr val="black"/>
                </a:solidFill>
                <a:cs typeface="Times New Roman" panose="02020603050405020304" pitchFamily="18" charset="0"/>
                <a:sym typeface="Helvetica"/>
              </a:rPr>
              <a:t>Constructor chaining </a:t>
            </a:r>
            <a:r>
              <a:rPr lang="en-US" altLang="en-US" b="1" kern="1200" dirty="0">
                <a:solidFill>
                  <a:prstClr val="black"/>
                </a:solidFill>
                <a:cs typeface="Times New Roman" panose="02020603050405020304" pitchFamily="18" charset="0"/>
                <a:sym typeface="Helvetica"/>
              </a:rPr>
              <a:t>: constructing an instance of a class invokes all the </a:t>
            </a:r>
            <a:r>
              <a:rPr lang="en-US" altLang="en-US" b="1" kern="1200" dirty="0" err="1">
                <a:solidFill>
                  <a:prstClr val="black"/>
                </a:solidFill>
                <a:cs typeface="Times New Roman" panose="02020603050405020304" pitchFamily="18" charset="0"/>
                <a:sym typeface="Helvetica"/>
              </a:rPr>
              <a:t>superclasses’</a:t>
            </a:r>
            <a:r>
              <a:rPr lang="en-US" altLang="en-US" b="1" kern="1200" dirty="0">
                <a:solidFill>
                  <a:prstClr val="black"/>
                </a:solidFill>
                <a:cs typeface="Times New Roman" panose="02020603050405020304" pitchFamily="18" charset="0"/>
                <a:sym typeface="Helvetica"/>
              </a:rPr>
              <a:t> constructors along the inheritance chain.</a:t>
            </a:r>
            <a:endParaRPr lang="en-US" altLang="en-US" sz="1400" b="1" kern="1200" dirty="0">
              <a:solidFill>
                <a:prstClr val="black"/>
              </a:solidFill>
              <a:cs typeface="Helvetica"/>
              <a:sym typeface="Helvetica"/>
            </a:endParaRPr>
          </a:p>
          <a:p>
            <a:endParaRPr lang="en-US" dirty="0"/>
          </a:p>
        </p:txBody>
      </p:sp>
      <p:sp>
        <p:nvSpPr>
          <p:cNvPr id="4" name="TextBox 3"/>
          <p:cNvSpPr txBox="1"/>
          <p:nvPr/>
        </p:nvSpPr>
        <p:spPr>
          <a:xfrm>
            <a:off x="930583" y="1877352"/>
            <a:ext cx="5078634" cy="3139321"/>
          </a:xfrm>
          <a:prstGeom prst="rect">
            <a:avLst/>
          </a:prstGeom>
          <a:noFill/>
        </p:spPr>
        <p:txBody>
          <a:bodyPr wrap="none" rtlCol="0">
            <a:spAutoFit/>
          </a:bodyPr>
          <a:lstStyle/>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public class </a:t>
            </a:r>
            <a:r>
              <a:rPr lang="en-US" altLang="en-US" sz="900" b="1" kern="1200" dirty="0">
                <a:solidFill>
                  <a:srgbClr val="FF0000"/>
                </a:solidFill>
                <a:latin typeface="Courier New" panose="02070309020205020404" charset="0"/>
                <a:cs typeface="Times New Roman" panose="02020603050405020304" pitchFamily="18" charset="0"/>
                <a:sym typeface="Helvetica"/>
              </a:rPr>
              <a:t>Faculty extends Employee </a:t>
            </a:r>
            <a:r>
              <a:rPr lang="en-US" altLang="en-US" sz="900" b="1" kern="1200" dirty="0">
                <a:solidFill>
                  <a:prstClr val="black"/>
                </a:solidFill>
                <a:latin typeface="Courier New" panose="02070309020205020404" charset="0"/>
                <a:cs typeface="Times New Roman" panose="02020603050405020304" pitchFamily="18" charset="0"/>
                <a:sym typeface="Helvetica"/>
              </a:rPr>
              <a:t>{</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r>
              <a:rPr lang="en-US" altLang="en-US" sz="90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90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900" b="1" kern="1200" dirty="0" err="1">
                <a:solidFill>
                  <a:prstClr val="black"/>
                </a:solidFill>
                <a:latin typeface="Courier New" panose="02070309020205020404" charset="0"/>
                <a:cs typeface="Times New Roman" panose="02020603050405020304" pitchFamily="18" charset="0"/>
                <a:sym typeface="Helvetica"/>
              </a:rPr>
              <a:t>arg</a:t>
            </a:r>
            <a:r>
              <a:rPr lang="en-US" altLang="en-US" sz="90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900" b="1" kern="1200" dirty="0" err="1">
                <a:solidFill>
                  <a:prstClr val="black"/>
                </a:solidFill>
                <a:latin typeface="Courier New" panose="02070309020205020404" charset="0"/>
                <a:cs typeface="Times New Roman" panose="02020603050405020304" pitchFamily="18" charset="0"/>
                <a:sym typeface="Helvetica"/>
              </a:rPr>
              <a:t>args</a:t>
            </a: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class </a:t>
            </a:r>
            <a:r>
              <a:rPr lang="en-US" altLang="en-US" sz="900" b="1" kern="1200" dirty="0">
                <a:solidFill>
                  <a:srgbClr val="FF0000"/>
                </a:solidFill>
                <a:latin typeface="Courier New" panose="02070309020205020404" charset="0"/>
                <a:cs typeface="Times New Roman" panose="02020603050405020304" pitchFamily="18" charset="0"/>
                <a:sym typeface="Helvetica"/>
              </a:rPr>
              <a:t>Employee extends Person </a:t>
            </a:r>
            <a:r>
              <a:rPr lang="en-US" altLang="en-US" sz="900" b="1" kern="1200" dirty="0">
                <a:solidFill>
                  <a:prstClr val="black"/>
                </a:solidFill>
                <a:latin typeface="Courier New" panose="02070309020205020404" charset="0"/>
                <a:cs typeface="Times New Roman" panose="02020603050405020304" pitchFamily="18" charset="0"/>
                <a:sym typeface="Helvetica"/>
              </a:rPr>
              <a:t>{</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r>
              <a:rPr lang="en-US" altLang="en-US" sz="90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90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900" b="1" kern="1200" dirty="0" err="1">
                <a:solidFill>
                  <a:prstClr val="black"/>
                </a:solidFill>
                <a:latin typeface="Courier New" panose="02070309020205020404" charset="0"/>
                <a:cs typeface="Times New Roman" panose="02020603050405020304" pitchFamily="18" charset="0"/>
                <a:sym typeface="Helvetica"/>
              </a:rPr>
              <a:t>arg</a:t>
            </a:r>
            <a:r>
              <a:rPr lang="en-US" altLang="en-US" sz="90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r>
              <a:rPr lang="en-US" altLang="en-US" sz="90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900" b="1" kern="1200" dirty="0">
                <a:solidFill>
                  <a:prstClr val="black"/>
                </a:solidFill>
                <a:latin typeface="Courier New" panose="02070309020205020404" charset="0"/>
                <a:cs typeface="Times New Roman" panose="02020603050405020304" pitchFamily="18" charset="0"/>
                <a:sym typeface="Helvetica"/>
              </a:rPr>
              <a:t>(s);</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r>
              <a:rPr lang="en-US" altLang="en-US" sz="90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90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900" b="1" kern="1200" dirty="0" err="1">
                <a:solidFill>
                  <a:prstClr val="black"/>
                </a:solidFill>
                <a:latin typeface="Courier New" panose="02070309020205020404" charset="0"/>
                <a:cs typeface="Times New Roman" panose="02020603050405020304" pitchFamily="18" charset="0"/>
                <a:sym typeface="Helvetica"/>
              </a:rPr>
              <a:t>arg</a:t>
            </a:r>
            <a:r>
              <a:rPr lang="en-US" altLang="en-US" sz="90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  }</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spcAft>
                <a:spcPct val="0"/>
              </a:spcAft>
              <a:buClrTx/>
            </a:pPr>
            <a:r>
              <a:rPr lang="en-US" altLang="en-US" sz="900" b="1" kern="1200" dirty="0">
                <a:solidFill>
                  <a:prstClr val="black"/>
                </a:solidFill>
                <a:latin typeface="Courier New" panose="02070309020205020404" charset="0"/>
                <a:cs typeface="Times New Roman" panose="02020603050405020304" pitchFamily="18" charset="0"/>
                <a:sym typeface="Helvetica"/>
              </a:rPr>
              <a:t>}</a:t>
            </a:r>
            <a:endParaRPr lang="en-US" altLang="en-US" sz="900" b="1" kern="1200" dirty="0">
              <a:solidFill>
                <a:prstClr val="black"/>
              </a:solidFill>
              <a:latin typeface="Courier New" panose="02070309020205020404" charset="0"/>
              <a:cs typeface="Times New Roman" panose="02020603050405020304" pitchFamily="18" charset="0"/>
              <a:sym typeface="Helvetic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7" name="Text Box 3"/>
          <p:cNvSpPr txBox="1">
            <a:spLocks noChangeArrowheads="1"/>
          </p:cNvSpPr>
          <p:nvPr/>
        </p:nvSpPr>
        <p:spPr bwMode="auto">
          <a:xfrm>
            <a:off x="2026546"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8" name="Rectangle 5"/>
          <p:cNvSpPr>
            <a:spLocks noChangeArrowheads="1"/>
          </p:cNvSpPr>
          <p:nvPr/>
        </p:nvSpPr>
        <p:spPr bwMode="auto">
          <a:xfrm>
            <a:off x="2197996" y="74295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9" name="AutoShape 6"/>
          <p:cNvSpPr>
            <a:spLocks noChangeArrowheads="1"/>
          </p:cNvSpPr>
          <p:nvPr/>
        </p:nvSpPr>
        <p:spPr bwMode="auto">
          <a:xfrm>
            <a:off x="6141346" y="742950"/>
            <a:ext cx="1771650" cy="514350"/>
          </a:xfrm>
          <a:prstGeom prst="wedgeRoundRectCallout">
            <a:avLst>
              <a:gd name="adj1" fmla="val -100671"/>
              <a:gd name="adj2" fmla="val -31481"/>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1. Start from the main method</a:t>
            </a:r>
            <a:endParaRPr lang="en-US" altLang="en-US" sz="1500" kern="1200">
              <a:solidFill>
                <a:prstClr val="black"/>
              </a:solidFill>
              <a:cs typeface="Helvetica"/>
              <a:sym typeface="Helvetic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1" name="AutoShape 5"/>
          <p:cNvSpPr>
            <a:spLocks noChangeArrowheads="1"/>
          </p:cNvSpPr>
          <p:nvPr/>
        </p:nvSpPr>
        <p:spPr bwMode="auto">
          <a:xfrm>
            <a:off x="6149438" y="742950"/>
            <a:ext cx="1771650" cy="514350"/>
          </a:xfrm>
          <a:prstGeom prst="wedgeRoundRectCallout">
            <a:avLst>
              <a:gd name="adj1" fmla="val -99194"/>
              <a:gd name="adj2" fmla="val 694"/>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2. Invoke Faculty constructor</a:t>
            </a:r>
            <a:endParaRPr lang="en-US" altLang="en-US" sz="15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7" name="AutoShape 5"/>
          <p:cNvSpPr>
            <a:spLocks noChangeArrowheads="1"/>
          </p:cNvSpPr>
          <p:nvPr/>
        </p:nvSpPr>
        <p:spPr bwMode="auto">
          <a:xfrm>
            <a:off x="6107966" y="1771650"/>
            <a:ext cx="2343150" cy="514350"/>
          </a:xfrm>
          <a:prstGeom prst="wedgeRoundRectCallout">
            <a:avLst>
              <a:gd name="adj1" fmla="val -94769"/>
              <a:gd name="adj2" fmla="val 7662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3. Invoke Employee’s no-arg constructor</a:t>
            </a:r>
            <a:endParaRPr lang="en-US" altLang="en-US" sz="1500" kern="1200">
              <a:solidFill>
                <a:prstClr val="black"/>
              </a:solidFill>
              <a:cs typeface="Helvetica"/>
              <a:sym typeface="Helvetica"/>
            </a:endParaRPr>
          </a:p>
        </p:txBody>
      </p:sp>
      <p:sp>
        <p:nvSpPr>
          <p:cNvPr id="8" name="Rectangle 7"/>
          <p:cNvSpPr>
            <a:spLocks noChangeArrowheads="1"/>
          </p:cNvSpPr>
          <p:nvPr/>
        </p:nvSpPr>
        <p:spPr bwMode="auto">
          <a:xfrm>
            <a:off x="2278916" y="234315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9" name="AutoShape 5"/>
          <p:cNvSpPr>
            <a:spLocks noChangeArrowheads="1"/>
          </p:cNvSpPr>
          <p:nvPr/>
        </p:nvSpPr>
        <p:spPr bwMode="auto">
          <a:xfrm>
            <a:off x="5709434" y="1885950"/>
            <a:ext cx="2514600" cy="514350"/>
          </a:xfrm>
          <a:prstGeom prst="wedgeRoundRectCallout">
            <a:avLst>
              <a:gd name="adj1" fmla="val -84898"/>
              <a:gd name="adj2" fmla="val 7662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4. Invoke Employee(String) constructor</a:t>
            </a:r>
            <a:endParaRPr lang="en-US" altLang="en-US" sz="1500" kern="1200">
              <a:solidFill>
                <a:prstClr val="black"/>
              </a:solidFill>
              <a:cs typeface="Helvetica"/>
              <a:sym typeface="Helvetica"/>
            </a:endParaRPr>
          </a:p>
        </p:txBody>
      </p:sp>
      <p:sp>
        <p:nvSpPr>
          <p:cNvPr id="11" name="Rectangle 7"/>
          <p:cNvSpPr>
            <a:spLocks noChangeArrowheads="1"/>
          </p:cNvSpPr>
          <p:nvPr/>
        </p:nvSpPr>
        <p:spPr bwMode="auto">
          <a:xfrm>
            <a:off x="2280434" y="251460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3" name="Rectangle 8"/>
          <p:cNvSpPr>
            <a:spLocks noChangeArrowheads="1"/>
          </p:cNvSpPr>
          <p:nvPr/>
        </p:nvSpPr>
        <p:spPr bwMode="auto">
          <a:xfrm>
            <a:off x="2108984" y="314325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1" name="Rectangle 7"/>
          <p:cNvSpPr>
            <a:spLocks noChangeArrowheads="1"/>
          </p:cNvSpPr>
          <p:nvPr/>
        </p:nvSpPr>
        <p:spPr bwMode="auto">
          <a:xfrm>
            <a:off x="2280434" y="251460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3" name="Rectangle 8"/>
          <p:cNvSpPr>
            <a:spLocks noChangeArrowheads="1"/>
          </p:cNvSpPr>
          <p:nvPr/>
        </p:nvSpPr>
        <p:spPr bwMode="auto">
          <a:xfrm>
            <a:off x="2108984" y="314325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4" name="AutoShape 5"/>
          <p:cNvSpPr>
            <a:spLocks noChangeArrowheads="1"/>
          </p:cNvSpPr>
          <p:nvPr/>
        </p:nvSpPr>
        <p:spPr bwMode="auto">
          <a:xfrm>
            <a:off x="5766078" y="3486150"/>
            <a:ext cx="2514600" cy="514350"/>
          </a:xfrm>
          <a:prstGeom prst="wedgeRoundRectCallout">
            <a:avLst>
              <a:gd name="adj1" fmla="val -81773"/>
              <a:gd name="adj2" fmla="val 90278"/>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5. Invoke Person() constructor</a:t>
            </a:r>
            <a:endParaRPr lang="en-US" altLang="en-US" sz="1500" kern="1200">
              <a:solidFill>
                <a:prstClr val="black"/>
              </a:solidFill>
              <a:cs typeface="Helvetica"/>
              <a:sym typeface="Helvetica"/>
            </a:endParaRPr>
          </a:p>
        </p:txBody>
      </p:sp>
      <p:sp>
        <p:nvSpPr>
          <p:cNvPr id="15" name="Rectangle 9"/>
          <p:cNvSpPr>
            <a:spLocks noChangeArrowheads="1"/>
          </p:cNvSpPr>
          <p:nvPr/>
        </p:nvSpPr>
        <p:spPr bwMode="auto">
          <a:xfrm>
            <a:off x="2165628" y="411480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1" name="Rectangle 7"/>
          <p:cNvSpPr>
            <a:spLocks noChangeArrowheads="1"/>
          </p:cNvSpPr>
          <p:nvPr/>
        </p:nvSpPr>
        <p:spPr bwMode="auto">
          <a:xfrm>
            <a:off x="2280434" y="251460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3" name="Rectangle 8"/>
          <p:cNvSpPr>
            <a:spLocks noChangeArrowheads="1"/>
          </p:cNvSpPr>
          <p:nvPr/>
        </p:nvSpPr>
        <p:spPr bwMode="auto">
          <a:xfrm>
            <a:off x="2108984" y="314325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6" name="AutoShape 5"/>
          <p:cNvSpPr>
            <a:spLocks noChangeArrowheads="1"/>
          </p:cNvSpPr>
          <p:nvPr/>
        </p:nvSpPr>
        <p:spPr bwMode="auto">
          <a:xfrm>
            <a:off x="5814630" y="3657600"/>
            <a:ext cx="2514600" cy="514350"/>
          </a:xfrm>
          <a:prstGeom prst="wedgeRoundRectCallout">
            <a:avLst>
              <a:gd name="adj1" fmla="val -84898"/>
              <a:gd name="adj2" fmla="val 7662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6. Execute println</a:t>
            </a:r>
            <a:endParaRPr lang="en-US" altLang="en-US" sz="1500" kern="1200">
              <a:solidFill>
                <a:prstClr val="black"/>
              </a:solidFill>
              <a:cs typeface="Helvetica"/>
              <a:sym typeface="Helvetica"/>
            </a:endParaRPr>
          </a:p>
        </p:txBody>
      </p:sp>
      <p:sp>
        <p:nvSpPr>
          <p:cNvPr id="17" name="Rectangle 9"/>
          <p:cNvSpPr>
            <a:spLocks noChangeArrowheads="1"/>
          </p:cNvSpPr>
          <p:nvPr/>
        </p:nvSpPr>
        <p:spPr bwMode="auto">
          <a:xfrm>
            <a:off x="2385630" y="4286250"/>
            <a:ext cx="52578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1" name="Rectangle 7"/>
          <p:cNvSpPr>
            <a:spLocks noChangeArrowheads="1"/>
          </p:cNvSpPr>
          <p:nvPr/>
        </p:nvSpPr>
        <p:spPr bwMode="auto">
          <a:xfrm>
            <a:off x="2280434" y="2514600"/>
            <a:ext cx="4286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4" name="AutoShape 5"/>
          <p:cNvSpPr>
            <a:spLocks noChangeArrowheads="1"/>
          </p:cNvSpPr>
          <p:nvPr/>
        </p:nvSpPr>
        <p:spPr bwMode="auto">
          <a:xfrm>
            <a:off x="5782262" y="3657600"/>
            <a:ext cx="2514600" cy="514350"/>
          </a:xfrm>
          <a:prstGeom prst="wedgeRoundRectCallout">
            <a:avLst>
              <a:gd name="adj1" fmla="val -87310"/>
              <a:gd name="adj2" fmla="val -103935"/>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7. Execute println</a:t>
            </a:r>
            <a:endParaRPr lang="en-US" altLang="en-US" sz="1500" kern="1200">
              <a:solidFill>
                <a:prstClr val="black"/>
              </a:solidFill>
              <a:cs typeface="Helvetica"/>
              <a:sym typeface="Helvetica"/>
            </a:endParaRPr>
          </a:p>
        </p:txBody>
      </p:sp>
      <p:sp>
        <p:nvSpPr>
          <p:cNvPr id="15" name="Rectangle 9"/>
          <p:cNvSpPr>
            <a:spLocks noChangeArrowheads="1"/>
          </p:cNvSpPr>
          <p:nvPr/>
        </p:nvSpPr>
        <p:spPr bwMode="auto">
          <a:xfrm>
            <a:off x="2353262" y="3314700"/>
            <a:ext cx="52578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12" name="Rectangle 6"/>
          <p:cNvSpPr>
            <a:spLocks noChangeArrowheads="1"/>
          </p:cNvSpPr>
          <p:nvPr/>
        </p:nvSpPr>
        <p:spPr bwMode="auto">
          <a:xfrm>
            <a:off x="2263238" y="1371600"/>
            <a:ext cx="32004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9" name="AutoShape 5"/>
          <p:cNvSpPr>
            <a:spLocks noChangeArrowheads="1"/>
          </p:cNvSpPr>
          <p:nvPr/>
        </p:nvSpPr>
        <p:spPr bwMode="auto">
          <a:xfrm>
            <a:off x="5830814" y="3657600"/>
            <a:ext cx="2514600" cy="514350"/>
          </a:xfrm>
          <a:prstGeom prst="wedgeRoundRectCallout">
            <a:avLst>
              <a:gd name="adj1" fmla="val -71449"/>
              <a:gd name="adj2" fmla="val -218750"/>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8. Execute println</a:t>
            </a:r>
            <a:endParaRPr lang="en-US" altLang="en-US" sz="1500" kern="1200">
              <a:solidFill>
                <a:prstClr val="black"/>
              </a:solidFill>
              <a:cs typeface="Helvetica"/>
              <a:sym typeface="Helvetica"/>
            </a:endParaRPr>
          </a:p>
        </p:txBody>
      </p:sp>
      <p:sp>
        <p:nvSpPr>
          <p:cNvPr id="13" name="Rectangle 8"/>
          <p:cNvSpPr>
            <a:spLocks noChangeArrowheads="1"/>
          </p:cNvSpPr>
          <p:nvPr/>
        </p:nvSpPr>
        <p:spPr bwMode="auto">
          <a:xfrm>
            <a:off x="2401814" y="2686050"/>
            <a:ext cx="52578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Execution</a:t>
            </a:r>
            <a:endParaRPr lang="en-US" b="1" dirty="0"/>
          </a:p>
        </p:txBody>
      </p:sp>
      <p:sp>
        <p:nvSpPr>
          <p:cNvPr id="6" name="Text Box 3"/>
          <p:cNvSpPr txBox="1">
            <a:spLocks noChangeArrowheads="1"/>
          </p:cNvSpPr>
          <p:nvPr/>
        </p:nvSpPr>
        <p:spPr bwMode="auto">
          <a:xfrm>
            <a:off x="2034638" y="628650"/>
            <a:ext cx="6515100" cy="42126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public class Faculty extends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static void main(String[] </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args</a:t>
            </a: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new Faculty();</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Faculty()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("(4) Faculty's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Employee extends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this("(2) Invoke Employee’s overloaded constructor");</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("(3) Employee's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Employee(String s)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(s);</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class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public Person()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r>
              <a:rPr lang="en-US" altLang="en-US" sz="105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1050" b="1" kern="1200" dirty="0">
                <a:solidFill>
                  <a:prstClr val="black"/>
                </a:solidFill>
                <a:latin typeface="Courier New" panose="02070309020205020404" charset="0"/>
                <a:cs typeface="Times New Roman" panose="02020603050405020304" pitchFamily="18" charset="0"/>
                <a:sym typeface="Helvetica"/>
              </a:rPr>
              <a:t>("(1) Person's no-</a:t>
            </a:r>
            <a:r>
              <a:rPr lang="en-US" altLang="en-US" sz="1050" b="1" kern="1200" dirty="0" err="1">
                <a:solidFill>
                  <a:prstClr val="black"/>
                </a:solidFill>
                <a:latin typeface="Courier New" panose="02070309020205020404" charset="0"/>
                <a:cs typeface="Times New Roman" panose="02020603050405020304" pitchFamily="18" charset="0"/>
                <a:sym typeface="Helvetica"/>
              </a:rPr>
              <a:t>arg</a:t>
            </a:r>
            <a:r>
              <a:rPr lang="en-US" altLang="en-US" sz="1050" b="1" kern="1200" dirty="0">
                <a:solidFill>
                  <a:prstClr val="black"/>
                </a:solidFill>
                <a:latin typeface="Courier New" panose="02070309020205020404" charset="0"/>
                <a:cs typeface="Times New Roman" panose="02020603050405020304" pitchFamily="18" charset="0"/>
                <a:sym typeface="Helvetica"/>
              </a:rPr>
              <a:t> constructor is invoked");</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  }</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1050" b="1" kern="1200" dirty="0">
                <a:solidFill>
                  <a:prstClr val="black"/>
                </a:solidFill>
                <a:latin typeface="Courier New" panose="02070309020205020404" charset="0"/>
                <a:cs typeface="Times New Roman" panose="02020603050405020304" pitchFamily="18" charset="0"/>
                <a:sym typeface="Helvetica"/>
              </a:rPr>
              <a:t>}</a:t>
            </a:r>
            <a:endParaRPr lang="en-US" altLang="en-US" sz="1050" b="1" kern="1200" dirty="0">
              <a:solidFill>
                <a:prstClr val="black"/>
              </a:solidFill>
              <a:latin typeface="Courier New" panose="02070309020205020404" charset="0"/>
              <a:cs typeface="Times New Roman" panose="02020603050405020304" pitchFamily="18" charset="0"/>
              <a:sym typeface="Helvetica"/>
            </a:endParaRPr>
          </a:p>
        </p:txBody>
      </p:sp>
      <p:sp>
        <p:nvSpPr>
          <p:cNvPr id="10" name="Rectangle 4"/>
          <p:cNvSpPr>
            <a:spLocks noChangeArrowheads="1"/>
          </p:cNvSpPr>
          <p:nvPr/>
        </p:nvSpPr>
        <p:spPr bwMode="auto">
          <a:xfrm>
            <a:off x="2263239" y="914400"/>
            <a:ext cx="314325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
        <p:nvSpPr>
          <p:cNvPr id="8" name="AutoShape 5"/>
          <p:cNvSpPr>
            <a:spLocks noChangeArrowheads="1"/>
          </p:cNvSpPr>
          <p:nvPr/>
        </p:nvSpPr>
        <p:spPr bwMode="auto">
          <a:xfrm>
            <a:off x="5904655" y="1879997"/>
            <a:ext cx="2514600" cy="514350"/>
          </a:xfrm>
          <a:prstGeom prst="wedgeRoundRectCallout">
            <a:avLst>
              <a:gd name="adj1" fmla="val -60083"/>
              <a:gd name="adj2" fmla="val -85417"/>
              <a:gd name="adj3" fmla="val 16667"/>
            </a:avLst>
          </a:prstGeom>
          <a:solidFill>
            <a:schemeClr val="bg1"/>
          </a:solidFill>
          <a:ln w="12700">
            <a:solidFill>
              <a:schemeClr val="tx1"/>
            </a:solidFill>
            <a:miter lim="800000"/>
            <a:headEnd type="none" w="sm" len="sm"/>
            <a:tailEnd type="none" w="sm" len="sm"/>
          </a:ln>
        </p:spPr>
        <p:txBody>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r>
              <a:rPr lang="en-US" altLang="en-US" sz="1500" kern="1200">
                <a:solidFill>
                  <a:prstClr val="black"/>
                </a:solidFill>
                <a:cs typeface="Helvetica"/>
                <a:sym typeface="Helvetica"/>
              </a:rPr>
              <a:t>9. Execute println</a:t>
            </a:r>
            <a:endParaRPr lang="en-US" altLang="en-US" sz="1500" kern="1200">
              <a:solidFill>
                <a:prstClr val="black"/>
              </a:solidFill>
              <a:cs typeface="Helvetica"/>
              <a:sym typeface="Helvetica"/>
            </a:endParaRPr>
          </a:p>
        </p:txBody>
      </p:sp>
      <p:sp>
        <p:nvSpPr>
          <p:cNvPr id="11" name="Rectangle 7"/>
          <p:cNvSpPr>
            <a:spLocks noChangeArrowheads="1"/>
          </p:cNvSpPr>
          <p:nvPr/>
        </p:nvSpPr>
        <p:spPr bwMode="auto">
          <a:xfrm>
            <a:off x="2361354" y="1543050"/>
            <a:ext cx="5257800" cy="171450"/>
          </a:xfrm>
          <a:prstGeom prst="rect">
            <a:avLst/>
          </a:prstGeom>
          <a:solidFill>
            <a:srgbClr val="FFFF00">
              <a:alpha val="45097"/>
            </a:srgbClr>
          </a:solidFill>
          <a:ln w="12700">
            <a:solidFill>
              <a:schemeClr val="tx1"/>
            </a:solidFill>
            <a:miter lim="800000"/>
            <a:headEnd type="none" w="sm" len="sm"/>
            <a:tailEnd type="none" w="sm" len="sm"/>
          </a:ln>
        </p:spPr>
        <p:txBody>
          <a:bodyPr wrap="none" anchor="ct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spcBef>
                <a:spcPct val="0"/>
              </a:spcBef>
              <a:spcAft>
                <a:spcPct val="0"/>
              </a:spcAft>
              <a:buClrTx/>
            </a:pPr>
            <a:endParaRPr lang="en-US" altLang="en-US" sz="1200" kern="1200">
              <a:solidFill>
                <a:prstClr val="black"/>
              </a:solidFill>
              <a:cs typeface="Helvetica"/>
              <a:sym typeface="Helvetic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Calling Superclass Methods</a:t>
            </a:r>
            <a:endParaRPr lang="en-US" b="1" dirty="0"/>
          </a:p>
        </p:txBody>
      </p:sp>
      <p:sp>
        <p:nvSpPr>
          <p:cNvPr id="9" name="Text Box 9"/>
          <p:cNvSpPr txBox="1">
            <a:spLocks noChangeArrowheads="1"/>
          </p:cNvSpPr>
          <p:nvPr/>
        </p:nvSpPr>
        <p:spPr bwMode="auto">
          <a:xfrm>
            <a:off x="1098390" y="1324796"/>
            <a:ext cx="6515100"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defRPr sz="1600">
                <a:solidFill>
                  <a:schemeClr val="tx1"/>
                </a:solidFill>
                <a:latin typeface="Times New Roman" panose="02020603050405020304" pitchFamily="18" charset="0"/>
              </a:defRPr>
            </a:lvl1pPr>
            <a:lvl2pPr marL="742950" indent="-285750">
              <a:defRPr sz="1600">
                <a:solidFill>
                  <a:schemeClr val="tx1"/>
                </a:solidFill>
                <a:latin typeface="Times New Roman" panose="02020603050405020304" pitchFamily="18" charset="0"/>
              </a:defRPr>
            </a:lvl2pPr>
            <a:lvl3pPr marL="1143000" indent="-228600">
              <a:defRPr sz="1600">
                <a:solidFill>
                  <a:schemeClr val="tx1"/>
                </a:solidFill>
                <a:latin typeface="Times New Roman" panose="02020603050405020304" pitchFamily="18" charset="0"/>
              </a:defRPr>
            </a:lvl3pPr>
            <a:lvl4pPr marL="1600200" indent="-228600">
              <a:defRPr sz="1600">
                <a:solidFill>
                  <a:schemeClr val="tx1"/>
                </a:solidFill>
                <a:latin typeface="Times New Roman" panose="02020603050405020304" pitchFamily="18" charset="0"/>
              </a:defRPr>
            </a:lvl4pPr>
            <a:lvl5pPr marL="2057400" indent="-228600">
              <a:defRPr sz="16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a:solidFill>
                  <a:schemeClr val="tx1"/>
                </a:solidFill>
                <a:latin typeface="Times New Roman" panose="02020603050405020304" pitchFamily="18" charset="0"/>
              </a:defRPr>
            </a:lvl9pPr>
          </a:lstStyle>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public void </a:t>
            </a:r>
            <a:r>
              <a:rPr lang="en-US" altLang="en-US" sz="2400" b="1" kern="1200" dirty="0" err="1">
                <a:solidFill>
                  <a:prstClr val="black"/>
                </a:solidFill>
                <a:latin typeface="Courier New" panose="02070309020205020404" charset="0"/>
                <a:cs typeface="Times New Roman" panose="02020603050405020304" pitchFamily="18" charset="0"/>
                <a:sym typeface="Helvetica"/>
              </a:rPr>
              <a:t>printCircle</a:t>
            </a:r>
            <a:r>
              <a:rPr lang="en-US" altLang="en-US" sz="2400" b="1" kern="1200" dirty="0">
                <a:solidFill>
                  <a:prstClr val="black"/>
                </a:solidFill>
                <a:latin typeface="Courier New" panose="02070309020205020404" charset="0"/>
                <a:cs typeface="Times New Roman" panose="02020603050405020304" pitchFamily="18" charset="0"/>
                <a:sym typeface="Helvetica"/>
              </a:rPr>
              <a:t>() {</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  </a:t>
            </a:r>
            <a:r>
              <a:rPr lang="en-US" altLang="en-US" sz="2400" b="1" kern="1200" dirty="0" err="1">
                <a:solidFill>
                  <a:prstClr val="black"/>
                </a:solidFill>
                <a:latin typeface="Courier New" panose="02070309020205020404" charset="0"/>
                <a:cs typeface="Times New Roman" panose="02020603050405020304" pitchFamily="18" charset="0"/>
                <a:sym typeface="Helvetica"/>
              </a:rPr>
              <a:t>System.out.println</a:t>
            </a:r>
            <a:r>
              <a:rPr lang="en-US" altLang="en-US" sz="2400" b="1" kern="1200" dirty="0">
                <a:solidFill>
                  <a:prstClr val="black"/>
                </a:solidFill>
                <a:latin typeface="Courier New" panose="02070309020205020404" charset="0"/>
                <a:cs typeface="Times New Roman" panose="02020603050405020304" pitchFamily="18" charset="0"/>
                <a:sym typeface="Helvetica"/>
              </a:rPr>
              <a:t>(</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	"The circle is created " + </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    </a:t>
            </a:r>
            <a:r>
              <a:rPr lang="en-US" altLang="en-US" sz="2400" b="1" kern="1200" dirty="0" err="1">
                <a:solidFill>
                  <a:srgbClr val="FF0000"/>
                </a:solidFill>
                <a:latin typeface="Courier New" panose="02070309020205020404" charset="0"/>
                <a:cs typeface="Times New Roman" panose="02020603050405020304" pitchFamily="18" charset="0"/>
                <a:sym typeface="Helvetica"/>
              </a:rPr>
              <a:t>super.getDateCreated</a:t>
            </a:r>
            <a:r>
              <a:rPr lang="en-US" altLang="en-US" sz="2400" b="1" kern="1200" dirty="0">
                <a:solidFill>
                  <a:srgbClr val="FF0000"/>
                </a:solidFill>
                <a:latin typeface="Courier New" panose="02070309020205020404" charset="0"/>
                <a:cs typeface="Times New Roman" panose="02020603050405020304" pitchFamily="18" charset="0"/>
                <a:sym typeface="Helvetica"/>
              </a:rPr>
              <a:t>()</a:t>
            </a:r>
            <a:r>
              <a:rPr lang="en-US" altLang="en-US" sz="2400" b="1" kern="1200" dirty="0">
                <a:solidFill>
                  <a:prstClr val="black"/>
                </a:solidFill>
                <a:latin typeface="Courier New" panose="02070309020205020404" charset="0"/>
                <a:cs typeface="Times New Roman" panose="02020603050405020304" pitchFamily="18" charset="0"/>
                <a:sym typeface="Helvetica"/>
              </a:rPr>
              <a:t> + </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	" and the radius is " + </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	radius);</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a:p>
            <a:pPr defTabSz="685800" eaLnBrk="0" fontAlgn="base" hangingPunct="0">
              <a:lnSpc>
                <a:spcPct val="50000"/>
              </a:lnSpc>
              <a:spcBef>
                <a:spcPct val="50000"/>
              </a:spcBef>
              <a:spcAft>
                <a:spcPct val="0"/>
              </a:spcAft>
              <a:buClrTx/>
            </a:pPr>
            <a:r>
              <a:rPr lang="en-US" altLang="en-US" sz="2400" b="1" kern="1200" dirty="0">
                <a:solidFill>
                  <a:prstClr val="black"/>
                </a:solidFill>
                <a:latin typeface="Courier New" panose="02070309020205020404" charset="0"/>
                <a:cs typeface="Times New Roman" panose="02020603050405020304" pitchFamily="18" charset="0"/>
                <a:sym typeface="Helvetica"/>
              </a:rPr>
              <a:t>}</a:t>
            </a:r>
            <a:endParaRPr lang="en-US" altLang="en-US" sz="2400" b="1" kern="1200" dirty="0">
              <a:solidFill>
                <a:prstClr val="black"/>
              </a:solidFill>
              <a:latin typeface="Courier New" panose="02070309020205020404" charset="0"/>
              <a:cs typeface="Times New Roman" panose="02020603050405020304" pitchFamily="18" charset="0"/>
              <a:sym typeface="Helvetica"/>
            </a:endParaRPr>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4.jpeg"/></Relationships>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eme1">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lnDef>
      <a:spPr>
        <a:ln w="1270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spcBef>
            <a:spcPct val="50000"/>
          </a:spcBef>
          <a:defRPr dirty="0">
            <a:solidFill>
              <a:srgbClr val="C00000"/>
            </a:solidFill>
            <a:latin typeface="+mn-lt"/>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E2F7A1478630F4C84AA79FECBBE66E3" ma:contentTypeVersion="3" ma:contentTypeDescription="Create a new document." ma:contentTypeScope="" ma:versionID="c9c377e3b8e0e2ab9f0eac9809b4db93">
  <xsd:schema xmlns:xsd="http://www.w3.org/2001/XMLSchema" xmlns:xs="http://www.w3.org/2001/XMLSchema" xmlns:p="http://schemas.microsoft.com/office/2006/metadata/properties" xmlns:ns2="dd520bba-7c1e-4c79-bf9d-255d7ed0f3a3" targetNamespace="http://schemas.microsoft.com/office/2006/metadata/properties" ma:root="true" ma:fieldsID="6df6a781603a717f4f28054941dc04fe" ns2:_="">
    <xsd:import namespace="dd520bba-7c1e-4c79-bf9d-255d7ed0f3a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20bba-7c1e-4c79-bf9d-255d7ed0f3a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A616242-F383-46C9-A678-FCADF25151E2}">
  <ds:schemaRefs/>
</ds:datastoreItem>
</file>

<file path=customXml/itemProps2.xml><?xml version="1.0" encoding="utf-8"?>
<ds:datastoreItem xmlns:ds="http://schemas.openxmlformats.org/officeDocument/2006/customXml" ds:itemID="{86BA3632-2681-4DD0-A2F0-6375E5FCEC85}">
  <ds:schemaRefs/>
</ds:datastoreItem>
</file>

<file path=customXml/itemProps3.xml><?xml version="1.0" encoding="utf-8"?>
<ds:datastoreItem xmlns:ds="http://schemas.openxmlformats.org/officeDocument/2006/customXml" ds:itemID="{6844B68F-1F4D-4D9E-B93A-4095E17B5951}">
  <ds:schemaRefs/>
</ds:datastoreItem>
</file>

<file path=docProps/app.xml><?xml version="1.0" encoding="utf-8"?>
<Properties xmlns="http://schemas.openxmlformats.org/officeDocument/2006/extended-properties" xmlns:vt="http://schemas.openxmlformats.org/officeDocument/2006/docPropsVTypes">
  <TotalTime>0</TotalTime>
  <Words>14154</Words>
  <Application>WPS 演示</Application>
  <PresentationFormat>On-screen Show (16:9)</PresentationFormat>
  <Paragraphs>750</Paragraphs>
  <Slides>35</Slides>
  <Notes>10</Notes>
  <HiddenSlides>0</HiddenSlides>
  <MMClips>0</MMClips>
  <ScaleCrop>false</ScaleCrop>
  <HeadingPairs>
    <vt:vector size="8" baseType="variant">
      <vt:variant>
        <vt:lpstr>已用的字体</vt:lpstr>
      </vt:variant>
      <vt:variant>
        <vt:i4>19</vt:i4>
      </vt:variant>
      <vt:variant>
        <vt:lpstr>主题</vt:lpstr>
      </vt:variant>
      <vt:variant>
        <vt:i4>2</vt:i4>
      </vt:variant>
      <vt:variant>
        <vt:lpstr>嵌入 OLE 服务器</vt:lpstr>
      </vt:variant>
      <vt:variant>
        <vt:i4>2</vt:i4>
      </vt:variant>
      <vt:variant>
        <vt:lpstr>幻灯片标题</vt:lpstr>
      </vt:variant>
      <vt:variant>
        <vt:i4>35</vt:i4>
      </vt:variant>
    </vt:vector>
  </HeadingPairs>
  <TitlesOfParts>
    <vt:vector size="58" baseType="lpstr">
      <vt:lpstr>Arial</vt:lpstr>
      <vt:lpstr>宋体</vt:lpstr>
      <vt:lpstr>Wingdings</vt:lpstr>
      <vt:lpstr>Arial</vt:lpstr>
      <vt:lpstr>Helvetica</vt:lpstr>
      <vt:lpstr>Times New Roman</vt:lpstr>
      <vt:lpstr>Franklin Gothic Book</vt:lpstr>
      <vt:lpstr>Wingdings 2</vt:lpstr>
      <vt:lpstr>Lucida Grande</vt:lpstr>
      <vt:lpstr>Baskerville</vt:lpstr>
      <vt:lpstr>Baskerville Old Face</vt:lpstr>
      <vt:lpstr>Courier New</vt:lpstr>
      <vt:lpstr>Consolas</vt:lpstr>
      <vt:lpstr>Perpetua</vt:lpstr>
      <vt:lpstr>微软雅黑</vt:lpstr>
      <vt:lpstr>Arial Unicode MS</vt:lpstr>
      <vt:lpstr>Courier</vt:lpstr>
      <vt:lpstr>Courier New</vt:lpstr>
      <vt:lpstr>Times New Roman</vt:lpstr>
      <vt:lpstr>Simple Light</vt:lpstr>
      <vt:lpstr>Theme1</vt:lpstr>
      <vt:lpstr>Word.Picture.8</vt:lpstr>
      <vt:lpstr>Word.Picture.8</vt:lpstr>
      <vt:lpstr>Inheritance and Polymorphism</vt:lpstr>
      <vt:lpstr>Cats and Dogs</vt:lpstr>
      <vt:lpstr>Cats and Dogs cont..</vt:lpstr>
      <vt:lpstr>Cats and Dogs: Inheritance</vt:lpstr>
      <vt:lpstr>Inheritance</vt:lpstr>
      <vt:lpstr>Inheritance: Terminologies</vt:lpstr>
      <vt:lpstr>Why use Inheritance?</vt:lpstr>
      <vt:lpstr>Inheritance Syntax</vt:lpstr>
      <vt:lpstr>Sample Inheritance Code:</vt:lpstr>
      <vt:lpstr>More Definitions</vt:lpstr>
      <vt:lpstr>PowerPoint 演示文稿</vt:lpstr>
      <vt:lpstr>PowerPoint 演示文稿</vt:lpstr>
      <vt:lpstr>Organizing classes with Inheritance</vt:lpstr>
      <vt:lpstr>Example: Parent Class: Person</vt:lpstr>
      <vt:lpstr>Example: Child (Sub-)Class: Student</vt:lpstr>
      <vt:lpstr>Example: Child (Sub-)Class: Employee</vt:lpstr>
      <vt:lpstr>Example: Using all three classes</vt:lpstr>
      <vt:lpstr>Inheritance: public vs. private</vt:lpstr>
      <vt:lpstr> Four Levels of Class Member Access</vt:lpstr>
      <vt:lpstr> Member Accessibility</vt:lpstr>
      <vt:lpstr>Inheritance: super() and this()</vt:lpstr>
      <vt:lpstr>Review: this Keyword (In ThinkingInObjects)</vt:lpstr>
      <vt:lpstr>Are superclass’s Constructor Inherited?</vt:lpstr>
      <vt:lpstr>Using the Keyword super</vt:lpstr>
      <vt:lpstr>Constructor Chaining</vt:lpstr>
      <vt:lpstr>Execution</vt:lpstr>
      <vt:lpstr>Execution</vt:lpstr>
      <vt:lpstr>Execution</vt:lpstr>
      <vt:lpstr>Execution</vt:lpstr>
      <vt:lpstr>Execution</vt:lpstr>
      <vt:lpstr>Execution</vt:lpstr>
      <vt:lpstr>Execution</vt:lpstr>
      <vt:lpstr>Execution</vt:lpstr>
      <vt:lpstr>Execution</vt:lpstr>
      <vt:lpstr>Calling Superclass Methods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霄苒</cp:lastModifiedBy>
  <cp:revision>1026</cp:revision>
  <dcterms:created xsi:type="dcterms:W3CDTF">2025-12-03T14:43:34Z</dcterms:created>
  <dcterms:modified xsi:type="dcterms:W3CDTF">2025-12-04T05:56:44Z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0x0101008E2F7A1478630F4C84AA79FECBBE66E3</vt:lpwstr>
  </property>
  <property fmtid="{D5CDD505-2E9C-101B-9397-08002B2CF9AE}" pid="3" name="ICV">
    <vt:lpwstr>8164C5E9381B4C0DAAFF486E9533D13A_12</vt:lpwstr>
  </property>
  <property fmtid="{D5CDD505-2E9C-101B-9397-08002B2CF9AE}" pid="4" name="KSOProductBuildVer">
    <vt:lpwstr>2052-12.1.0.23542</vt:lpwstr>
  </property>
</Properties>
</file>