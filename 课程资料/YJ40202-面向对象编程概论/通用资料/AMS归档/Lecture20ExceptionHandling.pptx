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60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85277" autoAdjust="0"/>
  </p:normalViewPr>
  <p:slideViewPr>
    <p:cSldViewPr snapToGrid="0">
      <p:cViewPr varScale="1">
        <p:scale>
          <a:sx n="126" d="100"/>
          <a:sy n="126" d="100"/>
        </p:scale>
        <p:origin x="10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CFFA9A75-F840-4F6F-AF7D-069F806E1180}"/>
    <pc:docChg chg="delSld modSld">
      <pc:chgData name="于 心瑞 Xinrui YU" userId="e6fcc6d4-2b88-4beb-95d7-57ae4d33a768" providerId="ADAL" clId="{CFFA9A75-F840-4F6F-AF7D-069F806E1180}" dt="2025-12-10T00:14:24.403" v="2" actId="47"/>
      <pc:docMkLst>
        <pc:docMk/>
      </pc:docMkLst>
      <pc:sldChg chg="delSp mod">
        <pc:chgData name="于 心瑞 Xinrui YU" userId="e6fcc6d4-2b88-4beb-95d7-57ae4d33a768" providerId="ADAL" clId="{CFFA9A75-F840-4F6F-AF7D-069F806E1180}" dt="2025-12-10T00:13:27.130" v="0" actId="33640"/>
        <pc:sldMkLst>
          <pc:docMk/>
          <pc:sldMk cId="864194928" sldId="270"/>
        </pc:sldMkLst>
        <pc:inkChg chg="del">
          <ac:chgData name="于 心瑞 Xinrui YU" userId="e6fcc6d4-2b88-4beb-95d7-57ae4d33a768" providerId="ADAL" clId="{CFFA9A75-F840-4F6F-AF7D-069F806E1180}" dt="2025-12-10T00:13:27.130" v="0" actId="33640"/>
          <ac:inkMkLst>
            <pc:docMk/>
            <pc:sldMk cId="864194928" sldId="270"/>
            <ac:inkMk id="3" creationId="{69ED16F3-E3D4-AF2D-EC20-7ADD6F67C7E7}"/>
          </ac:inkMkLst>
        </pc:inkChg>
      </pc:sldChg>
      <pc:sldChg chg="delSp mod">
        <pc:chgData name="于 心瑞 Xinrui YU" userId="e6fcc6d4-2b88-4beb-95d7-57ae4d33a768" providerId="ADAL" clId="{CFFA9A75-F840-4F6F-AF7D-069F806E1180}" dt="2025-12-10T00:13:29.371" v="1" actId="33639"/>
        <pc:sldMkLst>
          <pc:docMk/>
          <pc:sldMk cId="1620168668" sldId="271"/>
        </pc:sldMkLst>
        <pc:inkChg chg="del">
          <ac:chgData name="于 心瑞 Xinrui YU" userId="e6fcc6d4-2b88-4beb-95d7-57ae4d33a768" providerId="ADAL" clId="{CFFA9A75-F840-4F6F-AF7D-069F806E1180}" dt="2025-12-10T00:13:29.371" v="1" actId="33639"/>
          <ac:inkMkLst>
            <pc:docMk/>
            <pc:sldMk cId="1620168668" sldId="271"/>
            <ac:inkMk id="3" creationId="{476671FD-EA03-3841-B23B-C881DC50CC7E}"/>
          </ac:inkMkLst>
        </pc:inkChg>
      </pc:sldChg>
      <pc:sldChg chg="del">
        <pc:chgData name="于 心瑞 Xinrui YU" userId="e6fcc6d4-2b88-4beb-95d7-57ae4d33a768" providerId="ADAL" clId="{CFFA9A75-F840-4F6F-AF7D-069F806E1180}" dt="2025-12-10T00:14:24.403" v="2" actId="47"/>
        <pc:sldMkLst>
          <pc:docMk/>
          <pc:sldMk cId="403724764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Last line is to shown graceful termination. </a:t>
            </a:r>
          </a:p>
          <a:p>
            <a:r>
              <a:rPr lang="en-US" altLang="zh-CN" dirty="0"/>
              <a:t>Graceful termination of the program in the event of an exception.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6670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 should have a good idea about the exception class hierarchy. </a:t>
            </a:r>
          </a:p>
          <a:p>
            <a:r>
              <a:rPr lang="en-US" altLang="zh-CN" dirty="0"/>
              <a:t>The ultimate parent exception class is the Throwable class.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518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 can throw more than one exceptions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443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TheException</a:t>
            </a:r>
            <a:r>
              <a:rPr lang="en-US" altLang="zh-CN" dirty="0"/>
              <a:t> is just a placeholder. The</a:t>
            </a:r>
            <a:r>
              <a:rPr lang="zh-CN" altLang="en-US" dirty="0"/>
              <a:t> </a:t>
            </a:r>
            <a:r>
              <a:rPr lang="en-US" altLang="zh-CN" dirty="0"/>
              <a:t>error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runtime</a:t>
            </a:r>
            <a:r>
              <a:rPr lang="zh-CN" altLang="en-US" dirty="0"/>
              <a:t> </a:t>
            </a:r>
            <a:r>
              <a:rPr lang="en-US" altLang="zh-CN" dirty="0"/>
              <a:t>error.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615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Also a homework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786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Stack trace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14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Finally is the only part of the code that always executes.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160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Hwk</a:t>
            </a:r>
            <a:r>
              <a:rPr lang="en-US" altLang="zh-CN" dirty="0"/>
              <a:t>: difference between the </a:t>
            </a:r>
            <a:r>
              <a:rPr lang="en-US" altLang="zh-CN" dirty="0" err="1"/>
              <a:t>InputMismatch</a:t>
            </a:r>
            <a:r>
              <a:rPr lang="en-US" altLang="zh-CN" dirty="0"/>
              <a:t> and </a:t>
            </a:r>
            <a:r>
              <a:rPr lang="en-US" altLang="zh-CN" dirty="0" err="1"/>
              <a:t>IllegalArgumentException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4008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 should compare constructor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274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bdb27924c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bdb27924c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1829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Exception Handling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122728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Exception Handling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55" name="Google Shape;55;p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6013" y="4568875"/>
            <a:ext cx="2291975" cy="3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Motivation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en-US" altLang="en-US" dirty="0"/>
              <a:t>When a program runs into a </a:t>
            </a:r>
            <a:r>
              <a:rPr lang="en-US" altLang="en-US" b="1" dirty="0"/>
              <a:t>runtime error</a:t>
            </a:r>
            <a:r>
              <a:rPr lang="en-US" altLang="en-US" dirty="0"/>
              <a:t>, the program terminates abnormally. </a:t>
            </a:r>
          </a:p>
          <a:p>
            <a:pPr marL="114300" indent="0">
              <a:lnSpc>
                <a:spcPct val="95000"/>
              </a:lnSpc>
              <a:buNone/>
            </a:pPr>
            <a:endParaRPr lang="en-US" altLang="en-US" dirty="0"/>
          </a:p>
          <a:p>
            <a:pPr>
              <a:lnSpc>
                <a:spcPct val="95000"/>
              </a:lnSpc>
            </a:pPr>
            <a:r>
              <a:rPr lang="en-US" altLang="en-US" dirty="0"/>
              <a:t>We want to handle the runtime error so that the program can continue to run or terminate gracefully.</a:t>
            </a:r>
          </a:p>
        </p:txBody>
      </p:sp>
    </p:spTree>
    <p:extLst>
      <p:ext uri="{BB962C8B-B14F-4D97-AF65-F5344CB8AC3E}">
        <p14:creationId xmlns:p14="http://schemas.microsoft.com/office/powerpoint/2010/main" val="180639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Exception-Handling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en-US" kern="1200" dirty="0">
                <a:solidFill>
                  <a:prstClr val="black"/>
                </a:solidFill>
                <a:sym typeface="Hoefler Text"/>
              </a:rPr>
              <a:t>Runtime error: </a:t>
            </a:r>
            <a:r>
              <a:rPr lang="en-US" altLang="en-US" b="1" kern="1200" dirty="0">
                <a:solidFill>
                  <a:schemeClr val="tx1"/>
                </a:solidFill>
                <a:sym typeface="Hoefler Text"/>
              </a:rPr>
              <a:t>division with 0 (if the user enters 1 and 0)</a:t>
            </a:r>
          </a:p>
          <a:p>
            <a:endParaRPr lang="en-US" dirty="0"/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1431131" y="1610725"/>
            <a:ext cx="6453188" cy="309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import </a:t>
            </a:r>
            <a:r>
              <a:rPr lang="en-US" altLang="en-US" sz="15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java.util.Scanner</a:t>
            </a: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kern="1200" dirty="0">
              <a:solidFill>
                <a:prstClr val="black"/>
              </a:solidFill>
              <a:latin typeface="Courier New" pitchFamily="49" charset="0"/>
              <a:ea typeface="+mn-ea"/>
              <a:cs typeface="Courier New" pitchFamily="49" charset="0"/>
              <a:sym typeface="Hoefler Text"/>
            </a:endParaRP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Quotient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static void main(String[] </a:t>
            </a:r>
            <a:r>
              <a:rPr lang="en-US" altLang="en-US" sz="15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args</a:t>
            </a: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Scanner input = new Scanner(System.in);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// Prompt the user to enter two integers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("Enter two integers: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number1 = </a:t>
            </a:r>
            <a:r>
              <a:rPr lang="en-US" altLang="en-US" sz="15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number2 = </a:t>
            </a:r>
            <a:r>
              <a:rPr lang="en-US" altLang="en-US" sz="15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(number1 + " / " + number2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	+ " is " +(number1 </a:t>
            </a:r>
            <a:r>
              <a:rPr lang="en-US" altLang="en-US" sz="15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/ number2</a:t>
            </a: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189420" y="4380459"/>
            <a:ext cx="46948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kern="1200" dirty="0">
                <a:solidFill>
                  <a:prstClr val="black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Enter two integers: 1 0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Exception in thread "main" </a:t>
            </a:r>
            <a:r>
              <a:rPr lang="en-US" sz="1200" b="1" u="sng" kern="1200" dirty="0" err="1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java.lang.ArithmeticException</a:t>
            </a:r>
            <a:r>
              <a:rPr lang="en-US" sz="1200" b="1" u="sng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: / by zero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at </a:t>
            </a:r>
            <a:r>
              <a:rPr lang="en-US" sz="1200" b="1" kern="1200" dirty="0" err="1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Quotient.main</a:t>
            </a:r>
            <a:r>
              <a:rPr lang="en-US" sz="12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(</a:t>
            </a:r>
            <a:r>
              <a:rPr lang="en-US" sz="1200" b="1" u="sng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Hoefler Text"/>
              </a:rPr>
              <a:t>Quotient.java:10)</a:t>
            </a:r>
            <a:endParaRPr lang="en-US" sz="1200" b="1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  <a:sym typeface="Hoefler Text"/>
            </a:endParaRPr>
          </a:p>
        </p:txBody>
      </p:sp>
    </p:spTree>
    <p:extLst>
      <p:ext uri="{BB962C8B-B14F-4D97-AF65-F5344CB8AC3E}">
        <p14:creationId xmlns:p14="http://schemas.microsoft.com/office/powerpoint/2010/main" val="89034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Exception-Handling: Same method !</a:t>
            </a:r>
            <a:endParaRPr lang="en-US" dirty="0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108609" y="1131094"/>
            <a:ext cx="7388028" cy="3831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import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java.util.Scanner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QuotientWithException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static void main(String[]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args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Scanner input = new Scanner(System.in);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// Prompt the user to enter two integers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("Enter two integers: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number1 =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number2 =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try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	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(number1 + " / " + number2 + " is "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		+ (number1 / number2));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}catch (Exception ex)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	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("Exception: an integer " +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  		“cannot be divided by zero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</a:t>
            </a:r>
            <a:r>
              <a:rPr lang="en-US" altLang="en-US" sz="1350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</a:t>
            </a: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("Execution continues ...");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23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Exception-Handling: if statement?</a:t>
            </a:r>
            <a:endParaRPr lang="en-US" dirty="0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1359462" y="1189435"/>
            <a:ext cx="6726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import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java.util.Scanner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350" kern="1200" dirty="0">
              <a:solidFill>
                <a:prstClr val="black"/>
              </a:solidFill>
              <a:latin typeface="Courier New" pitchFamily="49" charset="0"/>
              <a:ea typeface="+mn-ea"/>
              <a:cs typeface="Courier New" pitchFamily="49" charset="0"/>
              <a:sym typeface="Hoefler Text"/>
            </a:endParaRP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QuotientWithIf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static void main(String[]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args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Scanner input = new Scanner(System.in);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// Prompt the user to enter two integers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("Enter two integers: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number1 =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number2 =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if (number2 != 0)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35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(number1 + " / " + number2 + " is " +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  (number1 / number2));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else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35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35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("Divisor cannot be zero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5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338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Exception-Handling: method</a:t>
            </a:r>
            <a:endParaRPr lang="en-US" dirty="0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116701" y="946184"/>
            <a:ext cx="6688684" cy="398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import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java.util.Scanner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QuotientWithMethod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{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static </a:t>
            </a:r>
            <a:r>
              <a:rPr lang="en-US" altLang="en-US" sz="11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quotient(</a:t>
            </a:r>
            <a:r>
              <a:rPr lang="en-US" altLang="en-US" sz="11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number1, </a:t>
            </a:r>
            <a:r>
              <a:rPr lang="en-US" altLang="en-US" sz="11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number2) </a:t>
            </a:r>
            <a:r>
              <a:rPr lang="en-US" altLang="en-US" sz="1100" b="1" i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throws Exception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if (number2 == 0)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throw new </a:t>
            </a:r>
            <a:r>
              <a:rPr lang="en-US" altLang="en-US" sz="1100" b="1" kern="1200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ArithmeticException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("Divisor cannot be zero");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return number1 / number2;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static void main(String[]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args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Scanner input = new Scanner(System.in);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// Prompt the user to enter two integers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("Enter two integers: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number1 =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number2 =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input.nextInt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try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int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result = 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quotient(number1, number2)</a:t>
            </a:r>
            <a:r>
              <a:rPr lang="en-US" altLang="en-US" sz="11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(number1 + " / " + number2 + " is " + result);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}catch (Exception ex) {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("Exception: an integer " + 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  "cannot be divided by zero 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b="1" kern="1200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100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System.out.println</a:t>
            </a: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("Execution continues ...");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376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Exception Advantages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It enables </a:t>
            </a:r>
            <a:r>
              <a:rPr lang="en-US" altLang="en-US" b="1" dirty="0">
                <a:solidFill>
                  <a:schemeClr val="tx1"/>
                </a:solidFill>
              </a:rPr>
              <a:t>a method to throw an exception to its caller</a:t>
            </a:r>
            <a:r>
              <a:rPr lang="en-US" altLang="en-US" dirty="0"/>
              <a:t>. </a:t>
            </a:r>
          </a:p>
          <a:p>
            <a:pPr lvl="1"/>
            <a:endParaRPr lang="en-US" altLang="en-US" sz="1800" dirty="0"/>
          </a:p>
          <a:p>
            <a:r>
              <a:rPr lang="en-US" altLang="en-US" dirty="0"/>
              <a:t>Without this capability, a method must handle the exception or terminate the program.</a:t>
            </a:r>
          </a:p>
          <a:p>
            <a:endParaRPr lang="en-US" altLang="en-US" sz="3000" dirty="0"/>
          </a:p>
        </p:txBody>
      </p:sp>
    </p:spTree>
    <p:extLst>
      <p:ext uri="{BB962C8B-B14F-4D97-AF65-F5344CB8AC3E}">
        <p14:creationId xmlns:p14="http://schemas.microsoft.com/office/powerpoint/2010/main" val="71038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Handling </a:t>
            </a:r>
            <a:r>
              <a:rPr lang="en-US" altLang="en-US" sz="2500" b="1" dirty="0" err="1">
                <a:cs typeface="Times New Roman" pitchFamily="16" charset="0"/>
              </a:rPr>
              <a:t>InputMismatchException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3588661" cy="20396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dirty="0"/>
              <a:t>By handling </a:t>
            </a:r>
            <a:r>
              <a:rPr lang="en-US" altLang="en-US" dirty="0" err="1"/>
              <a:t>InputMismatchException</a:t>
            </a:r>
            <a:r>
              <a:rPr lang="en-US" altLang="en-US" dirty="0"/>
              <a:t>, your program will continuously read an input until it is correct:</a:t>
            </a:r>
            <a:endParaRPr lang="en-US" altLang="en-US" sz="105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6"/>
          <p:cNvSpPr txBox="1">
            <a:spLocks/>
          </p:cNvSpPr>
          <p:nvPr/>
        </p:nvSpPr>
        <p:spPr>
          <a:xfrm>
            <a:off x="2961685" y="882033"/>
            <a:ext cx="6028557" cy="393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ct val="0"/>
              </a:spcBef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java.util.InputMismatchException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InputMismatchExceptionDemo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public static void main(String[]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Scanner input = new Scanner(System.in);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continueInput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true</a:t>
            </a:r>
            <a:r>
              <a:rPr lang="en-US" alt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try {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("Enter an integer: ");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number = </a:t>
            </a:r>
            <a:r>
              <a:rPr lang="en-US" alt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input.nextInt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("The number entered is " + number);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continueInput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catch (</a:t>
            </a:r>
            <a:r>
              <a:rPr lang="en-US" alt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InputMismatchException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ex) {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("Try again. (" + "Incorrect input: " + 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			"an integer is required)");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input.nextLine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(); // discard input 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while (</a:t>
            </a:r>
            <a:r>
              <a:rPr lang="en-US" alt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continueInput</a:t>
            </a:r>
            <a:r>
              <a:rPr lang="en-US" alt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lvl="1">
              <a:spcBef>
                <a:spcPct val="0"/>
              </a:spcBef>
              <a:buFont typeface="Wingdings 2" pitchFamily="18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10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33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Exception Types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 descr="Throwable is the parent class of all the Exception classes, which is a derived class of Object class. From Throwable class we have child classes Error and Exception class." title="Exception Class Inheritance"/>
          <p:cNvGraphicFramePr>
            <a:graphicFrameLocks noChangeAspect="1"/>
          </p:cNvGraphicFramePr>
          <p:nvPr/>
        </p:nvGraphicFramePr>
        <p:xfrm>
          <a:off x="1374775" y="1027113"/>
          <a:ext cx="6619875" cy="338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600880" imgH="2857680" progId="Word.Picture.8">
                  <p:embed/>
                </p:oleObj>
              </mc:Choice>
              <mc:Fallback>
                <p:oleObj name="Picture" r:id="rId3" imgW="5600880" imgH="2857680" progId="Word.Picture.8">
                  <p:embed/>
                  <p:pic>
                    <p:nvPicPr>
                      <p:cNvPr id="6" name="Object 2" descr="Throwable is the parent class of all the Exception classes, which is a derived class of Object class. From Throwable class we have child classes Error and Exception class." title="Exception Class Inheritanc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27113"/>
                        <a:ext cx="6619875" cy="338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256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System Errors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 descr="Throwable is the parent class of all the Exception classes, which is a derived class of Object class. From Throwable class we have child classes Error and Exception class." title="Exception Class Inheritance"/>
          <p:cNvGraphicFramePr>
            <a:graphicFrameLocks noChangeAspect="1"/>
          </p:cNvGraphicFramePr>
          <p:nvPr/>
        </p:nvGraphicFramePr>
        <p:xfrm>
          <a:off x="1374775" y="1027113"/>
          <a:ext cx="6619875" cy="338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00880" imgH="2857680" progId="Word.Picture.8">
                  <p:embed/>
                </p:oleObj>
              </mc:Choice>
              <mc:Fallback>
                <p:oleObj name="Picture" r:id="rId2" imgW="5600880" imgH="2857680" progId="Word.Picture.8">
                  <p:embed/>
                  <p:pic>
                    <p:nvPicPr>
                      <p:cNvPr id="6" name="Object 2" descr="Throwable is the parent class of all the Exception classes, which is a derived class of Object class. From Throwable class we have child classes Error and Exception class." title="Exception Class Inheritanc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27113"/>
                        <a:ext cx="6619875" cy="338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371850" y="3028950"/>
            <a:ext cx="2395538" cy="137160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43000" y="3086100"/>
            <a:ext cx="22288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sz="1200" i="1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System errors</a:t>
            </a:r>
            <a:r>
              <a:rPr lang="en-US" altLang="en-US" sz="1200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 are thrown by JVM and represented in the </a:t>
            </a:r>
            <a:r>
              <a:rPr lang="en-US" altLang="en-US" sz="1200" u="sng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Error</a:t>
            </a:r>
            <a:r>
              <a:rPr lang="en-US" altLang="en-US" sz="1200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 class. The </a:t>
            </a:r>
            <a:r>
              <a:rPr lang="en-US" altLang="en-US" sz="1200" u="sng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Error</a:t>
            </a:r>
            <a:r>
              <a:rPr lang="en-US" altLang="en-US" sz="1200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 class describes internal system errors. Such errors rarely occur. If one does, there is little you can do beyond notifying the user and trying to terminate the program gracefully. </a:t>
            </a:r>
            <a:endParaRPr lang="en-US" altLang="en-US" sz="1200" kern="1200" dirty="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</p:spTree>
    <p:extLst>
      <p:ext uri="{BB962C8B-B14F-4D97-AF65-F5344CB8AC3E}">
        <p14:creationId xmlns:p14="http://schemas.microsoft.com/office/powerpoint/2010/main" val="258181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Exceptions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 descr="Throwable is the parent class of all the Exception classes, which is a derived class of Object class. From Throwable class we have child classes Error and Exception class." title="Exception Class Inheritance"/>
          <p:cNvGraphicFramePr>
            <a:graphicFrameLocks noChangeAspect="1"/>
          </p:cNvGraphicFramePr>
          <p:nvPr/>
        </p:nvGraphicFramePr>
        <p:xfrm>
          <a:off x="1374775" y="1027113"/>
          <a:ext cx="6619875" cy="338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00880" imgH="2857680" progId="Word.Picture.8">
                  <p:embed/>
                </p:oleObj>
              </mc:Choice>
              <mc:Fallback>
                <p:oleObj name="Picture" r:id="rId2" imgW="5600880" imgH="2857680" progId="Word.Picture.8">
                  <p:embed/>
                  <p:pic>
                    <p:nvPicPr>
                      <p:cNvPr id="6" name="Object 2" descr="Throwable is the parent class of all the Exception classes, which is a derived class of Object class. From Throwable class we have child classes Error and Exception class." title="Exception Class Inheritanc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27113"/>
                        <a:ext cx="6619875" cy="338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332560" y="1085850"/>
            <a:ext cx="4524375" cy="217170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362075" y="901304"/>
            <a:ext cx="20002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sz="1200" kern="1200" dirty="0">
                <a:solidFill>
                  <a:prstClr val="black"/>
                </a:solidFill>
                <a:ea typeface="+mn-ea"/>
                <a:cs typeface="Times New Roman" pitchFamily="18" charset="0"/>
                <a:sym typeface="Hoefler Text"/>
              </a:rPr>
              <a:t>Exception describes errors caused by your program and external circumstances. These errors can be caught and handled by your program. </a:t>
            </a:r>
          </a:p>
        </p:txBody>
      </p:sp>
    </p:spTree>
    <p:extLst>
      <p:ext uri="{BB962C8B-B14F-4D97-AF65-F5344CB8AC3E}">
        <p14:creationId xmlns:p14="http://schemas.microsoft.com/office/powerpoint/2010/main" val="86419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/>
              <a:t>Runtime Exceptions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 descr="Throwable is the parent class of all the Exception classes, which is a derived class of Object class. From Throwable class we have child classes Error and Exception class." title="Exception Class Inheritance"/>
          <p:cNvGraphicFramePr>
            <a:graphicFrameLocks noChangeAspect="1"/>
          </p:cNvGraphicFramePr>
          <p:nvPr/>
        </p:nvGraphicFramePr>
        <p:xfrm>
          <a:off x="1374775" y="1027113"/>
          <a:ext cx="6619875" cy="338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00880" imgH="2857680" progId="Word.Picture.8">
                  <p:embed/>
                </p:oleObj>
              </mc:Choice>
              <mc:Fallback>
                <p:oleObj name="Picture" r:id="rId2" imgW="5600880" imgH="2857680" progId="Word.Picture.8">
                  <p:embed/>
                  <p:pic>
                    <p:nvPicPr>
                      <p:cNvPr id="6" name="Object 2" descr="Throwable is the parent class of all the Exception classes, which is a derived class of Object class. From Throwable class we have child classes Error and Exception class." title="Exception Class Inheritanc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27113"/>
                        <a:ext cx="6619875" cy="338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600700" y="1428750"/>
            <a:ext cx="2283619" cy="182880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343400" y="2057400"/>
            <a:ext cx="1257300" cy="40005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772150" y="3233737"/>
            <a:ext cx="2057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sz="1050" kern="1200" dirty="0" err="1">
                <a:solidFill>
                  <a:prstClr val="black"/>
                </a:solidFill>
                <a:ea typeface="+mn-ea"/>
                <a:cs typeface="+mn-cs"/>
                <a:sym typeface="Hoefler Text"/>
              </a:rPr>
              <a:t>RuntimeException</a:t>
            </a:r>
            <a:r>
              <a:rPr lang="en-US" altLang="en-US" sz="1050" kern="1200" dirty="0">
                <a:solidFill>
                  <a:prstClr val="black"/>
                </a:solidFill>
                <a:ea typeface="+mn-ea"/>
                <a:cs typeface="+mn-cs"/>
                <a:sym typeface="Hoefler Text"/>
              </a:rPr>
              <a:t> is caused by programming errors, such as bad casting, accessing an out-of-bounds array, and numeric errors.</a:t>
            </a:r>
          </a:p>
        </p:txBody>
      </p:sp>
    </p:spTree>
    <p:extLst>
      <p:ext uri="{BB962C8B-B14F-4D97-AF65-F5344CB8AC3E}">
        <p14:creationId xmlns:p14="http://schemas.microsoft.com/office/powerpoint/2010/main" val="1620168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/>
              <a:t>Checked Exceptions vs. Unchecked Exceptions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b="1" u="sng" kern="1200" dirty="0" err="1">
                <a:solidFill>
                  <a:schemeClr val="tx1"/>
                </a:solidFill>
                <a:cs typeface="Times New Roman" pitchFamily="18" charset="0"/>
                <a:sym typeface="Hoefler Text"/>
              </a:rPr>
              <a:t>RuntimeException</a:t>
            </a:r>
            <a:r>
              <a:rPr lang="en-US" altLang="en-US" b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, </a:t>
            </a:r>
            <a:r>
              <a:rPr lang="en-US" altLang="en-US" b="1" u="sng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Error</a:t>
            </a:r>
            <a:r>
              <a:rPr lang="en-US" altLang="en-US" b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 and their subclasses are known as </a:t>
            </a:r>
            <a:r>
              <a:rPr lang="en-US" altLang="en-US" b="1" i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unchecked</a:t>
            </a:r>
            <a:r>
              <a:rPr lang="en-US" altLang="en-US" b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 </a:t>
            </a:r>
            <a:r>
              <a:rPr lang="en-US" altLang="en-US" b="1" i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exceptions</a:t>
            </a:r>
            <a:r>
              <a:rPr lang="en-US" altLang="en-US" b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. </a:t>
            </a:r>
          </a:p>
          <a:p>
            <a:pPr marL="114300" indent="0"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b="1" kern="1200" dirty="0">
              <a:solidFill>
                <a:schemeClr val="tx1"/>
              </a:solidFill>
              <a:cs typeface="Times New Roman" pitchFamily="18" charset="0"/>
              <a:sym typeface="Hoefler Text"/>
            </a:endParaRPr>
          </a:p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  <a:sym typeface="Hoefler Text"/>
              </a:rPr>
              <a:t>All other exceptions are known as </a:t>
            </a:r>
            <a:r>
              <a:rPr lang="en-US" altLang="en-US" b="1" i="1" kern="1200" dirty="0">
                <a:solidFill>
                  <a:schemeClr val="tx1"/>
                </a:solidFill>
                <a:cs typeface="Times New Roman" pitchFamily="18" charset="0"/>
                <a:sym typeface="Hoefler Text"/>
              </a:rPr>
              <a:t>checked exceptions</a:t>
            </a:r>
            <a:r>
              <a:rPr lang="en-US" altLang="en-US" kern="1200" dirty="0">
                <a:solidFill>
                  <a:prstClr val="black"/>
                </a:solidFill>
                <a:cs typeface="Times New Roman" pitchFamily="18" charset="0"/>
                <a:sym typeface="Hoefler Text"/>
              </a:rPr>
              <a:t>, meaning that the compiler forces the programmer to check and deal with the exceptions.</a:t>
            </a:r>
            <a:r>
              <a:rPr lang="en-US" altLang="en-US" kern="1200" dirty="0">
                <a:solidFill>
                  <a:prstClr val="black"/>
                </a:solidFill>
                <a:latin typeface="Courier" pitchFamily="49" charset="0"/>
                <a:cs typeface="Times New Roman" pitchFamily="18" charset="0"/>
                <a:sym typeface="Hoefler Tex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240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Exception Types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 descr="Throwable is the parent class of all the Exception classes, which is a derived class of Object class. From Throwable class we have child classes Error and Exception class." title="Exception Class Inheritance"/>
          <p:cNvGraphicFramePr>
            <a:graphicFrameLocks noChangeAspect="1"/>
          </p:cNvGraphicFramePr>
          <p:nvPr/>
        </p:nvGraphicFramePr>
        <p:xfrm>
          <a:off x="1374775" y="1027113"/>
          <a:ext cx="6619875" cy="338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00880" imgH="2857680" progId="Word.Picture.8">
                  <p:embed/>
                </p:oleObj>
              </mc:Choice>
              <mc:Fallback>
                <p:oleObj name="Picture" r:id="rId2" imgW="5600880" imgH="2857680" progId="Word.Picture.8">
                  <p:embed/>
                  <p:pic>
                    <p:nvPicPr>
                      <p:cNvPr id="6" name="Object 2" descr="Throwable is the parent class of all the Exception classes, which is a derived class of Object class. From Throwable class we have child classes Error and Exception class." title="Exception Class Inheritanc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27113"/>
                        <a:ext cx="6619875" cy="338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29350" y="3657600"/>
            <a:ext cx="12573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50000"/>
              </a:spcBef>
              <a:spcAft>
                <a:spcPct val="0"/>
              </a:spcAft>
              <a:buClrTx/>
            </a:pPr>
            <a:r>
              <a:rPr lang="en-US" altLang="en-US" sz="1050" kern="1200">
                <a:solidFill>
                  <a:prstClr val="black"/>
                </a:solidFill>
                <a:ea typeface="+mn-ea"/>
                <a:cs typeface="+mn-cs"/>
                <a:sym typeface="Hoefler Text"/>
              </a:rPr>
              <a:t>Unchecked exceptions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829300" y="1428750"/>
            <a:ext cx="1885950" cy="188595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200400" y="2971800"/>
            <a:ext cx="2686050" cy="137160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29100" y="2057400"/>
            <a:ext cx="1657350" cy="400050"/>
          </a:xfrm>
          <a:prstGeom prst="rect">
            <a:avLst/>
          </a:prstGeom>
          <a:solidFill>
            <a:srgbClr val="FFFF00">
              <a:alpha val="18823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68573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  <a:sym typeface="Hoefler Text"/>
            </a:endParaRPr>
          </a:p>
        </p:txBody>
      </p:sp>
    </p:spTree>
    <p:extLst>
      <p:ext uri="{BB962C8B-B14F-4D97-AF65-F5344CB8AC3E}">
        <p14:creationId xmlns:p14="http://schemas.microsoft.com/office/powerpoint/2010/main" val="14991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>
                <a:cs typeface="Times New Roman" pitchFamily="16" charset="0"/>
              </a:rPr>
              <a:t>Unchecked Exceptions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1900" dirty="0">
                <a:cs typeface="Times New Roman" pitchFamily="18" charset="0"/>
              </a:rPr>
              <a:t>In most cases, </a:t>
            </a:r>
            <a:r>
              <a:rPr lang="en-US" altLang="en-US" sz="1900" b="1" dirty="0">
                <a:solidFill>
                  <a:schemeClr val="tx1"/>
                </a:solidFill>
                <a:cs typeface="Times New Roman" pitchFamily="18" charset="0"/>
              </a:rPr>
              <a:t>unchecked exceptions reflect programming logic errors that are not recoverable.</a:t>
            </a:r>
            <a:r>
              <a:rPr lang="en-US" altLang="en-US" sz="1900" dirty="0"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sz="1900" dirty="0">
                <a:cs typeface="Times New Roman" pitchFamily="18" charset="0"/>
              </a:rPr>
              <a:t>For example, a </a:t>
            </a:r>
            <a:r>
              <a:rPr lang="en-US" altLang="en-US" sz="1900" b="1" dirty="0" err="1">
                <a:solidFill>
                  <a:schemeClr val="tx1"/>
                </a:solidFill>
                <a:cs typeface="Times New Roman" pitchFamily="18" charset="0"/>
              </a:rPr>
              <a:t>NullPointerException</a:t>
            </a:r>
            <a:r>
              <a:rPr lang="en-US" altLang="en-US" sz="1900" dirty="0">
                <a:cs typeface="Times New Roman" pitchFamily="18" charset="0"/>
              </a:rPr>
              <a:t> is thrown if you access an object through a reference variable before an object is assigned to it; an </a:t>
            </a:r>
            <a:r>
              <a:rPr lang="en-US" altLang="en-US" sz="1900" b="1" dirty="0" err="1">
                <a:solidFill>
                  <a:schemeClr val="tx1"/>
                </a:solidFill>
                <a:cs typeface="Times New Roman" pitchFamily="18" charset="0"/>
              </a:rPr>
              <a:t>IndexOutOfBoundsException</a:t>
            </a:r>
            <a:r>
              <a:rPr lang="en-US" altLang="en-US" sz="1900" dirty="0">
                <a:cs typeface="Times New Roman" pitchFamily="18" charset="0"/>
              </a:rPr>
              <a:t> is thrown if you access an element in an array outside the bounds of the array. </a:t>
            </a:r>
          </a:p>
          <a:p>
            <a:pPr lvl="1"/>
            <a:r>
              <a:rPr lang="en-US" altLang="en-US" sz="1900" b="1" dirty="0">
                <a:solidFill>
                  <a:schemeClr val="tx1"/>
                </a:solidFill>
                <a:cs typeface="Times New Roman" pitchFamily="18" charset="0"/>
              </a:rPr>
              <a:t>These are the logic errors that should be corrected in the program. </a:t>
            </a:r>
          </a:p>
          <a:p>
            <a:pPr lvl="1"/>
            <a:r>
              <a:rPr lang="en-US" altLang="en-US" sz="1900" dirty="0">
                <a:cs typeface="Times New Roman" pitchFamily="18" charset="0"/>
              </a:rPr>
              <a:t>Unchecked exceptions can occur anywhere in the program. </a:t>
            </a:r>
          </a:p>
          <a:p>
            <a:pPr lvl="1"/>
            <a:r>
              <a:rPr lang="en-US" altLang="en-US" sz="1900" dirty="0">
                <a:cs typeface="Times New Roman" pitchFamily="18" charset="0"/>
              </a:rPr>
              <a:t>To avoid cumbersome overuse of try-catch blocks</a:t>
            </a:r>
            <a:r>
              <a:rPr lang="en-US" altLang="en-US" sz="1900" b="1" dirty="0">
                <a:solidFill>
                  <a:schemeClr val="tx1"/>
                </a:solidFill>
                <a:cs typeface="Times New Roman" pitchFamily="18" charset="0"/>
              </a:rPr>
              <a:t>, Java does not mandate you to write code to catch unchecked exceptions.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11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/>
              <a:t>Declaring, Throwing, and Catching Exceptions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490487"/>
              </p:ext>
            </p:extLst>
          </p:nvPr>
        </p:nvGraphicFramePr>
        <p:xfrm>
          <a:off x="0" y="1617641"/>
          <a:ext cx="9173637" cy="219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05520" imgH="1219320" progId="Word.Picture.8">
                  <p:embed/>
                </p:oleObj>
              </mc:Choice>
              <mc:Fallback>
                <p:oleObj name="Picture" r:id="rId2" imgW="5105520" imgH="1219320" progId="Word.Picture.8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17641"/>
                        <a:ext cx="9173637" cy="219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0696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Declaring Exceptions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cs typeface="Times New Roman" pitchFamily="18" charset="0"/>
              </a:rPr>
              <a:t> Every method must state the types of checked exceptions it might throw. This is known as </a:t>
            </a:r>
            <a:r>
              <a:rPr lang="en-US" altLang="en-US" i="1" dirty="0">
                <a:cs typeface="Times New Roman" pitchFamily="18" charset="0"/>
              </a:rPr>
              <a:t>declaring exceptions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dirty="0"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     public void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() throws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IOException</a:t>
            </a:r>
            <a:endParaRPr lang="en-US" altLang="en-US" sz="1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100000"/>
              </a:spcBef>
              <a:buNone/>
            </a:pP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     public void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()throws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OtherException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422236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Throwing Exceptions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When the program detects an error, the program can create an instance of an appropriate exception type and throw it -  known as </a:t>
            </a:r>
            <a:r>
              <a:rPr lang="en-US" altLang="en-US" b="1" i="1" dirty="0">
                <a:solidFill>
                  <a:schemeClr val="tx1"/>
                </a:solidFill>
                <a:cs typeface="Times New Roman" pitchFamily="18" charset="0"/>
              </a:rPr>
              <a:t>throwing an exception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throw new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 marL="457200" lvl="1" indent="0">
              <a:lnSpc>
                <a:spcPct val="90000"/>
              </a:lnSpc>
              <a:spcBef>
                <a:spcPct val="100000"/>
              </a:spcBef>
              <a:buNone/>
            </a:pP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OR</a:t>
            </a:r>
          </a:p>
          <a:p>
            <a:pPr marL="457200" lvl="1" indent="0">
              <a:lnSpc>
                <a:spcPct val="90000"/>
              </a:lnSpc>
              <a:spcBef>
                <a:spcPct val="100000"/>
              </a:spcBef>
              <a:buNone/>
            </a:pP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 ex = new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sz="16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throw ex;</a:t>
            </a:r>
          </a:p>
        </p:txBody>
      </p:sp>
    </p:spTree>
    <p:extLst>
      <p:ext uri="{BB962C8B-B14F-4D97-AF65-F5344CB8AC3E}">
        <p14:creationId xmlns:p14="http://schemas.microsoft.com/office/powerpoint/2010/main" val="299131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500" b="1" dirty="0"/>
              <a:t>Catching Exceptions</a:t>
            </a:r>
            <a:endParaRPr lang="en-US" sz="2500" b="1" dirty="0">
              <a:cs typeface="Times New Roman" pitchFamily="16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144588" y="974725"/>
          <a:ext cx="6854825" cy="29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372280" imgH="2343240" progId="Word.Picture.8">
                  <p:embed/>
                </p:oleObj>
              </mc:Choice>
              <mc:Fallback>
                <p:oleObj name="Picture" r:id="rId3" imgW="5372280" imgH="234324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974725"/>
                        <a:ext cx="6854825" cy="298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820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/>
              <a:t>Unhandled Exceptions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itchFamily="18" charset="0"/>
              </a:rPr>
              <a:t>Every exception must be caught.</a:t>
            </a:r>
          </a:p>
          <a:p>
            <a:pPr lvl="2"/>
            <a:r>
              <a:rPr lang="en-US" sz="1800" dirty="0">
                <a:cs typeface="Times New Roman" pitchFamily="18" charset="0"/>
              </a:rPr>
              <a:t>Uncaught exceptions will eventually propagate all the way back to the JVM, which will terminate the program.</a:t>
            </a:r>
          </a:p>
          <a:p>
            <a:pPr marL="1054100" lvl="2" indent="0">
              <a:buNone/>
            </a:pPr>
            <a:endParaRPr lang="en-US" sz="1800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The JVM prints an error message (called a stack trace) showing you the contents of the call stack when the exception occurred: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085" y="3198669"/>
            <a:ext cx="8027299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lnSpc>
                <a:spcPts val="1635"/>
              </a:lnSpc>
              <a:buSzTx/>
              <a:buNone/>
              <a:defRPr sz="2600" b="1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800" dirty="0"/>
              <a:t>Exception in thread "main" </a:t>
            </a:r>
            <a:r>
              <a:rPr lang="en-US" sz="1800" dirty="0" err="1"/>
              <a:t>java.lang.NullPointerException</a:t>
            </a:r>
            <a:br>
              <a:rPr lang="en-US" sz="1800" dirty="0"/>
            </a:br>
            <a:r>
              <a:rPr lang="en-US" sz="1800" dirty="0"/>
              <a:t>at </a:t>
            </a:r>
            <a:r>
              <a:rPr lang="en-US" sz="1800" dirty="0" err="1"/>
              <a:t>java.lang.Integer.compareTo</a:t>
            </a:r>
            <a:r>
              <a:rPr lang="en-US" sz="1800" dirty="0"/>
              <a:t>(Integer.java:928)</a:t>
            </a:r>
            <a:br>
              <a:rPr lang="en-US" sz="1800" dirty="0"/>
            </a:br>
            <a:r>
              <a:rPr lang="en-US" sz="1800" dirty="0"/>
              <a:t>at </a:t>
            </a:r>
            <a:r>
              <a:rPr lang="en-US" sz="1800" dirty="0" err="1"/>
              <a:t>IntegerSorter.sortArray</a:t>
            </a:r>
            <a:r>
              <a:rPr lang="en-US" sz="1800" dirty="0"/>
              <a:t>(IntegerSorter.java:49)</a:t>
            </a:r>
            <a:br>
              <a:rPr lang="en-US" sz="1800" dirty="0"/>
            </a:br>
            <a:r>
              <a:rPr lang="en-US" sz="1800" dirty="0"/>
              <a:t>at TestHarness3.main(TestHarness3.java:39)</a:t>
            </a:r>
          </a:p>
        </p:txBody>
      </p:sp>
    </p:spTree>
    <p:extLst>
      <p:ext uri="{BB962C8B-B14F-4D97-AF65-F5344CB8AC3E}">
        <p14:creationId xmlns:p14="http://schemas.microsoft.com/office/powerpoint/2010/main" val="335941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/>
              <a:t>Try...Catch, Revisited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itchFamily="18" charset="0"/>
              </a:rPr>
              <a:t>A </a:t>
            </a:r>
            <a:r>
              <a:rPr lang="en-US" dirty="0">
                <a:cs typeface="Times New Roman" pitchFamily="18" charset="0"/>
                <a:sym typeface="Courier"/>
              </a:rPr>
              <a:t>try</a:t>
            </a:r>
            <a:r>
              <a:rPr lang="en-US" dirty="0">
                <a:cs typeface="Times New Roman" pitchFamily="18" charset="0"/>
              </a:rPr>
              <a:t>...</a:t>
            </a:r>
            <a:r>
              <a:rPr lang="en-US" dirty="0"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cs typeface="Times New Roman" pitchFamily="18" charset="0"/>
              </a:rPr>
              <a:t> block is used to wrap code that may generate an exception.</a:t>
            </a:r>
          </a:p>
          <a:p>
            <a:pPr marL="114300" indent="0">
              <a:buNone/>
            </a:pPr>
            <a:endParaRPr lang="en-US" dirty="0">
              <a:cs typeface="Times New Roman" pitchFamily="18" charset="0"/>
            </a:endParaRPr>
          </a:p>
          <a:p>
            <a:r>
              <a:rPr lang="en-US" dirty="0">
                <a:highlight>
                  <a:srgbClr val="FFFF00"/>
                </a:highlight>
                <a:cs typeface="Times New Roman" pitchFamily="18" charset="0"/>
              </a:rPr>
              <a:t>If the wrapped code does not generate any exceptions, the </a:t>
            </a:r>
            <a:r>
              <a:rPr lang="en-US" dirty="0">
                <a:highlight>
                  <a:srgbClr val="FFFF00"/>
                </a:highlight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highlight>
                  <a:srgbClr val="FFFF00"/>
                </a:highlight>
                <a:cs typeface="Times New Roman" pitchFamily="18" charset="0"/>
              </a:rPr>
              <a:t> block is completely ignored.</a:t>
            </a:r>
          </a:p>
          <a:p>
            <a:pPr marL="114300" indent="0">
              <a:buNone/>
            </a:pPr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If an exception occurs, the </a:t>
            </a:r>
            <a:r>
              <a:rPr lang="en-US" dirty="0">
                <a:cs typeface="Times New Roman" pitchFamily="18" charset="0"/>
                <a:sym typeface="Courier"/>
              </a:rPr>
              <a:t>try</a:t>
            </a:r>
            <a:r>
              <a:rPr lang="en-US" dirty="0">
                <a:cs typeface="Times New Roman" pitchFamily="18" charset="0"/>
              </a:rPr>
              <a:t> block ends immediately, and execution shifts to the </a:t>
            </a:r>
            <a:r>
              <a:rPr lang="en-US" dirty="0"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cs typeface="Times New Roman" pitchFamily="18" charset="0"/>
              </a:rPr>
              <a:t> block.</a:t>
            </a:r>
          </a:p>
          <a:p>
            <a:pPr lvl="1"/>
            <a:r>
              <a:rPr lang="en-US" sz="1800" dirty="0">
                <a:cs typeface="Times New Roman" pitchFamily="18" charset="0"/>
              </a:rPr>
              <a:t>The </a:t>
            </a:r>
            <a:r>
              <a:rPr lang="en-US" sz="1800" dirty="0">
                <a:cs typeface="Times New Roman" pitchFamily="18" charset="0"/>
                <a:sym typeface="Courier"/>
              </a:rPr>
              <a:t>catch</a:t>
            </a:r>
            <a:r>
              <a:rPr lang="en-US" sz="1800" dirty="0">
                <a:cs typeface="Times New Roman" pitchFamily="18" charset="0"/>
              </a:rPr>
              <a:t> block has code to recover from the exception.</a:t>
            </a:r>
          </a:p>
          <a:p>
            <a:pPr lvl="1"/>
            <a:r>
              <a:rPr lang="en-US" sz="1800" dirty="0">
                <a:cs typeface="Times New Roman" pitchFamily="18" charset="0"/>
              </a:rPr>
              <a:t>When the </a:t>
            </a:r>
            <a:r>
              <a:rPr lang="en-US" sz="1800" dirty="0">
                <a:cs typeface="Times New Roman" pitchFamily="18" charset="0"/>
                <a:sym typeface="Courier"/>
              </a:rPr>
              <a:t>catch</a:t>
            </a:r>
            <a:r>
              <a:rPr lang="en-US" sz="1800" dirty="0">
                <a:cs typeface="Times New Roman" pitchFamily="18" charset="0"/>
              </a:rPr>
              <a:t> block finishes, execution continues after that block; we don’t resume execution in the </a:t>
            </a:r>
            <a:r>
              <a:rPr lang="en-US" sz="1800" dirty="0">
                <a:cs typeface="Times New Roman" pitchFamily="18" charset="0"/>
                <a:sym typeface="Courier"/>
              </a:rPr>
              <a:t>try</a:t>
            </a:r>
            <a:r>
              <a:rPr lang="en-US" sz="1800" dirty="0">
                <a:cs typeface="Times New Roman" pitchFamily="18" charset="0"/>
              </a:rPr>
              <a:t>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3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1" dirty="0"/>
              <a:t>Try...Catch: Example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1316222" y="1140330"/>
            <a:ext cx="6508776" cy="358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try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// Execution begins here, and continues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// until the end of the block is reached,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// or an exception occurs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catch ( </a:t>
            </a:r>
            <a:r>
              <a:rPr lang="en-US" sz="1400" i="1" dirty="0">
                <a:latin typeface="Courier"/>
                <a:ea typeface="Courier"/>
                <a:cs typeface="Courier"/>
                <a:sym typeface="Courier"/>
              </a:rPr>
              <a:t>exception object declaration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1400" i="1" dirty="0">
                <a:latin typeface="Courier"/>
                <a:ea typeface="Courier"/>
                <a:cs typeface="Courier"/>
                <a:sym typeface="Courier"/>
              </a:rPr>
              <a:t>exception recovery code</a:t>
            </a:r>
          </a:p>
          <a:p>
            <a:pPr marL="0" indent="0">
              <a:buSzTx/>
              <a:buFont typeface="Arial"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21639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Try and Finally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8665" indent="-301352"/>
            <a:r>
              <a:rPr lang="en-US" dirty="0">
                <a:cs typeface="Times New Roman" pitchFamily="18" charset="0"/>
              </a:rPr>
              <a:t>If an exception occurs, the rest of the code in the </a:t>
            </a:r>
            <a:r>
              <a:rPr lang="en-US" dirty="0">
                <a:cs typeface="Times New Roman" pitchFamily="18" charset="0"/>
                <a:sym typeface="Courier"/>
              </a:rPr>
              <a:t>try</a:t>
            </a:r>
            <a:r>
              <a:rPr lang="en-US" dirty="0">
                <a:cs typeface="Times New Roman" pitchFamily="18" charset="0"/>
              </a:rPr>
              <a:t> block is ignored.</a:t>
            </a:r>
          </a:p>
          <a:p>
            <a:pPr marL="675708" lvl="1" indent="-241082"/>
            <a:r>
              <a:rPr lang="en-US" sz="1800" dirty="0">
                <a:cs typeface="Times New Roman" pitchFamily="18" charset="0"/>
              </a:rPr>
              <a:t>Execution resumes after the </a:t>
            </a:r>
            <a:r>
              <a:rPr lang="en-US" sz="1800" dirty="0">
                <a:cs typeface="Times New Roman" pitchFamily="18" charset="0"/>
                <a:sym typeface="Courier"/>
              </a:rPr>
              <a:t>catch</a:t>
            </a:r>
            <a:r>
              <a:rPr lang="en-US" sz="1800" dirty="0">
                <a:cs typeface="Times New Roman" pitchFamily="18" charset="0"/>
              </a:rPr>
              <a:t> block.</a:t>
            </a:r>
          </a:p>
          <a:p>
            <a:pPr marL="434626" lvl="1" indent="0">
              <a:buNone/>
            </a:pPr>
            <a:endParaRPr lang="en-US" sz="1800" dirty="0">
              <a:cs typeface="Times New Roman" pitchFamily="18" charset="0"/>
            </a:endParaRPr>
          </a:p>
          <a:p>
            <a:pPr marL="518665" indent="-301352"/>
            <a:r>
              <a:rPr lang="en-US" dirty="0">
                <a:cs typeface="Times New Roman" pitchFamily="18" charset="0"/>
              </a:rPr>
              <a:t>To make sure statements are executed regardless of an exception, use a </a:t>
            </a:r>
            <a:r>
              <a:rPr lang="en-US" dirty="0">
                <a:cs typeface="Times New Roman" pitchFamily="18" charset="0"/>
                <a:sym typeface="Courier"/>
              </a:rPr>
              <a:t>finally</a:t>
            </a:r>
            <a:r>
              <a:rPr lang="en-US" dirty="0">
                <a:cs typeface="Times New Roman" pitchFamily="18" charset="0"/>
              </a:rPr>
              <a:t> block.</a:t>
            </a:r>
          </a:p>
          <a:p>
            <a:pPr marL="675708" lvl="1" indent="-241082"/>
            <a:r>
              <a:rPr lang="en-US" sz="1800" dirty="0">
                <a:cs typeface="Times New Roman" pitchFamily="18" charset="0"/>
              </a:rPr>
              <a:t>Code in a </a:t>
            </a:r>
            <a:r>
              <a:rPr lang="en-US" sz="1800" dirty="0">
                <a:cs typeface="Times New Roman" pitchFamily="18" charset="0"/>
                <a:sym typeface="Courier"/>
              </a:rPr>
              <a:t>finally</a:t>
            </a:r>
            <a:r>
              <a:rPr lang="en-US" sz="1800" dirty="0">
                <a:cs typeface="Times New Roman" pitchFamily="18" charset="0"/>
              </a:rPr>
              <a:t> block is always executed after the </a:t>
            </a:r>
            <a:r>
              <a:rPr lang="en-US" sz="1800" dirty="0">
                <a:cs typeface="Times New Roman" pitchFamily="18" charset="0"/>
                <a:sym typeface="Courier"/>
              </a:rPr>
              <a:t>try</a:t>
            </a:r>
            <a:r>
              <a:rPr lang="en-US" sz="1800" dirty="0">
                <a:cs typeface="Times New Roman" pitchFamily="18" charset="0"/>
              </a:rPr>
              <a:t> or </a:t>
            </a:r>
            <a:r>
              <a:rPr lang="en-US" sz="1800" dirty="0">
                <a:cs typeface="Times New Roman" pitchFamily="18" charset="0"/>
                <a:sym typeface="Courier"/>
              </a:rPr>
              <a:t>catch</a:t>
            </a:r>
            <a:r>
              <a:rPr lang="en-US" sz="1800" dirty="0">
                <a:cs typeface="Times New Roman" pitchFamily="18" charset="0"/>
              </a:rPr>
              <a:t> block completes.</a:t>
            </a:r>
          </a:p>
          <a:p>
            <a:pPr marL="675708" lvl="1" indent="-241082"/>
            <a:r>
              <a:rPr lang="en-US" sz="1800" dirty="0">
                <a:cs typeface="Times New Roman" pitchFamily="18" charset="0"/>
              </a:rPr>
              <a:t>This may mean returning to the method where the exception occurred.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8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Try and Finally: Example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1201667" y="1281948"/>
            <a:ext cx="6740666" cy="292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try{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// Execution always starts here...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}catch ( exception ){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// Executes if an exception occurs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}finally{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// Code that always executes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</a:t>
            </a:r>
          </a:p>
          <a:p>
            <a:pPr marL="0" indent="0">
              <a:lnSpc>
                <a:spcPct val="135000"/>
              </a:lnSpc>
              <a:buSzTx/>
              <a:buNone/>
              <a:tabLst>
                <a:tab pos="555827" algn="l"/>
              </a:tabLst>
              <a:defRPr>
                <a:latin typeface="Courier"/>
                <a:ea typeface="Courier"/>
                <a:cs typeface="Courier"/>
                <a:sym typeface="Courier"/>
              </a:defRPr>
            </a:pPr>
            <a:endParaRPr lang="en-US" sz="1400" dirty="0">
              <a:latin typeface="Courier"/>
              <a:ea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22944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Passing the Buck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method does not have to handle its own exceptions.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It can throw the exception (to the calling method) instead.</a:t>
            </a:r>
          </a:p>
          <a:p>
            <a:pPr lvl="1"/>
            <a:r>
              <a:rPr lang="en-US" sz="1800" dirty="0"/>
              <a:t>To indicate this, the method must add </a:t>
            </a:r>
            <a:r>
              <a:rPr lang="en-US" sz="1800" b="1" dirty="0">
                <a:latin typeface="Courier"/>
                <a:ea typeface="Courier"/>
                <a:cs typeface="Courier"/>
                <a:sym typeface="Courier"/>
              </a:rPr>
              <a:t>throws</a:t>
            </a:r>
            <a:r>
              <a:rPr lang="en-US" sz="1800" dirty="0"/>
              <a:t> to its header:</a:t>
            </a:r>
          </a:p>
          <a:p>
            <a:pPr marL="239292" lvl="1" indent="0">
              <a:buNone/>
              <a:defRPr b="1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800" dirty="0"/>
              <a:t>   public void foo() throws </a:t>
            </a:r>
            <a:r>
              <a:rPr lang="en-US" sz="1800" dirty="0" err="1"/>
              <a:t>IOException</a:t>
            </a:r>
            <a:endParaRPr lang="en-US" sz="1800" dirty="0"/>
          </a:p>
          <a:p>
            <a:pPr marL="239292" lvl="1" indent="0">
              <a:buNone/>
              <a:defRPr b="1">
                <a:latin typeface="Courier"/>
                <a:ea typeface="Courier"/>
                <a:cs typeface="Courier"/>
                <a:sym typeface="Courier"/>
              </a:defRPr>
            </a:pPr>
            <a:endParaRPr lang="en-US" sz="1800" dirty="0"/>
          </a:p>
          <a:p>
            <a:r>
              <a:rPr lang="en-US" dirty="0"/>
              <a:t>The client needs a </a:t>
            </a:r>
            <a:r>
              <a:rPr lang="en-US" dirty="0">
                <a:latin typeface="Courier"/>
                <a:ea typeface="Courier"/>
                <a:cs typeface="Courier"/>
                <a:sym typeface="Courier"/>
              </a:rPr>
              <a:t>try</a:t>
            </a:r>
            <a:r>
              <a:rPr lang="en-US" dirty="0"/>
              <a:t>...</a:t>
            </a:r>
            <a:r>
              <a:rPr lang="en-US" dirty="0">
                <a:latin typeface="Courier"/>
                <a:ea typeface="Courier"/>
                <a:cs typeface="Courier"/>
                <a:sym typeface="Courier"/>
              </a:rPr>
              <a:t>catch</a:t>
            </a:r>
            <a:r>
              <a:rPr lang="en-US" dirty="0"/>
              <a:t> structure to deal with the exception (or throw the exception to its own caller).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A method may throw multiple exception types.</a:t>
            </a:r>
          </a:p>
        </p:txBody>
      </p:sp>
    </p:spTree>
    <p:extLst>
      <p:ext uri="{BB962C8B-B14F-4D97-AF65-F5344CB8AC3E}">
        <p14:creationId xmlns:p14="http://schemas.microsoft.com/office/powerpoint/2010/main" val="19459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Multiple Catch Blocks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itchFamily="18" charset="0"/>
              </a:rPr>
              <a:t>A </a:t>
            </a:r>
            <a:r>
              <a:rPr lang="en-US" dirty="0">
                <a:cs typeface="Times New Roman" pitchFamily="18" charset="0"/>
                <a:sym typeface="Courier"/>
              </a:rPr>
              <a:t>try</a:t>
            </a:r>
            <a:r>
              <a:rPr lang="en-US" dirty="0">
                <a:cs typeface="Times New Roman" pitchFamily="18" charset="0"/>
              </a:rPr>
              <a:t> block can be followed by several </a:t>
            </a:r>
            <a:r>
              <a:rPr lang="en-US" dirty="0"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cs typeface="Times New Roman" pitchFamily="18" charset="0"/>
              </a:rPr>
              <a:t> blocks.</a:t>
            </a:r>
          </a:p>
          <a:p>
            <a:pPr marL="114300" indent="0">
              <a:buNone/>
            </a:pPr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Each </a:t>
            </a:r>
            <a:r>
              <a:rPr lang="en-US" dirty="0"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cs typeface="Times New Roman" pitchFamily="18" charset="0"/>
              </a:rPr>
              <a:t> block specializes in a different type of exception.</a:t>
            </a:r>
          </a:p>
          <a:p>
            <a:pPr lvl="1"/>
            <a:r>
              <a:rPr lang="en-US" sz="1800" dirty="0">
                <a:cs typeface="Times New Roman" pitchFamily="18" charset="0"/>
              </a:rPr>
              <a:t>Ex. </a:t>
            </a:r>
            <a:r>
              <a:rPr lang="en-US" sz="1800" dirty="0" err="1">
                <a:cs typeface="Times New Roman" pitchFamily="18" charset="0"/>
                <a:sym typeface="Courier"/>
              </a:rPr>
              <a:t>IOException</a:t>
            </a:r>
            <a:r>
              <a:rPr lang="en-US" sz="1800" dirty="0">
                <a:cs typeface="Times New Roman" pitchFamily="18" charset="0"/>
              </a:rPr>
              <a:t> vs. </a:t>
            </a:r>
            <a:r>
              <a:rPr lang="en-US" sz="1800" dirty="0" err="1">
                <a:cs typeface="Times New Roman" pitchFamily="18" charset="0"/>
                <a:sym typeface="Courier"/>
              </a:rPr>
              <a:t>ArithmeticException</a:t>
            </a:r>
            <a:endParaRPr lang="en-US" sz="1800" dirty="0">
              <a:cs typeface="Times New Roman" pitchFamily="18" charset="0"/>
              <a:sym typeface="Courier"/>
            </a:endParaRPr>
          </a:p>
          <a:p>
            <a:pPr marL="596900" lvl="1" indent="0">
              <a:buNone/>
            </a:pPr>
            <a:endParaRPr lang="en-US" sz="1800" dirty="0">
              <a:cs typeface="Times New Roman" pitchFamily="18" charset="0"/>
              <a:sym typeface="Courier"/>
            </a:endParaRPr>
          </a:p>
          <a:p>
            <a:r>
              <a:rPr lang="en-US" dirty="0">
                <a:cs typeface="Times New Roman" pitchFamily="18" charset="0"/>
              </a:rPr>
              <a:t>Execution passes to the first </a:t>
            </a:r>
            <a:r>
              <a:rPr lang="en-US" dirty="0">
                <a:cs typeface="Times New Roman" pitchFamily="18" charset="0"/>
                <a:sym typeface="Courier"/>
              </a:rPr>
              <a:t>catch</a:t>
            </a:r>
            <a:r>
              <a:rPr lang="en-US" dirty="0">
                <a:cs typeface="Times New Roman" pitchFamily="18" charset="0"/>
              </a:rPr>
              <a:t> block that advertises the ability to handle the exception.</a:t>
            </a:r>
          </a:p>
          <a:p>
            <a:pPr lvl="1"/>
            <a:r>
              <a:rPr lang="en-US" sz="1800" dirty="0">
                <a:cs typeface="Times New Roman" pitchFamily="18" charset="0"/>
              </a:rPr>
              <a:t>For this reason, the </a:t>
            </a:r>
            <a:r>
              <a:rPr lang="en-US" sz="1800" dirty="0">
                <a:cs typeface="Times New Roman" pitchFamily="18" charset="0"/>
                <a:sym typeface="Courier"/>
              </a:rPr>
              <a:t>catch</a:t>
            </a:r>
            <a:r>
              <a:rPr lang="en-US" sz="1800" dirty="0">
                <a:cs typeface="Times New Roman" pitchFamily="18" charset="0"/>
              </a:rPr>
              <a:t> blocks must be ordered from the most specific (subclasses) to the least specific (</a:t>
            </a:r>
            <a:r>
              <a:rPr lang="en-US" sz="1800" dirty="0" err="1">
                <a:cs typeface="Times New Roman" pitchFamily="18" charset="0"/>
              </a:rPr>
              <a:t>superclasses</a:t>
            </a:r>
            <a:r>
              <a:rPr lang="en-US" sz="1800" dirty="0">
                <a:cs typeface="Times New Roman" pitchFamily="18" charset="0"/>
              </a:rPr>
              <a:t>).</a:t>
            </a:r>
          </a:p>
          <a:p>
            <a:pPr lvl="1"/>
            <a:r>
              <a:rPr lang="en-US" sz="1800" dirty="0">
                <a:cs typeface="Times New Roman" pitchFamily="18" charset="0"/>
              </a:rPr>
              <a:t>Ordering is irrelevant for sibling </a:t>
            </a:r>
            <a:r>
              <a:rPr lang="en-US" sz="1800" dirty="0">
                <a:cs typeface="Times New Roman" pitchFamily="18" charset="0"/>
                <a:sym typeface="Courier"/>
              </a:rPr>
              <a:t>Exception</a:t>
            </a:r>
            <a:r>
              <a:rPr lang="en-US" sz="1800" dirty="0">
                <a:cs typeface="Times New Roman" pitchFamily="18" charset="0"/>
              </a:rPr>
              <a:t> subclasses.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02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Good Ordering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1386537" y="1205066"/>
            <a:ext cx="6370926" cy="358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try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}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catch (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FileNotFoundException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f) 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// more specific (subclass)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}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catch (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IOException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) 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// less specific (superclass)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}</a:t>
            </a:r>
          </a:p>
        </p:txBody>
      </p:sp>
    </p:spTree>
    <p:extLst>
      <p:ext uri="{BB962C8B-B14F-4D97-AF65-F5344CB8AC3E}">
        <p14:creationId xmlns:p14="http://schemas.microsoft.com/office/powerpoint/2010/main" val="2191370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Bad Ordering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4" name="Content Placeholder 6"/>
          <p:cNvSpPr txBox="1">
            <a:spLocks/>
          </p:cNvSpPr>
          <p:nvPr/>
        </p:nvSpPr>
        <p:spPr>
          <a:xfrm>
            <a:off x="1016817" y="1091778"/>
            <a:ext cx="6370926" cy="358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try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}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catch (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IOException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)           // Less specific (superclass)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}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catch (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FileNotFoundException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f) // More specific (subclass)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{    // This catch will never be executed! The      	//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IOException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catch</a:t>
            </a:r>
            <a:br>
              <a:rPr lang="en-US" sz="1400" dirty="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// block can handle </a:t>
            </a:r>
            <a:r>
              <a:rPr lang="en-US" sz="1400" dirty="0" err="1">
                <a:latin typeface="Courier"/>
                <a:ea typeface="Courier"/>
                <a:cs typeface="Courier"/>
                <a:sym typeface="Courier"/>
              </a:rPr>
              <a:t>FileNotFoundExceptions</a:t>
            </a: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    	//and more...</a:t>
            </a:r>
          </a:p>
          <a:p>
            <a:pPr marL="0" indent="0">
              <a:lnSpc>
                <a:spcPts val="2267"/>
              </a:lnSpc>
              <a:buSzTx/>
              <a:buFont typeface="Arial"/>
              <a:buNone/>
              <a:tabLst>
                <a:tab pos="555827" algn="l"/>
              </a:tabLst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400" dirty="0">
                <a:latin typeface="Courier"/>
                <a:ea typeface="Courier"/>
                <a:cs typeface="Courier"/>
                <a:sym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130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Throwing Exceptions: Example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82384" y="1253560"/>
            <a:ext cx="8259909" cy="358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1400" dirty="0">
                <a:latin typeface="Courier" charset="0"/>
                <a:cs typeface="Times New Roman" pitchFamily="18" charset="0"/>
              </a:rPr>
              <a:t> </a:t>
            </a:r>
            <a:r>
              <a:rPr lang="en-US" sz="1400" dirty="0">
                <a:latin typeface="Courier New" pitchFamily="49" charset="0"/>
                <a:cs typeface="Times New Roman" pitchFamily="18" charset="0"/>
              </a:rPr>
              <a:t>/** Set a new radius */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Times New Roman" pitchFamily="18" charset="0"/>
              </a:rPr>
              <a:t>  public void </a:t>
            </a:r>
            <a:r>
              <a:rPr lang="en-US" sz="1400" dirty="0" err="1">
                <a:latin typeface="Courier New" pitchFamily="49" charset="0"/>
                <a:cs typeface="Times New Roman" pitchFamily="18" charset="0"/>
              </a:rPr>
              <a:t>setRadius</a:t>
            </a:r>
            <a:r>
              <a:rPr lang="en-US" sz="1400" dirty="0">
                <a:latin typeface="Courier New" pitchFamily="49" charset="0"/>
                <a:cs typeface="Times New Roman" pitchFamily="18" charset="0"/>
              </a:rPr>
              <a:t>(double </a:t>
            </a:r>
            <a:r>
              <a:rPr lang="en-US" sz="1400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sz="1400" dirty="0">
                <a:latin typeface="Courier New" pitchFamily="49" charset="0"/>
                <a:cs typeface="Times New Roman" pitchFamily="18" charset="0"/>
              </a:rPr>
              <a:t>)</a:t>
            </a:r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Times New Roman" pitchFamily="18" charset="0"/>
              </a:rPr>
              <a:t>throws </a:t>
            </a:r>
            <a:r>
              <a:rPr lang="en-US" sz="1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Times New Roman" pitchFamily="18" charset="0"/>
              </a:rPr>
              <a:t>IllegalArgumentException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 lvl="1"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1000" dirty="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if (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 &gt;= 0)</a:t>
            </a:r>
          </a:p>
          <a:p>
            <a:pPr lvl="1"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  radius =  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 lvl="1"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else</a:t>
            </a:r>
          </a:p>
          <a:p>
            <a:pPr lvl="1"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Times New Roman" pitchFamily="18" charset="0"/>
              </a:rPr>
              <a:t>throw new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Times New Roman" pitchFamily="18" charset="0"/>
              </a:rPr>
              <a:t>IllegalArgumentException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Times New Roman" pitchFamily="18" charset="0"/>
              </a:rPr>
              <a:t>("Radius cannot be negative");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  <a:defRPr/>
            </a:pPr>
            <a:r>
              <a:rPr lang="en-US" sz="1400" dirty="0">
                <a:latin typeface="Courier New" pitchFamily="49" charset="0"/>
                <a:cs typeface="Times New Roman" pitchFamily="18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15066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1699" y="445025"/>
            <a:ext cx="1743677" cy="572700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Throwing Exceptions: Example cont..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4" name="Content Placeholder 8"/>
          <p:cNvSpPr txBox="1">
            <a:spLocks/>
          </p:cNvSpPr>
          <p:nvPr/>
        </p:nvSpPr>
        <p:spPr>
          <a:xfrm>
            <a:off x="1854138" y="94628"/>
            <a:ext cx="7556898" cy="495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private double radius; /** The radius of the circle */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private static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= 0; /** The number of the objects created */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() {this(1.0); } /* Construct a circle with radius 1 */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(double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throws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altLang="en-US" sz="11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setRadius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double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getRadius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() { return radius; }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void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setRadius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(double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throws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altLang="en-US" sz="11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&gt;= 0)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  radius = 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throw new </a:t>
            </a:r>
            <a:r>
              <a:rPr lang="en-US" altLang="en-US" sz="11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altLang="en-US" sz="11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("Radius cannot be negative");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static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getNumberOfObjects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() {/** Return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*/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public double </a:t>
            </a:r>
            <a:r>
              <a:rPr lang="en-US" altLang="en-US" sz="1100" dirty="0" err="1">
                <a:latin typeface="Courier New" pitchFamily="49" charset="0"/>
                <a:cs typeface="Courier New" pitchFamily="49" charset="0"/>
              </a:rPr>
              <a:t>findArea</a:t>
            </a: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() {/** Return the area of this circle */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  return radius * radius * 3.14159;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 2" pitchFamily="18" charset="2"/>
              <a:buNone/>
            </a:pPr>
            <a:r>
              <a:rPr lang="en-US" altLang="en-US" sz="11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 2" pitchFamily="18" charset="2"/>
              <a:buNone/>
            </a:pPr>
            <a:endParaRPr lang="en-US" altLang="en-US" sz="11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43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1699" y="445025"/>
            <a:ext cx="5344633" cy="572700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Throwing Exceptions: Example cont.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789869" y="1345280"/>
            <a:ext cx="6525331" cy="311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altLang="en-US" sz="135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altLang="en-US" sz="135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try {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c1 = new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(5);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c2 = new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(-5);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c3 = new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catch (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ex) {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35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(ex);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135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("Number of objects created: " +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      	</a:t>
            </a:r>
            <a:r>
              <a:rPr lang="en-US" altLang="en-US" sz="1350" dirty="0" err="1">
                <a:latin typeface="Courier New" pitchFamily="49" charset="0"/>
                <a:cs typeface="Courier New" pitchFamily="49" charset="0"/>
              </a:rPr>
              <a:t>CircleWithException.getNumberOfObjects</a:t>
            </a: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 2" pitchFamily="18" charset="2"/>
              <a:buNone/>
            </a:pPr>
            <a:r>
              <a:rPr lang="en-US" altLang="en-US" sz="135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6602" y="4013717"/>
            <a:ext cx="4118846" cy="889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b="1" dirty="0">
                <a:solidFill>
                  <a:schemeClr val="dk2"/>
                </a:solidFill>
                <a:cs typeface="Times New Roman" pitchFamily="18" charset="0"/>
                <a:sym typeface="Hoefler Text"/>
              </a:rPr>
              <a:t>Output: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dirty="0">
                <a:solidFill>
                  <a:schemeClr val="dk2"/>
                </a:solidFill>
                <a:cs typeface="Times New Roman" pitchFamily="18" charset="0"/>
                <a:sym typeface="Hoefler Text"/>
              </a:rPr>
              <a:t>Radius cannot be negative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dirty="0">
                <a:solidFill>
                  <a:schemeClr val="dk2"/>
                </a:solidFill>
                <a:cs typeface="Times New Roman" pitchFamily="18" charset="0"/>
                <a:sym typeface="Hoefler Text"/>
              </a:rPr>
              <a:t>Number of objects created: 1</a:t>
            </a:r>
            <a:endParaRPr lang="en-US" dirty="0">
              <a:solidFill>
                <a:schemeClr val="dk2"/>
              </a:solidFill>
              <a:cs typeface="Times New Roman" pitchFamily="18" charset="0"/>
              <a:sym typeface="Hoefler Text"/>
            </a:endParaRPr>
          </a:p>
        </p:txBody>
      </p:sp>
    </p:spTree>
    <p:extLst>
      <p:ext uri="{BB962C8B-B14F-4D97-AF65-F5344CB8AC3E}">
        <p14:creationId xmlns:p14="http://schemas.microsoft.com/office/powerpoint/2010/main" val="285862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/>
              <a:t>Defining Custom Exception Classes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 the exception classes in the API whenever possible.</a:t>
            </a:r>
          </a:p>
          <a:p>
            <a:pPr marL="114300" indent="0">
              <a:buNone/>
            </a:pPr>
            <a:endParaRPr lang="en-US" altLang="en-US" dirty="0"/>
          </a:p>
          <a:p>
            <a:r>
              <a:rPr lang="en-US" altLang="en-US" dirty="0"/>
              <a:t>Define custom exception classes if the predefined classes are not sufficient.</a:t>
            </a:r>
          </a:p>
          <a:p>
            <a:pPr marL="114300" indent="0">
              <a:buNone/>
            </a:pPr>
            <a:endParaRPr lang="en-US" altLang="en-US" dirty="0"/>
          </a:p>
          <a:p>
            <a:r>
              <a:rPr lang="en-US" altLang="en-US" dirty="0"/>
              <a:t>Define custom exception classes by extending Exception or a subclass of Exception.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291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400" b="1" dirty="0"/>
              <a:t>Custom Exception Class:  Example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922491" y="1257537"/>
            <a:ext cx="7007703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</a:t>
            </a:r>
            <a:r>
              <a:rPr lang="en-US" altLang="en-US" sz="1575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InvalidRadiusException</a:t>
            </a:r>
            <a:r>
              <a:rPr lang="en-US" altLang="en-US" sz="1575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extends Exception</a:t>
            </a:r>
            <a:r>
              <a:rPr lang="en-US" altLang="en-US" sz="1575" b="1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</a:t>
            </a: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	private double radius;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/** Construct an exception */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</a:t>
            </a:r>
            <a:r>
              <a:rPr lang="en-US" altLang="en-US" sz="1575" b="1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InvalidRadiusException</a:t>
            </a: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(double radius) {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super("Invalid radius " + radius);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575" b="1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this.radius</a:t>
            </a: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= radius;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b="1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/** Return the radius */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double </a:t>
            </a:r>
            <a:r>
              <a:rPr lang="en-US" altLang="en-US" sz="1575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getRadius</a:t>
            </a: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 {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return radius;</a:t>
            </a:r>
          </a:p>
          <a:p>
            <a:pPr lvl="1"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575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803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1698" y="445025"/>
            <a:ext cx="2738999" cy="572700"/>
          </a:xfrm>
        </p:spPr>
        <p:txBody>
          <a:bodyPr>
            <a:normAutofit fontScale="90000"/>
          </a:bodyPr>
          <a:lstStyle/>
          <a:p>
            <a:r>
              <a:rPr lang="en-US" altLang="en-US" sz="2400" b="1" dirty="0"/>
              <a:t>Custom Exception Class: Example cont.</a:t>
            </a:r>
            <a:endParaRPr lang="en-US" sz="2500" b="1" dirty="0">
              <a:cs typeface="Times New Roman" pitchFamily="16" charset="0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244906" y="121382"/>
            <a:ext cx="5899095" cy="49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class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CircleWithRadiusException</a:t>
            </a:r>
            <a:r>
              <a:rPr lang="en-US" altLang="en-US" sz="1266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</a:t>
            </a: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private double radius;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public </a:t>
            </a:r>
            <a:r>
              <a:rPr lang="en-US" altLang="en-US" sz="1266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CircleWithRadiusException</a:t>
            </a: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(double </a:t>
            </a:r>
            <a:r>
              <a:rPr lang="en-US" altLang="en-US" sz="1266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try 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setRadius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</a:t>
            </a:r>
            <a:r>
              <a:rPr lang="en-US" altLang="en-US" sz="1266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266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numberOfObjects</a:t>
            </a: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++;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}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catch (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InvalidRadiusException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ex) 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ex.printStackTrace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();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}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public void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setRadius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(double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 throws 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		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InvalidRadiusException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{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if (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&gt;= 0)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radius = 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else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    throw new 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InvalidRadiusException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(</a:t>
            </a:r>
            <a:r>
              <a:rPr lang="en-US" altLang="en-US" sz="1266" b="1" dirty="0" err="1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newRadius</a:t>
            </a: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);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b="1" dirty="0"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  }</a:t>
            </a:r>
          </a:p>
          <a:p>
            <a:pPr defTabSz="241082" hangingPunct="0">
              <a:lnSpc>
                <a:spcPts val="2004"/>
              </a:lnSpc>
              <a:buClrTx/>
              <a:tabLst>
                <a:tab pos="562524" algn="l"/>
              </a:tabLst>
            </a:pPr>
            <a:r>
              <a:rPr lang="en-US" altLang="en-US" sz="1266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  <a:sym typeface="Hoefler Tex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880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c9c377e3b8e0e2ab9f0eac9809b4db93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6df6a781603a717f4f28054941dc04fe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672E0F-E158-49BF-85EB-20BE3D10143C}"/>
</file>

<file path=customXml/itemProps2.xml><?xml version="1.0" encoding="utf-8"?>
<ds:datastoreItem xmlns:ds="http://schemas.openxmlformats.org/officeDocument/2006/customXml" ds:itemID="{066231F6-1192-465E-8A32-34BF55FDAC32}"/>
</file>

<file path=customXml/itemProps3.xml><?xml version="1.0" encoding="utf-8"?>
<ds:datastoreItem xmlns:ds="http://schemas.openxmlformats.org/officeDocument/2006/customXml" ds:itemID="{791AB677-09EB-4E05-B1E9-5D4D918579B6}"/>
</file>

<file path=docProps/app.xml><?xml version="1.0" encoding="utf-8"?>
<Properties xmlns="http://schemas.openxmlformats.org/officeDocument/2006/extended-properties" xmlns:vt="http://schemas.openxmlformats.org/officeDocument/2006/docPropsVTypes">
  <TotalTime>16675</TotalTime>
  <Words>2370</Words>
  <Application>Microsoft Office PowerPoint</Application>
  <PresentationFormat>On-screen Show (16:9)</PresentationFormat>
  <Paragraphs>314</Paragraphs>
  <Slides>35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Courier</vt:lpstr>
      <vt:lpstr>Hoefler Text</vt:lpstr>
      <vt:lpstr>Monotype Sorts</vt:lpstr>
      <vt:lpstr>Arial</vt:lpstr>
      <vt:lpstr>Courier New</vt:lpstr>
      <vt:lpstr>Times New Roman</vt:lpstr>
      <vt:lpstr>Wingdings 2</vt:lpstr>
      <vt:lpstr>Simple Light</vt:lpstr>
      <vt:lpstr>Picture</vt:lpstr>
      <vt:lpstr>Exception Handling</vt:lpstr>
      <vt:lpstr>Motivation</vt:lpstr>
      <vt:lpstr>Exception-Handling</vt:lpstr>
      <vt:lpstr>Exception-Handling: Same method !</vt:lpstr>
      <vt:lpstr>Exception-Handling: if statement?</vt:lpstr>
      <vt:lpstr>Exception-Handling: method</vt:lpstr>
      <vt:lpstr>Exception Advantages</vt:lpstr>
      <vt:lpstr>Handling InputMismatchException</vt:lpstr>
      <vt:lpstr>Exception Types</vt:lpstr>
      <vt:lpstr>System Errors</vt:lpstr>
      <vt:lpstr>Exceptions</vt:lpstr>
      <vt:lpstr>Runtime Exceptions</vt:lpstr>
      <vt:lpstr>Checked Exceptions vs. Unchecked Exceptions</vt:lpstr>
      <vt:lpstr>Exception Types</vt:lpstr>
      <vt:lpstr>Unchecked Exceptions</vt:lpstr>
      <vt:lpstr>Declaring, Throwing, and Catching Exceptions</vt:lpstr>
      <vt:lpstr>Declaring Exceptions</vt:lpstr>
      <vt:lpstr>Throwing Exceptions</vt:lpstr>
      <vt:lpstr>Catching Exceptions</vt:lpstr>
      <vt:lpstr>Unhandled Exceptions</vt:lpstr>
      <vt:lpstr>Try...Catch, Revisited</vt:lpstr>
      <vt:lpstr>Try...Catch: Example</vt:lpstr>
      <vt:lpstr>Try and Finally</vt:lpstr>
      <vt:lpstr>Try and Finally: Example</vt:lpstr>
      <vt:lpstr>Passing the Buck</vt:lpstr>
      <vt:lpstr>Multiple Catch Blocks</vt:lpstr>
      <vt:lpstr>Good Ordering</vt:lpstr>
      <vt:lpstr>Bad Ordering</vt:lpstr>
      <vt:lpstr>Throwing Exceptions: Example</vt:lpstr>
      <vt:lpstr>Throwing Exceptions: Example cont..</vt:lpstr>
      <vt:lpstr>Throwing Exceptions: Example cont.</vt:lpstr>
      <vt:lpstr>Defining Custom Exception Classes</vt:lpstr>
      <vt:lpstr>Custom Exception Class:  Example</vt:lpstr>
      <vt:lpstr>Custom Exception Class: Example cont.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XINRUI YU</cp:lastModifiedBy>
  <cp:revision>1258</cp:revision>
  <dcterms:modified xsi:type="dcterms:W3CDTF">2025-12-10T00:14:34Z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