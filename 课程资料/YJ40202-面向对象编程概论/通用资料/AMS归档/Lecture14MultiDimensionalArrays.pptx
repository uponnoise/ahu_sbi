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310" r:id="rId3"/>
    <p:sldId id="282"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135" y="6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FCA44633-868B-44D9-92E8-78595C851965}"/>
    <pc:docChg chg="custSel delSld modSld">
      <pc:chgData name="于 心瑞 Xinrui YU" userId="e6fcc6d4-2b88-4beb-95d7-57ae4d33a768" providerId="ADAL" clId="{FCA44633-868B-44D9-92E8-78595C851965}" dt="2025-03-22T23:57:20.388" v="2"/>
      <pc:docMkLst>
        <pc:docMk/>
      </pc:docMkLst>
      <pc:sldChg chg="addSp delSp modSp mod">
        <pc:chgData name="于 心瑞 Xinrui YU" userId="e6fcc6d4-2b88-4beb-95d7-57ae4d33a768" providerId="ADAL" clId="{FCA44633-868B-44D9-92E8-78595C851965}" dt="2025-03-22T23:57:20.388" v="2"/>
        <pc:sldMkLst>
          <pc:docMk/>
          <pc:sldMk cId="0" sldId="256"/>
        </pc:sldMkLst>
        <pc:picChg chg="add mod">
          <ac:chgData name="于 心瑞 Xinrui YU" userId="e6fcc6d4-2b88-4beb-95d7-57ae4d33a768" providerId="ADAL" clId="{FCA44633-868B-44D9-92E8-78595C851965}" dt="2025-03-22T23:57:20.388" v="2"/>
          <ac:picMkLst>
            <pc:docMk/>
            <pc:sldMk cId="0" sldId="256"/>
            <ac:picMk id="3" creationId="{E9909863-4401-9FC5-9DF4-708A5995DAC9}"/>
          </ac:picMkLst>
        </pc:picChg>
      </pc:sldChg>
      <pc:sldChg chg="del">
        <pc:chgData name="于 心瑞 Xinrui YU" userId="e6fcc6d4-2b88-4beb-95d7-57ae4d33a768" providerId="ADAL" clId="{FCA44633-868B-44D9-92E8-78595C851965}" dt="2025-03-22T23:57:04.414" v="0" actId="47"/>
        <pc:sldMkLst>
          <pc:docMk/>
          <pc:sldMk cId="0" sldId="260"/>
        </pc:sldMkLst>
      </pc:sldChg>
    </pc:docChg>
  </pc:docChgLst>
  <pc:docChgLst>
    <pc:chgData name="Cindy Chen" userId="S::cchen1034@bths.edu::7d046212-a3e8-4a18-a335-8fe40dea9534" providerId="AD" clId="Web-{1FE0D22B-2765-84AE-7167-14B6CAEF29D3}"/>
    <pc:docChg chg="modSld">
      <pc:chgData name="Cindy Chen" userId="S::cchen1034@bths.edu::7d046212-a3e8-4a18-a335-8fe40dea9534" providerId="AD" clId="Web-{1FE0D22B-2765-84AE-7167-14B6CAEF29D3}" dt="2021-08-29T22:15:18.278" v="17" actId="20577"/>
      <pc:docMkLst>
        <pc:docMk/>
      </pc:docMkLst>
      <pc:sldChg chg="modSp">
        <pc:chgData name="Cindy Chen" userId="S::cchen1034@bths.edu::7d046212-a3e8-4a18-a335-8fe40dea9534" providerId="AD" clId="Web-{1FE0D22B-2765-84AE-7167-14B6CAEF29D3}" dt="2021-08-29T22:13:25.541" v="0" actId="1076"/>
        <pc:sldMkLst>
          <pc:docMk/>
          <pc:sldMk cId="0" sldId="256"/>
        </pc:sldMkLst>
      </pc:sldChg>
      <pc:sldChg chg="addSp delSp modSp">
        <pc:chgData name="Cindy Chen" userId="S::cchen1034@bths.edu::7d046212-a3e8-4a18-a335-8fe40dea9534" providerId="AD" clId="Web-{1FE0D22B-2765-84AE-7167-14B6CAEF29D3}" dt="2021-08-29T22:14:12.667" v="10" actId="20577"/>
        <pc:sldMkLst>
          <pc:docMk/>
          <pc:sldMk cId="0" sldId="260"/>
        </pc:sldMkLst>
      </pc:sldChg>
      <pc:sldChg chg="modSp">
        <pc:chgData name="Cindy Chen" userId="S::cchen1034@bths.edu::7d046212-a3e8-4a18-a335-8fe40dea9534" providerId="AD" clId="Web-{1FE0D22B-2765-84AE-7167-14B6CAEF29D3}" dt="2021-08-29T22:15:18.278" v="17" actId="20577"/>
        <pc:sldMkLst>
          <pc:docMk/>
          <pc:sldMk cId="1658644532" sldId="297"/>
        </pc:sldMkLst>
      </pc:sldChg>
      <pc:sldChg chg="modSp">
        <pc:chgData name="Cindy Chen" userId="S::cchen1034@bths.edu::7d046212-a3e8-4a18-a335-8fe40dea9534" providerId="AD" clId="Web-{1FE0D22B-2765-84AE-7167-14B6CAEF29D3}" dt="2021-08-29T22:14:39.793" v="14"/>
        <pc:sldMkLst>
          <pc:docMk/>
          <pc:sldMk cId="3520721791" sldId="301"/>
        </pc:sldMkLst>
      </pc:sldChg>
      <pc:sldChg chg="modSp">
        <pc:chgData name="Cindy Chen" userId="S::cchen1034@bths.edu::7d046212-a3e8-4a18-a335-8fe40dea9534" providerId="AD" clId="Web-{1FE0D22B-2765-84AE-7167-14B6CAEF29D3}" dt="2021-08-29T22:14:44.996" v="15" actId="20577"/>
        <pc:sldMkLst>
          <pc:docMk/>
          <pc:sldMk cId="736020873" sldId="302"/>
        </pc:sldMkLst>
      </pc:sldChg>
    </pc:docChg>
  </pc:docChgLst>
  <pc:docChgLst>
    <pc:chgData name="Cindy Chen" userId="S::cchen1034@bths.edu::7d046212-a3e8-4a18-a335-8fe40dea9534" providerId="AD" clId="Web-{9A13C7EB-991D-DE15-624A-14049805FAEE}"/>
    <pc:docChg chg="modSld">
      <pc:chgData name="Cindy Chen" userId="S::cchen1034@bths.edu::7d046212-a3e8-4a18-a335-8fe40dea9534" providerId="AD" clId="Web-{9A13C7EB-991D-DE15-624A-14049805FAEE}" dt="2021-08-29T23:38:23.125" v="19"/>
      <pc:docMkLst>
        <pc:docMk/>
      </pc:docMkLst>
      <pc:sldChg chg="modSp">
        <pc:chgData name="Cindy Chen" userId="S::cchen1034@bths.edu::7d046212-a3e8-4a18-a335-8fe40dea9534" providerId="AD" clId="Web-{9A13C7EB-991D-DE15-624A-14049805FAEE}" dt="2021-08-29T22:58:57.664" v="0"/>
        <pc:sldMkLst>
          <pc:docMk/>
          <pc:sldMk cId="3997245078" sldId="282"/>
        </pc:sldMkLst>
      </pc:sldChg>
      <pc:sldChg chg="modSp">
        <pc:chgData name="Cindy Chen" userId="S::cchen1034@bths.edu::7d046212-a3e8-4a18-a335-8fe40dea9534" providerId="AD" clId="Web-{9A13C7EB-991D-DE15-624A-14049805FAEE}" dt="2021-08-29T23:25:04.839" v="3"/>
        <pc:sldMkLst>
          <pc:docMk/>
          <pc:sldMk cId="134116592" sldId="299"/>
        </pc:sldMkLst>
      </pc:sldChg>
      <pc:sldChg chg="modSp">
        <pc:chgData name="Cindy Chen" userId="S::cchen1034@bths.edu::7d046212-a3e8-4a18-a335-8fe40dea9534" providerId="AD" clId="Web-{9A13C7EB-991D-DE15-624A-14049805FAEE}" dt="2021-08-29T23:34:22.713" v="13"/>
        <pc:sldMkLst>
          <pc:docMk/>
          <pc:sldMk cId="2127616454" sldId="300"/>
        </pc:sldMkLst>
      </pc:sldChg>
      <pc:sldChg chg="modSp">
        <pc:chgData name="Cindy Chen" userId="S::cchen1034@bths.edu::7d046212-a3e8-4a18-a335-8fe40dea9534" providerId="AD" clId="Web-{9A13C7EB-991D-DE15-624A-14049805FAEE}" dt="2021-08-29T23:29:37.252" v="6"/>
        <pc:sldMkLst>
          <pc:docMk/>
          <pc:sldMk cId="3520721791" sldId="301"/>
        </pc:sldMkLst>
      </pc:sldChg>
      <pc:sldChg chg="modSp">
        <pc:chgData name="Cindy Chen" userId="S::cchen1034@bths.edu::7d046212-a3e8-4a18-a335-8fe40dea9534" providerId="AD" clId="Web-{9A13C7EB-991D-DE15-624A-14049805FAEE}" dt="2021-08-29T23:31:29.177" v="11"/>
        <pc:sldMkLst>
          <pc:docMk/>
          <pc:sldMk cId="736020873" sldId="302"/>
        </pc:sldMkLst>
      </pc:sldChg>
      <pc:sldChg chg="modSp">
        <pc:chgData name="Cindy Chen" userId="S::cchen1034@bths.edu::7d046212-a3e8-4a18-a335-8fe40dea9534" providerId="AD" clId="Web-{9A13C7EB-991D-DE15-624A-14049805FAEE}" dt="2021-08-29T23:36:02.856" v="18"/>
        <pc:sldMkLst>
          <pc:docMk/>
          <pc:sldMk cId="1236135278" sldId="303"/>
        </pc:sldMkLst>
      </pc:sldChg>
      <pc:sldChg chg="modSp">
        <pc:chgData name="Cindy Chen" userId="S::cchen1034@bths.edu::7d046212-a3e8-4a18-a335-8fe40dea9534" providerId="AD" clId="Web-{9A13C7EB-991D-DE15-624A-14049805FAEE}" dt="2021-08-29T23:38:23.125" v="19"/>
        <pc:sldMkLst>
          <pc:docMk/>
          <pc:sldMk cId="164428344" sldId="304"/>
        </pc:sldMkLst>
      </pc:sldChg>
    </pc:docChg>
  </pc:docChgLst>
  <pc:docChgLst>
    <pc:chgData name="于 心瑞 Xinrui YU" userId="e6fcc6d4-2b88-4beb-95d7-57ae4d33a768" providerId="ADAL" clId="{ED02518D-2407-4C37-8909-42BD43C7AB51}"/>
    <pc:docChg chg="modSld">
      <pc:chgData name="于 心瑞 Xinrui YU" userId="e6fcc6d4-2b88-4beb-95d7-57ae4d33a768" providerId="ADAL" clId="{ED02518D-2407-4C37-8909-42BD43C7AB51}" dt="2025-03-24T08:59:25.803" v="12" actId="20577"/>
      <pc:docMkLst>
        <pc:docMk/>
      </pc:docMkLst>
      <pc:sldChg chg="modNotesTx">
        <pc:chgData name="于 心瑞 Xinrui YU" userId="e6fcc6d4-2b88-4beb-95d7-57ae4d33a768" providerId="ADAL" clId="{ED02518D-2407-4C37-8909-42BD43C7AB51}" dt="2025-03-24T08:59:25.803" v="12" actId="20577"/>
        <pc:sldMkLst>
          <pc:docMk/>
          <pc:sldMk cId="3520721791"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t>0324 class 02</a:t>
            </a:r>
            <a:endParaRPr lang="zh-CN" altLang="en-US"/>
          </a:p>
        </p:txBody>
      </p:sp>
    </p:spTree>
    <p:extLst>
      <p:ext uri="{BB962C8B-B14F-4D97-AF65-F5344CB8AC3E}">
        <p14:creationId xmlns:p14="http://schemas.microsoft.com/office/powerpoint/2010/main" val="287366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id="{1730766B-A39C-48AD-AF4E-3FB458C16D13}"/>
              </a:ext>
            </a:extLst>
          </p:cNvPr>
          <p:cNvSpPr>
            <a:spLocks noGrp="1"/>
          </p:cNvSpPr>
          <p:nvPr>
            <p:ph type="title"/>
          </p:nvPr>
        </p:nvSpPr>
        <p:spPr>
          <a:xfrm>
            <a:off x="441096" y="-1215560"/>
            <a:ext cx="8520600" cy="572700"/>
          </a:xfrm>
        </p:spPr>
        <p:txBody>
          <a:bodyPr>
            <a:normAutofit fontScale="90000"/>
          </a:bodyPr>
          <a:lstStyle/>
          <a:p>
            <a:r>
              <a:rPr lang="en-US" dirty="0"/>
              <a:t>Multi-dimensional arrays</a:t>
            </a:r>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US" sz="3200" b="1" dirty="0">
                <a:solidFill>
                  <a:schemeClr val="dk1"/>
                </a:solidFill>
              </a:rPr>
              <a:t>Multi-dimensional Arrays</a:t>
            </a:r>
            <a:endParaRPr sz="3200" b="1" dirty="0">
              <a:solidFill>
                <a:schemeClr val="dk1"/>
              </a:solidFill>
            </a:endParaRPr>
          </a:p>
        </p:txBody>
      </p:sp>
      <p:pic>
        <p:nvPicPr>
          <p:cNvPr id="3" name="그림 1" descr="Text, letter&#10;&#10;Description automatically generated">
            <a:extLst>
              <a:ext uri="{FF2B5EF4-FFF2-40B4-BE49-F238E27FC236}">
                <a16:creationId xmlns:a16="http://schemas.microsoft.com/office/drawing/2014/main" id="{E9909863-4401-9FC5-9DF4-708A5995DA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a:t>
            </a:r>
          </a:p>
        </p:txBody>
      </p:sp>
      <p:sp>
        <p:nvSpPr>
          <p:cNvPr id="3" name="Text Placeholder 2"/>
          <p:cNvSpPr>
            <a:spLocks noGrp="1"/>
          </p:cNvSpPr>
          <p:nvPr>
            <p:ph type="body" idx="1"/>
          </p:nvPr>
        </p:nvSpPr>
        <p:spPr/>
        <p:txBody>
          <a:bodyPr/>
          <a:lstStyle/>
          <a:p>
            <a:r>
              <a:rPr lang="en-US" dirty="0"/>
              <a:t>Declare/Create a 2-D Array</a:t>
            </a:r>
          </a:p>
          <a:p>
            <a:r>
              <a:rPr lang="en-US" dirty="0"/>
              <a:t>2-D Array length</a:t>
            </a:r>
          </a:p>
          <a:p>
            <a:r>
              <a:rPr lang="en-US" dirty="0"/>
              <a:t>2-D Array: Declaration, Creation and Initialization shorthand notation</a:t>
            </a:r>
          </a:p>
          <a:p>
            <a:r>
              <a:rPr lang="en-US" dirty="0"/>
              <a:t>Ragged Arrays</a:t>
            </a:r>
          </a:p>
          <a:p>
            <a:r>
              <a:rPr lang="en-US" dirty="0"/>
              <a:t>Initializing 2-D arrays:</a:t>
            </a:r>
          </a:p>
          <a:p>
            <a:pPr marL="914400" lvl="2" indent="-342900">
              <a:buSzPts val="1800"/>
              <a:buFont typeface="Arial"/>
              <a:buChar char="●"/>
            </a:pPr>
            <a:r>
              <a:rPr lang="en-US" sz="1800" dirty="0"/>
              <a:t>Using user input from keyboard</a:t>
            </a:r>
          </a:p>
          <a:p>
            <a:pPr marL="914400" lvl="2" indent="-342900">
              <a:buSzPts val="1800"/>
              <a:buFont typeface="Arial"/>
              <a:buChar char="●"/>
            </a:pPr>
            <a:r>
              <a:rPr lang="en-US" sz="1800" dirty="0"/>
              <a:t>Using the random values</a:t>
            </a:r>
          </a:p>
          <a:p>
            <a:pPr marL="457200" lvl="1" indent="-342900">
              <a:buSzPts val="1800"/>
              <a:buFont typeface="Arial"/>
              <a:buChar char="●"/>
            </a:pPr>
            <a:r>
              <a:rPr lang="en-US" sz="1800" dirty="0"/>
              <a:t>Printing, summing all, summing elements of a column in 2-D Array </a:t>
            </a:r>
          </a:p>
          <a:p>
            <a:endParaRPr lang="en-US" dirty="0"/>
          </a:p>
          <a:p>
            <a:endParaRPr lang="en-US" dirty="0"/>
          </a:p>
        </p:txBody>
      </p:sp>
    </p:spTree>
    <p:extLst>
      <p:ext uri="{BB962C8B-B14F-4D97-AF65-F5344CB8AC3E}">
        <p14:creationId xmlns:p14="http://schemas.microsoft.com/office/powerpoint/2010/main" val="102849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Multi-dimensional array: example</a:t>
            </a:r>
            <a:endParaRPr lang="en-US" b="1" dirty="0"/>
          </a:p>
        </p:txBody>
      </p:sp>
      <p:sp>
        <p:nvSpPr>
          <p:cNvPr id="3" name="Text Placeholder 2"/>
          <p:cNvSpPr>
            <a:spLocks noGrp="1"/>
          </p:cNvSpPr>
          <p:nvPr>
            <p:ph type="body" idx="1"/>
          </p:nvPr>
        </p:nvSpPr>
        <p:spPr>
          <a:xfrm>
            <a:off x="311700" y="1152475"/>
            <a:ext cx="8443882" cy="3416400"/>
          </a:xfrm>
        </p:spPr>
        <p:txBody>
          <a:bodyPr/>
          <a:lstStyle/>
          <a:p>
            <a:r>
              <a:rPr lang="en-US" altLang="en-US" dirty="0"/>
              <a:t>How do we represent matrices or tables?</a:t>
            </a:r>
          </a:p>
          <a:p>
            <a:r>
              <a:rPr lang="en-US" altLang="en-US" dirty="0"/>
              <a:t>A two-dimensional array to represent a matrix or a table</a:t>
            </a:r>
          </a:p>
          <a:p>
            <a:pPr lvl="1"/>
            <a:r>
              <a:rPr lang="en-US" altLang="en-US" sz="1800" dirty="0"/>
              <a:t>Example: the following table that describes the distances between the cities can be represented using a two-dimensional array.</a:t>
            </a:r>
          </a:p>
          <a:p>
            <a:endParaRPr lang="en-US" dirty="0"/>
          </a:p>
        </p:txBody>
      </p:sp>
      <p:graphicFrame>
        <p:nvGraphicFramePr>
          <p:cNvPr id="5" name="Object 2" descr="A distance table (in miles) with labels on both the horizontal and vertical side of the table. The labels are locations such as Chicago, Boston, New York etc. The first item on the table is 0 which is the distance from Chicago to Chicago. The second item on the first row is Chicago to Boston, or vice versa, and it is 983 miles. The first item on the second row is also Chicago to Boston, or vice versa. "/>
          <p:cNvGraphicFramePr>
            <a:graphicFrameLocks noChangeAspect="1"/>
          </p:cNvGraphicFramePr>
          <p:nvPr>
            <p:extLst>
              <p:ext uri="{D42A27DB-BD31-4B8C-83A1-F6EECF244321}">
                <p14:modId xmlns:p14="http://schemas.microsoft.com/office/powerpoint/2010/main" val="690394357"/>
              </p:ext>
            </p:extLst>
          </p:nvPr>
        </p:nvGraphicFramePr>
        <p:xfrm>
          <a:off x="2450959" y="2543186"/>
          <a:ext cx="5107001" cy="2336311"/>
        </p:xfrm>
        <a:graphic>
          <a:graphicData uri="http://schemas.openxmlformats.org/presentationml/2006/ole">
            <mc:AlternateContent xmlns:mc="http://schemas.openxmlformats.org/markup-compatibility/2006">
              <mc:Choice xmlns:v="urn:schemas-microsoft-com:vml" Requires="v">
                <p:oleObj r:id="rId2" imgW="4917948" imgH="2246376" progId="Word.Picture.8">
                  <p:embed/>
                </p:oleObj>
              </mc:Choice>
              <mc:Fallback>
                <p:oleObj r:id="rId2" imgW="4917948" imgH="2246376" progId="Word.Picture.8">
                  <p:embed/>
                  <p:pic>
                    <p:nvPicPr>
                      <p:cNvPr id="5" name="Object 2" descr="A distance table (in miles) with labels on both the horizontal and vertical side of the table. The labels are locations such as Chicago, Boston, New York etc. The first item on the table is 0 which is the distance from Chicago to Chicago. The second item on the first row is Chicago to Boston, or vice versa, and it is 983 miles. The first item on the second row is also Chicago to Boston, or vice vers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0959" y="2543186"/>
                        <a:ext cx="5107001" cy="233631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99724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Declare/ Create Two-dimensional Arrays</a:t>
            </a:r>
            <a:endParaRPr lang="en-US" b="1" dirty="0"/>
          </a:p>
        </p:txBody>
      </p:sp>
      <p:sp>
        <p:nvSpPr>
          <p:cNvPr id="3" name="Text Placeholder 2"/>
          <p:cNvSpPr>
            <a:spLocks noGrp="1"/>
          </p:cNvSpPr>
          <p:nvPr>
            <p:ph type="body" idx="1"/>
          </p:nvPr>
        </p:nvSpPr>
        <p:spPr>
          <a:xfrm>
            <a:off x="311700" y="1152475"/>
            <a:ext cx="8443882" cy="3416400"/>
          </a:xfrm>
        </p:spPr>
        <p:txBody>
          <a:bodyPr>
            <a:normAutofit/>
          </a:bodyPr>
          <a:lstStyle/>
          <a:p>
            <a:pPr marL="0" indent="0">
              <a:buNone/>
            </a:pPr>
            <a:r>
              <a:rPr lang="en-US" altLang="en-US" b="1" dirty="0">
                <a:latin typeface="Courier New"/>
              </a:rPr>
              <a:t>// Declare array ref var</a:t>
            </a:r>
          </a:p>
          <a:p>
            <a:pPr marL="0" indent="0">
              <a:buNone/>
            </a:pPr>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refVar</a:t>
            </a:r>
            <a:r>
              <a:rPr lang="en-US" altLang="en-US" b="1" dirty="0">
                <a:latin typeface="Courier New" pitchFamily="49" charset="0"/>
              </a:rPr>
              <a:t>; </a:t>
            </a:r>
          </a:p>
          <a:p>
            <a:pPr marL="0" indent="0">
              <a:buNone/>
            </a:pPr>
            <a:r>
              <a:rPr lang="en-US" altLang="en-US" b="1" dirty="0">
                <a:latin typeface="Courier New" pitchFamily="49" charset="0"/>
              </a:rPr>
              <a:t>// Create array and assign its reference to variable</a:t>
            </a:r>
          </a:p>
          <a:p>
            <a:pPr marL="0" indent="0">
              <a:buNone/>
            </a:pPr>
            <a:r>
              <a:rPr lang="en-US" altLang="en-US" b="1" dirty="0" err="1">
                <a:latin typeface="Courier New"/>
              </a:rPr>
              <a:t>refVar</a:t>
            </a:r>
            <a:r>
              <a:rPr lang="en-US" altLang="en-US" b="1" dirty="0">
                <a:latin typeface="Courier New"/>
              </a:rPr>
              <a:t> = </a:t>
            </a:r>
            <a:r>
              <a:rPr lang="en-US" altLang="en-US" b="1" dirty="0">
                <a:solidFill>
                  <a:schemeClr val="tx1"/>
                </a:solidFill>
                <a:latin typeface="Courier New"/>
              </a:rPr>
              <a:t>new </a:t>
            </a:r>
            <a:r>
              <a:rPr lang="en-US" altLang="en-US" b="1" dirty="0" err="1">
                <a:solidFill>
                  <a:schemeClr val="tx1"/>
                </a:solidFill>
                <a:latin typeface="Courier New"/>
              </a:rPr>
              <a:t>dataType</a:t>
            </a:r>
            <a:r>
              <a:rPr lang="en-US" altLang="en-US" b="1" dirty="0">
                <a:solidFill>
                  <a:schemeClr val="tx1"/>
                </a:solidFill>
                <a:latin typeface="Courier New"/>
              </a:rPr>
              <a:t>[10][10];</a:t>
            </a:r>
            <a:r>
              <a:rPr lang="en-US" altLang="en-US" b="1" dirty="0">
                <a:solidFill>
                  <a:srgbClr val="FF0000"/>
                </a:solidFill>
                <a:latin typeface="Courier New"/>
              </a:rPr>
              <a:t> </a:t>
            </a:r>
            <a:endParaRPr lang="en-US" altLang="en-US" b="1" dirty="0">
              <a:solidFill>
                <a:srgbClr val="FF0000"/>
              </a:solidFill>
              <a:latin typeface="Courier New" pitchFamily="49" charset="0"/>
            </a:endParaRPr>
          </a:p>
          <a:p>
            <a:pPr marL="0" indent="0">
              <a:buNone/>
            </a:pPr>
            <a:r>
              <a:rPr lang="en-US" altLang="en-US" b="1" dirty="0">
                <a:latin typeface="Courier New" pitchFamily="49" charset="0"/>
              </a:rPr>
              <a:t>// Combine declaration and creation in one statement</a:t>
            </a:r>
          </a:p>
          <a:p>
            <a:pPr marL="0" indent="0">
              <a:buNone/>
            </a:pPr>
            <a:r>
              <a:rPr lang="en-US" altLang="en-US" b="1" dirty="0" err="1">
                <a:latin typeface="Courier New" pitchFamily="49" charset="0"/>
              </a:rPr>
              <a:t>dataType</a:t>
            </a:r>
            <a:r>
              <a:rPr lang="en-US" altLang="en-US" b="1" dirty="0">
                <a:latin typeface="Courier New" pitchFamily="49" charset="0"/>
              </a:rPr>
              <a:t>[][] </a:t>
            </a:r>
            <a:r>
              <a:rPr lang="en-US" altLang="en-US" b="1" dirty="0" err="1">
                <a:latin typeface="Courier New" pitchFamily="49" charset="0"/>
              </a:rPr>
              <a:t>refVar</a:t>
            </a:r>
            <a:r>
              <a:rPr lang="en-US" altLang="en-US" b="1" dirty="0">
                <a:latin typeface="Courier New" pitchFamily="49" charset="0"/>
              </a:rPr>
              <a:t> = new </a:t>
            </a:r>
            <a:r>
              <a:rPr lang="en-US" altLang="en-US" b="1" dirty="0" err="1">
                <a:latin typeface="Courier New" pitchFamily="49" charset="0"/>
              </a:rPr>
              <a:t>dataType</a:t>
            </a:r>
            <a:r>
              <a:rPr lang="en-US" altLang="en-US" b="1" dirty="0">
                <a:latin typeface="Courier New" pitchFamily="49" charset="0"/>
              </a:rPr>
              <a:t>[10][10]; </a:t>
            </a:r>
          </a:p>
          <a:p>
            <a:pPr marL="0" indent="0">
              <a:buNone/>
            </a:pPr>
            <a:endParaRPr lang="en-US" altLang="en-US" b="1" dirty="0">
              <a:latin typeface="Courier New" pitchFamily="49" charset="0"/>
            </a:endParaRPr>
          </a:p>
          <a:p>
            <a:pPr marL="0" indent="0">
              <a:buNone/>
            </a:pPr>
            <a:r>
              <a:rPr lang="en-US" altLang="en-US" b="1" dirty="0">
                <a:latin typeface="Courier New" pitchFamily="49" charset="0"/>
              </a:rPr>
              <a:t>// Alternative syntax – Not preferred!</a:t>
            </a:r>
          </a:p>
          <a:p>
            <a:pPr marL="0" indent="0">
              <a:buNone/>
            </a:pPr>
            <a:r>
              <a:rPr lang="en-US" altLang="en-US" b="1" dirty="0" err="1">
                <a:latin typeface="Courier New" pitchFamily="49" charset="0"/>
              </a:rPr>
              <a:t>dataType</a:t>
            </a:r>
            <a:r>
              <a:rPr lang="en-US" altLang="en-US" b="1" dirty="0">
                <a:latin typeface="Courier New" pitchFamily="49" charset="0"/>
              </a:rPr>
              <a:t> </a:t>
            </a:r>
            <a:r>
              <a:rPr lang="en-US" altLang="en-US" b="1" dirty="0" err="1">
                <a:latin typeface="Courier New" pitchFamily="49" charset="0"/>
              </a:rPr>
              <a:t>refVar</a:t>
            </a:r>
            <a:r>
              <a:rPr lang="en-US" altLang="en-US" b="1" dirty="0">
                <a:latin typeface="Courier New" pitchFamily="49" charset="0"/>
              </a:rPr>
              <a:t>[][] = new </a:t>
            </a:r>
            <a:r>
              <a:rPr lang="en-US" altLang="en-US" b="1" dirty="0" err="1">
                <a:latin typeface="Courier New" pitchFamily="49" charset="0"/>
              </a:rPr>
              <a:t>dataType</a:t>
            </a:r>
            <a:r>
              <a:rPr lang="en-US" altLang="en-US" b="1" dirty="0">
                <a:latin typeface="Courier New" pitchFamily="49" charset="0"/>
              </a:rPr>
              <a:t>[10][10]; </a:t>
            </a:r>
          </a:p>
        </p:txBody>
      </p:sp>
    </p:spTree>
    <p:extLst>
      <p:ext uri="{BB962C8B-B14F-4D97-AF65-F5344CB8AC3E}">
        <p14:creationId xmlns:p14="http://schemas.microsoft.com/office/powerpoint/2010/main" val="165864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Declare/ Create Two-dimensional Arrays: contd..</a:t>
            </a:r>
            <a:endParaRPr lang="en-US" b="1" dirty="0"/>
          </a:p>
        </p:txBody>
      </p:sp>
      <p:sp>
        <p:nvSpPr>
          <p:cNvPr id="3" name="Text Placeholder 2"/>
          <p:cNvSpPr>
            <a:spLocks noGrp="1"/>
          </p:cNvSpPr>
          <p:nvPr>
            <p:ph type="body" idx="1"/>
          </p:nvPr>
        </p:nvSpPr>
        <p:spPr>
          <a:xfrm>
            <a:off x="311700" y="1152475"/>
            <a:ext cx="8443882" cy="3416400"/>
          </a:xfrm>
        </p:spPr>
        <p:txBody>
          <a:bodyPr>
            <a:normAutofit/>
          </a:bodyPr>
          <a:lstStyle/>
          <a:p>
            <a:pPr marL="0" indent="0">
              <a:lnSpc>
                <a:spcPct val="90000"/>
              </a:lnSpc>
              <a:buNone/>
            </a:pPr>
            <a:endParaRPr lang="en-US" altLang="en-US" sz="1400" b="1" dirty="0"/>
          </a:p>
          <a:p>
            <a:pPr marL="0" indent="0">
              <a:lnSpc>
                <a:spcPct val="90000"/>
              </a:lnSpc>
              <a:buNone/>
            </a:pPr>
            <a:r>
              <a:rPr lang="en-US" altLang="en-US" b="1" dirty="0" err="1">
                <a:latin typeface="Courier New" pitchFamily="49" charset="0"/>
              </a:rPr>
              <a:t>int</a:t>
            </a:r>
            <a:r>
              <a:rPr lang="en-US" altLang="en-US" b="1" dirty="0">
                <a:latin typeface="Courier New" pitchFamily="49" charset="0"/>
              </a:rPr>
              <a:t>[][] matrix = new </a:t>
            </a:r>
            <a:r>
              <a:rPr lang="en-US" altLang="en-US" b="1" dirty="0" err="1">
                <a:latin typeface="Courier New" pitchFamily="49" charset="0"/>
              </a:rPr>
              <a:t>int</a:t>
            </a:r>
            <a:r>
              <a:rPr lang="en-US" altLang="en-US" b="1" dirty="0">
                <a:latin typeface="Courier New" pitchFamily="49" charset="0"/>
              </a:rPr>
              <a:t>[10][10];</a:t>
            </a:r>
          </a:p>
          <a:p>
            <a:pPr marL="0" indent="0">
              <a:lnSpc>
                <a:spcPct val="90000"/>
              </a:lnSpc>
              <a:spcBef>
                <a:spcPct val="0"/>
              </a:spcBef>
              <a:buNone/>
            </a:pPr>
            <a:r>
              <a:rPr lang="en-US" altLang="en-US" b="1" dirty="0"/>
              <a:t>  	or</a:t>
            </a:r>
          </a:p>
          <a:p>
            <a:pPr marL="0" indent="0">
              <a:lnSpc>
                <a:spcPct val="90000"/>
              </a:lnSpc>
              <a:buNone/>
            </a:pPr>
            <a:r>
              <a:rPr lang="en-US" altLang="en-US" b="1" dirty="0" err="1">
                <a:latin typeface="Courier New" pitchFamily="49" charset="0"/>
              </a:rPr>
              <a:t>int</a:t>
            </a:r>
            <a:r>
              <a:rPr lang="en-US" altLang="en-US" b="1" dirty="0">
                <a:latin typeface="Courier New" pitchFamily="49" charset="0"/>
              </a:rPr>
              <a:t> matrix[][] = new </a:t>
            </a:r>
            <a:r>
              <a:rPr lang="en-US" altLang="en-US" b="1" dirty="0" err="1">
                <a:latin typeface="Courier New" pitchFamily="49" charset="0"/>
              </a:rPr>
              <a:t>int</a:t>
            </a:r>
            <a:r>
              <a:rPr lang="en-US" altLang="en-US" b="1" dirty="0">
                <a:latin typeface="Courier New" pitchFamily="49" charset="0"/>
              </a:rPr>
              <a:t>[10][10];</a:t>
            </a:r>
            <a:endParaRPr lang="en-US" altLang="en-US" sz="1100" b="1" dirty="0">
              <a:latin typeface="Courier New" pitchFamily="49" charset="0"/>
            </a:endParaRPr>
          </a:p>
          <a:p>
            <a:pPr>
              <a:lnSpc>
                <a:spcPct val="90000"/>
              </a:lnSpc>
            </a:pPr>
            <a:endParaRPr lang="en-US" altLang="en-US" sz="1100" b="1" dirty="0">
              <a:solidFill>
                <a:srgbClr val="FF0000"/>
              </a:solidFill>
              <a:latin typeface="Courier New" pitchFamily="49" charset="0"/>
            </a:endParaRPr>
          </a:p>
          <a:p>
            <a:pPr>
              <a:lnSpc>
                <a:spcPct val="90000"/>
              </a:lnSpc>
            </a:pPr>
            <a:r>
              <a:rPr lang="en-US" altLang="en-US" b="1" dirty="0">
                <a:solidFill>
                  <a:schemeClr val="tx1"/>
                </a:solidFill>
                <a:latin typeface="Courier New" pitchFamily="49" charset="0"/>
              </a:rPr>
              <a:t>Indexed variables:</a:t>
            </a:r>
          </a:p>
          <a:p>
            <a:pPr marL="0" indent="0">
              <a:lnSpc>
                <a:spcPct val="90000"/>
              </a:lnSpc>
              <a:buNone/>
            </a:pPr>
            <a:r>
              <a:rPr lang="en-US" altLang="en-US" b="1" dirty="0">
                <a:solidFill>
                  <a:schemeClr val="tx1"/>
                </a:solidFill>
                <a:latin typeface="Courier New" pitchFamily="49" charset="0"/>
              </a:rPr>
              <a:t>    matrix[0][0] = 3;</a:t>
            </a:r>
            <a:endParaRPr lang="en-US" altLang="en-US" sz="1100" b="1" dirty="0">
              <a:solidFill>
                <a:schemeClr val="tx1"/>
              </a:solidFill>
              <a:latin typeface="Courier New" pitchFamily="49" charset="0"/>
            </a:endParaRPr>
          </a:p>
          <a:p>
            <a:pPr marL="114300" indent="0">
              <a:lnSpc>
                <a:spcPct val="90000"/>
              </a:lnSpc>
              <a:buNone/>
            </a:pPr>
            <a:endParaRPr lang="en-US" altLang="en-US" sz="1100" b="1" dirty="0">
              <a:solidFill>
                <a:srgbClr val="FF0000"/>
              </a:solidFill>
              <a:latin typeface="Courier New" pitchFamily="49" charset="0"/>
            </a:endParaRPr>
          </a:p>
          <a:p>
            <a:pPr>
              <a:lnSpc>
                <a:spcPct val="90000"/>
              </a:lnSpc>
            </a:pPr>
            <a:r>
              <a:rPr lang="en-US" altLang="en-US" b="1" dirty="0">
                <a:solidFill>
                  <a:schemeClr val="tx1"/>
                </a:solidFill>
                <a:latin typeface="Courier New" pitchFamily="49" charset="0"/>
              </a:rPr>
              <a:t>Length:</a:t>
            </a:r>
          </a:p>
          <a:p>
            <a:pPr marL="457200" lvl="1" indent="0">
              <a:lnSpc>
                <a:spcPct val="90000"/>
              </a:lnSpc>
              <a:spcBef>
                <a:spcPct val="0"/>
              </a:spcBef>
              <a:buNone/>
            </a:pPr>
            <a:r>
              <a:rPr lang="en-US" altLang="en-US" sz="1800" b="1" dirty="0">
                <a:latin typeface="Courier New" pitchFamily="49" charset="0"/>
              </a:rPr>
              <a:t>for (</a:t>
            </a:r>
            <a:r>
              <a:rPr lang="en-US" altLang="en-US" sz="1800" b="1" dirty="0" err="1">
                <a:latin typeface="Courier New" pitchFamily="49" charset="0"/>
              </a:rPr>
              <a:t>int</a:t>
            </a:r>
            <a:r>
              <a:rPr lang="en-US" altLang="en-US" sz="1800" b="1" dirty="0">
                <a:latin typeface="Courier New" pitchFamily="49" charset="0"/>
              </a:rPr>
              <a:t> </a:t>
            </a:r>
            <a:r>
              <a:rPr lang="en-US" altLang="en-US" sz="1800" b="1" dirty="0" err="1">
                <a:latin typeface="Courier New" pitchFamily="49" charset="0"/>
              </a:rPr>
              <a:t>i</a:t>
            </a:r>
            <a:r>
              <a:rPr lang="en-US" altLang="en-US" sz="1800" b="1" dirty="0">
                <a:latin typeface="Courier New" pitchFamily="49" charset="0"/>
              </a:rPr>
              <a:t> = 0; </a:t>
            </a:r>
            <a:r>
              <a:rPr lang="en-US" altLang="en-US" sz="1800" b="1" dirty="0" err="1">
                <a:latin typeface="Courier New" pitchFamily="49" charset="0"/>
              </a:rPr>
              <a:t>i</a:t>
            </a:r>
            <a:r>
              <a:rPr lang="en-US" altLang="en-US" sz="1800" b="1" dirty="0">
                <a:latin typeface="Courier New" pitchFamily="49" charset="0"/>
              </a:rPr>
              <a:t> &lt; </a:t>
            </a:r>
            <a:r>
              <a:rPr lang="en-US" altLang="en-US" sz="1800" b="1" dirty="0" err="1">
                <a:solidFill>
                  <a:schemeClr val="tx1"/>
                </a:solidFill>
                <a:latin typeface="Courier New" pitchFamily="49" charset="0"/>
              </a:rPr>
              <a:t>matrix.length</a:t>
            </a:r>
            <a:r>
              <a:rPr lang="en-US" altLang="en-US" sz="1800" b="1" dirty="0">
                <a:latin typeface="Courier New" pitchFamily="49" charset="0"/>
              </a:rPr>
              <a:t>; </a:t>
            </a:r>
            <a:r>
              <a:rPr lang="en-US" altLang="en-US" sz="1800" b="1" dirty="0" err="1">
                <a:latin typeface="Courier New" pitchFamily="49" charset="0"/>
              </a:rPr>
              <a:t>i</a:t>
            </a:r>
            <a:r>
              <a:rPr lang="en-US" altLang="en-US" sz="1800" b="1" dirty="0">
                <a:latin typeface="Courier New" pitchFamily="49" charset="0"/>
              </a:rPr>
              <a:t>++)</a:t>
            </a:r>
          </a:p>
          <a:p>
            <a:pPr marL="457200" lvl="1" indent="0">
              <a:lnSpc>
                <a:spcPct val="90000"/>
              </a:lnSpc>
              <a:spcBef>
                <a:spcPct val="0"/>
              </a:spcBef>
              <a:buNone/>
            </a:pPr>
            <a:r>
              <a:rPr lang="en-US" altLang="en-US" sz="1800" b="1" dirty="0">
                <a:latin typeface="Courier New" pitchFamily="49" charset="0"/>
              </a:rPr>
              <a:t>  for (</a:t>
            </a:r>
            <a:r>
              <a:rPr lang="en-US" altLang="en-US" sz="1800" b="1" dirty="0" err="1">
                <a:latin typeface="Courier New" pitchFamily="49" charset="0"/>
              </a:rPr>
              <a:t>int</a:t>
            </a:r>
            <a:r>
              <a:rPr lang="en-US" altLang="en-US" sz="1800" b="1" dirty="0">
                <a:latin typeface="Courier New" pitchFamily="49" charset="0"/>
              </a:rPr>
              <a:t> j = 0; j &lt; </a:t>
            </a:r>
            <a:r>
              <a:rPr lang="en-US" altLang="en-US" sz="1800" b="1" dirty="0">
                <a:solidFill>
                  <a:schemeClr val="tx1"/>
                </a:solidFill>
                <a:latin typeface="Courier New" pitchFamily="49" charset="0"/>
              </a:rPr>
              <a:t>matrix[</a:t>
            </a:r>
            <a:r>
              <a:rPr lang="en-US" altLang="en-US" sz="1800" b="1" dirty="0" err="1">
                <a:solidFill>
                  <a:schemeClr val="tx1"/>
                </a:solidFill>
                <a:latin typeface="Courier New" pitchFamily="49" charset="0"/>
              </a:rPr>
              <a:t>i</a:t>
            </a:r>
            <a:r>
              <a:rPr lang="en-US" altLang="en-US" sz="1800" b="1" dirty="0">
                <a:solidFill>
                  <a:schemeClr val="tx1"/>
                </a:solidFill>
                <a:latin typeface="Courier New" pitchFamily="49" charset="0"/>
              </a:rPr>
              <a:t>].length</a:t>
            </a:r>
            <a:r>
              <a:rPr lang="en-US" altLang="en-US" sz="1800" b="1" dirty="0">
                <a:latin typeface="Courier New" pitchFamily="49" charset="0"/>
              </a:rPr>
              <a:t>; j++)</a:t>
            </a:r>
          </a:p>
          <a:p>
            <a:pPr marL="457200" lvl="1" indent="0">
              <a:lnSpc>
                <a:spcPct val="90000"/>
              </a:lnSpc>
              <a:spcBef>
                <a:spcPct val="0"/>
              </a:spcBef>
              <a:buNone/>
            </a:pPr>
            <a:r>
              <a:rPr lang="en-US" altLang="en-US" sz="1800" b="1" dirty="0">
                <a:latin typeface="Courier New" pitchFamily="49" charset="0"/>
              </a:rPr>
              <a:t>    </a:t>
            </a:r>
            <a:r>
              <a:rPr lang="en-US" altLang="en-US" sz="1800" b="1" dirty="0">
                <a:solidFill>
                  <a:schemeClr val="tx1"/>
                </a:solidFill>
                <a:latin typeface="Courier New" pitchFamily="49" charset="0"/>
              </a:rPr>
              <a:t>matrix[</a:t>
            </a:r>
            <a:r>
              <a:rPr lang="en-US" altLang="en-US" sz="1800" b="1" dirty="0" err="1">
                <a:solidFill>
                  <a:schemeClr val="tx1"/>
                </a:solidFill>
                <a:latin typeface="Courier New" pitchFamily="49" charset="0"/>
              </a:rPr>
              <a:t>i</a:t>
            </a:r>
            <a:r>
              <a:rPr lang="en-US" altLang="en-US" sz="1800" b="1" dirty="0">
                <a:solidFill>
                  <a:schemeClr val="tx1"/>
                </a:solidFill>
                <a:latin typeface="Courier New" pitchFamily="49" charset="0"/>
              </a:rPr>
              <a:t>][j] = </a:t>
            </a:r>
            <a:r>
              <a:rPr lang="en-US" altLang="en-US" sz="1800" b="1" dirty="0">
                <a:latin typeface="Courier New" pitchFamily="49" charset="0"/>
              </a:rPr>
              <a:t>(</a:t>
            </a:r>
            <a:r>
              <a:rPr lang="en-US" altLang="en-US" sz="1800" b="1" dirty="0" err="1">
                <a:latin typeface="Courier New" pitchFamily="49" charset="0"/>
              </a:rPr>
              <a:t>int</a:t>
            </a:r>
            <a:r>
              <a:rPr lang="en-US" altLang="en-US" sz="1800" b="1" dirty="0">
                <a:latin typeface="Courier New" pitchFamily="49" charset="0"/>
              </a:rPr>
              <a:t>)(</a:t>
            </a:r>
            <a:r>
              <a:rPr lang="en-US" altLang="en-US" sz="1800" b="1" dirty="0" err="1">
                <a:latin typeface="Courier New" pitchFamily="49" charset="0"/>
              </a:rPr>
              <a:t>Math.random</a:t>
            </a:r>
            <a:r>
              <a:rPr lang="en-US" altLang="en-US" sz="1800" b="1" dirty="0">
                <a:latin typeface="Courier New" pitchFamily="49" charset="0"/>
              </a:rPr>
              <a:t>() * 1000);</a:t>
            </a:r>
          </a:p>
        </p:txBody>
      </p:sp>
    </p:spTree>
    <p:extLst>
      <p:ext uri="{BB962C8B-B14F-4D97-AF65-F5344CB8AC3E}">
        <p14:creationId xmlns:p14="http://schemas.microsoft.com/office/powerpoint/2010/main" val="880560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Two-dimensional Array lengths: Example1</a:t>
            </a:r>
            <a:endParaRPr lang="en-US" b="1" dirty="0"/>
          </a:p>
        </p:txBody>
      </p:sp>
      <p:graphicFrame>
        <p:nvGraphicFramePr>
          <p:cNvPr id="4" name="Object 2" descr="matrix =  new int[5][5] makes a grid of 5 by 5 with index starting at 0. matrix[2][1] would be the row with an index of 2 and column with an index of 1. So the element value of matrix[2][1], in this case 7, will be located on the third row and second spot.&#10;&#10;The grid can also be filled out by the following code:&#10;int[][] array = {&#10;{1,2,3},&#10;{4,5,6},&#10;{7,8,9},&#10;{10,11,12}&#10;};"/>
          <p:cNvGraphicFramePr>
            <a:graphicFrameLocks noChangeAspect="1"/>
          </p:cNvGraphicFramePr>
          <p:nvPr>
            <p:extLst>
              <p:ext uri="{D42A27DB-BD31-4B8C-83A1-F6EECF244321}">
                <p14:modId xmlns:p14="http://schemas.microsoft.com/office/powerpoint/2010/main" val="432694622"/>
              </p:ext>
            </p:extLst>
          </p:nvPr>
        </p:nvGraphicFramePr>
        <p:xfrm>
          <a:off x="310878" y="1150458"/>
          <a:ext cx="6858000" cy="2949179"/>
        </p:xfrm>
        <a:graphic>
          <a:graphicData uri="http://schemas.openxmlformats.org/presentationml/2006/ole">
            <mc:AlternateContent xmlns:mc="http://schemas.openxmlformats.org/markup-compatibility/2006">
              <mc:Choice xmlns:v="urn:schemas-microsoft-com:vml" Requires="v">
                <p:oleObj name="Picture" r:id="rId2" imgW="4495680" imgH="1981080" progId="Word.Picture.8">
                  <p:embed/>
                </p:oleObj>
              </mc:Choice>
              <mc:Fallback>
                <p:oleObj name="Picture" r:id="rId2" imgW="4495680" imgH="1981080" progId="Word.Picture.8">
                  <p:embed/>
                  <p:pic>
                    <p:nvPicPr>
                      <p:cNvPr id="4" name="Object 2" descr="matrix =  new int[5][5] makes a grid of 5 by 5 with index starting at 0. matrix[2][1] would be the row with an index of 2 and column with an index of 1. So the element value of matrix[2][1], in this case 7, will be located on the third row and second spot.&#10;&#10;The grid can also be filled out by the following code:&#10;int[][] array = {&#10;{1,2,3},&#10;{4,5,6},&#10;{7,8,9},&#10;{10,11,12}&#10;};"/>
                      <p:cNvPicPr>
                        <a:picLocks noChangeAspect="1" noChangeArrowheads="1"/>
                      </p:cNvPicPr>
                      <p:nvPr/>
                    </p:nvPicPr>
                    <p:blipFill>
                      <a:blip r:embed="rId3"/>
                      <a:srcRect/>
                      <a:stretch>
                        <a:fillRect/>
                      </a:stretch>
                    </p:blipFill>
                    <p:spPr bwMode="auto">
                      <a:xfrm>
                        <a:off x="310878" y="1150458"/>
                        <a:ext cx="6858000" cy="294917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8"/>
          <p:cNvSpPr txBox="1">
            <a:spLocks noChangeArrowheads="1"/>
          </p:cNvSpPr>
          <p:nvPr/>
        </p:nvSpPr>
        <p:spPr bwMode="auto">
          <a:xfrm>
            <a:off x="515102" y="3549426"/>
            <a:ext cx="2505902"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spcBef>
                <a:spcPct val="50000"/>
              </a:spcBef>
              <a:spcAft>
                <a:spcPct val="0"/>
              </a:spcAft>
              <a:buClrTx/>
              <a:buFontTx/>
              <a:buNone/>
            </a:pPr>
            <a:r>
              <a:rPr lang="en-US" altLang="en-US" sz="1800" dirty="0" err="1">
                <a:solidFill>
                  <a:schemeClr val="dk2"/>
                </a:solidFill>
                <a:latin typeface="Arial"/>
              </a:rPr>
              <a:t>matrix.length</a:t>
            </a:r>
            <a:r>
              <a:rPr lang="en-US" altLang="en-US" sz="1800" dirty="0">
                <a:solidFill>
                  <a:schemeClr val="dk2"/>
                </a:solidFill>
                <a:latin typeface="Arial"/>
              </a:rPr>
              <a:t>?  5</a:t>
            </a:r>
          </a:p>
          <a:p>
            <a:pPr eaLnBrk="0" fontAlgn="base" hangingPunct="0">
              <a:spcBef>
                <a:spcPct val="50000"/>
              </a:spcBef>
              <a:spcAft>
                <a:spcPct val="0"/>
              </a:spcAft>
              <a:buClrTx/>
              <a:buFontTx/>
              <a:buNone/>
            </a:pPr>
            <a:r>
              <a:rPr lang="en-US" altLang="en-US" sz="1800" dirty="0">
                <a:solidFill>
                  <a:schemeClr val="dk2"/>
                </a:solidFill>
                <a:latin typeface="Arial"/>
              </a:rPr>
              <a:t>matrix[0].length? 5</a:t>
            </a:r>
          </a:p>
        </p:txBody>
      </p:sp>
      <p:sp>
        <p:nvSpPr>
          <p:cNvPr id="6" name="Text Box 9"/>
          <p:cNvSpPr txBox="1">
            <a:spLocks noChangeArrowheads="1"/>
          </p:cNvSpPr>
          <p:nvPr/>
        </p:nvSpPr>
        <p:spPr bwMode="auto">
          <a:xfrm>
            <a:off x="6698182" y="3707222"/>
            <a:ext cx="20574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spcBef>
                <a:spcPct val="50000"/>
              </a:spcBef>
              <a:spcAft>
                <a:spcPct val="0"/>
              </a:spcAft>
              <a:buClrTx/>
            </a:pPr>
            <a:r>
              <a:rPr lang="en-US" altLang="en-US" sz="1800" dirty="0" err="1">
                <a:solidFill>
                  <a:schemeClr val="dk2"/>
                </a:solidFill>
                <a:latin typeface="Arial"/>
              </a:rPr>
              <a:t>array.length</a:t>
            </a:r>
            <a:r>
              <a:rPr lang="en-US" altLang="en-US" sz="1800" dirty="0">
                <a:solidFill>
                  <a:schemeClr val="dk2"/>
                </a:solidFill>
                <a:latin typeface="Arial"/>
              </a:rPr>
              <a:t>?  4</a:t>
            </a:r>
          </a:p>
          <a:p>
            <a:pPr eaLnBrk="0" fontAlgn="base" hangingPunct="0">
              <a:spcBef>
                <a:spcPct val="50000"/>
              </a:spcBef>
              <a:spcAft>
                <a:spcPct val="0"/>
              </a:spcAft>
              <a:buClrTx/>
            </a:pPr>
            <a:r>
              <a:rPr lang="en-US" altLang="en-US" sz="1800" dirty="0">
                <a:solidFill>
                  <a:schemeClr val="dk2"/>
                </a:solidFill>
                <a:latin typeface="Arial"/>
              </a:rPr>
              <a:t>array[0].length? 3</a:t>
            </a:r>
          </a:p>
        </p:txBody>
      </p:sp>
    </p:spTree>
    <p:extLst>
      <p:ext uri="{BB962C8B-B14F-4D97-AF65-F5344CB8AC3E}">
        <p14:creationId xmlns:p14="http://schemas.microsoft.com/office/powerpoint/2010/main" val="134116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Two-dimensional Array lengths: Example2</a:t>
            </a:r>
            <a:endParaRPr lang="en-US" b="1" dirty="0"/>
          </a:p>
        </p:txBody>
      </p:sp>
      <p:graphicFrame>
        <p:nvGraphicFramePr>
          <p:cNvPr id="7" name="Object 2" descr="x.length is 3 with values in x[0].x[1]. and x[2]. x[0].length is 4 with values in x[0][0], x[0][1], x[0][2], and x[0][3]. &#10;&#10;x[1].length is 4 with values in x[1][0], x[1][1], x[1][2], and x[1][3].&#10;&#10;x[2].length is 4 with values in x[2][0], x[2][1], x[2][2], and x[2][3]."/>
          <p:cNvGraphicFramePr>
            <a:graphicFrameLocks noChangeAspect="1"/>
          </p:cNvGraphicFramePr>
          <p:nvPr>
            <p:extLst>
              <p:ext uri="{D42A27DB-BD31-4B8C-83A1-F6EECF244321}">
                <p14:modId xmlns:p14="http://schemas.microsoft.com/office/powerpoint/2010/main" val="2991131003"/>
              </p:ext>
            </p:extLst>
          </p:nvPr>
        </p:nvGraphicFramePr>
        <p:xfrm>
          <a:off x="516068" y="1851886"/>
          <a:ext cx="6457950" cy="1959769"/>
        </p:xfrm>
        <a:graphic>
          <a:graphicData uri="http://schemas.openxmlformats.org/presentationml/2006/ole">
            <mc:AlternateContent xmlns:mc="http://schemas.openxmlformats.org/markup-compatibility/2006">
              <mc:Choice xmlns:v="urn:schemas-microsoft-com:vml" Requires="v">
                <p:oleObj name="Picture" r:id="rId2" imgW="4358520" imgH="1323360" progId="Word.Picture.8">
                  <p:embed/>
                </p:oleObj>
              </mc:Choice>
              <mc:Fallback>
                <p:oleObj name="Picture" r:id="rId2" imgW="4358520" imgH="1323360" progId="Word.Picture.8">
                  <p:embed/>
                  <p:pic>
                    <p:nvPicPr>
                      <p:cNvPr id="7" name="Object 2" descr="x.length is 3 with values in x[0].x[1]. and x[2]. x[0].length is 4 with values in x[0][0], x[0][1], x[0][2], and x[0][3]. &#10;&#10;x[1].length is 4 with values in x[1][0], x[1][1], x[1][2], and x[1][3].&#10;&#10;x[2].length is 4 with values in x[2][0], x[2][1], x[2][2], and x[2][3]."/>
                      <p:cNvPicPr>
                        <a:picLocks noChangeAspect="1" noChangeArrowheads="1"/>
                      </p:cNvPicPr>
                      <p:nvPr/>
                    </p:nvPicPr>
                    <p:blipFill>
                      <a:blip r:embed="rId3"/>
                      <a:srcRect/>
                      <a:stretch>
                        <a:fillRect/>
                      </a:stretch>
                    </p:blipFill>
                    <p:spPr bwMode="auto">
                      <a:xfrm>
                        <a:off x="516068" y="1851886"/>
                        <a:ext cx="6457950" cy="195976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17"/>
          <p:cNvSpPr>
            <a:spLocks noGrp="1" noChangeArrowheads="1"/>
          </p:cNvSpPr>
          <p:nvPr>
            <p:ph type="body" idx="1"/>
          </p:nvPr>
        </p:nvSpPr>
        <p:spPr>
          <a:xfrm>
            <a:off x="856242" y="1243012"/>
            <a:ext cx="4914900" cy="471488"/>
          </a:xfrm>
          <a:noFill/>
        </p:spPr>
        <p:txBody>
          <a:bodyPr>
            <a:normAutofit lnSpcReduction="10000"/>
          </a:bodyPr>
          <a:lstStyle/>
          <a:p>
            <a:pPr>
              <a:buFont typeface="Monotype Sorts" pitchFamily="2" charset="2"/>
              <a:buNone/>
            </a:pPr>
            <a:r>
              <a:rPr lang="en-US" altLang="en-US" b="1" dirty="0" err="1">
                <a:latin typeface="Courier New" pitchFamily="49" charset="0"/>
                <a:cs typeface="Courier New" pitchFamily="49" charset="0"/>
              </a:rPr>
              <a:t>int</a:t>
            </a:r>
            <a:r>
              <a:rPr lang="en-US" altLang="en-US" b="1" dirty="0">
                <a:latin typeface="Courier New" pitchFamily="49" charset="0"/>
                <a:cs typeface="Courier New" pitchFamily="49" charset="0"/>
              </a:rPr>
              <a:t>[][] x = new </a:t>
            </a:r>
            <a:r>
              <a:rPr lang="en-US" altLang="en-US" b="1" dirty="0" err="1">
                <a:latin typeface="Courier New" pitchFamily="49" charset="0"/>
                <a:cs typeface="Courier New" pitchFamily="49" charset="0"/>
              </a:rPr>
              <a:t>int</a:t>
            </a:r>
            <a:r>
              <a:rPr lang="en-US" altLang="en-US" b="1" dirty="0">
                <a:latin typeface="Courier New" pitchFamily="49" charset="0"/>
                <a:cs typeface="Courier New" pitchFamily="49" charset="0"/>
              </a:rPr>
              <a:t>[3][4];</a:t>
            </a:r>
          </a:p>
        </p:txBody>
      </p:sp>
    </p:spTree>
    <p:extLst>
      <p:ext uri="{BB962C8B-B14F-4D97-AF65-F5344CB8AC3E}">
        <p14:creationId xmlns:p14="http://schemas.microsoft.com/office/powerpoint/2010/main" val="212761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altLang="en-US" dirty="0"/>
              <a:t>You can also use an array initializer to declare, create and initialize a two-dimensional array. For example:</a:t>
            </a:r>
          </a:p>
          <a:p>
            <a:endParaRPr lang="en-US" dirty="0"/>
          </a:p>
        </p:txBody>
      </p:sp>
      <p:sp>
        <p:nvSpPr>
          <p:cNvPr id="2" name="Title 1"/>
          <p:cNvSpPr>
            <a:spLocks noGrp="1"/>
          </p:cNvSpPr>
          <p:nvPr>
            <p:ph type="title"/>
          </p:nvPr>
        </p:nvSpPr>
        <p:spPr/>
        <p:txBody>
          <a:bodyPr>
            <a:normAutofit fontScale="90000"/>
          </a:bodyPr>
          <a:lstStyle/>
          <a:p>
            <a:r>
              <a:rPr lang="en-US" b="1" dirty="0">
                <a:cs typeface="Times New Roman" pitchFamily="16" charset="0"/>
              </a:rPr>
              <a:t>Declaring, Creating, and Initializing Using Shorthand:</a:t>
            </a:r>
            <a:endParaRPr lang="en-US" b="1" dirty="0"/>
          </a:p>
        </p:txBody>
      </p:sp>
      <p:sp>
        <p:nvSpPr>
          <p:cNvPr id="6" name="Rectangle 4"/>
          <p:cNvSpPr>
            <a:spLocks noChangeArrowheads="1"/>
          </p:cNvSpPr>
          <p:nvPr/>
        </p:nvSpPr>
        <p:spPr bwMode="auto">
          <a:xfrm>
            <a:off x="4057650" y="2343150"/>
            <a:ext cx="3771900" cy="14287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9056" tIns="34529" rIns="69056" bIns="34529"/>
          <a:lstStyle>
            <a:lvl1pPr marL="342900" indent="-342900">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spcBef>
                <a:spcPct val="20000"/>
              </a:spcBef>
              <a:spcAft>
                <a:spcPct val="0"/>
              </a:spcAft>
              <a:buClr>
                <a:srgbClr val="696464"/>
              </a:buClr>
              <a:buSzPct val="75000"/>
              <a:buFont typeface="Monotype Sorts" pitchFamily="2" charset="2"/>
              <a:buNone/>
            </a:pPr>
            <a:r>
              <a:rPr lang="en-US" altLang="en-US" sz="1350" kern="1200">
                <a:solidFill>
                  <a:prstClr val="black"/>
                </a:solidFill>
                <a:ea typeface="+mn-ea"/>
                <a:cs typeface="Times New Roman" pitchFamily="16" charset="0"/>
              </a:rPr>
              <a:t>int[][] array = new int[4][3];</a:t>
            </a:r>
          </a:p>
          <a:p>
            <a:pPr eaLnBrk="0" fontAlgn="base" hangingPunct="0">
              <a:spcBef>
                <a:spcPct val="20000"/>
              </a:spcBef>
              <a:spcAft>
                <a:spcPct val="0"/>
              </a:spcAft>
              <a:buClr>
                <a:srgbClr val="696464"/>
              </a:buClr>
              <a:buSzPct val="75000"/>
              <a:buFont typeface="Monotype Sorts" pitchFamily="2" charset="2"/>
              <a:buNone/>
            </a:pPr>
            <a:r>
              <a:rPr lang="en-US" altLang="en-US" sz="1350" kern="1200">
                <a:solidFill>
                  <a:prstClr val="black"/>
                </a:solidFill>
                <a:ea typeface="+mn-ea"/>
                <a:cs typeface="Times New Roman" pitchFamily="16" charset="0"/>
              </a:rPr>
              <a:t>array[0][0] = 1; array[0][1] = 2; array[0][2] = 3; </a:t>
            </a:r>
          </a:p>
          <a:p>
            <a:pPr eaLnBrk="0" fontAlgn="base" hangingPunct="0">
              <a:spcBef>
                <a:spcPct val="20000"/>
              </a:spcBef>
              <a:spcAft>
                <a:spcPct val="0"/>
              </a:spcAft>
              <a:buClr>
                <a:srgbClr val="696464"/>
              </a:buClr>
              <a:buSzPct val="75000"/>
              <a:buFont typeface="Monotype Sorts" pitchFamily="2" charset="2"/>
              <a:buNone/>
            </a:pPr>
            <a:r>
              <a:rPr lang="en-US" altLang="en-US" sz="1350" kern="1200">
                <a:solidFill>
                  <a:prstClr val="black"/>
                </a:solidFill>
                <a:ea typeface="+mn-ea"/>
                <a:cs typeface="Times New Roman" pitchFamily="16" charset="0"/>
              </a:rPr>
              <a:t>array[1][0] = 4; array[1][1] = 5; array[1][2] = 6; </a:t>
            </a:r>
          </a:p>
          <a:p>
            <a:pPr eaLnBrk="0" fontAlgn="base" hangingPunct="0">
              <a:spcBef>
                <a:spcPct val="20000"/>
              </a:spcBef>
              <a:spcAft>
                <a:spcPct val="0"/>
              </a:spcAft>
              <a:buClr>
                <a:srgbClr val="696464"/>
              </a:buClr>
              <a:buSzPct val="75000"/>
              <a:buFont typeface="Monotype Sorts" pitchFamily="2" charset="2"/>
              <a:buNone/>
            </a:pPr>
            <a:r>
              <a:rPr lang="en-US" altLang="en-US" sz="1350" kern="1200">
                <a:solidFill>
                  <a:prstClr val="black"/>
                </a:solidFill>
                <a:ea typeface="+mn-ea"/>
                <a:cs typeface="Times New Roman" pitchFamily="16" charset="0"/>
              </a:rPr>
              <a:t>array[2][0] = 7; array[2][1] = 8; array[2][2] = 9; </a:t>
            </a:r>
          </a:p>
          <a:p>
            <a:pPr eaLnBrk="0" fontAlgn="base" hangingPunct="0">
              <a:spcBef>
                <a:spcPct val="20000"/>
              </a:spcBef>
              <a:spcAft>
                <a:spcPct val="0"/>
              </a:spcAft>
              <a:buClr>
                <a:srgbClr val="696464"/>
              </a:buClr>
              <a:buSzPct val="75000"/>
              <a:buFont typeface="Monotype Sorts" pitchFamily="2" charset="2"/>
              <a:buNone/>
            </a:pPr>
            <a:r>
              <a:rPr lang="en-US" altLang="en-US" sz="1350" kern="1200">
                <a:solidFill>
                  <a:prstClr val="black"/>
                </a:solidFill>
                <a:ea typeface="+mn-ea"/>
                <a:cs typeface="Times New Roman" pitchFamily="16" charset="0"/>
              </a:rPr>
              <a:t>array[3][0] = 10; array[3][1] = 11; array[3][2] = 12;</a:t>
            </a:r>
            <a:r>
              <a:rPr lang="en-US" altLang="en-US" sz="1350" kern="1200">
                <a:solidFill>
                  <a:prstClr val="black"/>
                </a:solidFill>
                <a:latin typeface="Courier" pitchFamily="49" charset="0"/>
                <a:ea typeface="+mn-ea"/>
                <a:cs typeface="Times New Roman" pitchFamily="16" charset="0"/>
              </a:rPr>
              <a:t> </a:t>
            </a:r>
          </a:p>
        </p:txBody>
      </p:sp>
      <p:sp>
        <p:nvSpPr>
          <p:cNvPr id="9" name="Rectangle 5"/>
          <p:cNvSpPr>
            <a:spLocks noChangeArrowheads="1"/>
          </p:cNvSpPr>
          <p:nvPr/>
        </p:nvSpPr>
        <p:spPr bwMode="auto">
          <a:xfrm>
            <a:off x="1314450" y="2228850"/>
            <a:ext cx="1371600" cy="17145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9056" tIns="34529" rIns="69056" bIns="34529"/>
          <a:lstStyle>
            <a:lvl1pPr marL="342900" indent="-342900">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spcBef>
                <a:spcPct val="20000"/>
              </a:spcBef>
              <a:spcAft>
                <a:spcPct val="0"/>
              </a:spcAft>
              <a:buClr>
                <a:srgbClr val="696464"/>
              </a:buClr>
              <a:buSzPct val="75000"/>
              <a:buFont typeface="Monotype Sorts" pitchFamily="2" charset="2"/>
              <a:buNone/>
            </a:pPr>
            <a:r>
              <a:rPr lang="en-US" altLang="en-US" sz="1500" kern="1200">
                <a:solidFill>
                  <a:prstClr val="black"/>
                </a:solidFill>
                <a:ea typeface="+mn-ea"/>
                <a:cs typeface="Times New Roman" pitchFamily="16" charset="0"/>
              </a:rPr>
              <a:t>int[][] array = {</a:t>
            </a:r>
          </a:p>
          <a:p>
            <a:pPr eaLnBrk="0" fontAlgn="base" hangingPunct="0">
              <a:spcBef>
                <a:spcPct val="20000"/>
              </a:spcBef>
              <a:spcAft>
                <a:spcPct val="0"/>
              </a:spcAft>
              <a:buClr>
                <a:srgbClr val="696464"/>
              </a:buClr>
              <a:buSzPct val="75000"/>
              <a:buFont typeface="Monotype Sorts" pitchFamily="2" charset="2"/>
              <a:buNone/>
            </a:pPr>
            <a:r>
              <a:rPr lang="en-US" altLang="en-US" sz="1500" kern="1200">
                <a:solidFill>
                  <a:prstClr val="black"/>
                </a:solidFill>
                <a:ea typeface="+mn-ea"/>
                <a:cs typeface="Times New Roman" pitchFamily="16" charset="0"/>
              </a:rPr>
              <a:t>  {1, 2, 3},</a:t>
            </a:r>
          </a:p>
          <a:p>
            <a:pPr eaLnBrk="0" fontAlgn="base" hangingPunct="0">
              <a:spcBef>
                <a:spcPct val="20000"/>
              </a:spcBef>
              <a:spcAft>
                <a:spcPct val="0"/>
              </a:spcAft>
              <a:buClr>
                <a:srgbClr val="696464"/>
              </a:buClr>
              <a:buSzPct val="75000"/>
              <a:buFont typeface="Monotype Sorts" pitchFamily="2" charset="2"/>
              <a:buNone/>
            </a:pPr>
            <a:r>
              <a:rPr lang="en-US" altLang="en-US" sz="1500" kern="1200">
                <a:solidFill>
                  <a:prstClr val="black"/>
                </a:solidFill>
                <a:ea typeface="+mn-ea"/>
                <a:cs typeface="Times New Roman" pitchFamily="16" charset="0"/>
              </a:rPr>
              <a:t>  {4, 5, 6},</a:t>
            </a:r>
          </a:p>
          <a:p>
            <a:pPr eaLnBrk="0" fontAlgn="base" hangingPunct="0">
              <a:spcBef>
                <a:spcPct val="20000"/>
              </a:spcBef>
              <a:spcAft>
                <a:spcPct val="0"/>
              </a:spcAft>
              <a:buClr>
                <a:srgbClr val="696464"/>
              </a:buClr>
              <a:buSzPct val="75000"/>
              <a:buFont typeface="Monotype Sorts" pitchFamily="2" charset="2"/>
              <a:buNone/>
            </a:pPr>
            <a:r>
              <a:rPr lang="en-US" altLang="en-US" sz="1500" kern="1200">
                <a:solidFill>
                  <a:prstClr val="black"/>
                </a:solidFill>
                <a:ea typeface="+mn-ea"/>
                <a:cs typeface="Times New Roman" pitchFamily="16" charset="0"/>
              </a:rPr>
              <a:t>  {7, 8, 9},</a:t>
            </a:r>
          </a:p>
          <a:p>
            <a:pPr eaLnBrk="0" fontAlgn="base" hangingPunct="0">
              <a:spcBef>
                <a:spcPct val="20000"/>
              </a:spcBef>
              <a:spcAft>
                <a:spcPct val="0"/>
              </a:spcAft>
              <a:buClr>
                <a:srgbClr val="696464"/>
              </a:buClr>
              <a:buSzPct val="75000"/>
              <a:buFont typeface="Monotype Sorts" pitchFamily="2" charset="2"/>
              <a:buNone/>
            </a:pPr>
            <a:r>
              <a:rPr lang="en-US" altLang="en-US" sz="1500" kern="1200">
                <a:solidFill>
                  <a:prstClr val="black"/>
                </a:solidFill>
                <a:ea typeface="+mn-ea"/>
                <a:cs typeface="Times New Roman" pitchFamily="16" charset="0"/>
              </a:rPr>
              <a:t>  {10, 11, 12}</a:t>
            </a:r>
          </a:p>
          <a:p>
            <a:pPr eaLnBrk="0" fontAlgn="base" hangingPunct="0">
              <a:spcBef>
                <a:spcPct val="20000"/>
              </a:spcBef>
              <a:spcAft>
                <a:spcPct val="0"/>
              </a:spcAft>
              <a:buClr>
                <a:srgbClr val="696464"/>
              </a:buClr>
              <a:buSzPct val="75000"/>
              <a:buFont typeface="Monotype Sorts" pitchFamily="2" charset="2"/>
              <a:buNone/>
            </a:pPr>
            <a:r>
              <a:rPr lang="en-US" altLang="en-US" sz="1500" kern="1200">
                <a:solidFill>
                  <a:prstClr val="black"/>
                </a:solidFill>
                <a:ea typeface="+mn-ea"/>
                <a:cs typeface="Times New Roman" pitchFamily="16" charset="0"/>
              </a:rPr>
              <a:t>};</a:t>
            </a:r>
            <a:endParaRPr lang="en-US" altLang="en-US" sz="1200" kern="1200">
              <a:solidFill>
                <a:prstClr val="black"/>
              </a:solidFill>
              <a:latin typeface="Courier" pitchFamily="49" charset="0"/>
              <a:ea typeface="+mn-ea"/>
              <a:cs typeface="Times New Roman" pitchFamily="16" charset="0"/>
            </a:endParaRPr>
          </a:p>
        </p:txBody>
      </p:sp>
      <p:sp>
        <p:nvSpPr>
          <p:cNvPr id="10" name="Rectangle 7"/>
          <p:cNvSpPr>
            <a:spLocks noChangeArrowheads="1"/>
          </p:cNvSpPr>
          <p:nvPr/>
        </p:nvSpPr>
        <p:spPr bwMode="auto">
          <a:xfrm>
            <a:off x="2971800" y="2743200"/>
            <a:ext cx="10287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marL="342900" indent="-342900">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spcBef>
                <a:spcPct val="20000"/>
              </a:spcBef>
              <a:spcAft>
                <a:spcPct val="0"/>
              </a:spcAft>
              <a:buClr>
                <a:srgbClr val="696464"/>
              </a:buClr>
              <a:buSzPct val="75000"/>
              <a:buFont typeface="Monotype Sorts" pitchFamily="2" charset="2"/>
              <a:buNone/>
            </a:pPr>
            <a:r>
              <a:rPr lang="en-US" altLang="en-US" sz="1200" kern="1200">
                <a:solidFill>
                  <a:prstClr val="black"/>
                </a:solidFill>
                <a:ea typeface="+mn-ea"/>
                <a:cs typeface="+mn-cs"/>
              </a:rPr>
              <a:t>Same as</a:t>
            </a:r>
          </a:p>
        </p:txBody>
      </p:sp>
      <p:sp>
        <p:nvSpPr>
          <p:cNvPr id="11" name="Line 8" descr="line to show equality"/>
          <p:cNvSpPr>
            <a:spLocks noChangeShapeType="1"/>
          </p:cNvSpPr>
          <p:nvPr/>
        </p:nvSpPr>
        <p:spPr bwMode="auto">
          <a:xfrm>
            <a:off x="2743200" y="3086100"/>
            <a:ext cx="12001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
        <p:nvSpPr>
          <p:cNvPr id="12" name="Line 8" descr="line to show equality"/>
          <p:cNvSpPr>
            <a:spLocks noChangeShapeType="1"/>
          </p:cNvSpPr>
          <p:nvPr/>
        </p:nvSpPr>
        <p:spPr bwMode="auto">
          <a:xfrm>
            <a:off x="2741852" y="3157580"/>
            <a:ext cx="12001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Tree>
    <p:extLst>
      <p:ext uri="{BB962C8B-B14F-4D97-AF65-F5344CB8AC3E}">
        <p14:creationId xmlns:p14="http://schemas.microsoft.com/office/powerpoint/2010/main" val="3520721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altLang="en-US" dirty="0"/>
              <a:t>You can also use an array initializer to declare, create and initialize a two-dimensional array. For example:</a:t>
            </a:r>
          </a:p>
          <a:p>
            <a:endParaRPr lang="en-US" dirty="0"/>
          </a:p>
        </p:txBody>
      </p:sp>
      <p:sp>
        <p:nvSpPr>
          <p:cNvPr id="2" name="Title 1"/>
          <p:cNvSpPr>
            <a:spLocks noGrp="1"/>
          </p:cNvSpPr>
          <p:nvPr>
            <p:ph type="title"/>
          </p:nvPr>
        </p:nvSpPr>
        <p:spPr/>
        <p:txBody>
          <a:bodyPr>
            <a:normAutofit fontScale="90000"/>
          </a:bodyPr>
          <a:lstStyle/>
          <a:p>
            <a:r>
              <a:rPr lang="en-US" b="1" dirty="0">
                <a:cs typeface="Times New Roman" pitchFamily="16" charset="0"/>
              </a:rPr>
              <a:t>Lengths of Two-dimensional Arrays</a:t>
            </a:r>
            <a:endParaRPr lang="en-US" b="1" dirty="0"/>
          </a:p>
        </p:txBody>
      </p:sp>
      <p:sp>
        <p:nvSpPr>
          <p:cNvPr id="13" name="Rectangle 3"/>
          <p:cNvSpPr txBox="1">
            <a:spLocks noChangeArrowheads="1"/>
          </p:cNvSpPr>
          <p:nvPr/>
        </p:nvSpPr>
        <p:spPr>
          <a:xfrm>
            <a:off x="1657350" y="1890372"/>
            <a:ext cx="2914650" cy="2357438"/>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buFont typeface="Monotype Sorts" pitchFamily="2" charset="2"/>
              <a:buNone/>
            </a:pPr>
            <a:r>
              <a:rPr lang="en-US" altLang="en-US" sz="2100" b="1">
                <a:latin typeface="Courier New" pitchFamily="49" charset="0"/>
                <a:cs typeface="Courier New" pitchFamily="49" charset="0"/>
              </a:rPr>
              <a:t>int[][] array = {</a:t>
            </a:r>
          </a:p>
          <a:p>
            <a:pPr>
              <a:buFont typeface="Monotype Sorts" pitchFamily="2" charset="2"/>
              <a:buNone/>
            </a:pPr>
            <a:r>
              <a:rPr lang="en-US" altLang="en-US" sz="2100" b="1">
                <a:latin typeface="Courier New" pitchFamily="49" charset="0"/>
                <a:cs typeface="Courier New" pitchFamily="49" charset="0"/>
              </a:rPr>
              <a:t>  {1, 2, 3},</a:t>
            </a:r>
          </a:p>
          <a:p>
            <a:pPr>
              <a:buFont typeface="Monotype Sorts" pitchFamily="2" charset="2"/>
              <a:buNone/>
            </a:pPr>
            <a:r>
              <a:rPr lang="en-US" altLang="en-US" sz="2100" b="1">
                <a:latin typeface="Courier New" pitchFamily="49" charset="0"/>
                <a:cs typeface="Courier New" pitchFamily="49" charset="0"/>
              </a:rPr>
              <a:t>  {4, 5, 6},</a:t>
            </a:r>
          </a:p>
          <a:p>
            <a:pPr>
              <a:buFont typeface="Monotype Sorts" pitchFamily="2" charset="2"/>
              <a:buNone/>
            </a:pPr>
            <a:r>
              <a:rPr lang="en-US" altLang="en-US" sz="2100" b="1">
                <a:latin typeface="Courier New" pitchFamily="49" charset="0"/>
                <a:cs typeface="Courier New" pitchFamily="49" charset="0"/>
              </a:rPr>
              <a:t>  {7, 8, 9},</a:t>
            </a:r>
          </a:p>
          <a:p>
            <a:pPr>
              <a:buFont typeface="Monotype Sorts" pitchFamily="2" charset="2"/>
              <a:buNone/>
            </a:pPr>
            <a:r>
              <a:rPr lang="en-US" altLang="en-US" sz="2100" b="1">
                <a:latin typeface="Courier New" pitchFamily="49" charset="0"/>
                <a:cs typeface="Courier New" pitchFamily="49" charset="0"/>
              </a:rPr>
              <a:t>  {10, 11, 12}</a:t>
            </a:r>
          </a:p>
          <a:p>
            <a:pPr>
              <a:buFont typeface="Monotype Sorts" pitchFamily="2" charset="2"/>
              <a:buNone/>
            </a:pPr>
            <a:r>
              <a:rPr lang="en-US" altLang="en-US" sz="2100" b="1">
                <a:latin typeface="Courier New" pitchFamily="49" charset="0"/>
                <a:cs typeface="Courier New" pitchFamily="49" charset="0"/>
              </a:rPr>
              <a:t>};</a:t>
            </a:r>
            <a:endParaRPr lang="en-US" altLang="en-US" sz="2100" b="1" dirty="0">
              <a:latin typeface="Courier New" pitchFamily="49" charset="0"/>
              <a:cs typeface="Courier New" pitchFamily="49" charset="0"/>
            </a:endParaRPr>
          </a:p>
        </p:txBody>
      </p:sp>
      <p:sp>
        <p:nvSpPr>
          <p:cNvPr id="14" name="Rectangle 4"/>
          <p:cNvSpPr>
            <a:spLocks noChangeArrowheads="1"/>
          </p:cNvSpPr>
          <p:nvPr/>
        </p:nvSpPr>
        <p:spPr bwMode="auto">
          <a:xfrm>
            <a:off x="5375673" y="1893945"/>
            <a:ext cx="2969419"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marL="342900" indent="-342900">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spcBef>
                <a:spcPct val="20000"/>
              </a:spcBef>
              <a:spcAft>
                <a:spcPct val="0"/>
              </a:spcAft>
              <a:buClr>
                <a:srgbClr val="696464"/>
              </a:buClr>
              <a:buSzPct val="75000"/>
              <a:buFont typeface="Monotype Sorts" pitchFamily="2" charset="2"/>
              <a:buNone/>
            </a:pPr>
            <a:r>
              <a:rPr lang="en-US" altLang="en-US" sz="2100" b="1" kern="1200">
                <a:solidFill>
                  <a:prstClr val="black"/>
                </a:solidFill>
                <a:latin typeface="Courier New" pitchFamily="49" charset="0"/>
                <a:ea typeface="+mn-ea"/>
                <a:cs typeface="Courier New" pitchFamily="49" charset="0"/>
              </a:rPr>
              <a:t>array.length</a:t>
            </a:r>
          </a:p>
          <a:p>
            <a:pPr eaLnBrk="0" fontAlgn="base" hangingPunct="0">
              <a:spcBef>
                <a:spcPct val="20000"/>
              </a:spcBef>
              <a:spcAft>
                <a:spcPct val="0"/>
              </a:spcAft>
              <a:buClr>
                <a:srgbClr val="696464"/>
              </a:buClr>
              <a:buSzPct val="75000"/>
              <a:buFont typeface="Monotype Sorts" pitchFamily="2" charset="2"/>
              <a:buNone/>
            </a:pPr>
            <a:r>
              <a:rPr lang="en-US" altLang="en-US" sz="2100" b="1" kern="1200">
                <a:solidFill>
                  <a:prstClr val="black"/>
                </a:solidFill>
                <a:latin typeface="Courier New" pitchFamily="49" charset="0"/>
                <a:ea typeface="+mn-ea"/>
                <a:cs typeface="Courier New" pitchFamily="49" charset="0"/>
              </a:rPr>
              <a:t>array[0].length</a:t>
            </a:r>
          </a:p>
          <a:p>
            <a:pPr eaLnBrk="0" fontAlgn="base" hangingPunct="0">
              <a:spcBef>
                <a:spcPct val="20000"/>
              </a:spcBef>
              <a:spcAft>
                <a:spcPct val="0"/>
              </a:spcAft>
              <a:buClr>
                <a:srgbClr val="696464"/>
              </a:buClr>
              <a:buSzPct val="75000"/>
              <a:buFont typeface="Monotype Sorts" pitchFamily="2" charset="2"/>
              <a:buNone/>
            </a:pPr>
            <a:r>
              <a:rPr lang="en-US" altLang="en-US" sz="2100" b="1" kern="1200">
                <a:solidFill>
                  <a:prstClr val="black"/>
                </a:solidFill>
                <a:latin typeface="Courier New" pitchFamily="49" charset="0"/>
                <a:ea typeface="+mn-ea"/>
                <a:cs typeface="Courier New" pitchFamily="49" charset="0"/>
              </a:rPr>
              <a:t>array[1].length</a:t>
            </a:r>
          </a:p>
          <a:p>
            <a:pPr eaLnBrk="0" fontAlgn="base" hangingPunct="0">
              <a:spcBef>
                <a:spcPct val="20000"/>
              </a:spcBef>
              <a:spcAft>
                <a:spcPct val="0"/>
              </a:spcAft>
              <a:buClr>
                <a:srgbClr val="696464"/>
              </a:buClr>
              <a:buSzPct val="75000"/>
              <a:buFont typeface="Monotype Sorts" pitchFamily="2" charset="2"/>
              <a:buNone/>
            </a:pPr>
            <a:r>
              <a:rPr lang="en-US" altLang="en-US" sz="2100" b="1" kern="1200">
                <a:solidFill>
                  <a:prstClr val="black"/>
                </a:solidFill>
                <a:latin typeface="Courier New" pitchFamily="49" charset="0"/>
                <a:ea typeface="+mn-ea"/>
                <a:cs typeface="Courier New" pitchFamily="49" charset="0"/>
              </a:rPr>
              <a:t>array[2].length</a:t>
            </a:r>
          </a:p>
          <a:p>
            <a:pPr eaLnBrk="0" fontAlgn="base" hangingPunct="0">
              <a:spcBef>
                <a:spcPct val="20000"/>
              </a:spcBef>
              <a:spcAft>
                <a:spcPct val="0"/>
              </a:spcAft>
              <a:buClr>
                <a:srgbClr val="696464"/>
              </a:buClr>
              <a:buSzPct val="75000"/>
              <a:buFont typeface="Monotype Sorts" pitchFamily="2" charset="2"/>
              <a:buNone/>
            </a:pPr>
            <a:r>
              <a:rPr lang="en-US" altLang="en-US" sz="2100" b="1" kern="1200">
                <a:solidFill>
                  <a:prstClr val="black"/>
                </a:solidFill>
                <a:latin typeface="Courier New" pitchFamily="49" charset="0"/>
                <a:ea typeface="+mn-ea"/>
                <a:cs typeface="Courier New" pitchFamily="49" charset="0"/>
              </a:rPr>
              <a:t>array[3].length</a:t>
            </a:r>
          </a:p>
          <a:p>
            <a:pPr eaLnBrk="0" fontAlgn="base" hangingPunct="0">
              <a:spcBef>
                <a:spcPct val="20000"/>
              </a:spcBef>
              <a:spcAft>
                <a:spcPct val="0"/>
              </a:spcAft>
              <a:buClr>
                <a:srgbClr val="696464"/>
              </a:buClr>
              <a:buSzPct val="75000"/>
              <a:buFont typeface="Monotype Sorts" pitchFamily="2" charset="2"/>
              <a:buNone/>
            </a:pPr>
            <a:endParaRPr lang="en-US" altLang="en-US" sz="2100" b="1" kern="1200">
              <a:solidFill>
                <a:prstClr val="black"/>
              </a:solidFill>
              <a:latin typeface="Courier New" pitchFamily="49" charset="0"/>
              <a:ea typeface="+mn-ea"/>
              <a:cs typeface="Courier New" pitchFamily="49" charset="0"/>
            </a:endParaRPr>
          </a:p>
        </p:txBody>
      </p:sp>
      <p:sp>
        <p:nvSpPr>
          <p:cNvPr id="15" name="Rectangle 5"/>
          <p:cNvSpPr>
            <a:spLocks noChangeArrowheads="1"/>
          </p:cNvSpPr>
          <p:nvPr/>
        </p:nvSpPr>
        <p:spPr bwMode="auto">
          <a:xfrm>
            <a:off x="1246171" y="4115656"/>
            <a:ext cx="7048163" cy="439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nchor="t"/>
          <a:lstStyle>
            <a:lvl1pPr marL="342900" indent="-342900">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spcBef>
                <a:spcPct val="20000"/>
              </a:spcBef>
              <a:spcAft>
                <a:spcPct val="0"/>
              </a:spcAft>
              <a:buClr>
                <a:srgbClr val="696464"/>
              </a:buClr>
              <a:buSzPct val="75000"/>
              <a:buFont typeface="Monotype Sorts" pitchFamily="2" charset="2"/>
              <a:buNone/>
            </a:pPr>
            <a:r>
              <a:rPr lang="en-US" altLang="en-US" sz="2100" b="1" kern="1200" dirty="0">
                <a:latin typeface="Courier New"/>
                <a:ea typeface="+mn-ea"/>
                <a:cs typeface="Courier New"/>
              </a:rPr>
              <a:t>array[4].length: </a:t>
            </a:r>
            <a:r>
              <a:rPr lang="en-US" altLang="en-US" sz="2100" kern="1200" dirty="0" err="1">
                <a:latin typeface="Times New Roman"/>
                <a:ea typeface="+mn-ea"/>
                <a:cs typeface="Times New Roman"/>
              </a:rPr>
              <a:t>ArrayIndexOutOfBoundsException</a:t>
            </a:r>
            <a:endParaRPr lang="en-US" altLang="en-US" sz="2100" kern="1200">
              <a:latin typeface="Times New Roman"/>
              <a:ea typeface="+mn-ea"/>
              <a:cs typeface="Times New Roman"/>
            </a:endParaRPr>
          </a:p>
        </p:txBody>
      </p:sp>
      <p:cxnSp>
        <p:nvCxnSpPr>
          <p:cNvPr id="16" name="Straight Arrow Connector 15" descr="arrow pointing from array.length to int[][] array = {">
            <a:extLst>
              <a:ext uri="{FF2B5EF4-FFF2-40B4-BE49-F238E27FC236}">
                <a16:creationId xmlns:a16="http://schemas.microsoft.com/office/drawing/2014/main" id="{156B3B3A-BB9D-4418-A77A-1486D21E418A}"/>
              </a:ext>
            </a:extLst>
          </p:cNvPr>
          <p:cNvCxnSpPr/>
          <p:nvPr/>
        </p:nvCxnSpPr>
        <p:spPr>
          <a:xfrm flipH="1">
            <a:off x="4456786" y="2095764"/>
            <a:ext cx="91888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descr="arrow pointing from array[0].length to {1,2,3},">
            <a:extLst>
              <a:ext uri="{FF2B5EF4-FFF2-40B4-BE49-F238E27FC236}">
                <a16:creationId xmlns:a16="http://schemas.microsoft.com/office/drawing/2014/main" id="{B76DA45F-3C63-472D-A16B-303C2A87E045}"/>
              </a:ext>
            </a:extLst>
          </p:cNvPr>
          <p:cNvCxnSpPr/>
          <p:nvPr/>
        </p:nvCxnSpPr>
        <p:spPr>
          <a:xfrm flipH="1">
            <a:off x="4456786" y="2470213"/>
            <a:ext cx="91888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descr="arrow pointing from array[1].length to {4,5,6},">
            <a:extLst>
              <a:ext uri="{FF2B5EF4-FFF2-40B4-BE49-F238E27FC236}">
                <a16:creationId xmlns:a16="http://schemas.microsoft.com/office/drawing/2014/main" id="{0FF90184-E5DA-4960-B2AD-3B398C1EF2D3}"/>
              </a:ext>
            </a:extLst>
          </p:cNvPr>
          <p:cNvCxnSpPr/>
          <p:nvPr/>
        </p:nvCxnSpPr>
        <p:spPr>
          <a:xfrm flipH="1">
            <a:off x="4459618" y="2844661"/>
            <a:ext cx="91888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descr="arrow pointing from array[2].length to {7,8,9},">
            <a:extLst>
              <a:ext uri="{FF2B5EF4-FFF2-40B4-BE49-F238E27FC236}">
                <a16:creationId xmlns:a16="http://schemas.microsoft.com/office/drawing/2014/main" id="{D5092C27-CA71-44CA-B68D-3E636DBE372E}"/>
              </a:ext>
            </a:extLst>
          </p:cNvPr>
          <p:cNvCxnSpPr/>
          <p:nvPr/>
        </p:nvCxnSpPr>
        <p:spPr>
          <a:xfrm flipH="1">
            <a:off x="4456786" y="3247914"/>
            <a:ext cx="91888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descr="arrow pointing from array[1].length to {10,11,12}">
            <a:extLst>
              <a:ext uri="{FF2B5EF4-FFF2-40B4-BE49-F238E27FC236}">
                <a16:creationId xmlns:a16="http://schemas.microsoft.com/office/drawing/2014/main" id="{307790CE-3424-46CD-A5E4-D653D558A3F1}"/>
              </a:ext>
            </a:extLst>
          </p:cNvPr>
          <p:cNvCxnSpPr/>
          <p:nvPr/>
        </p:nvCxnSpPr>
        <p:spPr>
          <a:xfrm flipH="1">
            <a:off x="4459618" y="3622363"/>
            <a:ext cx="91888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602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altLang="en-US" dirty="0">
                <a:cs typeface="Times New Roman" pitchFamily="16" charset="0"/>
              </a:rPr>
              <a:t>A ragged array is an array where rows can have different lengths:</a:t>
            </a:r>
            <a:r>
              <a:rPr lang="en-US" altLang="en-US" sz="1400" dirty="0">
                <a:cs typeface="Times New Roman" pitchFamily="16" charset="0"/>
              </a:rPr>
              <a:t> </a:t>
            </a:r>
          </a:p>
          <a:p>
            <a:endParaRPr lang="en-US" dirty="0"/>
          </a:p>
        </p:txBody>
      </p:sp>
      <p:sp>
        <p:nvSpPr>
          <p:cNvPr id="2" name="Title 1"/>
          <p:cNvSpPr>
            <a:spLocks noGrp="1"/>
          </p:cNvSpPr>
          <p:nvPr>
            <p:ph type="title"/>
          </p:nvPr>
        </p:nvSpPr>
        <p:spPr/>
        <p:txBody>
          <a:bodyPr>
            <a:normAutofit fontScale="90000"/>
          </a:bodyPr>
          <a:lstStyle/>
          <a:p>
            <a:r>
              <a:rPr lang="en-US" b="1" dirty="0">
                <a:cs typeface="Times New Roman" pitchFamily="16" charset="0"/>
              </a:rPr>
              <a:t>Ragged Arrays: Example1</a:t>
            </a:r>
            <a:endParaRPr lang="en-US" b="1" dirty="0"/>
          </a:p>
        </p:txBody>
      </p:sp>
      <p:sp>
        <p:nvSpPr>
          <p:cNvPr id="12" name="Rectangle 3"/>
          <p:cNvSpPr txBox="1">
            <a:spLocks noChangeArrowheads="1"/>
          </p:cNvSpPr>
          <p:nvPr/>
        </p:nvSpPr>
        <p:spPr>
          <a:xfrm>
            <a:off x="1055506" y="1473254"/>
            <a:ext cx="6515100" cy="38290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buFont typeface="Monotype Sorts" pitchFamily="2" charset="2"/>
              <a:buNone/>
            </a:pPr>
            <a:endParaRPr lang="en-US" altLang="en-US" b="1" dirty="0">
              <a:latin typeface="Courier New" pitchFamily="49" charset="0"/>
              <a:cs typeface="Courier New" pitchFamily="49" charset="0"/>
            </a:endParaRPr>
          </a:p>
          <a:p>
            <a:pPr>
              <a:buFont typeface="Monotype Sorts" pitchFamily="2" charset="2"/>
              <a:buNone/>
            </a:pPr>
            <a:endParaRPr lang="en-US" altLang="en-US" b="1" dirty="0">
              <a:latin typeface="Courier New" pitchFamily="49" charset="0"/>
              <a:cs typeface="Courier New" pitchFamily="49" charset="0"/>
            </a:endParaRPr>
          </a:p>
          <a:p>
            <a:pPr>
              <a:buFont typeface="Monotype Sorts" pitchFamily="2" charset="2"/>
              <a:buNone/>
            </a:pPr>
            <a:r>
              <a:rPr lang="en-US" altLang="en-US" sz="2000" b="1" dirty="0" err="1">
                <a:latin typeface="Courier New" pitchFamily="49" charset="0"/>
                <a:cs typeface="Courier New" pitchFamily="49" charset="0"/>
              </a:rPr>
              <a:t>int</a:t>
            </a:r>
            <a:r>
              <a:rPr lang="en-US" altLang="en-US" sz="2000" b="1" dirty="0">
                <a:latin typeface="Courier New" pitchFamily="49" charset="0"/>
                <a:cs typeface="Courier New" pitchFamily="49" charset="0"/>
              </a:rPr>
              <a:t>[][] matrix = {    </a:t>
            </a:r>
          </a:p>
          <a:p>
            <a:pPr>
              <a:buFont typeface="Monotype Sorts" pitchFamily="2" charset="2"/>
              <a:buNone/>
            </a:pPr>
            <a:r>
              <a:rPr lang="en-US" altLang="en-US" sz="2000" b="1" dirty="0">
                <a:latin typeface="Courier New" pitchFamily="49" charset="0"/>
                <a:cs typeface="Courier New" pitchFamily="49" charset="0"/>
              </a:rPr>
              <a:t>  {1, 2, 3, 4, 5},</a:t>
            </a:r>
          </a:p>
          <a:p>
            <a:pPr>
              <a:buFont typeface="Monotype Sorts" pitchFamily="2" charset="2"/>
              <a:buNone/>
            </a:pPr>
            <a:r>
              <a:rPr lang="en-US" altLang="en-US" sz="2000" b="1" dirty="0">
                <a:latin typeface="Courier New" pitchFamily="49" charset="0"/>
                <a:cs typeface="Courier New" pitchFamily="49" charset="0"/>
              </a:rPr>
              <a:t>  {2, 3, 4, 5},</a:t>
            </a:r>
          </a:p>
          <a:p>
            <a:pPr>
              <a:buFont typeface="Monotype Sorts" pitchFamily="2" charset="2"/>
              <a:buNone/>
            </a:pPr>
            <a:r>
              <a:rPr lang="en-US" altLang="en-US" sz="2000" b="1" dirty="0">
                <a:latin typeface="Courier New" pitchFamily="49" charset="0"/>
                <a:cs typeface="Courier New" pitchFamily="49" charset="0"/>
              </a:rPr>
              <a:t>  {3, 4, 5},</a:t>
            </a:r>
          </a:p>
          <a:p>
            <a:pPr>
              <a:buFont typeface="Monotype Sorts" pitchFamily="2" charset="2"/>
              <a:buNone/>
            </a:pPr>
            <a:r>
              <a:rPr lang="en-US" altLang="en-US" sz="2000" b="1" dirty="0">
                <a:latin typeface="Courier New" pitchFamily="49" charset="0"/>
                <a:cs typeface="Courier New" pitchFamily="49" charset="0"/>
              </a:rPr>
              <a:t>  {4, 5},</a:t>
            </a:r>
          </a:p>
          <a:p>
            <a:pPr>
              <a:buFont typeface="Monotype Sorts" pitchFamily="2" charset="2"/>
              <a:buNone/>
            </a:pPr>
            <a:r>
              <a:rPr lang="en-US" altLang="en-US" sz="2000" b="1" dirty="0">
                <a:latin typeface="Courier New" pitchFamily="49" charset="0"/>
                <a:cs typeface="Courier New" pitchFamily="49" charset="0"/>
              </a:rPr>
              <a:t>  {5}</a:t>
            </a:r>
          </a:p>
          <a:p>
            <a:pPr>
              <a:buFont typeface="Monotype Sorts" pitchFamily="2" charset="2"/>
              <a:buNone/>
            </a:pPr>
            <a:r>
              <a:rPr lang="en-US" altLang="en-US" sz="2000" b="1" dirty="0">
                <a:latin typeface="Courier New" pitchFamily="49" charset="0"/>
                <a:cs typeface="Courier New" pitchFamily="49" charset="0"/>
              </a:rPr>
              <a:t>}; </a:t>
            </a:r>
          </a:p>
        </p:txBody>
      </p:sp>
      <p:sp>
        <p:nvSpPr>
          <p:cNvPr id="21" name="Rectangle 4"/>
          <p:cNvSpPr>
            <a:spLocks noChangeArrowheads="1"/>
          </p:cNvSpPr>
          <p:nvPr/>
        </p:nvSpPr>
        <p:spPr bwMode="auto">
          <a:xfrm>
            <a:off x="4283363" y="2057613"/>
            <a:ext cx="3486150" cy="2514600"/>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algn="ctr" eaLnBrk="0" fontAlgn="base" hangingPunct="0">
              <a:spcBef>
                <a:spcPct val="0"/>
              </a:spcBef>
              <a:spcAft>
                <a:spcPct val="0"/>
              </a:spcAft>
              <a:buClrTx/>
              <a:buFontTx/>
              <a:buNone/>
            </a:pPr>
            <a:r>
              <a:rPr lang="en-US" altLang="en-US" sz="1800" b="1" kern="1200">
                <a:solidFill>
                  <a:prstClr val="black"/>
                </a:solidFill>
                <a:latin typeface="Courier New" pitchFamily="49" charset="0"/>
                <a:ea typeface="+mn-ea"/>
                <a:cs typeface="Courier New" pitchFamily="49" charset="0"/>
              </a:rPr>
              <a:t>matrix.length is 5</a:t>
            </a:r>
          </a:p>
          <a:p>
            <a:pPr algn="ctr" eaLnBrk="0" fontAlgn="base" hangingPunct="0">
              <a:spcBef>
                <a:spcPct val="0"/>
              </a:spcBef>
              <a:spcAft>
                <a:spcPct val="0"/>
              </a:spcAft>
              <a:buClrTx/>
              <a:buFontTx/>
              <a:buNone/>
            </a:pPr>
            <a:r>
              <a:rPr lang="en-US" altLang="en-US" sz="1800" b="1" kern="1200">
                <a:solidFill>
                  <a:prstClr val="black"/>
                </a:solidFill>
                <a:latin typeface="Courier New" pitchFamily="49" charset="0"/>
                <a:ea typeface="+mn-ea"/>
                <a:cs typeface="Courier New" pitchFamily="49" charset="0"/>
              </a:rPr>
              <a:t>matrix[0].length is 5</a:t>
            </a:r>
          </a:p>
          <a:p>
            <a:pPr algn="ctr" eaLnBrk="0" fontAlgn="base" hangingPunct="0">
              <a:spcBef>
                <a:spcPct val="0"/>
              </a:spcBef>
              <a:spcAft>
                <a:spcPct val="0"/>
              </a:spcAft>
              <a:buClrTx/>
              <a:buFontTx/>
              <a:buNone/>
            </a:pPr>
            <a:r>
              <a:rPr lang="en-US" altLang="en-US" sz="1800" b="1" kern="1200">
                <a:solidFill>
                  <a:prstClr val="black"/>
                </a:solidFill>
                <a:latin typeface="Courier New" pitchFamily="49" charset="0"/>
                <a:ea typeface="+mn-ea"/>
                <a:cs typeface="Courier New" pitchFamily="49" charset="0"/>
              </a:rPr>
              <a:t>matrix[1].length is 4</a:t>
            </a:r>
          </a:p>
          <a:p>
            <a:pPr algn="ctr" eaLnBrk="0" fontAlgn="base" hangingPunct="0">
              <a:spcBef>
                <a:spcPct val="0"/>
              </a:spcBef>
              <a:spcAft>
                <a:spcPct val="0"/>
              </a:spcAft>
              <a:buClrTx/>
              <a:buFontTx/>
              <a:buNone/>
            </a:pPr>
            <a:r>
              <a:rPr lang="en-US" altLang="en-US" sz="1800" b="1" kern="1200">
                <a:solidFill>
                  <a:prstClr val="black"/>
                </a:solidFill>
                <a:latin typeface="Courier New" pitchFamily="49" charset="0"/>
                <a:ea typeface="+mn-ea"/>
                <a:cs typeface="Courier New" pitchFamily="49" charset="0"/>
              </a:rPr>
              <a:t>matrix[2].length is 3</a:t>
            </a:r>
          </a:p>
          <a:p>
            <a:pPr algn="ctr" eaLnBrk="0" fontAlgn="base" hangingPunct="0">
              <a:spcBef>
                <a:spcPct val="0"/>
              </a:spcBef>
              <a:spcAft>
                <a:spcPct val="0"/>
              </a:spcAft>
              <a:buClrTx/>
              <a:buFontTx/>
              <a:buNone/>
            </a:pPr>
            <a:r>
              <a:rPr lang="en-US" altLang="en-US" sz="1800" b="1" kern="1200">
                <a:solidFill>
                  <a:prstClr val="black"/>
                </a:solidFill>
                <a:latin typeface="Courier New" pitchFamily="49" charset="0"/>
                <a:ea typeface="+mn-ea"/>
                <a:cs typeface="Courier New" pitchFamily="49" charset="0"/>
              </a:rPr>
              <a:t>matrix[3].length is 2</a:t>
            </a:r>
          </a:p>
          <a:p>
            <a:pPr algn="ctr" eaLnBrk="0" fontAlgn="base" hangingPunct="0">
              <a:spcBef>
                <a:spcPct val="0"/>
              </a:spcBef>
              <a:spcAft>
                <a:spcPct val="0"/>
              </a:spcAft>
              <a:buClrTx/>
              <a:buFontTx/>
              <a:buNone/>
            </a:pPr>
            <a:r>
              <a:rPr lang="en-US" altLang="en-US" sz="1800" b="1" kern="1200">
                <a:solidFill>
                  <a:prstClr val="black"/>
                </a:solidFill>
                <a:latin typeface="Courier New" pitchFamily="49" charset="0"/>
                <a:ea typeface="+mn-ea"/>
                <a:cs typeface="Courier New" pitchFamily="49" charset="0"/>
              </a:rPr>
              <a:t>matrix[4].length is 1</a:t>
            </a:r>
          </a:p>
          <a:p>
            <a:pPr algn="ctr" eaLnBrk="0" fontAlgn="base" hangingPunct="0">
              <a:spcBef>
                <a:spcPct val="0"/>
              </a:spcBef>
              <a:spcAft>
                <a:spcPct val="0"/>
              </a:spcAft>
              <a:buClrTx/>
              <a:buFontTx/>
              <a:buNone/>
            </a:pPr>
            <a:endParaRPr lang="en-US" altLang="en-US" sz="1800" b="1" kern="1200">
              <a:solidFill>
                <a:prstClr val="black"/>
              </a:solidFill>
              <a:latin typeface="Courier New" pitchFamily="49" charset="0"/>
              <a:ea typeface="+mn-ea"/>
              <a:cs typeface="Courier New" pitchFamily="49" charset="0"/>
            </a:endParaRPr>
          </a:p>
        </p:txBody>
      </p:sp>
      <p:cxnSp>
        <p:nvCxnSpPr>
          <p:cNvPr id="22" name="Straight Arrow Connector 21" descr="arrow pointing from matrix.length is 5 to int[][] matrix = {">
            <a:extLst>
              <a:ext uri="{FF2B5EF4-FFF2-40B4-BE49-F238E27FC236}">
                <a16:creationId xmlns:a16="http://schemas.microsoft.com/office/drawing/2014/main" id="{D75AA083-1332-4252-BB08-3DC032D4E8ED}"/>
              </a:ext>
            </a:extLst>
          </p:cNvPr>
          <p:cNvCxnSpPr>
            <a:cxnSpLocks/>
          </p:cNvCxnSpPr>
          <p:nvPr/>
        </p:nvCxnSpPr>
        <p:spPr>
          <a:xfrm flipH="1" flipV="1">
            <a:off x="4046018" y="2459979"/>
            <a:ext cx="680695" cy="2670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descr="arrow pointing from matrix[0].length is 5 to {1,2,3,4,5},">
            <a:extLst>
              <a:ext uri="{FF2B5EF4-FFF2-40B4-BE49-F238E27FC236}">
                <a16:creationId xmlns:a16="http://schemas.microsoft.com/office/drawing/2014/main" id="{24C43A67-1DD9-409A-B1FB-BBE3F73FCDE7}"/>
              </a:ext>
            </a:extLst>
          </p:cNvPr>
          <p:cNvCxnSpPr>
            <a:cxnSpLocks/>
          </p:cNvCxnSpPr>
          <p:nvPr/>
        </p:nvCxnSpPr>
        <p:spPr>
          <a:xfrm flipH="1">
            <a:off x="4046018" y="2745920"/>
            <a:ext cx="492419" cy="1346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descr="arrow pointing from matrix[1].length is 4 to {2,3,4,5},">
            <a:extLst>
              <a:ext uri="{FF2B5EF4-FFF2-40B4-BE49-F238E27FC236}">
                <a16:creationId xmlns:a16="http://schemas.microsoft.com/office/drawing/2014/main" id="{39376C2C-477F-4431-A40E-1FDAA98806F2}"/>
              </a:ext>
            </a:extLst>
          </p:cNvPr>
          <p:cNvCxnSpPr>
            <a:cxnSpLocks/>
          </p:cNvCxnSpPr>
          <p:nvPr/>
        </p:nvCxnSpPr>
        <p:spPr>
          <a:xfrm flipH="1">
            <a:off x="3529574" y="3042050"/>
            <a:ext cx="976495" cy="8641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descr="arrow pointing from matrix[2].length is 3 to {3,4,5},">
            <a:extLst>
              <a:ext uri="{FF2B5EF4-FFF2-40B4-BE49-F238E27FC236}">
                <a16:creationId xmlns:a16="http://schemas.microsoft.com/office/drawing/2014/main" id="{A85A47BC-93CC-45CA-A62C-73BC2FA76881}"/>
              </a:ext>
            </a:extLst>
          </p:cNvPr>
          <p:cNvCxnSpPr>
            <a:cxnSpLocks/>
          </p:cNvCxnSpPr>
          <p:nvPr/>
        </p:nvCxnSpPr>
        <p:spPr>
          <a:xfrm flipH="1">
            <a:off x="3122757" y="3317468"/>
            <a:ext cx="1350944" cy="14401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descr="arrow pointing from matrix[3].length is 2 to {4,5},">
            <a:extLst>
              <a:ext uri="{FF2B5EF4-FFF2-40B4-BE49-F238E27FC236}">
                <a16:creationId xmlns:a16="http://schemas.microsoft.com/office/drawing/2014/main" id="{A974626C-1444-47F2-9CC5-786F5BC2F909}"/>
              </a:ext>
            </a:extLst>
          </p:cNvPr>
          <p:cNvCxnSpPr>
            <a:cxnSpLocks/>
          </p:cNvCxnSpPr>
          <p:nvPr/>
        </p:nvCxnSpPr>
        <p:spPr>
          <a:xfrm flipH="1">
            <a:off x="2645713" y="3584793"/>
            <a:ext cx="1840608" cy="23043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descr="arrow pointing from matrix[4].length is 1 to {5}">
            <a:extLst>
              <a:ext uri="{FF2B5EF4-FFF2-40B4-BE49-F238E27FC236}">
                <a16:creationId xmlns:a16="http://schemas.microsoft.com/office/drawing/2014/main" id="{51E92BD3-5665-490B-85B5-65BA84E2D7CA}"/>
              </a:ext>
            </a:extLst>
          </p:cNvPr>
          <p:cNvCxnSpPr>
            <a:cxnSpLocks/>
          </p:cNvCxnSpPr>
          <p:nvPr/>
        </p:nvCxnSpPr>
        <p:spPr>
          <a:xfrm flipH="1">
            <a:off x="2063469" y="3847591"/>
            <a:ext cx="2390484" cy="32789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135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altLang="en-US" dirty="0">
                <a:cs typeface="Times New Roman" pitchFamily="16" charset="0"/>
              </a:rPr>
              <a:t>Storing a ragged array:</a:t>
            </a:r>
            <a:endParaRPr lang="en-US" dirty="0"/>
          </a:p>
        </p:txBody>
      </p:sp>
      <p:sp>
        <p:nvSpPr>
          <p:cNvPr id="2" name="Title 1"/>
          <p:cNvSpPr>
            <a:spLocks noGrp="1"/>
          </p:cNvSpPr>
          <p:nvPr>
            <p:ph type="title"/>
          </p:nvPr>
        </p:nvSpPr>
        <p:spPr/>
        <p:txBody>
          <a:bodyPr>
            <a:normAutofit fontScale="90000"/>
          </a:bodyPr>
          <a:lstStyle/>
          <a:p>
            <a:r>
              <a:rPr lang="en-US" b="1" dirty="0">
                <a:cs typeface="Times New Roman" pitchFamily="16" charset="0"/>
              </a:rPr>
              <a:t>Ragged Arrays: Example2</a:t>
            </a:r>
            <a:endParaRPr lang="en-US" b="1" dirty="0"/>
          </a:p>
        </p:txBody>
      </p:sp>
      <p:graphicFrame>
        <p:nvGraphicFramePr>
          <p:cNvPr id="13" name="Object 2" descr="int[][] triangleArray = {&#10;{1,2,3,4,5},&#10;{1,2,3,4},&#10;{1,2,3},&#10;{1,2},&#10;{1}&#10;};&#10;makes &#10;1 2 3 4 5&#10;1 2 3 4 &#10;1 2 3 &#10;1 2 &#10;1&#10;as the MultiDimensional array"/>
          <p:cNvGraphicFramePr>
            <a:graphicFrameLocks noChangeAspect="1"/>
          </p:cNvGraphicFramePr>
          <p:nvPr>
            <p:extLst>
              <p:ext uri="{D42A27DB-BD31-4B8C-83A1-F6EECF244321}">
                <p14:modId xmlns:p14="http://schemas.microsoft.com/office/powerpoint/2010/main" val="2651837051"/>
              </p:ext>
            </p:extLst>
          </p:nvPr>
        </p:nvGraphicFramePr>
        <p:xfrm>
          <a:off x="628393" y="1710912"/>
          <a:ext cx="6634163" cy="2207419"/>
        </p:xfrm>
        <a:graphic>
          <a:graphicData uri="http://schemas.openxmlformats.org/presentationml/2006/ole">
            <mc:AlternateContent xmlns:mc="http://schemas.openxmlformats.org/markup-compatibility/2006">
              <mc:Choice xmlns:v="urn:schemas-microsoft-com:vml" Requires="v">
                <p:oleObj name="Picture" r:id="rId2" imgW="4109760" imgH="1367640" progId="Word.Picture.8">
                  <p:embed/>
                </p:oleObj>
              </mc:Choice>
              <mc:Fallback>
                <p:oleObj name="Picture" r:id="rId2" imgW="4109760" imgH="1367640" progId="Word.Picture.8">
                  <p:embed/>
                  <p:pic>
                    <p:nvPicPr>
                      <p:cNvPr id="13" name="Object 2" descr="int[][] triangleArray = {&#10;{1,2,3,4,5},&#10;{1,2,3,4},&#10;{1,2,3},&#10;{1,2},&#10;{1}&#10;};&#10;makes &#10;1 2 3 4 5&#10;1 2 3 4 &#10;1 2 3 &#10;1 2 &#10;1&#10;as the MultiDimensional array"/>
                      <p:cNvPicPr>
                        <a:picLocks noChangeAspect="1" noChangeArrowheads="1"/>
                      </p:cNvPicPr>
                      <p:nvPr/>
                    </p:nvPicPr>
                    <p:blipFill>
                      <a:blip r:embed="rId3"/>
                      <a:srcRect/>
                      <a:stretch>
                        <a:fillRect/>
                      </a:stretch>
                    </p:blipFill>
                    <p:spPr bwMode="auto">
                      <a:xfrm>
                        <a:off x="628393" y="1710912"/>
                        <a:ext cx="6634163" cy="220741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4428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Initializing 2D array with input values</a:t>
            </a:r>
            <a:endParaRPr lang="en-US" b="1" dirty="0"/>
          </a:p>
        </p:txBody>
      </p:sp>
      <p:sp>
        <p:nvSpPr>
          <p:cNvPr id="4" name="Rectangle 3"/>
          <p:cNvSpPr/>
          <p:nvPr/>
        </p:nvSpPr>
        <p:spPr>
          <a:xfrm>
            <a:off x="691870" y="1139644"/>
            <a:ext cx="7464902" cy="2973122"/>
          </a:xfrm>
          <a:prstGeom prst="rect">
            <a:avLst/>
          </a:prstGeom>
        </p:spPr>
        <p:txBody>
          <a:bodyPr wrap="square">
            <a:spAutoFit/>
          </a:bodyPr>
          <a:lstStyle/>
          <a:p>
            <a:pPr marL="457200" indent="-457200">
              <a:lnSpc>
                <a:spcPct val="80000"/>
              </a:lnSpc>
              <a:buNone/>
            </a:pPr>
            <a:r>
              <a:rPr lang="en-US" altLang="en-US" sz="1800" dirty="0" err="1">
                <a:latin typeface="Courier New" pitchFamily="49" charset="0"/>
                <a:cs typeface="Courier New" pitchFamily="49" charset="0"/>
              </a:rPr>
              <a:t>int</a:t>
            </a:r>
            <a:r>
              <a:rPr lang="en-US" altLang="en-US" sz="1800" dirty="0">
                <a:latin typeface="Courier New" pitchFamily="49" charset="0"/>
                <a:cs typeface="Courier New" pitchFamily="49" charset="0"/>
              </a:rPr>
              <a:t>[][] matrix = new </a:t>
            </a:r>
            <a:r>
              <a:rPr lang="en-US" altLang="en-US" sz="1800" dirty="0" err="1">
                <a:latin typeface="Courier New" pitchFamily="49" charset="0"/>
                <a:cs typeface="Courier New" pitchFamily="49" charset="0"/>
              </a:rPr>
              <a:t>int</a:t>
            </a:r>
            <a:r>
              <a:rPr lang="en-US" altLang="en-US" sz="1800" dirty="0">
                <a:latin typeface="Courier New" pitchFamily="49" charset="0"/>
                <a:cs typeface="Courier New" pitchFamily="49" charset="0"/>
              </a:rPr>
              <a:t>[10][10];</a:t>
            </a:r>
          </a:p>
          <a:p>
            <a:pPr marL="457200" indent="-457200">
              <a:lnSpc>
                <a:spcPct val="80000"/>
              </a:lnSpc>
              <a:buNone/>
            </a:pPr>
            <a:r>
              <a:rPr lang="en-US" altLang="en-US" sz="1800" dirty="0" err="1">
                <a:latin typeface="Courier New" pitchFamily="49" charset="0"/>
                <a:cs typeface="Courier New" pitchFamily="49" charset="0"/>
              </a:rPr>
              <a:t>java.util.Scanner</a:t>
            </a:r>
            <a:r>
              <a:rPr lang="en-US" altLang="en-US" sz="1800" dirty="0">
                <a:latin typeface="Courier New" pitchFamily="49" charset="0"/>
                <a:cs typeface="Courier New" pitchFamily="49" charset="0"/>
              </a:rPr>
              <a:t> input = </a:t>
            </a:r>
          </a:p>
          <a:p>
            <a:pPr marL="457200" indent="-457200">
              <a:lnSpc>
                <a:spcPct val="80000"/>
              </a:lnSpc>
              <a:buNone/>
            </a:pPr>
            <a:r>
              <a:rPr lang="en-US" altLang="en-US" sz="1800" dirty="0">
                <a:latin typeface="Courier New" pitchFamily="49" charset="0"/>
                <a:cs typeface="Courier New" pitchFamily="49" charset="0"/>
              </a:rPr>
              <a:t>	new Scanner(System.in);</a:t>
            </a:r>
          </a:p>
          <a:p>
            <a:pPr marL="457200" indent="-457200">
              <a:lnSpc>
                <a:spcPct val="80000"/>
              </a:lnSpc>
              <a:buNone/>
            </a:pPr>
            <a:r>
              <a:rPr lang="en-US" altLang="en-US" sz="1800" dirty="0" err="1">
                <a:latin typeface="Courier New" pitchFamily="49" charset="0"/>
                <a:cs typeface="Courier New" pitchFamily="49" charset="0"/>
              </a:rPr>
              <a:t>System.out.println</a:t>
            </a:r>
            <a:r>
              <a:rPr lang="en-US" altLang="en-US" sz="1800" dirty="0">
                <a:latin typeface="Courier New" pitchFamily="49" charset="0"/>
                <a:cs typeface="Courier New" pitchFamily="49" charset="0"/>
              </a:rPr>
              <a:t>("Enter " + </a:t>
            </a:r>
            <a:r>
              <a:rPr lang="en-US" altLang="en-US" sz="1800" dirty="0" err="1">
                <a:latin typeface="Courier New" pitchFamily="49" charset="0"/>
                <a:cs typeface="Courier New" pitchFamily="49" charset="0"/>
              </a:rPr>
              <a:t>matrix.length</a:t>
            </a:r>
            <a:r>
              <a:rPr lang="en-US" altLang="en-US" sz="1800" dirty="0">
                <a:latin typeface="Courier New" pitchFamily="49" charset="0"/>
                <a:cs typeface="Courier New" pitchFamily="49" charset="0"/>
              </a:rPr>
              <a:t> +" rows and "</a:t>
            </a:r>
          </a:p>
          <a:p>
            <a:pPr marL="457200" indent="-457200">
              <a:lnSpc>
                <a:spcPct val="80000"/>
              </a:lnSpc>
              <a:buNone/>
            </a:pPr>
            <a:r>
              <a:rPr lang="en-US" altLang="en-US" sz="1800" dirty="0">
                <a:latin typeface="Courier New" pitchFamily="49" charset="0"/>
                <a:cs typeface="Courier New" pitchFamily="49" charset="0"/>
              </a:rPr>
              <a:t>   +  matrix[0].length + " columns: ");</a:t>
            </a:r>
          </a:p>
          <a:p>
            <a:pPr marL="457200" indent="-457200">
              <a:lnSpc>
                <a:spcPct val="80000"/>
              </a:lnSpc>
              <a:buNone/>
            </a:pPr>
            <a:r>
              <a:rPr lang="en-US" altLang="en-US" sz="1800" b="1" dirty="0">
                <a:solidFill>
                  <a:schemeClr val="tx1"/>
                </a:solidFill>
                <a:latin typeface="Courier New" pitchFamily="49" charset="0"/>
                <a:cs typeface="Courier New" pitchFamily="49" charset="0"/>
              </a:rPr>
              <a:t>for (</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row = 0; row &lt; </a:t>
            </a:r>
            <a:r>
              <a:rPr lang="en-US" altLang="en-US" sz="1800" b="1" dirty="0" err="1">
                <a:solidFill>
                  <a:schemeClr val="tx1"/>
                </a:solidFill>
                <a:latin typeface="Courier New" pitchFamily="49" charset="0"/>
                <a:cs typeface="Courier New" pitchFamily="49" charset="0"/>
              </a:rPr>
              <a:t>matrix.length</a:t>
            </a:r>
            <a:r>
              <a:rPr lang="en-US" altLang="en-US" sz="1800" b="1" dirty="0">
                <a:solidFill>
                  <a:schemeClr val="tx1"/>
                </a:solidFill>
                <a:latin typeface="Courier New" pitchFamily="49" charset="0"/>
                <a:cs typeface="Courier New" pitchFamily="49" charset="0"/>
              </a:rPr>
              <a:t>; row++) {</a:t>
            </a:r>
          </a:p>
          <a:p>
            <a:pPr marL="457200" indent="-457200">
              <a:lnSpc>
                <a:spcPct val="80000"/>
              </a:lnSpc>
              <a:buNone/>
            </a:pPr>
            <a:r>
              <a:rPr lang="en-US" altLang="en-US" sz="1800" b="1" dirty="0">
                <a:solidFill>
                  <a:schemeClr val="tx1"/>
                </a:solidFill>
                <a:latin typeface="Courier New" pitchFamily="49" charset="0"/>
                <a:cs typeface="Courier New" pitchFamily="49" charset="0"/>
              </a:rPr>
              <a:t>  for (</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column = 0; </a:t>
            </a:r>
          </a:p>
          <a:p>
            <a:pPr marL="457200" indent="-457200">
              <a:lnSpc>
                <a:spcPct val="80000"/>
              </a:lnSpc>
              <a:buNone/>
            </a:pPr>
            <a:r>
              <a:rPr lang="en-US" altLang="en-US" sz="1800" b="1" dirty="0">
                <a:solidFill>
                  <a:schemeClr val="tx1"/>
                </a:solidFill>
                <a:latin typeface="Courier New" pitchFamily="49" charset="0"/>
                <a:cs typeface="Courier New" pitchFamily="49" charset="0"/>
              </a:rPr>
              <a:t>			column &lt; matrix[row].length; 			column++) {</a:t>
            </a:r>
          </a:p>
          <a:p>
            <a:pPr marL="457200" indent="-457200">
              <a:lnSpc>
                <a:spcPct val="80000"/>
              </a:lnSpc>
              <a:buNone/>
            </a:pPr>
            <a:r>
              <a:rPr lang="en-US" altLang="en-US" sz="1800" b="1" dirty="0">
                <a:solidFill>
                  <a:schemeClr val="tx1"/>
                </a:solidFill>
                <a:latin typeface="Courier New" pitchFamily="49" charset="0"/>
                <a:cs typeface="Courier New" pitchFamily="49" charset="0"/>
              </a:rPr>
              <a:t>	 matrix[row][column] = </a:t>
            </a:r>
            <a:r>
              <a:rPr lang="en-US" altLang="en-US" sz="1800" b="1" dirty="0" err="1">
                <a:solidFill>
                  <a:schemeClr val="tx1"/>
                </a:solidFill>
                <a:latin typeface="Courier New" pitchFamily="49" charset="0"/>
                <a:cs typeface="Courier New" pitchFamily="49" charset="0"/>
              </a:rPr>
              <a:t>input.nextInt</a:t>
            </a:r>
            <a:r>
              <a:rPr lang="en-US" altLang="en-US" sz="1800" b="1" dirty="0">
                <a:solidFill>
                  <a:schemeClr val="tx1"/>
                </a:solidFill>
                <a:latin typeface="Courier New" pitchFamily="49" charset="0"/>
                <a:cs typeface="Courier New" pitchFamily="49" charset="0"/>
              </a:rPr>
              <a:t>(); </a:t>
            </a:r>
          </a:p>
          <a:p>
            <a:pPr marL="457200" indent="-457200">
              <a:lnSpc>
                <a:spcPct val="80000"/>
              </a:lnSpc>
              <a:buNone/>
            </a:pPr>
            <a:r>
              <a:rPr lang="en-US" altLang="en-US" sz="1800" b="1" dirty="0">
                <a:solidFill>
                  <a:schemeClr val="tx1"/>
                </a:solidFill>
                <a:latin typeface="Courier New" pitchFamily="49" charset="0"/>
                <a:cs typeface="Courier New" pitchFamily="49" charset="0"/>
              </a:rPr>
              <a:t>  }</a:t>
            </a:r>
          </a:p>
          <a:p>
            <a:pPr marL="457200" indent="-457200">
              <a:lnSpc>
                <a:spcPct val="80000"/>
              </a:lnSpc>
              <a:buNone/>
            </a:pPr>
            <a:r>
              <a:rPr lang="en-US" altLang="en-US" sz="1800" b="1" dirty="0">
                <a:solidFill>
                  <a:schemeClr val="tx1"/>
                </a:solidFill>
                <a:latin typeface="Courier New" pitchFamily="49" charset="0"/>
                <a:cs typeface="Courier New" pitchFamily="49" charset="0"/>
              </a:rPr>
              <a:t>}</a:t>
            </a:r>
          </a:p>
        </p:txBody>
      </p:sp>
    </p:spTree>
    <p:extLst>
      <p:ext uri="{BB962C8B-B14F-4D97-AF65-F5344CB8AC3E}">
        <p14:creationId xmlns:p14="http://schemas.microsoft.com/office/powerpoint/2010/main" val="21131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Initializing 2D array with random values</a:t>
            </a:r>
            <a:endParaRPr lang="en-US" b="1" dirty="0"/>
          </a:p>
        </p:txBody>
      </p:sp>
      <p:sp>
        <p:nvSpPr>
          <p:cNvPr id="3" name="Rectangle 2"/>
          <p:cNvSpPr/>
          <p:nvPr/>
        </p:nvSpPr>
        <p:spPr>
          <a:xfrm>
            <a:off x="667591" y="1143394"/>
            <a:ext cx="7489181" cy="1588127"/>
          </a:xfrm>
          <a:prstGeom prst="rect">
            <a:avLst/>
          </a:prstGeom>
        </p:spPr>
        <p:txBody>
          <a:bodyPr wrap="square">
            <a:spAutoFit/>
          </a:bodyPr>
          <a:lstStyle/>
          <a:p>
            <a:pPr marL="457200" indent="-457200">
              <a:lnSpc>
                <a:spcPct val="90000"/>
              </a:lnSpc>
              <a:buNone/>
            </a:pPr>
            <a:r>
              <a:rPr lang="en-US" altLang="en-US" sz="1800" b="1" dirty="0">
                <a:solidFill>
                  <a:schemeClr val="tx1"/>
                </a:solidFill>
                <a:latin typeface="Courier New" pitchFamily="49" charset="0"/>
                <a:cs typeface="Courier New" pitchFamily="49" charset="0"/>
              </a:rPr>
              <a:t>for(</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row = 0; row &lt; </a:t>
            </a:r>
            <a:r>
              <a:rPr lang="en-US" altLang="en-US" sz="1800" b="1" dirty="0" err="1">
                <a:solidFill>
                  <a:schemeClr val="tx1"/>
                </a:solidFill>
                <a:latin typeface="Courier New" pitchFamily="49" charset="0"/>
                <a:cs typeface="Courier New" pitchFamily="49" charset="0"/>
              </a:rPr>
              <a:t>matrix.length</a:t>
            </a:r>
            <a:r>
              <a:rPr lang="en-US" altLang="en-US" sz="1800" b="1" dirty="0">
                <a:solidFill>
                  <a:schemeClr val="tx1"/>
                </a:solidFill>
                <a:latin typeface="Courier New" pitchFamily="49" charset="0"/>
                <a:cs typeface="Courier New" pitchFamily="49" charset="0"/>
              </a:rPr>
              <a:t>; row++) {</a:t>
            </a:r>
          </a:p>
          <a:p>
            <a:pPr marL="457200" indent="-457200">
              <a:lnSpc>
                <a:spcPct val="90000"/>
              </a:lnSpc>
              <a:buNone/>
            </a:pPr>
            <a:r>
              <a:rPr lang="en-US" altLang="en-US" sz="1800" b="1" dirty="0">
                <a:solidFill>
                  <a:schemeClr val="tx1"/>
                </a:solidFill>
                <a:latin typeface="Courier New" pitchFamily="49" charset="0"/>
                <a:cs typeface="Courier New" pitchFamily="49" charset="0"/>
              </a:rPr>
              <a:t>  	for(</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column = 0; column &lt; matrix[row].length; 	column++){</a:t>
            </a:r>
          </a:p>
          <a:p>
            <a:pPr marL="457200" indent="-457200">
              <a:lnSpc>
                <a:spcPct val="90000"/>
              </a:lnSpc>
              <a:buNone/>
            </a:pPr>
            <a:r>
              <a:rPr lang="en-US" altLang="en-US" sz="1800" b="1" dirty="0">
                <a:solidFill>
                  <a:schemeClr val="tx1"/>
                </a:solidFill>
                <a:latin typeface="Courier New" pitchFamily="49" charset="0"/>
                <a:cs typeface="Courier New" pitchFamily="49" charset="0"/>
              </a:rPr>
              <a:t>	   matrix[row][column] = (</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a:t>
            </a:r>
            <a:r>
              <a:rPr lang="en-US" altLang="en-US" sz="1800" b="1" dirty="0" err="1">
                <a:solidFill>
                  <a:schemeClr val="tx1"/>
                </a:solidFill>
                <a:latin typeface="Courier New" pitchFamily="49" charset="0"/>
                <a:cs typeface="Courier New" pitchFamily="49" charset="0"/>
              </a:rPr>
              <a:t>Math.random</a:t>
            </a:r>
            <a:r>
              <a:rPr lang="en-US" altLang="en-US" sz="1800" b="1" dirty="0">
                <a:solidFill>
                  <a:schemeClr val="tx1"/>
                </a:solidFill>
                <a:latin typeface="Courier New" pitchFamily="49" charset="0"/>
                <a:cs typeface="Courier New" pitchFamily="49" charset="0"/>
              </a:rPr>
              <a:t>()*100);</a:t>
            </a:r>
          </a:p>
          <a:p>
            <a:pPr marL="457200" indent="-457200">
              <a:lnSpc>
                <a:spcPct val="90000"/>
              </a:lnSpc>
              <a:buNone/>
            </a:pPr>
            <a:r>
              <a:rPr lang="en-US" altLang="en-US" sz="1800" b="1" dirty="0">
                <a:solidFill>
                  <a:schemeClr val="tx1"/>
                </a:solidFill>
                <a:latin typeface="Courier New" pitchFamily="49" charset="0"/>
                <a:cs typeface="Courier New" pitchFamily="49" charset="0"/>
              </a:rPr>
              <a:t>	}</a:t>
            </a:r>
          </a:p>
          <a:p>
            <a:pPr marL="457200" indent="-457200">
              <a:lnSpc>
                <a:spcPct val="90000"/>
              </a:lnSpc>
              <a:buNone/>
            </a:pPr>
            <a:r>
              <a:rPr lang="en-US" altLang="en-US" sz="1800" b="1" dirty="0">
                <a:solidFill>
                  <a:schemeClr val="tx1"/>
                </a:solidFill>
                <a:latin typeface="Courier New" pitchFamily="49" charset="0"/>
                <a:cs typeface="Courier New" pitchFamily="49" charset="0"/>
              </a:rPr>
              <a:t>}</a:t>
            </a:r>
          </a:p>
        </p:txBody>
      </p:sp>
    </p:spTree>
    <p:extLst>
      <p:ext uri="{BB962C8B-B14F-4D97-AF65-F5344CB8AC3E}">
        <p14:creationId xmlns:p14="http://schemas.microsoft.com/office/powerpoint/2010/main" val="1905119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Printing 2D array</a:t>
            </a:r>
            <a:endParaRPr lang="en-US" b="1" dirty="0"/>
          </a:p>
        </p:txBody>
      </p:sp>
      <p:sp>
        <p:nvSpPr>
          <p:cNvPr id="4" name="Rectangle 3"/>
          <p:cNvSpPr/>
          <p:nvPr/>
        </p:nvSpPr>
        <p:spPr>
          <a:xfrm>
            <a:off x="602856" y="1184009"/>
            <a:ext cx="7926149" cy="2086725"/>
          </a:xfrm>
          <a:prstGeom prst="rect">
            <a:avLst/>
          </a:prstGeom>
        </p:spPr>
        <p:txBody>
          <a:bodyPr wrap="square">
            <a:spAutoFit/>
          </a:bodyPr>
          <a:lstStyle/>
          <a:p>
            <a:pPr marL="457200" indent="-457200">
              <a:lnSpc>
                <a:spcPct val="90000"/>
              </a:lnSpc>
              <a:buNone/>
            </a:pPr>
            <a:r>
              <a:rPr lang="en-US" altLang="en-US" sz="1800" b="1" dirty="0">
                <a:solidFill>
                  <a:schemeClr val="tx1"/>
                </a:solidFill>
                <a:latin typeface="Courier New" pitchFamily="49" charset="0"/>
                <a:cs typeface="Courier New" pitchFamily="49" charset="0"/>
              </a:rPr>
              <a:t>for(</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row=0; row&lt;</a:t>
            </a:r>
            <a:r>
              <a:rPr lang="en-US" altLang="en-US" sz="1800" b="1" dirty="0" err="1">
                <a:solidFill>
                  <a:schemeClr val="tx1"/>
                </a:solidFill>
                <a:latin typeface="Courier New" pitchFamily="49" charset="0"/>
                <a:cs typeface="Courier New" pitchFamily="49" charset="0"/>
              </a:rPr>
              <a:t>matrix.length</a:t>
            </a:r>
            <a:r>
              <a:rPr lang="en-US" altLang="en-US" sz="1800" b="1" dirty="0">
                <a:solidFill>
                  <a:schemeClr val="tx1"/>
                </a:solidFill>
                <a:latin typeface="Courier New" pitchFamily="49" charset="0"/>
                <a:cs typeface="Courier New" pitchFamily="49" charset="0"/>
              </a:rPr>
              <a:t>; row++){</a:t>
            </a:r>
          </a:p>
          <a:p>
            <a:pPr marL="457200" indent="-457200">
              <a:lnSpc>
                <a:spcPct val="90000"/>
              </a:lnSpc>
              <a:buNone/>
            </a:pPr>
            <a:r>
              <a:rPr lang="en-US" altLang="en-US" sz="1800" b="1" dirty="0">
                <a:solidFill>
                  <a:schemeClr val="tx1"/>
                </a:solidFill>
                <a:latin typeface="Courier New" pitchFamily="49" charset="0"/>
                <a:cs typeface="Courier New" pitchFamily="49" charset="0"/>
              </a:rPr>
              <a:t>  	for(</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column = 0; column&lt;matrix[row].length; column++){</a:t>
            </a:r>
          </a:p>
          <a:p>
            <a:pPr marL="457200" indent="-457200">
              <a:lnSpc>
                <a:spcPct val="90000"/>
              </a:lnSpc>
              <a:buNone/>
            </a:pPr>
            <a:r>
              <a:rPr lang="en-US" altLang="en-US" sz="1800" b="1" dirty="0">
                <a:solidFill>
                  <a:schemeClr val="tx1"/>
                </a:solidFill>
                <a:latin typeface="Courier New" pitchFamily="49" charset="0"/>
                <a:cs typeface="Courier New" pitchFamily="49" charset="0"/>
              </a:rPr>
              <a:t>   	 </a:t>
            </a:r>
            <a:r>
              <a:rPr lang="en-US" altLang="en-US" sz="1800" b="1" dirty="0" err="1">
                <a:solidFill>
                  <a:schemeClr val="tx1"/>
                </a:solidFill>
                <a:latin typeface="Courier New" pitchFamily="49" charset="0"/>
                <a:cs typeface="Courier New" pitchFamily="49" charset="0"/>
              </a:rPr>
              <a:t>System.out.print</a:t>
            </a:r>
            <a:r>
              <a:rPr lang="en-US" altLang="en-US" sz="1800" b="1" dirty="0">
                <a:solidFill>
                  <a:schemeClr val="tx1"/>
                </a:solidFill>
                <a:latin typeface="Courier New" pitchFamily="49" charset="0"/>
                <a:cs typeface="Courier New" pitchFamily="49" charset="0"/>
              </a:rPr>
              <a:t>(matrix[row][column] + " ");</a:t>
            </a:r>
          </a:p>
          <a:p>
            <a:pPr marL="457200" indent="-457200">
              <a:lnSpc>
                <a:spcPct val="90000"/>
              </a:lnSpc>
              <a:buNone/>
            </a:pPr>
            <a:r>
              <a:rPr lang="en-US" altLang="en-US" sz="1800" b="1" dirty="0">
                <a:solidFill>
                  <a:schemeClr val="tx1"/>
                </a:solidFill>
                <a:latin typeface="Courier New" pitchFamily="49" charset="0"/>
                <a:cs typeface="Courier New" pitchFamily="49" charset="0"/>
              </a:rPr>
              <a:t>	}</a:t>
            </a:r>
          </a:p>
          <a:p>
            <a:pPr marL="457200" indent="-457200">
              <a:lnSpc>
                <a:spcPct val="90000"/>
              </a:lnSpc>
              <a:buNone/>
            </a:pPr>
            <a:r>
              <a:rPr lang="en-US" altLang="en-US" sz="1800" b="1" dirty="0">
                <a:solidFill>
                  <a:schemeClr val="tx1"/>
                </a:solidFill>
                <a:latin typeface="Courier New" pitchFamily="49" charset="0"/>
                <a:cs typeface="Courier New" pitchFamily="49" charset="0"/>
              </a:rPr>
              <a:t>  	// new line after each row</a:t>
            </a:r>
          </a:p>
          <a:p>
            <a:pPr marL="457200" indent="-457200">
              <a:lnSpc>
                <a:spcPct val="90000"/>
              </a:lnSpc>
              <a:buNone/>
            </a:pPr>
            <a:r>
              <a:rPr lang="en-US" altLang="en-US" sz="1800" b="1" dirty="0">
                <a:solidFill>
                  <a:schemeClr val="tx1"/>
                </a:solidFill>
                <a:latin typeface="Courier New" pitchFamily="49" charset="0"/>
                <a:cs typeface="Courier New" pitchFamily="49" charset="0"/>
              </a:rPr>
              <a:t>  	</a:t>
            </a:r>
            <a:r>
              <a:rPr lang="en-US" altLang="en-US" sz="1800" b="1" dirty="0" err="1">
                <a:solidFill>
                  <a:schemeClr val="tx1"/>
                </a:solidFill>
                <a:latin typeface="Courier New" pitchFamily="49" charset="0"/>
                <a:cs typeface="Courier New" pitchFamily="49" charset="0"/>
              </a:rPr>
              <a:t>System.out.println</a:t>
            </a:r>
            <a:r>
              <a:rPr lang="en-US" altLang="en-US" sz="1800" b="1" dirty="0">
                <a:solidFill>
                  <a:schemeClr val="tx1"/>
                </a:solidFill>
                <a:latin typeface="Courier New" pitchFamily="49" charset="0"/>
                <a:cs typeface="Courier New" pitchFamily="49" charset="0"/>
              </a:rPr>
              <a:t>();</a:t>
            </a:r>
          </a:p>
          <a:p>
            <a:pPr marL="457200" indent="-457200">
              <a:lnSpc>
                <a:spcPct val="90000"/>
              </a:lnSpc>
              <a:buNone/>
            </a:pPr>
            <a:r>
              <a:rPr lang="en-US" altLang="en-US" sz="1800" b="1" dirty="0">
                <a:solidFill>
                  <a:schemeClr val="tx1"/>
                </a:solidFill>
                <a:latin typeface="Courier New" pitchFamily="49" charset="0"/>
                <a:cs typeface="Courier New" pitchFamily="49" charset="0"/>
              </a:rPr>
              <a:t>} </a:t>
            </a:r>
          </a:p>
        </p:txBody>
      </p:sp>
    </p:spTree>
    <p:extLst>
      <p:ext uri="{BB962C8B-B14F-4D97-AF65-F5344CB8AC3E}">
        <p14:creationId xmlns:p14="http://schemas.microsoft.com/office/powerpoint/2010/main" val="68952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Summing all elements</a:t>
            </a:r>
            <a:endParaRPr lang="en-US" b="1" dirty="0"/>
          </a:p>
        </p:txBody>
      </p:sp>
      <p:sp>
        <p:nvSpPr>
          <p:cNvPr id="3" name="Rectangle 2"/>
          <p:cNvSpPr/>
          <p:nvPr/>
        </p:nvSpPr>
        <p:spPr>
          <a:xfrm>
            <a:off x="481475" y="1159423"/>
            <a:ext cx="8023254" cy="1837426"/>
          </a:xfrm>
          <a:prstGeom prst="rect">
            <a:avLst/>
          </a:prstGeom>
        </p:spPr>
        <p:txBody>
          <a:bodyPr wrap="square">
            <a:spAutoFit/>
          </a:bodyPr>
          <a:lstStyle/>
          <a:p>
            <a:pPr marL="457200" indent="-457200">
              <a:lnSpc>
                <a:spcPct val="90000"/>
              </a:lnSpc>
              <a:buNone/>
            </a:pPr>
            <a:r>
              <a:rPr lang="en-US" altLang="en-US" sz="1800" b="1" dirty="0" err="1">
                <a:latin typeface="Courier New" pitchFamily="49" charset="0"/>
                <a:cs typeface="Courier New" pitchFamily="49" charset="0"/>
              </a:rPr>
              <a:t>int</a:t>
            </a:r>
            <a:r>
              <a:rPr lang="en-US" altLang="en-US" sz="1800" b="1" dirty="0">
                <a:latin typeface="Courier New" pitchFamily="49" charset="0"/>
                <a:cs typeface="Courier New" pitchFamily="49" charset="0"/>
              </a:rPr>
              <a:t> total = 0;</a:t>
            </a:r>
          </a:p>
          <a:p>
            <a:pPr marL="457200" indent="-457200">
              <a:lnSpc>
                <a:spcPct val="90000"/>
              </a:lnSpc>
              <a:buNone/>
            </a:pPr>
            <a:r>
              <a:rPr lang="en-US" altLang="en-US" sz="1800" b="1" dirty="0">
                <a:latin typeface="Courier New" pitchFamily="49" charset="0"/>
                <a:cs typeface="Courier New" pitchFamily="49" charset="0"/>
              </a:rPr>
              <a:t>for(</a:t>
            </a:r>
            <a:r>
              <a:rPr lang="en-US" altLang="en-US" sz="1800" b="1" dirty="0" err="1">
                <a:latin typeface="Courier New" pitchFamily="49" charset="0"/>
                <a:cs typeface="Courier New" pitchFamily="49" charset="0"/>
              </a:rPr>
              <a:t>int</a:t>
            </a:r>
            <a:r>
              <a:rPr lang="en-US" altLang="en-US" sz="1800" b="1" dirty="0">
                <a:latin typeface="Courier New" pitchFamily="49" charset="0"/>
                <a:cs typeface="Courier New" pitchFamily="49" charset="0"/>
              </a:rPr>
              <a:t> row = 0; row&lt;</a:t>
            </a:r>
            <a:r>
              <a:rPr lang="en-US" altLang="en-US" sz="1800" b="1" dirty="0" err="1">
                <a:latin typeface="Courier New" pitchFamily="49" charset="0"/>
                <a:cs typeface="Courier New" pitchFamily="49" charset="0"/>
              </a:rPr>
              <a:t>matrix.length</a:t>
            </a:r>
            <a:r>
              <a:rPr lang="en-US" altLang="en-US" sz="1800" b="1" dirty="0">
                <a:latin typeface="Courier New" pitchFamily="49" charset="0"/>
                <a:cs typeface="Courier New" pitchFamily="49" charset="0"/>
              </a:rPr>
              <a:t>; row++){</a:t>
            </a:r>
          </a:p>
          <a:p>
            <a:pPr marL="457200" indent="-457200">
              <a:lnSpc>
                <a:spcPct val="90000"/>
              </a:lnSpc>
              <a:buNone/>
            </a:pPr>
            <a:r>
              <a:rPr lang="en-US" altLang="en-US" sz="1800" b="1" dirty="0">
                <a:latin typeface="Courier New" pitchFamily="49" charset="0"/>
                <a:cs typeface="Courier New" pitchFamily="49" charset="0"/>
              </a:rPr>
              <a:t>  	for(</a:t>
            </a:r>
            <a:r>
              <a:rPr lang="en-US" altLang="en-US" sz="1800" b="1" dirty="0" err="1">
                <a:latin typeface="Courier New" pitchFamily="49" charset="0"/>
                <a:cs typeface="Courier New" pitchFamily="49" charset="0"/>
              </a:rPr>
              <a:t>int</a:t>
            </a:r>
            <a:r>
              <a:rPr lang="en-US" altLang="en-US" sz="1800" b="1" dirty="0">
                <a:latin typeface="Courier New" pitchFamily="49" charset="0"/>
                <a:cs typeface="Courier New" pitchFamily="49" charset="0"/>
              </a:rPr>
              <a:t> column = 0; </a:t>
            </a:r>
          </a:p>
          <a:p>
            <a:pPr marL="457200" indent="-457200">
              <a:lnSpc>
                <a:spcPct val="90000"/>
              </a:lnSpc>
              <a:buNone/>
            </a:pPr>
            <a:r>
              <a:rPr lang="en-US" altLang="en-US" sz="1800" b="1" dirty="0">
                <a:latin typeface="Courier New" pitchFamily="49" charset="0"/>
                <a:cs typeface="Courier New" pitchFamily="49" charset="0"/>
              </a:rPr>
              <a:t>		column &lt; matrix[row].length; column++){</a:t>
            </a:r>
          </a:p>
          <a:p>
            <a:pPr marL="457200" indent="-457200">
              <a:lnSpc>
                <a:spcPct val="90000"/>
              </a:lnSpc>
              <a:buNone/>
            </a:pPr>
            <a:r>
              <a:rPr lang="en-US" altLang="en-US" sz="1800" b="1" dirty="0">
                <a:latin typeface="Courier New" pitchFamily="49" charset="0"/>
                <a:cs typeface="Courier New" pitchFamily="49" charset="0"/>
              </a:rPr>
              <a:t>       total += matrix[row][column];</a:t>
            </a:r>
          </a:p>
          <a:p>
            <a:pPr marL="457200" indent="-457200">
              <a:lnSpc>
                <a:spcPct val="90000"/>
              </a:lnSpc>
              <a:buNone/>
            </a:pPr>
            <a:r>
              <a:rPr lang="en-US" altLang="en-US" sz="1800" b="1" dirty="0">
                <a:latin typeface="Courier New" pitchFamily="49" charset="0"/>
                <a:cs typeface="Courier New" pitchFamily="49" charset="0"/>
              </a:rPr>
              <a:t>  	}</a:t>
            </a:r>
          </a:p>
          <a:p>
            <a:pPr marL="457200" indent="-457200">
              <a:lnSpc>
                <a:spcPct val="90000"/>
              </a:lnSpc>
              <a:buNone/>
            </a:pPr>
            <a:r>
              <a:rPr lang="en-US" altLang="en-US" sz="1800" b="1" dirty="0">
                <a:latin typeface="Courier New" pitchFamily="49" charset="0"/>
                <a:cs typeface="Courier New" pitchFamily="49" charset="0"/>
              </a:rPr>
              <a:t>}</a:t>
            </a:r>
          </a:p>
        </p:txBody>
      </p:sp>
    </p:spTree>
    <p:extLst>
      <p:ext uri="{BB962C8B-B14F-4D97-AF65-F5344CB8AC3E}">
        <p14:creationId xmlns:p14="http://schemas.microsoft.com/office/powerpoint/2010/main" val="3038756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Summing elements by columns</a:t>
            </a:r>
            <a:endParaRPr lang="en-US" b="1" dirty="0"/>
          </a:p>
        </p:txBody>
      </p:sp>
      <p:sp>
        <p:nvSpPr>
          <p:cNvPr id="4" name="Rectangle 3"/>
          <p:cNvSpPr/>
          <p:nvPr/>
        </p:nvSpPr>
        <p:spPr>
          <a:xfrm>
            <a:off x="627132" y="1159733"/>
            <a:ext cx="7812861" cy="2086725"/>
          </a:xfrm>
          <a:prstGeom prst="rect">
            <a:avLst/>
          </a:prstGeom>
        </p:spPr>
        <p:txBody>
          <a:bodyPr wrap="square">
            <a:spAutoFit/>
          </a:bodyPr>
          <a:lstStyle/>
          <a:p>
            <a:pPr marL="457200" indent="-457200">
              <a:lnSpc>
                <a:spcPct val="90000"/>
              </a:lnSpc>
              <a:buNone/>
            </a:pPr>
            <a:r>
              <a:rPr lang="en-US" altLang="en-US" sz="1800" b="1" dirty="0">
                <a:latin typeface="Courier New" pitchFamily="49" charset="0"/>
                <a:cs typeface="Courier New" pitchFamily="49" charset="0"/>
              </a:rPr>
              <a:t>for(</a:t>
            </a:r>
            <a:r>
              <a:rPr lang="en-US" altLang="en-US" sz="1800" b="1" dirty="0" err="1">
                <a:latin typeface="Courier New" pitchFamily="49" charset="0"/>
                <a:cs typeface="Courier New" pitchFamily="49" charset="0"/>
              </a:rPr>
              <a:t>int</a:t>
            </a:r>
            <a:r>
              <a:rPr lang="en-US" altLang="en-US" sz="1800" b="1" dirty="0">
                <a:latin typeface="Courier New" pitchFamily="49" charset="0"/>
                <a:cs typeface="Courier New" pitchFamily="49" charset="0"/>
              </a:rPr>
              <a:t> column = 0; </a:t>
            </a:r>
          </a:p>
          <a:p>
            <a:pPr marL="457200" indent="-457200">
              <a:lnSpc>
                <a:spcPct val="90000"/>
              </a:lnSpc>
              <a:buNone/>
            </a:pPr>
            <a:r>
              <a:rPr lang="en-US" altLang="en-US" sz="1800" b="1" dirty="0">
                <a:latin typeface="Courier New" pitchFamily="49" charset="0"/>
                <a:cs typeface="Courier New" pitchFamily="49" charset="0"/>
              </a:rPr>
              <a:t>		column &lt; matrix[0].length; column++){</a:t>
            </a:r>
          </a:p>
          <a:p>
            <a:pPr marL="457200" indent="-457200">
              <a:lnSpc>
                <a:spcPct val="90000"/>
              </a:lnSpc>
              <a:buNone/>
            </a:pPr>
            <a:r>
              <a:rPr lang="en-US" altLang="en-US" sz="1800" b="1" dirty="0">
                <a:latin typeface="Courier New" pitchFamily="49" charset="0"/>
                <a:cs typeface="Courier New" pitchFamily="49" charset="0"/>
              </a:rPr>
              <a:t>  	</a:t>
            </a:r>
            <a:r>
              <a:rPr lang="en-US" altLang="en-US" sz="1800" b="1" dirty="0" err="1">
                <a:latin typeface="Courier New" pitchFamily="49" charset="0"/>
                <a:cs typeface="Courier New" pitchFamily="49" charset="0"/>
              </a:rPr>
              <a:t>int</a:t>
            </a:r>
            <a:r>
              <a:rPr lang="en-US" altLang="en-US" sz="1800" b="1" dirty="0">
                <a:latin typeface="Courier New" pitchFamily="49" charset="0"/>
                <a:cs typeface="Courier New" pitchFamily="49" charset="0"/>
              </a:rPr>
              <a:t> total = 0;</a:t>
            </a:r>
          </a:p>
          <a:p>
            <a:pPr marL="457200" indent="-457200">
              <a:lnSpc>
                <a:spcPct val="90000"/>
              </a:lnSpc>
              <a:buNone/>
            </a:pPr>
            <a:r>
              <a:rPr lang="en-US" altLang="en-US" sz="1800" b="1" dirty="0">
                <a:latin typeface="Courier New" pitchFamily="49" charset="0"/>
                <a:cs typeface="Courier New" pitchFamily="49" charset="0"/>
              </a:rPr>
              <a:t>  	for(</a:t>
            </a:r>
            <a:r>
              <a:rPr lang="en-US" altLang="en-US" sz="1800" b="1" dirty="0" err="1">
                <a:latin typeface="Courier New" pitchFamily="49" charset="0"/>
                <a:cs typeface="Courier New" pitchFamily="49" charset="0"/>
              </a:rPr>
              <a:t>int</a:t>
            </a:r>
            <a:r>
              <a:rPr lang="en-US" altLang="en-US" sz="1800" b="1" dirty="0">
                <a:latin typeface="Courier New" pitchFamily="49" charset="0"/>
                <a:cs typeface="Courier New" pitchFamily="49" charset="0"/>
              </a:rPr>
              <a:t> row=0; row&lt;</a:t>
            </a:r>
            <a:r>
              <a:rPr lang="en-US" altLang="en-US" sz="1800" b="1" dirty="0" err="1">
                <a:latin typeface="Courier New" pitchFamily="49" charset="0"/>
                <a:cs typeface="Courier New" pitchFamily="49" charset="0"/>
              </a:rPr>
              <a:t>matrix.length</a:t>
            </a:r>
            <a:r>
              <a:rPr lang="en-US" altLang="en-US" sz="1800" b="1" dirty="0">
                <a:latin typeface="Courier New" pitchFamily="49" charset="0"/>
                <a:cs typeface="Courier New" pitchFamily="49" charset="0"/>
              </a:rPr>
              <a:t>; row++)</a:t>
            </a:r>
          </a:p>
          <a:p>
            <a:pPr marL="457200" indent="-457200">
              <a:lnSpc>
                <a:spcPct val="90000"/>
              </a:lnSpc>
              <a:buNone/>
            </a:pPr>
            <a:r>
              <a:rPr lang="en-US" altLang="en-US" sz="1800" b="1" dirty="0">
                <a:latin typeface="Courier New" pitchFamily="49" charset="0"/>
                <a:cs typeface="Courier New" pitchFamily="49" charset="0"/>
              </a:rPr>
              <a:t>     total += matrix[row][column];</a:t>
            </a:r>
          </a:p>
          <a:p>
            <a:pPr marL="457200" indent="-457200">
              <a:lnSpc>
                <a:spcPct val="90000"/>
              </a:lnSpc>
              <a:buNone/>
            </a:pPr>
            <a:r>
              <a:rPr lang="en-US" altLang="en-US" sz="1800" b="1" dirty="0">
                <a:latin typeface="Courier New" pitchFamily="49" charset="0"/>
                <a:cs typeface="Courier New" pitchFamily="49" charset="0"/>
              </a:rPr>
              <a:t>  	</a:t>
            </a:r>
            <a:r>
              <a:rPr lang="en-US" altLang="en-US" sz="1800" b="1" dirty="0" err="1">
                <a:latin typeface="Courier New" pitchFamily="49" charset="0"/>
                <a:cs typeface="Courier New" pitchFamily="49" charset="0"/>
              </a:rPr>
              <a:t>System.out.println</a:t>
            </a:r>
            <a:r>
              <a:rPr lang="en-US" altLang="en-US" sz="1800" b="1" dirty="0">
                <a:latin typeface="Courier New" pitchFamily="49" charset="0"/>
                <a:cs typeface="Courier New" pitchFamily="49" charset="0"/>
              </a:rPr>
              <a:t>( "Sum for column " + column + " is " + total);</a:t>
            </a:r>
          </a:p>
          <a:p>
            <a:pPr marL="457200" indent="-457200">
              <a:lnSpc>
                <a:spcPct val="90000"/>
              </a:lnSpc>
              <a:buNone/>
            </a:pPr>
            <a:r>
              <a:rPr lang="en-US" altLang="en-US" sz="1800" b="1" dirty="0">
                <a:latin typeface="Courier New" pitchFamily="49" charset="0"/>
                <a:cs typeface="Courier New" pitchFamily="49" charset="0"/>
              </a:rPr>
              <a:t>}</a:t>
            </a:r>
          </a:p>
        </p:txBody>
      </p:sp>
    </p:spTree>
    <p:extLst>
      <p:ext uri="{BB962C8B-B14F-4D97-AF65-F5344CB8AC3E}">
        <p14:creationId xmlns:p14="http://schemas.microsoft.com/office/powerpoint/2010/main" val="27239388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882d3af580b91c18edc160109d075412">
  <xsd:schema xmlns:xsd="http://www.w3.org/2001/XMLSchema" xmlns:xs="http://www.w3.org/2001/XMLSchema" xmlns:p="http://schemas.microsoft.com/office/2006/metadata/properties" xmlns:ns2="dd520bba-7c1e-4c79-bf9d-255d7ed0f3a3" targetNamespace="http://schemas.microsoft.com/office/2006/metadata/properties" ma:root="true" ma:fieldsID="9ef345be7e9f8682d91a8670d26f0520"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E6C4181-5485-4AC8-A653-892635FDF214}"/>
</file>

<file path=customXml/itemProps2.xml><?xml version="1.0" encoding="utf-8"?>
<ds:datastoreItem xmlns:ds="http://schemas.openxmlformats.org/officeDocument/2006/customXml" ds:itemID="{937D9264-F900-432F-A7D3-69D60CFC3E5F}"/>
</file>

<file path=customXml/itemProps3.xml><?xml version="1.0" encoding="utf-8"?>
<ds:datastoreItem xmlns:ds="http://schemas.openxmlformats.org/officeDocument/2006/customXml" ds:itemID="{1663DBB2-B891-44AD-85D6-FD01A0E8412B}"/>
</file>

<file path=docProps/app.xml><?xml version="1.0" encoding="utf-8"?>
<Properties xmlns="http://schemas.openxmlformats.org/officeDocument/2006/extended-properties" xmlns:vt="http://schemas.openxmlformats.org/officeDocument/2006/docPropsVTypes">
  <TotalTime>12461</TotalTime>
  <Words>1092</Words>
  <Application>Microsoft Office PowerPoint</Application>
  <PresentationFormat>On-screen Show (16:9)</PresentationFormat>
  <Paragraphs>135</Paragraphs>
  <Slides>16</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16</vt:i4>
      </vt:variant>
    </vt:vector>
  </HeadingPairs>
  <TitlesOfParts>
    <vt:vector size="24" baseType="lpstr">
      <vt:lpstr>Courier</vt:lpstr>
      <vt:lpstr>Monotype Sorts</vt:lpstr>
      <vt:lpstr>Arial</vt:lpstr>
      <vt:lpstr>Courier New</vt:lpstr>
      <vt:lpstr>Times New Roman</vt:lpstr>
      <vt:lpstr>Simple Light</vt:lpstr>
      <vt:lpstr>Microsoft Word Picture</vt:lpstr>
      <vt:lpstr>Picture</vt:lpstr>
      <vt:lpstr>Multi-dimensional arrays</vt:lpstr>
      <vt:lpstr>Objectives</vt:lpstr>
      <vt:lpstr>Multi-dimensional array: example</vt:lpstr>
      <vt:lpstr>Declare/ Create Two-dimensional Arrays</vt:lpstr>
      <vt:lpstr>Declare/ Create Two-dimensional Arrays: contd..</vt:lpstr>
      <vt:lpstr>Two-dimensional Array lengths: Example1</vt:lpstr>
      <vt:lpstr>Two-dimensional Array lengths: Example2</vt:lpstr>
      <vt:lpstr>Declaring, Creating, and Initializing Using Shorthand:</vt:lpstr>
      <vt:lpstr>Lengths of Two-dimensional Arrays</vt:lpstr>
      <vt:lpstr>Ragged Arrays: Example1</vt:lpstr>
      <vt:lpstr>Ragged Arrays: Example2</vt:lpstr>
      <vt:lpstr>Initializing 2D array with input values</vt:lpstr>
      <vt:lpstr>Initializing 2D array with random values</vt:lpstr>
      <vt:lpstr>Printing 2D array</vt:lpstr>
      <vt:lpstr>Summing all elements</vt:lpstr>
      <vt:lpstr>Summing elements by columns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于 心瑞 Xinrui YU</cp:lastModifiedBy>
  <cp:revision>872</cp:revision>
  <dcterms:modified xsi:type="dcterms:W3CDTF">2025-03-24T08:59:33Z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