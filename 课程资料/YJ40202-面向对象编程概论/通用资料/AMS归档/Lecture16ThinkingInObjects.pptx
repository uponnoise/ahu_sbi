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320" r:id="rId3"/>
    <p:sldId id="302" r:id="rId4"/>
    <p:sldId id="304" r:id="rId5"/>
    <p:sldId id="305" r:id="rId6"/>
    <p:sldId id="306" r:id="rId7"/>
    <p:sldId id="307" r:id="rId8"/>
    <p:sldId id="310" r:id="rId9"/>
    <p:sldId id="309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21" r:id="rId19"/>
    <p:sldId id="319" r:id="rId20"/>
    <p:sldId id="282" r:id="rId21"/>
    <p:sldId id="300" r:id="rId22"/>
    <p:sldId id="301" r:id="rId23"/>
    <p:sldId id="325" r:id="rId24"/>
    <p:sldId id="326" r:id="rId25"/>
    <p:sldId id="327" r:id="rId26"/>
    <p:sldId id="322" r:id="rId27"/>
    <p:sldId id="323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77" autoAdjust="0"/>
  </p:normalViewPr>
  <p:slideViewPr>
    <p:cSldViewPr snapToGrid="0">
      <p:cViewPr varScale="1">
        <p:scale>
          <a:sx n="131" d="100"/>
          <a:sy n="131" d="100"/>
        </p:scale>
        <p:origin x="2658" y="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F34F8855-C621-4438-806B-08A2E2CB3E3D}"/>
    <pc:docChg chg="modSld">
      <pc:chgData name="于 心瑞 Xinrui YU" userId="e6fcc6d4-2b88-4beb-95d7-57ae4d33a768" providerId="ADAL" clId="{F34F8855-C621-4438-806B-08A2E2CB3E3D}" dt="2025-11-21T01:37:20.699" v="2" actId="20577"/>
      <pc:docMkLst>
        <pc:docMk/>
      </pc:docMkLst>
      <pc:sldChg chg="modNotesTx">
        <pc:chgData name="于 心瑞 Xinrui YU" userId="e6fcc6d4-2b88-4beb-95d7-57ae4d33a768" providerId="ADAL" clId="{F34F8855-C621-4438-806B-08A2E2CB3E3D}" dt="2025-11-21T01:37:00.529" v="0" actId="20577"/>
        <pc:sldMkLst>
          <pc:docMk/>
          <pc:sldMk cId="3924468217" sldId="302"/>
        </pc:sldMkLst>
      </pc:sldChg>
      <pc:sldChg chg="modNotesTx">
        <pc:chgData name="于 心瑞 Xinrui YU" userId="e6fcc6d4-2b88-4beb-95d7-57ae4d33a768" providerId="ADAL" clId="{F34F8855-C621-4438-806B-08A2E2CB3E3D}" dt="2025-11-21T01:37:07.466" v="1" actId="20577"/>
        <pc:sldMkLst>
          <pc:docMk/>
          <pc:sldMk cId="1673301509" sldId="305"/>
        </pc:sldMkLst>
      </pc:sldChg>
      <pc:sldChg chg="modNotesTx">
        <pc:chgData name="于 心瑞 Xinrui YU" userId="e6fcc6d4-2b88-4beb-95d7-57ae4d33a768" providerId="ADAL" clId="{F34F8855-C621-4438-806B-08A2E2CB3E3D}" dt="2025-11-21T01:37:20.699" v="2" actId="20577"/>
        <pc:sldMkLst>
          <pc:docMk/>
          <pc:sldMk cId="3963905521" sldId="313"/>
        </pc:sldMkLst>
      </pc:sldChg>
    </pc:docChg>
  </pc:docChgLst>
  <pc:docChgLst>
    <pc:chgData name="于 心瑞 Xinrui YU" userId="e6fcc6d4-2b88-4beb-95d7-57ae4d33a768" providerId="ADAL" clId="{CFFA9A75-F840-4F6F-AF7D-069F806E1180}"/>
    <pc:docChg chg="custSel modSld">
      <pc:chgData name="于 心瑞 Xinrui YU" userId="e6fcc6d4-2b88-4beb-95d7-57ae4d33a768" providerId="ADAL" clId="{CFFA9A75-F840-4F6F-AF7D-069F806E1180}" dt="2025-11-18T09:02:33.017" v="71" actId="20577"/>
      <pc:docMkLst>
        <pc:docMk/>
      </pc:docMkLst>
      <pc:sldChg chg="modNotesTx">
        <pc:chgData name="于 心瑞 Xinrui YU" userId="e6fcc6d4-2b88-4beb-95d7-57ae4d33a768" providerId="ADAL" clId="{CFFA9A75-F840-4F6F-AF7D-069F806E1180}" dt="2025-11-18T07:47:09.837" v="41" actId="20577"/>
        <pc:sldMkLst>
          <pc:docMk/>
          <pc:sldMk cId="2956063080" sldId="306"/>
        </pc:sldMkLst>
      </pc:sldChg>
      <pc:sldChg chg="modNotesTx">
        <pc:chgData name="于 心瑞 Xinrui YU" userId="e6fcc6d4-2b88-4beb-95d7-57ae4d33a768" providerId="ADAL" clId="{CFFA9A75-F840-4F6F-AF7D-069F806E1180}" dt="2025-11-18T09:02:33.017" v="71" actId="20577"/>
        <pc:sldMkLst>
          <pc:docMk/>
          <pc:sldMk cId="2512814089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0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静态方法不能调用实例方法或访问实例数据域。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69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类的抽象与封装</a:t>
            </a:r>
            <a:endParaRPr lang="en-US" altLang="zh-CN" dirty="0"/>
          </a:p>
          <a:p>
            <a:r>
              <a:rPr lang="en-US" altLang="zh-CN" dirty="0"/>
              <a:t>Contract of the class: </a:t>
            </a:r>
            <a:r>
              <a:rPr lang="zh-CN" altLang="en-US" dirty="0"/>
              <a:t>类的合约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0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访问器、读取器</a:t>
            </a:r>
            <a:br>
              <a:rPr lang="en-US" altLang="zh-CN" dirty="0"/>
            </a:br>
            <a:r>
              <a:rPr lang="en-US" altLang="zh-CN" dirty="0"/>
              <a:t>class 02 only covered this page on 11/18</a:t>
            </a:r>
          </a:p>
          <a:p>
            <a:r>
              <a:rPr lang="zh-CN" altLang="en-US" dirty="0"/>
              <a:t>设置器、修改器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101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可见性修饰符</a:t>
            </a:r>
            <a:endParaRPr lang="en-US" altLang="zh-CN" dirty="0"/>
          </a:p>
          <a:p>
            <a:r>
              <a:rPr lang="en-US" dirty="0"/>
              <a:t>Class </a:t>
            </a:r>
            <a:r>
              <a:rPr lang="en-US"/>
              <a:t>01 stopped here 11/18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11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6032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65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Thinking In Objects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Thinking In Objects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575B016B-BF5C-A9D9-CAFF-7CE637C16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variables and methods</a:t>
            </a:r>
          </a:p>
          <a:p>
            <a:r>
              <a:rPr lang="en-US" dirty="0"/>
              <a:t>Instance methods Vs static methods</a:t>
            </a:r>
          </a:p>
          <a:p>
            <a:r>
              <a:rPr lang="en-US" dirty="0"/>
              <a:t>Data field encapsulation</a:t>
            </a:r>
          </a:p>
          <a:p>
            <a:r>
              <a:rPr lang="en-US" dirty="0"/>
              <a:t>Visibility modifiers</a:t>
            </a:r>
          </a:p>
          <a:p>
            <a:r>
              <a:rPr lang="en-US" dirty="0"/>
              <a:t>Immutable class</a:t>
            </a:r>
          </a:p>
          <a:p>
            <a:endParaRPr lang="en-US" dirty="0"/>
          </a:p>
          <a:p>
            <a:r>
              <a:rPr lang="en-US" altLang="zh-CN" dirty="0"/>
              <a:t>Date class</a:t>
            </a:r>
          </a:p>
          <a:p>
            <a:r>
              <a:rPr lang="en-US" altLang="zh-CN" dirty="0"/>
              <a:t>Random class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8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Static Variables, and Methods </a:t>
            </a:r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490121"/>
              </p:ext>
            </p:extLst>
          </p:nvPr>
        </p:nvGraphicFramePr>
        <p:xfrm>
          <a:off x="-1" y="1146622"/>
          <a:ext cx="9136791" cy="313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562720" imgH="1905120" progId="Word.Picture.8">
                  <p:embed/>
                </p:oleObj>
              </mc:Choice>
              <mc:Fallback>
                <p:oleObj name="Picture" r:id="rId3" imgW="5562720" imgH="1905120" progId="Word.Picture.8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" y="1146622"/>
                        <a:ext cx="9136791" cy="313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446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Instance methods Vs Static Methods </a:t>
            </a:r>
            <a:endParaRPr lang="en-US" dirty="0"/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720192" y="1151022"/>
            <a:ext cx="3733800" cy="547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2100" dirty="0">
                <a:solidFill>
                  <a:srgbClr val="000000"/>
                </a:solidFill>
              </a:rPr>
              <a:t>Instance Method</a:t>
            </a:r>
            <a:r>
              <a:rPr lang="en-US" sz="2100" dirty="0"/>
              <a:t>	</a:t>
            </a:r>
          </a:p>
        </p:txBody>
      </p:sp>
      <p:sp>
        <p:nvSpPr>
          <p:cNvPr id="7" name="Text Placeholder 7"/>
          <p:cNvSpPr txBox="1">
            <a:spLocks/>
          </p:cNvSpPr>
          <p:nvPr/>
        </p:nvSpPr>
        <p:spPr>
          <a:xfrm>
            <a:off x="4758792" y="1147457"/>
            <a:ext cx="3733800" cy="51846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100" dirty="0"/>
              <a:t>Static Method</a:t>
            </a:r>
          </a:p>
        </p:txBody>
      </p:sp>
      <p:sp>
        <p:nvSpPr>
          <p:cNvPr id="8" name="Content Placeholder 6"/>
          <p:cNvSpPr txBox="1">
            <a:spLocks/>
          </p:cNvSpPr>
          <p:nvPr/>
        </p:nvSpPr>
        <p:spPr>
          <a:xfrm>
            <a:off x="720192" y="1727096"/>
            <a:ext cx="3733800" cy="31809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 dirty="0"/>
              <a:t>Can invoke </a:t>
            </a:r>
            <a:r>
              <a:rPr lang="en-US" sz="1800" dirty="0"/>
              <a:t>an instance method</a:t>
            </a:r>
          </a:p>
          <a:p>
            <a:r>
              <a:rPr lang="en-US" sz="1800" b="1" dirty="0"/>
              <a:t>Can access </a:t>
            </a:r>
            <a:r>
              <a:rPr lang="en-US" sz="1800" dirty="0"/>
              <a:t>an instance data field</a:t>
            </a:r>
          </a:p>
          <a:p>
            <a:r>
              <a:rPr lang="en-US" sz="1800" b="1" dirty="0"/>
              <a:t>Can invoke </a:t>
            </a:r>
            <a:r>
              <a:rPr lang="en-US" sz="1800" dirty="0"/>
              <a:t>a static method</a:t>
            </a:r>
          </a:p>
          <a:p>
            <a:r>
              <a:rPr lang="en-US" sz="1800" b="1" dirty="0"/>
              <a:t>Can access </a:t>
            </a:r>
            <a:r>
              <a:rPr lang="en-US" sz="1800" dirty="0"/>
              <a:t>static data field </a:t>
            </a:r>
          </a:p>
        </p:txBody>
      </p:sp>
      <p:sp>
        <p:nvSpPr>
          <p:cNvPr id="9" name="Content Placeholder 8"/>
          <p:cNvSpPr txBox="1">
            <a:spLocks/>
          </p:cNvSpPr>
          <p:nvPr/>
        </p:nvSpPr>
        <p:spPr>
          <a:xfrm>
            <a:off x="4758792" y="1727096"/>
            <a:ext cx="3733800" cy="31809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 dirty="0"/>
              <a:t>Can not invoke </a:t>
            </a:r>
            <a:r>
              <a:rPr lang="en-US" sz="1800" dirty="0"/>
              <a:t>an instance method</a:t>
            </a:r>
          </a:p>
          <a:p>
            <a:r>
              <a:rPr lang="en-US" sz="1800" b="1" dirty="0"/>
              <a:t>Can not access </a:t>
            </a:r>
            <a:r>
              <a:rPr lang="en-US" sz="1800" dirty="0"/>
              <a:t>an instance data field</a:t>
            </a:r>
          </a:p>
          <a:p>
            <a:r>
              <a:rPr lang="en-US" sz="1800" b="1" dirty="0"/>
              <a:t>Can invoke </a:t>
            </a:r>
            <a:r>
              <a:rPr lang="en-US" sz="1800" dirty="0"/>
              <a:t>a static method</a:t>
            </a:r>
          </a:p>
          <a:p>
            <a:r>
              <a:rPr lang="en-US" sz="1800" b="1" dirty="0"/>
              <a:t>Can access </a:t>
            </a:r>
            <a:r>
              <a:rPr lang="en-US" sz="1800" dirty="0"/>
              <a:t>a static data field.</a:t>
            </a:r>
          </a:p>
        </p:txBody>
      </p:sp>
    </p:spTree>
    <p:extLst>
      <p:ext uri="{BB962C8B-B14F-4D97-AF65-F5344CB8AC3E}">
        <p14:creationId xmlns:p14="http://schemas.microsoft.com/office/powerpoint/2010/main" val="241033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Class Abstraction and Encapsulation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b="1" dirty="0"/>
              <a:t>Abstraction</a:t>
            </a:r>
            <a:r>
              <a:rPr lang="en-US" altLang="en-US" dirty="0"/>
              <a:t> = separate class implementation from the use of the class.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creator of the class provides a description of the class and let the user know how the class can be used.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user does not need to know how the class is implemented: it is encapsulated and hidden.</a:t>
            </a: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045903"/>
              </p:ext>
            </p:extLst>
          </p:nvPr>
        </p:nvGraphicFramePr>
        <p:xfrm>
          <a:off x="642814" y="2978714"/>
          <a:ext cx="6457950" cy="1110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15712" imgH="914400" progId="Word.Picture.8">
                  <p:embed/>
                </p:oleObj>
              </mc:Choice>
              <mc:Fallback>
                <p:oleObj r:id="rId3" imgW="5315712" imgH="91440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814" y="2978714"/>
                        <a:ext cx="6457950" cy="1110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330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Data Field Encapsulation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data fields private protects data and makes the class easy to maintain.</a:t>
            </a:r>
          </a:p>
          <a:p>
            <a:r>
              <a:rPr lang="en-US" dirty="0"/>
              <a:t>Private data fields cannot be accessed by an object from outside the class that defines the private data fields.</a:t>
            </a:r>
          </a:p>
          <a:p>
            <a:r>
              <a:rPr lang="en-US" dirty="0"/>
              <a:t>To access the private data fields from outside provide a public </a:t>
            </a:r>
            <a:r>
              <a:rPr lang="en-US" b="1" i="1" dirty="0">
                <a:solidFill>
                  <a:schemeClr val="tx1"/>
                </a:solidFill>
              </a:rPr>
              <a:t>getter</a:t>
            </a:r>
            <a:r>
              <a:rPr lang="en-US" dirty="0"/>
              <a:t> method (also called </a:t>
            </a:r>
            <a:r>
              <a:rPr lang="en-US" b="1" i="1" dirty="0" err="1">
                <a:solidFill>
                  <a:schemeClr val="tx1"/>
                </a:solidFill>
              </a:rPr>
              <a:t>accessor</a:t>
            </a:r>
            <a:r>
              <a:rPr lang="en-US" dirty="0"/>
              <a:t>).</a:t>
            </a:r>
          </a:p>
          <a:p>
            <a:r>
              <a:rPr lang="en-US" dirty="0"/>
              <a:t>To enable a private data field to be updated provide a </a:t>
            </a:r>
            <a:r>
              <a:rPr lang="en-US" b="1" i="1" dirty="0">
                <a:solidFill>
                  <a:schemeClr val="tx1"/>
                </a:solidFill>
              </a:rPr>
              <a:t>setter</a:t>
            </a:r>
            <a:r>
              <a:rPr lang="en-US" dirty="0"/>
              <a:t> method (also called a </a:t>
            </a:r>
            <a:r>
              <a:rPr lang="en-US" b="1" i="1" dirty="0" err="1">
                <a:solidFill>
                  <a:schemeClr val="tx1"/>
                </a:solidFill>
              </a:rPr>
              <a:t>mutator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95606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Visibility Modifiers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By default, the class, variable, or method can be accessed by any class in the same package (</a:t>
            </a:r>
            <a:r>
              <a:rPr lang="en-US" altLang="en-US" b="1" i="1" dirty="0"/>
              <a:t>default: package private</a:t>
            </a:r>
            <a:r>
              <a:rPr lang="en-US" altLang="en-US" dirty="0"/>
              <a:t>). </a:t>
            </a:r>
          </a:p>
          <a:p>
            <a:r>
              <a:rPr lang="en-US" altLang="en-US" b="1" i="1" dirty="0"/>
              <a:t>public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Symbol" pitchFamily="18" charset="2"/>
              <a:buNone/>
            </a:pPr>
            <a:r>
              <a:rPr lang="en-US" altLang="en-US" dirty="0"/>
              <a:t>	The class, data, or method is visible to any class in any package.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100000"/>
            </a:pPr>
            <a:r>
              <a:rPr lang="en-US" altLang="en-US" b="1" i="1" dirty="0"/>
              <a:t>private</a:t>
            </a:r>
            <a:r>
              <a:rPr lang="en-US" altLang="en-US" dirty="0"/>
              <a:t>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dirty="0"/>
              <a:t>	The data or methods can be accessed only by the declaring class - To protect data!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800" b="1" i="1" dirty="0"/>
              <a:t>The get and set methods are used to read and modify private properties</a:t>
            </a:r>
            <a:r>
              <a:rPr lang="en-US" altLang="en-US" sz="1800" dirty="0"/>
              <a:t>.	</a:t>
            </a:r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81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Packages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 fontAlgn="base" hangingPunct="0"/>
            <a:r>
              <a:rPr lang="en-US" altLang="en-US" dirty="0"/>
              <a:t>The </a:t>
            </a:r>
            <a:r>
              <a:rPr lang="en-US" altLang="en-US" b="1" i="1" dirty="0"/>
              <a:t>private</a:t>
            </a:r>
            <a:r>
              <a:rPr lang="en-US" altLang="en-US" dirty="0"/>
              <a:t> modifier restricts access to </a:t>
            </a:r>
            <a:r>
              <a:rPr lang="en-US" altLang="en-US" b="1" i="1" dirty="0"/>
              <a:t>within a class </a:t>
            </a:r>
            <a:r>
              <a:rPr lang="en-US" altLang="en-US" dirty="0"/>
              <a:t>	         </a:t>
            </a:r>
          </a:p>
          <a:p>
            <a:pPr eaLnBrk="0" fontAlgn="base" hangingPunct="0"/>
            <a:r>
              <a:rPr lang="en-US" altLang="en-US" dirty="0"/>
              <a:t>The default modifier restricts access to </a:t>
            </a:r>
            <a:r>
              <a:rPr lang="en-US" altLang="en-US" b="1" i="1" dirty="0"/>
              <a:t>within a package (package private)</a:t>
            </a:r>
          </a:p>
          <a:p>
            <a:pPr eaLnBrk="0" fontAlgn="base" hangingPunct="0"/>
            <a:r>
              <a:rPr lang="en-US" altLang="en-US" b="1" dirty="0"/>
              <a:t>public</a:t>
            </a:r>
            <a:r>
              <a:rPr lang="en-US" altLang="en-US" dirty="0"/>
              <a:t> – unrestricted access</a:t>
            </a: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259786"/>
              </p:ext>
            </p:extLst>
          </p:nvPr>
        </p:nvGraphicFramePr>
        <p:xfrm>
          <a:off x="1316352" y="2292952"/>
          <a:ext cx="6625828" cy="23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257800" imgH="1886040" progId="Word.Picture.8">
                  <p:embed/>
                </p:oleObj>
              </mc:Choice>
              <mc:Fallback>
                <p:oleObj name="Picture" r:id="rId2" imgW="5257800" imgH="188604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352" y="2292952"/>
                        <a:ext cx="6625828" cy="2380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948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Packages: Cont..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142695"/>
              </p:ext>
            </p:extLst>
          </p:nvPr>
        </p:nvGraphicFramePr>
        <p:xfrm>
          <a:off x="312738" y="1481138"/>
          <a:ext cx="6621462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286160" imgH="800280" progId="Word.Picture.8">
                  <p:embed/>
                </p:oleObj>
              </mc:Choice>
              <mc:Fallback>
                <p:oleObj name="Picture" r:id="rId2" imgW="4286160" imgH="800280" progId="Word.Picture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8" y="1481138"/>
                        <a:ext cx="6621462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08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UML: Data Field Encapsulation</a:t>
            </a:r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200237"/>
              </p:ext>
            </p:extLst>
          </p:nvPr>
        </p:nvGraphicFramePr>
        <p:xfrm>
          <a:off x="315477" y="1161472"/>
          <a:ext cx="6699647" cy="2378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878324" imgH="1731264" progId="Word.Picture.8">
                  <p:embed/>
                </p:oleObj>
              </mc:Choice>
              <mc:Fallback>
                <p:oleObj name="Picture" r:id="rId2" imgW="4878324" imgH="1731264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77" y="1161472"/>
                        <a:ext cx="6699647" cy="2378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160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Array of Objects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dirty="0">
                <a:latin typeface="Courier New" pitchFamily="49" charset="0"/>
                <a:cs typeface="Times New Roman" pitchFamily="18" charset="0"/>
              </a:rPr>
              <a:t> Circle[] </a:t>
            </a:r>
            <a:r>
              <a:rPr lang="en-US" altLang="en-US" b="1" dirty="0" err="1">
                <a:latin typeface="Courier New" pitchFamily="49" charset="0"/>
                <a:cs typeface="Times New Roman" pitchFamily="18" charset="0"/>
              </a:rPr>
              <a:t>circleArray</a:t>
            </a:r>
            <a:r>
              <a:rPr lang="en-US" altLang="en-US" b="1" dirty="0">
                <a:latin typeface="Courier New" pitchFamily="49" charset="0"/>
                <a:cs typeface="Times New Roman" pitchFamily="18" charset="0"/>
              </a:rPr>
              <a:t> = new Circle[10];</a:t>
            </a:r>
            <a:r>
              <a:rPr lang="en-US" altLang="en-US" b="1" dirty="0"/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1200" b="1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cs typeface="Times New Roman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itchFamily="18" charset="0"/>
              </a:rPr>
              <a:t>An array of objects is an </a:t>
            </a:r>
            <a:r>
              <a:rPr lang="en-US" altLang="en-US" i="1" dirty="0">
                <a:solidFill>
                  <a:schemeClr val="tx1"/>
                </a:solidFill>
                <a:cs typeface="Times New Roman" pitchFamily="18" charset="0"/>
              </a:rPr>
              <a:t>array of reference variables </a:t>
            </a:r>
            <a:r>
              <a:rPr lang="en-US" altLang="en-US" dirty="0">
                <a:solidFill>
                  <a:schemeClr val="tx1"/>
                </a:solidFill>
                <a:cs typeface="Times New Roman" pitchFamily="18" charset="0"/>
              </a:rPr>
              <a:t>(like the multi-dimensional arrays seen before)</a:t>
            </a:r>
            <a:endParaRPr lang="en-US" altLang="en-US" i="1" dirty="0">
              <a:solidFill>
                <a:schemeClr val="tx1"/>
              </a:solidFill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206822"/>
              </p:ext>
            </p:extLst>
          </p:nvPr>
        </p:nvGraphicFramePr>
        <p:xfrm>
          <a:off x="628505" y="2269549"/>
          <a:ext cx="6629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44112" imgH="1086612" progId="Word.Picture.8">
                  <p:embed/>
                </p:oleObj>
              </mc:Choice>
              <mc:Fallback>
                <p:oleObj r:id="rId2" imgW="3944112" imgH="1086612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05" y="2269549"/>
                        <a:ext cx="6629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530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Immutable Objects and Classes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686643" cy="3416400"/>
          </a:xfrm>
        </p:spPr>
        <p:txBody>
          <a:bodyPr>
            <a:normAutofit/>
          </a:bodyPr>
          <a:lstStyle/>
          <a:p>
            <a:r>
              <a:rPr lang="en-US" altLang="en-US" dirty="0"/>
              <a:t>Immutable object: the contents of an object cannot be changed once the object is created - its class is called an immutable class.</a:t>
            </a:r>
          </a:p>
          <a:p>
            <a:r>
              <a:rPr lang="en-US" altLang="en-US" dirty="0"/>
              <a:t>Example immutable class: no set method in the Circle class.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7154" y="2302968"/>
            <a:ext cx="64694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5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public class Circle{</a:t>
            </a:r>
          </a:p>
          <a:p>
            <a:pPr lvl="6"/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private double radius;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  public Circle() { }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  public Circle(double r) {    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	radius = r; 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  public double </a:t>
            </a:r>
            <a:r>
              <a:rPr lang="en-US" altLang="en-US" sz="1500" b="1" dirty="0" err="1">
                <a:latin typeface="Courier New" pitchFamily="49" charset="0"/>
                <a:cs typeface="Courier New" pitchFamily="49" charset="0"/>
              </a:rPr>
              <a:t>getRadius</a:t>
            </a:r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() {   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	return radius; </a:t>
            </a:r>
          </a:p>
          <a:p>
            <a:pPr lvl="6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lvl="5"/>
            <a:r>
              <a:rPr lang="en-US" altLang="en-US" sz="15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8061" y="3058653"/>
            <a:ext cx="27151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en-US" dirty="0"/>
              <a:t>radius is private and cannot be changed without a set method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43481" y="4308322"/>
            <a:ext cx="5729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i="1" dirty="0">
                <a:solidFill>
                  <a:schemeClr val="tx1"/>
                </a:solidFill>
              </a:rPr>
              <a:t>A class with all private data fields and without </a:t>
            </a:r>
            <a:r>
              <a:rPr lang="en-US" altLang="en-US" sz="1800" b="1" i="1" dirty="0" err="1">
                <a:solidFill>
                  <a:schemeClr val="tx1"/>
                </a:solidFill>
              </a:rPr>
              <a:t>mutators</a:t>
            </a:r>
            <a:r>
              <a:rPr lang="en-US" altLang="en-US" sz="1800" b="1" i="1" dirty="0">
                <a:solidFill>
                  <a:schemeClr val="tx1"/>
                </a:solidFill>
              </a:rPr>
              <a:t> is not necessarily immutable!</a:t>
            </a:r>
          </a:p>
        </p:txBody>
      </p:sp>
    </p:spTree>
    <p:extLst>
      <p:ext uri="{BB962C8B-B14F-4D97-AF65-F5344CB8AC3E}">
        <p14:creationId xmlns:p14="http://schemas.microsoft.com/office/powerpoint/2010/main" val="396390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What Class is Immutable?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5763" indent="-385763">
              <a:buFont typeface="Franklin Gothic Book" pitchFamily="34" charset="0"/>
              <a:buAutoNum type="arabicPeriod"/>
            </a:pPr>
            <a:r>
              <a:rPr lang="en-US" altLang="en-US" dirty="0">
                <a:cs typeface="Courier New" pitchFamily="49" charset="0"/>
              </a:rPr>
              <a:t>It must mark all data fields private! </a:t>
            </a:r>
          </a:p>
          <a:p>
            <a:pPr marL="385763" indent="-385763">
              <a:buFont typeface="Franklin Gothic Book" pitchFamily="34" charset="0"/>
              <a:buAutoNum type="arabicPeriod"/>
            </a:pPr>
            <a:r>
              <a:rPr lang="en-US" altLang="en-US" dirty="0">
                <a:cs typeface="Courier New" pitchFamily="49" charset="0"/>
              </a:rPr>
              <a:t>Provide no </a:t>
            </a:r>
            <a:r>
              <a:rPr lang="en-US" altLang="en-US" dirty="0" err="1">
                <a:cs typeface="Courier New" pitchFamily="49" charset="0"/>
              </a:rPr>
              <a:t>mutator</a:t>
            </a:r>
            <a:r>
              <a:rPr lang="en-US" altLang="en-US" dirty="0">
                <a:cs typeface="Courier New" pitchFamily="49" charset="0"/>
              </a:rPr>
              <a:t> methods!</a:t>
            </a:r>
          </a:p>
          <a:p>
            <a:pPr marL="385763" indent="-385763">
              <a:buFont typeface="Franklin Gothic Book" pitchFamily="34" charset="0"/>
              <a:buAutoNum type="arabicPeriod"/>
            </a:pPr>
            <a:r>
              <a:rPr lang="en-US" altLang="en-US" b="1" i="1" dirty="0">
                <a:solidFill>
                  <a:schemeClr val="tx1"/>
                </a:solidFill>
                <a:cs typeface="Courier New" pitchFamily="49" charset="0"/>
              </a:rPr>
              <a:t>Provide no </a:t>
            </a:r>
            <a:r>
              <a:rPr lang="en-US" altLang="en-US" b="1" i="1" dirty="0" err="1">
                <a:solidFill>
                  <a:schemeClr val="tx1"/>
                </a:solidFill>
                <a:cs typeface="Courier New" pitchFamily="49" charset="0"/>
              </a:rPr>
              <a:t>accessor</a:t>
            </a:r>
            <a:r>
              <a:rPr lang="en-US" altLang="en-US" b="1" i="1" dirty="0">
                <a:solidFill>
                  <a:schemeClr val="tx1"/>
                </a:solidFill>
                <a:cs typeface="Courier New" pitchFamily="49" charset="0"/>
              </a:rPr>
              <a:t> methods that would return a reference to a mutable data field object!</a:t>
            </a:r>
            <a:br>
              <a:rPr lang="en-US" altLang="en-US" b="1" i="1" dirty="0">
                <a:solidFill>
                  <a:schemeClr val="tx1"/>
                </a:solidFill>
                <a:cs typeface="Courier New" pitchFamily="49" charset="0"/>
              </a:rPr>
            </a:br>
            <a:endParaRPr lang="en-US" altLang="en-US" b="1" i="1" dirty="0">
              <a:solidFill>
                <a:schemeClr val="tx1"/>
              </a:solidFill>
              <a:cs typeface="Courier New" pitchFamily="49" charset="0"/>
            </a:endParaRPr>
          </a:p>
          <a:p>
            <a:pPr marL="385763" indent="-385763">
              <a:buFont typeface="Franklin Gothic Book" pitchFamily="34" charset="0"/>
              <a:buAutoNum type="arabicPeriod"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5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2917022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Example: </a:t>
            </a:r>
            <a:br>
              <a:rPr lang="en-US" b="1" dirty="0">
                <a:cs typeface="Times New Roman" pitchFamily="16" charset="0"/>
              </a:rPr>
            </a:br>
            <a:r>
              <a:rPr lang="en-US" b="1" dirty="0">
                <a:cs typeface="Times New Roman" pitchFamily="16" charset="0"/>
              </a:rPr>
              <a:t>mutable</a:t>
            </a:r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026016" y="514350"/>
            <a:ext cx="3722033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public class Student {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private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id;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private 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public Student(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ssn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year, 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	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month,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day) {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id =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ssn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	new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(year, month, day);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public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getId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() {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return id;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b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public 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Courier New" pitchFamily="49" charset="0"/>
              </a:rPr>
              <a:t>getBirthDate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() {</a:t>
            </a:r>
            <a:b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    return 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br>
              <a:rPr lang="en-US" altLang="en-US" sz="1050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37754" y="114300"/>
            <a:ext cx="3371850" cy="3086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public class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{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private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year;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private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month;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private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day;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public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newYear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 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newMonth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newDay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year =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newYear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month =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newMonth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day =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newDay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public void </a:t>
            </a:r>
            <a:r>
              <a:rPr lang="en-US" altLang="en-US" sz="1125" b="1" kern="1200" dirty="0" err="1">
                <a:latin typeface="Courier New" pitchFamily="49" charset="0"/>
                <a:ea typeface="+mn-ea"/>
                <a:cs typeface="Courier New" pitchFamily="49" charset="0"/>
              </a:rPr>
              <a:t>setYear</a:t>
            </a: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lang="en-US" altLang="en-US" sz="1125" b="1" kern="1200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125" b="1" kern="1200" dirty="0" err="1">
                <a:latin typeface="Courier New" pitchFamily="49" charset="0"/>
                <a:ea typeface="+mn-ea"/>
                <a:cs typeface="Courier New" pitchFamily="49" charset="0"/>
              </a:rPr>
              <a:t>newYear</a:t>
            </a: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  <a:b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    year = </a:t>
            </a:r>
            <a:r>
              <a:rPr lang="en-US" altLang="en-US" sz="1125" b="1" kern="1200" dirty="0" err="1">
                <a:latin typeface="Courier New" pitchFamily="49" charset="0"/>
                <a:ea typeface="+mn-ea"/>
                <a:cs typeface="Courier New" pitchFamily="49" charset="0"/>
              </a:rPr>
              <a:t>newYear</a:t>
            </a: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public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getYear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() {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return year;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b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653748" y="3314700"/>
            <a:ext cx="6227256" cy="16946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9056" tIns="34529" rIns="69056" bIns="34529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public class Test {</a:t>
            </a:r>
            <a:b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public static void main(String[] </a:t>
            </a:r>
            <a:r>
              <a:rPr lang="en-US" altLang="en-US" sz="12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args</a:t>
            </a: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  <a:b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Student </a:t>
            </a:r>
            <a:r>
              <a:rPr lang="en-US" altLang="en-US" sz="12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student</a:t>
            </a: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= new Student(111223333, 1998, 1, 1);</a:t>
            </a:r>
            <a:b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en-US" sz="12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BirthDate</a:t>
            </a: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date = </a:t>
            </a:r>
            <a:r>
              <a:rPr lang="en-US" altLang="en-US" sz="1200" b="1" kern="1200" dirty="0" err="1">
                <a:latin typeface="Courier New" pitchFamily="49" charset="0"/>
                <a:ea typeface="+mn-ea"/>
                <a:cs typeface="Courier New" pitchFamily="49" charset="0"/>
              </a:rPr>
              <a:t>student.getBirthDate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  <a:b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en-US" sz="1200" b="1" kern="1200" dirty="0" err="1">
                <a:latin typeface="Courier New" pitchFamily="49" charset="0"/>
                <a:ea typeface="+mn-ea"/>
                <a:cs typeface="Courier New" pitchFamily="49" charset="0"/>
              </a:rPr>
              <a:t>date.setYear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(2050);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// Now the student birth year is changed: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en-US" sz="1200" b="1" kern="1200" dirty="0" err="1">
                <a:latin typeface="Courier New" pitchFamily="49" charset="0"/>
                <a:ea typeface="+mn-ea"/>
                <a:cs typeface="Courier New" pitchFamily="49" charset="0"/>
              </a:rPr>
              <a:t>System.out.println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lang="en-US" altLang="en-US" sz="1200" b="1" kern="1200" dirty="0" err="1">
                <a:latin typeface="Courier New" pitchFamily="49" charset="0"/>
                <a:ea typeface="+mn-ea"/>
                <a:cs typeface="Courier New" pitchFamily="49" charset="0"/>
              </a:rPr>
              <a:t>student.getBirthDate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().</a:t>
            </a:r>
            <a:r>
              <a:rPr lang="en-US" altLang="en-US" sz="1200" b="1" kern="1200" dirty="0" err="1">
                <a:latin typeface="Courier New" pitchFamily="49" charset="0"/>
                <a:ea typeface="+mn-ea"/>
                <a:cs typeface="Courier New" pitchFamily="49" charset="0"/>
              </a:rPr>
              <a:t>getYear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r>
              <a:rPr lang="en-US" altLang="en-US" sz="120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en-US" altLang="en-US" sz="1200" b="1" kern="1200" dirty="0">
                <a:latin typeface="Courier New" pitchFamily="49" charset="0"/>
                <a:ea typeface="+mn-ea"/>
                <a:cs typeface="Courier New" pitchFamily="49" charset="0"/>
              </a:rPr>
              <a:t>// 2050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b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lang="en-US" altLang="en-US" sz="12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1966365" y="342900"/>
            <a:ext cx="3714243" cy="2857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Scope of Variables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Data Field Variables </a:t>
            </a:r>
            <a:r>
              <a:rPr lang="en-US" altLang="en-US" dirty="0"/>
              <a:t>can be declared anywhere inside a class.</a:t>
            </a:r>
          </a:p>
          <a:p>
            <a:pPr lvl="1"/>
            <a:r>
              <a:rPr lang="en-US" altLang="en-US" sz="1800" b="1" dirty="0">
                <a:solidFill>
                  <a:schemeClr val="tx1"/>
                </a:solidFill>
              </a:rPr>
              <a:t>The scope of instance and static variables is the entire class!</a:t>
            </a:r>
          </a:p>
          <a:p>
            <a:pPr lvl="1"/>
            <a:r>
              <a:rPr lang="en-US" altLang="en-US" sz="1800" b="1" dirty="0">
                <a:solidFill>
                  <a:schemeClr val="tx1"/>
                </a:solidFill>
              </a:rPr>
              <a:t>Initialized with default values.</a:t>
            </a:r>
          </a:p>
          <a:p>
            <a:pPr marL="0" indent="0">
              <a:buNone/>
            </a:pPr>
            <a:r>
              <a:rPr lang="en-US" altLang="en-US" dirty="0"/>
              <a:t>VS.</a:t>
            </a:r>
          </a:p>
          <a:p>
            <a:r>
              <a:rPr lang="en-US" altLang="en-US" dirty="0"/>
              <a:t>The scope of a </a:t>
            </a:r>
            <a:r>
              <a:rPr lang="en-US" altLang="en-US" b="1" dirty="0">
                <a:solidFill>
                  <a:schemeClr val="tx1"/>
                </a:solidFill>
              </a:rPr>
              <a:t>local variable </a:t>
            </a:r>
            <a:r>
              <a:rPr lang="en-US" altLang="en-US" b="1" u="sng" dirty="0">
                <a:solidFill>
                  <a:schemeClr val="tx1"/>
                </a:solidFill>
              </a:rPr>
              <a:t>starts from its declaration </a:t>
            </a:r>
            <a:r>
              <a:rPr lang="en-US" altLang="en-US" dirty="0"/>
              <a:t>and continues to the end of the block that contains the variable</a:t>
            </a:r>
          </a:p>
          <a:p>
            <a:pPr lvl="1"/>
            <a:r>
              <a:rPr lang="en-US" altLang="en-US" sz="1800" b="1" dirty="0">
                <a:solidFill>
                  <a:schemeClr val="tx1"/>
                </a:solidFill>
              </a:rPr>
              <a:t>A local variable must be initialized explicitly before it can be used.</a:t>
            </a:r>
          </a:p>
        </p:txBody>
      </p:sp>
    </p:spTree>
    <p:extLst>
      <p:ext uri="{BB962C8B-B14F-4D97-AF65-F5344CB8AC3E}">
        <p14:creationId xmlns:p14="http://schemas.microsoft.com/office/powerpoint/2010/main" val="178965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The this keyword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1900" dirty="0"/>
              <a:t>The </a:t>
            </a:r>
            <a:r>
              <a:rPr lang="en-US" altLang="en-US" sz="1900" b="1" u="sng" dirty="0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altLang="en-US" sz="1900" dirty="0"/>
              <a:t> keyword is the name of a reference that refers to an object itself.</a:t>
            </a:r>
          </a:p>
          <a:p>
            <a:r>
              <a:rPr lang="en-US" altLang="en-US" sz="1900" dirty="0"/>
              <a:t>Common uses of the </a:t>
            </a:r>
            <a:r>
              <a:rPr lang="en-US" altLang="en-US" sz="1900" b="1" u="sng" dirty="0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altLang="en-US" sz="1900" dirty="0"/>
              <a:t> keyword:</a:t>
            </a:r>
          </a:p>
          <a:p>
            <a:pPr marL="582216" lvl="1" indent="-342900">
              <a:buFont typeface="Franklin Gothic Book" pitchFamily="34" charset="0"/>
              <a:buAutoNum type="arabicPeriod"/>
            </a:pPr>
            <a:r>
              <a:rPr lang="en-US" altLang="en-US" sz="1900" dirty="0"/>
              <a:t>Reference a class’s “</a:t>
            </a:r>
            <a:r>
              <a:rPr lang="en-US" altLang="en-US" sz="1900" i="1" dirty="0"/>
              <a:t>hidden”  data fields. </a:t>
            </a:r>
            <a:endParaRPr lang="en-US" altLang="en-US" sz="1900" dirty="0"/>
          </a:p>
          <a:p>
            <a:pPr marL="582216" lvl="1" indent="-342900">
              <a:buFont typeface="Franklin Gothic Book" pitchFamily="34" charset="0"/>
              <a:buAutoNum type="arabicPeriod"/>
            </a:pPr>
            <a:r>
              <a:rPr lang="en-US" altLang="en-US" sz="1900" dirty="0"/>
              <a:t>To enable a constructor to invoke another constructor of the same class as the first statement in the constructor.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5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Reference the Hidden Data Fields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570598"/>
              </p:ext>
            </p:extLst>
          </p:nvPr>
        </p:nvGraphicFramePr>
        <p:xfrm>
          <a:off x="323612" y="1156319"/>
          <a:ext cx="8572956" cy="2768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14160" imgH="1634400" progId="Word.Picture.8">
                  <p:embed/>
                </p:oleObj>
              </mc:Choice>
              <mc:Fallback>
                <p:oleObj name="Picture" r:id="rId2" imgW="5114160" imgH="163440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12" y="1156319"/>
                        <a:ext cx="8572956" cy="2768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 descr="class Circle {&#10;/** The radius of this circle */&#10;double radius = 1.0; &#10;&#10;/** Construct a circle object */&#10;public Circle() {&#10;}&#10;&#10;/** Construct a circle object */&#10;public Circle(double newRadius) {&#10;radius = newRadius;&#10;}&#10;&#10;/** Return the area of this circle */&#10;public double getArea() {&#10;return radius * radius * 3.14159;&#10;}&#10;}&#10;&#10;an arrow pointing from data field to double radius= 1.0;&#10;&#10;an arrow pointing from constructors to both the statements that are constructing a circle object&#10;&#10;an arrow pointing from method to the public double getArea() line in the code">
            <a:extLst>
              <a:ext uri="{FF2B5EF4-FFF2-40B4-BE49-F238E27FC236}">
                <a16:creationId xmlns:a16="http://schemas.microsoft.com/office/drawing/2014/main" id="{CE5C3228-99A6-C90F-3495-8F236B797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125606"/>
              </p:ext>
            </p:extLst>
          </p:nvPr>
        </p:nvGraphicFramePr>
        <p:xfrm>
          <a:off x="3886568" y="1177102"/>
          <a:ext cx="5286600" cy="341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543480" imgH="2286000" progId="Word.Picture.8">
                  <p:embed/>
                </p:oleObj>
              </mc:Choice>
              <mc:Fallback>
                <p:oleObj name="Picture" r:id="rId4" imgW="3543480" imgH="2286000" progId="Word.Picture.8">
                  <p:embed/>
                  <p:pic>
                    <p:nvPicPr>
                      <p:cNvPr id="5" name="Object 2" descr="class Circle {&#10;/** The radius of this circle */&#10;double radius = 1.0; &#10;&#10;/** Construct a circle object */&#10;public Circle() {&#10;}&#10;&#10;/** Construct a circle object */&#10;public Circle(double newRadius) {&#10;radius = newRadius;&#10;}&#10;&#10;/** Return the area of this circle */&#10;public double getArea() {&#10;return radius * radius * 3.14159;&#10;}&#10;}&#10;&#10;an arrow pointing from data field to double radius= 1.0;&#10;&#10;an arrow pointing from constructors to both the statements that are constructing a circle object&#10;&#10;an arrow pointing from method to the public double getArea() line in the code">
                        <a:extLst>
                          <a:ext uri="{FF2B5EF4-FFF2-40B4-BE49-F238E27FC236}">
                            <a16:creationId xmlns:a16="http://schemas.microsoft.com/office/drawing/2014/main" id="{CE5C3228-99A6-C90F-3495-8F236B7974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568" y="1177102"/>
                        <a:ext cx="5286600" cy="341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5E661A-7999-A581-FF43-ED38FECFE9F6}"/>
              </a:ext>
            </a:extLst>
          </p:cNvPr>
          <p:cNvSpPr txBox="1"/>
          <p:nvPr/>
        </p:nvSpPr>
        <p:spPr>
          <a:xfrm>
            <a:off x="401806" y="3784429"/>
            <a:ext cx="36662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Local variable </a:t>
            </a:r>
            <a:r>
              <a:rPr lang="en-US" dirty="0"/>
              <a:t>has the </a:t>
            </a:r>
            <a:r>
              <a:rPr lang="en-US" b="1" dirty="0"/>
              <a:t>same name</a:t>
            </a:r>
            <a:r>
              <a:rPr lang="en-US" dirty="0"/>
              <a:t> as the </a:t>
            </a:r>
            <a:r>
              <a:rPr lang="en-US" b="1" dirty="0"/>
              <a:t>class variable</a:t>
            </a:r>
            <a:r>
              <a:rPr lang="en-US" dirty="0"/>
              <a:t>.</a:t>
            </a:r>
          </a:p>
          <a:p>
            <a:r>
              <a:rPr lang="en-US" dirty="0"/>
              <a:t>When this happens, the </a:t>
            </a:r>
            <a:r>
              <a:rPr lang="en-US" b="1" dirty="0"/>
              <a:t>local variable name hides (shadows)</a:t>
            </a:r>
            <a:r>
              <a:rPr lang="en-US" dirty="0"/>
              <a:t> the variable inside the method. </a:t>
            </a:r>
          </a:p>
        </p:txBody>
      </p:sp>
    </p:spTree>
    <p:extLst>
      <p:ext uri="{BB962C8B-B14F-4D97-AF65-F5344CB8AC3E}">
        <p14:creationId xmlns:p14="http://schemas.microsoft.com/office/powerpoint/2010/main" val="145079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Reference the Hidden Data Fields</a:t>
            </a:r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722715"/>
              </p:ext>
            </p:extLst>
          </p:nvPr>
        </p:nvGraphicFramePr>
        <p:xfrm>
          <a:off x="323612" y="1156319"/>
          <a:ext cx="8572956" cy="2768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14160" imgH="1634400" progId="Word.Picture.8">
                  <p:embed/>
                </p:oleObj>
              </mc:Choice>
              <mc:Fallback>
                <p:oleObj name="Picture" r:id="rId2" imgW="5114160" imgH="163440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12" y="1156319"/>
                        <a:ext cx="8572956" cy="2768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838E505-2F5E-A509-664E-A5C6E1D3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3" y="3891766"/>
            <a:ext cx="7696338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Java programmers (especially in OOP-heavy codebases)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explicit and consistent.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your parameter names to match the field names (less mental load).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makes refactoring and autocomplete easier in IDEs like IntelliJ or Eclipse.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24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Calling Overloaded Constructor</a:t>
            </a:r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31048"/>
              </p:ext>
            </p:extLst>
          </p:nvPr>
        </p:nvGraphicFramePr>
        <p:xfrm>
          <a:off x="1812615" y="1155465"/>
          <a:ext cx="6184813" cy="362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398400" imgH="1990080" progId="Word.Picture.8">
                  <p:embed/>
                </p:oleObj>
              </mc:Choice>
              <mc:Fallback>
                <p:oleObj name="Picture" r:id="rId2" imgW="3398400" imgH="199008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615" y="1155465"/>
                        <a:ext cx="6184813" cy="362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7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The Date Class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altLang="en-US" dirty="0">
                <a:cs typeface="Times New Roman" pitchFamily="18" charset="0"/>
              </a:rPr>
              <a:t>Java provides a system-independent encapsulation of date and time in the </a:t>
            </a:r>
            <a:r>
              <a:rPr lang="en-US" altLang="en-US" b="1" u="sng" dirty="0" err="1">
                <a:solidFill>
                  <a:schemeClr val="tx1"/>
                </a:solidFill>
                <a:cs typeface="Times New Roman" pitchFamily="18" charset="0"/>
              </a:rPr>
              <a:t>java.util.Date</a:t>
            </a:r>
            <a:r>
              <a:rPr lang="en-US" altLang="en-US" dirty="0">
                <a:cs typeface="Times New Roman" pitchFamily="18" charset="0"/>
              </a:rPr>
              <a:t> class. </a:t>
            </a:r>
          </a:p>
          <a:p>
            <a:pPr marL="0"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altLang="en-US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b="1" u="sng" dirty="0" err="1">
                <a:solidFill>
                  <a:schemeClr val="tx1"/>
                </a:solidFill>
                <a:cs typeface="Times New Roman" pitchFamily="18" charset="0"/>
              </a:rPr>
              <a:t>toString</a:t>
            </a:r>
            <a:r>
              <a:rPr lang="en-US" altLang="en-US" dirty="0">
                <a:cs typeface="Times New Roman" pitchFamily="18" charset="0"/>
              </a:rPr>
              <a:t> method returns the date and time as a string.</a:t>
            </a:r>
            <a:endParaRPr lang="en-US" altLang="en-US" dirty="0">
              <a:latin typeface="Courier New" pitchFamily="49" charset="0"/>
              <a:cs typeface="Times New Roman" pitchFamily="18" charset="0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115160"/>
              </p:ext>
            </p:extLst>
          </p:nvPr>
        </p:nvGraphicFramePr>
        <p:xfrm>
          <a:off x="494008" y="2277168"/>
          <a:ext cx="6788944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945320" imgH="1350000" progId="Word.Picture.8">
                  <p:embed/>
                </p:oleObj>
              </mc:Choice>
              <mc:Fallback>
                <p:oleObj name="Picture" r:id="rId2" imgW="4945320" imgH="135000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08" y="2277168"/>
                        <a:ext cx="6788944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11700" y="4211084"/>
            <a:ext cx="8035811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979488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25" b="1" kern="1200" dirty="0" err="1">
                <a:latin typeface="Courier New" pitchFamily="49" charset="0"/>
                <a:ea typeface="+mn-ea"/>
                <a:cs typeface="Times New Roman" pitchFamily="18" charset="0"/>
              </a:rPr>
              <a:t>java.util.Date</a:t>
            </a:r>
            <a:r>
              <a:rPr lang="en-US" altLang="en-US" sz="2025" b="1" kern="1200" dirty="0">
                <a:latin typeface="Courier New" pitchFamily="49" charset="0"/>
                <a:ea typeface="+mn-ea"/>
                <a:cs typeface="Times New Roman" pitchFamily="18" charset="0"/>
              </a:rPr>
              <a:t> date = new </a:t>
            </a:r>
            <a:r>
              <a:rPr lang="en-US" altLang="en-US" sz="2025" b="1" kern="1200" dirty="0" err="1">
                <a:latin typeface="Courier New" pitchFamily="49" charset="0"/>
                <a:ea typeface="+mn-ea"/>
                <a:cs typeface="Times New Roman" pitchFamily="18" charset="0"/>
              </a:rPr>
              <a:t>java.util.Date</a:t>
            </a:r>
            <a:r>
              <a:rPr lang="en-US" altLang="en-US" sz="2025" b="1" kern="1200" dirty="0">
                <a:latin typeface="Courier New" pitchFamily="49" charset="0"/>
                <a:ea typeface="+mn-ea"/>
                <a:cs typeface="Times New Roman" pitchFamily="18" charset="0"/>
              </a:rPr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25" b="1" kern="1200" dirty="0" err="1">
                <a:latin typeface="Courier New" pitchFamily="49" charset="0"/>
                <a:ea typeface="+mn-ea"/>
                <a:cs typeface="Times New Roman" pitchFamily="18" charset="0"/>
              </a:rPr>
              <a:t>System.out.println</a:t>
            </a:r>
            <a:r>
              <a:rPr lang="en-US" altLang="en-US" sz="2025" b="1" kern="1200" dirty="0">
                <a:latin typeface="Courier New" pitchFamily="49" charset="0"/>
                <a:ea typeface="+mn-ea"/>
                <a:cs typeface="Times New Roman" pitchFamily="18" charset="0"/>
              </a:rPr>
              <a:t>(</a:t>
            </a:r>
            <a:r>
              <a:rPr lang="en-US" altLang="en-US" sz="2025" b="1" kern="1200" dirty="0" err="1">
                <a:latin typeface="Courier New" pitchFamily="49" charset="0"/>
                <a:ea typeface="+mn-ea"/>
                <a:cs typeface="Times New Roman" pitchFamily="18" charset="0"/>
              </a:rPr>
              <a:t>date.toString</a:t>
            </a:r>
            <a:r>
              <a:rPr lang="en-US" altLang="en-US" sz="2025" b="1" kern="1200" dirty="0">
                <a:latin typeface="Courier New" pitchFamily="49" charset="0"/>
                <a:ea typeface="+mn-ea"/>
                <a:cs typeface="Times New Roman" pitchFamily="18" charset="0"/>
              </a:rPr>
              <a:t>());</a:t>
            </a:r>
            <a:endParaRPr lang="en-US" altLang="en-US" sz="2025" b="1" kern="1200" dirty="0"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49969" y="3845501"/>
            <a:ext cx="23711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200" kern="1200" dirty="0">
                <a:solidFill>
                  <a:prstClr val="black"/>
                </a:solidFill>
                <a:latin typeface="Times New Roman" pitchFamily="18" charset="0"/>
                <a:ea typeface="+mn-ea"/>
                <a:cs typeface="+mn-cs"/>
              </a:rPr>
              <a:t>January 1, 1970, GMT is called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200" kern="1200" dirty="0">
                <a:solidFill>
                  <a:prstClr val="black"/>
                </a:solidFill>
                <a:latin typeface="Times New Roman" pitchFamily="18" charset="0"/>
                <a:ea typeface="+mn-ea"/>
                <a:cs typeface="+mn-cs"/>
              </a:rPr>
              <a:t>the Unix time (or Unix epoch time)</a:t>
            </a:r>
          </a:p>
        </p:txBody>
      </p:sp>
    </p:spTree>
    <p:extLst>
      <p:ext uri="{BB962C8B-B14F-4D97-AF65-F5344CB8AC3E}">
        <p14:creationId xmlns:p14="http://schemas.microsoft.com/office/powerpoint/2010/main" val="399724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The Random Class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altLang="en-US" u="sng" dirty="0" err="1"/>
              <a:t>java.util.Random</a:t>
            </a:r>
            <a:endParaRPr lang="en-US" altLang="en-US" dirty="0"/>
          </a:p>
          <a:p>
            <a:pPr marL="0" indent="0">
              <a:lnSpc>
                <a:spcPct val="90000"/>
              </a:lnSpc>
              <a:buNone/>
              <a:tabLst>
                <a:tab pos="0" algn="l"/>
              </a:tabLst>
            </a:pPr>
            <a:endParaRPr lang="en-US" altLang="en-US" dirty="0">
              <a:latin typeface="Courier New" pitchFamily="49" charset="0"/>
              <a:cs typeface="Times New Roman" pitchFamily="18" charset="0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190800"/>
              </p:ext>
            </p:extLst>
          </p:nvPr>
        </p:nvGraphicFramePr>
        <p:xfrm>
          <a:off x="307028" y="1579334"/>
          <a:ext cx="6423422" cy="2520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006596" imgH="1571244" progId="Word.Picture.8">
                  <p:embed/>
                </p:oleObj>
              </mc:Choice>
              <mc:Fallback>
                <p:oleObj name="Picture" r:id="rId2" imgW="4006596" imgH="1571244" progId="Word.Picture.8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8" y="1579334"/>
                        <a:ext cx="6423422" cy="2520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50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The Random Class: Example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16369" y="1152504"/>
            <a:ext cx="7431368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Random random1 = new Random(3);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for (</a:t>
            </a:r>
            <a:r>
              <a:rPr lang="en-US" altLang="en-US" sz="1800" b="1" kern="1200" dirty="0" err="1">
                <a:latin typeface="Courier New" pitchFamily="49" charset="0"/>
                <a:ea typeface="+mn-ea"/>
                <a:cs typeface="+mn-cs"/>
              </a:rPr>
              <a:t>int</a:t>
            </a: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en-US" altLang="en-US" sz="1800" b="1" kern="12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 = 0; </a:t>
            </a:r>
            <a:r>
              <a:rPr lang="en-US" altLang="en-US" sz="1800" b="1" kern="12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 &lt; 10; </a:t>
            </a:r>
            <a:r>
              <a:rPr lang="en-US" altLang="en-US" sz="1800" b="1" kern="1200" dirty="0" err="1">
                <a:latin typeface="Courier New" pitchFamily="49" charset="0"/>
                <a:ea typeface="+mn-ea"/>
                <a:cs typeface="+mn-cs"/>
              </a:rPr>
              <a:t>i</a:t>
            </a: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++)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altLang="en-US" sz="1800" b="1" kern="1200" dirty="0" err="1">
                <a:latin typeface="Courier New" pitchFamily="49" charset="0"/>
                <a:ea typeface="+mn-ea"/>
                <a:cs typeface="+mn-cs"/>
              </a:rPr>
              <a:t>System.out.print</a:t>
            </a:r>
            <a:r>
              <a:rPr lang="en-US" altLang="en-US" sz="1800" b="1" kern="1200" dirty="0">
                <a:latin typeface="Courier New" pitchFamily="49" charset="0"/>
                <a:ea typeface="+mn-ea"/>
                <a:cs typeface="+mn-cs"/>
              </a:rPr>
              <a:t>(random1.nextInt(1000) + " ");</a:t>
            </a:r>
            <a:endParaRPr lang="en-US" altLang="en-US" sz="1800" b="1" kern="1200" dirty="0"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25443" y="2246894"/>
            <a:ext cx="4415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kern="1200" dirty="0">
                <a:solidFill>
                  <a:prstClr val="black"/>
                </a:solidFill>
                <a:ea typeface="+mn-ea"/>
                <a:cs typeface="+mn-cs"/>
              </a:rPr>
              <a:t>734 660 210 581 128 202 549 564 459 961 </a:t>
            </a:r>
          </a:p>
        </p:txBody>
      </p:sp>
    </p:spTree>
    <p:extLst>
      <p:ext uri="{BB962C8B-B14F-4D97-AF65-F5344CB8AC3E}">
        <p14:creationId xmlns:p14="http://schemas.microsoft.com/office/powerpoint/2010/main" val="9771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ECECC-C787-2C9F-82C1-4944060DE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0"/>
            <a:ext cx="3999900" cy="5143500"/>
          </a:xfrm>
        </p:spPr>
        <p:txBody>
          <a:bodyPr>
            <a:norm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CircleExample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</a:t>
            </a:r>
            <a:r>
              <a:rPr lang="en-US" sz="12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5.0;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"Area of circle is: 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buNone/>
            </a:pPr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F9A96-9831-52FC-AADB-4EB6F6AFF3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0"/>
            <a:ext cx="3999900" cy="5143500"/>
          </a:xfrm>
        </p:spPr>
        <p:txBody>
          <a:bodyPr>
            <a:no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Circle(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</a:t>
            </a:r>
            <a:r>
              <a:rPr lang="en-US" sz="12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 </a:t>
            </a:r>
            <a:r>
              <a:rPr lang="en-US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Circle(5.0);</a:t>
            </a:r>
          </a:p>
          <a:p>
            <a:pPr marL="0" marR="0">
              <a:buNone/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2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"Area of circle is: 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.getArea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BA050B-2259-AFAA-FC3A-374055F21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55" y="4517297"/>
            <a:ext cx="41232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dirty="0"/>
              <a:t>Procedural: radius and area are just loose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A52DE-3C3C-C7B8-CAE8-9A55D804602F}"/>
              </a:ext>
            </a:extLst>
          </p:cNvPr>
          <p:cNvSpPr txBox="1"/>
          <p:nvPr/>
        </p:nvSpPr>
        <p:spPr>
          <a:xfrm>
            <a:off x="4832400" y="451729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OO: Circle becomes a </a:t>
            </a:r>
            <a:r>
              <a:rPr lang="en-US" sz="1400" b="1" dirty="0"/>
              <a:t>real-world object</a:t>
            </a:r>
            <a:r>
              <a:rPr lang="en-US" sz="1400" dirty="0"/>
              <a:t>, encapsulating its data and behavior.</a:t>
            </a:r>
          </a:p>
        </p:txBody>
      </p:sp>
    </p:spTree>
    <p:extLst>
      <p:ext uri="{BB962C8B-B14F-4D97-AF65-F5344CB8AC3E}">
        <p14:creationId xmlns:p14="http://schemas.microsoft.com/office/powerpoint/2010/main" val="2501689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D195-79AC-AE47-64ED-E438FE41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A1147-25FC-7706-F9BE-5B67472E5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0"/>
            <a:ext cx="3999900" cy="5143500"/>
          </a:xfrm>
        </p:spPr>
        <p:txBody>
          <a:bodyPr>
            <a:norm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StudentExample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printStudent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1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1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1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"Grade: 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1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20;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88.5;</a:t>
            </a:r>
          </a:p>
          <a:p>
            <a:pPr marL="0" marR="0">
              <a:buNone/>
            </a:pPr>
            <a:r>
              <a:rPr lang="en-US" sz="110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printStudent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23D2-189D-AEC5-6C3D-A2AA0E43B7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0"/>
            <a:ext cx="3999900" cy="5143500"/>
          </a:xfrm>
        </p:spPr>
        <p:txBody>
          <a:bodyPr>
            <a:no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Student(String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1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1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1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"Grade: 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endParaRPr lang="en-US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1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 </a:t>
            </a:r>
            <a:r>
              <a:rPr lang="en-US" sz="11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Student(</a:t>
            </a:r>
            <a:r>
              <a:rPr lang="en-US" sz="11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20, 88.5);</a:t>
            </a:r>
          </a:p>
          <a:p>
            <a:pPr marL="0" marR="0">
              <a:buNone/>
            </a:pPr>
            <a:r>
              <a:rPr lang="en-US" sz="11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.printInfo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9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44D571-C123-B5D0-A5CA-5DA8800A1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55" y="4517297"/>
            <a:ext cx="425308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dirty="0"/>
              <a:t>Procedural: all the data is passed around manually</a:t>
            </a:r>
            <a:r>
              <a:rPr lang="en-US" sz="1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95C69-96EB-CFA7-4803-DEEAC6F08438}"/>
              </a:ext>
            </a:extLst>
          </p:cNvPr>
          <p:cNvSpPr txBox="1"/>
          <p:nvPr/>
        </p:nvSpPr>
        <p:spPr>
          <a:xfrm>
            <a:off x="4832400" y="4517297"/>
            <a:ext cx="4094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OO: the </a:t>
            </a:r>
            <a:r>
              <a:rPr lang="en-US" b="1" dirty="0"/>
              <a:t>Student object owns its data</a:t>
            </a:r>
            <a:r>
              <a:rPr lang="en-US" dirty="0"/>
              <a:t> and knows how to print it.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1051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7CC4-EAC4-1BA2-A73D-DE9E9BBC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92382-E9F4-710F-D45D-631FA9DB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0"/>
            <a:ext cx="3999900" cy="5143500"/>
          </a:xfrm>
        </p:spPr>
        <p:txBody>
          <a:bodyPr>
            <a:normAutofit fontScale="70000" lnSpcReduction="20000"/>
          </a:bodyPr>
          <a:lstStyle/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BankExample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deposit(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withdraw(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1000;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500);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200);</a:t>
            </a:r>
          </a:p>
          <a:p>
            <a:pPr marL="0" marR="0"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"Final Balance: $"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4EF05-F200-A610-5BD9-BA74B80325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0"/>
            <a:ext cx="3999900" cy="5143500"/>
          </a:xfrm>
        </p:spPr>
        <p:txBody>
          <a:bodyPr>
            <a:noAutofit/>
          </a:bodyPr>
          <a:lstStyle/>
          <a:p>
            <a:pPr marL="0" marR="0">
              <a:buNone/>
            </a:pP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endParaRPr lang="en-US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initialBalance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initialBalance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endParaRPr lang="en-US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deposit(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0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withdraw(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sz="10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endParaRPr lang="en-US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>
              <a:buNone/>
            </a:pP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sz="105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"Final Balance: $"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10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(1000);</a:t>
            </a:r>
          </a:p>
          <a:p>
            <a:pPr marL="0" marR="0">
              <a:buNone/>
            </a:pPr>
            <a:r>
              <a:rPr lang="en-US" sz="10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.deposit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(500);</a:t>
            </a:r>
          </a:p>
          <a:p>
            <a:pPr marL="0" marR="0">
              <a:buNone/>
            </a:pPr>
            <a:r>
              <a:rPr lang="en-US" sz="10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.withdraw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(200);</a:t>
            </a:r>
          </a:p>
          <a:p>
            <a:pPr marL="0" marR="0">
              <a:buNone/>
            </a:pPr>
            <a:r>
              <a:rPr lang="en-US" sz="10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US" sz="10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.printBalance</a:t>
            </a: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08555F-3C93-90C0-8589-91A999928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18" y="4804299"/>
            <a:ext cx="872706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dirty="0"/>
              <a:t>OO makes the behavior more </a:t>
            </a:r>
            <a:r>
              <a:rPr lang="en-US" b="1" dirty="0"/>
              <a:t>natural</a:t>
            </a:r>
            <a:r>
              <a:rPr lang="en-US" dirty="0"/>
              <a:t>: </a:t>
            </a:r>
            <a:r>
              <a:rPr lang="en-US" i="1" dirty="0"/>
              <a:t>"Ask the object to do something"</a:t>
            </a:r>
            <a:r>
              <a:rPr lang="en-US" dirty="0"/>
              <a:t> instead of </a:t>
            </a:r>
            <a:r>
              <a:rPr lang="en-US" i="1" dirty="0"/>
              <a:t>"Pass data to a function."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25425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5BF9-11FC-B849-7345-262449F3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8138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OOP vs Procedural (C)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603E6A-8EA6-7F93-89EC-A3000DBE3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102281"/>
              </p:ext>
            </p:extLst>
          </p:nvPr>
        </p:nvGraphicFramePr>
        <p:xfrm>
          <a:off x="311700" y="820958"/>
          <a:ext cx="8520600" cy="424611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295842">
                  <a:extLst>
                    <a:ext uri="{9D8B030D-6E8A-4147-A177-3AD203B41FA5}">
                      <a16:colId xmlns:a16="http://schemas.microsoft.com/office/drawing/2014/main" val="3788375593"/>
                    </a:ext>
                  </a:extLst>
                </a:gridCol>
                <a:gridCol w="5224758">
                  <a:extLst>
                    <a:ext uri="{9D8B030D-6E8A-4147-A177-3AD203B41FA5}">
                      <a16:colId xmlns:a16="http://schemas.microsoft.com/office/drawing/2014/main" val="3931528119"/>
                    </a:ext>
                  </a:extLst>
                </a:gridCol>
              </a:tblGrid>
              <a:tr h="210338">
                <a:tc>
                  <a:txBody>
                    <a:bodyPr/>
                    <a:lstStyle/>
                    <a:p>
                      <a:r>
                        <a:rPr lang="en-US" sz="1000" b="1" dirty="0"/>
                        <a:t>Advantage</a:t>
                      </a:r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Explanation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1722416221"/>
                  </a:ext>
                </a:extLst>
              </a:tr>
              <a:tr h="637960">
                <a:tc>
                  <a:txBody>
                    <a:bodyPr/>
                    <a:lstStyle/>
                    <a:p>
                      <a:r>
                        <a:rPr lang="en-US" sz="1000" b="1" dirty="0"/>
                        <a:t>1. Better Data Organization</a:t>
                      </a:r>
                      <a:endParaRPr lang="en-US" sz="1000" dirty="0"/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 OOP, you </a:t>
                      </a:r>
                      <a:r>
                        <a:rPr lang="en-US" sz="1000" b="1" dirty="0"/>
                        <a:t>group related data together</a:t>
                      </a:r>
                      <a:r>
                        <a:rPr lang="en-US" sz="1000" dirty="0"/>
                        <a:t> (e.g., borrower name, amount, years, rate all belong to one Loan object). </a:t>
                      </a:r>
                    </a:p>
                    <a:p>
                      <a:r>
                        <a:rPr lang="en-US" sz="1000" dirty="0"/>
                        <a:t>In procedural style, you're stuck managing </a:t>
                      </a:r>
                      <a:r>
                        <a:rPr lang="en-US" sz="1000" b="1" dirty="0"/>
                        <a:t>parallel arrays</a:t>
                      </a:r>
                      <a:r>
                        <a:rPr lang="en-US" sz="1000" dirty="0"/>
                        <a:t>, which is harder to track and more error-prone.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907656944"/>
                  </a:ext>
                </a:extLst>
              </a:tr>
              <a:tr h="591233">
                <a:tc>
                  <a:txBody>
                    <a:bodyPr/>
                    <a:lstStyle/>
                    <a:p>
                      <a:r>
                        <a:rPr lang="en-US" sz="1000" b="1"/>
                        <a:t>2. Encapsulation</a:t>
                      </a:r>
                      <a:endParaRPr lang="en-US" sz="1000"/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logic for monthly and total payments is </a:t>
                      </a:r>
                      <a:r>
                        <a:rPr lang="en-US" sz="1000" b="1" dirty="0"/>
                        <a:t>bundled inside the Loan class</a:t>
                      </a:r>
                      <a:r>
                        <a:rPr lang="en-US" sz="1000" dirty="0"/>
                        <a:t>, so users of the class don’t need to understand or repeat the formula everywhere. </a:t>
                      </a:r>
                    </a:p>
                    <a:p>
                      <a:r>
                        <a:rPr lang="en-US" sz="1000" dirty="0"/>
                        <a:t>In procedural style, you need to pass variables around and duplicate logic.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2589558280"/>
                  </a:ext>
                </a:extLst>
              </a:tr>
              <a:tr h="591233">
                <a:tc>
                  <a:txBody>
                    <a:bodyPr/>
                    <a:lstStyle/>
                    <a:p>
                      <a:r>
                        <a:rPr lang="fr-FR" sz="1000" b="1"/>
                        <a:t>3. Code Reuse and Maintenance</a:t>
                      </a:r>
                      <a:endParaRPr lang="fr-FR" sz="1000"/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Once a class is defined, you can create many objects without rewriting logic. If the interest formula changes, update it in </a:t>
                      </a:r>
                      <a:r>
                        <a:rPr lang="en-US" sz="1000" b="1" dirty="0"/>
                        <a:t>one place</a:t>
                      </a:r>
                      <a:r>
                        <a:rPr lang="en-US" sz="1000" dirty="0"/>
                        <a:t> (inside the class). </a:t>
                      </a:r>
                    </a:p>
                    <a:p>
                      <a:r>
                        <a:rPr lang="en-US" sz="1000" dirty="0"/>
                        <a:t>In procedural, you may update every function or spot using it.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3886017789"/>
                  </a:ext>
                </a:extLst>
              </a:tr>
              <a:tr h="591233">
                <a:tc>
                  <a:txBody>
                    <a:bodyPr/>
                    <a:lstStyle/>
                    <a:p>
                      <a:r>
                        <a:rPr lang="en-US" sz="1000" b="1"/>
                        <a:t>4. Scalability</a:t>
                      </a:r>
                      <a:endParaRPr lang="en-US" sz="1000"/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As programs grow, OOP lets you </a:t>
                      </a:r>
                      <a:r>
                        <a:rPr lang="en-US" sz="1000" b="1" dirty="0"/>
                        <a:t>scale your codebase</a:t>
                      </a:r>
                      <a:r>
                        <a:rPr lang="en-US" sz="1000" dirty="0"/>
                        <a:t> easily by creating more classes (Loan, Customer, Bank, etc.) without things getting messy. </a:t>
                      </a:r>
                    </a:p>
                    <a:p>
                      <a:r>
                        <a:rPr lang="en-US" sz="1000" dirty="0"/>
                        <a:t>Procedural programs can quickly become spaghetti code.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3839176339"/>
                  </a:ext>
                </a:extLst>
              </a:tr>
              <a:tr h="591233">
                <a:tc>
                  <a:txBody>
                    <a:bodyPr/>
                    <a:lstStyle/>
                    <a:p>
                      <a:r>
                        <a:rPr lang="en-US" sz="1000" b="1"/>
                        <a:t>5. Readability / Intuition</a:t>
                      </a:r>
                      <a:endParaRPr lang="en-US" sz="1000"/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When you write </a:t>
                      </a:r>
                      <a:r>
                        <a:rPr lang="en-US" sz="1000" dirty="0" err="1"/>
                        <a:t>loan.getTotalPayment</a:t>
                      </a:r>
                      <a:r>
                        <a:rPr lang="en-US" sz="1000" dirty="0"/>
                        <a:t>() in OOP, it’s intuitive: "This loan knows how to calculate its total." </a:t>
                      </a:r>
                    </a:p>
                    <a:p>
                      <a:r>
                        <a:rPr lang="en-US" sz="1000" dirty="0"/>
                        <a:t>In procedural, you're working with raw data and functions, so it’s harder to map behavior to data.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354622957"/>
                  </a:ext>
                </a:extLst>
              </a:tr>
              <a:tr h="482322">
                <a:tc>
                  <a:txBody>
                    <a:bodyPr/>
                    <a:lstStyle/>
                    <a:p>
                      <a:r>
                        <a:rPr lang="en-US" sz="1000" b="1"/>
                        <a:t>6. Real-World Mapping</a:t>
                      </a:r>
                      <a:endParaRPr lang="en-US" sz="1000"/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OOP models </a:t>
                      </a:r>
                      <a:r>
                        <a:rPr lang="en-US" sz="1000" b="1" dirty="0"/>
                        <a:t>real-world concepts directly</a:t>
                      </a:r>
                      <a:r>
                        <a:rPr lang="en-US" sz="1000" dirty="0"/>
                        <a:t>. A Loan is a real-world thing. That makes it easier for </a:t>
                      </a:r>
                      <a:r>
                        <a:rPr lang="en-US" altLang="zh-CN" sz="1000" dirty="0"/>
                        <a:t>you</a:t>
                      </a:r>
                      <a:r>
                        <a:rPr lang="en-US" sz="1000" dirty="0"/>
                        <a:t> to </a:t>
                      </a:r>
                      <a:r>
                        <a:rPr lang="en-US" sz="1000" b="1" dirty="0"/>
                        <a:t>"think in objects"</a:t>
                      </a:r>
                      <a:r>
                        <a:rPr lang="en-US" sz="1000" dirty="0"/>
                        <a:t> and relate the code to everyday ideas.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765788054"/>
                  </a:ext>
                </a:extLst>
              </a:tr>
              <a:tr h="482322">
                <a:tc>
                  <a:txBody>
                    <a:bodyPr/>
                    <a:lstStyle/>
                    <a:p>
                      <a:r>
                        <a:rPr lang="en-US" sz="1000" b="1" dirty="0"/>
                        <a:t>7. Extensibility</a:t>
                      </a:r>
                      <a:r>
                        <a:rPr lang="en-US" sz="1000" dirty="0"/>
                        <a:t> </a:t>
                      </a:r>
                    </a:p>
                    <a:p>
                      <a:r>
                        <a:rPr lang="en-US" sz="1000" dirty="0"/>
                        <a:t>(once inheritance/polymorphism are learned)</a:t>
                      </a:r>
                    </a:p>
                  </a:txBody>
                  <a:tcPr marL="39118" marR="39118" marT="19559" marB="19559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While we aren’t there yet, later we can create subclasses like </a:t>
                      </a:r>
                      <a:r>
                        <a:rPr lang="en-US" sz="1000" dirty="0" err="1"/>
                        <a:t>HomeLoan</a:t>
                      </a:r>
                      <a:r>
                        <a:rPr lang="en-US" sz="1000" dirty="0"/>
                        <a:t>, </a:t>
                      </a:r>
                      <a:r>
                        <a:rPr lang="en-US" sz="1000" dirty="0" err="1"/>
                        <a:t>StudentLoan</a:t>
                      </a:r>
                      <a:r>
                        <a:rPr lang="en-US" sz="1000" dirty="0"/>
                        <a:t>, etc. and extend behavior cleanly—something procedural can’t do.</a:t>
                      </a:r>
                    </a:p>
                  </a:txBody>
                  <a:tcPr marL="39118" marR="39118" marT="19559" marB="19559" anchor="ctr"/>
                </a:tc>
                <a:extLst>
                  <a:ext uri="{0D108BD9-81ED-4DB2-BD59-A6C34878D82A}">
                    <a16:rowId xmlns:a16="http://schemas.microsoft.com/office/drawing/2014/main" val="49205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057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F19C-B185-6D83-3653-EE9ACC14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 Contrast: Procedural Downsides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4489A-14FD-D97D-FCA6-0FE1C2B7B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Adding a new field (like </a:t>
            </a:r>
            <a:r>
              <a:rPr lang="en-US" dirty="0" err="1">
                <a:solidFill>
                  <a:schemeClr val="tx1"/>
                </a:solidFill>
              </a:rPr>
              <a:t>loanType</a:t>
            </a:r>
            <a:r>
              <a:rPr lang="en-US" dirty="0">
                <a:solidFill>
                  <a:schemeClr val="tx1"/>
                </a:solidFill>
              </a:rPr>
              <a:t>) requires updating multiple arrays and function signatures.</a:t>
            </a:r>
          </a:p>
          <a:p>
            <a:r>
              <a:rPr lang="en-US" dirty="0">
                <a:solidFill>
                  <a:schemeClr val="tx1"/>
                </a:solidFill>
              </a:rPr>
              <a:t>You may accidentally mix up data (e.g., name from index 3 but years from index 4).</a:t>
            </a:r>
          </a:p>
          <a:p>
            <a:r>
              <a:rPr lang="en-US" dirty="0">
                <a:solidFill>
                  <a:schemeClr val="tx1"/>
                </a:solidFill>
              </a:rPr>
              <a:t>Harder to debug or maintain, especially as code grows.</a:t>
            </a:r>
          </a:p>
          <a:p>
            <a:r>
              <a:rPr lang="en-US" dirty="0">
                <a:solidFill>
                  <a:schemeClr val="tx1"/>
                </a:solidFill>
              </a:rPr>
              <a:t>Difficult to reuse code in new contexts.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OOP helps you bundle related data and behavior together.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This makes programs easier to write, read, fix, reuse, and grow.</a:t>
            </a:r>
          </a:p>
        </p:txBody>
      </p:sp>
    </p:spTree>
    <p:extLst>
      <p:ext uri="{BB962C8B-B14F-4D97-AF65-F5344CB8AC3E}">
        <p14:creationId xmlns:p14="http://schemas.microsoft.com/office/powerpoint/2010/main" val="11929483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882d3af580b91c18edc160109d075412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9ef345be7e9f8682d91a8670d26f0520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DCDE80-261D-458A-83A7-420F7E9BFD3B}"/>
</file>

<file path=customXml/itemProps2.xml><?xml version="1.0" encoding="utf-8"?>
<ds:datastoreItem xmlns:ds="http://schemas.openxmlformats.org/officeDocument/2006/customXml" ds:itemID="{7BFEDC07-5DBB-4103-98FC-92E44DD6FA69}"/>
</file>

<file path=customXml/itemProps3.xml><?xml version="1.0" encoding="utf-8"?>
<ds:datastoreItem xmlns:ds="http://schemas.openxmlformats.org/officeDocument/2006/customXml" ds:itemID="{1ABE6961-55BC-44E4-B734-01AEE2F2343E}"/>
</file>

<file path=docProps/app.xml><?xml version="1.0" encoding="utf-8"?>
<Properties xmlns="http://schemas.openxmlformats.org/officeDocument/2006/extended-properties" xmlns:vt="http://schemas.openxmlformats.org/officeDocument/2006/docPropsVTypes">
  <TotalTime>13368</TotalTime>
  <Words>2210</Words>
  <Application>Microsoft Office PowerPoint</Application>
  <PresentationFormat>On-screen Show (16:9)</PresentationFormat>
  <Paragraphs>277</Paragraphs>
  <Slides>27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Monotype Sorts</vt:lpstr>
      <vt:lpstr>Arial</vt:lpstr>
      <vt:lpstr>Consolas</vt:lpstr>
      <vt:lpstr>Courier New</vt:lpstr>
      <vt:lpstr>Franklin Gothic Book</vt:lpstr>
      <vt:lpstr>Symbol</vt:lpstr>
      <vt:lpstr>Times New Roman</vt:lpstr>
      <vt:lpstr>Simple Light</vt:lpstr>
      <vt:lpstr>Picture</vt:lpstr>
      <vt:lpstr>Microsoft Word Picture</vt:lpstr>
      <vt:lpstr>Thinking In Objects</vt:lpstr>
      <vt:lpstr>Objectives</vt:lpstr>
      <vt:lpstr>Static Variables, and Methods </vt:lpstr>
      <vt:lpstr>Instance methods Vs Static Methods </vt:lpstr>
      <vt:lpstr>Class Abstraction and Encapsulation</vt:lpstr>
      <vt:lpstr>Data Field Encapsulation</vt:lpstr>
      <vt:lpstr>Visibility Modifiers</vt:lpstr>
      <vt:lpstr>Packages</vt:lpstr>
      <vt:lpstr>Packages: Cont..</vt:lpstr>
      <vt:lpstr>UML: Data Field Encapsulation</vt:lpstr>
      <vt:lpstr>Array of Objects</vt:lpstr>
      <vt:lpstr>Immutable Objects and Classes</vt:lpstr>
      <vt:lpstr>What Class is Immutable?</vt:lpstr>
      <vt:lpstr>Example:  mutable</vt:lpstr>
      <vt:lpstr>Scope of Variables</vt:lpstr>
      <vt:lpstr>The this keyword</vt:lpstr>
      <vt:lpstr>Reference the Hidden Data Fields</vt:lpstr>
      <vt:lpstr>Reference the Hidden Data Fields</vt:lpstr>
      <vt:lpstr>Calling Overloaded Constructor</vt:lpstr>
      <vt:lpstr>The Date Class</vt:lpstr>
      <vt:lpstr>The Random Class</vt:lpstr>
      <vt:lpstr>The Random Class: Example</vt:lpstr>
      <vt:lpstr>PowerPoint Presentation</vt:lpstr>
      <vt:lpstr>PowerPoint Presentation</vt:lpstr>
      <vt:lpstr>PowerPoint Presentation</vt:lpstr>
      <vt:lpstr>OOP vs Procedural (C)</vt:lpstr>
      <vt:lpstr>In Contrast: Procedural Downsides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于 心瑞 Xinrui YU</cp:lastModifiedBy>
  <cp:revision>918</cp:revision>
  <dcterms:modified xsi:type="dcterms:W3CDTF">2025-11-21T01:37:29Z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