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4.xml" ContentType="application/vnd.openxmlformats-officedocument.presentationml.slideLayout+xml"/>
  <Override PartName="/ppt/notesSlides/notesSlide2.xml" ContentType="application/vnd.openxmlformats-officedocument.presentationml.notes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ppt/revisionInfo.xml" ContentType="application/vnd.ms-powerpoint.revisioninfo+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467" r:id="rId3"/>
    <p:sldId id="484" r:id="rId4"/>
    <p:sldId id="485" r:id="rId5"/>
    <p:sldId id="486" r:id="rId6"/>
    <p:sldId id="487" r:id="rId7"/>
    <p:sldId id="488" r:id="rId8"/>
    <p:sldId id="493" r:id="rId9"/>
    <p:sldId id="489" r:id="rId10"/>
    <p:sldId id="490" r:id="rId11"/>
    <p:sldId id="492" r:id="rId12"/>
    <p:sldId id="260" r:id="rId1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C1099DF-C75E-DE4A-6E73-765C411B1D4D}" v="43" dt="2021-07-25T21:38:19.0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46" autoAdjust="0"/>
    <p:restoredTop sz="94660"/>
  </p:normalViewPr>
  <p:slideViewPr>
    <p:cSldViewPr snapToGrid="0">
      <p:cViewPr varScale="1">
        <p:scale>
          <a:sx n="139" d="100"/>
          <a:sy n="139" d="100"/>
        </p:scale>
        <p:origin x="700" y="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51" Type="http://schemas.openxmlformats.org/officeDocument/2006/relationships/customXml" Target="../customXml/item1.xml"/><Relationship Id="rId3" Type="http://schemas.openxmlformats.org/officeDocument/2006/relationships/slide" Target="slides/slide2.xml"/><Relationship Id="rId50"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3"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52"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1744747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7473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bdb27924c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bdb27924cf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61829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964976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60" r:id="rId10"/>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2" name="Title 1">
            <a:extLst>
              <a:ext uri="{FF2B5EF4-FFF2-40B4-BE49-F238E27FC236}">
                <a16:creationId xmlns:a16="http://schemas.microsoft.com/office/drawing/2014/main" xmlns="" id="{1730766B-A39C-48AD-AF4E-3FB458C16D13}"/>
              </a:ext>
            </a:extLst>
          </p:cNvPr>
          <p:cNvSpPr>
            <a:spLocks noGrp="1"/>
          </p:cNvSpPr>
          <p:nvPr>
            <p:ph type="title"/>
          </p:nvPr>
        </p:nvSpPr>
        <p:spPr/>
        <p:txBody>
          <a:bodyPr>
            <a:normAutofit fontScale="90000"/>
          </a:bodyPr>
          <a:lstStyle/>
          <a:p>
            <a:r>
              <a:rPr lang="en-US" dirty="0" smtClean="0"/>
              <a:t>Abstract Classes</a:t>
            </a:r>
            <a:endParaRPr lang="en-US" dirty="0"/>
          </a:p>
        </p:txBody>
      </p:sp>
      <p:sp>
        <p:nvSpPr>
          <p:cNvPr id="54" name="Google Shape;54;p13"/>
          <p:cNvSpPr txBox="1">
            <a:spLocks noGrp="1"/>
          </p:cNvSpPr>
          <p:nvPr>
            <p:ph type="body" idx="1"/>
          </p:nvPr>
        </p:nvSpPr>
        <p:spPr>
          <a:xfrm>
            <a:off x="311700" y="1227289"/>
            <a:ext cx="8520600" cy="3416400"/>
          </a:xfrm>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US" sz="3200" b="1" dirty="0" smtClean="0">
                <a:solidFill>
                  <a:schemeClr val="dk1"/>
                </a:solidFill>
              </a:rPr>
              <a:t>Abstract Classes</a:t>
            </a:r>
            <a:endParaRPr sz="3200" b="1" dirty="0">
              <a:solidFill>
                <a:schemeClr val="dk1"/>
              </a:solidFill>
            </a:endParaRPr>
          </a:p>
        </p:txBody>
      </p:sp>
      <p:pic>
        <p:nvPicPr>
          <p:cNvPr id="55" name="Google Shape;55;p13">
            <a:extLst>
              <a:ext uri="{C183D7F6-B498-43B3-948B-1728B52AA6E4}">
                <adec:decorative xmlns:adec="http://schemas.microsoft.com/office/drawing/2017/decorative" xmlns="" val="1"/>
              </a:ext>
            </a:extLst>
          </p:cNvPr>
          <p:cNvPicPr preferRelativeResize="0"/>
          <p:nvPr/>
        </p:nvPicPr>
        <p:blipFill>
          <a:blip r:embed="rId4">
            <a:alphaModFix/>
          </a:blip>
          <a:stretch>
            <a:fillRect/>
          </a:stretch>
        </p:blipFill>
        <p:spPr>
          <a:xfrm>
            <a:off x="3426013" y="4568875"/>
            <a:ext cx="2291975" cy="387150"/>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2400" b="1" dirty="0" smtClean="0"/>
              <a:t>Abstract </a:t>
            </a:r>
            <a:r>
              <a:rPr lang="en-US" sz="2400" b="1" dirty="0"/>
              <a:t>Classes</a:t>
            </a:r>
            <a:endParaRPr lang="en-US" sz="2500" b="1" dirty="0">
              <a:cs typeface="Times New Roman" pitchFamily="16" charset="0"/>
            </a:endParaRPr>
          </a:p>
        </p:txBody>
      </p:sp>
      <p:sp>
        <p:nvSpPr>
          <p:cNvPr id="2" name="Text Placeholder 1"/>
          <p:cNvSpPr>
            <a:spLocks noGrp="1"/>
          </p:cNvSpPr>
          <p:nvPr>
            <p:ph type="body" idx="1"/>
          </p:nvPr>
        </p:nvSpPr>
        <p:spPr/>
        <p:txBody>
          <a:bodyPr>
            <a:normAutofit/>
          </a:bodyPr>
          <a:lstStyle/>
          <a:p>
            <a:r>
              <a:rPr lang="en-US" dirty="0"/>
              <a:t>Classes with instance variables &amp; defined methods that are not meant to be </a:t>
            </a:r>
            <a:r>
              <a:rPr lang="en-US" dirty="0" smtClean="0"/>
              <a:t>instantiated.</a:t>
            </a:r>
            <a:endParaRPr lang="en-US" dirty="0"/>
          </a:p>
          <a:p>
            <a:pPr lvl="1"/>
            <a:r>
              <a:rPr lang="en-US" sz="1800" dirty="0"/>
              <a:t>Instead, they exist to be </a:t>
            </a:r>
            <a:r>
              <a:rPr lang="en-US" sz="1800" smtClean="0"/>
              <a:t>extended.</a:t>
            </a:r>
            <a:endParaRPr lang="en-US" sz="1800" dirty="0"/>
          </a:p>
          <a:p>
            <a:r>
              <a:rPr lang="en-US" dirty="0"/>
              <a:t>This is a means for combining useful properties and functionality together into an incomplete class </a:t>
            </a:r>
            <a:r>
              <a:rPr lang="en-US" dirty="0" smtClean="0"/>
              <a:t>definition.</a:t>
            </a:r>
            <a:endParaRPr lang="en-US" dirty="0"/>
          </a:p>
          <a:p>
            <a:pPr lvl="1"/>
            <a:r>
              <a:rPr lang="en-US" sz="1800" dirty="0"/>
              <a:t>Someone can create their own class, extending the abstract class, and thus save on </a:t>
            </a:r>
            <a:r>
              <a:rPr lang="en-US" sz="1800" dirty="0" smtClean="0"/>
              <a:t>coding.</a:t>
            </a:r>
            <a:endParaRPr lang="en-US" sz="1800" dirty="0"/>
          </a:p>
          <a:p>
            <a:r>
              <a:rPr lang="en-US" dirty="0"/>
              <a:t>Use the </a:t>
            </a:r>
            <a:r>
              <a:rPr lang="en-US" b="1" dirty="0">
                <a:solidFill>
                  <a:schemeClr val="tx1"/>
                </a:solidFill>
                <a:latin typeface="Courier New"/>
                <a:ea typeface="Courier New"/>
                <a:cs typeface="Courier New"/>
                <a:sym typeface="Courier New"/>
              </a:rPr>
              <a:t>abstract</a:t>
            </a:r>
            <a:r>
              <a:rPr lang="en-US" dirty="0"/>
              <a:t> </a:t>
            </a:r>
            <a:r>
              <a:rPr lang="en-US" dirty="0" smtClean="0"/>
              <a:t>keyword.</a:t>
            </a:r>
            <a:endParaRPr lang="en-US" dirty="0"/>
          </a:p>
          <a:p>
            <a:pPr marL="239292" lvl="1" indent="0">
              <a:buNone/>
            </a:pPr>
            <a:r>
              <a:rPr lang="en-US" sz="1800" dirty="0" smtClean="0"/>
              <a:t>    ex</a:t>
            </a:r>
            <a:r>
              <a:rPr lang="en-US" sz="1800" dirty="0"/>
              <a:t>. </a:t>
            </a:r>
            <a:r>
              <a:rPr lang="en-US" sz="1800" b="1" dirty="0">
                <a:solidFill>
                  <a:schemeClr val="tx1"/>
                </a:solidFill>
                <a:latin typeface="Courier New"/>
                <a:ea typeface="Courier New"/>
                <a:cs typeface="Courier New"/>
                <a:sym typeface="Courier New"/>
              </a:rPr>
              <a:t>abstract class Foo { ... }</a:t>
            </a:r>
          </a:p>
          <a:p>
            <a:pPr marL="0" indent="0">
              <a:buNone/>
            </a:pPr>
            <a:endParaRPr lang="en-US" dirty="0"/>
          </a:p>
        </p:txBody>
      </p:sp>
    </p:spTree>
    <p:extLst>
      <p:ext uri="{BB962C8B-B14F-4D97-AF65-F5344CB8AC3E}">
        <p14:creationId xmlns:p14="http://schemas.microsoft.com/office/powerpoint/2010/main" val="267778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445025"/>
            <a:ext cx="3483465" cy="572700"/>
          </a:xfrm>
        </p:spPr>
        <p:txBody>
          <a:bodyPr>
            <a:noAutofit/>
          </a:bodyPr>
          <a:lstStyle/>
          <a:p>
            <a:r>
              <a:rPr lang="en-US" altLang="en-US" sz="2400" b="1" dirty="0"/>
              <a:t>Abstract Classes and Abstract Methods </a:t>
            </a:r>
            <a:endParaRPr lang="en-US" sz="2400" b="1" dirty="0"/>
          </a:p>
        </p:txBody>
      </p:sp>
      <p:graphicFrame>
        <p:nvGraphicFramePr>
          <p:cNvPr id="4" name="Object 24" descr="Parent class GeometricObject is an abstract class because of the presence of getArea() and getPerimeter() which are abstract methods. UML declares abstract classes and methods as italicized. Constructors of abstract class GeometricObject are declared as protected. protected members in UML are followed by the symbol #. " title="Abstract Class: Examples"/>
          <p:cNvGraphicFramePr>
            <a:graphicFrameLocks noChangeAspect="1"/>
          </p:cNvGraphicFramePr>
          <p:nvPr>
            <p:extLst>
              <p:ext uri="{D42A27DB-BD31-4B8C-83A1-F6EECF244321}">
                <p14:modId xmlns:p14="http://schemas.microsoft.com/office/powerpoint/2010/main" val="1560608163"/>
              </p:ext>
            </p:extLst>
          </p:nvPr>
        </p:nvGraphicFramePr>
        <p:xfrm>
          <a:off x="3244906" y="577164"/>
          <a:ext cx="5561631" cy="4566336"/>
        </p:xfrm>
        <a:graphic>
          <a:graphicData uri="http://schemas.openxmlformats.org/presentationml/2006/ole">
            <mc:AlternateContent xmlns:mc="http://schemas.openxmlformats.org/markup-compatibility/2006">
              <mc:Choice xmlns:v="urn:schemas-microsoft-com:vml" Requires="v">
                <p:oleObj spid="_x0000_s2114" name="Picture" r:id="rId3" imgW="5541120" imgH="4550400" progId="Word.Picture.8">
                  <p:embed/>
                </p:oleObj>
              </mc:Choice>
              <mc:Fallback>
                <p:oleObj name="Picture" r:id="rId3" imgW="5541120" imgH="4550400" progId="Word.Picture.8">
                  <p:embed/>
                  <p:pic>
                    <p:nvPicPr>
                      <p:cNvPr id="0" name=""/>
                      <p:cNvPicPr>
                        <a:picLocks noChangeAspect="1" noChangeArrowheads="1"/>
                      </p:cNvPicPr>
                      <p:nvPr/>
                    </p:nvPicPr>
                    <p:blipFill>
                      <a:blip r:embed="rId4"/>
                      <a:srcRect/>
                      <a:stretch>
                        <a:fillRect/>
                      </a:stretch>
                    </p:blipFill>
                    <p:spPr bwMode="auto">
                      <a:xfrm>
                        <a:off x="3244906" y="577164"/>
                        <a:ext cx="5561631" cy="4566336"/>
                      </a:xfrm>
                      <a:prstGeom prst="rect">
                        <a:avLst/>
                      </a:prstGeom>
                      <a:noFill/>
                      <a:ln>
                        <a:noFill/>
                      </a:ln>
                      <a:extLst/>
                    </p:spPr>
                  </p:pic>
                </p:oleObj>
              </mc:Fallback>
            </mc:AlternateContent>
          </a:graphicData>
        </a:graphic>
      </p:graphicFrame>
    </p:spTree>
    <p:extLst>
      <p:ext uri="{BB962C8B-B14F-4D97-AF65-F5344CB8AC3E}">
        <p14:creationId xmlns:p14="http://schemas.microsoft.com/office/powerpoint/2010/main" val="42442263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1259681" y="123826"/>
            <a:ext cx="6653212"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public </a:t>
            </a:r>
            <a:r>
              <a:rPr lang="en-US" altLang="en-US" sz="1200" b="1" i="1" kern="1200" dirty="0">
                <a:latin typeface="Courier New" pitchFamily="49" charset="0"/>
                <a:ea typeface="+mn-ea"/>
                <a:cs typeface="Courier New" pitchFamily="49" charset="0"/>
                <a:sym typeface="Helvetica Light"/>
              </a:rPr>
              <a:t>abstract</a:t>
            </a:r>
            <a:r>
              <a:rPr lang="en-US" altLang="en-US" sz="1200" kern="1200" dirty="0">
                <a:solidFill>
                  <a:prstClr val="black"/>
                </a:solidFill>
                <a:latin typeface="Courier New" pitchFamily="49" charset="0"/>
                <a:ea typeface="+mn-ea"/>
                <a:cs typeface="Courier New" pitchFamily="49" charset="0"/>
                <a:sym typeface="Helvetica Light"/>
              </a:rPr>
              <a:t> class </a:t>
            </a:r>
            <a:r>
              <a:rPr lang="en-US" altLang="en-US" sz="1200" kern="1200" dirty="0" err="1">
                <a:solidFill>
                  <a:prstClr val="black"/>
                </a:solidFill>
                <a:latin typeface="Courier New" pitchFamily="49" charset="0"/>
                <a:ea typeface="+mn-ea"/>
                <a:cs typeface="Courier New" pitchFamily="49" charset="0"/>
                <a:sym typeface="Helvetica Light"/>
              </a:rPr>
              <a:t>GeometricObject</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private String color = "white";</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private </a:t>
            </a:r>
            <a:r>
              <a:rPr lang="en-US" altLang="en-US" sz="1200" kern="1200" dirty="0" err="1">
                <a:solidFill>
                  <a:prstClr val="black"/>
                </a:solidFill>
                <a:latin typeface="Courier New" pitchFamily="49" charset="0"/>
                <a:ea typeface="+mn-ea"/>
                <a:cs typeface="Courier New" pitchFamily="49" charset="0"/>
                <a:sym typeface="Helvetica Light"/>
              </a:rPr>
              <a:t>boolean</a:t>
            </a:r>
            <a:r>
              <a:rPr lang="en-US" altLang="en-US" sz="1200" kern="1200" dirty="0">
                <a:solidFill>
                  <a:prstClr val="black"/>
                </a:solidFill>
                <a:latin typeface="Courier New" pitchFamily="49" charset="0"/>
                <a:ea typeface="+mn-ea"/>
                <a:cs typeface="Courier New" pitchFamily="49" charset="0"/>
                <a:sym typeface="Helvetica Light"/>
              </a:rPr>
              <a:t> filled;</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private </a:t>
            </a:r>
            <a:r>
              <a:rPr lang="en-US" altLang="en-US" sz="1200" kern="1200" dirty="0" err="1">
                <a:solidFill>
                  <a:prstClr val="black"/>
                </a:solidFill>
                <a:latin typeface="Courier New" pitchFamily="49" charset="0"/>
                <a:ea typeface="+mn-ea"/>
                <a:cs typeface="Courier New" pitchFamily="49" charset="0"/>
                <a:sym typeface="Helvetica Light"/>
              </a:rPr>
              <a:t>java.util.Date</a:t>
            </a: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dateCreated</a:t>
            </a:r>
            <a:r>
              <a:rPr lang="en-US" altLang="en-US" sz="1200" kern="1200" dirty="0">
                <a:solidFill>
                  <a:prstClr val="black"/>
                </a:solidFill>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protected </a:t>
            </a:r>
            <a:r>
              <a:rPr lang="en-US" altLang="en-US" sz="1200" kern="1200" dirty="0" err="1">
                <a:solidFill>
                  <a:prstClr val="black"/>
                </a:solidFill>
                <a:latin typeface="Courier New" pitchFamily="49" charset="0"/>
                <a:ea typeface="+mn-ea"/>
                <a:cs typeface="Courier New" pitchFamily="49" charset="0"/>
                <a:sym typeface="Helvetica Light"/>
              </a:rPr>
              <a:t>GeometricObject</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dateCreated</a:t>
            </a:r>
            <a:r>
              <a:rPr lang="en-US" altLang="en-US" sz="1200" kern="1200" dirty="0">
                <a:solidFill>
                  <a:prstClr val="black"/>
                </a:solidFill>
                <a:latin typeface="Courier New" pitchFamily="49" charset="0"/>
                <a:ea typeface="+mn-ea"/>
                <a:cs typeface="Courier New" pitchFamily="49" charset="0"/>
                <a:sym typeface="Helvetica Light"/>
              </a:rPr>
              <a:t> = new </a:t>
            </a:r>
            <a:r>
              <a:rPr lang="en-US" altLang="en-US" sz="1200" kern="1200" dirty="0" err="1">
                <a:solidFill>
                  <a:prstClr val="black"/>
                </a:solidFill>
                <a:latin typeface="Courier New" pitchFamily="49" charset="0"/>
                <a:ea typeface="+mn-ea"/>
                <a:cs typeface="Courier New" pitchFamily="49" charset="0"/>
                <a:sym typeface="Helvetica Light"/>
              </a:rPr>
              <a:t>java.util.Date</a:t>
            </a:r>
            <a:r>
              <a:rPr lang="en-US" altLang="en-US" sz="1200" kern="1200" dirty="0">
                <a:solidFill>
                  <a:prstClr val="black"/>
                </a:solidFill>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protected </a:t>
            </a:r>
            <a:r>
              <a:rPr lang="en-US" altLang="en-US" sz="1200" kern="1200" dirty="0" err="1">
                <a:solidFill>
                  <a:prstClr val="black"/>
                </a:solidFill>
                <a:latin typeface="Courier New" pitchFamily="49" charset="0"/>
                <a:ea typeface="+mn-ea"/>
                <a:cs typeface="Courier New" pitchFamily="49" charset="0"/>
                <a:sym typeface="Helvetica Light"/>
              </a:rPr>
              <a:t>GeometricObject</a:t>
            </a:r>
            <a:r>
              <a:rPr lang="en-US" altLang="en-US" sz="1200" kern="1200" dirty="0">
                <a:solidFill>
                  <a:prstClr val="black"/>
                </a:solidFill>
                <a:latin typeface="Courier New" pitchFamily="49" charset="0"/>
                <a:ea typeface="+mn-ea"/>
                <a:cs typeface="Courier New" pitchFamily="49" charset="0"/>
                <a:sym typeface="Helvetica Light"/>
              </a:rPr>
              <a:t>(String color, </a:t>
            </a:r>
            <a:r>
              <a:rPr lang="en-US" altLang="en-US" sz="1200" kern="1200" dirty="0" err="1">
                <a:solidFill>
                  <a:prstClr val="black"/>
                </a:solidFill>
                <a:latin typeface="Courier New" pitchFamily="49" charset="0"/>
                <a:ea typeface="+mn-ea"/>
                <a:cs typeface="Courier New" pitchFamily="49" charset="0"/>
                <a:sym typeface="Helvetica Light"/>
              </a:rPr>
              <a:t>boolean</a:t>
            </a:r>
            <a:r>
              <a:rPr lang="en-US" altLang="en-US" sz="1200" kern="1200" dirty="0">
                <a:solidFill>
                  <a:prstClr val="black"/>
                </a:solidFill>
                <a:latin typeface="Courier New" pitchFamily="49" charset="0"/>
                <a:ea typeface="+mn-ea"/>
                <a:cs typeface="Courier New" pitchFamily="49" charset="0"/>
                <a:sym typeface="Helvetica Light"/>
              </a:rPr>
              <a:t> filled)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dateCreated</a:t>
            </a:r>
            <a:r>
              <a:rPr lang="en-US" altLang="en-US" sz="1200" kern="1200" dirty="0">
                <a:solidFill>
                  <a:prstClr val="black"/>
                </a:solidFill>
                <a:latin typeface="Courier New" pitchFamily="49" charset="0"/>
                <a:ea typeface="+mn-ea"/>
                <a:cs typeface="Courier New" pitchFamily="49" charset="0"/>
                <a:sym typeface="Helvetica Light"/>
              </a:rPr>
              <a:t> = new </a:t>
            </a:r>
            <a:r>
              <a:rPr lang="en-US" altLang="en-US" sz="1200" kern="1200" dirty="0" err="1">
                <a:solidFill>
                  <a:prstClr val="black"/>
                </a:solidFill>
                <a:latin typeface="Courier New" pitchFamily="49" charset="0"/>
                <a:ea typeface="+mn-ea"/>
                <a:cs typeface="Courier New" pitchFamily="49" charset="0"/>
                <a:sym typeface="Helvetica Light"/>
              </a:rPr>
              <a:t>java.util.Date</a:t>
            </a:r>
            <a:r>
              <a:rPr lang="en-US" altLang="en-US" sz="1200" kern="1200" dirty="0">
                <a:solidFill>
                  <a:prstClr val="black"/>
                </a:solidFill>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this.color</a:t>
            </a:r>
            <a:r>
              <a:rPr lang="en-US" altLang="en-US" sz="1200" kern="1200" dirty="0">
                <a:solidFill>
                  <a:prstClr val="black"/>
                </a:solidFill>
                <a:latin typeface="Courier New" pitchFamily="49" charset="0"/>
                <a:ea typeface="+mn-ea"/>
                <a:cs typeface="Courier New" pitchFamily="49" charset="0"/>
                <a:sym typeface="Helvetica Light"/>
              </a:rPr>
              <a:t> = color;</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this.filled</a:t>
            </a:r>
            <a:r>
              <a:rPr lang="en-US" altLang="en-US" sz="1200" kern="1200" dirty="0">
                <a:solidFill>
                  <a:prstClr val="black"/>
                </a:solidFill>
                <a:latin typeface="Courier New" pitchFamily="49" charset="0"/>
                <a:ea typeface="+mn-ea"/>
                <a:cs typeface="Courier New" pitchFamily="49" charset="0"/>
                <a:sym typeface="Helvetica Light"/>
              </a:rPr>
              <a:t> = filled;</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String </a:t>
            </a:r>
            <a:r>
              <a:rPr lang="en-US" altLang="en-US" sz="1200" kern="1200" dirty="0" err="1">
                <a:solidFill>
                  <a:prstClr val="black"/>
                </a:solidFill>
                <a:latin typeface="Courier New" pitchFamily="49" charset="0"/>
                <a:ea typeface="+mn-ea"/>
                <a:cs typeface="Courier New" pitchFamily="49" charset="0"/>
                <a:sym typeface="Helvetica Light"/>
              </a:rPr>
              <a:t>getColor</a:t>
            </a:r>
            <a:r>
              <a:rPr lang="en-US" altLang="en-US" sz="1200" kern="1200" dirty="0">
                <a:solidFill>
                  <a:prstClr val="black"/>
                </a:solidFill>
                <a:latin typeface="Courier New" pitchFamily="49" charset="0"/>
                <a:ea typeface="+mn-ea"/>
                <a:cs typeface="Courier New" pitchFamily="49" charset="0"/>
                <a:sym typeface="Helvetica Light"/>
              </a:rPr>
              <a:t>() {   return color;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void </a:t>
            </a:r>
            <a:r>
              <a:rPr lang="en-US" altLang="en-US" sz="1200" kern="1200" dirty="0" err="1">
                <a:solidFill>
                  <a:prstClr val="black"/>
                </a:solidFill>
                <a:latin typeface="Courier New" pitchFamily="49" charset="0"/>
                <a:ea typeface="+mn-ea"/>
                <a:cs typeface="Courier New" pitchFamily="49" charset="0"/>
                <a:sym typeface="Helvetica Light"/>
              </a:rPr>
              <a:t>setColor</a:t>
            </a:r>
            <a:r>
              <a:rPr lang="en-US" altLang="en-US" sz="1200" kern="1200" dirty="0">
                <a:solidFill>
                  <a:prstClr val="black"/>
                </a:solidFill>
                <a:latin typeface="Courier New" pitchFamily="49" charset="0"/>
                <a:ea typeface="+mn-ea"/>
                <a:cs typeface="Courier New" pitchFamily="49" charset="0"/>
                <a:sym typeface="Helvetica Light"/>
              </a:rPr>
              <a:t>(String color) {  </a:t>
            </a:r>
            <a:r>
              <a:rPr lang="en-US" altLang="en-US" sz="1200" kern="1200" dirty="0" err="1">
                <a:solidFill>
                  <a:prstClr val="black"/>
                </a:solidFill>
                <a:latin typeface="Courier New" pitchFamily="49" charset="0"/>
                <a:ea typeface="+mn-ea"/>
                <a:cs typeface="Courier New" pitchFamily="49" charset="0"/>
                <a:sym typeface="Helvetica Light"/>
              </a:rPr>
              <a:t>this.color</a:t>
            </a:r>
            <a:r>
              <a:rPr lang="en-US" altLang="en-US" sz="1200" kern="1200" dirty="0">
                <a:solidFill>
                  <a:prstClr val="black"/>
                </a:solidFill>
                <a:latin typeface="Courier New" pitchFamily="49" charset="0"/>
                <a:ea typeface="+mn-ea"/>
                <a:cs typeface="Courier New" pitchFamily="49" charset="0"/>
                <a:sym typeface="Helvetica Light"/>
              </a:rPr>
              <a:t> = color;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a:t>
            </a:r>
            <a:r>
              <a:rPr lang="en-US" altLang="en-US" sz="1200" kern="1200" dirty="0" err="1">
                <a:solidFill>
                  <a:prstClr val="black"/>
                </a:solidFill>
                <a:latin typeface="Courier New" pitchFamily="49" charset="0"/>
                <a:ea typeface="+mn-ea"/>
                <a:cs typeface="Courier New" pitchFamily="49" charset="0"/>
                <a:sym typeface="Helvetica Light"/>
              </a:rPr>
              <a:t>boolean</a:t>
            </a: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isFilled</a:t>
            </a:r>
            <a:r>
              <a:rPr lang="en-US" altLang="en-US" sz="1200" kern="1200" dirty="0">
                <a:solidFill>
                  <a:prstClr val="black"/>
                </a:solidFill>
                <a:latin typeface="Courier New" pitchFamily="49" charset="0"/>
                <a:ea typeface="+mn-ea"/>
                <a:cs typeface="Courier New" pitchFamily="49" charset="0"/>
                <a:sym typeface="Helvetica Light"/>
              </a:rPr>
              <a:t>() {   return filled;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void </a:t>
            </a:r>
            <a:r>
              <a:rPr lang="en-US" altLang="en-US" sz="1200" kern="1200" dirty="0" err="1">
                <a:solidFill>
                  <a:prstClr val="black"/>
                </a:solidFill>
                <a:latin typeface="Courier New" pitchFamily="49" charset="0"/>
                <a:ea typeface="+mn-ea"/>
                <a:cs typeface="Courier New" pitchFamily="49" charset="0"/>
                <a:sym typeface="Helvetica Light"/>
              </a:rPr>
              <a:t>setFilled</a:t>
            </a:r>
            <a:r>
              <a:rPr lang="en-US" altLang="en-US" sz="1200" kern="1200" dirty="0">
                <a:solidFill>
                  <a:prstClr val="black"/>
                </a:solidFill>
                <a:latin typeface="Courier New" pitchFamily="49" charset="0"/>
                <a:ea typeface="+mn-ea"/>
                <a:cs typeface="Courier New" pitchFamily="49" charset="0"/>
                <a:sym typeface="Helvetica Light"/>
              </a:rPr>
              <a:t>(</a:t>
            </a:r>
            <a:r>
              <a:rPr lang="en-US" altLang="en-US" sz="1200" kern="1200" dirty="0" err="1">
                <a:solidFill>
                  <a:prstClr val="black"/>
                </a:solidFill>
                <a:latin typeface="Courier New" pitchFamily="49" charset="0"/>
                <a:ea typeface="+mn-ea"/>
                <a:cs typeface="Courier New" pitchFamily="49" charset="0"/>
                <a:sym typeface="Helvetica Light"/>
              </a:rPr>
              <a:t>boolean</a:t>
            </a:r>
            <a:r>
              <a:rPr lang="en-US" altLang="en-US" sz="1200" kern="1200" dirty="0">
                <a:solidFill>
                  <a:prstClr val="black"/>
                </a:solidFill>
                <a:latin typeface="Courier New" pitchFamily="49" charset="0"/>
                <a:ea typeface="+mn-ea"/>
                <a:cs typeface="Courier New" pitchFamily="49" charset="0"/>
                <a:sym typeface="Helvetica Light"/>
              </a:rPr>
              <a:t> filled) {  </a:t>
            </a:r>
            <a:r>
              <a:rPr lang="en-US" altLang="en-US" sz="1200" kern="1200" dirty="0" err="1">
                <a:solidFill>
                  <a:prstClr val="black"/>
                </a:solidFill>
                <a:latin typeface="Courier New" pitchFamily="49" charset="0"/>
                <a:ea typeface="+mn-ea"/>
                <a:cs typeface="Courier New" pitchFamily="49" charset="0"/>
                <a:sym typeface="Helvetica Light"/>
              </a:rPr>
              <a:t>this.filled</a:t>
            </a:r>
            <a:r>
              <a:rPr lang="en-US" altLang="en-US" sz="1200" kern="1200" dirty="0">
                <a:solidFill>
                  <a:prstClr val="black"/>
                </a:solidFill>
                <a:latin typeface="Courier New" pitchFamily="49" charset="0"/>
                <a:ea typeface="+mn-ea"/>
                <a:cs typeface="Courier New" pitchFamily="49" charset="0"/>
                <a:sym typeface="Helvetica Light"/>
              </a:rPr>
              <a:t> = filled;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a:t>
            </a:r>
            <a:r>
              <a:rPr lang="en-US" altLang="en-US" sz="1200" kern="1200" dirty="0" err="1">
                <a:solidFill>
                  <a:prstClr val="black"/>
                </a:solidFill>
                <a:latin typeface="Courier New" pitchFamily="49" charset="0"/>
                <a:ea typeface="+mn-ea"/>
                <a:cs typeface="Courier New" pitchFamily="49" charset="0"/>
                <a:sym typeface="Helvetica Light"/>
              </a:rPr>
              <a:t>java.util.Date</a:t>
            </a: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getDateCreated</a:t>
            </a:r>
            <a:r>
              <a:rPr lang="en-US" altLang="en-US" sz="1200" kern="1200" dirty="0">
                <a:solidFill>
                  <a:prstClr val="black"/>
                </a:solidFill>
                <a:latin typeface="Courier New" pitchFamily="49" charset="0"/>
                <a:ea typeface="+mn-ea"/>
                <a:cs typeface="Courier New" pitchFamily="49" charset="0"/>
                <a:sym typeface="Helvetica Light"/>
              </a:rPr>
              <a:t>() {   return </a:t>
            </a:r>
            <a:r>
              <a:rPr lang="en-US" altLang="en-US" sz="1200" kern="1200" dirty="0" err="1">
                <a:solidFill>
                  <a:prstClr val="black"/>
                </a:solidFill>
                <a:latin typeface="Courier New" pitchFamily="49" charset="0"/>
                <a:ea typeface="+mn-ea"/>
                <a:cs typeface="Courier New" pitchFamily="49" charset="0"/>
                <a:sym typeface="Helvetica Light"/>
              </a:rPr>
              <a:t>dateCreated</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String </a:t>
            </a:r>
            <a:r>
              <a:rPr lang="en-US" altLang="en-US" sz="1200" kern="1200" dirty="0" err="1">
                <a:solidFill>
                  <a:prstClr val="black"/>
                </a:solidFill>
                <a:latin typeface="Courier New" pitchFamily="49" charset="0"/>
                <a:ea typeface="+mn-ea"/>
                <a:cs typeface="Courier New" pitchFamily="49" charset="0"/>
                <a:sym typeface="Helvetica Light"/>
              </a:rPr>
              <a:t>toString</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return "created on " + </a:t>
            </a:r>
            <a:r>
              <a:rPr lang="en-US" altLang="en-US" sz="1200" kern="1200" dirty="0" err="1">
                <a:solidFill>
                  <a:prstClr val="black"/>
                </a:solidFill>
                <a:latin typeface="Courier New" pitchFamily="49" charset="0"/>
                <a:ea typeface="+mn-ea"/>
                <a:cs typeface="Courier New" pitchFamily="49" charset="0"/>
                <a:sym typeface="Helvetica Light"/>
              </a:rPr>
              <a:t>dateCreated</a:t>
            </a:r>
            <a:r>
              <a:rPr lang="en-US" altLang="en-US" sz="1200" kern="1200" dirty="0">
                <a:solidFill>
                  <a:prstClr val="black"/>
                </a:solidFill>
                <a:latin typeface="Courier New" pitchFamily="49" charset="0"/>
                <a:ea typeface="+mn-ea"/>
                <a:cs typeface="Courier New" pitchFamily="49" charset="0"/>
                <a:sym typeface="Helvetica Light"/>
              </a:rPr>
              <a:t> + "\</a:t>
            </a:r>
            <a:r>
              <a:rPr lang="en-US" altLang="en-US" sz="1200" kern="1200" dirty="0" err="1">
                <a:solidFill>
                  <a:prstClr val="black"/>
                </a:solidFill>
                <a:latin typeface="Courier New" pitchFamily="49" charset="0"/>
                <a:ea typeface="+mn-ea"/>
                <a:cs typeface="Courier New" pitchFamily="49" charset="0"/>
                <a:sym typeface="Helvetica Light"/>
              </a:rPr>
              <a:t>ncolor</a:t>
            </a:r>
            <a:r>
              <a:rPr lang="en-US" altLang="en-US" sz="1200" kern="1200" dirty="0">
                <a:solidFill>
                  <a:prstClr val="black"/>
                </a:solidFill>
                <a:latin typeface="Courier New" pitchFamily="49" charset="0"/>
                <a:ea typeface="+mn-ea"/>
                <a:cs typeface="Courier New" pitchFamily="49" charset="0"/>
                <a:sym typeface="Helvetica Light"/>
              </a:rPr>
              <a:t>: " + color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and filled: " + filled;</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b="1" kern="1200" dirty="0">
                <a:latin typeface="Courier New" pitchFamily="49" charset="0"/>
                <a:ea typeface="+mn-ea"/>
                <a:cs typeface="Courier New" pitchFamily="49" charset="0"/>
                <a:sym typeface="Helvetica Light"/>
              </a:rPr>
              <a:t>/** Abstract method </a:t>
            </a:r>
            <a:r>
              <a:rPr lang="en-US" altLang="en-US" sz="1200" b="1" kern="1200" dirty="0" err="1">
                <a:latin typeface="Courier New" pitchFamily="49" charset="0"/>
                <a:ea typeface="+mn-ea"/>
                <a:cs typeface="Courier New" pitchFamily="49" charset="0"/>
                <a:sym typeface="Helvetica Light"/>
              </a:rPr>
              <a:t>getArea</a:t>
            </a: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public </a:t>
            </a:r>
            <a:r>
              <a:rPr lang="en-US" altLang="en-US" sz="1200" b="1" i="1" kern="1200" dirty="0">
                <a:latin typeface="Courier New" pitchFamily="49" charset="0"/>
                <a:ea typeface="+mn-ea"/>
                <a:cs typeface="Courier New" pitchFamily="49" charset="0"/>
                <a:sym typeface="Helvetica Light"/>
              </a:rPr>
              <a:t>abstract</a:t>
            </a:r>
            <a:r>
              <a:rPr lang="en-US" altLang="en-US" sz="1200" b="1" kern="1200" dirty="0">
                <a:latin typeface="Courier New" pitchFamily="49" charset="0"/>
                <a:ea typeface="+mn-ea"/>
                <a:cs typeface="Courier New" pitchFamily="49" charset="0"/>
                <a:sym typeface="Helvetica Light"/>
              </a:rPr>
              <a:t> double </a:t>
            </a:r>
            <a:r>
              <a:rPr lang="en-US" altLang="en-US" sz="1200" b="1" kern="1200" dirty="0" err="1">
                <a:latin typeface="Courier New" pitchFamily="49" charset="0"/>
                <a:ea typeface="+mn-ea"/>
                <a:cs typeface="Courier New" pitchFamily="49" charset="0"/>
                <a:sym typeface="Helvetica Light"/>
              </a:rPr>
              <a:t>getArea</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 Abstract method </a:t>
            </a:r>
            <a:r>
              <a:rPr lang="en-US" altLang="en-US" sz="1200" b="1" kern="1200" dirty="0" err="1">
                <a:latin typeface="Courier New" pitchFamily="49" charset="0"/>
                <a:ea typeface="+mn-ea"/>
                <a:cs typeface="Courier New" pitchFamily="49" charset="0"/>
                <a:sym typeface="Helvetica Light"/>
              </a:rPr>
              <a:t>getPerimeter</a:t>
            </a: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public </a:t>
            </a:r>
            <a:r>
              <a:rPr lang="en-US" altLang="en-US" sz="1200" b="1" i="1" kern="1200" dirty="0">
                <a:latin typeface="Courier New" pitchFamily="49" charset="0"/>
                <a:ea typeface="+mn-ea"/>
                <a:cs typeface="Courier New" pitchFamily="49" charset="0"/>
                <a:sym typeface="Helvetica Light"/>
              </a:rPr>
              <a:t>abstract</a:t>
            </a:r>
            <a:r>
              <a:rPr lang="en-US" altLang="en-US" sz="1200" b="1" kern="1200" dirty="0">
                <a:latin typeface="Courier New" pitchFamily="49" charset="0"/>
                <a:ea typeface="+mn-ea"/>
                <a:cs typeface="Courier New" pitchFamily="49" charset="0"/>
                <a:sym typeface="Helvetica Light"/>
              </a:rPr>
              <a:t> double </a:t>
            </a:r>
            <a:r>
              <a:rPr lang="en-US" altLang="en-US" sz="1200" b="1" kern="1200" dirty="0" err="1">
                <a:latin typeface="Courier New" pitchFamily="49" charset="0"/>
                <a:ea typeface="+mn-ea"/>
                <a:cs typeface="Courier New" pitchFamily="49" charset="0"/>
                <a:sym typeface="Helvetica Light"/>
              </a:rPr>
              <a:t>getPerimeter</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a:t>
            </a:r>
          </a:p>
        </p:txBody>
      </p:sp>
    </p:spTree>
    <p:extLst>
      <p:ext uri="{BB962C8B-B14F-4D97-AF65-F5344CB8AC3E}">
        <p14:creationId xmlns:p14="http://schemas.microsoft.com/office/powerpoint/2010/main" val="33501058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1259681" y="123826"/>
            <a:ext cx="6653212" cy="50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public class </a:t>
            </a:r>
            <a:r>
              <a:rPr lang="en-US" altLang="en-US" sz="1200" b="1" kern="1200" dirty="0">
                <a:latin typeface="Courier New" pitchFamily="49" charset="0"/>
                <a:ea typeface="+mn-ea"/>
                <a:cs typeface="Courier New" pitchFamily="49" charset="0"/>
                <a:sym typeface="Helvetica Light"/>
              </a:rPr>
              <a:t>Circle extends </a:t>
            </a:r>
            <a:r>
              <a:rPr lang="en-US" altLang="en-US" sz="1200" b="1" kern="1200" dirty="0" err="1">
                <a:latin typeface="Courier New" pitchFamily="49" charset="0"/>
                <a:ea typeface="+mn-ea"/>
                <a:cs typeface="Courier New" pitchFamily="49" charset="0"/>
                <a:sym typeface="Helvetica Light"/>
              </a:rPr>
              <a:t>GeometricObject</a:t>
            </a:r>
            <a:r>
              <a:rPr lang="en-US" altLang="en-US" sz="1200" b="1" kern="1200" dirty="0">
                <a:latin typeface="Courier New" pitchFamily="49" charset="0"/>
                <a:ea typeface="+mn-ea"/>
                <a:cs typeface="Courier New" pitchFamily="49" charset="0"/>
                <a:sym typeface="Helvetica Light"/>
              </a:rPr>
              <a:t> </a:t>
            </a:r>
            <a:r>
              <a:rPr lang="en-US" altLang="en-US" sz="1200" kern="1200" dirty="0">
                <a:solidFill>
                  <a:prstClr val="black"/>
                </a:solidFill>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private double radius;</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Circle() {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Circle(double radius)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this.radius</a:t>
            </a:r>
            <a:r>
              <a:rPr lang="en-US" altLang="en-US" sz="1200" kern="1200" dirty="0">
                <a:solidFill>
                  <a:prstClr val="black"/>
                </a:solidFill>
                <a:latin typeface="Courier New" pitchFamily="49" charset="0"/>
                <a:ea typeface="+mn-ea"/>
                <a:cs typeface="Courier New" pitchFamily="49" charset="0"/>
                <a:sym typeface="Helvetica Light"/>
              </a:rPr>
              <a:t> = radius;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double </a:t>
            </a:r>
            <a:r>
              <a:rPr lang="en-US" altLang="en-US" sz="1200" kern="1200" dirty="0" err="1">
                <a:solidFill>
                  <a:prstClr val="black"/>
                </a:solidFill>
                <a:latin typeface="Courier New" pitchFamily="49" charset="0"/>
                <a:ea typeface="+mn-ea"/>
                <a:cs typeface="Courier New" pitchFamily="49" charset="0"/>
                <a:sym typeface="Helvetica Light"/>
              </a:rPr>
              <a:t>getRadius</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return radius;</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void </a:t>
            </a:r>
            <a:r>
              <a:rPr lang="en-US" altLang="en-US" sz="1200" kern="1200" dirty="0" err="1">
                <a:solidFill>
                  <a:prstClr val="black"/>
                </a:solidFill>
                <a:latin typeface="Courier New" pitchFamily="49" charset="0"/>
                <a:ea typeface="+mn-ea"/>
                <a:cs typeface="Courier New" pitchFamily="49" charset="0"/>
                <a:sym typeface="Helvetica Light"/>
              </a:rPr>
              <a:t>setRadius</a:t>
            </a:r>
            <a:r>
              <a:rPr lang="en-US" altLang="en-US" sz="1200" kern="1200" dirty="0">
                <a:solidFill>
                  <a:prstClr val="black"/>
                </a:solidFill>
                <a:latin typeface="Courier New" pitchFamily="49" charset="0"/>
                <a:ea typeface="+mn-ea"/>
                <a:cs typeface="Courier New" pitchFamily="49" charset="0"/>
                <a:sym typeface="Helvetica Light"/>
              </a:rPr>
              <a:t>(double radius)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this.radius</a:t>
            </a:r>
            <a:r>
              <a:rPr lang="en-US" altLang="en-US" sz="1200" kern="1200" dirty="0">
                <a:solidFill>
                  <a:prstClr val="black"/>
                </a:solidFill>
                <a:latin typeface="Courier New" pitchFamily="49" charset="0"/>
                <a:ea typeface="+mn-ea"/>
                <a:cs typeface="Courier New" pitchFamily="49" charset="0"/>
                <a:sym typeface="Helvetica Light"/>
              </a:rPr>
              <a:t> = radius;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public double </a:t>
            </a:r>
            <a:r>
              <a:rPr lang="en-US" altLang="en-US" sz="1200" b="1" kern="1200" dirty="0" err="1">
                <a:latin typeface="Courier New" pitchFamily="49" charset="0"/>
                <a:ea typeface="+mn-ea"/>
                <a:cs typeface="Courier New" pitchFamily="49" charset="0"/>
                <a:sym typeface="Helvetica Light"/>
              </a:rPr>
              <a:t>getArea</a:t>
            </a: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return radius * radius * </a:t>
            </a:r>
            <a:r>
              <a:rPr lang="en-US" altLang="en-US" sz="1200" b="1" kern="1200" dirty="0" err="1">
                <a:latin typeface="Courier New" pitchFamily="49" charset="0"/>
                <a:ea typeface="+mn-ea"/>
                <a:cs typeface="Courier New" pitchFamily="49" charset="0"/>
                <a:sym typeface="Helvetica Light"/>
              </a:rPr>
              <a:t>Math.PI</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double </a:t>
            </a:r>
            <a:r>
              <a:rPr lang="en-US" altLang="en-US" sz="1200" kern="1200" dirty="0" err="1">
                <a:solidFill>
                  <a:prstClr val="black"/>
                </a:solidFill>
                <a:latin typeface="Courier New" pitchFamily="49" charset="0"/>
                <a:ea typeface="+mn-ea"/>
                <a:cs typeface="Courier New" pitchFamily="49" charset="0"/>
                <a:sym typeface="Helvetica Light"/>
              </a:rPr>
              <a:t>getDiameter</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return 2 * radius;</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b="1" kern="1200" dirty="0">
                <a:latin typeface="Courier New" pitchFamily="49" charset="0"/>
                <a:ea typeface="+mn-ea"/>
                <a:cs typeface="Courier New" pitchFamily="49" charset="0"/>
                <a:sym typeface="Helvetica Light"/>
              </a:rPr>
              <a:t>public double </a:t>
            </a:r>
            <a:r>
              <a:rPr lang="en-US" altLang="en-US" sz="1200" b="1" kern="1200" dirty="0" err="1">
                <a:latin typeface="Courier New" pitchFamily="49" charset="0"/>
                <a:ea typeface="+mn-ea"/>
                <a:cs typeface="Courier New" pitchFamily="49" charset="0"/>
                <a:sym typeface="Helvetica Light"/>
              </a:rPr>
              <a:t>getPerimeter</a:t>
            </a: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return 2 * radius * </a:t>
            </a:r>
            <a:r>
              <a:rPr lang="en-US" altLang="en-US" sz="1200" b="1" kern="1200" dirty="0" err="1">
                <a:latin typeface="Courier New" pitchFamily="49" charset="0"/>
                <a:ea typeface="+mn-ea"/>
                <a:cs typeface="Courier New" pitchFamily="49" charset="0"/>
                <a:sym typeface="Helvetica Light"/>
              </a:rPr>
              <a:t>Math.PI</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Print the circle info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void </a:t>
            </a:r>
            <a:r>
              <a:rPr lang="en-US" altLang="en-US" sz="1200" kern="1200" dirty="0" err="1">
                <a:solidFill>
                  <a:prstClr val="black"/>
                </a:solidFill>
                <a:latin typeface="Courier New" pitchFamily="49" charset="0"/>
                <a:ea typeface="+mn-ea"/>
                <a:cs typeface="Courier New" pitchFamily="49" charset="0"/>
                <a:sym typeface="Helvetica Light"/>
              </a:rPr>
              <a:t>printCircle</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System.out.println</a:t>
            </a:r>
            <a:r>
              <a:rPr lang="en-US" altLang="en-US" sz="1200" kern="1200" dirty="0">
                <a:solidFill>
                  <a:prstClr val="black"/>
                </a:solidFill>
                <a:latin typeface="Courier New" pitchFamily="49" charset="0"/>
                <a:ea typeface="+mn-ea"/>
                <a:cs typeface="Courier New" pitchFamily="49" charset="0"/>
                <a:sym typeface="Helvetica Light"/>
              </a:rPr>
              <a:t>("The circle is created " + </a:t>
            </a:r>
            <a:r>
              <a:rPr lang="en-US" altLang="en-US" sz="1200" kern="1200" dirty="0" err="1">
                <a:solidFill>
                  <a:prstClr val="black"/>
                </a:solidFill>
                <a:latin typeface="Courier New" pitchFamily="49" charset="0"/>
                <a:ea typeface="+mn-ea"/>
                <a:cs typeface="Courier New" pitchFamily="49" charset="0"/>
                <a:sym typeface="Helvetica Light"/>
              </a:rPr>
              <a:t>getDateCreated</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and the radius is " + radius);</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a:t>
            </a:r>
          </a:p>
        </p:txBody>
      </p:sp>
    </p:spTree>
    <p:extLst>
      <p:ext uri="{BB962C8B-B14F-4D97-AF65-F5344CB8AC3E}">
        <p14:creationId xmlns:p14="http://schemas.microsoft.com/office/powerpoint/2010/main" val="24327235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a:spLocks noChangeArrowheads="1"/>
          </p:cNvSpPr>
          <p:nvPr/>
        </p:nvSpPr>
        <p:spPr bwMode="auto">
          <a:xfrm>
            <a:off x="1259681" y="123826"/>
            <a:ext cx="6653212"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public class </a:t>
            </a:r>
            <a:r>
              <a:rPr lang="en-US" altLang="en-US" sz="1200" b="1" kern="1200" dirty="0">
                <a:latin typeface="Courier New" pitchFamily="49" charset="0"/>
                <a:ea typeface="+mn-ea"/>
                <a:cs typeface="Courier New" pitchFamily="49" charset="0"/>
                <a:sym typeface="Helvetica Light"/>
              </a:rPr>
              <a:t>Rectangle extends </a:t>
            </a:r>
            <a:r>
              <a:rPr lang="en-US" altLang="en-US" sz="1200" b="1" kern="1200" dirty="0" err="1">
                <a:latin typeface="Courier New" pitchFamily="49" charset="0"/>
                <a:ea typeface="+mn-ea"/>
                <a:cs typeface="Courier New" pitchFamily="49" charset="0"/>
                <a:sym typeface="Helvetica Light"/>
              </a:rPr>
              <a:t>GeometricObject</a:t>
            </a:r>
            <a:r>
              <a:rPr lang="en-US" altLang="en-US" sz="1200" kern="1200" dirty="0">
                <a:solidFill>
                  <a:srgbClr val="FF0000"/>
                </a:solidFill>
                <a:latin typeface="Courier New" pitchFamily="49" charset="0"/>
                <a:ea typeface="+mn-ea"/>
                <a:cs typeface="Courier New" pitchFamily="49" charset="0"/>
                <a:sym typeface="Helvetica Light"/>
              </a:rPr>
              <a:t> </a:t>
            </a:r>
            <a:r>
              <a:rPr lang="en-US" altLang="en-US" sz="1200" kern="1200" dirty="0">
                <a:solidFill>
                  <a:prstClr val="black"/>
                </a:solidFill>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private double width;</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private double height;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Rectangle() {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Rectangle(double width, double height)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this.width</a:t>
            </a:r>
            <a:r>
              <a:rPr lang="en-US" altLang="en-US" sz="1200" kern="1200" dirty="0">
                <a:solidFill>
                  <a:prstClr val="black"/>
                </a:solidFill>
                <a:latin typeface="Courier New" pitchFamily="49" charset="0"/>
                <a:ea typeface="+mn-ea"/>
                <a:cs typeface="Courier New" pitchFamily="49" charset="0"/>
                <a:sym typeface="Helvetica Light"/>
              </a:rPr>
              <a:t> = width;</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this.height</a:t>
            </a:r>
            <a:r>
              <a:rPr lang="en-US" altLang="en-US" sz="1200" kern="1200" dirty="0">
                <a:solidFill>
                  <a:prstClr val="black"/>
                </a:solidFill>
                <a:latin typeface="Courier New" pitchFamily="49" charset="0"/>
                <a:ea typeface="+mn-ea"/>
                <a:cs typeface="Courier New" pitchFamily="49" charset="0"/>
                <a:sym typeface="Helvetica Light"/>
              </a:rPr>
              <a:t> = height;</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double </a:t>
            </a:r>
            <a:r>
              <a:rPr lang="en-US" altLang="en-US" sz="1200" kern="1200" dirty="0" err="1">
                <a:solidFill>
                  <a:prstClr val="black"/>
                </a:solidFill>
                <a:latin typeface="Courier New" pitchFamily="49" charset="0"/>
                <a:ea typeface="+mn-ea"/>
                <a:cs typeface="Courier New" pitchFamily="49" charset="0"/>
                <a:sym typeface="Helvetica Light"/>
              </a:rPr>
              <a:t>getWidth</a:t>
            </a:r>
            <a:r>
              <a:rPr lang="en-US" altLang="en-US" sz="1200" kern="1200" dirty="0">
                <a:solidFill>
                  <a:prstClr val="black"/>
                </a:solidFill>
                <a:latin typeface="Courier New" pitchFamily="49" charset="0"/>
                <a:ea typeface="+mn-ea"/>
                <a:cs typeface="Courier New" pitchFamily="49" charset="0"/>
                <a:sym typeface="Helvetica Light"/>
              </a:rPr>
              <a:t>() {    return width;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void </a:t>
            </a:r>
            <a:r>
              <a:rPr lang="en-US" altLang="en-US" sz="1200" kern="1200" dirty="0" err="1">
                <a:solidFill>
                  <a:prstClr val="black"/>
                </a:solidFill>
                <a:latin typeface="Courier New" pitchFamily="49" charset="0"/>
                <a:ea typeface="+mn-ea"/>
                <a:cs typeface="Courier New" pitchFamily="49" charset="0"/>
                <a:sym typeface="Helvetica Light"/>
              </a:rPr>
              <a:t>setWidth</a:t>
            </a:r>
            <a:r>
              <a:rPr lang="en-US" altLang="en-US" sz="1200" kern="1200" dirty="0">
                <a:solidFill>
                  <a:prstClr val="black"/>
                </a:solidFill>
                <a:latin typeface="Courier New" pitchFamily="49" charset="0"/>
                <a:ea typeface="+mn-ea"/>
                <a:cs typeface="Courier New" pitchFamily="49" charset="0"/>
                <a:sym typeface="Helvetica Light"/>
              </a:rPr>
              <a:t>(double width) {     </a:t>
            </a:r>
            <a:r>
              <a:rPr lang="en-US" altLang="en-US" sz="1200" kern="1200" dirty="0" err="1">
                <a:solidFill>
                  <a:prstClr val="black"/>
                </a:solidFill>
                <a:latin typeface="Courier New" pitchFamily="49" charset="0"/>
                <a:ea typeface="+mn-ea"/>
                <a:cs typeface="Courier New" pitchFamily="49" charset="0"/>
                <a:sym typeface="Helvetica Light"/>
              </a:rPr>
              <a:t>this.width</a:t>
            </a:r>
            <a:r>
              <a:rPr lang="en-US" altLang="en-US" sz="1200" kern="1200" dirty="0">
                <a:solidFill>
                  <a:prstClr val="black"/>
                </a:solidFill>
                <a:latin typeface="Courier New" pitchFamily="49" charset="0"/>
                <a:ea typeface="+mn-ea"/>
                <a:cs typeface="Courier New" pitchFamily="49" charset="0"/>
                <a:sym typeface="Helvetica Light"/>
              </a:rPr>
              <a:t> = width;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double </a:t>
            </a:r>
            <a:r>
              <a:rPr lang="en-US" altLang="en-US" sz="1200" kern="1200" dirty="0" err="1">
                <a:solidFill>
                  <a:prstClr val="black"/>
                </a:solidFill>
                <a:latin typeface="Courier New" pitchFamily="49" charset="0"/>
                <a:ea typeface="+mn-ea"/>
                <a:cs typeface="Courier New" pitchFamily="49" charset="0"/>
                <a:sym typeface="Helvetica Light"/>
              </a:rPr>
              <a:t>getHeight</a:t>
            </a:r>
            <a:r>
              <a:rPr lang="en-US" altLang="en-US" sz="1200" kern="1200" dirty="0">
                <a:solidFill>
                  <a:prstClr val="black"/>
                </a:solidFill>
                <a:latin typeface="Courier New" pitchFamily="49" charset="0"/>
                <a:ea typeface="+mn-ea"/>
                <a:cs typeface="Courier New" pitchFamily="49" charset="0"/>
                <a:sym typeface="Helvetica Light"/>
              </a:rPr>
              <a:t>() {    return height;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void </a:t>
            </a:r>
            <a:r>
              <a:rPr lang="en-US" altLang="en-US" sz="1200" kern="1200" dirty="0" err="1">
                <a:solidFill>
                  <a:prstClr val="black"/>
                </a:solidFill>
                <a:latin typeface="Courier New" pitchFamily="49" charset="0"/>
                <a:ea typeface="+mn-ea"/>
                <a:cs typeface="Courier New" pitchFamily="49" charset="0"/>
                <a:sym typeface="Helvetica Light"/>
              </a:rPr>
              <a:t>setHeight</a:t>
            </a:r>
            <a:r>
              <a:rPr lang="en-US" altLang="en-US" sz="1200" kern="1200" dirty="0">
                <a:solidFill>
                  <a:prstClr val="black"/>
                </a:solidFill>
                <a:latin typeface="Courier New" pitchFamily="49" charset="0"/>
                <a:ea typeface="+mn-ea"/>
                <a:cs typeface="Courier New" pitchFamily="49" charset="0"/>
                <a:sym typeface="Helvetica Light"/>
              </a:rPr>
              <a:t>(double height) {    </a:t>
            </a:r>
            <a:r>
              <a:rPr lang="en-US" altLang="en-US" sz="1200" kern="1200" dirty="0" err="1">
                <a:solidFill>
                  <a:prstClr val="black"/>
                </a:solidFill>
                <a:latin typeface="Courier New" pitchFamily="49" charset="0"/>
                <a:ea typeface="+mn-ea"/>
                <a:cs typeface="Courier New" pitchFamily="49" charset="0"/>
                <a:sym typeface="Helvetica Light"/>
              </a:rPr>
              <a:t>this.height</a:t>
            </a:r>
            <a:r>
              <a:rPr lang="en-US" altLang="en-US" sz="1200" kern="1200" dirty="0">
                <a:solidFill>
                  <a:prstClr val="black"/>
                </a:solidFill>
                <a:latin typeface="Courier New" pitchFamily="49" charset="0"/>
                <a:ea typeface="+mn-ea"/>
                <a:cs typeface="Courier New" pitchFamily="49" charset="0"/>
                <a:sym typeface="Helvetica Light"/>
              </a:rPr>
              <a:t> = height;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public double </a:t>
            </a:r>
            <a:r>
              <a:rPr lang="en-US" altLang="en-US" sz="1200" b="1" kern="1200" dirty="0" err="1">
                <a:latin typeface="Courier New" pitchFamily="49" charset="0"/>
                <a:ea typeface="+mn-ea"/>
                <a:cs typeface="Courier New" pitchFamily="49" charset="0"/>
                <a:sym typeface="Helvetica Light"/>
              </a:rPr>
              <a:t>getArea</a:t>
            </a: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return width * height;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endParaRPr lang="en-US" altLang="en-US" sz="1200" b="1" kern="1200" dirty="0">
              <a:latin typeface="Courier New" pitchFamily="49" charset="0"/>
              <a:ea typeface="+mn-ea"/>
              <a:cs typeface="Courier New" pitchFamily="49" charset="0"/>
              <a:sym typeface="Helvetica Light"/>
            </a:endParaRP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public double </a:t>
            </a:r>
            <a:r>
              <a:rPr lang="en-US" altLang="en-US" sz="1200" b="1" kern="1200" dirty="0" err="1">
                <a:latin typeface="Courier New" pitchFamily="49" charset="0"/>
                <a:ea typeface="+mn-ea"/>
                <a:cs typeface="Courier New" pitchFamily="49" charset="0"/>
                <a:sym typeface="Helvetica Light"/>
              </a:rPr>
              <a:t>getPerimeter</a:t>
            </a: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return 2 * (width + height);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a:t>
            </a:r>
          </a:p>
        </p:txBody>
      </p:sp>
    </p:spTree>
    <p:extLst>
      <p:ext uri="{BB962C8B-B14F-4D97-AF65-F5344CB8AC3E}">
        <p14:creationId xmlns:p14="http://schemas.microsoft.com/office/powerpoint/2010/main" val="36741984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1259681" y="123825"/>
            <a:ext cx="6653212" cy="4893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600">
                <a:solidFill>
                  <a:schemeClr val="tx1"/>
                </a:solidFill>
                <a:latin typeface="Times New Roman" pitchFamily="18" charset="0"/>
              </a:defRPr>
            </a:lvl1pPr>
            <a:lvl2pPr marL="742950" indent="-285750">
              <a:defRPr sz="1600">
                <a:solidFill>
                  <a:schemeClr val="tx1"/>
                </a:solidFill>
                <a:latin typeface="Times New Roman" pitchFamily="18" charset="0"/>
              </a:defRPr>
            </a:lvl2pPr>
            <a:lvl3pPr marL="1143000" indent="-228600">
              <a:defRPr sz="1600">
                <a:solidFill>
                  <a:schemeClr val="tx1"/>
                </a:solidFill>
                <a:latin typeface="Times New Roman" pitchFamily="18" charset="0"/>
              </a:defRPr>
            </a:lvl3pPr>
            <a:lvl4pPr marL="1600200" indent="-228600">
              <a:defRPr sz="1600">
                <a:solidFill>
                  <a:schemeClr val="tx1"/>
                </a:solidFill>
                <a:latin typeface="Times New Roman" pitchFamily="18" charset="0"/>
              </a:defRPr>
            </a:lvl4pPr>
            <a:lvl5pPr marL="2057400" indent="-228600">
              <a:defRPr sz="1600">
                <a:solidFill>
                  <a:schemeClr val="tx1"/>
                </a:solidFill>
                <a:latin typeface="Times New Roman" pitchFamily="18" charset="0"/>
              </a:defRPr>
            </a:lvl5pPr>
            <a:lvl6pPr marL="2514600" indent="-228600" eaLnBrk="0" fontAlgn="base" hangingPunct="0">
              <a:spcBef>
                <a:spcPct val="0"/>
              </a:spcBef>
              <a:spcAft>
                <a:spcPct val="0"/>
              </a:spcAft>
              <a:defRPr sz="1600">
                <a:solidFill>
                  <a:schemeClr val="tx1"/>
                </a:solidFill>
                <a:latin typeface="Times New Roman" pitchFamily="18" charset="0"/>
              </a:defRPr>
            </a:lvl6pPr>
            <a:lvl7pPr marL="2971800" indent="-228600" eaLnBrk="0" fontAlgn="base" hangingPunct="0">
              <a:spcBef>
                <a:spcPct val="0"/>
              </a:spcBef>
              <a:spcAft>
                <a:spcPct val="0"/>
              </a:spcAft>
              <a:defRPr sz="1600">
                <a:solidFill>
                  <a:schemeClr val="tx1"/>
                </a:solidFill>
                <a:latin typeface="Times New Roman" pitchFamily="18" charset="0"/>
              </a:defRPr>
            </a:lvl7pPr>
            <a:lvl8pPr marL="3429000" indent="-228600" eaLnBrk="0" fontAlgn="base" hangingPunct="0">
              <a:spcBef>
                <a:spcPct val="0"/>
              </a:spcBef>
              <a:spcAft>
                <a:spcPct val="0"/>
              </a:spcAft>
              <a:defRPr sz="1600">
                <a:solidFill>
                  <a:schemeClr val="tx1"/>
                </a:solidFill>
                <a:latin typeface="Times New Roman" pitchFamily="18" charset="0"/>
              </a:defRPr>
            </a:lvl8pPr>
            <a:lvl9pPr marL="3886200" indent="-228600" eaLnBrk="0" fontAlgn="base" hangingPunct="0">
              <a:spcBef>
                <a:spcPct val="0"/>
              </a:spcBef>
              <a:spcAft>
                <a:spcPct val="0"/>
              </a:spcAft>
              <a:defRPr sz="1600">
                <a:solidFill>
                  <a:schemeClr val="tx1"/>
                </a:solidFill>
                <a:latin typeface="Times New Roman" pitchFamily="18" charset="0"/>
              </a:defRPr>
            </a:lvl9pPr>
          </a:lstStyle>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public class </a:t>
            </a:r>
            <a:r>
              <a:rPr lang="en-US" altLang="en-US" sz="1200" kern="1200" dirty="0" err="1">
                <a:solidFill>
                  <a:prstClr val="black"/>
                </a:solidFill>
                <a:latin typeface="Courier New" pitchFamily="49" charset="0"/>
                <a:ea typeface="+mn-ea"/>
                <a:cs typeface="Courier New" pitchFamily="49" charset="0"/>
                <a:sym typeface="Helvetica Light"/>
              </a:rPr>
              <a:t>TestGeometricObject</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public static void main(String[] </a:t>
            </a:r>
            <a:r>
              <a:rPr lang="en-US" altLang="en-US" sz="1200" kern="1200" dirty="0" err="1">
                <a:solidFill>
                  <a:prstClr val="black"/>
                </a:solidFill>
                <a:latin typeface="Courier New" pitchFamily="49" charset="0"/>
                <a:ea typeface="+mn-ea"/>
                <a:cs typeface="Courier New" pitchFamily="49" charset="0"/>
                <a:sym typeface="Helvetica Light"/>
              </a:rPr>
              <a:t>args</a:t>
            </a: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Declare and initialize two geometric objects</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GeometricObject</a:t>
            </a:r>
            <a:r>
              <a:rPr lang="en-US" altLang="en-US" sz="1200" b="1" kern="1200" dirty="0">
                <a:latin typeface="Courier New" pitchFamily="49" charset="0"/>
                <a:ea typeface="+mn-ea"/>
                <a:cs typeface="Courier New" pitchFamily="49" charset="0"/>
                <a:sym typeface="Helvetica Light"/>
              </a:rPr>
              <a:t> geoObject1 = new Circle(5);</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GeometricObject</a:t>
            </a:r>
            <a:r>
              <a:rPr lang="en-US" altLang="en-US" sz="1200" b="1" kern="1200" dirty="0">
                <a:latin typeface="Courier New" pitchFamily="49" charset="0"/>
                <a:ea typeface="+mn-ea"/>
                <a:cs typeface="Courier New" pitchFamily="49" charset="0"/>
                <a:sym typeface="Helvetica Light"/>
              </a:rPr>
              <a:t> geoObject2 = new Rectangle(5, 3);</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kern="1200" dirty="0" err="1">
                <a:solidFill>
                  <a:prstClr val="black"/>
                </a:solidFill>
                <a:latin typeface="Courier New" pitchFamily="49" charset="0"/>
                <a:ea typeface="+mn-ea"/>
                <a:cs typeface="Courier New" pitchFamily="49" charset="0"/>
                <a:sym typeface="Helvetica Light"/>
              </a:rPr>
              <a:t>System.out.println</a:t>
            </a:r>
            <a:r>
              <a:rPr lang="en-US" altLang="en-US" sz="1200" kern="1200" dirty="0">
                <a:solidFill>
                  <a:prstClr val="black"/>
                </a:solidFill>
                <a:latin typeface="Courier New" pitchFamily="49" charset="0"/>
                <a:ea typeface="+mn-ea"/>
                <a:cs typeface="Courier New" pitchFamily="49" charset="0"/>
                <a:sym typeface="Helvetica Light"/>
              </a:rPr>
              <a:t>("The two objects have the same area? "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equalArea</a:t>
            </a:r>
            <a:r>
              <a:rPr lang="en-US" altLang="en-US" sz="1200" b="1" kern="1200" dirty="0">
                <a:latin typeface="Courier New" pitchFamily="49" charset="0"/>
                <a:ea typeface="+mn-ea"/>
                <a:cs typeface="Courier New" pitchFamily="49" charset="0"/>
                <a:sym typeface="Helvetica Light"/>
              </a:rPr>
              <a:t>(geoObject1, geoObject2));</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Display circle</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displayGeometricObject</a:t>
            </a:r>
            <a:r>
              <a:rPr lang="en-US" altLang="en-US" sz="1200" b="1" kern="1200" dirty="0">
                <a:latin typeface="Courier New" pitchFamily="49" charset="0"/>
                <a:ea typeface="+mn-ea"/>
                <a:cs typeface="Courier New" pitchFamily="49" charset="0"/>
                <a:sym typeface="Helvetica Light"/>
              </a:rPr>
              <a:t>(geoObject1);</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Display rectangle</a:t>
            </a:r>
          </a:p>
          <a:p>
            <a:pPr defTabSz="685733" eaLnBrk="0" fontAlgn="base" hangingPunct="0">
              <a:spcBef>
                <a:spcPct val="0"/>
              </a:spcBef>
              <a:spcAft>
                <a:spcPct val="0"/>
              </a:spcAft>
              <a:buClrTx/>
            </a:pPr>
            <a:r>
              <a:rPr lang="en-US" altLang="en-US" sz="1200" kern="1200" dirty="0">
                <a:solidFill>
                  <a:srgbClr val="00B050"/>
                </a:solidFill>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displayGeometricObject</a:t>
            </a:r>
            <a:r>
              <a:rPr lang="en-US" altLang="en-US" sz="1200" b="1" kern="1200" dirty="0">
                <a:latin typeface="Courier New" pitchFamily="49" charset="0"/>
                <a:ea typeface="+mn-ea"/>
                <a:cs typeface="Courier New" pitchFamily="49" charset="0"/>
                <a:sym typeface="Helvetica Light"/>
              </a:rPr>
              <a:t>(geoObject2);</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endParaRPr lang="en-US" altLang="en-US" sz="1200" kern="1200" dirty="0">
              <a:solidFill>
                <a:prstClr val="black"/>
              </a:solidFill>
              <a:latin typeface="Courier New" pitchFamily="49" charset="0"/>
              <a:ea typeface="+mn-ea"/>
              <a:cs typeface="Courier New" pitchFamily="49" charset="0"/>
              <a:sym typeface="Helvetica Light"/>
            </a:endParaRP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A method for comparing the areas of two geometric objects */</a:t>
            </a:r>
          </a:p>
          <a:p>
            <a:pPr defTabSz="685733" eaLnBrk="0" fontAlgn="base" hangingPunct="0">
              <a:spcBef>
                <a:spcPct val="0"/>
              </a:spcBef>
              <a:spcAft>
                <a:spcPct val="0"/>
              </a:spcAft>
              <a:buClrTx/>
            </a:pPr>
            <a:r>
              <a:rPr lang="en-US" altLang="en-US" sz="1200" kern="1200" dirty="0">
                <a:solidFill>
                  <a:srgbClr val="00B0F0"/>
                </a:solidFill>
                <a:latin typeface="Courier New" pitchFamily="49" charset="0"/>
                <a:ea typeface="+mn-ea"/>
                <a:cs typeface="Courier New" pitchFamily="49" charset="0"/>
                <a:sym typeface="Helvetica Light"/>
              </a:rPr>
              <a:t>  </a:t>
            </a:r>
            <a:r>
              <a:rPr lang="en-US" altLang="en-US" sz="1200" b="1" kern="1200" dirty="0">
                <a:latin typeface="Courier New" pitchFamily="49" charset="0"/>
                <a:ea typeface="+mn-ea"/>
                <a:cs typeface="Courier New" pitchFamily="49" charset="0"/>
                <a:sym typeface="Helvetica Light"/>
              </a:rPr>
              <a:t>public static </a:t>
            </a:r>
            <a:r>
              <a:rPr lang="en-US" altLang="en-US" sz="1200" b="1" kern="1200" dirty="0" err="1">
                <a:latin typeface="Courier New" pitchFamily="49" charset="0"/>
                <a:ea typeface="+mn-ea"/>
                <a:cs typeface="Courier New" pitchFamily="49" charset="0"/>
                <a:sym typeface="Helvetica Light"/>
              </a:rPr>
              <a:t>boolean</a:t>
            </a:r>
            <a:r>
              <a:rPr lang="en-US" altLang="en-US" sz="1200" b="1" kern="1200" dirty="0">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equalArea</a:t>
            </a:r>
            <a:r>
              <a:rPr lang="en-US" altLang="en-US" sz="1200" b="1" kern="1200" dirty="0">
                <a:latin typeface="Courier New" pitchFamily="49" charset="0"/>
                <a:ea typeface="+mn-ea"/>
                <a:cs typeface="Courier New" pitchFamily="49" charset="0"/>
                <a:sym typeface="Helvetica Light"/>
              </a:rPr>
              <a:t>(</a:t>
            </a:r>
            <a:r>
              <a:rPr lang="en-US" altLang="en-US" sz="1200" b="1" kern="1200" dirty="0" err="1">
                <a:latin typeface="Courier New" pitchFamily="49" charset="0"/>
                <a:ea typeface="+mn-ea"/>
                <a:cs typeface="Courier New" pitchFamily="49" charset="0"/>
                <a:sym typeface="Helvetica Light"/>
              </a:rPr>
              <a:t>GeometricObject</a:t>
            </a:r>
            <a:r>
              <a:rPr lang="en-US" altLang="en-US" sz="1200" b="1" kern="1200" dirty="0">
                <a:latin typeface="Courier New" pitchFamily="49" charset="0"/>
                <a:ea typeface="+mn-ea"/>
                <a:cs typeface="Courier New" pitchFamily="49" charset="0"/>
                <a:sym typeface="Helvetica Light"/>
              </a:rPr>
              <a:t> object1,</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GeometricObject</a:t>
            </a:r>
            <a:r>
              <a:rPr lang="en-US" altLang="en-US" sz="1200" b="1" kern="1200" dirty="0">
                <a:latin typeface="Courier New" pitchFamily="49" charset="0"/>
                <a:ea typeface="+mn-ea"/>
                <a:cs typeface="Courier New" pitchFamily="49" charset="0"/>
                <a:sym typeface="Helvetica Light"/>
              </a:rPr>
              <a:t> object2)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return object1.getArea() == object2.getArea();</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endParaRPr lang="en-US" altLang="en-US" sz="1200" kern="1200" dirty="0">
              <a:solidFill>
                <a:prstClr val="black"/>
              </a:solidFill>
              <a:latin typeface="Courier New" pitchFamily="49" charset="0"/>
              <a:ea typeface="+mn-ea"/>
              <a:cs typeface="Courier New" pitchFamily="49" charset="0"/>
              <a:sym typeface="Helvetica Light"/>
            </a:endParaRP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  /** A method for displaying a geometric object */</a:t>
            </a:r>
          </a:p>
          <a:p>
            <a:pPr defTabSz="685733" eaLnBrk="0" fontAlgn="base" hangingPunct="0">
              <a:spcBef>
                <a:spcPct val="0"/>
              </a:spcBef>
              <a:spcAft>
                <a:spcPct val="0"/>
              </a:spcAft>
              <a:buClrTx/>
            </a:pPr>
            <a:r>
              <a:rPr lang="en-US" altLang="en-US" sz="1200" kern="1200" dirty="0">
                <a:solidFill>
                  <a:srgbClr val="00B050"/>
                </a:solidFill>
                <a:latin typeface="Courier New" pitchFamily="49" charset="0"/>
                <a:ea typeface="+mn-ea"/>
                <a:cs typeface="Courier New" pitchFamily="49" charset="0"/>
                <a:sym typeface="Helvetica Light"/>
              </a:rPr>
              <a:t>  </a:t>
            </a:r>
            <a:r>
              <a:rPr lang="en-US" altLang="en-US" sz="1200" b="1" kern="1200" dirty="0">
                <a:latin typeface="Courier New" pitchFamily="49" charset="0"/>
                <a:ea typeface="+mn-ea"/>
                <a:cs typeface="Courier New" pitchFamily="49" charset="0"/>
                <a:sym typeface="Helvetica Light"/>
              </a:rPr>
              <a:t>public static void </a:t>
            </a:r>
            <a:r>
              <a:rPr lang="en-US" altLang="en-US" sz="1200" b="1" kern="1200" dirty="0" err="1">
                <a:latin typeface="Courier New" pitchFamily="49" charset="0"/>
                <a:ea typeface="+mn-ea"/>
                <a:cs typeface="Courier New" pitchFamily="49" charset="0"/>
                <a:sym typeface="Helvetica Light"/>
              </a:rPr>
              <a:t>displayGeometricObject</a:t>
            </a:r>
            <a:r>
              <a:rPr lang="en-US" altLang="en-US" sz="1200" b="1" kern="1200" dirty="0">
                <a:latin typeface="Courier New" pitchFamily="49" charset="0"/>
                <a:ea typeface="+mn-ea"/>
                <a:cs typeface="Courier New" pitchFamily="49" charset="0"/>
                <a:sym typeface="Helvetica Light"/>
              </a:rPr>
              <a:t>(</a:t>
            </a:r>
            <a:r>
              <a:rPr lang="en-US" altLang="en-US" sz="1200" b="1" kern="1200" dirty="0" err="1">
                <a:latin typeface="Courier New" pitchFamily="49" charset="0"/>
                <a:ea typeface="+mn-ea"/>
                <a:cs typeface="Courier New" pitchFamily="49" charset="0"/>
                <a:sym typeface="Helvetica Light"/>
              </a:rPr>
              <a:t>GeometricObject</a:t>
            </a:r>
            <a:r>
              <a:rPr lang="en-US" altLang="en-US" sz="1200" b="1" kern="1200" dirty="0">
                <a:latin typeface="Courier New" pitchFamily="49" charset="0"/>
                <a:ea typeface="+mn-ea"/>
                <a:cs typeface="Courier New" pitchFamily="49" charset="0"/>
                <a:sym typeface="Helvetica Light"/>
              </a:rPr>
              <a:t> object) {</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System.out.println</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System.out.println</a:t>
            </a:r>
            <a:r>
              <a:rPr lang="en-US" altLang="en-US" sz="1200" b="1" kern="1200" dirty="0">
                <a:latin typeface="Courier New" pitchFamily="49" charset="0"/>
                <a:ea typeface="+mn-ea"/>
                <a:cs typeface="Courier New" pitchFamily="49" charset="0"/>
                <a:sym typeface="Helvetica Light"/>
              </a:rPr>
              <a:t>("The area is " + </a:t>
            </a:r>
            <a:r>
              <a:rPr lang="en-US" altLang="en-US" sz="1200" b="1" kern="1200" dirty="0" err="1">
                <a:latin typeface="Courier New" pitchFamily="49" charset="0"/>
                <a:ea typeface="+mn-ea"/>
                <a:cs typeface="Courier New" pitchFamily="49" charset="0"/>
                <a:sym typeface="Helvetica Light"/>
              </a:rPr>
              <a:t>object.getArea</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r>
              <a:rPr lang="en-US" altLang="en-US" sz="1200" b="1" kern="1200" dirty="0" err="1">
                <a:latin typeface="Courier New" pitchFamily="49" charset="0"/>
                <a:ea typeface="+mn-ea"/>
                <a:cs typeface="Courier New" pitchFamily="49" charset="0"/>
                <a:sym typeface="Helvetica Light"/>
              </a:rPr>
              <a:t>System.out.println</a:t>
            </a:r>
            <a:r>
              <a:rPr lang="en-US" altLang="en-US" sz="1200" b="1" kern="1200" dirty="0">
                <a:latin typeface="Courier New" pitchFamily="49" charset="0"/>
                <a:ea typeface="+mn-ea"/>
                <a:cs typeface="Courier New" pitchFamily="49" charset="0"/>
                <a:sym typeface="Helvetica Light"/>
              </a:rPr>
              <a:t>("The perimeter is " + </a:t>
            </a:r>
            <a:r>
              <a:rPr lang="en-US" altLang="en-US" sz="1200" b="1" kern="1200" dirty="0" err="1">
                <a:latin typeface="Courier New" pitchFamily="49" charset="0"/>
                <a:ea typeface="+mn-ea"/>
                <a:cs typeface="Courier New" pitchFamily="49" charset="0"/>
                <a:sym typeface="Helvetica Light"/>
              </a:rPr>
              <a:t>object.getPerimeter</a:t>
            </a:r>
            <a:r>
              <a:rPr lang="en-US" altLang="en-US" sz="1200" b="1" kern="1200" dirty="0">
                <a:latin typeface="Courier New" pitchFamily="49" charset="0"/>
                <a:ea typeface="+mn-ea"/>
                <a:cs typeface="Courier New" pitchFamily="49" charset="0"/>
                <a:sym typeface="Helvetica Light"/>
              </a:rPr>
              <a:t>());</a:t>
            </a:r>
          </a:p>
          <a:p>
            <a:pPr defTabSz="685733" eaLnBrk="0" fontAlgn="base" hangingPunct="0">
              <a:spcBef>
                <a:spcPct val="0"/>
              </a:spcBef>
              <a:spcAft>
                <a:spcPct val="0"/>
              </a:spcAft>
              <a:buClrTx/>
            </a:pPr>
            <a:r>
              <a:rPr lang="en-US" altLang="en-US" sz="1200" b="1" kern="1200" dirty="0">
                <a:latin typeface="Courier New" pitchFamily="49" charset="0"/>
                <a:ea typeface="+mn-ea"/>
                <a:cs typeface="Courier New" pitchFamily="49" charset="0"/>
                <a:sym typeface="Helvetica Light"/>
              </a:rPr>
              <a:t>  }</a:t>
            </a:r>
          </a:p>
          <a:p>
            <a:pPr defTabSz="685733" eaLnBrk="0" fontAlgn="base" hangingPunct="0">
              <a:spcBef>
                <a:spcPct val="0"/>
              </a:spcBef>
              <a:spcAft>
                <a:spcPct val="0"/>
              </a:spcAft>
              <a:buClrTx/>
            </a:pPr>
            <a:r>
              <a:rPr lang="en-US" altLang="en-US" sz="1200" kern="1200" dirty="0">
                <a:solidFill>
                  <a:prstClr val="black"/>
                </a:solidFill>
                <a:latin typeface="Courier New" pitchFamily="49" charset="0"/>
                <a:ea typeface="+mn-ea"/>
                <a:cs typeface="Courier New" pitchFamily="49" charset="0"/>
                <a:sym typeface="Helvetica Light"/>
              </a:rPr>
              <a:t>}</a:t>
            </a:r>
          </a:p>
        </p:txBody>
      </p:sp>
    </p:spTree>
    <p:extLst>
      <p:ext uri="{BB962C8B-B14F-4D97-AF65-F5344CB8AC3E}">
        <p14:creationId xmlns:p14="http://schemas.microsoft.com/office/powerpoint/2010/main" val="205845443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809204" y="489542"/>
            <a:ext cx="7930195" cy="4185761"/>
          </a:xfrm>
          <a:prstGeom prst="rect">
            <a:avLst/>
          </a:prstGeom>
        </p:spPr>
        <p:txBody>
          <a:bodyPr wrap="square">
            <a:spAutoFit/>
          </a:bodyPr>
          <a:lstStyle/>
          <a:p>
            <a:pPr>
              <a:buFont typeface="Wingdings 2" pitchFamily="18" charset="2"/>
              <a:buNone/>
            </a:pPr>
            <a:r>
              <a:rPr lang="en-US" altLang="en-US" b="1" dirty="0">
                <a:latin typeface="Courier New" pitchFamily="49" charset="0"/>
                <a:cs typeface="Courier New" pitchFamily="49" charset="0"/>
              </a:rPr>
              <a:t>public class </a:t>
            </a:r>
            <a:r>
              <a:rPr lang="en-US" altLang="en-US" b="1" dirty="0" err="1">
                <a:latin typeface="Courier New" pitchFamily="49" charset="0"/>
                <a:cs typeface="Courier New" pitchFamily="49" charset="0"/>
              </a:rPr>
              <a:t>CastingDemo</a:t>
            </a:r>
            <a:r>
              <a:rPr lang="en-US" altLang="en-US" b="1" dirty="0">
                <a:latin typeface="Courier New" pitchFamily="49" charset="0"/>
                <a:cs typeface="Courier New" pitchFamily="49" charset="0"/>
              </a:rPr>
              <a:t>{</a:t>
            </a:r>
          </a:p>
          <a:p>
            <a:pPr>
              <a:buFont typeface="Wingdings 2" pitchFamily="18" charset="2"/>
              <a:buNone/>
            </a:pPr>
            <a:r>
              <a:rPr lang="en-US" altLang="en-US" b="1" dirty="0">
                <a:latin typeface="Courier New" pitchFamily="49" charset="0"/>
                <a:cs typeface="Courier New" pitchFamily="49" charset="0"/>
              </a:rPr>
              <a:t>	public static void main(String[] </a:t>
            </a:r>
            <a:r>
              <a:rPr lang="en-US" altLang="en-US" b="1" dirty="0" err="1">
                <a:latin typeface="Courier New" pitchFamily="49" charset="0"/>
                <a:cs typeface="Courier New" pitchFamily="49" charset="0"/>
              </a:rPr>
              <a:t>args</a:t>
            </a:r>
            <a:r>
              <a:rPr lang="en-US" altLang="en-US" b="1" dirty="0">
                <a:latin typeface="Courier New" pitchFamily="49" charset="0"/>
                <a:cs typeface="Courier New" pitchFamily="49" charset="0"/>
              </a:rPr>
              <a:t>){</a:t>
            </a:r>
          </a:p>
          <a:p>
            <a:pPr>
              <a:buFont typeface="Wingdings 2" pitchFamily="18" charset="2"/>
              <a:buNone/>
            </a:pPr>
            <a:r>
              <a:rPr lang="en-US" altLang="en-US" b="1" dirty="0">
                <a:latin typeface="Courier New" pitchFamily="49" charset="0"/>
                <a:cs typeface="Courier New" pitchFamily="49" charset="0"/>
              </a:rPr>
              <a:t> 		</a:t>
            </a:r>
            <a:r>
              <a:rPr lang="en-US" altLang="en-US" b="1" dirty="0">
                <a:solidFill>
                  <a:schemeClr val="tx1"/>
                </a:solidFill>
                <a:latin typeface="Courier New" pitchFamily="49" charset="0"/>
                <a:cs typeface="Courier New" pitchFamily="49" charset="0"/>
              </a:rPr>
              <a:t>Object object1 = new Circle(1);</a:t>
            </a:r>
          </a:p>
          <a:p>
            <a:pPr>
              <a:buFont typeface="Wingdings 2" pitchFamily="18" charset="2"/>
              <a:buNone/>
            </a:pPr>
            <a:r>
              <a:rPr lang="en-US" altLang="en-US" b="1" dirty="0">
                <a:solidFill>
                  <a:schemeClr val="tx1"/>
                </a:solidFill>
                <a:latin typeface="Courier New" pitchFamily="49" charset="0"/>
                <a:cs typeface="Courier New" pitchFamily="49" charset="0"/>
              </a:rPr>
              <a:t>		Object object2 = new Rectangle(1, 1);</a:t>
            </a:r>
          </a:p>
          <a:p>
            <a:pPr>
              <a:buFont typeface="Wingdings 2" pitchFamily="18" charset="2"/>
              <a:buNone/>
            </a:pP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displayObject</a:t>
            </a:r>
            <a:r>
              <a:rPr lang="en-US" altLang="en-US" b="1" dirty="0">
                <a:latin typeface="Courier New" pitchFamily="49" charset="0"/>
                <a:cs typeface="Courier New" pitchFamily="49" charset="0"/>
              </a:rPr>
              <a:t>(object1);</a:t>
            </a:r>
          </a:p>
          <a:p>
            <a:pPr>
              <a:buFont typeface="Wingdings 2" pitchFamily="18" charset="2"/>
              <a:buNone/>
            </a:pP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displayObject</a:t>
            </a:r>
            <a:r>
              <a:rPr lang="en-US" altLang="en-US" b="1" dirty="0">
                <a:latin typeface="Courier New" pitchFamily="49" charset="0"/>
                <a:cs typeface="Courier New" pitchFamily="49" charset="0"/>
              </a:rPr>
              <a:t>(object2);</a:t>
            </a:r>
          </a:p>
          <a:p>
            <a:pPr>
              <a:buFont typeface="Wingdings 2" pitchFamily="18" charset="2"/>
              <a:buNone/>
            </a:pPr>
            <a:r>
              <a:rPr lang="en-US" altLang="en-US" b="1" dirty="0">
                <a:latin typeface="Courier New" pitchFamily="49" charset="0"/>
                <a:cs typeface="Courier New" pitchFamily="49" charset="0"/>
              </a:rPr>
              <a:t>	}</a:t>
            </a:r>
          </a:p>
          <a:p>
            <a:pPr>
              <a:buFont typeface="Wingdings 2" pitchFamily="18" charset="2"/>
              <a:buNone/>
            </a:pPr>
            <a:r>
              <a:rPr lang="en-US" altLang="en-US" b="1" dirty="0">
                <a:latin typeface="Courier New" pitchFamily="49" charset="0"/>
                <a:cs typeface="Courier New" pitchFamily="49" charset="0"/>
              </a:rPr>
              <a:t>	public static void </a:t>
            </a:r>
            <a:r>
              <a:rPr lang="en-US" altLang="en-US" b="1" dirty="0" err="1">
                <a:latin typeface="Courier New" pitchFamily="49" charset="0"/>
                <a:cs typeface="Courier New" pitchFamily="49" charset="0"/>
              </a:rPr>
              <a:t>displayObject</a:t>
            </a:r>
            <a:r>
              <a:rPr lang="en-US" altLang="en-US" b="1" dirty="0">
                <a:latin typeface="Courier New" pitchFamily="49" charset="0"/>
                <a:cs typeface="Courier New" pitchFamily="49" charset="0"/>
              </a:rPr>
              <a:t>(Object object) {</a:t>
            </a:r>
          </a:p>
          <a:p>
            <a:pPr>
              <a:buFont typeface="Wingdings 2" pitchFamily="18" charset="2"/>
              <a:buNone/>
            </a:pPr>
            <a:r>
              <a:rPr lang="en-US" altLang="en-US" b="1" dirty="0">
                <a:latin typeface="Courier New" pitchFamily="49" charset="0"/>
                <a:cs typeface="Courier New" pitchFamily="49" charset="0"/>
              </a:rPr>
              <a:t>		if (</a:t>
            </a:r>
            <a:r>
              <a:rPr lang="en-US" altLang="en-US" b="1" dirty="0">
                <a:solidFill>
                  <a:schemeClr val="tx1"/>
                </a:solidFill>
                <a:latin typeface="Courier New" pitchFamily="49" charset="0"/>
                <a:cs typeface="Courier New" pitchFamily="49" charset="0"/>
              </a:rPr>
              <a:t>object </a:t>
            </a:r>
            <a:r>
              <a:rPr lang="en-US" altLang="en-US" b="1" dirty="0" err="1">
                <a:solidFill>
                  <a:schemeClr val="tx1"/>
                </a:solidFill>
                <a:latin typeface="Courier New" pitchFamily="49" charset="0"/>
                <a:cs typeface="Courier New" pitchFamily="49" charset="0"/>
              </a:rPr>
              <a:t>instanceof</a:t>
            </a:r>
            <a:r>
              <a:rPr lang="en-US" altLang="en-US" b="1" dirty="0">
                <a:solidFill>
                  <a:schemeClr val="tx1"/>
                </a:solidFill>
                <a:latin typeface="Courier New" pitchFamily="49" charset="0"/>
                <a:cs typeface="Courier New" pitchFamily="49" charset="0"/>
              </a:rPr>
              <a:t> Circle</a:t>
            </a:r>
            <a:r>
              <a:rPr lang="en-US" altLang="en-US" b="1" dirty="0">
                <a:latin typeface="Courier New" pitchFamily="49" charset="0"/>
                <a:cs typeface="Courier New" pitchFamily="49" charset="0"/>
              </a:rPr>
              <a:t>) {</a:t>
            </a:r>
          </a:p>
          <a:p>
            <a:pPr>
              <a:buFont typeface="Wingdings 2" pitchFamily="18" charset="2"/>
              <a:buNone/>
            </a:pP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System.out.println</a:t>
            </a:r>
            <a:r>
              <a:rPr lang="en-US" altLang="en-US" b="1" dirty="0">
                <a:latin typeface="Courier New" pitchFamily="49" charset="0"/>
                <a:cs typeface="Courier New" pitchFamily="49" charset="0"/>
              </a:rPr>
              <a:t>("The circle area is " +</a:t>
            </a:r>
          </a:p>
          <a:p>
            <a:pPr>
              <a:buFont typeface="Wingdings 2" pitchFamily="18" charset="2"/>
              <a:buNone/>
            </a:pPr>
            <a:r>
              <a:rPr lang="en-US" altLang="en-US" b="1" dirty="0">
                <a:latin typeface="Courier New" pitchFamily="49" charset="0"/>
                <a:cs typeface="Courier New" pitchFamily="49" charset="0"/>
              </a:rPr>
              <a:t>				</a:t>
            </a:r>
            <a:r>
              <a:rPr lang="en-US" altLang="en-US" b="1" dirty="0">
                <a:solidFill>
                  <a:schemeClr val="tx1"/>
                </a:solidFill>
                <a:latin typeface="Courier New" pitchFamily="49" charset="0"/>
                <a:cs typeface="Courier New" pitchFamily="49" charset="0"/>
              </a:rPr>
              <a:t>((Circle)object).</a:t>
            </a:r>
            <a:r>
              <a:rPr lang="en-US" altLang="en-US" b="1" dirty="0" err="1">
                <a:solidFill>
                  <a:schemeClr val="tx1"/>
                </a:solidFill>
                <a:latin typeface="Courier New" pitchFamily="49" charset="0"/>
                <a:cs typeface="Courier New" pitchFamily="49" charset="0"/>
              </a:rPr>
              <a:t>getArea</a:t>
            </a:r>
            <a:r>
              <a:rPr lang="en-US" altLang="en-US" b="1" dirty="0">
                <a:solidFill>
                  <a:schemeClr val="tx1"/>
                </a:solidFill>
                <a:latin typeface="Courier New" pitchFamily="49" charset="0"/>
                <a:cs typeface="Courier New" pitchFamily="49" charset="0"/>
              </a:rPr>
              <a:t>());</a:t>
            </a:r>
          </a:p>
          <a:p>
            <a:pPr>
              <a:buFont typeface="Wingdings 2" pitchFamily="18" charset="2"/>
              <a:buNone/>
            </a:pP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System.out.println</a:t>
            </a:r>
            <a:r>
              <a:rPr lang="en-US" altLang="en-US" b="1" dirty="0">
                <a:latin typeface="Courier New" pitchFamily="49" charset="0"/>
                <a:cs typeface="Courier New" pitchFamily="49" charset="0"/>
              </a:rPr>
              <a:t>("The circle diameter is " +</a:t>
            </a:r>
          </a:p>
          <a:p>
            <a:pPr>
              <a:buFont typeface="Wingdings 2" pitchFamily="18" charset="2"/>
              <a:buNone/>
            </a:pPr>
            <a:r>
              <a:rPr lang="en-US" altLang="en-US" b="1" dirty="0">
                <a:latin typeface="Courier New" pitchFamily="49" charset="0"/>
                <a:cs typeface="Courier New" pitchFamily="49" charset="0"/>
              </a:rPr>
              <a:t>				</a:t>
            </a:r>
            <a:r>
              <a:rPr lang="en-US" altLang="en-US" b="1" dirty="0">
                <a:solidFill>
                  <a:schemeClr val="tx1"/>
                </a:solidFill>
                <a:latin typeface="Courier New" pitchFamily="49" charset="0"/>
                <a:cs typeface="Courier New" pitchFamily="49" charset="0"/>
              </a:rPr>
              <a:t>((Circle)object).</a:t>
            </a:r>
            <a:r>
              <a:rPr lang="en-US" altLang="en-US" b="1" dirty="0" err="1">
                <a:solidFill>
                  <a:schemeClr val="tx1"/>
                </a:solidFill>
                <a:latin typeface="Courier New" pitchFamily="49" charset="0"/>
                <a:cs typeface="Courier New" pitchFamily="49" charset="0"/>
              </a:rPr>
              <a:t>getDiameter</a:t>
            </a:r>
            <a:r>
              <a:rPr lang="en-US" altLang="en-US" b="1" dirty="0">
                <a:solidFill>
                  <a:schemeClr val="tx1"/>
                </a:solidFill>
                <a:latin typeface="Courier New" pitchFamily="49" charset="0"/>
                <a:cs typeface="Courier New" pitchFamily="49" charset="0"/>
              </a:rPr>
              <a:t>());</a:t>
            </a:r>
          </a:p>
          <a:p>
            <a:pPr>
              <a:buFont typeface="Wingdings 2" pitchFamily="18" charset="2"/>
              <a:buNone/>
            </a:pPr>
            <a:r>
              <a:rPr lang="en-US" altLang="en-US" b="1" dirty="0">
                <a:latin typeface="Courier New" pitchFamily="49" charset="0"/>
                <a:cs typeface="Courier New" pitchFamily="49" charset="0"/>
              </a:rPr>
              <a:t>		}else if (</a:t>
            </a:r>
            <a:r>
              <a:rPr lang="en-US" altLang="en-US" b="1" dirty="0">
                <a:solidFill>
                  <a:schemeClr val="tx1"/>
                </a:solidFill>
                <a:latin typeface="Courier New" pitchFamily="49" charset="0"/>
                <a:cs typeface="Courier New" pitchFamily="49" charset="0"/>
              </a:rPr>
              <a:t>object </a:t>
            </a:r>
            <a:r>
              <a:rPr lang="en-US" altLang="en-US" b="1" dirty="0" err="1">
                <a:solidFill>
                  <a:schemeClr val="tx1"/>
                </a:solidFill>
                <a:latin typeface="Courier New" pitchFamily="49" charset="0"/>
                <a:cs typeface="Courier New" pitchFamily="49" charset="0"/>
              </a:rPr>
              <a:t>instanceof</a:t>
            </a:r>
            <a:r>
              <a:rPr lang="en-US" altLang="en-US" b="1" dirty="0">
                <a:solidFill>
                  <a:schemeClr val="tx1"/>
                </a:solidFill>
                <a:latin typeface="Courier New" pitchFamily="49" charset="0"/>
                <a:cs typeface="Courier New" pitchFamily="49" charset="0"/>
              </a:rPr>
              <a:t> Rectangle</a:t>
            </a:r>
            <a:r>
              <a:rPr lang="en-US" altLang="en-US" b="1" dirty="0">
                <a:latin typeface="Courier New" pitchFamily="49" charset="0"/>
                <a:cs typeface="Courier New" pitchFamily="49" charset="0"/>
              </a:rPr>
              <a:t>) {</a:t>
            </a:r>
          </a:p>
          <a:p>
            <a:pPr>
              <a:buFont typeface="Wingdings 2" pitchFamily="18" charset="2"/>
              <a:buNone/>
            </a:pPr>
            <a:r>
              <a:rPr lang="en-US" altLang="en-US" b="1" dirty="0">
                <a:latin typeface="Courier New" pitchFamily="49" charset="0"/>
                <a:cs typeface="Courier New" pitchFamily="49" charset="0"/>
              </a:rPr>
              <a:t>			</a:t>
            </a:r>
            <a:r>
              <a:rPr lang="en-US" altLang="en-US" b="1" dirty="0" err="1">
                <a:latin typeface="Courier New" pitchFamily="49" charset="0"/>
                <a:cs typeface="Courier New" pitchFamily="49" charset="0"/>
              </a:rPr>
              <a:t>System.out.println</a:t>
            </a:r>
            <a:r>
              <a:rPr lang="en-US" altLang="en-US" b="1" dirty="0">
                <a:latin typeface="Courier New" pitchFamily="49" charset="0"/>
                <a:cs typeface="Courier New" pitchFamily="49" charset="0"/>
              </a:rPr>
              <a:t>("The rectangle area is " +</a:t>
            </a:r>
          </a:p>
          <a:p>
            <a:pPr>
              <a:buFont typeface="Wingdings 2" pitchFamily="18" charset="2"/>
              <a:buNone/>
            </a:pPr>
            <a:r>
              <a:rPr lang="en-US" altLang="en-US" b="1" dirty="0">
                <a:latin typeface="Courier New" pitchFamily="49" charset="0"/>
                <a:cs typeface="Courier New" pitchFamily="49" charset="0"/>
              </a:rPr>
              <a:t>				</a:t>
            </a:r>
            <a:r>
              <a:rPr lang="en-US" altLang="en-US" b="1" dirty="0">
                <a:solidFill>
                  <a:schemeClr val="tx1"/>
                </a:solidFill>
                <a:latin typeface="Courier New" pitchFamily="49" charset="0"/>
                <a:cs typeface="Courier New" pitchFamily="49" charset="0"/>
              </a:rPr>
              <a:t>((Rectangle)object).</a:t>
            </a:r>
            <a:r>
              <a:rPr lang="en-US" altLang="en-US" b="1" dirty="0" err="1">
                <a:solidFill>
                  <a:schemeClr val="tx1"/>
                </a:solidFill>
                <a:latin typeface="Courier New" pitchFamily="49" charset="0"/>
                <a:cs typeface="Courier New" pitchFamily="49" charset="0"/>
              </a:rPr>
              <a:t>getArea</a:t>
            </a:r>
            <a:r>
              <a:rPr lang="en-US" altLang="en-US" b="1" dirty="0">
                <a:solidFill>
                  <a:schemeClr val="tx1"/>
                </a:solidFill>
                <a:latin typeface="Courier New" pitchFamily="49" charset="0"/>
                <a:cs typeface="Courier New" pitchFamily="49" charset="0"/>
              </a:rPr>
              <a:t>());</a:t>
            </a:r>
          </a:p>
          <a:p>
            <a:pPr>
              <a:buFont typeface="Wingdings 2" pitchFamily="18" charset="2"/>
              <a:buNone/>
            </a:pPr>
            <a:r>
              <a:rPr lang="en-US" altLang="en-US" b="1" dirty="0">
                <a:latin typeface="Courier New" pitchFamily="49" charset="0"/>
                <a:cs typeface="Courier New" pitchFamily="49" charset="0"/>
              </a:rPr>
              <a:t>		}</a:t>
            </a:r>
          </a:p>
          <a:p>
            <a:pPr>
              <a:buFont typeface="Wingdings 2" pitchFamily="18" charset="2"/>
              <a:buNone/>
            </a:pPr>
            <a:r>
              <a:rPr lang="en-US" altLang="en-US" b="1" dirty="0">
                <a:latin typeface="Courier New" pitchFamily="49" charset="0"/>
                <a:cs typeface="Courier New" pitchFamily="49" charset="0"/>
              </a:rPr>
              <a:t>	}</a:t>
            </a:r>
          </a:p>
          <a:p>
            <a:pPr>
              <a:buFont typeface="Wingdings 2" pitchFamily="18" charset="2"/>
              <a:buNone/>
            </a:pPr>
            <a:r>
              <a:rPr lang="en-US" altLang="en-US" b="1" dirty="0">
                <a:latin typeface="Courier New" pitchFamily="49" charset="0"/>
                <a:cs typeface="Courier New" pitchFamily="49" charset="0"/>
              </a:rPr>
              <a:t>}</a:t>
            </a:r>
          </a:p>
        </p:txBody>
      </p:sp>
    </p:spTree>
    <p:extLst>
      <p:ext uri="{BB962C8B-B14F-4D97-AF65-F5344CB8AC3E}">
        <p14:creationId xmlns:p14="http://schemas.microsoft.com/office/powerpoint/2010/main" val="2581838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tLang="en-US" sz="2400" b="1" i="1" dirty="0"/>
              <a:t>abstract</a:t>
            </a:r>
            <a:r>
              <a:rPr lang="en-US" altLang="en-US" sz="2400" b="1" dirty="0"/>
              <a:t> method in </a:t>
            </a:r>
            <a:r>
              <a:rPr lang="en-US" altLang="en-US" sz="2400" b="1" i="1" dirty="0"/>
              <a:t>abstract</a:t>
            </a:r>
            <a:r>
              <a:rPr lang="en-US" altLang="en-US" sz="2400" b="1" dirty="0"/>
              <a:t> class </a:t>
            </a:r>
            <a:endParaRPr lang="en-US" sz="2500" b="1" dirty="0">
              <a:cs typeface="Times New Roman" pitchFamily="16" charset="0"/>
            </a:endParaRPr>
          </a:p>
        </p:txBody>
      </p:sp>
      <p:sp>
        <p:nvSpPr>
          <p:cNvPr id="2" name="Text Placeholder 1"/>
          <p:cNvSpPr>
            <a:spLocks noGrp="1"/>
          </p:cNvSpPr>
          <p:nvPr>
            <p:ph type="body" idx="1"/>
          </p:nvPr>
        </p:nvSpPr>
        <p:spPr/>
        <p:txBody>
          <a:bodyPr>
            <a:normAutofit/>
          </a:bodyPr>
          <a:lstStyle/>
          <a:p>
            <a:r>
              <a:rPr lang="en-US" altLang="en-US" dirty="0">
                <a:cs typeface="Times New Roman" pitchFamily="18" charset="0"/>
              </a:rPr>
              <a:t>An abstract method cannot be contained in a </a:t>
            </a:r>
            <a:r>
              <a:rPr lang="en-US" altLang="en-US" dirty="0" smtClean="0">
                <a:cs typeface="Times New Roman" pitchFamily="18" charset="0"/>
              </a:rPr>
              <a:t>non-abstract </a:t>
            </a:r>
            <a:r>
              <a:rPr lang="en-US" altLang="en-US" dirty="0">
                <a:cs typeface="Times New Roman" pitchFamily="18" charset="0"/>
              </a:rPr>
              <a:t>class. </a:t>
            </a:r>
            <a:endParaRPr lang="en-US" altLang="en-US" dirty="0" smtClean="0">
              <a:cs typeface="Times New Roman" pitchFamily="18" charset="0"/>
            </a:endParaRPr>
          </a:p>
          <a:p>
            <a:pPr marL="114300" indent="0">
              <a:buNone/>
            </a:pPr>
            <a:endParaRPr lang="en-US" altLang="en-US" dirty="0">
              <a:cs typeface="Times New Roman" pitchFamily="18" charset="0"/>
            </a:endParaRPr>
          </a:p>
          <a:p>
            <a:r>
              <a:rPr lang="en-US" altLang="en-US" b="1" dirty="0">
                <a:solidFill>
                  <a:schemeClr val="tx1"/>
                </a:solidFill>
                <a:cs typeface="Times New Roman" pitchFamily="18" charset="0"/>
              </a:rPr>
              <a:t>In a </a:t>
            </a:r>
            <a:r>
              <a:rPr lang="en-US" altLang="en-US" b="1" dirty="0" smtClean="0">
                <a:solidFill>
                  <a:schemeClr val="tx1"/>
                </a:solidFill>
                <a:cs typeface="Times New Roman" pitchFamily="18" charset="0"/>
              </a:rPr>
              <a:t>non-abstract </a:t>
            </a:r>
            <a:r>
              <a:rPr lang="en-US" altLang="en-US" b="1" dirty="0">
                <a:solidFill>
                  <a:schemeClr val="tx1"/>
                </a:solidFill>
                <a:cs typeface="Times New Roman" pitchFamily="18" charset="0"/>
              </a:rPr>
              <a:t>subclass extended from an abstract class, all the abstract methods must be implemented</a:t>
            </a:r>
            <a:r>
              <a:rPr lang="en-US" altLang="en-US" dirty="0">
                <a:cs typeface="Times New Roman" pitchFamily="18" charset="0"/>
              </a:rPr>
              <a:t>, even if they are not used in the subclass</a:t>
            </a:r>
            <a:r>
              <a:rPr lang="en-US" altLang="en-US" dirty="0" smtClean="0">
                <a:cs typeface="Times New Roman" pitchFamily="18" charset="0"/>
              </a:rPr>
              <a:t>.</a:t>
            </a:r>
          </a:p>
          <a:p>
            <a:pPr marL="114300" indent="0">
              <a:buNone/>
            </a:pPr>
            <a:endParaRPr lang="en-US" altLang="en-US" dirty="0">
              <a:cs typeface="Times New Roman" pitchFamily="18" charset="0"/>
            </a:endParaRPr>
          </a:p>
          <a:p>
            <a:r>
              <a:rPr lang="en-US" altLang="en-US" dirty="0">
                <a:cs typeface="Times New Roman" pitchFamily="18" charset="0"/>
              </a:rPr>
              <a:t>If a subclass of an abstract superclass does not implement all the abstract methods, the subclass must be defined abstract. </a:t>
            </a:r>
          </a:p>
          <a:p>
            <a:endParaRPr lang="en-US" altLang="en-US" sz="2000" dirty="0">
              <a:cs typeface="Times New Roman" pitchFamily="18" charset="0"/>
            </a:endParaRPr>
          </a:p>
        </p:txBody>
      </p:sp>
    </p:spTree>
    <p:extLst>
      <p:ext uri="{BB962C8B-B14F-4D97-AF65-F5344CB8AC3E}">
        <p14:creationId xmlns:p14="http://schemas.microsoft.com/office/powerpoint/2010/main" val="2434440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tLang="en-US" sz="2400" b="1" i="1" dirty="0"/>
              <a:t>abstract</a:t>
            </a:r>
            <a:r>
              <a:rPr lang="en-US" altLang="en-US" sz="2400" b="1" dirty="0"/>
              <a:t> classes</a:t>
            </a:r>
            <a:endParaRPr lang="en-US" sz="2500" b="1" dirty="0">
              <a:cs typeface="Times New Roman" pitchFamily="16" charset="0"/>
            </a:endParaRPr>
          </a:p>
        </p:txBody>
      </p:sp>
      <p:sp>
        <p:nvSpPr>
          <p:cNvPr id="2" name="Text Placeholder 1"/>
          <p:cNvSpPr>
            <a:spLocks noGrp="1"/>
          </p:cNvSpPr>
          <p:nvPr>
            <p:ph type="body" idx="1"/>
          </p:nvPr>
        </p:nvSpPr>
        <p:spPr/>
        <p:txBody>
          <a:bodyPr>
            <a:normAutofit/>
          </a:bodyPr>
          <a:lstStyle/>
          <a:p>
            <a:r>
              <a:rPr lang="en-US" altLang="en-US" b="1" dirty="0">
                <a:solidFill>
                  <a:schemeClr val="tx1"/>
                </a:solidFill>
              </a:rPr>
              <a:t>An object cannot be created from abstract </a:t>
            </a:r>
            <a:r>
              <a:rPr lang="en-US" altLang="en-US" b="1" dirty="0" smtClean="0">
                <a:solidFill>
                  <a:schemeClr val="tx1"/>
                </a:solidFill>
              </a:rPr>
              <a:t>class.</a:t>
            </a:r>
            <a:endParaRPr lang="en-US" altLang="en-US" b="1" dirty="0">
              <a:solidFill>
                <a:schemeClr val="tx1"/>
              </a:solidFill>
              <a:cs typeface="Times New Roman" pitchFamily="18" charset="0"/>
            </a:endParaRPr>
          </a:p>
          <a:p>
            <a:pPr lvl="1"/>
            <a:r>
              <a:rPr lang="en-US" altLang="en-US" sz="1800" dirty="0">
                <a:cs typeface="Times New Roman" pitchFamily="18" charset="0"/>
              </a:rPr>
              <a:t>An abstract class cannot be instantiated using the </a:t>
            </a:r>
            <a:r>
              <a:rPr lang="en-US" altLang="en-US" sz="1800" b="1" u="sng" dirty="0">
                <a:solidFill>
                  <a:schemeClr val="tx1"/>
                </a:solidFill>
                <a:cs typeface="Times New Roman" pitchFamily="18" charset="0"/>
              </a:rPr>
              <a:t>new</a:t>
            </a:r>
            <a:r>
              <a:rPr lang="en-US" altLang="en-US" sz="1800" dirty="0">
                <a:cs typeface="Times New Roman" pitchFamily="18" charset="0"/>
              </a:rPr>
              <a:t> </a:t>
            </a:r>
            <a:r>
              <a:rPr lang="en-US" altLang="en-US" sz="1800" dirty="0" smtClean="0">
                <a:cs typeface="Times New Roman" pitchFamily="18" charset="0"/>
              </a:rPr>
              <a:t>operator.</a:t>
            </a:r>
            <a:endParaRPr lang="en-US" altLang="en-US" sz="1800" dirty="0">
              <a:cs typeface="Times New Roman" pitchFamily="18" charset="0"/>
            </a:endParaRPr>
          </a:p>
          <a:p>
            <a:pPr lvl="1"/>
            <a:r>
              <a:rPr lang="en-US" altLang="en-US" sz="1800" dirty="0">
                <a:cs typeface="Times New Roman" pitchFamily="18" charset="0"/>
              </a:rPr>
              <a:t>We can still define its constructors, which are invoked in the constructors of its subclasses. </a:t>
            </a:r>
          </a:p>
          <a:p>
            <a:pPr lvl="2"/>
            <a:r>
              <a:rPr lang="en-US" altLang="en-US" sz="1800" dirty="0">
                <a:cs typeface="Times New Roman" pitchFamily="18" charset="0"/>
              </a:rPr>
              <a:t>For instance, the constructors of </a:t>
            </a:r>
            <a:r>
              <a:rPr lang="en-US" altLang="en-US" sz="1800" b="1" u="sng" dirty="0" err="1">
                <a:solidFill>
                  <a:schemeClr val="tx1"/>
                </a:solidFill>
                <a:cs typeface="Times New Roman" pitchFamily="18" charset="0"/>
              </a:rPr>
              <a:t>GeometricObject</a:t>
            </a:r>
            <a:r>
              <a:rPr lang="en-US" altLang="en-US" sz="1800" dirty="0">
                <a:cs typeface="Times New Roman" pitchFamily="18" charset="0"/>
              </a:rPr>
              <a:t> are invoked in the </a:t>
            </a:r>
            <a:r>
              <a:rPr lang="en-US" altLang="en-US" sz="1800" b="1" u="sng" dirty="0">
                <a:solidFill>
                  <a:schemeClr val="tx1"/>
                </a:solidFill>
                <a:cs typeface="Times New Roman" pitchFamily="18" charset="0"/>
              </a:rPr>
              <a:t>Circle</a:t>
            </a:r>
            <a:r>
              <a:rPr lang="en-US" altLang="en-US" sz="1800" dirty="0">
                <a:cs typeface="Times New Roman" pitchFamily="18" charset="0"/>
              </a:rPr>
              <a:t> class and the </a:t>
            </a:r>
            <a:r>
              <a:rPr lang="en-US" altLang="en-US" sz="1800" b="1" u="sng" dirty="0">
                <a:solidFill>
                  <a:schemeClr val="tx1"/>
                </a:solidFill>
                <a:cs typeface="Times New Roman" pitchFamily="18" charset="0"/>
              </a:rPr>
              <a:t>Rectangle</a:t>
            </a:r>
            <a:r>
              <a:rPr lang="en-US" altLang="en-US" sz="1800" dirty="0">
                <a:cs typeface="Times New Roman" pitchFamily="18" charset="0"/>
              </a:rPr>
              <a:t> class</a:t>
            </a:r>
            <a:r>
              <a:rPr lang="en-US" altLang="en-US" sz="1800" dirty="0" smtClean="0">
                <a:cs typeface="Times New Roman" pitchFamily="18" charset="0"/>
              </a:rPr>
              <a:t>.</a:t>
            </a:r>
          </a:p>
          <a:p>
            <a:r>
              <a:rPr lang="en-US" altLang="en-US" b="1" dirty="0">
                <a:solidFill>
                  <a:schemeClr val="tx1"/>
                </a:solidFill>
                <a:cs typeface="Times New Roman" pitchFamily="18" charset="0"/>
              </a:rPr>
              <a:t>A subclass can be abstract even if its superclass is concrete. </a:t>
            </a:r>
          </a:p>
          <a:p>
            <a:pPr lvl="1"/>
            <a:r>
              <a:rPr lang="en-US" altLang="en-US" sz="1800" dirty="0">
                <a:cs typeface="Times New Roman" pitchFamily="18" charset="0"/>
              </a:rPr>
              <a:t>For example, the </a:t>
            </a:r>
            <a:r>
              <a:rPr lang="en-US" altLang="en-US" sz="1800" b="1" u="sng" dirty="0">
                <a:solidFill>
                  <a:schemeClr val="tx1"/>
                </a:solidFill>
                <a:cs typeface="Times New Roman" pitchFamily="18" charset="0"/>
              </a:rPr>
              <a:t>Object</a:t>
            </a:r>
            <a:r>
              <a:rPr lang="en-US" altLang="en-US" sz="1800" dirty="0">
                <a:cs typeface="Times New Roman" pitchFamily="18" charset="0"/>
              </a:rPr>
              <a:t> class is concrete, but a subclass, </a:t>
            </a:r>
            <a:r>
              <a:rPr lang="en-US" altLang="en-US" sz="1800" b="1" u="sng" dirty="0" err="1">
                <a:solidFill>
                  <a:schemeClr val="tx1"/>
                </a:solidFill>
                <a:cs typeface="Times New Roman" pitchFamily="18" charset="0"/>
              </a:rPr>
              <a:t>GeometricObject</a:t>
            </a:r>
            <a:r>
              <a:rPr lang="en-US" altLang="en-US" sz="1800" dirty="0">
                <a:cs typeface="Times New Roman" pitchFamily="18" charset="0"/>
              </a:rPr>
              <a:t>, is </a:t>
            </a:r>
            <a:r>
              <a:rPr lang="en-US" altLang="en-US" sz="1800" dirty="0" smtClean="0">
                <a:cs typeface="Times New Roman" pitchFamily="18" charset="0"/>
              </a:rPr>
              <a:t>abstract.</a:t>
            </a:r>
            <a:endParaRPr lang="en-US" altLang="en-US" sz="1800" dirty="0">
              <a:cs typeface="Times New Roman" pitchFamily="18" charset="0"/>
            </a:endParaRPr>
          </a:p>
          <a:p>
            <a:pPr marL="114300" indent="0">
              <a:buNone/>
            </a:pPr>
            <a:r>
              <a:rPr lang="en-US" altLang="en-US" sz="2200" dirty="0" smtClean="0">
                <a:cs typeface="Times New Roman" pitchFamily="18" charset="0"/>
              </a:rPr>
              <a:t> </a:t>
            </a:r>
            <a:endParaRPr lang="en-US" altLang="en-US" sz="2200" dirty="0">
              <a:cs typeface="Times New Roman" pitchFamily="18" charset="0"/>
            </a:endParaRPr>
          </a:p>
        </p:txBody>
      </p:sp>
    </p:spTree>
    <p:extLst>
      <p:ext uri="{BB962C8B-B14F-4D97-AF65-F5344CB8AC3E}">
        <p14:creationId xmlns:p14="http://schemas.microsoft.com/office/powerpoint/2010/main" val="4229360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altLang="en-US" sz="2400" b="1" i="1" dirty="0"/>
              <a:t>abstract</a:t>
            </a:r>
            <a:r>
              <a:rPr lang="en-US" altLang="en-US" sz="2400" b="1" dirty="0"/>
              <a:t> classes as types</a:t>
            </a:r>
            <a:endParaRPr lang="en-US" sz="2500" b="1" dirty="0">
              <a:cs typeface="Times New Roman" pitchFamily="16" charset="0"/>
            </a:endParaRPr>
          </a:p>
        </p:txBody>
      </p:sp>
      <p:sp>
        <p:nvSpPr>
          <p:cNvPr id="2" name="Text Placeholder 1"/>
          <p:cNvSpPr>
            <a:spLocks noGrp="1"/>
          </p:cNvSpPr>
          <p:nvPr>
            <p:ph type="body" idx="1"/>
          </p:nvPr>
        </p:nvSpPr>
        <p:spPr/>
        <p:txBody>
          <a:bodyPr>
            <a:normAutofit/>
          </a:bodyPr>
          <a:lstStyle/>
          <a:p>
            <a:pPr>
              <a:spcBef>
                <a:spcPct val="50000"/>
              </a:spcBef>
              <a:defRPr/>
            </a:pPr>
            <a:r>
              <a:rPr lang="en-US" altLang="en-US" dirty="0" smtClean="0">
                <a:cs typeface="Times New Roman" pitchFamily="18" charset="0"/>
              </a:rPr>
              <a:t>You </a:t>
            </a:r>
            <a:r>
              <a:rPr lang="en-US" altLang="en-US" dirty="0">
                <a:cs typeface="Times New Roman" pitchFamily="18" charset="0"/>
              </a:rPr>
              <a:t>cannot create an instance from an abstract class using the </a:t>
            </a:r>
            <a:r>
              <a:rPr lang="en-US" altLang="en-US" b="1" u="sng" dirty="0">
                <a:solidFill>
                  <a:schemeClr val="tx1"/>
                </a:solidFill>
                <a:cs typeface="Times New Roman" pitchFamily="18" charset="0"/>
              </a:rPr>
              <a:t>new</a:t>
            </a:r>
            <a:r>
              <a:rPr lang="en-US" altLang="en-US" dirty="0">
                <a:cs typeface="Times New Roman" pitchFamily="18" charset="0"/>
              </a:rPr>
              <a:t> operator, but an abstract class can be used as a data type:</a:t>
            </a:r>
          </a:p>
          <a:p>
            <a:pPr marL="239292" lvl="1" indent="0">
              <a:spcBef>
                <a:spcPct val="50000"/>
              </a:spcBef>
              <a:buNone/>
              <a:defRPr/>
            </a:pPr>
            <a:r>
              <a:rPr lang="en-US" altLang="en-US" sz="1800" b="1" dirty="0" smtClean="0">
                <a:solidFill>
                  <a:srgbClr val="FF0000"/>
                </a:solidFill>
                <a:latin typeface="Courier New" pitchFamily="49" charset="0"/>
                <a:cs typeface="Courier New" pitchFamily="49" charset="0"/>
              </a:rPr>
              <a:t>  </a:t>
            </a:r>
            <a:r>
              <a:rPr lang="en-US" altLang="en-US" sz="1800" b="1" dirty="0" err="1" smtClean="0">
                <a:solidFill>
                  <a:schemeClr val="tx1"/>
                </a:solidFill>
                <a:latin typeface="Courier New" pitchFamily="49" charset="0"/>
                <a:cs typeface="Courier New" pitchFamily="49" charset="0"/>
              </a:rPr>
              <a:t>GeometricObject</a:t>
            </a:r>
            <a:r>
              <a:rPr lang="en-US" altLang="en-US" sz="1800" b="1" dirty="0" smtClean="0">
                <a:solidFill>
                  <a:schemeClr val="tx1"/>
                </a:solidFill>
                <a:latin typeface="Courier New" pitchFamily="49" charset="0"/>
                <a:cs typeface="Courier New" pitchFamily="49" charset="0"/>
              </a:rPr>
              <a:t> </a:t>
            </a:r>
            <a:r>
              <a:rPr lang="en-US" altLang="en-US" sz="1800" b="1" dirty="0">
                <a:solidFill>
                  <a:schemeClr val="tx1"/>
                </a:solidFill>
                <a:latin typeface="Courier New" pitchFamily="49" charset="0"/>
                <a:cs typeface="Courier New" pitchFamily="49" charset="0"/>
              </a:rPr>
              <a:t>c = new Circle(2);</a:t>
            </a:r>
            <a:endParaRPr lang="en-US" altLang="en-US" sz="1800" dirty="0">
              <a:solidFill>
                <a:schemeClr val="tx1"/>
              </a:solidFill>
              <a:cs typeface="Times New Roman" pitchFamily="18" charset="0"/>
            </a:endParaRPr>
          </a:p>
          <a:p>
            <a:pPr lvl="1">
              <a:spcBef>
                <a:spcPct val="50000"/>
              </a:spcBef>
              <a:defRPr/>
            </a:pPr>
            <a:r>
              <a:rPr lang="en-US" altLang="en-US" sz="1800" dirty="0">
                <a:cs typeface="Times New Roman" pitchFamily="18" charset="0"/>
              </a:rPr>
              <a:t>The following statement, which creates an </a:t>
            </a:r>
            <a:r>
              <a:rPr lang="en-US" altLang="en-US" sz="1800" b="1" dirty="0">
                <a:solidFill>
                  <a:schemeClr val="tx1"/>
                </a:solidFill>
                <a:cs typeface="Times New Roman" pitchFamily="18" charset="0"/>
              </a:rPr>
              <a:t>array</a:t>
            </a:r>
            <a:r>
              <a:rPr lang="en-US" altLang="en-US" sz="1800" dirty="0">
                <a:cs typeface="Times New Roman" pitchFamily="18" charset="0"/>
              </a:rPr>
              <a:t> whose elements are of </a:t>
            </a:r>
            <a:r>
              <a:rPr lang="en-US" altLang="en-US" sz="1800" u="sng" dirty="0" err="1">
                <a:cs typeface="Times New Roman" pitchFamily="18" charset="0"/>
              </a:rPr>
              <a:t>GeometricObject</a:t>
            </a:r>
            <a:r>
              <a:rPr lang="en-US" altLang="en-US" sz="1800" dirty="0">
                <a:cs typeface="Times New Roman" pitchFamily="18" charset="0"/>
              </a:rPr>
              <a:t> type, is </a:t>
            </a:r>
            <a:r>
              <a:rPr lang="en-US" altLang="en-US" sz="1800" dirty="0" smtClean="0">
                <a:cs typeface="Times New Roman" pitchFamily="18" charset="0"/>
              </a:rPr>
              <a:t>correct.</a:t>
            </a:r>
            <a:endParaRPr lang="en-US" altLang="en-US" sz="1800" dirty="0">
              <a:cs typeface="Times New Roman" pitchFamily="18" charset="0"/>
            </a:endParaRPr>
          </a:p>
          <a:p>
            <a:pPr marL="239292" lvl="1" indent="0">
              <a:spcBef>
                <a:spcPct val="50000"/>
              </a:spcBef>
              <a:buNone/>
              <a:defRPr/>
            </a:pPr>
            <a:r>
              <a:rPr lang="en-US" altLang="en-US" sz="1800" b="1" dirty="0" smtClean="0">
                <a:latin typeface="Courier New" pitchFamily="49" charset="0"/>
                <a:cs typeface="Courier New" pitchFamily="49" charset="0"/>
              </a:rPr>
              <a:t>     </a:t>
            </a:r>
            <a:r>
              <a:rPr lang="en-US" altLang="en-US" sz="1800" b="1" dirty="0" err="1" smtClean="0">
                <a:solidFill>
                  <a:schemeClr val="tx1"/>
                </a:solidFill>
                <a:latin typeface="Courier New" pitchFamily="49" charset="0"/>
                <a:cs typeface="Courier New" pitchFamily="49" charset="0"/>
              </a:rPr>
              <a:t>GeometricObject</a:t>
            </a:r>
            <a:r>
              <a:rPr lang="en-US" altLang="en-US" sz="1800" b="1" dirty="0">
                <a:solidFill>
                  <a:schemeClr val="tx1"/>
                </a:solidFill>
                <a:latin typeface="Courier New" pitchFamily="49" charset="0"/>
                <a:cs typeface="Courier New" pitchFamily="49" charset="0"/>
              </a:rPr>
              <a:t>[] geo=new </a:t>
            </a:r>
            <a:r>
              <a:rPr lang="en-US" altLang="en-US" sz="1800" b="1" dirty="0" err="1">
                <a:solidFill>
                  <a:schemeClr val="tx1"/>
                </a:solidFill>
                <a:latin typeface="Courier New" pitchFamily="49" charset="0"/>
                <a:cs typeface="Courier New" pitchFamily="49" charset="0"/>
              </a:rPr>
              <a:t>GeometricObject</a:t>
            </a:r>
            <a:r>
              <a:rPr lang="en-US" altLang="en-US" sz="1800" b="1" dirty="0">
                <a:solidFill>
                  <a:schemeClr val="tx1"/>
                </a:solidFill>
                <a:latin typeface="Courier New" pitchFamily="49" charset="0"/>
                <a:cs typeface="Courier New" pitchFamily="49" charset="0"/>
              </a:rPr>
              <a:t>[10];</a:t>
            </a:r>
          </a:p>
          <a:p>
            <a:pPr marL="445250" lvl="2" indent="0">
              <a:buNone/>
              <a:defRPr/>
            </a:pPr>
            <a:endParaRPr lang="en-US" altLang="en-US" sz="1950" dirty="0">
              <a:solidFill>
                <a:schemeClr val="tx1"/>
              </a:solidFill>
            </a:endParaRPr>
          </a:p>
        </p:txBody>
      </p:sp>
    </p:spTree>
    <p:extLst>
      <p:ext uri="{BB962C8B-B14F-4D97-AF65-F5344CB8AC3E}">
        <p14:creationId xmlns:p14="http://schemas.microsoft.com/office/powerpoint/2010/main" val="89501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6"/>
        <p:cNvGrpSpPr/>
        <p:nvPr/>
      </p:nvGrpSpPr>
      <p:grpSpPr>
        <a:xfrm>
          <a:off x="0" y="0"/>
          <a:ext cx="0" cy="0"/>
          <a:chOff x="0" y="0"/>
          <a:chExt cx="0" cy="0"/>
        </a:xfrm>
      </p:grpSpPr>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c9c377e3b8e0e2ab9f0eac9809b4db93">
  <xsd:schema xmlns:xsd="http://www.w3.org/2001/XMLSchema" xmlns:xs="http://www.w3.org/2001/XMLSchema" xmlns:p="http://schemas.microsoft.com/office/2006/metadata/properties" xmlns:ns2="dd520bba-7c1e-4c79-bf9d-255d7ed0f3a3" targetNamespace="http://schemas.microsoft.com/office/2006/metadata/properties" ma:root="true" ma:fieldsID="6df6a781603a717f4f28054941dc04fe"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ABF357E-7369-4610-AE6B-B9BA9C1E8099}"/>
</file>

<file path=customXml/itemProps2.xml><?xml version="1.0" encoding="utf-8"?>
<ds:datastoreItem xmlns:ds="http://schemas.openxmlformats.org/officeDocument/2006/customXml" ds:itemID="{F1D4A151-9635-4974-BCDC-BC818149FF50}"/>
</file>

<file path=customXml/itemProps3.xml><?xml version="1.0" encoding="utf-8"?>
<ds:datastoreItem xmlns:ds="http://schemas.openxmlformats.org/officeDocument/2006/customXml" ds:itemID="{BC91BF62-BB9F-42F6-9BEE-5BE8ABB525B1}"/>
</file>

<file path=docProps/app.xml><?xml version="1.0" encoding="utf-8"?>
<Properties xmlns="http://schemas.openxmlformats.org/officeDocument/2006/extended-properties" xmlns:vt="http://schemas.openxmlformats.org/officeDocument/2006/docPropsVTypes">
  <TotalTime>15778</TotalTime>
  <Words>886</Words>
  <Application>Microsoft Office PowerPoint</Application>
  <PresentationFormat>On-screen Show (16:9)</PresentationFormat>
  <Paragraphs>148</Paragraphs>
  <Slides>12</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12</vt:i4>
      </vt:variant>
    </vt:vector>
  </HeadingPairs>
  <TitlesOfParts>
    <vt:vector size="19" baseType="lpstr">
      <vt:lpstr>Arial</vt:lpstr>
      <vt:lpstr>Courier New</vt:lpstr>
      <vt:lpstr>Helvetica Light</vt:lpstr>
      <vt:lpstr>Times New Roman</vt:lpstr>
      <vt:lpstr>Wingdings 2</vt:lpstr>
      <vt:lpstr>Simple Light</vt:lpstr>
      <vt:lpstr>Picture</vt:lpstr>
      <vt:lpstr>Abstract Classes</vt:lpstr>
      <vt:lpstr>Abstract Classes</vt:lpstr>
      <vt:lpstr>Abstract Classes and Abstract Methods </vt:lpstr>
      <vt:lpstr>PowerPoint Presentation</vt:lpstr>
      <vt:lpstr>PowerPoint Presentation</vt:lpstr>
      <vt:lpstr>PowerPoint Presentation</vt:lpstr>
      <vt:lpstr>PowerPoint Presentation</vt:lpstr>
      <vt:lpstr>PowerPoint Presentation</vt:lpstr>
      <vt:lpstr>abstract method in abstract class </vt:lpstr>
      <vt:lpstr>abstract classes</vt:lpstr>
      <vt:lpstr>abstract classes as types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Praveen Tripathi</cp:lastModifiedBy>
  <cp:revision>1290</cp:revision>
  <dcterms:modified xsi:type="dcterms:W3CDTF">2024-04-30T14:24:59Z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ies>
</file>