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80" r:id="rId3"/>
    <p:sldId id="264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2313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7A6D817D-272E-417E-AAAA-705922C1FE31}"/>
    <pc:docChg chg="custSel delSld modSld">
      <pc:chgData name="于 心瑞 Xinrui YU" userId="e6fcc6d4-2b88-4beb-95d7-57ae4d33a768" providerId="ADAL" clId="{7A6D817D-272E-417E-AAAA-705922C1FE31}" dt="2025-03-02T01:11:51.952" v="2"/>
      <pc:docMkLst>
        <pc:docMk/>
      </pc:docMkLst>
      <pc:sldChg chg="addSp delSp modSp mod">
        <pc:chgData name="于 心瑞 Xinrui YU" userId="e6fcc6d4-2b88-4beb-95d7-57ae4d33a768" providerId="ADAL" clId="{7A6D817D-272E-417E-AAAA-705922C1FE31}" dt="2025-03-02T01:11:51.952" v="2"/>
        <pc:sldMkLst>
          <pc:docMk/>
          <pc:sldMk cId="0" sldId="256"/>
        </pc:sldMkLst>
      </pc:sldChg>
      <pc:sldChg chg="del">
        <pc:chgData name="于 心瑞 Xinrui YU" userId="e6fcc6d4-2b88-4beb-95d7-57ae4d33a768" providerId="ADAL" clId="{7A6D817D-272E-417E-AAAA-705922C1FE31}" dt="2025-03-02T01:01:42.828" v="0" actId="47"/>
        <pc:sldMkLst>
          <pc:docMk/>
          <pc:sldMk cId="0" sldId="260"/>
        </pc:sldMkLst>
      </pc:sldChg>
    </pc:docChg>
  </pc:docChgLst>
  <pc:docChgLst>
    <pc:chgData name="于 心瑞 Xinrui YU" userId="e6fcc6d4-2b88-4beb-95d7-57ae4d33a768" providerId="ADAL" clId="{7027944F-BE6B-401D-8425-573F1A5F04E5}"/>
    <pc:docChg chg="modSld">
      <pc:chgData name="于 心瑞 Xinrui YU" userId="e6fcc6d4-2b88-4beb-95d7-57ae4d33a768" providerId="ADAL" clId="{7027944F-BE6B-401D-8425-573F1A5F04E5}" dt="2025-03-03T02:51:56.160" v="39" actId="20577"/>
      <pc:docMkLst>
        <pc:docMk/>
      </pc:docMkLst>
      <pc:sldChg chg="modSp mod modNotesTx">
        <pc:chgData name="于 心瑞 Xinrui YU" userId="e6fcc6d4-2b88-4beb-95d7-57ae4d33a768" providerId="ADAL" clId="{7027944F-BE6B-401D-8425-573F1A5F04E5}" dt="2025-03-03T02:51:56.160" v="39" actId="20577"/>
        <pc:sldMkLst>
          <pc:docMk/>
          <pc:sldMk cId="3501782296" sldId="276"/>
        </pc:sldMkLst>
      </pc:sldChg>
      <pc:sldChg chg="modNotesTx">
        <pc:chgData name="于 心瑞 Xinrui YU" userId="e6fcc6d4-2b88-4beb-95d7-57ae4d33a768" providerId="ADAL" clId="{7027944F-BE6B-401D-8425-573F1A5F04E5}" dt="2025-03-03T01:50:06.021" v="14" actId="20577"/>
        <pc:sldMkLst>
          <pc:docMk/>
          <pc:sldMk cId="3887840152" sldId="280"/>
        </pc:sldMkLst>
      </pc:sldChg>
    </pc:docChg>
  </pc:docChgLst>
  <pc:docChgLst>
    <pc:chgData name="于 心瑞 Xinrui YU" userId="e6fcc6d4-2b88-4beb-95d7-57ae4d33a768" providerId="ADAL" clId="{F34F8855-C621-4438-806B-08A2E2CB3E3D}"/>
    <pc:docChg chg="modSld">
      <pc:chgData name="于 心瑞 Xinrui YU" userId="e6fcc6d4-2b88-4beb-95d7-57ae4d33a768" providerId="ADAL" clId="{F34F8855-C621-4438-806B-08A2E2CB3E3D}" dt="2025-09-30T11:20:55.255" v="0" actId="20577"/>
      <pc:docMkLst>
        <pc:docMk/>
      </pc:docMkLst>
      <pc:sldChg chg="modNotesTx">
        <pc:chgData name="于 心瑞 Xinrui YU" userId="e6fcc6d4-2b88-4beb-95d7-57ae4d33a768" providerId="ADAL" clId="{F34F8855-C621-4438-806B-08A2E2CB3E3D}" dt="2025-09-30T11:20:55.255" v="0" actId="20577"/>
        <pc:sldMkLst>
          <pc:docMk/>
          <pc:sldMk cId="3501782296" sldId="276"/>
        </pc:sldMkLst>
      </pc:sldChg>
    </pc:docChg>
  </pc:docChgLst>
  <pc:docChgLst>
    <pc:chgData name="于 心瑞 Xinrui YU" userId="e6fcc6d4-2b88-4beb-95d7-57ae4d33a768" providerId="ADAL" clId="{CFFA9A75-F840-4F6F-AF7D-069F806E1180}"/>
    <pc:docChg chg="modSld">
      <pc:chgData name="于 心瑞 Xinrui YU" userId="e6fcc6d4-2b88-4beb-95d7-57ae4d33a768" providerId="ADAL" clId="{CFFA9A75-F840-4F6F-AF7D-069F806E1180}" dt="2025-09-30T09:00:32.478" v="27" actId="20577"/>
      <pc:docMkLst>
        <pc:docMk/>
      </pc:docMkLst>
      <pc:sldChg chg="modNotesTx">
        <pc:chgData name="于 心瑞 Xinrui YU" userId="e6fcc6d4-2b88-4beb-95d7-57ae4d33a768" providerId="ADAL" clId="{CFFA9A75-F840-4F6F-AF7D-069F806E1180}" dt="2025-09-30T09:00:32.478" v="27" actId="20577"/>
        <pc:sldMkLst>
          <pc:docMk/>
          <pc:sldMk cId="972440205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静态方法</a:t>
            </a:r>
          </a:p>
        </p:txBody>
      </p:sp>
    </p:spTree>
    <p:extLst>
      <p:ext uri="{BB962C8B-B14F-4D97-AF65-F5344CB8AC3E}">
        <p14:creationId xmlns:p14="http://schemas.microsoft.com/office/powerpoint/2010/main" val="1204785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2425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 </a:t>
            </a:r>
            <a:r>
              <a:rPr lang="en-US" altLang="zh-CN"/>
              <a:t>01 ends here 0930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18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Mathematical Functions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Mathematical Functions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>
            <a:extLst>
              <a:ext uri="{FF2B5EF4-FFF2-40B4-BE49-F238E27FC236}">
                <a16:creationId xmlns:a16="http://schemas.microsoft.com/office/drawing/2014/main" id="{0C5843CC-E08F-E32B-0E4F-5D885050B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Objectives: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Static methods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Math class 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Constants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Trigonometric methods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Exponential methods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min, max, abs methods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Rounding methods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Random method</a:t>
            </a:r>
          </a:p>
          <a:p>
            <a:pPr lvl="1" fontAlgn="base"/>
            <a:endParaRPr lang="en-US" dirty="0">
              <a:solidFill>
                <a:schemeClr val="tx1"/>
              </a:solidFill>
              <a:cs typeface="Courier New" pitchFamily="49" charset="0"/>
            </a:endParaRPr>
          </a:p>
          <a:p>
            <a:pPr marL="596900" lvl="1" indent="0" fontAlgn="base">
              <a:buNone/>
            </a:pPr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pPr lvl="1" fontAlgn="base"/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4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Static methods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Remember the main method header? 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altLang="en-US" dirty="0"/>
              <a:t>What does </a:t>
            </a:r>
            <a:r>
              <a:rPr lang="en-US" altLang="en-US" b="1" dirty="0"/>
              <a:t>static mean? 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associates a method with a particular class name 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any method can call a </a:t>
            </a:r>
            <a:r>
              <a:rPr lang="en-US" altLang="en-US" sz="1800" b="1" dirty="0">
                <a:solidFill>
                  <a:schemeClr val="tx1"/>
                </a:solidFill>
              </a:rPr>
              <a:t>static method either: </a:t>
            </a:r>
          </a:p>
          <a:p>
            <a:pPr lvl="2"/>
            <a:r>
              <a:rPr lang="en-US" altLang="en-US" sz="1800" dirty="0"/>
              <a:t>directly from within same class OR </a:t>
            </a:r>
          </a:p>
          <a:p>
            <a:pPr lvl="2"/>
            <a:r>
              <a:rPr lang="en-US" altLang="en-US" sz="1800" dirty="0"/>
              <a:t>using class name from outside class </a:t>
            </a:r>
          </a:p>
          <a:p>
            <a:endParaRPr lang="en-US" altLang="en-US" sz="2700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1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The </a:t>
            </a:r>
            <a:r>
              <a:rPr lang="en-US" altLang="en-US" b="1" dirty="0">
                <a:latin typeface="Courier New" pitchFamily="49" charset="0"/>
              </a:rPr>
              <a:t>Math</a:t>
            </a:r>
            <a:r>
              <a:rPr lang="en-US" altLang="en-US" b="1" dirty="0"/>
              <a:t> Class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Class constants:</a:t>
            </a:r>
          </a:p>
          <a:p>
            <a:pPr marL="552450" lvl="1" indent="-209550"/>
            <a:r>
              <a:rPr lang="en-US" altLang="en-US" sz="1800" dirty="0">
                <a:latin typeface="Courier New" pitchFamily="49" charset="0"/>
              </a:rPr>
              <a:t>PI</a:t>
            </a:r>
            <a:endParaRPr lang="en-US" altLang="en-US" sz="1800" dirty="0"/>
          </a:p>
          <a:p>
            <a:pPr marL="552450" lvl="1" indent="-209550"/>
            <a:r>
              <a:rPr lang="en-US" altLang="en-US" sz="1800" dirty="0">
                <a:latin typeface="Courier New" pitchFamily="49" charset="0"/>
              </a:rPr>
              <a:t>E</a:t>
            </a:r>
            <a:endParaRPr lang="en-US" altLang="en-US" sz="1800" dirty="0"/>
          </a:p>
          <a:p>
            <a:r>
              <a:rPr lang="en-US" altLang="en-US" dirty="0"/>
              <a:t>Class methods: </a:t>
            </a:r>
          </a:p>
          <a:p>
            <a:pPr marL="552450" lvl="1" indent="-209550"/>
            <a:r>
              <a:rPr lang="en-US" altLang="en-US" sz="1800" dirty="0"/>
              <a:t>Trigonometric Methods </a:t>
            </a:r>
          </a:p>
          <a:p>
            <a:pPr marL="552450" lvl="1" indent="-209550"/>
            <a:r>
              <a:rPr lang="en-US" altLang="en-US" sz="1800" dirty="0"/>
              <a:t>Exponent Methods</a:t>
            </a:r>
          </a:p>
          <a:p>
            <a:pPr marL="552450" lvl="1" indent="-209550"/>
            <a:r>
              <a:rPr lang="en-US" altLang="en-US" sz="1800" dirty="0"/>
              <a:t>Rounding Methods</a:t>
            </a:r>
          </a:p>
          <a:p>
            <a:pPr marL="552450" lvl="1" indent="-209550"/>
            <a:r>
              <a:rPr lang="en-US" altLang="en-US" sz="1800" dirty="0"/>
              <a:t>min, max, abs, and random Methods</a:t>
            </a:r>
          </a:p>
          <a:p>
            <a:pPr>
              <a:buFont typeface="Monotype Sorts" pitchFamily="2" charset="2"/>
              <a:buNone/>
            </a:pPr>
            <a:endParaRPr lang="en-US" alt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63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Trigonometric Methods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3263" cy="34164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b="1" dirty="0">
                <a:latin typeface="Courier New" pitchFamily="49" charset="0"/>
              </a:rPr>
              <a:t>sin(double a)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cos(double a)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tan(double a)</a:t>
            </a:r>
          </a:p>
          <a:p>
            <a:pPr>
              <a:spcBef>
                <a:spcPct val="50000"/>
              </a:spcBef>
            </a:pPr>
            <a:r>
              <a:rPr lang="en-US" altLang="en-US" b="1" dirty="0" err="1">
                <a:latin typeface="Courier New" pitchFamily="49" charset="0"/>
              </a:rPr>
              <a:t>toRadians</a:t>
            </a:r>
            <a:r>
              <a:rPr lang="en-US" altLang="en-US" b="1" dirty="0">
                <a:latin typeface="Courier New" pitchFamily="49" charset="0"/>
              </a:rPr>
              <a:t>(double degree)</a:t>
            </a:r>
          </a:p>
          <a:p>
            <a:pPr>
              <a:spcBef>
                <a:spcPct val="50000"/>
              </a:spcBef>
            </a:pPr>
            <a:r>
              <a:rPr lang="en-US" altLang="en-US" b="1" dirty="0" err="1">
                <a:latin typeface="Courier New" pitchFamily="49" charset="0"/>
              </a:rPr>
              <a:t>toDegrees</a:t>
            </a:r>
            <a:r>
              <a:rPr lang="en-US" altLang="en-US" b="1" dirty="0">
                <a:latin typeface="Courier New" pitchFamily="49" charset="0"/>
              </a:rPr>
              <a:t>(double radians)</a:t>
            </a:r>
          </a:p>
          <a:p>
            <a:pPr>
              <a:spcBef>
                <a:spcPct val="50000"/>
              </a:spcBef>
            </a:pPr>
            <a:r>
              <a:rPr lang="en-US" altLang="en-US" b="1" dirty="0" err="1">
                <a:latin typeface="Courier New" pitchFamily="49" charset="0"/>
              </a:rPr>
              <a:t>acos</a:t>
            </a:r>
            <a:r>
              <a:rPr lang="en-US" altLang="en-US" b="1" dirty="0">
                <a:latin typeface="Courier New" pitchFamily="49" charset="0"/>
              </a:rPr>
              <a:t>(double a)</a:t>
            </a:r>
          </a:p>
          <a:p>
            <a:pPr>
              <a:spcBef>
                <a:spcPct val="50000"/>
              </a:spcBef>
            </a:pPr>
            <a:r>
              <a:rPr lang="en-US" altLang="en-US" b="1" dirty="0" err="1">
                <a:latin typeface="Courier New" pitchFamily="49" charset="0"/>
              </a:rPr>
              <a:t>asin</a:t>
            </a:r>
            <a:r>
              <a:rPr lang="en-US" altLang="en-US" b="1" dirty="0">
                <a:latin typeface="Courier New" pitchFamily="49" charset="0"/>
              </a:rPr>
              <a:t>(double a)</a:t>
            </a:r>
          </a:p>
          <a:p>
            <a:pPr>
              <a:spcBef>
                <a:spcPct val="50000"/>
              </a:spcBef>
            </a:pPr>
            <a:r>
              <a:rPr lang="en-US" altLang="en-US" b="1" dirty="0" err="1">
                <a:latin typeface="Courier New" pitchFamily="49" charset="0"/>
              </a:rPr>
              <a:t>atan</a:t>
            </a:r>
            <a:r>
              <a:rPr lang="en-US" altLang="en-US" b="1" dirty="0">
                <a:latin typeface="Courier New" pitchFamily="49" charset="0"/>
              </a:rPr>
              <a:t>(double a)</a:t>
            </a:r>
            <a:endParaRPr lang="en-US" altLang="en-US" sz="2100" b="1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92657" y="1002434"/>
            <a:ext cx="14859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350" dirty="0"/>
              <a:t>                 Radians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2376733" y="1171419"/>
            <a:ext cx="352982" cy="1004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689039" y="1151497"/>
            <a:ext cx="3985623" cy="324247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/>
          <a:lstStyle>
            <a:lvl1pPr marL="342900" indent="-34290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en-US" sz="2400" b="1" dirty="0">
                <a:cs typeface="Times New Roman" panose="02020603050405020304" pitchFamily="18" charset="0"/>
              </a:rPr>
              <a:t>Examples: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Math.sin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(0) returns 0.0 </a:t>
            </a:r>
            <a:endParaRPr lang="en-US" altLang="en-US" sz="1650" b="1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Math.sin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Math.PI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 / 6) returns 0.5 </a:t>
            </a:r>
            <a:endParaRPr lang="en-US" altLang="en-US" sz="1650" b="1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Math.sin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Math.PI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 / 2) returns 1.0</a:t>
            </a:r>
            <a:endParaRPr lang="en-US" altLang="en-US" sz="1650" b="1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Math.cos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(0) returns 1.0</a:t>
            </a:r>
            <a:endParaRPr lang="en-US" altLang="en-US" sz="1650" b="1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Math.cos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Math.PI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 / 6) returns 0.866 </a:t>
            </a:r>
            <a:endParaRPr lang="en-US" altLang="en-US" sz="1650" b="1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Math.cos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50" b="1" dirty="0" err="1">
                <a:latin typeface="Courier New" pitchFamily="49" charset="0"/>
                <a:cs typeface="Courier New" pitchFamily="49" charset="0"/>
              </a:rPr>
              <a:t>Math.PI</a:t>
            </a:r>
            <a:r>
              <a:rPr lang="en-US" altLang="en-US" sz="1650" b="1" dirty="0">
                <a:latin typeface="Courier New" pitchFamily="49" charset="0"/>
                <a:cs typeface="Courier New" pitchFamily="49" charset="0"/>
              </a:rPr>
              <a:t> / 2) returns 0 </a:t>
            </a:r>
          </a:p>
        </p:txBody>
      </p:sp>
    </p:spTree>
    <p:extLst>
      <p:ext uri="{BB962C8B-B14F-4D97-AF65-F5344CB8AC3E}">
        <p14:creationId xmlns:p14="http://schemas.microsoft.com/office/powerpoint/2010/main" val="227759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Exponent Methods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12342" cy="3416400"/>
          </a:xfrm>
        </p:spPr>
        <p:txBody>
          <a:bodyPr/>
          <a:lstStyle/>
          <a:p>
            <a:pPr marL="255985" indent="-255985"/>
            <a:r>
              <a:rPr lang="en-US" altLang="en-US" sz="1500" b="1" dirty="0" err="1">
                <a:latin typeface="Courier New" pitchFamily="49" charset="0"/>
              </a:rPr>
              <a:t>exp</a:t>
            </a:r>
            <a:r>
              <a:rPr lang="en-US" altLang="en-US" sz="1500" b="1" dirty="0">
                <a:latin typeface="Courier New" pitchFamily="49" charset="0"/>
              </a:rPr>
              <a:t>(double a)</a:t>
            </a:r>
            <a:endParaRPr lang="en-US" altLang="en-US" b="1" dirty="0"/>
          </a:p>
          <a:p>
            <a:pPr marL="390525" lvl="1" indent="-107156">
              <a:buNone/>
            </a:pPr>
            <a:r>
              <a:rPr lang="en-US" altLang="en-US" sz="1500" dirty="0"/>
              <a:t>Returns </a:t>
            </a:r>
            <a:r>
              <a:rPr lang="en-US" altLang="en-US" sz="1500" dirty="0">
                <a:latin typeface="Courier New" pitchFamily="49" charset="0"/>
              </a:rPr>
              <a:t>e</a:t>
            </a:r>
            <a:r>
              <a:rPr lang="en-US" altLang="en-US" sz="1500" dirty="0"/>
              <a:t> raised to the power of </a:t>
            </a:r>
            <a:r>
              <a:rPr lang="en-US" altLang="en-US" sz="1500" dirty="0">
                <a:latin typeface="Courier New" pitchFamily="49" charset="0"/>
              </a:rPr>
              <a:t>a</a:t>
            </a:r>
            <a:r>
              <a:rPr lang="en-US" altLang="en-US" sz="1500" dirty="0"/>
              <a:t>.</a:t>
            </a:r>
          </a:p>
          <a:p>
            <a:pPr marL="255985" indent="-255985">
              <a:spcBef>
                <a:spcPct val="50000"/>
              </a:spcBef>
            </a:pPr>
            <a:r>
              <a:rPr lang="en-US" altLang="en-US" sz="1500" b="1" dirty="0">
                <a:latin typeface="Courier New" pitchFamily="49" charset="0"/>
              </a:rPr>
              <a:t>log(double a)</a:t>
            </a:r>
            <a:endParaRPr lang="en-US" altLang="en-US" b="1" dirty="0"/>
          </a:p>
          <a:p>
            <a:pPr marL="390525" lvl="1" indent="-107156">
              <a:buNone/>
            </a:pPr>
            <a:r>
              <a:rPr lang="en-US" altLang="en-US" sz="1500" dirty="0"/>
              <a:t>Returns the natural logarithm of </a:t>
            </a:r>
            <a:r>
              <a:rPr lang="en-US" altLang="en-US" sz="1500" dirty="0">
                <a:latin typeface="Courier New" pitchFamily="49" charset="0"/>
              </a:rPr>
              <a:t>a</a:t>
            </a:r>
            <a:r>
              <a:rPr lang="en-US" altLang="en-US" sz="1500" dirty="0"/>
              <a:t>.</a:t>
            </a:r>
          </a:p>
          <a:p>
            <a:pPr marL="255985" indent="-255985">
              <a:spcBef>
                <a:spcPct val="50000"/>
              </a:spcBef>
            </a:pPr>
            <a:r>
              <a:rPr lang="en-US" altLang="en-US" sz="1500" b="1" dirty="0">
                <a:latin typeface="Courier New" pitchFamily="49" charset="0"/>
              </a:rPr>
              <a:t>log10(double a)</a:t>
            </a:r>
            <a:endParaRPr lang="en-US" altLang="en-US" b="1" dirty="0"/>
          </a:p>
          <a:p>
            <a:pPr marL="390525" lvl="1" indent="-107156">
              <a:buNone/>
            </a:pPr>
            <a:r>
              <a:rPr lang="en-US" altLang="en-US" sz="1500" dirty="0"/>
              <a:t>Returns the 10-based logarithm of </a:t>
            </a:r>
            <a:r>
              <a:rPr lang="en-US" altLang="en-US" sz="1500" dirty="0">
                <a:latin typeface="Courier New" pitchFamily="49" charset="0"/>
              </a:rPr>
              <a:t>a</a:t>
            </a:r>
            <a:r>
              <a:rPr lang="en-US" altLang="en-US" sz="1500" dirty="0"/>
              <a:t>.</a:t>
            </a:r>
          </a:p>
          <a:p>
            <a:pPr marL="255985" indent="-255985">
              <a:spcBef>
                <a:spcPct val="50000"/>
              </a:spcBef>
            </a:pPr>
            <a:r>
              <a:rPr lang="en-US" altLang="en-US" sz="1500" b="1" dirty="0">
                <a:latin typeface="Courier New" pitchFamily="49" charset="0"/>
              </a:rPr>
              <a:t>pow(double a, double b)</a:t>
            </a:r>
            <a:endParaRPr lang="en-US" altLang="en-US" b="1" dirty="0"/>
          </a:p>
          <a:p>
            <a:pPr marL="390525" lvl="1" indent="-107156">
              <a:buNone/>
            </a:pPr>
            <a:r>
              <a:rPr lang="en-US" altLang="en-US" sz="1500" dirty="0"/>
              <a:t>Returns </a:t>
            </a:r>
            <a:r>
              <a:rPr lang="en-US" altLang="en-US" sz="1500" dirty="0">
                <a:latin typeface="Courier New" pitchFamily="49" charset="0"/>
              </a:rPr>
              <a:t>a</a:t>
            </a:r>
            <a:r>
              <a:rPr lang="en-US" altLang="en-US" sz="1500" dirty="0"/>
              <a:t> raised to the power of </a:t>
            </a:r>
            <a:r>
              <a:rPr lang="en-US" altLang="en-US" sz="1500" dirty="0">
                <a:latin typeface="Courier New" pitchFamily="49" charset="0"/>
              </a:rPr>
              <a:t>b</a:t>
            </a:r>
            <a:r>
              <a:rPr lang="en-US" altLang="en-US" sz="1500" dirty="0"/>
              <a:t>.</a:t>
            </a:r>
          </a:p>
          <a:p>
            <a:pPr marL="255985" indent="-255985" algn="just">
              <a:spcBef>
                <a:spcPct val="50000"/>
              </a:spcBef>
            </a:pPr>
            <a:r>
              <a:rPr lang="en-US" altLang="en-US" sz="1500" b="1" dirty="0" err="1">
                <a:latin typeface="Courier New" pitchFamily="49" charset="0"/>
              </a:rPr>
              <a:t>sqrt</a:t>
            </a:r>
            <a:r>
              <a:rPr lang="en-US" altLang="en-US" sz="1500" b="1" dirty="0">
                <a:latin typeface="Courier New" pitchFamily="49" charset="0"/>
              </a:rPr>
              <a:t>(double a)</a:t>
            </a:r>
            <a:endParaRPr lang="en-US" altLang="en-US" b="1" dirty="0"/>
          </a:p>
          <a:p>
            <a:pPr marL="390525" lvl="1" indent="-107156">
              <a:buNone/>
            </a:pPr>
            <a:r>
              <a:rPr lang="en-US" altLang="en-US" sz="1500" dirty="0"/>
              <a:t>Returns the square root of </a:t>
            </a:r>
            <a:r>
              <a:rPr lang="en-US" altLang="en-US" sz="1500" dirty="0">
                <a:latin typeface="Courier New" pitchFamily="49" charset="0"/>
              </a:rPr>
              <a:t>a</a:t>
            </a:r>
            <a:r>
              <a:rPr lang="en-US" altLang="en-US" sz="1500" dirty="0"/>
              <a:t>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904785" y="1017725"/>
            <a:ext cx="2967702" cy="36861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/>
          <a:lstStyle>
            <a:lvl1pPr marL="342900" indent="-34290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en-US" sz="2400" b="1" dirty="0">
                <a:cs typeface="Times New Roman" panose="02020603050405020304" pitchFamily="18" charset="0"/>
              </a:rPr>
              <a:t>Examples: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Math.exp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(1)</a:t>
            </a: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 returns 2.71 </a:t>
            </a:r>
            <a:endParaRPr lang="en-US" altLang="en-US" sz="1500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Math.log(2.71)</a:t>
            </a: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	returns 1.0 </a:t>
            </a:r>
            <a:endParaRPr lang="en-US" altLang="en-US" sz="1500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Math.pow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(2, 3)</a:t>
            </a: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	returns 8.0 </a:t>
            </a:r>
            <a:endParaRPr lang="en-US" altLang="en-US" sz="1500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Math.pow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(3, 2)</a:t>
            </a: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	returns 9.0 </a:t>
            </a:r>
            <a:endParaRPr lang="en-US" altLang="en-US" sz="1500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Math.pow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(3.5, 2.5)</a:t>
            </a: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	returns 22.91765 </a:t>
            </a:r>
            <a:endParaRPr lang="en-US" altLang="en-US" sz="1500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(4)</a:t>
            </a: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 returns 2.0</a:t>
            </a:r>
            <a:endParaRPr lang="en-US" altLang="en-US" sz="1500" dirty="0">
              <a:latin typeface="Courier" pitchFamily="49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(10.5)</a:t>
            </a: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500" dirty="0">
                <a:latin typeface="Courier New" pitchFamily="49" charset="0"/>
                <a:cs typeface="Courier New" pitchFamily="49" charset="0"/>
              </a:rPr>
              <a:t>	returns 3.24</a:t>
            </a:r>
          </a:p>
        </p:txBody>
      </p:sp>
    </p:spTree>
    <p:extLst>
      <p:ext uri="{BB962C8B-B14F-4D97-AF65-F5344CB8AC3E}">
        <p14:creationId xmlns:p14="http://schemas.microsoft.com/office/powerpoint/2010/main" val="398496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Rounding Methods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5985" indent="-255985">
              <a:lnSpc>
                <a:spcPct val="90000"/>
              </a:lnSpc>
            </a:pPr>
            <a:r>
              <a:rPr lang="en-US" altLang="en-US" b="1" dirty="0">
                <a:latin typeface="Courier New" pitchFamily="49" charset="0"/>
              </a:rPr>
              <a:t>double ceil(double x)</a:t>
            </a:r>
            <a:endParaRPr lang="en-US" altLang="en-US" sz="2100" b="1" dirty="0"/>
          </a:p>
          <a:p>
            <a:pPr marL="390525" lvl="1" indent="-107156">
              <a:lnSpc>
                <a:spcPct val="90000"/>
              </a:lnSpc>
              <a:buNone/>
            </a:pPr>
            <a:r>
              <a:rPr lang="en-US" altLang="en-US" dirty="0">
                <a:cs typeface="Times New Roman" pitchFamily="18" charset="0"/>
              </a:rPr>
              <a:t>x </a:t>
            </a:r>
            <a:r>
              <a:rPr lang="en-US" altLang="en-US" dirty="0">
                <a:solidFill>
                  <a:schemeClr val="tx1"/>
                </a:solidFill>
                <a:cs typeface="Times New Roman" pitchFamily="18" charset="0"/>
              </a:rPr>
              <a:t>rounded up </a:t>
            </a:r>
            <a:r>
              <a:rPr lang="en-US" altLang="en-US" dirty="0">
                <a:cs typeface="Times New Roman" pitchFamily="18" charset="0"/>
              </a:rPr>
              <a:t>to its nearest integer. This integer is returned as a double value.</a:t>
            </a:r>
          </a:p>
          <a:p>
            <a:pPr marL="255985" indent="-255985">
              <a:lnSpc>
                <a:spcPct val="90000"/>
              </a:lnSpc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double floor(double x)</a:t>
            </a:r>
            <a:endParaRPr lang="en-US" altLang="en-US" sz="2100" b="1" dirty="0"/>
          </a:p>
          <a:p>
            <a:pPr marL="390525" lvl="1" indent="-107156">
              <a:lnSpc>
                <a:spcPct val="90000"/>
              </a:lnSpc>
              <a:buNone/>
            </a:pPr>
            <a:r>
              <a:rPr lang="en-US" altLang="en-US" dirty="0">
                <a:cs typeface="Times New Roman" pitchFamily="18" charset="0"/>
              </a:rPr>
              <a:t>x is </a:t>
            </a:r>
            <a:r>
              <a:rPr lang="en-US" altLang="en-US" dirty="0">
                <a:solidFill>
                  <a:schemeClr val="tx1"/>
                </a:solidFill>
                <a:cs typeface="Times New Roman" pitchFamily="18" charset="0"/>
              </a:rPr>
              <a:t>rounded down </a:t>
            </a:r>
            <a:r>
              <a:rPr lang="en-US" altLang="en-US" dirty="0">
                <a:cs typeface="Times New Roman" pitchFamily="18" charset="0"/>
              </a:rPr>
              <a:t>to its nearest integer. This integer is returned as a double value.</a:t>
            </a:r>
            <a:endParaRPr lang="en-US" altLang="en-US" dirty="0"/>
          </a:p>
          <a:p>
            <a:pPr marL="255985" indent="-255985">
              <a:lnSpc>
                <a:spcPct val="90000"/>
              </a:lnSpc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double </a:t>
            </a:r>
            <a:r>
              <a:rPr lang="en-US" altLang="en-US" b="1" dirty="0" err="1">
                <a:latin typeface="Courier New" pitchFamily="49" charset="0"/>
              </a:rPr>
              <a:t>rint</a:t>
            </a:r>
            <a:r>
              <a:rPr lang="en-US" altLang="en-US" b="1" dirty="0">
                <a:latin typeface="Courier New" pitchFamily="49" charset="0"/>
              </a:rPr>
              <a:t>(double x)</a:t>
            </a:r>
            <a:endParaRPr lang="en-US" altLang="en-US" sz="2100" b="1" dirty="0"/>
          </a:p>
          <a:p>
            <a:pPr marL="390525" lvl="1" indent="-107156">
              <a:lnSpc>
                <a:spcPct val="90000"/>
              </a:lnSpc>
              <a:buNone/>
            </a:pPr>
            <a:r>
              <a:rPr lang="en-US" altLang="en-US" dirty="0">
                <a:cs typeface="Times New Roman" pitchFamily="18" charset="0"/>
              </a:rPr>
              <a:t>x is rounded to its nearest integer. </a:t>
            </a:r>
            <a:r>
              <a:rPr lang="en-US" altLang="en-US" dirty="0">
                <a:solidFill>
                  <a:schemeClr val="tx1"/>
                </a:solidFill>
                <a:cs typeface="Times New Roman" pitchFamily="18" charset="0"/>
              </a:rPr>
              <a:t>If x is equally close to two integers, the even one is returned as a double</a:t>
            </a:r>
            <a:r>
              <a:rPr lang="en-US" altLang="en-US" dirty="0">
                <a:cs typeface="Times New Roman" pitchFamily="18" charset="0"/>
              </a:rPr>
              <a:t>.</a:t>
            </a:r>
            <a:endParaRPr lang="en-US" altLang="en-US" dirty="0"/>
          </a:p>
          <a:p>
            <a:pPr marL="255985" indent="-255985" algn="just">
              <a:lnSpc>
                <a:spcPct val="90000"/>
              </a:lnSpc>
              <a:spcBef>
                <a:spcPct val="50000"/>
              </a:spcBef>
            </a:pPr>
            <a:r>
              <a:rPr lang="en-US" altLang="en-US" b="1" dirty="0" err="1">
                <a:latin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</a:rPr>
              <a:t> round(float x)</a:t>
            </a:r>
            <a:endParaRPr lang="en-US" altLang="en-US" sz="2100" b="1" dirty="0"/>
          </a:p>
          <a:p>
            <a:pPr marL="390525" lvl="1" indent="-107156">
              <a:lnSpc>
                <a:spcPct val="90000"/>
              </a:lnSpc>
              <a:buNone/>
            </a:pPr>
            <a:r>
              <a:rPr lang="en-US" altLang="en-US" dirty="0">
                <a:cs typeface="Times New Roman" pitchFamily="18" charset="0"/>
              </a:rPr>
              <a:t>Return (</a:t>
            </a:r>
            <a:r>
              <a:rPr lang="en-US" altLang="en-US" dirty="0" err="1">
                <a:cs typeface="Times New Roman" pitchFamily="18" charset="0"/>
              </a:rPr>
              <a:t>int</a:t>
            </a:r>
            <a:r>
              <a:rPr lang="en-US" altLang="en-US" dirty="0">
                <a:cs typeface="Times New Roman" pitchFamily="18" charset="0"/>
              </a:rPr>
              <a:t>)</a:t>
            </a:r>
            <a:r>
              <a:rPr lang="en-US" altLang="en-US" dirty="0" err="1">
                <a:cs typeface="Times New Roman" pitchFamily="18" charset="0"/>
              </a:rPr>
              <a:t>Math.floor</a:t>
            </a:r>
            <a:r>
              <a:rPr lang="en-US" altLang="en-US" dirty="0">
                <a:cs typeface="Times New Roman" pitchFamily="18" charset="0"/>
              </a:rPr>
              <a:t>(x+0.5).</a:t>
            </a:r>
          </a:p>
          <a:p>
            <a:pPr marL="255985" indent="-255985" algn="just">
              <a:lnSpc>
                <a:spcPct val="90000"/>
              </a:lnSpc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long round(double x)</a:t>
            </a:r>
            <a:endParaRPr lang="en-US" altLang="en-US" sz="2100" b="1" dirty="0"/>
          </a:p>
          <a:p>
            <a:pPr marL="390525" lvl="1" indent="-107156">
              <a:lnSpc>
                <a:spcPct val="90000"/>
              </a:lnSpc>
              <a:buNone/>
            </a:pPr>
            <a:r>
              <a:rPr lang="en-US" altLang="en-US" dirty="0">
                <a:cs typeface="Times New Roman" pitchFamily="18" charset="0"/>
              </a:rPr>
              <a:t>Return (long)</a:t>
            </a:r>
            <a:r>
              <a:rPr lang="en-US" altLang="en-US" dirty="0" err="1">
                <a:cs typeface="Times New Roman" pitchFamily="18" charset="0"/>
              </a:rPr>
              <a:t>Math.floor</a:t>
            </a:r>
            <a:r>
              <a:rPr lang="en-US" altLang="en-US" dirty="0">
                <a:cs typeface="Times New Roman" pitchFamily="18" charset="0"/>
              </a:rPr>
              <a:t>(x+0.5).</a:t>
            </a:r>
            <a:r>
              <a:rPr lang="en-US" altLang="en-US" dirty="0">
                <a:latin typeface="Courier" pitchFamily="49" charset="0"/>
                <a:cs typeface="Times New Roman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8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Rounding Methods Examples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(2.1)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returns 3.0 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(2.0)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2.0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(-2.0)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–2.0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Math.ceil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(-2.1)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-2.0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(2.1)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2.0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(2.0)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2.0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(-2.0)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–2.0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(-2.1)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-3.0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(2.6f)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3 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(2.0)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returns 2   </a:t>
            </a: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(-2.0f)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returns -2   </a:t>
            </a:r>
            <a:endParaRPr lang="en-US" altLang="en-US" dirty="0">
              <a:latin typeface="Courier" pitchFamily="49" charset="0"/>
              <a:cs typeface="Times New Roman" pitchFamily="18" charset="0"/>
            </a:endParaRPr>
          </a:p>
          <a:p>
            <a:pPr marL="255985" indent="-255985">
              <a:lnSpc>
                <a:spcPct val="90000"/>
              </a:lnSpc>
              <a:buNone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(-2.6)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returns -3</a:t>
            </a:r>
            <a:r>
              <a:rPr lang="en-US" altLang="en-US" sz="2400" u="sng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20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min</a:t>
            </a:r>
            <a:r>
              <a:rPr lang="en-US" altLang="en-US" b="1" dirty="0"/>
              <a:t>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altLang="en-US" b="1" dirty="0"/>
              <a:t>, and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abs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438325" cy="34164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max(a, b)</a:t>
            </a:r>
            <a:r>
              <a:rPr lang="en-US" altLang="en-US" dirty="0"/>
              <a:t>and</a:t>
            </a:r>
            <a:r>
              <a:rPr lang="en-US" altLang="en-US" b="1" dirty="0"/>
              <a:t> </a:t>
            </a:r>
            <a:r>
              <a:rPr lang="en-US" altLang="en-US" b="1" dirty="0">
                <a:latin typeface="Courier New" pitchFamily="49" charset="0"/>
              </a:rPr>
              <a:t>min(a, b)</a:t>
            </a:r>
            <a:endParaRPr lang="en-US" altLang="en-US" sz="2100" b="1" dirty="0"/>
          </a:p>
          <a:p>
            <a:pPr marL="283369" lvl="1" indent="0">
              <a:buNone/>
            </a:pPr>
            <a:r>
              <a:rPr lang="en-US" altLang="en-US" dirty="0"/>
              <a:t>Returns the maximum or minimum of two parameters.</a:t>
            </a:r>
          </a:p>
          <a:p>
            <a:pPr algn="just"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abs(a)</a:t>
            </a:r>
            <a:endParaRPr lang="en-US" altLang="en-US" sz="2100" b="1" dirty="0"/>
          </a:p>
          <a:p>
            <a:pPr marL="283369" lvl="1" indent="0">
              <a:buNone/>
            </a:pPr>
            <a:r>
              <a:rPr lang="en-US" altLang="en-US" dirty="0"/>
              <a:t>Returns the absolute value of the parameter.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urier New" pitchFamily="49" charset="0"/>
              </a:rPr>
              <a:t>random()</a:t>
            </a:r>
            <a:endParaRPr lang="en-US" altLang="en-US" sz="2100" b="1" dirty="0"/>
          </a:p>
          <a:p>
            <a:pPr marL="283369" lvl="1" indent="0">
              <a:buNone/>
            </a:pPr>
            <a:r>
              <a:rPr lang="en-US" altLang="en-US" dirty="0"/>
              <a:t>Returns a random </a:t>
            </a:r>
            <a:r>
              <a:rPr lang="en-US" altLang="en-US" dirty="0">
                <a:latin typeface="Courier New" pitchFamily="49" charset="0"/>
              </a:rPr>
              <a:t>double</a:t>
            </a:r>
            <a:r>
              <a:rPr lang="en-US" altLang="en-US" dirty="0"/>
              <a:t> value</a:t>
            </a:r>
            <a:br>
              <a:rPr lang="en-US" altLang="en-US" dirty="0"/>
            </a:br>
            <a:r>
              <a:rPr lang="en-US" altLang="en-US" dirty="0"/>
              <a:t>in the range [0.0, 1.0).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217127" y="1017725"/>
            <a:ext cx="2880011" cy="36290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/>
          <a:lstStyle>
            <a:lvl1pPr marL="342900" indent="-34290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400" b="1" dirty="0">
                <a:cs typeface="Times New Roman" panose="02020603050405020304" pitchFamily="18" charset="0"/>
              </a:rPr>
              <a:t>Examples:</a:t>
            </a: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b="1" dirty="0" err="1">
                <a:latin typeface="Courier New" pitchFamily="49" charset="0"/>
                <a:cs typeface="Courier New" pitchFamily="49" charset="0"/>
              </a:rPr>
              <a:t>Math.max</a:t>
            </a:r>
            <a:r>
              <a:rPr lang="en-US" altLang="en-US" sz="2100" b="1" dirty="0">
                <a:latin typeface="Courier New" pitchFamily="49" charset="0"/>
                <a:cs typeface="Courier New" pitchFamily="49" charset="0"/>
              </a:rPr>
              <a:t>(2, 3)</a:t>
            </a:r>
            <a:r>
              <a:rPr lang="en-US" altLang="en-US" sz="21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dirty="0">
                <a:latin typeface="Courier New" pitchFamily="49" charset="0"/>
                <a:cs typeface="Courier New" pitchFamily="49" charset="0"/>
              </a:rPr>
              <a:t>	returns 3 </a:t>
            </a:r>
            <a:endParaRPr lang="en-US" altLang="en-US" sz="2100" dirty="0">
              <a:latin typeface="Courier" pitchFamily="49" charset="0"/>
              <a:cs typeface="Times New Roman" pitchFamily="18" charset="0"/>
            </a:endParaRP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b="1" dirty="0" err="1">
                <a:latin typeface="Courier New" pitchFamily="49" charset="0"/>
                <a:cs typeface="Courier New" pitchFamily="49" charset="0"/>
              </a:rPr>
              <a:t>Math.max</a:t>
            </a:r>
            <a:r>
              <a:rPr lang="en-US" altLang="en-US" sz="2100" b="1" dirty="0">
                <a:latin typeface="Courier New" pitchFamily="49" charset="0"/>
                <a:cs typeface="Courier New" pitchFamily="49" charset="0"/>
              </a:rPr>
              <a:t>(2.5, 3)</a:t>
            </a:r>
            <a:r>
              <a:rPr lang="en-US" altLang="en-US" sz="21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dirty="0">
                <a:latin typeface="Courier New" pitchFamily="49" charset="0"/>
                <a:cs typeface="Courier New" pitchFamily="49" charset="0"/>
              </a:rPr>
              <a:t>	returns 3.0 </a:t>
            </a:r>
            <a:endParaRPr lang="en-US" altLang="en-US" sz="2100" dirty="0">
              <a:latin typeface="Courier New" pitchFamily="49" charset="0"/>
              <a:cs typeface="Times New Roman" pitchFamily="18" charset="0"/>
            </a:endParaRP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b="1" dirty="0" err="1">
                <a:latin typeface="Courier New" pitchFamily="49" charset="0"/>
                <a:cs typeface="Courier New" pitchFamily="49" charset="0"/>
              </a:rPr>
              <a:t>Math.min</a:t>
            </a:r>
            <a:r>
              <a:rPr lang="en-US" altLang="en-US" sz="2100" b="1" dirty="0">
                <a:latin typeface="Courier New" pitchFamily="49" charset="0"/>
                <a:cs typeface="Courier New" pitchFamily="49" charset="0"/>
              </a:rPr>
              <a:t>(2.5,3.6)</a:t>
            </a: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2100" dirty="0">
                <a:latin typeface="Courier New" pitchFamily="49" charset="0"/>
                <a:cs typeface="Courier New" pitchFamily="49" charset="0"/>
              </a:rPr>
              <a:t>returns 2.5 </a:t>
            </a:r>
            <a:endParaRPr lang="en-US" altLang="en-US" sz="2100" dirty="0">
              <a:latin typeface="Courier New" pitchFamily="49" charset="0"/>
              <a:cs typeface="Times New Roman" pitchFamily="18" charset="0"/>
            </a:endParaRP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b="1" dirty="0" err="1">
                <a:latin typeface="Courier New" pitchFamily="49" charset="0"/>
                <a:cs typeface="Courier New" pitchFamily="49" charset="0"/>
              </a:rPr>
              <a:t>Math.abs</a:t>
            </a:r>
            <a:r>
              <a:rPr lang="en-US" altLang="en-US" sz="2100" b="1" dirty="0">
                <a:latin typeface="Courier New" pitchFamily="49" charset="0"/>
                <a:cs typeface="Courier New" pitchFamily="49" charset="0"/>
              </a:rPr>
              <a:t>(-2)</a:t>
            </a:r>
            <a:r>
              <a:rPr lang="en-US" altLang="en-US" sz="21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dirty="0">
                <a:latin typeface="Courier New" pitchFamily="49" charset="0"/>
                <a:cs typeface="Courier New" pitchFamily="49" charset="0"/>
              </a:rPr>
              <a:t>	returns 2</a:t>
            </a:r>
            <a:endParaRPr lang="en-US" altLang="en-US" sz="2100" dirty="0">
              <a:latin typeface="Courier New" pitchFamily="49" charset="0"/>
              <a:cs typeface="Times New Roman" pitchFamily="18" charset="0"/>
            </a:endParaRP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b="1" dirty="0" err="1">
                <a:latin typeface="Courier New" pitchFamily="49" charset="0"/>
                <a:cs typeface="Times New Roman" pitchFamily="18" charset="0"/>
              </a:rPr>
              <a:t>Math.abs</a:t>
            </a:r>
            <a:r>
              <a:rPr lang="en-US" altLang="en-US" sz="2100" b="1" dirty="0">
                <a:latin typeface="Courier New" pitchFamily="49" charset="0"/>
                <a:cs typeface="Times New Roman" pitchFamily="18" charset="0"/>
              </a:rPr>
              <a:t>(-2.1)</a:t>
            </a:r>
            <a:r>
              <a:rPr lang="en-US" altLang="en-US" sz="2100" dirty="0">
                <a:latin typeface="Courier New" pitchFamily="49" charset="0"/>
                <a:cs typeface="Times New Roman" pitchFamily="18" charset="0"/>
              </a:rPr>
              <a:t> </a:t>
            </a:r>
          </a:p>
          <a:p>
            <a:pPr>
              <a:buClr>
                <a:schemeClr val="tx2"/>
              </a:buClr>
              <a:buSzPct val="75000"/>
            </a:pPr>
            <a:r>
              <a:rPr lang="en-US" altLang="en-US" sz="2100" dirty="0">
                <a:latin typeface="Courier New" pitchFamily="49" charset="0"/>
                <a:cs typeface="Times New Roman" pitchFamily="18" charset="0"/>
              </a:rPr>
              <a:t>	returns 2.1</a:t>
            </a:r>
          </a:p>
        </p:txBody>
      </p:sp>
    </p:spTree>
    <p:extLst>
      <p:ext uri="{BB962C8B-B14F-4D97-AF65-F5344CB8AC3E}">
        <p14:creationId xmlns:p14="http://schemas.microsoft.com/office/powerpoint/2010/main" val="2879689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cs typeface="Courier New" pitchFamily="49" charset="0"/>
              </a:rPr>
              <a:t>The </a:t>
            </a:r>
            <a:r>
              <a:rPr lang="en-US" altLang="en-US" b="1" u="sng" dirty="0">
                <a:latin typeface="Courier New" pitchFamily="49" charset="0"/>
                <a:cs typeface="Courier New" pitchFamily="49" charset="0"/>
              </a:rPr>
              <a:t>random</a:t>
            </a:r>
            <a:r>
              <a:rPr lang="en-US" altLang="en-US" dirty="0">
                <a:cs typeface="Courier New" pitchFamily="49" charset="0"/>
              </a:rPr>
              <a:t> Method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Courier New" pitchFamily="49" charset="0"/>
              </a:rPr>
              <a:t>Generates a random </a:t>
            </a:r>
            <a:r>
              <a:rPr lang="en-US" altLang="en-US" b="1" u="sng" dirty="0"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en-US" dirty="0">
                <a:cs typeface="Courier New" pitchFamily="49" charset="0"/>
              </a:rPr>
              <a:t> value greater than or equal to 0.0 and less than 1.0 (</a:t>
            </a:r>
            <a:r>
              <a:rPr lang="en-US" altLang="en-US" b="1" u="sng" dirty="0">
                <a:latin typeface="Courier New" pitchFamily="49" charset="0"/>
                <a:cs typeface="Courier New" pitchFamily="49" charset="0"/>
              </a:rPr>
              <a:t>0 &lt;= </a:t>
            </a:r>
            <a:r>
              <a:rPr lang="en-US" altLang="en-US" b="1" u="sng" dirty="0" err="1">
                <a:latin typeface="Courier New" pitchFamily="49" charset="0"/>
                <a:cs typeface="Courier New" pitchFamily="49" charset="0"/>
              </a:rPr>
              <a:t>Math.random</a:t>
            </a:r>
            <a:r>
              <a:rPr lang="en-US" altLang="en-US" b="1" u="sng" dirty="0">
                <a:latin typeface="Courier New" pitchFamily="49" charset="0"/>
                <a:cs typeface="Courier New" pitchFamily="49" charset="0"/>
              </a:rPr>
              <a:t>() &lt; 1.0</a:t>
            </a:r>
            <a:r>
              <a:rPr lang="en-US" altLang="en-US" dirty="0">
                <a:cs typeface="Courier New" pitchFamily="49" charset="0"/>
              </a:rPr>
              <a:t>)</a:t>
            </a:r>
          </a:p>
          <a:p>
            <a:pPr marL="114300" indent="0">
              <a:buNone/>
            </a:pPr>
            <a:endParaRPr lang="en-US" altLang="en-US" dirty="0">
              <a:cs typeface="Courier New" pitchFamily="49" charset="0"/>
            </a:endParaRPr>
          </a:p>
          <a:p>
            <a:pPr marL="114300" indent="0">
              <a:buNone/>
            </a:pPr>
            <a:r>
              <a:rPr lang="en-US" altLang="en-US" dirty="0">
                <a:cs typeface="Courier New" pitchFamily="49" charset="0"/>
              </a:rPr>
              <a:t>  Examples:</a:t>
            </a:r>
            <a:endParaRPr lang="en-US" altLang="en-US" dirty="0"/>
          </a:p>
          <a:p>
            <a:pPr marL="114300" indent="0">
              <a:buNone/>
            </a:pPr>
            <a:endParaRPr lang="en-US" alt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en-US" dirty="0">
                <a:cs typeface="Courier New" pitchFamily="49" charset="0"/>
              </a:rPr>
              <a:t>In general,</a:t>
            </a:r>
            <a:endParaRPr lang="en-US" altLang="en-US" dirty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906474"/>
              </p:ext>
            </p:extLst>
          </p:nvPr>
        </p:nvGraphicFramePr>
        <p:xfrm>
          <a:off x="821669" y="2515531"/>
          <a:ext cx="6003131" cy="1078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354280" imgH="958680" progId="Word.Picture.8">
                  <p:embed/>
                </p:oleObj>
              </mc:Choice>
              <mc:Fallback>
                <p:oleObj name="Picture" r:id="rId3" imgW="5354280" imgH="95868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669" y="2515531"/>
                        <a:ext cx="6003131" cy="1078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419660"/>
              </p:ext>
            </p:extLst>
          </p:nvPr>
        </p:nvGraphicFramePr>
        <p:xfrm>
          <a:off x="1048930" y="3918568"/>
          <a:ext cx="6402388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5354280" imgH="398880" progId="Word.Picture.8">
                  <p:embed/>
                </p:oleObj>
              </mc:Choice>
              <mc:Fallback>
                <p:oleObj name="Picture" r:id="rId5" imgW="5354280" imgH="398880" progId="Word.Picture.8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930" y="3918568"/>
                        <a:ext cx="6402388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244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5538c6363dcc66390f334cc79d134dde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f941384ee89c8d55594949fcab33c8bd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D27FB1-5B63-4628-BF7E-E09BC744A4A9}"/>
</file>

<file path=customXml/itemProps2.xml><?xml version="1.0" encoding="utf-8"?>
<ds:datastoreItem xmlns:ds="http://schemas.openxmlformats.org/officeDocument/2006/customXml" ds:itemID="{6412BEC3-166C-4141-8FF3-3CDD849A4BF4}"/>
</file>

<file path=customXml/itemProps3.xml><?xml version="1.0" encoding="utf-8"?>
<ds:datastoreItem xmlns:ds="http://schemas.openxmlformats.org/officeDocument/2006/customXml" ds:itemID="{796F396B-4BD4-4BF0-8CA4-BEBB346E90F5}"/>
</file>

<file path=docProps/app.xml><?xml version="1.0" encoding="utf-8"?>
<Properties xmlns="http://schemas.openxmlformats.org/officeDocument/2006/extended-properties" xmlns:vt="http://schemas.openxmlformats.org/officeDocument/2006/docPropsVTypes">
  <TotalTime>9552</TotalTime>
  <Words>722</Words>
  <Application>Microsoft Office PowerPoint</Application>
  <PresentationFormat>On-screen Show (16:9)</PresentationFormat>
  <Paragraphs>123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Courier</vt:lpstr>
      <vt:lpstr>Monotype Sorts</vt:lpstr>
      <vt:lpstr>Arial</vt:lpstr>
      <vt:lpstr>Courier New</vt:lpstr>
      <vt:lpstr>Times New Roman</vt:lpstr>
      <vt:lpstr>Wingdings 2</vt:lpstr>
      <vt:lpstr>Simple Light</vt:lpstr>
      <vt:lpstr>Picture</vt:lpstr>
      <vt:lpstr>Mathematical Functions</vt:lpstr>
      <vt:lpstr>Objectives: </vt:lpstr>
      <vt:lpstr>Static methods</vt:lpstr>
      <vt:lpstr>The Math Class</vt:lpstr>
      <vt:lpstr>Trigonometric Methods</vt:lpstr>
      <vt:lpstr>Exponent Methods</vt:lpstr>
      <vt:lpstr>Rounding Methods</vt:lpstr>
      <vt:lpstr>Rounding Methods Examples</vt:lpstr>
      <vt:lpstr>min, max, and abs</vt:lpstr>
      <vt:lpstr>The random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于 心瑞 Xinrui YU</cp:lastModifiedBy>
  <cp:revision>368</cp:revision>
  <dcterms:modified xsi:type="dcterms:W3CDTF">2025-09-30T11:21:04Z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