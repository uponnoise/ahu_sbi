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338" r:id="rId3"/>
    <p:sldId id="307" r:id="rId4"/>
    <p:sldId id="311" r:id="rId5"/>
    <p:sldId id="308" r:id="rId6"/>
    <p:sldId id="339" r:id="rId7"/>
    <p:sldId id="320"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4EBA33-3A57-406F-BA0F-013F63331EEE}" v="2" dt="2025-09-26T08:41:09.6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3" d="100"/>
          <a:sy n="143" d="100"/>
        </p:scale>
        <p:origin x="2313"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35" Type="http://schemas.openxmlformats.org/officeDocument/2006/relationships/customXml" Target="../customXml/item3.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F34F8855-C621-4438-806B-08A2E2CB3E3D}"/>
    <pc:docChg chg="modSld">
      <pc:chgData name="于 心瑞 Xinrui YU" userId="e6fcc6d4-2b88-4beb-95d7-57ae4d33a768" providerId="ADAL" clId="{F34F8855-C621-4438-806B-08A2E2CB3E3D}" dt="2025-09-26T11:16:55.007" v="10" actId="20577"/>
      <pc:docMkLst>
        <pc:docMk/>
      </pc:docMkLst>
      <pc:sldChg chg="delSp mod">
        <pc:chgData name="于 心瑞 Xinrui YU" userId="e6fcc6d4-2b88-4beb-95d7-57ae4d33a768" providerId="ADAL" clId="{F34F8855-C621-4438-806B-08A2E2CB3E3D}" dt="2025-09-26T11:16:23.583" v="0" actId="33639"/>
        <pc:sldMkLst>
          <pc:docMk/>
          <pc:sldMk cId="729238857" sldId="307"/>
        </pc:sldMkLst>
        <pc:inkChg chg="del">
          <ac:chgData name="于 心瑞 Xinrui YU" userId="e6fcc6d4-2b88-4beb-95d7-57ae4d33a768" providerId="ADAL" clId="{F34F8855-C621-4438-806B-08A2E2CB3E3D}" dt="2025-09-26T11:16:23.583" v="0" actId="33639"/>
          <ac:inkMkLst>
            <pc:docMk/>
            <pc:sldMk cId="729238857" sldId="307"/>
            <ac:inkMk id="5" creationId="{15911D39-3C18-96CC-9B6F-B888FF2E801E}"/>
          </ac:inkMkLst>
        </pc:inkChg>
      </pc:sldChg>
      <pc:sldChg chg="delSp mod">
        <pc:chgData name="于 心瑞 Xinrui YU" userId="e6fcc6d4-2b88-4beb-95d7-57ae4d33a768" providerId="ADAL" clId="{F34F8855-C621-4438-806B-08A2E2CB3E3D}" dt="2025-09-26T11:16:23.583" v="0" actId="33639"/>
        <pc:sldMkLst>
          <pc:docMk/>
          <pc:sldMk cId="2451432533" sldId="308"/>
        </pc:sldMkLst>
        <pc:inkChg chg="del">
          <ac:chgData name="于 心瑞 Xinrui YU" userId="e6fcc6d4-2b88-4beb-95d7-57ae4d33a768" providerId="ADAL" clId="{F34F8855-C621-4438-806B-08A2E2CB3E3D}" dt="2025-09-26T11:16:23.583" v="0" actId="33639"/>
          <ac:inkMkLst>
            <pc:docMk/>
            <pc:sldMk cId="2451432533" sldId="308"/>
            <ac:inkMk id="5" creationId="{3B807B08-81EC-5F49-51BF-2468223FCC9C}"/>
          </ac:inkMkLst>
        </pc:inkChg>
      </pc:sldChg>
      <pc:sldChg chg="delSp mod">
        <pc:chgData name="于 心瑞 Xinrui YU" userId="e6fcc6d4-2b88-4beb-95d7-57ae4d33a768" providerId="ADAL" clId="{F34F8855-C621-4438-806B-08A2E2CB3E3D}" dt="2025-09-26T11:16:23.583" v="0" actId="33639"/>
        <pc:sldMkLst>
          <pc:docMk/>
          <pc:sldMk cId="3961507145" sldId="311"/>
        </pc:sldMkLst>
        <pc:inkChg chg="del">
          <ac:chgData name="于 心瑞 Xinrui YU" userId="e6fcc6d4-2b88-4beb-95d7-57ae4d33a768" providerId="ADAL" clId="{F34F8855-C621-4438-806B-08A2E2CB3E3D}" dt="2025-09-26T11:16:23.583" v="0" actId="33639"/>
          <ac:inkMkLst>
            <pc:docMk/>
            <pc:sldMk cId="3961507145" sldId="311"/>
            <ac:inkMk id="6" creationId="{F683A8EF-EB9E-9E9E-B598-8999A260667F}"/>
          </ac:inkMkLst>
        </pc:inkChg>
      </pc:sldChg>
      <pc:sldChg chg="modNotesTx">
        <pc:chgData name="于 心瑞 Xinrui YU" userId="e6fcc6d4-2b88-4beb-95d7-57ae4d33a768" providerId="ADAL" clId="{F34F8855-C621-4438-806B-08A2E2CB3E3D}" dt="2025-09-26T11:16:55.007" v="10" actId="20577"/>
        <pc:sldMkLst>
          <pc:docMk/>
          <pc:sldMk cId="3407340340" sldId="337"/>
        </pc:sldMkLst>
      </pc:sldChg>
      <pc:sldChg chg="delSp mod">
        <pc:chgData name="于 心瑞 Xinrui YU" userId="e6fcc6d4-2b88-4beb-95d7-57ae4d33a768" providerId="ADAL" clId="{F34F8855-C621-4438-806B-08A2E2CB3E3D}" dt="2025-09-26T11:16:23.583" v="0" actId="33639"/>
        <pc:sldMkLst>
          <pc:docMk/>
          <pc:sldMk cId="3413114646" sldId="338"/>
        </pc:sldMkLst>
        <pc:inkChg chg="del">
          <ac:chgData name="于 心瑞 Xinrui YU" userId="e6fcc6d4-2b88-4beb-95d7-57ae4d33a768" providerId="ADAL" clId="{F34F8855-C621-4438-806B-08A2E2CB3E3D}" dt="2025-09-26T11:16:23.583" v="0" actId="33639"/>
          <ac:inkMkLst>
            <pc:docMk/>
            <pc:sldMk cId="3413114646" sldId="338"/>
            <ac:inkMk id="5" creationId="{19047C71-4519-FE8F-69AE-A49A594E3B4A}"/>
          </ac:inkMkLst>
        </pc:inkChg>
      </pc:sldChg>
      <pc:sldChg chg="delSp mod">
        <pc:chgData name="于 心瑞 Xinrui YU" userId="e6fcc6d4-2b88-4beb-95d7-57ae4d33a768" providerId="ADAL" clId="{F34F8855-C621-4438-806B-08A2E2CB3E3D}" dt="2025-09-26T11:16:23.583" v="0" actId="33639"/>
        <pc:sldMkLst>
          <pc:docMk/>
          <pc:sldMk cId="600179514" sldId="339"/>
        </pc:sldMkLst>
        <pc:inkChg chg="del">
          <ac:chgData name="于 心瑞 Xinrui YU" userId="e6fcc6d4-2b88-4beb-95d7-57ae4d33a768" providerId="ADAL" clId="{F34F8855-C621-4438-806B-08A2E2CB3E3D}" dt="2025-09-26T11:16:23.583" v="0" actId="33639"/>
          <ac:inkMkLst>
            <pc:docMk/>
            <pc:sldMk cId="600179514" sldId="339"/>
            <ac:inkMk id="4" creationId="{C63B4E1D-A728-462B-DACD-B0660AD8AFE0}"/>
          </ac:inkMkLst>
        </pc:inkChg>
      </pc:sldChg>
    </pc:docChg>
  </pc:docChgLst>
  <pc:docChgLst>
    <pc:chgData name="于 心瑞 Xinrui YU" userId="e6fcc6d4-2b88-4beb-95d7-57ae4d33a768" providerId="ADAL" clId="{CFFA9A75-F840-4F6F-AF7D-069F806E1180}"/>
    <pc:docChg chg="custSel modSld">
      <pc:chgData name="于 心瑞 Xinrui YU" userId="e6fcc6d4-2b88-4beb-95d7-57ae4d33a768" providerId="ADAL" clId="{CFFA9A75-F840-4F6F-AF7D-069F806E1180}" dt="2025-09-26T08:59:58.523" v="51" actId="20577"/>
      <pc:docMkLst>
        <pc:docMk/>
      </pc:docMkLst>
      <pc:sldChg chg="addSp delSp mod">
        <pc:chgData name="于 心瑞 Xinrui YU" userId="e6fcc6d4-2b88-4beb-95d7-57ae4d33a768" providerId="ADAL" clId="{CFFA9A75-F840-4F6F-AF7D-069F806E1180}" dt="2025-09-26T08:31:48.886" v="26" actId="33639"/>
        <pc:sldMkLst>
          <pc:docMk/>
          <pc:sldMk cId="0" sldId="256"/>
        </pc:sldMkLst>
        <pc:inkChg chg="add del">
          <ac:chgData name="于 心瑞 Xinrui YU" userId="e6fcc6d4-2b88-4beb-95d7-57ae4d33a768" providerId="ADAL" clId="{CFFA9A75-F840-4F6F-AF7D-069F806E1180}" dt="2025-09-26T08:31:48.886" v="26" actId="33639"/>
          <ac:inkMkLst>
            <pc:docMk/>
            <pc:sldMk cId="0" sldId="256"/>
            <ac:inkMk id="4" creationId="{1F15F454-0594-7C0A-97F4-E88554243049}"/>
          </ac:inkMkLst>
        </pc:inkChg>
      </pc:sldChg>
      <pc:sldChg chg="addSp delSp mod">
        <pc:chgData name="于 心瑞 Xinrui YU" userId="e6fcc6d4-2b88-4beb-95d7-57ae4d33a768" providerId="ADAL" clId="{CFFA9A75-F840-4F6F-AF7D-069F806E1180}" dt="2025-09-26T08:41:09.652" v="27"/>
        <pc:sldMkLst>
          <pc:docMk/>
          <pc:sldMk cId="729238857" sldId="307"/>
        </pc:sldMkLst>
        <pc:inkChg chg="add del">
          <ac:chgData name="于 心瑞 Xinrui YU" userId="e6fcc6d4-2b88-4beb-95d7-57ae4d33a768" providerId="ADAL" clId="{CFFA9A75-F840-4F6F-AF7D-069F806E1180}" dt="2025-09-26T08:31:48.886" v="26" actId="33639"/>
          <ac:inkMkLst>
            <pc:docMk/>
            <pc:sldMk cId="729238857" sldId="307"/>
            <ac:inkMk id="4" creationId="{A48F0609-8DAB-E879-0422-001EB5CFE805}"/>
          </ac:inkMkLst>
        </pc:inkChg>
        <pc:inkChg chg="add">
          <ac:chgData name="于 心瑞 Xinrui YU" userId="e6fcc6d4-2b88-4beb-95d7-57ae4d33a768" providerId="ADAL" clId="{CFFA9A75-F840-4F6F-AF7D-069F806E1180}" dt="2025-09-26T08:41:09.652" v="27"/>
          <ac:inkMkLst>
            <pc:docMk/>
            <pc:sldMk cId="729238857" sldId="307"/>
            <ac:inkMk id="5" creationId="{15911D39-3C18-96CC-9B6F-B888FF2E801E}"/>
          </ac:inkMkLst>
        </pc:inkChg>
      </pc:sldChg>
      <pc:sldChg chg="addSp delSp mod">
        <pc:chgData name="于 心瑞 Xinrui YU" userId="e6fcc6d4-2b88-4beb-95d7-57ae4d33a768" providerId="ADAL" clId="{CFFA9A75-F840-4F6F-AF7D-069F806E1180}" dt="2025-09-26T08:41:09.652" v="27"/>
        <pc:sldMkLst>
          <pc:docMk/>
          <pc:sldMk cId="2451432533" sldId="308"/>
        </pc:sldMkLst>
        <pc:inkChg chg="add del">
          <ac:chgData name="于 心瑞 Xinrui YU" userId="e6fcc6d4-2b88-4beb-95d7-57ae4d33a768" providerId="ADAL" clId="{CFFA9A75-F840-4F6F-AF7D-069F806E1180}" dt="2025-09-26T08:31:48.886" v="26" actId="33639"/>
          <ac:inkMkLst>
            <pc:docMk/>
            <pc:sldMk cId="2451432533" sldId="308"/>
            <ac:inkMk id="4" creationId="{CDF4BAF2-7AB3-B6DF-C146-A2A9350BFE5A}"/>
          </ac:inkMkLst>
        </pc:inkChg>
        <pc:inkChg chg="add">
          <ac:chgData name="于 心瑞 Xinrui YU" userId="e6fcc6d4-2b88-4beb-95d7-57ae4d33a768" providerId="ADAL" clId="{CFFA9A75-F840-4F6F-AF7D-069F806E1180}" dt="2025-09-26T08:41:09.652" v="27"/>
          <ac:inkMkLst>
            <pc:docMk/>
            <pc:sldMk cId="2451432533" sldId="308"/>
            <ac:inkMk id="5" creationId="{3B807B08-81EC-5F49-51BF-2468223FCC9C}"/>
          </ac:inkMkLst>
        </pc:inkChg>
      </pc:sldChg>
      <pc:sldChg chg="addSp delSp mod">
        <pc:chgData name="于 心瑞 Xinrui YU" userId="e6fcc6d4-2b88-4beb-95d7-57ae4d33a768" providerId="ADAL" clId="{CFFA9A75-F840-4F6F-AF7D-069F806E1180}" dt="2025-09-26T08:41:09.652" v="27"/>
        <pc:sldMkLst>
          <pc:docMk/>
          <pc:sldMk cId="3961507145" sldId="311"/>
        </pc:sldMkLst>
        <pc:inkChg chg="add del">
          <ac:chgData name="于 心瑞 Xinrui YU" userId="e6fcc6d4-2b88-4beb-95d7-57ae4d33a768" providerId="ADAL" clId="{CFFA9A75-F840-4F6F-AF7D-069F806E1180}" dt="2025-09-26T08:31:48.886" v="26" actId="33639"/>
          <ac:inkMkLst>
            <pc:docMk/>
            <pc:sldMk cId="3961507145" sldId="311"/>
            <ac:inkMk id="4" creationId="{463CECE4-C76C-867F-127A-5899EB6BA3A4}"/>
          </ac:inkMkLst>
        </pc:inkChg>
        <pc:inkChg chg="add">
          <ac:chgData name="于 心瑞 Xinrui YU" userId="e6fcc6d4-2b88-4beb-95d7-57ae4d33a768" providerId="ADAL" clId="{CFFA9A75-F840-4F6F-AF7D-069F806E1180}" dt="2025-09-26T08:41:09.652" v="27"/>
          <ac:inkMkLst>
            <pc:docMk/>
            <pc:sldMk cId="3961507145" sldId="311"/>
            <ac:inkMk id="6" creationId="{F683A8EF-EB9E-9E9E-B598-8999A260667F}"/>
          </ac:inkMkLst>
        </pc:inkChg>
      </pc:sldChg>
      <pc:sldChg chg="addSp delSp mod modNotesTx">
        <pc:chgData name="于 心瑞 Xinrui YU" userId="e6fcc6d4-2b88-4beb-95d7-57ae4d33a768" providerId="ADAL" clId="{CFFA9A75-F840-4F6F-AF7D-069F806E1180}" dt="2025-09-26T08:31:48.886" v="26" actId="33639"/>
        <pc:sldMkLst>
          <pc:docMk/>
          <pc:sldMk cId="2993171355" sldId="320"/>
        </pc:sldMkLst>
        <pc:inkChg chg="add del">
          <ac:chgData name="于 心瑞 Xinrui YU" userId="e6fcc6d4-2b88-4beb-95d7-57ae4d33a768" providerId="ADAL" clId="{CFFA9A75-F840-4F6F-AF7D-069F806E1180}" dt="2025-09-26T08:31:48.886" v="26" actId="33639"/>
          <ac:inkMkLst>
            <pc:docMk/>
            <pc:sldMk cId="2993171355" sldId="320"/>
            <ac:inkMk id="4" creationId="{9D3A1C4F-5B2F-58B6-F264-6CC5D7B469D5}"/>
          </ac:inkMkLst>
        </pc:inkChg>
      </pc:sldChg>
      <pc:sldChg chg="modNotesTx">
        <pc:chgData name="于 心瑞 Xinrui YU" userId="e6fcc6d4-2b88-4beb-95d7-57ae4d33a768" providerId="ADAL" clId="{CFFA9A75-F840-4F6F-AF7D-069F806E1180}" dt="2025-09-26T08:59:58.523" v="51" actId="20577"/>
        <pc:sldMkLst>
          <pc:docMk/>
          <pc:sldMk cId="1596403498" sldId="321"/>
        </pc:sldMkLst>
      </pc:sldChg>
      <pc:sldChg chg="addSp delSp mod">
        <pc:chgData name="于 心瑞 Xinrui YU" userId="e6fcc6d4-2b88-4beb-95d7-57ae4d33a768" providerId="ADAL" clId="{CFFA9A75-F840-4F6F-AF7D-069F806E1180}" dt="2025-09-26T08:41:09.652" v="27"/>
        <pc:sldMkLst>
          <pc:docMk/>
          <pc:sldMk cId="3413114646" sldId="338"/>
        </pc:sldMkLst>
        <pc:inkChg chg="add del">
          <ac:chgData name="于 心瑞 Xinrui YU" userId="e6fcc6d4-2b88-4beb-95d7-57ae4d33a768" providerId="ADAL" clId="{CFFA9A75-F840-4F6F-AF7D-069F806E1180}" dt="2025-09-26T08:31:48.886" v="26" actId="33639"/>
          <ac:inkMkLst>
            <pc:docMk/>
            <pc:sldMk cId="3413114646" sldId="338"/>
            <ac:inkMk id="4" creationId="{29A3C26D-64C9-C158-F63D-98AE88DAFD5C}"/>
          </ac:inkMkLst>
        </pc:inkChg>
        <pc:inkChg chg="add">
          <ac:chgData name="于 心瑞 Xinrui YU" userId="e6fcc6d4-2b88-4beb-95d7-57ae4d33a768" providerId="ADAL" clId="{CFFA9A75-F840-4F6F-AF7D-069F806E1180}" dt="2025-09-26T08:41:09.652" v="27"/>
          <ac:inkMkLst>
            <pc:docMk/>
            <pc:sldMk cId="3413114646" sldId="338"/>
            <ac:inkMk id="5" creationId="{19047C71-4519-FE8F-69AE-A49A594E3B4A}"/>
          </ac:inkMkLst>
        </pc:inkChg>
      </pc:sldChg>
      <pc:sldChg chg="addSp delSp mod">
        <pc:chgData name="于 心瑞 Xinrui YU" userId="e6fcc6d4-2b88-4beb-95d7-57ae4d33a768" providerId="ADAL" clId="{CFFA9A75-F840-4F6F-AF7D-069F806E1180}" dt="2025-09-26T08:41:09.652" v="27"/>
        <pc:sldMkLst>
          <pc:docMk/>
          <pc:sldMk cId="600179514" sldId="339"/>
        </pc:sldMkLst>
        <pc:inkChg chg="add del">
          <ac:chgData name="于 心瑞 Xinrui YU" userId="e6fcc6d4-2b88-4beb-95d7-57ae4d33a768" providerId="ADAL" clId="{CFFA9A75-F840-4F6F-AF7D-069F806E1180}" dt="2025-09-26T08:31:48.886" v="26" actId="33639"/>
          <ac:inkMkLst>
            <pc:docMk/>
            <pc:sldMk cId="600179514" sldId="339"/>
            <ac:inkMk id="3" creationId="{42E48C38-124C-2CE7-3CE4-EDAED3C3B9D7}"/>
          </ac:inkMkLst>
        </pc:inkChg>
        <pc:inkChg chg="add">
          <ac:chgData name="于 心瑞 Xinrui YU" userId="e6fcc6d4-2b88-4beb-95d7-57ae4d33a768" providerId="ADAL" clId="{CFFA9A75-F840-4F6F-AF7D-069F806E1180}" dt="2025-09-26T08:41:09.652" v="27"/>
          <ac:inkMkLst>
            <pc:docMk/>
            <pc:sldMk cId="600179514" sldId="339"/>
            <ac:inkMk id="4" creationId="{C63B4E1D-A728-462B-DACD-B0660AD8AFE0}"/>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t>选择：条件</a:t>
            </a:r>
            <a:endParaRPr dirty="0"/>
          </a:p>
        </p:txBody>
      </p:sp>
    </p:spTree>
    <p:extLst>
      <p:ext uri="{BB962C8B-B14F-4D97-AF65-F5344CB8AC3E}">
        <p14:creationId xmlns:p14="http://schemas.microsoft.com/office/powerpoint/2010/main" val="2157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布尔数据类型</a:t>
            </a:r>
            <a:endParaRPr lang="en-US" altLang="zh-CN" dirty="0"/>
          </a:p>
          <a:p>
            <a:endParaRPr lang="en-US" dirty="0"/>
          </a:p>
        </p:txBody>
      </p:sp>
    </p:spTree>
    <p:extLst>
      <p:ext uri="{BB962C8B-B14F-4D97-AF65-F5344CB8AC3E}">
        <p14:creationId xmlns:p14="http://schemas.microsoft.com/office/powerpoint/2010/main" val="1450745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Class 01 ends here 0926</a:t>
            </a:r>
            <a:endParaRPr lang="zh-CN" altLang="en-US" dirty="0"/>
          </a:p>
        </p:txBody>
      </p:sp>
    </p:spTree>
    <p:extLst>
      <p:ext uri="{BB962C8B-B14F-4D97-AF65-F5344CB8AC3E}">
        <p14:creationId xmlns:p14="http://schemas.microsoft.com/office/powerpoint/2010/main" val="2602388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Class </a:t>
            </a:r>
            <a:r>
              <a:rPr lang="en-US" altLang="zh-CN"/>
              <a:t>02 ends here 09/26</a:t>
            </a:r>
            <a:endParaRPr lang="zh-CN" altLang="en-US"/>
          </a:p>
        </p:txBody>
      </p:sp>
    </p:spTree>
    <p:extLst>
      <p:ext uri="{BB962C8B-B14F-4D97-AF65-F5344CB8AC3E}">
        <p14:creationId xmlns:p14="http://schemas.microsoft.com/office/powerpoint/2010/main" val="301288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单分支</a:t>
            </a:r>
            <a:r>
              <a:rPr lang="en-US" altLang="zh-CN" dirty="0"/>
              <a:t>if</a:t>
            </a:r>
            <a:r>
              <a:rPr lang="zh-CN" altLang="en-US" dirty="0"/>
              <a:t>语句 （单向</a:t>
            </a:r>
            <a:r>
              <a:rPr lang="en-US" altLang="zh-CN" dirty="0"/>
              <a:t>if</a:t>
            </a:r>
            <a:r>
              <a:rPr lang="zh-CN" altLang="en-US" dirty="0"/>
              <a:t>语句）</a:t>
            </a:r>
            <a:endParaRPr lang="en-US" dirty="0"/>
          </a:p>
        </p:txBody>
      </p:sp>
    </p:spTree>
    <p:extLst>
      <p:ext uri="{BB962C8B-B14F-4D97-AF65-F5344CB8AC3E}">
        <p14:creationId xmlns:p14="http://schemas.microsoft.com/office/powerpoint/2010/main" val="91316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双分支</a:t>
            </a:r>
            <a:r>
              <a:rPr lang="en-US" altLang="zh-CN" dirty="0"/>
              <a:t>if</a:t>
            </a:r>
            <a:r>
              <a:rPr lang="zh-CN" altLang="en-US" dirty="0"/>
              <a:t>语句</a:t>
            </a:r>
            <a:endParaRPr lang="en-US" dirty="0"/>
          </a:p>
        </p:txBody>
      </p:sp>
    </p:spTree>
    <p:extLst>
      <p:ext uri="{BB962C8B-B14F-4D97-AF65-F5344CB8AC3E}">
        <p14:creationId xmlns:p14="http://schemas.microsoft.com/office/powerpoint/2010/main" val="252862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复合语句</a:t>
            </a:r>
            <a:endParaRPr lang="en-US" dirty="0"/>
          </a:p>
        </p:txBody>
      </p:sp>
    </p:spTree>
    <p:extLst>
      <p:ext uri="{BB962C8B-B14F-4D97-AF65-F5344CB8AC3E}">
        <p14:creationId xmlns:p14="http://schemas.microsoft.com/office/powerpoint/2010/main" val="3461577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嵌套</a:t>
            </a:r>
            <a:endParaRPr lang="en-US" dirty="0"/>
          </a:p>
        </p:txBody>
      </p:sp>
    </p:spTree>
    <p:extLst>
      <p:ext uri="{BB962C8B-B14F-4D97-AF65-F5344CB8AC3E}">
        <p14:creationId xmlns:p14="http://schemas.microsoft.com/office/powerpoint/2010/main" val="3720199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t>code2flow</a:t>
            </a:r>
            <a:endParaRPr lang="en-US"/>
          </a:p>
        </p:txBody>
      </p:sp>
    </p:spTree>
    <p:extLst>
      <p:ext uri="{BB962C8B-B14F-4D97-AF65-F5344CB8AC3E}">
        <p14:creationId xmlns:p14="http://schemas.microsoft.com/office/powerpoint/2010/main" val="532321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2" name="Title 1">
            <a:extLst>
              <a:ext uri="{FF2B5EF4-FFF2-40B4-BE49-F238E27FC236}">
                <a16:creationId xmlns:a16="http://schemas.microsoft.com/office/drawing/2014/main" id="{1730766B-A39C-48AD-AF4E-3FB458C16D13}"/>
              </a:ext>
            </a:extLst>
          </p:cNvPr>
          <p:cNvSpPr>
            <a:spLocks noGrp="1"/>
          </p:cNvSpPr>
          <p:nvPr>
            <p:ph type="title"/>
          </p:nvPr>
        </p:nvSpPr>
        <p:spPr/>
        <p:txBody>
          <a:bodyPr>
            <a:normAutofit fontScale="90000"/>
          </a:bodyPr>
          <a:lstStyle/>
          <a:p>
            <a:r>
              <a:rPr lang="en-US" dirty="0"/>
              <a:t>Selections</a:t>
            </a:r>
          </a:p>
        </p:txBody>
      </p:sp>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endParaRPr sz="3200" b="1" dirty="0">
              <a:solidFill>
                <a:schemeClr val="dk1"/>
              </a:solidFill>
            </a:endParaRPr>
          </a:p>
          <a:p>
            <a:pPr marL="0" lvl="0" indent="0" algn="ctr" rtl="0">
              <a:lnSpc>
                <a:spcPct val="100000"/>
              </a:lnSpc>
              <a:spcBef>
                <a:spcPts val="0"/>
              </a:spcBef>
              <a:spcAft>
                <a:spcPts val="0"/>
              </a:spcAft>
              <a:buNone/>
            </a:pPr>
            <a:r>
              <a:rPr lang="en-US" sz="3200" b="1" dirty="0">
                <a:solidFill>
                  <a:schemeClr val="dk1"/>
                </a:solidFill>
              </a:rPr>
              <a:t>Selections: Conditionals</a:t>
            </a:r>
            <a:endParaRPr sz="3200" b="1" dirty="0">
              <a:solidFill>
                <a:schemeClr val="dk1"/>
              </a:solidFill>
            </a:endParaRPr>
          </a:p>
        </p:txBody>
      </p:sp>
      <p:pic>
        <p:nvPicPr>
          <p:cNvPr id="3" name="그림 1" descr="Text, letter&#10;&#10;Description automatically generated">
            <a:extLst>
              <a:ext uri="{FF2B5EF4-FFF2-40B4-BE49-F238E27FC236}">
                <a16:creationId xmlns:a16="http://schemas.microsoft.com/office/drawing/2014/main" id="{0FEF9F45-4E51-4C90-EEDD-4B45BF613F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 </a:t>
            </a:r>
          </a:p>
        </p:txBody>
      </p:sp>
      <p:sp>
        <p:nvSpPr>
          <p:cNvPr id="3" name="Text Placeholder 2"/>
          <p:cNvSpPr>
            <a:spLocks noGrp="1"/>
          </p:cNvSpPr>
          <p:nvPr>
            <p:ph type="body" idx="1"/>
          </p:nvPr>
        </p:nvSpPr>
        <p:spPr/>
        <p:txBody>
          <a:bodyPr>
            <a:normAutofit/>
          </a:bodyPr>
          <a:lstStyle/>
          <a:p>
            <a:pPr fontAlgn="base"/>
            <a:r>
              <a:rPr lang="en-US" dirty="0">
                <a:solidFill>
                  <a:schemeClr val="tx1"/>
                </a:solidFill>
                <a:cs typeface="Courier New" pitchFamily="49" charset="0"/>
              </a:rPr>
              <a:t>Boolean Data types</a:t>
            </a:r>
          </a:p>
          <a:p>
            <a:pPr fontAlgn="base"/>
            <a:r>
              <a:rPr lang="en-US" dirty="0">
                <a:solidFill>
                  <a:schemeClr val="tx1"/>
                </a:solidFill>
                <a:cs typeface="Courier New" pitchFamily="49" charset="0"/>
              </a:rPr>
              <a:t>Relational operators</a:t>
            </a:r>
          </a:p>
          <a:p>
            <a:pPr fontAlgn="base"/>
            <a:r>
              <a:rPr lang="en-US" dirty="0">
                <a:solidFill>
                  <a:schemeClr val="tx1"/>
                </a:solidFill>
                <a:cs typeface="Courier New" pitchFamily="49" charset="0"/>
              </a:rPr>
              <a:t>Logical operators</a:t>
            </a:r>
          </a:p>
          <a:p>
            <a:pPr fontAlgn="base"/>
            <a:r>
              <a:rPr lang="en-US" dirty="0">
                <a:solidFill>
                  <a:schemeClr val="tx1"/>
                </a:solidFill>
                <a:cs typeface="Courier New" pitchFamily="49" charset="0"/>
              </a:rPr>
              <a:t>Examples of logical operators and Boolean expressions</a:t>
            </a:r>
          </a:p>
          <a:p>
            <a:pPr fontAlgn="base"/>
            <a:r>
              <a:rPr lang="en-US" dirty="0">
                <a:solidFill>
                  <a:schemeClr val="tx1"/>
                </a:solidFill>
                <a:cs typeface="Courier New" pitchFamily="49" charset="0"/>
              </a:rPr>
              <a:t>One way if-statement</a:t>
            </a:r>
          </a:p>
          <a:p>
            <a:pPr fontAlgn="base"/>
            <a:r>
              <a:rPr lang="en-US" dirty="0">
                <a:solidFill>
                  <a:schemeClr val="tx1"/>
                </a:solidFill>
                <a:cs typeface="Courier New" pitchFamily="49" charset="0"/>
              </a:rPr>
              <a:t>Two way if-statement/ if-else statement </a:t>
            </a:r>
          </a:p>
          <a:p>
            <a:pPr marL="596900" lvl="1" indent="0" fontAlgn="base">
              <a:buNone/>
            </a:pPr>
            <a:endParaRPr lang="en-US" sz="1500" dirty="0">
              <a:solidFill>
                <a:schemeClr val="tx1"/>
              </a:solidFill>
              <a:cs typeface="Courier New" pitchFamily="49" charset="0"/>
            </a:endParaRPr>
          </a:p>
          <a:p>
            <a:pPr lvl="1" fontAlgn="base"/>
            <a:endParaRPr lang="en-US" sz="1500" dirty="0">
              <a:solidFill>
                <a:schemeClr val="tx1"/>
              </a:solidFill>
              <a:cs typeface="Courier New" pitchFamily="49" charset="0"/>
            </a:endParaRPr>
          </a:p>
          <a:p>
            <a:endParaRPr lang="en-US" dirty="0"/>
          </a:p>
        </p:txBody>
      </p:sp>
    </p:spTree>
    <p:extLst>
      <p:ext uri="{BB962C8B-B14F-4D97-AF65-F5344CB8AC3E}">
        <p14:creationId xmlns:p14="http://schemas.microsoft.com/office/powerpoint/2010/main" val="3413114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boolean type:</a:t>
            </a:r>
          </a:p>
        </p:txBody>
      </p:sp>
      <p:sp>
        <p:nvSpPr>
          <p:cNvPr id="3" name="Text Placeholder 2"/>
          <p:cNvSpPr>
            <a:spLocks noGrp="1"/>
          </p:cNvSpPr>
          <p:nvPr>
            <p:ph type="body" idx="1"/>
          </p:nvPr>
        </p:nvSpPr>
        <p:spPr/>
        <p:txBody>
          <a:bodyPr>
            <a:normAutofit/>
          </a:bodyPr>
          <a:lstStyle/>
          <a:p>
            <a:pPr lvl="0" eaLnBrk="0" fontAlgn="base" hangingPunct="0"/>
            <a:r>
              <a:rPr lang="en-US" dirty="0"/>
              <a:t>Often we need to compare values in a program.</a:t>
            </a:r>
          </a:p>
          <a:p>
            <a:pPr marL="114300" indent="0" eaLnBrk="0" fontAlgn="base" hangingPunct="0">
              <a:buNone/>
            </a:pPr>
            <a:r>
              <a:rPr lang="en-US" dirty="0"/>
              <a:t>       Example:  </a:t>
            </a:r>
            <a:r>
              <a:rPr lang="en-US" b="1" dirty="0">
                <a:solidFill>
                  <a:schemeClr val="tx1"/>
                </a:solidFill>
                <a:latin typeface="Courier New" pitchFamily="49" charset="0"/>
                <a:cs typeface="Courier New" pitchFamily="49" charset="0"/>
              </a:rPr>
              <a:t>boolean b = (1 &gt; 2);</a:t>
            </a:r>
          </a:p>
          <a:p>
            <a:pPr marL="114300" lvl="0" indent="0" eaLnBrk="0" fontAlgn="base" hangingPunct="0">
              <a:buNone/>
            </a:pPr>
            <a:endParaRPr lang="en-US" dirty="0"/>
          </a:p>
          <a:p>
            <a:pPr lvl="0" eaLnBrk="0" fontAlgn="base" hangingPunct="0"/>
            <a:r>
              <a:rPr lang="en-US" dirty="0"/>
              <a:t>A boolean expression is one whose value is either </a:t>
            </a:r>
            <a:r>
              <a:rPr lang="en-US" b="1" dirty="0">
                <a:solidFill>
                  <a:schemeClr val="tx1"/>
                </a:solidFill>
                <a:latin typeface="Courier New" pitchFamily="49" charset="0"/>
                <a:cs typeface="Courier New" pitchFamily="49" charset="0"/>
              </a:rPr>
              <a:t>true</a:t>
            </a:r>
            <a:r>
              <a:rPr lang="en-US" dirty="0"/>
              <a:t> or </a:t>
            </a:r>
            <a:r>
              <a:rPr lang="en-US" b="1" dirty="0">
                <a:solidFill>
                  <a:schemeClr val="tx1"/>
                </a:solidFill>
                <a:latin typeface="Courier New" pitchFamily="49" charset="0"/>
                <a:cs typeface="Courier New" pitchFamily="49" charset="0"/>
              </a:rPr>
              <a:t>false</a:t>
            </a:r>
            <a:r>
              <a:rPr lang="en-US" dirty="0"/>
              <a:t> (but not both!)</a:t>
            </a:r>
          </a:p>
          <a:p>
            <a:pPr lvl="0" eaLnBrk="0" fontAlgn="base" hangingPunct="0">
              <a:lnSpc>
                <a:spcPct val="90000"/>
              </a:lnSpc>
              <a:buNone/>
            </a:pPr>
            <a:r>
              <a:rPr lang="en-US" sz="1800" dirty="0"/>
              <a:t>     </a:t>
            </a:r>
          </a:p>
          <a:p>
            <a:pPr marL="114300" lvl="1" indent="0" eaLnBrk="0" fontAlgn="base" hangingPunct="0">
              <a:buSzPts val="1800"/>
              <a:buNone/>
            </a:pPr>
            <a:endParaRPr lang="en-US" sz="1800" dirty="0">
              <a:sym typeface="Courier"/>
            </a:endParaRPr>
          </a:p>
          <a:p>
            <a:endParaRPr lang="en-US" dirty="0"/>
          </a:p>
        </p:txBody>
      </p:sp>
    </p:spTree>
    <p:extLst>
      <p:ext uri="{BB962C8B-B14F-4D97-AF65-F5344CB8AC3E}">
        <p14:creationId xmlns:p14="http://schemas.microsoft.com/office/powerpoint/2010/main" val="729238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Relational Operators</a:t>
            </a:r>
          </a:p>
        </p:txBody>
      </p:sp>
      <p:graphicFrame>
        <p:nvGraphicFramePr>
          <p:cNvPr id="5" name="Table 4"/>
          <p:cNvGraphicFramePr>
            <a:graphicFrameLocks noGrp="1"/>
          </p:cNvGraphicFramePr>
          <p:nvPr>
            <p:extLst>
              <p:ext uri="{D42A27DB-BD31-4B8C-83A1-F6EECF244321}">
                <p14:modId xmlns:p14="http://schemas.microsoft.com/office/powerpoint/2010/main" val="2513873148"/>
              </p:ext>
            </p:extLst>
          </p:nvPr>
        </p:nvGraphicFramePr>
        <p:xfrm>
          <a:off x="577232" y="1179021"/>
          <a:ext cx="6096000" cy="2595880"/>
        </p:xfrm>
        <a:graphic>
          <a:graphicData uri="http://schemas.openxmlformats.org/drawingml/2006/table">
            <a:tbl>
              <a:tblPr firstRow="1" bandRow="1">
                <a:tableStyleId>{21E4AEA4-8DFA-4A89-87EB-49C32662AFE0}</a:tableStyleId>
              </a:tblPr>
              <a:tblGrid>
                <a:gridCol w="1631894">
                  <a:extLst>
                    <a:ext uri="{9D8B030D-6E8A-4147-A177-3AD203B41FA5}">
                      <a16:colId xmlns:a16="http://schemas.microsoft.com/office/drawing/2014/main" val="20000"/>
                    </a:ext>
                  </a:extLst>
                </a:gridCol>
                <a:gridCol w="2265770">
                  <a:extLst>
                    <a:ext uri="{9D8B030D-6E8A-4147-A177-3AD203B41FA5}">
                      <a16:colId xmlns:a16="http://schemas.microsoft.com/office/drawing/2014/main" val="20001"/>
                    </a:ext>
                  </a:extLst>
                </a:gridCol>
                <a:gridCol w="2198336">
                  <a:extLst>
                    <a:ext uri="{9D8B030D-6E8A-4147-A177-3AD203B41FA5}">
                      <a16:colId xmlns:a16="http://schemas.microsoft.com/office/drawing/2014/main" val="20002"/>
                    </a:ext>
                  </a:extLst>
                </a:gridCol>
              </a:tblGrid>
              <a:tr h="370840">
                <a:tc>
                  <a:txBody>
                    <a:bodyPr/>
                    <a:lstStyle/>
                    <a:p>
                      <a:pPr algn="ctr"/>
                      <a:r>
                        <a:rPr lang="en-US" dirty="0"/>
                        <a:t>Operators</a:t>
                      </a:r>
                    </a:p>
                  </a:txBody>
                  <a:tcPr/>
                </a:tc>
                <a:tc>
                  <a:txBody>
                    <a:bodyPr/>
                    <a:lstStyle/>
                    <a:p>
                      <a:pPr algn="ctr"/>
                      <a:r>
                        <a:rPr lang="en-US" dirty="0"/>
                        <a:t>Meaning</a:t>
                      </a:r>
                    </a:p>
                  </a:txBody>
                  <a:tcPr/>
                </a:tc>
                <a:tc>
                  <a:txBody>
                    <a:bodyPr/>
                    <a:lstStyle/>
                    <a:p>
                      <a:pPr algn="ctr"/>
                      <a:r>
                        <a:rPr lang="en-US" dirty="0"/>
                        <a:t>Examples</a:t>
                      </a:r>
                    </a:p>
                  </a:txBody>
                  <a:tcPr/>
                </a:tc>
                <a:extLst>
                  <a:ext uri="{0D108BD9-81ED-4DB2-BD59-A6C34878D82A}">
                    <a16:rowId xmlns:a16="http://schemas.microsoft.com/office/drawing/2014/main" val="10000"/>
                  </a:ext>
                </a:extLst>
              </a:tr>
              <a:tr h="370840">
                <a:tc>
                  <a:txBody>
                    <a:bodyPr/>
                    <a:lstStyle/>
                    <a:p>
                      <a:pPr algn="ctr"/>
                      <a:r>
                        <a:rPr lang="en-US" dirty="0"/>
                        <a:t>&lt;</a:t>
                      </a:r>
                    </a:p>
                  </a:txBody>
                  <a:tcPr/>
                </a:tc>
                <a:tc>
                  <a:txBody>
                    <a:bodyPr/>
                    <a:lstStyle/>
                    <a:p>
                      <a:r>
                        <a:rPr lang="en-US" dirty="0"/>
                        <a:t>Less</a:t>
                      </a:r>
                      <a:r>
                        <a:rPr lang="en-US" baseline="0" dirty="0"/>
                        <a:t> than </a:t>
                      </a:r>
                      <a:endParaRPr lang="en-US" dirty="0"/>
                    </a:p>
                  </a:txBody>
                  <a:tcPr/>
                </a:tc>
                <a:tc>
                  <a:txBody>
                    <a:bodyPr/>
                    <a:lstStyle/>
                    <a:p>
                      <a:r>
                        <a:rPr lang="en-US" dirty="0"/>
                        <a:t>age &lt; 30</a:t>
                      </a:r>
                    </a:p>
                  </a:txBody>
                  <a:tcPr/>
                </a:tc>
                <a:extLst>
                  <a:ext uri="{0D108BD9-81ED-4DB2-BD59-A6C34878D82A}">
                    <a16:rowId xmlns:a16="http://schemas.microsoft.com/office/drawing/2014/main" val="10001"/>
                  </a:ext>
                </a:extLst>
              </a:tr>
              <a:tr h="370840">
                <a:tc>
                  <a:txBody>
                    <a:bodyPr/>
                    <a:lstStyle/>
                    <a:p>
                      <a:pPr algn="ctr"/>
                      <a:r>
                        <a:rPr lang="en-US" dirty="0"/>
                        <a:t>&gt;</a:t>
                      </a:r>
                    </a:p>
                  </a:txBody>
                  <a:tcPr/>
                </a:tc>
                <a:tc>
                  <a:txBody>
                    <a:bodyPr/>
                    <a:lstStyle/>
                    <a:p>
                      <a:r>
                        <a:rPr lang="en-US" dirty="0"/>
                        <a:t>Greater than </a:t>
                      </a:r>
                    </a:p>
                  </a:txBody>
                  <a:tcPr/>
                </a:tc>
                <a:tc>
                  <a:txBody>
                    <a:bodyPr/>
                    <a:lstStyle/>
                    <a:p>
                      <a:r>
                        <a:rPr lang="en-US" dirty="0"/>
                        <a:t>height &gt; 6.2</a:t>
                      </a:r>
                    </a:p>
                  </a:txBody>
                  <a:tcPr/>
                </a:tc>
                <a:extLst>
                  <a:ext uri="{0D108BD9-81ED-4DB2-BD59-A6C34878D82A}">
                    <a16:rowId xmlns:a16="http://schemas.microsoft.com/office/drawing/2014/main" val="10002"/>
                  </a:ext>
                </a:extLst>
              </a:tr>
              <a:tr h="370840">
                <a:tc>
                  <a:txBody>
                    <a:bodyPr/>
                    <a:lstStyle/>
                    <a:p>
                      <a:pPr algn="ctr"/>
                      <a:r>
                        <a:rPr lang="en-US" dirty="0"/>
                        <a:t>&lt;=</a:t>
                      </a:r>
                    </a:p>
                  </a:txBody>
                  <a:tcPr/>
                </a:tc>
                <a:tc>
                  <a:txBody>
                    <a:bodyPr/>
                    <a:lstStyle/>
                    <a:p>
                      <a:r>
                        <a:rPr lang="en-US" dirty="0"/>
                        <a:t>Less than</a:t>
                      </a:r>
                      <a:r>
                        <a:rPr lang="en-US" baseline="0" dirty="0"/>
                        <a:t> or equal to </a:t>
                      </a:r>
                      <a:endParaRPr lang="en-US" dirty="0"/>
                    </a:p>
                  </a:txBody>
                  <a:tcPr/>
                </a:tc>
                <a:tc>
                  <a:txBody>
                    <a:bodyPr/>
                    <a:lstStyle/>
                    <a:p>
                      <a:r>
                        <a:rPr lang="en-US" dirty="0"/>
                        <a:t>taxable &lt;= 20000</a:t>
                      </a:r>
                    </a:p>
                  </a:txBody>
                  <a:tcPr/>
                </a:tc>
                <a:extLst>
                  <a:ext uri="{0D108BD9-81ED-4DB2-BD59-A6C34878D82A}">
                    <a16:rowId xmlns:a16="http://schemas.microsoft.com/office/drawing/2014/main" val="10003"/>
                  </a:ext>
                </a:extLst>
              </a:tr>
              <a:tr h="370840">
                <a:tc>
                  <a:txBody>
                    <a:bodyPr/>
                    <a:lstStyle/>
                    <a:p>
                      <a:pPr algn="ctr"/>
                      <a:r>
                        <a:rPr lang="en-US" dirty="0"/>
                        <a:t>&gt;=</a:t>
                      </a:r>
                    </a:p>
                  </a:txBody>
                  <a:tcPr/>
                </a:tc>
                <a:tc>
                  <a:txBody>
                    <a:bodyPr/>
                    <a:lstStyle/>
                    <a:p>
                      <a:r>
                        <a:rPr lang="en-US" dirty="0"/>
                        <a:t>Greater than or equal to</a:t>
                      </a:r>
                    </a:p>
                  </a:txBody>
                  <a:tcPr/>
                </a:tc>
                <a:tc>
                  <a:txBody>
                    <a:bodyPr/>
                    <a:lstStyle/>
                    <a:p>
                      <a:r>
                        <a:rPr lang="en-US" dirty="0"/>
                        <a:t>temp &gt;= 98.5</a:t>
                      </a:r>
                    </a:p>
                  </a:txBody>
                  <a:tcPr/>
                </a:tc>
                <a:extLst>
                  <a:ext uri="{0D108BD9-81ED-4DB2-BD59-A6C34878D82A}">
                    <a16:rowId xmlns:a16="http://schemas.microsoft.com/office/drawing/2014/main" val="10004"/>
                  </a:ext>
                </a:extLst>
              </a:tr>
              <a:tr h="370840">
                <a:tc>
                  <a:txBody>
                    <a:bodyPr/>
                    <a:lstStyle/>
                    <a:p>
                      <a:pPr algn="ctr"/>
                      <a:r>
                        <a:rPr lang="en-US" dirty="0"/>
                        <a:t>==</a:t>
                      </a:r>
                    </a:p>
                  </a:txBody>
                  <a:tcPr/>
                </a:tc>
                <a:tc>
                  <a:txBody>
                    <a:bodyPr/>
                    <a:lstStyle/>
                    <a:p>
                      <a:r>
                        <a:rPr lang="en-US" dirty="0"/>
                        <a:t>Equal</a:t>
                      </a:r>
                      <a:r>
                        <a:rPr lang="en-US" baseline="0" dirty="0"/>
                        <a:t> to </a:t>
                      </a:r>
                      <a:endParaRPr lang="en-US" dirty="0"/>
                    </a:p>
                  </a:txBody>
                  <a:tcPr/>
                </a:tc>
                <a:tc>
                  <a:txBody>
                    <a:bodyPr/>
                    <a:lstStyle/>
                    <a:p>
                      <a:r>
                        <a:rPr lang="en-US" dirty="0"/>
                        <a:t>grade == 100</a:t>
                      </a:r>
                    </a:p>
                  </a:txBody>
                  <a:tcPr/>
                </a:tc>
                <a:extLst>
                  <a:ext uri="{0D108BD9-81ED-4DB2-BD59-A6C34878D82A}">
                    <a16:rowId xmlns:a16="http://schemas.microsoft.com/office/drawing/2014/main" val="10005"/>
                  </a:ext>
                </a:extLst>
              </a:tr>
              <a:tr h="370840">
                <a:tc>
                  <a:txBody>
                    <a:bodyPr/>
                    <a:lstStyle/>
                    <a:p>
                      <a:pPr algn="ctr"/>
                      <a:r>
                        <a:rPr lang="en-US" dirty="0"/>
                        <a:t>!=</a:t>
                      </a:r>
                    </a:p>
                  </a:txBody>
                  <a:tcPr/>
                </a:tc>
                <a:tc>
                  <a:txBody>
                    <a:bodyPr/>
                    <a:lstStyle/>
                    <a:p>
                      <a:r>
                        <a:rPr lang="en-US" dirty="0"/>
                        <a:t>Not equal</a:t>
                      </a:r>
                      <a:r>
                        <a:rPr lang="en-US" baseline="0" dirty="0"/>
                        <a:t> to </a:t>
                      </a:r>
                      <a:endParaRPr lang="en-US" dirty="0"/>
                    </a:p>
                  </a:txBody>
                  <a:tcPr/>
                </a:tc>
                <a:tc>
                  <a:txBody>
                    <a:bodyPr/>
                    <a:lstStyle/>
                    <a:p>
                      <a:r>
                        <a:rPr lang="en-US" dirty="0"/>
                        <a:t>number != 250</a:t>
                      </a:r>
                    </a:p>
                  </a:txBody>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3" name="Rectangle 2"/>
              <p:cNvSpPr/>
              <p:nvPr/>
            </p:nvSpPr>
            <p:spPr>
              <a:xfrm>
                <a:off x="505751" y="4004418"/>
                <a:ext cx="7934241" cy="646331"/>
              </a:xfrm>
              <a:prstGeom prst="rect">
                <a:avLst/>
              </a:prstGeom>
            </p:spPr>
            <p:txBody>
              <a:bodyPr wrap="square">
                <a:spAutoFit/>
              </a:bodyPr>
              <a:lstStyle/>
              <a:p>
                <a:pPr lvl="0" eaLnBrk="0" fontAlgn="base" hangingPunct="0"/>
                <a:r>
                  <a:rPr lang="en-US" sz="1800" b="1" dirty="0"/>
                  <a:t>Common programming error</a:t>
                </a:r>
                <a:r>
                  <a:rPr lang="en-US" sz="1800" dirty="0"/>
                  <a:t>: using </a:t>
                </a:r>
                <a14:m>
                  <m:oMath xmlns:m="http://schemas.openxmlformats.org/officeDocument/2006/math">
                    <m:r>
                      <a:rPr lang="en-US" sz="1800" dirty="0">
                        <a:latin typeface="Cambria Math" panose="02040503050406030204" pitchFamily="18" charset="0"/>
                      </a:rPr>
                      <m:t>‘=’</m:t>
                    </m:r>
                  </m:oMath>
                </a14:m>
                <a:r>
                  <a:rPr lang="en-US" sz="1800" dirty="0"/>
                  <a:t> (assignment) instead of </a:t>
                </a:r>
                <a14:m>
                  <m:oMath xmlns:m="http://schemas.openxmlformats.org/officeDocument/2006/math">
                    <m:r>
                      <a:rPr lang="en-US" sz="1800" dirty="0">
                        <a:latin typeface="Cambria Math" panose="02040503050406030204" pitchFamily="18" charset="0"/>
                      </a:rPr>
                      <m:t>“==”</m:t>
                    </m:r>
                  </m:oMath>
                </a14:m>
                <a:r>
                  <a:rPr lang="en-US" sz="1800" dirty="0"/>
                  <a:t> (equality)</a:t>
                </a:r>
              </a:p>
            </p:txBody>
          </p:sp>
        </mc:Choice>
        <mc:Fallback xmlns="">
          <p:sp>
            <p:nvSpPr>
              <p:cNvPr id="3" name="Rectangle 2"/>
              <p:cNvSpPr>
                <a:spLocks noRot="1" noChangeAspect="1" noMove="1" noResize="1" noEditPoints="1" noAdjustHandles="1" noChangeArrowheads="1" noChangeShapeType="1" noTextEdit="1"/>
              </p:cNvSpPr>
              <p:nvPr/>
            </p:nvSpPr>
            <p:spPr>
              <a:xfrm>
                <a:off x="505751" y="4004418"/>
                <a:ext cx="7934241" cy="646331"/>
              </a:xfrm>
              <a:prstGeom prst="rect">
                <a:avLst/>
              </a:prstGeom>
              <a:blipFill rotWithShape="0">
                <a:blip r:embed="rId2"/>
                <a:stretch>
                  <a:fillRect l="-691" t="-5660" b="-14151"/>
                </a:stretch>
              </a:blipFill>
            </p:spPr>
            <p:txBody>
              <a:bodyPr/>
              <a:lstStyle/>
              <a:p>
                <a:r>
                  <a:rPr lang="en-US">
                    <a:noFill/>
                  </a:rPr>
                  <a:t> </a:t>
                </a:r>
              </a:p>
            </p:txBody>
          </p:sp>
        </mc:Fallback>
      </mc:AlternateContent>
    </p:spTree>
    <p:extLst>
      <p:ext uri="{BB962C8B-B14F-4D97-AF65-F5344CB8AC3E}">
        <p14:creationId xmlns:p14="http://schemas.microsoft.com/office/powerpoint/2010/main" val="396150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Logical Operators</a:t>
            </a:r>
          </a:p>
        </p:txBody>
      </p:sp>
      <p:sp>
        <p:nvSpPr>
          <p:cNvPr id="3" name="Text Placeholder 2"/>
          <p:cNvSpPr>
            <a:spLocks noGrp="1"/>
          </p:cNvSpPr>
          <p:nvPr>
            <p:ph type="body" idx="1"/>
          </p:nvPr>
        </p:nvSpPr>
        <p:spPr/>
        <p:txBody>
          <a:bodyPr/>
          <a:lstStyle/>
          <a:p>
            <a:r>
              <a:rPr lang="en-US" dirty="0"/>
              <a:t>&amp;&amp; (logical AND)</a:t>
            </a:r>
          </a:p>
          <a:p>
            <a:pPr lvl="1"/>
            <a:r>
              <a:rPr lang="en-US" sz="1800" dirty="0"/>
              <a:t>true only if </a:t>
            </a:r>
            <a:r>
              <a:rPr lang="en-US" sz="1800" b="1" dirty="0"/>
              <a:t>BOTH</a:t>
            </a:r>
            <a:r>
              <a:rPr lang="en-US" sz="1800" dirty="0"/>
              <a:t> operands are true</a:t>
            </a:r>
          </a:p>
          <a:p>
            <a:r>
              <a:rPr lang="en-US" dirty="0"/>
              <a:t>|| (logical OR)</a:t>
            </a:r>
          </a:p>
          <a:p>
            <a:pPr lvl="1"/>
            <a:r>
              <a:rPr lang="en-US" sz="1800" dirty="0"/>
              <a:t>true if </a:t>
            </a:r>
            <a:r>
              <a:rPr lang="en-US" sz="1800" b="1" dirty="0"/>
              <a:t>AT LEAST ONE </a:t>
            </a:r>
            <a:r>
              <a:rPr lang="en-US" sz="1800" dirty="0"/>
              <a:t>operand is true (inclusive OR)</a:t>
            </a:r>
          </a:p>
          <a:p>
            <a:r>
              <a:rPr lang="en-US" dirty="0"/>
              <a:t>! (logical NOT)</a:t>
            </a:r>
          </a:p>
          <a:p>
            <a:pPr lvl="1"/>
            <a:r>
              <a:rPr lang="en-US" sz="1800" dirty="0"/>
              <a:t>true if operand is false and vice versa</a:t>
            </a:r>
          </a:p>
          <a:p>
            <a:r>
              <a:rPr lang="en-US" dirty="0"/>
              <a:t>^ (exclusive OR) </a:t>
            </a:r>
            <a:r>
              <a:rPr lang="en-US" dirty="0">
                <a:solidFill>
                  <a:srgbClr val="FF0000"/>
                </a:solidFill>
              </a:rPr>
              <a:t>XOR</a:t>
            </a:r>
          </a:p>
          <a:p>
            <a:pPr lvl="1"/>
            <a:r>
              <a:rPr lang="en-US" sz="1800" dirty="0"/>
              <a:t>true only if </a:t>
            </a:r>
            <a:r>
              <a:rPr lang="en-US" sz="1800" b="1" dirty="0"/>
              <a:t>ONE and exclusive ONE </a:t>
            </a:r>
            <a:r>
              <a:rPr lang="en-US" sz="1800" dirty="0"/>
              <a:t>is true</a:t>
            </a:r>
          </a:p>
          <a:p>
            <a:endParaRPr lang="en-US" dirty="0"/>
          </a:p>
        </p:txBody>
      </p:sp>
    </p:spTree>
    <p:extLst>
      <p:ext uri="{BB962C8B-B14F-4D97-AF65-F5344CB8AC3E}">
        <p14:creationId xmlns:p14="http://schemas.microsoft.com/office/powerpoint/2010/main" val="245143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6DBBF-5024-79F0-BEA9-6459309C450E}"/>
              </a:ext>
            </a:extLst>
          </p:cNvPr>
          <p:cNvSpPr>
            <a:spLocks noGrp="1"/>
          </p:cNvSpPr>
          <p:nvPr>
            <p:ph type="title"/>
          </p:nvPr>
        </p:nvSpPr>
        <p:spPr>
          <a:xfrm>
            <a:off x="311699" y="445025"/>
            <a:ext cx="8627513" cy="572700"/>
          </a:xfrm>
        </p:spPr>
        <p:txBody>
          <a:bodyPr>
            <a:normAutofit fontScale="90000"/>
          </a:bodyPr>
          <a:lstStyle/>
          <a:p>
            <a:r>
              <a:rPr lang="en-US" b="1" dirty="0"/>
              <a:t>Truth Table to Better Understand Logic Operators</a:t>
            </a:r>
          </a:p>
        </p:txBody>
      </p:sp>
      <p:graphicFrame>
        <p:nvGraphicFramePr>
          <p:cNvPr id="5" name="Table 4">
            <a:extLst>
              <a:ext uri="{FF2B5EF4-FFF2-40B4-BE49-F238E27FC236}">
                <a16:creationId xmlns:a16="http://schemas.microsoft.com/office/drawing/2014/main" id="{EA75D339-ADCF-4ADA-C3FA-23A99432443C}"/>
              </a:ext>
            </a:extLst>
          </p:cNvPr>
          <p:cNvGraphicFramePr>
            <a:graphicFrameLocks noGrp="1"/>
          </p:cNvGraphicFramePr>
          <p:nvPr>
            <p:extLst>
              <p:ext uri="{D42A27DB-BD31-4B8C-83A1-F6EECF244321}">
                <p14:modId xmlns:p14="http://schemas.microsoft.com/office/powerpoint/2010/main" val="901783656"/>
              </p:ext>
            </p:extLst>
          </p:nvPr>
        </p:nvGraphicFramePr>
        <p:xfrm>
          <a:off x="854624" y="2386013"/>
          <a:ext cx="1588539" cy="1854200"/>
        </p:xfrm>
        <a:graphic>
          <a:graphicData uri="http://schemas.openxmlformats.org/drawingml/2006/table">
            <a:tbl>
              <a:tblPr firstRow="1" bandRow="1">
                <a:tableStyleId>{5940675A-B579-460E-94D1-54222C63F5DA}</a:tableStyleId>
              </a:tblPr>
              <a:tblGrid>
                <a:gridCol w="393151">
                  <a:extLst>
                    <a:ext uri="{9D8B030D-6E8A-4147-A177-3AD203B41FA5}">
                      <a16:colId xmlns:a16="http://schemas.microsoft.com/office/drawing/2014/main" val="526317917"/>
                    </a:ext>
                  </a:extLst>
                </a:gridCol>
                <a:gridCol w="395288">
                  <a:extLst>
                    <a:ext uri="{9D8B030D-6E8A-4147-A177-3AD203B41FA5}">
                      <a16:colId xmlns:a16="http://schemas.microsoft.com/office/drawing/2014/main" val="2631318087"/>
                    </a:ext>
                  </a:extLst>
                </a:gridCol>
                <a:gridCol w="800100">
                  <a:extLst>
                    <a:ext uri="{9D8B030D-6E8A-4147-A177-3AD203B41FA5}">
                      <a16:colId xmlns:a16="http://schemas.microsoft.com/office/drawing/2014/main" val="3977746375"/>
                    </a:ext>
                  </a:extLst>
                </a:gridCol>
              </a:tblGrid>
              <a:tr h="370840">
                <a:tc>
                  <a:txBody>
                    <a:bodyPr/>
                    <a:lstStyle/>
                    <a:p>
                      <a:pPr algn="ctr"/>
                      <a:r>
                        <a:rPr lang="en-US" dirty="0"/>
                        <a:t>A</a:t>
                      </a:r>
                    </a:p>
                  </a:txBody>
                  <a:tcPr anchor="ctr"/>
                </a:tc>
                <a:tc>
                  <a:txBody>
                    <a:bodyPr/>
                    <a:lstStyle/>
                    <a:p>
                      <a:pPr algn="ctr"/>
                      <a:r>
                        <a:rPr lang="en-US" dirty="0"/>
                        <a:t>B</a:t>
                      </a:r>
                    </a:p>
                  </a:txBody>
                  <a:tcPr anchor="ctr"/>
                </a:tc>
                <a:tc>
                  <a:txBody>
                    <a:bodyPr/>
                    <a:lstStyle/>
                    <a:p>
                      <a:pPr algn="ctr"/>
                      <a:r>
                        <a:rPr lang="en-US" dirty="0"/>
                        <a:t>A &amp;&amp; B</a:t>
                      </a:r>
                    </a:p>
                  </a:txBody>
                  <a:tcPr anchor="ctr"/>
                </a:tc>
                <a:extLst>
                  <a:ext uri="{0D108BD9-81ED-4DB2-BD59-A6C34878D82A}">
                    <a16:rowId xmlns:a16="http://schemas.microsoft.com/office/drawing/2014/main" val="143040104"/>
                  </a:ext>
                </a:extLst>
              </a:tr>
              <a:tr h="370840">
                <a:tc>
                  <a:txBody>
                    <a:bodyPr/>
                    <a:lstStyle/>
                    <a:p>
                      <a:pPr algn="ctr"/>
                      <a:r>
                        <a:rPr lang="en-US" dirty="0"/>
                        <a:t>T</a:t>
                      </a:r>
                    </a:p>
                  </a:txBody>
                  <a:tcPr anchor="ctr">
                    <a:noFill/>
                  </a:tcPr>
                </a:tc>
                <a:tc>
                  <a:txBody>
                    <a:bodyPr/>
                    <a:lstStyle/>
                    <a:p>
                      <a:pPr algn="ctr"/>
                      <a:r>
                        <a:rPr lang="en-US" dirty="0"/>
                        <a:t>T</a:t>
                      </a:r>
                    </a:p>
                  </a:txBody>
                  <a:tcPr anchor="ctr">
                    <a:noFill/>
                  </a:tcPr>
                </a:tc>
                <a:tc>
                  <a:txBody>
                    <a:bodyPr/>
                    <a:lstStyle/>
                    <a:p>
                      <a:pPr algn="ctr"/>
                      <a:r>
                        <a:rPr lang="en-US" dirty="0"/>
                        <a:t>T</a:t>
                      </a:r>
                    </a:p>
                  </a:txBody>
                  <a:tcPr anchor="ctr">
                    <a:noFill/>
                  </a:tcPr>
                </a:tc>
                <a:extLst>
                  <a:ext uri="{0D108BD9-81ED-4DB2-BD59-A6C34878D82A}">
                    <a16:rowId xmlns:a16="http://schemas.microsoft.com/office/drawing/2014/main" val="2643070628"/>
                  </a:ext>
                </a:extLst>
              </a:tr>
              <a:tr h="370840">
                <a:tc>
                  <a:txBody>
                    <a:bodyPr/>
                    <a:lstStyle/>
                    <a:p>
                      <a:pPr algn="ctr"/>
                      <a:r>
                        <a:rPr lang="en-US" dirty="0"/>
                        <a:t>T</a:t>
                      </a:r>
                    </a:p>
                  </a:txBody>
                  <a:tcPr anchor="ctr">
                    <a:noFill/>
                  </a:tcPr>
                </a:tc>
                <a:tc>
                  <a:txBody>
                    <a:bodyPr/>
                    <a:lstStyle/>
                    <a:p>
                      <a:pPr algn="ctr"/>
                      <a:r>
                        <a:rPr lang="en-US" dirty="0"/>
                        <a:t>F</a:t>
                      </a:r>
                    </a:p>
                  </a:txBody>
                  <a:tcPr anchor="ctr">
                    <a:noFill/>
                  </a:tcPr>
                </a:tc>
                <a:tc>
                  <a:txBody>
                    <a:bodyPr/>
                    <a:lstStyle/>
                    <a:p>
                      <a:pPr algn="ctr"/>
                      <a:r>
                        <a:rPr lang="en-US" dirty="0"/>
                        <a:t>F</a:t>
                      </a:r>
                    </a:p>
                  </a:txBody>
                  <a:tcPr anchor="ctr">
                    <a:noFill/>
                  </a:tcPr>
                </a:tc>
                <a:extLst>
                  <a:ext uri="{0D108BD9-81ED-4DB2-BD59-A6C34878D82A}">
                    <a16:rowId xmlns:a16="http://schemas.microsoft.com/office/drawing/2014/main" val="3113598798"/>
                  </a:ext>
                </a:extLst>
              </a:tr>
              <a:tr h="370840">
                <a:tc>
                  <a:txBody>
                    <a:bodyPr/>
                    <a:lstStyle/>
                    <a:p>
                      <a:pPr algn="ctr"/>
                      <a:r>
                        <a:rPr lang="en-US" dirty="0"/>
                        <a:t>F</a:t>
                      </a:r>
                    </a:p>
                  </a:txBody>
                  <a:tcPr anchor="ctr">
                    <a:noFill/>
                  </a:tcPr>
                </a:tc>
                <a:tc>
                  <a:txBody>
                    <a:bodyPr/>
                    <a:lstStyle/>
                    <a:p>
                      <a:pPr algn="ctr"/>
                      <a:r>
                        <a:rPr lang="en-US" dirty="0"/>
                        <a:t>T</a:t>
                      </a:r>
                    </a:p>
                  </a:txBody>
                  <a:tcPr anchor="ctr">
                    <a:noFill/>
                  </a:tcPr>
                </a:tc>
                <a:tc>
                  <a:txBody>
                    <a:bodyPr/>
                    <a:lstStyle/>
                    <a:p>
                      <a:pPr algn="ctr"/>
                      <a:r>
                        <a:rPr lang="en-US" dirty="0"/>
                        <a:t>F</a:t>
                      </a:r>
                    </a:p>
                  </a:txBody>
                  <a:tcPr anchor="ctr">
                    <a:noFill/>
                  </a:tcPr>
                </a:tc>
                <a:extLst>
                  <a:ext uri="{0D108BD9-81ED-4DB2-BD59-A6C34878D82A}">
                    <a16:rowId xmlns:a16="http://schemas.microsoft.com/office/drawing/2014/main" val="3871233306"/>
                  </a:ext>
                </a:extLst>
              </a:tr>
              <a:tr h="370840">
                <a:tc>
                  <a:txBody>
                    <a:bodyPr/>
                    <a:lstStyle/>
                    <a:p>
                      <a:pPr algn="ctr"/>
                      <a:r>
                        <a:rPr lang="en-US" dirty="0"/>
                        <a:t>F</a:t>
                      </a:r>
                    </a:p>
                  </a:txBody>
                  <a:tcPr anchor="ctr">
                    <a:noFill/>
                  </a:tcPr>
                </a:tc>
                <a:tc>
                  <a:txBody>
                    <a:bodyPr/>
                    <a:lstStyle/>
                    <a:p>
                      <a:pPr algn="ctr"/>
                      <a:r>
                        <a:rPr lang="en-US" dirty="0"/>
                        <a:t>F</a:t>
                      </a:r>
                    </a:p>
                  </a:txBody>
                  <a:tcPr anchor="ctr">
                    <a:noFill/>
                  </a:tcPr>
                </a:tc>
                <a:tc>
                  <a:txBody>
                    <a:bodyPr/>
                    <a:lstStyle/>
                    <a:p>
                      <a:pPr algn="ctr"/>
                      <a:r>
                        <a:rPr lang="en-US" dirty="0"/>
                        <a:t>F</a:t>
                      </a:r>
                    </a:p>
                  </a:txBody>
                  <a:tcPr anchor="ctr">
                    <a:noFill/>
                  </a:tcPr>
                </a:tc>
                <a:extLst>
                  <a:ext uri="{0D108BD9-81ED-4DB2-BD59-A6C34878D82A}">
                    <a16:rowId xmlns:a16="http://schemas.microsoft.com/office/drawing/2014/main" val="3833732729"/>
                  </a:ext>
                </a:extLst>
              </a:tr>
            </a:tbl>
          </a:graphicData>
        </a:graphic>
      </p:graphicFrame>
      <p:graphicFrame>
        <p:nvGraphicFramePr>
          <p:cNvPr id="6" name="Table 5">
            <a:extLst>
              <a:ext uri="{FF2B5EF4-FFF2-40B4-BE49-F238E27FC236}">
                <a16:creationId xmlns:a16="http://schemas.microsoft.com/office/drawing/2014/main" id="{C261E111-2DB6-A2FD-DE0A-D33B3259F652}"/>
              </a:ext>
            </a:extLst>
          </p:cNvPr>
          <p:cNvGraphicFramePr>
            <a:graphicFrameLocks noGrp="1"/>
          </p:cNvGraphicFramePr>
          <p:nvPr>
            <p:extLst>
              <p:ext uri="{D42A27DB-BD31-4B8C-83A1-F6EECF244321}">
                <p14:modId xmlns:p14="http://schemas.microsoft.com/office/powerpoint/2010/main" val="3434608989"/>
              </p:ext>
            </p:extLst>
          </p:nvPr>
        </p:nvGraphicFramePr>
        <p:xfrm>
          <a:off x="2907262" y="2386013"/>
          <a:ext cx="1588539" cy="1854200"/>
        </p:xfrm>
        <a:graphic>
          <a:graphicData uri="http://schemas.openxmlformats.org/drawingml/2006/table">
            <a:tbl>
              <a:tblPr firstRow="1" bandRow="1">
                <a:tableStyleId>{5940675A-B579-460E-94D1-54222C63F5DA}</a:tableStyleId>
              </a:tblPr>
              <a:tblGrid>
                <a:gridCol w="393151">
                  <a:extLst>
                    <a:ext uri="{9D8B030D-6E8A-4147-A177-3AD203B41FA5}">
                      <a16:colId xmlns:a16="http://schemas.microsoft.com/office/drawing/2014/main" val="526317917"/>
                    </a:ext>
                  </a:extLst>
                </a:gridCol>
                <a:gridCol w="395288">
                  <a:extLst>
                    <a:ext uri="{9D8B030D-6E8A-4147-A177-3AD203B41FA5}">
                      <a16:colId xmlns:a16="http://schemas.microsoft.com/office/drawing/2014/main" val="2631318087"/>
                    </a:ext>
                  </a:extLst>
                </a:gridCol>
                <a:gridCol w="800100">
                  <a:extLst>
                    <a:ext uri="{9D8B030D-6E8A-4147-A177-3AD203B41FA5}">
                      <a16:colId xmlns:a16="http://schemas.microsoft.com/office/drawing/2014/main" val="3977746375"/>
                    </a:ext>
                  </a:extLst>
                </a:gridCol>
              </a:tblGrid>
              <a:tr h="370840">
                <a:tc>
                  <a:txBody>
                    <a:bodyPr/>
                    <a:lstStyle/>
                    <a:p>
                      <a:pPr algn="ctr"/>
                      <a:r>
                        <a:rPr lang="en-US" dirty="0"/>
                        <a:t>A</a:t>
                      </a:r>
                    </a:p>
                  </a:txBody>
                  <a:tcPr anchor="ctr"/>
                </a:tc>
                <a:tc>
                  <a:txBody>
                    <a:bodyPr/>
                    <a:lstStyle/>
                    <a:p>
                      <a:pPr algn="ctr"/>
                      <a:r>
                        <a:rPr lang="en-US" dirty="0"/>
                        <a:t>B</a:t>
                      </a:r>
                    </a:p>
                  </a:txBody>
                  <a:tcPr anchor="ctr"/>
                </a:tc>
                <a:tc>
                  <a:txBody>
                    <a:bodyPr/>
                    <a:lstStyle/>
                    <a:p>
                      <a:pPr algn="ctr"/>
                      <a:r>
                        <a:rPr lang="en-US" dirty="0"/>
                        <a:t>A || B</a:t>
                      </a:r>
                    </a:p>
                  </a:txBody>
                  <a:tcPr anchor="ctr"/>
                </a:tc>
                <a:extLst>
                  <a:ext uri="{0D108BD9-81ED-4DB2-BD59-A6C34878D82A}">
                    <a16:rowId xmlns:a16="http://schemas.microsoft.com/office/drawing/2014/main" val="143040104"/>
                  </a:ext>
                </a:extLst>
              </a:tr>
              <a:tr h="370840">
                <a:tc>
                  <a:txBody>
                    <a:bodyPr/>
                    <a:lstStyle/>
                    <a:p>
                      <a:pPr algn="ctr"/>
                      <a:r>
                        <a:rPr lang="en-US" dirty="0"/>
                        <a:t>T</a:t>
                      </a:r>
                    </a:p>
                  </a:txBody>
                  <a:tcPr anchor="ctr"/>
                </a:tc>
                <a:tc>
                  <a:txBody>
                    <a:bodyPr/>
                    <a:lstStyle/>
                    <a:p>
                      <a:pPr algn="ctr"/>
                      <a:r>
                        <a:rPr lang="en-US" dirty="0"/>
                        <a:t>T</a:t>
                      </a:r>
                    </a:p>
                  </a:txBody>
                  <a:tcPr anchor="ctr"/>
                </a:tc>
                <a:tc>
                  <a:txBody>
                    <a:bodyPr/>
                    <a:lstStyle/>
                    <a:p>
                      <a:pPr algn="ctr"/>
                      <a:r>
                        <a:rPr lang="en-US" dirty="0"/>
                        <a:t>T</a:t>
                      </a:r>
                    </a:p>
                  </a:txBody>
                  <a:tcPr anchor="ctr"/>
                </a:tc>
                <a:extLst>
                  <a:ext uri="{0D108BD9-81ED-4DB2-BD59-A6C34878D82A}">
                    <a16:rowId xmlns:a16="http://schemas.microsoft.com/office/drawing/2014/main" val="2643070628"/>
                  </a:ext>
                </a:extLst>
              </a:tr>
              <a:tr h="370840">
                <a:tc>
                  <a:txBody>
                    <a:bodyPr/>
                    <a:lstStyle/>
                    <a:p>
                      <a:pPr algn="ctr"/>
                      <a:r>
                        <a:rPr lang="en-US" dirty="0"/>
                        <a:t>T</a:t>
                      </a:r>
                    </a:p>
                  </a:txBody>
                  <a:tcPr anchor="ctr"/>
                </a:tc>
                <a:tc>
                  <a:txBody>
                    <a:bodyPr/>
                    <a:lstStyle/>
                    <a:p>
                      <a:pPr algn="ctr"/>
                      <a:r>
                        <a:rPr lang="en-US" dirty="0"/>
                        <a:t>F</a:t>
                      </a:r>
                    </a:p>
                  </a:txBody>
                  <a:tcPr anchor="ctr"/>
                </a:tc>
                <a:tc>
                  <a:txBody>
                    <a:bodyPr/>
                    <a:lstStyle/>
                    <a:p>
                      <a:pPr algn="ctr"/>
                      <a:r>
                        <a:rPr lang="en-US" dirty="0"/>
                        <a:t>T</a:t>
                      </a:r>
                    </a:p>
                  </a:txBody>
                  <a:tcPr anchor="ctr"/>
                </a:tc>
                <a:extLst>
                  <a:ext uri="{0D108BD9-81ED-4DB2-BD59-A6C34878D82A}">
                    <a16:rowId xmlns:a16="http://schemas.microsoft.com/office/drawing/2014/main" val="3113598798"/>
                  </a:ext>
                </a:extLst>
              </a:tr>
              <a:tr h="370840">
                <a:tc>
                  <a:txBody>
                    <a:bodyPr/>
                    <a:lstStyle/>
                    <a:p>
                      <a:pPr algn="ctr"/>
                      <a:r>
                        <a:rPr lang="en-US" dirty="0"/>
                        <a:t>F</a:t>
                      </a:r>
                    </a:p>
                  </a:txBody>
                  <a:tcPr anchor="ctr"/>
                </a:tc>
                <a:tc>
                  <a:txBody>
                    <a:bodyPr/>
                    <a:lstStyle/>
                    <a:p>
                      <a:pPr algn="ctr"/>
                      <a:r>
                        <a:rPr lang="en-US" dirty="0"/>
                        <a:t>T</a:t>
                      </a:r>
                    </a:p>
                  </a:txBody>
                  <a:tcPr anchor="ctr"/>
                </a:tc>
                <a:tc>
                  <a:txBody>
                    <a:bodyPr/>
                    <a:lstStyle/>
                    <a:p>
                      <a:pPr algn="ctr"/>
                      <a:r>
                        <a:rPr lang="en-US" dirty="0"/>
                        <a:t>T</a:t>
                      </a:r>
                    </a:p>
                  </a:txBody>
                  <a:tcPr anchor="ctr"/>
                </a:tc>
                <a:extLst>
                  <a:ext uri="{0D108BD9-81ED-4DB2-BD59-A6C34878D82A}">
                    <a16:rowId xmlns:a16="http://schemas.microsoft.com/office/drawing/2014/main" val="3871233306"/>
                  </a:ext>
                </a:extLst>
              </a:tr>
              <a:tr h="370840">
                <a:tc>
                  <a:txBody>
                    <a:bodyPr/>
                    <a:lstStyle/>
                    <a:p>
                      <a:pPr algn="ctr"/>
                      <a:r>
                        <a:rPr lang="en-US" dirty="0"/>
                        <a:t>F</a:t>
                      </a:r>
                    </a:p>
                  </a:txBody>
                  <a:tcPr anchor="ctr"/>
                </a:tc>
                <a:tc>
                  <a:txBody>
                    <a:bodyPr/>
                    <a:lstStyle/>
                    <a:p>
                      <a:pPr algn="ctr"/>
                      <a:r>
                        <a:rPr lang="en-US" dirty="0"/>
                        <a:t>F</a:t>
                      </a:r>
                    </a:p>
                  </a:txBody>
                  <a:tcPr anchor="ctr"/>
                </a:tc>
                <a:tc>
                  <a:txBody>
                    <a:bodyPr/>
                    <a:lstStyle/>
                    <a:p>
                      <a:pPr algn="ctr"/>
                      <a:r>
                        <a:rPr lang="en-US" dirty="0"/>
                        <a:t>F</a:t>
                      </a:r>
                    </a:p>
                  </a:txBody>
                  <a:tcPr anchor="ctr"/>
                </a:tc>
                <a:extLst>
                  <a:ext uri="{0D108BD9-81ED-4DB2-BD59-A6C34878D82A}">
                    <a16:rowId xmlns:a16="http://schemas.microsoft.com/office/drawing/2014/main" val="3833732729"/>
                  </a:ext>
                </a:extLst>
              </a:tr>
            </a:tbl>
          </a:graphicData>
        </a:graphic>
      </p:graphicFrame>
      <p:graphicFrame>
        <p:nvGraphicFramePr>
          <p:cNvPr id="7" name="Table 6">
            <a:extLst>
              <a:ext uri="{FF2B5EF4-FFF2-40B4-BE49-F238E27FC236}">
                <a16:creationId xmlns:a16="http://schemas.microsoft.com/office/drawing/2014/main" id="{34798971-61C8-04EC-4AB4-E990887F4498}"/>
              </a:ext>
            </a:extLst>
          </p:cNvPr>
          <p:cNvGraphicFramePr>
            <a:graphicFrameLocks noGrp="1"/>
          </p:cNvGraphicFramePr>
          <p:nvPr>
            <p:extLst>
              <p:ext uri="{D42A27DB-BD31-4B8C-83A1-F6EECF244321}">
                <p14:modId xmlns:p14="http://schemas.microsoft.com/office/powerpoint/2010/main" val="1219596583"/>
              </p:ext>
            </p:extLst>
          </p:nvPr>
        </p:nvGraphicFramePr>
        <p:xfrm>
          <a:off x="4959900" y="2386013"/>
          <a:ext cx="1588539" cy="1854200"/>
        </p:xfrm>
        <a:graphic>
          <a:graphicData uri="http://schemas.openxmlformats.org/drawingml/2006/table">
            <a:tbl>
              <a:tblPr firstRow="1" bandRow="1">
                <a:tableStyleId>{5940675A-B579-460E-94D1-54222C63F5DA}</a:tableStyleId>
              </a:tblPr>
              <a:tblGrid>
                <a:gridCol w="393151">
                  <a:extLst>
                    <a:ext uri="{9D8B030D-6E8A-4147-A177-3AD203B41FA5}">
                      <a16:colId xmlns:a16="http://schemas.microsoft.com/office/drawing/2014/main" val="526317917"/>
                    </a:ext>
                  </a:extLst>
                </a:gridCol>
                <a:gridCol w="395288">
                  <a:extLst>
                    <a:ext uri="{9D8B030D-6E8A-4147-A177-3AD203B41FA5}">
                      <a16:colId xmlns:a16="http://schemas.microsoft.com/office/drawing/2014/main" val="2631318087"/>
                    </a:ext>
                  </a:extLst>
                </a:gridCol>
                <a:gridCol w="800100">
                  <a:extLst>
                    <a:ext uri="{9D8B030D-6E8A-4147-A177-3AD203B41FA5}">
                      <a16:colId xmlns:a16="http://schemas.microsoft.com/office/drawing/2014/main" val="3977746375"/>
                    </a:ext>
                  </a:extLst>
                </a:gridCol>
              </a:tblGrid>
              <a:tr h="370840">
                <a:tc>
                  <a:txBody>
                    <a:bodyPr/>
                    <a:lstStyle/>
                    <a:p>
                      <a:pPr algn="ctr"/>
                      <a:r>
                        <a:rPr lang="en-US" dirty="0"/>
                        <a:t>A </a:t>
                      </a:r>
                    </a:p>
                  </a:txBody>
                  <a:tcPr anchor="ctr"/>
                </a:tc>
                <a:tc>
                  <a:txBody>
                    <a:bodyPr/>
                    <a:lstStyle/>
                    <a:p>
                      <a:pPr algn="ctr"/>
                      <a:r>
                        <a:rPr lang="en-US" dirty="0"/>
                        <a:t>B</a:t>
                      </a:r>
                    </a:p>
                  </a:txBody>
                  <a:tcPr anchor="ctr"/>
                </a:tc>
                <a:tc>
                  <a:txBody>
                    <a:bodyPr/>
                    <a:lstStyle/>
                    <a:p>
                      <a:pPr algn="ctr"/>
                      <a:r>
                        <a:rPr lang="en-US" dirty="0"/>
                        <a:t>A ^ B</a:t>
                      </a:r>
                    </a:p>
                  </a:txBody>
                  <a:tcPr anchor="ctr"/>
                </a:tc>
                <a:extLst>
                  <a:ext uri="{0D108BD9-81ED-4DB2-BD59-A6C34878D82A}">
                    <a16:rowId xmlns:a16="http://schemas.microsoft.com/office/drawing/2014/main" val="143040104"/>
                  </a:ext>
                </a:extLst>
              </a:tr>
              <a:tr h="370840">
                <a:tc>
                  <a:txBody>
                    <a:bodyPr/>
                    <a:lstStyle/>
                    <a:p>
                      <a:pPr algn="ctr"/>
                      <a:r>
                        <a:rPr lang="en-US" dirty="0"/>
                        <a:t>T</a:t>
                      </a:r>
                    </a:p>
                  </a:txBody>
                  <a:tcPr anchor="ctr"/>
                </a:tc>
                <a:tc>
                  <a:txBody>
                    <a:bodyPr/>
                    <a:lstStyle/>
                    <a:p>
                      <a:pPr algn="ctr"/>
                      <a:r>
                        <a:rPr lang="en-US" dirty="0"/>
                        <a:t>T</a:t>
                      </a:r>
                    </a:p>
                  </a:txBody>
                  <a:tcPr anchor="ctr"/>
                </a:tc>
                <a:tc>
                  <a:txBody>
                    <a:bodyPr/>
                    <a:lstStyle/>
                    <a:p>
                      <a:pPr algn="ctr"/>
                      <a:r>
                        <a:rPr lang="en-US" dirty="0"/>
                        <a:t>F</a:t>
                      </a:r>
                    </a:p>
                  </a:txBody>
                  <a:tcPr anchor="ctr"/>
                </a:tc>
                <a:extLst>
                  <a:ext uri="{0D108BD9-81ED-4DB2-BD59-A6C34878D82A}">
                    <a16:rowId xmlns:a16="http://schemas.microsoft.com/office/drawing/2014/main" val="2643070628"/>
                  </a:ext>
                </a:extLst>
              </a:tr>
              <a:tr h="370840">
                <a:tc>
                  <a:txBody>
                    <a:bodyPr/>
                    <a:lstStyle/>
                    <a:p>
                      <a:pPr algn="ctr"/>
                      <a:r>
                        <a:rPr lang="en-US" dirty="0"/>
                        <a:t>T</a:t>
                      </a:r>
                    </a:p>
                  </a:txBody>
                  <a:tcPr anchor="ctr"/>
                </a:tc>
                <a:tc>
                  <a:txBody>
                    <a:bodyPr/>
                    <a:lstStyle/>
                    <a:p>
                      <a:pPr algn="ctr"/>
                      <a:r>
                        <a:rPr lang="en-US" dirty="0"/>
                        <a:t>F</a:t>
                      </a:r>
                    </a:p>
                  </a:txBody>
                  <a:tcPr anchor="ctr"/>
                </a:tc>
                <a:tc>
                  <a:txBody>
                    <a:bodyPr/>
                    <a:lstStyle/>
                    <a:p>
                      <a:pPr algn="ctr"/>
                      <a:r>
                        <a:rPr lang="en-US" dirty="0"/>
                        <a:t>T</a:t>
                      </a:r>
                    </a:p>
                  </a:txBody>
                  <a:tcPr anchor="ctr"/>
                </a:tc>
                <a:extLst>
                  <a:ext uri="{0D108BD9-81ED-4DB2-BD59-A6C34878D82A}">
                    <a16:rowId xmlns:a16="http://schemas.microsoft.com/office/drawing/2014/main" val="3113598798"/>
                  </a:ext>
                </a:extLst>
              </a:tr>
              <a:tr h="370840">
                <a:tc>
                  <a:txBody>
                    <a:bodyPr/>
                    <a:lstStyle/>
                    <a:p>
                      <a:pPr algn="ctr"/>
                      <a:r>
                        <a:rPr lang="en-US" dirty="0"/>
                        <a:t>F</a:t>
                      </a:r>
                    </a:p>
                  </a:txBody>
                  <a:tcPr anchor="ctr"/>
                </a:tc>
                <a:tc>
                  <a:txBody>
                    <a:bodyPr/>
                    <a:lstStyle/>
                    <a:p>
                      <a:pPr algn="ctr"/>
                      <a:r>
                        <a:rPr lang="en-US" dirty="0"/>
                        <a:t>T</a:t>
                      </a:r>
                    </a:p>
                  </a:txBody>
                  <a:tcPr anchor="ctr"/>
                </a:tc>
                <a:tc>
                  <a:txBody>
                    <a:bodyPr/>
                    <a:lstStyle/>
                    <a:p>
                      <a:pPr algn="ctr"/>
                      <a:r>
                        <a:rPr lang="en-US" dirty="0"/>
                        <a:t>T</a:t>
                      </a:r>
                    </a:p>
                  </a:txBody>
                  <a:tcPr anchor="ctr"/>
                </a:tc>
                <a:extLst>
                  <a:ext uri="{0D108BD9-81ED-4DB2-BD59-A6C34878D82A}">
                    <a16:rowId xmlns:a16="http://schemas.microsoft.com/office/drawing/2014/main" val="3871233306"/>
                  </a:ext>
                </a:extLst>
              </a:tr>
              <a:tr h="370840">
                <a:tc>
                  <a:txBody>
                    <a:bodyPr/>
                    <a:lstStyle/>
                    <a:p>
                      <a:pPr algn="ctr"/>
                      <a:r>
                        <a:rPr lang="en-US" dirty="0"/>
                        <a:t>F</a:t>
                      </a:r>
                    </a:p>
                  </a:txBody>
                  <a:tcPr anchor="ctr"/>
                </a:tc>
                <a:tc>
                  <a:txBody>
                    <a:bodyPr/>
                    <a:lstStyle/>
                    <a:p>
                      <a:pPr algn="ctr"/>
                      <a:r>
                        <a:rPr lang="en-US" dirty="0"/>
                        <a:t>F</a:t>
                      </a:r>
                    </a:p>
                  </a:txBody>
                  <a:tcPr anchor="ctr"/>
                </a:tc>
                <a:tc>
                  <a:txBody>
                    <a:bodyPr/>
                    <a:lstStyle/>
                    <a:p>
                      <a:pPr algn="ctr"/>
                      <a:r>
                        <a:rPr lang="en-US" dirty="0"/>
                        <a:t>F</a:t>
                      </a:r>
                    </a:p>
                  </a:txBody>
                  <a:tcPr anchor="ctr"/>
                </a:tc>
                <a:extLst>
                  <a:ext uri="{0D108BD9-81ED-4DB2-BD59-A6C34878D82A}">
                    <a16:rowId xmlns:a16="http://schemas.microsoft.com/office/drawing/2014/main" val="3833732729"/>
                  </a:ext>
                </a:extLst>
              </a:tr>
            </a:tbl>
          </a:graphicData>
        </a:graphic>
      </p:graphicFrame>
      <p:graphicFrame>
        <p:nvGraphicFramePr>
          <p:cNvPr id="8" name="Table 7">
            <a:extLst>
              <a:ext uri="{FF2B5EF4-FFF2-40B4-BE49-F238E27FC236}">
                <a16:creationId xmlns:a16="http://schemas.microsoft.com/office/drawing/2014/main" id="{C247191A-997A-AED0-85BF-7D85841C34FC}"/>
              </a:ext>
            </a:extLst>
          </p:cNvPr>
          <p:cNvGraphicFramePr>
            <a:graphicFrameLocks noGrp="1"/>
          </p:cNvGraphicFramePr>
          <p:nvPr>
            <p:extLst>
              <p:ext uri="{D42A27DB-BD31-4B8C-83A1-F6EECF244321}">
                <p14:modId xmlns:p14="http://schemas.microsoft.com/office/powerpoint/2010/main" val="3585764340"/>
              </p:ext>
            </p:extLst>
          </p:nvPr>
        </p:nvGraphicFramePr>
        <p:xfrm>
          <a:off x="7012538" y="2386013"/>
          <a:ext cx="1193251" cy="1112520"/>
        </p:xfrm>
        <a:graphic>
          <a:graphicData uri="http://schemas.openxmlformats.org/drawingml/2006/table">
            <a:tbl>
              <a:tblPr firstRow="1" bandRow="1">
                <a:tableStyleId>{5940675A-B579-460E-94D1-54222C63F5DA}</a:tableStyleId>
              </a:tblPr>
              <a:tblGrid>
                <a:gridCol w="393151">
                  <a:extLst>
                    <a:ext uri="{9D8B030D-6E8A-4147-A177-3AD203B41FA5}">
                      <a16:colId xmlns:a16="http://schemas.microsoft.com/office/drawing/2014/main" val="526317917"/>
                    </a:ext>
                  </a:extLst>
                </a:gridCol>
                <a:gridCol w="800100">
                  <a:extLst>
                    <a:ext uri="{9D8B030D-6E8A-4147-A177-3AD203B41FA5}">
                      <a16:colId xmlns:a16="http://schemas.microsoft.com/office/drawing/2014/main" val="3977746375"/>
                    </a:ext>
                  </a:extLst>
                </a:gridCol>
              </a:tblGrid>
              <a:tr h="370840">
                <a:tc>
                  <a:txBody>
                    <a:bodyPr/>
                    <a:lstStyle/>
                    <a:p>
                      <a:pPr algn="ctr"/>
                      <a:r>
                        <a:rPr lang="en-US" dirty="0"/>
                        <a:t>A </a:t>
                      </a:r>
                    </a:p>
                  </a:txBody>
                  <a:tcPr anchor="ctr"/>
                </a:tc>
                <a:tc>
                  <a:txBody>
                    <a:bodyPr/>
                    <a:lstStyle/>
                    <a:p>
                      <a:pPr algn="ctr"/>
                      <a:r>
                        <a:rPr lang="en-US" dirty="0"/>
                        <a:t>!A</a:t>
                      </a:r>
                    </a:p>
                  </a:txBody>
                  <a:tcPr anchor="ctr"/>
                </a:tc>
                <a:extLst>
                  <a:ext uri="{0D108BD9-81ED-4DB2-BD59-A6C34878D82A}">
                    <a16:rowId xmlns:a16="http://schemas.microsoft.com/office/drawing/2014/main" val="143040104"/>
                  </a:ext>
                </a:extLst>
              </a:tr>
              <a:tr h="370840">
                <a:tc>
                  <a:txBody>
                    <a:bodyPr/>
                    <a:lstStyle/>
                    <a:p>
                      <a:pPr algn="ctr"/>
                      <a:r>
                        <a:rPr lang="en-US" dirty="0"/>
                        <a:t>T</a:t>
                      </a:r>
                    </a:p>
                  </a:txBody>
                  <a:tcPr anchor="ctr"/>
                </a:tc>
                <a:tc>
                  <a:txBody>
                    <a:bodyPr/>
                    <a:lstStyle/>
                    <a:p>
                      <a:pPr algn="ctr"/>
                      <a:r>
                        <a:rPr lang="en-US" dirty="0"/>
                        <a:t>F</a:t>
                      </a:r>
                    </a:p>
                  </a:txBody>
                  <a:tcPr anchor="ctr"/>
                </a:tc>
                <a:extLst>
                  <a:ext uri="{0D108BD9-81ED-4DB2-BD59-A6C34878D82A}">
                    <a16:rowId xmlns:a16="http://schemas.microsoft.com/office/drawing/2014/main" val="2643070628"/>
                  </a:ext>
                </a:extLst>
              </a:tr>
              <a:tr h="370840">
                <a:tc>
                  <a:txBody>
                    <a:bodyPr/>
                    <a:lstStyle/>
                    <a:p>
                      <a:pPr algn="ctr"/>
                      <a:r>
                        <a:rPr lang="en-US" dirty="0"/>
                        <a:t>F</a:t>
                      </a:r>
                    </a:p>
                  </a:txBody>
                  <a:tcPr anchor="ctr"/>
                </a:tc>
                <a:tc>
                  <a:txBody>
                    <a:bodyPr/>
                    <a:lstStyle/>
                    <a:p>
                      <a:pPr algn="ctr"/>
                      <a:r>
                        <a:rPr lang="en-US" dirty="0"/>
                        <a:t>T</a:t>
                      </a:r>
                    </a:p>
                  </a:txBody>
                  <a:tcPr anchor="ctr"/>
                </a:tc>
                <a:extLst>
                  <a:ext uri="{0D108BD9-81ED-4DB2-BD59-A6C34878D82A}">
                    <a16:rowId xmlns:a16="http://schemas.microsoft.com/office/drawing/2014/main" val="3113598798"/>
                  </a:ext>
                </a:extLst>
              </a:tr>
            </a:tbl>
          </a:graphicData>
        </a:graphic>
      </p:graphicFrame>
      <p:sp>
        <p:nvSpPr>
          <p:cNvPr id="9" name="TextBox 8">
            <a:extLst>
              <a:ext uri="{FF2B5EF4-FFF2-40B4-BE49-F238E27FC236}">
                <a16:creationId xmlns:a16="http://schemas.microsoft.com/office/drawing/2014/main" id="{B65EEC76-544D-A1A5-9917-CC4FD4BF3A22}"/>
              </a:ext>
            </a:extLst>
          </p:cNvPr>
          <p:cNvSpPr txBox="1"/>
          <p:nvPr/>
        </p:nvSpPr>
        <p:spPr>
          <a:xfrm>
            <a:off x="1308374" y="2009776"/>
            <a:ext cx="681038" cy="307777"/>
          </a:xfrm>
          <a:prstGeom prst="rect">
            <a:avLst/>
          </a:prstGeom>
          <a:noFill/>
        </p:spPr>
        <p:txBody>
          <a:bodyPr wrap="square" rtlCol="0">
            <a:spAutoFit/>
          </a:bodyPr>
          <a:lstStyle/>
          <a:p>
            <a:pPr algn="ctr"/>
            <a:r>
              <a:rPr lang="en-US" b="1" dirty="0"/>
              <a:t>AND</a:t>
            </a:r>
          </a:p>
        </p:txBody>
      </p:sp>
      <p:sp>
        <p:nvSpPr>
          <p:cNvPr id="11" name="TextBox 10">
            <a:extLst>
              <a:ext uri="{FF2B5EF4-FFF2-40B4-BE49-F238E27FC236}">
                <a16:creationId xmlns:a16="http://schemas.microsoft.com/office/drawing/2014/main" id="{64E8EB57-94B2-FF54-B892-D376D49BCBAF}"/>
              </a:ext>
            </a:extLst>
          </p:cNvPr>
          <p:cNvSpPr txBox="1"/>
          <p:nvPr/>
        </p:nvSpPr>
        <p:spPr>
          <a:xfrm>
            <a:off x="3361012" y="2009776"/>
            <a:ext cx="681038" cy="307777"/>
          </a:xfrm>
          <a:prstGeom prst="rect">
            <a:avLst/>
          </a:prstGeom>
          <a:noFill/>
        </p:spPr>
        <p:txBody>
          <a:bodyPr wrap="square" rtlCol="0">
            <a:spAutoFit/>
          </a:bodyPr>
          <a:lstStyle/>
          <a:p>
            <a:pPr algn="ctr"/>
            <a:r>
              <a:rPr lang="en-US" b="1" dirty="0"/>
              <a:t>OR</a:t>
            </a:r>
          </a:p>
        </p:txBody>
      </p:sp>
      <p:sp>
        <p:nvSpPr>
          <p:cNvPr id="12" name="TextBox 11">
            <a:extLst>
              <a:ext uri="{FF2B5EF4-FFF2-40B4-BE49-F238E27FC236}">
                <a16:creationId xmlns:a16="http://schemas.microsoft.com/office/drawing/2014/main" id="{B75BD4DC-176C-2950-1BB7-7F74E21A7829}"/>
              </a:ext>
            </a:extLst>
          </p:cNvPr>
          <p:cNvSpPr txBox="1"/>
          <p:nvPr/>
        </p:nvSpPr>
        <p:spPr>
          <a:xfrm>
            <a:off x="5413650" y="2009775"/>
            <a:ext cx="681038" cy="307777"/>
          </a:xfrm>
          <a:prstGeom prst="rect">
            <a:avLst/>
          </a:prstGeom>
          <a:noFill/>
        </p:spPr>
        <p:txBody>
          <a:bodyPr wrap="square" rtlCol="0">
            <a:spAutoFit/>
          </a:bodyPr>
          <a:lstStyle/>
          <a:p>
            <a:pPr algn="ctr"/>
            <a:r>
              <a:rPr lang="en-US" b="1" dirty="0"/>
              <a:t>XOR</a:t>
            </a:r>
          </a:p>
        </p:txBody>
      </p:sp>
      <p:sp>
        <p:nvSpPr>
          <p:cNvPr id="13" name="TextBox 12">
            <a:extLst>
              <a:ext uri="{FF2B5EF4-FFF2-40B4-BE49-F238E27FC236}">
                <a16:creationId xmlns:a16="http://schemas.microsoft.com/office/drawing/2014/main" id="{7AD9F4DF-D47A-4045-E96C-22C6F8EFC922}"/>
              </a:ext>
            </a:extLst>
          </p:cNvPr>
          <p:cNvSpPr txBox="1"/>
          <p:nvPr/>
        </p:nvSpPr>
        <p:spPr>
          <a:xfrm>
            <a:off x="7268644" y="2078236"/>
            <a:ext cx="681038" cy="307777"/>
          </a:xfrm>
          <a:prstGeom prst="rect">
            <a:avLst/>
          </a:prstGeom>
          <a:noFill/>
        </p:spPr>
        <p:txBody>
          <a:bodyPr wrap="square" rtlCol="0">
            <a:spAutoFit/>
          </a:bodyPr>
          <a:lstStyle/>
          <a:p>
            <a:pPr algn="ctr"/>
            <a:r>
              <a:rPr lang="en-US" b="1" dirty="0"/>
              <a:t>NOT</a:t>
            </a:r>
          </a:p>
        </p:txBody>
      </p:sp>
      <p:sp>
        <p:nvSpPr>
          <p:cNvPr id="14" name="TextBox 13">
            <a:extLst>
              <a:ext uri="{FF2B5EF4-FFF2-40B4-BE49-F238E27FC236}">
                <a16:creationId xmlns:a16="http://schemas.microsoft.com/office/drawing/2014/main" id="{6523B4C5-151D-BCD0-4DC5-CCCD3C27ABF9}"/>
              </a:ext>
            </a:extLst>
          </p:cNvPr>
          <p:cNvSpPr txBox="1"/>
          <p:nvPr/>
        </p:nvSpPr>
        <p:spPr>
          <a:xfrm>
            <a:off x="2307430" y="1640849"/>
            <a:ext cx="4636050" cy="307777"/>
          </a:xfrm>
          <a:prstGeom prst="rect">
            <a:avLst/>
          </a:prstGeom>
          <a:noFill/>
        </p:spPr>
        <p:txBody>
          <a:bodyPr wrap="square" rtlCol="0">
            <a:spAutoFit/>
          </a:bodyPr>
          <a:lstStyle/>
          <a:p>
            <a:pPr algn="ctr"/>
            <a:r>
              <a:rPr lang="en-US" b="1" dirty="0"/>
              <a:t>T </a:t>
            </a:r>
            <a:r>
              <a:rPr lang="en-US" altLang="zh-CN" b="1" dirty="0"/>
              <a:t>stands for True, F stands for False</a:t>
            </a:r>
            <a:endParaRPr lang="en-US" b="1" dirty="0"/>
          </a:p>
        </p:txBody>
      </p:sp>
      <p:sp>
        <p:nvSpPr>
          <p:cNvPr id="15" name="TextBox 14">
            <a:extLst>
              <a:ext uri="{FF2B5EF4-FFF2-40B4-BE49-F238E27FC236}">
                <a16:creationId xmlns:a16="http://schemas.microsoft.com/office/drawing/2014/main" id="{4FC1139E-A5AC-E965-CE19-DC74E1FCB275}"/>
              </a:ext>
            </a:extLst>
          </p:cNvPr>
          <p:cNvSpPr txBox="1"/>
          <p:nvPr/>
        </p:nvSpPr>
        <p:spPr>
          <a:xfrm>
            <a:off x="602212" y="4523711"/>
            <a:ext cx="8289376" cy="307777"/>
          </a:xfrm>
          <a:prstGeom prst="rect">
            <a:avLst/>
          </a:prstGeom>
          <a:noFill/>
        </p:spPr>
        <p:txBody>
          <a:bodyPr wrap="square" rtlCol="0">
            <a:spAutoFit/>
          </a:bodyPr>
          <a:lstStyle/>
          <a:p>
            <a:r>
              <a:rPr lang="en-US" dirty="0"/>
              <a:t>&amp;&amp; and || are called </a:t>
            </a:r>
            <a:r>
              <a:rPr lang="en-US" b="1" dirty="0"/>
              <a:t>lazy operators</a:t>
            </a:r>
            <a:r>
              <a:rPr lang="en-US" dirty="0"/>
              <a:t>, as sometimes only one of A or B is needed to determine the result</a:t>
            </a:r>
          </a:p>
        </p:txBody>
      </p:sp>
    </p:spTree>
    <p:extLst>
      <p:ext uri="{BB962C8B-B14F-4D97-AF65-F5344CB8AC3E}">
        <p14:creationId xmlns:p14="http://schemas.microsoft.com/office/powerpoint/2010/main" val="60017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Logical operators: Example 1</a:t>
            </a:r>
            <a:endParaRPr lang="en-US" dirty="0"/>
          </a:p>
        </p:txBody>
      </p:sp>
      <p:sp>
        <p:nvSpPr>
          <p:cNvPr id="3" name="Text Placeholder 2"/>
          <p:cNvSpPr>
            <a:spLocks noGrp="1"/>
          </p:cNvSpPr>
          <p:nvPr>
            <p:ph type="body" idx="1"/>
          </p:nvPr>
        </p:nvSpPr>
        <p:spPr/>
        <p:txBody>
          <a:bodyPr/>
          <a:lstStyle/>
          <a:p>
            <a:pPr marL="114300" indent="0">
              <a:buNone/>
            </a:pPr>
            <a:r>
              <a:rPr lang="en-US" dirty="0"/>
              <a:t>Assume </a:t>
            </a:r>
            <a:r>
              <a:rPr lang="en-US" b="1" dirty="0">
                <a:solidFill>
                  <a:schemeClr val="tx1"/>
                </a:solidFill>
                <a:latin typeface="Courier New" pitchFamily="49" charset="0"/>
                <a:cs typeface="Courier New" pitchFamily="49" charset="0"/>
              </a:rPr>
              <a:t>age = 24 </a:t>
            </a:r>
            <a:r>
              <a:rPr lang="en-US" dirty="0"/>
              <a:t>and </a:t>
            </a:r>
            <a:r>
              <a:rPr lang="en-US" b="1" dirty="0">
                <a:solidFill>
                  <a:schemeClr val="tx1"/>
                </a:solidFill>
                <a:latin typeface="Courier New" pitchFamily="49" charset="0"/>
                <a:cs typeface="Courier New" pitchFamily="49" charset="0"/>
              </a:rPr>
              <a:t>weight = 140</a:t>
            </a:r>
          </a:p>
          <a:p>
            <a:pPr marL="114300" indent="0">
              <a:buNone/>
            </a:pPr>
            <a:endParaRPr lang="en-US" b="1" dirty="0">
              <a:solidFill>
                <a:schemeClr val="tx1"/>
              </a:solidFill>
              <a:latin typeface="Courier New" pitchFamily="49" charset="0"/>
              <a:cs typeface="Courier New" pitchFamily="49" charset="0"/>
            </a:endParaRPr>
          </a:p>
          <a:p>
            <a:r>
              <a:rPr lang="en-US" b="1" dirty="0">
                <a:solidFill>
                  <a:schemeClr val="tx1"/>
                </a:solidFill>
                <a:latin typeface="Courier New" pitchFamily="49" charset="0"/>
                <a:cs typeface="Courier New" pitchFamily="49" charset="0"/>
              </a:rPr>
              <a:t>(age &gt; 34) &amp;&amp; (weight &lt;= 140) </a:t>
            </a:r>
          </a:p>
          <a:p>
            <a:pPr marL="114300" indent="0">
              <a:buNone/>
            </a:pPr>
            <a:r>
              <a:rPr lang="en-US" b="1" dirty="0">
                <a:solidFill>
                  <a:schemeClr val="tx1"/>
                </a:solidFill>
                <a:latin typeface="Courier New" pitchFamily="49" charset="0"/>
                <a:cs typeface="Courier New" pitchFamily="49" charset="0"/>
              </a:rPr>
              <a:t>   </a:t>
            </a:r>
            <a:r>
              <a:rPr lang="en-US" dirty="0"/>
              <a:t>is </a:t>
            </a:r>
            <a:r>
              <a:rPr lang="en-US" b="1" dirty="0">
                <a:solidFill>
                  <a:schemeClr val="tx1"/>
                </a:solidFill>
                <a:latin typeface="Courier New" pitchFamily="49" charset="0"/>
                <a:cs typeface="Courier New" pitchFamily="49" charset="0"/>
              </a:rPr>
              <a:t>false</a:t>
            </a:r>
          </a:p>
          <a:p>
            <a:endParaRPr lang="en-US" b="1" dirty="0">
              <a:solidFill>
                <a:schemeClr val="tx1"/>
              </a:solidFill>
              <a:latin typeface="Courier New" pitchFamily="49" charset="0"/>
              <a:cs typeface="Courier New" pitchFamily="49" charset="0"/>
            </a:endParaRPr>
          </a:p>
          <a:p>
            <a:r>
              <a:rPr lang="en-US" b="1" dirty="0">
                <a:solidFill>
                  <a:schemeClr val="tx1"/>
                </a:solidFill>
                <a:latin typeface="Courier New" pitchFamily="49" charset="0"/>
                <a:cs typeface="Courier New" pitchFamily="49" charset="0"/>
              </a:rPr>
              <a:t>(age &gt; 34) || (weight &lt;= 140)  </a:t>
            </a:r>
          </a:p>
          <a:p>
            <a:pPr marL="114300" indent="0">
              <a:buNone/>
            </a:pPr>
            <a:r>
              <a:rPr lang="en-US" b="1" dirty="0">
                <a:solidFill>
                  <a:schemeClr val="tx1"/>
                </a:solidFill>
                <a:latin typeface="Courier New" pitchFamily="49" charset="0"/>
                <a:cs typeface="Courier New" pitchFamily="49" charset="0"/>
              </a:rPr>
              <a:t>   </a:t>
            </a:r>
            <a:r>
              <a:rPr lang="en-US" dirty="0"/>
              <a:t>is </a:t>
            </a:r>
            <a:r>
              <a:rPr lang="en-US" b="1" dirty="0">
                <a:solidFill>
                  <a:schemeClr val="tx1"/>
                </a:solidFill>
                <a:latin typeface="Courier New" pitchFamily="49" charset="0"/>
                <a:cs typeface="Courier New" pitchFamily="49" charset="0"/>
              </a:rPr>
              <a:t>true</a:t>
            </a:r>
          </a:p>
          <a:p>
            <a:pPr marL="114300" indent="0">
              <a:buNone/>
            </a:pPr>
            <a:endParaRPr lang="en-US" dirty="0"/>
          </a:p>
          <a:p>
            <a:endParaRPr lang="en-US" dirty="0"/>
          </a:p>
          <a:p>
            <a:endParaRPr lang="en-US" dirty="0"/>
          </a:p>
        </p:txBody>
      </p:sp>
    </p:spTree>
    <p:extLst>
      <p:ext uri="{BB962C8B-B14F-4D97-AF65-F5344CB8AC3E}">
        <p14:creationId xmlns:p14="http://schemas.microsoft.com/office/powerpoint/2010/main" val="299317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Logical operators: Example 2</a:t>
            </a:r>
            <a:endParaRPr lang="en-US" dirty="0"/>
          </a:p>
        </p:txBody>
      </p:sp>
      <p:sp>
        <p:nvSpPr>
          <p:cNvPr id="3" name="Text Placeholder 2"/>
          <p:cNvSpPr>
            <a:spLocks noGrp="1"/>
          </p:cNvSpPr>
          <p:nvPr>
            <p:ph type="body" idx="1"/>
          </p:nvPr>
        </p:nvSpPr>
        <p:spPr/>
        <p:txBody>
          <a:bodyPr/>
          <a:lstStyle/>
          <a:p>
            <a:pPr marL="114300" indent="0">
              <a:buNone/>
            </a:pPr>
            <a:r>
              <a:rPr lang="en-US" dirty="0"/>
              <a:t>Assume </a:t>
            </a:r>
            <a:r>
              <a:rPr lang="en-US" b="1" dirty="0">
                <a:solidFill>
                  <a:schemeClr val="tx1"/>
                </a:solidFill>
                <a:latin typeface="Courier New" pitchFamily="49" charset="0"/>
                <a:cs typeface="Courier New" pitchFamily="49" charset="0"/>
              </a:rPr>
              <a:t>age = 24 </a:t>
            </a:r>
            <a:r>
              <a:rPr lang="en-US" dirty="0"/>
              <a:t>and </a:t>
            </a:r>
            <a:r>
              <a:rPr lang="en-US" b="1" dirty="0">
                <a:solidFill>
                  <a:schemeClr val="tx1"/>
                </a:solidFill>
                <a:latin typeface="Courier New" pitchFamily="49" charset="0"/>
                <a:cs typeface="Courier New" pitchFamily="49" charset="0"/>
              </a:rPr>
              <a:t>weight = 140</a:t>
            </a:r>
          </a:p>
          <a:p>
            <a:pPr marL="114300" indent="0">
              <a:buNone/>
            </a:pPr>
            <a:endParaRPr lang="en-US" b="1" dirty="0">
              <a:solidFill>
                <a:schemeClr val="tx1"/>
              </a:solidFill>
              <a:latin typeface="Courier New" pitchFamily="49" charset="0"/>
              <a:cs typeface="Courier New" pitchFamily="49" charset="0"/>
            </a:endParaRPr>
          </a:p>
          <a:p>
            <a:r>
              <a:rPr lang="en-US" b="1" dirty="0">
                <a:solidFill>
                  <a:schemeClr val="tx1"/>
                </a:solidFill>
                <a:latin typeface="Courier New" pitchFamily="49" charset="0"/>
                <a:cs typeface="Courier New" pitchFamily="49" charset="0"/>
              </a:rPr>
              <a:t>!(age &gt; 34) </a:t>
            </a:r>
          </a:p>
          <a:p>
            <a:pPr marL="114300" indent="0">
              <a:buNone/>
            </a:pPr>
            <a:r>
              <a:rPr lang="en-US" b="1" dirty="0">
                <a:solidFill>
                  <a:schemeClr val="tx1"/>
                </a:solidFill>
                <a:latin typeface="Courier New" pitchFamily="49" charset="0"/>
                <a:cs typeface="Courier New" pitchFamily="49" charset="0"/>
              </a:rPr>
              <a:t>   </a:t>
            </a:r>
            <a:r>
              <a:rPr lang="en-US" dirty="0"/>
              <a:t>is </a:t>
            </a:r>
            <a:r>
              <a:rPr lang="en-US" b="1" dirty="0">
                <a:solidFill>
                  <a:schemeClr val="tx1"/>
                </a:solidFill>
                <a:latin typeface="Courier New" pitchFamily="49" charset="0"/>
                <a:cs typeface="Courier New" pitchFamily="49" charset="0"/>
              </a:rPr>
              <a:t>true</a:t>
            </a:r>
          </a:p>
          <a:p>
            <a:pPr marL="114300" indent="0">
              <a:buNone/>
            </a:pPr>
            <a:endParaRPr lang="en-US" b="1" dirty="0">
              <a:solidFill>
                <a:schemeClr val="tx1"/>
              </a:solidFill>
              <a:latin typeface="Courier New" pitchFamily="49" charset="0"/>
              <a:cs typeface="Courier New" pitchFamily="49" charset="0"/>
            </a:endParaRPr>
          </a:p>
          <a:p>
            <a:r>
              <a:rPr lang="en-US" b="1" dirty="0">
                <a:solidFill>
                  <a:schemeClr val="tx1"/>
                </a:solidFill>
                <a:latin typeface="Courier New" pitchFamily="49" charset="0"/>
                <a:cs typeface="Courier New" pitchFamily="49" charset="0"/>
              </a:rPr>
              <a:t>(age &gt; 34) ^ (weight &lt;= 140</a:t>
            </a:r>
            <a:r>
              <a:rPr lang="en-US" dirty="0"/>
              <a:t>) </a:t>
            </a:r>
          </a:p>
          <a:p>
            <a:pPr marL="114300" indent="0">
              <a:buNone/>
            </a:pPr>
            <a:r>
              <a:rPr lang="en-US" dirty="0"/>
              <a:t>       is </a:t>
            </a:r>
            <a:r>
              <a:rPr lang="en-US" b="1" dirty="0">
                <a:solidFill>
                  <a:schemeClr val="tx1"/>
                </a:solidFill>
                <a:latin typeface="Courier New" pitchFamily="49" charset="0"/>
                <a:cs typeface="Courier New" pitchFamily="49" charset="0"/>
              </a:rPr>
              <a:t>true</a:t>
            </a:r>
          </a:p>
          <a:p>
            <a:pPr marL="114300" indent="0">
              <a:buNone/>
            </a:pPr>
            <a:endParaRPr lang="en-US" b="1" dirty="0">
              <a:solidFill>
                <a:schemeClr val="tx1"/>
              </a:solidFill>
              <a:latin typeface="Courier New" pitchFamily="49" charset="0"/>
              <a:cs typeface="Courier New" pitchFamily="49" charset="0"/>
            </a:endParaRPr>
          </a:p>
          <a:p>
            <a:pPr marL="114300" indent="0">
              <a:buNone/>
            </a:pPr>
            <a:r>
              <a:rPr lang="en-US" b="1" dirty="0">
                <a:solidFill>
                  <a:srgbClr val="FF0000"/>
                </a:solidFill>
                <a:latin typeface="Courier New" pitchFamily="49" charset="0"/>
                <a:cs typeface="Courier New" pitchFamily="49" charset="0"/>
              </a:rPr>
              <a:t>Warning: 24 &lt;= age &lt;= 34 </a:t>
            </a:r>
            <a:r>
              <a:rPr lang="en-US" altLang="zh-CN" b="1" dirty="0">
                <a:solidFill>
                  <a:srgbClr val="FF0000"/>
                </a:solidFill>
                <a:latin typeface="Courier New" pitchFamily="49" charset="0"/>
                <a:cs typeface="Courier New" pitchFamily="49" charset="0"/>
              </a:rPr>
              <a:t>leads to syntax error!</a:t>
            </a:r>
            <a:endParaRPr lang="en-US" b="1" dirty="0">
              <a:solidFill>
                <a:srgbClr val="FF0000"/>
              </a:solidFill>
              <a:latin typeface="Courier New" pitchFamily="49" charset="0"/>
              <a:cs typeface="Courier New" pitchFamily="49" charset="0"/>
            </a:endParaRPr>
          </a:p>
          <a:p>
            <a:pPr marL="114300" indent="0">
              <a:buNone/>
            </a:pPr>
            <a:endParaRPr lang="en-US" b="1" dirty="0">
              <a:solidFill>
                <a:schemeClr val="tx1"/>
              </a:solidFill>
              <a:latin typeface="Courier New" pitchFamily="49" charset="0"/>
              <a:cs typeface="Courier New" pitchFamily="49" charset="0"/>
            </a:endParaRPr>
          </a:p>
          <a:p>
            <a:endParaRPr lang="en-US" dirty="0"/>
          </a:p>
          <a:p>
            <a:endParaRPr lang="en-US" dirty="0"/>
          </a:p>
          <a:p>
            <a:endParaRPr lang="en-US" dirty="0"/>
          </a:p>
        </p:txBody>
      </p:sp>
    </p:spTree>
    <p:extLst>
      <p:ext uri="{BB962C8B-B14F-4D97-AF65-F5344CB8AC3E}">
        <p14:creationId xmlns:p14="http://schemas.microsoft.com/office/powerpoint/2010/main" val="159640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Motivation: Compute Area of a Circle</a:t>
            </a:r>
          </a:p>
        </p:txBody>
      </p:sp>
      <p:sp>
        <p:nvSpPr>
          <p:cNvPr id="4" name="Rectangle 7"/>
          <p:cNvSpPr>
            <a:spLocks noGrp="1" noChangeArrowheads="1"/>
          </p:cNvSpPr>
          <p:nvPr>
            <p:ph type="body" idx="1"/>
          </p:nvPr>
        </p:nvSpPr>
        <p:spPr>
          <a:noFill/>
        </p:spPr>
        <p:txBody>
          <a:bodyPr>
            <a:noAutofit/>
          </a:bodyPr>
          <a:lstStyle/>
          <a:p>
            <a:pPr>
              <a:lnSpc>
                <a:spcPct val="90000"/>
              </a:lnSpc>
              <a:buFont typeface="Monotype Sorts" pitchFamily="2" charset="2"/>
              <a:buNone/>
            </a:pPr>
            <a:r>
              <a:rPr lang="en-US" altLang="en-US" sz="1600" b="1" dirty="0">
                <a:solidFill>
                  <a:schemeClr val="tx1"/>
                </a:solidFill>
                <a:latin typeface="Courier New" pitchFamily="49" charset="0"/>
                <a:cs typeface="Courier New" pitchFamily="49" charset="0"/>
              </a:rPr>
              <a:t>public class </a:t>
            </a:r>
            <a:r>
              <a:rPr lang="en-US" altLang="en-US" sz="1600" b="1" dirty="0" err="1">
                <a:solidFill>
                  <a:schemeClr val="tx1"/>
                </a:solidFill>
                <a:latin typeface="Courier New" pitchFamily="49" charset="0"/>
                <a:cs typeface="Courier New" pitchFamily="49" charset="0"/>
              </a:rPr>
              <a:t>ComputeArea</a:t>
            </a:r>
            <a:r>
              <a:rPr lang="en-US" altLang="en-US" sz="1600" b="1" dirty="0">
                <a:solidFill>
                  <a:schemeClr val="tx1"/>
                </a:solidFill>
                <a:latin typeface="Courier New" pitchFamily="49" charset="0"/>
                <a:cs typeface="Courier New" pitchFamily="49" charset="0"/>
              </a:rPr>
              <a:t> { </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public static void main(String[] </a:t>
            </a:r>
            <a:r>
              <a:rPr lang="en-US" altLang="en-US" sz="1600" b="1" dirty="0" err="1">
                <a:solidFill>
                  <a:schemeClr val="tx1"/>
                </a:solidFill>
                <a:latin typeface="Courier New" pitchFamily="49" charset="0"/>
                <a:cs typeface="Courier New" pitchFamily="49" charset="0"/>
              </a:rPr>
              <a:t>args</a:t>
            </a:r>
            <a:r>
              <a:rPr lang="en-US" altLang="en-US" sz="1600" b="1" dirty="0">
                <a:solidFill>
                  <a:schemeClr val="tx1"/>
                </a:solidFill>
                <a:latin typeface="Courier New" pitchFamily="49" charset="0"/>
                <a:cs typeface="Courier New" pitchFamily="49" charset="0"/>
              </a:rPr>
              <a:t>){</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double radius; // Declare radius</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double area; // Declare area</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 Assign a radius</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radius = 20; // New value in radius</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 Compute area</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area = radius * radius * 3.14159;</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 Display results</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a:t>
            </a:r>
            <a:r>
              <a:rPr lang="en-US" altLang="en-US" sz="1600" b="1" dirty="0" err="1">
                <a:solidFill>
                  <a:schemeClr val="tx1"/>
                </a:solidFill>
                <a:latin typeface="Courier New" pitchFamily="49" charset="0"/>
                <a:cs typeface="Courier New" pitchFamily="49" charset="0"/>
              </a:rPr>
              <a:t>System.out.println</a:t>
            </a:r>
            <a:r>
              <a:rPr lang="en-US" altLang="en-US" sz="1600" b="1" dirty="0">
                <a:solidFill>
                  <a:schemeClr val="tx1"/>
                </a:solidFill>
                <a:latin typeface="Courier New" pitchFamily="49" charset="0"/>
                <a:cs typeface="Courier New" pitchFamily="49" charset="0"/>
              </a:rPr>
              <a:t>(“The area of the circle” + “ with radius ” + radius + “ is ” + area);</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 </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a:t>
            </a:r>
          </a:p>
        </p:txBody>
      </p:sp>
      <p:sp>
        <p:nvSpPr>
          <p:cNvPr id="5" name="Text Placeholder 2"/>
          <p:cNvSpPr txBox="1">
            <a:spLocks/>
          </p:cNvSpPr>
          <p:nvPr/>
        </p:nvSpPr>
        <p:spPr>
          <a:xfrm>
            <a:off x="255055" y="4008181"/>
            <a:ext cx="8520600" cy="87862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dirty="0"/>
              <a:t>If we assign a negative value for radius in a program ComputeArea.java, then we don’t want the program to compute the area.</a:t>
            </a:r>
          </a:p>
        </p:txBody>
      </p:sp>
    </p:spTree>
    <p:extLst>
      <p:ext uri="{BB962C8B-B14F-4D97-AF65-F5344CB8AC3E}">
        <p14:creationId xmlns:p14="http://schemas.microsoft.com/office/powerpoint/2010/main" val="367967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One – way if statement</a:t>
            </a:r>
          </a:p>
        </p:txBody>
      </p:sp>
      <p:sp>
        <p:nvSpPr>
          <p:cNvPr id="5" name="Rectangle 7"/>
          <p:cNvSpPr>
            <a:spLocks noGrp="1" noChangeArrowheads="1"/>
          </p:cNvSpPr>
          <p:nvPr>
            <p:ph type="body" idx="1"/>
          </p:nvPr>
        </p:nvSpPr>
        <p:spPr>
          <a:xfrm>
            <a:off x="425355" y="1695570"/>
            <a:ext cx="4172855" cy="657515"/>
          </a:xfrm>
          <a:noFill/>
        </p:spPr>
        <p:txBody>
          <a:bodyPr>
            <a:noAutofit/>
          </a:bodyPr>
          <a:lstStyle/>
          <a:p>
            <a:pPr>
              <a:lnSpc>
                <a:spcPct val="90000"/>
              </a:lnSpc>
              <a:buFont typeface="Monotype Sorts" pitchFamily="2" charset="2"/>
              <a:buNone/>
            </a:pPr>
            <a:r>
              <a:rPr lang="en-US" altLang="en-US" sz="1600" b="1" dirty="0">
                <a:solidFill>
                  <a:schemeClr val="tx1"/>
                </a:solidFill>
                <a:latin typeface="Courier New" pitchFamily="49" charset="0"/>
                <a:cs typeface="Courier New" pitchFamily="49" charset="0"/>
              </a:rPr>
              <a:t>if (</a:t>
            </a:r>
            <a:r>
              <a:rPr lang="en-US" altLang="en-US" sz="1600" b="1" dirty="0" err="1">
                <a:solidFill>
                  <a:schemeClr val="tx1"/>
                </a:solidFill>
                <a:latin typeface="Courier New" pitchFamily="49" charset="0"/>
                <a:cs typeface="Courier New" pitchFamily="49" charset="0"/>
              </a:rPr>
              <a:t>boolean</a:t>
            </a:r>
            <a:r>
              <a:rPr lang="en-US" altLang="en-US" sz="1600" b="1" dirty="0">
                <a:solidFill>
                  <a:schemeClr val="tx1"/>
                </a:solidFill>
                <a:latin typeface="Courier New" pitchFamily="49" charset="0"/>
                <a:cs typeface="Courier New" pitchFamily="49" charset="0"/>
              </a:rPr>
              <a:t>-expression) { </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  statement(s);</a:t>
            </a:r>
          </a:p>
          <a:p>
            <a:pPr>
              <a:lnSpc>
                <a:spcPct val="90000"/>
              </a:lnSpc>
              <a:spcBef>
                <a:spcPct val="0"/>
              </a:spcBef>
              <a:buFont typeface="Monotype Sorts" pitchFamily="2" charset="2"/>
              <a:buNone/>
            </a:pPr>
            <a:r>
              <a:rPr lang="en-US" altLang="en-US" sz="1600" b="1" dirty="0">
                <a:solidFill>
                  <a:schemeClr val="tx1"/>
                </a:solidFill>
                <a:latin typeface="Courier New" pitchFamily="49" charset="0"/>
                <a:cs typeface="Courier New" pitchFamily="49" charset="0"/>
              </a:rPr>
              <a:t>}</a:t>
            </a:r>
          </a:p>
        </p:txBody>
      </p:sp>
      <p:sp>
        <p:nvSpPr>
          <p:cNvPr id="7" name="Flowchart: Decision 6"/>
          <p:cNvSpPr/>
          <p:nvPr/>
        </p:nvSpPr>
        <p:spPr>
          <a:xfrm>
            <a:off x="5051365" y="2024328"/>
            <a:ext cx="1885443" cy="738247"/>
          </a:xfrm>
          <a:prstGeom prst="flowChartDecision">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5540931" y="2117151"/>
            <a:ext cx="1213806" cy="523220"/>
          </a:xfrm>
          <a:prstGeom prst="rect">
            <a:avLst/>
          </a:prstGeom>
          <a:noFill/>
        </p:spPr>
        <p:txBody>
          <a:bodyPr wrap="square" rtlCol="0">
            <a:spAutoFit/>
          </a:bodyPr>
          <a:lstStyle/>
          <a:p>
            <a:r>
              <a:rPr lang="en-US" dirty="0"/>
              <a:t>Boolean Expression</a:t>
            </a:r>
          </a:p>
        </p:txBody>
      </p:sp>
      <p:sp>
        <p:nvSpPr>
          <p:cNvPr id="25" name="TextBox 24"/>
          <p:cNvSpPr txBox="1"/>
          <p:nvPr/>
        </p:nvSpPr>
        <p:spPr>
          <a:xfrm>
            <a:off x="6754737" y="2085674"/>
            <a:ext cx="1213806" cy="307777"/>
          </a:xfrm>
          <a:prstGeom prst="rect">
            <a:avLst/>
          </a:prstGeom>
          <a:noFill/>
        </p:spPr>
        <p:txBody>
          <a:bodyPr wrap="square" rtlCol="0">
            <a:spAutoFit/>
          </a:bodyPr>
          <a:lstStyle/>
          <a:p>
            <a:r>
              <a:rPr lang="en-US" dirty="0"/>
              <a:t>false</a:t>
            </a:r>
          </a:p>
        </p:txBody>
      </p:sp>
      <p:grpSp>
        <p:nvGrpSpPr>
          <p:cNvPr id="4" name="Group 3"/>
          <p:cNvGrpSpPr/>
          <p:nvPr/>
        </p:nvGrpSpPr>
        <p:grpSpPr>
          <a:xfrm>
            <a:off x="5051365" y="1515583"/>
            <a:ext cx="1885443" cy="2876571"/>
            <a:chOff x="5051365" y="1515583"/>
            <a:chExt cx="1885443" cy="2876571"/>
          </a:xfrm>
        </p:grpSpPr>
        <p:sp>
          <p:nvSpPr>
            <p:cNvPr id="8" name="Flowchart: Process 7"/>
            <p:cNvSpPr/>
            <p:nvPr/>
          </p:nvSpPr>
          <p:spPr>
            <a:xfrm>
              <a:off x="5051365" y="3319054"/>
              <a:ext cx="1731695" cy="558350"/>
            </a:xfrm>
            <a:prstGeom prst="flowChartProcess">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endCxn id="7" idx="0"/>
            </p:cNvCxnSpPr>
            <p:nvPr/>
          </p:nvCxnSpPr>
          <p:spPr>
            <a:xfrm>
              <a:off x="5994086" y="1564954"/>
              <a:ext cx="1" cy="4593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983972" y="2762575"/>
              <a:ext cx="0" cy="55647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7" idx="3"/>
            </p:cNvCxnSpPr>
            <p:nvPr/>
          </p:nvCxnSpPr>
          <p:spPr>
            <a:xfrm flipH="1">
              <a:off x="5994086" y="2393452"/>
              <a:ext cx="942722" cy="1717154"/>
            </a:xfrm>
            <a:prstGeom prst="bentConnector4">
              <a:avLst>
                <a:gd name="adj1" fmla="val -24249"/>
                <a:gd name="adj2" fmla="val 10032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406066" y="3372891"/>
              <a:ext cx="1213806" cy="307777"/>
            </a:xfrm>
            <a:prstGeom prst="rect">
              <a:avLst/>
            </a:prstGeom>
            <a:noFill/>
          </p:spPr>
          <p:txBody>
            <a:bodyPr wrap="square" rtlCol="0">
              <a:spAutoFit/>
            </a:bodyPr>
            <a:lstStyle/>
            <a:p>
              <a:r>
                <a:rPr lang="en-US" dirty="0"/>
                <a:t>Statement(s)</a:t>
              </a:r>
            </a:p>
          </p:txBody>
        </p:sp>
        <p:sp>
          <p:nvSpPr>
            <p:cNvPr id="26" name="TextBox 25"/>
            <p:cNvSpPr txBox="1"/>
            <p:nvPr/>
          </p:nvSpPr>
          <p:spPr>
            <a:xfrm>
              <a:off x="5406066" y="2884307"/>
              <a:ext cx="1213806" cy="307777"/>
            </a:xfrm>
            <a:prstGeom prst="rect">
              <a:avLst/>
            </a:prstGeom>
            <a:noFill/>
          </p:spPr>
          <p:txBody>
            <a:bodyPr wrap="square" rtlCol="0">
              <a:spAutoFit/>
            </a:bodyPr>
            <a:lstStyle/>
            <a:p>
              <a:r>
                <a:rPr lang="en-US" dirty="0"/>
                <a:t>true</a:t>
              </a:r>
            </a:p>
          </p:txBody>
        </p:sp>
        <p:cxnSp>
          <p:nvCxnSpPr>
            <p:cNvPr id="27" name="Straight Arrow Connector 26"/>
            <p:cNvCxnSpPr/>
            <p:nvPr/>
          </p:nvCxnSpPr>
          <p:spPr>
            <a:xfrm>
              <a:off x="5980601" y="3877404"/>
              <a:ext cx="0" cy="4712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5968612" y="1515583"/>
              <a:ext cx="45719" cy="45719"/>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959172" y="4346435"/>
              <a:ext cx="45719" cy="45719"/>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26081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One – way if statement: Example </a:t>
            </a:r>
          </a:p>
        </p:txBody>
      </p:sp>
      <p:sp>
        <p:nvSpPr>
          <p:cNvPr id="6" name="Rectangle 9"/>
          <p:cNvSpPr>
            <a:spLocks noChangeArrowheads="1"/>
          </p:cNvSpPr>
          <p:nvPr/>
        </p:nvSpPr>
        <p:spPr bwMode="auto">
          <a:xfrm>
            <a:off x="385895" y="1122786"/>
            <a:ext cx="4582616" cy="1586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951" tIns="65476" rIns="130951" bIns="65476"/>
          <a:lstStyle>
            <a:lvl1pPr marL="342900" indent="-342900">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defTabSz="1300460" eaLnBrk="0" fontAlgn="base">
              <a:spcBef>
                <a:spcPct val="20000"/>
              </a:spcBef>
              <a:spcAft>
                <a:spcPct val="0"/>
              </a:spcAft>
              <a:buClr>
                <a:srgbClr val="696464"/>
              </a:buClr>
              <a:buSzPct val="75000"/>
            </a:pPr>
            <a:r>
              <a:rPr lang="en-US" altLang="en-US" sz="1400" b="1" kern="1200" dirty="0">
                <a:solidFill>
                  <a:prstClr val="black"/>
                </a:solidFill>
                <a:latin typeface="Courier New" pitchFamily="49" charset="0"/>
                <a:cs typeface="Courier New" pitchFamily="49" charset="0"/>
              </a:rPr>
              <a:t>if (radius &gt;= 0) {</a:t>
            </a:r>
          </a:p>
          <a:p>
            <a:pPr defTabSz="1300460" eaLnBrk="0" fontAlgn="base">
              <a:spcBef>
                <a:spcPct val="20000"/>
              </a:spcBef>
              <a:spcAft>
                <a:spcPct val="0"/>
              </a:spcAft>
              <a:buClr>
                <a:srgbClr val="696464"/>
              </a:buClr>
              <a:buSzPct val="75000"/>
            </a:pPr>
            <a:r>
              <a:rPr lang="en-US" altLang="en-US" sz="1400" b="1" kern="1200" dirty="0">
                <a:solidFill>
                  <a:prstClr val="black"/>
                </a:solidFill>
                <a:latin typeface="Courier New" pitchFamily="49" charset="0"/>
                <a:cs typeface="Courier New" pitchFamily="49" charset="0"/>
              </a:rPr>
              <a:t>  area = radius * radius * PI;</a:t>
            </a:r>
          </a:p>
          <a:p>
            <a:pPr defTabSz="1300460" eaLnBrk="0" fontAlgn="base">
              <a:spcBef>
                <a:spcPct val="20000"/>
              </a:spcBef>
              <a:spcAft>
                <a:spcPct val="0"/>
              </a:spcAft>
              <a:buClr>
                <a:srgbClr val="696464"/>
              </a:buClr>
              <a:buSzPct val="75000"/>
            </a:pPr>
            <a:r>
              <a:rPr lang="en-US" altLang="en-US" sz="1400" b="1" kern="1200" dirty="0">
                <a:solidFill>
                  <a:prstClr val="black"/>
                </a:solidFill>
                <a:latin typeface="Courier New" pitchFamily="49" charset="0"/>
                <a:cs typeface="Courier New" pitchFamily="49" charset="0"/>
              </a:rPr>
              <a:t>  </a:t>
            </a:r>
            <a:r>
              <a:rPr lang="en-US" altLang="en-US" sz="1400" b="1" kern="1200" dirty="0" err="1">
                <a:solidFill>
                  <a:prstClr val="black"/>
                </a:solidFill>
                <a:latin typeface="Courier New" pitchFamily="49" charset="0"/>
                <a:cs typeface="Courier New" pitchFamily="49" charset="0"/>
              </a:rPr>
              <a:t>System.out.println</a:t>
            </a:r>
            <a:r>
              <a:rPr lang="en-US" altLang="en-US" sz="1400" b="1" kern="1200" dirty="0">
                <a:solidFill>
                  <a:prstClr val="black"/>
                </a:solidFill>
                <a:latin typeface="Courier New" pitchFamily="49" charset="0"/>
                <a:cs typeface="Courier New" pitchFamily="49" charset="0"/>
              </a:rPr>
              <a:t>("The area"     </a:t>
            </a:r>
          </a:p>
          <a:p>
            <a:pPr defTabSz="1300460" eaLnBrk="0" fontAlgn="base">
              <a:spcBef>
                <a:spcPct val="20000"/>
              </a:spcBef>
              <a:spcAft>
                <a:spcPct val="0"/>
              </a:spcAft>
              <a:buClr>
                <a:srgbClr val="696464"/>
              </a:buClr>
              <a:buSzPct val="75000"/>
            </a:pPr>
            <a:r>
              <a:rPr lang="en-US" altLang="en-US" sz="1400" b="1" kern="1200" dirty="0">
                <a:solidFill>
                  <a:prstClr val="black"/>
                </a:solidFill>
                <a:latin typeface="Courier New" pitchFamily="49" charset="0"/>
                <a:cs typeface="Courier New" pitchFamily="49" charset="0"/>
              </a:rPr>
              <a:t>   +" for the circle of radius " </a:t>
            </a:r>
          </a:p>
          <a:p>
            <a:pPr defTabSz="1300460" eaLnBrk="0" fontAlgn="base">
              <a:spcBef>
                <a:spcPct val="20000"/>
              </a:spcBef>
              <a:spcAft>
                <a:spcPct val="0"/>
              </a:spcAft>
              <a:buClr>
                <a:srgbClr val="696464"/>
              </a:buClr>
              <a:buSzPct val="75000"/>
            </a:pPr>
            <a:r>
              <a:rPr lang="en-US" altLang="en-US" sz="1400" b="1" kern="1200" dirty="0">
                <a:solidFill>
                  <a:prstClr val="black"/>
                </a:solidFill>
                <a:latin typeface="Courier New" pitchFamily="49" charset="0"/>
                <a:cs typeface="Courier New" pitchFamily="49" charset="0"/>
              </a:rPr>
              <a:t>   + radius + " is " + area);</a:t>
            </a:r>
          </a:p>
          <a:p>
            <a:pPr defTabSz="1300460" eaLnBrk="0" fontAlgn="base">
              <a:spcBef>
                <a:spcPct val="20000"/>
              </a:spcBef>
              <a:spcAft>
                <a:spcPct val="0"/>
              </a:spcAft>
              <a:buClr>
                <a:srgbClr val="696464"/>
              </a:buClr>
              <a:buSzPct val="75000"/>
            </a:pPr>
            <a:r>
              <a:rPr lang="en-US" altLang="en-US" sz="1400" b="1" kern="1200" dirty="0">
                <a:solidFill>
                  <a:prstClr val="black"/>
                </a:solidFill>
                <a:latin typeface="Courier New" pitchFamily="49" charset="0"/>
                <a:cs typeface="Courier New" pitchFamily="49" charset="0"/>
              </a:rPr>
              <a:t>}</a:t>
            </a:r>
          </a:p>
        </p:txBody>
      </p:sp>
      <p:sp>
        <p:nvSpPr>
          <p:cNvPr id="33" name="Flowchart: Decision 32"/>
          <p:cNvSpPr/>
          <p:nvPr/>
        </p:nvSpPr>
        <p:spPr>
          <a:xfrm>
            <a:off x="5755705" y="1194407"/>
            <a:ext cx="1885443" cy="738247"/>
          </a:xfrm>
          <a:prstGeom prst="flowChartDecision">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Process 33"/>
          <p:cNvSpPr/>
          <p:nvPr/>
        </p:nvSpPr>
        <p:spPr>
          <a:xfrm>
            <a:off x="4922119" y="2521728"/>
            <a:ext cx="3753335" cy="1290703"/>
          </a:xfrm>
          <a:prstGeom prst="flowChartProcess">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a:endCxn id="33" idx="0"/>
          </p:cNvCxnSpPr>
          <p:nvPr/>
        </p:nvCxnSpPr>
        <p:spPr>
          <a:xfrm>
            <a:off x="6698426" y="735033"/>
            <a:ext cx="1" cy="4593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6688312" y="1932654"/>
            <a:ext cx="0" cy="55647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p:cNvCxnSpPr>
            <a:stCxn id="33" idx="3"/>
          </p:cNvCxnSpPr>
          <p:nvPr/>
        </p:nvCxnSpPr>
        <p:spPr>
          <a:xfrm flipH="1">
            <a:off x="6765213" y="1563531"/>
            <a:ext cx="875935" cy="2488352"/>
          </a:xfrm>
          <a:prstGeom prst="bentConnector4">
            <a:avLst>
              <a:gd name="adj1" fmla="val -143897"/>
              <a:gd name="adj2" fmla="val 10023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192000" y="1382302"/>
            <a:ext cx="1213806" cy="307777"/>
          </a:xfrm>
          <a:prstGeom prst="rect">
            <a:avLst/>
          </a:prstGeom>
          <a:noFill/>
        </p:spPr>
        <p:txBody>
          <a:bodyPr wrap="square" rtlCol="0">
            <a:spAutoFit/>
          </a:bodyPr>
          <a:lstStyle/>
          <a:p>
            <a:r>
              <a:rPr lang="en-US" dirty="0"/>
              <a:t>(radius &gt;= 0)</a:t>
            </a:r>
          </a:p>
        </p:txBody>
      </p:sp>
      <p:sp>
        <p:nvSpPr>
          <p:cNvPr id="39" name="TextBox 38"/>
          <p:cNvSpPr txBox="1"/>
          <p:nvPr/>
        </p:nvSpPr>
        <p:spPr>
          <a:xfrm>
            <a:off x="4922119" y="2587054"/>
            <a:ext cx="3676597" cy="1083374"/>
          </a:xfrm>
          <a:prstGeom prst="rect">
            <a:avLst/>
          </a:prstGeom>
          <a:noFill/>
        </p:spPr>
        <p:txBody>
          <a:bodyPr wrap="square" rtlCol="0">
            <a:spAutoFit/>
          </a:bodyPr>
          <a:lstStyle/>
          <a:p>
            <a:pPr defTabSz="1300460" eaLnBrk="0" fontAlgn="base">
              <a:spcBef>
                <a:spcPct val="20000"/>
              </a:spcBef>
              <a:spcAft>
                <a:spcPct val="0"/>
              </a:spcAft>
              <a:buClr>
                <a:srgbClr val="696464"/>
              </a:buClr>
              <a:buSzPct val="75000"/>
            </a:pPr>
            <a:r>
              <a:rPr lang="en-US" altLang="en-US" b="1" kern="1200" dirty="0">
                <a:solidFill>
                  <a:prstClr val="black"/>
                </a:solidFill>
                <a:latin typeface="Courier New" pitchFamily="49" charset="0"/>
                <a:cs typeface="Courier New" pitchFamily="49" charset="0"/>
              </a:rPr>
              <a:t>area = radius * radius * PI;</a:t>
            </a:r>
          </a:p>
          <a:p>
            <a:pPr defTabSz="1300460" eaLnBrk="0" fontAlgn="base">
              <a:spcBef>
                <a:spcPct val="20000"/>
              </a:spcBef>
              <a:spcAft>
                <a:spcPct val="0"/>
              </a:spcAft>
              <a:buClr>
                <a:srgbClr val="696464"/>
              </a:buClr>
              <a:buSzPct val="75000"/>
            </a:pPr>
            <a:r>
              <a:rPr lang="en-US" altLang="en-US" b="1" kern="1200" dirty="0">
                <a:solidFill>
                  <a:prstClr val="black"/>
                </a:solidFill>
                <a:latin typeface="Courier New" pitchFamily="49" charset="0"/>
                <a:cs typeface="Courier New" pitchFamily="49" charset="0"/>
              </a:rPr>
              <a:t>  </a:t>
            </a:r>
            <a:r>
              <a:rPr lang="en-US" altLang="en-US" b="1" kern="1200" dirty="0" err="1">
                <a:solidFill>
                  <a:prstClr val="black"/>
                </a:solidFill>
                <a:latin typeface="Courier New" pitchFamily="49" charset="0"/>
                <a:cs typeface="Courier New" pitchFamily="49" charset="0"/>
              </a:rPr>
              <a:t>System.out.println</a:t>
            </a:r>
            <a:r>
              <a:rPr lang="en-US" altLang="en-US" b="1" kern="1200" dirty="0">
                <a:solidFill>
                  <a:prstClr val="black"/>
                </a:solidFill>
                <a:latin typeface="Courier New" pitchFamily="49" charset="0"/>
                <a:cs typeface="Courier New" pitchFamily="49" charset="0"/>
              </a:rPr>
              <a:t>("The area"   </a:t>
            </a:r>
          </a:p>
          <a:p>
            <a:pPr defTabSz="1300460" eaLnBrk="0" fontAlgn="base">
              <a:spcBef>
                <a:spcPct val="20000"/>
              </a:spcBef>
              <a:spcAft>
                <a:spcPct val="0"/>
              </a:spcAft>
              <a:buClr>
                <a:srgbClr val="696464"/>
              </a:buClr>
              <a:buSzPct val="75000"/>
            </a:pPr>
            <a:r>
              <a:rPr lang="en-US" altLang="en-US" b="1" kern="1200" dirty="0">
                <a:solidFill>
                  <a:prstClr val="black"/>
                </a:solidFill>
                <a:latin typeface="Courier New" pitchFamily="49" charset="0"/>
                <a:cs typeface="Courier New" pitchFamily="49" charset="0"/>
              </a:rPr>
              <a:t>   +" for the circle of radius " </a:t>
            </a:r>
          </a:p>
          <a:p>
            <a:pPr defTabSz="1300460" eaLnBrk="0" fontAlgn="base">
              <a:spcBef>
                <a:spcPct val="20000"/>
              </a:spcBef>
              <a:spcAft>
                <a:spcPct val="0"/>
              </a:spcAft>
              <a:buClr>
                <a:srgbClr val="696464"/>
              </a:buClr>
              <a:buSzPct val="75000"/>
            </a:pPr>
            <a:r>
              <a:rPr lang="en-US" altLang="en-US" b="1" kern="1200" dirty="0">
                <a:solidFill>
                  <a:prstClr val="black"/>
                </a:solidFill>
                <a:latin typeface="Courier New" pitchFamily="49" charset="0"/>
                <a:cs typeface="Courier New" pitchFamily="49" charset="0"/>
              </a:rPr>
              <a:t>   + radius + " is " + area);</a:t>
            </a:r>
          </a:p>
        </p:txBody>
      </p:sp>
      <p:sp>
        <p:nvSpPr>
          <p:cNvPr id="40" name="TextBox 39"/>
          <p:cNvSpPr txBox="1"/>
          <p:nvPr/>
        </p:nvSpPr>
        <p:spPr>
          <a:xfrm>
            <a:off x="7733244" y="1281663"/>
            <a:ext cx="1213806" cy="307777"/>
          </a:xfrm>
          <a:prstGeom prst="rect">
            <a:avLst/>
          </a:prstGeom>
          <a:noFill/>
        </p:spPr>
        <p:txBody>
          <a:bodyPr wrap="square" rtlCol="0">
            <a:spAutoFit/>
          </a:bodyPr>
          <a:lstStyle/>
          <a:p>
            <a:r>
              <a:rPr lang="en-US" dirty="0"/>
              <a:t>false</a:t>
            </a:r>
          </a:p>
        </p:txBody>
      </p:sp>
      <p:sp>
        <p:nvSpPr>
          <p:cNvPr id="41" name="TextBox 40"/>
          <p:cNvSpPr txBox="1"/>
          <p:nvPr/>
        </p:nvSpPr>
        <p:spPr>
          <a:xfrm>
            <a:off x="6110406" y="2054386"/>
            <a:ext cx="1213806" cy="307777"/>
          </a:xfrm>
          <a:prstGeom prst="rect">
            <a:avLst/>
          </a:prstGeom>
          <a:noFill/>
        </p:spPr>
        <p:txBody>
          <a:bodyPr wrap="square" rtlCol="0">
            <a:spAutoFit/>
          </a:bodyPr>
          <a:lstStyle/>
          <a:p>
            <a:r>
              <a:rPr lang="en-US" dirty="0"/>
              <a:t>true</a:t>
            </a:r>
          </a:p>
        </p:txBody>
      </p:sp>
      <p:cxnSp>
        <p:nvCxnSpPr>
          <p:cNvPr id="42" name="Straight Arrow Connector 41"/>
          <p:cNvCxnSpPr/>
          <p:nvPr/>
        </p:nvCxnSpPr>
        <p:spPr>
          <a:xfrm>
            <a:off x="6740923" y="3808131"/>
            <a:ext cx="0" cy="4712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6672952" y="685662"/>
            <a:ext cx="45719" cy="45719"/>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6719494" y="4277162"/>
            <a:ext cx="45719" cy="45719"/>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943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a:t>
            </a:r>
            <a:r>
              <a:rPr lang="en-US" b="1" dirty="0">
                <a:latin typeface="Courier"/>
              </a:rPr>
              <a:t>if</a:t>
            </a:r>
            <a:r>
              <a:rPr lang="en-US" b="1" dirty="0"/>
              <a:t> statement</a:t>
            </a:r>
          </a:p>
        </p:txBody>
      </p:sp>
      <p:sp>
        <p:nvSpPr>
          <p:cNvPr id="3" name="Text Placeholder 2"/>
          <p:cNvSpPr>
            <a:spLocks noGrp="1"/>
          </p:cNvSpPr>
          <p:nvPr>
            <p:ph type="body" idx="1"/>
          </p:nvPr>
        </p:nvSpPr>
        <p:spPr/>
        <p:txBody>
          <a:bodyPr>
            <a:normAutofit/>
          </a:bodyPr>
          <a:lstStyle/>
          <a:p>
            <a:r>
              <a:rPr lang="en-US" sz="1900" dirty="0"/>
              <a:t>General form:</a:t>
            </a:r>
          </a:p>
          <a:p>
            <a:pPr marL="0" lvl="1" indent="762000">
              <a:buSzTx/>
              <a:buFontTx/>
              <a:buNone/>
              <a:tabLst>
                <a:tab pos="1498600" algn="l"/>
              </a:tabLst>
              <a:defRPr sz="2800" b="1">
                <a:latin typeface="Courier"/>
                <a:ea typeface="Courier"/>
                <a:cs typeface="Courier"/>
                <a:sym typeface="Courier"/>
              </a:defRPr>
            </a:pPr>
            <a:r>
              <a:rPr lang="en-US" sz="1800" dirty="0"/>
              <a:t>if ( </a:t>
            </a:r>
            <a:r>
              <a:rPr lang="en-US" sz="1800" i="1" dirty="0"/>
              <a:t>condition</a:t>
            </a:r>
            <a:r>
              <a:rPr lang="en-US" sz="1800" dirty="0"/>
              <a:t> )</a:t>
            </a:r>
          </a:p>
          <a:p>
            <a:pPr marL="0" lvl="2" indent="1206500">
              <a:buSzTx/>
              <a:buFontTx/>
              <a:buNone/>
              <a:tabLst>
                <a:tab pos="1943100" algn="l"/>
              </a:tabLst>
              <a:defRPr sz="2800" i="1">
                <a:latin typeface="Courier"/>
                <a:ea typeface="Courier"/>
                <a:cs typeface="Courier"/>
                <a:sym typeface="Courier"/>
              </a:defRPr>
            </a:pPr>
            <a:r>
              <a:rPr lang="en-US" sz="1900" dirty="0"/>
              <a:t>statement (or block of statements) to be executed     	if condition is true</a:t>
            </a:r>
          </a:p>
          <a:p>
            <a:r>
              <a:rPr lang="en-US" sz="1900" dirty="0"/>
              <a:t>Ex.</a:t>
            </a:r>
          </a:p>
          <a:p>
            <a:pPr marL="0" lvl="1" indent="762000">
              <a:buSzTx/>
              <a:buFontTx/>
              <a:buNone/>
              <a:tabLst>
                <a:tab pos="1498600" algn="l"/>
              </a:tabLst>
              <a:defRPr sz="2800">
                <a:latin typeface="Courier"/>
                <a:ea typeface="Courier"/>
                <a:cs typeface="Courier"/>
                <a:sym typeface="Courier"/>
              </a:defRPr>
            </a:pPr>
            <a:r>
              <a:rPr lang="en-US" sz="1800" dirty="0"/>
              <a:t>if (length &lt; 2)</a:t>
            </a:r>
          </a:p>
          <a:p>
            <a:pPr marL="0" lvl="2" indent="1206500">
              <a:buSzTx/>
              <a:buFontTx/>
              <a:buNone/>
              <a:tabLst>
                <a:tab pos="1943100" algn="l"/>
              </a:tabLst>
              <a:defRPr sz="2800">
                <a:latin typeface="Courier"/>
                <a:ea typeface="Courier"/>
                <a:cs typeface="Courier"/>
                <a:sym typeface="Courier"/>
              </a:defRPr>
            </a:pPr>
            <a:r>
              <a:rPr lang="en-US" sz="1800" dirty="0" err="1"/>
              <a:t>System.out.print</a:t>
            </a:r>
            <a:r>
              <a:rPr lang="en-US" sz="1800" dirty="0"/>
              <a:t>(“Too short!\n”);</a:t>
            </a:r>
          </a:p>
          <a:p>
            <a:endParaRPr lang="en-US" dirty="0"/>
          </a:p>
        </p:txBody>
      </p:sp>
    </p:spTree>
    <p:extLst>
      <p:ext uri="{BB962C8B-B14F-4D97-AF65-F5344CB8AC3E}">
        <p14:creationId xmlns:p14="http://schemas.microsoft.com/office/powerpoint/2010/main" val="423622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a:t>
            </a:r>
            <a:r>
              <a:rPr lang="en-US" b="1" dirty="0">
                <a:latin typeface="Courier"/>
              </a:rPr>
              <a:t>if</a:t>
            </a:r>
            <a:r>
              <a:rPr lang="en-US" b="1" dirty="0"/>
              <a:t> statement: Examples</a:t>
            </a:r>
          </a:p>
        </p:txBody>
      </p:sp>
      <p:sp>
        <p:nvSpPr>
          <p:cNvPr id="3" name="Text Placeholder 2"/>
          <p:cNvSpPr>
            <a:spLocks noGrp="1"/>
          </p:cNvSpPr>
          <p:nvPr>
            <p:ph type="body" idx="1"/>
          </p:nvPr>
        </p:nvSpPr>
        <p:spPr/>
        <p:txBody>
          <a:bodyPr>
            <a:normAutofit/>
          </a:bodyPr>
          <a:lstStyle/>
          <a:p>
            <a:pPr marL="0" indent="317500">
              <a:buSzTx/>
              <a:buNone/>
              <a:tabLst>
                <a:tab pos="1054100" algn="l"/>
              </a:tabLst>
            </a:pPr>
            <a:r>
              <a:rPr lang="en-US" sz="2000" dirty="0">
                <a:latin typeface="Courier"/>
              </a:rPr>
              <a:t>if (age &lt; 16)</a:t>
            </a:r>
          </a:p>
          <a:p>
            <a:pPr marL="0" indent="317500">
              <a:buSzTx/>
              <a:buFontTx/>
              <a:buNone/>
              <a:tabLst>
                <a:tab pos="1054100" algn="l"/>
              </a:tabLst>
            </a:pPr>
            <a:r>
              <a:rPr lang="en-US" sz="2000" dirty="0">
                <a:latin typeface="Courier"/>
              </a:rPr>
              <a:t>    </a:t>
            </a:r>
            <a:r>
              <a:rPr lang="en-US" sz="2000" dirty="0" err="1">
                <a:latin typeface="Courier"/>
              </a:rPr>
              <a:t>System.out.print</a:t>
            </a:r>
            <a:r>
              <a:rPr lang="en-US" sz="2000" dirty="0">
                <a:latin typeface="Courier"/>
              </a:rPr>
              <a:t>(“Too young to drive!\n”);</a:t>
            </a:r>
          </a:p>
          <a:p>
            <a:pPr marL="0" indent="317500">
              <a:buSzTx/>
              <a:buFontTx/>
              <a:buNone/>
              <a:tabLst>
                <a:tab pos="1054100" algn="l"/>
              </a:tabLst>
            </a:pPr>
            <a:endParaRPr lang="en-US" sz="2000" dirty="0">
              <a:latin typeface="Courier"/>
            </a:endParaRPr>
          </a:p>
          <a:p>
            <a:pPr marL="0" indent="317500">
              <a:buSzTx/>
              <a:buNone/>
              <a:tabLst>
                <a:tab pos="1054100" algn="l"/>
              </a:tabLst>
            </a:pPr>
            <a:r>
              <a:rPr lang="en-US" sz="2000" dirty="0">
                <a:latin typeface="Courier"/>
              </a:rPr>
              <a:t>if (</a:t>
            </a:r>
            <a:r>
              <a:rPr lang="en-US" sz="2000" dirty="0" err="1">
                <a:latin typeface="Courier"/>
              </a:rPr>
              <a:t>password.equals</a:t>
            </a:r>
            <a:r>
              <a:rPr lang="en-US" sz="2000" dirty="0">
                <a:latin typeface="Courier"/>
              </a:rPr>
              <a:t>(“foo”))</a:t>
            </a:r>
          </a:p>
          <a:p>
            <a:pPr marL="0" indent="317500">
              <a:buSzTx/>
              <a:buFontTx/>
              <a:buNone/>
              <a:tabLst>
                <a:tab pos="1054100" algn="l"/>
              </a:tabLst>
            </a:pPr>
            <a:r>
              <a:rPr lang="en-US" sz="2000" dirty="0">
                <a:latin typeface="Courier"/>
              </a:rPr>
              <a:t>    </a:t>
            </a:r>
            <a:r>
              <a:rPr lang="en-US" sz="2000" dirty="0" err="1">
                <a:latin typeface="Courier"/>
              </a:rPr>
              <a:t>accessGranted</a:t>
            </a:r>
            <a:r>
              <a:rPr lang="en-US" sz="2000" dirty="0">
                <a:latin typeface="Courier"/>
              </a:rPr>
              <a:t> = true;</a:t>
            </a:r>
          </a:p>
          <a:p>
            <a:endParaRPr lang="en-US" dirty="0"/>
          </a:p>
        </p:txBody>
      </p:sp>
    </p:spTree>
    <p:extLst>
      <p:ext uri="{BB962C8B-B14F-4D97-AF65-F5344CB8AC3E}">
        <p14:creationId xmlns:p14="http://schemas.microsoft.com/office/powerpoint/2010/main" val="198416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One-way </a:t>
            </a:r>
            <a:r>
              <a:rPr lang="en-US" b="1" dirty="0">
                <a:latin typeface="Courier"/>
              </a:rPr>
              <a:t>if</a:t>
            </a:r>
            <a:r>
              <a:rPr lang="en-US" b="1" dirty="0"/>
              <a:t> Statements: Condition containment</a:t>
            </a:r>
          </a:p>
        </p:txBody>
      </p:sp>
      <p:sp>
        <p:nvSpPr>
          <p:cNvPr id="4" name="Flowchart: Process 3"/>
          <p:cNvSpPr/>
          <p:nvPr/>
        </p:nvSpPr>
        <p:spPr>
          <a:xfrm>
            <a:off x="380326" y="1529395"/>
            <a:ext cx="3965097" cy="979136"/>
          </a:xfrm>
          <a:prstGeom prst="flowChartProcess">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Process 4"/>
          <p:cNvSpPr/>
          <p:nvPr/>
        </p:nvSpPr>
        <p:spPr>
          <a:xfrm>
            <a:off x="4923847" y="1529394"/>
            <a:ext cx="3985484" cy="979137"/>
          </a:xfrm>
          <a:prstGeom prst="flowChartProcess">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24988" y="1603463"/>
            <a:ext cx="3920435" cy="830997"/>
          </a:xfrm>
          <a:prstGeom prst="rect">
            <a:avLst/>
          </a:prstGeom>
          <a:noFill/>
        </p:spPr>
        <p:txBody>
          <a:bodyPr wrap="square" rtlCol="0">
            <a:spAutoFit/>
          </a:bodyPr>
          <a:lstStyle/>
          <a:p>
            <a:pPr hangingPunct="0"/>
            <a:r>
              <a:rPr lang="en-US" sz="1200" i="1" dirty="0">
                <a:solidFill>
                  <a:schemeClr val="dk2"/>
                </a:solidFill>
                <a:latin typeface="Courier"/>
                <a:ea typeface="Courier"/>
                <a:cs typeface="Courier"/>
              </a:rPr>
              <a:t>if </a:t>
            </a:r>
            <a:r>
              <a:rPr lang="en-US" sz="1200" i="1" dirty="0" err="1">
                <a:solidFill>
                  <a:schemeClr val="dk2"/>
                </a:solidFill>
                <a:latin typeface="Courier"/>
                <a:ea typeface="Courier"/>
                <a:cs typeface="Courier"/>
              </a:rPr>
              <a:t>i</a:t>
            </a:r>
            <a:r>
              <a:rPr lang="en-US" sz="1200" i="1" dirty="0">
                <a:solidFill>
                  <a:schemeClr val="dk2"/>
                </a:solidFill>
                <a:latin typeface="Courier"/>
                <a:ea typeface="Courier"/>
                <a:cs typeface="Courier"/>
              </a:rPr>
              <a:t> &gt; 0 {</a:t>
            </a:r>
          </a:p>
          <a:p>
            <a:pPr hangingPunct="0"/>
            <a:r>
              <a:rPr lang="en-US" sz="1200" i="1" dirty="0">
                <a:solidFill>
                  <a:schemeClr val="dk2"/>
                </a:solidFill>
                <a:latin typeface="Courier"/>
                <a:ea typeface="Courier"/>
                <a:cs typeface="Courier"/>
              </a:rPr>
              <a:t>  </a:t>
            </a:r>
            <a:r>
              <a:rPr lang="en-US" sz="1200" i="1" dirty="0" err="1">
                <a:solidFill>
                  <a:schemeClr val="dk2"/>
                </a:solidFill>
                <a:latin typeface="Courier"/>
                <a:ea typeface="Courier"/>
                <a:cs typeface="Courier"/>
              </a:rPr>
              <a:t>System.out.println</a:t>
            </a:r>
            <a:r>
              <a:rPr lang="en-US" sz="1200" i="1" dirty="0">
                <a:solidFill>
                  <a:schemeClr val="dk2"/>
                </a:solidFill>
                <a:latin typeface="Courier"/>
                <a:ea typeface="Courier"/>
                <a:cs typeface="Courier"/>
              </a:rPr>
              <a:t>(</a:t>
            </a:r>
            <a:r>
              <a:rPr lang="en-US" sz="1200" i="1" dirty="0" err="1">
                <a:solidFill>
                  <a:schemeClr val="dk2"/>
                </a:solidFill>
                <a:latin typeface="Courier"/>
                <a:ea typeface="Courier"/>
                <a:cs typeface="Courier"/>
              </a:rPr>
              <a:t>"i</a:t>
            </a:r>
            <a:r>
              <a:rPr lang="en-US" sz="1200" i="1" dirty="0">
                <a:solidFill>
                  <a:schemeClr val="dk2"/>
                </a:solidFill>
                <a:latin typeface="Courier"/>
                <a:ea typeface="Courier"/>
                <a:cs typeface="Courier"/>
              </a:rPr>
              <a:t> is positive");</a:t>
            </a:r>
          </a:p>
          <a:p>
            <a:pPr hangingPunct="0"/>
            <a:r>
              <a:rPr lang="en-US" sz="1200" i="1" dirty="0">
                <a:solidFill>
                  <a:schemeClr val="dk2"/>
                </a:solidFill>
                <a:latin typeface="Courier"/>
                <a:ea typeface="Courier"/>
                <a:cs typeface="Courier"/>
              </a:rPr>
              <a:t>} </a:t>
            </a:r>
          </a:p>
          <a:p>
            <a:pPr algn="ctr" hangingPunct="0"/>
            <a:r>
              <a:rPr lang="en-US" sz="1200" b="1" dirty="0">
                <a:solidFill>
                  <a:schemeClr val="dk2"/>
                </a:solidFill>
                <a:latin typeface="+mn-lt"/>
                <a:ea typeface="Courier"/>
                <a:cs typeface="Courier"/>
              </a:rPr>
              <a:t>(a): Wrong</a:t>
            </a:r>
          </a:p>
        </p:txBody>
      </p:sp>
      <p:sp>
        <p:nvSpPr>
          <p:cNvPr id="7" name="TextBox 6"/>
          <p:cNvSpPr txBox="1"/>
          <p:nvPr/>
        </p:nvSpPr>
        <p:spPr>
          <a:xfrm>
            <a:off x="4956371" y="1603463"/>
            <a:ext cx="3920435" cy="830997"/>
          </a:xfrm>
          <a:prstGeom prst="rect">
            <a:avLst/>
          </a:prstGeom>
          <a:noFill/>
        </p:spPr>
        <p:txBody>
          <a:bodyPr wrap="square" rtlCol="0">
            <a:spAutoFit/>
          </a:bodyPr>
          <a:lstStyle/>
          <a:p>
            <a:pPr hangingPunct="0"/>
            <a:r>
              <a:rPr lang="en-US" sz="1200" i="1" dirty="0">
                <a:solidFill>
                  <a:schemeClr val="dk2"/>
                </a:solidFill>
                <a:latin typeface="Courier"/>
                <a:ea typeface="Courier"/>
                <a:cs typeface="Courier"/>
              </a:rPr>
              <a:t>if (</a:t>
            </a:r>
            <a:r>
              <a:rPr lang="en-US" sz="1200" i="1" dirty="0" err="1">
                <a:solidFill>
                  <a:schemeClr val="dk2"/>
                </a:solidFill>
                <a:latin typeface="Courier"/>
                <a:ea typeface="Courier"/>
                <a:cs typeface="Courier"/>
              </a:rPr>
              <a:t>i</a:t>
            </a:r>
            <a:r>
              <a:rPr lang="en-US" sz="1200" i="1" dirty="0">
                <a:solidFill>
                  <a:schemeClr val="dk2"/>
                </a:solidFill>
                <a:latin typeface="Courier"/>
                <a:ea typeface="Courier"/>
                <a:cs typeface="Courier"/>
              </a:rPr>
              <a:t> &gt; 0) {</a:t>
            </a:r>
          </a:p>
          <a:p>
            <a:pPr hangingPunct="0"/>
            <a:r>
              <a:rPr lang="en-US" sz="1200" i="1" dirty="0">
                <a:solidFill>
                  <a:schemeClr val="dk2"/>
                </a:solidFill>
                <a:latin typeface="Courier"/>
                <a:ea typeface="Courier"/>
                <a:cs typeface="Courier"/>
              </a:rPr>
              <a:t>  </a:t>
            </a:r>
            <a:r>
              <a:rPr lang="en-US" sz="1200" i="1" dirty="0" err="1">
                <a:solidFill>
                  <a:schemeClr val="dk2"/>
                </a:solidFill>
                <a:latin typeface="Courier"/>
                <a:ea typeface="Courier"/>
                <a:cs typeface="Courier"/>
              </a:rPr>
              <a:t>System.out.println</a:t>
            </a:r>
            <a:r>
              <a:rPr lang="en-US" sz="1200" i="1" dirty="0">
                <a:solidFill>
                  <a:schemeClr val="dk2"/>
                </a:solidFill>
                <a:latin typeface="Courier"/>
                <a:ea typeface="Courier"/>
                <a:cs typeface="Courier"/>
              </a:rPr>
              <a:t>(</a:t>
            </a:r>
            <a:r>
              <a:rPr lang="en-US" sz="1200" i="1" dirty="0" err="1">
                <a:solidFill>
                  <a:schemeClr val="dk2"/>
                </a:solidFill>
                <a:latin typeface="Courier"/>
                <a:ea typeface="Courier"/>
                <a:cs typeface="Courier"/>
              </a:rPr>
              <a:t>"i</a:t>
            </a:r>
            <a:r>
              <a:rPr lang="en-US" sz="1200" i="1" dirty="0">
                <a:solidFill>
                  <a:schemeClr val="dk2"/>
                </a:solidFill>
                <a:latin typeface="Courier"/>
                <a:ea typeface="Courier"/>
                <a:cs typeface="Courier"/>
              </a:rPr>
              <a:t> is positive");</a:t>
            </a:r>
          </a:p>
          <a:p>
            <a:pPr hangingPunct="0"/>
            <a:r>
              <a:rPr lang="en-US" sz="1200" i="1" dirty="0">
                <a:solidFill>
                  <a:schemeClr val="dk2"/>
                </a:solidFill>
                <a:latin typeface="Courier"/>
                <a:ea typeface="Courier"/>
                <a:cs typeface="Courier"/>
              </a:rPr>
              <a:t>} </a:t>
            </a:r>
          </a:p>
          <a:p>
            <a:pPr algn="ctr" hangingPunct="0"/>
            <a:r>
              <a:rPr lang="en-US" sz="1200" b="1" dirty="0">
                <a:solidFill>
                  <a:schemeClr val="dk2"/>
                </a:solidFill>
                <a:latin typeface="+mn-lt"/>
                <a:ea typeface="Courier"/>
                <a:cs typeface="Courier"/>
              </a:rPr>
              <a:t>(b): Correct</a:t>
            </a:r>
          </a:p>
        </p:txBody>
      </p:sp>
      <p:sp>
        <p:nvSpPr>
          <p:cNvPr id="8" name="TextBox 7"/>
          <p:cNvSpPr txBox="1"/>
          <p:nvPr/>
        </p:nvSpPr>
        <p:spPr>
          <a:xfrm>
            <a:off x="2290046" y="1116701"/>
            <a:ext cx="3110147" cy="307777"/>
          </a:xfrm>
          <a:prstGeom prst="rect">
            <a:avLst/>
          </a:prstGeom>
          <a:noFill/>
        </p:spPr>
        <p:txBody>
          <a:bodyPr wrap="none" rtlCol="0">
            <a:spAutoFit/>
          </a:bodyPr>
          <a:lstStyle/>
          <a:p>
            <a:r>
              <a:rPr lang="en-US" dirty="0"/>
              <a:t>Condition containment is necessary !</a:t>
            </a:r>
          </a:p>
        </p:txBody>
      </p:sp>
    </p:spTree>
    <p:extLst>
      <p:ext uri="{BB962C8B-B14F-4D97-AF65-F5344CB8AC3E}">
        <p14:creationId xmlns:p14="http://schemas.microsoft.com/office/powerpoint/2010/main" val="1833947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One-way </a:t>
            </a:r>
            <a:r>
              <a:rPr lang="en-US" b="1" dirty="0">
                <a:latin typeface="Courier"/>
              </a:rPr>
              <a:t>if</a:t>
            </a:r>
            <a:r>
              <a:rPr lang="en-US" b="1" dirty="0"/>
              <a:t> Statements: Block containment</a:t>
            </a:r>
            <a:endParaRPr lang="en-US" dirty="0"/>
          </a:p>
        </p:txBody>
      </p:sp>
      <p:sp>
        <p:nvSpPr>
          <p:cNvPr id="4" name="Flowchart: Process 3"/>
          <p:cNvSpPr/>
          <p:nvPr/>
        </p:nvSpPr>
        <p:spPr>
          <a:xfrm>
            <a:off x="80922" y="1529395"/>
            <a:ext cx="3965097" cy="979136"/>
          </a:xfrm>
          <a:prstGeom prst="flowChartProcess">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Process 4"/>
          <p:cNvSpPr/>
          <p:nvPr/>
        </p:nvSpPr>
        <p:spPr>
          <a:xfrm>
            <a:off x="5101871" y="1529394"/>
            <a:ext cx="3985484" cy="979137"/>
          </a:xfrm>
          <a:prstGeom prst="flowChartProcess">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49860" y="1603463"/>
            <a:ext cx="3920435" cy="830997"/>
          </a:xfrm>
          <a:prstGeom prst="rect">
            <a:avLst/>
          </a:prstGeom>
          <a:noFill/>
        </p:spPr>
        <p:txBody>
          <a:bodyPr wrap="square" rtlCol="0">
            <a:spAutoFit/>
          </a:bodyPr>
          <a:lstStyle/>
          <a:p>
            <a:pPr hangingPunct="0"/>
            <a:r>
              <a:rPr lang="en-US" sz="1200" i="1" dirty="0">
                <a:solidFill>
                  <a:schemeClr val="dk2"/>
                </a:solidFill>
                <a:latin typeface="Courier"/>
                <a:ea typeface="Courier"/>
                <a:cs typeface="Courier"/>
              </a:rPr>
              <a:t>if (</a:t>
            </a:r>
            <a:r>
              <a:rPr lang="en-US" sz="1200" i="1" dirty="0" err="1">
                <a:solidFill>
                  <a:schemeClr val="dk2"/>
                </a:solidFill>
                <a:latin typeface="Courier"/>
                <a:ea typeface="Courier"/>
                <a:cs typeface="Courier"/>
              </a:rPr>
              <a:t>i</a:t>
            </a:r>
            <a:r>
              <a:rPr lang="en-US" sz="1200" i="1" dirty="0">
                <a:solidFill>
                  <a:schemeClr val="dk2"/>
                </a:solidFill>
                <a:latin typeface="Courier"/>
                <a:ea typeface="Courier"/>
                <a:cs typeface="Courier"/>
              </a:rPr>
              <a:t> &gt; 0) {</a:t>
            </a:r>
          </a:p>
          <a:p>
            <a:pPr hangingPunct="0"/>
            <a:r>
              <a:rPr lang="en-US" sz="1200" i="1" dirty="0">
                <a:solidFill>
                  <a:schemeClr val="dk2"/>
                </a:solidFill>
                <a:latin typeface="Courier"/>
                <a:ea typeface="Courier"/>
                <a:cs typeface="Courier"/>
              </a:rPr>
              <a:t>  </a:t>
            </a:r>
            <a:r>
              <a:rPr lang="en-US" sz="1200" i="1" dirty="0" err="1">
                <a:solidFill>
                  <a:schemeClr val="dk2"/>
                </a:solidFill>
                <a:latin typeface="Courier"/>
                <a:ea typeface="Courier"/>
                <a:cs typeface="Courier"/>
              </a:rPr>
              <a:t>System.out.println</a:t>
            </a:r>
            <a:r>
              <a:rPr lang="en-US" sz="1200" i="1" dirty="0">
                <a:solidFill>
                  <a:schemeClr val="dk2"/>
                </a:solidFill>
                <a:latin typeface="Courier"/>
                <a:ea typeface="Courier"/>
                <a:cs typeface="Courier"/>
              </a:rPr>
              <a:t>(</a:t>
            </a:r>
            <a:r>
              <a:rPr lang="en-US" sz="1200" i="1" dirty="0" err="1">
                <a:solidFill>
                  <a:schemeClr val="dk2"/>
                </a:solidFill>
                <a:latin typeface="Courier"/>
                <a:ea typeface="Courier"/>
                <a:cs typeface="Courier"/>
              </a:rPr>
              <a:t>"i</a:t>
            </a:r>
            <a:r>
              <a:rPr lang="en-US" sz="1200" i="1" dirty="0">
                <a:solidFill>
                  <a:schemeClr val="dk2"/>
                </a:solidFill>
                <a:latin typeface="Courier"/>
                <a:ea typeface="Courier"/>
                <a:cs typeface="Courier"/>
              </a:rPr>
              <a:t> is positive");</a:t>
            </a:r>
          </a:p>
          <a:p>
            <a:pPr hangingPunct="0"/>
            <a:r>
              <a:rPr lang="en-US" sz="1200" i="1" dirty="0">
                <a:solidFill>
                  <a:schemeClr val="dk2"/>
                </a:solidFill>
                <a:latin typeface="Courier"/>
                <a:ea typeface="Courier"/>
                <a:cs typeface="Courier"/>
              </a:rPr>
              <a:t>} </a:t>
            </a:r>
          </a:p>
          <a:p>
            <a:pPr algn="ctr" hangingPunct="0"/>
            <a:endParaRPr lang="en-US" sz="1200" b="1" dirty="0">
              <a:solidFill>
                <a:schemeClr val="dk2"/>
              </a:solidFill>
              <a:latin typeface="+mn-lt"/>
              <a:ea typeface="Courier"/>
              <a:cs typeface="Courier"/>
            </a:endParaRPr>
          </a:p>
        </p:txBody>
      </p:sp>
      <p:sp>
        <p:nvSpPr>
          <p:cNvPr id="7" name="TextBox 6"/>
          <p:cNvSpPr txBox="1"/>
          <p:nvPr/>
        </p:nvSpPr>
        <p:spPr>
          <a:xfrm>
            <a:off x="5102027" y="1603463"/>
            <a:ext cx="3920435" cy="646331"/>
          </a:xfrm>
          <a:prstGeom prst="rect">
            <a:avLst/>
          </a:prstGeom>
          <a:noFill/>
        </p:spPr>
        <p:txBody>
          <a:bodyPr wrap="square" rtlCol="0">
            <a:spAutoFit/>
          </a:bodyPr>
          <a:lstStyle/>
          <a:p>
            <a:pPr hangingPunct="0"/>
            <a:r>
              <a:rPr lang="en-US" sz="1200" i="1" dirty="0">
                <a:solidFill>
                  <a:schemeClr val="dk2"/>
                </a:solidFill>
                <a:latin typeface="Courier"/>
                <a:ea typeface="Courier"/>
                <a:cs typeface="Courier"/>
              </a:rPr>
              <a:t>if (</a:t>
            </a:r>
            <a:r>
              <a:rPr lang="en-US" sz="1200" i="1" dirty="0" err="1">
                <a:solidFill>
                  <a:schemeClr val="dk2"/>
                </a:solidFill>
                <a:latin typeface="Courier"/>
                <a:ea typeface="Courier"/>
                <a:cs typeface="Courier"/>
              </a:rPr>
              <a:t>i</a:t>
            </a:r>
            <a:r>
              <a:rPr lang="en-US" sz="1200" i="1" dirty="0">
                <a:solidFill>
                  <a:schemeClr val="dk2"/>
                </a:solidFill>
                <a:latin typeface="Courier"/>
                <a:ea typeface="Courier"/>
                <a:cs typeface="Courier"/>
              </a:rPr>
              <a:t> &gt; 0) </a:t>
            </a:r>
          </a:p>
          <a:p>
            <a:pPr hangingPunct="0"/>
            <a:r>
              <a:rPr lang="en-US" sz="1200" i="1" dirty="0">
                <a:solidFill>
                  <a:schemeClr val="dk2"/>
                </a:solidFill>
                <a:latin typeface="Courier"/>
                <a:ea typeface="Courier"/>
                <a:cs typeface="Courier"/>
              </a:rPr>
              <a:t>  </a:t>
            </a:r>
            <a:r>
              <a:rPr lang="en-US" sz="1200" i="1" dirty="0" err="1">
                <a:solidFill>
                  <a:schemeClr val="dk2"/>
                </a:solidFill>
                <a:latin typeface="Courier"/>
                <a:ea typeface="Courier"/>
                <a:cs typeface="Courier"/>
              </a:rPr>
              <a:t>System.out.println</a:t>
            </a:r>
            <a:r>
              <a:rPr lang="en-US" sz="1200" i="1" dirty="0">
                <a:solidFill>
                  <a:schemeClr val="dk2"/>
                </a:solidFill>
                <a:latin typeface="Courier"/>
                <a:ea typeface="Courier"/>
                <a:cs typeface="Courier"/>
              </a:rPr>
              <a:t>(</a:t>
            </a:r>
            <a:r>
              <a:rPr lang="en-US" sz="1200" i="1" dirty="0" err="1">
                <a:solidFill>
                  <a:schemeClr val="dk2"/>
                </a:solidFill>
                <a:latin typeface="Courier"/>
                <a:ea typeface="Courier"/>
                <a:cs typeface="Courier"/>
              </a:rPr>
              <a:t>"i</a:t>
            </a:r>
            <a:r>
              <a:rPr lang="en-US" sz="1200" i="1" dirty="0">
                <a:solidFill>
                  <a:schemeClr val="dk2"/>
                </a:solidFill>
                <a:latin typeface="Courier"/>
                <a:ea typeface="Courier"/>
                <a:cs typeface="Courier"/>
              </a:rPr>
              <a:t> is positive");</a:t>
            </a:r>
          </a:p>
          <a:p>
            <a:pPr hangingPunct="0"/>
            <a:r>
              <a:rPr lang="en-US" sz="1200" i="1" dirty="0">
                <a:solidFill>
                  <a:schemeClr val="dk2"/>
                </a:solidFill>
                <a:latin typeface="Courier"/>
                <a:ea typeface="Courier"/>
                <a:cs typeface="Courier"/>
              </a:rPr>
              <a:t> </a:t>
            </a:r>
          </a:p>
        </p:txBody>
      </p:sp>
      <p:sp>
        <p:nvSpPr>
          <p:cNvPr id="8" name="TextBox 7"/>
          <p:cNvSpPr txBox="1"/>
          <p:nvPr/>
        </p:nvSpPr>
        <p:spPr>
          <a:xfrm>
            <a:off x="2290046" y="1116701"/>
            <a:ext cx="3150221" cy="307777"/>
          </a:xfrm>
          <a:prstGeom prst="rect">
            <a:avLst/>
          </a:prstGeom>
          <a:noFill/>
        </p:spPr>
        <p:txBody>
          <a:bodyPr wrap="none" rtlCol="0">
            <a:spAutoFit/>
          </a:bodyPr>
          <a:lstStyle/>
          <a:p>
            <a:r>
              <a:rPr lang="en-US" dirty="0"/>
              <a:t>No block containment is necessary !</a:t>
            </a:r>
          </a:p>
        </p:txBody>
      </p:sp>
      <p:sp>
        <p:nvSpPr>
          <p:cNvPr id="9" name="Left-Right Arrow 8"/>
          <p:cNvSpPr/>
          <p:nvPr/>
        </p:nvSpPr>
        <p:spPr>
          <a:xfrm>
            <a:off x="4183582" y="1869178"/>
            <a:ext cx="780724" cy="406753"/>
          </a:xfrm>
          <a:prstGeom prst="leftRightArrow">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017581" y="2267685"/>
            <a:ext cx="1120820" cy="307777"/>
          </a:xfrm>
          <a:prstGeom prst="rect">
            <a:avLst/>
          </a:prstGeom>
          <a:noFill/>
        </p:spPr>
        <p:txBody>
          <a:bodyPr wrap="none" rtlCol="0">
            <a:spAutoFit/>
          </a:bodyPr>
          <a:lstStyle/>
          <a:p>
            <a:r>
              <a:rPr lang="en-US" dirty="0"/>
              <a:t>Equivalent !</a:t>
            </a:r>
          </a:p>
        </p:txBody>
      </p:sp>
    </p:spTree>
    <p:extLst>
      <p:ext uri="{BB962C8B-B14F-4D97-AF65-F5344CB8AC3E}">
        <p14:creationId xmlns:p14="http://schemas.microsoft.com/office/powerpoint/2010/main" val="366752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p:bldP spid="9" grpId="0" animBg="1"/>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a:t>
            </a:r>
            <a:r>
              <a:rPr lang="en-US" b="1" dirty="0">
                <a:latin typeface="Courier New" panose="02070309020205020404" pitchFamily="49" charset="0"/>
                <a:cs typeface="Courier New" panose="02070309020205020404" pitchFamily="49" charset="0"/>
              </a:rPr>
              <a:t>if-else</a:t>
            </a:r>
            <a:r>
              <a:rPr lang="en-US" b="1" dirty="0"/>
              <a:t> Statement</a:t>
            </a:r>
          </a:p>
        </p:txBody>
      </p:sp>
      <p:sp>
        <p:nvSpPr>
          <p:cNvPr id="3" name="Text Placeholder 2"/>
          <p:cNvSpPr>
            <a:spLocks noGrp="1"/>
          </p:cNvSpPr>
          <p:nvPr>
            <p:ph type="body" idx="1"/>
          </p:nvPr>
        </p:nvSpPr>
        <p:spPr/>
        <p:txBody>
          <a:bodyPr>
            <a:normAutofit/>
          </a:bodyPr>
          <a:lstStyle/>
          <a:p>
            <a:r>
              <a:rPr lang="en-US" dirty="0"/>
              <a:t>Select one of two possible execution paths, based on the result of a comparison.</a:t>
            </a:r>
          </a:p>
          <a:p>
            <a:r>
              <a:rPr lang="en-US" dirty="0"/>
              <a:t>General format:</a:t>
            </a:r>
          </a:p>
          <a:p>
            <a:pPr marL="0" lvl="1" indent="762000">
              <a:buSzTx/>
              <a:buFontTx/>
              <a:buNone/>
              <a:tabLst>
                <a:tab pos="1498600" algn="l"/>
              </a:tabLst>
              <a:defRPr b="1">
                <a:latin typeface="Courier"/>
                <a:ea typeface="Courier"/>
                <a:cs typeface="Courier"/>
                <a:sym typeface="Courier"/>
              </a:defRPr>
            </a:pPr>
            <a:r>
              <a:rPr lang="en-US" sz="1800" dirty="0"/>
              <a:t>if ( </a:t>
            </a:r>
            <a:r>
              <a:rPr lang="en-US" sz="1800" i="1" dirty="0"/>
              <a:t>expression</a:t>
            </a:r>
            <a:r>
              <a:rPr lang="en-US" sz="1800" dirty="0"/>
              <a:t> )</a:t>
            </a:r>
          </a:p>
          <a:p>
            <a:pPr marL="0" lvl="2" indent="1206500">
              <a:buSzTx/>
              <a:buFontTx/>
              <a:buNone/>
              <a:tabLst>
                <a:tab pos="1943100" algn="l"/>
              </a:tabLst>
              <a:defRPr i="1">
                <a:latin typeface="Courier"/>
                <a:ea typeface="Courier"/>
                <a:cs typeface="Courier"/>
                <a:sym typeface="Courier"/>
              </a:defRPr>
            </a:pPr>
            <a:r>
              <a:rPr lang="en-US" sz="1800" dirty="0"/>
              <a:t>statement block 1</a:t>
            </a:r>
          </a:p>
          <a:p>
            <a:pPr marL="0" lvl="1" indent="762000">
              <a:buSzTx/>
              <a:buFontTx/>
              <a:buNone/>
              <a:tabLst>
                <a:tab pos="1498600" algn="l"/>
              </a:tabLst>
              <a:defRPr b="1">
                <a:latin typeface="Courier"/>
                <a:ea typeface="Courier"/>
                <a:cs typeface="Courier"/>
                <a:sym typeface="Courier"/>
              </a:defRPr>
            </a:pPr>
            <a:r>
              <a:rPr lang="en-US" sz="1800" dirty="0"/>
              <a:t>else</a:t>
            </a:r>
          </a:p>
          <a:p>
            <a:pPr marL="0" lvl="2" indent="1206500">
              <a:buSzTx/>
              <a:buFontTx/>
              <a:buNone/>
              <a:tabLst>
                <a:tab pos="1943100" algn="l"/>
              </a:tabLst>
              <a:defRPr i="1">
                <a:latin typeface="Courier"/>
                <a:ea typeface="Courier"/>
                <a:cs typeface="Courier"/>
                <a:sym typeface="Courier"/>
              </a:defRPr>
            </a:pPr>
            <a:r>
              <a:rPr lang="en-US" sz="1800" dirty="0"/>
              <a:t>statement block 2</a:t>
            </a:r>
          </a:p>
          <a:p>
            <a:endParaRPr lang="en-US" dirty="0"/>
          </a:p>
        </p:txBody>
      </p:sp>
    </p:spTree>
    <p:extLst>
      <p:ext uri="{BB962C8B-B14F-4D97-AF65-F5344CB8AC3E}">
        <p14:creationId xmlns:p14="http://schemas.microsoft.com/office/powerpoint/2010/main" val="233921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Two-way </a:t>
            </a:r>
            <a:r>
              <a:rPr lang="en-US" b="1" dirty="0">
                <a:latin typeface="Courier New" panose="02070309020205020404" pitchFamily="49" charset="0"/>
                <a:cs typeface="Courier New" panose="02070309020205020404" pitchFamily="49" charset="0"/>
              </a:rPr>
              <a:t>if</a:t>
            </a:r>
            <a:r>
              <a:rPr lang="en-US" b="1" dirty="0"/>
              <a:t> Statement</a:t>
            </a:r>
          </a:p>
        </p:txBody>
      </p:sp>
      <p:sp>
        <p:nvSpPr>
          <p:cNvPr id="5" name="Rectangle 3"/>
          <p:cNvSpPr>
            <a:spLocks noGrp="1" noChangeArrowheads="1"/>
          </p:cNvSpPr>
          <p:nvPr>
            <p:ph type="body" idx="1"/>
          </p:nvPr>
        </p:nvSpPr>
        <p:spPr>
          <a:xfrm>
            <a:off x="252753" y="1030353"/>
            <a:ext cx="5288178" cy="1016178"/>
          </a:xfrm>
        </p:spPr>
        <p:txBody>
          <a:bodyPr>
            <a:noAutofit/>
          </a:bodyPr>
          <a:lstStyle/>
          <a:p>
            <a:pPr>
              <a:lnSpc>
                <a:spcPct val="90000"/>
              </a:lnSpc>
              <a:buFont typeface="Monotype Sorts" pitchFamily="2" charset="2"/>
              <a:buNone/>
            </a:pPr>
            <a:r>
              <a:rPr lang="en-US" altLang="en-US" sz="1400" b="1" dirty="0">
                <a:latin typeface="Courier New" pitchFamily="49" charset="0"/>
              </a:rPr>
              <a:t>if (</a:t>
            </a:r>
            <a:r>
              <a:rPr lang="en-US" altLang="en-US" sz="1400" b="1" dirty="0" err="1">
                <a:latin typeface="Courier New" pitchFamily="49" charset="0"/>
              </a:rPr>
              <a:t>boolean</a:t>
            </a:r>
            <a:r>
              <a:rPr lang="en-US" altLang="en-US" sz="1400" b="1" dirty="0">
                <a:latin typeface="Courier New" pitchFamily="49" charset="0"/>
              </a:rPr>
              <a:t>-expression) { </a:t>
            </a:r>
          </a:p>
          <a:p>
            <a:pPr>
              <a:lnSpc>
                <a:spcPct val="90000"/>
              </a:lnSpc>
              <a:buFont typeface="Monotype Sorts" pitchFamily="2" charset="2"/>
              <a:buNone/>
            </a:pPr>
            <a:r>
              <a:rPr lang="en-US" altLang="en-US" sz="1400" b="1" dirty="0">
                <a:latin typeface="Courier New" pitchFamily="49" charset="0"/>
              </a:rPr>
              <a:t>  	statement(s)-for-the-true-case;</a:t>
            </a:r>
          </a:p>
          <a:p>
            <a:pPr>
              <a:lnSpc>
                <a:spcPct val="90000"/>
              </a:lnSpc>
              <a:buFont typeface="Monotype Sorts" pitchFamily="2" charset="2"/>
              <a:buNone/>
            </a:pPr>
            <a:r>
              <a:rPr lang="en-US" altLang="en-US" sz="1400" b="1" dirty="0">
                <a:latin typeface="Courier New" pitchFamily="49" charset="0"/>
              </a:rPr>
              <a:t>} else {</a:t>
            </a:r>
          </a:p>
          <a:p>
            <a:pPr>
              <a:lnSpc>
                <a:spcPct val="90000"/>
              </a:lnSpc>
              <a:buFont typeface="Monotype Sorts" pitchFamily="2" charset="2"/>
              <a:buNone/>
            </a:pPr>
            <a:r>
              <a:rPr lang="en-US" altLang="en-US" sz="1400" b="1" dirty="0">
                <a:latin typeface="Courier New" pitchFamily="49" charset="0"/>
              </a:rPr>
              <a:t>  	statement(s)-for-the-false-case;</a:t>
            </a:r>
          </a:p>
          <a:p>
            <a:pPr>
              <a:lnSpc>
                <a:spcPct val="90000"/>
              </a:lnSpc>
              <a:buFont typeface="Monotype Sorts" pitchFamily="2" charset="2"/>
              <a:buNone/>
            </a:pPr>
            <a:r>
              <a:rPr lang="en-US" altLang="en-US" sz="1400" b="1" dirty="0">
                <a:latin typeface="Courier New" pitchFamily="49" charset="0"/>
              </a:rPr>
              <a:t>}</a:t>
            </a:r>
            <a:endParaRPr lang="en-US" altLang="en-US" sz="1400" b="1" dirty="0"/>
          </a:p>
        </p:txBody>
      </p:sp>
      <p:grpSp>
        <p:nvGrpSpPr>
          <p:cNvPr id="4" name="Group 3" descr="The result of the boolean expression in the diamond box determines the statements to be executed. If the boolean expression results in true then the stements in the rectangular box for the true case are executed, otherwise the statements in the rectangular box corresponding to false are executed. " title="Two-way if Statement flow chart"/>
          <p:cNvGrpSpPr/>
          <p:nvPr/>
        </p:nvGrpSpPr>
        <p:grpSpPr>
          <a:xfrm>
            <a:off x="2121936" y="1515583"/>
            <a:ext cx="6932398" cy="2876571"/>
            <a:chOff x="2121936" y="1515583"/>
            <a:chExt cx="6932398" cy="2876571"/>
          </a:xfrm>
        </p:grpSpPr>
        <p:sp>
          <p:nvSpPr>
            <p:cNvPr id="6" name="Flowchart: Decision 5"/>
            <p:cNvSpPr/>
            <p:nvPr/>
          </p:nvSpPr>
          <p:spPr>
            <a:xfrm>
              <a:off x="4981659" y="2031952"/>
              <a:ext cx="1885443" cy="738247"/>
            </a:xfrm>
            <a:prstGeom prst="flowChartDecision">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descr="arrow pointing to &quot;boolean expression&quot;"/>
            <p:cNvCxnSpPr>
              <a:endCxn id="6" idx="0"/>
            </p:cNvCxnSpPr>
            <p:nvPr/>
          </p:nvCxnSpPr>
          <p:spPr>
            <a:xfrm>
              <a:off x="5924380" y="1572578"/>
              <a:ext cx="1" cy="4593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descr="arrow labeled as &quot;false&quot;, pointing from &quot;boolean expression&quot; to &quot;statement(s) for the false case&quot;"/>
            <p:cNvCxnSpPr>
              <a:stCxn id="6" idx="3"/>
            </p:cNvCxnSpPr>
            <p:nvPr/>
          </p:nvCxnSpPr>
          <p:spPr>
            <a:xfrm>
              <a:off x="6867102" y="2401076"/>
              <a:ext cx="1492723" cy="771033"/>
            </a:xfrm>
            <a:prstGeom prst="bentConnector3">
              <a:avLst>
                <a:gd name="adj1" fmla="val 9987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540931" y="2117151"/>
              <a:ext cx="1213806" cy="523220"/>
            </a:xfrm>
            <a:prstGeom prst="rect">
              <a:avLst/>
            </a:prstGeom>
            <a:noFill/>
          </p:spPr>
          <p:txBody>
            <a:bodyPr wrap="square" rtlCol="0">
              <a:spAutoFit/>
            </a:bodyPr>
            <a:lstStyle/>
            <a:p>
              <a:r>
                <a:rPr lang="en-US" dirty="0"/>
                <a:t>Boolean Expression</a:t>
              </a:r>
            </a:p>
          </p:txBody>
        </p:sp>
        <p:sp>
          <p:nvSpPr>
            <p:cNvPr id="13" name="TextBox 12"/>
            <p:cNvSpPr txBox="1"/>
            <p:nvPr/>
          </p:nvSpPr>
          <p:spPr>
            <a:xfrm>
              <a:off x="3948912" y="2111881"/>
              <a:ext cx="1213806" cy="307777"/>
            </a:xfrm>
            <a:prstGeom prst="rect">
              <a:avLst/>
            </a:prstGeom>
            <a:noFill/>
          </p:spPr>
          <p:txBody>
            <a:bodyPr wrap="square" rtlCol="0">
              <a:spAutoFit/>
            </a:bodyPr>
            <a:lstStyle/>
            <a:p>
              <a:r>
                <a:rPr lang="en-US" dirty="0"/>
                <a:t>true</a:t>
              </a:r>
            </a:p>
          </p:txBody>
        </p:sp>
        <p:sp>
          <p:nvSpPr>
            <p:cNvPr id="15" name="Oval 14"/>
            <p:cNvSpPr/>
            <p:nvPr/>
          </p:nvSpPr>
          <p:spPr>
            <a:xfrm>
              <a:off x="5895784" y="1515583"/>
              <a:ext cx="45719" cy="45719"/>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959172" y="4346435"/>
              <a:ext cx="45719" cy="45719"/>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Elbow Connector 16" descr="arrow labeled as &quot;true&quot;, pointing from &quot;boolean expression&quot; to &quot;statement(s) for the true case&quot;"/>
            <p:cNvCxnSpPr>
              <a:stCxn id="6" idx="1"/>
            </p:cNvCxnSpPr>
            <p:nvPr/>
          </p:nvCxnSpPr>
          <p:spPr>
            <a:xfrm rot="10800000" flipV="1">
              <a:off x="3390563" y="2401076"/>
              <a:ext cx="1591096" cy="820872"/>
            </a:xfrm>
            <a:prstGeom prst="bentConnector3">
              <a:avLst>
                <a:gd name="adj1" fmla="val 10035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670148" y="2093765"/>
              <a:ext cx="1213806" cy="307777"/>
            </a:xfrm>
            <a:prstGeom prst="rect">
              <a:avLst/>
            </a:prstGeom>
            <a:noFill/>
          </p:spPr>
          <p:txBody>
            <a:bodyPr wrap="square" rtlCol="0">
              <a:spAutoFit/>
            </a:bodyPr>
            <a:lstStyle/>
            <a:p>
              <a:r>
                <a:rPr lang="en-US" dirty="0"/>
                <a:t>false</a:t>
              </a:r>
            </a:p>
          </p:txBody>
        </p:sp>
        <p:sp>
          <p:nvSpPr>
            <p:cNvPr id="30" name="Flowchart: Process 29"/>
            <p:cNvSpPr/>
            <p:nvPr/>
          </p:nvSpPr>
          <p:spPr>
            <a:xfrm>
              <a:off x="2121936" y="3213610"/>
              <a:ext cx="2628802" cy="558350"/>
            </a:xfrm>
            <a:prstGeom prst="flowChartProcess">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2192944" y="3319054"/>
              <a:ext cx="2557794" cy="307777"/>
            </a:xfrm>
            <a:prstGeom prst="rect">
              <a:avLst/>
            </a:prstGeom>
            <a:noFill/>
          </p:spPr>
          <p:txBody>
            <a:bodyPr wrap="square" rtlCol="0">
              <a:spAutoFit/>
            </a:bodyPr>
            <a:lstStyle/>
            <a:p>
              <a:r>
                <a:rPr lang="en-US" dirty="0"/>
                <a:t>Statement(s) for the true case</a:t>
              </a:r>
            </a:p>
          </p:txBody>
        </p:sp>
        <p:sp>
          <p:nvSpPr>
            <p:cNvPr id="35" name="Flowchart: Process 34"/>
            <p:cNvSpPr/>
            <p:nvPr/>
          </p:nvSpPr>
          <p:spPr>
            <a:xfrm>
              <a:off x="6425532" y="3204170"/>
              <a:ext cx="2628802" cy="558350"/>
            </a:xfrm>
            <a:prstGeom prst="flowChartProcess">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6425532" y="3309614"/>
              <a:ext cx="2628802" cy="307777"/>
            </a:xfrm>
            <a:prstGeom prst="rect">
              <a:avLst/>
            </a:prstGeom>
            <a:noFill/>
          </p:spPr>
          <p:txBody>
            <a:bodyPr wrap="square" rtlCol="0">
              <a:spAutoFit/>
            </a:bodyPr>
            <a:lstStyle/>
            <a:p>
              <a:r>
                <a:rPr lang="en-US" dirty="0"/>
                <a:t>Statement(s) for the false case</a:t>
              </a:r>
            </a:p>
          </p:txBody>
        </p:sp>
        <p:cxnSp>
          <p:nvCxnSpPr>
            <p:cNvPr id="39" name="Elbow Connector 38" descr="arrow pointing from &quot;statement(s) for the true case&quot; meeting the arrow pointing from &quot;statement(s) for the false case&quot;"/>
            <p:cNvCxnSpPr>
              <a:stCxn id="30" idx="2"/>
              <a:endCxn id="16" idx="2"/>
            </p:cNvCxnSpPr>
            <p:nvPr/>
          </p:nvCxnSpPr>
          <p:spPr>
            <a:xfrm rot="16200000" flipH="1">
              <a:off x="4399087" y="2809209"/>
              <a:ext cx="597335" cy="2522835"/>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42" descr="arrow pointing from &quot;statement(s) for the false case&quot; meeting the arrow pointing from &quot;statement(s) for the true case&quot;"/>
            <p:cNvCxnSpPr>
              <a:endCxn id="16" idx="6"/>
            </p:cNvCxnSpPr>
            <p:nvPr/>
          </p:nvCxnSpPr>
          <p:spPr>
            <a:xfrm rot="10800000" flipV="1">
              <a:off x="6004891" y="3769177"/>
              <a:ext cx="2424642" cy="600118"/>
            </a:xfrm>
            <a:prstGeom prst="bentConnector3">
              <a:avLst>
                <a:gd name="adj1" fmla="val -395"/>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019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ourier New" panose="02070309020205020404" pitchFamily="49" charset="0"/>
                <a:cs typeface="Courier New" panose="02070309020205020404" pitchFamily="49" charset="0"/>
              </a:rPr>
              <a:t>if…else</a:t>
            </a:r>
            <a:r>
              <a:rPr lang="en-US" b="1" dirty="0"/>
              <a:t> Example</a:t>
            </a:r>
          </a:p>
        </p:txBody>
      </p:sp>
      <p:sp>
        <p:nvSpPr>
          <p:cNvPr id="5" name="Rectangle 3"/>
          <p:cNvSpPr>
            <a:spLocks noGrp="1" noChangeArrowheads="1"/>
          </p:cNvSpPr>
          <p:nvPr>
            <p:ph type="body" idx="1"/>
          </p:nvPr>
        </p:nvSpPr>
        <p:spPr>
          <a:xfrm>
            <a:off x="729841" y="1266739"/>
            <a:ext cx="8171397" cy="2273416"/>
          </a:xfrm>
        </p:spPr>
        <p:txBody>
          <a:bodyPr>
            <a:normAutofit/>
          </a:bodyPr>
          <a:lstStyle/>
          <a:p>
            <a:pPr>
              <a:buFont typeface="Monotype Sorts" pitchFamily="2" charset="2"/>
              <a:buNone/>
            </a:pPr>
            <a:r>
              <a:rPr lang="en-US" altLang="en-US" b="1" dirty="0">
                <a:latin typeface="Courier New" pitchFamily="49" charset="0"/>
              </a:rPr>
              <a:t>if (radius &gt;= 0) {   </a:t>
            </a:r>
          </a:p>
          <a:p>
            <a:pPr>
              <a:spcBef>
                <a:spcPct val="0"/>
              </a:spcBef>
              <a:buFont typeface="Monotype Sorts" pitchFamily="2" charset="2"/>
              <a:buNone/>
            </a:pPr>
            <a:r>
              <a:rPr lang="en-US" altLang="en-US" b="1" dirty="0">
                <a:latin typeface="Courier New" pitchFamily="49" charset="0"/>
              </a:rPr>
              <a:t>  area = radius * radius * 3.14159;</a:t>
            </a:r>
          </a:p>
          <a:p>
            <a:pPr>
              <a:spcBef>
                <a:spcPct val="0"/>
              </a:spcBef>
              <a:buFont typeface="Monotype Sorts" pitchFamily="2" charset="2"/>
              <a:buNone/>
            </a:pPr>
            <a:r>
              <a:rPr lang="en-US" altLang="en-US" b="1" dirty="0">
                <a:latin typeface="Courier New" pitchFamily="49" charset="0"/>
              </a:rPr>
              <a:t>  </a:t>
            </a:r>
            <a:r>
              <a:rPr lang="en-US" altLang="en-US" b="1" dirty="0" err="1">
                <a:latin typeface="Courier New" pitchFamily="49" charset="0"/>
              </a:rPr>
              <a:t>System.out.println</a:t>
            </a:r>
            <a:r>
              <a:rPr lang="en-US" altLang="en-US" b="1" dirty="0">
                <a:latin typeface="Courier New" pitchFamily="49" charset="0"/>
              </a:rPr>
              <a:t>("The area for the circle of radius " + radius  + " is " + area);</a:t>
            </a:r>
          </a:p>
          <a:p>
            <a:pPr>
              <a:spcBef>
                <a:spcPct val="0"/>
              </a:spcBef>
              <a:buFont typeface="Monotype Sorts" pitchFamily="2" charset="2"/>
              <a:buNone/>
            </a:pPr>
            <a:r>
              <a:rPr lang="en-US" altLang="en-US" b="1" dirty="0">
                <a:latin typeface="Courier New" pitchFamily="49" charset="0"/>
              </a:rPr>
              <a:t>} else </a:t>
            </a:r>
          </a:p>
          <a:p>
            <a:pPr>
              <a:spcBef>
                <a:spcPct val="0"/>
              </a:spcBef>
              <a:buFont typeface="Monotype Sorts" pitchFamily="2" charset="2"/>
              <a:buNone/>
            </a:pPr>
            <a:r>
              <a:rPr lang="en-US" altLang="en-US" b="1" dirty="0">
                <a:latin typeface="Courier New" pitchFamily="49" charset="0"/>
              </a:rPr>
              <a:t>  </a:t>
            </a:r>
            <a:r>
              <a:rPr lang="en-US" altLang="en-US" b="1" dirty="0" err="1">
                <a:latin typeface="Courier New" pitchFamily="49" charset="0"/>
              </a:rPr>
              <a:t>System.out.println</a:t>
            </a:r>
            <a:r>
              <a:rPr lang="en-US" altLang="en-US" b="1" dirty="0">
                <a:latin typeface="Courier New" pitchFamily="49" charset="0"/>
              </a:rPr>
              <a:t>("Negative input");</a:t>
            </a:r>
          </a:p>
          <a:p>
            <a:pPr>
              <a:spcBef>
                <a:spcPct val="0"/>
              </a:spcBef>
              <a:buFont typeface="Monotype Sorts" pitchFamily="2" charset="2"/>
              <a:buNone/>
            </a:pPr>
            <a:endParaRPr lang="en-US" altLang="en-US" sz="1600" b="1" dirty="0">
              <a:latin typeface="Courier New" pitchFamily="49" charset="0"/>
            </a:endParaRPr>
          </a:p>
        </p:txBody>
      </p:sp>
    </p:spTree>
    <p:extLst>
      <p:ext uri="{BB962C8B-B14F-4D97-AF65-F5344CB8AC3E}">
        <p14:creationId xmlns:p14="http://schemas.microsoft.com/office/powerpoint/2010/main" val="1759921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Empty Statements</a:t>
            </a:r>
          </a:p>
        </p:txBody>
      </p:sp>
      <p:sp>
        <p:nvSpPr>
          <p:cNvPr id="3" name="Text Placeholder 2"/>
          <p:cNvSpPr>
            <a:spLocks noGrp="1"/>
          </p:cNvSpPr>
          <p:nvPr>
            <p:ph type="body" idx="1"/>
          </p:nvPr>
        </p:nvSpPr>
        <p:spPr/>
        <p:txBody>
          <a:bodyPr>
            <a:normAutofit/>
          </a:bodyPr>
          <a:lstStyle/>
          <a:p>
            <a:r>
              <a:rPr lang="en-US" dirty="0"/>
              <a:t>A semicolon by itself is a valid (but non-functional) statement.</a:t>
            </a:r>
          </a:p>
          <a:p>
            <a:pPr marL="114300" indent="0">
              <a:buNone/>
            </a:pPr>
            <a:endParaRPr lang="en-US" dirty="0"/>
          </a:p>
          <a:p>
            <a:r>
              <a:rPr lang="en-US" b="1" dirty="0"/>
              <a:t>Common mistake: </a:t>
            </a:r>
            <a:r>
              <a:rPr lang="en-US" dirty="0"/>
              <a:t>putting a semicolon immediately after an </a:t>
            </a:r>
            <a:r>
              <a:rPr lang="en-US" b="1" dirty="0">
                <a:latin typeface="Courier New" pitchFamily="49" charset="0"/>
                <a:ea typeface="Courier"/>
                <a:cs typeface="Courier"/>
                <a:sym typeface="Courier"/>
              </a:rPr>
              <a:t>if</a:t>
            </a:r>
            <a:r>
              <a:rPr lang="en-US" dirty="0"/>
              <a:t> statement:</a:t>
            </a:r>
          </a:p>
          <a:p>
            <a:pPr marL="0" lvl="0" indent="317500" eaLnBrk="0" fontAlgn="base" hangingPunct="0">
              <a:lnSpc>
                <a:spcPct val="100000"/>
              </a:lnSpc>
              <a:spcBef>
                <a:spcPts val="818"/>
              </a:spcBef>
              <a:spcAft>
                <a:spcPct val="0"/>
              </a:spcAft>
              <a:buClr>
                <a:srgbClr val="D34817"/>
              </a:buClr>
              <a:buSzTx/>
              <a:buNone/>
              <a:tabLst>
                <a:tab pos="1054100" algn="l"/>
              </a:tabLst>
              <a:defRPr sz="3800">
                <a:latin typeface="Courier"/>
                <a:ea typeface="Courier"/>
                <a:cs typeface="Courier"/>
                <a:sym typeface="Courier"/>
              </a:defRPr>
            </a:pPr>
            <a:r>
              <a:rPr lang="en-US" sz="1600" kern="1200" dirty="0">
                <a:solidFill>
                  <a:schemeClr val="bg2"/>
                </a:solidFill>
                <a:latin typeface="Courier"/>
                <a:sym typeface="Courier"/>
              </a:rPr>
              <a:t>	</a:t>
            </a:r>
            <a:r>
              <a:rPr lang="en-US" sz="1800" b="1" dirty="0">
                <a:latin typeface="Courier New" pitchFamily="49" charset="0"/>
                <a:sym typeface="Courier"/>
              </a:rPr>
              <a:t>if (x &gt; 5);</a:t>
            </a:r>
          </a:p>
          <a:p>
            <a:pPr marL="114300" lvl="1" indent="0" eaLnBrk="0" fontAlgn="base" hangingPunct="0">
              <a:buSzPts val="1800"/>
              <a:buNone/>
              <a:tabLst>
                <a:tab pos="1498600" algn="l"/>
              </a:tabLst>
              <a:defRPr sz="3800">
                <a:latin typeface="Courier"/>
                <a:ea typeface="Courier"/>
                <a:cs typeface="Courier"/>
                <a:sym typeface="Courier"/>
              </a:defRPr>
            </a:pPr>
            <a:r>
              <a:rPr lang="en-US" sz="1800" b="1" dirty="0">
                <a:latin typeface="Courier New" pitchFamily="49" charset="0"/>
                <a:sym typeface="Courier"/>
              </a:rPr>
              <a:t>		</a:t>
            </a:r>
            <a:r>
              <a:rPr lang="en-US" sz="1800" b="1" dirty="0" err="1">
                <a:latin typeface="Courier New" pitchFamily="49" charset="0"/>
                <a:sym typeface="Courier"/>
              </a:rPr>
              <a:t>System.out.print</a:t>
            </a:r>
            <a:r>
              <a:rPr lang="en-US" sz="1800" b="1" dirty="0">
                <a:latin typeface="Courier New" pitchFamily="49" charset="0"/>
                <a:sym typeface="Courier"/>
              </a:rPr>
              <a:t>("x greater than 5!");</a:t>
            </a:r>
          </a:p>
          <a:p>
            <a:pPr marL="114300" lvl="1" indent="0" eaLnBrk="0" fontAlgn="base" hangingPunct="0">
              <a:buSzPts val="1800"/>
              <a:buNone/>
              <a:tabLst>
                <a:tab pos="1498600" algn="l"/>
              </a:tabLst>
              <a:defRPr sz="3800">
                <a:latin typeface="Courier"/>
                <a:ea typeface="Courier"/>
                <a:cs typeface="Courier"/>
                <a:sym typeface="Courier"/>
              </a:defRPr>
            </a:pPr>
            <a:endParaRPr lang="en-US" sz="1800" dirty="0">
              <a:sym typeface="Courier"/>
            </a:endParaRPr>
          </a:p>
          <a:p>
            <a:pPr marL="457200" lvl="1" indent="-342900" eaLnBrk="0" fontAlgn="base" hangingPunct="0">
              <a:buSzPts val="1800"/>
              <a:buFont typeface="Arial"/>
              <a:buChar char="●"/>
              <a:tabLst>
                <a:tab pos="1498600" algn="l"/>
              </a:tabLst>
              <a:defRPr sz="3800">
                <a:latin typeface="Courier"/>
                <a:ea typeface="Courier"/>
                <a:cs typeface="Courier"/>
                <a:sym typeface="Courier"/>
              </a:defRPr>
            </a:pPr>
            <a:r>
              <a:rPr lang="en-US" sz="1800" dirty="0">
                <a:latin typeface="+mn-lt"/>
              </a:rPr>
              <a:t>With the semicolon, the print statement will execute regardless of the value of </a:t>
            </a:r>
            <a:r>
              <a:rPr lang="en-US" sz="1800" b="1" dirty="0">
                <a:latin typeface="Courier New" pitchFamily="49" charset="0"/>
                <a:ea typeface="Courier"/>
                <a:cs typeface="Courier"/>
              </a:rPr>
              <a:t>x.</a:t>
            </a:r>
          </a:p>
          <a:p>
            <a:pPr marL="0" lvl="1" indent="762000" eaLnBrk="0" fontAlgn="base" hangingPunct="0">
              <a:lnSpc>
                <a:spcPct val="100000"/>
              </a:lnSpc>
              <a:spcBef>
                <a:spcPts val="533"/>
              </a:spcBef>
              <a:spcAft>
                <a:spcPct val="0"/>
              </a:spcAft>
              <a:buClr>
                <a:srgbClr val="9B2D1F"/>
              </a:buClr>
              <a:buSzTx/>
              <a:buNone/>
              <a:tabLst>
                <a:tab pos="1498600" algn="l"/>
              </a:tabLst>
              <a:defRPr sz="3800">
                <a:latin typeface="Courier"/>
                <a:ea typeface="Courier"/>
                <a:cs typeface="Courier"/>
                <a:sym typeface="Courier"/>
              </a:defRPr>
            </a:pPr>
            <a:endParaRPr lang="en-US" sz="1800" kern="1200" dirty="0">
              <a:solidFill>
                <a:prstClr val="black"/>
              </a:solidFill>
              <a:latin typeface="Courier"/>
              <a:sym typeface="Courier"/>
            </a:endParaRPr>
          </a:p>
          <a:p>
            <a:pPr marL="114300" indent="0">
              <a:buNone/>
            </a:pPr>
            <a:endParaRPr lang="en-US" dirty="0"/>
          </a:p>
        </p:txBody>
      </p:sp>
    </p:spTree>
    <p:extLst>
      <p:ext uri="{BB962C8B-B14F-4D97-AF65-F5344CB8AC3E}">
        <p14:creationId xmlns:p14="http://schemas.microsoft.com/office/powerpoint/2010/main" val="400044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More on </a:t>
            </a:r>
            <a:r>
              <a:rPr lang="en-US" b="1" dirty="0">
                <a:latin typeface="Courier New" panose="02070309020205020404" pitchFamily="49" charset="0"/>
                <a:cs typeface="Courier New" panose="02070309020205020404" pitchFamily="49" charset="0"/>
              </a:rPr>
              <a:t>if</a:t>
            </a:r>
            <a:r>
              <a:rPr lang="en-US" b="1" dirty="0"/>
              <a:t> Statements</a:t>
            </a:r>
          </a:p>
        </p:txBody>
      </p:sp>
      <p:sp>
        <p:nvSpPr>
          <p:cNvPr id="3" name="Text Placeholder 2"/>
          <p:cNvSpPr>
            <a:spLocks noGrp="1"/>
          </p:cNvSpPr>
          <p:nvPr>
            <p:ph type="body" idx="1"/>
          </p:nvPr>
        </p:nvSpPr>
        <p:spPr/>
        <p:txBody>
          <a:bodyPr>
            <a:normAutofit/>
          </a:bodyPr>
          <a:lstStyle/>
          <a:p>
            <a:pPr marL="457200" lvl="1" indent="-342900" eaLnBrk="0" fontAlgn="base" hangingPunct="0">
              <a:buSzPts val="1800"/>
              <a:buFont typeface="Arial"/>
              <a:buChar char="●"/>
              <a:tabLst>
                <a:tab pos="1498600" algn="l"/>
              </a:tabLst>
              <a:defRPr sz="3800">
                <a:latin typeface="Courier"/>
                <a:ea typeface="Courier"/>
                <a:cs typeface="Courier"/>
                <a:sym typeface="Courier"/>
              </a:defRPr>
            </a:pPr>
            <a:r>
              <a:rPr lang="en-US" sz="1800" dirty="0">
                <a:latin typeface="+mn-lt"/>
              </a:rPr>
              <a:t>An </a:t>
            </a:r>
            <a:r>
              <a:rPr lang="en-US" sz="1800" b="1" dirty="0">
                <a:latin typeface="Courier New" pitchFamily="49" charset="0"/>
                <a:ea typeface="Courier"/>
                <a:cs typeface="Courier"/>
              </a:rPr>
              <a:t>if </a:t>
            </a:r>
            <a:r>
              <a:rPr lang="en-US" sz="1800" dirty="0">
                <a:latin typeface="+mn-lt"/>
              </a:rPr>
              <a:t>statement executes its body when (and only when) the condition is </a:t>
            </a:r>
            <a:r>
              <a:rPr lang="en-US" sz="1800" b="1" dirty="0">
                <a:latin typeface="Courier New" pitchFamily="49" charset="0"/>
                <a:ea typeface="Courier"/>
                <a:cs typeface="Courier"/>
              </a:rPr>
              <a:t>true.</a:t>
            </a:r>
          </a:p>
          <a:p>
            <a:pPr marL="914400" lvl="2" indent="-342900" eaLnBrk="0" fontAlgn="base" hangingPunct="0">
              <a:buSzPts val="1800"/>
              <a:buFont typeface="Arial"/>
              <a:buChar char="●"/>
              <a:tabLst>
                <a:tab pos="1498600" algn="l"/>
              </a:tabLst>
              <a:defRPr sz="3800">
                <a:latin typeface="Courier"/>
                <a:ea typeface="Courier"/>
                <a:cs typeface="Courier"/>
                <a:sym typeface="Courier"/>
              </a:defRPr>
            </a:pPr>
            <a:r>
              <a:rPr lang="en-US" sz="1800" dirty="0">
                <a:latin typeface="+mn-lt"/>
              </a:rPr>
              <a:t>If the condition is </a:t>
            </a:r>
            <a:r>
              <a:rPr lang="en-US" sz="1800" b="1" dirty="0">
                <a:latin typeface="Courier New" pitchFamily="49" charset="0"/>
                <a:ea typeface="Courier"/>
                <a:cs typeface="Courier"/>
              </a:rPr>
              <a:t>false</a:t>
            </a:r>
            <a:r>
              <a:rPr lang="en-US" sz="1800" dirty="0">
                <a:latin typeface="+mn-lt"/>
              </a:rPr>
              <a:t>, the body is skipped, and execution picks up at the first statement after the </a:t>
            </a:r>
            <a:r>
              <a:rPr lang="en-US" sz="1800" b="1" dirty="0">
                <a:latin typeface="Courier New" pitchFamily="49" charset="0"/>
                <a:ea typeface="Courier"/>
                <a:cs typeface="Courier"/>
              </a:rPr>
              <a:t>if.</a:t>
            </a:r>
          </a:p>
          <a:p>
            <a:pPr marL="571500" lvl="2" indent="0" eaLnBrk="0" fontAlgn="base" hangingPunct="0">
              <a:buSzPts val="1800"/>
              <a:buNone/>
              <a:tabLst>
                <a:tab pos="1498600" algn="l"/>
              </a:tabLst>
              <a:defRPr sz="3800">
                <a:latin typeface="Courier"/>
                <a:ea typeface="Courier"/>
                <a:cs typeface="Courier"/>
                <a:sym typeface="Courier"/>
              </a:defRPr>
            </a:pPr>
            <a:endParaRPr lang="en-US" sz="1800" dirty="0">
              <a:latin typeface="+mn-lt"/>
            </a:endParaRPr>
          </a:p>
          <a:p>
            <a:pPr marL="457200" lvl="1" indent="-342900" eaLnBrk="0" fontAlgn="base" hangingPunct="0">
              <a:buSzPts val="1800"/>
              <a:buFont typeface="Arial"/>
              <a:buChar char="●"/>
              <a:tabLst>
                <a:tab pos="1498600" algn="l"/>
              </a:tabLst>
              <a:defRPr sz="3800">
                <a:latin typeface="Courier"/>
                <a:ea typeface="Courier"/>
                <a:cs typeface="Courier"/>
                <a:sym typeface="Courier"/>
              </a:defRPr>
            </a:pPr>
            <a:r>
              <a:rPr lang="en-US" sz="1800" b="1" dirty="0">
                <a:latin typeface="+mn-lt"/>
                <a:ea typeface="Courier"/>
                <a:cs typeface="Courier"/>
                <a:sym typeface="Courier"/>
              </a:rPr>
              <a:t>By default, the body of an if statement is restricted to the first statement that follows the </a:t>
            </a:r>
            <a:r>
              <a:rPr lang="en-US" sz="1800" b="1" dirty="0">
                <a:latin typeface="Courier New" pitchFamily="49" charset="0"/>
                <a:ea typeface="Courier"/>
                <a:cs typeface="Courier"/>
                <a:sym typeface="Courier"/>
              </a:rPr>
              <a:t>“if (condition)” </a:t>
            </a:r>
            <a:r>
              <a:rPr lang="en-US" sz="1800" b="1" dirty="0">
                <a:latin typeface="+mn-lt"/>
                <a:ea typeface="Courier"/>
                <a:cs typeface="Courier"/>
                <a:sym typeface="Courier"/>
              </a:rPr>
              <a:t>line.</a:t>
            </a:r>
          </a:p>
          <a:p>
            <a:pPr marL="914400" lvl="2" indent="-342900" eaLnBrk="0" fontAlgn="base" hangingPunct="0">
              <a:buSzPts val="1800"/>
              <a:buFont typeface="Arial"/>
              <a:buChar char="●"/>
              <a:tabLst>
                <a:tab pos="1498600" algn="l"/>
              </a:tabLst>
              <a:defRPr sz="3800">
                <a:latin typeface="Courier"/>
                <a:ea typeface="Courier"/>
                <a:cs typeface="Courier"/>
                <a:sym typeface="Courier"/>
              </a:defRPr>
            </a:pPr>
            <a:r>
              <a:rPr lang="en-US" sz="1800" b="1" dirty="0">
                <a:latin typeface="+mn-lt"/>
                <a:ea typeface="Courier"/>
                <a:cs typeface="Courier"/>
                <a:sym typeface="Courier"/>
              </a:rPr>
              <a:t>Indentation doesn’t matter</a:t>
            </a:r>
          </a:p>
          <a:p>
            <a:pPr marL="914400" lvl="2" indent="-342900" eaLnBrk="0" fontAlgn="base" hangingPunct="0">
              <a:buSzPts val="1800"/>
              <a:buFont typeface="Arial"/>
              <a:buChar char="●"/>
              <a:tabLst>
                <a:tab pos="1498600" algn="l"/>
              </a:tabLst>
              <a:defRPr sz="3800">
                <a:latin typeface="Courier"/>
                <a:ea typeface="Courier"/>
                <a:cs typeface="Courier"/>
                <a:sym typeface="Courier"/>
              </a:defRPr>
            </a:pPr>
            <a:r>
              <a:rPr lang="en-US" sz="1800" b="1" dirty="0">
                <a:latin typeface="+mn-lt"/>
                <a:ea typeface="Courier"/>
                <a:cs typeface="Courier"/>
                <a:sym typeface="Courier"/>
              </a:rPr>
              <a:t>This can lead to trouble...</a:t>
            </a:r>
          </a:p>
          <a:p>
            <a:pPr marL="457200" lvl="1" indent="-342900" eaLnBrk="0" fontAlgn="base" hangingPunct="0">
              <a:buSzPts val="1800"/>
              <a:buFont typeface="Arial"/>
              <a:buChar char="●"/>
              <a:tabLst>
                <a:tab pos="1498600" algn="l"/>
              </a:tabLst>
              <a:defRPr sz="3800">
                <a:latin typeface="Courier"/>
                <a:ea typeface="Courier"/>
                <a:cs typeface="Courier"/>
                <a:sym typeface="Courier"/>
              </a:defRPr>
            </a:pPr>
            <a:endParaRPr lang="en-US" sz="1800" kern="1200" dirty="0">
              <a:solidFill>
                <a:prstClr val="black"/>
              </a:solidFill>
              <a:latin typeface="Courier"/>
              <a:sym typeface="Courier"/>
            </a:endParaRPr>
          </a:p>
          <a:p>
            <a:pPr marL="457200" lvl="1" indent="-342900" eaLnBrk="0" fontAlgn="base" hangingPunct="0">
              <a:buSzPts val="1800"/>
              <a:buFont typeface="Arial"/>
              <a:buChar char="●"/>
              <a:tabLst>
                <a:tab pos="1498600" algn="l"/>
              </a:tabLst>
              <a:defRPr sz="3800">
                <a:latin typeface="Courier"/>
                <a:ea typeface="Courier"/>
                <a:cs typeface="Courier"/>
                <a:sym typeface="Courier"/>
              </a:defRPr>
            </a:pPr>
            <a:endParaRPr lang="en-US" sz="1800" kern="1200" dirty="0">
              <a:solidFill>
                <a:prstClr val="black"/>
              </a:solidFill>
              <a:latin typeface="Courier"/>
              <a:sym typeface="Courier"/>
            </a:endParaRPr>
          </a:p>
          <a:p>
            <a:pPr marL="114300" indent="0">
              <a:buNone/>
            </a:pPr>
            <a:endParaRPr lang="en-US" dirty="0"/>
          </a:p>
        </p:txBody>
      </p:sp>
    </p:spTree>
    <p:extLst>
      <p:ext uri="{BB962C8B-B14F-4D97-AF65-F5344CB8AC3E}">
        <p14:creationId xmlns:p14="http://schemas.microsoft.com/office/powerpoint/2010/main" val="1120584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Compound Statements</a:t>
            </a:r>
          </a:p>
        </p:txBody>
      </p:sp>
      <p:sp>
        <p:nvSpPr>
          <p:cNvPr id="3" name="Text Placeholder 2"/>
          <p:cNvSpPr>
            <a:spLocks noGrp="1"/>
          </p:cNvSpPr>
          <p:nvPr>
            <p:ph type="body" idx="1"/>
          </p:nvPr>
        </p:nvSpPr>
        <p:spPr/>
        <p:txBody>
          <a:bodyPr>
            <a:normAutofit fontScale="92500" lnSpcReduction="20000"/>
          </a:bodyPr>
          <a:lstStyle/>
          <a:p>
            <a:pPr marL="914400" lvl="2" indent="-342900" eaLnBrk="0" fontAlgn="base" hangingPunct="0">
              <a:buSzPts val="1800"/>
              <a:buFont typeface="Arial"/>
              <a:buChar char="●"/>
              <a:tabLst>
                <a:tab pos="1498600" algn="l"/>
              </a:tabLst>
              <a:defRPr sz="3800">
                <a:latin typeface="Courier"/>
                <a:ea typeface="Courier"/>
                <a:cs typeface="Courier"/>
                <a:sym typeface="Courier"/>
              </a:defRPr>
            </a:pPr>
            <a:r>
              <a:rPr lang="en-US" sz="1900" b="1" dirty="0">
                <a:latin typeface="Courier New" pitchFamily="49" charset="0"/>
                <a:ea typeface="Courier"/>
                <a:cs typeface="Courier"/>
                <a:sym typeface="Courier"/>
              </a:rPr>
              <a:t>if</a:t>
            </a:r>
            <a:r>
              <a:rPr lang="en-US" sz="1800" b="1" dirty="0">
                <a:latin typeface="+mn-lt"/>
                <a:ea typeface="Courier"/>
                <a:cs typeface="Courier"/>
                <a:sym typeface="Courier"/>
              </a:rPr>
              <a:t> and </a:t>
            </a:r>
            <a:r>
              <a:rPr lang="en-US" sz="1900" b="1" dirty="0">
                <a:latin typeface="Courier New" pitchFamily="49" charset="0"/>
                <a:ea typeface="Courier"/>
                <a:cs typeface="Courier"/>
                <a:sym typeface="Courier"/>
              </a:rPr>
              <a:t>else</a:t>
            </a:r>
            <a:r>
              <a:rPr lang="en-US" sz="1800" b="1" dirty="0">
                <a:latin typeface="+mn-lt"/>
                <a:ea typeface="Courier"/>
                <a:cs typeface="Courier"/>
                <a:sym typeface="Courier"/>
              </a:rPr>
              <a:t> only executes a single following statement.</a:t>
            </a:r>
          </a:p>
          <a:p>
            <a:pPr marL="457200" lvl="1" indent="-342900" eaLnBrk="0" fontAlgn="base" hangingPunct="0">
              <a:buSzPts val="1800"/>
              <a:buFont typeface="Arial"/>
              <a:buChar char="●"/>
              <a:tabLst>
                <a:tab pos="1498600" algn="l"/>
              </a:tabLst>
              <a:defRPr sz="3800">
                <a:latin typeface="Courier"/>
                <a:ea typeface="Courier"/>
                <a:cs typeface="Courier"/>
                <a:sym typeface="Courier"/>
              </a:defRPr>
            </a:pPr>
            <a:r>
              <a:rPr lang="en-US" sz="1800" dirty="0">
                <a:latin typeface="+mn-lt"/>
                <a:ea typeface="Courier"/>
                <a:cs typeface="Courier"/>
                <a:sym typeface="Courier"/>
              </a:rPr>
              <a:t>We can get around this by enclosing multiple statements in braces, the resulting block is called a compound statement.</a:t>
            </a:r>
          </a:p>
          <a:p>
            <a:pPr marL="1171769" lvl="3" indent="317500" eaLnBrk="0" fontAlgn="base" hangingPunct="0">
              <a:lnSpc>
                <a:spcPct val="100000"/>
              </a:lnSpc>
              <a:spcAft>
                <a:spcPct val="0"/>
              </a:spcAft>
              <a:buClr>
                <a:srgbClr val="A28E6A"/>
              </a:buClr>
              <a:buSzTx/>
              <a:buNone/>
              <a:tabLst>
                <a:tab pos="1054100" algn="l"/>
              </a:tabLst>
            </a:pPr>
            <a:endParaRPr lang="en-US" sz="1600" kern="1200" dirty="0">
              <a:solidFill>
                <a:prstClr val="black"/>
              </a:solidFill>
              <a:latin typeface="Courier"/>
              <a:ea typeface="+mn-ea"/>
              <a:cs typeface="+mn-cs"/>
            </a:endParaRPr>
          </a:p>
          <a:p>
            <a:pPr marL="1171769" lvl="3" indent="317500" eaLnBrk="0" fontAlgn="base" hangingPunct="0">
              <a:lnSpc>
                <a:spcPct val="100000"/>
              </a:lnSpc>
              <a:spcAft>
                <a:spcPct val="0"/>
              </a:spcAft>
              <a:buClr>
                <a:srgbClr val="A28E6A"/>
              </a:buClr>
              <a:buSzTx/>
              <a:buNone/>
              <a:tabLst>
                <a:tab pos="1054100" algn="l"/>
              </a:tabLst>
            </a:pPr>
            <a:r>
              <a:rPr lang="en-US" sz="1900" b="1" dirty="0">
                <a:latin typeface="Courier New" pitchFamily="49" charset="0"/>
                <a:ea typeface="Courier"/>
                <a:cs typeface="Courier"/>
              </a:rPr>
              <a:t>if (hours &gt; 40)</a:t>
            </a:r>
          </a:p>
          <a:p>
            <a:pPr marL="1171769" lvl="3" indent="317500" eaLnBrk="0" fontAlgn="base" hangingPunct="0">
              <a:lnSpc>
                <a:spcPct val="100000"/>
              </a:lnSpc>
              <a:spcAft>
                <a:spcPct val="0"/>
              </a:spcAft>
              <a:buClr>
                <a:srgbClr val="A28E6A"/>
              </a:buClr>
              <a:buSzTx/>
              <a:buNone/>
              <a:tabLst>
                <a:tab pos="1054100" algn="l"/>
              </a:tabLst>
            </a:pPr>
            <a:r>
              <a:rPr lang="en-US" sz="1900" b="1" dirty="0">
                <a:latin typeface="Courier New" pitchFamily="49" charset="0"/>
                <a:ea typeface="Courier"/>
                <a:cs typeface="Courier"/>
              </a:rPr>
              <a:t>{</a:t>
            </a:r>
          </a:p>
          <a:p>
            <a:pPr marL="1171769" lvl="3" indent="317500" eaLnBrk="0" fontAlgn="base" hangingPunct="0">
              <a:lnSpc>
                <a:spcPct val="100000"/>
              </a:lnSpc>
              <a:spcAft>
                <a:spcPct val="0"/>
              </a:spcAft>
              <a:buClr>
                <a:srgbClr val="A28E6A"/>
              </a:buClr>
              <a:buSzTx/>
              <a:buNone/>
              <a:tabLst>
                <a:tab pos="1054100" algn="l"/>
              </a:tabLst>
            </a:pPr>
            <a:r>
              <a:rPr lang="en-US" sz="1900" b="1" dirty="0">
                <a:latin typeface="Courier New" pitchFamily="49" charset="0"/>
                <a:ea typeface="Courier"/>
                <a:cs typeface="Courier"/>
              </a:rPr>
              <a:t>    hours = hours - 40;</a:t>
            </a:r>
          </a:p>
          <a:p>
            <a:pPr marL="1171769" lvl="3" indent="317500" eaLnBrk="0" fontAlgn="base" hangingPunct="0">
              <a:lnSpc>
                <a:spcPct val="100000"/>
              </a:lnSpc>
              <a:spcAft>
                <a:spcPct val="0"/>
              </a:spcAft>
              <a:buClr>
                <a:srgbClr val="A28E6A"/>
              </a:buClr>
              <a:buSzTx/>
              <a:buNone/>
              <a:tabLst>
                <a:tab pos="1054100" algn="l"/>
              </a:tabLst>
            </a:pPr>
            <a:r>
              <a:rPr lang="en-US" sz="1900" b="1" dirty="0">
                <a:latin typeface="Courier New" pitchFamily="49" charset="0"/>
                <a:ea typeface="Courier"/>
                <a:cs typeface="Courier"/>
              </a:rPr>
              <a:t>    </a:t>
            </a:r>
            <a:r>
              <a:rPr lang="en-US" sz="1900" b="1" dirty="0" err="1">
                <a:latin typeface="Courier New" pitchFamily="49" charset="0"/>
                <a:ea typeface="Courier"/>
                <a:cs typeface="Courier"/>
              </a:rPr>
              <a:t>overtimePay</a:t>
            </a:r>
            <a:r>
              <a:rPr lang="en-US" sz="1900" b="1" dirty="0">
                <a:latin typeface="Courier New" pitchFamily="49" charset="0"/>
                <a:ea typeface="Courier"/>
                <a:cs typeface="Courier"/>
              </a:rPr>
              <a:t> = hours * 12.0;</a:t>
            </a:r>
          </a:p>
          <a:p>
            <a:pPr marL="1171769" lvl="3" indent="317500" eaLnBrk="0" fontAlgn="base" hangingPunct="0">
              <a:lnSpc>
                <a:spcPct val="100000"/>
              </a:lnSpc>
              <a:spcAft>
                <a:spcPct val="0"/>
              </a:spcAft>
              <a:buClr>
                <a:srgbClr val="A28E6A"/>
              </a:buClr>
              <a:buSzTx/>
              <a:buNone/>
              <a:tabLst>
                <a:tab pos="1054100" algn="l"/>
              </a:tabLst>
            </a:pPr>
            <a:r>
              <a:rPr lang="en-US" sz="1900" b="1" dirty="0">
                <a:latin typeface="Courier New" pitchFamily="49" charset="0"/>
                <a:ea typeface="Courier"/>
                <a:cs typeface="Courier"/>
              </a:rPr>
              <a:t>    </a:t>
            </a:r>
            <a:r>
              <a:rPr lang="en-US" sz="1900" b="1" dirty="0" err="1">
                <a:latin typeface="Courier New" pitchFamily="49" charset="0"/>
                <a:ea typeface="Courier"/>
                <a:cs typeface="Courier"/>
              </a:rPr>
              <a:t>totalPay</a:t>
            </a:r>
            <a:r>
              <a:rPr lang="en-US" sz="1900" b="1" dirty="0">
                <a:latin typeface="Courier New" pitchFamily="49" charset="0"/>
                <a:ea typeface="Courier"/>
                <a:cs typeface="Courier"/>
              </a:rPr>
              <a:t> = (40 * 8.0) + </a:t>
            </a:r>
            <a:r>
              <a:rPr lang="en-US" sz="1900" b="1" dirty="0" err="1">
                <a:latin typeface="Courier New" pitchFamily="49" charset="0"/>
                <a:ea typeface="Courier"/>
                <a:cs typeface="Courier"/>
              </a:rPr>
              <a:t>overtimePay</a:t>
            </a:r>
            <a:r>
              <a:rPr lang="en-US" sz="1900" b="1" dirty="0">
                <a:latin typeface="Courier New" pitchFamily="49" charset="0"/>
                <a:ea typeface="Courier"/>
                <a:cs typeface="Courier"/>
              </a:rPr>
              <a:t>;</a:t>
            </a:r>
          </a:p>
          <a:p>
            <a:pPr marL="1171769" lvl="3" indent="317500" eaLnBrk="0" fontAlgn="base" hangingPunct="0">
              <a:lnSpc>
                <a:spcPct val="100000"/>
              </a:lnSpc>
              <a:spcBef>
                <a:spcPts val="533"/>
              </a:spcBef>
              <a:spcAft>
                <a:spcPct val="0"/>
              </a:spcAft>
              <a:buClr>
                <a:srgbClr val="A28E6A"/>
              </a:buClr>
              <a:buSzTx/>
              <a:buNone/>
              <a:tabLst>
                <a:tab pos="1054100" algn="l"/>
              </a:tabLst>
            </a:pPr>
            <a:r>
              <a:rPr lang="en-US" sz="1900" b="1" dirty="0">
                <a:latin typeface="Courier New" pitchFamily="49" charset="0"/>
                <a:ea typeface="Courier"/>
                <a:cs typeface="Courier"/>
              </a:rPr>
              <a:t>}</a:t>
            </a:r>
          </a:p>
          <a:p>
            <a:pPr marL="457200" lvl="1" indent="-342900" eaLnBrk="0" fontAlgn="base" hangingPunct="0">
              <a:buSzPts val="1800"/>
              <a:buFont typeface="Arial"/>
              <a:buChar char="●"/>
              <a:tabLst>
                <a:tab pos="1498600" algn="l"/>
              </a:tabLst>
              <a:defRPr sz="3800">
                <a:latin typeface="Courier"/>
                <a:ea typeface="Courier"/>
                <a:cs typeface="Courier"/>
                <a:sym typeface="Courier"/>
              </a:defRPr>
            </a:pPr>
            <a:endParaRPr lang="en-US" sz="1800" kern="1200" dirty="0">
              <a:solidFill>
                <a:prstClr val="black"/>
              </a:solidFill>
              <a:latin typeface="Courier"/>
              <a:sym typeface="Courier"/>
            </a:endParaRPr>
          </a:p>
          <a:p>
            <a:pPr marL="457200" lvl="1" indent="-342900" eaLnBrk="0" fontAlgn="base" hangingPunct="0">
              <a:buSzPts val="1800"/>
              <a:buFont typeface="Arial"/>
              <a:buChar char="●"/>
              <a:tabLst>
                <a:tab pos="1498600" algn="l"/>
              </a:tabLst>
              <a:defRPr sz="3800">
                <a:latin typeface="Courier"/>
                <a:ea typeface="Courier"/>
                <a:cs typeface="Courier"/>
                <a:sym typeface="Courier"/>
              </a:defRPr>
            </a:pPr>
            <a:r>
              <a:rPr lang="en-US" sz="1800" dirty="0">
                <a:latin typeface="+mn-lt"/>
                <a:ea typeface="Courier"/>
                <a:cs typeface="Courier"/>
                <a:sym typeface="Courier"/>
              </a:rPr>
              <a:t>Style suggestion: always use braces around the body of an </a:t>
            </a:r>
            <a:r>
              <a:rPr lang="en-US" sz="1900" b="1" dirty="0">
                <a:latin typeface="Courier New" pitchFamily="49" charset="0"/>
                <a:ea typeface="Courier"/>
                <a:cs typeface="Courier"/>
                <a:sym typeface="Courier"/>
              </a:rPr>
              <a:t>if</a:t>
            </a:r>
            <a:r>
              <a:rPr lang="en-US" sz="1800" dirty="0">
                <a:latin typeface="+mn-lt"/>
                <a:ea typeface="Courier"/>
                <a:cs typeface="Courier"/>
                <a:sym typeface="Courier"/>
              </a:rPr>
              <a:t> or </a:t>
            </a:r>
            <a:r>
              <a:rPr lang="en-US" sz="1900" b="1" dirty="0">
                <a:latin typeface="Courier New" pitchFamily="49" charset="0"/>
                <a:ea typeface="Courier"/>
                <a:cs typeface="Courier"/>
                <a:sym typeface="Courier"/>
              </a:rPr>
              <a:t>else</a:t>
            </a:r>
            <a:r>
              <a:rPr lang="en-US" sz="1800" dirty="0">
                <a:latin typeface="+mn-lt"/>
                <a:ea typeface="Courier"/>
                <a:cs typeface="Courier"/>
                <a:sym typeface="Courier"/>
              </a:rPr>
              <a:t> statement.</a:t>
            </a:r>
          </a:p>
          <a:p>
            <a:pPr marL="114300" indent="0">
              <a:buNone/>
            </a:pPr>
            <a:endParaRPr lang="en-US" dirty="0"/>
          </a:p>
        </p:txBody>
      </p:sp>
      <p:sp>
        <p:nvSpPr>
          <p:cNvPr id="4" name="Rectangle 3" descr="decorative"/>
          <p:cNvSpPr/>
          <p:nvPr/>
        </p:nvSpPr>
        <p:spPr>
          <a:xfrm>
            <a:off x="1302818" y="2063469"/>
            <a:ext cx="6327971" cy="156985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208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Nested </a:t>
            </a:r>
            <a:r>
              <a:rPr lang="en-US" b="1" dirty="0">
                <a:latin typeface="Courier New" panose="02070309020205020404" pitchFamily="49" charset="0"/>
                <a:cs typeface="Courier New" panose="02070309020205020404" pitchFamily="49" charset="0"/>
              </a:rPr>
              <a:t>if </a:t>
            </a:r>
            <a:r>
              <a:rPr lang="en-US" b="1" dirty="0"/>
              <a:t>Statements</a:t>
            </a:r>
          </a:p>
        </p:txBody>
      </p:sp>
      <p:sp>
        <p:nvSpPr>
          <p:cNvPr id="3" name="Text Placeholder 2"/>
          <p:cNvSpPr>
            <a:spLocks noGrp="1"/>
          </p:cNvSpPr>
          <p:nvPr>
            <p:ph type="body" idx="1"/>
          </p:nvPr>
        </p:nvSpPr>
        <p:spPr/>
        <p:txBody>
          <a:bodyPr>
            <a:normAutofit/>
          </a:bodyPr>
          <a:lstStyle/>
          <a:p>
            <a:pPr marL="457200" lvl="1" indent="-342900" eaLnBrk="0" fontAlgn="base" hangingPunct="0">
              <a:buSzPts val="1800"/>
              <a:buFont typeface="Arial"/>
              <a:buChar char="●"/>
              <a:tabLst>
                <a:tab pos="1498600" algn="l"/>
              </a:tabLst>
              <a:defRPr sz="3800">
                <a:latin typeface="Courier"/>
                <a:ea typeface="Courier"/>
                <a:cs typeface="Courier"/>
                <a:sym typeface="Courier"/>
              </a:defRPr>
            </a:pPr>
            <a:r>
              <a:rPr lang="en-US" sz="2100" dirty="0">
                <a:latin typeface="+mn-lt"/>
                <a:ea typeface="Courier"/>
                <a:cs typeface="Courier"/>
              </a:rPr>
              <a:t>Statement block may contain another </a:t>
            </a:r>
            <a:r>
              <a:rPr lang="en-US" sz="2100" dirty="0">
                <a:latin typeface="+mn-lt"/>
                <a:ea typeface="Courier"/>
                <a:cs typeface="Courier"/>
                <a:sym typeface="Courier"/>
              </a:rPr>
              <a:t>if</a:t>
            </a:r>
            <a:r>
              <a:rPr lang="en-US" sz="2100" dirty="0">
                <a:latin typeface="+mn-lt"/>
                <a:ea typeface="Courier"/>
                <a:cs typeface="Courier"/>
              </a:rPr>
              <a:t> statement</a:t>
            </a:r>
          </a:p>
          <a:p>
            <a:pPr marL="457200" lvl="1" indent="-342900" eaLnBrk="0" fontAlgn="base" hangingPunct="0">
              <a:buSzPts val="1800"/>
              <a:buFont typeface="Arial"/>
              <a:buChar char="●"/>
              <a:tabLst>
                <a:tab pos="1498600" algn="l"/>
              </a:tabLst>
              <a:defRPr sz="3800">
                <a:latin typeface="Courier"/>
                <a:ea typeface="Courier"/>
                <a:cs typeface="Courier"/>
                <a:sym typeface="Courier"/>
              </a:defRPr>
            </a:pPr>
            <a:r>
              <a:rPr lang="en-US" sz="2100" dirty="0">
                <a:latin typeface="+mn-lt"/>
                <a:ea typeface="Courier"/>
                <a:cs typeface="Courier"/>
              </a:rPr>
              <a:t>Example:</a:t>
            </a:r>
            <a:r>
              <a:rPr lang="en-US" sz="2100" kern="1200" dirty="0">
                <a:solidFill>
                  <a:prstClr val="black"/>
                </a:solidFill>
                <a:latin typeface="+mn-lt"/>
                <a:ea typeface="+mn-ea"/>
                <a:cs typeface="+mn-cs"/>
              </a:rPr>
              <a:t> </a:t>
            </a:r>
            <a:endParaRPr lang="en-US" sz="4000" kern="1200" dirty="0">
              <a:solidFill>
                <a:prstClr val="black"/>
              </a:solidFill>
              <a:latin typeface="Perpetua"/>
              <a:ea typeface="+mn-ea"/>
              <a:cs typeface="+mn-cs"/>
            </a:endParaRPr>
          </a:p>
          <a:p>
            <a:pPr marL="1171769" lvl="3" indent="317500" eaLnBrk="0" fontAlgn="base" hangingPunct="0">
              <a:lnSpc>
                <a:spcPct val="80000"/>
              </a:lnSpc>
              <a:spcAft>
                <a:spcPct val="0"/>
              </a:spcAft>
              <a:buClr>
                <a:srgbClr val="A28E6A"/>
              </a:buClr>
              <a:buSzTx/>
              <a:buNone/>
              <a:tabLst>
                <a:tab pos="1054100" algn="l"/>
              </a:tabLst>
              <a:defRPr>
                <a:latin typeface="Courier"/>
                <a:ea typeface="Courier"/>
                <a:cs typeface="Courier"/>
                <a:sym typeface="Courier"/>
              </a:defRPr>
            </a:pPr>
            <a:r>
              <a:rPr lang="en-US" sz="1800" b="1" dirty="0">
                <a:latin typeface="Courier New" pitchFamily="49" charset="0"/>
                <a:ea typeface="Courier"/>
                <a:cs typeface="Courier"/>
                <a:sym typeface="Courier"/>
              </a:rPr>
              <a:t>if (income &gt; 25000){</a:t>
            </a:r>
          </a:p>
          <a:p>
            <a:pPr marL="1171769" lvl="3" indent="317500" eaLnBrk="0" fontAlgn="base" hangingPunct="0">
              <a:lnSpc>
                <a:spcPct val="80000"/>
              </a:lnSpc>
              <a:spcAft>
                <a:spcPct val="0"/>
              </a:spcAft>
              <a:buClr>
                <a:srgbClr val="A28E6A"/>
              </a:buClr>
              <a:buSzTx/>
              <a:buNone/>
              <a:tabLst>
                <a:tab pos="1054100" algn="l"/>
              </a:tabLst>
              <a:defRPr>
                <a:latin typeface="Courier"/>
                <a:ea typeface="Courier"/>
                <a:cs typeface="Courier"/>
                <a:sym typeface="Courier"/>
              </a:defRPr>
            </a:pPr>
            <a:r>
              <a:rPr lang="en-US" sz="1800" b="1" dirty="0">
                <a:latin typeface="Courier New" pitchFamily="49" charset="0"/>
                <a:ea typeface="Courier"/>
                <a:cs typeface="Courier"/>
                <a:sym typeface="Courier"/>
              </a:rPr>
              <a:t>	if (deductions &lt; 3500){</a:t>
            </a:r>
          </a:p>
          <a:p>
            <a:pPr marL="1171769" lvl="3" indent="317500" eaLnBrk="0" fontAlgn="base" hangingPunct="0">
              <a:lnSpc>
                <a:spcPct val="80000"/>
              </a:lnSpc>
              <a:spcAft>
                <a:spcPct val="0"/>
              </a:spcAft>
              <a:buClr>
                <a:srgbClr val="A28E6A"/>
              </a:buClr>
              <a:buSzTx/>
              <a:buNone/>
              <a:tabLst>
                <a:tab pos="1054100" algn="l"/>
              </a:tabLst>
              <a:defRPr>
                <a:latin typeface="Courier"/>
                <a:ea typeface="Courier"/>
                <a:cs typeface="Courier"/>
                <a:sym typeface="Courier"/>
              </a:defRPr>
            </a:pPr>
            <a:r>
              <a:rPr lang="en-US" sz="1800" b="1" dirty="0">
                <a:latin typeface="Courier New" pitchFamily="49" charset="0"/>
                <a:ea typeface="Courier"/>
                <a:cs typeface="Courier"/>
                <a:sym typeface="Courier"/>
              </a:rPr>
              <a:t>		</a:t>
            </a:r>
            <a:r>
              <a:rPr lang="en-US" sz="1800" b="1" dirty="0" err="1">
                <a:latin typeface="Courier New" pitchFamily="49" charset="0"/>
                <a:ea typeface="Courier"/>
                <a:cs typeface="Courier"/>
                <a:sym typeface="Courier"/>
              </a:rPr>
              <a:t>tax_rate</a:t>
            </a:r>
            <a:r>
              <a:rPr lang="en-US" sz="1800" b="1" dirty="0">
                <a:latin typeface="Courier New" pitchFamily="49" charset="0"/>
                <a:ea typeface="Courier"/>
                <a:cs typeface="Courier"/>
                <a:sym typeface="Courier"/>
              </a:rPr>
              <a:t> = 1.035;</a:t>
            </a:r>
          </a:p>
          <a:p>
            <a:pPr marL="114300" indent="0">
              <a:buNone/>
            </a:pPr>
            <a:r>
              <a:rPr lang="en-US" dirty="0"/>
              <a:t>		 }</a:t>
            </a:r>
          </a:p>
          <a:p>
            <a:pPr marL="114300" indent="0">
              <a:buNone/>
            </a:pPr>
            <a:r>
              <a:rPr lang="en-US" dirty="0"/>
              <a:t>	           }</a:t>
            </a:r>
          </a:p>
        </p:txBody>
      </p:sp>
    </p:spTree>
    <p:extLst>
      <p:ext uri="{BB962C8B-B14F-4D97-AF65-F5344CB8AC3E}">
        <p14:creationId xmlns:p14="http://schemas.microsoft.com/office/powerpoint/2010/main" val="3063234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ourier New" panose="02070309020205020404" pitchFamily="49" charset="0"/>
                <a:cs typeface="Courier New" panose="02070309020205020404" pitchFamily="49" charset="0"/>
              </a:rPr>
              <a:t>if-else </a:t>
            </a:r>
            <a:r>
              <a:rPr lang="en-US" b="1" dirty="0"/>
              <a:t>chains</a:t>
            </a:r>
          </a:p>
        </p:txBody>
      </p:sp>
      <p:sp>
        <p:nvSpPr>
          <p:cNvPr id="3" name="Text Placeholder 2"/>
          <p:cNvSpPr>
            <a:spLocks noGrp="1"/>
          </p:cNvSpPr>
          <p:nvPr>
            <p:ph type="body" idx="1"/>
          </p:nvPr>
        </p:nvSpPr>
        <p:spPr/>
        <p:txBody>
          <a:bodyPr>
            <a:normAutofit/>
          </a:bodyPr>
          <a:lstStyle/>
          <a:p>
            <a:pPr marL="0" indent="0">
              <a:buSzTx/>
              <a:buNone/>
              <a:tabLst>
                <a:tab pos="1054100" algn="l"/>
              </a:tabLst>
              <a:defRPr>
                <a:latin typeface="Courier"/>
                <a:ea typeface="Courier"/>
                <a:cs typeface="Courier"/>
                <a:sym typeface="Courier"/>
              </a:defRPr>
            </a:pPr>
            <a:r>
              <a:rPr lang="en-US" b="1" dirty="0">
                <a:latin typeface="Courier New" pitchFamily="49" charset="0"/>
                <a:ea typeface="Courier"/>
                <a:cs typeface="Courier"/>
              </a:rPr>
              <a:t>if (expression_1)</a:t>
            </a:r>
          </a:p>
          <a:p>
            <a:pPr marL="0" lvl="1" indent="0">
              <a:buSzTx/>
              <a:buNone/>
              <a:tabLst>
                <a:tab pos="1498600" algn="l"/>
              </a:tabLst>
              <a:defRPr i="1">
                <a:latin typeface="Courier"/>
                <a:ea typeface="Courier"/>
                <a:cs typeface="Courier"/>
                <a:sym typeface="Courier"/>
              </a:defRPr>
            </a:pPr>
            <a:r>
              <a:rPr lang="en-US" sz="1800" b="1" dirty="0">
                <a:latin typeface="Courier New" pitchFamily="49" charset="0"/>
                <a:ea typeface="Courier"/>
                <a:cs typeface="Courier"/>
              </a:rPr>
              <a:t>   statement_1</a:t>
            </a:r>
          </a:p>
          <a:p>
            <a:pPr marL="0" indent="0">
              <a:buSzTx/>
              <a:buNone/>
              <a:tabLst>
                <a:tab pos="1054100" algn="l"/>
              </a:tabLst>
              <a:defRPr>
                <a:latin typeface="Courier"/>
                <a:ea typeface="Courier"/>
                <a:cs typeface="Courier"/>
                <a:sym typeface="Courier"/>
              </a:defRPr>
            </a:pPr>
            <a:r>
              <a:rPr lang="en-US" b="1" dirty="0">
                <a:latin typeface="Courier New" pitchFamily="49" charset="0"/>
                <a:ea typeface="Courier"/>
                <a:cs typeface="Courier"/>
              </a:rPr>
              <a:t>else if (expression_2)</a:t>
            </a:r>
          </a:p>
          <a:p>
            <a:pPr marL="0" lvl="1" indent="0">
              <a:buSzTx/>
              <a:buNone/>
              <a:tabLst>
                <a:tab pos="1498600" algn="l"/>
              </a:tabLst>
              <a:defRPr i="1">
                <a:latin typeface="Courier"/>
                <a:ea typeface="Courier"/>
                <a:cs typeface="Courier"/>
                <a:sym typeface="Courier"/>
              </a:defRPr>
            </a:pPr>
            <a:r>
              <a:rPr lang="en-US" sz="1800" b="1" dirty="0">
                <a:latin typeface="Courier New" pitchFamily="49" charset="0"/>
                <a:ea typeface="Courier"/>
                <a:cs typeface="Courier"/>
              </a:rPr>
              <a:t>   statement_2</a:t>
            </a:r>
          </a:p>
          <a:p>
            <a:pPr marL="0" indent="0">
              <a:buSzTx/>
              <a:buNone/>
              <a:tabLst>
                <a:tab pos="1054100" algn="l"/>
              </a:tabLst>
              <a:defRPr>
                <a:latin typeface="Courier"/>
                <a:ea typeface="Courier"/>
                <a:cs typeface="Courier"/>
                <a:sym typeface="Courier"/>
              </a:defRPr>
            </a:pPr>
            <a:r>
              <a:rPr lang="en-US" b="1" dirty="0">
                <a:latin typeface="Courier New" pitchFamily="49" charset="0"/>
                <a:ea typeface="Courier"/>
                <a:cs typeface="Courier"/>
              </a:rPr>
              <a:t>else</a:t>
            </a:r>
          </a:p>
          <a:p>
            <a:pPr marL="0" lvl="1" indent="0">
              <a:buSzTx/>
              <a:buNone/>
              <a:tabLst>
                <a:tab pos="1498600" algn="l"/>
              </a:tabLst>
              <a:defRPr i="1">
                <a:latin typeface="Courier"/>
                <a:ea typeface="Courier"/>
                <a:cs typeface="Courier"/>
                <a:sym typeface="Courier"/>
              </a:defRPr>
            </a:pPr>
            <a:r>
              <a:rPr lang="en-US" sz="1800" b="1" dirty="0">
                <a:latin typeface="Courier New" pitchFamily="49" charset="0"/>
                <a:ea typeface="Courier"/>
                <a:cs typeface="Courier"/>
              </a:rPr>
              <a:t>   statement_3</a:t>
            </a:r>
          </a:p>
          <a:p>
            <a:pPr marL="114300" indent="0">
              <a:buNone/>
            </a:pPr>
            <a:endParaRPr lang="en-US" dirty="0"/>
          </a:p>
        </p:txBody>
      </p:sp>
    </p:spTree>
    <p:extLst>
      <p:ext uri="{BB962C8B-B14F-4D97-AF65-F5344CB8AC3E}">
        <p14:creationId xmlns:p14="http://schemas.microsoft.com/office/powerpoint/2010/main" val="1764715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Multiple Alternative </a:t>
            </a:r>
            <a:r>
              <a:rPr lang="en-US" b="1" dirty="0">
                <a:latin typeface="Courier New" panose="02070309020205020404" pitchFamily="49" charset="0"/>
                <a:cs typeface="Courier New" panose="02070309020205020404" pitchFamily="49" charset="0"/>
              </a:rPr>
              <a:t>if</a:t>
            </a:r>
            <a:r>
              <a:rPr lang="en-US" b="1" dirty="0"/>
              <a:t> Statements</a:t>
            </a:r>
          </a:p>
        </p:txBody>
      </p:sp>
      <p:sp>
        <p:nvSpPr>
          <p:cNvPr id="5" name="TextBox 4"/>
          <p:cNvSpPr txBox="1"/>
          <p:nvPr/>
        </p:nvSpPr>
        <p:spPr>
          <a:xfrm>
            <a:off x="443082" y="1280160"/>
            <a:ext cx="3200400" cy="3108543"/>
          </a:xfrm>
          <a:prstGeom prst="rect">
            <a:avLst/>
          </a:prstGeom>
          <a:noFill/>
        </p:spPr>
        <p:txBody>
          <a:bodyPr wrap="square" rtlCol="0">
            <a:spAutoFit/>
          </a:bodyPr>
          <a:lstStyle/>
          <a:p>
            <a:pPr hangingPunct="0"/>
            <a:r>
              <a:rPr lang="en-US" dirty="0">
                <a:latin typeface="Courier New" panose="02070309020205020404" pitchFamily="49" charset="0"/>
                <a:cs typeface="Courier New" panose="02070309020205020404" pitchFamily="49" charset="0"/>
              </a:rPr>
              <a:t>if (score &gt;= 90.0)</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grade = 'A';</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else</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if (score &gt;= 80.0)</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grade = 'B';</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else</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if (score &gt;= 70.0)</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grade = 'C';</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else</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if (score &gt;= 60.0)</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grade = 'D';</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else</a:t>
            </a:r>
            <a:endParaRPr lang="en-US" u="sng" dirty="0">
              <a:latin typeface="Courier New" panose="02070309020205020404" pitchFamily="49" charset="0"/>
              <a:cs typeface="Courier New" panose="02070309020205020404" pitchFamily="49" charset="0"/>
            </a:endParaRPr>
          </a:p>
          <a:p>
            <a:pPr hangingPunct="0"/>
            <a:r>
              <a:rPr lang="en-US" dirty="0">
                <a:latin typeface="Courier New" panose="02070309020205020404" pitchFamily="49" charset="0"/>
                <a:cs typeface="Courier New" panose="02070309020205020404" pitchFamily="49" charset="0"/>
              </a:rPr>
              <a:t>        grade = 'F';</a:t>
            </a:r>
            <a:endParaRPr lang="en-US" u="sng" dirty="0">
              <a:latin typeface="Courier New" panose="02070309020205020404" pitchFamily="49" charset="0"/>
              <a:cs typeface="Courier New" panose="02070309020205020404" pitchFamily="49" charset="0"/>
            </a:endParaRPr>
          </a:p>
          <a:p>
            <a:endParaRPr lang="en-US" dirty="0"/>
          </a:p>
        </p:txBody>
      </p:sp>
      <p:sp>
        <p:nvSpPr>
          <p:cNvPr id="6" name="TextBox 5"/>
          <p:cNvSpPr txBox="1"/>
          <p:nvPr/>
        </p:nvSpPr>
        <p:spPr>
          <a:xfrm>
            <a:off x="5568696" y="1298448"/>
            <a:ext cx="2654894" cy="2462213"/>
          </a:xfrm>
          <a:prstGeom prst="rect">
            <a:avLst/>
          </a:prstGeom>
          <a:noFill/>
        </p:spPr>
        <p:txBody>
          <a:bodyPr wrap="none" rtlCol="0">
            <a:spAutoFit/>
          </a:bodyPr>
          <a:lstStyle/>
          <a:p>
            <a:pPr hangingPunct="0"/>
            <a:r>
              <a:rPr lang="en-US" dirty="0">
                <a:latin typeface="Courier New" panose="02070309020205020404" pitchFamily="49" charset="0"/>
                <a:cs typeface="Courier New" panose="02070309020205020404" pitchFamily="49" charset="0"/>
              </a:rPr>
              <a:t>if (score &gt;= 90.0)</a:t>
            </a:r>
          </a:p>
          <a:p>
            <a:pPr hangingPunct="0"/>
            <a:r>
              <a:rPr lang="en-US" dirty="0">
                <a:latin typeface="Courier New" panose="02070309020205020404" pitchFamily="49" charset="0"/>
                <a:cs typeface="Courier New" panose="02070309020205020404" pitchFamily="49" charset="0"/>
              </a:rPr>
              <a:t>  grade = 'A';</a:t>
            </a:r>
          </a:p>
          <a:p>
            <a:pPr hangingPunct="0"/>
            <a:r>
              <a:rPr lang="en-US" dirty="0">
                <a:latin typeface="Courier New" panose="02070309020205020404" pitchFamily="49" charset="0"/>
                <a:cs typeface="Courier New" panose="02070309020205020404" pitchFamily="49" charset="0"/>
              </a:rPr>
              <a:t>else if (score &gt;= 80.0)</a:t>
            </a:r>
          </a:p>
          <a:p>
            <a:pPr hangingPunct="0"/>
            <a:r>
              <a:rPr lang="en-US" dirty="0">
                <a:latin typeface="Courier New" panose="02070309020205020404" pitchFamily="49" charset="0"/>
                <a:cs typeface="Courier New" panose="02070309020205020404" pitchFamily="49" charset="0"/>
              </a:rPr>
              <a:t>  grade = 'B';</a:t>
            </a:r>
          </a:p>
          <a:p>
            <a:pPr hangingPunct="0"/>
            <a:r>
              <a:rPr lang="en-US" dirty="0">
                <a:latin typeface="Courier New" panose="02070309020205020404" pitchFamily="49" charset="0"/>
                <a:cs typeface="Courier New" panose="02070309020205020404" pitchFamily="49" charset="0"/>
              </a:rPr>
              <a:t>else if (score &gt;= 70.0)</a:t>
            </a:r>
          </a:p>
          <a:p>
            <a:pPr hangingPunct="0"/>
            <a:r>
              <a:rPr lang="en-US" dirty="0">
                <a:latin typeface="Courier New" panose="02070309020205020404" pitchFamily="49" charset="0"/>
                <a:cs typeface="Courier New" panose="02070309020205020404" pitchFamily="49" charset="0"/>
              </a:rPr>
              <a:t>  grade = 'C';</a:t>
            </a:r>
          </a:p>
          <a:p>
            <a:pPr hangingPunct="0"/>
            <a:r>
              <a:rPr lang="en-US" dirty="0">
                <a:latin typeface="Courier New" panose="02070309020205020404" pitchFamily="49" charset="0"/>
                <a:cs typeface="Courier New" panose="02070309020205020404" pitchFamily="49" charset="0"/>
              </a:rPr>
              <a:t>else if (score &gt;= 60.0)</a:t>
            </a:r>
          </a:p>
          <a:p>
            <a:pPr hangingPunct="0"/>
            <a:r>
              <a:rPr lang="en-US" dirty="0">
                <a:latin typeface="Courier New" panose="02070309020205020404" pitchFamily="49" charset="0"/>
                <a:cs typeface="Courier New" panose="02070309020205020404" pitchFamily="49" charset="0"/>
              </a:rPr>
              <a:t>  grade = 'D';</a:t>
            </a:r>
          </a:p>
          <a:p>
            <a:pPr hangingPunct="0"/>
            <a:r>
              <a:rPr lang="en-US" dirty="0">
                <a:latin typeface="Courier New" panose="02070309020205020404" pitchFamily="49" charset="0"/>
                <a:cs typeface="Courier New" panose="02070309020205020404" pitchFamily="49" charset="0"/>
              </a:rPr>
              <a:t>else</a:t>
            </a:r>
          </a:p>
          <a:p>
            <a:pPr hangingPunct="0"/>
            <a:r>
              <a:rPr lang="en-US" dirty="0">
                <a:latin typeface="Courier New" panose="02070309020205020404" pitchFamily="49" charset="0"/>
                <a:cs typeface="Courier New" panose="02070309020205020404" pitchFamily="49" charset="0"/>
              </a:rPr>
              <a:t>  grade = 'F';</a:t>
            </a:r>
          </a:p>
          <a:p>
            <a:endParaRPr lang="en-US" dirty="0"/>
          </a:p>
        </p:txBody>
      </p:sp>
      <p:sp>
        <p:nvSpPr>
          <p:cNvPr id="7" name="Flowchart: Process 6" descr="decorative"/>
          <p:cNvSpPr/>
          <p:nvPr/>
        </p:nvSpPr>
        <p:spPr>
          <a:xfrm>
            <a:off x="443082" y="1207007"/>
            <a:ext cx="3346704" cy="3236559"/>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Process 7" descr="decorative"/>
          <p:cNvSpPr/>
          <p:nvPr/>
        </p:nvSpPr>
        <p:spPr>
          <a:xfrm>
            <a:off x="5485596" y="1207007"/>
            <a:ext cx="3346704" cy="3236559"/>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3995928" y="2798065"/>
            <a:ext cx="1345788" cy="8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descr="decorative"/>
          <p:cNvCxnSpPr/>
          <p:nvPr/>
        </p:nvCxnSpPr>
        <p:spPr>
          <a:xfrm>
            <a:off x="3983736" y="2886457"/>
            <a:ext cx="1345788" cy="8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142232" y="2377440"/>
            <a:ext cx="1088760" cy="307777"/>
          </a:xfrm>
          <a:prstGeom prst="rect">
            <a:avLst/>
          </a:prstGeom>
          <a:noFill/>
        </p:spPr>
        <p:txBody>
          <a:bodyPr wrap="none" rtlCol="0">
            <a:spAutoFit/>
          </a:bodyPr>
          <a:lstStyle/>
          <a:p>
            <a:r>
              <a:rPr lang="en-US" b="1" dirty="0"/>
              <a:t>Equivalent</a:t>
            </a:r>
          </a:p>
        </p:txBody>
      </p:sp>
    </p:spTree>
    <p:extLst>
      <p:ext uri="{BB962C8B-B14F-4D97-AF65-F5344CB8AC3E}">
        <p14:creationId xmlns:p14="http://schemas.microsoft.com/office/powerpoint/2010/main" val="3407340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16" grpId="0"/>
    </p:bld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5538c6363dcc66390f334cc79d134dde">
  <xsd:schema xmlns:xsd="http://www.w3.org/2001/XMLSchema" xmlns:xs="http://www.w3.org/2001/XMLSchema" xmlns:p="http://schemas.microsoft.com/office/2006/metadata/properties" xmlns:ns2="dd520bba-7c1e-4c79-bf9d-255d7ed0f3a3" targetNamespace="http://schemas.microsoft.com/office/2006/metadata/properties" ma:root="true" ma:fieldsID="f941384ee89c8d55594949fcab33c8bd"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003F84-10B4-453D-B661-5984AE2AA49B}"/>
</file>

<file path=customXml/itemProps2.xml><?xml version="1.0" encoding="utf-8"?>
<ds:datastoreItem xmlns:ds="http://schemas.openxmlformats.org/officeDocument/2006/customXml" ds:itemID="{4361EE68-E56D-4423-9CFC-CE7D8E55514C}"/>
</file>

<file path=customXml/itemProps3.xml><?xml version="1.0" encoding="utf-8"?>
<ds:datastoreItem xmlns:ds="http://schemas.openxmlformats.org/officeDocument/2006/customXml" ds:itemID="{BD415218-BE2A-4D50-A9B4-ABE545076EB9}"/>
</file>

<file path=docProps/app.xml><?xml version="1.0" encoding="utf-8"?>
<Properties xmlns="http://schemas.openxmlformats.org/officeDocument/2006/extended-properties" xmlns:vt="http://schemas.openxmlformats.org/officeDocument/2006/docPropsVTypes">
  <TotalTime>9319</TotalTime>
  <Words>1413</Words>
  <Application>Microsoft Office PowerPoint</Application>
  <PresentationFormat>On-screen Show (16:9)</PresentationFormat>
  <Paragraphs>297</Paragraphs>
  <Slides>24</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Courier</vt:lpstr>
      <vt:lpstr>Monotype Sorts</vt:lpstr>
      <vt:lpstr>Arial</vt:lpstr>
      <vt:lpstr>Cambria Math</vt:lpstr>
      <vt:lpstr>Courier New</vt:lpstr>
      <vt:lpstr>Perpetua</vt:lpstr>
      <vt:lpstr>Simple Light</vt:lpstr>
      <vt:lpstr>Selections</vt:lpstr>
      <vt:lpstr>Objectives: </vt:lpstr>
      <vt:lpstr>The boolean type:</vt:lpstr>
      <vt:lpstr>Relational Operators</vt:lpstr>
      <vt:lpstr>Logical Operators</vt:lpstr>
      <vt:lpstr>Truth Table to Better Understand Logic Operators</vt:lpstr>
      <vt:lpstr>Logical operators: Example 1</vt:lpstr>
      <vt:lpstr>Logical operators: Example 2</vt:lpstr>
      <vt:lpstr>Motivation: Compute Area of a Circle</vt:lpstr>
      <vt:lpstr>One – way if statement</vt:lpstr>
      <vt:lpstr>One – way if statement: Example </vt:lpstr>
      <vt:lpstr>The if statement</vt:lpstr>
      <vt:lpstr>The if statement: Examples</vt:lpstr>
      <vt:lpstr>One-way if Statements: Condition containment</vt:lpstr>
      <vt:lpstr>One-way if Statements: Block containment</vt:lpstr>
      <vt:lpstr>The if-else Statement</vt:lpstr>
      <vt:lpstr>Two-way if Statement</vt:lpstr>
      <vt:lpstr>if…else Example</vt:lpstr>
      <vt:lpstr>Empty Statements</vt:lpstr>
      <vt:lpstr>More on if Statements</vt:lpstr>
      <vt:lpstr>Compound Statements</vt:lpstr>
      <vt:lpstr>Nested if Statements</vt:lpstr>
      <vt:lpstr>if-else chains</vt:lpstr>
      <vt:lpstr>Multiple Alternative if Statements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XINRUI YU</cp:lastModifiedBy>
  <cp:revision>198</cp:revision>
  <dcterms:modified xsi:type="dcterms:W3CDTF">2025-09-26T11:16:55Z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