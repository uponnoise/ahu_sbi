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326" r:id="rId5"/>
    <p:sldId id="282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25" r:id="rId22"/>
    <p:sldId id="320" r:id="rId23"/>
    <p:sldId id="321" r:id="rId24"/>
    <p:sldId id="322" r:id="rId25"/>
    <p:sldId id="323" r:id="rId26"/>
    <p:sldId id="324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42" d="100"/>
          <a:sy n="142" d="100"/>
        </p:scale>
        <p:origin x="2343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32" Type="http://schemas.openxmlformats.org/officeDocument/2006/relationships/customXml" Target="../customXml/item2.xml"/><Relationship Id="rId31" Type="http://schemas.openxmlformats.org/officeDocument/2006/relationships/customXml" Target="../customXml/item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Class 02 ends here 11/04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Class 01 </a:t>
            </a:r>
            <a:r>
              <a:rPr lang="en-US" altLang="zh-CN" dirty="0"/>
              <a:t>ends </a:t>
            </a:r>
            <a:r>
              <a:rPr lang="en-US" altLang="zh-CN"/>
              <a:t>here 11/04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Vs primitive type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-98911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Objects and Classes</a:t>
            </a:r>
            <a:endParaRPr lang="en-US" dirty="0"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Objects and Classes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3" name="그림 1" descr="Text, letter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Object-oriented Programming introduction</a:t>
            </a:r>
            <a:endParaRPr lang="en-US" dirty="0"/>
          </a:p>
          <a:p>
            <a:r>
              <a:rPr lang="en-US" dirty="0"/>
              <a:t>Classes</a:t>
            </a:r>
            <a:endParaRPr lang="en-US" dirty="0"/>
          </a:p>
          <a:p>
            <a:r>
              <a:rPr lang="en-US" dirty="0"/>
              <a:t>Classes example</a:t>
            </a:r>
            <a:endParaRPr lang="en-US" dirty="0"/>
          </a:p>
          <a:p>
            <a:r>
              <a:rPr lang="en-US" dirty="0"/>
              <a:t>UML class diagram</a:t>
            </a:r>
            <a:endParaRPr lang="en-US" dirty="0"/>
          </a:p>
          <a:p>
            <a:r>
              <a:rPr lang="en-US" dirty="0"/>
              <a:t>Constructors</a:t>
            </a:r>
            <a:endParaRPr lang="en-US" dirty="0"/>
          </a:p>
          <a:p>
            <a:r>
              <a:rPr lang="en-US" dirty="0"/>
              <a:t>Accessing Objects</a:t>
            </a:r>
            <a:endParaRPr lang="en-US" dirty="0"/>
          </a:p>
          <a:p>
            <a:r>
              <a:rPr lang="en-US" dirty="0"/>
              <a:t>Using classes</a:t>
            </a:r>
            <a:endParaRPr lang="en-US" dirty="0"/>
          </a:p>
          <a:p>
            <a:r>
              <a:rPr lang="en-US" dirty="0"/>
              <a:t>Static Vs non-static</a:t>
            </a:r>
            <a:endParaRPr lang="en-US" dirty="0"/>
          </a:p>
          <a:p>
            <a:r>
              <a:rPr lang="en-US" dirty="0"/>
              <a:t>Default values</a:t>
            </a:r>
            <a:endParaRPr lang="en-US" dirty="0"/>
          </a:p>
          <a:p>
            <a:r>
              <a:rPr lang="en-US" dirty="0"/>
              <a:t>Copying primitive types vs reference types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Object Oriented Programming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object-oriented program uses objects to model the problem domain (the things we have to work with).</a:t>
            </a:r>
            <a:endParaRPr lang="en-US" dirty="0"/>
          </a:p>
          <a:p>
            <a:r>
              <a:rPr lang="en-US" dirty="0"/>
              <a:t>Objects are constructed from data and program code.</a:t>
            </a:r>
            <a:endParaRPr lang="en-US" dirty="0"/>
          </a:p>
          <a:p>
            <a:r>
              <a:rPr lang="en-US" dirty="0"/>
              <a:t>Topics to consider:</a:t>
            </a:r>
            <a:endParaRPr lang="en-US" dirty="0"/>
          </a:p>
          <a:p>
            <a:pPr lvl="1"/>
            <a:r>
              <a:rPr lang="en-US" sz="1800" dirty="0"/>
              <a:t>Designing objects</a:t>
            </a:r>
            <a:endParaRPr lang="en-US" sz="1800" dirty="0"/>
          </a:p>
          <a:p>
            <a:pPr lvl="1"/>
            <a:r>
              <a:rPr lang="en-US" sz="1800" dirty="0"/>
              <a:t>Implementing objects</a:t>
            </a:r>
            <a:endParaRPr lang="en-US" sz="1800" dirty="0"/>
          </a:p>
          <a:p>
            <a:r>
              <a:rPr lang="en-US" dirty="0"/>
              <a:t>Advanced concepts: access modifiers and static.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What is an Object, Anyway?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 are a very natural way to view the world around us.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Ex. People, things, even non-physical stuff (i.e., a bank account).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Objects are defined in terms of attributes and behaviors.</a:t>
            </a:r>
            <a:endParaRPr lang="en-US" dirty="0"/>
          </a:p>
          <a:p>
            <a:pPr lvl="1"/>
            <a:r>
              <a:rPr lang="en-US" sz="1800" dirty="0"/>
              <a:t>Attribute: properties that an object has (e.g., eye color, height, weight)</a:t>
            </a:r>
            <a:endParaRPr lang="en-US" sz="1800" dirty="0"/>
          </a:p>
          <a:p>
            <a:pPr lvl="1"/>
            <a:r>
              <a:rPr lang="en-US" sz="1800" dirty="0"/>
              <a:t>Behavior: actions that an object can perform (e.g., walk, speak, pick up)</a:t>
            </a:r>
            <a:endParaRPr lang="en-US" sz="1800" dirty="0"/>
          </a:p>
          <a:p>
            <a:pPr marL="596900" lvl="1" indent="0">
              <a:buNone/>
            </a:pPr>
            <a:endParaRPr lang="en-US" sz="1800" dirty="0"/>
          </a:p>
          <a:p>
            <a:r>
              <a:rPr lang="en-US" dirty="0"/>
              <a:t>An object is an entity that contains both data and behavior.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OO Programming Concepts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An object represents an entity in the real world that can be distinctly identified. </a:t>
            </a:r>
            <a:endParaRPr lang="en-US" altLang="en-US" dirty="0"/>
          </a:p>
          <a:p>
            <a:r>
              <a:rPr lang="en-US" altLang="en-US" dirty="0"/>
              <a:t>An object has a unique state and behaviors:</a:t>
            </a:r>
            <a:endParaRPr lang="en-US" altLang="en-US" dirty="0"/>
          </a:p>
          <a:p>
            <a:pPr lvl="1"/>
            <a:r>
              <a:rPr lang="en-US" altLang="en-US" sz="1800" dirty="0"/>
              <a:t>the state of an object consists of a set of data fields (properties) with their current values.</a:t>
            </a:r>
            <a:endParaRPr lang="en-US" altLang="en-US" sz="1800" dirty="0"/>
          </a:p>
          <a:p>
            <a:pPr lvl="1"/>
            <a:r>
              <a:rPr lang="en-US" altLang="en-US" sz="1800" dirty="0"/>
              <a:t>the behavior of an object is defined by a set of methods.</a:t>
            </a:r>
            <a:endParaRPr lang="en-US" alt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3568485" y="2934022"/>
            <a:ext cx="1319294" cy="1061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900" dirty="0"/>
              <a:t>Class Name: Circle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Data Fields:</a:t>
            </a:r>
            <a:endParaRPr lang="en-US" dirty="0"/>
          </a:p>
          <a:p>
            <a:r>
              <a:rPr lang="en-US" sz="900" dirty="0"/>
              <a:t>  radius is _____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Methods:</a:t>
            </a:r>
            <a:endParaRPr lang="en-US" sz="900" dirty="0"/>
          </a:p>
          <a:p>
            <a:r>
              <a:rPr lang="en-US" sz="900" dirty="0"/>
              <a:t>  </a:t>
            </a:r>
            <a:r>
              <a:rPr lang="en-US" sz="900" dirty="0" err="1"/>
              <a:t>getArea</a:t>
            </a:r>
            <a:r>
              <a:rPr lang="en-US" sz="900" dirty="0"/>
              <a:t>()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3626603" y="4154513"/>
            <a:ext cx="120305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900" dirty="0"/>
              <a:t>Circle Object 2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Data Fields:</a:t>
            </a:r>
            <a:endParaRPr lang="en-US" sz="900" dirty="0"/>
          </a:p>
          <a:p>
            <a:r>
              <a:rPr lang="en-US" sz="900" dirty="0"/>
              <a:t>  radius is _</a:t>
            </a:r>
            <a:r>
              <a:rPr lang="en-US" sz="900" u="sng" dirty="0"/>
              <a:t>_25__</a:t>
            </a:r>
            <a:endParaRPr lang="en-US" sz="900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2008967" y="4154512"/>
            <a:ext cx="120305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900" dirty="0"/>
              <a:t>Circle Object 1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Data Fields:</a:t>
            </a:r>
            <a:endParaRPr lang="en-US" sz="900" dirty="0"/>
          </a:p>
          <a:p>
            <a:r>
              <a:rPr lang="en-US" sz="900" dirty="0"/>
              <a:t>  radius is _</a:t>
            </a:r>
            <a:r>
              <a:rPr lang="en-US" sz="900" u="sng" dirty="0"/>
              <a:t>_1__</a:t>
            </a:r>
            <a:endParaRPr lang="en-US" sz="900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5253925" y="4154513"/>
            <a:ext cx="120305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900" dirty="0"/>
              <a:t>Circle Object 3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Data Fields:</a:t>
            </a:r>
            <a:endParaRPr lang="en-US" sz="900" dirty="0"/>
          </a:p>
          <a:p>
            <a:r>
              <a:rPr lang="en-US" sz="900" dirty="0"/>
              <a:t>  radius is _</a:t>
            </a:r>
            <a:r>
              <a:rPr lang="en-US" sz="900" u="sng" dirty="0"/>
              <a:t>_125__</a:t>
            </a:r>
            <a:endParaRPr lang="en-US" sz="900" u="sng" dirty="0"/>
          </a:p>
        </p:txBody>
      </p:sp>
      <p:sp>
        <p:nvSpPr>
          <p:cNvPr id="10" name="TextBox 9"/>
          <p:cNvSpPr txBox="1"/>
          <p:nvPr/>
        </p:nvSpPr>
        <p:spPr>
          <a:xfrm>
            <a:off x="5694659" y="2900120"/>
            <a:ext cx="115462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900" dirty="0"/>
              <a:t>A class template</a:t>
            </a:r>
            <a:endParaRPr lang="en-US" sz="900" dirty="0"/>
          </a:p>
        </p:txBody>
      </p:sp>
      <p:sp>
        <p:nvSpPr>
          <p:cNvPr id="11" name="TextBox 10"/>
          <p:cNvSpPr txBox="1"/>
          <p:nvPr/>
        </p:nvSpPr>
        <p:spPr>
          <a:xfrm>
            <a:off x="7380099" y="4101238"/>
            <a:ext cx="11546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900" dirty="0"/>
              <a:t>Three objects of the Circle class</a:t>
            </a:r>
            <a:endParaRPr lang="en-US" dirty="0"/>
          </a:p>
        </p:txBody>
      </p:sp>
      <p:cxnSp>
        <p:nvCxnSpPr>
          <p:cNvPr id="12" name="Straight Arrow Connector 11" descr="an arrow pointing from &quot;a class template&quot; to Class Name: Circle and its other components"/>
          <p:cNvCxnSpPr/>
          <p:nvPr/>
        </p:nvCxnSpPr>
        <p:spPr>
          <a:xfrm flipH="1" flipV="1">
            <a:off x="5012249" y="3011999"/>
            <a:ext cx="722608" cy="5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 descr="an arrow pointing from &quot;three objects of the Circle class&quot; to Circle Object 1,2,3 and its other components"/>
          <p:cNvCxnSpPr/>
          <p:nvPr/>
        </p:nvCxnSpPr>
        <p:spPr>
          <a:xfrm flipH="1" flipV="1">
            <a:off x="6591138" y="4280922"/>
            <a:ext cx="722608" cy="5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Classes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Classes are templates that define objects of the same type. </a:t>
            </a:r>
            <a:endParaRPr lang="en-US" altLang="en-US" dirty="0"/>
          </a:p>
          <a:p>
            <a:r>
              <a:rPr lang="en-US" altLang="en-US" dirty="0"/>
              <a:t>A Java class uses:</a:t>
            </a:r>
            <a:endParaRPr lang="en-US" altLang="en-US" dirty="0"/>
          </a:p>
          <a:p>
            <a:pPr lvl="1"/>
            <a:r>
              <a:rPr lang="en-US" altLang="en-US" sz="1800" dirty="0"/>
              <a:t> variables to define data fields and </a:t>
            </a:r>
            <a:endParaRPr lang="en-US" altLang="en-US" sz="1800" dirty="0"/>
          </a:p>
          <a:p>
            <a:pPr lvl="1"/>
            <a:r>
              <a:rPr lang="en-US" altLang="en-US" sz="1800" dirty="0"/>
              <a:t> methods to define behaviors.</a:t>
            </a:r>
            <a:endParaRPr lang="en-US" altLang="en-US" sz="1800" dirty="0"/>
          </a:p>
          <a:p>
            <a:r>
              <a:rPr lang="en-US" altLang="en-US" dirty="0"/>
              <a:t>A class provides a special type of methods called </a:t>
            </a:r>
            <a:r>
              <a:rPr lang="en-US" altLang="en-US" b="1" dirty="0"/>
              <a:t>constructors</a:t>
            </a:r>
            <a:r>
              <a:rPr lang="en-US" altLang="en-US" dirty="0"/>
              <a:t> which are invoked to construct objects from the class.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Classes: Example1</a:t>
            </a:r>
            <a:endParaRPr lang="en-US" b="1" dirty="0"/>
          </a:p>
        </p:txBody>
      </p:sp>
      <p:graphicFrame>
        <p:nvGraphicFramePr>
          <p:cNvPr id="4" name="Object 2" descr="class Circle {&#10;/** The radius of this circle */&#10;double radius = 1.0; &#10;&#10;/** Construct a circle object */&#10;public Circle() {&#10;}&#10;&#10;/** Construct a circle object */&#10;public Circle(double newRadius) {&#10;radius = newRadius;&#10;}&#10;&#10;/** Return the area of this circle */&#10;public double getArea() {&#10;return radius * radius * 3.14159;&#10;}&#10;}&#10;&#10;an arrow pointing from data field to double radius= 1.0;&#10;&#10;an arrow pointing from constructors to both the statements that are constructing a circle object&#10;&#10;an arrow pointing from method to the public double getArea() line in the code"/>
          <p:cNvGraphicFramePr>
            <a:graphicFrameLocks noChangeAspect="1"/>
          </p:cNvGraphicFramePr>
          <p:nvPr/>
        </p:nvGraphicFramePr>
        <p:xfrm>
          <a:off x="1346938" y="854036"/>
          <a:ext cx="6566297" cy="424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44281725" imgH="28622625" progId="Word.Picture.8">
                  <p:embed/>
                </p:oleObj>
              </mc:Choice>
              <mc:Fallback>
                <p:oleObj name="Picture" r:id="rId1" imgW="44281725" imgH="28622625" progId="Word.Picture.8">
                  <p:embed/>
                  <p:pic>
                    <p:nvPicPr>
                      <p:cNvPr id="0" name="Object 2" descr="class Circle {&#10;/** The radius of this circle */&#10;double radius = 1.0; &#10;&#10;/** Construct a circle object */&#10;public Circle() {&#10;}&#10;&#10;/** Construct a circle object */&#10;public Circle(double newRadius) {&#10;radius = newRadius;&#10;}&#10;&#10;/** Return the area of this circle */&#10;public double getArea() {&#10;return radius * radius * 3.14159;&#10;}&#10;}&#10;&#10;an arrow pointing from data field to double radius= 1.0;&#10;&#10;an arrow pointing from constructors to both the statements that are constructing a circle object&#10;&#10;an arrow pointing from method to the public double getArea() line in the c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938" y="854036"/>
                        <a:ext cx="6566297" cy="424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Classes: Example2 </a:t>
            </a:r>
            <a:endParaRPr lang="en-US" b="1" dirty="0"/>
          </a:p>
        </p:txBody>
      </p:sp>
      <p:graphicFrame>
        <p:nvGraphicFramePr>
          <p:cNvPr id="6" name="Object 2" descr="public class TestCircle {&#10;public static void main (String[] args) {&#10;Circle circle1 = new Circle();&#10;Circle circle2 = new Circle(25);&#10;Circle circle3 = new Circle(125);&#10;&#10;System.out.println(circle1.getArea() );&#10;System.out.println(circle2.getArea() );&#10;System.out.println(circle3.getArea() );&#10;&#10;System.out.println(circle1.radius);&#10;System.out.println(circle2.radius);&#10;System.out.println(circle3.radius);"/>
          <p:cNvGraphicFramePr>
            <a:graphicFrameLocks noChangeAspect="1"/>
          </p:cNvGraphicFramePr>
          <p:nvPr/>
        </p:nvGraphicFramePr>
        <p:xfrm>
          <a:off x="1316832" y="934956"/>
          <a:ext cx="6566297" cy="424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44281725" imgH="28622625" progId="Word.Picture.8">
                  <p:embed/>
                </p:oleObj>
              </mc:Choice>
              <mc:Fallback>
                <p:oleObj name="Picture" r:id="rId1" imgW="44281725" imgH="28622625" progId="Word.Picture.8">
                  <p:embed/>
                  <p:pic>
                    <p:nvPicPr>
                      <p:cNvPr id="0" name="Object 2" descr="public class TestCircle {&#10;public static void main (String[] args) {&#10;Circle circle1 = new Circle();&#10;Circle circle2 = new Circle(25);&#10;Circle circle3 = new Circle(125);&#10;&#10;System.out.println(circle1.getArea() );&#10;System.out.println(circle2.getArea() );&#10;System.out.println(circle3.getArea() );&#10;&#10;System.out.println(circle1.radius);&#10;System.out.println(circle2.radius);&#10;System.out.println(circle3.radius);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832" y="934956"/>
                        <a:ext cx="6566297" cy="424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UML Class Diagram</a:t>
            </a:r>
            <a:endParaRPr lang="en-US" b="1" dirty="0"/>
          </a:p>
        </p:txBody>
      </p:sp>
      <p:graphicFrame>
        <p:nvGraphicFramePr>
          <p:cNvPr id="4" name="Object 2" descr="UML Class Diagram&#10;&#10;Circle is the class name&#10;radius: double is the data fields&#10;Circle()&#10;Circle(newRadius:double)&#10;getArea(): double &#10;are all the constructors and methods&#10;&#10;UML notation for objects are &#10;circle1:Circle&#10;radius =1.0&#10;&#10;circle2: Circle&#10;radius = 25&#10;&#10;circle3: Circle&#10;radius = 125"/>
          <p:cNvGraphicFramePr>
            <a:graphicFrameLocks noChangeAspect="1"/>
          </p:cNvGraphicFramePr>
          <p:nvPr/>
        </p:nvGraphicFramePr>
        <p:xfrm>
          <a:off x="1231107" y="1214438"/>
          <a:ext cx="6684169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60940950" imgH="20040600" progId="Word.Picture.8">
                  <p:embed/>
                </p:oleObj>
              </mc:Choice>
              <mc:Fallback>
                <p:oleObj name="Picture" r:id="rId1" imgW="60940950" imgH="20040600" progId="Word.Picture.8">
                  <p:embed/>
                  <p:pic>
                    <p:nvPicPr>
                      <p:cNvPr id="0" name="Object 2" descr="UML Class Diagram&#10;&#10;Circle is the class name&#10;radius: double is the data fields&#10;Circle()&#10;Circle(newRadius:double)&#10;getArea(): double &#10;are all the constructors and methods&#10;&#10;UML notation for objects are &#10;circle1:Circle&#10;radius =1.0&#10;&#10;circle2: Circle&#10;radius = 25&#10;&#10;circle3: Circle&#10;radius =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107" y="1214438"/>
                        <a:ext cx="6684169" cy="220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84542" y="3778397"/>
            <a:ext cx="4234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sz="2400" kern="1200" dirty="0">
                <a:solidFill>
                  <a:schemeClr val="tx1"/>
                </a:solidFill>
                <a:latin typeface="Perpetua" panose="02020502060401020303"/>
                <a:ea typeface="+mn-ea"/>
                <a:cs typeface="+mn-cs"/>
              </a:rPr>
              <a:t>UML: Unified Modelling Language</a:t>
            </a:r>
            <a:endParaRPr lang="en-US" sz="2400" kern="1200" dirty="0">
              <a:solidFill>
                <a:schemeClr val="tx1"/>
              </a:solidFill>
              <a:latin typeface="Perpetua" panose="020205020604010203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Constructors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Constructors must have the same name as the class itself. </a:t>
            </a:r>
            <a:endParaRPr lang="en-US" altLang="en-US" dirty="0"/>
          </a:p>
          <a:p>
            <a:r>
              <a:rPr lang="en-US" altLang="en-US" dirty="0"/>
              <a:t>Constructors do not have a return type—not even void. </a:t>
            </a:r>
            <a:endParaRPr lang="en-US" altLang="en-US" dirty="0"/>
          </a:p>
          <a:p>
            <a:r>
              <a:rPr lang="en-US" altLang="en-US" b="1" dirty="0">
                <a:solidFill>
                  <a:schemeClr val="tx1"/>
                </a:solidFill>
              </a:rPr>
              <a:t>Constructors are invoked using the new operator </a:t>
            </a:r>
            <a:r>
              <a:rPr lang="en-US" altLang="en-US" dirty="0"/>
              <a:t>when an object is created – they initialize objects to </a:t>
            </a:r>
            <a:r>
              <a:rPr lang="en-US" altLang="en-US" b="1" dirty="0"/>
              <a:t>reference variables</a:t>
            </a:r>
            <a:r>
              <a:rPr lang="en-US" altLang="en-US" dirty="0"/>
              <a:t>:</a:t>
            </a:r>
            <a:endParaRPr lang="en-US" altLang="en-US" dirty="0"/>
          </a:p>
          <a:p>
            <a:pPr lvl="1">
              <a:buFont typeface="Monotype Sort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			</a:t>
            </a:r>
            <a:r>
              <a:rPr lang="en-US" altLang="en-US" sz="1800" dirty="0"/>
              <a:t>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ClassName</a:t>
            </a:r>
            <a:r>
              <a:rPr lang="en-US" altLang="en-US" sz="1800" b="1" dirty="0">
                <a:latin typeface="Courier New" panose="02070309020205020404" pitchFamily="49" charset="0"/>
              </a:rPr>
              <a:t> o = new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ClassName</a:t>
            </a:r>
            <a:r>
              <a:rPr lang="en-US" altLang="en-US" sz="1800" b="1" dirty="0">
                <a:latin typeface="Courier New" panose="02070309020205020404" pitchFamily="49" charset="0"/>
              </a:rPr>
              <a:t>();</a:t>
            </a:r>
            <a:endParaRPr lang="en-US" altLang="en-US" sz="1800" b="1" dirty="0"/>
          </a:p>
          <a:p>
            <a:pPr lvl="1"/>
            <a:r>
              <a:rPr lang="en-US" altLang="en-US" sz="1800" dirty="0"/>
              <a:t>Example:</a:t>
            </a:r>
            <a:endParaRPr lang="en-US" altLang="en-US" sz="1800" dirty="0"/>
          </a:p>
          <a:p>
            <a:pPr lvl="1">
              <a:buFont typeface="Monotype Sort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			</a:t>
            </a:r>
            <a:r>
              <a:rPr lang="en-US" altLang="en-US" sz="1800" b="1" dirty="0">
                <a:latin typeface="Courier New" panose="02070309020205020404" pitchFamily="49" charset="0"/>
              </a:rPr>
              <a:t>Circle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myCircle</a:t>
            </a:r>
            <a:r>
              <a:rPr lang="en-US" altLang="en-US" sz="1800" b="1" dirty="0">
                <a:latin typeface="Courier New" panose="02070309020205020404" pitchFamily="49" charset="0"/>
              </a:rPr>
              <a:t> = new Circle(5.0);</a:t>
            </a:r>
            <a:endParaRPr lang="en-US" altLang="en-US" sz="18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tx1"/>
                </a:solidFill>
              </a:rPr>
              <a:t>A class may be declared without constructors: a no-</a:t>
            </a:r>
            <a:r>
              <a:rPr lang="en-US" altLang="en-US" dirty="0" err="1">
                <a:solidFill>
                  <a:schemeClr val="tx1"/>
                </a:solidFill>
              </a:rPr>
              <a:t>arg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default constructor</a:t>
            </a:r>
            <a:r>
              <a:rPr lang="en-US" altLang="en-US" dirty="0">
                <a:solidFill>
                  <a:schemeClr val="tx1"/>
                </a:solidFill>
              </a:rPr>
              <a:t> with an empty body is implicitly declared in the class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Accessing Objects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Referencing the object’s data:</a:t>
            </a:r>
            <a:endParaRPr lang="en-US" altLang="en-US" dirty="0"/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        </a:t>
            </a:r>
            <a:r>
              <a:rPr lang="en-US" altLang="en-US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objectRefVar.data</a:t>
            </a:r>
            <a:endParaRPr lang="en-US" altLang="en-US" b="1" dirty="0">
              <a:solidFill>
                <a:schemeClr val="tx1"/>
              </a:solidFill>
            </a:endParaRPr>
          </a:p>
          <a:p>
            <a:pPr lvl="1"/>
            <a:r>
              <a:rPr lang="en-US" altLang="en-US" sz="1800" dirty="0">
                <a:latin typeface="Book Antiqua" panose="02040602050305030304" pitchFamily="18" charset="0"/>
              </a:rPr>
              <a:t> Example:</a:t>
            </a:r>
            <a:r>
              <a:rPr lang="en-US" altLang="en-US" sz="1800" i="1" dirty="0">
                <a:latin typeface="Book Antiqua" panose="02040602050305030304" pitchFamily="18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myCircle.radiu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s</a:t>
            </a:r>
            <a:endParaRPr lang="en-US" altLang="en-US" sz="1800" b="1" dirty="0"/>
          </a:p>
          <a:p>
            <a:r>
              <a:rPr lang="en-US" altLang="en-US" dirty="0"/>
              <a:t>Invoking the object’s method:</a:t>
            </a:r>
            <a:endParaRPr lang="en-US" altLang="en-US" dirty="0"/>
          </a:p>
          <a:p>
            <a:pPr>
              <a:buFont typeface="Monotype Sorts" pitchFamily="2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objectRefVar.methodName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(arguments)</a:t>
            </a:r>
            <a:endParaRPr lang="en-US" altLang="en-US" b="1" dirty="0">
              <a:solidFill>
                <a:schemeClr val="tx1"/>
              </a:solidFill>
            </a:endParaRPr>
          </a:p>
          <a:p>
            <a:pPr lvl="1"/>
            <a:r>
              <a:rPr lang="en-US" altLang="en-US" sz="1800" dirty="0">
                <a:latin typeface="Book Antiqua" panose="02040602050305030304" pitchFamily="18" charset="0"/>
              </a:rPr>
              <a:t> Example:</a:t>
            </a:r>
            <a:r>
              <a:rPr lang="en-US" altLang="en-US" sz="1800" i="1" dirty="0">
                <a:latin typeface="Book Antiqua" panose="02040602050305030304" pitchFamily="18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myCircle.getArea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()</a:t>
            </a:r>
            <a:endParaRPr lang="en-US" altLang="en-US" sz="1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Using Classes</a:t>
            </a:r>
            <a:endParaRPr lang="en-US" b="1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257300" y="1428751"/>
            <a:ext cx="3600450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Circle(5.0);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yourCircle.radius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100;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5" name="Rectangle 7" descr="box outlining Circle myCircle"/>
          <p:cNvSpPr>
            <a:spLocks noChangeArrowheads="1"/>
          </p:cNvSpPr>
          <p:nvPr/>
        </p:nvSpPr>
        <p:spPr bwMode="auto">
          <a:xfrm>
            <a:off x="1314451" y="1485900"/>
            <a:ext cx="1126331" cy="171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5522119" y="757238"/>
            <a:ext cx="1699022" cy="258366"/>
          </a:xfrm>
          <a:prstGeom prst="wedgeRoundRectCallout">
            <a:avLst>
              <a:gd name="adj1" fmla="val -25824"/>
              <a:gd name="adj2" fmla="val 245852"/>
              <a:gd name="adj3" fmla="val 16667"/>
            </a:avLst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Declare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271022" y="1534717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null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5436394" y="1515666"/>
            <a:ext cx="85010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Using Classes</a:t>
            </a:r>
            <a:endParaRPr lang="en-US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257300" y="1428751"/>
            <a:ext cx="3600450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Circle myCircle = new Circle(5.0);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Circle yourCircle = new Circle();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yourCircle.radius = 100;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0" name="Rectangle 6" descr="box outlining new Circle(5.0);"/>
          <p:cNvSpPr>
            <a:spLocks noChangeArrowheads="1"/>
          </p:cNvSpPr>
          <p:nvPr/>
        </p:nvSpPr>
        <p:spPr bwMode="auto">
          <a:xfrm>
            <a:off x="2584847" y="1477566"/>
            <a:ext cx="1238250" cy="200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271022" y="1534717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null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436394" y="1515666"/>
            <a:ext cx="85010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3823097" y="3570421"/>
            <a:ext cx="1266825" cy="316706"/>
          </a:xfrm>
          <a:prstGeom prst="wedgeRoundRectCallout">
            <a:avLst>
              <a:gd name="adj1" fmla="val 77162"/>
              <a:gd name="adj2" fmla="val -407144"/>
              <a:gd name="adj3" fmla="val 16667"/>
            </a:avLst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Create a 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27221" y="2088016"/>
            <a:ext cx="1814512" cy="317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/>
              <a:t>:Circle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527220" y="2404382"/>
            <a:ext cx="18145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  <a:p>
            <a:r>
              <a:rPr lang="en-US" dirty="0"/>
              <a:t>Radius: 5.0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Using Classes</a:t>
            </a:r>
            <a:endParaRPr lang="en-US" b="1" dirty="0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257300" y="1428751"/>
            <a:ext cx="3600450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Circle(5.0);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yourCircle.radius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100;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6" name="Rectangle 6" descr="box outlining ="/>
          <p:cNvSpPr>
            <a:spLocks noChangeArrowheads="1"/>
          </p:cNvSpPr>
          <p:nvPr/>
        </p:nvSpPr>
        <p:spPr bwMode="auto">
          <a:xfrm>
            <a:off x="2440781" y="1477567"/>
            <a:ext cx="144066" cy="20121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6271022" y="1534717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reference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19" name="Line 11" descr="arrow pointing from reference value to &#10;:Circle&#10;Radius: 5.0"/>
          <p:cNvSpPr>
            <a:spLocks noChangeShapeType="1"/>
          </p:cNvSpPr>
          <p:nvPr/>
        </p:nvSpPr>
        <p:spPr bwMode="auto">
          <a:xfrm flipH="1">
            <a:off x="6386512" y="1764507"/>
            <a:ext cx="491717" cy="519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anose="02020603050405020304" pitchFamily="16" charset="0"/>
              <a:ea typeface="+mn-ea"/>
              <a:cs typeface="+mn-cs"/>
            </a:endParaRPr>
          </a:p>
        </p:txBody>
      </p:sp>
      <p:sp>
        <p:nvSpPr>
          <p:cNvPr id="20" name="AutoShape 12"/>
          <p:cNvSpPr>
            <a:spLocks noChangeArrowheads="1"/>
          </p:cNvSpPr>
          <p:nvPr/>
        </p:nvSpPr>
        <p:spPr bwMode="auto">
          <a:xfrm>
            <a:off x="3332044" y="3016664"/>
            <a:ext cx="1872853" cy="547688"/>
          </a:xfrm>
          <a:prstGeom prst="wedgeRoundRectCallout">
            <a:avLst>
              <a:gd name="adj1" fmla="val 103571"/>
              <a:gd name="adj2" fmla="val -282977"/>
              <a:gd name="adj3" fmla="val 16667"/>
            </a:avLst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Assign object reference to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45578" y="2292123"/>
            <a:ext cx="1814512" cy="317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/>
              <a:t>:Circle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445577" y="2608489"/>
            <a:ext cx="18145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  <a:p>
            <a:r>
              <a:rPr lang="en-US" dirty="0"/>
              <a:t>Radius: 5.0</a:t>
            </a:r>
            <a:endParaRPr lang="en-US" dirty="0"/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436394" y="1515666"/>
            <a:ext cx="85010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Using Classes</a:t>
            </a:r>
            <a:endParaRPr lang="en-US" b="1" dirty="0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257300" y="1631680"/>
            <a:ext cx="3600450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Circle(5.0);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yourCircle.radius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100;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6271022" y="920354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reference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5436394" y="901303"/>
            <a:ext cx="85010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4" name="Line 10" descr="arrow pointing from reference value to &#10;:Circle&#10;Radius: 5.0"/>
          <p:cNvSpPr>
            <a:spLocks noChangeShapeType="1"/>
          </p:cNvSpPr>
          <p:nvPr/>
        </p:nvSpPr>
        <p:spPr bwMode="auto">
          <a:xfrm flipH="1">
            <a:off x="6386512" y="1150143"/>
            <a:ext cx="507901" cy="5191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anose="02020603050405020304" pitchFamily="16" charset="0"/>
              <a:ea typeface="+mn-ea"/>
              <a:cs typeface="+mn-cs"/>
            </a:endParaRPr>
          </a:p>
        </p:txBody>
      </p:sp>
      <p:sp>
        <p:nvSpPr>
          <p:cNvPr id="21" name="Rectangle 12" descr="box outlining Circle yourCircle"/>
          <p:cNvSpPr>
            <a:spLocks noChangeArrowheads="1"/>
          </p:cNvSpPr>
          <p:nvPr/>
        </p:nvSpPr>
        <p:spPr bwMode="auto">
          <a:xfrm>
            <a:off x="1288256" y="2092452"/>
            <a:ext cx="1238250" cy="20121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6271022" y="2687242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null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5436394" y="2668191"/>
            <a:ext cx="92154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4" name="AutoShape 11"/>
          <p:cNvSpPr>
            <a:spLocks noChangeArrowheads="1"/>
          </p:cNvSpPr>
          <p:nvPr/>
        </p:nvSpPr>
        <p:spPr bwMode="auto">
          <a:xfrm>
            <a:off x="5378054" y="3665935"/>
            <a:ext cx="2132409" cy="375047"/>
          </a:xfrm>
          <a:prstGeom prst="wedgeRoundRectCallout">
            <a:avLst>
              <a:gd name="adj1" fmla="val -5444"/>
              <a:gd name="adj2" fmla="val -261431"/>
              <a:gd name="adj3" fmla="val 16667"/>
            </a:avLst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200" kern="1200">
                <a:solidFill>
                  <a:prstClr val="black"/>
                </a:solidFill>
                <a:ea typeface="+mn-ea"/>
                <a:cs typeface="+mn-cs"/>
              </a:rPr>
              <a:t>Declare yourCircle</a:t>
            </a: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06810" y="1710418"/>
            <a:ext cx="1814512" cy="317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/>
              <a:t>:Circle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506809" y="2026784"/>
            <a:ext cx="18145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  <a:p>
            <a:r>
              <a:rPr lang="en-US" dirty="0"/>
              <a:t>Radius: 5.0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Using Classes</a:t>
            </a:r>
            <a:endParaRPr lang="en-US" b="1" dirty="0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257300" y="1146160"/>
            <a:ext cx="3600450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Circle(5.0);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yourCircle.radius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100;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6271022" y="1252126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reference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5436394" y="1233075"/>
            <a:ext cx="85010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Line 9" descr="arrow pointing from reference value to &#10;:Circle&#10;Radius: 5.0"/>
          <p:cNvSpPr>
            <a:spLocks noChangeShapeType="1"/>
          </p:cNvSpPr>
          <p:nvPr/>
        </p:nvSpPr>
        <p:spPr bwMode="auto">
          <a:xfrm flipH="1">
            <a:off x="6386512" y="1500967"/>
            <a:ext cx="478631" cy="500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anose="02020603050405020304" pitchFamily="16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6271022" y="3019014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null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5436394" y="2999963"/>
            <a:ext cx="92154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6" name="Rectangle 14" descr="box outlining new Circle();"/>
          <p:cNvSpPr>
            <a:spLocks noChangeArrowheads="1"/>
          </p:cNvSpPr>
          <p:nvPr/>
        </p:nvSpPr>
        <p:spPr bwMode="auto">
          <a:xfrm>
            <a:off x="2699147" y="1578357"/>
            <a:ext cx="951309" cy="23098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8" name="AutoShape 16"/>
          <p:cNvSpPr>
            <a:spLocks noChangeArrowheads="1"/>
          </p:cNvSpPr>
          <p:nvPr/>
        </p:nvSpPr>
        <p:spPr bwMode="auto">
          <a:xfrm>
            <a:off x="3823098" y="4027473"/>
            <a:ext cx="1353740" cy="489347"/>
          </a:xfrm>
          <a:prstGeom prst="wedgeRoundRectCallout">
            <a:avLst>
              <a:gd name="adj1" fmla="val 89227"/>
              <a:gd name="adj2" fmla="val -87227"/>
              <a:gd name="adj3" fmla="val 16667"/>
            </a:avLst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Create a new Circle object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57837" y="2036989"/>
            <a:ext cx="1814512" cy="317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/>
              <a:t>:Circle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557836" y="2353355"/>
            <a:ext cx="18145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  <a:p>
            <a:r>
              <a:rPr lang="en-US" dirty="0"/>
              <a:t>Radius: 5.0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761264" y="3597729"/>
            <a:ext cx="1814512" cy="317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/>
              <a:t>:Circle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61263" y="3914095"/>
            <a:ext cx="18145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  <a:p>
            <a:r>
              <a:rPr lang="en-US" dirty="0"/>
              <a:t>Radius: 1.0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Using Classes</a:t>
            </a:r>
            <a:endParaRPr lang="en-US" b="1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257300" y="1146160"/>
            <a:ext cx="3600450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Circle(5.0);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yourCircle.radius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100;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6271022" y="1252126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reference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5436394" y="1233075"/>
            <a:ext cx="85010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4" name="Line 9" descr="arrow pointing from reference value to &#10;:Circle&#10;Radius: 5.0"/>
          <p:cNvSpPr>
            <a:spLocks noChangeShapeType="1"/>
          </p:cNvSpPr>
          <p:nvPr/>
        </p:nvSpPr>
        <p:spPr bwMode="auto">
          <a:xfrm flipH="1">
            <a:off x="6386513" y="1396191"/>
            <a:ext cx="489347" cy="604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anose="02020603050405020304" pitchFamily="16" charset="0"/>
              <a:ea typeface="+mn-ea"/>
              <a:cs typeface="+mn-cs"/>
            </a:endParaRP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6271022" y="3019014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reference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5436394" y="2999963"/>
            <a:ext cx="92154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31" name="Rectangle 12" descr="box outlining ="/>
          <p:cNvSpPr>
            <a:spLocks noChangeArrowheads="1"/>
          </p:cNvSpPr>
          <p:nvPr/>
        </p:nvSpPr>
        <p:spPr bwMode="auto">
          <a:xfrm>
            <a:off x="2526506" y="1606932"/>
            <a:ext cx="172641" cy="20121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33" name="AutoShape 15"/>
          <p:cNvSpPr>
            <a:spLocks noChangeArrowheads="1"/>
          </p:cNvSpPr>
          <p:nvPr/>
        </p:nvSpPr>
        <p:spPr bwMode="auto">
          <a:xfrm>
            <a:off x="3650456" y="3421444"/>
            <a:ext cx="1871663" cy="519113"/>
          </a:xfrm>
          <a:prstGeom prst="wedgeRoundRectCallout">
            <a:avLst>
              <a:gd name="adj1" fmla="val 98028"/>
              <a:gd name="adj2" fmla="val -52523"/>
              <a:gd name="adj3" fmla="val 16667"/>
            </a:avLst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Assign object reference to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34" name="Line 16" descr="arrow pointing from reference value to &#10;:Circle&#10;Radius: 1.0"/>
          <p:cNvSpPr>
            <a:spLocks noChangeShapeType="1"/>
          </p:cNvSpPr>
          <p:nvPr/>
        </p:nvSpPr>
        <p:spPr bwMode="auto">
          <a:xfrm flipH="1">
            <a:off x="6473428" y="3191653"/>
            <a:ext cx="489347" cy="604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latin typeface="Times New Roman" panose="02020603050405020304" pitchFamily="16" charset="0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45578" y="2036989"/>
            <a:ext cx="1814512" cy="317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/>
              <a:t>:Circle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445577" y="2353355"/>
            <a:ext cx="18145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  <a:p>
            <a:r>
              <a:rPr lang="en-US" dirty="0"/>
              <a:t>Radius: 5.0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721123" y="3822927"/>
            <a:ext cx="1814512" cy="317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/>
              <a:t>:Circle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21122" y="4139293"/>
            <a:ext cx="18145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  <a:p>
            <a:r>
              <a:rPr lang="en-US" dirty="0"/>
              <a:t>Radius: 1.0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Using Classes</a:t>
            </a:r>
            <a:endParaRPr lang="en-US" b="1" dirty="0"/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257300" y="1146160"/>
            <a:ext cx="3600450" cy="1131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Circle(5.0);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Circle </a:t>
            </a: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new Circle();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 dirty="0" err="1">
                <a:solidFill>
                  <a:prstClr val="black"/>
                </a:solidFill>
                <a:ea typeface="+mn-ea"/>
                <a:cs typeface="+mn-cs"/>
              </a:rPr>
              <a:t>yourCircle.radius</a:t>
            </a:r>
            <a:r>
              <a:rPr lang="en-US" altLang="en-US" sz="1350" kern="1200" dirty="0">
                <a:solidFill>
                  <a:prstClr val="black"/>
                </a:solidFill>
                <a:ea typeface="+mn-ea"/>
                <a:cs typeface="+mn-cs"/>
              </a:rPr>
              <a:t> = 100;</a:t>
            </a:r>
            <a:endParaRPr lang="en-US" altLang="en-US" sz="1350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6271022" y="1252126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reference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5436394" y="1233075"/>
            <a:ext cx="85010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myCircle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19" name="Line 9" descr="arrow pointing from reference value to &#10;:Circle&#10;Radius: 5.0"/>
          <p:cNvSpPr>
            <a:spLocks noChangeShapeType="1"/>
          </p:cNvSpPr>
          <p:nvPr/>
        </p:nvSpPr>
        <p:spPr bwMode="auto">
          <a:xfrm flipH="1">
            <a:off x="6386512" y="1520015"/>
            <a:ext cx="478631" cy="4810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anose="02020603050405020304" pitchFamily="16" charset="0"/>
              <a:ea typeface="+mn-ea"/>
              <a:cs typeface="+mn-cs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6271022" y="3019014"/>
            <a:ext cx="1143000" cy="229790"/>
          </a:xfrm>
          <a:prstGeom prst="rect">
            <a:avLst/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6858" tIns="6858" rIns="6858" bIns="6858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b="1" kern="1200" dirty="0">
                <a:latin typeface="Times New Roman" panose="02020603050405020304"/>
                <a:ea typeface="+mn-ea"/>
                <a:cs typeface="Times New Roman" panose="02020603050405020304"/>
              </a:rPr>
              <a:t>reference value</a:t>
            </a:r>
            <a:endParaRPr lang="en-US" altLang="en-US" sz="1350" b="1" kern="1200" dirty="0"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5436394" y="2999963"/>
            <a:ext cx="92154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350" kern="1200">
                <a:solidFill>
                  <a:prstClr val="black"/>
                </a:solidFill>
                <a:ea typeface="+mn-ea"/>
                <a:cs typeface="+mn-cs"/>
              </a:rPr>
              <a:t>yourCircle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6" name="Rectangle 12" descr="box outlining yourCircle radius = 100;"/>
          <p:cNvSpPr>
            <a:spLocks noChangeArrowheads="1"/>
          </p:cNvSpPr>
          <p:nvPr/>
        </p:nvSpPr>
        <p:spPr bwMode="auto">
          <a:xfrm>
            <a:off x="1288257" y="2010553"/>
            <a:ext cx="3342085" cy="2012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20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8" name="AutoShape 14"/>
          <p:cNvSpPr>
            <a:spLocks noChangeArrowheads="1"/>
          </p:cNvSpPr>
          <p:nvPr/>
        </p:nvSpPr>
        <p:spPr bwMode="auto">
          <a:xfrm>
            <a:off x="3419475" y="3969132"/>
            <a:ext cx="1872854" cy="604838"/>
          </a:xfrm>
          <a:prstGeom prst="wedgeRoundRectCallout">
            <a:avLst>
              <a:gd name="adj1" fmla="val 73269"/>
              <a:gd name="adj2" fmla="val -7875"/>
              <a:gd name="adj3" fmla="val 16667"/>
            </a:avLst>
          </a:prstGeom>
          <a:solidFill>
            <a:schemeClr val="bg2">
              <a:alpha val="2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200" kern="1200">
                <a:solidFill>
                  <a:prstClr val="black"/>
                </a:solidFill>
                <a:ea typeface="+mn-ea"/>
                <a:cs typeface="+mn-cs"/>
              </a:rPr>
              <a:t>Change radius in yourCircle</a:t>
            </a:r>
            <a:endParaRPr lang="en-US" altLang="en-US" sz="1350" kern="1200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35" name="Line 15" descr="arrow pointing from reference value to &#10;:Circle&#10;Radius: 100.0"/>
          <p:cNvSpPr>
            <a:spLocks noChangeShapeType="1"/>
          </p:cNvSpPr>
          <p:nvPr/>
        </p:nvSpPr>
        <p:spPr bwMode="auto">
          <a:xfrm flipH="1">
            <a:off x="6473428" y="3191653"/>
            <a:ext cx="489347" cy="6048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anose="02020603050405020304" pitchFamily="16" charset="0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04757" y="2047195"/>
            <a:ext cx="1814512" cy="317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/>
              <a:t>:Circle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404756" y="2363561"/>
            <a:ext cx="18145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  <a:p>
            <a:r>
              <a:rPr lang="en-US" dirty="0"/>
              <a:t>Radius: 5.0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792560" y="3822927"/>
            <a:ext cx="1814512" cy="317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dirty="0"/>
              <a:t>:Circle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92559" y="4139293"/>
            <a:ext cx="181451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  <a:p>
            <a:r>
              <a:rPr lang="en-US" dirty="0"/>
              <a:t>Radius: 100.0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Static Vs Non-static 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tabLst>
                <a:tab pos="0" algn="l"/>
              </a:tabLst>
              <a:defRPr/>
            </a:pPr>
            <a:r>
              <a:rPr lang="en-US" sz="2300" dirty="0"/>
              <a:t> </a:t>
            </a:r>
            <a:r>
              <a:rPr lang="en-US" sz="1800" b="1" dirty="0"/>
              <a:t>Static methods:  </a:t>
            </a:r>
            <a:endParaRPr lang="en-US" sz="1800" b="1" dirty="0"/>
          </a:p>
          <a:p>
            <a:pPr>
              <a:spcBef>
                <a:spcPct val="50000"/>
              </a:spcBef>
              <a:defRPr/>
            </a:pPr>
            <a:r>
              <a:rPr lang="en-US" sz="1800" dirty="0"/>
              <a:t>Shared by all the instances of the class - not tied to a specific object. </a:t>
            </a:r>
            <a:endParaRPr lang="en-US" sz="1800" dirty="0"/>
          </a:p>
          <a:p>
            <a:pPr lvl="1">
              <a:spcBef>
                <a:spcPct val="50000"/>
              </a:spcBef>
              <a:buFont typeface="Wingdings 2" panose="05020102010507070707" pitchFamily="18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double d = </a:t>
            </a:r>
            <a:r>
              <a:rPr lang="en-US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(3, 2.5);</a:t>
            </a:r>
            <a:endParaRPr lang="en-US" sz="1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sz="1800" dirty="0"/>
              <a:t>Static constants are final variables shared by all the instances of the class.</a:t>
            </a:r>
            <a:endParaRPr lang="en-US" sz="1800" dirty="0"/>
          </a:p>
          <a:p>
            <a:pPr marL="114300" indent="0">
              <a:buNone/>
            </a:pPr>
            <a:endParaRPr lang="en-US" altLang="en-US" sz="1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733365" y="1152475"/>
            <a:ext cx="4098935" cy="3416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tabLst>
                <a:tab pos="0" algn="l"/>
              </a:tabLst>
              <a:defRPr/>
            </a:pPr>
            <a:r>
              <a:rPr lang="en-US" sz="2300" b="1" dirty="0"/>
              <a:t>Non-static methods</a:t>
            </a:r>
            <a:endParaRPr lang="en-US" sz="2300" b="1" dirty="0"/>
          </a:p>
          <a:p>
            <a:pPr marL="342900" indent="-342900">
              <a:tabLst>
                <a:tab pos="0" algn="l"/>
              </a:tabLst>
              <a:defRPr/>
            </a:pPr>
            <a:r>
              <a:rPr lang="en-US" sz="2300" dirty="0"/>
              <a:t>Must be invoked from an object.</a:t>
            </a:r>
            <a:endParaRPr lang="en-US" sz="2300" dirty="0"/>
          </a:p>
          <a:p>
            <a:pPr marL="342900" indent="-342900">
              <a:tabLst>
                <a:tab pos="0" algn="l"/>
              </a:tabLst>
              <a:defRPr/>
            </a:pPr>
            <a:r>
              <a:rPr lang="en-US" sz="2300" dirty="0"/>
              <a:t>Instance variables belong to a specific instance.</a:t>
            </a:r>
            <a:endParaRPr lang="en-US" sz="2300" dirty="0"/>
          </a:p>
          <a:p>
            <a:pPr marL="91440" indent="-342900">
              <a:tabLst>
                <a:tab pos="0" algn="l"/>
              </a:tabLst>
              <a:defRPr/>
            </a:pPr>
            <a:r>
              <a:rPr lang="en-US" sz="2500" dirty="0"/>
              <a:t>Instance methods are invoked     by an instance of the class.</a:t>
            </a:r>
            <a:endParaRPr lang="en-US" sz="2500" dirty="0"/>
          </a:p>
          <a:p>
            <a:pPr lvl="1">
              <a:spcBef>
                <a:spcPct val="50000"/>
              </a:spcBef>
              <a:buNone/>
              <a:tabLst>
                <a:tab pos="0" algn="l"/>
              </a:tabLst>
              <a:defRPr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 d1 = </a:t>
            </a:r>
            <a:r>
              <a:rPr lang="en-US" sz="23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myCircle.getArea</a:t>
            </a:r>
            <a:r>
              <a:rPr lang="en-US" sz="23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ct val="50000"/>
              </a:spcBef>
              <a:buNone/>
              <a:tabLst>
                <a:tab pos="0" algn="l"/>
              </a:tabLst>
              <a:defRPr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double d2 = </a:t>
            </a:r>
            <a:r>
              <a:rPr lang="en-US" sz="23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yourCircle.getArea</a:t>
            </a:r>
            <a:r>
              <a:rPr lang="en-US" sz="23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anose="02020603050405020304" pitchFamily="16" charset="0"/>
              </a:rPr>
              <a:t>Default values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en-US" kern="1200" dirty="0">
                <a:solidFill>
                  <a:prstClr val="black"/>
                </a:solidFill>
                <a:cs typeface="Times New Roman" panose="02020603050405020304" pitchFamily="16" charset="0"/>
              </a:rPr>
              <a:t>Java assigns no default value to a local variable inside a method. </a:t>
            </a:r>
            <a:endParaRPr lang="en-US" altLang="en-US" kern="1200" dirty="0">
              <a:solidFill>
                <a:prstClr val="black"/>
              </a:solidFill>
              <a:cs typeface="Times New Roman" panose="02020603050405020304" pitchFamily="16" charset="0"/>
            </a:endParaRPr>
          </a:p>
          <a:p>
            <a:pPr marL="114300" indent="0">
              <a:buNone/>
            </a:pPr>
            <a:endParaRPr lang="en-US" altLang="en-US" sz="1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4286" y="1741107"/>
            <a:ext cx="6457950" cy="2179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Arial" panose="020B0604020202020204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Arial" panose="020B0604020202020204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Arial" panose="020B0604020202020204"/>
              <a:buNone/>
            </a:pP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 // x has no default value</a:t>
            </a:r>
            <a:endParaRPr lang="en-US" alt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Arial" panose="020B0604020202020204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String y; // y has no default value</a:t>
            </a:r>
            <a:endParaRPr lang="en-US" alt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Arial" panose="020B0604020202020204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("x is " +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Arial" panose="020B0604020202020204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("y is " +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Arial" panose="020B0604020202020204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SzPct val="75000"/>
              <a:buFont typeface="Arial" panose="020B0604020202020204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394437" y="3634925"/>
            <a:ext cx="651148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kern="1200" dirty="0">
                <a:ea typeface="+mn-ea"/>
                <a:cs typeface="+mn-cs"/>
              </a:rPr>
              <a:t>Compilation error: the variables are not initialized</a:t>
            </a:r>
            <a:endParaRPr lang="en-US" altLang="en-US" sz="1800" kern="1200" dirty="0">
              <a:ea typeface="+mn-ea"/>
              <a:cs typeface="+mn-cs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kern="1200" dirty="0">
                <a:ea typeface="+mn-ea"/>
                <a:cs typeface="+mn-cs"/>
              </a:rPr>
              <a:t>BUT it assigns default values to data fields!</a:t>
            </a:r>
            <a:endParaRPr lang="en-US" altLang="en-US" sz="1800" kern="1200" dirty="0">
              <a:ea typeface="+mn-ea"/>
              <a:cs typeface="+mn-cs"/>
            </a:endParaRPr>
          </a:p>
        </p:txBody>
      </p:sp>
      <p:sp>
        <p:nvSpPr>
          <p:cNvPr id="7" name="Line 4" descr="an arrow pointing from &quot;Compilation error: the variables are not initialized&quot; to x"/>
          <p:cNvSpPr>
            <a:spLocks noChangeShapeType="1"/>
          </p:cNvSpPr>
          <p:nvPr/>
        </p:nvSpPr>
        <p:spPr bwMode="auto">
          <a:xfrm flipH="1">
            <a:off x="4486526" y="2979386"/>
            <a:ext cx="800100" cy="628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arrow" w="lg" len="lg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anose="02020603050405020304" pitchFamily="16" charset="0"/>
              <a:ea typeface="+mn-ea"/>
              <a:cs typeface="+mn-cs"/>
            </a:endParaRPr>
          </a:p>
        </p:txBody>
      </p:sp>
      <p:sp>
        <p:nvSpPr>
          <p:cNvPr id="8" name="Line 4" descr="an arrow pointing from &quot;Compilation error: the variables are not initialized&quot; to y"/>
          <p:cNvSpPr>
            <a:spLocks noChangeShapeType="1"/>
          </p:cNvSpPr>
          <p:nvPr/>
        </p:nvSpPr>
        <p:spPr bwMode="auto">
          <a:xfrm flipH="1">
            <a:off x="4486526" y="3183756"/>
            <a:ext cx="800100" cy="42428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arrow" w="lg" len="lg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anose="02020603050405020304" pitchFamily="1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6" charset="0"/>
              </a:rPr>
              <a:t>Reference Data Fields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74106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altLang="en-US" dirty="0"/>
              <a:t> The data fields can also be of reference types.</a:t>
            </a: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sz="1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56731" y="1913922"/>
            <a:ext cx="6928401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dk2"/>
                </a:solidFill>
                <a:latin typeface="Arial" panose="020B0604020202020204"/>
              </a:rPr>
              <a:t>Example:</a:t>
            </a:r>
            <a:endParaRPr lang="en-US" altLang="en-US" sz="1800" dirty="0">
              <a:solidFill>
                <a:schemeClr val="dk2"/>
              </a:solidFill>
              <a:latin typeface="Arial" panose="020B060402020202020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 class Student {</a:t>
            </a:r>
            <a:endParaRPr lang="en-US" altLang="en-US" sz="1800" b="1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String name; </a:t>
            </a:r>
            <a:r>
              <a:rPr lang="en-US" altLang="en-US" sz="1800" b="1" kern="1200" dirty="0">
                <a:solidFill>
                  <a:schemeClr val="bg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name has default value </a:t>
            </a: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</a:t>
            </a:r>
            <a:endParaRPr lang="en-US" altLang="en-US" sz="1800" b="1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en-US" sz="1800" b="1" kern="120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</a:t>
            </a: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age; </a:t>
            </a:r>
            <a:r>
              <a:rPr lang="en-US" altLang="en-US" sz="1800" b="1" kern="1200" dirty="0">
                <a:solidFill>
                  <a:schemeClr val="bg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age has default value </a:t>
            </a: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0</a:t>
            </a:r>
            <a:endParaRPr lang="en-US" altLang="en-US" sz="1800" b="1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en-US" sz="1800" b="1" kern="120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boolean</a:t>
            </a: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en-US" sz="1800" b="1" kern="1200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isScienceMajor</a:t>
            </a: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 </a:t>
            </a:r>
            <a:endParaRPr lang="en-US" altLang="en-US" sz="1800" b="1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schemeClr val="bg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// </a:t>
            </a:r>
            <a:r>
              <a:rPr lang="en-US" altLang="en-US" sz="1800" b="1" kern="1200" dirty="0" err="1">
                <a:solidFill>
                  <a:schemeClr val="bg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isScienceMajor</a:t>
            </a:r>
            <a:r>
              <a:rPr lang="en-US" altLang="en-US" sz="1800" b="1" kern="1200" dirty="0">
                <a:solidFill>
                  <a:schemeClr val="bg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has default value</a:t>
            </a:r>
            <a:r>
              <a:rPr lang="en-US" altLang="en-US" sz="18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false</a:t>
            </a:r>
            <a:endParaRPr lang="en-US" altLang="en-US" sz="1800" b="1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char gender; </a:t>
            </a:r>
            <a:r>
              <a:rPr lang="en-US" altLang="en-US" sz="1800" b="1" kern="1200" dirty="0">
                <a:solidFill>
                  <a:schemeClr val="bg2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c has default value </a:t>
            </a:r>
            <a:r>
              <a:rPr lang="en-US" altLang="en-US" sz="18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'\u0000'</a:t>
            </a:r>
            <a:endParaRPr lang="en-US" altLang="en-US" sz="1800" b="1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endParaRPr lang="en-US" altLang="en-US" sz="1800" b="1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6" charset="0"/>
              </a:rPr>
              <a:t>Reference Data Fields: Contd..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</a:pPr>
            <a:r>
              <a:rPr lang="en-US" kern="1200" dirty="0">
                <a:solidFill>
                  <a:prstClr val="black"/>
                </a:solidFill>
                <a:latin typeface="+mn-lt"/>
              </a:rPr>
              <a:t>If a data field of a reference type does not reference any object, the data field holds a special literal value</a:t>
            </a:r>
            <a:r>
              <a:rPr lang="en-US" kern="1200" dirty="0">
                <a:solidFill>
                  <a:prstClr val="black"/>
                </a:solidFill>
                <a:latin typeface="Perpetua" panose="02020502060401020303"/>
              </a:rPr>
              <a:t>: </a:t>
            </a:r>
            <a:r>
              <a:rPr lang="en-US" sz="1500" b="1" kern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kern="1200" dirty="0">
                <a:solidFill>
                  <a:prstClr val="black"/>
                </a:solidFill>
                <a:latin typeface="Perpetua" panose="02020502060401020303"/>
              </a:rPr>
              <a:t>. </a:t>
            </a:r>
            <a:endParaRPr lang="en-US" kern="1200" dirty="0">
              <a:solidFill>
                <a:prstClr val="black"/>
              </a:solidFill>
              <a:latin typeface="Perpetua" panose="02020502060401020303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75974" y="1891265"/>
            <a:ext cx="825343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6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 class Test {</a:t>
            </a:r>
            <a:endParaRPr lang="en-US" altLang="en-US" sz="1400" b="1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public static void main(String[] 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args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{</a:t>
            </a:r>
            <a:endParaRPr lang="en-US" altLang="en-US" sz="1400" b="1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Student 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student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Student();</a:t>
            </a:r>
            <a:endParaRPr lang="en-US" altLang="en-US" sz="1400" b="1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System.out.println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("name? " + student.name); 	</a:t>
            </a:r>
            <a:r>
              <a:rPr lang="en-US" altLang="en-US" sz="14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null</a:t>
            </a:r>
            <a:endParaRPr lang="en-US" altLang="en-US" sz="1400" b="1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System.out.println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("age? " + 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student.age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	</a:t>
            </a:r>
            <a:r>
              <a:rPr lang="en-US" altLang="en-US" sz="14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0</a:t>
            </a:r>
            <a:endParaRPr lang="en-US" altLang="en-US" sz="1400" b="1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System.out.println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("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isScienceMajor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? " + 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student.isScienceMajor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  <a:endParaRPr lang="en-US" altLang="en-US" sz="1400" b="1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				</a:t>
            </a:r>
            <a:r>
              <a:rPr lang="en-US" altLang="en-US" sz="1400" b="1" kern="120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false </a:t>
            </a:r>
            <a:endParaRPr lang="en-US" altLang="en-US" sz="1400" b="1" kern="1200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System.out.println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("gender? " + </a:t>
            </a:r>
            <a:r>
              <a:rPr lang="en-US" altLang="en-US" sz="1400" b="1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student.gender</a:t>
            </a: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  <a:endParaRPr lang="en-US" altLang="en-US" sz="1400" b="1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}</a:t>
            </a:r>
            <a:endParaRPr lang="en-US" altLang="en-US" sz="1400" b="1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Tx/>
              <a:buNone/>
            </a:pPr>
            <a:r>
              <a:rPr lang="en-US" altLang="en-US" sz="1400" b="1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endParaRPr lang="en-US" altLang="en-US" sz="1400" b="1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6" charset="0"/>
              </a:rPr>
              <a:t>Primitive data types Vs. Reference types</a:t>
            </a:r>
            <a:endParaRPr lang="en-US" b="1" dirty="0"/>
          </a:p>
        </p:txBody>
      </p:sp>
      <p:graphicFrame>
        <p:nvGraphicFramePr>
          <p:cNvPr id="5" name="Object 2" descr="primitive type int i = 1&#10;i is 1 &#10;object type Circle c &#10;c is a reference &#10;c: Circle with radius:1 is created using new Circle()"/>
          <p:cNvGraphicFramePr>
            <a:graphicFrameLocks noChangeAspect="1"/>
          </p:cNvGraphicFramePr>
          <p:nvPr/>
        </p:nvGraphicFramePr>
        <p:xfrm>
          <a:off x="311548" y="1152611"/>
          <a:ext cx="6457950" cy="1593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54987825" imgH="13601700" progId="Word.Picture.8">
                  <p:embed/>
                </p:oleObj>
              </mc:Choice>
              <mc:Fallback>
                <p:oleObj name="Picture" r:id="rId1" imgW="54987825" imgH="13601700" progId="Word.Picture.8">
                  <p:embed/>
                  <p:pic>
                    <p:nvPicPr>
                      <p:cNvPr id="0" name="Object 2" descr="primitive type int i = 1&#10;i is 1 &#10;object type Circle c &#10;c is a reference &#10;c: Circle with radius:1 is created using new Circle()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48" y="1152611"/>
                        <a:ext cx="6457950" cy="1593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6" charset="0"/>
              </a:rPr>
              <a:t>Copying Primitive data types Vs. Reference types</a:t>
            </a:r>
            <a:endParaRPr lang="en-US" b="1" dirty="0"/>
          </a:p>
        </p:txBody>
      </p:sp>
      <p:graphicFrame>
        <p:nvGraphicFramePr>
          <p:cNvPr id="4" name="Object 2" descr="primitive type assignment i = j&#10;before:&#10;i = 1&#10;j = 2&#10;&#10;after&#10;i = 2&#10;j =2"/>
          <p:cNvGraphicFramePr>
            <a:graphicFrameLocks noChangeAspect="1"/>
          </p:cNvGraphicFramePr>
          <p:nvPr/>
        </p:nvGraphicFramePr>
        <p:xfrm>
          <a:off x="1873912" y="1004550"/>
          <a:ext cx="3289325" cy="1827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2156460" imgH="1197610" progId="Word.Picture.8">
                  <p:embed/>
                </p:oleObj>
              </mc:Choice>
              <mc:Fallback>
                <p:oleObj name="Picture" r:id="rId1" imgW="2156460" imgH="1197610" progId="Word.Picture.8">
                  <p:embed/>
                  <p:pic>
                    <p:nvPicPr>
                      <p:cNvPr id="0" name="Object 2" descr="primitive type assignment i = j&#10;before:&#10;i = 1&#10;j = 2&#10;&#10;after&#10;i = 2&#10;j =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912" y="1004550"/>
                        <a:ext cx="3289325" cy="1827094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 descr="object type assignment c1 = c2&#10;&#10;before:&#10;c1 is c1:Circle with radius=5&#10;c2 is c2:Circle with radius=9&#10;&#10;after&#10;c1 is c2:Circle with radius=9&#10;c2 is c2:Circle with radius=9"/>
          <p:cNvGraphicFramePr>
            <a:graphicFrameLocks noChangeAspect="1"/>
          </p:cNvGraphicFramePr>
          <p:nvPr/>
        </p:nvGraphicFramePr>
        <p:xfrm>
          <a:off x="1595338" y="2917395"/>
          <a:ext cx="4013597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Picture" r:id="rId3" imgW="43024425" imgH="21802725" progId="Word.Picture.8">
                  <p:embed/>
                </p:oleObj>
              </mc:Choice>
              <mc:Fallback>
                <p:oleObj name="Picture" r:id="rId3" imgW="43024425" imgH="21802725" progId="Word.Picture.8">
                  <p:embed/>
                  <p:pic>
                    <p:nvPicPr>
                      <p:cNvPr id="0" name="Object 3" descr="object type assignment c1 = c2&#10;&#10;before:&#10;c1 is c1:Circle with radius=5&#10;c2 is c2:Circle with radius=9&#10;&#10;after&#10;c1 is c2:Circle with radius=9&#10;c2 is c2:Circle with radius=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338" y="2917395"/>
                        <a:ext cx="4013597" cy="203358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5724150" y="2946199"/>
            <a:ext cx="33551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kern="12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- The object previously referenced by c1 is no longer referenced – it is called </a:t>
            </a:r>
            <a:r>
              <a:rPr lang="en-US" altLang="en-US" sz="1800" i="1" kern="12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garbage</a:t>
            </a:r>
            <a:endParaRPr lang="en-US" altLang="en-US" sz="1800" i="1" kern="1200" dirty="0">
              <a:solidFill>
                <a:prstClr val="black"/>
              </a:solidFill>
              <a:latin typeface="+mn-lt"/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kern="12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- Garbage is automatically collected by JVM = </a:t>
            </a:r>
            <a:r>
              <a:rPr lang="en-US" altLang="en-US" sz="1800" i="1" kern="12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garbage collection</a:t>
            </a:r>
            <a:endParaRPr lang="en-US" altLang="en-US" sz="1800" kern="1200" dirty="0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882d3af580b91c18edc160109d075412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9ef345be7e9f8682d91a8670d26f0520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CFDE79-DCC1-4C8F-9F66-083AA56E7D5B}">
  <ds:schemaRefs/>
</ds:datastoreItem>
</file>

<file path=customXml/itemProps2.xml><?xml version="1.0" encoding="utf-8"?>
<ds:datastoreItem xmlns:ds="http://schemas.openxmlformats.org/officeDocument/2006/customXml" ds:itemID="{5953EDA3-F177-4D6E-B9F2-5D24843C8A8B}">
  <ds:schemaRefs/>
</ds:datastoreItem>
</file>

<file path=customXml/itemProps3.xml><?xml version="1.0" encoding="utf-8"?>
<ds:datastoreItem xmlns:ds="http://schemas.openxmlformats.org/officeDocument/2006/customXml" ds:itemID="{08D7F977-17B0-4EC4-A467-740938DBF2C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5676</Words>
  <Application>WPS 演示</Application>
  <PresentationFormat>On-screen Show (16:9)</PresentationFormat>
  <Paragraphs>333</Paragraphs>
  <Slides>24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24</vt:i4>
      </vt:variant>
    </vt:vector>
  </HeadingPairs>
  <TitlesOfParts>
    <vt:vector size="45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Perpetua</vt:lpstr>
      <vt:lpstr>Monotype Sorts</vt:lpstr>
      <vt:lpstr>Wingdings</vt:lpstr>
      <vt:lpstr>Courier New</vt:lpstr>
      <vt:lpstr>Book Antiqua</vt:lpstr>
      <vt:lpstr>Times New Roman</vt:lpstr>
      <vt:lpstr>Wingdings 2</vt:lpstr>
      <vt:lpstr>Simple Light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Objects and Classes</vt:lpstr>
      <vt:lpstr>Objectives</vt:lpstr>
      <vt:lpstr>Object Oriented Programming</vt:lpstr>
      <vt:lpstr>What is an Object, Anyway?</vt:lpstr>
      <vt:lpstr>OO Programming Concepts</vt:lpstr>
      <vt:lpstr>Classes</vt:lpstr>
      <vt:lpstr>Classes: Example1</vt:lpstr>
      <vt:lpstr>Classes: Example2 </vt:lpstr>
      <vt:lpstr>UML Class Diagram</vt:lpstr>
      <vt:lpstr>Constructors</vt:lpstr>
      <vt:lpstr>Accessing Objects</vt:lpstr>
      <vt:lpstr>Using Classes</vt:lpstr>
      <vt:lpstr>Using Classes</vt:lpstr>
      <vt:lpstr>Using Classes</vt:lpstr>
      <vt:lpstr>Using Classes</vt:lpstr>
      <vt:lpstr>Using Classes</vt:lpstr>
      <vt:lpstr>Using Classes</vt:lpstr>
      <vt:lpstr>Using Classes</vt:lpstr>
      <vt:lpstr>Static Vs Non-static </vt:lpstr>
      <vt:lpstr>Default values</vt:lpstr>
      <vt:lpstr>Reference Data Fields</vt:lpstr>
      <vt:lpstr>Reference Data Fields: Contd..</vt:lpstr>
      <vt:lpstr>Primitive data types Vs. Reference types</vt:lpstr>
      <vt:lpstr>Copying Primitive data types Vs. Reference types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霄苒</cp:lastModifiedBy>
  <cp:revision>965</cp:revision>
  <dcterms:created xsi:type="dcterms:W3CDTF">2025-12-06T09:14:50Z</dcterms:created>
  <dcterms:modified xsi:type="dcterms:W3CDTF">2025-12-06T09:15:09Z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  <property fmtid="{D5CDD505-2E9C-101B-9397-08002B2CF9AE}" pid="3" name="ICV">
    <vt:lpwstr>015FC9F3B5494683883509EE76B84BA3_12</vt:lpwstr>
  </property>
  <property fmtid="{D5CDD505-2E9C-101B-9397-08002B2CF9AE}" pid="4" name="KSOProductBuildVer">
    <vt:lpwstr>2052-12.1.0.24034</vt:lpwstr>
  </property>
</Properties>
</file>