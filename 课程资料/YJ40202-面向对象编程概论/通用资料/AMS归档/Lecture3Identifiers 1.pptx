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57" r:id="rId4"/>
    <p:sldId id="258" r:id="rId5"/>
    <p:sldId id="260" r:id="rId6"/>
    <p:sldId id="270" r:id="rId7"/>
    <p:sldId id="261" r:id="rId8"/>
    <p:sldId id="262" r:id="rId9"/>
    <p:sldId id="264" r:id="rId10"/>
    <p:sldId id="263" r:id="rId11"/>
    <p:sldId id="271" r:id="rId12"/>
    <p:sldId id="272" r:id="rId13"/>
    <p:sldId id="265" r:id="rId14"/>
    <p:sldId id="267" r:id="rId15"/>
    <p:sldId id="274" r:id="rId16"/>
    <p:sldId id="275" r:id="rId17"/>
    <p:sldId id="273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tJqeU9sAa4s53hiV1fqoPNXIu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3822CC-D4D8-4ABC-931B-E8926AA2F082}" v="2" dt="2025-09-16T09:00:44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05" autoAdjust="0"/>
    <p:restoredTop sz="93842" autoAdjust="0"/>
  </p:normalViewPr>
  <p:slideViewPr>
    <p:cSldViewPr snapToGrid="0">
      <p:cViewPr varScale="1">
        <p:scale>
          <a:sx n="142" d="100"/>
          <a:sy n="142" d="100"/>
        </p:scale>
        <p:origin x="2241" y="6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40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F34F8855-C621-4438-806B-08A2E2CB3E3D}"/>
    <pc:docChg chg="modSld">
      <pc:chgData name="于 心瑞 Xinrui YU" userId="e6fcc6d4-2b88-4beb-95d7-57ae4d33a768" providerId="ADAL" clId="{F34F8855-C621-4438-806B-08A2E2CB3E3D}" dt="2025-09-17T00:30:04.125" v="2" actId="20577"/>
      <pc:docMkLst>
        <pc:docMk/>
      </pc:docMkLst>
      <pc:sldChg chg="delSp mod">
        <pc:chgData name="于 心瑞 Xinrui YU" userId="e6fcc6d4-2b88-4beb-95d7-57ae4d33a768" providerId="ADAL" clId="{F34F8855-C621-4438-806B-08A2E2CB3E3D}" dt="2025-09-17T00:29:28.738" v="0" actId="33639"/>
        <pc:sldMkLst>
          <pc:docMk/>
          <pc:sldMk cId="0" sldId="257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0" sldId="257"/>
            <ac:inkMk id="3" creationId="{71AC2BA2-F253-B7AF-87DE-70F473C2B55D}"/>
          </ac:inkMkLst>
        </pc:inkChg>
      </pc:sldChg>
      <pc:sldChg chg="delSp mod modNotesTx">
        <pc:chgData name="于 心瑞 Xinrui YU" userId="e6fcc6d4-2b88-4beb-95d7-57ae4d33a768" providerId="ADAL" clId="{F34F8855-C621-4438-806B-08A2E2CB3E3D}" dt="2025-09-17T00:29:53.091" v="1" actId="20577"/>
        <pc:sldMkLst>
          <pc:docMk/>
          <pc:sldMk cId="0" sldId="258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0" sldId="258"/>
            <ac:inkMk id="3" creationId="{9F1BFAC2-97E8-03E5-025C-E120258E3A57}"/>
          </ac:inkMkLst>
        </pc:inkChg>
      </pc:sldChg>
      <pc:sldChg chg="delSp mod">
        <pc:chgData name="于 心瑞 Xinrui YU" userId="e6fcc6d4-2b88-4beb-95d7-57ae4d33a768" providerId="ADAL" clId="{F34F8855-C621-4438-806B-08A2E2CB3E3D}" dt="2025-09-17T00:29:28.738" v="0" actId="33639"/>
        <pc:sldMkLst>
          <pc:docMk/>
          <pc:sldMk cId="0" sldId="260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0" sldId="260"/>
            <ac:inkMk id="2" creationId="{EDB4134F-944C-C6A7-6463-3399A2F6CD10}"/>
          </ac:inkMkLst>
        </pc:inkChg>
      </pc:sldChg>
      <pc:sldChg chg="delSp mod">
        <pc:chgData name="于 心瑞 Xinrui YU" userId="e6fcc6d4-2b88-4beb-95d7-57ae4d33a768" providerId="ADAL" clId="{F34F8855-C621-4438-806B-08A2E2CB3E3D}" dt="2025-09-17T00:29:28.738" v="0" actId="33639"/>
        <pc:sldMkLst>
          <pc:docMk/>
          <pc:sldMk cId="0" sldId="261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0" sldId="261"/>
            <ac:inkMk id="2" creationId="{6DDBA392-680F-AC39-4A76-3AF9492400CA}"/>
          </ac:inkMkLst>
        </pc:inkChg>
      </pc:sldChg>
      <pc:sldChg chg="delSp mod">
        <pc:chgData name="于 心瑞 Xinrui YU" userId="e6fcc6d4-2b88-4beb-95d7-57ae4d33a768" providerId="ADAL" clId="{F34F8855-C621-4438-806B-08A2E2CB3E3D}" dt="2025-09-17T00:29:28.738" v="0" actId="33639"/>
        <pc:sldMkLst>
          <pc:docMk/>
          <pc:sldMk cId="0" sldId="263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0" sldId="263"/>
            <ac:inkMk id="2" creationId="{547F1E20-D8F9-659C-566F-F624A5E98C95}"/>
          </ac:inkMkLst>
        </pc:inkChg>
      </pc:sldChg>
      <pc:sldChg chg="delSp mod">
        <pc:chgData name="于 心瑞 Xinrui YU" userId="e6fcc6d4-2b88-4beb-95d7-57ae4d33a768" providerId="ADAL" clId="{F34F8855-C621-4438-806B-08A2E2CB3E3D}" dt="2025-09-17T00:29:28.738" v="0" actId="33639"/>
        <pc:sldMkLst>
          <pc:docMk/>
          <pc:sldMk cId="0" sldId="264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0" sldId="264"/>
            <ac:inkMk id="2" creationId="{EAE0E5A5-6461-D71C-501B-B7413C9F4CBB}"/>
          </ac:inkMkLst>
        </pc:inkChg>
      </pc:sldChg>
      <pc:sldChg chg="delSp mod">
        <pc:chgData name="于 心瑞 Xinrui YU" userId="e6fcc6d4-2b88-4beb-95d7-57ae4d33a768" providerId="ADAL" clId="{F34F8855-C621-4438-806B-08A2E2CB3E3D}" dt="2025-09-17T00:29:28.738" v="0" actId="33639"/>
        <pc:sldMkLst>
          <pc:docMk/>
          <pc:sldMk cId="447506551" sldId="270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447506551" sldId="270"/>
            <ac:inkMk id="2" creationId="{F9E2311C-C2C1-2611-C2AE-159CC5550758}"/>
          </ac:inkMkLst>
        </pc:inkChg>
      </pc:sldChg>
      <pc:sldChg chg="delSp mod">
        <pc:chgData name="于 心瑞 Xinrui YU" userId="e6fcc6d4-2b88-4beb-95d7-57ae4d33a768" providerId="ADAL" clId="{F34F8855-C621-4438-806B-08A2E2CB3E3D}" dt="2025-09-17T00:29:28.738" v="0" actId="33639"/>
        <pc:sldMkLst>
          <pc:docMk/>
          <pc:sldMk cId="1673410765" sldId="271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1673410765" sldId="271"/>
            <ac:inkMk id="2" creationId="{2A7FA362-2487-6443-2C79-C5226C776C22}"/>
          </ac:inkMkLst>
        </pc:inkChg>
      </pc:sldChg>
      <pc:sldChg chg="delSp mod modNotesTx">
        <pc:chgData name="于 心瑞 Xinrui YU" userId="e6fcc6d4-2b88-4beb-95d7-57ae4d33a768" providerId="ADAL" clId="{F34F8855-C621-4438-806B-08A2E2CB3E3D}" dt="2025-09-17T00:30:04.125" v="2" actId="20577"/>
        <pc:sldMkLst>
          <pc:docMk/>
          <pc:sldMk cId="1214949828" sldId="272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1214949828" sldId="272"/>
            <ac:inkMk id="2" creationId="{CA4D5CF3-10E9-F9AB-17CE-B7074647129B}"/>
          </ac:inkMkLst>
        </pc:inkChg>
      </pc:sldChg>
      <pc:sldChg chg="delSp mod">
        <pc:chgData name="于 心瑞 Xinrui YU" userId="e6fcc6d4-2b88-4beb-95d7-57ae4d33a768" providerId="ADAL" clId="{F34F8855-C621-4438-806B-08A2E2CB3E3D}" dt="2025-09-17T00:29:28.738" v="0" actId="33639"/>
        <pc:sldMkLst>
          <pc:docMk/>
          <pc:sldMk cId="2728817192" sldId="276"/>
        </pc:sldMkLst>
        <pc:inkChg chg="del">
          <ac:chgData name="于 心瑞 Xinrui YU" userId="e6fcc6d4-2b88-4beb-95d7-57ae4d33a768" providerId="ADAL" clId="{F34F8855-C621-4438-806B-08A2E2CB3E3D}" dt="2025-09-17T00:29:28.738" v="0" actId="33639"/>
          <ac:inkMkLst>
            <pc:docMk/>
            <pc:sldMk cId="2728817192" sldId="276"/>
            <ac:inkMk id="5" creationId="{5F9CC345-AB5F-C60A-7391-44F7B26CECD0}"/>
          </ac:inkMkLst>
        </pc:inkChg>
      </pc:sldChg>
    </pc:docChg>
  </pc:docChgLst>
  <pc:docChgLst>
    <pc:chgData name="Sadhana Annapragada" userId="65e4d0e9c2f6c579" providerId="LiveId" clId="{1885DACA-3015-455B-A1B8-3D534BC45F61}"/>
    <pc:docChg chg="modSld">
      <pc:chgData name="Sadhana Annapragada" userId="65e4d0e9c2f6c579" providerId="LiveId" clId="{1885DACA-3015-455B-A1B8-3D534BC45F61}" dt="2021-06-17T21:12:07.225" v="2" actId="207"/>
      <pc:docMkLst>
        <pc:docMk/>
      </pc:docMkLst>
      <pc:sldChg chg="modSp mod">
        <pc:chgData name="Sadhana Annapragada" userId="65e4d0e9c2f6c579" providerId="LiveId" clId="{1885DACA-3015-455B-A1B8-3D534BC45F61}" dt="2021-06-17T21:12:07.225" v="2" actId="207"/>
        <pc:sldMkLst>
          <pc:docMk/>
          <pc:sldMk cId="0" sldId="268"/>
        </pc:sldMkLst>
      </pc:sldChg>
    </pc:docChg>
  </pc:docChgLst>
  <pc:docChgLst>
    <pc:chgData name="于 心瑞 Xinrui YU" userId="e6fcc6d4-2b88-4beb-95d7-57ae4d33a768" providerId="ADAL" clId="{CFFA9A75-F840-4F6F-AF7D-069F806E1180}"/>
    <pc:docChg chg="custSel modSld">
      <pc:chgData name="于 心瑞 Xinrui YU" userId="e6fcc6d4-2b88-4beb-95d7-57ae4d33a768" providerId="ADAL" clId="{CFFA9A75-F840-4F6F-AF7D-069F806E1180}" dt="2025-09-16T09:01:36.906" v="71" actId="20577"/>
      <pc:docMkLst>
        <pc:docMk/>
      </pc:docMkLst>
      <pc:sldChg chg="addSp delSp mod">
        <pc:chgData name="于 心瑞 Xinrui YU" userId="e6fcc6d4-2b88-4beb-95d7-57ae4d33a768" providerId="ADAL" clId="{CFFA9A75-F840-4F6F-AF7D-069F806E1180}" dt="2025-09-16T09:00:44.482" v="2"/>
        <pc:sldMkLst>
          <pc:docMk/>
          <pc:sldMk cId="0" sldId="257"/>
        </pc:sldMkLst>
        <pc:inkChg chg="add del">
          <ac:chgData name="于 心瑞 Xinrui YU" userId="e6fcc6d4-2b88-4beb-95d7-57ae4d33a768" providerId="ADAL" clId="{CFFA9A75-F840-4F6F-AF7D-069F806E1180}" dt="2025-09-16T08:33:14.978" v="1" actId="33639"/>
          <ac:inkMkLst>
            <pc:docMk/>
            <pc:sldMk cId="0" sldId="257"/>
            <ac:inkMk id="2" creationId="{6FE71A7F-BEA8-C5C9-B128-F23938F09F0A}"/>
          </ac:inkMkLst>
        </pc:inkChg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0" sldId="257"/>
            <ac:inkMk id="3" creationId="{71AC2BA2-F253-B7AF-87DE-70F473C2B55D}"/>
          </ac:inkMkLst>
        </pc:inkChg>
      </pc:sldChg>
      <pc:sldChg chg="addSp delSp mod modNotesTx">
        <pc:chgData name="于 心瑞 Xinrui YU" userId="e6fcc6d4-2b88-4beb-95d7-57ae4d33a768" providerId="ADAL" clId="{CFFA9A75-F840-4F6F-AF7D-069F806E1180}" dt="2025-09-16T09:01:36.906" v="71" actId="20577"/>
        <pc:sldMkLst>
          <pc:docMk/>
          <pc:sldMk cId="0" sldId="258"/>
        </pc:sldMkLst>
        <pc:inkChg chg="add del">
          <ac:chgData name="于 心瑞 Xinrui YU" userId="e6fcc6d4-2b88-4beb-95d7-57ae4d33a768" providerId="ADAL" clId="{CFFA9A75-F840-4F6F-AF7D-069F806E1180}" dt="2025-09-16T08:33:14.978" v="1" actId="33639"/>
          <ac:inkMkLst>
            <pc:docMk/>
            <pc:sldMk cId="0" sldId="258"/>
            <ac:inkMk id="2" creationId="{7BAB6593-E427-191F-CA47-4981C39AC5AE}"/>
          </ac:inkMkLst>
        </pc:inkChg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0" sldId="258"/>
            <ac:inkMk id="3" creationId="{9F1BFAC2-97E8-03E5-025C-E120258E3A57}"/>
          </ac:inkMkLst>
        </pc:inkChg>
      </pc:sldChg>
      <pc:sldChg chg="addSp">
        <pc:chgData name="于 心瑞 Xinrui YU" userId="e6fcc6d4-2b88-4beb-95d7-57ae4d33a768" providerId="ADAL" clId="{CFFA9A75-F840-4F6F-AF7D-069F806E1180}" dt="2025-09-16T09:00:44.482" v="2"/>
        <pc:sldMkLst>
          <pc:docMk/>
          <pc:sldMk cId="0" sldId="260"/>
        </pc:sldMkLst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0" sldId="260"/>
            <ac:inkMk id="2" creationId="{EDB4134F-944C-C6A7-6463-3399A2F6CD10}"/>
          </ac:inkMkLst>
        </pc:inkChg>
      </pc:sldChg>
      <pc:sldChg chg="addSp">
        <pc:chgData name="于 心瑞 Xinrui YU" userId="e6fcc6d4-2b88-4beb-95d7-57ae4d33a768" providerId="ADAL" clId="{CFFA9A75-F840-4F6F-AF7D-069F806E1180}" dt="2025-09-16T09:00:44.482" v="2"/>
        <pc:sldMkLst>
          <pc:docMk/>
          <pc:sldMk cId="0" sldId="261"/>
        </pc:sldMkLst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0" sldId="261"/>
            <ac:inkMk id="2" creationId="{6DDBA392-680F-AC39-4A76-3AF9492400CA}"/>
          </ac:inkMkLst>
        </pc:inkChg>
      </pc:sldChg>
      <pc:sldChg chg="addSp">
        <pc:chgData name="于 心瑞 Xinrui YU" userId="e6fcc6d4-2b88-4beb-95d7-57ae4d33a768" providerId="ADAL" clId="{CFFA9A75-F840-4F6F-AF7D-069F806E1180}" dt="2025-09-16T09:00:44.482" v="2"/>
        <pc:sldMkLst>
          <pc:docMk/>
          <pc:sldMk cId="0" sldId="263"/>
        </pc:sldMkLst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0" sldId="263"/>
            <ac:inkMk id="2" creationId="{547F1E20-D8F9-659C-566F-F624A5E98C95}"/>
          </ac:inkMkLst>
        </pc:inkChg>
      </pc:sldChg>
      <pc:sldChg chg="addSp">
        <pc:chgData name="于 心瑞 Xinrui YU" userId="e6fcc6d4-2b88-4beb-95d7-57ae4d33a768" providerId="ADAL" clId="{CFFA9A75-F840-4F6F-AF7D-069F806E1180}" dt="2025-09-16T09:00:44.482" v="2"/>
        <pc:sldMkLst>
          <pc:docMk/>
          <pc:sldMk cId="0" sldId="264"/>
        </pc:sldMkLst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0" sldId="264"/>
            <ac:inkMk id="2" creationId="{EAE0E5A5-6461-D71C-501B-B7413C9F4CBB}"/>
          </ac:inkMkLst>
        </pc:inkChg>
      </pc:sldChg>
      <pc:sldChg chg="addSp">
        <pc:chgData name="于 心瑞 Xinrui YU" userId="e6fcc6d4-2b88-4beb-95d7-57ae4d33a768" providerId="ADAL" clId="{CFFA9A75-F840-4F6F-AF7D-069F806E1180}" dt="2025-09-16T09:00:44.482" v="2"/>
        <pc:sldMkLst>
          <pc:docMk/>
          <pc:sldMk cId="447506551" sldId="270"/>
        </pc:sldMkLst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447506551" sldId="270"/>
            <ac:inkMk id="2" creationId="{F9E2311C-C2C1-2611-C2AE-159CC5550758}"/>
          </ac:inkMkLst>
        </pc:inkChg>
      </pc:sldChg>
      <pc:sldChg chg="addSp">
        <pc:chgData name="于 心瑞 Xinrui YU" userId="e6fcc6d4-2b88-4beb-95d7-57ae4d33a768" providerId="ADAL" clId="{CFFA9A75-F840-4F6F-AF7D-069F806E1180}" dt="2025-09-16T09:00:44.482" v="2"/>
        <pc:sldMkLst>
          <pc:docMk/>
          <pc:sldMk cId="1673410765" sldId="271"/>
        </pc:sldMkLst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1673410765" sldId="271"/>
            <ac:inkMk id="2" creationId="{2A7FA362-2487-6443-2C79-C5226C776C22}"/>
          </ac:inkMkLst>
        </pc:inkChg>
      </pc:sldChg>
      <pc:sldChg chg="addSp modNotesTx">
        <pc:chgData name="于 心瑞 Xinrui YU" userId="e6fcc6d4-2b88-4beb-95d7-57ae4d33a768" providerId="ADAL" clId="{CFFA9A75-F840-4F6F-AF7D-069F806E1180}" dt="2025-09-16T09:01:11.637" v="38" actId="20577"/>
        <pc:sldMkLst>
          <pc:docMk/>
          <pc:sldMk cId="1214949828" sldId="272"/>
        </pc:sldMkLst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1214949828" sldId="272"/>
            <ac:inkMk id="2" creationId="{CA4D5CF3-10E9-F9AB-17CE-B7074647129B}"/>
          </ac:inkMkLst>
        </pc:inkChg>
      </pc:sldChg>
      <pc:sldChg chg="addSp delSp mod modNotes">
        <pc:chgData name="于 心瑞 Xinrui YU" userId="e6fcc6d4-2b88-4beb-95d7-57ae4d33a768" providerId="ADAL" clId="{CFFA9A75-F840-4F6F-AF7D-069F806E1180}" dt="2025-09-16T09:00:44.482" v="2"/>
        <pc:sldMkLst>
          <pc:docMk/>
          <pc:sldMk cId="2728817192" sldId="276"/>
        </pc:sldMkLst>
        <pc:inkChg chg="add del">
          <ac:chgData name="于 心瑞 Xinrui YU" userId="e6fcc6d4-2b88-4beb-95d7-57ae4d33a768" providerId="ADAL" clId="{CFFA9A75-F840-4F6F-AF7D-069F806E1180}" dt="2025-09-16T08:33:14.978" v="1" actId="33639"/>
          <ac:inkMkLst>
            <pc:docMk/>
            <pc:sldMk cId="2728817192" sldId="276"/>
            <ac:inkMk id="4" creationId="{CEC6FAB2-D738-8D65-82A8-72F48BF744F6}"/>
          </ac:inkMkLst>
        </pc:inkChg>
        <pc:inkChg chg="add">
          <ac:chgData name="于 心瑞 Xinrui YU" userId="e6fcc6d4-2b88-4beb-95d7-57ae4d33a768" providerId="ADAL" clId="{CFFA9A75-F840-4F6F-AF7D-069F806E1180}" dt="2025-09-16T09:00:44.482" v="2"/>
          <ac:inkMkLst>
            <pc:docMk/>
            <pc:sldMk cId="2728817192" sldId="276"/>
            <ac:inkMk id="5" creationId="{5F9CC345-AB5F-C60A-7391-44F7B26CECD0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6039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altLang="en-US" dirty="0"/>
              <a:t>标识符</a:t>
            </a:r>
            <a:r>
              <a:rPr lang="en-US" altLang="zh-CN" dirty="0"/>
              <a:t>-P35</a:t>
            </a:r>
            <a:r>
              <a:rPr lang="zh-CN" altLang="en-US" dirty="0"/>
              <a:t>， </a:t>
            </a:r>
            <a:r>
              <a:rPr lang="en-US" altLang="zh-CN" dirty="0"/>
              <a:t>Chapter 2.4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Not specified in Processing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0532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9955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1857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572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120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1349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9004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74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6502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8245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523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6635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7818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67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9704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089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40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Identifiers</a:t>
            </a:r>
            <a:endParaRPr dirty="0"/>
          </a:p>
        </p:txBody>
      </p:sp>
      <p:sp>
        <p:nvSpPr>
          <p:cNvPr id="55" name="Google Shape;55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200" b="1" dirty="0">
                <a:solidFill>
                  <a:schemeClr val="dk1"/>
                </a:solidFill>
              </a:rPr>
              <a:t>Identifiers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200" b="1" dirty="0">
                <a:solidFill>
                  <a:srgbClr val="0070C0"/>
                </a:solidFill>
              </a:rPr>
              <a:t>(names)</a:t>
            </a:r>
            <a:endParaRPr sz="3200" b="1" dirty="0">
              <a:solidFill>
                <a:srgbClr val="0070C0"/>
              </a:solidFill>
            </a:endParaRPr>
          </a:p>
        </p:txBody>
      </p:sp>
      <p:pic>
        <p:nvPicPr>
          <p:cNvPr id="2" name="그림 1" descr="Text, letter&#10;&#10;Description automatically generated">
            <a:extLst>
              <a:ext uri="{FF2B5EF4-FFF2-40B4-BE49-F238E27FC236}">
                <a16:creationId xmlns:a16="http://schemas.microsoft.com/office/drawing/2014/main" id="{08C89051-2462-F767-2EF8-718435223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Objectives: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Java identifiers definition, rules and conventions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Java variables: declaration and assignment</a:t>
            </a:r>
          </a:p>
          <a:p>
            <a:pPr fontAlgn="base"/>
            <a:r>
              <a:rPr lang="en-US" dirty="0">
                <a:solidFill>
                  <a:schemeClr val="tx1"/>
                </a:solidFill>
                <a:cs typeface="Courier New" pitchFamily="49" charset="0"/>
              </a:rPr>
              <a:t>Numerical literals: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byte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short</a:t>
            </a:r>
          </a:p>
          <a:p>
            <a:pPr lvl="1" fontAlgn="base"/>
            <a:r>
              <a:rPr lang="en-US" sz="1800" dirty="0" err="1">
                <a:solidFill>
                  <a:schemeClr val="tx1"/>
                </a:solidFill>
                <a:cs typeface="Courier New" pitchFamily="49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 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long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float</a:t>
            </a:r>
          </a:p>
          <a:p>
            <a:pPr lvl="1" fontAlgn="base"/>
            <a:r>
              <a:rPr lang="en-US" sz="1800" dirty="0">
                <a:solidFill>
                  <a:schemeClr val="tx1"/>
                </a:solidFill>
                <a:cs typeface="Courier New" pitchFamily="49" charset="0"/>
              </a:rPr>
              <a:t>double</a:t>
            </a:r>
          </a:p>
          <a:p>
            <a:pPr marL="596900" lvl="1" indent="0" fontAlgn="base">
              <a:buNone/>
            </a:pPr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pPr lvl="1" fontAlgn="base"/>
            <a:endParaRPr lang="en-US" sz="1500" dirty="0">
              <a:solidFill>
                <a:schemeClr val="tx1"/>
              </a:solidFill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817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b="1" dirty="0"/>
              <a:t>Identifiers: Definition and Rules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62" name="Google Shape;62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5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900" dirty="0"/>
              <a:t>Identifiers are the names that identify the elements such as classes, methods, and variables in a program.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900" dirty="0"/>
          </a:p>
          <a:p>
            <a:pPr>
              <a:lnSpc>
                <a:spcPct val="125000"/>
              </a:lnSpc>
            </a:pPr>
            <a:r>
              <a:rPr lang="en-US" sz="1900" dirty="0"/>
              <a:t>An identifier is a  sequence of characters that consists of letters, digits,  underscore (_), and dollar sign ($).</a:t>
            </a:r>
          </a:p>
          <a:p>
            <a:pPr marL="114300" indent="0">
              <a:lnSpc>
                <a:spcPct val="125000"/>
              </a:lnSpc>
              <a:buNone/>
            </a:pPr>
            <a:endParaRPr lang="en-US" sz="1900" dirty="0"/>
          </a:p>
          <a:p>
            <a:pPr marL="457200" lvl="1" indent="-342900">
              <a:lnSpc>
                <a:spcPct val="125000"/>
              </a:lnSpc>
              <a:buSzPts val="1800"/>
              <a:buFont typeface="Arial"/>
              <a:buChar char="●"/>
            </a:pPr>
            <a:r>
              <a:rPr lang="en-US" sz="1900" dirty="0"/>
              <a:t>An identifier must start with a letter, an underscore (_) or a '$‘. It cannot start with a digit.</a:t>
            </a:r>
          </a:p>
          <a:p>
            <a:pPr marL="114300" lvl="1" indent="0">
              <a:lnSpc>
                <a:spcPct val="125000"/>
              </a:lnSpc>
              <a:buSzPts val="1800"/>
              <a:buNone/>
            </a:pPr>
            <a:endParaRPr lang="en-US" sz="1900" dirty="0"/>
          </a:p>
          <a:p>
            <a:pPr lvl="0">
              <a:lnSpc>
                <a:spcPct val="125000"/>
              </a:lnSpc>
            </a:pPr>
            <a:r>
              <a:rPr lang="en-US" sz="1900" dirty="0"/>
              <a:t>Uppercase and lowercase letters are considered to be different characters. Identifier can be of any length.</a:t>
            </a: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b="1" dirty="0"/>
              <a:t>Identifiers: Rules and Examples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68" name="Google Shape;68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An identifier cannot be a reserved word (Java Keywords).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/>
          </a:p>
          <a:p>
            <a:pPr lvl="0"/>
            <a:r>
              <a:rPr lang="en-US" dirty="0"/>
              <a:t>You’ll need identifiers to reference them elsewhere in your program:</a:t>
            </a:r>
          </a:p>
          <a:p>
            <a:pPr marL="1169511" lvl="2" indent="-325114">
              <a:spcBef>
                <a:spcPts val="533"/>
              </a:spcBef>
              <a:buClr>
                <a:srgbClr val="E6B1AB"/>
              </a:buClr>
              <a:buSzPts val="1360"/>
              <a:buNone/>
            </a:pPr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myVariable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5; // Declaration</a:t>
            </a:r>
            <a:endParaRPr lang="en-US" dirty="0"/>
          </a:p>
          <a:p>
            <a:pPr marL="1169511" lvl="2" indent="-325114">
              <a:spcBef>
                <a:spcPts val="533"/>
              </a:spcBef>
              <a:buClr>
                <a:srgbClr val="E6B1AB"/>
              </a:buClr>
              <a:buSzPts val="1360"/>
              <a:buNone/>
            </a:pPr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myVariable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6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myVariable</a:t>
            </a:r>
            <a:r>
              <a:rPr lang="en-US" sz="1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+ 1; // Using the variable</a:t>
            </a:r>
          </a:p>
          <a:p>
            <a:pPr marL="1169511" lvl="2" indent="-325114">
              <a:spcBef>
                <a:spcPts val="533"/>
              </a:spcBef>
              <a:buClr>
                <a:srgbClr val="E6B1AB"/>
              </a:buClr>
              <a:buSzPts val="1360"/>
              <a:buNone/>
            </a:pPr>
            <a:endParaRPr lang="en-US" sz="1900" dirty="0"/>
          </a:p>
          <a:p>
            <a:pPr lvl="0">
              <a:lnSpc>
                <a:spcPct val="125000"/>
              </a:lnSpc>
            </a:pPr>
            <a:r>
              <a:rPr lang="en-US" dirty="0"/>
              <a:t>Examples:</a:t>
            </a:r>
          </a:p>
          <a:p>
            <a:pPr lvl="1"/>
            <a:r>
              <a:rPr lang="en-US" sz="1800" dirty="0"/>
              <a:t>Legal</a:t>
            </a:r>
            <a:r>
              <a:rPr lang="en-US" sz="1800" dirty="0">
                <a:latin typeface="Courier"/>
                <a:ea typeface="Courier"/>
                <a:cs typeface="Courier"/>
                <a:sym typeface="Courier"/>
              </a:rPr>
              <a:t>: </a:t>
            </a:r>
            <a:r>
              <a:rPr lang="en-US" sz="1800" b="1" dirty="0" err="1">
                <a:latin typeface="Courier New"/>
                <a:ea typeface="Courier New"/>
                <a:cs typeface="Courier New"/>
                <a:sym typeface="Courier New"/>
              </a:rPr>
              <a:t>myVariable</a:t>
            </a:r>
            <a:r>
              <a:rPr lang="en-US" sz="1800" b="1" dirty="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b="1" dirty="0" err="1">
                <a:latin typeface="Courier New"/>
                <a:ea typeface="Courier New"/>
                <a:cs typeface="Courier New"/>
                <a:sym typeface="Courier New"/>
              </a:rPr>
              <a:t>my_class</a:t>
            </a:r>
            <a:r>
              <a:rPr lang="en-US" sz="1800" b="1" dirty="0">
                <a:latin typeface="Courier New"/>
                <a:ea typeface="Courier New"/>
                <a:cs typeface="Courier New"/>
                <a:sym typeface="Courier New"/>
              </a:rPr>
              <a:t>, my4Var</a:t>
            </a:r>
            <a:endParaRPr lang="en-US" dirty="0"/>
          </a:p>
          <a:p>
            <a:pPr lvl="1"/>
            <a:r>
              <a:rPr lang="en-US" sz="1800" dirty="0"/>
              <a:t>Illegal</a:t>
            </a:r>
            <a:r>
              <a:rPr lang="en-US" sz="1800" dirty="0">
                <a:latin typeface="Courier"/>
                <a:ea typeface="Courier"/>
                <a:cs typeface="Courier"/>
                <a:sym typeface="Courier"/>
              </a:rPr>
              <a:t>: </a:t>
            </a:r>
            <a:r>
              <a:rPr lang="en-US" sz="1800" b="1" dirty="0">
                <a:latin typeface="Courier New"/>
                <a:ea typeface="Courier New"/>
                <a:cs typeface="Courier New"/>
                <a:sym typeface="Courier New"/>
              </a:rPr>
              <a:t>4myVariable, my class, </a:t>
            </a:r>
            <a:r>
              <a:rPr lang="en-US" sz="1800" b="1" dirty="0" err="1">
                <a:latin typeface="Courier New"/>
                <a:ea typeface="Courier New"/>
                <a:cs typeface="Courier New"/>
                <a:sym typeface="Courier New"/>
              </a:rPr>
              <a:t>my!Var</a:t>
            </a:r>
            <a:r>
              <a:rPr lang="en-US" sz="1800" b="1" dirty="0">
                <a:latin typeface="Courier New"/>
                <a:ea typeface="Courier New"/>
                <a:cs typeface="Courier New"/>
                <a:sym typeface="Courier New"/>
              </a:rPr>
              <a:t>, @#$</a:t>
            </a:r>
            <a:r>
              <a:rPr lang="en-US" sz="1800" b="1" dirty="0" err="1">
                <a:latin typeface="Courier New"/>
                <a:ea typeface="Courier New"/>
                <a:cs typeface="Courier New"/>
                <a:sym typeface="Courier New"/>
              </a:rPr>
              <a:t>myClass</a:t>
            </a:r>
            <a:endParaRPr lang="en-US" sz="18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dirty="0"/>
          </a:p>
          <a:p>
            <a:pPr marL="1169511" lvl="2" indent="-325114" algn="l" rtl="0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rgbClr val="E6B1AB"/>
              </a:buClr>
              <a:buSzPts val="1360"/>
              <a:buNone/>
            </a:pP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/>
              <a:t>Java Naming Conventions:</a:t>
            </a:r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25000"/>
              </a:lnSpc>
            </a:pPr>
            <a:r>
              <a:rPr lang="en" dirty="0"/>
              <a:t>Choose meaningful and descriptive names</a:t>
            </a:r>
            <a:r>
              <a:rPr lang="en"/>
              <a:t>: </a:t>
            </a: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LinkedList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compareTo</a:t>
            </a:r>
            <a:endParaRPr lang="en-US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4300" lvl="0" indent="0">
              <a:lnSpc>
                <a:spcPct val="125000"/>
              </a:lnSpc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area = PI * radius * radius;</a:t>
            </a:r>
            <a:endParaRPr lang="en-US" dirty="0"/>
          </a:p>
          <a:p>
            <a:pPr marL="1143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/>
          </a:p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Variables &amp; Methods start with lower case letters: </a:t>
            </a:r>
            <a:r>
              <a:rPr lang="en" b="1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radius</a:t>
            </a:r>
            <a:r>
              <a:rPr lang="en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computeArea.</a:t>
            </a:r>
          </a:p>
          <a:p>
            <a:pPr marL="1143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Classes start with upper case letters: </a:t>
            </a:r>
            <a:r>
              <a:rPr lang="en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Person.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 dirty="0"/>
              <a:t>Java Naming Conventions: Contd.</a:t>
            </a:r>
            <a:endParaRPr dirty="0"/>
          </a:p>
        </p:txBody>
      </p:sp>
      <p:sp>
        <p:nvSpPr>
          <p:cNvPr id="80" name="Google Shape;8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25000"/>
              </a:lnSpc>
            </a:pPr>
            <a:r>
              <a:rPr lang="en-US" dirty="0"/>
              <a:t>Use Camel notation: </a:t>
            </a:r>
            <a:r>
              <a:rPr lang="en-US" sz="19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myVariable</a:t>
            </a:r>
            <a:r>
              <a:rPr lang="en-US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9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MyClass</a:t>
            </a:r>
            <a:r>
              <a:rPr lang="en-US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</a:p>
          <a:p>
            <a:pPr marL="114300" lvl="0" indent="0">
              <a:lnSpc>
                <a:spcPct val="125000"/>
              </a:lnSpc>
              <a:buNone/>
            </a:pPr>
            <a:endParaRPr lang="en-US" dirty="0">
              <a:ea typeface="Courier New"/>
            </a:endParaRPr>
          </a:p>
          <a:p>
            <a:pPr lvl="0">
              <a:lnSpc>
                <a:spcPct val="125000"/>
              </a:lnSpc>
            </a:pPr>
            <a:r>
              <a:rPr lang="en-US" dirty="0"/>
              <a:t>Constants: Capitalize all the letters in a constant, and use underscore to connect words. Example:</a:t>
            </a:r>
          </a:p>
          <a:p>
            <a:pPr lvl="1">
              <a:lnSpc>
                <a:spcPct val="125000"/>
              </a:lnSpc>
            </a:pPr>
            <a:r>
              <a:rPr lang="en-US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PI</a:t>
            </a:r>
          </a:p>
          <a:p>
            <a:pPr lvl="1">
              <a:lnSpc>
                <a:spcPct val="125000"/>
              </a:lnSpc>
            </a:pPr>
            <a:r>
              <a:rPr lang="en-US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MAX_VALUE </a:t>
            </a:r>
          </a:p>
          <a:p>
            <a:pPr marL="114300" lvl="0" indent="0">
              <a:lnSpc>
                <a:spcPct val="125000"/>
              </a:lnSpc>
              <a:buNone/>
            </a:pPr>
            <a:endParaRPr sz="2200" dirty="0"/>
          </a:p>
          <a:p>
            <a:pPr marL="0" lvl="0" indent="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200"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</p:txBody>
      </p:sp>
      <p:pic>
        <p:nvPicPr>
          <p:cNvPr id="1026" name="Picture 2" descr="Camel case - Wikipedia">
            <a:extLst>
              <a:ext uri="{FF2B5EF4-FFF2-40B4-BE49-F238E27FC236}">
                <a16:creationId xmlns:a16="http://schemas.microsoft.com/office/drawing/2014/main" id="{C05A172C-0B5A-ECD9-B011-D9C3ECD56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750" y="0"/>
            <a:ext cx="249555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50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/>
              <a:t>Variables:</a:t>
            </a:r>
            <a:endParaRPr/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900" dirty="0"/>
              <a:t>Variables are used to represent (store) values that may change in the program.</a:t>
            </a:r>
            <a:endParaRPr dirty="0"/>
          </a:p>
          <a:p>
            <a:pPr marL="914400" lvl="1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dirty="0"/>
              <a:t>They represent pieces of information</a:t>
            </a:r>
          </a:p>
          <a:p>
            <a:pPr marL="596900" lvl="1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900" dirty="0"/>
              <a:t>Variables come in different </a:t>
            </a:r>
            <a:r>
              <a:rPr lang="en" sz="1900" b="1" i="1" dirty="0"/>
              <a:t>types</a:t>
            </a:r>
            <a:r>
              <a:rPr lang="en" sz="1900" dirty="0"/>
              <a:t>:</a:t>
            </a:r>
            <a:endParaRPr dirty="0"/>
          </a:p>
          <a:p>
            <a:pPr marL="914400" lvl="1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dirty="0"/>
              <a:t>int and long store integers</a:t>
            </a:r>
            <a:endParaRPr sz="1800" dirty="0"/>
          </a:p>
          <a:p>
            <a:pPr marL="914400" lvl="1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dirty="0"/>
              <a:t>char stores single characters (‘a’)</a:t>
            </a:r>
            <a:endParaRPr sz="1800" dirty="0"/>
          </a:p>
          <a:p>
            <a:pPr marL="914400" lvl="1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dirty="0"/>
              <a:t>float and double store decimal values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200" dirty="0"/>
          </a:p>
          <a:p>
            <a:pPr marL="0" lvl="0" indent="114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200"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/>
              <a:t>Variable: Declaration</a:t>
            </a:r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Java requires you to declare a variable before you use it</a:t>
            </a:r>
            <a:endParaRPr dirty="0"/>
          </a:p>
          <a:p>
            <a:pPr marL="914400" lvl="1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dirty="0"/>
              <a:t>This tells Java what behavior to expect from that variable</a:t>
            </a:r>
          </a:p>
          <a:p>
            <a:pPr marL="596900" lvl="1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Declare a variable (tell the compiler that you’re going to use it) by writing the type, followed by the name:</a:t>
            </a:r>
            <a:endParaRPr dirty="0"/>
          </a:p>
          <a:p>
            <a:pPr marL="914400" lvl="1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x;  </a:t>
            </a:r>
            <a:r>
              <a:rPr lang="en" sz="1800" dirty="0"/>
              <a:t>// Declares an integer variable x</a:t>
            </a:r>
            <a:endParaRPr sz="1800" dirty="0"/>
          </a:p>
          <a:p>
            <a:pPr marL="914400" lvl="1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pi; </a:t>
            </a:r>
            <a:r>
              <a:rPr lang="en" sz="1800" dirty="0"/>
              <a:t>// pi holds a fractional number</a:t>
            </a:r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 dirty="0"/>
              <a:t>Variable: Declaration is must !</a:t>
            </a:r>
            <a:endParaRPr dirty="0"/>
          </a:p>
        </p:txBody>
      </p:sp>
      <p:sp>
        <p:nvSpPr>
          <p:cNvPr id="104" name="Google Shape;104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99173"/>
              <a:buNone/>
            </a:pPr>
            <a:r>
              <a:rPr lang="en" sz="1900" dirty="0"/>
              <a:t>All Java variables must have a declared type.</a:t>
            </a:r>
            <a:endParaRPr sz="1900" dirty="0"/>
          </a:p>
          <a:p>
            <a:pPr marL="457200" lvl="0" indent="-34290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99173"/>
              <a:buChar char="●"/>
            </a:pPr>
            <a:r>
              <a:rPr lang="en" sz="1900" dirty="0"/>
              <a:t>A variable’s type determines:</a:t>
            </a:r>
            <a:endParaRPr sz="1900" dirty="0"/>
          </a:p>
          <a:p>
            <a:pPr marL="914400" lvl="1" indent="-31750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77134"/>
              <a:buChar char="○"/>
            </a:pPr>
            <a:r>
              <a:rPr lang="en" sz="1900" dirty="0"/>
              <a:t>What kind of value the variable can hold.</a:t>
            </a:r>
            <a:endParaRPr sz="1900" dirty="0"/>
          </a:p>
          <a:p>
            <a:pPr marL="914400" lvl="1" indent="-31750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77134"/>
              <a:buChar char="○"/>
            </a:pPr>
            <a:r>
              <a:rPr lang="en" sz="1900" dirty="0"/>
              <a:t>How much memory to reserve for that variable.</a:t>
            </a:r>
          </a:p>
          <a:p>
            <a:pPr>
              <a:lnSpc>
                <a:spcPct val="145000"/>
              </a:lnSpc>
              <a:buSzPct val="99173"/>
            </a:pPr>
            <a:r>
              <a:rPr lang="en" sz="1900" dirty="0">
                <a:sym typeface="Courier New"/>
              </a:rPr>
              <a:t>Example:</a:t>
            </a:r>
            <a:endParaRPr sz="1900" dirty="0"/>
          </a:p>
          <a:p>
            <a:pPr marL="571500" lvl="1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87774"/>
              <a:buNone/>
            </a:pP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letter;   int i;   </a:t>
            </a:r>
          </a:p>
          <a:p>
            <a:pPr marL="571500" lvl="1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87774"/>
              <a:buNone/>
            </a:pP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area;</a:t>
            </a:r>
            <a:r>
              <a:rPr lang="en" sz="2000" dirty="0">
                <a:ea typeface="Courier New"/>
              </a:rPr>
              <a:t>       </a:t>
            </a: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s; </a:t>
            </a:r>
            <a:endParaRPr sz="2000" dirty="0"/>
          </a:p>
          <a:p>
            <a:pPr marL="114300" lvl="0" indent="0" algn="l" rtl="0">
              <a:lnSpc>
                <a:spcPct val="115000"/>
              </a:lnSpc>
              <a:spcBef>
                <a:spcPts val="495"/>
              </a:spcBef>
              <a:spcAft>
                <a:spcPts val="0"/>
              </a:spcAft>
              <a:buSzPct val="181818"/>
              <a:buNone/>
            </a:pPr>
            <a:endParaRPr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ct val="116883"/>
              <a:buNone/>
            </a:pPr>
            <a:endParaRPr sz="2800" dirty="0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 dirty="0"/>
              <a:t>Variable: Role in a program</a:t>
            </a:r>
            <a:endParaRPr dirty="0"/>
          </a:p>
        </p:txBody>
      </p:sp>
      <p:sp>
        <p:nvSpPr>
          <p:cNvPr id="98" name="Google Shape;9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 a program, the variables store data.</a:t>
            </a:r>
          </a:p>
          <a:p>
            <a:pPr marL="1143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900" b="1" dirty="0"/>
              <a:t>Primitive type: </a:t>
            </a:r>
            <a:r>
              <a:rPr lang="en" dirty="0"/>
              <a:t>variables store single piece of data:</a:t>
            </a:r>
            <a:endParaRPr dirty="0"/>
          </a:p>
          <a:p>
            <a:pPr marL="1143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900" dirty="0"/>
              <a:t>	</a:t>
            </a:r>
            <a:r>
              <a:rPr lang="en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letter = 'A';</a:t>
            </a:r>
          </a:p>
          <a:p>
            <a:pPr marL="1143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900" b="1" dirty="0"/>
              <a:t>Object or reference type: </a:t>
            </a:r>
            <a:r>
              <a:rPr lang="en" dirty="0"/>
              <a:t>variables store multiple pieces of data (ex: a String is a sequence of potentially multiple characters):</a:t>
            </a:r>
            <a:endParaRPr dirty="0"/>
          </a:p>
          <a:p>
            <a:pPr marL="11430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900" dirty="0"/>
              <a:t>	</a:t>
            </a:r>
            <a:r>
              <a:rPr lang="en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text = "ABCDEFG";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 dirty="0"/>
              <a:t>Number Literals</a:t>
            </a:r>
            <a:endParaRPr dirty="0"/>
          </a:p>
        </p:txBody>
      </p:sp>
      <p:sp>
        <p:nvSpPr>
          <p:cNvPr id="104" name="Google Shape;104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99173"/>
              <a:buNone/>
            </a:pPr>
            <a:r>
              <a:rPr lang="en-US" sz="1900" dirty="0"/>
              <a:t>A literal is a constant value that appears directly in the program.</a:t>
            </a:r>
            <a:endParaRPr lang="en" sz="1900" dirty="0"/>
          </a:p>
          <a:p>
            <a:pPr>
              <a:lnSpc>
                <a:spcPct val="145000"/>
              </a:lnSpc>
              <a:buSzPct val="99173"/>
            </a:pPr>
            <a:r>
              <a:rPr lang="en" sz="1900" dirty="0">
                <a:sym typeface="Courier New"/>
              </a:rPr>
              <a:t>Example: 34, 1000000, and 5.0 are literals in the following statements:</a:t>
            </a:r>
            <a:endParaRPr sz="1900" dirty="0"/>
          </a:p>
          <a:p>
            <a:pPr marL="571500" lvl="1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87774"/>
              <a:buNone/>
            </a:pP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34;   </a:t>
            </a:r>
          </a:p>
          <a:p>
            <a:pPr marL="571500" lvl="1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87774"/>
              <a:buNone/>
            </a:pP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x = 1000000;   </a:t>
            </a:r>
          </a:p>
          <a:p>
            <a:pPr marL="571500" lvl="1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ct val="87774"/>
              <a:buNone/>
            </a:pP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d = 5.0;</a:t>
            </a:r>
            <a:r>
              <a:rPr lang="en" sz="2000" dirty="0">
                <a:ea typeface="Courier New"/>
              </a:rPr>
              <a:t>  </a:t>
            </a:r>
            <a:endParaRPr sz="2000" dirty="0"/>
          </a:p>
          <a:p>
            <a:pPr marL="114300" lvl="0" indent="0" algn="l" rtl="0">
              <a:lnSpc>
                <a:spcPct val="115000"/>
              </a:lnSpc>
              <a:spcBef>
                <a:spcPts val="495"/>
              </a:spcBef>
              <a:spcAft>
                <a:spcPts val="0"/>
              </a:spcAft>
              <a:buSzPct val="181818"/>
              <a:buNone/>
            </a:pPr>
            <a:endParaRPr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ct val="116883"/>
              <a:buNone/>
            </a:pPr>
            <a:endParaRPr sz="2800" dirty="0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67341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 dirty="0"/>
              <a:t>Integer Literals</a:t>
            </a:r>
            <a:endParaRPr dirty="0"/>
          </a:p>
        </p:txBody>
      </p:sp>
      <p:sp>
        <p:nvSpPr>
          <p:cNvPr id="104" name="Google Shape;104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45000"/>
              </a:lnSpc>
              <a:buSzPct val="99173"/>
            </a:pPr>
            <a:r>
              <a:rPr lang="en-US" dirty="0"/>
              <a:t>An integer literal can be assigned to an integer variable as long as it can fit into the variable.</a:t>
            </a:r>
          </a:p>
          <a:p>
            <a:pPr>
              <a:lnSpc>
                <a:spcPct val="145000"/>
              </a:lnSpc>
              <a:buSzPct val="99173"/>
            </a:pPr>
            <a:r>
              <a:rPr lang="en-US" dirty="0"/>
              <a:t>Example: the following statement will result in a compiler error, because 1000 cannot be stored in a variable of the byte type (</a:t>
            </a:r>
            <a:r>
              <a:rPr lang="en-US" dirty="0">
                <a:ea typeface="Courier New"/>
              </a:rPr>
              <a:t>Range:  -128 to 127</a:t>
            </a:r>
            <a:r>
              <a:rPr lang="en-US" dirty="0"/>
              <a:t>). </a:t>
            </a:r>
          </a:p>
          <a:p>
            <a:pPr lvl="1">
              <a:lnSpc>
                <a:spcPct val="145000"/>
              </a:lnSpc>
              <a:buSzPct val="99173"/>
            </a:pP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byte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1000;    </a:t>
            </a:r>
            <a:endParaRPr lang="en" sz="2000" b="1" dirty="0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45000"/>
              </a:lnSpc>
              <a:buSzPct val="99173"/>
            </a:pPr>
            <a:r>
              <a:rPr lang="en-US" dirty="0"/>
              <a:t>To denote an integer literal of the long type, append it with the letter L or l. (L preferred over l to avoid confusion with digit 1)  </a:t>
            </a:r>
          </a:p>
          <a:p>
            <a:pPr marL="114300" lvl="0" indent="0" algn="l" rtl="0">
              <a:lnSpc>
                <a:spcPct val="115000"/>
              </a:lnSpc>
              <a:spcBef>
                <a:spcPts val="495"/>
              </a:spcBef>
              <a:spcAft>
                <a:spcPts val="0"/>
              </a:spcAft>
              <a:buSzPct val="181818"/>
              <a:buNone/>
            </a:pPr>
            <a:endParaRPr dirty="0">
              <a:latin typeface="Book Antiqua"/>
              <a:ea typeface="Book Antiqua"/>
              <a:cs typeface="Book Antiqua"/>
              <a:sym typeface="Book Antiqua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SzPct val="116883"/>
              <a:buNone/>
            </a:pPr>
            <a:endParaRPr sz="2800" dirty="0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21494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39285"/>
            </a:pPr>
            <a:r>
              <a:rPr lang="en" b="1" dirty="0"/>
              <a:t>Java Integer Types: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Google Shape;110;p1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41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algn="just"/>
                <a:r>
                  <a:rPr lang="en-US" sz="20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byte</a:t>
                </a:r>
                <a:r>
                  <a:rPr lang="en-US" sz="2200" dirty="0">
                    <a:ea typeface="Courier New"/>
                  </a:rPr>
                  <a:t>: </a:t>
                </a:r>
                <a:r>
                  <a:rPr lang="en-US" dirty="0">
                    <a:ea typeface="Courier New"/>
                  </a:rPr>
                  <a:t>Storage size: </a:t>
                </a:r>
                <a:r>
                  <a:rPr lang="en-US" dirty="0"/>
                  <a:t>1 byte </a:t>
                </a:r>
              </a:p>
              <a:p>
                <a:pPr marL="596900" lvl="1" indent="0" algn="just">
                  <a:buNone/>
                </a:pPr>
                <a:r>
                  <a:rPr lang="en-US" sz="1800" dirty="0">
                    <a:ea typeface="Courier New"/>
                  </a:rPr>
                  <a:t>          Range:  -128 to 127</a:t>
                </a:r>
              </a:p>
              <a:p>
                <a:pPr algn="just"/>
                <a:r>
                  <a:rPr lang="en-US" sz="20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short:</a:t>
                </a:r>
                <a:r>
                  <a:rPr lang="en-US" sz="2400" dirty="0">
                    <a:ea typeface="Courier New"/>
                  </a:rPr>
                  <a:t> </a:t>
                </a:r>
                <a:r>
                  <a:rPr lang="en-US" dirty="0">
                    <a:ea typeface="Courier New"/>
                  </a:rPr>
                  <a:t>Storage size: 2 bytes </a:t>
                </a:r>
              </a:p>
              <a:p>
                <a:pPr marL="114300" indent="0" algn="just">
                  <a:buNone/>
                </a:pPr>
                <a:r>
                  <a:rPr lang="en-US" dirty="0">
                    <a:ea typeface="Courier New"/>
                  </a:rPr>
                  <a:t>	     Range: </a:t>
                </a:r>
                <a:r>
                  <a:rPr lang="en-US" dirty="0"/>
                  <a:t>-32768 to 32767</a:t>
                </a:r>
              </a:p>
              <a:p>
                <a:pPr algn="just"/>
                <a:r>
                  <a:rPr lang="en-US" sz="2000" b="1" dirty="0" err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en-US" dirty="0">
                    <a:ea typeface="Courier New"/>
                  </a:rPr>
                  <a:t>:</a:t>
                </a:r>
                <a:r>
                  <a:rPr lang="en-US" dirty="0"/>
                  <a:t>  </a:t>
                </a:r>
                <a:r>
                  <a:rPr lang="en-US" dirty="0">
                    <a:ea typeface="Courier New"/>
                  </a:rPr>
                  <a:t>Storage size </a:t>
                </a:r>
                <a:r>
                  <a:rPr lang="en-US" dirty="0"/>
                  <a:t>4 bytes </a:t>
                </a:r>
                <a:endParaRPr lang="en-US" dirty="0">
                  <a:ea typeface="Courier New"/>
                </a:endParaRPr>
              </a:p>
              <a:p>
                <a:pPr marL="596900" lvl="1" indent="0" algn="just">
                  <a:buNone/>
                </a:pPr>
                <a:r>
                  <a:rPr lang="en-US" sz="1800" dirty="0"/>
                  <a:t>          Range: </a:t>
                </a:r>
                <a14:m>
                  <m:oMath xmlns:m="http://schemas.openxmlformats.org/officeDocument/2006/math">
                    <m:r>
                      <a:rPr lang="en-US" sz="18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1800" dirty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a:rPr lang="ar-AE" sz="18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a:rPr lang="en-US" sz="1800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 (-2147483648 to 2147483647) </a:t>
                </a:r>
              </a:p>
              <a:p>
                <a:pPr algn="just"/>
                <a:r>
                  <a:rPr lang="en-US" sz="20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long</a:t>
                </a:r>
                <a:r>
                  <a:rPr lang="en-US" dirty="0">
                    <a:ea typeface="Courier New"/>
                  </a:rPr>
                  <a:t>: Storage size </a:t>
                </a:r>
                <a:r>
                  <a:rPr lang="en-US" dirty="0"/>
                  <a:t>8 bytes</a:t>
                </a:r>
              </a:p>
              <a:p>
                <a:pPr marL="596900" lvl="1" indent="0" algn="just">
                  <a:buNone/>
                </a:pPr>
                <a:r>
                  <a:rPr lang="en-US" sz="1800" dirty="0"/>
                  <a:t>          Range: </a:t>
                </a:r>
                <a14:m>
                  <m:oMath xmlns:m="http://schemas.openxmlformats.org/officeDocument/2006/math">
                    <m:r>
                      <a:rPr lang="en-US" sz="1800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ar-AE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a:rPr lang="ar-AE" sz="18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63</m:t>
                        </m:r>
                      </m:sup>
                    </m:sSup>
                    <m:r>
                      <a:rPr lang="en-US" sz="1800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800" dirty="0"/>
              </a:p>
              <a:p>
                <a:pPr marL="596900" lvl="1" indent="0" algn="just">
                  <a:buNone/>
                </a:pPr>
                <a:r>
                  <a:rPr lang="en-US" sz="1800" dirty="0"/>
                  <a:t>          (-9223372036854775808 to 9223372036854775807) </a:t>
                </a:r>
              </a:p>
              <a:p>
                <a:pPr marL="596900" lvl="1" indent="0" algn="just">
                  <a:buNone/>
                </a:pPr>
                <a:endParaRPr lang="en-US" sz="1800" dirty="0"/>
              </a:p>
              <a:p>
                <a:pPr marL="596900" lvl="1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None/>
                </a:pPr>
                <a:endParaRPr lang="en-US" dirty="0"/>
              </a:p>
              <a:p>
                <a:pPr marL="914400" lvl="1" indent="-22860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None/>
                </a:pPr>
                <a:endParaRPr sz="1800" dirty="0">
                  <a:solidFill>
                    <a:schemeClr val="lt2"/>
                  </a:solidFill>
                  <a:latin typeface="Courier"/>
                  <a:ea typeface="Courier"/>
                  <a:cs typeface="Courier"/>
                  <a:sym typeface="Courier"/>
                </a:endParaRPr>
              </a:p>
            </p:txBody>
          </p:sp>
        </mc:Choice>
        <mc:Fallback xmlns="">
          <p:sp>
            <p:nvSpPr>
              <p:cNvPr id="110" name="Google Shape;110;p1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4164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 dirty="0"/>
              <a:t>Floating-Point Literals</a:t>
            </a:r>
            <a:endParaRPr dirty="0"/>
          </a:p>
        </p:txBody>
      </p:sp>
      <p:sp>
        <p:nvSpPr>
          <p:cNvPr id="122" name="Google Shape;1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ym typeface="Courier New"/>
              </a:rPr>
              <a:t>Written with decimal point, by default treated as double type. Example: 5.0 is considered as a double value, not a float value.</a:t>
            </a:r>
          </a:p>
          <a:p>
            <a:pPr marL="1143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ym typeface="Courier New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ym typeface="Courier New"/>
              </a:rPr>
              <a:t>We can make a number float by appending the letter f or F.</a:t>
            </a:r>
          </a:p>
          <a:p>
            <a:pPr marL="1143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ym typeface="Courier New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ym typeface="Courier New"/>
              </a:rPr>
              <a:t>Example: </a:t>
            </a:r>
          </a:p>
          <a:p>
            <a:pPr lvl="1" indent="-342900" algn="just">
              <a:buSzPts val="1800"/>
              <a:buChar char="●"/>
            </a:pPr>
            <a:r>
              <a:rPr lang="en-US" sz="1800" dirty="0">
                <a:sym typeface="Courier New"/>
              </a:rPr>
              <a:t>100.2f or 100.2F is float number</a:t>
            </a:r>
          </a:p>
          <a:p>
            <a:pPr lvl="1" indent="-342900" algn="just">
              <a:buSzPts val="1800"/>
              <a:buChar char="●"/>
            </a:pPr>
            <a:r>
              <a:rPr lang="en-US" sz="1800" dirty="0">
                <a:sym typeface="Courier New"/>
              </a:rPr>
              <a:t>100.2d or 100.2D or 100.2 is a double number.</a:t>
            </a:r>
            <a:endParaRPr sz="1800" dirty="0"/>
          </a:p>
          <a:p>
            <a:pPr marL="59690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dirty="0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-US" b="1" dirty="0"/>
              <a:t>d</a:t>
            </a:r>
            <a:r>
              <a:rPr lang="en" b="1" dirty="0"/>
              <a:t>ouble vs. float</a:t>
            </a:r>
            <a:endParaRPr dirty="0"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</a:t>
            </a:r>
            <a:r>
              <a:rPr lang="en" dirty="0"/>
              <a:t>he double type values are more accurate than the float value. </a:t>
            </a:r>
          </a:p>
          <a:p>
            <a:pPr marL="1143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/>
          </a:p>
          <a:p>
            <a:pPr marL="1143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Example:</a:t>
            </a:r>
          </a:p>
          <a:p>
            <a:pPr marL="1143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kern="1200" dirty="0">
                <a:solidFill>
                  <a:srgbClr val="000000"/>
                </a:solidFill>
                <a:highlight>
                  <a:srgbClr val="E8F2FE"/>
                </a:highlight>
                <a:latin typeface="Consolas" panose="020B0609020204030204" pitchFamily="49" charset="0"/>
              </a:rPr>
              <a:t> 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System.out.println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("1.0/3.0 is: " + 1.0/3.0);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dirty="0"/>
              <a:t>	D</a:t>
            </a:r>
            <a:r>
              <a:rPr lang="en" dirty="0"/>
              <a:t>isplays: </a:t>
            </a:r>
            <a:r>
              <a:rPr lang="en-US" kern="1200" dirty="0">
                <a:solidFill>
                  <a:prstClr val="black"/>
                </a:solidFill>
                <a:latin typeface="Calibri" panose="020F0502020204030204"/>
              </a:rPr>
              <a:t>1.0/3.0 is: 0.3333333333333333</a:t>
            </a:r>
          </a:p>
          <a:p>
            <a:pPr marL="914400" lvl="1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800" dirty="0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14300" indent="0" algn="just">
              <a:buNone/>
            </a:pPr>
            <a:r>
              <a:rPr lang="en-US" kern="1200" dirty="0">
                <a:solidFill>
                  <a:srgbClr val="000000"/>
                </a:solidFill>
                <a:highlight>
                  <a:srgbClr val="E8F2FE"/>
                </a:highlight>
                <a:latin typeface="Consolas" panose="020B0609020204030204" pitchFamily="49" charset="0"/>
                <a:ea typeface="+mn-ea"/>
              </a:rPr>
              <a:t> 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System.out.println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("1.0F/3.0F is: " + 1.0F/3.0F);</a:t>
            </a:r>
          </a:p>
          <a:p>
            <a:pPr marL="0" lvl="0" indent="0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sz="1800" dirty="0"/>
              <a:t>	Displays: </a:t>
            </a:r>
            <a:r>
              <a:rPr lang="en-US" kern="1200" dirty="0">
                <a:solidFill>
                  <a:prstClr val="black"/>
                </a:solidFill>
                <a:latin typeface="Calibri" panose="020F0502020204030204"/>
              </a:rPr>
              <a:t>1.0F/3.0F is: 0.33333334</a:t>
            </a:r>
          </a:p>
          <a:p>
            <a:pPr lvl="1" indent="-228600" algn="just">
              <a:buNone/>
            </a:pPr>
            <a:endParaRPr lang="en-US" sz="1800" dirty="0"/>
          </a:p>
          <a:p>
            <a:pPr marL="914400" lvl="1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dirty="0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" name="Left Brace 1"/>
          <p:cNvSpPr/>
          <p:nvPr/>
        </p:nvSpPr>
        <p:spPr>
          <a:xfrm rot="16200000">
            <a:off x="4310092" y="2028136"/>
            <a:ext cx="149559" cy="181463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/>
          <p:cNvSpPr/>
          <p:nvPr/>
        </p:nvSpPr>
        <p:spPr>
          <a:xfrm rot="16200000">
            <a:off x="4065982" y="3548091"/>
            <a:ext cx="118542" cy="87731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908454" y="2950637"/>
            <a:ext cx="1100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5266" y="3985065"/>
            <a:ext cx="1100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digits</a:t>
            </a:r>
          </a:p>
        </p:txBody>
      </p:sp>
    </p:spTree>
    <p:extLst>
      <p:ext uri="{BB962C8B-B14F-4D97-AF65-F5344CB8AC3E}">
        <p14:creationId xmlns:p14="http://schemas.microsoft.com/office/powerpoint/2010/main" val="367828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3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-US" b="1" dirty="0"/>
              <a:t>Scientific Notation</a:t>
            </a:r>
            <a:endParaRPr dirty="0"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ea typeface="Courier"/>
              </a:rPr>
              <a:t>Floating-point literals can also be specified in scientific notations. </a:t>
            </a:r>
          </a:p>
          <a:p>
            <a:pPr marL="1143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ea typeface="Courier"/>
            </a:endParaRPr>
          </a:p>
          <a:p>
            <a:pPr marL="1143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ea typeface="Courier"/>
              </a:rPr>
              <a:t>Example: </a:t>
            </a:r>
          </a:p>
          <a:p>
            <a:pPr marL="1143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ea typeface="Courier"/>
            </a:endParaRPr>
          </a:p>
          <a:p>
            <a:pPr algn="just"/>
            <a:r>
              <a:rPr lang="en-US" dirty="0">
                <a:ea typeface="Courier"/>
              </a:rPr>
              <a:t>1.23456e+2, same as 1.23456e2, is equivalent to 123.456.</a:t>
            </a:r>
          </a:p>
          <a:p>
            <a:pPr marL="114300" indent="0" algn="just">
              <a:buNone/>
            </a:pPr>
            <a:endParaRPr lang="en-US" dirty="0">
              <a:ea typeface="Courier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ea typeface="Courier"/>
              </a:rPr>
              <a:t>1.23456e-2 is equivalent to 0.0123456.</a:t>
            </a:r>
          </a:p>
          <a:p>
            <a:pPr marL="1143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ea typeface="Courier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ea typeface="Courier"/>
              </a:rPr>
              <a:t>E (or e) represents an exponent and it can be either in lowercase or uppercase.</a:t>
            </a:r>
          </a:p>
        </p:txBody>
      </p:sp>
    </p:spTree>
    <p:extLst>
      <p:ext uri="{BB962C8B-B14F-4D97-AF65-F5344CB8AC3E}">
        <p14:creationId xmlns:p14="http://schemas.microsoft.com/office/powerpoint/2010/main" val="350963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 b="1"/>
              <a:t>Real Numbers:</a:t>
            </a:r>
            <a:endParaRPr/>
          </a:p>
        </p:txBody>
      </p:sp>
      <p:sp>
        <p:nvSpPr>
          <p:cNvPr id="122" name="Google Shape;1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loat: 4 bytes	 </a:t>
            </a:r>
            <a:endParaRPr dirty="0"/>
          </a:p>
          <a:p>
            <a:pPr marL="914400" lvl="1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dirty="0"/>
              <a:t>Negative range:   -3.4028235E+38 to -1.4E-45</a:t>
            </a:r>
            <a:endParaRPr sz="1800" dirty="0"/>
          </a:p>
          <a:p>
            <a:pPr marL="914400" lvl="1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 dirty="0"/>
              <a:t>Positive range:     1.4E-45 to 3.4028235E+38</a:t>
            </a:r>
          </a:p>
          <a:p>
            <a:pPr marL="59690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ouble: 8 bytes	</a:t>
            </a:r>
            <a:endParaRPr dirty="0"/>
          </a:p>
          <a:p>
            <a:pPr lvl="1" algn="just"/>
            <a:r>
              <a:rPr lang="en" sz="1800" dirty="0"/>
              <a:t>Negative range:   -1.7976931348623157E+308 to -4.9E-324                                 </a:t>
            </a:r>
            <a:endParaRPr sz="1800" dirty="0"/>
          </a:p>
          <a:p>
            <a:pPr lvl="1" algn="just"/>
            <a:r>
              <a:rPr lang="en" sz="1800" dirty="0"/>
              <a:t>Positive range:     4.9E-324 to 1.7976931348623157E+308</a:t>
            </a:r>
            <a:endParaRPr sz="1800" dirty="0"/>
          </a:p>
          <a:p>
            <a:pPr marL="596900" lvl="1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dirty="0">
              <a:solidFill>
                <a:schemeClr val="lt2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41269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5538c6363dcc66390f334cc79d134dde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f941384ee89c8d55594949fcab33c8bd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A89BA5-A921-4FC1-ADBF-8859AF1D6F3E}"/>
</file>

<file path=customXml/itemProps2.xml><?xml version="1.0" encoding="utf-8"?>
<ds:datastoreItem xmlns:ds="http://schemas.openxmlformats.org/officeDocument/2006/customXml" ds:itemID="{FBB1D8CF-5733-4967-9EBA-FBCF1E5BEB38}"/>
</file>

<file path=customXml/itemProps3.xml><?xml version="1.0" encoding="utf-8"?>
<ds:datastoreItem xmlns:ds="http://schemas.openxmlformats.org/officeDocument/2006/customXml" ds:itemID="{D3DA23AE-CDBB-4D83-A90F-5BFEC490920A}"/>
</file>

<file path=docProps/app.xml><?xml version="1.0" encoding="utf-8"?>
<Properties xmlns="http://schemas.openxmlformats.org/officeDocument/2006/extended-properties" xmlns:vt="http://schemas.openxmlformats.org/officeDocument/2006/docPropsVTypes">
  <TotalTime>1914</TotalTime>
  <Words>947</Words>
  <Application>Microsoft Office PowerPoint</Application>
  <PresentationFormat>On-screen Show (16:9)</PresentationFormat>
  <Paragraphs>143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Courier</vt:lpstr>
      <vt:lpstr>Arial</vt:lpstr>
      <vt:lpstr>Book Antiqua</vt:lpstr>
      <vt:lpstr>Calibri</vt:lpstr>
      <vt:lpstr>Cambria Math</vt:lpstr>
      <vt:lpstr>Consolas</vt:lpstr>
      <vt:lpstr>Courier New</vt:lpstr>
      <vt:lpstr>Simple Light</vt:lpstr>
      <vt:lpstr>Identifiers</vt:lpstr>
      <vt:lpstr>Objectives: </vt:lpstr>
      <vt:lpstr>Identifiers: Definition and Rules </vt:lpstr>
      <vt:lpstr>Identifiers: Rules and Examples </vt:lpstr>
      <vt:lpstr>Java Naming Conventions:</vt:lpstr>
      <vt:lpstr>Java Naming Conventions: Contd.</vt:lpstr>
      <vt:lpstr>Variables:</vt:lpstr>
      <vt:lpstr>Variable: Declaration</vt:lpstr>
      <vt:lpstr>Variable: Declaration is must !</vt:lpstr>
      <vt:lpstr>Variable: Role in a program</vt:lpstr>
      <vt:lpstr>Number Literals</vt:lpstr>
      <vt:lpstr>Integer Literals</vt:lpstr>
      <vt:lpstr>Java Integer Types: </vt:lpstr>
      <vt:lpstr>Floating-Point Literals</vt:lpstr>
      <vt:lpstr>double vs. float</vt:lpstr>
      <vt:lpstr>Scientific Notation</vt:lpstr>
      <vt:lpstr>Real Numbers: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Identifiers</dc:title>
  <dc:creator>admin</dc:creator>
  <cp:lastModifiedBy>于 心瑞 Xinrui YU</cp:lastModifiedBy>
  <cp:revision>82</cp:revision>
  <dcterms:modified xsi:type="dcterms:W3CDTF">2025-09-17T00:30:07Z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