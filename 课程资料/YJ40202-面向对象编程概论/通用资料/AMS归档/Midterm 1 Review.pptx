
<file path=[Content_Types].xml><?xml version="1.0" encoding="utf-8"?>
<Types xmlns="http://schemas.openxmlformats.org/package/2006/content-types">
  <Default Extension="bin" ContentType="application/vnd.openxmlformats-officedocument.oleObject"/>
  <Default Extension="jpg" ContentType="image/jpeg"/>
  <Default Extension="png" ContentType="image/png"/>
  <Default Extension="rels" ContentType="application/vnd.openxmlformats-package.relationships+xml"/>
  <Default Extension="wmf" ContentType="image/x-wmf"/>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19"/>
  </p:notesMasterIdLst>
  <p:sldIdLst>
    <p:sldId id="256" r:id="rId2"/>
    <p:sldId id="400" r:id="rId3"/>
    <p:sldId id="308" r:id="rId4"/>
    <p:sldId id="276" r:id="rId5"/>
    <p:sldId id="277" r:id="rId6"/>
    <p:sldId id="285" r:id="rId7"/>
    <p:sldId id="269" r:id="rId8"/>
    <p:sldId id="401" r:id="rId9"/>
    <p:sldId id="325" r:id="rId10"/>
    <p:sldId id="326" r:id="rId11"/>
    <p:sldId id="327" r:id="rId12"/>
    <p:sldId id="403" r:id="rId13"/>
    <p:sldId id="402" r:id="rId14"/>
    <p:sldId id="316" r:id="rId15"/>
    <p:sldId id="319" r:id="rId16"/>
    <p:sldId id="348" r:id="rId17"/>
    <p:sldId id="324" r:id="rId18"/>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1BDE565-5639-4F7B-8E77-3C8F4EE7275C}" v="279" dt="2025-11-10T15:09:02.67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8986" autoAdjust="0"/>
    <p:restoredTop sz="83632" autoAdjust="0"/>
  </p:normalViewPr>
  <p:slideViewPr>
    <p:cSldViewPr snapToGrid="0">
      <p:cViewPr varScale="1">
        <p:scale>
          <a:sx n="101" d="100"/>
          <a:sy n="101" d="100"/>
        </p:scale>
        <p:origin x="783" y="51"/>
      </p:cViewPr>
      <p:guideLst>
        <p:guide orient="horz" pos="1620"/>
        <p:guide pos="2880"/>
      </p:guideLst>
    </p:cSldViewPr>
  </p:slideViewPr>
  <p:outlineViewPr>
    <p:cViewPr>
      <p:scale>
        <a:sx n="33" d="100"/>
        <a:sy n="33" d="100"/>
      </p:scale>
      <p:origin x="0" y="-138772"/>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customXml" Target="../customXml/item1.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28" Type="http://schemas.openxmlformats.org/officeDocument/2006/relationships/customXml" Target="../customXml/item3.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 Id="rId27" Type="http://schemas.openxmlformats.org/officeDocument/2006/relationships/customXml" Target="../customXml/item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于 心瑞 Xinrui YU" userId="e6fcc6d4-2b88-4beb-95d7-57ae4d33a768" providerId="ADAL" clId="{F34F8855-C621-4438-806B-08A2E2CB3E3D}"/>
    <pc:docChg chg="undo custSel addSld delSld modSld sldOrd">
      <pc:chgData name="于 心瑞 Xinrui YU" userId="e6fcc6d4-2b88-4beb-95d7-57ae4d33a768" providerId="ADAL" clId="{F34F8855-C621-4438-806B-08A2E2CB3E3D}" dt="2025-11-10T15:09:50.340" v="486" actId="207"/>
      <pc:docMkLst>
        <pc:docMk/>
      </pc:docMkLst>
      <pc:sldChg chg="delSp mod delAnim">
        <pc:chgData name="于 心瑞 Xinrui YU" userId="e6fcc6d4-2b88-4beb-95d7-57ae4d33a768" providerId="ADAL" clId="{F34F8855-C621-4438-806B-08A2E2CB3E3D}" dt="2025-11-10T15:07:46.509" v="448" actId="478"/>
        <pc:sldMkLst>
          <pc:docMk/>
          <pc:sldMk cId="3179384342" sldId="269"/>
        </pc:sldMkLst>
        <pc:spChg chg="del">
          <ac:chgData name="于 心瑞 Xinrui YU" userId="e6fcc6d4-2b88-4beb-95d7-57ae4d33a768" providerId="ADAL" clId="{F34F8855-C621-4438-806B-08A2E2CB3E3D}" dt="2025-11-10T15:07:46.509" v="448" actId="478"/>
          <ac:spMkLst>
            <pc:docMk/>
            <pc:sldMk cId="3179384342" sldId="269"/>
            <ac:spMk id="5" creationId="{07F4732F-B879-ED42-2FB0-0DA24678F067}"/>
          </ac:spMkLst>
        </pc:spChg>
      </pc:sldChg>
      <pc:sldChg chg="modSp">
        <pc:chgData name="于 心瑞 Xinrui YU" userId="e6fcc6d4-2b88-4beb-95d7-57ae4d33a768" providerId="ADAL" clId="{F34F8855-C621-4438-806B-08A2E2CB3E3D}" dt="2025-11-10T15:07:54.089" v="449" actId="207"/>
        <pc:sldMkLst>
          <pc:docMk/>
          <pc:sldMk cId="188628081" sldId="285"/>
        </pc:sldMkLst>
        <pc:spChg chg="mod">
          <ac:chgData name="于 心瑞 Xinrui YU" userId="e6fcc6d4-2b88-4beb-95d7-57ae4d33a768" providerId="ADAL" clId="{F34F8855-C621-4438-806B-08A2E2CB3E3D}" dt="2025-11-10T15:07:54.089" v="449" actId="207"/>
          <ac:spMkLst>
            <pc:docMk/>
            <pc:sldMk cId="188628081" sldId="285"/>
            <ac:spMk id="3" creationId="{00000000-0000-0000-0000-000000000000}"/>
          </ac:spMkLst>
        </pc:spChg>
      </pc:sldChg>
      <pc:sldChg chg="modSp mod">
        <pc:chgData name="于 心瑞 Xinrui YU" userId="e6fcc6d4-2b88-4beb-95d7-57ae4d33a768" providerId="ADAL" clId="{F34F8855-C621-4438-806B-08A2E2CB3E3D}" dt="2025-11-10T14:31:27.312" v="51" actId="20577"/>
        <pc:sldMkLst>
          <pc:docMk/>
          <pc:sldMk cId="789291496" sldId="308"/>
        </pc:sldMkLst>
        <pc:spChg chg="mod">
          <ac:chgData name="于 心瑞 Xinrui YU" userId="e6fcc6d4-2b88-4beb-95d7-57ae4d33a768" providerId="ADAL" clId="{F34F8855-C621-4438-806B-08A2E2CB3E3D}" dt="2025-11-10T14:30:38.366" v="12" actId="20577"/>
          <ac:spMkLst>
            <pc:docMk/>
            <pc:sldMk cId="789291496" sldId="308"/>
            <ac:spMk id="60" creationId="{00000000-0000-0000-0000-000000000000}"/>
          </ac:spMkLst>
        </pc:spChg>
        <pc:graphicFrameChg chg="modGraphic">
          <ac:chgData name="于 心瑞 Xinrui YU" userId="e6fcc6d4-2b88-4beb-95d7-57ae4d33a768" providerId="ADAL" clId="{F34F8855-C621-4438-806B-08A2E2CB3E3D}" dt="2025-11-10T14:30:48.390" v="17" actId="20577"/>
          <ac:graphicFrameMkLst>
            <pc:docMk/>
            <pc:sldMk cId="789291496" sldId="308"/>
            <ac:graphicFrameMk id="2" creationId="{88C9FBB0-7833-456E-A974-FDEAB8C1D20D}"/>
          </ac:graphicFrameMkLst>
        </pc:graphicFrameChg>
        <pc:graphicFrameChg chg="modGraphic">
          <ac:chgData name="于 心瑞 Xinrui YU" userId="e6fcc6d4-2b88-4beb-95d7-57ae4d33a768" providerId="ADAL" clId="{F34F8855-C621-4438-806B-08A2E2CB3E3D}" dt="2025-11-10T14:31:27.312" v="51" actId="20577"/>
          <ac:graphicFrameMkLst>
            <pc:docMk/>
            <pc:sldMk cId="789291496" sldId="308"/>
            <ac:graphicFrameMk id="3" creationId="{20D55DAD-2D3A-44C3-A870-7DDF1A624F14}"/>
          </ac:graphicFrameMkLst>
        </pc:graphicFrameChg>
      </pc:sldChg>
      <pc:sldChg chg="del">
        <pc:chgData name="于 心瑞 Xinrui YU" userId="e6fcc6d4-2b88-4beb-95d7-57ae4d33a768" providerId="ADAL" clId="{F34F8855-C621-4438-806B-08A2E2CB3E3D}" dt="2025-11-10T14:30:22.038" v="5" actId="47"/>
        <pc:sldMkLst>
          <pc:docMk/>
          <pc:sldMk cId="3501782296" sldId="309"/>
        </pc:sldMkLst>
      </pc:sldChg>
      <pc:sldChg chg="del">
        <pc:chgData name="于 心瑞 Xinrui YU" userId="e6fcc6d4-2b88-4beb-95d7-57ae4d33a768" providerId="ADAL" clId="{F34F8855-C621-4438-806B-08A2E2CB3E3D}" dt="2025-11-10T14:30:19.469" v="4" actId="47"/>
        <pc:sldMkLst>
          <pc:docMk/>
          <pc:sldMk cId="3789206243" sldId="310"/>
        </pc:sldMkLst>
      </pc:sldChg>
      <pc:sldChg chg="ord">
        <pc:chgData name="于 心瑞 Xinrui YU" userId="e6fcc6d4-2b88-4beb-95d7-57ae4d33a768" providerId="ADAL" clId="{F34F8855-C621-4438-806B-08A2E2CB3E3D}" dt="2025-11-10T14:30:13.437" v="3"/>
        <pc:sldMkLst>
          <pc:docMk/>
          <pc:sldMk cId="1789656582" sldId="316"/>
        </pc:sldMkLst>
      </pc:sldChg>
      <pc:sldChg chg="del">
        <pc:chgData name="于 心瑞 Xinrui YU" userId="e6fcc6d4-2b88-4beb-95d7-57ae4d33a768" providerId="ADAL" clId="{F34F8855-C621-4438-806B-08A2E2CB3E3D}" dt="2025-11-10T14:29:50.902" v="0" actId="47"/>
        <pc:sldMkLst>
          <pc:docMk/>
          <pc:sldMk cId="2557253339" sldId="317"/>
        </pc:sldMkLst>
      </pc:sldChg>
      <pc:sldChg chg="modSp mod">
        <pc:chgData name="于 心瑞 Xinrui YU" userId="e6fcc6d4-2b88-4beb-95d7-57ae4d33a768" providerId="ADAL" clId="{F34F8855-C621-4438-806B-08A2E2CB3E3D}" dt="2025-11-10T15:09:50.340" v="486" actId="207"/>
        <pc:sldMkLst>
          <pc:docMk/>
          <pc:sldMk cId="1283465754" sldId="325"/>
        </pc:sldMkLst>
        <pc:spChg chg="mod">
          <ac:chgData name="于 心瑞 Xinrui YU" userId="e6fcc6d4-2b88-4beb-95d7-57ae4d33a768" providerId="ADAL" clId="{F34F8855-C621-4438-806B-08A2E2CB3E3D}" dt="2025-11-10T15:09:50.340" v="486" actId="207"/>
          <ac:spMkLst>
            <pc:docMk/>
            <pc:sldMk cId="1283465754" sldId="325"/>
            <ac:spMk id="3" creationId="{00000000-0000-0000-0000-000000000000}"/>
          </ac:spMkLst>
        </pc:spChg>
      </pc:sldChg>
      <pc:sldChg chg="del">
        <pc:chgData name="于 心瑞 Xinrui YU" userId="e6fcc6d4-2b88-4beb-95d7-57ae4d33a768" providerId="ADAL" clId="{F34F8855-C621-4438-806B-08A2E2CB3E3D}" dt="2025-11-10T14:29:55.419" v="1" actId="47"/>
        <pc:sldMkLst>
          <pc:docMk/>
          <pc:sldMk cId="1580460653" sldId="328"/>
        </pc:sldMkLst>
      </pc:sldChg>
      <pc:sldChg chg="modSp add mod modAnim">
        <pc:chgData name="于 心瑞 Xinrui YU" userId="e6fcc6d4-2b88-4beb-95d7-57ae4d33a768" providerId="ADAL" clId="{F34F8855-C621-4438-806B-08A2E2CB3E3D}" dt="2025-11-10T15:09:02.673" v="472" actId="948"/>
        <pc:sldMkLst>
          <pc:docMk/>
          <pc:sldMk cId="3900643380" sldId="348"/>
        </pc:sldMkLst>
        <pc:spChg chg="mod">
          <ac:chgData name="于 心瑞 Xinrui YU" userId="e6fcc6d4-2b88-4beb-95d7-57ae4d33a768" providerId="ADAL" clId="{F34F8855-C621-4438-806B-08A2E2CB3E3D}" dt="2025-11-10T15:09:02.673" v="472" actId="948"/>
          <ac:spMkLst>
            <pc:docMk/>
            <pc:sldMk cId="3900643380" sldId="348"/>
            <ac:spMk id="3" creationId="{00000000-0000-0000-0000-000000000000}"/>
          </ac:spMkLst>
        </pc:spChg>
      </pc:sldChg>
      <pc:sldChg chg="add">
        <pc:chgData name="于 心瑞 Xinrui YU" userId="e6fcc6d4-2b88-4beb-95d7-57ae4d33a768" providerId="ADAL" clId="{F34F8855-C621-4438-806B-08A2E2CB3E3D}" dt="2025-11-10T14:32:16.181" v="52"/>
        <pc:sldMkLst>
          <pc:docMk/>
          <pc:sldMk cId="764101748" sldId="400"/>
        </pc:sldMkLst>
      </pc:sldChg>
      <pc:sldChg chg="addSp delSp modSp add del mod ord">
        <pc:chgData name="于 心瑞 Xinrui YU" userId="e6fcc6d4-2b88-4beb-95d7-57ae4d33a768" providerId="ADAL" clId="{F34F8855-C621-4438-806B-08A2E2CB3E3D}" dt="2025-11-10T14:47:32.595" v="272" actId="2696"/>
        <pc:sldMkLst>
          <pc:docMk/>
          <pc:sldMk cId="592032120" sldId="401"/>
        </pc:sldMkLst>
        <pc:spChg chg="del mod">
          <ac:chgData name="于 心瑞 Xinrui YU" userId="e6fcc6d4-2b88-4beb-95d7-57ae4d33a768" providerId="ADAL" clId="{F34F8855-C621-4438-806B-08A2E2CB3E3D}" dt="2025-11-10T14:32:55.597" v="61" actId="478"/>
          <ac:spMkLst>
            <pc:docMk/>
            <pc:sldMk cId="592032120" sldId="401"/>
            <ac:spMk id="2" creationId="{FA995BF4-539A-EF31-73BF-49E0E726FE21}"/>
          </ac:spMkLst>
        </pc:spChg>
        <pc:spChg chg="add mod">
          <ac:chgData name="于 心瑞 Xinrui YU" userId="e6fcc6d4-2b88-4beb-95d7-57ae4d33a768" providerId="ADAL" clId="{F34F8855-C621-4438-806B-08A2E2CB3E3D}" dt="2025-11-10T14:43:52.571" v="270" actId="27636"/>
          <ac:spMkLst>
            <pc:docMk/>
            <pc:sldMk cId="592032120" sldId="401"/>
            <ac:spMk id="4" creationId="{C36734DB-BFE1-D966-C109-FFFC33EEC35B}"/>
          </ac:spMkLst>
        </pc:spChg>
      </pc:sldChg>
      <pc:sldChg chg="modSp add mod ord modAnim">
        <pc:chgData name="于 心瑞 Xinrui YU" userId="e6fcc6d4-2b88-4beb-95d7-57ae4d33a768" providerId="ADAL" clId="{F34F8855-C621-4438-806B-08A2E2CB3E3D}" dt="2025-11-10T14:41:56.729" v="265"/>
        <pc:sldMkLst>
          <pc:docMk/>
          <pc:sldMk cId="1638140978" sldId="402"/>
        </pc:sldMkLst>
        <pc:spChg chg="mod">
          <ac:chgData name="于 心瑞 Xinrui YU" userId="e6fcc6d4-2b88-4beb-95d7-57ae4d33a768" providerId="ADAL" clId="{F34F8855-C621-4438-806B-08A2E2CB3E3D}" dt="2025-11-10T14:35:50.497" v="95" actId="20577"/>
          <ac:spMkLst>
            <pc:docMk/>
            <pc:sldMk cId="1638140978" sldId="402"/>
            <ac:spMk id="2" creationId="{7FB64030-AA09-049F-1875-CCEE618105BE}"/>
          </ac:spMkLst>
        </pc:spChg>
        <pc:spChg chg="mod">
          <ac:chgData name="于 心瑞 Xinrui YU" userId="e6fcc6d4-2b88-4beb-95d7-57ae4d33a768" providerId="ADAL" clId="{F34F8855-C621-4438-806B-08A2E2CB3E3D}" dt="2025-11-10T14:41:30.584" v="260" actId="20577"/>
          <ac:spMkLst>
            <pc:docMk/>
            <pc:sldMk cId="1638140978" sldId="402"/>
            <ac:spMk id="3" creationId="{5E3940F0-134D-BE82-3557-25022CE176A4}"/>
          </ac:spMkLst>
        </pc:spChg>
      </pc:sldChg>
      <pc:sldChg chg="modSp add del mod">
        <pc:chgData name="于 心瑞 Xinrui YU" userId="e6fcc6d4-2b88-4beb-95d7-57ae4d33a768" providerId="ADAL" clId="{F34F8855-C621-4438-806B-08A2E2CB3E3D}" dt="2025-11-10T14:34:59.269" v="71" actId="47"/>
        <pc:sldMkLst>
          <pc:docMk/>
          <pc:sldMk cId="3020172513" sldId="402"/>
        </pc:sldMkLst>
        <pc:spChg chg="mod">
          <ac:chgData name="于 心瑞 Xinrui YU" userId="e6fcc6d4-2b88-4beb-95d7-57ae4d33a768" providerId="ADAL" clId="{F34F8855-C621-4438-806B-08A2E2CB3E3D}" dt="2025-11-10T14:32:16.196" v="53" actId="27636"/>
          <ac:spMkLst>
            <pc:docMk/>
            <pc:sldMk cId="3020172513" sldId="402"/>
            <ac:spMk id="2" creationId="{23413363-BCE5-5D23-D41F-B9C237429C02}"/>
          </ac:spMkLst>
        </pc:spChg>
      </pc:sldChg>
      <pc:sldChg chg="addSp delSp modSp add mod ord delAnim modAnim">
        <pc:chgData name="于 心瑞 Xinrui YU" userId="e6fcc6d4-2b88-4beb-95d7-57ae4d33a768" providerId="ADAL" clId="{F34F8855-C621-4438-806B-08A2E2CB3E3D}" dt="2025-11-10T15:07:39.281" v="447" actId="20577"/>
        <pc:sldMkLst>
          <pc:docMk/>
          <pc:sldMk cId="938721377" sldId="403"/>
        </pc:sldMkLst>
        <pc:spChg chg="add mod">
          <ac:chgData name="于 心瑞 Xinrui YU" userId="e6fcc6d4-2b88-4beb-95d7-57ae4d33a768" providerId="ADAL" clId="{F34F8855-C621-4438-806B-08A2E2CB3E3D}" dt="2025-11-10T15:06:22.763" v="349" actId="1076"/>
          <ac:spMkLst>
            <pc:docMk/>
            <pc:sldMk cId="938721377" sldId="403"/>
            <ac:spMk id="2" creationId="{B0AA4500-716A-8F5B-9C44-2C50F053A45C}"/>
          </ac:spMkLst>
        </pc:spChg>
        <pc:spChg chg="mod">
          <ac:chgData name="于 心瑞 Xinrui YU" userId="e6fcc6d4-2b88-4beb-95d7-57ae4d33a768" providerId="ADAL" clId="{F34F8855-C621-4438-806B-08A2E2CB3E3D}" dt="2025-11-10T15:05:03.487" v="331" actId="14100"/>
          <ac:spMkLst>
            <pc:docMk/>
            <pc:sldMk cId="938721377" sldId="403"/>
            <ac:spMk id="3" creationId="{5B84915D-80CE-9434-2B9C-1F2271380F21}"/>
          </ac:spMkLst>
        </pc:spChg>
        <pc:spChg chg="mod">
          <ac:chgData name="于 心瑞 Xinrui YU" userId="e6fcc6d4-2b88-4beb-95d7-57ae4d33a768" providerId="ADAL" clId="{F34F8855-C621-4438-806B-08A2E2CB3E3D}" dt="2025-11-10T15:06:05.677" v="346" actId="20577"/>
          <ac:spMkLst>
            <pc:docMk/>
            <pc:sldMk cId="938721377" sldId="403"/>
            <ac:spMk id="4" creationId="{3EF17FDF-375B-379E-6D3C-CE5A5FE49C76}"/>
          </ac:spMkLst>
        </pc:spChg>
        <pc:spChg chg="del">
          <ac:chgData name="于 心瑞 Xinrui YU" userId="e6fcc6d4-2b88-4beb-95d7-57ae4d33a768" providerId="ADAL" clId="{F34F8855-C621-4438-806B-08A2E2CB3E3D}" dt="2025-11-10T15:04:27.395" v="312" actId="478"/>
          <ac:spMkLst>
            <pc:docMk/>
            <pc:sldMk cId="938721377" sldId="403"/>
            <ac:spMk id="5" creationId="{A489EFCA-C434-F853-C455-EF25020C0295}"/>
          </ac:spMkLst>
        </pc:spChg>
        <pc:spChg chg="add mod">
          <ac:chgData name="于 心瑞 Xinrui YU" userId="e6fcc6d4-2b88-4beb-95d7-57ae4d33a768" providerId="ADAL" clId="{F34F8855-C621-4438-806B-08A2E2CB3E3D}" dt="2025-11-10T15:07:39.281" v="447" actId="20577"/>
          <ac:spMkLst>
            <pc:docMk/>
            <pc:sldMk cId="938721377" sldId="403"/>
            <ac:spMk id="6" creationId="{B61224AA-066C-9665-9262-8017220304F1}"/>
          </ac:spMkLst>
        </pc:spChg>
      </pc:sldChg>
      <pc:sldChg chg="add del">
        <pc:chgData name="于 心瑞 Xinrui YU" userId="e6fcc6d4-2b88-4beb-95d7-57ae4d33a768" providerId="ADAL" clId="{F34F8855-C621-4438-806B-08A2E2CB3E3D}" dt="2025-11-10T14:34:59.816" v="72" actId="47"/>
        <pc:sldMkLst>
          <pc:docMk/>
          <pc:sldMk cId="1845268135" sldId="403"/>
        </pc:sldMkLst>
      </pc:sldChg>
      <pc:sldChg chg="new del">
        <pc:chgData name="于 心瑞 Xinrui YU" userId="e6fcc6d4-2b88-4beb-95d7-57ae4d33a768" providerId="ADAL" clId="{F34F8855-C621-4438-806B-08A2E2CB3E3D}" dt="2025-11-10T15:08:06.953" v="450" actId="47"/>
        <pc:sldMkLst>
          <pc:docMk/>
          <pc:sldMk cId="3463535974" sldId="404"/>
        </pc:sldMkLst>
      </pc:sldChg>
      <pc:sldMasterChg chg="delSldLayout">
        <pc:chgData name="于 心瑞 Xinrui YU" userId="e6fcc6d4-2b88-4beb-95d7-57ae4d33a768" providerId="ADAL" clId="{F34F8855-C621-4438-806B-08A2E2CB3E3D}" dt="2025-11-10T15:08:06.953" v="450" actId="47"/>
        <pc:sldMasterMkLst>
          <pc:docMk/>
          <pc:sldMasterMk cId="0" sldId="2147483659"/>
        </pc:sldMasterMkLst>
        <pc:sldLayoutChg chg="del">
          <pc:chgData name="于 心瑞 Xinrui YU" userId="e6fcc6d4-2b88-4beb-95d7-57ae4d33a768" providerId="ADAL" clId="{F34F8855-C621-4438-806B-08A2E2CB3E3D}" dt="2025-11-10T15:08:06.953" v="450" actId="47"/>
          <pc:sldLayoutMkLst>
            <pc:docMk/>
            <pc:sldMasterMk cId="0" sldId="2147483659"/>
            <pc:sldLayoutMk cId="0" sldId="2147483653"/>
          </pc:sldLayoutMkLst>
        </pc:sldLayoutChg>
        <pc:sldLayoutChg chg="del">
          <pc:chgData name="于 心瑞 Xinrui YU" userId="e6fcc6d4-2b88-4beb-95d7-57ae4d33a768" providerId="ADAL" clId="{F34F8855-C621-4438-806B-08A2E2CB3E3D}" dt="2025-11-10T14:29:55.419" v="1" actId="47"/>
          <pc:sldLayoutMkLst>
            <pc:docMk/>
            <pc:sldMasterMk cId="0" sldId="2147483659"/>
            <pc:sldLayoutMk cId="4152408580" sldId="2147483660"/>
          </pc:sldLayoutMkLst>
        </pc:sldLayoutChg>
      </pc:sldMasterChg>
    </pc:docChg>
  </pc:docChgLst>
  <pc:docChgLst>
    <pc:chgData name="于 心瑞 Xinrui YU" userId="e6fcc6d4-2b88-4beb-95d7-57ae4d33a768" providerId="ADAL" clId="{CFFA9A75-F840-4F6F-AF7D-069F806E1180}"/>
    <pc:docChg chg="modSld">
      <pc:chgData name="于 心瑞 Xinrui YU" userId="e6fcc6d4-2b88-4beb-95d7-57ae4d33a768" providerId="ADAL" clId="{CFFA9A75-F840-4F6F-AF7D-069F806E1180}" dt="2025-11-11T07:03:22.616" v="33" actId="20577"/>
      <pc:docMkLst>
        <pc:docMk/>
      </pc:docMkLst>
      <pc:sldChg chg="modSp mod">
        <pc:chgData name="于 心瑞 Xinrui YU" userId="e6fcc6d4-2b88-4beb-95d7-57ae4d33a768" providerId="ADAL" clId="{CFFA9A75-F840-4F6F-AF7D-069F806E1180}" dt="2025-11-11T07:03:22.616" v="33" actId="20577"/>
        <pc:sldMkLst>
          <pc:docMk/>
          <pc:sldMk cId="0" sldId="256"/>
        </pc:sldMkLst>
        <pc:spChg chg="mod">
          <ac:chgData name="于 心瑞 Xinrui YU" userId="e6fcc6d4-2b88-4beb-95d7-57ae4d33a768" providerId="ADAL" clId="{CFFA9A75-F840-4F6F-AF7D-069F806E1180}" dt="2025-11-11T07:03:22.616" v="33" actId="20577"/>
          <ac:spMkLst>
            <pc:docMk/>
            <pc:sldMk cId="0" sldId="256"/>
            <ac:spMk id="54" creationId="{00000000-0000-0000-0000-000000000000}"/>
          </ac:spMkLst>
        </pc:spChg>
      </pc:sldChg>
      <pc:sldChg chg="modNotesTx">
        <pc:chgData name="于 心瑞 Xinrui YU" userId="e6fcc6d4-2b88-4beb-95d7-57ae4d33a768" providerId="ADAL" clId="{CFFA9A75-F840-4F6F-AF7D-069F806E1180}" dt="2025-11-11T06:49:10.449" v="24" actId="20577"/>
        <pc:sldMkLst>
          <pc:docMk/>
          <pc:sldMk cId="1638140978" sldId="402"/>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3174474789"/>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gbe5cd7aa5a_2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gbe5cd7aa5a_2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15747369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gbe5cd7aa5a_2_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 name="Google Shape;58;gbe5cd7aa5a_2_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36181075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altLang="zh-CN" dirty="0"/>
              <a:t>Operand </a:t>
            </a:r>
            <a:r>
              <a:rPr lang="zh-CN" altLang="en-US" dirty="0"/>
              <a:t>操作数（参与算术计算的两个对象）</a:t>
            </a:r>
            <a:endParaRPr lang="en-US" dirty="0"/>
          </a:p>
        </p:txBody>
      </p:sp>
    </p:spTree>
    <p:extLst>
      <p:ext uri="{BB962C8B-B14F-4D97-AF65-F5344CB8AC3E}">
        <p14:creationId xmlns:p14="http://schemas.microsoft.com/office/powerpoint/2010/main" val="278200578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altLang="zh-CN" dirty="0"/>
              <a:t>Unary </a:t>
            </a:r>
            <a:r>
              <a:rPr lang="zh-CN" altLang="en-US" dirty="0"/>
              <a:t>一元的 </a:t>
            </a:r>
            <a:r>
              <a:rPr lang="en-US" altLang="zh-CN" dirty="0"/>
              <a:t>from Latin </a:t>
            </a:r>
            <a:r>
              <a:rPr lang="en-US" altLang="zh-CN" dirty="0" err="1"/>
              <a:t>unus</a:t>
            </a:r>
            <a:r>
              <a:rPr lang="en-US" altLang="zh-CN" dirty="0"/>
              <a:t>, having only one operand</a:t>
            </a:r>
          </a:p>
          <a:p>
            <a:r>
              <a:rPr lang="en-US" altLang="zh-CN" dirty="0"/>
              <a:t>E pluribus unum</a:t>
            </a:r>
          </a:p>
          <a:p>
            <a:r>
              <a:rPr lang="en-US" altLang="zh-CN" dirty="0"/>
              <a:t>Binary operators: </a:t>
            </a:r>
            <a:r>
              <a:rPr lang="zh-CN" altLang="en-US" dirty="0"/>
              <a:t>二元操作符 </a:t>
            </a:r>
            <a:r>
              <a:rPr lang="en-US" altLang="zh-CN" dirty="0"/>
              <a:t>(as opposed to unary); Left associative: </a:t>
            </a:r>
            <a:r>
              <a:rPr lang="zh-CN" altLang="en-US" dirty="0"/>
              <a:t>从左到右</a:t>
            </a:r>
            <a:endParaRPr lang="en-US" altLang="zh-CN" dirty="0"/>
          </a:p>
          <a:p>
            <a:endParaRPr lang="zh-CN" altLang="en-US" dirty="0"/>
          </a:p>
        </p:txBody>
      </p:sp>
    </p:spTree>
    <p:extLst>
      <p:ext uri="{BB962C8B-B14F-4D97-AF65-F5344CB8AC3E}">
        <p14:creationId xmlns:p14="http://schemas.microsoft.com/office/powerpoint/2010/main" val="160995941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altLang="zh-CN" dirty="0"/>
              <a:t>Class 02 ends here 11/11</a:t>
            </a:r>
            <a:endParaRPr lang="zh-CN" altLang="en-US" dirty="0"/>
          </a:p>
        </p:txBody>
      </p:sp>
    </p:spTree>
    <p:extLst>
      <p:ext uri="{BB962C8B-B14F-4D97-AF65-F5344CB8AC3E}">
        <p14:creationId xmlns:p14="http://schemas.microsoft.com/office/powerpoint/2010/main" val="324267164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zh-CN" altLang="en-US" dirty="0"/>
              <a:t>方法重载</a:t>
            </a:r>
            <a:endParaRPr lang="en-US" altLang="zh-CN" dirty="0"/>
          </a:p>
          <a:p>
            <a:r>
              <a:rPr lang="en-US" dirty="0"/>
              <a:t>N</a:t>
            </a:r>
            <a:r>
              <a:rPr lang="en-US" altLang="zh-CN" dirty="0"/>
              <a:t>ot available in C (</a:t>
            </a:r>
            <a:r>
              <a:rPr lang="en-US" dirty="0"/>
              <a:t>procedural programming language) </a:t>
            </a:r>
            <a:r>
              <a:rPr lang="en-US" altLang="zh-CN" dirty="0"/>
              <a:t>but available in C++, C does not support </a:t>
            </a:r>
            <a:r>
              <a:rPr lang="en-US" dirty="0"/>
              <a:t>name-mangling</a:t>
            </a:r>
          </a:p>
          <a:p>
            <a:r>
              <a:rPr lang="en-US"/>
              <a:t>OOP concepts: </a:t>
            </a:r>
            <a:r>
              <a:rPr lang="en-US" b="0" i="0">
                <a:solidFill>
                  <a:srgbClr val="001D35"/>
                </a:solidFill>
                <a:effectLst/>
                <a:latin typeface="Google Sans"/>
              </a:rPr>
              <a:t>classes, objects, inheritance, encapsulation, and polymorphism. </a:t>
            </a:r>
            <a:endParaRPr lang="en-US" dirty="0"/>
          </a:p>
        </p:txBody>
      </p:sp>
    </p:spTree>
    <p:extLst>
      <p:ext uri="{BB962C8B-B14F-4D97-AF65-F5344CB8AC3E}">
        <p14:creationId xmlns:p14="http://schemas.microsoft.com/office/powerpoint/2010/main" val="261401346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Unlike C, Java </a:t>
            </a:r>
            <a:r>
              <a:rPr lang="en-US" b="1" dirty="0"/>
              <a:t>does not allow direct memory manipulation</a:t>
            </a:r>
            <a:r>
              <a:rPr lang="en-US" dirty="0"/>
              <a:t>. In C, you can modify the actual memory pointed by the pointer; not in Java (references cannot be reassigned to new memory)</a:t>
            </a:r>
          </a:p>
          <a:p>
            <a:r>
              <a:rPr lang="en-US" dirty="0"/>
              <a:t>P 219</a:t>
            </a:r>
          </a:p>
        </p:txBody>
      </p:sp>
    </p:spTree>
    <p:extLst>
      <p:ext uri="{BB962C8B-B14F-4D97-AF65-F5344CB8AC3E}">
        <p14:creationId xmlns:p14="http://schemas.microsoft.com/office/powerpoint/2010/main" val="105146356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4" r:id="rId4"/>
    <p:sldLayoutId id="2147483655" r:id="rId5"/>
    <p:sldLayoutId id="2147483656" r:id="rId6"/>
    <p:sldLayoutId id="2147483657" r:id="rId7"/>
    <p:sldLayoutId id="2147483658" r:id="rId8"/>
  </p:sldLayoutIdLst>
  <p:hf sldNum="0" hd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oleObject" Target="../embeddings/oleObject1.bin"/><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oleObject" Target="../embeddings/oleObject2.bin"/><Relationship Id="rId1" Type="http://schemas.openxmlformats.org/officeDocument/2006/relationships/slideLayout" Target="../slideLayouts/slideLayout3.xml"/><Relationship Id="rId5" Type="http://schemas.openxmlformats.org/officeDocument/2006/relationships/image" Target="../media/image5.wmf"/><Relationship Id="rId4" Type="http://schemas.openxmlformats.org/officeDocument/2006/relationships/oleObject" Target="../embeddings/oleObject3.bin"/></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53"/>
        <p:cNvGrpSpPr/>
        <p:nvPr/>
      </p:nvGrpSpPr>
      <p:grpSpPr>
        <a:xfrm>
          <a:off x="0" y="0"/>
          <a:ext cx="0" cy="0"/>
          <a:chOff x="0" y="0"/>
          <a:chExt cx="0" cy="0"/>
        </a:xfrm>
      </p:grpSpPr>
      <p:sp>
        <p:nvSpPr>
          <p:cNvPr id="54" name="Google Shape;54;p13"/>
          <p:cNvSpPr txBox="1">
            <a:spLocks noGrp="1"/>
          </p:cNvSpPr>
          <p:nvPr>
            <p:ph type="body" idx="1"/>
          </p:nvPr>
        </p:nvSpPr>
        <p:spPr>
          <a:prstGeom prst="rect">
            <a:avLst/>
          </a:prstGeom>
        </p:spPr>
        <p:txBody>
          <a:bodyPr spcFirstLastPara="1" wrap="square" lIns="91425" tIns="91425" rIns="91425" bIns="91425" anchor="t" anchorCtr="0">
            <a:normAutofit/>
          </a:bodyPr>
          <a:lstStyle/>
          <a:p>
            <a:pPr marL="0" lvl="0" indent="0" algn="ctr" rtl="0">
              <a:lnSpc>
                <a:spcPct val="100000"/>
              </a:lnSpc>
              <a:spcBef>
                <a:spcPts val="0"/>
              </a:spcBef>
              <a:spcAft>
                <a:spcPts val="0"/>
              </a:spcAft>
              <a:buNone/>
            </a:pPr>
            <a:endParaRPr sz="3200" b="1" dirty="0">
              <a:solidFill>
                <a:schemeClr val="dk1"/>
              </a:solidFill>
            </a:endParaRPr>
          </a:p>
          <a:p>
            <a:pPr marL="0" lvl="0" indent="0" algn="ctr" rtl="0">
              <a:lnSpc>
                <a:spcPct val="100000"/>
              </a:lnSpc>
              <a:spcBef>
                <a:spcPts val="0"/>
              </a:spcBef>
              <a:spcAft>
                <a:spcPts val="0"/>
              </a:spcAft>
              <a:buNone/>
            </a:pPr>
            <a:r>
              <a:rPr lang="en-US" sz="3200" b="1">
                <a:solidFill>
                  <a:schemeClr val="dk1"/>
                </a:solidFill>
              </a:rPr>
              <a:t>M</a:t>
            </a:r>
            <a:r>
              <a:rPr lang="en-US" altLang="zh-CN" sz="3200" b="1">
                <a:solidFill>
                  <a:schemeClr val="dk1"/>
                </a:solidFill>
              </a:rPr>
              <a:t>idterm 1 Review</a:t>
            </a:r>
            <a:endParaRPr sz="3200" b="1" dirty="0">
              <a:solidFill>
                <a:schemeClr val="dk1"/>
              </a:solidFill>
            </a:endParaRPr>
          </a:p>
        </p:txBody>
      </p:sp>
      <p:pic>
        <p:nvPicPr>
          <p:cNvPr id="3" name="그림 1" descr="Text, letter&#10;&#10;Description automatically generated">
            <a:extLst>
              <a:ext uri="{FF2B5EF4-FFF2-40B4-BE49-F238E27FC236}">
                <a16:creationId xmlns:a16="http://schemas.microsoft.com/office/drawing/2014/main" id="{44055744-A3CD-2A60-0D34-F52ED5DDD4A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097847" y="3702160"/>
            <a:ext cx="2948305" cy="108775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D101D3-7C26-DE03-E8AF-A35D7C28FA3B}"/>
              </a:ext>
            </a:extLst>
          </p:cNvPr>
          <p:cNvSpPr>
            <a:spLocks noGrp="1"/>
          </p:cNvSpPr>
          <p:nvPr>
            <p:ph type="title"/>
          </p:nvPr>
        </p:nvSpPr>
        <p:spPr/>
        <p:txBody>
          <a:bodyPr>
            <a:normAutofit fontScale="90000"/>
          </a:bodyPr>
          <a:lstStyle/>
          <a:p>
            <a:r>
              <a:rPr lang="en-US" dirty="0"/>
              <a:t>F</a:t>
            </a:r>
            <a:r>
              <a:rPr lang="en-US" altLang="zh-CN" dirty="0"/>
              <a:t>irst Midterm 11/16/2025</a:t>
            </a:r>
            <a:endParaRPr lang="en-US" dirty="0"/>
          </a:p>
        </p:txBody>
      </p:sp>
      <p:sp>
        <p:nvSpPr>
          <p:cNvPr id="3" name="Text Placeholder 2">
            <a:extLst>
              <a:ext uri="{FF2B5EF4-FFF2-40B4-BE49-F238E27FC236}">
                <a16:creationId xmlns:a16="http://schemas.microsoft.com/office/drawing/2014/main" id="{9BE26A5D-EEC6-8A1A-D571-9FDC5533F464}"/>
              </a:ext>
            </a:extLst>
          </p:cNvPr>
          <p:cNvSpPr>
            <a:spLocks noGrp="1"/>
          </p:cNvSpPr>
          <p:nvPr>
            <p:ph type="body" idx="1"/>
          </p:nvPr>
        </p:nvSpPr>
        <p:spPr/>
        <p:txBody>
          <a:bodyPr/>
          <a:lstStyle/>
          <a:p>
            <a:r>
              <a:rPr lang="en-US" dirty="0"/>
              <a:t>Useful methods on last page. </a:t>
            </a:r>
          </a:p>
          <a:p>
            <a:endParaRPr lang="en-US" dirty="0"/>
          </a:p>
          <a:p>
            <a:r>
              <a:rPr lang="en-US" dirty="0"/>
              <a:t>You need to bring 2B pencils.</a:t>
            </a:r>
          </a:p>
          <a:p>
            <a:endParaRPr lang="en-US" dirty="0"/>
          </a:p>
          <a:p>
            <a:r>
              <a:rPr lang="en-US" dirty="0"/>
              <a:t>You should take 30 to 40 minutes to finish the first 5 questions. Any longer and you will have insufficient time to properly complete the remaining questions!</a:t>
            </a:r>
          </a:p>
        </p:txBody>
      </p:sp>
    </p:spTree>
    <p:extLst>
      <p:ext uri="{BB962C8B-B14F-4D97-AF65-F5344CB8AC3E}">
        <p14:creationId xmlns:p14="http://schemas.microsoft.com/office/powerpoint/2010/main" val="7641017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59"/>
        <p:cNvGrpSpPr/>
        <p:nvPr/>
      </p:nvGrpSpPr>
      <p:grpSpPr>
        <a:xfrm>
          <a:off x="0" y="0"/>
          <a:ext cx="0" cy="0"/>
          <a:chOff x="0" y="0"/>
          <a:chExt cx="0" cy="0"/>
        </a:xfrm>
      </p:grpSpPr>
      <p:sp>
        <p:nvSpPr>
          <p:cNvPr id="60" name="Google Shape;60;p1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Clr>
                <a:schemeClr val="dk1"/>
              </a:buClr>
              <a:buSzPct val="39285"/>
              <a:buFont typeface="Arial"/>
              <a:buNone/>
            </a:pPr>
            <a:r>
              <a:rPr lang="en-US" b="1" dirty="0"/>
              <a:t> Binary, Octal, Hexadecimal and Decimal: Table</a:t>
            </a:r>
            <a:endParaRPr dirty="0"/>
          </a:p>
          <a:p>
            <a:pPr marL="0" lvl="0" indent="0" algn="l" rtl="0">
              <a:spcBef>
                <a:spcPts val="0"/>
              </a:spcBef>
              <a:spcAft>
                <a:spcPts val="0"/>
              </a:spcAft>
              <a:buNone/>
            </a:pPr>
            <a:endParaRPr dirty="0"/>
          </a:p>
        </p:txBody>
      </p:sp>
      <p:graphicFrame>
        <p:nvGraphicFramePr>
          <p:cNvPr id="2" name="Table 1">
            <a:extLst>
              <a:ext uri="{FF2B5EF4-FFF2-40B4-BE49-F238E27FC236}">
                <a16:creationId xmlns:a16="http://schemas.microsoft.com/office/drawing/2014/main" id="{88C9FBB0-7833-456E-A974-FDEAB8C1D20D}"/>
              </a:ext>
            </a:extLst>
          </p:cNvPr>
          <p:cNvGraphicFramePr>
            <a:graphicFrameLocks noGrp="1"/>
          </p:cNvGraphicFramePr>
          <p:nvPr>
            <p:extLst>
              <p:ext uri="{D42A27DB-BD31-4B8C-83A1-F6EECF244321}">
                <p14:modId xmlns:p14="http://schemas.microsoft.com/office/powerpoint/2010/main" val="875834702"/>
              </p:ext>
            </p:extLst>
          </p:nvPr>
        </p:nvGraphicFramePr>
        <p:xfrm>
          <a:off x="645762" y="1158321"/>
          <a:ext cx="3011838" cy="2944827"/>
        </p:xfrm>
        <a:graphic>
          <a:graphicData uri="http://schemas.openxmlformats.org/drawingml/2006/table">
            <a:tbl>
              <a:tblPr firstRow="1" bandRow="1">
                <a:tableStyleId>{5C22544A-7EE6-4342-B048-85BDC9FD1C3A}</a:tableStyleId>
              </a:tblPr>
              <a:tblGrid>
                <a:gridCol w="1003946">
                  <a:extLst>
                    <a:ext uri="{9D8B030D-6E8A-4147-A177-3AD203B41FA5}">
                      <a16:colId xmlns:a16="http://schemas.microsoft.com/office/drawing/2014/main" val="1681053515"/>
                    </a:ext>
                  </a:extLst>
                </a:gridCol>
                <a:gridCol w="1003946">
                  <a:extLst>
                    <a:ext uri="{9D8B030D-6E8A-4147-A177-3AD203B41FA5}">
                      <a16:colId xmlns:a16="http://schemas.microsoft.com/office/drawing/2014/main" val="588045952"/>
                    </a:ext>
                  </a:extLst>
                </a:gridCol>
                <a:gridCol w="1003946">
                  <a:extLst>
                    <a:ext uri="{9D8B030D-6E8A-4147-A177-3AD203B41FA5}">
                      <a16:colId xmlns:a16="http://schemas.microsoft.com/office/drawing/2014/main" val="691208319"/>
                    </a:ext>
                  </a:extLst>
                </a:gridCol>
              </a:tblGrid>
              <a:tr h="327203">
                <a:tc>
                  <a:txBody>
                    <a:bodyPr/>
                    <a:lstStyle/>
                    <a:p>
                      <a:pPr algn="ctr"/>
                      <a:r>
                        <a:rPr lang="en-US" dirty="0"/>
                        <a:t>Binary</a:t>
                      </a:r>
                    </a:p>
                  </a:txBody>
                  <a:tcPr/>
                </a:tc>
                <a:tc>
                  <a:txBody>
                    <a:bodyPr/>
                    <a:lstStyle/>
                    <a:p>
                      <a:pPr algn="ctr"/>
                      <a:r>
                        <a:rPr lang="en-US" dirty="0"/>
                        <a:t>Hex/Oct</a:t>
                      </a:r>
                    </a:p>
                  </a:txBody>
                  <a:tcPr/>
                </a:tc>
                <a:tc>
                  <a:txBody>
                    <a:bodyPr/>
                    <a:lstStyle/>
                    <a:p>
                      <a:pPr algn="ctr"/>
                      <a:r>
                        <a:rPr lang="en-US" dirty="0"/>
                        <a:t>Decimal</a:t>
                      </a:r>
                    </a:p>
                  </a:txBody>
                  <a:tcPr/>
                </a:tc>
                <a:extLst>
                  <a:ext uri="{0D108BD9-81ED-4DB2-BD59-A6C34878D82A}">
                    <a16:rowId xmlns:a16="http://schemas.microsoft.com/office/drawing/2014/main" val="1042308364"/>
                  </a:ext>
                </a:extLst>
              </a:tr>
              <a:tr h="327203">
                <a:tc>
                  <a:txBody>
                    <a:bodyPr/>
                    <a:lstStyle/>
                    <a:p>
                      <a:pPr algn="ctr"/>
                      <a:r>
                        <a:rPr lang="en-US" dirty="0"/>
                        <a:t>0000</a:t>
                      </a:r>
                    </a:p>
                  </a:txBody>
                  <a:tcPr/>
                </a:tc>
                <a:tc>
                  <a:txBody>
                    <a:bodyPr/>
                    <a:lstStyle/>
                    <a:p>
                      <a:pPr algn="ctr"/>
                      <a:r>
                        <a:rPr lang="en-US" dirty="0"/>
                        <a:t>0</a:t>
                      </a:r>
                    </a:p>
                  </a:txBody>
                  <a:tcPr/>
                </a:tc>
                <a:tc>
                  <a:txBody>
                    <a:bodyPr/>
                    <a:lstStyle/>
                    <a:p>
                      <a:pPr algn="ctr"/>
                      <a:r>
                        <a:rPr lang="en-US" dirty="0"/>
                        <a:t>0</a:t>
                      </a:r>
                    </a:p>
                  </a:txBody>
                  <a:tcPr/>
                </a:tc>
                <a:extLst>
                  <a:ext uri="{0D108BD9-81ED-4DB2-BD59-A6C34878D82A}">
                    <a16:rowId xmlns:a16="http://schemas.microsoft.com/office/drawing/2014/main" val="3935046977"/>
                  </a:ext>
                </a:extLst>
              </a:tr>
              <a:tr h="327203">
                <a:tc>
                  <a:txBody>
                    <a:bodyPr/>
                    <a:lstStyle/>
                    <a:p>
                      <a:pPr algn="ctr"/>
                      <a:r>
                        <a:rPr lang="en-US" dirty="0"/>
                        <a:t>0001</a:t>
                      </a:r>
                    </a:p>
                  </a:txBody>
                  <a:tcPr/>
                </a:tc>
                <a:tc>
                  <a:txBody>
                    <a:bodyPr/>
                    <a:lstStyle/>
                    <a:p>
                      <a:pPr algn="ctr"/>
                      <a:r>
                        <a:rPr lang="en-US" dirty="0"/>
                        <a:t>1</a:t>
                      </a:r>
                    </a:p>
                  </a:txBody>
                  <a:tcPr/>
                </a:tc>
                <a:tc>
                  <a:txBody>
                    <a:bodyPr/>
                    <a:lstStyle/>
                    <a:p>
                      <a:pPr algn="ctr"/>
                      <a:r>
                        <a:rPr lang="en-US" dirty="0"/>
                        <a:t>1</a:t>
                      </a:r>
                    </a:p>
                  </a:txBody>
                  <a:tcPr/>
                </a:tc>
                <a:extLst>
                  <a:ext uri="{0D108BD9-81ED-4DB2-BD59-A6C34878D82A}">
                    <a16:rowId xmlns:a16="http://schemas.microsoft.com/office/drawing/2014/main" val="621176023"/>
                  </a:ext>
                </a:extLst>
              </a:tr>
              <a:tr h="327203">
                <a:tc>
                  <a:txBody>
                    <a:bodyPr/>
                    <a:lstStyle/>
                    <a:p>
                      <a:pPr algn="ctr"/>
                      <a:r>
                        <a:rPr lang="en-US" dirty="0"/>
                        <a:t>0010</a:t>
                      </a:r>
                    </a:p>
                  </a:txBody>
                  <a:tcPr/>
                </a:tc>
                <a:tc>
                  <a:txBody>
                    <a:bodyPr/>
                    <a:lstStyle/>
                    <a:p>
                      <a:pPr algn="ctr"/>
                      <a:r>
                        <a:rPr lang="en-US" dirty="0"/>
                        <a:t>2</a:t>
                      </a:r>
                    </a:p>
                  </a:txBody>
                  <a:tcPr/>
                </a:tc>
                <a:tc>
                  <a:txBody>
                    <a:bodyPr/>
                    <a:lstStyle/>
                    <a:p>
                      <a:pPr algn="ctr"/>
                      <a:r>
                        <a:rPr lang="en-US" dirty="0"/>
                        <a:t>2</a:t>
                      </a:r>
                    </a:p>
                  </a:txBody>
                  <a:tcPr/>
                </a:tc>
                <a:extLst>
                  <a:ext uri="{0D108BD9-81ED-4DB2-BD59-A6C34878D82A}">
                    <a16:rowId xmlns:a16="http://schemas.microsoft.com/office/drawing/2014/main" val="1419165983"/>
                  </a:ext>
                </a:extLst>
              </a:tr>
              <a:tr h="327203">
                <a:tc>
                  <a:txBody>
                    <a:bodyPr/>
                    <a:lstStyle/>
                    <a:p>
                      <a:pPr algn="ctr"/>
                      <a:r>
                        <a:rPr lang="en-US" dirty="0"/>
                        <a:t>0011</a:t>
                      </a:r>
                    </a:p>
                  </a:txBody>
                  <a:tcPr/>
                </a:tc>
                <a:tc>
                  <a:txBody>
                    <a:bodyPr/>
                    <a:lstStyle/>
                    <a:p>
                      <a:pPr algn="ctr"/>
                      <a:r>
                        <a:rPr lang="en-US" dirty="0"/>
                        <a:t>3</a:t>
                      </a:r>
                    </a:p>
                  </a:txBody>
                  <a:tcPr/>
                </a:tc>
                <a:tc>
                  <a:txBody>
                    <a:bodyPr/>
                    <a:lstStyle/>
                    <a:p>
                      <a:pPr algn="ctr"/>
                      <a:r>
                        <a:rPr lang="en-US" dirty="0"/>
                        <a:t>3</a:t>
                      </a:r>
                    </a:p>
                  </a:txBody>
                  <a:tcPr/>
                </a:tc>
                <a:extLst>
                  <a:ext uri="{0D108BD9-81ED-4DB2-BD59-A6C34878D82A}">
                    <a16:rowId xmlns:a16="http://schemas.microsoft.com/office/drawing/2014/main" val="2271084161"/>
                  </a:ext>
                </a:extLst>
              </a:tr>
              <a:tr h="327203">
                <a:tc>
                  <a:txBody>
                    <a:bodyPr/>
                    <a:lstStyle/>
                    <a:p>
                      <a:pPr algn="ctr"/>
                      <a:r>
                        <a:rPr lang="en-US" dirty="0"/>
                        <a:t>0100</a:t>
                      </a:r>
                    </a:p>
                  </a:txBody>
                  <a:tcPr/>
                </a:tc>
                <a:tc>
                  <a:txBody>
                    <a:bodyPr/>
                    <a:lstStyle/>
                    <a:p>
                      <a:pPr algn="ctr"/>
                      <a:r>
                        <a:rPr lang="en-US" dirty="0"/>
                        <a:t>4</a:t>
                      </a:r>
                    </a:p>
                  </a:txBody>
                  <a:tcPr/>
                </a:tc>
                <a:tc>
                  <a:txBody>
                    <a:bodyPr/>
                    <a:lstStyle/>
                    <a:p>
                      <a:pPr algn="ctr"/>
                      <a:r>
                        <a:rPr lang="en-US" dirty="0"/>
                        <a:t>4</a:t>
                      </a:r>
                    </a:p>
                  </a:txBody>
                  <a:tcPr/>
                </a:tc>
                <a:extLst>
                  <a:ext uri="{0D108BD9-81ED-4DB2-BD59-A6C34878D82A}">
                    <a16:rowId xmlns:a16="http://schemas.microsoft.com/office/drawing/2014/main" val="2393056579"/>
                  </a:ext>
                </a:extLst>
              </a:tr>
              <a:tr h="327203">
                <a:tc>
                  <a:txBody>
                    <a:bodyPr/>
                    <a:lstStyle/>
                    <a:p>
                      <a:pPr algn="ctr"/>
                      <a:r>
                        <a:rPr lang="en-US" dirty="0"/>
                        <a:t>0101</a:t>
                      </a:r>
                    </a:p>
                  </a:txBody>
                  <a:tcPr/>
                </a:tc>
                <a:tc>
                  <a:txBody>
                    <a:bodyPr/>
                    <a:lstStyle/>
                    <a:p>
                      <a:pPr algn="ctr"/>
                      <a:r>
                        <a:rPr lang="en-US" dirty="0"/>
                        <a:t>5</a:t>
                      </a:r>
                    </a:p>
                  </a:txBody>
                  <a:tcPr/>
                </a:tc>
                <a:tc>
                  <a:txBody>
                    <a:bodyPr/>
                    <a:lstStyle/>
                    <a:p>
                      <a:pPr algn="ctr"/>
                      <a:r>
                        <a:rPr lang="en-US" dirty="0"/>
                        <a:t>5</a:t>
                      </a:r>
                    </a:p>
                  </a:txBody>
                  <a:tcPr/>
                </a:tc>
                <a:extLst>
                  <a:ext uri="{0D108BD9-81ED-4DB2-BD59-A6C34878D82A}">
                    <a16:rowId xmlns:a16="http://schemas.microsoft.com/office/drawing/2014/main" val="2184416864"/>
                  </a:ext>
                </a:extLst>
              </a:tr>
              <a:tr h="327203">
                <a:tc>
                  <a:txBody>
                    <a:bodyPr/>
                    <a:lstStyle/>
                    <a:p>
                      <a:pPr algn="ctr"/>
                      <a:r>
                        <a:rPr lang="en-US" dirty="0"/>
                        <a:t>0110</a:t>
                      </a:r>
                    </a:p>
                  </a:txBody>
                  <a:tcPr/>
                </a:tc>
                <a:tc>
                  <a:txBody>
                    <a:bodyPr/>
                    <a:lstStyle/>
                    <a:p>
                      <a:pPr algn="ctr"/>
                      <a:r>
                        <a:rPr lang="en-US" dirty="0"/>
                        <a:t>6</a:t>
                      </a:r>
                    </a:p>
                  </a:txBody>
                  <a:tcPr/>
                </a:tc>
                <a:tc>
                  <a:txBody>
                    <a:bodyPr/>
                    <a:lstStyle/>
                    <a:p>
                      <a:pPr algn="ctr"/>
                      <a:r>
                        <a:rPr lang="en-US" dirty="0"/>
                        <a:t>6</a:t>
                      </a:r>
                    </a:p>
                  </a:txBody>
                  <a:tcPr/>
                </a:tc>
                <a:extLst>
                  <a:ext uri="{0D108BD9-81ED-4DB2-BD59-A6C34878D82A}">
                    <a16:rowId xmlns:a16="http://schemas.microsoft.com/office/drawing/2014/main" val="2867168411"/>
                  </a:ext>
                </a:extLst>
              </a:tr>
              <a:tr h="327203">
                <a:tc>
                  <a:txBody>
                    <a:bodyPr/>
                    <a:lstStyle/>
                    <a:p>
                      <a:pPr algn="ctr"/>
                      <a:r>
                        <a:rPr lang="en-US" dirty="0"/>
                        <a:t>0111</a:t>
                      </a:r>
                    </a:p>
                  </a:txBody>
                  <a:tcPr/>
                </a:tc>
                <a:tc>
                  <a:txBody>
                    <a:bodyPr/>
                    <a:lstStyle/>
                    <a:p>
                      <a:pPr algn="ctr"/>
                      <a:r>
                        <a:rPr lang="en-US" dirty="0"/>
                        <a:t>7</a:t>
                      </a:r>
                    </a:p>
                  </a:txBody>
                  <a:tcPr/>
                </a:tc>
                <a:tc>
                  <a:txBody>
                    <a:bodyPr/>
                    <a:lstStyle/>
                    <a:p>
                      <a:pPr algn="ctr"/>
                      <a:r>
                        <a:rPr lang="en-US" dirty="0"/>
                        <a:t>7</a:t>
                      </a:r>
                    </a:p>
                  </a:txBody>
                  <a:tcPr/>
                </a:tc>
                <a:extLst>
                  <a:ext uri="{0D108BD9-81ED-4DB2-BD59-A6C34878D82A}">
                    <a16:rowId xmlns:a16="http://schemas.microsoft.com/office/drawing/2014/main" val="1775794249"/>
                  </a:ext>
                </a:extLst>
              </a:tr>
            </a:tbl>
          </a:graphicData>
        </a:graphic>
      </p:graphicFrame>
      <p:graphicFrame>
        <p:nvGraphicFramePr>
          <p:cNvPr id="3" name="Table 2">
            <a:extLst>
              <a:ext uri="{FF2B5EF4-FFF2-40B4-BE49-F238E27FC236}">
                <a16:creationId xmlns:a16="http://schemas.microsoft.com/office/drawing/2014/main" id="{20D55DAD-2D3A-44C3-A870-7DDF1A624F14}"/>
              </a:ext>
            </a:extLst>
          </p:cNvPr>
          <p:cNvGraphicFramePr>
            <a:graphicFrameLocks noGrp="1"/>
          </p:cNvGraphicFramePr>
          <p:nvPr>
            <p:extLst>
              <p:ext uri="{D42A27DB-BD31-4B8C-83A1-F6EECF244321}">
                <p14:modId xmlns:p14="http://schemas.microsoft.com/office/powerpoint/2010/main" val="370036111"/>
              </p:ext>
            </p:extLst>
          </p:nvPr>
        </p:nvGraphicFramePr>
        <p:xfrm>
          <a:off x="4244522" y="1146629"/>
          <a:ext cx="3011838" cy="2950673"/>
        </p:xfrm>
        <a:graphic>
          <a:graphicData uri="http://schemas.openxmlformats.org/drawingml/2006/table">
            <a:tbl>
              <a:tblPr firstRow="1" bandRow="1">
                <a:tableStyleId>{5C22544A-7EE6-4342-B048-85BDC9FD1C3A}</a:tableStyleId>
              </a:tblPr>
              <a:tblGrid>
                <a:gridCol w="1003946">
                  <a:extLst>
                    <a:ext uri="{9D8B030D-6E8A-4147-A177-3AD203B41FA5}">
                      <a16:colId xmlns:a16="http://schemas.microsoft.com/office/drawing/2014/main" val="1049943915"/>
                    </a:ext>
                  </a:extLst>
                </a:gridCol>
                <a:gridCol w="1003946">
                  <a:extLst>
                    <a:ext uri="{9D8B030D-6E8A-4147-A177-3AD203B41FA5}">
                      <a16:colId xmlns:a16="http://schemas.microsoft.com/office/drawing/2014/main" val="3733770554"/>
                    </a:ext>
                  </a:extLst>
                </a:gridCol>
                <a:gridCol w="1003946">
                  <a:extLst>
                    <a:ext uri="{9D8B030D-6E8A-4147-A177-3AD203B41FA5}">
                      <a16:colId xmlns:a16="http://schemas.microsoft.com/office/drawing/2014/main" val="1809686940"/>
                    </a:ext>
                  </a:extLst>
                </a:gridCol>
              </a:tblGrid>
              <a:tr h="333049">
                <a:tc>
                  <a:txBody>
                    <a:bodyPr/>
                    <a:lstStyle/>
                    <a:p>
                      <a:pPr algn="ctr"/>
                      <a:r>
                        <a:rPr lang="en-US" dirty="0"/>
                        <a:t>Binary</a:t>
                      </a:r>
                    </a:p>
                  </a:txBody>
                  <a:tcPr/>
                </a:tc>
                <a:tc>
                  <a:txBody>
                    <a:bodyPr/>
                    <a:lstStyle/>
                    <a:p>
                      <a:pPr algn="ctr"/>
                      <a:r>
                        <a:rPr lang="en-US" dirty="0"/>
                        <a:t>Hex/Oct</a:t>
                      </a:r>
                    </a:p>
                  </a:txBody>
                  <a:tcPr/>
                </a:tc>
                <a:tc>
                  <a:txBody>
                    <a:bodyPr/>
                    <a:lstStyle/>
                    <a:p>
                      <a:pPr algn="ctr"/>
                      <a:r>
                        <a:rPr lang="en-US" dirty="0"/>
                        <a:t>Decimal</a:t>
                      </a:r>
                    </a:p>
                  </a:txBody>
                  <a:tcPr/>
                </a:tc>
                <a:extLst>
                  <a:ext uri="{0D108BD9-81ED-4DB2-BD59-A6C34878D82A}">
                    <a16:rowId xmlns:a16="http://schemas.microsoft.com/office/drawing/2014/main" val="1366492792"/>
                  </a:ext>
                </a:extLst>
              </a:tr>
              <a:tr h="327203">
                <a:tc>
                  <a:txBody>
                    <a:bodyPr/>
                    <a:lstStyle/>
                    <a:p>
                      <a:pPr algn="ctr"/>
                      <a:r>
                        <a:rPr lang="en-US" dirty="0"/>
                        <a:t>1000</a:t>
                      </a:r>
                    </a:p>
                  </a:txBody>
                  <a:tcPr/>
                </a:tc>
                <a:tc>
                  <a:txBody>
                    <a:bodyPr/>
                    <a:lstStyle/>
                    <a:p>
                      <a:pPr algn="ctr"/>
                      <a:r>
                        <a:rPr lang="en-US" dirty="0"/>
                        <a:t>8/10</a:t>
                      </a:r>
                    </a:p>
                  </a:txBody>
                  <a:tcPr/>
                </a:tc>
                <a:tc>
                  <a:txBody>
                    <a:bodyPr/>
                    <a:lstStyle/>
                    <a:p>
                      <a:pPr algn="ctr"/>
                      <a:r>
                        <a:rPr lang="en-US" dirty="0"/>
                        <a:t>8</a:t>
                      </a:r>
                    </a:p>
                  </a:txBody>
                  <a:tcPr/>
                </a:tc>
                <a:extLst>
                  <a:ext uri="{0D108BD9-81ED-4DB2-BD59-A6C34878D82A}">
                    <a16:rowId xmlns:a16="http://schemas.microsoft.com/office/drawing/2014/main" val="1567597160"/>
                  </a:ext>
                </a:extLst>
              </a:tr>
              <a:tr h="327203">
                <a:tc>
                  <a:txBody>
                    <a:bodyPr/>
                    <a:lstStyle/>
                    <a:p>
                      <a:pPr algn="ctr"/>
                      <a:r>
                        <a:rPr lang="en-US" dirty="0"/>
                        <a:t>1001</a:t>
                      </a:r>
                    </a:p>
                  </a:txBody>
                  <a:tcPr/>
                </a:tc>
                <a:tc>
                  <a:txBody>
                    <a:bodyPr/>
                    <a:lstStyle/>
                    <a:p>
                      <a:pPr algn="ctr"/>
                      <a:r>
                        <a:rPr lang="en-US" dirty="0"/>
                        <a:t>9/11</a:t>
                      </a:r>
                    </a:p>
                  </a:txBody>
                  <a:tcPr/>
                </a:tc>
                <a:tc>
                  <a:txBody>
                    <a:bodyPr/>
                    <a:lstStyle/>
                    <a:p>
                      <a:pPr algn="ctr"/>
                      <a:r>
                        <a:rPr lang="en-US" dirty="0"/>
                        <a:t>9</a:t>
                      </a:r>
                    </a:p>
                  </a:txBody>
                  <a:tcPr/>
                </a:tc>
                <a:extLst>
                  <a:ext uri="{0D108BD9-81ED-4DB2-BD59-A6C34878D82A}">
                    <a16:rowId xmlns:a16="http://schemas.microsoft.com/office/drawing/2014/main" val="3788401453"/>
                  </a:ext>
                </a:extLst>
              </a:tr>
              <a:tr h="327203">
                <a:tc>
                  <a:txBody>
                    <a:bodyPr/>
                    <a:lstStyle/>
                    <a:p>
                      <a:pPr algn="ctr"/>
                      <a:r>
                        <a:rPr lang="en-US" dirty="0"/>
                        <a:t>1010</a:t>
                      </a:r>
                    </a:p>
                  </a:txBody>
                  <a:tcPr/>
                </a:tc>
                <a:tc>
                  <a:txBody>
                    <a:bodyPr/>
                    <a:lstStyle/>
                    <a:p>
                      <a:pPr algn="ctr"/>
                      <a:r>
                        <a:rPr lang="en-US" dirty="0"/>
                        <a:t>A/12</a:t>
                      </a:r>
                    </a:p>
                  </a:txBody>
                  <a:tcPr/>
                </a:tc>
                <a:tc>
                  <a:txBody>
                    <a:bodyPr/>
                    <a:lstStyle/>
                    <a:p>
                      <a:pPr algn="ctr"/>
                      <a:r>
                        <a:rPr lang="en-US" dirty="0"/>
                        <a:t>10</a:t>
                      </a:r>
                    </a:p>
                  </a:txBody>
                  <a:tcPr/>
                </a:tc>
                <a:extLst>
                  <a:ext uri="{0D108BD9-81ED-4DB2-BD59-A6C34878D82A}">
                    <a16:rowId xmlns:a16="http://schemas.microsoft.com/office/drawing/2014/main" val="4252643994"/>
                  </a:ext>
                </a:extLst>
              </a:tr>
              <a:tr h="327203">
                <a:tc>
                  <a:txBody>
                    <a:bodyPr/>
                    <a:lstStyle/>
                    <a:p>
                      <a:pPr algn="ctr"/>
                      <a:r>
                        <a:rPr lang="en-US" dirty="0"/>
                        <a:t>1011</a:t>
                      </a:r>
                    </a:p>
                  </a:txBody>
                  <a:tcPr/>
                </a:tc>
                <a:tc>
                  <a:txBody>
                    <a:bodyPr/>
                    <a:lstStyle/>
                    <a:p>
                      <a:pPr algn="ctr"/>
                      <a:r>
                        <a:rPr lang="en-US" dirty="0"/>
                        <a:t>B/13</a:t>
                      </a:r>
                    </a:p>
                  </a:txBody>
                  <a:tcPr/>
                </a:tc>
                <a:tc>
                  <a:txBody>
                    <a:bodyPr/>
                    <a:lstStyle/>
                    <a:p>
                      <a:pPr algn="ctr"/>
                      <a:r>
                        <a:rPr lang="en-US" dirty="0"/>
                        <a:t>11</a:t>
                      </a:r>
                    </a:p>
                  </a:txBody>
                  <a:tcPr/>
                </a:tc>
                <a:extLst>
                  <a:ext uri="{0D108BD9-81ED-4DB2-BD59-A6C34878D82A}">
                    <a16:rowId xmlns:a16="http://schemas.microsoft.com/office/drawing/2014/main" val="3563857359"/>
                  </a:ext>
                </a:extLst>
              </a:tr>
              <a:tr h="327203">
                <a:tc>
                  <a:txBody>
                    <a:bodyPr/>
                    <a:lstStyle/>
                    <a:p>
                      <a:pPr algn="ctr"/>
                      <a:r>
                        <a:rPr lang="en-US" dirty="0"/>
                        <a:t>1100</a:t>
                      </a:r>
                    </a:p>
                  </a:txBody>
                  <a:tcPr/>
                </a:tc>
                <a:tc>
                  <a:txBody>
                    <a:bodyPr/>
                    <a:lstStyle/>
                    <a:p>
                      <a:pPr algn="ctr"/>
                      <a:r>
                        <a:rPr lang="en-US" dirty="0"/>
                        <a:t>C/14</a:t>
                      </a:r>
                    </a:p>
                  </a:txBody>
                  <a:tcPr/>
                </a:tc>
                <a:tc>
                  <a:txBody>
                    <a:bodyPr/>
                    <a:lstStyle/>
                    <a:p>
                      <a:pPr algn="ctr"/>
                      <a:r>
                        <a:rPr lang="en-US" dirty="0"/>
                        <a:t>12</a:t>
                      </a:r>
                    </a:p>
                  </a:txBody>
                  <a:tcPr/>
                </a:tc>
                <a:extLst>
                  <a:ext uri="{0D108BD9-81ED-4DB2-BD59-A6C34878D82A}">
                    <a16:rowId xmlns:a16="http://schemas.microsoft.com/office/drawing/2014/main" val="1697066741"/>
                  </a:ext>
                </a:extLst>
              </a:tr>
              <a:tr h="327203">
                <a:tc>
                  <a:txBody>
                    <a:bodyPr/>
                    <a:lstStyle/>
                    <a:p>
                      <a:pPr algn="ctr"/>
                      <a:r>
                        <a:rPr lang="en-US" dirty="0"/>
                        <a:t>1101</a:t>
                      </a:r>
                    </a:p>
                  </a:txBody>
                  <a:tcPr/>
                </a:tc>
                <a:tc>
                  <a:txBody>
                    <a:bodyPr/>
                    <a:lstStyle/>
                    <a:p>
                      <a:pPr algn="ctr"/>
                      <a:r>
                        <a:rPr lang="en-US" dirty="0"/>
                        <a:t>D/15</a:t>
                      </a:r>
                    </a:p>
                  </a:txBody>
                  <a:tcPr/>
                </a:tc>
                <a:tc>
                  <a:txBody>
                    <a:bodyPr/>
                    <a:lstStyle/>
                    <a:p>
                      <a:pPr algn="ctr"/>
                      <a:r>
                        <a:rPr lang="en-US" dirty="0"/>
                        <a:t>13</a:t>
                      </a:r>
                    </a:p>
                  </a:txBody>
                  <a:tcPr/>
                </a:tc>
                <a:extLst>
                  <a:ext uri="{0D108BD9-81ED-4DB2-BD59-A6C34878D82A}">
                    <a16:rowId xmlns:a16="http://schemas.microsoft.com/office/drawing/2014/main" val="1598524941"/>
                  </a:ext>
                </a:extLst>
              </a:tr>
              <a:tr h="327203">
                <a:tc>
                  <a:txBody>
                    <a:bodyPr/>
                    <a:lstStyle/>
                    <a:p>
                      <a:pPr algn="ctr"/>
                      <a:r>
                        <a:rPr lang="en-US" dirty="0"/>
                        <a:t>1110</a:t>
                      </a:r>
                    </a:p>
                  </a:txBody>
                  <a:tcPr/>
                </a:tc>
                <a:tc>
                  <a:txBody>
                    <a:bodyPr/>
                    <a:lstStyle/>
                    <a:p>
                      <a:pPr algn="ctr"/>
                      <a:r>
                        <a:rPr lang="en-US" dirty="0"/>
                        <a:t>E/16</a:t>
                      </a:r>
                    </a:p>
                  </a:txBody>
                  <a:tcPr/>
                </a:tc>
                <a:tc>
                  <a:txBody>
                    <a:bodyPr/>
                    <a:lstStyle/>
                    <a:p>
                      <a:pPr algn="ctr"/>
                      <a:r>
                        <a:rPr lang="en-US" dirty="0"/>
                        <a:t>14</a:t>
                      </a:r>
                    </a:p>
                  </a:txBody>
                  <a:tcPr/>
                </a:tc>
                <a:extLst>
                  <a:ext uri="{0D108BD9-81ED-4DB2-BD59-A6C34878D82A}">
                    <a16:rowId xmlns:a16="http://schemas.microsoft.com/office/drawing/2014/main" val="2614889485"/>
                  </a:ext>
                </a:extLst>
              </a:tr>
              <a:tr h="327203">
                <a:tc>
                  <a:txBody>
                    <a:bodyPr/>
                    <a:lstStyle/>
                    <a:p>
                      <a:pPr algn="ctr"/>
                      <a:r>
                        <a:rPr lang="en-US" dirty="0"/>
                        <a:t>1111</a:t>
                      </a:r>
                    </a:p>
                  </a:txBody>
                  <a:tcPr/>
                </a:tc>
                <a:tc>
                  <a:txBody>
                    <a:bodyPr/>
                    <a:lstStyle/>
                    <a:p>
                      <a:pPr algn="ctr"/>
                      <a:r>
                        <a:rPr lang="en-US" dirty="0"/>
                        <a:t>F/17</a:t>
                      </a:r>
                    </a:p>
                  </a:txBody>
                  <a:tcPr/>
                </a:tc>
                <a:tc>
                  <a:txBody>
                    <a:bodyPr/>
                    <a:lstStyle/>
                    <a:p>
                      <a:pPr algn="ctr"/>
                      <a:r>
                        <a:rPr lang="en-US" dirty="0"/>
                        <a:t>15</a:t>
                      </a:r>
                    </a:p>
                  </a:txBody>
                  <a:tcPr/>
                </a:tc>
                <a:extLst>
                  <a:ext uri="{0D108BD9-81ED-4DB2-BD59-A6C34878D82A}">
                    <a16:rowId xmlns:a16="http://schemas.microsoft.com/office/drawing/2014/main" val="405043344"/>
                  </a:ext>
                </a:extLst>
              </a:tr>
            </a:tbl>
          </a:graphicData>
        </a:graphic>
      </p:graphicFrame>
    </p:spTree>
    <p:extLst>
      <p:ext uri="{BB962C8B-B14F-4D97-AF65-F5344CB8AC3E}">
        <p14:creationId xmlns:p14="http://schemas.microsoft.com/office/powerpoint/2010/main" val="7892914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Getting User Input</a:t>
            </a:r>
          </a:p>
        </p:txBody>
      </p:sp>
      <p:sp>
        <p:nvSpPr>
          <p:cNvPr id="3" name="Text Placeholder 2"/>
          <p:cNvSpPr>
            <a:spLocks noGrp="1"/>
          </p:cNvSpPr>
          <p:nvPr>
            <p:ph type="body" idx="1"/>
          </p:nvPr>
        </p:nvSpPr>
        <p:spPr/>
        <p:txBody>
          <a:bodyPr>
            <a:normAutofit lnSpcReduction="10000"/>
          </a:bodyPr>
          <a:lstStyle/>
          <a:p>
            <a:r>
              <a:rPr lang="en-US" dirty="0"/>
              <a:t>You must include import </a:t>
            </a:r>
            <a:r>
              <a:rPr lang="en-US" b="1" dirty="0" err="1">
                <a:latin typeface="Courier New" panose="02070309020205020404" pitchFamily="49" charset="0"/>
                <a:cs typeface="Courier New" panose="02070309020205020404" pitchFamily="49" charset="0"/>
              </a:rPr>
              <a:t>java.util.Scanner</a:t>
            </a:r>
            <a:r>
              <a:rPr lang="en-US" b="1" dirty="0">
                <a:latin typeface="Courier New" panose="02070309020205020404" pitchFamily="49" charset="0"/>
                <a:cs typeface="Courier New" panose="02070309020205020404" pitchFamily="49" charset="0"/>
              </a:rPr>
              <a:t>;</a:t>
            </a:r>
            <a:r>
              <a:rPr lang="en-US" dirty="0"/>
              <a:t> at the top of your source code file!</a:t>
            </a:r>
          </a:p>
          <a:p>
            <a:pPr marL="114300" indent="0">
              <a:buNone/>
            </a:pPr>
            <a:endParaRPr lang="en-US" dirty="0"/>
          </a:p>
          <a:p>
            <a:r>
              <a:rPr lang="en-US" dirty="0"/>
              <a:t>Create a Scanner object:</a:t>
            </a:r>
          </a:p>
          <a:p>
            <a:pPr marL="114300" indent="0">
              <a:buNone/>
            </a:pPr>
            <a:r>
              <a:rPr lang="en-US" dirty="0"/>
              <a:t>      </a:t>
            </a:r>
            <a:r>
              <a:rPr lang="en-US" b="1" dirty="0">
                <a:latin typeface="Courier New" panose="02070309020205020404" pitchFamily="49" charset="0"/>
                <a:cs typeface="Courier New" panose="02070309020205020404" pitchFamily="49" charset="0"/>
              </a:rPr>
              <a:t>Scanner input = new Scanner (System.in);</a:t>
            </a:r>
          </a:p>
          <a:p>
            <a:pPr marL="114300" indent="0">
              <a:buNone/>
            </a:pPr>
            <a:endParaRPr lang="en-US" dirty="0"/>
          </a:p>
          <a:p>
            <a:r>
              <a:rPr lang="en-US" dirty="0"/>
              <a:t>Use the method </a:t>
            </a:r>
            <a:r>
              <a:rPr lang="en-US" b="1" dirty="0" err="1">
                <a:latin typeface="Courier New" panose="02070309020205020404" pitchFamily="49" charset="0"/>
                <a:cs typeface="Courier New" panose="02070309020205020404" pitchFamily="49" charset="0"/>
              </a:rPr>
              <a:t>nextDouble</a:t>
            </a:r>
            <a:r>
              <a:rPr lang="en-US" b="1" dirty="0">
                <a:latin typeface="Courier New" panose="02070309020205020404" pitchFamily="49" charset="0"/>
                <a:cs typeface="Courier New" panose="02070309020205020404" pitchFamily="49" charset="0"/>
              </a:rPr>
              <a:t>() </a:t>
            </a:r>
            <a:r>
              <a:rPr lang="en-US" dirty="0"/>
              <a:t>to obtain a double value.</a:t>
            </a:r>
          </a:p>
          <a:p>
            <a:pPr marL="114300" indent="0">
              <a:buNone/>
            </a:pPr>
            <a:r>
              <a:rPr lang="en-US" dirty="0"/>
              <a:t>     Example:</a:t>
            </a:r>
          </a:p>
          <a:p>
            <a:pPr marL="114300" indent="0">
              <a:buNone/>
            </a:pPr>
            <a:r>
              <a:rPr lang="en-US" dirty="0"/>
              <a:t>     </a:t>
            </a:r>
            <a:r>
              <a:rPr lang="en-US" b="1" dirty="0" err="1">
                <a:latin typeface="Courier New" panose="02070309020205020404" pitchFamily="49" charset="0"/>
                <a:cs typeface="Courier New" panose="02070309020205020404" pitchFamily="49" charset="0"/>
              </a:rPr>
              <a:t>System.out.println</a:t>
            </a:r>
            <a:r>
              <a:rPr lang="en-US" b="1" dirty="0">
                <a:latin typeface="Courier New" panose="02070309020205020404" pitchFamily="49" charset="0"/>
                <a:cs typeface="Courier New" panose="02070309020205020404" pitchFamily="49" charset="0"/>
              </a:rPr>
              <a:t>(“Enter a double value: ”);</a:t>
            </a:r>
          </a:p>
          <a:p>
            <a:pPr marL="114300" indent="0">
              <a:buNone/>
            </a:pPr>
            <a:r>
              <a:rPr lang="en-US" b="1" dirty="0">
                <a:latin typeface="Courier New" panose="02070309020205020404" pitchFamily="49" charset="0"/>
                <a:cs typeface="Courier New" panose="02070309020205020404" pitchFamily="49" charset="0"/>
              </a:rPr>
              <a:t>  Scanner input = new Scanner (System.in);</a:t>
            </a:r>
          </a:p>
          <a:p>
            <a:pPr marL="114300" indent="0">
              <a:buNone/>
            </a:pPr>
            <a:r>
              <a:rPr lang="en-US" b="1" dirty="0">
                <a:latin typeface="Courier New" panose="02070309020205020404" pitchFamily="49" charset="0"/>
                <a:cs typeface="Courier New" panose="02070309020205020404" pitchFamily="49" charset="0"/>
              </a:rPr>
              <a:t>  double d = </a:t>
            </a:r>
            <a:r>
              <a:rPr lang="en-US" b="1" dirty="0" err="1">
                <a:latin typeface="Courier New" panose="02070309020205020404" pitchFamily="49" charset="0"/>
                <a:cs typeface="Courier New" panose="02070309020205020404" pitchFamily="49" charset="0"/>
              </a:rPr>
              <a:t>input.nextDouble</a:t>
            </a:r>
            <a:r>
              <a:rPr lang="en-US" b="1" dirty="0">
                <a:latin typeface="Courier New" panose="02070309020205020404" pitchFamily="49" charset="0"/>
                <a:cs typeface="Courier New" panose="02070309020205020404" pitchFamily="49" charset="0"/>
              </a:rPr>
              <a:t>();</a:t>
            </a:r>
          </a:p>
          <a:p>
            <a:pPr marL="114300" indent="0">
              <a:buNone/>
            </a:pPr>
            <a:endParaRPr lang="en-US" dirty="0"/>
          </a:p>
        </p:txBody>
      </p:sp>
    </p:spTree>
    <p:extLst>
      <p:ext uri="{BB962C8B-B14F-4D97-AF65-F5344CB8AC3E}">
        <p14:creationId xmlns:p14="http://schemas.microsoft.com/office/powerpoint/2010/main" val="10978915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Scanner class methods:</a:t>
            </a:r>
          </a:p>
        </p:txBody>
      </p:sp>
      <p:graphicFrame>
        <p:nvGraphicFramePr>
          <p:cNvPr id="4" name="Table 3" descr="Scanner class has methods to accept the inputs from the console (keyboard). nextByte() reads a byte input, nextShort() reads teh short type input and nextLong() accepts the long type input from the keyboard. nextFloat() and nextDouble() methods accept the float and the double type values respectively from the keyboard. next() and nextLine() methods read the string type data from the keyboard." title="Scanner class methods"/>
          <p:cNvGraphicFramePr>
            <a:graphicFrameLocks noGrp="1"/>
          </p:cNvGraphicFramePr>
          <p:nvPr/>
        </p:nvGraphicFramePr>
        <p:xfrm>
          <a:off x="399207" y="1300402"/>
          <a:ext cx="7571448" cy="3362960"/>
        </p:xfrm>
        <a:graphic>
          <a:graphicData uri="http://schemas.openxmlformats.org/drawingml/2006/table">
            <a:tbl>
              <a:tblPr firstRow="1" bandRow="1">
                <a:tableStyleId>{21E4AEA4-8DFA-4A89-87EB-49C32662AFE0}</a:tableStyleId>
              </a:tblPr>
              <a:tblGrid>
                <a:gridCol w="2396144">
                  <a:extLst>
                    <a:ext uri="{9D8B030D-6E8A-4147-A177-3AD203B41FA5}">
                      <a16:colId xmlns:a16="http://schemas.microsoft.com/office/drawing/2014/main" val="20000"/>
                    </a:ext>
                  </a:extLst>
                </a:gridCol>
                <a:gridCol w="5175304">
                  <a:extLst>
                    <a:ext uri="{9D8B030D-6E8A-4147-A177-3AD203B41FA5}">
                      <a16:colId xmlns:a16="http://schemas.microsoft.com/office/drawing/2014/main" val="20001"/>
                    </a:ext>
                  </a:extLst>
                </a:gridCol>
              </a:tblGrid>
              <a:tr h="370840">
                <a:tc>
                  <a:txBody>
                    <a:bodyPr/>
                    <a:lstStyle/>
                    <a:p>
                      <a:r>
                        <a:rPr lang="en-US" sz="2000" dirty="0"/>
                        <a:t>Method</a:t>
                      </a:r>
                    </a:p>
                  </a:txBody>
                  <a:tcPr/>
                </a:tc>
                <a:tc>
                  <a:txBody>
                    <a:bodyPr/>
                    <a:lstStyle/>
                    <a:p>
                      <a:r>
                        <a:rPr lang="en-US" sz="2000" dirty="0"/>
                        <a:t>Description</a:t>
                      </a:r>
                    </a:p>
                  </a:txBody>
                  <a:tcPr/>
                </a:tc>
                <a:extLst>
                  <a:ext uri="{0D108BD9-81ED-4DB2-BD59-A6C34878D82A}">
                    <a16:rowId xmlns:a16="http://schemas.microsoft.com/office/drawing/2014/main" val="10000"/>
                  </a:ext>
                </a:extLst>
              </a:tr>
              <a:tr h="370840">
                <a:tc>
                  <a:txBody>
                    <a:bodyPr/>
                    <a:lstStyle/>
                    <a:p>
                      <a:r>
                        <a:rPr lang="en-US" sz="1800" b="1" i="0" u="none" strike="noStrike" cap="none" dirty="0" err="1">
                          <a:solidFill>
                            <a:schemeClr val="dk2"/>
                          </a:solidFill>
                          <a:latin typeface="Courier New" panose="02070309020205020404" pitchFamily="49" charset="0"/>
                          <a:ea typeface="Arial"/>
                          <a:cs typeface="Courier New" panose="02070309020205020404" pitchFamily="49" charset="0"/>
                          <a:sym typeface="Arial"/>
                        </a:rPr>
                        <a:t>nextByte</a:t>
                      </a:r>
                      <a:r>
                        <a:rPr lang="en-US" sz="1800" b="1" i="0" u="none" strike="noStrike" cap="none" dirty="0">
                          <a:solidFill>
                            <a:schemeClr val="dk2"/>
                          </a:solidFill>
                          <a:latin typeface="Courier New" panose="02070309020205020404" pitchFamily="49" charset="0"/>
                          <a:ea typeface="Arial"/>
                          <a:cs typeface="Courier New" panose="02070309020205020404" pitchFamily="49" charset="0"/>
                          <a:sym typeface="Arial"/>
                        </a:rPr>
                        <a:t>()</a:t>
                      </a:r>
                    </a:p>
                  </a:txBody>
                  <a:tcPr/>
                </a:tc>
                <a:tc>
                  <a:txBody>
                    <a:bodyPr/>
                    <a:lstStyle/>
                    <a:p>
                      <a:r>
                        <a:rPr lang="en-US" dirty="0"/>
                        <a:t>Reads an integer of the </a:t>
                      </a:r>
                      <a:r>
                        <a:rPr lang="en-US" sz="1800" b="1" i="0" u="none" strike="noStrike" cap="none" dirty="0">
                          <a:solidFill>
                            <a:schemeClr val="dk2"/>
                          </a:solidFill>
                          <a:latin typeface="Courier New" panose="02070309020205020404" pitchFamily="49" charset="0"/>
                          <a:ea typeface="Arial"/>
                          <a:cs typeface="Courier New" panose="02070309020205020404" pitchFamily="49" charset="0"/>
                          <a:sym typeface="Arial"/>
                        </a:rPr>
                        <a:t>byte</a:t>
                      </a:r>
                      <a:r>
                        <a:rPr lang="en-US" dirty="0"/>
                        <a:t> type.</a:t>
                      </a:r>
                    </a:p>
                  </a:txBody>
                  <a:tcPr/>
                </a:tc>
                <a:extLst>
                  <a:ext uri="{0D108BD9-81ED-4DB2-BD59-A6C34878D82A}">
                    <a16:rowId xmlns:a16="http://schemas.microsoft.com/office/drawing/2014/main" val="10001"/>
                  </a:ext>
                </a:extLst>
              </a:tr>
              <a:tr h="370840">
                <a:tc>
                  <a:txBody>
                    <a:bodyPr/>
                    <a:lstStyle/>
                    <a:p>
                      <a:pPr marR="0" algn="l" rtl="0">
                        <a:lnSpc>
                          <a:spcPct val="100000"/>
                        </a:lnSpc>
                        <a:spcBef>
                          <a:spcPts val="0"/>
                        </a:spcBef>
                        <a:spcAft>
                          <a:spcPts val="0"/>
                        </a:spcAft>
                        <a:buClr>
                          <a:srgbClr val="000000"/>
                        </a:buClr>
                        <a:buFont typeface="Arial"/>
                      </a:pPr>
                      <a:r>
                        <a:rPr lang="en-US" sz="1800" b="1" i="0" u="none" strike="noStrike" cap="none" dirty="0" err="1">
                          <a:solidFill>
                            <a:schemeClr val="dk2"/>
                          </a:solidFill>
                          <a:latin typeface="Courier New" panose="02070309020205020404" pitchFamily="49" charset="0"/>
                          <a:ea typeface="Arial"/>
                          <a:cs typeface="Courier New" panose="02070309020205020404" pitchFamily="49" charset="0"/>
                          <a:sym typeface="Arial"/>
                        </a:rPr>
                        <a:t>nextShort</a:t>
                      </a:r>
                      <a:r>
                        <a:rPr lang="en-US" sz="1800" b="1" i="0" u="none" strike="noStrike" cap="none" dirty="0">
                          <a:solidFill>
                            <a:schemeClr val="dk2"/>
                          </a:solidFill>
                          <a:latin typeface="Courier New" panose="02070309020205020404" pitchFamily="49" charset="0"/>
                          <a:ea typeface="Arial"/>
                          <a:cs typeface="Courier New" panose="02070309020205020404" pitchFamily="49" charset="0"/>
                          <a:sym typeface="Arial"/>
                        </a:rPr>
                        <a:t>()</a:t>
                      </a:r>
                    </a:p>
                  </a:txBody>
                  <a:tcPr/>
                </a:tc>
                <a:tc>
                  <a:txBody>
                    <a:bodyPr/>
                    <a:lstStyle/>
                    <a:p>
                      <a:r>
                        <a:rPr lang="en-US" dirty="0"/>
                        <a:t>Reads an integer of the </a:t>
                      </a:r>
                      <a:r>
                        <a:rPr lang="en-US" sz="1800" b="1" i="0" u="none" strike="noStrike" cap="none" dirty="0">
                          <a:solidFill>
                            <a:schemeClr val="dk2"/>
                          </a:solidFill>
                          <a:latin typeface="Courier New" panose="02070309020205020404" pitchFamily="49" charset="0"/>
                          <a:ea typeface="Arial"/>
                          <a:cs typeface="Courier New" panose="02070309020205020404" pitchFamily="49" charset="0"/>
                          <a:sym typeface="Arial"/>
                        </a:rPr>
                        <a:t>short</a:t>
                      </a:r>
                      <a:r>
                        <a:rPr lang="en-US" dirty="0"/>
                        <a:t> type.</a:t>
                      </a:r>
                    </a:p>
                  </a:txBody>
                  <a:tcPr/>
                </a:tc>
                <a:extLst>
                  <a:ext uri="{0D108BD9-81ED-4DB2-BD59-A6C34878D82A}">
                    <a16:rowId xmlns:a16="http://schemas.microsoft.com/office/drawing/2014/main" val="10002"/>
                  </a:ext>
                </a:extLst>
              </a:tr>
              <a:tr h="370840">
                <a:tc>
                  <a:txBody>
                    <a:bodyPr/>
                    <a:lstStyle/>
                    <a:p>
                      <a:pPr marR="0" algn="l" rtl="0">
                        <a:lnSpc>
                          <a:spcPct val="100000"/>
                        </a:lnSpc>
                        <a:spcBef>
                          <a:spcPts val="0"/>
                        </a:spcBef>
                        <a:spcAft>
                          <a:spcPts val="0"/>
                        </a:spcAft>
                        <a:buClr>
                          <a:srgbClr val="000000"/>
                        </a:buClr>
                        <a:buFont typeface="Arial"/>
                      </a:pPr>
                      <a:r>
                        <a:rPr lang="en-US" sz="1800" b="1" i="0" u="none" strike="noStrike" cap="none" dirty="0" err="1">
                          <a:solidFill>
                            <a:schemeClr val="dk2"/>
                          </a:solidFill>
                          <a:latin typeface="Courier New" panose="02070309020205020404" pitchFamily="49" charset="0"/>
                          <a:ea typeface="Arial"/>
                          <a:cs typeface="Courier New" panose="02070309020205020404" pitchFamily="49" charset="0"/>
                          <a:sym typeface="Arial"/>
                        </a:rPr>
                        <a:t>nextInt</a:t>
                      </a:r>
                      <a:r>
                        <a:rPr lang="en-US" sz="1800" b="1" i="0" u="none" strike="noStrike" cap="none" dirty="0">
                          <a:solidFill>
                            <a:schemeClr val="dk2"/>
                          </a:solidFill>
                          <a:latin typeface="Courier New" panose="02070309020205020404" pitchFamily="49" charset="0"/>
                          <a:ea typeface="Arial"/>
                          <a:cs typeface="Courier New" panose="02070309020205020404" pitchFamily="49" charset="0"/>
                          <a:sym typeface="Arial"/>
                        </a:rPr>
                        <a:t>()</a:t>
                      </a:r>
                    </a:p>
                  </a:txBody>
                  <a:tcPr/>
                </a:tc>
                <a:tc>
                  <a:txBody>
                    <a:bodyPr/>
                    <a:lstStyle/>
                    <a:p>
                      <a:r>
                        <a:rPr lang="en-US" dirty="0"/>
                        <a:t>Reads an integer of the </a:t>
                      </a:r>
                      <a:r>
                        <a:rPr lang="en-US" sz="1800" b="1" i="0" u="none" strike="noStrike" cap="none" dirty="0" err="1">
                          <a:solidFill>
                            <a:schemeClr val="dk2"/>
                          </a:solidFill>
                          <a:latin typeface="Courier New" panose="02070309020205020404" pitchFamily="49" charset="0"/>
                          <a:ea typeface="Arial"/>
                          <a:cs typeface="Courier New" panose="02070309020205020404" pitchFamily="49" charset="0"/>
                          <a:sym typeface="Arial"/>
                        </a:rPr>
                        <a:t>int</a:t>
                      </a:r>
                      <a:r>
                        <a:rPr lang="en-US" sz="1800" u="none" strike="noStrike" cap="none" dirty="0">
                          <a:sym typeface="Arial"/>
                        </a:rPr>
                        <a:t> </a:t>
                      </a:r>
                      <a:r>
                        <a:rPr lang="en-US" dirty="0"/>
                        <a:t>type.</a:t>
                      </a:r>
                    </a:p>
                  </a:txBody>
                  <a:tcPr/>
                </a:tc>
                <a:extLst>
                  <a:ext uri="{0D108BD9-81ED-4DB2-BD59-A6C34878D82A}">
                    <a16:rowId xmlns:a16="http://schemas.microsoft.com/office/drawing/2014/main" val="10003"/>
                  </a:ext>
                </a:extLst>
              </a:tr>
              <a:tr h="370840">
                <a:tc>
                  <a:txBody>
                    <a:bodyPr/>
                    <a:lstStyle/>
                    <a:p>
                      <a:pPr marR="0" algn="l" rtl="0">
                        <a:lnSpc>
                          <a:spcPct val="100000"/>
                        </a:lnSpc>
                        <a:spcBef>
                          <a:spcPts val="0"/>
                        </a:spcBef>
                        <a:spcAft>
                          <a:spcPts val="0"/>
                        </a:spcAft>
                        <a:buClr>
                          <a:srgbClr val="000000"/>
                        </a:buClr>
                        <a:buFont typeface="Arial"/>
                      </a:pPr>
                      <a:r>
                        <a:rPr lang="en-US" sz="1800" b="1" i="0" u="none" strike="noStrike" cap="none" dirty="0" err="1">
                          <a:solidFill>
                            <a:schemeClr val="dk2"/>
                          </a:solidFill>
                          <a:latin typeface="Courier New" panose="02070309020205020404" pitchFamily="49" charset="0"/>
                          <a:ea typeface="Arial"/>
                          <a:cs typeface="Courier New" panose="02070309020205020404" pitchFamily="49" charset="0"/>
                          <a:sym typeface="Arial"/>
                        </a:rPr>
                        <a:t>nextLong</a:t>
                      </a:r>
                      <a:r>
                        <a:rPr lang="en-US" sz="1800" b="1" i="0" u="none" strike="noStrike" cap="none" dirty="0">
                          <a:solidFill>
                            <a:schemeClr val="dk2"/>
                          </a:solidFill>
                          <a:latin typeface="Courier New" panose="02070309020205020404" pitchFamily="49" charset="0"/>
                          <a:ea typeface="Arial"/>
                          <a:cs typeface="Courier New" panose="02070309020205020404" pitchFamily="49" charset="0"/>
                          <a:sym typeface="Arial"/>
                        </a:rPr>
                        <a:t>()</a:t>
                      </a:r>
                    </a:p>
                  </a:txBody>
                  <a:tcPr/>
                </a:tc>
                <a:tc>
                  <a:txBody>
                    <a:bodyPr/>
                    <a:lstStyle/>
                    <a:p>
                      <a:r>
                        <a:rPr lang="en-US" dirty="0"/>
                        <a:t>Reads an integer of the </a:t>
                      </a:r>
                      <a:r>
                        <a:rPr lang="en-US" sz="1800" b="1" i="0" u="none" strike="noStrike" cap="none" dirty="0">
                          <a:solidFill>
                            <a:schemeClr val="dk2"/>
                          </a:solidFill>
                          <a:latin typeface="Courier New" panose="02070309020205020404" pitchFamily="49" charset="0"/>
                          <a:ea typeface="Arial"/>
                          <a:cs typeface="Courier New" panose="02070309020205020404" pitchFamily="49" charset="0"/>
                          <a:sym typeface="Arial"/>
                        </a:rPr>
                        <a:t>long</a:t>
                      </a:r>
                      <a:r>
                        <a:rPr lang="en-US" dirty="0"/>
                        <a:t> type.</a:t>
                      </a:r>
                    </a:p>
                  </a:txBody>
                  <a:tcPr/>
                </a:tc>
                <a:extLst>
                  <a:ext uri="{0D108BD9-81ED-4DB2-BD59-A6C34878D82A}">
                    <a16:rowId xmlns:a16="http://schemas.microsoft.com/office/drawing/2014/main" val="10004"/>
                  </a:ext>
                </a:extLst>
              </a:tr>
              <a:tr h="370840">
                <a:tc>
                  <a:txBody>
                    <a:bodyPr/>
                    <a:lstStyle/>
                    <a:p>
                      <a:pPr marR="0" algn="l" rtl="0">
                        <a:lnSpc>
                          <a:spcPct val="100000"/>
                        </a:lnSpc>
                        <a:spcBef>
                          <a:spcPts val="0"/>
                        </a:spcBef>
                        <a:spcAft>
                          <a:spcPts val="0"/>
                        </a:spcAft>
                        <a:buClr>
                          <a:srgbClr val="000000"/>
                        </a:buClr>
                        <a:buFont typeface="Arial"/>
                      </a:pPr>
                      <a:r>
                        <a:rPr lang="en-US" sz="1800" b="1" i="0" u="none" strike="noStrike" cap="none" dirty="0" err="1">
                          <a:solidFill>
                            <a:schemeClr val="dk2"/>
                          </a:solidFill>
                          <a:latin typeface="Courier New" panose="02070309020205020404" pitchFamily="49" charset="0"/>
                          <a:ea typeface="Arial"/>
                          <a:cs typeface="Courier New" panose="02070309020205020404" pitchFamily="49" charset="0"/>
                          <a:sym typeface="Arial"/>
                        </a:rPr>
                        <a:t>nextFloat</a:t>
                      </a:r>
                      <a:r>
                        <a:rPr lang="en-US" sz="1800" b="1" i="0" u="none" strike="noStrike" cap="none" dirty="0">
                          <a:solidFill>
                            <a:schemeClr val="dk2"/>
                          </a:solidFill>
                          <a:latin typeface="Courier New" panose="02070309020205020404" pitchFamily="49" charset="0"/>
                          <a:ea typeface="Arial"/>
                          <a:cs typeface="Courier New" panose="02070309020205020404" pitchFamily="49" charset="0"/>
                          <a:sym typeface="Arial"/>
                        </a:rPr>
                        <a:t>()</a:t>
                      </a:r>
                    </a:p>
                  </a:txBody>
                  <a:tcPr/>
                </a:tc>
                <a:tc>
                  <a:txBody>
                    <a:bodyPr/>
                    <a:lstStyle/>
                    <a:p>
                      <a:r>
                        <a:rPr lang="en-US" dirty="0"/>
                        <a:t>Reads a number of the </a:t>
                      </a:r>
                      <a:r>
                        <a:rPr lang="en-US" sz="1800" b="1" i="0" u="none" strike="noStrike" cap="none" dirty="0">
                          <a:solidFill>
                            <a:schemeClr val="dk2"/>
                          </a:solidFill>
                          <a:latin typeface="Courier New" panose="02070309020205020404" pitchFamily="49" charset="0"/>
                          <a:ea typeface="Arial"/>
                          <a:cs typeface="Courier New" panose="02070309020205020404" pitchFamily="49" charset="0"/>
                          <a:sym typeface="Arial"/>
                        </a:rPr>
                        <a:t>float</a:t>
                      </a:r>
                      <a:r>
                        <a:rPr lang="en-US" dirty="0"/>
                        <a:t> type.</a:t>
                      </a:r>
                    </a:p>
                  </a:txBody>
                  <a:tcPr/>
                </a:tc>
                <a:extLst>
                  <a:ext uri="{0D108BD9-81ED-4DB2-BD59-A6C34878D82A}">
                    <a16:rowId xmlns:a16="http://schemas.microsoft.com/office/drawing/2014/main" val="10005"/>
                  </a:ext>
                </a:extLst>
              </a:tr>
              <a:tr h="370840">
                <a:tc>
                  <a:txBody>
                    <a:bodyPr/>
                    <a:lstStyle/>
                    <a:p>
                      <a:pPr marR="0" algn="l" rtl="0">
                        <a:lnSpc>
                          <a:spcPct val="100000"/>
                        </a:lnSpc>
                        <a:spcBef>
                          <a:spcPts val="0"/>
                        </a:spcBef>
                        <a:spcAft>
                          <a:spcPts val="0"/>
                        </a:spcAft>
                        <a:buClr>
                          <a:srgbClr val="000000"/>
                        </a:buClr>
                        <a:buFont typeface="Arial"/>
                      </a:pPr>
                      <a:r>
                        <a:rPr lang="en-US" sz="1800" b="1" i="0" u="none" strike="noStrike" cap="none" dirty="0" err="1">
                          <a:solidFill>
                            <a:schemeClr val="dk2"/>
                          </a:solidFill>
                          <a:latin typeface="Courier New" panose="02070309020205020404" pitchFamily="49" charset="0"/>
                          <a:ea typeface="Arial"/>
                          <a:cs typeface="Courier New" panose="02070309020205020404" pitchFamily="49" charset="0"/>
                          <a:sym typeface="Arial"/>
                        </a:rPr>
                        <a:t>nextDouble</a:t>
                      </a:r>
                      <a:r>
                        <a:rPr lang="en-US" sz="1800" b="1" i="0" u="none" strike="noStrike" cap="none" dirty="0">
                          <a:solidFill>
                            <a:schemeClr val="dk2"/>
                          </a:solidFill>
                          <a:latin typeface="Courier New" panose="02070309020205020404" pitchFamily="49" charset="0"/>
                          <a:ea typeface="Arial"/>
                          <a:cs typeface="Courier New" panose="02070309020205020404" pitchFamily="49" charset="0"/>
                          <a:sym typeface="Arial"/>
                        </a:rPr>
                        <a:t>()</a:t>
                      </a:r>
                    </a:p>
                  </a:txBody>
                  <a:tcPr/>
                </a:tc>
                <a:tc>
                  <a:txBody>
                    <a:bodyPr/>
                    <a:lstStyle/>
                    <a:p>
                      <a:r>
                        <a:rPr lang="en-US" dirty="0"/>
                        <a:t>Reads a number of the </a:t>
                      </a:r>
                      <a:r>
                        <a:rPr lang="en-US" sz="1800" b="1" i="0" u="none" strike="noStrike" cap="none" dirty="0">
                          <a:solidFill>
                            <a:schemeClr val="dk2"/>
                          </a:solidFill>
                          <a:latin typeface="Courier New" panose="02070309020205020404" pitchFamily="49" charset="0"/>
                          <a:ea typeface="Arial"/>
                          <a:cs typeface="Courier New" panose="02070309020205020404" pitchFamily="49" charset="0"/>
                          <a:sym typeface="Arial"/>
                        </a:rPr>
                        <a:t>double</a:t>
                      </a:r>
                      <a:r>
                        <a:rPr lang="en-US" dirty="0"/>
                        <a:t> type.</a:t>
                      </a:r>
                    </a:p>
                  </a:txBody>
                  <a:tcPr/>
                </a:tc>
                <a:extLst>
                  <a:ext uri="{0D108BD9-81ED-4DB2-BD59-A6C34878D82A}">
                    <a16:rowId xmlns:a16="http://schemas.microsoft.com/office/drawing/2014/main" val="10006"/>
                  </a:ext>
                </a:extLst>
              </a:tr>
              <a:tr h="370840">
                <a:tc>
                  <a:txBody>
                    <a:bodyPr/>
                    <a:lstStyle/>
                    <a:p>
                      <a:pPr marR="0" algn="l" rtl="0">
                        <a:lnSpc>
                          <a:spcPct val="100000"/>
                        </a:lnSpc>
                        <a:spcBef>
                          <a:spcPts val="0"/>
                        </a:spcBef>
                        <a:spcAft>
                          <a:spcPts val="0"/>
                        </a:spcAft>
                        <a:buClr>
                          <a:srgbClr val="000000"/>
                        </a:buClr>
                        <a:buFont typeface="Arial"/>
                      </a:pPr>
                      <a:r>
                        <a:rPr lang="en-US" sz="1800" b="1" i="0" u="none" strike="noStrike" cap="none" dirty="0">
                          <a:solidFill>
                            <a:schemeClr val="dk2"/>
                          </a:solidFill>
                          <a:latin typeface="Courier New" panose="02070309020205020404" pitchFamily="49" charset="0"/>
                          <a:ea typeface="Arial"/>
                          <a:cs typeface="Courier New" panose="02070309020205020404" pitchFamily="49" charset="0"/>
                          <a:sym typeface="Arial"/>
                        </a:rPr>
                        <a:t>next()</a:t>
                      </a:r>
                    </a:p>
                  </a:txBody>
                  <a:tcPr/>
                </a:tc>
                <a:tc>
                  <a:txBody>
                    <a:bodyPr/>
                    <a:lstStyle/>
                    <a:p>
                      <a:r>
                        <a:rPr lang="en-US" dirty="0"/>
                        <a:t>Read a </a:t>
                      </a:r>
                      <a:r>
                        <a:rPr lang="en-US" sz="1800" b="1" i="0" u="none" strike="noStrike" cap="none" dirty="0">
                          <a:solidFill>
                            <a:schemeClr val="dk2"/>
                          </a:solidFill>
                          <a:latin typeface="Courier New" panose="02070309020205020404" pitchFamily="49" charset="0"/>
                          <a:ea typeface="Arial"/>
                          <a:cs typeface="Courier New" panose="02070309020205020404" pitchFamily="49" charset="0"/>
                          <a:sym typeface="Arial"/>
                        </a:rPr>
                        <a:t>String</a:t>
                      </a:r>
                      <a:r>
                        <a:rPr lang="en-US" dirty="0"/>
                        <a:t> that ends with a whitespace</a:t>
                      </a:r>
                      <a:r>
                        <a:rPr lang="en-US" baseline="0" dirty="0"/>
                        <a:t> character.</a:t>
                      </a:r>
                      <a:endParaRPr lang="en-US" dirty="0"/>
                    </a:p>
                  </a:txBody>
                  <a:tcPr/>
                </a:tc>
                <a:extLst>
                  <a:ext uri="{0D108BD9-81ED-4DB2-BD59-A6C34878D82A}">
                    <a16:rowId xmlns:a16="http://schemas.microsoft.com/office/drawing/2014/main" val="10007"/>
                  </a:ext>
                </a:extLst>
              </a:tr>
              <a:tr h="370840">
                <a:tc>
                  <a:txBody>
                    <a:bodyPr/>
                    <a:lstStyle/>
                    <a:p>
                      <a:pPr marR="0" algn="l" rtl="0">
                        <a:lnSpc>
                          <a:spcPct val="100000"/>
                        </a:lnSpc>
                        <a:spcBef>
                          <a:spcPts val="0"/>
                        </a:spcBef>
                        <a:spcAft>
                          <a:spcPts val="0"/>
                        </a:spcAft>
                        <a:buClr>
                          <a:srgbClr val="000000"/>
                        </a:buClr>
                        <a:buFont typeface="Arial"/>
                      </a:pPr>
                      <a:r>
                        <a:rPr lang="en-US" sz="1800" b="1" i="0" u="none" strike="noStrike" cap="none" dirty="0" err="1">
                          <a:solidFill>
                            <a:schemeClr val="dk2"/>
                          </a:solidFill>
                          <a:latin typeface="Courier New" panose="02070309020205020404" pitchFamily="49" charset="0"/>
                          <a:ea typeface="Arial"/>
                          <a:cs typeface="Courier New" panose="02070309020205020404" pitchFamily="49" charset="0"/>
                          <a:sym typeface="Arial"/>
                        </a:rPr>
                        <a:t>nextLine</a:t>
                      </a:r>
                      <a:r>
                        <a:rPr lang="en-US" sz="1800" b="1" i="0" u="none" strike="noStrike" cap="none" dirty="0">
                          <a:solidFill>
                            <a:schemeClr val="dk2"/>
                          </a:solidFill>
                          <a:latin typeface="Courier New" panose="02070309020205020404" pitchFamily="49" charset="0"/>
                          <a:ea typeface="Arial"/>
                          <a:cs typeface="Courier New" panose="02070309020205020404" pitchFamily="49" charset="0"/>
                          <a:sym typeface="Arial"/>
                        </a:rPr>
                        <a:t>()</a:t>
                      </a:r>
                    </a:p>
                  </a:txBody>
                  <a:tcPr/>
                </a:tc>
                <a:tc>
                  <a:txBody>
                    <a:bodyPr/>
                    <a:lstStyle/>
                    <a:p>
                      <a:r>
                        <a:rPr lang="en-US" dirty="0"/>
                        <a:t>Read an entire line of text (</a:t>
                      </a:r>
                      <a:r>
                        <a:rPr lang="en-US" sz="1800" b="1" i="0" u="none" strike="noStrike" cap="none" dirty="0">
                          <a:solidFill>
                            <a:schemeClr val="dk2"/>
                          </a:solidFill>
                          <a:latin typeface="Courier New" panose="02070309020205020404" pitchFamily="49" charset="0"/>
                          <a:ea typeface="Arial"/>
                          <a:cs typeface="Courier New" panose="02070309020205020404" pitchFamily="49" charset="0"/>
                          <a:sym typeface="Arial"/>
                        </a:rPr>
                        <a:t>String</a:t>
                      </a:r>
                      <a:r>
                        <a:rPr lang="en-US" dirty="0"/>
                        <a:t>).</a:t>
                      </a:r>
                    </a:p>
                  </a:txBody>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31927366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The Rules of Arithmetic</a:t>
            </a:r>
          </a:p>
        </p:txBody>
      </p:sp>
      <p:sp>
        <p:nvSpPr>
          <p:cNvPr id="3" name="Text Placeholder 2"/>
          <p:cNvSpPr>
            <a:spLocks noGrp="1"/>
          </p:cNvSpPr>
          <p:nvPr>
            <p:ph type="body" idx="1"/>
          </p:nvPr>
        </p:nvSpPr>
        <p:spPr/>
        <p:txBody>
          <a:bodyPr>
            <a:normAutofit/>
          </a:bodyPr>
          <a:lstStyle/>
          <a:p>
            <a:pPr marL="285750" lvl="0" indent="-285750">
              <a:lnSpc>
                <a:spcPct val="100000"/>
              </a:lnSpc>
              <a:spcBef>
                <a:spcPts val="818"/>
              </a:spcBef>
              <a:spcAft>
                <a:spcPct val="0"/>
              </a:spcAft>
            </a:pPr>
            <a:r>
              <a:rPr lang="en-US" kern="1200" dirty="0">
                <a:solidFill>
                  <a:schemeClr val="tx1"/>
                </a:solidFill>
              </a:rPr>
              <a:t>In Java, arithmetic follows two basic rules:</a:t>
            </a:r>
            <a:endParaRPr lang="en-US" dirty="0">
              <a:solidFill>
                <a:schemeClr val="tx1"/>
              </a:solidFill>
            </a:endParaRPr>
          </a:p>
          <a:p>
            <a:pPr marL="796290" lvl="1" indent="-342900">
              <a:lnSpc>
                <a:spcPct val="100000"/>
              </a:lnSpc>
              <a:spcBef>
                <a:spcPts val="533"/>
              </a:spcBef>
              <a:spcAft>
                <a:spcPct val="0"/>
              </a:spcAft>
              <a:buAutoNum type="arabicPeriod"/>
            </a:pPr>
            <a:r>
              <a:rPr lang="en-US" sz="1800" kern="1200" dirty="0">
                <a:solidFill>
                  <a:schemeClr val="tx1"/>
                </a:solidFill>
              </a:rPr>
              <a:t>Both operands must be of the same type.</a:t>
            </a:r>
          </a:p>
          <a:p>
            <a:pPr marL="796290" lvl="1" indent="-342900">
              <a:lnSpc>
                <a:spcPct val="100000"/>
              </a:lnSpc>
              <a:spcBef>
                <a:spcPts val="533"/>
              </a:spcBef>
              <a:spcAft>
                <a:spcPct val="0"/>
              </a:spcAft>
              <a:buAutoNum type="arabicPeriod"/>
            </a:pPr>
            <a:r>
              <a:rPr lang="en-US" sz="1800" kern="1200" dirty="0">
                <a:solidFill>
                  <a:schemeClr val="tx1"/>
                </a:solidFill>
              </a:rPr>
              <a:t>The answer has the same type as the operands.</a:t>
            </a:r>
          </a:p>
          <a:p>
            <a:pPr marL="285750" lvl="0" indent="-285750">
              <a:lnSpc>
                <a:spcPct val="100000"/>
              </a:lnSpc>
              <a:spcBef>
                <a:spcPts val="818"/>
              </a:spcBef>
              <a:spcAft>
                <a:spcPct val="0"/>
              </a:spcAft>
            </a:pPr>
            <a:r>
              <a:rPr lang="en-US" kern="1200" dirty="0">
                <a:solidFill>
                  <a:schemeClr val="tx1"/>
                </a:solidFill>
              </a:rPr>
              <a:t>If the operands are of different types (e.g., </a:t>
            </a:r>
            <a:r>
              <a:rPr lang="en-US" b="1" dirty="0" err="1">
                <a:solidFill>
                  <a:schemeClr val="tx1"/>
                </a:solidFill>
                <a:latin typeface="Courier New"/>
                <a:cs typeface="Courier New"/>
              </a:rPr>
              <a:t>int</a:t>
            </a:r>
            <a:r>
              <a:rPr lang="en-US" kern="1200" dirty="0">
                <a:solidFill>
                  <a:schemeClr val="tx1"/>
                </a:solidFill>
              </a:rPr>
              <a:t> and </a:t>
            </a:r>
            <a:r>
              <a:rPr lang="en-US" b="1" dirty="0">
                <a:solidFill>
                  <a:schemeClr val="tx1"/>
                </a:solidFill>
                <a:latin typeface="Courier New"/>
                <a:cs typeface="Courier New"/>
              </a:rPr>
              <a:t>float</a:t>
            </a:r>
            <a:r>
              <a:rPr lang="en-US" kern="1200" dirty="0">
                <a:solidFill>
                  <a:schemeClr val="tx1"/>
                </a:solidFill>
              </a:rPr>
              <a:t>), then they must be converted to the same type first.</a:t>
            </a:r>
          </a:p>
          <a:p>
            <a:pPr marL="739775" lvl="1" indent="-285750">
              <a:lnSpc>
                <a:spcPct val="100000"/>
              </a:lnSpc>
              <a:spcBef>
                <a:spcPts val="533"/>
              </a:spcBef>
              <a:spcAft>
                <a:spcPct val="0"/>
              </a:spcAft>
            </a:pPr>
            <a:r>
              <a:rPr lang="en-US" sz="1800" kern="1200" dirty="0">
                <a:solidFill>
                  <a:schemeClr val="tx1"/>
                </a:solidFill>
              </a:rPr>
              <a:t>Java automatically expands smaller types to larger types</a:t>
            </a:r>
          </a:p>
          <a:p>
            <a:pPr marL="285750" lvl="0" indent="-285750">
              <a:lnSpc>
                <a:spcPct val="100000"/>
              </a:lnSpc>
              <a:spcBef>
                <a:spcPts val="818"/>
              </a:spcBef>
              <a:spcAft>
                <a:spcPct val="0"/>
              </a:spcAft>
              <a:buFont typeface="Arial" pitchFamily="18" charset="2"/>
              <a:buChar char="●"/>
            </a:pPr>
            <a:r>
              <a:rPr lang="en-US" altLang="en-US" sz="2000" b="1" dirty="0">
                <a:solidFill>
                  <a:srgbClr val="FF0000"/>
                </a:solidFill>
                <a:latin typeface="Courier New"/>
                <a:cs typeface="Courier New"/>
              </a:rPr>
              <a:t>byte &lt; short &lt; </a:t>
            </a:r>
            <a:r>
              <a:rPr lang="en-US" altLang="en-US" sz="2000" b="1" dirty="0" err="1">
                <a:solidFill>
                  <a:srgbClr val="FF0000"/>
                </a:solidFill>
                <a:latin typeface="Courier New"/>
                <a:cs typeface="Courier New"/>
              </a:rPr>
              <a:t>int</a:t>
            </a:r>
            <a:r>
              <a:rPr lang="en-US" altLang="en-US" sz="2000" b="1" dirty="0">
                <a:solidFill>
                  <a:srgbClr val="FF0000"/>
                </a:solidFill>
                <a:latin typeface="Courier New"/>
                <a:cs typeface="Courier New"/>
              </a:rPr>
              <a:t> &lt; long &lt; float &lt; double</a:t>
            </a:r>
            <a:endParaRPr lang="en-US" sz="2000" b="1" dirty="0">
              <a:solidFill>
                <a:srgbClr val="FF0000"/>
              </a:solidFill>
              <a:latin typeface="Courier New"/>
              <a:cs typeface="Courier New"/>
            </a:endParaRPr>
          </a:p>
          <a:p>
            <a:endParaRPr lang="en-US" dirty="0"/>
          </a:p>
        </p:txBody>
      </p:sp>
    </p:spTree>
    <p:extLst>
      <p:ext uri="{BB962C8B-B14F-4D97-AF65-F5344CB8AC3E}">
        <p14:creationId xmlns:p14="http://schemas.microsoft.com/office/powerpoint/2010/main" val="1886280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ltLang="en-US" b="1" dirty="0"/>
              <a:t>Operator Precedence</a:t>
            </a:r>
            <a:endParaRPr lang="en-US" b="1" dirty="0"/>
          </a:p>
        </p:txBody>
      </p:sp>
      <p:sp>
        <p:nvSpPr>
          <p:cNvPr id="3" name="Text Placeholder 2"/>
          <p:cNvSpPr>
            <a:spLocks noGrp="1"/>
          </p:cNvSpPr>
          <p:nvPr>
            <p:ph type="body" idx="1"/>
          </p:nvPr>
        </p:nvSpPr>
        <p:spPr/>
        <p:txBody>
          <a:bodyPr>
            <a:normAutofit fontScale="62500" lnSpcReduction="20000"/>
          </a:bodyPr>
          <a:lstStyle/>
          <a:p>
            <a:pPr algn="just"/>
            <a:r>
              <a:rPr lang="en-US" altLang="en-US" dirty="0">
                <a:latin typeface="Courier New" pitchFamily="49" charset="0"/>
              </a:rPr>
              <a:t>(): parenthesis</a:t>
            </a:r>
          </a:p>
          <a:p>
            <a:pPr algn="just"/>
            <a:r>
              <a:rPr lang="en-US" altLang="en-US" dirty="0" err="1">
                <a:latin typeface="Courier New" pitchFamily="49" charset="0"/>
              </a:rPr>
              <a:t>var</a:t>
            </a:r>
            <a:r>
              <a:rPr lang="en-US" altLang="en-US" dirty="0">
                <a:latin typeface="Courier New" pitchFamily="49" charset="0"/>
              </a:rPr>
              <a:t>++, </a:t>
            </a:r>
            <a:r>
              <a:rPr lang="en-US" altLang="en-US" dirty="0" err="1">
                <a:latin typeface="Courier New" pitchFamily="49" charset="0"/>
              </a:rPr>
              <a:t>var</a:t>
            </a:r>
            <a:r>
              <a:rPr lang="en-US" altLang="en-US" dirty="0">
                <a:latin typeface="Courier New" pitchFamily="49" charset="0"/>
              </a:rPr>
              <a:t>--</a:t>
            </a:r>
          </a:p>
          <a:p>
            <a:pPr algn="just"/>
            <a:r>
              <a:rPr lang="en-US" altLang="en-US" dirty="0">
                <a:latin typeface="Courier New" pitchFamily="49" charset="0"/>
              </a:rPr>
              <a:t>+, - (Unary plus and minus), ++</a:t>
            </a:r>
            <a:r>
              <a:rPr lang="en-US" altLang="en-US" dirty="0" err="1">
                <a:latin typeface="Courier New" pitchFamily="49" charset="0"/>
              </a:rPr>
              <a:t>var</a:t>
            </a:r>
            <a:r>
              <a:rPr lang="en-US" altLang="en-US" dirty="0"/>
              <a:t>,</a:t>
            </a:r>
            <a:r>
              <a:rPr lang="en-US" altLang="en-US" dirty="0">
                <a:latin typeface="Courier New" pitchFamily="49" charset="0"/>
              </a:rPr>
              <a:t>--</a:t>
            </a:r>
            <a:r>
              <a:rPr lang="en-US" altLang="en-US" dirty="0" err="1">
                <a:latin typeface="Courier New" pitchFamily="49" charset="0"/>
              </a:rPr>
              <a:t>var</a:t>
            </a:r>
            <a:endParaRPr lang="en-US" altLang="en-US" dirty="0">
              <a:latin typeface="Courier New" pitchFamily="49" charset="0"/>
            </a:endParaRPr>
          </a:p>
          <a:p>
            <a:pPr algn="just"/>
            <a:r>
              <a:rPr lang="en-US" altLang="en-US" dirty="0">
                <a:latin typeface="Courier New" pitchFamily="49" charset="0"/>
              </a:rPr>
              <a:t>(type) Casting</a:t>
            </a:r>
          </a:p>
          <a:p>
            <a:pPr algn="just"/>
            <a:r>
              <a:rPr lang="en-US" altLang="en-US" dirty="0">
                <a:latin typeface="Courier New" pitchFamily="49" charset="0"/>
              </a:rPr>
              <a:t>! (Not)</a:t>
            </a:r>
          </a:p>
          <a:p>
            <a:pPr algn="just"/>
            <a:r>
              <a:rPr lang="en-US" altLang="en-US" dirty="0">
                <a:latin typeface="Courier New" pitchFamily="49" charset="0"/>
              </a:rPr>
              <a:t>*</a:t>
            </a:r>
            <a:r>
              <a:rPr lang="en-US" altLang="en-US" dirty="0"/>
              <a:t>,</a:t>
            </a:r>
            <a:r>
              <a:rPr lang="en-US" altLang="en-US" dirty="0">
                <a:latin typeface="Courier New" pitchFamily="49" charset="0"/>
              </a:rPr>
              <a:t> /</a:t>
            </a:r>
            <a:r>
              <a:rPr lang="en-US" altLang="en-US" dirty="0"/>
              <a:t>,</a:t>
            </a:r>
            <a:r>
              <a:rPr lang="en-US" altLang="en-US" dirty="0">
                <a:latin typeface="Courier New" pitchFamily="49" charset="0"/>
              </a:rPr>
              <a:t> % (Multiplication, division, and remainder)</a:t>
            </a:r>
          </a:p>
          <a:p>
            <a:pPr algn="just"/>
            <a:r>
              <a:rPr lang="en-US" altLang="en-US" dirty="0">
                <a:latin typeface="Courier New" pitchFamily="49" charset="0"/>
              </a:rPr>
              <a:t>+</a:t>
            </a:r>
            <a:r>
              <a:rPr lang="en-US" altLang="en-US" dirty="0"/>
              <a:t>,</a:t>
            </a:r>
            <a:r>
              <a:rPr lang="en-US" altLang="en-US" dirty="0">
                <a:latin typeface="Courier New" pitchFamily="49" charset="0"/>
              </a:rPr>
              <a:t> - (Binary addition and subtraction)</a:t>
            </a:r>
          </a:p>
          <a:p>
            <a:pPr algn="just"/>
            <a:r>
              <a:rPr lang="en-US" altLang="en-US" dirty="0">
                <a:latin typeface="Courier New" pitchFamily="49" charset="0"/>
              </a:rPr>
              <a:t>&lt;</a:t>
            </a:r>
            <a:r>
              <a:rPr lang="en-US" altLang="en-US" dirty="0"/>
              <a:t>,</a:t>
            </a:r>
            <a:r>
              <a:rPr lang="en-US" altLang="en-US" dirty="0">
                <a:latin typeface="Courier New" pitchFamily="49" charset="0"/>
              </a:rPr>
              <a:t> &lt;=</a:t>
            </a:r>
            <a:r>
              <a:rPr lang="en-US" altLang="en-US" dirty="0"/>
              <a:t>,</a:t>
            </a:r>
            <a:r>
              <a:rPr lang="en-US" altLang="en-US" dirty="0">
                <a:latin typeface="Courier New" pitchFamily="49" charset="0"/>
              </a:rPr>
              <a:t> &gt;</a:t>
            </a:r>
            <a:r>
              <a:rPr lang="en-US" altLang="en-US" dirty="0"/>
              <a:t>,</a:t>
            </a:r>
            <a:r>
              <a:rPr lang="en-US" altLang="en-US" dirty="0">
                <a:latin typeface="Courier New" pitchFamily="49" charset="0"/>
              </a:rPr>
              <a:t> &gt;= (Comparison)</a:t>
            </a:r>
          </a:p>
          <a:p>
            <a:pPr algn="just"/>
            <a:r>
              <a:rPr lang="en-US" altLang="en-US" dirty="0">
                <a:latin typeface="Courier New" pitchFamily="49" charset="0"/>
              </a:rPr>
              <a:t>==</a:t>
            </a:r>
            <a:r>
              <a:rPr lang="en-US" altLang="en-US" dirty="0"/>
              <a:t>,</a:t>
            </a:r>
            <a:r>
              <a:rPr lang="en-US" altLang="en-US" dirty="0">
                <a:latin typeface="Courier New" pitchFamily="49" charset="0"/>
              </a:rPr>
              <a:t> !=; (Equality) </a:t>
            </a:r>
          </a:p>
          <a:p>
            <a:pPr algn="just"/>
            <a:r>
              <a:rPr lang="en-US" altLang="en-US" dirty="0">
                <a:latin typeface="Courier New" pitchFamily="49" charset="0"/>
              </a:rPr>
              <a:t>^ (Exclusive OR) </a:t>
            </a:r>
          </a:p>
          <a:p>
            <a:pPr algn="just"/>
            <a:r>
              <a:rPr lang="en-US" altLang="en-US" dirty="0">
                <a:latin typeface="Courier New" pitchFamily="49" charset="0"/>
              </a:rPr>
              <a:t>&amp;&amp; (Conditional AND) Short-circuit AND</a:t>
            </a:r>
          </a:p>
          <a:p>
            <a:pPr algn="just"/>
            <a:r>
              <a:rPr lang="en-US" altLang="en-US" dirty="0">
                <a:latin typeface="Courier New" pitchFamily="49" charset="0"/>
              </a:rPr>
              <a:t>|| (Conditional OR) Short-circuit OR</a:t>
            </a:r>
          </a:p>
          <a:p>
            <a:pPr algn="just"/>
            <a:r>
              <a:rPr lang="en-US" altLang="en-US" dirty="0">
                <a:latin typeface="Courier New" pitchFamily="49" charset="0"/>
              </a:rPr>
              <a:t>=</a:t>
            </a:r>
            <a:r>
              <a:rPr lang="en-US" altLang="en-US" dirty="0"/>
              <a:t>,</a:t>
            </a:r>
            <a:r>
              <a:rPr lang="en-US" altLang="en-US" dirty="0">
                <a:latin typeface="Courier New" pitchFamily="49" charset="0"/>
              </a:rPr>
              <a:t> +=</a:t>
            </a:r>
            <a:r>
              <a:rPr lang="en-US" altLang="en-US" dirty="0"/>
              <a:t>,</a:t>
            </a:r>
            <a:r>
              <a:rPr lang="en-US" altLang="en-US" dirty="0">
                <a:latin typeface="Courier New" pitchFamily="49" charset="0"/>
              </a:rPr>
              <a:t> -=</a:t>
            </a:r>
            <a:r>
              <a:rPr lang="en-US" altLang="en-US" dirty="0"/>
              <a:t>,</a:t>
            </a:r>
            <a:r>
              <a:rPr lang="en-US" altLang="en-US" dirty="0">
                <a:latin typeface="Courier New" pitchFamily="49" charset="0"/>
              </a:rPr>
              <a:t> *=</a:t>
            </a:r>
            <a:r>
              <a:rPr lang="en-US" altLang="en-US" dirty="0"/>
              <a:t>,</a:t>
            </a:r>
            <a:r>
              <a:rPr lang="en-US" altLang="en-US" dirty="0">
                <a:latin typeface="Courier New" pitchFamily="49" charset="0"/>
              </a:rPr>
              <a:t> /=</a:t>
            </a:r>
            <a:r>
              <a:rPr lang="en-US" altLang="en-US" dirty="0"/>
              <a:t>,</a:t>
            </a:r>
            <a:r>
              <a:rPr lang="en-US" altLang="en-US" dirty="0">
                <a:latin typeface="Courier New" pitchFamily="49" charset="0"/>
              </a:rPr>
              <a:t> %= (Assignment operator – </a:t>
            </a:r>
            <a:r>
              <a:rPr lang="en-US" altLang="en-US" b="1" dirty="0">
                <a:latin typeface="Courier New" pitchFamily="49" charset="0"/>
              </a:rPr>
              <a:t>right associative</a:t>
            </a:r>
            <a:r>
              <a:rPr lang="en-US" altLang="en-US" dirty="0">
                <a:latin typeface="Courier New" pitchFamily="49" charset="0"/>
              </a:rPr>
              <a:t>)</a:t>
            </a:r>
          </a:p>
          <a:p>
            <a:pPr algn="just"/>
            <a:r>
              <a:rPr lang="en-US" altLang="en-US" sz="2800" dirty="0">
                <a:cs typeface="Times New Roman" pitchFamily="18" charset="0"/>
              </a:rPr>
              <a:t>All binary operators except assignment operators are left-associative.</a:t>
            </a:r>
          </a:p>
          <a:p>
            <a:pPr algn="just"/>
            <a:r>
              <a:rPr lang="en-US" altLang="en-US" sz="2800" dirty="0">
                <a:cs typeface="Times New Roman" pitchFamily="18" charset="0"/>
              </a:rPr>
              <a:t>left-associative: operands are grouped left to right, </a:t>
            </a:r>
          </a:p>
          <a:p>
            <a:pPr marL="571500" lvl="1" indent="0" algn="just">
              <a:buNone/>
            </a:pPr>
            <a:r>
              <a:rPr lang="en-US" altLang="en-US" sz="2900" dirty="0">
                <a:cs typeface="Times New Roman" pitchFamily="18" charset="0"/>
              </a:rPr>
              <a:t>a + b + c + d is equivalent to ((a + b) + c) + d</a:t>
            </a:r>
          </a:p>
          <a:p>
            <a:pPr marL="571500" lvl="1" indent="0" algn="just">
              <a:buNone/>
            </a:pPr>
            <a:endParaRPr lang="en-US" altLang="en-US" sz="2900" dirty="0">
              <a:latin typeface="Courier New" pitchFamily="49" charset="0"/>
            </a:endParaRPr>
          </a:p>
          <a:p>
            <a:endParaRPr lang="en-US" dirty="0"/>
          </a:p>
        </p:txBody>
      </p:sp>
    </p:spTree>
    <p:extLst>
      <p:ext uri="{BB962C8B-B14F-4D97-AF65-F5344CB8AC3E}">
        <p14:creationId xmlns:p14="http://schemas.microsoft.com/office/powerpoint/2010/main" val="31793843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99EC283B-C1F3-1D76-23C7-250A27BA6148}"/>
              </a:ext>
            </a:extLst>
          </p:cNvPr>
          <p:cNvSpPr>
            <a:spLocks noGrp="1"/>
          </p:cNvSpPr>
          <p:nvPr>
            <p:ph type="body" idx="1"/>
          </p:nvPr>
        </p:nvSpPr>
        <p:spPr/>
        <p:txBody>
          <a:bodyPr>
            <a:normAutofit fontScale="92500" lnSpcReduction="10000"/>
          </a:bodyPr>
          <a:lstStyle/>
          <a:p>
            <a:pPr marL="0" marR="0">
              <a:buNone/>
            </a:pPr>
            <a:r>
              <a:rPr lang="en-US" sz="1800" dirty="0">
                <a:solidFill>
                  <a:srgbClr val="000000"/>
                </a:solidFill>
                <a:effectLst/>
                <a:latin typeface="Consolas" panose="020B0609020204030204" pitchFamily="49" charset="0"/>
                <a:ea typeface="Times New Roman" panose="02020603050405020304" pitchFamily="18" charset="0"/>
              </a:rPr>
              <a:t>		</a:t>
            </a:r>
            <a:r>
              <a:rPr lang="en-US" sz="1800" b="1" dirty="0">
                <a:solidFill>
                  <a:srgbClr val="7F0055"/>
                </a:solidFill>
                <a:effectLst/>
                <a:latin typeface="Consolas" panose="020B0609020204030204" pitchFamily="49" charset="0"/>
                <a:ea typeface="Times New Roman" panose="02020603050405020304" pitchFamily="18" charset="0"/>
              </a:rPr>
              <a:t>int</a:t>
            </a:r>
            <a:r>
              <a:rPr lang="en-US" sz="1800" dirty="0">
                <a:solidFill>
                  <a:srgbClr val="000000"/>
                </a:solidFill>
                <a:effectLst/>
                <a:latin typeface="Consolas" panose="020B0609020204030204" pitchFamily="49" charset="0"/>
                <a:ea typeface="Times New Roman" panose="02020603050405020304" pitchFamily="18" charset="0"/>
              </a:rPr>
              <a:t> </a:t>
            </a:r>
            <a:r>
              <a:rPr lang="en-US" sz="1800" dirty="0">
                <a:solidFill>
                  <a:srgbClr val="6A3E3E"/>
                </a:solidFill>
                <a:effectLst/>
                <a:latin typeface="Consolas" panose="020B0609020204030204" pitchFamily="49" charset="0"/>
                <a:ea typeface="Times New Roman" panose="02020603050405020304" pitchFamily="18" charset="0"/>
              </a:rPr>
              <a:t>income</a:t>
            </a:r>
            <a:r>
              <a:rPr lang="en-US" sz="1800" dirty="0">
                <a:solidFill>
                  <a:srgbClr val="000000"/>
                </a:solidFill>
                <a:effectLst/>
                <a:latin typeface="Consolas" panose="020B0609020204030204" pitchFamily="49" charset="0"/>
                <a:ea typeface="Times New Roman" panose="02020603050405020304" pitchFamily="18" charset="0"/>
              </a:rPr>
              <a:t> = 20000;</a:t>
            </a:r>
            <a:endParaRPr lang="en-US" sz="2800" dirty="0">
              <a:effectLst/>
              <a:latin typeface="Times New Roman" panose="02020603050405020304" pitchFamily="18" charset="0"/>
              <a:ea typeface="Times New Roman" panose="02020603050405020304" pitchFamily="18" charset="0"/>
            </a:endParaRPr>
          </a:p>
          <a:p>
            <a:pPr marL="0" marR="0">
              <a:buNone/>
            </a:pPr>
            <a:r>
              <a:rPr lang="en-US" sz="1800" dirty="0">
                <a:solidFill>
                  <a:srgbClr val="000000"/>
                </a:solidFill>
                <a:effectLst/>
                <a:latin typeface="Consolas" panose="020B0609020204030204" pitchFamily="49" charset="0"/>
                <a:ea typeface="Times New Roman" panose="02020603050405020304" pitchFamily="18" charset="0"/>
              </a:rPr>
              <a:t>		</a:t>
            </a:r>
            <a:r>
              <a:rPr lang="en-US" sz="1800" b="1" dirty="0">
                <a:solidFill>
                  <a:srgbClr val="7F0055"/>
                </a:solidFill>
                <a:effectLst/>
                <a:latin typeface="Consolas" panose="020B0609020204030204" pitchFamily="49" charset="0"/>
                <a:ea typeface="Times New Roman" panose="02020603050405020304" pitchFamily="18" charset="0"/>
              </a:rPr>
              <a:t>int</a:t>
            </a:r>
            <a:r>
              <a:rPr lang="en-US" sz="1800" dirty="0">
                <a:solidFill>
                  <a:srgbClr val="000000"/>
                </a:solidFill>
                <a:effectLst/>
                <a:latin typeface="Consolas" panose="020B0609020204030204" pitchFamily="49" charset="0"/>
                <a:ea typeface="Times New Roman" panose="02020603050405020304" pitchFamily="18" charset="0"/>
              </a:rPr>
              <a:t> </a:t>
            </a:r>
            <a:r>
              <a:rPr lang="en-US" sz="1800" dirty="0">
                <a:solidFill>
                  <a:srgbClr val="6A3E3E"/>
                </a:solidFill>
                <a:effectLst/>
                <a:latin typeface="Consolas" panose="020B0609020204030204" pitchFamily="49" charset="0"/>
                <a:ea typeface="Times New Roman" panose="02020603050405020304" pitchFamily="18" charset="0"/>
              </a:rPr>
              <a:t>deductions</a:t>
            </a:r>
            <a:r>
              <a:rPr lang="en-US" sz="1800" dirty="0">
                <a:solidFill>
                  <a:srgbClr val="000000"/>
                </a:solidFill>
                <a:effectLst/>
                <a:latin typeface="Consolas" panose="020B0609020204030204" pitchFamily="49" charset="0"/>
                <a:ea typeface="Times New Roman" panose="02020603050405020304" pitchFamily="18" charset="0"/>
              </a:rPr>
              <a:t> = 5000;</a:t>
            </a:r>
            <a:endParaRPr lang="en-US" sz="2800" dirty="0">
              <a:effectLst/>
              <a:latin typeface="Times New Roman" panose="02020603050405020304" pitchFamily="18" charset="0"/>
              <a:ea typeface="Times New Roman" panose="02020603050405020304" pitchFamily="18" charset="0"/>
            </a:endParaRPr>
          </a:p>
          <a:p>
            <a:pPr marL="0" marR="0">
              <a:buNone/>
            </a:pPr>
            <a:r>
              <a:rPr lang="en-US" sz="1800" dirty="0">
                <a:solidFill>
                  <a:srgbClr val="000000"/>
                </a:solidFill>
                <a:effectLst/>
                <a:latin typeface="Consolas" panose="020B0609020204030204" pitchFamily="49" charset="0"/>
                <a:ea typeface="Times New Roman" panose="02020603050405020304" pitchFamily="18" charset="0"/>
              </a:rPr>
              <a:t>		</a:t>
            </a:r>
            <a:r>
              <a:rPr lang="en-US" sz="1800" b="1" dirty="0">
                <a:solidFill>
                  <a:srgbClr val="7F0055"/>
                </a:solidFill>
                <a:effectLst/>
                <a:latin typeface="Consolas" panose="020B0609020204030204" pitchFamily="49" charset="0"/>
                <a:ea typeface="Times New Roman" panose="02020603050405020304" pitchFamily="18" charset="0"/>
              </a:rPr>
              <a:t>double</a:t>
            </a:r>
            <a:r>
              <a:rPr lang="en-US" sz="1800" dirty="0">
                <a:solidFill>
                  <a:srgbClr val="000000"/>
                </a:solidFill>
                <a:effectLst/>
                <a:latin typeface="Consolas" panose="020B0609020204030204" pitchFamily="49" charset="0"/>
                <a:ea typeface="Times New Roman" panose="02020603050405020304" pitchFamily="18" charset="0"/>
              </a:rPr>
              <a:t> </a:t>
            </a:r>
            <a:r>
              <a:rPr lang="en-US" sz="1800" dirty="0" err="1">
                <a:solidFill>
                  <a:srgbClr val="6A3E3E"/>
                </a:solidFill>
                <a:effectLst/>
                <a:latin typeface="Consolas" panose="020B0609020204030204" pitchFamily="49" charset="0"/>
                <a:ea typeface="Times New Roman" panose="02020603050405020304" pitchFamily="18" charset="0"/>
              </a:rPr>
              <a:t>tax_rate</a:t>
            </a:r>
            <a:r>
              <a:rPr lang="en-US" sz="1800" dirty="0">
                <a:solidFill>
                  <a:srgbClr val="000000"/>
                </a:solidFill>
                <a:effectLst/>
                <a:latin typeface="Consolas" panose="020B0609020204030204" pitchFamily="49" charset="0"/>
                <a:ea typeface="Times New Roman" panose="02020603050405020304" pitchFamily="18" charset="0"/>
              </a:rPr>
              <a:t> = 1.0;</a:t>
            </a:r>
            <a:endParaRPr lang="en-US" sz="2800" dirty="0">
              <a:effectLst/>
              <a:latin typeface="Times New Roman" panose="02020603050405020304" pitchFamily="18" charset="0"/>
              <a:ea typeface="Times New Roman" panose="02020603050405020304" pitchFamily="18" charset="0"/>
            </a:endParaRPr>
          </a:p>
          <a:p>
            <a:pPr marL="0" marR="0">
              <a:buNone/>
            </a:pPr>
            <a:r>
              <a:rPr lang="en-US" sz="1800" dirty="0">
                <a:solidFill>
                  <a:srgbClr val="000000"/>
                </a:solidFill>
                <a:effectLst/>
                <a:latin typeface="Consolas" panose="020B0609020204030204" pitchFamily="49" charset="0"/>
                <a:ea typeface="Times New Roman" panose="02020603050405020304" pitchFamily="18" charset="0"/>
              </a:rPr>
              <a:t>		</a:t>
            </a:r>
            <a:r>
              <a:rPr lang="en-US" sz="1800" b="1" dirty="0">
                <a:solidFill>
                  <a:srgbClr val="7F0055"/>
                </a:solidFill>
                <a:effectLst/>
                <a:latin typeface="Consolas" panose="020B0609020204030204" pitchFamily="49" charset="0"/>
                <a:ea typeface="Times New Roman" panose="02020603050405020304" pitchFamily="18" charset="0"/>
              </a:rPr>
              <a:t>if</a:t>
            </a:r>
            <a:r>
              <a:rPr lang="en-US" sz="1800" dirty="0">
                <a:solidFill>
                  <a:srgbClr val="000000"/>
                </a:solidFill>
                <a:effectLst/>
                <a:latin typeface="Consolas" panose="020B0609020204030204" pitchFamily="49" charset="0"/>
                <a:ea typeface="Times New Roman" panose="02020603050405020304" pitchFamily="18" charset="0"/>
              </a:rPr>
              <a:t> (</a:t>
            </a:r>
            <a:r>
              <a:rPr lang="en-US" sz="1800" dirty="0">
                <a:solidFill>
                  <a:srgbClr val="6A3E3E"/>
                </a:solidFill>
                <a:effectLst/>
                <a:latin typeface="Consolas" panose="020B0609020204030204" pitchFamily="49" charset="0"/>
                <a:ea typeface="Times New Roman" panose="02020603050405020304" pitchFamily="18" charset="0"/>
              </a:rPr>
              <a:t>income</a:t>
            </a:r>
            <a:r>
              <a:rPr lang="en-US" sz="1800" dirty="0">
                <a:solidFill>
                  <a:srgbClr val="000000"/>
                </a:solidFill>
                <a:effectLst/>
                <a:latin typeface="Consolas" panose="020B0609020204030204" pitchFamily="49" charset="0"/>
                <a:ea typeface="Times New Roman" panose="02020603050405020304" pitchFamily="18" charset="0"/>
              </a:rPr>
              <a:t> &gt; 25000){</a:t>
            </a:r>
            <a:endParaRPr lang="en-US" sz="2800" dirty="0">
              <a:effectLst/>
              <a:latin typeface="Times New Roman" panose="02020603050405020304" pitchFamily="18" charset="0"/>
              <a:ea typeface="Times New Roman" panose="02020603050405020304" pitchFamily="18" charset="0"/>
            </a:endParaRPr>
          </a:p>
          <a:p>
            <a:pPr marL="0" marR="0">
              <a:buNone/>
            </a:pPr>
            <a:r>
              <a:rPr lang="en-US" sz="1800" dirty="0">
                <a:solidFill>
                  <a:srgbClr val="000000"/>
                </a:solidFill>
                <a:effectLst/>
                <a:latin typeface="Consolas" panose="020B0609020204030204" pitchFamily="49" charset="0"/>
                <a:ea typeface="Times New Roman" panose="02020603050405020304" pitchFamily="18" charset="0"/>
              </a:rPr>
              <a:t>			</a:t>
            </a:r>
            <a:r>
              <a:rPr lang="en-US" sz="1800" b="1" dirty="0">
                <a:solidFill>
                  <a:srgbClr val="7F0055"/>
                </a:solidFill>
                <a:effectLst/>
                <a:latin typeface="Consolas" panose="020B0609020204030204" pitchFamily="49" charset="0"/>
                <a:ea typeface="Times New Roman" panose="02020603050405020304" pitchFamily="18" charset="0"/>
              </a:rPr>
              <a:t>if</a:t>
            </a:r>
            <a:r>
              <a:rPr lang="en-US" sz="1800" dirty="0">
                <a:solidFill>
                  <a:srgbClr val="000000"/>
                </a:solidFill>
                <a:effectLst/>
                <a:latin typeface="Consolas" panose="020B0609020204030204" pitchFamily="49" charset="0"/>
                <a:ea typeface="Times New Roman" panose="02020603050405020304" pitchFamily="18" charset="0"/>
              </a:rPr>
              <a:t> (</a:t>
            </a:r>
            <a:r>
              <a:rPr lang="en-US" sz="1800" dirty="0">
                <a:solidFill>
                  <a:srgbClr val="6A3E3E"/>
                </a:solidFill>
                <a:effectLst/>
                <a:latin typeface="Consolas" panose="020B0609020204030204" pitchFamily="49" charset="0"/>
                <a:ea typeface="Times New Roman" panose="02020603050405020304" pitchFamily="18" charset="0"/>
              </a:rPr>
              <a:t>deductions</a:t>
            </a:r>
            <a:r>
              <a:rPr lang="en-US" sz="1800" dirty="0">
                <a:solidFill>
                  <a:srgbClr val="000000"/>
                </a:solidFill>
                <a:effectLst/>
                <a:latin typeface="Consolas" panose="020B0609020204030204" pitchFamily="49" charset="0"/>
                <a:ea typeface="Times New Roman" panose="02020603050405020304" pitchFamily="18" charset="0"/>
              </a:rPr>
              <a:t> &lt; 3500){</a:t>
            </a:r>
            <a:endParaRPr lang="en-US" sz="2800" dirty="0">
              <a:effectLst/>
              <a:latin typeface="Times New Roman" panose="02020603050405020304" pitchFamily="18" charset="0"/>
              <a:ea typeface="Times New Roman" panose="02020603050405020304" pitchFamily="18" charset="0"/>
            </a:endParaRPr>
          </a:p>
          <a:p>
            <a:pPr marL="0" marR="0">
              <a:buNone/>
            </a:pPr>
            <a:r>
              <a:rPr lang="en-US" sz="1800" dirty="0">
                <a:solidFill>
                  <a:srgbClr val="000000"/>
                </a:solidFill>
                <a:effectLst/>
                <a:latin typeface="Consolas" panose="020B0609020204030204" pitchFamily="49" charset="0"/>
                <a:ea typeface="Times New Roman" panose="02020603050405020304" pitchFamily="18" charset="0"/>
              </a:rPr>
              <a:t>				</a:t>
            </a:r>
            <a:r>
              <a:rPr lang="en-US" sz="1800" dirty="0" err="1">
                <a:solidFill>
                  <a:srgbClr val="6A3E3E"/>
                </a:solidFill>
                <a:effectLst/>
                <a:latin typeface="Consolas" panose="020B0609020204030204" pitchFamily="49" charset="0"/>
                <a:ea typeface="Times New Roman" panose="02020603050405020304" pitchFamily="18" charset="0"/>
              </a:rPr>
              <a:t>tax_rate</a:t>
            </a:r>
            <a:r>
              <a:rPr lang="en-US" sz="1800" dirty="0">
                <a:solidFill>
                  <a:srgbClr val="000000"/>
                </a:solidFill>
                <a:effectLst/>
                <a:latin typeface="Consolas" panose="020B0609020204030204" pitchFamily="49" charset="0"/>
                <a:ea typeface="Times New Roman" panose="02020603050405020304" pitchFamily="18" charset="0"/>
              </a:rPr>
              <a:t> = 1.035;	</a:t>
            </a:r>
            <a:endParaRPr lang="en-US" sz="2800" dirty="0">
              <a:effectLst/>
              <a:latin typeface="Times New Roman" panose="02020603050405020304" pitchFamily="18" charset="0"/>
              <a:ea typeface="Times New Roman" panose="02020603050405020304" pitchFamily="18" charset="0"/>
            </a:endParaRPr>
          </a:p>
          <a:p>
            <a:pPr marL="0" marR="0">
              <a:buNone/>
            </a:pPr>
            <a:r>
              <a:rPr lang="en-US" sz="1800" dirty="0">
                <a:solidFill>
                  <a:srgbClr val="000000"/>
                </a:solidFill>
                <a:effectLst/>
                <a:latin typeface="Consolas" panose="020B0609020204030204" pitchFamily="49" charset="0"/>
                <a:ea typeface="Times New Roman" panose="02020603050405020304" pitchFamily="18" charset="0"/>
              </a:rPr>
              <a:t>			}</a:t>
            </a:r>
            <a:endParaRPr lang="en-US" sz="2800" dirty="0">
              <a:effectLst/>
              <a:latin typeface="Times New Roman" panose="02020603050405020304" pitchFamily="18" charset="0"/>
              <a:ea typeface="Times New Roman" panose="02020603050405020304" pitchFamily="18" charset="0"/>
            </a:endParaRPr>
          </a:p>
          <a:p>
            <a:pPr marL="0" marR="0">
              <a:buNone/>
            </a:pPr>
            <a:r>
              <a:rPr lang="en-US" sz="1800" dirty="0">
                <a:solidFill>
                  <a:srgbClr val="000000"/>
                </a:solidFill>
                <a:effectLst/>
                <a:latin typeface="Consolas" panose="020B0609020204030204" pitchFamily="49" charset="0"/>
                <a:ea typeface="Times New Roman" panose="02020603050405020304" pitchFamily="18" charset="0"/>
              </a:rPr>
              <a:t>		</a:t>
            </a:r>
            <a:r>
              <a:rPr lang="en-US" sz="1800" b="1" dirty="0">
                <a:solidFill>
                  <a:srgbClr val="7F0055"/>
                </a:solidFill>
                <a:effectLst/>
                <a:latin typeface="Consolas" panose="020B0609020204030204" pitchFamily="49" charset="0"/>
                <a:ea typeface="Times New Roman" panose="02020603050405020304" pitchFamily="18" charset="0"/>
              </a:rPr>
              <a:t>else</a:t>
            </a:r>
            <a:endParaRPr lang="en-US" sz="2800" dirty="0">
              <a:effectLst/>
              <a:latin typeface="Times New Roman" panose="02020603050405020304" pitchFamily="18" charset="0"/>
              <a:ea typeface="Times New Roman" panose="02020603050405020304" pitchFamily="18" charset="0"/>
            </a:endParaRPr>
          </a:p>
          <a:p>
            <a:pPr marL="0" marR="0">
              <a:buNone/>
            </a:pPr>
            <a:r>
              <a:rPr lang="en-US" sz="1800" dirty="0">
                <a:solidFill>
                  <a:srgbClr val="000000"/>
                </a:solidFill>
                <a:effectLst/>
                <a:latin typeface="Consolas" panose="020B0609020204030204" pitchFamily="49" charset="0"/>
                <a:ea typeface="Times New Roman" panose="02020603050405020304" pitchFamily="18" charset="0"/>
              </a:rPr>
              <a:t>			</a:t>
            </a:r>
            <a:r>
              <a:rPr lang="en-US" sz="1800" dirty="0" err="1">
                <a:solidFill>
                  <a:srgbClr val="6A3E3E"/>
                </a:solidFill>
                <a:effectLst/>
                <a:latin typeface="Consolas" panose="020B0609020204030204" pitchFamily="49" charset="0"/>
                <a:ea typeface="Times New Roman" panose="02020603050405020304" pitchFamily="18" charset="0"/>
              </a:rPr>
              <a:t>tax_rate</a:t>
            </a:r>
            <a:r>
              <a:rPr lang="en-US" sz="1800" dirty="0">
                <a:solidFill>
                  <a:srgbClr val="000000"/>
                </a:solidFill>
                <a:effectLst/>
                <a:latin typeface="Consolas" panose="020B0609020204030204" pitchFamily="49" charset="0"/>
                <a:ea typeface="Times New Roman" panose="02020603050405020304" pitchFamily="18" charset="0"/>
              </a:rPr>
              <a:t> = 1.05;</a:t>
            </a:r>
            <a:endParaRPr lang="en-US" sz="2800" dirty="0">
              <a:effectLst/>
              <a:latin typeface="Times New Roman" panose="02020603050405020304" pitchFamily="18" charset="0"/>
              <a:ea typeface="Times New Roman" panose="02020603050405020304" pitchFamily="18" charset="0"/>
            </a:endParaRPr>
          </a:p>
          <a:p>
            <a:pPr marL="0" marR="0">
              <a:buNone/>
            </a:pPr>
            <a:r>
              <a:rPr lang="en-US" sz="1800" dirty="0">
                <a:solidFill>
                  <a:srgbClr val="000000"/>
                </a:solidFill>
                <a:effectLst/>
                <a:latin typeface="Consolas" panose="020B0609020204030204" pitchFamily="49" charset="0"/>
                <a:ea typeface="Times New Roman" panose="02020603050405020304" pitchFamily="18" charset="0"/>
              </a:rPr>
              <a:t>		}</a:t>
            </a:r>
            <a:endParaRPr lang="en-US" sz="2800" dirty="0">
              <a:effectLst/>
              <a:latin typeface="Times New Roman" panose="02020603050405020304" pitchFamily="18" charset="0"/>
              <a:ea typeface="Times New Roman" panose="02020603050405020304" pitchFamily="18" charset="0"/>
            </a:endParaRPr>
          </a:p>
          <a:p>
            <a:pPr marL="0" marR="0">
              <a:buNone/>
            </a:pPr>
            <a:r>
              <a:rPr lang="en-US" sz="1800" dirty="0">
                <a:solidFill>
                  <a:srgbClr val="000000"/>
                </a:solidFill>
                <a:effectLst/>
                <a:latin typeface="Consolas" panose="020B0609020204030204" pitchFamily="49" charset="0"/>
                <a:ea typeface="Times New Roman" panose="02020603050405020304" pitchFamily="18" charset="0"/>
              </a:rPr>
              <a:t>		</a:t>
            </a:r>
            <a:r>
              <a:rPr lang="en-US" sz="1800" dirty="0" err="1">
                <a:solidFill>
                  <a:srgbClr val="000000"/>
                </a:solidFill>
                <a:effectLst/>
                <a:latin typeface="Consolas" panose="020B0609020204030204" pitchFamily="49" charset="0"/>
                <a:ea typeface="Times New Roman" panose="02020603050405020304" pitchFamily="18" charset="0"/>
              </a:rPr>
              <a:t>System.</a:t>
            </a:r>
            <a:r>
              <a:rPr lang="en-US" sz="1800" b="1" i="1" dirty="0" err="1">
                <a:solidFill>
                  <a:srgbClr val="0000C0"/>
                </a:solidFill>
                <a:effectLst/>
                <a:latin typeface="Consolas" panose="020B0609020204030204" pitchFamily="49" charset="0"/>
                <a:ea typeface="Times New Roman" panose="02020603050405020304" pitchFamily="18" charset="0"/>
              </a:rPr>
              <a:t>out</a:t>
            </a:r>
            <a:r>
              <a:rPr lang="en-US" sz="1800" dirty="0" err="1">
                <a:solidFill>
                  <a:srgbClr val="000000"/>
                </a:solidFill>
                <a:effectLst/>
                <a:latin typeface="Consolas" panose="020B0609020204030204" pitchFamily="49" charset="0"/>
                <a:ea typeface="Times New Roman" panose="02020603050405020304" pitchFamily="18" charset="0"/>
              </a:rPr>
              <a:t>.println</a:t>
            </a:r>
            <a:r>
              <a:rPr lang="en-US" sz="1800" dirty="0">
                <a:solidFill>
                  <a:srgbClr val="000000"/>
                </a:solidFill>
                <a:effectLst/>
                <a:latin typeface="Consolas" panose="020B0609020204030204" pitchFamily="49" charset="0"/>
                <a:ea typeface="Times New Roman" panose="02020603050405020304" pitchFamily="18" charset="0"/>
              </a:rPr>
              <a:t>(</a:t>
            </a:r>
            <a:r>
              <a:rPr lang="en-US" sz="1800" dirty="0" err="1">
                <a:solidFill>
                  <a:srgbClr val="6A3E3E"/>
                </a:solidFill>
                <a:effectLst/>
                <a:latin typeface="Consolas" panose="020B0609020204030204" pitchFamily="49" charset="0"/>
                <a:ea typeface="Times New Roman" panose="02020603050405020304" pitchFamily="18" charset="0"/>
              </a:rPr>
              <a:t>tax_rate</a:t>
            </a:r>
            <a:r>
              <a:rPr lang="en-US" sz="1800" dirty="0">
                <a:solidFill>
                  <a:srgbClr val="000000"/>
                </a:solidFill>
                <a:effectLst/>
                <a:latin typeface="Consolas" panose="020B0609020204030204" pitchFamily="49" charset="0"/>
                <a:ea typeface="Times New Roman" panose="02020603050405020304" pitchFamily="18" charset="0"/>
              </a:rPr>
              <a:t>);</a:t>
            </a:r>
            <a:endParaRPr lang="en-US" sz="2800" dirty="0">
              <a:effectLst/>
              <a:latin typeface="Times New Roman" panose="02020603050405020304" pitchFamily="18" charset="0"/>
              <a:ea typeface="Times New Roman" panose="02020603050405020304" pitchFamily="18" charset="0"/>
            </a:endParaRPr>
          </a:p>
          <a:p>
            <a:endParaRPr lang="en-US" dirty="0"/>
          </a:p>
        </p:txBody>
      </p:sp>
      <p:sp>
        <p:nvSpPr>
          <p:cNvPr id="5" name="TextBox 4">
            <a:extLst>
              <a:ext uri="{FF2B5EF4-FFF2-40B4-BE49-F238E27FC236}">
                <a16:creationId xmlns:a16="http://schemas.microsoft.com/office/drawing/2014/main" id="{DD7BF307-E622-FA74-D7EC-4C28DCBF693B}"/>
              </a:ext>
            </a:extLst>
          </p:cNvPr>
          <p:cNvSpPr txBox="1"/>
          <p:nvPr/>
        </p:nvSpPr>
        <p:spPr>
          <a:xfrm>
            <a:off x="3825688" y="2904045"/>
            <a:ext cx="4572000" cy="461665"/>
          </a:xfrm>
          <a:prstGeom prst="rect">
            <a:avLst/>
          </a:prstGeom>
          <a:noFill/>
        </p:spPr>
        <p:txBody>
          <a:bodyPr wrap="square">
            <a:spAutoFit/>
          </a:bodyPr>
          <a:lstStyle/>
          <a:p>
            <a:r>
              <a:rPr lang="en-US" sz="2400" b="1" dirty="0">
                <a:solidFill>
                  <a:srgbClr val="FF0000"/>
                </a:solidFill>
              </a:rPr>
              <a:t>dangling-else ambiguity!</a:t>
            </a:r>
          </a:p>
        </p:txBody>
      </p:sp>
      <p:sp>
        <p:nvSpPr>
          <p:cNvPr id="4" name="Title 1">
            <a:extLst>
              <a:ext uri="{FF2B5EF4-FFF2-40B4-BE49-F238E27FC236}">
                <a16:creationId xmlns:a16="http://schemas.microsoft.com/office/drawing/2014/main" id="{C36734DB-BFE1-D966-C109-FFFC33EEC35B}"/>
              </a:ext>
            </a:extLst>
          </p:cNvPr>
          <p:cNvSpPr txBox="1">
            <a:spLocks/>
          </p:cNvSpPr>
          <p:nvPr/>
        </p:nvSpPr>
        <p:spPr>
          <a:xfrm>
            <a:off x="311700" y="445024"/>
            <a:ext cx="8520600" cy="844025"/>
          </a:xfrm>
          <a:prstGeom prst="rect">
            <a:avLst/>
          </a:prstGeom>
          <a:noFill/>
          <a:ln>
            <a:noFill/>
          </a:ln>
        </p:spPr>
        <p:txBody>
          <a:bodyPr spcFirstLastPara="1" wrap="square" lIns="91425" tIns="91425" rIns="91425" bIns="91425" anchor="t" anchorCtr="0">
            <a:normAutofit fontScale="9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r>
              <a:rPr lang="en-US" b="1" dirty="0">
                <a:cs typeface="Times New Roman" pitchFamily="16" charset="0"/>
              </a:rPr>
              <a:t>if-else statement: Java doesn’t care about indentation</a:t>
            </a:r>
            <a:endParaRPr lang="en-US" dirty="0"/>
          </a:p>
        </p:txBody>
      </p:sp>
    </p:spTree>
    <p:extLst>
      <p:ext uri="{BB962C8B-B14F-4D97-AF65-F5344CB8AC3E}">
        <p14:creationId xmlns:p14="http://schemas.microsoft.com/office/powerpoint/2010/main" val="5920321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ltLang="en-US" b="1" dirty="0">
                <a:cs typeface="Courier New" pitchFamily="49" charset="0"/>
              </a:rPr>
              <a:t>Formatting Output</a:t>
            </a:r>
            <a:r>
              <a:rPr lang="en-US" altLang="en-US" b="1" dirty="0"/>
              <a:t> </a:t>
            </a:r>
            <a:endParaRPr lang="en-US" b="1" dirty="0"/>
          </a:p>
        </p:txBody>
      </p:sp>
      <p:sp>
        <p:nvSpPr>
          <p:cNvPr id="3" name="Text Placeholder 2"/>
          <p:cNvSpPr>
            <a:spLocks noGrp="1"/>
          </p:cNvSpPr>
          <p:nvPr>
            <p:ph type="body" idx="1"/>
          </p:nvPr>
        </p:nvSpPr>
        <p:spPr/>
        <p:txBody>
          <a:bodyPr>
            <a:normAutofit/>
          </a:bodyPr>
          <a:lstStyle/>
          <a:p>
            <a:pPr>
              <a:spcBef>
                <a:spcPct val="50000"/>
              </a:spcBef>
            </a:pPr>
            <a:r>
              <a:rPr lang="en-US" altLang="en-US" dirty="0">
                <a:cs typeface="Courier New" pitchFamily="49" charset="0"/>
              </a:rPr>
              <a:t>The </a:t>
            </a:r>
            <a:r>
              <a:rPr lang="en-US" altLang="en-US" dirty="0" err="1">
                <a:cs typeface="Courier New" pitchFamily="49" charset="0"/>
              </a:rPr>
              <a:t>printf</a:t>
            </a:r>
            <a:r>
              <a:rPr lang="en-US" altLang="en-US" dirty="0">
                <a:cs typeface="Courier New" pitchFamily="49" charset="0"/>
              </a:rPr>
              <a:t> statement:</a:t>
            </a:r>
          </a:p>
          <a:p>
            <a:pPr lvl="1">
              <a:spcBef>
                <a:spcPct val="50000"/>
              </a:spcBef>
            </a:pPr>
            <a:r>
              <a:rPr lang="en-US" altLang="en-US" sz="1800" b="1" dirty="0" err="1">
                <a:solidFill>
                  <a:schemeClr val="tx1"/>
                </a:solidFill>
                <a:latin typeface="Courier New" panose="02070309020205020404" pitchFamily="49" charset="0"/>
                <a:cs typeface="Courier New" panose="02070309020205020404" pitchFamily="49" charset="0"/>
              </a:rPr>
              <a:t>System.out.printf</a:t>
            </a:r>
            <a:r>
              <a:rPr lang="en-US" altLang="en-US" sz="1800" b="1" dirty="0">
                <a:solidFill>
                  <a:schemeClr val="tx1"/>
                </a:solidFill>
                <a:latin typeface="Courier New" panose="02070309020205020404" pitchFamily="49" charset="0"/>
                <a:cs typeface="Courier New" panose="02070309020205020404" pitchFamily="49" charset="0"/>
              </a:rPr>
              <a:t>(format, items);</a:t>
            </a:r>
          </a:p>
          <a:p>
            <a:pPr>
              <a:spcBef>
                <a:spcPct val="50000"/>
              </a:spcBef>
            </a:pPr>
            <a:r>
              <a:rPr lang="en-US" altLang="en-US" dirty="0">
                <a:cs typeface="Courier New" pitchFamily="49" charset="0"/>
              </a:rPr>
              <a:t>format is a string that may consist of substrings and format </a:t>
            </a:r>
            <a:r>
              <a:rPr lang="en-US" altLang="en-US" b="1" dirty="0">
                <a:cs typeface="Courier New" pitchFamily="49" charset="0"/>
              </a:rPr>
              <a:t>specifiers</a:t>
            </a:r>
          </a:p>
          <a:p>
            <a:pPr>
              <a:spcBef>
                <a:spcPct val="50000"/>
              </a:spcBef>
            </a:pPr>
            <a:r>
              <a:rPr lang="en-US" altLang="en-US" dirty="0">
                <a:cs typeface="Courier New" pitchFamily="49" charset="0"/>
              </a:rPr>
              <a:t>A format specifier begins with a percent sign and specifies how an item should be displayed: a numeric value, character, </a:t>
            </a:r>
            <a:r>
              <a:rPr lang="en-US" altLang="en-US" dirty="0" err="1">
                <a:cs typeface="Courier New" pitchFamily="49" charset="0"/>
              </a:rPr>
              <a:t>boolean</a:t>
            </a:r>
            <a:r>
              <a:rPr lang="en-US" altLang="en-US" dirty="0">
                <a:cs typeface="Courier New" pitchFamily="49" charset="0"/>
              </a:rPr>
              <a:t> value, or a string</a:t>
            </a:r>
          </a:p>
          <a:p>
            <a:pPr>
              <a:spcBef>
                <a:spcPct val="50000"/>
              </a:spcBef>
            </a:pPr>
            <a:r>
              <a:rPr lang="en-US" dirty="0">
                <a:solidFill>
                  <a:srgbClr val="FF0000"/>
                </a:solidFill>
                <a:cs typeface="Courier New" pitchFamily="49" charset="0"/>
              </a:rPr>
              <a:t>\n, \t, …</a:t>
            </a:r>
            <a:endParaRPr lang="en-US" dirty="0">
              <a:solidFill>
                <a:srgbClr val="FF0000"/>
              </a:solidFill>
            </a:endParaRPr>
          </a:p>
        </p:txBody>
      </p:sp>
    </p:spTree>
    <p:extLst>
      <p:ext uri="{BB962C8B-B14F-4D97-AF65-F5344CB8AC3E}">
        <p14:creationId xmlns:p14="http://schemas.microsoft.com/office/powerpoint/2010/main" val="12834657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ltLang="en-US" b="1" dirty="0">
                <a:cs typeface="Courier New" pitchFamily="49" charset="0"/>
              </a:rPr>
              <a:t>Frequently-Used Specifiers</a:t>
            </a:r>
            <a:r>
              <a:rPr lang="en-US" altLang="en-US" b="1" dirty="0"/>
              <a:t> </a:t>
            </a:r>
            <a:endParaRPr lang="en-US" b="1" dirty="0"/>
          </a:p>
        </p:txBody>
      </p:sp>
      <p:sp>
        <p:nvSpPr>
          <p:cNvPr id="3" name="Text Placeholder 2"/>
          <p:cNvSpPr>
            <a:spLocks noGrp="1"/>
          </p:cNvSpPr>
          <p:nvPr>
            <p:ph type="body" idx="1"/>
          </p:nvPr>
        </p:nvSpPr>
        <p:spPr/>
        <p:txBody>
          <a:bodyPr/>
          <a:lstStyle/>
          <a:p>
            <a:pPr marL="114300" indent="0">
              <a:spcBef>
                <a:spcPct val="50000"/>
              </a:spcBef>
              <a:buNone/>
            </a:pPr>
            <a:r>
              <a:rPr lang="en-US" altLang="en-US" b="1" dirty="0" err="1">
                <a:cs typeface="Courier New" pitchFamily="49" charset="0"/>
              </a:rPr>
              <a:t>Specifier</a:t>
            </a:r>
            <a:r>
              <a:rPr lang="en-US" altLang="en-US" b="1" dirty="0">
                <a:cs typeface="Courier New" pitchFamily="49" charset="0"/>
              </a:rPr>
              <a:t>  Output					Example </a:t>
            </a:r>
          </a:p>
          <a:p>
            <a:pPr marL="114300" indent="0">
              <a:spcBef>
                <a:spcPct val="50000"/>
              </a:spcBef>
              <a:buNone/>
            </a:pPr>
            <a:r>
              <a:rPr lang="en-US" altLang="en-US" u="sng" dirty="0">
                <a:latin typeface="Courier New" pitchFamily="49" charset="0"/>
                <a:cs typeface="Courier New" pitchFamily="49" charset="0"/>
              </a:rPr>
              <a:t>%b</a:t>
            </a:r>
            <a:r>
              <a:rPr lang="en-US" altLang="en-US" dirty="0">
                <a:cs typeface="Courier New" pitchFamily="49" charset="0"/>
              </a:rPr>
              <a:t> 	  </a:t>
            </a:r>
            <a:r>
              <a:rPr lang="en-US" altLang="en-US" dirty="0">
                <a:latin typeface="Courier New" pitchFamily="49" charset="0"/>
                <a:cs typeface="Courier New" pitchFamily="49" charset="0"/>
              </a:rPr>
              <a:t>a </a:t>
            </a:r>
            <a:r>
              <a:rPr lang="en-US" altLang="en-US" dirty="0" err="1">
                <a:latin typeface="Courier New" pitchFamily="49" charset="0"/>
                <a:cs typeface="Courier New" pitchFamily="49" charset="0"/>
              </a:rPr>
              <a:t>boolean</a:t>
            </a:r>
            <a:r>
              <a:rPr lang="en-US" altLang="en-US" dirty="0">
                <a:latin typeface="Courier New" pitchFamily="49" charset="0"/>
                <a:cs typeface="Courier New" pitchFamily="49" charset="0"/>
              </a:rPr>
              <a:t> value</a:t>
            </a:r>
            <a:r>
              <a:rPr lang="en-US" altLang="en-US" dirty="0">
                <a:cs typeface="Courier New" pitchFamily="49" charset="0"/>
              </a:rPr>
              <a:t>  				</a:t>
            </a:r>
            <a:r>
              <a:rPr lang="en-US" altLang="en-US" dirty="0">
                <a:latin typeface="Courier New" pitchFamily="49" charset="0"/>
                <a:cs typeface="Courier New" pitchFamily="49" charset="0"/>
              </a:rPr>
              <a:t>true or false</a:t>
            </a:r>
            <a:r>
              <a:rPr lang="en-US" altLang="en-US" dirty="0">
                <a:cs typeface="Courier New" pitchFamily="49" charset="0"/>
              </a:rPr>
              <a:t> </a:t>
            </a:r>
          </a:p>
          <a:p>
            <a:pPr marL="114300" indent="0">
              <a:spcBef>
                <a:spcPct val="50000"/>
              </a:spcBef>
              <a:buNone/>
            </a:pPr>
            <a:r>
              <a:rPr lang="en-US" altLang="en-US" u="sng" dirty="0">
                <a:latin typeface="Courier New" pitchFamily="49" charset="0"/>
                <a:cs typeface="Courier New" pitchFamily="49" charset="0"/>
              </a:rPr>
              <a:t>%c</a:t>
            </a:r>
            <a:r>
              <a:rPr lang="en-US" altLang="en-US" dirty="0">
                <a:cs typeface="Courier New" pitchFamily="49" charset="0"/>
              </a:rPr>
              <a:t>            </a:t>
            </a:r>
            <a:r>
              <a:rPr lang="en-US" altLang="en-US" dirty="0">
                <a:latin typeface="Courier New" pitchFamily="49" charset="0"/>
                <a:cs typeface="Courier New" pitchFamily="49" charset="0"/>
              </a:rPr>
              <a:t>a character</a:t>
            </a:r>
            <a:r>
              <a:rPr lang="en-US" altLang="en-US" dirty="0">
                <a:cs typeface="Courier New" pitchFamily="49" charset="0"/>
              </a:rPr>
              <a:t>  				</a:t>
            </a:r>
            <a:r>
              <a:rPr lang="en-US" altLang="en-US" dirty="0">
                <a:latin typeface="Courier New" pitchFamily="49" charset="0"/>
                <a:cs typeface="Courier New" pitchFamily="49" charset="0"/>
              </a:rPr>
              <a:t>'a'</a:t>
            </a:r>
            <a:r>
              <a:rPr lang="en-US" altLang="en-US" dirty="0">
                <a:cs typeface="Courier New" pitchFamily="49" charset="0"/>
              </a:rPr>
              <a:t> </a:t>
            </a:r>
          </a:p>
          <a:p>
            <a:pPr marL="114300" indent="0">
              <a:spcBef>
                <a:spcPct val="50000"/>
              </a:spcBef>
              <a:buNone/>
            </a:pPr>
            <a:r>
              <a:rPr lang="en-US" altLang="en-US" u="sng" dirty="0">
                <a:latin typeface="Courier New" pitchFamily="49" charset="0"/>
                <a:cs typeface="Courier New" pitchFamily="49" charset="0"/>
              </a:rPr>
              <a:t>%d</a:t>
            </a:r>
            <a:r>
              <a:rPr lang="en-US" altLang="en-US" dirty="0">
                <a:cs typeface="Courier New" pitchFamily="49" charset="0"/>
              </a:rPr>
              <a:t>  	  </a:t>
            </a:r>
            <a:r>
              <a:rPr lang="en-US" altLang="en-US" dirty="0">
                <a:latin typeface="Courier New" pitchFamily="49" charset="0"/>
                <a:cs typeface="Courier New" pitchFamily="49" charset="0"/>
              </a:rPr>
              <a:t>a decimal integer 			        </a:t>
            </a:r>
            <a:r>
              <a:rPr lang="en-US" altLang="en-US" dirty="0">
                <a:latin typeface="Courier New" pitchFamily="49" charset="0"/>
                <a:cs typeface="Times New Roman" pitchFamily="18" charset="0"/>
              </a:rPr>
              <a:t>200</a:t>
            </a:r>
            <a:r>
              <a:rPr lang="en-US" altLang="en-US" dirty="0">
                <a:latin typeface="Courier New" pitchFamily="49" charset="0"/>
                <a:cs typeface="Courier New" pitchFamily="49" charset="0"/>
              </a:rPr>
              <a:t> </a:t>
            </a:r>
            <a:endParaRPr lang="en-US" altLang="en-US" dirty="0">
              <a:cs typeface="Courier New" pitchFamily="49" charset="0"/>
            </a:endParaRPr>
          </a:p>
          <a:p>
            <a:pPr marL="114300" indent="0">
              <a:spcBef>
                <a:spcPct val="50000"/>
              </a:spcBef>
              <a:buNone/>
            </a:pPr>
            <a:r>
              <a:rPr lang="en-US" altLang="en-US" u="sng" dirty="0">
                <a:latin typeface="Courier New" pitchFamily="49" charset="0"/>
                <a:cs typeface="Courier New" pitchFamily="49" charset="0"/>
              </a:rPr>
              <a:t>%f</a:t>
            </a:r>
            <a:r>
              <a:rPr lang="en-US" altLang="en-US" dirty="0">
                <a:cs typeface="Courier New" pitchFamily="49" charset="0"/>
              </a:rPr>
              <a:t>           </a:t>
            </a:r>
            <a:r>
              <a:rPr lang="en-US" altLang="en-US" dirty="0">
                <a:latin typeface="Courier New" pitchFamily="49" charset="0"/>
                <a:cs typeface="Courier New" pitchFamily="49" charset="0"/>
              </a:rPr>
              <a:t>a floating-point number</a:t>
            </a:r>
            <a:r>
              <a:rPr lang="en-US" altLang="en-US" dirty="0">
                <a:cs typeface="Courier New" pitchFamily="49" charset="0"/>
              </a:rPr>
              <a:t> 		                  </a:t>
            </a:r>
            <a:r>
              <a:rPr lang="en-US" altLang="en-US" dirty="0">
                <a:latin typeface="Courier New" pitchFamily="49" charset="0"/>
                <a:cs typeface="Courier New" pitchFamily="49" charset="0"/>
              </a:rPr>
              <a:t>45.460000</a:t>
            </a:r>
            <a:r>
              <a:rPr lang="en-US" altLang="en-US" dirty="0">
                <a:cs typeface="Courier New" pitchFamily="49" charset="0"/>
              </a:rPr>
              <a:t> </a:t>
            </a:r>
          </a:p>
          <a:p>
            <a:pPr marL="114300" indent="0">
              <a:spcBef>
                <a:spcPct val="50000"/>
              </a:spcBef>
              <a:buNone/>
            </a:pPr>
            <a:r>
              <a:rPr lang="en-US" altLang="en-US" u="sng" dirty="0">
                <a:latin typeface="Courier New" pitchFamily="49" charset="0"/>
                <a:cs typeface="Courier New" pitchFamily="49" charset="0"/>
              </a:rPr>
              <a:t>%e</a:t>
            </a:r>
            <a:r>
              <a:rPr lang="en-US" altLang="en-US" dirty="0">
                <a:cs typeface="Courier New" pitchFamily="49" charset="0"/>
              </a:rPr>
              <a:t>           </a:t>
            </a:r>
            <a:r>
              <a:rPr lang="en-US" altLang="en-US" sz="1400" dirty="0">
                <a:latin typeface="Courier New" pitchFamily="49" charset="0"/>
                <a:cs typeface="Courier New" pitchFamily="49" charset="0"/>
              </a:rPr>
              <a:t>a number in standard scientific notation</a:t>
            </a:r>
            <a:r>
              <a:rPr lang="en-US" altLang="en-US" dirty="0">
                <a:cs typeface="Courier New" pitchFamily="49" charset="0"/>
              </a:rPr>
              <a:t>                  </a:t>
            </a:r>
            <a:r>
              <a:rPr lang="en-US" altLang="en-US" dirty="0">
                <a:latin typeface="Courier New" pitchFamily="49" charset="0"/>
                <a:cs typeface="Courier New" pitchFamily="49" charset="0"/>
              </a:rPr>
              <a:t>4.556000e+01</a:t>
            </a:r>
          </a:p>
          <a:p>
            <a:pPr marL="114300" indent="0">
              <a:spcBef>
                <a:spcPct val="50000"/>
              </a:spcBef>
              <a:buNone/>
            </a:pPr>
            <a:r>
              <a:rPr lang="en-US" altLang="en-US" u="sng" dirty="0">
                <a:latin typeface="Courier New" pitchFamily="49" charset="0"/>
                <a:cs typeface="Times New Roman" pitchFamily="18" charset="0"/>
              </a:rPr>
              <a:t>%s</a:t>
            </a:r>
            <a:r>
              <a:rPr lang="en-US" altLang="en-US" dirty="0">
                <a:latin typeface="Courier New" pitchFamily="49" charset="0"/>
                <a:cs typeface="Courier New" pitchFamily="49" charset="0"/>
              </a:rPr>
              <a:t> </a:t>
            </a:r>
            <a:r>
              <a:rPr lang="en-US" altLang="en-US" dirty="0">
                <a:cs typeface="Courier New" pitchFamily="49" charset="0"/>
              </a:rPr>
              <a:t> 	  </a:t>
            </a:r>
            <a:r>
              <a:rPr lang="en-US" altLang="en-US" dirty="0">
                <a:latin typeface="Courier New" pitchFamily="49" charset="0"/>
                <a:cs typeface="Courier New" pitchFamily="49" charset="0"/>
              </a:rPr>
              <a:t>a string</a:t>
            </a:r>
            <a:r>
              <a:rPr lang="en-US" altLang="en-US" dirty="0">
                <a:cs typeface="Courier New" pitchFamily="49" charset="0"/>
              </a:rPr>
              <a:t>  				               </a:t>
            </a:r>
            <a:r>
              <a:rPr lang="en-US" altLang="en-US" dirty="0">
                <a:latin typeface="Courier New" pitchFamily="49" charset="0"/>
                <a:cs typeface="Courier New" pitchFamily="49" charset="0"/>
              </a:rPr>
              <a:t>"Java </a:t>
            </a:r>
            <a:r>
              <a:rPr lang="en-US" altLang="en-US" dirty="0" err="1">
                <a:latin typeface="Courier New" pitchFamily="49" charset="0"/>
                <a:cs typeface="Courier New" pitchFamily="49" charset="0"/>
              </a:rPr>
              <a:t>iscool</a:t>
            </a:r>
            <a:r>
              <a:rPr lang="en-US" altLang="en-US" dirty="0">
                <a:latin typeface="Courier New" pitchFamily="49" charset="0"/>
                <a:cs typeface="Courier New" pitchFamily="49" charset="0"/>
              </a:rPr>
              <a:t>"</a:t>
            </a:r>
            <a:r>
              <a:rPr lang="en-US" altLang="en-US" dirty="0">
                <a:cs typeface="Courier New" pitchFamily="49" charset="0"/>
              </a:rPr>
              <a:t> </a:t>
            </a:r>
          </a:p>
          <a:p>
            <a:pPr marL="114300" indent="0">
              <a:spcBef>
                <a:spcPct val="50000"/>
              </a:spcBef>
              <a:buNone/>
            </a:pPr>
            <a:endParaRPr lang="en-US" dirty="0"/>
          </a:p>
        </p:txBody>
      </p:sp>
    </p:spTree>
    <p:extLst>
      <p:ext uri="{BB962C8B-B14F-4D97-AF65-F5344CB8AC3E}">
        <p14:creationId xmlns:p14="http://schemas.microsoft.com/office/powerpoint/2010/main" val="13498265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Formatting output: Example</a:t>
            </a:r>
          </a:p>
        </p:txBody>
      </p:sp>
      <p:sp>
        <p:nvSpPr>
          <p:cNvPr id="3" name="Text Placeholder 2"/>
          <p:cNvSpPr>
            <a:spLocks noGrp="1"/>
          </p:cNvSpPr>
          <p:nvPr>
            <p:ph type="body" idx="1"/>
          </p:nvPr>
        </p:nvSpPr>
        <p:spPr/>
        <p:txBody>
          <a:bodyPr/>
          <a:lstStyle/>
          <a:p>
            <a:endParaRPr lang="en-US" dirty="0"/>
          </a:p>
        </p:txBody>
      </p:sp>
      <p:graphicFrame>
        <p:nvGraphicFramePr>
          <p:cNvPr id="4" name="Object 2"/>
          <p:cNvGraphicFramePr>
            <a:graphicFrameLocks noChangeAspect="1"/>
          </p:cNvGraphicFramePr>
          <p:nvPr/>
        </p:nvGraphicFramePr>
        <p:xfrm>
          <a:off x="152400" y="1152525"/>
          <a:ext cx="6000750" cy="1671638"/>
        </p:xfrm>
        <a:graphic>
          <a:graphicData uri="http://schemas.openxmlformats.org/presentationml/2006/ole">
            <mc:AlternateContent xmlns:mc="http://schemas.openxmlformats.org/markup-compatibility/2006">
              <mc:Choice xmlns:v="urn:schemas-microsoft-com:vml" Requires="v">
                <p:oleObj name="Picture" r:id="rId2" imgW="4242960" imgH="1181160" progId="Word.Picture.8">
                  <p:embed/>
                </p:oleObj>
              </mc:Choice>
              <mc:Fallback>
                <p:oleObj name="Picture" r:id="rId2" imgW="4242960" imgH="1181160" progId="Word.Picture.8">
                  <p:embed/>
                  <p:pic>
                    <p:nvPicPr>
                      <p:cNvPr id="4" name="Object 2"/>
                      <p:cNvPicPr>
                        <a:picLocks noChangeAspect="1" noChangeArrowheads="1"/>
                      </p:cNvPicPr>
                      <p:nvPr/>
                    </p:nvPicPr>
                    <p:blipFill>
                      <a:blip r:embed="rId3"/>
                      <a:srcRect/>
                      <a:stretch>
                        <a:fillRect/>
                      </a:stretch>
                    </p:blipFill>
                    <p:spPr bwMode="auto">
                      <a:xfrm>
                        <a:off x="152400" y="1152525"/>
                        <a:ext cx="6000750" cy="1671638"/>
                      </a:xfrm>
                      <a:prstGeom prst="rect">
                        <a:avLst/>
                      </a:prstGeom>
                      <a:noFill/>
                      <a:ln>
                        <a:noFill/>
                      </a:ln>
                    </p:spPr>
                  </p:pic>
                </p:oleObj>
              </mc:Fallback>
            </mc:AlternateContent>
          </a:graphicData>
        </a:graphic>
      </p:graphicFrame>
    </p:spTree>
    <p:extLst>
      <p:ext uri="{BB962C8B-B14F-4D97-AF65-F5344CB8AC3E}">
        <p14:creationId xmlns:p14="http://schemas.microsoft.com/office/powerpoint/2010/main" val="405280320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7DA17C-1F50-DEA4-5E6B-E3F3E7541D5E}"/>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5B84915D-80CE-9434-2B9C-1F2271380F21}"/>
              </a:ext>
            </a:extLst>
          </p:cNvPr>
          <p:cNvSpPr>
            <a:spLocks noGrp="1"/>
          </p:cNvSpPr>
          <p:nvPr>
            <p:ph type="body" idx="1"/>
          </p:nvPr>
        </p:nvSpPr>
        <p:spPr>
          <a:xfrm>
            <a:off x="311701" y="1152475"/>
            <a:ext cx="4050749" cy="3416400"/>
          </a:xfrm>
        </p:spPr>
        <p:txBody>
          <a:bodyPr>
            <a:normAutofit/>
          </a:bodyPr>
          <a:lstStyle/>
          <a:p>
            <a:pPr marL="0" marR="0">
              <a:buNone/>
            </a:pPr>
            <a:r>
              <a:rPr lang="en-US" sz="1800" b="1" dirty="0">
                <a:solidFill>
                  <a:srgbClr val="7F0055"/>
                </a:solidFill>
                <a:effectLst/>
                <a:latin typeface="Consolas" panose="020B0609020204030204" pitchFamily="49" charset="0"/>
                <a:ea typeface="Times New Roman" panose="02020603050405020304" pitchFamily="18" charset="0"/>
              </a:rPr>
              <a:t>int</a:t>
            </a:r>
            <a:r>
              <a:rPr lang="en-US" sz="1800" dirty="0">
                <a:solidFill>
                  <a:srgbClr val="000000"/>
                </a:solidFill>
                <a:effectLst/>
                <a:latin typeface="Consolas" panose="020B0609020204030204" pitchFamily="49" charset="0"/>
                <a:ea typeface="Times New Roman" panose="02020603050405020304" pitchFamily="18" charset="0"/>
              </a:rPr>
              <a:t> </a:t>
            </a:r>
            <a:r>
              <a:rPr lang="en-US" sz="1800" dirty="0" err="1">
                <a:solidFill>
                  <a:srgbClr val="6A3E3E"/>
                </a:solidFill>
                <a:effectLst/>
                <a:latin typeface="Consolas" panose="020B0609020204030204" pitchFamily="49" charset="0"/>
                <a:ea typeface="Times New Roman" panose="02020603050405020304" pitchFamily="18" charset="0"/>
              </a:rPr>
              <a:t>i</a:t>
            </a:r>
            <a:r>
              <a:rPr lang="en-US" sz="1800" dirty="0">
                <a:solidFill>
                  <a:srgbClr val="000000"/>
                </a:solidFill>
                <a:effectLst/>
                <a:latin typeface="Consolas" panose="020B0609020204030204" pitchFamily="49" charset="0"/>
                <a:ea typeface="Times New Roman" panose="02020603050405020304" pitchFamily="18" charset="0"/>
              </a:rPr>
              <a:t> = 0;</a:t>
            </a:r>
            <a:endParaRPr lang="en-US" sz="2800" dirty="0">
              <a:effectLst/>
              <a:latin typeface="Times New Roman" panose="02020603050405020304" pitchFamily="18" charset="0"/>
              <a:ea typeface="Times New Roman" panose="02020603050405020304" pitchFamily="18" charset="0"/>
            </a:endParaRPr>
          </a:p>
          <a:p>
            <a:pPr marL="0" marR="0">
              <a:buNone/>
            </a:pPr>
            <a:r>
              <a:rPr lang="en-US" sz="1800" b="1" dirty="0">
                <a:solidFill>
                  <a:srgbClr val="7F0055"/>
                </a:solidFill>
                <a:effectLst/>
                <a:latin typeface="Consolas" panose="020B0609020204030204" pitchFamily="49" charset="0"/>
                <a:ea typeface="Times New Roman" panose="02020603050405020304" pitchFamily="18" charset="0"/>
              </a:rPr>
              <a:t>while</a:t>
            </a:r>
            <a:r>
              <a:rPr lang="en-US" sz="1800" dirty="0">
                <a:solidFill>
                  <a:srgbClr val="000000"/>
                </a:solidFill>
                <a:effectLst/>
                <a:latin typeface="Consolas" panose="020B0609020204030204" pitchFamily="49" charset="0"/>
                <a:ea typeface="Times New Roman" panose="02020603050405020304" pitchFamily="18" charset="0"/>
              </a:rPr>
              <a:t>(</a:t>
            </a:r>
            <a:r>
              <a:rPr lang="en-US" sz="1800" dirty="0" err="1">
                <a:solidFill>
                  <a:srgbClr val="6A3E3E"/>
                </a:solidFill>
                <a:effectLst/>
                <a:latin typeface="Consolas" panose="020B0609020204030204" pitchFamily="49" charset="0"/>
                <a:ea typeface="Times New Roman" panose="02020603050405020304" pitchFamily="18" charset="0"/>
              </a:rPr>
              <a:t>i</a:t>
            </a:r>
            <a:r>
              <a:rPr lang="en-US" sz="1800" dirty="0">
                <a:solidFill>
                  <a:srgbClr val="000000"/>
                </a:solidFill>
                <a:effectLst/>
                <a:latin typeface="Consolas" panose="020B0609020204030204" pitchFamily="49" charset="0"/>
                <a:ea typeface="Times New Roman" panose="02020603050405020304" pitchFamily="18" charset="0"/>
              </a:rPr>
              <a:t> &lt; </a:t>
            </a:r>
            <a:r>
              <a:rPr lang="en-US" sz="1800" u="sng" dirty="0">
                <a:solidFill>
                  <a:srgbClr val="000000"/>
                </a:solidFill>
                <a:effectLst/>
                <a:latin typeface="Consolas" panose="020B0609020204030204" pitchFamily="49" charset="0"/>
                <a:ea typeface="Times New Roman" panose="02020603050405020304" pitchFamily="18" charset="0"/>
              </a:rPr>
              <a:t>n</a:t>
            </a:r>
            <a:r>
              <a:rPr lang="en-US" sz="1800" dirty="0">
                <a:solidFill>
                  <a:srgbClr val="000000"/>
                </a:solidFill>
                <a:effectLst/>
                <a:latin typeface="Consolas" panose="020B0609020204030204" pitchFamily="49" charset="0"/>
                <a:ea typeface="Times New Roman" panose="02020603050405020304" pitchFamily="18" charset="0"/>
              </a:rPr>
              <a:t>) {</a:t>
            </a:r>
            <a:endParaRPr lang="en-US" sz="2800" dirty="0">
              <a:effectLst/>
              <a:latin typeface="Times New Roman" panose="02020603050405020304" pitchFamily="18" charset="0"/>
              <a:ea typeface="Times New Roman" panose="02020603050405020304" pitchFamily="18" charset="0"/>
            </a:endParaRPr>
          </a:p>
          <a:p>
            <a:pPr marL="0" marR="0">
              <a:buNone/>
            </a:pPr>
            <a:r>
              <a:rPr lang="en-US" sz="1800" dirty="0">
                <a:solidFill>
                  <a:srgbClr val="000000"/>
                </a:solidFill>
                <a:effectLst/>
                <a:latin typeface="Consolas" panose="020B0609020204030204" pitchFamily="49" charset="0"/>
                <a:ea typeface="Times New Roman" panose="02020603050405020304" pitchFamily="18" charset="0"/>
              </a:rPr>
              <a:t>	</a:t>
            </a:r>
            <a:r>
              <a:rPr lang="en-US" sz="1800" dirty="0" err="1">
                <a:solidFill>
                  <a:srgbClr val="000000"/>
                </a:solidFill>
                <a:effectLst/>
                <a:latin typeface="Consolas" panose="020B0609020204030204" pitchFamily="49" charset="0"/>
                <a:ea typeface="Times New Roman" panose="02020603050405020304" pitchFamily="18" charset="0"/>
              </a:rPr>
              <a:t>System.</a:t>
            </a:r>
            <a:r>
              <a:rPr lang="en-US" sz="1800" b="1" i="1" dirty="0" err="1">
                <a:solidFill>
                  <a:srgbClr val="0000C0"/>
                </a:solidFill>
                <a:effectLst/>
                <a:latin typeface="Consolas" panose="020B0609020204030204" pitchFamily="49" charset="0"/>
                <a:ea typeface="Times New Roman" panose="02020603050405020304" pitchFamily="18" charset="0"/>
              </a:rPr>
              <a:t>out</a:t>
            </a:r>
            <a:r>
              <a:rPr lang="en-US" sz="1800" dirty="0" err="1">
                <a:solidFill>
                  <a:srgbClr val="000000"/>
                </a:solidFill>
                <a:effectLst/>
                <a:latin typeface="Consolas" panose="020B0609020204030204" pitchFamily="49" charset="0"/>
                <a:ea typeface="Times New Roman" panose="02020603050405020304" pitchFamily="18" charset="0"/>
              </a:rPr>
              <a:t>.println</a:t>
            </a:r>
            <a:r>
              <a:rPr lang="en-US" sz="1800" dirty="0">
                <a:solidFill>
                  <a:srgbClr val="000000"/>
                </a:solidFill>
                <a:effectLst/>
                <a:latin typeface="Consolas" panose="020B0609020204030204" pitchFamily="49" charset="0"/>
                <a:ea typeface="Times New Roman" panose="02020603050405020304" pitchFamily="18" charset="0"/>
              </a:rPr>
              <a:t>(</a:t>
            </a:r>
            <a:r>
              <a:rPr lang="en-US" sz="1800" dirty="0" err="1">
                <a:solidFill>
                  <a:srgbClr val="6A3E3E"/>
                </a:solidFill>
                <a:effectLst/>
                <a:latin typeface="Consolas" panose="020B0609020204030204" pitchFamily="49" charset="0"/>
                <a:ea typeface="Times New Roman" panose="02020603050405020304" pitchFamily="18" charset="0"/>
              </a:rPr>
              <a:t>i</a:t>
            </a:r>
            <a:r>
              <a:rPr lang="en-US" sz="1800" dirty="0">
                <a:solidFill>
                  <a:srgbClr val="000000"/>
                </a:solidFill>
                <a:effectLst/>
                <a:latin typeface="Consolas" panose="020B0609020204030204" pitchFamily="49" charset="0"/>
                <a:ea typeface="Times New Roman" panose="02020603050405020304" pitchFamily="18" charset="0"/>
              </a:rPr>
              <a:t>);</a:t>
            </a:r>
            <a:endParaRPr lang="en-US" sz="2800" dirty="0">
              <a:effectLst/>
              <a:latin typeface="Times New Roman" panose="02020603050405020304" pitchFamily="18" charset="0"/>
              <a:ea typeface="Times New Roman" panose="02020603050405020304" pitchFamily="18" charset="0"/>
            </a:endParaRPr>
          </a:p>
          <a:p>
            <a:pPr marL="0" marR="0">
              <a:buNone/>
            </a:pPr>
            <a:r>
              <a:rPr lang="en-US" sz="1800" dirty="0">
                <a:solidFill>
                  <a:srgbClr val="000000"/>
                </a:solidFill>
                <a:effectLst/>
                <a:latin typeface="Consolas" panose="020B0609020204030204" pitchFamily="49" charset="0"/>
                <a:ea typeface="Times New Roman" panose="02020603050405020304" pitchFamily="18" charset="0"/>
              </a:rPr>
              <a:t>	</a:t>
            </a:r>
            <a:r>
              <a:rPr lang="en-US" sz="1800" dirty="0" err="1">
                <a:solidFill>
                  <a:srgbClr val="6A3E3E"/>
                </a:solidFill>
                <a:effectLst/>
                <a:latin typeface="Consolas" panose="020B0609020204030204" pitchFamily="49" charset="0"/>
                <a:ea typeface="Times New Roman" panose="02020603050405020304" pitchFamily="18" charset="0"/>
              </a:rPr>
              <a:t>i</a:t>
            </a:r>
            <a:r>
              <a:rPr lang="en-US" sz="1800" dirty="0">
                <a:solidFill>
                  <a:srgbClr val="000000"/>
                </a:solidFill>
                <a:effectLst/>
                <a:latin typeface="Consolas" panose="020B0609020204030204" pitchFamily="49" charset="0"/>
                <a:ea typeface="Times New Roman" panose="02020603050405020304" pitchFamily="18" charset="0"/>
              </a:rPr>
              <a:t>++;</a:t>
            </a:r>
            <a:endParaRPr lang="en-US" sz="2800" dirty="0">
              <a:effectLst/>
              <a:latin typeface="Times New Roman" panose="02020603050405020304" pitchFamily="18" charset="0"/>
              <a:ea typeface="Times New Roman" panose="02020603050405020304" pitchFamily="18" charset="0"/>
            </a:endParaRPr>
          </a:p>
          <a:p>
            <a:pPr marL="0" marR="0">
              <a:buNone/>
            </a:pPr>
            <a:r>
              <a:rPr lang="en-US" sz="1800" dirty="0">
                <a:solidFill>
                  <a:srgbClr val="000000"/>
                </a:solidFill>
                <a:effectLst/>
                <a:latin typeface="Consolas" panose="020B0609020204030204" pitchFamily="49" charset="0"/>
                <a:ea typeface="Times New Roman" panose="02020603050405020304" pitchFamily="18" charset="0"/>
              </a:rPr>
              <a:t>}</a:t>
            </a:r>
            <a:endParaRPr lang="en-US" sz="2800" dirty="0">
              <a:effectLst/>
              <a:latin typeface="Times New Roman" panose="02020603050405020304" pitchFamily="18" charset="0"/>
              <a:ea typeface="Times New Roman" panose="02020603050405020304" pitchFamily="18" charset="0"/>
            </a:endParaRPr>
          </a:p>
        </p:txBody>
      </p:sp>
      <p:sp>
        <p:nvSpPr>
          <p:cNvPr id="4" name="Title 1">
            <a:extLst>
              <a:ext uri="{FF2B5EF4-FFF2-40B4-BE49-F238E27FC236}">
                <a16:creationId xmlns:a16="http://schemas.microsoft.com/office/drawing/2014/main" id="{3EF17FDF-375B-379E-6D3C-CE5A5FE49C76}"/>
              </a:ext>
            </a:extLst>
          </p:cNvPr>
          <p:cNvSpPr txBox="1">
            <a:spLocks/>
          </p:cNvSpPr>
          <p:nvPr/>
        </p:nvSpPr>
        <p:spPr>
          <a:xfrm>
            <a:off x="311700" y="445024"/>
            <a:ext cx="8520600" cy="844025"/>
          </a:xfrm>
          <a:prstGeom prst="rect">
            <a:avLst/>
          </a:prstGeom>
          <a:noFill/>
          <a:ln>
            <a:noFill/>
          </a:ln>
        </p:spPr>
        <p:txBody>
          <a:bodyPr spcFirstLastPara="1" wrap="square" lIns="91425" tIns="91425" rIns="91425" bIns="91425" anchor="t" anchorCtr="0">
            <a:normAutofit fontScale="97500"/>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r>
              <a:rPr lang="en-US" b="1" dirty="0">
                <a:cs typeface="Times New Roman" pitchFamily="16" charset="0"/>
              </a:rPr>
              <a:t>while() and do…while();</a:t>
            </a:r>
            <a:endParaRPr lang="en-US" dirty="0"/>
          </a:p>
        </p:txBody>
      </p:sp>
      <p:sp>
        <p:nvSpPr>
          <p:cNvPr id="2" name="Text Placeholder 2">
            <a:extLst>
              <a:ext uri="{FF2B5EF4-FFF2-40B4-BE49-F238E27FC236}">
                <a16:creationId xmlns:a16="http://schemas.microsoft.com/office/drawing/2014/main" id="{B0AA4500-716A-8F5B-9C44-2C50F053A45C}"/>
              </a:ext>
            </a:extLst>
          </p:cNvPr>
          <p:cNvSpPr txBox="1">
            <a:spLocks/>
          </p:cNvSpPr>
          <p:nvPr/>
        </p:nvSpPr>
        <p:spPr>
          <a:xfrm>
            <a:off x="4572000" y="1152475"/>
            <a:ext cx="4050749" cy="3416400"/>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pPr marL="0" marR="0">
              <a:buNone/>
            </a:pPr>
            <a:r>
              <a:rPr lang="en-US" sz="1800" b="1" dirty="0">
                <a:solidFill>
                  <a:srgbClr val="7F0055"/>
                </a:solidFill>
                <a:effectLst/>
                <a:latin typeface="Consolas" panose="020B0609020204030204" pitchFamily="49" charset="0"/>
                <a:ea typeface="Times New Roman" panose="02020603050405020304" pitchFamily="18" charset="0"/>
              </a:rPr>
              <a:t>int</a:t>
            </a:r>
            <a:r>
              <a:rPr lang="en-US" sz="1800" dirty="0">
                <a:solidFill>
                  <a:srgbClr val="000000"/>
                </a:solidFill>
                <a:effectLst/>
                <a:latin typeface="Consolas" panose="020B0609020204030204" pitchFamily="49" charset="0"/>
                <a:ea typeface="Times New Roman" panose="02020603050405020304" pitchFamily="18" charset="0"/>
              </a:rPr>
              <a:t> </a:t>
            </a:r>
            <a:r>
              <a:rPr lang="en-US" sz="1800" u="sng" dirty="0" err="1">
                <a:solidFill>
                  <a:srgbClr val="6A3E3E"/>
                </a:solidFill>
                <a:effectLst/>
                <a:latin typeface="Consolas" panose="020B0609020204030204" pitchFamily="49" charset="0"/>
                <a:ea typeface="Times New Roman" panose="02020603050405020304" pitchFamily="18" charset="0"/>
              </a:rPr>
              <a:t>i</a:t>
            </a:r>
            <a:r>
              <a:rPr lang="en-US" sz="1800" dirty="0">
                <a:solidFill>
                  <a:srgbClr val="000000"/>
                </a:solidFill>
                <a:effectLst/>
                <a:latin typeface="Consolas" panose="020B0609020204030204" pitchFamily="49" charset="0"/>
                <a:ea typeface="Times New Roman" panose="02020603050405020304" pitchFamily="18" charset="0"/>
              </a:rPr>
              <a:t> = 0;</a:t>
            </a:r>
            <a:endParaRPr lang="en-US" sz="2800" dirty="0">
              <a:effectLst/>
              <a:latin typeface="Times New Roman" panose="02020603050405020304" pitchFamily="18" charset="0"/>
              <a:ea typeface="Times New Roman" panose="02020603050405020304" pitchFamily="18" charset="0"/>
            </a:endParaRPr>
          </a:p>
          <a:p>
            <a:pPr marL="0" marR="0">
              <a:buNone/>
            </a:pPr>
            <a:r>
              <a:rPr lang="en-US" sz="1800" b="1" dirty="0">
                <a:solidFill>
                  <a:srgbClr val="7F0055"/>
                </a:solidFill>
                <a:effectLst/>
                <a:latin typeface="Consolas" panose="020B0609020204030204" pitchFamily="49" charset="0"/>
                <a:ea typeface="Times New Roman" panose="02020603050405020304" pitchFamily="18" charset="0"/>
              </a:rPr>
              <a:t>do</a:t>
            </a:r>
            <a:r>
              <a:rPr lang="en-US" sz="1800" dirty="0">
                <a:solidFill>
                  <a:srgbClr val="000000"/>
                </a:solidFill>
                <a:effectLst/>
                <a:latin typeface="Consolas" panose="020B0609020204030204" pitchFamily="49" charset="0"/>
                <a:ea typeface="Times New Roman" panose="02020603050405020304" pitchFamily="18" charset="0"/>
              </a:rPr>
              <a:t> {		</a:t>
            </a:r>
            <a:r>
              <a:rPr lang="en-US" sz="1800" dirty="0" err="1">
                <a:solidFill>
                  <a:srgbClr val="000000"/>
                </a:solidFill>
                <a:effectLst/>
                <a:latin typeface="Consolas" panose="020B0609020204030204" pitchFamily="49" charset="0"/>
                <a:ea typeface="Times New Roman" panose="02020603050405020304" pitchFamily="18" charset="0"/>
              </a:rPr>
              <a:t>System.</a:t>
            </a:r>
            <a:r>
              <a:rPr lang="en-US" sz="1800" b="1" i="1" dirty="0" err="1">
                <a:solidFill>
                  <a:srgbClr val="0000C0"/>
                </a:solidFill>
                <a:effectLst/>
                <a:latin typeface="Consolas" panose="020B0609020204030204" pitchFamily="49" charset="0"/>
                <a:ea typeface="Times New Roman" panose="02020603050405020304" pitchFamily="18" charset="0"/>
              </a:rPr>
              <a:t>out</a:t>
            </a:r>
            <a:r>
              <a:rPr lang="en-US" sz="1800" dirty="0" err="1">
                <a:solidFill>
                  <a:srgbClr val="000000"/>
                </a:solidFill>
                <a:effectLst/>
                <a:latin typeface="Consolas" panose="020B0609020204030204" pitchFamily="49" charset="0"/>
                <a:ea typeface="Times New Roman" panose="02020603050405020304" pitchFamily="18" charset="0"/>
              </a:rPr>
              <a:t>.println</a:t>
            </a:r>
            <a:r>
              <a:rPr lang="en-US" sz="1800" dirty="0">
                <a:solidFill>
                  <a:srgbClr val="000000"/>
                </a:solidFill>
                <a:effectLst/>
                <a:latin typeface="Consolas" panose="020B0609020204030204" pitchFamily="49" charset="0"/>
                <a:ea typeface="Times New Roman" panose="02020603050405020304" pitchFamily="18" charset="0"/>
              </a:rPr>
              <a:t>(</a:t>
            </a:r>
            <a:r>
              <a:rPr lang="en-US" sz="1800" dirty="0" err="1">
                <a:solidFill>
                  <a:srgbClr val="6A3E3E"/>
                </a:solidFill>
                <a:effectLst/>
                <a:latin typeface="Consolas" panose="020B0609020204030204" pitchFamily="49" charset="0"/>
                <a:ea typeface="Times New Roman" panose="02020603050405020304" pitchFamily="18" charset="0"/>
              </a:rPr>
              <a:t>i</a:t>
            </a:r>
            <a:r>
              <a:rPr lang="en-US" sz="1800" dirty="0">
                <a:solidFill>
                  <a:srgbClr val="000000"/>
                </a:solidFill>
                <a:effectLst/>
                <a:latin typeface="Consolas" panose="020B0609020204030204" pitchFamily="49" charset="0"/>
                <a:ea typeface="Times New Roman" panose="02020603050405020304" pitchFamily="18" charset="0"/>
              </a:rPr>
              <a:t>);</a:t>
            </a:r>
            <a:endParaRPr lang="en-US" sz="2800" dirty="0">
              <a:effectLst/>
              <a:latin typeface="Times New Roman" panose="02020603050405020304" pitchFamily="18" charset="0"/>
              <a:ea typeface="Times New Roman" panose="02020603050405020304" pitchFamily="18" charset="0"/>
            </a:endParaRPr>
          </a:p>
          <a:p>
            <a:pPr marL="0" marR="0">
              <a:buNone/>
            </a:pPr>
            <a:r>
              <a:rPr lang="en-US" sz="1800" dirty="0">
                <a:solidFill>
                  <a:srgbClr val="000000"/>
                </a:solidFill>
                <a:effectLst/>
                <a:latin typeface="Consolas" panose="020B0609020204030204" pitchFamily="49" charset="0"/>
                <a:ea typeface="Times New Roman" panose="02020603050405020304" pitchFamily="18" charset="0"/>
              </a:rPr>
              <a:t>	</a:t>
            </a:r>
            <a:r>
              <a:rPr lang="en-US" sz="1800" dirty="0" err="1">
                <a:solidFill>
                  <a:srgbClr val="6A3E3E"/>
                </a:solidFill>
                <a:effectLst/>
                <a:latin typeface="Consolas" panose="020B0609020204030204" pitchFamily="49" charset="0"/>
                <a:ea typeface="Times New Roman" panose="02020603050405020304" pitchFamily="18" charset="0"/>
              </a:rPr>
              <a:t>i</a:t>
            </a:r>
            <a:r>
              <a:rPr lang="en-US" sz="1800" dirty="0">
                <a:solidFill>
                  <a:srgbClr val="000000"/>
                </a:solidFill>
                <a:effectLst/>
                <a:latin typeface="Consolas" panose="020B0609020204030204" pitchFamily="49" charset="0"/>
                <a:ea typeface="Times New Roman" panose="02020603050405020304" pitchFamily="18" charset="0"/>
              </a:rPr>
              <a:t>++;</a:t>
            </a:r>
            <a:endParaRPr lang="en-US" sz="2800" dirty="0">
              <a:effectLst/>
              <a:latin typeface="Times New Roman" panose="02020603050405020304" pitchFamily="18" charset="0"/>
              <a:ea typeface="Times New Roman" panose="02020603050405020304" pitchFamily="18" charset="0"/>
            </a:endParaRPr>
          </a:p>
          <a:p>
            <a:pPr marL="0" marR="0">
              <a:buNone/>
            </a:pPr>
            <a:r>
              <a:rPr lang="en-US" sz="1800" dirty="0">
                <a:solidFill>
                  <a:srgbClr val="000000"/>
                </a:solidFill>
                <a:effectLst/>
                <a:latin typeface="Consolas" panose="020B0609020204030204" pitchFamily="49" charset="0"/>
                <a:ea typeface="Times New Roman" panose="02020603050405020304" pitchFamily="18" charset="0"/>
              </a:rPr>
              <a:t>}</a:t>
            </a:r>
            <a:r>
              <a:rPr lang="en-US" sz="1800" b="1" dirty="0">
                <a:solidFill>
                  <a:srgbClr val="7F0055"/>
                </a:solidFill>
                <a:effectLst/>
                <a:latin typeface="Consolas" panose="020B0609020204030204" pitchFamily="49" charset="0"/>
                <a:ea typeface="Times New Roman" panose="02020603050405020304" pitchFamily="18" charset="0"/>
              </a:rPr>
              <a:t>while</a:t>
            </a:r>
            <a:r>
              <a:rPr lang="en-US" sz="1800" dirty="0">
                <a:solidFill>
                  <a:srgbClr val="000000"/>
                </a:solidFill>
                <a:effectLst/>
                <a:latin typeface="Consolas" panose="020B0609020204030204" pitchFamily="49" charset="0"/>
                <a:ea typeface="Times New Roman" panose="02020603050405020304" pitchFamily="18" charset="0"/>
              </a:rPr>
              <a:t>(</a:t>
            </a:r>
            <a:r>
              <a:rPr lang="en-US" sz="1800" dirty="0" err="1">
                <a:solidFill>
                  <a:srgbClr val="6A3E3E"/>
                </a:solidFill>
                <a:effectLst/>
                <a:latin typeface="Consolas" panose="020B0609020204030204" pitchFamily="49" charset="0"/>
                <a:ea typeface="Times New Roman" panose="02020603050405020304" pitchFamily="18" charset="0"/>
              </a:rPr>
              <a:t>i</a:t>
            </a:r>
            <a:r>
              <a:rPr lang="en-US" sz="1800" dirty="0">
                <a:solidFill>
                  <a:srgbClr val="000000"/>
                </a:solidFill>
                <a:effectLst/>
                <a:latin typeface="Consolas" panose="020B0609020204030204" pitchFamily="49" charset="0"/>
                <a:ea typeface="Times New Roman" panose="02020603050405020304" pitchFamily="18" charset="0"/>
              </a:rPr>
              <a:t> &lt; </a:t>
            </a:r>
            <a:r>
              <a:rPr lang="en-US" sz="1800" u="sng" dirty="0">
                <a:solidFill>
                  <a:srgbClr val="000000"/>
                </a:solidFill>
                <a:effectLst/>
                <a:latin typeface="Consolas" panose="020B0609020204030204" pitchFamily="49" charset="0"/>
                <a:ea typeface="Times New Roman" panose="02020603050405020304" pitchFamily="18" charset="0"/>
              </a:rPr>
              <a:t>n</a:t>
            </a:r>
            <a:r>
              <a:rPr lang="en-US" sz="1800" dirty="0">
                <a:solidFill>
                  <a:srgbClr val="000000"/>
                </a:solidFill>
                <a:effectLst/>
                <a:latin typeface="Consolas" panose="020B0609020204030204" pitchFamily="49" charset="0"/>
                <a:ea typeface="Times New Roman" panose="02020603050405020304" pitchFamily="18" charset="0"/>
              </a:rPr>
              <a:t>);</a:t>
            </a:r>
            <a:endParaRPr lang="en-US" sz="2800" dirty="0">
              <a:effectLst/>
              <a:latin typeface="Times New Roman" panose="02020603050405020304" pitchFamily="18" charset="0"/>
              <a:ea typeface="Times New Roman" panose="02020603050405020304" pitchFamily="18" charset="0"/>
            </a:endParaRPr>
          </a:p>
        </p:txBody>
      </p:sp>
      <p:sp>
        <p:nvSpPr>
          <p:cNvPr id="6" name="TextBox 5">
            <a:extLst>
              <a:ext uri="{FF2B5EF4-FFF2-40B4-BE49-F238E27FC236}">
                <a16:creationId xmlns:a16="http://schemas.microsoft.com/office/drawing/2014/main" id="{B61224AA-066C-9665-9262-8017220304F1}"/>
              </a:ext>
            </a:extLst>
          </p:cNvPr>
          <p:cNvSpPr txBox="1"/>
          <p:nvPr/>
        </p:nvSpPr>
        <p:spPr>
          <a:xfrm>
            <a:off x="311699" y="2948495"/>
            <a:ext cx="7314651" cy="1200329"/>
          </a:xfrm>
          <a:prstGeom prst="rect">
            <a:avLst/>
          </a:prstGeom>
          <a:noFill/>
        </p:spPr>
        <p:txBody>
          <a:bodyPr wrap="square">
            <a:spAutoFit/>
          </a:bodyPr>
          <a:lstStyle/>
          <a:p>
            <a:r>
              <a:rPr lang="en-US" sz="2400" b="1" dirty="0">
                <a:solidFill>
                  <a:schemeClr val="tx1"/>
                </a:solidFill>
              </a:rPr>
              <a:t>Functionally equivalent when n &gt; 0</a:t>
            </a:r>
          </a:p>
          <a:p>
            <a:endParaRPr lang="en-US" sz="2400" b="1" dirty="0">
              <a:solidFill>
                <a:schemeClr val="tx1"/>
              </a:solidFill>
            </a:endParaRPr>
          </a:p>
          <a:p>
            <a:r>
              <a:rPr lang="en-US" sz="2400" b="1" dirty="0">
                <a:solidFill>
                  <a:srgbClr val="FF0000"/>
                </a:solidFill>
              </a:rPr>
              <a:t>Note: Always pay attention to ; after do…while();</a:t>
            </a:r>
          </a:p>
        </p:txBody>
      </p:sp>
    </p:spTree>
    <p:extLst>
      <p:ext uri="{BB962C8B-B14F-4D97-AF65-F5344CB8AC3E}">
        <p14:creationId xmlns:p14="http://schemas.microsoft.com/office/powerpoint/2010/main" val="9387213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2D4E60-4FCE-4C8D-1203-2498C5C708F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FB64030-AA09-049F-1875-CCEE618105BE}"/>
              </a:ext>
            </a:extLst>
          </p:cNvPr>
          <p:cNvSpPr>
            <a:spLocks noGrp="1"/>
          </p:cNvSpPr>
          <p:nvPr>
            <p:ph type="title"/>
          </p:nvPr>
        </p:nvSpPr>
        <p:spPr/>
        <p:txBody>
          <a:bodyPr>
            <a:normAutofit fontScale="90000"/>
          </a:bodyPr>
          <a:lstStyle/>
          <a:p>
            <a:r>
              <a:rPr lang="en-US" b="1" dirty="0">
                <a:cs typeface="Times New Roman" pitchFamily="16" charset="0"/>
              </a:rPr>
              <a:t>Array Default Values</a:t>
            </a:r>
            <a:endParaRPr lang="en-US" dirty="0"/>
          </a:p>
        </p:txBody>
      </p:sp>
      <p:sp>
        <p:nvSpPr>
          <p:cNvPr id="3" name="Text Placeholder 2">
            <a:extLst>
              <a:ext uri="{FF2B5EF4-FFF2-40B4-BE49-F238E27FC236}">
                <a16:creationId xmlns:a16="http://schemas.microsoft.com/office/drawing/2014/main" id="{5E3940F0-134D-BE82-3557-25022CE176A4}"/>
              </a:ext>
            </a:extLst>
          </p:cNvPr>
          <p:cNvSpPr>
            <a:spLocks noGrp="1"/>
          </p:cNvSpPr>
          <p:nvPr>
            <p:ph type="body" idx="1"/>
          </p:nvPr>
        </p:nvSpPr>
        <p:spPr/>
        <p:txBody>
          <a:bodyPr>
            <a:normAutofit fontScale="92500" lnSpcReduction="10000"/>
          </a:bodyPr>
          <a:lstStyle/>
          <a:p>
            <a:pPr marL="0" lvl="0">
              <a:buClr>
                <a:srgbClr val="595959"/>
              </a:buClr>
              <a:buNone/>
            </a:pPr>
            <a:r>
              <a:rPr lang="en-US" dirty="0">
                <a:solidFill>
                  <a:srgbClr val="000000"/>
                </a:solidFill>
                <a:latin typeface="Consolas" panose="020B0609020204030204" pitchFamily="49" charset="0"/>
                <a:ea typeface="Times New Roman" panose="02020603050405020304" pitchFamily="18" charset="0"/>
              </a:rPr>
              <a:t>		</a:t>
            </a:r>
            <a:r>
              <a:rPr lang="en-US" b="1" dirty="0">
                <a:solidFill>
                  <a:srgbClr val="7F0055"/>
                </a:solidFill>
                <a:latin typeface="Consolas" panose="020B0609020204030204" pitchFamily="49" charset="0"/>
                <a:ea typeface="Times New Roman" panose="02020603050405020304" pitchFamily="18" charset="0"/>
              </a:rPr>
              <a:t>int</a:t>
            </a:r>
            <a:r>
              <a:rPr lang="en-US" dirty="0">
                <a:solidFill>
                  <a:srgbClr val="000000"/>
                </a:solidFill>
                <a:latin typeface="Consolas" panose="020B0609020204030204" pitchFamily="49" charset="0"/>
                <a:ea typeface="Times New Roman" panose="02020603050405020304" pitchFamily="18" charset="0"/>
              </a:rPr>
              <a:t>[] </a:t>
            </a:r>
            <a:r>
              <a:rPr lang="en-US" dirty="0">
                <a:solidFill>
                  <a:srgbClr val="6A3E3E"/>
                </a:solidFill>
                <a:latin typeface="Consolas" panose="020B0609020204030204" pitchFamily="49" charset="0"/>
                <a:ea typeface="Times New Roman" panose="02020603050405020304" pitchFamily="18" charset="0"/>
              </a:rPr>
              <a:t>a</a:t>
            </a:r>
            <a:r>
              <a:rPr lang="en-US" dirty="0">
                <a:solidFill>
                  <a:srgbClr val="000000"/>
                </a:solidFill>
                <a:latin typeface="Consolas" panose="020B0609020204030204" pitchFamily="49" charset="0"/>
                <a:ea typeface="Times New Roman" panose="02020603050405020304" pitchFamily="18" charset="0"/>
              </a:rPr>
              <a:t> = </a:t>
            </a:r>
            <a:r>
              <a:rPr lang="en-US" b="1" dirty="0">
                <a:solidFill>
                  <a:srgbClr val="7F0055"/>
                </a:solidFill>
                <a:latin typeface="Consolas" panose="020B0609020204030204" pitchFamily="49" charset="0"/>
                <a:ea typeface="Times New Roman" panose="02020603050405020304" pitchFamily="18" charset="0"/>
              </a:rPr>
              <a:t>new</a:t>
            </a:r>
            <a:r>
              <a:rPr lang="en-US" dirty="0">
                <a:solidFill>
                  <a:srgbClr val="000000"/>
                </a:solidFill>
                <a:latin typeface="Consolas" panose="020B0609020204030204" pitchFamily="49" charset="0"/>
                <a:ea typeface="Times New Roman" panose="02020603050405020304" pitchFamily="18" charset="0"/>
              </a:rPr>
              <a:t> </a:t>
            </a:r>
            <a:r>
              <a:rPr lang="en-US" b="1" dirty="0">
                <a:solidFill>
                  <a:srgbClr val="7F0055"/>
                </a:solidFill>
                <a:latin typeface="Consolas" panose="020B0609020204030204" pitchFamily="49" charset="0"/>
                <a:ea typeface="Times New Roman" panose="02020603050405020304" pitchFamily="18" charset="0"/>
              </a:rPr>
              <a:t>int</a:t>
            </a:r>
            <a:r>
              <a:rPr lang="en-US" dirty="0">
                <a:solidFill>
                  <a:srgbClr val="000000"/>
                </a:solidFill>
                <a:latin typeface="Consolas" panose="020B0609020204030204" pitchFamily="49" charset="0"/>
                <a:ea typeface="Times New Roman" panose="02020603050405020304" pitchFamily="18" charset="0"/>
              </a:rPr>
              <a:t>[3];</a:t>
            </a:r>
            <a:r>
              <a:rPr lang="en-US" b="1" dirty="0">
                <a:solidFill>
                  <a:srgbClr val="7F0055"/>
                </a:solidFill>
                <a:latin typeface="Consolas" panose="020B0609020204030204" pitchFamily="49" charset="0"/>
                <a:ea typeface="Times New Roman" panose="02020603050405020304" pitchFamily="18" charset="0"/>
              </a:rPr>
              <a:t> </a:t>
            </a:r>
          </a:p>
          <a:p>
            <a:pPr marL="0" lvl="0">
              <a:buClr>
                <a:srgbClr val="595959"/>
              </a:buClr>
              <a:buNone/>
            </a:pPr>
            <a:r>
              <a:rPr lang="en-US" b="1" dirty="0">
                <a:solidFill>
                  <a:srgbClr val="7F0055"/>
                </a:solidFill>
                <a:latin typeface="Consolas" panose="020B0609020204030204" pitchFamily="49" charset="0"/>
                <a:ea typeface="Times New Roman" panose="02020603050405020304" pitchFamily="18" charset="0"/>
              </a:rPr>
              <a:t>		double</a:t>
            </a:r>
            <a:r>
              <a:rPr lang="en-US" dirty="0">
                <a:solidFill>
                  <a:srgbClr val="000000"/>
                </a:solidFill>
                <a:latin typeface="Consolas" panose="020B0609020204030204" pitchFamily="49" charset="0"/>
                <a:ea typeface="Times New Roman" panose="02020603050405020304" pitchFamily="18" charset="0"/>
              </a:rPr>
              <a:t>[] </a:t>
            </a:r>
            <a:r>
              <a:rPr lang="en-US" dirty="0">
                <a:solidFill>
                  <a:srgbClr val="6A3E3E"/>
                </a:solidFill>
                <a:latin typeface="Consolas" panose="020B0609020204030204" pitchFamily="49" charset="0"/>
                <a:ea typeface="Times New Roman" panose="02020603050405020304" pitchFamily="18" charset="0"/>
              </a:rPr>
              <a:t>d</a:t>
            </a:r>
            <a:r>
              <a:rPr lang="en-US" dirty="0">
                <a:solidFill>
                  <a:srgbClr val="000000"/>
                </a:solidFill>
                <a:latin typeface="Consolas" panose="020B0609020204030204" pitchFamily="49" charset="0"/>
                <a:ea typeface="Times New Roman" panose="02020603050405020304" pitchFamily="18" charset="0"/>
              </a:rPr>
              <a:t> = </a:t>
            </a:r>
            <a:r>
              <a:rPr lang="en-US" b="1" dirty="0">
                <a:solidFill>
                  <a:srgbClr val="7F0055"/>
                </a:solidFill>
                <a:latin typeface="Consolas" panose="020B0609020204030204" pitchFamily="49" charset="0"/>
                <a:ea typeface="Times New Roman" panose="02020603050405020304" pitchFamily="18" charset="0"/>
              </a:rPr>
              <a:t>new</a:t>
            </a:r>
            <a:r>
              <a:rPr lang="en-US" dirty="0">
                <a:solidFill>
                  <a:srgbClr val="000000"/>
                </a:solidFill>
                <a:latin typeface="Consolas" panose="020B0609020204030204" pitchFamily="49" charset="0"/>
                <a:ea typeface="Times New Roman" panose="02020603050405020304" pitchFamily="18" charset="0"/>
              </a:rPr>
              <a:t> </a:t>
            </a:r>
            <a:r>
              <a:rPr lang="en-US" b="1" dirty="0">
                <a:solidFill>
                  <a:srgbClr val="7F0055"/>
                </a:solidFill>
                <a:latin typeface="Consolas" panose="020B0609020204030204" pitchFamily="49" charset="0"/>
                <a:ea typeface="Times New Roman" panose="02020603050405020304" pitchFamily="18" charset="0"/>
              </a:rPr>
              <a:t>double</a:t>
            </a:r>
            <a:r>
              <a:rPr lang="en-US" dirty="0">
                <a:solidFill>
                  <a:srgbClr val="000000"/>
                </a:solidFill>
                <a:latin typeface="Consolas" panose="020B0609020204030204" pitchFamily="49" charset="0"/>
                <a:ea typeface="Times New Roman" panose="02020603050405020304" pitchFamily="18" charset="0"/>
              </a:rPr>
              <a:t>[3];</a:t>
            </a:r>
            <a:endParaRPr lang="en-US" sz="2800" dirty="0">
              <a:latin typeface="Times New Roman" panose="02020603050405020304" pitchFamily="18" charset="0"/>
              <a:ea typeface="Times New Roman" panose="02020603050405020304" pitchFamily="18" charset="0"/>
            </a:endParaRPr>
          </a:p>
          <a:p>
            <a:pPr marL="0">
              <a:buNone/>
            </a:pPr>
            <a:r>
              <a:rPr lang="en-US" dirty="0">
                <a:solidFill>
                  <a:srgbClr val="000000"/>
                </a:solidFill>
                <a:latin typeface="Consolas" panose="020B0609020204030204" pitchFamily="49" charset="0"/>
                <a:ea typeface="Times New Roman" panose="02020603050405020304" pitchFamily="18" charset="0"/>
              </a:rPr>
              <a:t>		</a:t>
            </a:r>
            <a:r>
              <a:rPr lang="en-US" b="1" dirty="0" err="1">
                <a:solidFill>
                  <a:srgbClr val="7F0055"/>
                </a:solidFill>
                <a:latin typeface="Consolas" panose="020B0609020204030204" pitchFamily="49" charset="0"/>
                <a:ea typeface="Times New Roman" panose="02020603050405020304" pitchFamily="18" charset="0"/>
              </a:rPr>
              <a:t>boolean</a:t>
            </a:r>
            <a:r>
              <a:rPr lang="en-US" dirty="0">
                <a:solidFill>
                  <a:srgbClr val="000000"/>
                </a:solidFill>
                <a:latin typeface="Consolas" panose="020B0609020204030204" pitchFamily="49" charset="0"/>
                <a:ea typeface="Times New Roman" panose="02020603050405020304" pitchFamily="18" charset="0"/>
              </a:rPr>
              <a:t>[] </a:t>
            </a:r>
            <a:r>
              <a:rPr lang="en-US" dirty="0">
                <a:solidFill>
                  <a:srgbClr val="6A3E3E"/>
                </a:solidFill>
                <a:latin typeface="Consolas" panose="020B0609020204030204" pitchFamily="49" charset="0"/>
                <a:ea typeface="Times New Roman" panose="02020603050405020304" pitchFamily="18" charset="0"/>
              </a:rPr>
              <a:t>b</a:t>
            </a:r>
            <a:r>
              <a:rPr lang="en-US" dirty="0">
                <a:solidFill>
                  <a:srgbClr val="000000"/>
                </a:solidFill>
                <a:latin typeface="Consolas" panose="020B0609020204030204" pitchFamily="49" charset="0"/>
                <a:ea typeface="Times New Roman" panose="02020603050405020304" pitchFamily="18" charset="0"/>
              </a:rPr>
              <a:t> = </a:t>
            </a:r>
            <a:r>
              <a:rPr lang="en-US" b="1" dirty="0">
                <a:solidFill>
                  <a:srgbClr val="7F0055"/>
                </a:solidFill>
                <a:latin typeface="Consolas" panose="020B0609020204030204" pitchFamily="49" charset="0"/>
                <a:ea typeface="Times New Roman" panose="02020603050405020304" pitchFamily="18" charset="0"/>
              </a:rPr>
              <a:t>new</a:t>
            </a:r>
            <a:r>
              <a:rPr lang="en-US" dirty="0">
                <a:solidFill>
                  <a:srgbClr val="000000"/>
                </a:solidFill>
                <a:latin typeface="Consolas" panose="020B0609020204030204" pitchFamily="49" charset="0"/>
                <a:ea typeface="Times New Roman" panose="02020603050405020304" pitchFamily="18" charset="0"/>
              </a:rPr>
              <a:t> </a:t>
            </a:r>
            <a:r>
              <a:rPr lang="en-US" b="1" dirty="0" err="1">
                <a:solidFill>
                  <a:srgbClr val="7F0055"/>
                </a:solidFill>
                <a:latin typeface="Consolas" panose="020B0609020204030204" pitchFamily="49" charset="0"/>
                <a:ea typeface="Times New Roman" panose="02020603050405020304" pitchFamily="18" charset="0"/>
              </a:rPr>
              <a:t>boolean</a:t>
            </a:r>
            <a:r>
              <a:rPr lang="en-US" dirty="0">
                <a:solidFill>
                  <a:srgbClr val="000000"/>
                </a:solidFill>
                <a:latin typeface="Consolas" panose="020B0609020204030204" pitchFamily="49" charset="0"/>
                <a:ea typeface="Times New Roman" panose="02020603050405020304" pitchFamily="18" charset="0"/>
              </a:rPr>
              <a:t>[4];</a:t>
            </a:r>
            <a:endParaRPr lang="en-US" sz="2800" dirty="0">
              <a:latin typeface="Times New Roman" panose="02020603050405020304" pitchFamily="18" charset="0"/>
              <a:ea typeface="Times New Roman" panose="02020603050405020304" pitchFamily="18" charset="0"/>
            </a:endParaRPr>
          </a:p>
          <a:p>
            <a:pPr marL="0">
              <a:buNone/>
            </a:pPr>
            <a:r>
              <a:rPr lang="en-US" dirty="0">
                <a:solidFill>
                  <a:srgbClr val="000000"/>
                </a:solidFill>
                <a:latin typeface="Consolas" panose="020B0609020204030204" pitchFamily="49" charset="0"/>
                <a:ea typeface="Times New Roman" panose="02020603050405020304" pitchFamily="18" charset="0"/>
              </a:rPr>
              <a:t>		</a:t>
            </a:r>
            <a:r>
              <a:rPr lang="en-US" b="1" dirty="0">
                <a:solidFill>
                  <a:srgbClr val="7F0055"/>
                </a:solidFill>
                <a:latin typeface="Consolas" panose="020B0609020204030204" pitchFamily="49" charset="0"/>
                <a:ea typeface="Times New Roman" panose="02020603050405020304" pitchFamily="18" charset="0"/>
              </a:rPr>
              <a:t>char</a:t>
            </a:r>
            <a:r>
              <a:rPr lang="en-US" dirty="0">
                <a:solidFill>
                  <a:srgbClr val="000000"/>
                </a:solidFill>
                <a:latin typeface="Consolas" panose="020B0609020204030204" pitchFamily="49" charset="0"/>
                <a:ea typeface="Times New Roman" panose="02020603050405020304" pitchFamily="18" charset="0"/>
              </a:rPr>
              <a:t>[] </a:t>
            </a:r>
            <a:r>
              <a:rPr lang="en-US" dirty="0">
                <a:solidFill>
                  <a:srgbClr val="6A3E3E"/>
                </a:solidFill>
                <a:latin typeface="Consolas" panose="020B0609020204030204" pitchFamily="49" charset="0"/>
                <a:ea typeface="Times New Roman" panose="02020603050405020304" pitchFamily="18" charset="0"/>
              </a:rPr>
              <a:t>c</a:t>
            </a:r>
            <a:r>
              <a:rPr lang="en-US" dirty="0">
                <a:solidFill>
                  <a:srgbClr val="000000"/>
                </a:solidFill>
                <a:latin typeface="Consolas" panose="020B0609020204030204" pitchFamily="49" charset="0"/>
                <a:ea typeface="Times New Roman" panose="02020603050405020304" pitchFamily="18" charset="0"/>
              </a:rPr>
              <a:t> = </a:t>
            </a:r>
            <a:r>
              <a:rPr lang="en-US" b="1" dirty="0">
                <a:solidFill>
                  <a:srgbClr val="7F0055"/>
                </a:solidFill>
                <a:latin typeface="Consolas" panose="020B0609020204030204" pitchFamily="49" charset="0"/>
                <a:ea typeface="Times New Roman" panose="02020603050405020304" pitchFamily="18" charset="0"/>
              </a:rPr>
              <a:t>new</a:t>
            </a:r>
            <a:r>
              <a:rPr lang="en-US" dirty="0">
                <a:solidFill>
                  <a:srgbClr val="000000"/>
                </a:solidFill>
                <a:latin typeface="Consolas" panose="020B0609020204030204" pitchFamily="49" charset="0"/>
                <a:ea typeface="Times New Roman" panose="02020603050405020304" pitchFamily="18" charset="0"/>
              </a:rPr>
              <a:t> </a:t>
            </a:r>
            <a:r>
              <a:rPr lang="en-US" b="1" dirty="0">
                <a:solidFill>
                  <a:srgbClr val="7F0055"/>
                </a:solidFill>
                <a:latin typeface="Consolas" panose="020B0609020204030204" pitchFamily="49" charset="0"/>
                <a:ea typeface="Times New Roman" panose="02020603050405020304" pitchFamily="18" charset="0"/>
              </a:rPr>
              <a:t>char</a:t>
            </a:r>
            <a:r>
              <a:rPr lang="en-US" dirty="0">
                <a:solidFill>
                  <a:srgbClr val="000000"/>
                </a:solidFill>
                <a:latin typeface="Consolas" panose="020B0609020204030204" pitchFamily="49" charset="0"/>
                <a:ea typeface="Times New Roman" panose="02020603050405020304" pitchFamily="18" charset="0"/>
              </a:rPr>
              <a:t>[5];</a:t>
            </a:r>
            <a:endParaRPr lang="en-US" sz="2800" dirty="0">
              <a:latin typeface="Times New Roman" panose="02020603050405020304" pitchFamily="18" charset="0"/>
              <a:ea typeface="Times New Roman" panose="02020603050405020304" pitchFamily="18" charset="0"/>
            </a:endParaRPr>
          </a:p>
          <a:p>
            <a:pPr marL="0">
              <a:buNone/>
            </a:pPr>
            <a:r>
              <a:rPr lang="en-US" dirty="0">
                <a:solidFill>
                  <a:srgbClr val="000000"/>
                </a:solidFill>
                <a:latin typeface="Consolas" panose="020B0609020204030204" pitchFamily="49" charset="0"/>
                <a:ea typeface="Times New Roman" panose="02020603050405020304" pitchFamily="18" charset="0"/>
              </a:rPr>
              <a:t>		String[] </a:t>
            </a:r>
            <a:r>
              <a:rPr lang="en-US" dirty="0">
                <a:solidFill>
                  <a:srgbClr val="6A3E3E"/>
                </a:solidFill>
                <a:latin typeface="Consolas" panose="020B0609020204030204" pitchFamily="49" charset="0"/>
                <a:ea typeface="Times New Roman" panose="02020603050405020304" pitchFamily="18" charset="0"/>
              </a:rPr>
              <a:t>s</a:t>
            </a:r>
            <a:r>
              <a:rPr lang="en-US" dirty="0">
                <a:solidFill>
                  <a:srgbClr val="000000"/>
                </a:solidFill>
                <a:latin typeface="Consolas" panose="020B0609020204030204" pitchFamily="49" charset="0"/>
                <a:ea typeface="Times New Roman" panose="02020603050405020304" pitchFamily="18" charset="0"/>
              </a:rPr>
              <a:t> = </a:t>
            </a:r>
            <a:r>
              <a:rPr lang="en-US" b="1" dirty="0">
                <a:solidFill>
                  <a:srgbClr val="7F0055"/>
                </a:solidFill>
                <a:latin typeface="Consolas" panose="020B0609020204030204" pitchFamily="49" charset="0"/>
                <a:ea typeface="Times New Roman" panose="02020603050405020304" pitchFamily="18" charset="0"/>
              </a:rPr>
              <a:t>new</a:t>
            </a:r>
            <a:r>
              <a:rPr lang="en-US" dirty="0">
                <a:solidFill>
                  <a:srgbClr val="000000"/>
                </a:solidFill>
                <a:latin typeface="Consolas" panose="020B0609020204030204" pitchFamily="49" charset="0"/>
                <a:ea typeface="Times New Roman" panose="02020603050405020304" pitchFamily="18" charset="0"/>
              </a:rPr>
              <a:t> String[2];</a:t>
            </a:r>
          </a:p>
          <a:p>
            <a:pPr marL="0">
              <a:buNone/>
            </a:pPr>
            <a:endParaRPr lang="en-US" sz="2800" dirty="0">
              <a:latin typeface="Times New Roman" panose="02020603050405020304" pitchFamily="18" charset="0"/>
              <a:ea typeface="Times New Roman" panose="02020603050405020304" pitchFamily="18" charset="0"/>
            </a:endParaRPr>
          </a:p>
          <a:p>
            <a:pPr marL="0">
              <a:buNone/>
            </a:pPr>
            <a:r>
              <a:rPr lang="en-US" dirty="0">
                <a:solidFill>
                  <a:srgbClr val="000000"/>
                </a:solidFill>
                <a:latin typeface="Consolas" panose="020B0609020204030204" pitchFamily="49" charset="0"/>
                <a:ea typeface="Times New Roman" panose="02020603050405020304" pitchFamily="18" charset="0"/>
              </a:rPr>
              <a:t>		</a:t>
            </a:r>
            <a:r>
              <a:rPr lang="en-US" dirty="0" err="1">
                <a:solidFill>
                  <a:srgbClr val="000000"/>
                </a:solidFill>
                <a:latin typeface="Consolas" panose="020B0609020204030204" pitchFamily="49" charset="0"/>
                <a:ea typeface="Times New Roman" panose="02020603050405020304" pitchFamily="18" charset="0"/>
              </a:rPr>
              <a:t>System.</a:t>
            </a:r>
            <a:r>
              <a:rPr lang="en-US" b="1" i="1" dirty="0" err="1">
                <a:solidFill>
                  <a:srgbClr val="0000C0"/>
                </a:solidFill>
                <a:latin typeface="Consolas" panose="020B0609020204030204" pitchFamily="49" charset="0"/>
                <a:ea typeface="Times New Roman" panose="02020603050405020304" pitchFamily="18" charset="0"/>
              </a:rPr>
              <a:t>out</a:t>
            </a:r>
            <a:r>
              <a:rPr lang="en-US" dirty="0" err="1">
                <a:solidFill>
                  <a:srgbClr val="000000"/>
                </a:solidFill>
                <a:latin typeface="Consolas" panose="020B0609020204030204" pitchFamily="49" charset="0"/>
                <a:ea typeface="Times New Roman" panose="02020603050405020304" pitchFamily="18" charset="0"/>
              </a:rPr>
              <a:t>.println</a:t>
            </a:r>
            <a:r>
              <a:rPr lang="en-US" dirty="0">
                <a:solidFill>
                  <a:srgbClr val="000000"/>
                </a:solidFill>
                <a:latin typeface="Consolas" panose="020B0609020204030204" pitchFamily="49" charset="0"/>
                <a:ea typeface="Times New Roman" panose="02020603050405020304" pitchFamily="18" charset="0"/>
              </a:rPr>
              <a:t>(</a:t>
            </a:r>
            <a:r>
              <a:rPr lang="en-US" dirty="0">
                <a:solidFill>
                  <a:srgbClr val="6A3E3E"/>
                </a:solidFill>
                <a:latin typeface="Consolas" panose="020B0609020204030204" pitchFamily="49" charset="0"/>
                <a:ea typeface="Times New Roman" panose="02020603050405020304" pitchFamily="18" charset="0"/>
              </a:rPr>
              <a:t>a</a:t>
            </a:r>
            <a:r>
              <a:rPr lang="en-US" dirty="0">
                <a:solidFill>
                  <a:srgbClr val="000000"/>
                </a:solidFill>
                <a:latin typeface="Consolas" panose="020B0609020204030204" pitchFamily="49" charset="0"/>
                <a:ea typeface="Times New Roman" panose="02020603050405020304" pitchFamily="18" charset="0"/>
              </a:rPr>
              <a:t>[0]);		0</a:t>
            </a:r>
          </a:p>
          <a:p>
            <a:pPr marL="0">
              <a:buNone/>
            </a:pPr>
            <a:r>
              <a:rPr lang="en-US" dirty="0">
                <a:solidFill>
                  <a:srgbClr val="000000"/>
                </a:solidFill>
                <a:latin typeface="Consolas" panose="020B0609020204030204" pitchFamily="49" charset="0"/>
                <a:ea typeface="Times New Roman" panose="02020603050405020304" pitchFamily="18" charset="0"/>
              </a:rPr>
              <a:t>		</a:t>
            </a:r>
            <a:r>
              <a:rPr lang="en-US" dirty="0" err="1">
                <a:solidFill>
                  <a:srgbClr val="000000"/>
                </a:solidFill>
                <a:latin typeface="Consolas" panose="020B0609020204030204" pitchFamily="49" charset="0"/>
                <a:ea typeface="Times New Roman" panose="02020603050405020304" pitchFamily="18" charset="0"/>
              </a:rPr>
              <a:t>System.</a:t>
            </a:r>
            <a:r>
              <a:rPr lang="en-US" b="1" i="1" dirty="0" err="1">
                <a:solidFill>
                  <a:srgbClr val="0000C0"/>
                </a:solidFill>
                <a:latin typeface="Consolas" panose="020B0609020204030204" pitchFamily="49" charset="0"/>
                <a:ea typeface="Times New Roman" panose="02020603050405020304" pitchFamily="18" charset="0"/>
              </a:rPr>
              <a:t>out</a:t>
            </a:r>
            <a:r>
              <a:rPr lang="en-US" dirty="0" err="1">
                <a:solidFill>
                  <a:srgbClr val="000000"/>
                </a:solidFill>
                <a:latin typeface="Consolas" panose="020B0609020204030204" pitchFamily="49" charset="0"/>
                <a:ea typeface="Times New Roman" panose="02020603050405020304" pitchFamily="18" charset="0"/>
              </a:rPr>
              <a:t>.println</a:t>
            </a:r>
            <a:r>
              <a:rPr lang="en-US" dirty="0">
                <a:solidFill>
                  <a:srgbClr val="000000"/>
                </a:solidFill>
                <a:latin typeface="Consolas" panose="020B0609020204030204" pitchFamily="49" charset="0"/>
                <a:ea typeface="Times New Roman" panose="02020603050405020304" pitchFamily="18" charset="0"/>
              </a:rPr>
              <a:t>(</a:t>
            </a:r>
            <a:r>
              <a:rPr lang="en-US" dirty="0">
                <a:solidFill>
                  <a:srgbClr val="6A3E3E"/>
                </a:solidFill>
                <a:latin typeface="Consolas" panose="020B0609020204030204" pitchFamily="49" charset="0"/>
                <a:ea typeface="Times New Roman" panose="02020603050405020304" pitchFamily="18" charset="0"/>
              </a:rPr>
              <a:t>d</a:t>
            </a:r>
            <a:r>
              <a:rPr lang="en-US" dirty="0">
                <a:solidFill>
                  <a:srgbClr val="000000"/>
                </a:solidFill>
                <a:latin typeface="Consolas" panose="020B0609020204030204" pitchFamily="49" charset="0"/>
                <a:ea typeface="Times New Roman" panose="02020603050405020304" pitchFamily="18" charset="0"/>
              </a:rPr>
              <a:t>[0]);		0.0</a:t>
            </a:r>
            <a:endParaRPr lang="en-US" sz="2800" dirty="0">
              <a:latin typeface="Times New Roman" panose="02020603050405020304" pitchFamily="18" charset="0"/>
              <a:ea typeface="Times New Roman" panose="02020603050405020304" pitchFamily="18" charset="0"/>
            </a:endParaRPr>
          </a:p>
          <a:p>
            <a:pPr marL="0">
              <a:buNone/>
            </a:pPr>
            <a:r>
              <a:rPr lang="en-US" dirty="0">
                <a:solidFill>
                  <a:srgbClr val="000000"/>
                </a:solidFill>
                <a:latin typeface="Consolas" panose="020B0609020204030204" pitchFamily="49" charset="0"/>
                <a:ea typeface="Times New Roman" panose="02020603050405020304" pitchFamily="18" charset="0"/>
              </a:rPr>
              <a:t>		</a:t>
            </a:r>
            <a:r>
              <a:rPr lang="en-US" dirty="0" err="1">
                <a:solidFill>
                  <a:srgbClr val="000000"/>
                </a:solidFill>
                <a:latin typeface="Consolas" panose="020B0609020204030204" pitchFamily="49" charset="0"/>
                <a:ea typeface="Times New Roman" panose="02020603050405020304" pitchFamily="18" charset="0"/>
              </a:rPr>
              <a:t>System.</a:t>
            </a:r>
            <a:r>
              <a:rPr lang="en-US" b="1" i="1" dirty="0" err="1">
                <a:solidFill>
                  <a:srgbClr val="0000C0"/>
                </a:solidFill>
                <a:latin typeface="Consolas" panose="020B0609020204030204" pitchFamily="49" charset="0"/>
                <a:ea typeface="Times New Roman" panose="02020603050405020304" pitchFamily="18" charset="0"/>
              </a:rPr>
              <a:t>out</a:t>
            </a:r>
            <a:r>
              <a:rPr lang="en-US" dirty="0" err="1">
                <a:solidFill>
                  <a:srgbClr val="000000"/>
                </a:solidFill>
                <a:latin typeface="Consolas" panose="020B0609020204030204" pitchFamily="49" charset="0"/>
                <a:ea typeface="Times New Roman" panose="02020603050405020304" pitchFamily="18" charset="0"/>
              </a:rPr>
              <a:t>.println</a:t>
            </a:r>
            <a:r>
              <a:rPr lang="en-US" dirty="0">
                <a:solidFill>
                  <a:srgbClr val="000000"/>
                </a:solidFill>
                <a:latin typeface="Consolas" panose="020B0609020204030204" pitchFamily="49" charset="0"/>
                <a:ea typeface="Times New Roman" panose="02020603050405020304" pitchFamily="18" charset="0"/>
              </a:rPr>
              <a:t>(</a:t>
            </a:r>
            <a:r>
              <a:rPr lang="en-US" dirty="0">
                <a:solidFill>
                  <a:srgbClr val="6A3E3E"/>
                </a:solidFill>
                <a:latin typeface="Consolas" panose="020B0609020204030204" pitchFamily="49" charset="0"/>
                <a:ea typeface="Times New Roman" panose="02020603050405020304" pitchFamily="18" charset="0"/>
              </a:rPr>
              <a:t>b</a:t>
            </a:r>
            <a:r>
              <a:rPr lang="en-US" dirty="0">
                <a:solidFill>
                  <a:srgbClr val="000000"/>
                </a:solidFill>
                <a:latin typeface="Consolas" panose="020B0609020204030204" pitchFamily="49" charset="0"/>
                <a:ea typeface="Times New Roman" panose="02020603050405020304" pitchFamily="18" charset="0"/>
              </a:rPr>
              <a:t>[1]);		false</a:t>
            </a:r>
            <a:endParaRPr lang="en-US" sz="2800" dirty="0">
              <a:latin typeface="Times New Roman" panose="02020603050405020304" pitchFamily="18" charset="0"/>
              <a:ea typeface="Times New Roman" panose="02020603050405020304" pitchFamily="18" charset="0"/>
            </a:endParaRPr>
          </a:p>
          <a:p>
            <a:pPr marL="0">
              <a:buNone/>
            </a:pPr>
            <a:r>
              <a:rPr lang="en-US" dirty="0">
                <a:solidFill>
                  <a:srgbClr val="000000"/>
                </a:solidFill>
                <a:latin typeface="Consolas" panose="020B0609020204030204" pitchFamily="49" charset="0"/>
                <a:ea typeface="Times New Roman" panose="02020603050405020304" pitchFamily="18" charset="0"/>
              </a:rPr>
              <a:t>		</a:t>
            </a:r>
            <a:r>
              <a:rPr lang="en-US" dirty="0" err="1">
                <a:solidFill>
                  <a:srgbClr val="000000"/>
                </a:solidFill>
                <a:latin typeface="Consolas" panose="020B0609020204030204" pitchFamily="49" charset="0"/>
                <a:ea typeface="Times New Roman" panose="02020603050405020304" pitchFamily="18" charset="0"/>
              </a:rPr>
              <a:t>System.</a:t>
            </a:r>
            <a:r>
              <a:rPr lang="en-US" b="1" i="1" dirty="0" err="1">
                <a:solidFill>
                  <a:srgbClr val="0000C0"/>
                </a:solidFill>
                <a:latin typeface="Consolas" panose="020B0609020204030204" pitchFamily="49" charset="0"/>
                <a:ea typeface="Times New Roman" panose="02020603050405020304" pitchFamily="18" charset="0"/>
              </a:rPr>
              <a:t>out</a:t>
            </a:r>
            <a:r>
              <a:rPr lang="en-US" dirty="0" err="1">
                <a:solidFill>
                  <a:srgbClr val="000000"/>
                </a:solidFill>
                <a:latin typeface="Consolas" panose="020B0609020204030204" pitchFamily="49" charset="0"/>
                <a:ea typeface="Times New Roman" panose="02020603050405020304" pitchFamily="18" charset="0"/>
              </a:rPr>
              <a:t>.println</a:t>
            </a:r>
            <a:r>
              <a:rPr lang="en-US" dirty="0">
                <a:solidFill>
                  <a:srgbClr val="000000"/>
                </a:solidFill>
                <a:latin typeface="Consolas" panose="020B0609020204030204" pitchFamily="49" charset="0"/>
                <a:ea typeface="Times New Roman" panose="02020603050405020304" pitchFamily="18" charset="0"/>
              </a:rPr>
              <a:t>(</a:t>
            </a:r>
            <a:r>
              <a:rPr lang="en-US" dirty="0">
                <a:solidFill>
                  <a:srgbClr val="6A3E3E"/>
                </a:solidFill>
                <a:latin typeface="Consolas" panose="020B0609020204030204" pitchFamily="49" charset="0"/>
                <a:ea typeface="Times New Roman" panose="02020603050405020304" pitchFamily="18" charset="0"/>
              </a:rPr>
              <a:t>c</a:t>
            </a:r>
            <a:r>
              <a:rPr lang="en-US" dirty="0">
                <a:solidFill>
                  <a:srgbClr val="000000"/>
                </a:solidFill>
                <a:latin typeface="Consolas" panose="020B0609020204030204" pitchFamily="49" charset="0"/>
                <a:ea typeface="Times New Roman" panose="02020603050405020304" pitchFamily="18" charset="0"/>
              </a:rPr>
              <a:t>[2]);		</a:t>
            </a:r>
            <a:r>
              <a:rPr lang="en-US" u="sng" dirty="0">
                <a:solidFill>
                  <a:srgbClr val="FF0000"/>
                </a:solidFill>
              </a:rPr>
              <a:t>‘\u0000'</a:t>
            </a:r>
            <a:endParaRPr lang="en-US" sz="2800" dirty="0">
              <a:solidFill>
                <a:srgbClr val="FF0000"/>
              </a:solidFill>
              <a:latin typeface="Times New Roman" panose="02020603050405020304" pitchFamily="18" charset="0"/>
              <a:ea typeface="Times New Roman" panose="02020603050405020304" pitchFamily="18" charset="0"/>
            </a:endParaRPr>
          </a:p>
          <a:p>
            <a:pPr marL="0">
              <a:buNone/>
            </a:pPr>
            <a:r>
              <a:rPr lang="en-US" dirty="0">
                <a:solidFill>
                  <a:srgbClr val="000000"/>
                </a:solidFill>
                <a:latin typeface="Consolas" panose="020B0609020204030204" pitchFamily="49" charset="0"/>
                <a:ea typeface="Times New Roman" panose="02020603050405020304" pitchFamily="18" charset="0"/>
              </a:rPr>
              <a:t>		</a:t>
            </a:r>
            <a:r>
              <a:rPr lang="en-US" dirty="0" err="1">
                <a:solidFill>
                  <a:srgbClr val="000000"/>
                </a:solidFill>
                <a:latin typeface="Consolas" panose="020B0609020204030204" pitchFamily="49" charset="0"/>
                <a:ea typeface="Times New Roman" panose="02020603050405020304" pitchFamily="18" charset="0"/>
              </a:rPr>
              <a:t>System.</a:t>
            </a:r>
            <a:r>
              <a:rPr lang="en-US" b="1" i="1" dirty="0" err="1">
                <a:solidFill>
                  <a:srgbClr val="0000C0"/>
                </a:solidFill>
                <a:latin typeface="Consolas" panose="020B0609020204030204" pitchFamily="49" charset="0"/>
                <a:ea typeface="Times New Roman" panose="02020603050405020304" pitchFamily="18" charset="0"/>
              </a:rPr>
              <a:t>out</a:t>
            </a:r>
            <a:r>
              <a:rPr lang="en-US" dirty="0" err="1">
                <a:solidFill>
                  <a:srgbClr val="000000"/>
                </a:solidFill>
                <a:latin typeface="Consolas" panose="020B0609020204030204" pitchFamily="49" charset="0"/>
                <a:ea typeface="Times New Roman" panose="02020603050405020304" pitchFamily="18" charset="0"/>
              </a:rPr>
              <a:t>.println</a:t>
            </a:r>
            <a:r>
              <a:rPr lang="en-US" dirty="0">
                <a:solidFill>
                  <a:srgbClr val="000000"/>
                </a:solidFill>
                <a:latin typeface="Consolas" panose="020B0609020204030204" pitchFamily="49" charset="0"/>
                <a:ea typeface="Times New Roman" panose="02020603050405020304" pitchFamily="18" charset="0"/>
              </a:rPr>
              <a:t>(</a:t>
            </a:r>
            <a:r>
              <a:rPr lang="en-US" dirty="0">
                <a:solidFill>
                  <a:srgbClr val="6A3E3E"/>
                </a:solidFill>
                <a:latin typeface="Consolas" panose="020B0609020204030204" pitchFamily="49" charset="0"/>
                <a:ea typeface="Times New Roman" panose="02020603050405020304" pitchFamily="18" charset="0"/>
              </a:rPr>
              <a:t>s</a:t>
            </a:r>
            <a:r>
              <a:rPr lang="en-US" dirty="0">
                <a:solidFill>
                  <a:srgbClr val="000000"/>
                </a:solidFill>
                <a:latin typeface="Consolas" panose="020B0609020204030204" pitchFamily="49" charset="0"/>
                <a:ea typeface="Times New Roman" panose="02020603050405020304" pitchFamily="18" charset="0"/>
              </a:rPr>
              <a:t>[1]);		null</a:t>
            </a:r>
            <a:endParaRPr lang="en-US" sz="2800" dirty="0">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16381409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animEffect transition="in" filter="fade">
                                      <p:cBhvr>
                                        <p:cTn id="7" dur="500"/>
                                        <p:tgtEl>
                                          <p:spTgt spid="3">
                                            <p:txEl>
                                              <p:pRg st="6" end="6"/>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7" end="7"/>
                                            </p:txEl>
                                          </p:spTgt>
                                        </p:tgtEl>
                                        <p:attrNameLst>
                                          <p:attrName>style.visibility</p:attrName>
                                        </p:attrNameLst>
                                      </p:cBhvr>
                                      <p:to>
                                        <p:strVal val="visible"/>
                                      </p:to>
                                    </p:set>
                                    <p:animEffect transition="in" filter="fade">
                                      <p:cBhvr>
                                        <p:cTn id="12" dur="500"/>
                                        <p:tgtEl>
                                          <p:spTgt spid="3">
                                            <p:txEl>
                                              <p:pRg st="7" end="7"/>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8" end="8"/>
                                            </p:txEl>
                                          </p:spTgt>
                                        </p:tgtEl>
                                        <p:attrNameLst>
                                          <p:attrName>style.visibility</p:attrName>
                                        </p:attrNameLst>
                                      </p:cBhvr>
                                      <p:to>
                                        <p:strVal val="visible"/>
                                      </p:to>
                                    </p:set>
                                    <p:animEffect transition="in" filter="fade">
                                      <p:cBhvr>
                                        <p:cTn id="17" dur="500"/>
                                        <p:tgtEl>
                                          <p:spTgt spid="3">
                                            <p:txEl>
                                              <p:pRg st="8" end="8"/>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9" end="9"/>
                                            </p:txEl>
                                          </p:spTgt>
                                        </p:tgtEl>
                                        <p:attrNameLst>
                                          <p:attrName>style.visibility</p:attrName>
                                        </p:attrNameLst>
                                      </p:cBhvr>
                                      <p:to>
                                        <p:strVal val="visible"/>
                                      </p:to>
                                    </p:set>
                                    <p:animEffect transition="in" filter="fade">
                                      <p:cBhvr>
                                        <p:cTn id="22" dur="500"/>
                                        <p:tgtEl>
                                          <p:spTgt spid="3">
                                            <p:txEl>
                                              <p:pRg st="9" end="9"/>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10" end="10"/>
                                            </p:txEl>
                                          </p:spTgt>
                                        </p:tgtEl>
                                        <p:attrNameLst>
                                          <p:attrName>style.visibility</p:attrName>
                                        </p:attrNameLst>
                                      </p:cBhvr>
                                      <p:to>
                                        <p:strVal val="visible"/>
                                      </p:to>
                                    </p:set>
                                    <p:animEffect transition="in" filter="fade">
                                      <p:cBhvr>
                                        <p:cTn id="27" dur="500"/>
                                        <p:tgtEl>
                                          <p:spTgt spid="3">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cs typeface="Times New Roman" pitchFamily="16" charset="0"/>
              </a:rPr>
              <a:t>Scope of Variables</a:t>
            </a:r>
            <a:endParaRPr lang="en-US" dirty="0"/>
          </a:p>
        </p:txBody>
      </p:sp>
      <p:sp>
        <p:nvSpPr>
          <p:cNvPr id="3" name="Text Placeholder 2"/>
          <p:cNvSpPr>
            <a:spLocks noGrp="1"/>
          </p:cNvSpPr>
          <p:nvPr>
            <p:ph type="body" idx="1"/>
          </p:nvPr>
        </p:nvSpPr>
        <p:spPr/>
        <p:txBody>
          <a:bodyPr>
            <a:normAutofit/>
          </a:bodyPr>
          <a:lstStyle/>
          <a:p>
            <a:r>
              <a:rPr lang="en-US" altLang="en-US" b="1" dirty="0">
                <a:solidFill>
                  <a:schemeClr val="tx1"/>
                </a:solidFill>
              </a:rPr>
              <a:t>Data Field Variables </a:t>
            </a:r>
            <a:r>
              <a:rPr lang="en-US" altLang="en-US" dirty="0"/>
              <a:t>can be declared anywhere inside a class.</a:t>
            </a:r>
          </a:p>
          <a:p>
            <a:pPr lvl="1"/>
            <a:r>
              <a:rPr lang="en-US" altLang="en-US" sz="1800" b="1" dirty="0">
                <a:solidFill>
                  <a:schemeClr val="tx1"/>
                </a:solidFill>
              </a:rPr>
              <a:t>The scope of instance and static variables is the entire class!</a:t>
            </a:r>
          </a:p>
          <a:p>
            <a:pPr lvl="1"/>
            <a:r>
              <a:rPr lang="en-US" altLang="en-US" sz="1800" b="1" dirty="0">
                <a:solidFill>
                  <a:schemeClr val="tx1"/>
                </a:solidFill>
              </a:rPr>
              <a:t>Initialized with default values.</a:t>
            </a:r>
          </a:p>
          <a:p>
            <a:pPr marL="0" indent="0">
              <a:buNone/>
            </a:pPr>
            <a:r>
              <a:rPr lang="en-US" altLang="en-US" dirty="0"/>
              <a:t>VS.</a:t>
            </a:r>
          </a:p>
          <a:p>
            <a:r>
              <a:rPr lang="en-US" altLang="en-US" dirty="0"/>
              <a:t>The scope of a </a:t>
            </a:r>
            <a:r>
              <a:rPr lang="en-US" altLang="en-US" b="1" dirty="0">
                <a:solidFill>
                  <a:schemeClr val="tx1"/>
                </a:solidFill>
              </a:rPr>
              <a:t>local variable </a:t>
            </a:r>
            <a:r>
              <a:rPr lang="en-US" altLang="en-US" b="1" u="sng" dirty="0">
                <a:solidFill>
                  <a:schemeClr val="tx1"/>
                </a:solidFill>
              </a:rPr>
              <a:t>starts from its declaration </a:t>
            </a:r>
            <a:r>
              <a:rPr lang="en-US" altLang="en-US" dirty="0"/>
              <a:t>and continues to the end of the block that contains the variable</a:t>
            </a:r>
          </a:p>
          <a:p>
            <a:pPr lvl="1"/>
            <a:r>
              <a:rPr lang="en-US" altLang="en-US" sz="1800" b="1" dirty="0">
                <a:solidFill>
                  <a:schemeClr val="tx1"/>
                </a:solidFill>
              </a:rPr>
              <a:t>A local variable must be initialized explicitly before it can be used.</a:t>
            </a:r>
          </a:p>
        </p:txBody>
      </p:sp>
    </p:spTree>
    <p:extLst>
      <p:ext uri="{BB962C8B-B14F-4D97-AF65-F5344CB8AC3E}">
        <p14:creationId xmlns:p14="http://schemas.microsoft.com/office/powerpoint/2010/main" val="17896565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Overloading</a:t>
            </a:r>
          </a:p>
        </p:txBody>
      </p:sp>
      <p:sp>
        <p:nvSpPr>
          <p:cNvPr id="3" name="Text Placeholder 2"/>
          <p:cNvSpPr>
            <a:spLocks noGrp="1"/>
          </p:cNvSpPr>
          <p:nvPr>
            <p:ph type="body" idx="1"/>
          </p:nvPr>
        </p:nvSpPr>
        <p:spPr>
          <a:xfrm>
            <a:off x="311700" y="1152474"/>
            <a:ext cx="3564385" cy="1946775"/>
          </a:xfrm>
        </p:spPr>
        <p:txBody>
          <a:bodyPr>
            <a:noAutofit/>
          </a:bodyPr>
          <a:lstStyle/>
          <a:p>
            <a:r>
              <a:rPr lang="en-US" dirty="0"/>
              <a:t>Method overloading is the ability to create multiple methods of the same name with different implementations/Signature.</a:t>
            </a:r>
          </a:p>
        </p:txBody>
      </p:sp>
      <p:sp>
        <p:nvSpPr>
          <p:cNvPr id="4" name="Rectangle 3">
            <a:extLst>
              <a:ext uri="{FF2B5EF4-FFF2-40B4-BE49-F238E27FC236}">
                <a16:creationId xmlns:a16="http://schemas.microsoft.com/office/drawing/2014/main" id="{B1FE624C-65C5-4D2B-AF87-4B6EF11D85E3}"/>
              </a:ext>
            </a:extLst>
          </p:cNvPr>
          <p:cNvSpPr/>
          <p:nvPr/>
        </p:nvSpPr>
        <p:spPr>
          <a:xfrm>
            <a:off x="3989373" y="1017725"/>
            <a:ext cx="4936142" cy="3739485"/>
          </a:xfrm>
          <a:prstGeom prst="rect">
            <a:avLst/>
          </a:prstGeom>
        </p:spPr>
        <p:txBody>
          <a:bodyPr wrap="square" lIns="91440" tIns="45720" rIns="91440" bIns="45720" anchor="t">
            <a:spAutoFit/>
          </a:bodyPr>
          <a:lstStyle/>
          <a:p>
            <a:pPr eaLnBrk="0" fontAlgn="base" hangingPunct="0">
              <a:spcBef>
                <a:spcPct val="0"/>
              </a:spcBef>
              <a:spcAft>
                <a:spcPct val="0"/>
              </a:spcAft>
              <a:buClrTx/>
              <a:buFontTx/>
              <a:buNone/>
            </a:pPr>
            <a:r>
              <a:rPr lang="en-US" sz="1500" b="1" kern="1200" dirty="0">
                <a:solidFill>
                  <a:schemeClr val="tx1"/>
                </a:solidFill>
                <a:latin typeface="Consolas"/>
                <a:ea typeface="+mn-ea"/>
                <a:cs typeface="+mn-cs"/>
              </a:rPr>
              <a:t>// Overload the name max for different invocations</a:t>
            </a:r>
          </a:p>
          <a:p>
            <a:pPr eaLnBrk="0" fontAlgn="base" hangingPunct="0">
              <a:spcBef>
                <a:spcPct val="0"/>
              </a:spcBef>
              <a:spcAft>
                <a:spcPct val="0"/>
              </a:spcAft>
              <a:buClrTx/>
              <a:buFontTx/>
              <a:buNone/>
            </a:pPr>
            <a:r>
              <a:rPr lang="en-US" sz="1500" b="1" kern="1200" dirty="0">
                <a:solidFill>
                  <a:srgbClr val="7F0055"/>
                </a:solidFill>
                <a:latin typeface="Consolas"/>
                <a:ea typeface="+mn-ea"/>
                <a:cs typeface="+mn-cs"/>
              </a:rPr>
              <a:t>public</a:t>
            </a:r>
            <a:r>
              <a:rPr lang="en-US" sz="1500" b="1" kern="1200" dirty="0">
                <a:latin typeface="Consolas"/>
                <a:ea typeface="+mn-ea"/>
                <a:cs typeface="+mn-cs"/>
              </a:rPr>
              <a:t> </a:t>
            </a:r>
            <a:r>
              <a:rPr lang="en-US" sz="1500" b="1" kern="1200" dirty="0">
                <a:solidFill>
                  <a:srgbClr val="7F0055"/>
                </a:solidFill>
                <a:latin typeface="Consolas"/>
                <a:ea typeface="+mn-ea"/>
                <a:cs typeface="+mn-cs"/>
              </a:rPr>
              <a:t>static</a:t>
            </a:r>
            <a:r>
              <a:rPr lang="en-US" sz="1500" b="1" kern="1200" dirty="0">
                <a:latin typeface="Consolas"/>
                <a:ea typeface="+mn-ea"/>
                <a:cs typeface="+mn-cs"/>
              </a:rPr>
              <a:t> </a:t>
            </a:r>
            <a:r>
              <a:rPr lang="en-US" sz="1500" b="1" kern="1200" dirty="0">
                <a:solidFill>
                  <a:srgbClr val="7F0055"/>
                </a:solidFill>
                <a:latin typeface="Consolas"/>
                <a:ea typeface="+mn-ea"/>
                <a:cs typeface="+mn-cs"/>
              </a:rPr>
              <a:t>int</a:t>
            </a:r>
            <a:r>
              <a:rPr lang="en-US" sz="1500" b="1" kern="1200" dirty="0">
                <a:latin typeface="Consolas"/>
                <a:ea typeface="+mn-ea"/>
                <a:cs typeface="+mn-cs"/>
              </a:rPr>
              <a:t> max(</a:t>
            </a:r>
            <a:r>
              <a:rPr lang="en-US" sz="1500" b="1" kern="1200" dirty="0">
                <a:solidFill>
                  <a:srgbClr val="7F0055"/>
                </a:solidFill>
                <a:latin typeface="Consolas"/>
                <a:ea typeface="+mn-ea"/>
                <a:cs typeface="+mn-cs"/>
              </a:rPr>
              <a:t>int</a:t>
            </a:r>
            <a:r>
              <a:rPr lang="en-US" sz="1500" b="1" kern="1200" dirty="0">
                <a:latin typeface="Consolas"/>
                <a:ea typeface="+mn-ea"/>
                <a:cs typeface="+mn-cs"/>
              </a:rPr>
              <a:t> </a:t>
            </a:r>
            <a:r>
              <a:rPr lang="en-US" sz="1500" b="1" kern="1200" dirty="0">
                <a:solidFill>
                  <a:srgbClr val="6A3E3E"/>
                </a:solidFill>
                <a:latin typeface="Consolas"/>
                <a:ea typeface="+mn-ea"/>
                <a:cs typeface="+mn-cs"/>
              </a:rPr>
              <a:t>x</a:t>
            </a:r>
            <a:r>
              <a:rPr lang="en-US" sz="1500" b="1" kern="1200" dirty="0">
                <a:latin typeface="Consolas"/>
                <a:ea typeface="+mn-ea"/>
                <a:cs typeface="+mn-cs"/>
              </a:rPr>
              <a:t>, </a:t>
            </a:r>
            <a:r>
              <a:rPr lang="en-US" sz="1500" b="1" kern="1200" dirty="0">
                <a:solidFill>
                  <a:srgbClr val="7F0055"/>
                </a:solidFill>
                <a:latin typeface="Consolas"/>
                <a:ea typeface="+mn-ea"/>
                <a:cs typeface="+mn-cs"/>
              </a:rPr>
              <a:t>int</a:t>
            </a:r>
            <a:r>
              <a:rPr lang="en-US" sz="1500" b="1" kern="1200" dirty="0">
                <a:latin typeface="Consolas"/>
                <a:ea typeface="+mn-ea"/>
                <a:cs typeface="+mn-cs"/>
              </a:rPr>
              <a:t> </a:t>
            </a:r>
            <a:r>
              <a:rPr lang="en-US" sz="1500" b="1" kern="1200" dirty="0">
                <a:solidFill>
                  <a:srgbClr val="6A3E3E"/>
                </a:solidFill>
                <a:latin typeface="Consolas"/>
                <a:ea typeface="+mn-ea"/>
                <a:cs typeface="+mn-cs"/>
              </a:rPr>
              <a:t>y</a:t>
            </a:r>
            <a:r>
              <a:rPr lang="en-US" sz="1500" b="1" kern="1200" dirty="0">
                <a:latin typeface="Consolas"/>
                <a:ea typeface="+mn-ea"/>
                <a:cs typeface="+mn-cs"/>
              </a:rPr>
              <a:t>){</a:t>
            </a:r>
          </a:p>
          <a:p>
            <a:pPr eaLnBrk="0" fontAlgn="base" hangingPunct="0">
              <a:spcBef>
                <a:spcPct val="0"/>
              </a:spcBef>
              <a:spcAft>
                <a:spcPct val="0"/>
              </a:spcAft>
              <a:buClrTx/>
              <a:buFontTx/>
              <a:buNone/>
            </a:pPr>
            <a:r>
              <a:rPr lang="es-ES" sz="1500" b="1" kern="1200" dirty="0">
                <a:solidFill>
                  <a:srgbClr val="7F0055"/>
                </a:solidFill>
                <a:latin typeface="Consolas" panose="020B0609020204030204" pitchFamily="49" charset="0"/>
                <a:ea typeface="+mn-ea"/>
                <a:cs typeface="+mn-cs"/>
              </a:rPr>
              <a:t>	</a:t>
            </a:r>
            <a:r>
              <a:rPr lang="es-ES" sz="1500" b="1" kern="1200" dirty="0" err="1">
                <a:solidFill>
                  <a:srgbClr val="7F0055"/>
                </a:solidFill>
                <a:latin typeface="Consolas" panose="020B0609020204030204" pitchFamily="49" charset="0"/>
                <a:ea typeface="+mn-ea"/>
                <a:cs typeface="+mn-cs"/>
              </a:rPr>
              <a:t>return</a:t>
            </a:r>
            <a:r>
              <a:rPr lang="es-ES" sz="1500" b="1" kern="1200" dirty="0">
                <a:latin typeface="Consolas" panose="020B0609020204030204" pitchFamily="49" charset="0"/>
                <a:ea typeface="+mn-ea"/>
                <a:cs typeface="+mn-cs"/>
              </a:rPr>
              <a:t> (</a:t>
            </a:r>
            <a:r>
              <a:rPr lang="es-ES" sz="1500" b="1" kern="1200" dirty="0">
                <a:solidFill>
                  <a:srgbClr val="6A3E3E"/>
                </a:solidFill>
                <a:latin typeface="Consolas" panose="020B0609020204030204" pitchFamily="49" charset="0"/>
                <a:ea typeface="+mn-ea"/>
                <a:cs typeface="+mn-cs"/>
              </a:rPr>
              <a:t>x</a:t>
            </a:r>
            <a:r>
              <a:rPr lang="es-ES" sz="1500" b="1" kern="1200" dirty="0">
                <a:latin typeface="Consolas" panose="020B0609020204030204" pitchFamily="49" charset="0"/>
                <a:ea typeface="+mn-ea"/>
                <a:cs typeface="+mn-cs"/>
              </a:rPr>
              <a:t>&gt;</a:t>
            </a:r>
            <a:r>
              <a:rPr lang="es-ES" sz="1500" b="1" kern="1200" dirty="0">
                <a:solidFill>
                  <a:srgbClr val="6A3E3E"/>
                </a:solidFill>
                <a:latin typeface="Consolas" panose="020B0609020204030204" pitchFamily="49" charset="0"/>
                <a:ea typeface="+mn-ea"/>
                <a:cs typeface="+mn-cs"/>
              </a:rPr>
              <a:t>y</a:t>
            </a:r>
            <a:r>
              <a:rPr lang="es-ES" sz="1500" b="1" kern="1200" dirty="0">
                <a:latin typeface="Consolas" panose="020B0609020204030204" pitchFamily="49" charset="0"/>
                <a:ea typeface="+mn-ea"/>
                <a:cs typeface="+mn-cs"/>
              </a:rPr>
              <a:t>) ? </a:t>
            </a:r>
            <a:r>
              <a:rPr lang="es-ES" sz="1500" b="1" kern="1200" dirty="0">
                <a:solidFill>
                  <a:srgbClr val="6A3E3E"/>
                </a:solidFill>
                <a:latin typeface="Consolas" panose="020B0609020204030204" pitchFamily="49" charset="0"/>
                <a:ea typeface="+mn-ea"/>
                <a:cs typeface="+mn-cs"/>
              </a:rPr>
              <a:t>x</a:t>
            </a:r>
            <a:r>
              <a:rPr lang="es-ES" sz="1500" b="1" kern="1200" dirty="0">
                <a:latin typeface="Consolas" panose="020B0609020204030204" pitchFamily="49" charset="0"/>
                <a:ea typeface="+mn-ea"/>
                <a:cs typeface="+mn-cs"/>
              </a:rPr>
              <a:t> : </a:t>
            </a:r>
            <a:r>
              <a:rPr lang="es-ES" sz="1500" b="1" kern="1200" dirty="0">
                <a:solidFill>
                  <a:srgbClr val="6A3E3E"/>
                </a:solidFill>
                <a:latin typeface="Consolas" panose="020B0609020204030204" pitchFamily="49" charset="0"/>
                <a:ea typeface="+mn-ea"/>
                <a:cs typeface="+mn-cs"/>
              </a:rPr>
              <a:t>y</a:t>
            </a:r>
            <a:r>
              <a:rPr lang="es-ES" sz="1500" b="1" kern="1200" dirty="0">
                <a:latin typeface="Consolas" panose="020B0609020204030204" pitchFamily="49" charset="0"/>
                <a:ea typeface="+mn-ea"/>
                <a:cs typeface="+mn-cs"/>
              </a:rPr>
              <a:t>;</a:t>
            </a:r>
          </a:p>
          <a:p>
            <a:pPr eaLnBrk="0" fontAlgn="base" hangingPunct="0">
              <a:spcBef>
                <a:spcPct val="0"/>
              </a:spcBef>
              <a:spcAft>
                <a:spcPct val="0"/>
              </a:spcAft>
              <a:buClrTx/>
              <a:buFontTx/>
              <a:buNone/>
            </a:pPr>
            <a:r>
              <a:rPr lang="en-US" sz="1500" kern="1200" dirty="0">
                <a:latin typeface="Consolas" panose="020B0609020204030204" pitchFamily="49" charset="0"/>
                <a:ea typeface="+mn-ea"/>
                <a:cs typeface="+mn-cs"/>
              </a:rPr>
              <a:t>}</a:t>
            </a:r>
          </a:p>
          <a:p>
            <a:pPr eaLnBrk="0" fontAlgn="base" hangingPunct="0">
              <a:spcBef>
                <a:spcPct val="0"/>
              </a:spcBef>
              <a:spcAft>
                <a:spcPct val="0"/>
              </a:spcAft>
              <a:buClrTx/>
              <a:buFontTx/>
              <a:buNone/>
            </a:pPr>
            <a:endParaRPr lang="en-US" sz="1500" kern="1200" dirty="0">
              <a:solidFill>
                <a:prstClr val="black"/>
              </a:solidFill>
              <a:latin typeface="Consolas" panose="020B0609020204030204" pitchFamily="49" charset="0"/>
              <a:ea typeface="+mn-ea"/>
              <a:cs typeface="+mn-cs"/>
            </a:endParaRPr>
          </a:p>
          <a:p>
            <a:pPr eaLnBrk="0" fontAlgn="base" hangingPunct="0">
              <a:spcBef>
                <a:spcPct val="0"/>
              </a:spcBef>
              <a:spcAft>
                <a:spcPct val="0"/>
              </a:spcAft>
              <a:buClrTx/>
              <a:buFontTx/>
              <a:buNone/>
            </a:pPr>
            <a:r>
              <a:rPr lang="fr-FR" sz="1500" b="1" kern="1200" dirty="0">
                <a:solidFill>
                  <a:srgbClr val="7F0055"/>
                </a:solidFill>
                <a:latin typeface="Consolas" panose="020B0609020204030204" pitchFamily="49" charset="0"/>
                <a:ea typeface="+mn-ea"/>
                <a:cs typeface="+mn-cs"/>
              </a:rPr>
              <a:t>public</a:t>
            </a:r>
            <a:r>
              <a:rPr lang="fr-FR" sz="1500" b="1" kern="1200" dirty="0">
                <a:latin typeface="Consolas" panose="020B0609020204030204" pitchFamily="49" charset="0"/>
                <a:ea typeface="+mn-ea"/>
                <a:cs typeface="+mn-cs"/>
              </a:rPr>
              <a:t> </a:t>
            </a:r>
            <a:r>
              <a:rPr lang="fr-FR" sz="1500" b="1" kern="1200" dirty="0" err="1">
                <a:solidFill>
                  <a:srgbClr val="7F0055"/>
                </a:solidFill>
                <a:latin typeface="Consolas" panose="020B0609020204030204" pitchFamily="49" charset="0"/>
                <a:ea typeface="+mn-ea"/>
                <a:cs typeface="+mn-cs"/>
              </a:rPr>
              <a:t>static</a:t>
            </a:r>
            <a:r>
              <a:rPr lang="fr-FR" sz="1500" b="1" kern="1200" dirty="0">
                <a:latin typeface="Consolas" panose="020B0609020204030204" pitchFamily="49" charset="0"/>
                <a:ea typeface="+mn-ea"/>
                <a:cs typeface="+mn-cs"/>
              </a:rPr>
              <a:t> </a:t>
            </a:r>
            <a:r>
              <a:rPr lang="fr-FR" sz="1500" b="1" kern="1200" dirty="0">
                <a:solidFill>
                  <a:srgbClr val="7F0055"/>
                </a:solidFill>
                <a:latin typeface="Consolas" panose="020B0609020204030204" pitchFamily="49" charset="0"/>
                <a:ea typeface="+mn-ea"/>
                <a:cs typeface="+mn-cs"/>
              </a:rPr>
              <a:t>double</a:t>
            </a:r>
            <a:r>
              <a:rPr lang="fr-FR" sz="1500" b="1" kern="1200" dirty="0">
                <a:latin typeface="Consolas" panose="020B0609020204030204" pitchFamily="49" charset="0"/>
                <a:ea typeface="+mn-ea"/>
                <a:cs typeface="+mn-cs"/>
              </a:rPr>
              <a:t> max(</a:t>
            </a:r>
            <a:r>
              <a:rPr lang="fr-FR" sz="1500" b="1" kern="1200" dirty="0">
                <a:solidFill>
                  <a:srgbClr val="7F0055"/>
                </a:solidFill>
                <a:latin typeface="Consolas" panose="020B0609020204030204" pitchFamily="49" charset="0"/>
                <a:ea typeface="+mn-ea"/>
                <a:cs typeface="+mn-cs"/>
              </a:rPr>
              <a:t>double</a:t>
            </a:r>
            <a:r>
              <a:rPr lang="fr-FR" sz="1500" b="1" kern="1200" dirty="0">
                <a:latin typeface="Consolas" panose="020B0609020204030204" pitchFamily="49" charset="0"/>
                <a:ea typeface="+mn-ea"/>
                <a:cs typeface="+mn-cs"/>
              </a:rPr>
              <a:t> </a:t>
            </a:r>
            <a:r>
              <a:rPr lang="fr-FR" sz="1500" b="1" kern="1200" dirty="0">
                <a:solidFill>
                  <a:srgbClr val="6A3E3E"/>
                </a:solidFill>
                <a:latin typeface="Consolas" panose="020B0609020204030204" pitchFamily="49" charset="0"/>
                <a:ea typeface="+mn-ea"/>
                <a:cs typeface="+mn-cs"/>
              </a:rPr>
              <a:t>x</a:t>
            </a:r>
            <a:r>
              <a:rPr lang="fr-FR" sz="1500" b="1" kern="1200" dirty="0">
                <a:latin typeface="Consolas" panose="020B0609020204030204" pitchFamily="49" charset="0"/>
                <a:ea typeface="+mn-ea"/>
                <a:cs typeface="+mn-cs"/>
              </a:rPr>
              <a:t>, </a:t>
            </a:r>
            <a:r>
              <a:rPr lang="fr-FR" sz="1500" b="1" kern="1200" dirty="0">
                <a:solidFill>
                  <a:srgbClr val="7F0055"/>
                </a:solidFill>
                <a:latin typeface="Consolas" panose="020B0609020204030204" pitchFamily="49" charset="0"/>
                <a:ea typeface="+mn-ea"/>
                <a:cs typeface="+mn-cs"/>
              </a:rPr>
              <a:t>double</a:t>
            </a:r>
            <a:r>
              <a:rPr lang="fr-FR" sz="1500" b="1" kern="1200" dirty="0">
                <a:latin typeface="Consolas" panose="020B0609020204030204" pitchFamily="49" charset="0"/>
                <a:ea typeface="+mn-ea"/>
                <a:cs typeface="+mn-cs"/>
              </a:rPr>
              <a:t> </a:t>
            </a:r>
            <a:r>
              <a:rPr lang="fr-FR" sz="1500" b="1" kern="1200" dirty="0">
                <a:solidFill>
                  <a:srgbClr val="6A3E3E"/>
                </a:solidFill>
                <a:latin typeface="Consolas" panose="020B0609020204030204" pitchFamily="49" charset="0"/>
                <a:ea typeface="+mn-ea"/>
                <a:cs typeface="+mn-cs"/>
              </a:rPr>
              <a:t>y</a:t>
            </a:r>
            <a:r>
              <a:rPr lang="fr-FR" sz="1500" b="1" kern="1200" dirty="0">
                <a:latin typeface="Consolas" panose="020B0609020204030204" pitchFamily="49" charset="0"/>
                <a:ea typeface="+mn-ea"/>
                <a:cs typeface="+mn-cs"/>
              </a:rPr>
              <a:t>){</a:t>
            </a:r>
          </a:p>
          <a:p>
            <a:pPr eaLnBrk="0" fontAlgn="base" hangingPunct="0">
              <a:spcBef>
                <a:spcPct val="0"/>
              </a:spcBef>
              <a:spcAft>
                <a:spcPct val="0"/>
              </a:spcAft>
              <a:buClrTx/>
              <a:buFontTx/>
              <a:buNone/>
            </a:pPr>
            <a:r>
              <a:rPr lang="es-ES" sz="1500" b="1" kern="1200" dirty="0">
                <a:solidFill>
                  <a:srgbClr val="7F0055"/>
                </a:solidFill>
                <a:latin typeface="Consolas" panose="020B0609020204030204" pitchFamily="49" charset="0"/>
                <a:ea typeface="+mn-ea"/>
                <a:cs typeface="+mn-cs"/>
              </a:rPr>
              <a:t>	</a:t>
            </a:r>
            <a:r>
              <a:rPr lang="es-ES" sz="1500" b="1" kern="1200" dirty="0" err="1">
                <a:solidFill>
                  <a:srgbClr val="7F0055"/>
                </a:solidFill>
                <a:latin typeface="Consolas" panose="020B0609020204030204" pitchFamily="49" charset="0"/>
                <a:ea typeface="+mn-ea"/>
                <a:cs typeface="+mn-cs"/>
              </a:rPr>
              <a:t>return</a:t>
            </a:r>
            <a:r>
              <a:rPr lang="es-ES" sz="1500" b="1" kern="1200" dirty="0">
                <a:latin typeface="Consolas" panose="020B0609020204030204" pitchFamily="49" charset="0"/>
                <a:ea typeface="+mn-ea"/>
                <a:cs typeface="+mn-cs"/>
              </a:rPr>
              <a:t> (</a:t>
            </a:r>
            <a:r>
              <a:rPr lang="es-ES" sz="1500" b="1" kern="1200" dirty="0">
                <a:solidFill>
                  <a:srgbClr val="6A3E3E"/>
                </a:solidFill>
                <a:latin typeface="Consolas" panose="020B0609020204030204" pitchFamily="49" charset="0"/>
                <a:ea typeface="+mn-ea"/>
                <a:cs typeface="+mn-cs"/>
              </a:rPr>
              <a:t>x</a:t>
            </a:r>
            <a:r>
              <a:rPr lang="es-ES" sz="1500" b="1" kern="1200" dirty="0">
                <a:latin typeface="Consolas" panose="020B0609020204030204" pitchFamily="49" charset="0"/>
                <a:ea typeface="+mn-ea"/>
                <a:cs typeface="+mn-cs"/>
              </a:rPr>
              <a:t>&gt;</a:t>
            </a:r>
            <a:r>
              <a:rPr lang="es-ES" sz="1500" b="1" kern="1200" dirty="0">
                <a:solidFill>
                  <a:srgbClr val="6A3E3E"/>
                </a:solidFill>
                <a:latin typeface="Consolas" panose="020B0609020204030204" pitchFamily="49" charset="0"/>
                <a:ea typeface="+mn-ea"/>
                <a:cs typeface="+mn-cs"/>
              </a:rPr>
              <a:t>y</a:t>
            </a:r>
            <a:r>
              <a:rPr lang="es-ES" sz="1500" b="1" kern="1200" dirty="0">
                <a:latin typeface="Consolas" panose="020B0609020204030204" pitchFamily="49" charset="0"/>
                <a:ea typeface="+mn-ea"/>
                <a:cs typeface="+mn-cs"/>
              </a:rPr>
              <a:t>) ? </a:t>
            </a:r>
            <a:r>
              <a:rPr lang="es-ES" sz="1500" b="1" kern="1200" dirty="0">
                <a:solidFill>
                  <a:srgbClr val="6A3E3E"/>
                </a:solidFill>
                <a:latin typeface="Consolas" panose="020B0609020204030204" pitchFamily="49" charset="0"/>
                <a:ea typeface="+mn-ea"/>
                <a:cs typeface="+mn-cs"/>
              </a:rPr>
              <a:t>x</a:t>
            </a:r>
            <a:r>
              <a:rPr lang="es-ES" sz="1500" b="1" kern="1200" dirty="0">
                <a:latin typeface="Consolas" panose="020B0609020204030204" pitchFamily="49" charset="0"/>
                <a:ea typeface="+mn-ea"/>
                <a:cs typeface="+mn-cs"/>
              </a:rPr>
              <a:t> : </a:t>
            </a:r>
            <a:r>
              <a:rPr lang="es-ES" sz="1500" b="1" kern="1200" dirty="0">
                <a:solidFill>
                  <a:srgbClr val="6A3E3E"/>
                </a:solidFill>
                <a:latin typeface="Consolas" panose="020B0609020204030204" pitchFamily="49" charset="0"/>
                <a:ea typeface="+mn-ea"/>
                <a:cs typeface="+mn-cs"/>
              </a:rPr>
              <a:t>y</a:t>
            </a:r>
            <a:r>
              <a:rPr lang="es-ES" sz="1500" b="1" kern="1200" dirty="0">
                <a:latin typeface="Consolas" panose="020B0609020204030204" pitchFamily="49" charset="0"/>
                <a:ea typeface="+mn-ea"/>
                <a:cs typeface="+mn-cs"/>
              </a:rPr>
              <a:t>;</a:t>
            </a:r>
          </a:p>
          <a:p>
            <a:pPr eaLnBrk="0" fontAlgn="base" hangingPunct="0">
              <a:spcBef>
                <a:spcPct val="0"/>
              </a:spcBef>
              <a:spcAft>
                <a:spcPct val="0"/>
              </a:spcAft>
              <a:buClrTx/>
              <a:buFontTx/>
              <a:buNone/>
            </a:pPr>
            <a:r>
              <a:rPr lang="en-US" sz="1500" kern="1200" dirty="0">
                <a:latin typeface="Consolas" panose="020B0609020204030204" pitchFamily="49" charset="0"/>
                <a:ea typeface="+mn-ea"/>
                <a:cs typeface="+mn-cs"/>
              </a:rPr>
              <a:t>}</a:t>
            </a:r>
          </a:p>
          <a:p>
            <a:pPr eaLnBrk="0" fontAlgn="base" hangingPunct="0">
              <a:spcBef>
                <a:spcPct val="0"/>
              </a:spcBef>
              <a:spcAft>
                <a:spcPct val="0"/>
              </a:spcAft>
              <a:buClrTx/>
              <a:buFontTx/>
              <a:buNone/>
            </a:pPr>
            <a:endParaRPr lang="en-US" sz="1500" kern="1200" dirty="0">
              <a:solidFill>
                <a:prstClr val="black"/>
              </a:solidFill>
              <a:latin typeface="Consolas" panose="020B0609020204030204" pitchFamily="49" charset="0"/>
              <a:ea typeface="+mn-ea"/>
              <a:cs typeface="+mn-cs"/>
            </a:endParaRPr>
          </a:p>
          <a:p>
            <a:pPr eaLnBrk="0" fontAlgn="base" hangingPunct="0">
              <a:spcBef>
                <a:spcPct val="0"/>
              </a:spcBef>
              <a:spcAft>
                <a:spcPct val="0"/>
              </a:spcAft>
              <a:buClrTx/>
              <a:buFontTx/>
              <a:buNone/>
            </a:pPr>
            <a:r>
              <a:rPr lang="en-US" sz="1500" b="1" kern="1200" dirty="0">
                <a:solidFill>
                  <a:srgbClr val="7F0055"/>
                </a:solidFill>
                <a:latin typeface="Consolas" panose="020B0609020204030204" pitchFamily="49" charset="0"/>
                <a:ea typeface="+mn-ea"/>
                <a:cs typeface="+mn-cs"/>
              </a:rPr>
              <a:t>public</a:t>
            </a:r>
            <a:r>
              <a:rPr lang="en-US" sz="1500" b="1" kern="1200" dirty="0">
                <a:latin typeface="Consolas" panose="020B0609020204030204" pitchFamily="49" charset="0"/>
                <a:ea typeface="+mn-ea"/>
                <a:cs typeface="+mn-cs"/>
              </a:rPr>
              <a:t> </a:t>
            </a:r>
            <a:r>
              <a:rPr lang="en-US" sz="1500" b="1" kern="1200" dirty="0">
                <a:solidFill>
                  <a:srgbClr val="7F0055"/>
                </a:solidFill>
                <a:latin typeface="Consolas" panose="020B0609020204030204" pitchFamily="49" charset="0"/>
                <a:ea typeface="+mn-ea"/>
                <a:cs typeface="+mn-cs"/>
              </a:rPr>
              <a:t>static</a:t>
            </a:r>
            <a:r>
              <a:rPr lang="en-US" sz="1500" b="1" kern="1200" dirty="0">
                <a:latin typeface="Consolas" panose="020B0609020204030204" pitchFamily="49" charset="0"/>
                <a:ea typeface="+mn-ea"/>
                <a:cs typeface="+mn-cs"/>
              </a:rPr>
              <a:t> </a:t>
            </a:r>
            <a:r>
              <a:rPr lang="en-US" sz="1500" b="1" kern="1200" dirty="0">
                <a:solidFill>
                  <a:srgbClr val="7F0055"/>
                </a:solidFill>
                <a:latin typeface="Consolas" panose="020B0609020204030204" pitchFamily="49" charset="0"/>
                <a:ea typeface="+mn-ea"/>
                <a:cs typeface="+mn-cs"/>
              </a:rPr>
              <a:t>void</a:t>
            </a:r>
            <a:r>
              <a:rPr lang="en-US" sz="1500" b="1" kern="1200" dirty="0">
                <a:latin typeface="Consolas" panose="020B0609020204030204" pitchFamily="49" charset="0"/>
                <a:ea typeface="+mn-ea"/>
                <a:cs typeface="+mn-cs"/>
              </a:rPr>
              <a:t> main(String[] </a:t>
            </a:r>
            <a:r>
              <a:rPr lang="en-US" sz="1500" b="1" kern="1200" dirty="0" err="1">
                <a:solidFill>
                  <a:srgbClr val="6A3E3E"/>
                </a:solidFill>
                <a:latin typeface="Consolas" panose="020B0609020204030204" pitchFamily="49" charset="0"/>
                <a:ea typeface="+mn-ea"/>
                <a:cs typeface="+mn-cs"/>
              </a:rPr>
              <a:t>args</a:t>
            </a:r>
            <a:r>
              <a:rPr lang="en-US" sz="1500" b="1" kern="1200" dirty="0">
                <a:latin typeface="Consolas" panose="020B0609020204030204" pitchFamily="49" charset="0"/>
                <a:ea typeface="+mn-ea"/>
                <a:cs typeface="+mn-cs"/>
              </a:rPr>
              <a:t>) {</a:t>
            </a:r>
          </a:p>
          <a:p>
            <a:pPr eaLnBrk="0" fontAlgn="base" hangingPunct="0">
              <a:spcBef>
                <a:spcPct val="0"/>
              </a:spcBef>
              <a:spcAft>
                <a:spcPct val="0"/>
              </a:spcAft>
              <a:buClrTx/>
              <a:buFontTx/>
              <a:buNone/>
            </a:pPr>
            <a:r>
              <a:rPr lang="en-US" sz="1500" kern="1200" dirty="0">
                <a:latin typeface="Consolas" panose="020B0609020204030204" pitchFamily="49" charset="0"/>
                <a:ea typeface="+mn-ea"/>
                <a:cs typeface="+mn-cs"/>
              </a:rPr>
              <a:t>	</a:t>
            </a:r>
            <a:r>
              <a:rPr lang="en-US" sz="1500" kern="1200" dirty="0" err="1">
                <a:latin typeface="Consolas" panose="020B0609020204030204" pitchFamily="49" charset="0"/>
                <a:ea typeface="+mn-ea"/>
                <a:cs typeface="+mn-cs"/>
              </a:rPr>
              <a:t>System.</a:t>
            </a:r>
            <a:r>
              <a:rPr lang="en-US" sz="1500" b="1" i="1" kern="1200" dirty="0" err="1">
                <a:solidFill>
                  <a:srgbClr val="0000C0"/>
                </a:solidFill>
                <a:latin typeface="Consolas" panose="020B0609020204030204" pitchFamily="49" charset="0"/>
                <a:ea typeface="+mn-ea"/>
                <a:cs typeface="+mn-cs"/>
              </a:rPr>
              <a:t>out</a:t>
            </a:r>
            <a:r>
              <a:rPr lang="en-US" sz="1500" b="1" i="1" kern="1200" dirty="0" err="1">
                <a:latin typeface="Consolas" panose="020B0609020204030204" pitchFamily="49" charset="0"/>
                <a:ea typeface="+mn-ea"/>
                <a:cs typeface="+mn-cs"/>
              </a:rPr>
              <a:t>.println</a:t>
            </a:r>
            <a:r>
              <a:rPr lang="en-US" sz="1500" b="1" i="1" kern="1200" dirty="0">
                <a:latin typeface="Consolas" panose="020B0609020204030204" pitchFamily="49" charset="0"/>
                <a:ea typeface="+mn-ea"/>
                <a:cs typeface="+mn-cs"/>
              </a:rPr>
              <a:t>(max(1,2)); </a:t>
            </a:r>
          </a:p>
          <a:p>
            <a:pPr eaLnBrk="0" fontAlgn="base" hangingPunct="0">
              <a:spcBef>
                <a:spcPct val="0"/>
              </a:spcBef>
              <a:spcAft>
                <a:spcPct val="0"/>
              </a:spcAft>
              <a:buClrTx/>
            </a:pPr>
            <a:r>
              <a:rPr lang="en-US" sz="1500" b="1" i="1" kern="1200" dirty="0">
                <a:latin typeface="Consolas"/>
                <a:ea typeface="+mn-ea"/>
                <a:cs typeface="+mn-cs"/>
              </a:rPr>
              <a:t>     </a:t>
            </a:r>
            <a:r>
              <a:rPr lang="en-US" sz="1500" b="1" i="1" kern="1200" dirty="0">
                <a:solidFill>
                  <a:schemeClr val="tx1"/>
                </a:solidFill>
                <a:latin typeface="Consolas"/>
                <a:ea typeface="+mn-ea"/>
                <a:cs typeface="+mn-cs"/>
              </a:rPr>
              <a:t>// will call max(</a:t>
            </a:r>
            <a:r>
              <a:rPr lang="en-US" sz="1500" b="1" i="1" kern="1200" dirty="0" err="1">
                <a:solidFill>
                  <a:schemeClr val="tx1"/>
                </a:solidFill>
                <a:latin typeface="Consolas"/>
                <a:ea typeface="+mn-ea"/>
                <a:cs typeface="+mn-cs"/>
              </a:rPr>
              <a:t>int,int</a:t>
            </a:r>
            <a:r>
              <a:rPr lang="en-US" sz="1500" b="1" i="1" kern="1200" dirty="0">
                <a:solidFill>
                  <a:schemeClr val="tx1"/>
                </a:solidFill>
                <a:latin typeface="Consolas"/>
                <a:ea typeface="+mn-ea"/>
                <a:cs typeface="+mn-cs"/>
              </a:rPr>
              <a:t>)</a:t>
            </a:r>
          </a:p>
          <a:p>
            <a:pPr eaLnBrk="0" fontAlgn="base" hangingPunct="0">
              <a:spcBef>
                <a:spcPct val="0"/>
              </a:spcBef>
              <a:spcAft>
                <a:spcPct val="0"/>
              </a:spcAft>
              <a:buClrTx/>
              <a:buFontTx/>
              <a:buNone/>
            </a:pPr>
            <a:r>
              <a:rPr lang="en-US" sz="1500" kern="1200" dirty="0">
                <a:latin typeface="Consolas" panose="020B0609020204030204" pitchFamily="49" charset="0"/>
                <a:ea typeface="+mn-ea"/>
                <a:cs typeface="+mn-cs"/>
              </a:rPr>
              <a:t>	</a:t>
            </a:r>
            <a:r>
              <a:rPr lang="en-US" sz="1500" kern="1200" dirty="0" err="1">
                <a:latin typeface="Consolas" panose="020B0609020204030204" pitchFamily="49" charset="0"/>
                <a:ea typeface="+mn-ea"/>
                <a:cs typeface="+mn-cs"/>
              </a:rPr>
              <a:t>System.</a:t>
            </a:r>
            <a:r>
              <a:rPr lang="en-US" sz="1500" b="1" i="1" kern="1200" dirty="0" err="1">
                <a:solidFill>
                  <a:srgbClr val="0000C0"/>
                </a:solidFill>
                <a:latin typeface="Consolas" panose="020B0609020204030204" pitchFamily="49" charset="0"/>
                <a:ea typeface="+mn-ea"/>
                <a:cs typeface="+mn-cs"/>
              </a:rPr>
              <a:t>out</a:t>
            </a:r>
            <a:r>
              <a:rPr lang="en-US" sz="1500" b="1" i="1" kern="1200" dirty="0" err="1">
                <a:latin typeface="Consolas" panose="020B0609020204030204" pitchFamily="49" charset="0"/>
                <a:ea typeface="+mn-ea"/>
                <a:cs typeface="+mn-cs"/>
              </a:rPr>
              <a:t>.println</a:t>
            </a:r>
            <a:r>
              <a:rPr lang="en-US" sz="1500" b="1" i="1" kern="1200" dirty="0">
                <a:latin typeface="Consolas" panose="020B0609020204030204" pitchFamily="49" charset="0"/>
                <a:ea typeface="+mn-ea"/>
                <a:cs typeface="+mn-cs"/>
              </a:rPr>
              <a:t>(max(3.5,4.7)); </a:t>
            </a:r>
          </a:p>
          <a:p>
            <a:pPr eaLnBrk="0" fontAlgn="base" hangingPunct="0">
              <a:spcBef>
                <a:spcPct val="0"/>
              </a:spcBef>
              <a:spcAft>
                <a:spcPct val="0"/>
              </a:spcAft>
              <a:buClrTx/>
              <a:buFontTx/>
            </a:pPr>
            <a:r>
              <a:rPr lang="en-US" sz="1500" b="1" i="1" kern="1200" dirty="0">
                <a:latin typeface="Consolas"/>
                <a:ea typeface="+mn-ea"/>
                <a:cs typeface="+mn-cs"/>
              </a:rPr>
              <a:t>    </a:t>
            </a:r>
            <a:r>
              <a:rPr lang="en-US" sz="1500" b="1" i="1" kern="1200" dirty="0">
                <a:solidFill>
                  <a:schemeClr val="tx1"/>
                </a:solidFill>
                <a:latin typeface="Consolas"/>
                <a:ea typeface="+mn-ea"/>
                <a:cs typeface="+mn-cs"/>
              </a:rPr>
              <a:t>// will call max(</a:t>
            </a:r>
            <a:r>
              <a:rPr lang="en-US" sz="1500" b="1" i="1" kern="1200" dirty="0" err="1">
                <a:solidFill>
                  <a:schemeClr val="tx1"/>
                </a:solidFill>
                <a:latin typeface="Consolas"/>
                <a:ea typeface="+mn-ea"/>
                <a:cs typeface="+mn-cs"/>
              </a:rPr>
              <a:t>double,double</a:t>
            </a:r>
            <a:r>
              <a:rPr lang="en-US" sz="1500" b="1" i="1" kern="1200" dirty="0">
                <a:solidFill>
                  <a:schemeClr val="tx1"/>
                </a:solidFill>
                <a:latin typeface="Consolas"/>
                <a:ea typeface="+mn-ea"/>
                <a:cs typeface="+mn-cs"/>
              </a:rPr>
              <a:t>)</a:t>
            </a:r>
            <a:endParaRPr lang="en-US" sz="1500" kern="1200" dirty="0">
              <a:solidFill>
                <a:schemeClr val="tx1"/>
              </a:solidFill>
              <a:latin typeface="Consolas" panose="020B0609020204030204" pitchFamily="49" charset="0"/>
              <a:ea typeface="+mn-ea"/>
              <a:cs typeface="+mn-cs"/>
            </a:endParaRPr>
          </a:p>
          <a:p>
            <a:pPr eaLnBrk="0" fontAlgn="base" hangingPunct="0">
              <a:spcBef>
                <a:spcPct val="0"/>
              </a:spcBef>
              <a:spcAft>
                <a:spcPct val="0"/>
              </a:spcAft>
              <a:buClrTx/>
              <a:buFontTx/>
              <a:buNone/>
            </a:pPr>
            <a:r>
              <a:rPr lang="en-US" sz="1200" kern="1200" dirty="0">
                <a:latin typeface="Consolas" panose="020B0609020204030204" pitchFamily="49" charset="0"/>
                <a:ea typeface="+mn-ea"/>
                <a:cs typeface="+mn-cs"/>
              </a:rPr>
              <a:t>}</a:t>
            </a:r>
            <a:endParaRPr lang="en-US" sz="1200" kern="1200" dirty="0">
              <a:solidFill>
                <a:prstClr val="black"/>
              </a:solidFill>
              <a:latin typeface="Times New Roman" pitchFamily="18" charset="0"/>
              <a:ea typeface="+mn-ea"/>
              <a:cs typeface="+mn-cs"/>
            </a:endParaRPr>
          </a:p>
        </p:txBody>
      </p:sp>
    </p:spTree>
    <p:extLst>
      <p:ext uri="{BB962C8B-B14F-4D97-AF65-F5344CB8AC3E}">
        <p14:creationId xmlns:p14="http://schemas.microsoft.com/office/powerpoint/2010/main" val="248169692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Pass By Value</a:t>
            </a:r>
          </a:p>
        </p:txBody>
      </p:sp>
      <p:sp>
        <p:nvSpPr>
          <p:cNvPr id="3" name="Text Placeholder 2"/>
          <p:cNvSpPr>
            <a:spLocks noGrp="1"/>
          </p:cNvSpPr>
          <p:nvPr>
            <p:ph type="body" idx="1"/>
          </p:nvPr>
        </p:nvSpPr>
        <p:spPr/>
        <p:txBody>
          <a:bodyPr>
            <a:normAutofit/>
          </a:bodyPr>
          <a:lstStyle/>
          <a:p>
            <a:pPr marL="0" indent="0">
              <a:lnSpc>
                <a:spcPct val="90000"/>
              </a:lnSpc>
              <a:buNone/>
            </a:pPr>
            <a:r>
              <a:rPr lang="en-US" altLang="en-US" sz="1900" dirty="0">
                <a:cs typeface="Times New Roman" pitchFamily="16" charset="0"/>
              </a:rPr>
              <a:t>Java uses </a:t>
            </a:r>
            <a:r>
              <a:rPr lang="en-US" altLang="en-US" sz="1900" b="1" i="1" dirty="0">
                <a:solidFill>
                  <a:schemeClr val="tx1"/>
                </a:solidFill>
                <a:cs typeface="Times New Roman" pitchFamily="16" charset="0"/>
              </a:rPr>
              <a:t>pass by value</a:t>
            </a:r>
            <a:r>
              <a:rPr lang="en-US" altLang="en-US" sz="1900" b="1" dirty="0">
                <a:solidFill>
                  <a:schemeClr val="tx1"/>
                </a:solidFill>
                <a:cs typeface="Times New Roman" pitchFamily="16" charset="0"/>
              </a:rPr>
              <a:t> </a:t>
            </a:r>
            <a:r>
              <a:rPr lang="en-US" altLang="en-US" sz="1900" dirty="0">
                <a:cs typeface="Times New Roman" pitchFamily="16" charset="0"/>
              </a:rPr>
              <a:t>to pass arguments to a method. </a:t>
            </a:r>
          </a:p>
          <a:p>
            <a:pPr marL="0" indent="0">
              <a:lnSpc>
                <a:spcPct val="100000"/>
              </a:lnSpc>
              <a:buNone/>
            </a:pPr>
            <a:endParaRPr lang="en-US" altLang="en-US" sz="1900" dirty="0">
              <a:cs typeface="Times New Roman" pitchFamily="16" charset="0"/>
            </a:endParaRPr>
          </a:p>
          <a:p>
            <a:pPr marL="0" indent="0">
              <a:lnSpc>
                <a:spcPct val="100000"/>
              </a:lnSpc>
            </a:pPr>
            <a:r>
              <a:rPr lang="en-US" altLang="en-US" sz="1900" dirty="0">
                <a:cs typeface="Times New Roman" pitchFamily="16" charset="0"/>
              </a:rPr>
              <a:t> For a parameter of a </a:t>
            </a:r>
            <a:r>
              <a:rPr lang="en-US" altLang="en-US" sz="1900" b="1" dirty="0">
                <a:solidFill>
                  <a:srgbClr val="FF0000"/>
                </a:solidFill>
                <a:cs typeface="Times New Roman" pitchFamily="16" charset="0"/>
              </a:rPr>
              <a:t>primitive</a:t>
            </a:r>
            <a:r>
              <a:rPr lang="en-US" altLang="en-US" sz="1900" dirty="0">
                <a:cs typeface="Times New Roman" pitchFamily="16" charset="0"/>
              </a:rPr>
              <a:t> type value, the actual value is passed.</a:t>
            </a:r>
          </a:p>
          <a:p>
            <a:pPr marL="742950" lvl="1" indent="-285750">
              <a:lnSpc>
                <a:spcPct val="100000"/>
              </a:lnSpc>
            </a:pPr>
            <a:r>
              <a:rPr lang="en-US" altLang="en-US" sz="1800" dirty="0">
                <a:cs typeface="Times New Roman" pitchFamily="16" charset="0"/>
              </a:rPr>
              <a:t>Changing the value of the local parameter inside the method </a:t>
            </a:r>
            <a:r>
              <a:rPr lang="en-US" altLang="en-US" sz="1900" b="1" dirty="0">
                <a:solidFill>
                  <a:srgbClr val="FF0000"/>
                </a:solidFill>
                <a:cs typeface="Times New Roman" pitchFamily="16" charset="0"/>
              </a:rPr>
              <a:t>does not affect the value </a:t>
            </a:r>
            <a:r>
              <a:rPr lang="en-US" altLang="en-US" sz="1800" dirty="0">
                <a:cs typeface="Times New Roman" pitchFamily="16" charset="0"/>
              </a:rPr>
              <a:t>of the variable outside the method.</a:t>
            </a:r>
          </a:p>
          <a:p>
            <a:pPr marL="205979" lvl="1" indent="0">
              <a:lnSpc>
                <a:spcPct val="100000"/>
              </a:lnSpc>
              <a:buNone/>
            </a:pPr>
            <a:endParaRPr lang="en-US" altLang="en-US" sz="1900" dirty="0">
              <a:cs typeface="Times New Roman" pitchFamily="16" charset="0"/>
            </a:endParaRPr>
          </a:p>
          <a:p>
            <a:pPr marL="0" indent="0">
              <a:lnSpc>
                <a:spcPct val="100000"/>
              </a:lnSpc>
            </a:pPr>
            <a:r>
              <a:rPr lang="en-US" altLang="en-US" sz="1900" dirty="0">
                <a:cs typeface="Times New Roman" pitchFamily="16" charset="0"/>
              </a:rPr>
              <a:t> For a parameter of an </a:t>
            </a:r>
            <a:r>
              <a:rPr lang="en-US" altLang="en-US" sz="1900" b="1" dirty="0">
                <a:solidFill>
                  <a:srgbClr val="FF0000"/>
                </a:solidFill>
                <a:cs typeface="Times New Roman" pitchFamily="16" charset="0"/>
              </a:rPr>
              <a:t>array(reference)</a:t>
            </a:r>
            <a:r>
              <a:rPr lang="en-US" altLang="en-US" sz="1900" dirty="0">
                <a:cs typeface="Times New Roman" pitchFamily="16" charset="0"/>
              </a:rPr>
              <a:t> type, the value of the parameter contains a reference to an array; this reference is passed to the method. </a:t>
            </a:r>
          </a:p>
          <a:p>
            <a:pPr marL="742950" lvl="1" indent="-285750">
              <a:lnSpc>
                <a:spcPct val="100000"/>
              </a:lnSpc>
            </a:pPr>
            <a:r>
              <a:rPr lang="en-US" altLang="en-US" sz="1800" dirty="0">
                <a:cs typeface="Times New Roman" pitchFamily="16" charset="0"/>
              </a:rPr>
              <a:t>Any changes to the array that occur inside the method body will </a:t>
            </a:r>
            <a:r>
              <a:rPr lang="en-US" altLang="en-US" sz="1900" b="1" dirty="0">
                <a:solidFill>
                  <a:srgbClr val="FF0000"/>
                </a:solidFill>
                <a:cs typeface="Times New Roman" pitchFamily="16" charset="0"/>
              </a:rPr>
              <a:t>affect the original array </a:t>
            </a:r>
            <a:r>
              <a:rPr lang="en-US" altLang="en-US" sz="1800" dirty="0">
                <a:cs typeface="Times New Roman" pitchFamily="16" charset="0"/>
              </a:rPr>
              <a:t>that was passed as the argument. </a:t>
            </a:r>
          </a:p>
          <a:p>
            <a:endParaRPr lang="en-US" dirty="0"/>
          </a:p>
        </p:txBody>
      </p:sp>
    </p:spTree>
    <p:extLst>
      <p:ext uri="{BB962C8B-B14F-4D97-AF65-F5344CB8AC3E}">
        <p14:creationId xmlns:p14="http://schemas.microsoft.com/office/powerpoint/2010/main" val="39006433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cs typeface="Times New Roman" pitchFamily="16" charset="0"/>
              </a:rPr>
              <a:t>Copying Primitive data types Vs. Reference types</a:t>
            </a:r>
            <a:endParaRPr lang="en-US" b="1" dirty="0"/>
          </a:p>
        </p:txBody>
      </p:sp>
      <p:graphicFrame>
        <p:nvGraphicFramePr>
          <p:cNvPr id="4" name="Object 2" descr="primitive type assignment i = j&#10;before:&#10;i = 1&#10;j = 2&#10;&#10;after&#10;i = 2&#10;j =2"/>
          <p:cNvGraphicFramePr>
            <a:graphicFrameLocks noChangeAspect="1"/>
          </p:cNvGraphicFramePr>
          <p:nvPr/>
        </p:nvGraphicFramePr>
        <p:xfrm>
          <a:off x="1873912" y="1004550"/>
          <a:ext cx="3289325" cy="1827094"/>
        </p:xfrm>
        <a:graphic>
          <a:graphicData uri="http://schemas.openxmlformats.org/presentationml/2006/ole">
            <mc:AlternateContent xmlns:mc="http://schemas.openxmlformats.org/markup-compatibility/2006">
              <mc:Choice xmlns:v="urn:schemas-microsoft-com:vml" Requires="v">
                <p:oleObj name="Picture" r:id="rId2" imgW="2156460" imgH="1197864" progId="Word.Picture.8">
                  <p:embed/>
                </p:oleObj>
              </mc:Choice>
              <mc:Fallback>
                <p:oleObj name="Picture" r:id="rId2" imgW="2156460" imgH="1197864" progId="Word.Picture.8">
                  <p:embed/>
                  <p:pic>
                    <p:nvPicPr>
                      <p:cNvPr id="4" name="Object 2" descr="primitive type assignment i = j&#10;before:&#10;i = 1&#10;j = 2&#10;&#10;after&#10;i = 2&#10;j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73912" y="1004550"/>
                        <a:ext cx="3289325" cy="1827094"/>
                      </a:xfrm>
                      <a:prstGeom prst="rect">
                        <a:avLst/>
                      </a:prstGeom>
                      <a:noFill/>
                      <a:ln>
                        <a:solidFill>
                          <a:schemeClr val="tx1"/>
                        </a:solidFill>
                      </a:ln>
                    </p:spPr>
                  </p:pic>
                </p:oleObj>
              </mc:Fallback>
            </mc:AlternateContent>
          </a:graphicData>
        </a:graphic>
      </p:graphicFrame>
      <p:graphicFrame>
        <p:nvGraphicFramePr>
          <p:cNvPr id="6" name="Object 3" descr="object type assignment c1 = c2&#10;&#10;before:&#10;c1 is c1:Circle with radius=5&#10;c2 is c2:Circle with radius=9&#10;&#10;after&#10;c1 is c2:Circle with radius=9&#10;c2 is c2:Circle with radius=9"/>
          <p:cNvGraphicFramePr>
            <a:graphicFrameLocks noChangeAspect="1"/>
          </p:cNvGraphicFramePr>
          <p:nvPr/>
        </p:nvGraphicFramePr>
        <p:xfrm>
          <a:off x="1595338" y="2917395"/>
          <a:ext cx="4013597" cy="2033588"/>
        </p:xfrm>
        <a:graphic>
          <a:graphicData uri="http://schemas.openxmlformats.org/presentationml/2006/ole">
            <mc:AlternateContent xmlns:mc="http://schemas.openxmlformats.org/markup-compatibility/2006">
              <mc:Choice xmlns:v="urn:schemas-microsoft-com:vml" Requires="v">
                <p:oleObj name="Picture" r:id="rId4" imgW="3443040" imgH="1741320" progId="Word.Picture.8">
                  <p:embed/>
                </p:oleObj>
              </mc:Choice>
              <mc:Fallback>
                <p:oleObj name="Picture" r:id="rId4" imgW="3443040" imgH="1741320" progId="Word.Picture.8">
                  <p:embed/>
                  <p:pic>
                    <p:nvPicPr>
                      <p:cNvPr id="6" name="Object 3" descr="object type assignment c1 = c2&#10;&#10;before:&#10;c1 is c1:Circle with radius=5&#10;c2 is c2:Circle with radius=9&#10;&#10;after&#10;c1 is c2:Circle with radius=9&#10;c2 is c2:Circle with radius=9"/>
                      <p:cNvPicPr>
                        <a:picLocks noChangeAspect="1" noChangeArrowheads="1"/>
                      </p:cNvPicPr>
                      <p:nvPr/>
                    </p:nvPicPr>
                    <p:blipFill>
                      <a:blip r:embed="rId5"/>
                      <a:srcRect/>
                      <a:stretch>
                        <a:fillRect/>
                      </a:stretch>
                    </p:blipFill>
                    <p:spPr bwMode="auto">
                      <a:xfrm>
                        <a:off x="1595338" y="2917395"/>
                        <a:ext cx="4013597" cy="2033588"/>
                      </a:xfrm>
                      <a:prstGeom prst="rect">
                        <a:avLst/>
                      </a:prstGeom>
                      <a:noFill/>
                      <a:ln>
                        <a:solidFill>
                          <a:schemeClr val="tx1"/>
                        </a:solidFill>
                      </a:ln>
                    </p:spPr>
                  </p:pic>
                </p:oleObj>
              </mc:Fallback>
            </mc:AlternateContent>
          </a:graphicData>
        </a:graphic>
      </p:graphicFrame>
      <p:sp>
        <p:nvSpPr>
          <p:cNvPr id="7" name="Rectangle 6">
            <a:extLst>
              <a:ext uri="{FF2B5EF4-FFF2-40B4-BE49-F238E27FC236}">
                <a16:creationId xmlns:a16="http://schemas.microsoft.com/office/drawing/2014/main" id="{A553D6A8-0403-4D36-8ECC-8D1B27FAB892}"/>
              </a:ext>
            </a:extLst>
          </p:cNvPr>
          <p:cNvSpPr/>
          <p:nvPr/>
        </p:nvSpPr>
        <p:spPr>
          <a:xfrm>
            <a:off x="5724150" y="2946199"/>
            <a:ext cx="3355114" cy="2031325"/>
          </a:xfrm>
          <a:prstGeom prst="rect">
            <a:avLst/>
          </a:prstGeom>
        </p:spPr>
        <p:txBody>
          <a:bodyPr wrap="square">
            <a:spAutoFit/>
          </a:bodyPr>
          <a:lstStyle/>
          <a:p>
            <a:pPr eaLnBrk="0" fontAlgn="base" hangingPunct="0">
              <a:spcBef>
                <a:spcPct val="0"/>
              </a:spcBef>
              <a:spcAft>
                <a:spcPct val="0"/>
              </a:spcAft>
              <a:buClrTx/>
              <a:buFontTx/>
              <a:buNone/>
            </a:pPr>
            <a:r>
              <a:rPr lang="en-US" altLang="en-US" sz="1800" kern="1200" dirty="0">
                <a:solidFill>
                  <a:prstClr val="black"/>
                </a:solidFill>
                <a:latin typeface="+mn-lt"/>
                <a:ea typeface="+mn-ea"/>
                <a:cs typeface="+mn-cs"/>
              </a:rPr>
              <a:t>- The object previously referenced by c1 is no longer referenced – it is called </a:t>
            </a:r>
            <a:r>
              <a:rPr lang="en-US" altLang="en-US" sz="1800" i="1" kern="1200" dirty="0">
                <a:solidFill>
                  <a:prstClr val="black"/>
                </a:solidFill>
                <a:latin typeface="+mn-lt"/>
                <a:ea typeface="+mn-ea"/>
                <a:cs typeface="+mn-cs"/>
              </a:rPr>
              <a:t>garbage</a:t>
            </a:r>
          </a:p>
          <a:p>
            <a:pPr eaLnBrk="0" fontAlgn="base" hangingPunct="0">
              <a:spcBef>
                <a:spcPct val="0"/>
              </a:spcBef>
              <a:spcAft>
                <a:spcPct val="0"/>
              </a:spcAft>
              <a:buClrTx/>
              <a:buFontTx/>
              <a:buNone/>
            </a:pPr>
            <a:r>
              <a:rPr lang="en-US" altLang="en-US" sz="1800" kern="1200" dirty="0">
                <a:solidFill>
                  <a:prstClr val="black"/>
                </a:solidFill>
                <a:latin typeface="+mn-lt"/>
                <a:ea typeface="+mn-ea"/>
                <a:cs typeface="+mn-cs"/>
              </a:rPr>
              <a:t>- Garbage is automatically collected by JVM = </a:t>
            </a:r>
            <a:r>
              <a:rPr lang="en-US" altLang="en-US" sz="1800" i="1" kern="1200" dirty="0">
                <a:solidFill>
                  <a:prstClr val="black"/>
                </a:solidFill>
                <a:latin typeface="+mn-lt"/>
                <a:ea typeface="+mn-ea"/>
                <a:cs typeface="+mn-cs"/>
              </a:rPr>
              <a:t>garbage collection</a:t>
            </a:r>
            <a:endParaRPr lang="en-US" altLang="en-US" sz="1800" kern="1200" dirty="0">
              <a:solidFill>
                <a:prstClr val="black"/>
              </a:solidFill>
              <a:latin typeface="+mn-lt"/>
              <a:ea typeface="+mn-ea"/>
              <a:cs typeface="+mn-cs"/>
            </a:endParaRPr>
          </a:p>
        </p:txBody>
      </p:sp>
    </p:spTree>
    <p:extLst>
      <p:ext uri="{BB962C8B-B14F-4D97-AF65-F5344CB8AC3E}">
        <p14:creationId xmlns:p14="http://schemas.microsoft.com/office/powerpoint/2010/main" val="18174115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E2F7A1478630F4C84AA79FECBBE66E3" ma:contentTypeVersion="3" ma:contentTypeDescription="Create a new document." ma:contentTypeScope="" ma:versionID="882d3af580b91c18edc160109d075412">
  <xsd:schema xmlns:xsd="http://www.w3.org/2001/XMLSchema" xmlns:xs="http://www.w3.org/2001/XMLSchema" xmlns:p="http://schemas.microsoft.com/office/2006/metadata/properties" xmlns:ns2="dd520bba-7c1e-4c79-bf9d-255d7ed0f3a3" targetNamespace="http://schemas.microsoft.com/office/2006/metadata/properties" ma:root="true" ma:fieldsID="9ef345be7e9f8682d91a8670d26f0520" ns2:_="">
    <xsd:import namespace="dd520bba-7c1e-4c79-bf9d-255d7ed0f3a3"/>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d520bba-7c1e-4c79-bf9d-255d7ed0f3a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DA4A3300-0FD3-4639-853B-80F0CBC25AD7}"/>
</file>

<file path=customXml/itemProps2.xml><?xml version="1.0" encoding="utf-8"?>
<ds:datastoreItem xmlns:ds="http://schemas.openxmlformats.org/officeDocument/2006/customXml" ds:itemID="{8C8209C9-B362-473F-A799-FEB0688677D0}"/>
</file>

<file path=customXml/itemProps3.xml><?xml version="1.0" encoding="utf-8"?>
<ds:datastoreItem xmlns:ds="http://schemas.openxmlformats.org/officeDocument/2006/customXml" ds:itemID="{891655FC-F7A9-45BE-AA1C-F6251EB543F3}"/>
</file>

<file path=docProps/app.xml><?xml version="1.0" encoding="utf-8"?>
<Properties xmlns="http://schemas.openxmlformats.org/officeDocument/2006/extended-properties" xmlns:vt="http://schemas.openxmlformats.org/officeDocument/2006/docPropsVTypes">
  <TotalTime>7314</TotalTime>
  <Words>1435</Words>
  <Application>Microsoft Office PowerPoint</Application>
  <PresentationFormat>On-screen Show (16:9)</PresentationFormat>
  <Paragraphs>215</Paragraphs>
  <Slides>17</Slides>
  <Notes>7</Notes>
  <HiddenSlides>0</HiddenSlides>
  <MMClips>0</MMClips>
  <ScaleCrop>false</ScaleCrop>
  <HeadingPairs>
    <vt:vector size="8" baseType="variant">
      <vt:variant>
        <vt:lpstr>Fonts Used</vt:lpstr>
      </vt:variant>
      <vt:variant>
        <vt:i4>5</vt:i4>
      </vt:variant>
      <vt:variant>
        <vt:lpstr>Theme</vt:lpstr>
      </vt:variant>
      <vt:variant>
        <vt:i4>1</vt:i4>
      </vt:variant>
      <vt:variant>
        <vt:lpstr>Embedded OLE Servers</vt:lpstr>
      </vt:variant>
      <vt:variant>
        <vt:i4>1</vt:i4>
      </vt:variant>
      <vt:variant>
        <vt:lpstr>Slide Titles</vt:lpstr>
      </vt:variant>
      <vt:variant>
        <vt:i4>17</vt:i4>
      </vt:variant>
    </vt:vector>
  </HeadingPairs>
  <TitlesOfParts>
    <vt:vector size="24" baseType="lpstr">
      <vt:lpstr>Google Sans</vt:lpstr>
      <vt:lpstr>Arial</vt:lpstr>
      <vt:lpstr>Consolas</vt:lpstr>
      <vt:lpstr>Courier New</vt:lpstr>
      <vt:lpstr>Times New Roman</vt:lpstr>
      <vt:lpstr>Simple Light</vt:lpstr>
      <vt:lpstr>Picture</vt:lpstr>
      <vt:lpstr>PowerPoint Presentation</vt:lpstr>
      <vt:lpstr>First Midterm 11/16/2025</vt:lpstr>
      <vt:lpstr> Binary, Octal, Hexadecimal and Decimal: Table </vt:lpstr>
      <vt:lpstr>Getting User Input</vt:lpstr>
      <vt:lpstr>Scanner class methods:</vt:lpstr>
      <vt:lpstr>The Rules of Arithmetic</vt:lpstr>
      <vt:lpstr>Operator Precedence</vt:lpstr>
      <vt:lpstr>PowerPoint Presentation</vt:lpstr>
      <vt:lpstr>Formatting Output </vt:lpstr>
      <vt:lpstr>Frequently-Used Specifiers </vt:lpstr>
      <vt:lpstr>Formatting output: Example</vt:lpstr>
      <vt:lpstr>PowerPoint Presentation</vt:lpstr>
      <vt:lpstr>Array Default Values</vt:lpstr>
      <vt:lpstr>Scope of Variables</vt:lpstr>
      <vt:lpstr>Overloading</vt:lpstr>
      <vt:lpstr>Pass By Value</vt:lpstr>
      <vt:lpstr>Copying Primitive data types Vs. Reference types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dc:creator>
  <cp:lastModifiedBy>XINRUI YU</cp:lastModifiedBy>
  <cp:revision>159</cp:revision>
  <dcterms:modified xsi:type="dcterms:W3CDTF">2025-11-11T07:03:23Z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0x0101008E2F7A1478630F4C84AA79FECBBE66E3</vt:lpwstr>
  </property>
</Properties>
</file>