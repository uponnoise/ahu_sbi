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345" r:id="rId3"/>
    <p:sldId id="375" r:id="rId4"/>
    <p:sldId id="360" r:id="rId5"/>
    <p:sldId id="361" r:id="rId6"/>
    <p:sldId id="362" r:id="rId7"/>
    <p:sldId id="363" r:id="rId8"/>
    <p:sldId id="364" r:id="rId9"/>
    <p:sldId id="365" r:id="rId10"/>
    <p:sldId id="366" r:id="rId11"/>
    <p:sldId id="372" r:id="rId12"/>
    <p:sldId id="373" r:id="rId13"/>
    <p:sldId id="369" r:id="rId14"/>
    <p:sldId id="370" r:id="rId15"/>
    <p:sldId id="371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46" autoAdjust="0"/>
    <p:restoredTop sz="86921" autoAdjust="0"/>
  </p:normalViewPr>
  <p:slideViewPr>
    <p:cSldViewPr snapToGrid="0">
      <p:cViewPr varScale="1">
        <p:scale>
          <a:sx n="128" d="100"/>
          <a:sy n="128" d="100"/>
        </p:scale>
        <p:origin x="1038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于 心瑞 Xinrui YU" userId="e6fcc6d4-2b88-4beb-95d7-57ae4d33a768" providerId="ADAL" clId="{CFFA9A75-F840-4F6F-AF7D-069F806E1180}"/>
    <pc:docChg chg="custSel delSld modSld">
      <pc:chgData name="于 心瑞 Xinrui YU" userId="e6fcc6d4-2b88-4beb-95d7-57ae4d33a768" providerId="ADAL" clId="{CFFA9A75-F840-4F6F-AF7D-069F806E1180}" dt="2025-12-10T00:09:40.883" v="116" actId="20577"/>
      <pc:docMkLst>
        <pc:docMk/>
      </pc:docMkLst>
      <pc:sldChg chg="modSp mod">
        <pc:chgData name="于 心瑞 Xinrui YU" userId="e6fcc6d4-2b88-4beb-95d7-57ae4d33a768" providerId="ADAL" clId="{CFFA9A75-F840-4F6F-AF7D-069F806E1180}" dt="2025-12-08T07:26:32.360" v="1" actId="20577"/>
        <pc:sldMkLst>
          <pc:docMk/>
          <pc:sldMk cId="0" sldId="256"/>
        </pc:sldMkLst>
        <pc:spChg chg="mod">
          <ac:chgData name="于 心瑞 Xinrui YU" userId="e6fcc6d4-2b88-4beb-95d7-57ae4d33a768" providerId="ADAL" clId="{CFFA9A75-F840-4F6F-AF7D-069F806E1180}" dt="2025-12-08T07:26:32.360" v="1" actId="20577"/>
          <ac:spMkLst>
            <pc:docMk/>
            <pc:sldMk cId="0" sldId="256"/>
            <ac:spMk id="2" creationId="{1730766B-A39C-48AD-AF4E-3FB458C16D13}"/>
          </ac:spMkLst>
        </pc:spChg>
        <pc:spChg chg="mod">
          <ac:chgData name="于 心瑞 Xinrui YU" userId="e6fcc6d4-2b88-4beb-95d7-57ae4d33a768" providerId="ADAL" clId="{CFFA9A75-F840-4F6F-AF7D-069F806E1180}" dt="2025-12-08T07:26:29.641" v="0" actId="20577"/>
          <ac:spMkLst>
            <pc:docMk/>
            <pc:sldMk cId="0" sldId="256"/>
            <ac:spMk id="54" creationId="{00000000-0000-0000-0000-000000000000}"/>
          </ac:spMkLst>
        </pc:spChg>
      </pc:sldChg>
      <pc:sldChg chg="modNotesTx">
        <pc:chgData name="于 心瑞 Xinrui YU" userId="e6fcc6d4-2b88-4beb-95d7-57ae4d33a768" providerId="ADAL" clId="{CFFA9A75-F840-4F6F-AF7D-069F806E1180}" dt="2025-12-10T00:08:03.138" v="8" actId="20577"/>
        <pc:sldMkLst>
          <pc:docMk/>
          <pc:sldMk cId="3266210641" sldId="345"/>
        </pc:sldMkLst>
      </pc:sldChg>
      <pc:sldChg chg="modNotesTx">
        <pc:chgData name="于 心瑞 Xinrui YU" userId="e6fcc6d4-2b88-4beb-95d7-57ae4d33a768" providerId="ADAL" clId="{CFFA9A75-F840-4F6F-AF7D-069F806E1180}" dt="2025-12-10T00:08:40.587" v="36" actId="20577"/>
        <pc:sldMkLst>
          <pc:docMk/>
          <pc:sldMk cId="486979357" sldId="362"/>
        </pc:sldMkLst>
      </pc:sldChg>
      <pc:sldChg chg="modSp">
        <pc:chgData name="于 心瑞 Xinrui YU" userId="e6fcc6d4-2b88-4beb-95d7-57ae4d33a768" providerId="ADAL" clId="{CFFA9A75-F840-4F6F-AF7D-069F806E1180}" dt="2025-12-08T07:33:09.867" v="7" actId="20577"/>
        <pc:sldMkLst>
          <pc:docMk/>
          <pc:sldMk cId="2724862287" sldId="370"/>
        </pc:sldMkLst>
        <pc:spChg chg="mod">
          <ac:chgData name="于 心瑞 Xinrui YU" userId="e6fcc6d4-2b88-4beb-95d7-57ae4d33a768" providerId="ADAL" clId="{CFFA9A75-F840-4F6F-AF7D-069F806E1180}" dt="2025-12-08T07:33:09.867" v="7" actId="20577"/>
          <ac:spMkLst>
            <pc:docMk/>
            <pc:sldMk cId="2724862287" sldId="370"/>
            <ac:spMk id="6" creationId="{00000000-0000-0000-0000-000000000000}"/>
          </ac:spMkLst>
        </pc:spChg>
      </pc:sldChg>
      <pc:sldChg chg="modNotesTx">
        <pc:chgData name="于 心瑞 Xinrui YU" userId="e6fcc6d4-2b88-4beb-95d7-57ae4d33a768" providerId="ADAL" clId="{CFFA9A75-F840-4F6F-AF7D-069F806E1180}" dt="2025-12-10T00:09:18.154" v="96" actId="20577"/>
        <pc:sldMkLst>
          <pc:docMk/>
          <pc:sldMk cId="3043320411" sldId="372"/>
        </pc:sldMkLst>
      </pc:sldChg>
      <pc:sldChg chg="modNotesTx">
        <pc:chgData name="于 心瑞 Xinrui YU" userId="e6fcc6d4-2b88-4beb-95d7-57ae4d33a768" providerId="ADAL" clId="{CFFA9A75-F840-4F6F-AF7D-069F806E1180}" dt="2025-12-10T00:09:40.883" v="116" actId="20577"/>
        <pc:sldMkLst>
          <pc:docMk/>
          <pc:sldMk cId="2632827104" sldId="373"/>
        </pc:sldMkLst>
      </pc:sldChg>
      <pc:sldChg chg="modSp mod">
        <pc:chgData name="于 心瑞 Xinrui YU" userId="e6fcc6d4-2b88-4beb-95d7-57ae4d33a768" providerId="ADAL" clId="{CFFA9A75-F840-4F6F-AF7D-069F806E1180}" dt="2025-12-08T07:27:21.484" v="3" actId="27636"/>
        <pc:sldMkLst>
          <pc:docMk/>
          <pc:sldMk cId="3013043" sldId="375"/>
        </pc:sldMkLst>
        <pc:spChg chg="mod">
          <ac:chgData name="于 心瑞 Xinrui YU" userId="e6fcc6d4-2b88-4beb-95d7-57ae4d33a768" providerId="ADAL" clId="{CFFA9A75-F840-4F6F-AF7D-069F806E1180}" dt="2025-12-08T07:27:21.484" v="3" actId="27636"/>
          <ac:spMkLst>
            <pc:docMk/>
            <pc:sldMk cId="3013043" sldId="375"/>
            <ac:spMk id="3" creationId="{D930C3FD-5829-5CC5-2A8B-D0EEC709DF8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447478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be5cd7aa5a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be5cd7aa5a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7473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323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Different typed </a:t>
            </a:r>
            <a:r>
              <a:rPr lang="en-US" altLang="zh-CN" dirty="0" err="1"/>
              <a:t>ArrayList</a:t>
            </a:r>
            <a:r>
              <a:rPr lang="en-US" altLang="zh-CN" dirty="0"/>
              <a:t> belong to the same class!</a:t>
            </a:r>
            <a:r>
              <a:rPr lang="en-US" altLang="zh-CN" baseline="0" dirty="0"/>
              <a:t> Type check is performed during compilation; </a:t>
            </a:r>
            <a:r>
              <a:rPr lang="en-US" altLang="zh-CN" b="1" baseline="0" dirty="0"/>
              <a:t>Type Erasure </a:t>
            </a:r>
            <a:r>
              <a:rPr lang="en-US" altLang="zh-CN" baseline="0" dirty="0"/>
              <a:t>is performed at execution.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8330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altLang="zh-CN" b="0" i="0" dirty="0"/>
              <a:t>Integer is a wrapper class of int. </a:t>
            </a:r>
            <a:r>
              <a:rPr lang="en-US" altLang="zh-CN" b="0" i="0" dirty="0" err="1"/>
              <a:t>ArrayList</a:t>
            </a:r>
            <a:r>
              <a:rPr lang="en-US" altLang="zh-CN" b="0" i="0" dirty="0"/>
              <a:t> can only store</a:t>
            </a:r>
            <a:r>
              <a:rPr lang="en-US" altLang="zh-CN" b="0" i="0" baseline="0" dirty="0"/>
              <a:t> objects, so wrapper class is needed for primitive data types. </a:t>
            </a:r>
            <a:endParaRPr lang="en-US" b="0" i="0" dirty="0"/>
          </a:p>
        </p:txBody>
      </p:sp>
    </p:spTree>
    <p:extLst>
      <p:ext uri="{BB962C8B-B14F-4D97-AF65-F5344CB8AC3E}">
        <p14:creationId xmlns:p14="http://schemas.microsoft.com/office/powerpoint/2010/main" val="4188009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Index always in front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318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</a:t>
            </a:r>
            <a:r>
              <a:rPr lang="en-US" dirty="0" err="1"/>
              <a:t>intValue</a:t>
            </a:r>
            <a:r>
              <a:rPr lang="en-US" dirty="0"/>
              <a:t>()：</a:t>
            </a:r>
            <a:r>
              <a:rPr lang="zh-CN" altLang="en-US" dirty="0"/>
              <a:t>将 </a:t>
            </a:r>
            <a:r>
              <a:rPr lang="en-US" dirty="0"/>
              <a:t>Integer </a:t>
            </a:r>
            <a:r>
              <a:rPr lang="zh-CN" altLang="en-US" dirty="0"/>
              <a:t>对象转换成基本数据类型 </a:t>
            </a:r>
            <a:r>
              <a:rPr lang="en-US" dirty="0"/>
              <a:t>int。</a:t>
            </a:r>
            <a:r>
              <a:rPr lang="zh-CN" altLang="en-US" dirty="0"/>
              <a:t>从 </a:t>
            </a:r>
            <a:r>
              <a:rPr lang="en-US" altLang="zh-CN" dirty="0"/>
              <a:t>number </a:t>
            </a:r>
            <a:r>
              <a:rPr lang="zh-CN" altLang="en-US" dirty="0"/>
              <a:t>这个 </a:t>
            </a:r>
            <a:r>
              <a:rPr lang="en-US" altLang="zh-CN" dirty="0"/>
              <a:t>ArrayList </a:t>
            </a:r>
            <a:r>
              <a:rPr lang="zh-CN" altLang="en-US" dirty="0"/>
              <a:t>中取出第一个元素，把它转换成基本的 </a:t>
            </a:r>
            <a:r>
              <a:rPr lang="en-US" altLang="zh-CN" dirty="0"/>
              <a:t>int </a:t>
            </a:r>
            <a:r>
              <a:rPr lang="zh-CN" altLang="en-US" dirty="0"/>
              <a:t>类型，然后乘以 </a:t>
            </a:r>
            <a:r>
              <a:rPr lang="en-US" altLang="zh-CN" dirty="0"/>
              <a:t>2</a:t>
            </a:r>
            <a:r>
              <a:rPr lang="zh-CN" altLang="en-US" dirty="0"/>
              <a:t>，最后把结果赋值给 </a:t>
            </a:r>
            <a:r>
              <a:rPr lang="en-US" altLang="zh-CN" dirty="0"/>
              <a:t>temp </a:t>
            </a:r>
            <a:r>
              <a:rPr lang="zh-CN" altLang="en-US" dirty="0"/>
              <a:t>变量。</a:t>
            </a:r>
            <a:endParaRPr lang="en-US" altLang="zh-CN" dirty="0"/>
          </a:p>
          <a:p>
            <a:r>
              <a:rPr lang="zh-CN" altLang="en-US" dirty="0"/>
              <a:t>在新版 </a:t>
            </a:r>
            <a:r>
              <a:rPr lang="en-US" dirty="0"/>
              <a:t>Java </a:t>
            </a:r>
            <a:r>
              <a:rPr lang="zh-CN" altLang="en-US" dirty="0"/>
              <a:t>中，存在</a:t>
            </a:r>
            <a:r>
              <a:rPr lang="zh-CN" altLang="en-US" b="1" dirty="0"/>
              <a:t>自动拆箱（</a:t>
            </a:r>
            <a:r>
              <a:rPr lang="en-US" b="1" dirty="0" err="1"/>
              <a:t>autounboxing</a:t>
            </a:r>
            <a:r>
              <a:rPr lang="en-US" b="1" dirty="0"/>
              <a:t>）</a:t>
            </a:r>
            <a:r>
              <a:rPr lang="en-US" dirty="0"/>
              <a:t>，</a:t>
            </a:r>
            <a:r>
              <a:rPr lang="zh-CN" altLang="en-US" dirty="0"/>
              <a:t>使得</a:t>
            </a:r>
            <a:r>
              <a:rPr lang="en-US" dirty="0" err="1"/>
              <a:t>number.get</a:t>
            </a:r>
            <a:r>
              <a:rPr lang="en-US" dirty="0"/>
              <a:t>(0) </a:t>
            </a:r>
            <a:r>
              <a:rPr lang="zh-CN" altLang="en-US" dirty="0"/>
              <a:t>直接可以当作 </a:t>
            </a:r>
            <a:r>
              <a:rPr lang="en-US" dirty="0"/>
              <a:t>int </a:t>
            </a:r>
            <a:r>
              <a:rPr lang="zh-CN" altLang="en-US" dirty="0"/>
              <a:t>来用，所以 </a:t>
            </a:r>
            <a:r>
              <a:rPr lang="en-US" altLang="zh-CN" dirty="0"/>
              <a:t>.</a:t>
            </a:r>
            <a:r>
              <a:rPr lang="en-US" dirty="0" err="1"/>
              <a:t>intValue</a:t>
            </a:r>
            <a:r>
              <a:rPr lang="en-US" dirty="0"/>
              <a:t>() </a:t>
            </a:r>
            <a:r>
              <a:rPr lang="zh-CN" altLang="en-US" dirty="0"/>
              <a:t>可以省略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261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Note that remove(index: int) returns the removed object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9918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/>
              <a:t>数组访问是 </a:t>
            </a:r>
            <a:r>
              <a:rPr lang="en-US" dirty="0"/>
              <a:t>a[index]，ArrayList </a:t>
            </a:r>
            <a:r>
              <a:rPr lang="zh-CN" altLang="en-US" dirty="0"/>
              <a:t>访问是 </a:t>
            </a:r>
            <a:r>
              <a:rPr lang="en-US" dirty="0" err="1"/>
              <a:t>list.get</a:t>
            </a:r>
            <a:r>
              <a:rPr lang="en-US" dirty="0"/>
              <a:t>(index)；</a:t>
            </a:r>
          </a:p>
          <a:p>
            <a:pPr marL="158750" indent="0">
              <a:buNone/>
            </a:pPr>
            <a:r>
              <a:rPr lang="zh-CN" altLang="en-US" dirty="0"/>
              <a:t>数组更新（重新赋值）是 </a:t>
            </a:r>
            <a:r>
              <a:rPr lang="en-US" dirty="0"/>
              <a:t>a[index] = "</a:t>
            </a:r>
            <a:r>
              <a:rPr lang="en-US" dirty="0" err="1"/>
              <a:t>London"，ArrayList</a:t>
            </a:r>
            <a:r>
              <a:rPr lang="en-US" dirty="0"/>
              <a:t> </a:t>
            </a:r>
            <a:r>
              <a:rPr lang="zh-CN" altLang="en-US" dirty="0"/>
              <a:t>更新是 </a:t>
            </a:r>
            <a:r>
              <a:rPr lang="en-US" dirty="0" err="1"/>
              <a:t>list.set</a:t>
            </a:r>
            <a:r>
              <a:rPr lang="en-US" dirty="0"/>
              <a:t>(index, "London")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437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0766B-A39C-48AD-AF4E-3FB458C16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ArrayList</a:t>
            </a:r>
            <a:endParaRPr lang="en-US" dirty="0"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>
                <a:solidFill>
                  <a:schemeClr val="dk1"/>
                </a:solidFill>
              </a:rPr>
              <a:t>ArrayList</a:t>
            </a:r>
            <a:endParaRPr sz="3200" b="1" dirty="0">
              <a:solidFill>
                <a:schemeClr val="dk1"/>
              </a:solidFill>
            </a:endParaRPr>
          </a:p>
        </p:txBody>
      </p:sp>
      <p:pic>
        <p:nvPicPr>
          <p:cNvPr id="5" name="그림 1" descr="Text, letter&#10;&#10;Description automatically generated">
            <a:extLst>
              <a:ext uri="{FF2B5EF4-FFF2-40B4-BE49-F238E27FC236}">
                <a16:creationId xmlns:a16="http://schemas.microsoft.com/office/drawing/2014/main" id="{BFECBE88-523B-BBA5-4836-D00F2535F3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847" y="3702160"/>
            <a:ext cx="2948305" cy="10877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The</a:t>
            </a:r>
            <a:r>
              <a:rPr lang="en-US" dirty="0"/>
              <a:t> </a:t>
            </a:r>
            <a:r>
              <a:rPr lang="en-US" b="1" dirty="0" err="1">
                <a:cs typeface="Times New Roman" pitchFamily="16" charset="0"/>
              </a:rPr>
              <a:t>ArrayList</a:t>
            </a:r>
            <a:r>
              <a:rPr lang="en-US" dirty="0"/>
              <a:t> </a:t>
            </a:r>
            <a:r>
              <a:rPr lang="en-US" b="1" dirty="0">
                <a:cs typeface="Times New Roman" pitchFamily="16" charset="0"/>
              </a:rPr>
              <a:t>Class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453176" indent="-285750"/>
            <a:r>
              <a:rPr lang="en-US" dirty="0" err="1"/>
              <a:t>ArrayList</a:t>
            </a:r>
            <a:r>
              <a:rPr lang="en-US" dirty="0"/>
              <a:t> is a Java </a:t>
            </a:r>
            <a:r>
              <a:rPr lang="en-US" b="1" i="1" dirty="0">
                <a:solidFill>
                  <a:schemeClr val="tx1"/>
                </a:solidFill>
              </a:rPr>
              <a:t>collection</a:t>
            </a:r>
            <a:r>
              <a:rPr lang="en-US" dirty="0"/>
              <a:t> that removes some of the limitations of arrays.</a:t>
            </a:r>
          </a:p>
          <a:p>
            <a:pPr marL="167426" indent="0">
              <a:buNone/>
            </a:pPr>
            <a:endParaRPr lang="en-US" dirty="0"/>
          </a:p>
          <a:p>
            <a:pPr marL="453176" indent="-285750"/>
            <a:r>
              <a:rPr lang="en-US" dirty="0"/>
              <a:t>An array’s size is set at the time it’s created; an </a:t>
            </a:r>
            <a:r>
              <a:rPr lang="en-US" dirty="0" err="1"/>
              <a:t>ArrayList</a:t>
            </a:r>
            <a:r>
              <a:rPr lang="en-US" dirty="0"/>
              <a:t> can grow to hold more items.</a:t>
            </a:r>
          </a:p>
          <a:p>
            <a:pPr marL="167426" indent="0">
              <a:buNone/>
            </a:pPr>
            <a:endParaRPr lang="en-US" dirty="0"/>
          </a:p>
          <a:p>
            <a:pPr marL="453176" indent="-285750"/>
            <a:r>
              <a:rPr lang="en-US" dirty="0"/>
              <a:t>An </a:t>
            </a:r>
            <a:r>
              <a:rPr lang="en-US" dirty="0" err="1"/>
              <a:t>ArrayList</a:t>
            </a:r>
            <a:r>
              <a:rPr lang="en-US" dirty="0"/>
              <a:t> still maintains constant-time insertion(update) and access.</a:t>
            </a:r>
          </a:p>
          <a:p>
            <a:pPr marL="167426" indent="0">
              <a:buNone/>
            </a:pPr>
            <a:endParaRPr lang="en-US" dirty="0"/>
          </a:p>
          <a:p>
            <a:pPr marL="453176" indent="-285750"/>
            <a:r>
              <a:rPr lang="en-US" dirty="0"/>
              <a:t>Java collection framework (JCF) is set of classes and interfaces that implement commonly reusable collection data structures.</a:t>
            </a:r>
          </a:p>
          <a:p>
            <a:pPr marL="453176" indent="-285750"/>
            <a:endParaRPr lang="en-US" dirty="0"/>
          </a:p>
          <a:p>
            <a:pPr marL="453176" indent="-285750"/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import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java.util.ArrayList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2321591" y="2184704"/>
            <a:ext cx="3569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0070C0"/>
                </a:solidFill>
              </a:rPr>
              <a:t>Remember Homework 4?</a:t>
            </a:r>
            <a:endParaRPr lang="zh-CN" altLang="en-US" sz="1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210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86956-2405-98BA-0B16-9C2AB17D8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Regarding ArrayList</a:t>
            </a:r>
            <a:endParaRPr lang="zh-CN" alt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0C3FD-5829-5CC5-2A8B-D0EEC709DF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sz="2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It is an </a:t>
            </a:r>
            <a:r>
              <a:rPr lang="en-US" altLang="zh-CN" sz="24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object</a:t>
            </a:r>
            <a:r>
              <a:rPr lang="en-US" altLang="zh-CN" sz="2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(ArrayList itself).</a:t>
            </a:r>
            <a:endParaRPr lang="zh-CN" altLang="zh-CN" sz="2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sz="2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It is </a:t>
            </a:r>
            <a:r>
              <a:rPr lang="en-US" altLang="zh-CN" sz="24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typed</a:t>
            </a:r>
            <a:r>
              <a:rPr lang="en-US" altLang="zh-CN" sz="2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(ArrayList&lt;Integer&gt;, ArrayList&lt;String&gt;).</a:t>
            </a:r>
            <a:endParaRPr lang="zh-CN" altLang="zh-CN" sz="2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sz="2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It uses </a:t>
            </a:r>
            <a:r>
              <a:rPr lang="en-US" altLang="zh-CN" sz="24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methods</a:t>
            </a:r>
            <a:r>
              <a:rPr lang="en-US" altLang="zh-CN" sz="2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(add(), remove(), get()).</a:t>
            </a:r>
            <a:endParaRPr lang="zh-CN" altLang="zh-CN" sz="2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sz="2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It involves </a:t>
            </a:r>
            <a:r>
              <a:rPr lang="en-US" altLang="zh-CN" sz="24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dynamic memory</a:t>
            </a:r>
            <a:r>
              <a:rPr lang="en-US" altLang="zh-CN" sz="2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which is a step beyond primitive array management.</a:t>
            </a:r>
          </a:p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zh-CN" altLang="zh-CN" sz="2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13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The</a:t>
            </a:r>
            <a:r>
              <a:rPr lang="en-US" dirty="0"/>
              <a:t> </a:t>
            </a:r>
            <a:r>
              <a:rPr lang="en-US" b="1" dirty="0" err="1">
                <a:cs typeface="Times New Roman" pitchFamily="16" charset="0"/>
              </a:rPr>
              <a:t>ArrayList</a:t>
            </a:r>
            <a:r>
              <a:rPr lang="en-US" dirty="0"/>
              <a:t> </a:t>
            </a:r>
            <a:r>
              <a:rPr lang="en-US" b="1" dirty="0">
                <a:cs typeface="Times New Roman" pitchFamily="16" charset="0"/>
              </a:rPr>
              <a:t>Class contd..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3176" indent="-285750"/>
            <a:r>
              <a:rPr lang="en-US" dirty="0"/>
              <a:t>𝐴𝑟𝑟𝑎𝑦𝐿𝑖𝑠𝑡&lt;𝑇&gt; ()</a:t>
            </a:r>
          </a:p>
          <a:p>
            <a:pPr marL="694269" lvl="1" indent="-285750"/>
            <a:r>
              <a:rPr lang="en-US" sz="1800" dirty="0"/>
              <a:t>𝑇 must be an object type!</a:t>
            </a:r>
          </a:p>
          <a:p>
            <a:pPr marL="694269" lvl="1" indent="-285750"/>
            <a:r>
              <a:rPr lang="en-US" sz="1800" dirty="0"/>
              <a:t>Ex. 𝐴𝑟𝑟𝑎𝑦𝐿𝑖𝑠𝑡&lt;𝑆𝑡𝑟𝑖𝑛𝑔&gt;()</a:t>
            </a:r>
          </a:p>
          <a:p>
            <a:pPr marL="408519" lvl="1" indent="0">
              <a:buNone/>
            </a:pPr>
            <a:endParaRPr lang="en-US" sz="1800" dirty="0"/>
          </a:p>
          <a:p>
            <a:pPr marL="453176" indent="-285750"/>
            <a:r>
              <a:rPr lang="en-US" dirty="0"/>
              <a:t>𝐴𝑟𝑟𝑎𝑦𝐿𝑖𝑠𝑡&lt;𝑇&gt; (𝑖𝑛𝑡 𝑛)</a:t>
            </a:r>
          </a:p>
          <a:p>
            <a:pPr marL="694269" lvl="1" indent="-285750"/>
            <a:r>
              <a:rPr lang="en-US" sz="1800" dirty="0"/>
              <a:t>Creates an 𝐴𝑟𝑟𝑎𝑦𝐿𝑖𝑠𝑡 of type 𝑇 with space for n elements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95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Autofit/>
              </a:bodyPr>
              <a:lstStyle/>
              <a:p>
                <a:pPr marL="342900" indent="-285750" defTabSz="241093" eaLnBrk="0" fontAlgn="base" hangingPunct="0">
                  <a:buSzTx/>
                  <a:tabLst>
                    <a:tab pos="555854" algn="l"/>
                  </a:tabLst>
                  <a:defRPr sz="3600"/>
                </a:pPr>
                <a14:m>
                  <m:oMath xmlns:m="http://schemas.openxmlformats.org/officeDocument/2006/math"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𝐴𝑟𝑟𝑎𝑦𝐿𝑖𝑠𝑡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&lt;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𝑆𝑡𝑟𝑖𝑛𝑔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&gt; 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𝑐𝑖𝑡𝑦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 = 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𝑛𝑒𝑤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 </m:t>
                    </m:r>
                    <m:r>
                      <a:rPr lang="en-US" sz="1600" dirty="0" err="1">
                        <a:latin typeface="Cambria Math" panose="02040503050406030204" pitchFamily="18" charset="0"/>
                        <a:sym typeface="Gill Sans"/>
                      </a:rPr>
                      <m:t>𝐴𝑟𝑟𝑎𝑦𝐿𝑖𝑠𝑡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&lt;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𝑆𝑡𝑟𝑖𝑛𝑔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&gt;();</m:t>
                    </m:r>
                  </m:oMath>
                </a14:m>
                <a:endParaRPr lang="en-US" sz="1600" dirty="0">
                  <a:sym typeface="Gill Sans"/>
                </a:endParaRPr>
              </a:p>
              <a:p>
                <a:pPr marL="342900" indent="-285750" defTabSz="241093" eaLnBrk="0" fontAlgn="base" hangingPunct="0">
                  <a:buSzTx/>
                  <a:tabLst>
                    <a:tab pos="555854" algn="l"/>
                  </a:tabLst>
                  <a:defRPr sz="3600"/>
                </a:pPr>
                <a:endParaRPr lang="en-US" sz="1600" dirty="0">
                  <a:sym typeface="Gill Sans"/>
                </a:endParaRPr>
              </a:p>
              <a:p>
                <a:pPr marL="342900" indent="-285750" defTabSz="241093" eaLnBrk="0" fontAlgn="base" hangingPunct="0">
                  <a:buSzTx/>
                  <a:tabLst>
                    <a:tab pos="555854" algn="l"/>
                  </a:tabLst>
                  <a:defRPr sz="3600"/>
                </a:pPr>
                <a14:m>
                  <m:oMath xmlns:m="http://schemas.openxmlformats.org/officeDocument/2006/math"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𝐴𝑟𝑟𝑎𝑦𝐿𝑖𝑠𝑡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&lt;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𝑆𝑡𝑟𝑖𝑛𝑔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&gt; 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𝑏𝑢𝑠h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 = 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𝑛𝑒𝑤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 </m:t>
                    </m:r>
                    <m:r>
                      <a:rPr lang="en-US" sz="1600" dirty="0" err="1">
                        <a:latin typeface="Cambria Math" panose="02040503050406030204" pitchFamily="18" charset="0"/>
                        <a:sym typeface="Gill Sans"/>
                      </a:rPr>
                      <m:t>𝐴𝑟𝑟𝑎𝑦𝐿𝑖𝑠𝑡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&lt;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𝑆𝑡𝑟𝑖𝑛𝑔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&gt; (20);</m:t>
                    </m:r>
                  </m:oMath>
                </a14:m>
                <a:endParaRPr lang="en-US" sz="1600" dirty="0">
                  <a:sym typeface="Gill Sans"/>
                </a:endParaRPr>
              </a:p>
              <a:p>
                <a:pPr marL="57150" indent="0" defTabSz="241093" eaLnBrk="0" fontAlgn="base" hangingPunct="0">
                  <a:buSzTx/>
                  <a:buNone/>
                  <a:tabLst>
                    <a:tab pos="555854" algn="l"/>
                  </a:tabLst>
                  <a:defRPr sz="3600"/>
                </a:pPr>
                <a:endParaRPr lang="en-US" sz="1600" dirty="0">
                  <a:sym typeface="Gill Sans"/>
                </a:endParaRPr>
              </a:p>
              <a:p>
                <a:pPr marL="342900" indent="-285750" defTabSz="241093" eaLnBrk="0" fontAlgn="base" hangingPunct="0">
                  <a:buSzTx/>
                  <a:tabLst>
                    <a:tab pos="555854" algn="l"/>
                  </a:tabLst>
                  <a:defRPr sz="3600"/>
                </a:pPr>
                <a14:m>
                  <m:oMath xmlns:m="http://schemas.openxmlformats.org/officeDocument/2006/math"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𝐴𝑟𝑟𝑎𝑦𝐿𝑖𝑠𝑡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&lt;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𝐼𝑛𝑡𝑒𝑔𝑒𝑟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&gt; 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𝑛𝑢𝑚𝑏𝑒𝑟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 = 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𝑛𝑒𝑤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 </m:t>
                    </m:r>
                    <m:r>
                      <a:rPr lang="en-US" sz="1600" dirty="0" err="1">
                        <a:latin typeface="Cambria Math" panose="02040503050406030204" pitchFamily="18" charset="0"/>
                        <a:sym typeface="Gill Sans"/>
                      </a:rPr>
                      <m:t>𝐴𝑟𝑟𝑎𝑦𝐿𝑖𝑠𝑡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&lt;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𝐼𝑛𝑡𝑒𝑔𝑒𝑟</m:t>
                    </m:r>
                    <m:r>
                      <a:rPr lang="en-US" sz="1600" dirty="0">
                        <a:latin typeface="Cambria Math" panose="02040503050406030204" pitchFamily="18" charset="0"/>
                        <a:sym typeface="Gill Sans"/>
                      </a:rPr>
                      <m:t>&gt;();</m:t>
                    </m:r>
                  </m:oMath>
                </a14:m>
                <a:endParaRPr lang="en-US" sz="1600" dirty="0">
                  <a:sym typeface="Gill Sans"/>
                </a:endParaRPr>
              </a:p>
              <a:p>
                <a:pPr marL="342900" indent="-285750" defTabSz="241093" eaLnBrk="0" fontAlgn="base" hangingPunct="0">
                  <a:buSzTx/>
                  <a:tabLst>
                    <a:tab pos="555854" algn="l"/>
                  </a:tabLst>
                  <a:defRPr sz="3600"/>
                </a:pPr>
                <a:endParaRPr lang="en-US" sz="1600" dirty="0">
                  <a:sym typeface="Gill Sans"/>
                </a:endParaRPr>
              </a:p>
              <a:p>
                <a:pPr marL="342900" indent="-285750" defTabSz="241093" eaLnBrk="0" fontAlgn="base" hangingPunct="0">
                  <a:buSzTx/>
                  <a:tabLst>
                    <a:tab pos="555854" algn="l"/>
                  </a:tabLst>
                  <a:defRPr sz="3600"/>
                </a:pPr>
                <a:endParaRPr lang="en-US" sz="1600" dirty="0">
                  <a:sym typeface="Gill Sans"/>
                </a:endParaRPr>
              </a:p>
              <a:p>
                <a:pPr marL="342900" indent="-285750" defTabSz="241093" eaLnBrk="0" fontAlgn="base" hangingPunct="0">
                  <a:buSzTx/>
                  <a:tabLst>
                    <a:tab pos="555854" algn="l"/>
                  </a:tabLst>
                  <a:defRPr sz="3600"/>
                </a:pPr>
                <a:endParaRPr lang="en-US" sz="1600" dirty="0">
                  <a:sym typeface="Gill Sans"/>
                </a:endParaRPr>
              </a:p>
              <a:p>
                <a:pPr marL="57150" indent="0" defTabSz="241093" eaLnBrk="0" fontAlgn="base" hangingPunct="0">
                  <a:buSzTx/>
                  <a:buNone/>
                  <a:tabLst>
                    <a:tab pos="555854" algn="l"/>
                  </a:tabLst>
                  <a:defRPr sz="3600"/>
                </a:pPr>
                <a:r>
                  <a:rPr lang="en-US" sz="1600" dirty="0">
                    <a:sym typeface="Gill Sans"/>
                  </a:rPr>
                  <a:t>S</a:t>
                </a:r>
                <a:r>
                  <a:rPr lang="en-US" altLang="zh-CN" sz="1600" dirty="0">
                    <a:sym typeface="Gill Sans"/>
                  </a:rPr>
                  <a:t>omewhat similar to object creation:</a:t>
                </a:r>
                <a:endParaRPr lang="en-US" sz="1600" dirty="0">
                  <a:sym typeface="Gill Sans"/>
                </a:endParaRPr>
              </a:p>
              <a:p>
                <a:pPr marL="342900" indent="-285750" defTabSz="241093" eaLnBrk="0" fontAlgn="base" hangingPunct="0">
                  <a:buSzTx/>
                  <a:tabLst>
                    <a:tab pos="555854" algn="l"/>
                  </a:tabLst>
                  <a:defRPr sz="3600"/>
                </a:pPr>
                <a:r>
                  <a:rPr lang="en-US" altLang="en-US" sz="1600" b="1" dirty="0">
                    <a:solidFill>
                      <a:schemeClr val="tx1"/>
                    </a:solidFill>
                    <a:latin typeface="Courier New" pitchFamily="49" charset="0"/>
                  </a:rPr>
                  <a:t>Object </a:t>
                </a:r>
                <a:r>
                  <a:rPr lang="en-US" altLang="en-US" sz="1600" b="1" dirty="0" err="1">
                    <a:solidFill>
                      <a:schemeClr val="tx1"/>
                    </a:solidFill>
                    <a:latin typeface="Courier New" pitchFamily="49" charset="0"/>
                  </a:rPr>
                  <a:t>obj</a:t>
                </a:r>
                <a:r>
                  <a:rPr lang="en-US" altLang="en-US" sz="1600" b="1" dirty="0">
                    <a:solidFill>
                      <a:schemeClr val="tx1"/>
                    </a:solidFill>
                    <a:latin typeface="Courier New" pitchFamily="49" charset="0"/>
                  </a:rPr>
                  <a:t> = new Object();</a:t>
                </a:r>
              </a:p>
              <a:p>
                <a:pPr marL="342900" indent="-285750" defTabSz="241093" eaLnBrk="0" fontAlgn="base" hangingPunct="0">
                  <a:buSzTx/>
                  <a:tabLst>
                    <a:tab pos="555854" algn="l"/>
                  </a:tabLst>
                  <a:defRPr sz="3600"/>
                </a:pPr>
                <a:endParaRPr lang="en-US" sz="1600" dirty="0">
                  <a:sym typeface="Gill Sans"/>
                </a:endParaRPr>
              </a:p>
              <a:p>
                <a:pPr indent="-285750"/>
                <a:endParaRPr lang="en-US" sz="1600" dirty="0"/>
              </a:p>
            </p:txBody>
          </p:sp>
        </mc:Choice>
        <mc:Fallback xmlns="">
          <p:sp>
            <p:nvSpPr>
              <p:cNvPr id="6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箭头连接符 6"/>
          <p:cNvCxnSpPr/>
          <p:nvPr/>
        </p:nvCxnSpPr>
        <p:spPr>
          <a:xfrm flipH="1" flipV="1">
            <a:off x="5962764" y="2721298"/>
            <a:ext cx="503741" cy="1012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5545220" y="3843788"/>
            <a:ext cx="18950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wrapper class for </a:t>
            </a:r>
            <a:r>
              <a:rPr lang="en-US" altLang="zh-CN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int</a:t>
            </a:r>
            <a:endParaRPr lang="zh-CN" altLang="en-US" b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62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Adding Elements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Autofit/>
              </a:bodyPr>
              <a:lstStyle/>
              <a:p>
                <a:pPr marL="453176" indent="-285750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𝑎𝑑𝑑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401822" lvl="2" indent="0">
                  <a:buClr>
                    <a:schemeClr val="accent1"/>
                  </a:buClr>
                  <a:buNone/>
                  <a:tabLst>
                    <a:tab pos="796946" algn="l"/>
                  </a:tabLst>
                </a:pPr>
                <a:r>
                  <a:rPr lang="en-US" sz="1800" dirty="0"/>
                  <a:t>appends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1800" dirty="0"/>
                  <a:t> to the end of the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𝐴𝑟𝑟𝑎𝑦𝐿𝑖𝑠𝑡</m:t>
                    </m:r>
                  </m:oMath>
                </a14:m>
                <a:endParaRPr lang="en-US" sz="1800" dirty="0"/>
              </a:p>
              <a:p>
                <a:pPr marL="401822" lvl="2" indent="0">
                  <a:buClr>
                    <a:schemeClr val="accent1"/>
                  </a:buClr>
                  <a:buNone/>
                  <a:tabLst>
                    <a:tab pos="796946" algn="l"/>
                  </a:tabLst>
                </a:pPr>
                <a:endParaRPr lang="en-US" sz="1800" dirty="0"/>
              </a:p>
              <a:p>
                <a:pPr marL="453176" indent="-285750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𝑎𝑑𝑑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𝑖𝑛𝑡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401822" lvl="2" indent="0">
                  <a:buClr>
                    <a:schemeClr val="accent1"/>
                  </a:buClr>
                  <a:buNone/>
                  <a:tabLst>
                    <a:tab pos="796946" algn="l"/>
                  </a:tabLst>
                </a:pPr>
                <a:r>
                  <a:rPr lang="en-US" sz="1800" dirty="0"/>
                  <a:t>Inserts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1800" dirty="0"/>
                  <a:t> at position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dirty="0"/>
                  <a:t> in the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𝐴𝑟𝑟𝑎𝑦𝐿𝑖𝑠𝑡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401822" lvl="2" indent="0">
                  <a:buClr>
                    <a:schemeClr val="accent1"/>
                  </a:buClr>
                  <a:buNone/>
                  <a:tabLst>
                    <a:tab pos="796946" algn="l"/>
                  </a:tabLst>
                </a:pPr>
                <a:r>
                  <a:rPr lang="en-US" sz="1800" dirty="0"/>
                  <a:t>Shifts elements at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… </m:t>
                    </m:r>
                  </m:oMath>
                </a14:m>
                <a:r>
                  <a:rPr lang="en-US" sz="1800" dirty="0"/>
                  <a:t>down one space</a:t>
                </a:r>
              </a:p>
              <a:p>
                <a:pPr indent="-285750"/>
                <a:endParaRPr lang="en-US" sz="1600" dirty="0"/>
              </a:p>
            </p:txBody>
          </p:sp>
        </mc:Choice>
        <mc:Fallback xmlns="">
          <p:sp>
            <p:nvSpPr>
              <p:cNvPr id="6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6979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Insertion</a:t>
            </a:r>
            <a:r>
              <a:rPr lang="en-US" dirty="0"/>
              <a:t> </a:t>
            </a:r>
            <a:r>
              <a:rPr lang="en-US" b="1" dirty="0">
                <a:cs typeface="Times New Roman" pitchFamily="16" charset="0"/>
              </a:rPr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Autofit/>
              </a:bodyPr>
              <a:lstStyle/>
              <a:p>
                <a:pPr marL="285750" indent="-285750">
                  <a:buSzTx/>
                  <a:tabLst>
                    <a:tab pos="555854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𝑐𝑖𝑡𝑦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𝑎𝑑𝑑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 “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𝑀𝑎𝑑𝑟𝑖𝑑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”);</m:t>
                    </m:r>
                  </m:oMath>
                </a14:m>
                <a:endParaRPr lang="en-US" dirty="0"/>
              </a:p>
              <a:p>
                <a:pPr marL="0" indent="0">
                  <a:buSzTx/>
                  <a:buNone/>
                  <a:tabLst>
                    <a:tab pos="555854" algn="l"/>
                  </a:tabLst>
                </a:pPr>
                <a:endParaRPr lang="en-US" dirty="0"/>
              </a:p>
              <a:p>
                <a:pPr marL="285750" indent="-285750">
                  <a:buSzTx/>
                  <a:tabLst>
                    <a:tab pos="555854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𝑐𝑖𝑡𝑦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𝑎𝑑𝑑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 “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𝐶𝑎𝑖𝑟𝑜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”);</m:t>
                    </m:r>
                  </m:oMath>
                </a14:m>
                <a:endParaRPr lang="en-US" dirty="0"/>
              </a:p>
              <a:p>
                <a:pPr marL="0" indent="0">
                  <a:buSzTx/>
                  <a:buNone/>
                  <a:tabLst>
                    <a:tab pos="555854" algn="l"/>
                  </a:tabLst>
                </a:pPr>
                <a:endParaRPr lang="en-US" dirty="0"/>
              </a:p>
              <a:p>
                <a:pPr marL="285750" indent="-285750">
                  <a:buSzTx/>
                  <a:tabLst>
                    <a:tab pos="555854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𝑏𝑢𝑠h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𝑎𝑑𝑑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 “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𝐹𝑜𝑟𝑠𝑦𝑡h𝑖𝑎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”);</m:t>
                    </m:r>
                  </m:oMath>
                </a14:m>
                <a:endParaRPr lang="en-US" dirty="0"/>
              </a:p>
              <a:p>
                <a:pPr marL="0" indent="0">
                  <a:buSzTx/>
                  <a:buNone/>
                  <a:tabLst>
                    <a:tab pos="555854" algn="l"/>
                  </a:tabLst>
                </a:pPr>
                <a:endParaRPr lang="en-US" dirty="0"/>
              </a:p>
              <a:p>
                <a:pPr marL="285750" indent="-285750">
                  <a:buSzTx/>
                  <a:tabLst>
                    <a:tab pos="555854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𝑏𝑢𝑠h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𝑎𝑑𝑑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 “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𝐴𝑧𝑎𝑙𝑒𝑎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”);</m:t>
                    </m:r>
                  </m:oMath>
                </a14:m>
                <a:endParaRPr lang="en-US" dirty="0"/>
              </a:p>
              <a:p>
                <a:pPr marL="0" indent="0">
                  <a:buSzTx/>
                  <a:buNone/>
                  <a:tabLst>
                    <a:tab pos="555854" algn="l"/>
                  </a:tabLst>
                </a:pPr>
                <a:endParaRPr lang="en-US" dirty="0"/>
              </a:p>
              <a:p>
                <a:pPr marL="285750" indent="-285750">
                  <a:buSzTx/>
                  <a:tabLst>
                    <a:tab pos="555854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𝑎𝑑𝑑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(2);</m:t>
                    </m:r>
                  </m:oMath>
                </a14:m>
                <a:endParaRPr lang="en-US" dirty="0"/>
              </a:p>
              <a:p>
                <a:pPr marL="0" indent="0">
                  <a:buSzTx/>
                  <a:buNone/>
                  <a:tabLst>
                    <a:tab pos="555854" algn="l"/>
                  </a:tabLst>
                </a:pPr>
                <a:endParaRPr lang="en-US" dirty="0"/>
              </a:p>
              <a:p>
                <a:pPr marL="285750" indent="-285750">
                  <a:buSzTx/>
                  <a:tabLst>
                    <a:tab pos="555854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𝑎𝑑𝑑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(0, 3);</m:t>
                    </m:r>
                  </m:oMath>
                </a14:m>
                <a:r>
                  <a:rPr lang="en-US" dirty="0"/>
                  <a:t> // puts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 in position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indent="-285750"/>
                <a:endParaRPr lang="en-US" sz="1600" dirty="0"/>
              </a:p>
            </p:txBody>
          </p:sp>
        </mc:Choice>
        <mc:Fallback xmlns="">
          <p:sp>
            <p:nvSpPr>
              <p:cNvPr id="6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2"/>
                <a:stretch>
                  <a:fillRect l="-429" b="-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9926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Access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Autofit/>
              </a:bodyPr>
              <a:lstStyle/>
              <a:p>
                <a:pPr marL="453176" indent="-285750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𝑔𝑒𝑡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𝑖𝑛𝑡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694269" lvl="1" indent="-285750"/>
                <a:r>
                  <a:rPr lang="en-US" sz="1800" dirty="0"/>
                  <a:t>Returns the value at position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1800" dirty="0"/>
              </a:p>
              <a:p>
                <a:pPr marL="694269" lvl="1" indent="-285750"/>
                <a:r>
                  <a:rPr lang="en-US" sz="1800" dirty="0"/>
                  <a:t>Throws exception if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dirty="0"/>
                  <a:t> is not valid</a:t>
                </a:r>
              </a:p>
              <a:p>
                <a:pPr marL="408519" lvl="1" indent="0">
                  <a:buNone/>
                </a:pPr>
                <a:endParaRPr lang="en-US" sz="1800" dirty="0"/>
              </a:p>
              <a:p>
                <a:pPr marL="453176" indent="-285750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𝑟𝑒𝑚𝑜𝑣𝑒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𝑖𝑛𝑡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694269" lvl="1" indent="-285750"/>
                <a:r>
                  <a:rPr lang="en-US" sz="1800" dirty="0"/>
                  <a:t>Removes and returns value at position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1800" dirty="0"/>
              </a:p>
              <a:p>
                <a:pPr marL="694269" lvl="1" indent="-285750"/>
                <a:r>
                  <a:rPr lang="en-US" sz="1800" dirty="0"/>
                  <a:t>Shifts elements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+1… </m:t>
                    </m:r>
                  </m:oMath>
                </a14:m>
                <a:r>
                  <a:rPr lang="en-US" sz="1800" dirty="0"/>
                  <a:t>left to fill space</a:t>
                </a:r>
              </a:p>
              <a:p>
                <a:pPr indent="-285750"/>
                <a:endParaRPr lang="en-US" dirty="0"/>
              </a:p>
            </p:txBody>
          </p:sp>
        </mc:Choice>
        <mc:Fallback xmlns="">
          <p:sp>
            <p:nvSpPr>
              <p:cNvPr id="6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456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Access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Autofit/>
              </a:bodyPr>
              <a:lstStyle/>
              <a:p>
                <a:pPr marL="285750" indent="-285750">
                  <a:buSzTx/>
                  <a:tabLst>
                    <a:tab pos="555854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𝑆𝑡𝑟𝑖𝑛𝑔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𝑣𝑎𝑙𝑢𝑒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𝑐𝑖𝑡𝑦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𝑔𝑒𝑡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(1);</m:t>
                    </m:r>
                  </m:oMath>
                </a14:m>
                <a:endParaRPr lang="en-US" dirty="0"/>
              </a:p>
              <a:p>
                <a:pPr marL="0" indent="0">
                  <a:buSzTx/>
                  <a:buNone/>
                  <a:tabLst>
                    <a:tab pos="555854" algn="l"/>
                  </a:tabLst>
                </a:pPr>
                <a:endParaRPr lang="en-US" dirty="0"/>
              </a:p>
              <a:p>
                <a:pPr marL="285750" indent="-285750">
                  <a:buSzTx/>
                  <a:tabLst>
                    <a:tab pos="555854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𝑆𝑦𝑠𝑡𝑒𝑚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𝑜𝑢𝑡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𝑝𝑟𝑖𝑛𝑡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𝑐𝑖𝑡𝑦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𝑔𝑒𝑡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(0));</m:t>
                    </m:r>
                  </m:oMath>
                </a14:m>
                <a:endParaRPr lang="en-US" dirty="0"/>
              </a:p>
              <a:p>
                <a:pPr marL="0" indent="0">
                  <a:buSzTx/>
                  <a:buNone/>
                  <a:tabLst>
                    <a:tab pos="555854" algn="l"/>
                  </a:tabLst>
                </a:pPr>
                <a:endParaRPr lang="en-US" dirty="0"/>
              </a:p>
              <a:p>
                <a:pPr marL="285750" indent="-285750">
                  <a:buSzTx/>
                  <a:tabLst>
                    <a:tab pos="555854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𝑖𝑛𝑡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𝑡𝑒𝑚𝑝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2 ∗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𝑔𝑒𝑡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(0).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𝑖𝑛𝑡𝑉𝑎𝑙𝑢𝑒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();</m:t>
                    </m:r>
                  </m:oMath>
                </a14:m>
                <a:endParaRPr lang="en-US" dirty="0"/>
              </a:p>
              <a:p>
                <a:pPr marL="0" indent="0">
                  <a:buSzTx/>
                  <a:buNone/>
                  <a:tabLst>
                    <a:tab pos="555854" algn="l"/>
                  </a:tabLst>
                </a:pPr>
                <a:endParaRPr lang="en-US" dirty="0"/>
              </a:p>
              <a:p>
                <a:pPr marL="285750" indent="-285750">
                  <a:buSzTx/>
                  <a:tabLst>
                    <a:tab pos="555854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𝑟𝑒𝑚𝑜𝑣𝑒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(1);</m:t>
                    </m:r>
                  </m:oMath>
                </a14:m>
                <a:endParaRPr lang="en-US" dirty="0"/>
              </a:p>
              <a:p>
                <a:pPr indent="-285750"/>
                <a:endParaRPr lang="en-US" dirty="0"/>
              </a:p>
            </p:txBody>
          </p:sp>
        </mc:Choice>
        <mc:Fallback xmlns="">
          <p:sp>
            <p:nvSpPr>
              <p:cNvPr id="6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3"/>
                <a:stretch>
                  <a:fillRect l="-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0533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Other Useful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Autofit/>
              </a:bodyPr>
              <a:lstStyle/>
              <a:p>
                <a:pPr marL="453176" indent="-285750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𝑠𝑖𝑧𝑒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endParaRPr lang="en-US" dirty="0"/>
              </a:p>
              <a:p>
                <a:pPr marL="694269" lvl="1" indent="-285750"/>
                <a:r>
                  <a:rPr lang="en-US" dirty="0"/>
                  <a:t>Returns # of elements in the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𝐴𝑟𝑟𝑎𝑦𝐿𝑖𝑠𝑡</m:t>
                    </m:r>
                  </m:oMath>
                </a14:m>
                <a:endParaRPr lang="en-US" dirty="0"/>
              </a:p>
              <a:p>
                <a:pPr marL="408519" lvl="1" indent="0">
                  <a:buNone/>
                </a:pPr>
                <a:endParaRPr lang="en-US" dirty="0"/>
              </a:p>
              <a:p>
                <a:pPr marL="453176" indent="-285750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𝑐𝑙𝑒𝑎𝑟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endParaRPr lang="en-US" dirty="0"/>
              </a:p>
              <a:p>
                <a:pPr marL="694269" lvl="1" indent="-285750"/>
                <a:r>
                  <a:rPr lang="en-US" dirty="0"/>
                  <a:t>Removes all elements from the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𝐴𝑟𝑟𝑎𝑦𝐿𝑖𝑠𝑡</m:t>
                    </m:r>
                  </m:oMath>
                </a14:m>
                <a:endParaRPr lang="en-US" dirty="0"/>
              </a:p>
              <a:p>
                <a:pPr indent="-285750"/>
                <a:endParaRPr lang="en-US" dirty="0"/>
              </a:p>
            </p:txBody>
          </p:sp>
        </mc:Choice>
        <mc:Fallback xmlns="">
          <p:sp>
            <p:nvSpPr>
              <p:cNvPr id="6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5009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itchFamily="16" charset="0"/>
              </a:rPr>
              <a:t>The </a:t>
            </a:r>
            <a:r>
              <a:rPr lang="en-US" altLang="en-US" b="1" dirty="0" err="1">
                <a:cs typeface="Times New Roman" pitchFamily="16" charset="0"/>
              </a:rPr>
              <a:t>ArrayList</a:t>
            </a:r>
            <a:r>
              <a:rPr lang="en-US" altLang="en-US" b="1" dirty="0">
                <a:cs typeface="Times New Roman" pitchFamily="16" charset="0"/>
              </a:rPr>
              <a:t> Class</a:t>
            </a:r>
            <a:endParaRPr lang="en-US" b="1" dirty="0">
              <a:cs typeface="Times New Roman" pitchFamily="16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251872" y="1017725"/>
            <a:ext cx="3077202" cy="3416400"/>
          </a:xfrm>
        </p:spPr>
        <p:txBody>
          <a:bodyPr>
            <a:noAutofit/>
          </a:bodyPr>
          <a:lstStyle/>
          <a:p>
            <a:pPr marL="171450" indent="0">
              <a:buNone/>
            </a:pPr>
            <a:r>
              <a:rPr lang="en-US" altLang="en-US" dirty="0"/>
              <a:t>You can create arrays to store objects - But the array’s size is fixed once the array is created. </a:t>
            </a:r>
          </a:p>
          <a:p>
            <a:pPr marL="17145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Java provides the </a:t>
            </a:r>
            <a:r>
              <a:rPr lang="en-US" altLang="en-US" b="1" u="sng" dirty="0" err="1">
                <a:solidFill>
                  <a:schemeClr val="tx1"/>
                </a:solidFill>
              </a:rPr>
              <a:t>java.util.ArrayList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class that can be used to store an unlimited number of objects:</a:t>
            </a:r>
          </a:p>
          <a:p>
            <a:pPr indent="-285750"/>
            <a:endParaRPr lang="en-US" dirty="0"/>
          </a:p>
        </p:txBody>
      </p:sp>
      <p:graphicFrame>
        <p:nvGraphicFramePr>
          <p:cNvPr id="4" name="Object 2" descr="java.util.ArrayList&#10;&#10;+ArrayList() creates an empty list&#10;+add(o: Object): void appends a new element o at the end of this list&#10;+add(index: int, o: Object): void adds a new element o at the specified index in this list&#10;+clear(): void removes all the elements from this list&#10;+contains(o: Object): boolean returns true if this list contains the element o&#10;+get(index: int): Object returns the element from this list at the specified index&#10;+indexOf(o: Object): int returns the index of this first matching elements in this list&#10;+isEmpty(): boolean returns true if this list contains no elements&#10;+lastIndexOf(o: Object): int returns the index of the last matching element in this list&#10;+remove(o: Object): boolean removes the element o from this list&#10;+size(): int returns the number of elements in this list&#10;+remove(index: int) : Object removes the element at specified index&#10;+set(index: int, o: Object): Object sets the element at the specified index" title="ArrayList:UML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9274214"/>
              </p:ext>
            </p:extLst>
          </p:nvPr>
        </p:nvGraphicFramePr>
        <p:xfrm>
          <a:off x="3398149" y="1017725"/>
          <a:ext cx="5657850" cy="317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4166616" imgH="2334768" progId="Word.Picture.8">
                  <p:embed/>
                </p:oleObj>
              </mc:Choice>
              <mc:Fallback>
                <p:oleObj name="Picture" r:id="rId3" imgW="4166616" imgH="2334768" progId="Word.Picture.8">
                  <p:embed/>
                  <p:pic>
                    <p:nvPicPr>
                      <p:cNvPr id="4" name="Object 2" descr="java.util.ArrayList&#10;&#10;+ArrayList() creates an empty list&#10;+add(o: Object): void appends a new element o at the end of this list&#10;+add(index: int, o: Object): void adds a new element o at the specified index in this list&#10;+clear(): void removes all the elements from this list&#10;+contains(o: Object): boolean returns true if this list contains the element o&#10;+get(index: int): Object returns the element from this list at the specified index&#10;+indexOf(o: Object): int returns the index of this first matching elements in this list&#10;+isEmpty(): boolean returns true if this list contains no elements&#10;+lastIndexOf(o: Object): int returns the index of the last matching element in this list&#10;+remove(o: Object): boolean removes the element o from this list&#10;+size(): int returns the number of elements in this list&#10;+remove(index: int) : Object removes the element at specified index&#10;+set(index: int, o: Object): Object sets the element at the specified index" title="ArrayList:UML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8149" y="1017725"/>
                        <a:ext cx="5657850" cy="317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3320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itchFamily="16" charset="0"/>
              </a:rPr>
              <a:t>Arrays Vs </a:t>
            </a:r>
            <a:r>
              <a:rPr lang="en-US" altLang="en-US" b="1" dirty="0" err="1">
                <a:cs typeface="Times New Roman" pitchFamily="16" charset="0"/>
              </a:rPr>
              <a:t>ArrayList</a:t>
            </a:r>
            <a:endParaRPr lang="en-US" b="1" dirty="0">
              <a:cs typeface="Times New Roman" pitchFamily="16" charset="0"/>
            </a:endParaRPr>
          </a:p>
        </p:txBody>
      </p:sp>
      <p:graphicFrame>
        <p:nvGraphicFramePr>
          <p:cNvPr id="7" name="Object 11" descr="Creating an array/ArrayList&#10;Array: String[] a = new String[10]&#10;ArrayList: ArrayList&lt;String&gt; list = new ArrayList&lt;&gt;();&#10;&#10;Accessing an element&#10;Array: a[index]&#10;ArrayList: list.get(index);&#10;&#10;Updating an element&#10;Array: a[index] = &quot;London&quot;;&#10;ArrayList: list.set(index, &quot;London&quot;);&#10;&#10;Returning size&#10;Array: a.length&#10;ArrayList: list.size();&#10;&#10;&#10;Adding a new element&#10;Array:&#10;ArrayList: list.add(&quot;London&quot;);&#10;&#10;Inserting a new element&#10;Array:&#10;ArrayList: list.add(index, &quot;London&quot;);&#10;&#10;Removing an element&#10;Array:&#10;ArrayList: list.remove(index);&#10;&#10;Removing an element&#10;Array:&#10;ArrayList: list.remove(Object);&#10;&#10;Removing all elements&#10;Array:&#10;ArrayList: list.clear();" title="Array Vs ArrayLis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1428434"/>
              </p:ext>
            </p:extLst>
          </p:nvPr>
        </p:nvGraphicFramePr>
        <p:xfrm>
          <a:off x="311700" y="1220718"/>
          <a:ext cx="8327755" cy="29197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5594400" imgH="1963440" progId="Word.Picture.8">
                  <p:embed/>
                </p:oleObj>
              </mc:Choice>
              <mc:Fallback>
                <p:oleObj name="Picture" r:id="rId3" imgW="5594400" imgH="1963440" progId="Word.Picture.8">
                  <p:embed/>
                  <p:pic>
                    <p:nvPicPr>
                      <p:cNvPr id="7" name="Object 11" descr="Creating an array/ArrayList&#10;Array: String[] a = new String[10]&#10;ArrayList: ArrayList&lt;String&gt; list = new ArrayList&lt;&gt;();&#10;&#10;Accessing an element&#10;Array: a[index]&#10;ArrayList: list.get(index);&#10;&#10;Updating an element&#10;Array: a[index] = &quot;London&quot;;&#10;ArrayList: list.set(index, &quot;London&quot;);&#10;&#10;Returning size&#10;Array: a.length&#10;ArrayList: list.size();&#10;&#10;&#10;Adding a new element&#10;Array:&#10;ArrayList: list.add(&quot;London&quot;);&#10;&#10;Inserting a new element&#10;Array:&#10;ArrayList: list.add(index, &quot;London&quot;);&#10;&#10;Removing an element&#10;Array:&#10;ArrayList: list.remove(index);&#10;&#10;Removing an element&#10;Array:&#10;ArrayList: list.remove(Object);&#10;&#10;Removing all elements&#10;Array:&#10;ArrayList: list.clear();" title="Array Vs ArrayList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00" y="1220718"/>
                        <a:ext cx="8327755" cy="29197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2827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Array Lists from/to Arrays</a:t>
            </a:r>
            <a:endParaRPr lang="en-US" b="1" dirty="0">
              <a:cs typeface="Times New Roman" pitchFamily="1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Autofit/>
              </a:bodyPr>
              <a:lstStyle/>
              <a:p>
                <a:pPr marL="342900">
                  <a:spcBef>
                    <a:spcPct val="40000"/>
                  </a:spcBef>
                  <a:spcAft>
                    <a:spcPts val="900"/>
                  </a:spcAft>
                </a:pPr>
                <a:r>
                  <a:rPr lang="en-US" altLang="en-US" dirty="0"/>
                  <a:t>Creating an </a:t>
                </a:r>
                <a:r>
                  <a:rPr lang="en-US" altLang="en-US" dirty="0" err="1"/>
                  <a:t>ArrayList</a:t>
                </a:r>
                <a:r>
                  <a:rPr lang="en-US" altLang="en-US" dirty="0"/>
                  <a:t> from an array of objects:</a:t>
                </a:r>
              </a:p>
              <a:p>
                <a:pPr marL="742950" lvl="1" indent="-285750"/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𝑆𝑡𝑟𝑖𝑛𝑔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[] 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𝑎𝑟𝑟𝑎𝑦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US" altLang="en-US" sz="1600" b="1" i="1" dirty="0">
                        <a:latin typeface="Cambria Math" panose="02040503050406030204" pitchFamily="18" charset="0"/>
                      </a:rPr>
                      <m:t>"</m:t>
                    </m:r>
                    <m:r>
                      <m:rPr>
                        <m:sty m:val="p"/>
                      </m:rPr>
                      <a:rPr lang="en-US" altLang="en-US" sz="1600" b="1" i="1" dirty="0">
                        <a:latin typeface="Cambria Math" panose="02040503050406030204" pitchFamily="18" charset="0"/>
                      </a:rPr>
                      <m:t>red</m:t>
                    </m:r>
                    <m:r>
                      <a:rPr lang="en-US" altLang="en-US" sz="1600" b="1" i="1" dirty="0">
                        <a:latin typeface="Cambria Math" panose="02040503050406030204" pitchFamily="18" charset="0"/>
                      </a:rPr>
                      <m:t>"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sz="1600" b="1" i="1" dirty="0">
                        <a:latin typeface="Cambria Math" panose="02040503050406030204" pitchFamily="18" charset="0"/>
                      </a:rPr>
                      <m:t>"</m:t>
                    </m:r>
                    <m:r>
                      <m:rPr>
                        <m:sty m:val="p"/>
                      </m:rPr>
                      <a:rPr lang="en-US" altLang="en-US" sz="1600" b="1" i="1" dirty="0">
                        <a:latin typeface="Cambria Math" panose="02040503050406030204" pitchFamily="18" charset="0"/>
                      </a:rPr>
                      <m:t>green</m:t>
                    </m:r>
                    <m:r>
                      <a:rPr lang="en-US" altLang="en-US" sz="1600" b="1" i="1" dirty="0">
                        <a:latin typeface="Cambria Math" panose="02040503050406030204" pitchFamily="18" charset="0"/>
                      </a:rPr>
                      <m:t>", "</m:t>
                    </m:r>
                    <m:r>
                      <m:rPr>
                        <m:sty m:val="p"/>
                      </m:rPr>
                      <a:rPr lang="en-US" altLang="en-US" sz="1600" b="1" i="1" dirty="0">
                        <a:latin typeface="Cambria Math" panose="02040503050406030204" pitchFamily="18" charset="0"/>
                      </a:rPr>
                      <m:t>blue</m:t>
                    </m:r>
                    <m:r>
                      <a:rPr lang="en-US" altLang="en-US" sz="1600" b="1" i="1" dirty="0">
                        <a:latin typeface="Cambria Math" panose="02040503050406030204" pitchFamily="18" charset="0"/>
                      </a:rPr>
                      <m:t>"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};</m:t>
                    </m:r>
                  </m:oMath>
                </a14:m>
                <a:endParaRPr lang="en-US" altLang="en-US" sz="1600" dirty="0"/>
              </a:p>
              <a:p>
                <a:pPr marL="742950" lvl="1" indent="-285750"/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1600" i="1" dirty="0" err="1">
                        <a:latin typeface="Cambria Math" panose="02040503050406030204" pitchFamily="18" charset="0"/>
                      </a:rPr>
                      <m:t>𝐴𝑟𝑟𝑎𝑦𝐿𝑖𝑠𝑡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𝑆𝑡𝑟𝑖𝑛𝑔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&gt; 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𝑙𝑖𝑠𝑡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en-US" sz="1600" b="1" i="1" dirty="0">
                        <a:latin typeface="Cambria Math" panose="02040503050406030204" pitchFamily="18" charset="0"/>
                      </a:rPr>
                      <m:t>𝒏𝒆𝒘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1600" i="1" dirty="0" err="1">
                        <a:latin typeface="Cambria Math" panose="02040503050406030204" pitchFamily="18" charset="0"/>
                      </a:rPr>
                      <m:t>𝐴𝑟𝑟𝑎𝑦𝐿𝑖𝑠𝑡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&lt;&gt;(</m:t>
                    </m:r>
                    <m:r>
                      <a:rPr lang="en-US" altLang="en-US" sz="1600" i="1" dirty="0" err="1">
                        <a:latin typeface="Cambria Math" panose="02040503050406030204" pitchFamily="18" charset="0"/>
                      </a:rPr>
                      <m:t>𝐴𝑟𝑟𝑎𝑦𝑠</m:t>
                    </m:r>
                    <m:r>
                      <a:rPr lang="en-US" altLang="en-US" sz="1600" i="1" dirty="0" err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sz="1600" i="1" dirty="0" err="1">
                        <a:latin typeface="Cambria Math" panose="02040503050406030204" pitchFamily="18" charset="0"/>
                      </a:rPr>
                      <m:t>𝑎𝑠𝐿𝑖𝑠𝑡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𝑎𝑟𝑟𝑎𝑦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));</m:t>
                    </m:r>
                  </m:oMath>
                </a14:m>
                <a:endParaRPr lang="en-US" altLang="en-US" sz="1600" dirty="0"/>
              </a:p>
              <a:p>
                <a:pPr marL="342900">
                  <a:spcBef>
                    <a:spcPct val="40000"/>
                  </a:spcBef>
                  <a:spcAft>
                    <a:spcPts val="900"/>
                  </a:spcAft>
                </a:pPr>
                <a:r>
                  <a:rPr lang="en-US" altLang="en-US" dirty="0"/>
                  <a:t>Creating an array of objects from an </a:t>
                </a:r>
                <a:r>
                  <a:rPr lang="en-US" altLang="en-US" dirty="0" err="1"/>
                  <a:t>ArrayList</a:t>
                </a:r>
                <a:r>
                  <a:rPr lang="en-US" altLang="en-US" dirty="0"/>
                  <a:t>:</a:t>
                </a:r>
              </a:p>
              <a:p>
                <a:pPr marL="742950" lvl="1" indent="-285750"/>
                <a:r>
                  <a:rPr lang="en-US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𝑆𝑡𝑟𝑖𝑛𝑔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[] 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𝑎𝑟𝑟𝑎𝑦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1 = </m:t>
                    </m:r>
                    <m:r>
                      <a:rPr lang="en-US" altLang="en-US" sz="1600" b="1" i="1" dirty="0">
                        <a:latin typeface="Cambria Math" panose="02040503050406030204" pitchFamily="18" charset="0"/>
                      </a:rPr>
                      <m:t>𝒏𝒆𝒘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𝑆𝑡𝑟𝑖𝑛𝑔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1600" i="1" dirty="0" err="1">
                        <a:latin typeface="Cambria Math" panose="02040503050406030204" pitchFamily="18" charset="0"/>
                      </a:rPr>
                      <m:t>𝑙𝑖𝑠𝑡</m:t>
                    </m:r>
                    <m:r>
                      <a:rPr lang="en-US" altLang="en-US" sz="1600" i="1" dirty="0" err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sz="1600" i="1" dirty="0" err="1">
                        <a:latin typeface="Cambria Math" panose="02040503050406030204" pitchFamily="18" charset="0"/>
                      </a:rPr>
                      <m:t>𝑠𝑖𝑧𝑒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()];</m:t>
                    </m:r>
                  </m:oMath>
                </a14:m>
                <a:endParaRPr lang="en-US" altLang="en-US" sz="1600" dirty="0"/>
              </a:p>
              <a:p>
                <a:pPr marL="742950" lvl="1" indent="-285750"/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altLang="en-US" sz="1600" i="1" dirty="0" err="1">
                        <a:latin typeface="Cambria Math" panose="02040503050406030204" pitchFamily="18" charset="0"/>
                      </a:rPr>
                      <m:t>𝑙𝑖𝑠𝑡</m:t>
                    </m:r>
                    <m:r>
                      <a:rPr lang="en-US" altLang="en-US" sz="1600" i="1" dirty="0" err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sz="1600" i="1" dirty="0" err="1">
                        <a:latin typeface="Cambria Math" panose="02040503050406030204" pitchFamily="18" charset="0"/>
                      </a:rPr>
                      <m:t>𝑡𝑜𝐴𝑟𝑟𝑎𝑦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𝑎𝑟𝑟𝑎𝑦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</a:rPr>
                      <m:t>1);</m:t>
                    </m:r>
                  </m:oMath>
                </a14:m>
                <a:endParaRPr lang="en-US" altLang="en-US" sz="1600" dirty="0"/>
              </a:p>
              <a:p>
                <a:pPr marL="0" indent="0">
                  <a:buNone/>
                </a:pPr>
                <a:endParaRPr lang="en-US" altLang="en-US" dirty="0"/>
              </a:p>
              <a:p>
                <a:pPr indent="-285750"/>
                <a:endParaRPr lang="en-US" dirty="0"/>
              </a:p>
            </p:txBody>
          </p:sp>
        </mc:Choice>
        <mc:Fallback xmlns="">
          <p:sp>
            <p:nvSpPr>
              <p:cNvPr id="6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2"/>
                <a:stretch>
                  <a:fillRect l="-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6238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max and min in an Array List</a:t>
            </a:r>
            <a:endParaRPr lang="en-US" b="1" dirty="0">
              <a:cs typeface="Times New Roman" pitchFamily="16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285750" indent="-285750">
              <a:spcBef>
                <a:spcPct val="40000"/>
              </a:spcBef>
              <a:spcAft>
                <a:spcPts val="900"/>
              </a:spcAft>
            </a:pPr>
            <a:r>
              <a:rPr lang="en-US" altLang="en-US" dirty="0"/>
              <a:t>String[] array = {</a:t>
            </a:r>
            <a:r>
              <a:rPr lang="en-US" altLang="en-US" b="1" dirty="0"/>
              <a:t>"red"</a:t>
            </a:r>
            <a:r>
              <a:rPr lang="en-US" altLang="en-US" dirty="0"/>
              <a:t>, </a:t>
            </a:r>
            <a:r>
              <a:rPr lang="en-US" altLang="en-US" b="1" dirty="0"/>
              <a:t>"green", "blue"</a:t>
            </a:r>
            <a:r>
              <a:rPr lang="en-US" altLang="en-US" dirty="0"/>
              <a:t>};</a:t>
            </a:r>
          </a:p>
          <a:p>
            <a:pPr marL="285750" indent="-285750"/>
            <a:r>
              <a:rPr lang="en-US" altLang="en-US" dirty="0" err="1"/>
              <a:t>System.out.println</a:t>
            </a:r>
            <a:r>
              <a:rPr lang="en-US" altLang="en-US" dirty="0"/>
              <a:t>(</a:t>
            </a:r>
            <a:r>
              <a:rPr lang="en-US" altLang="en-US" dirty="0" err="1"/>
              <a:t>java.util.Collections.max</a:t>
            </a:r>
            <a:r>
              <a:rPr lang="en-US" altLang="en-US" dirty="0"/>
              <a:t>(</a:t>
            </a:r>
            <a:r>
              <a:rPr lang="en-US" altLang="en-US" dirty="0" err="1"/>
              <a:t>newArrayList</a:t>
            </a:r>
            <a:r>
              <a:rPr lang="en-US" altLang="en-US" dirty="0"/>
              <a:t>&lt;String&gt;(</a:t>
            </a:r>
            <a:r>
              <a:rPr lang="en-US" altLang="en-US" dirty="0" err="1"/>
              <a:t>Arrays.asList</a:t>
            </a:r>
            <a:r>
              <a:rPr lang="en-US" altLang="en-US" dirty="0"/>
              <a:t>(array)));</a:t>
            </a:r>
          </a:p>
          <a:p>
            <a:pPr marL="285750" indent="-285750">
              <a:spcBef>
                <a:spcPct val="40000"/>
              </a:spcBef>
              <a:spcAft>
                <a:spcPts val="900"/>
              </a:spcAft>
            </a:pPr>
            <a:r>
              <a:rPr lang="en-US" altLang="en-US" dirty="0"/>
              <a:t>String[] array = {"red", "green", "blue"};</a:t>
            </a:r>
          </a:p>
          <a:p>
            <a:pPr marL="285750" indent="-285750"/>
            <a:r>
              <a:rPr lang="en-US" altLang="en-US" dirty="0" err="1"/>
              <a:t>System.out.println</a:t>
            </a:r>
            <a:r>
              <a:rPr lang="en-US" altLang="en-US" dirty="0"/>
              <a:t>(</a:t>
            </a:r>
            <a:r>
              <a:rPr lang="en-US" altLang="en-US" dirty="0" err="1"/>
              <a:t>java.util.Collections.min</a:t>
            </a:r>
            <a:r>
              <a:rPr lang="en-US" altLang="en-US" dirty="0"/>
              <a:t>(</a:t>
            </a:r>
            <a:r>
              <a:rPr lang="en-US" altLang="en-US" dirty="0" err="1"/>
              <a:t>newArrayList</a:t>
            </a:r>
            <a:r>
              <a:rPr lang="en-US" altLang="en-US" dirty="0"/>
              <a:t>&lt;String&gt;(</a:t>
            </a:r>
            <a:r>
              <a:rPr lang="en-US" altLang="en-US" dirty="0" err="1"/>
              <a:t>Arrays.asList</a:t>
            </a:r>
            <a:r>
              <a:rPr lang="en-US" altLang="en-US" dirty="0"/>
              <a:t>(array)));</a:t>
            </a:r>
          </a:p>
          <a:p>
            <a:pPr marL="1714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862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Shuffling an Array List</a:t>
            </a:r>
            <a:endParaRPr lang="en-US" b="1" dirty="0">
              <a:cs typeface="Times New Roman" pitchFamily="16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285750" indent="-285750"/>
            <a:r>
              <a:rPr lang="en-US" altLang="en-US" dirty="0"/>
              <a:t>Integer[] array = {</a:t>
            </a:r>
            <a:r>
              <a:rPr lang="en-US" altLang="en-US" b="1" dirty="0"/>
              <a:t>3</a:t>
            </a:r>
            <a:r>
              <a:rPr lang="en-US" altLang="en-US" dirty="0"/>
              <a:t>, </a:t>
            </a:r>
            <a:r>
              <a:rPr lang="en-US" altLang="en-US" b="1" dirty="0"/>
              <a:t>5</a:t>
            </a:r>
            <a:r>
              <a:rPr lang="en-US" altLang="en-US" dirty="0"/>
              <a:t>,</a:t>
            </a:r>
            <a:r>
              <a:rPr lang="en-US" altLang="en-US" b="1" dirty="0"/>
              <a:t> 95</a:t>
            </a:r>
            <a:r>
              <a:rPr lang="en-US" altLang="en-US" dirty="0"/>
              <a:t>, </a:t>
            </a:r>
            <a:r>
              <a:rPr lang="en-US" altLang="en-US" b="1" dirty="0"/>
              <a:t>4</a:t>
            </a:r>
            <a:r>
              <a:rPr lang="en-US" altLang="en-US" dirty="0"/>
              <a:t>, </a:t>
            </a:r>
            <a:r>
              <a:rPr lang="en-US" altLang="en-US" b="1" dirty="0"/>
              <a:t>15</a:t>
            </a:r>
            <a:r>
              <a:rPr lang="en-US" altLang="en-US" dirty="0"/>
              <a:t>, </a:t>
            </a:r>
            <a:r>
              <a:rPr lang="en-US" altLang="en-US" b="1" dirty="0"/>
              <a:t>34</a:t>
            </a:r>
            <a:r>
              <a:rPr lang="en-US" altLang="en-US" dirty="0"/>
              <a:t>, </a:t>
            </a:r>
            <a:r>
              <a:rPr lang="en-US" altLang="en-US" b="1" dirty="0"/>
              <a:t>3</a:t>
            </a:r>
            <a:r>
              <a:rPr lang="en-US" altLang="en-US" dirty="0"/>
              <a:t>, </a:t>
            </a:r>
            <a:r>
              <a:rPr lang="en-US" altLang="en-US" b="1" dirty="0"/>
              <a:t>6</a:t>
            </a:r>
            <a:r>
              <a:rPr lang="en-US" altLang="en-US" dirty="0"/>
              <a:t>, </a:t>
            </a:r>
            <a:r>
              <a:rPr lang="en-US" altLang="en-US" b="1" dirty="0"/>
              <a:t>5</a:t>
            </a:r>
            <a:r>
              <a:rPr lang="en-US" altLang="en-US" dirty="0"/>
              <a:t>};</a:t>
            </a:r>
          </a:p>
          <a:p>
            <a:pPr marL="0" indent="0">
              <a:buNone/>
            </a:pPr>
            <a:endParaRPr lang="en-US" altLang="en-US" dirty="0"/>
          </a:p>
          <a:p>
            <a:pPr marL="285750" indent="-285750"/>
            <a:r>
              <a:rPr lang="en-US" altLang="en-US" dirty="0" err="1"/>
              <a:t>ArrayList</a:t>
            </a:r>
            <a:r>
              <a:rPr lang="en-US" altLang="en-US" dirty="0"/>
              <a:t>&lt;Integer&gt; list = </a:t>
            </a:r>
            <a:r>
              <a:rPr lang="en-US" altLang="en-US" b="1" dirty="0"/>
              <a:t>new</a:t>
            </a:r>
            <a:r>
              <a:rPr lang="en-US" altLang="en-US" dirty="0"/>
              <a:t>  </a:t>
            </a:r>
            <a:r>
              <a:rPr lang="en-US" altLang="en-US" dirty="0" err="1"/>
              <a:t>ArrayList</a:t>
            </a:r>
            <a:r>
              <a:rPr lang="en-US" altLang="en-US" dirty="0"/>
              <a:t>&lt;&gt;(</a:t>
            </a:r>
            <a:r>
              <a:rPr lang="en-US" altLang="en-US" dirty="0" err="1"/>
              <a:t>Arrays.asList</a:t>
            </a:r>
            <a:r>
              <a:rPr lang="en-US" altLang="en-US" dirty="0"/>
              <a:t>(array));</a:t>
            </a:r>
          </a:p>
          <a:p>
            <a:pPr marL="0" indent="0">
              <a:buNone/>
            </a:pPr>
            <a:endParaRPr lang="en-US" altLang="en-US" dirty="0"/>
          </a:p>
          <a:p>
            <a:pPr marL="285750" indent="-285750"/>
            <a:r>
              <a:rPr lang="en-US" altLang="en-US" dirty="0" err="1"/>
              <a:t>java.util.Collections.shuffle</a:t>
            </a:r>
            <a:r>
              <a:rPr lang="en-US" altLang="en-US" dirty="0"/>
              <a:t>(list);</a:t>
            </a:r>
          </a:p>
          <a:p>
            <a:pPr marL="0" indent="0">
              <a:buNone/>
            </a:pPr>
            <a:endParaRPr lang="en-US" altLang="en-US" dirty="0"/>
          </a:p>
          <a:p>
            <a:pPr marL="285750" indent="-285750"/>
            <a:r>
              <a:rPr lang="en-US" altLang="en-US" dirty="0" err="1"/>
              <a:t>System.out.println</a:t>
            </a:r>
            <a:r>
              <a:rPr lang="en-US" altLang="en-US" dirty="0"/>
              <a:t>(list);</a:t>
            </a:r>
          </a:p>
          <a:p>
            <a:pPr marL="1714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4725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2F7A1478630F4C84AA79FECBBE66E3" ma:contentTypeVersion="3" ma:contentTypeDescription="Create a new document." ma:contentTypeScope="" ma:versionID="c9c377e3b8e0e2ab9f0eac9809b4db93">
  <xsd:schema xmlns:xsd="http://www.w3.org/2001/XMLSchema" xmlns:xs="http://www.w3.org/2001/XMLSchema" xmlns:p="http://schemas.microsoft.com/office/2006/metadata/properties" xmlns:ns2="dd520bba-7c1e-4c79-bf9d-255d7ed0f3a3" targetNamespace="http://schemas.microsoft.com/office/2006/metadata/properties" ma:root="true" ma:fieldsID="6df6a781603a717f4f28054941dc04fe" ns2:_="">
    <xsd:import namespace="dd520bba-7c1e-4c79-bf9d-255d7ed0f3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20bba-7c1e-4c79-bf9d-255d7ed0f3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C15EA2B-3065-4962-82B5-7B60DBCEB4B6}"/>
</file>

<file path=customXml/itemProps2.xml><?xml version="1.0" encoding="utf-8"?>
<ds:datastoreItem xmlns:ds="http://schemas.openxmlformats.org/officeDocument/2006/customXml" ds:itemID="{36C2B2A1-B086-4557-A698-3FCFA8DD5168}"/>
</file>

<file path=customXml/itemProps3.xml><?xml version="1.0" encoding="utf-8"?>
<ds:datastoreItem xmlns:ds="http://schemas.openxmlformats.org/officeDocument/2006/customXml" ds:itemID="{6D8A948A-B5FA-4085-805F-D23A4706BCBC}"/>
</file>

<file path=docProps/app.xml><?xml version="1.0" encoding="utf-8"?>
<Properties xmlns="http://schemas.openxmlformats.org/officeDocument/2006/extended-properties" xmlns:vt="http://schemas.openxmlformats.org/officeDocument/2006/docPropsVTypes">
  <TotalTime>12805</TotalTime>
  <Words>899</Words>
  <Application>Microsoft Office PowerPoint</Application>
  <PresentationFormat>On-screen Show (16:9)</PresentationFormat>
  <Paragraphs>110</Paragraphs>
  <Slides>15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Gill Sans</vt:lpstr>
      <vt:lpstr>Aptos</vt:lpstr>
      <vt:lpstr>Arial</vt:lpstr>
      <vt:lpstr>Cambria Math</vt:lpstr>
      <vt:lpstr>Consolas</vt:lpstr>
      <vt:lpstr>Courier New</vt:lpstr>
      <vt:lpstr>Symbol</vt:lpstr>
      <vt:lpstr>Times New Roman</vt:lpstr>
      <vt:lpstr>Simple Light</vt:lpstr>
      <vt:lpstr>Picture</vt:lpstr>
      <vt:lpstr>ArrayList</vt:lpstr>
      <vt:lpstr>The ArrayList Class</vt:lpstr>
      <vt:lpstr>Regarding ArrayList</vt:lpstr>
      <vt:lpstr>The ArrayList Class contd..</vt:lpstr>
      <vt:lpstr>Examples</vt:lpstr>
      <vt:lpstr>Adding Elements</vt:lpstr>
      <vt:lpstr>Insertion Examples</vt:lpstr>
      <vt:lpstr>Access Methods</vt:lpstr>
      <vt:lpstr>Access Example</vt:lpstr>
      <vt:lpstr>Other Useful Methods</vt:lpstr>
      <vt:lpstr>The ArrayList Class</vt:lpstr>
      <vt:lpstr>Arrays Vs ArrayList</vt:lpstr>
      <vt:lpstr>Array Lists from/to Arrays</vt:lpstr>
      <vt:lpstr>max and min in an Array List</vt:lpstr>
      <vt:lpstr>Shuffling an Array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XINRUI YU</cp:lastModifiedBy>
  <cp:revision>1040</cp:revision>
  <dcterms:modified xsi:type="dcterms:W3CDTF">2025-12-10T00:09:51Z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0x0101008E2F7A1478630F4C84AA79FECBBE66E3</vt:lpwstr>
  </property>
</Properties>
</file>