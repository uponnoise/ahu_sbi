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345" r:id="rId3"/>
    <p:sldId id="407" r:id="rId4"/>
    <p:sldId id="378" r:id="rId5"/>
    <p:sldId id="379" r:id="rId6"/>
    <p:sldId id="382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8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06379-3746-41F6-9C80-B52DFC8A5C43}" v="6" dt="2025-12-01T09:06:01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0169" autoAdjust="0"/>
  </p:normalViewPr>
  <p:slideViewPr>
    <p:cSldViewPr snapToGrid="0">
      <p:cViewPr varScale="1">
        <p:scale>
          <a:sx n="135" d="100"/>
          <a:sy n="135" d="100"/>
        </p:scale>
        <p:origin x="2913" y="57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于 心瑞 Xinrui YU" userId="e6fcc6d4-2b88-4beb-95d7-57ae4d33a768" providerId="ADAL" clId="{F34F8855-C621-4438-806B-08A2E2CB3E3D}"/>
    <pc:docChg chg="modSld">
      <pc:chgData name="于 心瑞 Xinrui YU" userId="e6fcc6d4-2b88-4beb-95d7-57ae4d33a768" providerId="ADAL" clId="{F34F8855-C621-4438-806B-08A2E2CB3E3D}" dt="2025-12-02T11:55:59.932" v="376" actId="20577"/>
      <pc:docMkLst>
        <pc:docMk/>
      </pc:docMkLst>
      <pc:sldChg chg="modSp mod">
        <pc:chgData name="于 心瑞 Xinrui YU" userId="e6fcc6d4-2b88-4beb-95d7-57ae4d33a768" providerId="ADAL" clId="{F34F8855-C621-4438-806B-08A2E2CB3E3D}" dt="2025-12-01T05:58:59.792" v="1" actId="1076"/>
        <pc:sldMkLst>
          <pc:docMk/>
          <pc:sldMk cId="2163955817" sldId="397"/>
        </pc:sldMkLst>
        <pc:spChg chg="mod">
          <ac:chgData name="于 心瑞 Xinrui YU" userId="e6fcc6d4-2b88-4beb-95d7-57ae4d33a768" providerId="ADAL" clId="{F34F8855-C621-4438-806B-08A2E2CB3E3D}" dt="2025-12-01T05:58:56.077" v="0" actId="1076"/>
          <ac:spMkLst>
            <pc:docMk/>
            <pc:sldMk cId="2163955817" sldId="397"/>
            <ac:spMk id="5" creationId="{00000000-0000-0000-0000-000000000000}"/>
          </ac:spMkLst>
        </pc:spChg>
        <pc:spChg chg="mod">
          <ac:chgData name="于 心瑞 Xinrui YU" userId="e6fcc6d4-2b88-4beb-95d7-57ae4d33a768" providerId="ADAL" clId="{F34F8855-C621-4438-806B-08A2E2CB3E3D}" dt="2025-12-01T05:58:59.792" v="1" actId="1076"/>
          <ac:spMkLst>
            <pc:docMk/>
            <pc:sldMk cId="2163955817" sldId="397"/>
            <ac:spMk id="6" creationId="{00000000-0000-0000-0000-000000000000}"/>
          </ac:spMkLst>
        </pc:spChg>
      </pc:sldChg>
      <pc:sldChg chg="modSp mod">
        <pc:chgData name="于 心瑞 Xinrui YU" userId="e6fcc6d4-2b88-4beb-95d7-57ae4d33a768" providerId="ADAL" clId="{F34F8855-C621-4438-806B-08A2E2CB3E3D}" dt="2025-12-01T05:59:46.607" v="2" actId="948"/>
        <pc:sldMkLst>
          <pc:docMk/>
          <pc:sldMk cId="781255341" sldId="398"/>
        </pc:sldMkLst>
        <pc:spChg chg="mod">
          <ac:chgData name="于 心瑞 Xinrui YU" userId="e6fcc6d4-2b88-4beb-95d7-57ae4d33a768" providerId="ADAL" clId="{F34F8855-C621-4438-806B-08A2E2CB3E3D}" dt="2025-12-01T05:59:46.607" v="2" actId="948"/>
          <ac:spMkLst>
            <pc:docMk/>
            <pc:sldMk cId="781255341" sldId="398"/>
            <ac:spMk id="2" creationId="{00000000-0000-0000-0000-000000000000}"/>
          </ac:spMkLst>
        </pc:spChg>
      </pc:sldChg>
      <pc:sldChg chg="modSp modNotesTx">
        <pc:chgData name="于 心瑞 Xinrui YU" userId="e6fcc6d4-2b88-4beb-95d7-57ae4d33a768" providerId="ADAL" clId="{F34F8855-C621-4438-806B-08A2E2CB3E3D}" dt="2025-12-02T11:55:59.932" v="376" actId="20577"/>
        <pc:sldMkLst>
          <pc:docMk/>
          <pc:sldMk cId="1352327644" sldId="401"/>
        </pc:sldMkLst>
        <pc:spChg chg="mod">
          <ac:chgData name="于 心瑞 Xinrui YU" userId="e6fcc6d4-2b88-4beb-95d7-57ae4d33a768" providerId="ADAL" clId="{F34F8855-C621-4438-806B-08A2E2CB3E3D}" dt="2025-12-01T06:04:11.602" v="3"/>
          <ac:spMkLst>
            <pc:docMk/>
            <pc:sldMk cId="1352327644" sldId="401"/>
            <ac:spMk id="4" creationId="{00000000-0000-0000-0000-000000000000}"/>
          </ac:spMkLst>
        </pc:spChg>
      </pc:sldChg>
      <pc:sldChg chg="modSp modNotesTx">
        <pc:chgData name="于 心瑞 Xinrui YU" userId="e6fcc6d4-2b88-4beb-95d7-57ae4d33a768" providerId="ADAL" clId="{F34F8855-C621-4438-806B-08A2E2CB3E3D}" dt="2025-12-01T09:06:05.432" v="375" actId="20577"/>
        <pc:sldMkLst>
          <pc:docMk/>
          <pc:sldMk cId="4191743282" sldId="403"/>
        </pc:sldMkLst>
        <pc:spChg chg="mod">
          <ac:chgData name="于 心瑞 Xinrui YU" userId="e6fcc6d4-2b88-4beb-95d7-57ae4d33a768" providerId="ADAL" clId="{F34F8855-C621-4438-806B-08A2E2CB3E3D}" dt="2025-12-01T06:46:48.746" v="4" actId="20577"/>
          <ac:spMkLst>
            <pc:docMk/>
            <pc:sldMk cId="4191743282" sldId="403"/>
            <ac:spMk id="2" creationId="{00000000-0000-0000-0000-000000000000}"/>
          </ac:spMkLst>
        </pc:spChg>
      </pc:sldChg>
    </pc:docChg>
  </pc:docChgLst>
  <pc:docChgLst>
    <pc:chgData name="于 心瑞 Xinrui YU" userId="e6fcc6d4-2b88-4beb-95d7-57ae4d33a768" providerId="ADAL" clId="{CFFA9A75-F840-4F6F-AF7D-069F806E1180}"/>
    <pc:docChg chg="custSel addSld modSld modShowInfo">
      <pc:chgData name="于 心瑞 Xinrui YU" userId="e6fcc6d4-2b88-4beb-95d7-57ae4d33a768" providerId="ADAL" clId="{CFFA9A75-F840-4F6F-AF7D-069F806E1180}" dt="2025-12-02T07:20:01.332" v="186" actId="20577"/>
      <pc:docMkLst>
        <pc:docMk/>
      </pc:docMkLst>
      <pc:sldChg chg="modSp new mod">
        <pc:chgData name="于 心瑞 Xinrui YU" userId="e6fcc6d4-2b88-4beb-95d7-57ae4d33a768" providerId="ADAL" clId="{CFFA9A75-F840-4F6F-AF7D-069F806E1180}" dt="2025-12-02T07:20:01.332" v="186" actId="20577"/>
        <pc:sldMkLst>
          <pc:docMk/>
          <pc:sldMk cId="4008503705" sldId="408"/>
        </pc:sldMkLst>
        <pc:spChg chg="mod">
          <ac:chgData name="于 心瑞 Xinrui YU" userId="e6fcc6d4-2b88-4beb-95d7-57ae4d33a768" providerId="ADAL" clId="{CFFA9A75-F840-4F6F-AF7D-069F806E1180}" dt="2025-12-02T06:58:38.971" v="93" actId="20577"/>
          <ac:spMkLst>
            <pc:docMk/>
            <pc:sldMk cId="4008503705" sldId="408"/>
            <ac:spMk id="2" creationId="{85C6D655-EEE4-3A18-3BB4-3A3A27274ECC}"/>
          </ac:spMkLst>
        </pc:spChg>
        <pc:spChg chg="mod">
          <ac:chgData name="于 心瑞 Xinrui YU" userId="e6fcc6d4-2b88-4beb-95d7-57ae4d33a768" providerId="ADAL" clId="{CFFA9A75-F840-4F6F-AF7D-069F806E1180}" dt="2025-12-02T07:20:01.332" v="186" actId="20577"/>
          <ac:spMkLst>
            <pc:docMk/>
            <pc:sldMk cId="4008503705" sldId="408"/>
            <ac:spMk id="3" creationId="{0025AF69-8D33-7102-684F-FFACE26F57F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4747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e5cd7aa5a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e5cd7aa5a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473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290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example: ask employee to do self-introduction </a:t>
            </a:r>
          </a:p>
          <a:p>
            <a:r>
              <a:rPr lang="en-US" altLang="zh-CN" dirty="0"/>
              <a:t>Employees in different departments behave differently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7129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148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对象转换</a:t>
            </a:r>
            <a:r>
              <a:rPr lang="en-US" altLang="zh-CN" dirty="0"/>
              <a:t>/</a:t>
            </a:r>
            <a:r>
              <a:rPr lang="zh-CN" altLang="en-US" dirty="0"/>
              <a:t>转型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06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zh-CN" altLang="en-US" sz="1100" b="1" i="0" u="none" strike="noStrike" cap="none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类型检查运算符</a:t>
            </a:r>
            <a:endParaRPr lang="zh-CN" altLang="en-US" sz="1100" b="0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324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j2se/1.4/docs/api/java/lang/String.html" TargetMode="External"/><Relationship Id="rId2" Type="http://schemas.openxmlformats.org/officeDocument/2006/relationships/hyperlink" Target="http://java.sun.com/j2se/1.4/docs/api/java/lang/Object.html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766B-A39C-48AD-AF4E-3FB458C1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Inheritance and Polymorphism: Part2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</a:rPr>
              <a:t>Inheritance and Polymorphism: Part 2</a:t>
            </a:r>
            <a:endParaRPr sz="3200" b="1" dirty="0">
              <a:solidFill>
                <a:schemeClr val="dk1"/>
              </a:solidFill>
            </a:endParaRPr>
          </a:p>
        </p:txBody>
      </p:sp>
      <p:pic>
        <p:nvPicPr>
          <p:cNvPr id="3" name="그림 1" descr="Text, letter&#10;&#10;Description automatically generated">
            <a:extLst>
              <a:ext uri="{FF2B5EF4-FFF2-40B4-BE49-F238E27FC236}">
                <a16:creationId xmlns:a16="http://schemas.microsoft.com/office/drawing/2014/main" id="{BFECBE88-523B-BBA5-4836-D00F2535F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847" y="3702160"/>
            <a:ext cx="2948305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Inheritance: Overriding Methods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21982"/>
          </a:xfrm>
        </p:spPr>
        <p:txBody>
          <a:bodyPr/>
          <a:lstStyle/>
          <a:p>
            <a:r>
              <a:rPr lang="en-US" dirty="0"/>
              <a:t>A method is overridden if it is redefined in a derived class (child class) using the same method </a:t>
            </a:r>
            <a:r>
              <a:rPr lang="en-US" b="1" i="1" dirty="0">
                <a:solidFill>
                  <a:schemeClr val="tx1"/>
                </a:solidFill>
              </a:rPr>
              <a:t>Signature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14400" y="1974457"/>
            <a:ext cx="3599411" cy="247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Font typeface="Courier New"/>
            </a:pPr>
            <a:r>
              <a:rPr lang="en-US" sz="1600" b="1" dirty="0"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r>
              <a:rPr lang="en-US" sz="1600" dirty="0"/>
              <a:t> (parent class):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</a:pPr>
            <a:r>
              <a:rPr lang="en-US" sz="1600" b="1" dirty="0"/>
              <a:t>		</a:t>
            </a:r>
            <a:r>
              <a:rPr lang="en-US" sz="1600" b="1" dirty="0">
                <a:latin typeface="Courier New"/>
                <a:ea typeface="Courier New"/>
                <a:cs typeface="Courier New"/>
                <a:sym typeface="Courier New"/>
              </a:rPr>
              <a:t>public void reset()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/>
              <a:t>		{	age = 0; 		}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1600" dirty="0"/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1600" dirty="0"/>
          </a:p>
          <a:p>
            <a:pPr>
              <a:lnSpc>
                <a:spcPct val="90000"/>
              </a:lnSpc>
              <a:buFont typeface="Courier New"/>
            </a:pPr>
            <a:r>
              <a:rPr lang="en-US" sz="1600" b="1" dirty="0"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en-US" sz="1600" dirty="0"/>
              <a:t> (child class):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</a:pPr>
            <a:r>
              <a:rPr lang="en-US" sz="1600" b="1" dirty="0"/>
              <a:t>		</a:t>
            </a:r>
            <a:r>
              <a:rPr lang="en-US" sz="1600" b="1" dirty="0">
                <a:latin typeface="Courier New"/>
                <a:ea typeface="Courier New"/>
                <a:cs typeface="Courier New"/>
                <a:sym typeface="Courier New"/>
              </a:rPr>
              <a:t>public void reset()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/>
              <a:t>		{ 	</a:t>
            </a:r>
            <a:r>
              <a:rPr lang="en-US" sz="1600" dirty="0" err="1"/>
              <a:t>setAge</a:t>
            </a:r>
            <a:r>
              <a:rPr lang="en-US" sz="1600" dirty="0"/>
              <a:t>(0); 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/>
              <a:t>			</a:t>
            </a:r>
            <a:r>
              <a:rPr lang="en-US" sz="1600" dirty="0" err="1"/>
              <a:t>gpa</a:t>
            </a:r>
            <a:r>
              <a:rPr lang="en-US" sz="1600" dirty="0"/>
              <a:t> = 0.0; 	}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81415" y="2022108"/>
            <a:ext cx="3599411" cy="126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90000"/>
              </a:lnSpc>
              <a:defRPr sz="2100"/>
            </a:pPr>
            <a:r>
              <a:rPr lang="en-US" sz="1600" dirty="0"/>
              <a:t>OR, Calling an overridden method: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</a:pPr>
            <a:r>
              <a:rPr lang="en-US" sz="1600" b="1" dirty="0"/>
              <a:t>		</a:t>
            </a:r>
            <a:r>
              <a:rPr lang="en-US" sz="1600" b="1" dirty="0">
                <a:latin typeface="Courier New"/>
                <a:ea typeface="Courier New"/>
                <a:cs typeface="Courier New"/>
                <a:sym typeface="Courier New"/>
              </a:rPr>
              <a:t>public void reset()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/>
              <a:t>		{ 	</a:t>
            </a:r>
            <a:r>
              <a:rPr lang="en-US" sz="1600" dirty="0" err="1"/>
              <a:t>super.reset</a:t>
            </a:r>
            <a:r>
              <a:rPr lang="en-US" sz="1600" dirty="0"/>
              <a:t>();</a:t>
            </a:r>
          </a:p>
          <a:p>
            <a:pPr marL="257175" indent="-226694">
              <a:buSzTx/>
              <a:buNone/>
              <a:tabLst>
                <a:tab pos="285750" algn="l"/>
                <a:tab pos="714375" algn="l"/>
              </a:tabLst>
              <a:defRPr sz="26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/>
              <a:t>			</a:t>
            </a:r>
            <a:r>
              <a:rPr lang="en-US" sz="1600" dirty="0" err="1"/>
              <a:t>gpa</a:t>
            </a:r>
            <a:r>
              <a:rPr lang="en-US" sz="1600" dirty="0"/>
              <a:t> = 0.0; 	}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21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The </a:t>
            </a:r>
            <a:r>
              <a:rPr lang="en-US" b="1" dirty="0">
                <a:cs typeface="Times New Roman" pitchFamily="16" charset="0"/>
                <a:sym typeface="Courier New"/>
              </a:rPr>
              <a:t>Object</a:t>
            </a:r>
            <a:r>
              <a:rPr lang="en-US" b="1" dirty="0">
                <a:cs typeface="Times New Roman" pitchFamily="16" charset="0"/>
              </a:rPr>
              <a:t> class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241581" cy="38322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Every class is a subclass of the </a:t>
            </a:r>
            <a:r>
              <a:rPr lang="en-US" b="1" dirty="0" err="1">
                <a:latin typeface="Courier New"/>
                <a:ea typeface="Courier New"/>
                <a:cs typeface="Courier New"/>
                <a:sym typeface="Courier New"/>
              </a:rPr>
              <a:t>java.lang.Object</a:t>
            </a:r>
            <a:r>
              <a:rPr lang="en-US" b="1" dirty="0"/>
              <a:t> </a:t>
            </a:r>
            <a:r>
              <a:rPr lang="en-US" dirty="0"/>
              <a:t>class, even if not specified directly.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endParaRPr lang="en-US" dirty="0"/>
          </a:p>
          <a:p>
            <a:pPr>
              <a:lnSpc>
                <a:spcPct val="125000"/>
              </a:lnSpc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Times New Roman"/>
              </a:defRPr>
            </a:pPr>
            <a:r>
              <a:rPr lang="en-US" sz="1900" dirty="0">
                <a:sym typeface="Times New Roman"/>
              </a:rPr>
              <a:t>The 3 methods above are overridden nearly every time a new class is defined.</a:t>
            </a:r>
          </a:p>
          <a:p>
            <a:pPr>
              <a:lnSpc>
                <a:spcPct val="125000"/>
              </a:lnSpc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Times New Roman"/>
              </a:defRPr>
            </a:pPr>
            <a:r>
              <a:rPr lang="en-US" sz="1900" dirty="0">
                <a:sym typeface="Times New Roman"/>
              </a:rPr>
              <a:t>The </a:t>
            </a:r>
            <a:r>
              <a:rPr lang="en-US" sz="1900" dirty="0">
                <a:sym typeface="Courier New"/>
              </a:rPr>
              <a:t>Object</a:t>
            </a:r>
            <a:r>
              <a:rPr lang="en-US" sz="1900" dirty="0">
                <a:sym typeface="Times New Roman"/>
              </a:rPr>
              <a:t> class also contains 8 other methods we won’t use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0" name="Group" descr="method summary&#10;protected Object: clone() Creates and returns a copy of this object&#10;boolean: equals(Object obj) indicates whether some other object is &quot;equal to&quot; this one&#10;String: toString() returns a string representation of the object"/>
          <p:cNvGrpSpPr/>
          <p:nvPr/>
        </p:nvGrpSpPr>
        <p:grpSpPr>
          <a:xfrm>
            <a:off x="657479" y="1786746"/>
            <a:ext cx="6867526" cy="2108600"/>
            <a:chOff x="0" y="0"/>
            <a:chExt cx="9156700" cy="2811463"/>
          </a:xfrm>
        </p:grpSpPr>
        <p:grpSp>
          <p:nvGrpSpPr>
            <p:cNvPr id="11" name="Group"/>
            <p:cNvGrpSpPr/>
            <p:nvPr/>
          </p:nvGrpSpPr>
          <p:grpSpPr>
            <a:xfrm>
              <a:off x="9525" y="4762"/>
              <a:ext cx="9145589" cy="2044703"/>
              <a:chOff x="0" y="0"/>
              <a:chExt cx="9145588" cy="2044703"/>
            </a:xfrm>
          </p:grpSpPr>
          <p:grpSp>
            <p:nvGrpSpPr>
              <p:cNvPr id="24" name="Group"/>
              <p:cNvGrpSpPr/>
              <p:nvPr/>
            </p:nvGrpSpPr>
            <p:grpSpPr>
              <a:xfrm>
                <a:off x="0" y="0"/>
                <a:ext cx="9144000" cy="576434"/>
                <a:chOff x="0" y="0"/>
                <a:chExt cx="9144000" cy="576433"/>
              </a:xfrm>
            </p:grpSpPr>
            <p:grpSp>
              <p:nvGrpSpPr>
                <p:cNvPr id="45" name="Group"/>
                <p:cNvGrpSpPr/>
                <p:nvPr/>
              </p:nvGrpSpPr>
              <p:grpSpPr>
                <a:xfrm>
                  <a:off x="0" y="0"/>
                  <a:ext cx="9144000" cy="576433"/>
                  <a:chOff x="0" y="0"/>
                  <a:chExt cx="9144000" cy="576432"/>
                </a:xfrm>
              </p:grpSpPr>
              <p:sp>
                <p:nvSpPr>
                  <p:cNvPr id="47" name="Rectangle"/>
                  <p:cNvSpPr/>
                  <p:nvPr/>
                </p:nvSpPr>
                <p:spPr>
                  <a:xfrm>
                    <a:off x="0" y="0"/>
                    <a:ext cx="9142413" cy="576432"/>
                  </a:xfrm>
                  <a:prstGeom prst="rect">
                    <a:avLst/>
                  </a:prstGeom>
                  <a:solidFill>
                    <a:srgbClr val="D6D7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38100" tIns="38100" rIns="38100" bIns="38100" numCol="1" anchor="t">
                    <a:no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endParaRPr sz="1800" kern="1200">
                      <a:uFill>
                        <a:solidFill>
                          <a:srgbClr val="000000"/>
                        </a:solidFill>
                      </a:uFill>
                      <a:latin typeface="Calibri" panose="020F0502020204030204"/>
                      <a:ea typeface="+mn-ea"/>
                      <a:cs typeface="+mn-cs"/>
                      <a:sym typeface="Times New Roman"/>
                    </a:endParaRPr>
                  </a:p>
                </p:txBody>
              </p:sp>
              <p:sp>
                <p:nvSpPr>
                  <p:cNvPr id="48" name="Method Summary"/>
                  <p:cNvSpPr/>
                  <p:nvPr/>
                </p:nvSpPr>
                <p:spPr>
                  <a:xfrm>
                    <a:off x="0" y="52253"/>
                    <a:ext cx="9144000" cy="47192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38100" tIns="38100" rIns="38100" bIns="38100" numCol="1" anchor="ctr">
                    <a:spAutoFit/>
                  </a:bodyPr>
                  <a:lstStyle>
                    <a:lvl1pPr marL="40639" marR="40639" algn="l" defTabSz="914400">
                      <a:defRPr sz="2400" b="1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lvl1pPr>
                  </a:lstStyle>
                  <a:p>
                    <a:pPr>
                      <a:buClrTx/>
                      <a:buFontTx/>
                      <a:buNone/>
                    </a:pPr>
                    <a:r>
                      <a:rPr sz="1800" kern="1200"/>
                      <a:t>Method Summary</a:t>
                    </a:r>
                  </a:p>
                </p:txBody>
              </p:sp>
            </p:grpSp>
            <p:sp>
              <p:nvSpPr>
                <p:cNvPr id="46" name="Rectangle"/>
                <p:cNvSpPr/>
                <p:nvPr/>
              </p:nvSpPr>
              <p:spPr>
                <a:xfrm>
                  <a:off x="0" y="0"/>
                  <a:ext cx="9142413" cy="576432"/>
                </a:xfrm>
                <a:prstGeom prst="rect">
                  <a:avLst/>
                </a:prstGeom>
                <a:noFill/>
                <a:ln w="12700" cap="flat">
                  <a:solidFill>
                    <a:srgbClr val="B0B0B0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</p:grpSp>
          <p:grpSp>
            <p:nvGrpSpPr>
              <p:cNvPr id="25" name="Group"/>
              <p:cNvGrpSpPr/>
              <p:nvPr/>
            </p:nvGrpSpPr>
            <p:grpSpPr>
              <a:xfrm>
                <a:off x="0" y="576431"/>
                <a:ext cx="2008190" cy="734137"/>
                <a:chOff x="0" y="0"/>
                <a:chExt cx="2008189" cy="734136"/>
              </a:xfrm>
            </p:grpSpPr>
            <p:grpSp>
              <p:nvGrpSpPr>
                <p:cNvPr id="41" name="Group"/>
                <p:cNvGrpSpPr/>
                <p:nvPr/>
              </p:nvGrpSpPr>
              <p:grpSpPr>
                <a:xfrm>
                  <a:off x="0" y="0"/>
                  <a:ext cx="2008189" cy="734136"/>
                  <a:chOff x="0" y="0"/>
                  <a:chExt cx="2008188" cy="734135"/>
                </a:xfrm>
              </p:grpSpPr>
              <p:sp>
                <p:nvSpPr>
                  <p:cNvPr id="43" name="Rectangle"/>
                  <p:cNvSpPr/>
                  <p:nvPr/>
                </p:nvSpPr>
                <p:spPr>
                  <a:xfrm>
                    <a:off x="0" y="0"/>
                    <a:ext cx="2008188" cy="734135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38100" tIns="38100" rIns="38100" bIns="38100" numCol="1" anchor="t">
                    <a:no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endParaRPr sz="1800" kern="1200">
                      <a:uFill>
                        <a:solidFill>
                          <a:srgbClr val="000000"/>
                        </a:solidFill>
                      </a:uFill>
                      <a:latin typeface="Calibri" panose="020F0502020204030204"/>
                      <a:ea typeface="+mn-ea"/>
                      <a:cs typeface="+mn-cs"/>
                      <a:sym typeface="Times New Roman"/>
                    </a:endParaRPr>
                  </a:p>
                </p:txBody>
              </p:sp>
              <p:sp>
                <p:nvSpPr>
                  <p:cNvPr id="44" name="protected  Object"/>
                  <p:cNvSpPr/>
                  <p:nvPr/>
                </p:nvSpPr>
                <p:spPr>
                  <a:xfrm>
                    <a:off x="1587" y="0"/>
                    <a:ext cx="2006601" cy="7181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38100" tIns="38100" rIns="38100" bIns="38100" numCol="1" anchor="t">
                    <a:spAutoFit/>
                  </a:bodyPr>
                  <a:lstStyle/>
                  <a:p>
                    <a:pPr marL="30479" marR="30479" algn="r">
                      <a:buClrTx/>
                      <a:defRPr sz="2000" b="1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defRPr>
                    </a:pP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protected  </a:t>
                    </a: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  <a:hlinkClick r:id="rId2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Object</a:t>
                    </a:r>
                  </a:p>
                </p:txBody>
              </p:sp>
            </p:grpSp>
            <p:sp>
              <p:nvSpPr>
                <p:cNvPr id="42" name="Rectangle"/>
                <p:cNvSpPr/>
                <p:nvPr/>
              </p:nvSpPr>
              <p:spPr>
                <a:xfrm>
                  <a:off x="0" y="0"/>
                  <a:ext cx="2008188" cy="734135"/>
                </a:xfrm>
                <a:prstGeom prst="rect">
                  <a:avLst/>
                </a:prstGeom>
                <a:noFill/>
                <a:ln w="12700" cap="flat">
                  <a:solidFill>
                    <a:srgbClr val="B0B0B0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</p:grpSp>
          <p:grpSp>
            <p:nvGrpSpPr>
              <p:cNvPr id="26" name="Group"/>
              <p:cNvGrpSpPr/>
              <p:nvPr/>
            </p:nvGrpSpPr>
            <p:grpSpPr>
              <a:xfrm>
                <a:off x="2008187" y="576431"/>
                <a:ext cx="7137401" cy="734137"/>
                <a:chOff x="0" y="0"/>
                <a:chExt cx="7137400" cy="734136"/>
              </a:xfrm>
            </p:grpSpPr>
            <p:grpSp>
              <p:nvGrpSpPr>
                <p:cNvPr id="37" name="Group"/>
                <p:cNvGrpSpPr/>
                <p:nvPr/>
              </p:nvGrpSpPr>
              <p:grpSpPr>
                <a:xfrm>
                  <a:off x="0" y="0"/>
                  <a:ext cx="7137400" cy="734136"/>
                  <a:chOff x="0" y="0"/>
                  <a:chExt cx="7137400" cy="734135"/>
                </a:xfrm>
              </p:grpSpPr>
              <p:sp>
                <p:nvSpPr>
                  <p:cNvPr id="39" name="Rectangle"/>
                  <p:cNvSpPr/>
                  <p:nvPr/>
                </p:nvSpPr>
                <p:spPr>
                  <a:xfrm>
                    <a:off x="0" y="0"/>
                    <a:ext cx="7134225" cy="734135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38100" tIns="38100" rIns="38100" bIns="38100" numCol="1" anchor="t">
                    <a:no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endParaRPr sz="1800" kern="1200">
                      <a:uFill>
                        <a:solidFill>
                          <a:srgbClr val="000000"/>
                        </a:solidFill>
                      </a:uFill>
                      <a:latin typeface="Calibri" panose="020F0502020204030204"/>
                      <a:ea typeface="+mn-ea"/>
                      <a:cs typeface="+mn-cs"/>
                      <a:sym typeface="Times New Roman"/>
                    </a:endParaRPr>
                  </a:p>
                </p:txBody>
              </p:sp>
              <p:sp>
                <p:nvSpPr>
                  <p:cNvPr id="40" name="clone()            Creates and returns a copy of this object."/>
                  <p:cNvSpPr/>
                  <p:nvPr/>
                </p:nvSpPr>
                <p:spPr>
                  <a:xfrm>
                    <a:off x="0" y="7997"/>
                    <a:ext cx="7137400" cy="71814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38100" tIns="38100" rIns="38100" bIns="38100" numCol="1" anchor="ctr">
                    <a:sp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r>
                      <a:rPr sz="1500" b="1" kern="120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  <a:hlinkClick r:id="rId2"/>
                      </a:rPr>
                      <a:t>clone</a:t>
                    </a:r>
                    <a:r>
                      <a:rPr sz="1500" b="1" kern="120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()</a:t>
                    </a:r>
                    <a:r>
                      <a:rPr sz="1500" kern="120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 </a:t>
                    </a:r>
                    <a:br>
                      <a:rPr sz="1500" kern="120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</a:br>
                    <a:r>
                      <a:rPr sz="1500" kern="1200">
                        <a:uFill>
                          <a:solidFill>
                            <a:srgbClr val="000000"/>
                          </a:solidFill>
                        </a:uFill>
                        <a:latin typeface="Calibri" panose="020F0502020204030204"/>
                        <a:ea typeface="+mn-ea"/>
                        <a:cs typeface="+mn-cs"/>
                        <a:sym typeface="Times New Roman"/>
                      </a:rPr>
                      <a:t>          Creates and returns a copy of this object.</a:t>
                    </a:r>
                  </a:p>
                </p:txBody>
              </p:sp>
            </p:grpSp>
            <p:sp>
              <p:nvSpPr>
                <p:cNvPr id="38" name="Rectangle"/>
                <p:cNvSpPr/>
                <p:nvPr/>
              </p:nvSpPr>
              <p:spPr>
                <a:xfrm>
                  <a:off x="0" y="0"/>
                  <a:ext cx="7134225" cy="734135"/>
                </a:xfrm>
                <a:prstGeom prst="rect">
                  <a:avLst/>
                </a:prstGeom>
                <a:noFill/>
                <a:ln w="12700" cap="flat">
                  <a:solidFill>
                    <a:srgbClr val="B0B0B0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</p:grpSp>
          <p:grpSp>
            <p:nvGrpSpPr>
              <p:cNvPr id="27" name="Group"/>
              <p:cNvGrpSpPr/>
              <p:nvPr/>
            </p:nvGrpSpPr>
            <p:grpSpPr>
              <a:xfrm>
                <a:off x="0" y="1310565"/>
                <a:ext cx="2008190" cy="734138"/>
                <a:chOff x="0" y="0"/>
                <a:chExt cx="2008189" cy="734136"/>
              </a:xfrm>
            </p:grpSpPr>
            <p:grpSp>
              <p:nvGrpSpPr>
                <p:cNvPr id="33" name="Group"/>
                <p:cNvGrpSpPr/>
                <p:nvPr/>
              </p:nvGrpSpPr>
              <p:grpSpPr>
                <a:xfrm>
                  <a:off x="0" y="0"/>
                  <a:ext cx="2008189" cy="734136"/>
                  <a:chOff x="0" y="0"/>
                  <a:chExt cx="2008188" cy="734135"/>
                </a:xfrm>
              </p:grpSpPr>
              <p:sp>
                <p:nvSpPr>
                  <p:cNvPr id="35" name="Rectangle"/>
                  <p:cNvSpPr/>
                  <p:nvPr/>
                </p:nvSpPr>
                <p:spPr>
                  <a:xfrm>
                    <a:off x="0" y="0"/>
                    <a:ext cx="2008188" cy="734135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38100" tIns="38100" rIns="38100" bIns="38100" numCol="1" anchor="t">
                    <a:no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endParaRPr sz="1800" kern="1200">
                      <a:uFill>
                        <a:solidFill>
                          <a:srgbClr val="000000"/>
                        </a:solidFill>
                      </a:uFill>
                      <a:latin typeface="Calibri" panose="020F0502020204030204"/>
                      <a:ea typeface="+mn-ea"/>
                      <a:cs typeface="+mn-cs"/>
                      <a:sym typeface="Times New Roman"/>
                    </a:endParaRPr>
                  </a:p>
                </p:txBody>
              </p:sp>
              <p:sp>
                <p:nvSpPr>
                  <p:cNvPr id="36" name="boolean"/>
                  <p:cNvSpPr/>
                  <p:nvPr/>
                </p:nvSpPr>
                <p:spPr>
                  <a:xfrm>
                    <a:off x="1587" y="0"/>
                    <a:ext cx="2006601" cy="41036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38100" tIns="38100" rIns="38100" bIns="38100" numCol="1" anchor="t">
                    <a:spAutoFit/>
                  </a:bodyPr>
                  <a:lstStyle/>
                  <a:p>
                    <a:pPr marL="30479" marR="30479" algn="r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r>
                      <a:rPr sz="1500" kern="1200">
                        <a:uFill>
                          <a:solidFill>
                            <a:srgbClr val="000000"/>
                          </a:solidFill>
                        </a:uFill>
                        <a:latin typeface="Arial Unicode MS"/>
                        <a:ea typeface="Arial Unicode MS"/>
                        <a:cs typeface="Arial Unicode MS"/>
                        <a:sym typeface="Arial Unicode MS"/>
                      </a:rPr>
                      <a:t> </a:t>
                    </a:r>
                    <a:r>
                      <a:rPr sz="1500" b="1" kern="120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boolean</a:t>
                    </a:r>
                  </a:p>
                </p:txBody>
              </p:sp>
            </p:grpSp>
            <p:sp>
              <p:nvSpPr>
                <p:cNvPr id="34" name="Rectangle"/>
                <p:cNvSpPr/>
                <p:nvPr/>
              </p:nvSpPr>
              <p:spPr>
                <a:xfrm>
                  <a:off x="0" y="0"/>
                  <a:ext cx="2008188" cy="734135"/>
                </a:xfrm>
                <a:prstGeom prst="rect">
                  <a:avLst/>
                </a:prstGeom>
                <a:noFill/>
                <a:ln w="12700" cap="flat">
                  <a:solidFill>
                    <a:srgbClr val="B0B0B0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</p:grpSp>
          <p:grpSp>
            <p:nvGrpSpPr>
              <p:cNvPr id="28" name="Group"/>
              <p:cNvGrpSpPr/>
              <p:nvPr/>
            </p:nvGrpSpPr>
            <p:grpSpPr>
              <a:xfrm>
                <a:off x="2008187" y="1310565"/>
                <a:ext cx="7137401" cy="734138"/>
                <a:chOff x="0" y="0"/>
                <a:chExt cx="7137400" cy="734136"/>
              </a:xfrm>
            </p:grpSpPr>
            <p:grpSp>
              <p:nvGrpSpPr>
                <p:cNvPr id="29" name="Group"/>
                <p:cNvGrpSpPr/>
                <p:nvPr/>
              </p:nvGrpSpPr>
              <p:grpSpPr>
                <a:xfrm>
                  <a:off x="0" y="0"/>
                  <a:ext cx="7137400" cy="734136"/>
                  <a:chOff x="0" y="0"/>
                  <a:chExt cx="7137400" cy="734135"/>
                </a:xfrm>
              </p:grpSpPr>
              <p:sp>
                <p:nvSpPr>
                  <p:cNvPr id="31" name="Rectangle"/>
                  <p:cNvSpPr/>
                  <p:nvPr/>
                </p:nvSpPr>
                <p:spPr>
                  <a:xfrm>
                    <a:off x="0" y="0"/>
                    <a:ext cx="7134225" cy="734135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38100" tIns="38100" rIns="38100" bIns="38100" numCol="1" anchor="t">
                    <a:no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endParaRPr sz="1800" kern="1200">
                      <a:uFill>
                        <a:solidFill>
                          <a:srgbClr val="000000"/>
                        </a:solidFill>
                      </a:uFill>
                      <a:latin typeface="Calibri" panose="020F0502020204030204"/>
                      <a:ea typeface="+mn-ea"/>
                      <a:cs typeface="+mn-cs"/>
                      <a:sym typeface="Times New Roman"/>
                    </a:endParaRPr>
                  </a:p>
                </p:txBody>
              </p:sp>
              <p:sp>
                <p:nvSpPr>
                  <p:cNvPr id="32" name="equals(Object obj)            Indicates whether some other object is &quot;equal to&quot; this one."/>
                  <p:cNvSpPr/>
                  <p:nvPr/>
                </p:nvSpPr>
                <p:spPr>
                  <a:xfrm>
                    <a:off x="0" y="7997"/>
                    <a:ext cx="7137400" cy="71814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="" val="1"/>
                    </a:ext>
                  </a:extLst>
                </p:spPr>
                <p:txBody>
                  <a:bodyPr wrap="square" lIns="38100" tIns="38100" rIns="38100" bIns="38100" numCol="1" anchor="ctr">
                    <a:spAutoFit/>
                  </a:bodyPr>
                  <a:lstStyle/>
                  <a:p>
                    <a:pPr marL="30479" marR="30479">
                      <a:buClrTx/>
                      <a:defRPr sz="24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+mn-lt"/>
                        <a:ea typeface="+mn-ea"/>
                        <a:cs typeface="+mn-cs"/>
                        <a:sym typeface="Times New Roman"/>
                      </a:defRPr>
                    </a:pP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  <a:hlinkClick r:id="rId2"/>
                      </a:rPr>
                      <a:t>equals</a:t>
                    </a: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(</a:t>
                    </a: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  <a:hlinkClick r:id="rId2"/>
                      </a:rPr>
                      <a:t>Object</a:t>
                    </a: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 </a:t>
                    </a:r>
                    <a:r>
                      <a:rPr sz="1500" b="1" kern="1200" dirty="0" err="1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obj</a:t>
                    </a:r>
                    <a: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) </a:t>
                    </a:r>
                    <a:br>
                      <a:rPr sz="1500" b="1" kern="1200" dirty="0">
                        <a:uFill>
                          <a:solidFill>
                            <a:srgbClr val="000000"/>
                          </a:solidFill>
                        </a:uFill>
                        <a:latin typeface="Courier New"/>
                        <a:ea typeface="Courier New"/>
                        <a:cs typeface="Courier New"/>
                        <a:sym typeface="Courier New"/>
                      </a:rPr>
                    </a:br>
                    <a:r>
                      <a:rPr sz="1500" kern="1200" dirty="0">
                        <a:uFill>
                          <a:solidFill>
                            <a:srgbClr val="000000"/>
                          </a:solidFill>
                        </a:uFill>
                        <a:latin typeface="Calibri" panose="020F0502020204030204"/>
                        <a:ea typeface="+mn-ea"/>
                        <a:cs typeface="+mn-cs"/>
                        <a:sym typeface="Times New Roman"/>
                      </a:rPr>
                      <a:t>          Indicates whether some other object is "equal to" this one.</a:t>
                    </a:r>
                  </a:p>
                </p:txBody>
              </p:sp>
            </p:grpSp>
            <p:sp>
              <p:nvSpPr>
                <p:cNvPr id="30" name="Rectangle"/>
                <p:cNvSpPr/>
                <p:nvPr/>
              </p:nvSpPr>
              <p:spPr>
                <a:xfrm>
                  <a:off x="0" y="0"/>
                  <a:ext cx="7134225" cy="734135"/>
                </a:xfrm>
                <a:prstGeom prst="rect">
                  <a:avLst/>
                </a:prstGeom>
                <a:noFill/>
                <a:ln w="12700" cap="flat">
                  <a:solidFill>
                    <a:srgbClr val="B0B0B0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</p:grpSp>
        </p:grpSp>
        <p:sp>
          <p:nvSpPr>
            <p:cNvPr id="12" name="Rectangle"/>
            <p:cNvSpPr/>
            <p:nvPr/>
          </p:nvSpPr>
          <p:spPr>
            <a:xfrm>
              <a:off x="4762" y="0"/>
              <a:ext cx="9151938" cy="2049463"/>
            </a:xfrm>
            <a:prstGeom prst="rect">
              <a:avLst/>
            </a:prstGeom>
            <a:noFill/>
            <a:ln w="12700" cap="flat">
              <a:solidFill>
                <a:srgbClr val="B0B0B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grpSp>
          <p:nvGrpSpPr>
            <p:cNvPr id="13" name="Group"/>
            <p:cNvGrpSpPr/>
            <p:nvPr/>
          </p:nvGrpSpPr>
          <p:grpSpPr>
            <a:xfrm>
              <a:off x="7937" y="2057400"/>
              <a:ext cx="2057401" cy="746125"/>
              <a:chOff x="0" y="0"/>
              <a:chExt cx="2057400" cy="746125"/>
            </a:xfrm>
          </p:grpSpPr>
          <p:grpSp>
            <p:nvGrpSpPr>
              <p:cNvPr id="20" name="Group"/>
              <p:cNvGrpSpPr/>
              <p:nvPr/>
            </p:nvGrpSpPr>
            <p:grpSpPr>
              <a:xfrm>
                <a:off x="0" y="0"/>
                <a:ext cx="2057400" cy="746125"/>
                <a:chOff x="0" y="0"/>
                <a:chExt cx="2057400" cy="746125"/>
              </a:xfrm>
            </p:grpSpPr>
            <p:sp>
              <p:nvSpPr>
                <p:cNvPr id="22" name="Rectangle"/>
                <p:cNvSpPr/>
                <p:nvPr/>
              </p:nvSpPr>
              <p:spPr>
                <a:xfrm>
                  <a:off x="0" y="0"/>
                  <a:ext cx="2057400" cy="746125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  <p:sp>
              <p:nvSpPr>
                <p:cNvPr id="23" name="String"/>
                <p:cNvSpPr/>
                <p:nvPr/>
              </p:nvSpPr>
              <p:spPr>
                <a:xfrm>
                  <a:off x="0" y="0"/>
                  <a:ext cx="2057400" cy="4103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38100" tIns="38100" rIns="38100" bIns="38100" numCol="1" anchor="t">
                  <a:spAutoFit/>
                </a:bodyPr>
                <a:lstStyle/>
                <a:p>
                  <a:pPr marL="30479" marR="30479" algn="r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r>
                    <a:rPr sz="1500" kern="1200">
                      <a:uFill>
                        <a:solidFill>
                          <a:srgbClr val="000000"/>
                        </a:solidFill>
                      </a:uFill>
                      <a:latin typeface="Arial Unicode MS"/>
                      <a:ea typeface="Arial Unicode MS"/>
                      <a:cs typeface="Arial Unicode MS"/>
                      <a:sym typeface="Arial Unicode MS"/>
                    </a:rPr>
                    <a:t> </a:t>
                  </a:r>
                  <a:r>
                    <a:rPr sz="1500" b="1" kern="1200"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  <a:hlinkClick r:id="rId3"/>
                    </a:rPr>
                    <a:t>String</a:t>
                  </a:r>
                </a:p>
              </p:txBody>
            </p:sp>
          </p:grpSp>
          <p:sp>
            <p:nvSpPr>
              <p:cNvPr id="21" name="Rectangle"/>
              <p:cNvSpPr/>
              <p:nvPr/>
            </p:nvSpPr>
            <p:spPr>
              <a:xfrm>
                <a:off x="0" y="0"/>
                <a:ext cx="2057400" cy="746125"/>
              </a:xfrm>
              <a:prstGeom prst="rect">
                <a:avLst/>
              </a:prstGeom>
              <a:noFill/>
              <a:ln w="12700" cap="flat">
                <a:solidFill>
                  <a:srgbClr val="B0B0B0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t">
                <a:noAutofit/>
              </a:bodyPr>
              <a:lstStyle/>
              <a:p>
                <a:pPr marL="30479" marR="30479">
                  <a:buClrTx/>
                  <a:defRPr sz="2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+mn-lt"/>
                    <a:ea typeface="+mn-ea"/>
                    <a:cs typeface="+mn-cs"/>
                    <a:sym typeface="Times New Roman"/>
                  </a:defRPr>
                </a:pPr>
                <a:endParaRPr sz="1800" kern="1200">
                  <a:uFill>
                    <a:solidFill>
                      <a:srgbClr val="000000"/>
                    </a:solidFill>
                  </a:uFill>
                  <a:latin typeface="Calibri" panose="020F0502020204030204"/>
                  <a:ea typeface="+mn-ea"/>
                  <a:cs typeface="+mn-cs"/>
                  <a:sym typeface="Times New Roman"/>
                </a:endParaRPr>
              </a:p>
            </p:txBody>
          </p:sp>
        </p:grpSp>
        <p:grpSp>
          <p:nvGrpSpPr>
            <p:cNvPr id="14" name="Group"/>
            <p:cNvGrpSpPr/>
            <p:nvPr/>
          </p:nvGrpSpPr>
          <p:grpSpPr>
            <a:xfrm>
              <a:off x="2065337" y="2057400"/>
              <a:ext cx="7086601" cy="746125"/>
              <a:chOff x="0" y="0"/>
              <a:chExt cx="7086600" cy="746125"/>
            </a:xfrm>
          </p:grpSpPr>
          <p:grpSp>
            <p:nvGrpSpPr>
              <p:cNvPr id="16" name="Group"/>
              <p:cNvGrpSpPr/>
              <p:nvPr/>
            </p:nvGrpSpPr>
            <p:grpSpPr>
              <a:xfrm>
                <a:off x="0" y="0"/>
                <a:ext cx="7086600" cy="746125"/>
                <a:chOff x="0" y="0"/>
                <a:chExt cx="7086600" cy="746125"/>
              </a:xfrm>
            </p:grpSpPr>
            <p:sp>
              <p:nvSpPr>
                <p:cNvPr id="18" name="Rectangle"/>
                <p:cNvSpPr/>
                <p:nvPr/>
              </p:nvSpPr>
              <p:spPr>
                <a:xfrm>
                  <a:off x="0" y="0"/>
                  <a:ext cx="7081838" cy="746125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80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  <p:sp>
              <p:nvSpPr>
                <p:cNvPr id="19" name="toString()            Returns a string representation of the object."/>
                <p:cNvSpPr/>
                <p:nvPr/>
              </p:nvSpPr>
              <p:spPr>
                <a:xfrm>
                  <a:off x="0" y="13991"/>
                  <a:ext cx="7086600" cy="71814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/>
                <a:p>
                  <a:pPr marL="30479" marR="30479">
                    <a:buClrTx/>
                    <a:defRPr sz="24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r>
                    <a:rPr sz="1500" b="1" kern="1200" dirty="0" err="1"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  <a:hlinkClick r:id="rId2"/>
                    </a:rPr>
                    <a:t>toString</a:t>
                  </a:r>
                  <a:r>
                    <a:rPr sz="1500" b="1" kern="1200" dirty="0"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rPr>
                    <a:t>() </a:t>
                  </a:r>
                  <a:br>
                    <a:rPr sz="1500" b="1" kern="1200" dirty="0"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rPr>
                  </a:br>
                  <a:r>
                    <a:rPr sz="1500" kern="1200" dirty="0">
                      <a:uFill>
                        <a:solidFill>
                          <a:srgbClr val="000000"/>
                        </a:solidFill>
                      </a:uFill>
                      <a:latin typeface="Calibri" panose="020F0502020204030204"/>
                      <a:ea typeface="+mn-ea"/>
                      <a:cs typeface="+mn-cs"/>
                      <a:sym typeface="Times New Roman"/>
                    </a:rPr>
                    <a:t>          Returns a string representation of the object.</a:t>
                  </a:r>
                </a:p>
              </p:txBody>
            </p:sp>
          </p:grpSp>
          <p:sp>
            <p:nvSpPr>
              <p:cNvPr id="17" name="Rectangle"/>
              <p:cNvSpPr/>
              <p:nvPr/>
            </p:nvSpPr>
            <p:spPr>
              <a:xfrm>
                <a:off x="0" y="0"/>
                <a:ext cx="7081838" cy="746125"/>
              </a:xfrm>
              <a:prstGeom prst="rect">
                <a:avLst/>
              </a:prstGeom>
              <a:noFill/>
              <a:ln w="12700" cap="flat">
                <a:solidFill>
                  <a:srgbClr val="B0B0B0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t">
                <a:noAutofit/>
              </a:bodyPr>
              <a:lstStyle/>
              <a:p>
                <a:pPr marL="30479" marR="30479">
                  <a:buClrTx/>
                  <a:defRPr sz="24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+mn-lt"/>
                    <a:ea typeface="+mn-ea"/>
                    <a:cs typeface="+mn-cs"/>
                    <a:sym typeface="Times New Roman"/>
                  </a:defRPr>
                </a:pPr>
                <a:endParaRPr sz="1800" kern="1200">
                  <a:uFill>
                    <a:solidFill>
                      <a:srgbClr val="000000"/>
                    </a:solidFill>
                  </a:uFill>
                  <a:latin typeface="Calibri" panose="020F0502020204030204"/>
                  <a:ea typeface="+mn-ea"/>
                  <a:cs typeface="+mn-cs"/>
                  <a:sym typeface="Times New Roman"/>
                </a:endParaRPr>
              </a:p>
            </p:txBody>
          </p:sp>
        </p:grpSp>
        <p:sp>
          <p:nvSpPr>
            <p:cNvPr id="15" name="Rectangle"/>
            <p:cNvSpPr/>
            <p:nvPr/>
          </p:nvSpPr>
          <p:spPr>
            <a:xfrm>
              <a:off x="0" y="2049462"/>
              <a:ext cx="9151938" cy="762001"/>
            </a:xfrm>
            <a:prstGeom prst="rect">
              <a:avLst/>
            </a:prstGeom>
            <a:noFill/>
            <a:ln w="12700" cap="flat">
              <a:solidFill>
                <a:srgbClr val="B0B0B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642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Overriding</a:t>
            </a:r>
            <a:r>
              <a:rPr lang="en-US" b="1" dirty="0">
                <a:cs typeface="Times New Roman" pitchFamily="16" charset="0"/>
                <a:sym typeface="Courier New"/>
              </a:rPr>
              <a:t> </a:t>
            </a:r>
            <a:r>
              <a:rPr lang="en-US" b="1" dirty="0" err="1">
                <a:cs typeface="Times New Roman" pitchFamily="16" charset="0"/>
                <a:sym typeface="Courier New"/>
              </a:rPr>
              <a:t>toString</a:t>
            </a:r>
            <a:r>
              <a:rPr lang="en-US" b="1" dirty="0">
                <a:cs typeface="Times New Roman" pitchFamily="16" charset="0"/>
                <a:sym typeface="Courier New"/>
              </a:rPr>
              <a:t>()</a:t>
            </a:r>
            <a:r>
              <a:rPr lang="en-US" b="1" dirty="0">
                <a:cs typeface="Times New Roman" pitchFamily="16" charset="0"/>
              </a:rPr>
              <a:t> method Example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241581" cy="383221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64141" y="1152474"/>
            <a:ext cx="5154630" cy="3358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public class Person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{	…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	public String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()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 	{   return name + ", age " + age; }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}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1600" b="1" kern="1200" dirty="0">
              <a:uFill>
                <a:solidFill>
                  <a:srgbClr val="000000"/>
                </a:solidFill>
              </a:uFill>
              <a:latin typeface="Courier New"/>
              <a:cs typeface="Courier New"/>
              <a:sym typeface="Courier New"/>
            </a:endParaRP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public class Student extends Person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{	…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	public String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()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 	{ return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super.toString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() + ", GPA: " +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gpa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; }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}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1600" b="1" kern="1200" dirty="0">
              <a:uFill>
                <a:solidFill>
                  <a:srgbClr val="000000"/>
                </a:solidFill>
              </a:uFill>
              <a:latin typeface="Courier New"/>
              <a:cs typeface="Courier New"/>
              <a:sym typeface="Courier New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18771" y="1402420"/>
            <a:ext cx="3362866" cy="236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public class Employee extends Person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{	…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	public String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()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 	{  return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super.toString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() + ", Salary: $" + salary; }</a:t>
            </a:r>
          </a:p>
          <a:p>
            <a:pPr marL="257175" marR="68579" lvl="0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  <a:sym typeface="Courier New"/>
              </a:rPr>
              <a:t>}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5867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Printing using</a:t>
            </a:r>
            <a:r>
              <a:rPr lang="en-US" b="1" dirty="0">
                <a:cs typeface="Times New Roman" pitchFamily="16" charset="0"/>
                <a:sym typeface="Courier New"/>
              </a:rPr>
              <a:t> </a:t>
            </a:r>
            <a:r>
              <a:rPr lang="en-US" b="1" dirty="0" err="1">
                <a:cs typeface="Times New Roman" pitchFamily="16" charset="0"/>
                <a:sym typeface="Courier New"/>
              </a:rPr>
              <a:t>toString</a:t>
            </a:r>
            <a:r>
              <a:rPr lang="en-US" b="1" dirty="0">
                <a:cs typeface="Times New Roman" pitchFamily="16" charset="0"/>
                <a:sym typeface="Courier New"/>
              </a:rPr>
              <a:t>()</a:t>
            </a:r>
            <a:endParaRPr lang="en-US" b="1" dirty="0">
              <a:cs typeface="Times New Roman" pitchFamily="16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241581" cy="3832219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64141" y="1152474"/>
            <a:ext cx="8563728" cy="3831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marR="68579" indent="-226694" defTabSz="685800">
              <a:lnSpc>
                <a:spcPct val="80000"/>
              </a:lnSpc>
              <a:spcBef>
                <a:spcPts val="525"/>
              </a:spcBef>
              <a:buClrTx/>
              <a:buSzTx/>
              <a:buFont typeface="Arial"/>
              <a:buNone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public class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StoogePrinter</a:t>
            </a:r>
            <a:endParaRPr lang="en-US" sz="1600" b="1" kern="1200" dirty="0">
              <a:uFill>
                <a:solidFill>
                  <a:srgbClr val="000000"/>
                </a:solidFill>
              </a:uFill>
              <a:latin typeface="Courier New"/>
              <a:ea typeface="Courier New"/>
              <a:cs typeface="Courier New"/>
            </a:endParaRPr>
          </a:p>
          <a:p>
            <a:pPr marL="257175" marR="68579" indent="-226694" defTabSz="685800">
              <a:lnSpc>
                <a:spcPct val="80000"/>
              </a:lnSpc>
              <a:spcBef>
                <a:spcPts val="525"/>
              </a:spcBef>
              <a:buClrTx/>
              <a:buSzTx/>
              <a:buFont typeface="Arial"/>
              <a:buNone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{</a:t>
            </a:r>
          </a:p>
          <a:p>
            <a:pPr marL="257175" marR="68579" indent="-226694" defTabSz="685800">
              <a:lnSpc>
                <a:spcPct val="80000"/>
              </a:lnSpc>
              <a:spcBef>
                <a:spcPts val="525"/>
              </a:spcBef>
              <a:buClrTx/>
              <a:buSzTx/>
              <a:buFont typeface="Arial"/>
              <a:buNone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 	public static void main(String[] 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args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)</a:t>
            </a:r>
          </a:p>
          <a:p>
            <a:pPr marL="257175" marR="68579" indent="-226694" defTabSz="685800">
              <a:lnSpc>
                <a:spcPct val="80000"/>
              </a:lnSpc>
              <a:spcBef>
                <a:spcPts val="525"/>
              </a:spcBef>
              <a:buClrTx/>
              <a:buSzTx/>
              <a:buFont typeface="Arial"/>
              <a:buNone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  {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	Person p = new Person("Peter Parker");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	Student s = new Student("Sean Smith");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	Employee e = new Employee("Emma Evans");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1600" b="1" kern="1200" dirty="0">
              <a:uFill>
                <a:solidFill>
                  <a:srgbClr val="000000"/>
                </a:solidFill>
              </a:uFill>
              <a:latin typeface="Courier New"/>
              <a:ea typeface="Courier New"/>
              <a:cs typeface="Courier New"/>
            </a:endParaRP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	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System.out.println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(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p.toString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());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  </a:t>
            </a:r>
            <a:r>
              <a:rPr lang="en-US" sz="1600" b="1" kern="1200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//equivalent to </a:t>
            </a:r>
            <a:r>
              <a:rPr lang="en-US" sz="1600" b="1" kern="1200" dirty="0" err="1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System.out.println</a:t>
            </a:r>
            <a:r>
              <a:rPr lang="en-US" sz="1600" b="1" kern="1200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(p);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	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System.out.println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(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s.toString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());</a:t>
            </a:r>
          </a:p>
          <a:p>
            <a:pPr marL="257175" marR="68579" lvl="3" indent="-226694" defTabSz="685800">
              <a:lnSpc>
                <a:spcPct val="80000"/>
              </a:lnSpc>
              <a:spcBef>
                <a:spcPts val="525"/>
              </a:spcBef>
              <a:buClrTx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	</a:t>
            </a:r>
            <a:r>
              <a:rPr lang="en-US" sz="1600" b="1" kern="1200" dirty="0" err="1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System.out.println</a:t>
            </a: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(e);</a:t>
            </a:r>
          </a:p>
          <a:p>
            <a:pPr marL="257175" marR="68579" indent="-226694" defTabSz="685800">
              <a:lnSpc>
                <a:spcPct val="80000"/>
              </a:lnSpc>
              <a:spcBef>
                <a:spcPts val="525"/>
              </a:spcBef>
              <a:buClrTx/>
              <a:buSzTx/>
              <a:buFont typeface="Arial"/>
              <a:buNone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	}</a:t>
            </a:r>
          </a:p>
          <a:p>
            <a:pPr marL="257175" marR="68579" indent="-226694" defTabSz="685800">
              <a:lnSpc>
                <a:spcPct val="80000"/>
              </a:lnSpc>
              <a:spcBef>
                <a:spcPts val="525"/>
              </a:spcBef>
              <a:buClrTx/>
              <a:buSzTx/>
              <a:buFont typeface="Arial"/>
              <a:buNone/>
              <a:tabLst>
                <a:tab pos="285750" algn="l"/>
                <a:tab pos="714375" algn="l"/>
              </a:tabLst>
              <a:defRPr sz="20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b="1" kern="1200" dirty="0"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}</a:t>
            </a:r>
          </a:p>
          <a:p>
            <a:pPr marL="257175" indent="-226694">
              <a:lnSpc>
                <a:spcPct val="80000"/>
              </a:lnSpc>
              <a:buSzTx/>
              <a:buNone/>
              <a:tabLst>
                <a:tab pos="285750" algn="l"/>
                <a:tab pos="714375" algn="l"/>
              </a:tabLst>
              <a:defRPr sz="2200" b="1">
                <a:latin typeface="Courier New"/>
                <a:ea typeface="Courier New"/>
                <a:cs typeface="Courier New"/>
                <a:sym typeface="Courier New"/>
              </a:defRPr>
            </a:pPr>
            <a:endParaRPr 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4006734" y="4115991"/>
            <a:ext cx="5760263" cy="92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26694">
              <a:lnSpc>
                <a:spcPct val="80000"/>
              </a:lnSpc>
              <a:buSzTx/>
              <a:buNone/>
              <a:tabLst>
                <a:tab pos="285750" algn="l"/>
                <a:tab pos="714375" algn="l"/>
              </a:tabLst>
              <a:defRPr sz="2200" b="1">
                <a:solidFill>
                  <a:srgbClr val="434ED6"/>
                </a:solidFill>
                <a:uFill>
                  <a:solidFill>
                    <a:srgbClr val="434ED6"/>
                  </a:solidFill>
                </a:u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>
                <a:solidFill>
                  <a:schemeClr val="tx1"/>
                </a:solidFill>
              </a:rPr>
              <a:t>OUTPUT:	</a:t>
            </a:r>
            <a:r>
              <a:rPr lang="en-US" altLang="zh-CN" sz="1600" b="1" kern="12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Peter Parker</a:t>
            </a:r>
            <a:r>
              <a:rPr lang="en-US" sz="1600" dirty="0">
                <a:solidFill>
                  <a:schemeClr val="tx1"/>
                </a:solidFill>
              </a:rPr>
              <a:t>, age 0</a:t>
            </a:r>
          </a:p>
          <a:p>
            <a:pPr marL="257175" indent="-226694">
              <a:lnSpc>
                <a:spcPct val="80000"/>
              </a:lnSpc>
              <a:buSzTx/>
              <a:buNone/>
              <a:tabLst>
                <a:tab pos="285750" algn="l"/>
                <a:tab pos="714375" algn="l"/>
              </a:tabLst>
              <a:defRPr sz="2200" b="1">
                <a:solidFill>
                  <a:srgbClr val="434ED6"/>
                </a:solidFill>
                <a:uFill>
                  <a:solidFill>
                    <a:srgbClr val="434ED6"/>
                  </a:solidFill>
                </a:u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>
                <a:solidFill>
                  <a:schemeClr val="tx1"/>
                </a:solidFill>
              </a:rPr>
              <a:t>			 	</a:t>
            </a:r>
            <a:r>
              <a:rPr lang="en-US" altLang="zh-CN" sz="1600" b="1" kern="12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Sean Smith</a:t>
            </a:r>
            <a:r>
              <a:rPr lang="en-US" sz="1600" dirty="0">
                <a:solidFill>
                  <a:schemeClr val="tx1"/>
                </a:solidFill>
              </a:rPr>
              <a:t>, age 0, GPA: 0.0</a:t>
            </a:r>
          </a:p>
          <a:p>
            <a:pPr marL="257175" indent="-226694">
              <a:lnSpc>
                <a:spcPct val="80000"/>
              </a:lnSpc>
              <a:buSzTx/>
              <a:buNone/>
              <a:tabLst>
                <a:tab pos="285750" algn="l"/>
                <a:tab pos="714375" algn="l"/>
              </a:tabLst>
              <a:defRPr sz="2200" b="1">
                <a:solidFill>
                  <a:srgbClr val="434ED6"/>
                </a:solidFill>
                <a:uFill>
                  <a:solidFill>
                    <a:srgbClr val="434ED6"/>
                  </a:solidFill>
                </a:u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lang="en-US" sz="1600" dirty="0">
                <a:solidFill>
                  <a:schemeClr val="tx1"/>
                </a:solidFill>
              </a:rPr>
              <a:t>			 	</a:t>
            </a:r>
            <a:r>
              <a:rPr lang="en-US" altLang="zh-CN" sz="1600" b="1" kern="120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</a:rPr>
              <a:t>Emma Evans</a:t>
            </a:r>
            <a:r>
              <a:rPr lang="en-US" sz="1600" dirty="0">
                <a:solidFill>
                  <a:schemeClr val="tx1"/>
                </a:solidFill>
              </a:rPr>
              <a:t>, age 0, Salary: $0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75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Inheritance Diagram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11699" y="1152474"/>
            <a:ext cx="8589539" cy="3132763"/>
          </a:xfrm>
        </p:spPr>
        <p:txBody>
          <a:bodyPr>
            <a:normAutofit/>
          </a:bodyPr>
          <a:lstStyle/>
          <a:p>
            <a:r>
              <a:rPr lang="en-US" dirty="0"/>
              <a:t>Think of an inheritance diagram as a family tree for classes, except for a couple of differences:</a:t>
            </a:r>
          </a:p>
          <a:p>
            <a:pPr lvl="1"/>
            <a:r>
              <a:rPr lang="en-US" sz="1800" dirty="0"/>
              <a:t>A class may only have 1 immediate parent (No multiple inheritance of classes in Java)</a:t>
            </a:r>
          </a:p>
          <a:p>
            <a:pPr lvl="1"/>
            <a:r>
              <a:rPr lang="en-US" sz="1800" dirty="0"/>
              <a:t>Every class has all the properties (state and behavior) of all of its ancestors (so much for Darwinism)</a:t>
            </a:r>
          </a:p>
          <a:p>
            <a:endParaRPr lang="en-US" dirty="0"/>
          </a:p>
        </p:txBody>
      </p:sp>
      <p:sp>
        <p:nvSpPr>
          <p:cNvPr id="10" name="Person"/>
          <p:cNvSpPr/>
          <p:nvPr/>
        </p:nvSpPr>
        <p:spPr>
          <a:xfrm>
            <a:off x="2171700" y="3200401"/>
            <a:ext cx="1485900" cy="28469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>
            <a:spAutoFit/>
          </a:bodyPr>
          <a:lstStyle>
            <a:lvl1pPr marL="40639" marR="40639" defTabSz="914400">
              <a:lnSpc>
                <a:spcPct val="90000"/>
              </a:lnSpc>
              <a:spcBef>
                <a:spcPts val="1100"/>
              </a:spcBef>
              <a:defRPr sz="2000"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>
              <a:buClrTx/>
              <a:buFontTx/>
              <a:buNone/>
            </a:pPr>
            <a:r>
              <a:rPr sz="1500" kern="1200"/>
              <a:t>Person</a:t>
            </a:r>
          </a:p>
        </p:txBody>
      </p:sp>
      <p:grpSp>
        <p:nvGrpSpPr>
          <p:cNvPr id="11" name="Group"/>
          <p:cNvGrpSpPr/>
          <p:nvPr/>
        </p:nvGrpSpPr>
        <p:grpSpPr>
          <a:xfrm>
            <a:off x="3028950" y="4286251"/>
            <a:ext cx="1485900" cy="627594"/>
            <a:chOff x="0" y="0"/>
            <a:chExt cx="1981200" cy="836791"/>
          </a:xfrm>
        </p:grpSpPr>
        <p:sp>
          <p:nvSpPr>
            <p:cNvPr id="12" name="Instructor"/>
            <p:cNvSpPr/>
            <p:nvPr/>
          </p:nvSpPr>
          <p:spPr>
            <a:xfrm>
              <a:off x="0" y="457200"/>
              <a:ext cx="1981200" cy="379591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639" marR="40639" defTabSz="914400">
                <a:lnSpc>
                  <a:spcPct val="90000"/>
                </a:lnSpc>
                <a:spcBef>
                  <a:spcPts val="1100"/>
                </a:spcBef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Instructor</a:t>
              </a:r>
            </a:p>
          </p:txBody>
        </p:sp>
        <p:sp>
          <p:nvSpPr>
            <p:cNvPr id="13" name="Line"/>
            <p:cNvSpPr/>
            <p:nvPr/>
          </p:nvSpPr>
          <p:spPr>
            <a:xfrm>
              <a:off x="990600" y="0"/>
              <a:ext cx="0" cy="45720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buClrTx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900" kern="1200"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grpSp>
        <p:nvGrpSpPr>
          <p:cNvPr id="14" name="Group"/>
          <p:cNvGrpSpPr/>
          <p:nvPr/>
        </p:nvGrpSpPr>
        <p:grpSpPr>
          <a:xfrm>
            <a:off x="1257300" y="3486151"/>
            <a:ext cx="3257550" cy="799043"/>
            <a:chOff x="0" y="0"/>
            <a:chExt cx="4343400" cy="1065389"/>
          </a:xfrm>
        </p:grpSpPr>
        <p:sp>
          <p:nvSpPr>
            <p:cNvPr id="15" name="Employee"/>
            <p:cNvSpPr/>
            <p:nvPr/>
          </p:nvSpPr>
          <p:spPr>
            <a:xfrm>
              <a:off x="2362200" y="685799"/>
              <a:ext cx="1981200" cy="379590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639" marR="40639" defTabSz="914400">
                <a:lnSpc>
                  <a:spcPct val="90000"/>
                </a:lnSpc>
                <a:spcBef>
                  <a:spcPts val="1100"/>
                </a:spcBef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Employee</a:t>
              </a:r>
            </a:p>
          </p:txBody>
        </p:sp>
        <p:sp>
          <p:nvSpPr>
            <p:cNvPr id="16" name="Line"/>
            <p:cNvSpPr/>
            <p:nvPr/>
          </p:nvSpPr>
          <p:spPr>
            <a:xfrm>
              <a:off x="3352800" y="304799"/>
              <a:ext cx="0" cy="38100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buClrTx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900" kern="1200"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7" name="Student"/>
            <p:cNvSpPr/>
            <p:nvPr/>
          </p:nvSpPr>
          <p:spPr>
            <a:xfrm>
              <a:off x="0" y="685799"/>
              <a:ext cx="1981200" cy="379590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639" marR="40639" defTabSz="914400">
                <a:lnSpc>
                  <a:spcPct val="90000"/>
                </a:lnSpc>
                <a:spcBef>
                  <a:spcPts val="1100"/>
                </a:spcBef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Student</a:t>
              </a:r>
            </a:p>
          </p:txBody>
        </p:sp>
        <p:sp>
          <p:nvSpPr>
            <p:cNvPr id="18" name="Line"/>
            <p:cNvSpPr/>
            <p:nvPr/>
          </p:nvSpPr>
          <p:spPr>
            <a:xfrm>
              <a:off x="990600" y="304799"/>
              <a:ext cx="0" cy="38100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buClrTx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900" kern="1200"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19" name="Line"/>
            <p:cNvSpPr/>
            <p:nvPr/>
          </p:nvSpPr>
          <p:spPr>
            <a:xfrm>
              <a:off x="990600" y="304799"/>
              <a:ext cx="2362201" cy="12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buClrTx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900" kern="1200">
                <a:latin typeface="Helvetica"/>
                <a:ea typeface="Helvetica"/>
                <a:cs typeface="Helvetica"/>
                <a:sym typeface="Helvetica"/>
              </a:endParaRPr>
            </a:p>
          </p:txBody>
        </p:sp>
        <p:sp>
          <p:nvSpPr>
            <p:cNvPr id="20" name="Line"/>
            <p:cNvSpPr/>
            <p:nvPr/>
          </p:nvSpPr>
          <p:spPr>
            <a:xfrm flipV="1">
              <a:off x="2209800" y="0"/>
              <a:ext cx="0" cy="30480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buClrTx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900" kern="1200"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21" name="• A class may have any number of ancestors, in this case Instructor has 2."/>
          <p:cNvSpPr/>
          <p:nvPr/>
        </p:nvSpPr>
        <p:spPr>
          <a:xfrm>
            <a:off x="4572000" y="3257551"/>
            <a:ext cx="4260300" cy="1046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100" tIns="38100" rIns="38100" bIns="38100">
            <a:spAutoFit/>
          </a:bodyPr>
          <a:lstStyle/>
          <a:p>
            <a:pPr marL="30480" marR="30479">
              <a:spcBef>
                <a:spcPts val="450"/>
              </a:spcBef>
              <a:buClrTx/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+mn-lt"/>
                <a:ea typeface="+mn-ea"/>
                <a:cs typeface="+mn-cs"/>
                <a:sym typeface="Times New Roman"/>
              </a:defRPr>
            </a:pPr>
            <a:r>
              <a:rPr sz="2100" b="1" kern="1200" dirty="0">
                <a:solidFill>
                  <a:schemeClr val="tx1"/>
                </a:solidFill>
                <a:uFill>
                  <a:solidFill>
                    <a:srgbClr val="434ED6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rPr>
              <a:t>A class may have any number of ancestors, in this case </a:t>
            </a:r>
            <a:r>
              <a:rPr sz="2100" b="1" kern="1200" dirty="0">
                <a:solidFill>
                  <a:schemeClr val="tx1"/>
                </a:solidFill>
                <a:uFill>
                  <a:solidFill>
                    <a:srgbClr val="434ED6"/>
                  </a:solidFill>
                </a:uFill>
                <a:latin typeface="Courier New"/>
                <a:ea typeface="Courier New"/>
                <a:cs typeface="Courier New"/>
                <a:sym typeface="Courier New"/>
              </a:rPr>
              <a:t>Instructor</a:t>
            </a:r>
            <a:r>
              <a:rPr sz="2100" b="1" kern="1200" dirty="0">
                <a:solidFill>
                  <a:schemeClr val="tx1"/>
                </a:solidFill>
                <a:uFill>
                  <a:solidFill>
                    <a:srgbClr val="434ED6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rPr>
              <a:t> has 2.</a:t>
            </a:r>
          </a:p>
        </p:txBody>
      </p:sp>
    </p:spTree>
    <p:extLst>
      <p:ext uri="{BB962C8B-B14F-4D97-AF65-F5344CB8AC3E}">
        <p14:creationId xmlns:p14="http://schemas.microsoft.com/office/powerpoint/2010/main" val="332783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 advAuto="0"/>
      <p:bldP spid="11" grpId="0" animBg="1" advAuto="0"/>
      <p:bldP spid="14" grpId="0" animBg="1" advAuto="0"/>
      <p:bldP spid="21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Inheritance Diagram- Example</a:t>
            </a:r>
          </a:p>
        </p:txBody>
      </p:sp>
      <p:grpSp>
        <p:nvGrpSpPr>
          <p:cNvPr id="58" name="Group"/>
          <p:cNvGrpSpPr/>
          <p:nvPr/>
        </p:nvGrpSpPr>
        <p:grpSpPr>
          <a:xfrm>
            <a:off x="1828800" y="1028700"/>
            <a:ext cx="1257300" cy="400050"/>
            <a:chOff x="0" y="0"/>
            <a:chExt cx="1676400" cy="533400"/>
          </a:xfrm>
        </p:grpSpPr>
        <p:sp>
          <p:nvSpPr>
            <p:cNvPr id="59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60" name="Object"/>
            <p:cNvSpPr/>
            <p:nvPr/>
          </p:nvSpPr>
          <p:spPr>
            <a:xfrm>
              <a:off x="303455" y="61516"/>
              <a:ext cx="1135353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Object</a:t>
              </a:r>
            </a:p>
          </p:txBody>
        </p:sp>
      </p:grpSp>
      <p:grpSp>
        <p:nvGrpSpPr>
          <p:cNvPr id="61" name="Group"/>
          <p:cNvGrpSpPr/>
          <p:nvPr/>
        </p:nvGrpSpPr>
        <p:grpSpPr>
          <a:xfrm>
            <a:off x="2628900" y="1657350"/>
            <a:ext cx="1485900" cy="400050"/>
            <a:chOff x="0" y="0"/>
            <a:chExt cx="1981200" cy="533400"/>
          </a:xfrm>
        </p:grpSpPr>
        <p:sp>
          <p:nvSpPr>
            <p:cNvPr id="62" name="Rectangle"/>
            <p:cNvSpPr/>
            <p:nvPr/>
          </p:nvSpPr>
          <p:spPr>
            <a:xfrm>
              <a:off x="0" y="0"/>
              <a:ext cx="19812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63" name="Component"/>
            <p:cNvSpPr/>
            <p:nvPr/>
          </p:nvSpPr>
          <p:spPr>
            <a:xfrm>
              <a:off x="227219" y="61516"/>
              <a:ext cx="1597019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 dirty="0"/>
                <a:t>Component</a:t>
              </a:r>
            </a:p>
          </p:txBody>
        </p:sp>
      </p:grpSp>
      <p:sp>
        <p:nvSpPr>
          <p:cNvPr id="64" name="Line"/>
          <p:cNvSpPr/>
          <p:nvPr/>
        </p:nvSpPr>
        <p:spPr>
          <a:xfrm flipH="1" flipV="1">
            <a:off x="2514601" y="1428751"/>
            <a:ext cx="856976" cy="22962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65" name="Group"/>
          <p:cNvGrpSpPr/>
          <p:nvPr/>
        </p:nvGrpSpPr>
        <p:grpSpPr>
          <a:xfrm>
            <a:off x="3714750" y="2286000"/>
            <a:ext cx="1257300" cy="400050"/>
            <a:chOff x="0" y="0"/>
            <a:chExt cx="1676400" cy="533400"/>
          </a:xfrm>
        </p:grpSpPr>
        <p:sp>
          <p:nvSpPr>
            <p:cNvPr id="66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67" name="Container"/>
            <p:cNvSpPr/>
            <p:nvPr/>
          </p:nvSpPr>
          <p:spPr>
            <a:xfrm>
              <a:off x="74819" y="61516"/>
              <a:ext cx="1597019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Container</a:t>
              </a:r>
            </a:p>
          </p:txBody>
        </p:sp>
      </p:grpSp>
      <p:grpSp>
        <p:nvGrpSpPr>
          <p:cNvPr id="68" name="Group"/>
          <p:cNvGrpSpPr/>
          <p:nvPr/>
        </p:nvGrpSpPr>
        <p:grpSpPr>
          <a:xfrm>
            <a:off x="4629150" y="2971800"/>
            <a:ext cx="1257300" cy="400050"/>
            <a:chOff x="0" y="0"/>
            <a:chExt cx="1676400" cy="533400"/>
          </a:xfrm>
        </p:grpSpPr>
        <p:sp>
          <p:nvSpPr>
            <p:cNvPr id="69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70" name="Window"/>
            <p:cNvSpPr/>
            <p:nvPr/>
          </p:nvSpPr>
          <p:spPr>
            <a:xfrm>
              <a:off x="303455" y="61516"/>
              <a:ext cx="1135353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Window</a:t>
              </a:r>
            </a:p>
          </p:txBody>
        </p:sp>
      </p:grpSp>
      <p:grpSp>
        <p:nvGrpSpPr>
          <p:cNvPr id="71" name="Group"/>
          <p:cNvGrpSpPr/>
          <p:nvPr/>
        </p:nvGrpSpPr>
        <p:grpSpPr>
          <a:xfrm>
            <a:off x="5543550" y="3657600"/>
            <a:ext cx="1257300" cy="400050"/>
            <a:chOff x="0" y="0"/>
            <a:chExt cx="1676400" cy="533400"/>
          </a:xfrm>
        </p:grpSpPr>
        <p:sp>
          <p:nvSpPr>
            <p:cNvPr id="72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73" name="Frame"/>
            <p:cNvSpPr/>
            <p:nvPr/>
          </p:nvSpPr>
          <p:spPr>
            <a:xfrm>
              <a:off x="379667" y="61516"/>
              <a:ext cx="981465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Frame</a:t>
              </a:r>
            </a:p>
          </p:txBody>
        </p:sp>
      </p:grpSp>
      <p:grpSp>
        <p:nvGrpSpPr>
          <p:cNvPr id="74" name="Group"/>
          <p:cNvGrpSpPr/>
          <p:nvPr/>
        </p:nvGrpSpPr>
        <p:grpSpPr>
          <a:xfrm>
            <a:off x="6515100" y="4343400"/>
            <a:ext cx="1257300" cy="400050"/>
            <a:chOff x="0" y="0"/>
            <a:chExt cx="1676400" cy="533400"/>
          </a:xfrm>
        </p:grpSpPr>
        <p:sp>
          <p:nvSpPr>
            <p:cNvPr id="75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76" name="JFrame"/>
            <p:cNvSpPr/>
            <p:nvPr/>
          </p:nvSpPr>
          <p:spPr>
            <a:xfrm>
              <a:off x="303455" y="61516"/>
              <a:ext cx="1135353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JFrame</a:t>
              </a:r>
            </a:p>
          </p:txBody>
        </p:sp>
      </p:grpSp>
      <p:sp>
        <p:nvSpPr>
          <p:cNvPr id="77" name="Line"/>
          <p:cNvSpPr/>
          <p:nvPr/>
        </p:nvSpPr>
        <p:spPr>
          <a:xfrm flipH="1" flipV="1">
            <a:off x="3371851" y="2057400"/>
            <a:ext cx="972502" cy="22452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8" name="Line"/>
          <p:cNvSpPr/>
          <p:nvPr/>
        </p:nvSpPr>
        <p:spPr>
          <a:xfrm flipH="1" flipV="1">
            <a:off x="4400550" y="2686051"/>
            <a:ext cx="859395" cy="27923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9" name="Line"/>
          <p:cNvSpPr/>
          <p:nvPr/>
        </p:nvSpPr>
        <p:spPr>
          <a:xfrm flipH="1" flipV="1">
            <a:off x="5314950" y="3371851"/>
            <a:ext cx="859395" cy="27923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0" name="Line"/>
          <p:cNvSpPr/>
          <p:nvPr/>
        </p:nvSpPr>
        <p:spPr>
          <a:xfrm flipH="1" flipV="1">
            <a:off x="6229351" y="4057651"/>
            <a:ext cx="973471" cy="27913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81" name="Group"/>
          <p:cNvGrpSpPr/>
          <p:nvPr/>
        </p:nvGrpSpPr>
        <p:grpSpPr>
          <a:xfrm>
            <a:off x="2628900" y="2971800"/>
            <a:ext cx="1600200" cy="400050"/>
            <a:chOff x="0" y="0"/>
            <a:chExt cx="2133600" cy="533400"/>
          </a:xfrm>
        </p:grpSpPr>
        <p:sp>
          <p:nvSpPr>
            <p:cNvPr id="82" name="Rectangle"/>
            <p:cNvSpPr/>
            <p:nvPr/>
          </p:nvSpPr>
          <p:spPr>
            <a:xfrm>
              <a:off x="0" y="0"/>
              <a:ext cx="21336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83" name="JComponent"/>
            <p:cNvSpPr/>
            <p:nvPr/>
          </p:nvSpPr>
          <p:spPr>
            <a:xfrm>
              <a:off x="227205" y="61516"/>
              <a:ext cx="1750907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JComponent</a:t>
              </a:r>
            </a:p>
          </p:txBody>
        </p:sp>
      </p:grpSp>
      <p:grpSp>
        <p:nvGrpSpPr>
          <p:cNvPr id="84" name="Group"/>
          <p:cNvGrpSpPr/>
          <p:nvPr/>
        </p:nvGrpSpPr>
        <p:grpSpPr>
          <a:xfrm>
            <a:off x="2000250" y="3714750"/>
            <a:ext cx="1257300" cy="400050"/>
            <a:chOff x="0" y="0"/>
            <a:chExt cx="1676400" cy="533400"/>
          </a:xfrm>
        </p:grpSpPr>
        <p:sp>
          <p:nvSpPr>
            <p:cNvPr id="85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86" name="JPanel"/>
            <p:cNvSpPr/>
            <p:nvPr/>
          </p:nvSpPr>
          <p:spPr>
            <a:xfrm>
              <a:off x="303455" y="61516"/>
              <a:ext cx="1135353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JPanel</a:t>
              </a:r>
            </a:p>
          </p:txBody>
        </p:sp>
      </p:grpSp>
      <p:sp>
        <p:nvSpPr>
          <p:cNvPr id="87" name="Line"/>
          <p:cNvSpPr/>
          <p:nvPr/>
        </p:nvSpPr>
        <p:spPr>
          <a:xfrm flipV="1">
            <a:off x="3429001" y="2686051"/>
            <a:ext cx="798359" cy="29057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8" name="Line"/>
          <p:cNvSpPr/>
          <p:nvPr/>
        </p:nvSpPr>
        <p:spPr>
          <a:xfrm flipV="1">
            <a:off x="2628901" y="3371850"/>
            <a:ext cx="801284" cy="34012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89" name="Group"/>
          <p:cNvGrpSpPr/>
          <p:nvPr/>
        </p:nvGrpSpPr>
        <p:grpSpPr>
          <a:xfrm>
            <a:off x="3513642" y="3714750"/>
            <a:ext cx="1774845" cy="400050"/>
            <a:chOff x="0" y="0"/>
            <a:chExt cx="2366459" cy="533400"/>
          </a:xfrm>
        </p:grpSpPr>
        <p:sp>
          <p:nvSpPr>
            <p:cNvPr id="90" name="Rectangle"/>
            <p:cNvSpPr/>
            <p:nvPr/>
          </p:nvSpPr>
          <p:spPr>
            <a:xfrm>
              <a:off x="39543" y="0"/>
              <a:ext cx="2209801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91" name="AbstractButton"/>
            <p:cNvSpPr/>
            <p:nvPr/>
          </p:nvSpPr>
          <p:spPr>
            <a:xfrm>
              <a:off x="0" y="61516"/>
              <a:ext cx="2366459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AbstractButton</a:t>
              </a:r>
            </a:p>
          </p:txBody>
        </p:sp>
      </p:grpSp>
      <p:sp>
        <p:nvSpPr>
          <p:cNvPr id="92" name="Line"/>
          <p:cNvSpPr/>
          <p:nvPr/>
        </p:nvSpPr>
        <p:spPr>
          <a:xfrm flipH="1" flipV="1">
            <a:off x="3486151" y="3371851"/>
            <a:ext cx="741599" cy="34581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grpSp>
        <p:nvGrpSpPr>
          <p:cNvPr id="93" name="Group"/>
          <p:cNvGrpSpPr/>
          <p:nvPr/>
        </p:nvGrpSpPr>
        <p:grpSpPr>
          <a:xfrm>
            <a:off x="3714750" y="4514850"/>
            <a:ext cx="1257300" cy="400050"/>
            <a:chOff x="0" y="0"/>
            <a:chExt cx="1676400" cy="533400"/>
          </a:xfrm>
        </p:grpSpPr>
        <p:sp>
          <p:nvSpPr>
            <p:cNvPr id="94" name="Rectangle"/>
            <p:cNvSpPr/>
            <p:nvPr/>
          </p:nvSpPr>
          <p:spPr>
            <a:xfrm>
              <a:off x="0" y="0"/>
              <a:ext cx="1676400" cy="533400"/>
            </a:xfrm>
            <a:prstGeom prst="rect">
              <a:avLst/>
            </a:prstGeom>
            <a:solidFill>
              <a:srgbClr val="00D5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t">
              <a:noAutofit/>
            </a:bodyPr>
            <a:lstStyle/>
            <a:p>
              <a:pPr marL="30479" marR="30479">
                <a:buClrTx/>
                <a:defRPr sz="24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endParaRPr sz="1800" kern="1200">
                <a:uFill>
                  <a:solidFill>
                    <a:srgbClr val="000000"/>
                  </a:solidFill>
                </a:uFill>
                <a:latin typeface="Calibri" panose="020F0502020204030204"/>
                <a:ea typeface="+mn-ea"/>
                <a:cs typeface="+mn-cs"/>
                <a:sym typeface="Times New Roman"/>
              </a:endParaRPr>
            </a:p>
          </p:txBody>
        </p:sp>
        <p:sp>
          <p:nvSpPr>
            <p:cNvPr id="95" name="JButton"/>
            <p:cNvSpPr/>
            <p:nvPr/>
          </p:nvSpPr>
          <p:spPr>
            <a:xfrm>
              <a:off x="227243" y="61516"/>
              <a:ext cx="1289241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8100" tIns="38100" rIns="38100" bIns="38100" numCol="1" anchor="ctr">
              <a:spAutoFit/>
            </a:bodyPr>
            <a:lstStyle>
              <a:lvl1pPr marL="40639" marR="40639" defTabSz="914400">
                <a:defRPr sz="20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500" kern="1200"/>
                <a:t>JButton</a:t>
              </a:r>
            </a:p>
          </p:txBody>
        </p:sp>
      </p:grpSp>
      <p:sp>
        <p:nvSpPr>
          <p:cNvPr id="96" name="Line"/>
          <p:cNvSpPr/>
          <p:nvPr/>
        </p:nvSpPr>
        <p:spPr>
          <a:xfrm flipV="1">
            <a:off x="4343400" y="4114801"/>
            <a:ext cx="0" cy="40005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txBody>
          <a:bodyPr lIns="38100" tIns="38100" rIns="38100" bIns="38100" anchor="ctr"/>
          <a:lstStyle/>
          <a:p>
            <a:pPr defTabSz="342900">
              <a:buClrTx/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900" kern="1200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97" name="A class may only have 1 immediate parent…"/>
          <p:cNvSpPr txBox="1">
            <a:spLocks noGrp="1"/>
          </p:cNvSpPr>
          <p:nvPr>
            <p:ph type="body" sz="half" idx="1"/>
          </p:nvPr>
        </p:nvSpPr>
        <p:spPr>
          <a:xfrm>
            <a:off x="5374821" y="974408"/>
            <a:ext cx="3516340" cy="112631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90000"/>
              </a:lnSpc>
              <a:defRPr sz="2800"/>
            </a:pPr>
            <a:r>
              <a:rPr sz="1600" dirty="0"/>
              <a:t>A class may only have 1 immediate parent</a:t>
            </a:r>
          </a:p>
        </p:txBody>
      </p:sp>
    </p:spTree>
    <p:extLst>
      <p:ext uri="{BB962C8B-B14F-4D97-AF65-F5344CB8AC3E}">
        <p14:creationId xmlns:p14="http://schemas.microsoft.com/office/powerpoint/2010/main" val="159608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UML class Diagram and Inheritance</a:t>
            </a:r>
          </a:p>
        </p:txBody>
      </p:sp>
      <p:sp>
        <p:nvSpPr>
          <p:cNvPr id="44" name="public class Student extends Person"/>
          <p:cNvSpPr txBox="1">
            <a:spLocks/>
          </p:cNvSpPr>
          <p:nvPr/>
        </p:nvSpPr>
        <p:spPr>
          <a:xfrm>
            <a:off x="1007535" y="1435221"/>
            <a:ext cx="6399788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marR="0" lvl="0" indent="-3022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Tx/>
              <a:buFont typeface="Arial"/>
              <a:buNone/>
              <a:tabLst>
                <a:tab pos="381000" algn="l"/>
                <a:tab pos="952500" algn="l"/>
              </a:tabLst>
              <a:defRPr sz="2600" b="1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tx1"/>
                </a:solidFill>
              </a:rPr>
              <a:t>public class Student </a:t>
            </a:r>
          </a:p>
          <a:p>
            <a:r>
              <a:rPr lang="en-US" sz="1800" dirty="0">
                <a:solidFill>
                  <a:schemeClr val="tx1"/>
                </a:solidFill>
              </a:rPr>
              <a:t>extends Person</a:t>
            </a:r>
          </a:p>
        </p:txBody>
      </p:sp>
      <p:grpSp>
        <p:nvGrpSpPr>
          <p:cNvPr id="45" name="Group"/>
          <p:cNvGrpSpPr/>
          <p:nvPr/>
        </p:nvGrpSpPr>
        <p:grpSpPr>
          <a:xfrm>
            <a:off x="3988559" y="1331861"/>
            <a:ext cx="3418764" cy="1608172"/>
            <a:chOff x="0" y="-9650"/>
            <a:chExt cx="3810000" cy="2304595"/>
          </a:xfrm>
        </p:grpSpPr>
        <p:sp>
          <p:nvSpPr>
            <p:cNvPr id="46" name="Person"/>
            <p:cNvSpPr/>
            <p:nvPr/>
          </p:nvSpPr>
          <p:spPr>
            <a:xfrm>
              <a:off x="0" y="-9650"/>
              <a:ext cx="3810000" cy="374901"/>
            </a:xfrm>
            <a:prstGeom prst="rect">
              <a:avLst/>
            </a:prstGeom>
            <a:solidFill>
              <a:srgbClr val="FFFDA9"/>
            </a:solidFill>
            <a:ln w="12700" cap="flat">
              <a:solidFill>
                <a:srgbClr val="929292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ctr">
              <a:spAutoFit/>
            </a:bodyPr>
            <a:lstStyle>
              <a:lvl1pPr marL="40640" marR="40640" defTabSz="914400">
                <a:defRPr sz="1600" b="1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defRPr>
              </a:lvl1pPr>
            </a:lstStyle>
            <a:p>
              <a:pPr>
                <a:buClrTx/>
                <a:buFontTx/>
                <a:buNone/>
              </a:pPr>
              <a:r>
                <a:rPr sz="1200" kern="1200" dirty="0"/>
                <a:t>Person</a:t>
              </a:r>
            </a:p>
          </p:txBody>
        </p:sp>
        <p:grpSp>
          <p:nvGrpSpPr>
            <p:cNvPr id="47" name="Group"/>
            <p:cNvGrpSpPr/>
            <p:nvPr/>
          </p:nvGrpSpPr>
          <p:grpSpPr>
            <a:xfrm>
              <a:off x="0" y="365621"/>
              <a:ext cx="3810000" cy="838201"/>
              <a:chOff x="0" y="0"/>
              <a:chExt cx="3810000" cy="838200"/>
            </a:xfrm>
          </p:grpSpPr>
          <p:sp>
            <p:nvSpPr>
              <p:cNvPr id="51" name="Rectangle"/>
              <p:cNvSpPr/>
              <p:nvPr/>
            </p:nvSpPr>
            <p:spPr>
              <a:xfrm>
                <a:off x="0" y="0"/>
                <a:ext cx="3810000" cy="838200"/>
              </a:xfrm>
              <a:prstGeom prst="rect">
                <a:avLst/>
              </a:prstGeom>
              <a:solidFill>
                <a:srgbClr val="FFFDA9"/>
              </a:solidFill>
              <a:ln w="12700" cap="flat">
                <a:solidFill>
                  <a:srgbClr val="929292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t">
                <a:noAutofit/>
              </a:bodyPr>
              <a:lstStyle/>
              <a:p>
                <a:pPr marL="30480" marR="30480">
                  <a:buClrTx/>
                  <a:defRPr sz="22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+mn-lt"/>
                    <a:ea typeface="+mn-ea"/>
                    <a:cs typeface="+mn-cs"/>
                    <a:sym typeface="Times New Roman"/>
                  </a:defRPr>
                </a:pPr>
                <a:endParaRPr sz="1650" kern="1200">
                  <a:uFill>
                    <a:solidFill>
                      <a:srgbClr val="000000"/>
                    </a:solidFill>
                  </a:uFill>
                  <a:latin typeface="Calibri" panose="020F0502020204030204"/>
                  <a:ea typeface="+mn-ea"/>
                  <a:cs typeface="+mn-cs"/>
                  <a:sym typeface="Times New Roman"/>
                </a:endParaRPr>
              </a:p>
            </p:txBody>
          </p:sp>
          <p:sp>
            <p:nvSpPr>
              <p:cNvPr id="52" name="name: String…"/>
              <p:cNvSpPr/>
              <p:nvPr/>
            </p:nvSpPr>
            <p:spPr>
              <a:xfrm>
                <a:off x="0" y="99332"/>
                <a:ext cx="3810000" cy="63953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/>
              <a:p>
                <a:pPr marL="30480" marR="30480">
                  <a:buClrTx/>
                  <a:defRPr sz="1600" b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defRPr>
                </a:pP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name: String</a:t>
                </a:r>
              </a:p>
              <a:p>
                <a:pPr marL="30480" marR="30480">
                  <a:buClrTx/>
                  <a:defRPr sz="1600" b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defRPr>
                </a:pP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age : </a:t>
                </a: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endParaRPr sz="1200" b="1" kern="1200" dirty="0"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8" name="Group"/>
            <p:cNvGrpSpPr/>
            <p:nvPr/>
          </p:nvGrpSpPr>
          <p:grpSpPr>
            <a:xfrm>
              <a:off x="0" y="1176123"/>
              <a:ext cx="3810000" cy="1118822"/>
              <a:chOff x="0" y="-27698"/>
              <a:chExt cx="3810000" cy="1118821"/>
            </a:xfrm>
          </p:grpSpPr>
          <p:sp>
            <p:nvSpPr>
              <p:cNvPr id="49" name="Rectangle"/>
              <p:cNvSpPr/>
              <p:nvPr/>
            </p:nvSpPr>
            <p:spPr>
              <a:xfrm>
                <a:off x="0" y="0"/>
                <a:ext cx="3810000" cy="1066800"/>
              </a:xfrm>
              <a:prstGeom prst="rect">
                <a:avLst/>
              </a:prstGeom>
              <a:solidFill>
                <a:srgbClr val="FFFDA9"/>
              </a:solidFill>
              <a:ln w="12700" cap="flat">
                <a:solidFill>
                  <a:srgbClr val="929292"/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t">
                <a:noAutofit/>
              </a:bodyPr>
              <a:lstStyle/>
              <a:p>
                <a:pPr marL="30480" marR="30480">
                  <a:buClrTx/>
                  <a:defRPr sz="220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+mn-lt"/>
                    <a:ea typeface="+mn-ea"/>
                    <a:cs typeface="+mn-cs"/>
                    <a:sym typeface="Times New Roman"/>
                  </a:defRPr>
                </a:pPr>
                <a:endParaRPr sz="1650" kern="1200">
                  <a:uFill>
                    <a:solidFill>
                      <a:srgbClr val="000000"/>
                    </a:solidFill>
                  </a:uFill>
                  <a:latin typeface="Calibri" panose="020F0502020204030204"/>
                  <a:ea typeface="+mn-ea"/>
                  <a:cs typeface="+mn-cs"/>
                  <a:sym typeface="Times New Roman"/>
                </a:endParaRPr>
              </a:p>
            </p:txBody>
          </p:sp>
          <p:sp>
            <p:nvSpPr>
              <p:cNvPr id="50" name="getAge() : int…"/>
              <p:cNvSpPr/>
              <p:nvPr/>
            </p:nvSpPr>
            <p:spPr>
              <a:xfrm>
                <a:off x="0" y="-27698"/>
                <a:ext cx="3810000" cy="11188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/>
              <a:p>
                <a:pPr marL="30480" marR="30480">
                  <a:lnSpc>
                    <a:spcPct val="90000"/>
                  </a:lnSpc>
                  <a:spcBef>
                    <a:spcPts val="750"/>
                  </a:spcBef>
                  <a:buClrTx/>
                  <a:defRPr sz="1600" b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defRPr>
                </a:pP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getAge</a:t>
                </a: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() : </a:t>
                </a: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endParaRPr sz="1200" b="1" kern="1200" dirty="0">
                  <a:uFill>
                    <a:solidFill>
                      <a:srgbClr val="000000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30480" marR="30480">
                  <a:lnSpc>
                    <a:spcPct val="90000"/>
                  </a:lnSpc>
                  <a:spcBef>
                    <a:spcPts val="750"/>
                  </a:spcBef>
                  <a:buClrTx/>
                  <a:defRPr sz="1600" b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defRPr>
                </a:pP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getName</a:t>
                </a: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() : String</a:t>
                </a:r>
              </a:p>
              <a:p>
                <a:pPr marL="30480" marR="30480">
                  <a:lnSpc>
                    <a:spcPct val="90000"/>
                  </a:lnSpc>
                  <a:spcBef>
                    <a:spcPts val="750"/>
                  </a:spcBef>
                  <a:buClrTx/>
                  <a:defRPr sz="1600" b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defRPr>
                </a:pP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setAge</a:t>
                </a: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(</a:t>
                </a: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newAge</a:t>
                </a: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: </a:t>
                </a:r>
                <a:r>
                  <a:rPr sz="1200" b="1" kern="1200" dirty="0" err="1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sz="1200" b="1" kern="1200" dirty="0"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rPr>
                  <a:t>) : void</a:t>
                </a:r>
              </a:p>
            </p:txBody>
          </p:sp>
        </p:grpSp>
      </p:grpSp>
      <p:grpSp>
        <p:nvGrpSpPr>
          <p:cNvPr id="53" name="Group"/>
          <p:cNvGrpSpPr/>
          <p:nvPr/>
        </p:nvGrpSpPr>
        <p:grpSpPr>
          <a:xfrm>
            <a:off x="1140441" y="2914650"/>
            <a:ext cx="4106262" cy="1135183"/>
            <a:chOff x="0" y="0"/>
            <a:chExt cx="6627651" cy="1403640"/>
          </a:xfrm>
        </p:grpSpPr>
        <p:sp>
          <p:nvSpPr>
            <p:cNvPr id="54" name="Triangle denotes inheritance…"/>
            <p:cNvSpPr/>
            <p:nvPr/>
          </p:nvSpPr>
          <p:spPr>
            <a:xfrm>
              <a:off x="0" y="0"/>
              <a:ext cx="3505200" cy="14036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/>
            <a:p>
              <a:pPr marL="30480" marR="30480">
                <a:lnSpc>
                  <a:spcPct val="90000"/>
                </a:lnSpc>
                <a:spcBef>
                  <a:spcPts val="825"/>
                </a:spcBef>
                <a:buClrTx/>
                <a:defRPr sz="1800" b="1">
                  <a:solidFill>
                    <a:srgbClr val="434ED6"/>
                  </a:solidFill>
                  <a:uFill>
                    <a:solidFill>
                      <a:srgbClr val="434ED6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r>
                <a:rPr sz="1800" b="1" kern="1200" dirty="0">
                  <a:solidFill>
                    <a:schemeClr val="tx1"/>
                  </a:solidFill>
                  <a:uFill>
                    <a:solidFill>
                      <a:srgbClr val="434ED6"/>
                    </a:solidFill>
                  </a:uFill>
                  <a:latin typeface="Calibri" panose="020F0502020204030204"/>
                  <a:ea typeface="+mn-ea"/>
                  <a:cs typeface="+mn-cs"/>
                  <a:sym typeface="Times New Roman"/>
                </a:rPr>
                <a:t>Triangle denotes inheritance</a:t>
              </a:r>
            </a:p>
            <a:p>
              <a:pPr marL="30480" marR="30480">
                <a:lnSpc>
                  <a:spcPct val="90000"/>
                </a:lnSpc>
                <a:spcBef>
                  <a:spcPts val="825"/>
                </a:spcBef>
                <a:buClrTx/>
                <a:defRPr sz="220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+mn-lt"/>
                  <a:ea typeface="+mn-ea"/>
                  <a:cs typeface="+mn-cs"/>
                  <a:sym typeface="Times New Roman"/>
                </a:defRPr>
              </a:pPr>
              <a:r>
                <a:rPr sz="1650" b="1" kern="1200" dirty="0">
                  <a:solidFill>
                    <a:schemeClr val="tx1"/>
                  </a:solidFill>
                  <a:uFill>
                    <a:solidFill>
                      <a:srgbClr val="434ED6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rPr>
                <a:t>Student</a:t>
              </a:r>
              <a:r>
                <a:rPr sz="1650" b="1" kern="1200" dirty="0">
                  <a:solidFill>
                    <a:schemeClr val="tx1"/>
                  </a:solidFill>
                  <a:uFill>
                    <a:solidFill>
                      <a:srgbClr val="434ED6"/>
                    </a:solidFill>
                  </a:uFill>
                  <a:latin typeface="Calibri" panose="020F0502020204030204"/>
                  <a:ea typeface="+mn-ea"/>
                  <a:cs typeface="+mn-cs"/>
                  <a:sym typeface="Times New Roman"/>
                </a:rPr>
                <a:t> IS-A </a:t>
              </a:r>
              <a:r>
                <a:rPr sz="1650" b="1" kern="1200" dirty="0">
                  <a:solidFill>
                    <a:schemeClr val="tx1"/>
                  </a:solidFill>
                  <a:uFill>
                    <a:solidFill>
                      <a:srgbClr val="434ED6"/>
                    </a:solidFill>
                  </a:uFill>
                  <a:latin typeface="Courier New"/>
                  <a:ea typeface="Courier New"/>
                  <a:cs typeface="Courier New"/>
                  <a:sym typeface="Courier New"/>
                </a:rPr>
                <a:t>Person</a:t>
              </a:r>
            </a:p>
          </p:txBody>
        </p:sp>
        <p:sp>
          <p:nvSpPr>
            <p:cNvPr id="55" name="Line"/>
            <p:cNvSpPr/>
            <p:nvPr/>
          </p:nvSpPr>
          <p:spPr>
            <a:xfrm flipV="1">
              <a:off x="3429000" y="198193"/>
              <a:ext cx="3198651" cy="30408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buClrTx/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900" kern="1200"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grpSp>
        <p:nvGrpSpPr>
          <p:cNvPr id="56" name="Group"/>
          <p:cNvGrpSpPr/>
          <p:nvPr/>
        </p:nvGrpSpPr>
        <p:grpSpPr>
          <a:xfrm>
            <a:off x="3886200" y="2971801"/>
            <a:ext cx="3257550" cy="1885953"/>
            <a:chOff x="0" y="0"/>
            <a:chExt cx="4343400" cy="2514601"/>
          </a:xfrm>
        </p:grpSpPr>
        <p:grpSp>
          <p:nvGrpSpPr>
            <p:cNvPr id="57" name="Group"/>
            <p:cNvGrpSpPr/>
            <p:nvPr/>
          </p:nvGrpSpPr>
          <p:grpSpPr>
            <a:xfrm>
              <a:off x="0" y="858163"/>
              <a:ext cx="4343400" cy="1656438"/>
              <a:chOff x="0" y="3393"/>
              <a:chExt cx="4343400" cy="1656438"/>
            </a:xfrm>
          </p:grpSpPr>
          <p:sp>
            <p:nvSpPr>
              <p:cNvPr id="103" name="Student"/>
              <p:cNvSpPr/>
              <p:nvPr/>
            </p:nvSpPr>
            <p:spPr>
              <a:xfrm>
                <a:off x="0" y="3393"/>
                <a:ext cx="4343400" cy="348813"/>
              </a:xfrm>
              <a:prstGeom prst="rect">
                <a:avLst/>
              </a:prstGeom>
              <a:solidFill>
                <a:srgbClr val="FFFDA9"/>
              </a:solidFill>
              <a:ln w="12700" cap="flat">
                <a:solidFill>
                  <a:srgbClr val="929292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38100" tIns="38100" rIns="38100" bIns="38100" numCol="1" anchor="ctr">
                <a:spAutoFit/>
              </a:bodyPr>
              <a:lstStyle>
                <a:lvl1pPr marL="40640" marR="40640" defTabSz="914400">
                  <a:defRPr sz="1600" b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Courier New"/>
                    <a:ea typeface="Courier New"/>
                    <a:cs typeface="Courier New"/>
                    <a:sym typeface="Courier New"/>
                  </a:defRPr>
                </a:lvl1pPr>
              </a:lstStyle>
              <a:p>
                <a:pPr>
                  <a:buClrTx/>
                  <a:buFontTx/>
                  <a:buNone/>
                </a:pPr>
                <a:r>
                  <a:rPr sz="1200" kern="1200"/>
                  <a:t>Student</a:t>
                </a:r>
              </a:p>
            </p:txBody>
          </p:sp>
          <p:grpSp>
            <p:nvGrpSpPr>
              <p:cNvPr id="104" name="Group"/>
              <p:cNvGrpSpPr/>
              <p:nvPr/>
            </p:nvGrpSpPr>
            <p:grpSpPr>
              <a:xfrm>
                <a:off x="0" y="364430"/>
                <a:ext cx="4343400" cy="457201"/>
                <a:chOff x="0" y="0"/>
                <a:chExt cx="4343400" cy="457200"/>
              </a:xfrm>
            </p:grpSpPr>
            <p:sp>
              <p:nvSpPr>
                <p:cNvPr id="108" name="Rectangle"/>
                <p:cNvSpPr/>
                <p:nvPr/>
              </p:nvSpPr>
              <p:spPr>
                <a:xfrm>
                  <a:off x="0" y="0"/>
                  <a:ext cx="4343400" cy="457200"/>
                </a:xfrm>
                <a:prstGeom prst="rect">
                  <a:avLst/>
                </a:prstGeom>
                <a:solidFill>
                  <a:srgbClr val="FFFDA9"/>
                </a:solidFill>
                <a:ln w="12700" cap="flat">
                  <a:solidFill>
                    <a:srgbClr val="929292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80" marR="30480">
                    <a:buClrTx/>
                    <a:defRPr sz="22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65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  <p:sp>
              <p:nvSpPr>
                <p:cNvPr id="109" name="gpa: double"/>
                <p:cNvSpPr/>
                <p:nvPr/>
              </p:nvSpPr>
              <p:spPr>
                <a:xfrm>
                  <a:off x="0" y="52705"/>
                  <a:ext cx="4343400" cy="34881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>
                  <a:lvl1pPr marL="40640" marR="40640" algn="l" defTabSz="914400">
                    <a:defRPr sz="1600" b="1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defRPr>
                  </a:lvl1pPr>
                </a:lstStyle>
                <a:p>
                  <a:pPr>
                    <a:buClrTx/>
                    <a:buFontTx/>
                    <a:buNone/>
                  </a:pPr>
                  <a:r>
                    <a:rPr sz="1200" kern="1200"/>
                    <a:t>gpa: double</a:t>
                  </a:r>
                </a:p>
              </p:txBody>
            </p:sp>
          </p:grpSp>
          <p:grpSp>
            <p:nvGrpSpPr>
              <p:cNvPr id="105" name="Group"/>
              <p:cNvGrpSpPr/>
              <p:nvPr/>
            </p:nvGrpSpPr>
            <p:grpSpPr>
              <a:xfrm>
                <a:off x="0" y="821630"/>
                <a:ext cx="4343400" cy="838201"/>
                <a:chOff x="0" y="0"/>
                <a:chExt cx="4343400" cy="838200"/>
              </a:xfrm>
            </p:grpSpPr>
            <p:sp>
              <p:nvSpPr>
                <p:cNvPr id="106" name="Rectangle"/>
                <p:cNvSpPr/>
                <p:nvPr/>
              </p:nvSpPr>
              <p:spPr>
                <a:xfrm>
                  <a:off x="0" y="0"/>
                  <a:ext cx="4343400" cy="838200"/>
                </a:xfrm>
                <a:prstGeom prst="rect">
                  <a:avLst/>
                </a:prstGeom>
                <a:solidFill>
                  <a:srgbClr val="FFFDA9"/>
                </a:solidFill>
                <a:ln w="12700" cap="flat">
                  <a:solidFill>
                    <a:srgbClr val="929292"/>
                  </a:solidFill>
                  <a:prstDash val="solid"/>
                  <a:miter lim="400000"/>
                </a:ln>
                <a:effectLst/>
              </p:spPr>
              <p:txBody>
                <a:bodyPr wrap="square" lIns="38100" tIns="38100" rIns="38100" bIns="38100" numCol="1" anchor="t">
                  <a:noAutofit/>
                </a:bodyPr>
                <a:lstStyle/>
                <a:p>
                  <a:pPr marL="30480" marR="30480">
                    <a:buClrTx/>
                    <a:defRPr sz="2200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+mn-lt"/>
                      <a:ea typeface="+mn-ea"/>
                      <a:cs typeface="+mn-cs"/>
                      <a:sym typeface="Times New Roman"/>
                    </a:defRPr>
                  </a:pPr>
                  <a:endParaRPr sz="1650" kern="1200">
                    <a:uFill>
                      <a:solidFill>
                        <a:srgbClr val="000000"/>
                      </a:solidFill>
                    </a:uFill>
                    <a:latin typeface="Calibri" panose="020F0502020204030204"/>
                    <a:ea typeface="+mn-ea"/>
                    <a:cs typeface="+mn-cs"/>
                    <a:sym typeface="Times New Roman"/>
                  </a:endParaRPr>
                </a:p>
              </p:txBody>
            </p:sp>
            <p:sp>
              <p:nvSpPr>
                <p:cNvPr id="107" name="getGPA() : double…"/>
                <p:cNvSpPr/>
                <p:nvPr/>
              </p:nvSpPr>
              <p:spPr>
                <a:xfrm>
                  <a:off x="0" y="121584"/>
                  <a:ext cx="4343400" cy="5950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a14="http://schemas.microsoft.com/office/mac/drawingml/2011/main" val="1"/>
                  </a:ext>
                </a:extLst>
              </p:spPr>
              <p:txBody>
                <a:bodyPr wrap="square" lIns="38100" tIns="38100" rIns="38100" bIns="38100" numCol="1" anchor="ctr">
                  <a:spAutoFit/>
                </a:bodyPr>
                <a:lstStyle/>
                <a:p>
                  <a:pPr marL="30480" marR="30480">
                    <a:buClrTx/>
                    <a:defRPr sz="1600" b="1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defRPr>
                  </a:pPr>
                  <a:r>
                    <a:rPr sz="1200" b="1" kern="1200"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rPr>
                    <a:t>getGPA() : double</a:t>
                  </a:r>
                </a:p>
                <a:p>
                  <a:pPr marL="30480" marR="30480">
                    <a:buClrTx/>
                    <a:defRPr sz="1600" b="1">
                      <a:solidFill>
                        <a:srgbClr val="000000"/>
                      </a:solidFill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defRPr>
                  </a:pPr>
                  <a:r>
                    <a:rPr sz="1200" b="1" kern="1200">
                      <a:uFill>
                        <a:solidFill>
                          <a:srgbClr val="000000"/>
                        </a:solidFill>
                      </a:uFill>
                      <a:latin typeface="Courier New"/>
                      <a:ea typeface="Courier New"/>
                      <a:cs typeface="Courier New"/>
                      <a:sym typeface="Courier New"/>
                    </a:rPr>
                    <a:t>setGPA(newGPA: double) : void</a:t>
                  </a:r>
                </a:p>
              </p:txBody>
            </p:sp>
          </p:grpSp>
        </p:grpSp>
        <p:grpSp>
          <p:nvGrpSpPr>
            <p:cNvPr id="98" name="Group"/>
            <p:cNvGrpSpPr/>
            <p:nvPr/>
          </p:nvGrpSpPr>
          <p:grpSpPr>
            <a:xfrm>
              <a:off x="1905000" y="0"/>
              <a:ext cx="457200" cy="838200"/>
              <a:chOff x="0" y="0"/>
              <a:chExt cx="457200" cy="838200"/>
            </a:xfrm>
          </p:grpSpPr>
          <p:sp>
            <p:nvSpPr>
              <p:cNvPr id="99" name="Line"/>
              <p:cNvSpPr/>
              <p:nvPr/>
            </p:nvSpPr>
            <p:spPr>
              <a:xfrm flipH="1">
                <a:off x="0" y="0"/>
                <a:ext cx="228600" cy="22860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buClrTx/>
                  <a:defRPr sz="12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900" kern="1200">
                  <a:latin typeface="Helvetica"/>
                  <a:ea typeface="Helvetica"/>
                  <a:cs typeface="Helvetica"/>
                  <a:sym typeface="Helvetica"/>
                </a:endParaRPr>
              </a:p>
            </p:txBody>
          </p:sp>
          <p:sp>
            <p:nvSpPr>
              <p:cNvPr id="100" name="Line"/>
              <p:cNvSpPr/>
              <p:nvPr/>
            </p:nvSpPr>
            <p:spPr>
              <a:xfrm>
                <a:off x="0" y="228600"/>
                <a:ext cx="457200" cy="127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buClrTx/>
                  <a:defRPr sz="12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900" kern="1200">
                  <a:latin typeface="Helvetica"/>
                  <a:ea typeface="Helvetica"/>
                  <a:cs typeface="Helvetica"/>
                  <a:sym typeface="Helvetica"/>
                </a:endParaRPr>
              </a:p>
            </p:txBody>
          </p:sp>
          <p:sp>
            <p:nvSpPr>
              <p:cNvPr id="101" name="Line"/>
              <p:cNvSpPr/>
              <p:nvPr/>
            </p:nvSpPr>
            <p:spPr>
              <a:xfrm>
                <a:off x="228600" y="0"/>
                <a:ext cx="228600" cy="22860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buClrTx/>
                  <a:defRPr sz="12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900" kern="1200">
                  <a:latin typeface="Helvetica"/>
                  <a:ea typeface="Helvetica"/>
                  <a:cs typeface="Helvetica"/>
                  <a:sym typeface="Helvetica"/>
                </a:endParaRPr>
              </a:p>
            </p:txBody>
          </p:sp>
          <p:sp>
            <p:nvSpPr>
              <p:cNvPr id="102" name="Line"/>
              <p:cNvSpPr/>
              <p:nvPr/>
            </p:nvSpPr>
            <p:spPr>
              <a:xfrm flipH="1">
                <a:off x="228599" y="228600"/>
                <a:ext cx="2" cy="60960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buClrTx/>
                  <a:defRPr sz="12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sz="900" kern="1200">
                  <a:latin typeface="Helvetica"/>
                  <a:ea typeface="Helvetica"/>
                  <a:cs typeface="Helvetica"/>
                  <a:sym typeface="Helvetic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620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Cats and Dogs (yes, again)</a:t>
            </a:r>
          </a:p>
        </p:txBody>
      </p:sp>
      <p:pic>
        <p:nvPicPr>
          <p:cNvPr id="29" name="image.png" descr="image.png"/>
          <p:cNvPicPr>
            <a:picLocks/>
          </p:cNvPicPr>
          <p:nvPr/>
        </p:nvPicPr>
        <p:blipFill>
          <a:blip r:embed="rId2"/>
          <a:srcRect l="3010" t="6649" r="2971" b="6576"/>
          <a:stretch>
            <a:fillRect/>
          </a:stretch>
        </p:blipFill>
        <p:spPr>
          <a:xfrm>
            <a:off x="1617761" y="1674315"/>
            <a:ext cx="5903780" cy="24589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8" h="21595" extrusionOk="0">
                <a:moveTo>
                  <a:pt x="10652" y="0"/>
                </a:moveTo>
                <a:cubicBezTo>
                  <a:pt x="9819" y="1"/>
                  <a:pt x="8985" y="4"/>
                  <a:pt x="8957" y="11"/>
                </a:cubicBezTo>
                <a:cubicBezTo>
                  <a:pt x="8933" y="17"/>
                  <a:pt x="8907" y="23"/>
                  <a:pt x="8901" y="24"/>
                </a:cubicBezTo>
                <a:cubicBezTo>
                  <a:pt x="8894" y="24"/>
                  <a:pt x="8887" y="35"/>
                  <a:pt x="8886" y="50"/>
                </a:cubicBezTo>
                <a:cubicBezTo>
                  <a:pt x="8884" y="68"/>
                  <a:pt x="8878" y="76"/>
                  <a:pt x="8866" y="76"/>
                </a:cubicBezTo>
                <a:cubicBezTo>
                  <a:pt x="8857" y="76"/>
                  <a:pt x="8847" y="83"/>
                  <a:pt x="8843" y="94"/>
                </a:cubicBezTo>
                <a:cubicBezTo>
                  <a:pt x="8839" y="106"/>
                  <a:pt x="8832" y="115"/>
                  <a:pt x="8827" y="115"/>
                </a:cubicBezTo>
                <a:cubicBezTo>
                  <a:pt x="8798" y="115"/>
                  <a:pt x="8747" y="148"/>
                  <a:pt x="8747" y="165"/>
                </a:cubicBezTo>
                <a:cubicBezTo>
                  <a:pt x="8747" y="187"/>
                  <a:pt x="8728" y="207"/>
                  <a:pt x="8686" y="228"/>
                </a:cubicBezTo>
                <a:cubicBezTo>
                  <a:pt x="8664" y="238"/>
                  <a:pt x="8655" y="248"/>
                  <a:pt x="8651" y="270"/>
                </a:cubicBezTo>
                <a:cubicBezTo>
                  <a:pt x="8648" y="289"/>
                  <a:pt x="8635" y="308"/>
                  <a:pt x="8610" y="330"/>
                </a:cubicBezTo>
                <a:cubicBezTo>
                  <a:pt x="8590" y="347"/>
                  <a:pt x="8573" y="370"/>
                  <a:pt x="8573" y="379"/>
                </a:cubicBezTo>
                <a:cubicBezTo>
                  <a:pt x="8573" y="389"/>
                  <a:pt x="8558" y="416"/>
                  <a:pt x="8541" y="439"/>
                </a:cubicBezTo>
                <a:cubicBezTo>
                  <a:pt x="8524" y="463"/>
                  <a:pt x="8511" y="492"/>
                  <a:pt x="8511" y="502"/>
                </a:cubicBezTo>
                <a:cubicBezTo>
                  <a:pt x="8511" y="513"/>
                  <a:pt x="8503" y="531"/>
                  <a:pt x="8492" y="541"/>
                </a:cubicBezTo>
                <a:cubicBezTo>
                  <a:pt x="8472" y="564"/>
                  <a:pt x="8449" y="607"/>
                  <a:pt x="8449" y="625"/>
                </a:cubicBezTo>
                <a:cubicBezTo>
                  <a:pt x="8449" y="632"/>
                  <a:pt x="8438" y="655"/>
                  <a:pt x="8426" y="677"/>
                </a:cubicBezTo>
                <a:cubicBezTo>
                  <a:pt x="8414" y="699"/>
                  <a:pt x="8404" y="723"/>
                  <a:pt x="8404" y="732"/>
                </a:cubicBezTo>
                <a:cubicBezTo>
                  <a:pt x="8404" y="741"/>
                  <a:pt x="8396" y="763"/>
                  <a:pt x="8387" y="779"/>
                </a:cubicBezTo>
                <a:cubicBezTo>
                  <a:pt x="8378" y="796"/>
                  <a:pt x="8371" y="820"/>
                  <a:pt x="8371" y="834"/>
                </a:cubicBezTo>
                <a:cubicBezTo>
                  <a:pt x="8371" y="848"/>
                  <a:pt x="8366" y="863"/>
                  <a:pt x="8361" y="868"/>
                </a:cubicBezTo>
                <a:cubicBezTo>
                  <a:pt x="8348" y="879"/>
                  <a:pt x="8338" y="906"/>
                  <a:pt x="8328" y="962"/>
                </a:cubicBezTo>
                <a:cubicBezTo>
                  <a:pt x="8324" y="986"/>
                  <a:pt x="8316" y="1007"/>
                  <a:pt x="8312" y="1007"/>
                </a:cubicBezTo>
                <a:cubicBezTo>
                  <a:pt x="8306" y="1007"/>
                  <a:pt x="8301" y="1030"/>
                  <a:pt x="8296" y="1069"/>
                </a:cubicBezTo>
                <a:cubicBezTo>
                  <a:pt x="8293" y="1103"/>
                  <a:pt x="8288" y="1133"/>
                  <a:pt x="8286" y="1137"/>
                </a:cubicBezTo>
                <a:cubicBezTo>
                  <a:pt x="8283" y="1141"/>
                  <a:pt x="8280" y="1157"/>
                  <a:pt x="8280" y="1171"/>
                </a:cubicBezTo>
                <a:cubicBezTo>
                  <a:pt x="8280" y="1186"/>
                  <a:pt x="8276" y="1200"/>
                  <a:pt x="8270" y="1205"/>
                </a:cubicBezTo>
                <a:cubicBezTo>
                  <a:pt x="8256" y="1219"/>
                  <a:pt x="8241" y="1267"/>
                  <a:pt x="8241" y="1300"/>
                </a:cubicBezTo>
                <a:cubicBezTo>
                  <a:pt x="8241" y="1315"/>
                  <a:pt x="8235" y="1341"/>
                  <a:pt x="8228" y="1360"/>
                </a:cubicBezTo>
                <a:cubicBezTo>
                  <a:pt x="8211" y="1404"/>
                  <a:pt x="8196" y="1487"/>
                  <a:pt x="8196" y="1532"/>
                </a:cubicBezTo>
                <a:cubicBezTo>
                  <a:pt x="8196" y="1593"/>
                  <a:pt x="8184" y="1675"/>
                  <a:pt x="8172" y="1697"/>
                </a:cubicBezTo>
                <a:cubicBezTo>
                  <a:pt x="8165" y="1711"/>
                  <a:pt x="8161" y="1746"/>
                  <a:pt x="8157" y="1812"/>
                </a:cubicBezTo>
                <a:cubicBezTo>
                  <a:pt x="8154" y="1864"/>
                  <a:pt x="8148" y="1927"/>
                  <a:pt x="8145" y="1953"/>
                </a:cubicBezTo>
                <a:cubicBezTo>
                  <a:pt x="8142" y="1979"/>
                  <a:pt x="8140" y="2018"/>
                  <a:pt x="8140" y="2042"/>
                </a:cubicBezTo>
                <a:cubicBezTo>
                  <a:pt x="8140" y="2066"/>
                  <a:pt x="8136" y="2091"/>
                  <a:pt x="8132" y="2097"/>
                </a:cubicBezTo>
                <a:cubicBezTo>
                  <a:pt x="8118" y="2117"/>
                  <a:pt x="8111" y="2281"/>
                  <a:pt x="8111" y="2635"/>
                </a:cubicBezTo>
                <a:cubicBezTo>
                  <a:pt x="8111" y="2990"/>
                  <a:pt x="8118" y="3154"/>
                  <a:pt x="8132" y="3174"/>
                </a:cubicBezTo>
                <a:cubicBezTo>
                  <a:pt x="8136" y="3180"/>
                  <a:pt x="8140" y="3202"/>
                  <a:pt x="8140" y="3226"/>
                </a:cubicBezTo>
                <a:cubicBezTo>
                  <a:pt x="8140" y="3250"/>
                  <a:pt x="8142" y="3292"/>
                  <a:pt x="8145" y="3318"/>
                </a:cubicBezTo>
                <a:cubicBezTo>
                  <a:pt x="8148" y="3344"/>
                  <a:pt x="8154" y="3407"/>
                  <a:pt x="8157" y="3459"/>
                </a:cubicBezTo>
                <a:cubicBezTo>
                  <a:pt x="8161" y="3525"/>
                  <a:pt x="8165" y="3560"/>
                  <a:pt x="8172" y="3574"/>
                </a:cubicBezTo>
                <a:cubicBezTo>
                  <a:pt x="8184" y="3596"/>
                  <a:pt x="8196" y="3679"/>
                  <a:pt x="8196" y="3741"/>
                </a:cubicBezTo>
                <a:cubicBezTo>
                  <a:pt x="8196" y="3788"/>
                  <a:pt x="8210" y="3863"/>
                  <a:pt x="8228" y="3908"/>
                </a:cubicBezTo>
                <a:cubicBezTo>
                  <a:pt x="8235" y="3927"/>
                  <a:pt x="8241" y="3956"/>
                  <a:pt x="8241" y="3971"/>
                </a:cubicBezTo>
                <a:cubicBezTo>
                  <a:pt x="8241" y="4002"/>
                  <a:pt x="8256" y="4053"/>
                  <a:pt x="8268" y="4063"/>
                </a:cubicBezTo>
                <a:cubicBezTo>
                  <a:pt x="8275" y="4068"/>
                  <a:pt x="8285" y="4121"/>
                  <a:pt x="8298" y="4220"/>
                </a:cubicBezTo>
                <a:cubicBezTo>
                  <a:pt x="8301" y="4244"/>
                  <a:pt x="8307" y="4264"/>
                  <a:pt x="8312" y="4264"/>
                </a:cubicBezTo>
                <a:cubicBezTo>
                  <a:pt x="8316" y="4264"/>
                  <a:pt x="8324" y="4284"/>
                  <a:pt x="8328" y="4308"/>
                </a:cubicBezTo>
                <a:cubicBezTo>
                  <a:pt x="8338" y="4363"/>
                  <a:pt x="8348" y="4392"/>
                  <a:pt x="8360" y="4403"/>
                </a:cubicBezTo>
                <a:cubicBezTo>
                  <a:pt x="8365" y="4407"/>
                  <a:pt x="8370" y="4428"/>
                  <a:pt x="8372" y="4450"/>
                </a:cubicBezTo>
                <a:cubicBezTo>
                  <a:pt x="8374" y="4474"/>
                  <a:pt x="8380" y="4495"/>
                  <a:pt x="8389" y="4505"/>
                </a:cubicBezTo>
                <a:cubicBezTo>
                  <a:pt x="8397" y="4513"/>
                  <a:pt x="8404" y="4526"/>
                  <a:pt x="8404" y="4536"/>
                </a:cubicBezTo>
                <a:cubicBezTo>
                  <a:pt x="8404" y="4545"/>
                  <a:pt x="8414" y="4572"/>
                  <a:pt x="8426" y="4593"/>
                </a:cubicBezTo>
                <a:cubicBezTo>
                  <a:pt x="8438" y="4615"/>
                  <a:pt x="8449" y="4639"/>
                  <a:pt x="8449" y="4646"/>
                </a:cubicBezTo>
                <a:cubicBezTo>
                  <a:pt x="8449" y="4663"/>
                  <a:pt x="8471" y="4709"/>
                  <a:pt x="8490" y="4729"/>
                </a:cubicBezTo>
                <a:cubicBezTo>
                  <a:pt x="8499" y="4739"/>
                  <a:pt x="8510" y="4761"/>
                  <a:pt x="8513" y="4779"/>
                </a:cubicBezTo>
                <a:cubicBezTo>
                  <a:pt x="8517" y="4797"/>
                  <a:pt x="8531" y="4825"/>
                  <a:pt x="8546" y="4842"/>
                </a:cubicBezTo>
                <a:cubicBezTo>
                  <a:pt x="8561" y="4859"/>
                  <a:pt x="8573" y="4881"/>
                  <a:pt x="8573" y="4891"/>
                </a:cubicBezTo>
                <a:cubicBezTo>
                  <a:pt x="8573" y="4902"/>
                  <a:pt x="8589" y="4923"/>
                  <a:pt x="8610" y="4941"/>
                </a:cubicBezTo>
                <a:cubicBezTo>
                  <a:pt x="8636" y="4963"/>
                  <a:pt x="8648" y="4980"/>
                  <a:pt x="8651" y="5001"/>
                </a:cubicBezTo>
                <a:cubicBezTo>
                  <a:pt x="8655" y="5024"/>
                  <a:pt x="8663" y="5033"/>
                  <a:pt x="8683" y="5040"/>
                </a:cubicBezTo>
                <a:cubicBezTo>
                  <a:pt x="8719" y="5053"/>
                  <a:pt x="8747" y="5084"/>
                  <a:pt x="8747" y="5108"/>
                </a:cubicBezTo>
                <a:cubicBezTo>
                  <a:pt x="8747" y="5119"/>
                  <a:pt x="8752" y="5129"/>
                  <a:pt x="8757" y="5129"/>
                </a:cubicBezTo>
                <a:cubicBezTo>
                  <a:pt x="8762" y="5130"/>
                  <a:pt x="8772" y="5137"/>
                  <a:pt x="8778" y="5148"/>
                </a:cubicBezTo>
                <a:cubicBezTo>
                  <a:pt x="8784" y="5159"/>
                  <a:pt x="8796" y="5169"/>
                  <a:pt x="8805" y="5169"/>
                </a:cubicBezTo>
                <a:cubicBezTo>
                  <a:pt x="8842" y="5169"/>
                  <a:pt x="8896" y="5199"/>
                  <a:pt x="8905" y="5226"/>
                </a:cubicBezTo>
                <a:cubicBezTo>
                  <a:pt x="8917" y="5262"/>
                  <a:pt x="8923" y="5265"/>
                  <a:pt x="9250" y="5276"/>
                </a:cubicBezTo>
                <a:lnTo>
                  <a:pt x="9531" y="5284"/>
                </a:lnTo>
                <a:lnTo>
                  <a:pt x="9531" y="5608"/>
                </a:lnTo>
                <a:lnTo>
                  <a:pt x="9531" y="7817"/>
                </a:lnTo>
                <a:lnTo>
                  <a:pt x="9531" y="7979"/>
                </a:lnTo>
                <a:lnTo>
                  <a:pt x="9531" y="10350"/>
                </a:lnTo>
                <a:lnTo>
                  <a:pt x="7976" y="10350"/>
                </a:lnTo>
                <a:lnTo>
                  <a:pt x="7926" y="10350"/>
                </a:lnTo>
                <a:lnTo>
                  <a:pt x="6421" y="10350"/>
                </a:lnTo>
                <a:lnTo>
                  <a:pt x="6320" y="10350"/>
                </a:lnTo>
                <a:lnTo>
                  <a:pt x="6316" y="10217"/>
                </a:lnTo>
                <a:cubicBezTo>
                  <a:pt x="6310" y="10022"/>
                  <a:pt x="6300" y="9872"/>
                  <a:pt x="6291" y="9864"/>
                </a:cubicBezTo>
                <a:cubicBezTo>
                  <a:pt x="6286" y="9860"/>
                  <a:pt x="6283" y="9844"/>
                  <a:pt x="6283" y="9827"/>
                </a:cubicBezTo>
                <a:cubicBezTo>
                  <a:pt x="6283" y="9765"/>
                  <a:pt x="6266" y="9510"/>
                  <a:pt x="6258" y="9469"/>
                </a:cubicBezTo>
                <a:cubicBezTo>
                  <a:pt x="6254" y="9446"/>
                  <a:pt x="6246" y="9423"/>
                  <a:pt x="6242" y="9419"/>
                </a:cubicBezTo>
                <a:cubicBezTo>
                  <a:pt x="6237" y="9415"/>
                  <a:pt x="6233" y="9396"/>
                  <a:pt x="6233" y="9377"/>
                </a:cubicBezTo>
                <a:cubicBezTo>
                  <a:pt x="6233" y="9359"/>
                  <a:pt x="6231" y="9340"/>
                  <a:pt x="6228" y="9336"/>
                </a:cubicBezTo>
                <a:cubicBezTo>
                  <a:pt x="6224" y="9331"/>
                  <a:pt x="6221" y="9304"/>
                  <a:pt x="6221" y="9273"/>
                </a:cubicBezTo>
                <a:cubicBezTo>
                  <a:pt x="6221" y="9190"/>
                  <a:pt x="6212" y="9118"/>
                  <a:pt x="6199" y="9111"/>
                </a:cubicBezTo>
                <a:cubicBezTo>
                  <a:pt x="6189" y="9104"/>
                  <a:pt x="6171" y="8988"/>
                  <a:pt x="6171" y="8928"/>
                </a:cubicBezTo>
                <a:cubicBezTo>
                  <a:pt x="6171" y="8913"/>
                  <a:pt x="6164" y="8885"/>
                  <a:pt x="6157" y="8868"/>
                </a:cubicBezTo>
                <a:cubicBezTo>
                  <a:pt x="6149" y="8850"/>
                  <a:pt x="6143" y="8826"/>
                  <a:pt x="6143" y="8813"/>
                </a:cubicBezTo>
                <a:cubicBezTo>
                  <a:pt x="6143" y="8800"/>
                  <a:pt x="6136" y="8780"/>
                  <a:pt x="6128" y="8768"/>
                </a:cubicBezTo>
                <a:cubicBezTo>
                  <a:pt x="6121" y="8756"/>
                  <a:pt x="6114" y="8737"/>
                  <a:pt x="6114" y="8726"/>
                </a:cubicBezTo>
                <a:cubicBezTo>
                  <a:pt x="6114" y="8715"/>
                  <a:pt x="6107" y="8690"/>
                  <a:pt x="6098" y="8669"/>
                </a:cubicBezTo>
                <a:cubicBezTo>
                  <a:pt x="6089" y="8648"/>
                  <a:pt x="6081" y="8619"/>
                  <a:pt x="6081" y="8604"/>
                </a:cubicBezTo>
                <a:cubicBezTo>
                  <a:pt x="6081" y="8588"/>
                  <a:pt x="6073" y="8558"/>
                  <a:pt x="6062" y="8538"/>
                </a:cubicBezTo>
                <a:cubicBezTo>
                  <a:pt x="6051" y="8519"/>
                  <a:pt x="6041" y="8490"/>
                  <a:pt x="6039" y="8473"/>
                </a:cubicBezTo>
                <a:cubicBezTo>
                  <a:pt x="6037" y="8453"/>
                  <a:pt x="6029" y="8434"/>
                  <a:pt x="6018" y="8426"/>
                </a:cubicBezTo>
                <a:cubicBezTo>
                  <a:pt x="6009" y="8418"/>
                  <a:pt x="5999" y="8399"/>
                  <a:pt x="5997" y="8381"/>
                </a:cubicBezTo>
                <a:cubicBezTo>
                  <a:pt x="5993" y="8360"/>
                  <a:pt x="5984" y="8343"/>
                  <a:pt x="5968" y="8332"/>
                </a:cubicBezTo>
                <a:cubicBezTo>
                  <a:pt x="5956" y="8323"/>
                  <a:pt x="5942" y="8301"/>
                  <a:pt x="5938" y="8285"/>
                </a:cubicBezTo>
                <a:cubicBezTo>
                  <a:pt x="5933" y="8268"/>
                  <a:pt x="5920" y="8247"/>
                  <a:pt x="5908" y="8238"/>
                </a:cubicBezTo>
                <a:cubicBezTo>
                  <a:pt x="5878" y="8211"/>
                  <a:pt x="5851" y="8168"/>
                  <a:pt x="5851" y="8149"/>
                </a:cubicBezTo>
                <a:cubicBezTo>
                  <a:pt x="5851" y="8131"/>
                  <a:pt x="5815" y="8100"/>
                  <a:pt x="5793" y="8099"/>
                </a:cubicBezTo>
                <a:cubicBezTo>
                  <a:pt x="5768" y="8098"/>
                  <a:pt x="5724" y="8064"/>
                  <a:pt x="5722" y="8044"/>
                </a:cubicBezTo>
                <a:cubicBezTo>
                  <a:pt x="5721" y="8033"/>
                  <a:pt x="5714" y="8021"/>
                  <a:pt x="5705" y="8021"/>
                </a:cubicBezTo>
                <a:cubicBezTo>
                  <a:pt x="5696" y="8020"/>
                  <a:pt x="5662" y="8015"/>
                  <a:pt x="5628" y="8008"/>
                </a:cubicBezTo>
                <a:cubicBezTo>
                  <a:pt x="5545" y="7990"/>
                  <a:pt x="4046" y="7990"/>
                  <a:pt x="3963" y="8008"/>
                </a:cubicBezTo>
                <a:cubicBezTo>
                  <a:pt x="3929" y="8015"/>
                  <a:pt x="3895" y="8020"/>
                  <a:pt x="3886" y="8021"/>
                </a:cubicBezTo>
                <a:cubicBezTo>
                  <a:pt x="3878" y="8021"/>
                  <a:pt x="3870" y="8033"/>
                  <a:pt x="3869" y="8044"/>
                </a:cubicBezTo>
                <a:cubicBezTo>
                  <a:pt x="3867" y="8064"/>
                  <a:pt x="3824" y="8098"/>
                  <a:pt x="3798" y="8099"/>
                </a:cubicBezTo>
                <a:cubicBezTo>
                  <a:pt x="3776" y="8100"/>
                  <a:pt x="3740" y="8131"/>
                  <a:pt x="3740" y="8149"/>
                </a:cubicBezTo>
                <a:cubicBezTo>
                  <a:pt x="3740" y="8168"/>
                  <a:pt x="3713" y="8211"/>
                  <a:pt x="3683" y="8238"/>
                </a:cubicBezTo>
                <a:cubicBezTo>
                  <a:pt x="3671" y="8247"/>
                  <a:pt x="3658" y="8268"/>
                  <a:pt x="3653" y="8285"/>
                </a:cubicBezTo>
                <a:cubicBezTo>
                  <a:pt x="3649" y="8301"/>
                  <a:pt x="3634" y="8323"/>
                  <a:pt x="3622" y="8332"/>
                </a:cubicBezTo>
                <a:cubicBezTo>
                  <a:pt x="3606" y="8343"/>
                  <a:pt x="3598" y="8360"/>
                  <a:pt x="3595" y="8381"/>
                </a:cubicBezTo>
                <a:cubicBezTo>
                  <a:pt x="3592" y="8399"/>
                  <a:pt x="3581" y="8418"/>
                  <a:pt x="3572" y="8426"/>
                </a:cubicBezTo>
                <a:cubicBezTo>
                  <a:pt x="3561" y="8434"/>
                  <a:pt x="3554" y="8453"/>
                  <a:pt x="3552" y="8473"/>
                </a:cubicBezTo>
                <a:cubicBezTo>
                  <a:pt x="3550" y="8490"/>
                  <a:pt x="3540" y="8519"/>
                  <a:pt x="3529" y="8538"/>
                </a:cubicBezTo>
                <a:cubicBezTo>
                  <a:pt x="3518" y="8558"/>
                  <a:pt x="3511" y="8588"/>
                  <a:pt x="3511" y="8604"/>
                </a:cubicBezTo>
                <a:cubicBezTo>
                  <a:pt x="3511" y="8619"/>
                  <a:pt x="3503" y="8648"/>
                  <a:pt x="3493" y="8669"/>
                </a:cubicBezTo>
                <a:cubicBezTo>
                  <a:pt x="3484" y="8690"/>
                  <a:pt x="3477" y="8715"/>
                  <a:pt x="3477" y="8726"/>
                </a:cubicBezTo>
                <a:cubicBezTo>
                  <a:pt x="3477" y="8738"/>
                  <a:pt x="3471" y="8759"/>
                  <a:pt x="3463" y="8771"/>
                </a:cubicBezTo>
                <a:cubicBezTo>
                  <a:pt x="3455" y="8783"/>
                  <a:pt x="3449" y="8803"/>
                  <a:pt x="3449" y="8815"/>
                </a:cubicBezTo>
                <a:cubicBezTo>
                  <a:pt x="3449" y="8827"/>
                  <a:pt x="3442" y="8850"/>
                  <a:pt x="3434" y="8868"/>
                </a:cubicBezTo>
                <a:cubicBezTo>
                  <a:pt x="3427" y="8885"/>
                  <a:pt x="3420" y="8913"/>
                  <a:pt x="3420" y="8928"/>
                </a:cubicBezTo>
                <a:cubicBezTo>
                  <a:pt x="3420" y="8988"/>
                  <a:pt x="3402" y="9104"/>
                  <a:pt x="3392" y="9111"/>
                </a:cubicBezTo>
                <a:cubicBezTo>
                  <a:pt x="3380" y="9118"/>
                  <a:pt x="3370" y="9190"/>
                  <a:pt x="3370" y="9273"/>
                </a:cubicBezTo>
                <a:cubicBezTo>
                  <a:pt x="3370" y="9304"/>
                  <a:pt x="3367" y="9331"/>
                  <a:pt x="3364" y="9336"/>
                </a:cubicBezTo>
                <a:cubicBezTo>
                  <a:pt x="3361" y="9340"/>
                  <a:pt x="3358" y="9360"/>
                  <a:pt x="3358" y="9377"/>
                </a:cubicBezTo>
                <a:cubicBezTo>
                  <a:pt x="3358" y="9395"/>
                  <a:pt x="3354" y="9417"/>
                  <a:pt x="3347" y="9427"/>
                </a:cubicBezTo>
                <a:cubicBezTo>
                  <a:pt x="3340" y="9440"/>
                  <a:pt x="3334" y="9464"/>
                  <a:pt x="3332" y="9505"/>
                </a:cubicBezTo>
                <a:cubicBezTo>
                  <a:pt x="3331" y="9539"/>
                  <a:pt x="3327" y="9579"/>
                  <a:pt x="3324" y="9594"/>
                </a:cubicBezTo>
                <a:cubicBezTo>
                  <a:pt x="3319" y="9626"/>
                  <a:pt x="3312" y="9728"/>
                  <a:pt x="3309" y="9788"/>
                </a:cubicBezTo>
                <a:cubicBezTo>
                  <a:pt x="3309" y="9789"/>
                  <a:pt x="3309" y="9790"/>
                  <a:pt x="3309" y="9790"/>
                </a:cubicBezTo>
                <a:cubicBezTo>
                  <a:pt x="3309" y="9799"/>
                  <a:pt x="3308" y="9813"/>
                  <a:pt x="3308" y="9819"/>
                </a:cubicBezTo>
                <a:cubicBezTo>
                  <a:pt x="3308" y="9840"/>
                  <a:pt x="3305" y="9860"/>
                  <a:pt x="3301" y="9864"/>
                </a:cubicBezTo>
                <a:cubicBezTo>
                  <a:pt x="3300" y="9864"/>
                  <a:pt x="3298" y="9870"/>
                  <a:pt x="3297" y="9871"/>
                </a:cubicBezTo>
                <a:cubicBezTo>
                  <a:pt x="3293" y="9879"/>
                  <a:pt x="3289" y="9908"/>
                  <a:pt x="3287" y="9945"/>
                </a:cubicBezTo>
                <a:cubicBezTo>
                  <a:pt x="3287" y="9952"/>
                  <a:pt x="3287" y="9956"/>
                  <a:pt x="3286" y="9963"/>
                </a:cubicBezTo>
                <a:cubicBezTo>
                  <a:pt x="3280" y="10069"/>
                  <a:pt x="3277" y="10271"/>
                  <a:pt x="3277" y="10653"/>
                </a:cubicBezTo>
                <a:cubicBezTo>
                  <a:pt x="3277" y="11221"/>
                  <a:pt x="3281" y="11353"/>
                  <a:pt x="3299" y="11390"/>
                </a:cubicBezTo>
                <a:cubicBezTo>
                  <a:pt x="3303" y="11398"/>
                  <a:pt x="3310" y="11461"/>
                  <a:pt x="3314" y="11531"/>
                </a:cubicBezTo>
                <a:cubicBezTo>
                  <a:pt x="3317" y="11602"/>
                  <a:pt x="3323" y="11666"/>
                  <a:pt x="3326" y="11673"/>
                </a:cubicBezTo>
                <a:cubicBezTo>
                  <a:pt x="3328" y="11680"/>
                  <a:pt x="3330" y="11704"/>
                  <a:pt x="3330" y="11725"/>
                </a:cubicBezTo>
                <a:cubicBezTo>
                  <a:pt x="3330" y="11769"/>
                  <a:pt x="3339" y="11819"/>
                  <a:pt x="3351" y="11835"/>
                </a:cubicBezTo>
                <a:cubicBezTo>
                  <a:pt x="3355" y="11841"/>
                  <a:pt x="3358" y="11863"/>
                  <a:pt x="3358" y="11884"/>
                </a:cubicBezTo>
                <a:cubicBezTo>
                  <a:pt x="3358" y="11906"/>
                  <a:pt x="3361" y="11927"/>
                  <a:pt x="3364" y="11931"/>
                </a:cubicBezTo>
                <a:cubicBezTo>
                  <a:pt x="3367" y="11936"/>
                  <a:pt x="3370" y="11961"/>
                  <a:pt x="3370" y="11989"/>
                </a:cubicBezTo>
                <a:cubicBezTo>
                  <a:pt x="3370" y="12061"/>
                  <a:pt x="3381" y="12141"/>
                  <a:pt x="3390" y="12141"/>
                </a:cubicBezTo>
                <a:cubicBezTo>
                  <a:pt x="3401" y="12141"/>
                  <a:pt x="3408" y="12177"/>
                  <a:pt x="3416" y="12282"/>
                </a:cubicBezTo>
                <a:cubicBezTo>
                  <a:pt x="3421" y="12350"/>
                  <a:pt x="3426" y="12379"/>
                  <a:pt x="3436" y="12394"/>
                </a:cubicBezTo>
                <a:cubicBezTo>
                  <a:pt x="3443" y="12405"/>
                  <a:pt x="3449" y="12423"/>
                  <a:pt x="3449" y="12436"/>
                </a:cubicBezTo>
                <a:cubicBezTo>
                  <a:pt x="3449" y="12449"/>
                  <a:pt x="3454" y="12470"/>
                  <a:pt x="3460" y="12483"/>
                </a:cubicBezTo>
                <a:cubicBezTo>
                  <a:pt x="3465" y="12496"/>
                  <a:pt x="3472" y="12526"/>
                  <a:pt x="3474" y="12551"/>
                </a:cubicBezTo>
                <a:cubicBezTo>
                  <a:pt x="3476" y="12584"/>
                  <a:pt x="3480" y="12600"/>
                  <a:pt x="3489" y="12603"/>
                </a:cubicBezTo>
                <a:cubicBezTo>
                  <a:pt x="3498" y="12606"/>
                  <a:pt x="3504" y="12620"/>
                  <a:pt x="3509" y="12653"/>
                </a:cubicBezTo>
                <a:cubicBezTo>
                  <a:pt x="3512" y="12682"/>
                  <a:pt x="3520" y="12707"/>
                  <a:pt x="3529" y="12718"/>
                </a:cubicBezTo>
                <a:cubicBezTo>
                  <a:pt x="3538" y="12728"/>
                  <a:pt x="3548" y="12755"/>
                  <a:pt x="3551" y="12776"/>
                </a:cubicBezTo>
                <a:cubicBezTo>
                  <a:pt x="3554" y="12800"/>
                  <a:pt x="3562" y="12819"/>
                  <a:pt x="3573" y="12828"/>
                </a:cubicBezTo>
                <a:cubicBezTo>
                  <a:pt x="3582" y="12836"/>
                  <a:pt x="3590" y="12852"/>
                  <a:pt x="3592" y="12865"/>
                </a:cubicBezTo>
                <a:cubicBezTo>
                  <a:pt x="3598" y="12898"/>
                  <a:pt x="3619" y="12943"/>
                  <a:pt x="3636" y="12961"/>
                </a:cubicBezTo>
                <a:cubicBezTo>
                  <a:pt x="3644" y="12970"/>
                  <a:pt x="3651" y="12985"/>
                  <a:pt x="3651" y="12995"/>
                </a:cubicBezTo>
                <a:cubicBezTo>
                  <a:pt x="3651" y="13007"/>
                  <a:pt x="3666" y="13029"/>
                  <a:pt x="3688" y="13048"/>
                </a:cubicBezTo>
                <a:cubicBezTo>
                  <a:pt x="3710" y="13066"/>
                  <a:pt x="3727" y="13088"/>
                  <a:pt x="3728" y="13100"/>
                </a:cubicBezTo>
                <a:cubicBezTo>
                  <a:pt x="3730" y="13114"/>
                  <a:pt x="3742" y="13126"/>
                  <a:pt x="3762" y="13137"/>
                </a:cubicBezTo>
                <a:cubicBezTo>
                  <a:pt x="3818" y="13164"/>
                  <a:pt x="3845" y="13187"/>
                  <a:pt x="3856" y="13212"/>
                </a:cubicBezTo>
                <a:cubicBezTo>
                  <a:pt x="3863" y="13229"/>
                  <a:pt x="3871" y="13233"/>
                  <a:pt x="3881" y="13228"/>
                </a:cubicBezTo>
                <a:cubicBezTo>
                  <a:pt x="3889" y="13224"/>
                  <a:pt x="3902" y="13229"/>
                  <a:pt x="3911" y="13241"/>
                </a:cubicBezTo>
                <a:cubicBezTo>
                  <a:pt x="3922" y="13254"/>
                  <a:pt x="3952" y="13265"/>
                  <a:pt x="3991" y="13270"/>
                </a:cubicBezTo>
                <a:cubicBezTo>
                  <a:pt x="4025" y="13274"/>
                  <a:pt x="4055" y="13284"/>
                  <a:pt x="4058" y="13291"/>
                </a:cubicBezTo>
                <a:cubicBezTo>
                  <a:pt x="4062" y="13299"/>
                  <a:pt x="4064" y="13465"/>
                  <a:pt x="4064" y="13738"/>
                </a:cubicBezTo>
                <a:lnTo>
                  <a:pt x="4064" y="14174"/>
                </a:lnTo>
                <a:lnTo>
                  <a:pt x="4058" y="14174"/>
                </a:lnTo>
                <a:lnTo>
                  <a:pt x="3333" y="14180"/>
                </a:lnTo>
                <a:cubicBezTo>
                  <a:pt x="2934" y="14183"/>
                  <a:pt x="2607" y="14188"/>
                  <a:pt x="2606" y="14190"/>
                </a:cubicBezTo>
                <a:cubicBezTo>
                  <a:pt x="2605" y="14192"/>
                  <a:pt x="2605" y="14644"/>
                  <a:pt x="2605" y="15194"/>
                </a:cubicBezTo>
                <a:cubicBezTo>
                  <a:pt x="2605" y="15759"/>
                  <a:pt x="2602" y="16196"/>
                  <a:pt x="2599" y="16200"/>
                </a:cubicBezTo>
                <a:cubicBezTo>
                  <a:pt x="2597" y="16204"/>
                  <a:pt x="2188" y="16208"/>
                  <a:pt x="1690" y="16208"/>
                </a:cubicBezTo>
                <a:cubicBezTo>
                  <a:pt x="1081" y="16209"/>
                  <a:pt x="773" y="16212"/>
                  <a:pt x="748" y="16221"/>
                </a:cubicBezTo>
                <a:cubicBezTo>
                  <a:pt x="728" y="16229"/>
                  <a:pt x="703" y="16238"/>
                  <a:pt x="693" y="16240"/>
                </a:cubicBezTo>
                <a:cubicBezTo>
                  <a:pt x="682" y="16241"/>
                  <a:pt x="672" y="16253"/>
                  <a:pt x="669" y="16266"/>
                </a:cubicBezTo>
                <a:cubicBezTo>
                  <a:pt x="666" y="16278"/>
                  <a:pt x="656" y="16287"/>
                  <a:pt x="648" y="16287"/>
                </a:cubicBezTo>
                <a:cubicBezTo>
                  <a:pt x="640" y="16287"/>
                  <a:pt x="628" y="16297"/>
                  <a:pt x="622" y="16308"/>
                </a:cubicBezTo>
                <a:cubicBezTo>
                  <a:pt x="616" y="16318"/>
                  <a:pt x="600" y="16329"/>
                  <a:pt x="586" y="16334"/>
                </a:cubicBezTo>
                <a:cubicBezTo>
                  <a:pt x="555" y="16345"/>
                  <a:pt x="529" y="16368"/>
                  <a:pt x="529" y="16383"/>
                </a:cubicBezTo>
                <a:cubicBezTo>
                  <a:pt x="529" y="16400"/>
                  <a:pt x="501" y="16433"/>
                  <a:pt x="476" y="16443"/>
                </a:cubicBezTo>
                <a:cubicBezTo>
                  <a:pt x="461" y="16450"/>
                  <a:pt x="454" y="16460"/>
                  <a:pt x="452" y="16477"/>
                </a:cubicBezTo>
                <a:cubicBezTo>
                  <a:pt x="450" y="16492"/>
                  <a:pt x="435" y="16519"/>
                  <a:pt x="415" y="16543"/>
                </a:cubicBezTo>
                <a:cubicBezTo>
                  <a:pt x="393" y="16569"/>
                  <a:pt x="377" y="16600"/>
                  <a:pt x="370" y="16626"/>
                </a:cubicBezTo>
                <a:cubicBezTo>
                  <a:pt x="364" y="16652"/>
                  <a:pt x="354" y="16672"/>
                  <a:pt x="344" y="16676"/>
                </a:cubicBezTo>
                <a:cubicBezTo>
                  <a:pt x="332" y="16682"/>
                  <a:pt x="327" y="16692"/>
                  <a:pt x="325" y="16721"/>
                </a:cubicBezTo>
                <a:cubicBezTo>
                  <a:pt x="322" y="16745"/>
                  <a:pt x="316" y="16767"/>
                  <a:pt x="305" y="16781"/>
                </a:cubicBezTo>
                <a:cubicBezTo>
                  <a:pt x="296" y="16792"/>
                  <a:pt x="285" y="16818"/>
                  <a:pt x="281" y="16838"/>
                </a:cubicBezTo>
                <a:cubicBezTo>
                  <a:pt x="277" y="16859"/>
                  <a:pt x="267" y="16883"/>
                  <a:pt x="258" y="16893"/>
                </a:cubicBezTo>
                <a:cubicBezTo>
                  <a:pt x="249" y="16904"/>
                  <a:pt x="242" y="16922"/>
                  <a:pt x="242" y="16938"/>
                </a:cubicBezTo>
                <a:cubicBezTo>
                  <a:pt x="242" y="16952"/>
                  <a:pt x="236" y="16978"/>
                  <a:pt x="229" y="16995"/>
                </a:cubicBezTo>
                <a:cubicBezTo>
                  <a:pt x="221" y="17012"/>
                  <a:pt x="215" y="17038"/>
                  <a:pt x="215" y="17050"/>
                </a:cubicBezTo>
                <a:cubicBezTo>
                  <a:pt x="215" y="17062"/>
                  <a:pt x="210" y="17076"/>
                  <a:pt x="205" y="17081"/>
                </a:cubicBezTo>
                <a:cubicBezTo>
                  <a:pt x="192" y="17093"/>
                  <a:pt x="181" y="17127"/>
                  <a:pt x="181" y="17157"/>
                </a:cubicBezTo>
                <a:cubicBezTo>
                  <a:pt x="181" y="17171"/>
                  <a:pt x="173" y="17197"/>
                  <a:pt x="164" y="17217"/>
                </a:cubicBezTo>
                <a:cubicBezTo>
                  <a:pt x="148" y="17256"/>
                  <a:pt x="135" y="17327"/>
                  <a:pt x="135" y="17379"/>
                </a:cubicBezTo>
                <a:cubicBezTo>
                  <a:pt x="135" y="17397"/>
                  <a:pt x="128" y="17427"/>
                  <a:pt x="119" y="17447"/>
                </a:cubicBezTo>
                <a:cubicBezTo>
                  <a:pt x="110" y="17467"/>
                  <a:pt x="101" y="17505"/>
                  <a:pt x="99" y="17528"/>
                </a:cubicBezTo>
                <a:cubicBezTo>
                  <a:pt x="97" y="17552"/>
                  <a:pt x="93" y="17574"/>
                  <a:pt x="90" y="17578"/>
                </a:cubicBezTo>
                <a:cubicBezTo>
                  <a:pt x="88" y="17582"/>
                  <a:pt x="85" y="17604"/>
                  <a:pt x="85" y="17625"/>
                </a:cubicBezTo>
                <a:cubicBezTo>
                  <a:pt x="85" y="17647"/>
                  <a:pt x="83" y="17668"/>
                  <a:pt x="80" y="17672"/>
                </a:cubicBezTo>
                <a:cubicBezTo>
                  <a:pt x="76" y="17677"/>
                  <a:pt x="74" y="17696"/>
                  <a:pt x="74" y="17714"/>
                </a:cubicBezTo>
                <a:cubicBezTo>
                  <a:pt x="74" y="17732"/>
                  <a:pt x="71" y="17750"/>
                  <a:pt x="66" y="17756"/>
                </a:cubicBezTo>
                <a:cubicBezTo>
                  <a:pt x="56" y="17770"/>
                  <a:pt x="28" y="18062"/>
                  <a:pt x="28" y="18156"/>
                </a:cubicBezTo>
                <a:cubicBezTo>
                  <a:pt x="28" y="18175"/>
                  <a:pt x="25" y="18197"/>
                  <a:pt x="21" y="18203"/>
                </a:cubicBezTo>
                <a:cubicBezTo>
                  <a:pt x="6" y="18223"/>
                  <a:pt x="0" y="18384"/>
                  <a:pt x="0" y="18864"/>
                </a:cubicBezTo>
                <a:cubicBezTo>
                  <a:pt x="0" y="19342"/>
                  <a:pt x="5" y="19472"/>
                  <a:pt x="21" y="19494"/>
                </a:cubicBezTo>
                <a:cubicBezTo>
                  <a:pt x="25" y="19500"/>
                  <a:pt x="28" y="19522"/>
                  <a:pt x="28" y="19541"/>
                </a:cubicBezTo>
                <a:cubicBezTo>
                  <a:pt x="28" y="19635"/>
                  <a:pt x="56" y="19927"/>
                  <a:pt x="66" y="19941"/>
                </a:cubicBezTo>
                <a:cubicBezTo>
                  <a:pt x="71" y="19947"/>
                  <a:pt x="74" y="19965"/>
                  <a:pt x="74" y="19983"/>
                </a:cubicBezTo>
                <a:cubicBezTo>
                  <a:pt x="74" y="20001"/>
                  <a:pt x="76" y="20020"/>
                  <a:pt x="80" y="20025"/>
                </a:cubicBezTo>
                <a:cubicBezTo>
                  <a:pt x="83" y="20030"/>
                  <a:pt x="85" y="20051"/>
                  <a:pt x="85" y="20072"/>
                </a:cubicBezTo>
                <a:cubicBezTo>
                  <a:pt x="85" y="20093"/>
                  <a:pt x="88" y="20112"/>
                  <a:pt x="90" y="20116"/>
                </a:cubicBezTo>
                <a:cubicBezTo>
                  <a:pt x="93" y="20121"/>
                  <a:pt x="97" y="20145"/>
                  <a:pt x="99" y="20169"/>
                </a:cubicBezTo>
                <a:cubicBezTo>
                  <a:pt x="101" y="20193"/>
                  <a:pt x="110" y="20227"/>
                  <a:pt x="119" y="20247"/>
                </a:cubicBezTo>
                <a:cubicBezTo>
                  <a:pt x="128" y="20267"/>
                  <a:pt x="135" y="20298"/>
                  <a:pt x="135" y="20315"/>
                </a:cubicBezTo>
                <a:cubicBezTo>
                  <a:pt x="135" y="20368"/>
                  <a:pt x="148" y="20441"/>
                  <a:pt x="164" y="20480"/>
                </a:cubicBezTo>
                <a:cubicBezTo>
                  <a:pt x="173" y="20500"/>
                  <a:pt x="181" y="20527"/>
                  <a:pt x="181" y="20540"/>
                </a:cubicBezTo>
                <a:cubicBezTo>
                  <a:pt x="181" y="20570"/>
                  <a:pt x="192" y="20604"/>
                  <a:pt x="205" y="20616"/>
                </a:cubicBezTo>
                <a:cubicBezTo>
                  <a:pt x="210" y="20621"/>
                  <a:pt x="215" y="20637"/>
                  <a:pt x="215" y="20652"/>
                </a:cubicBezTo>
                <a:cubicBezTo>
                  <a:pt x="215" y="20667"/>
                  <a:pt x="221" y="20691"/>
                  <a:pt x="229" y="20707"/>
                </a:cubicBezTo>
                <a:cubicBezTo>
                  <a:pt x="236" y="20723"/>
                  <a:pt x="242" y="20749"/>
                  <a:pt x="242" y="20762"/>
                </a:cubicBezTo>
                <a:cubicBezTo>
                  <a:pt x="242" y="20776"/>
                  <a:pt x="246" y="20788"/>
                  <a:pt x="249" y="20788"/>
                </a:cubicBezTo>
                <a:cubicBezTo>
                  <a:pt x="259" y="20788"/>
                  <a:pt x="288" y="20856"/>
                  <a:pt x="288" y="20877"/>
                </a:cubicBezTo>
                <a:cubicBezTo>
                  <a:pt x="288" y="20887"/>
                  <a:pt x="294" y="20903"/>
                  <a:pt x="303" y="20914"/>
                </a:cubicBezTo>
                <a:cubicBezTo>
                  <a:pt x="311" y="20924"/>
                  <a:pt x="322" y="20954"/>
                  <a:pt x="328" y="20979"/>
                </a:cubicBezTo>
                <a:cubicBezTo>
                  <a:pt x="333" y="21004"/>
                  <a:pt x="346" y="21032"/>
                  <a:pt x="355" y="21042"/>
                </a:cubicBezTo>
                <a:cubicBezTo>
                  <a:pt x="364" y="21052"/>
                  <a:pt x="374" y="21074"/>
                  <a:pt x="377" y="21089"/>
                </a:cubicBezTo>
                <a:cubicBezTo>
                  <a:pt x="380" y="21107"/>
                  <a:pt x="395" y="21128"/>
                  <a:pt x="420" y="21152"/>
                </a:cubicBezTo>
                <a:cubicBezTo>
                  <a:pt x="448" y="21177"/>
                  <a:pt x="459" y="21196"/>
                  <a:pt x="461" y="21214"/>
                </a:cubicBezTo>
                <a:cubicBezTo>
                  <a:pt x="463" y="21248"/>
                  <a:pt x="471" y="21259"/>
                  <a:pt x="490" y="21259"/>
                </a:cubicBezTo>
                <a:cubicBezTo>
                  <a:pt x="513" y="21259"/>
                  <a:pt x="540" y="21294"/>
                  <a:pt x="548" y="21329"/>
                </a:cubicBezTo>
                <a:cubicBezTo>
                  <a:pt x="554" y="21361"/>
                  <a:pt x="573" y="21374"/>
                  <a:pt x="641" y="21403"/>
                </a:cubicBezTo>
                <a:cubicBezTo>
                  <a:pt x="652" y="21407"/>
                  <a:pt x="665" y="21420"/>
                  <a:pt x="669" y="21431"/>
                </a:cubicBezTo>
                <a:cubicBezTo>
                  <a:pt x="672" y="21443"/>
                  <a:pt x="684" y="21456"/>
                  <a:pt x="694" y="21458"/>
                </a:cubicBezTo>
                <a:cubicBezTo>
                  <a:pt x="704" y="21459"/>
                  <a:pt x="728" y="21465"/>
                  <a:pt x="748" y="21473"/>
                </a:cubicBezTo>
                <a:cubicBezTo>
                  <a:pt x="799" y="21493"/>
                  <a:pt x="3026" y="21493"/>
                  <a:pt x="3077" y="21473"/>
                </a:cubicBezTo>
                <a:cubicBezTo>
                  <a:pt x="3097" y="21465"/>
                  <a:pt x="3122" y="21459"/>
                  <a:pt x="3132" y="21458"/>
                </a:cubicBezTo>
                <a:cubicBezTo>
                  <a:pt x="3142" y="21456"/>
                  <a:pt x="3154" y="21443"/>
                  <a:pt x="3158" y="21431"/>
                </a:cubicBezTo>
                <a:cubicBezTo>
                  <a:pt x="3162" y="21420"/>
                  <a:pt x="3173" y="21407"/>
                  <a:pt x="3184" y="21403"/>
                </a:cubicBezTo>
                <a:cubicBezTo>
                  <a:pt x="3255" y="21373"/>
                  <a:pt x="3272" y="21359"/>
                  <a:pt x="3279" y="21324"/>
                </a:cubicBezTo>
                <a:cubicBezTo>
                  <a:pt x="3285" y="21291"/>
                  <a:pt x="3297" y="21279"/>
                  <a:pt x="3348" y="21254"/>
                </a:cubicBezTo>
                <a:cubicBezTo>
                  <a:pt x="3358" y="21249"/>
                  <a:pt x="3364" y="21237"/>
                  <a:pt x="3365" y="21217"/>
                </a:cubicBezTo>
                <a:cubicBezTo>
                  <a:pt x="3366" y="21193"/>
                  <a:pt x="3376" y="21179"/>
                  <a:pt x="3409" y="21149"/>
                </a:cubicBezTo>
                <a:cubicBezTo>
                  <a:pt x="3442" y="21120"/>
                  <a:pt x="3453" y="21101"/>
                  <a:pt x="3461" y="21071"/>
                </a:cubicBezTo>
                <a:cubicBezTo>
                  <a:pt x="3466" y="21049"/>
                  <a:pt x="3474" y="21031"/>
                  <a:pt x="3478" y="21031"/>
                </a:cubicBezTo>
                <a:cubicBezTo>
                  <a:pt x="3482" y="21031"/>
                  <a:pt x="3491" y="21008"/>
                  <a:pt x="3497" y="20982"/>
                </a:cubicBezTo>
                <a:cubicBezTo>
                  <a:pt x="3502" y="20955"/>
                  <a:pt x="3514" y="20924"/>
                  <a:pt x="3523" y="20914"/>
                </a:cubicBezTo>
                <a:cubicBezTo>
                  <a:pt x="3531" y="20903"/>
                  <a:pt x="3538" y="20888"/>
                  <a:pt x="3538" y="20880"/>
                </a:cubicBezTo>
                <a:cubicBezTo>
                  <a:pt x="3538" y="20858"/>
                  <a:pt x="3567" y="20788"/>
                  <a:pt x="3576" y="20788"/>
                </a:cubicBezTo>
                <a:cubicBezTo>
                  <a:pt x="3580" y="20788"/>
                  <a:pt x="3584" y="20777"/>
                  <a:pt x="3584" y="20765"/>
                </a:cubicBezTo>
                <a:cubicBezTo>
                  <a:pt x="3584" y="20753"/>
                  <a:pt x="3590" y="20730"/>
                  <a:pt x="3598" y="20712"/>
                </a:cubicBezTo>
                <a:cubicBezTo>
                  <a:pt x="3606" y="20695"/>
                  <a:pt x="3612" y="20668"/>
                  <a:pt x="3612" y="20652"/>
                </a:cubicBezTo>
                <a:cubicBezTo>
                  <a:pt x="3612" y="20637"/>
                  <a:pt x="3616" y="20621"/>
                  <a:pt x="3622" y="20616"/>
                </a:cubicBezTo>
                <a:cubicBezTo>
                  <a:pt x="3635" y="20604"/>
                  <a:pt x="3644" y="20570"/>
                  <a:pt x="3645" y="20540"/>
                </a:cubicBezTo>
                <a:cubicBezTo>
                  <a:pt x="3645" y="20527"/>
                  <a:pt x="3652" y="20500"/>
                  <a:pt x="3661" y="20480"/>
                </a:cubicBezTo>
                <a:cubicBezTo>
                  <a:pt x="3677" y="20441"/>
                  <a:pt x="3690" y="20368"/>
                  <a:pt x="3690" y="20315"/>
                </a:cubicBezTo>
                <a:cubicBezTo>
                  <a:pt x="3690" y="20297"/>
                  <a:pt x="3697" y="20268"/>
                  <a:pt x="3707" y="20247"/>
                </a:cubicBezTo>
                <a:cubicBezTo>
                  <a:pt x="3716" y="20226"/>
                  <a:pt x="3724" y="20200"/>
                  <a:pt x="3724" y="20190"/>
                </a:cubicBezTo>
                <a:cubicBezTo>
                  <a:pt x="3724" y="20180"/>
                  <a:pt x="3728" y="20160"/>
                  <a:pt x="3733" y="20145"/>
                </a:cubicBezTo>
                <a:cubicBezTo>
                  <a:pt x="3737" y="20131"/>
                  <a:pt x="3740" y="20101"/>
                  <a:pt x="3740" y="20077"/>
                </a:cubicBezTo>
                <a:cubicBezTo>
                  <a:pt x="3740" y="20053"/>
                  <a:pt x="3744" y="20030"/>
                  <a:pt x="3747" y="20025"/>
                </a:cubicBezTo>
                <a:cubicBezTo>
                  <a:pt x="3750" y="20020"/>
                  <a:pt x="3752" y="20001"/>
                  <a:pt x="3752" y="19983"/>
                </a:cubicBezTo>
                <a:cubicBezTo>
                  <a:pt x="3752" y="19965"/>
                  <a:pt x="3756" y="19947"/>
                  <a:pt x="3760" y="19941"/>
                </a:cubicBezTo>
                <a:cubicBezTo>
                  <a:pt x="3770" y="19927"/>
                  <a:pt x="3797" y="19635"/>
                  <a:pt x="3797" y="19541"/>
                </a:cubicBezTo>
                <a:cubicBezTo>
                  <a:pt x="3797" y="19522"/>
                  <a:pt x="3800" y="19500"/>
                  <a:pt x="3805" y="19494"/>
                </a:cubicBezTo>
                <a:cubicBezTo>
                  <a:pt x="3821" y="19472"/>
                  <a:pt x="3825" y="19342"/>
                  <a:pt x="3825" y="18864"/>
                </a:cubicBezTo>
                <a:cubicBezTo>
                  <a:pt x="3825" y="18384"/>
                  <a:pt x="3821" y="18223"/>
                  <a:pt x="3806" y="18203"/>
                </a:cubicBezTo>
                <a:cubicBezTo>
                  <a:pt x="3801" y="18197"/>
                  <a:pt x="3797" y="18175"/>
                  <a:pt x="3797" y="18156"/>
                </a:cubicBezTo>
                <a:cubicBezTo>
                  <a:pt x="3797" y="18062"/>
                  <a:pt x="3770" y="17770"/>
                  <a:pt x="3760" y="17756"/>
                </a:cubicBezTo>
                <a:cubicBezTo>
                  <a:pt x="3756" y="17750"/>
                  <a:pt x="3752" y="17732"/>
                  <a:pt x="3752" y="17714"/>
                </a:cubicBezTo>
                <a:cubicBezTo>
                  <a:pt x="3752" y="17696"/>
                  <a:pt x="3750" y="17677"/>
                  <a:pt x="3747" y="17672"/>
                </a:cubicBezTo>
                <a:cubicBezTo>
                  <a:pt x="3744" y="17668"/>
                  <a:pt x="3740" y="17644"/>
                  <a:pt x="3740" y="17620"/>
                </a:cubicBezTo>
                <a:cubicBezTo>
                  <a:pt x="3740" y="17596"/>
                  <a:pt x="3737" y="17564"/>
                  <a:pt x="3733" y="17549"/>
                </a:cubicBezTo>
                <a:cubicBezTo>
                  <a:pt x="3728" y="17535"/>
                  <a:pt x="3724" y="17515"/>
                  <a:pt x="3724" y="17505"/>
                </a:cubicBezTo>
                <a:cubicBezTo>
                  <a:pt x="3724" y="17495"/>
                  <a:pt x="3716" y="17471"/>
                  <a:pt x="3707" y="17450"/>
                </a:cubicBezTo>
                <a:cubicBezTo>
                  <a:pt x="3697" y="17429"/>
                  <a:pt x="3690" y="17397"/>
                  <a:pt x="3690" y="17379"/>
                </a:cubicBezTo>
                <a:cubicBezTo>
                  <a:pt x="3690" y="17327"/>
                  <a:pt x="3677" y="17256"/>
                  <a:pt x="3661" y="17217"/>
                </a:cubicBezTo>
                <a:cubicBezTo>
                  <a:pt x="3652" y="17197"/>
                  <a:pt x="3645" y="17171"/>
                  <a:pt x="3645" y="17157"/>
                </a:cubicBezTo>
                <a:cubicBezTo>
                  <a:pt x="3644" y="17127"/>
                  <a:pt x="3635" y="17093"/>
                  <a:pt x="3622" y="17081"/>
                </a:cubicBezTo>
                <a:cubicBezTo>
                  <a:pt x="3616" y="17076"/>
                  <a:pt x="3612" y="17061"/>
                  <a:pt x="3612" y="17047"/>
                </a:cubicBezTo>
                <a:cubicBezTo>
                  <a:pt x="3612" y="17034"/>
                  <a:pt x="3606" y="17007"/>
                  <a:pt x="3598" y="16990"/>
                </a:cubicBezTo>
                <a:cubicBezTo>
                  <a:pt x="3590" y="16972"/>
                  <a:pt x="3584" y="16948"/>
                  <a:pt x="3584" y="16935"/>
                </a:cubicBezTo>
                <a:cubicBezTo>
                  <a:pt x="3584" y="16922"/>
                  <a:pt x="3577" y="16903"/>
                  <a:pt x="3568" y="16893"/>
                </a:cubicBezTo>
                <a:cubicBezTo>
                  <a:pt x="3560" y="16883"/>
                  <a:pt x="3550" y="16859"/>
                  <a:pt x="3546" y="16838"/>
                </a:cubicBezTo>
                <a:cubicBezTo>
                  <a:pt x="3541" y="16818"/>
                  <a:pt x="3530" y="16792"/>
                  <a:pt x="3520" y="16781"/>
                </a:cubicBezTo>
                <a:cubicBezTo>
                  <a:pt x="3510" y="16767"/>
                  <a:pt x="3503" y="16745"/>
                  <a:pt x="3501" y="16721"/>
                </a:cubicBezTo>
                <a:cubicBezTo>
                  <a:pt x="3498" y="16691"/>
                  <a:pt x="3494" y="16680"/>
                  <a:pt x="3481" y="16674"/>
                </a:cubicBezTo>
                <a:cubicBezTo>
                  <a:pt x="3470" y="16668"/>
                  <a:pt x="3463" y="16655"/>
                  <a:pt x="3460" y="16629"/>
                </a:cubicBezTo>
                <a:cubicBezTo>
                  <a:pt x="3455" y="16601"/>
                  <a:pt x="3444" y="16581"/>
                  <a:pt x="3415" y="16548"/>
                </a:cubicBezTo>
                <a:cubicBezTo>
                  <a:pt x="3392" y="16522"/>
                  <a:pt x="3375" y="16493"/>
                  <a:pt x="3373" y="16477"/>
                </a:cubicBezTo>
                <a:cubicBezTo>
                  <a:pt x="3372" y="16462"/>
                  <a:pt x="3364" y="16449"/>
                  <a:pt x="3352" y="16443"/>
                </a:cubicBezTo>
                <a:cubicBezTo>
                  <a:pt x="3327" y="16432"/>
                  <a:pt x="3296" y="16398"/>
                  <a:pt x="3296" y="16383"/>
                </a:cubicBezTo>
                <a:cubicBezTo>
                  <a:pt x="3296" y="16368"/>
                  <a:pt x="3271" y="16345"/>
                  <a:pt x="3241" y="16334"/>
                </a:cubicBezTo>
                <a:cubicBezTo>
                  <a:pt x="3227" y="16329"/>
                  <a:pt x="3210" y="16318"/>
                  <a:pt x="3204" y="16308"/>
                </a:cubicBezTo>
                <a:cubicBezTo>
                  <a:pt x="3198" y="16297"/>
                  <a:pt x="3186" y="16287"/>
                  <a:pt x="3177" y="16287"/>
                </a:cubicBezTo>
                <a:cubicBezTo>
                  <a:pt x="3169" y="16287"/>
                  <a:pt x="3160" y="16278"/>
                  <a:pt x="3157" y="16266"/>
                </a:cubicBezTo>
                <a:cubicBezTo>
                  <a:pt x="3154" y="16253"/>
                  <a:pt x="3144" y="16241"/>
                  <a:pt x="3133" y="16240"/>
                </a:cubicBezTo>
                <a:cubicBezTo>
                  <a:pt x="3122" y="16238"/>
                  <a:pt x="3098" y="16231"/>
                  <a:pt x="3079" y="16224"/>
                </a:cubicBezTo>
                <a:cubicBezTo>
                  <a:pt x="3061" y="16217"/>
                  <a:pt x="2957" y="16209"/>
                  <a:pt x="2849" y="16208"/>
                </a:cubicBezTo>
                <a:cubicBezTo>
                  <a:pt x="2741" y="16207"/>
                  <a:pt x="2651" y="16201"/>
                  <a:pt x="2648" y="16195"/>
                </a:cubicBezTo>
                <a:cubicBezTo>
                  <a:pt x="2646" y="16189"/>
                  <a:pt x="2644" y="15757"/>
                  <a:pt x="2645" y="15233"/>
                </a:cubicBezTo>
                <a:lnTo>
                  <a:pt x="2647" y="14295"/>
                </a:lnTo>
                <a:lnTo>
                  <a:pt x="2647" y="14282"/>
                </a:lnTo>
                <a:lnTo>
                  <a:pt x="3373" y="14279"/>
                </a:lnTo>
                <a:cubicBezTo>
                  <a:pt x="3756" y="14277"/>
                  <a:pt x="4043" y="14273"/>
                  <a:pt x="4070" y="14271"/>
                </a:cubicBezTo>
                <a:cubicBezTo>
                  <a:pt x="4083" y="14270"/>
                  <a:pt x="4100" y="14270"/>
                  <a:pt x="4101" y="14268"/>
                </a:cubicBezTo>
                <a:cubicBezTo>
                  <a:pt x="4102" y="14267"/>
                  <a:pt x="4101" y="14239"/>
                  <a:pt x="4102" y="14227"/>
                </a:cubicBezTo>
                <a:cubicBezTo>
                  <a:pt x="4103" y="14189"/>
                  <a:pt x="4105" y="14021"/>
                  <a:pt x="4106" y="13774"/>
                </a:cubicBezTo>
                <a:lnTo>
                  <a:pt x="4110" y="13283"/>
                </a:lnTo>
                <a:lnTo>
                  <a:pt x="4815" y="13283"/>
                </a:lnTo>
                <a:lnTo>
                  <a:pt x="5521" y="13283"/>
                </a:lnTo>
                <a:lnTo>
                  <a:pt x="5524" y="13774"/>
                </a:lnTo>
                <a:lnTo>
                  <a:pt x="5526" y="14268"/>
                </a:lnTo>
                <a:lnTo>
                  <a:pt x="6311" y="14274"/>
                </a:lnTo>
                <a:lnTo>
                  <a:pt x="7096" y="14282"/>
                </a:lnTo>
                <a:lnTo>
                  <a:pt x="7096" y="14295"/>
                </a:lnTo>
                <a:lnTo>
                  <a:pt x="7096" y="15147"/>
                </a:lnTo>
                <a:lnTo>
                  <a:pt x="7096" y="15301"/>
                </a:lnTo>
                <a:lnTo>
                  <a:pt x="7096" y="15996"/>
                </a:lnTo>
                <a:lnTo>
                  <a:pt x="7096" y="16321"/>
                </a:lnTo>
                <a:lnTo>
                  <a:pt x="6891" y="16331"/>
                </a:lnTo>
                <a:cubicBezTo>
                  <a:pt x="6772" y="16336"/>
                  <a:pt x="6679" y="16347"/>
                  <a:pt x="6671" y="16355"/>
                </a:cubicBezTo>
                <a:cubicBezTo>
                  <a:pt x="6663" y="16362"/>
                  <a:pt x="6651" y="16364"/>
                  <a:pt x="6645" y="16360"/>
                </a:cubicBezTo>
                <a:cubicBezTo>
                  <a:pt x="6638" y="16356"/>
                  <a:pt x="6629" y="16363"/>
                  <a:pt x="6623" y="16378"/>
                </a:cubicBezTo>
                <a:cubicBezTo>
                  <a:pt x="6613" y="16403"/>
                  <a:pt x="6592" y="16420"/>
                  <a:pt x="6525" y="16451"/>
                </a:cubicBezTo>
                <a:cubicBezTo>
                  <a:pt x="6504" y="16461"/>
                  <a:pt x="6486" y="16478"/>
                  <a:pt x="6475" y="16504"/>
                </a:cubicBezTo>
                <a:cubicBezTo>
                  <a:pt x="6463" y="16528"/>
                  <a:pt x="6447" y="16545"/>
                  <a:pt x="6431" y="16551"/>
                </a:cubicBezTo>
                <a:cubicBezTo>
                  <a:pt x="6411" y="16558"/>
                  <a:pt x="6406" y="16567"/>
                  <a:pt x="6402" y="16593"/>
                </a:cubicBezTo>
                <a:cubicBezTo>
                  <a:pt x="6399" y="16611"/>
                  <a:pt x="6393" y="16626"/>
                  <a:pt x="6390" y="16626"/>
                </a:cubicBezTo>
                <a:cubicBezTo>
                  <a:pt x="6386" y="16626"/>
                  <a:pt x="6376" y="16642"/>
                  <a:pt x="6367" y="16660"/>
                </a:cubicBezTo>
                <a:cubicBezTo>
                  <a:pt x="6358" y="16679"/>
                  <a:pt x="6346" y="16694"/>
                  <a:pt x="6342" y="16694"/>
                </a:cubicBezTo>
                <a:cubicBezTo>
                  <a:pt x="6338" y="16694"/>
                  <a:pt x="6332" y="16711"/>
                  <a:pt x="6328" y="16731"/>
                </a:cubicBezTo>
                <a:cubicBezTo>
                  <a:pt x="6323" y="16754"/>
                  <a:pt x="6313" y="16773"/>
                  <a:pt x="6302" y="16781"/>
                </a:cubicBezTo>
                <a:cubicBezTo>
                  <a:pt x="6290" y="16789"/>
                  <a:pt x="6283" y="16803"/>
                  <a:pt x="6283" y="16817"/>
                </a:cubicBezTo>
                <a:cubicBezTo>
                  <a:pt x="6283" y="16845"/>
                  <a:pt x="6258" y="16896"/>
                  <a:pt x="6244" y="16896"/>
                </a:cubicBezTo>
                <a:cubicBezTo>
                  <a:pt x="6237" y="16896"/>
                  <a:pt x="6233" y="16910"/>
                  <a:pt x="6231" y="16943"/>
                </a:cubicBezTo>
                <a:cubicBezTo>
                  <a:pt x="6228" y="16977"/>
                  <a:pt x="6222" y="16996"/>
                  <a:pt x="6210" y="17011"/>
                </a:cubicBezTo>
                <a:cubicBezTo>
                  <a:pt x="6201" y="17022"/>
                  <a:pt x="6194" y="17042"/>
                  <a:pt x="6194" y="17055"/>
                </a:cubicBezTo>
                <a:cubicBezTo>
                  <a:pt x="6194" y="17069"/>
                  <a:pt x="6188" y="17091"/>
                  <a:pt x="6182" y="17105"/>
                </a:cubicBezTo>
                <a:cubicBezTo>
                  <a:pt x="6176" y="17118"/>
                  <a:pt x="6171" y="17141"/>
                  <a:pt x="6171" y="17155"/>
                </a:cubicBezTo>
                <a:cubicBezTo>
                  <a:pt x="6171" y="17169"/>
                  <a:pt x="6165" y="17184"/>
                  <a:pt x="6158" y="17191"/>
                </a:cubicBezTo>
                <a:cubicBezTo>
                  <a:pt x="6146" y="17202"/>
                  <a:pt x="6126" y="17277"/>
                  <a:pt x="6126" y="17311"/>
                </a:cubicBezTo>
                <a:cubicBezTo>
                  <a:pt x="6126" y="17319"/>
                  <a:pt x="6120" y="17337"/>
                  <a:pt x="6113" y="17348"/>
                </a:cubicBezTo>
                <a:cubicBezTo>
                  <a:pt x="6101" y="17369"/>
                  <a:pt x="6086" y="17448"/>
                  <a:pt x="6086" y="17494"/>
                </a:cubicBezTo>
                <a:cubicBezTo>
                  <a:pt x="6086" y="17508"/>
                  <a:pt x="6080" y="17537"/>
                  <a:pt x="6071" y="17557"/>
                </a:cubicBezTo>
                <a:cubicBezTo>
                  <a:pt x="6059" y="17583"/>
                  <a:pt x="6052" y="17614"/>
                  <a:pt x="6047" y="17672"/>
                </a:cubicBezTo>
                <a:cubicBezTo>
                  <a:pt x="6043" y="17716"/>
                  <a:pt x="6038" y="17764"/>
                  <a:pt x="6035" y="17777"/>
                </a:cubicBezTo>
                <a:cubicBezTo>
                  <a:pt x="6032" y="17790"/>
                  <a:pt x="6030" y="17812"/>
                  <a:pt x="6030" y="17826"/>
                </a:cubicBezTo>
                <a:cubicBezTo>
                  <a:pt x="6030" y="17841"/>
                  <a:pt x="6027" y="17860"/>
                  <a:pt x="6023" y="17866"/>
                </a:cubicBezTo>
                <a:cubicBezTo>
                  <a:pt x="6014" y="17878"/>
                  <a:pt x="6002" y="17981"/>
                  <a:pt x="6002" y="18043"/>
                </a:cubicBezTo>
                <a:cubicBezTo>
                  <a:pt x="6002" y="18066"/>
                  <a:pt x="5998" y="18099"/>
                  <a:pt x="5993" y="18117"/>
                </a:cubicBezTo>
                <a:cubicBezTo>
                  <a:pt x="5989" y="18134"/>
                  <a:pt x="5983" y="18181"/>
                  <a:pt x="5981" y="18221"/>
                </a:cubicBezTo>
                <a:cubicBezTo>
                  <a:pt x="5980" y="18261"/>
                  <a:pt x="5976" y="18300"/>
                  <a:pt x="5972" y="18307"/>
                </a:cubicBezTo>
                <a:cubicBezTo>
                  <a:pt x="5955" y="18340"/>
                  <a:pt x="5949" y="18517"/>
                  <a:pt x="5949" y="18969"/>
                </a:cubicBezTo>
                <a:cubicBezTo>
                  <a:pt x="5949" y="19428"/>
                  <a:pt x="5954" y="19588"/>
                  <a:pt x="5972" y="19604"/>
                </a:cubicBezTo>
                <a:cubicBezTo>
                  <a:pt x="5976" y="19608"/>
                  <a:pt x="5979" y="19629"/>
                  <a:pt x="5979" y="19654"/>
                </a:cubicBezTo>
                <a:cubicBezTo>
                  <a:pt x="5979" y="19714"/>
                  <a:pt x="5991" y="19852"/>
                  <a:pt x="6000" y="19902"/>
                </a:cubicBezTo>
                <a:cubicBezTo>
                  <a:pt x="6004" y="19925"/>
                  <a:pt x="6009" y="19968"/>
                  <a:pt x="6011" y="19999"/>
                </a:cubicBezTo>
                <a:cubicBezTo>
                  <a:pt x="6013" y="20029"/>
                  <a:pt x="6019" y="20060"/>
                  <a:pt x="6023" y="20064"/>
                </a:cubicBezTo>
                <a:cubicBezTo>
                  <a:pt x="6027" y="20068"/>
                  <a:pt x="6030" y="20081"/>
                  <a:pt x="6030" y="20096"/>
                </a:cubicBezTo>
                <a:cubicBezTo>
                  <a:pt x="6030" y="20110"/>
                  <a:pt x="6033" y="20128"/>
                  <a:pt x="6036" y="20132"/>
                </a:cubicBezTo>
                <a:cubicBezTo>
                  <a:pt x="6039" y="20137"/>
                  <a:pt x="6041" y="20157"/>
                  <a:pt x="6041" y="20177"/>
                </a:cubicBezTo>
                <a:cubicBezTo>
                  <a:pt x="6041" y="20239"/>
                  <a:pt x="6057" y="20336"/>
                  <a:pt x="6072" y="20373"/>
                </a:cubicBezTo>
                <a:cubicBezTo>
                  <a:pt x="6080" y="20392"/>
                  <a:pt x="6086" y="20419"/>
                  <a:pt x="6086" y="20433"/>
                </a:cubicBezTo>
                <a:cubicBezTo>
                  <a:pt x="6086" y="20476"/>
                  <a:pt x="6101" y="20561"/>
                  <a:pt x="6111" y="20574"/>
                </a:cubicBezTo>
                <a:cubicBezTo>
                  <a:pt x="6116" y="20581"/>
                  <a:pt x="6127" y="20618"/>
                  <a:pt x="6135" y="20658"/>
                </a:cubicBezTo>
                <a:cubicBezTo>
                  <a:pt x="6143" y="20701"/>
                  <a:pt x="6152" y="20732"/>
                  <a:pt x="6159" y="20736"/>
                </a:cubicBezTo>
                <a:cubicBezTo>
                  <a:pt x="6165" y="20740"/>
                  <a:pt x="6171" y="20755"/>
                  <a:pt x="6171" y="20770"/>
                </a:cubicBezTo>
                <a:cubicBezTo>
                  <a:pt x="6171" y="20784"/>
                  <a:pt x="6176" y="20806"/>
                  <a:pt x="6182" y="20820"/>
                </a:cubicBezTo>
                <a:cubicBezTo>
                  <a:pt x="6188" y="20833"/>
                  <a:pt x="6194" y="20856"/>
                  <a:pt x="6194" y="20869"/>
                </a:cubicBezTo>
                <a:cubicBezTo>
                  <a:pt x="6194" y="20883"/>
                  <a:pt x="6201" y="20905"/>
                  <a:pt x="6210" y="20916"/>
                </a:cubicBezTo>
                <a:cubicBezTo>
                  <a:pt x="6221" y="20931"/>
                  <a:pt x="6229" y="20952"/>
                  <a:pt x="6231" y="20979"/>
                </a:cubicBezTo>
                <a:cubicBezTo>
                  <a:pt x="6233" y="21007"/>
                  <a:pt x="6239" y="21022"/>
                  <a:pt x="6249" y="21031"/>
                </a:cubicBezTo>
                <a:cubicBezTo>
                  <a:pt x="6269" y="21049"/>
                  <a:pt x="6283" y="21083"/>
                  <a:pt x="6283" y="21110"/>
                </a:cubicBezTo>
                <a:cubicBezTo>
                  <a:pt x="6283" y="21123"/>
                  <a:pt x="6291" y="21139"/>
                  <a:pt x="6302" y="21146"/>
                </a:cubicBezTo>
                <a:cubicBezTo>
                  <a:pt x="6312" y="21154"/>
                  <a:pt x="6323" y="21174"/>
                  <a:pt x="6327" y="21191"/>
                </a:cubicBezTo>
                <a:cubicBezTo>
                  <a:pt x="6330" y="21208"/>
                  <a:pt x="6347" y="21238"/>
                  <a:pt x="6365" y="21259"/>
                </a:cubicBezTo>
                <a:cubicBezTo>
                  <a:pt x="6382" y="21280"/>
                  <a:pt x="6400" y="21312"/>
                  <a:pt x="6404" y="21329"/>
                </a:cubicBezTo>
                <a:cubicBezTo>
                  <a:pt x="6408" y="21350"/>
                  <a:pt x="6418" y="21367"/>
                  <a:pt x="6434" y="21376"/>
                </a:cubicBezTo>
                <a:cubicBezTo>
                  <a:pt x="6448" y="21384"/>
                  <a:pt x="6466" y="21406"/>
                  <a:pt x="6476" y="21426"/>
                </a:cubicBezTo>
                <a:cubicBezTo>
                  <a:pt x="6486" y="21448"/>
                  <a:pt x="6505" y="21467"/>
                  <a:pt x="6525" y="21476"/>
                </a:cubicBezTo>
                <a:cubicBezTo>
                  <a:pt x="6591" y="21507"/>
                  <a:pt x="6613" y="21521"/>
                  <a:pt x="6620" y="21541"/>
                </a:cubicBezTo>
                <a:cubicBezTo>
                  <a:pt x="6627" y="21563"/>
                  <a:pt x="6630" y="21566"/>
                  <a:pt x="6720" y="21583"/>
                </a:cubicBezTo>
                <a:cubicBezTo>
                  <a:pt x="6802" y="21599"/>
                  <a:pt x="8928" y="21599"/>
                  <a:pt x="9003" y="21583"/>
                </a:cubicBezTo>
                <a:cubicBezTo>
                  <a:pt x="9037" y="21576"/>
                  <a:pt x="9074" y="21569"/>
                  <a:pt x="9086" y="21567"/>
                </a:cubicBezTo>
                <a:cubicBezTo>
                  <a:pt x="9097" y="21565"/>
                  <a:pt x="9110" y="21553"/>
                  <a:pt x="9114" y="21541"/>
                </a:cubicBezTo>
                <a:cubicBezTo>
                  <a:pt x="9120" y="21523"/>
                  <a:pt x="9156" y="21501"/>
                  <a:pt x="9223" y="21471"/>
                </a:cubicBezTo>
                <a:cubicBezTo>
                  <a:pt x="9233" y="21466"/>
                  <a:pt x="9249" y="21443"/>
                  <a:pt x="9259" y="21421"/>
                </a:cubicBezTo>
                <a:cubicBezTo>
                  <a:pt x="9269" y="21399"/>
                  <a:pt x="9283" y="21382"/>
                  <a:pt x="9290" y="21382"/>
                </a:cubicBezTo>
                <a:cubicBezTo>
                  <a:pt x="9305" y="21382"/>
                  <a:pt x="9327" y="21345"/>
                  <a:pt x="9327" y="21319"/>
                </a:cubicBezTo>
                <a:cubicBezTo>
                  <a:pt x="9327" y="21308"/>
                  <a:pt x="9333" y="21293"/>
                  <a:pt x="9342" y="21285"/>
                </a:cubicBezTo>
                <a:cubicBezTo>
                  <a:pt x="9380" y="21251"/>
                  <a:pt x="9403" y="21217"/>
                  <a:pt x="9409" y="21186"/>
                </a:cubicBezTo>
                <a:cubicBezTo>
                  <a:pt x="9413" y="21165"/>
                  <a:pt x="9422" y="21149"/>
                  <a:pt x="9432" y="21144"/>
                </a:cubicBezTo>
                <a:cubicBezTo>
                  <a:pt x="9445" y="21138"/>
                  <a:pt x="9449" y="21127"/>
                  <a:pt x="9452" y="21097"/>
                </a:cubicBezTo>
                <a:cubicBezTo>
                  <a:pt x="9454" y="21067"/>
                  <a:pt x="9461" y="21052"/>
                  <a:pt x="9476" y="21037"/>
                </a:cubicBezTo>
                <a:cubicBezTo>
                  <a:pt x="9489" y="21023"/>
                  <a:pt x="9498" y="21004"/>
                  <a:pt x="9502" y="20976"/>
                </a:cubicBezTo>
                <a:cubicBezTo>
                  <a:pt x="9505" y="20954"/>
                  <a:pt x="9515" y="20925"/>
                  <a:pt x="9524" y="20914"/>
                </a:cubicBezTo>
                <a:cubicBezTo>
                  <a:pt x="9533" y="20903"/>
                  <a:pt x="9540" y="20883"/>
                  <a:pt x="9540" y="20869"/>
                </a:cubicBezTo>
                <a:cubicBezTo>
                  <a:pt x="9540" y="20856"/>
                  <a:pt x="9545" y="20833"/>
                  <a:pt x="9551" y="20820"/>
                </a:cubicBezTo>
                <a:cubicBezTo>
                  <a:pt x="9557" y="20806"/>
                  <a:pt x="9563" y="20784"/>
                  <a:pt x="9563" y="20770"/>
                </a:cubicBezTo>
                <a:cubicBezTo>
                  <a:pt x="9563" y="20756"/>
                  <a:pt x="9569" y="20740"/>
                  <a:pt x="9576" y="20733"/>
                </a:cubicBezTo>
                <a:cubicBezTo>
                  <a:pt x="9585" y="20725"/>
                  <a:pt x="9591" y="20705"/>
                  <a:pt x="9596" y="20660"/>
                </a:cubicBezTo>
                <a:cubicBezTo>
                  <a:pt x="9600" y="20621"/>
                  <a:pt x="9607" y="20591"/>
                  <a:pt x="9616" y="20577"/>
                </a:cubicBezTo>
                <a:cubicBezTo>
                  <a:pt x="9624" y="20564"/>
                  <a:pt x="9630" y="20543"/>
                  <a:pt x="9630" y="20529"/>
                </a:cubicBezTo>
                <a:cubicBezTo>
                  <a:pt x="9630" y="20516"/>
                  <a:pt x="9633" y="20500"/>
                  <a:pt x="9638" y="20490"/>
                </a:cubicBezTo>
                <a:cubicBezTo>
                  <a:pt x="9643" y="20481"/>
                  <a:pt x="9647" y="20458"/>
                  <a:pt x="9647" y="20441"/>
                </a:cubicBezTo>
                <a:cubicBezTo>
                  <a:pt x="9647" y="20423"/>
                  <a:pt x="9654" y="20389"/>
                  <a:pt x="9663" y="20367"/>
                </a:cubicBezTo>
                <a:cubicBezTo>
                  <a:pt x="9674" y="20341"/>
                  <a:pt x="9681" y="20301"/>
                  <a:pt x="9686" y="20250"/>
                </a:cubicBezTo>
                <a:cubicBezTo>
                  <a:pt x="9690" y="20207"/>
                  <a:pt x="9695" y="20155"/>
                  <a:pt x="9698" y="20132"/>
                </a:cubicBezTo>
                <a:cubicBezTo>
                  <a:pt x="9701" y="20109"/>
                  <a:pt x="9703" y="20079"/>
                  <a:pt x="9703" y="20064"/>
                </a:cubicBezTo>
                <a:cubicBezTo>
                  <a:pt x="9703" y="20050"/>
                  <a:pt x="9708" y="20027"/>
                  <a:pt x="9714" y="20014"/>
                </a:cubicBezTo>
                <a:cubicBezTo>
                  <a:pt x="9721" y="20001"/>
                  <a:pt x="9726" y="19965"/>
                  <a:pt x="9728" y="19926"/>
                </a:cubicBezTo>
                <a:cubicBezTo>
                  <a:pt x="9730" y="19890"/>
                  <a:pt x="9736" y="19828"/>
                  <a:pt x="9740" y="19787"/>
                </a:cubicBezTo>
                <a:cubicBezTo>
                  <a:pt x="9745" y="19746"/>
                  <a:pt x="9748" y="19689"/>
                  <a:pt x="9748" y="19662"/>
                </a:cubicBezTo>
                <a:cubicBezTo>
                  <a:pt x="9748" y="19631"/>
                  <a:pt x="9752" y="19609"/>
                  <a:pt x="9757" y="19604"/>
                </a:cubicBezTo>
                <a:cubicBezTo>
                  <a:pt x="9761" y="19600"/>
                  <a:pt x="9765" y="19570"/>
                  <a:pt x="9768" y="19539"/>
                </a:cubicBezTo>
                <a:cubicBezTo>
                  <a:pt x="9770" y="19508"/>
                  <a:pt x="9775" y="19476"/>
                  <a:pt x="9778" y="19465"/>
                </a:cubicBezTo>
                <a:cubicBezTo>
                  <a:pt x="9787" y="19439"/>
                  <a:pt x="9787" y="18501"/>
                  <a:pt x="9778" y="18475"/>
                </a:cubicBezTo>
                <a:cubicBezTo>
                  <a:pt x="9775" y="18464"/>
                  <a:pt x="9770" y="18424"/>
                  <a:pt x="9768" y="18386"/>
                </a:cubicBezTo>
                <a:cubicBezTo>
                  <a:pt x="9765" y="18345"/>
                  <a:pt x="9760" y="18314"/>
                  <a:pt x="9756" y="18310"/>
                </a:cubicBezTo>
                <a:cubicBezTo>
                  <a:pt x="9751" y="18306"/>
                  <a:pt x="9748" y="18284"/>
                  <a:pt x="9748" y="18260"/>
                </a:cubicBezTo>
                <a:cubicBezTo>
                  <a:pt x="9748" y="18237"/>
                  <a:pt x="9745" y="18181"/>
                  <a:pt x="9740" y="18135"/>
                </a:cubicBezTo>
                <a:cubicBezTo>
                  <a:pt x="9736" y="18089"/>
                  <a:pt x="9729" y="18011"/>
                  <a:pt x="9725" y="17962"/>
                </a:cubicBezTo>
                <a:cubicBezTo>
                  <a:pt x="9722" y="17914"/>
                  <a:pt x="9715" y="17872"/>
                  <a:pt x="9711" y="17866"/>
                </a:cubicBezTo>
                <a:cubicBezTo>
                  <a:pt x="9707" y="17860"/>
                  <a:pt x="9703" y="17841"/>
                  <a:pt x="9703" y="17826"/>
                </a:cubicBezTo>
                <a:cubicBezTo>
                  <a:pt x="9703" y="17812"/>
                  <a:pt x="9701" y="17790"/>
                  <a:pt x="9698" y="17777"/>
                </a:cubicBezTo>
                <a:cubicBezTo>
                  <a:pt x="9695" y="17764"/>
                  <a:pt x="9690" y="17716"/>
                  <a:pt x="9686" y="17672"/>
                </a:cubicBezTo>
                <a:cubicBezTo>
                  <a:pt x="9681" y="17614"/>
                  <a:pt x="9675" y="17583"/>
                  <a:pt x="9663" y="17557"/>
                </a:cubicBezTo>
                <a:cubicBezTo>
                  <a:pt x="9654" y="17536"/>
                  <a:pt x="9647" y="17506"/>
                  <a:pt x="9647" y="17487"/>
                </a:cubicBezTo>
                <a:cubicBezTo>
                  <a:pt x="9647" y="17468"/>
                  <a:pt x="9643" y="17446"/>
                  <a:pt x="9638" y="17437"/>
                </a:cubicBezTo>
                <a:cubicBezTo>
                  <a:pt x="9633" y="17428"/>
                  <a:pt x="9630" y="17408"/>
                  <a:pt x="9630" y="17395"/>
                </a:cubicBezTo>
                <a:cubicBezTo>
                  <a:pt x="9630" y="17382"/>
                  <a:pt x="9624" y="17362"/>
                  <a:pt x="9616" y="17351"/>
                </a:cubicBezTo>
                <a:cubicBezTo>
                  <a:pt x="9608" y="17338"/>
                  <a:pt x="9601" y="17306"/>
                  <a:pt x="9597" y="17267"/>
                </a:cubicBezTo>
                <a:cubicBezTo>
                  <a:pt x="9592" y="17221"/>
                  <a:pt x="9587" y="17203"/>
                  <a:pt x="9577" y="17194"/>
                </a:cubicBezTo>
                <a:cubicBezTo>
                  <a:pt x="9569" y="17186"/>
                  <a:pt x="9563" y="17169"/>
                  <a:pt x="9563" y="17155"/>
                </a:cubicBezTo>
                <a:cubicBezTo>
                  <a:pt x="9563" y="17141"/>
                  <a:pt x="9557" y="17118"/>
                  <a:pt x="9551" y="17105"/>
                </a:cubicBezTo>
                <a:cubicBezTo>
                  <a:pt x="9545" y="17091"/>
                  <a:pt x="9540" y="17069"/>
                  <a:pt x="9540" y="17055"/>
                </a:cubicBezTo>
                <a:cubicBezTo>
                  <a:pt x="9540" y="17042"/>
                  <a:pt x="9532" y="17022"/>
                  <a:pt x="9524" y="17011"/>
                </a:cubicBezTo>
                <a:cubicBezTo>
                  <a:pt x="9514" y="16999"/>
                  <a:pt x="9506" y="16974"/>
                  <a:pt x="9503" y="16948"/>
                </a:cubicBezTo>
                <a:cubicBezTo>
                  <a:pt x="9499" y="16916"/>
                  <a:pt x="9493" y="16902"/>
                  <a:pt x="9478" y="16891"/>
                </a:cubicBezTo>
                <a:cubicBezTo>
                  <a:pt x="9463" y="16879"/>
                  <a:pt x="9457" y="16865"/>
                  <a:pt x="9453" y="16833"/>
                </a:cubicBezTo>
                <a:cubicBezTo>
                  <a:pt x="9449" y="16801"/>
                  <a:pt x="9444" y="16789"/>
                  <a:pt x="9432" y="16783"/>
                </a:cubicBezTo>
                <a:cubicBezTo>
                  <a:pt x="9422" y="16779"/>
                  <a:pt x="9413" y="16760"/>
                  <a:pt x="9409" y="16739"/>
                </a:cubicBezTo>
                <a:cubicBezTo>
                  <a:pt x="9406" y="16720"/>
                  <a:pt x="9395" y="16695"/>
                  <a:pt x="9385" y="16684"/>
                </a:cubicBezTo>
                <a:cubicBezTo>
                  <a:pt x="9345" y="16637"/>
                  <a:pt x="9329" y="16610"/>
                  <a:pt x="9325" y="16585"/>
                </a:cubicBezTo>
                <a:cubicBezTo>
                  <a:pt x="9323" y="16566"/>
                  <a:pt x="9314" y="16557"/>
                  <a:pt x="9298" y="16551"/>
                </a:cubicBezTo>
                <a:cubicBezTo>
                  <a:pt x="9285" y="16546"/>
                  <a:pt x="9268" y="16525"/>
                  <a:pt x="9258" y="16504"/>
                </a:cubicBezTo>
                <a:cubicBezTo>
                  <a:pt x="9248" y="16483"/>
                  <a:pt x="9233" y="16461"/>
                  <a:pt x="9223" y="16457"/>
                </a:cubicBezTo>
                <a:cubicBezTo>
                  <a:pt x="9155" y="16426"/>
                  <a:pt x="9120" y="16401"/>
                  <a:pt x="9111" y="16378"/>
                </a:cubicBezTo>
                <a:cubicBezTo>
                  <a:pt x="9104" y="16361"/>
                  <a:pt x="9096" y="16355"/>
                  <a:pt x="9087" y="16360"/>
                </a:cubicBezTo>
                <a:cubicBezTo>
                  <a:pt x="9080" y="16364"/>
                  <a:pt x="9066" y="16361"/>
                  <a:pt x="9058" y="16352"/>
                </a:cubicBezTo>
                <a:cubicBezTo>
                  <a:pt x="9045" y="16339"/>
                  <a:pt x="8836" y="16334"/>
                  <a:pt x="8092" y="16328"/>
                </a:cubicBezTo>
                <a:lnTo>
                  <a:pt x="7141" y="16321"/>
                </a:lnTo>
                <a:lnTo>
                  <a:pt x="7140" y="15267"/>
                </a:lnTo>
                <a:cubicBezTo>
                  <a:pt x="7139" y="14404"/>
                  <a:pt x="7136" y="14208"/>
                  <a:pt x="7130" y="14195"/>
                </a:cubicBezTo>
                <a:cubicBezTo>
                  <a:pt x="7129" y="14193"/>
                  <a:pt x="7113" y="14192"/>
                  <a:pt x="7094" y="14190"/>
                </a:cubicBezTo>
                <a:cubicBezTo>
                  <a:pt x="7058" y="14188"/>
                  <a:pt x="6759" y="14183"/>
                  <a:pt x="6351" y="14180"/>
                </a:cubicBezTo>
                <a:lnTo>
                  <a:pt x="5567" y="14174"/>
                </a:lnTo>
                <a:lnTo>
                  <a:pt x="5564" y="13845"/>
                </a:lnTo>
                <a:cubicBezTo>
                  <a:pt x="5564" y="13791"/>
                  <a:pt x="5564" y="13774"/>
                  <a:pt x="5564" y="13735"/>
                </a:cubicBezTo>
                <a:cubicBezTo>
                  <a:pt x="5564" y="13722"/>
                  <a:pt x="5564" y="13714"/>
                  <a:pt x="5564" y="13701"/>
                </a:cubicBezTo>
                <a:cubicBezTo>
                  <a:pt x="5564" y="13478"/>
                  <a:pt x="5565" y="13291"/>
                  <a:pt x="5568" y="13286"/>
                </a:cubicBezTo>
                <a:cubicBezTo>
                  <a:pt x="5570" y="13280"/>
                  <a:pt x="5592" y="13272"/>
                  <a:pt x="5618" y="13267"/>
                </a:cubicBezTo>
                <a:cubicBezTo>
                  <a:pt x="5643" y="13263"/>
                  <a:pt x="5671" y="13252"/>
                  <a:pt x="5680" y="13241"/>
                </a:cubicBezTo>
                <a:cubicBezTo>
                  <a:pt x="5689" y="13230"/>
                  <a:pt x="5702" y="13224"/>
                  <a:pt x="5710" y="13228"/>
                </a:cubicBezTo>
                <a:cubicBezTo>
                  <a:pt x="5720" y="13233"/>
                  <a:pt x="5729" y="13229"/>
                  <a:pt x="5735" y="13212"/>
                </a:cubicBezTo>
                <a:cubicBezTo>
                  <a:pt x="5746" y="13187"/>
                  <a:pt x="5774" y="13164"/>
                  <a:pt x="5829" y="13137"/>
                </a:cubicBezTo>
                <a:cubicBezTo>
                  <a:pt x="5850" y="13126"/>
                  <a:pt x="5861" y="13114"/>
                  <a:pt x="5863" y="13100"/>
                </a:cubicBezTo>
                <a:cubicBezTo>
                  <a:pt x="5864" y="13088"/>
                  <a:pt x="5881" y="13065"/>
                  <a:pt x="5902" y="13048"/>
                </a:cubicBezTo>
                <a:cubicBezTo>
                  <a:pt x="5926" y="13027"/>
                  <a:pt x="5940" y="13007"/>
                  <a:pt x="5942" y="12990"/>
                </a:cubicBezTo>
                <a:cubicBezTo>
                  <a:pt x="5944" y="12975"/>
                  <a:pt x="5954" y="12961"/>
                  <a:pt x="5967" y="12951"/>
                </a:cubicBezTo>
                <a:cubicBezTo>
                  <a:pt x="5985" y="12938"/>
                  <a:pt x="5991" y="12924"/>
                  <a:pt x="5994" y="12891"/>
                </a:cubicBezTo>
                <a:cubicBezTo>
                  <a:pt x="5998" y="12862"/>
                  <a:pt x="6005" y="12844"/>
                  <a:pt x="6017" y="12831"/>
                </a:cubicBezTo>
                <a:cubicBezTo>
                  <a:pt x="6028" y="12820"/>
                  <a:pt x="6037" y="12795"/>
                  <a:pt x="6040" y="12773"/>
                </a:cubicBezTo>
                <a:cubicBezTo>
                  <a:pt x="6043" y="12753"/>
                  <a:pt x="6054" y="12728"/>
                  <a:pt x="6062" y="12718"/>
                </a:cubicBezTo>
                <a:cubicBezTo>
                  <a:pt x="6071" y="12707"/>
                  <a:pt x="6079" y="12682"/>
                  <a:pt x="6083" y="12653"/>
                </a:cubicBezTo>
                <a:cubicBezTo>
                  <a:pt x="6087" y="12622"/>
                  <a:pt x="6093" y="12606"/>
                  <a:pt x="6100" y="12603"/>
                </a:cubicBezTo>
                <a:cubicBezTo>
                  <a:pt x="6111" y="12600"/>
                  <a:pt x="6126" y="12547"/>
                  <a:pt x="6126" y="12512"/>
                </a:cubicBezTo>
                <a:cubicBezTo>
                  <a:pt x="6126" y="12503"/>
                  <a:pt x="6129" y="12487"/>
                  <a:pt x="6134" y="12478"/>
                </a:cubicBezTo>
                <a:cubicBezTo>
                  <a:pt x="6139" y="12469"/>
                  <a:pt x="6143" y="12452"/>
                  <a:pt x="6143" y="12439"/>
                </a:cubicBezTo>
                <a:cubicBezTo>
                  <a:pt x="6143" y="12425"/>
                  <a:pt x="6149" y="12405"/>
                  <a:pt x="6156" y="12394"/>
                </a:cubicBezTo>
                <a:cubicBezTo>
                  <a:pt x="6165" y="12379"/>
                  <a:pt x="6170" y="12350"/>
                  <a:pt x="6175" y="12282"/>
                </a:cubicBezTo>
                <a:cubicBezTo>
                  <a:pt x="6184" y="12177"/>
                  <a:pt x="6190" y="12141"/>
                  <a:pt x="6201" y="12141"/>
                </a:cubicBezTo>
                <a:cubicBezTo>
                  <a:pt x="6211" y="12141"/>
                  <a:pt x="6221" y="12061"/>
                  <a:pt x="6221" y="11989"/>
                </a:cubicBezTo>
                <a:cubicBezTo>
                  <a:pt x="6221" y="11961"/>
                  <a:pt x="6224" y="11936"/>
                  <a:pt x="6228" y="11931"/>
                </a:cubicBezTo>
                <a:cubicBezTo>
                  <a:pt x="6231" y="11927"/>
                  <a:pt x="6233" y="11906"/>
                  <a:pt x="6233" y="11884"/>
                </a:cubicBezTo>
                <a:cubicBezTo>
                  <a:pt x="6233" y="11863"/>
                  <a:pt x="6236" y="11841"/>
                  <a:pt x="6240" y="11835"/>
                </a:cubicBezTo>
                <a:cubicBezTo>
                  <a:pt x="6256" y="11809"/>
                  <a:pt x="6266" y="11744"/>
                  <a:pt x="6275" y="11578"/>
                </a:cubicBezTo>
                <a:cubicBezTo>
                  <a:pt x="6281" y="11482"/>
                  <a:pt x="6288" y="11398"/>
                  <a:pt x="6292" y="11390"/>
                </a:cubicBezTo>
                <a:cubicBezTo>
                  <a:pt x="6306" y="11360"/>
                  <a:pt x="6313" y="11221"/>
                  <a:pt x="6317" y="10844"/>
                </a:cubicBezTo>
                <a:lnTo>
                  <a:pt x="6320" y="10457"/>
                </a:lnTo>
                <a:lnTo>
                  <a:pt x="6421" y="10457"/>
                </a:lnTo>
                <a:lnTo>
                  <a:pt x="7943" y="10454"/>
                </a:lnTo>
                <a:cubicBezTo>
                  <a:pt x="8504" y="10453"/>
                  <a:pt x="8910" y="10452"/>
                  <a:pt x="9176" y="10449"/>
                </a:cubicBezTo>
                <a:cubicBezTo>
                  <a:pt x="9443" y="10446"/>
                  <a:pt x="9568" y="10441"/>
                  <a:pt x="9570" y="10436"/>
                </a:cubicBezTo>
                <a:cubicBezTo>
                  <a:pt x="9571" y="10434"/>
                  <a:pt x="9573" y="10381"/>
                  <a:pt x="9574" y="10277"/>
                </a:cubicBezTo>
                <a:cubicBezTo>
                  <a:pt x="9575" y="10172"/>
                  <a:pt x="9575" y="10016"/>
                  <a:pt x="9576" y="9803"/>
                </a:cubicBezTo>
                <a:cubicBezTo>
                  <a:pt x="9577" y="9379"/>
                  <a:pt x="9578" y="8736"/>
                  <a:pt x="9579" y="7853"/>
                </a:cubicBezTo>
                <a:lnTo>
                  <a:pt x="9582" y="5284"/>
                </a:lnTo>
                <a:lnTo>
                  <a:pt x="10702" y="5284"/>
                </a:lnTo>
                <a:lnTo>
                  <a:pt x="11821" y="5284"/>
                </a:lnTo>
                <a:lnTo>
                  <a:pt x="11821" y="5895"/>
                </a:lnTo>
                <a:lnTo>
                  <a:pt x="11823" y="8026"/>
                </a:lnTo>
                <a:cubicBezTo>
                  <a:pt x="11825" y="9295"/>
                  <a:pt x="11827" y="10241"/>
                  <a:pt x="11828" y="10337"/>
                </a:cubicBezTo>
                <a:cubicBezTo>
                  <a:pt x="11829" y="10399"/>
                  <a:pt x="11830" y="10433"/>
                  <a:pt x="11831" y="10436"/>
                </a:cubicBezTo>
                <a:cubicBezTo>
                  <a:pt x="11837" y="10447"/>
                  <a:pt x="12312" y="10452"/>
                  <a:pt x="13602" y="10454"/>
                </a:cubicBezTo>
                <a:lnTo>
                  <a:pt x="15263" y="10457"/>
                </a:lnTo>
                <a:lnTo>
                  <a:pt x="15365" y="10457"/>
                </a:lnTo>
                <a:lnTo>
                  <a:pt x="15368" y="10896"/>
                </a:lnTo>
                <a:cubicBezTo>
                  <a:pt x="15371" y="11337"/>
                  <a:pt x="15377" y="11472"/>
                  <a:pt x="15393" y="11495"/>
                </a:cubicBezTo>
                <a:cubicBezTo>
                  <a:pt x="15397" y="11501"/>
                  <a:pt x="15402" y="11525"/>
                  <a:pt x="15402" y="11550"/>
                </a:cubicBezTo>
                <a:cubicBezTo>
                  <a:pt x="15402" y="11603"/>
                  <a:pt x="15411" y="11744"/>
                  <a:pt x="15418" y="11782"/>
                </a:cubicBezTo>
                <a:cubicBezTo>
                  <a:pt x="15421" y="11797"/>
                  <a:pt x="15425" y="11839"/>
                  <a:pt x="15427" y="11874"/>
                </a:cubicBezTo>
                <a:cubicBezTo>
                  <a:pt x="15429" y="11918"/>
                  <a:pt x="15433" y="11943"/>
                  <a:pt x="15441" y="11952"/>
                </a:cubicBezTo>
                <a:cubicBezTo>
                  <a:pt x="15447" y="11960"/>
                  <a:pt x="15452" y="11978"/>
                  <a:pt x="15452" y="11997"/>
                </a:cubicBezTo>
                <a:cubicBezTo>
                  <a:pt x="15452" y="12015"/>
                  <a:pt x="15454" y="12034"/>
                  <a:pt x="15457" y="12039"/>
                </a:cubicBezTo>
                <a:cubicBezTo>
                  <a:pt x="15460" y="12043"/>
                  <a:pt x="15463" y="12067"/>
                  <a:pt x="15463" y="12093"/>
                </a:cubicBezTo>
                <a:cubicBezTo>
                  <a:pt x="15463" y="12172"/>
                  <a:pt x="15474" y="12259"/>
                  <a:pt x="15485" y="12266"/>
                </a:cubicBezTo>
                <a:cubicBezTo>
                  <a:pt x="15496" y="12272"/>
                  <a:pt x="15514" y="12389"/>
                  <a:pt x="15514" y="12449"/>
                </a:cubicBezTo>
                <a:cubicBezTo>
                  <a:pt x="15514" y="12464"/>
                  <a:pt x="15520" y="12487"/>
                  <a:pt x="15528" y="12499"/>
                </a:cubicBezTo>
                <a:cubicBezTo>
                  <a:pt x="15536" y="12511"/>
                  <a:pt x="15542" y="12534"/>
                  <a:pt x="15542" y="12548"/>
                </a:cubicBezTo>
                <a:cubicBezTo>
                  <a:pt x="15542" y="12562"/>
                  <a:pt x="15548" y="12587"/>
                  <a:pt x="15556" y="12603"/>
                </a:cubicBezTo>
                <a:cubicBezTo>
                  <a:pt x="15564" y="12619"/>
                  <a:pt x="15570" y="12643"/>
                  <a:pt x="15570" y="12656"/>
                </a:cubicBezTo>
                <a:cubicBezTo>
                  <a:pt x="15570" y="12668"/>
                  <a:pt x="15576" y="12688"/>
                  <a:pt x="15583" y="12700"/>
                </a:cubicBezTo>
                <a:cubicBezTo>
                  <a:pt x="15591" y="12712"/>
                  <a:pt x="15600" y="12742"/>
                  <a:pt x="15603" y="12768"/>
                </a:cubicBezTo>
                <a:cubicBezTo>
                  <a:pt x="15607" y="12800"/>
                  <a:pt x="15614" y="12815"/>
                  <a:pt x="15623" y="12818"/>
                </a:cubicBezTo>
                <a:cubicBezTo>
                  <a:pt x="15631" y="12821"/>
                  <a:pt x="15636" y="12838"/>
                  <a:pt x="15642" y="12878"/>
                </a:cubicBezTo>
                <a:cubicBezTo>
                  <a:pt x="15649" y="12923"/>
                  <a:pt x="15654" y="12940"/>
                  <a:pt x="15672" y="12956"/>
                </a:cubicBezTo>
                <a:cubicBezTo>
                  <a:pt x="15687" y="12971"/>
                  <a:pt x="15693" y="12983"/>
                  <a:pt x="15693" y="13003"/>
                </a:cubicBezTo>
                <a:cubicBezTo>
                  <a:pt x="15693" y="13025"/>
                  <a:pt x="15698" y="13033"/>
                  <a:pt x="15716" y="13040"/>
                </a:cubicBezTo>
                <a:cubicBezTo>
                  <a:pt x="15733" y="13046"/>
                  <a:pt x="15741" y="13058"/>
                  <a:pt x="15747" y="13084"/>
                </a:cubicBezTo>
                <a:cubicBezTo>
                  <a:pt x="15752" y="13111"/>
                  <a:pt x="15765" y="13129"/>
                  <a:pt x="15793" y="13152"/>
                </a:cubicBezTo>
                <a:cubicBezTo>
                  <a:pt x="15814" y="13170"/>
                  <a:pt x="15831" y="13195"/>
                  <a:pt x="15833" y="13207"/>
                </a:cubicBezTo>
                <a:cubicBezTo>
                  <a:pt x="15836" y="13234"/>
                  <a:pt x="15870" y="13274"/>
                  <a:pt x="15889" y="13275"/>
                </a:cubicBezTo>
                <a:cubicBezTo>
                  <a:pt x="15919" y="13276"/>
                  <a:pt x="15960" y="13311"/>
                  <a:pt x="15962" y="13335"/>
                </a:cubicBezTo>
                <a:cubicBezTo>
                  <a:pt x="15964" y="13350"/>
                  <a:pt x="15968" y="13356"/>
                  <a:pt x="15973" y="13351"/>
                </a:cubicBezTo>
                <a:cubicBezTo>
                  <a:pt x="15978" y="13346"/>
                  <a:pt x="15990" y="13349"/>
                  <a:pt x="15999" y="13356"/>
                </a:cubicBezTo>
                <a:cubicBezTo>
                  <a:pt x="16009" y="13364"/>
                  <a:pt x="16033" y="13371"/>
                  <a:pt x="16053" y="13374"/>
                </a:cubicBezTo>
                <a:cubicBezTo>
                  <a:pt x="16072" y="13377"/>
                  <a:pt x="16090" y="13386"/>
                  <a:pt x="16093" y="13393"/>
                </a:cubicBezTo>
                <a:cubicBezTo>
                  <a:pt x="16096" y="13400"/>
                  <a:pt x="16098" y="13586"/>
                  <a:pt x="16097" y="13850"/>
                </a:cubicBezTo>
                <a:lnTo>
                  <a:pt x="16096" y="14295"/>
                </a:lnTo>
                <a:lnTo>
                  <a:pt x="15310" y="14297"/>
                </a:lnTo>
                <a:cubicBezTo>
                  <a:pt x="14878" y="14299"/>
                  <a:pt x="14524" y="14303"/>
                  <a:pt x="14523" y="14305"/>
                </a:cubicBezTo>
                <a:cubicBezTo>
                  <a:pt x="14522" y="14307"/>
                  <a:pt x="14520" y="14761"/>
                  <a:pt x="14518" y="15314"/>
                </a:cubicBezTo>
                <a:lnTo>
                  <a:pt x="14515" y="16321"/>
                </a:lnTo>
                <a:lnTo>
                  <a:pt x="13554" y="16328"/>
                </a:lnTo>
                <a:cubicBezTo>
                  <a:pt x="12831" y="16334"/>
                  <a:pt x="12588" y="16340"/>
                  <a:pt x="12577" y="16352"/>
                </a:cubicBezTo>
                <a:cubicBezTo>
                  <a:pt x="12569" y="16361"/>
                  <a:pt x="12557" y="16364"/>
                  <a:pt x="12551" y="16360"/>
                </a:cubicBezTo>
                <a:cubicBezTo>
                  <a:pt x="12544" y="16356"/>
                  <a:pt x="12535" y="16363"/>
                  <a:pt x="12529" y="16378"/>
                </a:cubicBezTo>
                <a:cubicBezTo>
                  <a:pt x="12519" y="16403"/>
                  <a:pt x="12498" y="16420"/>
                  <a:pt x="12431" y="16451"/>
                </a:cubicBezTo>
                <a:cubicBezTo>
                  <a:pt x="12410" y="16461"/>
                  <a:pt x="12393" y="16478"/>
                  <a:pt x="12381" y="16504"/>
                </a:cubicBezTo>
                <a:cubicBezTo>
                  <a:pt x="12370" y="16528"/>
                  <a:pt x="12353" y="16545"/>
                  <a:pt x="12337" y="16551"/>
                </a:cubicBezTo>
                <a:cubicBezTo>
                  <a:pt x="12318" y="16558"/>
                  <a:pt x="12311" y="16567"/>
                  <a:pt x="12307" y="16593"/>
                </a:cubicBezTo>
                <a:cubicBezTo>
                  <a:pt x="12304" y="16611"/>
                  <a:pt x="12300" y="16626"/>
                  <a:pt x="12296" y="16626"/>
                </a:cubicBezTo>
                <a:cubicBezTo>
                  <a:pt x="12293" y="16626"/>
                  <a:pt x="12282" y="16642"/>
                  <a:pt x="12273" y="16660"/>
                </a:cubicBezTo>
                <a:cubicBezTo>
                  <a:pt x="12264" y="16679"/>
                  <a:pt x="12252" y="16694"/>
                  <a:pt x="12248" y="16694"/>
                </a:cubicBezTo>
                <a:cubicBezTo>
                  <a:pt x="12244" y="16694"/>
                  <a:pt x="12237" y="16711"/>
                  <a:pt x="12233" y="16731"/>
                </a:cubicBezTo>
                <a:cubicBezTo>
                  <a:pt x="12228" y="16754"/>
                  <a:pt x="12219" y="16773"/>
                  <a:pt x="12208" y="16781"/>
                </a:cubicBezTo>
                <a:cubicBezTo>
                  <a:pt x="12196" y="16789"/>
                  <a:pt x="12189" y="16803"/>
                  <a:pt x="12189" y="16817"/>
                </a:cubicBezTo>
                <a:cubicBezTo>
                  <a:pt x="12189" y="16845"/>
                  <a:pt x="12164" y="16896"/>
                  <a:pt x="12150" y="16896"/>
                </a:cubicBezTo>
                <a:cubicBezTo>
                  <a:pt x="12143" y="16896"/>
                  <a:pt x="12139" y="16910"/>
                  <a:pt x="12136" y="16943"/>
                </a:cubicBezTo>
                <a:cubicBezTo>
                  <a:pt x="12133" y="16977"/>
                  <a:pt x="12128" y="16996"/>
                  <a:pt x="12116" y="17011"/>
                </a:cubicBezTo>
                <a:cubicBezTo>
                  <a:pt x="12107" y="17022"/>
                  <a:pt x="12099" y="17042"/>
                  <a:pt x="12099" y="17055"/>
                </a:cubicBezTo>
                <a:cubicBezTo>
                  <a:pt x="12099" y="17069"/>
                  <a:pt x="12094" y="17091"/>
                  <a:pt x="12088" y="17105"/>
                </a:cubicBezTo>
                <a:cubicBezTo>
                  <a:pt x="12082" y="17118"/>
                  <a:pt x="12077" y="17141"/>
                  <a:pt x="12077" y="17155"/>
                </a:cubicBezTo>
                <a:cubicBezTo>
                  <a:pt x="12077" y="17169"/>
                  <a:pt x="12071" y="17184"/>
                  <a:pt x="12064" y="17191"/>
                </a:cubicBezTo>
                <a:cubicBezTo>
                  <a:pt x="12052" y="17202"/>
                  <a:pt x="12031" y="17277"/>
                  <a:pt x="12031" y="17311"/>
                </a:cubicBezTo>
                <a:cubicBezTo>
                  <a:pt x="12031" y="17319"/>
                  <a:pt x="12026" y="17337"/>
                  <a:pt x="12019" y="17348"/>
                </a:cubicBezTo>
                <a:cubicBezTo>
                  <a:pt x="12007" y="17369"/>
                  <a:pt x="11992" y="17448"/>
                  <a:pt x="11992" y="17494"/>
                </a:cubicBezTo>
                <a:cubicBezTo>
                  <a:pt x="11992" y="17508"/>
                  <a:pt x="11985" y="17537"/>
                  <a:pt x="11976" y="17557"/>
                </a:cubicBezTo>
                <a:cubicBezTo>
                  <a:pt x="11964" y="17583"/>
                  <a:pt x="11958" y="17614"/>
                  <a:pt x="11953" y="17672"/>
                </a:cubicBezTo>
                <a:cubicBezTo>
                  <a:pt x="11949" y="17716"/>
                  <a:pt x="11944" y="17764"/>
                  <a:pt x="11941" y="17777"/>
                </a:cubicBezTo>
                <a:cubicBezTo>
                  <a:pt x="11938" y="17790"/>
                  <a:pt x="11937" y="17812"/>
                  <a:pt x="11937" y="17826"/>
                </a:cubicBezTo>
                <a:cubicBezTo>
                  <a:pt x="11937" y="17841"/>
                  <a:pt x="11933" y="17860"/>
                  <a:pt x="11929" y="17866"/>
                </a:cubicBezTo>
                <a:cubicBezTo>
                  <a:pt x="11920" y="17878"/>
                  <a:pt x="11908" y="17981"/>
                  <a:pt x="11908" y="18043"/>
                </a:cubicBezTo>
                <a:cubicBezTo>
                  <a:pt x="11908" y="18066"/>
                  <a:pt x="11904" y="18099"/>
                  <a:pt x="11900" y="18117"/>
                </a:cubicBezTo>
                <a:cubicBezTo>
                  <a:pt x="11895" y="18134"/>
                  <a:pt x="11890" y="18181"/>
                  <a:pt x="11888" y="18221"/>
                </a:cubicBezTo>
                <a:cubicBezTo>
                  <a:pt x="11886" y="18261"/>
                  <a:pt x="11881" y="18300"/>
                  <a:pt x="11877" y="18307"/>
                </a:cubicBezTo>
                <a:cubicBezTo>
                  <a:pt x="11860" y="18340"/>
                  <a:pt x="11855" y="18517"/>
                  <a:pt x="11855" y="18969"/>
                </a:cubicBezTo>
                <a:cubicBezTo>
                  <a:pt x="11855" y="19428"/>
                  <a:pt x="11861" y="19588"/>
                  <a:pt x="11878" y="19604"/>
                </a:cubicBezTo>
                <a:cubicBezTo>
                  <a:pt x="11882" y="19608"/>
                  <a:pt x="11886" y="19629"/>
                  <a:pt x="11886" y="19654"/>
                </a:cubicBezTo>
                <a:cubicBezTo>
                  <a:pt x="11886" y="19714"/>
                  <a:pt x="11897" y="19852"/>
                  <a:pt x="11906" y="19902"/>
                </a:cubicBezTo>
                <a:cubicBezTo>
                  <a:pt x="11910" y="19925"/>
                  <a:pt x="11915" y="19968"/>
                  <a:pt x="11917" y="19999"/>
                </a:cubicBezTo>
                <a:cubicBezTo>
                  <a:pt x="11919" y="20029"/>
                  <a:pt x="11924" y="20060"/>
                  <a:pt x="11928" y="20064"/>
                </a:cubicBezTo>
                <a:cubicBezTo>
                  <a:pt x="11932" y="20068"/>
                  <a:pt x="11937" y="20081"/>
                  <a:pt x="11937" y="20096"/>
                </a:cubicBezTo>
                <a:cubicBezTo>
                  <a:pt x="11937" y="20110"/>
                  <a:pt x="11939" y="20128"/>
                  <a:pt x="11942" y="20132"/>
                </a:cubicBezTo>
                <a:cubicBezTo>
                  <a:pt x="11945" y="20137"/>
                  <a:pt x="11948" y="20157"/>
                  <a:pt x="11948" y="20177"/>
                </a:cubicBezTo>
                <a:cubicBezTo>
                  <a:pt x="11948" y="20239"/>
                  <a:pt x="11963" y="20336"/>
                  <a:pt x="11978" y="20373"/>
                </a:cubicBezTo>
                <a:cubicBezTo>
                  <a:pt x="11986" y="20392"/>
                  <a:pt x="11992" y="20419"/>
                  <a:pt x="11992" y="20433"/>
                </a:cubicBezTo>
                <a:cubicBezTo>
                  <a:pt x="11992" y="20476"/>
                  <a:pt x="12008" y="20561"/>
                  <a:pt x="12017" y="20574"/>
                </a:cubicBezTo>
                <a:cubicBezTo>
                  <a:pt x="12022" y="20581"/>
                  <a:pt x="12033" y="20618"/>
                  <a:pt x="12040" y="20658"/>
                </a:cubicBezTo>
                <a:cubicBezTo>
                  <a:pt x="12048" y="20701"/>
                  <a:pt x="12058" y="20732"/>
                  <a:pt x="12065" y="20736"/>
                </a:cubicBezTo>
                <a:cubicBezTo>
                  <a:pt x="12072" y="20740"/>
                  <a:pt x="12077" y="20755"/>
                  <a:pt x="12077" y="20770"/>
                </a:cubicBezTo>
                <a:cubicBezTo>
                  <a:pt x="12077" y="20784"/>
                  <a:pt x="12082" y="20806"/>
                  <a:pt x="12088" y="20820"/>
                </a:cubicBezTo>
                <a:cubicBezTo>
                  <a:pt x="12094" y="20833"/>
                  <a:pt x="12099" y="20856"/>
                  <a:pt x="12099" y="20869"/>
                </a:cubicBezTo>
                <a:cubicBezTo>
                  <a:pt x="12099" y="20883"/>
                  <a:pt x="12107" y="20905"/>
                  <a:pt x="12116" y="20916"/>
                </a:cubicBezTo>
                <a:cubicBezTo>
                  <a:pt x="12128" y="20931"/>
                  <a:pt x="12135" y="20952"/>
                  <a:pt x="12137" y="20979"/>
                </a:cubicBezTo>
                <a:cubicBezTo>
                  <a:pt x="12139" y="21007"/>
                  <a:pt x="12145" y="21022"/>
                  <a:pt x="12154" y="21031"/>
                </a:cubicBezTo>
                <a:cubicBezTo>
                  <a:pt x="12174" y="21049"/>
                  <a:pt x="12189" y="21083"/>
                  <a:pt x="12189" y="21110"/>
                </a:cubicBezTo>
                <a:cubicBezTo>
                  <a:pt x="12189" y="21123"/>
                  <a:pt x="12197" y="21139"/>
                  <a:pt x="12208" y="21146"/>
                </a:cubicBezTo>
                <a:cubicBezTo>
                  <a:pt x="12218" y="21154"/>
                  <a:pt x="12228" y="21174"/>
                  <a:pt x="12232" y="21191"/>
                </a:cubicBezTo>
                <a:cubicBezTo>
                  <a:pt x="12235" y="21208"/>
                  <a:pt x="12253" y="21238"/>
                  <a:pt x="12271" y="21259"/>
                </a:cubicBezTo>
                <a:cubicBezTo>
                  <a:pt x="12289" y="21280"/>
                  <a:pt x="12307" y="21312"/>
                  <a:pt x="12310" y="21329"/>
                </a:cubicBezTo>
                <a:cubicBezTo>
                  <a:pt x="12314" y="21350"/>
                  <a:pt x="12325" y="21367"/>
                  <a:pt x="12341" y="21376"/>
                </a:cubicBezTo>
                <a:cubicBezTo>
                  <a:pt x="12354" y="21384"/>
                  <a:pt x="12372" y="21406"/>
                  <a:pt x="12382" y="21426"/>
                </a:cubicBezTo>
                <a:cubicBezTo>
                  <a:pt x="12393" y="21448"/>
                  <a:pt x="12412" y="21467"/>
                  <a:pt x="12431" y="21476"/>
                </a:cubicBezTo>
                <a:cubicBezTo>
                  <a:pt x="12497" y="21507"/>
                  <a:pt x="12519" y="21521"/>
                  <a:pt x="12526" y="21541"/>
                </a:cubicBezTo>
                <a:cubicBezTo>
                  <a:pt x="12530" y="21553"/>
                  <a:pt x="12541" y="21565"/>
                  <a:pt x="12551" y="21567"/>
                </a:cubicBezTo>
                <a:cubicBezTo>
                  <a:pt x="12561" y="21569"/>
                  <a:pt x="12598" y="21576"/>
                  <a:pt x="12634" y="21583"/>
                </a:cubicBezTo>
                <a:cubicBezTo>
                  <a:pt x="12721" y="21600"/>
                  <a:pt x="14829" y="21600"/>
                  <a:pt x="14909" y="21583"/>
                </a:cubicBezTo>
                <a:cubicBezTo>
                  <a:pt x="14943" y="21576"/>
                  <a:pt x="14981" y="21569"/>
                  <a:pt x="14992" y="21567"/>
                </a:cubicBezTo>
                <a:cubicBezTo>
                  <a:pt x="15004" y="21565"/>
                  <a:pt x="15015" y="21553"/>
                  <a:pt x="15019" y="21541"/>
                </a:cubicBezTo>
                <a:cubicBezTo>
                  <a:pt x="15026" y="21523"/>
                  <a:pt x="15062" y="21501"/>
                  <a:pt x="15129" y="21471"/>
                </a:cubicBezTo>
                <a:cubicBezTo>
                  <a:pt x="15139" y="21466"/>
                  <a:pt x="15155" y="21443"/>
                  <a:pt x="15165" y="21421"/>
                </a:cubicBezTo>
                <a:cubicBezTo>
                  <a:pt x="15176" y="21399"/>
                  <a:pt x="15189" y="21382"/>
                  <a:pt x="15196" y="21382"/>
                </a:cubicBezTo>
                <a:cubicBezTo>
                  <a:pt x="15211" y="21382"/>
                  <a:pt x="15233" y="21345"/>
                  <a:pt x="15233" y="21319"/>
                </a:cubicBezTo>
                <a:cubicBezTo>
                  <a:pt x="15233" y="21308"/>
                  <a:pt x="15240" y="21293"/>
                  <a:pt x="15248" y="21285"/>
                </a:cubicBezTo>
                <a:cubicBezTo>
                  <a:pt x="15286" y="21251"/>
                  <a:pt x="15310" y="21217"/>
                  <a:pt x="15316" y="21186"/>
                </a:cubicBezTo>
                <a:cubicBezTo>
                  <a:pt x="15320" y="21165"/>
                  <a:pt x="15328" y="21149"/>
                  <a:pt x="15338" y="21144"/>
                </a:cubicBezTo>
                <a:cubicBezTo>
                  <a:pt x="15351" y="21138"/>
                  <a:pt x="15356" y="21127"/>
                  <a:pt x="15358" y="21097"/>
                </a:cubicBezTo>
                <a:cubicBezTo>
                  <a:pt x="15360" y="21067"/>
                  <a:pt x="15367" y="21052"/>
                  <a:pt x="15382" y="21037"/>
                </a:cubicBezTo>
                <a:cubicBezTo>
                  <a:pt x="15395" y="21023"/>
                  <a:pt x="15404" y="21004"/>
                  <a:pt x="15408" y="20976"/>
                </a:cubicBezTo>
                <a:cubicBezTo>
                  <a:pt x="15411" y="20954"/>
                  <a:pt x="15421" y="20925"/>
                  <a:pt x="15430" y="20914"/>
                </a:cubicBezTo>
                <a:cubicBezTo>
                  <a:pt x="15439" y="20903"/>
                  <a:pt x="15446" y="20883"/>
                  <a:pt x="15446" y="20869"/>
                </a:cubicBezTo>
                <a:cubicBezTo>
                  <a:pt x="15446" y="20856"/>
                  <a:pt x="15451" y="20833"/>
                  <a:pt x="15457" y="20820"/>
                </a:cubicBezTo>
                <a:cubicBezTo>
                  <a:pt x="15463" y="20806"/>
                  <a:pt x="15469" y="20784"/>
                  <a:pt x="15469" y="20770"/>
                </a:cubicBezTo>
                <a:cubicBezTo>
                  <a:pt x="15469" y="20756"/>
                  <a:pt x="15475" y="20740"/>
                  <a:pt x="15482" y="20733"/>
                </a:cubicBezTo>
                <a:cubicBezTo>
                  <a:pt x="15492" y="20725"/>
                  <a:pt x="15497" y="20705"/>
                  <a:pt x="15502" y="20660"/>
                </a:cubicBezTo>
                <a:cubicBezTo>
                  <a:pt x="15506" y="20621"/>
                  <a:pt x="15513" y="20591"/>
                  <a:pt x="15522" y="20577"/>
                </a:cubicBezTo>
                <a:cubicBezTo>
                  <a:pt x="15530" y="20564"/>
                  <a:pt x="15537" y="20543"/>
                  <a:pt x="15537" y="20529"/>
                </a:cubicBezTo>
                <a:cubicBezTo>
                  <a:pt x="15537" y="20516"/>
                  <a:pt x="15540" y="20500"/>
                  <a:pt x="15544" y="20490"/>
                </a:cubicBezTo>
                <a:cubicBezTo>
                  <a:pt x="15549" y="20481"/>
                  <a:pt x="15553" y="20458"/>
                  <a:pt x="15553" y="20441"/>
                </a:cubicBezTo>
                <a:cubicBezTo>
                  <a:pt x="15553" y="20423"/>
                  <a:pt x="15561" y="20389"/>
                  <a:pt x="15569" y="20367"/>
                </a:cubicBezTo>
                <a:cubicBezTo>
                  <a:pt x="15580" y="20341"/>
                  <a:pt x="15588" y="20301"/>
                  <a:pt x="15592" y="20250"/>
                </a:cubicBezTo>
                <a:cubicBezTo>
                  <a:pt x="15596" y="20207"/>
                  <a:pt x="15601" y="20155"/>
                  <a:pt x="15604" y="20132"/>
                </a:cubicBezTo>
                <a:cubicBezTo>
                  <a:pt x="15607" y="20109"/>
                  <a:pt x="15610" y="20079"/>
                  <a:pt x="15610" y="20064"/>
                </a:cubicBezTo>
                <a:cubicBezTo>
                  <a:pt x="15610" y="20050"/>
                  <a:pt x="15615" y="20027"/>
                  <a:pt x="15620" y="20014"/>
                </a:cubicBezTo>
                <a:cubicBezTo>
                  <a:pt x="15627" y="20001"/>
                  <a:pt x="15633" y="19965"/>
                  <a:pt x="15635" y="19926"/>
                </a:cubicBezTo>
                <a:cubicBezTo>
                  <a:pt x="15637" y="19890"/>
                  <a:pt x="15642" y="19828"/>
                  <a:pt x="15647" y="19787"/>
                </a:cubicBezTo>
                <a:cubicBezTo>
                  <a:pt x="15651" y="19746"/>
                  <a:pt x="15654" y="19689"/>
                  <a:pt x="15654" y="19662"/>
                </a:cubicBezTo>
                <a:cubicBezTo>
                  <a:pt x="15654" y="19631"/>
                  <a:pt x="15657" y="19609"/>
                  <a:pt x="15662" y="19604"/>
                </a:cubicBezTo>
                <a:cubicBezTo>
                  <a:pt x="15666" y="19600"/>
                  <a:pt x="15672" y="19570"/>
                  <a:pt x="15674" y="19539"/>
                </a:cubicBezTo>
                <a:cubicBezTo>
                  <a:pt x="15676" y="19508"/>
                  <a:pt x="15681" y="19476"/>
                  <a:pt x="15685" y="19465"/>
                </a:cubicBezTo>
                <a:cubicBezTo>
                  <a:pt x="15694" y="19439"/>
                  <a:pt x="15694" y="18501"/>
                  <a:pt x="15685" y="18475"/>
                </a:cubicBezTo>
                <a:cubicBezTo>
                  <a:pt x="15681" y="18464"/>
                  <a:pt x="15676" y="18424"/>
                  <a:pt x="15674" y="18386"/>
                </a:cubicBezTo>
                <a:cubicBezTo>
                  <a:pt x="15672" y="18345"/>
                  <a:pt x="15666" y="18314"/>
                  <a:pt x="15662" y="18310"/>
                </a:cubicBezTo>
                <a:cubicBezTo>
                  <a:pt x="15657" y="18306"/>
                  <a:pt x="15654" y="18284"/>
                  <a:pt x="15654" y="18260"/>
                </a:cubicBezTo>
                <a:cubicBezTo>
                  <a:pt x="15654" y="18237"/>
                  <a:pt x="15651" y="18181"/>
                  <a:pt x="15647" y="18135"/>
                </a:cubicBezTo>
                <a:cubicBezTo>
                  <a:pt x="15642" y="18089"/>
                  <a:pt x="15635" y="18011"/>
                  <a:pt x="15631" y="17962"/>
                </a:cubicBezTo>
                <a:cubicBezTo>
                  <a:pt x="15628" y="17914"/>
                  <a:pt x="15622" y="17872"/>
                  <a:pt x="15617" y="17866"/>
                </a:cubicBezTo>
                <a:cubicBezTo>
                  <a:pt x="15613" y="17860"/>
                  <a:pt x="15610" y="17841"/>
                  <a:pt x="15610" y="17826"/>
                </a:cubicBezTo>
                <a:cubicBezTo>
                  <a:pt x="15610" y="17812"/>
                  <a:pt x="15607" y="17790"/>
                  <a:pt x="15604" y="17777"/>
                </a:cubicBezTo>
                <a:cubicBezTo>
                  <a:pt x="15601" y="17764"/>
                  <a:pt x="15596" y="17716"/>
                  <a:pt x="15592" y="17672"/>
                </a:cubicBezTo>
                <a:cubicBezTo>
                  <a:pt x="15587" y="17614"/>
                  <a:pt x="15581" y="17583"/>
                  <a:pt x="15569" y="17557"/>
                </a:cubicBezTo>
                <a:cubicBezTo>
                  <a:pt x="15560" y="17536"/>
                  <a:pt x="15553" y="17506"/>
                  <a:pt x="15553" y="17487"/>
                </a:cubicBezTo>
                <a:cubicBezTo>
                  <a:pt x="15553" y="17468"/>
                  <a:pt x="15549" y="17446"/>
                  <a:pt x="15544" y="17437"/>
                </a:cubicBezTo>
                <a:cubicBezTo>
                  <a:pt x="15540" y="17428"/>
                  <a:pt x="15537" y="17408"/>
                  <a:pt x="15537" y="17395"/>
                </a:cubicBezTo>
                <a:cubicBezTo>
                  <a:pt x="15537" y="17382"/>
                  <a:pt x="15530" y="17362"/>
                  <a:pt x="15522" y="17351"/>
                </a:cubicBezTo>
                <a:cubicBezTo>
                  <a:pt x="15514" y="17338"/>
                  <a:pt x="15507" y="17306"/>
                  <a:pt x="15503" y="17267"/>
                </a:cubicBezTo>
                <a:cubicBezTo>
                  <a:pt x="15498" y="17221"/>
                  <a:pt x="15492" y="17203"/>
                  <a:pt x="15482" y="17194"/>
                </a:cubicBezTo>
                <a:cubicBezTo>
                  <a:pt x="15474" y="17186"/>
                  <a:pt x="15469" y="17169"/>
                  <a:pt x="15469" y="17155"/>
                </a:cubicBezTo>
                <a:cubicBezTo>
                  <a:pt x="15469" y="17141"/>
                  <a:pt x="15463" y="17118"/>
                  <a:pt x="15457" y="17105"/>
                </a:cubicBezTo>
                <a:cubicBezTo>
                  <a:pt x="15451" y="17091"/>
                  <a:pt x="15446" y="17069"/>
                  <a:pt x="15446" y="17055"/>
                </a:cubicBezTo>
                <a:cubicBezTo>
                  <a:pt x="15446" y="17042"/>
                  <a:pt x="15439" y="17022"/>
                  <a:pt x="15430" y="17011"/>
                </a:cubicBezTo>
                <a:cubicBezTo>
                  <a:pt x="15420" y="16999"/>
                  <a:pt x="15412" y="16974"/>
                  <a:pt x="15409" y="16948"/>
                </a:cubicBezTo>
                <a:cubicBezTo>
                  <a:pt x="15405" y="16916"/>
                  <a:pt x="15399" y="16902"/>
                  <a:pt x="15384" y="16891"/>
                </a:cubicBezTo>
                <a:cubicBezTo>
                  <a:pt x="15369" y="16879"/>
                  <a:pt x="15363" y="16865"/>
                  <a:pt x="15359" y="16833"/>
                </a:cubicBezTo>
                <a:cubicBezTo>
                  <a:pt x="15355" y="16801"/>
                  <a:pt x="15350" y="16789"/>
                  <a:pt x="15338" y="16783"/>
                </a:cubicBezTo>
                <a:cubicBezTo>
                  <a:pt x="15329" y="16779"/>
                  <a:pt x="15320" y="16760"/>
                  <a:pt x="15316" y="16739"/>
                </a:cubicBezTo>
                <a:cubicBezTo>
                  <a:pt x="15312" y="16720"/>
                  <a:pt x="15301" y="16695"/>
                  <a:pt x="15292" y="16684"/>
                </a:cubicBezTo>
                <a:cubicBezTo>
                  <a:pt x="15252" y="16637"/>
                  <a:pt x="15236" y="16610"/>
                  <a:pt x="15232" y="16585"/>
                </a:cubicBezTo>
                <a:cubicBezTo>
                  <a:pt x="15229" y="16566"/>
                  <a:pt x="15220" y="16557"/>
                  <a:pt x="15205" y="16551"/>
                </a:cubicBezTo>
                <a:cubicBezTo>
                  <a:pt x="15192" y="16546"/>
                  <a:pt x="15174" y="16525"/>
                  <a:pt x="15164" y="16504"/>
                </a:cubicBezTo>
                <a:cubicBezTo>
                  <a:pt x="15154" y="16483"/>
                  <a:pt x="15139" y="16461"/>
                  <a:pt x="15129" y="16457"/>
                </a:cubicBezTo>
                <a:cubicBezTo>
                  <a:pt x="15061" y="16426"/>
                  <a:pt x="15025" y="16401"/>
                  <a:pt x="15016" y="16378"/>
                </a:cubicBezTo>
                <a:cubicBezTo>
                  <a:pt x="15009" y="16361"/>
                  <a:pt x="15002" y="16355"/>
                  <a:pt x="14993" y="16360"/>
                </a:cubicBezTo>
                <a:cubicBezTo>
                  <a:pt x="14986" y="16364"/>
                  <a:pt x="14973" y="16363"/>
                  <a:pt x="14964" y="16355"/>
                </a:cubicBezTo>
                <a:cubicBezTo>
                  <a:pt x="14954" y="16346"/>
                  <a:pt x="14874" y="16336"/>
                  <a:pt x="14757" y="16331"/>
                </a:cubicBezTo>
                <a:lnTo>
                  <a:pt x="14565" y="16321"/>
                </a:lnTo>
                <a:lnTo>
                  <a:pt x="14565" y="15996"/>
                </a:lnTo>
                <a:lnTo>
                  <a:pt x="14565" y="15361"/>
                </a:lnTo>
                <a:lnTo>
                  <a:pt x="14565" y="15199"/>
                </a:lnTo>
                <a:lnTo>
                  <a:pt x="14565" y="14404"/>
                </a:lnTo>
                <a:lnTo>
                  <a:pt x="15350" y="14397"/>
                </a:lnTo>
                <a:cubicBezTo>
                  <a:pt x="15761" y="14393"/>
                  <a:pt x="16066" y="14388"/>
                  <a:pt x="16099" y="14386"/>
                </a:cubicBezTo>
                <a:cubicBezTo>
                  <a:pt x="16117" y="14385"/>
                  <a:pt x="16135" y="14383"/>
                  <a:pt x="16136" y="14381"/>
                </a:cubicBezTo>
                <a:cubicBezTo>
                  <a:pt x="16136" y="14380"/>
                  <a:pt x="16136" y="14359"/>
                  <a:pt x="16137" y="14352"/>
                </a:cubicBezTo>
                <a:cubicBezTo>
                  <a:pt x="16137" y="14323"/>
                  <a:pt x="16138" y="14146"/>
                  <a:pt x="16139" y="13897"/>
                </a:cubicBezTo>
                <a:cubicBezTo>
                  <a:pt x="16140" y="13581"/>
                  <a:pt x="16143" y="13407"/>
                  <a:pt x="16146" y="13398"/>
                </a:cubicBezTo>
                <a:cubicBezTo>
                  <a:pt x="16151" y="13388"/>
                  <a:pt x="16369" y="13385"/>
                  <a:pt x="16853" y="13388"/>
                </a:cubicBezTo>
                <a:lnTo>
                  <a:pt x="17552" y="13390"/>
                </a:lnTo>
                <a:lnTo>
                  <a:pt x="17554" y="13879"/>
                </a:lnTo>
                <a:cubicBezTo>
                  <a:pt x="17555" y="14170"/>
                  <a:pt x="17557" y="14300"/>
                  <a:pt x="17560" y="14352"/>
                </a:cubicBezTo>
                <a:cubicBezTo>
                  <a:pt x="17561" y="14370"/>
                  <a:pt x="17562" y="14378"/>
                  <a:pt x="17563" y="14381"/>
                </a:cubicBezTo>
                <a:cubicBezTo>
                  <a:pt x="17564" y="14384"/>
                  <a:pt x="17578" y="14387"/>
                  <a:pt x="17606" y="14389"/>
                </a:cubicBezTo>
                <a:cubicBezTo>
                  <a:pt x="17633" y="14391"/>
                  <a:pt x="17673" y="14392"/>
                  <a:pt x="17730" y="14394"/>
                </a:cubicBezTo>
                <a:cubicBezTo>
                  <a:pt x="17730" y="14394"/>
                  <a:pt x="17731" y="14394"/>
                  <a:pt x="17731" y="14394"/>
                </a:cubicBezTo>
                <a:cubicBezTo>
                  <a:pt x="17844" y="14397"/>
                  <a:pt x="18018" y="14398"/>
                  <a:pt x="18268" y="14399"/>
                </a:cubicBezTo>
                <a:lnTo>
                  <a:pt x="18965" y="14404"/>
                </a:lnTo>
                <a:lnTo>
                  <a:pt x="18965" y="15199"/>
                </a:lnTo>
                <a:lnTo>
                  <a:pt x="18965" y="15361"/>
                </a:lnTo>
                <a:lnTo>
                  <a:pt x="18965" y="15996"/>
                </a:lnTo>
                <a:lnTo>
                  <a:pt x="18965" y="16321"/>
                </a:lnTo>
                <a:lnTo>
                  <a:pt x="18731" y="16331"/>
                </a:lnTo>
                <a:cubicBezTo>
                  <a:pt x="18590" y="16336"/>
                  <a:pt x="18491" y="16343"/>
                  <a:pt x="18482" y="16352"/>
                </a:cubicBezTo>
                <a:cubicBezTo>
                  <a:pt x="18474" y="16360"/>
                  <a:pt x="18463" y="16364"/>
                  <a:pt x="18457" y="16360"/>
                </a:cubicBezTo>
                <a:cubicBezTo>
                  <a:pt x="18450" y="16356"/>
                  <a:pt x="18442" y="16363"/>
                  <a:pt x="18435" y="16378"/>
                </a:cubicBezTo>
                <a:cubicBezTo>
                  <a:pt x="18425" y="16403"/>
                  <a:pt x="18403" y="16420"/>
                  <a:pt x="18336" y="16451"/>
                </a:cubicBezTo>
                <a:cubicBezTo>
                  <a:pt x="18316" y="16461"/>
                  <a:pt x="18299" y="16478"/>
                  <a:pt x="18287" y="16504"/>
                </a:cubicBezTo>
                <a:cubicBezTo>
                  <a:pt x="18276" y="16528"/>
                  <a:pt x="18260" y="16545"/>
                  <a:pt x="18244" y="16551"/>
                </a:cubicBezTo>
                <a:cubicBezTo>
                  <a:pt x="18224" y="16558"/>
                  <a:pt x="18217" y="16567"/>
                  <a:pt x="18213" y="16593"/>
                </a:cubicBezTo>
                <a:cubicBezTo>
                  <a:pt x="18210" y="16611"/>
                  <a:pt x="18206" y="16626"/>
                  <a:pt x="18202" y="16626"/>
                </a:cubicBezTo>
                <a:cubicBezTo>
                  <a:pt x="18199" y="16626"/>
                  <a:pt x="18188" y="16642"/>
                  <a:pt x="18178" y="16660"/>
                </a:cubicBezTo>
                <a:cubicBezTo>
                  <a:pt x="18169" y="16679"/>
                  <a:pt x="18159" y="16694"/>
                  <a:pt x="18154" y="16694"/>
                </a:cubicBezTo>
                <a:cubicBezTo>
                  <a:pt x="18150" y="16694"/>
                  <a:pt x="18143" y="16711"/>
                  <a:pt x="18139" y="16731"/>
                </a:cubicBezTo>
                <a:cubicBezTo>
                  <a:pt x="18135" y="16754"/>
                  <a:pt x="18125" y="16773"/>
                  <a:pt x="18114" y="16781"/>
                </a:cubicBezTo>
                <a:cubicBezTo>
                  <a:pt x="18103" y="16789"/>
                  <a:pt x="18096" y="16803"/>
                  <a:pt x="18096" y="16817"/>
                </a:cubicBezTo>
                <a:cubicBezTo>
                  <a:pt x="18096" y="16845"/>
                  <a:pt x="18070" y="16896"/>
                  <a:pt x="18056" y="16896"/>
                </a:cubicBezTo>
                <a:cubicBezTo>
                  <a:pt x="18050" y="16896"/>
                  <a:pt x="18045" y="16910"/>
                  <a:pt x="18042" y="16943"/>
                </a:cubicBezTo>
                <a:cubicBezTo>
                  <a:pt x="18040" y="16977"/>
                  <a:pt x="18035" y="16996"/>
                  <a:pt x="18023" y="17011"/>
                </a:cubicBezTo>
                <a:cubicBezTo>
                  <a:pt x="18013" y="17022"/>
                  <a:pt x="18005" y="17042"/>
                  <a:pt x="18005" y="17055"/>
                </a:cubicBezTo>
                <a:cubicBezTo>
                  <a:pt x="18005" y="17069"/>
                  <a:pt x="18000" y="17091"/>
                  <a:pt x="17994" y="17105"/>
                </a:cubicBezTo>
                <a:cubicBezTo>
                  <a:pt x="17988" y="17118"/>
                  <a:pt x="17983" y="17141"/>
                  <a:pt x="17983" y="17155"/>
                </a:cubicBezTo>
                <a:cubicBezTo>
                  <a:pt x="17983" y="17169"/>
                  <a:pt x="17977" y="17184"/>
                  <a:pt x="17969" y="17191"/>
                </a:cubicBezTo>
                <a:cubicBezTo>
                  <a:pt x="17957" y="17202"/>
                  <a:pt x="17938" y="17277"/>
                  <a:pt x="17938" y="17311"/>
                </a:cubicBezTo>
                <a:cubicBezTo>
                  <a:pt x="17938" y="17319"/>
                  <a:pt x="17932" y="17337"/>
                  <a:pt x="17926" y="17348"/>
                </a:cubicBezTo>
                <a:cubicBezTo>
                  <a:pt x="17913" y="17369"/>
                  <a:pt x="17899" y="17448"/>
                  <a:pt x="17898" y="17494"/>
                </a:cubicBezTo>
                <a:cubicBezTo>
                  <a:pt x="17898" y="17508"/>
                  <a:pt x="17891" y="17537"/>
                  <a:pt x="17882" y="17557"/>
                </a:cubicBezTo>
                <a:cubicBezTo>
                  <a:pt x="17870" y="17583"/>
                  <a:pt x="17864" y="17614"/>
                  <a:pt x="17859" y="17672"/>
                </a:cubicBezTo>
                <a:cubicBezTo>
                  <a:pt x="17856" y="17716"/>
                  <a:pt x="17850" y="17764"/>
                  <a:pt x="17847" y="17777"/>
                </a:cubicBezTo>
                <a:cubicBezTo>
                  <a:pt x="17844" y="17790"/>
                  <a:pt x="17842" y="17812"/>
                  <a:pt x="17842" y="17826"/>
                </a:cubicBezTo>
                <a:cubicBezTo>
                  <a:pt x="17842" y="17841"/>
                  <a:pt x="17838" y="17860"/>
                  <a:pt x="17834" y="17866"/>
                </a:cubicBezTo>
                <a:cubicBezTo>
                  <a:pt x="17826" y="17878"/>
                  <a:pt x="17815" y="17981"/>
                  <a:pt x="17815" y="18043"/>
                </a:cubicBezTo>
                <a:cubicBezTo>
                  <a:pt x="17815" y="18066"/>
                  <a:pt x="17811" y="18099"/>
                  <a:pt x="17806" y="18117"/>
                </a:cubicBezTo>
                <a:cubicBezTo>
                  <a:pt x="17801" y="18134"/>
                  <a:pt x="17796" y="18181"/>
                  <a:pt x="17794" y="18221"/>
                </a:cubicBezTo>
                <a:cubicBezTo>
                  <a:pt x="17792" y="18261"/>
                  <a:pt x="17787" y="18300"/>
                  <a:pt x="17783" y="18307"/>
                </a:cubicBezTo>
                <a:cubicBezTo>
                  <a:pt x="17767" y="18340"/>
                  <a:pt x="17761" y="18517"/>
                  <a:pt x="17761" y="18969"/>
                </a:cubicBezTo>
                <a:cubicBezTo>
                  <a:pt x="17761" y="19428"/>
                  <a:pt x="17767" y="19588"/>
                  <a:pt x="17784" y="19604"/>
                </a:cubicBezTo>
                <a:cubicBezTo>
                  <a:pt x="17789" y="19608"/>
                  <a:pt x="17792" y="19629"/>
                  <a:pt x="17792" y="19654"/>
                </a:cubicBezTo>
                <a:cubicBezTo>
                  <a:pt x="17792" y="19714"/>
                  <a:pt x="17802" y="19852"/>
                  <a:pt x="17811" y="19902"/>
                </a:cubicBezTo>
                <a:cubicBezTo>
                  <a:pt x="17815" y="19925"/>
                  <a:pt x="17821" y="19968"/>
                  <a:pt x="17823" y="19999"/>
                </a:cubicBezTo>
                <a:cubicBezTo>
                  <a:pt x="17825" y="20029"/>
                  <a:pt x="17830" y="20060"/>
                  <a:pt x="17834" y="20064"/>
                </a:cubicBezTo>
                <a:cubicBezTo>
                  <a:pt x="17839" y="20068"/>
                  <a:pt x="17842" y="20081"/>
                  <a:pt x="17842" y="20096"/>
                </a:cubicBezTo>
                <a:cubicBezTo>
                  <a:pt x="17842" y="20110"/>
                  <a:pt x="17845" y="20128"/>
                  <a:pt x="17848" y="20132"/>
                </a:cubicBezTo>
                <a:cubicBezTo>
                  <a:pt x="17851" y="20137"/>
                  <a:pt x="17854" y="20157"/>
                  <a:pt x="17854" y="20177"/>
                </a:cubicBezTo>
                <a:cubicBezTo>
                  <a:pt x="17854" y="20239"/>
                  <a:pt x="17869" y="20336"/>
                  <a:pt x="17884" y="20373"/>
                </a:cubicBezTo>
                <a:cubicBezTo>
                  <a:pt x="17892" y="20392"/>
                  <a:pt x="17898" y="20419"/>
                  <a:pt x="17898" y="20433"/>
                </a:cubicBezTo>
                <a:cubicBezTo>
                  <a:pt x="17899" y="20476"/>
                  <a:pt x="17914" y="20561"/>
                  <a:pt x="17924" y="20574"/>
                </a:cubicBezTo>
                <a:cubicBezTo>
                  <a:pt x="17929" y="20581"/>
                  <a:pt x="17939" y="20618"/>
                  <a:pt x="17946" y="20658"/>
                </a:cubicBezTo>
                <a:cubicBezTo>
                  <a:pt x="17955" y="20701"/>
                  <a:pt x="17964" y="20732"/>
                  <a:pt x="17971" y="20736"/>
                </a:cubicBezTo>
                <a:cubicBezTo>
                  <a:pt x="17978" y="20740"/>
                  <a:pt x="17983" y="20755"/>
                  <a:pt x="17983" y="20770"/>
                </a:cubicBezTo>
                <a:cubicBezTo>
                  <a:pt x="17983" y="20784"/>
                  <a:pt x="17988" y="20806"/>
                  <a:pt x="17994" y="20820"/>
                </a:cubicBezTo>
                <a:cubicBezTo>
                  <a:pt x="18000" y="20833"/>
                  <a:pt x="18005" y="20856"/>
                  <a:pt x="18005" y="20869"/>
                </a:cubicBezTo>
                <a:cubicBezTo>
                  <a:pt x="18005" y="20883"/>
                  <a:pt x="18013" y="20905"/>
                  <a:pt x="18023" y="20916"/>
                </a:cubicBezTo>
                <a:cubicBezTo>
                  <a:pt x="18034" y="20931"/>
                  <a:pt x="18041" y="20952"/>
                  <a:pt x="18043" y="20979"/>
                </a:cubicBezTo>
                <a:cubicBezTo>
                  <a:pt x="18046" y="21007"/>
                  <a:pt x="18051" y="21022"/>
                  <a:pt x="18061" y="21031"/>
                </a:cubicBezTo>
                <a:cubicBezTo>
                  <a:pt x="18080" y="21049"/>
                  <a:pt x="18096" y="21083"/>
                  <a:pt x="18096" y="21110"/>
                </a:cubicBezTo>
                <a:cubicBezTo>
                  <a:pt x="18096" y="21123"/>
                  <a:pt x="18103" y="21139"/>
                  <a:pt x="18114" y="21146"/>
                </a:cubicBezTo>
                <a:cubicBezTo>
                  <a:pt x="18124" y="21154"/>
                  <a:pt x="18134" y="21174"/>
                  <a:pt x="18138" y="21191"/>
                </a:cubicBezTo>
                <a:cubicBezTo>
                  <a:pt x="18142" y="21208"/>
                  <a:pt x="18159" y="21238"/>
                  <a:pt x="18177" y="21259"/>
                </a:cubicBezTo>
                <a:cubicBezTo>
                  <a:pt x="18195" y="21280"/>
                  <a:pt x="18212" y="21312"/>
                  <a:pt x="18215" y="21329"/>
                </a:cubicBezTo>
                <a:cubicBezTo>
                  <a:pt x="18220" y="21350"/>
                  <a:pt x="18231" y="21367"/>
                  <a:pt x="18247" y="21376"/>
                </a:cubicBezTo>
                <a:cubicBezTo>
                  <a:pt x="18260" y="21384"/>
                  <a:pt x="18279" y="21406"/>
                  <a:pt x="18288" y="21426"/>
                </a:cubicBezTo>
                <a:cubicBezTo>
                  <a:pt x="18299" y="21448"/>
                  <a:pt x="18318" y="21467"/>
                  <a:pt x="18337" y="21476"/>
                </a:cubicBezTo>
                <a:cubicBezTo>
                  <a:pt x="18404" y="21507"/>
                  <a:pt x="18425" y="21521"/>
                  <a:pt x="18432" y="21541"/>
                </a:cubicBezTo>
                <a:cubicBezTo>
                  <a:pt x="18436" y="21553"/>
                  <a:pt x="18447" y="21565"/>
                  <a:pt x="18457" y="21567"/>
                </a:cubicBezTo>
                <a:cubicBezTo>
                  <a:pt x="18467" y="21569"/>
                  <a:pt x="18504" y="21576"/>
                  <a:pt x="18540" y="21583"/>
                </a:cubicBezTo>
                <a:cubicBezTo>
                  <a:pt x="18627" y="21600"/>
                  <a:pt x="20734" y="21600"/>
                  <a:pt x="20815" y="21583"/>
                </a:cubicBezTo>
                <a:cubicBezTo>
                  <a:pt x="20849" y="21576"/>
                  <a:pt x="20886" y="21569"/>
                  <a:pt x="20897" y="21567"/>
                </a:cubicBezTo>
                <a:cubicBezTo>
                  <a:pt x="20909" y="21565"/>
                  <a:pt x="20922" y="21553"/>
                  <a:pt x="20926" y="21541"/>
                </a:cubicBezTo>
                <a:cubicBezTo>
                  <a:pt x="20932" y="21523"/>
                  <a:pt x="20967" y="21501"/>
                  <a:pt x="21035" y="21471"/>
                </a:cubicBezTo>
                <a:cubicBezTo>
                  <a:pt x="21044" y="21466"/>
                  <a:pt x="21061" y="21443"/>
                  <a:pt x="21072" y="21421"/>
                </a:cubicBezTo>
                <a:cubicBezTo>
                  <a:pt x="21082" y="21399"/>
                  <a:pt x="21096" y="21382"/>
                  <a:pt x="21102" y="21382"/>
                </a:cubicBezTo>
                <a:cubicBezTo>
                  <a:pt x="21117" y="21382"/>
                  <a:pt x="21138" y="21345"/>
                  <a:pt x="21138" y="21319"/>
                </a:cubicBezTo>
                <a:cubicBezTo>
                  <a:pt x="21138" y="21308"/>
                  <a:pt x="21146" y="21293"/>
                  <a:pt x="21154" y="21285"/>
                </a:cubicBezTo>
                <a:cubicBezTo>
                  <a:pt x="21193" y="21251"/>
                  <a:pt x="21216" y="21217"/>
                  <a:pt x="21222" y="21186"/>
                </a:cubicBezTo>
                <a:cubicBezTo>
                  <a:pt x="21226" y="21165"/>
                  <a:pt x="21235" y="21149"/>
                  <a:pt x="21245" y="21144"/>
                </a:cubicBezTo>
                <a:cubicBezTo>
                  <a:pt x="21257" y="21138"/>
                  <a:pt x="21262" y="21127"/>
                  <a:pt x="21264" y="21097"/>
                </a:cubicBezTo>
                <a:cubicBezTo>
                  <a:pt x="21267" y="21067"/>
                  <a:pt x="21273" y="21052"/>
                  <a:pt x="21288" y="21037"/>
                </a:cubicBezTo>
                <a:cubicBezTo>
                  <a:pt x="21302" y="21023"/>
                  <a:pt x="21309" y="21004"/>
                  <a:pt x="21313" y="20976"/>
                </a:cubicBezTo>
                <a:cubicBezTo>
                  <a:pt x="21317" y="20954"/>
                  <a:pt x="21327" y="20925"/>
                  <a:pt x="21336" y="20914"/>
                </a:cubicBezTo>
                <a:cubicBezTo>
                  <a:pt x="21345" y="20903"/>
                  <a:pt x="21352" y="20883"/>
                  <a:pt x="21353" y="20869"/>
                </a:cubicBezTo>
                <a:cubicBezTo>
                  <a:pt x="21353" y="20856"/>
                  <a:pt x="21357" y="20833"/>
                  <a:pt x="21363" y="20820"/>
                </a:cubicBezTo>
                <a:cubicBezTo>
                  <a:pt x="21370" y="20806"/>
                  <a:pt x="21374" y="20784"/>
                  <a:pt x="21374" y="20770"/>
                </a:cubicBezTo>
                <a:cubicBezTo>
                  <a:pt x="21374" y="20756"/>
                  <a:pt x="21381" y="20740"/>
                  <a:pt x="21388" y="20733"/>
                </a:cubicBezTo>
                <a:cubicBezTo>
                  <a:pt x="21398" y="20725"/>
                  <a:pt x="21403" y="20705"/>
                  <a:pt x="21408" y="20660"/>
                </a:cubicBezTo>
                <a:cubicBezTo>
                  <a:pt x="21412" y="20621"/>
                  <a:pt x="21419" y="20591"/>
                  <a:pt x="21428" y="20577"/>
                </a:cubicBezTo>
                <a:cubicBezTo>
                  <a:pt x="21435" y="20564"/>
                  <a:pt x="21442" y="20543"/>
                  <a:pt x="21442" y="20529"/>
                </a:cubicBezTo>
                <a:cubicBezTo>
                  <a:pt x="21442" y="20516"/>
                  <a:pt x="21446" y="20500"/>
                  <a:pt x="21451" y="20490"/>
                </a:cubicBezTo>
                <a:cubicBezTo>
                  <a:pt x="21455" y="20481"/>
                  <a:pt x="21459" y="20458"/>
                  <a:pt x="21459" y="20441"/>
                </a:cubicBezTo>
                <a:cubicBezTo>
                  <a:pt x="21459" y="20423"/>
                  <a:pt x="21467" y="20389"/>
                  <a:pt x="21476" y="20367"/>
                </a:cubicBezTo>
                <a:cubicBezTo>
                  <a:pt x="21486" y="20341"/>
                  <a:pt x="21494" y="20301"/>
                  <a:pt x="21498" y="20250"/>
                </a:cubicBezTo>
                <a:cubicBezTo>
                  <a:pt x="21502" y="20207"/>
                  <a:pt x="21507" y="20155"/>
                  <a:pt x="21510" y="20132"/>
                </a:cubicBezTo>
                <a:cubicBezTo>
                  <a:pt x="21513" y="20109"/>
                  <a:pt x="21515" y="20079"/>
                  <a:pt x="21515" y="20064"/>
                </a:cubicBezTo>
                <a:cubicBezTo>
                  <a:pt x="21515" y="20050"/>
                  <a:pt x="21520" y="20027"/>
                  <a:pt x="21526" y="20014"/>
                </a:cubicBezTo>
                <a:cubicBezTo>
                  <a:pt x="21532" y="20001"/>
                  <a:pt x="21539" y="19965"/>
                  <a:pt x="21541" y="19926"/>
                </a:cubicBezTo>
                <a:cubicBezTo>
                  <a:pt x="21543" y="19890"/>
                  <a:pt x="21547" y="19828"/>
                  <a:pt x="21552" y="19787"/>
                </a:cubicBezTo>
                <a:cubicBezTo>
                  <a:pt x="21556" y="19746"/>
                  <a:pt x="21560" y="19689"/>
                  <a:pt x="21560" y="19662"/>
                </a:cubicBezTo>
                <a:cubicBezTo>
                  <a:pt x="21560" y="19631"/>
                  <a:pt x="21563" y="19609"/>
                  <a:pt x="21568" y="19604"/>
                </a:cubicBezTo>
                <a:cubicBezTo>
                  <a:pt x="21573" y="19600"/>
                  <a:pt x="21578" y="19570"/>
                  <a:pt x="21580" y="19539"/>
                </a:cubicBezTo>
                <a:cubicBezTo>
                  <a:pt x="21582" y="19508"/>
                  <a:pt x="21587" y="19476"/>
                  <a:pt x="21591" y="19465"/>
                </a:cubicBezTo>
                <a:cubicBezTo>
                  <a:pt x="21600" y="19439"/>
                  <a:pt x="21600" y="18501"/>
                  <a:pt x="21591" y="18475"/>
                </a:cubicBezTo>
                <a:cubicBezTo>
                  <a:pt x="21587" y="18464"/>
                  <a:pt x="21582" y="18424"/>
                  <a:pt x="21580" y="18386"/>
                </a:cubicBezTo>
                <a:cubicBezTo>
                  <a:pt x="21578" y="18345"/>
                  <a:pt x="21573" y="18314"/>
                  <a:pt x="21568" y="18310"/>
                </a:cubicBezTo>
                <a:cubicBezTo>
                  <a:pt x="21564" y="18306"/>
                  <a:pt x="21560" y="18284"/>
                  <a:pt x="21560" y="18260"/>
                </a:cubicBezTo>
                <a:cubicBezTo>
                  <a:pt x="21560" y="18237"/>
                  <a:pt x="21556" y="18181"/>
                  <a:pt x="21552" y="18135"/>
                </a:cubicBezTo>
                <a:cubicBezTo>
                  <a:pt x="21547" y="18089"/>
                  <a:pt x="21541" y="18011"/>
                  <a:pt x="21538" y="17962"/>
                </a:cubicBezTo>
                <a:cubicBezTo>
                  <a:pt x="21534" y="17914"/>
                  <a:pt x="21528" y="17872"/>
                  <a:pt x="21523" y="17866"/>
                </a:cubicBezTo>
                <a:cubicBezTo>
                  <a:pt x="21519" y="17860"/>
                  <a:pt x="21515" y="17841"/>
                  <a:pt x="21515" y="17826"/>
                </a:cubicBezTo>
                <a:cubicBezTo>
                  <a:pt x="21515" y="17812"/>
                  <a:pt x="21513" y="17790"/>
                  <a:pt x="21510" y="17777"/>
                </a:cubicBezTo>
                <a:cubicBezTo>
                  <a:pt x="21508" y="17764"/>
                  <a:pt x="21502" y="17716"/>
                  <a:pt x="21498" y="17672"/>
                </a:cubicBezTo>
                <a:cubicBezTo>
                  <a:pt x="21494" y="17614"/>
                  <a:pt x="21487" y="17583"/>
                  <a:pt x="21476" y="17557"/>
                </a:cubicBezTo>
                <a:cubicBezTo>
                  <a:pt x="21466" y="17536"/>
                  <a:pt x="21459" y="17506"/>
                  <a:pt x="21459" y="17487"/>
                </a:cubicBezTo>
                <a:cubicBezTo>
                  <a:pt x="21459" y="17468"/>
                  <a:pt x="21455" y="17446"/>
                  <a:pt x="21451" y="17437"/>
                </a:cubicBezTo>
                <a:cubicBezTo>
                  <a:pt x="21446" y="17428"/>
                  <a:pt x="21442" y="17408"/>
                  <a:pt x="21442" y="17395"/>
                </a:cubicBezTo>
                <a:cubicBezTo>
                  <a:pt x="21442" y="17382"/>
                  <a:pt x="21436" y="17362"/>
                  <a:pt x="21429" y="17351"/>
                </a:cubicBezTo>
                <a:cubicBezTo>
                  <a:pt x="21420" y="17338"/>
                  <a:pt x="21413" y="17306"/>
                  <a:pt x="21409" y="17267"/>
                </a:cubicBezTo>
                <a:cubicBezTo>
                  <a:pt x="21404" y="17221"/>
                  <a:pt x="21399" y="17203"/>
                  <a:pt x="21388" y="17194"/>
                </a:cubicBezTo>
                <a:cubicBezTo>
                  <a:pt x="21380" y="17186"/>
                  <a:pt x="21374" y="17169"/>
                  <a:pt x="21374" y="17155"/>
                </a:cubicBezTo>
                <a:cubicBezTo>
                  <a:pt x="21374" y="17141"/>
                  <a:pt x="21370" y="17118"/>
                  <a:pt x="21363" y="17105"/>
                </a:cubicBezTo>
                <a:cubicBezTo>
                  <a:pt x="21357" y="17091"/>
                  <a:pt x="21352" y="17069"/>
                  <a:pt x="21353" y="17055"/>
                </a:cubicBezTo>
                <a:cubicBezTo>
                  <a:pt x="21353" y="17042"/>
                  <a:pt x="21345" y="17022"/>
                  <a:pt x="21336" y="17011"/>
                </a:cubicBezTo>
                <a:cubicBezTo>
                  <a:pt x="21327" y="16999"/>
                  <a:pt x="21319" y="16974"/>
                  <a:pt x="21315" y="16948"/>
                </a:cubicBezTo>
                <a:cubicBezTo>
                  <a:pt x="21312" y="16916"/>
                  <a:pt x="21305" y="16902"/>
                  <a:pt x="21290" y="16891"/>
                </a:cubicBezTo>
                <a:cubicBezTo>
                  <a:pt x="21276" y="16879"/>
                  <a:pt x="21269" y="16865"/>
                  <a:pt x="21265" y="16833"/>
                </a:cubicBezTo>
                <a:cubicBezTo>
                  <a:pt x="21262" y="16801"/>
                  <a:pt x="21256" y="16789"/>
                  <a:pt x="21245" y="16783"/>
                </a:cubicBezTo>
                <a:cubicBezTo>
                  <a:pt x="21235" y="16779"/>
                  <a:pt x="21226" y="16760"/>
                  <a:pt x="21222" y="16739"/>
                </a:cubicBezTo>
                <a:cubicBezTo>
                  <a:pt x="21218" y="16720"/>
                  <a:pt x="21207" y="16695"/>
                  <a:pt x="21198" y="16684"/>
                </a:cubicBezTo>
                <a:cubicBezTo>
                  <a:pt x="21158" y="16637"/>
                  <a:pt x="21141" y="16610"/>
                  <a:pt x="21137" y="16585"/>
                </a:cubicBezTo>
                <a:cubicBezTo>
                  <a:pt x="21134" y="16566"/>
                  <a:pt x="21126" y="16557"/>
                  <a:pt x="21111" y="16551"/>
                </a:cubicBezTo>
                <a:cubicBezTo>
                  <a:pt x="21098" y="16546"/>
                  <a:pt x="21081" y="16525"/>
                  <a:pt x="21070" y="16504"/>
                </a:cubicBezTo>
                <a:cubicBezTo>
                  <a:pt x="21061" y="16483"/>
                  <a:pt x="21044" y="16461"/>
                  <a:pt x="21035" y="16457"/>
                </a:cubicBezTo>
                <a:cubicBezTo>
                  <a:pt x="20966" y="16426"/>
                  <a:pt x="20932" y="16401"/>
                  <a:pt x="20922" y="16378"/>
                </a:cubicBezTo>
                <a:cubicBezTo>
                  <a:pt x="20915" y="16361"/>
                  <a:pt x="20908" y="16355"/>
                  <a:pt x="20900" y="16360"/>
                </a:cubicBezTo>
                <a:cubicBezTo>
                  <a:pt x="20892" y="16364"/>
                  <a:pt x="20879" y="16361"/>
                  <a:pt x="20870" y="16352"/>
                </a:cubicBezTo>
                <a:cubicBezTo>
                  <a:pt x="20858" y="16339"/>
                  <a:pt x="20653" y="16334"/>
                  <a:pt x="19935" y="16328"/>
                </a:cubicBezTo>
                <a:lnTo>
                  <a:pt x="19015" y="16321"/>
                </a:lnTo>
                <a:lnTo>
                  <a:pt x="19012" y="15314"/>
                </a:lnTo>
                <a:cubicBezTo>
                  <a:pt x="19011" y="14761"/>
                  <a:pt x="19009" y="14307"/>
                  <a:pt x="19008" y="14305"/>
                </a:cubicBezTo>
                <a:cubicBezTo>
                  <a:pt x="19007" y="14303"/>
                  <a:pt x="18690" y="14299"/>
                  <a:pt x="18302" y="14297"/>
                </a:cubicBezTo>
                <a:lnTo>
                  <a:pt x="17598" y="14295"/>
                </a:lnTo>
                <a:lnTo>
                  <a:pt x="17596" y="13845"/>
                </a:lnTo>
                <a:cubicBezTo>
                  <a:pt x="17595" y="13492"/>
                  <a:pt x="17597" y="13394"/>
                  <a:pt x="17602" y="13390"/>
                </a:cubicBezTo>
                <a:cubicBezTo>
                  <a:pt x="17606" y="13387"/>
                  <a:pt x="17643" y="13381"/>
                  <a:pt x="17685" y="13377"/>
                </a:cubicBezTo>
                <a:cubicBezTo>
                  <a:pt x="17727" y="13373"/>
                  <a:pt x="17769" y="13364"/>
                  <a:pt x="17778" y="13356"/>
                </a:cubicBezTo>
                <a:cubicBezTo>
                  <a:pt x="17786" y="13348"/>
                  <a:pt x="17798" y="13347"/>
                  <a:pt x="17804" y="13351"/>
                </a:cubicBezTo>
                <a:cubicBezTo>
                  <a:pt x="17810" y="13356"/>
                  <a:pt x="17813" y="13350"/>
                  <a:pt x="17815" y="13335"/>
                </a:cubicBezTo>
                <a:cubicBezTo>
                  <a:pt x="17817" y="13312"/>
                  <a:pt x="17860" y="13276"/>
                  <a:pt x="17889" y="13275"/>
                </a:cubicBezTo>
                <a:cubicBezTo>
                  <a:pt x="17909" y="13274"/>
                  <a:pt x="17942" y="13234"/>
                  <a:pt x="17945" y="13207"/>
                </a:cubicBezTo>
                <a:cubicBezTo>
                  <a:pt x="17947" y="13195"/>
                  <a:pt x="17964" y="13170"/>
                  <a:pt x="17986" y="13152"/>
                </a:cubicBezTo>
                <a:cubicBezTo>
                  <a:pt x="18013" y="13129"/>
                  <a:pt x="18026" y="13110"/>
                  <a:pt x="18031" y="13084"/>
                </a:cubicBezTo>
                <a:cubicBezTo>
                  <a:pt x="18037" y="13058"/>
                  <a:pt x="18045" y="13046"/>
                  <a:pt x="18062" y="13040"/>
                </a:cubicBezTo>
                <a:cubicBezTo>
                  <a:pt x="18080" y="13033"/>
                  <a:pt x="18085" y="13025"/>
                  <a:pt x="18085" y="13003"/>
                </a:cubicBezTo>
                <a:cubicBezTo>
                  <a:pt x="18085" y="12983"/>
                  <a:pt x="18090" y="12971"/>
                  <a:pt x="18105" y="12956"/>
                </a:cubicBezTo>
                <a:cubicBezTo>
                  <a:pt x="18123" y="12940"/>
                  <a:pt x="18128" y="12923"/>
                  <a:pt x="18135" y="12878"/>
                </a:cubicBezTo>
                <a:cubicBezTo>
                  <a:pt x="18141" y="12838"/>
                  <a:pt x="18147" y="12821"/>
                  <a:pt x="18155" y="12818"/>
                </a:cubicBezTo>
                <a:cubicBezTo>
                  <a:pt x="18164" y="12815"/>
                  <a:pt x="18170" y="12800"/>
                  <a:pt x="18174" y="12768"/>
                </a:cubicBezTo>
                <a:cubicBezTo>
                  <a:pt x="18178" y="12742"/>
                  <a:pt x="18187" y="12712"/>
                  <a:pt x="18195" y="12700"/>
                </a:cubicBezTo>
                <a:cubicBezTo>
                  <a:pt x="18202" y="12688"/>
                  <a:pt x="18208" y="12669"/>
                  <a:pt x="18208" y="12658"/>
                </a:cubicBezTo>
                <a:cubicBezTo>
                  <a:pt x="18208" y="12647"/>
                  <a:pt x="18214" y="12623"/>
                  <a:pt x="18222" y="12606"/>
                </a:cubicBezTo>
                <a:cubicBezTo>
                  <a:pt x="18230" y="12589"/>
                  <a:pt x="18236" y="12563"/>
                  <a:pt x="18236" y="12548"/>
                </a:cubicBezTo>
                <a:cubicBezTo>
                  <a:pt x="18236" y="12534"/>
                  <a:pt x="18242" y="12511"/>
                  <a:pt x="18250" y="12499"/>
                </a:cubicBezTo>
                <a:cubicBezTo>
                  <a:pt x="18258" y="12487"/>
                  <a:pt x="18264" y="12464"/>
                  <a:pt x="18264" y="12449"/>
                </a:cubicBezTo>
                <a:cubicBezTo>
                  <a:pt x="18264" y="12389"/>
                  <a:pt x="18283" y="12272"/>
                  <a:pt x="18293" y="12266"/>
                </a:cubicBezTo>
                <a:cubicBezTo>
                  <a:pt x="18304" y="12259"/>
                  <a:pt x="18314" y="12172"/>
                  <a:pt x="18314" y="12093"/>
                </a:cubicBezTo>
                <a:cubicBezTo>
                  <a:pt x="18314" y="12067"/>
                  <a:pt x="18317" y="12043"/>
                  <a:pt x="18320" y="12039"/>
                </a:cubicBezTo>
                <a:cubicBezTo>
                  <a:pt x="18323" y="12034"/>
                  <a:pt x="18326" y="12015"/>
                  <a:pt x="18326" y="11997"/>
                </a:cubicBezTo>
                <a:cubicBezTo>
                  <a:pt x="18326" y="11978"/>
                  <a:pt x="18331" y="11958"/>
                  <a:pt x="18337" y="11950"/>
                </a:cubicBezTo>
                <a:cubicBezTo>
                  <a:pt x="18343" y="11942"/>
                  <a:pt x="18348" y="11927"/>
                  <a:pt x="18348" y="11916"/>
                </a:cubicBezTo>
                <a:cubicBezTo>
                  <a:pt x="18348" y="11905"/>
                  <a:pt x="18351" y="11887"/>
                  <a:pt x="18354" y="11874"/>
                </a:cubicBezTo>
                <a:cubicBezTo>
                  <a:pt x="18360" y="11847"/>
                  <a:pt x="18377" y="11605"/>
                  <a:pt x="18377" y="11545"/>
                </a:cubicBezTo>
                <a:cubicBezTo>
                  <a:pt x="18377" y="11522"/>
                  <a:pt x="18380" y="11501"/>
                  <a:pt x="18384" y="11497"/>
                </a:cubicBezTo>
                <a:cubicBezTo>
                  <a:pt x="18402" y="11481"/>
                  <a:pt x="18408" y="11326"/>
                  <a:pt x="18408" y="10742"/>
                </a:cubicBezTo>
                <a:cubicBezTo>
                  <a:pt x="18408" y="10158"/>
                  <a:pt x="18402" y="10003"/>
                  <a:pt x="18384" y="9986"/>
                </a:cubicBezTo>
                <a:cubicBezTo>
                  <a:pt x="18380" y="9982"/>
                  <a:pt x="18377" y="9961"/>
                  <a:pt x="18377" y="9939"/>
                </a:cubicBezTo>
                <a:cubicBezTo>
                  <a:pt x="18377" y="9917"/>
                  <a:pt x="18373" y="9840"/>
                  <a:pt x="18368" y="9767"/>
                </a:cubicBezTo>
                <a:cubicBezTo>
                  <a:pt x="18359" y="9635"/>
                  <a:pt x="18346" y="9550"/>
                  <a:pt x="18333" y="9529"/>
                </a:cubicBezTo>
                <a:cubicBezTo>
                  <a:pt x="18329" y="9523"/>
                  <a:pt x="18326" y="9502"/>
                  <a:pt x="18326" y="9485"/>
                </a:cubicBezTo>
                <a:cubicBezTo>
                  <a:pt x="18326" y="9467"/>
                  <a:pt x="18323" y="9450"/>
                  <a:pt x="18320" y="9445"/>
                </a:cubicBezTo>
                <a:cubicBezTo>
                  <a:pt x="18317" y="9441"/>
                  <a:pt x="18314" y="9413"/>
                  <a:pt x="18314" y="9385"/>
                </a:cubicBezTo>
                <a:cubicBezTo>
                  <a:pt x="18314" y="9310"/>
                  <a:pt x="18305" y="9238"/>
                  <a:pt x="18294" y="9231"/>
                </a:cubicBezTo>
                <a:cubicBezTo>
                  <a:pt x="18284" y="9225"/>
                  <a:pt x="18264" y="9093"/>
                  <a:pt x="18264" y="9032"/>
                </a:cubicBezTo>
                <a:cubicBezTo>
                  <a:pt x="18264" y="9017"/>
                  <a:pt x="18258" y="8997"/>
                  <a:pt x="18250" y="8985"/>
                </a:cubicBezTo>
                <a:cubicBezTo>
                  <a:pt x="18242" y="8973"/>
                  <a:pt x="18236" y="8951"/>
                  <a:pt x="18236" y="8938"/>
                </a:cubicBezTo>
                <a:cubicBezTo>
                  <a:pt x="18236" y="8925"/>
                  <a:pt x="18232" y="8906"/>
                  <a:pt x="18227" y="8896"/>
                </a:cubicBezTo>
                <a:cubicBezTo>
                  <a:pt x="18223" y="8887"/>
                  <a:pt x="18219" y="8868"/>
                  <a:pt x="18219" y="8852"/>
                </a:cubicBezTo>
                <a:cubicBezTo>
                  <a:pt x="18218" y="8814"/>
                  <a:pt x="18208" y="8780"/>
                  <a:pt x="18194" y="8773"/>
                </a:cubicBezTo>
                <a:cubicBezTo>
                  <a:pt x="18187" y="8770"/>
                  <a:pt x="18180" y="8750"/>
                  <a:pt x="18176" y="8721"/>
                </a:cubicBezTo>
                <a:cubicBezTo>
                  <a:pt x="18172" y="8692"/>
                  <a:pt x="18164" y="8667"/>
                  <a:pt x="18154" y="8656"/>
                </a:cubicBezTo>
                <a:cubicBezTo>
                  <a:pt x="18146" y="8646"/>
                  <a:pt x="18137" y="8621"/>
                  <a:pt x="18134" y="8601"/>
                </a:cubicBezTo>
                <a:cubicBezTo>
                  <a:pt x="18131" y="8581"/>
                  <a:pt x="18121" y="8554"/>
                  <a:pt x="18112" y="8541"/>
                </a:cubicBezTo>
                <a:cubicBezTo>
                  <a:pt x="18102" y="8527"/>
                  <a:pt x="18092" y="8498"/>
                  <a:pt x="18089" y="8478"/>
                </a:cubicBezTo>
                <a:cubicBezTo>
                  <a:pt x="18085" y="8451"/>
                  <a:pt x="18078" y="8438"/>
                  <a:pt x="18061" y="8426"/>
                </a:cubicBezTo>
                <a:cubicBezTo>
                  <a:pt x="18046" y="8416"/>
                  <a:pt x="18036" y="8400"/>
                  <a:pt x="18035" y="8384"/>
                </a:cubicBezTo>
                <a:cubicBezTo>
                  <a:pt x="18033" y="8370"/>
                  <a:pt x="18025" y="8352"/>
                  <a:pt x="18017" y="8347"/>
                </a:cubicBezTo>
                <a:cubicBezTo>
                  <a:pt x="17992" y="8334"/>
                  <a:pt x="17955" y="8287"/>
                  <a:pt x="17955" y="8269"/>
                </a:cubicBezTo>
                <a:cubicBezTo>
                  <a:pt x="17955" y="8258"/>
                  <a:pt x="17944" y="8248"/>
                  <a:pt x="17928" y="8243"/>
                </a:cubicBezTo>
                <a:cubicBezTo>
                  <a:pt x="17913" y="8238"/>
                  <a:pt x="17892" y="8223"/>
                  <a:pt x="17880" y="8209"/>
                </a:cubicBezTo>
                <a:cubicBezTo>
                  <a:pt x="17868" y="8194"/>
                  <a:pt x="17854" y="8183"/>
                  <a:pt x="17848" y="8183"/>
                </a:cubicBezTo>
                <a:cubicBezTo>
                  <a:pt x="17842" y="8183"/>
                  <a:pt x="17835" y="8172"/>
                  <a:pt x="17832" y="8159"/>
                </a:cubicBezTo>
                <a:cubicBezTo>
                  <a:pt x="17829" y="8144"/>
                  <a:pt x="17819" y="8135"/>
                  <a:pt x="17805" y="8133"/>
                </a:cubicBezTo>
                <a:cubicBezTo>
                  <a:pt x="17793" y="8132"/>
                  <a:pt x="17767" y="8123"/>
                  <a:pt x="17747" y="8115"/>
                </a:cubicBezTo>
                <a:cubicBezTo>
                  <a:pt x="17696" y="8095"/>
                  <a:pt x="16082" y="8095"/>
                  <a:pt x="16031" y="8115"/>
                </a:cubicBezTo>
                <a:cubicBezTo>
                  <a:pt x="16011" y="8123"/>
                  <a:pt x="15985" y="8132"/>
                  <a:pt x="15973" y="8133"/>
                </a:cubicBezTo>
                <a:cubicBezTo>
                  <a:pt x="15960" y="8135"/>
                  <a:pt x="15950" y="8144"/>
                  <a:pt x="15946" y="8159"/>
                </a:cubicBezTo>
                <a:cubicBezTo>
                  <a:pt x="15943" y="8172"/>
                  <a:pt x="15936" y="8183"/>
                  <a:pt x="15930" y="8183"/>
                </a:cubicBezTo>
                <a:cubicBezTo>
                  <a:pt x="15924" y="8183"/>
                  <a:pt x="15910" y="8194"/>
                  <a:pt x="15898" y="8209"/>
                </a:cubicBezTo>
                <a:cubicBezTo>
                  <a:pt x="15886" y="8223"/>
                  <a:pt x="15865" y="8238"/>
                  <a:pt x="15850" y="8243"/>
                </a:cubicBezTo>
                <a:cubicBezTo>
                  <a:pt x="15834" y="8248"/>
                  <a:pt x="15823" y="8258"/>
                  <a:pt x="15823" y="8269"/>
                </a:cubicBezTo>
                <a:cubicBezTo>
                  <a:pt x="15823" y="8287"/>
                  <a:pt x="15786" y="8336"/>
                  <a:pt x="15760" y="8350"/>
                </a:cubicBezTo>
                <a:cubicBezTo>
                  <a:pt x="15751" y="8355"/>
                  <a:pt x="15745" y="8367"/>
                  <a:pt x="15745" y="8379"/>
                </a:cubicBezTo>
                <a:cubicBezTo>
                  <a:pt x="15745" y="8390"/>
                  <a:pt x="15733" y="8411"/>
                  <a:pt x="15718" y="8426"/>
                </a:cubicBezTo>
                <a:cubicBezTo>
                  <a:pt x="15703" y="8442"/>
                  <a:pt x="15691" y="8463"/>
                  <a:pt x="15688" y="8483"/>
                </a:cubicBezTo>
                <a:cubicBezTo>
                  <a:pt x="15685" y="8501"/>
                  <a:pt x="15676" y="8527"/>
                  <a:pt x="15666" y="8541"/>
                </a:cubicBezTo>
                <a:cubicBezTo>
                  <a:pt x="15657" y="8554"/>
                  <a:pt x="15646" y="8581"/>
                  <a:pt x="15643" y="8601"/>
                </a:cubicBezTo>
                <a:cubicBezTo>
                  <a:pt x="15640" y="8621"/>
                  <a:pt x="15631" y="8646"/>
                  <a:pt x="15623" y="8656"/>
                </a:cubicBezTo>
                <a:cubicBezTo>
                  <a:pt x="15613" y="8667"/>
                  <a:pt x="15606" y="8692"/>
                  <a:pt x="15602" y="8721"/>
                </a:cubicBezTo>
                <a:cubicBezTo>
                  <a:pt x="15598" y="8754"/>
                  <a:pt x="15591" y="8771"/>
                  <a:pt x="15582" y="8773"/>
                </a:cubicBezTo>
                <a:cubicBezTo>
                  <a:pt x="15573" y="8777"/>
                  <a:pt x="15568" y="8791"/>
                  <a:pt x="15564" y="8828"/>
                </a:cubicBezTo>
                <a:cubicBezTo>
                  <a:pt x="15561" y="8857"/>
                  <a:pt x="15554" y="8887"/>
                  <a:pt x="15550" y="8896"/>
                </a:cubicBezTo>
                <a:cubicBezTo>
                  <a:pt x="15545" y="8906"/>
                  <a:pt x="15542" y="8925"/>
                  <a:pt x="15542" y="8938"/>
                </a:cubicBezTo>
                <a:cubicBezTo>
                  <a:pt x="15542" y="8951"/>
                  <a:pt x="15536" y="8973"/>
                  <a:pt x="15528" y="8985"/>
                </a:cubicBezTo>
                <a:cubicBezTo>
                  <a:pt x="15520" y="8997"/>
                  <a:pt x="15514" y="9017"/>
                  <a:pt x="15514" y="9032"/>
                </a:cubicBezTo>
                <a:cubicBezTo>
                  <a:pt x="15514" y="9093"/>
                  <a:pt x="15494" y="9225"/>
                  <a:pt x="15484" y="9231"/>
                </a:cubicBezTo>
                <a:cubicBezTo>
                  <a:pt x="15473" y="9238"/>
                  <a:pt x="15463" y="9310"/>
                  <a:pt x="15463" y="9385"/>
                </a:cubicBezTo>
                <a:cubicBezTo>
                  <a:pt x="15463" y="9413"/>
                  <a:pt x="15460" y="9441"/>
                  <a:pt x="15457" y="9445"/>
                </a:cubicBezTo>
                <a:cubicBezTo>
                  <a:pt x="15454" y="9450"/>
                  <a:pt x="15452" y="9467"/>
                  <a:pt x="15452" y="9485"/>
                </a:cubicBezTo>
                <a:cubicBezTo>
                  <a:pt x="15452" y="9502"/>
                  <a:pt x="15448" y="9523"/>
                  <a:pt x="15444" y="9529"/>
                </a:cubicBezTo>
                <a:cubicBezTo>
                  <a:pt x="15434" y="9544"/>
                  <a:pt x="15423" y="9608"/>
                  <a:pt x="15423" y="9652"/>
                </a:cubicBezTo>
                <a:cubicBezTo>
                  <a:pt x="15423" y="9672"/>
                  <a:pt x="15422" y="9694"/>
                  <a:pt x="15419" y="9702"/>
                </a:cubicBezTo>
                <a:cubicBezTo>
                  <a:pt x="15413" y="9717"/>
                  <a:pt x="15402" y="9877"/>
                  <a:pt x="15402" y="9937"/>
                </a:cubicBezTo>
                <a:cubicBezTo>
                  <a:pt x="15402" y="9961"/>
                  <a:pt x="15397" y="9982"/>
                  <a:pt x="15393" y="9986"/>
                </a:cubicBezTo>
                <a:cubicBezTo>
                  <a:pt x="15385" y="9994"/>
                  <a:pt x="15379" y="10069"/>
                  <a:pt x="15369" y="10261"/>
                </a:cubicBezTo>
                <a:lnTo>
                  <a:pt x="15365" y="10350"/>
                </a:lnTo>
                <a:lnTo>
                  <a:pt x="15263" y="10350"/>
                </a:lnTo>
                <a:lnTo>
                  <a:pt x="13616" y="10350"/>
                </a:lnTo>
                <a:lnTo>
                  <a:pt x="13565" y="10350"/>
                </a:lnTo>
                <a:lnTo>
                  <a:pt x="11866" y="10350"/>
                </a:lnTo>
                <a:lnTo>
                  <a:pt x="11866" y="7979"/>
                </a:lnTo>
                <a:lnTo>
                  <a:pt x="11866" y="7817"/>
                </a:lnTo>
                <a:lnTo>
                  <a:pt x="11866" y="5608"/>
                </a:lnTo>
                <a:lnTo>
                  <a:pt x="11866" y="5284"/>
                </a:lnTo>
                <a:lnTo>
                  <a:pt x="12108" y="5273"/>
                </a:lnTo>
                <a:cubicBezTo>
                  <a:pt x="12241" y="5268"/>
                  <a:pt x="12356" y="5263"/>
                  <a:pt x="12364" y="5260"/>
                </a:cubicBezTo>
                <a:cubicBezTo>
                  <a:pt x="12371" y="5257"/>
                  <a:pt x="12382" y="5253"/>
                  <a:pt x="12387" y="5252"/>
                </a:cubicBezTo>
                <a:cubicBezTo>
                  <a:pt x="12393" y="5251"/>
                  <a:pt x="12402" y="5238"/>
                  <a:pt x="12407" y="5223"/>
                </a:cubicBezTo>
                <a:cubicBezTo>
                  <a:pt x="12414" y="5205"/>
                  <a:pt x="12433" y="5193"/>
                  <a:pt x="12472" y="5179"/>
                </a:cubicBezTo>
                <a:cubicBezTo>
                  <a:pt x="12503" y="5168"/>
                  <a:pt x="12531" y="5151"/>
                  <a:pt x="12534" y="5142"/>
                </a:cubicBezTo>
                <a:cubicBezTo>
                  <a:pt x="12538" y="5134"/>
                  <a:pt x="12545" y="5127"/>
                  <a:pt x="12550" y="5127"/>
                </a:cubicBezTo>
                <a:cubicBezTo>
                  <a:pt x="12555" y="5127"/>
                  <a:pt x="12560" y="5117"/>
                  <a:pt x="12562" y="5103"/>
                </a:cubicBezTo>
                <a:cubicBezTo>
                  <a:pt x="12564" y="5079"/>
                  <a:pt x="12584" y="5062"/>
                  <a:pt x="12633" y="5040"/>
                </a:cubicBezTo>
                <a:cubicBezTo>
                  <a:pt x="12645" y="5035"/>
                  <a:pt x="12653" y="5021"/>
                  <a:pt x="12656" y="5001"/>
                </a:cubicBezTo>
                <a:cubicBezTo>
                  <a:pt x="12660" y="4980"/>
                  <a:pt x="12672" y="4962"/>
                  <a:pt x="12701" y="4938"/>
                </a:cubicBezTo>
                <a:cubicBezTo>
                  <a:pt x="12724" y="4920"/>
                  <a:pt x="12740" y="4897"/>
                  <a:pt x="12740" y="4886"/>
                </a:cubicBezTo>
                <a:cubicBezTo>
                  <a:pt x="12740" y="4876"/>
                  <a:pt x="12751" y="4858"/>
                  <a:pt x="12763" y="4847"/>
                </a:cubicBezTo>
                <a:cubicBezTo>
                  <a:pt x="12778" y="4833"/>
                  <a:pt x="12787" y="4813"/>
                  <a:pt x="12794" y="4782"/>
                </a:cubicBezTo>
                <a:cubicBezTo>
                  <a:pt x="12799" y="4757"/>
                  <a:pt x="12805" y="4737"/>
                  <a:pt x="12808" y="4737"/>
                </a:cubicBezTo>
                <a:cubicBezTo>
                  <a:pt x="12817" y="4737"/>
                  <a:pt x="12859" y="4663"/>
                  <a:pt x="12859" y="4646"/>
                </a:cubicBezTo>
                <a:cubicBezTo>
                  <a:pt x="12859" y="4636"/>
                  <a:pt x="12864" y="4621"/>
                  <a:pt x="12871" y="4614"/>
                </a:cubicBezTo>
                <a:cubicBezTo>
                  <a:pt x="12886" y="4600"/>
                  <a:pt x="12909" y="4555"/>
                  <a:pt x="12909" y="4541"/>
                </a:cubicBezTo>
                <a:cubicBezTo>
                  <a:pt x="12909" y="4536"/>
                  <a:pt x="12916" y="4516"/>
                  <a:pt x="12923" y="4499"/>
                </a:cubicBezTo>
                <a:cubicBezTo>
                  <a:pt x="12931" y="4482"/>
                  <a:pt x="12937" y="4455"/>
                  <a:pt x="12937" y="4439"/>
                </a:cubicBezTo>
                <a:cubicBezTo>
                  <a:pt x="12937" y="4424"/>
                  <a:pt x="12942" y="4407"/>
                  <a:pt x="12947" y="4403"/>
                </a:cubicBezTo>
                <a:cubicBezTo>
                  <a:pt x="12960" y="4391"/>
                  <a:pt x="12970" y="4364"/>
                  <a:pt x="12980" y="4308"/>
                </a:cubicBezTo>
                <a:cubicBezTo>
                  <a:pt x="12984" y="4284"/>
                  <a:pt x="12991" y="4264"/>
                  <a:pt x="12995" y="4264"/>
                </a:cubicBezTo>
                <a:cubicBezTo>
                  <a:pt x="12999" y="4264"/>
                  <a:pt x="13006" y="4248"/>
                  <a:pt x="13010" y="4227"/>
                </a:cubicBezTo>
                <a:cubicBezTo>
                  <a:pt x="13014" y="4207"/>
                  <a:pt x="13021" y="4174"/>
                  <a:pt x="13026" y="4154"/>
                </a:cubicBezTo>
                <a:cubicBezTo>
                  <a:pt x="13030" y="4134"/>
                  <a:pt x="13033" y="4107"/>
                  <a:pt x="13033" y="4094"/>
                </a:cubicBezTo>
                <a:cubicBezTo>
                  <a:pt x="13033" y="4082"/>
                  <a:pt x="13038" y="4069"/>
                  <a:pt x="13044" y="4065"/>
                </a:cubicBezTo>
                <a:cubicBezTo>
                  <a:pt x="13056" y="4058"/>
                  <a:pt x="13067" y="4006"/>
                  <a:pt x="13067" y="3958"/>
                </a:cubicBezTo>
                <a:cubicBezTo>
                  <a:pt x="13067" y="3940"/>
                  <a:pt x="13069" y="3924"/>
                  <a:pt x="13072" y="3919"/>
                </a:cubicBezTo>
                <a:cubicBezTo>
                  <a:pt x="13076" y="3914"/>
                  <a:pt x="13078" y="3899"/>
                  <a:pt x="13078" y="3885"/>
                </a:cubicBezTo>
                <a:cubicBezTo>
                  <a:pt x="13078" y="3871"/>
                  <a:pt x="13084" y="3850"/>
                  <a:pt x="13092" y="3838"/>
                </a:cubicBezTo>
                <a:cubicBezTo>
                  <a:pt x="13101" y="3824"/>
                  <a:pt x="13106" y="3804"/>
                  <a:pt x="13106" y="3783"/>
                </a:cubicBezTo>
                <a:cubicBezTo>
                  <a:pt x="13106" y="3721"/>
                  <a:pt x="13125" y="3587"/>
                  <a:pt x="13136" y="3574"/>
                </a:cubicBezTo>
                <a:cubicBezTo>
                  <a:pt x="13141" y="3567"/>
                  <a:pt x="13145" y="3553"/>
                  <a:pt x="13145" y="3542"/>
                </a:cubicBezTo>
                <a:cubicBezTo>
                  <a:pt x="13145" y="3532"/>
                  <a:pt x="13149" y="3506"/>
                  <a:pt x="13154" y="3485"/>
                </a:cubicBezTo>
                <a:cubicBezTo>
                  <a:pt x="13159" y="3462"/>
                  <a:pt x="13163" y="3408"/>
                  <a:pt x="13163" y="3354"/>
                </a:cubicBezTo>
                <a:cubicBezTo>
                  <a:pt x="13163" y="3305"/>
                  <a:pt x="13165" y="3262"/>
                  <a:pt x="13168" y="3258"/>
                </a:cubicBezTo>
                <a:cubicBezTo>
                  <a:pt x="13171" y="3253"/>
                  <a:pt x="13174" y="3233"/>
                  <a:pt x="13174" y="3216"/>
                </a:cubicBezTo>
                <a:cubicBezTo>
                  <a:pt x="13174" y="3198"/>
                  <a:pt x="13177" y="3180"/>
                  <a:pt x="13181" y="3174"/>
                </a:cubicBezTo>
                <a:cubicBezTo>
                  <a:pt x="13196" y="3153"/>
                  <a:pt x="13204" y="2970"/>
                  <a:pt x="13204" y="2635"/>
                </a:cubicBezTo>
                <a:cubicBezTo>
                  <a:pt x="13204" y="2300"/>
                  <a:pt x="13196" y="2117"/>
                  <a:pt x="13181" y="2097"/>
                </a:cubicBezTo>
                <a:cubicBezTo>
                  <a:pt x="13177" y="2091"/>
                  <a:pt x="13174" y="2073"/>
                  <a:pt x="13174" y="2055"/>
                </a:cubicBezTo>
                <a:cubicBezTo>
                  <a:pt x="13174" y="2037"/>
                  <a:pt x="13171" y="2018"/>
                  <a:pt x="13168" y="2013"/>
                </a:cubicBezTo>
                <a:cubicBezTo>
                  <a:pt x="13165" y="2009"/>
                  <a:pt x="13163" y="1964"/>
                  <a:pt x="13163" y="1914"/>
                </a:cubicBezTo>
                <a:cubicBezTo>
                  <a:pt x="13163" y="1860"/>
                  <a:pt x="13159" y="1809"/>
                  <a:pt x="13154" y="1786"/>
                </a:cubicBezTo>
                <a:cubicBezTo>
                  <a:pt x="13149" y="1764"/>
                  <a:pt x="13145" y="1738"/>
                  <a:pt x="13145" y="1728"/>
                </a:cubicBezTo>
                <a:cubicBezTo>
                  <a:pt x="13145" y="1718"/>
                  <a:pt x="13141" y="1704"/>
                  <a:pt x="13136" y="1697"/>
                </a:cubicBezTo>
                <a:cubicBezTo>
                  <a:pt x="13126" y="1684"/>
                  <a:pt x="13106" y="1551"/>
                  <a:pt x="13106" y="1496"/>
                </a:cubicBezTo>
                <a:cubicBezTo>
                  <a:pt x="13106" y="1481"/>
                  <a:pt x="13100" y="1456"/>
                  <a:pt x="13092" y="1438"/>
                </a:cubicBezTo>
                <a:cubicBezTo>
                  <a:pt x="13084" y="1421"/>
                  <a:pt x="13078" y="1399"/>
                  <a:pt x="13078" y="1391"/>
                </a:cubicBezTo>
                <a:cubicBezTo>
                  <a:pt x="13078" y="1383"/>
                  <a:pt x="13074" y="1357"/>
                  <a:pt x="13069" y="1336"/>
                </a:cubicBezTo>
                <a:cubicBezTo>
                  <a:pt x="13065" y="1315"/>
                  <a:pt x="13062" y="1285"/>
                  <a:pt x="13062" y="1268"/>
                </a:cubicBezTo>
                <a:cubicBezTo>
                  <a:pt x="13062" y="1251"/>
                  <a:pt x="13055" y="1228"/>
                  <a:pt x="13047" y="1216"/>
                </a:cubicBezTo>
                <a:cubicBezTo>
                  <a:pt x="13040" y="1204"/>
                  <a:pt x="13033" y="1182"/>
                  <a:pt x="13033" y="1169"/>
                </a:cubicBezTo>
                <a:cubicBezTo>
                  <a:pt x="13033" y="1156"/>
                  <a:pt x="13029" y="1139"/>
                  <a:pt x="13025" y="1130"/>
                </a:cubicBezTo>
                <a:cubicBezTo>
                  <a:pt x="13020" y="1120"/>
                  <a:pt x="13016" y="1098"/>
                  <a:pt x="13016" y="1083"/>
                </a:cubicBezTo>
                <a:cubicBezTo>
                  <a:pt x="13016" y="1045"/>
                  <a:pt x="13005" y="1011"/>
                  <a:pt x="12991" y="1004"/>
                </a:cubicBezTo>
                <a:cubicBezTo>
                  <a:pt x="12984" y="1001"/>
                  <a:pt x="12977" y="981"/>
                  <a:pt x="12973" y="952"/>
                </a:cubicBezTo>
                <a:cubicBezTo>
                  <a:pt x="12970" y="924"/>
                  <a:pt x="12960" y="897"/>
                  <a:pt x="12950" y="884"/>
                </a:cubicBezTo>
                <a:cubicBezTo>
                  <a:pt x="12942" y="872"/>
                  <a:pt x="12934" y="851"/>
                  <a:pt x="12933" y="837"/>
                </a:cubicBezTo>
                <a:cubicBezTo>
                  <a:pt x="12932" y="823"/>
                  <a:pt x="12926" y="797"/>
                  <a:pt x="12920" y="779"/>
                </a:cubicBezTo>
                <a:cubicBezTo>
                  <a:pt x="12914" y="762"/>
                  <a:pt x="12909" y="742"/>
                  <a:pt x="12909" y="735"/>
                </a:cubicBezTo>
                <a:cubicBezTo>
                  <a:pt x="12909" y="718"/>
                  <a:pt x="12887" y="673"/>
                  <a:pt x="12871" y="656"/>
                </a:cubicBezTo>
                <a:cubicBezTo>
                  <a:pt x="12864" y="649"/>
                  <a:pt x="12859" y="635"/>
                  <a:pt x="12859" y="625"/>
                </a:cubicBezTo>
                <a:cubicBezTo>
                  <a:pt x="12859" y="608"/>
                  <a:pt x="12827" y="551"/>
                  <a:pt x="12807" y="531"/>
                </a:cubicBezTo>
                <a:cubicBezTo>
                  <a:pt x="12801" y="526"/>
                  <a:pt x="12797" y="511"/>
                  <a:pt x="12797" y="500"/>
                </a:cubicBezTo>
                <a:cubicBezTo>
                  <a:pt x="12797" y="488"/>
                  <a:pt x="12784" y="460"/>
                  <a:pt x="12769" y="437"/>
                </a:cubicBezTo>
                <a:cubicBezTo>
                  <a:pt x="12753" y="414"/>
                  <a:pt x="12740" y="388"/>
                  <a:pt x="12740" y="379"/>
                </a:cubicBezTo>
                <a:cubicBezTo>
                  <a:pt x="12740" y="371"/>
                  <a:pt x="12723" y="350"/>
                  <a:pt x="12701" y="332"/>
                </a:cubicBezTo>
                <a:cubicBezTo>
                  <a:pt x="12672" y="309"/>
                  <a:pt x="12660" y="291"/>
                  <a:pt x="12656" y="270"/>
                </a:cubicBezTo>
                <a:cubicBezTo>
                  <a:pt x="12653" y="250"/>
                  <a:pt x="12645" y="236"/>
                  <a:pt x="12633" y="230"/>
                </a:cubicBezTo>
                <a:cubicBezTo>
                  <a:pt x="12585" y="209"/>
                  <a:pt x="12564" y="190"/>
                  <a:pt x="12562" y="168"/>
                </a:cubicBezTo>
                <a:cubicBezTo>
                  <a:pt x="12560" y="150"/>
                  <a:pt x="12549" y="140"/>
                  <a:pt x="12519" y="128"/>
                </a:cubicBezTo>
                <a:cubicBezTo>
                  <a:pt x="12497" y="119"/>
                  <a:pt x="12474" y="105"/>
                  <a:pt x="12468" y="94"/>
                </a:cubicBezTo>
                <a:cubicBezTo>
                  <a:pt x="12462" y="84"/>
                  <a:pt x="12450" y="76"/>
                  <a:pt x="12441" y="76"/>
                </a:cubicBezTo>
                <a:cubicBezTo>
                  <a:pt x="12431" y="76"/>
                  <a:pt x="12424" y="65"/>
                  <a:pt x="12421" y="50"/>
                </a:cubicBezTo>
                <a:cubicBezTo>
                  <a:pt x="12419" y="37"/>
                  <a:pt x="12410" y="26"/>
                  <a:pt x="12403" y="24"/>
                </a:cubicBezTo>
                <a:cubicBezTo>
                  <a:pt x="12395" y="22"/>
                  <a:pt x="12370" y="16"/>
                  <a:pt x="12347" y="11"/>
                </a:cubicBezTo>
                <a:cubicBezTo>
                  <a:pt x="12318" y="4"/>
                  <a:pt x="11485" y="0"/>
                  <a:pt x="10652" y="0"/>
                </a:cubicBezTo>
                <a:close/>
              </a:path>
            </a:pathLst>
          </a:cu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543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Cats and Dogs Revisited</a:t>
            </a:r>
          </a:p>
        </p:txBody>
      </p:sp>
      <p:sp>
        <p:nvSpPr>
          <p:cNvPr id="4" name="public class Cat extends Mammal…"/>
          <p:cNvSpPr/>
          <p:nvPr/>
        </p:nvSpPr>
        <p:spPr>
          <a:xfrm>
            <a:off x="1605284" y="916075"/>
            <a:ext cx="5162550" cy="3520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8575" tIns="28575" rIns="28575" bIns="28575" anchor="ctr">
            <a:spAutoFit/>
          </a:bodyPr>
          <a:lstStyle/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Cat extends Mammal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{	...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	public void </a:t>
            </a:r>
            <a:r>
              <a:rPr sz="15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makeSound</a:t>
            </a: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b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sz="15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(“Meow!”);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endParaRPr sz="1500" kern="1200" dirty="0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Dog extends Mammal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{	...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	public void </a:t>
            </a:r>
            <a:r>
              <a:rPr sz="15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makeSound</a:t>
            </a: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b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sz="15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(“Woof!”);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</a:p>
          <a:p>
            <a:pPr>
              <a:buClrTx/>
              <a:buFontTx/>
              <a:buNone/>
              <a:defRPr sz="220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5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2547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Cats and Dogs Revisited (II)</a:t>
            </a:r>
          </a:p>
        </p:txBody>
      </p:sp>
      <p:sp>
        <p:nvSpPr>
          <p:cNvPr id="6" name="Cat garfield = new Cat();…"/>
          <p:cNvSpPr/>
          <p:nvPr/>
        </p:nvSpPr>
        <p:spPr>
          <a:xfrm>
            <a:off x="499729" y="1017145"/>
            <a:ext cx="6010275" cy="328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8575" tIns="28575" rIns="28575" bIns="28575" anchor="ctr">
            <a:spAutoFit/>
          </a:bodyPr>
          <a:lstStyle/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Cat </a:t>
            </a:r>
            <a:r>
              <a:rPr sz="21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garfield</a:t>
            </a: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 = new Cat();</a:t>
            </a: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Dog </a:t>
            </a:r>
            <a:r>
              <a:rPr sz="21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odie</a:t>
            </a: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 = new Dog();</a:t>
            </a: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endParaRPr sz="2100" kern="1200" dirty="0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1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garfield.makeSound</a:t>
            </a: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1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odie.makeSound</a:t>
            </a: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endParaRPr sz="2100" kern="1200" dirty="0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Mammal m = new Cat();</a:t>
            </a: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21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m.makeSound</a:t>
            </a: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</a:p>
          <a:p>
            <a:pPr>
              <a:buClrTx/>
              <a:buFont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endParaRPr sz="2100" kern="1200" dirty="0">
              <a:solidFill>
                <a:prstClr val="black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>
              <a:buClrTx/>
              <a:buFontTx/>
              <a:buNone/>
            </a:pPr>
            <a:r>
              <a:rPr sz="2100" kern="1200" dirty="0">
                <a:solidFill>
                  <a:prstClr val="black"/>
                </a:solidFill>
              </a:rPr>
              <a:t>What does each call to </a:t>
            </a:r>
            <a:r>
              <a:rPr sz="2100" kern="1200" dirty="0" err="1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makeSound</a:t>
            </a:r>
            <a:r>
              <a:rPr sz="2100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sz="2100" kern="1200" dirty="0">
                <a:solidFill>
                  <a:prstClr val="black"/>
                </a:solidFill>
              </a:rPr>
              <a:t> produce?</a:t>
            </a:r>
          </a:p>
        </p:txBody>
      </p:sp>
    </p:spTree>
    <p:extLst>
      <p:ext uri="{BB962C8B-B14F-4D97-AF65-F5344CB8AC3E}">
        <p14:creationId xmlns:p14="http://schemas.microsoft.com/office/powerpoint/2010/main" val="47386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Polymorphism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simple terms, a variable of a </a:t>
            </a:r>
            <a:r>
              <a:rPr lang="en-US" dirty="0" err="1"/>
              <a:t>supertype</a:t>
            </a:r>
            <a:r>
              <a:rPr lang="en-US" dirty="0"/>
              <a:t> can refer to a subtype object.</a:t>
            </a:r>
          </a:p>
          <a:p>
            <a:pPr marL="114300" indent="0" algn="ctr">
              <a:buNone/>
            </a:pPr>
            <a:r>
              <a:rPr lang="en-US" altLang="zh-CN" kern="1200" dirty="0">
                <a:solidFill>
                  <a:prstClr val="black"/>
                </a:solidFill>
                <a:latin typeface="Courier New"/>
                <a:ea typeface="Courier New"/>
                <a:cs typeface="Courier New"/>
                <a:sym typeface="Courier New"/>
              </a:rPr>
              <a:t>Mammal m = new Cat();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have </a:t>
            </a:r>
            <a:r>
              <a:rPr lang="en-US" b="1" dirty="0">
                <a:solidFill>
                  <a:schemeClr val="tx1"/>
                </a:solidFill>
                <a:uFill>
                  <a:solidFill>
                    <a:srgbClr val="AB1942"/>
                  </a:solidFill>
                </a:uFill>
              </a:rPr>
              <a:t>duplicate method names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/>
              <a:t>in an inheritance hierarchy and to decide which method is appropriate to call depending on the </a:t>
            </a:r>
            <a:r>
              <a:rPr lang="en-US" b="1" dirty="0">
                <a:solidFill>
                  <a:schemeClr val="tx1"/>
                </a:solidFill>
                <a:uFill>
                  <a:solidFill>
                    <a:srgbClr val="B6192B"/>
                  </a:solidFill>
                </a:uFill>
              </a:rPr>
              <a:t>class of the object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/>
              <a:t>to which the method is applied.</a:t>
            </a:r>
            <a:r>
              <a:rPr lang="en-US" b="1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87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Assignment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always assign a derived class to any parent class variable</a:t>
            </a:r>
          </a:p>
          <a:p>
            <a:pPr lvl="1"/>
            <a:r>
              <a:rPr lang="en-US" sz="1800" dirty="0"/>
              <a:t>the derived class IS-A parent object</a:t>
            </a:r>
          </a:p>
          <a:p>
            <a:pPr marL="596900" lvl="1" indent="0">
              <a:buNone/>
            </a:pPr>
            <a:endParaRPr lang="en-US" sz="1800" dirty="0"/>
          </a:p>
          <a:p>
            <a:r>
              <a:rPr lang="en-US" dirty="0"/>
              <a:t>Mammal m = new Cat();</a:t>
            </a:r>
          </a:p>
          <a:p>
            <a:pPr lvl="1"/>
            <a:r>
              <a:rPr lang="en-US" sz="1800" dirty="0"/>
              <a:t>Cat meets all of Mammal’s criteria, plus Cat-specific features</a:t>
            </a:r>
          </a:p>
          <a:p>
            <a:pPr lvl="1"/>
            <a:endParaRPr lang="en-US" sz="1800" dirty="0"/>
          </a:p>
          <a:p>
            <a:r>
              <a:rPr lang="en-US" b="1" dirty="0">
                <a:solidFill>
                  <a:schemeClr val="tx1"/>
                </a:solidFill>
              </a:rPr>
              <a:t>We CANNOT go the other way, though!</a:t>
            </a: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Cat c = new Mammal(): // Illegal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2260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Assignment (II)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 expects to point to an object with all of Cat’s features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There is no guarantee that Mammal has all of those features</a:t>
            </a:r>
          </a:p>
          <a:p>
            <a:pPr lvl="1"/>
            <a:r>
              <a:rPr lang="en-US" sz="1800" dirty="0"/>
              <a:t>In fact, it probably doesn’t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6819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Method invocation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Mammal and Cat both define a </a:t>
            </a:r>
            <a:r>
              <a:rPr lang="en-US" dirty="0" err="1"/>
              <a:t>makeSound</a:t>
            </a:r>
            <a:r>
              <a:rPr lang="en-US" dirty="0"/>
              <a:t>() method</a:t>
            </a:r>
          </a:p>
          <a:p>
            <a:pPr lvl="1"/>
            <a:r>
              <a:rPr lang="en-US" sz="1800" dirty="0"/>
              <a:t>Cat’s version overrides Mammal’s</a:t>
            </a:r>
          </a:p>
          <a:p>
            <a:pPr marL="596900" lvl="1" indent="0">
              <a:buNone/>
            </a:pPr>
            <a:endParaRPr lang="en-US" sz="1800" dirty="0"/>
          </a:p>
          <a:p>
            <a:r>
              <a:rPr lang="en-US" b="1" dirty="0">
                <a:solidFill>
                  <a:schemeClr val="tx1"/>
                </a:solidFill>
              </a:rPr>
              <a:t>Which version of </a:t>
            </a:r>
            <a:r>
              <a:rPr lang="en-US" b="1" dirty="0" err="1">
                <a:solidFill>
                  <a:schemeClr val="tx1"/>
                </a:solidFill>
              </a:rPr>
              <a:t>makeSound</a:t>
            </a:r>
            <a:r>
              <a:rPr lang="en-US" b="1" dirty="0">
                <a:solidFill>
                  <a:schemeClr val="tx1"/>
                </a:solidFill>
              </a:rPr>
              <a:t>() will be called?</a:t>
            </a: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Mammal m = new Mammal();</a:t>
            </a:r>
          </a:p>
          <a:p>
            <a:pPr marL="11430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Mammal x = new Cat();</a:t>
            </a:r>
          </a:p>
        </p:txBody>
      </p:sp>
    </p:spTree>
    <p:extLst>
      <p:ext uri="{BB962C8B-B14F-4D97-AF65-F5344CB8AC3E}">
        <p14:creationId xmlns:p14="http://schemas.microsoft.com/office/powerpoint/2010/main" val="204863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Basic Rules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variable has </a:t>
            </a:r>
            <a:r>
              <a:rPr lang="en-US" b="1" i="1" dirty="0">
                <a:solidFill>
                  <a:schemeClr val="tx1"/>
                </a:solidFill>
              </a:rPr>
              <a:t>two types</a:t>
            </a:r>
            <a:r>
              <a:rPr lang="en-US" dirty="0"/>
              <a:t>:</a:t>
            </a:r>
          </a:p>
          <a:p>
            <a:pPr lvl="1"/>
            <a:r>
              <a:rPr lang="en-US" sz="1800" b="1" i="1" dirty="0">
                <a:solidFill>
                  <a:schemeClr val="tx1"/>
                </a:solidFill>
              </a:rPr>
              <a:t>reference type (declared type)</a:t>
            </a:r>
          </a:p>
          <a:p>
            <a:pPr lvl="1"/>
            <a:r>
              <a:rPr lang="en-US" sz="1800" b="1" i="1" dirty="0">
                <a:solidFill>
                  <a:schemeClr val="tx1"/>
                </a:solidFill>
              </a:rPr>
              <a:t>actual type</a:t>
            </a:r>
          </a:p>
          <a:p>
            <a:pPr marL="596900" lvl="1" indent="0">
              <a:buNone/>
            </a:pPr>
            <a:endParaRPr lang="en-US" sz="1800" b="1" i="1" dirty="0">
              <a:solidFill>
                <a:srgbClr val="FF0000"/>
              </a:solidFill>
            </a:endParaRPr>
          </a:p>
          <a:p>
            <a:r>
              <a:rPr lang="en-US" dirty="0"/>
              <a:t>The </a:t>
            </a:r>
            <a:r>
              <a:rPr lang="en-US" b="1" i="1" dirty="0">
                <a:solidFill>
                  <a:schemeClr val="tx1"/>
                </a:solidFill>
              </a:rPr>
              <a:t>reference type determines what methods can be called.</a:t>
            </a:r>
          </a:p>
          <a:p>
            <a:pPr marL="114300" indent="0">
              <a:buNone/>
            </a:pPr>
            <a:endParaRPr lang="en-US" b="1" i="1" dirty="0">
              <a:solidFill>
                <a:srgbClr val="FF0000"/>
              </a:solidFill>
            </a:endParaRPr>
          </a:p>
          <a:p>
            <a:r>
              <a:rPr lang="en-US" dirty="0"/>
              <a:t>The </a:t>
            </a:r>
            <a:r>
              <a:rPr lang="en-US" b="1" i="1" dirty="0">
                <a:solidFill>
                  <a:schemeClr val="tx1"/>
                </a:solidFill>
              </a:rPr>
              <a:t>actual type determines which versions of those methods are called.</a:t>
            </a:r>
          </a:p>
        </p:txBody>
      </p:sp>
    </p:spTree>
    <p:extLst>
      <p:ext uri="{BB962C8B-B14F-4D97-AF65-F5344CB8AC3E}">
        <p14:creationId xmlns:p14="http://schemas.microsoft.com/office/powerpoint/2010/main" val="383020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Examples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Mammal m = new Mammal();</a:t>
            </a:r>
          </a:p>
          <a:p>
            <a:pPr lvl="1"/>
            <a:r>
              <a:rPr lang="en-US" sz="1800" dirty="0"/>
              <a:t>Reference and actual types are both Mammal</a:t>
            </a:r>
          </a:p>
          <a:p>
            <a:pPr marL="596900" lvl="1" indent="0">
              <a:buNone/>
            </a:pPr>
            <a:endParaRPr lang="en-US" sz="1800" dirty="0"/>
          </a:p>
          <a:p>
            <a:r>
              <a:rPr lang="en-US" dirty="0"/>
              <a:t>Mammal x = new Cat();</a:t>
            </a:r>
          </a:p>
          <a:p>
            <a:pPr lvl="1"/>
            <a:r>
              <a:rPr lang="en-US" sz="1800" b="1" i="1" dirty="0">
                <a:solidFill>
                  <a:schemeClr val="tx1"/>
                </a:solidFill>
              </a:rPr>
              <a:t>Reference type: Mammal</a:t>
            </a:r>
          </a:p>
          <a:p>
            <a:pPr lvl="1"/>
            <a:r>
              <a:rPr lang="en-US" sz="1800" b="1" i="1" dirty="0">
                <a:solidFill>
                  <a:schemeClr val="tx1"/>
                </a:solidFill>
              </a:rPr>
              <a:t>Actual type: Cat</a:t>
            </a:r>
          </a:p>
        </p:txBody>
      </p:sp>
    </p:spTree>
    <p:extLst>
      <p:ext uri="{BB962C8B-B14F-4D97-AF65-F5344CB8AC3E}">
        <p14:creationId xmlns:p14="http://schemas.microsoft.com/office/powerpoint/2010/main" val="285726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Polymorphism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 means that </a:t>
            </a:r>
            <a:r>
              <a:rPr lang="en-US" b="1" i="1" dirty="0">
                <a:solidFill>
                  <a:schemeClr val="tx1"/>
                </a:solidFill>
              </a:rPr>
              <a:t>you can send the same message to different objects</a:t>
            </a:r>
          </a:p>
          <a:p>
            <a:pPr lvl="1"/>
            <a:r>
              <a:rPr lang="en-US" sz="1800" dirty="0"/>
              <a:t>Inheritance means that objects share the same code</a:t>
            </a:r>
          </a:p>
          <a:p>
            <a:pPr marL="596900" lvl="1" indent="0">
              <a:buNone/>
            </a:pPr>
            <a:endParaRPr lang="en-US" sz="1800" dirty="0"/>
          </a:p>
          <a:p>
            <a:r>
              <a:rPr lang="en-US" b="1" i="1" dirty="0">
                <a:solidFill>
                  <a:schemeClr val="tx1"/>
                </a:solidFill>
              </a:rPr>
              <a:t>Results</a:t>
            </a:r>
            <a:r>
              <a:rPr lang="en-US" dirty="0"/>
              <a:t> may </a:t>
            </a:r>
            <a:r>
              <a:rPr lang="en-US" b="1" i="1" dirty="0">
                <a:solidFill>
                  <a:schemeClr val="tx1"/>
                </a:solidFill>
              </a:rPr>
              <a:t>vary depending upon the specific object involved</a:t>
            </a:r>
          </a:p>
          <a:p>
            <a:pPr lvl="1"/>
            <a:r>
              <a:rPr lang="en-US" sz="1800" dirty="0"/>
              <a:t>Cat responds differently from Dog</a:t>
            </a:r>
          </a:p>
        </p:txBody>
      </p:sp>
    </p:spTree>
    <p:extLst>
      <p:ext uri="{BB962C8B-B14F-4D97-AF65-F5344CB8AC3E}">
        <p14:creationId xmlns:p14="http://schemas.microsoft.com/office/powerpoint/2010/main" val="149632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cs typeface="Times New Roman" pitchFamily="16" charset="0"/>
              </a:rPr>
              <a:t>The </a:t>
            </a:r>
            <a:r>
              <a:rPr lang="en-US" altLang="en-US" sz="3700" b="1" u="sng" kern="1200" dirty="0">
                <a:solidFill>
                  <a:schemeClr val="tx1"/>
                </a:solidFill>
                <a:latin typeface="Courier New" pitchFamily="49" charset="0"/>
                <a:ea typeface="+mj-ea"/>
                <a:cs typeface="Courier New" pitchFamily="49" charset="0"/>
              </a:rPr>
              <a:t>Object</a:t>
            </a:r>
            <a:r>
              <a:rPr lang="en-US" altLang="en-US" b="1" dirty="0">
                <a:cs typeface="Times New Roman" pitchFamily="16" charset="0"/>
              </a:rPr>
              <a:t> Class and Its Methods</a:t>
            </a:r>
            <a:endParaRPr lang="en-US" b="1" dirty="0">
              <a:cs typeface="Times New Roman" pitchFamily="16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Times New Roman" pitchFamily="18" charset="0"/>
              </a:rPr>
              <a:t>Every class in Java is descended from the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java.lang.Object</a:t>
            </a:r>
            <a:r>
              <a:rPr lang="en-US" altLang="en-US" dirty="0">
                <a:cs typeface="Times New Roman" pitchFamily="18" charset="0"/>
              </a:rPr>
              <a:t> class</a:t>
            </a:r>
          </a:p>
          <a:p>
            <a:pPr lvl="1"/>
            <a:r>
              <a:rPr lang="en-US" altLang="en-US" sz="1800" dirty="0">
                <a:cs typeface="Times New Roman" pitchFamily="18" charset="0"/>
              </a:rPr>
              <a:t>If no inheritance is specified when a class is defined, the superclass of the class is </a:t>
            </a:r>
            <a:r>
              <a:rPr lang="en-US" altLang="en-US" sz="1800" b="1" dirty="0" err="1">
                <a:latin typeface="Courier New" pitchFamily="49" charset="0"/>
                <a:cs typeface="Courier New" pitchFamily="49" charset="0"/>
              </a:rPr>
              <a:t>java.lang.Object</a:t>
            </a:r>
            <a:endParaRPr lang="en-US" altLang="en-US" sz="1800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77907"/>
              </p:ext>
            </p:extLst>
          </p:nvPr>
        </p:nvGraphicFramePr>
        <p:xfrm>
          <a:off x="881961" y="2716900"/>
          <a:ext cx="7950339" cy="928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732200" imgH="550080" progId="Word.Picture.8">
                  <p:embed/>
                </p:oleObj>
              </mc:Choice>
              <mc:Fallback>
                <p:oleObj name="Picture" r:id="rId2" imgW="4732200" imgH="55008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961" y="2716900"/>
                        <a:ext cx="7950339" cy="928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159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8339" y="182807"/>
            <a:ext cx="2520512" cy="572700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Polymorphism, Dynamic Binding and Generic Programming</a:t>
            </a:r>
            <a:endParaRPr lang="en-US" b="1" dirty="0">
              <a:cs typeface="Times New Roman" pitchFamily="16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386195" y="755507"/>
            <a:ext cx="4294585" cy="4333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class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PolymorphismDemo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static void main(String[]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args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GraduateStudent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Student());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Person());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Object());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</a:t>
            </a: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static void m(Object x)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</a:t>
            </a:r>
            <a:r>
              <a:rPr lang="en-US" altLang="en-US" sz="1125" b="1" kern="12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System.out.println</a:t>
            </a: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(</a:t>
            </a:r>
            <a:r>
              <a:rPr lang="en-US" altLang="en-US" sz="1125" b="1" kern="12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x.toString</a:t>
            </a: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</a:t>
            </a:r>
            <a:r>
              <a:rPr lang="en-US" altLang="en-US" sz="1125" b="1" kern="12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GraduateStudent</a:t>
            </a: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	extends Student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</a:t>
            </a: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Student extends Person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String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toString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return "Student";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 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</a:t>
            </a:r>
            <a:r>
              <a:rPr lang="en-US" altLang="en-US" sz="1125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Person extends Object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String </a:t>
            </a:r>
            <a:r>
              <a:rPr lang="en-US" altLang="en-US" sz="1125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toString</a:t>
            </a: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return "Person";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125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527118" y="908783"/>
            <a:ext cx="2457450" cy="7848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+mn-cs"/>
              </a:rPr>
              <a:t>Method m takes a parameter of the Object type – can be invoked with any object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4947158" y="1295736"/>
            <a:ext cx="1600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779406" y="1571962"/>
            <a:ext cx="3282553" cy="7848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sz="1500" b="1" i="1" kern="1200" dirty="0">
                <a:solidFill>
                  <a:srgbClr val="FF0000"/>
                </a:solidFill>
                <a:latin typeface="Perpetua"/>
                <a:ea typeface="+mn-ea"/>
                <a:cs typeface="Times New Roman" pitchFamily="18" charset="0"/>
              </a:rPr>
              <a:t>Polymorphism</a:t>
            </a:r>
            <a:r>
              <a:rPr lang="en-US" sz="1500" b="1" i="1" kern="1200" dirty="0">
                <a:solidFill>
                  <a:srgbClr val="FF0000"/>
                </a:solidFill>
                <a:latin typeface="Perpetua"/>
                <a:ea typeface="+mn-ea"/>
                <a:cs typeface="Courier New" pitchFamily="49" charset="0"/>
              </a:rPr>
              <a:t>: </a:t>
            </a: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an object of a subtype can be used wherever its </a:t>
            </a:r>
            <a:r>
              <a:rPr lang="en-US" sz="1500" kern="1200" dirty="0" err="1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supertype</a:t>
            </a: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 value is required</a:t>
            </a:r>
            <a:endParaRPr lang="en-US" sz="1500" kern="1200" dirty="0">
              <a:solidFill>
                <a:prstClr val="black"/>
              </a:solidFill>
              <a:latin typeface="Perpetua"/>
              <a:ea typeface="+mn-ea"/>
              <a:cs typeface="Times New Roman" pitchFamily="18" charset="0"/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5672517" y="1890643"/>
            <a:ext cx="3447784" cy="2171700"/>
          </a:xfrm>
          <a:noFill/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altLang="en-US" sz="1500" dirty="0"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500" b="1" i="1" dirty="0">
              <a:solidFill>
                <a:srgbClr val="FF0000"/>
              </a:solidFill>
              <a:cs typeface="Times New Roman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500" b="1" i="1" dirty="0">
                <a:solidFill>
                  <a:srgbClr val="FF0000"/>
                </a:solidFill>
                <a:cs typeface="Times New Roman" pitchFamily="18" charset="0"/>
              </a:rPr>
              <a:t>Dynamic binding</a:t>
            </a:r>
            <a:r>
              <a:rPr lang="en-US" altLang="en-US" sz="1500" b="1" dirty="0">
                <a:solidFill>
                  <a:srgbClr val="FF0000"/>
                </a:solidFill>
                <a:cs typeface="Times New Roman" pitchFamily="18" charset="0"/>
              </a:rPr>
              <a:t>: </a:t>
            </a:r>
            <a:r>
              <a:rPr lang="en-US" altLang="en-US" sz="1300" dirty="0">
                <a:cs typeface="Times New Roman" pitchFamily="18" charset="0"/>
              </a:rPr>
              <a:t>the Java Virtual Machine determines dynamically at runtime which implementation is used by the method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300" dirty="0">
                <a:cs typeface="Times New Roman" pitchFamily="18" charset="0"/>
              </a:rPr>
              <a:t>When the method </a:t>
            </a:r>
            <a:r>
              <a:rPr lang="en-US" altLang="en-US" sz="1300" u="sng" dirty="0">
                <a:cs typeface="Times New Roman" pitchFamily="18" charset="0"/>
              </a:rPr>
              <a:t>m(Object x)</a:t>
            </a:r>
            <a:r>
              <a:rPr lang="en-US" altLang="en-US" sz="1300" dirty="0">
                <a:cs typeface="Times New Roman" pitchFamily="18" charset="0"/>
              </a:rPr>
              <a:t> is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300" dirty="0">
                <a:cs typeface="Times New Roman" pitchFamily="18" charset="0"/>
              </a:rPr>
              <a:t>executed, the argument </a:t>
            </a:r>
            <a:r>
              <a:rPr lang="en-US" altLang="en-US" sz="1300" u="sng" dirty="0">
                <a:cs typeface="Times New Roman" pitchFamily="18" charset="0"/>
              </a:rPr>
              <a:t>x</a:t>
            </a:r>
            <a:r>
              <a:rPr lang="en-US" altLang="en-US" sz="1300" dirty="0">
                <a:cs typeface="Times New Roman" pitchFamily="18" charset="0"/>
              </a:rPr>
              <a:t>’s </a:t>
            </a:r>
            <a:r>
              <a:rPr lang="en-US" altLang="en-US" sz="1300" u="sng" dirty="0" err="1">
                <a:cs typeface="Times New Roman" pitchFamily="18" charset="0"/>
              </a:rPr>
              <a:t>toString</a:t>
            </a:r>
            <a:r>
              <a:rPr lang="en-US" altLang="en-US" sz="1300" dirty="0">
                <a:cs typeface="Times New Roman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300" dirty="0">
                <a:cs typeface="Times New Roman" pitchFamily="18" charset="0"/>
              </a:rPr>
              <a:t>method is invoked.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1500" dirty="0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5173378" y="1081425"/>
            <a:ext cx="1373981" cy="97988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5260293" y="1670783"/>
            <a:ext cx="1266825" cy="2205038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6354477" y="3818671"/>
            <a:ext cx="2630091" cy="12464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fontAlgn="base" hangingPunct="0">
              <a:spcAft>
                <a:spcPct val="0"/>
              </a:spcAft>
              <a:buClrTx/>
              <a:buFontTx/>
              <a:buNone/>
              <a:defRPr/>
            </a:pPr>
            <a:r>
              <a:rPr lang="en-US" sz="1500" b="1" i="1" kern="1200" dirty="0">
                <a:solidFill>
                  <a:srgbClr val="FF0000"/>
                </a:solidFill>
                <a:latin typeface="Perpetua"/>
                <a:ea typeface="+mn-ea"/>
                <a:cs typeface="Times New Roman" pitchFamily="18" charset="0"/>
              </a:rPr>
              <a:t>Output</a:t>
            </a:r>
            <a:r>
              <a:rPr lang="en-US" sz="1500" b="1" i="1" kern="1200" dirty="0">
                <a:solidFill>
                  <a:srgbClr val="FF0000"/>
                </a:solidFill>
                <a:latin typeface="Perpetua"/>
                <a:ea typeface="+mn-ea"/>
                <a:cs typeface="Courier New" pitchFamily="49" charset="0"/>
              </a:rPr>
              <a:t>: </a:t>
            </a:r>
          </a:p>
          <a:p>
            <a:pPr eaLnBrk="0" fontAlgn="base" hangingPunct="0">
              <a:spcAft>
                <a:spcPct val="0"/>
              </a:spcAft>
              <a:buClrTx/>
              <a:buFontTx/>
              <a:buNone/>
              <a:defRPr/>
            </a:pP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Student</a:t>
            </a:r>
          </a:p>
          <a:p>
            <a:pPr eaLnBrk="0" fontAlgn="base" hangingPunct="0">
              <a:spcAft>
                <a:spcPct val="0"/>
              </a:spcAft>
              <a:buClrTx/>
              <a:buFontTx/>
              <a:buNone/>
              <a:defRPr/>
            </a:pP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Student</a:t>
            </a:r>
          </a:p>
          <a:p>
            <a:pPr eaLnBrk="0" fontAlgn="base" hangingPunct="0">
              <a:spcAft>
                <a:spcPct val="0"/>
              </a:spcAft>
              <a:buClrTx/>
              <a:buFontTx/>
              <a:buNone/>
              <a:defRPr/>
            </a:pP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Person</a:t>
            </a:r>
          </a:p>
          <a:p>
            <a:pPr eaLnBrk="0" fontAlgn="base" hangingPunct="0">
              <a:spcAft>
                <a:spcPct val="0"/>
              </a:spcAft>
              <a:buClrTx/>
              <a:buFontTx/>
              <a:buNone/>
              <a:defRPr/>
            </a:pPr>
            <a:r>
              <a:rPr lang="en-US" sz="1500" kern="1200" dirty="0">
                <a:solidFill>
                  <a:prstClr val="black"/>
                </a:solidFill>
                <a:latin typeface="Perpetua"/>
                <a:ea typeface="+mn-ea"/>
                <a:cs typeface="Courier New" pitchFamily="49" charset="0"/>
              </a:rPr>
              <a:t>java.lang.Object@12345678</a:t>
            </a:r>
            <a:endParaRPr lang="en-US" sz="1500" kern="1200" dirty="0">
              <a:solidFill>
                <a:prstClr val="black"/>
              </a:solidFill>
              <a:latin typeface="Perpetua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955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build="p"/>
      <p:bldP spid="11" grpId="0" animBg="1"/>
      <p:bldP spid="12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Dynamic Binding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dirty="0">
                <a:cs typeface="Times New Roman" pitchFamily="18" charset="0"/>
              </a:rPr>
              <a:t> Suppose an object </a:t>
            </a:r>
            <a:r>
              <a:rPr lang="en-US" altLang="en-US" b="1" dirty="0">
                <a:solidFill>
                  <a:schemeClr val="tx1"/>
                </a:solidFill>
                <a:cs typeface="Times New Roman" pitchFamily="18" charset="0"/>
              </a:rPr>
              <a:t>o</a:t>
            </a:r>
            <a:r>
              <a:rPr lang="en-US" altLang="en-US" dirty="0">
                <a:cs typeface="Times New Roman" pitchFamily="18" charset="0"/>
              </a:rPr>
              <a:t> is an </a:t>
            </a:r>
            <a:r>
              <a:rPr lang="en-US" altLang="en-US" b="1" dirty="0">
                <a:cs typeface="Times New Roman" pitchFamily="18" charset="0"/>
              </a:rPr>
              <a:t>actual</a:t>
            </a:r>
            <a:r>
              <a:rPr lang="en-US" altLang="en-US" dirty="0">
                <a:cs typeface="Times New Roman" pitchFamily="18" charset="0"/>
              </a:rPr>
              <a:t> instance of classes C</a:t>
            </a:r>
            <a:r>
              <a:rPr lang="en-US" altLang="en-US" baseline="-30000" dirty="0">
                <a:cs typeface="Times New Roman" pitchFamily="18" charset="0"/>
              </a:rPr>
              <a:t>1</a:t>
            </a:r>
            <a:r>
              <a:rPr lang="en-US" altLang="en-US" dirty="0">
                <a:cs typeface="Times New Roman" pitchFamily="18" charset="0"/>
              </a:rPr>
              <a:t>, C</a:t>
            </a:r>
            <a:r>
              <a:rPr lang="en-US" altLang="en-US" baseline="-30000" dirty="0">
                <a:cs typeface="Times New Roman" pitchFamily="18" charset="0"/>
              </a:rPr>
              <a:t>2</a:t>
            </a:r>
            <a:r>
              <a:rPr lang="en-US" altLang="en-US" dirty="0">
                <a:cs typeface="Times New Roman" pitchFamily="18" charset="0"/>
              </a:rPr>
              <a:t>, ..., C</a:t>
            </a:r>
            <a:r>
              <a:rPr lang="en-US" altLang="en-US" baseline="-30000" dirty="0">
                <a:cs typeface="Times New Roman" pitchFamily="18" charset="0"/>
              </a:rPr>
              <a:t>n-1</a:t>
            </a:r>
            <a:r>
              <a:rPr lang="en-US" altLang="en-US" dirty="0">
                <a:cs typeface="Times New Roman" pitchFamily="18" charset="0"/>
              </a:rPr>
              <a:t>, and C</a:t>
            </a:r>
            <a:r>
              <a:rPr lang="en-US" altLang="en-US" baseline="-30000" dirty="0">
                <a:cs typeface="Times New Roman" pitchFamily="18" charset="0"/>
              </a:rPr>
              <a:t>n</a:t>
            </a:r>
          </a:p>
          <a:p>
            <a:pPr marL="205979" lvl="1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sz="1800" dirty="0">
                <a:cs typeface="Times New Roman" pitchFamily="18" charset="0"/>
              </a:rPr>
              <a:t> C</a:t>
            </a:r>
            <a:r>
              <a:rPr lang="en-US" altLang="en-US" sz="1800" baseline="-30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 is a subclass of C</a:t>
            </a:r>
            <a:r>
              <a:rPr lang="en-US" altLang="en-US" sz="1800" baseline="-30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, C</a:t>
            </a:r>
            <a:r>
              <a:rPr lang="en-US" altLang="en-US" sz="1800" baseline="-30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 is a subclass of C</a:t>
            </a:r>
            <a:r>
              <a:rPr lang="en-US" altLang="en-US" sz="1800" baseline="-30000" dirty="0">
                <a:cs typeface="Times New Roman" pitchFamily="18" charset="0"/>
              </a:rPr>
              <a:t>3</a:t>
            </a:r>
            <a:r>
              <a:rPr lang="en-US" altLang="en-US" sz="1800" dirty="0">
                <a:cs typeface="Times New Roman" pitchFamily="18" charset="0"/>
              </a:rPr>
              <a:t>, ..., and C</a:t>
            </a:r>
            <a:r>
              <a:rPr lang="en-US" altLang="en-US" sz="1800" baseline="-30000" dirty="0">
                <a:cs typeface="Times New Roman" pitchFamily="18" charset="0"/>
              </a:rPr>
              <a:t>n-1</a:t>
            </a:r>
            <a:r>
              <a:rPr lang="en-US" altLang="en-US" sz="1800" dirty="0">
                <a:cs typeface="Times New Roman" pitchFamily="18" charset="0"/>
              </a:rPr>
              <a:t> is a subclass of C</a:t>
            </a:r>
            <a:r>
              <a:rPr lang="en-US" altLang="en-US" sz="1800" baseline="-30000" dirty="0">
                <a:cs typeface="Times New Roman" pitchFamily="18" charset="0"/>
              </a:rPr>
              <a:t>n</a:t>
            </a:r>
          </a:p>
          <a:p>
            <a:pPr marL="205979" lvl="1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sz="1800" dirty="0">
                <a:cs typeface="Times New Roman" pitchFamily="18" charset="0"/>
              </a:rPr>
              <a:t> C</a:t>
            </a:r>
            <a:r>
              <a:rPr lang="en-US" altLang="en-US" sz="1800" baseline="-30000" dirty="0">
                <a:cs typeface="Times New Roman" pitchFamily="18" charset="0"/>
              </a:rPr>
              <a:t>n</a:t>
            </a:r>
            <a:r>
              <a:rPr lang="en-US" altLang="en-US" sz="1800" dirty="0">
                <a:cs typeface="Courier New" pitchFamily="49" charset="0"/>
              </a:rPr>
              <a:t> is the most general class, and </a:t>
            </a:r>
            <a:r>
              <a:rPr lang="en-US" altLang="en-US" sz="1800" dirty="0">
                <a:cs typeface="Times New Roman" pitchFamily="18" charset="0"/>
              </a:rPr>
              <a:t>C</a:t>
            </a:r>
            <a:r>
              <a:rPr lang="en-US" altLang="en-US" sz="1800" baseline="-30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Courier New" pitchFamily="49" charset="0"/>
              </a:rPr>
              <a:t> is the most specific class</a:t>
            </a:r>
          </a:p>
          <a:p>
            <a:pPr marL="205979" lvl="1" indent="0">
              <a:lnSpc>
                <a:spcPct val="90000"/>
              </a:lnSpc>
              <a:spcBef>
                <a:spcPts val="600"/>
              </a:spcBef>
            </a:pPr>
            <a:r>
              <a:rPr lang="en-US" altLang="en-US" sz="1800" dirty="0">
                <a:cs typeface="Courier New" pitchFamily="49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If</a:t>
            </a:r>
            <a:r>
              <a:rPr lang="en-US" altLang="en-US" sz="1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o</a:t>
            </a:r>
            <a:r>
              <a:rPr lang="en-US" altLang="en-US" sz="1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invokes a method</a:t>
            </a:r>
            <a:r>
              <a:rPr lang="en-US" altLang="en-US" sz="18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en-US" altLang="en-US" sz="1800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the JVM searches the implementation for the method</a:t>
            </a:r>
            <a:r>
              <a:rPr lang="en-US" altLang="en-US" sz="18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en-US" altLang="en-US" sz="1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in</a:t>
            </a:r>
            <a:r>
              <a:rPr lang="en-US" altLang="en-US" sz="1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1800" dirty="0">
                <a:cs typeface="Times New Roman" pitchFamily="18" charset="0"/>
              </a:rPr>
              <a:t>C</a:t>
            </a:r>
            <a:r>
              <a:rPr lang="en-US" altLang="en-US" sz="1800" baseline="-30000" dirty="0">
                <a:cs typeface="Times New Roman" pitchFamily="18" charset="0"/>
              </a:rPr>
              <a:t>1</a:t>
            </a:r>
            <a:r>
              <a:rPr lang="en-US" altLang="en-US" sz="1800" dirty="0">
                <a:cs typeface="Times New Roman" pitchFamily="18" charset="0"/>
              </a:rPr>
              <a:t>, C</a:t>
            </a:r>
            <a:r>
              <a:rPr lang="en-US" altLang="en-US" sz="1800" baseline="-30000" dirty="0">
                <a:cs typeface="Times New Roman" pitchFamily="18" charset="0"/>
              </a:rPr>
              <a:t>2</a:t>
            </a:r>
            <a:r>
              <a:rPr lang="en-US" altLang="en-US" sz="1800" dirty="0">
                <a:cs typeface="Times New Roman" pitchFamily="18" charset="0"/>
              </a:rPr>
              <a:t>, ..., C</a:t>
            </a:r>
            <a:r>
              <a:rPr lang="en-US" altLang="en-US" sz="1800" baseline="-30000" dirty="0">
                <a:cs typeface="Times New Roman" pitchFamily="18" charset="0"/>
              </a:rPr>
              <a:t>n-1 </a:t>
            </a:r>
            <a:r>
              <a:rPr lang="en-US" altLang="en-US" sz="1800" dirty="0">
                <a:cs typeface="Times New Roman" pitchFamily="18" charset="0"/>
              </a:rPr>
              <a:t>and C</a:t>
            </a:r>
            <a:r>
              <a:rPr lang="en-US" altLang="en-US" sz="1800" baseline="-30000" dirty="0">
                <a:cs typeface="Times New Roman" pitchFamily="18" charset="0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in this order, until it is found, </a:t>
            </a:r>
            <a:r>
              <a:rPr lang="en-US" altLang="en-US" sz="1800" b="1" dirty="0">
                <a:solidFill>
                  <a:schemeClr val="tx1"/>
                </a:solidFill>
                <a:cs typeface="Courier New" pitchFamily="49" charset="0"/>
              </a:rPr>
              <a:t>the search stops and the first-found implementation is invoked</a:t>
            </a:r>
          </a:p>
          <a:p>
            <a:endParaRPr lang="en-US" sz="1800" dirty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987335"/>
              </p:ext>
            </p:extLst>
          </p:nvPr>
        </p:nvGraphicFramePr>
        <p:xfrm>
          <a:off x="798513" y="3016250"/>
          <a:ext cx="6846887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3714840" imgH="857160" progId="Word.Picture.8">
                  <p:embed/>
                </p:oleObj>
              </mc:Choice>
              <mc:Fallback>
                <p:oleObj name="Picture" r:id="rId2" imgW="3714840" imgH="857160" progId="Word.Picture.8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3016250"/>
                        <a:ext cx="6846887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1255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Dynamic Binding: Example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249209" y="1152475"/>
            <a:ext cx="443746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tIns="10287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class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PolymorphismDemo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static void main(String[]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args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</a:t>
            </a: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m(new </a:t>
            </a:r>
            <a:r>
              <a:rPr lang="en-US" altLang="en-US" sz="1050" b="1" kern="1200" dirty="0" err="1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GraduateStudent</a:t>
            </a: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Student());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Person());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Object());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</a:t>
            </a:r>
            <a:r>
              <a:rPr lang="en-US" altLang="en-US" sz="105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static void m(Object x)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</a:t>
            </a:r>
            <a:r>
              <a:rPr lang="en-US" altLang="en-US" sz="1050" b="1" kern="1200" dirty="0" err="1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System.out.println</a:t>
            </a:r>
            <a:r>
              <a:rPr lang="en-US" altLang="en-US" sz="105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(</a:t>
            </a:r>
            <a:r>
              <a:rPr lang="en-US" altLang="en-US" sz="1050" b="1" kern="1200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itchFamily="49" charset="0"/>
                <a:ea typeface="+mn-ea"/>
                <a:cs typeface="Times New Roman" pitchFamily="18" charset="0"/>
              </a:rPr>
              <a:t>x.toString</a:t>
            </a:r>
            <a:r>
              <a:rPr lang="en-US" altLang="en-US" sz="1050" b="1" kern="1200" dirty="0">
                <a:solidFill>
                  <a:srgbClr val="FF0000"/>
                </a:solidFill>
                <a:highlight>
                  <a:srgbClr val="FFFF00"/>
                </a:highlight>
                <a:latin typeface="Courier New" pitchFamily="49" charset="0"/>
                <a:ea typeface="+mn-ea"/>
                <a:cs typeface="Times New Roman" pitchFamily="18" charset="0"/>
              </a:rPr>
              <a:t>()</a:t>
            </a:r>
            <a:r>
              <a:rPr lang="en-US" altLang="en-US" sz="105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FF000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GraduateStudent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extends Student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Student extends Person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</a:t>
            </a: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String </a:t>
            </a:r>
            <a:r>
              <a:rPr lang="en-US" altLang="en-US" sz="1050" b="1" kern="1200" dirty="0" err="1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toString</a:t>
            </a: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return "Student";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Person extends Object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String </a:t>
            </a:r>
            <a:r>
              <a:rPr lang="en-US" altLang="en-US" sz="1050" b="1" kern="1200" dirty="0" err="1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toString</a:t>
            </a: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return "Person";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srgbClr val="0070C0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>
          <a:xfrm>
            <a:off x="4831235" y="2494490"/>
            <a:ext cx="3025378" cy="2102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altLang="en-US" sz="1500" b="1" u="sng">
                <a:cs typeface="Times New Roman" pitchFamily="18" charset="0"/>
              </a:rPr>
              <a:t>Output: 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altLang="en-US" sz="1500">
                <a:solidFill>
                  <a:srgbClr val="0070C0"/>
                </a:solidFill>
                <a:cs typeface="Times New Roman" pitchFamily="18" charset="0"/>
              </a:rPr>
              <a:t>Student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altLang="en-US" sz="1500">
                <a:solidFill>
                  <a:srgbClr val="0070C0"/>
                </a:solidFill>
                <a:cs typeface="Times New Roman" pitchFamily="18" charset="0"/>
              </a:rPr>
              <a:t>Student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altLang="en-US" sz="1500">
                <a:solidFill>
                  <a:srgbClr val="0070C0"/>
                </a:solidFill>
                <a:cs typeface="Times New Roman" pitchFamily="18" charset="0"/>
              </a:rPr>
              <a:t>Person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altLang="en-US" sz="1500">
                <a:solidFill>
                  <a:srgbClr val="0070C0"/>
                </a:solidFill>
                <a:cs typeface="Times New Roman" pitchFamily="18" charset="0"/>
              </a:rPr>
              <a:t>java.lang.Object@12345678</a:t>
            </a:r>
            <a:endParaRPr lang="en-US" altLang="en-US" sz="1500" dirty="0">
              <a:solidFill>
                <a:srgbClr val="0070C0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09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Method Matching Vs. Binding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 The compiler </a:t>
            </a:r>
            <a:r>
              <a:rPr lang="en-US" altLang="en-US" b="1" dirty="0">
                <a:solidFill>
                  <a:schemeClr val="tx1"/>
                </a:solidFill>
                <a:cs typeface="Times New Roman" pitchFamily="18" charset="0"/>
              </a:rPr>
              <a:t>finds a matching method </a:t>
            </a:r>
            <a:r>
              <a:rPr lang="en-US" altLang="en-US" dirty="0">
                <a:cs typeface="Times New Roman" pitchFamily="18" charset="0"/>
              </a:rPr>
              <a:t>according to parameter type, number of parameters, and order of the parameters </a:t>
            </a:r>
            <a:r>
              <a:rPr lang="en-US" altLang="en-US" b="1" dirty="0">
                <a:solidFill>
                  <a:schemeClr val="tx1"/>
                </a:solidFill>
                <a:cs typeface="Times New Roman" pitchFamily="18" charset="0"/>
              </a:rPr>
              <a:t>at compilation time</a:t>
            </a:r>
          </a:p>
          <a:p>
            <a:pPr marL="114300" indent="0">
              <a:lnSpc>
                <a:spcPct val="90000"/>
              </a:lnSpc>
              <a:buNone/>
            </a:pPr>
            <a:endParaRPr lang="en-US" altLang="en-US" dirty="0">
              <a:solidFill>
                <a:srgbClr val="00B050"/>
              </a:solidFill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cs typeface="Times New Roman" pitchFamily="18" charset="0"/>
              </a:rPr>
              <a:t> The Java Virtual Machine </a:t>
            </a:r>
            <a:r>
              <a:rPr lang="en-US" altLang="en-US" b="1" dirty="0">
                <a:solidFill>
                  <a:schemeClr val="tx1"/>
                </a:solidFill>
                <a:cs typeface="Times New Roman" pitchFamily="18" charset="0"/>
              </a:rPr>
              <a:t>dynamically binds the implementation of the method at runtime</a:t>
            </a:r>
            <a:endParaRPr lang="en-US" altLang="en-US" b="1" dirty="0">
              <a:solidFill>
                <a:schemeClr val="tx1"/>
              </a:solidFill>
              <a:cs typeface="Courier New" pitchFamily="49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2939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Generic Programming</a:t>
            </a: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>
          <a:xfrm>
            <a:off x="4773216" y="1513622"/>
            <a:ext cx="3966181" cy="3255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90000"/>
              </a:lnSpc>
              <a:buFont typeface="Arial"/>
              <a:buNone/>
            </a:pPr>
            <a:r>
              <a:rPr lang="en-US" altLang="en-US" sz="1500" b="1" i="1" dirty="0">
                <a:solidFill>
                  <a:schemeClr val="tx1"/>
                </a:solidFill>
                <a:cs typeface="Times New Roman" pitchFamily="18" charset="0"/>
              </a:rPr>
              <a:t>Generic programming: </a:t>
            </a:r>
            <a:r>
              <a:rPr lang="en-US" altLang="en-US" sz="1500" dirty="0">
                <a:cs typeface="Times New Roman" pitchFamily="18" charset="0"/>
              </a:rPr>
              <a:t>polymorphism allows methods to be used generically for a wide range of object arguments: if a method’s parameter type is a superclass (</a:t>
            </a:r>
            <a:r>
              <a:rPr lang="en-US" altLang="en-US" sz="1500" dirty="0" err="1">
                <a:cs typeface="Times New Roman" pitchFamily="18" charset="0"/>
              </a:rPr>
              <a:t>e.g.,Object</a:t>
            </a:r>
            <a:r>
              <a:rPr lang="en-US" altLang="en-US" sz="1500" dirty="0">
                <a:cs typeface="Times New Roman" pitchFamily="18" charset="0"/>
              </a:rPr>
              <a:t>), </a:t>
            </a:r>
            <a:r>
              <a:rPr lang="en-US" altLang="en-US" sz="1500" b="1" dirty="0">
                <a:solidFill>
                  <a:schemeClr val="tx1"/>
                </a:solidFill>
                <a:cs typeface="Times New Roman" pitchFamily="18" charset="0"/>
              </a:rPr>
              <a:t>you may pass an object to this method of any of the parameter’s subclasses</a:t>
            </a:r>
            <a:r>
              <a:rPr lang="en-US" altLang="en-US" sz="15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altLang="en-US" sz="1500" dirty="0">
                <a:cs typeface="Times New Roman" pitchFamily="18" charset="0"/>
              </a:rPr>
              <a:t>(e.g., Student or String) and the particular implementation of the method of the object that is invoked is determined dynamically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257301" y="1138575"/>
            <a:ext cx="443746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tIns="10287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class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PolymorphismDemo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static void main(String[]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args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GraduateStudent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Student());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Person());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m(new Object());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Times New Roman" pitchFamily="18" charset="0"/>
              </a:rPr>
              <a:t> public static void m(Object x)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latin typeface="Courier New" pitchFamily="49" charset="0"/>
                <a:ea typeface="+mn-ea"/>
                <a:cs typeface="Times New Roman" pitchFamily="18" charset="0"/>
              </a:rPr>
              <a:t>    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Times New Roman" pitchFamily="18" charset="0"/>
              </a:rPr>
              <a:t>System.out.println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Times New Roman" pitchFamily="18" charset="0"/>
              </a:rPr>
              <a:t>(</a:t>
            </a:r>
            <a:r>
              <a:rPr lang="en-US" altLang="en-US" sz="1050" b="1" kern="1200" dirty="0" err="1">
                <a:latin typeface="Courier New" pitchFamily="49" charset="0"/>
                <a:ea typeface="+mn-ea"/>
                <a:cs typeface="Times New Roman" pitchFamily="18" charset="0"/>
              </a:rPr>
              <a:t>x.toString</a:t>
            </a:r>
            <a:r>
              <a:rPr lang="en-US" altLang="en-US" sz="1050" b="1" kern="1200" dirty="0">
                <a:latin typeface="Courier New" pitchFamily="49" charset="0"/>
                <a:ea typeface="+mn-ea"/>
                <a:cs typeface="Times New Roman" pitchFamily="18" charset="0"/>
              </a:rPr>
              <a:t>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GraduateStudent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extends Student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Student extends Person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String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toString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return "Student";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class Person extends Object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public String </a:t>
            </a:r>
            <a:r>
              <a:rPr lang="en-US" altLang="en-US" sz="105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toString</a:t>
            </a: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()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  return "Person";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}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05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2327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Casting Objects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tabLst>
                <a:tab pos="42863" algn="l"/>
                <a:tab pos="214313" algn="l"/>
              </a:tabLst>
            </a:pPr>
            <a:r>
              <a:rPr lang="en-US" altLang="en-US" dirty="0">
                <a:cs typeface="Times New Roman" pitchFamily="18" charset="0"/>
              </a:rPr>
              <a:t>Casting can be used to convert an object of one class type to another within an inheritance hierarchy</a:t>
            </a:r>
          </a:p>
          <a:p>
            <a:pPr marL="342900" lvl="1" indent="0">
              <a:buNone/>
              <a:tabLst>
                <a:tab pos="42863" algn="l"/>
                <a:tab pos="214313" algn="l"/>
              </a:tabLst>
            </a:pP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	m(new Student());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2863" algn="l"/>
                <a:tab pos="214313" algn="l"/>
              </a:tabLst>
            </a:pPr>
            <a:r>
              <a:rPr lang="en-US" altLang="en-US" dirty="0">
                <a:cs typeface="Times New Roman" pitchFamily="18" charset="0"/>
              </a:rPr>
              <a:t>       is equivalent to:</a:t>
            </a:r>
          </a:p>
          <a:p>
            <a:pPr marL="800100" lvl="2" indent="0">
              <a:buNone/>
              <a:tabLst>
                <a:tab pos="42863" algn="l"/>
                <a:tab pos="214313" algn="l"/>
              </a:tabLst>
            </a:pP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Object o = new Student();     // Implicit casting</a:t>
            </a:r>
          </a:p>
          <a:p>
            <a:pPr marL="800100" lvl="2" indent="0">
              <a:buNone/>
              <a:tabLst>
                <a:tab pos="42863" algn="l"/>
                <a:tab pos="214313" algn="l"/>
              </a:tabLst>
            </a:pPr>
            <a:r>
              <a:rPr lang="en-US" altLang="en-US" sz="1800" b="1" dirty="0">
                <a:solidFill>
                  <a:schemeClr val="tx1"/>
                </a:solidFill>
                <a:cs typeface="Times New Roman" pitchFamily="18" charset="0"/>
              </a:rPr>
              <a:t>m(o);</a:t>
            </a:r>
          </a:p>
          <a:p>
            <a:endParaRPr lang="en-US" sz="180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134457" y="3310822"/>
            <a:ext cx="3829050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100" b="1" kern="1200" dirty="0">
                <a:ea typeface="+mn-ea"/>
                <a:cs typeface="Courier New" pitchFamily="49" charset="0"/>
              </a:rPr>
              <a:t>Legal</a:t>
            </a:r>
            <a:r>
              <a:rPr lang="en-US" altLang="en-US" sz="2100" kern="1200" dirty="0">
                <a:solidFill>
                  <a:prstClr val="black"/>
                </a:solidFill>
                <a:ea typeface="+mn-ea"/>
                <a:cs typeface="Courier New" pitchFamily="49" charset="0"/>
              </a:rPr>
              <a:t> because an instance of Student is automatically an instance of Object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H="1" flipV="1">
            <a:off x="2423653" y="2767897"/>
            <a:ext cx="777479" cy="542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arrow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sz="1200" kern="120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1" y="1742680"/>
            <a:ext cx="4164675" cy="657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b="1" kern="1200" dirty="0">
                <a:latin typeface="Courier New" pitchFamily="49" charset="0"/>
                <a:cs typeface="Times New Roman" pitchFamily="18" charset="0"/>
              </a:rPr>
              <a:t> public static void m(Object x) {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b="1" kern="1200" dirty="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altLang="en-US" b="1" kern="1200" dirty="0" err="1">
                <a:latin typeface="Courier New" pitchFamily="49" charset="0"/>
                <a:cs typeface="Times New Roman" pitchFamily="18" charset="0"/>
              </a:rPr>
              <a:t>System.out.println</a:t>
            </a:r>
            <a:r>
              <a:rPr lang="en-US" altLang="en-US" b="1" kern="1200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altLang="en-US" b="1" kern="1200" dirty="0" err="1">
                <a:latin typeface="Courier New" pitchFamily="49" charset="0"/>
                <a:cs typeface="Times New Roman" pitchFamily="18" charset="0"/>
              </a:rPr>
              <a:t>x.toString</a:t>
            </a:r>
            <a:r>
              <a:rPr lang="en-US" altLang="en-US" b="1" kern="1200" dirty="0">
                <a:latin typeface="Courier New" pitchFamily="49" charset="0"/>
                <a:cs typeface="Times New Roman" pitchFamily="18" charset="0"/>
              </a:rPr>
              <a:t>());</a:t>
            </a:r>
          </a:p>
          <a:p>
            <a:pPr eaLnBrk="0" fontAlgn="base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b="1" kern="1200" dirty="0">
                <a:latin typeface="Courier New" pitchFamily="49" charset="0"/>
                <a:cs typeface="Times New Roman" pitchFamily="18" charset="0"/>
              </a:rPr>
              <a:t> 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76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Why Casting is Necessary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  <a:tabLst>
                <a:tab pos="42863" algn="l"/>
                <a:tab pos="214313" algn="l"/>
              </a:tabLst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Student b = o;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  <a:tabLst>
                <a:tab pos="42863" algn="l"/>
                <a:tab pos="214313" algn="l"/>
              </a:tabLst>
            </a:pPr>
            <a:endParaRPr lang="en-US" altLang="en-US" dirty="0"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tabLst>
                <a:tab pos="42863" algn="l"/>
                <a:tab pos="214313" algn="l"/>
              </a:tabLst>
            </a:pPr>
            <a:r>
              <a:rPr lang="en-US" altLang="en-US" dirty="0">
                <a:cs typeface="Courier New" pitchFamily="49" charset="0"/>
              </a:rPr>
              <a:t>A </a:t>
            </a:r>
            <a:r>
              <a:rPr lang="en-US" altLang="en-US" b="1" dirty="0">
                <a:solidFill>
                  <a:schemeClr val="tx1"/>
                </a:solidFill>
                <a:cs typeface="Courier New" pitchFamily="49" charset="0"/>
              </a:rPr>
              <a:t>compilation error </a:t>
            </a:r>
            <a:r>
              <a:rPr lang="en-US" altLang="en-US" dirty="0">
                <a:cs typeface="Courier New" pitchFamily="49" charset="0"/>
              </a:rPr>
              <a:t>would occur because an Object o is not necessarily an instance of Student</a:t>
            </a:r>
          </a:p>
          <a:p>
            <a:pPr>
              <a:lnSpc>
                <a:spcPct val="90000"/>
              </a:lnSpc>
              <a:spcBef>
                <a:spcPct val="0"/>
              </a:spcBef>
              <a:tabLst>
                <a:tab pos="42863" algn="l"/>
                <a:tab pos="214313" algn="l"/>
              </a:tabLst>
            </a:pPr>
            <a:endParaRPr lang="en-US" altLang="en-US" dirty="0"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tabLst>
                <a:tab pos="42863" algn="l"/>
                <a:tab pos="214313" algn="l"/>
              </a:tabLst>
            </a:pPr>
            <a:r>
              <a:rPr lang="en-US" altLang="en-US" dirty="0">
                <a:cs typeface="Courier New" pitchFamily="49" charset="0"/>
              </a:rPr>
              <a:t>We use </a:t>
            </a:r>
            <a:r>
              <a:rPr lang="en-US" altLang="en-US" b="1" dirty="0">
                <a:solidFill>
                  <a:schemeClr val="tx1"/>
                </a:solidFill>
                <a:cs typeface="Courier New" pitchFamily="49" charset="0"/>
              </a:rPr>
              <a:t>explicit casting </a:t>
            </a:r>
            <a:r>
              <a:rPr lang="en-US" altLang="en-US" dirty="0">
                <a:cs typeface="Courier New" pitchFamily="49" charset="0"/>
              </a:rPr>
              <a:t>to tell the compiler that o is a Student object - syntax is similar to the one used for casting among primitive data types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  <a:tabLst>
                <a:tab pos="42863" algn="l"/>
                <a:tab pos="214313" algn="l"/>
              </a:tabLst>
            </a:pPr>
            <a:r>
              <a:rPr lang="en-US" altLang="en-US" dirty="0">
                <a:cs typeface="Courier New" pitchFamily="49" charset="0"/>
              </a:rPr>
              <a:t>			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Student b =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(Student)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o; 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buNone/>
              <a:tabLst>
                <a:tab pos="42863" algn="l"/>
                <a:tab pos="214313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ct val="0"/>
              </a:spcBef>
              <a:tabLst>
                <a:tab pos="42863" algn="l"/>
                <a:tab pos="214313" algn="l"/>
              </a:tabLst>
            </a:pPr>
            <a:r>
              <a:rPr lang="en-US" altLang="en-US" dirty="0"/>
              <a:t>This type of casting may not always succeed (check this with </a:t>
            </a:r>
            <a:r>
              <a:rPr lang="en-US" altLang="en-US" b="1" dirty="0" err="1">
                <a:latin typeface="Courier New" pitchFamily="49" charset="0"/>
              </a:rPr>
              <a:t>instanceof</a:t>
            </a:r>
            <a:r>
              <a:rPr lang="en-US" altLang="en-US" b="1" dirty="0">
                <a:latin typeface="Courier New" pitchFamily="49" charset="0"/>
              </a:rPr>
              <a:t> </a:t>
            </a:r>
            <a:r>
              <a:rPr lang="en-US" altLang="en-US" dirty="0"/>
              <a:t>operator)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9174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The </a:t>
            </a:r>
            <a:r>
              <a:rPr lang="en-US" b="1" dirty="0" err="1">
                <a:cs typeface="Times New Roman" pitchFamily="16" charset="0"/>
              </a:rPr>
              <a:t>instanceof</a:t>
            </a:r>
            <a:r>
              <a:rPr lang="en-US" b="1" dirty="0">
                <a:cs typeface="Times New Roman" pitchFamily="16" charset="0"/>
              </a:rPr>
              <a:t> Operator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Use the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</a:rPr>
              <a:t>instanceof</a:t>
            </a:r>
            <a:r>
              <a:rPr lang="en-US" altLang="en-US" dirty="0"/>
              <a:t> operator to test whether an object is an instance of a class: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Object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itchFamily="49" charset="0"/>
              </a:rPr>
              <a:t>myObject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en-US" sz="1800" b="1" dirty="0">
                <a:latin typeface="Courier New" pitchFamily="49" charset="0"/>
              </a:rPr>
              <a:t>= 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new Circle();</a:t>
            </a:r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itchFamily="49" charset="0"/>
              </a:rPr>
              <a:t>...</a:t>
            </a:r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itchFamily="49" charset="0"/>
              </a:rPr>
              <a:t>if (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itchFamily="49" charset="0"/>
              </a:rPr>
              <a:t>myObject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itchFamily="49" charset="0"/>
              </a:rPr>
              <a:t>instanceof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 Circle</a:t>
            </a:r>
            <a:r>
              <a:rPr lang="en-US" altLang="en-US" sz="1800" b="1" dirty="0">
                <a:latin typeface="Courier New" pitchFamily="49" charset="0"/>
              </a:rPr>
              <a:t>) {</a:t>
            </a:r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itchFamily="49" charset="0"/>
              </a:rPr>
              <a:t> </a:t>
            </a:r>
            <a:r>
              <a:rPr lang="en-US" altLang="en-US" sz="1800" b="1" dirty="0" err="1">
                <a:latin typeface="Courier New" pitchFamily="49" charset="0"/>
              </a:rPr>
              <a:t>System.out.println</a:t>
            </a:r>
            <a:r>
              <a:rPr lang="en-US" altLang="en-US" sz="1800" b="1" dirty="0">
                <a:latin typeface="Courier New" pitchFamily="49" charset="0"/>
              </a:rPr>
              <a:t>("The circle diameter is " </a:t>
            </a:r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itchFamily="49" charset="0"/>
              </a:rPr>
              <a:t>		+ 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((Circle)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itchFamily="49" charset="0"/>
              </a:rPr>
              <a:t>myObject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).</a:t>
            </a:r>
            <a:r>
              <a:rPr lang="en-US" altLang="en-US" sz="1800" b="1" dirty="0" err="1">
                <a:solidFill>
                  <a:schemeClr val="tx1"/>
                </a:solidFill>
                <a:latin typeface="Courier New" pitchFamily="49" charset="0"/>
              </a:rPr>
              <a:t>getDiameter</a:t>
            </a:r>
            <a:r>
              <a:rPr lang="en-US" altLang="en-US" sz="1800" b="1" dirty="0">
                <a:solidFill>
                  <a:schemeClr val="tx1"/>
                </a:solidFill>
                <a:latin typeface="Courier New" pitchFamily="49" charset="0"/>
              </a:rPr>
              <a:t>()</a:t>
            </a:r>
            <a:r>
              <a:rPr lang="en-US" altLang="en-US" sz="1800" b="1" dirty="0">
                <a:latin typeface="Courier New" pitchFamily="49" charset="0"/>
              </a:rPr>
              <a:t>);</a:t>
            </a:r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itchFamily="49" charset="0"/>
              </a:rPr>
              <a:t>  ...</a:t>
            </a:r>
          </a:p>
          <a:p>
            <a:pPr marL="239316" lvl="1" indent="0">
              <a:lnSpc>
                <a:spcPct val="80000"/>
              </a:lnSpc>
              <a:buNone/>
            </a:pPr>
            <a:r>
              <a:rPr lang="en-US" altLang="en-US" sz="1800" b="1" dirty="0">
                <a:latin typeface="Courier New" pitchFamily="49" charset="0"/>
              </a:rPr>
              <a:t>}</a:t>
            </a:r>
          </a:p>
          <a:p>
            <a:pPr marL="1143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72353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9204" y="489542"/>
            <a:ext cx="793019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CastingDemo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public static void main(String[]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		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Object object1 = new Circle(1);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Object object2 = new Rectangle(1, 1);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displayObject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(object1);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displayObject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(object2);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public static void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displayObject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(Object object)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object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instanceof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Circle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("The circle area is " +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((Circle)object).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getArea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("The circle diameter is " +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((Circle)object).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getDiameter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}else if (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object 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instanceof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Rectangle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("The rectangle area is " +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((Rectangle)object).</a:t>
            </a:r>
            <a:r>
              <a:rPr lang="en-US" alt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getArea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 2" pitchFamily="18" charset="2"/>
              <a:buNone/>
            </a:pP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236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cs typeface="Times New Roman" pitchFamily="16" charset="0"/>
              </a:rPr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equals</a:t>
            </a:r>
            <a:r>
              <a:rPr lang="en-US" b="1" dirty="0">
                <a:cs typeface="Times New Roman" pitchFamily="16" charset="0"/>
              </a:rPr>
              <a:t> Method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equals()</a:t>
            </a:r>
            <a:r>
              <a:rPr lang="en-US" altLang="en-US" dirty="0"/>
              <a:t>method compares the </a:t>
            </a:r>
            <a:r>
              <a:rPr lang="en-US" altLang="en-US" b="1" dirty="0">
                <a:solidFill>
                  <a:schemeClr val="tx1"/>
                </a:solidFill>
              </a:rPr>
              <a:t>contents</a:t>
            </a:r>
            <a:r>
              <a:rPr lang="en-US" altLang="en-US" dirty="0"/>
              <a:t> of two objects - t</a:t>
            </a:r>
            <a:r>
              <a:rPr lang="en-US" altLang="en-US" dirty="0">
                <a:cs typeface="Times New Roman" pitchFamily="18" charset="0"/>
              </a:rPr>
              <a:t>he default implementation of the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equals</a:t>
            </a:r>
            <a:r>
              <a:rPr lang="en-US" altLang="en-US" dirty="0">
                <a:cs typeface="Times New Roman" pitchFamily="18" charset="0"/>
              </a:rPr>
              <a:t> method in the Object class is as follows:</a:t>
            </a:r>
          </a:p>
          <a:p>
            <a:endParaRPr lang="en-US" altLang="en-US" dirty="0">
              <a:cs typeface="Times New Roman" pitchFamily="18" charset="0"/>
            </a:endParaRPr>
          </a:p>
          <a:p>
            <a:endParaRPr lang="en-US" altLang="en-US" dirty="0">
              <a:cs typeface="Times New Roman" pitchFamily="18" charset="0"/>
            </a:endParaRPr>
          </a:p>
          <a:p>
            <a:pPr marL="114300" indent="0">
              <a:buNone/>
            </a:pPr>
            <a:endParaRPr lang="en-US" altLang="en-US" dirty="0">
              <a:cs typeface="Times New Roman" pitchFamily="18" charset="0"/>
            </a:endParaRPr>
          </a:p>
          <a:p>
            <a:r>
              <a:rPr lang="en-US" altLang="en-US" b="1" dirty="0">
                <a:solidFill>
                  <a:schemeClr val="tx1"/>
                </a:solidFill>
                <a:cs typeface="Times New Roman" pitchFamily="18" charset="0"/>
              </a:rPr>
              <a:t>Override the </a:t>
            </a:r>
            <a:r>
              <a:rPr lang="en-US" altLang="en-US" b="1" dirty="0">
                <a:solidFill>
                  <a:schemeClr val="tx1"/>
                </a:solidFill>
                <a:latin typeface="Courier New" pitchFamily="49" charset="0"/>
              </a:rPr>
              <a:t>equals()</a:t>
            </a:r>
            <a:r>
              <a:rPr lang="en-US" altLang="en-US" b="1" dirty="0">
                <a:solidFill>
                  <a:schemeClr val="tx1"/>
                </a:solidFill>
              </a:rPr>
              <a:t>method </a:t>
            </a:r>
            <a:r>
              <a:rPr lang="en-US" altLang="en-US" dirty="0"/>
              <a:t>in other classes:</a:t>
            </a:r>
            <a:endParaRPr lang="en-US" altLang="en-US" dirty="0">
              <a:cs typeface="Times New Roman" pitchFamily="18" charset="0"/>
            </a:endParaRPr>
          </a:p>
          <a:p>
            <a:endParaRPr lang="en-US" altLang="en-US" dirty="0">
              <a:cs typeface="Times New Roman" pitchFamily="18" charset="0"/>
            </a:endParaRPr>
          </a:p>
          <a:p>
            <a:pPr marL="114300" indent="0">
              <a:buNone/>
            </a:pPr>
            <a:endParaRPr lang="en-US" sz="18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908084" y="2007157"/>
            <a:ext cx="497205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75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public </a:t>
            </a:r>
            <a:r>
              <a:rPr lang="en-US" altLang="en-US" sz="18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boolean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equals(Object </a:t>
            </a:r>
            <a:r>
              <a:rPr lang="en-US" altLang="en-US" sz="18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obj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) {</a:t>
            </a:r>
          </a:p>
          <a:p>
            <a:pPr eaLnBrk="0" fontAlgn="base" hangingPunct="0">
              <a:lnSpc>
                <a:spcPct val="0"/>
              </a:lnSpc>
              <a:spcBef>
                <a:spcPct val="75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  return (this == </a:t>
            </a:r>
            <a:r>
              <a:rPr lang="en-US" altLang="en-US" sz="18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obj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);</a:t>
            </a:r>
          </a:p>
          <a:p>
            <a:pPr eaLnBrk="0" fontAlgn="base" hangingPunct="0">
              <a:lnSpc>
                <a:spcPct val="0"/>
              </a:lnSpc>
              <a:spcBef>
                <a:spcPct val="7500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021373" y="3143409"/>
            <a:ext cx="576143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public </a:t>
            </a:r>
            <a:r>
              <a:rPr lang="en-US" altLang="en-US" sz="18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boolean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equals(Object o) {</a:t>
            </a:r>
            <a:endParaRPr lang="en-US" altLang="en-US" sz="1800" b="1" kern="1200" dirty="0">
              <a:solidFill>
                <a:prstClr val="black"/>
              </a:solidFill>
              <a:latin typeface="Courier New" pitchFamily="49" charset="0"/>
              <a:ea typeface="+mn-ea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if (o </a:t>
            </a:r>
            <a:r>
              <a:rPr lang="en-US" altLang="en-US" sz="1800" b="1" kern="1200" dirty="0" err="1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instanceof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Circle) {</a:t>
            </a:r>
            <a:endParaRPr lang="en-US" altLang="en-US" sz="1800" b="1" kern="1200" dirty="0">
              <a:solidFill>
                <a:prstClr val="black"/>
              </a:solidFill>
              <a:latin typeface="Courier New" pitchFamily="49" charset="0"/>
              <a:ea typeface="+mn-ea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  return radius == ((Circle)o).radius;</a:t>
            </a:r>
            <a:endParaRPr lang="en-US" altLang="en-US" sz="1800" b="1" kern="1200" dirty="0">
              <a:solidFill>
                <a:prstClr val="black"/>
              </a:solidFill>
              <a:latin typeface="Courier New" pitchFamily="49" charset="0"/>
              <a:ea typeface="+mn-ea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}</a:t>
            </a:r>
            <a:endParaRPr lang="en-US" altLang="en-US" sz="1800" b="1" kern="1200" dirty="0">
              <a:solidFill>
                <a:prstClr val="black"/>
              </a:solidFill>
              <a:latin typeface="Courier New" pitchFamily="49" charset="0"/>
              <a:ea typeface="+mn-ea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 else  return false;</a:t>
            </a:r>
            <a:endParaRPr lang="en-US" altLang="en-US" sz="1800" b="1" kern="1200" dirty="0">
              <a:solidFill>
                <a:prstClr val="black"/>
              </a:solidFill>
              <a:latin typeface="Courier New" pitchFamily="49" charset="0"/>
              <a:ea typeface="+mn-ea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96464"/>
              </a:buClr>
              <a:buSzPct val="75000"/>
              <a:buFont typeface="Monotype Sorts" pitchFamily="2" charset="2"/>
              <a:buNone/>
            </a:pP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Times New Roman" pitchFamily="18" charset="0"/>
              </a:rPr>
              <a:t>}</a:t>
            </a:r>
            <a:r>
              <a:rPr lang="en-US" altLang="en-US" sz="1800" b="1" kern="1200" dirty="0">
                <a:solidFill>
                  <a:prstClr val="black"/>
                </a:solidFill>
                <a:latin typeface="Courier New" pitchFamily="49" charset="0"/>
                <a:ea typeface="+mn-ea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0035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D655-EEE4-3A18-3BB4-3A3A27274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2015/12/02 Tuesday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AF69-8D33-7102-684F-FFACE26F5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Homework 4 due tonight</a:t>
            </a:r>
          </a:p>
          <a:p>
            <a:endParaRPr lang="en-US" altLang="zh-CN" sz="2400" dirty="0"/>
          </a:p>
          <a:p>
            <a:r>
              <a:rPr lang="en-US" altLang="zh-CN" sz="2400" dirty="0"/>
              <a:t>Midterm 2 Practice Solutions Posted (Note short answer questions)</a:t>
            </a:r>
          </a:p>
          <a:p>
            <a:endParaRPr lang="en-US" altLang="zh-CN" sz="2400" dirty="0"/>
          </a:p>
          <a:p>
            <a:r>
              <a:rPr lang="en-US" altLang="zh-CN" sz="2400" dirty="0"/>
              <a:t>Quiz and review on 12/05</a:t>
            </a:r>
          </a:p>
          <a:p>
            <a:r>
              <a:rPr lang="en-US" altLang="zh-CN" sz="2400" dirty="0"/>
              <a:t>This </a:t>
            </a:r>
            <a:r>
              <a:rPr lang="en-US" altLang="zh-CN" sz="2400"/>
              <a:t>lab continues on </a:t>
            </a:r>
            <a:r>
              <a:rPr lang="en-US" altLang="zh-CN" sz="2400" dirty="0"/>
              <a:t>12/05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085037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2F7A1478630F4C84AA79FECBBE66E3" ma:contentTypeVersion="3" ma:contentTypeDescription="Create a new document." ma:contentTypeScope="" ma:versionID="c9c377e3b8e0e2ab9f0eac9809b4db93">
  <xsd:schema xmlns:xsd="http://www.w3.org/2001/XMLSchema" xmlns:xs="http://www.w3.org/2001/XMLSchema" xmlns:p="http://schemas.microsoft.com/office/2006/metadata/properties" xmlns:ns2="dd520bba-7c1e-4c79-bf9d-255d7ed0f3a3" targetNamespace="http://schemas.microsoft.com/office/2006/metadata/properties" ma:root="true" ma:fieldsID="6df6a781603a717f4f28054941dc04fe" ns2:_="">
    <xsd:import namespace="dd520bba-7c1e-4c79-bf9d-255d7ed0f3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20bba-7c1e-4c79-bf9d-255d7ed0f3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45AA09-6389-4AD7-8C76-D5298ADF68D7}"/>
</file>

<file path=customXml/itemProps2.xml><?xml version="1.0" encoding="utf-8"?>
<ds:datastoreItem xmlns:ds="http://schemas.openxmlformats.org/officeDocument/2006/customXml" ds:itemID="{9B9084A7-D527-4E63-A83C-4178856C1BF7}"/>
</file>

<file path=customXml/itemProps3.xml><?xml version="1.0" encoding="utf-8"?>
<ds:datastoreItem xmlns:ds="http://schemas.openxmlformats.org/officeDocument/2006/customXml" ds:itemID="{A9053221-439C-499E-91B2-2B7367FF0F5A}"/>
</file>

<file path=docProps/app.xml><?xml version="1.0" encoding="utf-8"?>
<Properties xmlns="http://schemas.openxmlformats.org/officeDocument/2006/extended-properties" xmlns:vt="http://schemas.openxmlformats.org/officeDocument/2006/docPropsVTypes">
  <TotalTime>16490</TotalTime>
  <Words>2228</Words>
  <Application>Microsoft Office PowerPoint</Application>
  <PresentationFormat>On-screen Show (16:9)</PresentationFormat>
  <Paragraphs>364</Paragraphs>
  <Slides>30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 Unicode MS</vt:lpstr>
      <vt:lpstr>Monotype Sorts</vt:lpstr>
      <vt:lpstr>Arial</vt:lpstr>
      <vt:lpstr>Calibri</vt:lpstr>
      <vt:lpstr>Courier New</vt:lpstr>
      <vt:lpstr>Helvetica</vt:lpstr>
      <vt:lpstr>Perpetua</vt:lpstr>
      <vt:lpstr>Times New Roman</vt:lpstr>
      <vt:lpstr>Wingdings 2</vt:lpstr>
      <vt:lpstr>Simple Light</vt:lpstr>
      <vt:lpstr>Picture</vt:lpstr>
      <vt:lpstr>Inheritance and Polymorphism: Part2</vt:lpstr>
      <vt:lpstr>Inheritance: Overriding Methods</vt:lpstr>
      <vt:lpstr>The Object class</vt:lpstr>
      <vt:lpstr>Overriding toString() method Example</vt:lpstr>
      <vt:lpstr>Printing using toString()</vt:lpstr>
      <vt:lpstr>Inheritance Diagram</vt:lpstr>
      <vt:lpstr>Inheritance Diagram- Example</vt:lpstr>
      <vt:lpstr>UML class Diagram and Inheritance</vt:lpstr>
      <vt:lpstr>Cats and Dogs (yes, again)</vt:lpstr>
      <vt:lpstr>Cats and Dogs Revisited</vt:lpstr>
      <vt:lpstr>Cats and Dogs Revisited (II)</vt:lpstr>
      <vt:lpstr>Polymorphism</vt:lpstr>
      <vt:lpstr>Assignment</vt:lpstr>
      <vt:lpstr>Assignment (II)</vt:lpstr>
      <vt:lpstr>Method invocation</vt:lpstr>
      <vt:lpstr>Basic Rules</vt:lpstr>
      <vt:lpstr>Examples</vt:lpstr>
      <vt:lpstr>Polymorphism</vt:lpstr>
      <vt:lpstr>The Object Class and Its Methods</vt:lpstr>
      <vt:lpstr>Polymorphism, Dynamic Binding and Generic Programming</vt:lpstr>
      <vt:lpstr>Dynamic Binding</vt:lpstr>
      <vt:lpstr>Dynamic Binding: Example</vt:lpstr>
      <vt:lpstr>Method Matching Vs. Binding</vt:lpstr>
      <vt:lpstr>Generic Programming</vt:lpstr>
      <vt:lpstr>Casting Objects</vt:lpstr>
      <vt:lpstr>Why Casting is Necessary</vt:lpstr>
      <vt:lpstr>The instanceof Operator</vt:lpstr>
      <vt:lpstr>PowerPoint Presentation</vt:lpstr>
      <vt:lpstr>The equals Method</vt:lpstr>
      <vt:lpstr>2015/12/02 Tuesday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XINRUI YU</cp:lastModifiedBy>
  <cp:revision>1113</cp:revision>
  <dcterms:modified xsi:type="dcterms:W3CDTF">2025-12-02T11:56:08Z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0x0101008E2F7A1478630F4C84AA79FECBBE66E3</vt:lpwstr>
  </property>
</Properties>
</file>