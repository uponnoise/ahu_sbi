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23.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2.xml" ContentType="application/vnd.openxmlformats-officedocument.presentationml.slide+xml"/>
  <Override PartName="/ppt/slides/slide2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1.xml" ContentType="application/vnd.openxmlformats-officedocument.presentationml.slide+xml"/>
  <Override PartName="/ppt/slides/slide35.xml" ContentType="application/vnd.openxmlformats-officedocument.presentationml.slide+xml"/>
  <Override PartName="/ppt/slides/slide33.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4.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29.xml" ContentType="application/vnd.openxmlformats-officedocument.presentationml.slide+xml"/>
  <Override PartName="/ppt/slides/slide31.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6.xml" ContentType="application/vnd.openxmlformats-officedocument.presentationml.slideLayout+xml"/>
  <Override PartName="/ppt/notesSlides/notesSlide8.xml" ContentType="application/vnd.openxmlformats-officedocument.presentationml.notesSlide+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7.xml" ContentType="application/vnd.openxmlformats-officedocument.presentationml.slideLayout+xml"/>
  <Override PartName="/ppt/notesSlides/notesSlide7.xml" ContentType="application/vnd.openxmlformats-officedocument.presentationml.notesSlide+xml"/>
  <Override PartName="/ppt/slideLayouts/slideLayout2.xml" ContentType="application/vnd.openxmlformats-officedocument.presentationml.slideLayout+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notesSlides/notesSlide3.xml" ContentType="application/vnd.openxmlformats-officedocument.presentationml.notesSlide+xml"/>
  <Override PartName="/ppt/slideLayouts/slideLayout3.xml" ContentType="application/vnd.openxmlformats-officedocument.presentationml.slideLayout+xml"/>
  <Override PartName="/ppt/notesSlides/notesSlide2.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notesSlides/notesSlide11.xml" ContentType="application/vnd.openxmlformats-officedocument.presentationml.notesSlide+xml"/>
  <Override PartName="/ppt/notesSlides/notesSlide12.xml" ContentType="application/vnd.openxmlformats-officedocument.presentationml.notes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4"/>
  </p:notesMasterIdLst>
  <p:sldIdLst>
    <p:sldId id="256" r:id="rId2"/>
    <p:sldId id="350" r:id="rId3"/>
    <p:sldId id="282" r:id="rId4"/>
    <p:sldId id="311" r:id="rId5"/>
    <p:sldId id="312" r:id="rId6"/>
    <p:sldId id="313" r:id="rId7"/>
    <p:sldId id="314" r:id="rId8"/>
    <p:sldId id="315" r:id="rId9"/>
    <p:sldId id="316" r:id="rId10"/>
    <p:sldId id="317" r:id="rId11"/>
    <p:sldId id="318" r:id="rId12"/>
    <p:sldId id="319" r:id="rId13"/>
    <p:sldId id="320" r:id="rId14"/>
    <p:sldId id="321" r:id="rId15"/>
    <p:sldId id="322" r:id="rId16"/>
    <p:sldId id="323" r:id="rId17"/>
    <p:sldId id="324" r:id="rId18"/>
    <p:sldId id="325" r:id="rId19"/>
    <p:sldId id="326" r:id="rId20"/>
    <p:sldId id="327" r:id="rId21"/>
    <p:sldId id="328" r:id="rId22"/>
    <p:sldId id="329" r:id="rId23"/>
    <p:sldId id="330" r:id="rId24"/>
    <p:sldId id="331" r:id="rId25"/>
    <p:sldId id="332" r:id="rId26"/>
    <p:sldId id="333" r:id="rId27"/>
    <p:sldId id="334" r:id="rId28"/>
    <p:sldId id="335" r:id="rId29"/>
    <p:sldId id="336" r:id="rId30"/>
    <p:sldId id="337" r:id="rId31"/>
    <p:sldId id="338" r:id="rId32"/>
    <p:sldId id="339" r:id="rId33"/>
    <p:sldId id="340" r:id="rId34"/>
    <p:sldId id="341" r:id="rId35"/>
    <p:sldId id="342" r:id="rId36"/>
    <p:sldId id="343" r:id="rId37"/>
    <p:sldId id="344" r:id="rId38"/>
    <p:sldId id="345" r:id="rId39"/>
    <p:sldId id="346" r:id="rId40"/>
    <p:sldId id="347" r:id="rId41"/>
    <p:sldId id="348" r:id="rId42"/>
    <p:sldId id="349" r:id="rId4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07" autoAdjust="0"/>
  </p:normalViewPr>
  <p:slideViewPr>
    <p:cSldViewPr snapToGrid="0">
      <p:cViewPr>
        <p:scale>
          <a:sx n="114" d="100"/>
          <a:sy n="114" d="100"/>
        </p:scale>
        <p:origin x="135" y="6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customXml" Target="../customXml/item2.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于 心瑞 Xinrui YU" userId="e6fcc6d4-2b88-4beb-95d7-57ae4d33a768" providerId="ADAL" clId="{280CA6EB-EE6B-4432-A73F-36F9D11BD242}"/>
    <pc:docChg chg="undo custSel delSld modSld">
      <pc:chgData name="于 心瑞 Xinrui YU" userId="e6fcc6d4-2b88-4beb-95d7-57ae4d33a768" providerId="ADAL" clId="{280CA6EB-EE6B-4432-A73F-36F9D11BD242}" dt="2025-03-24T05:00:00.751" v="834"/>
      <pc:docMkLst>
        <pc:docMk/>
      </pc:docMkLst>
      <pc:sldChg chg="addSp delSp modSp mod">
        <pc:chgData name="于 心瑞 Xinrui YU" userId="e6fcc6d4-2b88-4beb-95d7-57ae4d33a768" providerId="ADAL" clId="{280CA6EB-EE6B-4432-A73F-36F9D11BD242}" dt="2025-03-17T15:11:30.741" v="2"/>
        <pc:sldMkLst>
          <pc:docMk/>
          <pc:sldMk cId="0" sldId="256"/>
        </pc:sldMkLst>
      </pc:sldChg>
      <pc:sldChg chg="del">
        <pc:chgData name="于 心瑞 Xinrui YU" userId="e6fcc6d4-2b88-4beb-95d7-57ae4d33a768" providerId="ADAL" clId="{280CA6EB-EE6B-4432-A73F-36F9D11BD242}" dt="2025-03-17T15:08:38.211" v="0" actId="47"/>
        <pc:sldMkLst>
          <pc:docMk/>
          <pc:sldMk cId="0" sldId="260"/>
        </pc:sldMkLst>
      </pc:sldChg>
      <pc:sldChg chg="modSp mod modAnim modNotesTx">
        <pc:chgData name="于 心瑞 Xinrui YU" userId="e6fcc6d4-2b88-4beb-95d7-57ae4d33a768" providerId="ADAL" clId="{280CA6EB-EE6B-4432-A73F-36F9D11BD242}" dt="2025-03-20T07:57:22.109" v="175" actId="20577"/>
        <pc:sldMkLst>
          <pc:docMk/>
          <pc:sldMk cId="1994247652" sldId="312"/>
        </pc:sldMkLst>
      </pc:sldChg>
      <pc:sldChg chg="modSp mod modAnim modNotesTx">
        <pc:chgData name="于 心瑞 Xinrui YU" userId="e6fcc6d4-2b88-4beb-95d7-57ae4d33a768" providerId="ADAL" clId="{280CA6EB-EE6B-4432-A73F-36F9D11BD242}" dt="2025-03-20T08:08:22.622" v="539" actId="27636"/>
        <pc:sldMkLst>
          <pc:docMk/>
          <pc:sldMk cId="52878211" sldId="313"/>
        </pc:sldMkLst>
      </pc:sldChg>
      <pc:sldChg chg="modSp modAnim">
        <pc:chgData name="于 心瑞 Xinrui YU" userId="e6fcc6d4-2b88-4beb-95d7-57ae4d33a768" providerId="ADAL" clId="{280CA6EB-EE6B-4432-A73F-36F9D11BD242}" dt="2025-03-20T08:08:52.860" v="554"/>
        <pc:sldMkLst>
          <pc:docMk/>
          <pc:sldMk cId="3752736942" sldId="314"/>
        </pc:sldMkLst>
      </pc:sldChg>
      <pc:sldChg chg="modSp modAnim">
        <pc:chgData name="于 心瑞 Xinrui YU" userId="e6fcc6d4-2b88-4beb-95d7-57ae4d33a768" providerId="ADAL" clId="{280CA6EB-EE6B-4432-A73F-36F9D11BD242}" dt="2025-03-20T08:10:08.921" v="567" actId="2711"/>
        <pc:sldMkLst>
          <pc:docMk/>
          <pc:sldMk cId="1662062097" sldId="315"/>
        </pc:sldMkLst>
      </pc:sldChg>
      <pc:sldChg chg="modSp modAnim">
        <pc:chgData name="于 心瑞 Xinrui YU" userId="e6fcc6d4-2b88-4beb-95d7-57ae4d33a768" providerId="ADAL" clId="{280CA6EB-EE6B-4432-A73F-36F9D11BD242}" dt="2025-03-20T08:03:53.104" v="400" actId="207"/>
        <pc:sldMkLst>
          <pc:docMk/>
          <pc:sldMk cId="2600866939" sldId="316"/>
        </pc:sldMkLst>
      </pc:sldChg>
      <pc:sldChg chg="modNotesTx">
        <pc:chgData name="于 心瑞 Xinrui YU" userId="e6fcc6d4-2b88-4beb-95d7-57ae4d33a768" providerId="ADAL" clId="{280CA6EB-EE6B-4432-A73F-36F9D11BD242}" dt="2025-03-20T08:04:39.739" v="401"/>
        <pc:sldMkLst>
          <pc:docMk/>
          <pc:sldMk cId="5961723" sldId="317"/>
        </pc:sldMkLst>
      </pc:sldChg>
      <pc:sldChg chg="modNotesTx">
        <pc:chgData name="于 心瑞 Xinrui YU" userId="e6fcc6d4-2b88-4beb-95d7-57ae4d33a768" providerId="ADAL" clId="{280CA6EB-EE6B-4432-A73F-36F9D11BD242}" dt="2025-03-20T08:41:07.649" v="742"/>
        <pc:sldMkLst>
          <pc:docMk/>
          <pc:sldMk cId="1148269956" sldId="319"/>
        </pc:sldMkLst>
      </pc:sldChg>
      <pc:sldChg chg="modNotesTx">
        <pc:chgData name="于 心瑞 Xinrui YU" userId="e6fcc6d4-2b88-4beb-95d7-57ae4d33a768" providerId="ADAL" clId="{280CA6EB-EE6B-4432-A73F-36F9D11BD242}" dt="2025-03-24T04:51:28.964" v="760"/>
        <pc:sldMkLst>
          <pc:docMk/>
          <pc:sldMk cId="730455924" sldId="321"/>
        </pc:sldMkLst>
      </pc:sldChg>
      <pc:sldChg chg="modNotesTx">
        <pc:chgData name="于 心瑞 Xinrui YU" userId="e6fcc6d4-2b88-4beb-95d7-57ae4d33a768" providerId="ADAL" clId="{280CA6EB-EE6B-4432-A73F-36F9D11BD242}" dt="2025-03-24T04:51:21.272" v="759" actId="20577"/>
        <pc:sldMkLst>
          <pc:docMk/>
          <pc:sldMk cId="3972764716" sldId="333"/>
        </pc:sldMkLst>
      </pc:sldChg>
      <pc:sldChg chg="modNotesTx">
        <pc:chgData name="于 心瑞 Xinrui YU" userId="e6fcc6d4-2b88-4beb-95d7-57ae4d33a768" providerId="ADAL" clId="{280CA6EB-EE6B-4432-A73F-36F9D11BD242}" dt="2025-03-20T08:16:04.107" v="616" actId="20577"/>
        <pc:sldMkLst>
          <pc:docMk/>
          <pc:sldMk cId="915530928" sldId="343"/>
        </pc:sldMkLst>
      </pc:sldChg>
      <pc:sldChg chg="modNotesTx">
        <pc:chgData name="于 心瑞 Xinrui YU" userId="e6fcc6d4-2b88-4beb-95d7-57ae4d33a768" providerId="ADAL" clId="{280CA6EB-EE6B-4432-A73F-36F9D11BD242}" dt="2025-03-24T04:54:25.355" v="773" actId="20577"/>
        <pc:sldMkLst>
          <pc:docMk/>
          <pc:sldMk cId="2022061835" sldId="347"/>
        </pc:sldMkLst>
      </pc:sldChg>
      <pc:sldChg chg="addSp modSp mod modNotesTx">
        <pc:chgData name="于 心瑞 Xinrui YU" userId="e6fcc6d4-2b88-4beb-95d7-57ae4d33a768" providerId="ADAL" clId="{280CA6EB-EE6B-4432-A73F-36F9D11BD242}" dt="2025-03-24T04:58:29.451" v="791" actId="20577"/>
        <pc:sldMkLst>
          <pc:docMk/>
          <pc:sldMk cId="3900643380" sldId="348"/>
        </pc:sldMkLst>
      </pc:sldChg>
      <pc:sldChg chg="addSp modSp mod modAnim">
        <pc:chgData name="于 心瑞 Xinrui YU" userId="e6fcc6d4-2b88-4beb-95d7-57ae4d33a768" providerId="ADAL" clId="{280CA6EB-EE6B-4432-A73F-36F9D11BD242}" dt="2025-03-24T05:00:00.751" v="834"/>
        <pc:sldMkLst>
          <pc:docMk/>
          <pc:sldMk cId="454366717" sldId="349"/>
        </pc:sldMkLst>
      </pc:sldChg>
    </pc:docChg>
  </pc:docChgLst>
  <pc:docChgLst>
    <pc:chgData name="于 心瑞 Xinrui YU" userId="e6fcc6d4-2b88-4beb-95d7-57ae4d33a768" providerId="ADAL" clId="{21058137-3259-4BAD-AB9F-F41EEF646326}"/>
    <pc:docChg chg="modSld">
      <pc:chgData name="于 心瑞 Xinrui YU" userId="e6fcc6d4-2b88-4beb-95d7-57ae4d33a768" providerId="ADAL" clId="{21058137-3259-4BAD-AB9F-F41EEF646326}" dt="2025-03-24T05:54:55.755" v="48" actId="20577"/>
      <pc:docMkLst>
        <pc:docMk/>
      </pc:docMkLst>
      <pc:sldChg chg="modSp modAnim">
        <pc:chgData name="于 心瑞 Xinrui YU" userId="e6fcc6d4-2b88-4beb-95d7-57ae4d33a768" providerId="ADAL" clId="{21058137-3259-4BAD-AB9F-F41EEF646326}" dt="2025-03-24T05:54:55.755" v="48" actId="20577"/>
        <pc:sldMkLst>
          <pc:docMk/>
          <pc:sldMk cId="915530928" sldId="343"/>
        </pc:sldMkLst>
      </pc:sldChg>
    </pc:docChg>
  </pc:docChgLst>
  <pc:docChgLst>
    <pc:chgData name="于 心瑞 Xinrui YU" userId="e6fcc6d4-2b88-4beb-95d7-57ae4d33a768" providerId="ADAL" clId="{CFFA9A75-F840-4F6F-AF7D-069F806E1180}"/>
    <pc:docChg chg="modSld">
      <pc:chgData name="于 心瑞 Xinrui YU" userId="e6fcc6d4-2b88-4beb-95d7-57ae4d33a768" providerId="ADAL" clId="{CFFA9A75-F840-4F6F-AF7D-069F806E1180}" dt="2025-10-28T09:03:16.712" v="57" actId="20577"/>
      <pc:docMkLst>
        <pc:docMk/>
      </pc:docMkLst>
      <pc:sldChg chg="modNotesTx">
        <pc:chgData name="于 心瑞 Xinrui YU" userId="e6fcc6d4-2b88-4beb-95d7-57ae4d33a768" providerId="ADAL" clId="{CFFA9A75-F840-4F6F-AF7D-069F806E1180}" dt="2025-10-28T06:45:51.683" v="31" actId="20577"/>
        <pc:sldMkLst>
          <pc:docMk/>
          <pc:sldMk cId="884760307" sldId="342"/>
        </pc:sldMkLst>
      </pc:sldChg>
      <pc:sldChg chg="modNotesTx">
        <pc:chgData name="于 心瑞 Xinrui YU" userId="e6fcc6d4-2b88-4beb-95d7-57ae4d33a768" providerId="ADAL" clId="{CFFA9A75-F840-4F6F-AF7D-069F806E1180}" dt="2025-10-28T09:03:16.712" v="57" actId="20577"/>
        <pc:sldMkLst>
          <pc:docMk/>
          <pc:sldMk cId="1687775185" sldId="3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744747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e5cd7aa5a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e5cd7aa5a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747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Arrays are objects in Java; more like pointers in C. </a:t>
            </a:r>
          </a:p>
        </p:txBody>
      </p:sp>
    </p:spTree>
    <p:extLst>
      <p:ext uri="{BB962C8B-B14F-4D97-AF65-F5344CB8AC3E}">
        <p14:creationId xmlns:p14="http://schemas.microsoft.com/office/powerpoint/2010/main" val="3268759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Allocating memory</a:t>
            </a:r>
          </a:p>
        </p:txBody>
      </p:sp>
    </p:spTree>
    <p:extLst>
      <p:ext uri="{BB962C8B-B14F-4D97-AF65-F5344CB8AC3E}">
        <p14:creationId xmlns:p14="http://schemas.microsoft.com/office/powerpoint/2010/main" val="2792039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b="1" i="0" dirty="0">
                <a:solidFill>
                  <a:srgbClr val="767676"/>
                </a:solidFill>
                <a:effectLst/>
                <a:latin typeface="Arial" panose="020B0604020202020204" pitchFamily="34" charset="0"/>
              </a:rPr>
              <a:t>下标变量</a:t>
            </a:r>
            <a:r>
              <a:rPr lang="en-US" altLang="zh-CN" b="1" i="0" dirty="0">
                <a:solidFill>
                  <a:srgbClr val="767676"/>
                </a:solidFill>
                <a:effectLst/>
                <a:latin typeface="Arial" panose="020B0604020202020204" pitchFamily="34" charset="0"/>
              </a:rPr>
              <a:t>; </a:t>
            </a:r>
            <a:r>
              <a:rPr lang="zh-CN" altLang="en-US" b="1" i="0" dirty="0">
                <a:solidFill>
                  <a:srgbClr val="767676"/>
                </a:solidFill>
                <a:effectLst/>
                <a:latin typeface="Arial" panose="020B0604020202020204" pitchFamily="34" charset="0"/>
              </a:rPr>
              <a:t>索引变量</a:t>
            </a:r>
            <a:r>
              <a:rPr lang="en-US" altLang="zh-CN" b="1" i="0" dirty="0">
                <a:solidFill>
                  <a:srgbClr val="767676"/>
                </a:solidFill>
                <a:effectLst/>
                <a:latin typeface="Arial" panose="020B0604020202020204" pitchFamily="34" charset="0"/>
              </a:rPr>
              <a:t>; </a:t>
            </a:r>
            <a:r>
              <a:rPr lang="zh-CN" altLang="en-US" b="1" i="0" dirty="0">
                <a:solidFill>
                  <a:srgbClr val="767676"/>
                </a:solidFill>
                <a:effectLst/>
                <a:latin typeface="Arial" panose="020B0604020202020204" pitchFamily="34" charset="0"/>
              </a:rPr>
              <a:t>数组变量</a:t>
            </a:r>
            <a:endParaRPr lang="en-US" dirty="0"/>
          </a:p>
        </p:txBody>
      </p:sp>
    </p:spTree>
    <p:extLst>
      <p:ext uri="{BB962C8B-B14F-4D97-AF65-F5344CB8AC3E}">
        <p14:creationId xmlns:p14="http://schemas.microsoft.com/office/powerpoint/2010/main" val="3987580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简写语法</a:t>
            </a:r>
            <a:endParaRPr lang="en-US" dirty="0"/>
          </a:p>
        </p:txBody>
      </p:sp>
    </p:spTree>
    <p:extLst>
      <p:ext uri="{BB962C8B-B14F-4D97-AF65-F5344CB8AC3E}">
        <p14:creationId xmlns:p14="http://schemas.microsoft.com/office/powerpoint/2010/main" val="4227468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zh-CN" altLang="en-US" dirty="0"/>
              <a:t>三角形数</a:t>
            </a:r>
            <a:endParaRPr lang="en-US" dirty="0"/>
          </a:p>
          <a:p>
            <a:endParaRPr lang="zh-CN" altLang="en-US" dirty="0"/>
          </a:p>
        </p:txBody>
      </p:sp>
    </p:spTree>
    <p:extLst>
      <p:ext uri="{BB962C8B-B14F-4D97-AF65-F5344CB8AC3E}">
        <p14:creationId xmlns:p14="http://schemas.microsoft.com/office/powerpoint/2010/main" val="14420483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94379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Class 02 stopped here 10/28</a:t>
            </a:r>
            <a:endParaRPr lang="zh-CN" altLang="en-US" dirty="0"/>
          </a:p>
        </p:txBody>
      </p:sp>
    </p:spTree>
    <p:extLst>
      <p:ext uri="{BB962C8B-B14F-4D97-AF65-F5344CB8AC3E}">
        <p14:creationId xmlns:p14="http://schemas.microsoft.com/office/powerpoint/2010/main" val="2782887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C does not allow direct assignment at all – complier error</a:t>
            </a:r>
          </a:p>
        </p:txBody>
      </p:sp>
    </p:spTree>
    <p:extLst>
      <p:ext uri="{BB962C8B-B14F-4D97-AF65-F5344CB8AC3E}">
        <p14:creationId xmlns:p14="http://schemas.microsoft.com/office/powerpoint/2010/main" val="736622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Class </a:t>
            </a:r>
            <a:r>
              <a:rPr lang="en-US" altLang="zh-CN"/>
              <a:t>01 ends here 10/28</a:t>
            </a:r>
            <a:endParaRPr lang="zh-CN" altLang="en-US"/>
          </a:p>
        </p:txBody>
      </p:sp>
    </p:spTree>
    <p:extLst>
      <p:ext uri="{BB962C8B-B14F-4D97-AF65-F5344CB8AC3E}">
        <p14:creationId xmlns:p14="http://schemas.microsoft.com/office/powerpoint/2010/main" val="1850633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Passes a pointer</a:t>
            </a:r>
            <a:r>
              <a:rPr lang="en-US" dirty="0"/>
              <a:t> (C treats arrays as pointers).</a:t>
            </a:r>
          </a:p>
          <a:p>
            <a:r>
              <a:rPr lang="en-US" b="0" i="0" dirty="0">
                <a:solidFill>
                  <a:srgbClr val="1F1F1F"/>
                </a:solidFill>
                <a:effectLst/>
                <a:latin typeface="Google Sans"/>
              </a:rPr>
              <a:t>New:</a:t>
            </a:r>
            <a:r>
              <a:rPr lang="zh-CN" altLang="en-US" b="0" i="0" dirty="0">
                <a:solidFill>
                  <a:srgbClr val="1F1F1F"/>
                </a:solidFill>
                <a:effectLst/>
                <a:latin typeface="Google Sans"/>
              </a:rPr>
              <a:t> </a:t>
            </a:r>
            <a:r>
              <a:rPr lang="en-US" b="0" i="0" dirty="0">
                <a:solidFill>
                  <a:srgbClr val="1F1F1F"/>
                </a:solidFill>
                <a:effectLst/>
                <a:latin typeface="Google Sans"/>
              </a:rPr>
              <a:t>It dynamically allocates memory for an object and returns a reference to that memory.</a:t>
            </a:r>
            <a:endParaRPr lang="en-US" dirty="0"/>
          </a:p>
        </p:txBody>
      </p:sp>
    </p:spTree>
    <p:extLst>
      <p:ext uri="{BB962C8B-B14F-4D97-AF65-F5344CB8AC3E}">
        <p14:creationId xmlns:p14="http://schemas.microsoft.com/office/powerpoint/2010/main" val="4035266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Unlike C, Java </a:t>
            </a:r>
            <a:r>
              <a:rPr lang="en-US" b="1" dirty="0"/>
              <a:t>does not allow direct memory manipulation</a:t>
            </a:r>
            <a:r>
              <a:rPr lang="en-US" dirty="0"/>
              <a:t>. In C, you can modify the actual memory pointed by the pointer; not in Java (references cannot be reassigned to new memory)</a:t>
            </a:r>
          </a:p>
          <a:p>
            <a:r>
              <a:rPr lang="en-US" dirty="0"/>
              <a:t>P 219</a:t>
            </a:r>
          </a:p>
        </p:txBody>
      </p:sp>
    </p:spTree>
    <p:extLst>
      <p:ext uri="{BB962C8B-B14F-4D97-AF65-F5344CB8AC3E}">
        <p14:creationId xmlns:p14="http://schemas.microsoft.com/office/powerpoint/2010/main" val="10514635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4.bin"/><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5.bin"/><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7.bin"/><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8.bin"/><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8.bin"/><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8.bin"/><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wmf"/></Relationships>
</file>

<file path=ppt/slides/_rels/slide2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9.bin"/><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0.bin"/><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1.bin"/><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11.bin"/><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3.bin"/><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3.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2" name="Title 1">
            <a:extLst>
              <a:ext uri="{FF2B5EF4-FFF2-40B4-BE49-F238E27FC236}">
                <a16:creationId xmlns:a16="http://schemas.microsoft.com/office/drawing/2014/main" id="{1730766B-A39C-48AD-AF4E-3FB458C16D13}"/>
              </a:ext>
            </a:extLst>
          </p:cNvPr>
          <p:cNvSpPr>
            <a:spLocks noGrp="1"/>
          </p:cNvSpPr>
          <p:nvPr>
            <p:ph type="title"/>
          </p:nvPr>
        </p:nvSpPr>
        <p:spPr>
          <a:xfrm>
            <a:off x="311700" y="-662806"/>
            <a:ext cx="8520600" cy="572700"/>
          </a:xfrm>
        </p:spPr>
        <p:txBody>
          <a:bodyPr>
            <a:normAutofit fontScale="90000"/>
          </a:bodyPr>
          <a:lstStyle/>
          <a:p>
            <a:r>
              <a:rPr lang="en-US" dirty="0"/>
              <a:t>Arrays Part1</a:t>
            </a:r>
          </a:p>
        </p:txBody>
      </p:sp>
      <p:sp>
        <p:nvSpPr>
          <p:cNvPr id="54" name="Google Shape;54;p1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n-US" sz="3200" b="1" dirty="0">
                <a:solidFill>
                  <a:schemeClr val="dk1"/>
                </a:solidFill>
              </a:rPr>
              <a:t>Arrays</a:t>
            </a:r>
            <a:endParaRPr sz="3200" b="1" dirty="0">
              <a:solidFill>
                <a:schemeClr val="dk1"/>
              </a:solidFill>
            </a:endParaRPr>
          </a:p>
        </p:txBody>
      </p:sp>
      <p:sp>
        <p:nvSpPr>
          <p:cNvPr id="5" name="Title 1">
            <a:extLst>
              <a:ext uri="{FF2B5EF4-FFF2-40B4-BE49-F238E27FC236}">
                <a16:creationId xmlns:a16="http://schemas.microsoft.com/office/drawing/2014/main" id="{1730766B-A39C-48AD-AF4E-3FB458C16D13}"/>
              </a:ext>
            </a:extLst>
          </p:cNvPr>
          <p:cNvSpPr txBox="1">
            <a:spLocks/>
          </p:cNvSpPr>
          <p:nvPr/>
        </p:nvSpPr>
        <p:spPr>
          <a:xfrm>
            <a:off x="311700" y="445025"/>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Arrays</a:t>
            </a:r>
          </a:p>
        </p:txBody>
      </p:sp>
      <p:pic>
        <p:nvPicPr>
          <p:cNvPr id="3" name="그림 1" descr="Text, letter&#10;&#10;Description automatically generated">
            <a:extLst>
              <a:ext uri="{FF2B5EF4-FFF2-40B4-BE49-F238E27FC236}">
                <a16:creationId xmlns:a16="http://schemas.microsoft.com/office/drawing/2014/main" id="{319FF226-4C0F-8329-F833-C4F82010E5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7847" y="3702160"/>
            <a:ext cx="2948305" cy="108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Objectives</a:t>
            </a:r>
          </a:p>
        </p:txBody>
      </p:sp>
      <p:sp>
        <p:nvSpPr>
          <p:cNvPr id="3" name="Text Placeholder 2"/>
          <p:cNvSpPr>
            <a:spLocks noGrp="1"/>
          </p:cNvSpPr>
          <p:nvPr>
            <p:ph type="body" idx="1"/>
          </p:nvPr>
        </p:nvSpPr>
        <p:spPr/>
        <p:txBody>
          <a:bodyPr/>
          <a:lstStyle/>
          <a:p>
            <a:r>
              <a:rPr lang="en-US" dirty="0"/>
              <a:t>Introduction to an array</a:t>
            </a:r>
          </a:p>
          <a:p>
            <a:r>
              <a:rPr lang="en-US" dirty="0"/>
              <a:t>Array declaration and creation</a:t>
            </a:r>
          </a:p>
          <a:p>
            <a:r>
              <a:rPr lang="en-US" dirty="0"/>
              <a:t>Array default values</a:t>
            </a:r>
          </a:p>
          <a:p>
            <a:r>
              <a:rPr lang="en-US" dirty="0"/>
              <a:t>Indexed variables</a:t>
            </a:r>
          </a:p>
          <a:p>
            <a:r>
              <a:rPr lang="en-US" dirty="0"/>
              <a:t>Copying array</a:t>
            </a:r>
          </a:p>
          <a:p>
            <a:r>
              <a:rPr lang="en-US" dirty="0"/>
              <a:t>Randomly shuffling an array</a:t>
            </a:r>
          </a:p>
          <a:p>
            <a:r>
              <a:rPr lang="en-US" dirty="0"/>
              <a:t>Shifting the elements of an array</a:t>
            </a:r>
          </a:p>
          <a:p>
            <a:r>
              <a:rPr lang="en-US" dirty="0"/>
              <a:t>Passing array as an argument to a method (pass by reference)</a:t>
            </a:r>
          </a:p>
        </p:txBody>
      </p:sp>
    </p:spTree>
    <p:extLst>
      <p:ext uri="{BB962C8B-B14F-4D97-AF65-F5344CB8AC3E}">
        <p14:creationId xmlns:p14="http://schemas.microsoft.com/office/powerpoint/2010/main" val="4119198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Opening problem</a:t>
            </a:r>
          </a:p>
        </p:txBody>
      </p:sp>
      <p:sp>
        <p:nvSpPr>
          <p:cNvPr id="3" name="Text Placeholder 2"/>
          <p:cNvSpPr>
            <a:spLocks noGrp="1"/>
          </p:cNvSpPr>
          <p:nvPr>
            <p:ph type="body" idx="1"/>
          </p:nvPr>
        </p:nvSpPr>
        <p:spPr/>
        <p:txBody>
          <a:bodyPr/>
          <a:lstStyle/>
          <a:p>
            <a:r>
              <a:rPr lang="en-US" altLang="en-US" dirty="0"/>
              <a:t>Read one hundred numbers, compute their average, and find out how many numbers are above the average</a:t>
            </a:r>
          </a:p>
          <a:p>
            <a:r>
              <a:rPr lang="en-US" altLang="en-US" dirty="0"/>
              <a:t>Problems:</a:t>
            </a:r>
          </a:p>
          <a:p>
            <a:pPr marL="114300" indent="0">
              <a:buNone/>
            </a:pPr>
            <a:r>
              <a:rPr lang="en-US" altLang="en-US" dirty="0"/>
              <a:t>	storing and indexing 100 numbers</a:t>
            </a:r>
          </a:p>
          <a:p>
            <a:pPr marL="114300" indent="0">
              <a:buNone/>
            </a:pPr>
            <a:r>
              <a:rPr lang="en-US" altLang="en-US" dirty="0"/>
              <a:t>             variables with one number each? </a:t>
            </a:r>
          </a:p>
          <a:p>
            <a:pPr marL="114300" indent="0">
              <a:buNone/>
            </a:pPr>
            <a:r>
              <a:rPr lang="en-US" altLang="en-US" dirty="0"/>
              <a:t>	NO. </a:t>
            </a:r>
          </a:p>
          <a:p>
            <a:r>
              <a:rPr lang="en-US" altLang="en-US" dirty="0"/>
              <a:t>Solution:</a:t>
            </a:r>
          </a:p>
          <a:p>
            <a:pPr marL="114300" indent="0">
              <a:buNone/>
            </a:pPr>
            <a:r>
              <a:rPr lang="en-US" altLang="en-US" dirty="0"/>
              <a:t>	arrays: one variable for all 100 numbers</a:t>
            </a:r>
          </a:p>
        </p:txBody>
      </p:sp>
    </p:spTree>
    <p:extLst>
      <p:ext uri="{BB962C8B-B14F-4D97-AF65-F5344CB8AC3E}">
        <p14:creationId xmlns:p14="http://schemas.microsoft.com/office/powerpoint/2010/main" val="3997245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Introducing Arrays</a:t>
            </a:r>
          </a:p>
        </p:txBody>
      </p:sp>
      <p:sp>
        <p:nvSpPr>
          <p:cNvPr id="3" name="Text Placeholder 2"/>
          <p:cNvSpPr>
            <a:spLocks noGrp="1"/>
          </p:cNvSpPr>
          <p:nvPr>
            <p:ph type="body" idx="1"/>
          </p:nvPr>
        </p:nvSpPr>
        <p:spPr/>
        <p:txBody>
          <a:bodyPr/>
          <a:lstStyle/>
          <a:p>
            <a:r>
              <a:rPr lang="en-US" altLang="en-US" dirty="0"/>
              <a:t>An array is a data structure that represents a collection of the same type of data. </a:t>
            </a:r>
          </a:p>
          <a:p>
            <a:endParaRPr lang="en-US" altLang="en-US" dirty="0"/>
          </a:p>
        </p:txBody>
      </p:sp>
      <p:graphicFrame>
        <p:nvGraphicFramePr>
          <p:cNvPr id="4" name="Object 2" descr="double[] myList = new double[10]; has an array reference variable that is myList. This reference to the data in the array and array elements each have an index, starting from 0. So the first element in array (for example 5.6) would be myList[0] and the second element would be myList[1] etc. 5.6 would be the element value of the array element at index 0."/>
          <p:cNvGraphicFramePr>
            <a:graphicFrameLocks noChangeAspect="1"/>
          </p:cNvGraphicFramePr>
          <p:nvPr>
            <p:extLst>
              <p:ext uri="{D42A27DB-BD31-4B8C-83A1-F6EECF244321}">
                <p14:modId xmlns:p14="http://schemas.microsoft.com/office/powerpoint/2010/main" val="601065760"/>
              </p:ext>
            </p:extLst>
          </p:nvPr>
        </p:nvGraphicFramePr>
        <p:xfrm>
          <a:off x="1789040" y="1432155"/>
          <a:ext cx="5564717" cy="3514947"/>
        </p:xfrm>
        <a:graphic>
          <a:graphicData uri="http://schemas.openxmlformats.org/presentationml/2006/ole">
            <mc:AlternateContent xmlns:mc="http://schemas.openxmlformats.org/markup-compatibility/2006">
              <mc:Choice xmlns:v="urn:schemas-microsoft-com:vml" Requires="v">
                <p:oleObj name="Picture" r:id="rId2" imgW="4800600" imgH="3029040" progId="Word.Picture.8">
                  <p:embed/>
                </p:oleObj>
              </mc:Choice>
              <mc:Fallback>
                <p:oleObj name="Picture" r:id="rId2" imgW="4800600" imgH="3029040" progId="Word.Picture.8">
                  <p:embed/>
                  <p:pic>
                    <p:nvPicPr>
                      <p:cNvPr id="4" name="Object 2" descr="double[] myList = new double[10]; has an array reference variable that is myList. This reference to the data in the array and array elements each have an index, starting from 0. So the first element in array (for example 5.6) would be myList[0] and the second element would be myList[1] etc. 5.6 would be the element value of the array element at index 0."/>
                      <p:cNvPicPr>
                        <a:picLocks noChangeAspect="1" noChangeArrowheads="1"/>
                      </p:cNvPicPr>
                      <p:nvPr/>
                    </p:nvPicPr>
                    <p:blipFill>
                      <a:blip r:embed="rId3"/>
                      <a:srcRect/>
                      <a:stretch>
                        <a:fillRect/>
                      </a:stretch>
                    </p:blipFill>
                    <p:spPr bwMode="auto">
                      <a:xfrm>
                        <a:off x="1789040" y="1432155"/>
                        <a:ext cx="5564717" cy="351494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01489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Declaring Array Variables</a:t>
            </a:r>
          </a:p>
        </p:txBody>
      </p:sp>
      <p:sp>
        <p:nvSpPr>
          <p:cNvPr id="3" name="Text Placeholder 2"/>
          <p:cNvSpPr>
            <a:spLocks noGrp="1"/>
          </p:cNvSpPr>
          <p:nvPr>
            <p:ph type="body" idx="1"/>
          </p:nvPr>
        </p:nvSpPr>
        <p:spPr/>
        <p:txBody>
          <a:bodyPr>
            <a:normAutofit/>
          </a:bodyPr>
          <a:lstStyle/>
          <a:p>
            <a:r>
              <a:rPr lang="en-US" altLang="en-US" b="1" dirty="0" err="1">
                <a:solidFill>
                  <a:schemeClr val="tx1"/>
                </a:solidFill>
                <a:latin typeface="Courier New" pitchFamily="49" charset="0"/>
              </a:rPr>
              <a:t>datatype</a:t>
            </a:r>
            <a:r>
              <a:rPr lang="en-US" altLang="en-US" b="1" dirty="0">
                <a:solidFill>
                  <a:schemeClr val="tx1"/>
                </a:solidFill>
                <a:latin typeface="Courier New" pitchFamily="49" charset="0"/>
              </a:rPr>
              <a:t>[] </a:t>
            </a:r>
            <a:r>
              <a:rPr lang="en-US" altLang="en-US" b="1" dirty="0" err="1">
                <a:solidFill>
                  <a:schemeClr val="tx1"/>
                </a:solidFill>
                <a:latin typeface="Courier New" pitchFamily="49" charset="0"/>
              </a:rPr>
              <a:t>arrayRefVar</a:t>
            </a:r>
            <a:r>
              <a:rPr lang="en-US" altLang="en-US" b="1" dirty="0">
                <a:solidFill>
                  <a:schemeClr val="tx1"/>
                </a:solidFill>
                <a:latin typeface="Courier New" pitchFamily="49" charset="0"/>
              </a:rPr>
              <a:t>;</a:t>
            </a:r>
            <a:endParaRPr lang="en-US" altLang="en-US" sz="1600" b="1" dirty="0">
              <a:solidFill>
                <a:schemeClr val="tx1"/>
              </a:solidFill>
              <a:latin typeface="Courier New" pitchFamily="49" charset="0"/>
            </a:endParaRPr>
          </a:p>
          <a:p>
            <a:pPr>
              <a:spcBef>
                <a:spcPct val="50000"/>
              </a:spcBef>
              <a:buFont typeface="Monotype Sorts" pitchFamily="2" charset="2"/>
              <a:buNone/>
            </a:pPr>
            <a:r>
              <a:rPr lang="en-US" altLang="en-US" sz="2000" dirty="0"/>
              <a:t>	</a:t>
            </a:r>
            <a:r>
              <a:rPr lang="en-US" altLang="en-US" dirty="0"/>
              <a:t>Example: </a:t>
            </a:r>
          </a:p>
          <a:p>
            <a:pPr>
              <a:spcBef>
                <a:spcPct val="50000"/>
              </a:spcBef>
              <a:buFont typeface="Monotype Sorts" pitchFamily="2" charset="2"/>
              <a:buNone/>
            </a:pPr>
            <a:r>
              <a:rPr lang="en-US" altLang="en-US" b="1" dirty="0"/>
              <a:t>    </a:t>
            </a:r>
            <a:r>
              <a:rPr lang="en-US" altLang="en-US" sz="1600" b="1" dirty="0">
                <a:latin typeface="Courier New" pitchFamily="49" charset="0"/>
              </a:rPr>
              <a:t>double[] </a:t>
            </a:r>
            <a:r>
              <a:rPr lang="en-US" altLang="en-US" sz="1600" b="1" dirty="0" err="1">
                <a:latin typeface="Courier New" pitchFamily="49" charset="0"/>
              </a:rPr>
              <a:t>myList</a:t>
            </a:r>
            <a:r>
              <a:rPr lang="en-US" altLang="en-US" sz="1600" b="1" dirty="0">
                <a:latin typeface="Courier New" pitchFamily="49" charset="0"/>
              </a:rPr>
              <a:t>;</a:t>
            </a:r>
            <a:endParaRPr lang="en-US" altLang="en-US" sz="2000" dirty="0">
              <a:latin typeface="Courier New" pitchFamily="49" charset="0"/>
            </a:endParaRPr>
          </a:p>
          <a:p>
            <a:r>
              <a:rPr lang="en-US" altLang="en-US" b="1" dirty="0" err="1">
                <a:solidFill>
                  <a:schemeClr val="tx1"/>
                </a:solidFill>
                <a:latin typeface="Courier New" pitchFamily="49" charset="0"/>
              </a:rPr>
              <a:t>datatype</a:t>
            </a:r>
            <a:r>
              <a:rPr lang="en-US" altLang="en-US" b="1" dirty="0">
                <a:solidFill>
                  <a:schemeClr val="tx1"/>
                </a:solidFill>
                <a:latin typeface="Courier New" pitchFamily="49" charset="0"/>
              </a:rPr>
              <a:t> </a:t>
            </a:r>
            <a:r>
              <a:rPr lang="en-US" altLang="en-US" b="1" dirty="0" err="1">
                <a:solidFill>
                  <a:schemeClr val="tx1"/>
                </a:solidFill>
                <a:latin typeface="Courier New" pitchFamily="49" charset="0"/>
              </a:rPr>
              <a:t>arrayRefVar</a:t>
            </a:r>
            <a:r>
              <a:rPr lang="en-US" altLang="en-US" b="1" dirty="0">
                <a:solidFill>
                  <a:schemeClr val="tx1"/>
                </a:solidFill>
                <a:latin typeface="Courier New" pitchFamily="49" charset="0"/>
              </a:rPr>
              <a:t>[]; </a:t>
            </a:r>
          </a:p>
          <a:p>
            <a:pPr>
              <a:buFont typeface="Wingdings 2" pitchFamily="18" charset="2"/>
              <a:buNone/>
            </a:pPr>
            <a:r>
              <a:rPr lang="en-US" altLang="en-US" dirty="0">
                <a:solidFill>
                  <a:schemeClr val="tx1"/>
                </a:solidFill>
                <a:cs typeface="Courier New" pitchFamily="49" charset="0"/>
              </a:rPr>
              <a:t>	</a:t>
            </a:r>
            <a:r>
              <a:rPr lang="en-US" altLang="en-US" u="sng" dirty="0">
                <a:solidFill>
                  <a:schemeClr val="tx1"/>
                </a:solidFill>
                <a:cs typeface="Courier New" pitchFamily="49" charset="0"/>
              </a:rPr>
              <a:t>// This style is allowed, but not preferred</a:t>
            </a:r>
            <a:endParaRPr lang="en-US" altLang="en-US" sz="1600" dirty="0">
              <a:solidFill>
                <a:schemeClr val="tx1"/>
              </a:solidFill>
            </a:endParaRPr>
          </a:p>
          <a:p>
            <a:pPr algn="just">
              <a:spcBef>
                <a:spcPct val="50000"/>
              </a:spcBef>
              <a:buFont typeface="Monotype Sorts" pitchFamily="2" charset="2"/>
              <a:buNone/>
            </a:pPr>
            <a:r>
              <a:rPr lang="en-US" altLang="en-US" sz="2000" dirty="0">
                <a:solidFill>
                  <a:schemeClr val="tx1"/>
                </a:solidFill>
              </a:rPr>
              <a:t>	</a:t>
            </a:r>
            <a:r>
              <a:rPr lang="en-US" altLang="en-US" dirty="0"/>
              <a:t>Example: </a:t>
            </a:r>
          </a:p>
          <a:p>
            <a:pPr algn="just">
              <a:spcBef>
                <a:spcPct val="50000"/>
              </a:spcBef>
              <a:buFont typeface="Monotype Sorts" pitchFamily="2" charset="2"/>
              <a:buNone/>
            </a:pPr>
            <a:r>
              <a:rPr lang="en-US" altLang="en-US" b="1" dirty="0">
                <a:solidFill>
                  <a:schemeClr val="tx1"/>
                </a:solidFill>
              </a:rPr>
              <a:t>    </a:t>
            </a:r>
            <a:r>
              <a:rPr lang="en-US" altLang="en-US" sz="1600" b="1" dirty="0">
                <a:solidFill>
                  <a:schemeClr val="tx1"/>
                </a:solidFill>
                <a:latin typeface="Courier New" pitchFamily="49" charset="0"/>
              </a:rPr>
              <a:t>double </a:t>
            </a:r>
            <a:r>
              <a:rPr lang="en-US" altLang="en-US" sz="1600" b="1" dirty="0" err="1">
                <a:solidFill>
                  <a:schemeClr val="tx1"/>
                </a:solidFill>
                <a:latin typeface="Courier New" pitchFamily="49" charset="0"/>
              </a:rPr>
              <a:t>myList</a:t>
            </a:r>
            <a:r>
              <a:rPr lang="en-US" altLang="en-US" sz="1600" b="1" dirty="0">
                <a:solidFill>
                  <a:schemeClr val="tx1"/>
                </a:solidFill>
                <a:latin typeface="Courier New" pitchFamily="49" charset="0"/>
              </a:rPr>
              <a:t>[];</a:t>
            </a:r>
          </a:p>
        </p:txBody>
      </p:sp>
    </p:spTree>
    <p:extLst>
      <p:ext uri="{BB962C8B-B14F-4D97-AF65-F5344CB8AC3E}">
        <p14:creationId xmlns:p14="http://schemas.microsoft.com/office/powerpoint/2010/main" val="199424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Creating Arrays</a:t>
            </a:r>
          </a:p>
        </p:txBody>
      </p:sp>
      <p:sp>
        <p:nvSpPr>
          <p:cNvPr id="3" name="Text Placeholder 2"/>
          <p:cNvSpPr>
            <a:spLocks noGrp="1"/>
          </p:cNvSpPr>
          <p:nvPr>
            <p:ph type="body" idx="1"/>
          </p:nvPr>
        </p:nvSpPr>
        <p:spPr/>
        <p:txBody>
          <a:bodyPr>
            <a:normAutofit/>
          </a:bodyPr>
          <a:lstStyle/>
          <a:p>
            <a:r>
              <a:rPr lang="en-US" altLang="en-US" b="1" dirty="0" err="1">
                <a:solidFill>
                  <a:schemeClr val="tx1"/>
                </a:solidFill>
                <a:latin typeface="Courier New" pitchFamily="49" charset="0"/>
              </a:rPr>
              <a:t>arrayRefVar</a:t>
            </a:r>
            <a:r>
              <a:rPr lang="en-US" altLang="en-US" b="1" dirty="0">
                <a:solidFill>
                  <a:schemeClr val="tx1"/>
                </a:solidFill>
                <a:latin typeface="Courier New" pitchFamily="49" charset="0"/>
              </a:rPr>
              <a:t> = new </a:t>
            </a:r>
            <a:r>
              <a:rPr lang="en-US" altLang="en-US" b="1" dirty="0" err="1">
                <a:solidFill>
                  <a:schemeClr val="tx1"/>
                </a:solidFill>
                <a:latin typeface="Courier New" pitchFamily="49" charset="0"/>
              </a:rPr>
              <a:t>datatype</a:t>
            </a:r>
            <a:r>
              <a:rPr lang="en-US" altLang="en-US" b="1" dirty="0">
                <a:solidFill>
                  <a:schemeClr val="tx1"/>
                </a:solidFill>
                <a:latin typeface="Courier New" pitchFamily="49" charset="0"/>
              </a:rPr>
              <a:t>[</a:t>
            </a:r>
            <a:r>
              <a:rPr lang="en-US" altLang="en-US" b="1" dirty="0" err="1">
                <a:solidFill>
                  <a:schemeClr val="tx1"/>
                </a:solidFill>
                <a:latin typeface="Courier New" pitchFamily="49" charset="0"/>
              </a:rPr>
              <a:t>arraySize</a:t>
            </a:r>
            <a:r>
              <a:rPr lang="en-US" altLang="en-US" b="1" dirty="0">
                <a:solidFill>
                  <a:schemeClr val="tx1"/>
                </a:solidFill>
                <a:latin typeface="Courier New" pitchFamily="49" charset="0"/>
              </a:rPr>
              <a:t>];</a:t>
            </a:r>
            <a:endParaRPr lang="en-US" altLang="en-US" b="1" dirty="0">
              <a:solidFill>
                <a:schemeClr val="tx1"/>
              </a:solidFill>
            </a:endParaRPr>
          </a:p>
          <a:p>
            <a:pPr>
              <a:buFont typeface="Monotype Sorts" pitchFamily="2" charset="2"/>
              <a:buNone/>
            </a:pPr>
            <a:endParaRPr lang="en-US" altLang="en-US" dirty="0"/>
          </a:p>
          <a:p>
            <a:r>
              <a:rPr lang="en-US" altLang="en-US" dirty="0"/>
              <a:t>Example:</a:t>
            </a:r>
          </a:p>
          <a:p>
            <a:pPr>
              <a:buFont typeface="Monotype Sorts" pitchFamily="2" charset="2"/>
              <a:buNone/>
            </a:pPr>
            <a:r>
              <a:rPr lang="en-US" altLang="en-US" b="1" dirty="0" err="1">
                <a:latin typeface="Courier New" pitchFamily="49" charset="0"/>
              </a:rPr>
              <a:t>myList</a:t>
            </a:r>
            <a:r>
              <a:rPr lang="en-US" altLang="en-US" b="1" dirty="0">
                <a:latin typeface="Courier New" pitchFamily="49" charset="0"/>
              </a:rPr>
              <a:t> </a:t>
            </a:r>
            <a:r>
              <a:rPr lang="en-US" altLang="en-US" b="1" dirty="0">
                <a:solidFill>
                  <a:schemeClr val="tx1"/>
                </a:solidFill>
                <a:latin typeface="Courier New" pitchFamily="49" charset="0"/>
              </a:rPr>
              <a:t>= new double[10];</a:t>
            </a:r>
            <a:endParaRPr lang="en-US" altLang="en-US" b="1" dirty="0">
              <a:solidFill>
                <a:schemeClr val="tx1"/>
              </a:solidFill>
            </a:endParaRPr>
          </a:p>
          <a:p>
            <a:pPr>
              <a:buFont typeface="Monotype Sorts" pitchFamily="2" charset="2"/>
              <a:buNone/>
            </a:pPr>
            <a:endParaRPr lang="en-US" altLang="en-US" dirty="0"/>
          </a:p>
          <a:p>
            <a:pPr>
              <a:buFont typeface="Monotype Sorts" pitchFamily="2" charset="2"/>
              <a:buNone/>
            </a:pPr>
            <a:r>
              <a:rPr lang="en-US" altLang="en-US" b="1" dirty="0" err="1">
                <a:latin typeface="Courier New" pitchFamily="49" charset="0"/>
              </a:rPr>
              <a:t>myList</a:t>
            </a:r>
            <a:r>
              <a:rPr lang="en-US" altLang="en-US" b="1" dirty="0">
                <a:latin typeface="Courier New" pitchFamily="49" charset="0"/>
              </a:rPr>
              <a:t>[0]</a:t>
            </a:r>
            <a:r>
              <a:rPr lang="en-US" altLang="en-US" dirty="0"/>
              <a:t> references the first element in the array.</a:t>
            </a:r>
          </a:p>
          <a:p>
            <a:pPr>
              <a:buFont typeface="Monotype Sorts" pitchFamily="2" charset="2"/>
              <a:buNone/>
            </a:pPr>
            <a:r>
              <a:rPr lang="en-US" altLang="en-US" b="1" dirty="0" err="1">
                <a:latin typeface="Courier New" pitchFamily="49" charset="0"/>
              </a:rPr>
              <a:t>myList</a:t>
            </a:r>
            <a:r>
              <a:rPr lang="en-US" altLang="en-US" b="1" dirty="0">
                <a:latin typeface="Courier New" pitchFamily="49" charset="0"/>
              </a:rPr>
              <a:t>[9]</a:t>
            </a:r>
            <a:r>
              <a:rPr lang="en-US" altLang="en-US" dirty="0"/>
              <a:t> references the last element in the array.</a:t>
            </a:r>
          </a:p>
          <a:p>
            <a:pPr>
              <a:buFont typeface="Monotype Sorts" pitchFamily="2" charset="2"/>
              <a:buNone/>
            </a:pPr>
            <a:endParaRPr lang="en-US" altLang="en-US" dirty="0"/>
          </a:p>
        </p:txBody>
      </p:sp>
    </p:spTree>
    <p:extLst>
      <p:ext uri="{BB962C8B-B14F-4D97-AF65-F5344CB8AC3E}">
        <p14:creationId xmlns:p14="http://schemas.microsoft.com/office/powerpoint/2010/main" val="5287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Declaring and Creating in One Step</a:t>
            </a:r>
          </a:p>
        </p:txBody>
      </p:sp>
      <p:sp>
        <p:nvSpPr>
          <p:cNvPr id="3" name="Text Placeholder 2"/>
          <p:cNvSpPr>
            <a:spLocks noGrp="1"/>
          </p:cNvSpPr>
          <p:nvPr>
            <p:ph type="body" idx="1"/>
          </p:nvPr>
        </p:nvSpPr>
        <p:spPr/>
        <p:txBody>
          <a:bodyPr/>
          <a:lstStyle/>
          <a:p>
            <a:r>
              <a:rPr lang="en-US" altLang="en-US" b="1" dirty="0" err="1">
                <a:solidFill>
                  <a:schemeClr val="tx1"/>
                </a:solidFill>
                <a:latin typeface="Courier New" pitchFamily="49" charset="0"/>
              </a:rPr>
              <a:t>datatype</a:t>
            </a:r>
            <a:r>
              <a:rPr lang="en-US" altLang="en-US" b="1" dirty="0">
                <a:solidFill>
                  <a:schemeClr val="tx1"/>
                </a:solidFill>
                <a:latin typeface="Courier New" pitchFamily="49" charset="0"/>
              </a:rPr>
              <a:t>[] </a:t>
            </a:r>
            <a:r>
              <a:rPr lang="en-US" altLang="en-US" b="1" dirty="0" err="1">
                <a:solidFill>
                  <a:schemeClr val="tx1"/>
                </a:solidFill>
                <a:latin typeface="Courier New" pitchFamily="49" charset="0"/>
              </a:rPr>
              <a:t>arrayRefVar</a:t>
            </a:r>
            <a:r>
              <a:rPr lang="en-US" altLang="en-US" b="1" dirty="0">
                <a:solidFill>
                  <a:schemeClr val="tx1"/>
                </a:solidFill>
                <a:latin typeface="Courier New" pitchFamily="49" charset="0"/>
              </a:rPr>
              <a:t> = new </a:t>
            </a:r>
            <a:r>
              <a:rPr lang="en-US" altLang="en-US" b="1" dirty="0" err="1">
                <a:solidFill>
                  <a:schemeClr val="tx1"/>
                </a:solidFill>
                <a:latin typeface="Courier New" pitchFamily="49" charset="0"/>
              </a:rPr>
              <a:t>datatype</a:t>
            </a:r>
            <a:r>
              <a:rPr lang="en-US" altLang="en-US" b="1" dirty="0">
                <a:solidFill>
                  <a:schemeClr val="tx1"/>
                </a:solidFill>
                <a:latin typeface="Courier New" pitchFamily="49" charset="0"/>
              </a:rPr>
              <a:t>[</a:t>
            </a:r>
            <a:r>
              <a:rPr lang="en-US" altLang="en-US" b="1" dirty="0" err="1">
                <a:solidFill>
                  <a:schemeClr val="tx1"/>
                </a:solidFill>
                <a:latin typeface="Courier New" pitchFamily="49" charset="0"/>
              </a:rPr>
              <a:t>arraySize</a:t>
            </a:r>
            <a:r>
              <a:rPr lang="en-US" altLang="en-US" b="1" dirty="0">
                <a:solidFill>
                  <a:schemeClr val="tx1"/>
                </a:solidFill>
                <a:latin typeface="Courier New" pitchFamily="49" charset="0"/>
              </a:rPr>
              <a:t>];</a:t>
            </a:r>
          </a:p>
          <a:p>
            <a:pPr>
              <a:spcBef>
                <a:spcPct val="75000"/>
              </a:spcBef>
              <a:buFont typeface="Monotype Sorts" pitchFamily="2" charset="2"/>
              <a:buNone/>
            </a:pPr>
            <a:r>
              <a:rPr lang="en-US" altLang="en-US" b="1" dirty="0">
                <a:latin typeface="Courier New" pitchFamily="49" charset="0"/>
              </a:rPr>
              <a:t> 	double[] </a:t>
            </a:r>
            <a:r>
              <a:rPr lang="en-US" altLang="en-US" b="1" dirty="0" err="1">
                <a:latin typeface="Courier New" pitchFamily="49" charset="0"/>
              </a:rPr>
              <a:t>myList</a:t>
            </a:r>
            <a:r>
              <a:rPr lang="en-US" altLang="en-US" b="1" dirty="0">
                <a:latin typeface="Courier New" pitchFamily="49" charset="0"/>
              </a:rPr>
              <a:t> = new double[10];</a:t>
            </a:r>
          </a:p>
          <a:p>
            <a:pPr>
              <a:spcBef>
                <a:spcPct val="75000"/>
              </a:spcBef>
              <a:buFont typeface="Monotype Sorts" pitchFamily="2" charset="2"/>
              <a:buNone/>
            </a:pPr>
            <a:endParaRPr lang="en-US" altLang="en-US" b="1" dirty="0">
              <a:latin typeface="Courier New" pitchFamily="49" charset="0"/>
            </a:endParaRPr>
          </a:p>
          <a:p>
            <a:r>
              <a:rPr lang="en-US" altLang="en-US" b="1" dirty="0" err="1">
                <a:solidFill>
                  <a:schemeClr val="tx1"/>
                </a:solidFill>
                <a:latin typeface="Courier New" pitchFamily="49" charset="0"/>
              </a:rPr>
              <a:t>datatype</a:t>
            </a:r>
            <a:r>
              <a:rPr lang="en-US" altLang="en-US" b="1" dirty="0">
                <a:solidFill>
                  <a:schemeClr val="tx1"/>
                </a:solidFill>
                <a:latin typeface="Courier New" pitchFamily="49" charset="0"/>
              </a:rPr>
              <a:t> </a:t>
            </a:r>
            <a:r>
              <a:rPr lang="en-US" altLang="en-US" b="1" dirty="0" err="1">
                <a:solidFill>
                  <a:schemeClr val="tx1"/>
                </a:solidFill>
                <a:latin typeface="Courier New" pitchFamily="49" charset="0"/>
              </a:rPr>
              <a:t>arrayRefVar</a:t>
            </a:r>
            <a:r>
              <a:rPr lang="en-US" altLang="en-US" b="1" dirty="0">
                <a:solidFill>
                  <a:schemeClr val="tx1"/>
                </a:solidFill>
                <a:latin typeface="Courier New" pitchFamily="49" charset="0"/>
              </a:rPr>
              <a:t>[] = new </a:t>
            </a:r>
            <a:r>
              <a:rPr lang="en-US" altLang="en-US" b="1" dirty="0" err="1">
                <a:solidFill>
                  <a:schemeClr val="tx1"/>
                </a:solidFill>
                <a:latin typeface="Courier New" pitchFamily="49" charset="0"/>
              </a:rPr>
              <a:t>datatype</a:t>
            </a:r>
            <a:r>
              <a:rPr lang="en-US" altLang="en-US" b="1" dirty="0">
                <a:solidFill>
                  <a:schemeClr val="tx1"/>
                </a:solidFill>
                <a:latin typeface="Courier New" pitchFamily="49" charset="0"/>
              </a:rPr>
              <a:t>[</a:t>
            </a:r>
            <a:r>
              <a:rPr lang="en-US" altLang="en-US" b="1" dirty="0" err="1">
                <a:solidFill>
                  <a:schemeClr val="tx1"/>
                </a:solidFill>
                <a:latin typeface="Courier New" pitchFamily="49" charset="0"/>
              </a:rPr>
              <a:t>arraySize</a:t>
            </a:r>
            <a:r>
              <a:rPr lang="en-US" altLang="en-US" b="1" dirty="0">
                <a:solidFill>
                  <a:schemeClr val="tx1"/>
                </a:solidFill>
                <a:latin typeface="Courier New" pitchFamily="49" charset="0"/>
              </a:rPr>
              <a:t>];</a:t>
            </a:r>
          </a:p>
          <a:p>
            <a:pPr>
              <a:spcBef>
                <a:spcPct val="75000"/>
              </a:spcBef>
              <a:buFont typeface="Monotype Sorts" pitchFamily="2" charset="2"/>
              <a:buNone/>
            </a:pPr>
            <a:r>
              <a:rPr lang="en-US" altLang="en-US" b="1" dirty="0">
                <a:latin typeface="Courier New" pitchFamily="49" charset="0"/>
              </a:rPr>
              <a:t>	double </a:t>
            </a:r>
            <a:r>
              <a:rPr lang="en-US" altLang="en-US" b="1" dirty="0" err="1">
                <a:latin typeface="Courier New" pitchFamily="49" charset="0"/>
              </a:rPr>
              <a:t>myList</a:t>
            </a:r>
            <a:r>
              <a:rPr lang="en-US" altLang="en-US" b="1" dirty="0">
                <a:latin typeface="Courier New" pitchFamily="49" charset="0"/>
              </a:rPr>
              <a:t>[] = new double[10];</a:t>
            </a:r>
          </a:p>
        </p:txBody>
      </p:sp>
    </p:spTree>
    <p:extLst>
      <p:ext uri="{BB962C8B-B14F-4D97-AF65-F5344CB8AC3E}">
        <p14:creationId xmlns:p14="http://schemas.microsoft.com/office/powerpoint/2010/main" val="375273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The length of an Array</a:t>
            </a:r>
          </a:p>
        </p:txBody>
      </p:sp>
      <p:sp>
        <p:nvSpPr>
          <p:cNvPr id="3" name="Text Placeholder 2"/>
          <p:cNvSpPr>
            <a:spLocks noGrp="1"/>
          </p:cNvSpPr>
          <p:nvPr>
            <p:ph type="body" idx="1"/>
          </p:nvPr>
        </p:nvSpPr>
        <p:spPr/>
        <p:txBody>
          <a:bodyPr/>
          <a:lstStyle/>
          <a:p>
            <a:r>
              <a:rPr lang="en-US" altLang="en-US" dirty="0"/>
              <a:t>Once an array is created, its size is fixed. It cannot be changed. You can find its size using:</a:t>
            </a:r>
          </a:p>
          <a:p>
            <a:pPr marL="114300" indent="0">
              <a:buNone/>
            </a:pPr>
            <a:r>
              <a:rPr lang="en-US" altLang="en-US" b="1" dirty="0">
                <a:solidFill>
                  <a:schemeClr val="tx1"/>
                </a:solidFill>
                <a:latin typeface="Courier New" pitchFamily="49" charset="0"/>
              </a:rPr>
              <a:t>   </a:t>
            </a:r>
            <a:r>
              <a:rPr lang="en-US" altLang="en-US" b="1" dirty="0" err="1">
                <a:solidFill>
                  <a:schemeClr val="tx1"/>
                </a:solidFill>
                <a:latin typeface="Courier New" pitchFamily="49" charset="0"/>
              </a:rPr>
              <a:t>arrayRefVar.length</a:t>
            </a:r>
            <a:endParaRPr lang="en-US" altLang="en-US" b="1" dirty="0">
              <a:solidFill>
                <a:schemeClr val="tx1"/>
              </a:solidFill>
              <a:latin typeface="Courier New" pitchFamily="49" charset="0"/>
            </a:endParaRPr>
          </a:p>
          <a:p>
            <a:pPr marL="114300" indent="0">
              <a:buNone/>
            </a:pPr>
            <a:endParaRPr lang="en-US" altLang="en-US" b="1" dirty="0">
              <a:solidFill>
                <a:schemeClr val="tx1"/>
              </a:solidFill>
              <a:latin typeface="Courier New" pitchFamily="49" charset="0"/>
            </a:endParaRPr>
          </a:p>
          <a:p>
            <a:r>
              <a:rPr lang="en-US" altLang="en-US" dirty="0"/>
              <a:t>Example:</a:t>
            </a:r>
          </a:p>
          <a:p>
            <a:pPr marL="114300" indent="0">
              <a:buNone/>
            </a:pPr>
            <a:r>
              <a:rPr lang="en-US" altLang="en-US" b="1" dirty="0">
                <a:solidFill>
                  <a:schemeClr val="tx1"/>
                </a:solidFill>
                <a:latin typeface="Courier New" pitchFamily="49" charset="0"/>
              </a:rPr>
              <a:t>   </a:t>
            </a:r>
            <a:r>
              <a:rPr lang="en-US" altLang="en-US" b="1" dirty="0" err="1">
                <a:solidFill>
                  <a:schemeClr val="tx1"/>
                </a:solidFill>
                <a:latin typeface="Courier New" pitchFamily="49" charset="0"/>
              </a:rPr>
              <a:t>myList.length</a:t>
            </a:r>
            <a:r>
              <a:rPr lang="en-US" altLang="en-US" b="1" dirty="0">
                <a:solidFill>
                  <a:schemeClr val="tx1"/>
                </a:solidFill>
                <a:latin typeface="Courier New" pitchFamily="49" charset="0"/>
              </a:rPr>
              <a:t>  </a:t>
            </a:r>
            <a:r>
              <a:rPr lang="en-US" altLang="en-US" dirty="0"/>
              <a:t>returns 10</a:t>
            </a:r>
          </a:p>
          <a:p>
            <a:pPr marL="114300" indent="0">
              <a:buNone/>
            </a:pPr>
            <a:endParaRPr lang="en-US" altLang="en-US" dirty="0"/>
          </a:p>
          <a:p>
            <a:pPr marL="114300" indent="0">
              <a:buNone/>
            </a:pPr>
            <a:endParaRPr lang="en-US" altLang="en-US" dirty="0">
              <a:solidFill>
                <a:srgbClr val="FF0000"/>
              </a:solidFill>
            </a:endParaRPr>
          </a:p>
        </p:txBody>
      </p:sp>
    </p:spTree>
    <p:extLst>
      <p:ext uri="{BB962C8B-B14F-4D97-AF65-F5344CB8AC3E}">
        <p14:creationId xmlns:p14="http://schemas.microsoft.com/office/powerpoint/2010/main" val="166206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Default Values</a:t>
            </a:r>
          </a:p>
        </p:txBody>
      </p:sp>
      <p:sp>
        <p:nvSpPr>
          <p:cNvPr id="3" name="Text Placeholder 2"/>
          <p:cNvSpPr>
            <a:spLocks noGrp="1"/>
          </p:cNvSpPr>
          <p:nvPr>
            <p:ph type="body" idx="1"/>
          </p:nvPr>
        </p:nvSpPr>
        <p:spPr/>
        <p:txBody>
          <a:bodyPr/>
          <a:lstStyle/>
          <a:p>
            <a:pPr marL="114300" indent="0">
              <a:buNone/>
            </a:pPr>
            <a:r>
              <a:rPr lang="en-US" altLang="en-US" dirty="0"/>
              <a:t>When an array is created, its elements are assigned </a:t>
            </a:r>
            <a:r>
              <a:rPr lang="en-US" altLang="zh-CN" dirty="0"/>
              <a:t>a</a:t>
            </a:r>
            <a:r>
              <a:rPr lang="en-US" altLang="en-US" dirty="0"/>
              <a:t> default value of:</a:t>
            </a:r>
          </a:p>
          <a:p>
            <a:endParaRPr lang="en-US" altLang="en-US" b="1" dirty="0">
              <a:solidFill>
                <a:schemeClr val="tx1"/>
              </a:solidFill>
              <a:latin typeface="Courier New" pitchFamily="49" charset="0"/>
            </a:endParaRPr>
          </a:p>
          <a:p>
            <a:r>
              <a:rPr lang="en-US" altLang="en-US" b="1" dirty="0">
                <a:solidFill>
                  <a:schemeClr val="tx1"/>
                </a:solidFill>
                <a:latin typeface="Courier New" pitchFamily="49" charset="0"/>
              </a:rPr>
              <a:t>0</a:t>
            </a:r>
            <a:r>
              <a:rPr lang="en-US" altLang="en-US" dirty="0"/>
              <a:t> for the numeric primitive data types (</a:t>
            </a:r>
            <a:r>
              <a:rPr lang="en-US" altLang="en-US" b="1" dirty="0">
                <a:solidFill>
                  <a:schemeClr val="tx1"/>
                </a:solidFill>
                <a:latin typeface="Courier New" panose="02070309020205020404" pitchFamily="49" charset="0"/>
                <a:cs typeface="Courier New" panose="02070309020205020404" pitchFamily="49" charset="0"/>
              </a:rPr>
              <a:t>byte, short, </a:t>
            </a:r>
            <a:r>
              <a:rPr lang="en-US" altLang="en-US" b="1" dirty="0" err="1">
                <a:solidFill>
                  <a:schemeClr val="tx1"/>
                </a:solidFill>
                <a:latin typeface="Courier New" panose="02070309020205020404" pitchFamily="49" charset="0"/>
                <a:cs typeface="Courier New" panose="02070309020205020404" pitchFamily="49" charset="0"/>
              </a:rPr>
              <a:t>int</a:t>
            </a:r>
            <a:r>
              <a:rPr lang="en-US" altLang="en-US" b="1" dirty="0">
                <a:solidFill>
                  <a:schemeClr val="tx1"/>
                </a:solidFill>
                <a:latin typeface="Courier New" panose="02070309020205020404" pitchFamily="49" charset="0"/>
                <a:cs typeface="Courier New" panose="02070309020205020404" pitchFamily="49" charset="0"/>
              </a:rPr>
              <a:t>, long, float, double</a:t>
            </a:r>
            <a:r>
              <a:rPr lang="en-US" altLang="en-US" dirty="0"/>
              <a:t>)</a:t>
            </a:r>
          </a:p>
          <a:p>
            <a:pPr marL="114300" indent="0">
              <a:buNone/>
            </a:pPr>
            <a:endParaRPr lang="en-US" altLang="en-US" dirty="0"/>
          </a:p>
          <a:p>
            <a:r>
              <a:rPr lang="en-US" altLang="en-US" b="1" dirty="0">
                <a:solidFill>
                  <a:schemeClr val="tx1"/>
                </a:solidFill>
                <a:latin typeface="Courier New" pitchFamily="49" charset="0"/>
              </a:rPr>
              <a:t>'\u0000' </a:t>
            </a:r>
            <a:r>
              <a:rPr lang="en-US" altLang="en-US" dirty="0"/>
              <a:t>for </a:t>
            </a:r>
            <a:r>
              <a:rPr lang="en-US" altLang="en-US" b="1" dirty="0">
                <a:solidFill>
                  <a:schemeClr val="tx1"/>
                </a:solidFill>
                <a:latin typeface="Courier New" pitchFamily="49" charset="0"/>
              </a:rPr>
              <a:t>char</a:t>
            </a:r>
            <a:r>
              <a:rPr lang="en-US" altLang="en-US" dirty="0"/>
              <a:t> types.</a:t>
            </a:r>
          </a:p>
          <a:p>
            <a:pPr marL="114300" indent="0">
              <a:buNone/>
            </a:pPr>
            <a:endParaRPr lang="en-US" altLang="en-US" dirty="0"/>
          </a:p>
          <a:p>
            <a:r>
              <a:rPr lang="en-US" altLang="en-US" b="1" dirty="0">
                <a:solidFill>
                  <a:schemeClr val="tx1"/>
                </a:solidFill>
                <a:latin typeface="Courier New" pitchFamily="49" charset="0"/>
              </a:rPr>
              <a:t>false</a:t>
            </a:r>
            <a:r>
              <a:rPr lang="en-US" altLang="en-US" dirty="0"/>
              <a:t>  for  </a:t>
            </a:r>
            <a:r>
              <a:rPr lang="en-US" altLang="en-US" b="1" dirty="0" err="1">
                <a:solidFill>
                  <a:schemeClr val="tx1"/>
                </a:solidFill>
                <a:latin typeface="Courier New" pitchFamily="49" charset="0"/>
              </a:rPr>
              <a:t>boolean</a:t>
            </a:r>
            <a:r>
              <a:rPr lang="en-US" altLang="en-US" dirty="0"/>
              <a:t> types. </a:t>
            </a:r>
          </a:p>
          <a:p>
            <a:endParaRPr lang="en-US" altLang="en-US" dirty="0"/>
          </a:p>
        </p:txBody>
      </p:sp>
    </p:spTree>
    <p:extLst>
      <p:ext uri="{BB962C8B-B14F-4D97-AF65-F5344CB8AC3E}">
        <p14:creationId xmlns:p14="http://schemas.microsoft.com/office/powerpoint/2010/main" val="2600866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Indexed Variables</a:t>
            </a:r>
          </a:p>
        </p:txBody>
      </p:sp>
      <p:sp>
        <p:nvSpPr>
          <p:cNvPr id="3" name="Text Placeholder 2"/>
          <p:cNvSpPr>
            <a:spLocks noGrp="1"/>
          </p:cNvSpPr>
          <p:nvPr>
            <p:ph type="body" idx="1"/>
          </p:nvPr>
        </p:nvSpPr>
        <p:spPr/>
        <p:txBody>
          <a:bodyPr/>
          <a:lstStyle/>
          <a:p>
            <a:r>
              <a:rPr lang="en-US" altLang="en-US" dirty="0"/>
              <a:t>The array elements are accessed through the index. </a:t>
            </a:r>
          </a:p>
          <a:p>
            <a:pPr marL="114300" indent="0">
              <a:buNone/>
            </a:pPr>
            <a:endParaRPr lang="en-US" altLang="en-US" dirty="0"/>
          </a:p>
          <a:p>
            <a:r>
              <a:rPr lang="en-US" altLang="en-US" dirty="0"/>
              <a:t>The array indices are </a:t>
            </a:r>
            <a:r>
              <a:rPr lang="en-US" altLang="en-US" b="1" dirty="0">
                <a:solidFill>
                  <a:schemeClr val="tx1"/>
                </a:solidFill>
                <a:latin typeface="Courier New" pitchFamily="49" charset="0"/>
              </a:rPr>
              <a:t>0-based</a:t>
            </a:r>
            <a:r>
              <a:rPr lang="en-US" altLang="en-US" dirty="0"/>
              <a:t>, i.e., it starts from </a:t>
            </a:r>
            <a:r>
              <a:rPr lang="en-US" altLang="en-US" b="1" dirty="0">
                <a:solidFill>
                  <a:schemeClr val="tx1"/>
                </a:solidFill>
                <a:latin typeface="Courier New" pitchFamily="49" charset="0"/>
              </a:rPr>
              <a:t>0</a:t>
            </a:r>
            <a:r>
              <a:rPr lang="en-US" altLang="en-US" dirty="0"/>
              <a:t> to </a:t>
            </a:r>
            <a:r>
              <a:rPr lang="en-US" altLang="en-US" b="1" dirty="0">
                <a:solidFill>
                  <a:schemeClr val="tx1"/>
                </a:solidFill>
                <a:latin typeface="Courier New" pitchFamily="49" charset="0"/>
              </a:rPr>
              <a:t>arrayRefVar.length-1</a:t>
            </a:r>
            <a:r>
              <a:rPr lang="en-US" altLang="en-US" dirty="0"/>
              <a:t>. </a:t>
            </a:r>
          </a:p>
          <a:p>
            <a:pPr marL="114300" indent="0">
              <a:buNone/>
            </a:pPr>
            <a:endParaRPr lang="en-US" altLang="en-US" dirty="0"/>
          </a:p>
          <a:p>
            <a:r>
              <a:rPr lang="en-US" altLang="en-US" dirty="0"/>
              <a:t>Each element in the array is represented using the following syntax, known as an </a:t>
            </a:r>
            <a:r>
              <a:rPr lang="en-US" altLang="en-US" b="1" dirty="0">
                <a:solidFill>
                  <a:schemeClr val="tx1"/>
                </a:solidFill>
                <a:latin typeface="Courier New" pitchFamily="49" charset="0"/>
              </a:rPr>
              <a:t>indexed variable</a:t>
            </a:r>
            <a:r>
              <a:rPr lang="en-US" altLang="en-US" dirty="0"/>
              <a:t>:</a:t>
            </a:r>
          </a:p>
          <a:p>
            <a:pPr marL="114300" indent="0">
              <a:buNone/>
            </a:pPr>
            <a:r>
              <a:rPr lang="en-US" altLang="en-US" b="1" dirty="0">
                <a:solidFill>
                  <a:schemeClr val="tx1"/>
                </a:solidFill>
                <a:latin typeface="Courier New" pitchFamily="49" charset="0"/>
              </a:rPr>
              <a:t>   </a:t>
            </a:r>
            <a:r>
              <a:rPr lang="en-US" altLang="en-US" b="1" dirty="0" err="1">
                <a:solidFill>
                  <a:schemeClr val="tx1"/>
                </a:solidFill>
                <a:latin typeface="Courier New" pitchFamily="49" charset="0"/>
              </a:rPr>
              <a:t>arrayRefVar</a:t>
            </a:r>
            <a:r>
              <a:rPr lang="en-US" altLang="en-US" b="1" dirty="0">
                <a:solidFill>
                  <a:schemeClr val="tx1"/>
                </a:solidFill>
                <a:latin typeface="Courier New" pitchFamily="49" charset="0"/>
              </a:rPr>
              <a:t>[index]</a:t>
            </a:r>
            <a:r>
              <a:rPr lang="en-US" altLang="en-US" dirty="0"/>
              <a:t>;</a:t>
            </a:r>
          </a:p>
        </p:txBody>
      </p:sp>
    </p:spTree>
    <p:extLst>
      <p:ext uri="{BB962C8B-B14F-4D97-AF65-F5344CB8AC3E}">
        <p14:creationId xmlns:p14="http://schemas.microsoft.com/office/powerpoint/2010/main" val="5961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Using Indexed Variables</a:t>
            </a:r>
          </a:p>
        </p:txBody>
      </p:sp>
      <p:sp>
        <p:nvSpPr>
          <p:cNvPr id="3" name="Text Placeholder 2"/>
          <p:cNvSpPr>
            <a:spLocks noGrp="1"/>
          </p:cNvSpPr>
          <p:nvPr>
            <p:ph type="body" idx="1"/>
          </p:nvPr>
        </p:nvSpPr>
        <p:spPr/>
        <p:txBody>
          <a:bodyPr/>
          <a:lstStyle/>
          <a:p>
            <a:r>
              <a:rPr lang="en-US" altLang="en-US" dirty="0"/>
              <a:t>After an array is created, an indexed variable can be used in the same way as a regular variable.</a:t>
            </a:r>
          </a:p>
          <a:p>
            <a:pPr marL="114300" indent="0">
              <a:buNone/>
            </a:pPr>
            <a:endParaRPr lang="en-US" altLang="en-US" dirty="0"/>
          </a:p>
          <a:p>
            <a:pPr marL="114300" indent="0">
              <a:buNone/>
            </a:pPr>
            <a:r>
              <a:rPr lang="en-US" altLang="en-US" dirty="0"/>
              <a:t>     </a:t>
            </a:r>
            <a:r>
              <a:rPr lang="en-US" altLang="en-US" b="1" dirty="0" err="1">
                <a:solidFill>
                  <a:schemeClr val="tx1"/>
                </a:solidFill>
                <a:latin typeface="Courier New" pitchFamily="49" charset="0"/>
              </a:rPr>
              <a:t>myList</a:t>
            </a:r>
            <a:r>
              <a:rPr lang="en-US" altLang="en-US" b="1" dirty="0">
                <a:solidFill>
                  <a:schemeClr val="tx1"/>
                </a:solidFill>
                <a:latin typeface="Courier New" pitchFamily="49" charset="0"/>
              </a:rPr>
              <a:t>[2] = </a:t>
            </a:r>
            <a:r>
              <a:rPr lang="en-US" altLang="en-US" b="1" dirty="0" err="1">
                <a:solidFill>
                  <a:schemeClr val="tx1"/>
                </a:solidFill>
                <a:latin typeface="Courier New" pitchFamily="49" charset="0"/>
              </a:rPr>
              <a:t>myList</a:t>
            </a:r>
            <a:r>
              <a:rPr lang="en-US" altLang="en-US" b="1" dirty="0">
                <a:solidFill>
                  <a:schemeClr val="tx1"/>
                </a:solidFill>
                <a:latin typeface="Courier New" pitchFamily="49" charset="0"/>
              </a:rPr>
              <a:t>[0] + </a:t>
            </a:r>
            <a:r>
              <a:rPr lang="en-US" altLang="en-US" b="1" dirty="0" err="1">
                <a:solidFill>
                  <a:schemeClr val="tx1"/>
                </a:solidFill>
                <a:latin typeface="Courier New" pitchFamily="49" charset="0"/>
              </a:rPr>
              <a:t>myList</a:t>
            </a:r>
            <a:r>
              <a:rPr lang="en-US" altLang="en-US" b="1" dirty="0">
                <a:solidFill>
                  <a:schemeClr val="tx1"/>
                </a:solidFill>
                <a:latin typeface="Courier New" pitchFamily="49" charset="0"/>
              </a:rPr>
              <a:t>[1];</a:t>
            </a:r>
          </a:p>
        </p:txBody>
      </p:sp>
    </p:spTree>
    <p:extLst>
      <p:ext uri="{BB962C8B-B14F-4D97-AF65-F5344CB8AC3E}">
        <p14:creationId xmlns:p14="http://schemas.microsoft.com/office/powerpoint/2010/main" val="263620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Array Initializers</a:t>
            </a:r>
          </a:p>
        </p:txBody>
      </p:sp>
      <p:sp>
        <p:nvSpPr>
          <p:cNvPr id="3" name="Text Placeholder 2"/>
          <p:cNvSpPr>
            <a:spLocks noGrp="1"/>
          </p:cNvSpPr>
          <p:nvPr>
            <p:ph type="body" idx="1"/>
          </p:nvPr>
        </p:nvSpPr>
        <p:spPr/>
        <p:txBody>
          <a:bodyPr/>
          <a:lstStyle/>
          <a:p>
            <a:r>
              <a:rPr lang="en-US" altLang="en-US" dirty="0"/>
              <a:t>Declaring, creating, initializing in one step:</a:t>
            </a:r>
          </a:p>
          <a:p>
            <a:pPr marL="114300" indent="0">
              <a:buNone/>
            </a:pPr>
            <a:r>
              <a:rPr lang="en-US" altLang="en-US" dirty="0"/>
              <a:t>     </a:t>
            </a:r>
            <a:r>
              <a:rPr lang="en-US" altLang="en-US" b="1" dirty="0">
                <a:solidFill>
                  <a:schemeClr val="tx1"/>
                </a:solidFill>
                <a:latin typeface="Courier New" pitchFamily="49" charset="0"/>
              </a:rPr>
              <a:t>double[] </a:t>
            </a:r>
            <a:r>
              <a:rPr lang="en-US" altLang="en-US" b="1" dirty="0" err="1">
                <a:solidFill>
                  <a:schemeClr val="tx1"/>
                </a:solidFill>
                <a:latin typeface="Courier New" pitchFamily="49" charset="0"/>
              </a:rPr>
              <a:t>myList</a:t>
            </a:r>
            <a:r>
              <a:rPr lang="en-US" altLang="en-US" b="1" dirty="0">
                <a:solidFill>
                  <a:schemeClr val="tx1"/>
                </a:solidFill>
                <a:latin typeface="Courier New" pitchFamily="49" charset="0"/>
              </a:rPr>
              <a:t> = {1.9, 2.9, 3.4, 3.5};</a:t>
            </a:r>
          </a:p>
          <a:p>
            <a:pPr marL="114300" indent="0">
              <a:buNone/>
            </a:pPr>
            <a:endParaRPr lang="en-US" altLang="en-US" b="1" dirty="0">
              <a:solidFill>
                <a:schemeClr val="tx1"/>
              </a:solidFill>
              <a:latin typeface="Courier New" pitchFamily="49" charset="0"/>
            </a:endParaRPr>
          </a:p>
          <a:p>
            <a:r>
              <a:rPr lang="en-US" altLang="en-US" dirty="0"/>
              <a:t>This shorthand syntax must be in one statement.</a:t>
            </a:r>
          </a:p>
          <a:p>
            <a:endParaRPr lang="en-US" altLang="en-US" dirty="0"/>
          </a:p>
        </p:txBody>
      </p:sp>
    </p:spTree>
    <p:extLst>
      <p:ext uri="{BB962C8B-B14F-4D97-AF65-F5344CB8AC3E}">
        <p14:creationId xmlns:p14="http://schemas.microsoft.com/office/powerpoint/2010/main" val="1148269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Array Initializers: Equivalent</a:t>
            </a:r>
          </a:p>
        </p:txBody>
      </p:sp>
      <p:sp>
        <p:nvSpPr>
          <p:cNvPr id="3" name="Text Placeholder 2"/>
          <p:cNvSpPr>
            <a:spLocks noGrp="1"/>
          </p:cNvSpPr>
          <p:nvPr>
            <p:ph type="body" idx="1"/>
          </p:nvPr>
        </p:nvSpPr>
        <p:spPr/>
        <p:txBody>
          <a:bodyPr/>
          <a:lstStyle/>
          <a:p>
            <a:pPr marL="0" indent="0">
              <a:spcBef>
                <a:spcPct val="50000"/>
              </a:spcBef>
              <a:buNone/>
            </a:pPr>
            <a:r>
              <a:rPr lang="en-US" altLang="en-US" b="1" dirty="0">
                <a:solidFill>
                  <a:schemeClr val="tx1"/>
                </a:solidFill>
                <a:latin typeface="Courier New" pitchFamily="49" charset="0"/>
              </a:rPr>
              <a:t>double[] </a:t>
            </a:r>
            <a:r>
              <a:rPr lang="en-US" altLang="en-US" b="1" dirty="0" err="1">
                <a:solidFill>
                  <a:schemeClr val="tx1"/>
                </a:solidFill>
                <a:latin typeface="Courier New" pitchFamily="49" charset="0"/>
              </a:rPr>
              <a:t>myList</a:t>
            </a:r>
            <a:r>
              <a:rPr lang="en-US" altLang="en-US" b="1" dirty="0">
                <a:solidFill>
                  <a:schemeClr val="tx1"/>
                </a:solidFill>
                <a:latin typeface="Courier New" pitchFamily="49" charset="0"/>
              </a:rPr>
              <a:t> = {1.9, 2.9, 3.4, 3.5};</a:t>
            </a:r>
          </a:p>
          <a:p>
            <a:pPr marL="0" indent="0">
              <a:spcBef>
                <a:spcPct val="50000"/>
              </a:spcBef>
              <a:buNone/>
            </a:pPr>
            <a:r>
              <a:rPr lang="en-US" altLang="en-US" dirty="0">
                <a:cs typeface="Times New Roman"/>
              </a:rPr>
              <a:t>This shorthand notation is </a:t>
            </a:r>
            <a:r>
              <a:rPr lang="en-US" altLang="en-US" b="1" dirty="0">
                <a:solidFill>
                  <a:schemeClr val="tx1"/>
                </a:solidFill>
                <a:cs typeface="Times New Roman"/>
              </a:rPr>
              <a:t>equivalent </a:t>
            </a:r>
            <a:r>
              <a:rPr lang="en-US" altLang="en-US" dirty="0">
                <a:cs typeface="Times New Roman"/>
              </a:rPr>
              <a:t>to the following statements:</a:t>
            </a:r>
          </a:p>
          <a:p>
            <a:pPr marL="0" indent="0">
              <a:spcBef>
                <a:spcPct val="50000"/>
              </a:spcBef>
              <a:buNone/>
            </a:pPr>
            <a:r>
              <a:rPr lang="en-US" altLang="en-US" b="1" dirty="0">
                <a:solidFill>
                  <a:schemeClr val="tx1"/>
                </a:solidFill>
                <a:latin typeface="Courier New" pitchFamily="49" charset="0"/>
              </a:rPr>
              <a:t>double[] </a:t>
            </a:r>
            <a:r>
              <a:rPr lang="en-US" altLang="en-US" b="1" dirty="0" err="1">
                <a:solidFill>
                  <a:schemeClr val="tx1"/>
                </a:solidFill>
                <a:latin typeface="Courier New" pitchFamily="49" charset="0"/>
              </a:rPr>
              <a:t>myList</a:t>
            </a:r>
            <a:r>
              <a:rPr lang="en-US" altLang="en-US" b="1" dirty="0">
                <a:solidFill>
                  <a:schemeClr val="tx1"/>
                </a:solidFill>
                <a:latin typeface="Courier New" pitchFamily="49" charset="0"/>
              </a:rPr>
              <a:t> = new double[4];</a:t>
            </a:r>
          </a:p>
          <a:p>
            <a:pPr marL="0" indent="0">
              <a:spcBef>
                <a:spcPct val="50000"/>
              </a:spcBef>
              <a:buNone/>
            </a:pPr>
            <a:r>
              <a:rPr lang="en-US" altLang="en-US" b="1" dirty="0" err="1">
                <a:solidFill>
                  <a:schemeClr val="tx1"/>
                </a:solidFill>
                <a:latin typeface="Courier New" pitchFamily="49" charset="0"/>
              </a:rPr>
              <a:t>myList</a:t>
            </a:r>
            <a:r>
              <a:rPr lang="en-US" altLang="en-US" b="1" dirty="0">
                <a:solidFill>
                  <a:schemeClr val="tx1"/>
                </a:solidFill>
                <a:latin typeface="Courier New" pitchFamily="49" charset="0"/>
              </a:rPr>
              <a:t>[0] = 1.9;</a:t>
            </a:r>
          </a:p>
          <a:p>
            <a:pPr marL="0" indent="0">
              <a:spcBef>
                <a:spcPct val="50000"/>
              </a:spcBef>
              <a:buNone/>
            </a:pPr>
            <a:r>
              <a:rPr lang="en-US" altLang="en-US" b="1" dirty="0" err="1">
                <a:solidFill>
                  <a:schemeClr val="tx1"/>
                </a:solidFill>
                <a:latin typeface="Courier New" pitchFamily="49" charset="0"/>
              </a:rPr>
              <a:t>myList</a:t>
            </a:r>
            <a:r>
              <a:rPr lang="en-US" altLang="en-US" b="1" dirty="0">
                <a:solidFill>
                  <a:schemeClr val="tx1"/>
                </a:solidFill>
                <a:latin typeface="Courier New" pitchFamily="49" charset="0"/>
              </a:rPr>
              <a:t>[1] = 2.9;</a:t>
            </a:r>
          </a:p>
          <a:p>
            <a:pPr marL="0" indent="0">
              <a:spcBef>
                <a:spcPct val="50000"/>
              </a:spcBef>
              <a:buNone/>
            </a:pPr>
            <a:r>
              <a:rPr lang="en-US" altLang="en-US" b="1" dirty="0" err="1">
                <a:solidFill>
                  <a:schemeClr val="tx1"/>
                </a:solidFill>
                <a:latin typeface="Courier New" pitchFamily="49" charset="0"/>
              </a:rPr>
              <a:t>myList</a:t>
            </a:r>
            <a:r>
              <a:rPr lang="en-US" altLang="en-US" b="1" dirty="0">
                <a:solidFill>
                  <a:schemeClr val="tx1"/>
                </a:solidFill>
                <a:latin typeface="Courier New" pitchFamily="49" charset="0"/>
              </a:rPr>
              <a:t>[2] = 3.4;</a:t>
            </a:r>
          </a:p>
          <a:p>
            <a:pPr marL="0" indent="0">
              <a:spcBef>
                <a:spcPct val="50000"/>
              </a:spcBef>
              <a:buNone/>
            </a:pPr>
            <a:r>
              <a:rPr lang="en-US" altLang="en-US" b="1" dirty="0" err="1">
                <a:solidFill>
                  <a:schemeClr val="tx1"/>
                </a:solidFill>
                <a:latin typeface="Courier New" pitchFamily="49" charset="0"/>
              </a:rPr>
              <a:t>myList</a:t>
            </a:r>
            <a:r>
              <a:rPr lang="en-US" altLang="en-US" b="1" dirty="0">
                <a:solidFill>
                  <a:schemeClr val="tx1"/>
                </a:solidFill>
                <a:latin typeface="Courier New" pitchFamily="49" charset="0"/>
              </a:rPr>
              <a:t>[3] = 3.5; </a:t>
            </a:r>
          </a:p>
          <a:p>
            <a:endParaRPr lang="en-US" altLang="en-US" dirty="0"/>
          </a:p>
        </p:txBody>
      </p:sp>
    </p:spTree>
    <p:extLst>
      <p:ext uri="{BB962C8B-B14F-4D97-AF65-F5344CB8AC3E}">
        <p14:creationId xmlns:p14="http://schemas.microsoft.com/office/powerpoint/2010/main" val="128014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14" name="AutoShape 5" descr="int[] values = new int[5]; declare array variable values, create an array, and assign its reference to values."/>
          <p:cNvSpPr>
            <a:spLocks noChangeArrowheads="1"/>
          </p:cNvSpPr>
          <p:nvPr/>
        </p:nvSpPr>
        <p:spPr bwMode="auto">
          <a:xfrm>
            <a:off x="4382380" y="972917"/>
            <a:ext cx="3139678" cy="576263"/>
          </a:xfrm>
          <a:prstGeom prst="wedgeRoundRectCallout">
            <a:avLst>
              <a:gd name="adj1" fmla="val -89899"/>
              <a:gd name="adj2" fmla="val 120520"/>
              <a:gd name="adj3" fmla="val 16667"/>
            </a:avLst>
          </a:prstGeom>
          <a:noFill/>
          <a:ln w="12700">
            <a:solidFill>
              <a:sysClr val="windowText" lastClr="000000"/>
            </a:solidFill>
            <a:miter lim="800000"/>
            <a:headEnd type="none" w="sm" len="sm"/>
            <a:tailEnd type="none" w="sm" len="sm"/>
          </a:ln>
        </p:spPr>
        <p:txBody>
          <a:bodyPr lIns="91440" tIns="45720" rIns="91440" bIns="45720" anchor="t"/>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dirty="0">
                <a:ln>
                  <a:noFill/>
                </a:ln>
                <a:solidFill>
                  <a:prstClr val="black"/>
                </a:solidFill>
                <a:effectLst/>
                <a:uLnTx/>
                <a:uFillTx/>
                <a:latin typeface="Times New Roman" pitchFamily="16" charset="0"/>
                <a:ea typeface="+mn-ea"/>
              </a:rPr>
              <a:t>Declare array variable values, create an array, and assign its reference to values</a:t>
            </a:r>
          </a:p>
        </p:txBody>
      </p:sp>
      <p:sp>
        <p:nvSpPr>
          <p:cNvPr id="15" name="Rectangle 3"/>
          <p:cNvSpPr txBox="1">
            <a:spLocks noChangeArrowheads="1"/>
          </p:cNvSpPr>
          <p:nvPr/>
        </p:nvSpPr>
        <p:spPr bwMode="auto">
          <a:xfrm>
            <a:off x="1316831" y="1477566"/>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6" name="Rectangle 6" descr="an box outlining int[] values = new int[5];"/>
          <p:cNvSpPr>
            <a:spLocks noChangeArrowheads="1"/>
          </p:cNvSpPr>
          <p:nvPr/>
        </p:nvSpPr>
        <p:spPr bwMode="auto">
          <a:xfrm>
            <a:off x="1547813" y="1966913"/>
            <a:ext cx="2971800" cy="201216"/>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7" name="Object 2" descr="after the array is created&#10;index 0 has an element value of 0&#10;index 1 has an element value of 0&#10;index 2 has an element value of 0&#10;index 3 has an element value of 0&#10;index 4 has an element value of 0"/>
          <p:cNvGraphicFramePr>
            <a:graphicFrameLocks noChangeAspect="1"/>
          </p:cNvGraphicFramePr>
          <p:nvPr/>
        </p:nvGraphicFramePr>
        <p:xfrm>
          <a:off x="5522119" y="1534717"/>
          <a:ext cx="1469231" cy="1574006"/>
        </p:xfrm>
        <a:graphic>
          <a:graphicData uri="http://schemas.openxmlformats.org/presentationml/2006/ole">
            <mc:AlternateContent xmlns:mc="http://schemas.openxmlformats.org/markup-compatibility/2006">
              <mc:Choice xmlns:v="urn:schemas-microsoft-com:vml" Requires="v">
                <p:oleObj name="Picture" r:id="rId3" imgW="1600572" imgH="1711756" progId="Word.Picture.8">
                  <p:embed/>
                </p:oleObj>
              </mc:Choice>
              <mc:Fallback>
                <p:oleObj name="Picture" r:id="rId3" imgW="1600572" imgH="1711756" progId="Word.Picture.8">
                  <p:embed/>
                  <p:pic>
                    <p:nvPicPr>
                      <p:cNvPr id="17" name="Object 2" descr="after the array is created&#10;index 0 has an element value of 0&#10;index 1 has an element value of 0&#10;index 2 has an element value of 0&#10;index 3 has an element value of 0&#10;index 4 has an element value of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2119" y="1534717"/>
                        <a:ext cx="1469231" cy="1574006"/>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Line 10" descr="an arrow pointing from int[] values = new int[5]; to index 0 on the array chart which has an element value of 0."/>
          <p:cNvSpPr>
            <a:spLocks noChangeShapeType="1"/>
          </p:cNvSpPr>
          <p:nvPr/>
        </p:nvSpPr>
        <p:spPr bwMode="auto">
          <a:xfrm>
            <a:off x="4196953" y="2053829"/>
            <a:ext cx="1641872" cy="57150"/>
          </a:xfrm>
          <a:prstGeom prst="line">
            <a:avLst/>
          </a:prstGeom>
          <a:noFill/>
          <a:ln w="508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endParaRPr>
          </a:p>
        </p:txBody>
      </p:sp>
      <p:sp>
        <p:nvSpPr>
          <p:cNvPr id="19" name="Rectangle 10" descr="box outlining index 0 with an element value of 0"/>
          <p:cNvSpPr>
            <a:spLocks noChangeArrowheads="1"/>
          </p:cNvSpPr>
          <p:nvPr/>
        </p:nvSpPr>
        <p:spPr bwMode="auto">
          <a:xfrm>
            <a:off x="5952219" y="2067232"/>
            <a:ext cx="576263"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srgbClr val="000000"/>
              </a:solidFill>
              <a:effectLst/>
              <a:uLnTx/>
              <a:uFillTx/>
              <a:latin typeface="Times New Roman" pitchFamily="16" charset="0"/>
              <a:ea typeface="+mn-ea"/>
            </a:endParaRPr>
          </a:p>
        </p:txBody>
      </p:sp>
    </p:spTree>
    <p:extLst>
      <p:ext uri="{BB962C8B-B14F-4D97-AF65-F5344CB8AC3E}">
        <p14:creationId xmlns:p14="http://schemas.microsoft.com/office/powerpoint/2010/main" val="730455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8" name="AutoShape 4" descr="int i = 1; made i become 1"/>
          <p:cNvSpPr>
            <a:spLocks noChangeArrowheads="1"/>
          </p:cNvSpPr>
          <p:nvPr/>
        </p:nvSpPr>
        <p:spPr bwMode="auto">
          <a:xfrm>
            <a:off x="3359007" y="1132155"/>
            <a:ext cx="3139678" cy="288131"/>
          </a:xfrm>
          <a:prstGeom prst="wedgeRoundRectCallout">
            <a:avLst>
              <a:gd name="adj1" fmla="val -75282"/>
              <a:gd name="adj2" fmla="val 304790"/>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i becomes 1</a:t>
            </a:r>
          </a:p>
        </p:txBody>
      </p:sp>
      <p:sp>
        <p:nvSpPr>
          <p:cNvPr id="9"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0" name="Rectangle 5" descr="an box outlining int i = 1;"/>
          <p:cNvSpPr>
            <a:spLocks noChangeArrowheads="1"/>
          </p:cNvSpPr>
          <p:nvPr/>
        </p:nvSpPr>
        <p:spPr bwMode="auto">
          <a:xfrm>
            <a:off x="1835944" y="2196704"/>
            <a:ext cx="661988"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1" name="Object 2" descr="after the array is created&#10;index 0 has an element value of 0&#10;index 1 has an element value of 0&#10;index 2 has an element value of 0&#10;index 3 has an element value of 0&#10;index 4 has an element value of 0"/>
          <p:cNvGraphicFramePr>
            <a:graphicFrameLocks noChangeAspect="1"/>
          </p:cNvGraphicFramePr>
          <p:nvPr/>
        </p:nvGraphicFramePr>
        <p:xfrm>
          <a:off x="5522119" y="1534717"/>
          <a:ext cx="1469231" cy="1574006"/>
        </p:xfrm>
        <a:graphic>
          <a:graphicData uri="http://schemas.openxmlformats.org/presentationml/2006/ole">
            <mc:AlternateContent xmlns:mc="http://schemas.openxmlformats.org/markup-compatibility/2006">
              <mc:Choice xmlns:v="urn:schemas-microsoft-com:vml" Requires="v">
                <p:oleObj name="Picture" r:id="rId2" imgW="1600572" imgH="1711756" progId="Word.Picture.8">
                  <p:embed/>
                </p:oleObj>
              </mc:Choice>
              <mc:Fallback>
                <p:oleObj name="Picture" r:id="rId2" imgW="1600572" imgH="1711756" progId="Word.Picture.8">
                  <p:embed/>
                  <p:pic>
                    <p:nvPicPr>
                      <p:cNvPr id="11" name="Object 2" descr="after the array is created&#10;index 0 has an element value of 0&#10;index 1 has an element value of 0&#10;index 2 has an element value of 0&#10;index 3 has an element value of 0&#10;index 4 has an element value of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119" y="1534717"/>
                        <a:ext cx="1469231" cy="1574006"/>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569979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7" name="AutoShape 4" descr="i &lt; 5; means i (=1) is less than 5"/>
          <p:cNvSpPr>
            <a:spLocks noChangeArrowheads="1"/>
          </p:cNvSpPr>
          <p:nvPr/>
        </p:nvSpPr>
        <p:spPr bwMode="auto">
          <a:xfrm>
            <a:off x="3626044" y="1083339"/>
            <a:ext cx="3139678" cy="288131"/>
          </a:xfrm>
          <a:prstGeom prst="wedgeRoundRectCallout">
            <a:avLst>
              <a:gd name="adj1" fmla="val -72691"/>
              <a:gd name="adj2" fmla="val 329483"/>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i (=1) is less than 5</a:t>
            </a:r>
          </a:p>
        </p:txBody>
      </p:sp>
      <p:sp>
        <p:nvSpPr>
          <p:cNvPr id="12"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3" name="Rectangle 5" descr="box outlining i &lt; 5;"/>
          <p:cNvSpPr>
            <a:spLocks noChangeArrowheads="1"/>
          </p:cNvSpPr>
          <p:nvPr/>
        </p:nvSpPr>
        <p:spPr bwMode="auto">
          <a:xfrm>
            <a:off x="2515733" y="2215442"/>
            <a:ext cx="432197"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4" name="Object 2" descr="after the array is created&#10;index 0 has an element value of 0&#10;index 1 has an element value of 0&#10;index 2 has an element value of 0&#10;index 3 has an element value of 0&#10;index 4 has an element value of 0"/>
          <p:cNvGraphicFramePr>
            <a:graphicFrameLocks noChangeAspect="1"/>
          </p:cNvGraphicFramePr>
          <p:nvPr/>
        </p:nvGraphicFramePr>
        <p:xfrm>
          <a:off x="5522119" y="1534717"/>
          <a:ext cx="1469231" cy="1574006"/>
        </p:xfrm>
        <a:graphic>
          <a:graphicData uri="http://schemas.openxmlformats.org/presentationml/2006/ole">
            <mc:AlternateContent xmlns:mc="http://schemas.openxmlformats.org/markup-compatibility/2006">
              <mc:Choice xmlns:v="urn:schemas-microsoft-com:vml" Requires="v">
                <p:oleObj name="Picture" r:id="rId2" imgW="1600572" imgH="1711756" progId="Word.Picture.8">
                  <p:embed/>
                </p:oleObj>
              </mc:Choice>
              <mc:Fallback>
                <p:oleObj name="Picture" r:id="rId2" imgW="1600572" imgH="1711756" progId="Word.Picture.8">
                  <p:embed/>
                  <p:pic>
                    <p:nvPicPr>
                      <p:cNvPr id="14" name="Object 2" descr="after the array is created&#10;index 0 has an element value of 0&#10;index 1 has an element value of 0&#10;index 2 has an element value of 0&#10;index 3 has an element value of 0&#10;index 4 has an element value of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119" y="1534717"/>
                        <a:ext cx="1469231" cy="1574006"/>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17551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8" name="AutoShape 4" descr="values[i] = i + values[i-1]; &#10;after that line is executed, value[1] is 1"/>
          <p:cNvSpPr>
            <a:spLocks noChangeArrowheads="1"/>
          </p:cNvSpPr>
          <p:nvPr/>
        </p:nvSpPr>
        <p:spPr bwMode="auto">
          <a:xfrm>
            <a:off x="4350012" y="1001261"/>
            <a:ext cx="3139678" cy="576263"/>
          </a:xfrm>
          <a:prstGeom prst="wedgeRoundRectCallout">
            <a:avLst>
              <a:gd name="adj1" fmla="val -78996"/>
              <a:gd name="adj2" fmla="val 198205"/>
              <a:gd name="adj3" fmla="val 16667"/>
            </a:avLst>
          </a:prstGeom>
          <a:noFill/>
          <a:ln w="12700">
            <a:solidFill>
              <a:sysClr val="windowText" lastClr="000000"/>
            </a:solidFill>
            <a:miter lim="800000"/>
            <a:headEnd type="none" w="sm" len="sm"/>
            <a:tailEnd type="none" w="sm" len="sm"/>
          </a:ln>
        </p:spPr>
        <p:txBody>
          <a:bodyPr lIns="91440" tIns="45720" rIns="91440" bIns="45720" anchor="t"/>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dirty="0">
                <a:ln>
                  <a:noFill/>
                </a:ln>
                <a:effectLst/>
                <a:uLnTx/>
                <a:uFillTx/>
                <a:latin typeface="Times New Roman"/>
                <a:ea typeface="+mn-ea"/>
              </a:rPr>
              <a:t>After this line is executed, value[1] is 1</a:t>
            </a:r>
          </a:p>
          <a:p>
            <a:pPr marL="0" marR="0" lvl="0" indent="0" algn="ctr" defTabSz="914400" eaLnBrk="0" fontAlgn="base" latinLnBrk="0" hangingPunct="0">
              <a:lnSpc>
                <a:spcPct val="100000"/>
              </a:lnSpc>
              <a:spcBef>
                <a:spcPct val="0"/>
              </a:spcBef>
              <a:spcAft>
                <a:spcPct val="0"/>
              </a:spcAft>
              <a:buClrTx/>
              <a:buSzTx/>
              <a:buFontTx/>
              <a:buNone/>
              <a:tabLst/>
              <a:defRPr/>
            </a:pPr>
            <a:endParaRPr kumimoji="0" lang="en-US" altLang="en-US" sz="1350" b="0" i="0" u="none" strike="noStrike" kern="1200" cap="none" spc="0" normalizeH="0" baseline="0" noProof="0">
              <a:ln>
                <a:noFill/>
              </a:ln>
              <a:solidFill>
                <a:prstClr val="black"/>
              </a:solidFill>
              <a:effectLst/>
              <a:uLnTx/>
              <a:uFillTx/>
              <a:latin typeface="Times New Roman" pitchFamily="16" charset="0"/>
              <a:ea typeface="+mn-ea"/>
            </a:endParaRPr>
          </a:p>
        </p:txBody>
      </p:sp>
      <p:sp>
        <p:nvSpPr>
          <p:cNvPr id="9"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0" name="Rectangle 5" descr="box outlining values[i] = i + values[i-1]; "/>
          <p:cNvSpPr>
            <a:spLocks noChangeArrowheads="1"/>
          </p:cNvSpPr>
          <p:nvPr/>
        </p:nvSpPr>
        <p:spPr bwMode="auto">
          <a:xfrm>
            <a:off x="1547813" y="2457450"/>
            <a:ext cx="2971800" cy="201216"/>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sp>
        <p:nvSpPr>
          <p:cNvPr id="11" name="Line 10" descr="an arrow pointing from values[i] = i + values[i-1]; to index 1 with the element value of 1"/>
          <p:cNvSpPr>
            <a:spLocks noChangeShapeType="1"/>
          </p:cNvSpPr>
          <p:nvPr/>
        </p:nvSpPr>
        <p:spPr bwMode="auto">
          <a:xfrm flipV="1">
            <a:off x="4255294" y="2370535"/>
            <a:ext cx="1641872" cy="144065"/>
          </a:xfrm>
          <a:prstGeom prst="line">
            <a:avLst/>
          </a:prstGeom>
          <a:noFill/>
          <a:ln w="508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endParaRPr>
          </a:p>
        </p:txBody>
      </p:sp>
      <p:graphicFrame>
        <p:nvGraphicFramePr>
          <p:cNvPr id="15" name="Object 2" descr="after the first iteration&#10;index 0 has an element value of 0&#10;index 1 has an element value of 1&#10;index 2 has an element value of 0&#10;index 3 has an element value of 0&#10;index 4 has an element value of 0"/>
          <p:cNvGraphicFramePr>
            <a:graphicFrameLocks noChangeAspect="1"/>
          </p:cNvGraphicFramePr>
          <p:nvPr>
            <p:extLst>
              <p:ext uri="{D42A27DB-BD31-4B8C-83A1-F6EECF244321}">
                <p14:modId xmlns:p14="http://schemas.microsoft.com/office/powerpoint/2010/main" val="2164111414"/>
              </p:ext>
            </p:extLst>
          </p:nvPr>
        </p:nvGraphicFramePr>
        <p:xfrm>
          <a:off x="5465763" y="1477963"/>
          <a:ext cx="1555750" cy="1671637"/>
        </p:xfrm>
        <a:graphic>
          <a:graphicData uri="http://schemas.openxmlformats.org/presentationml/2006/ole">
            <mc:AlternateContent xmlns:mc="http://schemas.openxmlformats.org/markup-compatibility/2006">
              <mc:Choice xmlns:v="urn:schemas-microsoft-com:vml" Requires="v">
                <p:oleObj name="Picture" r:id="rId2" imgW="1600200" imgH="1714680" progId="Word.Picture.8">
                  <p:embed/>
                </p:oleObj>
              </mc:Choice>
              <mc:Fallback>
                <p:oleObj name="Picture" r:id="rId2" imgW="1600200" imgH="1714680" progId="Word.Picture.8">
                  <p:embed/>
                  <p:pic>
                    <p:nvPicPr>
                      <p:cNvPr id="15" name="Object 2" descr="after the first iteration&#10;index 0 has an element value of 0&#10;index 1 has an element value of 1&#10;index 2 has an element value of 0&#10;index 3 has an element value of 0&#10;index 4 has an element value of 0"/>
                      <p:cNvPicPr>
                        <a:picLocks noChangeAspect="1" noChangeArrowheads="1"/>
                      </p:cNvPicPr>
                      <p:nvPr/>
                    </p:nvPicPr>
                    <p:blipFill>
                      <a:blip r:embed="rId3"/>
                      <a:srcRect/>
                      <a:stretch>
                        <a:fillRect/>
                      </a:stretch>
                    </p:blipFill>
                    <p:spPr bwMode="auto">
                      <a:xfrm>
                        <a:off x="5465763" y="1477963"/>
                        <a:ext cx="1555750" cy="1671637"/>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0" descr="box outlining index 1 with an element value of 1"/>
          <p:cNvSpPr>
            <a:spLocks noChangeArrowheads="1"/>
          </p:cNvSpPr>
          <p:nvPr/>
        </p:nvSpPr>
        <p:spPr bwMode="auto">
          <a:xfrm>
            <a:off x="5919851" y="2253348"/>
            <a:ext cx="576263"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spTree>
    <p:extLst>
      <p:ext uri="{BB962C8B-B14F-4D97-AF65-F5344CB8AC3E}">
        <p14:creationId xmlns:p14="http://schemas.microsoft.com/office/powerpoint/2010/main" val="38797230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12" name="AutoShape 4" descr="after i++, i becomes 2"/>
          <p:cNvSpPr>
            <a:spLocks noChangeArrowheads="1"/>
          </p:cNvSpPr>
          <p:nvPr/>
        </p:nvSpPr>
        <p:spPr bwMode="auto">
          <a:xfrm>
            <a:off x="3910012" y="1003897"/>
            <a:ext cx="3139679" cy="288131"/>
          </a:xfrm>
          <a:prstGeom prst="wedgeRoundRectCallout">
            <a:avLst>
              <a:gd name="adj1" fmla="val -69820"/>
              <a:gd name="adj2" fmla="val 345568"/>
              <a:gd name="adj3" fmla="val 16667"/>
            </a:avLst>
          </a:prstGeom>
          <a:noFill/>
          <a:ln w="12700">
            <a:solidFill>
              <a:sysClr val="windowText" lastClr="000000"/>
            </a:solidFill>
            <a:miter lim="800000"/>
            <a:headEnd type="none" w="sm" len="sm"/>
            <a:tailEnd type="none" w="sm" len="sm"/>
          </a:ln>
        </p:spPr>
        <p:txBody>
          <a:bodyPr lIns="91440" tIns="45720" rIns="91440" bIns="45720" anchor="t"/>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dirty="0">
                <a:ln>
                  <a:noFill/>
                </a:ln>
                <a:effectLst/>
                <a:uLnTx/>
                <a:uFillTx/>
                <a:latin typeface="Times New Roman"/>
                <a:ea typeface="+mn-ea"/>
              </a:rPr>
              <a:t>After </a:t>
            </a:r>
            <a:r>
              <a:rPr kumimoji="0" lang="en-US" altLang="en-US" sz="1350" b="0" i="0" u="none" strike="noStrike" kern="1200" cap="none" spc="0" normalizeH="0" baseline="0" noProof="0" dirty="0" err="1">
                <a:ln>
                  <a:noFill/>
                </a:ln>
                <a:effectLst/>
                <a:uLnTx/>
                <a:uFillTx/>
                <a:latin typeface="Times New Roman"/>
                <a:ea typeface="+mn-ea"/>
              </a:rPr>
              <a:t>i</a:t>
            </a:r>
            <a:r>
              <a:rPr kumimoji="0" lang="en-US" altLang="en-US" sz="1350" b="0" i="0" u="none" strike="noStrike" kern="1200" cap="none" spc="0" normalizeH="0" baseline="0" noProof="0" dirty="0">
                <a:ln>
                  <a:noFill/>
                </a:ln>
                <a:effectLst/>
                <a:uLnTx/>
                <a:uFillTx/>
                <a:latin typeface="Times New Roman"/>
                <a:ea typeface="+mn-ea"/>
              </a:rPr>
              <a:t>++, </a:t>
            </a:r>
            <a:r>
              <a:rPr kumimoji="0" lang="en-US" altLang="en-US" sz="1350" b="0" i="0" u="none" strike="noStrike" kern="1200" cap="none" spc="0" normalizeH="0" baseline="0" noProof="0" dirty="0" err="1">
                <a:ln>
                  <a:noFill/>
                </a:ln>
                <a:effectLst/>
                <a:uLnTx/>
                <a:uFillTx/>
                <a:latin typeface="Times New Roman"/>
                <a:ea typeface="+mn-ea"/>
              </a:rPr>
              <a:t>i</a:t>
            </a:r>
            <a:r>
              <a:rPr kumimoji="0" lang="en-US" altLang="en-US" sz="1350" b="0" i="0" u="none" strike="noStrike" kern="1200" cap="none" spc="0" normalizeH="0" baseline="0" noProof="0" dirty="0">
                <a:ln>
                  <a:noFill/>
                </a:ln>
                <a:effectLst/>
                <a:uLnTx/>
                <a:uFillTx/>
                <a:latin typeface="Times New Roman"/>
                <a:ea typeface="+mn-ea"/>
              </a:rPr>
              <a:t> becomes 2</a:t>
            </a:r>
          </a:p>
        </p:txBody>
      </p:sp>
      <p:sp>
        <p:nvSpPr>
          <p:cNvPr id="13"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4" name="Rectangle 5" descr="box outlining i++"/>
          <p:cNvSpPr>
            <a:spLocks noChangeArrowheads="1"/>
          </p:cNvSpPr>
          <p:nvPr/>
        </p:nvSpPr>
        <p:spPr bwMode="auto">
          <a:xfrm>
            <a:off x="2930129" y="2197894"/>
            <a:ext cx="355237" cy="197348"/>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6" name="Object 2" descr="after the first iteration&#10;index 0 has an element value of 0&#10;index 1 has an element value of 1&#10;index 2 has an element value of 0&#10;index 3 has an element value of 0&#10;index 4 has an element value of 0"/>
          <p:cNvGraphicFramePr>
            <a:graphicFrameLocks noChangeAspect="1"/>
          </p:cNvGraphicFramePr>
          <p:nvPr/>
        </p:nvGraphicFramePr>
        <p:xfrm>
          <a:off x="5464969" y="1477566"/>
          <a:ext cx="1558529" cy="1670447"/>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6" name="Object 2" descr="after the first iteration&#10;index 0 has an element value of 0&#10;index 1 has an element value of 1&#10;index 2 has an element value of 0&#10;index 3 has an element value of 0&#10;index 4 has an element value of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4969" y="1477566"/>
                        <a:ext cx="1558529" cy="1670447"/>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026274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7" name="AutoShape 4" descr="i (=2) is less than 5"/>
          <p:cNvSpPr>
            <a:spLocks noChangeArrowheads="1"/>
          </p:cNvSpPr>
          <p:nvPr/>
        </p:nvSpPr>
        <p:spPr bwMode="auto">
          <a:xfrm>
            <a:off x="4140994" y="1055557"/>
            <a:ext cx="2303860" cy="432197"/>
          </a:xfrm>
          <a:prstGeom prst="wedgeRoundRectCallout">
            <a:avLst>
              <a:gd name="adj1" fmla="val -100914"/>
              <a:gd name="adj2" fmla="val 215909"/>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i (= 2) is less than 5</a:t>
            </a:r>
          </a:p>
        </p:txBody>
      </p:sp>
      <p:sp>
        <p:nvSpPr>
          <p:cNvPr id="8"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9" name="Rectangle 5" descr="box outlining i &lt;5;"/>
          <p:cNvSpPr>
            <a:spLocks noChangeArrowheads="1"/>
          </p:cNvSpPr>
          <p:nvPr/>
        </p:nvSpPr>
        <p:spPr bwMode="auto">
          <a:xfrm>
            <a:off x="2524715" y="2225279"/>
            <a:ext cx="436970" cy="194240"/>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0" name="Object 2" descr="after the first iteration&#10;index 0 has an element value of 0&#10;index 1 has an element value of 1&#10;index 2 has an element value of 0&#10;index 3 has an element value of 0&#10;index 4 has an element value of 0"/>
          <p:cNvGraphicFramePr>
            <a:graphicFrameLocks noChangeAspect="1"/>
          </p:cNvGraphicFramePr>
          <p:nvPr/>
        </p:nvGraphicFramePr>
        <p:xfrm>
          <a:off x="5464969" y="1477566"/>
          <a:ext cx="1558529" cy="1670447"/>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0" name="Object 2" descr="after the first iteration&#10;index 0 has an element value of 0&#10;index 1 has an element value of 1&#10;index 2 has an element value of 0&#10;index 3 has an element value of 0&#10;index 4 has an element value of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4969" y="1477566"/>
                        <a:ext cx="1558529" cy="1670447"/>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856600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11" name="AutoShape 4"/>
          <p:cNvSpPr>
            <a:spLocks noChangeArrowheads="1"/>
          </p:cNvSpPr>
          <p:nvPr/>
        </p:nvSpPr>
        <p:spPr bwMode="auto">
          <a:xfrm>
            <a:off x="4168210" y="997197"/>
            <a:ext cx="3139678" cy="576263"/>
          </a:xfrm>
          <a:prstGeom prst="wedgeRoundRectCallout">
            <a:avLst>
              <a:gd name="adj1" fmla="val -65852"/>
              <a:gd name="adj2" fmla="val 192588"/>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After this line is executed,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values[2] is 3 (2 + 1)</a:t>
            </a:r>
          </a:p>
        </p:txBody>
      </p:sp>
      <p:sp>
        <p:nvSpPr>
          <p:cNvPr id="12"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3" name="Rectangle 5" descr="box outlining values[i] = i + values[i-1];"/>
          <p:cNvSpPr>
            <a:spLocks noChangeArrowheads="1"/>
          </p:cNvSpPr>
          <p:nvPr/>
        </p:nvSpPr>
        <p:spPr bwMode="auto">
          <a:xfrm>
            <a:off x="1519238" y="2427685"/>
            <a:ext cx="2971800"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sp>
        <p:nvSpPr>
          <p:cNvPr id="14" name="Line 10" descr="an arrow pointing from values[i] = i + values[i-1]; to index 2 with the element value of 3"/>
          <p:cNvSpPr>
            <a:spLocks noChangeShapeType="1"/>
          </p:cNvSpPr>
          <p:nvPr/>
        </p:nvSpPr>
        <p:spPr bwMode="auto">
          <a:xfrm>
            <a:off x="4255294" y="2514600"/>
            <a:ext cx="1670447" cy="57150"/>
          </a:xfrm>
          <a:prstGeom prst="line">
            <a:avLst/>
          </a:prstGeom>
          <a:noFill/>
          <a:ln w="508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endParaRPr>
          </a:p>
        </p:txBody>
      </p:sp>
      <p:graphicFrame>
        <p:nvGraphicFramePr>
          <p:cNvPr id="15" name="Object 2" descr="after the second iteration&#10;index 0 has an element value of 0&#10;index 1 has an element value of 1&#10;index 2 has an element value of 3&#10;index 3 has an element value of 0&#10;index 4 has an element value of 0"/>
          <p:cNvGraphicFramePr>
            <a:graphicFrameLocks noChangeAspect="1"/>
          </p:cNvGraphicFramePr>
          <p:nvPr/>
        </p:nvGraphicFramePr>
        <p:xfrm>
          <a:off x="5522119" y="1534716"/>
          <a:ext cx="1469231" cy="157757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5" name="Object 2" descr="after the second iteration&#10;index 0 has an element value of 0&#10;index 1 has an element value of 1&#10;index 2 has an element value of 3&#10;index 3 has an element value of 0&#10;index 4 has an element value of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119" y="1534716"/>
                        <a:ext cx="1469231" cy="157757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0" descr="box outlining index 2 with an element value of 3"/>
          <p:cNvSpPr>
            <a:spLocks noChangeArrowheads="1"/>
          </p:cNvSpPr>
          <p:nvPr/>
        </p:nvSpPr>
        <p:spPr bwMode="auto">
          <a:xfrm>
            <a:off x="5952219" y="2455648"/>
            <a:ext cx="576263"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spTree>
    <p:extLst>
      <p:ext uri="{BB962C8B-B14F-4D97-AF65-F5344CB8AC3E}">
        <p14:creationId xmlns:p14="http://schemas.microsoft.com/office/powerpoint/2010/main" val="3688978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8" name="AutoShape 4"/>
          <p:cNvSpPr>
            <a:spLocks noChangeArrowheads="1"/>
          </p:cNvSpPr>
          <p:nvPr/>
        </p:nvSpPr>
        <p:spPr bwMode="auto">
          <a:xfrm>
            <a:off x="3952279" y="1083339"/>
            <a:ext cx="3139679" cy="288131"/>
          </a:xfrm>
          <a:prstGeom prst="wedgeRoundRectCallout">
            <a:avLst>
              <a:gd name="adj1" fmla="val -71486"/>
              <a:gd name="adj2" fmla="val 328569"/>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After this, i becomes 3.</a:t>
            </a:r>
          </a:p>
        </p:txBody>
      </p:sp>
      <p:sp>
        <p:nvSpPr>
          <p:cNvPr id="9"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0" name="Rectangle 5" descr="box outlining i++"/>
          <p:cNvSpPr>
            <a:spLocks noChangeArrowheads="1"/>
          </p:cNvSpPr>
          <p:nvPr/>
        </p:nvSpPr>
        <p:spPr bwMode="auto">
          <a:xfrm>
            <a:off x="2958704" y="2196704"/>
            <a:ext cx="334754" cy="206631"/>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6" name="Object 2" descr="after the second iteration&#10;index 0 has an element value of 0&#10;index 1 has an element value of 1&#10;index 2 has an element value of 3&#10;index 3 has an element value of 0&#10;index 4 has an element value of 0"/>
          <p:cNvGraphicFramePr>
            <a:graphicFrameLocks noChangeAspect="1"/>
          </p:cNvGraphicFramePr>
          <p:nvPr/>
        </p:nvGraphicFramePr>
        <p:xfrm>
          <a:off x="5522119" y="1534716"/>
          <a:ext cx="1469231" cy="157757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6" name="Object 2" descr="after the second iteration&#10;index 0 has an element value of 0&#10;index 1 has an element value of 1&#10;index 2 has an element value of 3&#10;index 3 has an element value of 0&#10;index 4 has an element value of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119" y="1534716"/>
                        <a:ext cx="1469231" cy="157757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40390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7" name="AutoShape 4"/>
          <p:cNvSpPr>
            <a:spLocks noChangeArrowheads="1"/>
          </p:cNvSpPr>
          <p:nvPr/>
        </p:nvSpPr>
        <p:spPr bwMode="auto">
          <a:xfrm>
            <a:off x="4188356" y="986017"/>
            <a:ext cx="3139678" cy="288131"/>
          </a:xfrm>
          <a:prstGeom prst="wedgeRoundRectCallout">
            <a:avLst>
              <a:gd name="adj1" fmla="val -87265"/>
              <a:gd name="adj2" fmla="val 379852"/>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i (=3) is still less than 5.</a:t>
            </a:r>
          </a:p>
        </p:txBody>
      </p:sp>
      <p:sp>
        <p:nvSpPr>
          <p:cNvPr id="11"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2" name="Rectangle 5" descr="box outlining i &lt;5;"/>
          <p:cNvSpPr>
            <a:spLocks noChangeArrowheads="1"/>
          </p:cNvSpPr>
          <p:nvPr/>
        </p:nvSpPr>
        <p:spPr bwMode="auto">
          <a:xfrm>
            <a:off x="2516623" y="2229072"/>
            <a:ext cx="427993" cy="198539"/>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3" name="Object 2" descr="after the second iteration&#10;index 0 has an element value of 0&#10;index 1 has an element value of 1&#10;index 2 has an element value of 3&#10;index 3 has an element value of 0&#10;index 4 has an element value of 0"/>
          <p:cNvGraphicFramePr>
            <a:graphicFrameLocks noChangeAspect="1"/>
          </p:cNvGraphicFramePr>
          <p:nvPr/>
        </p:nvGraphicFramePr>
        <p:xfrm>
          <a:off x="5522119" y="1534716"/>
          <a:ext cx="1469231" cy="157757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3" name="Object 2" descr="after the second iteration&#10;index 0 has an element value of 0&#10;index 1 has an element value of 1&#10;index 2 has an element value of 3&#10;index 3 has an element value of 0&#10;index 4 has an element value of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119" y="1534716"/>
                        <a:ext cx="1469231" cy="157757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403407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8" name="AutoShape 4"/>
          <p:cNvSpPr>
            <a:spLocks noChangeArrowheads="1"/>
          </p:cNvSpPr>
          <p:nvPr/>
        </p:nvSpPr>
        <p:spPr bwMode="auto">
          <a:xfrm>
            <a:off x="4255294" y="1099305"/>
            <a:ext cx="3543300" cy="288131"/>
          </a:xfrm>
          <a:prstGeom prst="wedgeRoundRectCallout">
            <a:avLst>
              <a:gd name="adj1" fmla="val -66325"/>
              <a:gd name="adj2" fmla="val 406318"/>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After this line, values[3] becomes 6 (3 + 3)</a:t>
            </a:r>
          </a:p>
        </p:txBody>
      </p:sp>
      <p:sp>
        <p:nvSpPr>
          <p:cNvPr id="9"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0" name="Rectangle 5" descr="box outlining values[i] = i + values[i-1];"/>
          <p:cNvSpPr>
            <a:spLocks noChangeArrowheads="1"/>
          </p:cNvSpPr>
          <p:nvPr/>
        </p:nvSpPr>
        <p:spPr bwMode="auto">
          <a:xfrm>
            <a:off x="1633538" y="2427685"/>
            <a:ext cx="2563416"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sp>
        <p:nvSpPr>
          <p:cNvPr id="14" name="Line 9" descr="an arrow pointing from values[i] = i + values[i-1]; to index 3 with the element value of 6"/>
          <p:cNvSpPr>
            <a:spLocks noChangeShapeType="1"/>
          </p:cNvSpPr>
          <p:nvPr/>
        </p:nvSpPr>
        <p:spPr bwMode="auto">
          <a:xfrm>
            <a:off x="4255294" y="2514600"/>
            <a:ext cx="1583531" cy="229791"/>
          </a:xfrm>
          <a:prstGeom prst="line">
            <a:avLst/>
          </a:prstGeom>
          <a:noFill/>
          <a:ln w="508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endParaRPr>
          </a:p>
        </p:txBody>
      </p:sp>
      <p:graphicFrame>
        <p:nvGraphicFramePr>
          <p:cNvPr id="15" name="Object 2" descr="after the third iteration&#10;index 0 has an element value of 0&#10;index 1 has an element value of 1&#10;index 2 has an element value of 3&#10;index 3 has an element value of 6&#10;index 4 has an element value of 0"/>
          <p:cNvGraphicFramePr>
            <a:graphicFrameLocks noChangeAspect="1"/>
          </p:cNvGraphicFramePr>
          <p:nvPr/>
        </p:nvGraphicFramePr>
        <p:xfrm>
          <a:off x="5522119" y="1533525"/>
          <a:ext cx="1469231" cy="1577579"/>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5" name="Object 2" descr="after the third iteration&#10;index 0 has an element value of 0&#10;index 1 has an element value of 1&#10;index 2 has an element value of 3&#10;index 3 has an element value of 6&#10;index 4 has an element value of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119" y="1533525"/>
                        <a:ext cx="1469231" cy="1577579"/>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0" descr="box outlining index 3 with an element value of 6"/>
          <p:cNvSpPr>
            <a:spLocks noChangeArrowheads="1"/>
          </p:cNvSpPr>
          <p:nvPr/>
        </p:nvSpPr>
        <p:spPr bwMode="auto">
          <a:xfrm>
            <a:off x="5952219" y="2649856"/>
            <a:ext cx="576263"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spTree>
    <p:extLst>
      <p:ext uri="{BB962C8B-B14F-4D97-AF65-F5344CB8AC3E}">
        <p14:creationId xmlns:p14="http://schemas.microsoft.com/office/powerpoint/2010/main" val="2324202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11" name="AutoShape 4"/>
          <p:cNvSpPr>
            <a:spLocks noChangeArrowheads="1"/>
          </p:cNvSpPr>
          <p:nvPr/>
        </p:nvSpPr>
        <p:spPr bwMode="auto">
          <a:xfrm>
            <a:off x="4499067" y="1017725"/>
            <a:ext cx="3139679" cy="288131"/>
          </a:xfrm>
          <a:prstGeom prst="wedgeRoundRectCallout">
            <a:avLst>
              <a:gd name="adj1" fmla="val -86324"/>
              <a:gd name="adj2" fmla="val 357980"/>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After this, i becomes 4</a:t>
            </a:r>
          </a:p>
        </p:txBody>
      </p:sp>
      <p:sp>
        <p:nvSpPr>
          <p:cNvPr id="12"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3" name="Rectangle 5" descr="box outlining i++"/>
          <p:cNvSpPr>
            <a:spLocks noChangeArrowheads="1"/>
          </p:cNvSpPr>
          <p:nvPr/>
        </p:nvSpPr>
        <p:spPr bwMode="auto">
          <a:xfrm>
            <a:off x="2930128" y="2196704"/>
            <a:ext cx="363329" cy="206631"/>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6" name="Object 2" descr="after the third iteration&#10;index 0 has an element value of 0&#10;index 1 has an element value of 1&#10;index 2 has an element value of 3&#10;index 3 has an element value of 6&#10;index 4 has an element value of 0"/>
          <p:cNvGraphicFramePr>
            <a:graphicFrameLocks noChangeAspect="1"/>
          </p:cNvGraphicFramePr>
          <p:nvPr/>
        </p:nvGraphicFramePr>
        <p:xfrm>
          <a:off x="5522119" y="1533525"/>
          <a:ext cx="1469231" cy="1577579"/>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6" name="Object 2" descr="after the third iteration&#10;index 0 has an element value of 0&#10;index 1 has an element value of 1&#10;index 2 has an element value of 3&#10;index 3 has an element value of 6&#10;index 4 has an element value of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119" y="1533525"/>
                        <a:ext cx="1469231" cy="1577579"/>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644638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7" name="AutoShape 4"/>
          <p:cNvSpPr>
            <a:spLocks noChangeArrowheads="1"/>
          </p:cNvSpPr>
          <p:nvPr/>
        </p:nvSpPr>
        <p:spPr bwMode="auto">
          <a:xfrm>
            <a:off x="4686894" y="1102848"/>
            <a:ext cx="3139679" cy="288131"/>
          </a:xfrm>
          <a:prstGeom prst="wedgeRoundRectCallout">
            <a:avLst>
              <a:gd name="adj1" fmla="val -103172"/>
              <a:gd name="adj2" fmla="val 327087"/>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i (=4) is still less than 5</a:t>
            </a:r>
          </a:p>
        </p:txBody>
      </p:sp>
      <p:sp>
        <p:nvSpPr>
          <p:cNvPr id="8"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9" name="Rectangle 5" descr="box outlining i &lt;5;"/>
          <p:cNvSpPr>
            <a:spLocks noChangeArrowheads="1"/>
          </p:cNvSpPr>
          <p:nvPr/>
        </p:nvSpPr>
        <p:spPr bwMode="auto">
          <a:xfrm>
            <a:off x="2497931" y="2197893"/>
            <a:ext cx="455661" cy="22162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0" name="Object 2" descr="after the third iteration&#10;index 0 has an element value of 0&#10;index 1 has an element value of 1&#10;index 2 has an element value of 3&#10;index 3 has an element value of 6&#10;index 4 has an element value of 0"/>
          <p:cNvGraphicFramePr>
            <a:graphicFrameLocks noChangeAspect="1"/>
          </p:cNvGraphicFramePr>
          <p:nvPr/>
        </p:nvGraphicFramePr>
        <p:xfrm>
          <a:off x="5522119" y="1533525"/>
          <a:ext cx="1469231" cy="1577579"/>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0" name="Object 2" descr="after the third iteration&#10;index 0 has an element value of 0&#10;index 1 has an element value of 1&#10;index 2 has an element value of 3&#10;index 3 has an element value of 6&#10;index 4 has an element value of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119" y="1533525"/>
                        <a:ext cx="1469231" cy="1577579"/>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962876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11" name="AutoShape 4"/>
          <p:cNvSpPr>
            <a:spLocks noChangeArrowheads="1"/>
          </p:cNvSpPr>
          <p:nvPr/>
        </p:nvSpPr>
        <p:spPr bwMode="auto">
          <a:xfrm>
            <a:off x="4435241" y="1198505"/>
            <a:ext cx="3139678" cy="288131"/>
          </a:xfrm>
          <a:prstGeom prst="wedgeRoundRectCallout">
            <a:avLst>
              <a:gd name="adj1" fmla="val -59311"/>
              <a:gd name="adj2" fmla="val 363304"/>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After this, values[4] becomes 10 (4 + 6)</a:t>
            </a:r>
          </a:p>
        </p:txBody>
      </p:sp>
      <p:sp>
        <p:nvSpPr>
          <p:cNvPr id="12"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p>
        </p:txBody>
      </p:sp>
      <p:sp>
        <p:nvSpPr>
          <p:cNvPr id="13" name="Rectangle 5" descr="box outlining values[i] = i + values[i-1];"/>
          <p:cNvSpPr>
            <a:spLocks noChangeArrowheads="1"/>
          </p:cNvSpPr>
          <p:nvPr/>
        </p:nvSpPr>
        <p:spPr bwMode="auto">
          <a:xfrm>
            <a:off x="1604963" y="2427685"/>
            <a:ext cx="2563416"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sp>
        <p:nvSpPr>
          <p:cNvPr id="14" name="Line 9" descr="an arrow pointing from values[i] = i + values[i-1]; to index 4 with the element value of 10"/>
          <p:cNvSpPr>
            <a:spLocks noChangeShapeType="1"/>
          </p:cNvSpPr>
          <p:nvPr/>
        </p:nvSpPr>
        <p:spPr bwMode="auto">
          <a:xfrm>
            <a:off x="4196953" y="2543176"/>
            <a:ext cx="1641872" cy="402431"/>
          </a:xfrm>
          <a:prstGeom prst="line">
            <a:avLst/>
          </a:prstGeom>
          <a:noFill/>
          <a:ln w="508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endParaRPr>
          </a:p>
        </p:txBody>
      </p:sp>
      <p:graphicFrame>
        <p:nvGraphicFramePr>
          <p:cNvPr id="15" name="Object 2" descr="after the fourth iteration&#10;index 0 has an element value of 0&#10;index 1 has an element value of 1&#10;index 2 has an element value of 3&#10;index 3 has an element value of 6&#10;index 4 has an element value of 10"/>
          <p:cNvGraphicFramePr>
            <a:graphicFrameLocks noChangeAspect="1"/>
          </p:cNvGraphicFramePr>
          <p:nvPr/>
        </p:nvGraphicFramePr>
        <p:xfrm>
          <a:off x="5467350" y="1419225"/>
          <a:ext cx="1582341" cy="1695450"/>
        </p:xfrm>
        <a:graphic>
          <a:graphicData uri="http://schemas.openxmlformats.org/presentationml/2006/ole">
            <mc:AlternateContent xmlns:mc="http://schemas.openxmlformats.org/markup-compatibility/2006">
              <mc:Choice xmlns:v="urn:schemas-microsoft-com:vml" Requires="v">
                <p:oleObj name="Picture" r:id="rId3" imgW="1601724" imgH="1712976" progId="Word.Picture.8">
                  <p:embed/>
                </p:oleObj>
              </mc:Choice>
              <mc:Fallback>
                <p:oleObj name="Picture" r:id="rId3" imgW="1601724" imgH="1712976" progId="Word.Picture.8">
                  <p:embed/>
                  <p:pic>
                    <p:nvPicPr>
                      <p:cNvPr id="15" name="Object 2" descr="after the fourth iteration&#10;index 0 has an element value of 0&#10;index 1 has an element value of 1&#10;index 2 has an element value of 3&#10;index 3 has an element value of 6&#10;index 4 has an element value of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7350" y="1419225"/>
                        <a:ext cx="1582341" cy="169545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0" descr="box outlining index 4 with an element value of 10"/>
          <p:cNvSpPr>
            <a:spLocks noChangeArrowheads="1"/>
          </p:cNvSpPr>
          <p:nvPr/>
        </p:nvSpPr>
        <p:spPr bwMode="auto">
          <a:xfrm>
            <a:off x="5952219" y="2852156"/>
            <a:ext cx="576263"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spTree>
    <p:extLst>
      <p:ext uri="{BB962C8B-B14F-4D97-AF65-F5344CB8AC3E}">
        <p14:creationId xmlns:p14="http://schemas.microsoft.com/office/powerpoint/2010/main" val="39727647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8" name="AutoShape 4"/>
          <p:cNvSpPr>
            <a:spLocks noChangeArrowheads="1"/>
          </p:cNvSpPr>
          <p:nvPr/>
        </p:nvSpPr>
        <p:spPr bwMode="auto">
          <a:xfrm>
            <a:off x="4325920" y="1076041"/>
            <a:ext cx="3139678" cy="288131"/>
          </a:xfrm>
          <a:prstGeom prst="wedgeRoundRectCallout">
            <a:avLst>
              <a:gd name="adj1" fmla="val -80876"/>
              <a:gd name="adj2" fmla="val 332750"/>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After i++, i becomes 5</a:t>
            </a:r>
          </a:p>
        </p:txBody>
      </p:sp>
      <p:sp>
        <p:nvSpPr>
          <p:cNvPr id="9" name="Rectangle 3"/>
          <p:cNvSpPr txBox="1">
            <a:spLocks noChangeArrowheads="1"/>
          </p:cNvSpPr>
          <p:nvPr/>
        </p:nvSpPr>
        <p:spPr bwMode="auto">
          <a:xfrm>
            <a:off x="1314450" y="1485900"/>
            <a:ext cx="3257550" cy="211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04788" indent="-204788" algn="l" rtl="0" eaLnBrk="0" fontAlgn="base" hangingPunct="0">
              <a:spcBef>
                <a:spcPts val="431"/>
              </a:spcBef>
              <a:spcAft>
                <a:spcPct val="0"/>
              </a:spcAft>
              <a:buClr>
                <a:schemeClr val="accent1"/>
              </a:buClr>
              <a:buSzPct val="85000"/>
              <a:buFont typeface="Wingdings 2" pitchFamily="18" charset="2"/>
              <a:buChar char=""/>
              <a:defRPr sz="1950" kern="1200">
                <a:solidFill>
                  <a:schemeClr val="tx1"/>
                </a:solidFill>
                <a:latin typeface="+mn-lt"/>
                <a:ea typeface="+mn-ea"/>
                <a:cs typeface="+mn-cs"/>
              </a:defRPr>
            </a:lvl1pPr>
            <a:lvl2pPr marL="410766" indent="-171450" algn="l" rtl="0" eaLnBrk="0" fontAlgn="base" hangingPunct="0">
              <a:spcBef>
                <a:spcPts val="281"/>
              </a:spcBef>
              <a:spcAft>
                <a:spcPct val="0"/>
              </a:spcAft>
              <a:buClr>
                <a:schemeClr val="accent2"/>
              </a:buClr>
              <a:buSzPct val="85000"/>
              <a:buFont typeface="Wingdings 2" pitchFamily="18" charset="2"/>
              <a:buChar char=""/>
              <a:defRPr sz="1800" kern="1200">
                <a:solidFill>
                  <a:schemeClr val="tx1"/>
                </a:solidFill>
                <a:latin typeface="+mn-lt"/>
                <a:ea typeface="+mn-ea"/>
                <a:cs typeface="+mn-cs"/>
              </a:defRPr>
            </a:lvl2pPr>
            <a:lvl3pPr marL="616744" indent="-171450" algn="l" rtl="0" eaLnBrk="0" fontAlgn="base" hangingPunct="0">
              <a:spcBef>
                <a:spcPts val="281"/>
              </a:spcBef>
              <a:spcAft>
                <a:spcPct val="0"/>
              </a:spcAft>
              <a:buClr>
                <a:srgbClr val="E6B1AB"/>
              </a:buClr>
              <a:buSzPct val="85000"/>
              <a:buFont typeface="Wingdings 2" pitchFamily="18" charset="2"/>
              <a:buChar char=""/>
              <a:defRPr sz="1500" kern="1200">
                <a:solidFill>
                  <a:schemeClr val="tx1"/>
                </a:solidFill>
                <a:latin typeface="+mn-lt"/>
                <a:ea typeface="+mn-ea"/>
                <a:cs typeface="+mn-cs"/>
              </a:defRPr>
            </a:lvl3pPr>
            <a:lvl4pPr marL="822722" indent="-171450" algn="l" rtl="0" eaLnBrk="0" fontAlgn="base" hangingPunct="0">
              <a:spcBef>
                <a:spcPts val="281"/>
              </a:spcBef>
              <a:spcAft>
                <a:spcPct val="0"/>
              </a:spcAft>
              <a:buClr>
                <a:srgbClr val="A28E6A"/>
              </a:buClr>
              <a:buSzPct val="80000"/>
              <a:buFont typeface="Wingdings 2" pitchFamily="18" charset="2"/>
              <a:buChar char=""/>
              <a:defRPr sz="1500" kern="1200">
                <a:solidFill>
                  <a:schemeClr val="tx1"/>
                </a:solidFill>
                <a:latin typeface="+mn-lt"/>
                <a:ea typeface="+mn-ea"/>
                <a:cs typeface="+mn-cs"/>
              </a:defRPr>
            </a:lvl4pPr>
            <a:lvl5pPr marL="1028700" indent="-171450" algn="l" rtl="0" eaLnBrk="0" fontAlgn="base" hangingPunct="0">
              <a:spcBef>
                <a:spcPts val="281"/>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8"/>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8"/>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8"/>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8"/>
              </a:spcBef>
              <a:buClr>
                <a:schemeClr val="accent2">
                  <a:tint val="60000"/>
                </a:schemeClr>
              </a:buClr>
              <a:buChar char="•"/>
              <a:defRPr kumimoji="0" sz="1350" kern="1200">
                <a:solidFill>
                  <a:schemeClr val="tx1"/>
                </a:solidFill>
                <a:latin typeface="+mn-lt"/>
                <a:ea typeface="+mn-ea"/>
                <a:cs typeface="+mn-cs"/>
              </a:defRPr>
            </a:lvl9pPr>
          </a:lstStyle>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public class Test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public static void main(String[] args)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int[] values = new int[5];</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for (int i = 1; i &lt; 5; i++)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values[i] = i + values[i-1];</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values[0] = values[1] + values[4];</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  }</a:t>
            </a:r>
          </a:p>
          <a:p>
            <a:pPr marL="457200" marR="0" lvl="0" indent="-457200" algn="l" defTabSz="914400" rtl="0" eaLnBrk="0" fontAlgn="base" latinLnBrk="0" hangingPunct="0">
              <a:lnSpc>
                <a:spcPct val="80000"/>
              </a:lnSpc>
              <a:spcBef>
                <a:spcPts val="431"/>
              </a:spcBef>
              <a:spcAft>
                <a:spcPct val="0"/>
              </a:spcAft>
              <a:buClr>
                <a:srgbClr val="D34817"/>
              </a:buClr>
              <a:buSzPct val="85000"/>
              <a:buFont typeface="Wingdings 2" pitchFamily="18" charset="2"/>
              <a:buNone/>
              <a:tabLst/>
              <a:defRPr/>
            </a:pPr>
            <a:r>
              <a:rPr kumimoji="0" lang="en-US" altLang="en-US" sz="1500" b="0" i="0" u="none" strike="noStrike" kern="1200" cap="none" spc="0" normalizeH="0" baseline="0" noProof="0">
                <a:ln>
                  <a:noFill/>
                </a:ln>
                <a:solidFill>
                  <a:sysClr val="windowText" lastClr="000000"/>
                </a:solidFill>
                <a:effectLst/>
                <a:uLnTx/>
                <a:uFillTx/>
                <a:latin typeface="Perpetua"/>
                <a:ea typeface="+mn-ea"/>
                <a:cs typeface="+mn-cs"/>
              </a:rPr>
              <a:t>}</a:t>
            </a:r>
            <a:endParaRPr kumimoji="0" lang="en-US" altLang="en-US" sz="1500" b="0" i="0" u="none" strike="noStrike" kern="1200" cap="none" spc="0" normalizeH="0" baseline="0" noProof="0" dirty="0">
              <a:ln>
                <a:noFill/>
              </a:ln>
              <a:solidFill>
                <a:sysClr val="windowText" lastClr="000000"/>
              </a:solidFill>
              <a:effectLst/>
              <a:uLnTx/>
              <a:uFillTx/>
              <a:latin typeface="Perpetua"/>
              <a:ea typeface="+mn-ea"/>
              <a:cs typeface="+mn-cs"/>
            </a:endParaRPr>
          </a:p>
        </p:txBody>
      </p:sp>
      <p:sp>
        <p:nvSpPr>
          <p:cNvPr id="10" name="Rectangle 5" descr="box outlining i++"/>
          <p:cNvSpPr>
            <a:spLocks noChangeArrowheads="1"/>
          </p:cNvSpPr>
          <p:nvPr/>
        </p:nvSpPr>
        <p:spPr bwMode="auto">
          <a:xfrm>
            <a:off x="2958704" y="2226469"/>
            <a:ext cx="334754" cy="168773"/>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6" name="Object 1" descr="after the fourth iteration&#10;index 0 has an element value of 0&#10;index 1 has an element value of 1&#10;index 2 has an element value of 3&#10;index 3 has an element value of 6&#10;index 4 has an element value of 10"/>
          <p:cNvGraphicFramePr>
            <a:graphicFrameLocks noChangeAspect="1"/>
          </p:cNvGraphicFramePr>
          <p:nvPr/>
        </p:nvGraphicFramePr>
        <p:xfrm>
          <a:off x="5467350" y="1419225"/>
          <a:ext cx="1582341" cy="1695450"/>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6" name="Object 1" descr="after the fourth iteration&#10;index 0 has an element value of 0&#10;index 1 has an element value of 1&#10;index 2 has an element value of 3&#10;index 3 has an element value of 6&#10;index 4 has an element value of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7350" y="1419225"/>
                        <a:ext cx="1582341" cy="169545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78360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7" name="AutoShape 4"/>
          <p:cNvSpPr>
            <a:spLocks noChangeArrowheads="1"/>
          </p:cNvSpPr>
          <p:nvPr/>
        </p:nvSpPr>
        <p:spPr bwMode="auto">
          <a:xfrm>
            <a:off x="4119658" y="1131094"/>
            <a:ext cx="3139678" cy="288131"/>
          </a:xfrm>
          <a:prstGeom prst="wedgeRoundRectCallout">
            <a:avLst>
              <a:gd name="adj1" fmla="val -84993"/>
              <a:gd name="adj2" fmla="val 334768"/>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i ( =5) &lt; 5 is false. Exit the loop</a:t>
            </a:r>
          </a:p>
        </p:txBody>
      </p:sp>
      <p:sp>
        <p:nvSpPr>
          <p:cNvPr id="11" name="Rectangle 3"/>
          <p:cNvSpPr txBox="1">
            <a:spLocks noChangeArrowheads="1"/>
          </p:cNvSpPr>
          <p:nvPr/>
        </p:nvSpPr>
        <p:spPr bwMode="auto">
          <a:xfrm>
            <a:off x="1314450" y="1485900"/>
            <a:ext cx="3257550" cy="2114550"/>
          </a:xfrm>
          <a:prstGeom prst="rect">
            <a:avLst/>
          </a:prstGeom>
          <a:noFill/>
          <a:ln w="9525">
            <a:noFill/>
            <a:miter lim="800000"/>
            <a:headEnd/>
            <a:tailEnd/>
          </a:ln>
        </p:spPr>
        <p:txBody>
          <a:bodyPr/>
          <a:lstStyle/>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public class Test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public static void main(String[] </a:t>
            </a:r>
            <a:r>
              <a:rPr lang="en-US" sz="1500" kern="1200" dirty="0" err="1">
                <a:solidFill>
                  <a:prstClr val="black"/>
                </a:solidFill>
                <a:latin typeface="Perpetua"/>
                <a:ea typeface="+mn-ea"/>
              </a:rPr>
              <a:t>args</a:t>
            </a: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a:t>
            </a:r>
            <a:r>
              <a:rPr lang="en-US" sz="1500" kern="1200" dirty="0" err="1">
                <a:solidFill>
                  <a:prstClr val="black"/>
                </a:solidFill>
                <a:latin typeface="Perpetua"/>
                <a:ea typeface="+mn-ea"/>
              </a:rPr>
              <a:t>int</a:t>
            </a:r>
            <a:r>
              <a:rPr lang="en-US" sz="1500" kern="1200" dirty="0">
                <a:solidFill>
                  <a:prstClr val="black"/>
                </a:solidFill>
                <a:latin typeface="Perpetua"/>
                <a:ea typeface="+mn-ea"/>
              </a:rPr>
              <a:t>[] values = new </a:t>
            </a:r>
            <a:r>
              <a:rPr lang="en-US" sz="1500" kern="1200" dirty="0" err="1">
                <a:solidFill>
                  <a:prstClr val="black"/>
                </a:solidFill>
                <a:latin typeface="Perpetua"/>
                <a:ea typeface="+mn-ea"/>
              </a:rPr>
              <a:t>int</a:t>
            </a:r>
            <a:r>
              <a:rPr lang="en-US" sz="1500" kern="1200" dirty="0">
                <a:solidFill>
                  <a:prstClr val="black"/>
                </a:solidFill>
                <a:latin typeface="Perpetua"/>
                <a:ea typeface="+mn-ea"/>
              </a:rPr>
              <a:t>[5];</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for (</a:t>
            </a:r>
            <a:r>
              <a:rPr lang="en-US" sz="1500" kern="1200" dirty="0" err="1">
                <a:solidFill>
                  <a:prstClr val="black"/>
                </a:solidFill>
                <a:latin typeface="Perpetua"/>
                <a:ea typeface="+mn-ea"/>
              </a:rPr>
              <a:t>int</a:t>
            </a:r>
            <a:r>
              <a:rPr lang="en-US" sz="1500" kern="1200" dirty="0">
                <a:solidFill>
                  <a:prstClr val="black"/>
                </a:solidFill>
                <a:latin typeface="Perpetua"/>
                <a:ea typeface="+mn-ea"/>
              </a:rPr>
              <a:t> </a:t>
            </a:r>
            <a:r>
              <a:rPr lang="en-US" sz="1500" kern="1200" dirty="0" err="1">
                <a:solidFill>
                  <a:prstClr val="black"/>
                </a:solidFill>
                <a:latin typeface="Perpetua"/>
                <a:ea typeface="+mn-ea"/>
              </a:rPr>
              <a:t>i</a:t>
            </a:r>
            <a:r>
              <a:rPr lang="en-US" sz="1500" kern="1200" dirty="0">
                <a:solidFill>
                  <a:prstClr val="black"/>
                </a:solidFill>
                <a:latin typeface="Perpetua"/>
                <a:ea typeface="+mn-ea"/>
              </a:rPr>
              <a:t> = 1; </a:t>
            </a:r>
            <a:r>
              <a:rPr lang="en-US" sz="1500" kern="1200" dirty="0" err="1">
                <a:solidFill>
                  <a:prstClr val="black"/>
                </a:solidFill>
                <a:latin typeface="Perpetua"/>
                <a:ea typeface="+mn-ea"/>
              </a:rPr>
              <a:t>i</a:t>
            </a:r>
            <a:r>
              <a:rPr lang="en-US" sz="1500" kern="1200" dirty="0">
                <a:solidFill>
                  <a:prstClr val="black"/>
                </a:solidFill>
                <a:latin typeface="Perpetua"/>
                <a:ea typeface="+mn-ea"/>
              </a:rPr>
              <a:t> &lt; 5; </a:t>
            </a:r>
            <a:r>
              <a:rPr lang="en-US" sz="1500" kern="1200" dirty="0" err="1">
                <a:solidFill>
                  <a:prstClr val="black"/>
                </a:solidFill>
                <a:latin typeface="Perpetua"/>
                <a:ea typeface="+mn-ea"/>
              </a:rPr>
              <a:t>i</a:t>
            </a: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values[</a:t>
            </a:r>
            <a:r>
              <a:rPr lang="en-US" sz="1500" kern="1200" dirty="0" err="1">
                <a:solidFill>
                  <a:prstClr val="black"/>
                </a:solidFill>
                <a:latin typeface="Perpetua"/>
                <a:ea typeface="+mn-ea"/>
              </a:rPr>
              <a:t>i</a:t>
            </a:r>
            <a:r>
              <a:rPr lang="en-US" sz="1500" kern="1200" dirty="0">
                <a:solidFill>
                  <a:prstClr val="black"/>
                </a:solidFill>
                <a:latin typeface="Perpetua"/>
                <a:ea typeface="+mn-ea"/>
              </a:rPr>
              <a:t>] = </a:t>
            </a:r>
            <a:r>
              <a:rPr lang="en-US" sz="1500" kern="1200" dirty="0" err="1">
                <a:solidFill>
                  <a:prstClr val="black"/>
                </a:solidFill>
                <a:latin typeface="Perpetua"/>
                <a:ea typeface="+mn-ea"/>
              </a:rPr>
              <a:t>i</a:t>
            </a:r>
            <a:r>
              <a:rPr lang="en-US" sz="1500" kern="1200" dirty="0">
                <a:solidFill>
                  <a:prstClr val="black"/>
                </a:solidFill>
                <a:latin typeface="Perpetua"/>
                <a:ea typeface="+mn-ea"/>
              </a:rPr>
              <a:t> + values[i-1];</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values[0] = values[1] + values[4];</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a:t>
            </a:r>
          </a:p>
        </p:txBody>
      </p:sp>
      <p:sp>
        <p:nvSpPr>
          <p:cNvPr id="12" name="Rectangle 5" descr="box outlining i &lt;5;"/>
          <p:cNvSpPr>
            <a:spLocks noChangeArrowheads="1"/>
          </p:cNvSpPr>
          <p:nvPr/>
        </p:nvSpPr>
        <p:spPr bwMode="auto">
          <a:xfrm>
            <a:off x="2499123" y="2196704"/>
            <a:ext cx="454470" cy="230907"/>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3" name="Object 2" descr="after the fourth iteration&#10;index 0 has an element value of 0&#10;index 1 has an element value of 1&#10;index 2 has an element value of 3&#10;index 3 has an element value of 6&#10;index 4 has an element value of 10"/>
          <p:cNvGraphicFramePr>
            <a:graphicFrameLocks noChangeAspect="1"/>
          </p:cNvGraphicFramePr>
          <p:nvPr/>
        </p:nvGraphicFramePr>
        <p:xfrm>
          <a:off x="5467350" y="1419225"/>
          <a:ext cx="1582341" cy="1695450"/>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3" name="Object 2" descr="after the fourth iteration&#10;index 0 has an element value of 0&#10;index 1 has an element value of 1&#10;index 2 has an element value of 3&#10;index 3 has an element value of 6&#10;index 4 has an element value of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7350" y="1419225"/>
                        <a:ext cx="1582341" cy="169545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981207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8" name="AutoShape 4"/>
          <p:cNvSpPr>
            <a:spLocks noChangeArrowheads="1"/>
          </p:cNvSpPr>
          <p:nvPr/>
        </p:nvSpPr>
        <p:spPr bwMode="auto">
          <a:xfrm>
            <a:off x="4471392" y="1234418"/>
            <a:ext cx="3139678" cy="288131"/>
          </a:xfrm>
          <a:prstGeom prst="wedgeRoundRectCallout">
            <a:avLst>
              <a:gd name="adj1" fmla="val -73396"/>
              <a:gd name="adj2" fmla="val 542794"/>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After this line, values[0] is 11 (1 + 10)</a:t>
            </a:r>
          </a:p>
        </p:txBody>
      </p:sp>
      <p:sp>
        <p:nvSpPr>
          <p:cNvPr id="9" name="Rectangle 3"/>
          <p:cNvSpPr txBox="1">
            <a:spLocks noChangeArrowheads="1"/>
          </p:cNvSpPr>
          <p:nvPr/>
        </p:nvSpPr>
        <p:spPr bwMode="auto">
          <a:xfrm>
            <a:off x="1314450" y="1485900"/>
            <a:ext cx="3257550" cy="2114550"/>
          </a:xfrm>
          <a:prstGeom prst="rect">
            <a:avLst/>
          </a:prstGeom>
          <a:noFill/>
          <a:ln w="9525">
            <a:noFill/>
            <a:miter lim="800000"/>
            <a:headEnd/>
            <a:tailEnd/>
          </a:ln>
        </p:spPr>
        <p:txBody>
          <a:bodyPr/>
          <a:lstStyle/>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public class Test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public static void main(String[] </a:t>
            </a:r>
            <a:r>
              <a:rPr lang="en-US" sz="1500" kern="1200" dirty="0" err="1">
                <a:solidFill>
                  <a:prstClr val="black"/>
                </a:solidFill>
                <a:latin typeface="Perpetua"/>
                <a:ea typeface="+mn-ea"/>
              </a:rPr>
              <a:t>args</a:t>
            </a: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a:t>
            </a:r>
            <a:r>
              <a:rPr lang="en-US" sz="1500" kern="1200" dirty="0" err="1">
                <a:solidFill>
                  <a:prstClr val="black"/>
                </a:solidFill>
                <a:latin typeface="Perpetua"/>
                <a:ea typeface="+mn-ea"/>
              </a:rPr>
              <a:t>int</a:t>
            </a:r>
            <a:r>
              <a:rPr lang="en-US" sz="1500" kern="1200" dirty="0">
                <a:solidFill>
                  <a:prstClr val="black"/>
                </a:solidFill>
                <a:latin typeface="Perpetua"/>
                <a:ea typeface="+mn-ea"/>
              </a:rPr>
              <a:t>[] values = new </a:t>
            </a:r>
            <a:r>
              <a:rPr lang="en-US" sz="1500" kern="1200" dirty="0" err="1">
                <a:solidFill>
                  <a:prstClr val="black"/>
                </a:solidFill>
                <a:latin typeface="Perpetua"/>
                <a:ea typeface="+mn-ea"/>
              </a:rPr>
              <a:t>int</a:t>
            </a:r>
            <a:r>
              <a:rPr lang="en-US" sz="1500" kern="1200" dirty="0">
                <a:solidFill>
                  <a:prstClr val="black"/>
                </a:solidFill>
                <a:latin typeface="Perpetua"/>
                <a:ea typeface="+mn-ea"/>
              </a:rPr>
              <a:t>[5];</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for (</a:t>
            </a:r>
            <a:r>
              <a:rPr lang="en-US" sz="1500" kern="1200" dirty="0" err="1">
                <a:solidFill>
                  <a:prstClr val="black"/>
                </a:solidFill>
                <a:latin typeface="Perpetua"/>
                <a:ea typeface="+mn-ea"/>
              </a:rPr>
              <a:t>int</a:t>
            </a:r>
            <a:r>
              <a:rPr lang="en-US" sz="1500" kern="1200" dirty="0">
                <a:solidFill>
                  <a:prstClr val="black"/>
                </a:solidFill>
                <a:latin typeface="Perpetua"/>
                <a:ea typeface="+mn-ea"/>
              </a:rPr>
              <a:t> </a:t>
            </a:r>
            <a:r>
              <a:rPr lang="en-US" sz="1500" kern="1200" dirty="0" err="1">
                <a:solidFill>
                  <a:prstClr val="black"/>
                </a:solidFill>
                <a:latin typeface="Perpetua"/>
                <a:ea typeface="+mn-ea"/>
              </a:rPr>
              <a:t>i</a:t>
            </a:r>
            <a:r>
              <a:rPr lang="en-US" sz="1500" kern="1200" dirty="0">
                <a:solidFill>
                  <a:prstClr val="black"/>
                </a:solidFill>
                <a:latin typeface="Perpetua"/>
                <a:ea typeface="+mn-ea"/>
              </a:rPr>
              <a:t> = 1; </a:t>
            </a:r>
            <a:r>
              <a:rPr lang="en-US" sz="1500" kern="1200" dirty="0" err="1">
                <a:solidFill>
                  <a:prstClr val="black"/>
                </a:solidFill>
                <a:latin typeface="Perpetua"/>
                <a:ea typeface="+mn-ea"/>
              </a:rPr>
              <a:t>i</a:t>
            </a:r>
            <a:r>
              <a:rPr lang="en-US" sz="1500" kern="1200" dirty="0">
                <a:solidFill>
                  <a:prstClr val="black"/>
                </a:solidFill>
                <a:latin typeface="Perpetua"/>
                <a:ea typeface="+mn-ea"/>
              </a:rPr>
              <a:t> &lt; 5; </a:t>
            </a:r>
            <a:r>
              <a:rPr lang="en-US" sz="1500" kern="1200" dirty="0" err="1">
                <a:solidFill>
                  <a:prstClr val="black"/>
                </a:solidFill>
                <a:latin typeface="Perpetua"/>
                <a:ea typeface="+mn-ea"/>
              </a:rPr>
              <a:t>i</a:t>
            </a: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values[</a:t>
            </a:r>
            <a:r>
              <a:rPr lang="en-US" sz="1500" kern="1200" dirty="0" err="1">
                <a:solidFill>
                  <a:prstClr val="black"/>
                </a:solidFill>
                <a:latin typeface="Perpetua"/>
                <a:ea typeface="+mn-ea"/>
              </a:rPr>
              <a:t>i</a:t>
            </a:r>
            <a:r>
              <a:rPr lang="en-US" sz="1500" kern="1200" dirty="0">
                <a:solidFill>
                  <a:prstClr val="black"/>
                </a:solidFill>
                <a:latin typeface="Perpetua"/>
                <a:ea typeface="+mn-ea"/>
              </a:rPr>
              <a:t>] = </a:t>
            </a:r>
            <a:r>
              <a:rPr lang="en-US" sz="1500" kern="1200" dirty="0" err="1">
                <a:solidFill>
                  <a:prstClr val="black"/>
                </a:solidFill>
                <a:latin typeface="Perpetua"/>
                <a:ea typeface="+mn-ea"/>
              </a:rPr>
              <a:t>i</a:t>
            </a:r>
            <a:r>
              <a:rPr lang="en-US" sz="1500" kern="1200" dirty="0">
                <a:solidFill>
                  <a:prstClr val="black"/>
                </a:solidFill>
                <a:latin typeface="Perpetua"/>
                <a:ea typeface="+mn-ea"/>
              </a:rPr>
              <a:t> + values[i-1];</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values[0] = values[1] + values[4];</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a:t>
            </a:r>
          </a:p>
        </p:txBody>
      </p:sp>
      <p:sp>
        <p:nvSpPr>
          <p:cNvPr id="10" name="Rectangle 5" descr="box outlining values[0] = values[1] + values[4];"/>
          <p:cNvSpPr>
            <a:spLocks noChangeArrowheads="1"/>
          </p:cNvSpPr>
          <p:nvPr/>
        </p:nvSpPr>
        <p:spPr bwMode="auto">
          <a:xfrm>
            <a:off x="1547813" y="2946798"/>
            <a:ext cx="2620566"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4" name="Object 2" descr="index 0 has an element value of 11&#10;index 1 has an element value of 1&#10;index 2 has an element value of 3&#10;index 3 has an element value of 6&#10;index 4 has an element value of 10"/>
          <p:cNvGraphicFramePr>
            <a:graphicFrameLocks noChangeAspect="1"/>
          </p:cNvGraphicFramePr>
          <p:nvPr/>
        </p:nvGraphicFramePr>
        <p:xfrm>
          <a:off x="5522119" y="1563291"/>
          <a:ext cx="1718072" cy="184427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4" name="Object 2" descr="index 0 has an element value of 11&#10;index 1 has an element value of 1&#10;index 2 has an element value of 3&#10;index 3 has an element value of 6&#10;index 4 has an element value of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119" y="1563291"/>
                        <a:ext cx="1718072" cy="184427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Line 9" descr="an arrow pointing from values[0] = values[1] + values[4]; to index 0 with the element value of 11"/>
          <p:cNvSpPr>
            <a:spLocks noChangeShapeType="1"/>
          </p:cNvSpPr>
          <p:nvPr/>
        </p:nvSpPr>
        <p:spPr bwMode="auto">
          <a:xfrm flipV="1">
            <a:off x="4168379" y="2283619"/>
            <a:ext cx="1844278" cy="720329"/>
          </a:xfrm>
          <a:prstGeom prst="line">
            <a:avLst/>
          </a:prstGeom>
          <a:noFill/>
          <a:ln w="508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endParaRPr>
          </a:p>
        </p:txBody>
      </p:sp>
      <p:sp>
        <p:nvSpPr>
          <p:cNvPr id="16" name="Rectangle 10" descr="box outlining index 0 with an element value of 11"/>
          <p:cNvSpPr>
            <a:spLocks noChangeArrowheads="1"/>
          </p:cNvSpPr>
          <p:nvPr/>
        </p:nvSpPr>
        <p:spPr bwMode="auto">
          <a:xfrm>
            <a:off x="6041231" y="2196704"/>
            <a:ext cx="576263"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spTree>
    <p:extLst>
      <p:ext uri="{BB962C8B-B14F-4D97-AF65-F5344CB8AC3E}">
        <p14:creationId xmlns:p14="http://schemas.microsoft.com/office/powerpoint/2010/main" val="29350519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2500" b="1" dirty="0"/>
              <a:t>Trace Program with Arrays</a:t>
            </a:r>
            <a:endParaRPr lang="en-US" sz="2500" b="1" dirty="0"/>
          </a:p>
        </p:txBody>
      </p:sp>
      <p:sp>
        <p:nvSpPr>
          <p:cNvPr id="11" name="AutoShape 4"/>
          <p:cNvSpPr>
            <a:spLocks noChangeArrowheads="1"/>
          </p:cNvSpPr>
          <p:nvPr/>
        </p:nvSpPr>
        <p:spPr bwMode="auto">
          <a:xfrm>
            <a:off x="4888393" y="1281122"/>
            <a:ext cx="3139678" cy="288131"/>
          </a:xfrm>
          <a:prstGeom prst="wedgeRoundRectCallout">
            <a:avLst>
              <a:gd name="adj1" fmla="val -79581"/>
              <a:gd name="adj2" fmla="val 506284"/>
              <a:gd name="adj3" fmla="val 16667"/>
            </a:avLst>
          </a:prstGeom>
          <a:noFill/>
          <a:ln w="12700">
            <a:solidFill>
              <a:sysClr val="windowText" lastClr="000000"/>
            </a:solidFill>
            <a:miter lim="800000"/>
            <a:headEnd type="none" w="sm" len="sm"/>
            <a:tailEnd type="none" w="sm" len="sm"/>
          </a:ln>
        </p:spPr>
        <p:txBody>
          <a:bodyP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1350" b="0" i="0" u="none" strike="noStrike" kern="1200" cap="none" spc="0" normalizeH="0" baseline="0" noProof="0">
                <a:ln>
                  <a:noFill/>
                </a:ln>
                <a:solidFill>
                  <a:prstClr val="black"/>
                </a:solidFill>
                <a:effectLst/>
                <a:uLnTx/>
                <a:uFillTx/>
                <a:latin typeface="Times New Roman" pitchFamily="16" charset="0"/>
                <a:ea typeface="+mn-ea"/>
              </a:rPr>
              <a:t>After this line, values[0] is 11 (1 + 10)</a:t>
            </a:r>
          </a:p>
        </p:txBody>
      </p:sp>
      <p:sp>
        <p:nvSpPr>
          <p:cNvPr id="12" name="Rectangle 3"/>
          <p:cNvSpPr txBox="1">
            <a:spLocks noChangeArrowheads="1"/>
          </p:cNvSpPr>
          <p:nvPr/>
        </p:nvSpPr>
        <p:spPr bwMode="auto">
          <a:xfrm>
            <a:off x="1314450" y="1485900"/>
            <a:ext cx="3257550" cy="2114550"/>
          </a:xfrm>
          <a:prstGeom prst="rect">
            <a:avLst/>
          </a:prstGeom>
          <a:noFill/>
          <a:ln w="9525">
            <a:noFill/>
            <a:miter lim="800000"/>
            <a:headEnd/>
            <a:tailEnd/>
          </a:ln>
        </p:spPr>
        <p:txBody>
          <a:bodyPr lIns="91440" tIns="45720" rIns="91440" bIns="45720" anchor="t"/>
          <a:lstStyle/>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public class Test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public static void main(String[] </a:t>
            </a:r>
            <a:r>
              <a:rPr lang="en-US" sz="1500" kern="1200" dirty="0" err="1">
                <a:solidFill>
                  <a:prstClr val="black"/>
                </a:solidFill>
                <a:latin typeface="Perpetua"/>
                <a:ea typeface="+mn-ea"/>
              </a:rPr>
              <a:t>args</a:t>
            </a: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latin typeface="Perpetua"/>
                <a:ea typeface="+mn-ea"/>
              </a:rPr>
              <a:t>    int[] values = new int[5];</a:t>
            </a:r>
          </a:p>
          <a:p>
            <a:pPr marL="457200" indent="-457200" eaLnBrk="0" fontAlgn="base" hangingPunct="0">
              <a:lnSpc>
                <a:spcPct val="80000"/>
              </a:lnSpc>
              <a:spcBef>
                <a:spcPts val="431"/>
              </a:spcBef>
              <a:spcAft>
                <a:spcPct val="0"/>
              </a:spcAft>
              <a:buClr>
                <a:srgbClr val="D34817"/>
              </a:buClr>
              <a:buSzPct val="85000"/>
              <a:defRPr/>
            </a:pPr>
            <a:r>
              <a:rPr lang="en-US" sz="1500" kern="1200" dirty="0">
                <a:latin typeface="Perpetua"/>
                <a:ea typeface="+mn-ea"/>
              </a:rPr>
              <a:t>    for (int </a:t>
            </a:r>
            <a:r>
              <a:rPr lang="en-US" sz="1500" kern="1200" dirty="0" err="1">
                <a:latin typeface="Perpetua"/>
                <a:ea typeface="+mn-ea"/>
              </a:rPr>
              <a:t>i</a:t>
            </a:r>
            <a:r>
              <a:rPr lang="en-US" sz="1500" kern="1200" dirty="0">
                <a:latin typeface="Perpetua"/>
                <a:ea typeface="+mn-ea"/>
              </a:rPr>
              <a:t> = 1; </a:t>
            </a:r>
            <a:r>
              <a:rPr lang="en-US" sz="1500" kern="1200" dirty="0" err="1">
                <a:latin typeface="Perpetua"/>
                <a:ea typeface="+mn-ea"/>
              </a:rPr>
              <a:t>i</a:t>
            </a:r>
            <a:r>
              <a:rPr lang="en-US" sz="1500" kern="1200" dirty="0">
                <a:latin typeface="Perpetua"/>
                <a:ea typeface="+mn-ea"/>
              </a:rPr>
              <a:t> &lt; </a:t>
            </a:r>
            <a:r>
              <a:rPr lang="en-US" sz="1500" b="1" kern="1200" dirty="0" err="1">
                <a:solidFill>
                  <a:schemeClr val="tx1"/>
                </a:solidFill>
                <a:latin typeface="Perpetua"/>
                <a:ea typeface="+mn-ea"/>
              </a:rPr>
              <a:t>values.length</a:t>
            </a:r>
            <a:r>
              <a:rPr lang="en-US" sz="1500" kern="1200" dirty="0">
                <a:latin typeface="Perpetua"/>
                <a:ea typeface="+mn-ea"/>
              </a:rPr>
              <a:t>; </a:t>
            </a:r>
            <a:r>
              <a:rPr lang="en-US" sz="1500" kern="1200" dirty="0" err="1">
                <a:latin typeface="Perpetua"/>
                <a:ea typeface="+mn-ea"/>
              </a:rPr>
              <a:t>i</a:t>
            </a:r>
            <a:r>
              <a:rPr lang="en-US" sz="1500" kern="1200" dirty="0">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values[</a:t>
            </a:r>
            <a:r>
              <a:rPr lang="en-US" sz="1500" kern="1200" dirty="0" err="1">
                <a:solidFill>
                  <a:prstClr val="black"/>
                </a:solidFill>
                <a:latin typeface="Perpetua"/>
                <a:ea typeface="+mn-ea"/>
              </a:rPr>
              <a:t>i</a:t>
            </a:r>
            <a:r>
              <a:rPr lang="en-US" sz="1500" kern="1200" dirty="0">
                <a:solidFill>
                  <a:prstClr val="black"/>
                </a:solidFill>
                <a:latin typeface="Perpetua"/>
                <a:ea typeface="+mn-ea"/>
              </a:rPr>
              <a:t>] = </a:t>
            </a:r>
            <a:r>
              <a:rPr lang="en-US" sz="1500" kern="1200" dirty="0" err="1">
                <a:solidFill>
                  <a:prstClr val="black"/>
                </a:solidFill>
                <a:latin typeface="Perpetua"/>
                <a:ea typeface="+mn-ea"/>
              </a:rPr>
              <a:t>i</a:t>
            </a:r>
            <a:r>
              <a:rPr lang="en-US" sz="1500" kern="1200" dirty="0">
                <a:solidFill>
                  <a:prstClr val="black"/>
                </a:solidFill>
                <a:latin typeface="Perpetua"/>
                <a:ea typeface="+mn-ea"/>
              </a:rPr>
              <a:t> + values[i-1];</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latin typeface="Perpetua"/>
                <a:ea typeface="+mn-ea"/>
              </a:rPr>
              <a:t>    </a:t>
            </a:r>
            <a:r>
              <a:rPr lang="en-US" sz="1500" kern="1200" dirty="0">
                <a:solidFill>
                  <a:schemeClr val="tx1"/>
                </a:solidFill>
                <a:latin typeface="Perpetua"/>
                <a:ea typeface="+mn-ea"/>
              </a:rPr>
              <a:t>values[0] = values[1] + values[4];</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  }</a:t>
            </a:r>
          </a:p>
          <a:p>
            <a:pPr marL="457200" indent="-457200" eaLnBrk="0" fontAlgn="base" hangingPunct="0">
              <a:lnSpc>
                <a:spcPct val="80000"/>
              </a:lnSpc>
              <a:spcBef>
                <a:spcPts val="431"/>
              </a:spcBef>
              <a:spcAft>
                <a:spcPct val="0"/>
              </a:spcAft>
              <a:buClr>
                <a:srgbClr val="D34817"/>
              </a:buClr>
              <a:buSzPct val="85000"/>
              <a:defRPr/>
            </a:pPr>
            <a:r>
              <a:rPr lang="en-US" sz="1500" kern="1200" dirty="0">
                <a:solidFill>
                  <a:prstClr val="black"/>
                </a:solidFill>
                <a:latin typeface="Perpetua"/>
                <a:ea typeface="+mn-ea"/>
              </a:rPr>
              <a:t>}</a:t>
            </a:r>
          </a:p>
        </p:txBody>
      </p:sp>
      <p:sp>
        <p:nvSpPr>
          <p:cNvPr id="13" name="Rectangle 5" descr="box outlining values[0] = values[1] + values[4];"/>
          <p:cNvSpPr>
            <a:spLocks noChangeArrowheads="1"/>
          </p:cNvSpPr>
          <p:nvPr/>
        </p:nvSpPr>
        <p:spPr bwMode="auto">
          <a:xfrm>
            <a:off x="1483115" y="2925232"/>
            <a:ext cx="2620566"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graphicFrame>
        <p:nvGraphicFramePr>
          <p:cNvPr id="16" name="Object 2" descr="index 0 has an element value of 11&#10;index 1 has an element value of 1&#10;index 2 has an element value of 3&#10;index 3 has an element value of 6&#10;index 4 has an element value of 10"/>
          <p:cNvGraphicFramePr>
            <a:graphicFrameLocks noChangeAspect="1"/>
          </p:cNvGraphicFramePr>
          <p:nvPr/>
        </p:nvGraphicFramePr>
        <p:xfrm>
          <a:off x="5522119" y="1563291"/>
          <a:ext cx="1718072" cy="1844278"/>
        </p:xfrm>
        <a:graphic>
          <a:graphicData uri="http://schemas.openxmlformats.org/presentationml/2006/ole">
            <mc:AlternateContent xmlns:mc="http://schemas.openxmlformats.org/markup-compatibility/2006">
              <mc:Choice xmlns:v="urn:schemas-microsoft-com:vml" Requires="v">
                <p:oleObj name="Picture" r:id="rId2" imgW="1601724" imgH="1712976" progId="Word.Picture.8">
                  <p:embed/>
                </p:oleObj>
              </mc:Choice>
              <mc:Fallback>
                <p:oleObj name="Picture" r:id="rId2" imgW="1601724" imgH="1712976" progId="Word.Picture.8">
                  <p:embed/>
                  <p:pic>
                    <p:nvPicPr>
                      <p:cNvPr id="16" name="Object 2" descr="index 0 has an element value of 11&#10;index 1 has an element value of 1&#10;index 2 has an element value of 3&#10;index 3 has an element value of 6&#10;index 4 has an element value of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2119" y="1563291"/>
                        <a:ext cx="1718072" cy="1844278"/>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Line 9" descr="an arrow pointing from values[0] = values[1] + values[4]; to index 0 with the element value of 11"/>
          <p:cNvSpPr>
            <a:spLocks noChangeShapeType="1"/>
          </p:cNvSpPr>
          <p:nvPr/>
        </p:nvSpPr>
        <p:spPr bwMode="auto">
          <a:xfrm flipV="1">
            <a:off x="4168379" y="2283619"/>
            <a:ext cx="1844278" cy="720329"/>
          </a:xfrm>
          <a:prstGeom prst="line">
            <a:avLst/>
          </a:prstGeom>
          <a:noFill/>
          <a:ln w="508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endParaRPr>
          </a:p>
        </p:txBody>
      </p:sp>
      <p:sp>
        <p:nvSpPr>
          <p:cNvPr id="18" name="Rectangle 10" descr="box outlining index 0 with an element value of 11"/>
          <p:cNvSpPr>
            <a:spLocks noChangeArrowheads="1"/>
          </p:cNvSpPr>
          <p:nvPr/>
        </p:nvSpPr>
        <p:spPr bwMode="auto">
          <a:xfrm>
            <a:off x="6041231" y="2196704"/>
            <a:ext cx="576263" cy="201215"/>
          </a:xfrm>
          <a:prstGeom prst="rect">
            <a:avLst/>
          </a:prstGeom>
          <a:noFill/>
          <a:ln w="12700">
            <a:solidFill>
              <a:sysClr val="windowText" lastClr="000000"/>
            </a:solidFill>
            <a:miter lim="800000"/>
            <a:headEnd type="none" w="sm" len="sm"/>
            <a:tailEnd type="none" w="sm" len="sm"/>
          </a:ln>
        </p:spPr>
        <p:txBody>
          <a:bodyPr wrap="none" anchor="ctr"/>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altLang="en-US" sz="1200" b="0" i="0" u="none" strike="noStrike" kern="1200" cap="none" spc="0" normalizeH="0" baseline="0" noProof="0">
              <a:ln>
                <a:noFill/>
              </a:ln>
              <a:solidFill>
                <a:prstClr val="black"/>
              </a:solidFill>
              <a:effectLst/>
              <a:uLnTx/>
              <a:uFillTx/>
              <a:latin typeface="Times New Roman" pitchFamily="16" charset="0"/>
              <a:ea typeface="+mn-ea"/>
            </a:endParaRPr>
          </a:p>
        </p:txBody>
      </p:sp>
    </p:spTree>
    <p:extLst>
      <p:ext uri="{BB962C8B-B14F-4D97-AF65-F5344CB8AC3E}">
        <p14:creationId xmlns:p14="http://schemas.microsoft.com/office/powerpoint/2010/main" val="778269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Times New Roman" pitchFamily="16" charset="0"/>
              </a:rPr>
              <a:t>Initializing arrays with input values</a:t>
            </a:r>
            <a:endParaRPr lang="en-US" b="1" dirty="0"/>
          </a:p>
        </p:txBody>
      </p:sp>
      <p:sp>
        <p:nvSpPr>
          <p:cNvPr id="3" name="Text Placeholder 2"/>
          <p:cNvSpPr>
            <a:spLocks noGrp="1"/>
          </p:cNvSpPr>
          <p:nvPr>
            <p:ph type="body" idx="1"/>
          </p:nvPr>
        </p:nvSpPr>
        <p:spPr/>
        <p:txBody>
          <a:bodyPr/>
          <a:lstStyle/>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double[] </a:t>
            </a:r>
            <a:r>
              <a:rPr lang="en-US" altLang="en-US" b="1" dirty="0" err="1">
                <a:solidFill>
                  <a:schemeClr val="tx1"/>
                </a:solidFill>
                <a:latin typeface="Courier New" pitchFamily="49" charset="0"/>
                <a:cs typeface="Courier New" pitchFamily="49" charset="0"/>
              </a:rPr>
              <a:t>myList</a:t>
            </a:r>
            <a:r>
              <a:rPr lang="en-US" altLang="en-US" b="1" dirty="0">
                <a:solidFill>
                  <a:schemeClr val="tx1"/>
                </a:solidFill>
                <a:latin typeface="Courier New" pitchFamily="49" charset="0"/>
                <a:cs typeface="Courier New" pitchFamily="49" charset="0"/>
              </a:rPr>
              <a:t> = new double[10]; </a:t>
            </a:r>
          </a:p>
          <a:p>
            <a:pPr indent="-457200">
              <a:lnSpc>
                <a:spcPct val="80000"/>
              </a:lnSpc>
              <a:spcBef>
                <a:spcPts val="900"/>
              </a:spcBef>
              <a:spcAft>
                <a:spcPts val="450"/>
              </a:spcAft>
              <a:buNone/>
            </a:pPr>
            <a:r>
              <a:rPr lang="en-US" altLang="en-US" b="1" dirty="0">
                <a:latin typeface="Courier New" pitchFamily="49" charset="0"/>
                <a:cs typeface="Courier New" pitchFamily="49" charset="0"/>
              </a:rPr>
              <a:t>Scanner input = new Scanner(System.in);</a:t>
            </a:r>
          </a:p>
          <a:p>
            <a:pPr indent="-457200">
              <a:lnSpc>
                <a:spcPct val="80000"/>
              </a:lnSpc>
              <a:spcBef>
                <a:spcPts val="900"/>
              </a:spcBef>
              <a:spcAft>
                <a:spcPts val="450"/>
              </a:spcAft>
              <a:buNone/>
            </a:pPr>
            <a:r>
              <a:rPr lang="en-US" altLang="en-US" b="1" dirty="0" err="1">
                <a:latin typeface="Courier New" pitchFamily="49" charset="0"/>
                <a:cs typeface="Courier New" pitchFamily="49" charset="0"/>
              </a:rPr>
              <a:t>System.out.print</a:t>
            </a:r>
            <a:r>
              <a:rPr lang="en-US" altLang="en-US" b="1" dirty="0">
                <a:latin typeface="Courier New" pitchFamily="49" charset="0"/>
                <a:cs typeface="Courier New" pitchFamily="49" charset="0"/>
              </a:rPr>
              <a:t>("Enter " + </a:t>
            </a:r>
            <a:r>
              <a:rPr lang="en-US" altLang="en-US" b="1" dirty="0" err="1">
                <a:latin typeface="Courier New" pitchFamily="49" charset="0"/>
                <a:cs typeface="Courier New" pitchFamily="49" charset="0"/>
              </a:rPr>
              <a:t>myList.length</a:t>
            </a:r>
            <a:r>
              <a:rPr lang="en-US" altLang="en-US" b="1" dirty="0">
                <a:latin typeface="Courier New" pitchFamily="49" charset="0"/>
                <a:cs typeface="Courier New" pitchFamily="49" charset="0"/>
              </a:rPr>
              <a:t> + " values: ");</a:t>
            </a:r>
          </a:p>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for (</a:t>
            </a:r>
            <a:r>
              <a:rPr lang="en-US" altLang="en-US" b="1" dirty="0" err="1">
                <a:solidFill>
                  <a:schemeClr val="tx1"/>
                </a:solidFill>
                <a:latin typeface="Courier New" pitchFamily="49" charset="0"/>
                <a:cs typeface="Courier New" pitchFamily="49" charset="0"/>
              </a:rPr>
              <a:t>int</a:t>
            </a:r>
            <a:r>
              <a:rPr lang="en-US" altLang="en-US" b="1" dirty="0">
                <a:solidFill>
                  <a:schemeClr val="tx1"/>
                </a:solidFill>
                <a:latin typeface="Courier New" pitchFamily="49" charset="0"/>
                <a:cs typeface="Courier New" pitchFamily="49" charset="0"/>
              </a:rPr>
              <a:t> </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 = 0; </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 &lt; </a:t>
            </a:r>
            <a:r>
              <a:rPr lang="en-US" altLang="en-US" b="1" dirty="0" err="1">
                <a:solidFill>
                  <a:schemeClr val="tx1"/>
                </a:solidFill>
                <a:latin typeface="Courier New" pitchFamily="49" charset="0"/>
                <a:cs typeface="Courier New" pitchFamily="49" charset="0"/>
              </a:rPr>
              <a:t>myList.length</a:t>
            </a:r>
            <a:r>
              <a:rPr lang="en-US" altLang="en-US" b="1" dirty="0">
                <a:solidFill>
                  <a:schemeClr val="tx1"/>
                </a:solidFill>
                <a:latin typeface="Courier New" pitchFamily="49" charset="0"/>
                <a:cs typeface="Courier New" pitchFamily="49" charset="0"/>
              </a:rPr>
              <a:t>; </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 </a:t>
            </a:r>
          </a:p>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       </a:t>
            </a:r>
            <a:r>
              <a:rPr lang="en-US" altLang="en-US" b="1" dirty="0" err="1">
                <a:solidFill>
                  <a:schemeClr val="tx1"/>
                </a:solidFill>
                <a:latin typeface="Courier New" pitchFamily="49" charset="0"/>
                <a:cs typeface="Courier New" pitchFamily="49" charset="0"/>
              </a:rPr>
              <a:t>myList</a:t>
            </a:r>
            <a:r>
              <a:rPr lang="en-US" altLang="en-US" b="1" dirty="0">
                <a:solidFill>
                  <a:schemeClr val="tx1"/>
                </a:solidFill>
                <a:latin typeface="Courier New" pitchFamily="49" charset="0"/>
                <a:cs typeface="Courier New" pitchFamily="49" charset="0"/>
              </a:rPr>
              <a:t>[</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 = </a:t>
            </a:r>
            <a:r>
              <a:rPr lang="en-US" altLang="en-US" b="1" dirty="0" err="1">
                <a:solidFill>
                  <a:schemeClr val="tx1"/>
                </a:solidFill>
                <a:latin typeface="Courier New" pitchFamily="49" charset="0"/>
                <a:cs typeface="Courier New" pitchFamily="49" charset="0"/>
              </a:rPr>
              <a:t>input.nextDouble</a:t>
            </a:r>
            <a:r>
              <a:rPr lang="en-US" altLang="en-US" b="1" dirty="0">
                <a:solidFill>
                  <a:schemeClr val="tx1"/>
                </a:solidFill>
                <a:latin typeface="Courier New" pitchFamily="49" charset="0"/>
                <a:cs typeface="Courier New" pitchFamily="49" charset="0"/>
              </a:rPr>
              <a:t>();</a:t>
            </a:r>
          </a:p>
        </p:txBody>
      </p:sp>
    </p:spTree>
    <p:extLst>
      <p:ext uri="{BB962C8B-B14F-4D97-AF65-F5344CB8AC3E}">
        <p14:creationId xmlns:p14="http://schemas.microsoft.com/office/powerpoint/2010/main" val="758781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Times New Roman" pitchFamily="16" charset="0"/>
              </a:rPr>
              <a:t>Initializing arrays with random values</a:t>
            </a:r>
            <a:endParaRPr lang="en-US" b="1" dirty="0"/>
          </a:p>
        </p:txBody>
      </p:sp>
      <p:sp>
        <p:nvSpPr>
          <p:cNvPr id="3" name="Text Placeholder 2"/>
          <p:cNvSpPr>
            <a:spLocks noGrp="1"/>
          </p:cNvSpPr>
          <p:nvPr>
            <p:ph type="body" idx="1"/>
          </p:nvPr>
        </p:nvSpPr>
        <p:spPr/>
        <p:txBody>
          <a:bodyPr/>
          <a:lstStyle/>
          <a:p>
            <a:pPr indent="-457200">
              <a:lnSpc>
                <a:spcPct val="80000"/>
              </a:lnSpc>
              <a:spcBef>
                <a:spcPts val="900"/>
              </a:spcBef>
              <a:spcAft>
                <a:spcPts val="450"/>
              </a:spcAft>
              <a:buNone/>
            </a:pPr>
            <a:r>
              <a:rPr lang="en-US" altLang="en-US" b="1" dirty="0">
                <a:latin typeface="Courier New" pitchFamily="49" charset="0"/>
                <a:cs typeface="Courier New" pitchFamily="49" charset="0"/>
              </a:rPr>
              <a:t>double[] </a:t>
            </a:r>
            <a:r>
              <a:rPr lang="en-US" altLang="en-US" b="1" dirty="0" err="1">
                <a:latin typeface="Courier New" pitchFamily="49" charset="0"/>
                <a:cs typeface="Courier New" pitchFamily="49" charset="0"/>
              </a:rPr>
              <a:t>myList</a:t>
            </a:r>
            <a:r>
              <a:rPr lang="en-US" altLang="en-US" b="1" dirty="0">
                <a:latin typeface="Courier New" pitchFamily="49" charset="0"/>
                <a:cs typeface="Courier New" pitchFamily="49" charset="0"/>
              </a:rPr>
              <a:t> = new double[10]; </a:t>
            </a:r>
          </a:p>
          <a:p>
            <a:pPr indent="-457200">
              <a:lnSpc>
                <a:spcPct val="80000"/>
              </a:lnSpc>
              <a:spcBef>
                <a:spcPts val="900"/>
              </a:spcBef>
              <a:spcAft>
                <a:spcPts val="450"/>
              </a:spcAft>
              <a:buNone/>
            </a:pPr>
            <a:r>
              <a:rPr lang="en-US" altLang="en-US" b="1" dirty="0">
                <a:latin typeface="Courier New" pitchFamily="49" charset="0"/>
                <a:cs typeface="Courier New" pitchFamily="49" charset="0"/>
              </a:rPr>
              <a:t>for(</a:t>
            </a:r>
            <a:r>
              <a:rPr lang="en-US" altLang="en-US" b="1" dirty="0" err="1">
                <a:latin typeface="Courier New" pitchFamily="49" charset="0"/>
                <a:cs typeface="Courier New" pitchFamily="49" charset="0"/>
              </a:rPr>
              <a:t>int</a:t>
            </a: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i</a:t>
            </a:r>
            <a:r>
              <a:rPr lang="en-US" altLang="en-US" b="1" dirty="0">
                <a:latin typeface="Courier New" pitchFamily="49" charset="0"/>
                <a:cs typeface="Courier New" pitchFamily="49" charset="0"/>
              </a:rPr>
              <a:t> = 0; </a:t>
            </a:r>
            <a:r>
              <a:rPr lang="en-US" altLang="en-US" b="1" dirty="0" err="1">
                <a:latin typeface="Courier New" pitchFamily="49" charset="0"/>
                <a:cs typeface="Courier New" pitchFamily="49" charset="0"/>
              </a:rPr>
              <a:t>i</a:t>
            </a:r>
            <a:r>
              <a:rPr lang="en-US" altLang="en-US" b="1" dirty="0">
                <a:latin typeface="Courier New" pitchFamily="49" charset="0"/>
                <a:cs typeface="Courier New" pitchFamily="49" charset="0"/>
              </a:rPr>
              <a:t> &lt; </a:t>
            </a:r>
            <a:r>
              <a:rPr lang="en-US" altLang="en-US" b="1" dirty="0" err="1">
                <a:latin typeface="Courier New" pitchFamily="49" charset="0"/>
                <a:cs typeface="Courier New" pitchFamily="49" charset="0"/>
              </a:rPr>
              <a:t>myList.length</a:t>
            </a: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i</a:t>
            </a:r>
            <a:r>
              <a:rPr lang="en-US" altLang="en-US" b="1" dirty="0">
                <a:latin typeface="Courier New" pitchFamily="49" charset="0"/>
                <a:cs typeface="Courier New" pitchFamily="49" charset="0"/>
              </a:rPr>
              <a:t>++)</a:t>
            </a:r>
          </a:p>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     </a:t>
            </a:r>
            <a:r>
              <a:rPr lang="en-US" altLang="en-US" b="1" dirty="0" err="1">
                <a:solidFill>
                  <a:schemeClr val="tx1"/>
                </a:solidFill>
                <a:latin typeface="Courier New" pitchFamily="49" charset="0"/>
                <a:cs typeface="Courier New" pitchFamily="49" charset="0"/>
              </a:rPr>
              <a:t>myList</a:t>
            </a:r>
            <a:r>
              <a:rPr lang="en-US" altLang="en-US" b="1" dirty="0">
                <a:solidFill>
                  <a:schemeClr val="tx1"/>
                </a:solidFill>
                <a:latin typeface="Courier New" pitchFamily="49" charset="0"/>
                <a:cs typeface="Courier New" pitchFamily="49" charset="0"/>
              </a:rPr>
              <a:t>[</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 = </a:t>
            </a:r>
            <a:r>
              <a:rPr lang="en-US" altLang="en-US" b="1" dirty="0" err="1">
                <a:solidFill>
                  <a:schemeClr val="tx1"/>
                </a:solidFill>
                <a:latin typeface="Courier New" pitchFamily="49" charset="0"/>
                <a:cs typeface="Courier New" pitchFamily="49" charset="0"/>
              </a:rPr>
              <a:t>Math.random</a:t>
            </a:r>
            <a:r>
              <a:rPr lang="en-US" altLang="en-US" b="1" dirty="0">
                <a:solidFill>
                  <a:schemeClr val="tx1"/>
                </a:solidFill>
                <a:latin typeface="Courier New" pitchFamily="49" charset="0"/>
                <a:cs typeface="Courier New" pitchFamily="49" charset="0"/>
              </a:rPr>
              <a:t>() * 100;</a:t>
            </a:r>
          </a:p>
          <a:p>
            <a:pPr indent="-457200">
              <a:lnSpc>
                <a:spcPct val="80000"/>
              </a:lnSpc>
              <a:spcBef>
                <a:spcPts val="900"/>
              </a:spcBef>
              <a:spcAft>
                <a:spcPts val="450"/>
              </a:spcAft>
              <a:buNone/>
            </a:pPr>
            <a:endParaRPr lang="en-US" altLang="en-US" b="1" dirty="0">
              <a:latin typeface="Courier New" pitchFamily="49" charset="0"/>
              <a:cs typeface="Courier New" pitchFamily="49" charset="0"/>
            </a:endParaRPr>
          </a:p>
        </p:txBody>
      </p:sp>
    </p:spTree>
    <p:extLst>
      <p:ext uri="{BB962C8B-B14F-4D97-AF65-F5344CB8AC3E}">
        <p14:creationId xmlns:p14="http://schemas.microsoft.com/office/powerpoint/2010/main" val="925390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Times New Roman" pitchFamily="16" charset="0"/>
              </a:rPr>
              <a:t>Printing arrays</a:t>
            </a:r>
            <a:endParaRPr lang="en-US" b="1" dirty="0"/>
          </a:p>
        </p:txBody>
      </p:sp>
      <p:sp>
        <p:nvSpPr>
          <p:cNvPr id="3" name="Text Placeholder 2"/>
          <p:cNvSpPr>
            <a:spLocks noGrp="1"/>
          </p:cNvSpPr>
          <p:nvPr>
            <p:ph type="body" idx="1"/>
          </p:nvPr>
        </p:nvSpPr>
        <p:spPr/>
        <p:txBody>
          <a:bodyPr/>
          <a:lstStyle/>
          <a:p>
            <a:pPr indent="-457200">
              <a:lnSpc>
                <a:spcPct val="80000"/>
              </a:lnSpc>
              <a:spcBef>
                <a:spcPts val="900"/>
              </a:spcBef>
              <a:spcAft>
                <a:spcPts val="450"/>
              </a:spcAft>
              <a:buNone/>
            </a:pPr>
            <a:r>
              <a:rPr lang="en-US" altLang="en-US" b="1" dirty="0">
                <a:latin typeface="Courier New" pitchFamily="49" charset="0"/>
                <a:cs typeface="Courier New" pitchFamily="49" charset="0"/>
              </a:rPr>
              <a:t>double[] </a:t>
            </a:r>
            <a:r>
              <a:rPr lang="en-US" altLang="en-US" b="1" dirty="0" err="1">
                <a:latin typeface="Courier New" pitchFamily="49" charset="0"/>
                <a:cs typeface="Courier New" pitchFamily="49" charset="0"/>
              </a:rPr>
              <a:t>myList</a:t>
            </a:r>
            <a:r>
              <a:rPr lang="en-US" altLang="en-US" b="1" dirty="0">
                <a:latin typeface="Courier New" pitchFamily="49" charset="0"/>
                <a:cs typeface="Courier New" pitchFamily="49" charset="0"/>
              </a:rPr>
              <a:t> = new double[10];</a:t>
            </a:r>
          </a:p>
          <a:p>
            <a:pPr indent="-457200">
              <a:lnSpc>
                <a:spcPct val="80000"/>
              </a:lnSpc>
              <a:spcBef>
                <a:spcPts val="900"/>
              </a:spcBef>
              <a:spcAft>
                <a:spcPts val="450"/>
              </a:spcAft>
              <a:buNone/>
            </a:pPr>
            <a:r>
              <a:rPr lang="en-US" altLang="en-US" b="1" dirty="0">
                <a:latin typeface="Courier New" pitchFamily="49" charset="0"/>
                <a:cs typeface="Courier New" pitchFamily="49" charset="0"/>
              </a:rPr>
              <a:t>...</a:t>
            </a:r>
          </a:p>
          <a:p>
            <a:pPr indent="-457200">
              <a:lnSpc>
                <a:spcPct val="80000"/>
              </a:lnSpc>
              <a:spcBef>
                <a:spcPts val="900"/>
              </a:spcBef>
              <a:spcAft>
                <a:spcPts val="450"/>
              </a:spcAft>
              <a:buNone/>
            </a:pPr>
            <a:r>
              <a:rPr lang="en-US" altLang="en-US" b="1" dirty="0">
                <a:latin typeface="Courier New" pitchFamily="49" charset="0"/>
                <a:cs typeface="Courier New" pitchFamily="49" charset="0"/>
              </a:rPr>
              <a:t>for(</a:t>
            </a:r>
            <a:r>
              <a:rPr lang="en-US" altLang="en-US" b="1" dirty="0" err="1">
                <a:latin typeface="Courier New" pitchFamily="49" charset="0"/>
                <a:cs typeface="Courier New" pitchFamily="49" charset="0"/>
              </a:rPr>
              <a:t>int</a:t>
            </a: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i</a:t>
            </a:r>
            <a:r>
              <a:rPr lang="en-US" altLang="en-US" b="1" dirty="0">
                <a:latin typeface="Courier New" pitchFamily="49" charset="0"/>
                <a:cs typeface="Courier New" pitchFamily="49" charset="0"/>
              </a:rPr>
              <a:t> = 0; </a:t>
            </a:r>
            <a:r>
              <a:rPr lang="en-US" altLang="en-US" b="1" dirty="0" err="1">
                <a:latin typeface="Courier New" pitchFamily="49" charset="0"/>
                <a:cs typeface="Courier New" pitchFamily="49" charset="0"/>
              </a:rPr>
              <a:t>i</a:t>
            </a:r>
            <a:r>
              <a:rPr lang="en-US" altLang="en-US" b="1" dirty="0">
                <a:latin typeface="Courier New" pitchFamily="49" charset="0"/>
                <a:cs typeface="Courier New" pitchFamily="49" charset="0"/>
              </a:rPr>
              <a:t> &lt; </a:t>
            </a:r>
            <a:r>
              <a:rPr lang="en-US" altLang="en-US" b="1" dirty="0" err="1">
                <a:latin typeface="Courier New" pitchFamily="49" charset="0"/>
                <a:cs typeface="Courier New" pitchFamily="49" charset="0"/>
              </a:rPr>
              <a:t>myList.length</a:t>
            </a: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i</a:t>
            </a:r>
            <a:r>
              <a:rPr lang="en-US" altLang="en-US" b="1" dirty="0">
                <a:latin typeface="Courier New" pitchFamily="49" charset="0"/>
                <a:cs typeface="Courier New" pitchFamily="49" charset="0"/>
              </a:rPr>
              <a:t>++)</a:t>
            </a:r>
          </a:p>
          <a:p>
            <a:pPr indent="-457200">
              <a:lnSpc>
                <a:spcPct val="80000"/>
              </a:lnSpc>
              <a:spcBef>
                <a:spcPts val="900"/>
              </a:spcBef>
              <a:spcAft>
                <a:spcPts val="450"/>
              </a:spcAft>
              <a:buNone/>
            </a:pPr>
            <a:r>
              <a:rPr lang="en-US" altLang="en-US" b="1" dirty="0">
                <a:latin typeface="Courier New" pitchFamily="49" charset="0"/>
                <a:cs typeface="Courier New" pitchFamily="49" charset="0"/>
              </a:rPr>
              <a:t>    </a:t>
            </a:r>
            <a:r>
              <a:rPr lang="en-US" altLang="en-US" b="1" dirty="0" err="1">
                <a:solidFill>
                  <a:schemeClr val="tx1"/>
                </a:solidFill>
                <a:latin typeface="Courier New" pitchFamily="49" charset="0"/>
                <a:cs typeface="Courier New" pitchFamily="49" charset="0"/>
              </a:rPr>
              <a:t>System.out.print</a:t>
            </a:r>
            <a:r>
              <a:rPr lang="en-US" altLang="en-US" b="1" dirty="0">
                <a:solidFill>
                  <a:schemeClr val="tx1"/>
                </a:solidFill>
                <a:latin typeface="Courier New" pitchFamily="49" charset="0"/>
                <a:cs typeface="Courier New" pitchFamily="49" charset="0"/>
              </a:rPr>
              <a:t>(</a:t>
            </a:r>
            <a:r>
              <a:rPr lang="en-US" altLang="en-US" b="1" dirty="0" err="1">
                <a:solidFill>
                  <a:schemeClr val="tx1"/>
                </a:solidFill>
                <a:latin typeface="Courier New" pitchFamily="49" charset="0"/>
                <a:cs typeface="Courier New" pitchFamily="49" charset="0"/>
              </a:rPr>
              <a:t>myList</a:t>
            </a:r>
            <a:r>
              <a:rPr lang="en-US" altLang="en-US" b="1" dirty="0">
                <a:solidFill>
                  <a:schemeClr val="tx1"/>
                </a:solidFill>
                <a:latin typeface="Courier New" pitchFamily="49" charset="0"/>
                <a:cs typeface="Courier New" pitchFamily="49" charset="0"/>
              </a:rPr>
              <a:t>[</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 + " ");</a:t>
            </a:r>
          </a:p>
          <a:p>
            <a:pPr indent="-457200">
              <a:lnSpc>
                <a:spcPct val="80000"/>
              </a:lnSpc>
              <a:spcBef>
                <a:spcPts val="900"/>
              </a:spcBef>
              <a:spcAft>
                <a:spcPts val="450"/>
              </a:spcAft>
              <a:buNone/>
            </a:pPr>
            <a:endParaRPr lang="en-US" altLang="en-US" b="1" dirty="0">
              <a:latin typeface="Courier New" pitchFamily="49" charset="0"/>
              <a:cs typeface="Courier New" pitchFamily="49" charset="0"/>
            </a:endParaRPr>
          </a:p>
          <a:p>
            <a:pPr indent="-457200">
              <a:lnSpc>
                <a:spcPct val="80000"/>
              </a:lnSpc>
              <a:spcBef>
                <a:spcPts val="900"/>
              </a:spcBef>
              <a:spcAft>
                <a:spcPts val="450"/>
              </a:spcAft>
              <a:buNone/>
            </a:pPr>
            <a:endParaRPr lang="en-US" altLang="en-US" b="1" dirty="0">
              <a:latin typeface="Courier New" pitchFamily="49" charset="0"/>
              <a:cs typeface="Courier New" pitchFamily="49" charset="0"/>
            </a:endParaRPr>
          </a:p>
        </p:txBody>
      </p:sp>
    </p:spTree>
    <p:extLst>
      <p:ext uri="{BB962C8B-B14F-4D97-AF65-F5344CB8AC3E}">
        <p14:creationId xmlns:p14="http://schemas.microsoft.com/office/powerpoint/2010/main" val="2832122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Summing all elements</a:t>
            </a:r>
            <a:endParaRPr lang="en-US" b="1" dirty="0"/>
          </a:p>
        </p:txBody>
      </p:sp>
      <p:sp>
        <p:nvSpPr>
          <p:cNvPr id="3" name="Text Placeholder 2"/>
          <p:cNvSpPr>
            <a:spLocks noGrp="1"/>
          </p:cNvSpPr>
          <p:nvPr>
            <p:ph type="body" idx="1"/>
          </p:nvPr>
        </p:nvSpPr>
        <p:spPr/>
        <p:txBody>
          <a:bodyPr/>
          <a:lstStyle/>
          <a:p>
            <a:pPr indent="-457200">
              <a:lnSpc>
                <a:spcPct val="80000"/>
              </a:lnSpc>
              <a:spcBef>
                <a:spcPts val="900"/>
              </a:spcBef>
              <a:spcAft>
                <a:spcPts val="450"/>
              </a:spcAft>
              <a:buNone/>
            </a:pPr>
            <a:r>
              <a:rPr lang="en-US" altLang="en-US" b="1" dirty="0">
                <a:latin typeface="Courier New" pitchFamily="49" charset="0"/>
                <a:cs typeface="Courier New" pitchFamily="49" charset="0"/>
              </a:rPr>
              <a:t>double[] </a:t>
            </a:r>
            <a:r>
              <a:rPr lang="en-US" altLang="en-US" b="1" dirty="0" err="1">
                <a:latin typeface="Courier New" pitchFamily="49" charset="0"/>
                <a:cs typeface="Courier New" pitchFamily="49" charset="0"/>
              </a:rPr>
              <a:t>myList</a:t>
            </a:r>
            <a:r>
              <a:rPr lang="en-US" altLang="en-US" b="1" dirty="0">
                <a:latin typeface="Courier New" pitchFamily="49" charset="0"/>
                <a:cs typeface="Courier New" pitchFamily="49" charset="0"/>
              </a:rPr>
              <a:t> = new double[10]; </a:t>
            </a:r>
          </a:p>
          <a:p>
            <a:pPr indent="-457200">
              <a:lnSpc>
                <a:spcPct val="80000"/>
              </a:lnSpc>
              <a:spcBef>
                <a:spcPts val="900"/>
              </a:spcBef>
              <a:spcAft>
                <a:spcPts val="450"/>
              </a:spcAft>
              <a:buNone/>
            </a:pPr>
            <a:r>
              <a:rPr lang="en-US" altLang="en-US" b="1" dirty="0">
                <a:latin typeface="Courier New" pitchFamily="49" charset="0"/>
                <a:cs typeface="Courier New" pitchFamily="49" charset="0"/>
              </a:rPr>
              <a:t>...</a:t>
            </a:r>
          </a:p>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double total = 0;</a:t>
            </a:r>
          </a:p>
          <a:p>
            <a:pPr indent="-457200">
              <a:lnSpc>
                <a:spcPct val="80000"/>
              </a:lnSpc>
              <a:spcBef>
                <a:spcPts val="900"/>
              </a:spcBef>
              <a:spcAft>
                <a:spcPts val="450"/>
              </a:spcAft>
              <a:buNone/>
            </a:pPr>
            <a:r>
              <a:rPr lang="en-US" altLang="en-US" b="1" dirty="0">
                <a:latin typeface="Courier New" pitchFamily="49" charset="0"/>
                <a:cs typeface="Courier New" pitchFamily="49" charset="0"/>
              </a:rPr>
              <a:t>for(</a:t>
            </a:r>
            <a:r>
              <a:rPr lang="en-US" altLang="en-US" b="1" dirty="0" err="1">
                <a:latin typeface="Courier New" pitchFamily="49" charset="0"/>
                <a:cs typeface="Courier New" pitchFamily="49" charset="0"/>
              </a:rPr>
              <a:t>int</a:t>
            </a: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i</a:t>
            </a:r>
            <a:r>
              <a:rPr lang="en-US" altLang="en-US" b="1" dirty="0">
                <a:latin typeface="Courier New" pitchFamily="49" charset="0"/>
                <a:cs typeface="Courier New" pitchFamily="49" charset="0"/>
              </a:rPr>
              <a:t> = 0; </a:t>
            </a:r>
            <a:r>
              <a:rPr lang="en-US" altLang="en-US" b="1" dirty="0" err="1">
                <a:latin typeface="Courier New" pitchFamily="49" charset="0"/>
                <a:cs typeface="Courier New" pitchFamily="49" charset="0"/>
              </a:rPr>
              <a:t>i</a:t>
            </a:r>
            <a:r>
              <a:rPr lang="en-US" altLang="en-US" b="1" dirty="0">
                <a:latin typeface="Courier New" pitchFamily="49" charset="0"/>
                <a:cs typeface="Courier New" pitchFamily="49" charset="0"/>
              </a:rPr>
              <a:t> &lt; </a:t>
            </a:r>
            <a:r>
              <a:rPr lang="en-US" altLang="en-US" b="1" dirty="0" err="1">
                <a:latin typeface="Courier New" pitchFamily="49" charset="0"/>
                <a:cs typeface="Courier New" pitchFamily="49" charset="0"/>
              </a:rPr>
              <a:t>myList.length</a:t>
            </a: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i</a:t>
            </a:r>
            <a:r>
              <a:rPr lang="en-US" altLang="en-US" b="1" dirty="0">
                <a:latin typeface="Courier New" pitchFamily="49" charset="0"/>
                <a:cs typeface="Courier New" pitchFamily="49" charset="0"/>
              </a:rPr>
              <a:t>++)</a:t>
            </a:r>
          </a:p>
          <a:p>
            <a:pPr indent="-457200">
              <a:lnSpc>
                <a:spcPct val="80000"/>
              </a:lnSpc>
              <a:spcBef>
                <a:spcPts val="900"/>
              </a:spcBef>
              <a:spcAft>
                <a:spcPts val="450"/>
              </a:spcAft>
              <a:buNone/>
            </a:pPr>
            <a:r>
              <a:rPr lang="en-US" altLang="en-US" b="1" dirty="0">
                <a:latin typeface="Courier New" pitchFamily="49" charset="0"/>
                <a:cs typeface="Courier New" pitchFamily="49" charset="0"/>
              </a:rPr>
              <a:t>  </a:t>
            </a:r>
            <a:r>
              <a:rPr lang="en-US" altLang="en-US" b="1" dirty="0">
                <a:solidFill>
                  <a:schemeClr val="tx1"/>
                </a:solidFill>
                <a:latin typeface="Courier New" pitchFamily="49" charset="0"/>
                <a:cs typeface="Courier New" pitchFamily="49" charset="0"/>
              </a:rPr>
              <a:t>total += </a:t>
            </a:r>
            <a:r>
              <a:rPr lang="en-US" altLang="en-US" b="1" dirty="0" err="1">
                <a:solidFill>
                  <a:schemeClr val="tx1"/>
                </a:solidFill>
                <a:latin typeface="Courier New" pitchFamily="49" charset="0"/>
                <a:cs typeface="Courier New" pitchFamily="49" charset="0"/>
              </a:rPr>
              <a:t>myList</a:t>
            </a:r>
            <a:r>
              <a:rPr lang="en-US" altLang="en-US" b="1" dirty="0">
                <a:solidFill>
                  <a:schemeClr val="tx1"/>
                </a:solidFill>
                <a:latin typeface="Courier New" pitchFamily="49" charset="0"/>
                <a:cs typeface="Courier New" pitchFamily="49" charset="0"/>
              </a:rPr>
              <a:t>[</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a:t>
            </a:r>
          </a:p>
          <a:p>
            <a:pPr indent="-457200">
              <a:lnSpc>
                <a:spcPct val="80000"/>
              </a:lnSpc>
              <a:spcBef>
                <a:spcPts val="900"/>
              </a:spcBef>
              <a:spcAft>
                <a:spcPts val="450"/>
              </a:spcAft>
              <a:buNone/>
            </a:pPr>
            <a:r>
              <a:rPr lang="en-US" altLang="en-US" b="1" dirty="0" err="1">
                <a:latin typeface="Courier New" pitchFamily="49" charset="0"/>
                <a:cs typeface="Courier New" pitchFamily="49" charset="0"/>
              </a:rPr>
              <a:t>System.out.println</a:t>
            </a:r>
            <a:r>
              <a:rPr lang="en-US" altLang="en-US" b="1" dirty="0">
                <a:latin typeface="Courier New" pitchFamily="49" charset="0"/>
                <a:cs typeface="Courier New" pitchFamily="49" charset="0"/>
              </a:rPr>
              <a:t>("Total: " + total);</a:t>
            </a:r>
          </a:p>
          <a:p>
            <a:pPr indent="-457200">
              <a:lnSpc>
                <a:spcPct val="80000"/>
              </a:lnSpc>
              <a:spcBef>
                <a:spcPts val="900"/>
              </a:spcBef>
              <a:spcAft>
                <a:spcPts val="450"/>
              </a:spcAft>
              <a:buNone/>
            </a:pPr>
            <a:endParaRPr lang="en-US" altLang="en-US" b="1" dirty="0">
              <a:latin typeface="Courier New" pitchFamily="49" charset="0"/>
              <a:cs typeface="Courier New" pitchFamily="49" charset="0"/>
            </a:endParaRPr>
          </a:p>
          <a:p>
            <a:pPr indent="-457200">
              <a:lnSpc>
                <a:spcPct val="80000"/>
              </a:lnSpc>
              <a:spcBef>
                <a:spcPts val="900"/>
              </a:spcBef>
              <a:spcAft>
                <a:spcPts val="450"/>
              </a:spcAft>
              <a:buNone/>
            </a:pPr>
            <a:endParaRPr lang="en-US" altLang="en-US" b="1" dirty="0">
              <a:latin typeface="Courier New" pitchFamily="49" charset="0"/>
              <a:cs typeface="Courier New" pitchFamily="49" charset="0"/>
            </a:endParaRPr>
          </a:p>
        </p:txBody>
      </p:sp>
    </p:spTree>
    <p:extLst>
      <p:ext uri="{BB962C8B-B14F-4D97-AF65-F5344CB8AC3E}">
        <p14:creationId xmlns:p14="http://schemas.microsoft.com/office/powerpoint/2010/main" val="1612775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Find the largest element</a:t>
            </a:r>
            <a:endParaRPr lang="en-US" b="1" dirty="0"/>
          </a:p>
        </p:txBody>
      </p:sp>
      <p:sp>
        <p:nvSpPr>
          <p:cNvPr id="3" name="Text Placeholder 2"/>
          <p:cNvSpPr>
            <a:spLocks noGrp="1"/>
          </p:cNvSpPr>
          <p:nvPr>
            <p:ph type="body" idx="1"/>
          </p:nvPr>
        </p:nvSpPr>
        <p:spPr/>
        <p:txBody>
          <a:bodyPr/>
          <a:lstStyle/>
          <a:p>
            <a:pPr indent="-457200">
              <a:lnSpc>
                <a:spcPct val="80000"/>
              </a:lnSpc>
              <a:spcBef>
                <a:spcPts val="900"/>
              </a:spcBef>
              <a:spcAft>
                <a:spcPts val="450"/>
              </a:spcAft>
              <a:buNone/>
            </a:pPr>
            <a:r>
              <a:rPr lang="en-US" altLang="en-US" b="1" dirty="0">
                <a:latin typeface="Courier New" pitchFamily="49" charset="0"/>
                <a:cs typeface="Courier New" pitchFamily="49" charset="0"/>
              </a:rPr>
              <a:t>double max = </a:t>
            </a:r>
            <a:r>
              <a:rPr lang="en-US" altLang="en-US" b="1" dirty="0" err="1">
                <a:latin typeface="Courier New" pitchFamily="49" charset="0"/>
                <a:cs typeface="Courier New" pitchFamily="49" charset="0"/>
              </a:rPr>
              <a:t>myList</a:t>
            </a:r>
            <a:r>
              <a:rPr lang="en-US" altLang="en-US" b="1" dirty="0">
                <a:latin typeface="Courier New" pitchFamily="49" charset="0"/>
                <a:cs typeface="Courier New" pitchFamily="49" charset="0"/>
              </a:rPr>
              <a:t>[0];</a:t>
            </a:r>
          </a:p>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for(</a:t>
            </a:r>
            <a:r>
              <a:rPr lang="en-US" altLang="en-US" b="1" dirty="0" err="1">
                <a:solidFill>
                  <a:schemeClr val="tx1"/>
                </a:solidFill>
                <a:latin typeface="Courier New" pitchFamily="49" charset="0"/>
                <a:cs typeface="Courier New" pitchFamily="49" charset="0"/>
              </a:rPr>
              <a:t>int</a:t>
            </a:r>
            <a:r>
              <a:rPr lang="en-US" altLang="en-US" b="1" dirty="0">
                <a:solidFill>
                  <a:schemeClr val="tx1"/>
                </a:solidFill>
                <a:latin typeface="Courier New" pitchFamily="49" charset="0"/>
                <a:cs typeface="Courier New" pitchFamily="49" charset="0"/>
              </a:rPr>
              <a:t> </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 = 1; </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 &lt; </a:t>
            </a:r>
            <a:r>
              <a:rPr lang="en-US" altLang="en-US" b="1" dirty="0" err="1">
                <a:solidFill>
                  <a:schemeClr val="tx1"/>
                </a:solidFill>
                <a:latin typeface="Courier New" pitchFamily="49" charset="0"/>
                <a:cs typeface="Courier New" pitchFamily="49" charset="0"/>
              </a:rPr>
              <a:t>myList.length</a:t>
            </a:r>
            <a:r>
              <a:rPr lang="en-US" altLang="en-US" b="1" dirty="0">
                <a:solidFill>
                  <a:schemeClr val="tx1"/>
                </a:solidFill>
                <a:latin typeface="Courier New" pitchFamily="49" charset="0"/>
                <a:cs typeface="Courier New" pitchFamily="49" charset="0"/>
              </a:rPr>
              <a:t>; </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a:t>
            </a:r>
          </a:p>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	if(</a:t>
            </a:r>
            <a:r>
              <a:rPr lang="en-US" altLang="en-US" b="1" dirty="0" err="1">
                <a:solidFill>
                  <a:schemeClr val="tx1"/>
                </a:solidFill>
                <a:latin typeface="Courier New" pitchFamily="49" charset="0"/>
                <a:cs typeface="Courier New" pitchFamily="49" charset="0"/>
              </a:rPr>
              <a:t>myList</a:t>
            </a:r>
            <a:r>
              <a:rPr lang="en-US" altLang="en-US" b="1" dirty="0">
                <a:solidFill>
                  <a:schemeClr val="tx1"/>
                </a:solidFill>
                <a:latin typeface="Courier New" pitchFamily="49" charset="0"/>
                <a:cs typeface="Courier New" pitchFamily="49" charset="0"/>
              </a:rPr>
              <a:t>[</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 &gt; max){ </a:t>
            </a:r>
          </a:p>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		max = </a:t>
            </a:r>
            <a:r>
              <a:rPr lang="en-US" altLang="en-US" b="1" dirty="0" err="1">
                <a:solidFill>
                  <a:schemeClr val="tx1"/>
                </a:solidFill>
                <a:latin typeface="Courier New" pitchFamily="49" charset="0"/>
                <a:cs typeface="Courier New" pitchFamily="49" charset="0"/>
              </a:rPr>
              <a:t>myList</a:t>
            </a:r>
            <a:r>
              <a:rPr lang="en-US" altLang="en-US" b="1" dirty="0">
                <a:solidFill>
                  <a:schemeClr val="tx1"/>
                </a:solidFill>
                <a:latin typeface="Courier New" pitchFamily="49" charset="0"/>
                <a:cs typeface="Courier New" pitchFamily="49" charset="0"/>
              </a:rPr>
              <a:t>[</a:t>
            </a:r>
            <a:r>
              <a:rPr lang="en-US" altLang="en-US" b="1" dirty="0" err="1">
                <a:solidFill>
                  <a:schemeClr val="tx1"/>
                </a:solidFill>
                <a:latin typeface="Courier New" pitchFamily="49" charset="0"/>
                <a:cs typeface="Courier New" pitchFamily="49" charset="0"/>
              </a:rPr>
              <a:t>i</a:t>
            </a:r>
            <a:r>
              <a:rPr lang="en-US" altLang="en-US" b="1" dirty="0">
                <a:solidFill>
                  <a:schemeClr val="tx1"/>
                </a:solidFill>
                <a:latin typeface="Courier New" pitchFamily="49" charset="0"/>
                <a:cs typeface="Courier New" pitchFamily="49" charset="0"/>
              </a:rPr>
              <a:t>];</a:t>
            </a:r>
          </a:p>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	}</a:t>
            </a:r>
          </a:p>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a:t>
            </a:r>
          </a:p>
          <a:p>
            <a:pPr indent="-457200">
              <a:lnSpc>
                <a:spcPct val="80000"/>
              </a:lnSpc>
              <a:spcBef>
                <a:spcPts val="900"/>
              </a:spcBef>
              <a:spcAft>
                <a:spcPts val="450"/>
              </a:spcAft>
              <a:buNone/>
            </a:pPr>
            <a:r>
              <a:rPr lang="en-US" altLang="en-US" b="1" dirty="0">
                <a:solidFill>
                  <a:schemeClr val="tx1"/>
                </a:solidFill>
                <a:latin typeface="Courier New" pitchFamily="49" charset="0"/>
                <a:cs typeface="Courier New" pitchFamily="49" charset="0"/>
              </a:rPr>
              <a:t>  </a:t>
            </a:r>
            <a:endParaRPr lang="en-US" altLang="en-US" b="1" dirty="0">
              <a:latin typeface="Courier New" pitchFamily="49" charset="0"/>
              <a:cs typeface="Courier New" pitchFamily="49" charset="0"/>
            </a:endParaRPr>
          </a:p>
        </p:txBody>
      </p:sp>
    </p:spTree>
    <p:extLst>
      <p:ext uri="{BB962C8B-B14F-4D97-AF65-F5344CB8AC3E}">
        <p14:creationId xmlns:p14="http://schemas.microsoft.com/office/powerpoint/2010/main" val="88476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Copying arrays</a:t>
            </a:r>
            <a:endParaRPr lang="en-US" b="1" dirty="0"/>
          </a:p>
        </p:txBody>
      </p:sp>
      <p:sp>
        <p:nvSpPr>
          <p:cNvPr id="3" name="Text Placeholder 2"/>
          <p:cNvSpPr>
            <a:spLocks noGrp="1"/>
          </p:cNvSpPr>
          <p:nvPr>
            <p:ph type="body" idx="1"/>
          </p:nvPr>
        </p:nvSpPr>
        <p:spPr>
          <a:xfrm>
            <a:off x="311700" y="1152475"/>
            <a:ext cx="3386360" cy="3416400"/>
          </a:xfrm>
        </p:spPr>
        <p:txBody>
          <a:bodyPr/>
          <a:lstStyle/>
          <a:p>
            <a:pPr marL="285750" indent="-285750">
              <a:lnSpc>
                <a:spcPct val="90000"/>
              </a:lnSpc>
            </a:pPr>
            <a:r>
              <a:rPr lang="en-US" altLang="en-US" dirty="0">
                <a:cs typeface="Courier New" pitchFamily="49" charset="0"/>
              </a:rPr>
              <a:t>Often, in a program, you need to duplicate an array or a part of an array. </a:t>
            </a:r>
          </a:p>
          <a:p>
            <a:pPr marL="0" indent="0">
              <a:lnSpc>
                <a:spcPct val="90000"/>
              </a:lnSpc>
              <a:buNone/>
            </a:pPr>
            <a:endParaRPr lang="en-US" altLang="en-US" dirty="0">
              <a:cs typeface="Courier New" pitchFamily="49" charset="0"/>
            </a:endParaRPr>
          </a:p>
          <a:p>
            <a:pPr marL="285750" indent="-285750">
              <a:lnSpc>
                <a:spcPct val="90000"/>
              </a:lnSpc>
            </a:pPr>
            <a:r>
              <a:rPr lang="en-US" altLang="en-US" b="1" dirty="0">
                <a:cs typeface="Courier New" pitchFamily="49" charset="0"/>
              </a:rPr>
              <a:t>Using the assignment statement (=), you re-direct the pointer:</a:t>
            </a:r>
            <a:endParaRPr lang="en-US" altLang="en-US" b="1" dirty="0">
              <a:cs typeface="Times New Roman" pitchFamily="16" charset="0"/>
            </a:endParaRPr>
          </a:p>
          <a:p>
            <a:pPr marL="0" indent="0">
              <a:lnSpc>
                <a:spcPct val="90000"/>
              </a:lnSpc>
              <a:buNone/>
            </a:pPr>
            <a:r>
              <a:rPr lang="en-US" altLang="en-US" b="1" dirty="0">
                <a:cs typeface="Courier New" pitchFamily="49" charset="0"/>
              </a:rPr>
              <a:t>     list2 = list1;</a:t>
            </a:r>
          </a:p>
          <a:p>
            <a:pPr marL="0" indent="0">
              <a:lnSpc>
                <a:spcPct val="90000"/>
              </a:lnSpc>
              <a:buNone/>
            </a:pPr>
            <a:endParaRPr lang="en-US" altLang="en-US" b="1" dirty="0">
              <a:cs typeface="Courier New" pitchFamily="49" charset="0"/>
            </a:endParaRPr>
          </a:p>
          <a:p>
            <a:pPr marL="285750" indent="-285750">
              <a:lnSpc>
                <a:spcPct val="90000"/>
              </a:lnSpc>
            </a:pPr>
            <a:r>
              <a:rPr lang="en-US" altLang="en-US" b="1" dirty="0">
                <a:cs typeface="Courier New" pitchFamily="49" charset="0"/>
              </a:rPr>
              <a:t>You don’t copy with “=” !</a:t>
            </a:r>
          </a:p>
          <a:p>
            <a:pPr marL="285750" indent="-285750">
              <a:lnSpc>
                <a:spcPct val="90000"/>
              </a:lnSpc>
            </a:pPr>
            <a:endParaRPr lang="en-US" altLang="en-US" b="1" dirty="0">
              <a:cs typeface="Courier New" pitchFamily="49" charset="0"/>
            </a:endParaRPr>
          </a:p>
          <a:p>
            <a:pPr marL="285750" indent="-285750">
              <a:lnSpc>
                <a:spcPct val="90000"/>
              </a:lnSpc>
            </a:pPr>
            <a:r>
              <a:rPr lang="en-US" altLang="en-US" b="1" dirty="0">
                <a:cs typeface="Courier New" pitchFamily="49" charset="0"/>
              </a:rPr>
              <a:t>G</a:t>
            </a:r>
            <a:r>
              <a:rPr lang="en-US" altLang="zh-CN" b="1" dirty="0">
                <a:cs typeface="Courier New" pitchFamily="49" charset="0"/>
              </a:rPr>
              <a:t>arbage Collection recycles memory of list2</a:t>
            </a:r>
            <a:endParaRPr lang="en-US" altLang="en-US" b="1" dirty="0">
              <a:cs typeface="Times New Roman" pitchFamily="16" charset="0"/>
            </a:endParaRPr>
          </a:p>
          <a:p>
            <a:pPr indent="-457200">
              <a:lnSpc>
                <a:spcPct val="80000"/>
              </a:lnSpc>
              <a:spcBef>
                <a:spcPts val="900"/>
              </a:spcBef>
              <a:spcAft>
                <a:spcPts val="450"/>
              </a:spcAft>
              <a:buNone/>
            </a:pPr>
            <a:endParaRPr lang="en-US" altLang="en-US" b="1" dirty="0">
              <a:latin typeface="Courier New" pitchFamily="49" charset="0"/>
              <a:cs typeface="Courier New" pitchFamily="49" charset="0"/>
            </a:endParaRPr>
          </a:p>
        </p:txBody>
      </p:sp>
      <p:graphicFrame>
        <p:nvGraphicFramePr>
          <p:cNvPr id="4" name="Object 2"/>
          <p:cNvGraphicFramePr>
            <a:graphicFrameLocks noChangeAspect="1"/>
          </p:cNvGraphicFramePr>
          <p:nvPr/>
        </p:nvGraphicFramePr>
        <p:xfrm>
          <a:off x="3583251" y="1152475"/>
          <a:ext cx="5429250" cy="2853929"/>
        </p:xfrm>
        <a:graphic>
          <a:graphicData uri="http://schemas.openxmlformats.org/presentationml/2006/ole">
            <mc:AlternateContent xmlns:mc="http://schemas.openxmlformats.org/markup-compatibility/2006">
              <mc:Choice xmlns:v="urn:schemas-microsoft-com:vml" Requires="v">
                <p:oleObj name="Picture" r:id="rId3" imgW="5541173" imgH="2913604" progId="Word.Picture.8">
                  <p:embed/>
                </p:oleObj>
              </mc:Choice>
              <mc:Fallback>
                <p:oleObj name="Picture" r:id="rId3" imgW="5541173" imgH="2913604" progId="Word.Picture.8">
                  <p:embed/>
                  <p:pic>
                    <p:nvPicPr>
                      <p:cNvPr id="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3251" y="1152475"/>
                        <a:ext cx="5429250" cy="2853929"/>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15530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Copying arrays: Correct way !</a:t>
            </a:r>
            <a:endParaRPr lang="en-US" b="1" dirty="0"/>
          </a:p>
        </p:txBody>
      </p:sp>
      <p:sp>
        <p:nvSpPr>
          <p:cNvPr id="3" name="Text Placeholder 2"/>
          <p:cNvSpPr>
            <a:spLocks noGrp="1"/>
          </p:cNvSpPr>
          <p:nvPr>
            <p:ph type="body" idx="1"/>
          </p:nvPr>
        </p:nvSpPr>
        <p:spPr/>
        <p:txBody>
          <a:bodyPr/>
          <a:lstStyle/>
          <a:p>
            <a:pPr marL="0" indent="0">
              <a:lnSpc>
                <a:spcPct val="90000"/>
              </a:lnSpc>
              <a:buNone/>
            </a:pPr>
            <a:r>
              <a:rPr lang="en-US" altLang="en-US" dirty="0">
                <a:cs typeface="Courier New" pitchFamily="49" charset="0"/>
              </a:rPr>
              <a:t>Using a loop:</a:t>
            </a:r>
          </a:p>
          <a:p>
            <a:pPr marL="0" indent="0">
              <a:lnSpc>
                <a:spcPct val="90000"/>
              </a:lnSpc>
              <a:buNone/>
            </a:pPr>
            <a:endParaRPr lang="en-US" altLang="en-US" dirty="0">
              <a:cs typeface="Courier New" pitchFamily="49" charset="0"/>
            </a:endParaRPr>
          </a:p>
          <a:p>
            <a:pPr marL="0" indent="0">
              <a:lnSpc>
                <a:spcPct val="90000"/>
              </a:lnSpc>
              <a:buNone/>
            </a:pPr>
            <a:r>
              <a:rPr lang="en-US" altLang="en-US" b="1" dirty="0" err="1">
                <a:solidFill>
                  <a:schemeClr val="tx1"/>
                </a:solidFill>
                <a:latin typeface="Courier New" panose="02070309020205020404" pitchFamily="49" charset="0"/>
                <a:cs typeface="Courier New" panose="02070309020205020404" pitchFamily="49" charset="0"/>
              </a:rPr>
              <a:t>int</a:t>
            </a:r>
            <a:r>
              <a:rPr lang="en-US" altLang="en-US" b="1" dirty="0">
                <a:solidFill>
                  <a:schemeClr val="tx1"/>
                </a:solidFill>
                <a:latin typeface="Courier New" panose="02070309020205020404" pitchFamily="49" charset="0"/>
                <a:cs typeface="Courier New" panose="02070309020205020404" pitchFamily="49" charset="0"/>
              </a:rPr>
              <a:t>[] </a:t>
            </a:r>
            <a:r>
              <a:rPr lang="en-US" altLang="en-US" b="1" dirty="0" err="1">
                <a:solidFill>
                  <a:schemeClr val="tx1"/>
                </a:solidFill>
                <a:latin typeface="Courier New" panose="02070309020205020404" pitchFamily="49" charset="0"/>
                <a:cs typeface="Courier New" panose="02070309020205020404" pitchFamily="49" charset="0"/>
              </a:rPr>
              <a:t>sourceArray</a:t>
            </a:r>
            <a:r>
              <a:rPr lang="en-US" altLang="en-US" b="1" dirty="0">
                <a:solidFill>
                  <a:schemeClr val="tx1"/>
                </a:solidFill>
                <a:latin typeface="Courier New" panose="02070309020205020404" pitchFamily="49" charset="0"/>
                <a:cs typeface="Courier New" panose="02070309020205020404" pitchFamily="49" charset="0"/>
              </a:rPr>
              <a:t> = {2, 3, 1, 5, 10};</a:t>
            </a:r>
          </a:p>
          <a:p>
            <a:pPr marL="0" indent="0">
              <a:lnSpc>
                <a:spcPct val="90000"/>
              </a:lnSpc>
              <a:buNone/>
            </a:pPr>
            <a:endParaRPr lang="en-US" altLang="en-US" b="1" dirty="0">
              <a:solidFill>
                <a:schemeClr val="tx1"/>
              </a:solidFill>
              <a:latin typeface="Courier New" panose="02070309020205020404" pitchFamily="49" charset="0"/>
              <a:cs typeface="Courier New" panose="02070309020205020404" pitchFamily="49" charset="0"/>
            </a:endParaRPr>
          </a:p>
          <a:p>
            <a:pPr marL="0" indent="0">
              <a:lnSpc>
                <a:spcPct val="90000"/>
              </a:lnSpc>
              <a:buNone/>
            </a:pPr>
            <a:r>
              <a:rPr lang="en-US" altLang="en-US" b="1" dirty="0" err="1">
                <a:solidFill>
                  <a:schemeClr val="tx1"/>
                </a:solidFill>
                <a:latin typeface="Courier New" panose="02070309020205020404" pitchFamily="49" charset="0"/>
                <a:cs typeface="Courier New" panose="02070309020205020404" pitchFamily="49" charset="0"/>
              </a:rPr>
              <a:t>int</a:t>
            </a:r>
            <a:r>
              <a:rPr lang="en-US" altLang="en-US" b="1" dirty="0">
                <a:solidFill>
                  <a:schemeClr val="tx1"/>
                </a:solidFill>
                <a:latin typeface="Courier New" panose="02070309020205020404" pitchFamily="49" charset="0"/>
                <a:cs typeface="Courier New" panose="02070309020205020404" pitchFamily="49" charset="0"/>
              </a:rPr>
              <a:t>[] </a:t>
            </a:r>
            <a:r>
              <a:rPr lang="en-US" altLang="en-US" b="1" dirty="0" err="1">
                <a:solidFill>
                  <a:schemeClr val="tx1"/>
                </a:solidFill>
                <a:latin typeface="Courier New" panose="02070309020205020404" pitchFamily="49" charset="0"/>
                <a:cs typeface="Courier New" panose="02070309020205020404" pitchFamily="49" charset="0"/>
              </a:rPr>
              <a:t>targetArray</a:t>
            </a:r>
            <a:r>
              <a:rPr lang="en-US" altLang="en-US" b="1" dirty="0">
                <a:solidFill>
                  <a:schemeClr val="tx1"/>
                </a:solidFill>
                <a:latin typeface="Courier New" panose="02070309020205020404" pitchFamily="49" charset="0"/>
                <a:cs typeface="Courier New" panose="02070309020205020404" pitchFamily="49" charset="0"/>
              </a:rPr>
              <a:t> = new </a:t>
            </a:r>
            <a:r>
              <a:rPr lang="en-US" altLang="en-US" b="1" dirty="0" err="1">
                <a:solidFill>
                  <a:schemeClr val="tx1"/>
                </a:solidFill>
                <a:latin typeface="Courier New" panose="02070309020205020404" pitchFamily="49" charset="0"/>
                <a:cs typeface="Courier New" panose="02070309020205020404" pitchFamily="49" charset="0"/>
              </a:rPr>
              <a:t>int</a:t>
            </a:r>
            <a:r>
              <a:rPr lang="en-US" altLang="en-US" b="1" dirty="0">
                <a:solidFill>
                  <a:schemeClr val="tx1"/>
                </a:solidFill>
                <a:latin typeface="Courier New" panose="02070309020205020404" pitchFamily="49" charset="0"/>
                <a:cs typeface="Courier New" panose="02070309020205020404" pitchFamily="49" charset="0"/>
              </a:rPr>
              <a:t>[</a:t>
            </a:r>
            <a:r>
              <a:rPr lang="en-US" altLang="en-US" b="1" dirty="0" err="1">
                <a:solidFill>
                  <a:schemeClr val="tx1"/>
                </a:solidFill>
                <a:latin typeface="Courier New" panose="02070309020205020404" pitchFamily="49" charset="0"/>
                <a:cs typeface="Courier New" panose="02070309020205020404" pitchFamily="49" charset="0"/>
              </a:rPr>
              <a:t>sourceArray.length</a:t>
            </a:r>
            <a:r>
              <a:rPr lang="en-US" altLang="en-US" b="1" dirty="0">
                <a:solidFill>
                  <a:schemeClr val="tx1"/>
                </a:solidFill>
                <a:latin typeface="Courier New" panose="02070309020205020404" pitchFamily="49" charset="0"/>
                <a:cs typeface="Courier New" panose="02070309020205020404" pitchFamily="49" charset="0"/>
              </a:rPr>
              <a:t>];</a:t>
            </a:r>
          </a:p>
          <a:p>
            <a:pPr marL="0" indent="0">
              <a:lnSpc>
                <a:spcPct val="90000"/>
              </a:lnSpc>
              <a:buNone/>
            </a:pPr>
            <a:endParaRPr lang="en-US" altLang="en-US" b="1" dirty="0">
              <a:solidFill>
                <a:schemeClr val="tx1"/>
              </a:solidFill>
              <a:latin typeface="Courier New" panose="02070309020205020404" pitchFamily="49" charset="0"/>
              <a:cs typeface="Courier New" panose="02070309020205020404" pitchFamily="49" charset="0"/>
            </a:endParaRPr>
          </a:p>
          <a:p>
            <a:pPr marL="0" indent="0">
              <a:lnSpc>
                <a:spcPct val="90000"/>
              </a:lnSpc>
              <a:buNone/>
            </a:pPr>
            <a:r>
              <a:rPr lang="en-US" altLang="en-US" b="1" dirty="0">
                <a:solidFill>
                  <a:schemeClr val="tx1"/>
                </a:solidFill>
                <a:latin typeface="Courier New" panose="02070309020205020404" pitchFamily="49" charset="0"/>
                <a:cs typeface="Courier New" panose="02070309020205020404" pitchFamily="49" charset="0"/>
              </a:rPr>
              <a:t>for (</a:t>
            </a:r>
            <a:r>
              <a:rPr lang="en-US" altLang="en-US" b="1" dirty="0" err="1">
                <a:solidFill>
                  <a:schemeClr val="tx1"/>
                </a:solidFill>
                <a:latin typeface="Courier New" panose="02070309020205020404" pitchFamily="49" charset="0"/>
                <a:cs typeface="Courier New" panose="02070309020205020404" pitchFamily="49" charset="0"/>
              </a:rPr>
              <a:t>int</a:t>
            </a:r>
            <a:r>
              <a:rPr lang="en-US" altLang="en-US" b="1" dirty="0">
                <a:solidFill>
                  <a:schemeClr val="tx1"/>
                </a:solidFill>
                <a:latin typeface="Courier New" panose="02070309020205020404" pitchFamily="49" charset="0"/>
                <a:cs typeface="Courier New" panose="02070309020205020404" pitchFamily="49" charset="0"/>
              </a:rPr>
              <a:t> </a:t>
            </a:r>
            <a:r>
              <a:rPr lang="en-US" altLang="en-US" b="1" dirty="0" err="1">
                <a:solidFill>
                  <a:schemeClr val="tx1"/>
                </a:solidFill>
                <a:latin typeface="Courier New" panose="02070309020205020404" pitchFamily="49" charset="0"/>
                <a:cs typeface="Courier New" panose="02070309020205020404" pitchFamily="49" charset="0"/>
              </a:rPr>
              <a:t>i</a:t>
            </a:r>
            <a:r>
              <a:rPr lang="en-US" altLang="en-US" b="1" dirty="0">
                <a:solidFill>
                  <a:schemeClr val="tx1"/>
                </a:solidFill>
                <a:latin typeface="Courier New" panose="02070309020205020404" pitchFamily="49" charset="0"/>
                <a:cs typeface="Courier New" panose="02070309020205020404" pitchFamily="49" charset="0"/>
              </a:rPr>
              <a:t> = 0; </a:t>
            </a:r>
            <a:r>
              <a:rPr lang="en-US" altLang="en-US" b="1" dirty="0" err="1">
                <a:solidFill>
                  <a:schemeClr val="tx1"/>
                </a:solidFill>
                <a:latin typeface="Courier New" panose="02070309020205020404" pitchFamily="49" charset="0"/>
                <a:cs typeface="Courier New" panose="02070309020205020404" pitchFamily="49" charset="0"/>
              </a:rPr>
              <a:t>i</a:t>
            </a:r>
            <a:r>
              <a:rPr lang="en-US" altLang="en-US" b="1" dirty="0">
                <a:solidFill>
                  <a:schemeClr val="tx1"/>
                </a:solidFill>
                <a:latin typeface="Courier New" panose="02070309020205020404" pitchFamily="49" charset="0"/>
                <a:cs typeface="Courier New" panose="02070309020205020404" pitchFamily="49" charset="0"/>
              </a:rPr>
              <a:t> &lt; </a:t>
            </a:r>
            <a:r>
              <a:rPr lang="en-US" altLang="en-US" b="1" dirty="0" err="1">
                <a:solidFill>
                  <a:schemeClr val="tx1"/>
                </a:solidFill>
                <a:latin typeface="Courier New" panose="02070309020205020404" pitchFamily="49" charset="0"/>
                <a:cs typeface="Courier New" panose="02070309020205020404" pitchFamily="49" charset="0"/>
              </a:rPr>
              <a:t>sourceArray.length</a:t>
            </a:r>
            <a:r>
              <a:rPr lang="en-US" altLang="en-US" b="1" dirty="0">
                <a:solidFill>
                  <a:schemeClr val="tx1"/>
                </a:solidFill>
                <a:latin typeface="Courier New" panose="02070309020205020404" pitchFamily="49" charset="0"/>
                <a:cs typeface="Courier New" panose="02070309020205020404" pitchFamily="49" charset="0"/>
              </a:rPr>
              <a:t>; </a:t>
            </a:r>
            <a:r>
              <a:rPr lang="en-US" altLang="en-US" b="1" dirty="0" err="1">
                <a:solidFill>
                  <a:schemeClr val="tx1"/>
                </a:solidFill>
                <a:latin typeface="Courier New" panose="02070309020205020404" pitchFamily="49" charset="0"/>
                <a:cs typeface="Courier New" panose="02070309020205020404" pitchFamily="49" charset="0"/>
              </a:rPr>
              <a:t>i</a:t>
            </a:r>
            <a:r>
              <a:rPr lang="en-US" altLang="en-US" b="1" dirty="0">
                <a:solidFill>
                  <a:schemeClr val="tx1"/>
                </a:solidFill>
                <a:latin typeface="Courier New" panose="02070309020205020404" pitchFamily="49" charset="0"/>
                <a:cs typeface="Courier New" panose="02070309020205020404" pitchFamily="49" charset="0"/>
              </a:rPr>
              <a:t>++)</a:t>
            </a:r>
          </a:p>
          <a:p>
            <a:pPr marL="0" indent="0">
              <a:lnSpc>
                <a:spcPct val="90000"/>
              </a:lnSpc>
              <a:buNone/>
            </a:pPr>
            <a:r>
              <a:rPr lang="en-US" altLang="en-US" b="1" dirty="0">
                <a:solidFill>
                  <a:schemeClr val="tx1"/>
                </a:solidFill>
                <a:latin typeface="Courier New" panose="02070309020205020404" pitchFamily="49" charset="0"/>
                <a:cs typeface="Courier New" panose="02070309020205020404" pitchFamily="49" charset="0"/>
              </a:rPr>
              <a:t>   </a:t>
            </a:r>
            <a:r>
              <a:rPr lang="en-US" altLang="en-US" b="1" dirty="0" err="1">
                <a:solidFill>
                  <a:schemeClr val="tx1"/>
                </a:solidFill>
                <a:latin typeface="Courier New" panose="02070309020205020404" pitchFamily="49" charset="0"/>
                <a:cs typeface="Courier New" panose="02070309020205020404" pitchFamily="49" charset="0"/>
              </a:rPr>
              <a:t>targetArray</a:t>
            </a:r>
            <a:r>
              <a:rPr lang="en-US" altLang="en-US" b="1" dirty="0">
                <a:solidFill>
                  <a:schemeClr val="tx1"/>
                </a:solidFill>
                <a:latin typeface="Courier New" panose="02070309020205020404" pitchFamily="49" charset="0"/>
                <a:cs typeface="Courier New" panose="02070309020205020404" pitchFamily="49" charset="0"/>
              </a:rPr>
              <a:t>[</a:t>
            </a:r>
            <a:r>
              <a:rPr lang="en-US" altLang="en-US" b="1" dirty="0" err="1">
                <a:solidFill>
                  <a:schemeClr val="tx1"/>
                </a:solidFill>
                <a:latin typeface="Courier New" panose="02070309020205020404" pitchFamily="49" charset="0"/>
                <a:cs typeface="Courier New" panose="02070309020205020404" pitchFamily="49" charset="0"/>
              </a:rPr>
              <a:t>i</a:t>
            </a:r>
            <a:r>
              <a:rPr lang="en-US" altLang="en-US" b="1" dirty="0">
                <a:solidFill>
                  <a:schemeClr val="tx1"/>
                </a:solidFill>
                <a:latin typeface="Courier New" panose="02070309020205020404" pitchFamily="49" charset="0"/>
                <a:cs typeface="Courier New" panose="02070309020205020404" pitchFamily="49" charset="0"/>
              </a:rPr>
              <a:t>] = </a:t>
            </a:r>
            <a:r>
              <a:rPr lang="en-US" altLang="en-US" b="1" dirty="0" err="1">
                <a:solidFill>
                  <a:schemeClr val="tx1"/>
                </a:solidFill>
                <a:latin typeface="Courier New" panose="02070309020205020404" pitchFamily="49" charset="0"/>
                <a:cs typeface="Courier New" panose="02070309020205020404" pitchFamily="49" charset="0"/>
              </a:rPr>
              <a:t>sourceArray</a:t>
            </a:r>
            <a:r>
              <a:rPr lang="en-US" altLang="en-US" b="1" dirty="0">
                <a:solidFill>
                  <a:schemeClr val="tx1"/>
                </a:solidFill>
                <a:latin typeface="Courier New" panose="02070309020205020404" pitchFamily="49" charset="0"/>
                <a:cs typeface="Courier New" panose="02070309020205020404" pitchFamily="49" charset="0"/>
              </a:rPr>
              <a:t>[</a:t>
            </a:r>
            <a:r>
              <a:rPr lang="en-US" altLang="en-US" b="1" dirty="0" err="1">
                <a:solidFill>
                  <a:schemeClr val="tx1"/>
                </a:solidFill>
                <a:latin typeface="Courier New" panose="02070309020205020404" pitchFamily="49" charset="0"/>
                <a:cs typeface="Courier New" panose="02070309020205020404" pitchFamily="49" charset="0"/>
              </a:rPr>
              <a:t>i</a:t>
            </a:r>
            <a:r>
              <a:rPr lang="en-US" altLang="en-US" b="1" dirty="0">
                <a:solidFill>
                  <a:schemeClr val="tx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3882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Random shuffling</a:t>
            </a:r>
            <a:endParaRPr lang="en-US" b="1" dirty="0"/>
          </a:p>
        </p:txBody>
      </p:sp>
      <p:graphicFrame>
        <p:nvGraphicFramePr>
          <p:cNvPr id="4" name="Object 2"/>
          <p:cNvGraphicFramePr>
            <a:graphicFrameLocks noChangeAspect="1"/>
          </p:cNvGraphicFramePr>
          <p:nvPr/>
        </p:nvGraphicFramePr>
        <p:xfrm>
          <a:off x="582336" y="1335934"/>
          <a:ext cx="7855011" cy="2774820"/>
        </p:xfrm>
        <a:graphic>
          <a:graphicData uri="http://schemas.openxmlformats.org/presentationml/2006/ole">
            <mc:AlternateContent xmlns:mc="http://schemas.openxmlformats.org/markup-compatibility/2006">
              <mc:Choice xmlns:v="urn:schemas-microsoft-com:vml" Requires="v">
                <p:oleObj name="Picture" r:id="rId2" imgW="4607640" imgH="1359000" progId="Word.Picture.8">
                  <p:embed/>
                </p:oleObj>
              </mc:Choice>
              <mc:Fallback>
                <p:oleObj name="Picture" r:id="rId2" imgW="4607640" imgH="1359000" progId="Word.Picture.8">
                  <p:embed/>
                  <p:pic>
                    <p:nvPicPr>
                      <p:cNvPr id="4" name="Object 2"/>
                      <p:cNvPicPr>
                        <a:picLocks noChangeAspect="1" noChangeArrowheads="1"/>
                      </p:cNvPicPr>
                      <p:nvPr/>
                    </p:nvPicPr>
                    <p:blipFill>
                      <a:blip r:embed="rId3"/>
                      <a:srcRect/>
                      <a:stretch>
                        <a:fillRect/>
                      </a:stretch>
                    </p:blipFill>
                    <p:spPr bwMode="auto">
                      <a:xfrm>
                        <a:off x="582336" y="1335934"/>
                        <a:ext cx="7855011" cy="277482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372925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Shifting Elements</a:t>
            </a:r>
            <a:endParaRPr lang="en-US" b="1" dirty="0"/>
          </a:p>
        </p:txBody>
      </p:sp>
      <p:graphicFrame>
        <p:nvGraphicFramePr>
          <p:cNvPr id="5" name="Object 2"/>
          <p:cNvGraphicFramePr>
            <a:graphicFrameLocks noChangeAspect="1"/>
          </p:cNvGraphicFramePr>
          <p:nvPr/>
        </p:nvGraphicFramePr>
        <p:xfrm>
          <a:off x="797998" y="1248967"/>
          <a:ext cx="7903035" cy="2173964"/>
        </p:xfrm>
        <a:graphic>
          <a:graphicData uri="http://schemas.openxmlformats.org/presentationml/2006/ole">
            <mc:AlternateContent xmlns:mc="http://schemas.openxmlformats.org/markup-compatibility/2006">
              <mc:Choice xmlns:v="urn:schemas-microsoft-com:vml" Requires="v">
                <p:oleObj name="Picture" r:id="rId3" imgW="5203080" imgH="1367640" progId="Word.Picture.8">
                  <p:embed/>
                </p:oleObj>
              </mc:Choice>
              <mc:Fallback>
                <p:oleObj name="Picture" r:id="rId3" imgW="5203080" imgH="1367640" progId="Word.Picture.8">
                  <p:embed/>
                  <p:pic>
                    <p:nvPicPr>
                      <p:cNvPr id="5" name="Object 2"/>
                      <p:cNvPicPr>
                        <a:picLocks noChangeAspect="1" noChangeArrowheads="1"/>
                      </p:cNvPicPr>
                      <p:nvPr/>
                    </p:nvPicPr>
                    <p:blipFill>
                      <a:blip r:embed="rId4"/>
                      <a:srcRect/>
                      <a:stretch>
                        <a:fillRect/>
                      </a:stretch>
                    </p:blipFill>
                    <p:spPr bwMode="auto">
                      <a:xfrm>
                        <a:off x="797998" y="1248967"/>
                        <a:ext cx="7903035" cy="217396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687775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cs typeface="Times New Roman" pitchFamily="16" charset="0"/>
              </a:rPr>
              <a:t>Passing Arrays to Methods</a:t>
            </a:r>
            <a:endParaRPr lang="en-US" b="1" dirty="0"/>
          </a:p>
        </p:txBody>
      </p:sp>
      <p:sp>
        <p:nvSpPr>
          <p:cNvPr id="5" name="Rectangle 3"/>
          <p:cNvSpPr>
            <a:spLocks noGrp="1" noChangeArrowheads="1"/>
          </p:cNvSpPr>
          <p:nvPr>
            <p:ph type="body" idx="1"/>
          </p:nvPr>
        </p:nvSpPr>
        <p:spPr>
          <a:xfrm>
            <a:off x="311700" y="1690979"/>
            <a:ext cx="6484144" cy="1257300"/>
          </a:xfrm>
        </p:spPr>
        <p:txBody>
          <a:bodyPr>
            <a:normAutofit fontScale="92500" lnSpcReduction="10000"/>
          </a:bodyPr>
          <a:lstStyle/>
          <a:p>
            <a:pPr marL="0" indent="0">
              <a:lnSpc>
                <a:spcPct val="90000"/>
              </a:lnSpc>
              <a:buNone/>
            </a:pPr>
            <a:r>
              <a:rPr lang="en-US" altLang="en-US" sz="1800" b="1" dirty="0">
                <a:solidFill>
                  <a:schemeClr val="tx1"/>
                </a:solidFill>
                <a:latin typeface="Courier New" pitchFamily="49" charset="0"/>
                <a:cs typeface="Courier New" pitchFamily="49" charset="0"/>
              </a:rPr>
              <a:t>public static void </a:t>
            </a:r>
            <a:r>
              <a:rPr lang="en-US" altLang="en-US" sz="1800" b="1" dirty="0" err="1">
                <a:solidFill>
                  <a:schemeClr val="tx1"/>
                </a:solidFill>
                <a:latin typeface="Courier New" pitchFamily="49" charset="0"/>
                <a:cs typeface="Courier New" pitchFamily="49" charset="0"/>
              </a:rPr>
              <a:t>printArray</a:t>
            </a:r>
            <a:r>
              <a:rPr lang="en-US" altLang="en-US" sz="1800" b="1" dirty="0">
                <a:solidFill>
                  <a:schemeClr val="tx1"/>
                </a:solidFill>
                <a:latin typeface="Courier New" pitchFamily="49" charset="0"/>
                <a:cs typeface="Courier New" pitchFamily="49" charset="0"/>
              </a:rPr>
              <a:t>(</a:t>
            </a:r>
            <a:r>
              <a:rPr lang="en-US" altLang="en-US" sz="1800" b="1" dirty="0" err="1">
                <a:solidFill>
                  <a:schemeClr val="tx1"/>
                </a:solidFill>
                <a:latin typeface="Courier New" pitchFamily="49" charset="0"/>
                <a:cs typeface="Courier New" pitchFamily="49" charset="0"/>
              </a:rPr>
              <a:t>int</a:t>
            </a:r>
            <a:r>
              <a:rPr lang="en-US" altLang="en-US" sz="1800" b="1" dirty="0">
                <a:solidFill>
                  <a:schemeClr val="tx1"/>
                </a:solidFill>
                <a:latin typeface="Courier New" pitchFamily="49" charset="0"/>
                <a:cs typeface="Courier New" pitchFamily="49" charset="0"/>
              </a:rPr>
              <a:t>[] array) {</a:t>
            </a:r>
            <a:endParaRPr lang="en-US" altLang="en-US" sz="1800" b="1" dirty="0">
              <a:solidFill>
                <a:schemeClr val="tx1"/>
              </a:solidFill>
              <a:latin typeface="Courier" pitchFamily="49" charset="0"/>
              <a:cs typeface="Times New Roman" pitchFamily="16" charset="0"/>
            </a:endParaRPr>
          </a:p>
          <a:p>
            <a:pPr marL="0" indent="0">
              <a:lnSpc>
                <a:spcPct val="90000"/>
              </a:lnSpc>
              <a:buNone/>
            </a:pPr>
            <a:r>
              <a:rPr lang="en-US" altLang="en-US" sz="1800" b="1" dirty="0">
                <a:solidFill>
                  <a:schemeClr val="tx1"/>
                </a:solidFill>
                <a:latin typeface="Courier New" pitchFamily="49" charset="0"/>
                <a:cs typeface="Courier New" pitchFamily="49" charset="0"/>
              </a:rPr>
              <a:t>  for (</a:t>
            </a:r>
            <a:r>
              <a:rPr lang="en-US" altLang="en-US" sz="1800" b="1" dirty="0" err="1">
                <a:solidFill>
                  <a:schemeClr val="tx1"/>
                </a:solidFill>
                <a:latin typeface="Courier New" pitchFamily="49" charset="0"/>
                <a:cs typeface="Courier New" pitchFamily="49" charset="0"/>
              </a:rPr>
              <a:t>int</a:t>
            </a:r>
            <a:r>
              <a:rPr lang="en-US" altLang="en-US" sz="1800" b="1" dirty="0">
                <a:solidFill>
                  <a:schemeClr val="tx1"/>
                </a:solidFill>
                <a:latin typeface="Courier New" pitchFamily="49" charset="0"/>
                <a:cs typeface="Courier New" pitchFamily="49" charset="0"/>
              </a:rPr>
              <a:t> </a:t>
            </a:r>
            <a:r>
              <a:rPr lang="en-US" altLang="en-US" sz="1800" b="1" dirty="0" err="1">
                <a:solidFill>
                  <a:schemeClr val="tx1"/>
                </a:solidFill>
                <a:latin typeface="Courier New" pitchFamily="49" charset="0"/>
                <a:cs typeface="Courier New" pitchFamily="49" charset="0"/>
              </a:rPr>
              <a:t>i</a:t>
            </a:r>
            <a:r>
              <a:rPr lang="en-US" altLang="en-US" sz="1800" b="1" dirty="0">
                <a:solidFill>
                  <a:schemeClr val="tx1"/>
                </a:solidFill>
                <a:latin typeface="Courier New" pitchFamily="49" charset="0"/>
                <a:cs typeface="Courier New" pitchFamily="49" charset="0"/>
              </a:rPr>
              <a:t> = 0; </a:t>
            </a:r>
            <a:r>
              <a:rPr lang="en-US" altLang="en-US" sz="1800" b="1" dirty="0" err="1">
                <a:solidFill>
                  <a:schemeClr val="tx1"/>
                </a:solidFill>
                <a:latin typeface="Courier New" pitchFamily="49" charset="0"/>
                <a:cs typeface="Courier New" pitchFamily="49" charset="0"/>
              </a:rPr>
              <a:t>i</a:t>
            </a:r>
            <a:r>
              <a:rPr lang="en-US" altLang="en-US" sz="1800" b="1" dirty="0">
                <a:solidFill>
                  <a:schemeClr val="tx1"/>
                </a:solidFill>
                <a:latin typeface="Courier New" pitchFamily="49" charset="0"/>
                <a:cs typeface="Courier New" pitchFamily="49" charset="0"/>
              </a:rPr>
              <a:t> &lt; </a:t>
            </a:r>
            <a:r>
              <a:rPr lang="en-US" altLang="en-US" sz="1800" b="1" dirty="0" err="1">
                <a:solidFill>
                  <a:schemeClr val="tx1"/>
                </a:solidFill>
                <a:latin typeface="Courier New" pitchFamily="49" charset="0"/>
                <a:cs typeface="Courier New" pitchFamily="49" charset="0"/>
              </a:rPr>
              <a:t>array.length</a:t>
            </a:r>
            <a:r>
              <a:rPr lang="en-US" altLang="en-US" sz="1800" b="1" dirty="0">
                <a:solidFill>
                  <a:schemeClr val="tx1"/>
                </a:solidFill>
                <a:latin typeface="Courier New" pitchFamily="49" charset="0"/>
                <a:cs typeface="Courier New" pitchFamily="49" charset="0"/>
              </a:rPr>
              <a:t>; </a:t>
            </a:r>
            <a:r>
              <a:rPr lang="en-US" altLang="en-US" sz="1800" b="1" dirty="0" err="1">
                <a:solidFill>
                  <a:schemeClr val="tx1"/>
                </a:solidFill>
                <a:latin typeface="Courier New" pitchFamily="49" charset="0"/>
                <a:cs typeface="Courier New" pitchFamily="49" charset="0"/>
              </a:rPr>
              <a:t>i</a:t>
            </a:r>
            <a:r>
              <a:rPr lang="en-US" altLang="en-US" sz="1800" b="1" dirty="0">
                <a:solidFill>
                  <a:schemeClr val="tx1"/>
                </a:solidFill>
                <a:latin typeface="Courier New" pitchFamily="49" charset="0"/>
                <a:cs typeface="Courier New" pitchFamily="49" charset="0"/>
              </a:rPr>
              <a:t>++) {</a:t>
            </a:r>
            <a:endParaRPr lang="en-US" altLang="en-US" sz="1800" b="1" dirty="0">
              <a:solidFill>
                <a:schemeClr val="tx1"/>
              </a:solidFill>
              <a:latin typeface="Courier" pitchFamily="49" charset="0"/>
              <a:cs typeface="Times New Roman" pitchFamily="16" charset="0"/>
            </a:endParaRPr>
          </a:p>
          <a:p>
            <a:pPr marL="0" indent="0">
              <a:lnSpc>
                <a:spcPct val="90000"/>
              </a:lnSpc>
              <a:buNone/>
            </a:pPr>
            <a:r>
              <a:rPr lang="en-US" altLang="en-US" sz="1800" b="1" dirty="0">
                <a:solidFill>
                  <a:schemeClr val="tx1"/>
                </a:solidFill>
                <a:latin typeface="Courier New" pitchFamily="49" charset="0"/>
                <a:cs typeface="Courier New" pitchFamily="49" charset="0"/>
              </a:rPr>
              <a:t>    </a:t>
            </a:r>
            <a:r>
              <a:rPr lang="en-US" altLang="en-US" sz="1800" b="1" dirty="0" err="1">
                <a:solidFill>
                  <a:schemeClr val="tx1"/>
                </a:solidFill>
                <a:latin typeface="Courier New" pitchFamily="49" charset="0"/>
                <a:cs typeface="Courier New" pitchFamily="49" charset="0"/>
              </a:rPr>
              <a:t>System.out.print</a:t>
            </a:r>
            <a:r>
              <a:rPr lang="en-US" altLang="en-US" sz="1800" b="1" dirty="0">
                <a:solidFill>
                  <a:schemeClr val="tx1"/>
                </a:solidFill>
                <a:latin typeface="Courier New" pitchFamily="49" charset="0"/>
                <a:cs typeface="Courier New" pitchFamily="49" charset="0"/>
              </a:rPr>
              <a:t>(array[</a:t>
            </a:r>
            <a:r>
              <a:rPr lang="en-US" altLang="en-US" sz="1800" b="1" dirty="0" err="1">
                <a:solidFill>
                  <a:schemeClr val="tx1"/>
                </a:solidFill>
                <a:latin typeface="Courier New" pitchFamily="49" charset="0"/>
                <a:cs typeface="Courier New" pitchFamily="49" charset="0"/>
              </a:rPr>
              <a:t>i</a:t>
            </a:r>
            <a:r>
              <a:rPr lang="en-US" altLang="en-US" sz="1800" b="1" dirty="0">
                <a:solidFill>
                  <a:schemeClr val="tx1"/>
                </a:solidFill>
                <a:latin typeface="Courier New" pitchFamily="49" charset="0"/>
                <a:cs typeface="Courier New" pitchFamily="49" charset="0"/>
              </a:rPr>
              <a:t>] + " ");</a:t>
            </a:r>
            <a:endParaRPr lang="en-US" altLang="en-US" sz="1800" b="1" dirty="0">
              <a:solidFill>
                <a:schemeClr val="tx1"/>
              </a:solidFill>
              <a:latin typeface="Courier" pitchFamily="49" charset="0"/>
              <a:cs typeface="Times New Roman" pitchFamily="16" charset="0"/>
            </a:endParaRPr>
          </a:p>
          <a:p>
            <a:pPr marL="0" indent="0">
              <a:lnSpc>
                <a:spcPct val="90000"/>
              </a:lnSpc>
              <a:buNone/>
            </a:pPr>
            <a:r>
              <a:rPr lang="en-US" altLang="en-US" sz="1800" b="1" dirty="0">
                <a:solidFill>
                  <a:schemeClr val="tx1"/>
                </a:solidFill>
                <a:latin typeface="Courier New" pitchFamily="49" charset="0"/>
                <a:cs typeface="Courier New" pitchFamily="49" charset="0"/>
              </a:rPr>
              <a:t>  }</a:t>
            </a:r>
            <a:endParaRPr lang="en-US" altLang="en-US" sz="1800" b="1" dirty="0">
              <a:solidFill>
                <a:schemeClr val="tx1"/>
              </a:solidFill>
              <a:latin typeface="Courier" pitchFamily="49" charset="0"/>
              <a:cs typeface="Times New Roman" pitchFamily="16" charset="0"/>
            </a:endParaRPr>
          </a:p>
          <a:p>
            <a:pPr marL="0" indent="0">
              <a:lnSpc>
                <a:spcPct val="90000"/>
              </a:lnSpc>
              <a:buNone/>
            </a:pPr>
            <a:r>
              <a:rPr lang="en-US" altLang="en-US" sz="1800" b="1" dirty="0">
                <a:solidFill>
                  <a:schemeClr val="tx1"/>
                </a:solidFill>
                <a:latin typeface="Courier New" pitchFamily="49" charset="0"/>
                <a:cs typeface="Courier New" pitchFamily="49" charset="0"/>
              </a:rPr>
              <a:t>}</a:t>
            </a:r>
            <a:r>
              <a:rPr lang="en-US" altLang="en-US" sz="1800" b="1" dirty="0">
                <a:solidFill>
                  <a:schemeClr val="tx1"/>
                </a:solidFill>
              </a:rPr>
              <a:t> </a:t>
            </a:r>
          </a:p>
        </p:txBody>
      </p:sp>
      <p:sp>
        <p:nvSpPr>
          <p:cNvPr id="6" name="Rectangle 6"/>
          <p:cNvSpPr>
            <a:spLocks noChangeArrowheads="1"/>
          </p:cNvSpPr>
          <p:nvPr/>
        </p:nvSpPr>
        <p:spPr bwMode="auto">
          <a:xfrm>
            <a:off x="4959154" y="405509"/>
            <a:ext cx="387314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eaLnBrk="0" fontAlgn="base" hangingPunct="0">
              <a:lnSpc>
                <a:spcPct val="90000"/>
              </a:lnSpc>
              <a:spcBef>
                <a:spcPct val="20000"/>
              </a:spcBef>
              <a:spcAft>
                <a:spcPct val="0"/>
              </a:spcAft>
              <a:buClr>
                <a:srgbClr val="696464"/>
              </a:buClr>
              <a:buSzPct val="75000"/>
              <a:buFont typeface="Monotype Sorts" pitchFamily="2" charset="2"/>
              <a:buNone/>
            </a:pPr>
            <a:r>
              <a:rPr lang="en-US" altLang="en-US" sz="1350" b="1" kern="1200" dirty="0">
                <a:solidFill>
                  <a:prstClr val="black"/>
                </a:solidFill>
                <a:latin typeface="Courier New" pitchFamily="49" charset="0"/>
                <a:ea typeface="+mn-ea"/>
                <a:cs typeface="Courier New" pitchFamily="49" charset="0"/>
              </a:rPr>
              <a:t>Invoke the method</a:t>
            </a:r>
          </a:p>
          <a:p>
            <a:pPr eaLnBrk="0" fontAlgn="base" hangingPunct="0">
              <a:lnSpc>
                <a:spcPct val="90000"/>
              </a:lnSpc>
              <a:spcBef>
                <a:spcPct val="20000"/>
              </a:spcBef>
              <a:spcAft>
                <a:spcPct val="0"/>
              </a:spcAft>
              <a:buClr>
                <a:srgbClr val="696464"/>
              </a:buClr>
              <a:buSzPct val="75000"/>
              <a:buFont typeface="Monotype Sorts" pitchFamily="2" charset="2"/>
              <a:buNone/>
            </a:pPr>
            <a:r>
              <a:rPr lang="en-US" altLang="en-US" sz="1350" b="1" kern="1200" dirty="0" err="1">
                <a:solidFill>
                  <a:prstClr val="black"/>
                </a:solidFill>
                <a:latin typeface="Courier New" pitchFamily="49" charset="0"/>
                <a:ea typeface="+mn-ea"/>
                <a:cs typeface="Courier New" pitchFamily="49" charset="0"/>
              </a:rPr>
              <a:t>int</a:t>
            </a:r>
            <a:r>
              <a:rPr lang="en-US" altLang="en-US" sz="1350" b="1" kern="1200" dirty="0">
                <a:solidFill>
                  <a:prstClr val="black"/>
                </a:solidFill>
                <a:latin typeface="Courier New" pitchFamily="49" charset="0"/>
                <a:ea typeface="+mn-ea"/>
                <a:cs typeface="Courier New" pitchFamily="49" charset="0"/>
              </a:rPr>
              <a:t>[] list = {3, 1, 2, 6, 4, 2};</a:t>
            </a:r>
          </a:p>
          <a:p>
            <a:pPr eaLnBrk="0" fontAlgn="base" hangingPunct="0">
              <a:lnSpc>
                <a:spcPct val="90000"/>
              </a:lnSpc>
              <a:spcBef>
                <a:spcPct val="20000"/>
              </a:spcBef>
              <a:spcAft>
                <a:spcPct val="0"/>
              </a:spcAft>
              <a:buClr>
                <a:srgbClr val="696464"/>
              </a:buClr>
              <a:buSzPct val="75000"/>
              <a:buFont typeface="Monotype Sorts" pitchFamily="2" charset="2"/>
              <a:buNone/>
            </a:pPr>
            <a:r>
              <a:rPr lang="en-US" altLang="en-US" sz="1350" b="1" kern="1200" dirty="0" err="1">
                <a:solidFill>
                  <a:prstClr val="black"/>
                </a:solidFill>
                <a:latin typeface="Courier New" pitchFamily="49" charset="0"/>
                <a:ea typeface="+mn-ea"/>
                <a:cs typeface="Courier New" pitchFamily="49" charset="0"/>
              </a:rPr>
              <a:t>printArray</a:t>
            </a:r>
            <a:r>
              <a:rPr lang="en-US" altLang="en-US" sz="1350" b="1" kern="1200" dirty="0">
                <a:solidFill>
                  <a:prstClr val="black"/>
                </a:solidFill>
                <a:latin typeface="Courier New" pitchFamily="49" charset="0"/>
                <a:ea typeface="+mn-ea"/>
                <a:cs typeface="Courier New" pitchFamily="49" charset="0"/>
              </a:rPr>
              <a:t>(list);</a:t>
            </a:r>
          </a:p>
          <a:p>
            <a:pPr eaLnBrk="0" fontAlgn="base" hangingPunct="0">
              <a:lnSpc>
                <a:spcPct val="90000"/>
              </a:lnSpc>
              <a:spcBef>
                <a:spcPct val="20000"/>
              </a:spcBef>
              <a:spcAft>
                <a:spcPct val="0"/>
              </a:spcAft>
              <a:buClr>
                <a:srgbClr val="696464"/>
              </a:buClr>
              <a:buSzPct val="75000"/>
              <a:buFont typeface="Monotype Sorts" pitchFamily="2" charset="2"/>
              <a:buNone/>
            </a:pPr>
            <a:r>
              <a:rPr lang="en-US" altLang="en-US" sz="1350" b="1" kern="1200" dirty="0">
                <a:solidFill>
                  <a:prstClr val="black"/>
                </a:solidFill>
                <a:latin typeface="Courier New" pitchFamily="49" charset="0"/>
                <a:ea typeface="+mn-ea"/>
                <a:cs typeface="Courier New" pitchFamily="49" charset="0"/>
              </a:rPr>
              <a:t>            </a:t>
            </a:r>
          </a:p>
        </p:txBody>
      </p:sp>
      <p:sp>
        <p:nvSpPr>
          <p:cNvPr id="7" name="Line 7"/>
          <p:cNvSpPr>
            <a:spLocks noChangeShapeType="1"/>
          </p:cNvSpPr>
          <p:nvPr/>
        </p:nvSpPr>
        <p:spPr bwMode="auto">
          <a:xfrm flipH="1">
            <a:off x="5308375" y="1057241"/>
            <a:ext cx="1011505" cy="765897"/>
          </a:xfrm>
          <a:prstGeom prst="line">
            <a:avLst/>
          </a:prstGeom>
          <a:noFill/>
          <a:ln w="28575">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cs typeface="+mn-cs"/>
            </a:endParaRPr>
          </a:p>
        </p:txBody>
      </p:sp>
      <p:sp>
        <p:nvSpPr>
          <p:cNvPr id="8" name="Rectangle 11"/>
          <p:cNvSpPr>
            <a:spLocks noChangeArrowheads="1"/>
          </p:cNvSpPr>
          <p:nvPr/>
        </p:nvSpPr>
        <p:spPr bwMode="auto">
          <a:xfrm>
            <a:off x="3553772" y="2972142"/>
            <a:ext cx="52006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eaLnBrk="0" fontAlgn="base" hangingPunct="0">
              <a:lnSpc>
                <a:spcPct val="90000"/>
              </a:lnSpc>
              <a:spcBef>
                <a:spcPct val="20000"/>
              </a:spcBef>
              <a:spcAft>
                <a:spcPct val="0"/>
              </a:spcAft>
              <a:buClr>
                <a:srgbClr val="696464"/>
              </a:buClr>
              <a:buSzPct val="75000"/>
            </a:pPr>
            <a:r>
              <a:rPr lang="en-US" altLang="en-US" sz="1400" b="1" kern="1200" dirty="0">
                <a:solidFill>
                  <a:prstClr val="black"/>
                </a:solidFill>
                <a:latin typeface="Courier New" pitchFamily="49" charset="0"/>
                <a:cs typeface="Courier New" pitchFamily="49" charset="0"/>
              </a:rPr>
              <a:t>OR</a:t>
            </a:r>
            <a:endParaRPr lang="en-US" altLang="en-US" sz="1350" b="1" kern="1200" dirty="0">
              <a:solidFill>
                <a:prstClr val="black"/>
              </a:solidFill>
              <a:latin typeface="Courier New" pitchFamily="49" charset="0"/>
              <a:ea typeface="+mn-ea"/>
              <a:cs typeface="Courier New" pitchFamily="49" charset="0"/>
            </a:endParaRPr>
          </a:p>
          <a:p>
            <a:pPr eaLnBrk="0" fontAlgn="base" hangingPunct="0">
              <a:lnSpc>
                <a:spcPct val="90000"/>
              </a:lnSpc>
              <a:spcBef>
                <a:spcPct val="20000"/>
              </a:spcBef>
              <a:spcAft>
                <a:spcPct val="0"/>
              </a:spcAft>
              <a:buClr>
                <a:srgbClr val="696464"/>
              </a:buClr>
              <a:buSzPct val="75000"/>
              <a:buFont typeface="Monotype Sorts" pitchFamily="2" charset="2"/>
              <a:buNone/>
            </a:pPr>
            <a:r>
              <a:rPr lang="en-US" altLang="en-US" sz="1350" b="1" kern="1200" dirty="0">
                <a:solidFill>
                  <a:prstClr val="black"/>
                </a:solidFill>
                <a:latin typeface="Courier New" pitchFamily="49" charset="0"/>
                <a:ea typeface="+mn-ea"/>
                <a:cs typeface="Courier New" pitchFamily="49" charset="0"/>
              </a:rPr>
              <a:t>Invoke the method</a:t>
            </a:r>
          </a:p>
          <a:p>
            <a:pPr eaLnBrk="0" fontAlgn="base" hangingPunct="0">
              <a:lnSpc>
                <a:spcPct val="90000"/>
              </a:lnSpc>
              <a:spcBef>
                <a:spcPct val="20000"/>
              </a:spcBef>
              <a:spcAft>
                <a:spcPct val="0"/>
              </a:spcAft>
              <a:buClr>
                <a:srgbClr val="696464"/>
              </a:buClr>
              <a:buSzPct val="75000"/>
              <a:buFont typeface="Monotype Sorts" pitchFamily="2" charset="2"/>
              <a:buNone/>
            </a:pPr>
            <a:r>
              <a:rPr lang="en-US" altLang="en-US" sz="1350" b="1" kern="1200" dirty="0" err="1">
                <a:solidFill>
                  <a:prstClr val="black"/>
                </a:solidFill>
                <a:latin typeface="Courier New" pitchFamily="49" charset="0"/>
                <a:ea typeface="+mn-ea"/>
                <a:cs typeface="Courier New" pitchFamily="49" charset="0"/>
              </a:rPr>
              <a:t>printArray</a:t>
            </a:r>
            <a:r>
              <a:rPr lang="en-US" altLang="en-US" sz="1350" b="1" kern="1200" dirty="0">
                <a:solidFill>
                  <a:prstClr val="black"/>
                </a:solidFill>
                <a:latin typeface="Courier New" pitchFamily="49" charset="0"/>
                <a:ea typeface="+mn-ea"/>
                <a:cs typeface="Courier New" pitchFamily="49" charset="0"/>
              </a:rPr>
              <a:t>(new </a:t>
            </a:r>
            <a:r>
              <a:rPr lang="en-US" altLang="en-US" sz="1350" b="1" kern="1200" dirty="0" err="1">
                <a:solidFill>
                  <a:prstClr val="black"/>
                </a:solidFill>
                <a:latin typeface="Courier New" pitchFamily="49" charset="0"/>
                <a:ea typeface="+mn-ea"/>
                <a:cs typeface="Courier New" pitchFamily="49" charset="0"/>
              </a:rPr>
              <a:t>int</a:t>
            </a:r>
            <a:r>
              <a:rPr lang="en-US" altLang="en-US" sz="1350" b="1" kern="1200" dirty="0">
                <a:solidFill>
                  <a:prstClr val="black"/>
                </a:solidFill>
                <a:latin typeface="Courier New" pitchFamily="49" charset="0"/>
                <a:ea typeface="+mn-ea"/>
                <a:cs typeface="Courier New" pitchFamily="49" charset="0"/>
              </a:rPr>
              <a:t>[]{3, 1, 2, 6, 4, 2});</a:t>
            </a:r>
          </a:p>
        </p:txBody>
      </p:sp>
      <p:sp>
        <p:nvSpPr>
          <p:cNvPr id="9" name="Line 12"/>
          <p:cNvSpPr>
            <a:spLocks noChangeShapeType="1"/>
          </p:cNvSpPr>
          <p:nvPr/>
        </p:nvSpPr>
        <p:spPr bwMode="auto">
          <a:xfrm flipH="1" flipV="1">
            <a:off x="5600700" y="1978647"/>
            <a:ext cx="0" cy="1439573"/>
          </a:xfrm>
          <a:prstGeom prst="line">
            <a:avLst/>
          </a:prstGeom>
          <a:noFill/>
          <a:ln w="28575">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cs typeface="+mn-cs"/>
            </a:endParaRPr>
          </a:p>
        </p:txBody>
      </p:sp>
      <p:sp>
        <p:nvSpPr>
          <p:cNvPr id="10" name="Line 14"/>
          <p:cNvSpPr>
            <a:spLocks noChangeShapeType="1"/>
          </p:cNvSpPr>
          <p:nvPr/>
        </p:nvSpPr>
        <p:spPr bwMode="auto">
          <a:xfrm flipH="1" flipV="1">
            <a:off x="6207602" y="3709691"/>
            <a:ext cx="0" cy="171450"/>
          </a:xfrm>
          <a:prstGeom prst="line">
            <a:avLst/>
          </a:prstGeom>
          <a:noFill/>
          <a:ln w="28575">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cs typeface="+mn-cs"/>
            </a:endParaRPr>
          </a:p>
        </p:txBody>
      </p:sp>
      <p:sp>
        <p:nvSpPr>
          <p:cNvPr id="11" name="Line 15"/>
          <p:cNvSpPr>
            <a:spLocks noChangeShapeType="1"/>
          </p:cNvSpPr>
          <p:nvPr/>
        </p:nvSpPr>
        <p:spPr bwMode="auto">
          <a:xfrm>
            <a:off x="4827405" y="3709691"/>
            <a:ext cx="268605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cs typeface="+mn-cs"/>
            </a:endParaRPr>
          </a:p>
        </p:txBody>
      </p:sp>
      <p:sp>
        <p:nvSpPr>
          <p:cNvPr id="12" name="Rectangle 16"/>
          <p:cNvSpPr>
            <a:spLocks noChangeArrowheads="1"/>
          </p:cNvSpPr>
          <p:nvPr/>
        </p:nvSpPr>
        <p:spPr bwMode="auto">
          <a:xfrm>
            <a:off x="5308375" y="3943692"/>
            <a:ext cx="17716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9056" tIns="34529" rIns="69056" bIns="34529"/>
          <a:lstStyle>
            <a:lvl1pPr>
              <a:defRPr sz="1600">
                <a:solidFill>
                  <a:schemeClr val="tx1"/>
                </a:solidFill>
                <a:latin typeface="Times New Roman" pitchFamily="16" charset="0"/>
              </a:defRPr>
            </a:lvl1pPr>
            <a:lvl2pPr marL="742950" indent="-285750">
              <a:defRPr sz="1600">
                <a:solidFill>
                  <a:schemeClr val="tx1"/>
                </a:solidFill>
                <a:latin typeface="Times New Roman" pitchFamily="16" charset="0"/>
              </a:defRPr>
            </a:lvl2pPr>
            <a:lvl3pPr marL="1143000" indent="-228600">
              <a:defRPr sz="1600">
                <a:solidFill>
                  <a:schemeClr val="tx1"/>
                </a:solidFill>
                <a:latin typeface="Times New Roman" pitchFamily="16" charset="0"/>
              </a:defRPr>
            </a:lvl3pPr>
            <a:lvl4pPr marL="1600200" indent="-228600">
              <a:defRPr sz="1600">
                <a:solidFill>
                  <a:schemeClr val="tx1"/>
                </a:solidFill>
                <a:latin typeface="Times New Roman" pitchFamily="16" charset="0"/>
              </a:defRPr>
            </a:lvl4pPr>
            <a:lvl5pPr marL="2057400" indent="-228600">
              <a:defRPr sz="1600">
                <a:solidFill>
                  <a:schemeClr val="tx1"/>
                </a:solidFill>
                <a:latin typeface="Times New Roman" pitchFamily="16" charset="0"/>
              </a:defRPr>
            </a:lvl5pPr>
            <a:lvl6pPr marL="2514600" indent="-228600" eaLnBrk="0" fontAlgn="base" hangingPunct="0">
              <a:spcBef>
                <a:spcPct val="0"/>
              </a:spcBef>
              <a:spcAft>
                <a:spcPct val="0"/>
              </a:spcAft>
              <a:defRPr sz="1600">
                <a:solidFill>
                  <a:schemeClr val="tx1"/>
                </a:solidFill>
                <a:latin typeface="Times New Roman" pitchFamily="16" charset="0"/>
              </a:defRPr>
            </a:lvl6pPr>
            <a:lvl7pPr marL="2971800" indent="-228600" eaLnBrk="0" fontAlgn="base" hangingPunct="0">
              <a:spcBef>
                <a:spcPct val="0"/>
              </a:spcBef>
              <a:spcAft>
                <a:spcPct val="0"/>
              </a:spcAft>
              <a:defRPr sz="1600">
                <a:solidFill>
                  <a:schemeClr val="tx1"/>
                </a:solidFill>
                <a:latin typeface="Times New Roman" pitchFamily="16" charset="0"/>
              </a:defRPr>
            </a:lvl7pPr>
            <a:lvl8pPr marL="3429000" indent="-228600" eaLnBrk="0" fontAlgn="base" hangingPunct="0">
              <a:spcBef>
                <a:spcPct val="0"/>
              </a:spcBef>
              <a:spcAft>
                <a:spcPct val="0"/>
              </a:spcAft>
              <a:defRPr sz="1600">
                <a:solidFill>
                  <a:schemeClr val="tx1"/>
                </a:solidFill>
                <a:latin typeface="Times New Roman" pitchFamily="16" charset="0"/>
              </a:defRPr>
            </a:lvl8pPr>
            <a:lvl9pPr marL="3886200" indent="-228600" eaLnBrk="0" fontAlgn="base" hangingPunct="0">
              <a:spcBef>
                <a:spcPct val="0"/>
              </a:spcBef>
              <a:spcAft>
                <a:spcPct val="0"/>
              </a:spcAft>
              <a:defRPr sz="1600">
                <a:solidFill>
                  <a:schemeClr val="tx1"/>
                </a:solidFill>
                <a:latin typeface="Times New Roman" pitchFamily="16" charset="0"/>
              </a:defRPr>
            </a:lvl9pPr>
          </a:lstStyle>
          <a:p>
            <a:pPr eaLnBrk="0" fontAlgn="base" hangingPunct="0">
              <a:lnSpc>
                <a:spcPct val="90000"/>
              </a:lnSpc>
              <a:spcBef>
                <a:spcPct val="20000"/>
              </a:spcBef>
              <a:spcAft>
                <a:spcPct val="0"/>
              </a:spcAft>
              <a:buClr>
                <a:srgbClr val="696464"/>
              </a:buClr>
              <a:buSzPct val="75000"/>
              <a:buFont typeface="Monotype Sorts" pitchFamily="2" charset="2"/>
              <a:buNone/>
            </a:pPr>
            <a:r>
              <a:rPr lang="en-US" altLang="en-US" sz="1350" kern="1200" dirty="0">
                <a:solidFill>
                  <a:prstClr val="black"/>
                </a:solidFill>
                <a:latin typeface="Courier New" pitchFamily="49" charset="0"/>
                <a:ea typeface="+mn-ea"/>
                <a:cs typeface="Courier New" pitchFamily="49" charset="0"/>
              </a:rPr>
              <a:t>Anonymous array</a:t>
            </a:r>
          </a:p>
        </p:txBody>
      </p:sp>
    </p:spTree>
    <p:extLst>
      <p:ext uri="{BB962C8B-B14F-4D97-AF65-F5344CB8AC3E}">
        <p14:creationId xmlns:p14="http://schemas.microsoft.com/office/powerpoint/2010/main" val="2022061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p:bldP spid="9" grpId="0" animBg="1"/>
      <p:bldP spid="10" grpId="0" animBg="1"/>
      <p:bldP spid="11" grpId="0" animBg="1"/>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Pass By Value</a:t>
            </a:r>
          </a:p>
        </p:txBody>
      </p:sp>
      <p:sp>
        <p:nvSpPr>
          <p:cNvPr id="3" name="Text Placeholder 2"/>
          <p:cNvSpPr>
            <a:spLocks noGrp="1"/>
          </p:cNvSpPr>
          <p:nvPr>
            <p:ph type="body" idx="1"/>
          </p:nvPr>
        </p:nvSpPr>
        <p:spPr/>
        <p:txBody>
          <a:bodyPr>
            <a:normAutofit/>
          </a:bodyPr>
          <a:lstStyle/>
          <a:p>
            <a:pPr marL="0" indent="0">
              <a:lnSpc>
                <a:spcPct val="90000"/>
              </a:lnSpc>
              <a:buNone/>
            </a:pPr>
            <a:r>
              <a:rPr lang="en-US" altLang="en-US" sz="1900" dirty="0">
                <a:cs typeface="Times New Roman" pitchFamily="16" charset="0"/>
              </a:rPr>
              <a:t>Java uses </a:t>
            </a:r>
            <a:r>
              <a:rPr lang="en-US" altLang="en-US" sz="1900" b="1" i="1" dirty="0">
                <a:solidFill>
                  <a:schemeClr val="tx1"/>
                </a:solidFill>
                <a:cs typeface="Times New Roman" pitchFamily="16" charset="0"/>
              </a:rPr>
              <a:t>pass by value</a:t>
            </a:r>
            <a:r>
              <a:rPr lang="en-US" altLang="en-US" sz="1900" b="1" dirty="0">
                <a:solidFill>
                  <a:schemeClr val="tx1"/>
                </a:solidFill>
                <a:cs typeface="Times New Roman" pitchFamily="16" charset="0"/>
              </a:rPr>
              <a:t> </a:t>
            </a:r>
            <a:r>
              <a:rPr lang="en-US" altLang="en-US" sz="1900" dirty="0">
                <a:cs typeface="Times New Roman" pitchFamily="16" charset="0"/>
              </a:rPr>
              <a:t>to pass arguments to a method. </a:t>
            </a:r>
          </a:p>
          <a:p>
            <a:pPr marL="0" indent="0">
              <a:lnSpc>
                <a:spcPct val="100000"/>
              </a:lnSpc>
              <a:buNone/>
            </a:pPr>
            <a:endParaRPr lang="en-US" altLang="en-US" sz="1900" dirty="0">
              <a:cs typeface="Times New Roman" pitchFamily="16" charset="0"/>
            </a:endParaRPr>
          </a:p>
          <a:p>
            <a:pPr marL="0" indent="0">
              <a:lnSpc>
                <a:spcPct val="100000"/>
              </a:lnSpc>
            </a:pPr>
            <a:r>
              <a:rPr lang="en-US" altLang="en-US" sz="1900" dirty="0">
                <a:cs typeface="Times New Roman" pitchFamily="16" charset="0"/>
              </a:rPr>
              <a:t> For a parameter of a </a:t>
            </a:r>
            <a:r>
              <a:rPr lang="en-US" altLang="en-US" sz="1900" b="1" dirty="0">
                <a:solidFill>
                  <a:schemeClr val="tx1"/>
                </a:solidFill>
                <a:cs typeface="Times New Roman" pitchFamily="16" charset="0"/>
              </a:rPr>
              <a:t>primitive</a:t>
            </a:r>
            <a:r>
              <a:rPr lang="en-US" altLang="en-US" sz="1900" dirty="0">
                <a:cs typeface="Times New Roman" pitchFamily="16" charset="0"/>
              </a:rPr>
              <a:t> type value, the actual value is passed.</a:t>
            </a:r>
          </a:p>
          <a:p>
            <a:pPr marL="742950" lvl="1" indent="-285750">
              <a:lnSpc>
                <a:spcPct val="100000"/>
              </a:lnSpc>
            </a:pPr>
            <a:r>
              <a:rPr lang="en-US" altLang="en-US" sz="1800" dirty="0">
                <a:cs typeface="Times New Roman" pitchFamily="16" charset="0"/>
              </a:rPr>
              <a:t>Changing the value of the local parameter inside the method </a:t>
            </a:r>
            <a:r>
              <a:rPr lang="en-US" altLang="en-US" sz="1900" b="1" dirty="0">
                <a:solidFill>
                  <a:schemeClr val="tx1"/>
                </a:solidFill>
                <a:cs typeface="Times New Roman" pitchFamily="16" charset="0"/>
              </a:rPr>
              <a:t>does not affect the value </a:t>
            </a:r>
            <a:r>
              <a:rPr lang="en-US" altLang="en-US" sz="1800" dirty="0">
                <a:cs typeface="Times New Roman" pitchFamily="16" charset="0"/>
              </a:rPr>
              <a:t>of the variable outside the method.</a:t>
            </a:r>
          </a:p>
          <a:p>
            <a:pPr marL="205979" lvl="1" indent="0">
              <a:lnSpc>
                <a:spcPct val="100000"/>
              </a:lnSpc>
              <a:buNone/>
            </a:pPr>
            <a:endParaRPr lang="en-US" altLang="en-US" sz="1900" dirty="0">
              <a:cs typeface="Times New Roman" pitchFamily="16" charset="0"/>
            </a:endParaRPr>
          </a:p>
          <a:p>
            <a:pPr marL="0" indent="0">
              <a:lnSpc>
                <a:spcPct val="100000"/>
              </a:lnSpc>
            </a:pPr>
            <a:r>
              <a:rPr lang="en-US" altLang="en-US" sz="1900" dirty="0">
                <a:cs typeface="Times New Roman" pitchFamily="16" charset="0"/>
              </a:rPr>
              <a:t> For a parameter of an </a:t>
            </a:r>
            <a:r>
              <a:rPr lang="en-US" altLang="en-US" sz="1900" b="1" dirty="0">
                <a:solidFill>
                  <a:schemeClr val="tx1"/>
                </a:solidFill>
                <a:cs typeface="Times New Roman" pitchFamily="16" charset="0"/>
              </a:rPr>
              <a:t>array</a:t>
            </a:r>
            <a:r>
              <a:rPr lang="en-US" altLang="en-US" sz="1900" dirty="0">
                <a:cs typeface="Times New Roman" pitchFamily="16" charset="0"/>
              </a:rPr>
              <a:t> type, the value of the parameter contains a reference to an array; this reference is passed to the method. </a:t>
            </a:r>
          </a:p>
          <a:p>
            <a:pPr marL="742950" lvl="1" indent="-285750">
              <a:lnSpc>
                <a:spcPct val="100000"/>
              </a:lnSpc>
            </a:pPr>
            <a:r>
              <a:rPr lang="en-US" altLang="en-US" sz="1800" dirty="0">
                <a:cs typeface="Times New Roman" pitchFamily="16" charset="0"/>
              </a:rPr>
              <a:t>Any changes to the array that occur inside the method body will </a:t>
            </a:r>
            <a:r>
              <a:rPr lang="en-US" altLang="en-US" sz="1900" b="1" dirty="0">
                <a:solidFill>
                  <a:schemeClr val="tx1"/>
                </a:solidFill>
                <a:cs typeface="Times New Roman" pitchFamily="16" charset="0"/>
              </a:rPr>
              <a:t>affect the original array </a:t>
            </a:r>
            <a:r>
              <a:rPr lang="en-US" altLang="en-US" sz="1800" dirty="0">
                <a:cs typeface="Times New Roman" pitchFamily="16" charset="0"/>
              </a:rPr>
              <a:t>that was passed as the argument. </a:t>
            </a:r>
          </a:p>
          <a:p>
            <a:endParaRPr lang="en-US" dirty="0"/>
          </a:p>
        </p:txBody>
      </p:sp>
    </p:spTree>
    <p:extLst>
      <p:ext uri="{BB962C8B-B14F-4D97-AF65-F5344CB8AC3E}">
        <p14:creationId xmlns:p14="http://schemas.microsoft.com/office/powerpoint/2010/main" val="390064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Pass By Value: Example</a:t>
            </a:r>
          </a:p>
        </p:txBody>
      </p:sp>
      <p:sp>
        <p:nvSpPr>
          <p:cNvPr id="7" name="Rectangle 3"/>
          <p:cNvSpPr>
            <a:spLocks noGrp="1" noChangeArrowheads="1"/>
          </p:cNvSpPr>
          <p:nvPr>
            <p:ph type="body" idx="1"/>
          </p:nvPr>
        </p:nvSpPr>
        <p:spPr>
          <a:xfrm>
            <a:off x="1170385" y="999385"/>
            <a:ext cx="6858000" cy="4057650"/>
          </a:xfrm>
          <a:ln>
            <a:solidFill>
              <a:srgbClr val="FFFFFF"/>
            </a:solidFill>
            <a:miter lim="800000"/>
            <a:headEnd/>
            <a:tailEnd/>
          </a:ln>
        </p:spPr>
        <p:txBody>
          <a:bodyPr>
            <a:normAutofit/>
          </a:bodyPr>
          <a:lstStyle/>
          <a:p>
            <a:pPr>
              <a:buFont typeface="Monotype Sorts" pitchFamily="2" charset="2"/>
              <a:buNone/>
            </a:pPr>
            <a:r>
              <a:rPr lang="en-US" altLang="en-US" sz="1350" b="1" dirty="0">
                <a:latin typeface="Courier New" pitchFamily="49" charset="0"/>
                <a:cs typeface="Times New Roman" pitchFamily="16" charset="0"/>
              </a:rPr>
              <a:t>public class Test {</a:t>
            </a:r>
          </a:p>
          <a:p>
            <a:pPr>
              <a:buFont typeface="Monotype Sorts" pitchFamily="2" charset="2"/>
              <a:buNone/>
            </a:pPr>
            <a:r>
              <a:rPr lang="en-US" altLang="en-US" sz="1350" b="1" dirty="0">
                <a:latin typeface="Courier New" pitchFamily="49" charset="0"/>
                <a:cs typeface="Times New Roman" pitchFamily="16" charset="0"/>
              </a:rPr>
              <a:t>  public static void main(String[] </a:t>
            </a:r>
            <a:r>
              <a:rPr lang="en-US" altLang="en-US" sz="1350" b="1" dirty="0" err="1">
                <a:latin typeface="Courier New" pitchFamily="49" charset="0"/>
                <a:cs typeface="Times New Roman" pitchFamily="16" charset="0"/>
              </a:rPr>
              <a:t>args</a:t>
            </a:r>
            <a:r>
              <a:rPr lang="en-US" altLang="en-US" sz="1350" b="1" dirty="0">
                <a:latin typeface="Courier New" pitchFamily="49" charset="0"/>
                <a:cs typeface="Times New Roman" pitchFamily="16" charset="0"/>
              </a:rPr>
              <a:t>) {</a:t>
            </a:r>
          </a:p>
          <a:p>
            <a:pPr>
              <a:buFont typeface="Monotype Sorts" pitchFamily="2" charset="2"/>
              <a:buNone/>
            </a:pPr>
            <a:r>
              <a:rPr lang="en-US" altLang="en-US" sz="1350" b="1" dirty="0">
                <a:latin typeface="Courier New" pitchFamily="49" charset="0"/>
                <a:cs typeface="Times New Roman" pitchFamily="16" charset="0"/>
              </a:rPr>
              <a:t>    </a:t>
            </a:r>
            <a:r>
              <a:rPr lang="en-US" altLang="en-US" sz="1350" b="1" dirty="0" err="1">
                <a:latin typeface="Courier New" pitchFamily="49" charset="0"/>
                <a:cs typeface="Times New Roman" pitchFamily="16" charset="0"/>
              </a:rPr>
              <a:t>int</a:t>
            </a:r>
            <a:r>
              <a:rPr lang="en-US" altLang="en-US" sz="1350" b="1" dirty="0">
                <a:latin typeface="Courier New" pitchFamily="49" charset="0"/>
                <a:cs typeface="Times New Roman" pitchFamily="16" charset="0"/>
              </a:rPr>
              <a:t> x = 1; // x represents an </a:t>
            </a:r>
            <a:r>
              <a:rPr lang="en-US" altLang="en-US" sz="1350" b="1" dirty="0" err="1">
                <a:latin typeface="Courier New" pitchFamily="49" charset="0"/>
                <a:cs typeface="Times New Roman" pitchFamily="16" charset="0"/>
              </a:rPr>
              <a:t>int</a:t>
            </a:r>
            <a:r>
              <a:rPr lang="en-US" altLang="en-US" sz="1350" b="1" dirty="0">
                <a:latin typeface="Courier New" pitchFamily="49" charset="0"/>
                <a:cs typeface="Times New Roman" pitchFamily="16" charset="0"/>
              </a:rPr>
              <a:t> value</a:t>
            </a:r>
          </a:p>
          <a:p>
            <a:pPr>
              <a:buFont typeface="Monotype Sorts" pitchFamily="2" charset="2"/>
              <a:buNone/>
            </a:pPr>
            <a:r>
              <a:rPr lang="en-US" altLang="en-US" sz="1350" b="1" dirty="0">
                <a:latin typeface="Courier New" pitchFamily="49" charset="0"/>
                <a:cs typeface="Times New Roman" pitchFamily="16" charset="0"/>
              </a:rPr>
              <a:t>    </a:t>
            </a:r>
            <a:r>
              <a:rPr lang="en-US" altLang="en-US" sz="1350" b="1" dirty="0" err="1">
                <a:latin typeface="Courier New" pitchFamily="49" charset="0"/>
                <a:cs typeface="Times New Roman" pitchFamily="16" charset="0"/>
              </a:rPr>
              <a:t>int</a:t>
            </a:r>
            <a:r>
              <a:rPr lang="en-US" altLang="en-US" sz="1350" b="1" dirty="0">
                <a:latin typeface="Courier New" pitchFamily="49" charset="0"/>
                <a:cs typeface="Times New Roman" pitchFamily="16" charset="0"/>
              </a:rPr>
              <a:t>[] y = new </a:t>
            </a:r>
            <a:r>
              <a:rPr lang="en-US" altLang="en-US" sz="1350" b="1" dirty="0" err="1">
                <a:latin typeface="Courier New" pitchFamily="49" charset="0"/>
                <a:cs typeface="Times New Roman" pitchFamily="16" charset="0"/>
              </a:rPr>
              <a:t>int</a:t>
            </a:r>
            <a:r>
              <a:rPr lang="en-US" altLang="en-US" sz="1350" b="1" dirty="0">
                <a:latin typeface="Courier New" pitchFamily="49" charset="0"/>
                <a:cs typeface="Times New Roman" pitchFamily="16" charset="0"/>
              </a:rPr>
              <a:t>[10]; </a:t>
            </a:r>
          </a:p>
          <a:p>
            <a:pPr>
              <a:buFont typeface="Monotype Sorts" pitchFamily="2" charset="2"/>
              <a:buNone/>
            </a:pPr>
            <a:r>
              <a:rPr lang="en-US" altLang="en-US" sz="1350" b="1" dirty="0">
                <a:latin typeface="Courier New" pitchFamily="49" charset="0"/>
                <a:cs typeface="Times New Roman" pitchFamily="16" charset="0"/>
              </a:rPr>
              <a:t>    // y represents an array of </a:t>
            </a:r>
            <a:r>
              <a:rPr lang="en-US" altLang="en-US" sz="1350" b="1" dirty="0" err="1">
                <a:latin typeface="Courier New" pitchFamily="49" charset="0"/>
                <a:cs typeface="Times New Roman" pitchFamily="16" charset="0"/>
              </a:rPr>
              <a:t>int</a:t>
            </a:r>
            <a:r>
              <a:rPr lang="en-US" altLang="en-US" sz="1350" b="1" dirty="0">
                <a:latin typeface="Courier New" pitchFamily="49" charset="0"/>
                <a:cs typeface="Times New Roman" pitchFamily="16" charset="0"/>
              </a:rPr>
              <a:t> values</a:t>
            </a:r>
          </a:p>
          <a:p>
            <a:pPr>
              <a:buFont typeface="Monotype Sorts" pitchFamily="2" charset="2"/>
              <a:buNone/>
            </a:pPr>
            <a:r>
              <a:rPr lang="en-US" altLang="en-US" sz="1350" b="1" dirty="0">
                <a:latin typeface="Courier New" pitchFamily="49" charset="0"/>
                <a:cs typeface="Times New Roman" pitchFamily="16" charset="0"/>
              </a:rPr>
              <a:t>    m(x, y); // Invoke m with arguments x and y</a:t>
            </a:r>
          </a:p>
          <a:p>
            <a:pPr>
              <a:buFont typeface="Monotype Sorts" pitchFamily="2" charset="2"/>
              <a:buNone/>
            </a:pPr>
            <a:r>
              <a:rPr lang="en-US" altLang="en-US" sz="1350" b="1" dirty="0">
                <a:latin typeface="Courier New" pitchFamily="49" charset="0"/>
                <a:cs typeface="Times New Roman" pitchFamily="16" charset="0"/>
              </a:rPr>
              <a:t>    </a:t>
            </a:r>
            <a:r>
              <a:rPr lang="en-US" altLang="en-US" sz="1350" b="1" dirty="0" err="1">
                <a:latin typeface="Courier New" pitchFamily="49" charset="0"/>
                <a:cs typeface="Times New Roman" pitchFamily="16" charset="0"/>
              </a:rPr>
              <a:t>System.out.println</a:t>
            </a:r>
            <a:r>
              <a:rPr lang="en-US" altLang="en-US" sz="1350" b="1" dirty="0">
                <a:latin typeface="Courier New" pitchFamily="49" charset="0"/>
                <a:cs typeface="Times New Roman" pitchFamily="16" charset="0"/>
              </a:rPr>
              <a:t>("x is " + x); </a:t>
            </a:r>
            <a:r>
              <a:rPr lang="en-US" altLang="en-US" sz="1350" b="1" dirty="0" err="1">
                <a:latin typeface="Courier New" pitchFamily="49" charset="0"/>
                <a:cs typeface="Times New Roman" pitchFamily="16" charset="0"/>
              </a:rPr>
              <a:t>System.out.println</a:t>
            </a:r>
            <a:r>
              <a:rPr lang="en-US" altLang="en-US" sz="1350" b="1" dirty="0">
                <a:latin typeface="Courier New" pitchFamily="49" charset="0"/>
                <a:cs typeface="Times New Roman" pitchFamily="16" charset="0"/>
              </a:rPr>
              <a:t>("y[0] is " + y[0]); }</a:t>
            </a:r>
          </a:p>
          <a:p>
            <a:pPr>
              <a:buFont typeface="Monotype Sorts" pitchFamily="2" charset="2"/>
              <a:buNone/>
            </a:pPr>
            <a:r>
              <a:rPr lang="en-US" altLang="en-US" sz="1350" b="1" dirty="0">
                <a:latin typeface="Courier New" pitchFamily="49" charset="0"/>
                <a:cs typeface="Times New Roman" pitchFamily="16" charset="0"/>
              </a:rPr>
              <a:t> </a:t>
            </a:r>
          </a:p>
          <a:p>
            <a:pPr>
              <a:buFont typeface="Monotype Sorts" pitchFamily="2" charset="2"/>
              <a:buNone/>
            </a:pPr>
            <a:r>
              <a:rPr lang="en-US" altLang="en-US" sz="1350" b="1" dirty="0">
                <a:latin typeface="Courier New" pitchFamily="49" charset="0"/>
                <a:cs typeface="Times New Roman" pitchFamily="16" charset="0"/>
              </a:rPr>
              <a:t>  public static void m(</a:t>
            </a:r>
            <a:r>
              <a:rPr lang="en-US" altLang="en-US" sz="1350" b="1" dirty="0" err="1">
                <a:latin typeface="Courier New" pitchFamily="49" charset="0"/>
                <a:cs typeface="Times New Roman" pitchFamily="16" charset="0"/>
              </a:rPr>
              <a:t>int</a:t>
            </a:r>
            <a:r>
              <a:rPr lang="en-US" altLang="en-US" sz="1350" b="1" dirty="0">
                <a:latin typeface="Courier New" pitchFamily="49" charset="0"/>
                <a:cs typeface="Times New Roman" pitchFamily="16" charset="0"/>
              </a:rPr>
              <a:t> number, </a:t>
            </a:r>
            <a:r>
              <a:rPr lang="en-US" altLang="en-US" sz="1350" b="1" dirty="0" err="1">
                <a:latin typeface="Courier New" pitchFamily="49" charset="0"/>
                <a:cs typeface="Times New Roman" pitchFamily="16" charset="0"/>
              </a:rPr>
              <a:t>int</a:t>
            </a:r>
            <a:r>
              <a:rPr lang="en-US" altLang="en-US" sz="1350" b="1" dirty="0">
                <a:latin typeface="Courier New" pitchFamily="49" charset="0"/>
                <a:cs typeface="Times New Roman" pitchFamily="16" charset="0"/>
              </a:rPr>
              <a:t>[] numbers) {</a:t>
            </a:r>
          </a:p>
          <a:p>
            <a:pPr>
              <a:buFont typeface="Monotype Sorts" pitchFamily="2" charset="2"/>
              <a:buNone/>
            </a:pPr>
            <a:r>
              <a:rPr lang="en-US" altLang="en-US" sz="1350" b="1" dirty="0">
                <a:latin typeface="Courier New" pitchFamily="49" charset="0"/>
                <a:cs typeface="Times New Roman" pitchFamily="16" charset="0"/>
              </a:rPr>
              <a:t>    number = 1001; // Assign a new value to number</a:t>
            </a:r>
          </a:p>
          <a:p>
            <a:pPr>
              <a:buFont typeface="Monotype Sorts" pitchFamily="2" charset="2"/>
              <a:buNone/>
            </a:pPr>
            <a:r>
              <a:rPr lang="en-US" altLang="en-US" sz="1350" b="1" dirty="0">
                <a:latin typeface="Courier New" pitchFamily="49" charset="0"/>
                <a:cs typeface="Times New Roman" pitchFamily="16" charset="0"/>
              </a:rPr>
              <a:t>    numbers[0] = 5555; // Assign a new value to numbers[0]</a:t>
            </a:r>
          </a:p>
          <a:p>
            <a:pPr>
              <a:buFont typeface="Monotype Sorts" pitchFamily="2" charset="2"/>
              <a:buNone/>
            </a:pPr>
            <a:r>
              <a:rPr lang="en-US" altLang="en-US" sz="1350" b="1" dirty="0">
                <a:latin typeface="Courier New" pitchFamily="49" charset="0"/>
                <a:cs typeface="Times New Roman" pitchFamily="16" charset="0"/>
              </a:rPr>
              <a:t>  }</a:t>
            </a:r>
          </a:p>
          <a:p>
            <a:pPr>
              <a:buFont typeface="Monotype Sorts" pitchFamily="2" charset="2"/>
              <a:buNone/>
            </a:pPr>
            <a:r>
              <a:rPr lang="en-US" altLang="en-US" sz="1350" b="1" dirty="0">
                <a:latin typeface="Courier New" pitchFamily="49" charset="0"/>
                <a:cs typeface="Times New Roman" pitchFamily="16" charset="0"/>
              </a:rPr>
              <a:t>}</a:t>
            </a:r>
          </a:p>
        </p:txBody>
      </p:sp>
      <p:sp>
        <p:nvSpPr>
          <p:cNvPr id="8" name="Line 8"/>
          <p:cNvSpPr>
            <a:spLocks noChangeShapeType="1"/>
          </p:cNvSpPr>
          <p:nvPr/>
        </p:nvSpPr>
        <p:spPr bwMode="auto">
          <a:xfrm>
            <a:off x="2071562" y="2468072"/>
            <a:ext cx="184674" cy="1302816"/>
          </a:xfrm>
          <a:prstGeom prst="line">
            <a:avLst/>
          </a:prstGeom>
          <a:noFill/>
          <a:ln w="25400">
            <a:solidFill>
              <a:schemeClr val="tx1"/>
            </a:solidFill>
            <a:round/>
            <a:headEnd type="none" w="sm" len="sm"/>
            <a:tailEnd type="stealth"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cs typeface="+mn-cs"/>
            </a:endParaRPr>
          </a:p>
        </p:txBody>
      </p:sp>
      <p:sp>
        <p:nvSpPr>
          <p:cNvPr id="9" name="Line 9"/>
          <p:cNvSpPr>
            <a:spLocks noChangeShapeType="1"/>
          </p:cNvSpPr>
          <p:nvPr/>
        </p:nvSpPr>
        <p:spPr bwMode="auto">
          <a:xfrm>
            <a:off x="2379057" y="2468072"/>
            <a:ext cx="347959" cy="1553670"/>
          </a:xfrm>
          <a:prstGeom prst="line">
            <a:avLst/>
          </a:prstGeom>
          <a:noFill/>
          <a:ln w="25400">
            <a:solidFill>
              <a:schemeClr val="tx1"/>
            </a:solidFill>
            <a:round/>
            <a:headEnd type="triangle" w="sm" len="sm"/>
            <a:tailEnd type="triangle" w="sm" len="sm"/>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buClrTx/>
              <a:buFontTx/>
              <a:buNone/>
            </a:pPr>
            <a:endParaRPr lang="en-US" sz="1200" kern="1200">
              <a:solidFill>
                <a:prstClr val="black"/>
              </a:solidFill>
              <a:latin typeface="Times New Roman" pitchFamily="16" charset="0"/>
              <a:ea typeface="+mn-ea"/>
              <a:cs typeface="+mn-cs"/>
            </a:endParaRPr>
          </a:p>
        </p:txBody>
      </p:sp>
      <p:sp>
        <p:nvSpPr>
          <p:cNvPr id="4" name="TextBox 3">
            <a:extLst>
              <a:ext uri="{FF2B5EF4-FFF2-40B4-BE49-F238E27FC236}">
                <a16:creationId xmlns:a16="http://schemas.microsoft.com/office/drawing/2014/main" id="{DA20B69D-1683-E8B8-8976-AB619A717C56}"/>
              </a:ext>
            </a:extLst>
          </p:cNvPr>
          <p:cNvSpPr txBox="1"/>
          <p:nvPr/>
        </p:nvSpPr>
        <p:spPr>
          <a:xfrm>
            <a:off x="4438650" y="4698475"/>
            <a:ext cx="4572000" cy="307777"/>
          </a:xfrm>
          <a:prstGeom prst="rect">
            <a:avLst/>
          </a:prstGeom>
          <a:noFill/>
        </p:spPr>
        <p:txBody>
          <a:bodyPr wrap="square">
            <a:spAutoFit/>
          </a:bodyPr>
          <a:lstStyle/>
          <a:p>
            <a:r>
              <a:rPr lang="en-US" altLang="en-US" sz="1400" b="1" dirty="0">
                <a:solidFill>
                  <a:srgbClr val="FF0000"/>
                </a:solidFill>
                <a:latin typeface="Courier New" pitchFamily="49" charset="0"/>
                <a:cs typeface="Times New Roman" pitchFamily="16" charset="0"/>
              </a:rPr>
              <a:t>x is 1, y[0] is 5005</a:t>
            </a:r>
          </a:p>
        </p:txBody>
      </p:sp>
    </p:spTree>
    <p:extLst>
      <p:ext uri="{BB962C8B-B14F-4D97-AF65-F5344CB8AC3E}">
        <p14:creationId xmlns:p14="http://schemas.microsoft.com/office/powerpoint/2010/main" val="454366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4" grpId="0"/>
    </p:bld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882d3af580b91c18edc160109d075412">
  <xsd:schema xmlns:xsd="http://www.w3.org/2001/XMLSchema" xmlns:xs="http://www.w3.org/2001/XMLSchema" xmlns:p="http://schemas.microsoft.com/office/2006/metadata/properties" xmlns:ns2="dd520bba-7c1e-4c79-bf9d-255d7ed0f3a3" targetNamespace="http://schemas.microsoft.com/office/2006/metadata/properties" ma:root="true" ma:fieldsID="9ef345be7e9f8682d91a8670d26f0520"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2D91DC4-1FB5-4369-9D7E-ECC04D20EF15}"/>
</file>

<file path=customXml/itemProps2.xml><?xml version="1.0" encoding="utf-8"?>
<ds:datastoreItem xmlns:ds="http://schemas.openxmlformats.org/officeDocument/2006/customXml" ds:itemID="{5E98FE12-56AF-486C-9B54-2E4008D9F1DD}"/>
</file>

<file path=customXml/itemProps3.xml><?xml version="1.0" encoding="utf-8"?>
<ds:datastoreItem xmlns:ds="http://schemas.openxmlformats.org/officeDocument/2006/customXml" ds:itemID="{BDC19A2F-E209-4A39-843C-FD89AFB55C4C}"/>
</file>

<file path=docProps/app.xml><?xml version="1.0" encoding="utf-8"?>
<Properties xmlns="http://schemas.openxmlformats.org/officeDocument/2006/extended-properties" xmlns:vt="http://schemas.openxmlformats.org/officeDocument/2006/docPropsVTypes">
  <TotalTime>12665</TotalTime>
  <Words>2827</Words>
  <Application>Microsoft Office PowerPoint</Application>
  <PresentationFormat>On-screen Show (16:9)</PresentationFormat>
  <Paragraphs>369</Paragraphs>
  <Slides>42</Slides>
  <Notes>12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2" baseType="lpstr">
      <vt:lpstr>Courier</vt:lpstr>
      <vt:lpstr>Google Sans</vt:lpstr>
      <vt:lpstr>Monotype Sorts</vt:lpstr>
      <vt:lpstr>Arial</vt:lpstr>
      <vt:lpstr>Courier New</vt:lpstr>
      <vt:lpstr>Perpetua</vt:lpstr>
      <vt:lpstr>Times New Roman</vt:lpstr>
      <vt:lpstr>Wingdings 2</vt:lpstr>
      <vt:lpstr>Simple Light</vt:lpstr>
      <vt:lpstr>Picture</vt:lpstr>
      <vt:lpstr>Arrays Part1</vt:lpstr>
      <vt:lpstr>Objectives</vt:lpstr>
      <vt:lpstr>Opening problem</vt:lpstr>
      <vt:lpstr>Introducing Arrays</vt:lpstr>
      <vt:lpstr>Declaring Array Variables</vt:lpstr>
      <vt:lpstr>Creating Arrays</vt:lpstr>
      <vt:lpstr>Declaring and Creating in One Step</vt:lpstr>
      <vt:lpstr>The length of an Array</vt:lpstr>
      <vt:lpstr>Default Values</vt:lpstr>
      <vt:lpstr>Indexed Variables</vt:lpstr>
      <vt:lpstr>Using Indexed Variables</vt:lpstr>
      <vt:lpstr>Array Initializers</vt:lpstr>
      <vt:lpstr>Array Initializers: Equivalent</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Trace Program with Arrays</vt:lpstr>
      <vt:lpstr>Initializing arrays with input values</vt:lpstr>
      <vt:lpstr>Initializing arrays with random values</vt:lpstr>
      <vt:lpstr>Printing arrays</vt:lpstr>
      <vt:lpstr>Summing all elements</vt:lpstr>
      <vt:lpstr>Find the largest element</vt:lpstr>
      <vt:lpstr>Copying arrays</vt:lpstr>
      <vt:lpstr>Copying arrays: Correct way !</vt:lpstr>
      <vt:lpstr>Random shuffling</vt:lpstr>
      <vt:lpstr>Shifting Elements</vt:lpstr>
      <vt:lpstr>Passing Arrays to Methods</vt:lpstr>
      <vt:lpstr>Pass By Value</vt:lpstr>
      <vt:lpstr>Pass By Value: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XINRUI YU</cp:lastModifiedBy>
  <cp:revision>797</cp:revision>
  <dcterms:modified xsi:type="dcterms:W3CDTF">2025-10-28T09:03:17Z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ies>
</file>