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70" r:id="rId2"/>
    <p:sldId id="321" r:id="rId3"/>
    <p:sldId id="308" r:id="rId4"/>
    <p:sldId id="309" r:id="rId5"/>
    <p:sldId id="310" r:id="rId6"/>
    <p:sldId id="311" r:id="rId7"/>
    <p:sldId id="312" r:id="rId8"/>
    <p:sldId id="313" r:id="rId9"/>
    <p:sldId id="271" r:id="rId10"/>
    <p:sldId id="272" r:id="rId11"/>
    <p:sldId id="273" r:id="rId12"/>
    <p:sldId id="274" r:id="rId13"/>
    <p:sldId id="275" r:id="rId14"/>
    <p:sldId id="276" r:id="rId15"/>
    <p:sldId id="283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285" r:id="rId27"/>
    <p:sldId id="286" r:id="rId28"/>
    <p:sldId id="287" r:id="rId29"/>
    <p:sldId id="288" r:id="rId30"/>
    <p:sldId id="289" r:id="rId31"/>
    <p:sldId id="290" r:id="rId32"/>
    <p:sldId id="314" r:id="rId33"/>
    <p:sldId id="315" r:id="rId34"/>
    <p:sldId id="316" r:id="rId35"/>
    <p:sldId id="317" r:id="rId36"/>
    <p:sldId id="318" r:id="rId37"/>
    <p:sldId id="319" r:id="rId38"/>
    <p:sldId id="320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itJqeU9sAa4s53hiV1fqoPNXIu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FAC9E-9B37-4416-92C0-99CCD57754FF}" v="2" dt="2025-09-19T09:01:08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8" autoAdjust="0"/>
    <p:restoredTop sz="93842" autoAdjust="0"/>
  </p:normalViewPr>
  <p:slideViewPr>
    <p:cSldViewPr snapToGrid="0">
      <p:cViewPr varScale="1">
        <p:scale>
          <a:sx n="142" d="100"/>
          <a:sy n="142" d="100"/>
        </p:scale>
        <p:origin x="2634" y="6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40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47" Type="http://schemas.microsoft.com/office/2016/11/relationships/changesInfo" Target="changesInfos/changesInfo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F34F8855-C621-4438-806B-08A2E2CB3E3D}"/>
    <pc:docChg chg="modSld">
      <pc:chgData name="于 心瑞 Xinrui YU" userId="e6fcc6d4-2b88-4beb-95d7-57ae4d33a768" providerId="ADAL" clId="{F34F8855-C621-4438-806B-08A2E2CB3E3D}" dt="2025-09-20T00:58:56.410" v="0" actId="33639"/>
      <pc:docMkLst>
        <pc:docMk/>
      </pc:docMkLst>
      <pc:sldChg chg="delSp mod">
        <pc:chgData name="于 心瑞 Xinrui YU" userId="e6fcc6d4-2b88-4beb-95d7-57ae4d33a768" providerId="ADAL" clId="{F34F8855-C621-4438-806B-08A2E2CB3E3D}" dt="2025-09-20T00:58:56.410" v="0" actId="33639"/>
        <pc:sldMkLst>
          <pc:docMk/>
          <pc:sldMk cId="846577717" sldId="308"/>
        </pc:sldMkLst>
        <pc:inkChg chg="del">
          <ac:chgData name="于 心瑞 Xinrui YU" userId="e6fcc6d4-2b88-4beb-95d7-57ae4d33a768" providerId="ADAL" clId="{F34F8855-C621-4438-806B-08A2E2CB3E3D}" dt="2025-09-20T00:58:56.410" v="0" actId="33639"/>
          <ac:inkMkLst>
            <pc:docMk/>
            <pc:sldMk cId="846577717" sldId="308"/>
            <ac:inkMk id="6" creationId="{85F0CACB-AA09-4FC1-7662-7644F946F1CC}"/>
          </ac:inkMkLst>
        </pc:inkChg>
      </pc:sldChg>
      <pc:sldChg chg="delSp mod">
        <pc:chgData name="于 心瑞 Xinrui YU" userId="e6fcc6d4-2b88-4beb-95d7-57ae4d33a768" providerId="ADAL" clId="{F34F8855-C621-4438-806B-08A2E2CB3E3D}" dt="2025-09-20T00:58:56.410" v="0" actId="33639"/>
        <pc:sldMkLst>
          <pc:docMk/>
          <pc:sldMk cId="1687505679" sldId="309"/>
        </pc:sldMkLst>
        <pc:inkChg chg="del">
          <ac:chgData name="于 心瑞 Xinrui YU" userId="e6fcc6d4-2b88-4beb-95d7-57ae4d33a768" providerId="ADAL" clId="{F34F8855-C621-4438-806B-08A2E2CB3E3D}" dt="2025-09-20T00:58:56.410" v="0" actId="33639"/>
          <ac:inkMkLst>
            <pc:docMk/>
            <pc:sldMk cId="1687505679" sldId="309"/>
            <ac:inkMk id="5" creationId="{EAAC9196-A628-3052-0D8C-760F6EB60031}"/>
          </ac:inkMkLst>
        </pc:inkChg>
      </pc:sldChg>
      <pc:sldChg chg="delSp mod">
        <pc:chgData name="于 心瑞 Xinrui YU" userId="e6fcc6d4-2b88-4beb-95d7-57ae4d33a768" providerId="ADAL" clId="{F34F8855-C621-4438-806B-08A2E2CB3E3D}" dt="2025-09-20T00:58:56.410" v="0" actId="33639"/>
        <pc:sldMkLst>
          <pc:docMk/>
          <pc:sldMk cId="670715460" sldId="310"/>
        </pc:sldMkLst>
        <pc:inkChg chg="del">
          <ac:chgData name="于 心瑞 Xinrui YU" userId="e6fcc6d4-2b88-4beb-95d7-57ae4d33a768" providerId="ADAL" clId="{F34F8855-C621-4438-806B-08A2E2CB3E3D}" dt="2025-09-20T00:58:56.410" v="0" actId="33639"/>
          <ac:inkMkLst>
            <pc:docMk/>
            <pc:sldMk cId="670715460" sldId="310"/>
            <ac:inkMk id="5" creationId="{9690B6E5-FEF3-A559-772A-C06CFB939D48}"/>
          </ac:inkMkLst>
        </pc:inkChg>
      </pc:sldChg>
      <pc:sldChg chg="delSp mod">
        <pc:chgData name="于 心瑞 Xinrui YU" userId="e6fcc6d4-2b88-4beb-95d7-57ae4d33a768" providerId="ADAL" clId="{F34F8855-C621-4438-806B-08A2E2CB3E3D}" dt="2025-09-20T00:58:56.410" v="0" actId="33639"/>
        <pc:sldMkLst>
          <pc:docMk/>
          <pc:sldMk cId="347144791" sldId="311"/>
        </pc:sldMkLst>
        <pc:inkChg chg="del">
          <ac:chgData name="于 心瑞 Xinrui YU" userId="e6fcc6d4-2b88-4beb-95d7-57ae4d33a768" providerId="ADAL" clId="{F34F8855-C621-4438-806B-08A2E2CB3E3D}" dt="2025-09-20T00:58:56.410" v="0" actId="33639"/>
          <ac:inkMkLst>
            <pc:docMk/>
            <pc:sldMk cId="347144791" sldId="311"/>
            <ac:inkMk id="5" creationId="{319ED579-B708-CD81-2C83-22859DE76B8C}"/>
          </ac:inkMkLst>
        </pc:inkChg>
      </pc:sldChg>
      <pc:sldChg chg="delSp mod">
        <pc:chgData name="于 心瑞 Xinrui YU" userId="e6fcc6d4-2b88-4beb-95d7-57ae4d33a768" providerId="ADAL" clId="{F34F8855-C621-4438-806B-08A2E2CB3E3D}" dt="2025-09-20T00:58:56.410" v="0" actId="33639"/>
        <pc:sldMkLst>
          <pc:docMk/>
          <pc:sldMk cId="1639029889" sldId="312"/>
        </pc:sldMkLst>
        <pc:inkChg chg="del">
          <ac:chgData name="于 心瑞 Xinrui YU" userId="e6fcc6d4-2b88-4beb-95d7-57ae4d33a768" providerId="ADAL" clId="{F34F8855-C621-4438-806B-08A2E2CB3E3D}" dt="2025-09-20T00:58:56.410" v="0" actId="33639"/>
          <ac:inkMkLst>
            <pc:docMk/>
            <pc:sldMk cId="1639029889" sldId="312"/>
            <ac:inkMk id="5" creationId="{4BCCBB9C-0858-1B74-E060-07A9CD151FAE}"/>
          </ac:inkMkLst>
        </pc:inkChg>
      </pc:sldChg>
      <pc:sldChg chg="delSp mod">
        <pc:chgData name="于 心瑞 Xinrui YU" userId="e6fcc6d4-2b88-4beb-95d7-57ae4d33a768" providerId="ADAL" clId="{F34F8855-C621-4438-806B-08A2E2CB3E3D}" dt="2025-09-20T00:58:56.410" v="0" actId="33639"/>
        <pc:sldMkLst>
          <pc:docMk/>
          <pc:sldMk cId="3796155773" sldId="321"/>
        </pc:sldMkLst>
        <pc:inkChg chg="del">
          <ac:chgData name="于 心瑞 Xinrui YU" userId="e6fcc6d4-2b88-4beb-95d7-57ae4d33a768" providerId="ADAL" clId="{F34F8855-C621-4438-806B-08A2E2CB3E3D}" dt="2025-09-20T00:58:56.410" v="0" actId="33639"/>
          <ac:inkMkLst>
            <pc:docMk/>
            <pc:sldMk cId="3796155773" sldId="321"/>
            <ac:inkMk id="5" creationId="{A0E4F8CE-E870-2E03-A9FB-142784479195}"/>
          </ac:inkMkLst>
        </pc:inkChg>
      </pc:sldChg>
    </pc:docChg>
  </pc:docChgLst>
  <pc:docChgLst>
    <pc:chgData name="Sadhana Annapragada" userId="65e4d0e9c2f6c579" providerId="LiveId" clId="{1885DACA-3015-455B-A1B8-3D534BC45F61}"/>
    <pc:docChg chg="modSld">
      <pc:chgData name="Sadhana Annapragada" userId="65e4d0e9c2f6c579" providerId="LiveId" clId="{1885DACA-3015-455B-A1B8-3D534BC45F61}" dt="2021-06-17T21:12:07.225" v="2" actId="207"/>
      <pc:docMkLst>
        <pc:docMk/>
      </pc:docMkLst>
      <pc:sldChg chg="modSp mod">
        <pc:chgData name="Sadhana Annapragada" userId="65e4d0e9c2f6c579" providerId="LiveId" clId="{1885DACA-3015-455B-A1B8-3D534BC45F61}" dt="2021-06-17T21:12:07.225" v="2" actId="207"/>
        <pc:sldMkLst>
          <pc:docMk/>
          <pc:sldMk cId="0" sldId="268"/>
        </pc:sldMkLst>
      </pc:sldChg>
    </pc:docChg>
  </pc:docChgLst>
  <pc:docChgLst>
    <pc:chgData name="于 心瑞 Xinrui YU" userId="e6fcc6d4-2b88-4beb-95d7-57ae4d33a768" providerId="ADAL" clId="{CFFA9A75-F840-4F6F-AF7D-069F806E1180}"/>
    <pc:docChg chg="custSel modSld">
      <pc:chgData name="于 心瑞 Xinrui YU" userId="e6fcc6d4-2b88-4beb-95d7-57ae4d33a768" providerId="ADAL" clId="{CFFA9A75-F840-4F6F-AF7D-069F806E1180}" dt="2025-09-19T09:11:17.274" v="71" actId="20577"/>
      <pc:docMkLst>
        <pc:docMk/>
      </pc:docMkLst>
      <pc:sldChg chg="addSp delSp mod">
        <pc:chgData name="于 心瑞 Xinrui YU" userId="e6fcc6d4-2b88-4beb-95d7-57ae4d33a768" providerId="ADAL" clId="{CFFA9A75-F840-4F6F-AF7D-069F806E1180}" dt="2025-09-19T09:01:08.646" v="31"/>
        <pc:sldMkLst>
          <pc:docMk/>
          <pc:sldMk cId="846577717" sldId="308"/>
        </pc:sldMkLst>
        <pc:inkChg chg="add del">
          <ac:chgData name="于 心瑞 Xinrui YU" userId="e6fcc6d4-2b88-4beb-95d7-57ae4d33a768" providerId="ADAL" clId="{CFFA9A75-F840-4F6F-AF7D-069F806E1180}" dt="2025-09-19T08:42:35.724" v="30" actId="33639"/>
          <ac:inkMkLst>
            <pc:docMk/>
            <pc:sldMk cId="846577717" sldId="308"/>
            <ac:inkMk id="5" creationId="{EF1880F2-29B2-F04D-C604-DAA707DA91B7}"/>
          </ac:inkMkLst>
        </pc:inkChg>
        <pc:inkChg chg="add">
          <ac:chgData name="于 心瑞 Xinrui YU" userId="e6fcc6d4-2b88-4beb-95d7-57ae4d33a768" providerId="ADAL" clId="{CFFA9A75-F840-4F6F-AF7D-069F806E1180}" dt="2025-09-19T09:01:08.646" v="31"/>
          <ac:inkMkLst>
            <pc:docMk/>
            <pc:sldMk cId="846577717" sldId="308"/>
            <ac:inkMk id="6" creationId="{85F0CACB-AA09-4FC1-7662-7644F946F1CC}"/>
          </ac:inkMkLst>
        </pc:inkChg>
      </pc:sldChg>
      <pc:sldChg chg="addSp delSp mod">
        <pc:chgData name="于 心瑞 Xinrui YU" userId="e6fcc6d4-2b88-4beb-95d7-57ae4d33a768" providerId="ADAL" clId="{CFFA9A75-F840-4F6F-AF7D-069F806E1180}" dt="2025-09-19T09:01:08.646" v="31"/>
        <pc:sldMkLst>
          <pc:docMk/>
          <pc:sldMk cId="1687505679" sldId="309"/>
        </pc:sldMkLst>
        <pc:inkChg chg="add del">
          <ac:chgData name="于 心瑞 Xinrui YU" userId="e6fcc6d4-2b88-4beb-95d7-57ae4d33a768" providerId="ADAL" clId="{CFFA9A75-F840-4F6F-AF7D-069F806E1180}" dt="2025-09-19T08:42:35.724" v="30" actId="33639"/>
          <ac:inkMkLst>
            <pc:docMk/>
            <pc:sldMk cId="1687505679" sldId="309"/>
            <ac:inkMk id="4" creationId="{CE73C174-E7A7-58E4-E3C3-75975AB15E1C}"/>
          </ac:inkMkLst>
        </pc:inkChg>
        <pc:inkChg chg="add">
          <ac:chgData name="于 心瑞 Xinrui YU" userId="e6fcc6d4-2b88-4beb-95d7-57ae4d33a768" providerId="ADAL" clId="{CFFA9A75-F840-4F6F-AF7D-069F806E1180}" dt="2025-09-19T09:01:08.646" v="31"/>
          <ac:inkMkLst>
            <pc:docMk/>
            <pc:sldMk cId="1687505679" sldId="309"/>
            <ac:inkMk id="5" creationId="{EAAC9196-A628-3052-0D8C-760F6EB60031}"/>
          </ac:inkMkLst>
        </pc:inkChg>
      </pc:sldChg>
      <pc:sldChg chg="addSp delSp mod">
        <pc:chgData name="于 心瑞 Xinrui YU" userId="e6fcc6d4-2b88-4beb-95d7-57ae4d33a768" providerId="ADAL" clId="{CFFA9A75-F840-4F6F-AF7D-069F806E1180}" dt="2025-09-19T09:01:08.646" v="31"/>
        <pc:sldMkLst>
          <pc:docMk/>
          <pc:sldMk cId="670715460" sldId="310"/>
        </pc:sldMkLst>
        <pc:inkChg chg="add del">
          <ac:chgData name="于 心瑞 Xinrui YU" userId="e6fcc6d4-2b88-4beb-95d7-57ae4d33a768" providerId="ADAL" clId="{CFFA9A75-F840-4F6F-AF7D-069F806E1180}" dt="2025-09-19T08:42:35.724" v="30" actId="33639"/>
          <ac:inkMkLst>
            <pc:docMk/>
            <pc:sldMk cId="670715460" sldId="310"/>
            <ac:inkMk id="4" creationId="{5FBB15B1-7B37-7D09-F10E-03C7DAD4F5F1}"/>
          </ac:inkMkLst>
        </pc:inkChg>
        <pc:inkChg chg="add">
          <ac:chgData name="于 心瑞 Xinrui YU" userId="e6fcc6d4-2b88-4beb-95d7-57ae4d33a768" providerId="ADAL" clId="{CFFA9A75-F840-4F6F-AF7D-069F806E1180}" dt="2025-09-19T09:01:08.646" v="31"/>
          <ac:inkMkLst>
            <pc:docMk/>
            <pc:sldMk cId="670715460" sldId="310"/>
            <ac:inkMk id="5" creationId="{9690B6E5-FEF3-A559-772A-C06CFB939D48}"/>
          </ac:inkMkLst>
        </pc:inkChg>
      </pc:sldChg>
      <pc:sldChg chg="addSp delSp mod">
        <pc:chgData name="于 心瑞 Xinrui YU" userId="e6fcc6d4-2b88-4beb-95d7-57ae4d33a768" providerId="ADAL" clId="{CFFA9A75-F840-4F6F-AF7D-069F806E1180}" dt="2025-09-19T09:01:08.646" v="31"/>
        <pc:sldMkLst>
          <pc:docMk/>
          <pc:sldMk cId="347144791" sldId="311"/>
        </pc:sldMkLst>
        <pc:inkChg chg="add del">
          <ac:chgData name="于 心瑞 Xinrui YU" userId="e6fcc6d4-2b88-4beb-95d7-57ae4d33a768" providerId="ADAL" clId="{CFFA9A75-F840-4F6F-AF7D-069F806E1180}" dt="2025-09-19T08:42:35.724" v="30" actId="33639"/>
          <ac:inkMkLst>
            <pc:docMk/>
            <pc:sldMk cId="347144791" sldId="311"/>
            <ac:inkMk id="4" creationId="{0CDC244E-7B23-0094-25A0-5D39B928A56E}"/>
          </ac:inkMkLst>
        </pc:inkChg>
        <pc:inkChg chg="add">
          <ac:chgData name="于 心瑞 Xinrui YU" userId="e6fcc6d4-2b88-4beb-95d7-57ae4d33a768" providerId="ADAL" clId="{CFFA9A75-F840-4F6F-AF7D-069F806E1180}" dt="2025-09-19T09:01:08.646" v="31"/>
          <ac:inkMkLst>
            <pc:docMk/>
            <pc:sldMk cId="347144791" sldId="311"/>
            <ac:inkMk id="5" creationId="{319ED579-B708-CD81-2C83-22859DE76B8C}"/>
          </ac:inkMkLst>
        </pc:inkChg>
      </pc:sldChg>
      <pc:sldChg chg="addSp delSp mod modNotesTx">
        <pc:chgData name="于 心瑞 Xinrui YU" userId="e6fcc6d4-2b88-4beb-95d7-57ae4d33a768" providerId="ADAL" clId="{CFFA9A75-F840-4F6F-AF7D-069F806E1180}" dt="2025-09-19T09:01:08.646" v="31"/>
        <pc:sldMkLst>
          <pc:docMk/>
          <pc:sldMk cId="1639029889" sldId="312"/>
        </pc:sldMkLst>
        <pc:inkChg chg="add del">
          <ac:chgData name="于 心瑞 Xinrui YU" userId="e6fcc6d4-2b88-4beb-95d7-57ae4d33a768" providerId="ADAL" clId="{CFFA9A75-F840-4F6F-AF7D-069F806E1180}" dt="2025-09-19T08:42:34.211" v="29" actId="33640"/>
          <ac:inkMkLst>
            <pc:docMk/>
            <pc:sldMk cId="1639029889" sldId="312"/>
            <ac:inkMk id="4" creationId="{BB07529D-204B-1D2B-74F3-41CE4AB30050}"/>
          </ac:inkMkLst>
        </pc:inkChg>
        <pc:inkChg chg="add">
          <ac:chgData name="于 心瑞 Xinrui YU" userId="e6fcc6d4-2b88-4beb-95d7-57ae4d33a768" providerId="ADAL" clId="{CFFA9A75-F840-4F6F-AF7D-069F806E1180}" dt="2025-09-19T09:01:08.646" v="31"/>
          <ac:inkMkLst>
            <pc:docMk/>
            <pc:sldMk cId="1639029889" sldId="312"/>
            <ac:inkMk id="5" creationId="{4BCCBB9C-0858-1B74-E060-07A9CD151FAE}"/>
          </ac:inkMkLst>
        </pc:inkChg>
      </pc:sldChg>
      <pc:sldChg chg="modNotesTx">
        <pc:chgData name="于 心瑞 Xinrui YU" userId="e6fcc6d4-2b88-4beb-95d7-57ae4d33a768" providerId="ADAL" clId="{CFFA9A75-F840-4F6F-AF7D-069F806E1180}" dt="2025-09-19T09:11:17.274" v="71" actId="20577"/>
        <pc:sldMkLst>
          <pc:docMk/>
          <pc:sldMk cId="3442300492" sldId="313"/>
        </pc:sldMkLst>
      </pc:sldChg>
      <pc:sldChg chg="addSp delSp mod">
        <pc:chgData name="于 心瑞 Xinrui YU" userId="e6fcc6d4-2b88-4beb-95d7-57ae4d33a768" providerId="ADAL" clId="{CFFA9A75-F840-4F6F-AF7D-069F806E1180}" dt="2025-09-19T09:01:08.646" v="31"/>
        <pc:sldMkLst>
          <pc:docMk/>
          <pc:sldMk cId="3796155773" sldId="321"/>
        </pc:sldMkLst>
        <pc:inkChg chg="add del">
          <ac:chgData name="于 心瑞 Xinrui YU" userId="e6fcc6d4-2b88-4beb-95d7-57ae4d33a768" providerId="ADAL" clId="{CFFA9A75-F840-4F6F-AF7D-069F806E1180}" dt="2025-09-19T08:42:35.724" v="30" actId="33639"/>
          <ac:inkMkLst>
            <pc:docMk/>
            <pc:sldMk cId="3796155773" sldId="321"/>
            <ac:inkMk id="4" creationId="{75C220E8-45EC-6D23-DAEC-4F279D01CA84}"/>
          </ac:inkMkLst>
        </pc:inkChg>
        <pc:inkChg chg="add">
          <ac:chgData name="于 心瑞 Xinrui YU" userId="e6fcc6d4-2b88-4beb-95d7-57ae4d33a768" providerId="ADAL" clId="{CFFA9A75-F840-4F6F-AF7D-069F806E1180}" dt="2025-09-19T09:01:08.646" v="31"/>
          <ac:inkMkLst>
            <pc:docMk/>
            <pc:sldMk cId="3796155773" sldId="321"/>
            <ac:inkMk id="5" creationId="{A0E4F8CE-E870-2E03-A9FB-142784479195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6039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69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196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</a:t>
            </a:r>
            <a:r>
              <a:rPr lang="en-US" altLang="zh-CN" dirty="0"/>
              <a:t>terals </a:t>
            </a:r>
            <a:r>
              <a:rPr lang="zh-CN" altLang="en-US" dirty="0"/>
              <a:t>直接量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873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 01 stopped here 0919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9444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asting </a:t>
            </a:r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en-US" dirty="0"/>
              <a:t>Start here for </a:t>
            </a:r>
            <a:r>
              <a:rPr lang="en-US"/>
              <a:t>two class on 0923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54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赋值 声明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57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范围</a:t>
            </a:r>
            <a:r>
              <a:rPr lang="en-US" altLang="zh-CN" dirty="0"/>
              <a:t>/</a:t>
            </a:r>
            <a:r>
              <a:rPr lang="zh-CN" altLang="en-US" dirty="0"/>
              <a:t>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92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91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算术操作符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10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Operand </a:t>
            </a:r>
            <a:r>
              <a:rPr lang="zh-CN" altLang="en-US" dirty="0"/>
              <a:t>操作数（参与算术计算的两个对象）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05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增强赋值操作符</a:t>
            </a:r>
            <a:r>
              <a:rPr lang="en-US" altLang="zh-CN" dirty="0"/>
              <a:t>-</a:t>
            </a:r>
            <a:r>
              <a:rPr lang="zh-CN" altLang="en-US" dirty="0"/>
              <a:t>加法赋值操作符，</a:t>
            </a:r>
            <a:r>
              <a:rPr lang="en-US" altLang="zh-CN" dirty="0"/>
              <a:t>……</a:t>
            </a:r>
            <a:r>
              <a:rPr lang="zh-CN" altLang="en-US" dirty="0"/>
              <a:t>，求余赋值操作符</a:t>
            </a:r>
            <a:endParaRPr lang="en-US" altLang="zh-CN" dirty="0"/>
          </a:p>
          <a:p>
            <a:r>
              <a:rPr lang="en-US" altLang="zh-CN" dirty="0"/>
              <a:t>Simplify program</a:t>
            </a:r>
            <a:r>
              <a:rPr lang="zh-CN" altLang="en-US" dirty="0"/>
              <a:t>，</a:t>
            </a:r>
            <a:r>
              <a:rPr lang="en-US" altLang="zh-CN" dirty="0"/>
              <a:t>NO SPACE-AAOs are considered one single operator; including a space in between causes the complier to recognize two operators, and leads to a syntax error. </a:t>
            </a:r>
          </a:p>
          <a:p>
            <a:r>
              <a:rPr lang="en-US" dirty="0"/>
              <a:t>Arithmetic operators is before the “=“ because we calculate i+8 first then assign</a:t>
            </a:r>
          </a:p>
          <a:p>
            <a:r>
              <a:rPr lang="en-US" dirty="0" err="1"/>
              <a:t>i</a:t>
            </a:r>
            <a:r>
              <a:rPr lang="en-US" dirty="0"/>
              <a:t> += </a:t>
            </a:r>
            <a:r>
              <a:rPr lang="en-US" dirty="0" err="1"/>
              <a:t>i</a:t>
            </a:r>
            <a:r>
              <a:rPr lang="en-US" dirty="0"/>
              <a:t> + 8; equals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+ (</a:t>
            </a:r>
            <a:r>
              <a:rPr lang="en-US" dirty="0" err="1"/>
              <a:t>i</a:t>
            </a:r>
            <a:r>
              <a:rPr lang="en-US" dirty="0"/>
              <a:t> + 8);</a:t>
            </a:r>
          </a:p>
        </p:txBody>
      </p:sp>
    </p:spTree>
    <p:extLst>
      <p:ext uri="{BB962C8B-B14F-4D97-AF65-F5344CB8AC3E}">
        <p14:creationId xmlns:p14="http://schemas.microsoft.com/office/powerpoint/2010/main" val="2927381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自增和自减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91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前置自增，后置自增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59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28083" y="585204"/>
            <a:ext cx="2503676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Numerical Variables and Arithmetic Operations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Numerical Variables and Arithmetic Operations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>
            <a:extLst>
              <a:ext uri="{FF2B5EF4-FFF2-40B4-BE49-F238E27FC236}">
                <a16:creationId xmlns:a16="http://schemas.microsoft.com/office/drawing/2014/main" id="{EF665379-CE3D-5CE9-FDDD-EFE71DB24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40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Objectives: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Assignment statements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Numerical assignment rules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Casting 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Declaration and assignment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Variable scope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Constants 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Arithmetic operators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Rule of arithmetic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Augmented assignment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Increment/ decrement operators </a:t>
            </a:r>
          </a:p>
          <a:p>
            <a:pPr marL="596900" lvl="1" indent="0" fontAlgn="base">
              <a:buNone/>
            </a:pPr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pPr lvl="1" fontAlgn="base"/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5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Assignment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095109" cy="2200325"/>
          </a:xfrm>
        </p:spPr>
        <p:txBody>
          <a:bodyPr/>
          <a:lstStyle/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The Assignment Statement</a:t>
            </a:r>
          </a:p>
          <a:p>
            <a:pPr marL="571500" lvl="2" indent="0">
              <a:buSzPts val="1800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variable = expression;</a:t>
            </a:r>
          </a:p>
          <a:p>
            <a:pPr marL="571500" lvl="2" indent="0">
              <a:buSzPts val="1800"/>
              <a:buNone/>
            </a:pPr>
            <a:endParaRPr lang="en-US" dirty="0"/>
          </a:p>
          <a:p>
            <a:pPr marL="457200" lvl="1" indent="-342900" fontAlgn="base">
              <a:buSzPts val="1800"/>
              <a:buFont typeface="Arial"/>
              <a:buChar char="●"/>
            </a:pPr>
            <a:r>
              <a:rPr lang="en-US" altLang="en-US" sz="1800" dirty="0">
                <a:solidFill>
                  <a:schemeClr val="tx1"/>
                </a:solidFill>
                <a:cs typeface="Courier New" pitchFamily="49" charset="0"/>
              </a:rPr>
              <a:t>What does it do?</a:t>
            </a:r>
          </a:p>
          <a:p>
            <a:pPr marL="571500" lvl="2" indent="0">
              <a:buSzPts val="1800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Solves/evaluates expression first!</a:t>
            </a:r>
          </a:p>
          <a:p>
            <a:pPr marL="571500" lvl="2" indent="0">
              <a:buSzPts val="1800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Assigns resulting value to the variable!</a:t>
            </a:r>
          </a:p>
          <a:p>
            <a:pPr marL="114300" lvl="1" indent="0">
              <a:buSzPts val="1800"/>
              <a:buNone/>
            </a:pPr>
            <a:endParaRPr lang="en-US" altLang="en-US" sz="1800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0231" y="3352800"/>
            <a:ext cx="4922875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en-US" sz="1800" dirty="0"/>
              <a:t>Exercise: What’s the output?</a:t>
            </a:r>
          </a:p>
          <a:p>
            <a:pPr lvl="3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int x = 5;</a:t>
            </a:r>
          </a:p>
          <a:p>
            <a:pPr lvl="3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x = x + x + x + 10;</a:t>
            </a:r>
          </a:p>
          <a:p>
            <a:pPr lvl="3">
              <a:buFont typeface="Wingdings 2" pitchFamily="18" charset="2"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(x);</a:t>
            </a:r>
            <a:endParaRPr lang="en-US" sz="180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4657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Variable: Assignment cont...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180170" cy="186717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Assignment Compatibility: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The variable and expression should be the same type</a:t>
            </a:r>
          </a:p>
          <a:p>
            <a:pPr lvl="2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if not, you may get a compiler error.</a:t>
            </a:r>
          </a:p>
          <a:p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Examples: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30102" y="2522058"/>
            <a:ext cx="776176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2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int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sumGrades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,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gradeX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,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gradeY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;</a:t>
            </a:r>
          </a:p>
          <a:p>
            <a:pPr lvl="2">
              <a:buFont typeface="Wingdings 2" pitchFamily="18" charset="2"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gradeX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= 1;</a:t>
            </a:r>
          </a:p>
          <a:p>
            <a:pPr lvl="2">
              <a:buFont typeface="Wingdings 2" pitchFamily="18" charset="2"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sumGrades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= 1473;</a:t>
            </a:r>
          </a:p>
          <a:p>
            <a:pPr lvl="2">
              <a:buFont typeface="Wingdings 2" pitchFamily="18" charset="2"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sumGrades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= 1472 + 1;</a:t>
            </a:r>
          </a:p>
          <a:p>
            <a:pPr lvl="2">
              <a:buFont typeface="Wingdings 2" pitchFamily="18" charset="2"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sumGrades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= 1472 +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gradeX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;</a:t>
            </a:r>
          </a:p>
          <a:p>
            <a:pPr lvl="2"/>
            <a:r>
              <a:rPr lang="en-US" altLang="en-US" sz="1800" b="1" dirty="0" err="1">
                <a:solidFill>
                  <a:schemeClr val="bg2"/>
                </a:solidFill>
                <a:latin typeface="Courier New"/>
                <a:cs typeface="Courier New"/>
              </a:rPr>
              <a:t>sumGrades</a:t>
            </a: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 = true;  // ILLEGAL IN JAVA</a:t>
            </a:r>
          </a:p>
          <a:p>
            <a:pPr lvl="2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		// COMPILER ERROR</a:t>
            </a:r>
          </a:p>
          <a:p>
            <a:pPr lvl="2">
              <a:buFont typeface="Wingdings 2" pitchFamily="18" charset="2"/>
              <a:buNone/>
            </a:pPr>
            <a:endParaRPr lang="en-US" altLang="en-US" sz="1800" b="1" dirty="0">
              <a:solidFill>
                <a:srgbClr val="005C2A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50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Assignment: Storing values in Variables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altLang="en-US" kern="1200" dirty="0">
                <a:solidFill>
                  <a:schemeClr val="tx1"/>
                </a:solidFill>
              </a:rPr>
              <a:t>Use a single </a:t>
            </a: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‘=’</a:t>
            </a:r>
            <a:r>
              <a:rPr lang="en-US" altLang="en-US" kern="1200" dirty="0">
                <a:solidFill>
                  <a:schemeClr val="tx1"/>
                </a:solidFill>
              </a:rPr>
              <a:t> to store a value in a variable.</a:t>
            </a:r>
          </a:p>
          <a:p>
            <a:pPr marL="742950" lvl="1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“=”</a:t>
            </a:r>
            <a:r>
              <a:rPr lang="en-US" altLang="en-US" sz="1800" kern="1200" dirty="0">
                <a:solidFill>
                  <a:schemeClr val="tx1"/>
                </a:solidFill>
              </a:rPr>
              <a:t> translates to “is assigned the value”.</a:t>
            </a:r>
          </a:p>
          <a:p>
            <a:pPr marL="742950" lvl="1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altLang="en-US" sz="1800" kern="1200" dirty="0">
                <a:solidFill>
                  <a:schemeClr val="tx1"/>
                </a:solidFill>
              </a:rPr>
              <a:t>The left gets the value on the right side:</a:t>
            </a:r>
          </a:p>
          <a:p>
            <a:pPr marL="457200" lvl="1" indent="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 x = 5; </a:t>
            </a:r>
            <a:r>
              <a:rPr lang="en-US" altLang="en-US" sz="1800" kern="1200" dirty="0">
                <a:solidFill>
                  <a:schemeClr val="tx1"/>
                </a:solidFill>
              </a:rPr>
              <a:t>// Stores the integer value 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5</a:t>
            </a: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altLang="en-US" sz="1800" kern="1200" dirty="0">
                <a:solidFill>
                  <a:schemeClr val="tx1"/>
                </a:solidFill>
              </a:rPr>
              <a:t>in 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</a:p>
          <a:p>
            <a:pPr marL="285750" lvl="1" indent="-285750" eaLnBrk="0" fontAlgn="base" hangingPunct="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SzPts val="1800"/>
              <a:buFont typeface="Arial"/>
              <a:buChar char="●"/>
            </a:pPr>
            <a:r>
              <a:rPr lang="en-US" altLang="en-US" sz="1800" kern="1200" dirty="0">
                <a:solidFill>
                  <a:schemeClr val="tx1"/>
                </a:solidFill>
              </a:rPr>
              <a:t>We can combine assignments with declarations:</a:t>
            </a:r>
          </a:p>
          <a:p>
            <a:pPr marL="454025" lvl="1" indent="0" eaLnBrk="0" fontAlgn="base" hangingPunct="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  <a:buClr>
                <a:srgbClr val="9B2D1F"/>
              </a:buClr>
              <a:buSzPct val="85000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char foo = ‘g’;</a:t>
            </a:r>
          </a:p>
          <a:p>
            <a:pPr marL="28575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5</a:t>
            </a:r>
            <a:r>
              <a:rPr lang="en-US" altLang="en-US" kern="1200" dirty="0">
                <a:solidFill>
                  <a:schemeClr val="tx1"/>
                </a:solidFill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‘g’</a:t>
            </a:r>
            <a:r>
              <a:rPr lang="en-US" altLang="en-US" kern="1200" dirty="0">
                <a:solidFill>
                  <a:schemeClr val="tx1"/>
                </a:solidFill>
              </a:rPr>
              <a:t> are literals (actual values).</a:t>
            </a:r>
          </a:p>
          <a:p>
            <a:pPr marL="28575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71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Numerical Variable Assignment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What about mixing numeric types?</a:t>
            </a:r>
          </a:p>
          <a:p>
            <a:r>
              <a:rPr lang="en-US" dirty="0">
                <a:solidFill>
                  <a:schemeClr val="tx1"/>
                </a:solidFill>
              </a:rPr>
              <a:t>Are these assignment statements ok?</a:t>
            </a:r>
          </a:p>
          <a:p>
            <a:pPr marL="711835" lvl="3" indent="0">
              <a:spcBef>
                <a:spcPts val="818"/>
              </a:spcBef>
              <a:buClr>
                <a:schemeClr val="accent1"/>
              </a:buClr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int x = 5;</a:t>
            </a:r>
          </a:p>
          <a:p>
            <a:pPr marL="711835" lvl="3" indent="0">
              <a:spcBef>
                <a:spcPts val="818"/>
              </a:spcBef>
              <a:buClr>
                <a:schemeClr val="accent1"/>
              </a:buClr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long y = x;</a:t>
            </a:r>
          </a:p>
          <a:p>
            <a:pPr marL="711835" lvl="3" indent="0">
              <a:spcBef>
                <a:spcPts val="818"/>
              </a:spcBef>
              <a:buClr>
                <a:schemeClr val="accent1"/>
              </a:buClr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double z = y;</a:t>
            </a:r>
            <a:endParaRPr lang="en-US" sz="1600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457200" lvl="2" indent="-342900">
              <a:buSzPts val="1800"/>
              <a:buFont typeface="Arial"/>
              <a:buChar char="●"/>
            </a:pPr>
            <a:r>
              <a:rPr lang="en-US" altLang="en-US" sz="1800" dirty="0">
                <a:solidFill>
                  <a:schemeClr val="tx1"/>
                </a:solidFill>
              </a:rPr>
              <a:t>What about these?</a:t>
            </a:r>
          </a:p>
          <a:p>
            <a:pPr marL="1100455" lvl="3" indent="-387985" eaLnBrk="0" fontAlgn="base" hangingPunct="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Clr>
                <a:srgbClr val="D34817"/>
              </a:buClr>
              <a:buSzTx/>
              <a:buNone/>
            </a:pPr>
            <a:r>
              <a:rPr lang="en-US" altLang="en-US" sz="1600" b="1" kern="1200" dirty="0">
                <a:solidFill>
                  <a:schemeClr val="tx1"/>
                </a:solidFill>
                <a:latin typeface="Courier New"/>
                <a:ea typeface="+mn-ea"/>
                <a:cs typeface="Courier New"/>
              </a:rPr>
              <a:t>double a = 6.5;</a:t>
            </a:r>
          </a:p>
          <a:p>
            <a:pPr marL="1100455" lvl="3" indent="-387985" eaLnBrk="0" fontAlgn="base" hangingPunct="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Clr>
                <a:srgbClr val="D34817"/>
              </a:buClr>
              <a:buSzTx/>
              <a:buNone/>
            </a:pPr>
            <a:r>
              <a:rPr lang="en-US" altLang="en-US" sz="1600" b="1" kern="1200" dirty="0">
                <a:solidFill>
                  <a:schemeClr val="bg2"/>
                </a:solidFill>
                <a:latin typeface="Courier New"/>
                <a:ea typeface="+mn-ea"/>
                <a:cs typeface="Courier New"/>
              </a:rPr>
              <a:t>long b = a;</a:t>
            </a:r>
          </a:p>
          <a:p>
            <a:pPr marL="1100455" lvl="3" indent="-387985" eaLnBrk="0" fontAlgn="base" hangingPunct="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Clr>
                <a:srgbClr val="D34817"/>
              </a:buClr>
              <a:buSzTx/>
              <a:buNone/>
            </a:pPr>
            <a:r>
              <a:rPr lang="en-US" altLang="en-US" sz="1600" b="1" kern="1200" dirty="0">
                <a:solidFill>
                  <a:schemeClr val="bg2"/>
                </a:solidFill>
                <a:latin typeface="Courier New"/>
                <a:ea typeface="+mn-ea"/>
                <a:cs typeface="Courier New"/>
              </a:rPr>
              <a:t>int c = b;</a:t>
            </a:r>
          </a:p>
          <a:p>
            <a:endParaRPr lang="en-US" dirty="0"/>
          </a:p>
          <a:p>
            <a:pPr marL="1169510" lvl="4" indent="0">
              <a:spcBef>
                <a:spcPts val="818"/>
              </a:spcBef>
              <a:buClr>
                <a:schemeClr val="accent1"/>
              </a:buClr>
              <a:buNone/>
            </a:pPr>
            <a:endParaRPr lang="en-US" altLang="en-US" sz="1800" b="1" dirty="0">
              <a:solidFill>
                <a:srgbClr val="005C2A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Numerical Variable Assignment: Rule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2"/>
                </a:solidFill>
                <a:latin typeface="Courier New"/>
                <a:cs typeface="Courier New"/>
              </a:rPr>
              <a:t>byte &lt; short &lt; int &lt; long &lt; float &lt; double</a:t>
            </a:r>
          </a:p>
          <a:p>
            <a:endParaRPr lang="en-US" b="1" dirty="0">
              <a:solidFill>
                <a:schemeClr val="bg2"/>
              </a:solidFill>
              <a:latin typeface="Courier New"/>
              <a:cs typeface="Courier New"/>
            </a:endParaRPr>
          </a:p>
          <a:p>
            <a:endParaRPr lang="en-US" b="1" dirty="0">
              <a:solidFill>
                <a:schemeClr val="bg2"/>
              </a:solidFill>
              <a:latin typeface="Courier New"/>
              <a:cs typeface="Courier New"/>
            </a:endParaRPr>
          </a:p>
          <a:p>
            <a:endParaRPr lang="en-US" b="1" dirty="0">
              <a:solidFill>
                <a:schemeClr val="bg2"/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No assigning big types to little types OR real types to integer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2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Numerical Variables: Casting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</a:rPr>
              <a:t>Type Casting as a type override</a:t>
            </a: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/>
                </a:solidFill>
              </a:rPr>
              <a:t>temporarily change a data type to another type</a:t>
            </a:r>
          </a:p>
          <a:p>
            <a:pPr marL="454025" lvl="1" indent="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type_name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), example: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</a:p>
          <a:p>
            <a:pPr marL="282575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</a:rPr>
              <a:t>Examples: </a:t>
            </a: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double 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myReal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 = 10.0;</a:t>
            </a: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 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badInt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 = 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myReal</a:t>
            </a:r>
            <a:r>
              <a:rPr lang="en-US" sz="1800" dirty="0">
                <a:solidFill>
                  <a:schemeClr val="tx1"/>
                </a:solidFill>
              </a:rPr>
              <a:t>; 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// Error</a:t>
            </a:r>
            <a:r>
              <a:rPr lang="en-US" sz="1800" dirty="0">
                <a:solidFill>
                  <a:schemeClr val="tx1"/>
                </a:solidFill>
              </a:rPr>
              <a:t> </a:t>
            </a: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 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goodInt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 =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myReal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;//Good</a:t>
            </a: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800" dirty="0">
                <a:solidFill>
                  <a:schemeClr val="tx1"/>
                </a:solidFill>
              </a:rPr>
              <a:t>no type casting is allowed to/from </a:t>
            </a:r>
            <a:r>
              <a:rPr lang="en-US" sz="1800" dirty="0" err="1">
                <a:solidFill>
                  <a:schemeClr val="tx1"/>
                </a:solidFill>
              </a:rPr>
              <a:t>boolean</a:t>
            </a:r>
            <a:endParaRPr lang="en-US" sz="1800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30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Variable: Assignment and Declaration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variable gets a value in an assignment statement: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      Variable = </a:t>
            </a:r>
            <a:r>
              <a:rPr lang="en-US" dirty="0" err="1">
                <a:solidFill>
                  <a:schemeClr val="tx1"/>
                </a:solidFill>
              </a:rPr>
              <a:t>some_value</a:t>
            </a:r>
            <a:r>
              <a:rPr lang="en-US" dirty="0">
                <a:solidFill>
                  <a:schemeClr val="tx1"/>
                </a:solidFill>
              </a:rPr>
              <a:t> or an expression ;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variable </a:t>
            </a:r>
            <a:r>
              <a:rPr lang="en-US" b="1" i="1" dirty="0">
                <a:solidFill>
                  <a:schemeClr val="tx1"/>
                </a:solidFill>
              </a:rPr>
              <a:t>must be declared </a:t>
            </a:r>
            <a:r>
              <a:rPr lang="en-US" dirty="0">
                <a:solidFill>
                  <a:schemeClr val="tx1"/>
                </a:solidFill>
              </a:rPr>
              <a:t>before being assigned values: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public static void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methodWithGoodDeclaration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(){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double salary; //GOOD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salary = 20000.0;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("Salary is " + salary);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4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/>
              <a:t>Variables: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public static void </a:t>
            </a:r>
            <a:r>
              <a:rPr lang="en-US" alt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methodWithBadDeclaration</a:t>
            </a: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(){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	salary = 20000.0; // ERROR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	double salary;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alt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b="1" dirty="0">
                <a:solidFill>
                  <a:schemeClr val="tx1"/>
                </a:solidFill>
                <a:latin typeface="Courier New"/>
                <a:cs typeface="Courier New"/>
              </a:rPr>
              <a:t>("Salary is " + salary);</a:t>
            </a:r>
          </a:p>
          <a:p>
            <a:pPr>
              <a:buFont typeface="Wingdings 2" pitchFamily="18" charset="2"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504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Variables: Declaration and Initialization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can be declared and initialized at once: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char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yesChar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= 'y';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String word = "Hello!";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double avg = 0.0,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stdDev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= 0.0;</a:t>
            </a:r>
          </a:p>
          <a:p>
            <a:pPr lvl="1"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char initial3 = 'T'; </a:t>
            </a:r>
            <a:endParaRPr lang="en-US" alt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boolean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 completed = false;</a:t>
            </a:r>
            <a:endParaRPr lang="en-US" altLang="en-US" sz="1800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75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Variable: Must Initialize!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419606" cy="2181444"/>
          </a:xfrm>
        </p:spPr>
        <p:txBody>
          <a:bodyPr/>
          <a:lstStyle/>
          <a:p>
            <a:r>
              <a:rPr lang="en-US" dirty="0"/>
              <a:t>A variable must be initialized before being referenced: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public static void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methodWithGoodReference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(){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double salary = 20000.0; // GOOD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double raise = salary * 0.05; // 5% raise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("Raise is " + raise);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4697" y="3247323"/>
            <a:ext cx="7157406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public static void </a:t>
            </a:r>
            <a:r>
              <a:rPr lang="en-US" altLang="en-US" sz="1800" b="1" dirty="0" err="1">
                <a:solidFill>
                  <a:schemeClr val="bg2"/>
                </a:solidFill>
                <a:latin typeface="Courier New"/>
                <a:cs typeface="Courier New"/>
              </a:rPr>
              <a:t>methodWithBadReference</a:t>
            </a: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(){</a:t>
            </a:r>
          </a:p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double salary; // </a:t>
            </a:r>
            <a:r>
              <a:rPr lang="en-US" altLang="en-US" sz="1800" b="1" u="sng" dirty="0">
                <a:solidFill>
                  <a:schemeClr val="bg2"/>
                </a:solidFill>
                <a:latin typeface="Courier New"/>
                <a:cs typeface="Courier New"/>
              </a:rPr>
              <a:t>Salary has no value</a:t>
            </a: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.</a:t>
            </a:r>
          </a:p>
          <a:p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double raise = salary * 0.05; </a:t>
            </a:r>
          </a:p>
          <a:p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		    // COMPILER ERROR</a:t>
            </a:r>
          </a:p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dirty="0" err="1">
                <a:solidFill>
                  <a:schemeClr val="bg2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("Raise is " + raise);</a:t>
            </a:r>
          </a:p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766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Variable: Declare once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257765" cy="22785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variable should only be declared once: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public static void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methodWithGoodDeclaration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(){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double salary = 20000.0;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("Salary is " + salary);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salary = 60000.0;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("Salary is " + salary);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2396" y="3317517"/>
            <a:ext cx="7893780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public static void </a:t>
            </a:r>
            <a:r>
              <a:rPr lang="en-US" altLang="en-US" sz="1800" b="1" dirty="0" err="1">
                <a:solidFill>
                  <a:schemeClr val="bg2"/>
                </a:solidFill>
                <a:latin typeface="Courier New"/>
                <a:cs typeface="Courier New"/>
              </a:rPr>
              <a:t>methodWithBadDeclaration</a:t>
            </a: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(){</a:t>
            </a:r>
          </a:p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double salary = 50000.0;</a:t>
            </a:r>
          </a:p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dirty="0" err="1">
                <a:solidFill>
                  <a:schemeClr val="bg2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("Salary is " + salary);</a:t>
            </a:r>
          </a:p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u="sng" dirty="0">
                <a:solidFill>
                  <a:schemeClr val="bg2"/>
                </a:solidFill>
                <a:latin typeface="Courier New"/>
                <a:cs typeface="Courier New"/>
              </a:rPr>
              <a:t>double salary = 60000.0; // Second declaration</a:t>
            </a:r>
          </a:p>
          <a:p>
            <a:pPr>
              <a:buFont typeface="Wingdings 2" pitchFamily="18" charset="2"/>
              <a:buNone/>
            </a:pP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	</a:t>
            </a:r>
            <a:r>
              <a:rPr lang="en-US" altLang="en-US" sz="1800" b="1" dirty="0" err="1">
                <a:solidFill>
                  <a:schemeClr val="bg2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("Salary is " + salary);</a:t>
            </a:r>
          </a:p>
          <a:p>
            <a:r>
              <a:rPr lang="en-US" altLang="en-US" sz="1800" b="1" dirty="0">
                <a:solidFill>
                  <a:schemeClr val="bg2"/>
                </a:solidFill>
                <a:latin typeface="Courier New"/>
                <a:cs typeface="Courier New"/>
              </a:rPr>
              <a:t> }</a:t>
            </a:r>
            <a:r>
              <a:rPr lang="en-US" altLang="en-US" b="1" dirty="0">
                <a:solidFill>
                  <a:schemeClr val="bg2"/>
                </a:solidFill>
                <a:latin typeface="Courier New"/>
                <a:cs typeface="Courier New"/>
              </a:rPr>
              <a:t>						 //COMPILER ERROR</a:t>
            </a:r>
          </a:p>
        </p:txBody>
      </p:sp>
      <p:sp>
        <p:nvSpPr>
          <p:cNvPr id="5" name="Oval 4" descr="Oval outlining &quot;double salary = 60000.0;&quot;"/>
          <p:cNvSpPr/>
          <p:nvPr/>
        </p:nvSpPr>
        <p:spPr>
          <a:xfrm>
            <a:off x="1486893" y="4126727"/>
            <a:ext cx="3514477" cy="37371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eaLnBrk="0" fontAlgn="base">
              <a:spcBef>
                <a:spcPct val="0"/>
              </a:spcBef>
              <a:spcAft>
                <a:spcPct val="0"/>
              </a:spcAft>
            </a:pPr>
            <a:endParaRPr lang="en-US" sz="2276" kern="12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96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54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Variables: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645673"/>
            <a:ext cx="8235952" cy="2584638"/>
          </a:xfrm>
        </p:spPr>
        <p:txBody>
          <a:bodyPr/>
          <a:lstStyle/>
          <a:p>
            <a:r>
              <a:rPr lang="en-US" dirty="0"/>
              <a:t>Variables can only be used inside the block { …} or scope that they themselves are declared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public void 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/>
                <a:cs typeface="Courier New"/>
              </a:rPr>
              <a:t>methodWithGoodScope</a:t>
            </a: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(){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	double x = 5.0;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	if (x &gt; 0.0)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		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("x is " + x);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ourier New"/>
                <a:cs typeface="Courier New"/>
              </a:rPr>
              <a:t>} // x is in scope here</a:t>
            </a:r>
            <a:endParaRPr lang="en-US" sz="160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4071" y="3079609"/>
            <a:ext cx="7587921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public void </a:t>
            </a:r>
            <a:r>
              <a:rPr lang="en-US" altLang="en-US" sz="1600" b="1" dirty="0" err="1">
                <a:solidFill>
                  <a:schemeClr val="bg2"/>
                </a:solidFill>
                <a:latin typeface="Courier New"/>
                <a:cs typeface="Courier New"/>
              </a:rPr>
              <a:t>methodWithBadScope</a:t>
            </a: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(){</a:t>
            </a:r>
          </a:p>
          <a:p>
            <a:pP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	double y = 100.0;</a:t>
            </a:r>
          </a:p>
          <a:p>
            <a:pP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	if (y &gt; 0.0)	{</a:t>
            </a:r>
          </a:p>
          <a:p>
            <a:pP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		double x = 5.0;</a:t>
            </a:r>
          </a:p>
          <a:p>
            <a:pP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	}</a:t>
            </a:r>
          </a:p>
          <a:p>
            <a:pPr>
              <a:buFont typeface="Wingdings 2" pitchFamily="18" charset="2"/>
              <a:buNone/>
            </a:pP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	</a:t>
            </a:r>
            <a:r>
              <a:rPr lang="en-US" altLang="en-US" sz="1600" b="1" dirty="0" err="1">
                <a:solidFill>
                  <a:schemeClr val="bg2"/>
                </a:solidFill>
                <a:latin typeface="Courier New"/>
                <a:cs typeface="Courier New"/>
              </a:rPr>
              <a:t>System.out.println</a:t>
            </a:r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("x " + x); // </a:t>
            </a:r>
            <a:r>
              <a:rPr lang="en-US" altLang="en-US" sz="1600" b="1" u="sng" dirty="0">
                <a:solidFill>
                  <a:schemeClr val="bg2"/>
                </a:solidFill>
                <a:latin typeface="Courier New"/>
                <a:cs typeface="Courier New"/>
              </a:rPr>
              <a:t>x is not in scope</a:t>
            </a:r>
          </a:p>
          <a:p>
            <a:r>
              <a:rPr lang="en-US" altLang="en-US" sz="1600" b="1" dirty="0">
                <a:solidFill>
                  <a:schemeClr val="bg2"/>
                </a:solidFill>
                <a:latin typeface="Courier New"/>
                <a:cs typeface="Courier New"/>
              </a:rPr>
              <a:t>}					   // COMPILER ERROR</a:t>
            </a:r>
          </a:p>
        </p:txBody>
      </p:sp>
    </p:spTree>
    <p:extLst>
      <p:ext uri="{BB962C8B-B14F-4D97-AF65-F5344CB8AC3E}">
        <p14:creationId xmlns:p14="http://schemas.microsoft.com/office/powerpoint/2010/main" val="94363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Constants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A constant is a value that cannot change</a:t>
            </a:r>
            <a:endParaRPr lang="en-US" dirty="0">
              <a:solidFill>
                <a:schemeClr val="tx1"/>
              </a:solidFill>
              <a:ea typeface="+mn-ea"/>
            </a:endParaRP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Font typeface="Arial" pitchFamily="18" charset="2"/>
              <a:buChar char="●"/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To declare a constant, use the </a:t>
            </a:r>
            <a:r>
              <a:rPr lang="en-US" b="1" i="1" dirty="0">
                <a:solidFill>
                  <a:schemeClr val="tx1"/>
                </a:solidFill>
                <a:latin typeface="Courier New"/>
                <a:cs typeface="Courier New"/>
              </a:rPr>
              <a:t>“final” keyword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:</a:t>
            </a:r>
            <a:endParaRPr lang="en-US" kern="1200" dirty="0">
              <a:solidFill>
                <a:schemeClr val="tx1"/>
              </a:solidFill>
              <a:latin typeface="+mj-lt"/>
              <a:ea typeface="+mn-ea"/>
            </a:endParaRPr>
          </a:p>
          <a:p>
            <a:pPr marL="778510" lvl="1" indent="-324485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final double PI = 3.1415926</a:t>
            </a:r>
            <a:r>
              <a:rPr lang="en-US" sz="180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;</a:t>
            </a:r>
            <a:endParaRPr lang="en-US" sz="1800" kern="1200" dirty="0">
              <a:solidFill>
                <a:schemeClr val="tx1"/>
              </a:solidFill>
              <a:latin typeface="+mj-lt"/>
              <a:ea typeface="+mn-ea"/>
            </a:endParaRP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Font typeface="Arial" pitchFamily="18" charset="2"/>
              <a:buChar char="●"/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By convention, 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constant names are capitalized</a:t>
            </a:r>
            <a:endParaRPr lang="en-US" dirty="0">
              <a:solidFill>
                <a:schemeClr val="tx1"/>
              </a:solidFill>
              <a:ea typeface="+mn-ea"/>
            </a:endParaRP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Font typeface="Arial" pitchFamily="18" charset="2"/>
              <a:buChar char="●"/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Strings (sequences of characters enclosed in double quotes) are automatically constants.</a:t>
            </a:r>
            <a:endParaRPr lang="en-US" dirty="0">
              <a:solidFill>
                <a:schemeClr val="tx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38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Arithmetic Operators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+		Addition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-		Subtraction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*		Multiplication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/		Division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%		Modulo/Remainder (integer operands only)</a:t>
            </a:r>
          </a:p>
          <a:p>
            <a:pPr lvl="0">
              <a:buClr>
                <a:srgbClr val="595959"/>
              </a:buClr>
              <a:buNone/>
            </a:pPr>
            <a:endParaRPr lang="en-US" altLang="en-US" dirty="0">
              <a:solidFill>
                <a:srgbClr val="595959"/>
              </a:solidFill>
            </a:endParaRPr>
          </a:p>
          <a:p>
            <a:pPr lvl="1">
              <a:buClr>
                <a:srgbClr val="595959"/>
              </a:buClr>
              <a:buNone/>
            </a:pPr>
            <a:r>
              <a:rPr lang="en-US" altLang="en-US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		</a:t>
            </a:r>
            <a:endParaRPr lang="en-US" alt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35669" y="4225975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468" y="3226297"/>
            <a:ext cx="60042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x = 5;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y = 10;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z = 2;			    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 lvl="1">
              <a:buClr>
                <a:srgbClr val="595959"/>
              </a:buClr>
              <a:buNone/>
            </a:pPr>
            <a:r>
              <a:rPr lang="fr-FR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num1 = (x + y) * z; 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(num1);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4187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Arithmetic Operators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+		Addition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-		Subtraction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*		Multiplication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/		Division</a:t>
            </a:r>
          </a:p>
          <a:p>
            <a:pPr lvl="0">
              <a:buClr>
                <a:srgbClr val="595959"/>
              </a:buClr>
              <a:buNone/>
            </a:pPr>
            <a:r>
              <a:rPr lang="en-US" altLang="en-US" dirty="0">
                <a:solidFill>
                  <a:srgbClr val="595959"/>
                </a:solidFill>
              </a:rPr>
              <a:t>%		Modulo/Remainder (integer operands only)</a:t>
            </a:r>
          </a:p>
          <a:p>
            <a:pPr lvl="0">
              <a:buClr>
                <a:srgbClr val="595959"/>
              </a:buClr>
              <a:buNone/>
            </a:pPr>
            <a:endParaRPr lang="en-US" altLang="en-US" dirty="0">
              <a:solidFill>
                <a:srgbClr val="595959"/>
              </a:solidFill>
            </a:endParaRPr>
          </a:p>
          <a:p>
            <a:pPr lvl="1">
              <a:buClr>
                <a:srgbClr val="595959"/>
              </a:buClr>
              <a:buNone/>
            </a:pPr>
            <a:r>
              <a:rPr lang="en-US" altLang="en-US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		</a:t>
            </a:r>
            <a:endParaRPr lang="en-US" alt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35669" y="4225975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b="1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468" y="3226297"/>
            <a:ext cx="60042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x = 5;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y = 10;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z = 2;			    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 lvl="1">
              <a:buClr>
                <a:srgbClr val="595959"/>
              </a:buClr>
              <a:buNone/>
            </a:pPr>
            <a:r>
              <a:rPr lang="fr-FR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num1 = (x + y) * z; 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(num1);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8066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Arithmetic Operators: Precedence * over +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Multiplication (*) has higher precedence over addition (+) </a:t>
            </a:r>
            <a:endParaRPr lang="en-US" altLang="en-US" dirty="0">
              <a:solidFill>
                <a:srgbClr val="595959"/>
              </a:solidFill>
            </a:endParaRP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x = 5;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y = 10;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z = 2;					</a:t>
            </a:r>
          </a:p>
          <a:p>
            <a:pPr lvl="1">
              <a:buClr>
                <a:srgbClr val="595959"/>
              </a:buClr>
              <a:buNone/>
            </a:pPr>
            <a:r>
              <a:rPr lang="fr-FR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num1 = (x + y) * z;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(num1);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3" descr="What is the output?" title="What is the output?"/>
          <p:cNvSpPr/>
          <p:nvPr/>
        </p:nvSpPr>
        <p:spPr>
          <a:xfrm>
            <a:off x="6548990" y="2429534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24194" y="2404777"/>
            <a:ext cx="34657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?</a:t>
            </a:r>
            <a:endParaRPr lang="en-US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98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Arithmetic Operators: Precedence * over +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Multiplication (*) has higher precedence over addition (+) </a:t>
            </a:r>
            <a:endParaRPr lang="en-US" altLang="en-US" dirty="0">
              <a:solidFill>
                <a:srgbClr val="595959"/>
              </a:solidFill>
            </a:endParaRP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x = 5;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y = 10;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z = 2;					</a:t>
            </a:r>
          </a:p>
          <a:p>
            <a:pPr lvl="1">
              <a:buClr>
                <a:srgbClr val="595959"/>
              </a:buClr>
              <a:buNone/>
            </a:pPr>
            <a:r>
              <a:rPr lang="fr-FR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num1 = (x + y) * z;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(num1);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3" descr="What is the output?" title="What is the output?"/>
          <p:cNvSpPr/>
          <p:nvPr/>
        </p:nvSpPr>
        <p:spPr>
          <a:xfrm>
            <a:off x="6548990" y="2429534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67550" y="2404777"/>
            <a:ext cx="50847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30</a:t>
            </a:r>
            <a:endParaRPr lang="en-US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542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Precedence * over +: Advice 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200" b="1" dirty="0">
                <a:solidFill>
                  <a:schemeClr val="tx1"/>
                </a:solidFill>
              </a:rPr>
              <a:t>Whenever in doubt, go with explicit use of parentheses.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a</a:t>
            </a:r>
            <a:r>
              <a:rPr lang="pt-BR" altLang="en-US" b="1" dirty="0">
                <a:latin typeface="Courier New" pitchFamily="49" charset="0"/>
                <a:cs typeface="Courier New" pitchFamily="49" charset="0"/>
              </a:rPr>
              <a:t> = 3 * 4 + 5 / 6;	</a:t>
            </a:r>
          </a:p>
          <a:p>
            <a:pPr>
              <a:buFont typeface="Wingdings 2" pitchFamily="18" charset="2"/>
              <a:buNone/>
            </a:pPr>
            <a:r>
              <a:rPr lang="pt-BR" altLang="en-US" b="1" dirty="0">
                <a:latin typeface="Courier New" pitchFamily="49" charset="0"/>
                <a:cs typeface="Courier New" pitchFamily="49" charset="0"/>
              </a:rPr>
              <a:t>	  </a:t>
            </a:r>
          </a:p>
          <a:p>
            <a:pPr>
              <a:buFont typeface="Wingdings 2" pitchFamily="18" charset="2"/>
              <a:buNone/>
            </a:pPr>
            <a:r>
              <a:rPr lang="pt-BR" altLang="en-US" b="1" dirty="0">
                <a:latin typeface="Courier New" pitchFamily="49" charset="0"/>
                <a:cs typeface="Courier New" pitchFamily="49" charset="0"/>
              </a:rPr>
              <a:t> int b = (3 * (4 + 5))/ 6; </a:t>
            </a:r>
            <a:r>
              <a:rPr lang="en-US" altLang="en-US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	        </a:t>
            </a:r>
            <a:endParaRPr lang="en-US" alt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5" name="Rectangle 4" descr="What is the output?" title="What is the output?"/>
          <p:cNvSpPr/>
          <p:nvPr/>
        </p:nvSpPr>
        <p:spPr>
          <a:xfrm>
            <a:off x="5034215" y="2491315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82767" y="2450855"/>
            <a:ext cx="34657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?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0" name="Rectangle 9" descr="What is the output?" title="What is the output?"/>
          <p:cNvSpPr/>
          <p:nvPr/>
        </p:nvSpPr>
        <p:spPr>
          <a:xfrm>
            <a:off x="5016683" y="1980171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65235" y="1939711"/>
            <a:ext cx="34657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?</a:t>
            </a:r>
            <a:endParaRPr lang="en-US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116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Precedence * over +: Advice 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200" b="1" dirty="0">
                <a:solidFill>
                  <a:schemeClr val="tx1"/>
                </a:solidFill>
              </a:rPr>
              <a:t>Whenever in doubt, go with explicit use of parentheses.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a</a:t>
            </a:r>
            <a:r>
              <a:rPr lang="pt-BR" altLang="en-US" b="1" dirty="0">
                <a:latin typeface="Courier New" pitchFamily="49" charset="0"/>
                <a:cs typeface="Courier New" pitchFamily="49" charset="0"/>
              </a:rPr>
              <a:t> = 3 * 4 + 5 / 6;	</a:t>
            </a:r>
          </a:p>
          <a:p>
            <a:pPr>
              <a:buFont typeface="Wingdings 2" pitchFamily="18" charset="2"/>
              <a:buNone/>
            </a:pPr>
            <a:r>
              <a:rPr lang="pt-BR" altLang="en-US" b="1" dirty="0">
                <a:latin typeface="Courier New" pitchFamily="49" charset="0"/>
                <a:cs typeface="Courier New" pitchFamily="49" charset="0"/>
              </a:rPr>
              <a:t>	  </a:t>
            </a:r>
          </a:p>
          <a:p>
            <a:pPr>
              <a:buFont typeface="Wingdings 2" pitchFamily="18" charset="2"/>
              <a:buNone/>
            </a:pPr>
            <a:r>
              <a:rPr lang="pt-BR" altLang="en-US" b="1" dirty="0">
                <a:latin typeface="Courier New" pitchFamily="49" charset="0"/>
                <a:cs typeface="Courier New" pitchFamily="49" charset="0"/>
              </a:rPr>
              <a:t> int b = (3 * (4 + 5))/ 6; </a:t>
            </a:r>
            <a:r>
              <a:rPr lang="en-US" altLang="en-US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	        </a:t>
            </a:r>
            <a:endParaRPr lang="en-US" alt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5" name="Rectangle 4" descr="What is the output?" title="What is the output?"/>
          <p:cNvSpPr/>
          <p:nvPr/>
        </p:nvSpPr>
        <p:spPr>
          <a:xfrm>
            <a:off x="5034215" y="2491315"/>
            <a:ext cx="395122" cy="37503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82767" y="2450855"/>
            <a:ext cx="34657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4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0" name="Rectangle 9" descr="What is the output?" title="What is the output?"/>
          <p:cNvSpPr/>
          <p:nvPr/>
        </p:nvSpPr>
        <p:spPr>
          <a:xfrm>
            <a:off x="5016683" y="1980171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683" y="1939711"/>
            <a:ext cx="50847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12</a:t>
            </a:r>
            <a:endParaRPr lang="en-US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778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Division operator: Part1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Integer division:</a:t>
            </a:r>
          </a:p>
          <a:p>
            <a:pPr lvl="1"/>
            <a:r>
              <a:rPr lang="en-US" altLang="en-US" sz="1800" dirty="0"/>
              <a:t>8/3 = 2</a:t>
            </a:r>
          </a:p>
          <a:p>
            <a:pPr marL="596900" lvl="1" indent="0">
              <a:buNone/>
            </a:pPr>
            <a:endParaRPr lang="en-US" altLang="en-US" sz="1800" dirty="0"/>
          </a:p>
          <a:p>
            <a:r>
              <a:rPr lang="en-US" altLang="en-US" dirty="0"/>
              <a:t>Double division:</a:t>
            </a:r>
          </a:p>
          <a:p>
            <a:pPr lvl="1"/>
            <a:r>
              <a:rPr lang="en-US" altLang="en-US" sz="1800" dirty="0"/>
              <a:t>8.0/3.0 = 2.666666666666667</a:t>
            </a:r>
          </a:p>
          <a:p>
            <a:pPr lvl="1"/>
            <a:r>
              <a:rPr lang="en-US" altLang="en-US" sz="1800" dirty="0"/>
              <a:t>8.0/3 = 2.666666666666667</a:t>
            </a:r>
          </a:p>
          <a:p>
            <a:pPr lvl="1"/>
            <a:r>
              <a:rPr lang="en-US" altLang="en-US" sz="1800" dirty="0"/>
              <a:t>8/3.0 = 2.666666666666667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74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Division operator: Part2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Division operator (evaluate full expression first, then assignment):</a:t>
            </a:r>
          </a:p>
          <a:p>
            <a:pPr marL="114300" indent="0">
              <a:buNone/>
            </a:pPr>
            <a:endParaRPr lang="en-US" altLang="en-US" b="1" dirty="0"/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double average = 100.0/8.0;	  	  //12.5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average = 100.0/8;			  //12.5</a:t>
            </a:r>
          </a:p>
          <a:p>
            <a:pPr lvl="1">
              <a:buFont typeface="Wingdings 2" pitchFamily="18" charset="2"/>
              <a:buNone/>
            </a:pPr>
            <a:r>
              <a:rPr lang="en-US" altLang="en-US" sz="1800" b="1" dirty="0">
                <a:latin typeface="Courier New" pitchFamily="49" charset="0"/>
                <a:cs typeface="Courier New" pitchFamily="49" charset="0"/>
              </a:rPr>
              <a:t>average = 100/8;			  //12.0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843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Modulo operator: 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The modulo/remainder % operator p</a:t>
            </a:r>
            <a:r>
              <a:rPr lang="en-US" altLang="en-US" sz="1800" dirty="0"/>
              <a:t>roduces division remainders</a:t>
            </a:r>
          </a:p>
          <a:p>
            <a:pPr marL="596900" lvl="1" indent="0">
              <a:buNone/>
            </a:pPr>
            <a:endParaRPr lang="en-US" altLang="en-US" sz="1800" dirty="0"/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remainder = 100 % 8; 		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(remainder); 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?  </a:t>
            </a:r>
          </a:p>
          <a:p>
            <a:endParaRPr lang="en-US" dirty="0"/>
          </a:p>
        </p:txBody>
      </p:sp>
      <p:sp>
        <p:nvSpPr>
          <p:cNvPr id="4" name="Rectangle 3" descr="What is the output?" title="What is the output?"/>
          <p:cNvSpPr/>
          <p:nvPr/>
        </p:nvSpPr>
        <p:spPr>
          <a:xfrm>
            <a:off x="5523004" y="2217483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263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Modulo operator: 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The modulo/remainder % operator p</a:t>
            </a:r>
            <a:r>
              <a:rPr lang="en-US" altLang="en-US" sz="1800" dirty="0"/>
              <a:t>roduces division remainders</a:t>
            </a:r>
          </a:p>
          <a:p>
            <a:pPr marL="596900" lvl="1" indent="0">
              <a:buNone/>
            </a:pPr>
            <a:endParaRPr lang="en-US" altLang="en-US" sz="1800" dirty="0"/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 remainder = 100 % 8; 		</a:t>
            </a:r>
          </a:p>
          <a:p>
            <a:pPr lvl="1">
              <a:buClr>
                <a:srgbClr val="595959"/>
              </a:buClr>
              <a:buNone/>
            </a:pPr>
            <a:r>
              <a:rPr lang="en-US" altLang="en-US" sz="1800" b="1" dirty="0" err="1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800" b="1" dirty="0">
                <a:solidFill>
                  <a:srgbClr val="595959"/>
                </a:solidFill>
                <a:latin typeface="Courier New" pitchFamily="49" charset="0"/>
                <a:cs typeface="Courier New" pitchFamily="49" charset="0"/>
              </a:rPr>
              <a:t>(remainder); 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4  </a:t>
            </a:r>
          </a:p>
          <a:p>
            <a:endParaRPr lang="en-US" dirty="0"/>
          </a:p>
        </p:txBody>
      </p:sp>
      <p:sp>
        <p:nvSpPr>
          <p:cNvPr id="4" name="Rectangle 3" descr="Output is 4 " title="Output is 4 "/>
          <p:cNvSpPr/>
          <p:nvPr/>
        </p:nvSpPr>
        <p:spPr>
          <a:xfrm>
            <a:off x="5523004" y="2217483"/>
            <a:ext cx="457200" cy="3429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506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Rules of Arithmetic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kern="1200" dirty="0">
                <a:solidFill>
                  <a:schemeClr val="tx1"/>
                </a:solidFill>
              </a:rPr>
              <a:t>In Java, arithmetic follows two basic rules:</a:t>
            </a:r>
            <a:endParaRPr lang="en-US" dirty="0">
              <a:solidFill>
                <a:schemeClr val="tx1"/>
              </a:solidFill>
            </a:endParaRPr>
          </a:p>
          <a:p>
            <a:pPr marL="796290" lvl="1" indent="-34290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  <a:buAutoNum type="arabicPeriod"/>
            </a:pPr>
            <a:r>
              <a:rPr lang="en-US" sz="1800" kern="1200" dirty="0">
                <a:solidFill>
                  <a:schemeClr val="tx1"/>
                </a:solidFill>
              </a:rPr>
              <a:t>Both operands must be of the same type.</a:t>
            </a:r>
          </a:p>
          <a:p>
            <a:pPr marL="796290" lvl="1" indent="-34290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  <a:buAutoNum type="arabicPeriod"/>
            </a:pPr>
            <a:r>
              <a:rPr lang="en-US" sz="1800" kern="1200" dirty="0">
                <a:solidFill>
                  <a:schemeClr val="tx1"/>
                </a:solidFill>
              </a:rPr>
              <a:t>The answer has the same type as the operands.</a:t>
            </a: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kern="1200" dirty="0">
                <a:solidFill>
                  <a:schemeClr val="tx1"/>
                </a:solidFill>
              </a:rPr>
              <a:t>If the operands are of different types (e.g.,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kern="1200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float</a:t>
            </a:r>
            <a:r>
              <a:rPr lang="en-US" kern="1200" dirty="0">
                <a:solidFill>
                  <a:schemeClr val="tx1"/>
                </a:solidFill>
              </a:rPr>
              <a:t>), then they must be converted to the same type first.</a:t>
            </a: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800" kern="1200" dirty="0">
                <a:solidFill>
                  <a:schemeClr val="tx1"/>
                </a:solidFill>
              </a:rPr>
              <a:t>Java automatically expands smaller types to larger types</a:t>
            </a: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Font typeface="Arial" pitchFamily="18" charset="2"/>
              <a:buChar char="●"/>
            </a:pPr>
            <a:r>
              <a:rPr lang="en-US" alt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byte &lt; short &lt; 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/>
                <a:cs typeface="Courier New"/>
              </a:rPr>
              <a:t> &lt; long &lt; float &lt; double</a:t>
            </a:r>
            <a:endParaRPr lang="en-US" sz="2000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Type Conversion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value can always be stored in a variable of a larger (further right) type.</a:t>
            </a:r>
            <a:endParaRPr lang="en-US" dirty="0">
              <a:solidFill>
                <a:schemeClr val="tx1"/>
              </a:solidFill>
              <a:ea typeface="+mn-ea"/>
            </a:endParaRP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Ex. an 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can be stored in a 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float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you want to go the other way (to store a value in a smaller type), you must explicitly cast (convert) the value to the desired type: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739775" lvl="1" indent="-285750">
              <a:lnSpc>
                <a:spcPct val="100000"/>
              </a:lnSpc>
              <a:spcBef>
                <a:spcPts val="533"/>
              </a:spcBef>
              <a:spcAft>
                <a:spcPct val="0"/>
              </a:spcAft>
              <a:buFont typeface="Arial" pitchFamily="18" charset="2"/>
              <a:buChar char="○"/>
            </a:pP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int x = (int)3.14159;</a:t>
            </a: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Font typeface="Arial" pitchFamily="18" charset="2"/>
              <a:buChar char="●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cast, precede the value with the new type in parentheses.</a:t>
            </a:r>
            <a:endParaRPr lang="en-US" dirty="0">
              <a:solidFill>
                <a:schemeClr val="tx1"/>
              </a:solidFill>
              <a:ea typeface="+mn-ea"/>
              <a:cs typeface="+mn-cs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506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Type Conversion contd..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Casting may (and often does) lose data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the original value will be truncated. (for example, a decimal will lose the part after the point).</a:t>
            </a:r>
            <a:endParaRPr lang="en-US" dirty="0">
              <a:solidFill>
                <a:schemeClr val="tx1"/>
              </a:solidFill>
              <a:ea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Clr>
                <a:srgbClr val="D34817"/>
              </a:buClr>
              <a:buSzPct val="85000"/>
              <a:buNone/>
            </a:pPr>
            <a:endParaRPr lang="en-US" kern="12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285750" lvl="0" indent="-28575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Font typeface="Arial" pitchFamily="18" charset="2"/>
              <a:buChar char="●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Note: Casting a value to an integer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 not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round the resulting value.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88332" lvl="0" indent="-388332" eaLnBrk="0" fontAlgn="base" hangingPunct="0">
              <a:lnSpc>
                <a:spcPct val="100000"/>
              </a:lnSpc>
              <a:spcBef>
                <a:spcPts val="818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Wingdings 2" pitchFamily="18" charset="2"/>
              <a:buChar char=""/>
            </a:pPr>
            <a:endParaRPr lang="en-US" kern="1200" dirty="0">
              <a:solidFill>
                <a:prstClr val="black"/>
              </a:solidFill>
              <a:latin typeface="+mn-lt"/>
              <a:ea typeface="+mn-ea"/>
              <a:cs typeface="+mn-cs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938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Conversion Example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double average = 100.0/8.0;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average = 100.0/8;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average = 100/8;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100.0 and 8.0 are both doubles; the result (12.5) is the same type as average.</a:t>
            </a:r>
          </a:p>
          <a:p>
            <a:r>
              <a:rPr lang="en-US" dirty="0"/>
              <a:t>100.0 and 8 are different types; 8 is </a:t>
            </a:r>
            <a:r>
              <a:rPr lang="en-US" dirty="0" err="1"/>
              <a:t>upcast</a:t>
            </a:r>
            <a:r>
              <a:rPr lang="en-US" dirty="0"/>
              <a:t> to 8.0, and we proceed as before.</a:t>
            </a:r>
          </a:p>
          <a:p>
            <a:r>
              <a:rPr lang="en-US" dirty="0"/>
              <a:t>100 and 8 are both integers, so we perform integer division to get 12. This is 	</a:t>
            </a:r>
            <a:r>
              <a:rPr lang="en-US" dirty="0" err="1"/>
              <a:t>upcast</a:t>
            </a:r>
            <a:r>
              <a:rPr lang="en-US" dirty="0"/>
              <a:t> to 12.0, because average is of type double.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37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Conversion Example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5000"/>
              </a:lnSpc>
            </a:pP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sumGrades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100.0/8.0;</a:t>
            </a:r>
          </a:p>
          <a:p>
            <a:pPr>
              <a:lnSpc>
                <a:spcPct val="125000"/>
              </a:lnSpc>
            </a:pP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sumGrades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(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)100.0/8.0;</a:t>
            </a:r>
          </a:p>
          <a:p>
            <a:pPr>
              <a:lnSpc>
                <a:spcPct val="125000"/>
              </a:lnSpc>
            </a:pP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sumGrades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(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)(100.0/8.0);</a:t>
            </a:r>
          </a:p>
          <a:p>
            <a:endParaRPr lang="en-US" dirty="0"/>
          </a:p>
          <a:p>
            <a:r>
              <a:rPr lang="en-US" dirty="0"/>
              <a:t>100.0 and 8.0 are both doubles; their quotient (12.5) is also a double. The double-to-</a:t>
            </a:r>
            <a:r>
              <a:rPr lang="en-US" dirty="0" err="1"/>
              <a:t>int</a:t>
            </a:r>
            <a:r>
              <a:rPr lang="en-US" dirty="0"/>
              <a:t> cast must be explicit, so the compiler will report an error.</a:t>
            </a:r>
          </a:p>
          <a:p>
            <a:r>
              <a:rPr lang="en-US" dirty="0"/>
              <a:t>100.0 (a double) is cast to an </a:t>
            </a:r>
            <a:r>
              <a:rPr lang="en-US" dirty="0" err="1"/>
              <a:t>int</a:t>
            </a:r>
            <a:r>
              <a:rPr lang="en-US" dirty="0"/>
              <a:t>, but 8.0 is still a double. 100 is </a:t>
            </a:r>
            <a:r>
              <a:rPr lang="en-US" dirty="0" err="1"/>
              <a:t>upcast</a:t>
            </a:r>
            <a:r>
              <a:rPr lang="en-US" dirty="0"/>
              <a:t> to 100.0, and we have the same problem as before.</a:t>
            </a:r>
          </a:p>
          <a:p>
            <a:r>
              <a:rPr lang="en-US" dirty="0"/>
              <a:t>In this case, 100.0 and 8.0 are divided first. The result (12.5) is cast from a double to an </a:t>
            </a:r>
            <a:r>
              <a:rPr lang="en-US" dirty="0" err="1"/>
              <a:t>int</a:t>
            </a:r>
            <a:r>
              <a:rPr lang="en-US" dirty="0"/>
              <a:t>, losing the .5, and is stored in </a:t>
            </a:r>
            <a:r>
              <a:rPr lang="en-US" dirty="0" err="1"/>
              <a:t>sumGrades</a:t>
            </a:r>
            <a:r>
              <a:rPr lang="en-US" dirty="0"/>
              <a:t> as 12 (no rounding!).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63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Conversion Example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700" b="1" dirty="0">
                <a:solidFill>
                  <a:schemeClr val="tx1"/>
                </a:solidFill>
                <a:latin typeface="Courier New"/>
                <a:cs typeface="Courier New"/>
              </a:rPr>
              <a:t>double </a:t>
            </a:r>
            <a:r>
              <a:rPr lang="en-US" sz="1700" b="1" dirty="0" err="1">
                <a:solidFill>
                  <a:schemeClr val="tx1"/>
                </a:solidFill>
                <a:latin typeface="Courier New"/>
                <a:cs typeface="Courier New"/>
              </a:rPr>
              <a:t>fiftyPercent</a:t>
            </a:r>
            <a:r>
              <a:rPr lang="en-US" sz="1700" b="1" dirty="0">
                <a:solidFill>
                  <a:schemeClr val="tx1"/>
                </a:solidFill>
                <a:latin typeface="Courier New"/>
                <a:cs typeface="Courier New"/>
              </a:rPr>
              <a:t> = 50/100;</a:t>
            </a:r>
          </a:p>
          <a:p>
            <a:r>
              <a:rPr lang="en-US" sz="1700" b="1" dirty="0" err="1">
                <a:solidFill>
                  <a:schemeClr val="tx1"/>
                </a:solidFill>
                <a:latin typeface="Courier New"/>
                <a:cs typeface="Courier New"/>
              </a:rPr>
              <a:t>fiftyPercent</a:t>
            </a:r>
            <a:r>
              <a:rPr lang="en-US" sz="1700" b="1" dirty="0">
                <a:solidFill>
                  <a:schemeClr val="tx1"/>
                </a:solidFill>
                <a:latin typeface="Courier New"/>
                <a:cs typeface="Courier New"/>
              </a:rPr>
              <a:t> = 50.0/100.0;</a:t>
            </a:r>
          </a:p>
          <a:p>
            <a:endParaRPr lang="en-US" dirty="0"/>
          </a:p>
          <a:p>
            <a:r>
              <a:rPr lang="en-US" dirty="0"/>
              <a:t>50 and 100 are both integers; dividing them produces 0. 0 is converted to a double to match </a:t>
            </a:r>
            <a:r>
              <a:rPr lang="en-US" dirty="0" err="1"/>
              <a:t>fiftyPercent’s</a:t>
            </a:r>
            <a:r>
              <a:rPr lang="en-US" dirty="0"/>
              <a:t> type, and the result is 0.0.</a:t>
            </a:r>
          </a:p>
          <a:p>
            <a:r>
              <a:rPr lang="en-US" dirty="0"/>
              <a:t>50.0 and 100.0 are both doubles; dividing them gives 0.5 (a double). This is stored unchanged in </a:t>
            </a:r>
            <a:r>
              <a:rPr lang="en-US" dirty="0" err="1"/>
              <a:t>fiftyPercent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Augmented assignment 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 descr="Augmented assignment operators" title="Augmented assignment operators"/>
          <p:cNvGraphicFramePr>
            <a:graphicFrameLocks noGrp="1"/>
          </p:cNvGraphicFramePr>
          <p:nvPr/>
        </p:nvGraphicFramePr>
        <p:xfrm>
          <a:off x="311700" y="1152475"/>
          <a:ext cx="8520600" cy="3840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3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Addition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+= 8;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= </a:t>
                      </a: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+ 8;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Subtraction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-= 8; </a:t>
                      </a:r>
                    </a:p>
                    <a:p>
                      <a:pPr algn="ctr"/>
                      <a:endParaRPr lang="en-US" sz="1800" b="1" i="0" u="none" strike="noStrike" cap="none" dirty="0">
                        <a:solidFill>
                          <a:schemeClr val="tx1"/>
                        </a:solidFill>
                        <a:latin typeface="Courier New" pitchFamily="49" charset="0"/>
                        <a:ea typeface="Arial"/>
                        <a:cs typeface="Courier New" pitchFamily="49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= </a:t>
                      </a: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- 8;</a:t>
                      </a: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800" b="1" i="0" u="none" strike="noStrike" cap="none" dirty="0">
                        <a:solidFill>
                          <a:schemeClr val="tx1"/>
                        </a:solidFill>
                        <a:latin typeface="Courier New" pitchFamily="49" charset="0"/>
                        <a:ea typeface="Arial"/>
                        <a:cs typeface="Courier New" pitchFamily="49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Multiplication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*= 8; </a:t>
                      </a:r>
                    </a:p>
                    <a:p>
                      <a:pPr algn="ctr"/>
                      <a:endParaRPr lang="en-US" sz="1800" b="1" i="0" u="none" strike="noStrike" cap="none" dirty="0">
                        <a:solidFill>
                          <a:schemeClr val="tx1"/>
                        </a:solidFill>
                        <a:latin typeface="Courier New" pitchFamily="49" charset="0"/>
                        <a:ea typeface="Arial"/>
                        <a:cs typeface="Courier New" pitchFamily="49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= </a:t>
                      </a: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* 8;</a:t>
                      </a: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800" b="1" i="0" u="none" strike="noStrike" cap="none" dirty="0">
                        <a:solidFill>
                          <a:schemeClr val="tx1"/>
                        </a:solidFill>
                        <a:latin typeface="Courier New" pitchFamily="49" charset="0"/>
                        <a:ea typeface="Arial"/>
                        <a:cs typeface="Courier New" pitchFamily="49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Division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/= 8; </a:t>
                      </a:r>
                    </a:p>
                    <a:p>
                      <a:pPr algn="ctr"/>
                      <a:endParaRPr lang="en-US" sz="1800" b="1" i="0" u="none" strike="noStrike" cap="none" dirty="0">
                        <a:solidFill>
                          <a:schemeClr val="tx1"/>
                        </a:solidFill>
                        <a:latin typeface="Courier New" pitchFamily="49" charset="0"/>
                        <a:ea typeface="Arial"/>
                        <a:cs typeface="Courier New" pitchFamily="49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= </a:t>
                      </a: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/ 8;</a:t>
                      </a: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800" b="1" i="0" u="none" strike="noStrike" cap="none" dirty="0">
                        <a:solidFill>
                          <a:schemeClr val="tx1"/>
                        </a:solidFill>
                        <a:latin typeface="Courier New" pitchFamily="49" charset="0"/>
                        <a:ea typeface="Arial"/>
                        <a:cs typeface="Courier New" pitchFamily="49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Remainder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 %= 8;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= </a:t>
                      </a:r>
                      <a:r>
                        <a:rPr lang="en-US" sz="1800" b="1" i="0" u="none" strike="noStrike" cap="none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i</a:t>
                      </a: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Courier New" pitchFamily="49" charset="0"/>
                          <a:ea typeface="Arial"/>
                          <a:cs typeface="Courier New" pitchFamily="49" charset="0"/>
                          <a:sym typeface="Arial"/>
                        </a:rPr>
                        <a:t> % 8;</a:t>
                      </a: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800" b="1" i="0" u="none" strike="noStrike" cap="none" dirty="0">
                        <a:solidFill>
                          <a:schemeClr val="tx1"/>
                        </a:solidFill>
                        <a:latin typeface="Courier New" pitchFamily="49" charset="0"/>
                        <a:ea typeface="Arial"/>
                        <a:cs typeface="Courier New" pitchFamily="49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168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Increment/Decrement operators: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dirty="0"/>
              <a:t>++	Increment by one</a:t>
            </a:r>
          </a:p>
          <a:p>
            <a:pPr>
              <a:buFont typeface="Wingdings 2" pitchFamily="18" charset="2"/>
              <a:buNone/>
            </a:pPr>
            <a:r>
              <a:rPr lang="en-US" altLang="en-US" dirty="0"/>
              <a:t>--	Decrement by one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	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653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Increment/Decrement operators: Example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 = 5, y = 15, z = 25;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= x + 1;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y++;	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 +=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(x);			 ?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(y);			 ?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(z);			 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 descr="What is the output?" title="What is the output?"/>
          <p:cNvSpPr/>
          <p:nvPr/>
        </p:nvSpPr>
        <p:spPr>
          <a:xfrm>
            <a:off x="4948786" y="2254553"/>
            <a:ext cx="457200" cy="9144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022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Increment/Decrement operators: Example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 = 5, y = 15, z = 25;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= x + 1;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y++;	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 +=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(x);			 6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(y);			 ?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(z);			 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 descr="What is the output?" title="What is the output?"/>
          <p:cNvSpPr/>
          <p:nvPr/>
        </p:nvSpPr>
        <p:spPr>
          <a:xfrm>
            <a:off x="4948786" y="2254553"/>
            <a:ext cx="457200" cy="9144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082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Increment/Decrement operators: Example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 = 5, y = 15, z = 25;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= x + 1;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y++;	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 +=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(x);			 6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(y);			 16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(z);			 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 descr="What is the output?" title="What is the output?"/>
          <p:cNvSpPr/>
          <p:nvPr/>
        </p:nvSpPr>
        <p:spPr>
          <a:xfrm>
            <a:off x="4948786" y="2254553"/>
            <a:ext cx="457200" cy="9144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5988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Increment/Decrement operators: Example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 = 5, y = 15, z = 25;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= x + 1;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y++;	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 += 1;					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(x);			 6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(y);			 16</a:t>
            </a:r>
          </a:p>
          <a:p>
            <a:pPr>
              <a:buFont typeface="Wingdings 2" pitchFamily="18" charset="2"/>
              <a:buNone/>
            </a:pPr>
            <a:r>
              <a:rPr lang="en-US" altLang="en-US" sz="15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5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(z);			 26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 descr="What is the output?" title="What is the output?"/>
          <p:cNvSpPr/>
          <p:nvPr/>
        </p:nvSpPr>
        <p:spPr>
          <a:xfrm>
            <a:off x="4948786" y="2254553"/>
            <a:ext cx="457200" cy="9144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497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Pre-increment Vs. Post-increment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16" descr="post increment" title="post increment"/>
          <p:cNvGraphicFramePr>
            <a:graphicFrameLocks noChangeAspect="1"/>
          </p:cNvGraphicFramePr>
          <p:nvPr/>
        </p:nvGraphicFramePr>
        <p:xfrm>
          <a:off x="721147" y="3536374"/>
          <a:ext cx="55959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419720" imgH="685800" progId="Word.Picture.8">
                  <p:embed/>
                </p:oleObj>
              </mc:Choice>
              <mc:Fallback>
                <p:oleObj name="Picture" r:id="rId3" imgW="4419720" imgH="685800" progId="Word.Picture.8">
                  <p:embed/>
                  <p:pic>
                    <p:nvPicPr>
                      <p:cNvPr id="4" name="Object 16" descr="post increment" title="post increment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47" y="3536374"/>
                        <a:ext cx="55959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8" descr="pre increment" title="pre increment"/>
          <p:cNvGraphicFramePr>
            <a:graphicFrameLocks noChangeAspect="1"/>
          </p:cNvGraphicFramePr>
          <p:nvPr/>
        </p:nvGraphicFramePr>
        <p:xfrm>
          <a:off x="721147" y="1985963"/>
          <a:ext cx="58245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4572000" imgH="685800" progId="Word.Picture.8">
                  <p:embed/>
                </p:oleObj>
              </mc:Choice>
              <mc:Fallback>
                <p:oleObj name="Picture" r:id="rId5" imgW="4572000" imgH="685800" progId="Word.Picture.8">
                  <p:embed/>
                  <p:pic>
                    <p:nvPicPr>
                      <p:cNvPr id="5" name="Object 18" descr="pre increment" title="pre increment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47" y="1985963"/>
                        <a:ext cx="5824538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34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5538c6363dcc66390f334cc79d134dde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f941384ee89c8d55594949fcab33c8bd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000666-1B99-455B-8560-65ABBA89D886}"/>
</file>

<file path=customXml/itemProps2.xml><?xml version="1.0" encoding="utf-8"?>
<ds:datastoreItem xmlns:ds="http://schemas.openxmlformats.org/officeDocument/2006/customXml" ds:itemID="{229BE943-B290-463C-83D6-683CD9F56E60}"/>
</file>

<file path=customXml/itemProps3.xml><?xml version="1.0" encoding="utf-8"?>
<ds:datastoreItem xmlns:ds="http://schemas.openxmlformats.org/officeDocument/2006/customXml" ds:itemID="{8DA55AB8-BA69-4E69-A527-5849991BB40C}"/>
</file>

<file path=docProps/app.xml><?xml version="1.0" encoding="utf-8"?>
<Properties xmlns="http://schemas.openxmlformats.org/officeDocument/2006/extended-properties" xmlns:vt="http://schemas.openxmlformats.org/officeDocument/2006/docPropsVTypes">
  <TotalTime>2451</TotalTime>
  <Words>2452</Words>
  <Application>Microsoft Office PowerPoint</Application>
  <PresentationFormat>On-screen Show (16:9)</PresentationFormat>
  <Paragraphs>355</Paragraphs>
  <Slides>38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Courier New</vt:lpstr>
      <vt:lpstr>Wingdings 2</vt:lpstr>
      <vt:lpstr>Simple Light</vt:lpstr>
      <vt:lpstr>Picture</vt:lpstr>
      <vt:lpstr>Numerical Variables and Arithmetic Operations</vt:lpstr>
      <vt:lpstr>Objectives: </vt:lpstr>
      <vt:lpstr>Assignment statement</vt:lpstr>
      <vt:lpstr>Variable: Assignment cont...</vt:lpstr>
      <vt:lpstr>Assignment: Storing values in Variables</vt:lpstr>
      <vt:lpstr>Numerical Variable Assignment</vt:lpstr>
      <vt:lpstr>Numerical Variable Assignment: Rule</vt:lpstr>
      <vt:lpstr>Numerical Variables: Casting</vt:lpstr>
      <vt:lpstr>Variable: Assignment and Declaration</vt:lpstr>
      <vt:lpstr>Variables: Example</vt:lpstr>
      <vt:lpstr>Variables: Declaration and Initialization</vt:lpstr>
      <vt:lpstr>Variable: Must Initialize!</vt:lpstr>
      <vt:lpstr>Variable: Declare once</vt:lpstr>
      <vt:lpstr>Variables: Scope</vt:lpstr>
      <vt:lpstr>Constants</vt:lpstr>
      <vt:lpstr>Arithmetic Operators</vt:lpstr>
      <vt:lpstr>Arithmetic Operators</vt:lpstr>
      <vt:lpstr>Arithmetic Operators: Precedence * over +</vt:lpstr>
      <vt:lpstr>Arithmetic Operators: Precedence * over +</vt:lpstr>
      <vt:lpstr>Precedence * over +: Advice !</vt:lpstr>
      <vt:lpstr>Precedence * over +: Advice !</vt:lpstr>
      <vt:lpstr>Division operator: Part1</vt:lpstr>
      <vt:lpstr>Division operator: Part2</vt:lpstr>
      <vt:lpstr>Modulo operator: %</vt:lpstr>
      <vt:lpstr>Modulo operator: %</vt:lpstr>
      <vt:lpstr>The Rules of Arithmetic</vt:lpstr>
      <vt:lpstr>Type Conversion</vt:lpstr>
      <vt:lpstr>Type Conversion contd..</vt:lpstr>
      <vt:lpstr>Conversion Example 1</vt:lpstr>
      <vt:lpstr>Conversion Example 2</vt:lpstr>
      <vt:lpstr>Conversion Example 3</vt:lpstr>
      <vt:lpstr>Augmented assignment Operators</vt:lpstr>
      <vt:lpstr>Increment/Decrement operators: </vt:lpstr>
      <vt:lpstr>Increment/Decrement operators: Example </vt:lpstr>
      <vt:lpstr>Increment/Decrement operators: Example </vt:lpstr>
      <vt:lpstr>Increment/Decrement operators: Example </vt:lpstr>
      <vt:lpstr>Increment/Decrement operators: Example </vt:lpstr>
      <vt:lpstr>Pre-increment Vs. Post-increment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Identifiers</dc:title>
  <dc:creator>admin</dc:creator>
  <cp:lastModifiedBy>XINRUI YU</cp:lastModifiedBy>
  <cp:revision>110</cp:revision>
  <dcterms:modified xsi:type="dcterms:W3CDTF">2025-09-20T00:58:58Z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