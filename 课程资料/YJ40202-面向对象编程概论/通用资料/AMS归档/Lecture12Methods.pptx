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7"/>
  </p:notesMasterIdLst>
  <p:sldIdLst>
    <p:sldId id="256" r:id="rId2"/>
    <p:sldId id="324" r:id="rId3"/>
    <p:sldId id="282" r:id="rId4"/>
    <p:sldId id="283" r:id="rId5"/>
    <p:sldId id="284" r:id="rId6"/>
    <p:sldId id="285" r:id="rId7"/>
    <p:sldId id="286" r:id="rId8"/>
    <p:sldId id="326" r:id="rId9"/>
    <p:sldId id="287" r:id="rId10"/>
    <p:sldId id="288" r:id="rId11"/>
    <p:sldId id="325"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09" autoAdjust="0"/>
  </p:normalViewPr>
  <p:slideViewPr>
    <p:cSldViewPr snapToGrid="0">
      <p:cViewPr varScale="1">
        <p:scale>
          <a:sx n="124" d="100"/>
          <a:sy n="124" d="100"/>
        </p:scale>
        <p:origin x="2853" y="48"/>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143EE8A1-D504-41D6-9AFD-13ED34B1FD2C}"/>
    <pc:docChg chg="undo custSel addSld delSld modSld">
      <pc:chgData name="于 心瑞 Xinrui YU" userId="e6fcc6d4-2b88-4beb-95d7-57ae4d33a768" providerId="ADAL" clId="{143EE8A1-D504-41D6-9AFD-13ED34B1FD2C}" dt="2025-03-20T07:17:18.972" v="587"/>
      <pc:docMkLst>
        <pc:docMk/>
      </pc:docMkLst>
      <pc:sldChg chg="addSp delSp modSp mod">
        <pc:chgData name="于 心瑞 Xinrui YU" userId="e6fcc6d4-2b88-4beb-95d7-57ae4d33a768" providerId="ADAL" clId="{143EE8A1-D504-41D6-9AFD-13ED34B1FD2C}" dt="2025-03-14T11:46:44.518" v="1"/>
        <pc:sldMkLst>
          <pc:docMk/>
          <pc:sldMk cId="0" sldId="256"/>
        </pc:sldMkLst>
      </pc:sldChg>
      <pc:sldChg chg="del">
        <pc:chgData name="于 心瑞 Xinrui YU" userId="e6fcc6d4-2b88-4beb-95d7-57ae4d33a768" providerId="ADAL" clId="{143EE8A1-D504-41D6-9AFD-13ED34B1FD2C}" dt="2025-03-14T11:46:47.778" v="2" actId="47"/>
        <pc:sldMkLst>
          <pc:docMk/>
          <pc:sldMk cId="0" sldId="260"/>
        </pc:sldMkLst>
      </pc:sldChg>
      <pc:sldChg chg="modNotesTx">
        <pc:chgData name="于 心瑞 Xinrui YU" userId="e6fcc6d4-2b88-4beb-95d7-57ae4d33a768" providerId="ADAL" clId="{143EE8A1-D504-41D6-9AFD-13ED34B1FD2C}" dt="2025-03-16T11:17:12.263" v="107" actId="20577"/>
        <pc:sldMkLst>
          <pc:docMk/>
          <pc:sldMk cId="1880034854" sldId="288"/>
        </pc:sldMkLst>
      </pc:sldChg>
      <pc:sldChg chg="modNotesTx">
        <pc:chgData name="于 心瑞 Xinrui YU" userId="e6fcc6d4-2b88-4beb-95d7-57ae4d33a768" providerId="ADAL" clId="{143EE8A1-D504-41D6-9AFD-13ED34B1FD2C}" dt="2025-03-16T11:26:37.720" v="344" actId="20577"/>
        <pc:sldMkLst>
          <pc:docMk/>
          <pc:sldMk cId="3570646735" sldId="292"/>
        </pc:sldMkLst>
      </pc:sldChg>
      <pc:sldChg chg="modNotesTx">
        <pc:chgData name="于 心瑞 Xinrui YU" userId="e6fcc6d4-2b88-4beb-95d7-57ae4d33a768" providerId="ADAL" clId="{143EE8A1-D504-41D6-9AFD-13ED34B1FD2C}" dt="2025-03-16T11:30:44.422" v="345"/>
        <pc:sldMkLst>
          <pc:docMk/>
          <pc:sldMk cId="214035804" sldId="304"/>
        </pc:sldMkLst>
      </pc:sldChg>
      <pc:sldChg chg="modNotesTx">
        <pc:chgData name="于 心瑞 Xinrui YU" userId="e6fcc6d4-2b88-4beb-95d7-57ae4d33a768" providerId="ADAL" clId="{143EE8A1-D504-41D6-9AFD-13ED34B1FD2C}" dt="2025-03-16T11:32:08.611" v="415" actId="20577"/>
        <pc:sldMkLst>
          <pc:docMk/>
          <pc:sldMk cId="4024652472" sldId="306"/>
        </pc:sldMkLst>
      </pc:sldChg>
      <pc:sldChg chg="modNotesTx">
        <pc:chgData name="于 心瑞 Xinrui YU" userId="e6fcc6d4-2b88-4beb-95d7-57ae4d33a768" providerId="ADAL" clId="{143EE8A1-D504-41D6-9AFD-13ED34B1FD2C}" dt="2025-03-20T07:17:18.972" v="587"/>
        <pc:sldMkLst>
          <pc:docMk/>
          <pc:sldMk cId="2481696924" sldId="319"/>
        </pc:sldMkLst>
      </pc:sldChg>
      <pc:sldChg chg="modNotesTx">
        <pc:chgData name="于 心瑞 Xinrui YU" userId="e6fcc6d4-2b88-4beb-95d7-57ae4d33a768" providerId="ADAL" clId="{143EE8A1-D504-41D6-9AFD-13ED34B1FD2C}" dt="2025-03-16T11:37:08.900" v="449" actId="20577"/>
        <pc:sldMkLst>
          <pc:docMk/>
          <pc:sldMk cId="836674258" sldId="320"/>
        </pc:sldMkLst>
      </pc:sldChg>
      <pc:sldChg chg="addSp delSp modSp mod">
        <pc:chgData name="于 心瑞 Xinrui YU" userId="e6fcc6d4-2b88-4beb-95d7-57ae4d33a768" providerId="ADAL" clId="{143EE8A1-D504-41D6-9AFD-13ED34B1FD2C}" dt="2025-03-16T11:40:01.189" v="475" actId="478"/>
        <pc:sldMkLst>
          <pc:docMk/>
          <pc:sldMk cId="825268468" sldId="321"/>
        </pc:sldMkLst>
      </pc:sldChg>
      <pc:sldChg chg="modNotesTx">
        <pc:chgData name="于 心瑞 Xinrui YU" userId="e6fcc6d4-2b88-4beb-95d7-57ae4d33a768" providerId="ADAL" clId="{143EE8A1-D504-41D6-9AFD-13ED34B1FD2C}" dt="2025-03-16T11:40:34.231" v="496" actId="20577"/>
        <pc:sldMkLst>
          <pc:docMk/>
          <pc:sldMk cId="2917379788" sldId="322"/>
        </pc:sldMkLst>
      </pc:sldChg>
      <pc:sldChg chg="modNotesTx">
        <pc:chgData name="于 心瑞 Xinrui YU" userId="e6fcc6d4-2b88-4beb-95d7-57ae4d33a768" providerId="ADAL" clId="{143EE8A1-D504-41D6-9AFD-13ED34B1FD2C}" dt="2025-03-20T07:13:01.485" v="498"/>
        <pc:sldMkLst>
          <pc:docMk/>
          <pc:sldMk cId="2615962207" sldId="323"/>
        </pc:sldMkLst>
      </pc:sldChg>
      <pc:sldChg chg="modSp new mod modAnim">
        <pc:chgData name="于 心瑞 Xinrui YU" userId="e6fcc6d4-2b88-4beb-95d7-57ae4d33a768" providerId="ADAL" clId="{143EE8A1-D504-41D6-9AFD-13ED34B1FD2C}" dt="2025-03-16T11:22:04.758" v="316" actId="404"/>
        <pc:sldMkLst>
          <pc:docMk/>
          <pc:sldMk cId="2594388213" sldId="325"/>
        </pc:sldMkLst>
      </pc:sldChg>
    </pc:docChg>
  </pc:docChgLst>
  <pc:docChgLst>
    <pc:chgData name="Cindy Chen" userId="S::cchen1034@bths.edu::7d046212-a3e8-4a18-a335-8fe40dea9534" providerId="AD" clId="Web-{521C8221-3899-E569-E50F-63FB55B40C42}"/>
    <pc:docChg chg="modSld">
      <pc:chgData name="Cindy Chen" userId="S::cchen1034@bths.edu::7d046212-a3e8-4a18-a335-8fe40dea9534" providerId="AD" clId="Web-{521C8221-3899-E569-E50F-63FB55B40C42}" dt="2021-08-05T19:40:29.802" v="29" actId="20577"/>
      <pc:docMkLst>
        <pc:docMk/>
      </pc:docMkLst>
      <pc:sldChg chg="modSp">
        <pc:chgData name="Cindy Chen" userId="S::cchen1034@bths.edu::7d046212-a3e8-4a18-a335-8fe40dea9534" providerId="AD" clId="Web-{521C8221-3899-E569-E50F-63FB55B40C42}" dt="2021-08-05T19:39:30.254" v="16" actId="20577"/>
        <pc:sldMkLst>
          <pc:docMk/>
          <pc:sldMk cId="3655471225" sldId="283"/>
        </pc:sldMkLst>
      </pc:sldChg>
      <pc:sldChg chg="modSp">
        <pc:chgData name="Cindy Chen" userId="S::cchen1034@bths.edu::7d046212-a3e8-4a18-a335-8fe40dea9534" providerId="AD" clId="Web-{521C8221-3899-E569-E50F-63FB55B40C42}" dt="2021-08-05T19:40:29.802" v="29" actId="20577"/>
        <pc:sldMkLst>
          <pc:docMk/>
          <pc:sldMk cId="1996849345" sldId="284"/>
        </pc:sldMkLst>
      </pc:sldChg>
    </pc:docChg>
  </pc:docChgLst>
  <pc:docChgLst>
    <pc:chgData name="于 心瑞 Xinrui YU" userId="e6fcc6d4-2b88-4beb-95d7-57ae4d33a768" providerId="ADAL" clId="{F34F8855-C621-4438-806B-08A2E2CB3E3D}"/>
    <pc:docChg chg="modSld">
      <pc:chgData name="于 心瑞 Xinrui YU" userId="e6fcc6d4-2b88-4beb-95d7-57ae4d33a768" providerId="ADAL" clId="{F34F8855-C621-4438-806B-08A2E2CB3E3D}" dt="2025-10-23T12:56:15.988" v="0" actId="20577"/>
      <pc:docMkLst>
        <pc:docMk/>
      </pc:docMkLst>
      <pc:sldChg chg="modNotesTx">
        <pc:chgData name="于 心瑞 Xinrui YU" userId="e6fcc6d4-2b88-4beb-95d7-57ae4d33a768" providerId="ADAL" clId="{F34F8855-C621-4438-806B-08A2E2CB3E3D}" dt="2025-10-23T12:56:15.988" v="0" actId="20577"/>
        <pc:sldMkLst>
          <pc:docMk/>
          <pc:sldMk cId="2615962207" sldId="323"/>
        </pc:sldMkLst>
      </pc:sldChg>
    </pc:docChg>
  </pc:docChgLst>
  <pc:docChgLst>
    <pc:chgData name="于 心瑞 Xinrui YU" userId="e6fcc6d4-2b88-4beb-95d7-57ae4d33a768" providerId="ADAL" clId="{DEF74F39-3219-455E-834C-E6464AC56CA2}"/>
    <pc:docChg chg="custSel addSld modSld">
      <pc:chgData name="于 心瑞 Xinrui YU" userId="e6fcc6d4-2b88-4beb-95d7-57ae4d33a768" providerId="ADAL" clId="{DEF74F39-3219-455E-834C-E6464AC56CA2}" dt="2025-03-21T09:04:31.838" v="207" actId="20577"/>
      <pc:docMkLst>
        <pc:docMk/>
      </pc:docMkLst>
      <pc:sldChg chg="modNotesTx">
        <pc:chgData name="于 心瑞 Xinrui YU" userId="e6fcc6d4-2b88-4beb-95d7-57ae4d33a768" providerId="ADAL" clId="{DEF74F39-3219-455E-834C-E6464AC56CA2}" dt="2025-03-17T09:02:07.327" v="37" actId="20577"/>
        <pc:sldMkLst>
          <pc:docMk/>
          <pc:sldMk cId="0" sldId="256"/>
        </pc:sldMkLst>
      </pc:sldChg>
      <pc:sldChg chg="modNotesTx">
        <pc:chgData name="于 心瑞 Xinrui YU" userId="e6fcc6d4-2b88-4beb-95d7-57ae4d33a768" providerId="ADAL" clId="{DEF74F39-3219-455E-834C-E6464AC56CA2}" dt="2025-03-17T06:46:34.423" v="18" actId="20577"/>
        <pc:sldMkLst>
          <pc:docMk/>
          <pc:sldMk cId="1641547167" sldId="317"/>
        </pc:sldMkLst>
      </pc:sldChg>
      <pc:sldChg chg="modNotesTx">
        <pc:chgData name="于 心瑞 Xinrui YU" userId="e6fcc6d4-2b88-4beb-95d7-57ae4d33a768" providerId="ADAL" clId="{DEF74F39-3219-455E-834C-E6464AC56CA2}" dt="2025-03-17T09:02:28.571" v="97" actId="20577"/>
        <pc:sldMkLst>
          <pc:docMk/>
          <pc:sldMk cId="2615962207" sldId="323"/>
        </pc:sldMkLst>
      </pc:sldChg>
      <pc:sldChg chg="modSp new mod">
        <pc:chgData name="于 心瑞 Xinrui YU" userId="e6fcc6d4-2b88-4beb-95d7-57ae4d33a768" providerId="ADAL" clId="{DEF74F39-3219-455E-834C-E6464AC56CA2}" dt="2025-03-21T09:04:31.838" v="207" actId="20577"/>
        <pc:sldMkLst>
          <pc:docMk/>
          <pc:sldMk cId="1883238818" sldId="326"/>
        </pc:sldMkLst>
      </pc:sldChg>
    </pc:docChg>
  </pc:docChgLst>
  <pc:docChgLst>
    <pc:chgData name="于 心瑞 Xinrui YU" userId="e6fcc6d4-2b88-4beb-95d7-57ae4d33a768" providerId="ADAL" clId="{CFFA9A75-F840-4F6F-AF7D-069F806E1180}"/>
    <pc:docChg chg="undo custSel modSld">
      <pc:chgData name="于 心瑞 Xinrui YU" userId="e6fcc6d4-2b88-4beb-95d7-57ae4d33a768" providerId="ADAL" clId="{CFFA9A75-F840-4F6F-AF7D-069F806E1180}" dt="2025-10-21T09:02:56.031" v="44" actId="20577"/>
      <pc:docMkLst>
        <pc:docMk/>
      </pc:docMkLst>
      <pc:sldChg chg="modNotesTx">
        <pc:chgData name="于 心瑞 Xinrui YU" userId="e6fcc6d4-2b88-4beb-95d7-57ae4d33a768" providerId="ADAL" clId="{CFFA9A75-F840-4F6F-AF7D-069F806E1180}" dt="2025-10-21T09:02:56.031" v="44" actId="20577"/>
        <pc:sldMkLst>
          <pc:docMk/>
          <pc:sldMk cId="2498782989"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7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92901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Define vs Declare</a:t>
            </a:r>
          </a:p>
          <a:p>
            <a:r>
              <a:rPr lang="en-US" altLang="zh-CN" dirty="0"/>
              <a:t>Class </a:t>
            </a:r>
            <a:r>
              <a:rPr lang="en-US" altLang="zh-CN"/>
              <a:t>01 ends here 10/21</a:t>
            </a:r>
            <a:endParaRPr lang="zh-CN" altLang="en-US" dirty="0"/>
          </a:p>
        </p:txBody>
      </p:sp>
    </p:spTree>
    <p:extLst>
      <p:ext uri="{BB962C8B-B14F-4D97-AF65-F5344CB8AC3E}">
        <p14:creationId xmlns:p14="http://schemas.microsoft.com/office/powerpoint/2010/main" val="1095501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b="1" i="0" dirty="0">
                <a:solidFill>
                  <a:srgbClr val="767676"/>
                </a:solidFill>
                <a:effectLst/>
                <a:latin typeface="Arial" panose="020B0604020202020204" pitchFamily="34" charset="0"/>
              </a:rPr>
              <a:t>方法签名</a:t>
            </a:r>
            <a:r>
              <a:rPr lang="en-US" altLang="zh-CN" b="1" i="0" dirty="0">
                <a:solidFill>
                  <a:srgbClr val="767676"/>
                </a:solidFill>
                <a:effectLst/>
                <a:latin typeface="Arial" panose="020B0604020202020204" pitchFamily="34" charset="0"/>
              </a:rPr>
              <a:t>(</a:t>
            </a:r>
            <a:r>
              <a:rPr lang="en-US" b="1" i="0" dirty="0">
                <a:solidFill>
                  <a:srgbClr val="767676"/>
                </a:solidFill>
                <a:effectLst/>
                <a:latin typeface="Arial" panose="020B0604020202020204" pitchFamily="34" charset="0"/>
              </a:rPr>
              <a:t>Method Signature)</a:t>
            </a:r>
            <a:r>
              <a:rPr lang="zh-CN" altLang="en-US" b="1" i="0" dirty="0">
                <a:solidFill>
                  <a:srgbClr val="767676"/>
                </a:solidFill>
                <a:effectLst/>
                <a:latin typeface="Arial" panose="020B0604020202020204" pitchFamily="34" charset="0"/>
              </a:rPr>
              <a:t>由 方法名称和参数组成</a:t>
            </a:r>
            <a:endParaRPr lang="en-US" altLang="zh-CN" b="1" i="0" dirty="0">
              <a:solidFill>
                <a:srgbClr val="767676"/>
              </a:solidFill>
              <a:effectLst/>
              <a:latin typeface="Arial" panose="020B0604020202020204" pitchFamily="34" charset="0"/>
            </a:endParaRPr>
          </a:p>
          <a:p>
            <a:r>
              <a:rPr lang="en-US" b="1" i="0" dirty="0">
                <a:solidFill>
                  <a:srgbClr val="767676"/>
                </a:solidFill>
                <a:effectLst/>
                <a:latin typeface="Arial" panose="020B0604020202020204" pitchFamily="34" charset="0"/>
              </a:rPr>
              <a:t>A</a:t>
            </a:r>
            <a:r>
              <a:rPr lang="en-US" altLang="zh-CN" b="1" i="0" dirty="0">
                <a:solidFill>
                  <a:srgbClr val="767676"/>
                </a:solidFill>
                <a:effectLst/>
                <a:latin typeface="Arial" panose="020B0604020202020204" pitchFamily="34" charset="0"/>
              </a:rPr>
              <a:t>ctual argument (</a:t>
            </a:r>
            <a:r>
              <a:rPr lang="zh-CN" altLang="en-US" b="1" i="0" dirty="0">
                <a:solidFill>
                  <a:srgbClr val="767676"/>
                </a:solidFill>
                <a:effectLst/>
                <a:latin typeface="Arial" panose="020B0604020202020204" pitchFamily="34" charset="0"/>
              </a:rPr>
              <a:t>实际参数，实参）</a:t>
            </a:r>
            <a:endParaRPr lang="en-US" altLang="zh-CN" b="1" i="0" dirty="0">
              <a:solidFill>
                <a:srgbClr val="767676"/>
              </a:solidFill>
              <a:effectLst/>
              <a:latin typeface="Arial" panose="020B0604020202020204" pitchFamily="34" charset="0"/>
            </a:endParaRPr>
          </a:p>
          <a:p>
            <a:r>
              <a:rPr lang="en-US" b="1" i="0" dirty="0">
                <a:solidFill>
                  <a:srgbClr val="767676"/>
                </a:solidFill>
                <a:effectLst/>
                <a:latin typeface="Arial" panose="020B0604020202020204" pitchFamily="34" charset="0"/>
              </a:rPr>
              <a:t>F</a:t>
            </a:r>
            <a:r>
              <a:rPr lang="en-US" altLang="zh-CN" b="1" i="0" dirty="0">
                <a:solidFill>
                  <a:srgbClr val="767676"/>
                </a:solidFill>
                <a:effectLst/>
                <a:latin typeface="Arial" panose="020B0604020202020204" pitchFamily="34" charset="0"/>
              </a:rPr>
              <a:t>ormal parameter </a:t>
            </a:r>
            <a:r>
              <a:rPr lang="zh-CN" altLang="en-US" b="1" i="0" dirty="0">
                <a:solidFill>
                  <a:srgbClr val="767676"/>
                </a:solidFill>
                <a:effectLst/>
                <a:latin typeface="Arial" panose="020B0604020202020204" pitchFamily="34" charset="0"/>
              </a:rPr>
              <a:t>（形式参数，形参）</a:t>
            </a:r>
            <a:endParaRPr lang="en-US" dirty="0"/>
          </a:p>
        </p:txBody>
      </p:sp>
    </p:spTree>
    <p:extLst>
      <p:ext uri="{BB962C8B-B14F-4D97-AF65-F5344CB8AC3E}">
        <p14:creationId xmlns:p14="http://schemas.microsoft.com/office/powerpoint/2010/main" val="3342390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Modifier </a:t>
            </a:r>
            <a:r>
              <a:rPr lang="zh-CN" altLang="en-US" dirty="0"/>
              <a:t>修饰符</a:t>
            </a:r>
            <a:endParaRPr lang="en-US" altLang="zh-CN" dirty="0"/>
          </a:p>
          <a:p>
            <a:r>
              <a:rPr lang="en-US" altLang="zh-CN" dirty="0"/>
              <a:t>Specifier </a:t>
            </a:r>
            <a:r>
              <a:rPr lang="zh-CN" altLang="en-US" dirty="0"/>
              <a:t>标识符</a:t>
            </a:r>
          </a:p>
        </p:txBody>
      </p:sp>
    </p:spTree>
    <p:extLst>
      <p:ext uri="{BB962C8B-B14F-4D97-AF65-F5344CB8AC3E}">
        <p14:creationId xmlns:p14="http://schemas.microsoft.com/office/powerpoint/2010/main" val="3882906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Call, invoke: </a:t>
            </a:r>
            <a:r>
              <a:rPr lang="zh-CN" altLang="en-US" dirty="0"/>
              <a:t>调用</a:t>
            </a:r>
            <a:endParaRPr lang="en-US" dirty="0"/>
          </a:p>
        </p:txBody>
      </p:sp>
    </p:spTree>
    <p:extLst>
      <p:ext uri="{BB962C8B-B14F-4D97-AF65-F5344CB8AC3E}">
        <p14:creationId xmlns:p14="http://schemas.microsoft.com/office/powerpoint/2010/main" val="2626276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i="0" dirty="0">
                <a:solidFill>
                  <a:srgbClr val="1F1F1F"/>
                </a:solidFill>
                <a:effectLst/>
                <a:latin typeface="Google Sans"/>
              </a:rPr>
              <a:t>application programming interface is a connection between computers or between computer programs</a:t>
            </a:r>
            <a:endParaRPr lang="en-US" dirty="0"/>
          </a:p>
        </p:txBody>
      </p:sp>
    </p:spTree>
    <p:extLst>
      <p:ext uri="{BB962C8B-B14F-4D97-AF65-F5344CB8AC3E}">
        <p14:creationId xmlns:p14="http://schemas.microsoft.com/office/powerpoint/2010/main" val="345939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Stack vs list: </a:t>
            </a:r>
            <a:r>
              <a:rPr lang="zh-CN" altLang="en-US" dirty="0"/>
              <a:t>先进后出 </a:t>
            </a:r>
            <a:r>
              <a:rPr lang="en-US" altLang="zh-CN" dirty="0"/>
              <a:t>vs </a:t>
            </a:r>
            <a:r>
              <a:rPr lang="zh-CN" altLang="en-US" dirty="0"/>
              <a:t>先进先出</a:t>
            </a:r>
            <a:endParaRPr lang="en-US" dirty="0"/>
          </a:p>
        </p:txBody>
      </p:sp>
    </p:spTree>
    <p:extLst>
      <p:ext uri="{BB962C8B-B14F-4D97-AF65-F5344CB8AC3E}">
        <p14:creationId xmlns:p14="http://schemas.microsoft.com/office/powerpoint/2010/main" val="392949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Class 01 ends 0317</a:t>
            </a:r>
            <a:endParaRPr lang="zh-CN" altLang="en-US" dirty="0"/>
          </a:p>
        </p:txBody>
      </p:sp>
    </p:spTree>
    <p:extLst>
      <p:ext uri="{BB962C8B-B14F-4D97-AF65-F5344CB8AC3E}">
        <p14:creationId xmlns:p14="http://schemas.microsoft.com/office/powerpoint/2010/main" val="1703574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方法重载</a:t>
            </a:r>
            <a:endParaRPr lang="en-US" altLang="zh-CN" dirty="0"/>
          </a:p>
          <a:p>
            <a:r>
              <a:rPr lang="en-US" dirty="0"/>
              <a:t>N</a:t>
            </a:r>
            <a:r>
              <a:rPr lang="en-US" altLang="zh-CN" dirty="0"/>
              <a:t>ot available in C (</a:t>
            </a:r>
            <a:r>
              <a:rPr lang="en-US" dirty="0"/>
              <a:t>procedural programming language) </a:t>
            </a:r>
            <a:r>
              <a:rPr lang="en-US" altLang="zh-CN" dirty="0"/>
              <a:t>but available in C++, C does not support </a:t>
            </a:r>
            <a:r>
              <a:rPr lang="en-US" dirty="0"/>
              <a:t>name-mangling</a:t>
            </a:r>
          </a:p>
          <a:p>
            <a:r>
              <a:rPr lang="en-US"/>
              <a:t>OOP concepts: </a:t>
            </a:r>
            <a:r>
              <a:rPr lang="en-US" b="0" i="0">
                <a:solidFill>
                  <a:srgbClr val="001D35"/>
                </a:solidFill>
                <a:effectLst/>
                <a:latin typeface="Google Sans"/>
              </a:rPr>
              <a:t>classes, objects, inheritance, encapsulation, and polymorphism. </a:t>
            </a:r>
            <a:endParaRPr lang="en-US" dirty="0"/>
          </a:p>
        </p:txBody>
      </p:sp>
    </p:spTree>
    <p:extLst>
      <p:ext uri="{BB962C8B-B14F-4D97-AF65-F5344CB8AC3E}">
        <p14:creationId xmlns:p14="http://schemas.microsoft.com/office/powerpoint/2010/main" val="2614013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歧义调用</a:t>
            </a:r>
            <a:endParaRPr lang="en-US" dirty="0"/>
          </a:p>
        </p:txBody>
      </p:sp>
    </p:spTree>
    <p:extLst>
      <p:ext uri="{BB962C8B-B14F-4D97-AF65-F5344CB8AC3E}">
        <p14:creationId xmlns:p14="http://schemas.microsoft.com/office/powerpoint/2010/main" val="101053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Reference </a:t>
            </a:r>
            <a:r>
              <a:rPr lang="zh-CN" altLang="en-US" dirty="0"/>
              <a:t>引用</a:t>
            </a:r>
            <a:endParaRPr lang="en-US" dirty="0"/>
          </a:p>
        </p:txBody>
      </p:sp>
    </p:spTree>
    <p:extLst>
      <p:ext uri="{BB962C8B-B14F-4D97-AF65-F5344CB8AC3E}">
        <p14:creationId xmlns:p14="http://schemas.microsoft.com/office/powerpoint/2010/main" val="2403260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In </a:t>
            </a:r>
            <a:r>
              <a:rPr lang="en-US" dirty="0"/>
              <a:t>the method </a:t>
            </a:r>
            <a:r>
              <a:rPr lang="en-US" dirty="0" err="1"/>
              <a:t>correctMethod</a:t>
            </a:r>
            <a:r>
              <a:rPr lang="en-US" dirty="0"/>
              <a:t>(), the variable x is </a:t>
            </a:r>
            <a:r>
              <a:rPr lang="en-US" b="1" dirty="0"/>
              <a:t>declared at the method level</a:t>
            </a:r>
            <a:r>
              <a:rPr lang="en-US" dirty="0"/>
              <a:t> (int x = 1;). Inside the for loop, you attempt to declare another int x = 0;. This causes a </a:t>
            </a:r>
            <a:r>
              <a:rPr lang="en-US" b="1" dirty="0"/>
              <a:t>compilation error</a:t>
            </a:r>
            <a:r>
              <a:rPr lang="en-US" dirty="0"/>
              <a:t> because x is already declared in the outer scope. Java does </a:t>
            </a:r>
            <a:r>
              <a:rPr lang="en-US" b="1" dirty="0"/>
              <a:t>not</a:t>
            </a:r>
            <a:r>
              <a:rPr lang="en-US" dirty="0"/>
              <a:t> allow a variable with the same name to be declared again within an inner block if it is already declared in an enclosing block.</a:t>
            </a:r>
            <a:endParaRPr lang="zh-CN" altLang="en-US" dirty="0"/>
          </a:p>
        </p:txBody>
      </p:sp>
    </p:spTree>
    <p:extLst>
      <p:ext uri="{BB962C8B-B14F-4D97-AF65-F5344CB8AC3E}">
        <p14:creationId xmlns:p14="http://schemas.microsoft.com/office/powerpoint/2010/main" val="624232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wmf"/></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wmf"/></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wmf"/></Relationships>
</file>

<file path=ppt/slides/_rels/slide2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0.wmf"/><Relationship Id="rId4" Type="http://schemas.openxmlformats.org/officeDocument/2006/relationships/oleObject" Target="../embeddings/oleObject7.bin"/></Relationships>
</file>

<file path=ppt/slides/_rels/slide3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1.wmf"/><Relationship Id="rId4" Type="http://schemas.openxmlformats.org/officeDocument/2006/relationships/oleObject" Target="../embeddings/oleObject8.bin"/></Relationships>
</file>

<file path=ppt/slides/_rels/slide3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2.wmf"/><Relationship Id="rId4"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2.wmf"/><Relationship Id="rId4" Type="http://schemas.openxmlformats.org/officeDocument/2006/relationships/oleObject" Target="../embeddings/oleObject9.bin"/></Relationships>
</file>

<file path=ppt/slides/_rels/slide3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3.wmf"/><Relationship Id="rId4" Type="http://schemas.openxmlformats.org/officeDocument/2006/relationships/oleObject" Target="../embeddings/oleObject10.bin"/></Relationships>
</file>

<file path=ppt/slides/_rels/slide3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4.wmf"/><Relationship Id="rId4" Type="http://schemas.openxmlformats.org/officeDocument/2006/relationships/oleObject" Target="../embeddings/oleObject11.bin"/></Relationships>
</file>

<file path=ppt/slides/_rels/slide3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4.wmf"/><Relationship Id="rId4" Type="http://schemas.openxmlformats.org/officeDocument/2006/relationships/oleObject" Target="../embeddings/oleObject11.bin"/></Relationships>
</file>

<file path=ppt/slides/_rels/slide3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5.wmf"/><Relationship Id="rId4" Type="http://schemas.openxmlformats.org/officeDocument/2006/relationships/oleObject" Target="../embeddings/oleObject12.bin"/></Relationships>
</file>

<file path=ppt/slides/_rels/slide3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6.wmf"/><Relationship Id="rId4" Type="http://schemas.openxmlformats.org/officeDocument/2006/relationships/oleObject" Target="../embeddings/oleObject13.bin"/></Relationships>
</file>

<file path=ppt/slides/_rels/slide3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3.xml"/><Relationship Id="rId5" Type="http://schemas.openxmlformats.org/officeDocument/2006/relationships/image" Target="../media/image12.wmf"/><Relationship Id="rId4" Type="http://schemas.openxmlformats.org/officeDocument/2006/relationships/oleObject" Target="../embeddings/oleObject9.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4.bin"/><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2" name="Title 1">
            <a:extLst>
              <a:ext uri="{FF2B5EF4-FFF2-40B4-BE49-F238E27FC236}">
                <a16:creationId xmlns:a16="http://schemas.microsoft.com/office/drawing/2014/main" id="{1730766B-A39C-48AD-AF4E-3FB458C16D13}"/>
              </a:ext>
            </a:extLst>
          </p:cNvPr>
          <p:cNvSpPr>
            <a:spLocks noGrp="1"/>
          </p:cNvSpPr>
          <p:nvPr>
            <p:ph type="title"/>
          </p:nvPr>
        </p:nvSpPr>
        <p:spPr/>
        <p:txBody>
          <a:bodyPr>
            <a:normAutofit fontScale="90000"/>
          </a:bodyPr>
          <a:lstStyle/>
          <a:p>
            <a:r>
              <a:rPr lang="en-US" dirty="0"/>
              <a:t>Methods</a:t>
            </a:r>
          </a:p>
        </p:txBody>
      </p:sp>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US" sz="3200" b="1" dirty="0">
                <a:solidFill>
                  <a:schemeClr val="dk1"/>
                </a:solidFill>
              </a:rPr>
              <a:t>Methods</a:t>
            </a:r>
            <a:endParaRPr sz="3200" b="1" dirty="0">
              <a:solidFill>
                <a:schemeClr val="dk1"/>
              </a:solidFill>
            </a:endParaRPr>
          </a:p>
        </p:txBody>
      </p:sp>
      <p:pic>
        <p:nvPicPr>
          <p:cNvPr id="3" name="그림 1" descr="Text, letter&#10;&#10;Description automatically generated">
            <a:extLst>
              <a:ext uri="{FF2B5EF4-FFF2-40B4-BE49-F238E27FC236}">
                <a16:creationId xmlns:a16="http://schemas.microsoft.com/office/drawing/2014/main" id="{DBAFE4CB-9F6B-D360-9270-6906914A3B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a:t>
            </a:r>
          </a:p>
        </p:txBody>
      </p:sp>
      <p:sp>
        <p:nvSpPr>
          <p:cNvPr id="3" name="Text Placeholder 2"/>
          <p:cNvSpPr>
            <a:spLocks noGrp="1"/>
          </p:cNvSpPr>
          <p:nvPr>
            <p:ph type="body" idx="1"/>
          </p:nvPr>
        </p:nvSpPr>
        <p:spPr/>
        <p:txBody>
          <a:bodyPr/>
          <a:lstStyle/>
          <a:p>
            <a:r>
              <a:rPr lang="en-US" dirty="0"/>
              <a:t>Methods: motivation</a:t>
            </a:r>
          </a:p>
          <a:p>
            <a:r>
              <a:rPr lang="en-US" dirty="0"/>
              <a:t>Defining a method</a:t>
            </a:r>
          </a:p>
          <a:p>
            <a:r>
              <a:rPr lang="en-US" dirty="0"/>
              <a:t>Method signature: actual parameters, formal parameters, return type</a:t>
            </a:r>
          </a:p>
          <a:p>
            <a:r>
              <a:rPr lang="en-US" dirty="0"/>
              <a:t>Method abstraction</a:t>
            </a:r>
          </a:p>
          <a:p>
            <a:r>
              <a:rPr lang="en-US" dirty="0"/>
              <a:t>Call stack</a:t>
            </a:r>
          </a:p>
          <a:p>
            <a:r>
              <a:rPr lang="en-US" dirty="0"/>
              <a:t>Method overloading</a:t>
            </a:r>
          </a:p>
          <a:p>
            <a:endParaRPr lang="en-US" dirty="0"/>
          </a:p>
        </p:txBody>
      </p:sp>
    </p:spTree>
    <p:extLst>
      <p:ext uri="{BB962C8B-B14F-4D97-AF65-F5344CB8AC3E}">
        <p14:creationId xmlns:p14="http://schemas.microsoft.com/office/powerpoint/2010/main" val="294077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Opening Problem</a:t>
            </a:r>
            <a:endParaRPr lang="en-US" b="1" dirty="0"/>
          </a:p>
        </p:txBody>
      </p:sp>
      <p:sp>
        <p:nvSpPr>
          <p:cNvPr id="3" name="Text Placeholder 2"/>
          <p:cNvSpPr>
            <a:spLocks noGrp="1"/>
          </p:cNvSpPr>
          <p:nvPr>
            <p:ph type="body" idx="1"/>
          </p:nvPr>
        </p:nvSpPr>
        <p:spPr/>
        <p:txBody>
          <a:bodyPr/>
          <a:lstStyle/>
          <a:p>
            <a:pPr eaLnBrk="0" fontAlgn="base" hangingPunct="0">
              <a:spcBef>
                <a:spcPct val="0"/>
              </a:spcBef>
              <a:spcAft>
                <a:spcPct val="0"/>
              </a:spcAft>
              <a:buClrTx/>
              <a:buFontTx/>
              <a:buNone/>
            </a:pPr>
            <a:r>
              <a:rPr lang="en-US" altLang="en-US" kern="1200" dirty="0">
                <a:solidFill>
                  <a:prstClr val="black"/>
                </a:solidFill>
              </a:rPr>
              <a:t>Find multiple sums of integers:</a:t>
            </a:r>
          </a:p>
          <a:p>
            <a:pPr eaLnBrk="0" fontAlgn="base" hangingPunct="0">
              <a:spcBef>
                <a:spcPct val="0"/>
              </a:spcBef>
              <a:spcAft>
                <a:spcPct val="0"/>
              </a:spcAft>
              <a:buClrTx/>
              <a:buFontTx/>
              <a:buNone/>
            </a:pPr>
            <a:r>
              <a:rPr lang="en-US" altLang="en-US" kern="1200" dirty="0">
                <a:solidFill>
                  <a:prstClr val="black"/>
                </a:solidFill>
              </a:rPr>
              <a:t>	- from </a:t>
            </a:r>
            <a:r>
              <a:rPr lang="en-US" altLang="en-US" u="sng" kern="1200" dirty="0">
                <a:solidFill>
                  <a:prstClr val="black"/>
                </a:solidFill>
              </a:rPr>
              <a:t>1</a:t>
            </a:r>
            <a:r>
              <a:rPr lang="en-US" altLang="en-US" kern="1200" dirty="0">
                <a:solidFill>
                  <a:prstClr val="black"/>
                </a:solidFill>
              </a:rPr>
              <a:t> to </a:t>
            </a:r>
            <a:r>
              <a:rPr lang="en-US" altLang="en-US" u="sng" kern="1200" dirty="0">
                <a:solidFill>
                  <a:prstClr val="black"/>
                </a:solidFill>
              </a:rPr>
              <a:t>10</a:t>
            </a:r>
            <a:r>
              <a:rPr lang="en-US" altLang="en-US" kern="1200" dirty="0">
                <a:solidFill>
                  <a:prstClr val="black"/>
                </a:solidFill>
              </a:rPr>
              <a:t>, </a:t>
            </a:r>
          </a:p>
          <a:p>
            <a:pPr eaLnBrk="0" fontAlgn="base" hangingPunct="0">
              <a:spcBef>
                <a:spcPct val="0"/>
              </a:spcBef>
              <a:spcAft>
                <a:spcPct val="0"/>
              </a:spcAft>
              <a:buClrTx/>
              <a:buFontTx/>
              <a:buNone/>
            </a:pPr>
            <a:r>
              <a:rPr lang="en-US" altLang="en-US" kern="1200" dirty="0">
                <a:solidFill>
                  <a:prstClr val="black"/>
                </a:solidFill>
              </a:rPr>
              <a:t>	- from </a:t>
            </a:r>
            <a:r>
              <a:rPr lang="en-US" altLang="en-US" u="sng" kern="1200" dirty="0">
                <a:solidFill>
                  <a:prstClr val="black"/>
                </a:solidFill>
              </a:rPr>
              <a:t>20</a:t>
            </a:r>
            <a:r>
              <a:rPr lang="en-US" altLang="en-US" kern="1200" dirty="0">
                <a:solidFill>
                  <a:prstClr val="black"/>
                </a:solidFill>
              </a:rPr>
              <a:t> to </a:t>
            </a:r>
            <a:r>
              <a:rPr lang="en-US" altLang="en-US" u="sng" kern="1200" dirty="0">
                <a:solidFill>
                  <a:prstClr val="black"/>
                </a:solidFill>
              </a:rPr>
              <a:t>30</a:t>
            </a:r>
            <a:r>
              <a:rPr lang="en-US" altLang="en-US" kern="1200" dirty="0">
                <a:solidFill>
                  <a:prstClr val="black"/>
                </a:solidFill>
              </a:rPr>
              <a:t>, </a:t>
            </a:r>
          </a:p>
          <a:p>
            <a:pPr eaLnBrk="0" fontAlgn="base" hangingPunct="0">
              <a:spcBef>
                <a:spcPct val="0"/>
              </a:spcBef>
              <a:spcAft>
                <a:spcPct val="0"/>
              </a:spcAft>
              <a:buClrTx/>
              <a:buFontTx/>
              <a:buNone/>
            </a:pPr>
            <a:r>
              <a:rPr lang="en-US" altLang="en-US" kern="1200" dirty="0">
                <a:solidFill>
                  <a:prstClr val="black"/>
                </a:solidFill>
              </a:rPr>
              <a:t>	- from </a:t>
            </a:r>
            <a:r>
              <a:rPr lang="en-US" altLang="en-US" u="sng" kern="1200" dirty="0">
                <a:solidFill>
                  <a:prstClr val="black"/>
                </a:solidFill>
              </a:rPr>
              <a:t>35</a:t>
            </a:r>
            <a:r>
              <a:rPr lang="en-US" altLang="en-US" kern="1200" dirty="0">
                <a:solidFill>
                  <a:prstClr val="black"/>
                </a:solidFill>
              </a:rPr>
              <a:t> to </a:t>
            </a:r>
            <a:r>
              <a:rPr lang="en-US" altLang="en-US" u="sng" kern="1200" dirty="0">
                <a:solidFill>
                  <a:prstClr val="black"/>
                </a:solidFill>
              </a:rPr>
              <a:t>45</a:t>
            </a:r>
            <a:r>
              <a:rPr lang="en-US" altLang="en-US" kern="1200" dirty="0">
                <a:solidFill>
                  <a:prstClr val="black"/>
                </a:solidFill>
              </a:rPr>
              <a:t>, </a:t>
            </a:r>
          </a:p>
          <a:p>
            <a:pPr eaLnBrk="0" fontAlgn="base" hangingPunct="0">
              <a:spcBef>
                <a:spcPct val="0"/>
              </a:spcBef>
              <a:spcAft>
                <a:spcPct val="0"/>
              </a:spcAft>
              <a:buClrTx/>
              <a:buFontTx/>
              <a:buNone/>
            </a:pPr>
            <a:r>
              <a:rPr lang="en-US" altLang="en-US" kern="1200" dirty="0">
                <a:solidFill>
                  <a:prstClr val="black"/>
                </a:solidFill>
              </a:rPr>
              <a:t>	...</a:t>
            </a:r>
          </a:p>
          <a:p>
            <a:endParaRPr lang="en-US" dirty="0"/>
          </a:p>
        </p:txBody>
      </p:sp>
    </p:spTree>
    <p:extLst>
      <p:ext uri="{BB962C8B-B14F-4D97-AF65-F5344CB8AC3E}">
        <p14:creationId xmlns:p14="http://schemas.microsoft.com/office/powerpoint/2010/main" val="246996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fontScale="85000" lnSpcReduction="20000"/>
          </a:bodyPr>
          <a:lstStyle/>
          <a:p>
            <a:pPr eaLnBrk="0" fontAlgn="base" hangingPunct="0">
              <a:spcBef>
                <a:spcPct val="0"/>
              </a:spcBef>
              <a:spcAft>
                <a:spcPct val="0"/>
              </a:spcAft>
              <a:buClrTx/>
              <a:buFontTx/>
              <a:buNone/>
            </a:pPr>
            <a:r>
              <a:rPr lang="en-US" altLang="en-US" kern="1200" dirty="0">
                <a:latin typeface="Courier New"/>
              </a:rPr>
              <a:t>int sum = 0;</a:t>
            </a:r>
          </a:p>
          <a:p>
            <a:pPr eaLnBrk="0" fontAlgn="base" hangingPunct="0">
              <a:spcBef>
                <a:spcPct val="0"/>
              </a:spcBef>
              <a:spcAft>
                <a:spcPct val="0"/>
              </a:spcAft>
              <a:buClrTx/>
              <a:buFontTx/>
              <a:buNone/>
            </a:pPr>
            <a:r>
              <a:rPr lang="en-US" altLang="en-US" kern="1200" dirty="0">
                <a:latin typeface="Courier New"/>
              </a:rPr>
              <a:t>for (int </a:t>
            </a:r>
            <a:r>
              <a:rPr lang="en-US" altLang="en-US" kern="1200" dirty="0" err="1">
                <a:latin typeface="Courier New"/>
              </a:rPr>
              <a:t>i</a:t>
            </a:r>
            <a:r>
              <a:rPr lang="en-US" altLang="en-US" kern="1200" dirty="0">
                <a:latin typeface="Courier New"/>
              </a:rPr>
              <a:t> = </a:t>
            </a:r>
            <a:r>
              <a:rPr lang="en-US" altLang="en-US" b="1" kern="1200" dirty="0">
                <a:solidFill>
                  <a:schemeClr val="tx1">
                    <a:lumMod val="95000"/>
                    <a:lumOff val="5000"/>
                  </a:schemeClr>
                </a:solidFill>
                <a:latin typeface="Courier New"/>
              </a:rPr>
              <a:t>1</a:t>
            </a:r>
            <a:r>
              <a:rPr lang="en-US" altLang="en-US" kern="1200" dirty="0">
                <a:latin typeface="Courier New"/>
              </a:rPr>
              <a:t>; </a:t>
            </a:r>
            <a:r>
              <a:rPr lang="en-US" altLang="en-US" kern="1200" dirty="0" err="1">
                <a:latin typeface="Courier New"/>
              </a:rPr>
              <a:t>i</a:t>
            </a:r>
            <a:r>
              <a:rPr lang="en-US" altLang="en-US" kern="1200" dirty="0">
                <a:latin typeface="Courier New"/>
              </a:rPr>
              <a:t> &lt;= </a:t>
            </a:r>
            <a:r>
              <a:rPr lang="en-US" altLang="en-US" b="1" kern="1200" dirty="0">
                <a:solidFill>
                  <a:schemeClr val="tx1">
                    <a:lumMod val="95000"/>
                    <a:lumOff val="5000"/>
                  </a:schemeClr>
                </a:solidFill>
                <a:latin typeface="Courier New"/>
              </a:rPr>
              <a:t>10</a:t>
            </a:r>
            <a:r>
              <a:rPr lang="en-US" altLang="en-US" kern="1200" dirty="0">
                <a:latin typeface="Courier New"/>
              </a:rPr>
              <a:t>; </a:t>
            </a:r>
            <a:r>
              <a:rPr lang="en-US" altLang="en-US" kern="1200" dirty="0" err="1">
                <a:latin typeface="Courier New"/>
              </a:rPr>
              <a:t>i</a:t>
            </a:r>
            <a:r>
              <a:rPr lang="en-US" altLang="en-US" kern="1200" dirty="0">
                <a:latin typeface="Courier New"/>
              </a:rPr>
              <a:t>++)</a:t>
            </a:r>
          </a:p>
          <a:p>
            <a:pPr eaLnBrk="0" fontAlgn="base" hangingPunct="0">
              <a:spcBef>
                <a:spcPct val="0"/>
              </a:spcBef>
              <a:spcAft>
                <a:spcPct val="0"/>
              </a:spcAft>
              <a:buClrTx/>
              <a:buFontTx/>
              <a:buNone/>
            </a:pPr>
            <a:r>
              <a:rPr lang="en-US" altLang="en-US" b="1" kern="1200" dirty="0">
                <a:solidFill>
                  <a:prstClr val="black"/>
                </a:solidFill>
                <a:latin typeface="Courier New" pitchFamily="49" charset="0"/>
              </a:rPr>
              <a:t>  sum += </a:t>
            </a:r>
            <a:r>
              <a:rPr lang="en-US" altLang="en-US" b="1" kern="1200" dirty="0" err="1">
                <a:solidFill>
                  <a:prstClr val="black"/>
                </a:solidFill>
                <a:latin typeface="Courier New" pitchFamily="49" charset="0"/>
              </a:rPr>
              <a:t>i</a:t>
            </a:r>
            <a:r>
              <a:rPr lang="en-US" altLang="en-US" b="1" kern="1200" dirty="0">
                <a:solidFill>
                  <a:prstClr val="black"/>
                </a:solidFill>
                <a:latin typeface="Courier New" pitchFamily="49" charset="0"/>
              </a:rPr>
              <a:t>;</a:t>
            </a:r>
          </a:p>
          <a:p>
            <a:pPr eaLnBrk="0" fontAlgn="base" hangingPunct="0">
              <a:spcBef>
                <a:spcPct val="0"/>
              </a:spcBef>
              <a:spcAft>
                <a:spcPct val="0"/>
              </a:spcAft>
              <a:buClrTx/>
              <a:buFontTx/>
              <a:buNone/>
            </a:pPr>
            <a:r>
              <a:rPr lang="en-US" altLang="en-US" b="1" kern="1200" dirty="0" err="1">
                <a:solidFill>
                  <a:prstClr val="black"/>
                </a:solidFill>
                <a:latin typeface="Courier New" pitchFamily="49" charset="0"/>
              </a:rPr>
              <a:t>System.out.println</a:t>
            </a:r>
            <a:r>
              <a:rPr lang="en-US" altLang="en-US" b="1" kern="1200" dirty="0">
                <a:solidFill>
                  <a:prstClr val="black"/>
                </a:solidFill>
                <a:latin typeface="Courier New" pitchFamily="49" charset="0"/>
              </a:rPr>
              <a:t>("Sum from 1 to 10 is " + sum);</a:t>
            </a:r>
          </a:p>
          <a:p>
            <a:pPr eaLnBrk="0" fontAlgn="base" hangingPunct="0">
              <a:spcBef>
                <a:spcPct val="0"/>
              </a:spcBef>
              <a:spcAft>
                <a:spcPct val="0"/>
              </a:spcAft>
              <a:buClrTx/>
              <a:buFontTx/>
              <a:buNone/>
            </a:pPr>
            <a:endParaRPr lang="en-US" altLang="en-US" b="1" kern="1200" dirty="0">
              <a:solidFill>
                <a:prstClr val="black"/>
              </a:solidFill>
              <a:latin typeface="Courier New" pitchFamily="49" charset="0"/>
            </a:endParaRPr>
          </a:p>
          <a:p>
            <a:pPr eaLnBrk="0" fontAlgn="base" hangingPunct="0">
              <a:spcBef>
                <a:spcPct val="0"/>
              </a:spcBef>
              <a:spcAft>
                <a:spcPct val="0"/>
              </a:spcAft>
              <a:buClrTx/>
              <a:buFontTx/>
              <a:buNone/>
            </a:pPr>
            <a:r>
              <a:rPr lang="en-US" altLang="en-US" b="1" kern="1200" dirty="0">
                <a:solidFill>
                  <a:prstClr val="black"/>
                </a:solidFill>
                <a:latin typeface="Courier New" pitchFamily="49" charset="0"/>
              </a:rPr>
              <a:t>sum = 0;</a:t>
            </a:r>
          </a:p>
          <a:p>
            <a:pPr eaLnBrk="0" fontAlgn="base" hangingPunct="0">
              <a:spcBef>
                <a:spcPct val="0"/>
              </a:spcBef>
              <a:spcAft>
                <a:spcPct val="0"/>
              </a:spcAft>
              <a:buClrTx/>
              <a:buFontTx/>
              <a:buNone/>
            </a:pPr>
            <a:r>
              <a:rPr lang="en-US" altLang="en-US" kern="1200" dirty="0">
                <a:latin typeface="Courier New"/>
              </a:rPr>
              <a:t>for (</a:t>
            </a:r>
            <a:r>
              <a:rPr lang="en-US" altLang="en-US" kern="1200" dirty="0" err="1">
                <a:latin typeface="Courier New"/>
              </a:rPr>
              <a:t>int</a:t>
            </a:r>
            <a:r>
              <a:rPr lang="en-US" altLang="en-US" kern="1200" dirty="0">
                <a:latin typeface="Courier New"/>
              </a:rPr>
              <a:t> </a:t>
            </a:r>
            <a:r>
              <a:rPr lang="en-US" altLang="en-US" kern="1200" dirty="0" err="1">
                <a:latin typeface="Courier New"/>
              </a:rPr>
              <a:t>i</a:t>
            </a:r>
            <a:r>
              <a:rPr lang="en-US" altLang="en-US" kern="1200" dirty="0">
                <a:latin typeface="Courier New"/>
              </a:rPr>
              <a:t> = </a:t>
            </a:r>
            <a:r>
              <a:rPr lang="en-US" altLang="en-US" b="1" kern="1200" dirty="0">
                <a:solidFill>
                  <a:schemeClr val="tx1">
                    <a:lumMod val="95000"/>
                    <a:lumOff val="5000"/>
                  </a:schemeClr>
                </a:solidFill>
                <a:latin typeface="Courier New"/>
              </a:rPr>
              <a:t>20</a:t>
            </a:r>
            <a:r>
              <a:rPr lang="en-US" altLang="en-US" kern="1200" dirty="0">
                <a:latin typeface="Courier New"/>
              </a:rPr>
              <a:t>; </a:t>
            </a:r>
            <a:r>
              <a:rPr lang="en-US" altLang="en-US" kern="1200" dirty="0" err="1">
                <a:latin typeface="Courier New"/>
              </a:rPr>
              <a:t>i</a:t>
            </a:r>
            <a:r>
              <a:rPr lang="en-US" altLang="en-US" kern="1200" dirty="0">
                <a:latin typeface="Courier New"/>
              </a:rPr>
              <a:t> &lt;= </a:t>
            </a:r>
            <a:r>
              <a:rPr lang="en-US" altLang="en-US" b="1" kern="1200" dirty="0">
                <a:solidFill>
                  <a:schemeClr val="tx1">
                    <a:lumMod val="95000"/>
                    <a:lumOff val="5000"/>
                  </a:schemeClr>
                </a:solidFill>
                <a:latin typeface="Courier New"/>
              </a:rPr>
              <a:t>30</a:t>
            </a:r>
            <a:r>
              <a:rPr lang="en-US" altLang="en-US" kern="1200" dirty="0">
                <a:latin typeface="Courier New"/>
              </a:rPr>
              <a:t>; </a:t>
            </a:r>
            <a:r>
              <a:rPr lang="en-US" altLang="en-US" kern="1200" dirty="0" err="1">
                <a:latin typeface="Courier New"/>
              </a:rPr>
              <a:t>i</a:t>
            </a:r>
            <a:r>
              <a:rPr lang="en-US" altLang="en-US" kern="1200" dirty="0">
                <a:latin typeface="Courier New"/>
              </a:rPr>
              <a:t>++)</a:t>
            </a:r>
          </a:p>
          <a:p>
            <a:pPr eaLnBrk="0" fontAlgn="base" hangingPunct="0">
              <a:spcBef>
                <a:spcPct val="0"/>
              </a:spcBef>
              <a:spcAft>
                <a:spcPct val="0"/>
              </a:spcAft>
              <a:buClrTx/>
              <a:buFontTx/>
              <a:buNone/>
            </a:pPr>
            <a:r>
              <a:rPr lang="en-US" altLang="en-US" b="1" kern="1200" dirty="0">
                <a:solidFill>
                  <a:prstClr val="black"/>
                </a:solidFill>
                <a:latin typeface="Courier New" pitchFamily="49" charset="0"/>
              </a:rPr>
              <a:t>  sum += </a:t>
            </a:r>
            <a:r>
              <a:rPr lang="en-US" altLang="en-US" b="1" kern="1200" dirty="0" err="1">
                <a:solidFill>
                  <a:prstClr val="black"/>
                </a:solidFill>
                <a:latin typeface="Courier New" pitchFamily="49" charset="0"/>
              </a:rPr>
              <a:t>i</a:t>
            </a:r>
            <a:r>
              <a:rPr lang="en-US" altLang="en-US" b="1" kern="1200" dirty="0">
                <a:solidFill>
                  <a:prstClr val="black"/>
                </a:solidFill>
                <a:latin typeface="Courier New" pitchFamily="49" charset="0"/>
              </a:rPr>
              <a:t>;</a:t>
            </a:r>
          </a:p>
          <a:p>
            <a:pPr eaLnBrk="0" fontAlgn="base" hangingPunct="0">
              <a:spcBef>
                <a:spcPct val="0"/>
              </a:spcBef>
              <a:spcAft>
                <a:spcPct val="0"/>
              </a:spcAft>
              <a:buClrTx/>
              <a:buFontTx/>
              <a:buNone/>
            </a:pPr>
            <a:r>
              <a:rPr lang="en-US" altLang="en-US" b="1" kern="1200" dirty="0" err="1">
                <a:solidFill>
                  <a:prstClr val="black"/>
                </a:solidFill>
                <a:latin typeface="Courier New" pitchFamily="49" charset="0"/>
              </a:rPr>
              <a:t>System.out.println</a:t>
            </a:r>
            <a:r>
              <a:rPr lang="en-US" altLang="en-US" b="1" kern="1200" dirty="0">
                <a:solidFill>
                  <a:prstClr val="black"/>
                </a:solidFill>
                <a:latin typeface="Courier New" pitchFamily="49" charset="0"/>
              </a:rPr>
              <a:t>("Sum from 20 to 30 is " + sum);</a:t>
            </a:r>
          </a:p>
          <a:p>
            <a:pPr eaLnBrk="0" fontAlgn="base" hangingPunct="0">
              <a:spcBef>
                <a:spcPct val="0"/>
              </a:spcBef>
              <a:spcAft>
                <a:spcPct val="0"/>
              </a:spcAft>
              <a:buClrTx/>
              <a:buFontTx/>
              <a:buNone/>
            </a:pPr>
            <a:endParaRPr lang="en-US" altLang="en-US" b="1" kern="1200" dirty="0">
              <a:solidFill>
                <a:prstClr val="black"/>
              </a:solidFill>
              <a:latin typeface="Courier New" pitchFamily="49" charset="0"/>
            </a:endParaRPr>
          </a:p>
          <a:p>
            <a:pPr eaLnBrk="0" fontAlgn="base" hangingPunct="0">
              <a:spcBef>
                <a:spcPct val="0"/>
              </a:spcBef>
              <a:spcAft>
                <a:spcPct val="0"/>
              </a:spcAft>
              <a:buClrTx/>
              <a:buFontTx/>
              <a:buNone/>
            </a:pPr>
            <a:r>
              <a:rPr lang="en-US" altLang="en-US" b="1" kern="1200" dirty="0">
                <a:solidFill>
                  <a:prstClr val="black"/>
                </a:solidFill>
                <a:latin typeface="Courier New" pitchFamily="49" charset="0"/>
              </a:rPr>
              <a:t>sum = 0;</a:t>
            </a:r>
          </a:p>
          <a:p>
            <a:pPr eaLnBrk="0" fontAlgn="base" hangingPunct="0">
              <a:spcBef>
                <a:spcPct val="0"/>
              </a:spcBef>
              <a:spcAft>
                <a:spcPct val="0"/>
              </a:spcAft>
              <a:buClrTx/>
              <a:buFontTx/>
              <a:buNone/>
            </a:pPr>
            <a:r>
              <a:rPr lang="en-US" altLang="en-US" kern="1200" dirty="0">
                <a:latin typeface="Courier New"/>
              </a:rPr>
              <a:t>for (int </a:t>
            </a:r>
            <a:r>
              <a:rPr lang="en-US" altLang="en-US" kern="1200" dirty="0" err="1">
                <a:latin typeface="Courier New"/>
              </a:rPr>
              <a:t>i</a:t>
            </a:r>
            <a:r>
              <a:rPr lang="en-US" altLang="en-US" kern="1200" dirty="0">
                <a:latin typeface="Courier New"/>
              </a:rPr>
              <a:t> = </a:t>
            </a:r>
            <a:r>
              <a:rPr lang="en-US" altLang="en-US" b="1" kern="1200" dirty="0">
                <a:solidFill>
                  <a:schemeClr val="tx1">
                    <a:lumMod val="95000"/>
                    <a:lumOff val="5000"/>
                  </a:schemeClr>
                </a:solidFill>
                <a:latin typeface="Courier New"/>
              </a:rPr>
              <a:t>35</a:t>
            </a:r>
            <a:r>
              <a:rPr lang="en-US" altLang="en-US" kern="1200" dirty="0">
                <a:latin typeface="Courier New"/>
              </a:rPr>
              <a:t>; </a:t>
            </a:r>
            <a:r>
              <a:rPr lang="en-US" altLang="en-US" kern="1200" dirty="0" err="1">
                <a:latin typeface="Courier New"/>
              </a:rPr>
              <a:t>i</a:t>
            </a:r>
            <a:r>
              <a:rPr lang="en-US" altLang="en-US" kern="1200" dirty="0">
                <a:latin typeface="Courier New"/>
              </a:rPr>
              <a:t> &lt;=</a:t>
            </a:r>
            <a:r>
              <a:rPr lang="en-US" altLang="en-US" b="1" kern="1200" dirty="0">
                <a:latin typeface="Courier New"/>
              </a:rPr>
              <a:t> </a:t>
            </a:r>
            <a:r>
              <a:rPr lang="en-US" altLang="en-US" b="1" kern="1200" dirty="0">
                <a:solidFill>
                  <a:schemeClr val="tx1">
                    <a:lumMod val="95000"/>
                    <a:lumOff val="5000"/>
                  </a:schemeClr>
                </a:solidFill>
                <a:latin typeface="Courier New"/>
              </a:rPr>
              <a:t>45</a:t>
            </a:r>
            <a:r>
              <a:rPr lang="en-US" altLang="en-US" kern="1200" dirty="0">
                <a:latin typeface="Courier New"/>
              </a:rPr>
              <a:t>; </a:t>
            </a:r>
            <a:r>
              <a:rPr lang="en-US" altLang="en-US" kern="1200" dirty="0" err="1">
                <a:latin typeface="Courier New"/>
              </a:rPr>
              <a:t>i</a:t>
            </a:r>
            <a:r>
              <a:rPr lang="en-US" altLang="en-US" kern="1200" dirty="0">
                <a:latin typeface="Courier New"/>
              </a:rPr>
              <a:t>++)</a:t>
            </a:r>
          </a:p>
          <a:p>
            <a:pPr eaLnBrk="0" fontAlgn="base" hangingPunct="0">
              <a:spcBef>
                <a:spcPct val="0"/>
              </a:spcBef>
              <a:spcAft>
                <a:spcPct val="0"/>
              </a:spcAft>
              <a:buClrTx/>
              <a:buFontTx/>
              <a:buNone/>
            </a:pPr>
            <a:r>
              <a:rPr lang="en-US" altLang="en-US" b="1" kern="1200" dirty="0">
                <a:solidFill>
                  <a:prstClr val="black"/>
                </a:solidFill>
                <a:latin typeface="Courier New" pitchFamily="49" charset="0"/>
              </a:rPr>
              <a:t>  sum += </a:t>
            </a:r>
            <a:r>
              <a:rPr lang="en-US" altLang="en-US" b="1" kern="1200" dirty="0" err="1">
                <a:solidFill>
                  <a:prstClr val="black"/>
                </a:solidFill>
                <a:latin typeface="Courier New" pitchFamily="49" charset="0"/>
              </a:rPr>
              <a:t>i</a:t>
            </a:r>
            <a:r>
              <a:rPr lang="en-US" altLang="en-US" b="1" kern="1200" dirty="0">
                <a:solidFill>
                  <a:prstClr val="black"/>
                </a:solidFill>
                <a:latin typeface="Courier New" pitchFamily="49" charset="0"/>
              </a:rPr>
              <a:t>;</a:t>
            </a:r>
          </a:p>
          <a:p>
            <a:pPr eaLnBrk="0" fontAlgn="base" hangingPunct="0">
              <a:spcBef>
                <a:spcPct val="0"/>
              </a:spcBef>
              <a:spcAft>
                <a:spcPct val="0"/>
              </a:spcAft>
              <a:buClrTx/>
              <a:buFontTx/>
              <a:buNone/>
            </a:pPr>
            <a:r>
              <a:rPr lang="en-US" altLang="en-US" b="1" kern="1200" dirty="0" err="1">
                <a:solidFill>
                  <a:prstClr val="black"/>
                </a:solidFill>
                <a:latin typeface="Courier New" pitchFamily="49" charset="0"/>
              </a:rPr>
              <a:t>System.out.println</a:t>
            </a:r>
            <a:r>
              <a:rPr lang="en-US" altLang="en-US" b="1" kern="1200" dirty="0">
                <a:solidFill>
                  <a:prstClr val="black"/>
                </a:solidFill>
                <a:latin typeface="Courier New" pitchFamily="49" charset="0"/>
              </a:rPr>
              <a:t>("Sum from 35 to 45 is " + sum);</a:t>
            </a:r>
          </a:p>
          <a:p>
            <a:endParaRPr lang="en-US" dirty="0"/>
          </a:p>
        </p:txBody>
      </p:sp>
      <p:sp>
        <p:nvSpPr>
          <p:cNvPr id="7" name="Rectangle 6"/>
          <p:cNvSpPr/>
          <p:nvPr/>
        </p:nvSpPr>
        <p:spPr>
          <a:xfrm>
            <a:off x="441902" y="2267823"/>
            <a:ext cx="5156440" cy="709106"/>
          </a:xfrm>
          <a:prstGeom prst="rect">
            <a:avLst/>
          </a:prstGeom>
          <a:solidFill>
            <a:srgbClr val="FFFF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buClrTx/>
              <a:buFontTx/>
              <a:buNone/>
              <a:defRPr/>
            </a:pPr>
            <a:endParaRPr lang="en-US" sz="1200" kern="1200">
              <a:solidFill>
                <a:prstClr val="white"/>
              </a:solidFill>
            </a:endParaRPr>
          </a:p>
        </p:txBody>
      </p:sp>
      <p:sp>
        <p:nvSpPr>
          <p:cNvPr id="2" name="Title 1"/>
          <p:cNvSpPr>
            <a:spLocks noGrp="1"/>
          </p:cNvSpPr>
          <p:nvPr>
            <p:ph type="title"/>
          </p:nvPr>
        </p:nvSpPr>
        <p:spPr/>
        <p:txBody>
          <a:bodyPr>
            <a:normAutofit fontScale="90000"/>
          </a:bodyPr>
          <a:lstStyle/>
          <a:p>
            <a:r>
              <a:rPr lang="en-US" altLang="en-US" dirty="0"/>
              <a:t>Opening Problem: contd..</a:t>
            </a:r>
            <a:endParaRPr lang="en-US" dirty="0"/>
          </a:p>
        </p:txBody>
      </p:sp>
      <p:sp>
        <p:nvSpPr>
          <p:cNvPr id="6" name="Rectangle 5"/>
          <p:cNvSpPr/>
          <p:nvPr/>
        </p:nvSpPr>
        <p:spPr>
          <a:xfrm>
            <a:off x="443250" y="1184843"/>
            <a:ext cx="5156440" cy="709106"/>
          </a:xfrm>
          <a:prstGeom prst="rect">
            <a:avLst/>
          </a:prstGeom>
          <a:solidFill>
            <a:srgbClr val="FFFF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buClrTx/>
              <a:buFontTx/>
              <a:buNone/>
              <a:defRPr/>
            </a:pPr>
            <a:endParaRPr lang="en-US" sz="1200" kern="1200">
              <a:solidFill>
                <a:prstClr val="white"/>
              </a:solidFill>
            </a:endParaRPr>
          </a:p>
        </p:txBody>
      </p:sp>
      <p:sp>
        <p:nvSpPr>
          <p:cNvPr id="8" name="Rectangle 7"/>
          <p:cNvSpPr/>
          <p:nvPr/>
        </p:nvSpPr>
        <p:spPr>
          <a:xfrm>
            <a:off x="417626" y="3376427"/>
            <a:ext cx="5156440" cy="709106"/>
          </a:xfrm>
          <a:prstGeom prst="rect">
            <a:avLst/>
          </a:prstGeom>
          <a:solidFill>
            <a:srgbClr val="FFFF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buClrTx/>
              <a:buFontTx/>
              <a:buNone/>
              <a:defRPr/>
            </a:pPr>
            <a:endParaRPr lang="en-US" sz="1200" kern="1200">
              <a:solidFill>
                <a:prstClr val="white"/>
              </a:solidFill>
            </a:endParaRPr>
          </a:p>
        </p:txBody>
      </p:sp>
    </p:spTree>
    <p:extLst>
      <p:ext uri="{BB962C8B-B14F-4D97-AF65-F5344CB8AC3E}">
        <p14:creationId xmlns:p14="http://schemas.microsoft.com/office/powerpoint/2010/main" val="365547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Opening Problem Solution</a:t>
            </a:r>
            <a:endParaRPr lang="en-US" b="1" dirty="0"/>
          </a:p>
        </p:txBody>
      </p:sp>
      <p:sp>
        <p:nvSpPr>
          <p:cNvPr id="3" name="Text Placeholder 2"/>
          <p:cNvSpPr>
            <a:spLocks noGrp="1"/>
          </p:cNvSpPr>
          <p:nvPr>
            <p:ph type="body" idx="1"/>
          </p:nvPr>
        </p:nvSpPr>
        <p:spPr/>
        <p:txBody>
          <a:bodyPr/>
          <a:lstStyle/>
          <a:p>
            <a:r>
              <a:rPr lang="en-US" altLang="en-US" dirty="0"/>
              <a:t>Use a method!</a:t>
            </a:r>
          </a:p>
          <a:p>
            <a:endParaRPr lang="en-US" dirty="0"/>
          </a:p>
        </p:txBody>
      </p:sp>
      <p:sp>
        <p:nvSpPr>
          <p:cNvPr id="4" name="Rectangle 7"/>
          <p:cNvSpPr>
            <a:spLocks noChangeArrowheads="1"/>
          </p:cNvSpPr>
          <p:nvPr/>
        </p:nvSpPr>
        <p:spPr bwMode="auto">
          <a:xfrm>
            <a:off x="636384" y="1822596"/>
            <a:ext cx="4119563" cy="1268016"/>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825" kern="1200">
              <a:solidFill>
                <a:prstClr val="black"/>
              </a:solidFill>
              <a:latin typeface="Courier New" pitchFamily="49" charset="0"/>
              <a:ea typeface="+mn-ea"/>
              <a:cs typeface="Courier New" pitchFamily="49" charset="0"/>
            </a:endParaRPr>
          </a:p>
        </p:txBody>
      </p:sp>
      <p:sp>
        <p:nvSpPr>
          <p:cNvPr id="5" name="Text Box 6"/>
          <p:cNvSpPr txBox="1">
            <a:spLocks noChangeArrowheads="1"/>
          </p:cNvSpPr>
          <p:nvPr/>
        </p:nvSpPr>
        <p:spPr bwMode="auto">
          <a:xfrm>
            <a:off x="579234" y="1797950"/>
            <a:ext cx="662463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40" tIns="45720" rIns="91440" bIns="45720" anchor="t">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r>
              <a:rPr lang="en-US" altLang="en-US" sz="1350" b="1" kern="1200" dirty="0">
                <a:latin typeface="Courier New"/>
                <a:ea typeface="+mn-ea"/>
                <a:cs typeface="Courier New"/>
              </a:rPr>
              <a:t>public static int sum(int </a:t>
            </a:r>
            <a:r>
              <a:rPr lang="en-US" altLang="en-US" sz="1350" kern="1200" dirty="0">
                <a:solidFill>
                  <a:schemeClr val="tx1">
                    <a:lumMod val="95000"/>
                    <a:lumOff val="5000"/>
                  </a:schemeClr>
                </a:solidFill>
                <a:latin typeface="Courier New"/>
                <a:ea typeface="+mn-ea"/>
                <a:cs typeface="Courier New"/>
              </a:rPr>
              <a:t>i1</a:t>
            </a:r>
            <a:r>
              <a:rPr lang="en-US" altLang="en-US" sz="1350" b="1" kern="1200" dirty="0">
                <a:latin typeface="Courier New"/>
                <a:ea typeface="+mn-ea"/>
                <a:cs typeface="Courier New"/>
              </a:rPr>
              <a:t>, int </a:t>
            </a:r>
            <a:r>
              <a:rPr lang="en-US" altLang="en-US" sz="1350" kern="1200" dirty="0">
                <a:solidFill>
                  <a:schemeClr val="tx1">
                    <a:lumMod val="95000"/>
                    <a:lumOff val="5000"/>
                  </a:schemeClr>
                </a:solidFill>
                <a:latin typeface="Courier New"/>
                <a:ea typeface="+mn-ea"/>
                <a:cs typeface="Courier New"/>
              </a:rPr>
              <a:t>i2</a:t>
            </a:r>
            <a:r>
              <a:rPr lang="en-US" altLang="en-US" sz="1350" b="1" kern="1200" dirty="0">
                <a:latin typeface="Courier New"/>
                <a:ea typeface="+mn-ea"/>
                <a:cs typeface="Courier New"/>
              </a:rPr>
              <a:t>) {</a:t>
            </a:r>
          </a:p>
          <a:p>
            <a:pPr eaLnBrk="0" fontAlgn="base" hangingPunct="0">
              <a:spcBef>
                <a:spcPct val="0"/>
              </a:spcBef>
              <a:spcAft>
                <a:spcPct val="0"/>
              </a:spcAft>
              <a:buClrTx/>
            </a:pPr>
            <a:r>
              <a:rPr lang="en-US" altLang="en-US" sz="1350" b="1" kern="1200" dirty="0">
                <a:latin typeface="Courier New"/>
                <a:ea typeface="+mn-ea"/>
                <a:cs typeface="Courier New"/>
              </a:rPr>
              <a:t>  </a:t>
            </a:r>
            <a:r>
              <a:rPr lang="en-US" altLang="en-US" sz="1350" b="1" kern="1200" dirty="0" err="1">
                <a:latin typeface="Courier New"/>
                <a:ea typeface="+mn-ea"/>
                <a:cs typeface="Courier New"/>
              </a:rPr>
              <a:t>int</a:t>
            </a:r>
            <a:r>
              <a:rPr lang="en-US" altLang="en-US" sz="1350" b="1" kern="1200" dirty="0">
                <a:latin typeface="Courier New"/>
                <a:ea typeface="+mn-ea"/>
                <a:cs typeface="Courier New"/>
              </a:rPr>
              <a:t> sum1 = 0;</a:t>
            </a:r>
          </a:p>
          <a:p>
            <a:pPr eaLnBrk="0" fontAlgn="base" hangingPunct="0">
              <a:spcBef>
                <a:spcPct val="0"/>
              </a:spcBef>
              <a:spcAft>
                <a:spcPct val="0"/>
              </a:spcAft>
              <a:buClrTx/>
            </a:pPr>
            <a:r>
              <a:rPr lang="en-US" altLang="en-US" sz="1350" b="1" kern="1200" dirty="0">
                <a:latin typeface="Courier New"/>
                <a:ea typeface="+mn-ea"/>
                <a:cs typeface="Courier New"/>
              </a:rPr>
              <a:t>  for (int </a:t>
            </a:r>
            <a:r>
              <a:rPr lang="en-US" altLang="en-US" sz="1350" b="1" kern="1200" dirty="0" err="1">
                <a:latin typeface="Courier New"/>
                <a:ea typeface="+mn-ea"/>
                <a:cs typeface="Courier New"/>
              </a:rPr>
              <a:t>i</a:t>
            </a:r>
            <a:r>
              <a:rPr lang="en-US" altLang="en-US" sz="1350" b="1" kern="1200" dirty="0">
                <a:latin typeface="Courier New"/>
                <a:ea typeface="+mn-ea"/>
                <a:cs typeface="Courier New"/>
              </a:rPr>
              <a:t> = i1; </a:t>
            </a:r>
            <a:r>
              <a:rPr lang="en-US" altLang="en-US" sz="1350" b="1" kern="1200" dirty="0" err="1">
                <a:latin typeface="Courier New"/>
                <a:ea typeface="+mn-ea"/>
                <a:cs typeface="Courier New"/>
              </a:rPr>
              <a:t>i</a:t>
            </a:r>
            <a:r>
              <a:rPr lang="en-US" altLang="en-US" sz="1350" b="1" kern="1200" dirty="0">
                <a:latin typeface="Courier New"/>
                <a:ea typeface="+mn-ea"/>
                <a:cs typeface="Courier New"/>
              </a:rPr>
              <a:t> &lt;= i2; </a:t>
            </a:r>
            <a:r>
              <a:rPr lang="en-US" altLang="en-US" sz="1350" b="1" kern="1200" dirty="0" err="1">
                <a:latin typeface="Courier New"/>
                <a:ea typeface="+mn-ea"/>
                <a:cs typeface="Courier New"/>
              </a:rPr>
              <a:t>i</a:t>
            </a:r>
            <a:r>
              <a:rPr lang="en-US" altLang="en-US" sz="1350" b="1" kern="1200" dirty="0">
                <a:latin typeface="Courier New"/>
                <a:ea typeface="+mn-ea"/>
                <a:cs typeface="Courier New"/>
              </a:rPr>
              <a:t>++)</a:t>
            </a:r>
          </a:p>
          <a:p>
            <a:pPr eaLnBrk="0" fontAlgn="base" hangingPunct="0">
              <a:spcBef>
                <a:spcPct val="0"/>
              </a:spcBef>
              <a:spcAft>
                <a:spcPct val="0"/>
              </a:spcAft>
              <a:buClrTx/>
              <a:buFontTx/>
              <a:buNone/>
            </a:pPr>
            <a:r>
              <a:rPr lang="en-US" altLang="en-US" sz="1350" b="1" kern="1200" dirty="0">
                <a:solidFill>
                  <a:prstClr val="black"/>
                </a:solidFill>
                <a:latin typeface="Courier New" pitchFamily="49" charset="0"/>
                <a:ea typeface="+mn-ea"/>
                <a:cs typeface="Courier New" pitchFamily="49" charset="0"/>
              </a:rPr>
              <a:t>    sum1 += </a:t>
            </a:r>
            <a:r>
              <a:rPr lang="en-US" altLang="en-US" sz="1350" b="1" kern="1200" dirty="0" err="1">
                <a:solidFill>
                  <a:prstClr val="black"/>
                </a:solidFill>
                <a:latin typeface="Courier New" pitchFamily="49" charset="0"/>
                <a:ea typeface="+mn-ea"/>
                <a:cs typeface="Courier New" pitchFamily="49" charset="0"/>
              </a:rPr>
              <a:t>i</a:t>
            </a:r>
            <a:r>
              <a:rPr lang="en-US" altLang="en-US" sz="1350" b="1" kern="1200" dirty="0">
                <a:solidFill>
                  <a:prstClr val="black"/>
                </a:solidFill>
                <a:latin typeface="Courier New" pitchFamily="49" charset="0"/>
                <a:ea typeface="+mn-ea"/>
                <a:cs typeface="Courier New" pitchFamily="49" charset="0"/>
              </a:rPr>
              <a:t>;</a:t>
            </a:r>
          </a:p>
          <a:p>
            <a:pPr eaLnBrk="0" fontAlgn="base" hangingPunct="0">
              <a:spcBef>
                <a:spcPct val="0"/>
              </a:spcBef>
              <a:spcAft>
                <a:spcPct val="0"/>
              </a:spcAft>
              <a:buClrTx/>
              <a:buFontTx/>
              <a:buNone/>
            </a:pPr>
            <a:r>
              <a:rPr lang="en-US" altLang="en-US" sz="1350" b="1" kern="1200" dirty="0">
                <a:solidFill>
                  <a:prstClr val="black"/>
                </a:solidFill>
                <a:latin typeface="Courier New" pitchFamily="49" charset="0"/>
                <a:ea typeface="+mn-ea"/>
                <a:cs typeface="Courier New" pitchFamily="49" charset="0"/>
              </a:rPr>
              <a:t>  return sum1;</a:t>
            </a:r>
          </a:p>
          <a:p>
            <a:pPr eaLnBrk="0" fontAlgn="base" hangingPunct="0">
              <a:spcBef>
                <a:spcPct val="0"/>
              </a:spcBef>
              <a:spcAft>
                <a:spcPct val="0"/>
              </a:spcAft>
              <a:buClrTx/>
              <a:buFontTx/>
              <a:buNone/>
            </a:pPr>
            <a:r>
              <a:rPr lang="en-US" altLang="en-US" sz="1350" b="1" kern="1200" dirty="0">
                <a:solidFill>
                  <a:prstClr val="black"/>
                </a:solidFill>
                <a:latin typeface="Courier New" pitchFamily="49" charset="0"/>
                <a:ea typeface="+mn-ea"/>
                <a:cs typeface="Courier New" pitchFamily="49" charset="0"/>
              </a:rPr>
              <a:t>}</a:t>
            </a:r>
          </a:p>
          <a:p>
            <a:pPr eaLnBrk="0" fontAlgn="base" hangingPunct="0">
              <a:spcBef>
                <a:spcPct val="0"/>
              </a:spcBef>
              <a:spcAft>
                <a:spcPct val="0"/>
              </a:spcAft>
              <a:buClrTx/>
              <a:buFontTx/>
              <a:buNone/>
            </a:pPr>
            <a:endParaRPr lang="en-US" altLang="en-US" sz="1350" b="1" kern="1200" dirty="0">
              <a:solidFill>
                <a:prstClr val="black"/>
              </a:solidFill>
              <a:latin typeface="Courier New" pitchFamily="49" charset="0"/>
              <a:ea typeface="+mn-ea"/>
              <a:cs typeface="Courier New" pitchFamily="49" charset="0"/>
            </a:endParaRPr>
          </a:p>
          <a:p>
            <a:pPr eaLnBrk="0" fontAlgn="base" hangingPunct="0">
              <a:spcBef>
                <a:spcPct val="0"/>
              </a:spcBef>
              <a:spcAft>
                <a:spcPct val="0"/>
              </a:spcAft>
              <a:buClrTx/>
              <a:buFontTx/>
              <a:buNone/>
            </a:pPr>
            <a:r>
              <a:rPr lang="en-US" altLang="en-US" sz="1350" b="1" kern="1200" dirty="0">
                <a:solidFill>
                  <a:prstClr val="black"/>
                </a:solidFill>
                <a:latin typeface="Courier New" pitchFamily="49" charset="0"/>
                <a:ea typeface="+mn-ea"/>
                <a:cs typeface="Courier New" pitchFamily="49" charset="0"/>
              </a:rPr>
              <a:t>public static void main(String[] </a:t>
            </a:r>
            <a:r>
              <a:rPr lang="en-US" altLang="en-US" sz="1350" b="1" kern="1200" dirty="0" err="1">
                <a:solidFill>
                  <a:prstClr val="black"/>
                </a:solidFill>
                <a:latin typeface="Courier New" pitchFamily="49" charset="0"/>
                <a:ea typeface="+mn-ea"/>
                <a:cs typeface="Courier New" pitchFamily="49" charset="0"/>
              </a:rPr>
              <a:t>args</a:t>
            </a:r>
            <a:r>
              <a:rPr lang="en-US" altLang="en-US" sz="1350" b="1" kern="1200" dirty="0">
                <a:solidFill>
                  <a:prstClr val="black"/>
                </a:solidFill>
                <a:latin typeface="Courier New" pitchFamily="49" charset="0"/>
                <a:ea typeface="+mn-ea"/>
                <a:cs typeface="Courier New" pitchFamily="49" charset="0"/>
              </a:rPr>
              <a:t>) {</a:t>
            </a:r>
          </a:p>
          <a:p>
            <a:pPr eaLnBrk="0" fontAlgn="base" hangingPunct="0">
              <a:spcBef>
                <a:spcPct val="0"/>
              </a:spcBef>
              <a:spcAft>
                <a:spcPct val="0"/>
              </a:spcAft>
              <a:buClrTx/>
              <a:buFontTx/>
              <a:buNone/>
            </a:pPr>
            <a:r>
              <a:rPr lang="en-US" altLang="en-US" sz="1350" b="1" kern="1200" dirty="0">
                <a:solidFill>
                  <a:prstClr val="black"/>
                </a:solidFill>
                <a:latin typeface="Courier New" pitchFamily="49" charset="0"/>
                <a:ea typeface="+mn-ea"/>
                <a:cs typeface="Courier New" pitchFamily="49" charset="0"/>
              </a:rPr>
              <a:t>  </a:t>
            </a:r>
            <a:r>
              <a:rPr lang="en-US" altLang="en-US" sz="1350" b="1" kern="1200" dirty="0" err="1">
                <a:solidFill>
                  <a:prstClr val="black"/>
                </a:solidFill>
                <a:latin typeface="Courier New" pitchFamily="49" charset="0"/>
                <a:ea typeface="+mn-ea"/>
                <a:cs typeface="Courier New" pitchFamily="49" charset="0"/>
              </a:rPr>
              <a:t>System.out.println</a:t>
            </a:r>
            <a:r>
              <a:rPr lang="en-US" altLang="en-US" sz="1350" b="1" kern="1200" dirty="0">
                <a:solidFill>
                  <a:prstClr val="black"/>
                </a:solidFill>
                <a:latin typeface="Courier New" pitchFamily="49" charset="0"/>
                <a:ea typeface="+mn-ea"/>
                <a:cs typeface="Courier New" pitchFamily="49" charset="0"/>
              </a:rPr>
              <a:t>("Sum from 1 to 10 is " + sum(1, 10));</a:t>
            </a:r>
          </a:p>
          <a:p>
            <a:pPr eaLnBrk="0" fontAlgn="base" hangingPunct="0">
              <a:spcBef>
                <a:spcPct val="0"/>
              </a:spcBef>
              <a:spcAft>
                <a:spcPct val="0"/>
              </a:spcAft>
              <a:buClrTx/>
              <a:buFontTx/>
              <a:buNone/>
            </a:pPr>
            <a:r>
              <a:rPr lang="en-US" altLang="en-US" sz="1350" b="1" kern="1200" dirty="0">
                <a:solidFill>
                  <a:prstClr val="black"/>
                </a:solidFill>
                <a:latin typeface="Courier New" pitchFamily="49" charset="0"/>
                <a:ea typeface="+mn-ea"/>
                <a:cs typeface="Courier New" pitchFamily="49" charset="0"/>
              </a:rPr>
              <a:t>  </a:t>
            </a:r>
            <a:r>
              <a:rPr lang="en-US" altLang="en-US" sz="1350" b="1" kern="1200" dirty="0" err="1">
                <a:solidFill>
                  <a:prstClr val="black"/>
                </a:solidFill>
                <a:latin typeface="Courier New" pitchFamily="49" charset="0"/>
                <a:ea typeface="+mn-ea"/>
                <a:cs typeface="Courier New" pitchFamily="49" charset="0"/>
              </a:rPr>
              <a:t>System.out.println</a:t>
            </a:r>
            <a:r>
              <a:rPr lang="en-US" altLang="en-US" sz="1350" b="1" kern="1200" dirty="0">
                <a:solidFill>
                  <a:prstClr val="black"/>
                </a:solidFill>
                <a:latin typeface="Courier New" pitchFamily="49" charset="0"/>
                <a:ea typeface="+mn-ea"/>
                <a:cs typeface="Courier New" pitchFamily="49" charset="0"/>
              </a:rPr>
              <a:t>("Sum from 20 to 30 is " + sum(20, 30));</a:t>
            </a:r>
          </a:p>
          <a:p>
            <a:pPr eaLnBrk="0" fontAlgn="base" hangingPunct="0">
              <a:spcBef>
                <a:spcPct val="0"/>
              </a:spcBef>
              <a:spcAft>
                <a:spcPct val="0"/>
              </a:spcAft>
              <a:buClrTx/>
              <a:buFontTx/>
              <a:buNone/>
            </a:pPr>
            <a:r>
              <a:rPr lang="en-US" altLang="en-US" sz="1350" b="1" kern="1200" dirty="0">
                <a:solidFill>
                  <a:prstClr val="black"/>
                </a:solidFill>
                <a:latin typeface="Courier New" pitchFamily="49" charset="0"/>
                <a:ea typeface="+mn-ea"/>
                <a:cs typeface="Courier New" pitchFamily="49" charset="0"/>
              </a:rPr>
              <a:t>  </a:t>
            </a:r>
            <a:r>
              <a:rPr lang="en-US" altLang="en-US" sz="1350" b="1" kern="1200" dirty="0" err="1">
                <a:solidFill>
                  <a:prstClr val="black"/>
                </a:solidFill>
                <a:latin typeface="Courier New" pitchFamily="49" charset="0"/>
                <a:ea typeface="+mn-ea"/>
                <a:cs typeface="Courier New" pitchFamily="49" charset="0"/>
              </a:rPr>
              <a:t>System.out.println</a:t>
            </a:r>
            <a:r>
              <a:rPr lang="en-US" altLang="en-US" sz="1350" b="1" kern="1200" dirty="0">
                <a:solidFill>
                  <a:prstClr val="black"/>
                </a:solidFill>
                <a:latin typeface="Courier New" pitchFamily="49" charset="0"/>
                <a:ea typeface="+mn-ea"/>
                <a:cs typeface="Courier New" pitchFamily="49" charset="0"/>
              </a:rPr>
              <a:t>("Sum from 35 to 45 is " + sum(35, 45));</a:t>
            </a:r>
          </a:p>
          <a:p>
            <a:pPr eaLnBrk="0" fontAlgn="base" hangingPunct="0">
              <a:spcBef>
                <a:spcPct val="0"/>
              </a:spcBef>
              <a:spcAft>
                <a:spcPct val="0"/>
              </a:spcAft>
              <a:buClrTx/>
              <a:buFontTx/>
              <a:buNone/>
            </a:pPr>
            <a:r>
              <a:rPr lang="en-US" altLang="en-US" sz="1350" b="1" kern="1200" dirty="0">
                <a:solidFill>
                  <a:prstClr val="black"/>
                </a:solidFill>
                <a:latin typeface="Courier New" pitchFamily="49" charset="0"/>
                <a:ea typeface="+mn-ea"/>
                <a:cs typeface="Courier New" pitchFamily="49" charset="0"/>
              </a:rPr>
              <a:t>}</a:t>
            </a:r>
          </a:p>
        </p:txBody>
      </p:sp>
      <p:sp>
        <p:nvSpPr>
          <p:cNvPr id="6" name="Rectangle 8"/>
          <p:cNvSpPr>
            <a:spLocks noChangeArrowheads="1"/>
          </p:cNvSpPr>
          <p:nvPr/>
        </p:nvSpPr>
        <p:spPr bwMode="auto">
          <a:xfrm>
            <a:off x="5415737" y="3489933"/>
            <a:ext cx="1066800" cy="201216"/>
          </a:xfrm>
          <a:prstGeom prst="rect">
            <a:avLst/>
          </a:prstGeom>
          <a:solidFill>
            <a:srgbClr val="FF6600">
              <a:alpha val="36078"/>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7" name="Rectangle 11"/>
          <p:cNvSpPr>
            <a:spLocks noChangeArrowheads="1"/>
          </p:cNvSpPr>
          <p:nvPr/>
        </p:nvSpPr>
        <p:spPr bwMode="auto">
          <a:xfrm>
            <a:off x="5474077" y="3691149"/>
            <a:ext cx="1209675" cy="229790"/>
          </a:xfrm>
          <a:prstGeom prst="rect">
            <a:avLst/>
          </a:prstGeom>
          <a:solidFill>
            <a:srgbClr val="FF6600">
              <a:alpha val="36078"/>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8" name="Rectangle 12"/>
          <p:cNvSpPr>
            <a:spLocks noChangeArrowheads="1"/>
          </p:cNvSpPr>
          <p:nvPr/>
        </p:nvSpPr>
        <p:spPr bwMode="auto">
          <a:xfrm>
            <a:off x="5502652" y="3920940"/>
            <a:ext cx="1181100" cy="202406"/>
          </a:xfrm>
          <a:prstGeom prst="rect">
            <a:avLst/>
          </a:prstGeom>
          <a:solidFill>
            <a:srgbClr val="FF6600">
              <a:alpha val="36078"/>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Tree>
    <p:extLst>
      <p:ext uri="{BB962C8B-B14F-4D97-AF65-F5344CB8AC3E}">
        <p14:creationId xmlns:p14="http://schemas.microsoft.com/office/powerpoint/2010/main" val="199684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Why write methods? </a:t>
            </a:r>
            <a:endParaRPr lang="en-US" b="1" dirty="0"/>
          </a:p>
        </p:txBody>
      </p:sp>
      <p:sp>
        <p:nvSpPr>
          <p:cNvPr id="3" name="Text Placeholder 2"/>
          <p:cNvSpPr>
            <a:spLocks noGrp="1"/>
          </p:cNvSpPr>
          <p:nvPr>
            <p:ph type="body" idx="1"/>
          </p:nvPr>
        </p:nvSpPr>
        <p:spPr/>
        <p:txBody>
          <a:bodyPr>
            <a:normAutofit fontScale="92500" lnSpcReduction="20000"/>
          </a:bodyPr>
          <a:lstStyle/>
          <a:p>
            <a:r>
              <a:rPr lang="en-US" altLang="en-US" sz="2100" dirty="0"/>
              <a:t>To shorten your programs </a:t>
            </a:r>
          </a:p>
          <a:p>
            <a:pPr lvl="1"/>
            <a:r>
              <a:rPr lang="en-US" altLang="en-US" sz="2100" dirty="0"/>
              <a:t>avoid writing identical code twice or more </a:t>
            </a:r>
          </a:p>
          <a:p>
            <a:r>
              <a:rPr lang="en-US" altLang="en-US" sz="2100" dirty="0"/>
              <a:t>To modularize your programs </a:t>
            </a:r>
          </a:p>
          <a:p>
            <a:pPr lvl="1"/>
            <a:r>
              <a:rPr lang="en-US" altLang="en-US" sz="2100" dirty="0"/>
              <a:t>fully tested methods can be trusted </a:t>
            </a:r>
          </a:p>
          <a:p>
            <a:r>
              <a:rPr lang="en-US" altLang="en-US" sz="2100" dirty="0"/>
              <a:t>To make your programs more: </a:t>
            </a:r>
          </a:p>
          <a:p>
            <a:pPr lvl="1"/>
            <a:r>
              <a:rPr lang="en-US" altLang="en-US" sz="2100" dirty="0"/>
              <a:t>readable </a:t>
            </a:r>
          </a:p>
          <a:p>
            <a:pPr lvl="1"/>
            <a:r>
              <a:rPr lang="en-US" altLang="en-US" sz="2100" dirty="0"/>
              <a:t>reusable </a:t>
            </a:r>
          </a:p>
          <a:p>
            <a:pPr lvl="1"/>
            <a:r>
              <a:rPr lang="en-US" altLang="en-US" sz="2100" dirty="0"/>
              <a:t>testable </a:t>
            </a:r>
          </a:p>
          <a:p>
            <a:pPr lvl="1"/>
            <a:r>
              <a:rPr lang="en-US" altLang="en-US" sz="2100" dirty="0"/>
              <a:t>debuggable </a:t>
            </a:r>
          </a:p>
          <a:p>
            <a:pPr lvl="1"/>
            <a:r>
              <a:rPr lang="en-US" altLang="en-US" sz="2100" dirty="0"/>
              <a:t>extensible </a:t>
            </a:r>
          </a:p>
          <a:p>
            <a:pPr lvl="1"/>
            <a:r>
              <a:rPr lang="en-US" altLang="en-US" sz="2100" dirty="0"/>
              <a:t>adaptable </a:t>
            </a:r>
          </a:p>
          <a:p>
            <a:endParaRPr lang="en-US" altLang="en-US" sz="2325" dirty="0"/>
          </a:p>
          <a:p>
            <a:endParaRPr lang="en-US" dirty="0"/>
          </a:p>
        </p:txBody>
      </p:sp>
    </p:spTree>
    <p:extLst>
      <p:ext uri="{BB962C8B-B14F-4D97-AF65-F5344CB8AC3E}">
        <p14:creationId xmlns:p14="http://schemas.microsoft.com/office/powerpoint/2010/main" val="3717422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Rule of thumb</a:t>
            </a:r>
            <a:endParaRPr lang="en-US" b="1" dirty="0"/>
          </a:p>
        </p:txBody>
      </p:sp>
      <p:sp>
        <p:nvSpPr>
          <p:cNvPr id="3" name="Text Placeholder 2"/>
          <p:cNvSpPr>
            <a:spLocks noGrp="1"/>
          </p:cNvSpPr>
          <p:nvPr>
            <p:ph type="body" idx="1"/>
          </p:nvPr>
        </p:nvSpPr>
        <p:spPr/>
        <p:txBody>
          <a:bodyPr/>
          <a:lstStyle/>
          <a:p>
            <a:r>
              <a:rPr lang="en-US" altLang="en-US" dirty="0"/>
              <a:t>If you have to perform some operation in more than one place inside your program, make a new method to implement this operation and have other parts of the program use it. </a:t>
            </a:r>
          </a:p>
          <a:p>
            <a:endParaRPr lang="en-US" dirty="0"/>
          </a:p>
        </p:txBody>
      </p:sp>
    </p:spTree>
    <p:extLst>
      <p:ext uri="{BB962C8B-B14F-4D97-AF65-F5344CB8AC3E}">
        <p14:creationId xmlns:p14="http://schemas.microsoft.com/office/powerpoint/2010/main" val="1944586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Top-down Programming Approach</a:t>
            </a:r>
            <a:endParaRPr lang="zh-CN" altLang="en-US" dirty="0"/>
          </a:p>
        </p:txBody>
      </p:sp>
      <p:sp>
        <p:nvSpPr>
          <p:cNvPr id="3" name="文本占位符 2"/>
          <p:cNvSpPr>
            <a:spLocks noGrp="1"/>
          </p:cNvSpPr>
          <p:nvPr>
            <p:ph type="body" idx="1"/>
          </p:nvPr>
        </p:nvSpPr>
        <p:spPr>
          <a:xfrm>
            <a:off x="311700" y="1152475"/>
            <a:ext cx="5784300" cy="3416400"/>
          </a:xfrm>
        </p:spPr>
        <p:txBody>
          <a:bodyPr/>
          <a:lstStyle/>
          <a:p>
            <a:pPr marL="114300" indent="0" fontAlgn="base">
              <a:buNone/>
            </a:pPr>
            <a:endParaRPr lang="en-US" altLang="zh-CN" dirty="0"/>
          </a:p>
          <a:p>
            <a:pPr marL="114300" indent="0">
              <a:buNone/>
            </a:pPr>
            <a:r>
              <a:rPr lang="en-US" altLang="zh-CN" b="1" dirty="0">
                <a:latin typeface="Courier New" panose="02070309020205020404" pitchFamily="49" charset="0"/>
                <a:cs typeface="Courier New" panose="02070309020205020404" pitchFamily="49" charset="0"/>
              </a:rPr>
              <a:t>While (problem is complex)</a:t>
            </a:r>
          </a:p>
          <a:p>
            <a:pPr marL="114300" indent="0">
              <a:buNone/>
            </a:pPr>
            <a:r>
              <a:rPr lang="en-US" altLang="zh-CN" b="1" dirty="0">
                <a:latin typeface="Courier New" panose="02070309020205020404" pitchFamily="49" charset="0"/>
                <a:cs typeface="Courier New" panose="02070309020205020404" pitchFamily="49" charset="0"/>
              </a:rPr>
              <a:t>{break into smaller components;}</a:t>
            </a:r>
          </a:p>
          <a:p>
            <a:pPr marL="114300" indent="0">
              <a:buNone/>
            </a:pPr>
            <a:r>
              <a:rPr lang="en-US" altLang="zh-CN" b="1" dirty="0">
                <a:latin typeface="Courier New" panose="02070309020205020404" pitchFamily="49" charset="0"/>
                <a:cs typeface="Courier New" panose="02070309020205020404" pitchFamily="49" charset="0"/>
              </a:rPr>
              <a:t>Write source code;</a:t>
            </a:r>
          </a:p>
          <a:p>
            <a:pPr marL="114300" indent="0">
              <a:buNone/>
            </a:pPr>
            <a:endParaRPr lang="en-US" altLang="zh-CN" b="1" dirty="0">
              <a:latin typeface="Courier New" panose="02070309020205020404" pitchFamily="49" charset="0"/>
              <a:cs typeface="Courier New" panose="02070309020205020404" pitchFamily="49" charset="0"/>
            </a:endParaRPr>
          </a:p>
          <a:p>
            <a:pPr marL="114300" indent="0">
              <a:buNone/>
            </a:pPr>
            <a:r>
              <a:rPr lang="en-US" altLang="zh-CN" dirty="0">
                <a:latin typeface="Arial" panose="020B0604020202020204" pitchFamily="34" charset="0"/>
                <a:cs typeface="Arial" panose="020B0604020202020204" pitchFamily="34" charset="0"/>
              </a:rPr>
              <a:t>One of the most important approach for programming beginners. </a:t>
            </a:r>
            <a:endParaRPr lang="zh-CN" altLang="en-US" dirty="0">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3900" y="731375"/>
            <a:ext cx="2438400" cy="3543300"/>
          </a:xfrm>
          <a:prstGeom prst="rect">
            <a:avLst/>
          </a:prstGeom>
        </p:spPr>
      </p:pic>
    </p:spTree>
    <p:extLst>
      <p:ext uri="{BB962C8B-B14F-4D97-AF65-F5344CB8AC3E}">
        <p14:creationId xmlns:p14="http://schemas.microsoft.com/office/powerpoint/2010/main" val="2593056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Defining Methods</a:t>
            </a:r>
            <a:endParaRPr lang="en-US" b="1" dirty="0"/>
          </a:p>
        </p:txBody>
      </p:sp>
      <p:sp>
        <p:nvSpPr>
          <p:cNvPr id="3" name="Text Placeholder 2"/>
          <p:cNvSpPr>
            <a:spLocks noGrp="1"/>
          </p:cNvSpPr>
          <p:nvPr>
            <p:ph type="body" idx="1"/>
          </p:nvPr>
        </p:nvSpPr>
        <p:spPr/>
        <p:txBody>
          <a:bodyPr/>
          <a:lstStyle/>
          <a:p>
            <a:r>
              <a:rPr lang="en-US" altLang="en-US" kern="1200" dirty="0">
                <a:solidFill>
                  <a:prstClr val="black"/>
                </a:solidFill>
              </a:rPr>
              <a:t>A </a:t>
            </a:r>
            <a:r>
              <a:rPr lang="en-US" altLang="en-US" i="1" kern="1200" dirty="0">
                <a:solidFill>
                  <a:prstClr val="black"/>
                </a:solidFill>
              </a:rPr>
              <a:t>method</a:t>
            </a:r>
            <a:r>
              <a:rPr lang="en-US" altLang="en-US" kern="1200" dirty="0">
                <a:solidFill>
                  <a:prstClr val="black"/>
                </a:solidFill>
              </a:rPr>
              <a:t> is a collection of statements that are grouped together to perform an operation.</a:t>
            </a:r>
          </a:p>
          <a:p>
            <a:endParaRPr lang="en-US" dirty="0"/>
          </a:p>
        </p:txBody>
      </p:sp>
      <p:graphicFrame>
        <p:nvGraphicFramePr>
          <p:cNvPr id="4" name="Object 2"/>
          <p:cNvGraphicFramePr>
            <a:graphicFrameLocks noChangeAspect="1"/>
          </p:cNvGraphicFramePr>
          <p:nvPr>
            <p:extLst>
              <p:ext uri="{D42A27DB-BD31-4B8C-83A1-F6EECF244321}">
                <p14:modId xmlns:p14="http://schemas.microsoft.com/office/powerpoint/2010/main" val="2508773775"/>
              </p:ext>
            </p:extLst>
          </p:nvPr>
        </p:nvGraphicFramePr>
        <p:xfrm>
          <a:off x="774665" y="1987600"/>
          <a:ext cx="6481763" cy="2581275"/>
        </p:xfrm>
        <a:graphic>
          <a:graphicData uri="http://schemas.openxmlformats.org/presentationml/2006/ole">
            <mc:AlternateContent xmlns:mc="http://schemas.openxmlformats.org/markup-compatibility/2006">
              <mc:Choice xmlns:v="urn:schemas-microsoft-com:vml" Requires="v">
                <p:oleObj name="Picture" r:id="rId3" imgW="4972145" imgH="1976382" progId="Word.Picture.8">
                  <p:embed/>
                </p:oleObj>
              </mc:Choice>
              <mc:Fallback>
                <p:oleObj name="Picture" r:id="rId3" imgW="4972145" imgH="1976382" progId="Word.Picture.8">
                  <p:embed/>
                  <p:pic>
                    <p:nvPicPr>
                      <p:cNvPr id="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665" y="1987600"/>
                        <a:ext cx="6481763" cy="25812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98782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Method Signature</a:t>
            </a:r>
            <a:endParaRPr lang="en-US" b="1" dirty="0"/>
          </a:p>
        </p:txBody>
      </p:sp>
      <p:sp>
        <p:nvSpPr>
          <p:cNvPr id="3" name="Text Placeholder 2"/>
          <p:cNvSpPr>
            <a:spLocks noGrp="1"/>
          </p:cNvSpPr>
          <p:nvPr>
            <p:ph type="body" idx="1"/>
          </p:nvPr>
        </p:nvSpPr>
        <p:spPr/>
        <p:txBody>
          <a:bodyPr/>
          <a:lstStyle/>
          <a:p>
            <a:r>
              <a:rPr lang="en-US" altLang="en-US" i="1" kern="1200" dirty="0">
                <a:solidFill>
                  <a:prstClr val="black"/>
                </a:solidFill>
              </a:rPr>
              <a:t>Method signature</a:t>
            </a:r>
            <a:r>
              <a:rPr lang="en-US" altLang="en-US" kern="1200" dirty="0">
                <a:solidFill>
                  <a:prstClr val="black"/>
                </a:solidFill>
              </a:rPr>
              <a:t> is the combination of the method name and the parameter list.</a:t>
            </a:r>
          </a:p>
          <a:p>
            <a:endParaRPr lang="en-US" dirty="0"/>
          </a:p>
        </p:txBody>
      </p:sp>
      <p:graphicFrame>
        <p:nvGraphicFramePr>
          <p:cNvPr id="4" name="Object 2"/>
          <p:cNvGraphicFramePr>
            <a:graphicFrameLocks noChangeAspect="1"/>
          </p:cNvGraphicFramePr>
          <p:nvPr/>
        </p:nvGraphicFramePr>
        <p:xfrm>
          <a:off x="1316831" y="1909763"/>
          <a:ext cx="6481763" cy="2581275"/>
        </p:xfrm>
        <a:graphic>
          <a:graphicData uri="http://schemas.openxmlformats.org/presentationml/2006/ole">
            <mc:AlternateContent xmlns:mc="http://schemas.openxmlformats.org/markup-compatibility/2006">
              <mc:Choice xmlns:v="urn:schemas-microsoft-com:vml" Requires="v">
                <p:oleObj name="Picture" r:id="rId3" imgW="4972145" imgH="1976382" progId="Word.Picture.8">
                  <p:embed/>
                </p:oleObj>
              </mc:Choice>
              <mc:Fallback>
                <p:oleObj name="Picture" r:id="rId3" imgW="4972145" imgH="1976382" progId="Word.Picture.8">
                  <p:embed/>
                  <p:pic>
                    <p:nvPicPr>
                      <p:cNvPr id="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6831" y="1909763"/>
                        <a:ext cx="6481763" cy="25812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13"/>
          <p:cNvSpPr>
            <a:spLocks noChangeArrowheads="1"/>
          </p:cNvSpPr>
          <p:nvPr/>
        </p:nvSpPr>
        <p:spPr bwMode="auto">
          <a:xfrm>
            <a:off x="3534966" y="2628901"/>
            <a:ext cx="1901428" cy="317897"/>
          </a:xfrm>
          <a:prstGeom prst="rect">
            <a:avLst/>
          </a:prstGeom>
          <a:solidFill>
            <a:schemeClr val="accent1">
              <a:alpha val="29019"/>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Tree>
    <p:extLst>
      <p:ext uri="{BB962C8B-B14F-4D97-AF65-F5344CB8AC3E}">
        <p14:creationId xmlns:p14="http://schemas.microsoft.com/office/powerpoint/2010/main" val="1880034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0AAA4-77BD-402E-F266-C45FFA073165}"/>
              </a:ext>
            </a:extLst>
          </p:cNvPr>
          <p:cNvSpPr>
            <a:spLocks noGrp="1"/>
          </p:cNvSpPr>
          <p:nvPr>
            <p:ph type="title"/>
          </p:nvPr>
        </p:nvSpPr>
        <p:spPr/>
        <p:txBody>
          <a:bodyPr>
            <a:normAutofit fontScale="90000"/>
          </a:bodyPr>
          <a:lstStyle/>
          <a:p>
            <a:r>
              <a:rPr lang="en-US" dirty="0"/>
              <a:t>Somewhat O</a:t>
            </a:r>
            <a:r>
              <a:rPr lang="en-US" altLang="zh-CN" dirty="0"/>
              <a:t>ff Topic:</a:t>
            </a:r>
            <a:endParaRPr lang="en-US" dirty="0"/>
          </a:p>
        </p:txBody>
      </p:sp>
      <p:sp>
        <p:nvSpPr>
          <p:cNvPr id="3" name="Text Placeholder 2">
            <a:extLst>
              <a:ext uri="{FF2B5EF4-FFF2-40B4-BE49-F238E27FC236}">
                <a16:creationId xmlns:a16="http://schemas.microsoft.com/office/drawing/2014/main" id="{9C107DD6-A649-769D-2232-E3D504C05F51}"/>
              </a:ext>
            </a:extLst>
          </p:cNvPr>
          <p:cNvSpPr>
            <a:spLocks noGrp="1"/>
          </p:cNvSpPr>
          <p:nvPr>
            <p:ph type="body" idx="1"/>
          </p:nvPr>
        </p:nvSpPr>
        <p:spPr/>
        <p:txBody>
          <a:bodyPr/>
          <a:lstStyle/>
          <a:p>
            <a:r>
              <a:rPr lang="en-US" sz="2400" dirty="0"/>
              <a:t>Inflammable</a:t>
            </a:r>
          </a:p>
          <a:p>
            <a:r>
              <a:rPr lang="en-US" sz="2400" dirty="0"/>
              <a:t>Flammable</a:t>
            </a:r>
          </a:p>
          <a:p>
            <a:pPr marL="114300" indent="0">
              <a:buNone/>
            </a:pPr>
            <a:r>
              <a:rPr lang="en-US" sz="2400" dirty="0"/>
              <a:t>What’s the difference?</a:t>
            </a:r>
          </a:p>
          <a:p>
            <a:endParaRPr lang="en-US" dirty="0"/>
          </a:p>
          <a:p>
            <a:endParaRPr lang="en-US" dirty="0"/>
          </a:p>
          <a:p>
            <a:pPr marL="114300" indent="0">
              <a:buNone/>
            </a:pPr>
            <a:r>
              <a:rPr lang="en-US" dirty="0"/>
              <a:t>There are objections, but they are generally considered the same, especially in American English. </a:t>
            </a:r>
          </a:p>
        </p:txBody>
      </p:sp>
    </p:spTree>
    <p:extLst>
      <p:ext uri="{BB962C8B-B14F-4D97-AF65-F5344CB8AC3E}">
        <p14:creationId xmlns:p14="http://schemas.microsoft.com/office/powerpoint/2010/main" val="259438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Formal Parameters</a:t>
            </a:r>
            <a:endParaRPr lang="en-US" b="1" dirty="0"/>
          </a:p>
        </p:txBody>
      </p:sp>
      <p:sp>
        <p:nvSpPr>
          <p:cNvPr id="3" name="Text Placeholder 2"/>
          <p:cNvSpPr>
            <a:spLocks noGrp="1"/>
          </p:cNvSpPr>
          <p:nvPr>
            <p:ph type="body" idx="1"/>
          </p:nvPr>
        </p:nvSpPr>
        <p:spPr/>
        <p:txBody>
          <a:bodyPr/>
          <a:lstStyle/>
          <a:p>
            <a:r>
              <a:rPr lang="en-US" altLang="en-US" kern="1200" dirty="0">
                <a:solidFill>
                  <a:prstClr val="black"/>
                </a:solidFill>
              </a:rPr>
              <a:t>The variables defined in the method header are known as </a:t>
            </a:r>
            <a:r>
              <a:rPr lang="en-US" altLang="en-US" i="1" kern="1200" dirty="0">
                <a:solidFill>
                  <a:prstClr val="black"/>
                </a:solidFill>
              </a:rPr>
              <a:t>formal parameters</a:t>
            </a:r>
            <a:r>
              <a:rPr lang="en-US" altLang="en-US" kern="1200" dirty="0">
                <a:solidFill>
                  <a:prstClr val="black"/>
                </a:solidFill>
              </a:rPr>
              <a:t>. </a:t>
            </a:r>
          </a:p>
          <a:p>
            <a:endParaRPr lang="en-US" dirty="0"/>
          </a:p>
        </p:txBody>
      </p:sp>
      <p:graphicFrame>
        <p:nvGraphicFramePr>
          <p:cNvPr id="4" name="Object 2"/>
          <p:cNvGraphicFramePr>
            <a:graphicFrameLocks noChangeAspect="1"/>
          </p:cNvGraphicFramePr>
          <p:nvPr>
            <p:extLst>
              <p:ext uri="{D42A27DB-BD31-4B8C-83A1-F6EECF244321}">
                <p14:modId xmlns:p14="http://schemas.microsoft.com/office/powerpoint/2010/main" val="3766730033"/>
              </p:ext>
            </p:extLst>
          </p:nvPr>
        </p:nvGraphicFramePr>
        <p:xfrm>
          <a:off x="677560" y="1796475"/>
          <a:ext cx="6481763" cy="2581275"/>
        </p:xfrm>
        <a:graphic>
          <a:graphicData uri="http://schemas.openxmlformats.org/presentationml/2006/ole">
            <mc:AlternateContent xmlns:mc="http://schemas.openxmlformats.org/markup-compatibility/2006">
              <mc:Choice xmlns:v="urn:schemas-microsoft-com:vml" Requires="v">
                <p:oleObj name="Picture" r:id="rId3" imgW="4972145" imgH="1976382" progId="Word.Picture.8">
                  <p:embed/>
                </p:oleObj>
              </mc:Choice>
              <mc:Fallback>
                <p:oleObj name="Picture" r:id="rId3" imgW="4972145" imgH="1976382" progId="Word.Picture.8">
                  <p:embed/>
                  <p:pic>
                    <p:nvPicPr>
                      <p:cNvPr id="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560" y="1796475"/>
                        <a:ext cx="6481763" cy="25812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14"/>
          <p:cNvSpPr>
            <a:spLocks noChangeArrowheads="1"/>
          </p:cNvSpPr>
          <p:nvPr/>
        </p:nvSpPr>
        <p:spPr bwMode="auto">
          <a:xfrm>
            <a:off x="4352538" y="2553471"/>
            <a:ext cx="346472" cy="229790"/>
          </a:xfrm>
          <a:prstGeom prst="rect">
            <a:avLst/>
          </a:prstGeom>
          <a:solidFill>
            <a:schemeClr val="accent1">
              <a:alpha val="39999"/>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6" name="Rectangle 15"/>
          <p:cNvSpPr>
            <a:spLocks noChangeArrowheads="1"/>
          </p:cNvSpPr>
          <p:nvPr/>
        </p:nvSpPr>
        <p:spPr bwMode="auto">
          <a:xfrm>
            <a:off x="3573869" y="2553471"/>
            <a:ext cx="346472" cy="229790"/>
          </a:xfrm>
          <a:prstGeom prst="rect">
            <a:avLst/>
          </a:prstGeom>
          <a:solidFill>
            <a:schemeClr val="accent1">
              <a:alpha val="39999"/>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Tree>
    <p:extLst>
      <p:ext uri="{BB962C8B-B14F-4D97-AF65-F5344CB8AC3E}">
        <p14:creationId xmlns:p14="http://schemas.microsoft.com/office/powerpoint/2010/main" val="3190790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Actual Parameters</a:t>
            </a:r>
            <a:endParaRPr lang="en-US" b="1" dirty="0"/>
          </a:p>
        </p:txBody>
      </p:sp>
      <p:sp>
        <p:nvSpPr>
          <p:cNvPr id="3" name="Text Placeholder 2"/>
          <p:cNvSpPr>
            <a:spLocks noGrp="1"/>
          </p:cNvSpPr>
          <p:nvPr>
            <p:ph type="body" idx="1"/>
          </p:nvPr>
        </p:nvSpPr>
        <p:spPr/>
        <p:txBody>
          <a:bodyPr/>
          <a:lstStyle/>
          <a:p>
            <a:r>
              <a:rPr lang="en-US" altLang="en-US" kern="1200" dirty="0">
                <a:solidFill>
                  <a:prstClr val="black"/>
                </a:solidFill>
              </a:rPr>
              <a:t>When a method is invoked, you pass a value to the parameter: </a:t>
            </a:r>
            <a:r>
              <a:rPr lang="en-US" altLang="en-US" i="1" kern="1200" dirty="0">
                <a:solidFill>
                  <a:prstClr val="black"/>
                </a:solidFill>
              </a:rPr>
              <a:t>actual parameter or argument</a:t>
            </a:r>
            <a:r>
              <a:rPr lang="en-US" altLang="en-US" kern="1200" dirty="0">
                <a:solidFill>
                  <a:prstClr val="black"/>
                </a:solidFill>
              </a:rPr>
              <a:t>.</a:t>
            </a:r>
          </a:p>
          <a:p>
            <a:endParaRPr lang="en-US" dirty="0"/>
          </a:p>
        </p:txBody>
      </p:sp>
      <p:graphicFrame>
        <p:nvGraphicFramePr>
          <p:cNvPr id="4" name="Object 2"/>
          <p:cNvGraphicFramePr>
            <a:graphicFrameLocks noChangeAspect="1"/>
          </p:cNvGraphicFramePr>
          <p:nvPr>
            <p:extLst>
              <p:ext uri="{D42A27DB-BD31-4B8C-83A1-F6EECF244321}">
                <p14:modId xmlns:p14="http://schemas.microsoft.com/office/powerpoint/2010/main" val="2897885700"/>
              </p:ext>
            </p:extLst>
          </p:nvPr>
        </p:nvGraphicFramePr>
        <p:xfrm>
          <a:off x="863679" y="1909763"/>
          <a:ext cx="6481763" cy="2581275"/>
        </p:xfrm>
        <a:graphic>
          <a:graphicData uri="http://schemas.openxmlformats.org/presentationml/2006/ole">
            <mc:AlternateContent xmlns:mc="http://schemas.openxmlformats.org/markup-compatibility/2006">
              <mc:Choice xmlns:v="urn:schemas-microsoft-com:vml" Requires="v">
                <p:oleObj name="Picture" r:id="rId2" imgW="4972145" imgH="1976382" progId="Word.Picture.8">
                  <p:embed/>
                </p:oleObj>
              </mc:Choice>
              <mc:Fallback>
                <p:oleObj name="Picture" r:id="rId2" imgW="4972145" imgH="1976382"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679" y="1909763"/>
                        <a:ext cx="6481763" cy="25812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15"/>
          <p:cNvSpPr>
            <a:spLocks noChangeArrowheads="1"/>
          </p:cNvSpPr>
          <p:nvPr/>
        </p:nvSpPr>
        <p:spPr bwMode="auto">
          <a:xfrm>
            <a:off x="6509624" y="2543175"/>
            <a:ext cx="346472" cy="172641"/>
          </a:xfrm>
          <a:prstGeom prst="rect">
            <a:avLst/>
          </a:prstGeom>
          <a:solidFill>
            <a:schemeClr val="accent1">
              <a:alpha val="38039"/>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Tree>
    <p:extLst>
      <p:ext uri="{BB962C8B-B14F-4D97-AF65-F5344CB8AC3E}">
        <p14:creationId xmlns:p14="http://schemas.microsoft.com/office/powerpoint/2010/main" val="444277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Return Value Type</a:t>
            </a:r>
            <a:endParaRPr lang="en-US" b="1" dirty="0"/>
          </a:p>
        </p:txBody>
      </p:sp>
      <p:sp>
        <p:nvSpPr>
          <p:cNvPr id="3" name="Text Placeholder 2"/>
          <p:cNvSpPr>
            <a:spLocks noGrp="1"/>
          </p:cNvSpPr>
          <p:nvPr>
            <p:ph type="body" idx="1"/>
          </p:nvPr>
        </p:nvSpPr>
        <p:spPr/>
        <p:txBody>
          <a:bodyPr/>
          <a:lstStyle/>
          <a:p>
            <a:pPr eaLnBrk="0" fontAlgn="base" hangingPunct="0">
              <a:spcBef>
                <a:spcPct val="50000"/>
              </a:spcBef>
              <a:spcAft>
                <a:spcPct val="0"/>
              </a:spcAft>
              <a:buClrTx/>
            </a:pPr>
            <a:r>
              <a:rPr lang="en-US" altLang="en-US" kern="1200" dirty="0">
                <a:solidFill>
                  <a:schemeClr val="tx1"/>
                </a:solidFill>
              </a:rPr>
              <a:t>A method may return a value. </a:t>
            </a:r>
          </a:p>
          <a:p>
            <a:pPr eaLnBrk="0" fontAlgn="base" hangingPunct="0">
              <a:spcBef>
                <a:spcPct val="50000"/>
              </a:spcBef>
              <a:spcAft>
                <a:spcPct val="0"/>
              </a:spcAft>
              <a:buClrTx/>
            </a:pPr>
            <a:r>
              <a:rPr lang="en-US" altLang="en-US" kern="1200" dirty="0">
                <a:solidFill>
                  <a:schemeClr val="tx1"/>
                </a:solidFill>
              </a:rPr>
              <a:t>The </a:t>
            </a:r>
            <a:r>
              <a:rPr lang="en-US" altLang="en-US" i="1" u="sng" kern="1200" dirty="0" err="1">
                <a:solidFill>
                  <a:schemeClr val="tx1"/>
                </a:solidFill>
              </a:rPr>
              <a:t>returnValueType</a:t>
            </a:r>
            <a:r>
              <a:rPr lang="en-US" altLang="en-US" kern="1200" dirty="0">
                <a:solidFill>
                  <a:schemeClr val="tx1"/>
                </a:solidFill>
              </a:rPr>
              <a:t> is the data type of the value the method returns. </a:t>
            </a:r>
          </a:p>
          <a:p>
            <a:pPr eaLnBrk="0" fontAlgn="base" hangingPunct="0">
              <a:spcBef>
                <a:spcPct val="50000"/>
              </a:spcBef>
              <a:spcAft>
                <a:spcPct val="0"/>
              </a:spcAft>
              <a:buClrTx/>
            </a:pPr>
            <a:r>
              <a:rPr lang="en-US" altLang="en-US" kern="1200" dirty="0">
                <a:solidFill>
                  <a:schemeClr val="tx1"/>
                </a:solidFill>
              </a:rPr>
              <a:t>If the method does not return a value, the </a:t>
            </a:r>
            <a:r>
              <a:rPr lang="en-US" altLang="en-US" u="sng" kern="1200" dirty="0" err="1">
                <a:solidFill>
                  <a:schemeClr val="tx1"/>
                </a:solidFill>
              </a:rPr>
              <a:t>returnValueType</a:t>
            </a:r>
            <a:r>
              <a:rPr lang="en-US" altLang="en-US" kern="1200" dirty="0">
                <a:solidFill>
                  <a:schemeClr val="tx1"/>
                </a:solidFill>
              </a:rPr>
              <a:t> is the keyword </a:t>
            </a:r>
            <a:r>
              <a:rPr lang="en-US" altLang="en-US" u="sng" kern="1200" dirty="0">
                <a:solidFill>
                  <a:schemeClr val="tx1"/>
                </a:solidFill>
              </a:rPr>
              <a:t>void</a:t>
            </a:r>
            <a:r>
              <a:rPr lang="en-US" altLang="en-US" kern="1200" dirty="0">
                <a:solidFill>
                  <a:schemeClr val="tx1"/>
                </a:solidFill>
              </a:rPr>
              <a:t>. </a:t>
            </a:r>
          </a:p>
          <a:p>
            <a:endParaRPr lang="en-US" dirty="0"/>
          </a:p>
        </p:txBody>
      </p:sp>
      <p:graphicFrame>
        <p:nvGraphicFramePr>
          <p:cNvPr id="4" name="Object 2"/>
          <p:cNvGraphicFramePr>
            <a:graphicFrameLocks noChangeAspect="1"/>
          </p:cNvGraphicFramePr>
          <p:nvPr>
            <p:extLst>
              <p:ext uri="{D42A27DB-BD31-4B8C-83A1-F6EECF244321}">
                <p14:modId xmlns:p14="http://schemas.microsoft.com/office/powerpoint/2010/main" val="2075029328"/>
              </p:ext>
            </p:extLst>
          </p:nvPr>
        </p:nvGraphicFramePr>
        <p:xfrm>
          <a:off x="1796431" y="2649295"/>
          <a:ext cx="5945518" cy="2367723"/>
        </p:xfrm>
        <a:graphic>
          <a:graphicData uri="http://schemas.openxmlformats.org/presentationml/2006/ole">
            <mc:AlternateContent xmlns:mc="http://schemas.openxmlformats.org/markup-compatibility/2006">
              <mc:Choice xmlns:v="urn:schemas-microsoft-com:vml" Requires="v">
                <p:oleObj name="Picture" r:id="rId2" imgW="4972145" imgH="1976382" progId="Word.Picture.8">
                  <p:embed/>
                </p:oleObj>
              </mc:Choice>
              <mc:Fallback>
                <p:oleObj name="Picture" r:id="rId2" imgW="4972145" imgH="1976382"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6431" y="2649295"/>
                        <a:ext cx="5945518" cy="236772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633364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Calling Methods</a:t>
            </a:r>
            <a:endParaRPr lang="en-US" b="1" dirty="0"/>
          </a:p>
        </p:txBody>
      </p:sp>
      <p:sp>
        <p:nvSpPr>
          <p:cNvPr id="3" name="Text Placeholder 2"/>
          <p:cNvSpPr>
            <a:spLocks noGrp="1"/>
          </p:cNvSpPr>
          <p:nvPr>
            <p:ph type="body" idx="1"/>
          </p:nvPr>
        </p:nvSpPr>
        <p:spPr/>
        <p:txBody>
          <a:bodyPr/>
          <a:lstStyle/>
          <a:p>
            <a:endParaRPr lang="en-US" dirty="0"/>
          </a:p>
        </p:txBody>
      </p:sp>
      <p:graphicFrame>
        <p:nvGraphicFramePr>
          <p:cNvPr id="4" name="Object 2"/>
          <p:cNvGraphicFramePr>
            <a:graphicFrameLocks noChangeAspect="1"/>
          </p:cNvGraphicFramePr>
          <p:nvPr>
            <p:extLst>
              <p:ext uri="{D42A27DB-BD31-4B8C-83A1-F6EECF244321}">
                <p14:modId xmlns:p14="http://schemas.microsoft.com/office/powerpoint/2010/main" val="2731280033"/>
              </p:ext>
            </p:extLst>
          </p:nvPr>
        </p:nvGraphicFramePr>
        <p:xfrm>
          <a:off x="335318" y="1163831"/>
          <a:ext cx="6453188" cy="2445544"/>
        </p:xfrm>
        <a:graphic>
          <a:graphicData uri="http://schemas.openxmlformats.org/presentationml/2006/ole">
            <mc:AlternateContent xmlns:mc="http://schemas.openxmlformats.org/markup-compatibility/2006">
              <mc:Choice xmlns:v="urn:schemas-microsoft-com:vml" Requires="v">
                <p:oleObj name="Picture" r:id="rId3" imgW="4228338" imgH="1603248" progId="Word.Picture.8">
                  <p:embed/>
                </p:oleObj>
              </mc:Choice>
              <mc:Fallback>
                <p:oleObj name="Picture" r:id="rId3" imgW="4228338" imgH="1603248" progId="Word.Picture.8">
                  <p:embed/>
                  <p:pic>
                    <p:nvPicPr>
                      <p:cNvPr id="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318" y="1163831"/>
                        <a:ext cx="6453188" cy="2445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70646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6"/>
          <p:cNvSpPr>
            <a:spLocks noChangeArrowheads="1"/>
          </p:cNvSpPr>
          <p:nvPr/>
        </p:nvSpPr>
        <p:spPr bwMode="auto">
          <a:xfrm>
            <a:off x="449618" y="1985220"/>
            <a:ext cx="2566988"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6" name="AutoShape 7"/>
          <p:cNvSpPr>
            <a:spLocks noChangeArrowheads="1"/>
          </p:cNvSpPr>
          <p:nvPr/>
        </p:nvSpPr>
        <p:spPr bwMode="auto">
          <a:xfrm>
            <a:off x="2179597" y="1152974"/>
            <a:ext cx="2650331" cy="288131"/>
          </a:xfrm>
          <a:prstGeom prst="wedgeRoundRectCallout">
            <a:avLst>
              <a:gd name="adj1" fmla="val -45014"/>
              <a:gd name="adj2" fmla="val 263634"/>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a:solidFill>
                  <a:prstClr val="black"/>
                </a:solidFill>
                <a:ea typeface="+mn-ea"/>
                <a:cs typeface="+mn-cs"/>
              </a:rPr>
              <a:t>i is now 5</a:t>
            </a:r>
          </a:p>
        </p:txBody>
      </p:sp>
    </p:spTree>
    <p:extLst>
      <p:ext uri="{BB962C8B-B14F-4D97-AF65-F5344CB8AC3E}">
        <p14:creationId xmlns:p14="http://schemas.microsoft.com/office/powerpoint/2010/main" val="657347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501144" y="2119870"/>
            <a:ext cx="2566988"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8" name="AutoShape 7"/>
          <p:cNvSpPr>
            <a:spLocks noChangeArrowheads="1"/>
          </p:cNvSpPr>
          <p:nvPr/>
        </p:nvSpPr>
        <p:spPr bwMode="auto">
          <a:xfrm>
            <a:off x="2229932" y="1169752"/>
            <a:ext cx="2650331" cy="288131"/>
          </a:xfrm>
          <a:prstGeom prst="wedgeRoundRectCallout">
            <a:avLst>
              <a:gd name="adj1" fmla="val -45236"/>
              <a:gd name="adj2" fmla="val 309093"/>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a:solidFill>
                  <a:prstClr val="black"/>
                </a:solidFill>
                <a:ea typeface="+mn-ea"/>
                <a:cs typeface="+mn-cs"/>
              </a:rPr>
              <a:t>j is now 2</a:t>
            </a:r>
          </a:p>
        </p:txBody>
      </p:sp>
    </p:spTree>
    <p:extLst>
      <p:ext uri="{BB962C8B-B14F-4D97-AF65-F5344CB8AC3E}">
        <p14:creationId xmlns:p14="http://schemas.microsoft.com/office/powerpoint/2010/main" val="3738268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6"/>
          <p:cNvSpPr>
            <a:spLocks noChangeArrowheads="1"/>
          </p:cNvSpPr>
          <p:nvPr/>
        </p:nvSpPr>
        <p:spPr bwMode="auto">
          <a:xfrm>
            <a:off x="1050666" y="2243750"/>
            <a:ext cx="1933575"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9" name="AutoShape 7"/>
          <p:cNvSpPr>
            <a:spLocks noChangeArrowheads="1"/>
          </p:cNvSpPr>
          <p:nvPr/>
        </p:nvSpPr>
        <p:spPr bwMode="auto">
          <a:xfrm>
            <a:off x="1852426" y="1178141"/>
            <a:ext cx="2650331" cy="288131"/>
          </a:xfrm>
          <a:prstGeom prst="wedgeRoundRectCallout">
            <a:avLst>
              <a:gd name="adj1" fmla="val -45236"/>
              <a:gd name="adj2" fmla="val 352065"/>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a:solidFill>
                  <a:prstClr val="black"/>
                </a:solidFill>
                <a:ea typeface="+mn-ea"/>
                <a:cs typeface="+mn-cs"/>
              </a:rPr>
              <a:t>invoke max(i, j)</a:t>
            </a:r>
          </a:p>
        </p:txBody>
      </p:sp>
    </p:spTree>
    <p:extLst>
      <p:ext uri="{BB962C8B-B14F-4D97-AF65-F5344CB8AC3E}">
        <p14:creationId xmlns:p14="http://schemas.microsoft.com/office/powerpoint/2010/main" val="1074396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4533790" y="1898468"/>
            <a:ext cx="1933575"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8" name="AutoShape 7"/>
          <p:cNvSpPr>
            <a:spLocks noChangeArrowheads="1"/>
          </p:cNvSpPr>
          <p:nvPr/>
        </p:nvSpPr>
        <p:spPr bwMode="auto">
          <a:xfrm>
            <a:off x="2229931" y="975735"/>
            <a:ext cx="2649140" cy="748903"/>
          </a:xfrm>
          <a:prstGeom prst="wedgeRoundRectCallout">
            <a:avLst>
              <a:gd name="adj1" fmla="val 41597"/>
              <a:gd name="adj2" fmla="val 75120"/>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a:solidFill>
                  <a:prstClr val="black"/>
                </a:solidFill>
                <a:ea typeface="+mn-ea"/>
                <a:cs typeface="+mn-cs"/>
              </a:rPr>
              <a:t>invoke max(i, j)</a:t>
            </a:r>
          </a:p>
          <a:p>
            <a:pPr algn="ctr" eaLnBrk="0" fontAlgn="base" hangingPunct="0">
              <a:spcBef>
                <a:spcPct val="0"/>
              </a:spcBef>
              <a:spcAft>
                <a:spcPct val="0"/>
              </a:spcAft>
              <a:buClrTx/>
              <a:buFontTx/>
              <a:buNone/>
            </a:pPr>
            <a:r>
              <a:rPr lang="en-US" altLang="en-US" sz="1350" kern="1200">
                <a:solidFill>
                  <a:prstClr val="black"/>
                </a:solidFill>
                <a:ea typeface="+mn-ea"/>
                <a:cs typeface="+mn-cs"/>
              </a:rPr>
              <a:t>Pass the value of i to num1</a:t>
            </a:r>
          </a:p>
          <a:p>
            <a:pPr algn="ctr" eaLnBrk="0" fontAlgn="base" hangingPunct="0">
              <a:spcBef>
                <a:spcPct val="0"/>
              </a:spcBef>
              <a:spcAft>
                <a:spcPct val="0"/>
              </a:spcAft>
              <a:buClrTx/>
              <a:buFontTx/>
              <a:buNone/>
            </a:pPr>
            <a:r>
              <a:rPr lang="en-US" altLang="en-US" sz="1350" kern="1200">
                <a:solidFill>
                  <a:prstClr val="black"/>
                </a:solidFill>
                <a:ea typeface="+mn-ea"/>
                <a:cs typeface="+mn-cs"/>
              </a:rPr>
              <a:t>Pass the value of j to num2</a:t>
            </a:r>
          </a:p>
        </p:txBody>
      </p:sp>
      <p:sp>
        <p:nvSpPr>
          <p:cNvPr id="10" name="Line 8"/>
          <p:cNvSpPr>
            <a:spLocks noChangeShapeType="1"/>
          </p:cNvSpPr>
          <p:nvPr/>
        </p:nvSpPr>
        <p:spPr bwMode="auto">
          <a:xfrm flipV="1">
            <a:off x="1719743" y="1983006"/>
            <a:ext cx="2814047" cy="247809"/>
          </a:xfrm>
          <a:prstGeom prst="line">
            <a:avLst/>
          </a:prstGeom>
          <a:noFill/>
          <a:ln w="28575">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1714364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6"/>
          <p:cNvSpPr>
            <a:spLocks noChangeArrowheads="1"/>
          </p:cNvSpPr>
          <p:nvPr/>
        </p:nvSpPr>
        <p:spPr bwMode="auto">
          <a:xfrm>
            <a:off x="3614081" y="2000589"/>
            <a:ext cx="1933575"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11" name="AutoShape 7"/>
          <p:cNvSpPr>
            <a:spLocks noChangeArrowheads="1"/>
          </p:cNvSpPr>
          <p:nvPr/>
        </p:nvSpPr>
        <p:spPr bwMode="auto">
          <a:xfrm>
            <a:off x="2146041" y="1136196"/>
            <a:ext cx="2650331" cy="288131"/>
          </a:xfrm>
          <a:prstGeom prst="wedgeRoundRectCallout">
            <a:avLst>
              <a:gd name="adj1" fmla="val 44653"/>
              <a:gd name="adj2" fmla="val 263634"/>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a:solidFill>
                  <a:prstClr val="black"/>
                </a:solidFill>
                <a:ea typeface="+mn-ea"/>
                <a:cs typeface="+mn-cs"/>
              </a:rPr>
              <a:t>declare variable result</a:t>
            </a:r>
          </a:p>
        </p:txBody>
      </p:sp>
    </p:spTree>
    <p:extLst>
      <p:ext uri="{BB962C8B-B14F-4D97-AF65-F5344CB8AC3E}">
        <p14:creationId xmlns:p14="http://schemas.microsoft.com/office/powerpoint/2010/main" val="912044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6"/>
          <p:cNvSpPr>
            <a:spLocks noChangeArrowheads="1"/>
          </p:cNvSpPr>
          <p:nvPr/>
        </p:nvSpPr>
        <p:spPr bwMode="auto">
          <a:xfrm>
            <a:off x="3672804" y="2235361"/>
            <a:ext cx="1933575"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7" name="AutoShape 7"/>
          <p:cNvSpPr>
            <a:spLocks noChangeArrowheads="1"/>
          </p:cNvSpPr>
          <p:nvPr/>
        </p:nvSpPr>
        <p:spPr bwMode="auto">
          <a:xfrm>
            <a:off x="2204764" y="997111"/>
            <a:ext cx="2650331" cy="460772"/>
          </a:xfrm>
          <a:prstGeom prst="wedgeRoundRectCallout">
            <a:avLst>
              <a:gd name="adj1" fmla="val 57593"/>
              <a:gd name="adj2" fmla="val 238889"/>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(num1 &gt; num2) is true since num1 is 5 and num2 is 2</a:t>
            </a:r>
          </a:p>
        </p:txBody>
      </p:sp>
    </p:spTree>
    <p:extLst>
      <p:ext uri="{BB962C8B-B14F-4D97-AF65-F5344CB8AC3E}">
        <p14:creationId xmlns:p14="http://schemas.microsoft.com/office/powerpoint/2010/main" val="1149541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alpha val="19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6"/>
          <p:cNvSpPr>
            <a:spLocks noChangeArrowheads="1"/>
          </p:cNvSpPr>
          <p:nvPr/>
        </p:nvSpPr>
        <p:spPr bwMode="auto">
          <a:xfrm>
            <a:off x="3773472" y="2367630"/>
            <a:ext cx="1933575"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9" name="AutoShape 7"/>
          <p:cNvSpPr>
            <a:spLocks noChangeArrowheads="1"/>
          </p:cNvSpPr>
          <p:nvPr/>
        </p:nvSpPr>
        <p:spPr bwMode="auto">
          <a:xfrm>
            <a:off x="2305432" y="1013889"/>
            <a:ext cx="2650331" cy="460772"/>
          </a:xfrm>
          <a:prstGeom prst="wedgeRoundRectCallout">
            <a:avLst>
              <a:gd name="adj1" fmla="val 60153"/>
              <a:gd name="adj2" fmla="val 266019"/>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a:solidFill>
                  <a:prstClr val="black"/>
                </a:solidFill>
                <a:ea typeface="+mn-ea"/>
                <a:cs typeface="+mn-cs"/>
              </a:rPr>
              <a:t>result is now 5</a:t>
            </a:r>
          </a:p>
        </p:txBody>
      </p:sp>
    </p:spTree>
    <p:extLst>
      <p:ext uri="{BB962C8B-B14F-4D97-AF65-F5344CB8AC3E}">
        <p14:creationId xmlns:p14="http://schemas.microsoft.com/office/powerpoint/2010/main" val="1169975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alpha val="19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6"/>
          <p:cNvSpPr>
            <a:spLocks noChangeArrowheads="1"/>
          </p:cNvSpPr>
          <p:nvPr/>
        </p:nvSpPr>
        <p:spPr bwMode="auto">
          <a:xfrm>
            <a:off x="3639248" y="2803858"/>
            <a:ext cx="1933575"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9" name="AutoShape 7"/>
          <p:cNvSpPr>
            <a:spLocks noChangeArrowheads="1"/>
          </p:cNvSpPr>
          <p:nvPr/>
        </p:nvSpPr>
        <p:spPr bwMode="auto">
          <a:xfrm>
            <a:off x="2239127" y="1128211"/>
            <a:ext cx="2650331" cy="460772"/>
          </a:xfrm>
          <a:prstGeom prst="wedgeRoundRectCallout">
            <a:avLst>
              <a:gd name="adj1" fmla="val 54456"/>
              <a:gd name="adj2" fmla="val 307894"/>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Return result, which is 5</a:t>
            </a:r>
          </a:p>
        </p:txBody>
      </p:sp>
    </p:spTree>
    <p:extLst>
      <p:ext uri="{BB962C8B-B14F-4D97-AF65-F5344CB8AC3E}">
        <p14:creationId xmlns:p14="http://schemas.microsoft.com/office/powerpoint/2010/main" val="3192996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alpha val="19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6"/>
          <p:cNvSpPr>
            <a:spLocks noChangeArrowheads="1"/>
          </p:cNvSpPr>
          <p:nvPr/>
        </p:nvSpPr>
        <p:spPr bwMode="auto">
          <a:xfrm>
            <a:off x="479384" y="2226972"/>
            <a:ext cx="2538413" cy="1333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7" name="AutoShape 7"/>
          <p:cNvSpPr>
            <a:spLocks noChangeArrowheads="1"/>
          </p:cNvSpPr>
          <p:nvPr/>
        </p:nvSpPr>
        <p:spPr bwMode="auto">
          <a:xfrm>
            <a:off x="2179597" y="958956"/>
            <a:ext cx="2650331" cy="490538"/>
          </a:xfrm>
          <a:prstGeom prst="wedgeRoundRectCallout">
            <a:avLst>
              <a:gd name="adj1" fmla="val -45236"/>
              <a:gd name="adj2" fmla="val 227426"/>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return max(</a:t>
            </a:r>
            <a:r>
              <a:rPr lang="en-US" altLang="en-US" sz="1350" kern="1200" dirty="0" err="1">
                <a:solidFill>
                  <a:prstClr val="black"/>
                </a:solidFill>
                <a:ea typeface="+mn-ea"/>
                <a:cs typeface="+mn-cs"/>
              </a:rPr>
              <a:t>i</a:t>
            </a:r>
            <a:r>
              <a:rPr lang="en-US" altLang="en-US" sz="1350" kern="1200" dirty="0">
                <a:solidFill>
                  <a:prstClr val="black"/>
                </a:solidFill>
                <a:ea typeface="+mn-ea"/>
                <a:cs typeface="+mn-cs"/>
              </a:rPr>
              <a:t>, j) and assign the return value to k</a:t>
            </a:r>
          </a:p>
        </p:txBody>
      </p:sp>
      <p:sp>
        <p:nvSpPr>
          <p:cNvPr id="10" name="Line 8"/>
          <p:cNvSpPr>
            <a:spLocks noChangeShapeType="1"/>
          </p:cNvSpPr>
          <p:nvPr/>
        </p:nvSpPr>
        <p:spPr bwMode="auto">
          <a:xfrm flipH="1" flipV="1">
            <a:off x="1544994" y="2342462"/>
            <a:ext cx="2160985" cy="517922"/>
          </a:xfrm>
          <a:prstGeom prst="line">
            <a:avLst/>
          </a:prstGeom>
          <a:noFill/>
          <a:ln w="28575">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182024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alpha val="19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Method Invocation</a:t>
            </a:r>
            <a:endParaRPr lang="en-US" b="1" dirty="0"/>
          </a:p>
        </p:txBody>
      </p:sp>
      <p:graphicFrame>
        <p:nvGraphicFramePr>
          <p:cNvPr id="4" name="Object 2"/>
          <p:cNvGraphicFramePr>
            <a:graphicFrameLocks noChangeAspect="1"/>
          </p:cNvGraphicFramePr>
          <p:nvPr>
            <p:extLst>
              <p:ext uri="{D42A27DB-BD31-4B8C-83A1-F6EECF244321}">
                <p14:modId xmlns:p14="http://schemas.microsoft.com/office/powerpoint/2010/main" val="2273440566"/>
              </p:ext>
            </p:extLst>
          </p:nvPr>
        </p:nvGraphicFramePr>
        <p:xfrm>
          <a:off x="335318" y="1699470"/>
          <a:ext cx="6457950" cy="1657350"/>
        </p:xfrm>
        <a:graphic>
          <a:graphicData uri="http://schemas.openxmlformats.org/presentationml/2006/ole">
            <mc:AlternateContent xmlns:mc="http://schemas.openxmlformats.org/markup-compatibility/2006">
              <mc:Choice xmlns:v="urn:schemas-microsoft-com:vml" Requires="v">
                <p:oleObj name="Picture" r:id="rId2" imgW="4232148" imgH="1085088" progId="Word.Picture.8">
                  <p:embed/>
                </p:oleObj>
              </mc:Choice>
              <mc:Fallback>
                <p:oleObj name="Picture" r:id="rId2" imgW="4232148" imgH="1085088" progId="Word.Picture.8">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18" y="1699470"/>
                        <a:ext cx="64579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6"/>
          <p:cNvSpPr>
            <a:spLocks noChangeArrowheads="1"/>
          </p:cNvSpPr>
          <p:nvPr/>
        </p:nvSpPr>
        <p:spPr bwMode="auto">
          <a:xfrm>
            <a:off x="504551" y="2478139"/>
            <a:ext cx="2538413" cy="345281"/>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9" name="AutoShape 7"/>
          <p:cNvSpPr>
            <a:spLocks noChangeArrowheads="1"/>
          </p:cNvSpPr>
          <p:nvPr/>
        </p:nvSpPr>
        <p:spPr bwMode="auto">
          <a:xfrm>
            <a:off x="2204764" y="950567"/>
            <a:ext cx="2650331" cy="490538"/>
          </a:xfrm>
          <a:prstGeom prst="wedgeRoundRectCallout">
            <a:avLst>
              <a:gd name="adj1" fmla="val -43398"/>
              <a:gd name="adj2" fmla="val 279611"/>
              <a:gd name="adj3" fmla="val 16667"/>
            </a:avLst>
          </a:prstGeom>
          <a:solidFill>
            <a:schemeClr val="bg2">
              <a:alpha val="19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a:solidFill>
                  <a:prstClr val="black"/>
                </a:solidFill>
                <a:ea typeface="+mn-ea"/>
                <a:cs typeface="+mn-cs"/>
              </a:rPr>
              <a:t>Execute the print statement</a:t>
            </a:r>
          </a:p>
        </p:txBody>
      </p:sp>
    </p:spTree>
    <p:extLst>
      <p:ext uri="{BB962C8B-B14F-4D97-AF65-F5344CB8AC3E}">
        <p14:creationId xmlns:p14="http://schemas.microsoft.com/office/powerpoint/2010/main" val="2934390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Benefits of Methods</a:t>
            </a:r>
            <a:endParaRPr lang="en-US" b="1" dirty="0"/>
          </a:p>
        </p:txBody>
      </p:sp>
      <p:sp>
        <p:nvSpPr>
          <p:cNvPr id="3" name="Text Placeholder 2"/>
          <p:cNvSpPr>
            <a:spLocks noGrp="1"/>
          </p:cNvSpPr>
          <p:nvPr>
            <p:ph type="body" idx="1"/>
          </p:nvPr>
        </p:nvSpPr>
        <p:spPr/>
        <p:txBody>
          <a:bodyPr/>
          <a:lstStyle/>
          <a:p>
            <a:r>
              <a:rPr lang="en-US" altLang="en-US" dirty="0"/>
              <a:t>Write a method once and reuse it anywhere.</a:t>
            </a:r>
          </a:p>
          <a:p>
            <a:r>
              <a:rPr lang="en-US" altLang="en-US" dirty="0"/>
              <a:t>Information hiding:</a:t>
            </a:r>
          </a:p>
          <a:p>
            <a:pPr lvl="1"/>
            <a:r>
              <a:rPr lang="en-US" altLang="en-US" sz="1800" dirty="0"/>
              <a:t> Hide the implementation from the user.</a:t>
            </a:r>
          </a:p>
          <a:p>
            <a:r>
              <a:rPr lang="en-US" altLang="en-US" dirty="0"/>
              <a:t>Reduces complexity.</a:t>
            </a:r>
          </a:p>
          <a:p>
            <a:endParaRPr lang="en-US" dirty="0"/>
          </a:p>
        </p:txBody>
      </p:sp>
    </p:spTree>
    <p:extLst>
      <p:ext uri="{BB962C8B-B14F-4D97-AF65-F5344CB8AC3E}">
        <p14:creationId xmlns:p14="http://schemas.microsoft.com/office/powerpoint/2010/main" val="4031173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Method Abstraction</a:t>
            </a:r>
            <a:endParaRPr lang="en-US" b="1" dirty="0"/>
          </a:p>
        </p:txBody>
      </p:sp>
      <p:sp>
        <p:nvSpPr>
          <p:cNvPr id="3" name="Text Placeholder 2"/>
          <p:cNvSpPr>
            <a:spLocks noGrp="1"/>
          </p:cNvSpPr>
          <p:nvPr>
            <p:ph type="body" idx="1"/>
          </p:nvPr>
        </p:nvSpPr>
        <p:spPr/>
        <p:txBody>
          <a:bodyPr/>
          <a:lstStyle/>
          <a:p>
            <a:r>
              <a:rPr lang="en-US" altLang="en-US" dirty="0"/>
              <a:t>API = the method body is a black box that contains the detailed implementation for the method.</a:t>
            </a:r>
          </a:p>
          <a:p>
            <a:endParaRPr lang="en-US" dirty="0"/>
          </a:p>
        </p:txBody>
      </p:sp>
      <p:graphicFrame>
        <p:nvGraphicFramePr>
          <p:cNvPr id="4" name="Object 2" descr="Method body is a black box with method header that can have optional arguments for input or return value."/>
          <p:cNvGraphicFramePr>
            <a:graphicFrameLocks noChangeAspect="1"/>
          </p:cNvGraphicFramePr>
          <p:nvPr/>
        </p:nvGraphicFramePr>
        <p:xfrm>
          <a:off x="311700" y="2056656"/>
          <a:ext cx="6112669" cy="2512219"/>
        </p:xfrm>
        <a:graphic>
          <a:graphicData uri="http://schemas.openxmlformats.org/presentationml/2006/ole">
            <mc:AlternateContent xmlns:mc="http://schemas.openxmlformats.org/markup-compatibility/2006">
              <mc:Choice xmlns:v="urn:schemas-microsoft-com:vml" Requires="v">
                <p:oleObj name="Picture" r:id="rId3" imgW="3485388" imgH="1429512" progId="Word.Picture.8">
                  <p:embed/>
                </p:oleObj>
              </mc:Choice>
              <mc:Fallback>
                <p:oleObj name="Picture" r:id="rId3" imgW="3485388" imgH="1429512" progId="Word.Picture.8">
                  <p:embed/>
                  <p:pic>
                    <p:nvPicPr>
                      <p:cNvPr id="4" name="Object 2" descr="Method body is a black box with method header that can have optional arguments for input or return val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700" y="2056656"/>
                        <a:ext cx="6112669" cy="2512219"/>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4035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Courier New" pitchFamily="49" charset="0"/>
              </a:rPr>
              <a:t>Call Stacks</a:t>
            </a:r>
            <a:r>
              <a:rPr lang="en-US" altLang="en-US" b="1" dirty="0"/>
              <a:t> </a:t>
            </a:r>
            <a:endParaRPr lang="en-US" b="1" dirty="0"/>
          </a:p>
        </p:txBody>
      </p:sp>
      <p:sp>
        <p:nvSpPr>
          <p:cNvPr id="3" name="Text Placeholder 2"/>
          <p:cNvSpPr>
            <a:spLocks noGrp="1"/>
          </p:cNvSpPr>
          <p:nvPr>
            <p:ph type="body" idx="1"/>
          </p:nvPr>
        </p:nvSpPr>
        <p:spPr/>
        <p:txBody>
          <a:bodyPr/>
          <a:lstStyle/>
          <a:p>
            <a:r>
              <a:rPr lang="en-US" altLang="en-US" kern="1200" dirty="0">
                <a:solidFill>
                  <a:prstClr val="black"/>
                </a:solidFill>
                <a:latin typeface="+mn-lt"/>
              </a:rPr>
              <a:t>Methods are executed using a </a:t>
            </a:r>
            <a:r>
              <a:rPr lang="en-US" altLang="en-US" b="1" kern="1200" dirty="0">
                <a:solidFill>
                  <a:schemeClr val="tx1"/>
                </a:solidFill>
                <a:latin typeface="+mn-lt"/>
              </a:rPr>
              <a:t>stack</a:t>
            </a:r>
            <a:r>
              <a:rPr lang="en-US" altLang="en-US" kern="1200" dirty="0">
                <a:solidFill>
                  <a:prstClr val="black"/>
                </a:solidFill>
                <a:latin typeface="+mn-lt"/>
              </a:rPr>
              <a:t> data structure</a:t>
            </a:r>
          </a:p>
          <a:p>
            <a:endParaRPr lang="en-US" dirty="0"/>
          </a:p>
        </p:txBody>
      </p:sp>
      <p:graphicFrame>
        <p:nvGraphicFramePr>
          <p:cNvPr id="6" name="Object 2"/>
          <p:cNvGraphicFramePr>
            <a:graphicFrameLocks noChangeAspect="1"/>
          </p:cNvGraphicFramePr>
          <p:nvPr>
            <p:extLst>
              <p:ext uri="{D42A27DB-BD31-4B8C-83A1-F6EECF244321}">
                <p14:modId xmlns:p14="http://schemas.microsoft.com/office/powerpoint/2010/main" val="4022557495"/>
              </p:ext>
            </p:extLst>
          </p:nvPr>
        </p:nvGraphicFramePr>
        <p:xfrm>
          <a:off x="585788" y="1517650"/>
          <a:ext cx="7172325" cy="2921000"/>
        </p:xfrm>
        <a:graphic>
          <a:graphicData uri="http://schemas.openxmlformats.org/presentationml/2006/ole">
            <mc:AlternateContent xmlns:mc="http://schemas.openxmlformats.org/markup-compatibility/2006">
              <mc:Choice xmlns:v="urn:schemas-microsoft-com:vml" Requires="v">
                <p:oleObj name="Picture" r:id="rId3" imgW="5429160" imgH="2209680" progId="Word.Picture.8">
                  <p:embed/>
                </p:oleObj>
              </mc:Choice>
              <mc:Fallback>
                <p:oleObj name="Picture" r:id="rId3" imgW="5429160" imgH="2209680" progId="Word.Picture.8">
                  <p:embed/>
                  <p:pic>
                    <p:nvPicPr>
                      <p:cNvPr id="6" name="Object 2"/>
                      <p:cNvPicPr>
                        <a:picLocks noChangeAspect="1" noChangeArrowheads="1"/>
                      </p:cNvPicPr>
                      <p:nvPr/>
                    </p:nvPicPr>
                    <p:blipFill>
                      <a:blip r:embed="rId4"/>
                      <a:srcRect/>
                      <a:stretch>
                        <a:fillRect/>
                      </a:stretch>
                    </p:blipFill>
                    <p:spPr bwMode="auto">
                      <a:xfrm>
                        <a:off x="585788" y="1517650"/>
                        <a:ext cx="7172325" cy="29210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24652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6" descr="box outlining int i = 5;"/>
          <p:cNvSpPr>
            <a:spLocks noChangeArrowheads="1"/>
          </p:cNvSpPr>
          <p:nvPr/>
        </p:nvSpPr>
        <p:spPr bwMode="auto">
          <a:xfrm>
            <a:off x="1403747" y="1966913"/>
            <a:ext cx="2538413" cy="115491"/>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6" name="AutoShape 7" descr="i is declared and initialized from the statement &quot; int i = 5 ; &quot; under main method&#10;"/>
          <p:cNvSpPr>
            <a:spLocks noChangeArrowheads="1"/>
          </p:cNvSpPr>
          <p:nvPr/>
        </p:nvSpPr>
        <p:spPr bwMode="auto">
          <a:xfrm>
            <a:off x="4485085" y="1102519"/>
            <a:ext cx="2650331" cy="490538"/>
          </a:xfrm>
          <a:prstGeom prst="wedgeRoundRectCallout">
            <a:avLst>
              <a:gd name="adj1" fmla="val -89713"/>
              <a:gd name="adj2" fmla="val 140778"/>
              <a:gd name="adj3" fmla="val 16667"/>
            </a:avLst>
          </a:prstGeom>
          <a:solidFill>
            <a:schemeClr val="bg2">
              <a:alpha val="70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a:solidFill>
                  <a:prstClr val="black"/>
                </a:solidFill>
                <a:ea typeface="+mn-ea"/>
                <a:cs typeface="+mn-cs"/>
              </a:rPr>
              <a:t>i is declared and initialized</a:t>
            </a:r>
          </a:p>
        </p:txBody>
      </p:sp>
      <p:graphicFrame>
        <p:nvGraphicFramePr>
          <p:cNvPr id="7" name="Object 3" descr="the stack displaying &#10;i:5"/>
          <p:cNvGraphicFramePr>
            <a:graphicFrameLocks noChangeAspect="1"/>
          </p:cNvGraphicFramePr>
          <p:nvPr/>
        </p:nvGraphicFramePr>
        <p:xfrm>
          <a:off x="5753100" y="1794272"/>
          <a:ext cx="1372791" cy="2447925"/>
        </p:xfrm>
        <a:graphic>
          <a:graphicData uri="http://schemas.openxmlformats.org/presentationml/2006/ole">
            <mc:AlternateContent xmlns:mc="http://schemas.openxmlformats.org/markup-compatibility/2006">
              <mc:Choice xmlns:v="urn:schemas-microsoft-com:vml" Requires="v">
                <p:oleObj name="Picture" r:id="rId4" imgW="1316736" imgH="2340864" progId="Word.Picture.8">
                  <p:embed/>
                </p:oleObj>
              </mc:Choice>
              <mc:Fallback>
                <p:oleObj name="Picture" r:id="rId4" imgW="1316736" imgH="2340864" progId="Word.Picture.8">
                  <p:embed/>
                  <p:pic>
                    <p:nvPicPr>
                      <p:cNvPr id="7" name="Object 3" descr="the stack displaying &#10;i: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3100" y="1794272"/>
                        <a:ext cx="1372791" cy="2447925"/>
                      </a:xfrm>
                      <a:prstGeom prst="rect">
                        <a:avLst/>
                      </a:prstGeom>
                      <a:solidFill>
                        <a:schemeClr val="bg2">
                          <a:alpha val="70000"/>
                        </a:schemeClr>
                      </a:solidFill>
                      <a:ln>
                        <a:noFill/>
                      </a:ln>
                      <a:effectLst/>
                    </p:spPr>
                  </p:pic>
                </p:oleObj>
              </mc:Fallback>
            </mc:AlternateContent>
          </a:graphicData>
        </a:graphic>
      </p:graphicFrame>
      <p:sp>
        <p:nvSpPr>
          <p:cNvPr id="8" name="Line 10" descr="arrow pointing from &quot; int i = 5 &quot; to &quot; i : 5&quot; at the bottom of the stack"/>
          <p:cNvSpPr>
            <a:spLocks noChangeShapeType="1"/>
          </p:cNvSpPr>
          <p:nvPr/>
        </p:nvSpPr>
        <p:spPr bwMode="auto">
          <a:xfrm>
            <a:off x="3851672" y="2024064"/>
            <a:ext cx="2759521" cy="1382684"/>
          </a:xfrm>
          <a:prstGeom prst="line">
            <a:avLst/>
          </a:prstGeom>
          <a:noFill/>
          <a:ln w="127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latin typeface="Times New Roman" pitchFamily="18" charset="0"/>
              <a:ea typeface="+mn-ea"/>
              <a:cs typeface="+mn-cs"/>
            </a:endParaRPr>
          </a:p>
        </p:txBody>
      </p:sp>
    </p:spTree>
    <p:extLst>
      <p:ext uri="{BB962C8B-B14F-4D97-AF65-F5344CB8AC3E}">
        <p14:creationId xmlns:p14="http://schemas.microsoft.com/office/powerpoint/2010/main" val="2596312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6" descr="box outlining int j = 2;"/>
          <p:cNvSpPr>
            <a:spLocks noChangeArrowheads="1"/>
          </p:cNvSpPr>
          <p:nvPr/>
        </p:nvSpPr>
        <p:spPr bwMode="auto">
          <a:xfrm>
            <a:off x="1403747" y="2101137"/>
            <a:ext cx="2538413" cy="115491"/>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6" name="AutoShape 7" descr="j is declared and initialized from the statement &quot; int j = 5 ; &quot; under main method"/>
          <p:cNvSpPr>
            <a:spLocks noChangeArrowheads="1"/>
          </p:cNvSpPr>
          <p:nvPr/>
        </p:nvSpPr>
        <p:spPr bwMode="auto">
          <a:xfrm>
            <a:off x="4485085" y="1102519"/>
            <a:ext cx="2650331" cy="490538"/>
          </a:xfrm>
          <a:prstGeom prst="wedgeRoundRectCallout">
            <a:avLst>
              <a:gd name="adj1" fmla="val -89713"/>
              <a:gd name="adj2" fmla="val 140778"/>
              <a:gd name="adj3" fmla="val 16667"/>
            </a:avLst>
          </a:prstGeom>
          <a:solidFill>
            <a:schemeClr val="bg2">
              <a:alpha val="70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j is declared and initialized</a:t>
            </a:r>
          </a:p>
        </p:txBody>
      </p:sp>
      <p:graphicFrame>
        <p:nvGraphicFramePr>
          <p:cNvPr id="7" name="Object 3" descr="j:2&#10;i:5&#10;"/>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j:2&#10;i:5&#10;"/>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
        <p:nvSpPr>
          <p:cNvPr id="8" name="Line 10" descr="arrow pointing from &quot; int j = 2 &quot; to &quot; j : 2&quot; at the top of the stack"/>
          <p:cNvSpPr>
            <a:spLocks noChangeShapeType="1"/>
          </p:cNvSpPr>
          <p:nvPr/>
        </p:nvSpPr>
        <p:spPr bwMode="auto">
          <a:xfrm>
            <a:off x="3942160" y="2216628"/>
            <a:ext cx="2819367" cy="1113801"/>
          </a:xfrm>
          <a:prstGeom prst="line">
            <a:avLst/>
          </a:prstGeom>
          <a:noFill/>
          <a:ln w="127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303891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6" descr="box outlining int k"/>
          <p:cNvSpPr>
            <a:spLocks noChangeArrowheads="1"/>
          </p:cNvSpPr>
          <p:nvPr/>
        </p:nvSpPr>
        <p:spPr bwMode="auto">
          <a:xfrm>
            <a:off x="1403748" y="2235361"/>
            <a:ext cx="525720" cy="130334"/>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6" name="AutoShape 7" descr="k is declared from the statement &quot; int k &quot; under main method"/>
          <p:cNvSpPr>
            <a:spLocks noChangeArrowheads="1"/>
          </p:cNvSpPr>
          <p:nvPr/>
        </p:nvSpPr>
        <p:spPr bwMode="auto">
          <a:xfrm>
            <a:off x="4485085" y="1102519"/>
            <a:ext cx="2650331" cy="490538"/>
          </a:xfrm>
          <a:prstGeom prst="wedgeRoundRectCallout">
            <a:avLst>
              <a:gd name="adj1" fmla="val -143522"/>
              <a:gd name="adj2" fmla="val 183532"/>
              <a:gd name="adj3" fmla="val 16667"/>
            </a:avLst>
          </a:prstGeom>
          <a:solidFill>
            <a:schemeClr val="bg2">
              <a:alpha val="70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Declare k</a:t>
            </a:r>
          </a:p>
        </p:txBody>
      </p:sp>
      <p:graphicFrame>
        <p:nvGraphicFramePr>
          <p:cNvPr id="7" name="Object 3" descr="k: &#10;j:2&#10;i:5&#10;&#10;"/>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k: &#10;j:2&#10;i:5&#10;&#10;"/>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
        <p:nvSpPr>
          <p:cNvPr id="8" name="Line 10" descr="arrow pointing from &quot; int k &quot; to &quot; k : &quot; at the top of the stack"/>
          <p:cNvSpPr>
            <a:spLocks noChangeShapeType="1"/>
          </p:cNvSpPr>
          <p:nvPr/>
        </p:nvSpPr>
        <p:spPr bwMode="auto">
          <a:xfrm>
            <a:off x="1929468" y="2365695"/>
            <a:ext cx="4840448" cy="838899"/>
          </a:xfrm>
          <a:prstGeom prst="line">
            <a:avLst/>
          </a:prstGeom>
          <a:noFill/>
          <a:ln w="127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228150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6" descr="box outlining max(i,j);"/>
          <p:cNvSpPr>
            <a:spLocks noChangeArrowheads="1"/>
          </p:cNvSpPr>
          <p:nvPr/>
        </p:nvSpPr>
        <p:spPr bwMode="auto">
          <a:xfrm>
            <a:off x="2058089" y="2235361"/>
            <a:ext cx="861279" cy="130334"/>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6" name="AutoShape 7" descr="max(i,j) is invoked from the statement &quot; max(i,j) ; &quot; under main method"/>
          <p:cNvSpPr>
            <a:spLocks noChangeArrowheads="1"/>
          </p:cNvSpPr>
          <p:nvPr/>
        </p:nvSpPr>
        <p:spPr bwMode="auto">
          <a:xfrm>
            <a:off x="4485085" y="1102519"/>
            <a:ext cx="2650331" cy="490538"/>
          </a:xfrm>
          <a:prstGeom prst="wedgeRoundRectCallout">
            <a:avLst>
              <a:gd name="adj1" fmla="val -106489"/>
              <a:gd name="adj2" fmla="val 188663"/>
              <a:gd name="adj3" fmla="val 16667"/>
            </a:avLst>
          </a:prstGeom>
          <a:solidFill>
            <a:schemeClr val="bg2">
              <a:alpha val="70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Invoke max(</a:t>
            </a:r>
            <a:r>
              <a:rPr lang="en-US" altLang="en-US" sz="1350" kern="1200" dirty="0" err="1">
                <a:solidFill>
                  <a:prstClr val="black"/>
                </a:solidFill>
                <a:ea typeface="+mn-ea"/>
                <a:cs typeface="+mn-cs"/>
              </a:rPr>
              <a:t>i</a:t>
            </a:r>
            <a:r>
              <a:rPr lang="en-US" altLang="en-US" sz="1350" kern="1200" dirty="0">
                <a:solidFill>
                  <a:prstClr val="black"/>
                </a:solidFill>
                <a:ea typeface="+mn-ea"/>
                <a:cs typeface="+mn-cs"/>
              </a:rPr>
              <a:t>, j)</a:t>
            </a:r>
          </a:p>
        </p:txBody>
      </p:sp>
      <p:graphicFrame>
        <p:nvGraphicFramePr>
          <p:cNvPr id="7" name="Object 3" descr="k: &#10;j:2&#10;i:5&#10;"/>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k: &#10;j:2&#10;i:5&#10;"/>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
        <p:nvSpPr>
          <p:cNvPr id="8" name="Line 10" descr="arrow pointing from &quot; max(i,j) &quot; to the max method"/>
          <p:cNvSpPr>
            <a:spLocks noChangeShapeType="1"/>
          </p:cNvSpPr>
          <p:nvPr/>
        </p:nvSpPr>
        <p:spPr bwMode="auto">
          <a:xfrm>
            <a:off x="2516696" y="2365696"/>
            <a:ext cx="755009" cy="838898"/>
          </a:xfrm>
          <a:prstGeom prst="line">
            <a:avLst/>
          </a:prstGeom>
          <a:noFill/>
          <a:ln w="127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2489557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AutoShape 7" descr="the max method pass the value of i and j to num1 and num2"/>
          <p:cNvSpPr>
            <a:spLocks noChangeArrowheads="1"/>
          </p:cNvSpPr>
          <p:nvPr/>
        </p:nvSpPr>
        <p:spPr bwMode="auto">
          <a:xfrm>
            <a:off x="4476555" y="1162228"/>
            <a:ext cx="2650331" cy="490538"/>
          </a:xfrm>
          <a:prstGeom prst="wedgeRoundRectCallout">
            <a:avLst>
              <a:gd name="adj1" fmla="val -49198"/>
              <a:gd name="adj2" fmla="val 373360"/>
              <a:gd name="adj3" fmla="val 16667"/>
            </a:avLst>
          </a:prstGeom>
          <a:solidFill>
            <a:schemeClr val="bg2">
              <a:alpha val="70000"/>
            </a:schemeClr>
          </a:solidFill>
          <a:ln w="12700">
            <a:solidFill>
              <a:schemeClr val="tx1"/>
            </a:solidFill>
            <a:miter lim="800000"/>
            <a:headEnd type="none" w="sm" len="sm"/>
            <a:tailEnd type="none" w="sm" len="sm"/>
          </a:ln>
        </p:spPr>
        <p:txBody>
          <a:bodyPr lIns="91440" tIns="45720" rIns="91440" bIns="45720" anchor="t"/>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Pass the value of </a:t>
            </a:r>
            <a:r>
              <a:rPr lang="en-US" altLang="en-US" sz="1350" kern="1200" dirty="0" err="1">
                <a:solidFill>
                  <a:prstClr val="black"/>
                </a:solidFill>
                <a:ea typeface="+mn-ea"/>
                <a:cs typeface="+mn-cs"/>
              </a:rPr>
              <a:t>i</a:t>
            </a:r>
            <a:r>
              <a:rPr lang="en-US" altLang="en-US" sz="1350" kern="1200" dirty="0">
                <a:solidFill>
                  <a:prstClr val="black"/>
                </a:solidFill>
                <a:ea typeface="+mn-ea"/>
                <a:cs typeface="+mn-cs"/>
              </a:rPr>
              <a:t> and j to num1 and num2</a:t>
            </a:r>
          </a:p>
        </p:txBody>
      </p:sp>
      <p:graphicFrame>
        <p:nvGraphicFramePr>
          <p:cNvPr id="7" name="Object 3" descr="num2:2&#10;num1:5&#10;&#10;space required for the main method&#10;k:&#10;j:2&#10;i:5"/>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num2:2&#10;num1:5&#10;&#10;space required for the main method&#10;k:&#10;j:2&#10;i:5"/>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
        <p:nvSpPr>
          <p:cNvPr id="9" name="Rectangle 6" descr="box outlining max(int num1, int num2)"/>
          <p:cNvSpPr>
            <a:spLocks noChangeArrowheads="1"/>
          </p:cNvSpPr>
          <p:nvPr/>
        </p:nvSpPr>
        <p:spPr bwMode="auto">
          <a:xfrm>
            <a:off x="2713828" y="3246617"/>
            <a:ext cx="1833005" cy="167702"/>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Tree>
    <p:extLst>
      <p:ext uri="{BB962C8B-B14F-4D97-AF65-F5344CB8AC3E}">
        <p14:creationId xmlns:p14="http://schemas.microsoft.com/office/powerpoint/2010/main" val="1285643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AutoShape 7" descr="the max method pass the value of i and j to num1 and num2"/>
          <p:cNvSpPr>
            <a:spLocks noChangeArrowheads="1"/>
          </p:cNvSpPr>
          <p:nvPr/>
        </p:nvSpPr>
        <p:spPr bwMode="auto">
          <a:xfrm>
            <a:off x="4485085" y="1102519"/>
            <a:ext cx="2650331" cy="490538"/>
          </a:xfrm>
          <a:prstGeom prst="wedgeRoundRectCallout">
            <a:avLst>
              <a:gd name="adj1" fmla="val -95411"/>
              <a:gd name="adj2" fmla="val 409273"/>
              <a:gd name="adj3" fmla="val 16667"/>
            </a:avLst>
          </a:prstGeom>
          <a:solidFill>
            <a:schemeClr val="bg2">
              <a:alpha val="70000"/>
            </a:schemeClr>
          </a:solidFill>
          <a:ln w="12700">
            <a:solidFill>
              <a:schemeClr val="tx1"/>
            </a:solidFill>
            <a:miter lim="800000"/>
            <a:headEnd type="none" w="sm" len="sm"/>
            <a:tailEnd type="none" w="sm" len="sm"/>
          </a:ln>
        </p:spPr>
        <p:txBody>
          <a:bodyPr lIns="91440" tIns="45720" rIns="91440" bIns="45720" anchor="t"/>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Pass the value of </a:t>
            </a:r>
            <a:r>
              <a:rPr lang="en-US" altLang="en-US" sz="1350" kern="1200" dirty="0" err="1">
                <a:solidFill>
                  <a:prstClr val="black"/>
                </a:solidFill>
                <a:ea typeface="+mn-ea"/>
                <a:cs typeface="+mn-cs"/>
              </a:rPr>
              <a:t>i</a:t>
            </a:r>
            <a:r>
              <a:rPr lang="en-US" altLang="en-US" sz="1350" kern="1200" dirty="0">
                <a:solidFill>
                  <a:prstClr val="black"/>
                </a:solidFill>
                <a:ea typeface="+mn-ea"/>
                <a:cs typeface="+mn-cs"/>
              </a:rPr>
              <a:t> and j to num1 and num2</a:t>
            </a:r>
          </a:p>
        </p:txBody>
      </p:sp>
      <p:graphicFrame>
        <p:nvGraphicFramePr>
          <p:cNvPr id="7" name="Object 3" descr="result:&#10;num2:2&#10;num1:5&#10;&#10;space required for the main method&#10;k:&#10;j:2&#10;i:5"/>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result:&#10;num2:2&#10;num1:5&#10;&#10;space required for the main method&#10;k:&#10;j:2&#10;i:5"/>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
        <p:nvSpPr>
          <p:cNvPr id="9" name="Rectangle 6" descr="box outlining int result;"/>
          <p:cNvSpPr>
            <a:spLocks noChangeArrowheads="1"/>
          </p:cNvSpPr>
          <p:nvPr/>
        </p:nvSpPr>
        <p:spPr bwMode="auto">
          <a:xfrm>
            <a:off x="1396756" y="3347285"/>
            <a:ext cx="1833005" cy="167702"/>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10" name="Line 9" descr="arrow pointing from &quot; int result; &quot; to &quot; result: &quot; at the top of the stack"/>
          <p:cNvSpPr>
            <a:spLocks noChangeShapeType="1"/>
          </p:cNvSpPr>
          <p:nvPr/>
        </p:nvSpPr>
        <p:spPr bwMode="auto">
          <a:xfrm flipV="1">
            <a:off x="3229762" y="2617365"/>
            <a:ext cx="3171038" cy="822121"/>
          </a:xfrm>
          <a:prstGeom prst="line">
            <a:avLst/>
          </a:prstGeom>
          <a:noFill/>
          <a:ln w="127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758632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AutoShape 7" descr="the conditional of &quot; if (num1 &gt; num2)&quot; is true in this case"/>
          <p:cNvSpPr>
            <a:spLocks noChangeArrowheads="1"/>
          </p:cNvSpPr>
          <p:nvPr/>
        </p:nvSpPr>
        <p:spPr bwMode="auto">
          <a:xfrm>
            <a:off x="4485085" y="1102519"/>
            <a:ext cx="2650331" cy="490538"/>
          </a:xfrm>
          <a:prstGeom prst="wedgeRoundRectCallout">
            <a:avLst>
              <a:gd name="adj1" fmla="val -95411"/>
              <a:gd name="adj2" fmla="val 448607"/>
              <a:gd name="adj3" fmla="val 16667"/>
            </a:avLst>
          </a:prstGeom>
          <a:solidFill>
            <a:schemeClr val="bg2">
              <a:alpha val="70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(num1 &gt; num2) is true</a:t>
            </a:r>
          </a:p>
        </p:txBody>
      </p:sp>
      <p:graphicFrame>
        <p:nvGraphicFramePr>
          <p:cNvPr id="7" name="Object 3" descr="result:&#10;num2:2&#10;num1:5&#10;&#10;space required for the main method&#10;k:&#10;j:2&#10;i:5"/>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result:&#10;num2:2&#10;num1:5&#10;&#10;space required for the main method&#10;k:&#10;j:2&#10;i:5"/>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
        <p:nvSpPr>
          <p:cNvPr id="9" name="Rectangle 6" descr="box outlining if (num1 &gt; num2)"/>
          <p:cNvSpPr>
            <a:spLocks noChangeArrowheads="1"/>
          </p:cNvSpPr>
          <p:nvPr/>
        </p:nvSpPr>
        <p:spPr bwMode="auto">
          <a:xfrm>
            <a:off x="1396756" y="3615733"/>
            <a:ext cx="1833005" cy="167702"/>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Tree>
    <p:extLst>
      <p:ext uri="{BB962C8B-B14F-4D97-AF65-F5344CB8AC3E}">
        <p14:creationId xmlns:p14="http://schemas.microsoft.com/office/powerpoint/2010/main" val="1971816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AutoShape 7" descr="result = num1; assigned num1 to result"/>
          <p:cNvSpPr>
            <a:spLocks noChangeArrowheads="1"/>
          </p:cNvSpPr>
          <p:nvPr/>
        </p:nvSpPr>
        <p:spPr bwMode="auto">
          <a:xfrm>
            <a:off x="4485085" y="1102519"/>
            <a:ext cx="2650331" cy="490538"/>
          </a:xfrm>
          <a:prstGeom prst="wedgeRoundRectCallout">
            <a:avLst>
              <a:gd name="adj1" fmla="val -90347"/>
              <a:gd name="adj2" fmla="val 479390"/>
              <a:gd name="adj3" fmla="val 16667"/>
            </a:avLst>
          </a:prstGeom>
          <a:solidFill>
            <a:schemeClr val="bg2">
              <a:alpha val="70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Assign num1 to result</a:t>
            </a:r>
          </a:p>
        </p:txBody>
      </p:sp>
      <p:graphicFrame>
        <p:nvGraphicFramePr>
          <p:cNvPr id="7" name="Object 3" descr="space required for the max method&#10;result:5&#10;num2:2&#10;num1:5&#10;&#10;space required for the main method&#10;k:&#10;j:2&#10;i:5"/>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space required for the max method&#10;result:5&#10;num2:2&#10;num1:5&#10;&#10;space required for the main method&#10;k:&#10;j:2&#10;i:5"/>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
        <p:nvSpPr>
          <p:cNvPr id="9" name="Rectangle 6" descr="box outlining result = num1;"/>
          <p:cNvSpPr>
            <a:spLocks noChangeArrowheads="1"/>
          </p:cNvSpPr>
          <p:nvPr/>
        </p:nvSpPr>
        <p:spPr bwMode="auto">
          <a:xfrm>
            <a:off x="1614870" y="3758346"/>
            <a:ext cx="1833005" cy="142535"/>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8" name="Line 9" descr="arrow pointing from &quot;result = num1 &quot; to &quot; result : 5&quot; at the top of the stack"/>
          <p:cNvSpPr>
            <a:spLocks noChangeShapeType="1"/>
          </p:cNvSpPr>
          <p:nvPr/>
        </p:nvSpPr>
        <p:spPr bwMode="auto">
          <a:xfrm flipV="1">
            <a:off x="3447875" y="2613727"/>
            <a:ext cx="2936741" cy="1141282"/>
          </a:xfrm>
          <a:prstGeom prst="line">
            <a:avLst/>
          </a:prstGeom>
          <a:noFill/>
          <a:ln w="127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3412579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AutoShape 7" descr="return result; returns the result and assign it to k"/>
          <p:cNvSpPr>
            <a:spLocks noChangeArrowheads="1"/>
          </p:cNvSpPr>
          <p:nvPr/>
        </p:nvSpPr>
        <p:spPr bwMode="auto">
          <a:xfrm>
            <a:off x="4485085" y="1102519"/>
            <a:ext cx="2650331" cy="490538"/>
          </a:xfrm>
          <a:prstGeom prst="wedgeRoundRectCallout">
            <a:avLst>
              <a:gd name="adj1" fmla="val -96678"/>
              <a:gd name="adj2" fmla="val 585420"/>
              <a:gd name="adj3" fmla="val 16667"/>
            </a:avLst>
          </a:prstGeom>
          <a:solidFill>
            <a:schemeClr val="bg2">
              <a:alpha val="70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return result and assign it to k</a:t>
            </a:r>
          </a:p>
        </p:txBody>
      </p:sp>
      <p:graphicFrame>
        <p:nvGraphicFramePr>
          <p:cNvPr id="7" name="Object 3" descr="space required for the max method&#10;result:5&#10;num2:2&#10;num1:5&#10;&#10;space required for the main method&#10;k:5&#10;j:2&#10;i:5"/>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space required for the max method&#10;result:5&#10;num2:2&#10;num1:5&#10;&#10;space required for the main method&#10;k:5&#10;j:2&#10;i:5"/>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
        <p:nvSpPr>
          <p:cNvPr id="9" name="Rectangle 6" descr="box outlining return result;"/>
          <p:cNvSpPr>
            <a:spLocks noChangeArrowheads="1"/>
          </p:cNvSpPr>
          <p:nvPr/>
        </p:nvSpPr>
        <p:spPr bwMode="auto">
          <a:xfrm>
            <a:off x="1447090" y="4295242"/>
            <a:ext cx="1833005" cy="142535"/>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8" name="Line 9" descr="arrow pointing from &quot; return result; &quot; to &quot; k:5 &quot; at the top of the main method stack"/>
          <p:cNvSpPr>
            <a:spLocks noChangeShapeType="1"/>
          </p:cNvSpPr>
          <p:nvPr/>
        </p:nvSpPr>
        <p:spPr bwMode="auto">
          <a:xfrm flipV="1">
            <a:off x="3280095" y="3271705"/>
            <a:ext cx="3288485" cy="1021637"/>
          </a:xfrm>
          <a:prstGeom prst="line">
            <a:avLst/>
          </a:prstGeom>
          <a:noFill/>
          <a:ln w="127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
        <p:nvSpPr>
          <p:cNvPr id="10" name="Line 9" descr="arrow pointing from &quot; return result; &quot; in the max method to &quot; int k = max(i,j)&quot; in the main method"/>
          <p:cNvSpPr>
            <a:spLocks noChangeShapeType="1"/>
          </p:cNvSpPr>
          <p:nvPr/>
        </p:nvSpPr>
        <p:spPr bwMode="auto">
          <a:xfrm flipH="1" flipV="1">
            <a:off x="1870746" y="2357306"/>
            <a:ext cx="1216403" cy="1936036"/>
          </a:xfrm>
          <a:prstGeom prst="line">
            <a:avLst/>
          </a:prstGeom>
          <a:noFill/>
          <a:ln w="127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3148105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Trace Call Stack</a:t>
            </a:r>
            <a:endParaRPr lang="en-US" b="1" dirty="0"/>
          </a:p>
        </p:txBody>
      </p:sp>
      <p:graphicFrame>
        <p:nvGraphicFrame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GraphicFramePr>
            <a:graphicFrameLocks noChangeAspect="1"/>
          </p:cNvGraphicFramePr>
          <p:nvPr/>
        </p:nvGraphicFramePr>
        <p:xfrm>
          <a:off x="1231106" y="1621632"/>
          <a:ext cx="3658791" cy="3064669"/>
        </p:xfrm>
        <a:graphic>
          <a:graphicData uri="http://schemas.openxmlformats.org/presentationml/2006/ole">
            <mc:AlternateContent xmlns:mc="http://schemas.openxmlformats.org/markup-compatibility/2006">
              <mc:Choice xmlns:v="urn:schemas-microsoft-com:vml" Requires="v">
                <p:oleObj name="Picture" r:id="rId2" imgW="2116836" imgH="1769364" progId="Word.Picture.8">
                  <p:embed/>
                </p:oleObj>
              </mc:Choice>
              <mc:Fallback>
                <p:oleObj name="Picture" r:id="rId2" imgW="2116836" imgH="1769364" progId="Word.Picture.8">
                  <p:embed/>
                  <p:pic>
                    <p:nvPicPr>
                      <p:cNvPr id="4" name="Object 2" descr="public static void main(String[] args) {&#10;int i = 5;&#10;int j = 2;&#10;int k = max(i,j);&#10; &#10;system.out.println(&#10; &quot;The maximum between &quot; + i + &quot; and &quot; + j + &quot; is &quot; + k);&#10;}&#10;&#10;public static int max(int num1, int num2) {&#10;int result;&#10;&#10;if (num1 &gt; num2) &#10;result = num1;&#10;else &#10;result = num2;&#10;&#10;return resul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106" y="1621632"/>
                        <a:ext cx="3658791"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6" descr="box outlining system.out.println( &quot;The Maximum between &quot; + i + &quot; and &quot; + j + &quot; is &quot; + k);"/>
          <p:cNvSpPr>
            <a:spLocks noChangeArrowheads="1"/>
          </p:cNvSpPr>
          <p:nvPr/>
        </p:nvSpPr>
        <p:spPr bwMode="auto">
          <a:xfrm>
            <a:off x="1420526" y="2495420"/>
            <a:ext cx="2624974" cy="432338"/>
          </a:xfrm>
          <a:prstGeom prst="rect">
            <a:avLst/>
          </a:prstGeom>
          <a:no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0" fontAlgn="base" hangingPunct="0">
              <a:spcBef>
                <a:spcPct val="0"/>
              </a:spcBef>
              <a:spcAft>
                <a:spcPct val="0"/>
              </a:spcAft>
              <a:buClrTx/>
              <a:buFontTx/>
              <a:buNone/>
            </a:pPr>
            <a:endParaRPr lang="en-US" altLang="en-US" sz="1200" kern="1200">
              <a:solidFill>
                <a:prstClr val="black"/>
              </a:solidFill>
              <a:ea typeface="+mn-ea"/>
              <a:cs typeface="+mn-cs"/>
            </a:endParaRPr>
          </a:p>
        </p:txBody>
      </p:sp>
      <p:sp>
        <p:nvSpPr>
          <p:cNvPr id="6" name="AutoShape 7" descr="System.out.println( &quot;The maximum between &quot; + i + &quot; and &quot; + j + &quot; is &quot; + k); execute the print statement"/>
          <p:cNvSpPr>
            <a:spLocks noChangeArrowheads="1"/>
          </p:cNvSpPr>
          <p:nvPr/>
        </p:nvSpPr>
        <p:spPr bwMode="auto">
          <a:xfrm>
            <a:off x="4485085" y="1102519"/>
            <a:ext cx="2650331" cy="490538"/>
          </a:xfrm>
          <a:prstGeom prst="wedgeRoundRectCallout">
            <a:avLst>
              <a:gd name="adj1" fmla="val -71671"/>
              <a:gd name="adj2" fmla="val 227996"/>
              <a:gd name="adj3" fmla="val 16667"/>
            </a:avLst>
          </a:prstGeom>
          <a:solidFill>
            <a:schemeClr val="bg2">
              <a:alpha val="70000"/>
            </a:schemeClr>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eaLnBrk="0" fontAlgn="base" hangingPunct="0">
              <a:spcBef>
                <a:spcPct val="0"/>
              </a:spcBef>
              <a:spcAft>
                <a:spcPct val="0"/>
              </a:spcAft>
              <a:buClrTx/>
              <a:buFontTx/>
              <a:buNone/>
            </a:pPr>
            <a:r>
              <a:rPr lang="en-US" altLang="en-US" sz="1350" kern="1200" dirty="0">
                <a:solidFill>
                  <a:prstClr val="black"/>
                </a:solidFill>
                <a:ea typeface="+mn-ea"/>
                <a:cs typeface="+mn-cs"/>
              </a:rPr>
              <a:t>Execute print statement</a:t>
            </a:r>
          </a:p>
        </p:txBody>
      </p:sp>
      <p:graphicFrame>
        <p:nvGraphicFramePr>
          <p:cNvPr id="7" name="Object 3" descr="space required for the main method&#10;k:&#10;j:2&#10;i:5"/>
          <p:cNvGraphicFramePr>
            <a:graphicFrameLocks noChangeAspect="1"/>
          </p:cNvGraphicFramePr>
          <p:nvPr/>
        </p:nvGraphicFramePr>
        <p:xfrm>
          <a:off x="5753100" y="1793875"/>
          <a:ext cx="1371600" cy="2449513"/>
        </p:xfrm>
        <a:graphic>
          <a:graphicData uri="http://schemas.openxmlformats.org/presentationml/2006/ole">
            <mc:AlternateContent xmlns:mc="http://schemas.openxmlformats.org/markup-compatibility/2006">
              <mc:Choice xmlns:v="urn:schemas-microsoft-com:vml" Requires="v">
                <p:oleObj name="Picture" r:id="rId4" imgW="1314360" imgH="2343240" progId="Word.Picture.8">
                  <p:embed/>
                </p:oleObj>
              </mc:Choice>
              <mc:Fallback>
                <p:oleObj name="Picture" r:id="rId4" imgW="1314360" imgH="2343240" progId="Word.Picture.8">
                  <p:embed/>
                  <p:pic>
                    <p:nvPicPr>
                      <p:cNvPr id="7" name="Object 3" descr="space required for the main method&#10;k:&#10;j:2&#10;i:5"/>
                      <p:cNvPicPr>
                        <a:picLocks noChangeAspect="1" noChangeArrowheads="1"/>
                      </p:cNvPicPr>
                      <p:nvPr/>
                    </p:nvPicPr>
                    <p:blipFill>
                      <a:blip r:embed="rId5"/>
                      <a:srcRect/>
                      <a:stretch>
                        <a:fillRect/>
                      </a:stretch>
                    </p:blipFill>
                    <p:spPr bwMode="auto">
                      <a:xfrm>
                        <a:off x="5753100" y="1793875"/>
                        <a:ext cx="1371600" cy="2449513"/>
                      </a:xfrm>
                      <a:prstGeom prst="rect">
                        <a:avLst/>
                      </a:prstGeom>
                      <a:solidFill>
                        <a:schemeClr val="bg2">
                          <a:alpha val="70000"/>
                        </a:schemeClr>
                      </a:solidFill>
                      <a:ln>
                        <a:noFill/>
                      </a:ln>
                      <a:effectLst/>
                    </p:spPr>
                  </p:pic>
                </p:oleObj>
              </mc:Fallback>
            </mc:AlternateContent>
          </a:graphicData>
        </a:graphic>
      </p:graphicFrame>
    </p:spTree>
    <p:extLst>
      <p:ext uri="{BB962C8B-B14F-4D97-AF65-F5344CB8AC3E}">
        <p14:creationId xmlns:p14="http://schemas.microsoft.com/office/powerpoint/2010/main" val="3076338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Call-by-value</a:t>
            </a:r>
          </a:p>
        </p:txBody>
      </p:sp>
      <p:sp>
        <p:nvSpPr>
          <p:cNvPr id="3" name="Text Placeholder 2"/>
          <p:cNvSpPr>
            <a:spLocks noGrp="1"/>
          </p:cNvSpPr>
          <p:nvPr>
            <p:ph type="body" idx="1"/>
          </p:nvPr>
        </p:nvSpPr>
        <p:spPr/>
        <p:txBody>
          <a:bodyPr/>
          <a:lstStyle/>
          <a:p>
            <a:r>
              <a:rPr lang="en-US" altLang="en-US" dirty="0"/>
              <a:t>Method formal arguments are </a:t>
            </a:r>
            <a:r>
              <a:rPr lang="en-US" altLang="en-US" b="1" dirty="0"/>
              <a:t>copies of the original data</a:t>
            </a:r>
            <a:r>
              <a:rPr lang="en-US" altLang="en-US" dirty="0"/>
              <a:t>.</a:t>
            </a:r>
          </a:p>
          <a:p>
            <a:r>
              <a:rPr lang="en-US" altLang="en-US" dirty="0"/>
              <a:t>Consequence? </a:t>
            </a:r>
          </a:p>
          <a:p>
            <a:r>
              <a:rPr lang="en-US" altLang="en-US" dirty="0"/>
              <a:t>methods cannot assign ( “=” ) new values to primitive type formal arguments and affect the original passed variables.</a:t>
            </a:r>
          </a:p>
          <a:p>
            <a:r>
              <a:rPr lang="en-US" altLang="en-US" dirty="0"/>
              <a:t>Why? </a:t>
            </a:r>
          </a:p>
          <a:p>
            <a:r>
              <a:rPr lang="en-US" altLang="en-US" dirty="0"/>
              <a:t>changing argument values changes the copy, not the original.</a:t>
            </a:r>
            <a:endParaRPr lang="en-US" dirty="0"/>
          </a:p>
        </p:txBody>
      </p:sp>
    </p:spTree>
    <p:extLst>
      <p:ext uri="{BB962C8B-B14F-4D97-AF65-F5344CB8AC3E}">
        <p14:creationId xmlns:p14="http://schemas.microsoft.com/office/powerpoint/2010/main" val="1641547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Call-by-value: Stacks</a:t>
            </a:r>
          </a:p>
        </p:txBody>
      </p:sp>
      <p:graphicFrame>
        <p:nvGraphicFramePr>
          <p:cNvPr id="5" name="Object 2" descr="The main method is invoked so the stack will have space required for the main method for example &#10;num2:2 &#10;num1:1&#10;&#10;When the swap method is invoked, there will be space required for the swap method on top of the space for the main method. The swap method might have something like the following &#10;temp:&#10;n2:2&#10;n1:1&#10;&#10;the values of num1 and num2 are passed to n1 and n2. Executing swap does not affect num1 and num2.&#10;&#10;When the swap method is finished, the space for the swap method would not be required in the stack.&#10;&#10;When the main method is finished, the space would not be required for the main method and so the stack would be empty."/>
          <p:cNvGraphicFramePr>
            <a:graphicFrameLocks noChangeAspect="1"/>
          </p:cNvGraphicFramePr>
          <p:nvPr/>
        </p:nvGraphicFramePr>
        <p:xfrm>
          <a:off x="311700" y="1249714"/>
          <a:ext cx="6572250" cy="2838450"/>
        </p:xfrm>
        <a:graphic>
          <a:graphicData uri="http://schemas.openxmlformats.org/presentationml/2006/ole">
            <mc:AlternateContent xmlns:mc="http://schemas.openxmlformats.org/markup-compatibility/2006">
              <mc:Choice xmlns:v="urn:schemas-microsoft-com:vml" Requires="v">
                <p:oleObj r:id="rId2" imgW="5430012" imgH="2343912" progId="Word.Picture.8">
                  <p:embed/>
                </p:oleObj>
              </mc:Choice>
              <mc:Fallback>
                <p:oleObj r:id="rId2" imgW="5430012" imgH="2343912" progId="Word.Picture.8">
                  <p:embed/>
                  <p:pic>
                    <p:nvPicPr>
                      <p:cNvPr id="5" name="Object 2" descr="The main method is invoked so the stack will have space required for the main method for example &#10;num2:2 &#10;num1:1&#10;&#10;When the swap method is invoked, there will be space required for the swap method on top of the space for the main method. The swap method might have something like the following &#10;temp:&#10;n2:2&#10;n1:1&#10;&#10;the values of num1 and num2 are passed to n1 and n2. Executing swap does not affect num1 and num2.&#10;&#10;When the swap method is finished, the space for the swap method would not be required in the stack.&#10;&#10;When the main method is finished, the space would not be required for the main method and so the stack would be emp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00" y="1249714"/>
                        <a:ext cx="6572250" cy="283845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977549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Overloading</a:t>
            </a:r>
          </a:p>
        </p:txBody>
      </p:sp>
      <p:sp>
        <p:nvSpPr>
          <p:cNvPr id="3" name="Text Placeholder 2"/>
          <p:cNvSpPr>
            <a:spLocks noGrp="1"/>
          </p:cNvSpPr>
          <p:nvPr>
            <p:ph type="body" idx="1"/>
          </p:nvPr>
        </p:nvSpPr>
        <p:spPr>
          <a:xfrm>
            <a:off x="311700" y="1152474"/>
            <a:ext cx="3564385" cy="1946775"/>
          </a:xfrm>
        </p:spPr>
        <p:txBody>
          <a:bodyPr>
            <a:noAutofit/>
          </a:bodyPr>
          <a:lstStyle/>
          <a:p>
            <a:r>
              <a:rPr lang="en-US" dirty="0"/>
              <a:t>Method overloading is the ability to create multiple methods of the same name with different implementations/Signature.</a:t>
            </a:r>
          </a:p>
        </p:txBody>
      </p:sp>
      <p:sp>
        <p:nvSpPr>
          <p:cNvPr id="4" name="Rectangle 3">
            <a:extLst>
              <a:ext uri="{FF2B5EF4-FFF2-40B4-BE49-F238E27FC236}">
                <a16:creationId xmlns:a16="http://schemas.microsoft.com/office/drawing/2014/main" id="{B1FE624C-65C5-4D2B-AF87-4B6EF11D85E3}"/>
              </a:ext>
            </a:extLst>
          </p:cNvPr>
          <p:cNvSpPr/>
          <p:nvPr/>
        </p:nvSpPr>
        <p:spPr>
          <a:xfrm>
            <a:off x="3989373" y="1017725"/>
            <a:ext cx="4936142" cy="3739485"/>
          </a:xfrm>
          <a:prstGeom prst="rect">
            <a:avLst/>
          </a:prstGeom>
        </p:spPr>
        <p:txBody>
          <a:bodyPr wrap="square" lIns="91440" tIns="45720" rIns="91440" bIns="45720" anchor="t">
            <a:spAutoFit/>
          </a:bodyPr>
          <a:lstStyle/>
          <a:p>
            <a:pPr eaLnBrk="0" fontAlgn="base" hangingPunct="0">
              <a:spcBef>
                <a:spcPct val="0"/>
              </a:spcBef>
              <a:spcAft>
                <a:spcPct val="0"/>
              </a:spcAft>
              <a:buClrTx/>
              <a:buFontTx/>
              <a:buNone/>
            </a:pPr>
            <a:r>
              <a:rPr lang="en-US" sz="1500" b="1" kern="1200" dirty="0">
                <a:solidFill>
                  <a:schemeClr val="tx1"/>
                </a:solidFill>
                <a:latin typeface="Consolas"/>
                <a:ea typeface="+mn-ea"/>
                <a:cs typeface="+mn-cs"/>
              </a:rPr>
              <a:t>// Overload the name max for different invocations</a:t>
            </a:r>
          </a:p>
          <a:p>
            <a:pPr eaLnBrk="0" fontAlgn="base" hangingPunct="0">
              <a:spcBef>
                <a:spcPct val="0"/>
              </a:spcBef>
              <a:spcAft>
                <a:spcPct val="0"/>
              </a:spcAft>
              <a:buClrTx/>
              <a:buFontTx/>
              <a:buNone/>
            </a:pPr>
            <a:r>
              <a:rPr lang="en-US" sz="1500" b="1" kern="1200" dirty="0">
                <a:solidFill>
                  <a:srgbClr val="7F0055"/>
                </a:solidFill>
                <a:latin typeface="Consolas"/>
                <a:ea typeface="+mn-ea"/>
                <a:cs typeface="+mn-cs"/>
              </a:rPr>
              <a:t>public</a:t>
            </a:r>
            <a:r>
              <a:rPr lang="en-US" sz="1500" b="1" kern="1200" dirty="0">
                <a:latin typeface="Consolas"/>
                <a:ea typeface="+mn-ea"/>
                <a:cs typeface="+mn-cs"/>
              </a:rPr>
              <a:t> </a:t>
            </a:r>
            <a:r>
              <a:rPr lang="en-US" sz="1500" b="1" kern="1200" dirty="0">
                <a:solidFill>
                  <a:srgbClr val="7F0055"/>
                </a:solidFill>
                <a:latin typeface="Consolas"/>
                <a:ea typeface="+mn-ea"/>
                <a:cs typeface="+mn-cs"/>
              </a:rPr>
              <a:t>static</a:t>
            </a:r>
            <a:r>
              <a:rPr lang="en-US" sz="1500" b="1" kern="1200" dirty="0">
                <a:latin typeface="Consolas"/>
                <a:ea typeface="+mn-ea"/>
                <a:cs typeface="+mn-cs"/>
              </a:rPr>
              <a:t> </a:t>
            </a:r>
            <a:r>
              <a:rPr lang="en-US" sz="1500" b="1" kern="1200" dirty="0">
                <a:solidFill>
                  <a:srgbClr val="7F0055"/>
                </a:solidFill>
                <a:latin typeface="Consolas"/>
                <a:ea typeface="+mn-ea"/>
                <a:cs typeface="+mn-cs"/>
              </a:rPr>
              <a:t>int</a:t>
            </a:r>
            <a:r>
              <a:rPr lang="en-US" sz="1500" b="1" kern="1200" dirty="0">
                <a:latin typeface="Consolas"/>
                <a:ea typeface="+mn-ea"/>
                <a:cs typeface="+mn-cs"/>
              </a:rPr>
              <a:t> max(</a:t>
            </a:r>
            <a:r>
              <a:rPr lang="en-US" sz="1500" b="1" kern="1200" dirty="0">
                <a:solidFill>
                  <a:srgbClr val="7F0055"/>
                </a:solidFill>
                <a:latin typeface="Consolas"/>
                <a:ea typeface="+mn-ea"/>
                <a:cs typeface="+mn-cs"/>
              </a:rPr>
              <a:t>int</a:t>
            </a:r>
            <a:r>
              <a:rPr lang="en-US" sz="1500" b="1" kern="1200" dirty="0">
                <a:latin typeface="Consolas"/>
                <a:ea typeface="+mn-ea"/>
                <a:cs typeface="+mn-cs"/>
              </a:rPr>
              <a:t> </a:t>
            </a:r>
            <a:r>
              <a:rPr lang="en-US" sz="1500" b="1" kern="1200" dirty="0">
                <a:solidFill>
                  <a:srgbClr val="6A3E3E"/>
                </a:solidFill>
                <a:latin typeface="Consolas"/>
                <a:ea typeface="+mn-ea"/>
                <a:cs typeface="+mn-cs"/>
              </a:rPr>
              <a:t>x</a:t>
            </a:r>
            <a:r>
              <a:rPr lang="en-US" sz="1500" b="1" kern="1200" dirty="0">
                <a:latin typeface="Consolas"/>
                <a:ea typeface="+mn-ea"/>
                <a:cs typeface="+mn-cs"/>
              </a:rPr>
              <a:t>, </a:t>
            </a:r>
            <a:r>
              <a:rPr lang="en-US" sz="1500" b="1" kern="1200" dirty="0">
                <a:solidFill>
                  <a:srgbClr val="7F0055"/>
                </a:solidFill>
                <a:latin typeface="Consolas"/>
                <a:ea typeface="+mn-ea"/>
                <a:cs typeface="+mn-cs"/>
              </a:rPr>
              <a:t>int</a:t>
            </a:r>
            <a:r>
              <a:rPr lang="en-US" sz="1500" b="1" kern="1200" dirty="0">
                <a:latin typeface="Consolas"/>
                <a:ea typeface="+mn-ea"/>
                <a:cs typeface="+mn-cs"/>
              </a:rPr>
              <a:t> </a:t>
            </a:r>
            <a:r>
              <a:rPr lang="en-US" sz="1500" b="1" kern="1200" dirty="0">
                <a:solidFill>
                  <a:srgbClr val="6A3E3E"/>
                </a:solidFill>
                <a:latin typeface="Consolas"/>
                <a:ea typeface="+mn-ea"/>
                <a:cs typeface="+mn-cs"/>
              </a:rPr>
              <a:t>y</a:t>
            </a:r>
            <a:r>
              <a:rPr lang="en-US" sz="1500" b="1" kern="1200" dirty="0">
                <a:latin typeface="Consolas"/>
                <a:ea typeface="+mn-ea"/>
                <a:cs typeface="+mn-cs"/>
              </a:rPr>
              <a:t>){</a:t>
            </a:r>
          </a:p>
          <a:p>
            <a:pPr eaLnBrk="0" fontAlgn="base" hangingPunct="0">
              <a:spcBef>
                <a:spcPct val="0"/>
              </a:spcBef>
              <a:spcAft>
                <a:spcPct val="0"/>
              </a:spcAft>
              <a:buClrTx/>
              <a:buFontTx/>
              <a:buNone/>
            </a:pPr>
            <a:r>
              <a:rPr lang="es-ES" sz="1500" b="1" kern="1200" dirty="0">
                <a:solidFill>
                  <a:srgbClr val="7F0055"/>
                </a:solidFill>
                <a:latin typeface="Consolas" panose="020B0609020204030204" pitchFamily="49" charset="0"/>
                <a:ea typeface="+mn-ea"/>
                <a:cs typeface="+mn-cs"/>
              </a:rPr>
              <a:t>	</a:t>
            </a:r>
            <a:r>
              <a:rPr lang="es-ES" sz="1500" b="1" kern="1200" dirty="0" err="1">
                <a:solidFill>
                  <a:srgbClr val="7F0055"/>
                </a:solidFill>
                <a:latin typeface="Consolas" panose="020B0609020204030204" pitchFamily="49" charset="0"/>
                <a:ea typeface="+mn-ea"/>
                <a:cs typeface="+mn-cs"/>
              </a:rPr>
              <a:t>return</a:t>
            </a:r>
            <a:r>
              <a:rPr lang="es-ES" sz="1500" b="1" kern="1200" dirty="0">
                <a:latin typeface="Consolas" panose="020B0609020204030204" pitchFamily="49" charset="0"/>
                <a:ea typeface="+mn-ea"/>
                <a:cs typeface="+mn-cs"/>
              </a:rPr>
              <a:t> (</a:t>
            </a:r>
            <a:r>
              <a:rPr lang="es-ES" sz="1500" b="1" kern="1200" dirty="0">
                <a:solidFill>
                  <a:srgbClr val="6A3E3E"/>
                </a:solidFill>
                <a:latin typeface="Consolas" panose="020B0609020204030204" pitchFamily="49" charset="0"/>
                <a:ea typeface="+mn-ea"/>
                <a:cs typeface="+mn-cs"/>
              </a:rPr>
              <a:t>x</a:t>
            </a:r>
            <a:r>
              <a:rPr lang="es-ES" sz="1500" b="1" kern="1200" dirty="0">
                <a:latin typeface="Consolas" panose="020B0609020204030204" pitchFamily="49" charset="0"/>
                <a:ea typeface="+mn-ea"/>
                <a:cs typeface="+mn-cs"/>
              </a:rPr>
              <a:t>&gt;</a:t>
            </a:r>
            <a:r>
              <a:rPr lang="es-ES" sz="1500" b="1" kern="1200" dirty="0">
                <a:solidFill>
                  <a:srgbClr val="6A3E3E"/>
                </a:solidFill>
                <a:latin typeface="Consolas" panose="020B0609020204030204" pitchFamily="49" charset="0"/>
                <a:ea typeface="+mn-ea"/>
                <a:cs typeface="+mn-cs"/>
              </a:rPr>
              <a:t>y</a:t>
            </a:r>
            <a:r>
              <a:rPr lang="es-ES" sz="1500" b="1" kern="1200" dirty="0">
                <a:latin typeface="Consolas" panose="020B0609020204030204" pitchFamily="49" charset="0"/>
                <a:ea typeface="+mn-ea"/>
                <a:cs typeface="+mn-cs"/>
              </a:rPr>
              <a:t>) ? </a:t>
            </a:r>
            <a:r>
              <a:rPr lang="es-ES" sz="1500" b="1" kern="1200" dirty="0">
                <a:solidFill>
                  <a:srgbClr val="6A3E3E"/>
                </a:solidFill>
                <a:latin typeface="Consolas" panose="020B0609020204030204" pitchFamily="49" charset="0"/>
                <a:ea typeface="+mn-ea"/>
                <a:cs typeface="+mn-cs"/>
              </a:rPr>
              <a:t>x</a:t>
            </a:r>
            <a:r>
              <a:rPr lang="es-ES" sz="1500" b="1" kern="1200" dirty="0">
                <a:latin typeface="Consolas" panose="020B0609020204030204" pitchFamily="49" charset="0"/>
                <a:ea typeface="+mn-ea"/>
                <a:cs typeface="+mn-cs"/>
              </a:rPr>
              <a:t> : </a:t>
            </a:r>
            <a:r>
              <a:rPr lang="es-ES" sz="1500" b="1" kern="1200" dirty="0">
                <a:solidFill>
                  <a:srgbClr val="6A3E3E"/>
                </a:solidFill>
                <a:latin typeface="Consolas" panose="020B0609020204030204" pitchFamily="49" charset="0"/>
                <a:ea typeface="+mn-ea"/>
                <a:cs typeface="+mn-cs"/>
              </a:rPr>
              <a:t>y</a:t>
            </a:r>
            <a:r>
              <a:rPr lang="es-ES" sz="1500" b="1" kern="1200" dirty="0">
                <a:latin typeface="Consolas" panose="020B0609020204030204" pitchFamily="49" charset="0"/>
                <a:ea typeface="+mn-ea"/>
                <a:cs typeface="+mn-cs"/>
              </a:rPr>
              <a:t>;</a:t>
            </a:r>
          </a:p>
          <a:p>
            <a:pPr eaLnBrk="0" fontAlgn="base" hangingPunct="0">
              <a:spcBef>
                <a:spcPct val="0"/>
              </a:spcBef>
              <a:spcAft>
                <a:spcPct val="0"/>
              </a:spcAft>
              <a:buClrTx/>
              <a:buFontTx/>
              <a:buNone/>
            </a:pPr>
            <a:r>
              <a:rPr lang="en-US" sz="1500" kern="1200" dirty="0">
                <a:latin typeface="Consolas" panose="020B0609020204030204" pitchFamily="49" charset="0"/>
                <a:ea typeface="+mn-ea"/>
                <a:cs typeface="+mn-cs"/>
              </a:rPr>
              <a:t>}</a:t>
            </a:r>
          </a:p>
          <a:p>
            <a:pPr eaLnBrk="0" fontAlgn="base" hangingPunct="0">
              <a:spcBef>
                <a:spcPct val="0"/>
              </a:spcBef>
              <a:spcAft>
                <a:spcPct val="0"/>
              </a:spcAft>
              <a:buClrTx/>
              <a:buFontTx/>
              <a:buNone/>
            </a:pPr>
            <a:endParaRPr lang="en-US" sz="1500" kern="1200" dirty="0">
              <a:solidFill>
                <a:prstClr val="black"/>
              </a:solidFill>
              <a:latin typeface="Consolas" panose="020B0609020204030204" pitchFamily="49" charset="0"/>
              <a:ea typeface="+mn-ea"/>
              <a:cs typeface="+mn-cs"/>
            </a:endParaRPr>
          </a:p>
          <a:p>
            <a:pPr eaLnBrk="0" fontAlgn="base" hangingPunct="0">
              <a:spcBef>
                <a:spcPct val="0"/>
              </a:spcBef>
              <a:spcAft>
                <a:spcPct val="0"/>
              </a:spcAft>
              <a:buClrTx/>
              <a:buFontTx/>
              <a:buNone/>
            </a:pPr>
            <a:r>
              <a:rPr lang="fr-FR" sz="1500" b="1" kern="1200" dirty="0">
                <a:solidFill>
                  <a:srgbClr val="7F0055"/>
                </a:solidFill>
                <a:latin typeface="Consolas" panose="020B0609020204030204" pitchFamily="49" charset="0"/>
                <a:ea typeface="+mn-ea"/>
                <a:cs typeface="+mn-cs"/>
              </a:rPr>
              <a:t>public</a:t>
            </a:r>
            <a:r>
              <a:rPr lang="fr-FR" sz="1500" b="1" kern="1200" dirty="0">
                <a:latin typeface="Consolas" panose="020B0609020204030204" pitchFamily="49" charset="0"/>
                <a:ea typeface="+mn-ea"/>
                <a:cs typeface="+mn-cs"/>
              </a:rPr>
              <a:t> </a:t>
            </a:r>
            <a:r>
              <a:rPr lang="fr-FR" sz="1500" b="1" kern="1200" dirty="0" err="1">
                <a:solidFill>
                  <a:srgbClr val="7F0055"/>
                </a:solidFill>
                <a:latin typeface="Consolas" panose="020B0609020204030204" pitchFamily="49" charset="0"/>
                <a:ea typeface="+mn-ea"/>
                <a:cs typeface="+mn-cs"/>
              </a:rPr>
              <a:t>static</a:t>
            </a:r>
            <a:r>
              <a:rPr lang="fr-FR" sz="1500" b="1" kern="1200" dirty="0">
                <a:latin typeface="Consolas" panose="020B0609020204030204" pitchFamily="49" charset="0"/>
                <a:ea typeface="+mn-ea"/>
                <a:cs typeface="+mn-cs"/>
              </a:rPr>
              <a:t> </a:t>
            </a:r>
            <a:r>
              <a:rPr lang="fr-FR" sz="1500" b="1" kern="1200" dirty="0">
                <a:solidFill>
                  <a:srgbClr val="7F0055"/>
                </a:solidFill>
                <a:latin typeface="Consolas" panose="020B0609020204030204" pitchFamily="49" charset="0"/>
                <a:ea typeface="+mn-ea"/>
                <a:cs typeface="+mn-cs"/>
              </a:rPr>
              <a:t>double</a:t>
            </a:r>
            <a:r>
              <a:rPr lang="fr-FR" sz="1500" b="1" kern="1200" dirty="0">
                <a:latin typeface="Consolas" panose="020B0609020204030204" pitchFamily="49" charset="0"/>
                <a:ea typeface="+mn-ea"/>
                <a:cs typeface="+mn-cs"/>
              </a:rPr>
              <a:t> max(</a:t>
            </a:r>
            <a:r>
              <a:rPr lang="fr-FR" sz="1500" b="1" kern="1200" dirty="0">
                <a:solidFill>
                  <a:srgbClr val="7F0055"/>
                </a:solidFill>
                <a:latin typeface="Consolas" panose="020B0609020204030204" pitchFamily="49" charset="0"/>
                <a:ea typeface="+mn-ea"/>
                <a:cs typeface="+mn-cs"/>
              </a:rPr>
              <a:t>double</a:t>
            </a:r>
            <a:r>
              <a:rPr lang="fr-FR" sz="1500" b="1" kern="1200" dirty="0">
                <a:latin typeface="Consolas" panose="020B0609020204030204" pitchFamily="49" charset="0"/>
                <a:ea typeface="+mn-ea"/>
                <a:cs typeface="+mn-cs"/>
              </a:rPr>
              <a:t> </a:t>
            </a:r>
            <a:r>
              <a:rPr lang="fr-FR" sz="1500" b="1" kern="1200" dirty="0">
                <a:solidFill>
                  <a:srgbClr val="6A3E3E"/>
                </a:solidFill>
                <a:latin typeface="Consolas" panose="020B0609020204030204" pitchFamily="49" charset="0"/>
                <a:ea typeface="+mn-ea"/>
                <a:cs typeface="+mn-cs"/>
              </a:rPr>
              <a:t>x</a:t>
            </a:r>
            <a:r>
              <a:rPr lang="fr-FR" sz="1500" b="1" kern="1200" dirty="0">
                <a:latin typeface="Consolas" panose="020B0609020204030204" pitchFamily="49" charset="0"/>
                <a:ea typeface="+mn-ea"/>
                <a:cs typeface="+mn-cs"/>
              </a:rPr>
              <a:t>, </a:t>
            </a:r>
            <a:r>
              <a:rPr lang="fr-FR" sz="1500" b="1" kern="1200" dirty="0">
                <a:solidFill>
                  <a:srgbClr val="7F0055"/>
                </a:solidFill>
                <a:latin typeface="Consolas" panose="020B0609020204030204" pitchFamily="49" charset="0"/>
                <a:ea typeface="+mn-ea"/>
                <a:cs typeface="+mn-cs"/>
              </a:rPr>
              <a:t>double</a:t>
            </a:r>
            <a:r>
              <a:rPr lang="fr-FR" sz="1500" b="1" kern="1200" dirty="0">
                <a:latin typeface="Consolas" panose="020B0609020204030204" pitchFamily="49" charset="0"/>
                <a:ea typeface="+mn-ea"/>
                <a:cs typeface="+mn-cs"/>
              </a:rPr>
              <a:t> </a:t>
            </a:r>
            <a:r>
              <a:rPr lang="fr-FR" sz="1500" b="1" kern="1200" dirty="0">
                <a:solidFill>
                  <a:srgbClr val="6A3E3E"/>
                </a:solidFill>
                <a:latin typeface="Consolas" panose="020B0609020204030204" pitchFamily="49" charset="0"/>
                <a:ea typeface="+mn-ea"/>
                <a:cs typeface="+mn-cs"/>
              </a:rPr>
              <a:t>y</a:t>
            </a:r>
            <a:r>
              <a:rPr lang="fr-FR" sz="1500" b="1" kern="1200" dirty="0">
                <a:latin typeface="Consolas" panose="020B0609020204030204" pitchFamily="49" charset="0"/>
                <a:ea typeface="+mn-ea"/>
                <a:cs typeface="+mn-cs"/>
              </a:rPr>
              <a:t>){</a:t>
            </a:r>
          </a:p>
          <a:p>
            <a:pPr eaLnBrk="0" fontAlgn="base" hangingPunct="0">
              <a:spcBef>
                <a:spcPct val="0"/>
              </a:spcBef>
              <a:spcAft>
                <a:spcPct val="0"/>
              </a:spcAft>
              <a:buClrTx/>
              <a:buFontTx/>
              <a:buNone/>
            </a:pPr>
            <a:r>
              <a:rPr lang="es-ES" sz="1500" b="1" kern="1200" dirty="0">
                <a:solidFill>
                  <a:srgbClr val="7F0055"/>
                </a:solidFill>
                <a:latin typeface="Consolas" panose="020B0609020204030204" pitchFamily="49" charset="0"/>
                <a:ea typeface="+mn-ea"/>
                <a:cs typeface="+mn-cs"/>
              </a:rPr>
              <a:t>	</a:t>
            </a:r>
            <a:r>
              <a:rPr lang="es-ES" sz="1500" b="1" kern="1200" dirty="0" err="1">
                <a:solidFill>
                  <a:srgbClr val="7F0055"/>
                </a:solidFill>
                <a:latin typeface="Consolas" panose="020B0609020204030204" pitchFamily="49" charset="0"/>
                <a:ea typeface="+mn-ea"/>
                <a:cs typeface="+mn-cs"/>
              </a:rPr>
              <a:t>return</a:t>
            </a:r>
            <a:r>
              <a:rPr lang="es-ES" sz="1500" b="1" kern="1200" dirty="0">
                <a:latin typeface="Consolas" panose="020B0609020204030204" pitchFamily="49" charset="0"/>
                <a:ea typeface="+mn-ea"/>
                <a:cs typeface="+mn-cs"/>
              </a:rPr>
              <a:t> (</a:t>
            </a:r>
            <a:r>
              <a:rPr lang="es-ES" sz="1500" b="1" kern="1200" dirty="0">
                <a:solidFill>
                  <a:srgbClr val="6A3E3E"/>
                </a:solidFill>
                <a:latin typeface="Consolas" panose="020B0609020204030204" pitchFamily="49" charset="0"/>
                <a:ea typeface="+mn-ea"/>
                <a:cs typeface="+mn-cs"/>
              </a:rPr>
              <a:t>x</a:t>
            </a:r>
            <a:r>
              <a:rPr lang="es-ES" sz="1500" b="1" kern="1200" dirty="0">
                <a:latin typeface="Consolas" panose="020B0609020204030204" pitchFamily="49" charset="0"/>
                <a:ea typeface="+mn-ea"/>
                <a:cs typeface="+mn-cs"/>
              </a:rPr>
              <a:t>&gt;</a:t>
            </a:r>
            <a:r>
              <a:rPr lang="es-ES" sz="1500" b="1" kern="1200" dirty="0">
                <a:solidFill>
                  <a:srgbClr val="6A3E3E"/>
                </a:solidFill>
                <a:latin typeface="Consolas" panose="020B0609020204030204" pitchFamily="49" charset="0"/>
                <a:ea typeface="+mn-ea"/>
                <a:cs typeface="+mn-cs"/>
              </a:rPr>
              <a:t>y</a:t>
            </a:r>
            <a:r>
              <a:rPr lang="es-ES" sz="1500" b="1" kern="1200" dirty="0">
                <a:latin typeface="Consolas" panose="020B0609020204030204" pitchFamily="49" charset="0"/>
                <a:ea typeface="+mn-ea"/>
                <a:cs typeface="+mn-cs"/>
              </a:rPr>
              <a:t>) ? </a:t>
            </a:r>
            <a:r>
              <a:rPr lang="es-ES" sz="1500" b="1" kern="1200" dirty="0">
                <a:solidFill>
                  <a:srgbClr val="6A3E3E"/>
                </a:solidFill>
                <a:latin typeface="Consolas" panose="020B0609020204030204" pitchFamily="49" charset="0"/>
                <a:ea typeface="+mn-ea"/>
                <a:cs typeface="+mn-cs"/>
              </a:rPr>
              <a:t>x</a:t>
            </a:r>
            <a:r>
              <a:rPr lang="es-ES" sz="1500" b="1" kern="1200" dirty="0">
                <a:latin typeface="Consolas" panose="020B0609020204030204" pitchFamily="49" charset="0"/>
                <a:ea typeface="+mn-ea"/>
                <a:cs typeface="+mn-cs"/>
              </a:rPr>
              <a:t> : </a:t>
            </a:r>
            <a:r>
              <a:rPr lang="es-ES" sz="1500" b="1" kern="1200" dirty="0">
                <a:solidFill>
                  <a:srgbClr val="6A3E3E"/>
                </a:solidFill>
                <a:latin typeface="Consolas" panose="020B0609020204030204" pitchFamily="49" charset="0"/>
                <a:ea typeface="+mn-ea"/>
                <a:cs typeface="+mn-cs"/>
              </a:rPr>
              <a:t>y</a:t>
            </a:r>
            <a:r>
              <a:rPr lang="es-ES" sz="1500" b="1" kern="1200" dirty="0">
                <a:latin typeface="Consolas" panose="020B0609020204030204" pitchFamily="49" charset="0"/>
                <a:ea typeface="+mn-ea"/>
                <a:cs typeface="+mn-cs"/>
              </a:rPr>
              <a:t>;</a:t>
            </a:r>
          </a:p>
          <a:p>
            <a:pPr eaLnBrk="0" fontAlgn="base" hangingPunct="0">
              <a:spcBef>
                <a:spcPct val="0"/>
              </a:spcBef>
              <a:spcAft>
                <a:spcPct val="0"/>
              </a:spcAft>
              <a:buClrTx/>
              <a:buFontTx/>
              <a:buNone/>
            </a:pPr>
            <a:r>
              <a:rPr lang="en-US" sz="1500" kern="1200" dirty="0">
                <a:latin typeface="Consolas" panose="020B0609020204030204" pitchFamily="49" charset="0"/>
                <a:ea typeface="+mn-ea"/>
                <a:cs typeface="+mn-cs"/>
              </a:rPr>
              <a:t>}</a:t>
            </a:r>
          </a:p>
          <a:p>
            <a:pPr eaLnBrk="0" fontAlgn="base" hangingPunct="0">
              <a:spcBef>
                <a:spcPct val="0"/>
              </a:spcBef>
              <a:spcAft>
                <a:spcPct val="0"/>
              </a:spcAft>
              <a:buClrTx/>
              <a:buFontTx/>
              <a:buNone/>
            </a:pPr>
            <a:endParaRPr lang="en-US" sz="1500" kern="1200" dirty="0">
              <a:solidFill>
                <a:prstClr val="black"/>
              </a:solidFill>
              <a:latin typeface="Consolas" panose="020B0609020204030204" pitchFamily="49" charset="0"/>
              <a:ea typeface="+mn-ea"/>
              <a:cs typeface="+mn-cs"/>
            </a:endParaRPr>
          </a:p>
          <a:p>
            <a:pPr eaLnBrk="0" fontAlgn="base" hangingPunct="0">
              <a:spcBef>
                <a:spcPct val="0"/>
              </a:spcBef>
              <a:spcAft>
                <a:spcPct val="0"/>
              </a:spcAft>
              <a:buClrTx/>
              <a:buFontTx/>
              <a:buNone/>
            </a:pPr>
            <a:r>
              <a:rPr lang="en-US" sz="1500" b="1" kern="1200" dirty="0">
                <a:solidFill>
                  <a:srgbClr val="7F0055"/>
                </a:solidFill>
                <a:latin typeface="Consolas" panose="020B0609020204030204" pitchFamily="49" charset="0"/>
                <a:ea typeface="+mn-ea"/>
                <a:cs typeface="+mn-cs"/>
              </a:rPr>
              <a:t>public</a:t>
            </a:r>
            <a:r>
              <a:rPr lang="en-US" sz="1500" b="1" kern="1200" dirty="0">
                <a:latin typeface="Consolas" panose="020B0609020204030204" pitchFamily="49" charset="0"/>
                <a:ea typeface="+mn-ea"/>
                <a:cs typeface="+mn-cs"/>
              </a:rPr>
              <a:t> </a:t>
            </a:r>
            <a:r>
              <a:rPr lang="en-US" sz="1500" b="1" kern="1200" dirty="0">
                <a:solidFill>
                  <a:srgbClr val="7F0055"/>
                </a:solidFill>
                <a:latin typeface="Consolas" panose="020B0609020204030204" pitchFamily="49" charset="0"/>
                <a:ea typeface="+mn-ea"/>
                <a:cs typeface="+mn-cs"/>
              </a:rPr>
              <a:t>static</a:t>
            </a:r>
            <a:r>
              <a:rPr lang="en-US" sz="1500" b="1" kern="1200" dirty="0">
                <a:latin typeface="Consolas" panose="020B0609020204030204" pitchFamily="49" charset="0"/>
                <a:ea typeface="+mn-ea"/>
                <a:cs typeface="+mn-cs"/>
              </a:rPr>
              <a:t> </a:t>
            </a:r>
            <a:r>
              <a:rPr lang="en-US" sz="1500" b="1" kern="1200" dirty="0">
                <a:solidFill>
                  <a:srgbClr val="7F0055"/>
                </a:solidFill>
                <a:latin typeface="Consolas" panose="020B0609020204030204" pitchFamily="49" charset="0"/>
                <a:ea typeface="+mn-ea"/>
                <a:cs typeface="+mn-cs"/>
              </a:rPr>
              <a:t>void</a:t>
            </a:r>
            <a:r>
              <a:rPr lang="en-US" sz="1500" b="1" kern="1200" dirty="0">
                <a:latin typeface="Consolas" panose="020B0609020204030204" pitchFamily="49" charset="0"/>
                <a:ea typeface="+mn-ea"/>
                <a:cs typeface="+mn-cs"/>
              </a:rPr>
              <a:t> main(String[] </a:t>
            </a:r>
            <a:r>
              <a:rPr lang="en-US" sz="1500" b="1" kern="1200" dirty="0" err="1">
                <a:solidFill>
                  <a:srgbClr val="6A3E3E"/>
                </a:solidFill>
                <a:latin typeface="Consolas" panose="020B0609020204030204" pitchFamily="49" charset="0"/>
                <a:ea typeface="+mn-ea"/>
                <a:cs typeface="+mn-cs"/>
              </a:rPr>
              <a:t>args</a:t>
            </a:r>
            <a:r>
              <a:rPr lang="en-US" sz="1500" b="1" kern="1200" dirty="0">
                <a:latin typeface="Consolas" panose="020B0609020204030204" pitchFamily="49" charset="0"/>
                <a:ea typeface="+mn-ea"/>
                <a:cs typeface="+mn-cs"/>
              </a:rPr>
              <a:t>) {</a:t>
            </a:r>
          </a:p>
          <a:p>
            <a:pPr eaLnBrk="0" fontAlgn="base" hangingPunct="0">
              <a:spcBef>
                <a:spcPct val="0"/>
              </a:spcBef>
              <a:spcAft>
                <a:spcPct val="0"/>
              </a:spcAft>
              <a:buClrTx/>
              <a:buFontTx/>
              <a:buNone/>
            </a:pPr>
            <a:r>
              <a:rPr lang="en-US" sz="1500" kern="1200" dirty="0">
                <a:latin typeface="Consolas" panose="020B0609020204030204" pitchFamily="49" charset="0"/>
                <a:ea typeface="+mn-ea"/>
                <a:cs typeface="+mn-cs"/>
              </a:rPr>
              <a:t>	</a:t>
            </a:r>
            <a:r>
              <a:rPr lang="en-US" sz="1500" kern="1200" dirty="0" err="1">
                <a:latin typeface="Consolas" panose="020B0609020204030204" pitchFamily="49" charset="0"/>
                <a:ea typeface="+mn-ea"/>
                <a:cs typeface="+mn-cs"/>
              </a:rPr>
              <a:t>System.</a:t>
            </a:r>
            <a:r>
              <a:rPr lang="en-US" sz="1500" b="1" i="1" kern="1200" dirty="0" err="1">
                <a:solidFill>
                  <a:srgbClr val="0000C0"/>
                </a:solidFill>
                <a:latin typeface="Consolas" panose="020B0609020204030204" pitchFamily="49" charset="0"/>
                <a:ea typeface="+mn-ea"/>
                <a:cs typeface="+mn-cs"/>
              </a:rPr>
              <a:t>out</a:t>
            </a:r>
            <a:r>
              <a:rPr lang="en-US" sz="1500" b="1" i="1" kern="1200" dirty="0" err="1">
                <a:latin typeface="Consolas" panose="020B0609020204030204" pitchFamily="49" charset="0"/>
                <a:ea typeface="+mn-ea"/>
                <a:cs typeface="+mn-cs"/>
              </a:rPr>
              <a:t>.println</a:t>
            </a:r>
            <a:r>
              <a:rPr lang="en-US" sz="1500" b="1" i="1" kern="1200" dirty="0">
                <a:latin typeface="Consolas" panose="020B0609020204030204" pitchFamily="49" charset="0"/>
                <a:ea typeface="+mn-ea"/>
                <a:cs typeface="+mn-cs"/>
              </a:rPr>
              <a:t>(max(1,2)); </a:t>
            </a:r>
          </a:p>
          <a:p>
            <a:pPr eaLnBrk="0" fontAlgn="base" hangingPunct="0">
              <a:spcBef>
                <a:spcPct val="0"/>
              </a:spcBef>
              <a:spcAft>
                <a:spcPct val="0"/>
              </a:spcAft>
              <a:buClrTx/>
            </a:pPr>
            <a:r>
              <a:rPr lang="en-US" sz="1500" b="1" i="1" kern="1200" dirty="0">
                <a:latin typeface="Consolas"/>
                <a:ea typeface="+mn-ea"/>
                <a:cs typeface="+mn-cs"/>
              </a:rPr>
              <a:t>     </a:t>
            </a:r>
            <a:r>
              <a:rPr lang="en-US" sz="1500" b="1" i="1" kern="1200" dirty="0">
                <a:solidFill>
                  <a:schemeClr val="tx1"/>
                </a:solidFill>
                <a:latin typeface="Consolas"/>
                <a:ea typeface="+mn-ea"/>
                <a:cs typeface="+mn-cs"/>
              </a:rPr>
              <a:t>// will call max(</a:t>
            </a:r>
            <a:r>
              <a:rPr lang="en-US" sz="1500" b="1" i="1" kern="1200" dirty="0" err="1">
                <a:solidFill>
                  <a:schemeClr val="tx1"/>
                </a:solidFill>
                <a:latin typeface="Consolas"/>
                <a:ea typeface="+mn-ea"/>
                <a:cs typeface="+mn-cs"/>
              </a:rPr>
              <a:t>int,int</a:t>
            </a:r>
            <a:r>
              <a:rPr lang="en-US" sz="1500" b="1" i="1" kern="1200" dirty="0">
                <a:solidFill>
                  <a:schemeClr val="tx1"/>
                </a:solidFill>
                <a:latin typeface="Consolas"/>
                <a:ea typeface="+mn-ea"/>
                <a:cs typeface="+mn-cs"/>
              </a:rPr>
              <a:t>)</a:t>
            </a:r>
          </a:p>
          <a:p>
            <a:pPr eaLnBrk="0" fontAlgn="base" hangingPunct="0">
              <a:spcBef>
                <a:spcPct val="0"/>
              </a:spcBef>
              <a:spcAft>
                <a:spcPct val="0"/>
              </a:spcAft>
              <a:buClrTx/>
              <a:buFontTx/>
              <a:buNone/>
            </a:pPr>
            <a:r>
              <a:rPr lang="en-US" sz="1500" kern="1200" dirty="0">
                <a:latin typeface="Consolas" panose="020B0609020204030204" pitchFamily="49" charset="0"/>
                <a:ea typeface="+mn-ea"/>
                <a:cs typeface="+mn-cs"/>
              </a:rPr>
              <a:t>	</a:t>
            </a:r>
            <a:r>
              <a:rPr lang="en-US" sz="1500" kern="1200" dirty="0" err="1">
                <a:latin typeface="Consolas" panose="020B0609020204030204" pitchFamily="49" charset="0"/>
                <a:ea typeface="+mn-ea"/>
                <a:cs typeface="+mn-cs"/>
              </a:rPr>
              <a:t>System.</a:t>
            </a:r>
            <a:r>
              <a:rPr lang="en-US" sz="1500" b="1" i="1" kern="1200" dirty="0" err="1">
                <a:solidFill>
                  <a:srgbClr val="0000C0"/>
                </a:solidFill>
                <a:latin typeface="Consolas" panose="020B0609020204030204" pitchFamily="49" charset="0"/>
                <a:ea typeface="+mn-ea"/>
                <a:cs typeface="+mn-cs"/>
              </a:rPr>
              <a:t>out</a:t>
            </a:r>
            <a:r>
              <a:rPr lang="en-US" sz="1500" b="1" i="1" kern="1200" dirty="0" err="1">
                <a:latin typeface="Consolas" panose="020B0609020204030204" pitchFamily="49" charset="0"/>
                <a:ea typeface="+mn-ea"/>
                <a:cs typeface="+mn-cs"/>
              </a:rPr>
              <a:t>.println</a:t>
            </a:r>
            <a:r>
              <a:rPr lang="en-US" sz="1500" b="1" i="1" kern="1200" dirty="0">
                <a:latin typeface="Consolas" panose="020B0609020204030204" pitchFamily="49" charset="0"/>
                <a:ea typeface="+mn-ea"/>
                <a:cs typeface="+mn-cs"/>
              </a:rPr>
              <a:t>(max(3.5,4.7)); </a:t>
            </a:r>
          </a:p>
          <a:p>
            <a:pPr eaLnBrk="0" fontAlgn="base" hangingPunct="0">
              <a:spcBef>
                <a:spcPct val="0"/>
              </a:spcBef>
              <a:spcAft>
                <a:spcPct val="0"/>
              </a:spcAft>
              <a:buClrTx/>
              <a:buFontTx/>
            </a:pPr>
            <a:r>
              <a:rPr lang="en-US" sz="1500" b="1" i="1" kern="1200" dirty="0">
                <a:latin typeface="Consolas"/>
                <a:ea typeface="+mn-ea"/>
                <a:cs typeface="+mn-cs"/>
              </a:rPr>
              <a:t>    </a:t>
            </a:r>
            <a:r>
              <a:rPr lang="en-US" sz="1500" b="1" i="1" kern="1200" dirty="0">
                <a:solidFill>
                  <a:schemeClr val="tx1"/>
                </a:solidFill>
                <a:latin typeface="Consolas"/>
                <a:ea typeface="+mn-ea"/>
                <a:cs typeface="+mn-cs"/>
              </a:rPr>
              <a:t>// will call max(</a:t>
            </a:r>
            <a:r>
              <a:rPr lang="en-US" sz="1500" b="1" i="1" kern="1200" dirty="0" err="1">
                <a:solidFill>
                  <a:schemeClr val="tx1"/>
                </a:solidFill>
                <a:latin typeface="Consolas"/>
                <a:ea typeface="+mn-ea"/>
                <a:cs typeface="+mn-cs"/>
              </a:rPr>
              <a:t>double,double</a:t>
            </a:r>
            <a:r>
              <a:rPr lang="en-US" sz="1500" b="1" i="1" kern="1200" dirty="0">
                <a:solidFill>
                  <a:schemeClr val="tx1"/>
                </a:solidFill>
                <a:latin typeface="Consolas"/>
                <a:ea typeface="+mn-ea"/>
                <a:cs typeface="+mn-cs"/>
              </a:rPr>
              <a:t>)</a:t>
            </a:r>
            <a:endParaRPr lang="en-US" sz="1500" kern="1200" dirty="0">
              <a:solidFill>
                <a:schemeClr val="tx1"/>
              </a:solidFill>
              <a:latin typeface="Consolas" panose="020B0609020204030204" pitchFamily="49" charset="0"/>
              <a:ea typeface="+mn-ea"/>
              <a:cs typeface="+mn-cs"/>
            </a:endParaRPr>
          </a:p>
          <a:p>
            <a:pPr eaLnBrk="0" fontAlgn="base" hangingPunct="0">
              <a:spcBef>
                <a:spcPct val="0"/>
              </a:spcBef>
              <a:spcAft>
                <a:spcPct val="0"/>
              </a:spcAft>
              <a:buClrTx/>
              <a:buFontTx/>
              <a:buNone/>
            </a:pPr>
            <a:r>
              <a:rPr lang="en-US" sz="1200" kern="1200" dirty="0">
                <a:latin typeface="Consolas" panose="020B0609020204030204" pitchFamily="49" charset="0"/>
                <a:ea typeface="+mn-ea"/>
                <a:cs typeface="+mn-cs"/>
              </a:rPr>
              <a:t>}</a:t>
            </a:r>
            <a:endParaRPr lang="en-US" sz="1200" kern="1200" dirty="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24816969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Overloading &amp; Ambiguous Invocation</a:t>
            </a:r>
          </a:p>
        </p:txBody>
      </p:sp>
      <p:sp>
        <p:nvSpPr>
          <p:cNvPr id="3" name="Text Placeholder 2"/>
          <p:cNvSpPr>
            <a:spLocks noGrp="1"/>
          </p:cNvSpPr>
          <p:nvPr>
            <p:ph type="body" idx="1"/>
          </p:nvPr>
        </p:nvSpPr>
        <p:spPr/>
        <p:txBody>
          <a:bodyPr/>
          <a:lstStyle/>
          <a:p>
            <a:r>
              <a:rPr lang="en-US" altLang="en-US" dirty="0"/>
              <a:t>Sometimes there may be two or more possible matches for an invocation of a method, but the compiler cannot determine the most specific match. </a:t>
            </a:r>
          </a:p>
          <a:p>
            <a:r>
              <a:rPr lang="en-US" altLang="en-US" dirty="0"/>
              <a:t>This is referred to as ambiguous invocation. </a:t>
            </a:r>
          </a:p>
          <a:p>
            <a:r>
              <a:rPr lang="en-US" altLang="en-US" dirty="0"/>
              <a:t>Ambiguous invocation is a compilation error. </a:t>
            </a:r>
          </a:p>
        </p:txBody>
      </p:sp>
    </p:spTree>
    <p:extLst>
      <p:ext uri="{BB962C8B-B14F-4D97-AF65-F5344CB8AC3E}">
        <p14:creationId xmlns:p14="http://schemas.microsoft.com/office/powerpoint/2010/main" val="8366742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Overloading &amp; Ambiguous Invocation: Example</a:t>
            </a:r>
          </a:p>
        </p:txBody>
      </p:sp>
      <p:sp>
        <p:nvSpPr>
          <p:cNvPr id="3" name="Text Placeholder 2"/>
          <p:cNvSpPr>
            <a:spLocks noGrp="1"/>
          </p:cNvSpPr>
          <p:nvPr>
            <p:ph type="body" idx="1"/>
          </p:nvPr>
        </p:nvSpPr>
        <p:spPr/>
        <p:txBody>
          <a:bodyPr>
            <a:noAutofit/>
          </a:bodyPr>
          <a:lstStyle/>
          <a:p>
            <a:pPr marL="0" indent="0">
              <a:lnSpc>
                <a:spcPct val="90000"/>
              </a:lnSpc>
              <a:buNone/>
            </a:pPr>
            <a:r>
              <a:rPr lang="en-US" altLang="en-US" sz="1400" b="1" dirty="0">
                <a:latin typeface="Courier New"/>
                <a:cs typeface="Times New Roman"/>
              </a:rPr>
              <a:t>public class </a:t>
            </a:r>
            <a:r>
              <a:rPr lang="en-US" altLang="en-US" sz="1400" b="1" i="1" dirty="0" err="1">
                <a:solidFill>
                  <a:schemeClr val="tx1"/>
                </a:solidFill>
                <a:latin typeface="Courier New"/>
                <a:cs typeface="Times New Roman"/>
              </a:rPr>
              <a:t>AmbiguousOverloading</a:t>
            </a:r>
            <a:r>
              <a:rPr lang="en-US" altLang="en-US" sz="1400" b="1" dirty="0">
                <a:latin typeface="Courier New"/>
                <a:cs typeface="Times New Roman"/>
              </a:rPr>
              <a:t> {</a:t>
            </a:r>
          </a:p>
          <a:p>
            <a:pPr marL="0" indent="0">
              <a:lnSpc>
                <a:spcPct val="90000"/>
              </a:lnSpc>
              <a:buNone/>
            </a:pPr>
            <a:r>
              <a:rPr lang="en-US" altLang="en-US" sz="1400" b="1" dirty="0">
                <a:latin typeface="Courier New" pitchFamily="49" charset="0"/>
                <a:cs typeface="Times New Roman" pitchFamily="18" charset="0"/>
              </a:rPr>
              <a:t>  public static void main(String[] </a:t>
            </a:r>
            <a:r>
              <a:rPr lang="en-US" altLang="en-US" sz="1400" b="1" dirty="0" err="1">
                <a:latin typeface="Courier New" pitchFamily="49" charset="0"/>
                <a:cs typeface="Times New Roman" pitchFamily="18" charset="0"/>
              </a:rPr>
              <a:t>args</a:t>
            </a:r>
            <a:r>
              <a:rPr lang="en-US" altLang="en-US" sz="1400" b="1" dirty="0">
                <a:latin typeface="Courier New" pitchFamily="49" charset="0"/>
                <a:cs typeface="Times New Roman" pitchFamily="18" charset="0"/>
              </a:rPr>
              <a:t>) {</a:t>
            </a:r>
          </a:p>
          <a:p>
            <a:pPr marL="0" indent="0">
              <a:lnSpc>
                <a:spcPct val="90000"/>
              </a:lnSpc>
              <a:buNone/>
            </a:pPr>
            <a:r>
              <a:rPr lang="en-US" altLang="en-US" sz="1400" b="1" dirty="0">
                <a:latin typeface="Courier New"/>
                <a:cs typeface="Times New Roman"/>
              </a:rPr>
              <a:t>    </a:t>
            </a:r>
            <a:r>
              <a:rPr lang="en-US" altLang="en-US" sz="1400" b="1" dirty="0" err="1">
                <a:solidFill>
                  <a:schemeClr val="tx1"/>
                </a:solidFill>
                <a:latin typeface="Courier New"/>
                <a:cs typeface="Times New Roman"/>
              </a:rPr>
              <a:t>System.out.println</a:t>
            </a:r>
            <a:r>
              <a:rPr lang="en-US" altLang="en-US" sz="1400" b="1" dirty="0">
                <a:solidFill>
                  <a:schemeClr val="tx1"/>
                </a:solidFill>
                <a:latin typeface="Courier New"/>
                <a:cs typeface="Times New Roman"/>
              </a:rPr>
              <a:t>(max(1, 2));</a:t>
            </a:r>
            <a:r>
              <a:rPr lang="en-US" altLang="en-US" sz="1400" b="1" dirty="0">
                <a:solidFill>
                  <a:srgbClr val="FF0000"/>
                </a:solidFill>
                <a:latin typeface="Courier New"/>
                <a:cs typeface="Times New Roman"/>
              </a:rPr>
              <a:t>  </a:t>
            </a:r>
            <a:endParaRPr lang="en-US" altLang="en-US" sz="1400" b="1" dirty="0">
              <a:solidFill>
                <a:srgbClr val="FF0000"/>
              </a:solidFill>
              <a:latin typeface="Courier New" pitchFamily="49" charset="0"/>
              <a:cs typeface="Times New Roman" pitchFamily="18" charset="0"/>
            </a:endParaRPr>
          </a:p>
          <a:p>
            <a:pPr marL="0" indent="0">
              <a:lnSpc>
                <a:spcPct val="90000"/>
              </a:lnSpc>
              <a:buNone/>
            </a:pPr>
            <a:r>
              <a:rPr lang="en-US" altLang="en-US" sz="1400" b="1" dirty="0">
                <a:latin typeface="Courier New" pitchFamily="49" charset="0"/>
                <a:cs typeface="Times New Roman" pitchFamily="18" charset="0"/>
              </a:rPr>
              <a:t>  }</a:t>
            </a:r>
          </a:p>
          <a:p>
            <a:pPr marL="0" indent="0">
              <a:lnSpc>
                <a:spcPct val="90000"/>
              </a:lnSpc>
              <a:buNone/>
            </a:pPr>
            <a:r>
              <a:rPr lang="en-US" altLang="en-US" sz="1400" b="1" dirty="0">
                <a:latin typeface="Courier New"/>
                <a:cs typeface="Times New Roman"/>
              </a:rPr>
              <a:t> </a:t>
            </a:r>
            <a:r>
              <a:rPr lang="en-US" altLang="en-US" sz="1400" b="1" dirty="0">
                <a:solidFill>
                  <a:srgbClr val="FF0000"/>
                </a:solidFill>
                <a:latin typeface="Courier New"/>
                <a:cs typeface="Times New Roman"/>
              </a:rPr>
              <a:t> </a:t>
            </a:r>
            <a:r>
              <a:rPr lang="en-US" altLang="en-US" sz="1400" b="1" dirty="0">
                <a:solidFill>
                  <a:schemeClr val="tx1"/>
                </a:solidFill>
                <a:latin typeface="Courier New"/>
                <a:cs typeface="Times New Roman"/>
              </a:rPr>
              <a:t>public static double max(int num1, double num2)</a:t>
            </a:r>
            <a:r>
              <a:rPr lang="en-US" altLang="en-US" sz="1400" b="1" dirty="0">
                <a:latin typeface="Courier New"/>
                <a:cs typeface="Times New Roman"/>
              </a:rPr>
              <a:t> { </a:t>
            </a:r>
            <a:endParaRPr lang="en-US" altLang="en-US" sz="1400" b="1" dirty="0">
              <a:latin typeface="Courier New" pitchFamily="49" charset="0"/>
              <a:cs typeface="Times New Roman" pitchFamily="18" charset="0"/>
            </a:endParaRPr>
          </a:p>
          <a:p>
            <a:pPr marL="0" indent="0">
              <a:lnSpc>
                <a:spcPct val="90000"/>
              </a:lnSpc>
              <a:buNone/>
            </a:pPr>
            <a:r>
              <a:rPr lang="en-US" altLang="en-US" sz="1400" b="1" dirty="0">
                <a:latin typeface="Courier New" pitchFamily="49" charset="0"/>
                <a:cs typeface="Times New Roman" pitchFamily="18" charset="0"/>
              </a:rPr>
              <a:t>    if (num1 &gt; num2)</a:t>
            </a:r>
          </a:p>
          <a:p>
            <a:pPr marL="0" indent="0">
              <a:lnSpc>
                <a:spcPct val="90000"/>
              </a:lnSpc>
              <a:buNone/>
            </a:pPr>
            <a:r>
              <a:rPr lang="en-US" altLang="en-US" sz="1400" b="1" dirty="0">
                <a:latin typeface="Courier New" pitchFamily="49" charset="0"/>
                <a:cs typeface="Times New Roman" pitchFamily="18" charset="0"/>
              </a:rPr>
              <a:t>      return num1;</a:t>
            </a:r>
          </a:p>
          <a:p>
            <a:pPr marL="0" indent="0">
              <a:lnSpc>
                <a:spcPct val="90000"/>
              </a:lnSpc>
              <a:buNone/>
            </a:pPr>
            <a:r>
              <a:rPr lang="en-US" altLang="en-US" sz="1400" b="1" dirty="0">
                <a:latin typeface="Courier New" pitchFamily="49" charset="0"/>
                <a:cs typeface="Times New Roman" pitchFamily="18" charset="0"/>
              </a:rPr>
              <a:t>    else</a:t>
            </a:r>
          </a:p>
          <a:p>
            <a:pPr marL="0" indent="0">
              <a:lnSpc>
                <a:spcPct val="90000"/>
              </a:lnSpc>
              <a:buNone/>
            </a:pPr>
            <a:r>
              <a:rPr lang="en-US" altLang="en-US" sz="1400" b="1" dirty="0">
                <a:latin typeface="Courier New" pitchFamily="49" charset="0"/>
                <a:cs typeface="Times New Roman" pitchFamily="18" charset="0"/>
              </a:rPr>
              <a:t>      return num2;</a:t>
            </a:r>
          </a:p>
          <a:p>
            <a:pPr marL="0" indent="0">
              <a:lnSpc>
                <a:spcPct val="90000"/>
              </a:lnSpc>
              <a:buNone/>
            </a:pPr>
            <a:r>
              <a:rPr lang="en-US" altLang="en-US" sz="1400" b="1" dirty="0">
                <a:latin typeface="Courier New" pitchFamily="49" charset="0"/>
                <a:cs typeface="Times New Roman" pitchFamily="18" charset="0"/>
              </a:rPr>
              <a:t>  }</a:t>
            </a:r>
          </a:p>
          <a:p>
            <a:pPr marL="0" indent="0">
              <a:lnSpc>
                <a:spcPct val="90000"/>
              </a:lnSpc>
              <a:buNone/>
            </a:pPr>
            <a:r>
              <a:rPr lang="en-US" altLang="en-US" sz="1400" b="1" dirty="0">
                <a:solidFill>
                  <a:srgbClr val="FF0000"/>
                </a:solidFill>
                <a:latin typeface="Courier New"/>
                <a:cs typeface="Times New Roman"/>
              </a:rPr>
              <a:t>  </a:t>
            </a:r>
            <a:r>
              <a:rPr lang="en-US" altLang="en-US" sz="1400" b="1" dirty="0">
                <a:solidFill>
                  <a:schemeClr val="tx1"/>
                </a:solidFill>
                <a:latin typeface="Courier New"/>
                <a:cs typeface="Times New Roman"/>
              </a:rPr>
              <a:t>public static double max(double num1, int num2)</a:t>
            </a:r>
            <a:r>
              <a:rPr lang="en-US" altLang="en-US" sz="1400" b="1" dirty="0">
                <a:solidFill>
                  <a:srgbClr val="FF0000"/>
                </a:solidFill>
                <a:latin typeface="Courier New"/>
                <a:cs typeface="Times New Roman"/>
              </a:rPr>
              <a:t> </a:t>
            </a:r>
            <a:r>
              <a:rPr lang="en-US" altLang="en-US" sz="1400" b="1" dirty="0">
                <a:latin typeface="Courier New"/>
                <a:cs typeface="Times New Roman"/>
              </a:rPr>
              <a:t>{</a:t>
            </a:r>
          </a:p>
          <a:p>
            <a:pPr marL="0" indent="0">
              <a:lnSpc>
                <a:spcPct val="90000"/>
              </a:lnSpc>
              <a:buNone/>
            </a:pPr>
            <a:r>
              <a:rPr lang="en-US" altLang="en-US" sz="1400" b="1" dirty="0">
                <a:latin typeface="Courier New" pitchFamily="49" charset="0"/>
                <a:cs typeface="Times New Roman" pitchFamily="18" charset="0"/>
              </a:rPr>
              <a:t>    if (num1 &gt; num2)</a:t>
            </a:r>
          </a:p>
          <a:p>
            <a:pPr marL="0" indent="0">
              <a:lnSpc>
                <a:spcPct val="90000"/>
              </a:lnSpc>
              <a:buNone/>
            </a:pPr>
            <a:r>
              <a:rPr lang="en-US" altLang="en-US" sz="1400" b="1" dirty="0">
                <a:latin typeface="Courier New" pitchFamily="49" charset="0"/>
                <a:cs typeface="Times New Roman" pitchFamily="18" charset="0"/>
              </a:rPr>
              <a:t>      return num1;</a:t>
            </a:r>
          </a:p>
          <a:p>
            <a:pPr marL="0" indent="0">
              <a:lnSpc>
                <a:spcPct val="90000"/>
              </a:lnSpc>
              <a:buNone/>
            </a:pPr>
            <a:r>
              <a:rPr lang="en-US" altLang="en-US" sz="1400" b="1" dirty="0">
                <a:latin typeface="Courier New" pitchFamily="49" charset="0"/>
                <a:cs typeface="Times New Roman" pitchFamily="18" charset="0"/>
              </a:rPr>
              <a:t>    else</a:t>
            </a:r>
          </a:p>
          <a:p>
            <a:pPr marL="0" indent="0">
              <a:lnSpc>
                <a:spcPct val="90000"/>
              </a:lnSpc>
              <a:buNone/>
            </a:pPr>
            <a:r>
              <a:rPr lang="en-US" altLang="en-US" sz="1400" b="1" dirty="0">
                <a:latin typeface="Courier New" pitchFamily="49" charset="0"/>
                <a:cs typeface="Times New Roman" pitchFamily="18" charset="0"/>
              </a:rPr>
              <a:t>      return num2;     </a:t>
            </a:r>
          </a:p>
          <a:p>
            <a:pPr marL="0" indent="0">
              <a:lnSpc>
                <a:spcPct val="90000"/>
              </a:lnSpc>
              <a:buNone/>
            </a:pPr>
            <a:r>
              <a:rPr lang="en-US" altLang="en-US" sz="1400" b="1" dirty="0">
                <a:latin typeface="Courier New" pitchFamily="49" charset="0"/>
                <a:cs typeface="Times New Roman" pitchFamily="18" charset="0"/>
              </a:rPr>
              <a:t>  }</a:t>
            </a:r>
          </a:p>
          <a:p>
            <a:pPr marL="0" indent="0">
              <a:lnSpc>
                <a:spcPct val="90000"/>
              </a:lnSpc>
              <a:buNone/>
            </a:pPr>
            <a:r>
              <a:rPr lang="en-US" altLang="en-US" sz="1400" b="1" dirty="0">
                <a:latin typeface="Courier New" pitchFamily="49" charset="0"/>
                <a:cs typeface="Times New Roman" pitchFamily="18" charset="0"/>
              </a:rPr>
              <a:t>}</a:t>
            </a:r>
          </a:p>
        </p:txBody>
      </p:sp>
    </p:spTree>
    <p:extLst>
      <p:ext uri="{BB962C8B-B14F-4D97-AF65-F5344CB8AC3E}">
        <p14:creationId xmlns:p14="http://schemas.microsoft.com/office/powerpoint/2010/main" val="8252684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Scope of Local Variables</a:t>
            </a:r>
          </a:p>
        </p:txBody>
      </p:sp>
      <p:sp>
        <p:nvSpPr>
          <p:cNvPr id="3" name="Text Placeholder 2"/>
          <p:cNvSpPr>
            <a:spLocks noGrp="1"/>
          </p:cNvSpPr>
          <p:nvPr>
            <p:ph type="body" idx="1"/>
          </p:nvPr>
        </p:nvSpPr>
        <p:spPr/>
        <p:txBody>
          <a:bodyPr/>
          <a:lstStyle/>
          <a:p>
            <a:r>
              <a:rPr lang="en-US" altLang="en-US" dirty="0"/>
              <a:t>A local variable: a variable defined inside a method.</a:t>
            </a:r>
          </a:p>
          <a:p>
            <a:r>
              <a:rPr lang="en-US" altLang="en-US" dirty="0"/>
              <a:t>Scope: the part of the program where the variable can be referenced.</a:t>
            </a:r>
          </a:p>
          <a:p>
            <a:r>
              <a:rPr lang="en-US" altLang="en-US" dirty="0"/>
              <a:t>In Java, the scope of a local variable starts from its declaration and continues to the end of the block that contains the variable.</a:t>
            </a:r>
          </a:p>
        </p:txBody>
      </p:sp>
    </p:spTree>
    <p:extLst>
      <p:ext uri="{BB962C8B-B14F-4D97-AF65-F5344CB8AC3E}">
        <p14:creationId xmlns:p14="http://schemas.microsoft.com/office/powerpoint/2010/main" val="2917379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Scope of Local Variables: Example</a:t>
            </a:r>
          </a:p>
        </p:txBody>
      </p:sp>
      <p:sp>
        <p:nvSpPr>
          <p:cNvPr id="3" name="Text Placeholder 2"/>
          <p:cNvSpPr>
            <a:spLocks noGrp="1"/>
          </p:cNvSpPr>
          <p:nvPr>
            <p:ph type="body" idx="1"/>
          </p:nvPr>
        </p:nvSpPr>
        <p:spPr/>
        <p:txBody>
          <a:bodyPr>
            <a:normAutofit/>
          </a:bodyPr>
          <a:lstStyle/>
          <a:p>
            <a:pPr marL="114300" indent="0" eaLnBrk="0" fontAlgn="base" hangingPunct="0">
              <a:lnSpc>
                <a:spcPct val="90000"/>
              </a:lnSpc>
              <a:spcBef>
                <a:spcPct val="20000"/>
              </a:spcBef>
              <a:spcAft>
                <a:spcPct val="0"/>
              </a:spcAft>
              <a:buClr>
                <a:srgbClr val="696464"/>
              </a:buClr>
              <a:buSzPct val="75000"/>
              <a:buNone/>
            </a:pPr>
            <a:r>
              <a:rPr lang="en-US" altLang="en-US" kern="1200" dirty="0">
                <a:solidFill>
                  <a:prstClr val="black"/>
                </a:solidFill>
              </a:rPr>
              <a:t>A nested block cannot redefine a local variable:</a:t>
            </a:r>
          </a:p>
          <a:p>
            <a:pPr marL="596900" lvl="1" indent="0" eaLnBrk="0" fontAlgn="base" hangingPunct="0">
              <a:lnSpc>
                <a:spcPct val="90000"/>
              </a:lnSpc>
              <a:spcBef>
                <a:spcPct val="20000"/>
              </a:spcBef>
              <a:spcAft>
                <a:spcPct val="0"/>
              </a:spcAft>
              <a:buClr>
                <a:srgbClr val="696464"/>
              </a:buClr>
              <a:buSzPct val="75000"/>
              <a:buNone/>
            </a:pPr>
            <a:r>
              <a:rPr lang="en-US" altLang="en-US" sz="1800" b="1" kern="1200" dirty="0">
                <a:solidFill>
                  <a:prstClr val="black"/>
                </a:solidFill>
                <a:latin typeface="Courier New" pitchFamily="49" charset="0"/>
                <a:cs typeface="Times New Roman" pitchFamily="18" charset="0"/>
              </a:rPr>
              <a:t>public static void </a:t>
            </a:r>
            <a:r>
              <a:rPr lang="en-US" altLang="en-US" sz="1800" b="1" kern="1200" dirty="0" err="1">
                <a:solidFill>
                  <a:prstClr val="black"/>
                </a:solidFill>
                <a:latin typeface="Courier New" pitchFamily="49" charset="0"/>
                <a:cs typeface="Times New Roman" pitchFamily="18" charset="0"/>
              </a:rPr>
              <a:t>correctMethod</a:t>
            </a:r>
            <a:r>
              <a:rPr lang="en-US" altLang="en-US" sz="1800" b="1" kern="1200" dirty="0">
                <a:solidFill>
                  <a:prstClr val="black"/>
                </a:solidFill>
                <a:latin typeface="Courier New" pitchFamily="49" charset="0"/>
                <a:cs typeface="Times New Roman" pitchFamily="18" charset="0"/>
              </a:rPr>
              <a:t>() {</a:t>
            </a:r>
          </a:p>
          <a:p>
            <a:pPr marL="596900" lvl="1" indent="0" eaLnBrk="0" fontAlgn="base" hangingPunct="0">
              <a:lnSpc>
                <a:spcPct val="90000"/>
              </a:lnSpc>
              <a:spcBef>
                <a:spcPct val="20000"/>
              </a:spcBef>
              <a:spcAft>
                <a:spcPct val="0"/>
              </a:spcAft>
              <a:buClr>
                <a:srgbClr val="696464"/>
              </a:buClr>
              <a:buSzPct val="75000"/>
              <a:buNone/>
            </a:pPr>
            <a:r>
              <a:rPr lang="en-US" altLang="en-US" sz="1800" b="1" kern="1200" dirty="0">
                <a:latin typeface="Courier New"/>
                <a:cs typeface="Times New Roman"/>
              </a:rPr>
              <a:t>  </a:t>
            </a:r>
            <a:r>
              <a:rPr lang="en-US" altLang="en-US" sz="1800" b="1" kern="1200" dirty="0">
                <a:solidFill>
                  <a:schemeClr val="tx1"/>
                </a:solidFill>
                <a:latin typeface="Courier New"/>
                <a:cs typeface="Times New Roman"/>
              </a:rPr>
              <a:t>int x = 1;</a:t>
            </a:r>
          </a:p>
          <a:p>
            <a:pPr marL="596900" lvl="1" indent="0" eaLnBrk="0" fontAlgn="base" hangingPunct="0">
              <a:lnSpc>
                <a:spcPct val="90000"/>
              </a:lnSpc>
              <a:spcBef>
                <a:spcPct val="20000"/>
              </a:spcBef>
              <a:spcAft>
                <a:spcPct val="0"/>
              </a:spcAft>
              <a:buClr>
                <a:srgbClr val="696464"/>
              </a:buClr>
              <a:buSzPct val="75000"/>
              <a:buNone/>
            </a:pPr>
            <a:r>
              <a:rPr lang="en-US" altLang="en-US" sz="1800" b="1" kern="1200" dirty="0">
                <a:latin typeface="Courier New"/>
                <a:cs typeface="Times New Roman"/>
              </a:rPr>
              <a:t>  int y = 1;</a:t>
            </a:r>
          </a:p>
          <a:p>
            <a:pPr marL="596900" lvl="1" indent="0" eaLnBrk="0" fontAlgn="base" hangingPunct="0">
              <a:lnSpc>
                <a:spcPct val="90000"/>
              </a:lnSpc>
              <a:spcBef>
                <a:spcPct val="20000"/>
              </a:spcBef>
              <a:spcAft>
                <a:spcPct val="0"/>
              </a:spcAft>
              <a:buClr>
                <a:srgbClr val="696464"/>
              </a:buClr>
              <a:buSzPct val="75000"/>
              <a:buNone/>
            </a:pPr>
            <a:r>
              <a:rPr lang="en-US" altLang="en-US" sz="1800" b="1" kern="1200" dirty="0">
                <a:latin typeface="Courier New"/>
                <a:cs typeface="Times New Roman"/>
              </a:rPr>
              <a:t>  for (int </a:t>
            </a:r>
            <a:r>
              <a:rPr lang="en-US" altLang="en-US" sz="1800" b="1" kern="1200" dirty="0" err="1">
                <a:latin typeface="Courier New"/>
                <a:cs typeface="Times New Roman"/>
              </a:rPr>
              <a:t>i</a:t>
            </a:r>
            <a:r>
              <a:rPr lang="en-US" altLang="en-US" sz="1800" b="1" kern="1200" dirty="0">
                <a:latin typeface="Courier New"/>
                <a:cs typeface="Times New Roman"/>
              </a:rPr>
              <a:t> = 1; </a:t>
            </a:r>
            <a:r>
              <a:rPr lang="en-US" altLang="en-US" sz="1800" b="1" kern="1200" dirty="0" err="1">
                <a:latin typeface="Courier New"/>
                <a:cs typeface="Times New Roman"/>
              </a:rPr>
              <a:t>i</a:t>
            </a:r>
            <a:r>
              <a:rPr lang="en-US" altLang="en-US" sz="1800" b="1" kern="1200" dirty="0">
                <a:latin typeface="Courier New"/>
                <a:cs typeface="Times New Roman"/>
              </a:rPr>
              <a:t> &lt; 10; </a:t>
            </a:r>
            <a:r>
              <a:rPr lang="en-US" altLang="en-US" sz="1800" b="1" kern="1200" dirty="0" err="1">
                <a:latin typeface="Courier New"/>
                <a:cs typeface="Times New Roman"/>
              </a:rPr>
              <a:t>i</a:t>
            </a:r>
            <a:r>
              <a:rPr lang="en-US" altLang="en-US" sz="1800" b="1" kern="1200" dirty="0">
                <a:latin typeface="Courier New"/>
                <a:cs typeface="Times New Roman"/>
              </a:rPr>
              <a:t>++) {</a:t>
            </a:r>
          </a:p>
          <a:p>
            <a:pPr marL="596900" lvl="1" indent="0" eaLnBrk="0" fontAlgn="base" hangingPunct="0">
              <a:lnSpc>
                <a:spcPct val="90000"/>
              </a:lnSpc>
              <a:spcBef>
                <a:spcPct val="20000"/>
              </a:spcBef>
              <a:spcAft>
                <a:spcPct val="0"/>
              </a:spcAft>
              <a:buClr>
                <a:srgbClr val="696464"/>
              </a:buClr>
              <a:buSzPct val="75000"/>
              <a:buNone/>
            </a:pPr>
            <a:r>
              <a:rPr lang="en-US" altLang="en-US" sz="1800" b="1" kern="1200" dirty="0">
                <a:latin typeface="Courier New"/>
                <a:cs typeface="Times New Roman"/>
              </a:rPr>
              <a:t>    </a:t>
            </a:r>
            <a:r>
              <a:rPr lang="en-US" altLang="en-US" sz="1800" b="1" kern="1200" dirty="0">
                <a:solidFill>
                  <a:schemeClr val="tx1"/>
                </a:solidFill>
                <a:latin typeface="Courier New"/>
                <a:cs typeface="Times New Roman"/>
              </a:rPr>
              <a:t>int x = 0; // error</a:t>
            </a:r>
          </a:p>
          <a:p>
            <a:pPr marL="596900" lvl="1" indent="0" eaLnBrk="0" fontAlgn="base" hangingPunct="0">
              <a:lnSpc>
                <a:spcPct val="90000"/>
              </a:lnSpc>
              <a:spcBef>
                <a:spcPct val="20000"/>
              </a:spcBef>
              <a:spcAft>
                <a:spcPct val="0"/>
              </a:spcAft>
              <a:buClr>
                <a:srgbClr val="696464"/>
              </a:buClr>
              <a:buSzPct val="75000"/>
              <a:buNone/>
            </a:pPr>
            <a:r>
              <a:rPr lang="en-US" altLang="en-US" sz="1800" b="1" kern="1200" dirty="0">
                <a:solidFill>
                  <a:prstClr val="black"/>
                </a:solidFill>
                <a:latin typeface="Courier New" pitchFamily="49" charset="0"/>
                <a:cs typeface="Times New Roman" pitchFamily="18" charset="0"/>
              </a:rPr>
              <a:t>    x += </a:t>
            </a:r>
            <a:r>
              <a:rPr lang="en-US" altLang="en-US" sz="1800" b="1" kern="1200" dirty="0" err="1">
                <a:solidFill>
                  <a:prstClr val="black"/>
                </a:solidFill>
                <a:latin typeface="Courier New" pitchFamily="49" charset="0"/>
                <a:cs typeface="Times New Roman" pitchFamily="18" charset="0"/>
              </a:rPr>
              <a:t>i</a:t>
            </a:r>
            <a:r>
              <a:rPr lang="en-US" altLang="en-US" sz="1800" b="1" kern="1200" dirty="0">
                <a:solidFill>
                  <a:prstClr val="black"/>
                </a:solidFill>
                <a:latin typeface="Courier New" pitchFamily="49" charset="0"/>
                <a:cs typeface="Times New Roman" pitchFamily="18" charset="0"/>
              </a:rPr>
              <a:t>;</a:t>
            </a:r>
          </a:p>
          <a:p>
            <a:pPr marL="596900" lvl="1" indent="0" eaLnBrk="0" fontAlgn="base" hangingPunct="0">
              <a:lnSpc>
                <a:spcPct val="90000"/>
              </a:lnSpc>
              <a:spcBef>
                <a:spcPct val="20000"/>
              </a:spcBef>
              <a:spcAft>
                <a:spcPct val="0"/>
              </a:spcAft>
              <a:buClr>
                <a:srgbClr val="696464"/>
              </a:buClr>
              <a:buSzPct val="75000"/>
              <a:buNone/>
            </a:pPr>
            <a:r>
              <a:rPr lang="en-US" altLang="en-US" sz="1800" b="1" kern="1200" dirty="0">
                <a:solidFill>
                  <a:prstClr val="black"/>
                </a:solidFill>
                <a:latin typeface="Courier New" pitchFamily="49" charset="0"/>
                <a:cs typeface="Times New Roman" pitchFamily="18" charset="0"/>
              </a:rPr>
              <a:t>  }</a:t>
            </a:r>
          </a:p>
          <a:p>
            <a:pPr marL="596900" lvl="1" indent="0" eaLnBrk="0" fontAlgn="base" hangingPunct="0">
              <a:lnSpc>
                <a:spcPct val="90000"/>
              </a:lnSpc>
              <a:spcBef>
                <a:spcPct val="20000"/>
              </a:spcBef>
              <a:spcAft>
                <a:spcPct val="0"/>
              </a:spcAft>
              <a:buClr>
                <a:srgbClr val="696464"/>
              </a:buClr>
              <a:buSzPct val="75000"/>
              <a:buNone/>
            </a:pPr>
            <a:r>
              <a:rPr lang="en-US" altLang="en-US" sz="1800" b="1" kern="1200" dirty="0">
                <a:solidFill>
                  <a:prstClr val="black"/>
                </a:solidFill>
                <a:latin typeface="Courier New" pitchFamily="49" charset="0"/>
                <a:cs typeface="Times New Roman" pitchFamily="18" charset="0"/>
              </a:rPr>
              <a:t>}</a:t>
            </a:r>
          </a:p>
        </p:txBody>
      </p:sp>
    </p:spTree>
    <p:extLst>
      <p:ext uri="{BB962C8B-B14F-4D97-AF65-F5344CB8AC3E}">
        <p14:creationId xmlns:p14="http://schemas.microsoft.com/office/powerpoint/2010/main" val="261596220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5538c6363dcc66390f334cc79d134dde">
  <xsd:schema xmlns:xsd="http://www.w3.org/2001/XMLSchema" xmlns:xs="http://www.w3.org/2001/XMLSchema" xmlns:p="http://schemas.microsoft.com/office/2006/metadata/properties" xmlns:ns2="dd520bba-7c1e-4c79-bf9d-255d7ed0f3a3" targetNamespace="http://schemas.microsoft.com/office/2006/metadata/properties" ma:root="true" ma:fieldsID="f941384ee89c8d55594949fcab33c8bd"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87EA087-A41A-4EEA-9EEC-5CF852362809}"/>
</file>

<file path=customXml/itemProps2.xml><?xml version="1.0" encoding="utf-8"?>
<ds:datastoreItem xmlns:ds="http://schemas.openxmlformats.org/officeDocument/2006/customXml" ds:itemID="{F26FB4B7-FD83-4B31-BF5B-7893C0638B7C}"/>
</file>

<file path=customXml/itemProps3.xml><?xml version="1.0" encoding="utf-8"?>
<ds:datastoreItem xmlns:ds="http://schemas.openxmlformats.org/officeDocument/2006/customXml" ds:itemID="{A108FE29-B9F9-43B1-8830-9D0BDB58D189}"/>
</file>

<file path=docProps/app.xml><?xml version="1.0" encoding="utf-8"?>
<Properties xmlns="http://schemas.openxmlformats.org/officeDocument/2006/extended-properties" xmlns:vt="http://schemas.openxmlformats.org/officeDocument/2006/docPropsVTypes">
  <TotalTime>10082</TotalTime>
  <Words>1457</Words>
  <Application>Microsoft Office PowerPoint</Application>
  <PresentationFormat>On-screen Show (16:9)</PresentationFormat>
  <Paragraphs>213</Paragraphs>
  <Slides>45</Slides>
  <Notes>13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45</vt:i4>
      </vt:variant>
    </vt:vector>
  </HeadingPairs>
  <TitlesOfParts>
    <vt:vector size="53" baseType="lpstr">
      <vt:lpstr>Google Sans</vt:lpstr>
      <vt:lpstr>Arial</vt:lpstr>
      <vt:lpstr>Consolas</vt:lpstr>
      <vt:lpstr>Courier New</vt:lpstr>
      <vt:lpstr>Times New Roman</vt:lpstr>
      <vt:lpstr>Simple Light</vt:lpstr>
      <vt:lpstr>Picture</vt:lpstr>
      <vt:lpstr>Microsoft Word Picture</vt:lpstr>
      <vt:lpstr>Methods</vt:lpstr>
      <vt:lpstr>Objectives</vt:lpstr>
      <vt:lpstr>Opening Problem</vt:lpstr>
      <vt:lpstr>Opening Problem: contd..</vt:lpstr>
      <vt:lpstr>Opening Problem Solution</vt:lpstr>
      <vt:lpstr>Why write methods? </vt:lpstr>
      <vt:lpstr>Rule of thumb</vt:lpstr>
      <vt:lpstr>Top-down Programming Approach</vt:lpstr>
      <vt:lpstr>Defining Methods</vt:lpstr>
      <vt:lpstr>Method Signature</vt:lpstr>
      <vt:lpstr>Somewhat Off Topic:</vt:lpstr>
      <vt:lpstr>Formal Parameters</vt:lpstr>
      <vt:lpstr>Actual Parameters</vt:lpstr>
      <vt:lpstr>Return Value Type</vt:lpstr>
      <vt:lpstr>Calling Methods</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Benefits of Methods</vt:lpstr>
      <vt:lpstr>Method Abstraction</vt:lpstr>
      <vt:lpstr>Call Stacks </vt:lpstr>
      <vt:lpstr>Trace Call Stack</vt:lpstr>
      <vt:lpstr>Trace Call Stack</vt:lpstr>
      <vt:lpstr>Trace Call Stack</vt:lpstr>
      <vt:lpstr>Trace Call Stack</vt:lpstr>
      <vt:lpstr>Trace Call Stack</vt:lpstr>
      <vt:lpstr>Trace Call Stack</vt:lpstr>
      <vt:lpstr>Trace Call Stack</vt:lpstr>
      <vt:lpstr>Trace Call Stack</vt:lpstr>
      <vt:lpstr>Trace Call Stack</vt:lpstr>
      <vt:lpstr>Trace Call Stack</vt:lpstr>
      <vt:lpstr>Call-by-value</vt:lpstr>
      <vt:lpstr>Call-by-value: Stacks</vt:lpstr>
      <vt:lpstr>Overloading</vt:lpstr>
      <vt:lpstr>Overloading &amp; Ambiguous Invocation</vt:lpstr>
      <vt:lpstr>Overloading &amp; Ambiguous Invocation: Example</vt:lpstr>
      <vt:lpstr>Scope of Local Variables</vt:lpstr>
      <vt:lpstr>Scope of Local Variables: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XINRUI YU</cp:lastModifiedBy>
  <cp:revision>580</cp:revision>
  <dcterms:modified xsi:type="dcterms:W3CDTF">2025-10-23T12:56:18Z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