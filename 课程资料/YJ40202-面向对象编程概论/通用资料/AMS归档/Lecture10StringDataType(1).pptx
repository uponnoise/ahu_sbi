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328" r:id="rId3"/>
    <p:sldId id="264" r:id="rId4"/>
    <p:sldId id="305" r:id="rId5"/>
    <p:sldId id="306" r:id="rId6"/>
    <p:sldId id="329" r:id="rId7"/>
    <p:sldId id="331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864" autoAdjust="0"/>
  </p:normalViewPr>
  <p:slideViewPr>
    <p:cSldViewPr snapToGrid="0">
      <p:cViewPr varScale="1">
        <p:scale>
          <a:sx n="119" d="100"/>
          <a:sy n="119" d="100"/>
        </p:scale>
        <p:origin x="84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12C67683-43FC-421E-8266-C98C3D565312}"/>
    <pc:docChg chg="custSel delSld modSld">
      <pc:chgData name="于 心瑞 Xinrui YU" userId="e6fcc6d4-2b88-4beb-95d7-57ae4d33a768" providerId="ADAL" clId="{12C67683-43FC-421E-8266-C98C3D565312}" dt="2025-03-09T13:17:31.016" v="94" actId="20577"/>
      <pc:docMkLst>
        <pc:docMk/>
      </pc:docMkLst>
      <pc:sldChg chg="addSp delSp modSp mod">
        <pc:chgData name="于 心瑞 Xinrui YU" userId="e6fcc6d4-2b88-4beb-95d7-57ae4d33a768" providerId="ADAL" clId="{12C67683-43FC-421E-8266-C98C3D565312}" dt="2025-03-02T01:11:39.532" v="1"/>
        <pc:sldMkLst>
          <pc:docMk/>
          <pc:sldMk cId="0" sldId="256"/>
        </pc:sldMkLst>
        <pc:picChg chg="add mod">
          <ac:chgData name="于 心瑞 Xinrui YU" userId="e6fcc6d4-2b88-4beb-95d7-57ae4d33a768" providerId="ADAL" clId="{12C67683-43FC-421E-8266-C98C3D565312}" dt="2025-03-02T01:11:39.532" v="1"/>
          <ac:picMkLst>
            <pc:docMk/>
            <pc:sldMk cId="0" sldId="256"/>
            <ac:picMk id="3" creationId="{D7657517-4108-DC28-0C2E-FF24F78542C6}"/>
          </ac:picMkLst>
        </pc:picChg>
      </pc:sldChg>
      <pc:sldChg chg="del">
        <pc:chgData name="于 心瑞 Xinrui YU" userId="e6fcc6d4-2b88-4beb-95d7-57ae4d33a768" providerId="ADAL" clId="{12C67683-43FC-421E-8266-C98C3D565312}" dt="2025-03-02T01:12:05.325" v="2" actId="47"/>
        <pc:sldMkLst>
          <pc:docMk/>
          <pc:sldMk cId="0" sldId="260"/>
        </pc:sldMkLst>
      </pc:sldChg>
      <pc:sldChg chg="modNotesTx">
        <pc:chgData name="于 心瑞 Xinrui YU" userId="e6fcc6d4-2b88-4beb-95d7-57ae4d33a768" providerId="ADAL" clId="{12C67683-43FC-421E-8266-C98C3D565312}" dt="2025-03-09T13:17:31.016" v="94" actId="20577"/>
        <pc:sldMkLst>
          <pc:docMk/>
          <pc:sldMk cId="883489365" sldId="310"/>
        </pc:sldMkLst>
      </pc:sldChg>
      <pc:sldChg chg="modNotesTx">
        <pc:chgData name="于 心瑞 Xinrui YU" userId="e6fcc6d4-2b88-4beb-95d7-57ae4d33a768" providerId="ADAL" clId="{12C67683-43FC-421E-8266-C98C3D565312}" dt="2025-03-09T13:17:13.486" v="65" actId="20577"/>
        <pc:sldMkLst>
          <pc:docMk/>
          <pc:sldMk cId="908732871" sldId="319"/>
        </pc:sldMkLst>
      </pc:sldChg>
    </pc:docChg>
  </pc:docChgLst>
  <pc:docChgLst>
    <pc:chgData name="于 心瑞 Xinrui YU" userId="e6fcc6d4-2b88-4beb-95d7-57ae4d33a768" providerId="ADAL" clId="{D15EC9CD-A6C0-45AD-9B0B-912B8E0DD55A}"/>
    <pc:docChg chg="custSel modSld">
      <pc:chgData name="于 心瑞 Xinrui YU" userId="e6fcc6d4-2b88-4beb-95d7-57ae4d33a768" providerId="ADAL" clId="{D15EC9CD-A6C0-45AD-9B0B-912B8E0DD55A}" dt="2025-03-10T07:45:48.611" v="28"/>
      <pc:docMkLst>
        <pc:docMk/>
      </pc:docMkLst>
      <pc:sldChg chg="modNotesTx">
        <pc:chgData name="于 心瑞 Xinrui YU" userId="e6fcc6d4-2b88-4beb-95d7-57ae4d33a768" providerId="ADAL" clId="{D15EC9CD-A6C0-45AD-9B0B-912B8E0DD55A}" dt="2025-03-10T07:45:48.611" v="28"/>
        <pc:sldMkLst>
          <pc:docMk/>
          <pc:sldMk cId="3714030802" sldId="320"/>
        </pc:sldMkLst>
      </pc:sldChg>
      <pc:sldChg chg="modNotesTx">
        <pc:chgData name="于 心瑞 Xinrui YU" userId="e6fcc6d4-2b88-4beb-95d7-57ae4d33a768" providerId="ADAL" clId="{D15EC9CD-A6C0-45AD-9B0B-912B8E0DD55A}" dt="2025-03-03T03:44:54.506" v="27" actId="20577"/>
        <pc:sldMkLst>
          <pc:docMk/>
          <pc:sldMk cId="223323793" sldId="328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Immutable </a:t>
            </a:r>
            <a:r>
              <a:rPr lang="zh-CN" altLang="en-US"/>
              <a:t>不可改动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6037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Class 01 ended here last week</a:t>
            </a:r>
          </a:p>
        </p:txBody>
      </p:sp>
    </p:spTree>
    <p:extLst>
      <p:ext uri="{BB962C8B-B14F-4D97-AF65-F5344CB8AC3E}">
        <p14:creationId xmlns:p14="http://schemas.microsoft.com/office/powerpoint/2010/main" val="1373491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Java checks string pool</a:t>
            </a:r>
          </a:p>
          <a:p>
            <a:r>
              <a:rPr lang="en-US" dirty="0"/>
              <a:t>Class 02 ended here last week</a:t>
            </a:r>
          </a:p>
        </p:txBody>
      </p:sp>
    </p:spTree>
    <p:extLst>
      <p:ext uri="{BB962C8B-B14F-4D97-AF65-F5344CB8AC3E}">
        <p14:creationId xmlns:p14="http://schemas.microsoft.com/office/powerpoint/2010/main" val="2850688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latinLnBrk="1">
              <a:buNone/>
            </a:pPr>
            <a:r>
              <a:rPr lang="zh-CN" altLang="en-US" b="0" i="1" dirty="0">
                <a:solidFill>
                  <a:srgbClr val="333333"/>
                </a:solidFill>
                <a:effectLst/>
                <a:latin typeface="Helvetica Neue"/>
              </a:rPr>
              <a:t>如果第一个字符和参数的第一个字符不等，结束比较，返回第一个字符的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ASCII</a:t>
            </a:r>
            <a:r>
              <a:rPr lang="zh-CN" altLang="en-US" b="0" i="1" dirty="0">
                <a:solidFill>
                  <a:srgbClr val="333333"/>
                </a:solidFill>
                <a:effectLst/>
                <a:latin typeface="Helvetica Neue"/>
              </a:rPr>
              <a:t>码差值。</a:t>
            </a:r>
          </a:p>
          <a:p>
            <a:pPr algn="l" latinLnBrk="1"/>
            <a:r>
              <a:rPr lang="zh-CN" altLang="en-US" b="0" i="1" dirty="0">
                <a:solidFill>
                  <a:srgbClr val="333333"/>
                </a:solidFill>
                <a:effectLst/>
                <a:latin typeface="Helvetica Neue"/>
              </a:rPr>
              <a:t>如果第一个字符和参数的第一个字符相等，则以第二个字符和参数的第二个字符做比较，以此类推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,</a:t>
            </a:r>
            <a:r>
              <a:rPr lang="zh-CN" altLang="en-US" b="0" i="1" dirty="0">
                <a:solidFill>
                  <a:srgbClr val="333333"/>
                </a:solidFill>
                <a:effectLst/>
                <a:latin typeface="Helvetica Neue"/>
              </a:rPr>
              <a:t>直至不等为止，返回该字符的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ASCII</a:t>
            </a:r>
            <a:r>
              <a:rPr lang="zh-CN" altLang="en-US" b="0" i="1" dirty="0">
                <a:solidFill>
                  <a:srgbClr val="333333"/>
                </a:solidFill>
                <a:effectLst/>
                <a:latin typeface="Helvetica Neue"/>
              </a:rPr>
              <a:t>码差值。 如果两个字符串不一样长，可对应字符又完全一样，则返回两个字符串的长度差值。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478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jpeg"/><Relationship Id="rId4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Data Type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String Data Type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D7657517-4108-DC28-0C2E-FF24F7854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String variable example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String is immutable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String concatenation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Some important String methods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Special characters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String substring methods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String equals method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Formatted output</a:t>
            </a:r>
          </a:p>
          <a:p>
            <a:pPr lvl="1" fontAlgn="base"/>
            <a:endParaRPr lang="en-US" dirty="0">
              <a:solidFill>
                <a:schemeClr val="tx1"/>
              </a:solidFill>
              <a:cs typeface="Courier New" pitchFamily="49" charset="0"/>
            </a:endParaRP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8" charset="0"/>
              </a:rPr>
              <a:t> The String Type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Courier New" pitchFamily="49" charset="0"/>
              </a:rPr>
              <a:t>The char type only represents one character. </a:t>
            </a:r>
          </a:p>
          <a:p>
            <a:pPr>
              <a:defRPr/>
            </a:pPr>
            <a:r>
              <a:rPr lang="en-US" dirty="0">
                <a:cs typeface="Courier New" pitchFamily="49" charset="0"/>
              </a:rPr>
              <a:t>To represent a string of characters, use the data type called String.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dirty="0">
                <a:cs typeface="Courier New" pitchFamily="49" charset="0"/>
              </a:rPr>
              <a:t>   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String message = "Welcome to Java";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dirty="0">
                <a:cs typeface="Courier New" pitchFamily="49" charset="0"/>
              </a:rPr>
              <a:t>         </a:t>
            </a:r>
            <a:r>
              <a:rPr lang="en-US" u="sng" dirty="0">
                <a:cs typeface="Courier New" pitchFamily="49" charset="0"/>
              </a:rPr>
              <a:t>String</a:t>
            </a:r>
            <a:r>
              <a:rPr lang="en-US" dirty="0">
                <a:cs typeface="Courier New" pitchFamily="49" charset="0"/>
              </a:rPr>
              <a:t> is a predefined class in the Java library just like the </a:t>
            </a:r>
            <a:r>
              <a:rPr lang="en-US" u="sng" dirty="0">
                <a:cs typeface="Courier New" pitchFamily="49" charset="0"/>
              </a:rPr>
              <a:t>System</a:t>
            </a:r>
            <a:r>
              <a:rPr lang="en-US" dirty="0">
                <a:cs typeface="Courier New" pitchFamily="49" charset="0"/>
              </a:rPr>
              <a:t>       	class</a:t>
            </a:r>
          </a:p>
          <a:p>
            <a:pPr>
              <a:lnSpc>
                <a:spcPct val="125000"/>
              </a:lnSpc>
              <a:defRPr/>
            </a:pPr>
            <a:r>
              <a:rPr lang="en-US" dirty="0">
                <a:cs typeface="Courier New" pitchFamily="49" charset="0"/>
              </a:rPr>
              <a:t>The String type is NOT a primitive type. </a:t>
            </a:r>
          </a:p>
          <a:p>
            <a:pPr>
              <a:lnSpc>
                <a:spcPct val="125000"/>
              </a:lnSpc>
              <a:defRPr/>
            </a:pPr>
            <a:r>
              <a:rPr lang="en-US" sz="1800" dirty="0">
                <a:cs typeface="Courier New" pitchFamily="49" charset="0"/>
              </a:rPr>
              <a:t>The String type is a reference type. </a:t>
            </a:r>
          </a:p>
          <a:p>
            <a:pPr>
              <a:lnSpc>
                <a:spcPct val="125000"/>
              </a:lnSpc>
              <a:defRPr/>
            </a:pPr>
            <a:r>
              <a:rPr lang="en-US" sz="1800" dirty="0">
                <a:cs typeface="Courier New" pitchFamily="49" charset="0"/>
              </a:rPr>
              <a:t>A String variable is a reference variable, an "address" which points to an object storing the value or actual text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sz="2000" dirty="0">
              <a:cs typeface="Courier New" pitchFamily="49" charset="0"/>
            </a:endParaRPr>
          </a:p>
          <a:p>
            <a:pPr marL="239164" indent="-239164" defTabSz="637771">
              <a:lnSpc>
                <a:spcPct val="30000"/>
              </a:lnSpc>
              <a:spcBef>
                <a:spcPts val="2479"/>
              </a:spcBef>
              <a:buSzTx/>
              <a:buNone/>
              <a:defRPr sz="3906"/>
            </a:pPr>
            <a:endParaRPr lang="en-US" sz="2100" dirty="0">
              <a:latin typeface="+mn-lt"/>
            </a:endParaRPr>
          </a:p>
          <a:p>
            <a:pPr marL="239164" indent="-239164" defTabSz="637771">
              <a:lnSpc>
                <a:spcPct val="30000"/>
              </a:lnSpc>
              <a:spcBef>
                <a:spcPts val="2479"/>
              </a:spcBef>
              <a:buSzTx/>
              <a:buNone/>
              <a:defRPr sz="3906"/>
            </a:pPr>
            <a:endParaRPr lang="en-US" dirty="0"/>
          </a:p>
          <a:p>
            <a:endParaRPr lang="en-US" altLang="en-US" sz="2700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1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More about Strings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  <a:defRPr/>
            </a:pPr>
            <a:r>
              <a:rPr lang="en-US" dirty="0"/>
              <a:t>Each character is stored at an index: 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String sentence = "A statement"; 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012345678910</a:t>
            </a:r>
            <a:endParaRPr lang="en-US" dirty="0"/>
          </a:p>
          <a:p>
            <a:pPr marL="114300" indent="0">
              <a:buNone/>
              <a:defRPr/>
            </a:pPr>
            <a:r>
              <a:rPr lang="en-US" dirty="0"/>
              <a:t>The String class </a:t>
            </a:r>
            <a:r>
              <a:rPr lang="en-US" dirty="0">
                <a:solidFill>
                  <a:schemeClr val="tx1"/>
                </a:solidFill>
              </a:rPr>
              <a:t>has methods to process strings</a:t>
            </a:r>
            <a:r>
              <a:rPr lang="en-US" sz="2100" dirty="0"/>
              <a:t>:</a:t>
            </a:r>
            <a:endParaRPr lang="en-US" dirty="0"/>
          </a:p>
          <a:p>
            <a:pPr marL="114300" indent="0">
              <a:buNone/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charAt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(6) is " +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sentence.charAt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(6)); </a:t>
            </a:r>
          </a:p>
          <a:p>
            <a:pPr marL="114300" indent="0">
              <a:buNone/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sentence.toUpperCase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 </a:t>
            </a:r>
          </a:p>
          <a:p>
            <a:pPr marL="114300" indent="0">
              <a:buNone/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sentence.substring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(0,7) +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sentence.substring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(9));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7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Strings are immutable!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There are no methods to change them once they have been created </a:t>
            </a:r>
          </a:p>
          <a:p>
            <a:pPr lvl="1"/>
            <a:r>
              <a:rPr lang="en-US" altLang="en-US" sz="1800" dirty="0"/>
              <a:t>any new assignment will assign a new String to the old variable </a:t>
            </a:r>
            <a:endParaRPr lang="en-US" altLang="en-US" sz="18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String word = "Steven"; 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word =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word.substring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(0, 5); </a:t>
            </a:r>
          </a:p>
          <a:p>
            <a:pPr lvl="1"/>
            <a:r>
              <a:rPr lang="en-US" altLang="en-US" sz="1800" dirty="0"/>
              <a:t>the variable word is now a reference to a new String that contains "Steve" 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51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463" y="155074"/>
            <a:ext cx="1069474" cy="1871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byte b1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6463" y="414421"/>
            <a:ext cx="1069474" cy="1871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byte b2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6463" y="673768"/>
            <a:ext cx="1069474" cy="374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short s1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6463" y="1120357"/>
            <a:ext cx="1069474" cy="748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int</a:t>
            </a:r>
            <a:r>
              <a:rPr lang="en-US" altLang="zh-CN" dirty="0" smtClean="0"/>
              <a:t> i1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76463" y="1941346"/>
            <a:ext cx="1069474" cy="149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long l1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76463" y="3511135"/>
            <a:ext cx="1069474" cy="149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String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16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76463" y="155074"/>
            <a:ext cx="1069474" cy="4853661"/>
            <a:chOff x="176463" y="155074"/>
            <a:chExt cx="1069474" cy="4853661"/>
          </a:xfrm>
        </p:grpSpPr>
        <p:sp>
          <p:nvSpPr>
            <p:cNvPr id="12" name="矩形 11"/>
            <p:cNvSpPr/>
            <p:nvPr/>
          </p:nvSpPr>
          <p:spPr>
            <a:xfrm>
              <a:off x="176463" y="155074"/>
              <a:ext cx="1069474" cy="18715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byte b1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76463" y="414421"/>
              <a:ext cx="1069474" cy="18715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byte b2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76463" y="673768"/>
              <a:ext cx="1069474" cy="3744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short s1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6463" y="1120357"/>
              <a:ext cx="1069474" cy="748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/>
                <a:t>int</a:t>
              </a:r>
              <a:r>
                <a:rPr lang="en-US" altLang="zh-CN" dirty="0" smtClean="0"/>
                <a:t> i1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176463" y="1941346"/>
              <a:ext cx="1069474" cy="14976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long l1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76463" y="3511135"/>
              <a:ext cx="1069474" cy="14976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String a</a:t>
              </a:r>
              <a:endParaRPr lang="zh-CN" altLang="en-US" dirty="0"/>
            </a:p>
          </p:txBody>
        </p:sp>
      </p:grpSp>
      <p:cxnSp>
        <p:nvCxnSpPr>
          <p:cNvPr id="4" name="肘形连接符 3"/>
          <p:cNvCxnSpPr/>
          <p:nvPr/>
        </p:nvCxnSpPr>
        <p:spPr>
          <a:xfrm flipV="1">
            <a:off x="1245937" y="1545389"/>
            <a:ext cx="4021221" cy="27145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多文档 4"/>
          <p:cNvSpPr/>
          <p:nvPr/>
        </p:nvSpPr>
        <p:spPr>
          <a:xfrm>
            <a:off x="5267158" y="625809"/>
            <a:ext cx="2898274" cy="2571917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Shelf 6, </a:t>
            </a:r>
            <a:r>
              <a:rPr lang="en-US" altLang="zh-CN" dirty="0" smtClean="0"/>
              <a:t>Level </a:t>
            </a:r>
            <a:r>
              <a:rPr lang="en-US" altLang="zh-CN" dirty="0"/>
              <a:t>3, </a:t>
            </a:r>
            <a:r>
              <a:rPr lang="en-US" altLang="zh-CN" dirty="0" smtClean="0"/>
              <a:t>Book 12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 smtClean="0"/>
              <a:t>“The </a:t>
            </a:r>
            <a:r>
              <a:rPr lang="en-US" altLang="zh-CN" dirty="0"/>
              <a:t>quick brown fox jumps over the lazy </a:t>
            </a:r>
            <a:r>
              <a:rPr lang="en-US" altLang="zh-CN" dirty="0" smtClean="0"/>
              <a:t>dog”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6463" y="155074"/>
            <a:ext cx="1069474" cy="1871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112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6463" y="414421"/>
            <a:ext cx="1069474" cy="1871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-37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76463" y="673768"/>
            <a:ext cx="1069474" cy="37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62,105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76463" y="1120357"/>
            <a:ext cx="1069474" cy="7488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114,751,251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76463" y="1941346"/>
            <a:ext cx="1069474" cy="14976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12484214746328914…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76463" y="3511135"/>
            <a:ext cx="1069474" cy="1497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Shelf 6, </a:t>
            </a:r>
          </a:p>
          <a:p>
            <a:pPr algn="ctr"/>
            <a:r>
              <a:rPr lang="en-US" altLang="zh-CN" dirty="0" smtClean="0"/>
              <a:t>Level 3, </a:t>
            </a:r>
          </a:p>
          <a:p>
            <a:pPr algn="ctr"/>
            <a:r>
              <a:rPr lang="en-US" altLang="zh-CN" dirty="0" smtClean="0"/>
              <a:t>Book 12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727200" y="112295"/>
            <a:ext cx="503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Example: Drawers and Shelves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796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8" charset="0"/>
              </a:rPr>
              <a:t>String Concatenation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1900" dirty="0"/>
              <a:t>“+” is used for making a new string by concatenating strings: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sz="19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// Three strings are concatenated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String message = "Welcome " + "to " + "Java";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// String Chapter is concatenated with number 2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String s = "Chapter" + 2; // s becomes Chapter2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// String Supplement is concatenated with character B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String s1 = "Supplement" + 'B';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	// s1 becomes 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SupplementB</a:t>
            </a:r>
            <a:endParaRPr lang="en-US" sz="1900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34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Useful String functions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charAt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equals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equalsIgnoreCase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startsWith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endsWith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indexOf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lastIndexOf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replace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substring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toLowerCase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toUpperCase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trim</a:t>
            </a:r>
            <a:r>
              <a:rPr lang="en-US" altLang="en-US" b="1" dirty="0"/>
              <a:t> </a:t>
            </a:r>
          </a:p>
          <a:p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s.equals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(t)</a:t>
            </a:r>
          </a:p>
          <a:p>
            <a:pPr lvl="1"/>
            <a:r>
              <a:rPr lang="en-US" altLang="en-US" sz="1800" b="1" dirty="0"/>
              <a:t>returns</a:t>
            </a:r>
            <a:r>
              <a:rPr lang="en-US" altLang="en-US" sz="1800" dirty="0"/>
              <a:t> 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altLang="en-US" sz="1800" b="1" dirty="0"/>
              <a:t> if 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en-US" sz="1800" b="1" dirty="0"/>
              <a:t> and 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altLang="en-US" sz="1800" b="1" dirty="0"/>
              <a:t> have same letters and sequence</a:t>
            </a:r>
          </a:p>
          <a:p>
            <a:pPr lvl="1"/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altLang="en-US" sz="1800" b="1" dirty="0"/>
              <a:t> otherwise </a:t>
            </a:r>
          </a:p>
          <a:p>
            <a:pPr lvl="1"/>
            <a:endParaRPr lang="en-US" altLang="en-US" sz="2100" b="1" dirty="0"/>
          </a:p>
          <a:p>
            <a:pPr>
              <a:buFont typeface="Wingdings 2" pitchFamily="18" charset="2"/>
              <a:buNone/>
            </a:pPr>
            <a:endParaRPr lang="en-US" altLang="en-US" sz="2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0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Special Characters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\n </a:t>
            </a:r>
            <a:r>
              <a:rPr lang="en-US" altLang="en-US" dirty="0"/>
              <a:t>– newline </a:t>
            </a:r>
          </a:p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\t </a:t>
            </a:r>
            <a:r>
              <a:rPr lang="en-US" altLang="en-US" dirty="0"/>
              <a:t>– tab </a:t>
            </a:r>
          </a:p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\" </a:t>
            </a:r>
            <a:r>
              <a:rPr lang="en-US" altLang="en-US" dirty="0"/>
              <a:t>– quotation mark </a:t>
            </a:r>
          </a:p>
          <a:p>
            <a:r>
              <a:rPr lang="en-US" altLang="en-US" dirty="0"/>
              <a:t>Example: </a:t>
            </a: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String s = "&lt;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=\"./pic.jpg\" /&gt;";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(s + "\n");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5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Getting Characters from a String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message = "Welcome to Java";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"The first character in message is "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+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message.charAt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(0));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94" y="1229568"/>
            <a:ext cx="6615452" cy="14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348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Reading a String from the Console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 input = new Scanner(System.in);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("Enter three words separated by spaces:");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s1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s2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s3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("s1 is " + s1);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("s2 is " + s2);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("s3 is " + s3);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24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Reading a Character from the Console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 input = new Scanner(System.in);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character: ");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s.charAt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("The character entered is "+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165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Don’t use ‘==’ to compare Strings</a:t>
            </a:r>
          </a:p>
          <a:p>
            <a:pPr lvl="1"/>
            <a:r>
              <a:rPr lang="en-US" altLang="en-US" sz="1800" dirty="0"/>
              <a:t>it compares their memory addresses and not actual strings (character sequences)</a:t>
            </a:r>
          </a:p>
          <a:p>
            <a:pPr lvl="1"/>
            <a:r>
              <a:rPr lang="en-US" altLang="en-US" sz="1800" dirty="0"/>
              <a:t>Instead use the </a:t>
            </a:r>
            <a:r>
              <a:rPr lang="en-US" altLang="en-US" sz="1800" dirty="0">
                <a:latin typeface="Courier New" pitchFamily="49" charset="0"/>
                <a:cs typeface="Courier New" pitchFamily="49" charset="0"/>
              </a:rPr>
              <a:t>equals</a:t>
            </a:r>
            <a:r>
              <a:rPr lang="en-US" altLang="en-US" sz="1800" dirty="0"/>
              <a:t> method supplied by the String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84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Example1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 word1 =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String word2 = new 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if (word1 == word2){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 2" pitchFamily="18" charset="2"/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Result?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6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Example1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 word1 =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String word2 = new 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if (word1 == word2){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 2" pitchFamily="18" charset="2"/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Result? false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Because: two different addresses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89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Example2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 word1 =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String word2 = new 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if (word1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.equals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(word2)){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Result? </a:t>
            </a:r>
          </a:p>
          <a:p>
            <a:pPr>
              <a:buFont typeface="Wingdings 2" pitchFamily="18" charset="2"/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9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Example2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 word1 =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String word2 = new String("Hello");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if (word1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.equals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(word2)){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Result? true</a:t>
            </a:r>
          </a:p>
          <a:p>
            <a:pPr>
              <a:buFont typeface="Wingdings 2" pitchFamily="18" charset="2"/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027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Example3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String word1 = "Hello";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String word2 = "Hello";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(word1 == word2){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Result 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41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Example3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String word1 = "Hello";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String word2 = "Hello";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(word1 == word2){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(true);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(false); </a:t>
            </a:r>
          </a:p>
          <a:p>
            <a:pPr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Result ? true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</a:rPr>
              <a:t>Interned Strings: Only one instance of </a:t>
            </a:r>
            <a:r>
              <a:rPr lang="en-US" alt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"Hello"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</a:rPr>
              <a:t>is stored</a:t>
            </a:r>
          </a:p>
          <a:p>
            <a:pPr lvl="1"/>
            <a:r>
              <a:rPr lang="en-US" altLang="en-US" sz="2100" dirty="0">
                <a:solidFill>
                  <a:srgbClr val="000000"/>
                </a:solidFill>
                <a:latin typeface="Times New Roman" pitchFamily="18" charset="0"/>
              </a:rPr>
              <a:t>word1 and word2 will have the same address</a:t>
            </a:r>
            <a:endParaRPr lang="en-US" altLang="en-US" sz="21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32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Comparing Strings: Methods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999985"/>
              </p:ext>
            </p:extLst>
          </p:nvPr>
        </p:nvGraphicFramePr>
        <p:xfrm>
          <a:off x="311700" y="1152475"/>
          <a:ext cx="6505575" cy="1840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icture" r:id="rId4" imgW="4915080" imgH="1397160" progId="Word.Picture.8">
                  <p:embed/>
                </p:oleObj>
              </mc:Choice>
              <mc:Fallback>
                <p:oleObj name="Picture" r:id="rId4" imgW="4915080" imgH="139716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00" y="1152475"/>
                        <a:ext cx="6505575" cy="1840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4030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Obtaining Substrings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529140"/>
              </p:ext>
            </p:extLst>
          </p:nvPr>
        </p:nvGraphicFramePr>
        <p:xfrm>
          <a:off x="222250" y="1152525"/>
          <a:ext cx="6543675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Picture" r:id="rId3" imgW="4915080" imgH="1143000" progId="Word.Picture.8">
                  <p:embed/>
                </p:oleObj>
              </mc:Choice>
              <mc:Fallback>
                <p:oleObj name="Picture" r:id="rId3" imgW="4915080" imgH="114300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1152525"/>
                        <a:ext cx="6543675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 descr="aakmnuh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2974762"/>
            <a:ext cx="6247209" cy="14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258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Finding a Character or a Substring in a String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36760"/>
              </p:ext>
            </p:extLst>
          </p:nvPr>
        </p:nvGraphicFramePr>
        <p:xfrm>
          <a:off x="311700" y="1152475"/>
          <a:ext cx="6407944" cy="3192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Picture" r:id="rId3" imgW="4918526" imgH="2453157" progId="Word.Picture.8">
                  <p:embed/>
                </p:oleObj>
              </mc:Choice>
              <mc:Fallback>
                <p:oleObj name="Picture" r:id="rId3" imgW="4918526" imgH="2453157" progId="Word.Picture.8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00" y="1152475"/>
                        <a:ext cx="6407944" cy="3192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9747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Finding a Character or a Substring in a String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k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s.indexOf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 ');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s.substring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k);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s.substring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(k + 1);</a:t>
            </a:r>
          </a:p>
          <a:p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152475"/>
            <a:ext cx="5074444" cy="2188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8268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Conversion between Strings and Numbers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intString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"15";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doubleString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"56.77653";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intValue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intString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doubleValue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	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Double.parseDouble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doubleString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s2 =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 +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intValue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588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Courier New" pitchFamily="49" charset="0"/>
              </a:rPr>
              <a:t>Formatting Output</a:t>
            </a:r>
            <a:r>
              <a:rPr lang="en-US" altLang="en-US" b="1" dirty="0"/>
              <a:t>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cs typeface="Courier New" pitchFamily="49" charset="0"/>
              </a:rPr>
              <a:t>The </a:t>
            </a:r>
            <a:r>
              <a:rPr lang="en-US" altLang="en-US" dirty="0" err="1">
                <a:cs typeface="Courier New" pitchFamily="49" charset="0"/>
              </a:rPr>
              <a:t>printf</a:t>
            </a:r>
            <a:r>
              <a:rPr lang="en-US" altLang="en-US" dirty="0">
                <a:cs typeface="Courier New" pitchFamily="49" charset="0"/>
              </a:rPr>
              <a:t> statement:</a:t>
            </a:r>
          </a:p>
          <a:p>
            <a:pPr lvl="1">
              <a:spcBef>
                <a:spcPct val="50000"/>
              </a:spcBef>
            </a:pP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(format, items);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cs typeface="Courier New" pitchFamily="49" charset="0"/>
              </a:rPr>
              <a:t>format is a string that may consist of substrings and format </a:t>
            </a:r>
            <a:r>
              <a:rPr lang="en-US" altLang="en-US" b="1" dirty="0">
                <a:cs typeface="Courier New" pitchFamily="49" charset="0"/>
              </a:rPr>
              <a:t>specifiers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cs typeface="Courier New" pitchFamily="49" charset="0"/>
              </a:rPr>
              <a:t>A format specifier begins with a percent sign and specifies how an item should be displayed: a numeric value, character, </a:t>
            </a:r>
            <a:r>
              <a:rPr lang="en-US" altLang="en-US" dirty="0" err="1">
                <a:cs typeface="Courier New" pitchFamily="49" charset="0"/>
              </a:rPr>
              <a:t>boolean</a:t>
            </a:r>
            <a:r>
              <a:rPr lang="en-US" altLang="en-US" dirty="0">
                <a:cs typeface="Courier New" pitchFamily="49" charset="0"/>
              </a:rPr>
              <a:t> value, or a 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465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Courier New" pitchFamily="49" charset="0"/>
              </a:rPr>
              <a:t>Frequently-Used Specifiers</a:t>
            </a:r>
            <a:r>
              <a:rPr lang="en-US" altLang="en-US" b="1" dirty="0"/>
              <a:t>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spcBef>
                <a:spcPct val="50000"/>
              </a:spcBef>
              <a:buNone/>
            </a:pPr>
            <a:r>
              <a:rPr lang="en-US" altLang="en-US" b="1" dirty="0" err="1">
                <a:cs typeface="Courier New" pitchFamily="49" charset="0"/>
              </a:rPr>
              <a:t>Specifier</a:t>
            </a:r>
            <a:r>
              <a:rPr lang="en-US" altLang="en-US" b="1" dirty="0">
                <a:cs typeface="Courier New" pitchFamily="49" charset="0"/>
              </a:rPr>
              <a:t>  Output					Example </a:t>
            </a: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Courier New" pitchFamily="49" charset="0"/>
              </a:rPr>
              <a:t>%b</a:t>
            </a:r>
            <a:r>
              <a:rPr lang="en-US" altLang="en-US" dirty="0">
                <a:cs typeface="Courier New" pitchFamily="49" charset="0"/>
              </a:rPr>
              <a:t> 	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value</a:t>
            </a:r>
            <a:r>
              <a:rPr lang="en-US" altLang="en-US" dirty="0">
                <a:cs typeface="Courier New" pitchFamily="49" charset="0"/>
              </a:rPr>
              <a:t>  				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true or false</a:t>
            </a:r>
            <a:r>
              <a:rPr lang="en-US" altLang="en-US" dirty="0">
                <a:cs typeface="Courier New" pitchFamily="49" charset="0"/>
              </a:rPr>
              <a:t> </a:t>
            </a: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Courier New" pitchFamily="49" charset="0"/>
              </a:rPr>
              <a:t>%c</a:t>
            </a:r>
            <a:r>
              <a:rPr lang="en-US" altLang="en-US" dirty="0">
                <a:cs typeface="Courier New" pitchFamily="49" charset="0"/>
              </a:rPr>
              <a:t>          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 character</a:t>
            </a:r>
            <a:r>
              <a:rPr lang="en-US" altLang="en-US" dirty="0">
                <a:cs typeface="Courier New" pitchFamily="49" charset="0"/>
              </a:rPr>
              <a:t>  				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'a'</a:t>
            </a:r>
            <a:r>
              <a:rPr lang="en-US" altLang="en-US" dirty="0">
                <a:cs typeface="Courier New" pitchFamily="49" charset="0"/>
              </a:rPr>
              <a:t> </a:t>
            </a: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Courier New" pitchFamily="49" charset="0"/>
              </a:rPr>
              <a:t>%d</a:t>
            </a:r>
            <a:r>
              <a:rPr lang="en-US" altLang="en-US" dirty="0">
                <a:cs typeface="Courier New" pitchFamily="49" charset="0"/>
              </a:rPr>
              <a:t>  	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 decimal integer 			       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200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endParaRPr lang="en-US" altLang="en-US" dirty="0">
              <a:cs typeface="Courier New" pitchFamily="49" charset="0"/>
            </a:endParaRP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Courier New" pitchFamily="49" charset="0"/>
              </a:rPr>
              <a:t>%f</a:t>
            </a:r>
            <a:r>
              <a:rPr lang="en-US" altLang="en-US" dirty="0">
                <a:cs typeface="Courier New" pitchFamily="49" charset="0"/>
              </a:rPr>
              <a:t>         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 floating-point number</a:t>
            </a:r>
            <a:r>
              <a:rPr lang="en-US" altLang="en-US" dirty="0">
                <a:cs typeface="Courier New" pitchFamily="49" charset="0"/>
              </a:rPr>
              <a:t> 		                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45.460000</a:t>
            </a:r>
            <a:r>
              <a:rPr lang="en-US" altLang="en-US" dirty="0">
                <a:cs typeface="Courier New" pitchFamily="49" charset="0"/>
              </a:rPr>
              <a:t> </a:t>
            </a: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Courier New" pitchFamily="49" charset="0"/>
              </a:rPr>
              <a:t>%e</a:t>
            </a:r>
            <a:r>
              <a:rPr lang="en-US" altLang="en-US" dirty="0">
                <a:cs typeface="Courier New" pitchFamily="49" charset="0"/>
              </a:rPr>
              <a:t>           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a number in standard scientific notation</a:t>
            </a:r>
            <a:r>
              <a:rPr lang="en-US" altLang="en-US" dirty="0">
                <a:cs typeface="Courier New" pitchFamily="49" charset="0"/>
              </a:rPr>
              <a:t>                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4.556000e+01</a:t>
            </a:r>
          </a:p>
          <a:p>
            <a:pPr marL="114300" indent="0">
              <a:spcBef>
                <a:spcPct val="50000"/>
              </a:spcBef>
              <a:buNone/>
            </a:pPr>
            <a:r>
              <a:rPr lang="en-US" altLang="en-US" u="sng" dirty="0">
                <a:latin typeface="Courier New" pitchFamily="49" charset="0"/>
                <a:cs typeface="Times New Roman" pitchFamily="18" charset="0"/>
              </a:rPr>
              <a:t>%s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 	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 string</a:t>
            </a:r>
            <a:r>
              <a:rPr lang="en-US" altLang="en-US" dirty="0">
                <a:cs typeface="Courier New" pitchFamily="49" charset="0"/>
              </a:rPr>
              <a:t>  				              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"Java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iscool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en-US" dirty="0">
                <a:cs typeface="Courier New" pitchFamily="49" charset="0"/>
              </a:rPr>
              <a:t> </a:t>
            </a:r>
          </a:p>
          <a:p>
            <a:pPr marL="114300" indent="0">
              <a:spcBef>
                <a:spcPct val="50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826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Formatting output: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35087"/>
              </p:ext>
            </p:extLst>
          </p:nvPr>
        </p:nvGraphicFramePr>
        <p:xfrm>
          <a:off x="152400" y="1152525"/>
          <a:ext cx="6000750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Picture" r:id="rId3" imgW="4242960" imgH="1181160" progId="Word.Picture.8">
                  <p:embed/>
                </p:oleObj>
              </mc:Choice>
              <mc:Fallback>
                <p:oleObj name="Picture" r:id="rId3" imgW="4242960" imgH="118116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52525"/>
                        <a:ext cx="6000750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28032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D66E08-A520-4482-A474-9363B5AAF984}"/>
</file>

<file path=customXml/itemProps2.xml><?xml version="1.0" encoding="utf-8"?>
<ds:datastoreItem xmlns:ds="http://schemas.openxmlformats.org/officeDocument/2006/customXml" ds:itemID="{4FD42BD7-BC90-48F4-9FAB-1D2B0A7A315A}"/>
</file>

<file path=customXml/itemProps3.xml><?xml version="1.0" encoding="utf-8"?>
<ds:datastoreItem xmlns:ds="http://schemas.openxmlformats.org/officeDocument/2006/customXml" ds:itemID="{92CED313-A483-4E9B-89FC-A317177BE37A}"/>
</file>

<file path=docProps/app.xml><?xml version="1.0" encoding="utf-8"?>
<Properties xmlns="http://schemas.openxmlformats.org/officeDocument/2006/extended-properties" xmlns:vt="http://schemas.openxmlformats.org/officeDocument/2006/docPropsVTypes">
  <TotalTime>9304</TotalTime>
  <Words>859</Words>
  <Application>Microsoft Office PowerPoint</Application>
  <PresentationFormat>全屏显示(16:9)</PresentationFormat>
  <Paragraphs>224</Paragraphs>
  <Slides>28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Helvetica Neue</vt:lpstr>
      <vt:lpstr>Monotype Sorts</vt:lpstr>
      <vt:lpstr>宋体</vt:lpstr>
      <vt:lpstr>Arial</vt:lpstr>
      <vt:lpstr>Courier New</vt:lpstr>
      <vt:lpstr>Times New Roman</vt:lpstr>
      <vt:lpstr>Wingdings 2</vt:lpstr>
      <vt:lpstr>Simple Light</vt:lpstr>
      <vt:lpstr>Picture</vt:lpstr>
      <vt:lpstr>String Data Type</vt:lpstr>
      <vt:lpstr>Objectives: </vt:lpstr>
      <vt:lpstr> The String Type </vt:lpstr>
      <vt:lpstr>More about Strings </vt:lpstr>
      <vt:lpstr>Strings are immutable! </vt:lpstr>
      <vt:lpstr>PowerPoint 演示文稿</vt:lpstr>
      <vt:lpstr>PowerPoint 演示文稿</vt:lpstr>
      <vt:lpstr>String Concatenation </vt:lpstr>
      <vt:lpstr>Useful String functions </vt:lpstr>
      <vt:lpstr>Special Characters</vt:lpstr>
      <vt:lpstr>Getting Characters from a String </vt:lpstr>
      <vt:lpstr>Reading a String from the Console </vt:lpstr>
      <vt:lpstr>Reading a Character from the Console </vt:lpstr>
      <vt:lpstr>Comparing Strings</vt:lpstr>
      <vt:lpstr>Comparing Strings: Example1</vt:lpstr>
      <vt:lpstr>Comparing Strings: Example1</vt:lpstr>
      <vt:lpstr>Comparing Strings: Example2</vt:lpstr>
      <vt:lpstr>Comparing Strings: Example2</vt:lpstr>
      <vt:lpstr>Comparing Strings: Example3</vt:lpstr>
      <vt:lpstr>Comparing Strings: Example3</vt:lpstr>
      <vt:lpstr>Comparing Strings: Methods</vt:lpstr>
      <vt:lpstr>Obtaining Substrings</vt:lpstr>
      <vt:lpstr>Finding a Character or a Substring in a String</vt:lpstr>
      <vt:lpstr>Finding a Character or a Substring in a String</vt:lpstr>
      <vt:lpstr>Conversion between Strings and Numbers</vt:lpstr>
      <vt:lpstr>Formatting Output </vt:lpstr>
      <vt:lpstr>Frequently-Used Specifiers </vt:lpstr>
      <vt:lpstr>Formatting output: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465</cp:revision>
  <dcterms:modified xsi:type="dcterms:W3CDTF">2025-10-10T05:02:46Z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