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2"/>
  </p:notesMasterIdLst>
  <p:sldIdLst>
    <p:sldId id="256" r:id="rId2"/>
    <p:sldId id="311" r:id="rId3"/>
    <p:sldId id="257" r:id="rId4"/>
    <p:sldId id="286" r:id="rId5"/>
    <p:sldId id="287" r:id="rId6"/>
    <p:sldId id="289"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263" r:id="rId25"/>
    <p:sldId id="265" r:id="rId26"/>
    <p:sldId id="284" r:id="rId27"/>
    <p:sldId id="290" r:id="rId28"/>
    <p:sldId id="291" r:id="rId29"/>
    <p:sldId id="293" r:id="rId30"/>
    <p:sldId id="285"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86" autoAdjust="0"/>
    <p:restoredTop sz="82081" autoAdjust="0"/>
  </p:normalViewPr>
  <p:slideViewPr>
    <p:cSldViewPr snapToGrid="0">
      <p:cViewPr varScale="1">
        <p:scale>
          <a:sx n="124" d="100"/>
          <a:sy n="124" d="100"/>
        </p:scale>
        <p:origin x="3360" y="54"/>
      </p:cViewPr>
      <p:guideLst>
        <p:guide orient="horz" pos="1620"/>
        <p:guide pos="2880"/>
      </p:guideLst>
    </p:cSldViewPr>
  </p:slideViewPr>
  <p:outlineViewPr>
    <p:cViewPr>
      <p:scale>
        <a:sx n="33" d="100"/>
        <a:sy n="33" d="100"/>
      </p:scale>
      <p:origin x="0" y="-13877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F34F8855-C621-4438-806B-08A2E2CB3E3D}"/>
    <pc:docChg chg="modSld">
      <pc:chgData name="于 心瑞 Xinrui YU" userId="e6fcc6d4-2b88-4beb-95d7-57ae4d33a768" providerId="ADAL" clId="{F34F8855-C621-4438-806B-08A2E2CB3E3D}" dt="2025-09-09T11:11:25.144" v="1" actId="20577"/>
      <pc:docMkLst>
        <pc:docMk/>
      </pc:docMkLst>
      <pc:sldChg chg="delSp mod">
        <pc:chgData name="于 心瑞 Xinrui YU" userId="e6fcc6d4-2b88-4beb-95d7-57ae4d33a768" providerId="ADAL" clId="{F34F8855-C621-4438-806B-08A2E2CB3E3D}" dt="2025-09-09T11:10:21.682" v="0" actId="33639"/>
        <pc:sldMkLst>
          <pc:docMk/>
          <pc:sldMk cId="0" sldId="257"/>
        </pc:sldMkLst>
        <pc:inkChg chg="del">
          <ac:chgData name="于 心瑞 Xinrui YU" userId="e6fcc6d4-2b88-4beb-95d7-57ae4d33a768" providerId="ADAL" clId="{F34F8855-C621-4438-806B-08A2E2CB3E3D}" dt="2025-09-09T11:10:21.682" v="0" actId="33639"/>
          <ac:inkMkLst>
            <pc:docMk/>
            <pc:sldMk cId="0" sldId="257"/>
            <ac:inkMk id="3" creationId="{C0F9526D-E787-F368-4FF3-113E8479E5E9}"/>
          </ac:inkMkLst>
        </pc:inkChg>
      </pc:sldChg>
      <pc:sldChg chg="delSp mod">
        <pc:chgData name="于 心瑞 Xinrui YU" userId="e6fcc6d4-2b88-4beb-95d7-57ae4d33a768" providerId="ADAL" clId="{F34F8855-C621-4438-806B-08A2E2CB3E3D}" dt="2025-09-09T11:10:21.682" v="0" actId="33639"/>
        <pc:sldMkLst>
          <pc:docMk/>
          <pc:sldMk cId="3484878752" sldId="286"/>
        </pc:sldMkLst>
        <pc:inkChg chg="del">
          <ac:chgData name="于 心瑞 Xinrui YU" userId="e6fcc6d4-2b88-4beb-95d7-57ae4d33a768" providerId="ADAL" clId="{F34F8855-C621-4438-806B-08A2E2CB3E3D}" dt="2025-09-09T11:10:21.682" v="0" actId="33639"/>
          <ac:inkMkLst>
            <pc:docMk/>
            <pc:sldMk cId="3484878752" sldId="286"/>
            <ac:inkMk id="5" creationId="{798FB790-3446-30BB-747C-41CD1CB363E2}"/>
          </ac:inkMkLst>
        </pc:inkChg>
      </pc:sldChg>
      <pc:sldChg chg="delSp mod">
        <pc:chgData name="于 心瑞 Xinrui YU" userId="e6fcc6d4-2b88-4beb-95d7-57ae4d33a768" providerId="ADAL" clId="{F34F8855-C621-4438-806B-08A2E2CB3E3D}" dt="2025-09-09T11:10:21.682" v="0" actId="33639"/>
        <pc:sldMkLst>
          <pc:docMk/>
          <pc:sldMk cId="1774738070" sldId="287"/>
        </pc:sldMkLst>
        <pc:inkChg chg="del">
          <ac:chgData name="于 心瑞 Xinrui YU" userId="e6fcc6d4-2b88-4beb-95d7-57ae4d33a768" providerId="ADAL" clId="{F34F8855-C621-4438-806B-08A2E2CB3E3D}" dt="2025-09-09T11:10:21.682" v="0" actId="33639"/>
          <ac:inkMkLst>
            <pc:docMk/>
            <pc:sldMk cId="1774738070" sldId="287"/>
            <ac:inkMk id="3" creationId="{A26610F1-1CD8-3470-EC1C-7F29D211FF70}"/>
          </ac:inkMkLst>
        </pc:inkChg>
      </pc:sldChg>
      <pc:sldChg chg="delSp mod">
        <pc:chgData name="于 心瑞 Xinrui YU" userId="e6fcc6d4-2b88-4beb-95d7-57ae4d33a768" providerId="ADAL" clId="{F34F8855-C621-4438-806B-08A2E2CB3E3D}" dt="2025-09-09T11:10:21.682" v="0" actId="33639"/>
        <pc:sldMkLst>
          <pc:docMk/>
          <pc:sldMk cId="2434008763" sldId="289"/>
        </pc:sldMkLst>
        <pc:inkChg chg="del">
          <ac:chgData name="于 心瑞 Xinrui YU" userId="e6fcc6d4-2b88-4beb-95d7-57ae4d33a768" providerId="ADAL" clId="{F34F8855-C621-4438-806B-08A2E2CB3E3D}" dt="2025-09-09T11:10:21.682" v="0" actId="33639"/>
          <ac:inkMkLst>
            <pc:docMk/>
            <pc:sldMk cId="2434008763" sldId="289"/>
            <ac:inkMk id="3" creationId="{7C8CDCA2-35BC-1108-2D58-A75D57ADA141}"/>
          </ac:inkMkLst>
        </pc:inkChg>
      </pc:sldChg>
      <pc:sldChg chg="delSp mod">
        <pc:chgData name="于 心瑞 Xinrui YU" userId="e6fcc6d4-2b88-4beb-95d7-57ae4d33a768" providerId="ADAL" clId="{F34F8855-C621-4438-806B-08A2E2CB3E3D}" dt="2025-09-09T11:10:21.682" v="0" actId="33639"/>
        <pc:sldMkLst>
          <pc:docMk/>
          <pc:sldMk cId="2358878154" sldId="294"/>
        </pc:sldMkLst>
        <pc:inkChg chg="del">
          <ac:chgData name="于 心瑞 Xinrui YU" userId="e6fcc6d4-2b88-4beb-95d7-57ae4d33a768" providerId="ADAL" clId="{F34F8855-C621-4438-806B-08A2E2CB3E3D}" dt="2025-09-09T11:10:21.682" v="0" actId="33639"/>
          <ac:inkMkLst>
            <pc:docMk/>
            <pc:sldMk cId="2358878154" sldId="294"/>
            <ac:inkMk id="2" creationId="{E7CF99F5-8B0D-188F-72BD-DA0E0E8DFDE2}"/>
          </ac:inkMkLst>
        </pc:inkChg>
      </pc:sldChg>
      <pc:sldChg chg="delSp mod">
        <pc:chgData name="于 心瑞 Xinrui YU" userId="e6fcc6d4-2b88-4beb-95d7-57ae4d33a768" providerId="ADAL" clId="{F34F8855-C621-4438-806B-08A2E2CB3E3D}" dt="2025-09-09T11:10:21.682" v="0" actId="33639"/>
        <pc:sldMkLst>
          <pc:docMk/>
          <pc:sldMk cId="4204976852" sldId="295"/>
        </pc:sldMkLst>
        <pc:inkChg chg="del">
          <ac:chgData name="于 心瑞 Xinrui YU" userId="e6fcc6d4-2b88-4beb-95d7-57ae4d33a768" providerId="ADAL" clId="{F34F8855-C621-4438-806B-08A2E2CB3E3D}" dt="2025-09-09T11:10:21.682" v="0" actId="33639"/>
          <ac:inkMkLst>
            <pc:docMk/>
            <pc:sldMk cId="4204976852" sldId="295"/>
            <ac:inkMk id="2" creationId="{B1242FC2-7365-993D-78C3-A25894D020E7}"/>
          </ac:inkMkLst>
        </pc:inkChg>
      </pc:sldChg>
      <pc:sldChg chg="delSp mod modNotesTx">
        <pc:chgData name="于 心瑞 Xinrui YU" userId="e6fcc6d4-2b88-4beb-95d7-57ae4d33a768" providerId="ADAL" clId="{F34F8855-C621-4438-806B-08A2E2CB3E3D}" dt="2025-09-09T11:11:25.144" v="1" actId="20577"/>
        <pc:sldMkLst>
          <pc:docMk/>
          <pc:sldMk cId="2159814956" sldId="298"/>
        </pc:sldMkLst>
        <pc:inkChg chg="del">
          <ac:chgData name="于 心瑞 Xinrui YU" userId="e6fcc6d4-2b88-4beb-95d7-57ae4d33a768" providerId="ADAL" clId="{F34F8855-C621-4438-806B-08A2E2CB3E3D}" dt="2025-09-09T11:10:21.682" v="0" actId="33639"/>
          <ac:inkMkLst>
            <pc:docMk/>
            <pc:sldMk cId="2159814956" sldId="298"/>
            <ac:inkMk id="2" creationId="{040335AC-E010-985A-4459-2F584154508D}"/>
          </ac:inkMkLst>
        </pc:inkChg>
      </pc:sldChg>
      <pc:sldChg chg="delSp mod">
        <pc:chgData name="于 心瑞 Xinrui YU" userId="e6fcc6d4-2b88-4beb-95d7-57ae4d33a768" providerId="ADAL" clId="{F34F8855-C621-4438-806B-08A2E2CB3E3D}" dt="2025-09-09T11:10:21.682" v="0" actId="33639"/>
        <pc:sldMkLst>
          <pc:docMk/>
          <pc:sldMk cId="3596150279" sldId="299"/>
        </pc:sldMkLst>
        <pc:inkChg chg="del">
          <ac:chgData name="于 心瑞 Xinrui YU" userId="e6fcc6d4-2b88-4beb-95d7-57ae4d33a768" providerId="ADAL" clId="{F34F8855-C621-4438-806B-08A2E2CB3E3D}" dt="2025-09-09T11:10:21.682" v="0" actId="33639"/>
          <ac:inkMkLst>
            <pc:docMk/>
            <pc:sldMk cId="3596150279" sldId="299"/>
            <ac:inkMk id="4" creationId="{6C40BBDB-408B-996C-F1D9-D396D7B332E1}"/>
          </ac:inkMkLst>
        </pc:inkChg>
      </pc:sldChg>
      <pc:sldChg chg="delSp mod">
        <pc:chgData name="于 心瑞 Xinrui YU" userId="e6fcc6d4-2b88-4beb-95d7-57ae4d33a768" providerId="ADAL" clId="{F34F8855-C621-4438-806B-08A2E2CB3E3D}" dt="2025-09-09T11:10:21.682" v="0" actId="33639"/>
        <pc:sldMkLst>
          <pc:docMk/>
          <pc:sldMk cId="3836861754" sldId="301"/>
        </pc:sldMkLst>
        <pc:inkChg chg="del">
          <ac:chgData name="于 心瑞 Xinrui YU" userId="e6fcc6d4-2b88-4beb-95d7-57ae4d33a768" providerId="ADAL" clId="{F34F8855-C621-4438-806B-08A2E2CB3E3D}" dt="2025-09-09T11:10:21.682" v="0" actId="33639"/>
          <ac:inkMkLst>
            <pc:docMk/>
            <pc:sldMk cId="3836861754" sldId="301"/>
            <ac:inkMk id="2" creationId="{12F46A2B-6C20-5B1A-ADF9-5E0B3FF351D2}"/>
          </ac:inkMkLst>
        </pc:inkChg>
      </pc:sldChg>
      <pc:sldChg chg="delSp mod">
        <pc:chgData name="于 心瑞 Xinrui YU" userId="e6fcc6d4-2b88-4beb-95d7-57ae4d33a768" providerId="ADAL" clId="{F34F8855-C621-4438-806B-08A2E2CB3E3D}" dt="2025-09-09T11:10:21.682" v="0" actId="33639"/>
        <pc:sldMkLst>
          <pc:docMk/>
          <pc:sldMk cId="479113426" sldId="303"/>
        </pc:sldMkLst>
        <pc:inkChg chg="del">
          <ac:chgData name="于 心瑞 Xinrui YU" userId="e6fcc6d4-2b88-4beb-95d7-57ae4d33a768" providerId="ADAL" clId="{F34F8855-C621-4438-806B-08A2E2CB3E3D}" dt="2025-09-09T11:10:21.682" v="0" actId="33639"/>
          <ac:inkMkLst>
            <pc:docMk/>
            <pc:sldMk cId="479113426" sldId="303"/>
            <ac:inkMk id="2" creationId="{0D39D621-707B-B871-A904-614199750EFB}"/>
          </ac:inkMkLst>
        </pc:inkChg>
      </pc:sldChg>
      <pc:sldChg chg="delSp mod">
        <pc:chgData name="于 心瑞 Xinrui YU" userId="e6fcc6d4-2b88-4beb-95d7-57ae4d33a768" providerId="ADAL" clId="{F34F8855-C621-4438-806B-08A2E2CB3E3D}" dt="2025-09-09T11:10:21.682" v="0" actId="33639"/>
        <pc:sldMkLst>
          <pc:docMk/>
          <pc:sldMk cId="1449269255" sldId="304"/>
        </pc:sldMkLst>
        <pc:inkChg chg="del">
          <ac:chgData name="于 心瑞 Xinrui YU" userId="e6fcc6d4-2b88-4beb-95d7-57ae4d33a768" providerId="ADAL" clId="{F34F8855-C621-4438-806B-08A2E2CB3E3D}" dt="2025-09-09T11:10:21.682" v="0" actId="33639"/>
          <ac:inkMkLst>
            <pc:docMk/>
            <pc:sldMk cId="1449269255" sldId="304"/>
            <ac:inkMk id="2" creationId="{CFA56B2B-00F8-3721-3F18-837FDDBB893B}"/>
          </ac:inkMkLst>
        </pc:inkChg>
      </pc:sldChg>
      <pc:sldChg chg="delSp mod">
        <pc:chgData name="于 心瑞 Xinrui YU" userId="e6fcc6d4-2b88-4beb-95d7-57ae4d33a768" providerId="ADAL" clId="{F34F8855-C621-4438-806B-08A2E2CB3E3D}" dt="2025-09-09T11:10:21.682" v="0" actId="33639"/>
        <pc:sldMkLst>
          <pc:docMk/>
          <pc:sldMk cId="3554712612" sldId="311"/>
        </pc:sldMkLst>
        <pc:inkChg chg="del">
          <ac:chgData name="于 心瑞 Xinrui YU" userId="e6fcc6d4-2b88-4beb-95d7-57ae4d33a768" providerId="ADAL" clId="{F34F8855-C621-4438-806B-08A2E2CB3E3D}" dt="2025-09-09T11:10:21.682" v="0" actId="33639"/>
          <ac:inkMkLst>
            <pc:docMk/>
            <pc:sldMk cId="3554712612" sldId="311"/>
            <ac:inkMk id="4" creationId="{08F24F97-49FC-64C6-9E0F-EC7D17F229B2}"/>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1190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Every computer has an</a:t>
            </a:r>
            <a:r>
              <a:rPr lang="en-US" baseline="0" dirty="0"/>
              <a:t> internal clock, which emits electronic pulses at a constant rate. These pulses are used to control and synchronize the pace of operations. Higher the clock speed enables more instructions to be executed in a given period of time.</a:t>
            </a:r>
            <a:endParaRPr dirty="0"/>
          </a:p>
        </p:txBody>
      </p:sp>
    </p:spTree>
    <p:extLst>
      <p:ext uri="{BB962C8B-B14F-4D97-AF65-F5344CB8AC3E}">
        <p14:creationId xmlns:p14="http://schemas.microsoft.com/office/powerpoint/2010/main" val="3109862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Computer</a:t>
            </a:r>
            <a:r>
              <a:rPr lang="en-US" baseline="0" dirty="0"/>
              <a:t> is really nothing more than a series of switches. Each switch exists in two states: on or off. Storing information in a computer is a matter of setting a sequence of switches to on or off. If the switch is on it’s value is 1, otherwise it is a 0. A small number like 3 can be stored in a byte whereas a bigger number like 1405 will need multiple bytes (2 bytes).</a:t>
            </a:r>
            <a:endParaRPr dirty="0"/>
          </a:p>
        </p:txBody>
      </p:sp>
    </p:spTree>
    <p:extLst>
      <p:ext uri="{BB962C8B-B14F-4D97-AF65-F5344CB8AC3E}">
        <p14:creationId xmlns:p14="http://schemas.microsoft.com/office/powerpoint/2010/main" val="3265567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4877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7680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4235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1546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0238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7178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0054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923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5765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0274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0563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810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51078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1838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66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9495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12233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975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80545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wmf"/></Relationships>
</file>

<file path=ppt/slides/_rels/slide2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4.xml"/><Relationship Id="rId5" Type="http://schemas.openxmlformats.org/officeDocument/2006/relationships/image" Target="../media/image8.wmf"/><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4.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1.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2.w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id="{1730766B-A39C-48AD-AF4E-3FB458C16D13}"/>
              </a:ext>
            </a:extLst>
          </p:cNvPr>
          <p:cNvSpPr>
            <a:spLocks noGrp="1"/>
          </p:cNvSpPr>
          <p:nvPr>
            <p:ph type="title"/>
          </p:nvPr>
        </p:nvSpPr>
        <p:spPr>
          <a:xfrm>
            <a:off x="-4418241" y="353585"/>
            <a:ext cx="8520600" cy="572700"/>
          </a:xfrm>
        </p:spPr>
        <p:txBody>
          <a:bodyPr>
            <a:normAutofit fontScale="90000"/>
          </a:bodyPr>
          <a:lstStyle/>
          <a:p>
            <a:r>
              <a:rPr lang="en-US" dirty="0"/>
              <a:t>Introduction to Computers</a:t>
            </a:r>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endParaRPr sz="3200" b="1" dirty="0">
              <a:solidFill>
                <a:schemeClr val="dk1"/>
              </a:solidFill>
            </a:endParaRPr>
          </a:p>
          <a:p>
            <a:pPr marL="0" lvl="0" indent="0" algn="ctr" rtl="0">
              <a:lnSpc>
                <a:spcPct val="100000"/>
              </a:lnSpc>
              <a:spcBef>
                <a:spcPts val="0"/>
              </a:spcBef>
              <a:spcAft>
                <a:spcPts val="0"/>
              </a:spcAft>
              <a:buNone/>
            </a:pPr>
            <a:r>
              <a:rPr lang="en-US" sz="3200" b="1" dirty="0">
                <a:solidFill>
                  <a:schemeClr val="dk1"/>
                </a:solidFill>
              </a:rPr>
              <a:t>Introduction to Computers</a:t>
            </a:r>
            <a:endParaRPr sz="3200" b="1" dirty="0">
              <a:solidFill>
                <a:schemeClr val="dk1"/>
              </a:solidFill>
            </a:endParaRPr>
          </a:p>
        </p:txBody>
      </p:sp>
      <p:pic>
        <p:nvPicPr>
          <p:cNvPr id="3" name="그림 1" descr="Text, letter&#10;&#10;Description automatically generated">
            <a:extLst>
              <a:ext uri="{FF2B5EF4-FFF2-40B4-BE49-F238E27FC236}">
                <a16:creationId xmlns:a16="http://schemas.microsoft.com/office/drawing/2014/main" id="{44055744-A3CD-2A60-0D34-F52ED5DDD4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 </a:t>
            </a:r>
          </a:p>
        </p:txBody>
      </p:sp>
      <p:sp>
        <p:nvSpPr>
          <p:cNvPr id="3" name="Text Placeholder 2"/>
          <p:cNvSpPr>
            <a:spLocks noGrp="1"/>
          </p:cNvSpPr>
          <p:nvPr>
            <p:ph type="body" idx="1"/>
          </p:nvPr>
        </p:nvSpPr>
        <p:spPr/>
        <p:txBody>
          <a:bodyPr>
            <a:normAutofit fontScale="70000" lnSpcReduction="20000"/>
          </a:bodyPr>
          <a:lstStyle/>
          <a:p>
            <a:pPr fontAlgn="base"/>
            <a:r>
              <a:rPr lang="en-US" sz="2100" dirty="0">
                <a:solidFill>
                  <a:schemeClr val="tx1"/>
                </a:solidFill>
                <a:cs typeface="Courier New" pitchFamily="49" charset="0"/>
              </a:rPr>
              <a:t>Introduction to computer</a:t>
            </a:r>
          </a:p>
          <a:p>
            <a:pPr marL="914400" lvl="2" indent="-342900" fontAlgn="base">
              <a:buSzPts val="1800"/>
              <a:buFont typeface="Arial"/>
              <a:buChar char="●"/>
            </a:pPr>
            <a:r>
              <a:rPr lang="en-US" sz="2100" dirty="0">
                <a:solidFill>
                  <a:schemeClr val="tx1"/>
                </a:solidFill>
                <a:cs typeface="Courier New" pitchFamily="49" charset="0"/>
              </a:rPr>
              <a:t>CPU</a:t>
            </a:r>
          </a:p>
          <a:p>
            <a:pPr marL="914400" lvl="2" indent="-342900" fontAlgn="base">
              <a:buSzPts val="1800"/>
              <a:buFont typeface="Arial"/>
              <a:buChar char="●"/>
            </a:pPr>
            <a:r>
              <a:rPr lang="en-US" sz="2100" dirty="0">
                <a:solidFill>
                  <a:schemeClr val="tx1"/>
                </a:solidFill>
                <a:cs typeface="Courier New" pitchFamily="49" charset="0"/>
              </a:rPr>
              <a:t>Memory</a:t>
            </a:r>
          </a:p>
          <a:p>
            <a:pPr fontAlgn="base"/>
            <a:r>
              <a:rPr lang="en-US" sz="2100" dirty="0">
                <a:solidFill>
                  <a:schemeClr val="tx1"/>
                </a:solidFill>
                <a:cs typeface="Courier New" pitchFamily="49" charset="0"/>
              </a:rPr>
              <a:t>Number systems:</a:t>
            </a:r>
          </a:p>
          <a:p>
            <a:pPr marL="914400" lvl="2" indent="-342900" fontAlgn="base">
              <a:buSzPts val="1800"/>
              <a:buFont typeface="Arial"/>
              <a:buChar char="●"/>
            </a:pPr>
            <a:r>
              <a:rPr lang="en-US" sz="2100" dirty="0">
                <a:solidFill>
                  <a:schemeClr val="tx1"/>
                </a:solidFill>
                <a:cs typeface="Courier New" pitchFamily="49" charset="0"/>
              </a:rPr>
              <a:t>Decimal</a:t>
            </a:r>
          </a:p>
          <a:p>
            <a:pPr marL="914400" lvl="2" indent="-342900" fontAlgn="base">
              <a:buSzPts val="1800"/>
              <a:buFont typeface="Arial"/>
              <a:buChar char="●"/>
            </a:pPr>
            <a:r>
              <a:rPr lang="en-US" sz="2100" dirty="0">
                <a:solidFill>
                  <a:schemeClr val="tx1"/>
                </a:solidFill>
                <a:cs typeface="Courier New" pitchFamily="49" charset="0"/>
              </a:rPr>
              <a:t>Binary</a:t>
            </a:r>
          </a:p>
          <a:p>
            <a:pPr marL="914400" lvl="2" indent="-342900" fontAlgn="base">
              <a:buSzPts val="1800"/>
              <a:buFont typeface="Arial"/>
              <a:buChar char="●"/>
            </a:pPr>
            <a:r>
              <a:rPr lang="en-US" sz="2100" dirty="0">
                <a:solidFill>
                  <a:schemeClr val="tx1"/>
                </a:solidFill>
                <a:cs typeface="Courier New" pitchFamily="49" charset="0"/>
              </a:rPr>
              <a:t>Octal</a:t>
            </a:r>
          </a:p>
          <a:p>
            <a:pPr marL="914400" lvl="2" indent="-342900" fontAlgn="base">
              <a:buSzPts val="1800"/>
              <a:buFont typeface="Arial"/>
              <a:buChar char="●"/>
            </a:pPr>
            <a:r>
              <a:rPr lang="en-US" sz="2100" dirty="0">
                <a:solidFill>
                  <a:schemeClr val="tx1"/>
                </a:solidFill>
                <a:cs typeface="Courier New" pitchFamily="49" charset="0"/>
              </a:rPr>
              <a:t>Hexadecimal</a:t>
            </a:r>
          </a:p>
          <a:p>
            <a:pPr fontAlgn="base"/>
            <a:r>
              <a:rPr lang="en-US" sz="2100" dirty="0">
                <a:solidFill>
                  <a:schemeClr val="tx1"/>
                </a:solidFill>
                <a:cs typeface="Courier New" pitchFamily="49" charset="0"/>
              </a:rPr>
              <a:t>Programming languages:</a:t>
            </a:r>
          </a:p>
          <a:p>
            <a:pPr marL="914400" lvl="2" indent="-342900" fontAlgn="base">
              <a:buSzPts val="1800"/>
              <a:buFont typeface="Arial"/>
              <a:buChar char="●"/>
            </a:pPr>
            <a:r>
              <a:rPr lang="en-US" sz="2100" dirty="0">
                <a:solidFill>
                  <a:schemeClr val="tx1"/>
                </a:solidFill>
                <a:cs typeface="Courier New" pitchFamily="49" charset="0"/>
              </a:rPr>
              <a:t>Machine language</a:t>
            </a:r>
          </a:p>
          <a:p>
            <a:pPr marL="914400" lvl="2" indent="-342900" fontAlgn="base">
              <a:buSzPts val="1800"/>
              <a:buFont typeface="Arial"/>
              <a:buChar char="●"/>
            </a:pPr>
            <a:r>
              <a:rPr lang="en-US" sz="2100" dirty="0">
                <a:solidFill>
                  <a:schemeClr val="tx1"/>
                </a:solidFill>
                <a:cs typeface="Courier New" pitchFamily="49" charset="0"/>
              </a:rPr>
              <a:t>Assembly language</a:t>
            </a:r>
          </a:p>
          <a:p>
            <a:pPr marL="914400" lvl="2" indent="-342900" fontAlgn="base">
              <a:buSzPts val="1800"/>
              <a:buFont typeface="Arial"/>
              <a:buChar char="●"/>
            </a:pPr>
            <a:r>
              <a:rPr lang="en-US" sz="2100" dirty="0">
                <a:solidFill>
                  <a:schemeClr val="tx1"/>
                </a:solidFill>
                <a:cs typeface="Courier New" pitchFamily="49" charset="0"/>
              </a:rPr>
              <a:t>High level programming language</a:t>
            </a:r>
          </a:p>
          <a:p>
            <a:pPr fontAlgn="base"/>
            <a:r>
              <a:rPr lang="en-US" sz="2100" dirty="0">
                <a:solidFill>
                  <a:schemeClr val="tx1"/>
                </a:solidFill>
                <a:cs typeface="Courier New" pitchFamily="49" charset="0"/>
              </a:rPr>
              <a:t>Assembler and compiler</a:t>
            </a:r>
          </a:p>
          <a:p>
            <a:pPr fontAlgn="base"/>
            <a:r>
              <a:rPr lang="en-US" sz="2100" dirty="0">
                <a:solidFill>
                  <a:schemeClr val="tx1"/>
                </a:solidFill>
                <a:cs typeface="Courier New" pitchFamily="49" charset="0"/>
              </a:rPr>
              <a:t>Operating systems</a:t>
            </a:r>
          </a:p>
          <a:p>
            <a:pPr lvl="1" fontAlgn="base"/>
            <a:endParaRPr lang="en-US" sz="1500" dirty="0">
              <a:solidFill>
                <a:schemeClr val="tx1"/>
              </a:solidFill>
              <a:cs typeface="Courier New" pitchFamily="49" charset="0"/>
            </a:endParaRPr>
          </a:p>
          <a:p>
            <a:pPr marL="596900" lvl="1" indent="0" fontAlgn="base">
              <a:buNone/>
            </a:pPr>
            <a:endParaRPr lang="en-US" sz="1500" dirty="0">
              <a:solidFill>
                <a:schemeClr val="tx1"/>
              </a:solidFill>
              <a:cs typeface="Courier New" pitchFamily="49" charset="0"/>
            </a:endParaRPr>
          </a:p>
          <a:p>
            <a:pPr lvl="1" fontAlgn="base"/>
            <a:endParaRPr lang="en-US" sz="1500" dirty="0">
              <a:solidFill>
                <a:schemeClr val="tx1"/>
              </a:solidFill>
              <a:cs typeface="Courier New" pitchFamily="49" charset="0"/>
            </a:endParaRPr>
          </a:p>
          <a:p>
            <a:endParaRPr lang="en-US" dirty="0"/>
          </a:p>
        </p:txBody>
      </p:sp>
    </p:spTree>
    <p:extLst>
      <p:ext uri="{BB962C8B-B14F-4D97-AF65-F5344CB8AC3E}">
        <p14:creationId xmlns:p14="http://schemas.microsoft.com/office/powerpoint/2010/main" val="3554712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What is a Computer?</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279350" y="980450"/>
            <a:ext cx="8520600" cy="3416400"/>
          </a:xfrm>
          <a:prstGeom prst="rect">
            <a:avLst/>
          </a:prstGeom>
        </p:spPr>
        <p:txBody>
          <a:bodyPr spcFirstLastPara="1" wrap="square" lIns="91425" tIns="91425" rIns="91425" bIns="91425" anchor="t" anchorCtr="0">
            <a:normAutofit/>
          </a:bodyPr>
          <a:lstStyle/>
          <a:p>
            <a:pPr>
              <a:spcBef>
                <a:spcPct val="50000"/>
              </a:spcBef>
            </a:pPr>
            <a:r>
              <a:rPr lang="en-US" altLang="en-US" dirty="0">
                <a:solidFill>
                  <a:schemeClr val="tx1"/>
                </a:solidFill>
                <a:cs typeface="Courier New" pitchFamily="49" charset="0"/>
              </a:rPr>
              <a:t>Is an electronic device that stores and processes data.</a:t>
            </a:r>
          </a:p>
          <a:p>
            <a:pPr>
              <a:spcBef>
                <a:spcPct val="50000"/>
              </a:spcBef>
            </a:pPr>
            <a:r>
              <a:rPr lang="en-US" altLang="en-US" dirty="0">
                <a:solidFill>
                  <a:schemeClr val="tx1"/>
                </a:solidFill>
                <a:cs typeface="Courier New" pitchFamily="49" charset="0"/>
              </a:rPr>
              <a:t>A computer consists of a CPU, memory, hard disk, monitor, printer, and communication devices.</a:t>
            </a:r>
          </a:p>
          <a:p>
            <a:pPr marL="0" lvl="0" indent="0" algn="l" rtl="0">
              <a:spcBef>
                <a:spcPts val="0"/>
              </a:spcBef>
              <a:spcAft>
                <a:spcPts val="0"/>
              </a:spcAft>
              <a:buClr>
                <a:schemeClr val="dk1"/>
              </a:buClr>
              <a:buSzPts val="1100"/>
              <a:buFont typeface="Arial"/>
              <a:buNone/>
            </a:pPr>
            <a:endParaRPr lang="en" dirty="0"/>
          </a:p>
          <a:p>
            <a:pPr marL="0" lvl="0" indent="0" algn="l" rtl="0">
              <a:spcBef>
                <a:spcPts val="0"/>
              </a:spcBef>
              <a:spcAft>
                <a:spcPts val="0"/>
              </a:spcAft>
              <a:buClr>
                <a:schemeClr val="dk1"/>
              </a:buClr>
              <a:buSzPts val="1100"/>
              <a:buFont typeface="Arial"/>
              <a:buNone/>
            </a:pPr>
            <a:endParaRPr lang="en" dirty="0"/>
          </a:p>
          <a:p>
            <a:pPr marL="0" lvl="0" indent="0" algn="l" rtl="0">
              <a:spcBef>
                <a:spcPts val="1200"/>
              </a:spcBef>
              <a:spcAft>
                <a:spcPts val="1200"/>
              </a:spcAft>
              <a:buNone/>
            </a:pPr>
            <a:endParaRPr dirty="0"/>
          </a:p>
        </p:txBody>
      </p:sp>
      <p:graphicFrame>
        <p:nvGraphicFramePr>
          <p:cNvPr id="4" name="Object 1031" descr="A bus is a communication system that transfers data between components inside a computer, or between computers. Such components include storage devices (such as disk, CD and tape), memory, CPU, Communication devices (such as modem, and NIC), input devices (such as keyboard, mouse), and output devices (such as monitor and printer).">
            <a:extLst>
              <a:ext uri="{FF2B5EF4-FFF2-40B4-BE49-F238E27FC236}">
                <a16:creationId xmlns:a16="http://schemas.microsoft.com/office/drawing/2014/main" id="{B777A28C-2685-4BE5-A4EE-380E16F7A19B}"/>
              </a:ext>
            </a:extLst>
          </p:cNvPr>
          <p:cNvGraphicFramePr>
            <a:graphicFrameLocks noChangeAspect="1"/>
          </p:cNvGraphicFramePr>
          <p:nvPr>
            <p:extLst>
              <p:ext uri="{D42A27DB-BD31-4B8C-83A1-F6EECF244321}">
                <p14:modId xmlns:p14="http://schemas.microsoft.com/office/powerpoint/2010/main" val="1033896014"/>
              </p:ext>
            </p:extLst>
          </p:nvPr>
        </p:nvGraphicFramePr>
        <p:xfrm>
          <a:off x="563563" y="2449640"/>
          <a:ext cx="6610350" cy="1646237"/>
        </p:xfrm>
        <a:graphic>
          <a:graphicData uri="http://schemas.openxmlformats.org/presentationml/2006/ole">
            <mc:AlternateContent xmlns:mc="http://schemas.openxmlformats.org/markup-compatibility/2006">
              <mc:Choice xmlns:v="urn:schemas-microsoft-com:vml" Requires="v">
                <p:oleObj name="Picture" r:id="rId3" imgW="5078880" imgH="1261080" progId="Word.Picture.8">
                  <p:embed/>
                </p:oleObj>
              </mc:Choice>
              <mc:Fallback>
                <p:oleObj name="Picture" r:id="rId3" imgW="5078880" imgH="1261080" progId="Word.Picture.8">
                  <p:embed/>
                  <p:pic>
                    <p:nvPicPr>
                      <p:cNvPr id="4" name="Object 1031" descr="A bus is a communication system that transfers data between components inside a computer, or between computers. Such components include storage devices (such as disk, CD and tape), memory, CPU, Communication devices (such as modem, and NIC), input devices (such as keyboard, mouse), and output devices (such as monitor and printer).">
                        <a:extLst>
                          <a:ext uri="{FF2B5EF4-FFF2-40B4-BE49-F238E27FC236}">
                            <a16:creationId xmlns:a16="http://schemas.microsoft.com/office/drawing/2014/main" id="{B777A28C-2685-4BE5-A4EE-380E16F7A19B}"/>
                          </a:ext>
                        </a:extLst>
                      </p:cNvPr>
                      <p:cNvPicPr>
                        <a:picLocks noChangeAspect="1" noChangeArrowheads="1"/>
                      </p:cNvPicPr>
                      <p:nvPr/>
                    </p:nvPicPr>
                    <p:blipFill>
                      <a:blip r:embed="rId4"/>
                      <a:srcRect/>
                      <a:stretch>
                        <a:fillRect/>
                      </a:stretch>
                    </p:blipFill>
                    <p:spPr bwMode="auto">
                      <a:xfrm>
                        <a:off x="563563" y="2449640"/>
                        <a:ext cx="6610350" cy="1646237"/>
                      </a:xfrm>
                      <a:prstGeom prst="rect">
                        <a:avLst/>
                      </a:prstGeom>
                      <a:noFill/>
                      <a:ln>
                        <a:noFill/>
                      </a:ln>
                    </p:spPr>
                  </p:pic>
                </p:oleObj>
              </mc:Fallback>
            </mc:AlternateContent>
          </a:graphicData>
        </a:graphic>
      </p:graphicFrame>
      <p:sp>
        <p:nvSpPr>
          <p:cNvPr id="2" name="TextBox 1">
            <a:extLst>
              <a:ext uri="{FF2B5EF4-FFF2-40B4-BE49-F238E27FC236}">
                <a16:creationId xmlns:a16="http://schemas.microsoft.com/office/drawing/2014/main" id="{48025952-E51D-4B48-A4B8-E0A0BE9C8C3D}"/>
              </a:ext>
            </a:extLst>
          </p:cNvPr>
          <p:cNvSpPr txBox="1"/>
          <p:nvPr/>
        </p:nvSpPr>
        <p:spPr>
          <a:xfrm>
            <a:off x="1000664" y="4359575"/>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en-US" b="1" dirty="0"/>
              <a:t>CPU: </a:t>
            </a:r>
            <a:r>
              <a:rPr lang="en-US" altLang="en-US" b="1" dirty="0"/>
              <a:t>Central Processing Unit</a:t>
            </a:r>
            <a:endParaRPr dirty="0"/>
          </a:p>
        </p:txBody>
      </p:sp>
      <p:sp>
        <p:nvSpPr>
          <p:cNvPr id="61" name="Google Shape;61;p14"/>
          <p:cNvSpPr txBox="1">
            <a:spLocks noGrp="1"/>
          </p:cNvSpPr>
          <p:nvPr>
            <p:ph type="body" idx="1"/>
          </p:nvPr>
        </p:nvSpPr>
        <p:spPr>
          <a:xfrm>
            <a:off x="279350" y="980450"/>
            <a:ext cx="8520600" cy="3416400"/>
          </a:xfrm>
          <a:prstGeom prst="rect">
            <a:avLst/>
          </a:prstGeom>
        </p:spPr>
        <p:txBody>
          <a:bodyPr spcFirstLastPara="1" wrap="square" lIns="91425" tIns="91425" rIns="91425" bIns="91425" anchor="t" anchorCtr="0">
            <a:normAutofit/>
          </a:bodyPr>
          <a:lstStyle/>
          <a:p>
            <a:pPr>
              <a:spcBef>
                <a:spcPct val="50000"/>
              </a:spcBef>
            </a:pPr>
            <a:r>
              <a:rPr lang="en-US" altLang="en-US" dirty="0">
                <a:solidFill>
                  <a:schemeClr val="tx1"/>
                </a:solidFill>
                <a:cs typeface="Courier New" pitchFamily="49" charset="0"/>
              </a:rPr>
              <a:t>Retrieves instructions from memory and executes them</a:t>
            </a:r>
          </a:p>
          <a:p>
            <a:pPr>
              <a:spcBef>
                <a:spcPct val="50000"/>
              </a:spcBef>
            </a:pPr>
            <a:r>
              <a:rPr lang="en-US" altLang="en-US" dirty="0">
                <a:solidFill>
                  <a:schemeClr val="tx1"/>
                </a:solidFill>
                <a:cs typeface="Courier New" pitchFamily="49" charset="0"/>
              </a:rPr>
              <a:t>The CPU speed is measured in hertz = cycles per second (Hz, MHz = Megahertz, GHz = Gigahertz) [example: Intel i-5: 2.60 GHz ]</a:t>
            </a:r>
          </a:p>
          <a:p>
            <a:pPr marL="0" lvl="0" indent="0" algn="l" rtl="0">
              <a:spcBef>
                <a:spcPts val="0"/>
              </a:spcBef>
              <a:spcAft>
                <a:spcPts val="0"/>
              </a:spcAft>
              <a:buClr>
                <a:schemeClr val="dk1"/>
              </a:buClr>
              <a:buSzPts val="1100"/>
              <a:buFont typeface="Arial"/>
              <a:buNone/>
            </a:pPr>
            <a:endParaRPr lang="en" dirty="0"/>
          </a:p>
          <a:p>
            <a:pPr marL="0" lvl="0" indent="0" algn="l" rtl="0">
              <a:spcBef>
                <a:spcPts val="0"/>
              </a:spcBef>
              <a:spcAft>
                <a:spcPts val="0"/>
              </a:spcAft>
              <a:buClr>
                <a:schemeClr val="dk1"/>
              </a:buClr>
              <a:buSzPts val="1100"/>
              <a:buFont typeface="Arial"/>
              <a:buNone/>
            </a:pPr>
            <a:endParaRPr lang="en" dirty="0"/>
          </a:p>
          <a:p>
            <a:pPr marL="0" lvl="0" indent="0" algn="l" rtl="0">
              <a:spcBef>
                <a:spcPts val="1200"/>
              </a:spcBef>
              <a:spcAft>
                <a:spcPts val="1200"/>
              </a:spcAft>
              <a:buNone/>
            </a:pPr>
            <a:endParaRPr dirty="0"/>
          </a:p>
        </p:txBody>
      </p:sp>
      <p:graphicFrame>
        <p:nvGraphicFramePr>
          <p:cNvPr id="4" name="Object 1031" descr="A bus is a communication system that transfers data between components inside a computer, or between computers. Such components include storage devices (such as disk, CD and tape), memory, CPU, Communication devices (such as modem, and NIC), input devices (such as keyboard, mouse), and output devices (such as monitor and printer).">
            <a:extLst>
              <a:ext uri="{FF2B5EF4-FFF2-40B4-BE49-F238E27FC236}">
                <a16:creationId xmlns:a16="http://schemas.microsoft.com/office/drawing/2014/main" id="{B777A28C-2685-4BE5-A4EE-380E16F7A19B}"/>
              </a:ext>
            </a:extLst>
          </p:cNvPr>
          <p:cNvGraphicFramePr>
            <a:graphicFrameLocks noChangeAspect="1"/>
          </p:cNvGraphicFramePr>
          <p:nvPr>
            <p:extLst>
              <p:ext uri="{D42A27DB-BD31-4B8C-83A1-F6EECF244321}">
                <p14:modId xmlns:p14="http://schemas.microsoft.com/office/powerpoint/2010/main" val="1033896014"/>
              </p:ext>
            </p:extLst>
          </p:nvPr>
        </p:nvGraphicFramePr>
        <p:xfrm>
          <a:off x="563563" y="2449640"/>
          <a:ext cx="6610350" cy="1646237"/>
        </p:xfrm>
        <a:graphic>
          <a:graphicData uri="http://schemas.openxmlformats.org/presentationml/2006/ole">
            <mc:AlternateContent xmlns:mc="http://schemas.openxmlformats.org/markup-compatibility/2006">
              <mc:Choice xmlns:v="urn:schemas-microsoft-com:vml" Requires="v">
                <p:oleObj name="Picture" r:id="rId3" imgW="5078880" imgH="1261080" progId="Word.Picture.8">
                  <p:embed/>
                </p:oleObj>
              </mc:Choice>
              <mc:Fallback>
                <p:oleObj name="Picture" r:id="rId3" imgW="5078880" imgH="1261080" progId="Word.Picture.8">
                  <p:embed/>
                  <p:pic>
                    <p:nvPicPr>
                      <p:cNvPr id="4" name="Object 1031" descr="A bus is a communication system that transfers data between components inside a computer, or between computers. Such components include storage devices (such as disk, CD and tape), memory, CPU, Communication devices (such as modem, and NIC), input devices (such as keyboard, mouse), and output devices (such as monitor and printer).">
                        <a:extLst>
                          <a:ext uri="{FF2B5EF4-FFF2-40B4-BE49-F238E27FC236}">
                            <a16:creationId xmlns:a16="http://schemas.microsoft.com/office/drawing/2014/main" id="{B777A28C-2685-4BE5-A4EE-380E16F7A19B}"/>
                          </a:ext>
                        </a:extLst>
                      </p:cNvPr>
                      <p:cNvPicPr>
                        <a:picLocks noChangeAspect="1" noChangeArrowheads="1"/>
                      </p:cNvPicPr>
                      <p:nvPr/>
                    </p:nvPicPr>
                    <p:blipFill>
                      <a:blip r:embed="rId4"/>
                      <a:srcRect/>
                      <a:stretch>
                        <a:fillRect/>
                      </a:stretch>
                    </p:blipFill>
                    <p:spPr bwMode="auto">
                      <a:xfrm>
                        <a:off x="563563" y="2449640"/>
                        <a:ext cx="6610350" cy="1646237"/>
                      </a:xfrm>
                      <a:prstGeom prst="rect">
                        <a:avLst/>
                      </a:prstGeom>
                      <a:noFill/>
                      <a:ln>
                        <a:noFill/>
                      </a:ln>
                    </p:spPr>
                  </p:pic>
                </p:oleObj>
              </mc:Fallback>
            </mc:AlternateContent>
          </a:graphicData>
        </a:graphic>
      </p:graphicFrame>
      <p:sp>
        <p:nvSpPr>
          <p:cNvPr id="2" name="TextBox 1">
            <a:extLst>
              <a:ext uri="{FF2B5EF4-FFF2-40B4-BE49-F238E27FC236}">
                <a16:creationId xmlns:a16="http://schemas.microsoft.com/office/drawing/2014/main" id="{48025952-E51D-4B48-A4B8-E0A0BE9C8C3D}"/>
              </a:ext>
            </a:extLst>
          </p:cNvPr>
          <p:cNvSpPr txBox="1"/>
          <p:nvPr/>
        </p:nvSpPr>
        <p:spPr>
          <a:xfrm>
            <a:off x="1000664" y="4359575"/>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endParaRPr lang="en-US" dirty="0"/>
          </a:p>
        </p:txBody>
      </p:sp>
      <p:sp>
        <p:nvSpPr>
          <p:cNvPr id="3" name="TextBox 2"/>
          <p:cNvSpPr txBox="1"/>
          <p:nvPr/>
        </p:nvSpPr>
        <p:spPr>
          <a:xfrm>
            <a:off x="5824728" y="255495"/>
            <a:ext cx="3118104" cy="523220"/>
          </a:xfrm>
          <a:prstGeom prst="rect">
            <a:avLst/>
          </a:prstGeom>
          <a:noFill/>
        </p:spPr>
        <p:txBody>
          <a:bodyPr wrap="square" rtlCol="0">
            <a:spAutoFit/>
          </a:bodyPr>
          <a:lstStyle/>
          <a:p>
            <a:r>
              <a:rPr lang="de-DE" dirty="0"/>
              <a:t>1 MHz = 1 million pulses per second, 1 GHz = 1 billion pulses per second.</a:t>
            </a:r>
          </a:p>
        </p:txBody>
      </p:sp>
      <p:sp>
        <p:nvSpPr>
          <p:cNvPr id="7" name="Rectangle 6"/>
          <p:cNvSpPr/>
          <p:nvPr/>
        </p:nvSpPr>
        <p:spPr>
          <a:xfrm>
            <a:off x="2583833" y="2903630"/>
            <a:ext cx="1053737" cy="743387"/>
          </a:xfrm>
          <a:prstGeom prst="rect">
            <a:avLst/>
          </a:prstGeom>
          <a:solidFill>
            <a:schemeClr val="accent1">
              <a:alpha val="18000"/>
            </a:schemeClr>
          </a:soli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4878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en-US" b="1" dirty="0"/>
              <a:t>Memory</a:t>
            </a:r>
            <a:endParaRPr dirty="0"/>
          </a:p>
        </p:txBody>
      </p:sp>
      <p:sp>
        <p:nvSpPr>
          <p:cNvPr id="61" name="Google Shape;61;p14"/>
          <p:cNvSpPr txBox="1">
            <a:spLocks noGrp="1"/>
          </p:cNvSpPr>
          <p:nvPr>
            <p:ph type="body" idx="1"/>
          </p:nvPr>
        </p:nvSpPr>
        <p:spPr>
          <a:xfrm>
            <a:off x="279350" y="980450"/>
            <a:ext cx="8520600" cy="3416400"/>
          </a:xfrm>
          <a:prstGeom prst="rect">
            <a:avLst/>
          </a:prstGeom>
        </p:spPr>
        <p:txBody>
          <a:bodyPr spcFirstLastPara="1" wrap="square" lIns="91425" tIns="91425" rIns="91425" bIns="91425" anchor="t" anchorCtr="0">
            <a:normAutofit/>
          </a:bodyPr>
          <a:lstStyle/>
          <a:p>
            <a:pPr>
              <a:spcBef>
                <a:spcPct val="50000"/>
              </a:spcBef>
            </a:pPr>
            <a:r>
              <a:rPr lang="en-US" altLang="en-US" dirty="0">
                <a:solidFill>
                  <a:schemeClr val="tx1"/>
                </a:solidFill>
                <a:cs typeface="Courier New" pitchFamily="49" charset="0"/>
              </a:rPr>
              <a:t>Stores data and program instructions for CPU to execute</a:t>
            </a:r>
          </a:p>
          <a:p>
            <a:pPr>
              <a:spcBef>
                <a:spcPct val="50000"/>
              </a:spcBef>
            </a:pPr>
            <a:r>
              <a:rPr lang="en-US" altLang="en-US" dirty="0">
                <a:solidFill>
                  <a:schemeClr val="tx1"/>
                </a:solidFill>
                <a:cs typeface="Courier New" pitchFamily="49" charset="0"/>
              </a:rPr>
              <a:t>Ordered sequence of bytes (8 bits – binary base unit) </a:t>
            </a:r>
          </a:p>
          <a:p>
            <a:pPr>
              <a:spcBef>
                <a:spcPct val="50000"/>
              </a:spcBef>
            </a:pPr>
            <a:r>
              <a:rPr lang="en-US" altLang="en-US" dirty="0">
                <a:solidFill>
                  <a:schemeClr val="tx1"/>
                </a:solidFill>
                <a:cs typeface="Courier New" pitchFamily="49" charset="0"/>
              </a:rPr>
              <a:t>1000M</a:t>
            </a:r>
            <a:r>
              <a:rPr lang="en-US" altLang="zh-CN" dirty="0">
                <a:solidFill>
                  <a:schemeClr val="tx1"/>
                </a:solidFill>
                <a:cs typeface="Courier New" pitchFamily="49" charset="0"/>
              </a:rPr>
              <a:t>bps = 125MB/s (MB)</a:t>
            </a:r>
            <a:endParaRPr lang="en-US" altLang="en-US" dirty="0">
              <a:solidFill>
                <a:schemeClr val="tx1"/>
              </a:solidFill>
              <a:cs typeface="Courier New" pitchFamily="49" charset="0"/>
            </a:endParaRPr>
          </a:p>
          <a:p>
            <a:pPr marL="0" lvl="0" indent="0" algn="l" rtl="0">
              <a:spcBef>
                <a:spcPts val="0"/>
              </a:spcBef>
              <a:spcAft>
                <a:spcPts val="0"/>
              </a:spcAft>
              <a:buClr>
                <a:schemeClr val="dk1"/>
              </a:buClr>
              <a:buSzPts val="1100"/>
              <a:buFont typeface="Arial"/>
              <a:buNone/>
            </a:pPr>
            <a:endParaRPr lang="en" dirty="0"/>
          </a:p>
          <a:p>
            <a:pPr marL="0" lvl="0" indent="0" algn="l" rtl="0">
              <a:spcBef>
                <a:spcPts val="0"/>
              </a:spcBef>
              <a:spcAft>
                <a:spcPts val="0"/>
              </a:spcAft>
              <a:buClr>
                <a:schemeClr val="dk1"/>
              </a:buClr>
              <a:buSzPts val="1100"/>
              <a:buFont typeface="Arial"/>
              <a:buNone/>
            </a:pPr>
            <a:endParaRPr lang="en" dirty="0"/>
          </a:p>
          <a:p>
            <a:pPr marL="0" lvl="0" indent="0" algn="l" rtl="0">
              <a:spcBef>
                <a:spcPts val="1200"/>
              </a:spcBef>
              <a:spcAft>
                <a:spcPts val="1200"/>
              </a:spcAft>
              <a:buNone/>
            </a:pPr>
            <a:endParaRPr dirty="0"/>
          </a:p>
        </p:txBody>
      </p:sp>
      <p:graphicFrame>
        <p:nvGraphicFramePr>
          <p:cNvPr id="4" name="Object 1031" descr="A bus is a communication system that transfers data between components inside a computer, or between computers. Such components include storage devices (such as disk, CD and tape), memory, CPU, Communication devices (such as modem, and NIC), input devices (such as keyboard, mouse), and output devices (such as monitor and printer).">
            <a:extLst>
              <a:ext uri="{FF2B5EF4-FFF2-40B4-BE49-F238E27FC236}">
                <a16:creationId xmlns:a16="http://schemas.microsoft.com/office/drawing/2014/main" id="{B777A28C-2685-4BE5-A4EE-380E16F7A19B}"/>
              </a:ext>
            </a:extLst>
          </p:cNvPr>
          <p:cNvGraphicFramePr>
            <a:graphicFrameLocks noChangeAspect="1"/>
          </p:cNvGraphicFramePr>
          <p:nvPr>
            <p:extLst>
              <p:ext uri="{D42A27DB-BD31-4B8C-83A1-F6EECF244321}">
                <p14:modId xmlns:p14="http://schemas.microsoft.com/office/powerpoint/2010/main" val="1033896014"/>
              </p:ext>
            </p:extLst>
          </p:nvPr>
        </p:nvGraphicFramePr>
        <p:xfrm>
          <a:off x="563563" y="2449640"/>
          <a:ext cx="6610350" cy="1646237"/>
        </p:xfrm>
        <a:graphic>
          <a:graphicData uri="http://schemas.openxmlformats.org/presentationml/2006/ole">
            <mc:AlternateContent xmlns:mc="http://schemas.openxmlformats.org/markup-compatibility/2006">
              <mc:Choice xmlns:v="urn:schemas-microsoft-com:vml" Requires="v">
                <p:oleObj name="Picture" r:id="rId3" imgW="5078880" imgH="1261080" progId="Word.Picture.8">
                  <p:embed/>
                </p:oleObj>
              </mc:Choice>
              <mc:Fallback>
                <p:oleObj name="Picture" r:id="rId3" imgW="5078880" imgH="1261080" progId="Word.Picture.8">
                  <p:embed/>
                  <p:pic>
                    <p:nvPicPr>
                      <p:cNvPr id="4" name="Object 1031" descr="A bus is a communication system that transfers data between components inside a computer, or between computers. Such components include storage devices (such as disk, CD and tape), memory, CPU, Communication devices (such as modem, and NIC), input devices (such as keyboard, mouse), and output devices (such as monitor and printer).">
                        <a:extLst>
                          <a:ext uri="{FF2B5EF4-FFF2-40B4-BE49-F238E27FC236}">
                            <a16:creationId xmlns:a16="http://schemas.microsoft.com/office/drawing/2014/main" id="{B777A28C-2685-4BE5-A4EE-380E16F7A19B}"/>
                          </a:ext>
                        </a:extLst>
                      </p:cNvPr>
                      <p:cNvPicPr>
                        <a:picLocks noChangeAspect="1" noChangeArrowheads="1"/>
                      </p:cNvPicPr>
                      <p:nvPr/>
                    </p:nvPicPr>
                    <p:blipFill>
                      <a:blip r:embed="rId4"/>
                      <a:srcRect/>
                      <a:stretch>
                        <a:fillRect/>
                      </a:stretch>
                    </p:blipFill>
                    <p:spPr bwMode="auto">
                      <a:xfrm>
                        <a:off x="563563" y="2449640"/>
                        <a:ext cx="6610350" cy="1646237"/>
                      </a:xfrm>
                      <a:prstGeom prst="rect">
                        <a:avLst/>
                      </a:prstGeom>
                      <a:noFill/>
                      <a:ln>
                        <a:noFill/>
                      </a:ln>
                    </p:spPr>
                  </p:pic>
                </p:oleObj>
              </mc:Fallback>
            </mc:AlternateContent>
          </a:graphicData>
        </a:graphic>
      </p:graphicFrame>
      <p:sp>
        <p:nvSpPr>
          <p:cNvPr id="2" name="TextBox 1">
            <a:extLst>
              <a:ext uri="{FF2B5EF4-FFF2-40B4-BE49-F238E27FC236}">
                <a16:creationId xmlns:a16="http://schemas.microsoft.com/office/drawing/2014/main" id="{48025952-E51D-4B48-A4B8-E0A0BE9C8C3D}"/>
              </a:ext>
            </a:extLst>
          </p:cNvPr>
          <p:cNvSpPr txBox="1"/>
          <p:nvPr/>
        </p:nvSpPr>
        <p:spPr>
          <a:xfrm>
            <a:off x="1000664" y="4359575"/>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endParaRPr lang="en-US" dirty="0"/>
          </a:p>
        </p:txBody>
      </p:sp>
      <p:sp>
        <p:nvSpPr>
          <p:cNvPr id="6" name="Rectangle 5"/>
          <p:cNvSpPr/>
          <p:nvPr/>
        </p:nvSpPr>
        <p:spPr>
          <a:xfrm>
            <a:off x="1686341" y="2901064"/>
            <a:ext cx="1053737" cy="743387"/>
          </a:xfrm>
          <a:prstGeom prst="rect">
            <a:avLst/>
          </a:prstGeom>
          <a:solidFill>
            <a:schemeClr val="accent1">
              <a:alpha val="18000"/>
            </a:schemeClr>
          </a:soli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473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en-US" b="1" dirty="0"/>
              <a:t>Memory: How Data is Stored? </a:t>
            </a:r>
            <a:endParaRPr b="1" dirty="0"/>
          </a:p>
        </p:txBody>
      </p:sp>
      <p:sp>
        <p:nvSpPr>
          <p:cNvPr id="2" name="TextBox 1">
            <a:extLst>
              <a:ext uri="{FF2B5EF4-FFF2-40B4-BE49-F238E27FC236}">
                <a16:creationId xmlns:a16="http://schemas.microsoft.com/office/drawing/2014/main" id="{48025952-E51D-4B48-A4B8-E0A0BE9C8C3D}"/>
              </a:ext>
            </a:extLst>
          </p:cNvPr>
          <p:cNvSpPr txBox="1"/>
          <p:nvPr/>
        </p:nvSpPr>
        <p:spPr>
          <a:xfrm>
            <a:off x="1000664" y="4359575"/>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endParaRPr lang="en-US" dirty="0"/>
          </a:p>
        </p:txBody>
      </p:sp>
      <p:graphicFrame>
        <p:nvGraphicFramePr>
          <p:cNvPr id="8" name="Object 5" descr="Memory address 2000 stores 01001010 in the momory content for Encoding of character 'J'&#10;Memory address 2001 stores 01100001 in the memory content for Encoding of character 'a'&#10;Memory address 2002 stores 01110110 in the memory content for Encoding of character 'v'&#10;Memory address 2003 stores 01100001 in the memory content for Encoding of character 'a'&#10;Memory address 2004 stores 00000011 in the memory content for Encoding of number 3" title="How data is stored in Memory"/>
          <p:cNvGraphicFramePr>
            <a:graphicFrameLocks noChangeAspect="1"/>
          </p:cNvGraphicFramePr>
          <p:nvPr>
            <p:extLst>
              <p:ext uri="{D42A27DB-BD31-4B8C-83A1-F6EECF244321}">
                <p14:modId xmlns:p14="http://schemas.microsoft.com/office/powerpoint/2010/main" val="2197785012"/>
              </p:ext>
            </p:extLst>
          </p:nvPr>
        </p:nvGraphicFramePr>
        <p:xfrm>
          <a:off x="2865119" y="948056"/>
          <a:ext cx="4441371" cy="3331028"/>
        </p:xfrm>
        <a:graphic>
          <a:graphicData uri="http://schemas.openxmlformats.org/presentationml/2006/ole">
            <mc:AlternateContent xmlns:mc="http://schemas.openxmlformats.org/markup-compatibility/2006">
              <mc:Choice xmlns:v="urn:schemas-microsoft-com:vml" Requires="v">
                <p:oleObj r:id="rId3" imgW="2820924" imgH="2115312" progId="Word.Picture.8">
                  <p:embed/>
                </p:oleObj>
              </mc:Choice>
              <mc:Fallback>
                <p:oleObj r:id="rId3" imgW="2820924" imgH="2115312" progId="Word.Picture.8">
                  <p:embed/>
                  <p:pic>
                    <p:nvPicPr>
                      <p:cNvPr id="8" name="Object 5" descr="Memory address 2000 stores 01001010 in the momory content for Encoding of character 'J'&#10;Memory address 2001 stores 01100001 in the memory content for Encoding of character 'a'&#10;Memory address 2002 stores 01110110 in the memory content for Encoding of character 'v'&#10;Memory address 2003 stores 01100001 in the memory content for Encoding of character 'a'&#10;Memory address 2004 stores 00000011 in the memory content for Encoding of number 3" title="How data is stored in Memo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5119" y="948056"/>
                        <a:ext cx="4441371" cy="333102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34008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Number Systems: Binary and Decimal</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buClr>
                <a:schemeClr val="dk1"/>
              </a:buClr>
              <a:buSzPts val="1100"/>
              <a:buNone/>
            </a:pPr>
            <a:r>
              <a:rPr lang="en" dirty="0"/>
              <a:t>Decimal: </a:t>
            </a:r>
          </a:p>
          <a:p>
            <a:pPr marL="285750" indent="-285750">
              <a:buClr>
                <a:schemeClr val="dk1"/>
              </a:buClr>
              <a:buSzPct val="100000"/>
            </a:pPr>
            <a:r>
              <a:rPr lang="en" dirty="0"/>
              <a:t>digits: 0, 1, 2, 3, 4, 5, 6, 7, 8, 9  	</a:t>
            </a:r>
          </a:p>
          <a:p>
            <a:pPr marL="285750" indent="-285750">
              <a:buClr>
                <a:schemeClr val="dk1"/>
              </a:buClr>
              <a:buSzPct val="100000"/>
            </a:pPr>
            <a:r>
              <a:rPr lang="en" dirty="0"/>
              <a:t>base (radix): 10</a:t>
            </a:r>
          </a:p>
          <a:p>
            <a:pPr marL="0" indent="0">
              <a:buClr>
                <a:schemeClr val="dk1"/>
              </a:buClr>
              <a:buSzPct val="100000"/>
              <a:buNone/>
            </a:pPr>
            <a:r>
              <a:rPr lang="en" dirty="0"/>
              <a:t>		</a:t>
            </a:r>
          </a:p>
          <a:p>
            <a:pPr marL="0" lvl="0" indent="0">
              <a:buClr>
                <a:schemeClr val="dk1"/>
              </a:buClr>
              <a:buSzPts val="1100"/>
              <a:buNone/>
            </a:pPr>
            <a:r>
              <a:rPr lang="en" dirty="0"/>
              <a:t>Binary: </a:t>
            </a:r>
          </a:p>
          <a:p>
            <a:pPr marL="285750" indent="-285750">
              <a:buClr>
                <a:schemeClr val="dk1"/>
              </a:buClr>
              <a:buSzPct val="100000"/>
            </a:pPr>
            <a:r>
              <a:rPr lang="en" dirty="0"/>
              <a:t>digits: 0, 1              					</a:t>
            </a:r>
          </a:p>
          <a:p>
            <a:pPr marL="285750" indent="-285750">
              <a:buClr>
                <a:schemeClr val="dk1"/>
              </a:buClr>
              <a:buSzPct val="100000"/>
            </a:pPr>
            <a:r>
              <a:rPr lang="en" dirty="0"/>
              <a:t>base (radix): 2</a:t>
            </a:r>
          </a:p>
          <a:p>
            <a:pPr marL="285750" indent="-285750">
              <a:buClr>
                <a:schemeClr val="dk1"/>
              </a:buClr>
              <a:buSzPct val="100000"/>
            </a:pPr>
            <a:r>
              <a:rPr lang="en-US" dirty="0"/>
              <a:t>Each 0 and 1 is called a bit (short for binary digit)</a:t>
            </a:r>
          </a:p>
          <a:p>
            <a:pPr marL="285750" indent="-285750">
              <a:buClr>
                <a:schemeClr val="dk1"/>
              </a:buClr>
              <a:buSzPct val="100000"/>
            </a:pPr>
            <a:endParaRPr lang="en" dirty="0"/>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2358878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Binary numbers</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285750" indent="-285750">
              <a:spcBef>
                <a:spcPts val="1200"/>
              </a:spcBef>
              <a:spcAft>
                <a:spcPts val="1200"/>
              </a:spcAft>
            </a:pPr>
            <a:r>
              <a:rPr lang="en-US" dirty="0"/>
              <a:t>Computers use binary numbers internally because storage devices like memory and disk are made to store 0s and 1s. </a:t>
            </a:r>
          </a:p>
          <a:p>
            <a:pPr marL="285750" indent="-285750">
              <a:spcBef>
                <a:spcPts val="1200"/>
              </a:spcBef>
              <a:spcAft>
                <a:spcPts val="1200"/>
              </a:spcAft>
            </a:pPr>
            <a:r>
              <a:rPr lang="en-US" dirty="0"/>
              <a:t>A number or a text inside a computer is stored as a sequence of 0s and 1s. </a:t>
            </a:r>
          </a:p>
          <a:p>
            <a:pPr marL="285750" indent="-285750">
              <a:spcBef>
                <a:spcPts val="1200"/>
              </a:spcBef>
              <a:spcAft>
                <a:spcPts val="1200"/>
              </a:spcAft>
            </a:pPr>
            <a:r>
              <a:rPr lang="en-US" dirty="0"/>
              <a:t>Binary numbers are not intuitive, since we use decimal numbers in our daily life, when we write 20 in our program, it is assumed to be a decimal number.</a:t>
            </a:r>
          </a:p>
          <a:p>
            <a:pPr marL="285750" lvl="0" indent="-285750">
              <a:spcBef>
                <a:spcPts val="1200"/>
              </a:spcBef>
              <a:spcAft>
                <a:spcPts val="1200"/>
              </a:spcAft>
            </a:pPr>
            <a:r>
              <a:rPr lang="en-US" dirty="0"/>
              <a:t>Internally, computer software is used to convert decimal numbers into binary numbers, and vice versa. </a:t>
            </a:r>
          </a:p>
          <a:p>
            <a:pPr marL="285750" indent="-285750">
              <a:spcBef>
                <a:spcPts val="1200"/>
              </a:spcBef>
              <a:spcAft>
                <a:spcPts val="1200"/>
              </a:spcAft>
            </a:pPr>
            <a:endParaRPr lang="en-US" dirty="0"/>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420497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Decimal numbers:</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4"/>
            <a:ext cx="8520600" cy="3476169"/>
          </a:xfrm>
          <a:prstGeom prst="rect">
            <a:avLst/>
          </a:prstGeom>
        </p:spPr>
        <p:txBody>
          <a:bodyPr spcFirstLastPara="1" wrap="square" lIns="91425" tIns="91425" rIns="91425" bIns="91425" anchor="t" anchorCtr="0">
            <a:normAutofit/>
          </a:bodyPr>
          <a:lstStyle/>
          <a:p>
            <a:pPr marL="285750" lvl="0" indent="-285750">
              <a:spcBef>
                <a:spcPts val="1200"/>
              </a:spcBef>
              <a:spcAft>
                <a:spcPts val="1200"/>
              </a:spcAft>
            </a:pPr>
            <a:r>
              <a:rPr lang="en-US" dirty="0"/>
              <a:t>A decimal number is represented using a sequence of one or more of decimal digits (i.e., 0-9). </a:t>
            </a:r>
          </a:p>
          <a:p>
            <a:pPr marL="285750" lvl="0" indent="-285750">
              <a:spcBef>
                <a:spcPts val="1200"/>
              </a:spcBef>
              <a:spcAft>
                <a:spcPts val="1200"/>
              </a:spcAft>
            </a:pPr>
            <a:r>
              <a:rPr lang="en-US" dirty="0"/>
              <a:t>The value that each digit in the sequence represents depends on its position that has a value which is an integral power of 10.</a:t>
            </a:r>
          </a:p>
          <a:p>
            <a:pPr marL="285750" indent="-285750">
              <a:spcBef>
                <a:spcPts val="1200"/>
              </a:spcBef>
              <a:spcAft>
                <a:spcPts val="1200"/>
              </a:spcAft>
            </a:pPr>
            <a:r>
              <a:rPr lang="en-US" dirty="0"/>
              <a:t>Example: 7423 </a:t>
            </a:r>
          </a:p>
          <a:p>
            <a:pPr marL="285750" lvl="0" indent="-285750">
              <a:spcBef>
                <a:spcPts val="1200"/>
              </a:spcBef>
              <a:spcAft>
                <a:spcPts val="1200"/>
              </a:spcAft>
            </a:pPr>
            <a:endParaRPr lang="en-US" dirty="0"/>
          </a:p>
          <a:p>
            <a:pPr marL="0" lvl="0" indent="0">
              <a:spcBef>
                <a:spcPts val="1200"/>
              </a:spcBef>
              <a:spcAft>
                <a:spcPts val="1200"/>
              </a:spcAft>
              <a:buNone/>
            </a:pPr>
            <a:endParaRPr lang="en-US" dirty="0"/>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199561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Decimal number: Example</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lstStyle/>
              <a:p>
                <a:pPr marL="0" lvl="0" indent="0">
                  <a:spcBef>
                    <a:spcPts val="1200"/>
                  </a:spcBef>
                  <a:spcAft>
                    <a:spcPts val="1200"/>
                  </a:spcAft>
                  <a:buNone/>
                </a:pPr>
                <a:r>
                  <a:rPr lang="en-US" dirty="0"/>
                  <a:t>Example: decimal number: 7423 </a:t>
                </a:r>
              </a:p>
              <a:p>
                <a:pPr marL="0" lvl="0" indent="0">
                  <a:spcBef>
                    <a:spcPts val="1200"/>
                  </a:spcBef>
                  <a:spcAft>
                    <a:spcPts val="1200"/>
                  </a:spcAft>
                  <a:buNone/>
                </a:pPr>
                <a:r>
                  <a:rPr lang="en-US" dirty="0"/>
                  <a:t>The digits 7, 4, 2, and 3 in decimal number 7423 represent 7000, 400, 20, and 3, respectively:</a:t>
                </a:r>
              </a:p>
              <a:p>
                <a:pPr marL="0" lvl="0" indent="0">
                  <a:spcBef>
                    <a:spcPts val="1200"/>
                  </a:spcBef>
                  <a:spcAft>
                    <a:spcPts val="1200"/>
                  </a:spcAft>
                  <a:buNone/>
                </a:pPr>
                <a:r>
                  <a:rPr lang="en-US" dirty="0"/>
                  <a:t> </a:t>
                </a:r>
                <a14:m>
                  <m:oMath xmlns:m="http://schemas.openxmlformats.org/officeDocument/2006/math">
                    <m:r>
                      <a:rPr lang="en-US">
                        <a:latin typeface="Cambria Math" panose="02040503050406030204" pitchFamily="18" charset="0"/>
                      </a:rPr>
                      <m:t>7423=7∗</m:t>
                    </m:r>
                    <m:sSup>
                      <m:sSupPr>
                        <m:ctrlPr>
                          <a:rPr lang="en-US" i="1">
                            <a:latin typeface="Cambria Math" panose="02040503050406030204" pitchFamily="18" charset="0"/>
                          </a:rPr>
                        </m:ctrlPr>
                      </m:sSupPr>
                      <m:e>
                        <m:r>
                          <a:rPr lang="en-US">
                            <a:latin typeface="Cambria Math" panose="02040503050406030204" pitchFamily="18" charset="0"/>
                          </a:rPr>
                          <m:t>10</m:t>
                        </m:r>
                      </m:e>
                      <m:sup>
                        <m:r>
                          <a:rPr lang="en-US">
                            <a:latin typeface="Cambria Math" panose="02040503050406030204" pitchFamily="18" charset="0"/>
                          </a:rPr>
                          <m:t>3</m:t>
                        </m:r>
                      </m:sup>
                    </m:sSup>
                    <m:r>
                      <a:rPr lang="en-US">
                        <a:latin typeface="Cambria Math" panose="02040503050406030204" pitchFamily="18" charset="0"/>
                      </a:rPr>
                      <m:t>+4 ∗</m:t>
                    </m:r>
                    <m:sSup>
                      <m:sSupPr>
                        <m:ctrlPr>
                          <a:rPr lang="en-US" i="1">
                            <a:latin typeface="Cambria Math" panose="02040503050406030204" pitchFamily="18" charset="0"/>
                          </a:rPr>
                        </m:ctrlPr>
                      </m:sSupPr>
                      <m:e>
                        <m:r>
                          <a:rPr lang="en-US">
                            <a:latin typeface="Cambria Math" panose="02040503050406030204" pitchFamily="18" charset="0"/>
                          </a:rPr>
                          <m:t>10</m:t>
                        </m:r>
                      </m:e>
                      <m:sup>
                        <m:r>
                          <a:rPr lang="en-US">
                            <a:latin typeface="Cambria Math" panose="02040503050406030204" pitchFamily="18" charset="0"/>
                          </a:rPr>
                          <m:t>2</m:t>
                        </m:r>
                      </m:sup>
                    </m:sSup>
                    <m:r>
                      <a:rPr lang="en-US">
                        <a:latin typeface="Cambria Math" panose="02040503050406030204" pitchFamily="18" charset="0"/>
                      </a:rPr>
                      <m:t>+2 ∗</m:t>
                    </m:r>
                    <m:sSup>
                      <m:sSupPr>
                        <m:ctrlPr>
                          <a:rPr lang="en-US" i="1">
                            <a:latin typeface="Cambria Math" panose="02040503050406030204" pitchFamily="18" charset="0"/>
                          </a:rPr>
                        </m:ctrlPr>
                      </m:sSupPr>
                      <m:e>
                        <m:r>
                          <a:rPr lang="en-US">
                            <a:latin typeface="Cambria Math" panose="02040503050406030204" pitchFamily="18" charset="0"/>
                          </a:rPr>
                          <m:t>10</m:t>
                        </m:r>
                      </m:e>
                      <m:sup>
                        <m:r>
                          <a:rPr lang="en-US">
                            <a:latin typeface="Cambria Math" panose="02040503050406030204" pitchFamily="18" charset="0"/>
                          </a:rPr>
                          <m:t>1</m:t>
                        </m:r>
                      </m:sup>
                    </m:sSup>
                    <m:r>
                      <a:rPr lang="en-US">
                        <a:latin typeface="Cambria Math" panose="02040503050406030204" pitchFamily="18" charset="0"/>
                      </a:rPr>
                      <m:t>+3∗</m:t>
                    </m:r>
                    <m:sSup>
                      <m:sSupPr>
                        <m:ctrlPr>
                          <a:rPr lang="en-US" i="1">
                            <a:latin typeface="Cambria Math" panose="02040503050406030204" pitchFamily="18" charset="0"/>
                          </a:rPr>
                        </m:ctrlPr>
                      </m:sSupPr>
                      <m:e>
                        <m:r>
                          <a:rPr lang="en-US">
                            <a:latin typeface="Cambria Math" panose="02040503050406030204" pitchFamily="18" charset="0"/>
                          </a:rPr>
                          <m:t>10</m:t>
                        </m:r>
                      </m:e>
                      <m:sup>
                        <m:r>
                          <a:rPr lang="en-US">
                            <a:latin typeface="Cambria Math" panose="02040503050406030204" pitchFamily="18" charset="0"/>
                          </a:rPr>
                          <m:t>0</m:t>
                        </m:r>
                      </m:sup>
                    </m:sSup>
                  </m:oMath>
                </a14:m>
                <a:endParaRPr lang="en-US" dirty="0"/>
              </a:p>
              <a:p>
                <a:pPr marL="0" lvl="0" indent="0">
                  <a:spcBef>
                    <a:spcPts val="1200"/>
                  </a:spcBef>
                  <a:spcAft>
                    <a:spcPts val="1200"/>
                  </a:spcAft>
                  <a:buNone/>
                </a:pPr>
                <a:r>
                  <a:rPr lang="en-US" dirty="0"/>
                  <a:t> </a:t>
                </a:r>
                <a14:m>
                  <m:oMath xmlns:m="http://schemas.openxmlformats.org/officeDocument/2006/math">
                    <m:r>
                      <a:rPr lang="en-US" dirty="0">
                        <a:latin typeface="Cambria Math" panose="02040503050406030204" pitchFamily="18" charset="0"/>
                      </a:rPr>
                      <m:t>= 7000 + 400 + 20 + 3</m:t>
                    </m:r>
                  </m:oMath>
                </a14:m>
                <a:endParaRPr lang="en-US" dirty="0"/>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blipFill rotWithShape="0">
                <a:blip r:embed="rId2"/>
                <a:stretch>
                  <a:fillRect l="-572"/>
                </a:stretch>
              </a:blipFill>
            </p:spPr>
            <p:txBody>
              <a:bodyPr/>
              <a:lstStyle/>
              <a:p>
                <a:r>
                  <a:rPr lang="en-US">
                    <a:noFill/>
                  </a:rPr>
                  <a:t> </a:t>
                </a:r>
              </a:p>
            </p:txBody>
          </p:sp>
        </mc:Fallback>
      </mc:AlternateContent>
    </p:spTree>
    <p:extLst>
      <p:ext uri="{BB962C8B-B14F-4D97-AF65-F5344CB8AC3E}">
        <p14:creationId xmlns:p14="http://schemas.microsoft.com/office/powerpoint/2010/main" val="104635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Binary numbers to Decimals</a:t>
            </a:r>
            <a:endParaRPr dirty="0"/>
          </a:p>
          <a:p>
            <a:pPr marL="0" lvl="0" indent="0" algn="l" rtl="0">
              <a:spcBef>
                <a:spcPts val="0"/>
              </a:spcBef>
              <a:spcAft>
                <a:spcPts val="0"/>
              </a:spcAft>
              <a:buNone/>
            </a:pPr>
            <a:endParaRPr dirty="0"/>
          </a:p>
        </p:txBody>
      </p:sp>
      <mc:AlternateContent xmlns:mc="http://schemas.openxmlformats.org/markup-compatibility/2006" xmlns:a14="http://schemas.microsoft.com/office/drawing/2010/main">
        <mc:Choice Requires="a14">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spcBef>
                    <a:spcPts val="1200"/>
                  </a:spcBef>
                  <a:spcAft>
                    <a:spcPts val="1200"/>
                  </a:spcAft>
                  <a:buNone/>
                </a:pPr>
                <a:r>
                  <a:rPr lang="en-US" dirty="0"/>
                  <a:t>Given a binary number: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oMath>
                </a14:m>
                <a:r>
                  <a:rPr lang="en-US" dirty="0"/>
                  <a:t> </a:t>
                </a:r>
              </a:p>
              <a:p>
                <a:pPr marL="0" lvl="0" indent="0">
                  <a:spcBef>
                    <a:spcPts val="1200"/>
                  </a:spcBef>
                  <a:spcAft>
                    <a:spcPts val="1200"/>
                  </a:spcAft>
                  <a:buNone/>
                </a:pPr>
                <a:r>
                  <a:rPr lang="en-US" dirty="0"/>
                  <a:t>the equivalent decimal number is:</a:t>
                </a:r>
              </a:p>
              <a:p>
                <a:pPr marL="0" lvl="0" indent="0">
                  <a:spcBef>
                    <a:spcPts val="1200"/>
                  </a:spcBef>
                  <a:spcAft>
                    <a:spcPts val="1200"/>
                  </a:spcAft>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−1</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0</m:t>
                        </m:r>
                      </m:sup>
                    </m:sSup>
                  </m:oMath>
                </a14:m>
                <a:endParaRPr lang="en-US" dirty="0"/>
              </a:p>
              <a:p>
                <a:pPr marL="0" lvl="0" indent="0">
                  <a:spcBef>
                    <a:spcPts val="1200"/>
                  </a:spcBef>
                  <a:spcAft>
                    <a:spcPts val="1200"/>
                  </a:spcAft>
                  <a:buNone/>
                </a:pPr>
                <a:r>
                  <a:rPr lang="en-US" dirty="0"/>
                  <a:t>Example: 11110000 in binary is: </a:t>
                </a:r>
              </a:p>
              <a:p>
                <a:pPr marL="0" lvl="0" indent="0">
                  <a:spcBef>
                    <a:spcPts val="1200"/>
                  </a:spcBef>
                  <a:spcAft>
                    <a:spcPts val="1200"/>
                  </a:spcAft>
                  <a:buNone/>
                </a:pPr>
                <a:r>
                  <a:rPr lang="en-US" dirty="0"/>
                  <a:t>1*2^7+1*2^6+1*2^5+1*2^4 = 128+64+32+16=240</a:t>
                </a:r>
              </a:p>
              <a:p>
                <a:pPr marL="0" lvl="0" indent="0">
                  <a:spcBef>
                    <a:spcPts val="1200"/>
                  </a:spcBef>
                  <a:spcAft>
                    <a:spcPts val="1200"/>
                  </a:spcAft>
                  <a:buNone/>
                </a:pPr>
                <a:endParaRPr lang="en-US" dirty="0"/>
              </a:p>
              <a:p>
                <a:pPr marL="0" lvl="0" indent="0">
                  <a:spcBef>
                    <a:spcPts val="1200"/>
                  </a:spcBef>
                  <a:spcAft>
                    <a:spcPts val="1200"/>
                  </a:spcAft>
                  <a:buNone/>
                </a:pPr>
                <a:endParaRPr lang="en-US" dirty="0"/>
              </a:p>
            </p:txBody>
          </p:sp>
        </mc:Choice>
        <mc:Fallback xmlns="">
          <p:sp>
            <p:nvSpPr>
              <p:cNvPr id="61" name="Google Shape;61;p14"/>
              <p:cNvSpPr txBox="1">
                <a:spLocks noGrp="1" noRot="1" noChangeAspect="1" noMove="1" noResize="1" noEditPoints="1" noAdjustHandles="1" noChangeArrowheads="1" noChangeShapeType="1" noTextEdit="1"/>
              </p:cNvSpPr>
              <p:nvPr>
                <p:ph type="body" idx="1"/>
              </p:nvPr>
            </p:nvSpPr>
            <p:spPr>
              <a:xfrm>
                <a:off x="311700" y="1152475"/>
                <a:ext cx="8520600" cy="3416400"/>
              </a:xfrm>
              <a:prstGeom prst="rect">
                <a:avLst/>
              </a:prstGeom>
              <a:blipFill>
                <a:blip r:embed="rId3"/>
                <a:stretch>
                  <a:fillRect l="-572"/>
                </a:stretch>
              </a:blipFill>
            </p:spPr>
            <p:txBody>
              <a:bodyPr/>
              <a:lstStyle/>
              <a:p>
                <a:r>
                  <a:rPr lang="en-US">
                    <a:noFill/>
                  </a:rPr>
                  <a:t> </a:t>
                </a:r>
              </a:p>
            </p:txBody>
          </p:sp>
        </mc:Fallback>
      </mc:AlternateContent>
    </p:spTree>
    <p:extLst>
      <p:ext uri="{BB962C8B-B14F-4D97-AF65-F5344CB8AC3E}">
        <p14:creationId xmlns:p14="http://schemas.microsoft.com/office/powerpoint/2010/main" val="215981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uSzPct val="39285"/>
            </a:pPr>
            <a:r>
              <a:rPr lang="en-US" b="1" dirty="0"/>
              <a:t>Binary numbers to Decimals: Example</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lstStyle/>
              <a:p>
                <a:pPr marL="0" lvl="0" indent="0">
                  <a:spcBef>
                    <a:spcPts val="1200"/>
                  </a:spcBef>
                  <a:spcAft>
                    <a:spcPts val="1200"/>
                  </a:spcAft>
                  <a:buNone/>
                </a:pPr>
                <a:r>
                  <a:rPr lang="en-US" dirty="0"/>
                  <a:t>1010 in binary is:</a:t>
                </a:r>
              </a:p>
              <a:p>
                <a:pPr marL="0" lvl="0" indent="0">
                  <a:spcBef>
                    <a:spcPts val="1200"/>
                  </a:spcBef>
                  <a:spcAft>
                    <a:spcPts val="1200"/>
                  </a:spcAft>
                  <a:buNone/>
                </a:pPr>
                <a:r>
                  <a:rPr lang="en-US" dirty="0"/>
                  <a:t> </a:t>
                </a:r>
                <a14:m>
                  <m:oMath xmlns:m="http://schemas.openxmlformats.org/officeDocument/2006/math">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3</m:t>
                        </m:r>
                      </m:sup>
                    </m:sSup>
                    <m:r>
                      <a:rPr lang="en-US" i="1">
                        <a:latin typeface="Cambria Math" panose="02040503050406030204" pitchFamily="18" charset="0"/>
                      </a:rPr>
                      <m:t>+0∗</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m:t>
                        </m:r>
                      </m:sup>
                    </m:sSup>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1</m:t>
                        </m:r>
                      </m:sup>
                    </m:sSup>
                    <m:r>
                      <a:rPr lang="en-US" i="1">
                        <a:latin typeface="Cambria Math" panose="02040503050406030204" pitchFamily="18" charset="0"/>
                      </a:rPr>
                      <m:t>+0∗</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0</m:t>
                        </m:r>
                      </m:sup>
                    </m:sSup>
                    <m:r>
                      <a:rPr lang="en-US" i="1">
                        <a:latin typeface="Cambria Math" panose="02040503050406030204" pitchFamily="18" charset="0"/>
                      </a:rPr>
                      <m:t>=10</m:t>
                    </m:r>
                  </m:oMath>
                </a14:m>
                <a:r>
                  <a:rPr lang="en-US" dirty="0"/>
                  <a:t> in decimal</a:t>
                </a:r>
              </a:p>
              <a:p>
                <a:pPr marL="0" lvl="0" indent="0">
                  <a:spcBef>
                    <a:spcPts val="1200"/>
                  </a:spcBef>
                  <a:spcAft>
                    <a:spcPts val="1200"/>
                  </a:spcAft>
                  <a:buNone/>
                </a:pPr>
                <a:r>
                  <a:rPr lang="en-US" altLang="en-US" dirty="0"/>
                  <a:t>10101011 in binary is:</a:t>
                </a:r>
              </a:p>
              <a:p>
                <a:pPr marL="0" lvl="0" indent="0">
                  <a:spcBef>
                    <a:spcPts val="1200"/>
                  </a:spcBef>
                  <a:spcAft>
                    <a:spcPts val="1200"/>
                  </a:spcAft>
                  <a:buNone/>
                </a:pPr>
                <a:r>
                  <a:rPr lang="en-US" altLang="en-US" dirty="0"/>
                  <a:t> </a:t>
                </a:r>
                <a14:m>
                  <m:oMath xmlns:m="http://schemas.openxmlformats.org/officeDocument/2006/math">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7</m:t>
                        </m:r>
                      </m:sup>
                    </m:sSup>
                    <m:r>
                      <a:rPr lang="en-US" i="1">
                        <a:latin typeface="Cambria Math" panose="02040503050406030204" pitchFamily="18" charset="0"/>
                      </a:rPr>
                      <m:t>+0∗</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6</m:t>
                        </m:r>
                      </m:sup>
                    </m:sSup>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5</m:t>
                        </m:r>
                      </m:sup>
                    </m:sSup>
                    <m:r>
                      <a:rPr lang="en-US" i="1">
                        <a:latin typeface="Cambria Math" panose="02040503050406030204" pitchFamily="18" charset="0"/>
                      </a:rPr>
                      <m:t>+0∗</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4</m:t>
                        </m:r>
                      </m:sup>
                    </m:sSup>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3</m:t>
                        </m:r>
                      </m:sup>
                    </m:sSup>
                    <m:r>
                      <a:rPr lang="en-US" i="1">
                        <a:latin typeface="Cambria Math" panose="02040503050406030204" pitchFamily="18" charset="0"/>
                      </a:rPr>
                      <m:t>+0∗</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m:t>
                        </m:r>
                      </m:sup>
                    </m:sSup>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1</m:t>
                        </m:r>
                      </m:sup>
                    </m:sSup>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0</m:t>
                        </m:r>
                      </m:sup>
                    </m:sSup>
                    <m:r>
                      <a:rPr lang="en-US" i="1">
                        <a:latin typeface="Cambria Math" panose="02040503050406030204" pitchFamily="18" charset="0"/>
                      </a:rPr>
                      <m:t>=171</m:t>
                    </m:r>
                  </m:oMath>
                </a14:m>
                <a:r>
                  <a:rPr lang="en-US" dirty="0"/>
                  <a:t> in decimal</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blipFill rotWithShape="0">
                <a:blip r:embed="rId2"/>
                <a:stretch>
                  <a:fillRect l="-572" r="-644"/>
                </a:stretch>
              </a:blipFill>
            </p:spPr>
            <p:txBody>
              <a:bodyPr/>
              <a:lstStyle/>
              <a:p>
                <a:r>
                  <a:rPr lang="en-US">
                    <a:noFill/>
                  </a:rPr>
                  <a:t> </a:t>
                </a:r>
              </a:p>
            </p:txBody>
          </p:sp>
        </mc:Fallback>
      </mc:AlternateContent>
    </p:spTree>
    <p:extLst>
      <p:ext uri="{BB962C8B-B14F-4D97-AF65-F5344CB8AC3E}">
        <p14:creationId xmlns:p14="http://schemas.microsoft.com/office/powerpoint/2010/main" val="359615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Decimals to Binary</a:t>
            </a:r>
            <a:endParaRPr dirty="0"/>
          </a:p>
          <a:p>
            <a:pPr marL="0" lvl="0" indent="0" algn="l" rtl="0">
              <a:spcBef>
                <a:spcPts val="0"/>
              </a:spcBef>
              <a:spcAft>
                <a:spcPts val="0"/>
              </a:spcAft>
              <a:buNone/>
            </a:pPr>
            <a:endParaRPr dirty="0"/>
          </a:p>
        </p:txBody>
      </p:sp>
      <mc:AlternateContent xmlns:mc="http://schemas.openxmlformats.org/markup-compatibility/2006" xmlns:a14="http://schemas.microsoft.com/office/drawing/2010/main">
        <mc:Choice Requires="a14">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spcBef>
                    <a:spcPts val="1200"/>
                  </a:spcBef>
                  <a:spcAft>
                    <a:spcPts val="1200"/>
                  </a:spcAft>
                  <a:buNone/>
                </a:pPr>
                <a:r>
                  <a:rPr lang="en-US" dirty="0"/>
                  <a:t>To convert a decimal number ‘𝑑’ to a binary number is to find the binary digits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oMath>
                </a14:m>
                <a:r>
                  <a:rPr lang="en-US" dirty="0"/>
                  <a:t> </a:t>
                </a:r>
              </a:p>
              <a:p>
                <a:pPr marL="0" lvl="0" indent="0">
                  <a:spcBef>
                    <a:spcPts val="1200"/>
                  </a:spcBef>
                  <a:spcAft>
                    <a:spcPts val="1200"/>
                  </a:spcAft>
                  <a:buNone/>
                </a:pPr>
                <a:r>
                  <a:rPr lang="en-US" dirty="0"/>
                  <a:t>such that</a:t>
                </a:r>
              </a:p>
              <a:p>
                <a:pPr marL="0" lvl="0" indent="0">
                  <a:spcBef>
                    <a:spcPts val="1200"/>
                  </a:spcBef>
                  <a:spcAft>
                    <a:spcPts val="1200"/>
                  </a:spcAft>
                  <a:buNone/>
                </a:pPr>
                <a:r>
                  <a:rPr lang="en-US" dirty="0"/>
                  <a:t> </a:t>
                </a:r>
                <a14:m>
                  <m:oMath xmlns:m="http://schemas.openxmlformats.org/officeDocument/2006/math">
                    <m:r>
                      <m:rPr>
                        <m:sty m:val="p"/>
                      </m:rPr>
                      <a:rPr lang="en-US" b="0" i="0" smtClean="0">
                        <a:latin typeface="Cambria Math" panose="02040503050406030204" pitchFamily="18" charset="0"/>
                      </a:rPr>
                      <m:t>d</m:t>
                    </m:r>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r>
                          <a:rPr lang="en-US" i="1">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−1</m:t>
                        </m:r>
                      </m:sup>
                    </m:sSup>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𝑏</m:t>
                        </m:r>
                      </m:e>
                      <m:sub>
                        <m:r>
                          <a:rPr lang="en-US" i="1">
                            <a:latin typeface="Cambria Math" panose="02040503050406030204" pitchFamily="18" charset="0"/>
                          </a:rPr>
                          <m:t>𝑛</m:t>
                        </m:r>
                        <m:r>
                          <a:rPr lang="en-US" i="1">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−2</m:t>
                        </m:r>
                      </m:sup>
                    </m:sSup>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0</m:t>
                        </m:r>
                      </m:sup>
                    </m:sSup>
                  </m:oMath>
                </a14:m>
                <a:endParaRPr lang="en-US" dirty="0"/>
              </a:p>
              <a:p>
                <a:pPr marL="0" lvl="0" indent="0">
                  <a:spcBef>
                    <a:spcPts val="1200"/>
                  </a:spcBef>
                  <a:spcAft>
                    <a:spcPts val="1200"/>
                  </a:spcAft>
                  <a:buNone/>
                </a:pPr>
                <a:r>
                  <a:rPr lang="en-US" dirty="0"/>
                  <a:t>These numbers can be found by successively dividing 𝑑 by 2 until the quotient is 0. The remainders are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𝑛</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oMath>
                </a14:m>
                <a:endParaRPr lang="en-US" dirty="0"/>
              </a:p>
            </p:txBody>
          </p:sp>
        </mc:Choice>
        <mc:Fallback xmlns="">
          <p:sp>
            <p:nvSpPr>
              <p:cNvPr id="61" name="Google Shape;61;p14"/>
              <p:cNvSpPr txBox="1">
                <a:spLocks noGrp="1" noRot="1" noChangeAspect="1" noMove="1" noResize="1" noEditPoints="1" noAdjustHandles="1" noChangeArrowheads="1" noChangeShapeType="1" noTextEdit="1"/>
              </p:cNvSpPr>
              <p:nvPr>
                <p:ph type="body" idx="1"/>
              </p:nvPr>
            </p:nvSpPr>
            <p:spPr>
              <a:xfrm>
                <a:off x="311700" y="1152475"/>
                <a:ext cx="8520600" cy="3416400"/>
              </a:xfrm>
              <a:prstGeom prst="rect">
                <a:avLst/>
              </a:prstGeom>
              <a:blipFill rotWithShape="0">
                <a:blip r:embed="rId3"/>
                <a:stretch>
                  <a:fillRect l="-572"/>
                </a:stretch>
              </a:blipFill>
            </p:spPr>
            <p:txBody>
              <a:bodyPr/>
              <a:lstStyle/>
              <a:p>
                <a:r>
                  <a:rPr lang="en-US">
                    <a:noFill/>
                  </a:rPr>
                  <a:t> </a:t>
                </a:r>
              </a:p>
            </p:txBody>
          </p:sp>
        </mc:Fallback>
      </mc:AlternateContent>
    </p:spTree>
    <p:extLst>
      <p:ext uri="{BB962C8B-B14F-4D97-AF65-F5344CB8AC3E}">
        <p14:creationId xmlns:p14="http://schemas.microsoft.com/office/powerpoint/2010/main" val="56599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Decimals to Binary Example:</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spcBef>
                <a:spcPts val="1200"/>
              </a:spcBef>
              <a:spcAft>
                <a:spcPts val="1200"/>
              </a:spcAft>
              <a:buNone/>
            </a:pPr>
            <a:r>
              <a:rPr lang="en-US" dirty="0"/>
              <a:t>For example, consider the decimal number 123. </a:t>
            </a:r>
          </a:p>
          <a:p>
            <a:pPr marL="0" lvl="0" indent="0">
              <a:spcBef>
                <a:spcPts val="1200"/>
              </a:spcBef>
              <a:spcAft>
                <a:spcPts val="1200"/>
              </a:spcAft>
              <a:buNone/>
            </a:pPr>
            <a:r>
              <a:rPr lang="en-US" dirty="0"/>
              <a:t>The conversion is conducted as follows:</a:t>
            </a:r>
          </a:p>
          <a:p>
            <a:pPr marL="0" lvl="0" indent="0">
              <a:spcBef>
                <a:spcPts val="1200"/>
              </a:spcBef>
              <a:spcAft>
                <a:spcPts val="1200"/>
              </a:spcAft>
              <a:buNone/>
            </a:pPr>
            <a:endParaRPr lang="en-US" dirty="0"/>
          </a:p>
          <a:p>
            <a:pPr marL="0" lvl="0" indent="0">
              <a:spcBef>
                <a:spcPts val="1200"/>
              </a:spcBef>
              <a:spcAft>
                <a:spcPts val="1200"/>
              </a:spcAft>
              <a:buNone/>
            </a:pPr>
            <a:endParaRPr lang="en-US" dirty="0"/>
          </a:p>
          <a:p>
            <a:pPr marL="0" lvl="0" indent="0">
              <a:spcBef>
                <a:spcPts val="1200"/>
              </a:spcBef>
              <a:spcAft>
                <a:spcPts val="1200"/>
              </a:spcAft>
              <a:buNone/>
            </a:pPr>
            <a:r>
              <a:rPr lang="en-US" dirty="0"/>
              <a:t>Corresponding binary number is: 1111011 </a:t>
            </a:r>
          </a:p>
        </p:txBody>
      </p:sp>
      <p:graphicFrame>
        <p:nvGraphicFramePr>
          <p:cNvPr id="4" name="Object 5" descr="Converting 123 in decimal to binary: Dividing by 2 and preserving the remainders. Continue doing it to the quotient of the result of division till it becomes zero. The result is binary number 1111011">
            <a:extLst>
              <a:ext uri="{FF2B5EF4-FFF2-40B4-BE49-F238E27FC236}">
                <a16:creationId xmlns:a16="http://schemas.microsoft.com/office/drawing/2014/main" id="{967C1AAA-6DAC-43BA-9FD6-C91C1CC2D6A7}"/>
              </a:ext>
              <a:ext uri="{C183D7F6-B498-43B3-948B-1728B52AA6E4}">
                <adec:decorative xmlns:adec="http://schemas.microsoft.com/office/drawing/2017/decorative" val="0"/>
              </a:ext>
            </a:extLst>
          </p:cNvPr>
          <p:cNvGraphicFramePr>
            <a:graphicFrameLocks noChangeAspect="1"/>
          </p:cNvGraphicFramePr>
          <p:nvPr/>
        </p:nvGraphicFramePr>
        <p:xfrm>
          <a:off x="1477421" y="2356399"/>
          <a:ext cx="6189158" cy="1307317"/>
        </p:xfrm>
        <a:graphic>
          <a:graphicData uri="http://schemas.openxmlformats.org/presentationml/2006/ole">
            <mc:AlternateContent xmlns:mc="http://schemas.openxmlformats.org/markup-compatibility/2006">
              <mc:Choice xmlns:v="urn:schemas-microsoft-com:vml" Requires="v">
                <p:oleObj name="Picture" r:id="rId3" imgW="5413248" imgH="1143000" progId="Word.Picture.8">
                  <p:embed/>
                </p:oleObj>
              </mc:Choice>
              <mc:Fallback>
                <p:oleObj name="Picture" r:id="rId3" imgW="5413248" imgH="1143000" progId="Word.Picture.8">
                  <p:embed/>
                  <p:pic>
                    <p:nvPicPr>
                      <p:cNvPr id="4" name="Object 5" descr="Converting 123 in decimal to binary: Dividing by 2 and preserving the remainders. Continue doing it to the quotient of the result of division till it becomes zero. The result is binary number 1111011">
                        <a:extLst>
                          <a:ext uri="{FF2B5EF4-FFF2-40B4-BE49-F238E27FC236}">
                            <a16:creationId xmlns:a16="http://schemas.microsoft.com/office/drawing/2014/main" id="{967C1AAA-6DAC-43BA-9FD6-C91C1CC2D6A7}"/>
                          </a:ext>
                          <a:ext uri="{C183D7F6-B498-43B3-948B-1728B52AA6E4}">
                            <adec:decorative xmlns:adec="http://schemas.microsoft.com/office/drawing/2017/decorative" val="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7421" y="2356399"/>
                        <a:ext cx="6189158" cy="130731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3686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Number Systems: Octal and Hexadecimal</a:t>
            </a:r>
            <a:br>
              <a:rPr lang="en-US" dirty="0"/>
            </a:br>
            <a:endParaRPr lang="en-US" dirty="0"/>
          </a:p>
        </p:txBody>
      </p:sp>
      <p:sp>
        <p:nvSpPr>
          <p:cNvPr id="3" name="Text Placeholder 2"/>
          <p:cNvSpPr>
            <a:spLocks noGrp="1"/>
          </p:cNvSpPr>
          <p:nvPr>
            <p:ph type="body" idx="1"/>
          </p:nvPr>
        </p:nvSpPr>
        <p:spPr/>
        <p:txBody>
          <a:bodyPr/>
          <a:lstStyle/>
          <a:p>
            <a:pPr marL="0" indent="0">
              <a:buClr>
                <a:schemeClr val="dk1"/>
              </a:buClr>
              <a:buSzPts val="1100"/>
              <a:buNone/>
            </a:pPr>
            <a:r>
              <a:rPr lang="en" dirty="0"/>
              <a:t>Octal: </a:t>
            </a:r>
          </a:p>
          <a:p>
            <a:pPr marL="285750" indent="-285750">
              <a:buClr>
                <a:schemeClr val="dk1"/>
              </a:buClr>
              <a:buSzPct val="100000"/>
            </a:pPr>
            <a:r>
              <a:rPr lang="en" dirty="0"/>
              <a:t>digits: 0, 1, 2, 3, 4, 5, 6, 7  </a:t>
            </a:r>
          </a:p>
          <a:p>
            <a:pPr marL="285750" indent="-285750">
              <a:buClr>
                <a:schemeClr val="dk1"/>
              </a:buClr>
              <a:buSzPct val="100000"/>
            </a:pPr>
            <a:r>
              <a:rPr lang="en" dirty="0"/>
              <a:t>base (radix): 8</a:t>
            </a:r>
          </a:p>
          <a:p>
            <a:endParaRPr lang="en-US" dirty="0"/>
          </a:p>
          <a:p>
            <a:pPr marL="0" indent="0">
              <a:buClr>
                <a:schemeClr val="dk1"/>
              </a:buClr>
              <a:buSzPts val="1100"/>
              <a:buNone/>
            </a:pPr>
            <a:r>
              <a:rPr lang="pt-BR" dirty="0"/>
              <a:t>Hexadecimal: </a:t>
            </a:r>
          </a:p>
          <a:p>
            <a:pPr marL="285750" indent="-285750">
              <a:buClr>
                <a:schemeClr val="dk1"/>
              </a:buClr>
              <a:buSzPct val="100000"/>
            </a:pPr>
            <a:r>
              <a:rPr lang="pt-BR" dirty="0"/>
              <a:t>digits: 0, 1, 2, 3, 4, 5, 6, 7, 8, 9, A, B, C, D, E, F 	</a:t>
            </a:r>
          </a:p>
          <a:p>
            <a:pPr marL="285750" indent="-285750">
              <a:buClr>
                <a:schemeClr val="dk1"/>
              </a:buClr>
              <a:buSzPct val="100000"/>
            </a:pPr>
            <a:r>
              <a:rPr lang="pt-BR" dirty="0"/>
              <a:t>base (radix): 16</a:t>
            </a:r>
          </a:p>
          <a:p>
            <a:pPr marL="0" lvl="0" indent="0">
              <a:buClr>
                <a:schemeClr val="dk1"/>
              </a:buClr>
              <a:buSzPts val="1100"/>
              <a:buNone/>
            </a:pPr>
            <a:endParaRPr lang="pt-BR" dirty="0"/>
          </a:p>
          <a:p>
            <a:endParaRPr lang="en-US" dirty="0"/>
          </a:p>
        </p:txBody>
      </p:sp>
    </p:spTree>
    <p:extLst>
      <p:ext uri="{BB962C8B-B14F-4D97-AF65-F5344CB8AC3E}">
        <p14:creationId xmlns:p14="http://schemas.microsoft.com/office/powerpoint/2010/main" val="123135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Hexadecimal</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285750" lvl="0" indent="-285750">
              <a:buClr>
                <a:schemeClr val="dk1"/>
              </a:buClr>
              <a:buSzPct val="100000"/>
            </a:pPr>
            <a:r>
              <a:rPr lang="en-US" dirty="0"/>
              <a:t>The base of the hex number system is 16 since the hex number system has sixteen digits: 0, 1, 2, 3, 4, 5, 6, 7, 8, 9, A, B, C, D, E, and F</a:t>
            </a:r>
          </a:p>
          <a:p>
            <a:pPr marL="0" lvl="0" indent="0">
              <a:buClr>
                <a:schemeClr val="dk1"/>
              </a:buClr>
              <a:buSzPct val="100000"/>
              <a:buNone/>
            </a:pPr>
            <a:endParaRPr lang="en-US" dirty="0"/>
          </a:p>
          <a:p>
            <a:pPr marL="285750" indent="-285750">
              <a:buClr>
                <a:schemeClr val="dk1"/>
              </a:buClr>
              <a:buSzPct val="100000"/>
            </a:pPr>
            <a:r>
              <a:rPr lang="en-US" dirty="0"/>
              <a:t>The letters A, B, C, D, E, and F correspond to the decimal numbers 10, 11, 12, 13, 14, and 15.</a:t>
            </a:r>
          </a:p>
          <a:p>
            <a:pPr marL="0" indent="0">
              <a:buClr>
                <a:schemeClr val="dk1"/>
              </a:buClr>
              <a:buSzPct val="100000"/>
              <a:buNone/>
            </a:pPr>
            <a:endParaRPr lang="en-US" dirty="0"/>
          </a:p>
          <a:p>
            <a:pPr marL="285750" lvl="0" indent="-285750">
              <a:buClr>
                <a:schemeClr val="dk1"/>
              </a:buClr>
              <a:buSzPct val="100000"/>
            </a:pPr>
            <a:r>
              <a:rPr lang="en-US" dirty="0"/>
              <a:t>Binary numbers tend to be very long and cumbersome:</a:t>
            </a:r>
          </a:p>
          <a:p>
            <a:pPr marL="0" lvl="0" indent="0">
              <a:buClr>
                <a:schemeClr val="dk1"/>
              </a:buClr>
              <a:buSzPct val="100000"/>
              <a:buNone/>
            </a:pPr>
            <a:r>
              <a:rPr lang="en-US" dirty="0"/>
              <a:t>     For example: 1010 1010 1010 (2730 in decimal)</a:t>
            </a:r>
          </a:p>
          <a:p>
            <a:pPr marL="0" lvl="0" indent="0">
              <a:buClr>
                <a:schemeClr val="dk1"/>
              </a:buClr>
              <a:buSzPct val="100000"/>
              <a:buNone/>
            </a:pPr>
            <a:endParaRPr lang="en-US" dirty="0"/>
          </a:p>
          <a:p>
            <a:pPr marL="285750" lvl="0" indent="-285750">
              <a:buClr>
                <a:schemeClr val="dk1"/>
              </a:buClr>
              <a:buSzPct val="100000"/>
            </a:pPr>
            <a:r>
              <a:rPr lang="en-US" dirty="0"/>
              <a:t>Hexadecimal numbers are often used to abbreviate binary numbers: For example: AAA</a:t>
            </a:r>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47911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lvl="0">
              <a:buSzPct val="39285"/>
            </a:pPr>
            <a:r>
              <a:rPr lang="en-US" b="1" dirty="0"/>
              <a:t>Hexadecimal to decimal</a:t>
            </a:r>
            <a:endParaRPr lang="en-US" dirty="0"/>
          </a:p>
        </p:txBody>
      </p:sp>
      <mc:AlternateContent xmlns:mc="http://schemas.openxmlformats.org/markup-compatibility/2006" xmlns:a14="http://schemas.microsoft.com/office/drawing/2010/main">
        <mc:Choice Requires="a14">
          <p:sp>
            <p:nvSpPr>
              <p:cNvPr id="61" name="Google Shape;61;p14"/>
              <p:cNvSpPr txBox="1">
                <a:spLocks noGrp="1"/>
              </p:cNvSpPr>
              <p:nvPr>
                <p:ph type="body" idx="1"/>
              </p:nvPr>
            </p:nvSpPr>
            <p:spPr>
              <a:prstGeom prst="rect">
                <a:avLst/>
              </a:prstGeom>
            </p:spPr>
            <p:txBody>
              <a:bodyPr spcFirstLastPara="1" wrap="square" lIns="91425" tIns="91425" rIns="91425" bIns="91425" anchor="t" anchorCtr="0">
                <a:normAutofit/>
              </a:bodyPr>
              <a:lstStyle/>
              <a:p>
                <a:pPr marL="285750" indent="-285750">
                  <a:spcBef>
                    <a:spcPts val="1200"/>
                  </a:spcBef>
                  <a:spcAft>
                    <a:spcPts val="1200"/>
                  </a:spcAft>
                </a:pPr>
                <a:r>
                  <a:rPr lang="en-US" dirty="0"/>
                  <a:t>Given a hexadecimal number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oMath>
                </a14:m>
                <a:r>
                  <a:rPr lang="en-US" dirty="0"/>
                  <a:t>, the equivalent decimal value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𝑛</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𝑛</m:t>
                        </m:r>
                        <m:r>
                          <a:rPr lang="en-US" i="1">
                            <a:latin typeface="Cambria Math" panose="02040503050406030204" pitchFamily="18" charset="0"/>
                          </a:rPr>
                          <m:t>−1</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𝑛</m:t>
                        </m:r>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1</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0</m:t>
                        </m:r>
                      </m:sup>
                    </m:sSup>
                  </m:oMath>
                </a14:m>
                <a:endParaRPr lang="en-US" dirty="0"/>
              </a:p>
              <a:p>
                <a:pPr marL="285750" indent="-285750">
                  <a:spcBef>
                    <a:spcPts val="1200"/>
                  </a:spcBef>
                  <a:spcAft>
                    <a:spcPts val="1200"/>
                  </a:spcAft>
                </a:pPr>
                <a:r>
                  <a:rPr lang="en-US" dirty="0"/>
                  <a:t>Example: 7F  in hex is:</a:t>
                </a:r>
              </a:p>
              <a:p>
                <a:pPr marL="0" indent="0">
                  <a:spcBef>
                    <a:spcPts val="1200"/>
                  </a:spcBef>
                  <a:spcAft>
                    <a:spcPts val="1200"/>
                  </a:spcAft>
                  <a:buNone/>
                </a:pPr>
                <a:r>
                  <a:rPr lang="en-US" dirty="0"/>
                  <a:t>      </a:t>
                </a:r>
                <a14:m>
                  <m:oMath xmlns:m="http://schemas.openxmlformats.org/officeDocument/2006/math">
                    <m:r>
                      <a:rPr lang="en-US" i="1">
                        <a:latin typeface="Cambria Math" panose="02040503050406030204" pitchFamily="18" charset="0"/>
                      </a:rPr>
                      <m:t>7∗</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1</m:t>
                        </m:r>
                      </m:sup>
                    </m:sSup>
                    <m:r>
                      <a:rPr lang="en-US" i="1">
                        <a:latin typeface="Cambria Math" panose="02040503050406030204" pitchFamily="18" charset="0"/>
                      </a:rPr>
                      <m:t>+15∗</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0 </m:t>
                        </m:r>
                      </m:sup>
                    </m:sSup>
                    <m:r>
                      <a:rPr lang="en-US" i="1">
                        <a:latin typeface="Cambria Math" panose="02040503050406030204" pitchFamily="18" charset="0"/>
                      </a:rPr>
                      <m:t>=127</m:t>
                    </m:r>
                  </m:oMath>
                </a14:m>
                <a:r>
                  <a:rPr lang="en-US" dirty="0"/>
                  <a:t> in decimal</a:t>
                </a:r>
              </a:p>
              <a:p>
                <a:pPr marL="285750" indent="-285750">
                  <a:spcBef>
                    <a:spcPts val="1200"/>
                  </a:spcBef>
                  <a:spcAft>
                    <a:spcPts val="1200"/>
                  </a:spcAft>
                </a:pPr>
                <a:r>
                  <a:rPr lang="en-US" dirty="0"/>
                  <a:t>FFFF in hex is:  </a:t>
                </a:r>
                <a14:m>
                  <m:oMath xmlns:m="http://schemas.openxmlformats.org/officeDocument/2006/math">
                    <m:r>
                      <a:rPr lang="en-US" i="1">
                        <a:latin typeface="Cambria Math" panose="02040503050406030204" pitchFamily="18" charset="0"/>
                      </a:rPr>
                      <m:t>15∗</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3</m:t>
                        </m:r>
                      </m:sup>
                    </m:sSup>
                    <m:r>
                      <a:rPr lang="en-US" i="1">
                        <a:latin typeface="Cambria Math" panose="02040503050406030204" pitchFamily="18" charset="0"/>
                      </a:rPr>
                      <m:t>+15∗</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2</m:t>
                        </m:r>
                      </m:sup>
                    </m:sSup>
                    <m:r>
                      <a:rPr lang="en-US" i="1">
                        <a:latin typeface="Cambria Math" panose="02040503050406030204" pitchFamily="18" charset="0"/>
                      </a:rPr>
                      <m:t>+15 ∗</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1</m:t>
                        </m:r>
                      </m:sup>
                    </m:sSup>
                    <m:r>
                      <a:rPr lang="en-US" i="1">
                        <a:latin typeface="Cambria Math" panose="02040503050406030204" pitchFamily="18" charset="0"/>
                      </a:rPr>
                      <m:t>+15∗</m:t>
                    </m:r>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0</m:t>
                        </m:r>
                      </m:sup>
                    </m:sSup>
                    <m:r>
                      <a:rPr lang="en-US" i="1">
                        <a:latin typeface="Cambria Math" panose="02040503050406030204" pitchFamily="18" charset="0"/>
                      </a:rPr>
                      <m:t>=65536</m:t>
                    </m:r>
                  </m:oMath>
                </a14:m>
                <a:r>
                  <a:rPr lang="en-US" dirty="0"/>
                  <a:t> in decimal</a:t>
                </a:r>
              </a:p>
              <a:p>
                <a:pPr marL="0" indent="0">
                  <a:spcBef>
                    <a:spcPts val="1200"/>
                  </a:spcBef>
                  <a:spcAft>
                    <a:spcPts val="1200"/>
                  </a:spcAft>
                  <a:buNone/>
                </a:pPr>
                <a:endParaRPr lang="en-US" dirty="0"/>
              </a:p>
              <a:p>
                <a:pPr marL="0" lvl="0" indent="0" algn="l" rtl="0">
                  <a:spcBef>
                    <a:spcPts val="1200"/>
                  </a:spcBef>
                  <a:spcAft>
                    <a:spcPts val="1200"/>
                  </a:spcAft>
                  <a:buNone/>
                </a:pPr>
                <a:endParaRPr dirty="0"/>
              </a:p>
            </p:txBody>
          </p:sp>
        </mc:Choice>
        <mc:Fallback xmlns="">
          <p:sp>
            <p:nvSpPr>
              <p:cNvPr id="61" name="Google Shape;61;p14"/>
              <p:cNvSpPr txBox="1">
                <a:spLocks noGrp="1" noRot="1" noChangeAspect="1" noMove="1" noResize="1" noEditPoints="1" noAdjustHandles="1" noChangeArrowheads="1" noChangeShapeType="1" noTextEdit="1"/>
              </p:cNvSpPr>
              <p:nvPr>
                <p:ph type="body" idx="1"/>
              </p:nvPr>
            </p:nvSpPr>
            <p:spPr>
              <a:prstGeom prst="rect">
                <a:avLst/>
              </a:prstGeom>
              <a:blipFill rotWithShape="0">
                <a:blip r:embed="rId3"/>
                <a:stretch>
                  <a:fillRect l="-429"/>
                </a:stretch>
              </a:blipFill>
            </p:spPr>
            <p:txBody>
              <a:bodyPr/>
              <a:lstStyle/>
              <a:p>
                <a:r>
                  <a:rPr lang="en-US">
                    <a:noFill/>
                  </a:rPr>
                  <a:t> </a:t>
                </a:r>
              </a:p>
            </p:txBody>
          </p:sp>
        </mc:Fallback>
      </mc:AlternateContent>
    </p:spTree>
    <p:extLst>
      <p:ext uri="{BB962C8B-B14F-4D97-AF65-F5344CB8AC3E}">
        <p14:creationId xmlns:p14="http://schemas.microsoft.com/office/powerpoint/2010/main" val="144926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 Decimals to Hexadecimals </a:t>
            </a:r>
            <a:endParaRPr dirty="0"/>
          </a:p>
          <a:p>
            <a:pPr marL="0" lvl="0" indent="0" algn="l" rtl="0">
              <a:spcBef>
                <a:spcPts val="0"/>
              </a:spcBef>
              <a:spcAft>
                <a:spcPts val="0"/>
              </a:spcAft>
              <a:buNone/>
            </a:pPr>
            <a:endParaRPr dirty="0"/>
          </a:p>
        </p:txBody>
      </p:sp>
      <mc:AlternateContent xmlns:mc="http://schemas.openxmlformats.org/markup-compatibility/2006" xmlns:a14="http://schemas.microsoft.com/office/drawing/2010/main">
        <mc:Choice Requires="a14">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285750" indent="-285750">
                  <a:spcBef>
                    <a:spcPts val="1200"/>
                  </a:spcBef>
                  <a:spcAft>
                    <a:spcPts val="1200"/>
                  </a:spcAft>
                </a:pPr>
                <a:r>
                  <a:rPr lang="en-US" dirty="0"/>
                  <a:t>Given decimal number </a:t>
                </a:r>
                <a14:m>
                  <m:oMath xmlns:m="http://schemas.openxmlformats.org/officeDocument/2006/math">
                    <m:r>
                      <a:rPr lang="en-US" i="1" dirty="0" smtClean="0">
                        <a:latin typeface="Cambria Math" panose="02040503050406030204" pitchFamily="18" charset="0"/>
                      </a:rPr>
                      <m:t>𝑑</m:t>
                    </m:r>
                  </m:oMath>
                </a14:m>
                <a:r>
                  <a:rPr lang="en-US" dirty="0"/>
                  <a:t>: Find a hexadecimal number: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b="0" i="1" smtClean="0">
                            <a:latin typeface="Cambria Math" panose="02040503050406030204" pitchFamily="18" charset="0"/>
                          </a:rPr>
                          <m:t>0</m:t>
                        </m:r>
                      </m:sub>
                    </m:sSub>
                  </m:oMath>
                </a14:m>
                <a:r>
                  <a:rPr lang="en-US" dirty="0"/>
                  <a:t>, such that: </a:t>
                </a:r>
                <a14:m>
                  <m:oMath xmlns:m="http://schemas.openxmlformats.org/officeDocument/2006/math">
                    <m:r>
                      <a:rPr lang="en-US" b="0" i="0" smtClean="0">
                        <a:latin typeface="Cambria Math" panose="02040503050406030204" pitchFamily="18" charset="0"/>
                      </a:rPr>
                      <m:t> </m:t>
                    </m:r>
                    <m:r>
                      <a:rPr lang="en-US" i="1" dirty="0" smtClean="0">
                        <a:latin typeface="Cambria Math" panose="02040503050406030204" pitchFamily="18" charset="0"/>
                      </a:rPr>
                      <m:t>𝑑</m:t>
                    </m:r>
                    <m:r>
                      <a:rPr lang="en-US">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𝑛</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16</m:t>
                        </m:r>
                      </m:e>
                      <m:sup>
                        <m:r>
                          <a:rPr lang="en-US" i="1">
                            <a:latin typeface="Cambria Math" panose="02040503050406030204" pitchFamily="18" charset="0"/>
                          </a:rPr>
                          <m:t>𝑛</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16</m:t>
                        </m:r>
                      </m:e>
                      <m:sup>
                        <m:r>
                          <a:rPr lang="en-US" i="1">
                            <a:latin typeface="Cambria Math" panose="02040503050406030204" pitchFamily="18" charset="0"/>
                          </a:rPr>
                          <m:t>𝑛</m:t>
                        </m:r>
                        <m:r>
                          <a:rPr lang="en-US" i="1">
                            <a:latin typeface="Cambria Math" panose="02040503050406030204" pitchFamily="18" charset="0"/>
                          </a:rPr>
                          <m:t>−1</m:t>
                        </m:r>
                      </m:sup>
                    </m:sSup>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16</m:t>
                        </m:r>
                      </m:e>
                      <m:sup>
                        <m:r>
                          <a:rPr lang="en-US" i="1">
                            <a:latin typeface="Cambria Math" panose="02040503050406030204" pitchFamily="18" charset="0"/>
                          </a:rPr>
                          <m:t>𝑛</m:t>
                        </m:r>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16</m:t>
                        </m:r>
                      </m:e>
                      <m:sup>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16</m:t>
                        </m:r>
                      </m:e>
                      <m:sup>
                        <m:r>
                          <a:rPr lang="en-US" i="1">
                            <a:latin typeface="Cambria Math" panose="02040503050406030204" pitchFamily="18" charset="0"/>
                          </a:rPr>
                          <m:t>1</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16</m:t>
                        </m:r>
                      </m:e>
                      <m:sup>
                        <m:r>
                          <a:rPr lang="en-US" i="1">
                            <a:latin typeface="Cambria Math" panose="02040503050406030204" pitchFamily="18" charset="0"/>
                          </a:rPr>
                          <m:t>0</m:t>
                        </m:r>
                      </m:sup>
                    </m:sSup>
                  </m:oMath>
                </a14:m>
                <a:endParaRPr lang="en-US" dirty="0"/>
              </a:p>
              <a:p>
                <a:pPr marL="285750" indent="-285750">
                  <a:spcBef>
                    <a:spcPts val="1200"/>
                  </a:spcBef>
                  <a:spcAft>
                    <a:spcPts val="1200"/>
                  </a:spcAft>
                </a:pPr>
                <a:r>
                  <a:rPr lang="en-US" dirty="0"/>
                  <a:t>These numbers can be found by successively dividing </a:t>
                </a:r>
                <a14:m>
                  <m:oMath xmlns:m="http://schemas.openxmlformats.org/officeDocument/2006/math">
                    <m:r>
                      <a:rPr lang="en-US" i="1" dirty="0" smtClean="0">
                        <a:latin typeface="Cambria Math" panose="02040503050406030204" pitchFamily="18" charset="0"/>
                      </a:rPr>
                      <m:t>𝑑</m:t>
                    </m:r>
                  </m:oMath>
                </a14:m>
                <a:r>
                  <a:rPr lang="en-US" dirty="0"/>
                  <a:t> by 16 until the quotient is 0. </a:t>
                </a:r>
              </a:p>
              <a:p>
                <a:pPr marL="285750" indent="-285750">
                  <a:spcBef>
                    <a:spcPts val="1200"/>
                  </a:spcBef>
                  <a:spcAft>
                    <a:spcPts val="1200"/>
                  </a:spcAft>
                </a:pPr>
                <a:r>
                  <a:rPr lang="en-US" dirty="0"/>
                  <a:t>The remainders are: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𝑛</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oMath>
                </a14:m>
                <a:r>
                  <a:rPr lang="en-US" dirty="0"/>
                  <a:t>, which is the corresponding hexadecimal number.</a:t>
                </a:r>
              </a:p>
            </p:txBody>
          </p:sp>
        </mc:Choice>
        <mc:Fallback xmlns="">
          <p:sp>
            <p:nvSpPr>
              <p:cNvPr id="61" name="Google Shape;61;p14"/>
              <p:cNvSpPr txBox="1">
                <a:spLocks noGrp="1" noRot="1" noChangeAspect="1" noMove="1" noResize="1" noEditPoints="1" noAdjustHandles="1" noChangeArrowheads="1" noChangeShapeType="1" noTextEdit="1"/>
              </p:cNvSpPr>
              <p:nvPr>
                <p:ph type="body" idx="1"/>
              </p:nvPr>
            </p:nvSpPr>
            <p:spPr>
              <a:xfrm>
                <a:off x="311700" y="1152475"/>
                <a:ext cx="8520600" cy="3416400"/>
              </a:xfrm>
              <a:prstGeom prst="rect">
                <a:avLst/>
              </a:prstGeom>
              <a:blipFill rotWithShape="0">
                <a:blip r:embed="rId3"/>
                <a:stretch>
                  <a:fillRect l="-429" r="-1073"/>
                </a:stretch>
              </a:blipFill>
            </p:spPr>
            <p:txBody>
              <a:bodyPr/>
              <a:lstStyle/>
              <a:p>
                <a:r>
                  <a:rPr lang="en-US">
                    <a:noFill/>
                  </a:rPr>
                  <a:t> </a:t>
                </a:r>
              </a:p>
            </p:txBody>
          </p:sp>
        </mc:Fallback>
      </mc:AlternateContent>
    </p:spTree>
    <p:extLst>
      <p:ext uri="{BB962C8B-B14F-4D97-AF65-F5344CB8AC3E}">
        <p14:creationId xmlns:p14="http://schemas.microsoft.com/office/powerpoint/2010/main" val="317448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 Decimals to Hexadecimals: Example </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spcBef>
                <a:spcPts val="1200"/>
              </a:spcBef>
              <a:spcAft>
                <a:spcPts val="1200"/>
              </a:spcAft>
              <a:buNone/>
            </a:pPr>
            <a:r>
              <a:rPr lang="en-US" sz="2100" dirty="0"/>
              <a:t>123=127-4</a:t>
            </a:r>
          </a:p>
          <a:p>
            <a:pPr marL="0" lvl="0" indent="0">
              <a:spcBef>
                <a:spcPts val="1200"/>
              </a:spcBef>
              <a:spcAft>
                <a:spcPts val="1200"/>
              </a:spcAft>
              <a:buNone/>
            </a:pPr>
            <a:r>
              <a:rPr lang="en-US" sz="2100" dirty="0"/>
              <a:t>127=01111111</a:t>
            </a:r>
          </a:p>
          <a:p>
            <a:pPr marL="0" lvl="0" indent="0">
              <a:spcBef>
                <a:spcPts val="1200"/>
              </a:spcBef>
              <a:spcAft>
                <a:spcPts val="1200"/>
              </a:spcAft>
              <a:buNone/>
            </a:pPr>
            <a:r>
              <a:rPr lang="en-US" sz="2100" dirty="0"/>
              <a:t>4=    00000100</a:t>
            </a:r>
          </a:p>
          <a:p>
            <a:pPr marL="0" lvl="0" indent="0">
              <a:spcBef>
                <a:spcPts val="1200"/>
              </a:spcBef>
              <a:spcAft>
                <a:spcPts val="1200"/>
              </a:spcAft>
              <a:buNone/>
            </a:pPr>
            <a:r>
              <a:rPr lang="en-US" sz="2100" dirty="0"/>
              <a:t>123=01111011</a:t>
            </a:r>
          </a:p>
          <a:p>
            <a:pPr marL="0" lvl="0" indent="0">
              <a:spcBef>
                <a:spcPts val="1200"/>
              </a:spcBef>
              <a:spcAft>
                <a:spcPts val="1200"/>
              </a:spcAft>
              <a:buNone/>
            </a:pPr>
            <a:r>
              <a:rPr lang="en-US" sz="2100" dirty="0"/>
              <a:t>7 B</a:t>
            </a:r>
          </a:p>
        </p:txBody>
      </p:sp>
      <p:graphicFrame>
        <p:nvGraphicFramePr>
          <p:cNvPr id="4" name="Object 5" descr="Converting 123 in decimal to hexadecimal:  Divide 123 by 16, and preserve the remainder. Continue dividing the resulting  quotient as long as it is not zero and preserve the remainder. The final hexadecimal number is 7B">
            <a:extLst>
              <a:ext uri="{FF2B5EF4-FFF2-40B4-BE49-F238E27FC236}">
                <a16:creationId xmlns:a16="http://schemas.microsoft.com/office/drawing/2014/main" id="{7EE9D81E-56A9-4987-94CC-889C7AC3A1F0}"/>
              </a:ext>
            </a:extLst>
          </p:cNvPr>
          <p:cNvGraphicFramePr>
            <a:graphicFrameLocks noChangeAspect="1"/>
          </p:cNvGraphicFramePr>
          <p:nvPr/>
        </p:nvGraphicFramePr>
        <p:xfrm>
          <a:off x="4426343" y="2069877"/>
          <a:ext cx="3730428" cy="1865215"/>
        </p:xfrm>
        <a:graphic>
          <a:graphicData uri="http://schemas.openxmlformats.org/presentationml/2006/ole">
            <mc:AlternateContent xmlns:mc="http://schemas.openxmlformats.org/markup-compatibility/2006">
              <mc:Choice xmlns:v="urn:schemas-microsoft-com:vml" Requires="v">
                <p:oleObj name="Picture" r:id="rId3" imgW="2135124" imgH="1066800" progId="Word.Picture.8">
                  <p:embed/>
                </p:oleObj>
              </mc:Choice>
              <mc:Fallback>
                <p:oleObj name="Picture" r:id="rId3" imgW="2135124" imgH="1066800" progId="Word.Picture.8">
                  <p:embed/>
                  <p:pic>
                    <p:nvPicPr>
                      <p:cNvPr id="4" name="Object 5" descr="Converting 123 in decimal to hexadecimal:  Divide 123 by 16, and preserve the remainder. Continue dividing the resulting  quotient as long as it is not zero and preserve the remainder. The final hexadecimal number is 7B">
                        <a:extLst>
                          <a:ext uri="{FF2B5EF4-FFF2-40B4-BE49-F238E27FC236}">
                            <a16:creationId xmlns:a16="http://schemas.microsoft.com/office/drawing/2014/main" id="{7EE9D81E-56A9-4987-94CC-889C7AC3A1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6343" y="2069877"/>
                        <a:ext cx="3730428" cy="186521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301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Hexadecimals to Binary and Vice Versa</a:t>
            </a:r>
            <a:endParaRPr lang="en-US" dirty="0"/>
          </a:p>
        </p:txBody>
      </p:sp>
      <p:sp>
        <p:nvSpPr>
          <p:cNvPr id="5" name="Text Placeholder 4"/>
          <p:cNvSpPr>
            <a:spLocks noGrp="1"/>
          </p:cNvSpPr>
          <p:nvPr>
            <p:ph type="body" idx="1"/>
          </p:nvPr>
        </p:nvSpPr>
        <p:spPr/>
        <p:txBody>
          <a:bodyPr/>
          <a:lstStyle/>
          <a:p>
            <a:pPr algn="just"/>
            <a:r>
              <a:rPr lang="en-US" sz="1800" dirty="0"/>
              <a:t>To convert a hexadecimal number to a binary number, simply convert each digit in the hexadecimal number into a four-digit binary number.  </a:t>
            </a:r>
          </a:p>
          <a:p>
            <a:endParaRPr lang="en-US" dirty="0"/>
          </a:p>
        </p:txBody>
      </p:sp>
      <p:sp>
        <p:nvSpPr>
          <p:cNvPr id="6" name="Text Placeholder 5"/>
          <p:cNvSpPr>
            <a:spLocks noGrp="1"/>
          </p:cNvSpPr>
          <p:nvPr>
            <p:ph type="body" idx="2"/>
          </p:nvPr>
        </p:nvSpPr>
        <p:spPr/>
        <p:txBody>
          <a:bodyPr/>
          <a:lstStyle/>
          <a:p>
            <a:pPr algn="just"/>
            <a:r>
              <a:rPr lang="en-US" sz="1800" dirty="0"/>
              <a:t>To convert a binary number to a hexadecimal, convert every four binary digits from right to left in the binary number into a hexadecimal number. </a:t>
            </a:r>
          </a:p>
          <a:p>
            <a:endParaRPr lang="en-US" dirty="0"/>
          </a:p>
        </p:txBody>
      </p:sp>
      <p:graphicFrame>
        <p:nvGraphicFramePr>
          <p:cNvPr id="12" name="Object 2" descr="Converting binary number 1110001101 to hexadecimal number.  Convert every group of four binary digits from right to left into corresponding hexadecimal. The result is 38D in hexadecimal." title="Binary to hexadecimal">
            <a:extLst>
              <a:ext uri="{FF2B5EF4-FFF2-40B4-BE49-F238E27FC236}">
                <a16:creationId xmlns:a16="http://schemas.microsoft.com/office/drawing/2014/main" id="{711E9843-F5D2-431F-BB89-19FD50F1B754}"/>
              </a:ext>
            </a:extLst>
          </p:cNvPr>
          <p:cNvGraphicFramePr>
            <a:graphicFrameLocks noChangeAspect="1"/>
          </p:cNvGraphicFramePr>
          <p:nvPr/>
        </p:nvGraphicFramePr>
        <p:xfrm>
          <a:off x="5305055" y="2507323"/>
          <a:ext cx="2684322" cy="1789548"/>
        </p:xfrm>
        <a:graphic>
          <a:graphicData uri="http://schemas.openxmlformats.org/presentationml/2006/ole">
            <mc:AlternateContent xmlns:mc="http://schemas.openxmlformats.org/markup-compatibility/2006">
              <mc:Choice xmlns:v="urn:schemas-microsoft-com:vml" Requires="v">
                <p:oleObj name="Picture" r:id="rId2" imgW="1542960" imgH="1028880" progId="Word.Picture.8">
                  <p:embed/>
                </p:oleObj>
              </mc:Choice>
              <mc:Fallback>
                <p:oleObj name="Picture" r:id="rId2" imgW="1542960" imgH="1028880" progId="Word.Picture.8">
                  <p:embed/>
                  <p:pic>
                    <p:nvPicPr>
                      <p:cNvPr id="12" name="Object 2" descr="Converting binary number 1110001101 to hexadecimal number.  Convert every group of four binary digits from right to left into corresponding hexadecimal. The result is 38D in hexadecimal." title="Binary to hexadecimal">
                        <a:extLst>
                          <a:ext uri="{FF2B5EF4-FFF2-40B4-BE49-F238E27FC236}">
                            <a16:creationId xmlns:a16="http://schemas.microsoft.com/office/drawing/2014/main" id="{711E9843-F5D2-431F-BB89-19FD50F1B754}"/>
                          </a:ext>
                        </a:extLst>
                      </p:cNvPr>
                      <p:cNvPicPr>
                        <a:picLocks noChangeAspect="1" noChangeArrowheads="1"/>
                      </p:cNvPicPr>
                      <p:nvPr/>
                    </p:nvPicPr>
                    <p:blipFill>
                      <a:blip r:embed="rId3"/>
                      <a:srcRect/>
                      <a:stretch>
                        <a:fillRect/>
                      </a:stretch>
                    </p:blipFill>
                    <p:spPr bwMode="auto">
                      <a:xfrm>
                        <a:off x="5305055" y="2507323"/>
                        <a:ext cx="2684322" cy="1789548"/>
                      </a:xfrm>
                      <a:prstGeom prst="rect">
                        <a:avLst/>
                      </a:prstGeom>
                      <a:noFill/>
                      <a:ln>
                        <a:noFill/>
                      </a:ln>
                    </p:spPr>
                  </p:pic>
                </p:oleObj>
              </mc:Fallback>
            </mc:AlternateContent>
          </a:graphicData>
        </a:graphic>
      </p:graphicFrame>
      <p:graphicFrame>
        <p:nvGraphicFramePr>
          <p:cNvPr id="13" name="Object 2" descr="Converting hexadecimal number 38D to binary number.  Convert every hexadecimal digit into a four digit binary number. The result is 001110001101 in binary." title="Hexadecimal to Binary">
            <a:extLst>
              <a:ext uri="{FF2B5EF4-FFF2-40B4-BE49-F238E27FC236}">
                <a16:creationId xmlns:a16="http://schemas.microsoft.com/office/drawing/2014/main" id="{711E9843-F5D2-431F-BB89-19FD50F1B754}"/>
              </a:ext>
            </a:extLst>
          </p:cNvPr>
          <p:cNvGraphicFramePr>
            <a:graphicFrameLocks noChangeAspect="1"/>
          </p:cNvGraphicFramePr>
          <p:nvPr/>
        </p:nvGraphicFramePr>
        <p:xfrm>
          <a:off x="706579" y="2507323"/>
          <a:ext cx="2684322" cy="1789548"/>
        </p:xfrm>
        <a:graphic>
          <a:graphicData uri="http://schemas.openxmlformats.org/presentationml/2006/ole">
            <mc:AlternateContent xmlns:mc="http://schemas.openxmlformats.org/markup-compatibility/2006">
              <mc:Choice xmlns:v="urn:schemas-microsoft-com:vml" Requires="v">
                <p:oleObj name="Picture" r:id="rId4" imgW="1542960" imgH="1028880" progId="Word.Picture.8">
                  <p:embed/>
                </p:oleObj>
              </mc:Choice>
              <mc:Fallback>
                <p:oleObj name="Picture" r:id="rId4" imgW="1542960" imgH="1028880" progId="Word.Picture.8">
                  <p:embed/>
                  <p:pic>
                    <p:nvPicPr>
                      <p:cNvPr id="13" name="Object 2" descr="Converting hexadecimal number 38D to binary number.  Convert every hexadecimal digit into a four digit binary number. The result is 001110001101 in binary." title="Hexadecimal to Binary">
                        <a:extLst>
                          <a:ext uri="{FF2B5EF4-FFF2-40B4-BE49-F238E27FC236}">
                            <a16:creationId xmlns:a16="http://schemas.microsoft.com/office/drawing/2014/main" id="{711E9843-F5D2-431F-BB89-19FD50F1B754}"/>
                          </a:ext>
                        </a:extLst>
                      </p:cNvPr>
                      <p:cNvPicPr>
                        <a:picLocks noChangeAspect="1" noChangeArrowheads="1"/>
                      </p:cNvPicPr>
                      <p:nvPr/>
                    </p:nvPicPr>
                    <p:blipFill>
                      <a:blip r:embed="rId5"/>
                      <a:srcRect/>
                      <a:stretch>
                        <a:fillRect/>
                      </a:stretch>
                    </p:blipFill>
                    <p:spPr bwMode="auto">
                      <a:xfrm>
                        <a:off x="706579" y="2507323"/>
                        <a:ext cx="2684322" cy="178954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2757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 Binary, Hexadecimal and Decimal: Table</a:t>
            </a:r>
            <a:endParaRPr dirty="0"/>
          </a:p>
          <a:p>
            <a:pPr marL="0" lvl="0" indent="0" algn="l" rtl="0">
              <a:spcBef>
                <a:spcPts val="0"/>
              </a:spcBef>
              <a:spcAft>
                <a:spcPts val="0"/>
              </a:spcAft>
              <a:buNone/>
            </a:pPr>
            <a:endParaRPr dirty="0"/>
          </a:p>
        </p:txBody>
      </p:sp>
      <p:graphicFrame>
        <p:nvGraphicFramePr>
          <p:cNvPr id="2" name="Table 1">
            <a:extLst>
              <a:ext uri="{FF2B5EF4-FFF2-40B4-BE49-F238E27FC236}">
                <a16:creationId xmlns:a16="http://schemas.microsoft.com/office/drawing/2014/main" id="{88C9FBB0-7833-456E-A974-FDEAB8C1D20D}"/>
              </a:ext>
            </a:extLst>
          </p:cNvPr>
          <p:cNvGraphicFramePr>
            <a:graphicFrameLocks noGrp="1"/>
          </p:cNvGraphicFramePr>
          <p:nvPr/>
        </p:nvGraphicFramePr>
        <p:xfrm>
          <a:off x="645762" y="1158321"/>
          <a:ext cx="3011838" cy="2944827"/>
        </p:xfrm>
        <a:graphic>
          <a:graphicData uri="http://schemas.openxmlformats.org/drawingml/2006/table">
            <a:tbl>
              <a:tblPr firstRow="1" bandRow="1">
                <a:tableStyleId>{5C22544A-7EE6-4342-B048-85BDC9FD1C3A}</a:tableStyleId>
              </a:tblPr>
              <a:tblGrid>
                <a:gridCol w="1003946">
                  <a:extLst>
                    <a:ext uri="{9D8B030D-6E8A-4147-A177-3AD203B41FA5}">
                      <a16:colId xmlns:a16="http://schemas.microsoft.com/office/drawing/2014/main" val="1681053515"/>
                    </a:ext>
                  </a:extLst>
                </a:gridCol>
                <a:gridCol w="1003946">
                  <a:extLst>
                    <a:ext uri="{9D8B030D-6E8A-4147-A177-3AD203B41FA5}">
                      <a16:colId xmlns:a16="http://schemas.microsoft.com/office/drawing/2014/main" val="588045952"/>
                    </a:ext>
                  </a:extLst>
                </a:gridCol>
                <a:gridCol w="1003946">
                  <a:extLst>
                    <a:ext uri="{9D8B030D-6E8A-4147-A177-3AD203B41FA5}">
                      <a16:colId xmlns:a16="http://schemas.microsoft.com/office/drawing/2014/main" val="691208319"/>
                    </a:ext>
                  </a:extLst>
                </a:gridCol>
              </a:tblGrid>
              <a:tr h="327203">
                <a:tc>
                  <a:txBody>
                    <a:bodyPr/>
                    <a:lstStyle/>
                    <a:p>
                      <a:pPr algn="ctr"/>
                      <a:r>
                        <a:rPr lang="en-US" dirty="0"/>
                        <a:t>Binary</a:t>
                      </a:r>
                    </a:p>
                  </a:txBody>
                  <a:tcPr/>
                </a:tc>
                <a:tc>
                  <a:txBody>
                    <a:bodyPr/>
                    <a:lstStyle/>
                    <a:p>
                      <a:pPr algn="ctr"/>
                      <a:r>
                        <a:rPr lang="en-US" dirty="0"/>
                        <a:t>Hex.</a:t>
                      </a:r>
                    </a:p>
                  </a:txBody>
                  <a:tcPr/>
                </a:tc>
                <a:tc>
                  <a:txBody>
                    <a:bodyPr/>
                    <a:lstStyle/>
                    <a:p>
                      <a:pPr algn="ctr"/>
                      <a:r>
                        <a:rPr lang="en-US" dirty="0"/>
                        <a:t>Decimal</a:t>
                      </a:r>
                    </a:p>
                  </a:txBody>
                  <a:tcPr/>
                </a:tc>
                <a:extLst>
                  <a:ext uri="{0D108BD9-81ED-4DB2-BD59-A6C34878D82A}">
                    <a16:rowId xmlns:a16="http://schemas.microsoft.com/office/drawing/2014/main" val="1042308364"/>
                  </a:ext>
                </a:extLst>
              </a:tr>
              <a:tr h="327203">
                <a:tc>
                  <a:txBody>
                    <a:bodyPr/>
                    <a:lstStyle/>
                    <a:p>
                      <a:pPr algn="ctr"/>
                      <a:r>
                        <a:rPr lang="en-US" dirty="0"/>
                        <a:t>0000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935046977"/>
                  </a:ext>
                </a:extLst>
              </a:tr>
              <a:tr h="327203">
                <a:tc>
                  <a:txBody>
                    <a:bodyPr/>
                    <a:lstStyle/>
                    <a:p>
                      <a:pPr algn="ctr"/>
                      <a:r>
                        <a:rPr lang="en-US" dirty="0"/>
                        <a:t>0001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621176023"/>
                  </a:ext>
                </a:extLst>
              </a:tr>
              <a:tr h="327203">
                <a:tc>
                  <a:txBody>
                    <a:bodyPr/>
                    <a:lstStyle/>
                    <a:p>
                      <a:pPr algn="ctr"/>
                      <a:r>
                        <a:rPr lang="en-US" dirty="0"/>
                        <a:t>0010</a:t>
                      </a:r>
                    </a:p>
                  </a:txBody>
                  <a:tcPr/>
                </a:tc>
                <a:tc>
                  <a:txBody>
                    <a:bodyPr/>
                    <a:lstStyle/>
                    <a:p>
                      <a:pPr algn="ctr"/>
                      <a:r>
                        <a:rPr lang="en-US" dirty="0"/>
                        <a:t>2</a:t>
                      </a:r>
                    </a:p>
                  </a:txBody>
                  <a:tcPr/>
                </a:tc>
                <a:tc>
                  <a:txBody>
                    <a:bodyPr/>
                    <a:lstStyle/>
                    <a:p>
                      <a:pPr algn="ctr"/>
                      <a:r>
                        <a:rPr lang="en-US" dirty="0"/>
                        <a:t>2</a:t>
                      </a:r>
                    </a:p>
                  </a:txBody>
                  <a:tcPr/>
                </a:tc>
                <a:extLst>
                  <a:ext uri="{0D108BD9-81ED-4DB2-BD59-A6C34878D82A}">
                    <a16:rowId xmlns:a16="http://schemas.microsoft.com/office/drawing/2014/main" val="1419165983"/>
                  </a:ext>
                </a:extLst>
              </a:tr>
              <a:tr h="327203">
                <a:tc>
                  <a:txBody>
                    <a:bodyPr/>
                    <a:lstStyle/>
                    <a:p>
                      <a:pPr algn="ctr"/>
                      <a:r>
                        <a:rPr lang="en-US" dirty="0"/>
                        <a:t>0011</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2271084161"/>
                  </a:ext>
                </a:extLst>
              </a:tr>
              <a:tr h="327203">
                <a:tc>
                  <a:txBody>
                    <a:bodyPr/>
                    <a:lstStyle/>
                    <a:p>
                      <a:pPr algn="ctr"/>
                      <a:r>
                        <a:rPr lang="en-US" dirty="0"/>
                        <a:t>0100</a:t>
                      </a:r>
                    </a:p>
                  </a:txBody>
                  <a:tcPr/>
                </a:tc>
                <a:tc>
                  <a:txBody>
                    <a:bodyPr/>
                    <a:lstStyle/>
                    <a:p>
                      <a:pPr algn="ctr"/>
                      <a:r>
                        <a:rPr lang="en-US" dirty="0"/>
                        <a:t>4</a:t>
                      </a:r>
                    </a:p>
                  </a:txBody>
                  <a:tcPr/>
                </a:tc>
                <a:tc>
                  <a:txBody>
                    <a:bodyPr/>
                    <a:lstStyle/>
                    <a:p>
                      <a:pPr algn="ctr"/>
                      <a:r>
                        <a:rPr lang="en-US" dirty="0"/>
                        <a:t>4</a:t>
                      </a:r>
                    </a:p>
                  </a:txBody>
                  <a:tcPr/>
                </a:tc>
                <a:extLst>
                  <a:ext uri="{0D108BD9-81ED-4DB2-BD59-A6C34878D82A}">
                    <a16:rowId xmlns:a16="http://schemas.microsoft.com/office/drawing/2014/main" val="2393056579"/>
                  </a:ext>
                </a:extLst>
              </a:tr>
              <a:tr h="327203">
                <a:tc>
                  <a:txBody>
                    <a:bodyPr/>
                    <a:lstStyle/>
                    <a:p>
                      <a:pPr algn="ctr"/>
                      <a:r>
                        <a:rPr lang="en-US" dirty="0"/>
                        <a:t>0101</a:t>
                      </a:r>
                    </a:p>
                  </a:txBody>
                  <a:tcPr/>
                </a:tc>
                <a:tc>
                  <a:txBody>
                    <a:bodyPr/>
                    <a:lstStyle/>
                    <a:p>
                      <a:pPr algn="ctr"/>
                      <a:r>
                        <a:rPr lang="en-US" dirty="0"/>
                        <a:t>5</a:t>
                      </a:r>
                    </a:p>
                  </a:txBody>
                  <a:tcPr/>
                </a:tc>
                <a:tc>
                  <a:txBody>
                    <a:bodyPr/>
                    <a:lstStyle/>
                    <a:p>
                      <a:pPr algn="ctr"/>
                      <a:r>
                        <a:rPr lang="en-US" dirty="0"/>
                        <a:t>5</a:t>
                      </a:r>
                    </a:p>
                  </a:txBody>
                  <a:tcPr/>
                </a:tc>
                <a:extLst>
                  <a:ext uri="{0D108BD9-81ED-4DB2-BD59-A6C34878D82A}">
                    <a16:rowId xmlns:a16="http://schemas.microsoft.com/office/drawing/2014/main" val="2184416864"/>
                  </a:ext>
                </a:extLst>
              </a:tr>
              <a:tr h="327203">
                <a:tc>
                  <a:txBody>
                    <a:bodyPr/>
                    <a:lstStyle/>
                    <a:p>
                      <a:pPr algn="ctr"/>
                      <a:r>
                        <a:rPr lang="en-US" dirty="0"/>
                        <a:t>0110</a:t>
                      </a:r>
                    </a:p>
                  </a:txBody>
                  <a:tcPr/>
                </a:tc>
                <a:tc>
                  <a:txBody>
                    <a:bodyPr/>
                    <a:lstStyle/>
                    <a:p>
                      <a:pPr algn="ctr"/>
                      <a:r>
                        <a:rPr lang="en-US" dirty="0"/>
                        <a:t>6</a:t>
                      </a:r>
                    </a:p>
                  </a:txBody>
                  <a:tcPr/>
                </a:tc>
                <a:tc>
                  <a:txBody>
                    <a:bodyPr/>
                    <a:lstStyle/>
                    <a:p>
                      <a:pPr algn="ctr"/>
                      <a:r>
                        <a:rPr lang="en-US" dirty="0"/>
                        <a:t>6</a:t>
                      </a:r>
                    </a:p>
                  </a:txBody>
                  <a:tcPr/>
                </a:tc>
                <a:extLst>
                  <a:ext uri="{0D108BD9-81ED-4DB2-BD59-A6C34878D82A}">
                    <a16:rowId xmlns:a16="http://schemas.microsoft.com/office/drawing/2014/main" val="2867168411"/>
                  </a:ext>
                </a:extLst>
              </a:tr>
              <a:tr h="327203">
                <a:tc>
                  <a:txBody>
                    <a:bodyPr/>
                    <a:lstStyle/>
                    <a:p>
                      <a:pPr algn="ctr"/>
                      <a:r>
                        <a:rPr lang="en-US" dirty="0"/>
                        <a:t>0111</a:t>
                      </a:r>
                    </a:p>
                  </a:txBody>
                  <a:tcPr/>
                </a:tc>
                <a:tc>
                  <a:txBody>
                    <a:bodyPr/>
                    <a:lstStyle/>
                    <a:p>
                      <a:pPr algn="ctr"/>
                      <a:r>
                        <a:rPr lang="en-US" dirty="0"/>
                        <a:t>7</a:t>
                      </a:r>
                    </a:p>
                  </a:txBody>
                  <a:tcPr/>
                </a:tc>
                <a:tc>
                  <a:txBody>
                    <a:bodyPr/>
                    <a:lstStyle/>
                    <a:p>
                      <a:pPr algn="ctr"/>
                      <a:r>
                        <a:rPr lang="en-US" dirty="0"/>
                        <a:t>7</a:t>
                      </a:r>
                    </a:p>
                  </a:txBody>
                  <a:tcPr/>
                </a:tc>
                <a:extLst>
                  <a:ext uri="{0D108BD9-81ED-4DB2-BD59-A6C34878D82A}">
                    <a16:rowId xmlns:a16="http://schemas.microsoft.com/office/drawing/2014/main" val="1775794249"/>
                  </a:ext>
                </a:extLst>
              </a:tr>
            </a:tbl>
          </a:graphicData>
        </a:graphic>
      </p:graphicFrame>
      <p:graphicFrame>
        <p:nvGraphicFramePr>
          <p:cNvPr id="3" name="Table 2">
            <a:extLst>
              <a:ext uri="{FF2B5EF4-FFF2-40B4-BE49-F238E27FC236}">
                <a16:creationId xmlns:a16="http://schemas.microsoft.com/office/drawing/2014/main" id="{20D55DAD-2D3A-44C3-A870-7DDF1A624F14}"/>
              </a:ext>
            </a:extLst>
          </p:cNvPr>
          <p:cNvGraphicFramePr>
            <a:graphicFrameLocks noGrp="1"/>
          </p:cNvGraphicFramePr>
          <p:nvPr/>
        </p:nvGraphicFramePr>
        <p:xfrm>
          <a:off x="4244522" y="1146629"/>
          <a:ext cx="3011838" cy="2950673"/>
        </p:xfrm>
        <a:graphic>
          <a:graphicData uri="http://schemas.openxmlformats.org/drawingml/2006/table">
            <a:tbl>
              <a:tblPr firstRow="1" bandRow="1">
                <a:tableStyleId>{5C22544A-7EE6-4342-B048-85BDC9FD1C3A}</a:tableStyleId>
              </a:tblPr>
              <a:tblGrid>
                <a:gridCol w="1003946">
                  <a:extLst>
                    <a:ext uri="{9D8B030D-6E8A-4147-A177-3AD203B41FA5}">
                      <a16:colId xmlns:a16="http://schemas.microsoft.com/office/drawing/2014/main" val="1049943915"/>
                    </a:ext>
                  </a:extLst>
                </a:gridCol>
                <a:gridCol w="1003946">
                  <a:extLst>
                    <a:ext uri="{9D8B030D-6E8A-4147-A177-3AD203B41FA5}">
                      <a16:colId xmlns:a16="http://schemas.microsoft.com/office/drawing/2014/main" val="3733770554"/>
                    </a:ext>
                  </a:extLst>
                </a:gridCol>
                <a:gridCol w="1003946">
                  <a:extLst>
                    <a:ext uri="{9D8B030D-6E8A-4147-A177-3AD203B41FA5}">
                      <a16:colId xmlns:a16="http://schemas.microsoft.com/office/drawing/2014/main" val="1809686940"/>
                    </a:ext>
                  </a:extLst>
                </a:gridCol>
              </a:tblGrid>
              <a:tr h="333049">
                <a:tc>
                  <a:txBody>
                    <a:bodyPr/>
                    <a:lstStyle/>
                    <a:p>
                      <a:pPr algn="ctr"/>
                      <a:r>
                        <a:rPr lang="en-US" dirty="0"/>
                        <a:t>Binary</a:t>
                      </a:r>
                    </a:p>
                  </a:txBody>
                  <a:tcPr/>
                </a:tc>
                <a:tc>
                  <a:txBody>
                    <a:bodyPr/>
                    <a:lstStyle/>
                    <a:p>
                      <a:pPr algn="ctr"/>
                      <a:r>
                        <a:rPr lang="en-US" dirty="0"/>
                        <a:t>Hex.</a:t>
                      </a:r>
                    </a:p>
                  </a:txBody>
                  <a:tcPr/>
                </a:tc>
                <a:tc>
                  <a:txBody>
                    <a:bodyPr/>
                    <a:lstStyle/>
                    <a:p>
                      <a:pPr algn="ctr"/>
                      <a:r>
                        <a:rPr lang="en-US" dirty="0"/>
                        <a:t>Decimal</a:t>
                      </a:r>
                    </a:p>
                  </a:txBody>
                  <a:tcPr/>
                </a:tc>
                <a:extLst>
                  <a:ext uri="{0D108BD9-81ED-4DB2-BD59-A6C34878D82A}">
                    <a16:rowId xmlns:a16="http://schemas.microsoft.com/office/drawing/2014/main" val="1366492792"/>
                  </a:ext>
                </a:extLst>
              </a:tr>
              <a:tr h="327203">
                <a:tc>
                  <a:txBody>
                    <a:bodyPr/>
                    <a:lstStyle/>
                    <a:p>
                      <a:pPr algn="ctr"/>
                      <a:r>
                        <a:rPr lang="en-US" dirty="0"/>
                        <a:t>1000</a:t>
                      </a:r>
                    </a:p>
                  </a:txBody>
                  <a:tcPr/>
                </a:tc>
                <a:tc>
                  <a:txBody>
                    <a:bodyPr/>
                    <a:lstStyle/>
                    <a:p>
                      <a:pPr algn="ctr"/>
                      <a:r>
                        <a:rPr lang="en-US" dirty="0"/>
                        <a:t>8</a:t>
                      </a:r>
                    </a:p>
                  </a:txBody>
                  <a:tcPr/>
                </a:tc>
                <a:tc>
                  <a:txBody>
                    <a:bodyPr/>
                    <a:lstStyle/>
                    <a:p>
                      <a:pPr algn="ctr"/>
                      <a:r>
                        <a:rPr lang="en-US" dirty="0"/>
                        <a:t>8</a:t>
                      </a:r>
                    </a:p>
                  </a:txBody>
                  <a:tcPr/>
                </a:tc>
                <a:extLst>
                  <a:ext uri="{0D108BD9-81ED-4DB2-BD59-A6C34878D82A}">
                    <a16:rowId xmlns:a16="http://schemas.microsoft.com/office/drawing/2014/main" val="1567597160"/>
                  </a:ext>
                </a:extLst>
              </a:tr>
              <a:tr h="327203">
                <a:tc>
                  <a:txBody>
                    <a:bodyPr/>
                    <a:lstStyle/>
                    <a:p>
                      <a:pPr algn="ctr"/>
                      <a:r>
                        <a:rPr lang="en-US" dirty="0"/>
                        <a:t>1001</a:t>
                      </a:r>
                    </a:p>
                  </a:txBody>
                  <a:tcPr/>
                </a:tc>
                <a:tc>
                  <a:txBody>
                    <a:bodyPr/>
                    <a:lstStyle/>
                    <a:p>
                      <a:pPr algn="ctr"/>
                      <a:r>
                        <a:rPr lang="en-US" dirty="0"/>
                        <a:t>9</a:t>
                      </a:r>
                    </a:p>
                  </a:txBody>
                  <a:tcPr/>
                </a:tc>
                <a:tc>
                  <a:txBody>
                    <a:bodyPr/>
                    <a:lstStyle/>
                    <a:p>
                      <a:pPr algn="ctr"/>
                      <a:r>
                        <a:rPr lang="en-US" dirty="0"/>
                        <a:t>9</a:t>
                      </a:r>
                    </a:p>
                  </a:txBody>
                  <a:tcPr/>
                </a:tc>
                <a:extLst>
                  <a:ext uri="{0D108BD9-81ED-4DB2-BD59-A6C34878D82A}">
                    <a16:rowId xmlns:a16="http://schemas.microsoft.com/office/drawing/2014/main" val="3788401453"/>
                  </a:ext>
                </a:extLst>
              </a:tr>
              <a:tr h="327203">
                <a:tc>
                  <a:txBody>
                    <a:bodyPr/>
                    <a:lstStyle/>
                    <a:p>
                      <a:pPr algn="ctr"/>
                      <a:r>
                        <a:rPr lang="en-US" dirty="0"/>
                        <a:t>1010</a:t>
                      </a:r>
                    </a:p>
                  </a:txBody>
                  <a:tcPr/>
                </a:tc>
                <a:tc>
                  <a:txBody>
                    <a:bodyPr/>
                    <a:lstStyle/>
                    <a:p>
                      <a:pPr algn="ctr"/>
                      <a:r>
                        <a:rPr lang="en-US" dirty="0"/>
                        <a:t>A</a:t>
                      </a:r>
                    </a:p>
                  </a:txBody>
                  <a:tcPr/>
                </a:tc>
                <a:tc>
                  <a:txBody>
                    <a:bodyPr/>
                    <a:lstStyle/>
                    <a:p>
                      <a:pPr algn="ctr"/>
                      <a:r>
                        <a:rPr lang="en-US" dirty="0"/>
                        <a:t>10</a:t>
                      </a:r>
                    </a:p>
                  </a:txBody>
                  <a:tcPr/>
                </a:tc>
                <a:extLst>
                  <a:ext uri="{0D108BD9-81ED-4DB2-BD59-A6C34878D82A}">
                    <a16:rowId xmlns:a16="http://schemas.microsoft.com/office/drawing/2014/main" val="4252643994"/>
                  </a:ext>
                </a:extLst>
              </a:tr>
              <a:tr h="327203">
                <a:tc>
                  <a:txBody>
                    <a:bodyPr/>
                    <a:lstStyle/>
                    <a:p>
                      <a:pPr algn="ctr"/>
                      <a:r>
                        <a:rPr lang="en-US" dirty="0"/>
                        <a:t>1011</a:t>
                      </a:r>
                    </a:p>
                  </a:txBody>
                  <a:tcPr/>
                </a:tc>
                <a:tc>
                  <a:txBody>
                    <a:bodyPr/>
                    <a:lstStyle/>
                    <a:p>
                      <a:pPr algn="ctr"/>
                      <a:r>
                        <a:rPr lang="en-US" dirty="0"/>
                        <a:t>B</a:t>
                      </a:r>
                    </a:p>
                  </a:txBody>
                  <a:tcPr/>
                </a:tc>
                <a:tc>
                  <a:txBody>
                    <a:bodyPr/>
                    <a:lstStyle/>
                    <a:p>
                      <a:pPr algn="ctr"/>
                      <a:r>
                        <a:rPr lang="en-US" dirty="0"/>
                        <a:t>11</a:t>
                      </a:r>
                    </a:p>
                  </a:txBody>
                  <a:tcPr/>
                </a:tc>
                <a:extLst>
                  <a:ext uri="{0D108BD9-81ED-4DB2-BD59-A6C34878D82A}">
                    <a16:rowId xmlns:a16="http://schemas.microsoft.com/office/drawing/2014/main" val="3563857359"/>
                  </a:ext>
                </a:extLst>
              </a:tr>
              <a:tr h="327203">
                <a:tc>
                  <a:txBody>
                    <a:bodyPr/>
                    <a:lstStyle/>
                    <a:p>
                      <a:pPr algn="ctr"/>
                      <a:r>
                        <a:rPr lang="en-US" dirty="0"/>
                        <a:t>1100</a:t>
                      </a:r>
                    </a:p>
                  </a:txBody>
                  <a:tcPr/>
                </a:tc>
                <a:tc>
                  <a:txBody>
                    <a:bodyPr/>
                    <a:lstStyle/>
                    <a:p>
                      <a:pPr algn="ctr"/>
                      <a:r>
                        <a:rPr lang="en-US" dirty="0"/>
                        <a:t>C</a:t>
                      </a:r>
                    </a:p>
                  </a:txBody>
                  <a:tcPr/>
                </a:tc>
                <a:tc>
                  <a:txBody>
                    <a:bodyPr/>
                    <a:lstStyle/>
                    <a:p>
                      <a:pPr algn="ctr"/>
                      <a:r>
                        <a:rPr lang="en-US" dirty="0"/>
                        <a:t>12</a:t>
                      </a:r>
                    </a:p>
                  </a:txBody>
                  <a:tcPr/>
                </a:tc>
                <a:extLst>
                  <a:ext uri="{0D108BD9-81ED-4DB2-BD59-A6C34878D82A}">
                    <a16:rowId xmlns:a16="http://schemas.microsoft.com/office/drawing/2014/main" val="1697066741"/>
                  </a:ext>
                </a:extLst>
              </a:tr>
              <a:tr h="327203">
                <a:tc>
                  <a:txBody>
                    <a:bodyPr/>
                    <a:lstStyle/>
                    <a:p>
                      <a:pPr algn="ctr"/>
                      <a:r>
                        <a:rPr lang="en-US" dirty="0"/>
                        <a:t>1101</a:t>
                      </a:r>
                    </a:p>
                  </a:txBody>
                  <a:tcPr/>
                </a:tc>
                <a:tc>
                  <a:txBody>
                    <a:bodyPr/>
                    <a:lstStyle/>
                    <a:p>
                      <a:pPr algn="ctr"/>
                      <a:r>
                        <a:rPr lang="en-US" dirty="0"/>
                        <a:t>D</a:t>
                      </a:r>
                    </a:p>
                  </a:txBody>
                  <a:tcPr/>
                </a:tc>
                <a:tc>
                  <a:txBody>
                    <a:bodyPr/>
                    <a:lstStyle/>
                    <a:p>
                      <a:pPr algn="ctr"/>
                      <a:r>
                        <a:rPr lang="en-US" dirty="0"/>
                        <a:t>13</a:t>
                      </a:r>
                    </a:p>
                  </a:txBody>
                  <a:tcPr/>
                </a:tc>
                <a:extLst>
                  <a:ext uri="{0D108BD9-81ED-4DB2-BD59-A6C34878D82A}">
                    <a16:rowId xmlns:a16="http://schemas.microsoft.com/office/drawing/2014/main" val="1598524941"/>
                  </a:ext>
                </a:extLst>
              </a:tr>
              <a:tr h="327203">
                <a:tc>
                  <a:txBody>
                    <a:bodyPr/>
                    <a:lstStyle/>
                    <a:p>
                      <a:pPr algn="ctr"/>
                      <a:r>
                        <a:rPr lang="en-US" dirty="0"/>
                        <a:t>1110</a:t>
                      </a:r>
                    </a:p>
                  </a:txBody>
                  <a:tcPr/>
                </a:tc>
                <a:tc>
                  <a:txBody>
                    <a:bodyPr/>
                    <a:lstStyle/>
                    <a:p>
                      <a:pPr algn="ctr"/>
                      <a:r>
                        <a:rPr lang="en-US" dirty="0"/>
                        <a:t>E</a:t>
                      </a:r>
                    </a:p>
                  </a:txBody>
                  <a:tcPr/>
                </a:tc>
                <a:tc>
                  <a:txBody>
                    <a:bodyPr/>
                    <a:lstStyle/>
                    <a:p>
                      <a:pPr algn="ctr"/>
                      <a:r>
                        <a:rPr lang="en-US" dirty="0"/>
                        <a:t>14</a:t>
                      </a:r>
                    </a:p>
                  </a:txBody>
                  <a:tcPr/>
                </a:tc>
                <a:extLst>
                  <a:ext uri="{0D108BD9-81ED-4DB2-BD59-A6C34878D82A}">
                    <a16:rowId xmlns:a16="http://schemas.microsoft.com/office/drawing/2014/main" val="2614889485"/>
                  </a:ext>
                </a:extLst>
              </a:tr>
              <a:tr h="327203">
                <a:tc>
                  <a:txBody>
                    <a:bodyPr/>
                    <a:lstStyle/>
                    <a:p>
                      <a:pPr algn="ctr"/>
                      <a:r>
                        <a:rPr lang="en-US" dirty="0"/>
                        <a:t>1111</a:t>
                      </a:r>
                    </a:p>
                  </a:txBody>
                  <a:tcPr/>
                </a:tc>
                <a:tc>
                  <a:txBody>
                    <a:bodyPr/>
                    <a:lstStyle/>
                    <a:p>
                      <a:pPr algn="ctr"/>
                      <a:r>
                        <a:rPr lang="en-US" dirty="0"/>
                        <a:t>F</a:t>
                      </a:r>
                    </a:p>
                  </a:txBody>
                  <a:tcPr/>
                </a:tc>
                <a:tc>
                  <a:txBody>
                    <a:bodyPr/>
                    <a:lstStyle/>
                    <a:p>
                      <a:pPr algn="ctr"/>
                      <a:r>
                        <a:rPr lang="en-US" dirty="0"/>
                        <a:t>15</a:t>
                      </a:r>
                    </a:p>
                  </a:txBody>
                  <a:tcPr/>
                </a:tc>
                <a:extLst>
                  <a:ext uri="{0D108BD9-81ED-4DB2-BD59-A6C34878D82A}">
                    <a16:rowId xmlns:a16="http://schemas.microsoft.com/office/drawing/2014/main" val="405043344"/>
                  </a:ext>
                </a:extLst>
              </a:tr>
            </a:tbl>
          </a:graphicData>
        </a:graphic>
      </p:graphicFrame>
    </p:spTree>
    <p:extLst>
      <p:ext uri="{BB962C8B-B14F-4D97-AF65-F5344CB8AC3E}">
        <p14:creationId xmlns:p14="http://schemas.microsoft.com/office/powerpoint/2010/main" val="789291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Octal to Binary and Vice Versa</a:t>
            </a:r>
            <a:endParaRPr lang="en-US" dirty="0"/>
          </a:p>
        </p:txBody>
      </p:sp>
      <p:sp>
        <p:nvSpPr>
          <p:cNvPr id="5" name="Text Placeholder 4"/>
          <p:cNvSpPr>
            <a:spLocks noGrp="1"/>
          </p:cNvSpPr>
          <p:nvPr>
            <p:ph type="body" idx="1"/>
          </p:nvPr>
        </p:nvSpPr>
        <p:spPr/>
        <p:txBody>
          <a:bodyPr/>
          <a:lstStyle/>
          <a:p>
            <a:pPr marL="285750" indent="-285750" algn="just">
              <a:spcBef>
                <a:spcPts val="1200"/>
              </a:spcBef>
              <a:spcAft>
                <a:spcPts val="1200"/>
              </a:spcAft>
            </a:pPr>
            <a:r>
              <a:rPr lang="en-US" sz="1800" dirty="0"/>
              <a:t>To convert an octal number to a binary number, simply convert each digit in the octal number into a three-digit binary number.</a:t>
            </a:r>
          </a:p>
          <a:p>
            <a:endParaRPr lang="en-US" dirty="0"/>
          </a:p>
        </p:txBody>
      </p:sp>
      <p:sp>
        <p:nvSpPr>
          <p:cNvPr id="6" name="Text Placeholder 5"/>
          <p:cNvSpPr>
            <a:spLocks noGrp="1"/>
          </p:cNvSpPr>
          <p:nvPr>
            <p:ph type="body" idx="2"/>
          </p:nvPr>
        </p:nvSpPr>
        <p:spPr/>
        <p:txBody>
          <a:bodyPr/>
          <a:lstStyle/>
          <a:p>
            <a:pPr marL="285750" indent="-285750" algn="just">
              <a:spcBef>
                <a:spcPts val="1200"/>
              </a:spcBef>
              <a:spcAft>
                <a:spcPts val="1200"/>
              </a:spcAft>
            </a:pPr>
            <a:r>
              <a:rPr lang="en-US" sz="1800" dirty="0"/>
              <a:t>To convert a binary number to an octal number, convert every three binary digits from right to left in the binary number into an octal digit.  </a:t>
            </a:r>
          </a:p>
          <a:p>
            <a:endParaRPr lang="en-US" dirty="0"/>
          </a:p>
        </p:txBody>
      </p:sp>
      <p:graphicFrame>
        <p:nvGraphicFramePr>
          <p:cNvPr id="7" name="Object 2" descr="Converting the binary number 1110001101 to corresponding octal number. Convert group of 3 binary digits from right to left into corresponding octal number. The result is 1615 in octal." title="Binary to octal">
            <a:extLst>
              <a:ext uri="{FF2B5EF4-FFF2-40B4-BE49-F238E27FC236}">
                <a16:creationId xmlns:a16="http://schemas.microsoft.com/office/drawing/2014/main" id="{C3B91338-E65D-44B3-944E-10B7D81B8A31}"/>
              </a:ext>
            </a:extLst>
          </p:cNvPr>
          <p:cNvGraphicFramePr>
            <a:graphicFrameLocks noChangeAspect="1"/>
          </p:cNvGraphicFramePr>
          <p:nvPr/>
        </p:nvGraphicFramePr>
        <p:xfrm>
          <a:off x="5308374" y="2705113"/>
          <a:ext cx="2795643" cy="1863762"/>
        </p:xfrm>
        <a:graphic>
          <a:graphicData uri="http://schemas.openxmlformats.org/presentationml/2006/ole">
            <mc:AlternateContent xmlns:mc="http://schemas.openxmlformats.org/markup-compatibility/2006">
              <mc:Choice xmlns:v="urn:schemas-microsoft-com:vml" Requires="v">
                <p:oleObj name="Picture" r:id="rId2" imgW="1542960" imgH="1028880" progId="Word.Picture.8">
                  <p:embed/>
                </p:oleObj>
              </mc:Choice>
              <mc:Fallback>
                <p:oleObj name="Picture" r:id="rId2" imgW="1542960" imgH="1028880" progId="Word.Picture.8">
                  <p:embed/>
                  <p:pic>
                    <p:nvPicPr>
                      <p:cNvPr id="7" name="Object 2" descr="Converting the binary number 1110001101 to corresponding octal number. Convert group of 3 binary digits from right to left into corresponding octal number. The result is 1615 in octal." title="Binary to octal">
                        <a:extLst>
                          <a:ext uri="{FF2B5EF4-FFF2-40B4-BE49-F238E27FC236}">
                            <a16:creationId xmlns:a16="http://schemas.microsoft.com/office/drawing/2014/main" id="{C3B91338-E65D-44B3-944E-10B7D81B8A31}"/>
                          </a:ext>
                        </a:extLst>
                      </p:cNvPr>
                      <p:cNvPicPr>
                        <a:picLocks noChangeAspect="1" noChangeArrowheads="1"/>
                      </p:cNvPicPr>
                      <p:nvPr/>
                    </p:nvPicPr>
                    <p:blipFill>
                      <a:blip r:embed="rId3"/>
                      <a:srcRect/>
                      <a:stretch>
                        <a:fillRect/>
                      </a:stretch>
                    </p:blipFill>
                    <p:spPr bwMode="auto">
                      <a:xfrm>
                        <a:off x="5308374" y="2705113"/>
                        <a:ext cx="2795643" cy="1863762"/>
                      </a:xfrm>
                      <a:prstGeom prst="rect">
                        <a:avLst/>
                      </a:prstGeom>
                      <a:noFill/>
                      <a:ln>
                        <a:noFill/>
                      </a:ln>
                    </p:spPr>
                  </p:pic>
                </p:oleObj>
              </mc:Fallback>
            </mc:AlternateContent>
          </a:graphicData>
        </a:graphic>
      </p:graphicFrame>
      <p:graphicFrame>
        <p:nvGraphicFramePr>
          <p:cNvPr id="8" name="Object 2" descr="Converting the octal number 1615 to corresponding binary number. Convert each octal digit to the corresponding 3-digit binary number.   The result is 1110001101 in binary." title="Octal to binary">
            <a:extLst>
              <a:ext uri="{FF2B5EF4-FFF2-40B4-BE49-F238E27FC236}">
                <a16:creationId xmlns:a16="http://schemas.microsoft.com/office/drawing/2014/main" id="{C3B91338-E65D-44B3-944E-10B7D81B8A31}"/>
              </a:ext>
            </a:extLst>
          </p:cNvPr>
          <p:cNvGraphicFramePr>
            <a:graphicFrameLocks noChangeAspect="1"/>
          </p:cNvGraphicFramePr>
          <p:nvPr/>
        </p:nvGraphicFramePr>
        <p:xfrm>
          <a:off x="921162" y="2857513"/>
          <a:ext cx="2795643" cy="1863762"/>
        </p:xfrm>
        <a:graphic>
          <a:graphicData uri="http://schemas.openxmlformats.org/presentationml/2006/ole">
            <mc:AlternateContent xmlns:mc="http://schemas.openxmlformats.org/markup-compatibility/2006">
              <mc:Choice xmlns:v="urn:schemas-microsoft-com:vml" Requires="v">
                <p:oleObj name="Picture" r:id="rId4" imgW="1542960" imgH="1028880" progId="Word.Picture.8">
                  <p:embed/>
                </p:oleObj>
              </mc:Choice>
              <mc:Fallback>
                <p:oleObj name="Picture" r:id="rId4" imgW="1542960" imgH="1028880" progId="Word.Picture.8">
                  <p:embed/>
                  <p:pic>
                    <p:nvPicPr>
                      <p:cNvPr id="8" name="Object 2" descr="Converting the octal number 1615 to corresponding binary number. Convert each octal digit to the corresponding 3-digit binary number.   The result is 1110001101 in binary." title="Octal to binary">
                        <a:extLst>
                          <a:ext uri="{FF2B5EF4-FFF2-40B4-BE49-F238E27FC236}">
                            <a16:creationId xmlns:a16="http://schemas.microsoft.com/office/drawing/2014/main" id="{C3B91338-E65D-44B3-944E-10B7D81B8A31}"/>
                          </a:ext>
                        </a:extLst>
                      </p:cNvPr>
                      <p:cNvPicPr>
                        <a:picLocks noChangeAspect="1" noChangeArrowheads="1"/>
                      </p:cNvPicPr>
                      <p:nvPr/>
                    </p:nvPicPr>
                    <p:blipFill>
                      <a:blip r:embed="rId5"/>
                      <a:srcRect/>
                      <a:stretch>
                        <a:fillRect/>
                      </a:stretch>
                    </p:blipFill>
                    <p:spPr bwMode="auto">
                      <a:xfrm>
                        <a:off x="921162" y="2857513"/>
                        <a:ext cx="2795643" cy="186376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2865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 Hexadecimals to Binary: Table</a:t>
            </a:r>
            <a:endParaRPr dirty="0"/>
          </a:p>
          <a:p>
            <a:pPr marL="0" lvl="0" indent="0" algn="l" rtl="0">
              <a:spcBef>
                <a:spcPts val="0"/>
              </a:spcBef>
              <a:spcAft>
                <a:spcPts val="0"/>
              </a:spcAft>
              <a:buNone/>
            </a:pPr>
            <a:endParaRPr dirty="0"/>
          </a:p>
        </p:txBody>
      </p:sp>
      <p:graphicFrame>
        <p:nvGraphicFramePr>
          <p:cNvPr id="2" name="Table 1">
            <a:extLst>
              <a:ext uri="{FF2B5EF4-FFF2-40B4-BE49-F238E27FC236}">
                <a16:creationId xmlns:a16="http://schemas.microsoft.com/office/drawing/2014/main" id="{88C9FBB0-7833-456E-A974-FDEAB8C1D20D}"/>
              </a:ext>
            </a:extLst>
          </p:cNvPr>
          <p:cNvGraphicFramePr>
            <a:graphicFrameLocks noGrp="1"/>
          </p:cNvGraphicFramePr>
          <p:nvPr/>
        </p:nvGraphicFramePr>
        <p:xfrm>
          <a:off x="1647248" y="1187350"/>
          <a:ext cx="3011838" cy="2944827"/>
        </p:xfrm>
        <a:graphic>
          <a:graphicData uri="http://schemas.openxmlformats.org/drawingml/2006/table">
            <a:tbl>
              <a:tblPr firstRow="1" bandRow="1">
                <a:tableStyleId>{5C22544A-7EE6-4342-B048-85BDC9FD1C3A}</a:tableStyleId>
              </a:tblPr>
              <a:tblGrid>
                <a:gridCol w="1003946">
                  <a:extLst>
                    <a:ext uri="{9D8B030D-6E8A-4147-A177-3AD203B41FA5}">
                      <a16:colId xmlns:a16="http://schemas.microsoft.com/office/drawing/2014/main" val="1681053515"/>
                    </a:ext>
                  </a:extLst>
                </a:gridCol>
                <a:gridCol w="1003946">
                  <a:extLst>
                    <a:ext uri="{9D8B030D-6E8A-4147-A177-3AD203B41FA5}">
                      <a16:colId xmlns:a16="http://schemas.microsoft.com/office/drawing/2014/main" val="588045952"/>
                    </a:ext>
                  </a:extLst>
                </a:gridCol>
                <a:gridCol w="1003946">
                  <a:extLst>
                    <a:ext uri="{9D8B030D-6E8A-4147-A177-3AD203B41FA5}">
                      <a16:colId xmlns:a16="http://schemas.microsoft.com/office/drawing/2014/main" val="691208319"/>
                    </a:ext>
                  </a:extLst>
                </a:gridCol>
              </a:tblGrid>
              <a:tr h="327203">
                <a:tc>
                  <a:txBody>
                    <a:bodyPr/>
                    <a:lstStyle/>
                    <a:p>
                      <a:pPr algn="ctr"/>
                      <a:r>
                        <a:rPr lang="en-US" dirty="0"/>
                        <a:t>Binary</a:t>
                      </a:r>
                    </a:p>
                  </a:txBody>
                  <a:tcPr/>
                </a:tc>
                <a:tc>
                  <a:txBody>
                    <a:bodyPr/>
                    <a:lstStyle/>
                    <a:p>
                      <a:pPr algn="ctr"/>
                      <a:r>
                        <a:rPr lang="en-US" dirty="0"/>
                        <a:t>Octal</a:t>
                      </a:r>
                    </a:p>
                  </a:txBody>
                  <a:tcPr/>
                </a:tc>
                <a:tc>
                  <a:txBody>
                    <a:bodyPr/>
                    <a:lstStyle/>
                    <a:p>
                      <a:pPr algn="ctr"/>
                      <a:r>
                        <a:rPr lang="en-US" dirty="0"/>
                        <a:t>Decimal</a:t>
                      </a:r>
                    </a:p>
                  </a:txBody>
                  <a:tcPr/>
                </a:tc>
                <a:extLst>
                  <a:ext uri="{0D108BD9-81ED-4DB2-BD59-A6C34878D82A}">
                    <a16:rowId xmlns:a16="http://schemas.microsoft.com/office/drawing/2014/main" val="1042308364"/>
                  </a:ext>
                </a:extLst>
              </a:tr>
              <a:tr h="327203">
                <a:tc>
                  <a:txBody>
                    <a:bodyPr/>
                    <a:lstStyle/>
                    <a:p>
                      <a:pPr algn="ctr"/>
                      <a:r>
                        <a:rPr lang="en-US" dirty="0"/>
                        <a:t>000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935046977"/>
                  </a:ext>
                </a:extLst>
              </a:tr>
              <a:tr h="327203">
                <a:tc>
                  <a:txBody>
                    <a:bodyPr/>
                    <a:lstStyle/>
                    <a:p>
                      <a:pPr algn="ctr"/>
                      <a:r>
                        <a:rPr lang="en-US" dirty="0"/>
                        <a:t>001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621176023"/>
                  </a:ext>
                </a:extLst>
              </a:tr>
              <a:tr h="327203">
                <a:tc>
                  <a:txBody>
                    <a:bodyPr/>
                    <a:lstStyle/>
                    <a:p>
                      <a:pPr algn="ctr"/>
                      <a:r>
                        <a:rPr lang="en-US" dirty="0"/>
                        <a:t>010</a:t>
                      </a:r>
                    </a:p>
                  </a:txBody>
                  <a:tcPr/>
                </a:tc>
                <a:tc>
                  <a:txBody>
                    <a:bodyPr/>
                    <a:lstStyle/>
                    <a:p>
                      <a:pPr algn="ctr"/>
                      <a:r>
                        <a:rPr lang="en-US" dirty="0"/>
                        <a:t>2</a:t>
                      </a:r>
                    </a:p>
                  </a:txBody>
                  <a:tcPr/>
                </a:tc>
                <a:tc>
                  <a:txBody>
                    <a:bodyPr/>
                    <a:lstStyle/>
                    <a:p>
                      <a:pPr algn="ctr"/>
                      <a:r>
                        <a:rPr lang="en-US" dirty="0"/>
                        <a:t>2</a:t>
                      </a:r>
                    </a:p>
                  </a:txBody>
                  <a:tcPr/>
                </a:tc>
                <a:extLst>
                  <a:ext uri="{0D108BD9-81ED-4DB2-BD59-A6C34878D82A}">
                    <a16:rowId xmlns:a16="http://schemas.microsoft.com/office/drawing/2014/main" val="1419165983"/>
                  </a:ext>
                </a:extLst>
              </a:tr>
              <a:tr h="327203">
                <a:tc>
                  <a:txBody>
                    <a:bodyPr/>
                    <a:lstStyle/>
                    <a:p>
                      <a:pPr algn="ctr"/>
                      <a:r>
                        <a:rPr lang="en-US" dirty="0"/>
                        <a:t>011</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2271084161"/>
                  </a:ext>
                </a:extLst>
              </a:tr>
              <a:tr h="327203">
                <a:tc>
                  <a:txBody>
                    <a:bodyPr/>
                    <a:lstStyle/>
                    <a:p>
                      <a:pPr algn="ctr"/>
                      <a:r>
                        <a:rPr lang="en-US" dirty="0"/>
                        <a:t>100</a:t>
                      </a:r>
                    </a:p>
                  </a:txBody>
                  <a:tcPr/>
                </a:tc>
                <a:tc>
                  <a:txBody>
                    <a:bodyPr/>
                    <a:lstStyle/>
                    <a:p>
                      <a:pPr algn="ctr"/>
                      <a:r>
                        <a:rPr lang="en-US" dirty="0"/>
                        <a:t>4</a:t>
                      </a:r>
                    </a:p>
                  </a:txBody>
                  <a:tcPr/>
                </a:tc>
                <a:tc>
                  <a:txBody>
                    <a:bodyPr/>
                    <a:lstStyle/>
                    <a:p>
                      <a:pPr algn="ctr"/>
                      <a:r>
                        <a:rPr lang="en-US" dirty="0"/>
                        <a:t>4</a:t>
                      </a:r>
                    </a:p>
                  </a:txBody>
                  <a:tcPr/>
                </a:tc>
                <a:extLst>
                  <a:ext uri="{0D108BD9-81ED-4DB2-BD59-A6C34878D82A}">
                    <a16:rowId xmlns:a16="http://schemas.microsoft.com/office/drawing/2014/main" val="2393056579"/>
                  </a:ext>
                </a:extLst>
              </a:tr>
              <a:tr h="327203">
                <a:tc>
                  <a:txBody>
                    <a:bodyPr/>
                    <a:lstStyle/>
                    <a:p>
                      <a:pPr algn="ctr"/>
                      <a:r>
                        <a:rPr lang="en-US" dirty="0"/>
                        <a:t>101</a:t>
                      </a:r>
                    </a:p>
                  </a:txBody>
                  <a:tcPr/>
                </a:tc>
                <a:tc>
                  <a:txBody>
                    <a:bodyPr/>
                    <a:lstStyle/>
                    <a:p>
                      <a:pPr algn="ctr"/>
                      <a:r>
                        <a:rPr lang="en-US" dirty="0"/>
                        <a:t>5</a:t>
                      </a:r>
                    </a:p>
                  </a:txBody>
                  <a:tcPr/>
                </a:tc>
                <a:tc>
                  <a:txBody>
                    <a:bodyPr/>
                    <a:lstStyle/>
                    <a:p>
                      <a:pPr algn="ctr"/>
                      <a:r>
                        <a:rPr lang="en-US" dirty="0"/>
                        <a:t>5</a:t>
                      </a:r>
                    </a:p>
                  </a:txBody>
                  <a:tcPr/>
                </a:tc>
                <a:extLst>
                  <a:ext uri="{0D108BD9-81ED-4DB2-BD59-A6C34878D82A}">
                    <a16:rowId xmlns:a16="http://schemas.microsoft.com/office/drawing/2014/main" val="2184416864"/>
                  </a:ext>
                </a:extLst>
              </a:tr>
              <a:tr h="327203">
                <a:tc>
                  <a:txBody>
                    <a:bodyPr/>
                    <a:lstStyle/>
                    <a:p>
                      <a:pPr algn="ctr"/>
                      <a:r>
                        <a:rPr lang="en-US" dirty="0"/>
                        <a:t>110</a:t>
                      </a:r>
                    </a:p>
                  </a:txBody>
                  <a:tcPr/>
                </a:tc>
                <a:tc>
                  <a:txBody>
                    <a:bodyPr/>
                    <a:lstStyle/>
                    <a:p>
                      <a:pPr algn="ctr"/>
                      <a:r>
                        <a:rPr lang="en-US" dirty="0"/>
                        <a:t>6</a:t>
                      </a:r>
                    </a:p>
                  </a:txBody>
                  <a:tcPr/>
                </a:tc>
                <a:tc>
                  <a:txBody>
                    <a:bodyPr/>
                    <a:lstStyle/>
                    <a:p>
                      <a:pPr algn="ctr"/>
                      <a:r>
                        <a:rPr lang="en-US" dirty="0"/>
                        <a:t>6</a:t>
                      </a:r>
                    </a:p>
                  </a:txBody>
                  <a:tcPr/>
                </a:tc>
                <a:extLst>
                  <a:ext uri="{0D108BD9-81ED-4DB2-BD59-A6C34878D82A}">
                    <a16:rowId xmlns:a16="http://schemas.microsoft.com/office/drawing/2014/main" val="2867168411"/>
                  </a:ext>
                </a:extLst>
              </a:tr>
              <a:tr h="327203">
                <a:tc>
                  <a:txBody>
                    <a:bodyPr/>
                    <a:lstStyle/>
                    <a:p>
                      <a:pPr algn="ctr"/>
                      <a:r>
                        <a:rPr lang="en-US" dirty="0"/>
                        <a:t>111</a:t>
                      </a:r>
                    </a:p>
                  </a:txBody>
                  <a:tcPr/>
                </a:tc>
                <a:tc>
                  <a:txBody>
                    <a:bodyPr/>
                    <a:lstStyle/>
                    <a:p>
                      <a:pPr algn="ctr"/>
                      <a:r>
                        <a:rPr lang="en-US" dirty="0"/>
                        <a:t>7</a:t>
                      </a:r>
                    </a:p>
                  </a:txBody>
                  <a:tcPr/>
                </a:tc>
                <a:tc>
                  <a:txBody>
                    <a:bodyPr/>
                    <a:lstStyle/>
                    <a:p>
                      <a:pPr algn="ctr"/>
                      <a:r>
                        <a:rPr lang="en-US" dirty="0"/>
                        <a:t>7</a:t>
                      </a:r>
                    </a:p>
                  </a:txBody>
                  <a:tcPr/>
                </a:tc>
                <a:extLst>
                  <a:ext uri="{0D108BD9-81ED-4DB2-BD59-A6C34878D82A}">
                    <a16:rowId xmlns:a16="http://schemas.microsoft.com/office/drawing/2014/main" val="1775794249"/>
                  </a:ext>
                </a:extLst>
              </a:tr>
            </a:tbl>
          </a:graphicData>
        </a:graphic>
      </p:graphicFrame>
    </p:spTree>
    <p:extLst>
      <p:ext uri="{BB962C8B-B14F-4D97-AF65-F5344CB8AC3E}">
        <p14:creationId xmlns:p14="http://schemas.microsoft.com/office/powerpoint/2010/main" val="1605850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Programming Languages: Machine Language</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285750" indent="-285750">
              <a:spcBef>
                <a:spcPts val="1200"/>
              </a:spcBef>
              <a:spcAft>
                <a:spcPts val="1200"/>
              </a:spcAft>
            </a:pPr>
            <a:r>
              <a:rPr lang="en-US" dirty="0">
                <a:solidFill>
                  <a:schemeClr val="tx1"/>
                </a:solidFill>
              </a:rPr>
              <a:t>Machine language is a set of instructions executed directly by a computer's central processing unit (CPU).</a:t>
            </a:r>
          </a:p>
          <a:p>
            <a:pPr marL="285750" indent="-285750">
              <a:spcBef>
                <a:spcPts val="1200"/>
              </a:spcBef>
              <a:spcAft>
                <a:spcPts val="1200"/>
              </a:spcAft>
            </a:pPr>
            <a:r>
              <a:rPr lang="en-US" dirty="0">
                <a:solidFill>
                  <a:schemeClr val="tx1"/>
                </a:solidFill>
              </a:rPr>
              <a:t>A program called assembler is used to convert assembly language programs into machine code.</a:t>
            </a:r>
          </a:p>
          <a:p>
            <a:pPr marL="0" indent="0">
              <a:spcBef>
                <a:spcPts val="1200"/>
              </a:spcBef>
              <a:spcAft>
                <a:spcPts val="1200"/>
              </a:spcAft>
              <a:buNone/>
            </a:pPr>
            <a:r>
              <a:rPr lang="en-US" dirty="0">
                <a:solidFill>
                  <a:schemeClr val="tx1"/>
                </a:solidFill>
              </a:rPr>
              <a:t>For example, to add two numbers, you might write an instruction in assembly code like this:</a:t>
            </a:r>
          </a:p>
          <a:p>
            <a:pPr marL="0" indent="0">
              <a:spcBef>
                <a:spcPts val="1200"/>
              </a:spcBef>
              <a:spcAft>
                <a:spcPts val="1200"/>
              </a:spcAft>
              <a:buNone/>
            </a:pPr>
            <a:r>
              <a:rPr lang="en-US" dirty="0">
                <a:solidFill>
                  <a:schemeClr val="tx1"/>
                </a:solidFill>
              </a:rPr>
              <a:t>      ADD 2, 3, result</a:t>
            </a:r>
          </a:p>
          <a:p>
            <a:pPr marL="0" indent="0">
              <a:spcBef>
                <a:spcPts val="1200"/>
              </a:spcBef>
              <a:spcAft>
                <a:spcPts val="1200"/>
              </a:spcAft>
              <a:buNone/>
            </a:pPr>
            <a:endParaRPr lang="en-US" dirty="0"/>
          </a:p>
          <a:p>
            <a:pPr marL="0" lvl="0" indent="0" algn="l" rtl="0">
              <a:spcBef>
                <a:spcPts val="1200"/>
              </a:spcBef>
              <a:spcAft>
                <a:spcPts val="1200"/>
              </a:spcAft>
              <a:buNone/>
            </a:pPr>
            <a:endParaRPr dirty="0"/>
          </a:p>
        </p:txBody>
      </p:sp>
      <p:graphicFrame>
        <p:nvGraphicFramePr>
          <p:cNvPr id="4" name="Object 1029" descr="Example showing assembler converting source file to machine code file, where the assembly source file says &quot;ADD 2, 3, result&quot; and the assembler convert that to machine code that says &quot;1101101010011010&quot;.">
            <a:extLst>
              <a:ext uri="{FF2B5EF4-FFF2-40B4-BE49-F238E27FC236}">
                <a16:creationId xmlns:a16="http://schemas.microsoft.com/office/drawing/2014/main" id="{693A3BD2-32DE-4060-B9CB-8501CD78E603}"/>
              </a:ext>
            </a:extLst>
          </p:cNvPr>
          <p:cNvGraphicFramePr>
            <a:graphicFrameLocks noChangeAspect="1"/>
          </p:cNvGraphicFramePr>
          <p:nvPr>
            <p:extLst>
              <p:ext uri="{D42A27DB-BD31-4B8C-83A1-F6EECF244321}">
                <p14:modId xmlns:p14="http://schemas.microsoft.com/office/powerpoint/2010/main" val="2172052214"/>
              </p:ext>
            </p:extLst>
          </p:nvPr>
        </p:nvGraphicFramePr>
        <p:xfrm>
          <a:off x="2756848" y="3297025"/>
          <a:ext cx="5669508" cy="1503327"/>
        </p:xfrm>
        <a:graphic>
          <a:graphicData uri="http://schemas.openxmlformats.org/presentationml/2006/ole">
            <mc:AlternateContent xmlns:mc="http://schemas.openxmlformats.org/markup-compatibility/2006">
              <mc:Choice xmlns:v="urn:schemas-microsoft-com:vml" Requires="v">
                <p:oleObj name="Picture" r:id="rId3" imgW="4847760" imgH="1287720" progId="Word.Picture.8">
                  <p:embed/>
                </p:oleObj>
              </mc:Choice>
              <mc:Fallback>
                <p:oleObj name="Picture" r:id="rId3" imgW="4847760" imgH="1287720" progId="Word.Picture.8">
                  <p:embed/>
                  <p:pic>
                    <p:nvPicPr>
                      <p:cNvPr id="4" name="Object 1029" descr="Example showing assembler converting source file to machine code file, where the assembly source file says &quot;ADD 2, 3, result&quot; and the assembler convert that to machine code that says &quot;1101101010011010&quot;.">
                        <a:extLst>
                          <a:ext uri="{FF2B5EF4-FFF2-40B4-BE49-F238E27FC236}">
                            <a16:creationId xmlns:a16="http://schemas.microsoft.com/office/drawing/2014/main" id="{693A3BD2-32DE-4060-B9CB-8501CD78E603}"/>
                          </a:ext>
                        </a:extLst>
                      </p:cNvPr>
                      <p:cNvPicPr>
                        <a:picLocks noChangeAspect="1" noChangeArrowheads="1"/>
                      </p:cNvPicPr>
                      <p:nvPr/>
                    </p:nvPicPr>
                    <p:blipFill>
                      <a:blip r:embed="rId4"/>
                      <a:srcRect/>
                      <a:stretch>
                        <a:fillRect/>
                      </a:stretch>
                    </p:blipFill>
                    <p:spPr bwMode="auto">
                      <a:xfrm>
                        <a:off x="2756848" y="3297025"/>
                        <a:ext cx="5669508" cy="1503327"/>
                      </a:xfrm>
                      <a:prstGeom prst="rect">
                        <a:avLst/>
                      </a:prstGeom>
                      <a:noFill/>
                      <a:ln>
                        <a:noFill/>
                      </a:ln>
                    </p:spPr>
                  </p:pic>
                </p:oleObj>
              </mc:Fallback>
            </mc:AlternateContent>
          </a:graphicData>
        </a:graphic>
      </p:graphicFrame>
      <p:sp>
        <p:nvSpPr>
          <p:cNvPr id="3" name="TextBox 2">
            <a:extLst>
              <a:ext uri="{FF2B5EF4-FFF2-40B4-BE49-F238E27FC236}">
                <a16:creationId xmlns:a16="http://schemas.microsoft.com/office/drawing/2014/main" id="{BB86CAC5-F92F-49FC-BB85-F40C81E98CF9}"/>
              </a:ext>
            </a:extLst>
          </p:cNvPr>
          <p:cNvSpPr txBox="1"/>
          <p:nvPr/>
        </p:nvSpPr>
        <p:spPr>
          <a:xfrm>
            <a:off x="1033013" y="4855593"/>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endParaRPr lang="en-US" dirty="0"/>
          </a:p>
        </p:txBody>
      </p:sp>
    </p:spTree>
    <p:extLst>
      <p:ext uri="{BB962C8B-B14F-4D97-AF65-F5344CB8AC3E}">
        <p14:creationId xmlns:p14="http://schemas.microsoft.com/office/powerpoint/2010/main" val="32653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Assembly Language and HLL:</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altLang="en-US" b="1" dirty="0">
                <a:solidFill>
                  <a:schemeClr val="bg2"/>
                </a:solidFill>
              </a:rPr>
              <a:t>Assembly</a:t>
            </a:r>
            <a:r>
              <a:rPr lang="en-US" altLang="en-US" b="1" dirty="0">
                <a:solidFill>
                  <a:schemeClr val="tx1"/>
                </a:solidFill>
              </a:rPr>
              <a:t>: </a:t>
            </a:r>
            <a:r>
              <a:rPr lang="en-US" altLang="en-US" dirty="0">
                <a:solidFill>
                  <a:schemeClr val="tx1"/>
                </a:solidFill>
              </a:rPr>
              <a:t>Far easier to use than binary.</a:t>
            </a:r>
          </a:p>
          <a:p>
            <a:pPr marL="114300" indent="0">
              <a:buNone/>
            </a:pPr>
            <a:r>
              <a:rPr lang="en-US" altLang="en-US" b="1" dirty="0">
                <a:solidFill>
                  <a:schemeClr val="bg2"/>
                </a:solidFill>
              </a:rPr>
              <a:t>BUT</a:t>
            </a:r>
            <a:r>
              <a:rPr lang="en-US" altLang="en-US" b="1" dirty="0">
                <a:solidFill>
                  <a:schemeClr val="tx1"/>
                </a:solidFill>
              </a:rPr>
              <a:t>:</a:t>
            </a:r>
            <a:r>
              <a:rPr lang="en-US" altLang="en-US" dirty="0">
                <a:solidFill>
                  <a:schemeClr val="tx1"/>
                </a:solidFill>
              </a:rPr>
              <a:t> Not very user friendly, very low-level operations, programming is time consuming.</a:t>
            </a:r>
          </a:p>
          <a:p>
            <a:pPr marL="114300" indent="0">
              <a:buNone/>
            </a:pPr>
            <a:endParaRPr lang="en-US" altLang="en-US" dirty="0">
              <a:solidFill>
                <a:schemeClr val="tx1"/>
              </a:solidFill>
            </a:endParaRPr>
          </a:p>
          <a:p>
            <a:pPr marL="114300" indent="0">
              <a:buNone/>
            </a:pPr>
            <a:r>
              <a:rPr lang="en-US" altLang="en-US" b="1" dirty="0">
                <a:solidFill>
                  <a:schemeClr val="bg2"/>
                </a:solidFill>
              </a:rPr>
              <a:t>High Level programming Languages (HLL): </a:t>
            </a:r>
          </a:p>
          <a:p>
            <a:r>
              <a:rPr lang="en-US" altLang="en-US" dirty="0">
                <a:solidFill>
                  <a:schemeClr val="tx1"/>
                </a:solidFill>
              </a:rPr>
              <a:t>More user friendly, easy to use.</a:t>
            </a:r>
          </a:p>
          <a:p>
            <a:r>
              <a:rPr lang="en-US" altLang="en-US" dirty="0">
                <a:solidFill>
                  <a:schemeClr val="tx1"/>
                </a:solidFill>
              </a:rPr>
              <a:t>More flexible.</a:t>
            </a:r>
          </a:p>
          <a:p>
            <a:r>
              <a:rPr lang="en-US" altLang="en-US" dirty="0">
                <a:solidFill>
                  <a:schemeClr val="tx1"/>
                </a:solidFill>
              </a:rPr>
              <a:t>Platform independent.</a:t>
            </a:r>
          </a:p>
          <a:p>
            <a:pPr marL="0" lvl="0" indent="0">
              <a:spcBef>
                <a:spcPts val="1200"/>
              </a:spcBef>
              <a:spcAft>
                <a:spcPts val="1200"/>
              </a:spcAft>
              <a:buNone/>
            </a:pPr>
            <a:endParaRPr lang="en-US" dirty="0"/>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149203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2A239-E6F0-4CD1-BADD-B27C9C4632A2}"/>
              </a:ext>
            </a:extLst>
          </p:cNvPr>
          <p:cNvSpPr>
            <a:spLocks noGrp="1"/>
          </p:cNvSpPr>
          <p:nvPr>
            <p:ph type="title"/>
          </p:nvPr>
        </p:nvSpPr>
        <p:spPr/>
        <p:txBody>
          <a:bodyPr>
            <a:normAutofit fontScale="90000"/>
          </a:bodyPr>
          <a:lstStyle/>
          <a:p>
            <a:r>
              <a:rPr lang="en-US" b="1" dirty="0"/>
              <a:t>Popular High-Level Languages</a:t>
            </a:r>
            <a:endParaRPr lang="en-US" dirty="0"/>
          </a:p>
        </p:txBody>
      </p:sp>
      <p:sp>
        <p:nvSpPr>
          <p:cNvPr id="3" name="Text Placeholder 2">
            <a:extLst>
              <a:ext uri="{FF2B5EF4-FFF2-40B4-BE49-F238E27FC236}">
                <a16:creationId xmlns:a16="http://schemas.microsoft.com/office/drawing/2014/main" id="{EB37EFF1-D324-4212-8D56-190A0E63F8F9}"/>
              </a:ext>
            </a:extLst>
          </p:cNvPr>
          <p:cNvSpPr>
            <a:spLocks noGrp="1"/>
          </p:cNvSpPr>
          <p:nvPr>
            <p:ph type="body" idx="1"/>
          </p:nvPr>
        </p:nvSpPr>
        <p:spPr/>
        <p:txBody>
          <a:bodyPr>
            <a:normAutofit fontScale="92500" lnSpcReduction="20000"/>
          </a:bodyPr>
          <a:lstStyle/>
          <a:p>
            <a:pPr marL="285750" indent="-285750"/>
            <a:r>
              <a:rPr lang="en-US" altLang="en-US" dirty="0">
                <a:solidFill>
                  <a:schemeClr val="tx1"/>
                </a:solidFill>
                <a:latin typeface="+mj-lt"/>
              </a:rPr>
              <a:t>COBOL (</a:t>
            </a:r>
            <a:r>
              <a:rPr lang="en-US" altLang="en-US" dirty="0" err="1">
                <a:solidFill>
                  <a:schemeClr val="tx1"/>
                </a:solidFill>
                <a:latin typeface="+mj-lt"/>
              </a:rPr>
              <a:t>COmmon</a:t>
            </a:r>
            <a:r>
              <a:rPr lang="en-US" altLang="en-US" dirty="0">
                <a:solidFill>
                  <a:schemeClr val="tx1"/>
                </a:solidFill>
                <a:latin typeface="+mj-lt"/>
              </a:rPr>
              <a:t> Business Oriented Language)</a:t>
            </a:r>
          </a:p>
          <a:p>
            <a:pPr marL="285750" indent="-285750"/>
            <a:r>
              <a:rPr lang="en-US" altLang="en-US" dirty="0">
                <a:solidFill>
                  <a:schemeClr val="tx1"/>
                </a:solidFill>
                <a:latin typeface="+mj-lt"/>
              </a:rPr>
              <a:t>FORTRAN (</a:t>
            </a:r>
            <a:r>
              <a:rPr lang="en-US" altLang="en-US" dirty="0" err="1">
                <a:solidFill>
                  <a:schemeClr val="tx1"/>
                </a:solidFill>
                <a:latin typeface="+mj-lt"/>
              </a:rPr>
              <a:t>FORmula</a:t>
            </a:r>
            <a:r>
              <a:rPr lang="en-US" altLang="en-US" dirty="0">
                <a:solidFill>
                  <a:schemeClr val="tx1"/>
                </a:solidFill>
                <a:latin typeface="+mj-lt"/>
              </a:rPr>
              <a:t> </a:t>
            </a:r>
            <a:r>
              <a:rPr lang="en-US" altLang="en-US" dirty="0" err="1">
                <a:solidFill>
                  <a:schemeClr val="tx1"/>
                </a:solidFill>
                <a:latin typeface="+mj-lt"/>
              </a:rPr>
              <a:t>TRANslation</a:t>
            </a:r>
            <a:r>
              <a:rPr lang="en-US" altLang="en-US" dirty="0">
                <a:solidFill>
                  <a:schemeClr val="tx1"/>
                </a:solidFill>
                <a:latin typeface="+mj-lt"/>
              </a:rPr>
              <a:t>) </a:t>
            </a:r>
          </a:p>
          <a:p>
            <a:pPr marL="285750" indent="-285750"/>
            <a:r>
              <a:rPr lang="en-US" altLang="en-US" dirty="0">
                <a:solidFill>
                  <a:schemeClr val="tx1"/>
                </a:solidFill>
                <a:latin typeface="+mj-lt"/>
              </a:rPr>
              <a:t>BASIC (Beginner All-purpose Symbolic Instructional Code) </a:t>
            </a:r>
          </a:p>
          <a:p>
            <a:pPr marL="285750" indent="-285750"/>
            <a:r>
              <a:rPr lang="en-US" altLang="en-US" dirty="0">
                <a:solidFill>
                  <a:schemeClr val="tx1"/>
                </a:solidFill>
                <a:latin typeface="+mj-lt"/>
              </a:rPr>
              <a:t>Pascal (named for Blaise Pascal) </a:t>
            </a:r>
          </a:p>
          <a:p>
            <a:pPr marL="285750" indent="-285750"/>
            <a:r>
              <a:rPr lang="en-US" altLang="en-US" dirty="0">
                <a:solidFill>
                  <a:schemeClr val="tx1"/>
                </a:solidFill>
                <a:latin typeface="+mj-lt"/>
              </a:rPr>
              <a:t>Ada (named for Ada Lovelace) </a:t>
            </a:r>
          </a:p>
          <a:p>
            <a:pPr marL="285750" indent="-285750"/>
            <a:r>
              <a:rPr lang="en-US" altLang="en-US" dirty="0">
                <a:solidFill>
                  <a:schemeClr val="tx1"/>
                </a:solidFill>
                <a:latin typeface="+mj-lt"/>
                <a:cs typeface="Times New Roman" pitchFamily="18" charset="0"/>
              </a:rPr>
              <a:t>C (whose developer designed B first)</a:t>
            </a:r>
            <a:r>
              <a:rPr lang="en-US" altLang="en-US" dirty="0">
                <a:solidFill>
                  <a:schemeClr val="tx1"/>
                </a:solidFill>
                <a:latin typeface="+mj-lt"/>
              </a:rPr>
              <a:t> </a:t>
            </a:r>
          </a:p>
          <a:p>
            <a:pPr marL="285750" indent="-285750"/>
            <a:r>
              <a:rPr lang="en-US" altLang="en-US" dirty="0">
                <a:solidFill>
                  <a:schemeClr val="tx1"/>
                </a:solidFill>
                <a:latin typeface="+mj-lt"/>
              </a:rPr>
              <a:t>Visual Basic (Basic-like visual language developed by Microsoft) </a:t>
            </a:r>
          </a:p>
          <a:p>
            <a:pPr marL="285750" indent="-285750"/>
            <a:r>
              <a:rPr lang="en-US" altLang="en-US" dirty="0">
                <a:solidFill>
                  <a:schemeClr val="tx1"/>
                </a:solidFill>
                <a:latin typeface="+mj-lt"/>
              </a:rPr>
              <a:t>Delphi (Pascal-like visual language developed by Borland) </a:t>
            </a:r>
          </a:p>
          <a:p>
            <a:pPr marL="285750" indent="-285750"/>
            <a:r>
              <a:rPr lang="en-US" altLang="en-US" dirty="0">
                <a:solidFill>
                  <a:schemeClr val="tx1"/>
                </a:solidFill>
                <a:latin typeface="+mj-lt"/>
              </a:rPr>
              <a:t>C++ (an object-oriented language, based on C)</a:t>
            </a:r>
          </a:p>
          <a:p>
            <a:pPr marL="285750" indent="-285750"/>
            <a:r>
              <a:rPr lang="en-US" altLang="en-US" dirty="0">
                <a:solidFill>
                  <a:schemeClr val="tx1"/>
                </a:solidFill>
                <a:latin typeface="+mj-lt"/>
              </a:rPr>
              <a:t>C# (a Java-like language developed by Microsoft)</a:t>
            </a:r>
          </a:p>
          <a:p>
            <a:pPr marL="285750" indent="-285750"/>
            <a:r>
              <a:rPr lang="en-US" altLang="en-US" dirty="0">
                <a:solidFill>
                  <a:schemeClr val="tx1"/>
                </a:solidFill>
                <a:latin typeface="+mj-lt"/>
              </a:rPr>
              <a:t>Java </a:t>
            </a:r>
          </a:p>
          <a:p>
            <a:pPr marL="285750" indent="-285750"/>
            <a:r>
              <a:rPr lang="en-US" altLang="en-US" dirty="0">
                <a:solidFill>
                  <a:schemeClr val="tx1"/>
                </a:solidFill>
                <a:latin typeface="+mj-lt"/>
              </a:rPr>
              <a:t>Python</a:t>
            </a:r>
          </a:p>
          <a:p>
            <a:endParaRPr lang="en-US" dirty="0"/>
          </a:p>
        </p:txBody>
      </p:sp>
    </p:spTree>
    <p:extLst>
      <p:ext uri="{BB962C8B-B14F-4D97-AF65-F5344CB8AC3E}">
        <p14:creationId xmlns:p14="http://schemas.microsoft.com/office/powerpoint/2010/main" val="2724267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Source Code</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buNone/>
              <a:defRPr/>
            </a:pPr>
            <a:r>
              <a:rPr lang="en-US" dirty="0">
                <a:solidFill>
                  <a:schemeClr val="tx1"/>
                </a:solidFill>
              </a:rPr>
              <a:t>What’s a Source code?</a:t>
            </a:r>
          </a:p>
          <a:p>
            <a:pPr marL="285750" indent="-285750">
              <a:defRPr/>
            </a:pPr>
            <a:r>
              <a:rPr lang="en-US" dirty="0">
                <a:solidFill>
                  <a:schemeClr val="tx1"/>
                </a:solidFill>
              </a:rPr>
              <a:t>A program written in a high level language is called a source program or source code.</a:t>
            </a:r>
          </a:p>
          <a:p>
            <a:pPr marL="285750" indent="-285750">
              <a:defRPr/>
            </a:pPr>
            <a:r>
              <a:rPr lang="en-US" dirty="0">
                <a:solidFill>
                  <a:schemeClr val="tx1"/>
                </a:solidFill>
              </a:rPr>
              <a:t>Computer (CPU) cannot understand the source program :</a:t>
            </a:r>
          </a:p>
          <a:p>
            <a:pPr marL="742950" lvl="1" indent="-285750">
              <a:defRPr/>
            </a:pPr>
            <a:r>
              <a:rPr lang="en-US" sz="1800" dirty="0">
                <a:solidFill>
                  <a:schemeClr val="tx1"/>
                </a:solidFill>
              </a:rPr>
              <a:t>Source program must be translated into machine code </a:t>
            </a:r>
            <a:r>
              <a:rPr lang="en-US" sz="1800">
                <a:solidFill>
                  <a:schemeClr val="tx1"/>
                </a:solidFill>
              </a:rPr>
              <a:t>for execution.</a:t>
            </a:r>
            <a:endParaRPr lang="en-US" sz="1800" dirty="0">
              <a:solidFill>
                <a:schemeClr val="tx1"/>
              </a:solidFill>
            </a:endParaRPr>
          </a:p>
          <a:p>
            <a:pPr marL="742950" lvl="1" indent="-285750">
              <a:defRPr/>
            </a:pPr>
            <a:r>
              <a:rPr lang="en-US" sz="1800" dirty="0">
                <a:solidFill>
                  <a:schemeClr val="tx1"/>
                </a:solidFill>
              </a:rPr>
              <a:t>Translation can be done using interpreter or a compiler.</a:t>
            </a:r>
          </a:p>
          <a:p>
            <a:pPr marL="0" indent="0">
              <a:buNone/>
              <a:defRPr/>
            </a:pPr>
            <a:endParaRPr lang="en-US" sz="3100" dirty="0"/>
          </a:p>
          <a:p>
            <a:pPr marL="0" lvl="0" indent="0">
              <a:spcBef>
                <a:spcPts val="1200"/>
              </a:spcBef>
              <a:spcAft>
                <a:spcPts val="1200"/>
              </a:spcAft>
              <a:buNone/>
            </a:pPr>
            <a:endParaRPr lang="en-US" dirty="0"/>
          </a:p>
          <a:p>
            <a:pPr marL="0" lvl="0" indent="0">
              <a:spcBef>
                <a:spcPts val="1200"/>
              </a:spcBef>
              <a:spcAft>
                <a:spcPts val="1200"/>
              </a:spcAft>
              <a:buNone/>
            </a:pPr>
            <a:endParaRPr lang="en-US" dirty="0"/>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4290106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Interpreting Source Code</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1407845"/>
          </a:xfrm>
          <a:prstGeom prst="rect">
            <a:avLst/>
          </a:prstGeom>
        </p:spPr>
        <p:txBody>
          <a:bodyPr spcFirstLastPara="1" wrap="square" lIns="91425" tIns="91425" rIns="91425" bIns="91425" anchor="t" anchorCtr="0">
            <a:normAutofit/>
          </a:bodyPr>
          <a:lstStyle/>
          <a:p>
            <a:pPr marL="0" indent="0">
              <a:buNone/>
              <a:defRPr/>
            </a:pPr>
            <a:r>
              <a:rPr lang="en-US" dirty="0">
                <a:solidFill>
                  <a:schemeClr val="tx1"/>
                </a:solidFill>
              </a:rPr>
              <a:t>What’s an Interpreter?</a:t>
            </a:r>
          </a:p>
          <a:p>
            <a:pPr marL="285750" indent="-285750">
              <a:defRPr/>
            </a:pPr>
            <a:r>
              <a:rPr lang="en-US" dirty="0">
                <a:solidFill>
                  <a:schemeClr val="tx1"/>
                </a:solidFill>
              </a:rPr>
              <a:t>A program that reads one statement from the source code, translates it to machine code or virtual machine code, and then executes it.</a:t>
            </a:r>
            <a:endParaRPr lang="en-US" sz="1800" dirty="0">
              <a:solidFill>
                <a:schemeClr val="tx1"/>
              </a:solidFill>
            </a:endParaRPr>
          </a:p>
          <a:p>
            <a:pPr marL="0" indent="0">
              <a:buNone/>
              <a:defRPr/>
            </a:pPr>
            <a:endParaRPr lang="en-US" sz="3100" dirty="0"/>
          </a:p>
          <a:p>
            <a:pPr marL="0" lvl="0" indent="0">
              <a:spcBef>
                <a:spcPts val="1200"/>
              </a:spcBef>
              <a:spcAft>
                <a:spcPts val="1200"/>
              </a:spcAft>
              <a:buNone/>
            </a:pPr>
            <a:endParaRPr lang="en-US" dirty="0"/>
          </a:p>
          <a:p>
            <a:pPr marL="0" lvl="0" indent="0">
              <a:spcBef>
                <a:spcPts val="1200"/>
              </a:spcBef>
              <a:spcAft>
                <a:spcPts val="1200"/>
              </a:spcAft>
              <a:buNone/>
            </a:pPr>
            <a:endParaRPr lang="en-US" dirty="0"/>
          </a:p>
          <a:p>
            <a:pPr marL="0" lvl="0" indent="0" algn="l" rtl="0">
              <a:spcBef>
                <a:spcPts val="1200"/>
              </a:spcBef>
              <a:spcAft>
                <a:spcPts val="1200"/>
              </a:spcAft>
              <a:buNone/>
            </a:pPr>
            <a:endParaRPr dirty="0"/>
          </a:p>
        </p:txBody>
      </p:sp>
      <p:grpSp>
        <p:nvGrpSpPr>
          <p:cNvPr id="4" name="Group 3"/>
          <p:cNvGrpSpPr/>
          <p:nvPr/>
        </p:nvGrpSpPr>
        <p:grpSpPr>
          <a:xfrm>
            <a:off x="658584" y="2978330"/>
            <a:ext cx="8115292" cy="1419498"/>
            <a:chOff x="658584" y="2978330"/>
            <a:chExt cx="8115292" cy="1419498"/>
          </a:xfrm>
        </p:grpSpPr>
        <p:cxnSp>
          <p:nvCxnSpPr>
            <p:cNvPr id="7" name="Straight Arrow Connector 6"/>
            <p:cNvCxnSpPr/>
            <p:nvPr/>
          </p:nvCxnSpPr>
          <p:spPr>
            <a:xfrm flipV="1">
              <a:off x="3579223" y="3602307"/>
              <a:ext cx="1053743" cy="4127"/>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Direct Access Storage 1"/>
            <p:cNvSpPr/>
            <p:nvPr/>
          </p:nvSpPr>
          <p:spPr>
            <a:xfrm rot="16200000">
              <a:off x="1409154" y="2227760"/>
              <a:ext cx="1419498" cy="2920638"/>
            </a:xfrm>
            <a:prstGeom prst="flowChartMagneticDrum">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1;p14"/>
            <p:cNvSpPr txBox="1">
              <a:spLocks/>
            </p:cNvSpPr>
            <p:nvPr/>
          </p:nvSpPr>
          <p:spPr>
            <a:xfrm>
              <a:off x="975000" y="3004452"/>
              <a:ext cx="2723236" cy="54451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defRPr/>
              </a:pPr>
              <a:r>
                <a:rPr lang="en-US" sz="1400" dirty="0"/>
                <a:t>High-Level Source File</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6" name="Google Shape;61;p14"/>
            <p:cNvSpPr txBox="1">
              <a:spLocks/>
            </p:cNvSpPr>
            <p:nvPr/>
          </p:nvSpPr>
          <p:spPr>
            <a:xfrm>
              <a:off x="974999" y="3487781"/>
              <a:ext cx="2805970" cy="822962"/>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buFont typeface="Arial"/>
                <a:buNone/>
                <a:defRPr/>
              </a:pPr>
              <a:r>
                <a:rPr lang="en-US" sz="1500" dirty="0"/>
                <a:t>…</a:t>
              </a:r>
            </a:p>
            <a:p>
              <a:pPr marL="0" indent="0">
                <a:buFont typeface="Arial"/>
                <a:buNone/>
                <a:defRPr/>
              </a:pPr>
              <a:r>
                <a:rPr lang="en-US" sz="1500" dirty="0"/>
                <a:t>Area = 5 * 5 * 3.1415;</a:t>
              </a:r>
            </a:p>
            <a:p>
              <a:pPr marL="0" indent="0" algn="ctr">
                <a:buFont typeface="Arial"/>
                <a:buNone/>
                <a:defRPr/>
              </a:pPr>
              <a:r>
                <a:rPr lang="en-US" sz="1500" dirty="0"/>
                <a:t>…</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3" name="Rectangle 2"/>
            <p:cNvSpPr/>
            <p:nvPr/>
          </p:nvSpPr>
          <p:spPr>
            <a:xfrm>
              <a:off x="4632966" y="3400695"/>
              <a:ext cx="1454332" cy="41148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1;p14"/>
            <p:cNvSpPr txBox="1">
              <a:spLocks/>
            </p:cNvSpPr>
            <p:nvPr/>
          </p:nvSpPr>
          <p:spPr>
            <a:xfrm>
              <a:off x="4846327" y="3400695"/>
              <a:ext cx="1310638" cy="505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defRPr/>
              </a:pPr>
              <a:r>
                <a:rPr lang="en-US" sz="1400" dirty="0"/>
                <a:t>Interpreter</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9" name="Rectangle 8"/>
            <p:cNvSpPr/>
            <p:nvPr/>
          </p:nvSpPr>
          <p:spPr>
            <a:xfrm>
              <a:off x="7001680" y="3143791"/>
              <a:ext cx="1772196" cy="108857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61;p14"/>
            <p:cNvSpPr txBox="1">
              <a:spLocks/>
            </p:cNvSpPr>
            <p:nvPr/>
          </p:nvSpPr>
          <p:spPr>
            <a:xfrm>
              <a:off x="7222323" y="3435528"/>
              <a:ext cx="1310638" cy="505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buFont typeface="Arial"/>
                <a:buNone/>
                <a:defRPr/>
              </a:pPr>
              <a:r>
                <a:rPr lang="en-US" sz="1400" dirty="0"/>
                <a:t>Output</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cxnSp>
          <p:nvCxnSpPr>
            <p:cNvPr id="13" name="Straight Arrow Connector 12"/>
            <p:cNvCxnSpPr/>
            <p:nvPr/>
          </p:nvCxnSpPr>
          <p:spPr>
            <a:xfrm>
              <a:off x="6148611" y="3602307"/>
              <a:ext cx="818233" cy="4128"/>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BB86CAC5-F92F-49FC-BB85-F40C81E98CF9}"/>
              </a:ext>
            </a:extLst>
          </p:cNvPr>
          <p:cNvSpPr txBox="1"/>
          <p:nvPr/>
        </p:nvSpPr>
        <p:spPr>
          <a:xfrm>
            <a:off x="1033013" y="4855593"/>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endParaRPr lang="en-US" dirty="0"/>
          </a:p>
        </p:txBody>
      </p:sp>
    </p:spTree>
    <p:extLst>
      <p:ext uri="{BB962C8B-B14F-4D97-AF65-F5344CB8AC3E}">
        <p14:creationId xmlns:p14="http://schemas.microsoft.com/office/powerpoint/2010/main" val="1926252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Compiling Source Code</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1407845"/>
          </a:xfrm>
          <a:prstGeom prst="rect">
            <a:avLst/>
          </a:prstGeom>
        </p:spPr>
        <p:txBody>
          <a:bodyPr spcFirstLastPara="1" wrap="square" lIns="91425" tIns="91425" rIns="91425" bIns="91425" anchor="t" anchorCtr="0">
            <a:normAutofit/>
          </a:bodyPr>
          <a:lstStyle/>
          <a:p>
            <a:pPr marL="0" indent="0">
              <a:buNone/>
              <a:defRPr/>
            </a:pPr>
            <a:r>
              <a:rPr lang="en-US" dirty="0">
                <a:solidFill>
                  <a:schemeClr val="tx1"/>
                </a:solidFill>
              </a:rPr>
              <a:t>What’s a Compiler?</a:t>
            </a:r>
          </a:p>
          <a:p>
            <a:pPr marL="285750" indent="-285750">
              <a:defRPr/>
            </a:pPr>
            <a:r>
              <a:rPr lang="en-US" dirty="0">
                <a:solidFill>
                  <a:schemeClr val="tx1"/>
                </a:solidFill>
              </a:rPr>
              <a:t>A program that translates the entire source code into a machine-code file, and the machine code file is then executed.</a:t>
            </a:r>
            <a:endParaRPr lang="en-US" sz="1800" dirty="0">
              <a:solidFill>
                <a:schemeClr val="tx1"/>
              </a:solidFill>
            </a:endParaRPr>
          </a:p>
          <a:p>
            <a:pPr marL="0" indent="0">
              <a:buNone/>
              <a:defRPr/>
            </a:pPr>
            <a:endParaRPr lang="en-US" sz="3100" dirty="0"/>
          </a:p>
          <a:p>
            <a:pPr marL="0" lvl="0" indent="0">
              <a:spcBef>
                <a:spcPts val="1200"/>
              </a:spcBef>
              <a:spcAft>
                <a:spcPts val="1200"/>
              </a:spcAft>
              <a:buNone/>
            </a:pPr>
            <a:endParaRPr lang="en-US" dirty="0"/>
          </a:p>
          <a:p>
            <a:pPr marL="0" lvl="0" indent="0">
              <a:spcBef>
                <a:spcPts val="1200"/>
              </a:spcBef>
              <a:spcAft>
                <a:spcPts val="1200"/>
              </a:spcAft>
              <a:buNone/>
            </a:pPr>
            <a:endParaRPr lang="en-US" dirty="0"/>
          </a:p>
          <a:p>
            <a:pPr marL="0" lvl="0" indent="0" algn="l" rtl="0">
              <a:spcBef>
                <a:spcPts val="1200"/>
              </a:spcBef>
              <a:spcAft>
                <a:spcPts val="1200"/>
              </a:spcAft>
              <a:buNone/>
            </a:pPr>
            <a:endParaRPr dirty="0"/>
          </a:p>
        </p:txBody>
      </p:sp>
      <p:grpSp>
        <p:nvGrpSpPr>
          <p:cNvPr id="15" name="Group 14" descr="High level Source file with the statement &#10;area = " title="Compiling Source Code"/>
          <p:cNvGrpSpPr/>
          <p:nvPr/>
        </p:nvGrpSpPr>
        <p:grpSpPr>
          <a:xfrm>
            <a:off x="135682" y="2940221"/>
            <a:ext cx="8841845" cy="1345469"/>
            <a:chOff x="109556" y="2940221"/>
            <a:chExt cx="8841845" cy="1345469"/>
          </a:xfrm>
        </p:grpSpPr>
        <p:cxnSp>
          <p:nvCxnSpPr>
            <p:cNvPr id="7" name="Straight Arrow Connector 6"/>
            <p:cNvCxnSpPr/>
            <p:nvPr/>
          </p:nvCxnSpPr>
          <p:spPr>
            <a:xfrm flipV="1">
              <a:off x="2098766" y="3644536"/>
              <a:ext cx="502016" cy="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Google Shape;61;p14"/>
            <p:cNvSpPr txBox="1">
              <a:spLocks/>
            </p:cNvSpPr>
            <p:nvPr/>
          </p:nvSpPr>
          <p:spPr>
            <a:xfrm>
              <a:off x="137374" y="2973874"/>
              <a:ext cx="1996212" cy="54451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defRPr/>
              </a:pPr>
              <a:r>
                <a:rPr lang="en-US" sz="1400" dirty="0"/>
                <a:t>High-Level Source File</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6" name="Google Shape;61;p14" descr="TH ehigh level language source file with the statement area = 5 * 5 * 3.1415; is getting converted into the machine code file with the statement as:  " title="Compiling Source code"/>
            <p:cNvSpPr txBox="1">
              <a:spLocks/>
            </p:cNvSpPr>
            <p:nvPr/>
          </p:nvSpPr>
          <p:spPr>
            <a:xfrm>
              <a:off x="217335" y="3357155"/>
              <a:ext cx="1959805" cy="727169"/>
            </a:xfrm>
            <a:prstGeom prst="rect">
              <a:avLst/>
            </a:prstGeom>
            <a:noFill/>
            <a:ln>
              <a:noFill/>
            </a:ln>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buFont typeface="Arial"/>
                <a:buNone/>
                <a:defRPr/>
              </a:pPr>
              <a:r>
                <a:rPr lang="en-US" sz="1500" dirty="0"/>
                <a:t>…</a:t>
              </a:r>
            </a:p>
            <a:p>
              <a:pPr marL="0" indent="0">
                <a:buFont typeface="Arial"/>
                <a:buNone/>
                <a:defRPr/>
              </a:pPr>
              <a:r>
                <a:rPr lang="en-US" sz="1500" dirty="0"/>
                <a:t>area = 5 * 5 * 3.1415;</a:t>
              </a:r>
            </a:p>
            <a:p>
              <a:pPr marL="0" indent="0" algn="ctr">
                <a:buFont typeface="Arial"/>
                <a:buNone/>
                <a:defRPr/>
              </a:pPr>
              <a:r>
                <a:rPr lang="en-US" sz="1500" dirty="0"/>
                <a:t>…</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3" name="Rectangle 2"/>
            <p:cNvSpPr/>
            <p:nvPr/>
          </p:nvSpPr>
          <p:spPr>
            <a:xfrm>
              <a:off x="2618185" y="3438796"/>
              <a:ext cx="943007" cy="38426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1;p14"/>
            <p:cNvSpPr txBox="1">
              <a:spLocks/>
            </p:cNvSpPr>
            <p:nvPr/>
          </p:nvSpPr>
          <p:spPr>
            <a:xfrm>
              <a:off x="2641563" y="3387630"/>
              <a:ext cx="919629" cy="4354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defRPr/>
              </a:pPr>
              <a:r>
                <a:rPr lang="en-US" sz="1400" dirty="0"/>
                <a:t>Compiler</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9" name="Rectangle 8"/>
            <p:cNvSpPr/>
            <p:nvPr/>
          </p:nvSpPr>
          <p:spPr>
            <a:xfrm>
              <a:off x="8078829" y="3215635"/>
              <a:ext cx="872572" cy="8686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61;p14"/>
            <p:cNvSpPr txBox="1">
              <a:spLocks/>
            </p:cNvSpPr>
            <p:nvPr/>
          </p:nvSpPr>
          <p:spPr>
            <a:xfrm>
              <a:off x="8021735" y="3438796"/>
              <a:ext cx="929666" cy="505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buFont typeface="Arial"/>
                <a:buNone/>
                <a:defRPr/>
              </a:pPr>
              <a:r>
                <a:rPr lang="en-US" sz="1400" dirty="0"/>
                <a:t>Output</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19" name="Flowchart: Direct Access Storage 18"/>
            <p:cNvSpPr/>
            <p:nvPr/>
          </p:nvSpPr>
          <p:spPr>
            <a:xfrm rot="16200000">
              <a:off x="4418140" y="2607110"/>
              <a:ext cx="1332413" cy="1998635"/>
            </a:xfrm>
            <a:prstGeom prst="flowChartMagneticDrum">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oogle Shape;61;p14"/>
            <p:cNvSpPr txBox="1">
              <a:spLocks/>
            </p:cNvSpPr>
            <p:nvPr/>
          </p:nvSpPr>
          <p:spPr>
            <a:xfrm>
              <a:off x="4267574" y="2956456"/>
              <a:ext cx="1996212" cy="54451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defRPr/>
              </a:pPr>
              <a:r>
                <a:rPr lang="en-US" sz="1400" dirty="0"/>
                <a:t>Machine code File</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sp>
          <p:nvSpPr>
            <p:cNvPr id="21" name="Google Shape;61;p14" descr="Highlevel language source file with statement area = 5 * 5 * 3.1415; is being compiled by the compiler into machine code with with corresponding satement as: 0101100011011100&#10;1111100011000100&#10;the executer finally provides the output after executing the instructions in the machine code file." title="Compiling Source code"/>
            <p:cNvSpPr txBox="1">
              <a:spLocks/>
            </p:cNvSpPr>
            <p:nvPr/>
          </p:nvSpPr>
          <p:spPr>
            <a:xfrm>
              <a:off x="3911241" y="3261356"/>
              <a:ext cx="2433487" cy="8719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buFont typeface="Arial"/>
                <a:buNone/>
                <a:defRPr/>
              </a:pPr>
              <a:r>
                <a:rPr lang="en-US" sz="1400" dirty="0"/>
                <a:t>…</a:t>
              </a:r>
            </a:p>
            <a:p>
              <a:pPr marL="0" indent="0" algn="ctr">
                <a:buFont typeface="Arial"/>
                <a:buNone/>
                <a:defRPr/>
              </a:pPr>
              <a:r>
                <a:rPr lang="en-US" sz="1400" dirty="0"/>
                <a:t>0101100011011100</a:t>
              </a:r>
            </a:p>
            <a:p>
              <a:pPr marL="0" indent="0" algn="ctr">
                <a:buFont typeface="Arial"/>
                <a:buNone/>
                <a:defRPr/>
              </a:pPr>
              <a:r>
                <a:rPr lang="en-US" sz="1400" dirty="0"/>
                <a:t>1111100011000100</a:t>
              </a:r>
            </a:p>
            <a:p>
              <a:pPr marL="0" indent="0" algn="ctr">
                <a:buFont typeface="Arial"/>
                <a:buNone/>
                <a:defRPr/>
              </a:pPr>
              <a:r>
                <a:rPr lang="en-US" sz="1400" dirty="0"/>
                <a:t>…</a:t>
              </a:r>
            </a:p>
            <a:p>
              <a:pPr marL="0" indent="0" algn="ctr">
                <a:spcBef>
                  <a:spcPts val="1200"/>
                </a:spcBef>
                <a:spcAft>
                  <a:spcPts val="1200"/>
                </a:spcAft>
                <a:buFont typeface="Arial"/>
                <a:buNone/>
              </a:pPr>
              <a:endParaRPr lang="en-US" sz="1400" dirty="0"/>
            </a:p>
            <a:p>
              <a:pPr marL="0" indent="0" algn="ctr">
                <a:spcBef>
                  <a:spcPts val="1200"/>
                </a:spcBef>
                <a:spcAft>
                  <a:spcPts val="1200"/>
                </a:spcAft>
                <a:buFont typeface="Arial"/>
                <a:buNone/>
              </a:pPr>
              <a:endParaRPr lang="en-US" sz="1400" dirty="0"/>
            </a:p>
            <a:p>
              <a:pPr marL="0" indent="0" algn="ctr">
                <a:spcBef>
                  <a:spcPts val="1200"/>
                </a:spcBef>
                <a:spcAft>
                  <a:spcPts val="1200"/>
                </a:spcAft>
                <a:buFont typeface="Arial"/>
                <a:buNone/>
              </a:pPr>
              <a:endParaRPr lang="en-US" sz="1400" dirty="0"/>
            </a:p>
          </p:txBody>
        </p:sp>
        <p:cxnSp>
          <p:nvCxnSpPr>
            <p:cNvPr id="22" name="Straight Arrow Connector 21"/>
            <p:cNvCxnSpPr/>
            <p:nvPr/>
          </p:nvCxnSpPr>
          <p:spPr>
            <a:xfrm flipV="1">
              <a:off x="3574842" y="3648886"/>
              <a:ext cx="502016" cy="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Flowchart: Direct Access Storage 22"/>
            <p:cNvSpPr/>
            <p:nvPr/>
          </p:nvSpPr>
          <p:spPr>
            <a:xfrm rot="16200000">
              <a:off x="442667" y="2620166"/>
              <a:ext cx="1332413" cy="1998635"/>
            </a:xfrm>
            <a:prstGeom prst="flowChartMagneticDrum">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6100367" y="3701140"/>
              <a:ext cx="502016" cy="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Google Shape;61;p14" descr="High level source code file with the statement " title="Compiling Source code"/>
            <p:cNvSpPr txBox="1">
              <a:spLocks/>
            </p:cNvSpPr>
            <p:nvPr/>
          </p:nvSpPr>
          <p:spPr>
            <a:xfrm>
              <a:off x="6634455" y="3479066"/>
              <a:ext cx="907465" cy="418557"/>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defRPr/>
              </a:pPr>
              <a:r>
                <a:rPr lang="en-US" sz="1400" dirty="0"/>
                <a:t>Executer</a:t>
              </a:r>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a:p>
              <a:pPr marL="0" indent="0">
                <a:spcBef>
                  <a:spcPts val="1200"/>
                </a:spcBef>
                <a:spcAft>
                  <a:spcPts val="1200"/>
                </a:spcAft>
                <a:buFont typeface="Arial"/>
                <a:buNone/>
              </a:pPr>
              <a:endParaRPr lang="en-US" sz="1400" dirty="0"/>
            </a:p>
          </p:txBody>
        </p:sp>
        <p:cxnSp>
          <p:nvCxnSpPr>
            <p:cNvPr id="28" name="Straight Arrow Connector 27"/>
            <p:cNvCxnSpPr/>
            <p:nvPr/>
          </p:nvCxnSpPr>
          <p:spPr>
            <a:xfrm flipV="1">
              <a:off x="7541920" y="3682630"/>
              <a:ext cx="502016" cy="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6602383" y="3513356"/>
              <a:ext cx="939537" cy="38426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BB86CAC5-F92F-49FC-BB85-F40C81E98CF9}"/>
              </a:ext>
            </a:extLst>
          </p:cNvPr>
          <p:cNvSpPr txBox="1"/>
          <p:nvPr/>
        </p:nvSpPr>
        <p:spPr>
          <a:xfrm>
            <a:off x="1033013" y="4855593"/>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endParaRPr lang="en-US" dirty="0"/>
          </a:p>
        </p:txBody>
      </p:sp>
    </p:spTree>
    <p:extLst>
      <p:ext uri="{BB962C8B-B14F-4D97-AF65-F5344CB8AC3E}">
        <p14:creationId xmlns:p14="http://schemas.microsoft.com/office/powerpoint/2010/main" val="231074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Operating Systems</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buNone/>
            </a:pPr>
            <a:r>
              <a:rPr lang="en-US" altLang="en-US" dirty="0">
                <a:solidFill>
                  <a:schemeClr val="tx1"/>
                </a:solidFill>
                <a:cs typeface="Times New Roman" pitchFamily="18" charset="0"/>
              </a:rPr>
              <a:t>The </a:t>
            </a:r>
            <a:r>
              <a:rPr lang="en-US" altLang="en-US" b="1" dirty="0">
                <a:solidFill>
                  <a:schemeClr val="tx1"/>
                </a:solidFill>
                <a:cs typeface="Times New Roman" pitchFamily="18" charset="0"/>
              </a:rPr>
              <a:t>operating system (OS) </a:t>
            </a:r>
            <a:r>
              <a:rPr lang="en-US" altLang="en-US" dirty="0">
                <a:solidFill>
                  <a:schemeClr val="tx1"/>
                </a:solidFill>
                <a:cs typeface="Times New Roman" pitchFamily="18" charset="0"/>
              </a:rPr>
              <a:t>is a program that manages and controls a computer’s activities</a:t>
            </a:r>
          </a:p>
          <a:p>
            <a:pPr marL="285750" indent="-285750"/>
            <a:r>
              <a:rPr lang="en-US" altLang="en-US" dirty="0">
                <a:solidFill>
                  <a:schemeClr val="tx1"/>
                </a:solidFill>
                <a:cs typeface="Times New Roman" pitchFamily="18" charset="0"/>
              </a:rPr>
              <a:t>Windows: 98, XP, Vista, 7, 8, 10,and 11</a:t>
            </a:r>
          </a:p>
          <a:p>
            <a:pPr marL="285750" indent="-285750"/>
            <a:r>
              <a:rPr lang="en-US" altLang="en-US" dirty="0">
                <a:solidFill>
                  <a:schemeClr val="tx1"/>
                </a:solidFill>
                <a:cs typeface="Times New Roman" pitchFamily="18" charset="0"/>
              </a:rPr>
              <a:t>Mac </a:t>
            </a:r>
            <a:r>
              <a:rPr lang="en-US" altLang="en-US" dirty="0" err="1">
                <a:solidFill>
                  <a:schemeClr val="tx1"/>
                </a:solidFill>
                <a:cs typeface="Times New Roman" pitchFamily="18" charset="0"/>
              </a:rPr>
              <a:t>OsX</a:t>
            </a:r>
            <a:endParaRPr lang="en-US" altLang="en-US" dirty="0">
              <a:solidFill>
                <a:schemeClr val="tx1"/>
              </a:solidFill>
              <a:cs typeface="Times New Roman" pitchFamily="18" charset="0"/>
            </a:endParaRPr>
          </a:p>
          <a:p>
            <a:pPr marL="285750" indent="-285750"/>
            <a:r>
              <a:rPr lang="en-US" altLang="en-US" dirty="0">
                <a:solidFill>
                  <a:schemeClr val="tx1"/>
                </a:solidFill>
                <a:cs typeface="Times New Roman" pitchFamily="18" charset="0"/>
              </a:rPr>
              <a:t>Android</a:t>
            </a:r>
          </a:p>
          <a:p>
            <a:pPr marL="285750" indent="-285750"/>
            <a:r>
              <a:rPr lang="en-US" altLang="en-US" dirty="0">
                <a:solidFill>
                  <a:schemeClr val="tx1"/>
                </a:solidFill>
                <a:cs typeface="Times New Roman" pitchFamily="18" charset="0"/>
              </a:rPr>
              <a:t>Linux, Unix</a:t>
            </a:r>
          </a:p>
          <a:p>
            <a:pPr eaLnBrk="1" hangingPunct="1">
              <a:defRPr/>
            </a:pPr>
            <a:endParaRPr lang="en-US" sz="3100" dirty="0"/>
          </a:p>
          <a:p>
            <a:pPr marL="0" indent="0">
              <a:buNone/>
              <a:defRPr/>
            </a:pPr>
            <a:endParaRPr lang="en-US" sz="3100" dirty="0"/>
          </a:p>
          <a:p>
            <a:pPr marL="0" lvl="0" indent="0">
              <a:spcBef>
                <a:spcPts val="1200"/>
              </a:spcBef>
              <a:spcAft>
                <a:spcPts val="1200"/>
              </a:spcAft>
              <a:buNone/>
            </a:pPr>
            <a:endParaRPr lang="en-US" dirty="0"/>
          </a:p>
          <a:p>
            <a:pPr marL="0" lvl="0" indent="0">
              <a:spcBef>
                <a:spcPts val="1200"/>
              </a:spcBef>
              <a:spcAft>
                <a:spcPts val="1200"/>
              </a:spcAft>
              <a:buNone/>
            </a:pPr>
            <a:endParaRPr lang="en-US" dirty="0"/>
          </a:p>
          <a:p>
            <a:pPr marL="0" lvl="0" indent="0" algn="l" rtl="0">
              <a:spcBef>
                <a:spcPts val="1200"/>
              </a:spcBef>
              <a:spcAft>
                <a:spcPts val="1200"/>
              </a:spcAft>
              <a:buNone/>
            </a:pPr>
            <a:endParaRPr dirty="0"/>
          </a:p>
        </p:txBody>
      </p:sp>
      <p:graphicFrame>
        <p:nvGraphicFramePr>
          <p:cNvPr id="5" name="Object 1030" descr="Users and applications access the computer’s hardware via the operating system.">
            <a:extLst>
              <a:ext uri="{FF2B5EF4-FFF2-40B4-BE49-F238E27FC236}">
                <a16:creationId xmlns:a16="http://schemas.microsoft.com/office/drawing/2014/main" id="{ADA88333-4D4F-484A-860E-ADA5496B825B}"/>
              </a:ext>
            </a:extLst>
          </p:cNvPr>
          <p:cNvGraphicFramePr>
            <a:graphicFrameLocks noChangeAspect="1"/>
          </p:cNvGraphicFramePr>
          <p:nvPr>
            <p:extLst>
              <p:ext uri="{D42A27DB-BD31-4B8C-83A1-F6EECF244321}">
                <p14:modId xmlns:p14="http://schemas.microsoft.com/office/powerpoint/2010/main" val="2468490199"/>
              </p:ext>
            </p:extLst>
          </p:nvPr>
        </p:nvGraphicFramePr>
        <p:xfrm>
          <a:off x="4872251" y="1630906"/>
          <a:ext cx="2849394" cy="2617245"/>
        </p:xfrm>
        <a:graphic>
          <a:graphicData uri="http://schemas.openxmlformats.org/presentationml/2006/ole">
            <mc:AlternateContent xmlns:mc="http://schemas.openxmlformats.org/markup-compatibility/2006">
              <mc:Choice xmlns:v="urn:schemas-microsoft-com:vml" Requires="v">
                <p:oleObj r:id="rId3" imgW="1993392" imgH="1830324" progId="Word.Picture.8">
                  <p:embed/>
                </p:oleObj>
              </mc:Choice>
              <mc:Fallback>
                <p:oleObj r:id="rId3" imgW="1993392" imgH="1830324" progId="Word.Picture.8">
                  <p:embed/>
                  <p:pic>
                    <p:nvPicPr>
                      <p:cNvPr id="5" name="Object 1030" descr="Users and applications access the computer’s hardware via the operating system.">
                        <a:extLst>
                          <a:ext uri="{FF2B5EF4-FFF2-40B4-BE49-F238E27FC236}">
                            <a16:creationId xmlns:a16="http://schemas.microsoft.com/office/drawing/2014/main" id="{ADA88333-4D4F-484A-860E-ADA5496B82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2251" y="1630906"/>
                        <a:ext cx="2849394" cy="2617245"/>
                      </a:xfrm>
                      <a:prstGeom prst="rect">
                        <a:avLst/>
                      </a:prstGeom>
                      <a:noFill/>
                      <a:ln>
                        <a:noFill/>
                      </a:ln>
                    </p:spPr>
                  </p:pic>
                </p:oleObj>
              </mc:Fallback>
            </mc:AlternateContent>
          </a:graphicData>
        </a:graphic>
      </p:graphicFrame>
      <p:sp>
        <p:nvSpPr>
          <p:cNvPr id="2" name="TextBox 1">
            <a:extLst>
              <a:ext uri="{FF2B5EF4-FFF2-40B4-BE49-F238E27FC236}">
                <a16:creationId xmlns:a16="http://schemas.microsoft.com/office/drawing/2014/main" id="{5701AC05-14D0-4110-905D-7338E9033E05}"/>
              </a:ext>
            </a:extLst>
          </p:cNvPr>
          <p:cNvSpPr txBox="1"/>
          <p:nvPr/>
        </p:nvSpPr>
        <p:spPr>
          <a:xfrm>
            <a:off x="989881" y="4769329"/>
            <a:ext cx="707797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Introduction To Java Programming, Brief Version, Author: Daniel Liang, Publisher: Pearson , Edition: 11th, 2018</a:t>
            </a:r>
            <a:endParaRPr lang="en-US"/>
          </a:p>
        </p:txBody>
      </p:sp>
    </p:spTree>
    <p:extLst>
      <p:ext uri="{BB962C8B-B14F-4D97-AF65-F5344CB8AC3E}">
        <p14:creationId xmlns:p14="http://schemas.microsoft.com/office/powerpoint/2010/main" val="38888151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5538c6363dcc66390f334cc79d134dde">
  <xsd:schema xmlns:xsd="http://www.w3.org/2001/XMLSchema" xmlns:xs="http://www.w3.org/2001/XMLSchema" xmlns:p="http://schemas.microsoft.com/office/2006/metadata/properties" xmlns:ns2="dd520bba-7c1e-4c79-bf9d-255d7ed0f3a3" targetNamespace="http://schemas.microsoft.com/office/2006/metadata/properties" ma:root="true" ma:fieldsID="f941384ee89c8d55594949fcab33c8bd"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51D82DA-0B65-4B38-A2BA-B3F87EB3C3B7}"/>
</file>

<file path=customXml/itemProps2.xml><?xml version="1.0" encoding="utf-8"?>
<ds:datastoreItem xmlns:ds="http://schemas.openxmlformats.org/officeDocument/2006/customXml" ds:itemID="{7EA81433-9C46-4235-A2F7-D0176DCA05DC}"/>
</file>

<file path=customXml/itemProps3.xml><?xml version="1.0" encoding="utf-8"?>
<ds:datastoreItem xmlns:ds="http://schemas.openxmlformats.org/officeDocument/2006/customXml" ds:itemID="{7D352644-8643-40C5-955E-51C40E1044AF}"/>
</file>

<file path=docProps/app.xml><?xml version="1.0" encoding="utf-8"?>
<Properties xmlns="http://schemas.openxmlformats.org/officeDocument/2006/extended-properties" xmlns:vt="http://schemas.openxmlformats.org/officeDocument/2006/docPropsVTypes">
  <TotalTime>7395</TotalTime>
  <Words>1968</Words>
  <Application>Microsoft Office PowerPoint</Application>
  <PresentationFormat>On-screen Show (16:9)</PresentationFormat>
  <Paragraphs>294</Paragraphs>
  <Slides>30</Slides>
  <Notes>23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30</vt:i4>
      </vt:variant>
    </vt:vector>
  </HeadingPairs>
  <TitlesOfParts>
    <vt:vector size="37" baseType="lpstr">
      <vt:lpstr>Arial</vt:lpstr>
      <vt:lpstr>Cambria Math</vt:lpstr>
      <vt:lpstr>Courier New</vt:lpstr>
      <vt:lpstr>Times New Roman</vt:lpstr>
      <vt:lpstr>Simple Light</vt:lpstr>
      <vt:lpstr>Picture</vt:lpstr>
      <vt:lpstr>Microsoft Word Picture</vt:lpstr>
      <vt:lpstr>Introduction to Computers</vt:lpstr>
      <vt:lpstr>Objectives: </vt:lpstr>
      <vt:lpstr>What is a Computer? </vt:lpstr>
      <vt:lpstr>CPU: Central Processing Unit</vt:lpstr>
      <vt:lpstr>Memory</vt:lpstr>
      <vt:lpstr>Memory: How Data is Stored? </vt:lpstr>
      <vt:lpstr>Number Systems: Binary and Decimal </vt:lpstr>
      <vt:lpstr>Binary numbers </vt:lpstr>
      <vt:lpstr>Decimal numbers: </vt:lpstr>
      <vt:lpstr>Decimal number: Example</vt:lpstr>
      <vt:lpstr>Binary numbers to Decimals </vt:lpstr>
      <vt:lpstr>Binary numbers to Decimals: Example</vt:lpstr>
      <vt:lpstr>Decimals to Binary </vt:lpstr>
      <vt:lpstr>Decimals to Binary Example: </vt:lpstr>
      <vt:lpstr>Number Systems: Octal and Hexadecimal </vt:lpstr>
      <vt:lpstr>Hexadecimal </vt:lpstr>
      <vt:lpstr>Hexadecimal to decimal</vt:lpstr>
      <vt:lpstr> Decimals to Hexadecimals  </vt:lpstr>
      <vt:lpstr> Decimals to Hexadecimals: Example  </vt:lpstr>
      <vt:lpstr>Hexadecimals to Binary and Vice Versa</vt:lpstr>
      <vt:lpstr> Binary, Hexadecimal and Decimal: Table </vt:lpstr>
      <vt:lpstr>Octal to Binary and Vice Versa</vt:lpstr>
      <vt:lpstr> Hexadecimals to Binary: Table </vt:lpstr>
      <vt:lpstr>Programming Languages: Machine Language </vt:lpstr>
      <vt:lpstr>Assembly Language and HLL: </vt:lpstr>
      <vt:lpstr>Popular High-Level Languages</vt:lpstr>
      <vt:lpstr>Source Code </vt:lpstr>
      <vt:lpstr>Interpreting Source Code </vt:lpstr>
      <vt:lpstr>Compiling Source Code </vt:lpstr>
      <vt:lpstr>Operating Systems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于 心瑞 Xinrui YU</cp:lastModifiedBy>
  <cp:revision>161</cp:revision>
  <dcterms:modified xsi:type="dcterms:W3CDTF">2025-09-09T11:11:34Z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