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drawings/drawing1.xml" ContentType="application/vnd.openxmlformats-officedocument.drawingml.chartshapes+xml"/>
  <Override PartName="/ppt/charts/chart2.xml" ContentType="application/vnd.openxmlformats-officedocument.drawingml.char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50" r:id="rId1"/>
  </p:sldMasterIdLst>
  <p:notesMasterIdLst>
    <p:notesMasterId r:id="rId57"/>
  </p:notesMasterIdLst>
  <p:sldIdLst>
    <p:sldId id="535" r:id="rId2"/>
    <p:sldId id="787" r:id="rId3"/>
    <p:sldId id="875" r:id="rId4"/>
    <p:sldId id="788" r:id="rId5"/>
    <p:sldId id="877" r:id="rId6"/>
    <p:sldId id="886" r:id="rId7"/>
    <p:sldId id="887" r:id="rId8"/>
    <p:sldId id="792" r:id="rId9"/>
    <p:sldId id="888" r:id="rId10"/>
    <p:sldId id="889" r:id="rId11"/>
    <p:sldId id="890" r:id="rId12"/>
    <p:sldId id="891" r:id="rId13"/>
    <p:sldId id="892" r:id="rId14"/>
    <p:sldId id="893" r:id="rId15"/>
    <p:sldId id="894" r:id="rId16"/>
    <p:sldId id="931" r:id="rId17"/>
    <p:sldId id="932" r:id="rId18"/>
    <p:sldId id="933" r:id="rId19"/>
    <p:sldId id="934" r:id="rId20"/>
    <p:sldId id="935" r:id="rId21"/>
    <p:sldId id="936" r:id="rId22"/>
    <p:sldId id="937" r:id="rId23"/>
    <p:sldId id="938" r:id="rId24"/>
    <p:sldId id="939" r:id="rId25"/>
    <p:sldId id="895" r:id="rId26"/>
    <p:sldId id="896" r:id="rId27"/>
    <p:sldId id="897" r:id="rId28"/>
    <p:sldId id="898" r:id="rId29"/>
    <p:sldId id="899" r:id="rId30"/>
    <p:sldId id="900" r:id="rId31"/>
    <p:sldId id="901" r:id="rId32"/>
    <p:sldId id="903" r:id="rId33"/>
    <p:sldId id="904" r:id="rId34"/>
    <p:sldId id="905" r:id="rId35"/>
    <p:sldId id="909" r:id="rId36"/>
    <p:sldId id="910" r:id="rId37"/>
    <p:sldId id="911" r:id="rId38"/>
    <p:sldId id="915" r:id="rId39"/>
    <p:sldId id="793" r:id="rId40"/>
    <p:sldId id="916" r:id="rId41"/>
    <p:sldId id="917" r:id="rId42"/>
    <p:sldId id="918" r:id="rId43"/>
    <p:sldId id="919" r:id="rId44"/>
    <p:sldId id="920" r:id="rId45"/>
    <p:sldId id="922" r:id="rId46"/>
    <p:sldId id="924" r:id="rId47"/>
    <p:sldId id="921" r:id="rId48"/>
    <p:sldId id="925" r:id="rId49"/>
    <p:sldId id="926" r:id="rId50"/>
    <p:sldId id="927" r:id="rId51"/>
    <p:sldId id="928" r:id="rId52"/>
    <p:sldId id="929" r:id="rId53"/>
    <p:sldId id="930" r:id="rId54"/>
    <p:sldId id="831" r:id="rId55"/>
    <p:sldId id="825" r:id="rId56"/>
  </p:sldIdLst>
  <p:sldSz cx="9144000" cy="6858000" type="screen4x3"/>
  <p:notesSz cx="6797675" cy="9874250"/>
  <p:defaultTextStyle>
    <a:defPPr>
      <a:defRPr lang="zh-CN"/>
    </a:defPPr>
    <a:lvl1pPr algn="l" rtl="0" eaLnBrk="0" fontAlgn="base" hangingPunct="0">
      <a:spcBef>
        <a:spcPct val="0"/>
      </a:spcBef>
      <a:spcAft>
        <a:spcPct val="0"/>
      </a:spcAft>
      <a:defRPr kern="1200">
        <a:solidFill>
          <a:schemeClr val="tx1"/>
        </a:solidFill>
        <a:latin typeface="Arial"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10">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9900CC"/>
    <a:srgbClr val="6600CC"/>
    <a:srgbClr val="99FFCC"/>
    <a:srgbClr val="CCFFFF"/>
    <a:srgbClr val="0070C0"/>
    <a:srgbClr val="CC0000"/>
    <a:srgbClr val="333333"/>
    <a:srgbClr val="990000"/>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255" autoAdjust="0"/>
    <p:restoredTop sz="90976" autoAdjust="0"/>
  </p:normalViewPr>
  <p:slideViewPr>
    <p:cSldViewPr>
      <p:cViewPr varScale="1">
        <p:scale>
          <a:sx n="103" d="100"/>
          <a:sy n="103" d="100"/>
        </p:scale>
        <p:origin x="1470" y="114"/>
      </p:cViewPr>
      <p:guideLst>
        <p:guide orient="horz" pos="2160"/>
        <p:guide pos="2880"/>
      </p:guideLst>
    </p:cSldViewPr>
  </p:slideViewPr>
  <p:outlineViewPr>
    <p:cViewPr>
      <p:scale>
        <a:sx n="33" d="100"/>
        <a:sy n="33" d="100"/>
      </p:scale>
      <p:origin x="0" y="-4168"/>
    </p:cViewPr>
  </p:outlineViewPr>
  <p:notesTextViewPr>
    <p:cViewPr>
      <p:scale>
        <a:sx n="100" d="100"/>
        <a:sy n="100" d="100"/>
      </p:scale>
      <p:origin x="0" y="0"/>
    </p:cViewPr>
  </p:notesTextViewPr>
  <p:sorterViewPr>
    <p:cViewPr varScale="1">
      <p:scale>
        <a:sx n="100" d="100"/>
        <a:sy n="100" d="100"/>
      </p:scale>
      <p:origin x="0" y="-13432"/>
    </p:cViewPr>
  </p:sorterViewPr>
  <p:notesViewPr>
    <p:cSldViewPr>
      <p:cViewPr varScale="1">
        <p:scale>
          <a:sx n="77" d="100"/>
          <a:sy n="77" d="100"/>
        </p:scale>
        <p:origin x="3488" y="192"/>
      </p:cViewPr>
      <p:guideLst>
        <p:guide orient="horz" pos="3110"/>
        <p:guide pos="2141"/>
      </p:guideLst>
    </p:cSldViewPr>
  </p:notesViewPr>
  <p:gridSpacing cx="180023" cy="180023"/>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D:\&#25945;&#23398;\&#35838;&#20214;&#21644;&#36164;&#26009;\&#35780;&#32844;&#31216;&#35762;&#35838;201911\&#25968;&#25454;&#34920;.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D:\&#25945;&#23398;\&#35838;&#20214;&#21644;&#36164;&#26009;\&#35780;&#32844;&#31216;&#35762;&#35838;201911\&#25968;&#25454;&#34920;.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zh-CN" sz="2000" dirty="0">
                <a:solidFill>
                  <a:srgbClr val="C00000"/>
                </a:solidFill>
              </a:rPr>
              <a:t>散点图</a:t>
            </a:r>
          </a:p>
        </c:rich>
      </c:tx>
      <c:layout/>
      <c:overlay val="0"/>
    </c:title>
    <c:autoTitleDeleted val="0"/>
    <c:plotArea>
      <c:layout/>
      <c:scatterChart>
        <c:scatterStyle val="lineMarker"/>
        <c:varyColors val="0"/>
        <c:ser>
          <c:idx val="0"/>
          <c:order val="0"/>
          <c:spPr>
            <a:ln w="28575">
              <a:noFill/>
            </a:ln>
          </c:spPr>
          <c:marker>
            <c:symbol val="circle"/>
            <c:size val="10"/>
            <c:spPr>
              <a:solidFill>
                <a:srgbClr val="CC0000"/>
              </a:solidFill>
              <a:ln>
                <a:noFill/>
              </a:ln>
            </c:spPr>
          </c:marker>
          <c:xVal>
            <c:numRef>
              <c:f>Sheet1!$B$2:$B$25</c:f>
              <c:numCache>
                <c:formatCode>General</c:formatCode>
                <c:ptCount val="24"/>
                <c:pt idx="0">
                  <c:v>3</c:v>
                </c:pt>
                <c:pt idx="1">
                  <c:v>3</c:v>
                </c:pt>
                <c:pt idx="2">
                  <c:v>3</c:v>
                </c:pt>
                <c:pt idx="3">
                  <c:v>6</c:v>
                </c:pt>
                <c:pt idx="4">
                  <c:v>6</c:v>
                </c:pt>
                <c:pt idx="5">
                  <c:v>12</c:v>
                </c:pt>
                <c:pt idx="6">
                  <c:v>12</c:v>
                </c:pt>
                <c:pt idx="7">
                  <c:v>12</c:v>
                </c:pt>
                <c:pt idx="8">
                  <c:v>16</c:v>
                </c:pt>
                <c:pt idx="9">
                  <c:v>16</c:v>
                </c:pt>
                <c:pt idx="10">
                  <c:v>16</c:v>
                </c:pt>
                <c:pt idx="11">
                  <c:v>16</c:v>
                </c:pt>
                <c:pt idx="12">
                  <c:v>16</c:v>
                </c:pt>
                <c:pt idx="13">
                  <c:v>20</c:v>
                </c:pt>
                <c:pt idx="14">
                  <c:v>35</c:v>
                </c:pt>
                <c:pt idx="15">
                  <c:v>35</c:v>
                </c:pt>
                <c:pt idx="16">
                  <c:v>35</c:v>
                </c:pt>
                <c:pt idx="17">
                  <c:v>40</c:v>
                </c:pt>
                <c:pt idx="18">
                  <c:v>40</c:v>
                </c:pt>
                <c:pt idx="19">
                  <c:v>40</c:v>
                </c:pt>
                <c:pt idx="20">
                  <c:v>40</c:v>
                </c:pt>
                <c:pt idx="21">
                  <c:v>40</c:v>
                </c:pt>
                <c:pt idx="22">
                  <c:v>60</c:v>
                </c:pt>
                <c:pt idx="23">
                  <c:v>60</c:v>
                </c:pt>
              </c:numCache>
            </c:numRef>
          </c:xVal>
          <c:yVal>
            <c:numRef>
              <c:f>Sheet1!$C$2:$C$25</c:f>
              <c:numCache>
                <c:formatCode>General</c:formatCode>
                <c:ptCount val="24"/>
                <c:pt idx="0">
                  <c:v>55</c:v>
                </c:pt>
                <c:pt idx="1">
                  <c:v>40</c:v>
                </c:pt>
                <c:pt idx="2">
                  <c:v>39</c:v>
                </c:pt>
                <c:pt idx="3">
                  <c:v>80</c:v>
                </c:pt>
                <c:pt idx="4">
                  <c:v>107</c:v>
                </c:pt>
                <c:pt idx="5">
                  <c:v>156</c:v>
                </c:pt>
                <c:pt idx="6">
                  <c:v>140</c:v>
                </c:pt>
                <c:pt idx="7">
                  <c:v>148</c:v>
                </c:pt>
                <c:pt idx="8">
                  <c:v>140</c:v>
                </c:pt>
                <c:pt idx="9">
                  <c:v>230</c:v>
                </c:pt>
                <c:pt idx="10">
                  <c:v>195</c:v>
                </c:pt>
                <c:pt idx="11">
                  <c:v>155</c:v>
                </c:pt>
                <c:pt idx="12">
                  <c:v>332</c:v>
                </c:pt>
                <c:pt idx="13">
                  <c:v>330</c:v>
                </c:pt>
                <c:pt idx="14">
                  <c:v>440</c:v>
                </c:pt>
                <c:pt idx="15">
                  <c:v>520</c:v>
                </c:pt>
                <c:pt idx="16">
                  <c:v>541</c:v>
                </c:pt>
                <c:pt idx="17">
                  <c:v>579</c:v>
                </c:pt>
                <c:pt idx="18">
                  <c:v>670</c:v>
                </c:pt>
                <c:pt idx="19">
                  <c:v>477</c:v>
                </c:pt>
                <c:pt idx="20">
                  <c:v>466</c:v>
                </c:pt>
                <c:pt idx="21">
                  <c:v>394</c:v>
                </c:pt>
                <c:pt idx="22">
                  <c:v>790</c:v>
                </c:pt>
                <c:pt idx="23">
                  <c:v>884</c:v>
                </c:pt>
              </c:numCache>
            </c:numRef>
          </c:yVal>
          <c:smooth val="0"/>
          <c:extLst>
            <c:ext xmlns:c16="http://schemas.microsoft.com/office/drawing/2014/chart" uri="{C3380CC4-5D6E-409C-BE32-E72D297353CC}">
              <c16:uniqueId val="{00000000-ACBD-4219-A28B-5C4B6E7BC6C2}"/>
            </c:ext>
          </c:extLst>
        </c:ser>
        <c:dLbls>
          <c:showLegendKey val="0"/>
          <c:showVal val="0"/>
          <c:showCatName val="0"/>
          <c:showSerName val="0"/>
          <c:showPercent val="0"/>
          <c:showBubbleSize val="0"/>
        </c:dLbls>
        <c:axId val="70259840"/>
        <c:axId val="70261760"/>
      </c:scatterChart>
      <c:valAx>
        <c:axId val="70259840"/>
        <c:scaling>
          <c:orientation val="minMax"/>
        </c:scaling>
        <c:delete val="0"/>
        <c:axPos val="b"/>
        <c:title>
          <c:tx>
            <c:rich>
              <a:bodyPr/>
              <a:lstStyle/>
              <a:p>
                <a:pPr>
                  <a:defRPr/>
                </a:pPr>
                <a:r>
                  <a:rPr lang="en-US" sz="1600" dirty="0">
                    <a:solidFill>
                      <a:srgbClr val="C00000"/>
                    </a:solidFill>
                  </a:rPr>
                  <a:t>X </a:t>
                </a:r>
                <a:r>
                  <a:rPr lang="zh-CN" sz="1600" dirty="0">
                    <a:solidFill>
                      <a:srgbClr val="C00000"/>
                    </a:solidFill>
                  </a:rPr>
                  <a:t>广告支出：万元</a:t>
                </a:r>
              </a:p>
            </c:rich>
          </c:tx>
          <c:layout/>
          <c:overlay val="0"/>
        </c:title>
        <c:numFmt formatCode="General" sourceLinked="1"/>
        <c:majorTickMark val="none"/>
        <c:minorTickMark val="none"/>
        <c:tickLblPos val="nextTo"/>
        <c:crossAx val="70261760"/>
        <c:crosses val="autoZero"/>
        <c:crossBetween val="midCat"/>
      </c:valAx>
      <c:valAx>
        <c:axId val="70261760"/>
        <c:scaling>
          <c:orientation val="minMax"/>
        </c:scaling>
        <c:delete val="0"/>
        <c:axPos val="l"/>
        <c:title>
          <c:tx>
            <c:rich>
              <a:bodyPr/>
              <a:lstStyle/>
              <a:p>
                <a:pPr>
                  <a:defRPr/>
                </a:pPr>
                <a:r>
                  <a:rPr lang="en-US" sz="1600" dirty="0">
                    <a:solidFill>
                      <a:srgbClr val="C00000"/>
                    </a:solidFill>
                  </a:rPr>
                  <a:t>Y</a:t>
                </a:r>
                <a:r>
                  <a:rPr lang="zh-CN" sz="1600" dirty="0">
                    <a:solidFill>
                      <a:srgbClr val="C00000"/>
                    </a:solidFill>
                  </a:rPr>
                  <a:t>  销售收入：万元</a:t>
                </a:r>
              </a:p>
            </c:rich>
          </c:tx>
          <c:layout/>
          <c:overlay val="0"/>
        </c:title>
        <c:numFmt formatCode="General" sourceLinked="1"/>
        <c:majorTickMark val="none"/>
        <c:minorTickMark val="none"/>
        <c:tickLblPos val="nextTo"/>
        <c:crossAx val="70259840"/>
        <c:crosses val="autoZero"/>
        <c:crossBetween val="midCat"/>
      </c:valAx>
      <c:spPr>
        <a:solidFill>
          <a:schemeClr val="accent1"/>
        </a:solidFill>
      </c:spPr>
    </c:plotArea>
    <c:plotVisOnly val="1"/>
    <c:dispBlanksAs val="gap"/>
    <c:showDLblsOverMax val="0"/>
  </c:chart>
  <c:txPr>
    <a:bodyPr/>
    <a:lstStyle/>
    <a:p>
      <a:pPr>
        <a:defRPr sz="1000">
          <a:latin typeface="微软雅黑" pitchFamily="34" charset="-122"/>
          <a:ea typeface="微软雅黑" pitchFamily="34" charset="-122"/>
        </a:defRPr>
      </a:pPr>
      <a:endParaRPr lang="zh-CN"/>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zh-CN"/>
              <a:t>回归直线</a:t>
            </a:r>
          </a:p>
        </c:rich>
      </c:tx>
      <c:layout>
        <c:manualLayout>
          <c:xMode val="edge"/>
          <c:yMode val="edge"/>
          <c:x val="0.42842002970984366"/>
          <c:y val="1.7054972646816647E-2"/>
        </c:manualLayout>
      </c:layout>
      <c:overlay val="0"/>
    </c:title>
    <c:autoTitleDeleted val="0"/>
    <c:plotArea>
      <c:layout/>
      <c:scatterChart>
        <c:scatterStyle val="lineMarker"/>
        <c:varyColors val="0"/>
        <c:ser>
          <c:idx val="0"/>
          <c:order val="0"/>
          <c:spPr>
            <a:ln w="28575">
              <a:noFill/>
            </a:ln>
          </c:spPr>
          <c:marker>
            <c:symbol val="circle"/>
            <c:size val="8"/>
            <c:spPr>
              <a:solidFill>
                <a:srgbClr val="C00000"/>
              </a:solidFill>
              <a:ln>
                <a:solidFill>
                  <a:srgbClr val="C00000"/>
                </a:solidFill>
              </a:ln>
            </c:spPr>
          </c:marker>
          <c:trendline>
            <c:spPr>
              <a:ln w="28575">
                <a:solidFill>
                  <a:schemeClr val="tx1"/>
                </a:solidFill>
              </a:ln>
            </c:spPr>
            <c:trendlineType val="linear"/>
            <c:dispRSqr val="0"/>
            <c:dispEq val="0"/>
          </c:trendline>
          <c:xVal>
            <c:numRef>
              <c:f>Sheet1!$B$2:$B$25</c:f>
              <c:numCache>
                <c:formatCode>General</c:formatCode>
                <c:ptCount val="24"/>
                <c:pt idx="0">
                  <c:v>3</c:v>
                </c:pt>
                <c:pt idx="1">
                  <c:v>3</c:v>
                </c:pt>
                <c:pt idx="2">
                  <c:v>3</c:v>
                </c:pt>
                <c:pt idx="3">
                  <c:v>6</c:v>
                </c:pt>
                <c:pt idx="4">
                  <c:v>6</c:v>
                </c:pt>
                <c:pt idx="5">
                  <c:v>12</c:v>
                </c:pt>
                <c:pt idx="6">
                  <c:v>12</c:v>
                </c:pt>
                <c:pt idx="7">
                  <c:v>12</c:v>
                </c:pt>
                <c:pt idx="8">
                  <c:v>16</c:v>
                </c:pt>
                <c:pt idx="9">
                  <c:v>16</c:v>
                </c:pt>
                <c:pt idx="10">
                  <c:v>16</c:v>
                </c:pt>
                <c:pt idx="11">
                  <c:v>16</c:v>
                </c:pt>
                <c:pt idx="12">
                  <c:v>16</c:v>
                </c:pt>
                <c:pt idx="13">
                  <c:v>20</c:v>
                </c:pt>
                <c:pt idx="14">
                  <c:v>35</c:v>
                </c:pt>
                <c:pt idx="15">
                  <c:v>35</c:v>
                </c:pt>
                <c:pt idx="16">
                  <c:v>35</c:v>
                </c:pt>
                <c:pt idx="17">
                  <c:v>40</c:v>
                </c:pt>
                <c:pt idx="18">
                  <c:v>40</c:v>
                </c:pt>
                <c:pt idx="19">
                  <c:v>40</c:v>
                </c:pt>
                <c:pt idx="20">
                  <c:v>40</c:v>
                </c:pt>
                <c:pt idx="21">
                  <c:v>40</c:v>
                </c:pt>
                <c:pt idx="22">
                  <c:v>60</c:v>
                </c:pt>
                <c:pt idx="23">
                  <c:v>60</c:v>
                </c:pt>
              </c:numCache>
            </c:numRef>
          </c:xVal>
          <c:yVal>
            <c:numRef>
              <c:f>Sheet1!$C$2:$C$25</c:f>
              <c:numCache>
                <c:formatCode>General</c:formatCode>
                <c:ptCount val="24"/>
                <c:pt idx="0">
                  <c:v>55</c:v>
                </c:pt>
                <c:pt idx="1">
                  <c:v>40</c:v>
                </c:pt>
                <c:pt idx="2">
                  <c:v>39</c:v>
                </c:pt>
                <c:pt idx="3">
                  <c:v>80</c:v>
                </c:pt>
                <c:pt idx="4">
                  <c:v>107</c:v>
                </c:pt>
                <c:pt idx="5">
                  <c:v>156</c:v>
                </c:pt>
                <c:pt idx="6">
                  <c:v>140</c:v>
                </c:pt>
                <c:pt idx="7">
                  <c:v>148</c:v>
                </c:pt>
                <c:pt idx="8">
                  <c:v>140</c:v>
                </c:pt>
                <c:pt idx="9">
                  <c:v>155</c:v>
                </c:pt>
                <c:pt idx="10">
                  <c:v>230</c:v>
                </c:pt>
                <c:pt idx="11">
                  <c:v>332</c:v>
                </c:pt>
                <c:pt idx="12">
                  <c:v>195</c:v>
                </c:pt>
                <c:pt idx="13">
                  <c:v>330</c:v>
                </c:pt>
                <c:pt idx="14">
                  <c:v>540</c:v>
                </c:pt>
                <c:pt idx="15">
                  <c:v>520</c:v>
                </c:pt>
                <c:pt idx="16">
                  <c:v>541</c:v>
                </c:pt>
                <c:pt idx="17">
                  <c:v>579</c:v>
                </c:pt>
                <c:pt idx="18">
                  <c:v>670</c:v>
                </c:pt>
                <c:pt idx="19">
                  <c:v>477</c:v>
                </c:pt>
                <c:pt idx="20">
                  <c:v>466</c:v>
                </c:pt>
                <c:pt idx="21">
                  <c:v>394</c:v>
                </c:pt>
                <c:pt idx="22">
                  <c:v>790</c:v>
                </c:pt>
                <c:pt idx="23">
                  <c:v>884</c:v>
                </c:pt>
              </c:numCache>
            </c:numRef>
          </c:yVal>
          <c:smooth val="0"/>
          <c:extLst>
            <c:ext xmlns:c16="http://schemas.microsoft.com/office/drawing/2014/chart" uri="{C3380CC4-5D6E-409C-BE32-E72D297353CC}">
              <c16:uniqueId val="{00000001-7C4B-44C8-8BE2-0380E7E52E98}"/>
            </c:ext>
          </c:extLst>
        </c:ser>
        <c:dLbls>
          <c:showLegendKey val="0"/>
          <c:showVal val="0"/>
          <c:showCatName val="0"/>
          <c:showSerName val="0"/>
          <c:showPercent val="0"/>
          <c:showBubbleSize val="0"/>
        </c:dLbls>
        <c:axId val="70306816"/>
        <c:axId val="137856128"/>
      </c:scatterChart>
      <c:valAx>
        <c:axId val="70306816"/>
        <c:scaling>
          <c:orientation val="minMax"/>
        </c:scaling>
        <c:delete val="0"/>
        <c:axPos val="b"/>
        <c:title>
          <c:tx>
            <c:rich>
              <a:bodyPr/>
              <a:lstStyle/>
              <a:p>
                <a:pPr>
                  <a:defRPr/>
                </a:pPr>
                <a:r>
                  <a:rPr lang="en-US"/>
                  <a:t>X  </a:t>
                </a:r>
                <a:r>
                  <a:rPr lang="zh-CN"/>
                  <a:t>广告支出 </a:t>
                </a:r>
                <a:r>
                  <a:rPr lang="en-US"/>
                  <a:t>  </a:t>
                </a:r>
                <a:r>
                  <a:rPr lang="zh-CN"/>
                  <a:t>（万元）</a:t>
                </a:r>
              </a:p>
            </c:rich>
          </c:tx>
          <c:layout/>
          <c:overlay val="0"/>
        </c:title>
        <c:numFmt formatCode="General" sourceLinked="1"/>
        <c:majorTickMark val="none"/>
        <c:minorTickMark val="none"/>
        <c:tickLblPos val="nextTo"/>
        <c:crossAx val="137856128"/>
        <c:crosses val="autoZero"/>
        <c:crossBetween val="midCat"/>
      </c:valAx>
      <c:valAx>
        <c:axId val="137856128"/>
        <c:scaling>
          <c:orientation val="minMax"/>
        </c:scaling>
        <c:delete val="0"/>
        <c:axPos val="l"/>
        <c:title>
          <c:tx>
            <c:rich>
              <a:bodyPr/>
              <a:lstStyle/>
              <a:p>
                <a:pPr>
                  <a:defRPr/>
                </a:pPr>
                <a:r>
                  <a:rPr lang="en-US"/>
                  <a:t>Y </a:t>
                </a:r>
                <a:r>
                  <a:rPr lang="zh-CN"/>
                  <a:t>销售收入 （万元）</a:t>
                </a:r>
              </a:p>
            </c:rich>
          </c:tx>
          <c:layout/>
          <c:overlay val="0"/>
        </c:title>
        <c:numFmt formatCode="General" sourceLinked="1"/>
        <c:majorTickMark val="none"/>
        <c:minorTickMark val="none"/>
        <c:tickLblPos val="nextTo"/>
        <c:crossAx val="70306816"/>
        <c:crosses val="autoZero"/>
        <c:crossBetween val="midCat"/>
      </c:valAx>
      <c:spPr>
        <a:solidFill>
          <a:schemeClr val="accent1"/>
        </a:solidFill>
        <a:ln>
          <a:solidFill>
            <a:schemeClr val="tx1"/>
          </a:solidFill>
        </a:ln>
      </c:spPr>
    </c:plotArea>
    <c:plotVisOnly val="1"/>
    <c:dispBlanksAs val="gap"/>
    <c:showDLblsOverMax val="0"/>
  </c:chart>
  <c:txPr>
    <a:bodyPr/>
    <a:lstStyle/>
    <a:p>
      <a:pPr>
        <a:defRPr sz="1600"/>
      </a:pPr>
      <a:endParaRPr lang="zh-CN"/>
    </a:p>
  </c:txPr>
  <c:externalData r:id="rId1">
    <c:autoUpdate val="0"/>
  </c:externalData>
</c:chartSpace>
</file>

<file path=ppt/drawings/_rels/vmlDrawing1.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5" Type="http://schemas.openxmlformats.org/officeDocument/2006/relationships/image" Target="../media/image24.wmf"/><Relationship Id="rId4" Type="http://schemas.openxmlformats.org/officeDocument/2006/relationships/image" Target="../media/image2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 Id="rId4" Type="http://schemas.openxmlformats.org/officeDocument/2006/relationships/image" Target="../media/image68.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2.wmf"/><Relationship Id="rId1" Type="http://schemas.openxmlformats.org/officeDocument/2006/relationships/image" Target="../media/image71.wmf"/></Relationships>
</file>

<file path=ppt/drawings/drawing1.xml><?xml version="1.0" encoding="utf-8"?>
<c:userShapes xmlns:c="http://schemas.openxmlformats.org/drawingml/2006/chart">
  <cdr:relSizeAnchor xmlns:cdr="http://schemas.openxmlformats.org/drawingml/2006/chartDrawing">
    <cdr:from>
      <cdr:x>0.22342</cdr:x>
      <cdr:y>0.22596</cdr:y>
    </cdr:from>
    <cdr:to>
      <cdr:x>0.87183</cdr:x>
      <cdr:y>0.8006</cdr:y>
    </cdr:to>
    <cdr:cxnSp macro="">
      <cdr:nvCxnSpPr>
        <cdr:cNvPr id="3" name="直接连接符 2">
          <a:extLst xmlns:a="http://schemas.openxmlformats.org/drawingml/2006/main">
            <a:ext uri="{FF2B5EF4-FFF2-40B4-BE49-F238E27FC236}">
              <a16:creationId xmlns:a16="http://schemas.microsoft.com/office/drawing/2014/main" id="{2DD0E4E0-E31B-4263-93BE-C42D14F6D8C7}"/>
            </a:ext>
          </a:extLst>
        </cdr:cNvPr>
        <cdr:cNvCxnSpPr/>
      </cdr:nvCxnSpPr>
      <cdr:spPr>
        <a:xfrm xmlns:a="http://schemas.openxmlformats.org/drawingml/2006/main" flipV="1">
          <a:off x="1152395" y="1145555"/>
          <a:ext cx="3344449" cy="2913238"/>
        </a:xfrm>
        <a:prstGeom xmlns:a="http://schemas.openxmlformats.org/drawingml/2006/main" prst="line">
          <a:avLst/>
        </a:prstGeom>
        <a:ln xmlns:a="http://schemas.openxmlformats.org/drawingml/2006/main" w="28575">
          <a:solidFill>
            <a:schemeClr val="tx1"/>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3713"/>
          </a:xfrm>
          <a:prstGeom prst="rect">
            <a:avLst/>
          </a:prstGeom>
        </p:spPr>
        <p:txBody>
          <a:bodyPr vert="horz" lIns="91440" tIns="45720" rIns="91440" bIns="45720" rtlCol="0"/>
          <a:lstStyle>
            <a:lvl1pPr algn="l" eaLnBrk="1" hangingPunct="1">
              <a:defRPr sz="1200">
                <a:latin typeface="Arial" charset="0"/>
                <a:ea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49688" y="0"/>
            <a:ext cx="2946400" cy="493713"/>
          </a:xfrm>
          <a:prstGeom prst="rect">
            <a:avLst/>
          </a:prstGeom>
        </p:spPr>
        <p:txBody>
          <a:bodyPr vert="horz" lIns="91440" tIns="45720" rIns="91440" bIns="45720" rtlCol="0"/>
          <a:lstStyle>
            <a:lvl1pPr algn="r" eaLnBrk="1" hangingPunct="1">
              <a:defRPr sz="1200">
                <a:latin typeface="Arial" charset="0"/>
                <a:ea typeface="宋体" panose="02010600030101010101" pitchFamily="2" charset="-122"/>
              </a:defRPr>
            </a:lvl1pPr>
          </a:lstStyle>
          <a:p>
            <a:pPr>
              <a:defRPr/>
            </a:pPr>
            <a:fld id="{C13CFC46-32D4-41CD-A086-17AC58AE2C91}" type="datetimeFigureOut">
              <a:rPr lang="zh-CN" altLang="en-US"/>
              <a:pPr>
                <a:defRPr/>
              </a:pPr>
              <a:t>2025/5/31</a:t>
            </a:fld>
            <a:endParaRPr lang="zh-CN" altLang="en-US"/>
          </a:p>
        </p:txBody>
      </p:sp>
      <p:sp>
        <p:nvSpPr>
          <p:cNvPr id="4" name="幻灯片图像占位符 3"/>
          <p:cNvSpPr>
            <a:spLocks noGrp="1" noRot="1" noChangeAspect="1"/>
          </p:cNvSpPr>
          <p:nvPr>
            <p:ph type="sldImg" idx="2"/>
          </p:nvPr>
        </p:nvSpPr>
        <p:spPr>
          <a:xfrm>
            <a:off x="931863" y="741363"/>
            <a:ext cx="4933950" cy="370205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9450" y="4691063"/>
            <a:ext cx="5438775" cy="4443412"/>
          </a:xfrm>
          <a:prstGeom prst="rect">
            <a:avLst/>
          </a:prstGeom>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378950"/>
            <a:ext cx="2946400" cy="493713"/>
          </a:xfrm>
          <a:prstGeom prst="rect">
            <a:avLst/>
          </a:prstGeom>
        </p:spPr>
        <p:txBody>
          <a:bodyPr vert="horz" lIns="91440" tIns="45720" rIns="91440" bIns="45720" rtlCol="0" anchor="b"/>
          <a:lstStyle>
            <a:lvl1pPr algn="l" eaLnBrk="1" hangingPunct="1">
              <a:defRPr sz="1200">
                <a:latin typeface="Arial" charset="0"/>
                <a:ea typeface="宋体"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a:xfrm>
            <a:off x="3849688" y="9378950"/>
            <a:ext cx="2946400" cy="493713"/>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61BD41FF-AB16-4CFC-914B-C1CF5FB9A5F0}" type="slidenum">
              <a:rPr lang="zh-CN" altLang="en-US"/>
              <a:pPr/>
              <a:t>‹#›</a:t>
            </a:fld>
            <a:endParaRPr lang="en-US" altLang="zh-CN"/>
          </a:p>
        </p:txBody>
      </p:sp>
    </p:spTree>
    <p:extLst>
      <p:ext uri="{BB962C8B-B14F-4D97-AF65-F5344CB8AC3E}">
        <p14:creationId xmlns:p14="http://schemas.microsoft.com/office/powerpoint/2010/main" val="24777945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 Id="rId6" Type="http://schemas.openxmlformats.org/officeDocument/2006/relationships/image" Target="../media/image9.jpeg"/><Relationship Id="rId5" Type="http://schemas.openxmlformats.org/officeDocument/2006/relationships/image" Target="../media/image8.wmf"/><Relationship Id="rId4" Type="http://schemas.openxmlformats.org/officeDocument/2006/relationships/image" Target="../media/image7.w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11"/>
          <p:cNvSpPr>
            <a:spLocks noChangeArrowheads="1"/>
          </p:cNvSpPr>
          <p:nvPr userDrawn="1"/>
        </p:nvSpPr>
        <p:spPr bwMode="auto">
          <a:xfrm>
            <a:off x="1835150" y="574675"/>
            <a:ext cx="7197725" cy="71438"/>
          </a:xfrm>
          <a:prstGeom prst="rect">
            <a:avLst/>
          </a:prstGeom>
          <a:gradFill rotWithShape="1">
            <a:gsLst>
              <a:gs pos="0">
                <a:schemeClr val="bg1">
                  <a:alpha val="0"/>
                </a:schemeClr>
              </a:gs>
              <a:gs pos="100000">
                <a:schemeClr val="bg1">
                  <a:gamma/>
                  <a:tint val="0"/>
                  <a:invGamma/>
                </a:schemeClr>
              </a:gs>
            </a:gsLst>
            <a:lin ang="0" scaled="1"/>
          </a:gradFill>
          <a:ln w="19050" algn="ctr">
            <a:noFill/>
            <a:miter lim="800000"/>
            <a:headEnd/>
            <a:tailEnd/>
          </a:ln>
          <a:effectLst/>
        </p:spPr>
        <p:txBody>
          <a:bodyPr wrap="none" anchor="ctr"/>
          <a:lstStyle/>
          <a:p>
            <a:pPr eaLnBrk="1" hangingPunct="1">
              <a:defRPr/>
            </a:pPr>
            <a:endParaRPr lang="zh-CN" altLang="en-US"/>
          </a:p>
        </p:txBody>
      </p:sp>
      <p:sp>
        <p:nvSpPr>
          <p:cNvPr id="5" name="Rectangle 5"/>
          <p:cNvSpPr>
            <a:spLocks noChangeArrowheads="1"/>
          </p:cNvSpPr>
          <p:nvPr userDrawn="1"/>
        </p:nvSpPr>
        <p:spPr bwMode="auto">
          <a:xfrm>
            <a:off x="4826000" y="179388"/>
            <a:ext cx="4318000" cy="71437"/>
          </a:xfrm>
          <a:prstGeom prst="rect">
            <a:avLst/>
          </a:prstGeom>
          <a:gradFill rotWithShape="1">
            <a:gsLst>
              <a:gs pos="0">
                <a:schemeClr val="bg1">
                  <a:gamma/>
                  <a:tint val="0"/>
                  <a:invGamma/>
                </a:schemeClr>
              </a:gs>
              <a:gs pos="100000">
                <a:schemeClr val="bg1">
                  <a:alpha val="20000"/>
                </a:schemeClr>
              </a:gs>
            </a:gsLst>
            <a:lin ang="0" scaled="1"/>
          </a:gradFill>
          <a:ln w="19050" algn="ctr">
            <a:noFill/>
            <a:miter lim="800000"/>
            <a:headEnd/>
            <a:tailEnd/>
          </a:ln>
          <a:effectLst/>
        </p:spPr>
        <p:txBody>
          <a:bodyPr wrap="none" anchor="ctr"/>
          <a:lstStyle/>
          <a:p>
            <a:pPr eaLnBrk="1" hangingPunct="1">
              <a:defRPr/>
            </a:pPr>
            <a:endParaRPr lang="zh-CN" altLang="en-US"/>
          </a:p>
        </p:txBody>
      </p:sp>
      <p:pic>
        <p:nvPicPr>
          <p:cNvPr id="6" name="Picture 6" descr="xm_3"/>
          <p:cNvPicPr>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553200" y="179388"/>
            <a:ext cx="755650" cy="503237"/>
          </a:xfrm>
          <a:prstGeom prst="rect">
            <a:avLst/>
          </a:prstGeom>
          <a:noFill/>
          <a:ln w="12700">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7" name="Picture 7" descr="xm_5"/>
          <p:cNvPicPr>
            <a:picLocks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308850" y="179388"/>
            <a:ext cx="755650" cy="503237"/>
          </a:xfrm>
          <a:prstGeom prst="rect">
            <a:avLst/>
          </a:prstGeom>
          <a:noFill/>
          <a:ln w="12700">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8" name="Picture 8"/>
          <p:cNvPicPr preferRelativeResize="0">
            <a:picLocks noChangeArrowheads="1"/>
          </p:cNvPicPr>
          <p:nvPr userDrawn="1"/>
        </p:nvPicPr>
        <p:blipFill>
          <a:blip r:embed="rId4" cstate="print">
            <a:extLst>
              <a:ext uri="{28A0092B-C50C-407E-A947-70E740481C1C}">
                <a14:useLocalDpi xmlns:a14="http://schemas.microsoft.com/office/drawing/2010/main" val="0"/>
              </a:ext>
            </a:extLst>
          </a:blip>
          <a:srcRect r="2878"/>
          <a:stretch>
            <a:fillRect/>
          </a:stretch>
        </p:blipFill>
        <p:spPr bwMode="auto">
          <a:xfrm>
            <a:off x="5041900" y="179388"/>
            <a:ext cx="755650" cy="503237"/>
          </a:xfrm>
          <a:prstGeom prst="rect">
            <a:avLst/>
          </a:prstGeom>
          <a:noFill/>
          <a:ln w="12700">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9" name="Picture 9"/>
          <p:cNvPicPr preferRelativeResize="0">
            <a:picLocks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5797550" y="179388"/>
            <a:ext cx="755650" cy="503237"/>
          </a:xfrm>
          <a:prstGeom prst="rect">
            <a:avLst/>
          </a:prstGeom>
          <a:noFill/>
          <a:ln w="12700">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10" name="Picture 10" descr="DPP_0016"/>
          <p:cNvPicPr>
            <a:picLocks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8064500" y="179388"/>
            <a:ext cx="755650" cy="503237"/>
          </a:xfrm>
          <a:prstGeom prst="rect">
            <a:avLst/>
          </a:prstGeom>
          <a:noFill/>
          <a:ln w="12700">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10242" name="Rectangle 2"/>
          <p:cNvSpPr>
            <a:spLocks noGrp="1" noChangeArrowheads="1"/>
          </p:cNvSpPr>
          <p:nvPr>
            <p:ph type="ctrTitle"/>
          </p:nvPr>
        </p:nvSpPr>
        <p:spPr>
          <a:xfrm>
            <a:off x="685800" y="1798638"/>
            <a:ext cx="7772400" cy="1470025"/>
          </a:xfrm>
        </p:spPr>
        <p:txBody>
          <a:bodyPr anchorCtr="1"/>
          <a:lstStyle>
            <a:lvl1pPr>
              <a:defRPr sz="4400" b="1">
                <a:solidFill>
                  <a:schemeClr val="bg1"/>
                </a:solidFill>
              </a:defRPr>
            </a:lvl1pPr>
          </a:lstStyle>
          <a:p>
            <a:r>
              <a:rPr lang="zh-CN" altLang="en-US"/>
              <a:t>单击此处编辑母版标题样式</a:t>
            </a:r>
          </a:p>
        </p:txBody>
      </p:sp>
      <p:sp>
        <p:nvSpPr>
          <p:cNvPr id="10243" name="Rectangle 3"/>
          <p:cNvSpPr>
            <a:spLocks noGrp="1" noChangeArrowheads="1"/>
          </p:cNvSpPr>
          <p:nvPr>
            <p:ph type="subTitle" idx="1"/>
          </p:nvPr>
        </p:nvSpPr>
        <p:spPr>
          <a:xfrm>
            <a:off x="1371600" y="3957638"/>
            <a:ext cx="6400800" cy="1079500"/>
          </a:xfrm>
        </p:spPr>
        <p:txBody>
          <a:bodyPr anchor="ctr" anchorCtr="1"/>
          <a:lstStyle>
            <a:lvl1pPr marL="0" indent="0" algn="ctr">
              <a:buFontTx/>
              <a:buNone/>
              <a:defRPr sz="2400">
                <a:solidFill>
                  <a:schemeClr val="bg1"/>
                </a:solidFill>
              </a:defRPr>
            </a:lvl1pPr>
          </a:lstStyle>
          <a:p>
            <a:r>
              <a:rPr lang="zh-CN" altLang="en-US"/>
              <a:t>单击此处编辑母版副标题样式</a:t>
            </a:r>
          </a:p>
        </p:txBody>
      </p:sp>
    </p:spTree>
    <p:extLst>
      <p:ext uri="{BB962C8B-B14F-4D97-AF65-F5344CB8AC3E}">
        <p14:creationId xmlns:p14="http://schemas.microsoft.com/office/powerpoint/2010/main" val="1024030454"/>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chemeClr val="accent2"/>
                </a:solidFill>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84845937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80347479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31800" y="1268413"/>
            <a:ext cx="40386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2800" y="1268413"/>
            <a:ext cx="40386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1811034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5589451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79456661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9866095"/>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45514723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78691486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2675509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65950" y="188913"/>
            <a:ext cx="2178050" cy="61452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31800" y="188913"/>
            <a:ext cx="6381750" cy="61452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33801674"/>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23963" y="252413"/>
            <a:ext cx="6186487" cy="665162"/>
          </a:xfrm>
        </p:spPr>
        <p:txBody>
          <a:bodyPr/>
          <a:lstStyle/>
          <a:p>
            <a:r>
              <a:rPr lang="zh-CN" altLang="en-US"/>
              <a:t>单击此处编辑母版标题样式</a:t>
            </a:r>
          </a:p>
        </p:txBody>
      </p:sp>
      <p:sp>
        <p:nvSpPr>
          <p:cNvPr id="3" name="文本占位符 2"/>
          <p:cNvSpPr>
            <a:spLocks noGrp="1"/>
          </p:cNvSpPr>
          <p:nvPr>
            <p:ph type="body" sz="half" idx="1"/>
          </p:nvPr>
        </p:nvSpPr>
        <p:spPr>
          <a:xfrm>
            <a:off x="431800" y="1268413"/>
            <a:ext cx="4038600" cy="50657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2800" y="1268413"/>
            <a:ext cx="4038600" cy="50657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4851700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223963" y="252413"/>
            <a:ext cx="6186487" cy="665162"/>
          </a:xfrm>
        </p:spPr>
        <p:txBody>
          <a:bodyPr/>
          <a:lstStyle/>
          <a:p>
            <a:r>
              <a:rPr lang="zh-CN" altLang="en-US"/>
              <a:t>单击此处编辑母版标题样式</a:t>
            </a:r>
          </a:p>
        </p:txBody>
      </p:sp>
      <p:sp>
        <p:nvSpPr>
          <p:cNvPr id="3" name="表格占位符 2"/>
          <p:cNvSpPr>
            <a:spLocks noGrp="1"/>
          </p:cNvSpPr>
          <p:nvPr>
            <p:ph type="tbl" idx="1"/>
          </p:nvPr>
        </p:nvSpPr>
        <p:spPr>
          <a:xfrm>
            <a:off x="431800" y="1268413"/>
            <a:ext cx="8229600" cy="5065712"/>
          </a:xfrm>
        </p:spPr>
        <p:txBody>
          <a:bodyPr/>
          <a:lstStyle/>
          <a:p>
            <a:pPr lvl="0"/>
            <a:endParaRPr lang="zh-CN" altLang="en-US" noProof="0"/>
          </a:p>
        </p:txBody>
      </p:sp>
    </p:spTree>
    <p:extLst>
      <p:ext uri="{BB962C8B-B14F-4D97-AF65-F5344CB8AC3E}">
        <p14:creationId xmlns:p14="http://schemas.microsoft.com/office/powerpoint/2010/main" val="22506317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981200"/>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981200"/>
            <a:ext cx="3810000" cy="19812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114800"/>
            <a:ext cx="3810000" cy="19812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685800" y="6248400"/>
            <a:ext cx="1905000" cy="457200"/>
          </a:xfrm>
        </p:spPr>
        <p:txBody>
          <a:bodyPr/>
          <a:lstStyle>
            <a:lvl1pPr>
              <a:defRPr>
                <a:latin typeface="Arial" panose="020B0604020202020204" pitchFamily="34" charset="0"/>
                <a:ea typeface="宋体" panose="02010600030101010101" pitchFamily="2" charset="-122"/>
              </a:defRPr>
            </a:lvl1pPr>
          </a:lstStyle>
          <a:p>
            <a:pPr>
              <a:defRPr/>
            </a:pPr>
            <a:endParaRPr lang="en-US" altLang="zh-CN"/>
          </a:p>
        </p:txBody>
      </p:sp>
      <p:sp>
        <p:nvSpPr>
          <p:cNvPr id="7" name="页脚占位符 6"/>
          <p:cNvSpPr>
            <a:spLocks noGrp="1"/>
          </p:cNvSpPr>
          <p:nvPr>
            <p:ph type="ftr" sz="quarter" idx="11"/>
          </p:nvPr>
        </p:nvSpPr>
        <p:spPr>
          <a:xfrm>
            <a:off x="3124200" y="6248400"/>
            <a:ext cx="2895600" cy="457200"/>
          </a:xfrm>
        </p:spPr>
        <p:txBody>
          <a:bodyPr/>
          <a:lstStyle>
            <a:lvl1pPr>
              <a:defRPr>
                <a:latin typeface="Arial" panose="020B0604020202020204" pitchFamily="34" charset="0"/>
                <a:ea typeface="宋体" panose="02010600030101010101" pitchFamily="2" charset="-122"/>
              </a:defRPr>
            </a:lvl1pPr>
          </a:lstStyle>
          <a:p>
            <a:pPr>
              <a:defRPr/>
            </a:pPr>
            <a:endParaRPr lang="en-US" altLang="zh-CN"/>
          </a:p>
        </p:txBody>
      </p:sp>
      <p:sp>
        <p:nvSpPr>
          <p:cNvPr id="8" name="灯片编号占位符 7"/>
          <p:cNvSpPr>
            <a:spLocks noGrp="1"/>
          </p:cNvSpPr>
          <p:nvPr>
            <p:ph type="sldNum" sz="quarter" idx="12"/>
          </p:nvPr>
        </p:nvSpPr>
        <p:spPr>
          <a:xfrm>
            <a:off x="6553200" y="6248400"/>
            <a:ext cx="1905000" cy="457200"/>
          </a:xfrm>
        </p:spPr>
        <p:txBody>
          <a:bodyPr vert="horz" wrap="square" lIns="91440" tIns="45720" rIns="91440" bIns="45720" numCol="1" anchor="t" anchorCtr="0" compatLnSpc="1">
            <a:prstTxWarp prst="textNoShape">
              <a:avLst/>
            </a:prstTxWarp>
          </a:bodyPr>
          <a:lstStyle>
            <a:lvl1pPr>
              <a:defRPr/>
            </a:lvl1pPr>
          </a:lstStyle>
          <a:p>
            <a:fld id="{E10A9623-BFCE-407F-9E6E-9114FC5A354F}" type="slidenum">
              <a:rPr lang="en-US" altLang="zh-CN"/>
              <a:pPr/>
              <a:t>‹#›</a:t>
            </a:fld>
            <a:endParaRPr lang="en-US" altLang="zh-CN"/>
          </a:p>
        </p:txBody>
      </p:sp>
    </p:spTree>
    <p:extLst>
      <p:ext uri="{BB962C8B-B14F-4D97-AF65-F5344CB8AC3E}">
        <p14:creationId xmlns:p14="http://schemas.microsoft.com/office/powerpoint/2010/main" val="712071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descr="C:\Users\Administrator\Desktop\北航经管学院宣传册定稿-中文3.jpg"/>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7313" y="233363"/>
            <a:ext cx="7750175"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6" descr="C:\Users\Administrator\Desktop\北航经管学院宣传册定稿-中文.jpg"/>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147050" y="5940425"/>
            <a:ext cx="996950"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2"/>
          <p:cNvSpPr>
            <a:spLocks noGrp="1" noChangeArrowheads="1"/>
          </p:cNvSpPr>
          <p:nvPr>
            <p:ph type="title"/>
          </p:nvPr>
        </p:nvSpPr>
        <p:spPr bwMode="auto">
          <a:xfrm>
            <a:off x="1223963" y="252413"/>
            <a:ext cx="6186487"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zh-CN" altLang="en-US"/>
              <a:t>单击此处编辑母版标题样式</a:t>
            </a:r>
          </a:p>
        </p:txBody>
      </p:sp>
      <p:sp>
        <p:nvSpPr>
          <p:cNvPr id="1029" name="Rectangle 3"/>
          <p:cNvSpPr>
            <a:spLocks noGrp="1" noChangeArrowheads="1"/>
          </p:cNvSpPr>
          <p:nvPr>
            <p:ph type="body" idx="1"/>
          </p:nvPr>
        </p:nvSpPr>
        <p:spPr bwMode="auto">
          <a:xfrm>
            <a:off x="431800" y="1268413"/>
            <a:ext cx="8229600" cy="506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p:txBody>
      </p:sp>
      <p:pic>
        <p:nvPicPr>
          <p:cNvPr id="1030" name="Picture 4" descr="E:\工作图片\北航\北航图片\200612201135133973.jpg"/>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986713" y="233363"/>
            <a:ext cx="1016000"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81" r:id="rId1"/>
    <p:sldLayoutId id="2147484869" r:id="rId2"/>
    <p:sldLayoutId id="2147484870" r:id="rId3"/>
    <p:sldLayoutId id="2147484871" r:id="rId4"/>
    <p:sldLayoutId id="2147484872" r:id="rId5"/>
    <p:sldLayoutId id="2147484873" r:id="rId6"/>
    <p:sldLayoutId id="2147484874" r:id="rId7"/>
    <p:sldLayoutId id="2147484875" r:id="rId8"/>
    <p:sldLayoutId id="2147484876" r:id="rId9"/>
    <p:sldLayoutId id="2147484877" r:id="rId10"/>
    <p:sldLayoutId id="2147484878" r:id="rId11"/>
    <p:sldLayoutId id="2147484879" r:id="rId12"/>
    <p:sldLayoutId id="2147484880" r:id="rId13"/>
    <p:sldLayoutId id="2147484882" r:id="rId14"/>
  </p:sldLayoutIdLst>
  <p:transition>
    <p:fade/>
  </p:transition>
  <p:hf sldNum="0" hdr="0" ftr="0" dt="0"/>
  <p:txStyles>
    <p:titleStyle>
      <a:lvl1pPr algn="r" rtl="0" eaLnBrk="0" fontAlgn="base" hangingPunct="0">
        <a:spcBef>
          <a:spcPct val="0"/>
        </a:spcBef>
        <a:spcAft>
          <a:spcPct val="0"/>
        </a:spcAft>
        <a:defRPr sz="3200" b="1">
          <a:solidFill>
            <a:schemeClr val="bg1"/>
          </a:solidFill>
          <a:latin typeface="+mj-ea"/>
          <a:ea typeface="+mj-ea"/>
          <a:cs typeface="+mj-cs"/>
        </a:defRPr>
      </a:lvl1pPr>
      <a:lvl2pPr algn="r" rtl="0" eaLnBrk="0" fontAlgn="base" hangingPunct="0">
        <a:spcBef>
          <a:spcPct val="0"/>
        </a:spcBef>
        <a:spcAft>
          <a:spcPct val="0"/>
        </a:spcAft>
        <a:defRPr sz="3200" b="1">
          <a:solidFill>
            <a:schemeClr val="bg1"/>
          </a:solidFill>
          <a:latin typeface="黑体" pitchFamily="49" charset="-122"/>
          <a:ea typeface="黑体" pitchFamily="49" charset="-122"/>
        </a:defRPr>
      </a:lvl2pPr>
      <a:lvl3pPr algn="r" rtl="0" eaLnBrk="0" fontAlgn="base" hangingPunct="0">
        <a:spcBef>
          <a:spcPct val="0"/>
        </a:spcBef>
        <a:spcAft>
          <a:spcPct val="0"/>
        </a:spcAft>
        <a:defRPr sz="3200" b="1">
          <a:solidFill>
            <a:schemeClr val="bg1"/>
          </a:solidFill>
          <a:latin typeface="黑体" pitchFamily="49" charset="-122"/>
          <a:ea typeface="黑体" pitchFamily="49" charset="-122"/>
        </a:defRPr>
      </a:lvl3pPr>
      <a:lvl4pPr algn="r" rtl="0" eaLnBrk="0" fontAlgn="base" hangingPunct="0">
        <a:spcBef>
          <a:spcPct val="0"/>
        </a:spcBef>
        <a:spcAft>
          <a:spcPct val="0"/>
        </a:spcAft>
        <a:defRPr sz="3200" b="1">
          <a:solidFill>
            <a:schemeClr val="bg1"/>
          </a:solidFill>
          <a:latin typeface="黑体" pitchFamily="49" charset="-122"/>
          <a:ea typeface="黑体" pitchFamily="49" charset="-122"/>
        </a:defRPr>
      </a:lvl4pPr>
      <a:lvl5pPr algn="r" rtl="0" eaLnBrk="0" fontAlgn="base" hangingPunct="0">
        <a:spcBef>
          <a:spcPct val="0"/>
        </a:spcBef>
        <a:spcAft>
          <a:spcPct val="0"/>
        </a:spcAft>
        <a:defRPr sz="3200" b="1">
          <a:solidFill>
            <a:schemeClr val="bg1"/>
          </a:solidFill>
          <a:latin typeface="黑体" pitchFamily="49" charset="-122"/>
          <a:ea typeface="黑体" pitchFamily="49" charset="-122"/>
        </a:defRPr>
      </a:lvl5pPr>
      <a:lvl6pPr marL="457200" algn="ctr" rtl="0" fontAlgn="base">
        <a:spcBef>
          <a:spcPct val="0"/>
        </a:spcBef>
        <a:spcAft>
          <a:spcPct val="0"/>
        </a:spcAft>
        <a:defRPr sz="3200">
          <a:solidFill>
            <a:schemeClr val="tx2"/>
          </a:solidFill>
          <a:latin typeface="Arial" charset="0"/>
          <a:ea typeface="黑体" pitchFamily="49" charset="-122"/>
        </a:defRPr>
      </a:lvl6pPr>
      <a:lvl7pPr marL="914400" algn="ctr" rtl="0" fontAlgn="base">
        <a:spcBef>
          <a:spcPct val="0"/>
        </a:spcBef>
        <a:spcAft>
          <a:spcPct val="0"/>
        </a:spcAft>
        <a:defRPr sz="3200">
          <a:solidFill>
            <a:schemeClr val="tx2"/>
          </a:solidFill>
          <a:latin typeface="Arial" charset="0"/>
          <a:ea typeface="黑体" pitchFamily="49" charset="-122"/>
        </a:defRPr>
      </a:lvl7pPr>
      <a:lvl8pPr marL="1371600" algn="ctr" rtl="0" fontAlgn="base">
        <a:spcBef>
          <a:spcPct val="0"/>
        </a:spcBef>
        <a:spcAft>
          <a:spcPct val="0"/>
        </a:spcAft>
        <a:defRPr sz="3200">
          <a:solidFill>
            <a:schemeClr val="tx2"/>
          </a:solidFill>
          <a:latin typeface="Arial" charset="0"/>
          <a:ea typeface="黑体" pitchFamily="49" charset="-122"/>
        </a:defRPr>
      </a:lvl8pPr>
      <a:lvl9pPr marL="1828800" algn="ctr" rtl="0" fontAlgn="base">
        <a:spcBef>
          <a:spcPct val="0"/>
        </a:spcBef>
        <a:spcAft>
          <a:spcPct val="0"/>
        </a:spcAft>
        <a:defRPr sz="3200">
          <a:solidFill>
            <a:schemeClr val="tx2"/>
          </a:solidFill>
          <a:latin typeface="Arial" charset="0"/>
          <a:ea typeface="黑体" pitchFamily="49" charset="-122"/>
        </a:defRPr>
      </a:lvl9pPr>
    </p:titleStyle>
    <p:bodyStyle>
      <a:lvl1pPr marL="449263" indent="-449263" algn="l" rtl="0" eaLnBrk="0" fontAlgn="base" hangingPunct="0">
        <a:lnSpc>
          <a:spcPct val="110000"/>
        </a:lnSpc>
        <a:spcBef>
          <a:spcPct val="20000"/>
        </a:spcBef>
        <a:spcAft>
          <a:spcPct val="0"/>
        </a:spcAft>
        <a:buSzPct val="120000"/>
        <a:buBlip>
          <a:blip r:embed="rId19"/>
        </a:buBlip>
        <a:defRPr sz="2800">
          <a:solidFill>
            <a:schemeClr val="tx1"/>
          </a:solidFill>
          <a:latin typeface="+mj-ea"/>
          <a:ea typeface="+mj-ea"/>
          <a:cs typeface="+mn-cs"/>
        </a:defRPr>
      </a:lvl1pPr>
      <a:lvl2pPr marL="914400" indent="-285750" algn="l" rtl="0" eaLnBrk="0" fontAlgn="base" hangingPunct="0">
        <a:lnSpc>
          <a:spcPct val="110000"/>
        </a:lnSpc>
        <a:spcBef>
          <a:spcPct val="20000"/>
        </a:spcBef>
        <a:spcAft>
          <a:spcPct val="0"/>
        </a:spcAft>
        <a:buClr>
          <a:srgbClr val="000066"/>
        </a:buClr>
        <a:buBlip>
          <a:blip r:embed="rId19"/>
        </a:buBlip>
        <a:defRPr sz="2400">
          <a:solidFill>
            <a:schemeClr val="tx1"/>
          </a:solidFill>
          <a:latin typeface="+mj-ea"/>
          <a:ea typeface="+mj-ea"/>
        </a:defRPr>
      </a:lvl2pPr>
      <a:lvl3pPr marL="1322388" indent="-228600" algn="l" rtl="0" eaLnBrk="0" fontAlgn="base" hangingPunct="0">
        <a:spcBef>
          <a:spcPct val="20000"/>
        </a:spcBef>
        <a:spcAft>
          <a:spcPct val="0"/>
        </a:spcAft>
        <a:buChar char="•"/>
        <a:defRPr sz="2400">
          <a:solidFill>
            <a:schemeClr val="tx1"/>
          </a:solidFill>
          <a:latin typeface="+mn-lt"/>
          <a:ea typeface="宋体" pitchFamily="2" charset="-122"/>
        </a:defRPr>
      </a:lvl3pPr>
      <a:lvl4pPr marL="1730375" indent="-228600" algn="l" rtl="0" eaLnBrk="0" fontAlgn="base" hangingPunct="0">
        <a:spcBef>
          <a:spcPct val="20000"/>
        </a:spcBef>
        <a:spcAft>
          <a:spcPct val="0"/>
        </a:spcAft>
        <a:buChar char="–"/>
        <a:defRPr sz="2000">
          <a:solidFill>
            <a:schemeClr val="tx1"/>
          </a:solidFill>
          <a:latin typeface="+mn-lt"/>
          <a:ea typeface="宋体" pitchFamily="2" charset="-122"/>
        </a:defRPr>
      </a:lvl4pPr>
      <a:lvl5pPr marL="2138363" indent="-228600" algn="l" rtl="0" eaLnBrk="0" fontAlgn="base" hangingPunct="0">
        <a:spcBef>
          <a:spcPct val="20000"/>
        </a:spcBef>
        <a:spcAft>
          <a:spcPct val="0"/>
        </a:spcAft>
        <a:buChar char="»"/>
        <a:defRPr sz="2000">
          <a:solidFill>
            <a:schemeClr val="tx1"/>
          </a:solidFill>
          <a:latin typeface="+mn-lt"/>
          <a:ea typeface="宋体" pitchFamily="2" charset="-122"/>
        </a:defRPr>
      </a:lvl5pPr>
      <a:lvl6pPr marL="2595563" indent="-228600" algn="l" rtl="0" fontAlgn="base">
        <a:spcBef>
          <a:spcPct val="20000"/>
        </a:spcBef>
        <a:spcAft>
          <a:spcPct val="0"/>
        </a:spcAft>
        <a:buChar char="»"/>
        <a:defRPr sz="2000">
          <a:solidFill>
            <a:schemeClr val="tx1"/>
          </a:solidFill>
          <a:latin typeface="+mn-lt"/>
          <a:ea typeface="宋体" pitchFamily="2" charset="-122"/>
        </a:defRPr>
      </a:lvl6pPr>
      <a:lvl7pPr marL="3052763" indent="-228600" algn="l" rtl="0" fontAlgn="base">
        <a:spcBef>
          <a:spcPct val="20000"/>
        </a:spcBef>
        <a:spcAft>
          <a:spcPct val="0"/>
        </a:spcAft>
        <a:buChar char="»"/>
        <a:defRPr sz="2000">
          <a:solidFill>
            <a:schemeClr val="tx1"/>
          </a:solidFill>
          <a:latin typeface="+mn-lt"/>
          <a:ea typeface="宋体" pitchFamily="2" charset="-122"/>
        </a:defRPr>
      </a:lvl7pPr>
      <a:lvl8pPr marL="3509963" indent="-228600" algn="l" rtl="0" fontAlgn="base">
        <a:spcBef>
          <a:spcPct val="20000"/>
        </a:spcBef>
        <a:spcAft>
          <a:spcPct val="0"/>
        </a:spcAft>
        <a:buChar char="»"/>
        <a:defRPr sz="2000">
          <a:solidFill>
            <a:schemeClr val="tx1"/>
          </a:solidFill>
          <a:latin typeface="+mn-lt"/>
          <a:ea typeface="宋体" pitchFamily="2" charset="-122"/>
        </a:defRPr>
      </a:lvl8pPr>
      <a:lvl9pPr marL="3967163" indent="-228600" algn="l" rtl="0" fontAlgn="base">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1.png"/><Relationship Id="rId1" Type="http://schemas.openxmlformats.org/officeDocument/2006/relationships/slideLayout" Target="../slideLayouts/slideLayout14.xml"/><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chart" Target="../charts/chart2.xml"/><Relationship Id="rId1" Type="http://schemas.openxmlformats.org/officeDocument/2006/relationships/slideLayout" Target="../slideLayouts/slideLayout14.xml"/><Relationship Id="rId4" Type="http://schemas.openxmlformats.org/officeDocument/2006/relationships/image" Target="../media/image46.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4.xml"/><Relationship Id="rId1" Type="http://schemas.openxmlformats.org/officeDocument/2006/relationships/tags" Target="../tags/tag1.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4.xml"/><Relationship Id="rId1" Type="http://schemas.openxmlformats.org/officeDocument/2006/relationships/tags" Target="../tags/tag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4.xml"/><Relationship Id="rId1" Type="http://schemas.openxmlformats.org/officeDocument/2006/relationships/tags" Target="../tags/tag3.xml"/><Relationship Id="rId4" Type="http://schemas.openxmlformats.org/officeDocument/2006/relationships/image" Target="../media/image50.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4.xml"/><Relationship Id="rId1" Type="http://schemas.openxmlformats.org/officeDocument/2006/relationships/tags" Target="../tags/tag4.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4.xml"/><Relationship Id="rId1" Type="http://schemas.openxmlformats.org/officeDocument/2006/relationships/tags" Target="../tags/tag5.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4.xml"/><Relationship Id="rId1" Type="http://schemas.openxmlformats.org/officeDocument/2006/relationships/tags" Target="../tags/tag7.xml"/><Relationship Id="rId4" Type="http://schemas.openxmlformats.org/officeDocument/2006/relationships/image" Target="../media/image55.png"/></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24.wmf"/><Relationship Id="rId3" Type="http://schemas.openxmlformats.org/officeDocument/2006/relationships/image" Target="../media/image530.png"/><Relationship Id="rId7" Type="http://schemas.openxmlformats.org/officeDocument/2006/relationships/image" Target="../media/image21.wmf"/><Relationship Id="rId12" Type="http://schemas.openxmlformats.org/officeDocument/2006/relationships/oleObject" Target="../embeddings/oleObject5.bin"/><Relationship Id="rId2" Type="http://schemas.openxmlformats.org/officeDocument/2006/relationships/slideLayout" Target="../slideLayouts/slideLayout14.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23.wmf"/><Relationship Id="rId5" Type="http://schemas.openxmlformats.org/officeDocument/2006/relationships/image" Target="../media/image20.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22.wmf"/></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72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80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66.wmf"/><Relationship Id="rId11" Type="http://schemas.openxmlformats.org/officeDocument/2006/relationships/image" Target="../media/image69.png"/><Relationship Id="rId5" Type="http://schemas.openxmlformats.org/officeDocument/2006/relationships/oleObject" Target="../embeddings/oleObject7.bin"/><Relationship Id="rId10" Type="http://schemas.openxmlformats.org/officeDocument/2006/relationships/image" Target="../media/image68.wmf"/><Relationship Id="rId4" Type="http://schemas.openxmlformats.org/officeDocument/2006/relationships/image" Target="../media/image65.wmf"/><Relationship Id="rId9" Type="http://schemas.openxmlformats.org/officeDocument/2006/relationships/oleObject" Target="../embeddings/oleObject9.bin"/></Relationships>
</file>

<file path=ppt/slides/_rels/slide5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72.wmf"/><Relationship Id="rId5" Type="http://schemas.openxmlformats.org/officeDocument/2006/relationships/oleObject" Target="../embeddings/oleObject11.bin"/><Relationship Id="rId4" Type="http://schemas.openxmlformats.org/officeDocument/2006/relationships/image" Target="../media/image71.wmf"/></Relationships>
</file>

<file path=ppt/slides/_rels/slide5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9"/>
          <p:cNvSpPr>
            <a:spLocks noChangeArrowheads="1"/>
          </p:cNvSpPr>
          <p:nvPr/>
        </p:nvSpPr>
        <p:spPr bwMode="ltGray">
          <a:xfrm>
            <a:off x="0" y="1593332"/>
            <a:ext cx="9144000" cy="1980253"/>
          </a:xfrm>
          <a:prstGeom prst="rect">
            <a:avLst/>
          </a:prstGeom>
          <a:solidFill>
            <a:srgbClr val="0070C0"/>
          </a:solidFill>
          <a:ln>
            <a:noFill/>
          </a:ln>
          <a:effectLst>
            <a:outerShdw blurRad="50800" dist="38100" dir="5400000" algn="t" rotWithShape="0">
              <a:srgbClr val="808080">
                <a:alpha val="39998"/>
              </a:srgbClr>
            </a:outerShdw>
          </a:effectLst>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eaLnBrk="1" hangingPunct="1">
              <a:lnSpc>
                <a:spcPct val="150000"/>
              </a:lnSpc>
            </a:pPr>
            <a:r>
              <a:rPr lang="zh-CN" altLang="en-US" sz="4000" b="1" dirty="0">
                <a:solidFill>
                  <a:schemeClr val="bg1"/>
                </a:solidFill>
                <a:latin typeface="微软雅黑" pitchFamily="34" charset="-122"/>
                <a:ea typeface="微软雅黑" pitchFamily="34" charset="-122"/>
              </a:rPr>
              <a:t>数据驱动的统计预测与决策</a:t>
            </a:r>
            <a:r>
              <a:rPr lang="zh-CN" altLang="en-US" sz="4000" b="1" dirty="0" smtClean="0">
                <a:solidFill>
                  <a:schemeClr val="bg1"/>
                </a:solidFill>
                <a:latin typeface="微软雅黑" pitchFamily="34" charset="-122"/>
                <a:ea typeface="微软雅黑" pitchFamily="34" charset="-122"/>
              </a:rPr>
              <a:t>方法</a:t>
            </a:r>
            <a:endParaRPr lang="en-US" altLang="zh-CN" sz="4000" b="1" dirty="0">
              <a:solidFill>
                <a:schemeClr val="bg1"/>
              </a:solidFill>
              <a:latin typeface="微软雅黑" pitchFamily="34" charset="-122"/>
              <a:ea typeface="微软雅黑" pitchFamily="34" charset="-122"/>
            </a:endParaRPr>
          </a:p>
        </p:txBody>
      </p:sp>
      <p:sp>
        <p:nvSpPr>
          <p:cNvPr id="3077" name="TextBox 1"/>
          <p:cNvSpPr txBox="1">
            <a:spLocks noChangeArrowheads="1"/>
          </p:cNvSpPr>
          <p:nvPr/>
        </p:nvSpPr>
        <p:spPr bwMode="auto">
          <a:xfrm>
            <a:off x="-49084" y="3692149"/>
            <a:ext cx="9144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algn="ctr" eaLnBrk="1" hangingPunct="1">
              <a:lnSpc>
                <a:spcPct val="150000"/>
              </a:lnSpc>
            </a:pPr>
            <a:r>
              <a:rPr lang="zh-CN" altLang="en-US" sz="2400" b="1" dirty="0">
                <a:solidFill>
                  <a:srgbClr val="0070C0"/>
                </a:solidFill>
                <a:latin typeface="微软雅黑" pitchFamily="34" charset="-122"/>
                <a:ea typeface="微软雅黑" pitchFamily="34" charset="-122"/>
              </a:rPr>
              <a:t>朱家明</a:t>
            </a:r>
            <a:endParaRPr lang="en-US" altLang="zh-CN" sz="2400" b="1" dirty="0">
              <a:solidFill>
                <a:srgbClr val="0070C0"/>
              </a:solidFill>
              <a:latin typeface="微软雅黑" pitchFamily="34" charset="-122"/>
              <a:ea typeface="微软雅黑" pitchFamily="34" charset="-122"/>
            </a:endParaRPr>
          </a:p>
          <a:p>
            <a:pPr algn="ctr" eaLnBrk="1" hangingPunct="1">
              <a:lnSpc>
                <a:spcPct val="150000"/>
              </a:lnSpc>
            </a:pPr>
            <a:r>
              <a:rPr lang="zh-CN" altLang="en-US" sz="2400" b="1" dirty="0">
                <a:solidFill>
                  <a:srgbClr val="0070C0"/>
                </a:solidFill>
                <a:latin typeface="微软雅黑" pitchFamily="34" charset="-122"/>
                <a:ea typeface="微软雅黑" pitchFamily="34" charset="-122"/>
              </a:rPr>
              <a:t>安徽大学互联网学院</a:t>
            </a:r>
            <a:endParaRPr lang="en-US" altLang="zh-CN" sz="2400" b="1" dirty="0">
              <a:solidFill>
                <a:srgbClr val="0070C0"/>
              </a:solidFill>
              <a:latin typeface="微软雅黑" pitchFamily="34" charset="-122"/>
              <a:ea typeface="微软雅黑" pitchFamily="34" charset="-122"/>
            </a:endParaRPr>
          </a:p>
        </p:txBody>
      </p:sp>
      <p:sp>
        <p:nvSpPr>
          <p:cNvPr id="63494" name="Rectangle 6"/>
          <p:cNvSpPr>
            <a:spLocks noChangeArrowheads="1"/>
          </p:cNvSpPr>
          <p:nvPr/>
        </p:nvSpPr>
        <p:spPr bwMode="auto">
          <a:xfrm>
            <a:off x="0" y="65088"/>
            <a:ext cx="9144000" cy="9001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latin typeface="+mn-ea"/>
              <a:ea typeface="+mn-ea"/>
            </a:endParaRPr>
          </a:p>
        </p:txBody>
      </p:sp>
      <p:pic>
        <p:nvPicPr>
          <p:cNvPr id="5128"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436" y="1"/>
            <a:ext cx="1556608" cy="154527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250825" y="1398588"/>
            <a:ext cx="8461375" cy="1079500"/>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a:defRPr/>
            </a:pPr>
            <a:endParaRPr lang="zh-CN" altLang="en-US">
              <a:solidFill>
                <a:schemeClr val="lt1"/>
              </a:solidFill>
              <a:latin typeface="+mn-lt"/>
              <a:ea typeface="+mn-ea"/>
            </a:endParaRPr>
          </a:p>
        </p:txBody>
      </p:sp>
      <p:sp>
        <p:nvSpPr>
          <p:cNvPr id="6146" name="Rectangle 2"/>
          <p:cNvSpPr>
            <a:spLocks noGrp="1" noChangeArrowheads="1"/>
          </p:cNvSpPr>
          <p:nvPr>
            <p:ph type="title"/>
          </p:nvPr>
        </p:nvSpPr>
        <p:spPr>
          <a:xfrm>
            <a:off x="1871663" y="0"/>
            <a:ext cx="3960812" cy="1143000"/>
          </a:xfrm>
        </p:spPr>
        <p:txBody>
          <a:bodyPr/>
          <a:lstStyle/>
          <a:p>
            <a:pPr algn="ctr" eaLnBrk="1" hangingPunct="1"/>
            <a:r>
              <a:rPr lang="zh-CN" altLang="en-US" sz="3600" dirty="0">
                <a:solidFill>
                  <a:schemeClr val="bg1"/>
                </a:solidFill>
                <a:latin typeface="微软雅黑" pitchFamily="34" charset="-122"/>
                <a:ea typeface="微软雅黑" pitchFamily="34" charset="-122"/>
              </a:rPr>
              <a:t>主要内容</a:t>
            </a:r>
          </a:p>
        </p:txBody>
      </p:sp>
      <p:sp>
        <p:nvSpPr>
          <p:cNvPr id="6147" name="Rectangle 3"/>
          <p:cNvSpPr>
            <a:spLocks noGrp="1" noChangeArrowheads="1"/>
          </p:cNvSpPr>
          <p:nvPr>
            <p:ph type="body" idx="1"/>
          </p:nvPr>
        </p:nvSpPr>
        <p:spPr>
          <a:xfrm>
            <a:off x="792163" y="1231900"/>
            <a:ext cx="7777162" cy="2376488"/>
          </a:xfrm>
        </p:spPr>
        <p:txBody>
          <a:bodyPr/>
          <a:lstStyle/>
          <a:p>
            <a:pPr marL="0" indent="0" eaLnBrk="1" hangingPunct="1">
              <a:lnSpc>
                <a:spcPct val="229000"/>
              </a:lnSpc>
              <a:buFontTx/>
              <a:buNone/>
            </a:pPr>
            <a:r>
              <a:rPr lang="zh-CN" altLang="en-US" sz="3200" b="1" dirty="0">
                <a:solidFill>
                  <a:srgbClr val="002060"/>
                </a:solidFill>
                <a:latin typeface="微软雅黑" pitchFamily="34" charset="-122"/>
                <a:ea typeface="微软雅黑" pitchFamily="34" charset="-122"/>
              </a:rPr>
              <a:t>一、统计数据的收集、整理与描述</a:t>
            </a:r>
            <a:endParaRPr lang="en-US" altLang="zh-CN" sz="3200" b="1" dirty="0">
              <a:solidFill>
                <a:srgbClr val="002060"/>
              </a:solidFill>
              <a:latin typeface="微软雅黑" pitchFamily="34" charset="-122"/>
              <a:ea typeface="微软雅黑" pitchFamily="34" charset="-122"/>
            </a:endParaRPr>
          </a:p>
          <a:p>
            <a:pPr marL="0" indent="0" eaLnBrk="1" hangingPunct="1">
              <a:lnSpc>
                <a:spcPct val="229000"/>
              </a:lnSpc>
              <a:buFontTx/>
              <a:buNone/>
            </a:pPr>
            <a:r>
              <a:rPr lang="zh-CN" altLang="en-US" sz="3200" b="1" dirty="0">
                <a:solidFill>
                  <a:srgbClr val="002060"/>
                </a:solidFill>
                <a:latin typeface="微软雅黑" pitchFamily="34" charset="-122"/>
                <a:ea typeface="微软雅黑" pitchFamily="34" charset="-122"/>
              </a:rPr>
              <a:t>二、数据驱动的统计预测方法</a:t>
            </a:r>
            <a:endParaRPr lang="en-US" altLang="zh-CN" sz="3200" b="1" dirty="0">
              <a:solidFill>
                <a:srgbClr val="002060"/>
              </a:solidFill>
              <a:latin typeface="微软雅黑" pitchFamily="34" charset="-122"/>
              <a:ea typeface="微软雅黑" pitchFamily="34" charset="-122"/>
            </a:endParaRPr>
          </a:p>
          <a:p>
            <a:pPr marL="0" indent="0" eaLnBrk="1" hangingPunct="1">
              <a:lnSpc>
                <a:spcPct val="229000"/>
              </a:lnSpc>
              <a:buFontTx/>
              <a:buNone/>
            </a:pPr>
            <a:r>
              <a:rPr lang="zh-CN" altLang="en-US" sz="3200" b="1" dirty="0">
                <a:solidFill>
                  <a:srgbClr val="002060"/>
                </a:solidFill>
                <a:latin typeface="微软雅黑" pitchFamily="34" charset="-122"/>
                <a:ea typeface="微软雅黑" pitchFamily="34" charset="-122"/>
              </a:rPr>
              <a:t>三</a:t>
            </a:r>
            <a:r>
              <a:rPr lang="en-US" altLang="zh-CN" sz="3200" b="1" dirty="0">
                <a:solidFill>
                  <a:srgbClr val="002060"/>
                </a:solidFill>
                <a:latin typeface="微软雅黑" pitchFamily="34" charset="-122"/>
                <a:ea typeface="微软雅黑" pitchFamily="34" charset="-122"/>
              </a:rPr>
              <a:t>.  </a:t>
            </a:r>
            <a:r>
              <a:rPr lang="zh-CN" altLang="en-US" sz="3200" b="1" dirty="0">
                <a:solidFill>
                  <a:srgbClr val="002060"/>
                </a:solidFill>
                <a:latin typeface="微软雅黑" pitchFamily="34" charset="-122"/>
                <a:ea typeface="微软雅黑" pitchFamily="34" charset="-122"/>
              </a:rPr>
              <a:t>数据驱动的统计风险决策方法</a:t>
            </a:r>
            <a:endParaRPr lang="en-US" altLang="zh-CN" sz="3200" b="1" dirty="0">
              <a:solidFill>
                <a:srgbClr val="002060"/>
              </a:solidFill>
              <a:latin typeface="微软雅黑" pitchFamily="34" charset="-122"/>
              <a:ea typeface="微软雅黑" pitchFamily="34" charset="-122"/>
            </a:endParaRPr>
          </a:p>
          <a:p>
            <a:pPr marL="0" indent="0" eaLnBrk="1" hangingPunct="1">
              <a:lnSpc>
                <a:spcPct val="229000"/>
              </a:lnSpc>
              <a:buFontTx/>
              <a:buNone/>
            </a:pPr>
            <a:r>
              <a:rPr lang="zh-CN" altLang="en-US" sz="3200" b="1" dirty="0">
                <a:solidFill>
                  <a:srgbClr val="002060"/>
                </a:solidFill>
                <a:latin typeface="微软雅黑" pitchFamily="34" charset="-122"/>
                <a:ea typeface="微软雅黑" pitchFamily="34" charset="-122"/>
              </a:rPr>
              <a:t>四</a:t>
            </a:r>
            <a:r>
              <a:rPr lang="en-US" altLang="zh-CN" sz="3200" b="1" dirty="0">
                <a:solidFill>
                  <a:srgbClr val="002060"/>
                </a:solidFill>
                <a:latin typeface="微软雅黑" pitchFamily="34" charset="-122"/>
                <a:ea typeface="微软雅黑" pitchFamily="34" charset="-122"/>
              </a:rPr>
              <a:t>.  </a:t>
            </a:r>
            <a:r>
              <a:rPr lang="zh-CN" altLang="en-US" sz="3200" b="1" dirty="0">
                <a:solidFill>
                  <a:srgbClr val="002060"/>
                </a:solidFill>
                <a:latin typeface="微软雅黑" pitchFamily="34" charset="-122"/>
                <a:ea typeface="微软雅黑" pitchFamily="34" charset="-122"/>
              </a:rPr>
              <a:t>总结</a:t>
            </a:r>
            <a:endParaRPr lang="en-US" altLang="zh-CN" sz="3200" b="1" dirty="0">
              <a:solidFill>
                <a:srgbClr val="002060"/>
              </a:solidFill>
              <a:latin typeface="微软雅黑" pitchFamily="34" charset="-122"/>
              <a:ea typeface="微软雅黑" pitchFamily="34" charset="-122"/>
            </a:endParaRPr>
          </a:p>
          <a:p>
            <a:pPr marL="0" indent="0" eaLnBrk="1" hangingPunct="1">
              <a:lnSpc>
                <a:spcPct val="250000"/>
              </a:lnSpc>
              <a:buFontTx/>
              <a:buNone/>
            </a:pPr>
            <a:endParaRPr lang="en-US" altLang="zh-CN" sz="3200" b="1" dirty="0">
              <a:solidFill>
                <a:srgbClr val="002060"/>
              </a:solidFill>
              <a:latin typeface="微软雅黑" pitchFamily="34" charset="-122"/>
              <a:ea typeface="微软雅黑" pitchFamily="34"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25"/>
          <p:cNvSpPr txBox="1">
            <a:spLocks noChangeArrowheads="1"/>
          </p:cNvSpPr>
          <p:nvPr/>
        </p:nvSpPr>
        <p:spPr bwMode="auto">
          <a:xfrm>
            <a:off x="117475" y="1117936"/>
            <a:ext cx="8775700" cy="557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a:spcBef>
                <a:spcPct val="50000"/>
              </a:spcBef>
              <a:buClr>
                <a:schemeClr val="folHlink"/>
              </a:buClr>
            </a:pPr>
            <a:r>
              <a:rPr kumimoji="1" lang="en-US" altLang="zh-CN" sz="3200" b="1" dirty="0">
                <a:solidFill>
                  <a:srgbClr val="002060"/>
                </a:solidFill>
                <a:latin typeface="微软雅黑" pitchFamily="34" charset="-122"/>
                <a:ea typeface="微软雅黑" pitchFamily="34" charset="-122"/>
              </a:rPr>
              <a:t>  </a:t>
            </a:r>
            <a:r>
              <a:rPr kumimoji="1" lang="en-US" altLang="zh-CN" sz="3200" b="1" dirty="0">
                <a:solidFill>
                  <a:srgbClr val="FF0000"/>
                </a:solidFill>
                <a:latin typeface="微软雅黑" pitchFamily="34" charset="-122"/>
                <a:ea typeface="微软雅黑" pitchFamily="34" charset="-122"/>
              </a:rPr>
              <a:t>1. </a:t>
            </a:r>
            <a:r>
              <a:rPr kumimoji="1" lang="zh-CN" altLang="en-US" sz="3200" b="1" dirty="0">
                <a:solidFill>
                  <a:srgbClr val="FF0000"/>
                </a:solidFill>
                <a:latin typeface="微软雅黑" pitchFamily="34" charset="-122"/>
                <a:ea typeface="微软雅黑" pitchFamily="34" charset="-122"/>
              </a:rPr>
              <a:t>统计数据的收集： </a:t>
            </a:r>
            <a:endParaRPr kumimoji="1" lang="en-US" altLang="zh-CN" sz="3200" b="1" dirty="0">
              <a:solidFill>
                <a:srgbClr val="FF0000"/>
              </a:solidFill>
              <a:latin typeface="微软雅黑" pitchFamily="34" charset="-122"/>
              <a:ea typeface="微软雅黑" pitchFamily="34" charset="-122"/>
            </a:endParaRPr>
          </a:p>
          <a:p>
            <a:pPr marL="342900" indent="-342900">
              <a:spcBef>
                <a:spcPct val="50000"/>
              </a:spcBef>
              <a:buClr>
                <a:srgbClr val="990000"/>
              </a:buClr>
              <a:buFont typeface="Wingdings" pitchFamily="2" charset="2"/>
              <a:buChar char="n"/>
            </a:pPr>
            <a:r>
              <a:rPr lang="zh-CN" altLang="en-US" sz="3200" b="1" dirty="0">
                <a:latin typeface="Times New Roman" pitchFamily="18" charset="0"/>
                <a:ea typeface="微软雅黑" pitchFamily="34" charset="-122"/>
                <a:cs typeface="Times New Roman" pitchFamily="18" charset="0"/>
              </a:rPr>
              <a:t>间接来源：原信息和数据已经存在</a:t>
            </a:r>
            <a:endParaRPr lang="en-US" altLang="zh-CN" sz="3200" b="1" dirty="0">
              <a:latin typeface="Times New Roman" pitchFamily="18" charset="0"/>
              <a:ea typeface="微软雅黑" pitchFamily="34" charset="-122"/>
              <a:cs typeface="Times New Roman" pitchFamily="18" charset="0"/>
            </a:endParaRPr>
          </a:p>
          <a:p>
            <a:pPr>
              <a:spcBef>
                <a:spcPct val="50000"/>
              </a:spcBef>
              <a:buClr>
                <a:schemeClr val="folHlink"/>
              </a:buClr>
            </a:pPr>
            <a:r>
              <a:rPr lang="zh-CN" altLang="en-US" b="1" dirty="0">
                <a:solidFill>
                  <a:srgbClr val="003366"/>
                </a:solidFill>
                <a:latin typeface="Times New Roman" pitchFamily="18" charset="0"/>
                <a:ea typeface="微软雅黑" pitchFamily="34" charset="-122"/>
                <a:cs typeface="Times New Roman" pitchFamily="18" charset="0"/>
              </a:rPr>
              <a:t>   系统内部：</a:t>
            </a:r>
            <a:endParaRPr lang="en-US" altLang="zh-CN" b="1" dirty="0">
              <a:solidFill>
                <a:srgbClr val="003366"/>
              </a:solidFill>
              <a:latin typeface="Times New Roman" pitchFamily="18" charset="0"/>
              <a:ea typeface="微软雅黑" pitchFamily="34" charset="-122"/>
              <a:cs typeface="Times New Roman" pitchFamily="18" charset="0"/>
            </a:endParaRPr>
          </a:p>
          <a:p>
            <a:pPr>
              <a:spcBef>
                <a:spcPct val="50000"/>
              </a:spcBef>
              <a:buClr>
                <a:schemeClr val="folHlink"/>
              </a:buClr>
            </a:pPr>
            <a:r>
              <a:rPr lang="en-US" altLang="zh-CN" dirty="0">
                <a:solidFill>
                  <a:srgbClr val="003366"/>
                </a:solidFill>
                <a:latin typeface="Times New Roman" pitchFamily="18" charset="0"/>
                <a:ea typeface="微软雅黑" pitchFamily="34" charset="-122"/>
                <a:cs typeface="Times New Roman" pitchFamily="18" charset="0"/>
              </a:rPr>
              <a:t>        </a:t>
            </a:r>
            <a:r>
              <a:rPr lang="zh-CN" altLang="en-US" sz="2400" dirty="0">
                <a:solidFill>
                  <a:srgbClr val="003366"/>
                </a:solidFill>
                <a:latin typeface="Times New Roman" pitchFamily="18" charset="0"/>
                <a:ea typeface="微软雅黑" pitchFamily="34" charset="-122"/>
                <a:cs typeface="Times New Roman" pitchFamily="18" charset="0"/>
              </a:rPr>
              <a:t>经营活动中的业务资料，业务单据、记录；</a:t>
            </a:r>
            <a:endParaRPr lang="en-US" altLang="zh-CN" sz="2400" dirty="0">
              <a:solidFill>
                <a:srgbClr val="003366"/>
              </a:solidFill>
              <a:latin typeface="Times New Roman" pitchFamily="18" charset="0"/>
              <a:ea typeface="微软雅黑" pitchFamily="34" charset="-122"/>
              <a:cs typeface="Times New Roman" pitchFamily="18" charset="0"/>
            </a:endParaRPr>
          </a:p>
          <a:p>
            <a:pPr>
              <a:spcBef>
                <a:spcPct val="50000"/>
              </a:spcBef>
              <a:buClr>
                <a:schemeClr val="folHlink"/>
              </a:buClr>
            </a:pPr>
            <a:r>
              <a:rPr lang="en-US" altLang="zh-CN" sz="2400" dirty="0">
                <a:solidFill>
                  <a:srgbClr val="003366"/>
                </a:solidFill>
                <a:latin typeface="Times New Roman" pitchFamily="18" charset="0"/>
                <a:ea typeface="微软雅黑" pitchFamily="34" charset="-122"/>
                <a:cs typeface="Times New Roman" pitchFamily="18" charset="0"/>
              </a:rPr>
              <a:t>          </a:t>
            </a:r>
            <a:r>
              <a:rPr lang="zh-CN" altLang="en-US" sz="2400" dirty="0">
                <a:solidFill>
                  <a:srgbClr val="003366"/>
                </a:solidFill>
                <a:latin typeface="Times New Roman" pitchFamily="18" charset="0"/>
                <a:ea typeface="微软雅黑" pitchFamily="34" charset="-122"/>
                <a:cs typeface="Times New Roman" pitchFamily="18" charset="0"/>
              </a:rPr>
              <a:t>统计报表；财务、会计核算和分析资料</a:t>
            </a:r>
            <a:r>
              <a:rPr lang="zh-CN" altLang="en-US" dirty="0">
                <a:solidFill>
                  <a:srgbClr val="003366"/>
                </a:solidFill>
                <a:latin typeface="Times New Roman" pitchFamily="18" charset="0"/>
                <a:ea typeface="微软雅黑" pitchFamily="34" charset="-122"/>
                <a:cs typeface="Times New Roman" pitchFamily="18" charset="0"/>
              </a:rPr>
              <a:t>。</a:t>
            </a:r>
            <a:endParaRPr lang="en-US" altLang="zh-CN" dirty="0">
              <a:solidFill>
                <a:srgbClr val="003366"/>
              </a:solidFill>
              <a:latin typeface="Times New Roman" pitchFamily="18" charset="0"/>
              <a:ea typeface="微软雅黑" pitchFamily="34" charset="-122"/>
              <a:cs typeface="Times New Roman" pitchFamily="18" charset="0"/>
            </a:endParaRPr>
          </a:p>
          <a:p>
            <a:pPr>
              <a:spcBef>
                <a:spcPct val="50000"/>
              </a:spcBef>
              <a:buClr>
                <a:schemeClr val="folHlink"/>
              </a:buClr>
            </a:pPr>
            <a:r>
              <a:rPr lang="zh-CN" altLang="en-US" b="1" dirty="0">
                <a:solidFill>
                  <a:srgbClr val="003366"/>
                </a:solidFill>
                <a:latin typeface="Times New Roman" pitchFamily="18" charset="0"/>
                <a:ea typeface="微软雅黑" pitchFamily="34" charset="-122"/>
                <a:cs typeface="Times New Roman" pitchFamily="18" charset="0"/>
              </a:rPr>
              <a:t>   系统外部：</a:t>
            </a:r>
            <a:endParaRPr lang="en-US" altLang="zh-CN" b="1" dirty="0">
              <a:solidFill>
                <a:srgbClr val="003366"/>
              </a:solidFill>
              <a:latin typeface="Times New Roman" pitchFamily="18" charset="0"/>
              <a:ea typeface="微软雅黑" pitchFamily="34" charset="-122"/>
              <a:cs typeface="Times New Roman" pitchFamily="18" charset="0"/>
            </a:endParaRPr>
          </a:p>
          <a:p>
            <a:pPr>
              <a:spcBef>
                <a:spcPct val="50000"/>
              </a:spcBef>
              <a:buClr>
                <a:schemeClr val="folHlink"/>
              </a:buClr>
            </a:pPr>
            <a:r>
              <a:rPr lang="en-US" altLang="zh-CN" sz="2400" dirty="0">
                <a:solidFill>
                  <a:srgbClr val="003366"/>
                </a:solidFill>
                <a:latin typeface="Times New Roman" pitchFamily="18" charset="0"/>
                <a:ea typeface="微软雅黑" pitchFamily="34" charset="-122"/>
                <a:cs typeface="Times New Roman" pitchFamily="18" charset="0"/>
              </a:rPr>
              <a:t>         </a:t>
            </a:r>
            <a:r>
              <a:rPr lang="zh-CN" altLang="en-US" sz="2400" dirty="0">
                <a:solidFill>
                  <a:srgbClr val="003366"/>
                </a:solidFill>
                <a:latin typeface="Times New Roman" pitchFamily="18" charset="0"/>
                <a:ea typeface="微软雅黑" pitchFamily="34" charset="-122"/>
                <a:cs typeface="Times New Roman" pitchFamily="18" charset="0"/>
              </a:rPr>
              <a:t>政府和统计部门公布资料；</a:t>
            </a:r>
            <a:endParaRPr lang="en-US" altLang="zh-CN" sz="2400" dirty="0">
              <a:solidFill>
                <a:srgbClr val="003366"/>
              </a:solidFill>
              <a:latin typeface="Times New Roman" pitchFamily="18" charset="0"/>
              <a:ea typeface="微软雅黑" pitchFamily="34" charset="-122"/>
              <a:cs typeface="Times New Roman" pitchFamily="18" charset="0"/>
            </a:endParaRPr>
          </a:p>
          <a:p>
            <a:pPr>
              <a:spcBef>
                <a:spcPct val="50000"/>
              </a:spcBef>
              <a:buClr>
                <a:schemeClr val="folHlink"/>
              </a:buClr>
            </a:pPr>
            <a:r>
              <a:rPr lang="zh-CN" altLang="en-US" sz="2400" dirty="0">
                <a:solidFill>
                  <a:srgbClr val="003366"/>
                </a:solidFill>
                <a:latin typeface="Times New Roman" pitchFamily="18" charset="0"/>
                <a:ea typeface="微软雅黑" pitchFamily="34" charset="-122"/>
                <a:cs typeface="Times New Roman" pitchFamily="18" charset="0"/>
              </a:rPr>
              <a:t>         专业期刊、报纸、图书；</a:t>
            </a:r>
            <a:endParaRPr lang="en-US" altLang="zh-CN" sz="2400" dirty="0">
              <a:solidFill>
                <a:srgbClr val="003366"/>
              </a:solidFill>
              <a:latin typeface="Times New Roman" pitchFamily="18" charset="0"/>
              <a:ea typeface="微软雅黑" pitchFamily="34" charset="-122"/>
              <a:cs typeface="Times New Roman" pitchFamily="18" charset="0"/>
            </a:endParaRPr>
          </a:p>
          <a:p>
            <a:pPr>
              <a:spcBef>
                <a:spcPct val="50000"/>
              </a:spcBef>
              <a:buClr>
                <a:schemeClr val="folHlink"/>
              </a:buClr>
            </a:pPr>
            <a:r>
              <a:rPr lang="en-US" altLang="zh-CN" sz="2400" dirty="0">
                <a:solidFill>
                  <a:srgbClr val="003366"/>
                </a:solidFill>
                <a:latin typeface="Times New Roman" pitchFamily="18" charset="0"/>
                <a:ea typeface="微软雅黑" pitchFamily="34" charset="-122"/>
                <a:cs typeface="Times New Roman" pitchFamily="18" charset="0"/>
              </a:rPr>
              <a:t>         </a:t>
            </a:r>
            <a:r>
              <a:rPr lang="zh-CN" altLang="en-US" sz="2400" dirty="0">
                <a:solidFill>
                  <a:srgbClr val="003366"/>
                </a:solidFill>
                <a:latin typeface="Times New Roman" pitchFamily="18" charset="0"/>
                <a:ea typeface="微软雅黑" pitchFamily="34" charset="-122"/>
                <a:cs typeface="Times New Roman" pitchFamily="18" charset="0"/>
              </a:rPr>
              <a:t>图书馆或互联网查到的数据资料等。</a:t>
            </a:r>
            <a:endParaRPr lang="en-US" altLang="zh-CN" sz="2400" dirty="0">
              <a:solidFill>
                <a:srgbClr val="003366"/>
              </a:solidFill>
              <a:latin typeface="Times New Roman" pitchFamily="18" charset="0"/>
              <a:ea typeface="微软雅黑" pitchFamily="34" charset="-122"/>
              <a:cs typeface="Times New Roman" pitchFamily="18" charset="0"/>
            </a:endParaRPr>
          </a:p>
        </p:txBody>
      </p:sp>
      <p:sp>
        <p:nvSpPr>
          <p:cNvPr id="7178" name="矩形 1"/>
          <p:cNvSpPr>
            <a:spLocks noChangeArrowheads="1"/>
          </p:cNvSpPr>
          <p:nvPr/>
        </p:nvSpPr>
        <p:spPr bwMode="auto">
          <a:xfrm>
            <a:off x="791517" y="-260350"/>
            <a:ext cx="6660851" cy="1361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1" hangingPunct="1">
              <a:lnSpc>
                <a:spcPct val="229000"/>
              </a:lnSpc>
            </a:pPr>
            <a:r>
              <a:rPr lang="zh-CN" altLang="en-US" sz="3600" b="1" dirty="0">
                <a:solidFill>
                  <a:schemeClr val="bg1"/>
                </a:solidFill>
                <a:latin typeface="微软雅黑" pitchFamily="34" charset="-122"/>
                <a:ea typeface="微软雅黑" pitchFamily="34" charset="-122"/>
              </a:rPr>
              <a:t>统计数据的收集、整理与描述</a:t>
            </a:r>
          </a:p>
        </p:txBody>
      </p:sp>
    </p:spTree>
    <p:extLst>
      <p:ext uri="{BB962C8B-B14F-4D97-AF65-F5344CB8AC3E}">
        <p14:creationId xmlns:p14="http://schemas.microsoft.com/office/powerpoint/2010/main" val="392092211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25"/>
          <p:cNvSpPr txBox="1">
            <a:spLocks noChangeArrowheads="1"/>
          </p:cNvSpPr>
          <p:nvPr/>
        </p:nvSpPr>
        <p:spPr bwMode="auto">
          <a:xfrm>
            <a:off x="117475" y="1041400"/>
            <a:ext cx="8775700" cy="2369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a:spcBef>
                <a:spcPct val="50000"/>
              </a:spcBef>
              <a:buClr>
                <a:schemeClr val="folHlink"/>
              </a:buClr>
            </a:pPr>
            <a:r>
              <a:rPr kumimoji="1" lang="en-US" altLang="zh-CN" sz="3200" b="1" dirty="0">
                <a:solidFill>
                  <a:srgbClr val="002060"/>
                </a:solidFill>
                <a:latin typeface="微软雅黑" pitchFamily="34" charset="-122"/>
                <a:ea typeface="微软雅黑" pitchFamily="34" charset="-122"/>
              </a:rPr>
              <a:t>  </a:t>
            </a:r>
            <a:r>
              <a:rPr kumimoji="1" lang="en-US" altLang="zh-CN" sz="3200" b="1" dirty="0">
                <a:solidFill>
                  <a:srgbClr val="FF0000"/>
                </a:solidFill>
                <a:latin typeface="微软雅黑" pitchFamily="34" charset="-122"/>
                <a:ea typeface="微软雅黑" pitchFamily="34" charset="-122"/>
              </a:rPr>
              <a:t>1. </a:t>
            </a:r>
            <a:r>
              <a:rPr kumimoji="1" lang="zh-CN" altLang="en-US" sz="3200" b="1" dirty="0">
                <a:solidFill>
                  <a:srgbClr val="FF0000"/>
                </a:solidFill>
                <a:latin typeface="微软雅黑" pitchFamily="34" charset="-122"/>
                <a:ea typeface="微软雅黑" pitchFamily="34" charset="-122"/>
              </a:rPr>
              <a:t>统计数据的来源： </a:t>
            </a:r>
            <a:endParaRPr kumimoji="1" lang="en-US" altLang="zh-CN" sz="3200" b="1" dirty="0">
              <a:solidFill>
                <a:srgbClr val="FF0000"/>
              </a:solidFill>
              <a:latin typeface="微软雅黑" pitchFamily="34" charset="-122"/>
              <a:ea typeface="微软雅黑" pitchFamily="34" charset="-122"/>
            </a:endParaRPr>
          </a:p>
          <a:p>
            <a:pPr marL="342900" indent="-342900">
              <a:spcBef>
                <a:spcPct val="50000"/>
              </a:spcBef>
              <a:buClr>
                <a:srgbClr val="990000"/>
              </a:buClr>
              <a:buFont typeface="Wingdings" pitchFamily="2" charset="2"/>
              <a:buChar char="n"/>
            </a:pPr>
            <a:r>
              <a:rPr lang="zh-CN" altLang="en-US" sz="3200" b="1" dirty="0">
                <a:latin typeface="Times New Roman" pitchFamily="18" charset="0"/>
                <a:ea typeface="微软雅黑" pitchFamily="34" charset="-122"/>
                <a:cs typeface="Times New Roman" pitchFamily="18" charset="0"/>
              </a:rPr>
              <a:t>直接来源：</a:t>
            </a:r>
            <a:r>
              <a:rPr lang="zh-CN" altLang="en-US" b="1" dirty="0">
                <a:latin typeface="Times New Roman" pitchFamily="18" charset="0"/>
                <a:ea typeface="微软雅黑" pitchFamily="34" charset="-122"/>
                <a:cs typeface="Times New Roman" pitchFamily="18" charset="0"/>
              </a:rPr>
              <a:t>二手数据针对性不够，通过调查或实验的方式，分</a:t>
            </a:r>
            <a:r>
              <a:rPr lang="zh-CN" altLang="en-US" b="1" dirty="0">
                <a:latin typeface="+mn-ea"/>
                <a:ea typeface="+mn-ea"/>
                <a:cs typeface="Times New Roman" pitchFamily="18" charset="0"/>
              </a:rPr>
              <a:t>抽样调查和普查。</a:t>
            </a:r>
            <a:endParaRPr lang="en-US" altLang="zh-CN" b="1" dirty="0">
              <a:latin typeface="+mn-ea"/>
              <a:ea typeface="+mn-ea"/>
              <a:cs typeface="Times New Roman" pitchFamily="18" charset="0"/>
            </a:endParaRPr>
          </a:p>
          <a:p>
            <a:pPr>
              <a:spcBef>
                <a:spcPct val="50000"/>
              </a:spcBef>
              <a:buClr>
                <a:schemeClr val="folHlink"/>
              </a:buClr>
            </a:pPr>
            <a:r>
              <a:rPr lang="zh-CN" altLang="en-US" sz="2400" b="1" dirty="0">
                <a:solidFill>
                  <a:srgbClr val="003366"/>
                </a:solidFill>
                <a:latin typeface="Times New Roman" pitchFamily="18" charset="0"/>
                <a:ea typeface="微软雅黑" pitchFamily="34" charset="-122"/>
                <a:cs typeface="Times New Roman" pitchFamily="18" charset="0"/>
              </a:rPr>
              <a:t>    抽样调查：</a:t>
            </a:r>
            <a:r>
              <a:rPr lang="zh-CN" altLang="en-US" sz="2400" dirty="0">
                <a:solidFill>
                  <a:srgbClr val="003366"/>
                </a:solidFill>
                <a:latin typeface="Times New Roman" pitchFamily="18" charset="0"/>
                <a:ea typeface="微软雅黑" pitchFamily="34" charset="-122"/>
                <a:cs typeface="Times New Roman" pitchFamily="18" charset="0"/>
              </a:rPr>
              <a:t>概率抽样对总体进行统计描述</a:t>
            </a:r>
            <a:endParaRPr lang="en-US" altLang="zh-CN" sz="2400" dirty="0">
              <a:solidFill>
                <a:srgbClr val="003366"/>
              </a:solidFill>
              <a:latin typeface="Times New Roman" pitchFamily="18" charset="0"/>
              <a:ea typeface="微软雅黑" pitchFamily="34" charset="-122"/>
              <a:cs typeface="Times New Roman" pitchFamily="18" charset="0"/>
            </a:endParaRPr>
          </a:p>
        </p:txBody>
      </p:sp>
      <p:sp>
        <p:nvSpPr>
          <p:cNvPr id="2" name="TextBox 1"/>
          <p:cNvSpPr txBox="1"/>
          <p:nvPr/>
        </p:nvSpPr>
        <p:spPr>
          <a:xfrm>
            <a:off x="520472" y="3789045"/>
            <a:ext cx="2800767" cy="2185214"/>
          </a:xfrm>
          <a:prstGeom prst="rect">
            <a:avLst/>
          </a:prstGeom>
          <a:noFill/>
        </p:spPr>
        <p:txBody>
          <a:bodyPr wrap="none" rtlCol="0">
            <a:spAutoFit/>
          </a:bodyPr>
          <a:lstStyle/>
          <a:p>
            <a:pPr>
              <a:spcBef>
                <a:spcPct val="50000"/>
              </a:spcBef>
              <a:buClr>
                <a:schemeClr val="folHlink"/>
              </a:buClr>
            </a:pPr>
            <a:r>
              <a:rPr lang="zh-CN" altLang="en-US" sz="2800" b="1" dirty="0">
                <a:latin typeface="Times New Roman" pitchFamily="18" charset="0"/>
                <a:ea typeface="微软雅黑" pitchFamily="34" charset="-122"/>
                <a:cs typeface="Times New Roman" pitchFamily="18" charset="0"/>
              </a:rPr>
              <a:t>前期准备：</a:t>
            </a:r>
            <a:endParaRPr lang="en-US" altLang="zh-CN" sz="2800" b="1" dirty="0">
              <a:latin typeface="Times New Roman" pitchFamily="18" charset="0"/>
              <a:ea typeface="微软雅黑" pitchFamily="34" charset="-122"/>
              <a:cs typeface="Times New Roman" pitchFamily="18" charset="0"/>
            </a:endParaRPr>
          </a:p>
          <a:p>
            <a:pPr>
              <a:spcBef>
                <a:spcPct val="50000"/>
              </a:spcBef>
              <a:buClr>
                <a:schemeClr val="folHlink"/>
              </a:buClr>
            </a:pPr>
            <a:r>
              <a:rPr lang="zh-CN" altLang="en-US" sz="2400" dirty="0">
                <a:solidFill>
                  <a:srgbClr val="003366"/>
                </a:solidFill>
                <a:latin typeface="Times New Roman" pitchFamily="18" charset="0"/>
                <a:ea typeface="微软雅黑" pitchFamily="34" charset="-122"/>
                <a:cs typeface="Times New Roman" pitchFamily="18" charset="0"/>
              </a:rPr>
              <a:t>  统计问卷</a:t>
            </a:r>
            <a:endParaRPr lang="en-US" altLang="zh-CN" sz="2400" dirty="0">
              <a:solidFill>
                <a:srgbClr val="003366"/>
              </a:solidFill>
              <a:latin typeface="Times New Roman" pitchFamily="18" charset="0"/>
              <a:ea typeface="微软雅黑" pitchFamily="34" charset="-122"/>
              <a:cs typeface="Times New Roman" pitchFamily="18" charset="0"/>
            </a:endParaRPr>
          </a:p>
          <a:p>
            <a:pPr>
              <a:spcBef>
                <a:spcPct val="50000"/>
              </a:spcBef>
              <a:buClr>
                <a:schemeClr val="folHlink"/>
              </a:buClr>
            </a:pPr>
            <a:r>
              <a:rPr lang="zh-CN" altLang="en-US" sz="2400" dirty="0">
                <a:solidFill>
                  <a:srgbClr val="003366"/>
                </a:solidFill>
                <a:latin typeface="Times New Roman" pitchFamily="18" charset="0"/>
                <a:ea typeface="微软雅黑" pitchFamily="34" charset="-122"/>
                <a:cs typeface="Times New Roman" pitchFamily="18" charset="0"/>
              </a:rPr>
              <a:t>  访谈提纲</a:t>
            </a:r>
            <a:endParaRPr lang="en-US" altLang="zh-CN" sz="2400" dirty="0">
              <a:solidFill>
                <a:srgbClr val="003366"/>
              </a:solidFill>
              <a:latin typeface="Times New Roman" pitchFamily="18" charset="0"/>
              <a:ea typeface="微软雅黑" pitchFamily="34" charset="-122"/>
              <a:cs typeface="Times New Roman" pitchFamily="18" charset="0"/>
            </a:endParaRPr>
          </a:p>
          <a:p>
            <a:pPr>
              <a:spcBef>
                <a:spcPct val="50000"/>
              </a:spcBef>
              <a:buClr>
                <a:schemeClr val="folHlink"/>
              </a:buClr>
            </a:pPr>
            <a:r>
              <a:rPr lang="zh-CN" altLang="en-US" sz="2400" dirty="0">
                <a:solidFill>
                  <a:srgbClr val="003366"/>
                </a:solidFill>
                <a:latin typeface="Times New Roman" pitchFamily="18" charset="0"/>
                <a:ea typeface="微软雅黑" pitchFamily="34" charset="-122"/>
                <a:cs typeface="Times New Roman" pitchFamily="18" charset="0"/>
              </a:rPr>
              <a:t>  抽样框和调查对象</a:t>
            </a:r>
          </a:p>
        </p:txBody>
      </p:sp>
      <p:sp>
        <p:nvSpPr>
          <p:cNvPr id="5" name="TextBox 4"/>
          <p:cNvSpPr txBox="1"/>
          <p:nvPr/>
        </p:nvSpPr>
        <p:spPr>
          <a:xfrm>
            <a:off x="4265421" y="3789046"/>
            <a:ext cx="1980029" cy="2185214"/>
          </a:xfrm>
          <a:prstGeom prst="rect">
            <a:avLst/>
          </a:prstGeom>
          <a:noFill/>
        </p:spPr>
        <p:txBody>
          <a:bodyPr wrap="none" rtlCol="0">
            <a:spAutoFit/>
          </a:bodyPr>
          <a:lstStyle/>
          <a:p>
            <a:pPr>
              <a:spcBef>
                <a:spcPct val="50000"/>
              </a:spcBef>
              <a:buClr>
                <a:schemeClr val="folHlink"/>
              </a:buClr>
            </a:pPr>
            <a:r>
              <a:rPr lang="zh-CN" altLang="en-US" sz="2800" b="1" dirty="0">
                <a:latin typeface="Times New Roman" pitchFamily="18" charset="0"/>
                <a:ea typeface="微软雅黑" pitchFamily="34" charset="-122"/>
                <a:cs typeface="Times New Roman" pitchFamily="18" charset="0"/>
              </a:rPr>
              <a:t>基本方式：</a:t>
            </a:r>
            <a:endParaRPr lang="en-US" altLang="zh-CN" sz="2800" b="1" dirty="0">
              <a:latin typeface="Times New Roman" pitchFamily="18" charset="0"/>
              <a:ea typeface="微软雅黑" pitchFamily="34" charset="-122"/>
              <a:cs typeface="Times New Roman" pitchFamily="18" charset="0"/>
            </a:endParaRPr>
          </a:p>
          <a:p>
            <a:pPr>
              <a:spcBef>
                <a:spcPct val="50000"/>
              </a:spcBef>
              <a:buClr>
                <a:schemeClr val="folHlink"/>
              </a:buClr>
            </a:pPr>
            <a:r>
              <a:rPr lang="zh-CN" altLang="en-US" sz="2400" dirty="0">
                <a:solidFill>
                  <a:srgbClr val="003366"/>
                </a:solidFill>
                <a:latin typeface="Times New Roman" pitchFamily="18" charset="0"/>
                <a:ea typeface="微软雅黑" pitchFamily="34" charset="-122"/>
                <a:cs typeface="Times New Roman" pitchFamily="18" charset="0"/>
              </a:rPr>
              <a:t>       自填式</a:t>
            </a:r>
            <a:endParaRPr lang="en-US" altLang="zh-CN" sz="2400" dirty="0">
              <a:solidFill>
                <a:srgbClr val="003366"/>
              </a:solidFill>
              <a:latin typeface="Times New Roman" pitchFamily="18" charset="0"/>
              <a:ea typeface="微软雅黑" pitchFamily="34" charset="-122"/>
              <a:cs typeface="Times New Roman" pitchFamily="18" charset="0"/>
            </a:endParaRPr>
          </a:p>
          <a:p>
            <a:pPr>
              <a:spcBef>
                <a:spcPct val="50000"/>
              </a:spcBef>
              <a:buClr>
                <a:schemeClr val="folHlink"/>
              </a:buClr>
            </a:pPr>
            <a:r>
              <a:rPr lang="zh-CN" altLang="en-US" sz="2400" dirty="0">
                <a:solidFill>
                  <a:srgbClr val="003366"/>
                </a:solidFill>
                <a:latin typeface="Times New Roman" pitchFamily="18" charset="0"/>
                <a:ea typeface="微软雅黑" pitchFamily="34" charset="-122"/>
                <a:cs typeface="Times New Roman" pitchFamily="18" charset="0"/>
              </a:rPr>
              <a:t>       电话式</a:t>
            </a:r>
            <a:endParaRPr lang="en-US" altLang="zh-CN" sz="2400" dirty="0">
              <a:solidFill>
                <a:srgbClr val="003366"/>
              </a:solidFill>
              <a:latin typeface="Times New Roman" pitchFamily="18" charset="0"/>
              <a:ea typeface="微软雅黑" pitchFamily="34" charset="-122"/>
              <a:cs typeface="Times New Roman" pitchFamily="18" charset="0"/>
            </a:endParaRPr>
          </a:p>
          <a:p>
            <a:pPr>
              <a:spcBef>
                <a:spcPct val="50000"/>
              </a:spcBef>
              <a:buClr>
                <a:schemeClr val="folHlink"/>
              </a:buClr>
            </a:pPr>
            <a:r>
              <a:rPr lang="zh-CN" altLang="en-US" sz="2400" dirty="0">
                <a:solidFill>
                  <a:srgbClr val="003366"/>
                </a:solidFill>
                <a:latin typeface="Times New Roman" pitchFamily="18" charset="0"/>
                <a:ea typeface="微软雅黑" pitchFamily="34" charset="-122"/>
                <a:cs typeface="Times New Roman" pitchFamily="18" charset="0"/>
              </a:rPr>
              <a:t>       面访式</a:t>
            </a:r>
          </a:p>
        </p:txBody>
      </p:sp>
      <p:sp>
        <p:nvSpPr>
          <p:cNvPr id="6" name="矩形 1"/>
          <p:cNvSpPr>
            <a:spLocks noChangeArrowheads="1"/>
          </p:cNvSpPr>
          <p:nvPr/>
        </p:nvSpPr>
        <p:spPr bwMode="auto">
          <a:xfrm>
            <a:off x="791517" y="-260350"/>
            <a:ext cx="6660851" cy="1361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1" hangingPunct="1">
              <a:lnSpc>
                <a:spcPct val="229000"/>
              </a:lnSpc>
            </a:pPr>
            <a:r>
              <a:rPr lang="zh-CN" altLang="en-US" sz="3600" b="1" dirty="0">
                <a:solidFill>
                  <a:schemeClr val="bg1"/>
                </a:solidFill>
                <a:latin typeface="微软雅黑" pitchFamily="34" charset="-122"/>
                <a:ea typeface="微软雅黑" pitchFamily="34" charset="-122"/>
              </a:rPr>
              <a:t>统计数据的收集、整理与描述</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48" y="1092709"/>
            <a:ext cx="6289363" cy="4672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9381" y="1715444"/>
            <a:ext cx="5876925" cy="4754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9644" y="2388295"/>
            <a:ext cx="6220339" cy="4281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矩形 1"/>
          <p:cNvSpPr>
            <a:spLocks noChangeArrowheads="1"/>
          </p:cNvSpPr>
          <p:nvPr/>
        </p:nvSpPr>
        <p:spPr bwMode="auto">
          <a:xfrm>
            <a:off x="791517" y="-260350"/>
            <a:ext cx="6660851" cy="1361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1" hangingPunct="1">
              <a:lnSpc>
                <a:spcPct val="229000"/>
              </a:lnSpc>
            </a:pPr>
            <a:r>
              <a:rPr lang="zh-CN" altLang="en-US" sz="3600" b="1" dirty="0">
                <a:solidFill>
                  <a:schemeClr val="bg1"/>
                </a:solidFill>
                <a:latin typeface="微软雅黑" pitchFamily="34" charset="-122"/>
                <a:ea typeface="微软雅黑" pitchFamily="34" charset="-122"/>
              </a:rPr>
              <a:t>统计数据的收集、整理与描述</a:t>
            </a:r>
          </a:p>
        </p:txBody>
      </p:sp>
    </p:spTree>
    <p:extLst>
      <p:ext uri="{BB962C8B-B14F-4D97-AF65-F5344CB8AC3E}">
        <p14:creationId xmlns:p14="http://schemas.microsoft.com/office/powerpoint/2010/main" val="18573583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53251"/>
                                        </p:tgtEl>
                                        <p:attrNameLst>
                                          <p:attrName>style.visibility</p:attrName>
                                        </p:attrNameLst>
                                      </p:cBhvr>
                                      <p:to>
                                        <p:strVal val="visible"/>
                                      </p:to>
                                    </p:set>
                                    <p:animEffect transition="in" filter="fade">
                                      <p:cBhvr>
                                        <p:cTn id="11" dur="1000"/>
                                        <p:tgtEl>
                                          <p:spTgt spid="53251"/>
                                        </p:tgtEl>
                                      </p:cBhvr>
                                    </p:animEffect>
                                    <p:anim calcmode="lin" valueType="num">
                                      <p:cBhvr>
                                        <p:cTn id="12" dur="1000" fill="hold"/>
                                        <p:tgtEl>
                                          <p:spTgt spid="53251"/>
                                        </p:tgtEl>
                                        <p:attrNameLst>
                                          <p:attrName>ppt_x</p:attrName>
                                        </p:attrNameLst>
                                      </p:cBhvr>
                                      <p:tavLst>
                                        <p:tav tm="0">
                                          <p:val>
                                            <p:strVal val="#ppt_x"/>
                                          </p:val>
                                        </p:tav>
                                        <p:tav tm="100000">
                                          <p:val>
                                            <p:strVal val="#ppt_x"/>
                                          </p:val>
                                        </p:tav>
                                      </p:tavLst>
                                    </p:anim>
                                    <p:anim calcmode="lin" valueType="num">
                                      <p:cBhvr>
                                        <p:cTn id="13" dur="1000" fill="hold"/>
                                        <p:tgtEl>
                                          <p:spTgt spid="53251"/>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53252"/>
                                        </p:tgtEl>
                                        <p:attrNameLst>
                                          <p:attrName>style.visibility</p:attrName>
                                        </p:attrNameLst>
                                      </p:cBhvr>
                                      <p:to>
                                        <p:strVal val="visible"/>
                                      </p:to>
                                    </p:set>
                                    <p:animEffect transition="in" filter="fade">
                                      <p:cBhvr>
                                        <p:cTn id="18" dur="1000"/>
                                        <p:tgtEl>
                                          <p:spTgt spid="53252"/>
                                        </p:tgtEl>
                                      </p:cBhvr>
                                    </p:animEffect>
                                    <p:anim calcmode="lin" valueType="num">
                                      <p:cBhvr>
                                        <p:cTn id="19" dur="1000" fill="hold"/>
                                        <p:tgtEl>
                                          <p:spTgt spid="53252"/>
                                        </p:tgtEl>
                                        <p:attrNameLst>
                                          <p:attrName>ppt_x</p:attrName>
                                        </p:attrNameLst>
                                      </p:cBhvr>
                                      <p:tavLst>
                                        <p:tav tm="0">
                                          <p:val>
                                            <p:strVal val="#ppt_x"/>
                                          </p:val>
                                        </p:tav>
                                        <p:tav tm="100000">
                                          <p:val>
                                            <p:strVal val="#ppt_x"/>
                                          </p:val>
                                        </p:tav>
                                      </p:tavLst>
                                    </p:anim>
                                    <p:anim calcmode="lin" valueType="num">
                                      <p:cBhvr>
                                        <p:cTn id="20" dur="1000" fill="hold"/>
                                        <p:tgtEl>
                                          <p:spTgt spid="532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
          <p:cNvSpPr>
            <a:spLocks noChangeArrowheads="1"/>
          </p:cNvSpPr>
          <p:nvPr/>
        </p:nvSpPr>
        <p:spPr bwMode="auto">
          <a:xfrm>
            <a:off x="791517" y="-260350"/>
            <a:ext cx="6660851" cy="1361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1" hangingPunct="1">
              <a:lnSpc>
                <a:spcPct val="229000"/>
              </a:lnSpc>
            </a:pPr>
            <a:r>
              <a:rPr lang="zh-CN" altLang="en-US" sz="3600" b="1" dirty="0">
                <a:solidFill>
                  <a:schemeClr val="bg1"/>
                </a:solidFill>
                <a:latin typeface="微软雅黑" pitchFamily="34" charset="-122"/>
                <a:ea typeface="微软雅黑" pitchFamily="34" charset="-122"/>
              </a:rPr>
              <a:t>统计数据的收集、整理与描述</a:t>
            </a:r>
          </a:p>
        </p:txBody>
      </p:sp>
      <p:sp>
        <p:nvSpPr>
          <p:cNvPr id="2" name="TextBox 1"/>
          <p:cNvSpPr txBox="1"/>
          <p:nvPr/>
        </p:nvSpPr>
        <p:spPr>
          <a:xfrm>
            <a:off x="431471" y="3376205"/>
            <a:ext cx="7560968" cy="3293209"/>
          </a:xfrm>
          <a:prstGeom prst="rect">
            <a:avLst/>
          </a:prstGeom>
          <a:noFill/>
        </p:spPr>
        <p:txBody>
          <a:bodyPr wrap="square" rtlCol="0">
            <a:spAutoFit/>
          </a:bodyPr>
          <a:lstStyle/>
          <a:p>
            <a:r>
              <a:rPr lang="zh-CN" altLang="en-US" sz="2800" b="1" dirty="0">
                <a:solidFill>
                  <a:srgbClr val="C00000"/>
                </a:solidFill>
                <a:latin typeface="+mn-ea"/>
                <a:ea typeface="+mn-ea"/>
              </a:rPr>
              <a:t>什么是好的统计图形？</a:t>
            </a:r>
            <a:endParaRPr lang="en-US" altLang="zh-CN" sz="2800" b="1" dirty="0">
              <a:solidFill>
                <a:srgbClr val="C00000"/>
              </a:solidFill>
              <a:latin typeface="+mn-ea"/>
              <a:ea typeface="+mn-ea"/>
            </a:endParaRPr>
          </a:p>
          <a:p>
            <a:pPr marL="457200" indent="-457200">
              <a:lnSpc>
                <a:spcPct val="150000"/>
              </a:lnSpc>
              <a:buFont typeface="Wingdings" pitchFamily="2" charset="2"/>
              <a:buChar char="Ø"/>
            </a:pPr>
            <a:r>
              <a:rPr lang="zh-CN" altLang="en-US" sz="2400" dirty="0">
                <a:solidFill>
                  <a:srgbClr val="003366"/>
                </a:solidFill>
                <a:latin typeface="Times New Roman" pitchFamily="18" charset="0"/>
                <a:ea typeface="微软雅黑" pitchFamily="34" charset="-122"/>
                <a:cs typeface="Times New Roman" pitchFamily="18" charset="0"/>
              </a:rPr>
              <a:t>显示数据</a:t>
            </a:r>
            <a:endParaRPr lang="en-US" altLang="zh-CN" sz="2400" dirty="0">
              <a:solidFill>
                <a:srgbClr val="003366"/>
              </a:solidFill>
              <a:latin typeface="Times New Roman" pitchFamily="18" charset="0"/>
              <a:ea typeface="微软雅黑" pitchFamily="34" charset="-122"/>
              <a:cs typeface="Times New Roman" pitchFamily="18" charset="0"/>
            </a:endParaRPr>
          </a:p>
          <a:p>
            <a:pPr marL="457200" indent="-457200">
              <a:lnSpc>
                <a:spcPct val="150000"/>
              </a:lnSpc>
              <a:buFont typeface="Wingdings" pitchFamily="2" charset="2"/>
              <a:buChar char="Ø"/>
            </a:pPr>
            <a:r>
              <a:rPr lang="zh-CN" altLang="en-US" sz="2400" dirty="0">
                <a:solidFill>
                  <a:srgbClr val="003366"/>
                </a:solidFill>
                <a:latin typeface="Times New Roman" pitchFamily="18" charset="0"/>
                <a:ea typeface="微软雅黑" pitchFamily="34" charset="-122"/>
                <a:cs typeface="Times New Roman" pitchFamily="18" charset="0"/>
              </a:rPr>
              <a:t>强调数据之间的比较</a:t>
            </a:r>
            <a:endParaRPr lang="en-US" altLang="zh-CN" sz="2400" dirty="0">
              <a:solidFill>
                <a:srgbClr val="003366"/>
              </a:solidFill>
              <a:latin typeface="Times New Roman" pitchFamily="18" charset="0"/>
              <a:ea typeface="微软雅黑" pitchFamily="34" charset="-122"/>
              <a:cs typeface="Times New Roman" pitchFamily="18" charset="0"/>
            </a:endParaRPr>
          </a:p>
          <a:p>
            <a:pPr marL="457200" indent="-457200">
              <a:lnSpc>
                <a:spcPct val="150000"/>
              </a:lnSpc>
              <a:buFont typeface="Wingdings" pitchFamily="2" charset="2"/>
              <a:buChar char="Ø"/>
            </a:pPr>
            <a:r>
              <a:rPr lang="zh-CN" altLang="en-US" sz="2400" dirty="0">
                <a:solidFill>
                  <a:srgbClr val="003366"/>
                </a:solidFill>
                <a:latin typeface="Times New Roman" pitchFamily="18" charset="0"/>
                <a:ea typeface="微软雅黑" pitchFamily="34" charset="-122"/>
                <a:cs typeface="Times New Roman" pitchFamily="18" charset="0"/>
              </a:rPr>
              <a:t>有明确的目的</a:t>
            </a:r>
            <a:endParaRPr lang="en-US" altLang="zh-CN" sz="2400" dirty="0">
              <a:solidFill>
                <a:srgbClr val="003366"/>
              </a:solidFill>
              <a:latin typeface="Times New Roman" pitchFamily="18" charset="0"/>
              <a:ea typeface="微软雅黑" pitchFamily="34" charset="-122"/>
              <a:cs typeface="Times New Roman" pitchFamily="18" charset="0"/>
            </a:endParaRPr>
          </a:p>
          <a:p>
            <a:pPr marL="457200" indent="-457200">
              <a:lnSpc>
                <a:spcPct val="150000"/>
              </a:lnSpc>
              <a:buFont typeface="Wingdings" pitchFamily="2" charset="2"/>
              <a:buChar char="Ø"/>
            </a:pPr>
            <a:r>
              <a:rPr lang="zh-CN" altLang="en-US" sz="2400" dirty="0">
                <a:solidFill>
                  <a:srgbClr val="003366"/>
                </a:solidFill>
                <a:latin typeface="Times New Roman" pitchFamily="18" charset="0"/>
                <a:ea typeface="微软雅黑" pitchFamily="34" charset="-122"/>
                <a:cs typeface="Times New Roman" pitchFamily="18" charset="0"/>
              </a:rPr>
              <a:t>有图形描述和文字说明</a:t>
            </a:r>
            <a:endParaRPr lang="en-US" altLang="zh-CN" sz="2400" dirty="0">
              <a:solidFill>
                <a:srgbClr val="003366"/>
              </a:solidFill>
              <a:latin typeface="Times New Roman" pitchFamily="18" charset="0"/>
              <a:ea typeface="微软雅黑" pitchFamily="34" charset="-122"/>
              <a:cs typeface="Times New Roman" pitchFamily="18" charset="0"/>
            </a:endParaRPr>
          </a:p>
          <a:p>
            <a:pPr marL="457200" indent="-457200">
              <a:lnSpc>
                <a:spcPct val="150000"/>
              </a:lnSpc>
              <a:buFont typeface="Wingdings" pitchFamily="2" charset="2"/>
              <a:buChar char="Ø"/>
            </a:pPr>
            <a:r>
              <a:rPr lang="zh-CN" altLang="en-US" sz="2400" dirty="0">
                <a:solidFill>
                  <a:srgbClr val="003366"/>
                </a:solidFill>
                <a:latin typeface="Times New Roman" pitchFamily="18" charset="0"/>
                <a:ea typeface="微软雅黑" pitchFamily="34" charset="-122"/>
                <a:cs typeface="Times New Roman" pitchFamily="18" charset="0"/>
              </a:rPr>
              <a:t>避免不必要的修饰，掩盖了信息本身</a:t>
            </a:r>
            <a:endParaRPr lang="en-US" altLang="zh-CN" sz="2400" dirty="0">
              <a:solidFill>
                <a:srgbClr val="003366"/>
              </a:solidFill>
              <a:latin typeface="Times New Roman" pitchFamily="18" charset="0"/>
              <a:ea typeface="微软雅黑" pitchFamily="34" charset="-122"/>
              <a:cs typeface="Times New Roman" pitchFamily="18" charset="0"/>
            </a:endParaRPr>
          </a:p>
        </p:txBody>
      </p:sp>
      <p:sp>
        <p:nvSpPr>
          <p:cNvPr id="15" name="TextBox 14"/>
          <p:cNvSpPr txBox="1"/>
          <p:nvPr/>
        </p:nvSpPr>
        <p:spPr>
          <a:xfrm>
            <a:off x="431471" y="908678"/>
            <a:ext cx="7560968" cy="2400657"/>
          </a:xfrm>
          <a:prstGeom prst="rect">
            <a:avLst/>
          </a:prstGeom>
          <a:noFill/>
        </p:spPr>
        <p:txBody>
          <a:bodyPr wrap="square" rtlCol="0">
            <a:spAutoFit/>
          </a:bodyPr>
          <a:lstStyle/>
          <a:p>
            <a:pPr>
              <a:lnSpc>
                <a:spcPct val="150000"/>
              </a:lnSpc>
            </a:pPr>
            <a:r>
              <a:rPr lang="zh-CN" altLang="en-US" sz="2800" b="1" dirty="0">
                <a:solidFill>
                  <a:srgbClr val="C00000"/>
                </a:solidFill>
                <a:latin typeface="Times New Roman" pitchFamily="18" charset="0"/>
                <a:ea typeface="微软雅黑" pitchFamily="34" charset="-122"/>
                <a:cs typeface="Times New Roman" pitchFamily="18" charset="0"/>
              </a:rPr>
              <a:t>画统计表格的注意事项：</a:t>
            </a:r>
            <a:endParaRPr lang="en-US" altLang="zh-CN" sz="2800" b="1" dirty="0">
              <a:solidFill>
                <a:srgbClr val="C00000"/>
              </a:solidFill>
              <a:latin typeface="Times New Roman" pitchFamily="18" charset="0"/>
              <a:ea typeface="微软雅黑" pitchFamily="34" charset="-122"/>
              <a:cs typeface="Times New Roman" pitchFamily="18" charset="0"/>
            </a:endParaRPr>
          </a:p>
          <a:p>
            <a:pPr marL="457200" indent="-457200">
              <a:lnSpc>
                <a:spcPct val="150000"/>
              </a:lnSpc>
              <a:buFont typeface="Wingdings" pitchFamily="2" charset="2"/>
              <a:buChar char="Ø"/>
            </a:pPr>
            <a:r>
              <a:rPr lang="zh-CN" altLang="en-US" sz="2400" dirty="0">
                <a:solidFill>
                  <a:srgbClr val="003366"/>
                </a:solidFill>
                <a:latin typeface="Times New Roman" pitchFamily="18" charset="0"/>
                <a:ea typeface="微软雅黑" pitchFamily="34" charset="-122"/>
                <a:cs typeface="Times New Roman" pitchFamily="18" charset="0"/>
              </a:rPr>
              <a:t>合理安排表格结构：行标题和列标题</a:t>
            </a:r>
            <a:endParaRPr lang="en-US" altLang="zh-CN" sz="2400" dirty="0">
              <a:solidFill>
                <a:srgbClr val="003366"/>
              </a:solidFill>
              <a:latin typeface="Times New Roman" pitchFamily="18" charset="0"/>
              <a:ea typeface="微软雅黑" pitchFamily="34" charset="-122"/>
              <a:cs typeface="Times New Roman" pitchFamily="18" charset="0"/>
            </a:endParaRPr>
          </a:p>
          <a:p>
            <a:pPr marL="457200" indent="-457200">
              <a:lnSpc>
                <a:spcPct val="150000"/>
              </a:lnSpc>
              <a:buFont typeface="Wingdings" pitchFamily="2" charset="2"/>
              <a:buChar char="Ø"/>
            </a:pPr>
            <a:r>
              <a:rPr lang="zh-CN" altLang="en-US" sz="2400" dirty="0">
                <a:solidFill>
                  <a:srgbClr val="003366"/>
                </a:solidFill>
                <a:latin typeface="Times New Roman" pitchFamily="18" charset="0"/>
                <a:ea typeface="微软雅黑" pitchFamily="34" charset="-122"/>
                <a:cs typeface="Times New Roman" pitchFamily="18" charset="0"/>
              </a:rPr>
              <a:t>总标题需清晰说明统计表格内容，</a:t>
            </a:r>
            <a:r>
              <a:rPr lang="en-US" altLang="zh-CN" sz="2400" dirty="0">
                <a:solidFill>
                  <a:srgbClr val="003366"/>
                </a:solidFill>
                <a:latin typeface="Times New Roman" pitchFamily="18" charset="0"/>
                <a:ea typeface="微软雅黑" pitchFamily="34" charset="-122"/>
                <a:cs typeface="Times New Roman" pitchFamily="18" charset="0"/>
              </a:rPr>
              <a:t>When Where What</a:t>
            </a:r>
          </a:p>
          <a:p>
            <a:pPr marL="457200" indent="-457200">
              <a:lnSpc>
                <a:spcPct val="150000"/>
              </a:lnSpc>
              <a:buFont typeface="Wingdings" pitchFamily="2" charset="2"/>
              <a:buChar char="Ø"/>
            </a:pPr>
            <a:r>
              <a:rPr lang="zh-CN" altLang="en-US" sz="2400" dirty="0">
                <a:solidFill>
                  <a:srgbClr val="003366"/>
                </a:solidFill>
                <a:latin typeface="Times New Roman" pitchFamily="18" charset="0"/>
                <a:ea typeface="微软雅黑" pitchFamily="34" charset="-122"/>
                <a:cs typeface="Times New Roman" pitchFamily="18" charset="0"/>
              </a:rPr>
              <a:t>表格的线条和注释</a:t>
            </a:r>
            <a:endParaRPr lang="en-US" altLang="zh-CN" sz="2400" dirty="0">
              <a:solidFill>
                <a:srgbClr val="003366"/>
              </a:solidFill>
              <a:latin typeface="Times New Roman" pitchFamily="18" charset="0"/>
              <a:ea typeface="微软雅黑" pitchFamily="34" charset="-122"/>
              <a:cs typeface="Times New Roman" pitchFamily="18" charset="0"/>
            </a:endParaRPr>
          </a:p>
        </p:txBody>
      </p:sp>
    </p:spTree>
    <p:extLst>
      <p:ext uri="{BB962C8B-B14F-4D97-AF65-F5344CB8AC3E}">
        <p14:creationId xmlns:p14="http://schemas.microsoft.com/office/powerpoint/2010/main" val="231034124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431471" y="2709546"/>
            <a:ext cx="8461375" cy="1079500"/>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a:defRPr/>
            </a:pPr>
            <a:endParaRPr lang="zh-CN" altLang="en-US">
              <a:solidFill>
                <a:schemeClr val="lt1"/>
              </a:solidFill>
              <a:latin typeface="+mn-lt"/>
              <a:ea typeface="+mn-ea"/>
            </a:endParaRPr>
          </a:p>
        </p:txBody>
      </p:sp>
      <p:sp>
        <p:nvSpPr>
          <p:cNvPr id="6146" name="Rectangle 2"/>
          <p:cNvSpPr>
            <a:spLocks noGrp="1" noChangeArrowheads="1"/>
          </p:cNvSpPr>
          <p:nvPr>
            <p:ph type="title"/>
          </p:nvPr>
        </p:nvSpPr>
        <p:spPr>
          <a:xfrm>
            <a:off x="1871663" y="0"/>
            <a:ext cx="3960812" cy="1143000"/>
          </a:xfrm>
        </p:spPr>
        <p:txBody>
          <a:bodyPr/>
          <a:lstStyle/>
          <a:p>
            <a:pPr algn="ctr" eaLnBrk="1" hangingPunct="1"/>
            <a:r>
              <a:rPr lang="zh-CN" altLang="en-US" sz="3600">
                <a:solidFill>
                  <a:schemeClr val="bg1"/>
                </a:solidFill>
                <a:latin typeface="微软雅黑" pitchFamily="34" charset="-122"/>
                <a:ea typeface="微软雅黑" pitchFamily="34" charset="-122"/>
              </a:rPr>
              <a:t>主要内容</a:t>
            </a:r>
          </a:p>
        </p:txBody>
      </p:sp>
      <p:sp>
        <p:nvSpPr>
          <p:cNvPr id="6147" name="Rectangle 3"/>
          <p:cNvSpPr>
            <a:spLocks noGrp="1" noChangeArrowheads="1"/>
          </p:cNvSpPr>
          <p:nvPr>
            <p:ph type="body" idx="1"/>
          </p:nvPr>
        </p:nvSpPr>
        <p:spPr>
          <a:xfrm>
            <a:off x="792163" y="1231900"/>
            <a:ext cx="7777162" cy="2376488"/>
          </a:xfrm>
        </p:spPr>
        <p:txBody>
          <a:bodyPr/>
          <a:lstStyle/>
          <a:p>
            <a:pPr marL="0" indent="0" eaLnBrk="1" hangingPunct="1">
              <a:lnSpc>
                <a:spcPct val="229000"/>
              </a:lnSpc>
              <a:buFontTx/>
              <a:buNone/>
            </a:pPr>
            <a:r>
              <a:rPr lang="zh-CN" altLang="en-US" sz="3200" b="1" dirty="0">
                <a:solidFill>
                  <a:srgbClr val="002060"/>
                </a:solidFill>
                <a:latin typeface="微软雅黑" pitchFamily="34" charset="-122"/>
                <a:ea typeface="微软雅黑" pitchFamily="34" charset="-122"/>
              </a:rPr>
              <a:t>一、统计数据的收集、整理与描述</a:t>
            </a:r>
            <a:endParaRPr lang="en-US" altLang="zh-CN" sz="3200" b="1" dirty="0">
              <a:solidFill>
                <a:srgbClr val="002060"/>
              </a:solidFill>
              <a:latin typeface="微软雅黑" pitchFamily="34" charset="-122"/>
              <a:ea typeface="微软雅黑" pitchFamily="34" charset="-122"/>
            </a:endParaRPr>
          </a:p>
          <a:p>
            <a:pPr marL="0" indent="0" eaLnBrk="1" hangingPunct="1">
              <a:lnSpc>
                <a:spcPct val="229000"/>
              </a:lnSpc>
              <a:buFontTx/>
              <a:buNone/>
            </a:pPr>
            <a:r>
              <a:rPr lang="zh-CN" altLang="en-US" sz="3200" b="1" dirty="0">
                <a:solidFill>
                  <a:srgbClr val="002060"/>
                </a:solidFill>
                <a:latin typeface="微软雅黑" pitchFamily="34" charset="-122"/>
                <a:ea typeface="微软雅黑" pitchFamily="34" charset="-122"/>
              </a:rPr>
              <a:t>二、数据驱动的统计预测方法</a:t>
            </a:r>
            <a:endParaRPr lang="en-US" altLang="zh-CN" sz="3200" b="1" dirty="0">
              <a:solidFill>
                <a:srgbClr val="002060"/>
              </a:solidFill>
              <a:latin typeface="微软雅黑" pitchFamily="34" charset="-122"/>
              <a:ea typeface="微软雅黑" pitchFamily="34" charset="-122"/>
            </a:endParaRPr>
          </a:p>
          <a:p>
            <a:pPr marL="0" indent="0" eaLnBrk="1" hangingPunct="1">
              <a:lnSpc>
                <a:spcPct val="229000"/>
              </a:lnSpc>
              <a:buFontTx/>
              <a:buNone/>
            </a:pPr>
            <a:r>
              <a:rPr lang="zh-CN" altLang="en-US" sz="3200" b="1" dirty="0">
                <a:solidFill>
                  <a:srgbClr val="002060"/>
                </a:solidFill>
                <a:latin typeface="微软雅黑" pitchFamily="34" charset="-122"/>
                <a:ea typeface="微软雅黑" pitchFamily="34" charset="-122"/>
              </a:rPr>
              <a:t>三</a:t>
            </a:r>
            <a:r>
              <a:rPr lang="en-US" altLang="zh-CN" sz="3200" b="1" dirty="0">
                <a:solidFill>
                  <a:srgbClr val="002060"/>
                </a:solidFill>
                <a:latin typeface="微软雅黑" pitchFamily="34" charset="-122"/>
                <a:ea typeface="微软雅黑" pitchFamily="34" charset="-122"/>
              </a:rPr>
              <a:t>.  </a:t>
            </a:r>
            <a:r>
              <a:rPr lang="zh-CN" altLang="en-US" sz="3200" b="1" dirty="0">
                <a:solidFill>
                  <a:srgbClr val="002060"/>
                </a:solidFill>
                <a:latin typeface="微软雅黑" pitchFamily="34" charset="-122"/>
                <a:ea typeface="微软雅黑" pitchFamily="34" charset="-122"/>
              </a:rPr>
              <a:t>数据驱动的统计风险决策方法</a:t>
            </a:r>
            <a:endParaRPr lang="en-US" altLang="zh-CN" sz="3200" b="1" dirty="0">
              <a:solidFill>
                <a:srgbClr val="002060"/>
              </a:solidFill>
              <a:latin typeface="微软雅黑" pitchFamily="34" charset="-122"/>
              <a:ea typeface="微软雅黑" pitchFamily="34" charset="-122"/>
            </a:endParaRPr>
          </a:p>
          <a:p>
            <a:pPr marL="0" indent="0" eaLnBrk="1" hangingPunct="1">
              <a:lnSpc>
                <a:spcPct val="229000"/>
              </a:lnSpc>
              <a:buFontTx/>
              <a:buNone/>
            </a:pPr>
            <a:r>
              <a:rPr lang="zh-CN" altLang="en-US" sz="3200" b="1" dirty="0">
                <a:solidFill>
                  <a:srgbClr val="002060"/>
                </a:solidFill>
                <a:latin typeface="微软雅黑" pitchFamily="34" charset="-122"/>
                <a:ea typeface="微软雅黑" pitchFamily="34" charset="-122"/>
              </a:rPr>
              <a:t>四</a:t>
            </a:r>
            <a:r>
              <a:rPr lang="en-US" altLang="zh-CN" sz="3200" b="1" dirty="0">
                <a:solidFill>
                  <a:srgbClr val="002060"/>
                </a:solidFill>
                <a:latin typeface="微软雅黑" pitchFamily="34" charset="-122"/>
                <a:ea typeface="微软雅黑" pitchFamily="34" charset="-122"/>
              </a:rPr>
              <a:t>.  </a:t>
            </a:r>
            <a:r>
              <a:rPr lang="zh-CN" altLang="en-US" sz="3200" b="1" dirty="0">
                <a:solidFill>
                  <a:srgbClr val="002060"/>
                </a:solidFill>
                <a:latin typeface="微软雅黑" pitchFamily="34" charset="-122"/>
                <a:ea typeface="微软雅黑" pitchFamily="34" charset="-122"/>
              </a:rPr>
              <a:t>总结</a:t>
            </a:r>
            <a:endParaRPr lang="en-US" altLang="zh-CN" sz="3200" b="1" dirty="0">
              <a:solidFill>
                <a:srgbClr val="002060"/>
              </a:solidFill>
              <a:latin typeface="微软雅黑" pitchFamily="34" charset="-122"/>
              <a:ea typeface="微软雅黑" pitchFamily="34" charset="-122"/>
            </a:endParaRPr>
          </a:p>
          <a:p>
            <a:pPr marL="0" indent="0" eaLnBrk="1" hangingPunct="1">
              <a:lnSpc>
                <a:spcPct val="250000"/>
              </a:lnSpc>
              <a:buFontTx/>
              <a:buNone/>
            </a:pPr>
            <a:endParaRPr lang="en-US" altLang="zh-CN" sz="3200" b="1" dirty="0">
              <a:solidFill>
                <a:srgbClr val="002060"/>
              </a:solidFill>
              <a:latin typeface="微软雅黑" pitchFamily="34" charset="-122"/>
              <a:ea typeface="微软雅黑" pitchFamily="34" charset="-122"/>
            </a:endParaRPr>
          </a:p>
        </p:txBody>
      </p:sp>
    </p:spTree>
    <p:extLst>
      <p:ext uri="{BB962C8B-B14F-4D97-AF65-F5344CB8AC3E}">
        <p14:creationId xmlns:p14="http://schemas.microsoft.com/office/powerpoint/2010/main" val="995642550"/>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10247" name="Rectangle 7"/>
          <p:cNvSpPr>
            <a:spLocks noChangeArrowheads="1"/>
          </p:cNvSpPr>
          <p:nvPr/>
        </p:nvSpPr>
        <p:spPr bwMode="auto">
          <a:xfrm>
            <a:off x="0" y="2879725"/>
            <a:ext cx="1841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9232" name="Text Box 21"/>
          <p:cNvSpPr txBox="1">
            <a:spLocks noChangeArrowheads="1"/>
          </p:cNvSpPr>
          <p:nvPr/>
        </p:nvSpPr>
        <p:spPr bwMode="auto">
          <a:xfrm>
            <a:off x="23813" y="1050925"/>
            <a:ext cx="617280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algn="ctr" eaLnBrk="1" hangingPunct="1">
              <a:spcBef>
                <a:spcPct val="50000"/>
              </a:spcBef>
            </a:pPr>
            <a:r>
              <a:rPr kumimoji="1" lang="en-US" altLang="zh-CN" sz="3200" b="1" dirty="0">
                <a:solidFill>
                  <a:srgbClr val="FF0000"/>
                </a:solidFill>
                <a:latin typeface="微软雅黑" pitchFamily="34" charset="-122"/>
                <a:ea typeface="微软雅黑" pitchFamily="34" charset="-122"/>
              </a:rPr>
              <a:t>1. </a:t>
            </a:r>
            <a:r>
              <a:rPr kumimoji="1" lang="zh-CN" altLang="en-US" sz="3200" b="1" dirty="0">
                <a:solidFill>
                  <a:srgbClr val="FF0000"/>
                </a:solidFill>
                <a:latin typeface="微软雅黑" pitchFamily="34" charset="-122"/>
                <a:ea typeface="微软雅黑" pitchFamily="34" charset="-122"/>
              </a:rPr>
              <a:t>从统计数据变量间的关系说起：</a:t>
            </a:r>
          </a:p>
        </p:txBody>
      </p:sp>
      <p:sp>
        <p:nvSpPr>
          <p:cNvPr id="9233" name="矩形 1"/>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25" name="椭圆 24"/>
          <p:cNvSpPr/>
          <p:nvPr/>
        </p:nvSpPr>
        <p:spPr bwMode="auto">
          <a:xfrm>
            <a:off x="473374" y="3731930"/>
            <a:ext cx="2824455" cy="2824620"/>
          </a:xfrm>
          <a:prstGeom prst="ellipse">
            <a:avLst/>
          </a:prstGeom>
          <a:solidFill>
            <a:srgbClr val="CCFFFF">
              <a:alpha val="60000"/>
            </a:srgbClr>
          </a:solidFill>
          <a:ln>
            <a:solidFill>
              <a:srgbClr val="FF0000"/>
            </a:solidFill>
          </a:ln>
        </p:spPr>
        <p:txBody>
          <a:bodyPr rtlCol="0" anchor="ctr"/>
          <a:lstStyle/>
          <a:p>
            <a:pPr algn="ctr" eaLnBrk="1" hangingPunct="1"/>
            <a:endParaRPr lang="zh-CN" altLang="en-US" dirty="0"/>
          </a:p>
        </p:txBody>
      </p:sp>
      <p:sp>
        <p:nvSpPr>
          <p:cNvPr id="27" name="Line 6"/>
          <p:cNvSpPr/>
          <p:nvPr/>
        </p:nvSpPr>
        <p:spPr>
          <a:xfrm>
            <a:off x="1957376" y="2312857"/>
            <a:ext cx="4902994" cy="0"/>
          </a:xfrm>
          <a:prstGeom prst="line">
            <a:avLst/>
          </a:prstGeom>
          <a:ln w="28575" cap="flat" cmpd="sng">
            <a:solidFill>
              <a:srgbClr val="008080"/>
            </a:solidFill>
            <a:prstDash val="solid"/>
            <a:headEnd type="none" w="med" len="med"/>
            <a:tailEnd type="none" w="med" len="med"/>
          </a:ln>
        </p:spPr>
        <p:txBody>
          <a:bodyPr/>
          <a:lstStyle/>
          <a:p>
            <a:endParaRPr lang="zh-CN" altLang="en-US"/>
          </a:p>
        </p:txBody>
      </p:sp>
      <p:sp>
        <p:nvSpPr>
          <p:cNvPr id="28" name="Oval 13">
            <a:hlinkClick r:id="" action="ppaction://hlinkshowjump?jump=nextslide"/>
          </p:cNvPr>
          <p:cNvSpPr/>
          <p:nvPr/>
        </p:nvSpPr>
        <p:spPr>
          <a:xfrm>
            <a:off x="1143201" y="1666744"/>
            <a:ext cx="1409488" cy="1246188"/>
          </a:xfrm>
          <a:prstGeom prst="ellipse">
            <a:avLst/>
          </a:prstGeom>
          <a:ln/>
        </p:spPr>
        <p:style>
          <a:lnRef idx="1">
            <a:schemeClr val="accent2"/>
          </a:lnRef>
          <a:fillRef idx="3">
            <a:schemeClr val="accent2"/>
          </a:fillRef>
          <a:effectRef idx="2">
            <a:schemeClr val="accent2"/>
          </a:effectRef>
          <a:fontRef idx="minor">
            <a:schemeClr val="lt1"/>
          </a:fontRef>
        </p:style>
        <p:txBody>
          <a:bodyPr wrap="none" anchor="ctr"/>
          <a:lstStyle/>
          <a:p>
            <a:pPr algn="ctr" latinLnBrk="1"/>
            <a:r>
              <a:rPr lang="zh-CN" altLang="en-US" sz="2400" dirty="0">
                <a:solidFill>
                  <a:schemeClr val="bg1"/>
                </a:solidFill>
                <a:latin typeface="微软雅黑" pitchFamily="34" charset="-122"/>
                <a:ea typeface="微软雅黑" pitchFamily="34" charset="-122"/>
              </a:rPr>
              <a:t>函数关系</a:t>
            </a:r>
            <a:endParaRPr lang="en-US" altLang="ko-KR" sz="2400" dirty="0">
              <a:solidFill>
                <a:schemeClr val="bg1"/>
              </a:solidFill>
              <a:latin typeface="微软雅黑" pitchFamily="34" charset="-122"/>
              <a:ea typeface="微软雅黑" pitchFamily="34" charset="-122"/>
            </a:endParaRPr>
          </a:p>
        </p:txBody>
      </p:sp>
      <p:sp>
        <p:nvSpPr>
          <p:cNvPr id="29" name="Oval 14">
            <a:hlinkClick r:id="" action="ppaction://noaction"/>
          </p:cNvPr>
          <p:cNvSpPr/>
          <p:nvPr/>
        </p:nvSpPr>
        <p:spPr>
          <a:xfrm>
            <a:off x="6196620" y="1691796"/>
            <a:ext cx="1375563" cy="1208806"/>
          </a:xfrm>
          <a:prstGeom prst="ellipse">
            <a:avLst/>
          </a:prstGeom>
          <a:ln/>
        </p:spPr>
        <p:style>
          <a:lnRef idx="1">
            <a:schemeClr val="accent2"/>
          </a:lnRef>
          <a:fillRef idx="3">
            <a:schemeClr val="accent2"/>
          </a:fillRef>
          <a:effectRef idx="2">
            <a:schemeClr val="accent2"/>
          </a:effectRef>
          <a:fontRef idx="minor">
            <a:schemeClr val="lt1"/>
          </a:fontRef>
        </p:style>
        <p:txBody>
          <a:bodyPr wrap="none" anchor="ctr"/>
          <a:lstStyle/>
          <a:p>
            <a:pPr algn="ctr" latinLnBrk="1">
              <a:lnSpc>
                <a:spcPct val="80000"/>
              </a:lnSpc>
              <a:spcBef>
                <a:spcPts val="50"/>
              </a:spcBef>
            </a:pPr>
            <a:r>
              <a:rPr lang="zh-CN" altLang="en-US" sz="2400" dirty="0">
                <a:solidFill>
                  <a:schemeClr val="bg1"/>
                </a:solidFill>
                <a:latin typeface="微软雅黑" pitchFamily="34" charset="-122"/>
                <a:ea typeface="微软雅黑" pitchFamily="34" charset="-122"/>
              </a:rPr>
              <a:t>相关关系</a:t>
            </a:r>
            <a:endParaRPr lang="en-US" altLang="ko-KR" sz="2400" dirty="0">
              <a:solidFill>
                <a:schemeClr val="bg1"/>
              </a:solidFill>
              <a:latin typeface="微软雅黑" pitchFamily="34" charset="-122"/>
              <a:ea typeface="微软雅黑" pitchFamily="34" charset="-122"/>
            </a:endParaRPr>
          </a:p>
        </p:txBody>
      </p:sp>
      <p:sp>
        <p:nvSpPr>
          <p:cNvPr id="30" name="Oval 21"/>
          <p:cNvSpPr/>
          <p:nvPr/>
        </p:nvSpPr>
        <p:spPr>
          <a:xfrm>
            <a:off x="3144034" y="1628644"/>
            <a:ext cx="2542782" cy="1371600"/>
          </a:xfrm>
          <a:prstGeom prst="ellipse">
            <a:avLst/>
          </a:prstGeom>
          <a:gradFill rotWithShape="1">
            <a:gsLst>
              <a:gs pos="0">
                <a:srgbClr val="B2B2B2"/>
              </a:gs>
              <a:gs pos="50000">
                <a:srgbClr val="FFFFFF"/>
              </a:gs>
              <a:gs pos="100000">
                <a:srgbClr val="B2B2B2"/>
              </a:gs>
            </a:gsLst>
            <a:lin ang="0" scaled="1"/>
            <a:tileRect/>
          </a:gradFill>
          <a:ln w="9525">
            <a:noFill/>
          </a:ln>
        </p:spPr>
        <p:txBody>
          <a:bodyPr wrap="none" anchor="ctr"/>
          <a:lstStyle/>
          <a:p>
            <a:endParaRPr lang="zh-CN" altLang="en-US" dirty="0">
              <a:latin typeface="Arial" panose="020B0604020202020204" pitchFamily="34" charset="0"/>
            </a:endParaRPr>
          </a:p>
        </p:txBody>
      </p:sp>
      <p:sp>
        <p:nvSpPr>
          <p:cNvPr id="31" name="Oval 22"/>
          <p:cNvSpPr/>
          <p:nvPr/>
        </p:nvSpPr>
        <p:spPr>
          <a:xfrm>
            <a:off x="3419604" y="1741901"/>
            <a:ext cx="1941535" cy="1146175"/>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latinLnBrk="1">
              <a:lnSpc>
                <a:spcPct val="90000"/>
              </a:lnSpc>
            </a:pPr>
            <a:r>
              <a:rPr lang="zh-CN" altLang="en-US" sz="2400" dirty="0">
                <a:solidFill>
                  <a:schemeClr val="tx1"/>
                </a:solidFill>
                <a:latin typeface="黑体" panose="02010609060101010101" pitchFamily="49" charset="-122"/>
                <a:ea typeface="黑体" panose="02010609060101010101" pitchFamily="49" charset="-122"/>
              </a:rPr>
              <a:t>变量间的关系</a:t>
            </a:r>
          </a:p>
        </p:txBody>
      </p:sp>
      <mc:AlternateContent xmlns:mc="http://schemas.openxmlformats.org/markup-compatibility/2006" xmlns:a14="http://schemas.microsoft.com/office/drawing/2010/main">
        <mc:Choice Requires="a14">
          <p:sp>
            <p:nvSpPr>
              <p:cNvPr id="32" name="TextBox 31"/>
              <p:cNvSpPr txBox="1"/>
              <p:nvPr/>
            </p:nvSpPr>
            <p:spPr>
              <a:xfrm>
                <a:off x="882462" y="4467308"/>
                <a:ext cx="1610057" cy="5329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800" b="1" i="1" smtClean="0">
                          <a:solidFill>
                            <a:schemeClr val="tx1"/>
                          </a:solidFill>
                          <a:latin typeface="Cambria Math"/>
                        </a:rPr>
                        <m:t>𝑺</m:t>
                      </m:r>
                      <m:r>
                        <a:rPr lang="en-US" altLang="zh-CN" sz="2800" b="1" i="1" smtClean="0">
                          <a:solidFill>
                            <a:schemeClr val="tx1"/>
                          </a:solidFill>
                          <a:latin typeface="Cambria Math"/>
                        </a:rPr>
                        <m:t>=</m:t>
                      </m:r>
                      <m:r>
                        <a:rPr lang="el-GR" altLang="zh-CN" sz="2800" b="1" i="1" smtClean="0">
                          <a:solidFill>
                            <a:schemeClr val="tx1"/>
                          </a:solidFill>
                          <a:latin typeface="Cambria Math"/>
                        </a:rPr>
                        <m:t>𝝅</m:t>
                      </m:r>
                      <m:sSup>
                        <m:sSupPr>
                          <m:ctrlPr>
                            <a:rPr lang="en-US" altLang="zh-CN" sz="2800" b="1" i="1" smtClean="0">
                              <a:solidFill>
                                <a:schemeClr val="tx1"/>
                              </a:solidFill>
                              <a:latin typeface="Cambria Math" panose="02040503050406030204" pitchFamily="18" charset="0"/>
                            </a:rPr>
                          </m:ctrlPr>
                        </m:sSupPr>
                        <m:e>
                          <m:r>
                            <a:rPr lang="en-US" altLang="zh-CN" sz="2800" b="1" i="1" smtClean="0">
                              <a:solidFill>
                                <a:schemeClr val="tx1"/>
                              </a:solidFill>
                              <a:latin typeface="Cambria Math"/>
                            </a:rPr>
                            <m:t>𝒓</m:t>
                          </m:r>
                        </m:e>
                        <m:sup>
                          <m:r>
                            <a:rPr lang="en-US" altLang="zh-CN" sz="2800" b="1" i="1" smtClean="0">
                              <a:solidFill>
                                <a:schemeClr val="tx1"/>
                              </a:solidFill>
                              <a:latin typeface="Cambria Math"/>
                            </a:rPr>
                            <m:t>𝟐</m:t>
                          </m:r>
                        </m:sup>
                      </m:sSup>
                    </m:oMath>
                  </m:oMathPara>
                </a14:m>
                <a:endParaRPr lang="zh-CN" altLang="en-US" sz="2800" b="1" dirty="0">
                  <a:solidFill>
                    <a:schemeClr val="tx1"/>
                  </a:solidFill>
                  <a:latin typeface="Arial" pitchFamily="34" charset="0"/>
                  <a:cs typeface="Arial" pitchFamily="34" charset="0"/>
                </a:endParaRPr>
              </a:p>
            </p:txBody>
          </p:sp>
        </mc:Choice>
        <mc:Fallback xmlns="">
          <p:sp>
            <p:nvSpPr>
              <p:cNvPr id="32" name="TextBox 31"/>
              <p:cNvSpPr txBox="1">
                <a:spLocks noRot="1" noChangeAspect="1" noMove="1" noResize="1" noEditPoints="1" noAdjustHandles="1" noChangeArrowheads="1" noChangeShapeType="1" noTextEdit="1"/>
              </p:cNvSpPr>
              <p:nvPr/>
            </p:nvSpPr>
            <p:spPr>
              <a:xfrm>
                <a:off x="882462" y="4467308"/>
                <a:ext cx="1610057" cy="532966"/>
              </a:xfrm>
              <a:prstGeom prst="rect">
                <a:avLst/>
              </a:prstGeom>
              <a:blipFill rotWithShape="1">
                <a:blip r:embed="rId2"/>
                <a:stretch>
                  <a:fillRect/>
                </a:stretch>
              </a:blipFill>
            </p:spPr>
            <p:txBody>
              <a:bodyPr/>
              <a:lstStyle/>
              <a:p>
                <a:r>
                  <a:rPr lang="zh-CN" altLang="en-US">
                    <a:noFill/>
                  </a:rPr>
                  <a:t> </a:t>
                </a:r>
              </a:p>
            </p:txBody>
          </p:sp>
        </mc:Fallback>
      </mc:AlternateContent>
      <p:cxnSp>
        <p:nvCxnSpPr>
          <p:cNvPr id="33" name="直接连接符 32"/>
          <p:cNvCxnSpPr>
            <a:endCxn id="25" idx="6"/>
          </p:cNvCxnSpPr>
          <p:nvPr/>
        </p:nvCxnSpPr>
        <p:spPr>
          <a:xfrm>
            <a:off x="1957376" y="5144240"/>
            <a:ext cx="1340453" cy="0"/>
          </a:xfrm>
          <a:prstGeom prst="line">
            <a:avLst/>
          </a:prstGeom>
          <a:ln w="38100">
            <a:solidFill>
              <a:srgbClr val="000099"/>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643665" y="5356791"/>
            <a:ext cx="228141" cy="461665"/>
          </a:xfrm>
          <a:prstGeom prst="rect">
            <a:avLst/>
          </a:prstGeom>
          <a:noFill/>
        </p:spPr>
        <p:txBody>
          <a:bodyPr wrap="square" rtlCol="0">
            <a:spAutoFit/>
          </a:bodyPr>
          <a:lstStyle/>
          <a:p>
            <a:r>
              <a:rPr lang="en-US" altLang="zh-CN" sz="2400" dirty="0">
                <a:latin typeface="Times New Roman" pitchFamily="18" charset="0"/>
                <a:cs typeface="Times New Roman" pitchFamily="18" charset="0"/>
              </a:rPr>
              <a:t>O</a:t>
            </a:r>
            <a:endParaRPr lang="zh-CN" altLang="en-US" sz="2400" dirty="0">
              <a:latin typeface="Times New Roman" pitchFamily="18" charset="0"/>
              <a:cs typeface="Times New Roman" pitchFamily="18" charset="0"/>
            </a:endParaRPr>
          </a:p>
        </p:txBody>
      </p:sp>
      <p:sp>
        <p:nvSpPr>
          <p:cNvPr id="35" name="椭圆 34"/>
          <p:cNvSpPr/>
          <p:nvPr/>
        </p:nvSpPr>
        <p:spPr bwMode="auto">
          <a:xfrm flipH="1" flipV="1">
            <a:off x="1837241" y="5081609"/>
            <a:ext cx="154662" cy="136051"/>
          </a:xfrm>
          <a:prstGeom prst="ellipse">
            <a:avLst/>
          </a:prstGeom>
          <a:solidFill>
            <a:srgbClr val="FF0000"/>
          </a:solidFill>
          <a:ln>
            <a:noFill/>
          </a:ln>
        </p:spPr>
        <p:txBody>
          <a:bodyPr rtlCol="0" anchor="ctr"/>
          <a:lstStyle/>
          <a:p>
            <a:pPr algn="ctr" eaLnBrk="1" hangingPunct="1"/>
            <a:endParaRPr lang="zh-CN" altLang="en-US"/>
          </a:p>
        </p:txBody>
      </p:sp>
      <p:sp>
        <p:nvSpPr>
          <p:cNvPr id="36" name="TextBox 35"/>
          <p:cNvSpPr txBox="1"/>
          <p:nvPr/>
        </p:nvSpPr>
        <p:spPr>
          <a:xfrm>
            <a:off x="358900" y="3051629"/>
            <a:ext cx="3416320" cy="523220"/>
          </a:xfrm>
          <a:prstGeom prst="rect">
            <a:avLst/>
          </a:prstGeom>
          <a:noFill/>
        </p:spPr>
        <p:txBody>
          <a:bodyPr wrap="none" rtlCol="0">
            <a:spAutoFit/>
          </a:bodyPr>
          <a:lstStyle/>
          <a:p>
            <a:r>
              <a:rPr lang="zh-CN" altLang="en-US" sz="2800" dirty="0">
                <a:latin typeface="微软雅黑" pitchFamily="34" charset="-122"/>
                <a:ea typeface="微软雅黑" pitchFamily="34" charset="-122"/>
              </a:rPr>
              <a:t>圆的面积与圆的半径</a:t>
            </a:r>
          </a:p>
        </p:txBody>
      </p:sp>
      <p:sp>
        <p:nvSpPr>
          <p:cNvPr id="37" name="TextBox 36"/>
          <p:cNvSpPr txBox="1"/>
          <p:nvPr/>
        </p:nvSpPr>
        <p:spPr>
          <a:xfrm>
            <a:off x="5009535" y="3075507"/>
            <a:ext cx="4134465" cy="523220"/>
          </a:xfrm>
          <a:prstGeom prst="rect">
            <a:avLst/>
          </a:prstGeom>
          <a:noFill/>
        </p:spPr>
        <p:txBody>
          <a:bodyPr wrap="none" rtlCol="0">
            <a:spAutoFit/>
          </a:bodyPr>
          <a:lstStyle/>
          <a:p>
            <a:r>
              <a:rPr lang="zh-CN" altLang="en-US" sz="2800" dirty="0">
                <a:latin typeface="微软雅黑" pitchFamily="34" charset="-122"/>
                <a:ea typeface="微软雅黑" pitchFamily="34" charset="-122"/>
              </a:rPr>
              <a:t>父母的身高与子女的身高</a:t>
            </a:r>
          </a:p>
        </p:txBody>
      </p:sp>
      <p:pic>
        <p:nvPicPr>
          <p:cNvPr id="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3665" y="3661358"/>
            <a:ext cx="3169086" cy="3368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39" name="矩形 38"/>
              <p:cNvSpPr/>
              <p:nvPr/>
            </p:nvSpPr>
            <p:spPr>
              <a:xfrm>
                <a:off x="4102051" y="4605278"/>
                <a:ext cx="4993675" cy="10779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a:rPr>
                        <m:t>𝑟</m:t>
                      </m:r>
                      <m:r>
                        <a:rPr lang="zh-CN" altLang="en-US" sz="2400">
                          <a:latin typeface="Cambria Math"/>
                        </a:rPr>
                        <m:t>=</m:t>
                      </m:r>
                      <m:f>
                        <m:fPr>
                          <m:ctrlPr>
                            <a:rPr lang="zh-CN" altLang="en-US" sz="2400" i="1">
                              <a:latin typeface="Cambria Math" panose="02040503050406030204" pitchFamily="18" charset="0"/>
                            </a:rPr>
                          </m:ctrlPr>
                        </m:fPr>
                        <m:num>
                          <m:nary>
                            <m:naryPr>
                              <m:chr m:val="∑"/>
                              <m:limLoc m:val="undOvr"/>
                              <m:grow m:val="on"/>
                              <m:ctrlPr>
                                <a:rPr lang="zh-CN" altLang="en-US" sz="2400" i="1">
                                  <a:latin typeface="Cambria Math" panose="02040503050406030204" pitchFamily="18" charset="0"/>
                                </a:rPr>
                              </m:ctrlPr>
                            </m:naryPr>
                            <m:sub>
                              <m:r>
                                <a:rPr lang="zh-CN" altLang="en-US" sz="2400" i="1">
                                  <a:latin typeface="Cambria Math"/>
                                </a:rPr>
                                <m:t>𝑖</m:t>
                              </m:r>
                              <m:r>
                                <a:rPr lang="zh-CN" altLang="en-US" sz="2400">
                                  <a:latin typeface="Cambria Math"/>
                                </a:rPr>
                                <m:t>=1</m:t>
                              </m:r>
                            </m:sub>
                            <m:sup>
                              <m:r>
                                <a:rPr lang="zh-CN" altLang="en-US" sz="2400" i="1">
                                  <a:latin typeface="Cambria Math"/>
                                </a:rPr>
                                <m:t>𝑛</m:t>
                              </m:r>
                            </m:sup>
                            <m:e>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a:rPr>
                                        <m:t>𝑥</m:t>
                                      </m:r>
                                    </m:e>
                                    <m:sub>
                                      <m:r>
                                        <a:rPr lang="zh-CN" altLang="en-US" sz="2400" i="1">
                                          <a:latin typeface="Cambria Math"/>
                                        </a:rPr>
                                        <m:t>𝑖</m:t>
                                      </m:r>
                                    </m:sub>
                                  </m:sSub>
                                  <m:r>
                                    <a:rPr lang="zh-CN" altLang="en-US" sz="2400">
                                      <a:latin typeface="Cambria Math"/>
                                    </a:rPr>
                                    <m:t>−</m:t>
                                  </m:r>
                                  <m:acc>
                                    <m:accPr>
                                      <m:chr m:val="̅"/>
                                      <m:ctrlPr>
                                        <a:rPr lang="zh-CN" altLang="en-US" sz="2400" i="1">
                                          <a:latin typeface="Cambria Math" panose="02040503050406030204" pitchFamily="18" charset="0"/>
                                        </a:rPr>
                                      </m:ctrlPr>
                                    </m:accPr>
                                    <m:e>
                                      <m:r>
                                        <a:rPr lang="zh-CN" altLang="en-US" sz="2400" i="1">
                                          <a:latin typeface="Cambria Math"/>
                                        </a:rPr>
                                        <m:t>𝑥</m:t>
                                      </m:r>
                                    </m:e>
                                  </m:acc>
                                  <m:r>
                                    <a:rPr lang="zh-CN" altLang="en-US" sz="2400">
                                      <a:latin typeface="Cambria Math"/>
                                    </a:rPr>
                                    <m:t>)(</m:t>
                                  </m:r>
                                  <m:sSub>
                                    <m:sSubPr>
                                      <m:ctrlPr>
                                        <a:rPr lang="zh-CN" altLang="en-US" sz="2400" i="1">
                                          <a:latin typeface="Cambria Math" panose="02040503050406030204" pitchFamily="18" charset="0"/>
                                        </a:rPr>
                                      </m:ctrlPr>
                                    </m:sSubPr>
                                    <m:e>
                                      <m:r>
                                        <a:rPr lang="zh-CN" altLang="en-US" sz="2400" i="1">
                                          <a:latin typeface="Cambria Math"/>
                                        </a:rPr>
                                        <m:t>𝑦</m:t>
                                      </m:r>
                                    </m:e>
                                    <m:sub>
                                      <m:r>
                                        <a:rPr lang="zh-CN" altLang="en-US" sz="2400" i="1">
                                          <a:latin typeface="Cambria Math"/>
                                        </a:rPr>
                                        <m:t>𝑖</m:t>
                                      </m:r>
                                    </m:sub>
                                  </m:sSub>
                                  <m:r>
                                    <a:rPr lang="zh-CN" altLang="en-US" sz="2400">
                                      <a:latin typeface="Cambria Math"/>
                                    </a:rPr>
                                    <m:t>−</m:t>
                                  </m:r>
                                  <m:acc>
                                    <m:accPr>
                                      <m:chr m:val="̅"/>
                                      <m:ctrlPr>
                                        <a:rPr lang="zh-CN" altLang="en-US" sz="2400" i="1">
                                          <a:latin typeface="Cambria Math" panose="02040503050406030204" pitchFamily="18" charset="0"/>
                                        </a:rPr>
                                      </m:ctrlPr>
                                    </m:accPr>
                                    <m:e>
                                      <m:r>
                                        <a:rPr lang="zh-CN" altLang="en-US" sz="2400" i="1">
                                          <a:latin typeface="Cambria Math"/>
                                        </a:rPr>
                                        <m:t>𝑦</m:t>
                                      </m:r>
                                    </m:e>
                                  </m:acc>
                                </m:e>
                              </m:d>
                            </m:e>
                          </m:nary>
                        </m:num>
                        <m:den>
                          <m:rad>
                            <m:radPr>
                              <m:degHide m:val="on"/>
                              <m:ctrlPr>
                                <a:rPr lang="zh-CN" altLang="en-US" sz="2400" i="1">
                                  <a:latin typeface="Cambria Math" panose="02040503050406030204" pitchFamily="18" charset="0"/>
                                </a:rPr>
                              </m:ctrlPr>
                            </m:radPr>
                            <m:deg/>
                            <m:e>
                              <m:nary>
                                <m:naryPr>
                                  <m:chr m:val="∑"/>
                                  <m:limLoc m:val="undOvr"/>
                                  <m:grow m:val="on"/>
                                  <m:ctrlPr>
                                    <a:rPr lang="zh-CN" altLang="en-US" sz="2400" i="1">
                                      <a:latin typeface="Cambria Math" panose="02040503050406030204" pitchFamily="18" charset="0"/>
                                    </a:rPr>
                                  </m:ctrlPr>
                                </m:naryPr>
                                <m:sub>
                                  <m:r>
                                    <a:rPr lang="zh-CN" altLang="en-US" sz="2400" i="1">
                                      <a:latin typeface="Cambria Math"/>
                                    </a:rPr>
                                    <m:t>𝑖</m:t>
                                  </m:r>
                                  <m:r>
                                    <a:rPr lang="zh-CN" altLang="en-US" sz="2400">
                                      <a:latin typeface="Cambria Math"/>
                                    </a:rPr>
                                    <m:t>=1</m:t>
                                  </m:r>
                                </m:sub>
                                <m:sup>
                                  <m:r>
                                    <a:rPr lang="zh-CN" altLang="en-US" sz="2400" i="1">
                                      <a:latin typeface="Cambria Math"/>
                                    </a:rPr>
                                    <m:t>𝑛</m:t>
                                  </m:r>
                                </m:sup>
                                <m:e>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a:rPr>
                                                <m:t>𝑥</m:t>
                                              </m:r>
                                            </m:e>
                                            <m:sub>
                                              <m:r>
                                                <a:rPr lang="zh-CN" altLang="en-US" sz="2400" i="1">
                                                  <a:latin typeface="Cambria Math"/>
                                                </a:rPr>
                                                <m:t>𝑖</m:t>
                                              </m:r>
                                            </m:sub>
                                          </m:sSub>
                                          <m:r>
                                            <a:rPr lang="zh-CN" altLang="en-US" sz="2400">
                                              <a:latin typeface="Cambria Math"/>
                                            </a:rPr>
                                            <m:t>−</m:t>
                                          </m:r>
                                          <m:acc>
                                            <m:accPr>
                                              <m:chr m:val="̅"/>
                                              <m:ctrlPr>
                                                <a:rPr lang="zh-CN" altLang="en-US" sz="2400" i="1">
                                                  <a:latin typeface="Cambria Math" panose="02040503050406030204" pitchFamily="18" charset="0"/>
                                                </a:rPr>
                                              </m:ctrlPr>
                                            </m:accPr>
                                            <m:e>
                                              <m:r>
                                                <a:rPr lang="zh-CN" altLang="en-US" sz="2400" i="1">
                                                  <a:latin typeface="Cambria Math"/>
                                                </a:rPr>
                                                <m:t>𝑥</m:t>
                                              </m:r>
                                            </m:e>
                                          </m:acc>
                                        </m:e>
                                      </m:d>
                                    </m:e>
                                    <m:sup>
                                      <m:r>
                                        <a:rPr lang="zh-CN" altLang="en-US" sz="2400">
                                          <a:latin typeface="Cambria Math"/>
                                        </a:rPr>
                                        <m:t>2</m:t>
                                      </m:r>
                                    </m:sup>
                                  </m:sSup>
                                </m:e>
                              </m:nary>
                            </m:e>
                          </m:rad>
                          <m:rad>
                            <m:radPr>
                              <m:degHide m:val="on"/>
                              <m:ctrlPr>
                                <a:rPr lang="zh-CN" altLang="en-US" sz="2400" i="1">
                                  <a:latin typeface="Cambria Math" panose="02040503050406030204" pitchFamily="18" charset="0"/>
                                </a:rPr>
                              </m:ctrlPr>
                            </m:radPr>
                            <m:deg/>
                            <m:e>
                              <m:nary>
                                <m:naryPr>
                                  <m:chr m:val="∑"/>
                                  <m:limLoc m:val="undOvr"/>
                                  <m:grow m:val="on"/>
                                  <m:ctrlPr>
                                    <a:rPr lang="zh-CN" altLang="en-US" sz="2400" i="1">
                                      <a:latin typeface="Cambria Math" panose="02040503050406030204" pitchFamily="18" charset="0"/>
                                    </a:rPr>
                                  </m:ctrlPr>
                                </m:naryPr>
                                <m:sub>
                                  <m:r>
                                    <a:rPr lang="zh-CN" altLang="en-US" sz="2400" i="1">
                                      <a:latin typeface="Cambria Math"/>
                                    </a:rPr>
                                    <m:t>𝑖</m:t>
                                  </m:r>
                                  <m:r>
                                    <a:rPr lang="zh-CN" altLang="en-US" sz="2400">
                                      <a:latin typeface="Cambria Math"/>
                                    </a:rPr>
                                    <m:t>=1</m:t>
                                  </m:r>
                                </m:sub>
                                <m:sup>
                                  <m:r>
                                    <a:rPr lang="zh-CN" altLang="en-US" sz="2400" i="1">
                                      <a:latin typeface="Cambria Math"/>
                                    </a:rPr>
                                    <m:t>𝑛</m:t>
                                  </m:r>
                                </m:sup>
                                <m:e>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a:rPr>
                                                <m:t>𝑦</m:t>
                                              </m:r>
                                            </m:e>
                                            <m:sub>
                                              <m:r>
                                                <a:rPr lang="zh-CN" altLang="en-US" sz="2400" i="1">
                                                  <a:latin typeface="Cambria Math"/>
                                                </a:rPr>
                                                <m:t>𝑖</m:t>
                                              </m:r>
                                            </m:sub>
                                          </m:sSub>
                                          <m:r>
                                            <a:rPr lang="zh-CN" altLang="en-US" sz="2400">
                                              <a:latin typeface="Cambria Math"/>
                                            </a:rPr>
                                            <m:t>−</m:t>
                                          </m:r>
                                          <m:acc>
                                            <m:accPr>
                                              <m:chr m:val="̅"/>
                                              <m:ctrlPr>
                                                <a:rPr lang="zh-CN" altLang="en-US" sz="2400" i="1">
                                                  <a:latin typeface="Cambria Math" panose="02040503050406030204" pitchFamily="18" charset="0"/>
                                                </a:rPr>
                                              </m:ctrlPr>
                                            </m:accPr>
                                            <m:e>
                                              <m:r>
                                                <a:rPr lang="zh-CN" altLang="en-US" sz="2400" i="1">
                                                  <a:latin typeface="Cambria Math"/>
                                                </a:rPr>
                                                <m:t>𝑦</m:t>
                                              </m:r>
                                            </m:e>
                                          </m:acc>
                                        </m:e>
                                      </m:d>
                                    </m:e>
                                    <m:sup>
                                      <m:r>
                                        <a:rPr lang="zh-CN" altLang="en-US" sz="2400">
                                          <a:latin typeface="Cambria Math"/>
                                        </a:rPr>
                                        <m:t>2</m:t>
                                      </m:r>
                                    </m:sup>
                                  </m:sSup>
                                </m:e>
                              </m:nary>
                            </m:e>
                          </m:rad>
                        </m:den>
                      </m:f>
                    </m:oMath>
                  </m:oMathPara>
                </a14:m>
                <a:endParaRPr lang="zh-CN" altLang="en-US" sz="2400" dirty="0"/>
              </a:p>
            </p:txBody>
          </p:sp>
        </mc:Choice>
        <mc:Fallback xmlns="">
          <p:sp>
            <p:nvSpPr>
              <p:cNvPr id="39" name="矩形 38"/>
              <p:cNvSpPr>
                <a:spLocks noRot="1" noChangeAspect="1" noMove="1" noResize="1" noEditPoints="1" noAdjustHandles="1" noChangeArrowheads="1" noChangeShapeType="1" noTextEdit="1"/>
              </p:cNvSpPr>
              <p:nvPr/>
            </p:nvSpPr>
            <p:spPr>
              <a:xfrm>
                <a:off x="4102051" y="4605278"/>
                <a:ext cx="4993675" cy="1077924"/>
              </a:xfrm>
              <a:prstGeom prst="rect">
                <a:avLst/>
              </a:prstGeom>
              <a:blipFill rotWithShape="1">
                <a:blip r:embed="rId4"/>
                <a:stretch>
                  <a:fillRect/>
                </a:stretch>
              </a:blipFill>
            </p:spPr>
            <p:txBody>
              <a:bodyPr/>
              <a:lstStyle/>
              <a:p>
                <a:r>
                  <a:rPr lang="zh-CN" altLang="en-US">
                    <a:noFill/>
                  </a:rPr>
                  <a:t> </a:t>
                </a:r>
              </a:p>
            </p:txBody>
          </p:sp>
        </mc:Fallback>
      </mc:AlternateContent>
      <p:sp>
        <p:nvSpPr>
          <p:cNvPr id="40" name="TextBox 39"/>
          <p:cNvSpPr txBox="1"/>
          <p:nvPr/>
        </p:nvSpPr>
        <p:spPr>
          <a:xfrm>
            <a:off x="4724142" y="4082058"/>
            <a:ext cx="1620957" cy="523220"/>
          </a:xfrm>
          <a:prstGeom prst="rect">
            <a:avLst/>
          </a:prstGeom>
          <a:noFill/>
        </p:spPr>
        <p:txBody>
          <a:bodyPr wrap="none" rtlCol="0">
            <a:spAutoFit/>
          </a:bodyPr>
          <a:lstStyle/>
          <a:p>
            <a:r>
              <a:rPr lang="zh-CN" altLang="en-US" sz="2800" b="1" dirty="0">
                <a:solidFill>
                  <a:srgbClr val="FF0000"/>
                </a:solidFill>
                <a:latin typeface="微软雅黑" pitchFamily="34" charset="-122"/>
                <a:ea typeface="微软雅黑" pitchFamily="34" charset="-122"/>
              </a:rPr>
              <a:t>相关系数</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arn(inVertical)">
                                      <p:cBhvr>
                                        <p:cTn id="7" dur="500"/>
                                        <p:tgtEl>
                                          <p:spTgt spid="3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barn(inVertical)">
                                      <p:cBhvr>
                                        <p:cTn id="10" dur="500"/>
                                        <p:tgtEl>
                                          <p:spTgt spid="30"/>
                                        </p:tgtEl>
                                      </p:cBhvr>
                                    </p:animEffect>
                                  </p:childTnLst>
                                </p:cTn>
                              </p:par>
                              <p:par>
                                <p:cTn id="11" presetID="16" presetClass="entr" presetSubtype="21"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barn(inVertical)">
                                      <p:cBhvr>
                                        <p:cTn id="13" dur="500"/>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barn(inVertical)">
                                      <p:cBhvr>
                                        <p:cTn id="18" dur="500"/>
                                        <p:tgtEl>
                                          <p:spTgt spid="28"/>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barn(inVertical)">
                                      <p:cBhvr>
                                        <p:cTn id="23" dur="500"/>
                                        <p:tgtEl>
                                          <p:spTgt spid="25"/>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barn(inVertical)">
                                      <p:cBhvr>
                                        <p:cTn id="26" dur="500"/>
                                        <p:tgtEl>
                                          <p:spTgt spid="32"/>
                                        </p:tgtEl>
                                      </p:cBhvr>
                                    </p:animEffect>
                                  </p:childTnLst>
                                </p:cTn>
                              </p:par>
                              <p:par>
                                <p:cTn id="27" presetID="16" presetClass="entr" presetSubtype="21" fill="hold"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barn(inVertical)">
                                      <p:cBhvr>
                                        <p:cTn id="29" dur="500"/>
                                        <p:tgtEl>
                                          <p:spTgt spid="33"/>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barn(inVertical)">
                                      <p:cBhvr>
                                        <p:cTn id="32" dur="500"/>
                                        <p:tgtEl>
                                          <p:spTgt spid="34"/>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barn(inVertical)">
                                      <p:cBhvr>
                                        <p:cTn id="35" dur="500"/>
                                        <p:tgtEl>
                                          <p:spTgt spid="35"/>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barn(inVertical)">
                                      <p:cBhvr>
                                        <p:cTn id="38" dur="500"/>
                                        <p:tgtEl>
                                          <p:spTgt spid="36"/>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barn(inVertical)">
                                      <p:cBhvr>
                                        <p:cTn id="43" dur="500"/>
                                        <p:tgtEl>
                                          <p:spTgt spid="29"/>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barn(inVertical)">
                                      <p:cBhvr>
                                        <p:cTn id="48" dur="500"/>
                                        <p:tgtEl>
                                          <p:spTgt spid="37"/>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nodeType="click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barn(inVertical)">
                                      <p:cBhvr>
                                        <p:cTn id="53" dur="500"/>
                                        <p:tgtEl>
                                          <p:spTgt spid="38"/>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xit" presetSubtype="0" fill="hold" nodeType="clickEffect">
                                  <p:stCondLst>
                                    <p:cond delay="0"/>
                                  </p:stCondLst>
                                  <p:childTnLst>
                                    <p:set>
                                      <p:cBhvr>
                                        <p:cTn id="57" dur="1" fill="hold">
                                          <p:stCondLst>
                                            <p:cond delay="0"/>
                                          </p:stCondLst>
                                        </p:cTn>
                                        <p:tgtEl>
                                          <p:spTgt spid="38"/>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grpId="0" nodeType="click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barn(inVertical)">
                                      <p:cBhvr>
                                        <p:cTn id="62" dur="500"/>
                                        <p:tgtEl>
                                          <p:spTgt spid="40"/>
                                        </p:tgtEl>
                                      </p:cBhvr>
                                    </p:animEffect>
                                  </p:childTnLst>
                                </p:cTn>
                              </p:par>
                              <p:par>
                                <p:cTn id="63" presetID="16" presetClass="entr" presetSubtype="21" fill="hold" grpId="0" nodeType="with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barn(inVertical)">
                                      <p:cBhvr>
                                        <p:cTn id="6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p:bldP spid="34" grpId="0"/>
      <p:bldP spid="35" grpId="0" animBg="1"/>
      <p:bldP spid="36" grpId="0"/>
      <p:bldP spid="37" grpId="0"/>
      <p:bldP spid="39" grpId="0"/>
      <p:bldP spid="4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10247" name="Rectangle 7"/>
          <p:cNvSpPr>
            <a:spLocks noChangeArrowheads="1"/>
          </p:cNvSpPr>
          <p:nvPr/>
        </p:nvSpPr>
        <p:spPr bwMode="auto">
          <a:xfrm>
            <a:off x="0" y="2879725"/>
            <a:ext cx="1841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9232" name="Text Box 21"/>
          <p:cNvSpPr txBox="1">
            <a:spLocks noChangeArrowheads="1"/>
          </p:cNvSpPr>
          <p:nvPr/>
        </p:nvSpPr>
        <p:spPr bwMode="auto">
          <a:xfrm>
            <a:off x="23813" y="908678"/>
            <a:ext cx="74285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algn="ctr" eaLnBrk="1" hangingPunct="1">
              <a:spcBef>
                <a:spcPct val="50000"/>
              </a:spcBef>
            </a:pPr>
            <a:r>
              <a:rPr kumimoji="1" lang="en-US" altLang="zh-CN" sz="3200" b="1" dirty="0">
                <a:solidFill>
                  <a:srgbClr val="FF0000"/>
                </a:solidFill>
                <a:latin typeface="微软雅黑" pitchFamily="34" charset="-122"/>
                <a:ea typeface="微软雅黑" pitchFamily="34" charset="-122"/>
              </a:rPr>
              <a:t>2. </a:t>
            </a:r>
            <a:r>
              <a:rPr kumimoji="1" lang="zh-CN" altLang="en-US" sz="3200" b="1" dirty="0">
                <a:solidFill>
                  <a:srgbClr val="FF0000"/>
                </a:solidFill>
                <a:latin typeface="微软雅黑" pitchFamily="34" charset="-122"/>
                <a:ea typeface="微软雅黑" pitchFamily="34" charset="-122"/>
              </a:rPr>
              <a:t>根据统计数据变量间的关系进行预测</a:t>
            </a:r>
          </a:p>
        </p:txBody>
      </p:sp>
      <p:sp>
        <p:nvSpPr>
          <p:cNvPr id="9233" name="矩形 1"/>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21" name="TextBox 20"/>
          <p:cNvSpPr txBox="1"/>
          <p:nvPr/>
        </p:nvSpPr>
        <p:spPr>
          <a:xfrm>
            <a:off x="534360" y="1628770"/>
            <a:ext cx="7458077" cy="1015663"/>
          </a:xfrm>
          <a:prstGeom prst="rect">
            <a:avLst/>
          </a:prstGeom>
          <a:noFill/>
        </p:spPr>
        <p:txBody>
          <a:bodyPr wrap="square" rtlCol="0">
            <a:spAutoFit/>
          </a:bodyPr>
          <a:lstStyle/>
          <a:p>
            <a:r>
              <a:rPr lang="zh-CN" altLang="en-US" sz="2000" b="1" dirty="0">
                <a:latin typeface="微软雅黑" pitchFamily="34" charset="-122"/>
                <a:ea typeface="微软雅黑" pitchFamily="34" charset="-122"/>
              </a:rPr>
              <a:t>案例：</a:t>
            </a:r>
            <a:r>
              <a:rPr lang="zh-CN" altLang="en-US" sz="2000" dirty="0">
                <a:latin typeface="微软雅黑" pitchFamily="34" charset="-122"/>
                <a:ea typeface="微软雅黑" pitchFamily="34" charset="-122"/>
              </a:rPr>
              <a:t>某连锁超市品牌拥有多家销售门店，该公司的管理者想了解对每家门店来说广告支出与销售收入的关系，为此根据系统抽样，抽取了</a:t>
            </a:r>
            <a:r>
              <a:rPr lang="en-US" altLang="zh-CN" sz="2000" dirty="0">
                <a:latin typeface="微软雅黑" pitchFamily="34" charset="-122"/>
                <a:ea typeface="微软雅黑" pitchFamily="34" charset="-122"/>
              </a:rPr>
              <a:t>24</a:t>
            </a:r>
            <a:r>
              <a:rPr lang="zh-CN" altLang="en-US" sz="2000" dirty="0">
                <a:latin typeface="微软雅黑" pitchFamily="34" charset="-122"/>
                <a:ea typeface="微软雅黑" pitchFamily="34" charset="-122"/>
              </a:rPr>
              <a:t>家门店为样本，得到相关数据如下（单位：万元）</a:t>
            </a:r>
          </a:p>
        </p:txBody>
      </p:sp>
      <p:graphicFrame>
        <p:nvGraphicFramePr>
          <p:cNvPr id="22" name="表格 21"/>
          <p:cNvGraphicFramePr>
            <a:graphicFrameLocks noGrp="1"/>
          </p:cNvGraphicFramePr>
          <p:nvPr>
            <p:extLst>
              <p:ext uri="{D42A27DB-BD31-4B8C-83A1-F6EECF244321}">
                <p14:modId xmlns:p14="http://schemas.microsoft.com/office/powerpoint/2010/main" val="3135152733"/>
              </p:ext>
            </p:extLst>
          </p:nvPr>
        </p:nvGraphicFramePr>
        <p:xfrm>
          <a:off x="561464" y="2819446"/>
          <a:ext cx="6150282" cy="3870960"/>
        </p:xfrm>
        <a:graphic>
          <a:graphicData uri="http://schemas.openxmlformats.org/drawingml/2006/table">
            <a:tbl>
              <a:tblPr/>
              <a:tblGrid>
                <a:gridCol w="1497922">
                  <a:extLst>
                    <a:ext uri="{9D8B030D-6E8A-4147-A177-3AD203B41FA5}">
                      <a16:colId xmlns:a16="http://schemas.microsoft.com/office/drawing/2014/main" val="20000"/>
                    </a:ext>
                  </a:extLst>
                </a:gridCol>
                <a:gridCol w="617070">
                  <a:extLst>
                    <a:ext uri="{9D8B030D-6E8A-4147-A177-3AD203B41FA5}">
                      <a16:colId xmlns:a16="http://schemas.microsoft.com/office/drawing/2014/main" val="20001"/>
                    </a:ext>
                  </a:extLst>
                </a:gridCol>
                <a:gridCol w="618640">
                  <a:extLst>
                    <a:ext uri="{9D8B030D-6E8A-4147-A177-3AD203B41FA5}">
                      <a16:colId xmlns:a16="http://schemas.microsoft.com/office/drawing/2014/main" val="20002"/>
                    </a:ext>
                  </a:extLst>
                </a:gridCol>
                <a:gridCol w="618640">
                  <a:extLst>
                    <a:ext uri="{9D8B030D-6E8A-4147-A177-3AD203B41FA5}">
                      <a16:colId xmlns:a16="http://schemas.microsoft.com/office/drawing/2014/main" val="20003"/>
                    </a:ext>
                  </a:extLst>
                </a:gridCol>
                <a:gridCol w="618640">
                  <a:extLst>
                    <a:ext uri="{9D8B030D-6E8A-4147-A177-3AD203B41FA5}">
                      <a16:colId xmlns:a16="http://schemas.microsoft.com/office/drawing/2014/main" val="20004"/>
                    </a:ext>
                  </a:extLst>
                </a:gridCol>
                <a:gridCol w="618640">
                  <a:extLst>
                    <a:ext uri="{9D8B030D-6E8A-4147-A177-3AD203B41FA5}">
                      <a16:colId xmlns:a16="http://schemas.microsoft.com/office/drawing/2014/main" val="20005"/>
                    </a:ext>
                  </a:extLst>
                </a:gridCol>
                <a:gridCol w="1560730">
                  <a:extLst>
                    <a:ext uri="{9D8B030D-6E8A-4147-A177-3AD203B41FA5}">
                      <a16:colId xmlns:a16="http://schemas.microsoft.com/office/drawing/2014/main" val="20006"/>
                    </a:ext>
                  </a:extLst>
                </a:gridCol>
              </a:tblGrid>
              <a:tr h="612051">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zh-CN" altLang="en-US" sz="2000" b="1" i="0" u="none" strike="noStrike" cap="none" normalizeH="0" baseline="0" dirty="0">
                          <a:ln>
                            <a:noFill/>
                          </a:ln>
                          <a:solidFill>
                            <a:srgbClr val="C00000"/>
                          </a:solidFill>
                          <a:effectLst/>
                          <a:latin typeface="Times New Roman" pitchFamily="18" charset="0"/>
                          <a:ea typeface="宋体" pitchFamily="2" charset="-122"/>
                        </a:rPr>
                        <a:t>广告支出</a:t>
                      </a:r>
                      <a:r>
                        <a:rPr kumimoji="0" lang="en-US" altLang="zh-CN" sz="2000" b="1" i="0" u="none" strike="noStrike" cap="none" normalizeH="0" baseline="0" dirty="0">
                          <a:ln>
                            <a:noFill/>
                          </a:ln>
                          <a:solidFill>
                            <a:srgbClr val="C00000"/>
                          </a:solidFill>
                          <a:effectLst/>
                          <a:latin typeface="Times New Roman" pitchFamily="18" charset="0"/>
                          <a:ea typeface="宋体" pitchFamily="2" charset="-122"/>
                        </a:rPr>
                        <a:t>X</a:t>
                      </a:r>
                      <a:r>
                        <a:rPr kumimoji="0" lang="zh-CN" altLang="en-US" sz="2000" b="1" i="0" u="none" strike="noStrike" cap="none" normalizeH="0" baseline="0" dirty="0">
                          <a:ln>
                            <a:noFill/>
                          </a:ln>
                          <a:solidFill>
                            <a:srgbClr val="C00000"/>
                          </a:solidFill>
                          <a:effectLst/>
                          <a:latin typeface="Times New Roman" pitchFamily="18" charset="0"/>
                          <a:ea typeface="宋体" pitchFamily="2" charset="-122"/>
                        </a:rPr>
                        <a:t>（万元）</a:t>
                      </a:r>
                      <a:endParaRPr kumimoji="0" lang="en-US" altLang="zh-CN" sz="2000" b="1" i="0" u="none" strike="noStrike" cap="none" normalizeH="0" baseline="0" dirty="0">
                        <a:ln>
                          <a:noFill/>
                        </a:ln>
                        <a:solidFill>
                          <a:srgbClr val="C00000"/>
                        </a:solidFill>
                        <a:effectLst/>
                        <a:latin typeface="Times New Roman" pitchFamily="18" charset="0"/>
                        <a:ea typeface="宋体" pitchFamily="2" charset="-122"/>
                      </a:endParaRPr>
                    </a:p>
                  </a:txBody>
                  <a:tcPr marL="68580" marR="6858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5">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zh-CN" altLang="en-US" sz="2000" b="1" i="0" u="none" strike="noStrike" cap="none" normalizeH="0" baseline="0" dirty="0">
                          <a:ln>
                            <a:noFill/>
                          </a:ln>
                          <a:solidFill>
                            <a:srgbClr val="C00000"/>
                          </a:solidFill>
                          <a:effectLst/>
                          <a:latin typeface="Times New Roman" pitchFamily="18" charset="0"/>
                          <a:ea typeface="宋体" pitchFamily="2" charset="-122"/>
                        </a:rPr>
                        <a:t>销售收入</a:t>
                      </a:r>
                      <a:r>
                        <a:rPr kumimoji="0" lang="en-US" altLang="zh-CN" sz="2000" b="1" i="0" u="none" strike="noStrike" cap="none" normalizeH="0" baseline="0" dirty="0">
                          <a:ln>
                            <a:noFill/>
                          </a:ln>
                          <a:solidFill>
                            <a:srgbClr val="C00000"/>
                          </a:solidFill>
                          <a:effectLst/>
                          <a:latin typeface="Times New Roman" pitchFamily="18" charset="0"/>
                          <a:ea typeface="宋体" pitchFamily="2" charset="-122"/>
                        </a:rPr>
                        <a:t>Y</a:t>
                      </a:r>
                      <a:r>
                        <a:rPr kumimoji="0" lang="zh-CN" altLang="en-US" sz="2000" b="1" i="0" u="none" strike="noStrike" cap="none" normalizeH="0" baseline="0" dirty="0">
                          <a:ln>
                            <a:noFill/>
                          </a:ln>
                          <a:solidFill>
                            <a:srgbClr val="C00000"/>
                          </a:solidFill>
                          <a:effectLst/>
                          <a:latin typeface="Times New Roman" pitchFamily="18" charset="0"/>
                          <a:ea typeface="宋体" pitchFamily="2" charset="-122"/>
                        </a:rPr>
                        <a:t>（万元）</a:t>
                      </a:r>
                      <a:endParaRPr kumimoji="0" lang="en-US" altLang="zh-CN" sz="2000" b="1" i="0" u="none" strike="noStrike" cap="none" normalizeH="0" baseline="0" dirty="0">
                        <a:ln>
                          <a:noFill/>
                        </a:ln>
                        <a:solidFill>
                          <a:srgbClr val="C00000"/>
                        </a:solidFill>
                        <a:effectLst/>
                        <a:latin typeface="Times New Roman" pitchFamily="18" charset="0"/>
                        <a:ea typeface="宋体" pitchFamily="2" charset="-122"/>
                      </a:endParaRP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zh-CN" altLang="en-US" sz="2000" b="1" i="0" u="none" strike="noStrike" cap="none" normalizeH="0" baseline="0" dirty="0">
                          <a:ln>
                            <a:noFill/>
                          </a:ln>
                          <a:solidFill>
                            <a:srgbClr val="C00000"/>
                          </a:solidFill>
                          <a:effectLst/>
                          <a:latin typeface="Times New Roman" pitchFamily="18" charset="0"/>
                          <a:ea typeface="宋体" pitchFamily="2" charset="-122"/>
                        </a:rPr>
                        <a:t>均值</a:t>
                      </a:r>
                      <a:endParaRPr kumimoji="0" lang="en-US" altLang="zh-CN" sz="2000" b="1" i="0" u="none" strike="noStrike" cap="none" normalizeH="0" baseline="0" dirty="0">
                        <a:ln>
                          <a:noFill/>
                        </a:ln>
                        <a:solidFill>
                          <a:srgbClr val="C00000"/>
                        </a:solidFill>
                        <a:effectLst/>
                        <a:latin typeface="Times New Roman" pitchFamily="18" charset="0"/>
                        <a:ea typeface="宋体" pitchFamily="2" charset="-122"/>
                      </a:endParaRPr>
                    </a:p>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1" i="0" u="none" strike="noStrike" cap="none" normalizeH="0" baseline="0" dirty="0">
                          <a:ln>
                            <a:noFill/>
                          </a:ln>
                          <a:solidFill>
                            <a:srgbClr val="C00000"/>
                          </a:solidFill>
                          <a:effectLst/>
                          <a:latin typeface="Times New Roman" pitchFamily="18" charset="0"/>
                          <a:ea typeface="宋体" pitchFamily="2" charset="-122"/>
                        </a:rPr>
                        <a:t>E(Y/X)</a:t>
                      </a:r>
                    </a:p>
                  </a:txBody>
                  <a:tcPr marL="68580" marR="6858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4345">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1" i="0" u="none" strike="noStrike" cap="none" normalizeH="0" baseline="0" dirty="0">
                          <a:ln>
                            <a:noFill/>
                          </a:ln>
                          <a:solidFill>
                            <a:srgbClr val="000099"/>
                          </a:solidFill>
                          <a:effectLst/>
                          <a:latin typeface="Times New Roman" pitchFamily="18" charset="0"/>
                          <a:ea typeface="宋体" pitchFamily="2" charset="-122"/>
                        </a:rPr>
                        <a:t>3</a:t>
                      </a:r>
                    </a:p>
                  </a:txBody>
                  <a:tcPr marL="68580" marR="6858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40</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55</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39</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1" i="0" u="none" strike="noStrike" cap="none" normalizeH="0" baseline="0" dirty="0">
                          <a:ln>
                            <a:noFill/>
                          </a:ln>
                          <a:solidFill>
                            <a:srgbClr val="000099"/>
                          </a:solidFill>
                          <a:effectLst/>
                          <a:latin typeface="Times New Roman" pitchFamily="18" charset="0"/>
                          <a:ea typeface="宋体" pitchFamily="2" charset="-122"/>
                        </a:rPr>
                        <a:t>44.7</a:t>
                      </a:r>
                    </a:p>
                  </a:txBody>
                  <a:tcPr marL="68580" marR="6858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4345">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1" i="0" u="none" strike="noStrike" cap="none" normalizeH="0" baseline="0" dirty="0">
                          <a:ln>
                            <a:noFill/>
                          </a:ln>
                          <a:solidFill>
                            <a:srgbClr val="000099"/>
                          </a:solidFill>
                          <a:effectLst/>
                          <a:latin typeface="Times New Roman" pitchFamily="18" charset="0"/>
                          <a:ea typeface="宋体" pitchFamily="2" charset="-122"/>
                        </a:rPr>
                        <a:t>6</a:t>
                      </a:r>
                    </a:p>
                  </a:txBody>
                  <a:tcPr marL="68580" marR="6858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80</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107</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1" i="0" u="none" strike="noStrike" cap="none" normalizeH="0" baseline="0" dirty="0">
                          <a:ln>
                            <a:noFill/>
                          </a:ln>
                          <a:solidFill>
                            <a:srgbClr val="000099"/>
                          </a:solidFill>
                          <a:effectLst/>
                          <a:latin typeface="Times New Roman" pitchFamily="18" charset="0"/>
                          <a:ea typeface="宋体" pitchFamily="2" charset="-122"/>
                        </a:rPr>
                        <a:t>93.5</a:t>
                      </a:r>
                    </a:p>
                  </a:txBody>
                  <a:tcPr marL="68580" marR="6858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4345">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1" i="0" u="none" strike="noStrike" cap="none" normalizeH="0" baseline="0" dirty="0">
                          <a:ln>
                            <a:noFill/>
                          </a:ln>
                          <a:solidFill>
                            <a:srgbClr val="000099"/>
                          </a:solidFill>
                          <a:effectLst/>
                          <a:latin typeface="Times New Roman" pitchFamily="18" charset="0"/>
                          <a:ea typeface="宋体" pitchFamily="2" charset="-122"/>
                        </a:rPr>
                        <a:t>12</a:t>
                      </a:r>
                    </a:p>
                  </a:txBody>
                  <a:tcPr marL="68580" marR="6858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148</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156</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140</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1" i="0" u="none" strike="noStrike" cap="none" normalizeH="0" baseline="0" dirty="0">
                          <a:ln>
                            <a:noFill/>
                          </a:ln>
                          <a:solidFill>
                            <a:srgbClr val="000099"/>
                          </a:solidFill>
                          <a:effectLst/>
                          <a:latin typeface="Times New Roman" pitchFamily="18" charset="0"/>
                          <a:ea typeface="宋体" pitchFamily="2" charset="-122"/>
                        </a:rPr>
                        <a:t>148</a:t>
                      </a:r>
                    </a:p>
                  </a:txBody>
                  <a:tcPr marL="68580" marR="6858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4345">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1" i="0" u="none" strike="noStrike" cap="none" normalizeH="0" baseline="0" dirty="0">
                          <a:ln>
                            <a:noFill/>
                          </a:ln>
                          <a:solidFill>
                            <a:srgbClr val="000099"/>
                          </a:solidFill>
                          <a:effectLst/>
                          <a:latin typeface="Times New Roman" pitchFamily="18" charset="0"/>
                          <a:ea typeface="宋体" pitchFamily="2" charset="-122"/>
                        </a:rPr>
                        <a:t>16</a:t>
                      </a:r>
                    </a:p>
                  </a:txBody>
                  <a:tcPr marL="68580" marR="6858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140</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155</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230</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195</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332</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1" i="0" u="none" strike="noStrike" cap="none" normalizeH="0" baseline="0" dirty="0">
                          <a:ln>
                            <a:noFill/>
                          </a:ln>
                          <a:solidFill>
                            <a:srgbClr val="000099"/>
                          </a:solidFill>
                          <a:effectLst/>
                          <a:latin typeface="Times New Roman" pitchFamily="18" charset="0"/>
                          <a:ea typeface="宋体" pitchFamily="2" charset="-122"/>
                        </a:rPr>
                        <a:t>210.4</a:t>
                      </a:r>
                    </a:p>
                  </a:txBody>
                  <a:tcPr marL="68580" marR="6858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4345">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1" i="0" u="none" strike="noStrike" cap="none" normalizeH="0" baseline="0" dirty="0">
                          <a:ln>
                            <a:noFill/>
                          </a:ln>
                          <a:solidFill>
                            <a:srgbClr val="000099"/>
                          </a:solidFill>
                          <a:effectLst/>
                          <a:latin typeface="Times New Roman" pitchFamily="18" charset="0"/>
                          <a:ea typeface="宋体" pitchFamily="2" charset="-122"/>
                        </a:rPr>
                        <a:t>20</a:t>
                      </a:r>
                    </a:p>
                  </a:txBody>
                  <a:tcPr marL="68580" marR="6858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330</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1" i="0" u="none" strike="noStrike" cap="none" normalizeH="0" baseline="0" dirty="0">
                          <a:ln>
                            <a:noFill/>
                          </a:ln>
                          <a:solidFill>
                            <a:srgbClr val="000099"/>
                          </a:solidFill>
                          <a:effectLst/>
                          <a:latin typeface="Times New Roman" pitchFamily="18" charset="0"/>
                          <a:ea typeface="宋体" pitchFamily="2" charset="-122"/>
                        </a:rPr>
                        <a:t>330</a:t>
                      </a:r>
                    </a:p>
                  </a:txBody>
                  <a:tcPr marL="68580" marR="6858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4345">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1" i="0" u="none" strike="noStrike" cap="none" normalizeH="0" baseline="0" dirty="0">
                          <a:ln>
                            <a:noFill/>
                          </a:ln>
                          <a:solidFill>
                            <a:srgbClr val="000099"/>
                          </a:solidFill>
                          <a:effectLst/>
                          <a:latin typeface="Times New Roman" pitchFamily="18" charset="0"/>
                          <a:ea typeface="宋体" pitchFamily="2" charset="-122"/>
                        </a:rPr>
                        <a:t>35</a:t>
                      </a:r>
                    </a:p>
                  </a:txBody>
                  <a:tcPr marL="68580" marR="6858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520</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440</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541</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1" i="0" u="none" strike="noStrike" cap="none" normalizeH="0" baseline="0" dirty="0">
                          <a:ln>
                            <a:noFill/>
                          </a:ln>
                          <a:solidFill>
                            <a:srgbClr val="000099"/>
                          </a:solidFill>
                          <a:effectLst/>
                          <a:latin typeface="Times New Roman" pitchFamily="18" charset="0"/>
                          <a:ea typeface="宋体" pitchFamily="2" charset="-122"/>
                        </a:rPr>
                        <a:t>500.3</a:t>
                      </a:r>
                    </a:p>
                  </a:txBody>
                  <a:tcPr marL="68580" marR="6858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4345">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1" i="0" u="none" strike="noStrike" cap="none" normalizeH="0" baseline="0" dirty="0">
                          <a:ln>
                            <a:noFill/>
                          </a:ln>
                          <a:solidFill>
                            <a:srgbClr val="000099"/>
                          </a:solidFill>
                          <a:effectLst/>
                          <a:latin typeface="Times New Roman" pitchFamily="18" charset="0"/>
                          <a:ea typeface="宋体" pitchFamily="2" charset="-122"/>
                        </a:rPr>
                        <a:t>40</a:t>
                      </a:r>
                    </a:p>
                  </a:txBody>
                  <a:tcPr marL="68580" marR="6858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394</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466</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477</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579</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670</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1" i="0" u="none" strike="noStrike" cap="none" normalizeH="0" baseline="0" dirty="0">
                          <a:ln>
                            <a:noFill/>
                          </a:ln>
                          <a:solidFill>
                            <a:srgbClr val="000099"/>
                          </a:solidFill>
                          <a:effectLst/>
                          <a:latin typeface="Times New Roman" pitchFamily="18" charset="0"/>
                          <a:ea typeface="宋体" pitchFamily="2" charset="-122"/>
                        </a:rPr>
                        <a:t>517.2</a:t>
                      </a:r>
                    </a:p>
                  </a:txBody>
                  <a:tcPr marL="68580" marR="6858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54345">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1" i="0" u="none" strike="noStrike" cap="none" normalizeH="0" baseline="0" dirty="0">
                          <a:ln>
                            <a:noFill/>
                          </a:ln>
                          <a:solidFill>
                            <a:srgbClr val="000099"/>
                          </a:solidFill>
                          <a:effectLst/>
                          <a:latin typeface="Times New Roman" pitchFamily="18" charset="0"/>
                          <a:ea typeface="宋体" pitchFamily="2" charset="-122"/>
                        </a:rPr>
                        <a:t>60</a:t>
                      </a:r>
                    </a:p>
                  </a:txBody>
                  <a:tcPr marL="68580" marR="6858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790</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884</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
                          <a:schemeClr val="accent2"/>
                        </a:buClr>
                        <a:buSzTx/>
                        <a:buFont typeface="Wingdings" pitchFamily="2" charset="2"/>
                        <a:buNone/>
                        <a:tabLst/>
                      </a:pPr>
                      <a:r>
                        <a:rPr kumimoji="0" lang="en-US" altLang="zh-CN" sz="2000" b="1" i="0" u="none" strike="noStrike" cap="none" normalizeH="0" baseline="0" dirty="0">
                          <a:ln>
                            <a:noFill/>
                          </a:ln>
                          <a:solidFill>
                            <a:srgbClr val="000099"/>
                          </a:solidFill>
                          <a:effectLst/>
                          <a:latin typeface="Times New Roman" pitchFamily="18" charset="0"/>
                          <a:ea typeface="宋体" pitchFamily="2" charset="-122"/>
                        </a:rPr>
                        <a:t>837</a:t>
                      </a:r>
                    </a:p>
                  </a:txBody>
                  <a:tcPr marL="68580" marR="6858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3" name="TextBox 22"/>
          <p:cNvSpPr txBox="1"/>
          <p:nvPr/>
        </p:nvSpPr>
        <p:spPr>
          <a:xfrm>
            <a:off x="6913155" y="3544412"/>
            <a:ext cx="1894328" cy="1938992"/>
          </a:xfrm>
          <a:prstGeom prst="rect">
            <a:avLst/>
          </a:prstGeom>
          <a:noFill/>
        </p:spPr>
        <p:txBody>
          <a:bodyPr wrap="square" rtlCol="0">
            <a:spAutoFit/>
          </a:bodyPr>
          <a:lstStyle/>
          <a:p>
            <a:r>
              <a:rPr lang="zh-CN" altLang="en-US" sz="2400" dirty="0">
                <a:solidFill>
                  <a:srgbClr val="C00000"/>
                </a:solidFill>
                <a:latin typeface="微软雅黑" pitchFamily="34" charset="-122"/>
                <a:ea typeface="微软雅黑" pitchFamily="34" charset="-122"/>
              </a:rPr>
              <a:t>可见，随着广告投入的增加，销售收入的均值不断增加。</a:t>
            </a:r>
          </a:p>
        </p:txBody>
      </p:sp>
    </p:spTree>
    <p:extLst>
      <p:ext uri="{BB962C8B-B14F-4D97-AF65-F5344CB8AC3E}">
        <p14:creationId xmlns:p14="http://schemas.microsoft.com/office/powerpoint/2010/main" val="24713193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arn(inVertical)">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10247" name="Rectangle 7"/>
          <p:cNvSpPr>
            <a:spLocks noChangeArrowheads="1"/>
          </p:cNvSpPr>
          <p:nvPr/>
        </p:nvSpPr>
        <p:spPr bwMode="auto">
          <a:xfrm>
            <a:off x="0" y="2879725"/>
            <a:ext cx="1841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9233" name="矩形 1"/>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10" name="TextBox 9"/>
          <p:cNvSpPr txBox="1"/>
          <p:nvPr/>
        </p:nvSpPr>
        <p:spPr>
          <a:xfrm>
            <a:off x="6069180" y="1673078"/>
            <a:ext cx="1236236" cy="461665"/>
          </a:xfrm>
          <a:prstGeom prst="rect">
            <a:avLst/>
          </a:prstGeom>
          <a:noFill/>
        </p:spPr>
        <p:txBody>
          <a:bodyPr wrap="none" rtlCol="0">
            <a:spAutoFit/>
          </a:bodyPr>
          <a:lstStyle/>
          <a:p>
            <a:r>
              <a:rPr lang="en-US" altLang="zh-CN" sz="2400" dirty="0">
                <a:latin typeface="Arial" pitchFamily="34" charset="0"/>
                <a:cs typeface="Arial" pitchFamily="34" charset="0"/>
              </a:rPr>
              <a:t>r = 0.96</a:t>
            </a:r>
            <a:endParaRPr lang="zh-CN" altLang="en-US" sz="2400" dirty="0">
              <a:latin typeface="Arial" pitchFamily="34" charset="0"/>
              <a:cs typeface="Arial" pitchFamily="34" charset="0"/>
            </a:endParaRPr>
          </a:p>
        </p:txBody>
      </p:sp>
      <p:sp>
        <p:nvSpPr>
          <p:cNvPr id="11" name="TextBox 10"/>
          <p:cNvSpPr txBox="1"/>
          <p:nvPr/>
        </p:nvSpPr>
        <p:spPr>
          <a:xfrm>
            <a:off x="5511410" y="2548110"/>
            <a:ext cx="3087137" cy="1200329"/>
          </a:xfrm>
          <a:prstGeom prst="rect">
            <a:avLst/>
          </a:prstGeom>
          <a:noFill/>
        </p:spPr>
        <p:txBody>
          <a:bodyPr wrap="square" rtlCol="0">
            <a:spAutoFit/>
          </a:bodyPr>
          <a:lstStyle/>
          <a:p>
            <a:r>
              <a:rPr lang="zh-CN" altLang="en-US" sz="2400" dirty="0">
                <a:solidFill>
                  <a:srgbClr val="003366"/>
                </a:solidFill>
                <a:latin typeface="Times New Roman" pitchFamily="18" charset="0"/>
                <a:ea typeface="微软雅黑" pitchFamily="34" charset="-122"/>
                <a:cs typeface="Times New Roman" pitchFamily="18" charset="0"/>
              </a:rPr>
              <a:t>可见，广告支出与销售收入之间具有较强的线性相关关系。</a:t>
            </a:r>
            <a:endParaRPr lang="en-US" altLang="zh-CN" sz="2400" dirty="0">
              <a:solidFill>
                <a:srgbClr val="003366"/>
              </a:solidFill>
              <a:latin typeface="Times New Roman" pitchFamily="18" charset="0"/>
              <a:ea typeface="微软雅黑" pitchFamily="34" charset="-122"/>
              <a:cs typeface="Times New Roman" pitchFamily="18" charset="0"/>
            </a:endParaRPr>
          </a:p>
        </p:txBody>
      </p:sp>
      <p:sp>
        <p:nvSpPr>
          <p:cNvPr id="12" name="TextBox 11"/>
          <p:cNvSpPr txBox="1"/>
          <p:nvPr/>
        </p:nvSpPr>
        <p:spPr>
          <a:xfrm>
            <a:off x="5571298" y="3881165"/>
            <a:ext cx="3087137" cy="2308324"/>
          </a:xfrm>
          <a:prstGeom prst="rect">
            <a:avLst/>
          </a:prstGeom>
          <a:noFill/>
        </p:spPr>
        <p:txBody>
          <a:bodyPr wrap="square" rtlCol="0">
            <a:spAutoFit/>
          </a:bodyPr>
          <a:lstStyle/>
          <a:p>
            <a:r>
              <a:rPr lang="zh-CN" altLang="en-US" sz="2400" b="1" dirty="0">
                <a:solidFill>
                  <a:srgbClr val="C00000"/>
                </a:solidFill>
                <a:latin typeface="微软雅黑" pitchFamily="34" charset="-122"/>
                <a:ea typeface="微软雅黑" pitchFamily="34" charset="-122"/>
              </a:rPr>
              <a:t>问题</a:t>
            </a:r>
            <a:r>
              <a:rPr lang="zh-CN" altLang="en-US" sz="2400" dirty="0">
                <a:solidFill>
                  <a:srgbClr val="C00000"/>
                </a:solidFill>
                <a:latin typeface="微软雅黑" pitchFamily="34" charset="-122"/>
                <a:ea typeface="微软雅黑" pitchFamily="34" charset="-122"/>
              </a:rPr>
              <a:t>：</a:t>
            </a:r>
            <a:r>
              <a:rPr lang="zh-CN" altLang="en-US" sz="2400" dirty="0">
                <a:solidFill>
                  <a:srgbClr val="003366"/>
                </a:solidFill>
                <a:latin typeface="Times New Roman" pitchFamily="18" charset="0"/>
                <a:ea typeface="微软雅黑" pitchFamily="34" charset="-122"/>
                <a:cs typeface="Times New Roman" pitchFamily="18" charset="0"/>
              </a:rPr>
              <a:t>如何分析广告支出的变化对销售收入变化的影响？ 随着广告支出的增加，销售收入的平均变化规律是多少？</a:t>
            </a:r>
            <a:endParaRPr lang="en-US" altLang="zh-CN" sz="2400" dirty="0">
              <a:solidFill>
                <a:srgbClr val="003366"/>
              </a:solidFill>
              <a:latin typeface="Times New Roman" pitchFamily="18" charset="0"/>
              <a:ea typeface="微软雅黑" pitchFamily="34" charset="-122"/>
              <a:cs typeface="Times New Roman" pitchFamily="18" charset="0"/>
            </a:endParaRPr>
          </a:p>
        </p:txBody>
      </p:sp>
      <p:graphicFrame>
        <p:nvGraphicFramePr>
          <p:cNvPr id="13" name="图表 12"/>
          <p:cNvGraphicFramePr>
            <a:graphicFrameLocks/>
          </p:cNvGraphicFramePr>
          <p:nvPr>
            <p:extLst>
              <p:ext uri="{D42A27DB-BD31-4B8C-83A1-F6EECF244321}">
                <p14:modId xmlns:p14="http://schemas.microsoft.com/office/powerpoint/2010/main" val="1305315241"/>
              </p:ext>
            </p:extLst>
          </p:nvPr>
        </p:nvGraphicFramePr>
        <p:xfrm>
          <a:off x="112734" y="1402555"/>
          <a:ext cx="5157940" cy="506968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053884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9232" name="Text Box 21"/>
          <p:cNvSpPr txBox="1">
            <a:spLocks noChangeArrowheads="1"/>
          </p:cNvSpPr>
          <p:nvPr/>
        </p:nvSpPr>
        <p:spPr bwMode="auto">
          <a:xfrm>
            <a:off x="23813" y="908678"/>
            <a:ext cx="74285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marL="457200" indent="-457200" eaLnBrk="1" hangingPunct="1">
              <a:spcBef>
                <a:spcPct val="50000"/>
              </a:spcBef>
              <a:buFont typeface="Wingdings" pitchFamily="2" charset="2"/>
              <a:buChar char="u"/>
            </a:pPr>
            <a:r>
              <a:rPr kumimoji="1" lang="zh-CN" altLang="en-US" b="1" dirty="0">
                <a:solidFill>
                  <a:srgbClr val="C00000"/>
                </a:solidFill>
                <a:latin typeface="微软雅黑" pitchFamily="34" charset="-122"/>
                <a:ea typeface="微软雅黑" pitchFamily="34" charset="-122"/>
              </a:rPr>
              <a:t>线性回归统计模型的建立</a:t>
            </a:r>
          </a:p>
        </p:txBody>
      </p:sp>
      <p:sp>
        <p:nvSpPr>
          <p:cNvPr id="9233" name="矩形 1"/>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mc:AlternateContent xmlns:mc="http://schemas.openxmlformats.org/markup-compatibility/2006" xmlns:a14="http://schemas.microsoft.com/office/drawing/2010/main">
        <mc:Choice Requires="a14">
          <p:sp>
            <p:nvSpPr>
              <p:cNvPr id="26" name="矩形 25"/>
              <p:cNvSpPr/>
              <p:nvPr/>
            </p:nvSpPr>
            <p:spPr>
              <a:xfrm>
                <a:off x="2358246" y="3026299"/>
                <a:ext cx="3742518" cy="5847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a:latin typeface="Cambria Math"/>
                        </a:rPr>
                        <m:t>𝑦</m:t>
                      </m:r>
                      <m:r>
                        <a:rPr lang="zh-CN" altLang="en-US" sz="3200" i="1">
                          <a:latin typeface="Cambria Math"/>
                        </a:rPr>
                        <m:t>=</m:t>
                      </m:r>
                      <m:sSub>
                        <m:sSubPr>
                          <m:ctrlPr>
                            <a:rPr lang="zh-CN" altLang="en-US" sz="3200" i="1">
                              <a:latin typeface="Cambria Math" panose="02040503050406030204" pitchFamily="18" charset="0"/>
                            </a:rPr>
                          </m:ctrlPr>
                        </m:sSubPr>
                        <m:e>
                          <m:r>
                            <a:rPr lang="zh-CN" altLang="en-US" sz="3200" i="1">
                              <a:latin typeface="Cambria Math"/>
                            </a:rPr>
                            <m:t>𝛽</m:t>
                          </m:r>
                        </m:e>
                        <m:sub>
                          <m:r>
                            <a:rPr lang="zh-CN" altLang="en-US" sz="3200" i="1">
                              <a:latin typeface="Cambria Math"/>
                            </a:rPr>
                            <m:t>0</m:t>
                          </m:r>
                        </m:sub>
                      </m:sSub>
                      <m:r>
                        <a:rPr lang="zh-CN" altLang="en-US" sz="3200" i="1">
                          <a:latin typeface="Cambria Math"/>
                        </a:rPr>
                        <m:t>+</m:t>
                      </m:r>
                      <m:sSub>
                        <m:sSubPr>
                          <m:ctrlPr>
                            <a:rPr lang="zh-CN" altLang="en-US" sz="3200" i="1">
                              <a:latin typeface="Cambria Math" panose="02040503050406030204" pitchFamily="18" charset="0"/>
                            </a:rPr>
                          </m:ctrlPr>
                        </m:sSubPr>
                        <m:e>
                          <m:r>
                            <a:rPr lang="zh-CN" altLang="en-US" sz="3200" i="1">
                              <a:latin typeface="Cambria Math"/>
                            </a:rPr>
                            <m:t>𝛽</m:t>
                          </m:r>
                        </m:e>
                        <m:sub>
                          <m:r>
                            <a:rPr lang="zh-CN" altLang="en-US" sz="3200" i="1">
                              <a:latin typeface="Cambria Math"/>
                            </a:rPr>
                            <m:t>1</m:t>
                          </m:r>
                        </m:sub>
                      </m:sSub>
                      <m:r>
                        <a:rPr lang="zh-CN" altLang="en-US" sz="3200" i="1">
                          <a:latin typeface="Cambria Math"/>
                        </a:rPr>
                        <m:t>𝑥</m:t>
                      </m:r>
                      <m:r>
                        <a:rPr lang="zh-CN" altLang="en-US" sz="3200" i="1">
                          <a:latin typeface="Cambria Math"/>
                        </a:rPr>
                        <m:t>+</m:t>
                      </m:r>
                      <m:r>
                        <m:rPr>
                          <m:sty m:val="p"/>
                        </m:rPr>
                        <a:rPr lang="zh-CN" altLang="en-US" sz="3200" i="1">
                          <a:latin typeface="Cambria Math"/>
                        </a:rPr>
                        <m:t>ε</m:t>
                      </m:r>
                    </m:oMath>
                  </m:oMathPara>
                </a14:m>
                <a:endParaRPr lang="zh-CN" altLang="en-US" sz="3200" dirty="0"/>
              </a:p>
            </p:txBody>
          </p:sp>
        </mc:Choice>
        <mc:Fallback xmlns="">
          <p:sp>
            <p:nvSpPr>
              <p:cNvPr id="26" name="矩形 25"/>
              <p:cNvSpPr>
                <a:spLocks noRot="1" noChangeAspect="1" noMove="1" noResize="1" noEditPoints="1" noAdjustHandles="1" noChangeArrowheads="1" noChangeShapeType="1" noTextEdit="1"/>
              </p:cNvSpPr>
              <p:nvPr/>
            </p:nvSpPr>
            <p:spPr>
              <a:xfrm>
                <a:off x="2358246" y="3026299"/>
                <a:ext cx="3742518" cy="584775"/>
              </a:xfrm>
              <a:prstGeom prst="rect">
                <a:avLst/>
              </a:prstGeom>
              <a:blipFill rotWithShape="1">
                <a:blip r:embed="rId2"/>
                <a:stretch>
                  <a:fillRect/>
                </a:stretch>
              </a:blipFill>
            </p:spPr>
            <p:txBody>
              <a:bodyPr/>
              <a:lstStyle/>
              <a:p>
                <a:r>
                  <a:rPr lang="zh-CN" altLang="en-US">
                    <a:noFill/>
                  </a:rPr>
                  <a:t> </a:t>
                </a:r>
              </a:p>
            </p:txBody>
          </p:sp>
        </mc:Fallback>
      </mc:AlternateContent>
      <p:sp>
        <p:nvSpPr>
          <p:cNvPr id="27" name="矩形 26"/>
          <p:cNvSpPr/>
          <p:nvPr/>
        </p:nvSpPr>
        <p:spPr>
          <a:xfrm>
            <a:off x="463462" y="1468917"/>
            <a:ext cx="8592856" cy="683264"/>
          </a:xfrm>
          <a:prstGeom prst="rect">
            <a:avLst/>
          </a:prstGeom>
        </p:spPr>
        <p:txBody>
          <a:bodyPr wrap="square">
            <a:spAutoFit/>
          </a:bodyPr>
          <a:lstStyle/>
          <a:p>
            <a:pPr algn="just">
              <a:lnSpc>
                <a:spcPct val="160000"/>
              </a:lnSpc>
              <a:defRPr/>
            </a:pPr>
            <a:r>
              <a:rPr lang="zh-CN" altLang="en-US" sz="2400" dirty="0">
                <a:solidFill>
                  <a:srgbClr val="003366"/>
                </a:solidFill>
                <a:latin typeface="Times New Roman" pitchFamily="18" charset="0"/>
                <a:ea typeface="微软雅黑" pitchFamily="34" charset="-122"/>
                <a:cs typeface="Times New Roman" pitchFamily="18" charset="0"/>
              </a:rPr>
              <a:t>因变量 </a:t>
            </a:r>
            <a:r>
              <a:rPr lang="en-US" altLang="zh-CN" sz="2400" dirty="0">
                <a:solidFill>
                  <a:srgbClr val="003366"/>
                </a:solidFill>
                <a:latin typeface="Times New Roman" pitchFamily="18" charset="0"/>
                <a:ea typeface="微软雅黑" pitchFamily="34" charset="-122"/>
                <a:cs typeface="Times New Roman" pitchFamily="18" charset="0"/>
              </a:rPr>
              <a:t>y </a:t>
            </a:r>
            <a:r>
              <a:rPr lang="zh-CN" altLang="en-US" sz="2400" dirty="0">
                <a:solidFill>
                  <a:srgbClr val="003366"/>
                </a:solidFill>
                <a:latin typeface="Times New Roman" pitchFamily="18" charset="0"/>
                <a:ea typeface="微软雅黑" pitchFamily="34" charset="-122"/>
                <a:cs typeface="Times New Roman" pitchFamily="18" charset="0"/>
              </a:rPr>
              <a:t>依赖于自变量 </a:t>
            </a:r>
            <a:r>
              <a:rPr lang="en-US" altLang="zh-CN" sz="2400" dirty="0">
                <a:solidFill>
                  <a:srgbClr val="003366"/>
                </a:solidFill>
                <a:latin typeface="Times New Roman" pitchFamily="18" charset="0"/>
                <a:ea typeface="微软雅黑" pitchFamily="34" charset="-122"/>
                <a:cs typeface="Times New Roman" pitchFamily="18" charset="0"/>
              </a:rPr>
              <a:t>x </a:t>
            </a:r>
            <a:r>
              <a:rPr lang="zh-CN" altLang="en-US" sz="2400" dirty="0">
                <a:solidFill>
                  <a:srgbClr val="003366"/>
                </a:solidFill>
                <a:latin typeface="Times New Roman" pitchFamily="18" charset="0"/>
                <a:ea typeface="微软雅黑" pitchFamily="34" charset="-122"/>
                <a:cs typeface="Times New Roman" pitchFamily="18" charset="0"/>
              </a:rPr>
              <a:t>和误差项</a:t>
            </a:r>
            <a:r>
              <a:rPr lang="zh-CN" altLang="en-US" sz="2400" dirty="0">
                <a:solidFill>
                  <a:srgbClr val="003366"/>
                </a:solidFill>
                <a:latin typeface="Times New Roman" pitchFamily="18" charset="0"/>
                <a:ea typeface="微软雅黑" pitchFamily="34" charset="-122"/>
                <a:cs typeface="Times New Roman" pitchFamily="18" charset="0"/>
                <a:sym typeface="Symbol" pitchFamily="18" charset="2"/>
              </a:rPr>
              <a:t> </a:t>
            </a:r>
            <a:r>
              <a:rPr lang="zh-CN" altLang="en-US" sz="2400" dirty="0">
                <a:solidFill>
                  <a:srgbClr val="003366"/>
                </a:solidFill>
                <a:latin typeface="Times New Roman" pitchFamily="18" charset="0"/>
                <a:ea typeface="微软雅黑" pitchFamily="34" charset="-122"/>
                <a:cs typeface="Times New Roman" pitchFamily="18" charset="0"/>
              </a:rPr>
              <a:t>的方程称为</a:t>
            </a:r>
            <a:r>
              <a:rPr lang="zh-CN" altLang="en-US" sz="2400" dirty="0">
                <a:solidFill>
                  <a:srgbClr val="0000FF"/>
                </a:solidFill>
                <a:latin typeface="微软雅黑" pitchFamily="34" charset="-122"/>
                <a:ea typeface="微软雅黑" pitchFamily="34" charset="-122"/>
              </a:rPr>
              <a:t>回归模型。</a:t>
            </a:r>
          </a:p>
        </p:txBody>
      </p:sp>
      <p:sp>
        <p:nvSpPr>
          <p:cNvPr id="28" name="矩形 27"/>
          <p:cNvSpPr/>
          <p:nvPr/>
        </p:nvSpPr>
        <p:spPr>
          <a:xfrm>
            <a:off x="548773" y="2154462"/>
            <a:ext cx="3463826" cy="781752"/>
          </a:xfrm>
          <a:prstGeom prst="rect">
            <a:avLst/>
          </a:prstGeom>
        </p:spPr>
        <p:txBody>
          <a:bodyPr wrap="square">
            <a:spAutoFit/>
          </a:bodyPr>
          <a:lstStyle/>
          <a:p>
            <a:pPr algn="just">
              <a:lnSpc>
                <a:spcPct val="160000"/>
              </a:lnSpc>
              <a:defRPr/>
            </a:pPr>
            <a:r>
              <a:rPr lang="zh-CN" altLang="en-US" sz="2800" dirty="0">
                <a:solidFill>
                  <a:srgbClr val="C00000"/>
                </a:solidFill>
                <a:latin typeface="微软雅黑" pitchFamily="34" charset="-122"/>
                <a:ea typeface="微软雅黑" pitchFamily="34" charset="-122"/>
              </a:rPr>
              <a:t>一元线性回归模型：</a:t>
            </a:r>
          </a:p>
        </p:txBody>
      </p:sp>
      <p:sp>
        <p:nvSpPr>
          <p:cNvPr id="29" name="圆角矩形 28"/>
          <p:cNvSpPr/>
          <p:nvPr/>
        </p:nvSpPr>
        <p:spPr bwMode="auto">
          <a:xfrm>
            <a:off x="3394553" y="3078269"/>
            <a:ext cx="1703540" cy="532805"/>
          </a:xfrm>
          <a:prstGeom prst="roundRect">
            <a:avLst/>
          </a:prstGeom>
          <a:noFill/>
          <a:ln>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gn="ctr" eaLnBrk="1" hangingPunct="1"/>
            <a:endParaRPr lang="zh-CN" altLang="en-US"/>
          </a:p>
        </p:txBody>
      </p:sp>
      <mc:AlternateContent xmlns:mc="http://schemas.openxmlformats.org/markup-compatibility/2006" xmlns:a14="http://schemas.microsoft.com/office/drawing/2010/main">
        <mc:Choice Requires="a14">
          <p:sp>
            <p:nvSpPr>
              <p:cNvPr id="30" name="矩形 29"/>
              <p:cNvSpPr/>
              <p:nvPr/>
            </p:nvSpPr>
            <p:spPr>
              <a:xfrm>
                <a:off x="6156314" y="3611074"/>
                <a:ext cx="19916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2400" i="1" smtClean="0">
                              <a:latin typeface="Cambria Math" panose="02040503050406030204" pitchFamily="18" charset="0"/>
                            </a:rPr>
                          </m:ctrlPr>
                        </m:dPr>
                        <m:e>
                          <m:r>
                            <a:rPr lang="zh-CN" altLang="en-US" sz="2400" i="1">
                              <a:latin typeface="Cambria Math"/>
                            </a:rPr>
                            <m:t>𝜀</m:t>
                          </m:r>
                          <m:r>
                            <a:rPr lang="zh-CN" altLang="en-US" sz="2400">
                              <a:latin typeface="Cambria Math"/>
                            </a:rPr>
                            <m:t>∼</m:t>
                          </m:r>
                          <m:r>
                            <a:rPr lang="zh-CN" altLang="en-US" sz="2400" i="1">
                              <a:latin typeface="Cambria Math"/>
                            </a:rPr>
                            <m:t>𝑁</m:t>
                          </m:r>
                          <m:r>
                            <a:rPr lang="zh-CN" altLang="en-US" sz="2400">
                              <a:latin typeface="Cambria Math"/>
                            </a:rPr>
                            <m:t>(0,</m:t>
                          </m:r>
                          <m:sSup>
                            <m:sSupPr>
                              <m:ctrlPr>
                                <a:rPr lang="zh-CN" altLang="en-US" sz="2400" i="1">
                                  <a:latin typeface="Cambria Math" panose="02040503050406030204" pitchFamily="18" charset="0"/>
                                </a:rPr>
                              </m:ctrlPr>
                            </m:sSupPr>
                            <m:e>
                              <m:r>
                                <a:rPr lang="zh-CN" altLang="en-US" sz="2400" i="1">
                                  <a:latin typeface="Cambria Math"/>
                                </a:rPr>
                                <m:t>𝜎</m:t>
                              </m:r>
                            </m:e>
                            <m:sup>
                              <m:r>
                                <a:rPr lang="zh-CN" altLang="en-US" sz="2400">
                                  <a:latin typeface="Cambria Math"/>
                                </a:rPr>
                                <m:t>2</m:t>
                              </m:r>
                            </m:sup>
                          </m:sSup>
                        </m:e>
                      </m:d>
                    </m:oMath>
                  </m:oMathPara>
                </a14:m>
                <a:endParaRPr lang="zh-CN" altLang="en-US" sz="2400" dirty="0"/>
              </a:p>
            </p:txBody>
          </p:sp>
        </mc:Choice>
        <mc:Fallback xmlns="">
          <p:sp>
            <p:nvSpPr>
              <p:cNvPr id="30" name="矩形 29"/>
              <p:cNvSpPr>
                <a:spLocks noRot="1" noChangeAspect="1" noMove="1" noResize="1" noEditPoints="1" noAdjustHandles="1" noChangeArrowheads="1" noChangeShapeType="1" noTextEdit="1"/>
              </p:cNvSpPr>
              <p:nvPr/>
            </p:nvSpPr>
            <p:spPr>
              <a:xfrm>
                <a:off x="6156314" y="3611074"/>
                <a:ext cx="1991699" cy="461665"/>
              </a:xfrm>
              <a:prstGeom prst="rect">
                <a:avLst/>
              </a:prstGeom>
              <a:blipFill rotWithShape="1">
                <a:blip r:embed="rId3"/>
                <a:stretch>
                  <a:fillRect t="-127632" r="-32416" b="-197368"/>
                </a:stretch>
              </a:blipFill>
            </p:spPr>
            <p:txBody>
              <a:bodyPr/>
              <a:lstStyle/>
              <a:p>
                <a:r>
                  <a:rPr lang="zh-CN" altLang="en-US">
                    <a:noFill/>
                  </a:rPr>
                  <a:t> </a:t>
                </a:r>
              </a:p>
            </p:txBody>
          </p:sp>
        </mc:Fallback>
      </mc:AlternateContent>
      <p:sp>
        <p:nvSpPr>
          <p:cNvPr id="31" name="圆角矩形 30"/>
          <p:cNvSpPr/>
          <p:nvPr/>
        </p:nvSpPr>
        <p:spPr bwMode="auto">
          <a:xfrm>
            <a:off x="5470759" y="3065743"/>
            <a:ext cx="328612" cy="545331"/>
          </a:xfrm>
          <a:prstGeom prst="roundRect">
            <a:avLst/>
          </a:prstGeom>
          <a:noFill/>
          <a:ln>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gn="ctr" eaLnBrk="1" hangingPunct="1"/>
            <a:endParaRPr lang="zh-CN" altLang="en-US"/>
          </a:p>
        </p:txBody>
      </p:sp>
      <p:cxnSp>
        <p:nvCxnSpPr>
          <p:cNvPr id="32" name="直接箭头连接符 31"/>
          <p:cNvCxnSpPr>
            <a:stCxn id="31" idx="3"/>
          </p:cNvCxnSpPr>
          <p:nvPr/>
        </p:nvCxnSpPr>
        <p:spPr>
          <a:xfrm>
            <a:off x="5799371" y="3338409"/>
            <a:ext cx="557099" cy="626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4467500" y="3589178"/>
            <a:ext cx="0" cy="54297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3867310" y="4117773"/>
            <a:ext cx="1415772" cy="461665"/>
          </a:xfrm>
          <a:prstGeom prst="rect">
            <a:avLst/>
          </a:prstGeom>
          <a:noFill/>
        </p:spPr>
        <p:txBody>
          <a:bodyPr wrap="none" rtlCol="0">
            <a:spAutoFit/>
          </a:bodyPr>
          <a:lstStyle/>
          <a:p>
            <a:r>
              <a:rPr lang="zh-CN" altLang="en-US" sz="2400" dirty="0">
                <a:solidFill>
                  <a:srgbClr val="0070C0"/>
                </a:solidFill>
                <a:latin typeface="微软雅黑" pitchFamily="34" charset="-122"/>
                <a:ea typeface="微软雅黑" pitchFamily="34" charset="-122"/>
              </a:rPr>
              <a:t>线性部分</a:t>
            </a:r>
          </a:p>
        </p:txBody>
      </p:sp>
      <p:sp>
        <p:nvSpPr>
          <p:cNvPr id="35" name="TextBox 34"/>
          <p:cNvSpPr txBox="1"/>
          <p:nvPr/>
        </p:nvSpPr>
        <p:spPr>
          <a:xfrm>
            <a:off x="6398332" y="3127513"/>
            <a:ext cx="1107996" cy="461665"/>
          </a:xfrm>
          <a:prstGeom prst="rect">
            <a:avLst/>
          </a:prstGeom>
          <a:noFill/>
        </p:spPr>
        <p:txBody>
          <a:bodyPr wrap="none" rtlCol="0">
            <a:spAutoFit/>
          </a:bodyPr>
          <a:lstStyle/>
          <a:p>
            <a:r>
              <a:rPr lang="zh-CN" altLang="en-US" sz="2400" dirty="0">
                <a:solidFill>
                  <a:srgbClr val="0070C0"/>
                </a:solidFill>
                <a:latin typeface="微软雅黑" pitchFamily="34" charset="-122"/>
                <a:ea typeface="微软雅黑" pitchFamily="34" charset="-122"/>
              </a:rPr>
              <a:t>误差项</a:t>
            </a:r>
          </a:p>
        </p:txBody>
      </p:sp>
      <p:sp>
        <p:nvSpPr>
          <p:cNvPr id="36" name="TextBox 35"/>
          <p:cNvSpPr txBox="1"/>
          <p:nvPr/>
        </p:nvSpPr>
        <p:spPr>
          <a:xfrm>
            <a:off x="548773" y="4034851"/>
            <a:ext cx="3318537" cy="461665"/>
          </a:xfrm>
          <a:prstGeom prst="rect">
            <a:avLst/>
          </a:prstGeom>
          <a:noFill/>
        </p:spPr>
        <p:txBody>
          <a:bodyPr wrap="none" rtlCol="0">
            <a:spAutoFit/>
          </a:bodyPr>
          <a:lstStyle/>
          <a:p>
            <a:r>
              <a:rPr lang="en-US" altLang="zh-CN" sz="2400" dirty="0">
                <a:solidFill>
                  <a:srgbClr val="C00000"/>
                </a:solidFill>
                <a:latin typeface="微软雅黑" pitchFamily="34" charset="-122"/>
                <a:ea typeface="微软雅黑" pitchFamily="34" charset="-122"/>
              </a:rPr>
              <a:t>X: </a:t>
            </a:r>
            <a:r>
              <a:rPr lang="zh-CN" altLang="en-US" sz="2400" dirty="0">
                <a:solidFill>
                  <a:srgbClr val="003366"/>
                </a:solidFill>
                <a:latin typeface="Times New Roman" pitchFamily="18" charset="0"/>
                <a:ea typeface="微软雅黑" pitchFamily="34" charset="-122"/>
                <a:cs typeface="Times New Roman" pitchFamily="18" charset="0"/>
              </a:rPr>
              <a:t>自变量（解释变量）</a:t>
            </a:r>
          </a:p>
        </p:txBody>
      </p:sp>
      <p:sp>
        <p:nvSpPr>
          <p:cNvPr id="37" name="TextBox 36"/>
          <p:cNvSpPr txBox="1"/>
          <p:nvPr/>
        </p:nvSpPr>
        <p:spPr>
          <a:xfrm>
            <a:off x="548773" y="4503730"/>
            <a:ext cx="3591048" cy="461665"/>
          </a:xfrm>
          <a:prstGeom prst="rect">
            <a:avLst/>
          </a:prstGeom>
          <a:noFill/>
        </p:spPr>
        <p:txBody>
          <a:bodyPr wrap="none" rtlCol="0">
            <a:spAutoFit/>
          </a:bodyPr>
          <a:lstStyle/>
          <a:p>
            <a:r>
              <a:rPr lang="en-US" altLang="zh-CN" sz="2400" dirty="0">
                <a:solidFill>
                  <a:srgbClr val="C00000"/>
                </a:solidFill>
                <a:latin typeface="微软雅黑" pitchFamily="34" charset="-122"/>
                <a:ea typeface="微软雅黑" pitchFamily="34" charset="-122"/>
              </a:rPr>
              <a:t>y: </a:t>
            </a:r>
            <a:r>
              <a:rPr lang="zh-CN" altLang="en-US" sz="2400" dirty="0">
                <a:solidFill>
                  <a:srgbClr val="003366"/>
                </a:solidFill>
                <a:latin typeface="Times New Roman" pitchFamily="18" charset="0"/>
                <a:ea typeface="微软雅黑" pitchFamily="34" charset="-122"/>
                <a:cs typeface="Times New Roman" pitchFamily="18" charset="0"/>
              </a:rPr>
              <a:t>因变量（被解释变量）</a:t>
            </a:r>
          </a:p>
        </p:txBody>
      </p:sp>
      <p:sp>
        <p:nvSpPr>
          <p:cNvPr id="38" name="TextBox 37"/>
          <p:cNvSpPr txBox="1"/>
          <p:nvPr/>
        </p:nvSpPr>
        <p:spPr>
          <a:xfrm>
            <a:off x="823351" y="5552205"/>
            <a:ext cx="6966972" cy="461665"/>
          </a:xfrm>
          <a:prstGeom prst="rect">
            <a:avLst/>
          </a:prstGeom>
          <a:noFill/>
        </p:spPr>
        <p:txBody>
          <a:bodyPr wrap="none" rtlCol="0">
            <a:spAutoFit/>
          </a:bodyPr>
          <a:lstStyle/>
          <a:p>
            <a:r>
              <a:rPr lang="zh-CN" altLang="en-US" sz="2400" dirty="0">
                <a:solidFill>
                  <a:srgbClr val="0070C0"/>
                </a:solidFill>
                <a:latin typeface="微软雅黑" pitchFamily="34" charset="-122"/>
                <a:ea typeface="微软雅黑" pitchFamily="34" charset="-122"/>
              </a:rPr>
              <a:t>线性部分</a:t>
            </a:r>
            <a:r>
              <a:rPr lang="zh-CN" altLang="en-US" sz="2400" dirty="0">
                <a:solidFill>
                  <a:srgbClr val="C00000"/>
                </a:solidFill>
                <a:latin typeface="微软雅黑" pitchFamily="34" charset="-122"/>
                <a:ea typeface="微软雅黑" pitchFamily="34" charset="-122"/>
              </a:rPr>
              <a:t>反应了由于</a:t>
            </a:r>
            <a:r>
              <a:rPr lang="en-US" altLang="zh-CN" sz="2400" dirty="0">
                <a:solidFill>
                  <a:srgbClr val="C00000"/>
                </a:solidFill>
                <a:latin typeface="微软雅黑" pitchFamily="34" charset="-122"/>
                <a:ea typeface="微软雅黑" pitchFamily="34" charset="-122"/>
              </a:rPr>
              <a:t>x</a:t>
            </a:r>
            <a:r>
              <a:rPr lang="zh-CN" altLang="en-US" sz="2400" dirty="0">
                <a:solidFill>
                  <a:srgbClr val="C00000"/>
                </a:solidFill>
                <a:latin typeface="微软雅黑" pitchFamily="34" charset="-122"/>
                <a:ea typeface="微软雅黑" pitchFamily="34" charset="-122"/>
              </a:rPr>
              <a:t>的变化引起的</a:t>
            </a:r>
            <a:r>
              <a:rPr lang="en-US" altLang="zh-CN" sz="2400" dirty="0">
                <a:solidFill>
                  <a:srgbClr val="C00000"/>
                </a:solidFill>
                <a:latin typeface="微软雅黑" pitchFamily="34" charset="-122"/>
                <a:ea typeface="微软雅黑" pitchFamily="34" charset="-122"/>
              </a:rPr>
              <a:t>y</a:t>
            </a:r>
            <a:r>
              <a:rPr lang="zh-CN" altLang="en-US" sz="2400" dirty="0">
                <a:solidFill>
                  <a:srgbClr val="C00000"/>
                </a:solidFill>
                <a:latin typeface="微软雅黑" pitchFamily="34" charset="-122"/>
                <a:ea typeface="微软雅黑" pitchFamily="34" charset="-122"/>
              </a:rPr>
              <a:t>的线性变化。</a:t>
            </a:r>
          </a:p>
        </p:txBody>
      </p:sp>
      <p:sp>
        <p:nvSpPr>
          <p:cNvPr id="39" name="TextBox 38"/>
          <p:cNvSpPr txBox="1"/>
          <p:nvPr/>
        </p:nvSpPr>
        <p:spPr>
          <a:xfrm>
            <a:off x="817958" y="6049634"/>
            <a:ext cx="5580374" cy="461665"/>
          </a:xfrm>
          <a:prstGeom prst="rect">
            <a:avLst/>
          </a:prstGeom>
          <a:noFill/>
        </p:spPr>
        <p:txBody>
          <a:bodyPr wrap="none" rtlCol="0">
            <a:spAutoFit/>
          </a:bodyPr>
          <a:lstStyle/>
          <a:p>
            <a:r>
              <a:rPr lang="zh-CN" altLang="en-US" sz="2400" dirty="0">
                <a:solidFill>
                  <a:srgbClr val="0070C0"/>
                </a:solidFill>
                <a:latin typeface="微软雅黑" pitchFamily="34" charset="-122"/>
                <a:ea typeface="微软雅黑" pitchFamily="34" charset="-122"/>
              </a:rPr>
              <a:t>误差项</a:t>
            </a:r>
            <a:r>
              <a:rPr lang="zh-CN" altLang="en-US" sz="2400" dirty="0">
                <a:solidFill>
                  <a:srgbClr val="C00000"/>
                </a:solidFill>
                <a:latin typeface="微软雅黑" pitchFamily="34" charset="-122"/>
                <a:ea typeface="微软雅黑" pitchFamily="34" charset="-122"/>
              </a:rPr>
              <a:t>反应了其它随机因素对</a:t>
            </a:r>
            <a:r>
              <a:rPr lang="en-US" altLang="zh-CN" sz="2400" dirty="0">
                <a:solidFill>
                  <a:srgbClr val="C00000"/>
                </a:solidFill>
                <a:latin typeface="微软雅黑" pitchFamily="34" charset="-122"/>
                <a:ea typeface="微软雅黑" pitchFamily="34" charset="-122"/>
              </a:rPr>
              <a:t>y</a:t>
            </a:r>
            <a:r>
              <a:rPr lang="zh-CN" altLang="en-US" sz="2400" dirty="0">
                <a:solidFill>
                  <a:srgbClr val="C00000"/>
                </a:solidFill>
                <a:latin typeface="微软雅黑" pitchFamily="34" charset="-122"/>
                <a:ea typeface="微软雅黑" pitchFamily="34" charset="-122"/>
              </a:rPr>
              <a:t>的影响。</a:t>
            </a:r>
          </a:p>
        </p:txBody>
      </p:sp>
    </p:spTree>
    <p:extLst>
      <p:ext uri="{BB962C8B-B14F-4D97-AF65-F5344CB8AC3E}">
        <p14:creationId xmlns:p14="http://schemas.microsoft.com/office/powerpoint/2010/main" val="28053884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500" fill="hold"/>
                                        <p:tgtEl>
                                          <p:spTgt spid="28"/>
                                        </p:tgtEl>
                                        <p:attrNameLst>
                                          <p:attrName>ppt_x</p:attrName>
                                        </p:attrNameLst>
                                      </p:cBhvr>
                                      <p:tavLst>
                                        <p:tav tm="0">
                                          <p:val>
                                            <p:strVal val="#ppt_x"/>
                                          </p:val>
                                        </p:tav>
                                        <p:tav tm="100000">
                                          <p:val>
                                            <p:strVal val="#ppt_x"/>
                                          </p:val>
                                        </p:tav>
                                      </p:tavLst>
                                    </p:anim>
                                    <p:anim calcmode="lin" valueType="num">
                                      <p:cBhvr additive="base">
                                        <p:cTn id="1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500" fill="hold"/>
                                        <p:tgtEl>
                                          <p:spTgt spid="26"/>
                                        </p:tgtEl>
                                        <p:attrNameLst>
                                          <p:attrName>ppt_x</p:attrName>
                                        </p:attrNameLst>
                                      </p:cBhvr>
                                      <p:tavLst>
                                        <p:tav tm="0">
                                          <p:val>
                                            <p:strVal val="#ppt_x"/>
                                          </p:val>
                                        </p:tav>
                                        <p:tav tm="100000">
                                          <p:val>
                                            <p:strVal val="#ppt_x"/>
                                          </p:val>
                                        </p:tav>
                                      </p:tavLst>
                                    </p:anim>
                                    <p:anim calcmode="lin" valueType="num">
                                      <p:cBhvr additive="base">
                                        <p:cTn id="18" dur="500" fill="hold"/>
                                        <p:tgtEl>
                                          <p:spTgt spid="2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anim calcmode="lin" valueType="num">
                                      <p:cBhvr additive="base">
                                        <p:cTn id="21" dur="500" fill="hold"/>
                                        <p:tgtEl>
                                          <p:spTgt spid="36"/>
                                        </p:tgtEl>
                                        <p:attrNameLst>
                                          <p:attrName>ppt_x</p:attrName>
                                        </p:attrNameLst>
                                      </p:cBhvr>
                                      <p:tavLst>
                                        <p:tav tm="0">
                                          <p:val>
                                            <p:strVal val="#ppt_x"/>
                                          </p:val>
                                        </p:tav>
                                        <p:tav tm="100000">
                                          <p:val>
                                            <p:strVal val="#ppt_x"/>
                                          </p:val>
                                        </p:tav>
                                      </p:tavLst>
                                    </p:anim>
                                    <p:anim calcmode="lin" valueType="num">
                                      <p:cBhvr additive="base">
                                        <p:cTn id="22" dur="500" fill="hold"/>
                                        <p:tgtEl>
                                          <p:spTgt spid="3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anim calcmode="lin" valueType="num">
                                      <p:cBhvr additive="base">
                                        <p:cTn id="25" dur="500" fill="hold"/>
                                        <p:tgtEl>
                                          <p:spTgt spid="37"/>
                                        </p:tgtEl>
                                        <p:attrNameLst>
                                          <p:attrName>ppt_x</p:attrName>
                                        </p:attrNameLst>
                                      </p:cBhvr>
                                      <p:tavLst>
                                        <p:tav tm="0">
                                          <p:val>
                                            <p:strVal val="#ppt_x"/>
                                          </p:val>
                                        </p:tav>
                                        <p:tav tm="100000">
                                          <p:val>
                                            <p:strVal val="#ppt_x"/>
                                          </p:val>
                                        </p:tav>
                                      </p:tavLst>
                                    </p:anim>
                                    <p:anim calcmode="lin" valueType="num">
                                      <p:cBhvr additive="base">
                                        <p:cTn id="2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barn(inVertical)">
                                      <p:cBhvr>
                                        <p:cTn id="31" dur="500"/>
                                        <p:tgtEl>
                                          <p:spTgt spid="33"/>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barn(inVertical)">
                                      <p:cBhvr>
                                        <p:cTn id="34" dur="500"/>
                                        <p:tgtEl>
                                          <p:spTgt spid="29"/>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barn(inVertical)">
                                      <p:cBhvr>
                                        <p:cTn id="37" dur="5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barn(inVertical)">
                                      <p:cBhvr>
                                        <p:cTn id="42" dur="500"/>
                                        <p:tgtEl>
                                          <p:spTgt spid="31"/>
                                        </p:tgtEl>
                                      </p:cBhvr>
                                    </p:animEffect>
                                  </p:childTnLst>
                                </p:cTn>
                              </p:par>
                              <p:par>
                                <p:cTn id="43" presetID="16" presetClass="entr" presetSubtype="21" fill="hold" nodeType="with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barn(inVertical)">
                                      <p:cBhvr>
                                        <p:cTn id="45" dur="500"/>
                                        <p:tgtEl>
                                          <p:spTgt spid="32"/>
                                        </p:tgtEl>
                                      </p:cBhvr>
                                    </p:animEffect>
                                  </p:childTnLst>
                                </p:cTn>
                              </p:par>
                              <p:par>
                                <p:cTn id="46" presetID="16" presetClass="entr" presetSubtype="21"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barn(inVertical)">
                                      <p:cBhvr>
                                        <p:cTn id="48" dur="500"/>
                                        <p:tgtEl>
                                          <p:spTgt spid="35"/>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barn(inVertical)">
                                      <p:cBhvr>
                                        <p:cTn id="51" dur="500"/>
                                        <p:tgtEl>
                                          <p:spTgt spid="30"/>
                                        </p:tgtEl>
                                      </p:cBhvr>
                                    </p:animEffect>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1000"/>
                                        <p:tgtEl>
                                          <p:spTgt spid="38"/>
                                        </p:tgtEl>
                                      </p:cBhvr>
                                    </p:animEffect>
                                    <p:anim calcmode="lin" valueType="num">
                                      <p:cBhvr>
                                        <p:cTn id="57" dur="1000" fill="hold"/>
                                        <p:tgtEl>
                                          <p:spTgt spid="38"/>
                                        </p:tgtEl>
                                        <p:attrNameLst>
                                          <p:attrName>ppt_x</p:attrName>
                                        </p:attrNameLst>
                                      </p:cBhvr>
                                      <p:tavLst>
                                        <p:tav tm="0">
                                          <p:val>
                                            <p:strVal val="#ppt_x"/>
                                          </p:val>
                                        </p:tav>
                                        <p:tav tm="100000">
                                          <p:val>
                                            <p:strVal val="#ppt_x"/>
                                          </p:val>
                                        </p:tav>
                                      </p:tavLst>
                                    </p:anim>
                                    <p:anim calcmode="lin" valueType="num">
                                      <p:cBhvr>
                                        <p:cTn id="58" dur="1000" fill="hold"/>
                                        <p:tgtEl>
                                          <p:spTgt spid="38"/>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1000"/>
                                        <p:tgtEl>
                                          <p:spTgt spid="39"/>
                                        </p:tgtEl>
                                      </p:cBhvr>
                                    </p:animEffect>
                                    <p:anim calcmode="lin" valueType="num">
                                      <p:cBhvr>
                                        <p:cTn id="62" dur="1000" fill="hold"/>
                                        <p:tgtEl>
                                          <p:spTgt spid="39"/>
                                        </p:tgtEl>
                                        <p:attrNameLst>
                                          <p:attrName>ppt_x</p:attrName>
                                        </p:attrNameLst>
                                      </p:cBhvr>
                                      <p:tavLst>
                                        <p:tav tm="0">
                                          <p:val>
                                            <p:strVal val="#ppt_x"/>
                                          </p:val>
                                        </p:tav>
                                        <p:tav tm="100000">
                                          <p:val>
                                            <p:strVal val="#ppt_x"/>
                                          </p:val>
                                        </p:tav>
                                      </p:tavLst>
                                    </p:anim>
                                    <p:anim calcmode="lin" valueType="num">
                                      <p:cBhvr>
                                        <p:cTn id="63"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animBg="1"/>
      <p:bldP spid="30" grpId="0"/>
      <p:bldP spid="31" grpId="0" animBg="1"/>
      <p:bldP spid="34" grpId="0"/>
      <p:bldP spid="35" grpId="0"/>
      <p:bldP spid="36" grpId="0"/>
      <p:bldP spid="37" grpId="0"/>
      <p:bldP spid="38" grpId="0"/>
      <p:bldP spid="3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9233" name="矩形 1"/>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mc:AlternateContent xmlns:mc="http://schemas.openxmlformats.org/markup-compatibility/2006" xmlns:a14="http://schemas.microsoft.com/office/drawing/2010/main">
        <mc:Choice Requires="a14">
          <p:sp>
            <p:nvSpPr>
              <p:cNvPr id="9" name="矩形 8"/>
              <p:cNvSpPr/>
              <p:nvPr/>
            </p:nvSpPr>
            <p:spPr>
              <a:xfrm>
                <a:off x="3738090" y="1636672"/>
                <a:ext cx="3742518" cy="49923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smtClean="0">
                          <a:solidFill>
                            <a:schemeClr val="tx1"/>
                          </a:solidFill>
                          <a:latin typeface="Cambria Math"/>
                          <a:ea typeface="微软雅黑" pitchFamily="34" charset="-122"/>
                          <a:cs typeface="Times New Roman" pitchFamily="18" charset="0"/>
                        </a:rPr>
                        <m:t>𝐸</m:t>
                      </m:r>
                      <m:r>
                        <a:rPr lang="en-US" altLang="zh-CN" sz="2400" smtClean="0">
                          <a:solidFill>
                            <a:schemeClr val="tx1"/>
                          </a:solidFill>
                          <a:latin typeface="Cambria Math"/>
                          <a:ea typeface="微软雅黑" pitchFamily="34" charset="-122"/>
                          <a:cs typeface="Times New Roman" pitchFamily="18" charset="0"/>
                        </a:rPr>
                        <m:t>(</m:t>
                      </m:r>
                      <m:r>
                        <a:rPr lang="zh-CN" altLang="en-US" sz="2400">
                          <a:solidFill>
                            <a:schemeClr val="tx1"/>
                          </a:solidFill>
                          <a:latin typeface="Cambria Math"/>
                          <a:ea typeface="微软雅黑" pitchFamily="34" charset="-122"/>
                          <a:cs typeface="Times New Roman" pitchFamily="18" charset="0"/>
                        </a:rPr>
                        <m:t>𝑦</m:t>
                      </m:r>
                      <m:r>
                        <a:rPr lang="en-US" altLang="zh-CN" sz="2400">
                          <a:solidFill>
                            <a:schemeClr val="tx1"/>
                          </a:solidFill>
                          <a:latin typeface="Cambria Math"/>
                          <a:ea typeface="微软雅黑" pitchFamily="34" charset="-122"/>
                          <a:cs typeface="Times New Roman" pitchFamily="18" charset="0"/>
                        </a:rPr>
                        <m:t>)</m:t>
                      </m:r>
                      <m:r>
                        <a:rPr lang="zh-CN" altLang="en-US" sz="2400">
                          <a:solidFill>
                            <a:schemeClr val="tx1"/>
                          </a:solidFill>
                          <a:latin typeface="Cambria Math"/>
                          <a:ea typeface="微软雅黑" pitchFamily="34" charset="-122"/>
                          <a:cs typeface="Times New Roman" pitchFamily="18" charset="0"/>
                        </a:rPr>
                        <m:t>=</m:t>
                      </m:r>
                      <m:sSub>
                        <m:sSubPr>
                          <m:ctrlPr>
                            <a:rPr lang="zh-CN" altLang="en-US" sz="2400" i="1">
                              <a:solidFill>
                                <a:schemeClr val="tx1"/>
                              </a:solidFill>
                              <a:latin typeface="Cambria Math" panose="02040503050406030204" pitchFamily="18" charset="0"/>
                              <a:ea typeface="微软雅黑" pitchFamily="34" charset="-122"/>
                              <a:cs typeface="Times New Roman" pitchFamily="18" charset="0"/>
                            </a:rPr>
                          </m:ctrlPr>
                        </m:sSubPr>
                        <m:e>
                          <m:r>
                            <a:rPr lang="zh-CN" altLang="en-US" sz="2400">
                              <a:solidFill>
                                <a:schemeClr val="tx1"/>
                              </a:solidFill>
                              <a:latin typeface="Cambria Math"/>
                              <a:ea typeface="微软雅黑" pitchFamily="34" charset="-122"/>
                              <a:cs typeface="Times New Roman" pitchFamily="18" charset="0"/>
                            </a:rPr>
                            <m:t>𝛽</m:t>
                          </m:r>
                        </m:e>
                        <m:sub>
                          <m:r>
                            <a:rPr lang="zh-CN" altLang="en-US" sz="2400">
                              <a:solidFill>
                                <a:schemeClr val="tx1"/>
                              </a:solidFill>
                              <a:latin typeface="Cambria Math"/>
                              <a:ea typeface="微软雅黑" pitchFamily="34" charset="-122"/>
                              <a:cs typeface="Times New Roman" pitchFamily="18" charset="0"/>
                            </a:rPr>
                            <m:t>0</m:t>
                          </m:r>
                        </m:sub>
                      </m:sSub>
                      <m:r>
                        <a:rPr lang="zh-CN" altLang="en-US" sz="2400">
                          <a:solidFill>
                            <a:schemeClr val="tx1"/>
                          </a:solidFill>
                          <a:latin typeface="Cambria Math"/>
                          <a:ea typeface="微软雅黑" pitchFamily="34" charset="-122"/>
                          <a:cs typeface="Times New Roman" pitchFamily="18" charset="0"/>
                        </a:rPr>
                        <m:t>+</m:t>
                      </m:r>
                      <m:sSub>
                        <m:sSubPr>
                          <m:ctrlPr>
                            <a:rPr lang="zh-CN" altLang="en-US" sz="2400" i="1">
                              <a:solidFill>
                                <a:schemeClr val="tx1"/>
                              </a:solidFill>
                              <a:latin typeface="Cambria Math" panose="02040503050406030204" pitchFamily="18" charset="0"/>
                              <a:ea typeface="微软雅黑" pitchFamily="34" charset="-122"/>
                              <a:cs typeface="Times New Roman" pitchFamily="18" charset="0"/>
                            </a:rPr>
                          </m:ctrlPr>
                        </m:sSubPr>
                        <m:e>
                          <m:r>
                            <a:rPr lang="zh-CN" altLang="en-US" sz="2400">
                              <a:solidFill>
                                <a:schemeClr val="tx1"/>
                              </a:solidFill>
                              <a:latin typeface="Cambria Math"/>
                              <a:ea typeface="微软雅黑" pitchFamily="34" charset="-122"/>
                              <a:cs typeface="Times New Roman" pitchFamily="18" charset="0"/>
                            </a:rPr>
                            <m:t>𝛽</m:t>
                          </m:r>
                        </m:e>
                        <m:sub>
                          <m:r>
                            <a:rPr lang="zh-CN" altLang="en-US" sz="2400">
                              <a:solidFill>
                                <a:schemeClr val="tx1"/>
                              </a:solidFill>
                              <a:latin typeface="Cambria Math"/>
                              <a:ea typeface="微软雅黑" pitchFamily="34" charset="-122"/>
                              <a:cs typeface="Times New Roman" pitchFamily="18" charset="0"/>
                            </a:rPr>
                            <m:t>1</m:t>
                          </m:r>
                        </m:sub>
                      </m:sSub>
                      <m:r>
                        <a:rPr lang="zh-CN" altLang="en-US" sz="2400">
                          <a:solidFill>
                            <a:schemeClr val="tx1"/>
                          </a:solidFill>
                          <a:latin typeface="Cambria Math"/>
                          <a:ea typeface="微软雅黑" pitchFamily="34" charset="-122"/>
                          <a:cs typeface="Times New Roman" pitchFamily="18" charset="0"/>
                        </a:rPr>
                        <m:t>𝑥</m:t>
                      </m:r>
                    </m:oMath>
                  </m:oMathPara>
                </a14:m>
                <a:endParaRPr lang="zh-CN" altLang="en-US" sz="2400" dirty="0">
                  <a:solidFill>
                    <a:schemeClr val="tx1"/>
                  </a:solidFill>
                  <a:latin typeface="Times New Roman" pitchFamily="18" charset="0"/>
                  <a:ea typeface="微软雅黑" pitchFamily="34" charset="-122"/>
                  <a:cs typeface="Times New Roman" pitchFamily="18" charset="0"/>
                </a:endParaRPr>
              </a:p>
            </p:txBody>
          </p:sp>
        </mc:Choice>
        <mc:Fallback xmlns="">
          <p:sp>
            <p:nvSpPr>
              <p:cNvPr id="9" name="矩形 8"/>
              <p:cNvSpPr>
                <a:spLocks noRot="1" noChangeAspect="1" noMove="1" noResize="1" noEditPoints="1" noAdjustHandles="1" noChangeArrowheads="1" noChangeShapeType="1" noTextEdit="1"/>
              </p:cNvSpPr>
              <p:nvPr/>
            </p:nvSpPr>
            <p:spPr>
              <a:xfrm>
                <a:off x="3738090" y="1636672"/>
                <a:ext cx="3742518" cy="499239"/>
              </a:xfrm>
              <a:prstGeom prst="rect">
                <a:avLst/>
              </a:prstGeom>
              <a:blipFill rotWithShape="1">
                <a:blip r:embed="rId2"/>
                <a:stretch>
                  <a:fillRect b="-9756"/>
                </a:stretch>
              </a:blipFill>
            </p:spPr>
            <p:txBody>
              <a:bodyPr/>
              <a:lstStyle/>
              <a:p>
                <a:r>
                  <a:rPr lang="zh-CN" altLang="en-US">
                    <a:noFill/>
                  </a:rPr>
                  <a:t> </a:t>
                </a:r>
              </a:p>
            </p:txBody>
          </p:sp>
        </mc:Fallback>
      </mc:AlternateContent>
      <p:sp>
        <p:nvSpPr>
          <p:cNvPr id="10" name="TextBox 9"/>
          <p:cNvSpPr txBox="1"/>
          <p:nvPr/>
        </p:nvSpPr>
        <p:spPr>
          <a:xfrm>
            <a:off x="960248" y="1628770"/>
            <a:ext cx="2646878" cy="461665"/>
          </a:xfrm>
          <a:prstGeom prst="rect">
            <a:avLst/>
          </a:prstGeom>
          <a:noFill/>
        </p:spPr>
        <p:txBody>
          <a:bodyPr wrap="none" rtlCol="0">
            <a:spAutoFit/>
          </a:bodyPr>
          <a:lstStyle/>
          <a:p>
            <a:r>
              <a:rPr lang="zh-CN" altLang="en-US" sz="2400" b="1" dirty="0">
                <a:solidFill>
                  <a:srgbClr val="003366"/>
                </a:solidFill>
                <a:latin typeface="Times New Roman" pitchFamily="18" charset="0"/>
                <a:ea typeface="微软雅黑" pitchFamily="34" charset="-122"/>
                <a:cs typeface="Times New Roman" pitchFamily="18" charset="0"/>
              </a:rPr>
              <a:t>一元线性回归方程</a:t>
            </a:r>
          </a:p>
        </p:txBody>
      </p:sp>
      <p:sp>
        <p:nvSpPr>
          <p:cNvPr id="12" name="Text Box 21"/>
          <p:cNvSpPr txBox="1">
            <a:spLocks noChangeArrowheads="1"/>
          </p:cNvSpPr>
          <p:nvPr/>
        </p:nvSpPr>
        <p:spPr bwMode="auto">
          <a:xfrm>
            <a:off x="23813" y="908678"/>
            <a:ext cx="74285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marL="457200" indent="-457200" eaLnBrk="1" hangingPunct="1">
              <a:spcBef>
                <a:spcPct val="50000"/>
              </a:spcBef>
              <a:buFont typeface="Wingdings" pitchFamily="2" charset="2"/>
              <a:buChar char="u"/>
            </a:pPr>
            <a:r>
              <a:rPr kumimoji="1" lang="zh-CN" altLang="en-US" b="1" dirty="0">
                <a:solidFill>
                  <a:srgbClr val="C00000"/>
                </a:solidFill>
                <a:latin typeface="微软雅黑" pitchFamily="34" charset="-122"/>
                <a:ea typeface="微软雅黑" pitchFamily="34" charset="-122"/>
              </a:rPr>
              <a:t>线性回归统计模型的求解</a:t>
            </a:r>
          </a:p>
        </p:txBody>
      </p:sp>
      <mc:AlternateContent xmlns:mc="http://schemas.openxmlformats.org/markup-compatibility/2006" xmlns:a14="http://schemas.microsoft.com/office/drawing/2010/main">
        <mc:Choice Requires="a14">
          <p:sp>
            <p:nvSpPr>
              <p:cNvPr id="13" name="矩形 12"/>
              <p:cNvSpPr/>
              <p:nvPr/>
            </p:nvSpPr>
            <p:spPr>
              <a:xfrm>
                <a:off x="601248" y="2348862"/>
                <a:ext cx="7916449" cy="2788520"/>
              </a:xfrm>
              <a:prstGeom prst="rect">
                <a:avLst/>
              </a:prstGeom>
            </p:spPr>
            <p:txBody>
              <a:bodyPr wrap="square">
                <a:spAutoFit/>
              </a:bodyPr>
              <a:lstStyle/>
              <a:p>
                <a:pPr marL="342900" indent="-342900" algn="just">
                  <a:lnSpc>
                    <a:spcPct val="160000"/>
                  </a:lnSpc>
                  <a:buFont typeface="Wingdings" pitchFamily="2" charset="2"/>
                  <a:buChar char="l"/>
                  <a:defRPr/>
                </a:pPr>
                <a:r>
                  <a:rPr lang="zh-CN" altLang="en-US" sz="2400" dirty="0">
                    <a:solidFill>
                      <a:srgbClr val="003366"/>
                    </a:solidFill>
                    <a:latin typeface="Times New Roman" pitchFamily="18" charset="0"/>
                    <a:ea typeface="微软雅黑" pitchFamily="34" charset="-122"/>
                    <a:cs typeface="Times New Roman" pitchFamily="18" charset="0"/>
                  </a:rPr>
                  <a:t>总体回归参数 </a:t>
                </a:r>
                <a14:m>
                  <m:oMath xmlns:m="http://schemas.openxmlformats.org/officeDocument/2006/math">
                    <m:sSub>
                      <m:sSubPr>
                        <m:ctrlPr>
                          <a:rPr lang="zh-CN" altLang="en-US" sz="2400" i="1">
                            <a:solidFill>
                              <a:srgbClr val="003366"/>
                            </a:solidFill>
                            <a:latin typeface="Cambria Math" panose="02040503050406030204" pitchFamily="18" charset="0"/>
                            <a:ea typeface="微软雅黑" pitchFamily="34" charset="-122"/>
                            <a:cs typeface="Times New Roman" pitchFamily="18" charset="0"/>
                          </a:rPr>
                        </m:ctrlPr>
                      </m:sSubPr>
                      <m:e>
                        <m:r>
                          <m:rPr>
                            <m:sty m:val="p"/>
                          </m:rPr>
                          <a:rPr lang="zh-CN" altLang="en-US" sz="2400" b="0" i="1">
                            <a:solidFill>
                              <a:srgbClr val="003366"/>
                            </a:solidFill>
                            <a:latin typeface="Cambria Math"/>
                            <a:ea typeface="微软雅黑" pitchFamily="34" charset="-122"/>
                            <a:cs typeface="Times New Roman" pitchFamily="18" charset="0"/>
                          </a:rPr>
                          <m:t>β</m:t>
                        </m:r>
                      </m:e>
                      <m:sub>
                        <m:r>
                          <a:rPr lang="en-US" altLang="zh-CN" sz="2400" b="0">
                            <a:solidFill>
                              <a:srgbClr val="003366"/>
                            </a:solidFill>
                            <a:latin typeface="Cambria Math"/>
                            <a:ea typeface="微软雅黑" pitchFamily="34" charset="-122"/>
                            <a:cs typeface="Times New Roman" pitchFamily="18" charset="0"/>
                          </a:rPr>
                          <m:t>0</m:t>
                        </m:r>
                      </m:sub>
                    </m:sSub>
                  </m:oMath>
                </a14:m>
                <a:r>
                  <a:rPr lang="zh-CN" altLang="en-US" sz="2400" dirty="0">
                    <a:solidFill>
                      <a:srgbClr val="003366"/>
                    </a:solidFill>
                    <a:latin typeface="Times New Roman" pitchFamily="18" charset="0"/>
                    <a:ea typeface="微软雅黑" pitchFamily="34" charset="-122"/>
                    <a:cs typeface="Times New Roman" pitchFamily="18" charset="0"/>
                  </a:rPr>
                  <a:t>和 </a:t>
                </a:r>
                <a14:m>
                  <m:oMath xmlns:m="http://schemas.openxmlformats.org/officeDocument/2006/math">
                    <m:sSub>
                      <m:sSubPr>
                        <m:ctrlPr>
                          <a:rPr lang="zh-CN" altLang="en-US" sz="2400" i="1">
                            <a:solidFill>
                              <a:srgbClr val="003366"/>
                            </a:solidFill>
                            <a:latin typeface="Cambria Math" panose="02040503050406030204" pitchFamily="18" charset="0"/>
                            <a:ea typeface="微软雅黑" pitchFamily="34" charset="-122"/>
                            <a:cs typeface="Times New Roman" pitchFamily="18" charset="0"/>
                          </a:rPr>
                        </m:ctrlPr>
                      </m:sSubPr>
                      <m:e>
                        <m:r>
                          <m:rPr>
                            <m:sty m:val="p"/>
                          </m:rPr>
                          <a:rPr lang="zh-CN" altLang="en-US" sz="2400" b="0" i="1">
                            <a:solidFill>
                              <a:srgbClr val="003366"/>
                            </a:solidFill>
                            <a:latin typeface="Cambria Math"/>
                            <a:ea typeface="微软雅黑" pitchFamily="34" charset="-122"/>
                            <a:cs typeface="Times New Roman" pitchFamily="18" charset="0"/>
                          </a:rPr>
                          <m:t>β</m:t>
                        </m:r>
                      </m:e>
                      <m:sub>
                        <m:r>
                          <a:rPr lang="zh-CN" altLang="en-US" sz="2400" b="0">
                            <a:solidFill>
                              <a:srgbClr val="003366"/>
                            </a:solidFill>
                            <a:latin typeface="Cambria Math"/>
                            <a:ea typeface="微软雅黑" pitchFamily="34" charset="-122"/>
                            <a:cs typeface="Times New Roman" pitchFamily="18" charset="0"/>
                          </a:rPr>
                          <m:t>1</m:t>
                        </m:r>
                      </m:sub>
                    </m:sSub>
                  </m:oMath>
                </a14:m>
                <a:r>
                  <a:rPr lang="zh-CN" altLang="en-US" sz="2400" dirty="0">
                    <a:solidFill>
                      <a:srgbClr val="003366"/>
                    </a:solidFill>
                    <a:latin typeface="Times New Roman" pitchFamily="18" charset="0"/>
                    <a:ea typeface="微软雅黑" pitchFamily="34" charset="-122"/>
                    <a:cs typeface="Times New Roman" pitchFamily="18" charset="0"/>
                  </a:rPr>
                  <a:t>未知的，要用样本数据去估计</a:t>
                </a:r>
                <a:r>
                  <a:rPr lang="zh-CN" altLang="en-US" sz="2400" dirty="0">
                    <a:latin typeface="微软雅黑" pitchFamily="34" charset="-122"/>
                    <a:ea typeface="微软雅黑" pitchFamily="34" charset="-122"/>
                  </a:rPr>
                  <a:t>。</a:t>
                </a:r>
                <a:endParaRPr lang="en-US" altLang="zh-CN" sz="2400" dirty="0">
                  <a:latin typeface="微软雅黑" pitchFamily="34" charset="-122"/>
                  <a:ea typeface="微软雅黑" pitchFamily="34" charset="-122"/>
                </a:endParaRPr>
              </a:p>
              <a:p>
                <a:pPr marL="342900" indent="-342900">
                  <a:lnSpc>
                    <a:spcPct val="160000"/>
                  </a:lnSpc>
                  <a:buFont typeface="Wingdings" pitchFamily="2" charset="2"/>
                  <a:buChar char="l"/>
                  <a:defRPr/>
                </a:pPr>
                <a:r>
                  <a:rPr lang="zh-CN" altLang="en-US" sz="2400" dirty="0">
                    <a:solidFill>
                      <a:srgbClr val="003366"/>
                    </a:solidFill>
                    <a:latin typeface="Times New Roman" pitchFamily="18" charset="0"/>
                    <a:ea typeface="微软雅黑" pitchFamily="34" charset="-122"/>
                    <a:cs typeface="Times New Roman" pitchFamily="18" charset="0"/>
                  </a:rPr>
                  <a:t>利用样本统计量</a:t>
                </a:r>
                <a14:m>
                  <m:oMath xmlns:m="http://schemas.openxmlformats.org/officeDocument/2006/math">
                    <m:sSub>
                      <m:sSubPr>
                        <m:ctrlPr>
                          <a:rPr lang="en-US" altLang="zh-CN" sz="2400" i="1" dirty="0">
                            <a:solidFill>
                              <a:srgbClr val="003366"/>
                            </a:solidFill>
                            <a:latin typeface="Cambria Math" panose="02040503050406030204" pitchFamily="18" charset="0"/>
                            <a:ea typeface="微软雅黑" pitchFamily="34" charset="-122"/>
                            <a:cs typeface="Times New Roman" pitchFamily="18" charset="0"/>
                          </a:rPr>
                        </m:ctrlPr>
                      </m:sSubPr>
                      <m:e>
                        <m:r>
                          <a:rPr lang="en-US" altLang="zh-CN" sz="2400" b="0" dirty="0">
                            <a:solidFill>
                              <a:srgbClr val="003366"/>
                            </a:solidFill>
                            <a:latin typeface="Cambria Math"/>
                            <a:ea typeface="微软雅黑" pitchFamily="34" charset="-122"/>
                            <a:cs typeface="Times New Roman" pitchFamily="18" charset="0"/>
                          </a:rPr>
                          <m:t> </m:t>
                        </m:r>
                        <m:acc>
                          <m:accPr>
                            <m:chr m:val="̂"/>
                            <m:ctrlPr>
                              <a:rPr lang="en-US" altLang="zh-CN" sz="2400" i="1" dirty="0">
                                <a:solidFill>
                                  <a:srgbClr val="003366"/>
                                </a:solidFill>
                                <a:latin typeface="Cambria Math" panose="02040503050406030204" pitchFamily="18" charset="0"/>
                                <a:ea typeface="微软雅黑" pitchFamily="34" charset="-122"/>
                                <a:cs typeface="Times New Roman" pitchFamily="18" charset="0"/>
                              </a:rPr>
                            </m:ctrlPr>
                          </m:accPr>
                          <m:e>
                            <m:r>
                              <m:rPr>
                                <m:sty m:val="p"/>
                              </m:rPr>
                              <a:rPr lang="en-US" altLang="zh-CN" sz="2400" b="0" i="1" dirty="0">
                                <a:solidFill>
                                  <a:srgbClr val="003366"/>
                                </a:solidFill>
                                <a:latin typeface="Cambria Math"/>
                                <a:ea typeface="微软雅黑" pitchFamily="34" charset="-122"/>
                                <a:cs typeface="Times New Roman" pitchFamily="18" charset="0"/>
                              </a:rPr>
                              <m:t>β</m:t>
                            </m:r>
                          </m:e>
                        </m:acc>
                      </m:e>
                      <m:sub>
                        <m:r>
                          <a:rPr lang="en-US" altLang="zh-CN" sz="2400" b="0" dirty="0">
                            <a:solidFill>
                              <a:srgbClr val="003366"/>
                            </a:solidFill>
                            <a:latin typeface="Cambria Math"/>
                            <a:ea typeface="微软雅黑" pitchFamily="34" charset="-122"/>
                            <a:cs typeface="Times New Roman" pitchFamily="18" charset="0"/>
                          </a:rPr>
                          <m:t>0</m:t>
                        </m:r>
                      </m:sub>
                    </m:sSub>
                  </m:oMath>
                </a14:m>
                <a:r>
                  <a:rPr lang="zh-CN" altLang="en-US" sz="2400" dirty="0">
                    <a:solidFill>
                      <a:srgbClr val="003366"/>
                    </a:solidFill>
                    <a:latin typeface="Times New Roman" pitchFamily="18" charset="0"/>
                    <a:ea typeface="微软雅黑" pitchFamily="34" charset="-122"/>
                    <a:cs typeface="Times New Roman" pitchFamily="18" charset="0"/>
                  </a:rPr>
                  <a:t> 和 </a:t>
                </a:r>
                <a14:m>
                  <m:oMath xmlns:m="http://schemas.openxmlformats.org/officeDocument/2006/math">
                    <m:sSub>
                      <m:sSubPr>
                        <m:ctrlPr>
                          <a:rPr lang="en-US" altLang="zh-CN" sz="2400" i="1" dirty="0">
                            <a:solidFill>
                              <a:srgbClr val="003366"/>
                            </a:solidFill>
                            <a:latin typeface="Cambria Math" panose="02040503050406030204" pitchFamily="18" charset="0"/>
                            <a:ea typeface="微软雅黑" pitchFamily="34" charset="-122"/>
                            <a:cs typeface="Times New Roman" pitchFamily="18" charset="0"/>
                          </a:rPr>
                        </m:ctrlPr>
                      </m:sSubPr>
                      <m:e>
                        <m:acc>
                          <m:accPr>
                            <m:chr m:val="̂"/>
                            <m:ctrlPr>
                              <a:rPr lang="en-US" altLang="zh-CN" sz="2400" i="1" dirty="0">
                                <a:solidFill>
                                  <a:srgbClr val="003366"/>
                                </a:solidFill>
                                <a:latin typeface="Cambria Math" panose="02040503050406030204" pitchFamily="18" charset="0"/>
                                <a:ea typeface="微软雅黑" pitchFamily="34" charset="-122"/>
                                <a:cs typeface="Times New Roman" pitchFamily="18" charset="0"/>
                              </a:rPr>
                            </m:ctrlPr>
                          </m:accPr>
                          <m:e>
                            <m:r>
                              <m:rPr>
                                <m:sty m:val="p"/>
                              </m:rPr>
                              <a:rPr lang="en-US" altLang="zh-CN" sz="2400" b="0" i="1" dirty="0">
                                <a:solidFill>
                                  <a:srgbClr val="003366"/>
                                </a:solidFill>
                                <a:latin typeface="Cambria Math"/>
                                <a:ea typeface="微软雅黑" pitchFamily="34" charset="-122"/>
                                <a:cs typeface="Times New Roman" pitchFamily="18" charset="0"/>
                              </a:rPr>
                              <m:t>β</m:t>
                            </m:r>
                          </m:e>
                        </m:acc>
                      </m:e>
                      <m:sub>
                        <m:r>
                          <a:rPr lang="en-US" altLang="zh-CN" sz="2400" b="0" dirty="0">
                            <a:solidFill>
                              <a:srgbClr val="003366"/>
                            </a:solidFill>
                            <a:latin typeface="Cambria Math"/>
                            <a:ea typeface="微软雅黑" pitchFamily="34" charset="-122"/>
                            <a:cs typeface="Times New Roman" pitchFamily="18" charset="0"/>
                          </a:rPr>
                          <m:t>1</m:t>
                        </m:r>
                      </m:sub>
                    </m:sSub>
                  </m:oMath>
                </a14:m>
                <a:r>
                  <a:rPr lang="en-US" altLang="zh-CN" sz="2400" dirty="0">
                    <a:solidFill>
                      <a:srgbClr val="003366"/>
                    </a:solidFill>
                    <a:latin typeface="Times New Roman" pitchFamily="18" charset="0"/>
                    <a:ea typeface="微软雅黑" pitchFamily="34" charset="-122"/>
                    <a:cs typeface="Times New Roman" pitchFamily="18" charset="0"/>
                  </a:rPr>
                  <a:t> </a:t>
                </a:r>
                <a:r>
                  <a:rPr lang="zh-CN" altLang="en-US" sz="2400" dirty="0">
                    <a:solidFill>
                      <a:srgbClr val="003366"/>
                    </a:solidFill>
                    <a:latin typeface="Times New Roman" pitchFamily="18" charset="0"/>
                    <a:ea typeface="微软雅黑" pitchFamily="34" charset="-122"/>
                    <a:cs typeface="Times New Roman" pitchFamily="18" charset="0"/>
                  </a:rPr>
                  <a:t>代替回归方程中的未知参数 </a:t>
                </a:r>
                <a14:m>
                  <m:oMath xmlns:m="http://schemas.openxmlformats.org/officeDocument/2006/math">
                    <m:sSub>
                      <m:sSubPr>
                        <m:ctrlPr>
                          <a:rPr lang="zh-CN" altLang="en-US" sz="2400" i="1">
                            <a:solidFill>
                              <a:srgbClr val="003366"/>
                            </a:solidFill>
                            <a:latin typeface="Cambria Math" panose="02040503050406030204" pitchFamily="18" charset="0"/>
                            <a:ea typeface="微软雅黑" pitchFamily="34" charset="-122"/>
                            <a:cs typeface="Times New Roman" pitchFamily="18" charset="0"/>
                          </a:rPr>
                        </m:ctrlPr>
                      </m:sSubPr>
                      <m:e>
                        <m:r>
                          <m:rPr>
                            <m:sty m:val="p"/>
                          </m:rPr>
                          <a:rPr lang="zh-CN" altLang="en-US" sz="2400" b="0" i="1">
                            <a:solidFill>
                              <a:srgbClr val="003366"/>
                            </a:solidFill>
                            <a:latin typeface="Cambria Math"/>
                            <a:ea typeface="微软雅黑" pitchFamily="34" charset="-122"/>
                            <a:cs typeface="Times New Roman" pitchFamily="18" charset="0"/>
                          </a:rPr>
                          <m:t>β</m:t>
                        </m:r>
                      </m:e>
                      <m:sub>
                        <m:r>
                          <a:rPr lang="en-US" altLang="zh-CN" sz="2400" b="0">
                            <a:solidFill>
                              <a:srgbClr val="003366"/>
                            </a:solidFill>
                            <a:latin typeface="Cambria Math"/>
                            <a:ea typeface="微软雅黑" pitchFamily="34" charset="-122"/>
                            <a:cs typeface="Times New Roman" pitchFamily="18" charset="0"/>
                          </a:rPr>
                          <m:t>0</m:t>
                        </m:r>
                      </m:sub>
                    </m:sSub>
                  </m:oMath>
                </a14:m>
                <a:r>
                  <a:rPr lang="zh-CN" altLang="en-US" sz="2400" dirty="0">
                    <a:solidFill>
                      <a:srgbClr val="003366"/>
                    </a:solidFill>
                    <a:latin typeface="Times New Roman" pitchFamily="18" charset="0"/>
                    <a:ea typeface="微软雅黑" pitchFamily="34" charset="-122"/>
                    <a:cs typeface="Times New Roman" pitchFamily="18" charset="0"/>
                  </a:rPr>
                  <a:t>和 </a:t>
                </a:r>
                <a14:m>
                  <m:oMath xmlns:m="http://schemas.openxmlformats.org/officeDocument/2006/math">
                    <m:sSub>
                      <m:sSubPr>
                        <m:ctrlPr>
                          <a:rPr lang="zh-CN" altLang="en-US" sz="2400" i="1">
                            <a:solidFill>
                              <a:srgbClr val="003366"/>
                            </a:solidFill>
                            <a:latin typeface="Cambria Math" panose="02040503050406030204" pitchFamily="18" charset="0"/>
                            <a:ea typeface="微软雅黑" pitchFamily="34" charset="-122"/>
                            <a:cs typeface="Times New Roman" pitchFamily="18" charset="0"/>
                          </a:rPr>
                        </m:ctrlPr>
                      </m:sSubPr>
                      <m:e>
                        <m:r>
                          <m:rPr>
                            <m:sty m:val="p"/>
                          </m:rPr>
                          <a:rPr lang="zh-CN" altLang="en-US" sz="2400" b="0" i="1">
                            <a:solidFill>
                              <a:srgbClr val="003366"/>
                            </a:solidFill>
                            <a:latin typeface="Cambria Math"/>
                            <a:ea typeface="微软雅黑" pitchFamily="34" charset="-122"/>
                            <a:cs typeface="Times New Roman" pitchFamily="18" charset="0"/>
                          </a:rPr>
                          <m:t>β</m:t>
                        </m:r>
                      </m:e>
                      <m:sub>
                        <m:r>
                          <a:rPr lang="zh-CN" altLang="en-US" sz="2400" b="0">
                            <a:solidFill>
                              <a:srgbClr val="003366"/>
                            </a:solidFill>
                            <a:latin typeface="Cambria Math"/>
                            <a:ea typeface="微软雅黑" pitchFamily="34" charset="-122"/>
                            <a:cs typeface="Times New Roman" pitchFamily="18" charset="0"/>
                          </a:rPr>
                          <m:t>1</m:t>
                        </m:r>
                      </m:sub>
                    </m:sSub>
                    <m:r>
                      <a:rPr lang="zh-CN" altLang="en-US" sz="2400" b="0">
                        <a:solidFill>
                          <a:srgbClr val="003366"/>
                        </a:solidFill>
                        <a:latin typeface="Cambria Math"/>
                        <a:ea typeface="微软雅黑" pitchFamily="34" charset="-122"/>
                        <a:cs typeface="Times New Roman" pitchFamily="18" charset="0"/>
                      </a:rPr>
                      <m:t> </m:t>
                    </m:r>
                  </m:oMath>
                </a14:m>
                <a:r>
                  <a:rPr lang="zh-CN" altLang="en-US" sz="2400" dirty="0">
                    <a:solidFill>
                      <a:srgbClr val="003366"/>
                    </a:solidFill>
                    <a:latin typeface="Times New Roman" pitchFamily="18" charset="0"/>
                    <a:ea typeface="微软雅黑" pitchFamily="34" charset="-122"/>
                    <a:cs typeface="Times New Roman" pitchFamily="18" charset="0"/>
                  </a:rPr>
                  <a:t>，就得到了估计的回归方程，可表示为：</a:t>
                </a:r>
                <a:endParaRPr lang="en-US" altLang="zh-CN" sz="2400" dirty="0">
                  <a:solidFill>
                    <a:srgbClr val="003366"/>
                  </a:solidFill>
                  <a:latin typeface="Times New Roman" pitchFamily="18" charset="0"/>
                  <a:ea typeface="微软雅黑" pitchFamily="34" charset="-122"/>
                  <a:cs typeface="Times New Roman" pitchFamily="18" charset="0"/>
                </a:endParaRPr>
              </a:p>
              <a:p>
                <a:pPr>
                  <a:lnSpc>
                    <a:spcPct val="160000"/>
                  </a:lnSpc>
                  <a:defRPr/>
                </a:pPr>
                <a14:m>
                  <m:oMathPara xmlns:m="http://schemas.openxmlformats.org/officeDocument/2006/math">
                    <m:oMathParaPr>
                      <m:jc m:val="centerGroup"/>
                    </m:oMathParaPr>
                    <m:oMath xmlns:m="http://schemas.openxmlformats.org/officeDocument/2006/math">
                      <m:acc>
                        <m:accPr>
                          <m:chr m:val="̂"/>
                          <m:ctrlPr>
                            <a:rPr lang="en-US" altLang="zh-CN" sz="2400" i="1" dirty="0">
                              <a:solidFill>
                                <a:srgbClr val="003366"/>
                              </a:solidFill>
                              <a:latin typeface="Cambria Math" panose="02040503050406030204" pitchFamily="18" charset="0"/>
                              <a:ea typeface="微软雅黑" pitchFamily="34" charset="-122"/>
                              <a:cs typeface="Times New Roman" pitchFamily="18" charset="0"/>
                            </a:rPr>
                          </m:ctrlPr>
                        </m:accPr>
                        <m:e>
                          <m:r>
                            <m:rPr>
                              <m:sty m:val="p"/>
                            </m:rPr>
                            <a:rPr lang="en-US" altLang="zh-CN" sz="2400" b="0" i="1" dirty="0">
                              <a:solidFill>
                                <a:srgbClr val="003366"/>
                              </a:solidFill>
                              <a:latin typeface="Cambria Math"/>
                              <a:ea typeface="微软雅黑" pitchFamily="34" charset="-122"/>
                              <a:cs typeface="Times New Roman" pitchFamily="18" charset="0"/>
                            </a:rPr>
                            <m:t>y</m:t>
                          </m:r>
                        </m:e>
                      </m:acc>
                      <m:r>
                        <a:rPr lang="en-US" altLang="zh-CN" sz="2400" b="0" dirty="0">
                          <a:solidFill>
                            <a:srgbClr val="003366"/>
                          </a:solidFill>
                          <a:latin typeface="Cambria Math"/>
                          <a:ea typeface="微软雅黑" pitchFamily="34" charset="-122"/>
                          <a:cs typeface="Times New Roman" pitchFamily="18" charset="0"/>
                        </a:rPr>
                        <m:t>=</m:t>
                      </m:r>
                      <m:sSub>
                        <m:sSubPr>
                          <m:ctrlPr>
                            <a:rPr lang="en-US" altLang="zh-CN" sz="2400" i="1" dirty="0">
                              <a:solidFill>
                                <a:srgbClr val="003366"/>
                              </a:solidFill>
                              <a:latin typeface="Cambria Math" panose="02040503050406030204" pitchFamily="18" charset="0"/>
                              <a:ea typeface="微软雅黑" pitchFamily="34" charset="-122"/>
                              <a:cs typeface="Times New Roman" pitchFamily="18" charset="0"/>
                            </a:rPr>
                          </m:ctrlPr>
                        </m:sSubPr>
                        <m:e>
                          <m:acc>
                            <m:accPr>
                              <m:chr m:val="̂"/>
                              <m:ctrlPr>
                                <a:rPr lang="en-US" altLang="zh-CN" sz="2400" i="1" dirty="0">
                                  <a:solidFill>
                                    <a:srgbClr val="003366"/>
                                  </a:solidFill>
                                  <a:latin typeface="Cambria Math" panose="02040503050406030204" pitchFamily="18" charset="0"/>
                                  <a:ea typeface="微软雅黑" pitchFamily="34" charset="-122"/>
                                  <a:cs typeface="Times New Roman" pitchFamily="18" charset="0"/>
                                </a:rPr>
                              </m:ctrlPr>
                            </m:accPr>
                            <m:e>
                              <m:r>
                                <m:rPr>
                                  <m:sty m:val="p"/>
                                </m:rPr>
                                <a:rPr lang="en-US" altLang="zh-CN" sz="2400" b="0" i="1" dirty="0">
                                  <a:solidFill>
                                    <a:srgbClr val="003366"/>
                                  </a:solidFill>
                                  <a:latin typeface="Cambria Math"/>
                                  <a:ea typeface="微软雅黑" pitchFamily="34" charset="-122"/>
                                  <a:cs typeface="Times New Roman" pitchFamily="18" charset="0"/>
                                </a:rPr>
                                <m:t>β</m:t>
                              </m:r>
                            </m:e>
                          </m:acc>
                        </m:e>
                        <m:sub>
                          <m:r>
                            <a:rPr lang="en-US" altLang="zh-CN" sz="2400" b="0" dirty="0">
                              <a:solidFill>
                                <a:srgbClr val="003366"/>
                              </a:solidFill>
                              <a:latin typeface="Cambria Math"/>
                              <a:ea typeface="微软雅黑" pitchFamily="34" charset="-122"/>
                              <a:cs typeface="Times New Roman" pitchFamily="18" charset="0"/>
                            </a:rPr>
                            <m:t>0</m:t>
                          </m:r>
                        </m:sub>
                      </m:sSub>
                      <m:r>
                        <a:rPr lang="en-US" altLang="zh-CN" sz="2400" b="0" dirty="0">
                          <a:solidFill>
                            <a:srgbClr val="003366"/>
                          </a:solidFill>
                          <a:latin typeface="Cambria Math"/>
                          <a:ea typeface="微软雅黑" pitchFamily="34" charset="-122"/>
                          <a:cs typeface="Times New Roman" pitchFamily="18" charset="0"/>
                        </a:rPr>
                        <m:t>+</m:t>
                      </m:r>
                      <m:sSub>
                        <m:sSubPr>
                          <m:ctrlPr>
                            <a:rPr lang="en-US" altLang="zh-CN" sz="2400" i="1" dirty="0">
                              <a:solidFill>
                                <a:srgbClr val="003366"/>
                              </a:solidFill>
                              <a:latin typeface="Cambria Math" panose="02040503050406030204" pitchFamily="18" charset="0"/>
                              <a:ea typeface="微软雅黑" pitchFamily="34" charset="-122"/>
                              <a:cs typeface="Times New Roman" pitchFamily="18" charset="0"/>
                            </a:rPr>
                          </m:ctrlPr>
                        </m:sSubPr>
                        <m:e>
                          <m:acc>
                            <m:accPr>
                              <m:chr m:val="̂"/>
                              <m:ctrlPr>
                                <a:rPr lang="en-US" altLang="zh-CN" sz="2400" i="1" dirty="0">
                                  <a:solidFill>
                                    <a:srgbClr val="003366"/>
                                  </a:solidFill>
                                  <a:latin typeface="Cambria Math" panose="02040503050406030204" pitchFamily="18" charset="0"/>
                                  <a:ea typeface="微软雅黑" pitchFamily="34" charset="-122"/>
                                  <a:cs typeface="Times New Roman" pitchFamily="18" charset="0"/>
                                </a:rPr>
                              </m:ctrlPr>
                            </m:accPr>
                            <m:e>
                              <m:r>
                                <m:rPr>
                                  <m:sty m:val="p"/>
                                </m:rPr>
                                <a:rPr lang="en-US" altLang="zh-CN" sz="2400" b="0" i="1" dirty="0">
                                  <a:solidFill>
                                    <a:srgbClr val="003366"/>
                                  </a:solidFill>
                                  <a:latin typeface="Cambria Math"/>
                                  <a:ea typeface="微软雅黑" pitchFamily="34" charset="-122"/>
                                  <a:cs typeface="Times New Roman" pitchFamily="18" charset="0"/>
                                </a:rPr>
                                <m:t>β</m:t>
                              </m:r>
                            </m:e>
                          </m:acc>
                        </m:e>
                        <m:sub>
                          <m:r>
                            <a:rPr lang="en-US" altLang="zh-CN" sz="2400" b="0" dirty="0">
                              <a:solidFill>
                                <a:srgbClr val="003366"/>
                              </a:solidFill>
                              <a:latin typeface="Cambria Math"/>
                              <a:ea typeface="微软雅黑" pitchFamily="34" charset="-122"/>
                              <a:cs typeface="Times New Roman" pitchFamily="18" charset="0"/>
                            </a:rPr>
                            <m:t>1</m:t>
                          </m:r>
                        </m:sub>
                      </m:sSub>
                      <m:r>
                        <m:rPr>
                          <m:sty m:val="p"/>
                        </m:rPr>
                        <a:rPr lang="en-US" altLang="zh-CN" sz="2400" b="0" i="1" dirty="0">
                          <a:solidFill>
                            <a:srgbClr val="003366"/>
                          </a:solidFill>
                          <a:latin typeface="Cambria Math"/>
                          <a:ea typeface="微软雅黑" pitchFamily="34" charset="-122"/>
                          <a:cs typeface="Times New Roman" pitchFamily="18" charset="0"/>
                        </a:rPr>
                        <m:t>x</m:t>
                      </m:r>
                    </m:oMath>
                  </m:oMathPara>
                </a14:m>
                <a:endParaRPr lang="en-US" altLang="zh-CN" sz="2400" dirty="0">
                  <a:solidFill>
                    <a:srgbClr val="003366"/>
                  </a:solidFill>
                  <a:latin typeface="Times New Roman" pitchFamily="18" charset="0"/>
                  <a:ea typeface="微软雅黑" pitchFamily="34" charset="-122"/>
                  <a:cs typeface="Times New Roman" pitchFamily="18" charset="0"/>
                </a:endParaRPr>
              </a:p>
            </p:txBody>
          </p:sp>
        </mc:Choice>
        <mc:Fallback xmlns="">
          <p:sp>
            <p:nvSpPr>
              <p:cNvPr id="13" name="矩形 12"/>
              <p:cNvSpPr>
                <a:spLocks noRot="1" noChangeAspect="1" noMove="1" noResize="1" noEditPoints="1" noAdjustHandles="1" noChangeArrowheads="1" noChangeShapeType="1" noTextEdit="1"/>
              </p:cNvSpPr>
              <p:nvPr/>
            </p:nvSpPr>
            <p:spPr>
              <a:xfrm>
                <a:off x="601248" y="2348862"/>
                <a:ext cx="7916449" cy="2788520"/>
              </a:xfrm>
              <a:prstGeom prst="rect">
                <a:avLst/>
              </a:prstGeom>
              <a:blipFill rotWithShape="1">
                <a:blip r:embed="rId3"/>
                <a:stretch>
                  <a:fillRect l="-107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0538841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9233" name="矩形 1"/>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12" name="Text Box 21"/>
          <p:cNvSpPr txBox="1">
            <a:spLocks noChangeArrowheads="1"/>
          </p:cNvSpPr>
          <p:nvPr/>
        </p:nvSpPr>
        <p:spPr bwMode="auto">
          <a:xfrm>
            <a:off x="23813" y="908678"/>
            <a:ext cx="74285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marL="457200" indent="-457200" eaLnBrk="1" hangingPunct="1">
              <a:spcBef>
                <a:spcPct val="50000"/>
              </a:spcBef>
              <a:buFont typeface="Wingdings" pitchFamily="2" charset="2"/>
              <a:buChar char="u"/>
            </a:pPr>
            <a:r>
              <a:rPr kumimoji="1" lang="zh-CN" altLang="en-US" b="1" dirty="0">
                <a:solidFill>
                  <a:srgbClr val="C00000"/>
                </a:solidFill>
                <a:latin typeface="微软雅黑" pitchFamily="34" charset="-122"/>
                <a:ea typeface="微软雅黑" pitchFamily="34" charset="-122"/>
              </a:rPr>
              <a:t>线性回归统计模型的求解</a:t>
            </a:r>
          </a:p>
        </p:txBody>
      </p:sp>
      <p:grpSp>
        <p:nvGrpSpPr>
          <p:cNvPr id="8" name="Group 6"/>
          <p:cNvGrpSpPr>
            <a:grpSpLocks/>
          </p:cNvGrpSpPr>
          <p:nvPr/>
        </p:nvGrpSpPr>
        <p:grpSpPr bwMode="auto">
          <a:xfrm>
            <a:off x="112734" y="1636714"/>
            <a:ext cx="5245368" cy="4022725"/>
            <a:chOff x="384" y="1152"/>
            <a:chExt cx="4282" cy="2534"/>
          </a:xfrm>
        </p:grpSpPr>
        <p:grpSp>
          <p:nvGrpSpPr>
            <p:cNvPr id="11" name="Group 7"/>
            <p:cNvGrpSpPr>
              <a:grpSpLocks/>
            </p:cNvGrpSpPr>
            <p:nvPr/>
          </p:nvGrpSpPr>
          <p:grpSpPr bwMode="auto">
            <a:xfrm>
              <a:off x="720" y="1248"/>
              <a:ext cx="3946" cy="2400"/>
              <a:chOff x="672" y="1248"/>
              <a:chExt cx="3946" cy="2400"/>
            </a:xfrm>
          </p:grpSpPr>
          <p:sp>
            <p:nvSpPr>
              <p:cNvPr id="40" name="Line 8"/>
              <p:cNvSpPr>
                <a:spLocks noChangeShapeType="1"/>
              </p:cNvSpPr>
              <p:nvPr/>
            </p:nvSpPr>
            <p:spPr bwMode="auto">
              <a:xfrm>
                <a:off x="672" y="1248"/>
                <a:ext cx="0" cy="2400"/>
              </a:xfrm>
              <a:prstGeom prst="line">
                <a:avLst/>
              </a:prstGeom>
              <a:noFill/>
              <a:ln w="38100">
                <a:solidFill>
                  <a:schemeClr val="tx2"/>
                </a:solidFill>
                <a:round/>
                <a:headEnd type="triangle" w="med" len="me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1" name="Line 9"/>
              <p:cNvSpPr>
                <a:spLocks noChangeShapeType="1"/>
              </p:cNvSpPr>
              <p:nvPr/>
            </p:nvSpPr>
            <p:spPr bwMode="auto">
              <a:xfrm>
                <a:off x="672" y="3648"/>
                <a:ext cx="3946" cy="0"/>
              </a:xfrm>
              <a:prstGeom prst="line">
                <a:avLst/>
              </a:prstGeom>
              <a:noFill/>
              <a:ln w="38100">
                <a:solidFill>
                  <a:schemeClr val="tx2"/>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14" name="Text Box 10"/>
            <p:cNvSpPr txBox="1">
              <a:spLocks noChangeArrowheads="1"/>
            </p:cNvSpPr>
            <p:nvPr/>
          </p:nvSpPr>
          <p:spPr bwMode="auto">
            <a:xfrm>
              <a:off x="4378" y="3359"/>
              <a:ext cx="2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en-US" altLang="zh-CN" sz="2800" b="1" i="1" dirty="0">
                  <a:effectLst>
                    <a:outerShdw blurRad="38100" dist="38100" dir="2700000" algn="tl">
                      <a:srgbClr val="FFFFFF"/>
                    </a:outerShdw>
                  </a:effectLst>
                  <a:latin typeface="Times New Roman" pitchFamily="18" charset="0"/>
                </a:rPr>
                <a:t>x</a:t>
              </a:r>
            </a:p>
          </p:txBody>
        </p:sp>
        <p:sp>
          <p:nvSpPr>
            <p:cNvPr id="15" name="Text Box 11"/>
            <p:cNvSpPr txBox="1">
              <a:spLocks noChangeArrowheads="1"/>
            </p:cNvSpPr>
            <p:nvPr/>
          </p:nvSpPr>
          <p:spPr bwMode="auto">
            <a:xfrm>
              <a:off x="384" y="1152"/>
              <a:ext cx="2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en-US" altLang="zh-CN" sz="2800" b="1" i="1">
                  <a:effectLst>
                    <a:outerShdw blurRad="38100" dist="38100" dir="2700000" algn="tl">
                      <a:srgbClr val="FFFFFF"/>
                    </a:outerShdw>
                  </a:effectLst>
                  <a:latin typeface="Times New Roman" pitchFamily="18" charset="0"/>
                </a:rPr>
                <a:t>y</a:t>
              </a:r>
            </a:p>
          </p:txBody>
        </p:sp>
        <p:sp>
          <p:nvSpPr>
            <p:cNvPr id="16" name="Text Box 12"/>
            <p:cNvSpPr txBox="1">
              <a:spLocks noChangeArrowheads="1"/>
            </p:cNvSpPr>
            <p:nvPr/>
          </p:nvSpPr>
          <p:spPr bwMode="auto">
            <a:xfrm>
              <a:off x="3024" y="1315"/>
              <a:ext cx="100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spcBef>
                  <a:spcPct val="50000"/>
                </a:spcBef>
              </a:pPr>
              <a:r>
                <a:rPr kumimoji="1" lang="en-US" altLang="zh-CN" sz="2000" b="1" dirty="0">
                  <a:latin typeface="Times New Roman" pitchFamily="18" charset="0"/>
                </a:rPr>
                <a:t>(</a:t>
              </a:r>
              <a:r>
                <a:rPr kumimoji="1" lang="en-US" altLang="zh-CN" sz="2000" i="1" dirty="0" err="1">
                  <a:latin typeface="Times New Roman" pitchFamily="18" charset="0"/>
                </a:rPr>
                <a:t>x</a:t>
              </a:r>
              <a:r>
                <a:rPr kumimoji="1" lang="en-US" altLang="zh-CN" sz="2000" b="1" baseline="-25000" dirty="0" err="1">
                  <a:latin typeface="Times New Roman" pitchFamily="18" charset="0"/>
                </a:rPr>
                <a:t>n</a:t>
              </a:r>
              <a:r>
                <a:rPr kumimoji="1" lang="en-US" altLang="zh-CN" sz="2000" b="1" baseline="-25000" dirty="0">
                  <a:latin typeface="Times New Roman" pitchFamily="18" charset="0"/>
                </a:rPr>
                <a:t> </a:t>
              </a:r>
              <a:r>
                <a:rPr kumimoji="1" lang="en-US" altLang="zh-CN" sz="2000" b="1" dirty="0">
                  <a:latin typeface="Times New Roman" pitchFamily="18" charset="0"/>
                </a:rPr>
                <a:t>, </a:t>
              </a:r>
              <a:r>
                <a:rPr kumimoji="1" lang="en-US" altLang="zh-CN" sz="2000" i="1" dirty="0" err="1">
                  <a:latin typeface="Times New Roman" pitchFamily="18" charset="0"/>
                </a:rPr>
                <a:t>y</a:t>
              </a:r>
              <a:r>
                <a:rPr kumimoji="1" lang="en-US" altLang="zh-CN" sz="2000" b="1" baseline="-25000" dirty="0" err="1">
                  <a:latin typeface="Times New Roman" pitchFamily="18" charset="0"/>
                </a:rPr>
                <a:t>n</a:t>
              </a:r>
              <a:r>
                <a:rPr kumimoji="1" lang="en-US" altLang="zh-CN" sz="2000" b="1" dirty="0">
                  <a:latin typeface="Times New Roman" pitchFamily="18" charset="0"/>
                </a:rPr>
                <a:t>)</a:t>
              </a:r>
            </a:p>
          </p:txBody>
        </p:sp>
        <p:sp>
          <p:nvSpPr>
            <p:cNvPr id="17" name="Text Box 13"/>
            <p:cNvSpPr txBox="1">
              <a:spLocks noChangeArrowheads="1"/>
            </p:cNvSpPr>
            <p:nvPr/>
          </p:nvSpPr>
          <p:spPr bwMode="auto">
            <a:xfrm>
              <a:off x="1174" y="3360"/>
              <a:ext cx="8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spcBef>
                  <a:spcPct val="50000"/>
                </a:spcBef>
              </a:pPr>
              <a:r>
                <a:rPr kumimoji="1" lang="en-US" altLang="zh-CN" sz="2000" b="1" dirty="0">
                  <a:latin typeface="Times New Roman" pitchFamily="18" charset="0"/>
                </a:rPr>
                <a:t>(</a:t>
              </a:r>
              <a:r>
                <a:rPr kumimoji="1" lang="en-US" altLang="zh-CN" sz="2000" i="1" dirty="0">
                  <a:latin typeface="Times New Roman" pitchFamily="18" charset="0"/>
                </a:rPr>
                <a:t>x</a:t>
              </a:r>
              <a:r>
                <a:rPr kumimoji="1" lang="en-US" altLang="zh-CN" sz="2000" b="1" baseline="-25000" dirty="0">
                  <a:latin typeface="Times New Roman" pitchFamily="18" charset="0"/>
                </a:rPr>
                <a:t>1 </a:t>
              </a:r>
              <a:r>
                <a:rPr kumimoji="1" lang="en-US" altLang="zh-CN" sz="2000" b="1" dirty="0">
                  <a:latin typeface="Times New Roman" pitchFamily="18" charset="0"/>
                </a:rPr>
                <a:t>, </a:t>
              </a:r>
              <a:r>
                <a:rPr kumimoji="1" lang="en-US" altLang="zh-CN" sz="2000" i="1" dirty="0">
                  <a:latin typeface="Times New Roman" pitchFamily="18" charset="0"/>
                </a:rPr>
                <a:t>y</a:t>
              </a:r>
              <a:r>
                <a:rPr kumimoji="1" lang="en-US" altLang="zh-CN" sz="2000" b="1" baseline="-25000" dirty="0">
                  <a:latin typeface="Times New Roman" pitchFamily="18" charset="0"/>
                </a:rPr>
                <a:t>1</a:t>
              </a:r>
              <a:r>
                <a:rPr kumimoji="1" lang="en-US" altLang="zh-CN" sz="2000" b="1" dirty="0">
                  <a:latin typeface="Times New Roman" pitchFamily="18" charset="0"/>
                </a:rPr>
                <a:t>)</a:t>
              </a:r>
            </a:p>
          </p:txBody>
        </p:sp>
        <p:grpSp>
          <p:nvGrpSpPr>
            <p:cNvPr id="18" name="Group 14"/>
            <p:cNvGrpSpPr>
              <a:grpSpLocks/>
            </p:cNvGrpSpPr>
            <p:nvPr/>
          </p:nvGrpSpPr>
          <p:grpSpPr bwMode="auto">
            <a:xfrm>
              <a:off x="768" y="1584"/>
              <a:ext cx="3504" cy="1945"/>
              <a:chOff x="768" y="1584"/>
              <a:chExt cx="3504" cy="1945"/>
            </a:xfrm>
          </p:grpSpPr>
          <p:sp>
            <p:nvSpPr>
              <p:cNvPr id="19" name="Line 15"/>
              <p:cNvSpPr>
                <a:spLocks noChangeShapeType="1"/>
              </p:cNvSpPr>
              <p:nvPr/>
            </p:nvSpPr>
            <p:spPr bwMode="auto">
              <a:xfrm flipV="1">
                <a:off x="768" y="1776"/>
                <a:ext cx="3504" cy="1440"/>
              </a:xfrm>
              <a:prstGeom prst="line">
                <a:avLst/>
              </a:prstGeom>
              <a:noFill/>
              <a:ln w="38100">
                <a:solidFill>
                  <a:srgbClr val="000099"/>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ln>
                    <a:solidFill>
                      <a:srgbClr val="000099"/>
                    </a:solidFill>
                  </a:ln>
                </a:endParaRPr>
              </a:p>
            </p:txBody>
          </p:sp>
          <p:sp>
            <p:nvSpPr>
              <p:cNvPr id="20" name="Text Box 16"/>
              <p:cNvSpPr txBox="1">
                <a:spLocks noChangeArrowheads="1"/>
              </p:cNvSpPr>
              <p:nvPr/>
            </p:nvSpPr>
            <p:spPr bwMode="auto">
              <a:xfrm>
                <a:off x="1008" y="3216"/>
                <a:ext cx="288" cy="288"/>
              </a:xfrm>
              <a:prstGeom prst="rect">
                <a:avLst/>
              </a:prstGeom>
              <a:solidFill>
                <a:schemeClr val="bg1"/>
              </a:solidFill>
              <a:ln w="12700">
                <a:noFill/>
                <a:miter lim="800000"/>
                <a:headEnd/>
                <a:tailEnd/>
              </a:ln>
              <a:effectLst/>
            </p:spPr>
            <p:txBody>
              <a:bodyPr>
                <a:spAutoFit/>
              </a:bodyPr>
              <a:lstStyle/>
              <a:p>
                <a:pPr algn="ctr" eaLnBrk="0" hangingPunct="0">
                  <a:spcBef>
                    <a:spcPct val="50000"/>
                  </a:spcBef>
                </a:pPr>
                <a:r>
                  <a:rPr kumimoji="1" lang="en-US" altLang="zh-CN" sz="2400">
                    <a:solidFill>
                      <a:schemeClr val="tx2">
                        <a:lumMod val="60000"/>
                        <a:lumOff val="40000"/>
                      </a:schemeClr>
                    </a:solidFill>
                    <a:latin typeface="Arial" charset="0"/>
                    <a:sym typeface="Wingdings 2" pitchFamily="18" charset="2"/>
                  </a:rPr>
                  <a:t></a:t>
                </a:r>
                <a:endParaRPr kumimoji="1" lang="en-US" altLang="zh-CN" sz="2400">
                  <a:solidFill>
                    <a:schemeClr val="tx2">
                      <a:lumMod val="60000"/>
                      <a:lumOff val="40000"/>
                    </a:schemeClr>
                  </a:solidFill>
                  <a:latin typeface="Arial" charset="0"/>
                </a:endParaRPr>
              </a:p>
            </p:txBody>
          </p:sp>
          <p:sp>
            <p:nvSpPr>
              <p:cNvPr id="21" name="Text Box 17"/>
              <p:cNvSpPr txBox="1">
                <a:spLocks noChangeArrowheads="1"/>
              </p:cNvSpPr>
              <p:nvPr/>
            </p:nvSpPr>
            <p:spPr bwMode="auto">
              <a:xfrm>
                <a:off x="1689" y="2868"/>
                <a:ext cx="288" cy="288"/>
              </a:xfrm>
              <a:prstGeom prst="rect">
                <a:avLst/>
              </a:prstGeom>
              <a:solidFill>
                <a:schemeClr val="bg1"/>
              </a:solidFill>
              <a:ln w="12700">
                <a:noFill/>
                <a:miter lim="800000"/>
                <a:headEnd/>
                <a:tailEnd/>
              </a:ln>
              <a:effectLst/>
            </p:spPr>
            <p:txBody>
              <a:bodyPr>
                <a:spAutoFit/>
              </a:bodyPr>
              <a:lstStyle/>
              <a:p>
                <a:pPr algn="ctr" eaLnBrk="0" hangingPunct="0">
                  <a:spcBef>
                    <a:spcPct val="50000"/>
                  </a:spcBef>
                </a:pPr>
                <a:r>
                  <a:rPr kumimoji="1" lang="en-US" altLang="zh-CN" sz="2400">
                    <a:solidFill>
                      <a:schemeClr val="tx2">
                        <a:lumMod val="60000"/>
                        <a:lumOff val="40000"/>
                      </a:schemeClr>
                    </a:solidFill>
                    <a:latin typeface="Arial" charset="0"/>
                    <a:sym typeface="Wingdings 2" pitchFamily="18" charset="2"/>
                  </a:rPr>
                  <a:t></a:t>
                </a:r>
                <a:endParaRPr kumimoji="1" lang="en-US" altLang="zh-CN" sz="2400">
                  <a:solidFill>
                    <a:schemeClr val="tx2">
                      <a:lumMod val="60000"/>
                      <a:lumOff val="40000"/>
                    </a:schemeClr>
                  </a:solidFill>
                  <a:latin typeface="Arial" charset="0"/>
                </a:endParaRPr>
              </a:p>
            </p:txBody>
          </p:sp>
          <p:sp>
            <p:nvSpPr>
              <p:cNvPr id="22" name="Text Box 18"/>
              <p:cNvSpPr txBox="1">
                <a:spLocks noChangeArrowheads="1"/>
              </p:cNvSpPr>
              <p:nvPr/>
            </p:nvSpPr>
            <p:spPr bwMode="auto">
              <a:xfrm>
                <a:off x="1296" y="2592"/>
                <a:ext cx="288" cy="288"/>
              </a:xfrm>
              <a:prstGeom prst="rect">
                <a:avLst/>
              </a:prstGeom>
              <a:solidFill>
                <a:schemeClr val="bg1"/>
              </a:solidFill>
              <a:ln w="12700">
                <a:noFill/>
                <a:miter lim="800000"/>
                <a:headEnd/>
                <a:tailEnd/>
              </a:ln>
              <a:effectLst/>
            </p:spPr>
            <p:txBody>
              <a:bodyPr>
                <a:spAutoFit/>
              </a:bodyPr>
              <a:lstStyle/>
              <a:p>
                <a:pPr algn="ctr" eaLnBrk="0" hangingPunct="0">
                  <a:spcBef>
                    <a:spcPct val="50000"/>
                  </a:spcBef>
                </a:pPr>
                <a:r>
                  <a:rPr kumimoji="1" lang="en-US" altLang="zh-CN" sz="2400" dirty="0">
                    <a:solidFill>
                      <a:schemeClr val="tx2">
                        <a:lumMod val="60000"/>
                        <a:lumOff val="40000"/>
                      </a:schemeClr>
                    </a:solidFill>
                    <a:latin typeface="Arial" charset="0"/>
                    <a:sym typeface="Wingdings 2" pitchFamily="18" charset="2"/>
                  </a:rPr>
                  <a:t></a:t>
                </a:r>
                <a:endParaRPr kumimoji="1" lang="en-US" altLang="zh-CN" sz="2400" dirty="0">
                  <a:solidFill>
                    <a:schemeClr val="tx2">
                      <a:lumMod val="60000"/>
                      <a:lumOff val="40000"/>
                    </a:schemeClr>
                  </a:solidFill>
                  <a:latin typeface="Arial" charset="0"/>
                </a:endParaRPr>
              </a:p>
            </p:txBody>
          </p:sp>
          <p:sp>
            <p:nvSpPr>
              <p:cNvPr id="23" name="Text Box 19"/>
              <p:cNvSpPr txBox="1">
                <a:spLocks noChangeArrowheads="1"/>
              </p:cNvSpPr>
              <p:nvPr/>
            </p:nvSpPr>
            <p:spPr bwMode="auto">
              <a:xfrm>
                <a:off x="2064" y="2112"/>
                <a:ext cx="288" cy="288"/>
              </a:xfrm>
              <a:prstGeom prst="rect">
                <a:avLst/>
              </a:prstGeom>
              <a:solidFill>
                <a:schemeClr val="bg1"/>
              </a:solidFill>
              <a:ln w="12700">
                <a:noFill/>
                <a:miter lim="800000"/>
                <a:headEnd/>
                <a:tailEnd/>
              </a:ln>
              <a:effectLst/>
            </p:spPr>
            <p:txBody>
              <a:bodyPr>
                <a:spAutoFit/>
              </a:bodyPr>
              <a:lstStyle/>
              <a:p>
                <a:pPr algn="ctr" eaLnBrk="0" hangingPunct="0">
                  <a:spcBef>
                    <a:spcPct val="50000"/>
                  </a:spcBef>
                </a:pPr>
                <a:r>
                  <a:rPr kumimoji="1" lang="en-US" altLang="zh-CN" sz="2400" dirty="0">
                    <a:solidFill>
                      <a:schemeClr val="tx2">
                        <a:lumMod val="60000"/>
                        <a:lumOff val="40000"/>
                      </a:schemeClr>
                    </a:solidFill>
                    <a:latin typeface="Arial" charset="0"/>
                    <a:sym typeface="Wingdings 2" pitchFamily="18" charset="2"/>
                  </a:rPr>
                  <a:t></a:t>
                </a:r>
                <a:endParaRPr kumimoji="1" lang="en-US" altLang="zh-CN" sz="2400" dirty="0">
                  <a:solidFill>
                    <a:schemeClr val="tx2">
                      <a:lumMod val="60000"/>
                      <a:lumOff val="40000"/>
                    </a:schemeClr>
                  </a:solidFill>
                  <a:latin typeface="Arial" charset="0"/>
                </a:endParaRPr>
              </a:p>
            </p:txBody>
          </p:sp>
          <p:sp>
            <p:nvSpPr>
              <p:cNvPr id="24" name="Text Box 20"/>
              <p:cNvSpPr txBox="1">
                <a:spLocks noChangeArrowheads="1"/>
              </p:cNvSpPr>
              <p:nvPr/>
            </p:nvSpPr>
            <p:spPr bwMode="auto">
              <a:xfrm>
                <a:off x="2208" y="2976"/>
                <a:ext cx="288" cy="288"/>
              </a:xfrm>
              <a:prstGeom prst="rect">
                <a:avLst/>
              </a:prstGeom>
              <a:solidFill>
                <a:schemeClr val="bg1"/>
              </a:solidFill>
              <a:ln w="12700">
                <a:solidFill>
                  <a:schemeClr val="bg1"/>
                </a:solidFill>
                <a:miter lim="800000"/>
                <a:headEnd/>
                <a:tailEnd/>
              </a:ln>
              <a:effectLst/>
            </p:spPr>
            <p:txBody>
              <a:bodyPr>
                <a:spAutoFit/>
              </a:bodyPr>
              <a:lstStyle/>
              <a:p>
                <a:pPr algn="ctr" eaLnBrk="0" hangingPunct="0">
                  <a:spcBef>
                    <a:spcPct val="50000"/>
                  </a:spcBef>
                </a:pPr>
                <a:r>
                  <a:rPr kumimoji="1" lang="en-US" altLang="zh-CN" sz="2400" dirty="0">
                    <a:solidFill>
                      <a:schemeClr val="tx2">
                        <a:lumMod val="60000"/>
                        <a:lumOff val="40000"/>
                      </a:schemeClr>
                    </a:solidFill>
                    <a:latin typeface="Arial" charset="0"/>
                    <a:sym typeface="Wingdings 2" pitchFamily="18" charset="2"/>
                  </a:rPr>
                  <a:t></a:t>
                </a:r>
                <a:endParaRPr kumimoji="1" lang="en-US" altLang="zh-CN" sz="2400" dirty="0">
                  <a:solidFill>
                    <a:schemeClr val="tx2">
                      <a:lumMod val="60000"/>
                      <a:lumOff val="40000"/>
                    </a:schemeClr>
                  </a:solidFill>
                  <a:latin typeface="Arial" charset="0"/>
                </a:endParaRPr>
              </a:p>
            </p:txBody>
          </p:sp>
          <p:sp>
            <p:nvSpPr>
              <p:cNvPr id="25" name="Text Box 21"/>
              <p:cNvSpPr txBox="1">
                <a:spLocks noChangeArrowheads="1"/>
              </p:cNvSpPr>
              <p:nvPr/>
            </p:nvSpPr>
            <p:spPr bwMode="auto">
              <a:xfrm>
                <a:off x="2649" y="2466"/>
                <a:ext cx="288" cy="288"/>
              </a:xfrm>
              <a:prstGeom prst="rect">
                <a:avLst/>
              </a:prstGeom>
              <a:solidFill>
                <a:schemeClr val="bg1"/>
              </a:solidFill>
              <a:ln w="12700">
                <a:noFill/>
                <a:miter lim="800000"/>
                <a:headEnd/>
                <a:tailEnd/>
              </a:ln>
              <a:effectLst/>
            </p:spPr>
            <p:txBody>
              <a:bodyPr>
                <a:spAutoFit/>
              </a:bodyPr>
              <a:lstStyle/>
              <a:p>
                <a:pPr algn="ctr" eaLnBrk="0" hangingPunct="0">
                  <a:spcBef>
                    <a:spcPct val="50000"/>
                  </a:spcBef>
                </a:pPr>
                <a:r>
                  <a:rPr kumimoji="1" lang="en-US" altLang="zh-CN" sz="2400" dirty="0">
                    <a:solidFill>
                      <a:schemeClr val="tx2">
                        <a:lumMod val="60000"/>
                        <a:lumOff val="40000"/>
                      </a:schemeClr>
                    </a:solidFill>
                    <a:latin typeface="Arial" charset="0"/>
                    <a:sym typeface="Wingdings 2" pitchFamily="18" charset="2"/>
                  </a:rPr>
                  <a:t></a:t>
                </a:r>
                <a:endParaRPr kumimoji="1" lang="en-US" altLang="zh-CN" sz="2400" dirty="0">
                  <a:solidFill>
                    <a:schemeClr val="tx2">
                      <a:lumMod val="60000"/>
                      <a:lumOff val="40000"/>
                    </a:schemeClr>
                  </a:solidFill>
                  <a:latin typeface="Arial" charset="0"/>
                </a:endParaRPr>
              </a:p>
            </p:txBody>
          </p:sp>
          <p:sp>
            <p:nvSpPr>
              <p:cNvPr id="26" name="Text Box 22"/>
              <p:cNvSpPr txBox="1">
                <a:spLocks noChangeArrowheads="1"/>
              </p:cNvSpPr>
              <p:nvPr/>
            </p:nvSpPr>
            <p:spPr bwMode="auto">
              <a:xfrm>
                <a:off x="2928" y="1920"/>
                <a:ext cx="288" cy="288"/>
              </a:xfrm>
              <a:prstGeom prst="rect">
                <a:avLst/>
              </a:prstGeom>
              <a:solidFill>
                <a:schemeClr val="bg1"/>
              </a:solidFill>
              <a:ln w="12700">
                <a:noFill/>
                <a:miter lim="800000"/>
                <a:headEnd/>
                <a:tailEnd/>
              </a:ln>
              <a:effectLst/>
            </p:spPr>
            <p:txBody>
              <a:bodyPr>
                <a:spAutoFit/>
              </a:bodyPr>
              <a:lstStyle/>
              <a:p>
                <a:pPr algn="ctr" eaLnBrk="0" hangingPunct="0">
                  <a:spcBef>
                    <a:spcPct val="50000"/>
                  </a:spcBef>
                </a:pPr>
                <a:r>
                  <a:rPr kumimoji="1" lang="en-US" altLang="zh-CN" sz="2400" dirty="0">
                    <a:solidFill>
                      <a:schemeClr val="tx2">
                        <a:lumMod val="60000"/>
                        <a:lumOff val="40000"/>
                      </a:schemeClr>
                    </a:solidFill>
                    <a:latin typeface="Arial" charset="0"/>
                    <a:sym typeface="Wingdings 2" pitchFamily="18" charset="2"/>
                  </a:rPr>
                  <a:t></a:t>
                </a:r>
                <a:endParaRPr kumimoji="1" lang="en-US" altLang="zh-CN" sz="2400" dirty="0">
                  <a:solidFill>
                    <a:schemeClr val="tx2">
                      <a:lumMod val="60000"/>
                      <a:lumOff val="40000"/>
                    </a:schemeClr>
                  </a:solidFill>
                  <a:latin typeface="Arial" charset="0"/>
                </a:endParaRPr>
              </a:p>
            </p:txBody>
          </p:sp>
          <p:sp>
            <p:nvSpPr>
              <p:cNvPr id="27" name="Text Box 23"/>
              <p:cNvSpPr txBox="1">
                <a:spLocks noChangeArrowheads="1"/>
              </p:cNvSpPr>
              <p:nvPr/>
            </p:nvSpPr>
            <p:spPr bwMode="auto">
              <a:xfrm>
                <a:off x="3552" y="1584"/>
                <a:ext cx="288" cy="288"/>
              </a:xfrm>
              <a:prstGeom prst="rect">
                <a:avLst/>
              </a:prstGeom>
              <a:solidFill>
                <a:schemeClr val="bg1"/>
              </a:solidFill>
              <a:ln w="12700">
                <a:noFill/>
                <a:miter lim="800000"/>
                <a:headEnd/>
                <a:tailEnd/>
              </a:ln>
              <a:effectLst/>
            </p:spPr>
            <p:txBody>
              <a:bodyPr>
                <a:spAutoFit/>
              </a:bodyPr>
              <a:lstStyle/>
              <a:p>
                <a:pPr algn="ctr" eaLnBrk="0" hangingPunct="0">
                  <a:spcBef>
                    <a:spcPct val="50000"/>
                  </a:spcBef>
                </a:pPr>
                <a:r>
                  <a:rPr kumimoji="1" lang="en-US" altLang="zh-CN" sz="2400" dirty="0">
                    <a:solidFill>
                      <a:schemeClr val="tx2">
                        <a:lumMod val="60000"/>
                        <a:lumOff val="40000"/>
                      </a:schemeClr>
                    </a:solidFill>
                    <a:latin typeface="Arial" charset="0"/>
                    <a:sym typeface="Wingdings 2" pitchFamily="18" charset="2"/>
                  </a:rPr>
                  <a:t></a:t>
                </a:r>
                <a:endParaRPr kumimoji="1" lang="en-US" altLang="zh-CN" sz="2400" dirty="0">
                  <a:solidFill>
                    <a:schemeClr val="tx2">
                      <a:lumMod val="60000"/>
                      <a:lumOff val="40000"/>
                    </a:schemeClr>
                  </a:solidFill>
                  <a:latin typeface="Arial" charset="0"/>
                </a:endParaRPr>
              </a:p>
            </p:txBody>
          </p:sp>
          <p:sp>
            <p:nvSpPr>
              <p:cNvPr id="28" name="Text Box 24"/>
              <p:cNvSpPr txBox="1">
                <a:spLocks noChangeArrowheads="1"/>
              </p:cNvSpPr>
              <p:nvPr/>
            </p:nvSpPr>
            <p:spPr bwMode="auto">
              <a:xfrm>
                <a:off x="3360" y="2304"/>
                <a:ext cx="288" cy="288"/>
              </a:xfrm>
              <a:prstGeom prst="rect">
                <a:avLst/>
              </a:prstGeom>
              <a:solidFill>
                <a:schemeClr val="bg1"/>
              </a:solidFill>
              <a:ln w="12700">
                <a:noFill/>
                <a:miter lim="800000"/>
                <a:headEnd/>
                <a:tailEnd/>
              </a:ln>
              <a:effectLst/>
            </p:spPr>
            <p:txBody>
              <a:bodyPr>
                <a:spAutoFit/>
              </a:bodyPr>
              <a:lstStyle/>
              <a:p>
                <a:pPr algn="ctr" eaLnBrk="0" hangingPunct="0">
                  <a:spcBef>
                    <a:spcPct val="50000"/>
                  </a:spcBef>
                </a:pPr>
                <a:r>
                  <a:rPr kumimoji="1" lang="en-US" altLang="zh-CN" sz="2400" dirty="0">
                    <a:solidFill>
                      <a:schemeClr val="tx2">
                        <a:lumMod val="60000"/>
                        <a:lumOff val="40000"/>
                      </a:schemeClr>
                    </a:solidFill>
                    <a:latin typeface="Arial" charset="0"/>
                    <a:sym typeface="Wingdings 2" pitchFamily="18" charset="2"/>
                  </a:rPr>
                  <a:t></a:t>
                </a:r>
                <a:endParaRPr kumimoji="1" lang="en-US" altLang="zh-CN" sz="2400" dirty="0">
                  <a:solidFill>
                    <a:schemeClr val="tx2">
                      <a:lumMod val="60000"/>
                      <a:lumOff val="40000"/>
                    </a:schemeClr>
                  </a:solidFill>
                  <a:latin typeface="Arial" charset="0"/>
                </a:endParaRPr>
              </a:p>
            </p:txBody>
          </p:sp>
          <p:sp>
            <p:nvSpPr>
              <p:cNvPr id="29" name="Line 25"/>
              <p:cNvSpPr>
                <a:spLocks noChangeShapeType="1"/>
              </p:cNvSpPr>
              <p:nvPr/>
            </p:nvSpPr>
            <p:spPr bwMode="auto">
              <a:xfrm>
                <a:off x="1152" y="3072"/>
                <a:ext cx="0" cy="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26"/>
              <p:cNvSpPr>
                <a:spLocks noChangeShapeType="1"/>
              </p:cNvSpPr>
              <p:nvPr/>
            </p:nvSpPr>
            <p:spPr bwMode="auto">
              <a:xfrm>
                <a:off x="1440" y="2784"/>
                <a:ext cx="0"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27"/>
              <p:cNvSpPr>
                <a:spLocks noChangeShapeType="1"/>
              </p:cNvSpPr>
              <p:nvPr/>
            </p:nvSpPr>
            <p:spPr bwMode="auto">
              <a:xfrm>
                <a:off x="1824" y="2784"/>
                <a:ext cx="0"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28"/>
              <p:cNvSpPr>
                <a:spLocks noChangeShapeType="1"/>
              </p:cNvSpPr>
              <p:nvPr/>
            </p:nvSpPr>
            <p:spPr bwMode="auto">
              <a:xfrm>
                <a:off x="2208" y="2304"/>
                <a:ext cx="0" cy="3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29"/>
              <p:cNvSpPr>
                <a:spLocks noChangeShapeType="1"/>
              </p:cNvSpPr>
              <p:nvPr/>
            </p:nvSpPr>
            <p:spPr bwMode="auto">
              <a:xfrm>
                <a:off x="2352" y="2592"/>
                <a:ext cx="0" cy="4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30"/>
              <p:cNvSpPr>
                <a:spLocks noChangeShapeType="1"/>
              </p:cNvSpPr>
              <p:nvPr/>
            </p:nvSpPr>
            <p:spPr bwMode="auto">
              <a:xfrm>
                <a:off x="2784" y="2400"/>
                <a:ext cx="0"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31"/>
              <p:cNvSpPr>
                <a:spLocks noChangeShapeType="1"/>
              </p:cNvSpPr>
              <p:nvPr/>
            </p:nvSpPr>
            <p:spPr bwMode="auto">
              <a:xfrm>
                <a:off x="3072" y="2112"/>
                <a:ext cx="0"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32"/>
              <p:cNvSpPr>
                <a:spLocks noChangeShapeType="1"/>
              </p:cNvSpPr>
              <p:nvPr/>
            </p:nvSpPr>
            <p:spPr bwMode="auto">
              <a:xfrm>
                <a:off x="3504" y="2112"/>
                <a:ext cx="0" cy="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33"/>
              <p:cNvSpPr>
                <a:spLocks noChangeShapeType="1"/>
              </p:cNvSpPr>
              <p:nvPr/>
            </p:nvSpPr>
            <p:spPr bwMode="auto">
              <a:xfrm>
                <a:off x="3696" y="1776"/>
                <a:ext cx="0" cy="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Text Box 34"/>
              <p:cNvSpPr txBox="1">
                <a:spLocks noChangeArrowheads="1"/>
              </p:cNvSpPr>
              <p:nvPr/>
            </p:nvSpPr>
            <p:spPr bwMode="auto">
              <a:xfrm>
                <a:off x="876" y="2327"/>
                <a:ext cx="81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spcBef>
                    <a:spcPct val="50000"/>
                  </a:spcBef>
                </a:pPr>
                <a:r>
                  <a:rPr kumimoji="1" lang="en-US" altLang="zh-CN" sz="2000" b="1" dirty="0">
                    <a:latin typeface="Times New Roman" pitchFamily="18" charset="0"/>
                  </a:rPr>
                  <a:t>(</a:t>
                </a:r>
                <a:r>
                  <a:rPr kumimoji="1" lang="en-US" altLang="zh-CN" sz="2000" i="1" dirty="0">
                    <a:latin typeface="Times New Roman" pitchFamily="18" charset="0"/>
                  </a:rPr>
                  <a:t>x</a:t>
                </a:r>
                <a:r>
                  <a:rPr kumimoji="1" lang="en-US" altLang="zh-CN" sz="2000" b="1" baseline="-25000" dirty="0">
                    <a:latin typeface="Times New Roman" pitchFamily="18" charset="0"/>
                  </a:rPr>
                  <a:t>2 </a:t>
                </a:r>
                <a:r>
                  <a:rPr kumimoji="1" lang="en-US" altLang="zh-CN" sz="2000" b="1" dirty="0">
                    <a:latin typeface="Times New Roman" pitchFamily="18" charset="0"/>
                  </a:rPr>
                  <a:t>, </a:t>
                </a:r>
                <a:r>
                  <a:rPr kumimoji="1" lang="en-US" altLang="zh-CN" sz="2000" i="1" dirty="0">
                    <a:latin typeface="Times New Roman" pitchFamily="18" charset="0"/>
                  </a:rPr>
                  <a:t>y</a:t>
                </a:r>
                <a:r>
                  <a:rPr kumimoji="1" lang="en-US" altLang="zh-CN" sz="2000" b="1" baseline="-25000" dirty="0">
                    <a:latin typeface="Times New Roman" pitchFamily="18" charset="0"/>
                  </a:rPr>
                  <a:t>2</a:t>
                </a:r>
                <a:r>
                  <a:rPr kumimoji="1" lang="en-US" altLang="zh-CN" sz="2000" b="1" dirty="0">
                    <a:latin typeface="Times New Roman" pitchFamily="18" charset="0"/>
                  </a:rPr>
                  <a:t>)</a:t>
                </a:r>
              </a:p>
            </p:txBody>
          </p:sp>
          <p:sp>
            <p:nvSpPr>
              <p:cNvPr id="39" name="Text Box 35"/>
              <p:cNvSpPr txBox="1">
                <a:spLocks noChangeArrowheads="1"/>
              </p:cNvSpPr>
              <p:nvPr/>
            </p:nvSpPr>
            <p:spPr bwMode="auto">
              <a:xfrm>
                <a:off x="2117" y="3277"/>
                <a:ext cx="720" cy="252"/>
              </a:xfrm>
              <a:prstGeom prst="rect">
                <a:avLst/>
              </a:prstGeom>
              <a:noFill/>
              <a:ln w="127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sz="2000" b="1" dirty="0">
                    <a:latin typeface="Times New Roman" pitchFamily="18" charset="0"/>
                  </a:rPr>
                  <a:t>(</a:t>
                </a:r>
                <a:r>
                  <a:rPr kumimoji="1" lang="en-US" altLang="zh-CN" sz="2000" i="1" dirty="0">
                    <a:latin typeface="Times New Roman" pitchFamily="18" charset="0"/>
                  </a:rPr>
                  <a:t>x</a:t>
                </a:r>
                <a:r>
                  <a:rPr kumimoji="1" lang="en-US" altLang="zh-CN" sz="2000" b="1" baseline="-25000" dirty="0">
                    <a:latin typeface="Times New Roman" pitchFamily="18" charset="0"/>
                  </a:rPr>
                  <a:t>i </a:t>
                </a:r>
                <a:r>
                  <a:rPr kumimoji="1" lang="en-US" altLang="zh-CN" sz="2000" b="1" dirty="0">
                    <a:latin typeface="Times New Roman" pitchFamily="18" charset="0"/>
                  </a:rPr>
                  <a:t>, </a:t>
                </a:r>
                <a:r>
                  <a:rPr kumimoji="1" lang="en-US" altLang="zh-CN" sz="2000" i="1" dirty="0" err="1">
                    <a:latin typeface="Times New Roman" pitchFamily="18" charset="0"/>
                  </a:rPr>
                  <a:t>y</a:t>
                </a:r>
                <a:r>
                  <a:rPr kumimoji="1" lang="en-US" altLang="zh-CN" sz="2000" b="1" baseline="-25000" dirty="0" err="1">
                    <a:latin typeface="Times New Roman" pitchFamily="18" charset="0"/>
                  </a:rPr>
                  <a:t>i</a:t>
                </a:r>
                <a:r>
                  <a:rPr kumimoji="1" lang="en-US" altLang="zh-CN" sz="2000" b="1" dirty="0">
                    <a:latin typeface="Times New Roman" pitchFamily="18" charset="0"/>
                  </a:rPr>
                  <a:t>)</a:t>
                </a:r>
              </a:p>
            </p:txBody>
          </p:sp>
        </p:grpSp>
      </p:grpSp>
      <mc:AlternateContent xmlns:mc="http://schemas.openxmlformats.org/markup-compatibility/2006" xmlns:a14="http://schemas.microsoft.com/office/drawing/2010/main">
        <mc:Choice Requires="a14">
          <p:sp>
            <p:nvSpPr>
              <p:cNvPr id="42" name="矩形 41"/>
              <p:cNvSpPr/>
              <p:nvPr/>
            </p:nvSpPr>
            <p:spPr>
              <a:xfrm>
                <a:off x="3566038" y="4011719"/>
                <a:ext cx="2087303" cy="52758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400" i="1">
                              <a:latin typeface="Cambria Math" panose="02040503050406030204" pitchFamily="18" charset="0"/>
                            </a:rPr>
                          </m:ctrlPr>
                        </m:accPr>
                        <m:e>
                          <m:r>
                            <a:rPr lang="zh-CN" altLang="en-US" sz="2400" i="1">
                              <a:latin typeface="Cambria Math"/>
                            </a:rPr>
                            <m:t>𝑦</m:t>
                          </m:r>
                        </m:e>
                      </m:acc>
                      <m:r>
                        <a:rPr lang="zh-CN" altLang="en-US" sz="2400">
                          <a:latin typeface="Cambria Math"/>
                        </a:rPr>
                        <m:t>=</m:t>
                      </m:r>
                      <m:sSub>
                        <m:sSubPr>
                          <m:ctrlPr>
                            <a:rPr lang="zh-CN" altLang="en-US" sz="2400" i="1">
                              <a:latin typeface="Cambria Math" panose="02040503050406030204" pitchFamily="18" charset="0"/>
                            </a:rPr>
                          </m:ctrlPr>
                        </m:sSubPr>
                        <m:e>
                          <m:acc>
                            <m:accPr>
                              <m:chr m:val="̂"/>
                              <m:ctrlPr>
                                <a:rPr lang="zh-CN" altLang="en-US" sz="2400" i="1">
                                  <a:latin typeface="Cambria Math" panose="02040503050406030204" pitchFamily="18" charset="0"/>
                                </a:rPr>
                              </m:ctrlPr>
                            </m:accPr>
                            <m:e>
                              <m:r>
                                <a:rPr lang="zh-CN" altLang="en-US" sz="2400" i="1">
                                  <a:latin typeface="Cambria Math"/>
                                </a:rPr>
                                <m:t>𝛽</m:t>
                              </m:r>
                            </m:e>
                          </m:acc>
                        </m:e>
                        <m:sub>
                          <m:r>
                            <a:rPr lang="zh-CN" altLang="en-US" sz="2400">
                              <a:latin typeface="Cambria Math"/>
                            </a:rPr>
                            <m:t>0</m:t>
                          </m:r>
                        </m:sub>
                      </m:sSub>
                      <m:r>
                        <a:rPr lang="zh-CN" altLang="en-US" sz="2400">
                          <a:latin typeface="Cambria Math"/>
                        </a:rPr>
                        <m:t>+</m:t>
                      </m:r>
                      <m:sSub>
                        <m:sSubPr>
                          <m:ctrlPr>
                            <a:rPr lang="zh-CN" altLang="en-US" sz="2400" i="1">
                              <a:latin typeface="Cambria Math" panose="02040503050406030204" pitchFamily="18" charset="0"/>
                            </a:rPr>
                          </m:ctrlPr>
                        </m:sSubPr>
                        <m:e>
                          <m:acc>
                            <m:accPr>
                              <m:chr m:val="̂"/>
                              <m:ctrlPr>
                                <a:rPr lang="zh-CN" altLang="en-US" sz="2400" i="1">
                                  <a:latin typeface="Cambria Math" panose="02040503050406030204" pitchFamily="18" charset="0"/>
                                </a:rPr>
                              </m:ctrlPr>
                            </m:accPr>
                            <m:e>
                              <m:r>
                                <a:rPr lang="zh-CN" altLang="en-US" sz="2400" i="1">
                                  <a:latin typeface="Cambria Math"/>
                                </a:rPr>
                                <m:t>𝛽</m:t>
                              </m:r>
                            </m:e>
                          </m:acc>
                        </m:e>
                        <m:sub>
                          <m:r>
                            <a:rPr lang="zh-CN" altLang="en-US" sz="2400">
                              <a:latin typeface="Cambria Math"/>
                            </a:rPr>
                            <m:t>1</m:t>
                          </m:r>
                        </m:sub>
                      </m:sSub>
                      <m:r>
                        <a:rPr lang="zh-CN" altLang="en-US" sz="2400" i="1">
                          <a:latin typeface="Cambria Math"/>
                        </a:rPr>
                        <m:t>𝑥</m:t>
                      </m:r>
                    </m:oMath>
                  </m:oMathPara>
                </a14:m>
                <a:endParaRPr lang="zh-CN" altLang="en-US" sz="2400" dirty="0">
                  <a:solidFill>
                    <a:schemeClr val="tx1"/>
                  </a:solidFill>
                </a:endParaRPr>
              </a:p>
            </p:txBody>
          </p:sp>
        </mc:Choice>
        <mc:Fallback xmlns="">
          <p:sp>
            <p:nvSpPr>
              <p:cNvPr id="42" name="矩形 41"/>
              <p:cNvSpPr>
                <a:spLocks noRot="1" noChangeAspect="1" noMove="1" noResize="1" noEditPoints="1" noAdjustHandles="1" noChangeArrowheads="1" noChangeShapeType="1" noTextEdit="1"/>
              </p:cNvSpPr>
              <p:nvPr/>
            </p:nvSpPr>
            <p:spPr>
              <a:xfrm>
                <a:off x="3566038" y="4011719"/>
                <a:ext cx="2087303" cy="527580"/>
              </a:xfrm>
              <a:prstGeom prst="rect">
                <a:avLst/>
              </a:prstGeom>
              <a:blipFill rotWithShape="1">
                <a:blip r:embed="rId2"/>
                <a:stretch>
                  <a:fillRect/>
                </a:stretch>
              </a:blipFill>
            </p:spPr>
            <p:txBody>
              <a:bodyPr/>
              <a:lstStyle/>
              <a:p>
                <a:r>
                  <a:rPr lang="zh-CN" altLang="en-US">
                    <a:noFill/>
                  </a:rPr>
                  <a:t> </a:t>
                </a:r>
              </a:p>
            </p:txBody>
          </p:sp>
        </mc:Fallback>
      </mc:AlternateContent>
      <p:cxnSp>
        <p:nvCxnSpPr>
          <p:cNvPr id="43" name="直接箭头连接符 42"/>
          <p:cNvCxnSpPr/>
          <p:nvPr/>
        </p:nvCxnSpPr>
        <p:spPr>
          <a:xfrm flipH="1">
            <a:off x="4471792" y="2817813"/>
            <a:ext cx="154327" cy="1104901"/>
          </a:xfrm>
          <a:prstGeom prst="straightConnector1">
            <a:avLst/>
          </a:prstGeom>
          <a:ln w="25400">
            <a:solidFill>
              <a:schemeClr val="accent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矩形 43"/>
              <p:cNvSpPr/>
              <p:nvPr/>
            </p:nvSpPr>
            <p:spPr>
              <a:xfrm>
                <a:off x="5822604" y="2322514"/>
                <a:ext cx="2236381" cy="4816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smtClean="0">
                              <a:solidFill>
                                <a:srgbClr val="0000CC"/>
                              </a:solidFill>
                              <a:latin typeface="Cambria Math" panose="02040503050406030204" pitchFamily="18" charset="0"/>
                            </a:rPr>
                          </m:ctrlPr>
                        </m:sSubPr>
                        <m:e>
                          <m:acc>
                            <m:accPr>
                              <m:chr m:val="̂"/>
                              <m:ctrlPr>
                                <a:rPr lang="zh-CN" altLang="en-US" sz="2400" i="1">
                                  <a:solidFill>
                                    <a:srgbClr val="0000CC"/>
                                  </a:solidFill>
                                  <a:latin typeface="Cambria Math" panose="02040503050406030204" pitchFamily="18" charset="0"/>
                                </a:rPr>
                              </m:ctrlPr>
                            </m:accPr>
                            <m:e>
                              <m:r>
                                <a:rPr lang="zh-CN" altLang="en-US" sz="2400" i="1">
                                  <a:solidFill>
                                    <a:srgbClr val="0000CC"/>
                                  </a:solidFill>
                                  <a:latin typeface="Cambria Math"/>
                                </a:rPr>
                                <m:t>𝑦</m:t>
                              </m:r>
                            </m:e>
                          </m:acc>
                        </m:e>
                        <m:sub>
                          <m:r>
                            <a:rPr lang="zh-CN" altLang="en-US" sz="2400" i="1">
                              <a:solidFill>
                                <a:srgbClr val="0000CC"/>
                              </a:solidFill>
                              <a:latin typeface="Cambria Math"/>
                            </a:rPr>
                            <m:t>𝑖</m:t>
                          </m:r>
                        </m:sub>
                      </m:sSub>
                      <m:r>
                        <a:rPr lang="zh-CN" altLang="en-US" sz="2400">
                          <a:solidFill>
                            <a:srgbClr val="0000CC"/>
                          </a:solidFill>
                          <a:latin typeface="Cambria Math"/>
                        </a:rPr>
                        <m:t>=</m:t>
                      </m:r>
                      <m:sSub>
                        <m:sSubPr>
                          <m:ctrlPr>
                            <a:rPr lang="zh-CN" altLang="en-US" sz="2400" i="1">
                              <a:solidFill>
                                <a:srgbClr val="0000CC"/>
                              </a:solidFill>
                              <a:latin typeface="Cambria Math" panose="02040503050406030204" pitchFamily="18" charset="0"/>
                            </a:rPr>
                          </m:ctrlPr>
                        </m:sSubPr>
                        <m:e>
                          <m:acc>
                            <m:accPr>
                              <m:chr m:val="̂"/>
                              <m:ctrlPr>
                                <a:rPr lang="zh-CN" altLang="en-US" sz="2400" i="1">
                                  <a:solidFill>
                                    <a:srgbClr val="0000CC"/>
                                  </a:solidFill>
                                  <a:latin typeface="Cambria Math" panose="02040503050406030204" pitchFamily="18" charset="0"/>
                                </a:rPr>
                              </m:ctrlPr>
                            </m:accPr>
                            <m:e>
                              <m:r>
                                <a:rPr lang="zh-CN" altLang="en-US" sz="2400" i="1">
                                  <a:solidFill>
                                    <a:srgbClr val="0000CC"/>
                                  </a:solidFill>
                                  <a:latin typeface="Cambria Math"/>
                                </a:rPr>
                                <m:t>𝛽</m:t>
                              </m:r>
                            </m:e>
                          </m:acc>
                        </m:e>
                        <m:sub>
                          <m:r>
                            <a:rPr lang="zh-CN" altLang="en-US" sz="2400">
                              <a:solidFill>
                                <a:srgbClr val="0000CC"/>
                              </a:solidFill>
                              <a:latin typeface="Cambria Math"/>
                            </a:rPr>
                            <m:t>0</m:t>
                          </m:r>
                        </m:sub>
                      </m:sSub>
                      <m:r>
                        <a:rPr lang="zh-CN" altLang="en-US" sz="2400">
                          <a:solidFill>
                            <a:srgbClr val="0000CC"/>
                          </a:solidFill>
                          <a:latin typeface="Cambria Math"/>
                        </a:rPr>
                        <m:t>+</m:t>
                      </m:r>
                      <m:sSub>
                        <m:sSubPr>
                          <m:ctrlPr>
                            <a:rPr lang="zh-CN" altLang="en-US" sz="2400" i="1">
                              <a:solidFill>
                                <a:srgbClr val="0000CC"/>
                              </a:solidFill>
                              <a:latin typeface="Cambria Math" panose="02040503050406030204" pitchFamily="18" charset="0"/>
                            </a:rPr>
                          </m:ctrlPr>
                        </m:sSubPr>
                        <m:e>
                          <m:acc>
                            <m:accPr>
                              <m:chr m:val="̂"/>
                              <m:ctrlPr>
                                <a:rPr lang="zh-CN" altLang="en-US" sz="2400" i="1">
                                  <a:solidFill>
                                    <a:srgbClr val="0000CC"/>
                                  </a:solidFill>
                                  <a:latin typeface="Cambria Math" panose="02040503050406030204" pitchFamily="18" charset="0"/>
                                </a:rPr>
                              </m:ctrlPr>
                            </m:accPr>
                            <m:e>
                              <m:r>
                                <a:rPr lang="zh-CN" altLang="en-US" sz="2400" i="1">
                                  <a:solidFill>
                                    <a:srgbClr val="0000CC"/>
                                  </a:solidFill>
                                  <a:latin typeface="Cambria Math"/>
                                </a:rPr>
                                <m:t>𝛽</m:t>
                              </m:r>
                            </m:e>
                          </m:acc>
                        </m:e>
                        <m:sub>
                          <m:r>
                            <a:rPr lang="zh-CN" altLang="en-US" sz="2400">
                              <a:solidFill>
                                <a:srgbClr val="0000CC"/>
                              </a:solidFill>
                              <a:latin typeface="Cambria Math"/>
                            </a:rPr>
                            <m:t>1</m:t>
                          </m:r>
                        </m:sub>
                      </m:sSub>
                      <m:sSub>
                        <m:sSubPr>
                          <m:ctrlPr>
                            <a:rPr lang="zh-CN" altLang="en-US" sz="2400" i="1">
                              <a:solidFill>
                                <a:srgbClr val="0000CC"/>
                              </a:solidFill>
                              <a:latin typeface="Cambria Math" panose="02040503050406030204" pitchFamily="18" charset="0"/>
                            </a:rPr>
                          </m:ctrlPr>
                        </m:sSubPr>
                        <m:e>
                          <m:r>
                            <a:rPr lang="zh-CN" altLang="en-US" sz="2400" i="1">
                              <a:solidFill>
                                <a:srgbClr val="0000CC"/>
                              </a:solidFill>
                              <a:latin typeface="Cambria Math"/>
                            </a:rPr>
                            <m:t>𝑥</m:t>
                          </m:r>
                        </m:e>
                        <m:sub>
                          <m:r>
                            <a:rPr lang="zh-CN" altLang="en-US" sz="2400" i="1">
                              <a:solidFill>
                                <a:srgbClr val="0000CC"/>
                              </a:solidFill>
                              <a:latin typeface="Cambria Math"/>
                            </a:rPr>
                            <m:t>𝑖</m:t>
                          </m:r>
                        </m:sub>
                      </m:sSub>
                    </m:oMath>
                  </m:oMathPara>
                </a14:m>
                <a:endParaRPr lang="zh-CN" altLang="en-US" sz="2400" dirty="0"/>
              </a:p>
            </p:txBody>
          </p:sp>
        </mc:Choice>
        <mc:Fallback xmlns="">
          <p:sp>
            <p:nvSpPr>
              <p:cNvPr id="44" name="矩形 43"/>
              <p:cNvSpPr>
                <a:spLocks noRot="1" noChangeAspect="1" noMove="1" noResize="1" noEditPoints="1" noAdjustHandles="1" noChangeArrowheads="1" noChangeShapeType="1" noTextEdit="1"/>
              </p:cNvSpPr>
              <p:nvPr/>
            </p:nvSpPr>
            <p:spPr>
              <a:xfrm>
                <a:off x="5822604" y="2322514"/>
                <a:ext cx="2236381" cy="48167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a:off x="5358102" y="1421877"/>
                <a:ext cx="3355214" cy="830997"/>
              </a:xfrm>
              <a:prstGeom prst="rect">
                <a:avLst/>
              </a:prstGeom>
              <a:noFill/>
            </p:spPr>
            <p:txBody>
              <a:bodyPr wrap="none" rtlCol="0">
                <a:spAutoFit/>
              </a:bodyPr>
              <a:lstStyle/>
              <a:p>
                <a:r>
                  <a:rPr lang="zh-CN" altLang="en-US" sz="2400" dirty="0">
                    <a:latin typeface="微软雅黑" pitchFamily="34" charset="-122"/>
                    <a:ea typeface="微软雅黑" pitchFamily="34" charset="-122"/>
                  </a:rPr>
                  <a:t>对于</a:t>
                </a:r>
                <a14:m>
                  <m:oMath xmlns:m="http://schemas.openxmlformats.org/officeDocument/2006/math">
                    <m:sSub>
                      <m:sSubPr>
                        <m:ctrlPr>
                          <a:rPr lang="zh-CN" altLang="en-US" sz="2400" i="1">
                            <a:solidFill>
                              <a:srgbClr val="0000CC"/>
                            </a:solidFill>
                            <a:latin typeface="Cambria Math" panose="02040503050406030204" pitchFamily="18" charset="0"/>
                          </a:rPr>
                        </m:ctrlPr>
                      </m:sSubPr>
                      <m:e>
                        <m:r>
                          <a:rPr lang="zh-CN" altLang="en-US" sz="2400" i="1">
                            <a:solidFill>
                              <a:srgbClr val="0000CC"/>
                            </a:solidFill>
                            <a:latin typeface="Cambria Math"/>
                          </a:rPr>
                          <m:t>𝑥</m:t>
                        </m:r>
                      </m:e>
                      <m:sub>
                        <m:r>
                          <a:rPr lang="zh-CN" altLang="en-US" sz="2400" i="1">
                            <a:solidFill>
                              <a:srgbClr val="0000CC"/>
                            </a:solidFill>
                            <a:latin typeface="Cambria Math"/>
                          </a:rPr>
                          <m:t>𝑖</m:t>
                        </m:r>
                      </m:sub>
                    </m:sSub>
                    <m:r>
                      <a:rPr lang="en-US" altLang="zh-CN" sz="2400" b="0" i="1" smtClean="0">
                        <a:solidFill>
                          <a:srgbClr val="0000CC"/>
                        </a:solidFill>
                        <a:latin typeface="Cambria Math"/>
                      </a:rPr>
                      <m:t> </m:t>
                    </m:r>
                  </m:oMath>
                </a14:m>
                <a:r>
                  <a:rPr lang="en-US" altLang="zh-CN" sz="2400" dirty="0">
                    <a:latin typeface="微软雅黑" pitchFamily="34" charset="-122"/>
                    <a:ea typeface="微软雅黑" pitchFamily="34" charset="-122"/>
                  </a:rPr>
                  <a:t>,</a:t>
                </a:r>
                <a:r>
                  <a:rPr lang="zh-CN" altLang="en-US" sz="2400" dirty="0">
                    <a:latin typeface="微软雅黑" pitchFamily="34" charset="-122"/>
                    <a:ea typeface="微软雅黑" pitchFamily="34" charset="-122"/>
                  </a:rPr>
                  <a:t>估计的回归方程</a:t>
                </a:r>
                <a:endParaRPr lang="en-US" altLang="zh-CN" sz="2400" dirty="0">
                  <a:latin typeface="微软雅黑" pitchFamily="34" charset="-122"/>
                  <a:ea typeface="微软雅黑" pitchFamily="34" charset="-122"/>
                </a:endParaRPr>
              </a:p>
              <a:p>
                <a:r>
                  <a:rPr lang="zh-CN" altLang="en-US" sz="2400" dirty="0">
                    <a:latin typeface="微软雅黑" pitchFamily="34" charset="-122"/>
                    <a:ea typeface="微软雅黑" pitchFamily="34" charset="-122"/>
                  </a:rPr>
                  <a:t>可表示为：</a:t>
                </a:r>
                <a:endParaRPr lang="en-US" altLang="zh-CN" sz="2400" dirty="0">
                  <a:latin typeface="微软雅黑" pitchFamily="34" charset="-122"/>
                  <a:ea typeface="微软雅黑" pitchFamily="34" charset="-122"/>
                </a:endParaRPr>
              </a:p>
            </p:txBody>
          </p:sp>
        </mc:Choice>
        <mc:Fallback xmlns="">
          <p:sp>
            <p:nvSpPr>
              <p:cNvPr id="45" name="TextBox 44"/>
              <p:cNvSpPr txBox="1">
                <a:spLocks noRot="1" noChangeAspect="1" noMove="1" noResize="1" noEditPoints="1" noAdjustHandles="1" noChangeArrowheads="1" noChangeShapeType="1" noTextEdit="1"/>
              </p:cNvSpPr>
              <p:nvPr/>
            </p:nvSpPr>
            <p:spPr>
              <a:xfrm>
                <a:off x="5358102" y="1421877"/>
                <a:ext cx="3355214" cy="830997"/>
              </a:xfrm>
              <a:prstGeom prst="rect">
                <a:avLst/>
              </a:prstGeom>
              <a:blipFill rotWithShape="1">
                <a:blip r:embed="rId4"/>
                <a:stretch>
                  <a:fillRect l="-2909" t="-5839" r="-1818" b="-153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矩形 45"/>
              <p:cNvSpPr/>
              <p:nvPr/>
            </p:nvSpPr>
            <p:spPr>
              <a:xfrm>
                <a:off x="2742378" y="2855914"/>
                <a:ext cx="62061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b="1" i="1" smtClean="0">
                              <a:solidFill>
                                <a:srgbClr val="FF0000"/>
                              </a:solidFill>
                              <a:latin typeface="Cambria Math" panose="02040503050406030204" pitchFamily="18" charset="0"/>
                            </a:rPr>
                          </m:ctrlPr>
                        </m:sSubPr>
                        <m:e>
                          <m:acc>
                            <m:accPr>
                              <m:chr m:val="̂"/>
                              <m:ctrlPr>
                                <a:rPr lang="zh-CN" altLang="en-US" sz="2400" b="1" i="1">
                                  <a:solidFill>
                                    <a:srgbClr val="FF0000"/>
                                  </a:solidFill>
                                  <a:latin typeface="Cambria Math" panose="02040503050406030204" pitchFamily="18" charset="0"/>
                                </a:rPr>
                              </m:ctrlPr>
                            </m:accPr>
                            <m:e>
                              <m:r>
                                <a:rPr lang="zh-CN" altLang="en-US" sz="2400" b="1" i="1">
                                  <a:solidFill>
                                    <a:srgbClr val="FF0000"/>
                                  </a:solidFill>
                                  <a:latin typeface="Cambria Math"/>
                                </a:rPr>
                                <m:t>𝒚</m:t>
                              </m:r>
                            </m:e>
                          </m:acc>
                        </m:e>
                        <m:sub>
                          <m:r>
                            <a:rPr lang="zh-CN" altLang="en-US" sz="2400" b="1" i="1">
                              <a:solidFill>
                                <a:srgbClr val="FF0000"/>
                              </a:solidFill>
                              <a:latin typeface="Cambria Math"/>
                            </a:rPr>
                            <m:t>𝒊</m:t>
                          </m:r>
                        </m:sub>
                      </m:sSub>
                    </m:oMath>
                  </m:oMathPara>
                </a14:m>
                <a:endParaRPr lang="zh-CN" altLang="en-US" sz="2400" b="1" dirty="0"/>
              </a:p>
            </p:txBody>
          </p:sp>
        </mc:Choice>
        <mc:Fallback xmlns="">
          <p:sp>
            <p:nvSpPr>
              <p:cNvPr id="46" name="矩形 45"/>
              <p:cNvSpPr>
                <a:spLocks noRot="1" noChangeAspect="1" noMove="1" noResize="1" noEditPoints="1" noAdjustHandles="1" noChangeArrowheads="1" noChangeShapeType="1" noTextEdit="1"/>
              </p:cNvSpPr>
              <p:nvPr/>
            </p:nvSpPr>
            <p:spPr>
              <a:xfrm>
                <a:off x="2742378" y="2855914"/>
                <a:ext cx="620619" cy="461665"/>
              </a:xfrm>
              <a:prstGeom prst="rect">
                <a:avLst/>
              </a:prstGeom>
              <a:blipFill rotWithShape="1">
                <a:blip r:embed="rId5"/>
                <a:stretch>
                  <a:fillRect t="-2632" r="-16667" b="-13158"/>
                </a:stretch>
              </a:blipFill>
            </p:spPr>
            <p:txBody>
              <a:bodyPr/>
              <a:lstStyle/>
              <a:p>
                <a:r>
                  <a:rPr lang="zh-CN" altLang="en-US">
                    <a:noFill/>
                  </a:rPr>
                  <a:t> </a:t>
                </a:r>
              </a:p>
            </p:txBody>
          </p:sp>
        </mc:Fallback>
      </mc:AlternateContent>
      <p:cxnSp>
        <p:nvCxnSpPr>
          <p:cNvPr id="47" name="直接箭头连接符 46"/>
          <p:cNvCxnSpPr/>
          <p:nvPr/>
        </p:nvCxnSpPr>
        <p:spPr>
          <a:xfrm flipH="1">
            <a:off x="2640526" y="3313114"/>
            <a:ext cx="246790" cy="4572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1685866" y="5805122"/>
            <a:ext cx="1620957" cy="523220"/>
          </a:xfrm>
          <a:prstGeom prst="rect">
            <a:avLst/>
          </a:prstGeom>
          <a:noFill/>
        </p:spPr>
        <p:txBody>
          <a:bodyPr wrap="none" rtlCol="0">
            <a:spAutoFit/>
          </a:bodyPr>
          <a:lstStyle/>
          <a:p>
            <a:r>
              <a:rPr lang="zh-CN" altLang="en-US" sz="2800" b="1" dirty="0">
                <a:solidFill>
                  <a:srgbClr val="0000CC"/>
                </a:solidFill>
                <a:latin typeface="微软雅黑" pitchFamily="34" charset="-122"/>
                <a:ea typeface="微软雅黑" pitchFamily="34" charset="-122"/>
              </a:rPr>
              <a:t>回归直线</a:t>
            </a:r>
          </a:p>
        </p:txBody>
      </p:sp>
      <p:sp>
        <p:nvSpPr>
          <p:cNvPr id="49" name="Text Box 21"/>
          <p:cNvSpPr txBox="1">
            <a:spLocks noChangeArrowheads="1"/>
          </p:cNvSpPr>
          <p:nvPr/>
        </p:nvSpPr>
        <p:spPr bwMode="auto">
          <a:xfrm>
            <a:off x="2422317" y="3775251"/>
            <a:ext cx="218209" cy="276999"/>
          </a:xfrm>
          <a:prstGeom prst="rect">
            <a:avLst/>
          </a:prstGeom>
          <a:no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square">
            <a:spAutoFit/>
          </a:bodyPr>
          <a:lstStyle/>
          <a:p>
            <a:pPr algn="ctr" eaLnBrk="0" hangingPunct="0">
              <a:spcBef>
                <a:spcPct val="50000"/>
              </a:spcBef>
            </a:pPr>
            <a:r>
              <a:rPr kumimoji="1" lang="en-US" altLang="zh-CN" sz="1200" dirty="0">
                <a:solidFill>
                  <a:srgbClr val="FF0000"/>
                </a:solidFill>
                <a:latin typeface="Arial" charset="0"/>
                <a:sym typeface="Wingdings 2" pitchFamily="18" charset="2"/>
              </a:rPr>
              <a:t></a:t>
            </a:r>
            <a:endParaRPr kumimoji="1" lang="en-US" altLang="zh-CN" sz="1200" dirty="0">
              <a:solidFill>
                <a:srgbClr val="FF0000"/>
              </a:solidFill>
              <a:latin typeface="Arial" charset="0"/>
            </a:endParaRPr>
          </a:p>
        </p:txBody>
      </p:sp>
      <p:sp>
        <p:nvSpPr>
          <p:cNvPr id="50" name="矩形 49"/>
          <p:cNvSpPr/>
          <p:nvPr/>
        </p:nvSpPr>
        <p:spPr>
          <a:xfrm>
            <a:off x="5833960" y="4173906"/>
            <a:ext cx="2728278" cy="1631216"/>
          </a:xfrm>
          <a:prstGeom prst="rect">
            <a:avLst/>
          </a:prstGeom>
        </p:spPr>
        <p:txBody>
          <a:bodyPr wrap="square">
            <a:spAutoFit/>
          </a:bodyPr>
          <a:lstStyle/>
          <a:p>
            <a:r>
              <a:rPr kumimoji="1" lang="zh-CN" altLang="en-US" sz="2800" b="1" dirty="0">
                <a:solidFill>
                  <a:srgbClr val="C00000"/>
                </a:solidFill>
                <a:latin typeface="微软雅黑" pitchFamily="34" charset="-122"/>
                <a:ea typeface="微软雅黑" pitchFamily="34" charset="-122"/>
              </a:rPr>
              <a:t>估计思想</a:t>
            </a:r>
            <a:endParaRPr kumimoji="1" lang="en-US" altLang="zh-CN" sz="2800" b="1" dirty="0">
              <a:solidFill>
                <a:srgbClr val="C00000"/>
              </a:solidFill>
              <a:latin typeface="微软雅黑" pitchFamily="34" charset="-122"/>
              <a:ea typeface="微软雅黑" pitchFamily="34" charset="-122"/>
            </a:endParaRPr>
          </a:p>
          <a:p>
            <a:r>
              <a:rPr kumimoji="1" lang="zh-CN" altLang="en-US" sz="2400" dirty="0">
                <a:latin typeface="微软雅黑" pitchFamily="34" charset="-122"/>
                <a:ea typeface="微软雅黑" pitchFamily="34" charset="-122"/>
              </a:rPr>
              <a:t>寻找一条直线，使实际观察值与估计值之间距离最小。</a:t>
            </a:r>
            <a:endParaRPr lang="zh-CN" altLang="en-US" sz="2400" dirty="0">
              <a:latin typeface="微软雅黑" pitchFamily="34" charset="-122"/>
              <a:ea typeface="微软雅黑" pitchFamily="34" charset="-122"/>
            </a:endParaRPr>
          </a:p>
        </p:txBody>
      </p:sp>
      <mc:AlternateContent xmlns:mc="http://schemas.openxmlformats.org/markup-compatibility/2006" xmlns:a14="http://schemas.microsoft.com/office/drawing/2010/main">
        <mc:Choice Requires="a14">
          <p:sp>
            <p:nvSpPr>
              <p:cNvPr id="51" name="矩形 50"/>
              <p:cNvSpPr/>
              <p:nvPr/>
            </p:nvSpPr>
            <p:spPr>
              <a:xfrm>
                <a:off x="5631283" y="3173220"/>
                <a:ext cx="286014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smtClean="0">
                              <a:latin typeface="Cambria Math" panose="02040503050406030204" pitchFamily="18" charset="0"/>
                            </a:rPr>
                          </m:ctrlPr>
                        </m:sSubPr>
                        <m:e>
                          <m:r>
                            <a:rPr lang="zh-CN" altLang="en-US" sz="2400" b="0" i="1" smtClean="0">
                              <a:latin typeface="Cambria Math"/>
                            </a:rPr>
                            <m:t>记</m:t>
                          </m:r>
                          <m:r>
                            <a:rPr lang="zh-CN" altLang="en-US" sz="2400" i="1">
                              <a:latin typeface="Cambria Math"/>
                            </a:rPr>
                            <m:t>离差</m:t>
                          </m:r>
                          <m:r>
                            <a:rPr lang="en-US" altLang="zh-CN" sz="2400" b="0" i="1" smtClean="0">
                              <a:latin typeface="Cambria Math"/>
                            </a:rPr>
                            <m:t> </m:t>
                          </m:r>
                          <m:r>
                            <a:rPr lang="zh-CN" altLang="en-US" sz="2400" i="1">
                              <a:latin typeface="Cambria Math"/>
                            </a:rPr>
                            <m:t>𝑒</m:t>
                          </m:r>
                        </m:e>
                        <m:sub>
                          <m:r>
                            <a:rPr lang="zh-CN" altLang="en-US" sz="2400" i="1">
                              <a:latin typeface="Cambria Math"/>
                            </a:rPr>
                            <m:t>𝑖</m:t>
                          </m:r>
                        </m:sub>
                      </m:sSub>
                      <m:r>
                        <a:rPr lang="zh-CN" altLang="en-US" sz="2400">
                          <a:latin typeface="Cambria Math"/>
                        </a:rPr>
                        <m:t>=</m:t>
                      </m:r>
                      <m:sSub>
                        <m:sSubPr>
                          <m:ctrlPr>
                            <a:rPr lang="zh-CN" altLang="en-US" sz="2400" i="1">
                              <a:latin typeface="Cambria Math" panose="02040503050406030204" pitchFamily="18" charset="0"/>
                            </a:rPr>
                          </m:ctrlPr>
                        </m:sSubPr>
                        <m:e>
                          <m:r>
                            <a:rPr lang="zh-CN" altLang="en-US" sz="2400" i="1">
                              <a:latin typeface="Cambria Math"/>
                            </a:rPr>
                            <m:t>𝑦</m:t>
                          </m:r>
                        </m:e>
                        <m:sub>
                          <m:r>
                            <a:rPr lang="zh-CN" altLang="en-US" sz="2400" i="1">
                              <a:latin typeface="Cambria Math"/>
                            </a:rPr>
                            <m:t>𝑖</m:t>
                          </m:r>
                        </m:sub>
                      </m:sSub>
                      <m:r>
                        <a:rPr lang="zh-CN" altLang="en-US" sz="2400">
                          <a:latin typeface="Cambria Math"/>
                        </a:rPr>
                        <m:t>−</m:t>
                      </m:r>
                      <m:sSub>
                        <m:sSubPr>
                          <m:ctrlPr>
                            <a:rPr lang="zh-CN" altLang="en-US" sz="2400" i="1">
                              <a:latin typeface="Cambria Math" panose="02040503050406030204" pitchFamily="18" charset="0"/>
                            </a:rPr>
                          </m:ctrlPr>
                        </m:sSubPr>
                        <m:e>
                          <m:acc>
                            <m:accPr>
                              <m:chr m:val="̂"/>
                              <m:ctrlPr>
                                <a:rPr lang="zh-CN" altLang="en-US" sz="2400" i="1">
                                  <a:latin typeface="Cambria Math" panose="02040503050406030204" pitchFamily="18" charset="0"/>
                                </a:rPr>
                              </m:ctrlPr>
                            </m:accPr>
                            <m:e>
                              <m:r>
                                <a:rPr lang="zh-CN" altLang="en-US" sz="2400" i="1">
                                  <a:latin typeface="Cambria Math"/>
                                </a:rPr>
                                <m:t>𝑦</m:t>
                              </m:r>
                            </m:e>
                          </m:acc>
                        </m:e>
                        <m:sub>
                          <m:r>
                            <a:rPr lang="zh-CN" altLang="en-US" sz="2400" i="1">
                              <a:latin typeface="Cambria Math"/>
                            </a:rPr>
                            <m:t>𝑖</m:t>
                          </m:r>
                        </m:sub>
                      </m:sSub>
                    </m:oMath>
                  </m:oMathPara>
                </a14:m>
                <a:endParaRPr lang="zh-CN" altLang="en-US" sz="2400" dirty="0">
                  <a:latin typeface="微软雅黑" pitchFamily="34" charset="-122"/>
                  <a:ea typeface="微软雅黑" pitchFamily="34" charset="-122"/>
                </a:endParaRPr>
              </a:p>
            </p:txBody>
          </p:sp>
        </mc:Choice>
        <mc:Fallback xmlns="">
          <p:sp>
            <p:nvSpPr>
              <p:cNvPr id="51" name="矩形 50"/>
              <p:cNvSpPr>
                <a:spLocks noRot="1" noChangeAspect="1" noMove="1" noResize="1" noEditPoints="1" noAdjustHandles="1" noChangeArrowheads="1" noChangeShapeType="1" noTextEdit="1"/>
              </p:cNvSpPr>
              <p:nvPr/>
            </p:nvSpPr>
            <p:spPr>
              <a:xfrm>
                <a:off x="5631283" y="3173220"/>
                <a:ext cx="2860142" cy="461665"/>
              </a:xfrm>
              <a:prstGeom prst="rect">
                <a:avLst/>
              </a:prstGeom>
              <a:blipFill rotWithShape="1">
                <a:blip r:embed="rId6"/>
                <a:stretch>
                  <a:fillRect t="-2667" r="-7889" b="-12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448475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barn(inVertical)">
                                      <p:cBhvr>
                                        <p:cTn id="7" dur="500"/>
                                        <p:tgtEl>
                                          <p:spTgt spid="4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barn(inVertical)">
                                      <p:cBhvr>
                                        <p:cTn id="10" dur="500"/>
                                        <p:tgtEl>
                                          <p:spTgt spid="44"/>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circle(in)">
                                      <p:cBhvr>
                                        <p:cTn id="15" dur="2000"/>
                                        <p:tgtEl>
                                          <p:spTgt spid="46"/>
                                        </p:tgtEl>
                                      </p:cBhvr>
                                    </p:animEffect>
                                  </p:childTnLst>
                                </p:cTn>
                              </p:par>
                              <p:par>
                                <p:cTn id="16" presetID="6" presetClass="entr" presetSubtype="16" fill="hold" nodeType="with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circle(in)">
                                      <p:cBhvr>
                                        <p:cTn id="18" dur="2000"/>
                                        <p:tgtEl>
                                          <p:spTgt spid="47"/>
                                        </p:tgtEl>
                                      </p:cBhvr>
                                    </p:animEffect>
                                  </p:childTnLst>
                                </p:cTn>
                              </p:par>
                              <p:par>
                                <p:cTn id="19" presetID="6" presetClass="entr" presetSubtype="16"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animEffect transition="in" filter="circle(in)">
                                      <p:cBhvr>
                                        <p:cTn id="21" dur="2000"/>
                                        <p:tgtEl>
                                          <p:spTgt spid="4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51"/>
                                        </p:tgtEl>
                                        <p:attrNameLst>
                                          <p:attrName>style.visibility</p:attrName>
                                        </p:attrNameLst>
                                      </p:cBhvr>
                                      <p:to>
                                        <p:strVal val="visible"/>
                                      </p:to>
                                    </p:set>
                                    <p:animEffect transition="in" filter="wipe(down)">
                                      <p:cBhvr>
                                        <p:cTn id="26" dur="500"/>
                                        <p:tgtEl>
                                          <p:spTgt spid="5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wipe(down)">
                                      <p:cBhvr>
                                        <p:cTn id="31"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P spid="46" grpId="0"/>
      <p:bldP spid="49" grpId="0"/>
      <p:bldP spid="50" grpId="0"/>
      <p:bldP spid="5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9233" name="矩形 1"/>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12" name="Text Box 21"/>
          <p:cNvSpPr txBox="1">
            <a:spLocks noChangeArrowheads="1"/>
          </p:cNvSpPr>
          <p:nvPr/>
        </p:nvSpPr>
        <p:spPr bwMode="auto">
          <a:xfrm>
            <a:off x="23813" y="908678"/>
            <a:ext cx="74285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marL="457200" indent="-457200" eaLnBrk="1" hangingPunct="1">
              <a:spcBef>
                <a:spcPct val="50000"/>
              </a:spcBef>
              <a:buFont typeface="Wingdings" pitchFamily="2" charset="2"/>
              <a:buChar char="u"/>
            </a:pPr>
            <a:r>
              <a:rPr kumimoji="1" lang="zh-CN" altLang="en-US" b="1" dirty="0">
                <a:solidFill>
                  <a:srgbClr val="C00000"/>
                </a:solidFill>
                <a:latin typeface="微软雅黑" pitchFamily="34" charset="-122"/>
                <a:ea typeface="微软雅黑" pitchFamily="34" charset="-122"/>
              </a:rPr>
              <a:t>线性回归统计模型的求解</a:t>
            </a:r>
          </a:p>
        </p:txBody>
      </p:sp>
      <p:sp>
        <p:nvSpPr>
          <p:cNvPr id="52" name="TextBox 51"/>
          <p:cNvSpPr txBox="1"/>
          <p:nvPr/>
        </p:nvSpPr>
        <p:spPr>
          <a:xfrm>
            <a:off x="786446" y="1448747"/>
            <a:ext cx="7571108" cy="830997"/>
          </a:xfrm>
          <a:prstGeom prst="rect">
            <a:avLst/>
          </a:prstGeom>
          <a:noFill/>
        </p:spPr>
        <p:txBody>
          <a:bodyPr wrap="square" rtlCol="0">
            <a:spAutoFit/>
          </a:bodyPr>
          <a:lstStyle/>
          <a:p>
            <a:r>
              <a:rPr lang="zh-CN" altLang="en-US" sz="2400" dirty="0">
                <a:latin typeface="微软雅黑" pitchFamily="34" charset="-122"/>
                <a:ea typeface="微软雅黑" pitchFamily="34" charset="-122"/>
              </a:rPr>
              <a:t>德国数学家 </a:t>
            </a:r>
            <a:r>
              <a:rPr lang="zh-CN" altLang="en-US" sz="2400" dirty="0">
                <a:solidFill>
                  <a:srgbClr val="FF0000"/>
                </a:solidFill>
                <a:latin typeface="Times New Roman" pitchFamily="18" charset="0"/>
                <a:ea typeface="微软雅黑" pitchFamily="34" charset="-122"/>
                <a:cs typeface="Times New Roman" pitchFamily="18" charset="0"/>
              </a:rPr>
              <a:t>高斯 （</a:t>
            </a:r>
            <a:r>
              <a:rPr lang="en-US" altLang="zh-CN" sz="2400" dirty="0">
                <a:solidFill>
                  <a:srgbClr val="FF0000"/>
                </a:solidFill>
                <a:latin typeface="Times New Roman" pitchFamily="18" charset="0"/>
                <a:ea typeface="微软雅黑" pitchFamily="34" charset="-122"/>
                <a:cs typeface="Times New Roman" pitchFamily="18" charset="0"/>
              </a:rPr>
              <a:t>Gauss</a:t>
            </a:r>
            <a:r>
              <a:rPr lang="zh-CN" altLang="en-US" sz="2400" dirty="0">
                <a:solidFill>
                  <a:srgbClr val="FF0000"/>
                </a:solidFill>
                <a:latin typeface="Times New Roman" pitchFamily="18" charset="0"/>
                <a:ea typeface="微软雅黑" pitchFamily="34" charset="-122"/>
                <a:cs typeface="Times New Roman" pitchFamily="18" charset="0"/>
              </a:rPr>
              <a:t>）</a:t>
            </a:r>
            <a:r>
              <a:rPr lang="zh-CN" altLang="en-US" sz="2400" dirty="0">
                <a:latin typeface="微软雅黑" pitchFamily="34" charset="-122"/>
                <a:ea typeface="微软雅黑" pitchFamily="34" charset="-122"/>
              </a:rPr>
              <a:t>提出用最小化离差平方和的方法来估计参数，称为</a:t>
            </a:r>
            <a:r>
              <a:rPr lang="zh-CN" altLang="en-US" sz="2400" dirty="0">
                <a:solidFill>
                  <a:srgbClr val="0000CC"/>
                </a:solidFill>
                <a:latin typeface="微软雅黑" pitchFamily="34" charset="-122"/>
                <a:ea typeface="微软雅黑" pitchFamily="34" charset="-122"/>
              </a:rPr>
              <a:t>最小二乘法</a:t>
            </a:r>
            <a:r>
              <a:rPr lang="zh-CN" altLang="en-US" sz="2400" dirty="0">
                <a:latin typeface="微软雅黑" pitchFamily="34" charset="-122"/>
                <a:ea typeface="微软雅黑" pitchFamily="34" charset="-122"/>
              </a:rPr>
              <a:t>。</a:t>
            </a:r>
          </a:p>
        </p:txBody>
      </p:sp>
      <mc:AlternateContent xmlns:mc="http://schemas.openxmlformats.org/markup-compatibility/2006" xmlns:a14="http://schemas.microsoft.com/office/drawing/2010/main">
        <mc:Choice Requires="a14">
          <p:sp>
            <p:nvSpPr>
              <p:cNvPr id="53" name="矩形 52"/>
              <p:cNvSpPr/>
              <p:nvPr/>
            </p:nvSpPr>
            <p:spPr>
              <a:xfrm>
                <a:off x="431471" y="2333210"/>
                <a:ext cx="7926083" cy="110055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zh-CN" altLang="en-US" sz="2400" smtClean="0">
                          <a:solidFill>
                            <a:srgbClr val="000099"/>
                          </a:solidFill>
                          <a:latin typeface="Cambria Math"/>
                        </a:rPr>
                        <m:t>min</m:t>
                      </m:r>
                      <m:r>
                        <m:rPr>
                          <m:nor/>
                        </m:rPr>
                        <a:rPr lang="zh-CN" altLang="en-US" sz="2400" i="1">
                          <a:solidFill>
                            <a:srgbClr val="000099"/>
                          </a:solidFill>
                          <a:latin typeface="Arial" pitchFamily="34" charset="0"/>
                          <a:cs typeface="Arial" pitchFamily="34" charset="0"/>
                        </a:rPr>
                        <m:t> </m:t>
                      </m:r>
                      <m:r>
                        <a:rPr lang="zh-CN" altLang="en-US" sz="2400" i="1">
                          <a:solidFill>
                            <a:srgbClr val="000099"/>
                          </a:solidFill>
                          <a:latin typeface="Cambria Math"/>
                        </a:rPr>
                        <m:t>𝑄</m:t>
                      </m:r>
                      <m:r>
                        <m:rPr>
                          <m:nor/>
                        </m:rPr>
                        <a:rPr lang="zh-CN" altLang="en-US" sz="2400" i="1">
                          <a:solidFill>
                            <a:srgbClr val="000099"/>
                          </a:solidFill>
                          <a:latin typeface="Arial" pitchFamily="34" charset="0"/>
                          <a:cs typeface="Arial" pitchFamily="34" charset="0"/>
                        </a:rPr>
                        <m:t> =</m:t>
                      </m:r>
                      <m:nary>
                        <m:naryPr>
                          <m:chr m:val="∑"/>
                          <m:limLoc m:val="undOvr"/>
                          <m:grow m:val="on"/>
                          <m:ctrlPr>
                            <a:rPr lang="zh-CN" altLang="en-US" sz="2400" i="1">
                              <a:solidFill>
                                <a:srgbClr val="000099"/>
                              </a:solidFill>
                              <a:latin typeface="Cambria Math" panose="02040503050406030204" pitchFamily="18" charset="0"/>
                            </a:rPr>
                          </m:ctrlPr>
                        </m:naryPr>
                        <m:sub>
                          <m:r>
                            <a:rPr lang="zh-CN" altLang="en-US" sz="2400" i="1">
                              <a:solidFill>
                                <a:srgbClr val="000099"/>
                              </a:solidFill>
                              <a:latin typeface="Cambria Math"/>
                            </a:rPr>
                            <m:t>𝑖</m:t>
                          </m:r>
                          <m:r>
                            <a:rPr lang="zh-CN" altLang="en-US" sz="2400">
                              <a:solidFill>
                                <a:srgbClr val="000099"/>
                              </a:solidFill>
                              <a:latin typeface="Cambria Math"/>
                            </a:rPr>
                            <m:t>=1</m:t>
                          </m:r>
                        </m:sub>
                        <m:sup>
                          <m:r>
                            <a:rPr lang="zh-CN" altLang="en-US" sz="2400" i="1">
                              <a:solidFill>
                                <a:srgbClr val="000099"/>
                              </a:solidFill>
                              <a:latin typeface="Cambria Math"/>
                            </a:rPr>
                            <m:t>𝑛</m:t>
                          </m:r>
                        </m:sup>
                        <m:e>
                          <m:sSubSup>
                            <m:sSubSupPr>
                              <m:ctrlPr>
                                <a:rPr lang="zh-CN" altLang="en-US" sz="2400" i="1">
                                  <a:solidFill>
                                    <a:srgbClr val="000099"/>
                                  </a:solidFill>
                                  <a:latin typeface="Cambria Math" panose="02040503050406030204" pitchFamily="18" charset="0"/>
                                </a:rPr>
                              </m:ctrlPr>
                            </m:sSubSupPr>
                            <m:e>
                              <m:r>
                                <a:rPr lang="zh-CN" altLang="en-US" sz="2400" i="1">
                                  <a:solidFill>
                                    <a:srgbClr val="000099"/>
                                  </a:solidFill>
                                  <a:latin typeface="Cambria Math"/>
                                </a:rPr>
                                <m:t>𝑒</m:t>
                              </m:r>
                            </m:e>
                            <m:sub>
                              <m:r>
                                <a:rPr lang="zh-CN" altLang="en-US" sz="2400" i="1">
                                  <a:solidFill>
                                    <a:srgbClr val="000099"/>
                                  </a:solidFill>
                                  <a:latin typeface="Cambria Math"/>
                                </a:rPr>
                                <m:t>𝑖</m:t>
                              </m:r>
                            </m:sub>
                            <m:sup>
                              <m:r>
                                <a:rPr lang="zh-CN" altLang="en-US" sz="2400">
                                  <a:solidFill>
                                    <a:srgbClr val="000099"/>
                                  </a:solidFill>
                                  <a:latin typeface="Cambria Math"/>
                                </a:rPr>
                                <m:t>2</m:t>
                              </m:r>
                            </m:sup>
                          </m:sSubSup>
                        </m:e>
                      </m:nary>
                      <m:r>
                        <a:rPr lang="zh-CN" altLang="en-US" sz="2400">
                          <a:solidFill>
                            <a:srgbClr val="000099"/>
                          </a:solidFill>
                          <a:latin typeface="Cambria Math"/>
                        </a:rPr>
                        <m:t>=</m:t>
                      </m:r>
                      <m:nary>
                        <m:naryPr>
                          <m:chr m:val="∑"/>
                          <m:limLoc m:val="undOvr"/>
                          <m:grow m:val="on"/>
                          <m:ctrlPr>
                            <a:rPr lang="zh-CN" altLang="en-US" sz="2400" i="1">
                              <a:solidFill>
                                <a:srgbClr val="000099"/>
                              </a:solidFill>
                              <a:latin typeface="Cambria Math" panose="02040503050406030204" pitchFamily="18" charset="0"/>
                            </a:rPr>
                          </m:ctrlPr>
                        </m:naryPr>
                        <m:sub>
                          <m:r>
                            <a:rPr lang="zh-CN" altLang="en-US" sz="2400" i="1">
                              <a:solidFill>
                                <a:srgbClr val="000099"/>
                              </a:solidFill>
                              <a:latin typeface="Cambria Math"/>
                            </a:rPr>
                            <m:t>𝑖</m:t>
                          </m:r>
                          <m:r>
                            <a:rPr lang="zh-CN" altLang="en-US" sz="2400">
                              <a:solidFill>
                                <a:srgbClr val="000099"/>
                              </a:solidFill>
                              <a:latin typeface="Cambria Math"/>
                            </a:rPr>
                            <m:t>=1</m:t>
                          </m:r>
                        </m:sub>
                        <m:sup>
                          <m:r>
                            <a:rPr lang="zh-CN" altLang="en-US" sz="2400" i="1">
                              <a:solidFill>
                                <a:srgbClr val="000099"/>
                              </a:solidFill>
                              <a:latin typeface="Cambria Math"/>
                            </a:rPr>
                            <m:t>𝑛</m:t>
                          </m:r>
                        </m:sup>
                        <m:e>
                          <m:sSup>
                            <m:sSupPr>
                              <m:ctrlPr>
                                <a:rPr lang="zh-CN" altLang="en-US" sz="2400" i="1">
                                  <a:solidFill>
                                    <a:srgbClr val="000099"/>
                                  </a:solidFill>
                                  <a:latin typeface="Cambria Math" panose="02040503050406030204" pitchFamily="18" charset="0"/>
                                </a:rPr>
                              </m:ctrlPr>
                            </m:sSupPr>
                            <m:e>
                              <m:d>
                                <m:dPr>
                                  <m:ctrlPr>
                                    <a:rPr lang="zh-CN" altLang="en-US" sz="2400" i="1">
                                      <a:solidFill>
                                        <a:srgbClr val="000099"/>
                                      </a:solidFill>
                                      <a:latin typeface="Cambria Math" panose="02040503050406030204" pitchFamily="18" charset="0"/>
                                    </a:rPr>
                                  </m:ctrlPr>
                                </m:dPr>
                                <m:e>
                                  <m:sSub>
                                    <m:sSubPr>
                                      <m:ctrlPr>
                                        <a:rPr lang="zh-CN" altLang="en-US" sz="2400" i="1">
                                          <a:solidFill>
                                            <a:srgbClr val="000099"/>
                                          </a:solidFill>
                                          <a:latin typeface="Cambria Math" panose="02040503050406030204" pitchFamily="18" charset="0"/>
                                        </a:rPr>
                                      </m:ctrlPr>
                                    </m:sSubPr>
                                    <m:e>
                                      <m:r>
                                        <a:rPr lang="zh-CN" altLang="en-US" sz="2400" i="1">
                                          <a:solidFill>
                                            <a:srgbClr val="000099"/>
                                          </a:solidFill>
                                          <a:latin typeface="Cambria Math"/>
                                        </a:rPr>
                                        <m:t>𝑦</m:t>
                                      </m:r>
                                    </m:e>
                                    <m:sub>
                                      <m:r>
                                        <a:rPr lang="zh-CN" altLang="en-US" sz="2400" i="1">
                                          <a:solidFill>
                                            <a:srgbClr val="000099"/>
                                          </a:solidFill>
                                          <a:latin typeface="Cambria Math"/>
                                        </a:rPr>
                                        <m:t>𝑖</m:t>
                                      </m:r>
                                    </m:sub>
                                  </m:sSub>
                                  <m:r>
                                    <a:rPr lang="zh-CN" altLang="en-US" sz="2400">
                                      <a:solidFill>
                                        <a:srgbClr val="000099"/>
                                      </a:solidFill>
                                      <a:latin typeface="Cambria Math"/>
                                    </a:rPr>
                                    <m:t>−</m:t>
                                  </m:r>
                                  <m:sSub>
                                    <m:sSubPr>
                                      <m:ctrlPr>
                                        <a:rPr lang="zh-CN" altLang="en-US" sz="2400" i="1">
                                          <a:solidFill>
                                            <a:srgbClr val="000099"/>
                                          </a:solidFill>
                                          <a:latin typeface="Cambria Math" panose="02040503050406030204" pitchFamily="18" charset="0"/>
                                        </a:rPr>
                                      </m:ctrlPr>
                                    </m:sSubPr>
                                    <m:e>
                                      <m:acc>
                                        <m:accPr>
                                          <m:chr m:val="̂"/>
                                          <m:ctrlPr>
                                            <a:rPr lang="zh-CN" altLang="en-US" sz="2400" i="1">
                                              <a:solidFill>
                                                <a:srgbClr val="000099"/>
                                              </a:solidFill>
                                              <a:latin typeface="Cambria Math" panose="02040503050406030204" pitchFamily="18" charset="0"/>
                                            </a:rPr>
                                          </m:ctrlPr>
                                        </m:accPr>
                                        <m:e>
                                          <m:r>
                                            <a:rPr lang="zh-CN" altLang="en-US" sz="2400" i="1">
                                              <a:solidFill>
                                                <a:srgbClr val="000099"/>
                                              </a:solidFill>
                                              <a:latin typeface="Cambria Math"/>
                                            </a:rPr>
                                            <m:t>𝑦</m:t>
                                          </m:r>
                                        </m:e>
                                      </m:acc>
                                    </m:e>
                                    <m:sub>
                                      <m:r>
                                        <a:rPr lang="zh-CN" altLang="en-US" sz="2400" i="1">
                                          <a:solidFill>
                                            <a:srgbClr val="000099"/>
                                          </a:solidFill>
                                          <a:latin typeface="Cambria Math"/>
                                        </a:rPr>
                                        <m:t>𝑖</m:t>
                                      </m:r>
                                    </m:sub>
                                  </m:sSub>
                                </m:e>
                              </m:d>
                            </m:e>
                            <m:sup>
                              <m:r>
                                <a:rPr lang="zh-CN" altLang="en-US" sz="2400">
                                  <a:solidFill>
                                    <a:srgbClr val="000099"/>
                                  </a:solidFill>
                                  <a:latin typeface="Cambria Math"/>
                                </a:rPr>
                                <m:t>2</m:t>
                              </m:r>
                            </m:sup>
                          </m:sSup>
                        </m:e>
                      </m:nary>
                      <m:r>
                        <a:rPr lang="zh-CN" altLang="en-US" sz="2400">
                          <a:solidFill>
                            <a:srgbClr val="000099"/>
                          </a:solidFill>
                          <a:latin typeface="Cambria Math"/>
                        </a:rPr>
                        <m:t>=</m:t>
                      </m:r>
                      <m:nary>
                        <m:naryPr>
                          <m:chr m:val="∑"/>
                          <m:limLoc m:val="undOvr"/>
                          <m:grow m:val="on"/>
                          <m:ctrlPr>
                            <a:rPr lang="zh-CN" altLang="en-US" sz="2400" i="1">
                              <a:solidFill>
                                <a:srgbClr val="000099"/>
                              </a:solidFill>
                              <a:latin typeface="Cambria Math" panose="02040503050406030204" pitchFamily="18" charset="0"/>
                            </a:rPr>
                          </m:ctrlPr>
                        </m:naryPr>
                        <m:sub>
                          <m:r>
                            <a:rPr lang="zh-CN" altLang="en-US" sz="2400" i="1">
                              <a:solidFill>
                                <a:srgbClr val="000099"/>
                              </a:solidFill>
                              <a:latin typeface="Cambria Math"/>
                            </a:rPr>
                            <m:t>𝑖</m:t>
                          </m:r>
                          <m:r>
                            <a:rPr lang="zh-CN" altLang="en-US" sz="2400">
                              <a:solidFill>
                                <a:srgbClr val="000099"/>
                              </a:solidFill>
                              <a:latin typeface="Cambria Math"/>
                            </a:rPr>
                            <m:t>=1</m:t>
                          </m:r>
                        </m:sub>
                        <m:sup>
                          <m:r>
                            <a:rPr lang="zh-CN" altLang="en-US" sz="2400" i="1">
                              <a:solidFill>
                                <a:srgbClr val="000099"/>
                              </a:solidFill>
                              <a:latin typeface="Cambria Math"/>
                            </a:rPr>
                            <m:t>𝑛</m:t>
                          </m:r>
                        </m:sup>
                        <m:e>
                          <m:sSup>
                            <m:sSupPr>
                              <m:ctrlPr>
                                <a:rPr lang="zh-CN" altLang="en-US" sz="2400" i="1">
                                  <a:solidFill>
                                    <a:srgbClr val="000099"/>
                                  </a:solidFill>
                                  <a:latin typeface="Cambria Math" panose="02040503050406030204" pitchFamily="18" charset="0"/>
                                </a:rPr>
                              </m:ctrlPr>
                            </m:sSupPr>
                            <m:e>
                              <m:d>
                                <m:dPr>
                                  <m:ctrlPr>
                                    <a:rPr lang="zh-CN" altLang="en-US" sz="2400" i="1">
                                      <a:solidFill>
                                        <a:srgbClr val="000099"/>
                                      </a:solidFill>
                                      <a:latin typeface="Cambria Math" panose="02040503050406030204" pitchFamily="18" charset="0"/>
                                    </a:rPr>
                                  </m:ctrlPr>
                                </m:dPr>
                                <m:e>
                                  <m:sSub>
                                    <m:sSubPr>
                                      <m:ctrlPr>
                                        <a:rPr lang="zh-CN" altLang="en-US" sz="2400" i="1">
                                          <a:solidFill>
                                            <a:srgbClr val="000099"/>
                                          </a:solidFill>
                                          <a:latin typeface="Cambria Math" panose="02040503050406030204" pitchFamily="18" charset="0"/>
                                        </a:rPr>
                                      </m:ctrlPr>
                                    </m:sSubPr>
                                    <m:e>
                                      <m:r>
                                        <a:rPr lang="zh-CN" altLang="en-US" sz="2400" i="1">
                                          <a:solidFill>
                                            <a:srgbClr val="000099"/>
                                          </a:solidFill>
                                          <a:latin typeface="Cambria Math"/>
                                        </a:rPr>
                                        <m:t>𝑦</m:t>
                                      </m:r>
                                    </m:e>
                                    <m:sub>
                                      <m:r>
                                        <a:rPr lang="zh-CN" altLang="en-US" sz="2400" i="1">
                                          <a:solidFill>
                                            <a:srgbClr val="000099"/>
                                          </a:solidFill>
                                          <a:latin typeface="Cambria Math"/>
                                        </a:rPr>
                                        <m:t>𝑖</m:t>
                                      </m:r>
                                    </m:sub>
                                  </m:sSub>
                                  <m:r>
                                    <a:rPr lang="zh-CN" altLang="en-US" sz="2400">
                                      <a:solidFill>
                                        <a:srgbClr val="000099"/>
                                      </a:solidFill>
                                      <a:latin typeface="Cambria Math"/>
                                    </a:rPr>
                                    <m:t>−</m:t>
                                  </m:r>
                                  <m:sSub>
                                    <m:sSubPr>
                                      <m:ctrlPr>
                                        <a:rPr lang="zh-CN" altLang="en-US" sz="2400" i="1">
                                          <a:solidFill>
                                            <a:srgbClr val="000099"/>
                                          </a:solidFill>
                                          <a:latin typeface="Cambria Math" panose="02040503050406030204" pitchFamily="18" charset="0"/>
                                        </a:rPr>
                                      </m:ctrlPr>
                                    </m:sSubPr>
                                    <m:e>
                                      <m:acc>
                                        <m:accPr>
                                          <m:chr m:val="̂"/>
                                          <m:ctrlPr>
                                            <a:rPr lang="zh-CN" altLang="en-US" sz="2400" i="1">
                                              <a:solidFill>
                                                <a:srgbClr val="000099"/>
                                              </a:solidFill>
                                              <a:latin typeface="Cambria Math" panose="02040503050406030204" pitchFamily="18" charset="0"/>
                                            </a:rPr>
                                          </m:ctrlPr>
                                        </m:accPr>
                                        <m:e>
                                          <m:r>
                                            <a:rPr lang="zh-CN" altLang="en-US" sz="2400" i="1">
                                              <a:solidFill>
                                                <a:srgbClr val="000099"/>
                                              </a:solidFill>
                                              <a:latin typeface="Cambria Math"/>
                                            </a:rPr>
                                            <m:t>𝛽</m:t>
                                          </m:r>
                                        </m:e>
                                      </m:acc>
                                    </m:e>
                                    <m:sub>
                                      <m:r>
                                        <a:rPr lang="zh-CN" altLang="en-US" sz="2400">
                                          <a:solidFill>
                                            <a:srgbClr val="000099"/>
                                          </a:solidFill>
                                          <a:latin typeface="Cambria Math"/>
                                        </a:rPr>
                                        <m:t>0</m:t>
                                      </m:r>
                                    </m:sub>
                                  </m:sSub>
                                  <m:r>
                                    <a:rPr lang="zh-CN" altLang="en-US" sz="2400">
                                      <a:solidFill>
                                        <a:srgbClr val="000099"/>
                                      </a:solidFill>
                                      <a:latin typeface="Cambria Math"/>
                                    </a:rPr>
                                    <m:t>−</m:t>
                                  </m:r>
                                  <m:sSub>
                                    <m:sSubPr>
                                      <m:ctrlPr>
                                        <a:rPr lang="zh-CN" altLang="en-US" sz="2400" i="1">
                                          <a:solidFill>
                                            <a:srgbClr val="000099"/>
                                          </a:solidFill>
                                          <a:latin typeface="Cambria Math" panose="02040503050406030204" pitchFamily="18" charset="0"/>
                                        </a:rPr>
                                      </m:ctrlPr>
                                    </m:sSubPr>
                                    <m:e>
                                      <m:acc>
                                        <m:accPr>
                                          <m:chr m:val="̂"/>
                                          <m:ctrlPr>
                                            <a:rPr lang="zh-CN" altLang="en-US" sz="2400" i="1">
                                              <a:solidFill>
                                                <a:srgbClr val="000099"/>
                                              </a:solidFill>
                                              <a:latin typeface="Cambria Math" panose="02040503050406030204" pitchFamily="18" charset="0"/>
                                            </a:rPr>
                                          </m:ctrlPr>
                                        </m:accPr>
                                        <m:e>
                                          <m:r>
                                            <a:rPr lang="zh-CN" altLang="en-US" sz="2400" i="1">
                                              <a:solidFill>
                                                <a:srgbClr val="000099"/>
                                              </a:solidFill>
                                              <a:latin typeface="Cambria Math"/>
                                            </a:rPr>
                                            <m:t>𝛽</m:t>
                                          </m:r>
                                        </m:e>
                                      </m:acc>
                                    </m:e>
                                    <m:sub>
                                      <m:r>
                                        <a:rPr lang="zh-CN" altLang="en-US" sz="2400">
                                          <a:solidFill>
                                            <a:srgbClr val="000099"/>
                                          </a:solidFill>
                                          <a:latin typeface="Cambria Math"/>
                                        </a:rPr>
                                        <m:t>1</m:t>
                                      </m:r>
                                    </m:sub>
                                  </m:sSub>
                                  <m:sSub>
                                    <m:sSubPr>
                                      <m:ctrlPr>
                                        <a:rPr lang="zh-CN" altLang="en-US" sz="2400" i="1">
                                          <a:solidFill>
                                            <a:srgbClr val="000099"/>
                                          </a:solidFill>
                                          <a:latin typeface="Cambria Math" panose="02040503050406030204" pitchFamily="18" charset="0"/>
                                        </a:rPr>
                                      </m:ctrlPr>
                                    </m:sSubPr>
                                    <m:e>
                                      <m:r>
                                        <a:rPr lang="zh-CN" altLang="en-US" sz="2400" i="1">
                                          <a:solidFill>
                                            <a:srgbClr val="000099"/>
                                          </a:solidFill>
                                          <a:latin typeface="Cambria Math"/>
                                        </a:rPr>
                                        <m:t>𝑥</m:t>
                                      </m:r>
                                    </m:e>
                                    <m:sub>
                                      <m:r>
                                        <a:rPr lang="zh-CN" altLang="en-US" sz="2400" i="1">
                                          <a:solidFill>
                                            <a:srgbClr val="000099"/>
                                          </a:solidFill>
                                          <a:latin typeface="Cambria Math"/>
                                        </a:rPr>
                                        <m:t>𝑖</m:t>
                                      </m:r>
                                    </m:sub>
                                  </m:sSub>
                                </m:e>
                              </m:d>
                            </m:e>
                            <m:sup>
                              <m:r>
                                <a:rPr lang="zh-CN" altLang="en-US" sz="2400">
                                  <a:solidFill>
                                    <a:srgbClr val="000099"/>
                                  </a:solidFill>
                                  <a:latin typeface="Cambria Math"/>
                                </a:rPr>
                                <m:t>2</m:t>
                              </m:r>
                            </m:sup>
                          </m:sSup>
                        </m:e>
                      </m:nary>
                    </m:oMath>
                  </m:oMathPara>
                </a14:m>
                <a:endParaRPr lang="zh-CN" altLang="en-US" sz="2400" dirty="0">
                  <a:latin typeface="Arial" pitchFamily="34" charset="0"/>
                  <a:cs typeface="Arial" pitchFamily="34" charset="0"/>
                </a:endParaRPr>
              </a:p>
            </p:txBody>
          </p:sp>
        </mc:Choice>
        <mc:Fallback xmlns="">
          <p:sp>
            <p:nvSpPr>
              <p:cNvPr id="53" name="矩形 52"/>
              <p:cNvSpPr>
                <a:spLocks noRot="1" noChangeAspect="1" noMove="1" noResize="1" noEditPoints="1" noAdjustHandles="1" noChangeArrowheads="1" noChangeShapeType="1" noTextEdit="1"/>
              </p:cNvSpPr>
              <p:nvPr/>
            </p:nvSpPr>
            <p:spPr>
              <a:xfrm>
                <a:off x="431471" y="2333210"/>
                <a:ext cx="7926083" cy="1100558"/>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矩形 53"/>
              <p:cNvSpPr/>
              <p:nvPr/>
            </p:nvSpPr>
            <p:spPr>
              <a:xfrm>
                <a:off x="2031590" y="3944249"/>
                <a:ext cx="4334007" cy="16878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2800" i="1" smtClean="0">
                              <a:solidFill>
                                <a:srgbClr val="0000CC"/>
                              </a:solidFill>
                              <a:latin typeface="Cambria Math" panose="02040503050406030204" pitchFamily="18" charset="0"/>
                            </a:rPr>
                          </m:ctrlPr>
                        </m:dPr>
                        <m:e>
                          <m:m>
                            <m:mPr>
                              <m:mcs>
                                <m:mc>
                                  <m:mcPr>
                                    <m:count m:val="1"/>
                                    <m:mcJc m:val="center"/>
                                  </m:mcPr>
                                </m:mc>
                              </m:mcs>
                              <m:ctrlPr>
                                <a:rPr lang="zh-CN" altLang="en-US" sz="2800" i="1">
                                  <a:solidFill>
                                    <a:srgbClr val="0000CC"/>
                                  </a:solidFill>
                                  <a:latin typeface="Cambria Math" panose="02040503050406030204" pitchFamily="18" charset="0"/>
                                </a:rPr>
                              </m:ctrlPr>
                            </m:mPr>
                            <m:mr>
                              <m:e>
                                <m:sSub>
                                  <m:sSubPr>
                                    <m:ctrlPr>
                                      <a:rPr lang="zh-CN" altLang="en-US" sz="2800" i="1">
                                        <a:solidFill>
                                          <a:srgbClr val="0000CC"/>
                                        </a:solidFill>
                                        <a:latin typeface="Cambria Math" panose="02040503050406030204" pitchFamily="18" charset="0"/>
                                      </a:rPr>
                                    </m:ctrlPr>
                                  </m:sSubPr>
                                  <m:e>
                                    <m:acc>
                                      <m:accPr>
                                        <m:chr m:val="̂"/>
                                        <m:ctrlPr>
                                          <a:rPr lang="zh-CN" altLang="en-US" sz="2800" i="1">
                                            <a:solidFill>
                                              <a:srgbClr val="0000CC"/>
                                            </a:solidFill>
                                            <a:latin typeface="Cambria Math" panose="02040503050406030204" pitchFamily="18" charset="0"/>
                                          </a:rPr>
                                        </m:ctrlPr>
                                      </m:accPr>
                                      <m:e>
                                        <m:r>
                                          <a:rPr lang="zh-CN" altLang="en-US" sz="2800" i="1">
                                            <a:solidFill>
                                              <a:srgbClr val="0000CC"/>
                                            </a:solidFill>
                                            <a:latin typeface="Cambria Math"/>
                                          </a:rPr>
                                          <m:t>𝛽</m:t>
                                        </m:r>
                                      </m:e>
                                    </m:acc>
                                  </m:e>
                                  <m:sub>
                                    <m:r>
                                      <a:rPr lang="zh-CN" altLang="en-US" sz="2800">
                                        <a:solidFill>
                                          <a:srgbClr val="0000CC"/>
                                        </a:solidFill>
                                        <a:latin typeface="Cambria Math"/>
                                      </a:rPr>
                                      <m:t>1</m:t>
                                    </m:r>
                                  </m:sub>
                                </m:sSub>
                                <m:r>
                                  <a:rPr lang="zh-CN" altLang="en-US" sz="2800">
                                    <a:solidFill>
                                      <a:srgbClr val="0000CC"/>
                                    </a:solidFill>
                                    <a:latin typeface="Cambria Math"/>
                                  </a:rPr>
                                  <m:t>=</m:t>
                                </m:r>
                                <m:f>
                                  <m:fPr>
                                    <m:ctrlPr>
                                      <a:rPr lang="zh-CN" altLang="en-US" sz="2800" i="1">
                                        <a:solidFill>
                                          <a:srgbClr val="0000CC"/>
                                        </a:solidFill>
                                        <a:latin typeface="Cambria Math" panose="02040503050406030204" pitchFamily="18" charset="0"/>
                                      </a:rPr>
                                    </m:ctrlPr>
                                  </m:fPr>
                                  <m:num>
                                    <m:r>
                                      <a:rPr lang="zh-CN" altLang="en-US" sz="2800" i="1">
                                        <a:solidFill>
                                          <a:srgbClr val="0000CC"/>
                                        </a:solidFill>
                                        <a:latin typeface="Cambria Math"/>
                                      </a:rPr>
                                      <m:t>𝑛</m:t>
                                    </m:r>
                                    <m:nary>
                                      <m:naryPr>
                                        <m:chr m:val="∑"/>
                                        <m:grow m:val="on"/>
                                        <m:subHide m:val="on"/>
                                        <m:supHide m:val="on"/>
                                        <m:ctrlPr>
                                          <a:rPr lang="zh-CN" altLang="en-US" sz="2800" i="1">
                                            <a:solidFill>
                                              <a:srgbClr val="0000CC"/>
                                            </a:solidFill>
                                            <a:latin typeface="Cambria Math" panose="02040503050406030204" pitchFamily="18" charset="0"/>
                                          </a:rPr>
                                        </m:ctrlPr>
                                      </m:naryPr>
                                      <m:sub/>
                                      <m:sup/>
                                      <m:e>
                                        <m:sSub>
                                          <m:sSubPr>
                                            <m:ctrlPr>
                                              <a:rPr lang="zh-CN" altLang="en-US" sz="2800" i="1">
                                                <a:solidFill>
                                                  <a:srgbClr val="0000CC"/>
                                                </a:solidFill>
                                                <a:latin typeface="Cambria Math" panose="02040503050406030204" pitchFamily="18" charset="0"/>
                                              </a:rPr>
                                            </m:ctrlPr>
                                          </m:sSubPr>
                                          <m:e>
                                            <m:r>
                                              <a:rPr lang="zh-CN" altLang="en-US" sz="2800" i="1">
                                                <a:solidFill>
                                                  <a:srgbClr val="0000CC"/>
                                                </a:solidFill>
                                                <a:latin typeface="Cambria Math"/>
                                              </a:rPr>
                                              <m:t>𝑥</m:t>
                                            </m:r>
                                          </m:e>
                                          <m:sub>
                                            <m:r>
                                              <a:rPr lang="zh-CN" altLang="en-US" sz="2800" i="1">
                                                <a:solidFill>
                                                  <a:srgbClr val="0000CC"/>
                                                </a:solidFill>
                                                <a:latin typeface="Cambria Math"/>
                                              </a:rPr>
                                              <m:t>𝑖</m:t>
                                            </m:r>
                                          </m:sub>
                                        </m:sSub>
                                        <m:sSub>
                                          <m:sSubPr>
                                            <m:ctrlPr>
                                              <a:rPr lang="zh-CN" altLang="en-US" sz="2800" i="1">
                                                <a:solidFill>
                                                  <a:srgbClr val="0000CC"/>
                                                </a:solidFill>
                                                <a:latin typeface="Cambria Math" panose="02040503050406030204" pitchFamily="18" charset="0"/>
                                              </a:rPr>
                                            </m:ctrlPr>
                                          </m:sSubPr>
                                          <m:e>
                                            <m:r>
                                              <a:rPr lang="zh-CN" altLang="en-US" sz="2800" i="1">
                                                <a:solidFill>
                                                  <a:srgbClr val="0000CC"/>
                                                </a:solidFill>
                                                <a:latin typeface="Cambria Math"/>
                                              </a:rPr>
                                              <m:t>𝑦</m:t>
                                            </m:r>
                                          </m:e>
                                          <m:sub>
                                            <m:r>
                                              <a:rPr lang="zh-CN" altLang="en-US" sz="2800" i="1">
                                                <a:solidFill>
                                                  <a:srgbClr val="0000CC"/>
                                                </a:solidFill>
                                                <a:latin typeface="Cambria Math"/>
                                              </a:rPr>
                                              <m:t>𝑖</m:t>
                                            </m:r>
                                          </m:sub>
                                        </m:sSub>
                                      </m:e>
                                    </m:nary>
                                    <m:r>
                                      <a:rPr lang="zh-CN" altLang="en-US" sz="2800">
                                        <a:solidFill>
                                          <a:srgbClr val="0000CC"/>
                                        </a:solidFill>
                                        <a:latin typeface="Cambria Math"/>
                                      </a:rPr>
                                      <m:t>−</m:t>
                                    </m:r>
                                    <m:nary>
                                      <m:naryPr>
                                        <m:chr m:val="∑"/>
                                        <m:grow m:val="on"/>
                                        <m:subHide m:val="on"/>
                                        <m:supHide m:val="on"/>
                                        <m:ctrlPr>
                                          <a:rPr lang="zh-CN" altLang="en-US" sz="2800" i="1">
                                            <a:solidFill>
                                              <a:srgbClr val="0000CC"/>
                                            </a:solidFill>
                                            <a:latin typeface="Cambria Math" panose="02040503050406030204" pitchFamily="18" charset="0"/>
                                          </a:rPr>
                                        </m:ctrlPr>
                                      </m:naryPr>
                                      <m:sub/>
                                      <m:sup/>
                                      <m:e>
                                        <m:sSub>
                                          <m:sSubPr>
                                            <m:ctrlPr>
                                              <a:rPr lang="zh-CN" altLang="en-US" sz="2800" i="1">
                                                <a:solidFill>
                                                  <a:srgbClr val="0000CC"/>
                                                </a:solidFill>
                                                <a:latin typeface="Cambria Math" panose="02040503050406030204" pitchFamily="18" charset="0"/>
                                              </a:rPr>
                                            </m:ctrlPr>
                                          </m:sSubPr>
                                          <m:e>
                                            <m:r>
                                              <a:rPr lang="zh-CN" altLang="en-US" sz="2800" i="1">
                                                <a:solidFill>
                                                  <a:srgbClr val="0000CC"/>
                                                </a:solidFill>
                                                <a:latin typeface="Cambria Math"/>
                                              </a:rPr>
                                              <m:t>𝑥</m:t>
                                            </m:r>
                                          </m:e>
                                          <m:sub>
                                            <m:r>
                                              <a:rPr lang="zh-CN" altLang="en-US" sz="2800" i="1">
                                                <a:solidFill>
                                                  <a:srgbClr val="0000CC"/>
                                                </a:solidFill>
                                                <a:latin typeface="Cambria Math"/>
                                              </a:rPr>
                                              <m:t>𝑖</m:t>
                                            </m:r>
                                          </m:sub>
                                        </m:sSub>
                                      </m:e>
                                    </m:nary>
                                    <m:nary>
                                      <m:naryPr>
                                        <m:chr m:val="∑"/>
                                        <m:grow m:val="on"/>
                                        <m:subHide m:val="on"/>
                                        <m:supHide m:val="on"/>
                                        <m:ctrlPr>
                                          <a:rPr lang="zh-CN" altLang="en-US" sz="2800" i="1">
                                            <a:solidFill>
                                              <a:srgbClr val="0000CC"/>
                                            </a:solidFill>
                                            <a:latin typeface="Cambria Math" panose="02040503050406030204" pitchFamily="18" charset="0"/>
                                          </a:rPr>
                                        </m:ctrlPr>
                                      </m:naryPr>
                                      <m:sub/>
                                      <m:sup/>
                                      <m:e>
                                        <m:sSub>
                                          <m:sSubPr>
                                            <m:ctrlPr>
                                              <a:rPr lang="zh-CN" altLang="en-US" sz="2800" i="1">
                                                <a:solidFill>
                                                  <a:srgbClr val="0000CC"/>
                                                </a:solidFill>
                                                <a:latin typeface="Cambria Math" panose="02040503050406030204" pitchFamily="18" charset="0"/>
                                              </a:rPr>
                                            </m:ctrlPr>
                                          </m:sSubPr>
                                          <m:e>
                                            <m:r>
                                              <a:rPr lang="zh-CN" altLang="en-US" sz="2800" i="1">
                                                <a:solidFill>
                                                  <a:srgbClr val="0000CC"/>
                                                </a:solidFill>
                                                <a:latin typeface="Cambria Math"/>
                                              </a:rPr>
                                              <m:t>𝑦</m:t>
                                            </m:r>
                                          </m:e>
                                          <m:sub>
                                            <m:r>
                                              <a:rPr lang="zh-CN" altLang="en-US" sz="2800" i="1">
                                                <a:solidFill>
                                                  <a:srgbClr val="0000CC"/>
                                                </a:solidFill>
                                                <a:latin typeface="Cambria Math"/>
                                              </a:rPr>
                                              <m:t>𝑖</m:t>
                                            </m:r>
                                          </m:sub>
                                        </m:sSub>
                                      </m:e>
                                    </m:nary>
                                  </m:num>
                                  <m:den>
                                    <m:r>
                                      <a:rPr lang="zh-CN" altLang="en-US" sz="2800" i="1">
                                        <a:solidFill>
                                          <a:srgbClr val="0000CC"/>
                                        </a:solidFill>
                                        <a:latin typeface="Cambria Math"/>
                                      </a:rPr>
                                      <m:t>𝑛</m:t>
                                    </m:r>
                                    <m:nary>
                                      <m:naryPr>
                                        <m:chr m:val="∑"/>
                                        <m:grow m:val="on"/>
                                        <m:subHide m:val="on"/>
                                        <m:supHide m:val="on"/>
                                        <m:ctrlPr>
                                          <a:rPr lang="zh-CN" altLang="en-US" sz="2800" i="1">
                                            <a:solidFill>
                                              <a:srgbClr val="0000CC"/>
                                            </a:solidFill>
                                            <a:latin typeface="Cambria Math" panose="02040503050406030204" pitchFamily="18" charset="0"/>
                                          </a:rPr>
                                        </m:ctrlPr>
                                      </m:naryPr>
                                      <m:sub/>
                                      <m:sup/>
                                      <m:e>
                                        <m:sSubSup>
                                          <m:sSubSupPr>
                                            <m:ctrlPr>
                                              <a:rPr lang="zh-CN" altLang="en-US" sz="2800" i="1">
                                                <a:solidFill>
                                                  <a:srgbClr val="0000CC"/>
                                                </a:solidFill>
                                                <a:latin typeface="Cambria Math" panose="02040503050406030204" pitchFamily="18" charset="0"/>
                                              </a:rPr>
                                            </m:ctrlPr>
                                          </m:sSubSupPr>
                                          <m:e>
                                            <m:r>
                                              <a:rPr lang="zh-CN" altLang="en-US" sz="2800" i="1">
                                                <a:solidFill>
                                                  <a:srgbClr val="0000CC"/>
                                                </a:solidFill>
                                                <a:latin typeface="Cambria Math"/>
                                              </a:rPr>
                                              <m:t>𝑥</m:t>
                                            </m:r>
                                          </m:e>
                                          <m:sub>
                                            <m:r>
                                              <a:rPr lang="zh-CN" altLang="en-US" sz="2800" i="1">
                                                <a:solidFill>
                                                  <a:srgbClr val="0000CC"/>
                                                </a:solidFill>
                                                <a:latin typeface="Cambria Math"/>
                                              </a:rPr>
                                              <m:t>𝑖</m:t>
                                            </m:r>
                                          </m:sub>
                                          <m:sup>
                                            <m:r>
                                              <a:rPr lang="zh-CN" altLang="en-US" sz="2800">
                                                <a:solidFill>
                                                  <a:srgbClr val="0000CC"/>
                                                </a:solidFill>
                                                <a:latin typeface="Cambria Math"/>
                                              </a:rPr>
                                              <m:t>2</m:t>
                                            </m:r>
                                          </m:sup>
                                        </m:sSubSup>
                                      </m:e>
                                    </m:nary>
                                    <m:r>
                                      <a:rPr lang="zh-CN" altLang="en-US" sz="2800">
                                        <a:solidFill>
                                          <a:srgbClr val="0000CC"/>
                                        </a:solidFill>
                                        <a:latin typeface="Cambria Math"/>
                                      </a:rPr>
                                      <m:t>−</m:t>
                                    </m:r>
                                    <m:sSup>
                                      <m:sSupPr>
                                        <m:ctrlPr>
                                          <a:rPr lang="zh-CN" altLang="en-US" sz="2800" i="1">
                                            <a:solidFill>
                                              <a:srgbClr val="0000CC"/>
                                            </a:solidFill>
                                            <a:latin typeface="Cambria Math" panose="02040503050406030204" pitchFamily="18" charset="0"/>
                                          </a:rPr>
                                        </m:ctrlPr>
                                      </m:sSupPr>
                                      <m:e>
                                        <m:d>
                                          <m:dPr>
                                            <m:ctrlPr>
                                              <a:rPr lang="zh-CN" altLang="en-US" sz="2800" i="1">
                                                <a:solidFill>
                                                  <a:srgbClr val="0000CC"/>
                                                </a:solidFill>
                                                <a:latin typeface="Cambria Math" panose="02040503050406030204" pitchFamily="18" charset="0"/>
                                              </a:rPr>
                                            </m:ctrlPr>
                                          </m:dPr>
                                          <m:e>
                                            <m:nary>
                                              <m:naryPr>
                                                <m:chr m:val="∑"/>
                                                <m:grow m:val="on"/>
                                                <m:subHide m:val="on"/>
                                                <m:supHide m:val="on"/>
                                                <m:ctrlPr>
                                                  <a:rPr lang="zh-CN" altLang="en-US" sz="2800" i="1">
                                                    <a:solidFill>
                                                      <a:srgbClr val="0000CC"/>
                                                    </a:solidFill>
                                                    <a:latin typeface="Cambria Math" panose="02040503050406030204" pitchFamily="18" charset="0"/>
                                                  </a:rPr>
                                                </m:ctrlPr>
                                              </m:naryPr>
                                              <m:sub/>
                                              <m:sup/>
                                              <m:e>
                                                <m:sSub>
                                                  <m:sSubPr>
                                                    <m:ctrlPr>
                                                      <a:rPr lang="zh-CN" altLang="en-US" sz="2800" i="1">
                                                        <a:solidFill>
                                                          <a:srgbClr val="0000CC"/>
                                                        </a:solidFill>
                                                        <a:latin typeface="Cambria Math" panose="02040503050406030204" pitchFamily="18" charset="0"/>
                                                      </a:rPr>
                                                    </m:ctrlPr>
                                                  </m:sSubPr>
                                                  <m:e>
                                                    <m:r>
                                                      <a:rPr lang="zh-CN" altLang="en-US" sz="2800" i="1">
                                                        <a:solidFill>
                                                          <a:srgbClr val="0000CC"/>
                                                        </a:solidFill>
                                                        <a:latin typeface="Cambria Math"/>
                                                      </a:rPr>
                                                      <m:t>𝑥</m:t>
                                                    </m:r>
                                                  </m:e>
                                                  <m:sub>
                                                    <m:r>
                                                      <a:rPr lang="zh-CN" altLang="en-US" sz="2800" i="1">
                                                        <a:solidFill>
                                                          <a:srgbClr val="0000CC"/>
                                                        </a:solidFill>
                                                        <a:latin typeface="Cambria Math"/>
                                                      </a:rPr>
                                                      <m:t>𝑖</m:t>
                                                    </m:r>
                                                  </m:sub>
                                                </m:sSub>
                                              </m:e>
                                            </m:nary>
                                          </m:e>
                                        </m:d>
                                      </m:e>
                                      <m:sup>
                                        <m:r>
                                          <a:rPr lang="zh-CN" altLang="en-US" sz="2800">
                                            <a:solidFill>
                                              <a:srgbClr val="0000CC"/>
                                            </a:solidFill>
                                            <a:latin typeface="Cambria Math"/>
                                          </a:rPr>
                                          <m:t>2</m:t>
                                        </m:r>
                                      </m:sup>
                                    </m:sSup>
                                  </m:den>
                                </m:f>
                              </m:e>
                            </m:mr>
                            <m:mr>
                              <m:e>
                                <m:sSub>
                                  <m:sSubPr>
                                    <m:ctrlPr>
                                      <a:rPr lang="zh-CN" altLang="en-US" sz="2800" i="1">
                                        <a:solidFill>
                                          <a:srgbClr val="0000CC"/>
                                        </a:solidFill>
                                        <a:latin typeface="Cambria Math" panose="02040503050406030204" pitchFamily="18" charset="0"/>
                                      </a:rPr>
                                    </m:ctrlPr>
                                  </m:sSubPr>
                                  <m:e>
                                    <m:acc>
                                      <m:accPr>
                                        <m:chr m:val="̂"/>
                                        <m:ctrlPr>
                                          <a:rPr lang="zh-CN" altLang="en-US" sz="2800" i="1">
                                            <a:solidFill>
                                              <a:srgbClr val="0000CC"/>
                                            </a:solidFill>
                                            <a:latin typeface="Cambria Math" panose="02040503050406030204" pitchFamily="18" charset="0"/>
                                          </a:rPr>
                                        </m:ctrlPr>
                                      </m:accPr>
                                      <m:e>
                                        <m:r>
                                          <a:rPr lang="zh-CN" altLang="en-US" sz="2800" i="1">
                                            <a:solidFill>
                                              <a:srgbClr val="0000CC"/>
                                            </a:solidFill>
                                            <a:latin typeface="Cambria Math"/>
                                          </a:rPr>
                                          <m:t>𝛽</m:t>
                                        </m:r>
                                      </m:e>
                                    </m:acc>
                                  </m:e>
                                  <m:sub>
                                    <m:r>
                                      <a:rPr lang="zh-CN" altLang="en-US" sz="2800">
                                        <a:solidFill>
                                          <a:srgbClr val="0000CC"/>
                                        </a:solidFill>
                                        <a:latin typeface="Cambria Math"/>
                                      </a:rPr>
                                      <m:t>0</m:t>
                                    </m:r>
                                  </m:sub>
                                </m:sSub>
                                <m:r>
                                  <a:rPr lang="zh-CN" altLang="en-US" sz="2800">
                                    <a:solidFill>
                                      <a:srgbClr val="0000CC"/>
                                    </a:solidFill>
                                    <a:latin typeface="Cambria Math"/>
                                  </a:rPr>
                                  <m:t>=</m:t>
                                </m:r>
                                <m:acc>
                                  <m:accPr>
                                    <m:chr m:val="̅"/>
                                    <m:ctrlPr>
                                      <a:rPr lang="zh-CN" altLang="en-US" sz="2800" i="1">
                                        <a:solidFill>
                                          <a:srgbClr val="0000CC"/>
                                        </a:solidFill>
                                        <a:latin typeface="Cambria Math" panose="02040503050406030204" pitchFamily="18" charset="0"/>
                                      </a:rPr>
                                    </m:ctrlPr>
                                  </m:accPr>
                                  <m:e>
                                    <m:r>
                                      <a:rPr lang="zh-CN" altLang="en-US" sz="2800" i="1">
                                        <a:solidFill>
                                          <a:srgbClr val="0000CC"/>
                                        </a:solidFill>
                                        <a:latin typeface="Cambria Math"/>
                                      </a:rPr>
                                      <m:t>𝑦</m:t>
                                    </m:r>
                                  </m:e>
                                </m:acc>
                                <m:r>
                                  <a:rPr lang="zh-CN" altLang="en-US" sz="2800">
                                    <a:solidFill>
                                      <a:srgbClr val="0000CC"/>
                                    </a:solidFill>
                                    <a:latin typeface="Cambria Math"/>
                                  </a:rPr>
                                  <m:t>−</m:t>
                                </m:r>
                                <m:sSub>
                                  <m:sSubPr>
                                    <m:ctrlPr>
                                      <a:rPr lang="zh-CN" altLang="en-US" sz="2800" i="1">
                                        <a:solidFill>
                                          <a:srgbClr val="0000CC"/>
                                        </a:solidFill>
                                        <a:latin typeface="Cambria Math" panose="02040503050406030204" pitchFamily="18" charset="0"/>
                                      </a:rPr>
                                    </m:ctrlPr>
                                  </m:sSubPr>
                                  <m:e>
                                    <m:acc>
                                      <m:accPr>
                                        <m:chr m:val="̂"/>
                                        <m:ctrlPr>
                                          <a:rPr lang="zh-CN" altLang="en-US" sz="2800" i="1">
                                            <a:solidFill>
                                              <a:srgbClr val="0000CC"/>
                                            </a:solidFill>
                                            <a:latin typeface="Cambria Math" panose="02040503050406030204" pitchFamily="18" charset="0"/>
                                          </a:rPr>
                                        </m:ctrlPr>
                                      </m:accPr>
                                      <m:e>
                                        <m:r>
                                          <a:rPr lang="zh-CN" altLang="en-US" sz="2800" i="1">
                                            <a:solidFill>
                                              <a:srgbClr val="0000CC"/>
                                            </a:solidFill>
                                            <a:latin typeface="Cambria Math"/>
                                          </a:rPr>
                                          <m:t>𝛽</m:t>
                                        </m:r>
                                      </m:e>
                                    </m:acc>
                                  </m:e>
                                  <m:sub>
                                    <m:r>
                                      <a:rPr lang="zh-CN" altLang="en-US" sz="2800">
                                        <a:solidFill>
                                          <a:srgbClr val="0000CC"/>
                                        </a:solidFill>
                                        <a:latin typeface="Cambria Math"/>
                                      </a:rPr>
                                      <m:t>1</m:t>
                                    </m:r>
                                  </m:sub>
                                </m:sSub>
                                <m:acc>
                                  <m:accPr>
                                    <m:chr m:val="̅"/>
                                    <m:ctrlPr>
                                      <a:rPr lang="zh-CN" altLang="en-US" sz="2800" i="1">
                                        <a:solidFill>
                                          <a:srgbClr val="0000CC"/>
                                        </a:solidFill>
                                        <a:latin typeface="Cambria Math" panose="02040503050406030204" pitchFamily="18" charset="0"/>
                                      </a:rPr>
                                    </m:ctrlPr>
                                  </m:accPr>
                                  <m:e>
                                    <m:r>
                                      <a:rPr lang="zh-CN" altLang="en-US" sz="2800" i="1">
                                        <a:solidFill>
                                          <a:srgbClr val="0000CC"/>
                                        </a:solidFill>
                                        <a:latin typeface="Cambria Math"/>
                                      </a:rPr>
                                      <m:t>𝑥</m:t>
                                    </m:r>
                                  </m:e>
                                </m:acc>
                              </m:e>
                            </m:mr>
                          </m:m>
                        </m:e>
                      </m:d>
                    </m:oMath>
                  </m:oMathPara>
                </a14:m>
                <a:endParaRPr lang="zh-CN" altLang="en-US" sz="2800" dirty="0">
                  <a:solidFill>
                    <a:srgbClr val="C00000"/>
                  </a:solidFill>
                </a:endParaRPr>
              </a:p>
            </p:txBody>
          </p:sp>
        </mc:Choice>
        <mc:Fallback xmlns="">
          <p:sp>
            <p:nvSpPr>
              <p:cNvPr id="54" name="矩形 53"/>
              <p:cNvSpPr>
                <a:spLocks noRot="1" noChangeAspect="1" noMove="1" noResize="1" noEditPoints="1" noAdjustHandles="1" noChangeArrowheads="1" noChangeShapeType="1" noTextEdit="1"/>
              </p:cNvSpPr>
              <p:nvPr/>
            </p:nvSpPr>
            <p:spPr>
              <a:xfrm>
                <a:off x="2031590" y="3944249"/>
                <a:ext cx="4334007" cy="1687834"/>
              </a:xfrm>
              <a:prstGeom prst="rect">
                <a:avLst/>
              </a:prstGeom>
              <a:blipFill rotWithShape="1">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632506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2">
                                            <p:txEl>
                                              <p:pRg st="0" end="0"/>
                                            </p:txEl>
                                          </p:spTgt>
                                        </p:tgtEl>
                                        <p:attrNameLst>
                                          <p:attrName>style.visibility</p:attrName>
                                        </p:attrNameLst>
                                      </p:cBhvr>
                                      <p:to>
                                        <p:strVal val="visible"/>
                                      </p:to>
                                    </p:set>
                                    <p:animEffect transition="in" filter="barn(inVertical)">
                                      <p:cBhvr>
                                        <p:cTn id="7" dur="500"/>
                                        <p:tgtEl>
                                          <p:spTgt spid="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fade">
                                      <p:cBhvr>
                                        <p:cTn id="12" dur="1000"/>
                                        <p:tgtEl>
                                          <p:spTgt spid="53"/>
                                        </p:tgtEl>
                                      </p:cBhvr>
                                    </p:animEffect>
                                    <p:anim calcmode="lin" valueType="num">
                                      <p:cBhvr>
                                        <p:cTn id="13" dur="1000" fill="hold"/>
                                        <p:tgtEl>
                                          <p:spTgt spid="53"/>
                                        </p:tgtEl>
                                        <p:attrNameLst>
                                          <p:attrName>ppt_x</p:attrName>
                                        </p:attrNameLst>
                                      </p:cBhvr>
                                      <p:tavLst>
                                        <p:tav tm="0">
                                          <p:val>
                                            <p:strVal val="#ppt_x"/>
                                          </p:val>
                                        </p:tav>
                                        <p:tav tm="100000">
                                          <p:val>
                                            <p:strVal val="#ppt_x"/>
                                          </p:val>
                                        </p:tav>
                                      </p:tavLst>
                                    </p:anim>
                                    <p:anim calcmode="lin" valueType="num">
                                      <p:cBhvr>
                                        <p:cTn id="14"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barn(inVertical)">
                                      <p:cBhvr>
                                        <p:cTn id="19"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9233" name="矩形 1"/>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12" name="Text Box 21"/>
          <p:cNvSpPr txBox="1">
            <a:spLocks noChangeArrowheads="1"/>
          </p:cNvSpPr>
          <p:nvPr/>
        </p:nvSpPr>
        <p:spPr bwMode="auto">
          <a:xfrm>
            <a:off x="-54167" y="925527"/>
            <a:ext cx="74285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marL="457200" indent="-457200" eaLnBrk="1" hangingPunct="1">
              <a:spcBef>
                <a:spcPct val="50000"/>
              </a:spcBef>
              <a:buFont typeface="Wingdings" pitchFamily="2" charset="2"/>
              <a:buChar char="u"/>
            </a:pPr>
            <a:r>
              <a:rPr kumimoji="1" lang="zh-CN" altLang="en-US" b="1" dirty="0">
                <a:solidFill>
                  <a:srgbClr val="C00000"/>
                </a:solidFill>
                <a:latin typeface="微软雅黑" pitchFamily="34" charset="-122"/>
                <a:ea typeface="微软雅黑" pitchFamily="34" charset="-122"/>
              </a:rPr>
              <a:t>线性回归模型的求解结果</a:t>
            </a:r>
          </a:p>
        </p:txBody>
      </p:sp>
      <p:graphicFrame>
        <p:nvGraphicFramePr>
          <p:cNvPr id="8" name="图表 7"/>
          <p:cNvGraphicFramePr>
            <a:graphicFrameLocks/>
          </p:cNvGraphicFramePr>
          <p:nvPr>
            <p:extLst>
              <p:ext uri="{D42A27DB-BD31-4B8C-83A1-F6EECF244321}">
                <p14:modId xmlns:p14="http://schemas.microsoft.com/office/powerpoint/2010/main" val="4005034658"/>
              </p:ext>
            </p:extLst>
          </p:nvPr>
        </p:nvGraphicFramePr>
        <p:xfrm>
          <a:off x="4188643" y="1155296"/>
          <a:ext cx="4674958" cy="4418786"/>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a14="http://schemas.microsoft.com/office/drawing/2010/main">
        <mc:Choice Requires="a14">
          <p:sp>
            <p:nvSpPr>
              <p:cNvPr id="9" name="矩形 8"/>
              <p:cNvSpPr/>
              <p:nvPr/>
            </p:nvSpPr>
            <p:spPr>
              <a:xfrm>
                <a:off x="1038310" y="2168839"/>
                <a:ext cx="1892780" cy="91672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en-US" sz="2400" b="1" i="1" smtClean="0">
                              <a:solidFill>
                                <a:srgbClr val="0000CC"/>
                              </a:solidFill>
                              <a:latin typeface="Cambria Math" panose="02040503050406030204" pitchFamily="18" charset="0"/>
                            </a:rPr>
                          </m:ctrlPr>
                        </m:mPr>
                        <m:mr>
                          <m:e>
                            <m:sSub>
                              <m:sSubPr>
                                <m:ctrlPr>
                                  <a:rPr lang="zh-CN" altLang="en-US" sz="2400" b="1" i="1">
                                    <a:solidFill>
                                      <a:srgbClr val="0000CC"/>
                                    </a:solidFill>
                                    <a:latin typeface="Cambria Math" panose="02040503050406030204" pitchFamily="18" charset="0"/>
                                  </a:rPr>
                                </m:ctrlPr>
                              </m:sSubPr>
                              <m:e>
                                <m:acc>
                                  <m:accPr>
                                    <m:chr m:val="̂"/>
                                    <m:ctrlPr>
                                      <a:rPr lang="zh-CN" altLang="en-US" sz="2400" b="1" i="1">
                                        <a:solidFill>
                                          <a:srgbClr val="0000CC"/>
                                        </a:solidFill>
                                        <a:latin typeface="Cambria Math" panose="02040503050406030204" pitchFamily="18" charset="0"/>
                                      </a:rPr>
                                    </m:ctrlPr>
                                  </m:accPr>
                                  <m:e>
                                    <m:r>
                                      <a:rPr lang="zh-CN" altLang="en-US" sz="2400" b="1" i="1">
                                        <a:solidFill>
                                          <a:srgbClr val="0000CC"/>
                                        </a:solidFill>
                                        <a:latin typeface="Cambria Math"/>
                                      </a:rPr>
                                      <m:t>𝜷</m:t>
                                    </m:r>
                                  </m:e>
                                </m:acc>
                              </m:e>
                              <m:sub>
                                <m:r>
                                  <a:rPr lang="zh-CN" altLang="en-US" sz="2400" b="1" i="1">
                                    <a:solidFill>
                                      <a:srgbClr val="0000CC"/>
                                    </a:solidFill>
                                    <a:latin typeface="Cambria Math"/>
                                  </a:rPr>
                                  <m:t>𝟏</m:t>
                                </m:r>
                              </m:sub>
                            </m:sSub>
                            <m:r>
                              <a:rPr lang="zh-CN" altLang="en-US" sz="2400" b="1">
                                <a:solidFill>
                                  <a:srgbClr val="0000CC"/>
                                </a:solidFill>
                                <a:latin typeface="Cambria Math"/>
                              </a:rPr>
                              <m:t>=</m:t>
                            </m:r>
                            <m:r>
                              <a:rPr lang="zh-CN" altLang="en-US" sz="2400" b="1" i="1">
                                <a:solidFill>
                                  <a:srgbClr val="0000CC"/>
                                </a:solidFill>
                                <a:latin typeface="Cambria Math"/>
                              </a:rPr>
                              <m:t>𝟏𝟑</m:t>
                            </m:r>
                            <m:r>
                              <a:rPr lang="zh-CN" altLang="en-US" sz="2400" b="1">
                                <a:solidFill>
                                  <a:srgbClr val="0000CC"/>
                                </a:solidFill>
                                <a:latin typeface="Cambria Math"/>
                              </a:rPr>
                              <m:t>.</m:t>
                            </m:r>
                            <m:r>
                              <a:rPr lang="zh-CN" altLang="en-US" sz="2400" b="1" i="1">
                                <a:solidFill>
                                  <a:srgbClr val="0000CC"/>
                                </a:solidFill>
                                <a:latin typeface="Cambria Math"/>
                              </a:rPr>
                              <m:t>𝟕𝟔𝟗</m:t>
                            </m:r>
                            <m:r>
                              <a:rPr lang="en-US" altLang="zh-CN" sz="2400" b="1" i="1" smtClean="0">
                                <a:solidFill>
                                  <a:srgbClr val="0000CC"/>
                                </a:solidFill>
                                <a:latin typeface="Cambria Math"/>
                              </a:rPr>
                              <m:t>𝟏</m:t>
                            </m:r>
                          </m:e>
                        </m:mr>
                        <m:mr>
                          <m:e>
                            <m:sSub>
                              <m:sSubPr>
                                <m:ctrlPr>
                                  <a:rPr lang="zh-CN" altLang="en-US" sz="2400" b="1" i="1">
                                    <a:solidFill>
                                      <a:srgbClr val="0000CC"/>
                                    </a:solidFill>
                                    <a:latin typeface="Cambria Math" panose="02040503050406030204" pitchFamily="18" charset="0"/>
                                  </a:rPr>
                                </m:ctrlPr>
                              </m:sSubPr>
                              <m:e>
                                <m:acc>
                                  <m:accPr>
                                    <m:chr m:val="̂"/>
                                    <m:ctrlPr>
                                      <a:rPr lang="zh-CN" altLang="en-US" sz="2400" b="1" i="1">
                                        <a:solidFill>
                                          <a:srgbClr val="0000CC"/>
                                        </a:solidFill>
                                        <a:latin typeface="Cambria Math" panose="02040503050406030204" pitchFamily="18" charset="0"/>
                                      </a:rPr>
                                    </m:ctrlPr>
                                  </m:accPr>
                                  <m:e>
                                    <m:r>
                                      <a:rPr lang="zh-CN" altLang="en-US" sz="2400" b="1" i="1">
                                        <a:solidFill>
                                          <a:srgbClr val="0000CC"/>
                                        </a:solidFill>
                                        <a:latin typeface="Cambria Math"/>
                                      </a:rPr>
                                      <m:t>𝜷</m:t>
                                    </m:r>
                                  </m:e>
                                </m:acc>
                              </m:e>
                              <m:sub>
                                <m:r>
                                  <a:rPr lang="zh-CN" altLang="en-US" sz="2400" b="1" i="1">
                                    <a:solidFill>
                                      <a:srgbClr val="0000CC"/>
                                    </a:solidFill>
                                    <a:latin typeface="Cambria Math"/>
                                  </a:rPr>
                                  <m:t>𝟎</m:t>
                                </m:r>
                              </m:sub>
                            </m:sSub>
                            <m:r>
                              <a:rPr lang="zh-CN" altLang="en-US" sz="2400" b="1">
                                <a:solidFill>
                                  <a:srgbClr val="0000CC"/>
                                </a:solidFill>
                                <a:latin typeface="Cambria Math"/>
                              </a:rPr>
                              <m:t>=−</m:t>
                            </m:r>
                            <m:r>
                              <a:rPr lang="zh-CN" altLang="en-US" sz="2400" b="1" i="1">
                                <a:solidFill>
                                  <a:srgbClr val="0000CC"/>
                                </a:solidFill>
                                <a:latin typeface="Cambria Math"/>
                              </a:rPr>
                              <m:t>𝟎</m:t>
                            </m:r>
                            <m:r>
                              <a:rPr lang="zh-CN" altLang="en-US" sz="2400" b="1">
                                <a:solidFill>
                                  <a:srgbClr val="0000CC"/>
                                </a:solidFill>
                                <a:latin typeface="Cambria Math"/>
                              </a:rPr>
                              <m:t>.</m:t>
                            </m:r>
                            <m:r>
                              <a:rPr lang="zh-CN" altLang="en-US" sz="2400" b="1" i="1">
                                <a:solidFill>
                                  <a:srgbClr val="0000CC"/>
                                </a:solidFill>
                                <a:latin typeface="Cambria Math"/>
                              </a:rPr>
                              <m:t>𝟐𝟑</m:t>
                            </m:r>
                            <m:r>
                              <a:rPr lang="en-US" altLang="zh-CN" sz="2400" b="1" i="1" smtClean="0">
                                <a:solidFill>
                                  <a:srgbClr val="0000CC"/>
                                </a:solidFill>
                                <a:latin typeface="Cambria Math"/>
                              </a:rPr>
                              <m:t>𝟑𝟖</m:t>
                            </m:r>
                          </m:e>
                        </m:mr>
                      </m:m>
                    </m:oMath>
                  </m:oMathPara>
                </a14:m>
                <a:endParaRPr lang="zh-CN" altLang="en-US" sz="2400" b="1" dirty="0">
                  <a:latin typeface="Times New Roman" pitchFamily="18" charset="0"/>
                  <a:cs typeface="Times New Roman" pitchFamily="18" charset="0"/>
                </a:endParaRPr>
              </a:p>
            </p:txBody>
          </p:sp>
        </mc:Choice>
        <mc:Fallback xmlns="">
          <p:sp>
            <p:nvSpPr>
              <p:cNvPr id="9" name="矩形 8"/>
              <p:cNvSpPr>
                <a:spLocks noRot="1" noChangeAspect="1" noMove="1" noResize="1" noEditPoints="1" noAdjustHandles="1" noChangeArrowheads="1" noChangeShapeType="1" noTextEdit="1"/>
              </p:cNvSpPr>
              <p:nvPr/>
            </p:nvSpPr>
            <p:spPr>
              <a:xfrm>
                <a:off x="1038310" y="2168839"/>
                <a:ext cx="1892780" cy="916726"/>
              </a:xfrm>
              <a:prstGeom prst="rect">
                <a:avLst/>
              </a:prstGeom>
              <a:blipFill rotWithShape="1">
                <a:blip r:embed="rId3"/>
                <a:stretch>
                  <a:fillRect r="-96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470672" y="4613035"/>
                <a:ext cx="426854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800" i="1" smtClean="0">
                              <a:solidFill>
                                <a:srgbClr val="C00000"/>
                              </a:solidFill>
                              <a:latin typeface="Cambria Math" panose="02040503050406030204" pitchFamily="18" charset="0"/>
                            </a:rPr>
                          </m:ctrlPr>
                        </m:accPr>
                        <m:e>
                          <m:r>
                            <a:rPr lang="zh-CN" altLang="en-US" sz="2800" i="1">
                              <a:solidFill>
                                <a:srgbClr val="C00000"/>
                              </a:solidFill>
                              <a:latin typeface="Cambria Math"/>
                            </a:rPr>
                            <m:t>𝑦</m:t>
                          </m:r>
                        </m:e>
                      </m:acc>
                      <m:r>
                        <a:rPr lang="zh-CN" altLang="en-US" sz="2800">
                          <a:solidFill>
                            <a:srgbClr val="C00000"/>
                          </a:solidFill>
                          <a:latin typeface="Cambria Math"/>
                        </a:rPr>
                        <m:t>=</m:t>
                      </m:r>
                      <m:r>
                        <a:rPr lang="en-US" altLang="zh-CN" sz="2800" b="0" i="1" smtClean="0">
                          <a:solidFill>
                            <a:srgbClr val="C00000"/>
                          </a:solidFill>
                          <a:latin typeface="Cambria Math"/>
                        </a:rPr>
                        <m:t>−0.23</m:t>
                      </m:r>
                      <m:r>
                        <a:rPr lang="en-US" altLang="zh-CN" sz="2800" b="0" i="0" smtClean="0">
                          <a:solidFill>
                            <a:srgbClr val="C00000"/>
                          </a:solidFill>
                          <a:latin typeface="Cambria Math"/>
                        </a:rPr>
                        <m:t>38</m:t>
                      </m:r>
                      <m:r>
                        <a:rPr lang="zh-CN" altLang="en-US" sz="2800">
                          <a:solidFill>
                            <a:srgbClr val="C00000"/>
                          </a:solidFill>
                          <a:latin typeface="Cambria Math"/>
                        </a:rPr>
                        <m:t>+</m:t>
                      </m:r>
                      <m:r>
                        <a:rPr lang="en-US" altLang="zh-CN" sz="2800" b="0" i="1" smtClean="0">
                          <a:solidFill>
                            <a:srgbClr val="C00000"/>
                          </a:solidFill>
                          <a:latin typeface="Cambria Math"/>
                        </a:rPr>
                        <m:t>13.7691</m:t>
                      </m:r>
                      <m:r>
                        <a:rPr lang="zh-CN" altLang="en-US" sz="2800" i="1">
                          <a:solidFill>
                            <a:srgbClr val="C00000"/>
                          </a:solidFill>
                          <a:latin typeface="Cambria Math"/>
                        </a:rPr>
                        <m:t>𝑥</m:t>
                      </m:r>
                    </m:oMath>
                  </m:oMathPara>
                </a14:m>
                <a:endParaRPr lang="zh-CN" altLang="en-US" sz="2800" dirty="0"/>
              </a:p>
            </p:txBody>
          </p:sp>
        </mc:Choice>
        <mc:Fallback xmlns="">
          <p:sp>
            <p:nvSpPr>
              <p:cNvPr id="11" name="矩形 10"/>
              <p:cNvSpPr>
                <a:spLocks noRot="1" noChangeAspect="1" noMove="1" noResize="1" noEditPoints="1" noAdjustHandles="1" noChangeArrowheads="1" noChangeShapeType="1" noTextEdit="1"/>
              </p:cNvSpPr>
              <p:nvPr/>
            </p:nvSpPr>
            <p:spPr>
              <a:xfrm>
                <a:off x="470672" y="4613035"/>
                <a:ext cx="4268541" cy="523220"/>
              </a:xfrm>
              <a:prstGeom prst="rect">
                <a:avLst/>
              </a:prstGeom>
              <a:blipFill rotWithShape="1">
                <a:blip r:embed="rId4"/>
                <a:stretch>
                  <a:fillRect/>
                </a:stretch>
              </a:blipFill>
            </p:spPr>
            <p:txBody>
              <a:bodyPr/>
              <a:lstStyle/>
              <a:p>
                <a:r>
                  <a:rPr lang="zh-CN" altLang="en-US">
                    <a:noFill/>
                  </a:rPr>
                  <a:t> </a:t>
                </a:r>
              </a:p>
            </p:txBody>
          </p:sp>
        </mc:Fallback>
      </mc:AlternateContent>
      <p:sp>
        <p:nvSpPr>
          <p:cNvPr id="13" name="矩形 12"/>
          <p:cNvSpPr/>
          <p:nvPr/>
        </p:nvSpPr>
        <p:spPr>
          <a:xfrm>
            <a:off x="285604" y="3746270"/>
            <a:ext cx="3877985" cy="461665"/>
          </a:xfrm>
          <a:prstGeom prst="rect">
            <a:avLst/>
          </a:prstGeom>
        </p:spPr>
        <p:txBody>
          <a:bodyPr wrap="none">
            <a:spAutoFit/>
          </a:bodyPr>
          <a:lstStyle/>
          <a:p>
            <a:r>
              <a:rPr lang="zh-CN" altLang="en-US" sz="2400" dirty="0">
                <a:latin typeface="微软雅黑" pitchFamily="34" charset="-122"/>
                <a:ea typeface="微软雅黑" pitchFamily="34" charset="-122"/>
              </a:rPr>
              <a:t>即估计的回归直线方程为：</a:t>
            </a:r>
          </a:p>
        </p:txBody>
      </p:sp>
      <p:sp>
        <p:nvSpPr>
          <p:cNvPr id="14" name="矩形 13"/>
          <p:cNvSpPr/>
          <p:nvPr/>
        </p:nvSpPr>
        <p:spPr>
          <a:xfrm>
            <a:off x="285604" y="5476284"/>
            <a:ext cx="7247497" cy="1200329"/>
          </a:xfrm>
          <a:prstGeom prst="rect">
            <a:avLst/>
          </a:prstGeom>
        </p:spPr>
        <p:txBody>
          <a:bodyPr wrap="none">
            <a:spAutoFit/>
          </a:bodyPr>
          <a:lstStyle/>
          <a:p>
            <a:pPr marL="457200" indent="-457200">
              <a:buAutoNum type="arabicPeriod"/>
            </a:pPr>
            <a:r>
              <a:rPr lang="zh-CN" altLang="en-US" sz="2400" dirty="0">
                <a:solidFill>
                  <a:srgbClr val="003366"/>
                </a:solidFill>
                <a:latin typeface="Times New Roman" pitchFamily="18" charset="0"/>
                <a:ea typeface="微软雅黑" pitchFamily="34" charset="-122"/>
                <a:cs typeface="Times New Roman" pitchFamily="18" charset="0"/>
              </a:rPr>
              <a:t>回归系数表示广告支出每增加</a:t>
            </a:r>
            <a:r>
              <a:rPr lang="en-US" altLang="zh-CN" sz="2400" dirty="0">
                <a:solidFill>
                  <a:srgbClr val="003366"/>
                </a:solidFill>
                <a:latin typeface="Times New Roman" pitchFamily="18" charset="0"/>
                <a:ea typeface="微软雅黑" pitchFamily="34" charset="-122"/>
                <a:cs typeface="Times New Roman" pitchFamily="18" charset="0"/>
              </a:rPr>
              <a:t>1</a:t>
            </a:r>
            <a:r>
              <a:rPr lang="zh-CN" altLang="en-US" sz="2400" dirty="0">
                <a:solidFill>
                  <a:srgbClr val="003366"/>
                </a:solidFill>
                <a:latin typeface="Times New Roman" pitchFamily="18" charset="0"/>
                <a:ea typeface="微软雅黑" pitchFamily="34" charset="-122"/>
                <a:cs typeface="Times New Roman" pitchFamily="18" charset="0"/>
              </a:rPr>
              <a:t>万元，</a:t>
            </a:r>
            <a:endParaRPr lang="en-US" altLang="zh-CN" sz="2400" dirty="0">
              <a:solidFill>
                <a:srgbClr val="003366"/>
              </a:solidFill>
              <a:latin typeface="Times New Roman" pitchFamily="18" charset="0"/>
              <a:ea typeface="微软雅黑" pitchFamily="34" charset="-122"/>
              <a:cs typeface="Times New Roman" pitchFamily="18" charset="0"/>
            </a:endParaRPr>
          </a:p>
          <a:p>
            <a:r>
              <a:rPr lang="zh-CN" altLang="en-US" sz="2400" dirty="0">
                <a:solidFill>
                  <a:srgbClr val="003366"/>
                </a:solidFill>
                <a:latin typeface="Times New Roman" pitchFamily="18" charset="0"/>
                <a:ea typeface="微软雅黑" pitchFamily="34" charset="-122"/>
                <a:cs typeface="Times New Roman" pitchFamily="18" charset="0"/>
              </a:rPr>
              <a:t>     则销售收入平均增长</a:t>
            </a:r>
            <a:r>
              <a:rPr lang="en-US" altLang="zh-CN" sz="2400" dirty="0">
                <a:solidFill>
                  <a:srgbClr val="003366"/>
                </a:solidFill>
                <a:latin typeface="Times New Roman" pitchFamily="18" charset="0"/>
                <a:ea typeface="微软雅黑" pitchFamily="34" charset="-122"/>
                <a:cs typeface="Times New Roman" pitchFamily="18" charset="0"/>
              </a:rPr>
              <a:t>13.7691</a:t>
            </a:r>
            <a:r>
              <a:rPr lang="zh-CN" altLang="en-US" sz="2400" dirty="0">
                <a:solidFill>
                  <a:srgbClr val="003366"/>
                </a:solidFill>
                <a:latin typeface="Times New Roman" pitchFamily="18" charset="0"/>
                <a:ea typeface="微软雅黑" pitchFamily="34" charset="-122"/>
                <a:cs typeface="Times New Roman" pitchFamily="18" charset="0"/>
              </a:rPr>
              <a:t>万元</a:t>
            </a:r>
            <a:r>
              <a:rPr lang="zh-CN" altLang="en-US" sz="2400" dirty="0">
                <a:solidFill>
                  <a:srgbClr val="0000CC"/>
                </a:solidFill>
                <a:latin typeface="微软雅黑" pitchFamily="34" charset="-122"/>
                <a:ea typeface="微软雅黑" pitchFamily="34" charset="-122"/>
              </a:rPr>
              <a:t>。</a:t>
            </a:r>
            <a:endParaRPr lang="en-US" altLang="zh-CN" sz="2400" dirty="0">
              <a:solidFill>
                <a:srgbClr val="0000CC"/>
              </a:solidFill>
              <a:latin typeface="微软雅黑" pitchFamily="34" charset="-122"/>
              <a:ea typeface="微软雅黑" pitchFamily="34" charset="-122"/>
            </a:endParaRPr>
          </a:p>
          <a:p>
            <a:r>
              <a:rPr lang="en-US" altLang="zh-CN" sz="2400" dirty="0">
                <a:solidFill>
                  <a:srgbClr val="003366"/>
                </a:solidFill>
                <a:latin typeface="Times New Roman" pitchFamily="18" charset="0"/>
                <a:ea typeface="微软雅黑" pitchFamily="34" charset="-122"/>
                <a:cs typeface="Times New Roman" pitchFamily="18" charset="0"/>
              </a:rPr>
              <a:t>2.   </a:t>
            </a:r>
            <a:r>
              <a:rPr lang="zh-CN" altLang="en-US" sz="2400" dirty="0">
                <a:solidFill>
                  <a:srgbClr val="003366"/>
                </a:solidFill>
                <a:latin typeface="Times New Roman" pitchFamily="18" charset="0"/>
                <a:ea typeface="微软雅黑" pitchFamily="34" charset="-122"/>
                <a:cs typeface="Times New Roman" pitchFamily="18" charset="0"/>
              </a:rPr>
              <a:t>当</a:t>
            </a:r>
            <a:r>
              <a:rPr lang="en-US" altLang="zh-CN" sz="2400" dirty="0">
                <a:solidFill>
                  <a:srgbClr val="003366"/>
                </a:solidFill>
                <a:latin typeface="Times New Roman" pitchFamily="18" charset="0"/>
                <a:ea typeface="微软雅黑" pitchFamily="34" charset="-122"/>
                <a:cs typeface="Times New Roman" pitchFamily="18" charset="0"/>
              </a:rPr>
              <a:t>x=30</a:t>
            </a:r>
            <a:r>
              <a:rPr lang="zh-CN" altLang="en-US" sz="2400" dirty="0">
                <a:solidFill>
                  <a:srgbClr val="003366"/>
                </a:solidFill>
                <a:latin typeface="Times New Roman" pitchFamily="18" charset="0"/>
                <a:ea typeface="微软雅黑" pitchFamily="34" charset="-122"/>
                <a:cs typeface="Times New Roman" pitchFamily="18" charset="0"/>
              </a:rPr>
              <a:t>， 平均销售收入估计值为 </a:t>
            </a:r>
            <a:r>
              <a:rPr lang="en-US" altLang="zh-CN" sz="2400" dirty="0">
                <a:solidFill>
                  <a:srgbClr val="003366"/>
                </a:solidFill>
                <a:latin typeface="Times New Roman" pitchFamily="18" charset="0"/>
                <a:ea typeface="微软雅黑" pitchFamily="34" charset="-122"/>
                <a:cs typeface="Times New Roman" pitchFamily="18" charset="0"/>
              </a:rPr>
              <a:t>412.8392</a:t>
            </a:r>
            <a:r>
              <a:rPr lang="zh-CN" altLang="en-US" sz="2400" dirty="0">
                <a:solidFill>
                  <a:srgbClr val="003366"/>
                </a:solidFill>
                <a:latin typeface="Times New Roman" pitchFamily="18" charset="0"/>
                <a:ea typeface="微软雅黑" pitchFamily="34" charset="-122"/>
                <a:cs typeface="Times New Roman" pitchFamily="18" charset="0"/>
              </a:rPr>
              <a:t>万元</a:t>
            </a:r>
            <a:r>
              <a:rPr lang="zh-CN" altLang="en-US" sz="2400" dirty="0">
                <a:solidFill>
                  <a:srgbClr val="0000CC"/>
                </a:solidFill>
                <a:latin typeface="微软雅黑" pitchFamily="34" charset="-122"/>
                <a:ea typeface="微软雅黑" pitchFamily="34" charset="-122"/>
              </a:rPr>
              <a:t>。</a:t>
            </a:r>
            <a:r>
              <a:rPr lang="en-US" altLang="zh-CN" sz="2400" dirty="0">
                <a:solidFill>
                  <a:srgbClr val="0000CC"/>
                </a:solidFill>
                <a:latin typeface="微软雅黑" pitchFamily="34" charset="-122"/>
                <a:ea typeface="微软雅黑" pitchFamily="34" charset="-122"/>
              </a:rPr>
              <a:t> </a:t>
            </a:r>
            <a:endParaRPr lang="zh-CN" altLang="en-US" sz="2400" dirty="0">
              <a:solidFill>
                <a:srgbClr val="0000CC"/>
              </a:solidFill>
              <a:latin typeface="微软雅黑" pitchFamily="34" charset="-122"/>
              <a:ea typeface="微软雅黑" pitchFamily="34" charset="-122"/>
            </a:endParaRPr>
          </a:p>
        </p:txBody>
      </p:sp>
    </p:spTree>
    <p:extLst>
      <p:ext uri="{BB962C8B-B14F-4D97-AF65-F5344CB8AC3E}">
        <p14:creationId xmlns:p14="http://schemas.microsoft.com/office/powerpoint/2010/main" val="40866495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Vertical)">
                                      <p:cBhvr>
                                        <p:cTn id="12" dur="500"/>
                                        <p:tgtEl>
                                          <p:spTgt spid="11"/>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arn(inVertical)">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arn(inVertical)">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1000"/>
                                        <p:tgtEl>
                                          <p:spTgt spid="14"/>
                                        </p:tgtEl>
                                      </p:cBhvr>
                                    </p:animEffect>
                                    <p:anim calcmode="lin" valueType="num">
                                      <p:cBhvr>
                                        <p:cTn id="26" dur="1000" fill="hold"/>
                                        <p:tgtEl>
                                          <p:spTgt spid="14"/>
                                        </p:tgtEl>
                                        <p:attrNameLst>
                                          <p:attrName>ppt_x</p:attrName>
                                        </p:attrNameLst>
                                      </p:cBhvr>
                                      <p:tavLst>
                                        <p:tav tm="0">
                                          <p:val>
                                            <p:strVal val="#ppt_x"/>
                                          </p:val>
                                        </p:tav>
                                        <p:tav tm="100000">
                                          <p:val>
                                            <p:strVal val="#ppt_x"/>
                                          </p:val>
                                        </p:tav>
                                      </p:tavLst>
                                    </p:anim>
                                    <p:anim calcmode="lin" valueType="num">
                                      <p:cBhvr>
                                        <p:cTn id="27"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P spid="9" grpId="0"/>
      <p:bldP spid="11" grpId="0"/>
      <p:bldP spid="13"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1">
            <a:extLst>
              <a:ext uri="{FF2B5EF4-FFF2-40B4-BE49-F238E27FC236}">
                <a16:creationId xmlns:a16="http://schemas.microsoft.com/office/drawing/2014/main" id="{3749791A-2807-4453-5EA7-AADDE8E333C6}"/>
              </a:ext>
            </a:extLst>
          </p:cNvPr>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10" name="文本框 9" descr="7b0a202020202262756c6c6574223a20227b5c2263617465676f727949645c223a31303030352c5c2274656d706c61746549645c223a32303233313332387d220a7d0a">
            <a:extLst>
              <a:ext uri="{FF2B5EF4-FFF2-40B4-BE49-F238E27FC236}">
                <a16:creationId xmlns:a16="http://schemas.microsoft.com/office/drawing/2014/main" id="{EEC297D8-30CF-2467-352E-2BA287564655}"/>
              </a:ext>
            </a:extLst>
          </p:cNvPr>
          <p:cNvSpPr txBox="1"/>
          <p:nvPr>
            <p:custDataLst>
              <p:tags r:id="rId1"/>
            </p:custDataLst>
          </p:nvPr>
        </p:nvSpPr>
        <p:spPr>
          <a:xfrm>
            <a:off x="71425" y="1088701"/>
            <a:ext cx="8161349" cy="581057"/>
          </a:xfrm>
          <a:prstGeom prst="rect">
            <a:avLst/>
          </a:prstGeom>
          <a:noFill/>
        </p:spPr>
        <p:txBody>
          <a:bodyPr wrap="square" rtlCol="0">
            <a:spAutoFit/>
          </a:bodyPr>
          <a:lstStyle/>
          <a:p>
            <a:pPr indent="0" fontAlgn="auto">
              <a:lnSpc>
                <a:spcPct val="150000"/>
              </a:lnSpc>
              <a:buSzPct val="200000"/>
              <a:buBlip>
                <a:blip r:embed="rId3"/>
              </a:buBlip>
            </a:pPr>
            <a:r>
              <a:rPr lang="zh-CN" altLang="en-US" sz="2400" b="1" dirty="0">
                <a:solidFill>
                  <a:srgbClr val="0F65E6"/>
                </a:solidFill>
                <a:latin typeface="微软雅黑" panose="020B0503020204020204" charset="-122"/>
                <a:ea typeface="微软雅黑" panose="020B0503020204020204" charset="-122"/>
              </a:rPr>
              <a:t>多元回归模型与回归方程</a:t>
            </a:r>
            <a:r>
              <a:rPr lang="en-US" altLang="zh-CN" sz="2400" b="1" dirty="0">
                <a:solidFill>
                  <a:srgbClr val="0F65E6"/>
                </a:solidFill>
                <a:latin typeface="微软雅黑" panose="020B0503020204020204" charset="-122"/>
                <a:ea typeface="微软雅黑" panose="020B0503020204020204" charset="-122"/>
              </a:rPr>
              <a:t>——</a:t>
            </a:r>
            <a:r>
              <a:rPr lang="zh-CN" altLang="en-US" sz="2400" b="1" dirty="0">
                <a:solidFill>
                  <a:srgbClr val="0F65E6"/>
                </a:solidFill>
                <a:latin typeface="微软雅黑" panose="020B0503020204020204" charset="-122"/>
                <a:ea typeface="微软雅黑" panose="020B0503020204020204" charset="-122"/>
              </a:rPr>
              <a:t>多元线性回归模型</a:t>
            </a:r>
          </a:p>
        </p:txBody>
      </p:sp>
      <mc:AlternateContent xmlns:mc="http://schemas.openxmlformats.org/markup-compatibility/2006">
        <mc:Choice xmlns:a14="http://schemas.microsoft.com/office/drawing/2010/main" Requires="a14">
          <p:sp>
            <p:nvSpPr>
              <p:cNvPr id="11" name="Content Placeholder 8">
                <a:extLst>
                  <a:ext uri="{FF2B5EF4-FFF2-40B4-BE49-F238E27FC236}">
                    <a16:creationId xmlns:a16="http://schemas.microsoft.com/office/drawing/2014/main" id="{0104F92F-03E5-E2FF-1930-4BB2313B07EE}"/>
                  </a:ext>
                </a:extLst>
              </p:cNvPr>
              <p:cNvSpPr txBox="1"/>
              <p:nvPr/>
            </p:nvSpPr>
            <p:spPr>
              <a:xfrm>
                <a:off x="551384" y="1556792"/>
                <a:ext cx="7981122" cy="4680520"/>
              </a:xfrm>
              <a:prstGeom prst="rect">
                <a:avLst/>
              </a:prstGeom>
              <a:ln w="12700" cmpd="dbl">
                <a:solidFill>
                  <a:schemeClr val="accent1"/>
                </a:solidFill>
              </a:ln>
            </p:spPr>
            <p:txBody>
              <a:bodyPr>
                <a:normAutofit fontScale="95000" lnSpcReduction="1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思源黑体 CN Heavy" panose="020B0A00000000000000"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思源黑体 CN Heavy" panose="020B0A00000000000000"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思源黑体 CN Heavy" panose="020B0A00000000000000"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思源黑体 CN Heavy" panose="020B0A00000000000000"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思源黑体 CN Heavy" panose="020B0A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Clr>
                    <a:srgbClr val="318AAD"/>
                  </a:buClr>
                  <a:buSzPct val="100000"/>
                  <a:buFont typeface="Arial" panose="020B0604020202020204" pitchFamily="34" charset="0"/>
                  <a:buNone/>
                  <a:defRPr/>
                </a:pPr>
                <a:r>
                  <a:rPr lang="zh-CN" altLang="en-US" b="1" dirty="0">
                    <a:solidFill>
                      <a:srgbClr val="FF0000"/>
                    </a:solidFill>
                    <a:latin typeface="Times New Roman" panose="02020603050405020304" charset="0"/>
                    <a:ea typeface="微软雅黑" panose="020B0503020204020204" charset="-122"/>
                    <a:cs typeface="Times New Roman" panose="02020603050405020304" charset="0"/>
                  </a:rPr>
                  <a:t>多元回归模型</a:t>
                </a:r>
                <a:endParaRPr lang="en-US" altLang="zh-CN" b="1" dirty="0">
                  <a:solidFill>
                    <a:srgbClr val="FF0000"/>
                  </a:solidFill>
                  <a:latin typeface="Times New Roman" panose="02020603050405020304" charset="0"/>
                  <a:ea typeface="微软雅黑" panose="020B0503020204020204" charset="-122"/>
                  <a:cs typeface="Times New Roman" panose="02020603050405020304" charset="0"/>
                </a:endParaRPr>
              </a:p>
              <a:p>
                <a:pPr marL="447675" indent="-447675" algn="just">
                  <a:lnSpc>
                    <a:spcPct val="120000"/>
                  </a:lnSpc>
                  <a:buClr>
                    <a:srgbClr val="318AAD"/>
                  </a:buClr>
                  <a:buSzPct val="100000"/>
                  <a:buFont typeface="Wingdings" panose="05000000000000000000" pitchFamily="2" charset="2"/>
                  <a:buChar char="l"/>
                  <a:defRPr/>
                </a:pP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rPr>
                  <a:t>一个因变量与两个及两个以上自变量的回归</a:t>
                </a:r>
                <a:endParaRPr lang="en-US" altLang="zh-CN" sz="2100" dirty="0">
                  <a:solidFill>
                    <a:schemeClr val="tx1"/>
                  </a:solidFill>
                  <a:latin typeface="Times New Roman" panose="02020603050405020304" charset="0"/>
                  <a:ea typeface="微软雅黑" panose="020B0503020204020204" charset="-122"/>
                  <a:cs typeface="Times New Roman" panose="02020603050405020304" charset="0"/>
                </a:endParaRPr>
              </a:p>
              <a:p>
                <a:pPr marL="447675" indent="-447675" algn="just">
                  <a:lnSpc>
                    <a:spcPct val="120000"/>
                  </a:lnSpc>
                  <a:buClr>
                    <a:srgbClr val="318AAD"/>
                  </a:buClr>
                  <a:buSzPct val="100000"/>
                  <a:buFont typeface="Wingdings" panose="05000000000000000000" pitchFamily="2" charset="2"/>
                  <a:buChar char="l"/>
                  <a:defRPr/>
                </a:pP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rPr>
                  <a:t>描述因变量 </a:t>
                </a:r>
                <a:r>
                  <a:rPr lang="en-US" altLang="zh-CN" sz="2100" i="1" dirty="0">
                    <a:solidFill>
                      <a:schemeClr val="tx1"/>
                    </a:solidFill>
                    <a:latin typeface="Times New Roman" panose="02020603050405020304" charset="0"/>
                    <a:ea typeface="微软雅黑" panose="020B0503020204020204" charset="-122"/>
                    <a:cs typeface="Times New Roman" panose="02020603050405020304" charset="0"/>
                  </a:rPr>
                  <a:t>y </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rPr>
                  <a:t>如何依赖于自变量 </a:t>
                </a:r>
                <a:r>
                  <a:rPr lang="en-US" altLang="zh-CN" sz="2100" i="1" dirty="0">
                    <a:solidFill>
                      <a:schemeClr val="tx1"/>
                    </a:solidFill>
                    <a:latin typeface="Times New Roman" panose="02020603050405020304" charset="0"/>
                    <a:ea typeface="微软雅黑" panose="020B0503020204020204" charset="-122"/>
                    <a:cs typeface="Times New Roman" panose="02020603050405020304" charset="0"/>
                  </a:rPr>
                  <a:t>x</a:t>
                </a:r>
                <a:r>
                  <a:rPr lang="en-US" altLang="zh-CN" sz="2100" baseline="-25000" dirty="0">
                    <a:solidFill>
                      <a:schemeClr val="tx1"/>
                    </a:solidFill>
                    <a:latin typeface="Times New Roman" panose="02020603050405020304" charset="0"/>
                    <a:ea typeface="微软雅黑" panose="020B0503020204020204" charset="-122"/>
                    <a:cs typeface="Times New Roman" panose="02020603050405020304" charset="0"/>
                  </a:rPr>
                  <a:t>1</a:t>
                </a:r>
                <a:r>
                  <a:rPr lang="en-US" altLang="zh-CN" sz="2100" i="1" dirty="0">
                    <a:solidFill>
                      <a:schemeClr val="tx1"/>
                    </a:solidFill>
                    <a:latin typeface="Times New Roman" panose="02020603050405020304" charset="0"/>
                    <a:ea typeface="微软雅黑" panose="020B0503020204020204" charset="-122"/>
                    <a:cs typeface="Times New Roman" panose="02020603050405020304" charset="0"/>
                  </a:rPr>
                  <a:t> </a:t>
                </a:r>
                <a:r>
                  <a:rPr lang="zh-CN" altLang="en-US" sz="2100" i="1" dirty="0">
                    <a:solidFill>
                      <a:schemeClr val="tx1"/>
                    </a:solidFill>
                    <a:latin typeface="Times New Roman" panose="02020603050405020304" charset="0"/>
                    <a:ea typeface="微软雅黑" panose="020B0503020204020204" charset="-122"/>
                    <a:cs typeface="Times New Roman" panose="02020603050405020304" charset="0"/>
                  </a:rPr>
                  <a:t>， </a:t>
                </a:r>
                <a:r>
                  <a:rPr lang="en-US" altLang="zh-CN" sz="2100" i="1" dirty="0">
                    <a:solidFill>
                      <a:schemeClr val="tx1"/>
                    </a:solidFill>
                    <a:latin typeface="Times New Roman" panose="02020603050405020304" charset="0"/>
                    <a:ea typeface="微软雅黑" panose="020B0503020204020204" charset="-122"/>
                    <a:cs typeface="Times New Roman" panose="02020603050405020304" charset="0"/>
                  </a:rPr>
                  <a:t>x</a:t>
                </a:r>
                <a:r>
                  <a:rPr lang="en-US" altLang="zh-CN" sz="2100" baseline="-25000" dirty="0">
                    <a:solidFill>
                      <a:schemeClr val="tx1"/>
                    </a:solidFill>
                    <a:latin typeface="Times New Roman" panose="02020603050405020304" charset="0"/>
                    <a:ea typeface="微软雅黑" panose="020B0503020204020204" charset="-122"/>
                    <a:cs typeface="Times New Roman" panose="02020603050405020304" charset="0"/>
                  </a:rPr>
                  <a:t>2</a:t>
                </a:r>
                <a:r>
                  <a:rPr lang="en-US" altLang="zh-CN" sz="2100" i="1" dirty="0">
                    <a:solidFill>
                      <a:schemeClr val="tx1"/>
                    </a:solidFill>
                    <a:latin typeface="Times New Roman" panose="02020603050405020304" charset="0"/>
                    <a:ea typeface="微软雅黑" panose="020B0503020204020204" charset="-122"/>
                    <a:cs typeface="Times New Roman" panose="02020603050405020304" charset="0"/>
                  </a:rPr>
                  <a:t> </a:t>
                </a:r>
                <a:r>
                  <a:rPr lang="zh-CN" altLang="en-US" sz="2100" i="1" dirty="0">
                    <a:solidFill>
                      <a:schemeClr val="tx1"/>
                    </a:solidFill>
                    <a:latin typeface="Times New Roman" panose="02020603050405020304" charset="0"/>
                    <a:ea typeface="微软雅黑" panose="020B0503020204020204" charset="-122"/>
                    <a:cs typeface="Times New Roman" panose="02020603050405020304" charset="0"/>
                  </a:rPr>
                  <a:t>，</a:t>
                </a:r>
                <a:r>
                  <a:rPr lang="en-US" altLang="zh-CN" sz="2100" dirty="0">
                    <a:solidFill>
                      <a:schemeClr val="tx1"/>
                    </a:solidFill>
                    <a:latin typeface="Times New Roman" panose="02020603050405020304" charset="0"/>
                    <a:ea typeface="微软雅黑" panose="020B0503020204020204" charset="-122"/>
                    <a:cs typeface="Times New Roman" panose="02020603050405020304" charset="0"/>
                  </a:rPr>
                  <a:t>…</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rPr>
                  <a:t>，</a:t>
                </a:r>
                <a:r>
                  <a:rPr lang="zh-CN" altLang="en-US" sz="2100" i="1" dirty="0">
                    <a:solidFill>
                      <a:schemeClr val="tx1"/>
                    </a:solidFill>
                    <a:latin typeface="Times New Roman" panose="02020603050405020304" charset="0"/>
                    <a:ea typeface="微软雅黑" panose="020B0503020204020204" charset="-122"/>
                    <a:cs typeface="Times New Roman" panose="02020603050405020304" charset="0"/>
                  </a:rPr>
                  <a:t> </a:t>
                </a:r>
                <a:r>
                  <a:rPr lang="en-US" altLang="zh-CN" sz="2100" i="1" dirty="0" err="1">
                    <a:solidFill>
                      <a:schemeClr val="tx1"/>
                    </a:solidFill>
                    <a:latin typeface="Times New Roman" panose="02020603050405020304" charset="0"/>
                    <a:ea typeface="微软雅黑" panose="020B0503020204020204" charset="-122"/>
                    <a:cs typeface="Times New Roman" panose="02020603050405020304" charset="0"/>
                  </a:rPr>
                  <a:t>x</a:t>
                </a:r>
                <a:r>
                  <a:rPr lang="en-US" altLang="zh-CN" sz="2100" i="1" baseline="-25000" dirty="0" err="1">
                    <a:solidFill>
                      <a:schemeClr val="tx1"/>
                    </a:solidFill>
                    <a:latin typeface="Times New Roman" panose="02020603050405020304" charset="0"/>
                    <a:ea typeface="微软雅黑" panose="020B0503020204020204" charset="-122"/>
                    <a:cs typeface="Times New Roman" panose="02020603050405020304" charset="0"/>
                  </a:rPr>
                  <a:t>k</a:t>
                </a:r>
                <a:r>
                  <a:rPr lang="en-US" altLang="zh-CN" sz="2100" i="1" dirty="0">
                    <a:solidFill>
                      <a:schemeClr val="tx1"/>
                    </a:solidFill>
                    <a:latin typeface="Times New Roman" panose="02020603050405020304" charset="0"/>
                    <a:ea typeface="微软雅黑" panose="020B0503020204020204" charset="-122"/>
                    <a:cs typeface="Times New Roman" panose="02020603050405020304" charset="0"/>
                  </a:rPr>
                  <a:t> </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rPr>
                  <a:t>和误差项 </a:t>
                </a:r>
                <a:r>
                  <a:rPr lang="zh-CN" altLang="en-US" sz="2100" i="1" dirty="0">
                    <a:solidFill>
                      <a:schemeClr val="tx1"/>
                    </a:solidFill>
                    <a:latin typeface="Times New Roman" panose="02020603050405020304" charset="0"/>
                    <a:ea typeface="微软雅黑" panose="020B0503020204020204" charset="-122"/>
                    <a:cs typeface="Times New Roman" panose="02020603050405020304" charset="0"/>
                    <a:sym typeface="Symbol" panose="05050102010706020507" pitchFamily="18" charset="2"/>
                  </a:rPr>
                  <a:t></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sym typeface="Symbol" panose="05050102010706020507" pitchFamily="18" charset="2"/>
                  </a:rPr>
                  <a:t>  </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rPr>
                  <a:t>的方程，称为多元回归模型</a:t>
                </a:r>
                <a:endParaRPr lang="en-US" altLang="zh-CN" sz="2100" dirty="0">
                  <a:solidFill>
                    <a:schemeClr val="tx1"/>
                  </a:solidFill>
                  <a:latin typeface="Times New Roman" panose="02020603050405020304" charset="0"/>
                  <a:ea typeface="微软雅黑" panose="020B0503020204020204" charset="-122"/>
                  <a:cs typeface="Times New Roman" panose="02020603050405020304" charset="0"/>
                </a:endParaRPr>
              </a:p>
              <a:p>
                <a:pPr marL="447675" indent="-447675" algn="just">
                  <a:lnSpc>
                    <a:spcPct val="120000"/>
                  </a:lnSpc>
                  <a:buClr>
                    <a:srgbClr val="318AAD"/>
                  </a:buClr>
                  <a:buSzPct val="100000"/>
                  <a:buFont typeface="Wingdings" panose="05000000000000000000" pitchFamily="2" charset="2"/>
                  <a:buChar char="l"/>
                  <a:defRPr/>
                </a:pP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rPr>
                  <a:t>涉及 </a:t>
                </a:r>
                <a:r>
                  <a:rPr lang="en-US" altLang="zh-CN" sz="2100" i="1" dirty="0">
                    <a:solidFill>
                      <a:schemeClr val="tx1"/>
                    </a:solidFill>
                    <a:latin typeface="Times New Roman" panose="02020603050405020304" charset="0"/>
                    <a:ea typeface="微软雅黑" panose="020B0503020204020204" charset="-122"/>
                    <a:cs typeface="Times New Roman" panose="02020603050405020304" charset="0"/>
                  </a:rPr>
                  <a:t>k </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rPr>
                  <a:t>个自变量的多元回归模型可表示为</a:t>
                </a:r>
                <a:endParaRPr lang="en-US" altLang="zh-CN" sz="2100" dirty="0">
                  <a:solidFill>
                    <a:schemeClr val="tx1"/>
                  </a:solidFill>
                  <a:latin typeface="Times New Roman" panose="02020603050405020304" charset="0"/>
                  <a:ea typeface="微软雅黑" panose="020B0503020204020204" charset="-122"/>
                  <a:cs typeface="Times New Roman" panose="02020603050405020304" charset="0"/>
                </a:endParaRPr>
              </a:p>
              <a:p>
                <a:pPr marL="0" indent="0" algn="just">
                  <a:lnSpc>
                    <a:spcPct val="120000"/>
                  </a:lnSpc>
                  <a:buClr>
                    <a:srgbClr val="318AAD"/>
                  </a:buClr>
                  <a:buSzPct val="100000"/>
                  <a:buFont typeface="Arial" panose="020B0604020202020204" pitchFamily="34" charset="0"/>
                  <a:buNone/>
                  <a:defRPr/>
                </a:pPr>
                <a14:m>
                  <m:oMathPara xmlns:m="http://schemas.openxmlformats.org/officeDocument/2006/math">
                    <m:oMathParaPr>
                      <m:jc m:val="centerGroup"/>
                    </m:oMathParaPr>
                    <m:oMath xmlns:m="http://schemas.openxmlformats.org/officeDocument/2006/math">
                      <m:r>
                        <a:rPr lang="zh-CN" altLang="en-US" sz="2100" i="1">
                          <a:solidFill>
                            <a:schemeClr val="tx1"/>
                          </a:solidFill>
                          <a:latin typeface="Cambria Math" panose="02040503050406030204" pitchFamily="18" charset="0"/>
                          <a:ea typeface="微软雅黑" panose="020B0503020204020204" charset="-122"/>
                          <a:cs typeface="Cambria Math" panose="02040503050406030204" pitchFamily="18" charset="0"/>
                        </a:rPr>
                        <m:t>𝑦</m:t>
                      </m:r>
                      <m:r>
                        <a:rPr lang="zh-CN" altLang="en-US" sz="2100" i="1">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en-US" sz="21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zh-CN" altLang="en-US" sz="2100" i="1">
                              <a:solidFill>
                                <a:schemeClr val="tx1"/>
                              </a:solidFill>
                              <a:latin typeface="Cambria Math" panose="02040503050406030204" pitchFamily="18" charset="0"/>
                              <a:ea typeface="MS Mincho" charset="0"/>
                              <a:cs typeface="Cambria Math" panose="02040503050406030204" pitchFamily="18" charset="0"/>
                            </a:rPr>
                            <m:t>𝛽</m:t>
                          </m:r>
                        </m:e>
                        <m:sub>
                          <m:r>
                            <a:rPr lang="zh-CN" altLang="en-US" sz="2100" i="1">
                              <a:solidFill>
                                <a:schemeClr val="tx1"/>
                              </a:solidFill>
                              <a:latin typeface="Cambria Math" panose="02040503050406030204" pitchFamily="18" charset="0"/>
                              <a:ea typeface="MS Mincho" charset="0"/>
                              <a:cs typeface="Cambria Math" panose="02040503050406030204" pitchFamily="18" charset="0"/>
                            </a:rPr>
                            <m:t>0</m:t>
                          </m:r>
                        </m:sub>
                      </m:sSub>
                      <m:r>
                        <a:rPr lang="zh-CN" altLang="en-US" sz="2100" i="1">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en-US" sz="21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zh-CN" altLang="en-US" sz="2100" i="1">
                              <a:solidFill>
                                <a:schemeClr val="tx1"/>
                              </a:solidFill>
                              <a:latin typeface="Cambria Math" panose="02040503050406030204" pitchFamily="18" charset="0"/>
                              <a:ea typeface="MS Mincho" charset="0"/>
                              <a:cs typeface="Cambria Math" panose="02040503050406030204" pitchFamily="18" charset="0"/>
                            </a:rPr>
                            <m:t>𝛽</m:t>
                          </m:r>
                        </m:e>
                        <m:sub>
                          <m:r>
                            <a:rPr lang="zh-CN" altLang="en-US" sz="2100" i="1">
                              <a:solidFill>
                                <a:schemeClr val="tx1"/>
                              </a:solidFill>
                              <a:latin typeface="Cambria Math" panose="02040503050406030204" pitchFamily="18" charset="0"/>
                              <a:ea typeface="MS Mincho" charset="0"/>
                              <a:cs typeface="Cambria Math" panose="02040503050406030204" pitchFamily="18" charset="0"/>
                            </a:rPr>
                            <m:t>1</m:t>
                          </m:r>
                        </m:sub>
                      </m:sSub>
                      <m:sSub>
                        <m:sSubPr>
                          <m:ctrlPr>
                            <a:rPr lang="zh-CN" altLang="en-US" sz="21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zh-CN" altLang="en-US" sz="2100" i="1">
                              <a:solidFill>
                                <a:schemeClr val="tx1"/>
                              </a:solidFill>
                              <a:latin typeface="Cambria Math" panose="02040503050406030204" pitchFamily="18" charset="0"/>
                              <a:ea typeface="微软雅黑" panose="020B0503020204020204" charset="-122"/>
                              <a:cs typeface="Cambria Math" panose="02040503050406030204" pitchFamily="18" charset="0"/>
                            </a:rPr>
                            <m:t>𝑥</m:t>
                          </m:r>
                        </m:e>
                        <m:sub>
                          <m:r>
                            <a:rPr lang="zh-CN" altLang="en-US" sz="2100" i="1">
                              <a:solidFill>
                                <a:schemeClr val="tx1"/>
                              </a:solidFill>
                              <a:latin typeface="Cambria Math" panose="02040503050406030204" pitchFamily="18" charset="0"/>
                              <a:ea typeface="MS Mincho" charset="0"/>
                              <a:cs typeface="Cambria Math" panose="02040503050406030204" pitchFamily="18" charset="0"/>
                            </a:rPr>
                            <m:t>1</m:t>
                          </m:r>
                        </m:sub>
                      </m:sSub>
                      <m:r>
                        <a:rPr lang="zh-CN" altLang="en-US" sz="2100" i="1">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en-US" sz="21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zh-CN" altLang="en-US" sz="2100" i="1">
                              <a:solidFill>
                                <a:schemeClr val="tx1"/>
                              </a:solidFill>
                              <a:latin typeface="Cambria Math" panose="02040503050406030204" pitchFamily="18" charset="0"/>
                              <a:ea typeface="MS Mincho" charset="0"/>
                              <a:cs typeface="Cambria Math" panose="02040503050406030204" pitchFamily="18" charset="0"/>
                            </a:rPr>
                            <m:t>𝛽</m:t>
                          </m:r>
                        </m:e>
                        <m:sub>
                          <m:r>
                            <a:rPr lang="zh-CN" altLang="en-US" sz="2100" i="1">
                              <a:solidFill>
                                <a:schemeClr val="tx1"/>
                              </a:solidFill>
                              <a:latin typeface="Cambria Math" panose="02040503050406030204" pitchFamily="18" charset="0"/>
                              <a:ea typeface="MS Mincho" charset="0"/>
                              <a:cs typeface="Cambria Math" panose="02040503050406030204" pitchFamily="18" charset="0"/>
                            </a:rPr>
                            <m:t>2</m:t>
                          </m:r>
                        </m:sub>
                      </m:sSub>
                      <m:sSub>
                        <m:sSubPr>
                          <m:ctrlPr>
                            <a:rPr lang="zh-CN" altLang="en-US" sz="21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zh-CN" altLang="en-US" sz="2100" i="1">
                              <a:solidFill>
                                <a:schemeClr val="tx1"/>
                              </a:solidFill>
                              <a:latin typeface="Cambria Math" panose="02040503050406030204" pitchFamily="18" charset="0"/>
                              <a:ea typeface="微软雅黑" panose="020B0503020204020204" charset="-122"/>
                              <a:cs typeface="Cambria Math" panose="02040503050406030204" pitchFamily="18" charset="0"/>
                            </a:rPr>
                            <m:t>𝑥</m:t>
                          </m:r>
                        </m:e>
                        <m:sub>
                          <m:r>
                            <a:rPr lang="zh-CN" altLang="en-US" sz="2100" i="1">
                              <a:solidFill>
                                <a:schemeClr val="tx1"/>
                              </a:solidFill>
                              <a:latin typeface="Cambria Math" panose="02040503050406030204" pitchFamily="18" charset="0"/>
                              <a:ea typeface="MS Mincho" charset="0"/>
                              <a:cs typeface="Cambria Math" panose="02040503050406030204" pitchFamily="18" charset="0"/>
                            </a:rPr>
                            <m:t>2</m:t>
                          </m:r>
                        </m:sub>
                      </m:sSub>
                      <m:r>
                        <a:rPr lang="zh-CN" altLang="en-US" sz="2100" i="1">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en-US" sz="21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zh-CN" altLang="en-US" sz="2100" i="1">
                              <a:solidFill>
                                <a:schemeClr val="tx1"/>
                              </a:solidFill>
                              <a:latin typeface="Cambria Math" panose="02040503050406030204" pitchFamily="18" charset="0"/>
                              <a:ea typeface="MS Mincho" charset="0"/>
                              <a:cs typeface="Cambria Math" panose="02040503050406030204" pitchFamily="18" charset="0"/>
                            </a:rPr>
                            <m:t>𝛽</m:t>
                          </m:r>
                        </m:e>
                        <m:sub>
                          <m:r>
                            <a:rPr lang="zh-CN" altLang="en-US" sz="2100" i="1">
                              <a:solidFill>
                                <a:schemeClr val="tx1"/>
                              </a:solidFill>
                              <a:latin typeface="Cambria Math" panose="02040503050406030204" pitchFamily="18" charset="0"/>
                              <a:ea typeface="微软雅黑" panose="020B0503020204020204" charset="-122"/>
                              <a:cs typeface="Cambria Math" panose="02040503050406030204" pitchFamily="18" charset="0"/>
                            </a:rPr>
                            <m:t>𝑘</m:t>
                          </m:r>
                        </m:sub>
                      </m:sSub>
                      <m:sSub>
                        <m:sSubPr>
                          <m:ctrlPr>
                            <a:rPr lang="zh-CN" altLang="en-US" sz="21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zh-CN" altLang="en-US" sz="2100" i="1">
                              <a:solidFill>
                                <a:schemeClr val="tx1"/>
                              </a:solidFill>
                              <a:latin typeface="Cambria Math" panose="02040503050406030204" pitchFamily="18" charset="0"/>
                              <a:ea typeface="微软雅黑" panose="020B0503020204020204" charset="-122"/>
                              <a:cs typeface="Cambria Math" panose="02040503050406030204" pitchFamily="18" charset="0"/>
                            </a:rPr>
                            <m:t>𝑥</m:t>
                          </m:r>
                        </m:e>
                        <m:sub>
                          <m:r>
                            <a:rPr lang="zh-CN" altLang="en-US" sz="2100" i="1">
                              <a:solidFill>
                                <a:schemeClr val="tx1"/>
                              </a:solidFill>
                              <a:latin typeface="Cambria Math" panose="02040503050406030204" pitchFamily="18" charset="0"/>
                              <a:ea typeface="微软雅黑" panose="020B0503020204020204" charset="-122"/>
                              <a:cs typeface="Cambria Math" panose="02040503050406030204" pitchFamily="18" charset="0"/>
                            </a:rPr>
                            <m:t>𝑘</m:t>
                          </m:r>
                        </m:sub>
                      </m:sSub>
                      <m:r>
                        <a:rPr lang="zh-CN" altLang="en-US" sz="2100" i="1">
                          <a:solidFill>
                            <a:schemeClr val="tx1"/>
                          </a:solidFill>
                          <a:latin typeface="Cambria Math" panose="02040503050406030204" pitchFamily="18" charset="0"/>
                          <a:ea typeface="MS Mincho" charset="0"/>
                          <a:cs typeface="Cambria Math" panose="02040503050406030204" pitchFamily="18" charset="0"/>
                        </a:rPr>
                        <m:t>+</m:t>
                      </m:r>
                      <m:r>
                        <a:rPr lang="zh-CN" altLang="en-US" sz="2100" i="1">
                          <a:solidFill>
                            <a:schemeClr val="tx1"/>
                          </a:solidFill>
                          <a:latin typeface="Cambria Math" panose="02040503050406030204" pitchFamily="18" charset="0"/>
                          <a:ea typeface="MS Mincho" charset="0"/>
                          <a:cs typeface="Cambria Math" panose="02040503050406030204" pitchFamily="18" charset="0"/>
                        </a:rPr>
                        <m:t>𝜀</m:t>
                      </m:r>
                    </m:oMath>
                  </m:oMathPara>
                </a14:m>
                <a:endParaRPr lang="en-US" altLang="zh-CN" sz="2100" dirty="0">
                  <a:solidFill>
                    <a:schemeClr val="tx1"/>
                  </a:solidFill>
                  <a:latin typeface="Times New Roman" panose="02020603050405020304" charset="0"/>
                  <a:ea typeface="微软雅黑" panose="020B0503020204020204" charset="-122"/>
                  <a:cs typeface="Times New Roman" panose="02020603050405020304" charset="0"/>
                </a:endParaRPr>
              </a:p>
              <a:p>
                <a:pPr marL="268605" indent="0" algn="just">
                  <a:lnSpc>
                    <a:spcPct val="120000"/>
                  </a:lnSpc>
                  <a:buClr>
                    <a:schemeClr val="hlink"/>
                  </a:buClr>
                  <a:buFont typeface="Arial" panose="020B0604020202020204" pitchFamily="34" charset="0"/>
                  <a:buNone/>
                  <a:defRPr/>
                </a:pPr>
                <a:r>
                  <a:rPr lang="en-US" altLang="zh-CN" sz="2100" dirty="0">
                    <a:solidFill>
                      <a:schemeClr val="tx1"/>
                    </a:solidFill>
                    <a:latin typeface="Times New Roman" panose="02020603050405020304" charset="0"/>
                    <a:ea typeface="微软雅黑" panose="020B0503020204020204" charset="-122"/>
                    <a:cs typeface="Times New Roman" panose="02020603050405020304" charset="0"/>
                  </a:rPr>
                  <a:t> </a:t>
                </a:r>
                <a:r>
                  <a:rPr lang="en-US" altLang="zh-CN" sz="2100" i="1" dirty="0">
                    <a:solidFill>
                      <a:schemeClr val="tx1"/>
                    </a:solidFill>
                    <a:latin typeface="Times New Roman" panose="02020603050405020304" charset="0"/>
                    <a:ea typeface="微软雅黑" panose="020B0503020204020204" charset="-122"/>
                    <a:cs typeface="Times New Roman" panose="02020603050405020304" charset="0"/>
                  </a:rPr>
                  <a:t>b</a:t>
                </a:r>
                <a:r>
                  <a:rPr lang="en-US" altLang="zh-CN" sz="2100" baseline="-25000" dirty="0">
                    <a:solidFill>
                      <a:schemeClr val="tx1"/>
                    </a:solidFill>
                    <a:latin typeface="Times New Roman" panose="02020603050405020304" charset="0"/>
                    <a:ea typeface="微软雅黑" panose="020B0503020204020204" charset="-122"/>
                    <a:cs typeface="Times New Roman" panose="02020603050405020304" charset="0"/>
                  </a:rPr>
                  <a:t>0 </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rPr>
                  <a:t>，</a:t>
                </a:r>
                <a:r>
                  <a:rPr lang="en-US" altLang="zh-CN" sz="2100" i="1" dirty="0">
                    <a:solidFill>
                      <a:schemeClr val="tx1"/>
                    </a:solidFill>
                    <a:latin typeface="Times New Roman" panose="02020603050405020304" charset="0"/>
                    <a:ea typeface="微软雅黑" panose="020B0503020204020204" charset="-122"/>
                    <a:cs typeface="Times New Roman" panose="02020603050405020304" charset="0"/>
                  </a:rPr>
                  <a:t>b</a:t>
                </a:r>
                <a:r>
                  <a:rPr lang="en-US" altLang="zh-CN" sz="2100" baseline="-25000" dirty="0">
                    <a:solidFill>
                      <a:schemeClr val="tx1"/>
                    </a:solidFill>
                    <a:latin typeface="Times New Roman" panose="02020603050405020304" charset="0"/>
                    <a:ea typeface="微软雅黑" panose="020B0503020204020204" charset="-122"/>
                    <a:cs typeface="Times New Roman" panose="02020603050405020304" charset="0"/>
                  </a:rPr>
                  <a:t>1</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rPr>
                  <a:t>，</a:t>
                </a:r>
                <a:r>
                  <a:rPr lang="en-US" altLang="zh-CN" sz="2100" i="1" dirty="0">
                    <a:solidFill>
                      <a:schemeClr val="tx1"/>
                    </a:solidFill>
                    <a:latin typeface="Times New Roman" panose="02020603050405020304" charset="0"/>
                    <a:ea typeface="微软雅黑" panose="020B0503020204020204" charset="-122"/>
                    <a:cs typeface="Times New Roman" panose="02020603050405020304" charset="0"/>
                  </a:rPr>
                  <a:t>b</a:t>
                </a:r>
                <a:r>
                  <a:rPr lang="en-US" altLang="zh-CN" sz="2100" baseline="-25000" dirty="0">
                    <a:solidFill>
                      <a:schemeClr val="tx1"/>
                    </a:solidFill>
                    <a:latin typeface="Times New Roman" panose="02020603050405020304" charset="0"/>
                    <a:ea typeface="微软雅黑" panose="020B0503020204020204" charset="-122"/>
                    <a:cs typeface="Times New Roman" panose="02020603050405020304" charset="0"/>
                  </a:rPr>
                  <a:t>2</a:t>
                </a:r>
                <a:r>
                  <a:rPr lang="en-US" altLang="zh-CN" sz="2100" i="1" dirty="0">
                    <a:solidFill>
                      <a:schemeClr val="tx1"/>
                    </a:solidFill>
                    <a:latin typeface="Times New Roman" panose="02020603050405020304" charset="0"/>
                    <a:ea typeface="微软雅黑" panose="020B0503020204020204" charset="-122"/>
                    <a:cs typeface="Times New Roman" panose="02020603050405020304" charset="0"/>
                  </a:rPr>
                  <a:t> </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rPr>
                  <a:t>，</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sym typeface="Symbol" panose="05050102010706020507" pitchFamily="18" charset="2"/>
                  </a:rPr>
                  <a:t>，</a:t>
                </a:r>
                <a:r>
                  <a:rPr lang="en-US" altLang="zh-CN" sz="2100" i="1" dirty="0">
                    <a:solidFill>
                      <a:schemeClr val="tx1"/>
                    </a:solidFill>
                    <a:latin typeface="Times New Roman" panose="02020603050405020304" charset="0"/>
                    <a:ea typeface="微软雅黑" panose="020B0503020204020204" charset="-122"/>
                    <a:cs typeface="Times New Roman" panose="02020603050405020304" charset="0"/>
                  </a:rPr>
                  <a:t>b</a:t>
                </a:r>
                <a:r>
                  <a:rPr lang="en-US" altLang="zh-CN" sz="2100" i="1" baseline="-25000" dirty="0">
                    <a:solidFill>
                      <a:schemeClr val="tx1"/>
                    </a:solidFill>
                    <a:latin typeface="Times New Roman" panose="02020603050405020304" charset="0"/>
                    <a:ea typeface="微软雅黑" panose="020B0503020204020204" charset="-122"/>
                    <a:cs typeface="Times New Roman" panose="02020603050405020304" charset="0"/>
                  </a:rPr>
                  <a:t>k</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rPr>
                  <a:t>是参数</a:t>
                </a:r>
              </a:p>
              <a:p>
                <a:pPr marL="268605" indent="0" algn="just">
                  <a:lnSpc>
                    <a:spcPct val="120000"/>
                  </a:lnSpc>
                  <a:buClr>
                    <a:schemeClr val="hlink"/>
                  </a:buClr>
                  <a:buFont typeface="Arial" panose="020B0604020202020204" pitchFamily="34" charset="0"/>
                  <a:buNone/>
                  <a:defRPr/>
                </a:pPr>
                <a:r>
                  <a:rPr lang="zh-CN" altLang="en-US" sz="2100" i="1" dirty="0">
                    <a:solidFill>
                      <a:schemeClr val="tx1"/>
                    </a:solidFill>
                    <a:latin typeface="Times New Roman" panose="02020603050405020304" charset="0"/>
                    <a:ea typeface="微软雅黑" panose="020B0503020204020204" charset="-122"/>
                    <a:cs typeface="Times New Roman" panose="02020603050405020304" charset="0"/>
                    <a:sym typeface="Symbol" panose="05050102010706020507" pitchFamily="18" charset="2"/>
                  </a:rPr>
                  <a:t>  </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sym typeface="Symbol" panose="05050102010706020507" pitchFamily="18" charset="2"/>
                  </a:rPr>
                  <a:t> </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rPr>
                  <a:t>是被称为误差项的随机变量</a:t>
                </a:r>
              </a:p>
              <a:p>
                <a:pPr marL="268605" indent="0" algn="just">
                  <a:lnSpc>
                    <a:spcPct val="120000"/>
                  </a:lnSpc>
                  <a:buClr>
                    <a:schemeClr val="hlink"/>
                  </a:buClr>
                  <a:buFont typeface="Arial" panose="020B0604020202020204" pitchFamily="34" charset="0"/>
                  <a:buNone/>
                  <a:defRPr/>
                </a:pPr>
                <a:r>
                  <a:rPr lang="zh-CN" altLang="en-US" sz="2100" i="1" dirty="0">
                    <a:solidFill>
                      <a:schemeClr val="tx1"/>
                    </a:solidFill>
                    <a:latin typeface="Times New Roman" panose="02020603050405020304" charset="0"/>
                    <a:ea typeface="微软雅黑" panose="020B0503020204020204" charset="-122"/>
                    <a:cs typeface="Times New Roman" panose="02020603050405020304" charset="0"/>
                  </a:rPr>
                  <a:t>  </a:t>
                </a:r>
                <a:r>
                  <a:rPr lang="en-US" altLang="zh-CN" sz="2100" i="1" dirty="0">
                    <a:solidFill>
                      <a:schemeClr val="tx1"/>
                    </a:solidFill>
                    <a:latin typeface="Times New Roman" panose="02020603050405020304" charset="0"/>
                    <a:ea typeface="微软雅黑" panose="020B0503020204020204" charset="-122"/>
                    <a:cs typeface="Times New Roman" panose="02020603050405020304" charset="0"/>
                  </a:rPr>
                  <a:t>y </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rPr>
                  <a:t>是</a:t>
                </a:r>
                <a:r>
                  <a:rPr lang="en-US" altLang="zh-CN" sz="2100" i="1" dirty="0">
                    <a:solidFill>
                      <a:schemeClr val="tx1"/>
                    </a:solidFill>
                    <a:latin typeface="Times New Roman" panose="02020603050405020304" charset="0"/>
                    <a:ea typeface="微软雅黑" panose="020B0503020204020204" charset="-122"/>
                    <a:cs typeface="Times New Roman" panose="02020603050405020304" charset="0"/>
                  </a:rPr>
                  <a:t>x</a:t>
                </a:r>
                <a:r>
                  <a:rPr lang="en-US" altLang="zh-CN" sz="2100" baseline="-25000" dirty="0">
                    <a:solidFill>
                      <a:schemeClr val="tx1"/>
                    </a:solidFill>
                    <a:latin typeface="Times New Roman" panose="02020603050405020304" charset="0"/>
                    <a:ea typeface="微软雅黑" panose="020B0503020204020204" charset="-122"/>
                    <a:cs typeface="Times New Roman" panose="02020603050405020304" charset="0"/>
                  </a:rPr>
                  <a:t>1,</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rPr>
                  <a:t>，</a:t>
                </a:r>
                <a:r>
                  <a:rPr lang="en-US" altLang="zh-CN" sz="2100" i="1" dirty="0">
                    <a:solidFill>
                      <a:schemeClr val="tx1"/>
                    </a:solidFill>
                    <a:latin typeface="Times New Roman" panose="02020603050405020304" charset="0"/>
                    <a:ea typeface="微软雅黑" panose="020B0503020204020204" charset="-122"/>
                    <a:cs typeface="Times New Roman" panose="02020603050405020304" charset="0"/>
                  </a:rPr>
                  <a:t>x</a:t>
                </a:r>
                <a:r>
                  <a:rPr lang="en-US" altLang="zh-CN" sz="2100" baseline="-25000" dirty="0">
                    <a:solidFill>
                      <a:schemeClr val="tx1"/>
                    </a:solidFill>
                    <a:latin typeface="Times New Roman" panose="02020603050405020304" charset="0"/>
                    <a:ea typeface="微软雅黑" panose="020B0503020204020204" charset="-122"/>
                    <a:cs typeface="Times New Roman" panose="02020603050405020304" charset="0"/>
                  </a:rPr>
                  <a:t>2 </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rPr>
                  <a:t>，</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sym typeface="Symbol" panose="05050102010706020507" pitchFamily="18" charset="2"/>
                  </a:rPr>
                  <a:t></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rPr>
                  <a:t> ，</a:t>
                </a:r>
                <a:r>
                  <a:rPr lang="en-US" altLang="zh-CN" sz="2100" i="1" dirty="0" err="1">
                    <a:solidFill>
                      <a:schemeClr val="tx1"/>
                    </a:solidFill>
                    <a:latin typeface="Times New Roman" panose="02020603050405020304" charset="0"/>
                    <a:ea typeface="微软雅黑" panose="020B0503020204020204" charset="-122"/>
                    <a:cs typeface="Times New Roman" panose="02020603050405020304" charset="0"/>
                  </a:rPr>
                  <a:t>x</a:t>
                </a:r>
                <a:r>
                  <a:rPr lang="en-US" altLang="zh-CN" sz="2100" i="1" baseline="-25000" dirty="0" err="1">
                    <a:solidFill>
                      <a:schemeClr val="tx1"/>
                    </a:solidFill>
                    <a:latin typeface="Times New Roman" panose="02020603050405020304" charset="0"/>
                    <a:ea typeface="微软雅黑" panose="020B0503020204020204" charset="-122"/>
                    <a:cs typeface="Times New Roman" panose="02020603050405020304" charset="0"/>
                  </a:rPr>
                  <a:t>k</a:t>
                </a:r>
                <a:r>
                  <a:rPr lang="en-US" altLang="zh-CN" sz="2100" i="1" dirty="0">
                    <a:solidFill>
                      <a:schemeClr val="tx1"/>
                    </a:solidFill>
                    <a:latin typeface="Times New Roman" panose="02020603050405020304" charset="0"/>
                    <a:ea typeface="微软雅黑" panose="020B0503020204020204" charset="-122"/>
                    <a:cs typeface="Times New Roman" panose="02020603050405020304" charset="0"/>
                  </a:rPr>
                  <a:t> </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rPr>
                  <a:t>的线性函数加上误差项</a:t>
                </a:r>
                <a:r>
                  <a:rPr lang="zh-CN" altLang="en-US" sz="2100" i="1" dirty="0">
                    <a:solidFill>
                      <a:schemeClr val="tx1"/>
                    </a:solidFill>
                    <a:latin typeface="Times New Roman" panose="02020603050405020304" charset="0"/>
                    <a:ea typeface="微软雅黑" panose="020B0503020204020204" charset="-122"/>
                    <a:cs typeface="Times New Roman" panose="02020603050405020304" charset="0"/>
                    <a:sym typeface="Symbol" panose="05050102010706020507" pitchFamily="18" charset="2"/>
                  </a:rPr>
                  <a:t></a:t>
                </a:r>
                <a:r>
                  <a:rPr lang="zh-CN" altLang="en-US" sz="2100" i="1" dirty="0">
                    <a:solidFill>
                      <a:schemeClr val="tx1"/>
                    </a:solidFill>
                    <a:latin typeface="Times New Roman" panose="02020603050405020304" charset="0"/>
                    <a:ea typeface="微软雅黑" panose="020B0503020204020204" charset="-122"/>
                    <a:cs typeface="Times New Roman" panose="02020603050405020304" charset="0"/>
                  </a:rPr>
                  <a:t> </a:t>
                </a:r>
              </a:p>
              <a:p>
                <a:pPr marL="268605" indent="0" algn="just">
                  <a:lnSpc>
                    <a:spcPct val="120000"/>
                  </a:lnSpc>
                  <a:buClr>
                    <a:schemeClr val="hlink"/>
                  </a:buClr>
                  <a:buFont typeface="Arial" panose="020B0604020202020204" pitchFamily="34" charset="0"/>
                  <a:buNone/>
                  <a:defRPr/>
                </a:pPr>
                <a:r>
                  <a:rPr lang="zh-CN" altLang="en-US" sz="2100" i="1" dirty="0">
                    <a:solidFill>
                      <a:schemeClr val="tx1"/>
                    </a:solidFill>
                    <a:latin typeface="Times New Roman" panose="02020603050405020304" charset="0"/>
                    <a:ea typeface="微软雅黑" panose="020B0503020204020204" charset="-122"/>
                    <a:cs typeface="Times New Roman" panose="02020603050405020304" charset="0"/>
                    <a:sym typeface="Symbol" panose="05050102010706020507" pitchFamily="18" charset="2"/>
                  </a:rPr>
                  <a:t>  </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rPr>
                  <a:t>包含在</a:t>
                </a:r>
                <a:r>
                  <a:rPr lang="en-US" altLang="zh-CN" sz="2100" i="1" dirty="0">
                    <a:solidFill>
                      <a:schemeClr val="tx1"/>
                    </a:solidFill>
                    <a:latin typeface="Times New Roman" panose="02020603050405020304" charset="0"/>
                    <a:ea typeface="微软雅黑" panose="020B0503020204020204" charset="-122"/>
                    <a:cs typeface="Times New Roman" panose="02020603050405020304" charset="0"/>
                  </a:rPr>
                  <a:t>y</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rPr>
                  <a:t>里面但不能被</a:t>
                </a:r>
                <a:r>
                  <a:rPr lang="en-US" altLang="zh-CN" sz="2100" i="1" dirty="0">
                    <a:solidFill>
                      <a:schemeClr val="tx1"/>
                    </a:solidFill>
                    <a:latin typeface="Times New Roman" panose="02020603050405020304" charset="0"/>
                    <a:ea typeface="微软雅黑" panose="020B0503020204020204" charset="-122"/>
                    <a:cs typeface="Times New Roman" panose="02020603050405020304" charset="0"/>
                  </a:rPr>
                  <a:t>k</a:t>
                </a:r>
                <a:r>
                  <a:rPr lang="zh-CN" altLang="en-US" sz="2100" dirty="0">
                    <a:solidFill>
                      <a:schemeClr val="tx1"/>
                    </a:solidFill>
                    <a:latin typeface="Times New Roman" panose="02020603050405020304" charset="0"/>
                    <a:ea typeface="微软雅黑" panose="020B0503020204020204" charset="-122"/>
                    <a:cs typeface="Times New Roman" panose="02020603050405020304" charset="0"/>
                  </a:rPr>
                  <a:t>个自变量的线性关系所解释的变异性</a:t>
                </a:r>
              </a:p>
            </p:txBody>
          </p:sp>
        </mc:Choice>
        <mc:Fallback>
          <p:sp>
            <p:nvSpPr>
              <p:cNvPr id="11" name="Content Placeholder 8">
                <a:extLst>
                  <a:ext uri="{FF2B5EF4-FFF2-40B4-BE49-F238E27FC236}">
                    <a16:creationId xmlns:a16="http://schemas.microsoft.com/office/drawing/2014/main" id="{0104F92F-03E5-E2FF-1930-4BB2313B07EE}"/>
                  </a:ext>
                </a:extLst>
              </p:cNvPr>
              <p:cNvSpPr txBox="1">
                <a:spLocks noRot="1" noChangeAspect="1" noMove="1" noResize="1" noEditPoints="1" noAdjustHandles="1" noChangeArrowheads="1" noChangeShapeType="1" noTextEdit="1"/>
              </p:cNvSpPr>
              <p:nvPr/>
            </p:nvSpPr>
            <p:spPr>
              <a:xfrm>
                <a:off x="551384" y="1556792"/>
                <a:ext cx="7981122" cy="4680520"/>
              </a:xfrm>
              <a:prstGeom prst="rect">
                <a:avLst/>
              </a:prstGeom>
              <a:blipFill>
                <a:blip r:embed="rId4"/>
                <a:stretch>
                  <a:fillRect l="-610" t="-130" r="-686"/>
                </a:stretch>
              </a:blipFill>
              <a:ln w="12700" cmpd="dbl">
                <a:solidFill>
                  <a:schemeClr val="accent1"/>
                </a:solidFill>
              </a:ln>
            </p:spPr>
            <p:txBody>
              <a:bodyPr/>
              <a:lstStyle/>
              <a:p>
                <a:r>
                  <a:rPr lang="zh-CN" altLang="en-US">
                    <a:noFill/>
                  </a:rPr>
                  <a:t> </a:t>
                </a:r>
              </a:p>
            </p:txBody>
          </p:sp>
        </mc:Fallback>
      </mc:AlternateContent>
    </p:spTree>
    <p:extLst>
      <p:ext uri="{BB962C8B-B14F-4D97-AF65-F5344CB8AC3E}">
        <p14:creationId xmlns:p14="http://schemas.microsoft.com/office/powerpoint/2010/main" val="50276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1">
            <a:extLst>
              <a:ext uri="{FF2B5EF4-FFF2-40B4-BE49-F238E27FC236}">
                <a16:creationId xmlns:a16="http://schemas.microsoft.com/office/drawing/2014/main" id="{1A9FF383-3E6E-D80C-23EF-861D98723011}"/>
              </a:ext>
            </a:extLst>
          </p:cNvPr>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7" name="Content Placeholder 8">
            <a:extLst>
              <a:ext uri="{FF2B5EF4-FFF2-40B4-BE49-F238E27FC236}">
                <a16:creationId xmlns:a16="http://schemas.microsoft.com/office/drawing/2014/main" id="{1AC961CE-3AA8-BCBC-74E7-5DE145A43D5F}"/>
              </a:ext>
            </a:extLst>
          </p:cNvPr>
          <p:cNvSpPr txBox="1"/>
          <p:nvPr/>
        </p:nvSpPr>
        <p:spPr>
          <a:xfrm>
            <a:off x="611494" y="1268724"/>
            <a:ext cx="8101035" cy="4680520"/>
          </a:xfrm>
          <a:prstGeom prst="rect">
            <a:avLst/>
          </a:prstGeom>
          <a:ln w="12700" cmpd="dbl">
            <a:solidFill>
              <a:schemeClr val="accent1"/>
            </a:solidFill>
          </a:ln>
        </p:spPr>
        <p:txBody>
          <a:bodyPr vert="horz">
            <a:norm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lnSpc>
                <a:spcPct val="150000"/>
              </a:lnSpc>
              <a:buClr>
                <a:srgbClr val="318AAD"/>
              </a:buClr>
              <a:buSzPct val="100000"/>
              <a:buNone/>
              <a:defRPr/>
            </a:pPr>
            <a:r>
              <a:rPr lang="zh-CN" altLang="en-US" sz="2400" b="1" dirty="0">
                <a:solidFill>
                  <a:srgbClr val="FF0000"/>
                </a:solidFill>
                <a:latin typeface="Times New Roman" panose="02020603050405020304" charset="0"/>
                <a:ea typeface="微软雅黑" panose="020B0503020204020204" charset="-122"/>
                <a:cs typeface="Times New Roman" panose="02020603050405020304" charset="0"/>
              </a:rPr>
              <a:t>模型假定</a:t>
            </a:r>
            <a:endParaRPr lang="en-US" altLang="zh-CN" sz="2400" b="1" dirty="0">
              <a:solidFill>
                <a:srgbClr val="FF0000"/>
              </a:solidFill>
              <a:latin typeface="Times New Roman" panose="02020603050405020304" charset="0"/>
              <a:ea typeface="微软雅黑" panose="020B0503020204020204" charset="-122"/>
              <a:cs typeface="Times New Roman" panose="02020603050405020304" charset="0"/>
            </a:endParaRPr>
          </a:p>
          <a:p>
            <a:pPr marL="447675" indent="-447675" algn="just">
              <a:lnSpc>
                <a:spcPct val="150000"/>
              </a:lnSpc>
              <a:buClr>
                <a:srgbClr val="318AAD"/>
              </a:buClr>
              <a:buSzPct val="100000"/>
              <a:buFont typeface="Wingdings" panose="05000000000000000000" pitchFamily="2" charset="2"/>
              <a:buChar char="l"/>
              <a:defRPr/>
            </a:pPr>
            <a:r>
              <a:rPr lang="zh-CN" altLang="en-US" sz="2400" dirty="0">
                <a:latin typeface="Times New Roman" panose="02020603050405020304" charset="0"/>
                <a:ea typeface="微软雅黑" panose="020B0503020204020204" charset="-122"/>
                <a:cs typeface="Times New Roman" panose="02020603050405020304" charset="0"/>
              </a:rPr>
              <a:t>误差项</a:t>
            </a:r>
            <a:r>
              <a:rPr lang="en-US" altLang="zh-CN" sz="2400" i="1" dirty="0">
                <a:latin typeface="Times New Roman" panose="02020603050405020304" charset="0"/>
                <a:ea typeface="微软雅黑" panose="020B0503020204020204" charset="-122"/>
                <a:cs typeface="Times New Roman" panose="02020603050405020304" charset="0"/>
              </a:rPr>
              <a:t>ε</a:t>
            </a:r>
            <a:r>
              <a:rPr lang="zh-CN" altLang="en-US" sz="2400" dirty="0">
                <a:latin typeface="Times New Roman" panose="02020603050405020304" charset="0"/>
                <a:ea typeface="微软雅黑" panose="020B0503020204020204" charset="-122"/>
                <a:cs typeface="Times New Roman" panose="02020603050405020304" charset="0"/>
              </a:rPr>
              <a:t>是一个期望值为</a:t>
            </a:r>
            <a:r>
              <a:rPr lang="en-US" altLang="zh-CN" sz="2400" dirty="0">
                <a:latin typeface="Times New Roman" panose="02020603050405020304" charset="0"/>
                <a:ea typeface="微软雅黑" panose="020B0503020204020204" charset="-122"/>
                <a:cs typeface="Times New Roman" panose="02020603050405020304" charset="0"/>
              </a:rPr>
              <a:t>0</a:t>
            </a:r>
            <a:r>
              <a:rPr lang="zh-CN" altLang="en-US" sz="2400" dirty="0">
                <a:latin typeface="Times New Roman" panose="02020603050405020304" charset="0"/>
                <a:ea typeface="微软雅黑" panose="020B0503020204020204" charset="-122"/>
                <a:cs typeface="Times New Roman" panose="02020603050405020304" charset="0"/>
              </a:rPr>
              <a:t>的随机变量，即</a:t>
            </a:r>
            <a:r>
              <a:rPr lang="en-US" altLang="zh-CN" sz="2400" i="1" dirty="0">
                <a:latin typeface="Times New Roman" panose="02020603050405020304" charset="0"/>
                <a:ea typeface="微软雅黑" panose="020B0503020204020204" charset="-122"/>
                <a:cs typeface="Times New Roman" panose="02020603050405020304" charset="0"/>
              </a:rPr>
              <a:t>E</a:t>
            </a:r>
            <a:r>
              <a:rPr lang="en-US" altLang="zh-CN" sz="2400" dirty="0">
                <a:latin typeface="Times New Roman" panose="02020603050405020304" charset="0"/>
                <a:ea typeface="微软雅黑" panose="020B0503020204020204" charset="-122"/>
                <a:cs typeface="Times New Roman" panose="02020603050405020304" charset="0"/>
              </a:rPr>
              <a:t>(</a:t>
            </a:r>
            <a:r>
              <a:rPr lang="en-US" altLang="zh-CN" sz="2400" i="1" dirty="0">
                <a:latin typeface="Times New Roman" panose="02020603050405020304" charset="0"/>
                <a:ea typeface="微软雅黑" panose="020B0503020204020204" charset="-122"/>
                <a:cs typeface="Times New Roman" panose="02020603050405020304" charset="0"/>
                <a:sym typeface="Symbol" panose="05050102010706020507" pitchFamily="18" charset="2"/>
              </a:rPr>
              <a:t></a:t>
            </a:r>
            <a:r>
              <a:rPr lang="en-US" altLang="zh-CN" sz="2400" dirty="0">
                <a:latin typeface="Times New Roman" panose="02020603050405020304" charset="0"/>
                <a:ea typeface="微软雅黑" panose="020B0503020204020204" charset="-122"/>
                <a:cs typeface="Times New Roman" panose="02020603050405020304" charset="0"/>
              </a:rPr>
              <a:t>)=0</a:t>
            </a:r>
          </a:p>
          <a:p>
            <a:pPr marL="447675" indent="-447675" algn="just">
              <a:lnSpc>
                <a:spcPct val="150000"/>
              </a:lnSpc>
              <a:buClr>
                <a:srgbClr val="318AAD"/>
              </a:buClr>
              <a:buSzPct val="100000"/>
              <a:buFont typeface="Wingdings" panose="05000000000000000000" pitchFamily="2" charset="2"/>
              <a:buChar char="l"/>
              <a:defRPr/>
            </a:pPr>
            <a:r>
              <a:rPr lang="zh-CN" altLang="en-US" sz="2400" dirty="0">
                <a:latin typeface="Times New Roman" panose="02020603050405020304" charset="0"/>
                <a:ea typeface="微软雅黑" panose="020B0503020204020204" charset="-122"/>
                <a:cs typeface="Times New Roman" panose="02020603050405020304" charset="0"/>
              </a:rPr>
              <a:t>对于自变量</a:t>
            </a:r>
            <a:r>
              <a:rPr lang="en-US" altLang="zh-CN" sz="2400" i="1" dirty="0">
                <a:latin typeface="Times New Roman" panose="02020603050405020304" charset="0"/>
                <a:ea typeface="微软雅黑" panose="020B0503020204020204" charset="-122"/>
                <a:cs typeface="Times New Roman" panose="02020603050405020304" charset="0"/>
              </a:rPr>
              <a:t>x</a:t>
            </a:r>
            <a:r>
              <a:rPr lang="en-US" altLang="zh-CN" sz="2400" baseline="-25000" dirty="0">
                <a:latin typeface="Times New Roman" panose="02020603050405020304" charset="0"/>
                <a:ea typeface="微软雅黑" panose="020B0503020204020204" charset="-122"/>
                <a:cs typeface="Times New Roman" panose="02020603050405020304" charset="0"/>
              </a:rPr>
              <a:t>1</a:t>
            </a:r>
            <a:r>
              <a:rPr lang="zh-CN" altLang="en-US" sz="2400" dirty="0">
                <a:latin typeface="Times New Roman" panose="02020603050405020304" charset="0"/>
                <a:ea typeface="微软雅黑" panose="020B0503020204020204" charset="-122"/>
                <a:cs typeface="Times New Roman" panose="02020603050405020304" charset="0"/>
              </a:rPr>
              <a:t>，</a:t>
            </a:r>
            <a:r>
              <a:rPr lang="en-US" altLang="zh-CN" sz="2400" i="1" dirty="0">
                <a:latin typeface="Times New Roman" panose="02020603050405020304" charset="0"/>
                <a:ea typeface="微软雅黑" panose="020B0503020204020204" charset="-122"/>
                <a:cs typeface="Times New Roman" panose="02020603050405020304" charset="0"/>
              </a:rPr>
              <a:t>x</a:t>
            </a:r>
            <a:r>
              <a:rPr lang="en-US" altLang="zh-CN" sz="2400" baseline="-25000" dirty="0">
                <a:latin typeface="Times New Roman" panose="02020603050405020304" charset="0"/>
                <a:ea typeface="微软雅黑" panose="020B0503020204020204" charset="-122"/>
                <a:cs typeface="Times New Roman" panose="02020603050405020304" charset="0"/>
              </a:rPr>
              <a:t>2</a:t>
            </a:r>
            <a:r>
              <a:rPr lang="zh-CN" altLang="en-US" sz="2400" dirty="0">
                <a:latin typeface="Times New Roman" panose="02020603050405020304" charset="0"/>
                <a:ea typeface="微软雅黑" panose="020B0503020204020204" charset="-122"/>
                <a:cs typeface="Times New Roman" panose="02020603050405020304" charset="0"/>
              </a:rPr>
              <a:t>，</a:t>
            </a:r>
            <a:r>
              <a:rPr lang="en-US" altLang="zh-CN" sz="2400" dirty="0">
                <a:latin typeface="Times New Roman" panose="02020603050405020304" charset="0"/>
                <a:ea typeface="微软雅黑" panose="020B0503020204020204" charset="-122"/>
                <a:cs typeface="Times New Roman" panose="02020603050405020304" charset="0"/>
              </a:rPr>
              <a:t>…</a:t>
            </a:r>
            <a:r>
              <a:rPr lang="zh-CN" altLang="en-US" sz="2400" dirty="0">
                <a:latin typeface="Times New Roman" panose="02020603050405020304" charset="0"/>
                <a:ea typeface="微软雅黑" panose="020B0503020204020204" charset="-122"/>
                <a:cs typeface="Times New Roman" panose="02020603050405020304" charset="0"/>
              </a:rPr>
              <a:t>，</a:t>
            </a:r>
            <a:r>
              <a:rPr lang="en-US" altLang="zh-CN" sz="2400" i="1" dirty="0" err="1">
                <a:latin typeface="Times New Roman" panose="02020603050405020304" charset="0"/>
                <a:ea typeface="微软雅黑" panose="020B0503020204020204" charset="-122"/>
                <a:cs typeface="Times New Roman" panose="02020603050405020304" charset="0"/>
              </a:rPr>
              <a:t>x</a:t>
            </a:r>
            <a:r>
              <a:rPr lang="en-US" altLang="zh-CN" sz="2400" i="1" baseline="-25000" dirty="0" err="1">
                <a:latin typeface="Times New Roman" panose="02020603050405020304" charset="0"/>
                <a:ea typeface="微软雅黑" panose="020B0503020204020204" charset="-122"/>
                <a:cs typeface="Times New Roman" panose="02020603050405020304" charset="0"/>
              </a:rPr>
              <a:t>k</a:t>
            </a:r>
            <a:r>
              <a:rPr lang="zh-CN" altLang="en-US" sz="2400" dirty="0">
                <a:latin typeface="Times New Roman" panose="02020603050405020304" charset="0"/>
                <a:ea typeface="微软雅黑" panose="020B0503020204020204" charset="-122"/>
                <a:cs typeface="Times New Roman" panose="02020603050405020304" charset="0"/>
              </a:rPr>
              <a:t>的所有值，</a:t>
            </a:r>
            <a:r>
              <a:rPr lang="zh-CN" altLang="en-US" sz="2400" i="1" dirty="0">
                <a:latin typeface="Times New Roman" panose="02020603050405020304" charset="0"/>
                <a:ea typeface="微软雅黑" panose="020B0503020204020204" charset="-122"/>
                <a:cs typeface="Times New Roman" panose="02020603050405020304" charset="0"/>
                <a:sym typeface="Symbol" panose="05050102010706020507" pitchFamily="18" charset="2"/>
              </a:rPr>
              <a:t></a:t>
            </a:r>
            <a:r>
              <a:rPr lang="zh-CN" altLang="en-US" sz="2400" dirty="0">
                <a:latin typeface="Times New Roman" panose="02020603050405020304" charset="0"/>
                <a:ea typeface="微软雅黑" panose="020B0503020204020204" charset="-122"/>
                <a:cs typeface="Times New Roman" panose="02020603050405020304" charset="0"/>
                <a:sym typeface="Symbol" panose="05050102010706020507" pitchFamily="18" charset="2"/>
              </a:rPr>
              <a:t>的方差</a:t>
            </a:r>
            <a:r>
              <a:rPr lang="zh-CN" altLang="en-US" sz="2400" i="1" dirty="0">
                <a:latin typeface="Times New Roman" panose="02020603050405020304" charset="0"/>
                <a:ea typeface="微软雅黑" panose="020B0503020204020204" charset="-122"/>
                <a:cs typeface="Times New Roman" panose="02020603050405020304" charset="0"/>
                <a:sym typeface="Symbol" panose="05050102010706020507" pitchFamily="18" charset="2"/>
              </a:rPr>
              <a:t> </a:t>
            </a:r>
            <a:r>
              <a:rPr lang="en-US" altLang="zh-CN" sz="2400" baseline="30000" dirty="0">
                <a:latin typeface="Times New Roman" panose="02020603050405020304" charset="0"/>
                <a:ea typeface="微软雅黑" panose="020B0503020204020204" charset="-122"/>
                <a:cs typeface="Times New Roman" panose="02020603050405020304" charset="0"/>
              </a:rPr>
              <a:t>2</a:t>
            </a:r>
            <a:r>
              <a:rPr lang="zh-CN" altLang="en-US" sz="2400" dirty="0">
                <a:latin typeface="Times New Roman" panose="02020603050405020304" charset="0"/>
                <a:ea typeface="微软雅黑" panose="020B0503020204020204" charset="-122"/>
                <a:cs typeface="Times New Roman" panose="02020603050405020304" charset="0"/>
              </a:rPr>
              <a:t>都相同</a:t>
            </a:r>
            <a:endParaRPr lang="en-US" altLang="zh-CN" sz="2400" dirty="0">
              <a:latin typeface="Times New Roman" panose="02020603050405020304" charset="0"/>
              <a:ea typeface="微软雅黑" panose="020B0503020204020204" charset="-122"/>
              <a:cs typeface="Times New Roman" panose="02020603050405020304" charset="0"/>
            </a:endParaRPr>
          </a:p>
          <a:p>
            <a:pPr marL="447675" indent="-447675" algn="just">
              <a:lnSpc>
                <a:spcPct val="150000"/>
              </a:lnSpc>
              <a:buClr>
                <a:srgbClr val="318AAD"/>
              </a:buClr>
              <a:buSzPct val="100000"/>
              <a:buFont typeface="Wingdings" panose="05000000000000000000" pitchFamily="2" charset="2"/>
              <a:buChar char="l"/>
              <a:defRPr/>
            </a:pPr>
            <a:r>
              <a:rPr lang="zh-CN" altLang="en-US" sz="2400" dirty="0">
                <a:latin typeface="Times New Roman" panose="02020603050405020304" charset="0"/>
                <a:ea typeface="微软雅黑" panose="020B0503020204020204" charset="-122"/>
                <a:cs typeface="Times New Roman" panose="02020603050405020304" charset="0"/>
              </a:rPr>
              <a:t>误差项</a:t>
            </a:r>
            <a:r>
              <a:rPr lang="en-US" altLang="zh-CN" sz="2400" i="1" dirty="0">
                <a:latin typeface="Times New Roman" panose="02020603050405020304" charset="0"/>
                <a:ea typeface="微软雅黑" panose="020B0503020204020204" charset="-122"/>
                <a:cs typeface="Times New Roman" panose="02020603050405020304" charset="0"/>
              </a:rPr>
              <a:t>ε</a:t>
            </a:r>
            <a:r>
              <a:rPr lang="zh-CN" altLang="en-US" sz="2400" dirty="0">
                <a:latin typeface="Times New Roman" panose="02020603050405020304" charset="0"/>
                <a:ea typeface="微软雅黑" panose="020B0503020204020204" charset="-122"/>
                <a:cs typeface="Times New Roman" panose="02020603050405020304" charset="0"/>
              </a:rPr>
              <a:t>是一个服从正态分布的随机变量，即</a:t>
            </a:r>
            <a:r>
              <a:rPr lang="en-US" altLang="zh-CN" sz="2400" i="1" dirty="0" err="1">
                <a:latin typeface="Times New Roman" panose="02020603050405020304" charset="0"/>
                <a:ea typeface="微软雅黑" panose="020B0503020204020204" charset="-122"/>
                <a:cs typeface="Times New Roman" panose="02020603050405020304" charset="0"/>
              </a:rPr>
              <a:t>ε</a:t>
            </a:r>
            <a:r>
              <a:rPr lang="en-US" altLang="zh-CN" sz="2400" dirty="0" err="1">
                <a:latin typeface="Times New Roman" panose="02020603050405020304" charset="0"/>
                <a:ea typeface="微软雅黑" panose="020B0503020204020204" charset="-122"/>
                <a:cs typeface="Times New Roman" panose="02020603050405020304" charset="0"/>
              </a:rPr>
              <a:t>~</a:t>
            </a:r>
            <a:r>
              <a:rPr lang="en-US" altLang="zh-CN" sz="2400" i="1" dirty="0" err="1">
                <a:latin typeface="Times New Roman" panose="02020603050405020304" charset="0"/>
                <a:ea typeface="微软雅黑" panose="020B0503020204020204" charset="-122"/>
                <a:cs typeface="Times New Roman" panose="02020603050405020304" charset="0"/>
              </a:rPr>
              <a:t>N</a:t>
            </a:r>
            <a:r>
              <a:rPr lang="en-US" altLang="zh-CN" sz="2400" dirty="0">
                <a:latin typeface="Times New Roman" panose="02020603050405020304" charset="0"/>
                <a:ea typeface="微软雅黑" panose="020B0503020204020204" charset="-122"/>
                <a:cs typeface="Times New Roman" panose="02020603050405020304" charset="0"/>
              </a:rPr>
              <a:t>(0,</a:t>
            </a:r>
            <a:r>
              <a:rPr lang="en-US" altLang="zh-CN" sz="2400" dirty="0">
                <a:latin typeface="Times New Roman" panose="02020603050405020304" charset="0"/>
                <a:ea typeface="微软雅黑" panose="020B0503020204020204" charset="-122"/>
                <a:cs typeface="Times New Roman" panose="02020603050405020304" charset="0"/>
                <a:sym typeface="Symbol" panose="05050102010706020507" pitchFamily="18" charset="2"/>
              </a:rPr>
              <a:t></a:t>
            </a:r>
            <a:r>
              <a:rPr lang="en-US" altLang="zh-CN" sz="2400" baseline="30000" dirty="0">
                <a:latin typeface="Times New Roman" panose="02020603050405020304" charset="0"/>
                <a:ea typeface="微软雅黑" panose="020B0503020204020204" charset="-122"/>
                <a:cs typeface="Times New Roman" panose="02020603050405020304" charset="0"/>
              </a:rPr>
              <a:t>2</a:t>
            </a:r>
            <a:r>
              <a:rPr lang="en-US" altLang="zh-CN" sz="2400" dirty="0">
                <a:latin typeface="Times New Roman" panose="02020603050405020304" charset="0"/>
                <a:ea typeface="微软雅黑" panose="020B0503020204020204" charset="-122"/>
                <a:cs typeface="Times New Roman" panose="02020603050405020304" charset="0"/>
              </a:rPr>
              <a:t>)</a:t>
            </a:r>
            <a:r>
              <a:rPr lang="zh-CN" altLang="en-US" sz="2400" dirty="0">
                <a:latin typeface="Times New Roman" panose="02020603050405020304" charset="0"/>
                <a:ea typeface="微软雅黑" panose="020B0503020204020204" charset="-122"/>
                <a:cs typeface="Times New Roman" panose="02020603050405020304" charset="0"/>
              </a:rPr>
              <a:t>，且相互独立</a:t>
            </a:r>
          </a:p>
        </p:txBody>
      </p:sp>
    </p:spTree>
    <p:extLst>
      <p:ext uri="{BB962C8B-B14F-4D97-AF65-F5344CB8AC3E}">
        <p14:creationId xmlns:p14="http://schemas.microsoft.com/office/powerpoint/2010/main" val="12811934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1">
            <a:extLst>
              <a:ext uri="{FF2B5EF4-FFF2-40B4-BE49-F238E27FC236}">
                <a16:creationId xmlns:a16="http://schemas.microsoft.com/office/drawing/2014/main" id="{1F2754AD-9878-92EE-6912-1CA9776FEFB3}"/>
              </a:ext>
            </a:extLst>
          </p:cNvPr>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7" name="文本框 6" descr="7b0a202020202262756c6c6574223a20227b5c2263617465676f727949645c223a31303030352c5c2274656d706c61746549645c223a32303233313332387d220a7d0a">
            <a:extLst>
              <a:ext uri="{FF2B5EF4-FFF2-40B4-BE49-F238E27FC236}">
                <a16:creationId xmlns:a16="http://schemas.microsoft.com/office/drawing/2014/main" id="{48E0CD6E-805C-04B9-A9ED-0C97252BAC63}"/>
              </a:ext>
            </a:extLst>
          </p:cNvPr>
          <p:cNvSpPr txBox="1"/>
          <p:nvPr>
            <p:custDataLst>
              <p:tags r:id="rId1"/>
            </p:custDataLst>
          </p:nvPr>
        </p:nvSpPr>
        <p:spPr>
          <a:xfrm>
            <a:off x="0" y="1088701"/>
            <a:ext cx="7261234" cy="581057"/>
          </a:xfrm>
          <a:prstGeom prst="rect">
            <a:avLst/>
          </a:prstGeom>
          <a:noFill/>
        </p:spPr>
        <p:txBody>
          <a:bodyPr wrap="square" rtlCol="0">
            <a:spAutoFit/>
          </a:bodyPr>
          <a:lstStyle/>
          <a:p>
            <a:pPr indent="0" fontAlgn="auto">
              <a:lnSpc>
                <a:spcPct val="150000"/>
              </a:lnSpc>
              <a:buSzPct val="200000"/>
              <a:buBlip>
                <a:blip r:embed="rId3"/>
              </a:buBlip>
            </a:pPr>
            <a:r>
              <a:rPr lang="zh-CN" altLang="en-US" sz="2400" b="1" dirty="0">
                <a:solidFill>
                  <a:srgbClr val="0F65E6"/>
                </a:solidFill>
                <a:latin typeface="微软雅黑" panose="020B0503020204020204" charset="-122"/>
                <a:ea typeface="微软雅黑" panose="020B0503020204020204" charset="-122"/>
              </a:rPr>
              <a:t>多元回归模型与回归方程</a:t>
            </a:r>
            <a:r>
              <a:rPr lang="en-US" altLang="zh-CN" sz="2400" b="1" dirty="0">
                <a:solidFill>
                  <a:srgbClr val="0F65E6"/>
                </a:solidFill>
                <a:latin typeface="微软雅黑" panose="020B0503020204020204" charset="-122"/>
                <a:ea typeface="微软雅黑" panose="020B0503020204020204" charset="-122"/>
              </a:rPr>
              <a:t>——</a:t>
            </a:r>
            <a:r>
              <a:rPr lang="zh-CN" altLang="en-US" sz="2400" b="1" dirty="0">
                <a:solidFill>
                  <a:srgbClr val="0F65E6"/>
                </a:solidFill>
                <a:latin typeface="微软雅黑" panose="020B0503020204020204" charset="-122"/>
                <a:ea typeface="微软雅黑" panose="020B0503020204020204" charset="-122"/>
              </a:rPr>
              <a:t>回归方程</a:t>
            </a:r>
          </a:p>
        </p:txBody>
      </p:sp>
      <p:sp>
        <p:nvSpPr>
          <p:cNvPr id="8" name="Content Placeholder 8">
            <a:extLst>
              <a:ext uri="{FF2B5EF4-FFF2-40B4-BE49-F238E27FC236}">
                <a16:creationId xmlns:a16="http://schemas.microsoft.com/office/drawing/2014/main" id="{751B0331-1DFE-4F12-43A6-36E694925729}"/>
              </a:ext>
            </a:extLst>
          </p:cNvPr>
          <p:cNvSpPr txBox="1"/>
          <p:nvPr/>
        </p:nvSpPr>
        <p:spPr>
          <a:xfrm>
            <a:off x="551383" y="1661567"/>
            <a:ext cx="7441053" cy="4680520"/>
          </a:xfrm>
          <a:prstGeom prst="rect">
            <a:avLst/>
          </a:prstGeom>
          <a:ln w="12700" cmpd="dbl">
            <a:solidFill>
              <a:schemeClr val="accent1"/>
            </a:solidFill>
          </a:ln>
        </p:spPr>
        <p:txBody>
          <a:bodyPr>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思源黑体 CN Heavy" panose="020B0A00000000000000"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思源黑体 CN Heavy" panose="020B0A00000000000000"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思源黑体 CN Heavy" panose="020B0A00000000000000"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思源黑体 CN Heavy" panose="020B0A00000000000000"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思源黑体 CN Heavy" panose="020B0A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Clr>
                <a:srgbClr val="318AAD"/>
              </a:buClr>
              <a:buSzPct val="100000"/>
              <a:buFont typeface="Arial" panose="020B0604020202020204" pitchFamily="34" charset="0"/>
              <a:buNone/>
              <a:defRPr/>
            </a:pPr>
            <a:r>
              <a:rPr lang="zh-CN" altLang="en-US" sz="2200" b="1" dirty="0">
                <a:solidFill>
                  <a:srgbClr val="FF0000"/>
                </a:solidFill>
                <a:latin typeface="Arial" panose="020B0604020202020204" pitchFamily="34" charset="0"/>
                <a:cs typeface="Arial" panose="020B0604020202020204" pitchFamily="34" charset="0"/>
              </a:rPr>
              <a:t>多元回归方程</a:t>
            </a:r>
            <a:endParaRPr lang="en-US" altLang="zh-CN" sz="2200" b="1" dirty="0">
              <a:solidFill>
                <a:srgbClr val="FF0000"/>
              </a:solidFill>
              <a:latin typeface="Arial" panose="020B0604020202020204" pitchFamily="34" charset="0"/>
              <a:cs typeface="Arial" panose="020B0604020202020204" pitchFamily="34" charset="0"/>
            </a:endParaRPr>
          </a:p>
          <a:p>
            <a:pPr marL="447675" indent="-447675" algn="just">
              <a:buClr>
                <a:srgbClr val="318AAD"/>
              </a:buClr>
              <a:buSzPct val="100000"/>
              <a:buFont typeface="Wingdings" panose="05000000000000000000" pitchFamily="2" charset="2"/>
              <a:buChar char="l"/>
              <a:defRPr/>
            </a:pPr>
            <a:r>
              <a:rPr lang="zh-CN" altLang="en-US" sz="2200" dirty="0">
                <a:solidFill>
                  <a:schemeClr val="tx1"/>
                </a:solidFill>
                <a:latin typeface="Times New Roman" panose="02020603050405020304" charset="0"/>
                <a:ea typeface="微软雅黑" panose="020B0503020204020204" charset="-122"/>
                <a:cs typeface="Times New Roman" panose="02020603050405020304" charset="0"/>
              </a:rPr>
              <a:t>描述因变量 </a:t>
            </a:r>
            <a:r>
              <a:rPr lang="en-US" altLang="zh-CN" sz="2200" i="1" dirty="0">
                <a:solidFill>
                  <a:schemeClr val="tx1"/>
                </a:solidFill>
                <a:latin typeface="Times New Roman" panose="02020603050405020304" charset="0"/>
                <a:ea typeface="微软雅黑" panose="020B0503020204020204" charset="-122"/>
                <a:cs typeface="Times New Roman" panose="02020603050405020304" charset="0"/>
              </a:rPr>
              <a:t>y </a:t>
            </a:r>
            <a:r>
              <a:rPr lang="zh-CN" altLang="en-US" sz="2200" dirty="0">
                <a:solidFill>
                  <a:schemeClr val="tx1"/>
                </a:solidFill>
                <a:latin typeface="Times New Roman" panose="02020603050405020304" charset="0"/>
                <a:ea typeface="微软雅黑" panose="020B0503020204020204" charset="-122"/>
                <a:cs typeface="Times New Roman" panose="02020603050405020304" charset="0"/>
              </a:rPr>
              <a:t>的平均值或期望值如何依赖于自变量 </a:t>
            </a:r>
            <a:r>
              <a:rPr lang="en-US" altLang="zh-CN" sz="2200" i="1" dirty="0">
                <a:solidFill>
                  <a:schemeClr val="tx1"/>
                </a:solidFill>
                <a:latin typeface="Times New Roman" panose="02020603050405020304" charset="0"/>
                <a:ea typeface="微软雅黑" panose="020B0503020204020204" charset="-122"/>
                <a:cs typeface="Times New Roman" panose="02020603050405020304" charset="0"/>
              </a:rPr>
              <a:t>x</a:t>
            </a:r>
            <a:r>
              <a:rPr lang="en-US" altLang="zh-CN" sz="2200" baseline="-25000" dirty="0">
                <a:solidFill>
                  <a:schemeClr val="tx1"/>
                </a:solidFill>
                <a:latin typeface="Times New Roman" panose="02020603050405020304" charset="0"/>
                <a:ea typeface="微软雅黑" panose="020B0503020204020204" charset="-122"/>
                <a:cs typeface="Times New Roman" panose="02020603050405020304" charset="0"/>
              </a:rPr>
              <a:t>1</a:t>
            </a:r>
            <a:r>
              <a:rPr lang="zh-CN" altLang="en-US" sz="2200" dirty="0">
                <a:solidFill>
                  <a:schemeClr val="tx1"/>
                </a:solidFill>
                <a:latin typeface="Times New Roman" panose="02020603050405020304" charset="0"/>
                <a:ea typeface="微软雅黑" panose="020B0503020204020204" charset="-122"/>
                <a:cs typeface="Times New Roman" panose="02020603050405020304" charset="0"/>
              </a:rPr>
              <a:t>， </a:t>
            </a:r>
            <a:r>
              <a:rPr lang="en-US" altLang="zh-CN" sz="2200" i="1" dirty="0">
                <a:solidFill>
                  <a:schemeClr val="tx1"/>
                </a:solidFill>
                <a:latin typeface="Times New Roman" panose="02020603050405020304" charset="0"/>
                <a:ea typeface="微软雅黑" panose="020B0503020204020204" charset="-122"/>
                <a:cs typeface="Times New Roman" panose="02020603050405020304" charset="0"/>
              </a:rPr>
              <a:t>x</a:t>
            </a:r>
            <a:r>
              <a:rPr lang="en-US" altLang="zh-CN" sz="2200" baseline="-25000" dirty="0">
                <a:solidFill>
                  <a:schemeClr val="tx1"/>
                </a:solidFill>
                <a:latin typeface="Times New Roman" panose="02020603050405020304" charset="0"/>
                <a:ea typeface="微软雅黑" panose="020B0503020204020204" charset="-122"/>
                <a:cs typeface="Times New Roman" panose="02020603050405020304" charset="0"/>
              </a:rPr>
              <a:t>2</a:t>
            </a:r>
            <a:r>
              <a:rPr lang="en-US" altLang="zh-CN" sz="2200" i="1" dirty="0">
                <a:solidFill>
                  <a:schemeClr val="tx1"/>
                </a:solidFill>
                <a:latin typeface="Times New Roman" panose="02020603050405020304" charset="0"/>
                <a:ea typeface="微软雅黑" panose="020B0503020204020204" charset="-122"/>
                <a:cs typeface="Times New Roman" panose="02020603050405020304" charset="0"/>
              </a:rPr>
              <a:t> </a:t>
            </a:r>
            <a:r>
              <a:rPr lang="zh-CN" altLang="en-US" sz="2200" dirty="0">
                <a:solidFill>
                  <a:schemeClr val="tx1"/>
                </a:solidFill>
                <a:latin typeface="Times New Roman" panose="02020603050405020304" charset="0"/>
                <a:ea typeface="微软雅黑" panose="020B0503020204020204" charset="-122"/>
                <a:cs typeface="Times New Roman" panose="02020603050405020304" charset="0"/>
              </a:rPr>
              <a:t>，</a:t>
            </a:r>
            <a:r>
              <a:rPr lang="en-US" altLang="zh-CN" sz="2200" dirty="0">
                <a:solidFill>
                  <a:schemeClr val="tx1"/>
                </a:solidFill>
                <a:latin typeface="Times New Roman" panose="02020603050405020304" charset="0"/>
                <a:ea typeface="微软雅黑" panose="020B0503020204020204" charset="-122"/>
                <a:cs typeface="Times New Roman" panose="02020603050405020304" charset="0"/>
              </a:rPr>
              <a:t>…</a:t>
            </a:r>
            <a:r>
              <a:rPr lang="zh-CN" altLang="en-US" sz="2200" dirty="0">
                <a:solidFill>
                  <a:schemeClr val="tx1"/>
                </a:solidFill>
                <a:latin typeface="Times New Roman" panose="02020603050405020304" charset="0"/>
                <a:ea typeface="微软雅黑" panose="020B0503020204020204" charset="-122"/>
                <a:cs typeface="Times New Roman" panose="02020603050405020304" charset="0"/>
              </a:rPr>
              <a:t>，</a:t>
            </a:r>
            <a:r>
              <a:rPr lang="en-US" altLang="zh-CN" sz="2200" i="1" dirty="0" err="1">
                <a:solidFill>
                  <a:schemeClr val="tx1"/>
                </a:solidFill>
                <a:latin typeface="Times New Roman" panose="02020603050405020304" charset="0"/>
                <a:ea typeface="微软雅黑" panose="020B0503020204020204" charset="-122"/>
                <a:cs typeface="Times New Roman" panose="02020603050405020304" charset="0"/>
              </a:rPr>
              <a:t>x</a:t>
            </a:r>
            <a:r>
              <a:rPr lang="en-US" altLang="zh-CN" sz="2200" i="1" baseline="-25000" dirty="0" err="1">
                <a:solidFill>
                  <a:schemeClr val="tx1"/>
                </a:solidFill>
                <a:latin typeface="Times New Roman" panose="02020603050405020304" charset="0"/>
                <a:ea typeface="微软雅黑" panose="020B0503020204020204" charset="-122"/>
                <a:cs typeface="Times New Roman" panose="02020603050405020304" charset="0"/>
              </a:rPr>
              <a:t>k</a:t>
            </a:r>
            <a:r>
              <a:rPr lang="zh-CN" altLang="en-US" sz="2200" dirty="0">
                <a:solidFill>
                  <a:schemeClr val="tx1"/>
                </a:solidFill>
                <a:latin typeface="Times New Roman" panose="02020603050405020304" charset="0"/>
                <a:ea typeface="微软雅黑" panose="020B0503020204020204" charset="-122"/>
                <a:cs typeface="Times New Roman" panose="02020603050405020304" charset="0"/>
              </a:rPr>
              <a:t>的方程</a:t>
            </a:r>
            <a:endParaRPr lang="en-US" altLang="zh-CN" sz="2200" dirty="0">
              <a:solidFill>
                <a:schemeClr val="tx1"/>
              </a:solidFill>
              <a:latin typeface="Times New Roman" panose="02020603050405020304" charset="0"/>
              <a:ea typeface="微软雅黑" panose="020B0503020204020204" charset="-122"/>
              <a:cs typeface="Times New Roman" panose="02020603050405020304" charset="0"/>
            </a:endParaRPr>
          </a:p>
          <a:p>
            <a:pPr marL="447675" indent="-447675" algn="just">
              <a:buClr>
                <a:srgbClr val="318AAD"/>
              </a:buClr>
              <a:buSzPct val="100000"/>
              <a:buFont typeface="Wingdings" panose="05000000000000000000" pitchFamily="2" charset="2"/>
              <a:buChar char="l"/>
              <a:defRPr/>
            </a:pPr>
            <a:r>
              <a:rPr lang="zh-CN" altLang="en-US" sz="2200" dirty="0">
                <a:solidFill>
                  <a:schemeClr val="tx1"/>
                </a:solidFill>
                <a:latin typeface="Times New Roman" panose="02020603050405020304" charset="0"/>
                <a:ea typeface="微软雅黑" panose="020B0503020204020204" charset="-122"/>
                <a:cs typeface="Times New Roman" panose="02020603050405020304" charset="0"/>
              </a:rPr>
              <a:t>多元线性回归方程的形式</a:t>
            </a:r>
            <a:endParaRPr lang="en-US" altLang="zh-CN" sz="2200" dirty="0">
              <a:solidFill>
                <a:schemeClr val="tx1"/>
              </a:solidFill>
              <a:latin typeface="Times New Roman" panose="02020603050405020304" charset="0"/>
              <a:ea typeface="微软雅黑" panose="020B0503020204020204" charset="-122"/>
              <a:cs typeface="Times New Roman" panose="02020603050405020304" charset="0"/>
            </a:endParaRPr>
          </a:p>
          <a:p>
            <a:pPr marL="0" indent="0" algn="just">
              <a:buClr>
                <a:srgbClr val="318AAD"/>
              </a:buClr>
              <a:buSzPct val="100000"/>
              <a:buFont typeface="Arial" panose="020B0604020202020204" pitchFamily="34" charset="0"/>
              <a:buNone/>
              <a:defRPr/>
            </a:pPr>
            <a:r>
              <a:rPr lang="en-US" altLang="zh-CN" sz="2200" i="1" dirty="0">
                <a:solidFill>
                  <a:schemeClr val="tx1"/>
                </a:solidFill>
                <a:latin typeface="Times New Roman" panose="02020603050405020304" charset="0"/>
                <a:ea typeface="微软雅黑" panose="020B0503020204020204" charset="-122"/>
                <a:cs typeface="Times New Roman" panose="02020603050405020304" charset="0"/>
              </a:rPr>
              <a:t>E</a:t>
            </a:r>
            <a:r>
              <a:rPr lang="en-US" altLang="zh-CN" sz="2200" dirty="0">
                <a:solidFill>
                  <a:schemeClr val="tx1"/>
                </a:solidFill>
                <a:latin typeface="Times New Roman" panose="02020603050405020304" charset="0"/>
                <a:ea typeface="微软雅黑" panose="020B0503020204020204" charset="-122"/>
                <a:cs typeface="Times New Roman" panose="02020603050405020304" charset="0"/>
              </a:rPr>
              <a:t>( </a:t>
            </a:r>
            <a:r>
              <a:rPr lang="en-US" altLang="zh-CN" sz="2200" i="1" dirty="0">
                <a:solidFill>
                  <a:schemeClr val="tx1"/>
                </a:solidFill>
                <a:latin typeface="Times New Roman" panose="02020603050405020304" charset="0"/>
                <a:ea typeface="微软雅黑" panose="020B0503020204020204" charset="-122"/>
                <a:cs typeface="Times New Roman" panose="02020603050405020304" charset="0"/>
              </a:rPr>
              <a:t>y </a:t>
            </a:r>
            <a:r>
              <a:rPr lang="en-US" altLang="zh-CN" sz="2200" dirty="0">
                <a:solidFill>
                  <a:schemeClr val="tx1"/>
                </a:solidFill>
                <a:latin typeface="Times New Roman" panose="02020603050405020304" charset="0"/>
                <a:ea typeface="微软雅黑" panose="020B0503020204020204" charset="-122"/>
                <a:cs typeface="Times New Roman" panose="02020603050405020304" charset="0"/>
              </a:rPr>
              <a:t>) = </a:t>
            </a:r>
            <a:r>
              <a:rPr lang="en-US" altLang="zh-CN" sz="2200" i="1" dirty="0">
                <a:solidFill>
                  <a:schemeClr val="tx1"/>
                </a:solidFill>
                <a:latin typeface="Times New Roman" panose="02020603050405020304" charset="0"/>
                <a:ea typeface="微软雅黑" panose="020B0503020204020204" charset="-122"/>
                <a:cs typeface="Times New Roman" panose="02020603050405020304" charset="0"/>
                <a:sym typeface="Symbol" panose="05050102010706020507" pitchFamily="18" charset="2"/>
              </a:rPr>
              <a:t></a:t>
            </a:r>
            <a:r>
              <a:rPr lang="en-US" altLang="zh-CN" sz="2200" baseline="-25000" dirty="0">
                <a:solidFill>
                  <a:schemeClr val="tx1"/>
                </a:solidFill>
                <a:latin typeface="Times New Roman" panose="02020603050405020304" charset="0"/>
                <a:ea typeface="微软雅黑" panose="020B0503020204020204" charset="-122"/>
                <a:cs typeface="Times New Roman" panose="02020603050405020304" charset="0"/>
              </a:rPr>
              <a:t>0</a:t>
            </a:r>
            <a:r>
              <a:rPr lang="en-US" altLang="zh-CN" sz="2200" dirty="0">
                <a:solidFill>
                  <a:schemeClr val="tx1"/>
                </a:solidFill>
                <a:latin typeface="Times New Roman" panose="02020603050405020304" charset="0"/>
                <a:ea typeface="微软雅黑" panose="020B0503020204020204" charset="-122"/>
                <a:cs typeface="Times New Roman" panose="02020603050405020304" charset="0"/>
              </a:rPr>
              <a:t>+ </a:t>
            </a:r>
            <a:r>
              <a:rPr lang="en-US" altLang="zh-CN" sz="2200" i="1" dirty="0">
                <a:solidFill>
                  <a:schemeClr val="tx1"/>
                </a:solidFill>
                <a:latin typeface="Times New Roman" panose="02020603050405020304" charset="0"/>
                <a:ea typeface="微软雅黑" panose="020B0503020204020204" charset="-122"/>
                <a:cs typeface="Times New Roman" panose="02020603050405020304" charset="0"/>
                <a:sym typeface="Symbol" panose="05050102010706020507" pitchFamily="18" charset="2"/>
              </a:rPr>
              <a:t></a:t>
            </a:r>
            <a:r>
              <a:rPr lang="en-US" altLang="zh-CN" sz="2200" baseline="-25000" dirty="0">
                <a:solidFill>
                  <a:schemeClr val="tx1"/>
                </a:solidFill>
                <a:latin typeface="Times New Roman" panose="02020603050405020304" charset="0"/>
                <a:ea typeface="微软雅黑" panose="020B0503020204020204" charset="-122"/>
                <a:cs typeface="Times New Roman" panose="02020603050405020304" charset="0"/>
              </a:rPr>
              <a:t>1 </a:t>
            </a:r>
            <a:r>
              <a:rPr lang="en-US" altLang="zh-CN" sz="2200" i="1" dirty="0">
                <a:solidFill>
                  <a:schemeClr val="tx1"/>
                </a:solidFill>
                <a:latin typeface="Times New Roman" panose="02020603050405020304" charset="0"/>
                <a:ea typeface="微软雅黑" panose="020B0503020204020204" charset="-122"/>
                <a:cs typeface="Times New Roman" panose="02020603050405020304" charset="0"/>
              </a:rPr>
              <a:t>x</a:t>
            </a:r>
            <a:r>
              <a:rPr lang="en-US" altLang="zh-CN" sz="2200" baseline="-25000" dirty="0">
                <a:solidFill>
                  <a:schemeClr val="tx1"/>
                </a:solidFill>
                <a:latin typeface="Times New Roman" panose="02020603050405020304" charset="0"/>
                <a:ea typeface="微软雅黑" panose="020B0503020204020204" charset="-122"/>
                <a:cs typeface="Times New Roman" panose="02020603050405020304" charset="0"/>
              </a:rPr>
              <a:t>1</a:t>
            </a:r>
            <a:r>
              <a:rPr lang="en-US" altLang="zh-CN" sz="2200" i="1" dirty="0">
                <a:solidFill>
                  <a:schemeClr val="tx1"/>
                </a:solidFill>
                <a:latin typeface="Times New Roman" panose="02020603050405020304" charset="0"/>
                <a:ea typeface="微软雅黑" panose="020B0503020204020204" charset="-122"/>
                <a:cs typeface="Times New Roman" panose="02020603050405020304" charset="0"/>
              </a:rPr>
              <a:t> </a:t>
            </a:r>
            <a:r>
              <a:rPr lang="en-US" altLang="zh-CN" sz="2200" dirty="0">
                <a:solidFill>
                  <a:schemeClr val="tx1"/>
                </a:solidFill>
                <a:latin typeface="Times New Roman" panose="02020603050405020304" charset="0"/>
                <a:ea typeface="微软雅黑" panose="020B0503020204020204" charset="-122"/>
                <a:cs typeface="Times New Roman" panose="02020603050405020304" charset="0"/>
              </a:rPr>
              <a:t>+ </a:t>
            </a:r>
            <a:r>
              <a:rPr lang="en-US" altLang="zh-CN" sz="2200" i="1" dirty="0">
                <a:solidFill>
                  <a:schemeClr val="tx1"/>
                </a:solidFill>
                <a:latin typeface="Times New Roman" panose="02020603050405020304" charset="0"/>
                <a:ea typeface="微软雅黑" panose="020B0503020204020204" charset="-122"/>
                <a:cs typeface="Times New Roman" panose="02020603050405020304" charset="0"/>
                <a:sym typeface="Symbol" panose="05050102010706020507" pitchFamily="18" charset="2"/>
              </a:rPr>
              <a:t></a:t>
            </a:r>
            <a:r>
              <a:rPr lang="en-US" altLang="zh-CN" sz="2200" baseline="-25000" dirty="0">
                <a:solidFill>
                  <a:schemeClr val="tx1"/>
                </a:solidFill>
                <a:latin typeface="Times New Roman" panose="02020603050405020304" charset="0"/>
                <a:ea typeface="微软雅黑" panose="020B0503020204020204" charset="-122"/>
                <a:cs typeface="Times New Roman" panose="02020603050405020304" charset="0"/>
              </a:rPr>
              <a:t>2 </a:t>
            </a:r>
            <a:r>
              <a:rPr lang="en-US" altLang="zh-CN" sz="2200" i="1" dirty="0">
                <a:solidFill>
                  <a:schemeClr val="tx1"/>
                </a:solidFill>
                <a:latin typeface="Times New Roman" panose="02020603050405020304" charset="0"/>
                <a:ea typeface="微软雅黑" panose="020B0503020204020204" charset="-122"/>
                <a:cs typeface="Times New Roman" panose="02020603050405020304" charset="0"/>
              </a:rPr>
              <a:t>x</a:t>
            </a:r>
            <a:r>
              <a:rPr lang="en-US" altLang="zh-CN" sz="2200" baseline="-25000" dirty="0">
                <a:solidFill>
                  <a:schemeClr val="tx1"/>
                </a:solidFill>
                <a:latin typeface="Times New Roman" panose="02020603050405020304" charset="0"/>
                <a:ea typeface="微软雅黑" panose="020B0503020204020204" charset="-122"/>
                <a:cs typeface="Times New Roman" panose="02020603050405020304" charset="0"/>
              </a:rPr>
              <a:t>2</a:t>
            </a:r>
            <a:r>
              <a:rPr lang="en-US" altLang="zh-CN" sz="2200" i="1" dirty="0">
                <a:solidFill>
                  <a:schemeClr val="tx1"/>
                </a:solidFill>
                <a:latin typeface="Times New Roman" panose="02020603050405020304" charset="0"/>
                <a:ea typeface="微软雅黑" panose="020B0503020204020204" charset="-122"/>
                <a:cs typeface="Times New Roman" panose="02020603050405020304" charset="0"/>
              </a:rPr>
              <a:t> </a:t>
            </a:r>
            <a:r>
              <a:rPr lang="en-US" altLang="zh-CN" sz="2200" dirty="0">
                <a:solidFill>
                  <a:schemeClr val="tx1"/>
                </a:solidFill>
                <a:latin typeface="Times New Roman" panose="02020603050405020304" charset="0"/>
                <a:ea typeface="微软雅黑" panose="020B0503020204020204" charset="-122"/>
                <a:cs typeface="Times New Roman" panose="02020603050405020304" charset="0"/>
              </a:rPr>
              <a:t>+…+ </a:t>
            </a:r>
            <a:r>
              <a:rPr lang="en-US" altLang="zh-CN" sz="2200" i="1" dirty="0">
                <a:solidFill>
                  <a:schemeClr val="tx1"/>
                </a:solidFill>
                <a:latin typeface="Times New Roman" panose="02020603050405020304" charset="0"/>
                <a:ea typeface="微软雅黑" panose="020B0503020204020204" charset="-122"/>
                <a:cs typeface="Times New Roman" panose="02020603050405020304" charset="0"/>
                <a:sym typeface="Symbol" panose="05050102010706020507" pitchFamily="18" charset="2"/>
              </a:rPr>
              <a:t></a:t>
            </a:r>
            <a:r>
              <a:rPr lang="en-US" altLang="zh-CN" sz="2200" i="1" baseline="-25000" dirty="0">
                <a:solidFill>
                  <a:schemeClr val="tx1"/>
                </a:solidFill>
                <a:latin typeface="Times New Roman" panose="02020603050405020304" charset="0"/>
                <a:ea typeface="微软雅黑" panose="020B0503020204020204" charset="-122"/>
                <a:cs typeface="Times New Roman" panose="02020603050405020304" charset="0"/>
              </a:rPr>
              <a:t>k</a:t>
            </a:r>
            <a:r>
              <a:rPr lang="en-US" altLang="zh-CN" sz="2200" baseline="-25000" dirty="0">
                <a:solidFill>
                  <a:schemeClr val="tx1"/>
                </a:solidFill>
                <a:latin typeface="Times New Roman" panose="02020603050405020304" charset="0"/>
                <a:ea typeface="微软雅黑" panose="020B0503020204020204" charset="-122"/>
                <a:cs typeface="Times New Roman" panose="02020603050405020304" charset="0"/>
              </a:rPr>
              <a:t> </a:t>
            </a:r>
            <a:r>
              <a:rPr lang="en-US" altLang="zh-CN" sz="2200" i="1" dirty="0" err="1">
                <a:solidFill>
                  <a:schemeClr val="tx1"/>
                </a:solidFill>
                <a:latin typeface="Times New Roman" panose="02020603050405020304" charset="0"/>
                <a:ea typeface="微软雅黑" panose="020B0503020204020204" charset="-122"/>
                <a:cs typeface="Times New Roman" panose="02020603050405020304" charset="0"/>
              </a:rPr>
              <a:t>x</a:t>
            </a:r>
            <a:r>
              <a:rPr lang="en-US" altLang="zh-CN" sz="2200" i="1" baseline="-25000" dirty="0" err="1">
                <a:solidFill>
                  <a:schemeClr val="tx1"/>
                </a:solidFill>
                <a:latin typeface="Times New Roman" panose="02020603050405020304" charset="0"/>
                <a:ea typeface="微软雅黑" panose="020B0503020204020204" charset="-122"/>
                <a:cs typeface="Times New Roman" panose="02020603050405020304" charset="0"/>
              </a:rPr>
              <a:t>k</a:t>
            </a:r>
            <a:r>
              <a:rPr lang="en-US" altLang="zh-CN" sz="2200" i="1" dirty="0">
                <a:solidFill>
                  <a:schemeClr val="tx1"/>
                </a:solidFill>
                <a:effectLst>
                  <a:outerShdw blurRad="38100" dist="38100" dir="2700000" algn="tl">
                    <a:srgbClr val="000000"/>
                  </a:outerShdw>
                </a:effectLst>
                <a:latin typeface="Times New Roman" panose="02020603050405020304" charset="0"/>
                <a:ea typeface="微软雅黑" panose="020B0503020204020204" charset="-122"/>
                <a:cs typeface="Times New Roman" panose="02020603050405020304" charset="0"/>
              </a:rPr>
              <a:t> </a:t>
            </a:r>
          </a:p>
          <a:p>
            <a:pPr lvl="1" algn="just">
              <a:spcBef>
                <a:spcPct val="50000"/>
              </a:spcBef>
              <a:buClr>
                <a:schemeClr val="hlink"/>
              </a:buClr>
              <a:buFont typeface="Wingdings" panose="05000000000000000000" pitchFamily="2" charset="2"/>
              <a:buChar char="§"/>
              <a:defRPr/>
            </a:pPr>
            <a:r>
              <a:rPr lang="en-US" altLang="zh-CN" sz="1800" i="1" dirty="0">
                <a:solidFill>
                  <a:schemeClr val="tx1"/>
                </a:solidFill>
                <a:latin typeface="Times New Roman" panose="02020603050405020304" charset="0"/>
                <a:ea typeface="微软雅黑" panose="020B0503020204020204" charset="-122"/>
                <a:cs typeface="Times New Roman" panose="02020603050405020304" charset="0"/>
              </a:rPr>
              <a:t>b</a:t>
            </a:r>
            <a:r>
              <a:rPr lang="en-US" altLang="zh-CN" sz="1800" baseline="-25000" dirty="0">
                <a:solidFill>
                  <a:schemeClr val="tx1"/>
                </a:solidFill>
                <a:latin typeface="Times New Roman" panose="02020603050405020304" charset="0"/>
                <a:ea typeface="微软雅黑" panose="020B0503020204020204" charset="-122"/>
                <a:cs typeface="Times New Roman" panose="02020603050405020304" charset="0"/>
              </a:rPr>
              <a:t>1</a:t>
            </a:r>
            <a:r>
              <a:rPr lang="zh-CN" altLang="en-US" sz="1800" dirty="0">
                <a:solidFill>
                  <a:schemeClr val="tx1"/>
                </a:solidFill>
                <a:latin typeface="Times New Roman" panose="02020603050405020304" charset="0"/>
                <a:ea typeface="微软雅黑" panose="020B0503020204020204" charset="-122"/>
                <a:cs typeface="Times New Roman" panose="02020603050405020304" charset="0"/>
              </a:rPr>
              <a:t>，</a:t>
            </a:r>
            <a:r>
              <a:rPr lang="en-US" altLang="zh-CN" sz="1800" i="1" dirty="0">
                <a:solidFill>
                  <a:schemeClr val="tx1"/>
                </a:solidFill>
                <a:latin typeface="Times New Roman" panose="02020603050405020304" charset="0"/>
                <a:ea typeface="微软雅黑" panose="020B0503020204020204" charset="-122"/>
                <a:cs typeface="Times New Roman" panose="02020603050405020304" charset="0"/>
              </a:rPr>
              <a:t>b</a:t>
            </a:r>
            <a:r>
              <a:rPr lang="en-US" altLang="zh-CN" sz="1800" baseline="-25000" dirty="0">
                <a:solidFill>
                  <a:schemeClr val="tx1"/>
                </a:solidFill>
                <a:latin typeface="Times New Roman" panose="02020603050405020304" charset="0"/>
                <a:ea typeface="微软雅黑" panose="020B0503020204020204" charset="-122"/>
                <a:cs typeface="Times New Roman" panose="02020603050405020304" charset="0"/>
              </a:rPr>
              <a:t>2</a:t>
            </a:r>
            <a:r>
              <a:rPr lang="zh-CN" altLang="en-US" sz="1800" dirty="0">
                <a:solidFill>
                  <a:schemeClr val="tx1"/>
                </a:solidFill>
                <a:latin typeface="Times New Roman" panose="02020603050405020304" charset="0"/>
                <a:ea typeface="微软雅黑" panose="020B0503020204020204" charset="-122"/>
                <a:cs typeface="Times New Roman" panose="02020603050405020304" charset="0"/>
              </a:rPr>
              <a:t>，</a:t>
            </a:r>
            <a:r>
              <a:rPr lang="zh-CN" altLang="en-US" sz="1800" dirty="0">
                <a:solidFill>
                  <a:schemeClr val="tx1"/>
                </a:solidFill>
                <a:latin typeface="Times New Roman" panose="02020603050405020304" charset="0"/>
                <a:ea typeface="微软雅黑" panose="020B0503020204020204" charset="-122"/>
                <a:cs typeface="Times New Roman" panose="02020603050405020304" charset="0"/>
                <a:sym typeface="Symbol" panose="05050102010706020507" pitchFamily="18" charset="2"/>
              </a:rPr>
              <a:t>，</a:t>
            </a:r>
            <a:r>
              <a:rPr lang="en-US" altLang="zh-CN" sz="1800" i="1" dirty="0">
                <a:solidFill>
                  <a:schemeClr val="tx1"/>
                </a:solidFill>
                <a:latin typeface="Times New Roman" panose="02020603050405020304" charset="0"/>
                <a:ea typeface="微软雅黑" panose="020B0503020204020204" charset="-122"/>
                <a:cs typeface="Times New Roman" panose="02020603050405020304" charset="0"/>
              </a:rPr>
              <a:t>b</a:t>
            </a:r>
            <a:r>
              <a:rPr lang="en-US" altLang="zh-CN" sz="1800" i="1" baseline="-25000" dirty="0">
                <a:solidFill>
                  <a:schemeClr val="tx1"/>
                </a:solidFill>
                <a:latin typeface="Times New Roman" panose="02020603050405020304" charset="0"/>
                <a:ea typeface="微软雅黑" panose="020B0503020204020204" charset="-122"/>
                <a:cs typeface="Times New Roman" panose="02020603050405020304" charset="0"/>
              </a:rPr>
              <a:t>k</a:t>
            </a:r>
            <a:r>
              <a:rPr lang="zh-CN" altLang="en-US" sz="1800" dirty="0">
                <a:solidFill>
                  <a:schemeClr val="tx1"/>
                </a:solidFill>
                <a:latin typeface="Times New Roman" panose="02020603050405020304" charset="0"/>
                <a:ea typeface="微软雅黑" panose="020B0503020204020204" charset="-122"/>
                <a:cs typeface="Times New Roman" panose="02020603050405020304" charset="0"/>
              </a:rPr>
              <a:t>称为偏回归系数</a:t>
            </a:r>
          </a:p>
          <a:p>
            <a:pPr lvl="1" algn="just">
              <a:spcBef>
                <a:spcPct val="50000"/>
              </a:spcBef>
              <a:buClr>
                <a:schemeClr val="hlink"/>
              </a:buClr>
              <a:buFont typeface="Wingdings" panose="05000000000000000000" pitchFamily="2" charset="2"/>
              <a:buChar char="§"/>
              <a:defRPr/>
            </a:pPr>
            <a:r>
              <a:rPr lang="zh-CN" altLang="en-US" sz="1800" dirty="0">
                <a:solidFill>
                  <a:schemeClr val="tx1"/>
                </a:solidFill>
                <a:latin typeface="Times New Roman" panose="02020603050405020304" charset="0"/>
                <a:ea typeface="微软雅黑" panose="020B0503020204020204" charset="-122"/>
                <a:cs typeface="Times New Roman" panose="02020603050405020304" charset="0"/>
              </a:rPr>
              <a:t> </a:t>
            </a:r>
            <a:r>
              <a:rPr lang="en-US" altLang="zh-CN" sz="1800" i="1" dirty="0">
                <a:solidFill>
                  <a:schemeClr val="tx1"/>
                </a:solidFill>
                <a:latin typeface="Times New Roman" panose="02020603050405020304" charset="0"/>
                <a:ea typeface="微软雅黑" panose="020B0503020204020204" charset="-122"/>
                <a:cs typeface="Times New Roman" panose="02020603050405020304" charset="0"/>
              </a:rPr>
              <a:t>b</a:t>
            </a:r>
            <a:r>
              <a:rPr lang="en-US" altLang="zh-CN" sz="1800" i="1" baseline="-25000" dirty="0">
                <a:solidFill>
                  <a:schemeClr val="tx1"/>
                </a:solidFill>
                <a:latin typeface="Times New Roman" panose="02020603050405020304" charset="0"/>
                <a:ea typeface="微软雅黑" panose="020B0503020204020204" charset="-122"/>
                <a:cs typeface="Times New Roman" panose="02020603050405020304" charset="0"/>
              </a:rPr>
              <a:t>i</a:t>
            </a:r>
            <a:r>
              <a:rPr lang="en-US" altLang="zh-CN" sz="1800" baseline="-25000" dirty="0">
                <a:solidFill>
                  <a:schemeClr val="tx1"/>
                </a:solidFill>
                <a:latin typeface="Times New Roman" panose="02020603050405020304" charset="0"/>
                <a:ea typeface="微软雅黑" panose="020B0503020204020204" charset="-122"/>
                <a:cs typeface="Times New Roman" panose="02020603050405020304" charset="0"/>
              </a:rPr>
              <a:t> </a:t>
            </a:r>
            <a:r>
              <a:rPr lang="zh-CN" altLang="en-US" sz="1800" dirty="0">
                <a:solidFill>
                  <a:schemeClr val="tx1"/>
                </a:solidFill>
                <a:latin typeface="Times New Roman" panose="02020603050405020304" charset="0"/>
                <a:ea typeface="微软雅黑" panose="020B0503020204020204" charset="-122"/>
                <a:cs typeface="Times New Roman" panose="02020603050405020304" charset="0"/>
              </a:rPr>
              <a:t>表示假定其他变量不变，当 </a:t>
            </a:r>
            <a:r>
              <a:rPr lang="en-US" altLang="zh-CN" sz="1800" i="1" dirty="0">
                <a:solidFill>
                  <a:schemeClr val="tx1"/>
                </a:solidFill>
                <a:latin typeface="Times New Roman" panose="02020603050405020304" charset="0"/>
                <a:ea typeface="微软雅黑" panose="020B0503020204020204" charset="-122"/>
                <a:cs typeface="Times New Roman" panose="02020603050405020304" charset="0"/>
              </a:rPr>
              <a:t>x</a:t>
            </a:r>
            <a:r>
              <a:rPr lang="en-US" altLang="zh-CN" sz="1800" i="1" baseline="-25000" dirty="0">
                <a:solidFill>
                  <a:schemeClr val="tx1"/>
                </a:solidFill>
                <a:latin typeface="Times New Roman" panose="02020603050405020304" charset="0"/>
                <a:ea typeface="微软雅黑" panose="020B0503020204020204" charset="-122"/>
                <a:cs typeface="Times New Roman" panose="02020603050405020304" charset="0"/>
              </a:rPr>
              <a:t>i</a:t>
            </a:r>
            <a:r>
              <a:rPr lang="en-US" altLang="zh-CN" sz="1800" i="1" dirty="0">
                <a:solidFill>
                  <a:schemeClr val="tx1"/>
                </a:solidFill>
                <a:latin typeface="Times New Roman" panose="02020603050405020304" charset="0"/>
                <a:ea typeface="微软雅黑" panose="020B0503020204020204" charset="-122"/>
                <a:cs typeface="Times New Roman" panose="02020603050405020304" charset="0"/>
              </a:rPr>
              <a:t> </a:t>
            </a:r>
            <a:r>
              <a:rPr lang="zh-CN" altLang="en-US" sz="1800" dirty="0">
                <a:solidFill>
                  <a:schemeClr val="tx1"/>
                </a:solidFill>
                <a:latin typeface="Times New Roman" panose="02020603050405020304" charset="0"/>
                <a:ea typeface="微软雅黑" panose="020B0503020204020204" charset="-122"/>
                <a:cs typeface="Times New Roman" panose="02020603050405020304" charset="0"/>
              </a:rPr>
              <a:t>每变动一个单位时，</a:t>
            </a:r>
            <a:r>
              <a:rPr lang="en-US" altLang="zh-CN" sz="1800" i="1" dirty="0">
                <a:solidFill>
                  <a:schemeClr val="tx1"/>
                </a:solidFill>
                <a:latin typeface="Times New Roman" panose="02020603050405020304" charset="0"/>
                <a:ea typeface="微软雅黑" panose="020B0503020204020204" charset="-122"/>
                <a:cs typeface="Times New Roman" panose="02020603050405020304" charset="0"/>
              </a:rPr>
              <a:t>y </a:t>
            </a:r>
            <a:r>
              <a:rPr lang="zh-CN" altLang="en-US" sz="1800" dirty="0">
                <a:solidFill>
                  <a:schemeClr val="tx1"/>
                </a:solidFill>
                <a:latin typeface="Times New Roman" panose="02020603050405020304" charset="0"/>
                <a:ea typeface="微软雅黑" panose="020B0503020204020204" charset="-122"/>
                <a:cs typeface="Times New Roman" panose="02020603050405020304" charset="0"/>
              </a:rPr>
              <a:t>的平均变动值</a:t>
            </a:r>
          </a:p>
        </p:txBody>
      </p:sp>
    </p:spTree>
    <p:extLst>
      <p:ext uri="{BB962C8B-B14F-4D97-AF65-F5344CB8AC3E}">
        <p14:creationId xmlns:p14="http://schemas.microsoft.com/office/powerpoint/2010/main" val="2859521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1">
            <a:extLst>
              <a:ext uri="{FF2B5EF4-FFF2-40B4-BE49-F238E27FC236}">
                <a16:creationId xmlns:a16="http://schemas.microsoft.com/office/drawing/2014/main" id="{4EA79FBE-36F3-E380-F217-45CA6AE935D3}"/>
              </a:ext>
            </a:extLst>
          </p:cNvPr>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pic>
        <p:nvPicPr>
          <p:cNvPr id="7" name="TJ121.EPS" descr="id:2147511008;FounderCES">
            <a:extLst>
              <a:ext uri="{FF2B5EF4-FFF2-40B4-BE49-F238E27FC236}">
                <a16:creationId xmlns:a16="http://schemas.microsoft.com/office/drawing/2014/main" id="{99511202-8572-DBE0-707E-8B8917165B5E}"/>
              </a:ext>
            </a:extLst>
          </p:cNvPr>
          <p:cNvPicPr/>
          <p:nvPr/>
        </p:nvPicPr>
        <p:blipFill>
          <a:blip r:embed="rId2"/>
          <a:stretch>
            <a:fillRect/>
          </a:stretch>
        </p:blipFill>
        <p:spPr>
          <a:xfrm>
            <a:off x="1151563" y="1268724"/>
            <a:ext cx="6696744" cy="4680520"/>
          </a:xfrm>
          <a:prstGeom prst="rect">
            <a:avLst/>
          </a:prstGeom>
          <a:ln>
            <a:solidFill>
              <a:schemeClr val="accent1"/>
            </a:solidFill>
          </a:ln>
        </p:spPr>
      </p:pic>
    </p:spTree>
    <p:extLst>
      <p:ext uri="{BB962C8B-B14F-4D97-AF65-F5344CB8AC3E}">
        <p14:creationId xmlns:p14="http://schemas.microsoft.com/office/powerpoint/2010/main" val="3779887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descr="7b0a202020202262756c6c6574223a20227b5c2263617465676f727949645c223a31303030352c5c2274656d706c61746549645c223a32303233313332387d220a7d0a">
            <a:extLst>
              <a:ext uri="{FF2B5EF4-FFF2-40B4-BE49-F238E27FC236}">
                <a16:creationId xmlns:a16="http://schemas.microsoft.com/office/drawing/2014/main" id="{FF0D36B4-56D9-4E98-51FC-9946C6B2413D}"/>
              </a:ext>
            </a:extLst>
          </p:cNvPr>
          <p:cNvSpPr txBox="1"/>
          <p:nvPr>
            <p:custDataLst>
              <p:tags r:id="rId1"/>
            </p:custDataLst>
          </p:nvPr>
        </p:nvSpPr>
        <p:spPr>
          <a:xfrm>
            <a:off x="251448" y="975963"/>
            <a:ext cx="6541142" cy="581057"/>
          </a:xfrm>
          <a:prstGeom prst="rect">
            <a:avLst/>
          </a:prstGeom>
          <a:noFill/>
        </p:spPr>
        <p:txBody>
          <a:bodyPr wrap="square" rtlCol="0">
            <a:spAutoFit/>
          </a:bodyPr>
          <a:lstStyle/>
          <a:p>
            <a:pPr indent="0" fontAlgn="auto">
              <a:lnSpc>
                <a:spcPct val="150000"/>
              </a:lnSpc>
              <a:buSzPct val="200000"/>
              <a:buBlip>
                <a:blip r:embed="rId3"/>
              </a:buBlip>
            </a:pPr>
            <a:r>
              <a:rPr lang="zh-CN" altLang="en-US" sz="2400" b="1" dirty="0">
                <a:solidFill>
                  <a:srgbClr val="0F65E6"/>
                </a:solidFill>
                <a:latin typeface="微软雅黑" panose="020B0503020204020204" charset="-122"/>
                <a:ea typeface="微软雅黑" panose="020B0503020204020204" charset="-122"/>
              </a:rPr>
              <a:t>多元回归模型与回归方程</a:t>
            </a:r>
            <a:r>
              <a:rPr lang="en-US" altLang="zh-CN" sz="2400" b="1" dirty="0">
                <a:solidFill>
                  <a:srgbClr val="0F65E6"/>
                </a:solidFill>
                <a:latin typeface="微软雅黑" panose="020B0503020204020204" charset="-122"/>
                <a:ea typeface="微软雅黑" panose="020B0503020204020204" charset="-122"/>
              </a:rPr>
              <a:t>——</a:t>
            </a:r>
            <a:r>
              <a:rPr lang="zh-CN" altLang="en-US" sz="2400" b="1" dirty="0">
                <a:solidFill>
                  <a:srgbClr val="0F65E6"/>
                </a:solidFill>
                <a:latin typeface="微软雅黑" panose="020B0503020204020204" charset="-122"/>
                <a:ea typeface="微软雅黑" panose="020B0503020204020204" charset="-122"/>
              </a:rPr>
              <a:t>估计方程</a:t>
            </a:r>
          </a:p>
        </p:txBody>
      </p:sp>
      <mc:AlternateContent xmlns:mc="http://schemas.openxmlformats.org/markup-compatibility/2006" xmlns:a14="http://schemas.microsoft.com/office/drawing/2010/main">
        <mc:Choice Requires="a14">
          <p:sp>
            <p:nvSpPr>
              <p:cNvPr id="7" name="Content Placeholder 8">
                <a:extLst>
                  <a:ext uri="{FF2B5EF4-FFF2-40B4-BE49-F238E27FC236}">
                    <a16:creationId xmlns:a16="http://schemas.microsoft.com/office/drawing/2014/main" id="{F92403D2-90B8-BB2F-D796-A06C8051F489}"/>
                  </a:ext>
                </a:extLst>
              </p:cNvPr>
              <p:cNvSpPr txBox="1"/>
              <p:nvPr/>
            </p:nvSpPr>
            <p:spPr>
              <a:xfrm>
                <a:off x="308610" y="1397559"/>
                <a:ext cx="8583942" cy="5472440"/>
              </a:xfrm>
              <a:prstGeom prst="rect">
                <a:avLst/>
              </a:prstGeom>
              <a:ln w="12700" cmpd="dbl">
                <a:solidFill>
                  <a:schemeClr val="accent1"/>
                </a:solidFill>
              </a:ln>
            </p:spPr>
            <p:txBody>
              <a:bodyPr>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思源黑体 CN Heavy" panose="020B0A00000000000000"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思源黑体 CN Heavy" panose="020B0A00000000000000"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思源黑体 CN Heavy" panose="020B0A00000000000000"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思源黑体 CN Heavy" panose="020B0A00000000000000"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思源黑体 CN Heavy" panose="020B0A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47675" indent="-447675">
                  <a:lnSpc>
                    <a:spcPct val="150000"/>
                  </a:lnSpc>
                  <a:buClr>
                    <a:srgbClr val="002060"/>
                  </a:buClr>
                  <a:buFont typeface="Wingdings" panose="05000000000000000000" pitchFamily="2" charset="2"/>
                  <a:buChar char="l"/>
                  <a:defRPr/>
                </a:pPr>
                <a:r>
                  <a:rPr lang="zh-CN" altLang="zh-CN" sz="2000" dirty="0">
                    <a:solidFill>
                      <a:schemeClr val="tx1"/>
                    </a:solidFill>
                    <a:latin typeface="Times New Roman" panose="02020603050405020304" charset="0"/>
                    <a:ea typeface="微软雅黑" panose="020B0503020204020204" charset="-122"/>
                    <a:cs typeface="Times New Roman" panose="02020603050405020304" charset="0"/>
                  </a:rPr>
                  <a:t>当用样本估计量</a:t>
                </a:r>
                <a14:m>
                  <m:oMath xmlns:m="http://schemas.openxmlformats.org/officeDocument/2006/math">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acc>
                          <m:accPr>
                            <m:chr m:val="̂"/>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accPr>
                          <m:e>
                            <m:r>
                              <a:rPr lang="en-US" altLang="zh-CN" sz="2000">
                                <a:solidFill>
                                  <a:schemeClr val="tx1"/>
                                </a:solidFill>
                                <a:latin typeface="Cambria Math" panose="02040503050406030204" pitchFamily="18" charset="0"/>
                                <a:ea typeface="MS Mincho" charset="0"/>
                                <a:cs typeface="Cambria Math" panose="02040503050406030204" pitchFamily="18" charset="0"/>
                              </a:rPr>
                              <m:t>𝛽</m:t>
                            </m:r>
                          </m:e>
                        </m:acc>
                      </m:e>
                      <m:sub>
                        <m:r>
                          <a:rPr lang="en-US" altLang="zh-CN" sz="2000">
                            <a:solidFill>
                              <a:schemeClr val="tx1"/>
                            </a:solidFill>
                            <a:latin typeface="Cambria Math" panose="02040503050406030204" pitchFamily="18" charset="0"/>
                            <a:ea typeface="MS Mincho" charset="0"/>
                            <a:cs typeface="Cambria Math" panose="02040503050406030204" pitchFamily="18" charset="0"/>
                          </a:rPr>
                          <m:t>0</m:t>
                        </m:r>
                      </m:sub>
                    </m:sSub>
                    <m:r>
                      <a:rPr lang="zh-CN" altLang="zh-CN" sz="200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acc>
                          <m:accPr>
                            <m:chr m:val="̂"/>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accPr>
                          <m:e>
                            <m:r>
                              <a:rPr lang="en-US" altLang="zh-CN" sz="2000">
                                <a:solidFill>
                                  <a:schemeClr val="tx1"/>
                                </a:solidFill>
                                <a:latin typeface="Cambria Math" panose="02040503050406030204" pitchFamily="18" charset="0"/>
                                <a:ea typeface="MS Mincho" charset="0"/>
                                <a:cs typeface="Cambria Math" panose="02040503050406030204" pitchFamily="18" charset="0"/>
                              </a:rPr>
                              <m:t>𝛽</m:t>
                            </m:r>
                          </m:e>
                        </m:acc>
                      </m:e>
                      <m:sub>
                        <m:r>
                          <a:rPr lang="en-US" altLang="zh-CN" sz="2000">
                            <a:solidFill>
                              <a:schemeClr val="tx1"/>
                            </a:solidFill>
                            <a:latin typeface="Cambria Math" panose="02040503050406030204" pitchFamily="18" charset="0"/>
                            <a:ea typeface="MS Mincho" charset="0"/>
                            <a:cs typeface="Cambria Math" panose="02040503050406030204" pitchFamily="18" charset="0"/>
                          </a:rPr>
                          <m:t>1</m:t>
                        </m:r>
                      </m:sub>
                    </m:sSub>
                    <m:r>
                      <a:rPr lang="zh-CN" altLang="zh-CN" sz="200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acc>
                          <m:accPr>
                            <m:chr m:val="̂"/>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accPr>
                          <m:e>
                            <m:r>
                              <a:rPr lang="en-US" altLang="zh-CN" sz="2000">
                                <a:solidFill>
                                  <a:schemeClr val="tx1"/>
                                </a:solidFill>
                                <a:latin typeface="Cambria Math" panose="02040503050406030204" pitchFamily="18" charset="0"/>
                                <a:ea typeface="MS Mincho" charset="0"/>
                                <a:cs typeface="Cambria Math" panose="02040503050406030204" pitchFamily="18" charset="0"/>
                              </a:rPr>
                              <m:t>𝛽</m:t>
                            </m:r>
                          </m:e>
                        </m:acc>
                      </m:e>
                      <m:sub>
                        <m:r>
                          <a:rPr lang="en-US" altLang="zh-CN" sz="2000">
                            <a:solidFill>
                              <a:schemeClr val="tx1"/>
                            </a:solidFill>
                            <a:latin typeface="Cambria Math" panose="02040503050406030204" pitchFamily="18" charset="0"/>
                            <a:ea typeface="MS Mincho" charset="0"/>
                            <a:cs typeface="Cambria Math" panose="02040503050406030204" pitchFamily="18" charset="0"/>
                          </a:rPr>
                          <m:t>2</m:t>
                        </m:r>
                      </m:sub>
                    </m:sSub>
                    <m:r>
                      <a:rPr lang="zh-CN" altLang="zh-CN" sz="2000">
                        <a:solidFill>
                          <a:schemeClr val="tx1"/>
                        </a:solidFill>
                        <a:latin typeface="Cambria Math" panose="02040503050406030204" pitchFamily="18" charset="0"/>
                        <a:ea typeface="MS Mincho" charset="0"/>
                        <a:cs typeface="Cambria Math" panose="02040503050406030204" pitchFamily="18" charset="0"/>
                      </a:rPr>
                      <m:t>，</m:t>
                    </m:r>
                    <m:r>
                      <a:rPr lang="en-US" altLang="zh-CN" sz="2000">
                        <a:solidFill>
                          <a:schemeClr val="tx1"/>
                        </a:solidFill>
                        <a:latin typeface="Cambria Math" panose="02040503050406030204" pitchFamily="18" charset="0"/>
                        <a:ea typeface="MS Mincho" charset="0"/>
                        <a:cs typeface="Cambria Math" panose="02040503050406030204" pitchFamily="18" charset="0"/>
                      </a:rPr>
                      <m:t>⋯</m:t>
                    </m:r>
                    <m:r>
                      <a:rPr lang="zh-CN" altLang="zh-CN" sz="200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acc>
                          <m:accPr>
                            <m:chr m:val="̂"/>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accPr>
                          <m:e>
                            <m:r>
                              <a:rPr lang="en-US" altLang="zh-CN" sz="2000">
                                <a:solidFill>
                                  <a:schemeClr val="tx1"/>
                                </a:solidFill>
                                <a:latin typeface="Cambria Math" panose="02040503050406030204" pitchFamily="18" charset="0"/>
                                <a:ea typeface="MS Mincho" charset="0"/>
                                <a:cs typeface="Cambria Math" panose="02040503050406030204" pitchFamily="18" charset="0"/>
                              </a:rPr>
                              <m:t>𝛽</m:t>
                            </m:r>
                          </m:e>
                        </m:acc>
                      </m:e>
                      <m:sub>
                        <m:r>
                          <a:rPr lang="en-US" altLang="zh-CN" sz="2000">
                            <a:solidFill>
                              <a:schemeClr val="tx1"/>
                            </a:solidFill>
                            <a:latin typeface="Cambria Math" panose="02040503050406030204" pitchFamily="18" charset="0"/>
                            <a:ea typeface="微软雅黑" panose="020B0503020204020204" charset="-122"/>
                            <a:cs typeface="Cambria Math" panose="02040503050406030204" pitchFamily="18" charset="0"/>
                          </a:rPr>
                          <m:t>𝑘</m:t>
                        </m:r>
                      </m:sub>
                    </m:sSub>
                  </m:oMath>
                </a14:m>
                <a:r>
                  <a:rPr lang="zh-CN" altLang="zh-CN" sz="2000" dirty="0">
                    <a:solidFill>
                      <a:schemeClr val="tx1"/>
                    </a:solidFill>
                    <a:latin typeface="Times New Roman" panose="02020603050405020304" charset="0"/>
                    <a:ea typeface="微软雅黑" panose="020B0503020204020204" charset="-122"/>
                    <a:cs typeface="Times New Roman" panose="02020603050405020304" charset="0"/>
                  </a:rPr>
                  <a:t>去估计模型中的参数</a:t>
                </a:r>
                <a14:m>
                  <m:oMath xmlns:m="http://schemas.openxmlformats.org/officeDocument/2006/math">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a:solidFill>
                              <a:schemeClr val="tx1"/>
                            </a:solidFill>
                            <a:latin typeface="Cambria Math" panose="02040503050406030204" pitchFamily="18" charset="0"/>
                            <a:ea typeface="MS Mincho" charset="0"/>
                            <a:cs typeface="Cambria Math" panose="02040503050406030204" pitchFamily="18" charset="0"/>
                          </a:rPr>
                          <m:t>𝛽</m:t>
                        </m:r>
                      </m:e>
                      <m:sub>
                        <m:r>
                          <a:rPr lang="en-US" altLang="zh-CN" sz="2000">
                            <a:solidFill>
                              <a:schemeClr val="tx1"/>
                            </a:solidFill>
                            <a:latin typeface="Cambria Math" panose="02040503050406030204" pitchFamily="18" charset="0"/>
                            <a:ea typeface="MS Mincho" charset="0"/>
                            <a:cs typeface="Cambria Math" panose="02040503050406030204" pitchFamily="18" charset="0"/>
                          </a:rPr>
                          <m:t>0</m:t>
                        </m:r>
                      </m:sub>
                    </m:sSub>
                    <m:r>
                      <a:rPr lang="zh-CN" altLang="zh-CN" sz="200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a:solidFill>
                              <a:schemeClr val="tx1"/>
                            </a:solidFill>
                            <a:latin typeface="Cambria Math" panose="02040503050406030204" pitchFamily="18" charset="0"/>
                            <a:ea typeface="MS Mincho" charset="0"/>
                            <a:cs typeface="Cambria Math" panose="02040503050406030204" pitchFamily="18" charset="0"/>
                          </a:rPr>
                          <m:t>𝛽</m:t>
                        </m:r>
                      </m:e>
                      <m:sub>
                        <m:r>
                          <a:rPr lang="en-US" altLang="zh-CN" sz="2000">
                            <a:solidFill>
                              <a:schemeClr val="tx1"/>
                            </a:solidFill>
                            <a:latin typeface="Cambria Math" panose="02040503050406030204" pitchFamily="18" charset="0"/>
                            <a:ea typeface="MS Mincho" charset="0"/>
                            <a:cs typeface="Cambria Math" panose="02040503050406030204" pitchFamily="18" charset="0"/>
                          </a:rPr>
                          <m:t>1</m:t>
                        </m:r>
                      </m:sub>
                    </m:sSub>
                    <m:r>
                      <a:rPr lang="zh-CN" altLang="zh-CN" sz="200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a:solidFill>
                              <a:schemeClr val="tx1"/>
                            </a:solidFill>
                            <a:latin typeface="Cambria Math" panose="02040503050406030204" pitchFamily="18" charset="0"/>
                            <a:ea typeface="MS Mincho" charset="0"/>
                            <a:cs typeface="Cambria Math" panose="02040503050406030204" pitchFamily="18" charset="0"/>
                          </a:rPr>
                          <m:t>𝛽</m:t>
                        </m:r>
                      </m:e>
                      <m:sub>
                        <m:r>
                          <a:rPr lang="en-US" altLang="zh-CN" sz="2000">
                            <a:solidFill>
                              <a:schemeClr val="tx1"/>
                            </a:solidFill>
                            <a:latin typeface="Cambria Math" panose="02040503050406030204" pitchFamily="18" charset="0"/>
                            <a:ea typeface="MS Mincho" charset="0"/>
                            <a:cs typeface="Cambria Math" panose="02040503050406030204" pitchFamily="18" charset="0"/>
                          </a:rPr>
                          <m:t>2</m:t>
                        </m:r>
                      </m:sub>
                    </m:sSub>
                    <m:r>
                      <a:rPr lang="zh-CN" altLang="zh-CN" sz="2000">
                        <a:solidFill>
                          <a:schemeClr val="tx1"/>
                        </a:solidFill>
                        <a:latin typeface="Cambria Math" panose="02040503050406030204" pitchFamily="18" charset="0"/>
                        <a:ea typeface="MS Mincho" charset="0"/>
                        <a:cs typeface="Cambria Math" panose="02040503050406030204" pitchFamily="18" charset="0"/>
                      </a:rPr>
                      <m:t>，</m:t>
                    </m:r>
                    <m:r>
                      <a:rPr lang="en-US" altLang="zh-CN" sz="2000">
                        <a:solidFill>
                          <a:schemeClr val="tx1"/>
                        </a:solidFill>
                        <a:latin typeface="Cambria Math" panose="02040503050406030204" pitchFamily="18" charset="0"/>
                        <a:ea typeface="MS Mincho" charset="0"/>
                        <a:cs typeface="Cambria Math" panose="02040503050406030204" pitchFamily="18" charset="0"/>
                      </a:rPr>
                      <m:t>⋯</m:t>
                    </m:r>
                    <m:r>
                      <a:rPr lang="zh-CN" altLang="zh-CN" sz="200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a:solidFill>
                              <a:schemeClr val="tx1"/>
                            </a:solidFill>
                            <a:latin typeface="Cambria Math" panose="02040503050406030204" pitchFamily="18" charset="0"/>
                            <a:ea typeface="MS Mincho" charset="0"/>
                            <a:cs typeface="Cambria Math" panose="02040503050406030204" pitchFamily="18" charset="0"/>
                          </a:rPr>
                          <m:t>𝛽</m:t>
                        </m:r>
                      </m:e>
                      <m:sub>
                        <m:r>
                          <a:rPr lang="en-US" altLang="zh-CN" sz="2000">
                            <a:solidFill>
                              <a:schemeClr val="tx1"/>
                            </a:solidFill>
                            <a:latin typeface="Cambria Math" panose="02040503050406030204" pitchFamily="18" charset="0"/>
                            <a:ea typeface="微软雅黑" panose="020B0503020204020204" charset="-122"/>
                            <a:cs typeface="Cambria Math" panose="02040503050406030204" pitchFamily="18" charset="0"/>
                          </a:rPr>
                          <m:t>𝑘</m:t>
                        </m:r>
                      </m:sub>
                    </m:sSub>
                  </m:oMath>
                </a14:m>
                <a:r>
                  <a:rPr lang="zh-CN" altLang="zh-CN" sz="2000" dirty="0">
                    <a:solidFill>
                      <a:schemeClr val="tx1"/>
                    </a:solidFill>
                    <a:latin typeface="Times New Roman" panose="02020603050405020304" charset="0"/>
                    <a:ea typeface="微软雅黑" panose="020B0503020204020204" charset="-122"/>
                    <a:cs typeface="Times New Roman" panose="02020603050405020304" charset="0"/>
                  </a:rPr>
                  <a:t>时，就得到了估计的多元线性回归方程</a:t>
                </a:r>
                <a:r>
                  <a:rPr lang="en-US" altLang="zh-CN" sz="2000" dirty="0">
                    <a:solidFill>
                      <a:schemeClr val="tx1"/>
                    </a:solidFill>
                    <a:latin typeface="Times New Roman" panose="02020603050405020304" charset="0"/>
                    <a:ea typeface="微软雅黑" panose="020B0503020204020204" charset="-122"/>
                    <a:cs typeface="Times New Roman" panose="02020603050405020304" charset="0"/>
                  </a:rPr>
                  <a:t>,</a:t>
                </a:r>
                <a:r>
                  <a:rPr lang="zh-CN" altLang="zh-CN" sz="2000" dirty="0">
                    <a:solidFill>
                      <a:schemeClr val="tx1"/>
                    </a:solidFill>
                    <a:latin typeface="Times New Roman" panose="02020603050405020304" charset="0"/>
                    <a:ea typeface="微软雅黑" panose="020B0503020204020204" charset="-122"/>
                    <a:cs typeface="Times New Roman" panose="02020603050405020304" charset="0"/>
                  </a:rPr>
                  <a:t>其一般形式为：</a:t>
                </a:r>
              </a:p>
              <a:p>
                <a:pPr marL="0" indent="0">
                  <a:lnSpc>
                    <a:spcPct val="170000"/>
                  </a:lnSpc>
                  <a:buClr>
                    <a:srgbClr val="002060"/>
                  </a:buClr>
                  <a:buFont typeface="Arial" panose="020B0604020202020204" pitchFamily="34" charset="0"/>
                  <a:buNone/>
                  <a:defRPr/>
                </a:pPr>
                <a14:m>
                  <m:oMathPara xmlns:m="http://schemas.openxmlformats.org/officeDocument/2006/math">
                    <m:oMathParaPr>
                      <m:jc m:val="centerGroup"/>
                    </m:oMathParaPr>
                    <m:oMath xmlns:m="http://schemas.openxmlformats.org/officeDocument/2006/math">
                      <m:acc>
                        <m:accPr>
                          <m:chr m:val="̂"/>
                          <m:ctrlPr>
                            <a:rPr lang="zh-CN" altLang="zh-CN" sz="2000" b="1" i="1">
                              <a:solidFill>
                                <a:schemeClr val="tx1"/>
                              </a:solidFill>
                              <a:latin typeface="Cambria Math" panose="02040503050406030204" pitchFamily="18" charset="0"/>
                              <a:ea typeface="微软雅黑" panose="020B0503020204020204" charset="-122"/>
                              <a:cs typeface="Cambria Math" panose="02040503050406030204" pitchFamily="18" charset="0"/>
                            </a:rPr>
                          </m:ctrlPr>
                        </m:accPr>
                        <m:e>
                          <m:r>
                            <a:rPr lang="en-US" altLang="zh-CN" sz="2000" b="1" i="1">
                              <a:solidFill>
                                <a:schemeClr val="tx1"/>
                              </a:solidFill>
                              <a:latin typeface="Cambria Math" panose="02040503050406030204" pitchFamily="18" charset="0"/>
                              <a:ea typeface="微软雅黑" panose="020B0503020204020204" charset="-122"/>
                              <a:cs typeface="Cambria Math" panose="02040503050406030204" pitchFamily="18" charset="0"/>
                            </a:rPr>
                            <m:t>𝑦</m:t>
                          </m:r>
                        </m:e>
                      </m:acc>
                      <m:r>
                        <a:rPr lang="en-US" altLang="zh-CN" sz="2000" b="1" i="1">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b="1"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acc>
                            <m:accPr>
                              <m:chr m:val="̂"/>
                              <m:ctrlPr>
                                <a:rPr lang="zh-CN" altLang="zh-CN" sz="2000" b="1" i="1">
                                  <a:solidFill>
                                    <a:schemeClr val="tx1"/>
                                  </a:solidFill>
                                  <a:latin typeface="Cambria Math" panose="02040503050406030204" pitchFamily="18" charset="0"/>
                                  <a:ea typeface="微软雅黑" panose="020B0503020204020204" charset="-122"/>
                                  <a:cs typeface="Cambria Math" panose="02040503050406030204" pitchFamily="18" charset="0"/>
                                </a:rPr>
                              </m:ctrlPr>
                            </m:accPr>
                            <m:e>
                              <m:r>
                                <a:rPr lang="en-US" altLang="zh-CN" sz="2000" b="1" i="1">
                                  <a:solidFill>
                                    <a:schemeClr val="tx1"/>
                                  </a:solidFill>
                                  <a:latin typeface="Cambria Math" panose="02040503050406030204" pitchFamily="18" charset="0"/>
                                  <a:ea typeface="MS Mincho" charset="0"/>
                                  <a:cs typeface="Cambria Math" panose="02040503050406030204" pitchFamily="18" charset="0"/>
                                </a:rPr>
                                <m:t>𝛽</m:t>
                              </m:r>
                            </m:e>
                          </m:acc>
                        </m:e>
                        <m:sub>
                          <m:r>
                            <a:rPr lang="en-US" altLang="zh-CN" sz="2000" b="1" i="1">
                              <a:solidFill>
                                <a:schemeClr val="tx1"/>
                              </a:solidFill>
                              <a:latin typeface="Cambria Math" panose="02040503050406030204" pitchFamily="18" charset="0"/>
                              <a:ea typeface="MS Mincho" charset="0"/>
                              <a:cs typeface="Cambria Math" panose="02040503050406030204" pitchFamily="18" charset="0"/>
                            </a:rPr>
                            <m:t>0</m:t>
                          </m:r>
                        </m:sub>
                      </m:sSub>
                      <m:r>
                        <a:rPr lang="en-US" altLang="zh-CN" sz="2000" b="1" i="1">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b="1"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acc>
                            <m:accPr>
                              <m:chr m:val="̂"/>
                              <m:ctrlPr>
                                <a:rPr lang="zh-CN" altLang="zh-CN" sz="2000" b="1" i="1">
                                  <a:solidFill>
                                    <a:schemeClr val="tx1"/>
                                  </a:solidFill>
                                  <a:latin typeface="Cambria Math" panose="02040503050406030204" pitchFamily="18" charset="0"/>
                                  <a:ea typeface="微软雅黑" panose="020B0503020204020204" charset="-122"/>
                                  <a:cs typeface="Cambria Math" panose="02040503050406030204" pitchFamily="18" charset="0"/>
                                </a:rPr>
                              </m:ctrlPr>
                            </m:accPr>
                            <m:e>
                              <m:r>
                                <a:rPr lang="en-US" altLang="zh-CN" sz="2000" b="1" i="1">
                                  <a:solidFill>
                                    <a:schemeClr val="tx1"/>
                                  </a:solidFill>
                                  <a:latin typeface="Cambria Math" panose="02040503050406030204" pitchFamily="18" charset="0"/>
                                  <a:ea typeface="MS Mincho" charset="0"/>
                                  <a:cs typeface="Cambria Math" panose="02040503050406030204" pitchFamily="18" charset="0"/>
                                </a:rPr>
                                <m:t>𝛽</m:t>
                              </m:r>
                            </m:e>
                          </m:acc>
                        </m:e>
                        <m:sub>
                          <m:r>
                            <a:rPr lang="en-US" altLang="zh-CN" sz="2000" b="1" i="1">
                              <a:solidFill>
                                <a:schemeClr val="tx1"/>
                              </a:solidFill>
                              <a:latin typeface="Cambria Math" panose="02040503050406030204" pitchFamily="18" charset="0"/>
                              <a:ea typeface="MS Mincho" charset="0"/>
                              <a:cs typeface="Cambria Math" panose="02040503050406030204" pitchFamily="18" charset="0"/>
                            </a:rPr>
                            <m:t>1</m:t>
                          </m:r>
                        </m:sub>
                      </m:sSub>
                      <m:sSub>
                        <m:sSubPr>
                          <m:ctrlPr>
                            <a:rPr lang="zh-CN" altLang="zh-CN" sz="2000" b="1"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b="1" i="1">
                              <a:solidFill>
                                <a:schemeClr val="tx1"/>
                              </a:solidFill>
                              <a:latin typeface="Cambria Math" panose="02040503050406030204" pitchFamily="18" charset="0"/>
                              <a:ea typeface="微软雅黑" panose="020B0503020204020204" charset="-122"/>
                              <a:cs typeface="Cambria Math" panose="02040503050406030204" pitchFamily="18" charset="0"/>
                            </a:rPr>
                            <m:t>𝑥</m:t>
                          </m:r>
                        </m:e>
                        <m:sub>
                          <m:r>
                            <a:rPr lang="en-US" altLang="zh-CN" sz="2000" b="1" i="1">
                              <a:solidFill>
                                <a:schemeClr val="tx1"/>
                              </a:solidFill>
                              <a:latin typeface="Cambria Math" panose="02040503050406030204" pitchFamily="18" charset="0"/>
                              <a:ea typeface="MS Mincho" charset="0"/>
                              <a:cs typeface="Cambria Math" panose="02040503050406030204" pitchFamily="18" charset="0"/>
                            </a:rPr>
                            <m:t>1</m:t>
                          </m:r>
                        </m:sub>
                      </m:sSub>
                      <m:r>
                        <a:rPr lang="en-US" altLang="zh-CN" sz="2000" b="1" i="1">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b="1"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acc>
                            <m:accPr>
                              <m:chr m:val="̂"/>
                              <m:ctrlPr>
                                <a:rPr lang="zh-CN" altLang="zh-CN" sz="2000" b="1" i="1">
                                  <a:solidFill>
                                    <a:schemeClr val="tx1"/>
                                  </a:solidFill>
                                  <a:latin typeface="Cambria Math" panose="02040503050406030204" pitchFamily="18" charset="0"/>
                                  <a:ea typeface="微软雅黑" panose="020B0503020204020204" charset="-122"/>
                                  <a:cs typeface="Cambria Math" panose="02040503050406030204" pitchFamily="18" charset="0"/>
                                </a:rPr>
                              </m:ctrlPr>
                            </m:accPr>
                            <m:e>
                              <m:r>
                                <a:rPr lang="en-US" altLang="zh-CN" sz="2000" b="1" i="1">
                                  <a:solidFill>
                                    <a:schemeClr val="tx1"/>
                                  </a:solidFill>
                                  <a:latin typeface="Cambria Math" panose="02040503050406030204" pitchFamily="18" charset="0"/>
                                  <a:ea typeface="MS Mincho" charset="0"/>
                                  <a:cs typeface="Cambria Math" panose="02040503050406030204" pitchFamily="18" charset="0"/>
                                </a:rPr>
                                <m:t>𝛽</m:t>
                              </m:r>
                            </m:e>
                          </m:acc>
                        </m:e>
                        <m:sub>
                          <m:r>
                            <a:rPr lang="en-US" altLang="zh-CN" sz="2000" b="1" i="1">
                              <a:solidFill>
                                <a:schemeClr val="tx1"/>
                              </a:solidFill>
                              <a:latin typeface="Cambria Math" panose="02040503050406030204" pitchFamily="18" charset="0"/>
                              <a:ea typeface="MS Mincho" charset="0"/>
                              <a:cs typeface="Cambria Math" panose="02040503050406030204" pitchFamily="18" charset="0"/>
                            </a:rPr>
                            <m:t>2</m:t>
                          </m:r>
                        </m:sub>
                      </m:sSub>
                      <m:sSub>
                        <m:sSubPr>
                          <m:ctrlPr>
                            <a:rPr lang="zh-CN" altLang="zh-CN" sz="2000" b="1"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b="1" i="1">
                              <a:solidFill>
                                <a:schemeClr val="tx1"/>
                              </a:solidFill>
                              <a:latin typeface="Cambria Math" panose="02040503050406030204" pitchFamily="18" charset="0"/>
                              <a:ea typeface="微软雅黑" panose="020B0503020204020204" charset="-122"/>
                              <a:cs typeface="Cambria Math" panose="02040503050406030204" pitchFamily="18" charset="0"/>
                            </a:rPr>
                            <m:t>𝑥</m:t>
                          </m:r>
                        </m:e>
                        <m:sub>
                          <m:r>
                            <a:rPr lang="en-US" altLang="zh-CN" sz="2000" b="1" i="1">
                              <a:solidFill>
                                <a:schemeClr val="tx1"/>
                              </a:solidFill>
                              <a:latin typeface="Cambria Math" panose="02040503050406030204" pitchFamily="18" charset="0"/>
                              <a:ea typeface="MS Mincho" charset="0"/>
                              <a:cs typeface="Cambria Math" panose="02040503050406030204" pitchFamily="18" charset="0"/>
                            </a:rPr>
                            <m:t>2</m:t>
                          </m:r>
                        </m:sub>
                      </m:sSub>
                      <m:r>
                        <a:rPr lang="en-US" altLang="zh-CN" sz="2000" b="1" i="1">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b="1"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acc>
                            <m:accPr>
                              <m:chr m:val="̂"/>
                              <m:ctrlPr>
                                <a:rPr lang="zh-CN" altLang="zh-CN" sz="2000" b="1" i="1">
                                  <a:solidFill>
                                    <a:schemeClr val="tx1"/>
                                  </a:solidFill>
                                  <a:latin typeface="Cambria Math" panose="02040503050406030204" pitchFamily="18" charset="0"/>
                                  <a:ea typeface="微软雅黑" panose="020B0503020204020204" charset="-122"/>
                                  <a:cs typeface="Cambria Math" panose="02040503050406030204" pitchFamily="18" charset="0"/>
                                </a:rPr>
                              </m:ctrlPr>
                            </m:accPr>
                            <m:e>
                              <m:r>
                                <a:rPr lang="en-US" altLang="zh-CN" sz="2000" b="1" i="1">
                                  <a:solidFill>
                                    <a:schemeClr val="tx1"/>
                                  </a:solidFill>
                                  <a:latin typeface="Cambria Math" panose="02040503050406030204" pitchFamily="18" charset="0"/>
                                  <a:ea typeface="MS Mincho" charset="0"/>
                                  <a:cs typeface="Cambria Math" panose="02040503050406030204" pitchFamily="18" charset="0"/>
                                </a:rPr>
                                <m:t>𝛽</m:t>
                              </m:r>
                            </m:e>
                          </m:acc>
                        </m:e>
                        <m:sub>
                          <m:r>
                            <a:rPr lang="en-US" altLang="zh-CN" sz="2000" b="1" i="1">
                              <a:solidFill>
                                <a:schemeClr val="tx1"/>
                              </a:solidFill>
                              <a:latin typeface="Cambria Math" panose="02040503050406030204" pitchFamily="18" charset="0"/>
                              <a:ea typeface="微软雅黑" panose="020B0503020204020204" charset="-122"/>
                              <a:cs typeface="Cambria Math" panose="02040503050406030204" pitchFamily="18" charset="0"/>
                            </a:rPr>
                            <m:t>𝑘</m:t>
                          </m:r>
                        </m:sub>
                      </m:sSub>
                      <m:sSub>
                        <m:sSubPr>
                          <m:ctrlPr>
                            <a:rPr lang="zh-CN" altLang="zh-CN" sz="2000" b="1"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b="1" i="1">
                              <a:solidFill>
                                <a:schemeClr val="tx1"/>
                              </a:solidFill>
                              <a:latin typeface="Cambria Math" panose="02040503050406030204" pitchFamily="18" charset="0"/>
                              <a:ea typeface="微软雅黑" panose="020B0503020204020204" charset="-122"/>
                              <a:cs typeface="Cambria Math" panose="02040503050406030204" pitchFamily="18" charset="0"/>
                            </a:rPr>
                            <m:t>𝑥</m:t>
                          </m:r>
                        </m:e>
                        <m:sub>
                          <m:r>
                            <a:rPr lang="en-US" altLang="zh-CN" sz="2000" b="1" i="1">
                              <a:solidFill>
                                <a:schemeClr val="tx1"/>
                              </a:solidFill>
                              <a:latin typeface="Cambria Math" panose="02040503050406030204" pitchFamily="18" charset="0"/>
                              <a:ea typeface="微软雅黑" panose="020B0503020204020204" charset="-122"/>
                              <a:cs typeface="Cambria Math" panose="02040503050406030204" pitchFamily="18" charset="0"/>
                            </a:rPr>
                            <m:t>𝑘</m:t>
                          </m:r>
                        </m:sub>
                      </m:sSub>
                    </m:oMath>
                  </m:oMathPara>
                </a14:m>
                <a:endParaRPr lang="zh-CN" altLang="zh-CN" sz="2000" b="1" i="1" dirty="0">
                  <a:solidFill>
                    <a:schemeClr val="tx1"/>
                  </a:solidFill>
                  <a:latin typeface="Times New Roman" panose="02020603050405020304" charset="0"/>
                  <a:ea typeface="微软雅黑" panose="020B0503020204020204" charset="-122"/>
                  <a:cs typeface="Times New Roman" panose="02020603050405020304" charset="0"/>
                </a:endParaRPr>
              </a:p>
              <a:p>
                <a:pPr marL="536575" lvl="1" indent="0" defTabSz="914400">
                  <a:lnSpc>
                    <a:spcPct val="150000"/>
                  </a:lnSpc>
                  <a:spcBef>
                    <a:spcPts val="300"/>
                  </a:spcBef>
                  <a:buClr>
                    <a:srgbClr val="002060"/>
                  </a:buClr>
                  <a:buFont typeface="Arial" panose="020B0604020202020204" pitchFamily="34" charset="0"/>
                  <a:buNone/>
                  <a:tabLst>
                    <a:tab pos="1609725" algn="l"/>
                    <a:tab pos="1609725" algn="l"/>
                    <a:tab pos="1609725" algn="l"/>
                    <a:tab pos="1609725" algn="l"/>
                    <a:tab pos="1609725" algn="l"/>
                    <a:tab pos="1609725" algn="l"/>
                    <a:tab pos="1609725" algn="l"/>
                    <a:tab pos="1609725" algn="l"/>
                  </a:tabLst>
                  <a:defRPr/>
                </a:pPr>
                <a:r>
                  <a:rPr lang="zh-CN" altLang="zh-CN" sz="2000" dirty="0">
                    <a:solidFill>
                      <a:schemeClr val="tx1"/>
                    </a:solidFill>
                    <a:latin typeface="Times New Roman" panose="02020603050405020304" charset="0"/>
                    <a:ea typeface="微软雅黑" panose="020B0503020204020204" charset="-122"/>
                    <a:cs typeface="Times New Roman" panose="02020603050405020304" charset="0"/>
                  </a:rPr>
                  <a:t>式中，</a:t>
                </a:r>
                <a14:m>
                  <m:oMath xmlns:m="http://schemas.openxmlformats.org/officeDocument/2006/math">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acc>
                          <m:accPr>
                            <m:chr m:val="̂"/>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accPr>
                          <m:e>
                            <m:r>
                              <a:rPr lang="en-US" altLang="zh-CN" sz="2000">
                                <a:solidFill>
                                  <a:schemeClr val="tx1"/>
                                </a:solidFill>
                                <a:latin typeface="Cambria Math" panose="02040503050406030204" pitchFamily="18" charset="0"/>
                                <a:ea typeface="MS Mincho" charset="0"/>
                                <a:cs typeface="Cambria Math" panose="02040503050406030204" pitchFamily="18" charset="0"/>
                              </a:rPr>
                              <m:t>𝛽</m:t>
                            </m:r>
                          </m:e>
                        </m:acc>
                      </m:e>
                      <m:sub>
                        <m:r>
                          <a:rPr lang="en-US" altLang="zh-CN" sz="2000">
                            <a:solidFill>
                              <a:schemeClr val="tx1"/>
                            </a:solidFill>
                            <a:latin typeface="Cambria Math" panose="02040503050406030204" pitchFamily="18" charset="0"/>
                            <a:ea typeface="MS Mincho" charset="0"/>
                            <a:cs typeface="Cambria Math" panose="02040503050406030204" pitchFamily="18" charset="0"/>
                          </a:rPr>
                          <m:t>0</m:t>
                        </m:r>
                      </m:sub>
                    </m:sSub>
                    <m:r>
                      <a:rPr lang="zh-CN" altLang="zh-CN" sz="200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acc>
                          <m:accPr>
                            <m:chr m:val="̂"/>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accPr>
                          <m:e>
                            <m:r>
                              <a:rPr lang="en-US" altLang="zh-CN" sz="2000">
                                <a:solidFill>
                                  <a:schemeClr val="tx1"/>
                                </a:solidFill>
                                <a:latin typeface="Cambria Math" panose="02040503050406030204" pitchFamily="18" charset="0"/>
                                <a:ea typeface="MS Mincho" charset="0"/>
                                <a:cs typeface="Cambria Math" panose="02040503050406030204" pitchFamily="18" charset="0"/>
                              </a:rPr>
                              <m:t>𝛽</m:t>
                            </m:r>
                          </m:e>
                        </m:acc>
                      </m:e>
                      <m:sub>
                        <m:r>
                          <a:rPr lang="en-US" altLang="zh-CN" sz="2000">
                            <a:solidFill>
                              <a:schemeClr val="tx1"/>
                            </a:solidFill>
                            <a:latin typeface="Cambria Math" panose="02040503050406030204" pitchFamily="18" charset="0"/>
                            <a:ea typeface="MS Mincho" charset="0"/>
                            <a:cs typeface="Cambria Math" panose="02040503050406030204" pitchFamily="18" charset="0"/>
                          </a:rPr>
                          <m:t>1</m:t>
                        </m:r>
                      </m:sub>
                    </m:sSub>
                    <m:r>
                      <a:rPr lang="zh-CN" altLang="zh-CN" sz="200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acc>
                          <m:accPr>
                            <m:chr m:val="̂"/>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accPr>
                          <m:e>
                            <m:r>
                              <a:rPr lang="en-US" altLang="zh-CN" sz="2000">
                                <a:solidFill>
                                  <a:schemeClr val="tx1"/>
                                </a:solidFill>
                                <a:latin typeface="Cambria Math" panose="02040503050406030204" pitchFamily="18" charset="0"/>
                                <a:ea typeface="MS Mincho" charset="0"/>
                                <a:cs typeface="Cambria Math" panose="02040503050406030204" pitchFamily="18" charset="0"/>
                              </a:rPr>
                              <m:t>𝛽</m:t>
                            </m:r>
                          </m:e>
                        </m:acc>
                      </m:e>
                      <m:sub>
                        <m:r>
                          <a:rPr lang="en-US" altLang="zh-CN" sz="2000">
                            <a:solidFill>
                              <a:schemeClr val="tx1"/>
                            </a:solidFill>
                            <a:latin typeface="Cambria Math" panose="02040503050406030204" pitchFamily="18" charset="0"/>
                            <a:ea typeface="MS Mincho" charset="0"/>
                            <a:cs typeface="Cambria Math" panose="02040503050406030204" pitchFamily="18" charset="0"/>
                          </a:rPr>
                          <m:t>2</m:t>
                        </m:r>
                      </m:sub>
                    </m:sSub>
                    <m:r>
                      <a:rPr lang="zh-CN" altLang="zh-CN" sz="2000">
                        <a:solidFill>
                          <a:schemeClr val="tx1"/>
                        </a:solidFill>
                        <a:latin typeface="Cambria Math" panose="02040503050406030204" pitchFamily="18" charset="0"/>
                        <a:ea typeface="MS Mincho" charset="0"/>
                        <a:cs typeface="Cambria Math" panose="02040503050406030204" pitchFamily="18" charset="0"/>
                      </a:rPr>
                      <m:t>，</m:t>
                    </m:r>
                    <m:r>
                      <a:rPr lang="en-US" altLang="zh-CN" sz="2000">
                        <a:solidFill>
                          <a:schemeClr val="tx1"/>
                        </a:solidFill>
                        <a:latin typeface="Cambria Math" panose="02040503050406030204" pitchFamily="18" charset="0"/>
                        <a:ea typeface="MS Mincho" charset="0"/>
                        <a:cs typeface="Cambria Math" panose="02040503050406030204" pitchFamily="18" charset="0"/>
                      </a:rPr>
                      <m:t>⋯</m:t>
                    </m:r>
                    <m:r>
                      <a:rPr lang="zh-CN" altLang="zh-CN" sz="200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acc>
                          <m:accPr>
                            <m:chr m:val="̂"/>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accPr>
                          <m:e>
                            <m:r>
                              <a:rPr lang="en-US" altLang="zh-CN" sz="2000">
                                <a:solidFill>
                                  <a:schemeClr val="tx1"/>
                                </a:solidFill>
                                <a:latin typeface="Cambria Math" panose="02040503050406030204" pitchFamily="18" charset="0"/>
                                <a:ea typeface="MS Mincho" charset="0"/>
                                <a:cs typeface="Cambria Math" panose="02040503050406030204" pitchFamily="18" charset="0"/>
                              </a:rPr>
                              <m:t>𝛽</m:t>
                            </m:r>
                          </m:e>
                        </m:acc>
                      </m:e>
                      <m:sub>
                        <m:r>
                          <a:rPr lang="en-US" altLang="zh-CN" sz="2000">
                            <a:solidFill>
                              <a:schemeClr val="tx1"/>
                            </a:solidFill>
                            <a:latin typeface="Cambria Math" panose="02040503050406030204" pitchFamily="18" charset="0"/>
                            <a:ea typeface="微软雅黑" panose="020B0503020204020204" charset="-122"/>
                            <a:cs typeface="Cambria Math" panose="02040503050406030204" pitchFamily="18" charset="0"/>
                          </a:rPr>
                          <m:t>𝑘</m:t>
                        </m:r>
                      </m:sub>
                    </m:sSub>
                  </m:oMath>
                </a14:m>
                <a:r>
                  <a:rPr lang="zh-CN" altLang="zh-CN" sz="2000" dirty="0">
                    <a:solidFill>
                      <a:schemeClr val="tx1"/>
                    </a:solidFill>
                    <a:latin typeface="Times New Roman" panose="02020603050405020304" charset="0"/>
                    <a:ea typeface="微软雅黑" panose="020B0503020204020204" charset="-122"/>
                    <a:cs typeface="Times New Roman" panose="02020603050405020304" charset="0"/>
                  </a:rPr>
                  <a:t>是参数</a:t>
                </a:r>
                <a14:m>
                  <m:oMath xmlns:m="http://schemas.openxmlformats.org/officeDocument/2006/math">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a:solidFill>
                              <a:schemeClr val="tx1"/>
                            </a:solidFill>
                            <a:latin typeface="Cambria Math" panose="02040503050406030204" pitchFamily="18" charset="0"/>
                            <a:ea typeface="MS Mincho" charset="0"/>
                            <a:cs typeface="Cambria Math" panose="02040503050406030204" pitchFamily="18" charset="0"/>
                          </a:rPr>
                          <m:t>𝛽</m:t>
                        </m:r>
                      </m:e>
                      <m:sub>
                        <m:r>
                          <a:rPr lang="en-US" altLang="zh-CN" sz="2000">
                            <a:solidFill>
                              <a:schemeClr val="tx1"/>
                            </a:solidFill>
                            <a:latin typeface="Cambria Math" panose="02040503050406030204" pitchFamily="18" charset="0"/>
                            <a:ea typeface="MS Mincho" charset="0"/>
                            <a:cs typeface="Cambria Math" panose="02040503050406030204" pitchFamily="18" charset="0"/>
                          </a:rPr>
                          <m:t>0</m:t>
                        </m:r>
                      </m:sub>
                    </m:sSub>
                    <m:r>
                      <a:rPr lang="zh-CN" altLang="zh-CN" sz="200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a:solidFill>
                              <a:schemeClr val="tx1"/>
                            </a:solidFill>
                            <a:latin typeface="Cambria Math" panose="02040503050406030204" pitchFamily="18" charset="0"/>
                            <a:ea typeface="MS Mincho" charset="0"/>
                            <a:cs typeface="Cambria Math" panose="02040503050406030204" pitchFamily="18" charset="0"/>
                          </a:rPr>
                          <m:t>𝛽</m:t>
                        </m:r>
                      </m:e>
                      <m:sub>
                        <m:r>
                          <a:rPr lang="en-US" altLang="zh-CN" sz="2000">
                            <a:solidFill>
                              <a:schemeClr val="tx1"/>
                            </a:solidFill>
                            <a:latin typeface="Cambria Math" panose="02040503050406030204" pitchFamily="18" charset="0"/>
                            <a:ea typeface="MS Mincho" charset="0"/>
                            <a:cs typeface="Cambria Math" panose="02040503050406030204" pitchFamily="18" charset="0"/>
                          </a:rPr>
                          <m:t>1</m:t>
                        </m:r>
                      </m:sub>
                    </m:sSub>
                    <m:r>
                      <a:rPr lang="zh-CN" altLang="zh-CN" sz="200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a:solidFill>
                              <a:schemeClr val="tx1"/>
                            </a:solidFill>
                            <a:latin typeface="Cambria Math" panose="02040503050406030204" pitchFamily="18" charset="0"/>
                            <a:ea typeface="MS Mincho" charset="0"/>
                            <a:cs typeface="Cambria Math" panose="02040503050406030204" pitchFamily="18" charset="0"/>
                          </a:rPr>
                          <m:t>𝛽</m:t>
                        </m:r>
                      </m:e>
                      <m:sub>
                        <m:r>
                          <a:rPr lang="en-US" altLang="zh-CN" sz="2000">
                            <a:solidFill>
                              <a:schemeClr val="tx1"/>
                            </a:solidFill>
                            <a:latin typeface="Cambria Math" panose="02040503050406030204" pitchFamily="18" charset="0"/>
                            <a:ea typeface="MS Mincho" charset="0"/>
                            <a:cs typeface="Cambria Math" panose="02040503050406030204" pitchFamily="18" charset="0"/>
                          </a:rPr>
                          <m:t>2</m:t>
                        </m:r>
                      </m:sub>
                    </m:sSub>
                    <m:r>
                      <a:rPr lang="zh-CN" altLang="zh-CN" sz="2000">
                        <a:solidFill>
                          <a:schemeClr val="tx1"/>
                        </a:solidFill>
                        <a:latin typeface="Cambria Math" panose="02040503050406030204" pitchFamily="18" charset="0"/>
                        <a:ea typeface="MS Mincho" charset="0"/>
                        <a:cs typeface="Cambria Math" panose="02040503050406030204" pitchFamily="18" charset="0"/>
                      </a:rPr>
                      <m:t>，</m:t>
                    </m:r>
                    <m:r>
                      <a:rPr lang="en-US" altLang="zh-CN" sz="2000">
                        <a:solidFill>
                          <a:schemeClr val="tx1"/>
                        </a:solidFill>
                        <a:latin typeface="Cambria Math" panose="02040503050406030204" pitchFamily="18" charset="0"/>
                        <a:ea typeface="MS Mincho" charset="0"/>
                        <a:cs typeface="Cambria Math" panose="02040503050406030204" pitchFamily="18" charset="0"/>
                      </a:rPr>
                      <m:t>⋯</m:t>
                    </m:r>
                    <m:r>
                      <a:rPr lang="zh-CN" altLang="zh-CN" sz="200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a:solidFill>
                              <a:schemeClr val="tx1"/>
                            </a:solidFill>
                            <a:latin typeface="Cambria Math" panose="02040503050406030204" pitchFamily="18" charset="0"/>
                            <a:ea typeface="MS Mincho" charset="0"/>
                            <a:cs typeface="Cambria Math" panose="02040503050406030204" pitchFamily="18" charset="0"/>
                          </a:rPr>
                          <m:t>𝛽</m:t>
                        </m:r>
                      </m:e>
                      <m:sub>
                        <m:r>
                          <a:rPr lang="en-US" altLang="zh-CN" sz="2000">
                            <a:solidFill>
                              <a:schemeClr val="tx1"/>
                            </a:solidFill>
                            <a:latin typeface="Cambria Math" panose="02040503050406030204" pitchFamily="18" charset="0"/>
                            <a:ea typeface="微软雅黑" panose="020B0503020204020204" charset="-122"/>
                            <a:cs typeface="Cambria Math" panose="02040503050406030204" pitchFamily="18" charset="0"/>
                          </a:rPr>
                          <m:t>𝑘</m:t>
                        </m:r>
                      </m:sub>
                    </m:sSub>
                  </m:oMath>
                </a14:m>
                <a:r>
                  <a:rPr lang="zh-CN" altLang="zh-CN" sz="2000" dirty="0">
                    <a:solidFill>
                      <a:schemeClr val="tx1"/>
                    </a:solidFill>
                    <a:latin typeface="Times New Roman" panose="02020603050405020304" charset="0"/>
                    <a:ea typeface="微软雅黑" panose="020B0503020204020204" charset="-122"/>
                    <a:cs typeface="Times New Roman" panose="02020603050405020304" charset="0"/>
                  </a:rPr>
                  <a:t>的估计量；</a:t>
                </a:r>
                <a14:m>
                  <m:oMath xmlns:m="http://schemas.openxmlformats.org/officeDocument/2006/math">
                    <m:acc>
                      <m:accPr>
                        <m:chr m:val="̂"/>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accPr>
                      <m:e>
                        <m:r>
                          <a:rPr lang="en-US" altLang="zh-CN" sz="2000">
                            <a:solidFill>
                              <a:schemeClr val="tx1"/>
                            </a:solidFill>
                            <a:latin typeface="Cambria Math" panose="02040503050406030204" pitchFamily="18" charset="0"/>
                            <a:ea typeface="微软雅黑" panose="020B0503020204020204" charset="-122"/>
                            <a:cs typeface="Cambria Math" panose="02040503050406030204" pitchFamily="18" charset="0"/>
                          </a:rPr>
                          <m:t>𝑦</m:t>
                        </m:r>
                      </m:e>
                    </m:acc>
                  </m:oMath>
                </a14:m>
                <a:r>
                  <a:rPr lang="zh-CN" altLang="zh-CN" sz="2000" dirty="0">
                    <a:solidFill>
                      <a:schemeClr val="tx1"/>
                    </a:solidFill>
                    <a:latin typeface="Times New Roman" panose="02020603050405020304" charset="0"/>
                    <a:ea typeface="微软雅黑" panose="020B0503020204020204" charset="-122"/>
                    <a:cs typeface="Times New Roman" panose="02020603050405020304" charset="0"/>
                  </a:rPr>
                  <a:t>是因变量</a:t>
                </a:r>
                <a14:m>
                  <m:oMath xmlns:m="http://schemas.openxmlformats.org/officeDocument/2006/math">
                    <m:r>
                      <a:rPr lang="en-US" altLang="zh-CN" sz="2000">
                        <a:solidFill>
                          <a:schemeClr val="tx1"/>
                        </a:solidFill>
                        <a:latin typeface="Cambria Math" panose="02040503050406030204" pitchFamily="18" charset="0"/>
                        <a:ea typeface="微软雅黑" panose="020B0503020204020204" charset="-122"/>
                        <a:cs typeface="Cambria Math" panose="02040503050406030204" pitchFamily="18" charset="0"/>
                      </a:rPr>
                      <m:t>𝑦</m:t>
                    </m:r>
                  </m:oMath>
                </a14:m>
                <a:r>
                  <a:rPr lang="zh-CN" altLang="zh-CN" sz="2000" dirty="0">
                    <a:solidFill>
                      <a:schemeClr val="tx1"/>
                    </a:solidFill>
                    <a:latin typeface="Times New Roman" panose="02020603050405020304" charset="0"/>
                    <a:ea typeface="微软雅黑" panose="020B0503020204020204" charset="-122"/>
                    <a:cs typeface="Times New Roman" panose="02020603050405020304" charset="0"/>
                  </a:rPr>
                  <a:t>的估计量</a:t>
                </a:r>
                <a:endParaRPr lang="en-US" altLang="zh-CN" sz="2000" dirty="0">
                  <a:solidFill>
                    <a:schemeClr val="tx1"/>
                  </a:solidFill>
                  <a:latin typeface="Times New Roman" panose="02020603050405020304" charset="0"/>
                  <a:ea typeface="微软雅黑" panose="020B0503020204020204" charset="-122"/>
                  <a:cs typeface="Times New Roman" panose="02020603050405020304" charset="0"/>
                </a:endParaRPr>
              </a:p>
              <a:p>
                <a:pPr marL="536575" lvl="1" indent="0">
                  <a:lnSpc>
                    <a:spcPct val="150000"/>
                  </a:lnSpc>
                  <a:spcBef>
                    <a:spcPts val="750"/>
                  </a:spcBef>
                  <a:buClr>
                    <a:srgbClr val="002060"/>
                  </a:buClr>
                  <a:buFont typeface="Arial" panose="020B0604020202020204" pitchFamily="34" charset="0"/>
                  <a:buNone/>
                  <a:defRPr/>
                </a:pPr>
                <a14:m>
                  <m:oMath xmlns:m="http://schemas.openxmlformats.org/officeDocument/2006/math">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acc>
                          <m:accPr>
                            <m:chr m:val="̂"/>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accPr>
                          <m:e>
                            <m:r>
                              <a:rPr lang="en-US" altLang="zh-CN" sz="2000">
                                <a:solidFill>
                                  <a:schemeClr val="tx1"/>
                                </a:solidFill>
                                <a:latin typeface="Cambria Math" panose="02040503050406030204" pitchFamily="18" charset="0"/>
                                <a:ea typeface="MS Mincho" charset="0"/>
                                <a:cs typeface="Cambria Math" panose="02040503050406030204" pitchFamily="18" charset="0"/>
                              </a:rPr>
                              <m:t>𝛽</m:t>
                            </m:r>
                          </m:e>
                        </m:acc>
                      </m:e>
                      <m:sub>
                        <m:r>
                          <a:rPr lang="en-US" altLang="zh-CN" sz="2000">
                            <a:solidFill>
                              <a:schemeClr val="tx1"/>
                            </a:solidFill>
                            <a:latin typeface="Cambria Math" panose="02040503050406030204" pitchFamily="18" charset="0"/>
                            <a:ea typeface="MS Mincho" charset="0"/>
                            <a:cs typeface="Cambria Math" panose="02040503050406030204" pitchFamily="18" charset="0"/>
                          </a:rPr>
                          <m:t>1</m:t>
                        </m:r>
                      </m:sub>
                    </m:sSub>
                    <m:r>
                      <a:rPr lang="zh-TW" altLang="zh-CN" sz="200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acc>
                          <m:accPr>
                            <m:chr m:val="̂"/>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accPr>
                          <m:e>
                            <m:r>
                              <a:rPr lang="en-US" altLang="zh-CN" sz="2000">
                                <a:solidFill>
                                  <a:schemeClr val="tx1"/>
                                </a:solidFill>
                                <a:latin typeface="Cambria Math" panose="02040503050406030204" pitchFamily="18" charset="0"/>
                                <a:ea typeface="MS Mincho" charset="0"/>
                                <a:cs typeface="Cambria Math" panose="02040503050406030204" pitchFamily="18" charset="0"/>
                              </a:rPr>
                              <m:t>𝛽</m:t>
                            </m:r>
                          </m:e>
                        </m:acc>
                      </m:e>
                      <m:sub>
                        <m:r>
                          <a:rPr lang="en-US" altLang="zh-CN" sz="2000">
                            <a:solidFill>
                              <a:schemeClr val="tx1"/>
                            </a:solidFill>
                            <a:latin typeface="Cambria Math" panose="02040503050406030204" pitchFamily="18" charset="0"/>
                            <a:ea typeface="MS Mincho" charset="0"/>
                            <a:cs typeface="Cambria Math" panose="02040503050406030204" pitchFamily="18" charset="0"/>
                          </a:rPr>
                          <m:t>2</m:t>
                        </m:r>
                      </m:sub>
                    </m:sSub>
                    <m:r>
                      <a:rPr lang="zh-TW" altLang="zh-CN" sz="2000">
                        <a:solidFill>
                          <a:schemeClr val="tx1"/>
                        </a:solidFill>
                        <a:latin typeface="Cambria Math" panose="02040503050406030204" pitchFamily="18" charset="0"/>
                        <a:ea typeface="MS Mincho" charset="0"/>
                        <a:cs typeface="Cambria Math" panose="02040503050406030204" pitchFamily="18" charset="0"/>
                      </a:rPr>
                      <m:t>，</m:t>
                    </m:r>
                    <m:r>
                      <a:rPr lang="en-US" altLang="zh-CN" sz="2000">
                        <a:solidFill>
                          <a:schemeClr val="tx1"/>
                        </a:solidFill>
                        <a:latin typeface="Cambria Math" panose="02040503050406030204" pitchFamily="18" charset="0"/>
                        <a:ea typeface="MS Mincho" charset="0"/>
                        <a:cs typeface="Cambria Math" panose="02040503050406030204" pitchFamily="18" charset="0"/>
                      </a:rPr>
                      <m:t>⋯</m:t>
                    </m:r>
                    <m:r>
                      <a:rPr lang="zh-TW" altLang="zh-CN" sz="200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acc>
                          <m:accPr>
                            <m:chr m:val="̂"/>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accPr>
                          <m:e>
                            <m:r>
                              <a:rPr lang="en-US" altLang="zh-CN" sz="2000">
                                <a:solidFill>
                                  <a:schemeClr val="tx1"/>
                                </a:solidFill>
                                <a:latin typeface="Cambria Math" panose="02040503050406030204" pitchFamily="18" charset="0"/>
                                <a:ea typeface="MS Mincho" charset="0"/>
                                <a:cs typeface="Cambria Math" panose="02040503050406030204" pitchFamily="18" charset="0"/>
                              </a:rPr>
                              <m:t>𝛽</m:t>
                            </m:r>
                          </m:e>
                        </m:acc>
                      </m:e>
                      <m:sub>
                        <m:r>
                          <a:rPr lang="en-US" altLang="zh-CN" sz="2000">
                            <a:solidFill>
                              <a:schemeClr val="tx1"/>
                            </a:solidFill>
                            <a:latin typeface="Cambria Math" panose="02040503050406030204" pitchFamily="18" charset="0"/>
                            <a:ea typeface="微软雅黑" panose="020B0503020204020204" charset="-122"/>
                            <a:cs typeface="Cambria Math" panose="02040503050406030204" pitchFamily="18" charset="0"/>
                          </a:rPr>
                          <m:t>𝑘</m:t>
                        </m:r>
                      </m:sub>
                    </m:sSub>
                  </m:oMath>
                </a14:m>
                <a:r>
                  <a:rPr lang="zh-CN" altLang="zh-CN" sz="2000" dirty="0">
                    <a:solidFill>
                      <a:schemeClr val="tx1"/>
                    </a:solidFill>
                    <a:latin typeface="Times New Roman" panose="02020603050405020304" charset="0"/>
                    <a:ea typeface="微软雅黑" panose="020B0503020204020204" charset="-122"/>
                    <a:cs typeface="Times New Roman" panose="02020603050405020304" charset="0"/>
                  </a:rPr>
                  <a:t>称为偏回归系数。</a:t>
                </a:r>
                <a14:m>
                  <m:oMath xmlns:m="http://schemas.openxmlformats.org/officeDocument/2006/math">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acc>
                          <m:accPr>
                            <m:chr m:val="̂"/>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accPr>
                          <m:e>
                            <m:r>
                              <a:rPr lang="en-US" altLang="zh-CN" sz="2000">
                                <a:solidFill>
                                  <a:schemeClr val="tx1"/>
                                </a:solidFill>
                                <a:latin typeface="Cambria Math" panose="02040503050406030204" pitchFamily="18" charset="0"/>
                                <a:ea typeface="MS Mincho" charset="0"/>
                                <a:cs typeface="Cambria Math" panose="02040503050406030204" pitchFamily="18" charset="0"/>
                              </a:rPr>
                              <m:t>𝛽</m:t>
                            </m:r>
                          </m:e>
                        </m:acc>
                      </m:e>
                      <m:sub>
                        <m:r>
                          <a:rPr lang="en-US" altLang="zh-CN" sz="2000">
                            <a:solidFill>
                              <a:schemeClr val="tx1"/>
                            </a:solidFill>
                            <a:latin typeface="Cambria Math" panose="02040503050406030204" pitchFamily="18" charset="0"/>
                            <a:ea typeface="MS Mincho" charset="0"/>
                            <a:cs typeface="Cambria Math" panose="02040503050406030204" pitchFamily="18" charset="0"/>
                          </a:rPr>
                          <m:t>1</m:t>
                        </m:r>
                      </m:sub>
                    </m:sSub>
                  </m:oMath>
                </a14:m>
                <a:r>
                  <a:rPr lang="zh-CN" altLang="zh-CN" sz="2000" dirty="0">
                    <a:solidFill>
                      <a:schemeClr val="tx1"/>
                    </a:solidFill>
                    <a:latin typeface="Times New Roman" panose="02020603050405020304" charset="0"/>
                    <a:ea typeface="微软雅黑" panose="020B0503020204020204" charset="-122"/>
                    <a:cs typeface="Times New Roman" panose="02020603050405020304" charset="0"/>
                  </a:rPr>
                  <a:t>表示当</a:t>
                </a:r>
                <a14:m>
                  <m:oMath xmlns:m="http://schemas.openxmlformats.org/officeDocument/2006/math">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a:solidFill>
                              <a:schemeClr val="tx1"/>
                            </a:solidFill>
                            <a:latin typeface="Cambria Math" panose="02040503050406030204" pitchFamily="18" charset="0"/>
                            <a:ea typeface="微软雅黑" panose="020B0503020204020204" charset="-122"/>
                            <a:cs typeface="Cambria Math" panose="02040503050406030204" pitchFamily="18" charset="0"/>
                          </a:rPr>
                          <m:t>𝑥</m:t>
                        </m:r>
                      </m:e>
                      <m:sub>
                        <m:r>
                          <a:rPr lang="en-US" altLang="zh-CN" sz="2000">
                            <a:solidFill>
                              <a:schemeClr val="tx1"/>
                            </a:solidFill>
                            <a:latin typeface="Cambria Math" panose="02040503050406030204" pitchFamily="18" charset="0"/>
                            <a:ea typeface="MS Mincho" charset="0"/>
                            <a:cs typeface="Cambria Math" panose="02040503050406030204" pitchFamily="18" charset="0"/>
                          </a:rPr>
                          <m:t>2</m:t>
                        </m:r>
                      </m:sub>
                    </m:sSub>
                    <m:r>
                      <a:rPr lang="en-US" altLang="zh-CN" sz="200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a:solidFill>
                              <a:schemeClr val="tx1"/>
                            </a:solidFill>
                            <a:latin typeface="Cambria Math" panose="02040503050406030204" pitchFamily="18" charset="0"/>
                            <a:ea typeface="微软雅黑" panose="020B0503020204020204" charset="-122"/>
                            <a:cs typeface="Cambria Math" panose="02040503050406030204" pitchFamily="18" charset="0"/>
                          </a:rPr>
                          <m:t>𝑥</m:t>
                        </m:r>
                      </m:e>
                      <m:sub>
                        <m:r>
                          <a:rPr lang="en-US" altLang="zh-CN" sz="2000">
                            <a:solidFill>
                              <a:schemeClr val="tx1"/>
                            </a:solidFill>
                            <a:latin typeface="Cambria Math" panose="02040503050406030204" pitchFamily="18" charset="0"/>
                            <a:ea typeface="MS Mincho" charset="0"/>
                            <a:cs typeface="Cambria Math" panose="02040503050406030204" pitchFamily="18" charset="0"/>
                          </a:rPr>
                          <m:t>3</m:t>
                        </m:r>
                      </m:sub>
                    </m:sSub>
                    <m:r>
                      <a:rPr lang="en-US" altLang="zh-CN" sz="200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a:solidFill>
                              <a:schemeClr val="tx1"/>
                            </a:solidFill>
                            <a:latin typeface="Cambria Math" panose="02040503050406030204" pitchFamily="18" charset="0"/>
                            <a:ea typeface="微软雅黑" panose="020B0503020204020204" charset="-122"/>
                            <a:cs typeface="Cambria Math" panose="02040503050406030204" pitchFamily="18" charset="0"/>
                          </a:rPr>
                          <m:t>𝑥</m:t>
                        </m:r>
                      </m:e>
                      <m:sub>
                        <m:r>
                          <a:rPr lang="en-US" altLang="zh-CN" sz="2000">
                            <a:solidFill>
                              <a:schemeClr val="tx1"/>
                            </a:solidFill>
                            <a:latin typeface="Cambria Math" panose="02040503050406030204" pitchFamily="18" charset="0"/>
                            <a:ea typeface="微软雅黑" panose="020B0503020204020204" charset="-122"/>
                            <a:cs typeface="Cambria Math" panose="02040503050406030204" pitchFamily="18" charset="0"/>
                          </a:rPr>
                          <m:t>𝑘</m:t>
                        </m:r>
                      </m:sub>
                    </m:sSub>
                  </m:oMath>
                </a14:m>
                <a:r>
                  <a:rPr lang="zh-CN" altLang="zh-CN" sz="2000" dirty="0">
                    <a:solidFill>
                      <a:schemeClr val="tx1"/>
                    </a:solidFill>
                    <a:latin typeface="Times New Roman" panose="02020603050405020304" charset="0"/>
                    <a:ea typeface="微软雅黑" panose="020B0503020204020204" charset="-122"/>
                    <a:cs typeface="Times New Roman" panose="02020603050405020304" charset="0"/>
                  </a:rPr>
                  <a:t>不变时，</a:t>
                </a:r>
                <a14:m>
                  <m:oMath xmlns:m="http://schemas.openxmlformats.org/officeDocument/2006/math">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a:solidFill>
                              <a:schemeClr val="tx1"/>
                            </a:solidFill>
                            <a:latin typeface="Cambria Math" panose="02040503050406030204" pitchFamily="18" charset="0"/>
                            <a:ea typeface="微软雅黑" panose="020B0503020204020204" charset="-122"/>
                            <a:cs typeface="Cambria Math" panose="02040503050406030204" pitchFamily="18" charset="0"/>
                          </a:rPr>
                          <m:t>𝑥</m:t>
                        </m:r>
                      </m:e>
                      <m:sub>
                        <m:r>
                          <a:rPr lang="en-US" altLang="zh-CN" sz="2000">
                            <a:solidFill>
                              <a:schemeClr val="tx1"/>
                            </a:solidFill>
                            <a:latin typeface="Cambria Math" panose="02040503050406030204" pitchFamily="18" charset="0"/>
                            <a:ea typeface="MS Mincho" charset="0"/>
                            <a:cs typeface="Cambria Math" panose="02040503050406030204" pitchFamily="18" charset="0"/>
                          </a:rPr>
                          <m:t>1</m:t>
                        </m:r>
                      </m:sub>
                    </m:sSub>
                  </m:oMath>
                </a14:m>
                <a:r>
                  <a:rPr lang="zh-CN" altLang="zh-CN" sz="2000" dirty="0">
                    <a:solidFill>
                      <a:schemeClr val="tx1"/>
                    </a:solidFill>
                    <a:latin typeface="Times New Roman" panose="02020603050405020304" charset="0"/>
                    <a:ea typeface="微软雅黑" panose="020B0503020204020204" charset="-122"/>
                    <a:cs typeface="Times New Roman" panose="02020603050405020304" charset="0"/>
                  </a:rPr>
                  <a:t>每改变一个单位因变量</a:t>
                </a:r>
                <a14:m>
                  <m:oMath xmlns:m="http://schemas.openxmlformats.org/officeDocument/2006/math">
                    <m:r>
                      <a:rPr lang="en-US" altLang="zh-CN" sz="2000">
                        <a:solidFill>
                          <a:schemeClr val="tx1"/>
                        </a:solidFill>
                        <a:latin typeface="Cambria Math" panose="02040503050406030204" pitchFamily="18" charset="0"/>
                        <a:ea typeface="微软雅黑" panose="020B0503020204020204" charset="-122"/>
                        <a:cs typeface="Cambria Math" panose="02040503050406030204" pitchFamily="18" charset="0"/>
                      </a:rPr>
                      <m:t>𝑦</m:t>
                    </m:r>
                  </m:oMath>
                </a14:m>
                <a:r>
                  <a:rPr lang="zh-CN" altLang="zh-CN" sz="2000" dirty="0">
                    <a:solidFill>
                      <a:schemeClr val="tx1"/>
                    </a:solidFill>
                    <a:latin typeface="Times New Roman" panose="02020603050405020304" charset="0"/>
                    <a:ea typeface="微软雅黑" panose="020B0503020204020204" charset="-122"/>
                    <a:cs typeface="Times New Roman" panose="02020603050405020304" charset="0"/>
                  </a:rPr>
                  <a:t>的平均改变量；</a:t>
                </a:r>
                <a14:m>
                  <m:oMath xmlns:m="http://schemas.openxmlformats.org/officeDocument/2006/math">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acc>
                          <m:accPr>
                            <m:chr m:val="̂"/>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accPr>
                          <m:e>
                            <m:r>
                              <a:rPr lang="en-US" altLang="zh-CN" sz="2000">
                                <a:solidFill>
                                  <a:schemeClr val="tx1"/>
                                </a:solidFill>
                                <a:latin typeface="Cambria Math" panose="02040503050406030204" pitchFamily="18" charset="0"/>
                                <a:ea typeface="MS Mincho" charset="0"/>
                                <a:cs typeface="Cambria Math" panose="02040503050406030204" pitchFamily="18" charset="0"/>
                              </a:rPr>
                              <m:t>𝛽</m:t>
                            </m:r>
                          </m:e>
                        </m:acc>
                      </m:e>
                      <m:sub>
                        <m:r>
                          <a:rPr lang="en-US" altLang="zh-CN" sz="2000">
                            <a:solidFill>
                              <a:schemeClr val="tx1"/>
                            </a:solidFill>
                            <a:latin typeface="Cambria Math" panose="02040503050406030204" pitchFamily="18" charset="0"/>
                            <a:ea typeface="MS Mincho" charset="0"/>
                            <a:cs typeface="Cambria Math" panose="02040503050406030204" pitchFamily="18" charset="0"/>
                          </a:rPr>
                          <m:t>2</m:t>
                        </m:r>
                      </m:sub>
                    </m:sSub>
                  </m:oMath>
                </a14:m>
                <a:r>
                  <a:rPr lang="zh-CN" altLang="zh-CN" sz="2000" dirty="0">
                    <a:solidFill>
                      <a:schemeClr val="tx1"/>
                    </a:solidFill>
                    <a:latin typeface="Times New Roman" panose="02020603050405020304" charset="0"/>
                    <a:ea typeface="微软雅黑" panose="020B0503020204020204" charset="-122"/>
                    <a:cs typeface="Times New Roman" panose="02020603050405020304" charset="0"/>
                  </a:rPr>
                  <a:t>表示当</a:t>
                </a:r>
                <a14:m>
                  <m:oMath xmlns:m="http://schemas.openxmlformats.org/officeDocument/2006/math">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a:solidFill>
                              <a:schemeClr val="tx1"/>
                            </a:solidFill>
                            <a:latin typeface="Cambria Math" panose="02040503050406030204" pitchFamily="18" charset="0"/>
                            <a:ea typeface="微软雅黑" panose="020B0503020204020204" charset="-122"/>
                            <a:cs typeface="Cambria Math" panose="02040503050406030204" pitchFamily="18" charset="0"/>
                          </a:rPr>
                          <m:t>𝑥</m:t>
                        </m:r>
                      </m:e>
                      <m:sub>
                        <m:r>
                          <a:rPr lang="en-US" altLang="zh-CN" sz="2000">
                            <a:solidFill>
                              <a:schemeClr val="tx1"/>
                            </a:solidFill>
                            <a:latin typeface="Cambria Math" panose="02040503050406030204" pitchFamily="18" charset="0"/>
                            <a:ea typeface="MS Mincho" charset="0"/>
                            <a:cs typeface="Cambria Math" panose="02040503050406030204" pitchFamily="18" charset="0"/>
                          </a:rPr>
                          <m:t>1</m:t>
                        </m:r>
                      </m:sub>
                    </m:sSub>
                    <m:r>
                      <a:rPr lang="en-US" altLang="zh-CN" sz="200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a:solidFill>
                              <a:schemeClr val="tx1"/>
                            </a:solidFill>
                            <a:latin typeface="Cambria Math" panose="02040503050406030204" pitchFamily="18" charset="0"/>
                            <a:ea typeface="微软雅黑" panose="020B0503020204020204" charset="-122"/>
                            <a:cs typeface="Cambria Math" panose="02040503050406030204" pitchFamily="18" charset="0"/>
                          </a:rPr>
                          <m:t>𝑥</m:t>
                        </m:r>
                      </m:e>
                      <m:sub>
                        <m:r>
                          <a:rPr lang="en-US" altLang="zh-CN" sz="2000">
                            <a:solidFill>
                              <a:schemeClr val="tx1"/>
                            </a:solidFill>
                            <a:latin typeface="Cambria Math" panose="02040503050406030204" pitchFamily="18" charset="0"/>
                            <a:ea typeface="MS Mincho" charset="0"/>
                            <a:cs typeface="Cambria Math" panose="02040503050406030204" pitchFamily="18" charset="0"/>
                          </a:rPr>
                          <m:t>3</m:t>
                        </m:r>
                      </m:sub>
                    </m:sSub>
                    <m:r>
                      <a:rPr lang="en-US" altLang="zh-CN" sz="2000">
                        <a:solidFill>
                          <a:schemeClr val="tx1"/>
                        </a:solidFill>
                        <a:latin typeface="Cambria Math" panose="02040503050406030204" pitchFamily="18" charset="0"/>
                        <a:ea typeface="MS Mincho" charset="0"/>
                        <a:cs typeface="Cambria Math" panose="02040503050406030204" pitchFamily="18" charset="0"/>
                      </a:rPr>
                      <m:t>,⋯,</m:t>
                    </m:r>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a:solidFill>
                              <a:schemeClr val="tx1"/>
                            </a:solidFill>
                            <a:latin typeface="Cambria Math" panose="02040503050406030204" pitchFamily="18" charset="0"/>
                            <a:ea typeface="微软雅黑" panose="020B0503020204020204" charset="-122"/>
                            <a:cs typeface="Cambria Math" panose="02040503050406030204" pitchFamily="18" charset="0"/>
                          </a:rPr>
                          <m:t>𝑥</m:t>
                        </m:r>
                      </m:e>
                      <m:sub>
                        <m:r>
                          <a:rPr lang="en-US" altLang="zh-CN" sz="2000">
                            <a:solidFill>
                              <a:schemeClr val="tx1"/>
                            </a:solidFill>
                            <a:latin typeface="Cambria Math" panose="02040503050406030204" pitchFamily="18" charset="0"/>
                            <a:ea typeface="微软雅黑" panose="020B0503020204020204" charset="-122"/>
                            <a:cs typeface="Cambria Math" panose="02040503050406030204" pitchFamily="18" charset="0"/>
                          </a:rPr>
                          <m:t>𝑘</m:t>
                        </m:r>
                      </m:sub>
                    </m:sSub>
                  </m:oMath>
                </a14:m>
                <a:r>
                  <a:rPr lang="zh-CN" altLang="zh-CN" sz="2000" dirty="0">
                    <a:solidFill>
                      <a:schemeClr val="tx1"/>
                    </a:solidFill>
                    <a:latin typeface="Times New Roman" panose="02020603050405020304" charset="0"/>
                    <a:ea typeface="微软雅黑" panose="020B0503020204020204" charset="-122"/>
                    <a:cs typeface="Times New Roman" panose="02020603050405020304" charset="0"/>
                  </a:rPr>
                  <a:t>不变时，</a:t>
                </a:r>
                <a14:m>
                  <m:oMath xmlns:m="http://schemas.openxmlformats.org/officeDocument/2006/math">
                    <m:sSub>
                      <m:sSubPr>
                        <m:ctrlPr>
                          <a:rPr lang="zh-CN" altLang="zh-CN" sz="2000" i="1">
                            <a:solidFill>
                              <a:schemeClr val="tx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a:solidFill>
                              <a:schemeClr val="tx1"/>
                            </a:solidFill>
                            <a:latin typeface="Cambria Math" panose="02040503050406030204" pitchFamily="18" charset="0"/>
                            <a:ea typeface="微软雅黑" panose="020B0503020204020204" charset="-122"/>
                            <a:cs typeface="Cambria Math" panose="02040503050406030204" pitchFamily="18" charset="0"/>
                          </a:rPr>
                          <m:t>𝑥</m:t>
                        </m:r>
                      </m:e>
                      <m:sub>
                        <m:r>
                          <a:rPr lang="en-US" altLang="zh-CN" sz="2000">
                            <a:solidFill>
                              <a:schemeClr val="tx1"/>
                            </a:solidFill>
                            <a:latin typeface="Cambria Math" panose="02040503050406030204" pitchFamily="18" charset="0"/>
                            <a:ea typeface="MS Mincho" charset="0"/>
                            <a:cs typeface="Cambria Math" panose="02040503050406030204" pitchFamily="18" charset="0"/>
                          </a:rPr>
                          <m:t>2</m:t>
                        </m:r>
                      </m:sub>
                    </m:sSub>
                  </m:oMath>
                </a14:m>
                <a:r>
                  <a:rPr lang="zh-CN" altLang="zh-CN" sz="2000" dirty="0">
                    <a:solidFill>
                      <a:schemeClr val="tx1"/>
                    </a:solidFill>
                    <a:latin typeface="Times New Roman" panose="02020603050405020304" charset="0"/>
                    <a:ea typeface="微软雅黑" panose="020B0503020204020204" charset="-122"/>
                    <a:cs typeface="Times New Roman" panose="02020603050405020304" charset="0"/>
                  </a:rPr>
                  <a:t>每改变一个单位因变量</a:t>
                </a:r>
                <a14:m>
                  <m:oMath xmlns:m="http://schemas.openxmlformats.org/officeDocument/2006/math">
                    <m:r>
                      <a:rPr lang="en-US" altLang="zh-CN" sz="2000">
                        <a:solidFill>
                          <a:schemeClr val="tx1"/>
                        </a:solidFill>
                        <a:latin typeface="Cambria Math" panose="02040503050406030204" pitchFamily="18" charset="0"/>
                        <a:ea typeface="微软雅黑" panose="020B0503020204020204" charset="-122"/>
                        <a:cs typeface="Cambria Math" panose="02040503050406030204" pitchFamily="18" charset="0"/>
                      </a:rPr>
                      <m:t>𝑦</m:t>
                    </m:r>
                  </m:oMath>
                </a14:m>
                <a:r>
                  <a:rPr lang="zh-CN" altLang="zh-CN" sz="2000" dirty="0">
                    <a:solidFill>
                      <a:schemeClr val="tx1"/>
                    </a:solidFill>
                    <a:latin typeface="Times New Roman" panose="02020603050405020304" charset="0"/>
                    <a:ea typeface="微软雅黑" panose="020B0503020204020204" charset="-122"/>
                    <a:cs typeface="Times New Roman" panose="02020603050405020304" charset="0"/>
                  </a:rPr>
                  <a:t>的平均改变量，其余偏回归系数的含义类似</a:t>
                </a:r>
              </a:p>
            </p:txBody>
          </p:sp>
        </mc:Choice>
        <mc:Fallback xmlns="">
          <p:sp>
            <p:nvSpPr>
              <p:cNvPr id="7" name="Content Placeholder 8">
                <a:extLst>
                  <a:ext uri="{FF2B5EF4-FFF2-40B4-BE49-F238E27FC236}">
                    <a16:creationId xmlns:a16="http://schemas.microsoft.com/office/drawing/2014/main" id="{F92403D2-90B8-BB2F-D796-A06C8051F489}"/>
                  </a:ext>
                </a:extLst>
              </p:cNvPr>
              <p:cNvSpPr txBox="1">
                <a:spLocks noRot="1" noChangeAspect="1" noMove="1" noResize="1" noEditPoints="1" noAdjustHandles="1" noChangeArrowheads="1" noChangeShapeType="1" noTextEdit="1"/>
              </p:cNvSpPr>
              <p:nvPr/>
            </p:nvSpPr>
            <p:spPr>
              <a:xfrm>
                <a:off x="308610" y="1397559"/>
                <a:ext cx="8583942" cy="5472440"/>
              </a:xfrm>
              <a:prstGeom prst="rect">
                <a:avLst/>
              </a:prstGeom>
              <a:blipFill>
                <a:blip r:embed="rId4"/>
                <a:stretch>
                  <a:fillRect l="-567" r="-3759"/>
                </a:stretch>
              </a:blipFill>
              <a:ln w="12700" cmpd="dbl">
                <a:solidFill>
                  <a:schemeClr val="accent1"/>
                </a:solidFill>
              </a:ln>
            </p:spPr>
            <p:txBody>
              <a:bodyPr/>
              <a:lstStyle/>
              <a:p>
                <a:r>
                  <a:rPr lang="zh-CN" altLang="en-US">
                    <a:noFill/>
                  </a:rPr>
                  <a:t> </a:t>
                </a:r>
              </a:p>
            </p:txBody>
          </p:sp>
        </mc:Fallback>
      </mc:AlternateContent>
      <p:sp>
        <p:nvSpPr>
          <p:cNvPr id="9" name="矩形 1">
            <a:extLst>
              <a:ext uri="{FF2B5EF4-FFF2-40B4-BE49-F238E27FC236}">
                <a16:creationId xmlns:a16="http://schemas.microsoft.com/office/drawing/2014/main" id="{CF63AB17-8B22-4DDD-E6C0-4B88459E3AF7}"/>
              </a:ext>
            </a:extLst>
          </p:cNvPr>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Tree>
    <p:extLst>
      <p:ext uri="{BB962C8B-B14F-4D97-AF65-F5344CB8AC3E}">
        <p14:creationId xmlns:p14="http://schemas.microsoft.com/office/powerpoint/2010/main" val="22252292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descr="7b0a202020202262756c6c6574223a20227b5c2263617465676f727949645c223a31303030352c5c2274656d706c61746549645c223a32303233313332387d220a7d0a">
            <a:extLst>
              <a:ext uri="{FF2B5EF4-FFF2-40B4-BE49-F238E27FC236}">
                <a16:creationId xmlns:a16="http://schemas.microsoft.com/office/drawing/2014/main" id="{3C4023D3-69CB-6F96-FEDC-142C6913FCC0}"/>
              </a:ext>
            </a:extLst>
          </p:cNvPr>
          <p:cNvSpPr txBox="1"/>
          <p:nvPr>
            <p:custDataLst>
              <p:tags r:id="rId1"/>
            </p:custDataLst>
          </p:nvPr>
        </p:nvSpPr>
        <p:spPr>
          <a:xfrm>
            <a:off x="251448" y="1088701"/>
            <a:ext cx="7441257" cy="581057"/>
          </a:xfrm>
          <a:prstGeom prst="rect">
            <a:avLst/>
          </a:prstGeom>
          <a:noFill/>
        </p:spPr>
        <p:txBody>
          <a:bodyPr wrap="square" rtlCol="0">
            <a:spAutoFit/>
          </a:bodyPr>
          <a:lstStyle/>
          <a:p>
            <a:pPr indent="0" fontAlgn="auto">
              <a:lnSpc>
                <a:spcPct val="150000"/>
              </a:lnSpc>
              <a:buSzPct val="200000"/>
              <a:buBlip>
                <a:blip r:embed="rId3"/>
              </a:buBlip>
            </a:pPr>
            <a:r>
              <a:rPr lang="zh-CN" altLang="en-US" sz="2400" b="1" dirty="0">
                <a:solidFill>
                  <a:srgbClr val="0F65E6"/>
                </a:solidFill>
                <a:latin typeface="微软雅黑" panose="020B0503020204020204" charset="-122"/>
                <a:ea typeface="微软雅黑" panose="020B0503020204020204" charset="-122"/>
              </a:rPr>
              <a:t>多元回归模型与回归方程</a:t>
            </a:r>
            <a:r>
              <a:rPr lang="en-US" altLang="zh-CN" sz="2400" b="1" dirty="0">
                <a:solidFill>
                  <a:srgbClr val="0F65E6"/>
                </a:solidFill>
                <a:latin typeface="微软雅黑" panose="020B0503020204020204" charset="-122"/>
                <a:ea typeface="微软雅黑" panose="020B0503020204020204" charset="-122"/>
              </a:rPr>
              <a:t>——</a:t>
            </a:r>
            <a:r>
              <a:rPr lang="zh-CN" altLang="en-US" sz="2400" b="1" dirty="0">
                <a:solidFill>
                  <a:srgbClr val="0F65E6"/>
                </a:solidFill>
                <a:latin typeface="微软雅黑" panose="020B0503020204020204" charset="-122"/>
                <a:ea typeface="微软雅黑" panose="020B0503020204020204" charset="-122"/>
              </a:rPr>
              <a:t>参数的最小二乘估计</a:t>
            </a:r>
          </a:p>
        </p:txBody>
      </p:sp>
      <mc:AlternateContent xmlns:mc="http://schemas.openxmlformats.org/markup-compatibility/2006" xmlns:a14="http://schemas.microsoft.com/office/drawing/2010/main">
        <mc:Choice Requires="a14">
          <p:sp>
            <p:nvSpPr>
              <p:cNvPr id="8" name="Rectangle 3">
                <a:extLst>
                  <a:ext uri="{FF2B5EF4-FFF2-40B4-BE49-F238E27FC236}">
                    <a16:creationId xmlns:a16="http://schemas.microsoft.com/office/drawing/2014/main" id="{965EBDF5-6465-A1D6-2D63-73CEDDDECA66}"/>
                  </a:ext>
                </a:extLst>
              </p:cNvPr>
              <p:cNvSpPr txBox="1">
                <a:spLocks noChangeArrowheads="1"/>
              </p:cNvSpPr>
              <p:nvPr/>
            </p:nvSpPr>
            <p:spPr>
              <a:xfrm>
                <a:off x="765175" y="1665605"/>
                <a:ext cx="7047239" cy="4585970"/>
              </a:xfrm>
              <a:prstGeom prst="rect">
                <a:avLst/>
              </a:prstGeom>
              <a:noFill/>
              <a:ln>
                <a:solidFill>
                  <a:schemeClr val="accent1"/>
                </a:solidFill>
              </a:ln>
            </p:spPr>
            <p:txBody>
              <a:bodyPr vert="horz" lIns="90488" tIns="44450" rIns="90488" bIns="4445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7675" indent="-447675">
                  <a:lnSpc>
                    <a:spcPct val="150000"/>
                  </a:lnSpc>
                  <a:buClr>
                    <a:srgbClr val="002060"/>
                  </a:buClr>
                  <a:buFont typeface="Wingdings" panose="05000000000000000000" pitchFamily="2" charset="2"/>
                  <a:buChar char="l"/>
                  <a:defRPr/>
                </a:pPr>
                <a:r>
                  <a:rPr lang="zh-CN" altLang="zh-CN" sz="2400" dirty="0">
                    <a:latin typeface="黑体" panose="02010609060101010101" charset="-122"/>
                    <a:ea typeface="黑体" panose="02010609060101010101" charset="-122"/>
                    <a:cs typeface="黑体" panose="02010609060101010101" charset="-122"/>
                  </a:rPr>
                  <a:t>最小二乘法来估计。也就是使残差平方和最小</a:t>
                </a:r>
                <a:endParaRPr lang="en-US" altLang="zh-CN" sz="2400" dirty="0">
                  <a:latin typeface="黑体" panose="02010609060101010101" charset="-122"/>
                  <a:ea typeface="黑体" panose="02010609060101010101" charset="-122"/>
                  <a:cs typeface="黑体" panose="02010609060101010101" charset="-122"/>
                </a:endParaRPr>
              </a:p>
              <a:p>
                <a:pPr marL="0" indent="0">
                  <a:lnSpc>
                    <a:spcPct val="150000"/>
                  </a:lnSpc>
                  <a:buClr>
                    <a:srgbClr val="002060"/>
                  </a:buClr>
                  <a:buNone/>
                  <a:defRPr/>
                </a:pPr>
                <a:endParaRPr lang="en-US" altLang="zh-CN" sz="2400" dirty="0">
                  <a:latin typeface="黑体" panose="02010609060101010101" charset="-122"/>
                  <a:ea typeface="黑体" panose="02010609060101010101" charset="-122"/>
                  <a:cs typeface="黑体" panose="02010609060101010101" charset="-122"/>
                </a:endParaRPr>
              </a:p>
              <a:p>
                <a:pPr marL="0" indent="0">
                  <a:lnSpc>
                    <a:spcPct val="150000"/>
                  </a:lnSpc>
                  <a:buClr>
                    <a:srgbClr val="002060"/>
                  </a:buClr>
                  <a:buNone/>
                  <a:defRPr/>
                </a:pPr>
                <a:endParaRPr lang="en-US" altLang="zh-CN" sz="2400" dirty="0">
                  <a:latin typeface="黑体" panose="02010609060101010101" charset="-122"/>
                  <a:ea typeface="黑体" panose="02010609060101010101" charset="-122"/>
                  <a:cs typeface="黑体" panose="02010609060101010101" charset="-122"/>
                </a:endParaRPr>
              </a:p>
              <a:p>
                <a:pPr marL="447675" indent="-447675">
                  <a:lnSpc>
                    <a:spcPct val="150000"/>
                  </a:lnSpc>
                  <a:buClr>
                    <a:srgbClr val="002060"/>
                  </a:buClr>
                  <a:buFont typeface="Wingdings" panose="05000000000000000000" pitchFamily="2" charset="2"/>
                  <a:buChar char="l"/>
                  <a:defRPr/>
                </a:pPr>
                <a:r>
                  <a:rPr lang="zh-CN" altLang="zh-CN" sz="2400" dirty="0">
                    <a:latin typeface="黑体" panose="02010609060101010101" charset="-122"/>
                    <a:ea typeface="黑体" panose="02010609060101010101" charset="-122"/>
                    <a:cs typeface="黑体" panose="02010609060101010101" charset="-122"/>
                  </a:rPr>
                  <a:t>求解</a:t>
                </a:r>
                <a14:m>
                  <m:oMath xmlns:m="http://schemas.openxmlformats.org/officeDocument/2006/math">
                    <m:sSub>
                      <m:sSubPr>
                        <m:ctrlPr>
                          <a:rPr lang="zh-CN" altLang="zh-CN" sz="2400" i="1">
                            <a:latin typeface="Cambria Math" panose="02040503050406030204" pitchFamily="18" charset="0"/>
                            <a:ea typeface="黑体" panose="02010609060101010101" charset="-122"/>
                            <a:cs typeface="Cambria Math" panose="02040503050406030204" pitchFamily="18" charset="0"/>
                          </a:rPr>
                        </m:ctrlPr>
                      </m:sSubPr>
                      <m:e>
                        <m:acc>
                          <m:accPr>
                            <m:chr m:val="̂"/>
                            <m:ctrlPr>
                              <a:rPr lang="zh-CN" altLang="zh-CN" sz="2400" i="1">
                                <a:latin typeface="Cambria Math" panose="02040503050406030204" pitchFamily="18" charset="0"/>
                                <a:ea typeface="黑体" panose="02010609060101010101" charset="-122"/>
                                <a:cs typeface="Cambria Math" panose="02040503050406030204" pitchFamily="18" charset="0"/>
                              </a:rPr>
                            </m:ctrlPr>
                          </m:accPr>
                          <m:e>
                            <m:r>
                              <a:rPr lang="en-US" altLang="zh-CN" sz="2400">
                                <a:latin typeface="Cambria Math" panose="02040503050406030204" pitchFamily="18" charset="0"/>
                                <a:ea typeface="MS Mincho" charset="0"/>
                                <a:cs typeface="Cambria Math" panose="02040503050406030204" pitchFamily="18" charset="0"/>
                              </a:rPr>
                              <m:t>𝛽</m:t>
                            </m:r>
                          </m:e>
                        </m:acc>
                      </m:e>
                      <m:sub>
                        <m:r>
                          <a:rPr lang="en-US" altLang="zh-CN" sz="2400">
                            <a:latin typeface="Cambria Math" panose="02040503050406030204" pitchFamily="18" charset="0"/>
                            <a:ea typeface="MS Mincho" charset="0"/>
                            <a:cs typeface="Cambria Math" panose="02040503050406030204" pitchFamily="18" charset="0"/>
                          </a:rPr>
                          <m:t>0</m:t>
                        </m:r>
                      </m:sub>
                    </m:sSub>
                    <m:r>
                      <a:rPr lang="zh-TW" altLang="zh-CN" sz="2400">
                        <a:latin typeface="Cambria Math" panose="02040503050406030204" pitchFamily="18" charset="0"/>
                        <a:ea typeface="MS Mincho" charset="0"/>
                        <a:cs typeface="Cambria Math" panose="02040503050406030204" pitchFamily="18" charset="0"/>
                      </a:rPr>
                      <m:t>，</m:t>
                    </m:r>
                    <m:sSub>
                      <m:sSubPr>
                        <m:ctrlPr>
                          <a:rPr lang="zh-CN" altLang="zh-CN" sz="2400" i="1">
                            <a:latin typeface="Cambria Math" panose="02040503050406030204" pitchFamily="18" charset="0"/>
                            <a:ea typeface="黑体" panose="02010609060101010101" charset="-122"/>
                            <a:cs typeface="Cambria Math" panose="02040503050406030204" pitchFamily="18" charset="0"/>
                          </a:rPr>
                        </m:ctrlPr>
                      </m:sSubPr>
                      <m:e>
                        <m:acc>
                          <m:accPr>
                            <m:chr m:val="̂"/>
                            <m:ctrlPr>
                              <a:rPr lang="zh-CN" altLang="zh-CN" sz="2400" i="1">
                                <a:latin typeface="Cambria Math" panose="02040503050406030204" pitchFamily="18" charset="0"/>
                                <a:ea typeface="黑体" panose="02010609060101010101" charset="-122"/>
                                <a:cs typeface="Cambria Math" panose="02040503050406030204" pitchFamily="18" charset="0"/>
                              </a:rPr>
                            </m:ctrlPr>
                          </m:accPr>
                          <m:e>
                            <m:r>
                              <a:rPr lang="en-US" altLang="zh-CN" sz="2400">
                                <a:latin typeface="Cambria Math" panose="02040503050406030204" pitchFamily="18" charset="0"/>
                                <a:ea typeface="MS Mincho" charset="0"/>
                                <a:cs typeface="Cambria Math" panose="02040503050406030204" pitchFamily="18" charset="0"/>
                              </a:rPr>
                              <m:t>𝛽</m:t>
                            </m:r>
                          </m:e>
                        </m:acc>
                      </m:e>
                      <m:sub>
                        <m:r>
                          <a:rPr lang="en-US" altLang="zh-CN" sz="2400">
                            <a:latin typeface="Cambria Math" panose="02040503050406030204" pitchFamily="18" charset="0"/>
                            <a:ea typeface="MS Mincho" charset="0"/>
                            <a:cs typeface="Cambria Math" panose="02040503050406030204" pitchFamily="18" charset="0"/>
                          </a:rPr>
                          <m:t>1</m:t>
                        </m:r>
                      </m:sub>
                    </m:sSub>
                    <m:r>
                      <a:rPr lang="zh-TW" altLang="zh-CN" sz="2400">
                        <a:latin typeface="Cambria Math" panose="02040503050406030204" pitchFamily="18" charset="0"/>
                        <a:ea typeface="MS Mincho" charset="0"/>
                        <a:cs typeface="Cambria Math" panose="02040503050406030204" pitchFamily="18" charset="0"/>
                      </a:rPr>
                      <m:t>，</m:t>
                    </m:r>
                    <m:sSub>
                      <m:sSubPr>
                        <m:ctrlPr>
                          <a:rPr lang="zh-CN" altLang="zh-CN" sz="2400" i="1">
                            <a:latin typeface="Cambria Math" panose="02040503050406030204" pitchFamily="18" charset="0"/>
                            <a:ea typeface="黑体" panose="02010609060101010101" charset="-122"/>
                            <a:cs typeface="Cambria Math" panose="02040503050406030204" pitchFamily="18" charset="0"/>
                          </a:rPr>
                        </m:ctrlPr>
                      </m:sSubPr>
                      <m:e>
                        <m:acc>
                          <m:accPr>
                            <m:chr m:val="̂"/>
                            <m:ctrlPr>
                              <a:rPr lang="zh-CN" altLang="zh-CN" sz="2400" i="1">
                                <a:latin typeface="Cambria Math" panose="02040503050406030204" pitchFamily="18" charset="0"/>
                                <a:ea typeface="黑体" panose="02010609060101010101" charset="-122"/>
                                <a:cs typeface="Cambria Math" panose="02040503050406030204" pitchFamily="18" charset="0"/>
                              </a:rPr>
                            </m:ctrlPr>
                          </m:accPr>
                          <m:e>
                            <m:r>
                              <a:rPr lang="en-US" altLang="zh-CN" sz="2400">
                                <a:latin typeface="Cambria Math" panose="02040503050406030204" pitchFamily="18" charset="0"/>
                                <a:ea typeface="MS Mincho" charset="0"/>
                                <a:cs typeface="Cambria Math" panose="02040503050406030204" pitchFamily="18" charset="0"/>
                              </a:rPr>
                              <m:t>𝛽</m:t>
                            </m:r>
                          </m:e>
                        </m:acc>
                      </m:e>
                      <m:sub>
                        <m:r>
                          <a:rPr lang="en-US" altLang="zh-CN" sz="2400">
                            <a:latin typeface="Cambria Math" panose="02040503050406030204" pitchFamily="18" charset="0"/>
                            <a:ea typeface="MS Mincho" charset="0"/>
                            <a:cs typeface="Cambria Math" panose="02040503050406030204" pitchFamily="18" charset="0"/>
                          </a:rPr>
                          <m:t>2</m:t>
                        </m:r>
                      </m:sub>
                    </m:sSub>
                    <m:r>
                      <a:rPr lang="zh-TW" altLang="zh-CN" sz="2400">
                        <a:latin typeface="Cambria Math" panose="02040503050406030204" pitchFamily="18" charset="0"/>
                        <a:ea typeface="MS Mincho" charset="0"/>
                        <a:cs typeface="Cambria Math" panose="02040503050406030204" pitchFamily="18" charset="0"/>
                      </a:rPr>
                      <m:t>，</m:t>
                    </m:r>
                    <m:r>
                      <a:rPr lang="en-US" altLang="zh-CN" sz="2400">
                        <a:latin typeface="Cambria Math" panose="02040503050406030204" pitchFamily="18" charset="0"/>
                        <a:ea typeface="MS Mincho" charset="0"/>
                        <a:cs typeface="Cambria Math" panose="02040503050406030204" pitchFamily="18" charset="0"/>
                      </a:rPr>
                      <m:t>⋯</m:t>
                    </m:r>
                    <m:r>
                      <a:rPr lang="zh-TW" altLang="zh-CN" sz="2400">
                        <a:latin typeface="Cambria Math" panose="02040503050406030204" pitchFamily="18" charset="0"/>
                        <a:ea typeface="MS Mincho" charset="0"/>
                        <a:cs typeface="Cambria Math" panose="02040503050406030204" pitchFamily="18" charset="0"/>
                      </a:rPr>
                      <m:t>，</m:t>
                    </m:r>
                    <m:sSub>
                      <m:sSubPr>
                        <m:ctrlPr>
                          <a:rPr lang="zh-CN" altLang="zh-CN" sz="2400" i="1">
                            <a:latin typeface="Cambria Math" panose="02040503050406030204" pitchFamily="18" charset="0"/>
                            <a:ea typeface="黑体" panose="02010609060101010101" charset="-122"/>
                            <a:cs typeface="Cambria Math" panose="02040503050406030204" pitchFamily="18" charset="0"/>
                          </a:rPr>
                        </m:ctrlPr>
                      </m:sSubPr>
                      <m:e>
                        <m:acc>
                          <m:accPr>
                            <m:chr m:val="̂"/>
                            <m:ctrlPr>
                              <a:rPr lang="zh-CN" altLang="zh-CN" sz="2400" i="1">
                                <a:latin typeface="Cambria Math" panose="02040503050406030204" pitchFamily="18" charset="0"/>
                                <a:ea typeface="黑体" panose="02010609060101010101" charset="-122"/>
                                <a:cs typeface="Cambria Math" panose="02040503050406030204" pitchFamily="18" charset="0"/>
                              </a:rPr>
                            </m:ctrlPr>
                          </m:accPr>
                          <m:e>
                            <m:r>
                              <a:rPr lang="en-US" altLang="zh-CN" sz="2400">
                                <a:latin typeface="Cambria Math" panose="02040503050406030204" pitchFamily="18" charset="0"/>
                                <a:ea typeface="MS Mincho" charset="0"/>
                                <a:cs typeface="Cambria Math" panose="02040503050406030204" pitchFamily="18" charset="0"/>
                              </a:rPr>
                              <m:t>𝛽</m:t>
                            </m:r>
                          </m:e>
                        </m:acc>
                      </m:e>
                      <m:sub>
                        <m:r>
                          <a:rPr lang="en-US" altLang="zh-CN" sz="2400">
                            <a:latin typeface="Cambria Math" panose="02040503050406030204" pitchFamily="18" charset="0"/>
                            <a:ea typeface="黑体" panose="02010609060101010101" charset="-122"/>
                            <a:cs typeface="Cambria Math" panose="02040503050406030204" pitchFamily="18" charset="0"/>
                          </a:rPr>
                          <m:t>𝑘</m:t>
                        </m:r>
                      </m:sub>
                    </m:sSub>
                  </m:oMath>
                </a14:m>
                <a:r>
                  <a:rPr lang="zh-CN" altLang="zh-CN" sz="2400" dirty="0">
                    <a:latin typeface="黑体" panose="02010609060101010101" charset="-122"/>
                    <a:ea typeface="黑体" panose="02010609060101010101" charset="-122"/>
                    <a:cs typeface="黑体" panose="02010609060101010101" charset="-122"/>
                  </a:rPr>
                  <a:t>的标准方程组为</a:t>
                </a:r>
                <a:endParaRPr lang="zh-CN" altLang="en-US" sz="2400" dirty="0">
                  <a:latin typeface="黑体" panose="02010609060101010101" charset="-122"/>
                  <a:ea typeface="黑体" panose="02010609060101010101" charset="-122"/>
                  <a:cs typeface="黑体" panose="02010609060101010101" charset="-122"/>
                </a:endParaRPr>
              </a:p>
              <a:p>
                <a:pPr marL="0" indent="0">
                  <a:lnSpc>
                    <a:spcPct val="150000"/>
                  </a:lnSpc>
                  <a:buClr>
                    <a:srgbClr val="002060"/>
                  </a:buClr>
                  <a:buNone/>
                  <a:defRPr/>
                </a:pPr>
                <a:endParaRPr lang="zh-CN" altLang="en-US" sz="2400" dirty="0">
                  <a:latin typeface="黑体" panose="02010609060101010101" charset="-122"/>
                  <a:ea typeface="黑体" panose="02010609060101010101" charset="-122"/>
                  <a:cs typeface="黑体" panose="02010609060101010101" charset="-122"/>
                </a:endParaRPr>
              </a:p>
            </p:txBody>
          </p:sp>
        </mc:Choice>
        <mc:Fallback xmlns="">
          <p:sp>
            <p:nvSpPr>
              <p:cNvPr id="8" name="Rectangle 3">
                <a:extLst>
                  <a:ext uri="{FF2B5EF4-FFF2-40B4-BE49-F238E27FC236}">
                    <a16:creationId xmlns:a16="http://schemas.microsoft.com/office/drawing/2014/main" id="{965EBDF5-6465-A1D6-2D63-73CEDDDECA66}"/>
                  </a:ext>
                </a:extLst>
              </p:cNvPr>
              <p:cNvSpPr txBox="1">
                <a:spLocks noRot="1" noChangeAspect="1" noMove="1" noResize="1" noEditPoints="1" noAdjustHandles="1" noChangeArrowheads="1" noChangeShapeType="1" noTextEdit="1"/>
              </p:cNvSpPr>
              <p:nvPr/>
            </p:nvSpPr>
            <p:spPr>
              <a:xfrm>
                <a:off x="765175" y="1665605"/>
                <a:ext cx="7047239" cy="4585970"/>
              </a:xfrm>
              <a:prstGeom prst="rect">
                <a:avLst/>
              </a:prstGeom>
              <a:blipFill>
                <a:blip r:embed="rId4"/>
                <a:stretch>
                  <a:fillRect l="-1123"/>
                </a:stretch>
              </a:blipFill>
              <a:ln>
                <a:solidFill>
                  <a:schemeClr val="accent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43E2B90A-2AE0-B7CE-155A-B8A4F8916870}"/>
                  </a:ext>
                </a:extLst>
              </p:cNvPr>
              <p:cNvSpPr/>
              <p:nvPr/>
            </p:nvSpPr>
            <p:spPr>
              <a:xfrm>
                <a:off x="1511609" y="2704775"/>
                <a:ext cx="5615854" cy="688586"/>
              </a:xfrm>
              <a:prstGeom prst="rect">
                <a:avLst/>
              </a:prstGeom>
              <a:noFill/>
              <a:ln>
                <a:noFill/>
              </a:ln>
              <a:scene3d>
                <a:camera prst="orthographicFront"/>
                <a:lightRig rig="threePt" dir="t"/>
              </a:scene3d>
              <a:sp3d>
                <a:bevelT/>
              </a:sp3d>
            </p:spPr>
            <p:txBody>
              <a:bodyPr wrap="square">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zh-CN" altLang="en-US" sz="1600" i="1">
                              <a:latin typeface="Cambria Math" panose="02040503050406030204" pitchFamily="18" charset="0"/>
                            </a:rPr>
                          </m:ctrlPr>
                        </m:naryPr>
                        <m:sub/>
                        <m:sup/>
                        <m:e>
                          <m:sSup>
                            <m:sSupPr>
                              <m:ctrlPr>
                                <a:rPr lang="zh-CN" altLang="en-US" sz="1600" i="1">
                                  <a:latin typeface="Cambria Math" panose="02040503050406030204" pitchFamily="18" charset="0"/>
                                </a:rPr>
                              </m:ctrlPr>
                            </m:sSupPr>
                            <m:e>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𝑦</m:t>
                                      </m:r>
                                    </m:e>
                                    <m:sub>
                                      <m:r>
                                        <a:rPr lang="zh-CN" altLang="en-US" sz="1600" i="1">
                                          <a:latin typeface="Cambria Math" panose="02040503050406030204" pitchFamily="18" charset="0"/>
                                        </a:rPr>
                                        <m:t>𝑖</m:t>
                                      </m:r>
                                    </m:sub>
                                  </m:sSub>
                                  <m:r>
                                    <a:rPr lang="zh-CN" altLang="en-US" sz="1600">
                                      <a:latin typeface="Cambria Math" panose="02040503050406030204" pitchFamily="18" charset="0"/>
                                    </a:rPr>
                                    <m:t>−</m:t>
                                  </m:r>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𝑦</m:t>
                                          </m:r>
                                        </m:e>
                                      </m:acc>
                                    </m:e>
                                    <m:sub>
                                      <m:r>
                                        <a:rPr lang="zh-CN" altLang="en-US" sz="1600" i="1">
                                          <a:latin typeface="Cambria Math" panose="02040503050406030204" pitchFamily="18" charset="0"/>
                                        </a:rPr>
                                        <m:t>𝑖</m:t>
                                      </m:r>
                                    </m:sub>
                                  </m:sSub>
                                </m:e>
                              </m:d>
                            </m:e>
                            <m:sup>
                              <m:r>
                                <a:rPr lang="zh-CN" altLang="en-US" sz="1600">
                                  <a:latin typeface="Cambria Math" panose="02040503050406030204" pitchFamily="18" charset="0"/>
                                </a:rPr>
                                <m:t>2</m:t>
                              </m:r>
                            </m:sup>
                          </m:sSup>
                        </m:e>
                      </m:nary>
                      <m:r>
                        <a:rPr lang="zh-CN" altLang="en-US" sz="1600">
                          <a:latin typeface="Cambria Math" panose="02040503050406030204" pitchFamily="18" charset="0"/>
                        </a:rPr>
                        <m:t>=</m:t>
                      </m:r>
                      <m:nary>
                        <m:naryPr>
                          <m:chr m:val="∑"/>
                          <m:subHide m:val="on"/>
                          <m:supHide m:val="on"/>
                          <m:ctrlPr>
                            <a:rPr lang="zh-CN" altLang="en-US" sz="1600" i="1">
                              <a:latin typeface="Cambria Math" panose="02040503050406030204" pitchFamily="18" charset="0"/>
                            </a:rPr>
                          </m:ctrlPr>
                        </m:naryPr>
                        <m:sub/>
                        <m:sup/>
                        <m:e>
                          <m:sSup>
                            <m:sSupPr>
                              <m:ctrlPr>
                                <a:rPr lang="zh-CN" altLang="en-US" sz="1600" i="1">
                                  <a:latin typeface="Cambria Math" panose="02040503050406030204" pitchFamily="18" charset="0"/>
                                </a:rPr>
                              </m:ctrlPr>
                            </m:sSupPr>
                            <m:e>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𝑦</m:t>
                                      </m:r>
                                    </m:e>
                                    <m:sub>
                                      <m:r>
                                        <a:rPr lang="zh-CN" altLang="en-US" sz="1600" i="1">
                                          <a:latin typeface="Cambria Math" panose="02040503050406030204" pitchFamily="18" charset="0"/>
                                        </a:rPr>
                                        <m:t>𝑖</m:t>
                                      </m:r>
                                    </m:sub>
                                  </m:sSub>
                                  <m:r>
                                    <a:rPr lang="zh-CN" altLang="en-US" sz="1600">
                                      <a:latin typeface="Cambria Math" panose="02040503050406030204" pitchFamily="18" charset="0"/>
                                    </a:rPr>
                                    <m:t>−</m:t>
                                  </m:r>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𝛽</m:t>
                                          </m:r>
                                        </m:e>
                                      </m:acc>
                                    </m:e>
                                    <m:sub>
                                      <m:r>
                                        <a:rPr lang="zh-CN" altLang="en-US" sz="1600">
                                          <a:latin typeface="Cambria Math" panose="02040503050406030204" pitchFamily="18" charset="0"/>
                                        </a:rPr>
                                        <m:t>0</m:t>
                                      </m:r>
                                    </m:sub>
                                  </m:sSub>
                                  <m:r>
                                    <a:rPr lang="zh-CN" altLang="en-US" sz="1600">
                                      <a:latin typeface="Cambria Math" panose="02040503050406030204" pitchFamily="18" charset="0"/>
                                    </a:rPr>
                                    <m:t>−</m:t>
                                  </m:r>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𝛽</m:t>
                                          </m:r>
                                        </m:e>
                                      </m:acc>
                                    </m:e>
                                    <m:sub>
                                      <m:r>
                                        <a:rPr lang="zh-CN" altLang="en-US" sz="1600">
                                          <a:latin typeface="Cambria Math" panose="02040503050406030204" pitchFamily="18" charset="0"/>
                                        </a:rPr>
                                        <m:t>1</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𝑥</m:t>
                                      </m:r>
                                    </m:e>
                                    <m:sub>
                                      <m:r>
                                        <a:rPr lang="zh-CN" altLang="en-US" sz="1600">
                                          <a:latin typeface="Cambria Math" panose="02040503050406030204" pitchFamily="18" charset="0"/>
                                        </a:rPr>
                                        <m:t>1</m:t>
                                      </m:r>
                                    </m:sub>
                                  </m:sSub>
                                  <m:r>
                                    <a:rPr lang="zh-CN" altLang="en-US" sz="1600">
                                      <a:latin typeface="Cambria Math" panose="02040503050406030204" pitchFamily="18" charset="0"/>
                                    </a:rPr>
                                    <m:t>−⋯−</m:t>
                                  </m:r>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𝛽</m:t>
                                          </m:r>
                                        </m:e>
                                      </m:acc>
                                    </m:e>
                                    <m:sub>
                                      <m:r>
                                        <a:rPr lang="zh-CN" altLang="en-US" sz="1600" i="1">
                                          <a:latin typeface="Cambria Math" panose="02040503050406030204" pitchFamily="18" charset="0"/>
                                        </a:rPr>
                                        <m:t>𝑘</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𝑥</m:t>
                                      </m:r>
                                    </m:e>
                                    <m:sub>
                                      <m:r>
                                        <a:rPr lang="zh-CN" altLang="en-US" sz="1600" i="1">
                                          <a:latin typeface="Cambria Math" panose="02040503050406030204" pitchFamily="18" charset="0"/>
                                        </a:rPr>
                                        <m:t>𝑘</m:t>
                                      </m:r>
                                    </m:sub>
                                  </m:sSub>
                                </m:e>
                              </m:d>
                            </m:e>
                            <m:sup>
                              <m:r>
                                <a:rPr lang="zh-CN" altLang="en-US" sz="1600">
                                  <a:latin typeface="Cambria Math" panose="02040503050406030204" pitchFamily="18" charset="0"/>
                                </a:rPr>
                                <m:t>2</m:t>
                              </m:r>
                            </m:sup>
                          </m:sSup>
                        </m:e>
                      </m:nary>
                      <m:r>
                        <a:rPr lang="zh-CN" altLang="en-US" sz="1600">
                          <a:latin typeface="Cambria Math" panose="02040503050406030204" pitchFamily="18" charset="0"/>
                        </a:rPr>
                        <m:t>=</m:t>
                      </m:r>
                      <m:r>
                        <a:rPr lang="en-US" altLang="zh-CN" sz="1600" b="1">
                          <a:latin typeface="Cambria Math" panose="02040503050406030204" pitchFamily="18" charset="0"/>
                        </a:rPr>
                        <m:t>𝐦𝐢𝐧</m:t>
                      </m:r>
                    </m:oMath>
                  </m:oMathPara>
                </a14:m>
                <a:endParaRPr lang="zh-CN" altLang="en-US" sz="1600" dirty="0"/>
              </a:p>
            </p:txBody>
          </p:sp>
        </mc:Choice>
        <mc:Fallback xmlns="">
          <p:sp>
            <p:nvSpPr>
              <p:cNvPr id="9" name="矩形 8">
                <a:extLst>
                  <a:ext uri="{FF2B5EF4-FFF2-40B4-BE49-F238E27FC236}">
                    <a16:creationId xmlns:a16="http://schemas.microsoft.com/office/drawing/2014/main" id="{43E2B90A-2AE0-B7CE-155A-B8A4F8916870}"/>
                  </a:ext>
                </a:extLst>
              </p:cNvPr>
              <p:cNvSpPr>
                <a:spLocks noRot="1" noChangeAspect="1" noMove="1" noResize="1" noEditPoints="1" noAdjustHandles="1" noChangeArrowheads="1" noChangeShapeType="1" noTextEdit="1"/>
              </p:cNvSpPr>
              <p:nvPr/>
            </p:nvSpPr>
            <p:spPr>
              <a:xfrm>
                <a:off x="1511609" y="2704775"/>
                <a:ext cx="5615854" cy="688586"/>
              </a:xfrm>
              <a:prstGeom prst="rect">
                <a:avLst/>
              </a:prstGeom>
              <a:blipFill>
                <a:blip r:embed="rId5"/>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05450BE7-B7DE-E67B-F39C-8A0A8BA98EC8}"/>
                  </a:ext>
                </a:extLst>
              </p:cNvPr>
              <p:cNvSpPr/>
              <p:nvPr/>
            </p:nvSpPr>
            <p:spPr>
              <a:xfrm>
                <a:off x="1511609" y="4428378"/>
                <a:ext cx="5615854" cy="1395318"/>
              </a:xfrm>
              <a:prstGeom prst="rect">
                <a:avLst/>
              </a:prstGeom>
              <a:noFill/>
              <a:ln>
                <a:noFill/>
              </a:ln>
              <a:scene3d>
                <a:camera prst="orthographicFront"/>
                <a:lightRig rig="threePt" dir="t"/>
              </a:scene3d>
              <a:sp3d>
                <a:bevelT/>
              </a:sp3d>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600" i="1">
                              <a:latin typeface="Cambria Math" panose="02040503050406030204" pitchFamily="18" charset="0"/>
                            </a:rPr>
                          </m:ctrlPr>
                        </m:dPr>
                        <m:e>
                          <m:eqArr>
                            <m:eqArrPr>
                              <m:ctrlPr>
                                <a:rPr lang="zh-CN" altLang="en-US" sz="1600" i="1">
                                  <a:latin typeface="Cambria Math" panose="02040503050406030204" pitchFamily="18" charset="0"/>
                                </a:rPr>
                              </m:ctrlPr>
                            </m:eqArrPr>
                            <m:e>
                              <m:r>
                                <a:rPr lang="zh-CN" altLang="en-US" sz="1600">
                                  <a:latin typeface="Cambria Math" panose="02040503050406030204" pitchFamily="18" charset="0"/>
                                </a:rPr>
                                <m:t>&amp;</m:t>
                              </m:r>
                              <m:sSub>
                                <m:sSubPr>
                                  <m:ctrlPr>
                                    <a:rPr lang="zh-CN" altLang="en-US" sz="1600" i="1">
                                      <a:latin typeface="Cambria Math" panose="02040503050406030204" pitchFamily="18" charset="0"/>
                                    </a:rPr>
                                  </m:ctrlPr>
                                </m:sSubPr>
                                <m:e>
                                  <m:d>
                                    <m:dPr>
                                      <m:begChr m:val=""/>
                                      <m:endChr m:val="|"/>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a:latin typeface="Cambria Math" panose="02040503050406030204" pitchFamily="18" charset="0"/>
                                            </a:rPr>
                                            <m:t>𝜕</m:t>
                                          </m:r>
                                          <m:r>
                                            <a:rPr lang="zh-CN" altLang="en-US" sz="1600" i="1">
                                              <a:latin typeface="Cambria Math" panose="02040503050406030204" pitchFamily="18" charset="0"/>
                                            </a:rPr>
                                            <m:t>𝑄</m:t>
                                          </m:r>
                                        </m:num>
                                        <m:den>
                                          <m:r>
                                            <a:rPr lang="zh-CN" altLang="en-US" sz="160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𝛽</m:t>
                                              </m:r>
                                            </m:e>
                                            <m:sub>
                                              <m:r>
                                                <a:rPr lang="zh-CN" altLang="en-US" sz="1600">
                                                  <a:latin typeface="Cambria Math" panose="02040503050406030204" pitchFamily="18" charset="0"/>
                                                </a:rPr>
                                                <m:t>0</m:t>
                                              </m:r>
                                            </m:sub>
                                          </m:sSub>
                                        </m:den>
                                      </m:f>
                                    </m:e>
                                  </m:d>
                                </m:e>
                                <m:sub>
                                  <m:sSub>
                                    <m:sSubPr>
                                      <m:ctrlPr>
                                        <a:rPr lang="zh-CN" altLang="en-US" sz="1600" i="1">
                                          <a:latin typeface="Cambria Math" panose="02040503050406030204" pitchFamily="18" charset="0"/>
                                        </a:rPr>
                                      </m:ctrlPr>
                                    </m:sSub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𝛽</m:t>
                                          </m:r>
                                        </m:e>
                                        <m:sub>
                                          <m:r>
                                            <a:rPr lang="zh-CN" altLang="en-US" sz="1600">
                                              <a:latin typeface="Cambria Math" panose="02040503050406030204" pitchFamily="18" charset="0"/>
                                            </a:rPr>
                                            <m:t>0</m:t>
                                          </m:r>
                                        </m:sub>
                                      </m:sSub>
                                      <m:r>
                                        <a:rPr lang="zh-CN" altLang="en-US" sz="1600">
                                          <a:latin typeface="Cambria Math" panose="02040503050406030204" pitchFamily="18" charset="0"/>
                                        </a:rPr>
                                        <m:t>=</m:t>
                                      </m:r>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𝛽</m:t>
                                          </m:r>
                                        </m:e>
                                      </m:acc>
                                    </m:e>
                                    <m:sub>
                                      <m:r>
                                        <a:rPr lang="zh-CN" altLang="en-US" sz="1600">
                                          <a:latin typeface="Cambria Math" panose="02040503050406030204" pitchFamily="18" charset="0"/>
                                        </a:rPr>
                                        <m:t>0</m:t>
                                      </m:r>
                                    </m:sub>
                                  </m:sSub>
                                </m:sub>
                              </m:sSub>
                              <m:r>
                                <a:rPr lang="zh-CN" altLang="en-US" sz="1600">
                                  <a:latin typeface="Cambria Math" panose="02040503050406030204" pitchFamily="18" charset="0"/>
                                </a:rPr>
                                <m:t>=0                                </m:t>
                              </m:r>
                            </m:e>
                            <m:e>
                              <m:r>
                                <a:rPr lang="zh-CN" altLang="en-US" sz="1600">
                                  <a:latin typeface="Cambria Math" panose="02040503050406030204" pitchFamily="18" charset="0"/>
                                </a:rPr>
                                <m:t>&amp;</m:t>
                              </m:r>
                              <m:sSub>
                                <m:sSubPr>
                                  <m:ctrlPr>
                                    <a:rPr lang="zh-CN" altLang="en-US" sz="1600" i="1">
                                      <a:latin typeface="Cambria Math" panose="02040503050406030204" pitchFamily="18" charset="0"/>
                                    </a:rPr>
                                  </m:ctrlPr>
                                </m:sSubPr>
                                <m:e>
                                  <m:d>
                                    <m:dPr>
                                      <m:begChr m:val=""/>
                                      <m:endChr m:val="|"/>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a:latin typeface="Cambria Math" panose="02040503050406030204" pitchFamily="18" charset="0"/>
                                            </a:rPr>
                                            <m:t>𝜕</m:t>
                                          </m:r>
                                          <m:r>
                                            <a:rPr lang="zh-CN" altLang="en-US" sz="1600" i="1">
                                              <a:latin typeface="Cambria Math" panose="02040503050406030204" pitchFamily="18" charset="0"/>
                                            </a:rPr>
                                            <m:t>𝑄</m:t>
                                          </m:r>
                                        </m:num>
                                        <m:den>
                                          <m:r>
                                            <a:rPr lang="zh-CN" altLang="en-US" sz="160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𝛽</m:t>
                                              </m:r>
                                            </m:e>
                                            <m:sub>
                                              <m:r>
                                                <a:rPr lang="zh-CN" altLang="en-US" sz="1600">
                                                  <a:latin typeface="Cambria Math" panose="02040503050406030204" pitchFamily="18" charset="0"/>
                                                </a:rPr>
                                                <m:t>1</m:t>
                                              </m:r>
                                            </m:sub>
                                          </m:sSub>
                                        </m:den>
                                      </m:f>
                                    </m:e>
                                  </m:d>
                                </m:e>
                                <m:sub>
                                  <m:sSub>
                                    <m:sSubPr>
                                      <m:ctrlPr>
                                        <a:rPr lang="zh-CN" altLang="en-US" sz="1600" i="1">
                                          <a:latin typeface="Cambria Math" panose="02040503050406030204" pitchFamily="18" charset="0"/>
                                        </a:rPr>
                                      </m:ctrlPr>
                                    </m:sSub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𝛽</m:t>
                                          </m:r>
                                        </m:e>
                                        <m:sub>
                                          <m:r>
                                            <a:rPr lang="zh-CN" altLang="en-US" sz="1600">
                                              <a:latin typeface="Cambria Math" panose="02040503050406030204" pitchFamily="18" charset="0"/>
                                            </a:rPr>
                                            <m:t>1</m:t>
                                          </m:r>
                                        </m:sub>
                                      </m:sSub>
                                      <m:r>
                                        <a:rPr lang="zh-CN" altLang="en-US" sz="1600">
                                          <a:latin typeface="Cambria Math" panose="02040503050406030204" pitchFamily="18" charset="0"/>
                                        </a:rPr>
                                        <m:t>=</m:t>
                                      </m:r>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𝛽</m:t>
                                          </m:r>
                                        </m:e>
                                      </m:acc>
                                    </m:e>
                                    <m:sub>
                                      <m:r>
                                        <a:rPr lang="zh-CN" altLang="en-US" sz="1600" i="1">
                                          <a:latin typeface="Cambria Math" panose="02040503050406030204" pitchFamily="18" charset="0"/>
                                        </a:rPr>
                                        <m:t>𝑖</m:t>
                                      </m:r>
                                    </m:sub>
                                  </m:sSub>
                                </m:sub>
                              </m:sSub>
                              <m:r>
                                <a:rPr lang="zh-CN" altLang="en-US" sz="1600">
                                  <a:latin typeface="Cambria Math" panose="02040503050406030204" pitchFamily="18" charset="0"/>
                                </a:rPr>
                                <m:t>=0   </m:t>
                              </m:r>
                              <m:r>
                                <a:rPr lang="zh-CN" altLang="en-US" sz="1600">
                                  <a:latin typeface="Cambria Math" panose="02040503050406030204" pitchFamily="18" charset="0"/>
                                </a:rPr>
                                <m:t>，</m:t>
                              </m:r>
                              <m:r>
                                <a:rPr lang="zh-CN" altLang="en-US" sz="1600" i="1">
                                  <a:latin typeface="Cambria Math" panose="02040503050406030204" pitchFamily="18" charset="0"/>
                                </a:rPr>
                                <m:t>𝑖</m:t>
                              </m:r>
                              <m:r>
                                <a:rPr lang="zh-CN" altLang="en-US" sz="1600">
                                  <a:latin typeface="Cambria Math" panose="02040503050406030204" pitchFamily="18" charset="0"/>
                                </a:rPr>
                                <m:t>=1,2,⋯,</m:t>
                              </m:r>
                              <m:r>
                                <a:rPr lang="zh-CN" altLang="en-US" sz="1600" i="1">
                                  <a:latin typeface="Cambria Math" panose="02040503050406030204" pitchFamily="18" charset="0"/>
                                </a:rPr>
                                <m:t>𝑘</m:t>
                              </m:r>
                              <m:r>
                                <a:rPr lang="zh-CN" altLang="en-US" sz="1600">
                                  <a:latin typeface="Cambria Math" panose="02040503050406030204" pitchFamily="18" charset="0"/>
                                </a:rPr>
                                <m:t> </m:t>
                              </m:r>
                            </m:e>
                          </m:eqArr>
                        </m:e>
                      </m:d>
                      <m:r>
                        <a:rPr lang="zh-CN" altLang="en-US" sz="1600">
                          <a:latin typeface="Cambria Math" panose="02040503050406030204" pitchFamily="18" charset="0"/>
                        </a:rPr>
                        <m:t> </m:t>
                      </m:r>
                    </m:oMath>
                  </m:oMathPara>
                </a14:m>
                <a:endParaRPr lang="zh-CN" altLang="en-US" sz="1600" dirty="0"/>
              </a:p>
            </p:txBody>
          </p:sp>
        </mc:Choice>
        <mc:Fallback xmlns="">
          <p:sp>
            <p:nvSpPr>
              <p:cNvPr id="10" name="矩形 9">
                <a:extLst>
                  <a:ext uri="{FF2B5EF4-FFF2-40B4-BE49-F238E27FC236}">
                    <a16:creationId xmlns:a16="http://schemas.microsoft.com/office/drawing/2014/main" id="{05450BE7-B7DE-E67B-F39C-8A0A8BA98EC8}"/>
                  </a:ext>
                </a:extLst>
              </p:cNvPr>
              <p:cNvSpPr>
                <a:spLocks noRot="1" noChangeAspect="1" noMove="1" noResize="1" noEditPoints="1" noAdjustHandles="1" noChangeArrowheads="1" noChangeShapeType="1" noTextEdit="1"/>
              </p:cNvSpPr>
              <p:nvPr/>
            </p:nvSpPr>
            <p:spPr>
              <a:xfrm>
                <a:off x="1511609" y="4428378"/>
                <a:ext cx="5615854" cy="1395318"/>
              </a:xfrm>
              <a:prstGeom prst="rect">
                <a:avLst/>
              </a:prstGeom>
              <a:blipFill>
                <a:blip r:embed="rId6"/>
                <a:stretch>
                  <a:fillRect/>
                </a:stretch>
              </a:blipFill>
              <a:ln>
                <a:noFill/>
              </a:ln>
            </p:spPr>
            <p:txBody>
              <a:bodyPr/>
              <a:lstStyle/>
              <a:p>
                <a:r>
                  <a:rPr lang="zh-CN" altLang="en-US">
                    <a:noFill/>
                  </a:rPr>
                  <a:t> </a:t>
                </a:r>
              </a:p>
            </p:txBody>
          </p:sp>
        </mc:Fallback>
      </mc:AlternateContent>
      <p:sp>
        <p:nvSpPr>
          <p:cNvPr id="11" name="矩形 1">
            <a:extLst>
              <a:ext uri="{FF2B5EF4-FFF2-40B4-BE49-F238E27FC236}">
                <a16:creationId xmlns:a16="http://schemas.microsoft.com/office/drawing/2014/main" id="{EA296C4C-467B-B326-5BEE-0342481F66F4}"/>
              </a:ext>
            </a:extLst>
          </p:cNvPr>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Tree>
    <p:extLst>
      <p:ext uri="{BB962C8B-B14F-4D97-AF65-F5344CB8AC3E}">
        <p14:creationId xmlns:p14="http://schemas.microsoft.com/office/powerpoint/2010/main" val="37052719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1">
            <a:extLst>
              <a:ext uri="{FF2B5EF4-FFF2-40B4-BE49-F238E27FC236}">
                <a16:creationId xmlns:a16="http://schemas.microsoft.com/office/drawing/2014/main" id="{70E8D854-25CF-EEC3-0242-7BB6D8113878}"/>
              </a:ext>
            </a:extLst>
          </p:cNvPr>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7" name="文本框 6" descr="7b0a202020202262756c6c6574223a20227b5c2263617465676f727949645c223a31303030352c5c2274656d706c61746549645c223a32303233313332387d220a7d0a">
            <a:extLst>
              <a:ext uri="{FF2B5EF4-FFF2-40B4-BE49-F238E27FC236}">
                <a16:creationId xmlns:a16="http://schemas.microsoft.com/office/drawing/2014/main" id="{E27B2157-B65D-0657-DA5A-016C7B09618D}"/>
              </a:ext>
            </a:extLst>
          </p:cNvPr>
          <p:cNvSpPr txBox="1"/>
          <p:nvPr>
            <p:custDataLst>
              <p:tags r:id="rId1"/>
            </p:custDataLst>
          </p:nvPr>
        </p:nvSpPr>
        <p:spPr>
          <a:xfrm>
            <a:off x="551180" y="920115"/>
            <a:ext cx="6721165" cy="581057"/>
          </a:xfrm>
          <a:prstGeom prst="rect">
            <a:avLst/>
          </a:prstGeom>
          <a:noFill/>
        </p:spPr>
        <p:txBody>
          <a:bodyPr wrap="square" rtlCol="0">
            <a:spAutoFit/>
          </a:bodyPr>
          <a:lstStyle/>
          <a:p>
            <a:pPr indent="0" fontAlgn="auto">
              <a:lnSpc>
                <a:spcPct val="150000"/>
              </a:lnSpc>
              <a:buSzPct val="200000"/>
              <a:buBlip>
                <a:blip r:embed="rId3"/>
              </a:buBlip>
            </a:pPr>
            <a:r>
              <a:rPr lang="zh-CN" altLang="en-US" sz="2400" b="1" dirty="0">
                <a:solidFill>
                  <a:srgbClr val="0F65E6"/>
                </a:solidFill>
                <a:latin typeface="微软雅黑" panose="020B0503020204020204" charset="-122"/>
                <a:ea typeface="微软雅黑" panose="020B0503020204020204" charset="-122"/>
              </a:rPr>
              <a:t>显著性检验</a:t>
            </a:r>
            <a:r>
              <a:rPr lang="en-US" altLang="zh-CN" sz="2400" b="1" dirty="0">
                <a:solidFill>
                  <a:srgbClr val="0F65E6"/>
                </a:solidFill>
                <a:latin typeface="微软雅黑" panose="020B0503020204020204" charset="-122"/>
                <a:ea typeface="微软雅黑" panose="020B0503020204020204" charset="-122"/>
              </a:rPr>
              <a:t>——</a:t>
            </a:r>
            <a:r>
              <a:rPr lang="zh-CN" altLang="en-US" sz="2400" b="1" dirty="0">
                <a:solidFill>
                  <a:srgbClr val="0F65E6"/>
                </a:solidFill>
                <a:latin typeface="微软雅黑" panose="020B0503020204020204" charset="-122"/>
                <a:ea typeface="微软雅黑" panose="020B0503020204020204" charset="-122"/>
              </a:rPr>
              <a:t>线性关系检验</a:t>
            </a:r>
          </a:p>
        </p:txBody>
      </p:sp>
      <p:sp>
        <p:nvSpPr>
          <p:cNvPr id="8" name="Rectangle 3">
            <a:extLst>
              <a:ext uri="{FF2B5EF4-FFF2-40B4-BE49-F238E27FC236}">
                <a16:creationId xmlns:a16="http://schemas.microsoft.com/office/drawing/2014/main" id="{3E08F7E3-8375-3B59-643A-895D723983C3}"/>
              </a:ext>
            </a:extLst>
          </p:cNvPr>
          <p:cNvSpPr txBox="1">
            <a:spLocks noChangeArrowheads="1"/>
          </p:cNvSpPr>
          <p:nvPr/>
        </p:nvSpPr>
        <p:spPr>
          <a:xfrm>
            <a:off x="622438" y="1652042"/>
            <a:ext cx="7550022" cy="4694921"/>
          </a:xfrm>
          <a:prstGeom prst="rect">
            <a:avLst/>
          </a:prstGeom>
          <a:noFill/>
          <a:ln>
            <a:solidFill>
              <a:schemeClr val="accent1"/>
            </a:solidFill>
          </a:ln>
        </p:spPr>
        <p:txBody>
          <a:bodyPr vert="horz" lIns="90488" tIns="44450" rIns="90488" bIns="44450" rtlCol="0">
            <a:normAutofit fontScale="925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536575" indent="-447675" algn="just">
              <a:lnSpc>
                <a:spcPct val="170000"/>
              </a:lnSpc>
              <a:buClr>
                <a:srgbClr val="002060"/>
              </a:buClr>
              <a:buFont typeface="Wingdings" panose="05000000000000000000" pitchFamily="2" charset="2"/>
              <a:buChar char="l"/>
              <a:defRPr/>
            </a:pPr>
            <a:r>
              <a:rPr lang="zh-CN" altLang="en-US" sz="2600" dirty="0">
                <a:latin typeface="Times New Roman" panose="02020603050405020304" charset="0"/>
                <a:ea typeface="微软雅黑" panose="020B0503020204020204" charset="-122"/>
                <a:cs typeface="Times New Roman" panose="02020603050405020304" charset="0"/>
              </a:rPr>
              <a:t>检验因变量与所有自变量之间的线性关系是否显著</a:t>
            </a:r>
          </a:p>
          <a:p>
            <a:pPr marL="536575" indent="-447675" algn="just">
              <a:lnSpc>
                <a:spcPct val="170000"/>
              </a:lnSpc>
              <a:buClr>
                <a:srgbClr val="002060"/>
              </a:buClr>
              <a:buFont typeface="Wingdings" panose="05000000000000000000" pitchFamily="2" charset="2"/>
              <a:buChar char="l"/>
              <a:defRPr/>
            </a:pPr>
            <a:r>
              <a:rPr lang="zh-CN" altLang="en-US" sz="2600" dirty="0">
                <a:latin typeface="Times New Roman" panose="02020603050405020304" charset="0"/>
                <a:ea typeface="微软雅黑" panose="020B0503020204020204" charset="-122"/>
                <a:cs typeface="Times New Roman" panose="02020603050405020304" charset="0"/>
              </a:rPr>
              <a:t>也被称为总体的显著性检验</a:t>
            </a:r>
          </a:p>
          <a:p>
            <a:pPr marL="536575" indent="-447675" algn="just">
              <a:lnSpc>
                <a:spcPct val="170000"/>
              </a:lnSpc>
              <a:buClr>
                <a:srgbClr val="002060"/>
              </a:buClr>
              <a:buFont typeface="Wingdings" panose="05000000000000000000" pitchFamily="2" charset="2"/>
              <a:buChar char="l"/>
              <a:defRPr/>
            </a:pPr>
            <a:r>
              <a:rPr lang="zh-CN" altLang="en-US" sz="2600" dirty="0">
                <a:latin typeface="Times New Roman" panose="02020603050405020304" charset="0"/>
                <a:ea typeface="微软雅黑" panose="020B0503020204020204" charset="-122"/>
                <a:cs typeface="Times New Roman" panose="02020603050405020304" charset="0"/>
              </a:rPr>
              <a:t>检验方法是将回归均方</a:t>
            </a:r>
            <a:r>
              <a:rPr lang="en-US" altLang="zh-CN" sz="2600" dirty="0">
                <a:latin typeface="Times New Roman" panose="02020603050405020304" charset="0"/>
                <a:ea typeface="微软雅黑" panose="020B0503020204020204" charset="-122"/>
                <a:cs typeface="Times New Roman" panose="02020603050405020304" charset="0"/>
              </a:rPr>
              <a:t>(MSR)</a:t>
            </a:r>
            <a:r>
              <a:rPr lang="zh-CN" altLang="en-US" sz="2600" dirty="0">
                <a:latin typeface="Times New Roman" panose="02020603050405020304" charset="0"/>
                <a:ea typeface="微软雅黑" panose="020B0503020204020204" charset="-122"/>
                <a:cs typeface="Times New Roman" panose="02020603050405020304" charset="0"/>
              </a:rPr>
              <a:t>同残差均方</a:t>
            </a:r>
            <a:r>
              <a:rPr lang="en-US" altLang="zh-CN" sz="2600" dirty="0">
                <a:latin typeface="Times New Roman" panose="02020603050405020304" charset="0"/>
                <a:ea typeface="微软雅黑" panose="020B0503020204020204" charset="-122"/>
                <a:cs typeface="Times New Roman" panose="02020603050405020304" charset="0"/>
              </a:rPr>
              <a:t>(MSE)</a:t>
            </a:r>
            <a:r>
              <a:rPr lang="zh-CN" altLang="en-US" sz="2600" dirty="0">
                <a:latin typeface="Times New Roman" panose="02020603050405020304" charset="0"/>
                <a:ea typeface="微软雅黑" panose="020B0503020204020204" charset="-122"/>
                <a:cs typeface="Times New Roman" panose="02020603050405020304" charset="0"/>
              </a:rPr>
              <a:t>加以比较，应用 </a:t>
            </a:r>
            <a:r>
              <a:rPr lang="en-US" altLang="zh-CN" sz="2600" dirty="0">
                <a:latin typeface="Times New Roman" panose="02020603050405020304" charset="0"/>
                <a:ea typeface="微软雅黑" panose="020B0503020204020204" charset="-122"/>
                <a:cs typeface="Times New Roman" panose="02020603050405020304" charset="0"/>
              </a:rPr>
              <a:t>F </a:t>
            </a:r>
            <a:r>
              <a:rPr lang="zh-CN" altLang="en-US" sz="2600" dirty="0">
                <a:latin typeface="Times New Roman" panose="02020603050405020304" charset="0"/>
                <a:ea typeface="微软雅黑" panose="020B0503020204020204" charset="-122"/>
                <a:cs typeface="Times New Roman" panose="02020603050405020304" charset="0"/>
              </a:rPr>
              <a:t>检验来分析二者之间的差别是否显著</a:t>
            </a:r>
          </a:p>
          <a:p>
            <a:pPr marL="894080" lvl="1" indent="-357505">
              <a:lnSpc>
                <a:spcPct val="100000"/>
              </a:lnSpc>
              <a:spcBef>
                <a:spcPts val="750"/>
              </a:spcBef>
              <a:buClr>
                <a:srgbClr val="C00000"/>
              </a:buClr>
              <a:buSzPct val="100000"/>
              <a:buFont typeface="Wingdings" panose="05000000000000000000" pitchFamily="2" charset="2"/>
              <a:buChar char="Ø"/>
              <a:defRPr/>
            </a:pPr>
            <a:r>
              <a:rPr lang="zh-CN" altLang="en-US" sz="2100" dirty="0">
                <a:latin typeface="Times New Roman" panose="02020603050405020304" charset="0"/>
                <a:ea typeface="微软雅黑" panose="020B0503020204020204" charset="-122"/>
                <a:cs typeface="Times New Roman" panose="02020603050405020304" charset="0"/>
              </a:rPr>
              <a:t>如果是显著的，因变量与自变量之间存在线性关系</a:t>
            </a:r>
          </a:p>
          <a:p>
            <a:pPr marL="894080" lvl="1" indent="-357505">
              <a:lnSpc>
                <a:spcPct val="100000"/>
              </a:lnSpc>
              <a:spcBef>
                <a:spcPts val="750"/>
              </a:spcBef>
              <a:buClr>
                <a:srgbClr val="C00000"/>
              </a:buClr>
              <a:buSzPct val="100000"/>
              <a:buFont typeface="Wingdings" panose="05000000000000000000" pitchFamily="2" charset="2"/>
              <a:buChar char="Ø"/>
              <a:defRPr/>
            </a:pPr>
            <a:r>
              <a:rPr lang="zh-CN" altLang="en-US" sz="2100" dirty="0">
                <a:latin typeface="Times New Roman" panose="02020603050405020304" charset="0"/>
                <a:ea typeface="微软雅黑" panose="020B0503020204020204" charset="-122"/>
                <a:cs typeface="Times New Roman" panose="02020603050405020304" charset="0"/>
              </a:rPr>
              <a:t>如果不显著，因变量与自变量之间不存在线性关系</a:t>
            </a:r>
          </a:p>
          <a:p>
            <a:pPr marL="894080" lvl="1" indent="-446405">
              <a:lnSpc>
                <a:spcPct val="100000"/>
              </a:lnSpc>
              <a:spcBef>
                <a:spcPts val="750"/>
              </a:spcBef>
              <a:buClr>
                <a:srgbClr val="C00000"/>
              </a:buClr>
              <a:buSzPct val="100000"/>
              <a:buFont typeface="Wingdings" panose="05000000000000000000" pitchFamily="2" charset="2"/>
              <a:buChar char="Ø"/>
              <a:defRPr/>
            </a:pPr>
            <a:endParaRPr lang="en-US" altLang="zh-CN" sz="1900" dirty="0">
              <a:latin typeface="Times New Roman" panose="02020603050405020304" charset="0"/>
              <a:ea typeface="微软雅黑" panose="020B0503020204020204" charset="-122"/>
              <a:cs typeface="Times New Roman" panose="02020603050405020304" charset="0"/>
            </a:endParaRPr>
          </a:p>
        </p:txBody>
      </p:sp>
    </p:spTree>
    <p:extLst>
      <p:ext uri="{BB962C8B-B14F-4D97-AF65-F5344CB8AC3E}">
        <p14:creationId xmlns:p14="http://schemas.microsoft.com/office/powerpoint/2010/main" val="2881916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1">
            <a:extLst>
              <a:ext uri="{FF2B5EF4-FFF2-40B4-BE49-F238E27FC236}">
                <a16:creationId xmlns:a16="http://schemas.microsoft.com/office/drawing/2014/main" id="{70E8D854-25CF-EEC3-0242-7BB6D8113878}"/>
              </a:ext>
            </a:extLst>
          </p:cNvPr>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7" name="文本框 6" descr="7b0a202020202262756c6c6574223a20227b5c2263617465676f727949645c223a31303030352c5c2274656d706c61746549645c223a32303233313332387d220a7d0a">
            <a:extLst>
              <a:ext uri="{FF2B5EF4-FFF2-40B4-BE49-F238E27FC236}">
                <a16:creationId xmlns:a16="http://schemas.microsoft.com/office/drawing/2014/main" id="{E27B2157-B65D-0657-DA5A-016C7B09618D}"/>
              </a:ext>
            </a:extLst>
          </p:cNvPr>
          <p:cNvSpPr txBox="1"/>
          <p:nvPr>
            <p:custDataLst>
              <p:tags r:id="rId1"/>
            </p:custDataLst>
          </p:nvPr>
        </p:nvSpPr>
        <p:spPr>
          <a:xfrm>
            <a:off x="551180" y="920115"/>
            <a:ext cx="6721165" cy="581057"/>
          </a:xfrm>
          <a:prstGeom prst="rect">
            <a:avLst/>
          </a:prstGeom>
          <a:noFill/>
        </p:spPr>
        <p:txBody>
          <a:bodyPr wrap="square" rtlCol="0">
            <a:spAutoFit/>
          </a:bodyPr>
          <a:lstStyle/>
          <a:p>
            <a:pPr indent="0" fontAlgn="auto">
              <a:lnSpc>
                <a:spcPct val="150000"/>
              </a:lnSpc>
              <a:buSzPct val="200000"/>
              <a:buBlip>
                <a:blip r:embed="rId3"/>
              </a:buBlip>
            </a:pPr>
            <a:r>
              <a:rPr lang="zh-CN" altLang="en-US" sz="2400" b="1" dirty="0">
                <a:solidFill>
                  <a:srgbClr val="0F65E6"/>
                </a:solidFill>
                <a:latin typeface="微软雅黑" panose="020B0503020204020204" charset="-122"/>
                <a:ea typeface="微软雅黑" panose="020B0503020204020204" charset="-122"/>
              </a:rPr>
              <a:t>显著性检验</a:t>
            </a:r>
            <a:r>
              <a:rPr lang="en-US" altLang="zh-CN" sz="2400" b="1" dirty="0">
                <a:solidFill>
                  <a:srgbClr val="0F65E6"/>
                </a:solidFill>
                <a:latin typeface="微软雅黑" panose="020B0503020204020204" charset="-122"/>
                <a:ea typeface="微软雅黑" panose="020B0503020204020204" charset="-122"/>
              </a:rPr>
              <a:t>——</a:t>
            </a:r>
            <a:r>
              <a:rPr lang="zh-CN" altLang="en-US" sz="2400" b="1" dirty="0">
                <a:solidFill>
                  <a:srgbClr val="0F65E6"/>
                </a:solidFill>
                <a:latin typeface="微软雅黑" panose="020B0503020204020204" charset="-122"/>
                <a:ea typeface="微软雅黑" panose="020B0503020204020204" charset="-122"/>
              </a:rPr>
              <a:t>线性关系检验</a:t>
            </a: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B4CC7B0A-80C4-957F-65D9-C0EF1772C5A1}"/>
                  </a:ext>
                </a:extLst>
              </p:cNvPr>
              <p:cNvSpPr txBox="1">
                <a:spLocks noChangeArrowheads="1"/>
              </p:cNvSpPr>
              <p:nvPr/>
            </p:nvSpPr>
            <p:spPr>
              <a:xfrm>
                <a:off x="1151562" y="1838131"/>
                <a:ext cx="7020897" cy="4694921"/>
              </a:xfrm>
              <a:prstGeom prst="rect">
                <a:avLst/>
              </a:prstGeom>
              <a:noFill/>
              <a:ln>
                <a:solidFill>
                  <a:schemeClr val="accent1"/>
                </a:solidFill>
              </a:ln>
            </p:spPr>
            <p:txBody>
              <a:bodyPr vert="horz" lIns="90488" tIns="44450" rIns="90488" bIns="4445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Clr>
                    <a:srgbClr val="002060"/>
                  </a:buClr>
                  <a:buNone/>
                  <a:defRPr/>
                </a:pPr>
                <a:r>
                  <a:rPr lang="zh-CN" altLang="en-US" b="1" dirty="0">
                    <a:solidFill>
                      <a:srgbClr val="FF0000"/>
                    </a:solidFill>
                    <a:latin typeface="Times New Roman" panose="02020603050405020304" charset="0"/>
                    <a:ea typeface="微软雅黑" panose="020B0503020204020204" charset="-122"/>
                    <a:cs typeface="Times New Roman" panose="02020603050405020304" charset="0"/>
                  </a:rPr>
                  <a:t>检验步骤</a:t>
                </a:r>
                <a:endParaRPr lang="en-US" altLang="zh-CN" b="1" dirty="0">
                  <a:solidFill>
                    <a:srgbClr val="FF0000"/>
                  </a:solidFill>
                  <a:latin typeface="Times New Roman" panose="02020603050405020304" charset="0"/>
                  <a:ea typeface="微软雅黑" panose="020B0503020204020204" charset="-122"/>
                  <a:cs typeface="Times New Roman" panose="02020603050405020304" charset="0"/>
                </a:endParaRPr>
              </a:p>
              <a:p>
                <a:pPr marL="536575" lvl="1" indent="-447675" algn="just">
                  <a:lnSpc>
                    <a:spcPct val="160000"/>
                  </a:lnSpc>
                  <a:spcBef>
                    <a:spcPts val="750"/>
                  </a:spcBef>
                  <a:buClr>
                    <a:srgbClr val="002060"/>
                  </a:buClr>
                  <a:buSzPct val="100000"/>
                  <a:buFont typeface="Wingdings" panose="05000000000000000000" pitchFamily="2" charset="2"/>
                  <a:buChar char="l"/>
                  <a:defRPr/>
                </a:pPr>
                <a:r>
                  <a:rPr lang="zh-CN" altLang="en-US" sz="2300" dirty="0">
                    <a:latin typeface="Times New Roman" panose="02020603050405020304" charset="0"/>
                    <a:ea typeface="微软雅黑" panose="020B0503020204020204" charset="-122"/>
                    <a:cs typeface="Times New Roman" panose="02020603050405020304" charset="0"/>
                  </a:rPr>
                  <a:t>提出假设</a:t>
                </a:r>
                <a:endParaRPr lang="en-US" altLang="zh-CN" sz="2300" dirty="0">
                  <a:latin typeface="Times New Roman" panose="02020603050405020304" charset="0"/>
                  <a:ea typeface="微软雅黑" panose="020B0503020204020204" charset="-122"/>
                  <a:cs typeface="Times New Roman" panose="02020603050405020304" charset="0"/>
                </a:endParaRPr>
              </a:p>
              <a:p>
                <a:pPr marL="88900" lvl="1" indent="0" algn="just">
                  <a:lnSpc>
                    <a:spcPct val="160000"/>
                  </a:lnSpc>
                  <a:spcBef>
                    <a:spcPts val="750"/>
                  </a:spcBef>
                  <a:buClr>
                    <a:srgbClr val="002060"/>
                  </a:buClr>
                  <a:buSzPct val="100000"/>
                  <a:buNone/>
                  <a:defRPr/>
                </a:pPr>
                <a:r>
                  <a:rPr lang="en-US" altLang="zh-CN" sz="1800" dirty="0">
                    <a:effectLst/>
                    <a:latin typeface="Times New Roman" panose="02020603050405020304" charset="0"/>
                    <a:ea typeface="微软雅黑" panose="020B0503020204020204" charset="-122"/>
                    <a:cs typeface="Times New Roman" panose="02020603050405020304" charset="0"/>
                  </a:rPr>
                  <a:t>       </a:t>
                </a:r>
                <a14:m>
                  <m:oMath xmlns:m="http://schemas.openxmlformats.org/officeDocument/2006/math">
                    <m:sSub>
                      <m:sSubPr>
                        <m:ctrlPr>
                          <a:rPr lang="zh-CN" altLang="zh-CN" sz="1800" i="1" smtClean="0">
                            <a:effectLst/>
                            <a:latin typeface="Cambria Math" panose="02040503050406030204" pitchFamily="18" charset="0"/>
                            <a:ea typeface="微软雅黑" panose="020B0503020204020204" charset="-122"/>
                            <a:cs typeface="Cambria Math" panose="02040503050406030204" pitchFamily="18" charset="0"/>
                          </a:rPr>
                        </m:ctrlPr>
                      </m:sSubPr>
                      <m:e>
                        <m:r>
                          <a:rPr lang="en-US" altLang="zh-CN" sz="1800" i="1">
                            <a:effectLst/>
                            <a:latin typeface="Cambria Math" panose="02040503050406030204" pitchFamily="18" charset="0"/>
                            <a:ea typeface="微软雅黑" panose="020B0503020204020204" charset="-122"/>
                            <a:cs typeface="Cambria Math" panose="02040503050406030204" pitchFamily="18" charset="0"/>
                          </a:rPr>
                          <m:t>𝐻</m:t>
                        </m:r>
                      </m:e>
                      <m:sub>
                        <m:r>
                          <a:rPr lang="en-US" altLang="zh-CN" sz="1800" i="1">
                            <a:effectLst/>
                            <a:latin typeface="Cambria Math" panose="02040503050406030204" pitchFamily="18" charset="0"/>
                            <a:ea typeface="MS Mincho" charset="0"/>
                            <a:cs typeface="Cambria Math" panose="02040503050406030204" pitchFamily="18" charset="0"/>
                          </a:rPr>
                          <m:t>0</m:t>
                        </m:r>
                      </m:sub>
                    </m:sSub>
                    <m:r>
                      <a:rPr lang="en-US" altLang="zh-CN" sz="1800" i="1">
                        <a:effectLst/>
                        <a:latin typeface="Cambria Math" panose="02040503050406030204" pitchFamily="18" charset="0"/>
                        <a:ea typeface="MS Mincho" charset="0"/>
                        <a:cs typeface="Cambria Math" panose="02040503050406030204" pitchFamily="18" charset="0"/>
                      </a:rPr>
                      <m:t>:</m:t>
                    </m:r>
                    <m:sSub>
                      <m:sSubPr>
                        <m:ctrlPr>
                          <a:rPr lang="zh-CN" altLang="zh-CN" sz="1800" i="1">
                            <a:effectLst/>
                            <a:latin typeface="Cambria Math" panose="02040503050406030204" pitchFamily="18" charset="0"/>
                            <a:ea typeface="微软雅黑" panose="020B0503020204020204" charset="-122"/>
                            <a:cs typeface="Cambria Math" panose="02040503050406030204" pitchFamily="18" charset="0"/>
                          </a:rPr>
                        </m:ctrlPr>
                      </m:sSubPr>
                      <m:e>
                        <m:r>
                          <a:rPr lang="en-US" altLang="zh-CN" sz="1800" i="1">
                            <a:effectLst/>
                            <a:latin typeface="Cambria Math" panose="02040503050406030204" pitchFamily="18" charset="0"/>
                            <a:ea typeface="MS Mincho" charset="0"/>
                            <a:cs typeface="Cambria Math" panose="02040503050406030204" pitchFamily="18" charset="0"/>
                          </a:rPr>
                          <m:t> </m:t>
                        </m:r>
                        <m:r>
                          <a:rPr lang="en-US" altLang="zh-CN" sz="1800" i="1">
                            <a:effectLst/>
                            <a:latin typeface="Cambria Math" panose="02040503050406030204" pitchFamily="18" charset="0"/>
                            <a:ea typeface="MS Mincho" charset="0"/>
                            <a:cs typeface="Cambria Math" panose="02040503050406030204" pitchFamily="18" charset="0"/>
                          </a:rPr>
                          <m:t>𝛽</m:t>
                        </m:r>
                      </m:e>
                      <m:sub>
                        <m:r>
                          <a:rPr lang="en-US" altLang="zh-CN" sz="1800" i="1">
                            <a:effectLst/>
                            <a:latin typeface="Cambria Math" panose="02040503050406030204" pitchFamily="18" charset="0"/>
                            <a:ea typeface="MS Mincho" charset="0"/>
                            <a:cs typeface="Cambria Math" panose="02040503050406030204" pitchFamily="18" charset="0"/>
                          </a:rPr>
                          <m:t>1</m:t>
                        </m:r>
                      </m:sub>
                    </m:sSub>
                    <m:r>
                      <a:rPr lang="en-US" altLang="zh-CN" sz="1800" i="1">
                        <a:effectLst/>
                        <a:latin typeface="Cambria Math" panose="02040503050406030204" pitchFamily="18" charset="0"/>
                        <a:ea typeface="MS Mincho" charset="0"/>
                        <a:cs typeface="Cambria Math" panose="02040503050406030204" pitchFamily="18" charset="0"/>
                      </a:rPr>
                      <m:t>=</m:t>
                    </m:r>
                    <m:sSub>
                      <m:sSubPr>
                        <m:ctrlPr>
                          <a:rPr lang="zh-CN" altLang="zh-CN" sz="1800" i="1">
                            <a:effectLst/>
                            <a:latin typeface="Cambria Math" panose="02040503050406030204" pitchFamily="18" charset="0"/>
                            <a:ea typeface="微软雅黑" panose="020B0503020204020204" charset="-122"/>
                            <a:cs typeface="Cambria Math" panose="02040503050406030204" pitchFamily="18" charset="0"/>
                          </a:rPr>
                        </m:ctrlPr>
                      </m:sSubPr>
                      <m:e>
                        <m:r>
                          <a:rPr lang="en-US" altLang="zh-CN" sz="1800" i="1">
                            <a:effectLst/>
                            <a:latin typeface="Cambria Math" panose="02040503050406030204" pitchFamily="18" charset="0"/>
                            <a:ea typeface="MS Mincho" charset="0"/>
                            <a:cs typeface="Cambria Math" panose="02040503050406030204" pitchFamily="18" charset="0"/>
                          </a:rPr>
                          <m:t>𝛽</m:t>
                        </m:r>
                      </m:e>
                      <m:sub>
                        <m:r>
                          <a:rPr lang="en-US" altLang="zh-CN" sz="1800" i="1">
                            <a:effectLst/>
                            <a:latin typeface="Cambria Math" panose="02040503050406030204" pitchFamily="18" charset="0"/>
                            <a:ea typeface="MS Mincho" charset="0"/>
                            <a:cs typeface="Cambria Math" panose="02040503050406030204" pitchFamily="18" charset="0"/>
                          </a:rPr>
                          <m:t>2</m:t>
                        </m:r>
                      </m:sub>
                    </m:sSub>
                    <m:r>
                      <a:rPr lang="en-US" altLang="zh-CN" sz="1800" i="1">
                        <a:effectLst/>
                        <a:latin typeface="Cambria Math" panose="02040503050406030204" pitchFamily="18" charset="0"/>
                        <a:ea typeface="MS Mincho" charset="0"/>
                        <a:cs typeface="Cambria Math" panose="02040503050406030204" pitchFamily="18" charset="0"/>
                      </a:rPr>
                      <m:t>=⋯=</m:t>
                    </m:r>
                    <m:sSub>
                      <m:sSubPr>
                        <m:ctrlPr>
                          <a:rPr lang="zh-CN" altLang="zh-CN" sz="1800" i="1">
                            <a:effectLst/>
                            <a:latin typeface="Cambria Math" panose="02040503050406030204" pitchFamily="18" charset="0"/>
                            <a:ea typeface="微软雅黑" panose="020B0503020204020204" charset="-122"/>
                            <a:cs typeface="Cambria Math" panose="02040503050406030204" pitchFamily="18" charset="0"/>
                          </a:rPr>
                        </m:ctrlPr>
                      </m:sSubPr>
                      <m:e>
                        <m:r>
                          <a:rPr lang="en-US" altLang="zh-CN" sz="1800" i="1">
                            <a:effectLst/>
                            <a:latin typeface="Cambria Math" panose="02040503050406030204" pitchFamily="18" charset="0"/>
                            <a:ea typeface="MS Mincho" charset="0"/>
                            <a:cs typeface="Cambria Math" panose="02040503050406030204" pitchFamily="18" charset="0"/>
                          </a:rPr>
                          <m:t>𝛽</m:t>
                        </m:r>
                      </m:e>
                      <m:sub>
                        <m:r>
                          <a:rPr lang="en-US" altLang="zh-CN" sz="1800" i="1">
                            <a:effectLst/>
                            <a:latin typeface="Cambria Math" panose="02040503050406030204" pitchFamily="18" charset="0"/>
                            <a:ea typeface="微软雅黑" panose="020B0503020204020204" charset="-122"/>
                            <a:cs typeface="Cambria Math" panose="02040503050406030204" pitchFamily="18" charset="0"/>
                          </a:rPr>
                          <m:t>𝑘</m:t>
                        </m:r>
                      </m:sub>
                    </m:sSub>
                    <m:r>
                      <a:rPr lang="en-US" altLang="zh-CN" sz="1800" i="1">
                        <a:effectLst/>
                        <a:latin typeface="Cambria Math" panose="02040503050406030204" pitchFamily="18" charset="0"/>
                        <a:ea typeface="MS Mincho" charset="0"/>
                        <a:cs typeface="Cambria Math" panose="02040503050406030204" pitchFamily="18" charset="0"/>
                      </a:rPr>
                      <m:t>=0</m:t>
                    </m:r>
                  </m:oMath>
                </a14:m>
                <a:endParaRPr lang="zh-CN" altLang="zh-CN" sz="1800" dirty="0">
                  <a:effectLst/>
                  <a:latin typeface="Times New Roman" panose="02020603050405020304" charset="0"/>
                  <a:ea typeface="微软雅黑" panose="020B0503020204020204" charset="-122"/>
                  <a:cs typeface="Times New Roman" panose="02020603050405020304" charset="0"/>
                </a:endParaRPr>
              </a:p>
              <a:p>
                <a:pPr indent="0">
                  <a:lnSpc>
                    <a:spcPts val="1800"/>
                  </a:lnSpc>
                  <a:buNone/>
                </a:pPr>
                <a:r>
                  <a:rPr lang="en-US" altLang="zh-CN" sz="1800" dirty="0">
                    <a:effectLst/>
                    <a:latin typeface="Times New Roman" panose="02020603050405020304" charset="0"/>
                    <a:ea typeface="微软雅黑" panose="020B0503020204020204" charset="-122"/>
                    <a:cs typeface="Times New Roman" panose="02020603050405020304" charset="0"/>
                  </a:rPr>
                  <a:t>      </a:t>
                </a:r>
                <a14:m>
                  <m:oMath xmlns:m="http://schemas.openxmlformats.org/officeDocument/2006/math">
                    <m:sSub>
                      <m:sSubPr>
                        <m:ctrlPr>
                          <a:rPr lang="zh-CN" altLang="zh-CN" sz="1800" i="1">
                            <a:effectLst/>
                            <a:latin typeface="Cambria Math" panose="02040503050406030204" pitchFamily="18" charset="0"/>
                            <a:ea typeface="微软雅黑" panose="020B0503020204020204" charset="-122"/>
                            <a:cs typeface="Cambria Math" panose="02040503050406030204" pitchFamily="18" charset="0"/>
                          </a:rPr>
                        </m:ctrlPr>
                      </m:sSubPr>
                      <m:e>
                        <m:r>
                          <a:rPr lang="en-US" altLang="zh-CN" sz="1800" i="1">
                            <a:effectLst/>
                            <a:latin typeface="Cambria Math" panose="02040503050406030204" pitchFamily="18" charset="0"/>
                            <a:ea typeface="微软雅黑" panose="020B0503020204020204" charset="-122"/>
                            <a:cs typeface="Cambria Math" panose="02040503050406030204" pitchFamily="18" charset="0"/>
                          </a:rPr>
                          <m:t>𝐻</m:t>
                        </m:r>
                      </m:e>
                      <m:sub>
                        <m:r>
                          <a:rPr lang="en-US" altLang="zh-CN" sz="1800" i="1">
                            <a:effectLst/>
                            <a:latin typeface="Cambria Math" panose="02040503050406030204" pitchFamily="18" charset="0"/>
                            <a:ea typeface="MS Mincho" charset="0"/>
                            <a:cs typeface="Cambria Math" panose="02040503050406030204" pitchFamily="18" charset="0"/>
                          </a:rPr>
                          <m:t>1</m:t>
                        </m:r>
                      </m:sub>
                    </m:sSub>
                    <m:r>
                      <a:rPr lang="en-US" altLang="zh-CN" sz="1800" i="1">
                        <a:effectLst/>
                        <a:latin typeface="Cambria Math" panose="02040503050406030204" pitchFamily="18" charset="0"/>
                        <a:ea typeface="MS Mincho" charset="0"/>
                        <a:cs typeface="Cambria Math" panose="02040503050406030204" pitchFamily="18" charset="0"/>
                      </a:rPr>
                      <m:t>:</m:t>
                    </m:r>
                    <m:sSub>
                      <m:sSubPr>
                        <m:ctrlPr>
                          <a:rPr lang="zh-CN" altLang="zh-CN" sz="1800" i="1">
                            <a:effectLst/>
                            <a:latin typeface="Cambria Math" panose="02040503050406030204" pitchFamily="18" charset="0"/>
                            <a:ea typeface="微软雅黑" panose="020B0503020204020204" charset="-122"/>
                            <a:cs typeface="Cambria Math" panose="02040503050406030204" pitchFamily="18" charset="0"/>
                          </a:rPr>
                        </m:ctrlPr>
                      </m:sSubPr>
                      <m:e>
                        <m:r>
                          <a:rPr lang="en-US" altLang="zh-CN" sz="1800" i="1">
                            <a:effectLst/>
                            <a:latin typeface="Cambria Math" panose="02040503050406030204" pitchFamily="18" charset="0"/>
                            <a:ea typeface="MS Mincho" charset="0"/>
                            <a:cs typeface="Cambria Math" panose="02040503050406030204" pitchFamily="18" charset="0"/>
                          </a:rPr>
                          <m:t> </m:t>
                        </m:r>
                        <m:r>
                          <a:rPr lang="en-US" altLang="zh-CN" sz="1800" i="1">
                            <a:effectLst/>
                            <a:latin typeface="Cambria Math" panose="02040503050406030204" pitchFamily="18" charset="0"/>
                            <a:ea typeface="MS Mincho" charset="0"/>
                            <a:cs typeface="Cambria Math" panose="02040503050406030204" pitchFamily="18" charset="0"/>
                          </a:rPr>
                          <m:t>𝛽</m:t>
                        </m:r>
                      </m:e>
                      <m:sub>
                        <m:r>
                          <a:rPr lang="en-US" altLang="zh-CN" sz="1800" i="1">
                            <a:effectLst/>
                            <a:latin typeface="Cambria Math" panose="02040503050406030204" pitchFamily="18" charset="0"/>
                            <a:ea typeface="MS Mincho" charset="0"/>
                            <a:cs typeface="Cambria Math" panose="02040503050406030204" pitchFamily="18" charset="0"/>
                          </a:rPr>
                          <m:t>1</m:t>
                        </m:r>
                      </m:sub>
                    </m:sSub>
                    <m:r>
                      <a:rPr lang="en-US" altLang="zh-CN" sz="1800" i="1">
                        <a:effectLst/>
                        <a:latin typeface="Cambria Math" panose="02040503050406030204" pitchFamily="18" charset="0"/>
                        <a:ea typeface="MS Mincho" charset="0"/>
                        <a:cs typeface="Cambria Math" panose="02040503050406030204" pitchFamily="18" charset="0"/>
                      </a:rPr>
                      <m:t>,</m:t>
                    </m:r>
                    <m:sSub>
                      <m:sSubPr>
                        <m:ctrlPr>
                          <a:rPr lang="zh-CN" altLang="zh-CN" sz="1800" i="1">
                            <a:effectLst/>
                            <a:latin typeface="Cambria Math" panose="02040503050406030204" pitchFamily="18" charset="0"/>
                            <a:ea typeface="微软雅黑" panose="020B0503020204020204" charset="-122"/>
                            <a:cs typeface="Cambria Math" panose="02040503050406030204" pitchFamily="18" charset="0"/>
                          </a:rPr>
                        </m:ctrlPr>
                      </m:sSubPr>
                      <m:e>
                        <m:r>
                          <a:rPr lang="en-US" altLang="zh-CN" sz="1800" i="1">
                            <a:effectLst/>
                            <a:latin typeface="Cambria Math" panose="02040503050406030204" pitchFamily="18" charset="0"/>
                            <a:ea typeface="MS Mincho" charset="0"/>
                            <a:cs typeface="Cambria Math" panose="02040503050406030204" pitchFamily="18" charset="0"/>
                          </a:rPr>
                          <m:t>𝛽</m:t>
                        </m:r>
                      </m:e>
                      <m:sub>
                        <m:r>
                          <a:rPr lang="en-US" altLang="zh-CN" sz="1800" i="1">
                            <a:effectLst/>
                            <a:latin typeface="Cambria Math" panose="02040503050406030204" pitchFamily="18" charset="0"/>
                            <a:ea typeface="MS Mincho" charset="0"/>
                            <a:cs typeface="Cambria Math" panose="02040503050406030204" pitchFamily="18" charset="0"/>
                          </a:rPr>
                          <m:t>2</m:t>
                        </m:r>
                      </m:sub>
                    </m:sSub>
                    <m:r>
                      <a:rPr lang="en-US" altLang="zh-CN" sz="1800" i="1">
                        <a:effectLst/>
                        <a:latin typeface="Cambria Math" panose="02040503050406030204" pitchFamily="18" charset="0"/>
                        <a:ea typeface="MS Mincho" charset="0"/>
                        <a:cs typeface="Cambria Math" panose="02040503050406030204" pitchFamily="18" charset="0"/>
                      </a:rPr>
                      <m:t>,⋯,</m:t>
                    </m:r>
                    <m:sSub>
                      <m:sSubPr>
                        <m:ctrlPr>
                          <a:rPr lang="zh-CN" altLang="zh-CN" sz="1800" i="1">
                            <a:effectLst/>
                            <a:latin typeface="Cambria Math" panose="02040503050406030204" pitchFamily="18" charset="0"/>
                            <a:ea typeface="微软雅黑" panose="020B0503020204020204" charset="-122"/>
                            <a:cs typeface="Cambria Math" panose="02040503050406030204" pitchFamily="18" charset="0"/>
                          </a:rPr>
                        </m:ctrlPr>
                      </m:sSubPr>
                      <m:e>
                        <m:r>
                          <a:rPr lang="en-US" altLang="zh-CN" sz="1800" i="1">
                            <a:effectLst/>
                            <a:latin typeface="Cambria Math" panose="02040503050406030204" pitchFamily="18" charset="0"/>
                            <a:ea typeface="MS Mincho" charset="0"/>
                            <a:cs typeface="Cambria Math" panose="02040503050406030204" pitchFamily="18" charset="0"/>
                          </a:rPr>
                          <m:t>𝛽</m:t>
                        </m:r>
                      </m:e>
                      <m:sub>
                        <m:r>
                          <a:rPr lang="en-US" altLang="zh-CN" sz="1800" i="1">
                            <a:effectLst/>
                            <a:latin typeface="Cambria Math" panose="02040503050406030204" pitchFamily="18" charset="0"/>
                            <a:ea typeface="微软雅黑" panose="020B0503020204020204" charset="-122"/>
                            <a:cs typeface="Cambria Math" panose="02040503050406030204" pitchFamily="18" charset="0"/>
                          </a:rPr>
                          <m:t>𝑘</m:t>
                        </m:r>
                      </m:sub>
                    </m:sSub>
                  </m:oMath>
                </a14:m>
                <a:r>
                  <a:rPr lang="zh-CN" altLang="zh-CN" sz="1800" dirty="0">
                    <a:effectLst/>
                    <a:latin typeface="Times New Roman" panose="02020603050405020304" charset="0"/>
                    <a:ea typeface="微软雅黑" panose="020B0503020204020204" charset="-122"/>
                    <a:cs typeface="Times New Roman" panose="02020603050405020304" charset="0"/>
                  </a:rPr>
                  <a:t>至少有一个不等于</a:t>
                </a:r>
                <a:r>
                  <a:rPr lang="en-US" altLang="zh-CN" sz="1800" dirty="0">
                    <a:effectLst/>
                    <a:latin typeface="Times New Roman" panose="02020603050405020304" charset="0"/>
                    <a:ea typeface="微软雅黑" panose="020B0503020204020204" charset="-122"/>
                    <a:cs typeface="Times New Roman" panose="02020603050405020304" charset="0"/>
                  </a:rPr>
                  <a:t>0</a:t>
                </a:r>
                <a:endParaRPr lang="zh-CN" altLang="zh-CN" sz="1800" dirty="0">
                  <a:effectLst/>
                  <a:latin typeface="Times New Roman" panose="02020603050405020304" charset="0"/>
                  <a:ea typeface="微软雅黑" panose="020B0503020204020204" charset="-122"/>
                  <a:cs typeface="Times New Roman" panose="02020603050405020304" charset="0"/>
                </a:endParaRPr>
              </a:p>
              <a:p>
                <a:pPr marL="536575" lvl="1" indent="-447675" algn="just">
                  <a:lnSpc>
                    <a:spcPct val="160000"/>
                  </a:lnSpc>
                  <a:spcBef>
                    <a:spcPts val="750"/>
                  </a:spcBef>
                  <a:buClr>
                    <a:srgbClr val="002060"/>
                  </a:buClr>
                  <a:buSzPct val="100000"/>
                  <a:buFont typeface="Wingdings" panose="05000000000000000000" pitchFamily="2" charset="2"/>
                  <a:buChar char="l"/>
                  <a:defRPr/>
                </a:pPr>
                <a:r>
                  <a:rPr lang="zh-CN" altLang="en-US" sz="2300" dirty="0">
                    <a:latin typeface="Times New Roman" panose="02020603050405020304" charset="0"/>
                    <a:ea typeface="微软雅黑" panose="020B0503020204020204" charset="-122"/>
                    <a:cs typeface="Times New Roman" panose="02020603050405020304" charset="0"/>
                  </a:rPr>
                  <a:t>计算检验统计量 </a:t>
                </a:r>
                <a:r>
                  <a:rPr lang="en-US" altLang="zh-CN" sz="2300" dirty="0">
                    <a:latin typeface="Times New Roman" panose="02020603050405020304" charset="0"/>
                    <a:ea typeface="微软雅黑" panose="020B0503020204020204" charset="-122"/>
                    <a:cs typeface="Times New Roman" panose="02020603050405020304" charset="0"/>
                  </a:rPr>
                  <a:t>F </a:t>
                </a:r>
                <a:r>
                  <a:rPr lang="zh-CN" altLang="en-US" sz="2300" dirty="0">
                    <a:latin typeface="Times New Roman" panose="02020603050405020304" charset="0"/>
                    <a:ea typeface="微软雅黑" panose="020B0503020204020204" charset="-122"/>
                    <a:cs typeface="Times New Roman" panose="02020603050405020304" charset="0"/>
                  </a:rPr>
                  <a:t>和 </a:t>
                </a:r>
                <a:r>
                  <a:rPr lang="en-US" altLang="zh-CN" sz="2300" dirty="0">
                    <a:latin typeface="Times New Roman" panose="02020603050405020304" charset="0"/>
                    <a:ea typeface="微软雅黑" panose="020B0503020204020204" charset="-122"/>
                    <a:cs typeface="Times New Roman" panose="02020603050405020304" charset="0"/>
                  </a:rPr>
                  <a:t>P </a:t>
                </a:r>
                <a:r>
                  <a:rPr lang="zh-CN" altLang="en-US" sz="2300" dirty="0">
                    <a:latin typeface="Times New Roman" panose="02020603050405020304" charset="0"/>
                    <a:ea typeface="微软雅黑" panose="020B0503020204020204" charset="-122"/>
                    <a:cs typeface="Times New Roman" panose="02020603050405020304" charset="0"/>
                  </a:rPr>
                  <a:t>值，做出决策</a:t>
                </a:r>
                <a:endParaRPr lang="en-US" altLang="zh-CN" sz="2300" dirty="0">
                  <a:latin typeface="Times New Roman" panose="02020603050405020304" charset="0"/>
                  <a:ea typeface="微软雅黑" panose="020B0503020204020204" charset="-122"/>
                  <a:cs typeface="Times New Roman" panose="02020603050405020304" charset="0"/>
                </a:endParaRPr>
              </a:p>
              <a:p>
                <a:pPr marL="720725" indent="-447675" algn="just">
                  <a:lnSpc>
                    <a:spcPct val="150000"/>
                  </a:lnSpc>
                  <a:buClr>
                    <a:srgbClr val="002060"/>
                  </a:buClr>
                  <a:buFont typeface="Wingdings" panose="05000000000000000000" pitchFamily="2" charset="2"/>
                  <a:buChar char="l"/>
                  <a:defRPr/>
                </a:pPr>
                <a:endParaRPr lang="zh-CN" altLang="en-US" dirty="0">
                  <a:latin typeface="Times New Roman" panose="02020603050405020304" charset="0"/>
                  <a:ea typeface="微软雅黑" panose="020B0503020204020204" charset="-122"/>
                  <a:cs typeface="Times New Roman" panose="02020603050405020304" charset="0"/>
                </a:endParaRPr>
              </a:p>
            </p:txBody>
          </p:sp>
        </mc:Choice>
        <mc:Fallback xmlns="">
          <p:sp>
            <p:nvSpPr>
              <p:cNvPr id="2" name="Rectangle 3">
                <a:extLst>
                  <a:ext uri="{FF2B5EF4-FFF2-40B4-BE49-F238E27FC236}">
                    <a16:creationId xmlns:a16="http://schemas.microsoft.com/office/drawing/2014/main" id="{B4CC7B0A-80C4-957F-65D9-C0EF1772C5A1}"/>
                  </a:ext>
                </a:extLst>
              </p:cNvPr>
              <p:cNvSpPr txBox="1">
                <a:spLocks noRot="1" noChangeAspect="1" noMove="1" noResize="1" noEditPoints="1" noAdjustHandles="1" noChangeArrowheads="1" noChangeShapeType="1" noTextEdit="1"/>
              </p:cNvSpPr>
              <p:nvPr/>
            </p:nvSpPr>
            <p:spPr>
              <a:xfrm>
                <a:off x="1151562" y="1838131"/>
                <a:ext cx="7020897" cy="4694921"/>
              </a:xfrm>
              <a:prstGeom prst="rect">
                <a:avLst/>
              </a:prstGeom>
              <a:blipFill>
                <a:blip r:embed="rId4"/>
                <a:stretch>
                  <a:fillRect l="-953"/>
                </a:stretch>
              </a:blipFill>
              <a:ln>
                <a:solidFill>
                  <a:schemeClr val="accent1"/>
                </a:solidFill>
              </a:ln>
            </p:spPr>
            <p:txBody>
              <a:bodyPr/>
              <a:lstStyle/>
              <a:p>
                <a:r>
                  <a:rPr lang="zh-CN" altLang="en-US">
                    <a:noFill/>
                  </a:rPr>
                  <a:t> </a:t>
                </a:r>
              </a:p>
            </p:txBody>
          </p:sp>
        </mc:Fallback>
      </mc:AlternateContent>
    </p:spTree>
    <p:extLst>
      <p:ext uri="{BB962C8B-B14F-4D97-AF65-F5344CB8AC3E}">
        <p14:creationId xmlns:p14="http://schemas.microsoft.com/office/powerpoint/2010/main" val="2296657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1">
            <a:extLst>
              <a:ext uri="{FF2B5EF4-FFF2-40B4-BE49-F238E27FC236}">
                <a16:creationId xmlns:a16="http://schemas.microsoft.com/office/drawing/2014/main" id="{70E8D854-25CF-EEC3-0242-7BB6D8113878}"/>
              </a:ext>
            </a:extLst>
          </p:cNvPr>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3" name="文本框 2" descr="7b0a202020202262756c6c6574223a20227b5c2263617465676f727949645c223a31303030352c5c2274656d706c61746549645c223a32303233313332387d220a7d0a">
            <a:extLst>
              <a:ext uri="{FF2B5EF4-FFF2-40B4-BE49-F238E27FC236}">
                <a16:creationId xmlns:a16="http://schemas.microsoft.com/office/drawing/2014/main" id="{45B7BD4F-1F7D-0BB5-05DD-231EE4ACEAF0}"/>
              </a:ext>
            </a:extLst>
          </p:cNvPr>
          <p:cNvSpPr txBox="1"/>
          <p:nvPr>
            <p:custDataLst>
              <p:tags r:id="rId1"/>
            </p:custDataLst>
          </p:nvPr>
        </p:nvSpPr>
        <p:spPr>
          <a:xfrm>
            <a:off x="251448" y="1088701"/>
            <a:ext cx="7081211" cy="797560"/>
          </a:xfrm>
          <a:prstGeom prst="rect">
            <a:avLst/>
          </a:prstGeom>
          <a:noFill/>
        </p:spPr>
        <p:txBody>
          <a:bodyPr wrap="square" rtlCol="0">
            <a:noAutofit/>
          </a:bodyPr>
          <a:lstStyle/>
          <a:p>
            <a:pPr indent="0" fontAlgn="auto">
              <a:lnSpc>
                <a:spcPct val="150000"/>
              </a:lnSpc>
              <a:buSzPct val="200000"/>
              <a:buBlip>
                <a:blip r:embed="rId3"/>
              </a:buBlip>
            </a:pPr>
            <a:r>
              <a:rPr lang="zh-CN" altLang="en-US" sz="2400" b="1" dirty="0">
                <a:solidFill>
                  <a:srgbClr val="0F65E6"/>
                </a:solidFill>
                <a:latin typeface="微软雅黑" panose="020B0503020204020204" charset="-122"/>
                <a:ea typeface="微软雅黑" panose="020B0503020204020204" charset="-122"/>
              </a:rPr>
              <a:t>显著性检验</a:t>
            </a:r>
            <a:r>
              <a:rPr lang="en-US" altLang="zh-CN" sz="2400" b="1" dirty="0">
                <a:solidFill>
                  <a:srgbClr val="0F65E6"/>
                </a:solidFill>
                <a:latin typeface="微软雅黑" panose="020B0503020204020204" charset="-122"/>
                <a:ea typeface="微软雅黑" panose="020B0503020204020204" charset="-122"/>
              </a:rPr>
              <a:t>——</a:t>
            </a:r>
            <a:r>
              <a:rPr lang="zh-CN" altLang="en-US" sz="2400" b="1" dirty="0">
                <a:solidFill>
                  <a:srgbClr val="0F65E6"/>
                </a:solidFill>
                <a:latin typeface="微软雅黑" panose="020B0503020204020204" charset="-122"/>
                <a:ea typeface="微软雅黑" panose="020B0503020204020204" charset="-122"/>
              </a:rPr>
              <a:t>回归系数检验</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5273D7B-ABE6-7206-BBC9-2C235D3A095D}"/>
                  </a:ext>
                </a:extLst>
              </p:cNvPr>
              <p:cNvSpPr txBox="1">
                <a:spLocks noChangeArrowheads="1"/>
              </p:cNvSpPr>
              <p:nvPr/>
            </p:nvSpPr>
            <p:spPr>
              <a:xfrm>
                <a:off x="431471" y="1802112"/>
                <a:ext cx="7767193" cy="4694921"/>
              </a:xfrm>
              <a:prstGeom prst="rect">
                <a:avLst/>
              </a:prstGeom>
              <a:noFill/>
              <a:ln>
                <a:solidFill>
                  <a:schemeClr val="accent1"/>
                </a:solidFill>
              </a:ln>
            </p:spPr>
            <p:txBody>
              <a:bodyPr vert="horz" lIns="90488" tIns="44450" rIns="90488" bIns="4445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536575" indent="-447675" algn="just">
                  <a:lnSpc>
                    <a:spcPct val="170000"/>
                  </a:lnSpc>
                  <a:buClr>
                    <a:srgbClr val="002060"/>
                  </a:buClr>
                  <a:buFont typeface="Wingdings" panose="05000000000000000000" pitchFamily="2" charset="2"/>
                  <a:buChar char="l"/>
                  <a:defRPr/>
                </a:pPr>
                <a:r>
                  <a:rPr lang="zh-CN" altLang="en-US" sz="2400" dirty="0">
                    <a:latin typeface="Times New Roman" panose="02020603050405020304" charset="0"/>
                    <a:ea typeface="微软雅黑" panose="020B0503020204020204" charset="-122"/>
                    <a:cs typeface="Times New Roman" panose="02020603050405020304" charset="0"/>
                  </a:rPr>
                  <a:t>检验每个自变量是否显著</a:t>
                </a:r>
                <a:endParaRPr lang="en-US" altLang="zh-CN" sz="2400" dirty="0">
                  <a:latin typeface="Times New Roman" panose="02020603050405020304" charset="0"/>
                  <a:ea typeface="微软雅黑" panose="020B0503020204020204" charset="-122"/>
                  <a:cs typeface="Times New Roman" panose="02020603050405020304" charset="0"/>
                </a:endParaRPr>
              </a:p>
              <a:p>
                <a:pPr marL="0" indent="0" algn="just" fontAlgn="auto">
                  <a:lnSpc>
                    <a:spcPct val="170000"/>
                  </a:lnSpc>
                  <a:spcBef>
                    <a:spcPts val="0"/>
                  </a:spcBef>
                  <a:buClr>
                    <a:srgbClr val="002060"/>
                  </a:buClr>
                  <a:buNone/>
                  <a:defRPr/>
                </a:pPr>
                <a:r>
                  <a:rPr lang="zh-CN" altLang="en-US" sz="2400" b="1" dirty="0">
                    <a:solidFill>
                      <a:srgbClr val="FF0000"/>
                    </a:solidFill>
                    <a:latin typeface="Times New Roman" panose="02020603050405020304" charset="0"/>
                    <a:ea typeface="微软雅黑" panose="020B0503020204020204" charset="-122"/>
                    <a:cs typeface="Times New Roman" panose="02020603050405020304" charset="0"/>
                  </a:rPr>
                  <a:t>检验步骤</a:t>
                </a:r>
                <a:endParaRPr lang="en-US" altLang="zh-CN" sz="2400" b="1" dirty="0">
                  <a:solidFill>
                    <a:srgbClr val="FF0000"/>
                  </a:solidFill>
                  <a:latin typeface="Times New Roman" panose="02020603050405020304" charset="0"/>
                  <a:ea typeface="微软雅黑" panose="020B0503020204020204" charset="-122"/>
                  <a:cs typeface="Times New Roman" panose="02020603050405020304" charset="0"/>
                </a:endParaRPr>
              </a:p>
              <a:p>
                <a:pPr marL="536575" indent="-447675" algn="just" fontAlgn="auto">
                  <a:lnSpc>
                    <a:spcPct val="170000"/>
                  </a:lnSpc>
                  <a:spcBef>
                    <a:spcPts val="0"/>
                  </a:spcBef>
                  <a:buClr>
                    <a:srgbClr val="002060"/>
                  </a:buClr>
                  <a:buFont typeface="Wingdings" panose="05000000000000000000" pitchFamily="2" charset="2"/>
                  <a:buChar char="l"/>
                  <a:defRPr/>
                </a:pPr>
                <a:r>
                  <a:rPr lang="zh-CN" altLang="en-US" sz="2400" dirty="0">
                    <a:latin typeface="Times New Roman" panose="02020603050405020304" charset="0"/>
                    <a:ea typeface="微软雅黑" panose="020B0503020204020204" charset="-122"/>
                    <a:cs typeface="Times New Roman" panose="02020603050405020304" charset="0"/>
                  </a:rPr>
                  <a:t>提出假设</a:t>
                </a:r>
              </a:p>
              <a:p>
                <a:pPr marL="894080" lvl="1" indent="-357505">
                  <a:lnSpc>
                    <a:spcPct val="100000"/>
                  </a:lnSpc>
                  <a:spcBef>
                    <a:spcPts val="750"/>
                  </a:spcBef>
                  <a:buClr>
                    <a:srgbClr val="C00000"/>
                  </a:buClr>
                  <a:buSzPct val="100000"/>
                  <a:buFont typeface="Wingdings" panose="05000000000000000000" pitchFamily="2" charset="2"/>
                  <a:buChar char="Ø"/>
                  <a:defRPr/>
                </a:pPr>
                <a14:m>
                  <m:oMath xmlns:m="http://schemas.openxmlformats.org/officeDocument/2006/math">
                    <m:sSub>
                      <m:sSubPr>
                        <m:ctrlPr>
                          <a:rPr lang="en-US" altLang="zh-CN" sz="2400" i="1" smtClean="0">
                            <a:latin typeface="Cambria Math" panose="02040503050406030204" pitchFamily="18" charset="0"/>
                            <a:ea typeface="微软雅黑" panose="020B0503020204020204" charset="-122"/>
                            <a:cs typeface="Cambria Math" panose="02040503050406030204" pitchFamily="18" charset="0"/>
                          </a:rPr>
                        </m:ctrlPr>
                      </m:sSubPr>
                      <m:e>
                        <m:r>
                          <a:rPr lang="en-US" altLang="zh-CN" sz="2400" b="0" i="1" smtClean="0">
                            <a:latin typeface="Cambria Math" panose="02040503050406030204" pitchFamily="18" charset="0"/>
                            <a:ea typeface="微软雅黑" panose="020B0503020204020204" charset="-122"/>
                            <a:cs typeface="Cambria Math" panose="02040503050406030204" pitchFamily="18" charset="0"/>
                          </a:rPr>
                          <m:t>𝐻</m:t>
                        </m:r>
                      </m:e>
                      <m:sub>
                        <m:r>
                          <a:rPr lang="en-US" altLang="zh-CN" sz="2400" b="0" i="1" smtClean="0">
                            <a:latin typeface="Cambria Math" panose="02040503050406030204" pitchFamily="18" charset="0"/>
                            <a:ea typeface="MS Mincho" charset="0"/>
                            <a:cs typeface="Cambria Math" panose="02040503050406030204" pitchFamily="18" charset="0"/>
                          </a:rPr>
                          <m:t>0</m:t>
                        </m:r>
                      </m:sub>
                    </m:sSub>
                  </m:oMath>
                </a14:m>
                <a:r>
                  <a:rPr lang="zh-CN" altLang="en-US" sz="2400" dirty="0">
                    <a:latin typeface="Times New Roman" panose="02020603050405020304" charset="0"/>
                    <a:ea typeface="微软雅黑" panose="020B0503020204020204" charset="-122"/>
                    <a:cs typeface="Times New Roman" panose="02020603050405020304" charset="0"/>
                  </a:rPr>
                  <a:t>： </a:t>
                </a:r>
                <a:r>
                  <a:rPr lang="zh-CN" altLang="zh-CN" sz="2400" dirty="0">
                    <a:latin typeface="Times New Roman" panose="02020603050405020304" charset="0"/>
                    <a:ea typeface="微软雅黑" panose="020B0503020204020204" charset="-122"/>
                    <a:cs typeface="Times New Roman" panose="02020603050405020304" charset="0"/>
                  </a:rPr>
                  <a:t> </a:t>
                </a:r>
                <a14:m>
                  <m:oMath xmlns:m="http://schemas.openxmlformats.org/officeDocument/2006/math">
                    <m:sSub>
                      <m:sSubPr>
                        <m:ctrlPr>
                          <a:rPr lang="zh-CN" altLang="zh-CN" sz="2400" i="1">
                            <a:latin typeface="Cambria Math" panose="02040503050406030204" pitchFamily="18" charset="0"/>
                            <a:ea typeface="微软雅黑" panose="020B0503020204020204" charset="-122"/>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𝛽</m:t>
                        </m:r>
                      </m:e>
                      <m:sub>
                        <m:r>
                          <a:rPr lang="en-US" altLang="zh-CN" sz="2400" b="0" i="1" smtClean="0">
                            <a:latin typeface="Cambria Math" panose="02040503050406030204" pitchFamily="18" charset="0"/>
                            <a:ea typeface="微软雅黑" panose="020B0503020204020204" charset="-122"/>
                            <a:cs typeface="Cambria Math" panose="02040503050406030204" pitchFamily="18" charset="0"/>
                          </a:rPr>
                          <m:t>𝑖</m:t>
                        </m:r>
                      </m:sub>
                    </m:sSub>
                    <m:r>
                      <a:rPr lang="en-US" altLang="zh-CN" sz="2400" i="1">
                        <a:latin typeface="Cambria Math" panose="02040503050406030204" pitchFamily="18" charset="0"/>
                        <a:ea typeface="MS Mincho" charset="0"/>
                        <a:cs typeface="Cambria Math" panose="02040503050406030204" pitchFamily="18" charset="0"/>
                      </a:rPr>
                      <m:t>=</m:t>
                    </m:r>
                  </m:oMath>
                </a14:m>
                <a:r>
                  <a:rPr lang="en-US" altLang="zh-CN" sz="2400" dirty="0">
                    <a:latin typeface="Times New Roman" panose="02020603050405020304" charset="0"/>
                    <a:ea typeface="微软雅黑" panose="020B0503020204020204" charset="-122"/>
                    <a:cs typeface="Times New Roman" panose="02020603050405020304" charset="0"/>
                  </a:rPr>
                  <a:t>0   (</a:t>
                </a:r>
                <a:r>
                  <a:rPr lang="zh-CN" altLang="en-US" sz="2400" dirty="0">
                    <a:latin typeface="Times New Roman" panose="02020603050405020304" charset="0"/>
                    <a:ea typeface="微软雅黑" panose="020B0503020204020204" charset="-122"/>
                    <a:cs typeface="Times New Roman" panose="02020603050405020304" charset="0"/>
                  </a:rPr>
                  <a:t>自变量</a:t>
                </a:r>
                <a14:m>
                  <m:oMath xmlns:m="http://schemas.openxmlformats.org/officeDocument/2006/math">
                    <m:sSub>
                      <m:sSubPr>
                        <m:ctrlPr>
                          <a:rPr lang="en-US" altLang="zh-CN" sz="2400" i="1" dirty="0" smtClean="0">
                            <a:latin typeface="Cambria Math" panose="02040503050406030204" pitchFamily="18" charset="0"/>
                            <a:ea typeface="微软雅黑" panose="020B0503020204020204" charset="-122"/>
                            <a:cs typeface="Cambria Math" panose="02040503050406030204" pitchFamily="18" charset="0"/>
                          </a:rPr>
                        </m:ctrlPr>
                      </m:sSubPr>
                      <m:e>
                        <m:r>
                          <a:rPr lang="en-US" altLang="zh-CN" sz="2400" b="0" i="1" dirty="0" smtClean="0">
                            <a:latin typeface="Cambria Math" panose="02040503050406030204" pitchFamily="18" charset="0"/>
                            <a:ea typeface="微软雅黑" panose="020B0503020204020204" charset="-122"/>
                            <a:cs typeface="Cambria Math" panose="02040503050406030204" pitchFamily="18" charset="0"/>
                          </a:rPr>
                          <m:t>𝑥</m:t>
                        </m:r>
                      </m:e>
                      <m:sub>
                        <m:r>
                          <a:rPr lang="en-US" altLang="zh-CN" sz="2400" b="0" i="1" dirty="0" smtClean="0">
                            <a:latin typeface="Cambria Math" panose="02040503050406030204" pitchFamily="18" charset="0"/>
                            <a:ea typeface="微软雅黑" panose="020B0503020204020204" charset="-122"/>
                            <a:cs typeface="Cambria Math" panose="02040503050406030204" pitchFamily="18" charset="0"/>
                          </a:rPr>
                          <m:t>𝑖</m:t>
                        </m:r>
                      </m:sub>
                    </m:sSub>
                    <m:r>
                      <a:rPr lang="en-US" altLang="zh-CN" sz="2400" i="1" dirty="0">
                        <a:latin typeface="Cambria Math" panose="02040503050406030204" pitchFamily="18" charset="0"/>
                        <a:ea typeface="MS Mincho" charset="0"/>
                        <a:cs typeface="Cambria Math" panose="02040503050406030204" pitchFamily="18" charset="0"/>
                      </a:rPr>
                      <m:t> </m:t>
                    </m:r>
                  </m:oMath>
                </a14:m>
                <a:r>
                  <a:rPr lang="zh-CN" altLang="en-US" sz="2400" dirty="0">
                    <a:latin typeface="Times New Roman" panose="02020603050405020304" charset="0"/>
                    <a:ea typeface="微软雅黑" panose="020B0503020204020204" charset="-122"/>
                    <a:cs typeface="Times New Roman" panose="02020603050405020304" charset="0"/>
                  </a:rPr>
                  <a:t>与 因变量 </a:t>
                </a:r>
                <a:r>
                  <a:rPr lang="en-US" altLang="zh-CN" sz="2400" dirty="0">
                    <a:latin typeface="Times New Roman" panose="02020603050405020304" charset="0"/>
                    <a:ea typeface="微软雅黑" panose="020B0503020204020204" charset="-122"/>
                    <a:cs typeface="Times New Roman" panose="02020603050405020304" charset="0"/>
                  </a:rPr>
                  <a:t>y </a:t>
                </a:r>
                <a:r>
                  <a:rPr lang="zh-CN" altLang="en-US" sz="2400" dirty="0">
                    <a:latin typeface="Times New Roman" panose="02020603050405020304" charset="0"/>
                    <a:ea typeface="微软雅黑" panose="020B0503020204020204" charset="-122"/>
                    <a:cs typeface="Times New Roman" panose="02020603050405020304" charset="0"/>
                  </a:rPr>
                  <a:t>没有线性关系</a:t>
                </a:r>
                <a:r>
                  <a:rPr lang="en-US" altLang="zh-CN" sz="2400" dirty="0">
                    <a:latin typeface="Times New Roman" panose="02020603050405020304" charset="0"/>
                    <a:ea typeface="微软雅黑" panose="020B0503020204020204" charset="-122"/>
                    <a:cs typeface="Times New Roman" panose="02020603050405020304" charset="0"/>
                  </a:rPr>
                  <a:t>) </a:t>
                </a:r>
              </a:p>
              <a:p>
                <a:pPr marL="894080" lvl="1" indent="-357505">
                  <a:lnSpc>
                    <a:spcPct val="100000"/>
                  </a:lnSpc>
                  <a:spcBef>
                    <a:spcPts val="750"/>
                  </a:spcBef>
                  <a:buClr>
                    <a:srgbClr val="C00000"/>
                  </a:buClr>
                  <a:buSzPct val="100000"/>
                  <a:buFont typeface="Wingdings" panose="05000000000000000000" pitchFamily="2" charset="2"/>
                  <a:buChar char="Ø"/>
                  <a:defRPr/>
                </a:pPr>
                <a14:m>
                  <m:oMath xmlns:m="http://schemas.openxmlformats.org/officeDocument/2006/math">
                    <m:sSub>
                      <m:sSubPr>
                        <m:ctrlPr>
                          <a:rPr lang="en-US" altLang="zh-CN" sz="2400" i="1" smtClean="0">
                            <a:latin typeface="Cambria Math" panose="02040503050406030204" pitchFamily="18" charset="0"/>
                            <a:ea typeface="微软雅黑" panose="020B0503020204020204" charset="-122"/>
                            <a:cs typeface="Cambria Math" panose="02040503050406030204" pitchFamily="18" charset="0"/>
                          </a:rPr>
                        </m:ctrlPr>
                      </m:sSubPr>
                      <m:e>
                        <m:r>
                          <a:rPr lang="en-US" altLang="zh-CN" sz="2400" b="0" i="1" smtClean="0">
                            <a:latin typeface="Cambria Math" panose="02040503050406030204" pitchFamily="18" charset="0"/>
                            <a:ea typeface="微软雅黑" panose="020B0503020204020204" charset="-122"/>
                            <a:cs typeface="Cambria Math" panose="02040503050406030204" pitchFamily="18" charset="0"/>
                          </a:rPr>
                          <m:t>𝐻</m:t>
                        </m:r>
                      </m:e>
                      <m:sub>
                        <m:r>
                          <a:rPr lang="en-US" altLang="zh-CN" sz="2400" i="1">
                            <a:latin typeface="Cambria Math" panose="02040503050406030204" pitchFamily="18" charset="0"/>
                            <a:ea typeface="MS Mincho" charset="0"/>
                            <a:cs typeface="Cambria Math" panose="02040503050406030204" pitchFamily="18" charset="0"/>
                          </a:rPr>
                          <m:t>1</m:t>
                        </m:r>
                      </m:sub>
                    </m:sSub>
                  </m:oMath>
                </a14:m>
                <a:r>
                  <a:rPr lang="zh-CN" altLang="en-US" sz="2400" dirty="0">
                    <a:latin typeface="Times New Roman" panose="02020603050405020304" charset="0"/>
                    <a:ea typeface="微软雅黑" panose="020B0503020204020204" charset="-122"/>
                    <a:cs typeface="Times New Roman" panose="02020603050405020304" charset="0"/>
                  </a:rPr>
                  <a:t>： </a:t>
                </a:r>
                <a14:m>
                  <m:oMath xmlns:m="http://schemas.openxmlformats.org/officeDocument/2006/math">
                    <m:r>
                      <a:rPr lang="en-US" altLang="zh-CN" sz="2400" i="1" dirty="0" smtClean="0">
                        <a:latin typeface="Cambria Math" panose="02040503050406030204" pitchFamily="18" charset="0"/>
                        <a:ea typeface="MS Mincho" charset="0"/>
                        <a:cs typeface="Cambria Math" panose="02040503050406030204" pitchFamily="18" charset="0"/>
                      </a:rPr>
                      <m:t>𝛽</m:t>
                    </m:r>
                    <m:r>
                      <a:rPr lang="en-US" altLang="zh-CN" sz="2400" i="1" dirty="0" err="1" smtClean="0">
                        <a:latin typeface="Cambria Math" panose="02040503050406030204" pitchFamily="18" charset="0"/>
                        <a:ea typeface="微软雅黑" panose="020B0503020204020204" charset="-122"/>
                        <a:cs typeface="Cambria Math" panose="02040503050406030204" pitchFamily="18" charset="0"/>
                      </a:rPr>
                      <m:t>𝑖</m:t>
                    </m:r>
                    <m:r>
                      <a:rPr lang="en-US" altLang="zh-CN" sz="2400" i="1" dirty="0">
                        <a:latin typeface="Cambria Math" panose="02040503050406030204" pitchFamily="18" charset="0"/>
                        <a:ea typeface="MS Mincho" charset="0"/>
                        <a:cs typeface="Cambria Math" panose="02040503050406030204" pitchFamily="18" charset="0"/>
                      </a:rPr>
                      <m:t>≠0 </m:t>
                    </m:r>
                  </m:oMath>
                </a14:m>
                <a:r>
                  <a:rPr lang="en-US" altLang="zh-CN" sz="2400" dirty="0">
                    <a:latin typeface="Times New Roman" panose="02020603050405020304" charset="0"/>
                    <a:ea typeface="微软雅黑" panose="020B0503020204020204" charset="-122"/>
                    <a:cs typeface="Times New Roman" panose="02020603050405020304" charset="0"/>
                  </a:rPr>
                  <a:t>(</a:t>
                </a:r>
                <a:r>
                  <a:rPr lang="zh-CN" altLang="en-US" sz="2400" dirty="0">
                    <a:latin typeface="Times New Roman" panose="02020603050405020304" charset="0"/>
                    <a:ea typeface="微软雅黑" panose="020B0503020204020204" charset="-122"/>
                    <a:cs typeface="Times New Roman" panose="02020603050405020304" charset="0"/>
                  </a:rPr>
                  <a:t>自变量 </a:t>
                </a:r>
                <a14:m>
                  <m:oMath xmlns:m="http://schemas.openxmlformats.org/officeDocument/2006/math">
                    <m:sSub>
                      <m:sSubPr>
                        <m:ctrlPr>
                          <a:rPr lang="en-US" altLang="zh-CN" sz="2400" i="1" dirty="0">
                            <a:latin typeface="Cambria Math" panose="02040503050406030204" pitchFamily="18" charset="0"/>
                            <a:ea typeface="微软雅黑" panose="020B0503020204020204" charset="-122"/>
                            <a:cs typeface="Cambria Math" panose="02040503050406030204" pitchFamily="18" charset="0"/>
                          </a:rPr>
                        </m:ctrlPr>
                      </m:sSubPr>
                      <m:e>
                        <m:r>
                          <a:rPr lang="en-US" altLang="zh-CN" sz="2400" i="1" dirty="0">
                            <a:latin typeface="Cambria Math" panose="02040503050406030204" pitchFamily="18" charset="0"/>
                            <a:ea typeface="微软雅黑" panose="020B0503020204020204" charset="-122"/>
                            <a:cs typeface="Cambria Math" panose="02040503050406030204" pitchFamily="18" charset="0"/>
                          </a:rPr>
                          <m:t>𝑥</m:t>
                        </m:r>
                      </m:e>
                      <m:sub>
                        <m:r>
                          <a:rPr lang="en-US" altLang="zh-CN" sz="2400" i="1" dirty="0">
                            <a:latin typeface="Cambria Math" panose="02040503050406030204" pitchFamily="18" charset="0"/>
                            <a:ea typeface="微软雅黑" panose="020B0503020204020204" charset="-122"/>
                            <a:cs typeface="Cambria Math" panose="02040503050406030204" pitchFamily="18" charset="0"/>
                          </a:rPr>
                          <m:t>𝑖</m:t>
                        </m:r>
                      </m:sub>
                    </m:sSub>
                  </m:oMath>
                </a14:m>
                <a:r>
                  <a:rPr lang="zh-CN" altLang="en-US" sz="2400" dirty="0">
                    <a:latin typeface="Times New Roman" panose="02020603050405020304" charset="0"/>
                    <a:ea typeface="微软雅黑" panose="020B0503020204020204" charset="-122"/>
                    <a:cs typeface="Times New Roman" panose="02020603050405020304" charset="0"/>
                  </a:rPr>
                  <a:t>与 因变量 </a:t>
                </a:r>
                <a:r>
                  <a:rPr lang="en-US" altLang="zh-CN" sz="2400" dirty="0">
                    <a:latin typeface="Times New Roman" panose="02020603050405020304" charset="0"/>
                    <a:ea typeface="微软雅黑" panose="020B0503020204020204" charset="-122"/>
                    <a:cs typeface="Times New Roman" panose="02020603050405020304" charset="0"/>
                  </a:rPr>
                  <a:t>y</a:t>
                </a:r>
                <a:r>
                  <a:rPr lang="zh-CN" altLang="en-US" sz="2400" dirty="0">
                    <a:latin typeface="Times New Roman" panose="02020603050405020304" charset="0"/>
                    <a:ea typeface="微软雅黑" panose="020B0503020204020204" charset="-122"/>
                    <a:cs typeface="Times New Roman" panose="02020603050405020304" charset="0"/>
                  </a:rPr>
                  <a:t>有线性关系</a:t>
                </a:r>
                <a:r>
                  <a:rPr lang="en-US" altLang="zh-CN" sz="2400" dirty="0">
                    <a:latin typeface="Times New Roman" panose="02020603050405020304" charset="0"/>
                    <a:ea typeface="微软雅黑" panose="020B0503020204020204" charset="-122"/>
                    <a:cs typeface="Times New Roman" panose="02020603050405020304" charset="0"/>
                  </a:rPr>
                  <a:t>) </a:t>
                </a:r>
              </a:p>
              <a:p>
                <a:pPr marL="536575" indent="-447675" algn="just">
                  <a:lnSpc>
                    <a:spcPct val="170000"/>
                  </a:lnSpc>
                  <a:buClr>
                    <a:srgbClr val="002060"/>
                  </a:buClr>
                  <a:buFont typeface="Wingdings" panose="05000000000000000000" pitchFamily="2" charset="2"/>
                  <a:buChar char="l"/>
                  <a:defRPr/>
                </a:pPr>
                <a:r>
                  <a:rPr lang="zh-CN" altLang="en-US" sz="2400" dirty="0">
                    <a:latin typeface="Times New Roman" panose="02020603050405020304" charset="0"/>
                    <a:ea typeface="微软雅黑" panose="020B0503020204020204" charset="-122"/>
                    <a:cs typeface="Times New Roman" panose="02020603050405020304" charset="0"/>
                  </a:rPr>
                  <a:t>计算检验的统计量</a:t>
                </a:r>
                <a:r>
                  <a:rPr lang="zh-CN" altLang="en-US" sz="2400" i="1" dirty="0">
                    <a:latin typeface="Times New Roman" panose="02020603050405020304" charset="0"/>
                    <a:ea typeface="微软雅黑" panose="020B0503020204020204" charset="-122"/>
                    <a:cs typeface="Times New Roman" panose="02020603050405020304" charset="0"/>
                  </a:rPr>
                  <a:t> </a:t>
                </a:r>
                <a:r>
                  <a:rPr lang="en-US" altLang="zh-CN" sz="2400" i="1" dirty="0">
                    <a:latin typeface="Times New Roman" panose="02020603050405020304" charset="0"/>
                    <a:ea typeface="微软雅黑" panose="020B0503020204020204" charset="-122"/>
                    <a:cs typeface="Times New Roman" panose="02020603050405020304" charset="0"/>
                  </a:rPr>
                  <a:t>t</a:t>
                </a:r>
                <a:r>
                  <a:rPr lang="zh-CN" altLang="en-US" sz="2400" dirty="0">
                    <a:latin typeface="Times New Roman" panose="02020603050405020304" charset="0"/>
                    <a:ea typeface="微软雅黑" panose="020B0503020204020204" charset="-122"/>
                    <a:cs typeface="Times New Roman" panose="02020603050405020304" charset="0"/>
                  </a:rPr>
                  <a:t>和</a:t>
                </a:r>
                <a:r>
                  <a:rPr lang="en-US" altLang="zh-CN" sz="2400" i="1" dirty="0">
                    <a:latin typeface="Times New Roman" panose="02020603050405020304" charset="0"/>
                    <a:ea typeface="微软雅黑" panose="020B0503020204020204" charset="-122"/>
                    <a:cs typeface="Times New Roman" panose="02020603050405020304" charset="0"/>
                  </a:rPr>
                  <a:t>P</a:t>
                </a:r>
                <a:r>
                  <a:rPr lang="en-US" altLang="zh-CN" sz="2400" dirty="0">
                    <a:latin typeface="Times New Roman" panose="02020603050405020304" charset="0"/>
                    <a:ea typeface="微软雅黑" panose="020B0503020204020204" charset="-122"/>
                    <a:cs typeface="Times New Roman" panose="02020603050405020304" charset="0"/>
                  </a:rPr>
                  <a:t> </a:t>
                </a:r>
                <a:r>
                  <a:rPr lang="zh-CN" altLang="en-US" sz="2400" dirty="0">
                    <a:latin typeface="Times New Roman" panose="02020603050405020304" charset="0"/>
                    <a:ea typeface="微软雅黑" panose="020B0503020204020204" charset="-122"/>
                    <a:cs typeface="Times New Roman" panose="02020603050405020304" charset="0"/>
                  </a:rPr>
                  <a:t>值，做出决策</a:t>
                </a:r>
                <a:endParaRPr lang="en-US" altLang="zh-CN" sz="2400" dirty="0">
                  <a:latin typeface="Times New Roman" panose="02020603050405020304" charset="0"/>
                  <a:ea typeface="微软雅黑" panose="020B0503020204020204" charset="-122"/>
                  <a:cs typeface="Times New Roman" panose="02020603050405020304" charset="0"/>
                </a:endParaRPr>
              </a:p>
            </p:txBody>
          </p:sp>
        </mc:Choice>
        <mc:Fallback xmlns="">
          <p:sp>
            <p:nvSpPr>
              <p:cNvPr id="4" name="Rectangle 3">
                <a:extLst>
                  <a:ext uri="{FF2B5EF4-FFF2-40B4-BE49-F238E27FC236}">
                    <a16:creationId xmlns:a16="http://schemas.microsoft.com/office/drawing/2014/main" id="{F5273D7B-ABE6-7206-BBC9-2C235D3A095D}"/>
                  </a:ext>
                </a:extLst>
              </p:cNvPr>
              <p:cNvSpPr txBox="1">
                <a:spLocks noRot="1" noChangeAspect="1" noMove="1" noResize="1" noEditPoints="1" noAdjustHandles="1" noChangeArrowheads="1" noChangeShapeType="1" noTextEdit="1"/>
              </p:cNvSpPr>
              <p:nvPr/>
            </p:nvSpPr>
            <p:spPr>
              <a:xfrm>
                <a:off x="431471" y="1802112"/>
                <a:ext cx="7767193" cy="4694921"/>
              </a:xfrm>
              <a:prstGeom prst="rect">
                <a:avLst/>
              </a:prstGeom>
              <a:blipFill>
                <a:blip r:embed="rId4"/>
                <a:stretch>
                  <a:fillRect l="-1176" r="-1332"/>
                </a:stretch>
              </a:blipFill>
              <a:ln>
                <a:solidFill>
                  <a:schemeClr val="accent1"/>
                </a:solidFill>
              </a:ln>
            </p:spPr>
            <p:txBody>
              <a:bodyPr/>
              <a:lstStyle/>
              <a:p>
                <a:r>
                  <a:rPr lang="zh-CN" altLang="en-US">
                    <a:noFill/>
                  </a:rPr>
                  <a:t> </a:t>
                </a:r>
              </a:p>
            </p:txBody>
          </p:sp>
        </mc:Fallback>
      </mc:AlternateContent>
    </p:spTree>
    <p:extLst>
      <p:ext uri="{BB962C8B-B14F-4D97-AF65-F5344CB8AC3E}">
        <p14:creationId xmlns:p14="http://schemas.microsoft.com/office/powerpoint/2010/main" val="39900389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9233" name="矩形 1"/>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12" name="Text Box 21"/>
          <p:cNvSpPr txBox="1">
            <a:spLocks noChangeArrowheads="1"/>
          </p:cNvSpPr>
          <p:nvPr/>
        </p:nvSpPr>
        <p:spPr bwMode="auto">
          <a:xfrm>
            <a:off x="92075" y="908678"/>
            <a:ext cx="74285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eaLnBrk="1" hangingPunct="1">
              <a:spcBef>
                <a:spcPct val="50000"/>
              </a:spcBef>
            </a:pPr>
            <a:r>
              <a:rPr kumimoji="1" lang="en-US" altLang="zh-CN" sz="3200" b="1" dirty="0">
                <a:solidFill>
                  <a:srgbClr val="FF0000"/>
                </a:solidFill>
                <a:latin typeface="微软雅黑" pitchFamily="34" charset="-122"/>
                <a:ea typeface="微软雅黑" pitchFamily="34" charset="-122"/>
              </a:rPr>
              <a:t>3. </a:t>
            </a:r>
            <a:r>
              <a:rPr kumimoji="1" lang="zh-CN" altLang="en-US" sz="3200" b="1" dirty="0">
                <a:solidFill>
                  <a:srgbClr val="FF0000"/>
                </a:solidFill>
                <a:latin typeface="微软雅黑" pitchFamily="34" charset="-122"/>
                <a:ea typeface="微软雅黑" pitchFamily="34" charset="-122"/>
              </a:rPr>
              <a:t>进一步拓展的统计预测方法</a:t>
            </a:r>
            <a:endParaRPr kumimoji="1" lang="en-US" altLang="zh-CN" sz="3200" b="1" dirty="0">
              <a:solidFill>
                <a:srgbClr val="FF0000"/>
              </a:solidFill>
              <a:latin typeface="微软雅黑" pitchFamily="34" charset="-122"/>
              <a:ea typeface="微软雅黑" pitchFamily="34" charset="-122"/>
            </a:endParaRPr>
          </a:p>
        </p:txBody>
      </p:sp>
      <p:sp>
        <p:nvSpPr>
          <p:cNvPr id="24"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19"/>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0" name="矩形 29"/>
          <p:cNvSpPr/>
          <p:nvPr/>
        </p:nvSpPr>
        <p:spPr>
          <a:xfrm>
            <a:off x="655833" y="1560807"/>
            <a:ext cx="3108543" cy="580865"/>
          </a:xfrm>
          <a:prstGeom prst="rect">
            <a:avLst/>
          </a:prstGeom>
        </p:spPr>
        <p:txBody>
          <a:bodyPr wrap="none">
            <a:spAutoFit/>
          </a:bodyPr>
          <a:lstStyle/>
          <a:p>
            <a:pPr marL="457200" indent="-457200">
              <a:lnSpc>
                <a:spcPct val="150000"/>
              </a:lnSpc>
              <a:buFont typeface="Wingdings" pitchFamily="2" charset="2"/>
              <a:buChar char="u"/>
            </a:pPr>
            <a:r>
              <a:rPr lang="zh-CN" altLang="en-US" sz="2400" b="1" dirty="0">
                <a:solidFill>
                  <a:srgbClr val="C00000"/>
                </a:solidFill>
                <a:latin typeface="Times New Roman" pitchFamily="18" charset="0"/>
                <a:ea typeface="微软雅黑" pitchFamily="34" charset="-122"/>
                <a:cs typeface="Times New Roman" pitchFamily="18" charset="0"/>
              </a:rPr>
              <a:t>非线性回归预测：</a:t>
            </a:r>
            <a:endParaRPr lang="en-US" altLang="zh-CN" sz="2400" b="1" dirty="0">
              <a:solidFill>
                <a:srgbClr val="C00000"/>
              </a:solidFill>
              <a:latin typeface="Times New Roman" pitchFamily="18" charset="0"/>
              <a:ea typeface="微软雅黑" pitchFamily="34" charset="-122"/>
              <a:cs typeface="Times New Roman" pitchFamily="18" charset="0"/>
            </a:endParaRPr>
          </a:p>
        </p:txBody>
      </p:sp>
      <p:graphicFrame>
        <p:nvGraphicFramePr>
          <p:cNvPr id="28" name="表格 27"/>
          <p:cNvGraphicFramePr>
            <a:graphicFrameLocks noGrp="1"/>
          </p:cNvGraphicFramePr>
          <p:nvPr>
            <p:extLst>
              <p:ext uri="{D42A27DB-BD31-4B8C-83A1-F6EECF244321}">
                <p14:modId xmlns:p14="http://schemas.microsoft.com/office/powerpoint/2010/main" val="3262019332"/>
              </p:ext>
            </p:extLst>
          </p:nvPr>
        </p:nvGraphicFramePr>
        <p:xfrm>
          <a:off x="4793381" y="1919645"/>
          <a:ext cx="3960504" cy="2221915"/>
        </p:xfrm>
        <a:graphic>
          <a:graphicData uri="http://schemas.openxmlformats.org/drawingml/2006/table">
            <a:tbl>
              <a:tblPr firstRow="1" bandRow="1">
                <a:tableStyleId>{93296810-A885-4BE3-A3E7-6D5BEEA58F35}</a:tableStyleId>
              </a:tblPr>
              <a:tblGrid>
                <a:gridCol w="660084">
                  <a:extLst>
                    <a:ext uri="{9D8B030D-6E8A-4147-A177-3AD203B41FA5}">
                      <a16:colId xmlns:a16="http://schemas.microsoft.com/office/drawing/2014/main" val="20000"/>
                    </a:ext>
                  </a:extLst>
                </a:gridCol>
                <a:gridCol w="660084">
                  <a:extLst>
                    <a:ext uri="{9D8B030D-6E8A-4147-A177-3AD203B41FA5}">
                      <a16:colId xmlns:a16="http://schemas.microsoft.com/office/drawing/2014/main" val="20001"/>
                    </a:ext>
                  </a:extLst>
                </a:gridCol>
                <a:gridCol w="660084">
                  <a:extLst>
                    <a:ext uri="{9D8B030D-6E8A-4147-A177-3AD203B41FA5}">
                      <a16:colId xmlns:a16="http://schemas.microsoft.com/office/drawing/2014/main" val="20002"/>
                    </a:ext>
                  </a:extLst>
                </a:gridCol>
                <a:gridCol w="660084">
                  <a:extLst>
                    <a:ext uri="{9D8B030D-6E8A-4147-A177-3AD203B41FA5}">
                      <a16:colId xmlns:a16="http://schemas.microsoft.com/office/drawing/2014/main" val="20003"/>
                    </a:ext>
                  </a:extLst>
                </a:gridCol>
                <a:gridCol w="660084">
                  <a:extLst>
                    <a:ext uri="{9D8B030D-6E8A-4147-A177-3AD203B41FA5}">
                      <a16:colId xmlns:a16="http://schemas.microsoft.com/office/drawing/2014/main" val="20004"/>
                    </a:ext>
                  </a:extLst>
                </a:gridCol>
                <a:gridCol w="660084">
                  <a:extLst>
                    <a:ext uri="{9D8B030D-6E8A-4147-A177-3AD203B41FA5}">
                      <a16:colId xmlns:a16="http://schemas.microsoft.com/office/drawing/2014/main" val="20005"/>
                    </a:ext>
                  </a:extLst>
                </a:gridCol>
              </a:tblGrid>
              <a:tr h="444383">
                <a:tc>
                  <a:txBody>
                    <a:bodyPr/>
                    <a:lstStyle/>
                    <a:p>
                      <a:pPr algn="ctr"/>
                      <a:r>
                        <a:rPr lang="en-US" altLang="zh-CN" dirty="0"/>
                        <a:t>x</a:t>
                      </a:r>
                      <a:endParaRPr lang="zh-CN" altLang="en-US" dirty="0"/>
                    </a:p>
                  </a:txBody>
                  <a:tcPr anchor="ctr"/>
                </a:tc>
                <a:tc>
                  <a:txBody>
                    <a:bodyPr/>
                    <a:lstStyle/>
                    <a:p>
                      <a:pPr algn="ctr"/>
                      <a:r>
                        <a:rPr lang="en-US" altLang="zh-CN" dirty="0"/>
                        <a:t>y</a:t>
                      </a:r>
                      <a:endParaRPr lang="zh-CN" altLang="en-US" dirty="0"/>
                    </a:p>
                  </a:txBody>
                  <a:tcPr anchor="ctr"/>
                </a:tc>
                <a:tc>
                  <a:txBody>
                    <a:bodyPr/>
                    <a:lstStyle/>
                    <a:p>
                      <a:pPr algn="ctr"/>
                      <a:r>
                        <a:rPr lang="en-US" altLang="zh-CN" dirty="0"/>
                        <a:t>x</a:t>
                      </a:r>
                      <a:endParaRPr lang="zh-CN" altLang="en-US" dirty="0"/>
                    </a:p>
                  </a:txBody>
                  <a:tcPr anchor="ctr"/>
                </a:tc>
                <a:tc>
                  <a:txBody>
                    <a:bodyPr/>
                    <a:lstStyle/>
                    <a:p>
                      <a:pPr algn="ctr"/>
                      <a:r>
                        <a:rPr lang="en-US" altLang="zh-CN" dirty="0"/>
                        <a:t>y</a:t>
                      </a:r>
                      <a:endParaRPr lang="zh-CN" altLang="en-US" dirty="0"/>
                    </a:p>
                  </a:txBody>
                  <a:tcPr anchor="ctr"/>
                </a:tc>
                <a:tc>
                  <a:txBody>
                    <a:bodyPr/>
                    <a:lstStyle/>
                    <a:p>
                      <a:pPr algn="ctr"/>
                      <a:r>
                        <a:rPr lang="en-US" altLang="zh-CN" dirty="0"/>
                        <a:t>x</a:t>
                      </a:r>
                      <a:endParaRPr lang="zh-CN" altLang="en-US" dirty="0"/>
                    </a:p>
                  </a:txBody>
                  <a:tcPr anchor="ctr"/>
                </a:tc>
                <a:tc>
                  <a:txBody>
                    <a:bodyPr/>
                    <a:lstStyle/>
                    <a:p>
                      <a:pPr algn="ctr"/>
                      <a:r>
                        <a:rPr lang="en-US" altLang="zh-CN" dirty="0"/>
                        <a:t>y</a:t>
                      </a:r>
                      <a:endParaRPr lang="zh-CN" altLang="en-US" dirty="0"/>
                    </a:p>
                  </a:txBody>
                  <a:tcPr anchor="ctr"/>
                </a:tc>
                <a:extLst>
                  <a:ext uri="{0D108BD9-81ED-4DB2-BD59-A6C34878D82A}">
                    <a16:rowId xmlns:a16="http://schemas.microsoft.com/office/drawing/2014/main" val="10000"/>
                  </a:ext>
                </a:extLst>
              </a:tr>
              <a:tr h="444383">
                <a:tc>
                  <a:txBody>
                    <a:bodyPr/>
                    <a:lstStyle/>
                    <a:p>
                      <a:r>
                        <a:rPr lang="en-US" altLang="zh-CN" dirty="0"/>
                        <a:t>0.05</a:t>
                      </a:r>
                      <a:endParaRPr lang="zh-CN" altLang="en-US" dirty="0"/>
                    </a:p>
                  </a:txBody>
                  <a:tcPr/>
                </a:tc>
                <a:tc>
                  <a:txBody>
                    <a:bodyPr/>
                    <a:lstStyle/>
                    <a:p>
                      <a:r>
                        <a:rPr lang="en-US" altLang="zh-CN" dirty="0"/>
                        <a:t>0.10</a:t>
                      </a:r>
                      <a:endParaRPr lang="zh-CN" altLang="en-US" dirty="0"/>
                    </a:p>
                  </a:txBody>
                  <a:tcPr/>
                </a:tc>
                <a:tc>
                  <a:txBody>
                    <a:bodyPr/>
                    <a:lstStyle/>
                    <a:p>
                      <a:r>
                        <a:rPr lang="en-US" altLang="zh-CN" dirty="0"/>
                        <a:t>0.14</a:t>
                      </a:r>
                      <a:endParaRPr lang="zh-CN" altLang="en-US" dirty="0"/>
                    </a:p>
                  </a:txBody>
                  <a:tcPr/>
                </a:tc>
                <a:tc>
                  <a:txBody>
                    <a:bodyPr/>
                    <a:lstStyle/>
                    <a:p>
                      <a:r>
                        <a:rPr lang="en-US" altLang="zh-CN" dirty="0"/>
                        <a:t>0.59</a:t>
                      </a:r>
                      <a:endParaRPr lang="zh-CN" altLang="en-US" dirty="0"/>
                    </a:p>
                  </a:txBody>
                  <a:tcPr/>
                </a:tc>
                <a:tc>
                  <a:txBody>
                    <a:bodyPr/>
                    <a:lstStyle/>
                    <a:p>
                      <a:r>
                        <a:rPr lang="en-US" altLang="zh-CN" dirty="0"/>
                        <a:t>0.38</a:t>
                      </a:r>
                      <a:endParaRPr lang="zh-CN" altLang="en-US" dirty="0"/>
                    </a:p>
                  </a:txBody>
                  <a:tcPr/>
                </a:tc>
                <a:tc>
                  <a:txBody>
                    <a:bodyPr/>
                    <a:lstStyle/>
                    <a:p>
                      <a:r>
                        <a:rPr lang="en-US" altLang="zh-CN" dirty="0"/>
                        <a:t>1.19</a:t>
                      </a:r>
                      <a:endParaRPr lang="zh-CN" altLang="en-US" dirty="0"/>
                    </a:p>
                  </a:txBody>
                  <a:tcPr/>
                </a:tc>
                <a:extLst>
                  <a:ext uri="{0D108BD9-81ED-4DB2-BD59-A6C34878D82A}">
                    <a16:rowId xmlns:a16="http://schemas.microsoft.com/office/drawing/2014/main" val="10001"/>
                  </a:ext>
                </a:extLst>
              </a:tr>
              <a:tr h="444383">
                <a:tc>
                  <a:txBody>
                    <a:bodyPr/>
                    <a:lstStyle/>
                    <a:p>
                      <a:r>
                        <a:rPr lang="en-US" altLang="zh-CN" dirty="0"/>
                        <a:t>0.06</a:t>
                      </a:r>
                      <a:endParaRPr lang="zh-CN" altLang="en-US" dirty="0"/>
                    </a:p>
                  </a:txBody>
                  <a:tcPr/>
                </a:tc>
                <a:tc>
                  <a:txBody>
                    <a:bodyPr/>
                    <a:lstStyle/>
                    <a:p>
                      <a:r>
                        <a:rPr lang="en-US" altLang="zh-CN" dirty="0"/>
                        <a:t>0.14</a:t>
                      </a:r>
                      <a:endParaRPr lang="zh-CN" altLang="en-US" dirty="0"/>
                    </a:p>
                  </a:txBody>
                  <a:tcPr/>
                </a:tc>
                <a:tc>
                  <a:txBody>
                    <a:bodyPr/>
                    <a:lstStyle/>
                    <a:p>
                      <a:r>
                        <a:rPr lang="en-US" altLang="zh-CN" dirty="0"/>
                        <a:t>0.20</a:t>
                      </a:r>
                      <a:endParaRPr lang="zh-CN" altLang="en-US" dirty="0"/>
                    </a:p>
                  </a:txBody>
                  <a:tcPr/>
                </a:tc>
                <a:tc>
                  <a:txBody>
                    <a:bodyPr/>
                    <a:lstStyle/>
                    <a:p>
                      <a:r>
                        <a:rPr lang="en-US" altLang="zh-CN" dirty="0"/>
                        <a:t>0.79</a:t>
                      </a:r>
                      <a:endParaRPr lang="zh-CN" altLang="en-US" dirty="0"/>
                    </a:p>
                  </a:txBody>
                  <a:tcPr/>
                </a:tc>
                <a:tc>
                  <a:txBody>
                    <a:bodyPr/>
                    <a:lstStyle/>
                    <a:p>
                      <a:r>
                        <a:rPr lang="en-US" altLang="zh-CN" dirty="0"/>
                        <a:t>0.43</a:t>
                      </a:r>
                      <a:endParaRPr lang="zh-CN" altLang="en-US" dirty="0"/>
                    </a:p>
                  </a:txBody>
                  <a:tcPr/>
                </a:tc>
                <a:tc>
                  <a:txBody>
                    <a:bodyPr/>
                    <a:lstStyle/>
                    <a:p>
                      <a:r>
                        <a:rPr lang="en-US" altLang="zh-CN" dirty="0"/>
                        <a:t>1.25</a:t>
                      </a:r>
                      <a:endParaRPr lang="zh-CN" altLang="en-US" dirty="0"/>
                    </a:p>
                  </a:txBody>
                  <a:tcPr/>
                </a:tc>
                <a:extLst>
                  <a:ext uri="{0D108BD9-81ED-4DB2-BD59-A6C34878D82A}">
                    <a16:rowId xmlns:a16="http://schemas.microsoft.com/office/drawing/2014/main" val="10002"/>
                  </a:ext>
                </a:extLst>
              </a:tr>
              <a:tr h="444383">
                <a:tc>
                  <a:txBody>
                    <a:bodyPr/>
                    <a:lstStyle/>
                    <a:p>
                      <a:r>
                        <a:rPr lang="en-US" altLang="zh-CN" dirty="0"/>
                        <a:t>0.07</a:t>
                      </a:r>
                      <a:endParaRPr lang="zh-CN" altLang="en-US" dirty="0"/>
                    </a:p>
                  </a:txBody>
                  <a:tcPr/>
                </a:tc>
                <a:tc>
                  <a:txBody>
                    <a:bodyPr/>
                    <a:lstStyle/>
                    <a:p>
                      <a:r>
                        <a:rPr lang="en-US" altLang="zh-CN" dirty="0"/>
                        <a:t>0.23</a:t>
                      </a:r>
                      <a:endParaRPr lang="zh-CN" altLang="en-US" dirty="0"/>
                    </a:p>
                  </a:txBody>
                  <a:tcPr/>
                </a:tc>
                <a:tc>
                  <a:txBody>
                    <a:bodyPr/>
                    <a:lstStyle/>
                    <a:p>
                      <a:r>
                        <a:rPr lang="en-US" altLang="zh-CN" dirty="0"/>
                        <a:t>0.25</a:t>
                      </a:r>
                      <a:endParaRPr lang="zh-CN" altLang="en-US" dirty="0"/>
                    </a:p>
                  </a:txBody>
                  <a:tcPr/>
                </a:tc>
                <a:tc>
                  <a:txBody>
                    <a:bodyPr/>
                    <a:lstStyle/>
                    <a:p>
                      <a:r>
                        <a:rPr lang="en-US" altLang="zh-CN" dirty="0"/>
                        <a:t>1.00</a:t>
                      </a:r>
                      <a:endParaRPr lang="zh-CN" altLang="en-US" dirty="0"/>
                    </a:p>
                  </a:txBody>
                  <a:tcPr/>
                </a:tc>
                <a:tc>
                  <a:txBody>
                    <a:bodyPr/>
                    <a:lstStyle/>
                    <a:p>
                      <a:r>
                        <a:rPr lang="en-US" altLang="zh-CN" dirty="0"/>
                        <a:t>0.47</a:t>
                      </a:r>
                      <a:endParaRPr lang="zh-CN" altLang="en-US" dirty="0"/>
                    </a:p>
                  </a:txBody>
                  <a:tcPr/>
                </a:tc>
                <a:tc>
                  <a:txBody>
                    <a:bodyPr/>
                    <a:lstStyle/>
                    <a:p>
                      <a:r>
                        <a:rPr lang="en-US" altLang="zh-CN" dirty="0"/>
                        <a:t>1.29</a:t>
                      </a:r>
                      <a:endParaRPr lang="zh-CN" altLang="en-US" dirty="0"/>
                    </a:p>
                  </a:txBody>
                  <a:tcPr/>
                </a:tc>
                <a:extLst>
                  <a:ext uri="{0D108BD9-81ED-4DB2-BD59-A6C34878D82A}">
                    <a16:rowId xmlns:a16="http://schemas.microsoft.com/office/drawing/2014/main" val="10003"/>
                  </a:ext>
                </a:extLst>
              </a:tr>
              <a:tr h="444383">
                <a:tc>
                  <a:txBody>
                    <a:bodyPr/>
                    <a:lstStyle/>
                    <a:p>
                      <a:r>
                        <a:rPr lang="en-US" altLang="zh-CN" dirty="0"/>
                        <a:t>0.10</a:t>
                      </a:r>
                      <a:endParaRPr lang="zh-CN" altLang="en-US" dirty="0"/>
                    </a:p>
                  </a:txBody>
                  <a:tcPr/>
                </a:tc>
                <a:tc>
                  <a:txBody>
                    <a:bodyPr/>
                    <a:lstStyle/>
                    <a:p>
                      <a:r>
                        <a:rPr lang="en-US" altLang="zh-CN" dirty="0"/>
                        <a:t>0.37</a:t>
                      </a:r>
                      <a:endParaRPr lang="zh-CN" altLang="en-US" dirty="0"/>
                    </a:p>
                  </a:txBody>
                  <a:tcPr/>
                </a:tc>
                <a:tc>
                  <a:txBody>
                    <a:bodyPr/>
                    <a:lstStyle/>
                    <a:p>
                      <a:r>
                        <a:rPr lang="en-US" altLang="zh-CN" dirty="0"/>
                        <a:t>0.31</a:t>
                      </a:r>
                      <a:endParaRPr lang="zh-CN" altLang="en-US" dirty="0"/>
                    </a:p>
                  </a:txBody>
                  <a:tcPr/>
                </a:tc>
                <a:tc>
                  <a:txBody>
                    <a:bodyPr/>
                    <a:lstStyle/>
                    <a:p>
                      <a:r>
                        <a:rPr lang="en-US" altLang="zh-CN" dirty="0"/>
                        <a:t>1.12</a:t>
                      </a:r>
                      <a:endParaRPr lang="zh-CN" altLang="en-US" dirty="0"/>
                    </a:p>
                  </a:txBody>
                  <a:tcPr/>
                </a:tc>
                <a:tc>
                  <a:txBody>
                    <a:bodyPr/>
                    <a:lstStyle/>
                    <a:p>
                      <a:r>
                        <a:rPr lang="en-US" altLang="zh-CN" dirty="0"/>
                        <a:t>0.50</a:t>
                      </a:r>
                      <a:endParaRPr lang="zh-CN" altLang="en-US" dirty="0"/>
                    </a:p>
                  </a:txBody>
                  <a:tcPr/>
                </a:tc>
                <a:tc>
                  <a:txBody>
                    <a:bodyPr/>
                    <a:lstStyle/>
                    <a:p>
                      <a:r>
                        <a:rPr lang="en-US" altLang="zh-CN" dirty="0"/>
                        <a:t>1.34</a:t>
                      </a:r>
                      <a:endParaRPr lang="zh-CN" altLang="en-US" dirty="0"/>
                    </a:p>
                  </a:txBody>
                  <a:tcPr/>
                </a:tc>
                <a:extLst>
                  <a:ext uri="{0D108BD9-81ED-4DB2-BD59-A6C34878D82A}">
                    <a16:rowId xmlns:a16="http://schemas.microsoft.com/office/drawing/2014/main" val="10004"/>
                  </a:ext>
                </a:extLst>
              </a:tr>
            </a:tbl>
          </a:graphicData>
        </a:graphic>
      </p:graphicFrame>
      <p:sp>
        <p:nvSpPr>
          <p:cNvPr id="29" name="TextBox 28"/>
          <p:cNvSpPr txBox="1"/>
          <p:nvPr/>
        </p:nvSpPr>
        <p:spPr>
          <a:xfrm>
            <a:off x="185447" y="2122662"/>
            <a:ext cx="4280643" cy="1815882"/>
          </a:xfrm>
          <a:prstGeom prst="rect">
            <a:avLst/>
          </a:prstGeom>
          <a:noFill/>
        </p:spPr>
        <p:txBody>
          <a:bodyPr wrap="square" rtlCol="0">
            <a:spAutoFit/>
          </a:bodyPr>
          <a:lstStyle/>
          <a:p>
            <a:r>
              <a:rPr lang="zh-CN" altLang="en-US" sz="2400" dirty="0">
                <a:solidFill>
                  <a:srgbClr val="003366"/>
                </a:solidFill>
                <a:latin typeface="Times New Roman" pitchFamily="18" charset="0"/>
                <a:ea typeface="微软雅黑" pitchFamily="34" charset="-122"/>
                <a:cs typeface="Times New Roman" pitchFamily="18" charset="0"/>
              </a:rPr>
              <a:t> </a:t>
            </a:r>
            <a:r>
              <a:rPr lang="zh-CN" altLang="en-US" sz="2400" b="1" dirty="0">
                <a:latin typeface="Times New Roman" pitchFamily="18" charset="0"/>
                <a:ea typeface="微软雅黑" pitchFamily="34" charset="-122"/>
                <a:cs typeface="Times New Roman" pitchFamily="18" charset="0"/>
              </a:rPr>
              <a:t>案例： </a:t>
            </a:r>
            <a:r>
              <a:rPr lang="zh-CN" altLang="en-US" sz="2200" dirty="0">
                <a:solidFill>
                  <a:srgbClr val="003366"/>
                </a:solidFill>
                <a:latin typeface="Times New Roman" pitchFamily="18" charset="0"/>
                <a:ea typeface="微软雅黑" pitchFamily="34" charset="-122"/>
                <a:cs typeface="Times New Roman" pitchFamily="18" charset="0"/>
              </a:rPr>
              <a:t>在彩色显影中，析出银的光学密度</a:t>
            </a:r>
            <a:r>
              <a:rPr lang="en-US" altLang="zh-CN" sz="2200" dirty="0">
                <a:solidFill>
                  <a:srgbClr val="C00000"/>
                </a:solidFill>
                <a:latin typeface="+mn-ea"/>
                <a:ea typeface="+mn-ea"/>
                <a:cs typeface="Times New Roman" pitchFamily="18" charset="0"/>
              </a:rPr>
              <a:t>(x) </a:t>
            </a:r>
            <a:r>
              <a:rPr lang="zh-CN" altLang="en-US" sz="2200" dirty="0">
                <a:solidFill>
                  <a:srgbClr val="003366"/>
                </a:solidFill>
                <a:latin typeface="Times New Roman" pitchFamily="18" charset="0"/>
                <a:ea typeface="微软雅黑" pitchFamily="34" charset="-122"/>
                <a:cs typeface="Times New Roman" pitchFamily="18" charset="0"/>
              </a:rPr>
              <a:t>与形成染料的光学密度 </a:t>
            </a:r>
            <a:r>
              <a:rPr lang="en-US" altLang="zh-CN" sz="2200" dirty="0">
                <a:solidFill>
                  <a:srgbClr val="C00000"/>
                </a:solidFill>
                <a:latin typeface="+mn-ea"/>
                <a:cs typeface="Times New Roman" pitchFamily="18" charset="0"/>
              </a:rPr>
              <a:t>(y)</a:t>
            </a:r>
            <a:r>
              <a:rPr lang="zh-CN" altLang="en-US" sz="2200" dirty="0">
                <a:solidFill>
                  <a:srgbClr val="003366"/>
                </a:solidFill>
                <a:latin typeface="Times New Roman" pitchFamily="18" charset="0"/>
                <a:ea typeface="微软雅黑" pitchFamily="34" charset="-122"/>
                <a:cs typeface="Times New Roman" pitchFamily="18" charset="0"/>
              </a:rPr>
              <a:t>试验数据如下。建立根据析出银密度进行染料光学密度的预测方程</a:t>
            </a:r>
            <a:r>
              <a:rPr lang="zh-CN" altLang="en-US" sz="2000" dirty="0">
                <a:solidFill>
                  <a:srgbClr val="003366"/>
                </a:solidFill>
                <a:latin typeface="Times New Roman" pitchFamily="18" charset="0"/>
                <a:ea typeface="微软雅黑" pitchFamily="34" charset="-122"/>
                <a:cs typeface="Times New Roman" pitchFamily="18" charset="0"/>
              </a:rPr>
              <a:t>。</a:t>
            </a:r>
          </a:p>
        </p:txBody>
      </p:sp>
      <p:pic>
        <p:nvPicPr>
          <p:cNvPr id="61468" name="Picture 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52" y="4151332"/>
            <a:ext cx="4677910" cy="2706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TextBox 30"/>
          <p:cNvSpPr txBox="1"/>
          <p:nvPr/>
        </p:nvSpPr>
        <p:spPr>
          <a:xfrm>
            <a:off x="4792003" y="4689161"/>
            <a:ext cx="4280572" cy="1138773"/>
          </a:xfrm>
          <a:prstGeom prst="rect">
            <a:avLst/>
          </a:prstGeom>
          <a:noFill/>
        </p:spPr>
        <p:txBody>
          <a:bodyPr wrap="square" rtlCol="0">
            <a:spAutoFit/>
          </a:bodyPr>
          <a:lstStyle/>
          <a:p>
            <a:r>
              <a:rPr lang="en-US" altLang="zh-CN" sz="2400" dirty="0">
                <a:solidFill>
                  <a:srgbClr val="FF0000"/>
                </a:solidFill>
              </a:rPr>
              <a:t>     Y=0.564*</a:t>
            </a:r>
            <a:r>
              <a:rPr lang="en-US" altLang="zh-CN" sz="2400" dirty="0" err="1">
                <a:solidFill>
                  <a:srgbClr val="FF0000"/>
                </a:solidFill>
              </a:rPr>
              <a:t>ln</a:t>
            </a:r>
            <a:r>
              <a:rPr lang="en-US" altLang="zh-CN" sz="2400" dirty="0">
                <a:solidFill>
                  <a:srgbClr val="FF0000"/>
                </a:solidFill>
              </a:rPr>
              <a:t> x+1.7318</a:t>
            </a:r>
          </a:p>
          <a:p>
            <a:r>
              <a:rPr lang="zh-CN" altLang="en-US" sz="2200" b="1" dirty="0">
                <a:solidFill>
                  <a:srgbClr val="003366"/>
                </a:solidFill>
                <a:latin typeface="Times New Roman" pitchFamily="18" charset="0"/>
                <a:ea typeface="微软雅黑" pitchFamily="34" charset="-122"/>
                <a:cs typeface="Times New Roman" pitchFamily="18" charset="0"/>
              </a:rPr>
              <a:t>析出银的光学密度为</a:t>
            </a:r>
            <a:r>
              <a:rPr lang="en-US" altLang="zh-CN" sz="2200" b="1" dirty="0">
                <a:solidFill>
                  <a:srgbClr val="003366"/>
                </a:solidFill>
                <a:latin typeface="Times New Roman" pitchFamily="18" charset="0"/>
                <a:ea typeface="微软雅黑" pitchFamily="34" charset="-122"/>
                <a:cs typeface="Times New Roman" pitchFamily="18" charset="0"/>
              </a:rPr>
              <a:t>0.45</a:t>
            </a:r>
            <a:r>
              <a:rPr lang="zh-CN" altLang="en-US" sz="2200" b="1" dirty="0">
                <a:solidFill>
                  <a:srgbClr val="003366"/>
                </a:solidFill>
                <a:latin typeface="Times New Roman" pitchFamily="18" charset="0"/>
                <a:ea typeface="微软雅黑" pitchFamily="34" charset="-122"/>
                <a:cs typeface="Times New Roman" pitchFamily="18" charset="0"/>
              </a:rPr>
              <a:t>时，可以估计染料的光学密度为</a:t>
            </a:r>
            <a:r>
              <a:rPr lang="en-US" altLang="zh-CN" sz="2200" b="1" dirty="0">
                <a:solidFill>
                  <a:srgbClr val="003366"/>
                </a:solidFill>
                <a:latin typeface="Times New Roman" pitchFamily="18" charset="0"/>
                <a:ea typeface="微软雅黑" pitchFamily="34" charset="-122"/>
                <a:cs typeface="Times New Roman" pitchFamily="18" charset="0"/>
              </a:rPr>
              <a:t>1.28</a:t>
            </a:r>
            <a:r>
              <a:rPr lang="en-US" altLang="zh-CN" sz="2200" dirty="0">
                <a:solidFill>
                  <a:srgbClr val="003366"/>
                </a:solidFill>
                <a:latin typeface="Times New Roman" pitchFamily="18" charset="0"/>
                <a:ea typeface="微软雅黑" pitchFamily="34" charset="-122"/>
                <a:cs typeface="Times New Roman" pitchFamily="18" charset="0"/>
              </a:rPr>
              <a:t>.</a:t>
            </a:r>
            <a:endParaRPr lang="zh-CN" altLang="en-US" sz="2200" dirty="0">
              <a:solidFill>
                <a:srgbClr val="003366"/>
              </a:solidFill>
              <a:latin typeface="Times New Roman" pitchFamily="18" charset="0"/>
              <a:ea typeface="微软雅黑" pitchFamily="34" charset="-122"/>
              <a:cs typeface="Times New Roman" pitchFamily="18" charset="0"/>
            </a:endParaRPr>
          </a:p>
        </p:txBody>
      </p:sp>
    </p:spTree>
    <p:extLst>
      <p:ext uri="{BB962C8B-B14F-4D97-AF65-F5344CB8AC3E}">
        <p14:creationId xmlns:p14="http://schemas.microsoft.com/office/powerpoint/2010/main" val="1340880131"/>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9233" name="矩形 1"/>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24"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19"/>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0" name="矩形 29"/>
          <p:cNvSpPr/>
          <p:nvPr/>
        </p:nvSpPr>
        <p:spPr>
          <a:xfrm>
            <a:off x="655833" y="1560807"/>
            <a:ext cx="4031873" cy="646331"/>
          </a:xfrm>
          <a:prstGeom prst="rect">
            <a:avLst/>
          </a:prstGeom>
        </p:spPr>
        <p:txBody>
          <a:bodyPr wrap="none">
            <a:spAutoFit/>
          </a:bodyPr>
          <a:lstStyle/>
          <a:p>
            <a:pPr marL="457200" indent="-457200">
              <a:lnSpc>
                <a:spcPct val="150000"/>
              </a:lnSpc>
              <a:buFont typeface="Wingdings" pitchFamily="2" charset="2"/>
              <a:buChar char="u"/>
            </a:pPr>
            <a:r>
              <a:rPr lang="zh-CN" altLang="en-US" sz="2400" b="1" dirty="0">
                <a:solidFill>
                  <a:srgbClr val="C00000"/>
                </a:solidFill>
                <a:latin typeface="Times New Roman" pitchFamily="18" charset="0"/>
                <a:ea typeface="微软雅黑" pitchFamily="34" charset="-122"/>
                <a:cs typeface="Times New Roman" pitchFamily="18" charset="0"/>
              </a:rPr>
              <a:t>其它的非线性回归预测：</a:t>
            </a:r>
            <a:endParaRPr lang="en-US" altLang="zh-CN" sz="2400" b="1" dirty="0">
              <a:solidFill>
                <a:srgbClr val="C00000"/>
              </a:solidFill>
              <a:latin typeface="Times New Roman" pitchFamily="18" charset="0"/>
              <a:ea typeface="微软雅黑" pitchFamily="34" charset="-122"/>
              <a:cs typeface="Times New Roman" pitchFamily="18" charset="0"/>
            </a:endParaRPr>
          </a:p>
        </p:txBody>
      </p:sp>
      <p:sp>
        <p:nvSpPr>
          <p:cNvPr id="3" name="TextBox 2"/>
          <p:cNvSpPr txBox="1"/>
          <p:nvPr/>
        </p:nvSpPr>
        <p:spPr>
          <a:xfrm>
            <a:off x="511860" y="2528884"/>
            <a:ext cx="3576620" cy="3139321"/>
          </a:xfrm>
          <a:prstGeom prst="rect">
            <a:avLst/>
          </a:prstGeom>
          <a:noFill/>
        </p:spPr>
        <p:txBody>
          <a:bodyPr wrap="none" rtlCol="0">
            <a:spAutoFit/>
          </a:bodyPr>
          <a:lstStyle/>
          <a:p>
            <a:pPr marL="285750" indent="-285750">
              <a:buFont typeface="Wingdings" pitchFamily="2" charset="2"/>
              <a:buChar char="Ø"/>
            </a:pPr>
            <a:r>
              <a:rPr lang="zh-CN" altLang="en-US" sz="2200" dirty="0">
                <a:solidFill>
                  <a:srgbClr val="003366"/>
                </a:solidFill>
                <a:latin typeface="Times New Roman" pitchFamily="18" charset="0"/>
                <a:ea typeface="微软雅黑" pitchFamily="34" charset="-122"/>
                <a:cs typeface="Times New Roman" pitchFamily="18" charset="0"/>
              </a:rPr>
              <a:t>双曲线回归预测模型：</a:t>
            </a:r>
            <a:endParaRPr lang="en-US" altLang="zh-CN" sz="2200" dirty="0">
              <a:solidFill>
                <a:srgbClr val="003366"/>
              </a:solidFill>
              <a:latin typeface="Times New Roman" pitchFamily="18" charset="0"/>
              <a:ea typeface="微软雅黑" pitchFamily="34" charset="-122"/>
              <a:cs typeface="Times New Roman" pitchFamily="18" charset="0"/>
            </a:endParaRPr>
          </a:p>
          <a:p>
            <a:pPr marL="285750" indent="-285750">
              <a:buFont typeface="Wingdings" pitchFamily="2" charset="2"/>
              <a:buChar char="Ø"/>
            </a:pPr>
            <a:endParaRPr lang="en-US" altLang="zh-CN" sz="2200" dirty="0">
              <a:solidFill>
                <a:srgbClr val="003366"/>
              </a:solidFill>
              <a:latin typeface="Times New Roman" pitchFamily="18" charset="0"/>
              <a:ea typeface="微软雅黑" pitchFamily="34" charset="-122"/>
              <a:cs typeface="Times New Roman" pitchFamily="18" charset="0"/>
            </a:endParaRPr>
          </a:p>
          <a:p>
            <a:pPr marL="285750" indent="-285750">
              <a:buFont typeface="Wingdings" pitchFamily="2" charset="2"/>
              <a:buChar char="Ø"/>
            </a:pPr>
            <a:r>
              <a:rPr lang="zh-CN" altLang="en-US" sz="2200" dirty="0">
                <a:solidFill>
                  <a:srgbClr val="003366"/>
                </a:solidFill>
                <a:latin typeface="Times New Roman" pitchFamily="18" charset="0"/>
                <a:ea typeface="微软雅黑" pitchFamily="34" charset="-122"/>
                <a:cs typeface="Times New Roman" pitchFamily="18" charset="0"/>
              </a:rPr>
              <a:t>多项式回归预测模型：</a:t>
            </a:r>
            <a:endParaRPr lang="en-US" altLang="zh-CN" sz="2200" dirty="0">
              <a:solidFill>
                <a:srgbClr val="003366"/>
              </a:solidFill>
              <a:latin typeface="Times New Roman" pitchFamily="18" charset="0"/>
              <a:ea typeface="微软雅黑" pitchFamily="34" charset="-122"/>
              <a:cs typeface="Times New Roman" pitchFamily="18" charset="0"/>
            </a:endParaRPr>
          </a:p>
          <a:p>
            <a:pPr marL="285750" indent="-285750">
              <a:buFont typeface="Wingdings" pitchFamily="2" charset="2"/>
              <a:buChar char="Ø"/>
            </a:pPr>
            <a:endParaRPr lang="en-US" altLang="zh-CN" sz="2200" dirty="0">
              <a:solidFill>
                <a:srgbClr val="003366"/>
              </a:solidFill>
              <a:latin typeface="Times New Roman" pitchFamily="18" charset="0"/>
              <a:ea typeface="微软雅黑" pitchFamily="34" charset="-122"/>
              <a:cs typeface="Times New Roman" pitchFamily="18" charset="0"/>
            </a:endParaRPr>
          </a:p>
          <a:p>
            <a:pPr marL="285750" indent="-285750">
              <a:buFont typeface="Wingdings" pitchFamily="2" charset="2"/>
              <a:buChar char="Ø"/>
            </a:pPr>
            <a:r>
              <a:rPr lang="zh-CN" altLang="en-US" sz="2200" dirty="0">
                <a:solidFill>
                  <a:srgbClr val="003366"/>
                </a:solidFill>
                <a:latin typeface="Times New Roman" pitchFamily="18" charset="0"/>
                <a:ea typeface="微软雅黑" pitchFamily="34" charset="-122"/>
                <a:cs typeface="Times New Roman" pitchFamily="18" charset="0"/>
              </a:rPr>
              <a:t>三角函数回归预测模型：</a:t>
            </a:r>
            <a:endParaRPr lang="en-US" altLang="zh-CN" sz="2200" dirty="0">
              <a:solidFill>
                <a:srgbClr val="003366"/>
              </a:solidFill>
              <a:latin typeface="Times New Roman" pitchFamily="18" charset="0"/>
              <a:ea typeface="微软雅黑" pitchFamily="34" charset="-122"/>
              <a:cs typeface="Times New Roman" pitchFamily="18" charset="0"/>
            </a:endParaRPr>
          </a:p>
          <a:p>
            <a:pPr marL="285750" indent="-285750">
              <a:buFont typeface="Wingdings" pitchFamily="2" charset="2"/>
              <a:buChar char="Ø"/>
            </a:pPr>
            <a:endParaRPr lang="en-US" altLang="zh-CN" sz="2200" dirty="0">
              <a:solidFill>
                <a:srgbClr val="003366"/>
              </a:solidFill>
              <a:latin typeface="Times New Roman" pitchFamily="18" charset="0"/>
              <a:ea typeface="微软雅黑" pitchFamily="34" charset="-122"/>
              <a:cs typeface="Times New Roman" pitchFamily="18" charset="0"/>
            </a:endParaRPr>
          </a:p>
          <a:p>
            <a:pPr marL="285750" indent="-285750">
              <a:buFont typeface="Wingdings" pitchFamily="2" charset="2"/>
              <a:buChar char="Ø"/>
            </a:pPr>
            <a:r>
              <a:rPr lang="zh-CN" altLang="en-US" sz="2200" dirty="0">
                <a:solidFill>
                  <a:srgbClr val="003366"/>
                </a:solidFill>
                <a:latin typeface="Times New Roman" pitchFamily="18" charset="0"/>
                <a:ea typeface="微软雅黑" pitchFamily="34" charset="-122"/>
                <a:cs typeface="Times New Roman" pitchFamily="18" charset="0"/>
              </a:rPr>
              <a:t>指数回归预测模型：</a:t>
            </a:r>
            <a:endParaRPr lang="en-US" altLang="zh-CN" sz="2200" dirty="0">
              <a:solidFill>
                <a:srgbClr val="003366"/>
              </a:solidFill>
              <a:latin typeface="Times New Roman" pitchFamily="18" charset="0"/>
              <a:ea typeface="微软雅黑" pitchFamily="34" charset="-122"/>
              <a:cs typeface="Times New Roman" pitchFamily="18" charset="0"/>
            </a:endParaRPr>
          </a:p>
          <a:p>
            <a:pPr marL="285750" indent="-285750">
              <a:buFont typeface="Wingdings" pitchFamily="2" charset="2"/>
              <a:buChar char="Ø"/>
            </a:pPr>
            <a:endParaRPr lang="en-US" altLang="zh-CN" sz="2200" dirty="0">
              <a:solidFill>
                <a:srgbClr val="003366"/>
              </a:solidFill>
              <a:latin typeface="Times New Roman" pitchFamily="18" charset="0"/>
              <a:ea typeface="微软雅黑" pitchFamily="34" charset="-122"/>
              <a:cs typeface="Times New Roman" pitchFamily="18" charset="0"/>
            </a:endParaRPr>
          </a:p>
          <a:p>
            <a:pPr marL="285750" indent="-285750">
              <a:buFont typeface="Wingdings" pitchFamily="2" charset="2"/>
              <a:buChar char="Ø"/>
            </a:pPr>
            <a:r>
              <a:rPr lang="zh-CN" altLang="en-US" sz="2200" dirty="0">
                <a:solidFill>
                  <a:srgbClr val="003366"/>
                </a:solidFill>
                <a:latin typeface="Times New Roman" pitchFamily="18" charset="0"/>
                <a:ea typeface="微软雅黑" pitchFamily="34" charset="-122"/>
                <a:cs typeface="Times New Roman" pitchFamily="18" charset="0"/>
              </a:rPr>
              <a:t>幂函数回归预测模型：</a:t>
            </a:r>
          </a:p>
        </p:txBody>
      </p:sp>
      <mc:AlternateContent xmlns:mc="http://schemas.openxmlformats.org/markup-compatibility/2006" xmlns:a14="http://schemas.microsoft.com/office/drawing/2010/main">
        <mc:Choice Requires="a14">
          <p:sp>
            <p:nvSpPr>
              <p:cNvPr id="4" name="矩形 3"/>
              <p:cNvSpPr/>
              <p:nvPr/>
            </p:nvSpPr>
            <p:spPr>
              <a:xfrm>
                <a:off x="3836213" y="2348862"/>
                <a:ext cx="2536017" cy="65934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a:rPr>
                            <m:t>𝑦</m:t>
                          </m:r>
                        </m:e>
                        <m:sub>
                          <m:r>
                            <a:rPr lang="zh-CN" altLang="en-US" i="1">
                              <a:latin typeface="Cambria Math"/>
                            </a:rPr>
                            <m:t>𝑖</m:t>
                          </m:r>
                        </m:sub>
                      </m:sSub>
                      <m:r>
                        <a:rPr lang="zh-CN" altLang="en-US">
                          <a:latin typeface="Cambria Math"/>
                        </a:rPr>
                        <m:t>=</m:t>
                      </m:r>
                      <m:sSub>
                        <m:sSubPr>
                          <m:ctrlPr>
                            <a:rPr lang="zh-CN" altLang="en-US" i="1">
                              <a:latin typeface="Cambria Math" panose="02040503050406030204" pitchFamily="18" charset="0"/>
                            </a:rPr>
                          </m:ctrlPr>
                        </m:sSubPr>
                        <m:e>
                          <m:r>
                            <a:rPr lang="zh-CN" altLang="en-US" i="1">
                              <a:latin typeface="Cambria Math"/>
                            </a:rPr>
                            <m:t>𝛽</m:t>
                          </m:r>
                        </m:e>
                        <m:sub>
                          <m:r>
                            <a:rPr lang="zh-CN" altLang="en-US">
                              <a:latin typeface="Cambria Math"/>
                            </a:rPr>
                            <m:t>0</m:t>
                          </m:r>
                        </m:sub>
                      </m:sSub>
                      <m:r>
                        <a:rPr lang="zh-CN" altLang="en-US">
                          <a:latin typeface="Cambria Math"/>
                        </a:rPr>
                        <m:t>+</m:t>
                      </m:r>
                      <m:sSub>
                        <m:sSubPr>
                          <m:ctrlPr>
                            <a:rPr lang="zh-CN" altLang="en-US" i="1">
                              <a:latin typeface="Cambria Math" panose="02040503050406030204" pitchFamily="18" charset="0"/>
                            </a:rPr>
                          </m:ctrlPr>
                        </m:sSubPr>
                        <m:e>
                          <m:r>
                            <a:rPr lang="zh-CN" altLang="en-US" i="1">
                              <a:latin typeface="Cambria Math"/>
                            </a:rPr>
                            <m:t>𝛽</m:t>
                          </m:r>
                        </m:e>
                        <m:sub>
                          <m:r>
                            <a:rPr lang="zh-CN" altLang="en-US">
                              <a:latin typeface="Cambria Math"/>
                            </a:rPr>
                            <m:t>1</m:t>
                          </m:r>
                        </m:sub>
                      </m:sSub>
                      <m:f>
                        <m:fPr>
                          <m:ctrlPr>
                            <a:rPr lang="zh-CN" altLang="en-US" i="1">
                              <a:latin typeface="Cambria Math" panose="02040503050406030204" pitchFamily="18" charset="0"/>
                            </a:rPr>
                          </m:ctrlPr>
                        </m:fPr>
                        <m:num>
                          <m:r>
                            <a:rPr lang="zh-CN" altLang="en-US">
                              <a:latin typeface="Cambria Math"/>
                            </a:rPr>
                            <m:t>1</m:t>
                          </m:r>
                        </m:num>
                        <m:den>
                          <m:sSub>
                            <m:sSubPr>
                              <m:ctrlPr>
                                <a:rPr lang="zh-CN" altLang="en-US" i="1">
                                  <a:latin typeface="Cambria Math" panose="02040503050406030204" pitchFamily="18" charset="0"/>
                                </a:rPr>
                              </m:ctrlPr>
                            </m:sSubPr>
                            <m:e>
                              <m:r>
                                <a:rPr lang="zh-CN" altLang="en-US" i="1">
                                  <a:latin typeface="Cambria Math"/>
                                </a:rPr>
                                <m:t>𝑥</m:t>
                              </m:r>
                            </m:e>
                            <m:sub>
                              <m:r>
                                <a:rPr lang="zh-CN" altLang="en-US" i="1">
                                  <a:latin typeface="Cambria Math"/>
                                </a:rPr>
                                <m:t>𝑖</m:t>
                              </m:r>
                            </m:sub>
                          </m:sSub>
                        </m:den>
                      </m:f>
                      <m:r>
                        <a:rPr lang="zh-CN" altLang="en-US">
                          <a:latin typeface="Cambria Math"/>
                        </a:rPr>
                        <m:t>+</m:t>
                      </m:r>
                      <m:sSub>
                        <m:sSubPr>
                          <m:ctrlPr>
                            <a:rPr lang="zh-CN" altLang="en-US" i="1">
                              <a:latin typeface="Cambria Math" panose="02040503050406030204" pitchFamily="18" charset="0"/>
                            </a:rPr>
                          </m:ctrlPr>
                        </m:sSubPr>
                        <m:e>
                          <m:r>
                            <a:rPr lang="zh-CN" altLang="en-US" i="1" smtClean="0">
                              <a:latin typeface="Cambria Math"/>
                            </a:rPr>
                            <m:t>𝜀</m:t>
                          </m:r>
                        </m:e>
                        <m:sub>
                          <m:r>
                            <a:rPr lang="zh-CN" altLang="en-US" i="1">
                              <a:latin typeface="Cambria Math"/>
                            </a:rPr>
                            <m:t>𝑖</m:t>
                          </m:r>
                        </m:sub>
                      </m:sSub>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3836213" y="2348862"/>
                <a:ext cx="2536017" cy="659348"/>
              </a:xfrm>
              <a:prstGeom prst="rect">
                <a:avLst/>
              </a:prstGeom>
              <a:blipFill rotWithShape="1">
                <a:blip r:embed="rId3"/>
                <a:stretch>
                  <a:fillRect/>
                </a:stretch>
              </a:blipFill>
            </p:spPr>
            <p:txBody>
              <a:bodyPr/>
              <a:lstStyle/>
              <a:p>
                <a:r>
                  <a:rPr lang="zh-CN" altLang="en-US">
                    <a:noFill/>
                  </a:rPr>
                  <a:t> </a:t>
                </a:r>
              </a:p>
            </p:txBody>
          </p:sp>
        </mc:Fallback>
      </mc:AlternateContent>
      <p:sp>
        <p:nvSpPr>
          <p:cNvPr id="5" name="Rectangle 1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2232981856"/>
              </p:ext>
            </p:extLst>
          </p:nvPr>
        </p:nvGraphicFramePr>
        <p:xfrm>
          <a:off x="4031931" y="3108961"/>
          <a:ext cx="4703762" cy="500062"/>
        </p:xfrm>
        <a:graphic>
          <a:graphicData uri="http://schemas.openxmlformats.org/presentationml/2006/ole">
            <mc:AlternateContent xmlns:mc="http://schemas.openxmlformats.org/markup-compatibility/2006">
              <mc:Choice xmlns:v="urn:schemas-microsoft-com:vml" Requires="v">
                <p:oleObj spid="_x0000_s1026" name="Equation" r:id="rId4" imgW="2209680" imgH="241200" progId="Equation.DSMT4">
                  <p:embed/>
                </p:oleObj>
              </mc:Choice>
              <mc:Fallback>
                <p:oleObj name="Equation" r:id="rId4" imgW="2209680" imgH="241200" progId="Equation.DSMT4">
                  <p:embed/>
                  <p:pic>
                    <p:nvPicPr>
                      <p:cNvPr id="0" name="Object 12"/>
                      <p:cNvPicPr>
                        <a:picLocks noChangeAspect="1" noChangeArrowheads="1"/>
                      </p:cNvPicPr>
                      <p:nvPr/>
                    </p:nvPicPr>
                    <p:blipFill>
                      <a:blip r:embed="rId5"/>
                      <a:srcRect/>
                      <a:stretch>
                        <a:fillRect/>
                      </a:stretch>
                    </p:blipFill>
                    <p:spPr bwMode="auto">
                      <a:xfrm>
                        <a:off x="4031931" y="3108961"/>
                        <a:ext cx="4703762" cy="500062"/>
                      </a:xfrm>
                      <a:prstGeom prst="rect">
                        <a:avLst/>
                      </a:prstGeom>
                      <a:noFill/>
                    </p:spPr>
                  </p:pic>
                </p:oleObj>
              </mc:Fallback>
            </mc:AlternateContent>
          </a:graphicData>
        </a:graphic>
      </p:graphicFrame>
      <p:sp>
        <p:nvSpPr>
          <p:cNvPr id="8"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1094750302"/>
              </p:ext>
            </p:extLst>
          </p:nvPr>
        </p:nvGraphicFramePr>
        <p:xfrm>
          <a:off x="4024313" y="3789046"/>
          <a:ext cx="2418968" cy="420690"/>
        </p:xfrm>
        <a:graphic>
          <a:graphicData uri="http://schemas.openxmlformats.org/presentationml/2006/ole">
            <mc:AlternateContent xmlns:mc="http://schemas.openxmlformats.org/markup-compatibility/2006">
              <mc:Choice xmlns:v="urn:schemas-microsoft-com:vml" Requires="v">
                <p:oleObj spid="_x0000_s1027" name="Equation" r:id="rId6" imgW="1320480" imgH="228600" progId="Equation.DSMT4">
                  <p:embed/>
                </p:oleObj>
              </mc:Choice>
              <mc:Fallback>
                <p:oleObj name="Equation" r:id="rId6" imgW="1320480" imgH="228600" progId="Equation.DSMT4">
                  <p:embed/>
                  <p:pic>
                    <p:nvPicPr>
                      <p:cNvPr id="0" name="Object 14"/>
                      <p:cNvPicPr>
                        <a:picLocks noChangeAspect="1" noChangeArrowheads="1"/>
                      </p:cNvPicPr>
                      <p:nvPr/>
                    </p:nvPicPr>
                    <p:blipFill>
                      <a:blip r:embed="rId7"/>
                      <a:srcRect/>
                      <a:stretch>
                        <a:fillRect/>
                      </a:stretch>
                    </p:blipFill>
                    <p:spPr bwMode="auto">
                      <a:xfrm>
                        <a:off x="4024313" y="3789046"/>
                        <a:ext cx="2418968" cy="420690"/>
                      </a:xfrm>
                      <a:prstGeom prst="rect">
                        <a:avLst/>
                      </a:prstGeom>
                      <a:noFill/>
                    </p:spPr>
                  </p:pic>
                </p:oleObj>
              </mc:Fallback>
            </mc:AlternateContent>
          </a:graphicData>
        </a:graphic>
      </p:graphicFrame>
      <p:sp>
        <p:nvSpPr>
          <p:cNvPr id="10"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extLst>
              <p:ext uri="{D42A27DB-BD31-4B8C-83A1-F6EECF244321}">
                <p14:modId xmlns:p14="http://schemas.microsoft.com/office/powerpoint/2010/main" val="2000567912"/>
              </p:ext>
            </p:extLst>
          </p:nvPr>
        </p:nvGraphicFramePr>
        <p:xfrm>
          <a:off x="4053362" y="5180177"/>
          <a:ext cx="1342076" cy="488028"/>
        </p:xfrm>
        <a:graphic>
          <a:graphicData uri="http://schemas.openxmlformats.org/presentationml/2006/ole">
            <mc:AlternateContent xmlns:mc="http://schemas.openxmlformats.org/markup-compatibility/2006">
              <mc:Choice xmlns:v="urn:schemas-microsoft-com:vml" Requires="v">
                <p:oleObj spid="_x0000_s1028" name="Equation" r:id="rId8" imgW="647640" imgH="241200" progId="Equation.DSMT4">
                  <p:embed/>
                </p:oleObj>
              </mc:Choice>
              <mc:Fallback>
                <p:oleObj name="Equation" r:id="rId8" imgW="647640" imgH="241200" progId="Equation.DSMT4">
                  <p:embed/>
                  <p:pic>
                    <p:nvPicPr>
                      <p:cNvPr id="0" name="Object 16"/>
                      <p:cNvPicPr>
                        <a:picLocks noChangeAspect="1" noChangeArrowheads="1"/>
                      </p:cNvPicPr>
                      <p:nvPr/>
                    </p:nvPicPr>
                    <p:blipFill>
                      <a:blip r:embed="rId9"/>
                      <a:srcRect/>
                      <a:stretch>
                        <a:fillRect/>
                      </a:stretch>
                    </p:blipFill>
                    <p:spPr bwMode="auto">
                      <a:xfrm>
                        <a:off x="4053362" y="5180177"/>
                        <a:ext cx="1342076" cy="488028"/>
                      </a:xfrm>
                      <a:prstGeom prst="rect">
                        <a:avLst/>
                      </a:prstGeom>
                      <a:noFill/>
                    </p:spPr>
                  </p:pic>
                </p:oleObj>
              </mc:Fallback>
            </mc:AlternateContent>
          </a:graphicData>
        </a:graphic>
      </p:graphicFrame>
      <p:sp>
        <p:nvSpPr>
          <p:cNvPr id="13" name="Rectangle 1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extLst>
              <p:ext uri="{D42A27DB-BD31-4B8C-83A1-F6EECF244321}">
                <p14:modId xmlns:p14="http://schemas.microsoft.com/office/powerpoint/2010/main" val="2635269669"/>
              </p:ext>
            </p:extLst>
          </p:nvPr>
        </p:nvGraphicFramePr>
        <p:xfrm>
          <a:off x="4057650" y="4508500"/>
          <a:ext cx="1234442" cy="457549"/>
        </p:xfrm>
        <a:graphic>
          <a:graphicData uri="http://schemas.openxmlformats.org/presentationml/2006/ole">
            <mc:AlternateContent xmlns:mc="http://schemas.openxmlformats.org/markup-compatibility/2006">
              <mc:Choice xmlns:v="urn:schemas-microsoft-com:vml" Requires="v">
                <p:oleObj spid="_x0000_s1029" name="Equation" r:id="rId10" imgW="685800" imgH="241200" progId="Equation.DSMT4">
                  <p:embed/>
                </p:oleObj>
              </mc:Choice>
              <mc:Fallback>
                <p:oleObj name="Equation" r:id="rId10" imgW="685800" imgH="241200" progId="Equation.DSMT4">
                  <p:embed/>
                  <p:pic>
                    <p:nvPicPr>
                      <p:cNvPr id="0" name="Object 18"/>
                      <p:cNvPicPr>
                        <a:picLocks noChangeAspect="1" noChangeArrowheads="1"/>
                      </p:cNvPicPr>
                      <p:nvPr/>
                    </p:nvPicPr>
                    <p:blipFill>
                      <a:blip r:embed="rId11"/>
                      <a:srcRect/>
                      <a:stretch>
                        <a:fillRect/>
                      </a:stretch>
                    </p:blipFill>
                    <p:spPr bwMode="auto">
                      <a:xfrm>
                        <a:off x="4057650" y="4508500"/>
                        <a:ext cx="1234442" cy="457549"/>
                      </a:xfrm>
                      <a:prstGeom prst="rect">
                        <a:avLst/>
                      </a:prstGeom>
                      <a:noFill/>
                    </p:spPr>
                  </p:pic>
                </p:oleObj>
              </mc:Fallback>
            </mc:AlternateContent>
          </a:graphicData>
        </a:graphic>
      </p:graphicFrame>
      <p:sp>
        <p:nvSpPr>
          <p:cNvPr id="15" name="Rectangle 2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对象 15"/>
          <p:cNvGraphicFramePr>
            <a:graphicFrameLocks noChangeAspect="1"/>
          </p:cNvGraphicFramePr>
          <p:nvPr>
            <p:extLst>
              <p:ext uri="{D42A27DB-BD31-4B8C-83A1-F6EECF244321}">
                <p14:modId xmlns:p14="http://schemas.microsoft.com/office/powerpoint/2010/main" val="378463283"/>
              </p:ext>
            </p:extLst>
          </p:nvPr>
        </p:nvGraphicFramePr>
        <p:xfrm>
          <a:off x="5997575" y="4508500"/>
          <a:ext cx="2541588" cy="541338"/>
        </p:xfrm>
        <a:graphic>
          <a:graphicData uri="http://schemas.openxmlformats.org/presentationml/2006/ole">
            <mc:AlternateContent xmlns:mc="http://schemas.openxmlformats.org/markup-compatibility/2006">
              <mc:Choice xmlns:v="urn:schemas-microsoft-com:vml" Requires="v">
                <p:oleObj spid="_x0000_s1030" name="Equation" r:id="rId12" imgW="1117440" imgH="241200" progId="Equation.DSMT4">
                  <p:embed/>
                </p:oleObj>
              </mc:Choice>
              <mc:Fallback>
                <p:oleObj name="Equation" r:id="rId12" imgW="1117440" imgH="241200" progId="Equation.DSMT4">
                  <p:embed/>
                  <p:pic>
                    <p:nvPicPr>
                      <p:cNvPr id="0" name="Object 20"/>
                      <p:cNvPicPr>
                        <a:picLocks noChangeAspect="1" noChangeArrowheads="1"/>
                      </p:cNvPicPr>
                      <p:nvPr/>
                    </p:nvPicPr>
                    <p:blipFill>
                      <a:blip r:embed="rId13"/>
                      <a:srcRect/>
                      <a:stretch>
                        <a:fillRect/>
                      </a:stretch>
                    </p:blipFill>
                    <p:spPr bwMode="auto">
                      <a:xfrm>
                        <a:off x="5997575" y="4508500"/>
                        <a:ext cx="2541588" cy="541338"/>
                      </a:xfrm>
                      <a:prstGeom prst="rect">
                        <a:avLst/>
                      </a:prstGeom>
                      <a:noFill/>
                    </p:spPr>
                  </p:pic>
                </p:oleObj>
              </mc:Fallback>
            </mc:AlternateContent>
          </a:graphicData>
        </a:graphic>
      </p:graphicFrame>
    </p:spTree>
    <p:extLst>
      <p:ext uri="{BB962C8B-B14F-4D97-AF65-F5344CB8AC3E}">
        <p14:creationId xmlns:p14="http://schemas.microsoft.com/office/powerpoint/2010/main" val="134685488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9233" name="矩形 1"/>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12" name="Text Box 21"/>
          <p:cNvSpPr txBox="1">
            <a:spLocks noChangeArrowheads="1"/>
          </p:cNvSpPr>
          <p:nvPr/>
        </p:nvSpPr>
        <p:spPr bwMode="auto">
          <a:xfrm>
            <a:off x="92075" y="908678"/>
            <a:ext cx="808038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eaLnBrk="1" hangingPunct="1">
              <a:spcBef>
                <a:spcPct val="50000"/>
              </a:spcBef>
            </a:pPr>
            <a:r>
              <a:rPr kumimoji="1" lang="en-US" altLang="zh-CN" sz="3200" b="1" dirty="0">
                <a:solidFill>
                  <a:srgbClr val="FF0000"/>
                </a:solidFill>
                <a:latin typeface="微软雅黑" pitchFamily="34" charset="-122"/>
                <a:ea typeface="微软雅黑" pitchFamily="34" charset="-122"/>
              </a:rPr>
              <a:t>4. </a:t>
            </a:r>
            <a:r>
              <a:rPr kumimoji="1" lang="zh-CN" altLang="en-US" sz="3200" b="1" dirty="0">
                <a:solidFill>
                  <a:srgbClr val="FF0000"/>
                </a:solidFill>
                <a:latin typeface="微软雅黑" pitchFamily="34" charset="-122"/>
                <a:ea typeface="微软雅黑" pitchFamily="34" charset="-122"/>
              </a:rPr>
              <a:t>季节数据驱动的时间序列预测方法</a:t>
            </a:r>
            <a:endParaRPr kumimoji="1" lang="en-US" altLang="zh-CN" sz="3200" b="1" dirty="0">
              <a:solidFill>
                <a:srgbClr val="FF0000"/>
              </a:solidFill>
              <a:latin typeface="微软雅黑" pitchFamily="34" charset="-122"/>
              <a:ea typeface="微软雅黑" pitchFamily="34" charset="-122"/>
            </a:endParaRPr>
          </a:p>
        </p:txBody>
      </p:sp>
      <p:sp>
        <p:nvSpPr>
          <p:cNvPr id="24"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19"/>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1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3" name="Rectangle 1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2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 name="表格 1"/>
          <p:cNvGraphicFramePr>
            <a:graphicFrameLocks noGrp="1"/>
          </p:cNvGraphicFramePr>
          <p:nvPr>
            <p:extLst>
              <p:ext uri="{D42A27DB-BD31-4B8C-83A1-F6EECF244321}">
                <p14:modId xmlns:p14="http://schemas.microsoft.com/office/powerpoint/2010/main" val="2832153501"/>
              </p:ext>
            </p:extLst>
          </p:nvPr>
        </p:nvGraphicFramePr>
        <p:xfrm>
          <a:off x="78102" y="2830575"/>
          <a:ext cx="4587290" cy="3240413"/>
        </p:xfrm>
        <a:graphic>
          <a:graphicData uri="http://schemas.openxmlformats.org/drawingml/2006/table">
            <a:tbl>
              <a:tblPr>
                <a:tableStyleId>{E8B1032C-EA38-4F05-BA0D-38AFFFC7BED3}</a:tableStyleId>
              </a:tblPr>
              <a:tblGrid>
                <a:gridCol w="917458">
                  <a:extLst>
                    <a:ext uri="{9D8B030D-6E8A-4147-A177-3AD203B41FA5}">
                      <a16:colId xmlns:a16="http://schemas.microsoft.com/office/drawing/2014/main" val="20000"/>
                    </a:ext>
                  </a:extLst>
                </a:gridCol>
                <a:gridCol w="917458">
                  <a:extLst>
                    <a:ext uri="{9D8B030D-6E8A-4147-A177-3AD203B41FA5}">
                      <a16:colId xmlns:a16="http://schemas.microsoft.com/office/drawing/2014/main" val="20001"/>
                    </a:ext>
                  </a:extLst>
                </a:gridCol>
                <a:gridCol w="954684">
                  <a:extLst>
                    <a:ext uri="{9D8B030D-6E8A-4147-A177-3AD203B41FA5}">
                      <a16:colId xmlns:a16="http://schemas.microsoft.com/office/drawing/2014/main" val="20002"/>
                    </a:ext>
                  </a:extLst>
                </a:gridCol>
                <a:gridCol w="880232">
                  <a:extLst>
                    <a:ext uri="{9D8B030D-6E8A-4147-A177-3AD203B41FA5}">
                      <a16:colId xmlns:a16="http://schemas.microsoft.com/office/drawing/2014/main" val="20003"/>
                    </a:ext>
                  </a:extLst>
                </a:gridCol>
                <a:gridCol w="917458">
                  <a:extLst>
                    <a:ext uri="{9D8B030D-6E8A-4147-A177-3AD203B41FA5}">
                      <a16:colId xmlns:a16="http://schemas.microsoft.com/office/drawing/2014/main" val="20004"/>
                    </a:ext>
                  </a:extLst>
                </a:gridCol>
              </a:tblGrid>
              <a:tr h="294583">
                <a:tc>
                  <a:txBody>
                    <a:bodyPr/>
                    <a:lstStyle/>
                    <a:p>
                      <a:pPr algn="ctr" fontAlgn="b"/>
                      <a:r>
                        <a:rPr lang="zh-CN" altLang="en-US" sz="1400" u="none" strike="noStrike" dirty="0">
                          <a:effectLst/>
                        </a:rPr>
                        <a:t>年份</a:t>
                      </a:r>
                      <a:endParaRPr lang="zh-CN" altLang="en-US" sz="1400" b="0" i="0" u="none" strike="noStrike" dirty="0">
                        <a:solidFill>
                          <a:srgbClr val="000000"/>
                        </a:solidFill>
                        <a:effectLst/>
                        <a:latin typeface="Times New Roman"/>
                      </a:endParaRPr>
                    </a:p>
                  </a:txBody>
                  <a:tcPr marL="9525" marR="9525" marT="9525" marB="0" anchor="ctr">
                    <a:solidFill>
                      <a:schemeClr val="accent2">
                        <a:lumMod val="40000"/>
                        <a:lumOff val="60000"/>
                      </a:schemeClr>
                    </a:solidFill>
                  </a:tcPr>
                </a:tc>
                <a:tc>
                  <a:txBody>
                    <a:bodyPr/>
                    <a:lstStyle/>
                    <a:p>
                      <a:pPr algn="ctr" fontAlgn="b"/>
                      <a:r>
                        <a:rPr lang="en-US" altLang="zh-CN" sz="1400" u="none" strike="noStrike" dirty="0">
                          <a:effectLst/>
                        </a:rPr>
                        <a:t>1</a:t>
                      </a:r>
                      <a:r>
                        <a:rPr lang="zh-CN" altLang="en-US" sz="1400" u="none" strike="noStrike" dirty="0">
                          <a:effectLst/>
                        </a:rPr>
                        <a:t>季度</a:t>
                      </a:r>
                      <a:endParaRPr lang="zh-CN" altLang="en-US" sz="1400" b="0" i="0" u="none" strike="noStrike" dirty="0">
                        <a:solidFill>
                          <a:srgbClr val="000000"/>
                        </a:solidFill>
                        <a:effectLst/>
                        <a:latin typeface="Times New Roman"/>
                      </a:endParaRPr>
                    </a:p>
                  </a:txBody>
                  <a:tcPr marL="9525" marR="9525" marT="9525" marB="0" anchor="ctr">
                    <a:solidFill>
                      <a:schemeClr val="accent2">
                        <a:lumMod val="40000"/>
                        <a:lumOff val="60000"/>
                      </a:schemeClr>
                    </a:solidFill>
                  </a:tcPr>
                </a:tc>
                <a:tc>
                  <a:txBody>
                    <a:bodyPr/>
                    <a:lstStyle/>
                    <a:p>
                      <a:pPr algn="ctr" fontAlgn="b"/>
                      <a:r>
                        <a:rPr lang="en-US" altLang="zh-CN" sz="1400" u="none" strike="noStrike" dirty="0">
                          <a:effectLst/>
                        </a:rPr>
                        <a:t>2</a:t>
                      </a:r>
                      <a:r>
                        <a:rPr lang="zh-CN" altLang="en-US" sz="1400" u="none" strike="noStrike" dirty="0">
                          <a:effectLst/>
                        </a:rPr>
                        <a:t>季度</a:t>
                      </a:r>
                      <a:endParaRPr lang="zh-CN" altLang="en-US" sz="1400" b="0" i="0" u="none" strike="noStrike" dirty="0">
                        <a:solidFill>
                          <a:srgbClr val="000000"/>
                        </a:solidFill>
                        <a:effectLst/>
                        <a:latin typeface="Times New Roman"/>
                      </a:endParaRPr>
                    </a:p>
                  </a:txBody>
                  <a:tcPr marL="9525" marR="9525" marT="9525" marB="0" anchor="ctr">
                    <a:solidFill>
                      <a:schemeClr val="accent2">
                        <a:lumMod val="40000"/>
                        <a:lumOff val="60000"/>
                      </a:schemeClr>
                    </a:solidFill>
                  </a:tcPr>
                </a:tc>
                <a:tc>
                  <a:txBody>
                    <a:bodyPr/>
                    <a:lstStyle/>
                    <a:p>
                      <a:pPr algn="ctr" fontAlgn="b"/>
                      <a:r>
                        <a:rPr lang="en-US" altLang="zh-CN" sz="1400" u="none" strike="noStrike" dirty="0">
                          <a:effectLst/>
                        </a:rPr>
                        <a:t>3</a:t>
                      </a:r>
                      <a:r>
                        <a:rPr lang="zh-CN" altLang="en-US" sz="1400" u="none" strike="noStrike" dirty="0">
                          <a:effectLst/>
                        </a:rPr>
                        <a:t>季度</a:t>
                      </a:r>
                      <a:endParaRPr lang="zh-CN" altLang="en-US" sz="1400" b="0" i="0" u="none" strike="noStrike" dirty="0">
                        <a:solidFill>
                          <a:srgbClr val="000000"/>
                        </a:solidFill>
                        <a:effectLst/>
                        <a:latin typeface="Times New Roman"/>
                      </a:endParaRPr>
                    </a:p>
                  </a:txBody>
                  <a:tcPr marL="9525" marR="9525" marT="9525" marB="0" anchor="ctr">
                    <a:solidFill>
                      <a:schemeClr val="accent2">
                        <a:lumMod val="40000"/>
                        <a:lumOff val="60000"/>
                      </a:schemeClr>
                    </a:solidFill>
                  </a:tcPr>
                </a:tc>
                <a:tc>
                  <a:txBody>
                    <a:bodyPr/>
                    <a:lstStyle/>
                    <a:p>
                      <a:pPr algn="ctr" fontAlgn="b"/>
                      <a:r>
                        <a:rPr lang="en-US" altLang="zh-CN" sz="1400" u="none" strike="noStrike" dirty="0">
                          <a:effectLst/>
                        </a:rPr>
                        <a:t>4</a:t>
                      </a:r>
                      <a:r>
                        <a:rPr lang="zh-CN" altLang="en-US" sz="1400" u="none" strike="noStrike" dirty="0">
                          <a:effectLst/>
                        </a:rPr>
                        <a:t>季度</a:t>
                      </a:r>
                      <a:endParaRPr lang="zh-CN" altLang="en-US" sz="1400" b="0" i="0" u="none" strike="noStrike" dirty="0">
                        <a:solidFill>
                          <a:srgbClr val="000000"/>
                        </a:solidFill>
                        <a:effectLst/>
                        <a:latin typeface="Times New Roman"/>
                      </a:endParaRPr>
                    </a:p>
                  </a:txBody>
                  <a:tcPr marL="9525" marR="9525" marT="9525" marB="0" anchor="ctr">
                    <a:solidFill>
                      <a:schemeClr val="accent2">
                        <a:lumMod val="40000"/>
                        <a:lumOff val="60000"/>
                      </a:schemeClr>
                    </a:solidFill>
                  </a:tcPr>
                </a:tc>
                <a:extLst>
                  <a:ext uri="{0D108BD9-81ED-4DB2-BD59-A6C34878D82A}">
                    <a16:rowId xmlns:a16="http://schemas.microsoft.com/office/drawing/2014/main" val="10000"/>
                  </a:ext>
                </a:extLst>
              </a:tr>
              <a:tr h="294583">
                <a:tc>
                  <a:txBody>
                    <a:bodyPr/>
                    <a:lstStyle/>
                    <a:p>
                      <a:pPr algn="ctr" fontAlgn="b"/>
                      <a:r>
                        <a:rPr lang="en-US" altLang="zh-CN" sz="1400" u="none" strike="noStrike" dirty="0">
                          <a:effectLst/>
                        </a:rPr>
                        <a:t>2006</a:t>
                      </a:r>
                      <a:endParaRPr lang="en-US" altLang="zh-CN" sz="1400" b="0" i="0" u="none" strike="noStrike" dirty="0">
                        <a:solidFill>
                          <a:srgbClr val="000000"/>
                        </a:solidFill>
                        <a:effectLst/>
                        <a:latin typeface="Times New Roman"/>
                      </a:endParaRPr>
                    </a:p>
                  </a:txBody>
                  <a:tcPr marL="9525" marR="9525" marT="9525" marB="0" anchor="ctr">
                    <a:solidFill>
                      <a:schemeClr val="accent2">
                        <a:lumMod val="40000"/>
                        <a:lumOff val="60000"/>
                      </a:schemeClr>
                    </a:solidFill>
                  </a:tcPr>
                </a:tc>
                <a:tc>
                  <a:txBody>
                    <a:bodyPr/>
                    <a:lstStyle/>
                    <a:p>
                      <a:pPr algn="ctr" fontAlgn="b"/>
                      <a:r>
                        <a:rPr lang="en-US" altLang="zh-CN" sz="1400" u="none" strike="noStrike" dirty="0">
                          <a:effectLst/>
                        </a:rPr>
                        <a:t>993.1</a:t>
                      </a:r>
                      <a:endParaRPr lang="en-US" altLang="zh-CN" sz="1400" b="0" i="0" u="none" strike="noStrike" dirty="0">
                        <a:solidFill>
                          <a:srgbClr val="000000"/>
                        </a:solidFill>
                        <a:effectLst/>
                        <a:latin typeface="Times New Roman"/>
                      </a:endParaRPr>
                    </a:p>
                  </a:txBody>
                  <a:tcPr marL="9525" marR="9525" marT="9525" marB="0" anchor="ctr"/>
                </a:tc>
                <a:tc>
                  <a:txBody>
                    <a:bodyPr/>
                    <a:lstStyle/>
                    <a:p>
                      <a:pPr algn="ctr" fontAlgn="b"/>
                      <a:r>
                        <a:rPr lang="en-US" altLang="zh-CN" sz="1400" u="none" strike="noStrike">
                          <a:effectLst/>
                        </a:rPr>
                        <a:t>971.2</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a:effectLst/>
                        </a:rPr>
                        <a:t>2264.1</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a:effectLst/>
                        </a:rPr>
                        <a:t>1943.3</a:t>
                      </a:r>
                      <a:endParaRPr lang="en-US" altLang="zh-CN" sz="1400" b="0" i="0" u="none" strike="noStrike">
                        <a:solidFill>
                          <a:srgbClr val="000000"/>
                        </a:solidFill>
                        <a:effectLst/>
                        <a:latin typeface="Times New Roman"/>
                      </a:endParaRPr>
                    </a:p>
                  </a:txBody>
                  <a:tcPr marL="9525" marR="9525" marT="9525" marB="0" anchor="ctr"/>
                </a:tc>
                <a:extLst>
                  <a:ext uri="{0D108BD9-81ED-4DB2-BD59-A6C34878D82A}">
                    <a16:rowId xmlns:a16="http://schemas.microsoft.com/office/drawing/2014/main" val="10001"/>
                  </a:ext>
                </a:extLst>
              </a:tr>
              <a:tr h="294583">
                <a:tc>
                  <a:txBody>
                    <a:bodyPr/>
                    <a:lstStyle/>
                    <a:p>
                      <a:pPr algn="ctr" fontAlgn="b"/>
                      <a:r>
                        <a:rPr lang="en-US" altLang="zh-CN" sz="1400" u="none" strike="noStrike" dirty="0">
                          <a:effectLst/>
                        </a:rPr>
                        <a:t>2007</a:t>
                      </a:r>
                      <a:endParaRPr lang="en-US" altLang="zh-CN" sz="1400" b="0" i="0" u="none" strike="noStrike" dirty="0">
                        <a:solidFill>
                          <a:srgbClr val="000000"/>
                        </a:solidFill>
                        <a:effectLst/>
                        <a:latin typeface="Times New Roman"/>
                      </a:endParaRPr>
                    </a:p>
                  </a:txBody>
                  <a:tcPr marL="9525" marR="9525" marT="9525" marB="0" anchor="ctr">
                    <a:solidFill>
                      <a:schemeClr val="accent2">
                        <a:lumMod val="40000"/>
                        <a:lumOff val="60000"/>
                      </a:schemeClr>
                    </a:solidFill>
                  </a:tcPr>
                </a:tc>
                <a:tc>
                  <a:txBody>
                    <a:bodyPr/>
                    <a:lstStyle/>
                    <a:p>
                      <a:pPr algn="ctr" fontAlgn="b"/>
                      <a:r>
                        <a:rPr lang="en-US" altLang="zh-CN" sz="1400" u="none" strike="noStrike" dirty="0">
                          <a:effectLst/>
                        </a:rPr>
                        <a:t>1673.6</a:t>
                      </a:r>
                      <a:endParaRPr lang="en-US" altLang="zh-CN" sz="1400" b="0" i="0" u="none" strike="noStrike" dirty="0">
                        <a:solidFill>
                          <a:srgbClr val="000000"/>
                        </a:solidFill>
                        <a:effectLst/>
                        <a:latin typeface="Times New Roman"/>
                      </a:endParaRPr>
                    </a:p>
                  </a:txBody>
                  <a:tcPr marL="9525" marR="9525" marT="9525" marB="0" anchor="ctr"/>
                </a:tc>
                <a:tc>
                  <a:txBody>
                    <a:bodyPr/>
                    <a:lstStyle/>
                    <a:p>
                      <a:pPr algn="ctr" fontAlgn="b"/>
                      <a:r>
                        <a:rPr lang="en-US" altLang="zh-CN" sz="1400" u="none" strike="noStrike">
                          <a:effectLst/>
                        </a:rPr>
                        <a:t>1931.5</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a:effectLst/>
                        </a:rPr>
                        <a:t>3927.8</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dirty="0">
                          <a:effectLst/>
                        </a:rPr>
                        <a:t>3079.6</a:t>
                      </a:r>
                      <a:endParaRPr lang="en-US" altLang="zh-CN" sz="1400" b="0" i="0" u="none" strike="noStrike" dirty="0">
                        <a:solidFill>
                          <a:srgbClr val="000000"/>
                        </a:solidFill>
                        <a:effectLst/>
                        <a:latin typeface="Times New Roman"/>
                      </a:endParaRPr>
                    </a:p>
                  </a:txBody>
                  <a:tcPr marL="9525" marR="9525" marT="9525" marB="0" anchor="ctr"/>
                </a:tc>
                <a:extLst>
                  <a:ext uri="{0D108BD9-81ED-4DB2-BD59-A6C34878D82A}">
                    <a16:rowId xmlns:a16="http://schemas.microsoft.com/office/drawing/2014/main" val="10002"/>
                  </a:ext>
                </a:extLst>
              </a:tr>
              <a:tr h="294583">
                <a:tc>
                  <a:txBody>
                    <a:bodyPr/>
                    <a:lstStyle/>
                    <a:p>
                      <a:pPr algn="ctr" fontAlgn="b"/>
                      <a:r>
                        <a:rPr lang="en-US" altLang="zh-CN" sz="1400" u="none" strike="noStrike" dirty="0">
                          <a:effectLst/>
                        </a:rPr>
                        <a:t>2008</a:t>
                      </a:r>
                      <a:endParaRPr lang="en-US" altLang="zh-CN" sz="1400" b="0" i="0" u="none" strike="noStrike" dirty="0">
                        <a:solidFill>
                          <a:srgbClr val="000000"/>
                        </a:solidFill>
                        <a:effectLst/>
                        <a:latin typeface="Times New Roman"/>
                      </a:endParaRPr>
                    </a:p>
                  </a:txBody>
                  <a:tcPr marL="9525" marR="9525" marT="9525" marB="0" anchor="ctr">
                    <a:solidFill>
                      <a:schemeClr val="accent2">
                        <a:lumMod val="40000"/>
                        <a:lumOff val="60000"/>
                      </a:schemeClr>
                    </a:solidFill>
                  </a:tcPr>
                </a:tc>
                <a:tc>
                  <a:txBody>
                    <a:bodyPr/>
                    <a:lstStyle/>
                    <a:p>
                      <a:pPr algn="ctr" fontAlgn="b"/>
                      <a:r>
                        <a:rPr lang="en-US" altLang="zh-CN" sz="1400" u="none" strike="noStrike">
                          <a:effectLst/>
                        </a:rPr>
                        <a:t>2342.4</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dirty="0">
                          <a:effectLst/>
                        </a:rPr>
                        <a:t>2552.6</a:t>
                      </a:r>
                      <a:endParaRPr lang="en-US" altLang="zh-CN" sz="1400" b="0" i="0" u="none" strike="noStrike" dirty="0">
                        <a:solidFill>
                          <a:srgbClr val="000000"/>
                        </a:solidFill>
                        <a:effectLst/>
                        <a:latin typeface="Times New Roman"/>
                      </a:endParaRPr>
                    </a:p>
                  </a:txBody>
                  <a:tcPr marL="9525" marR="9525" marT="9525" marB="0" anchor="ctr"/>
                </a:tc>
                <a:tc>
                  <a:txBody>
                    <a:bodyPr/>
                    <a:lstStyle/>
                    <a:p>
                      <a:pPr algn="ctr" fontAlgn="b"/>
                      <a:r>
                        <a:rPr lang="en-US" altLang="zh-CN" sz="1400" u="none" strike="noStrike">
                          <a:effectLst/>
                        </a:rPr>
                        <a:t>3747.5</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a:effectLst/>
                        </a:rPr>
                        <a:t>4472.8</a:t>
                      </a:r>
                      <a:endParaRPr lang="en-US" altLang="zh-CN" sz="1400" b="0" i="0" u="none" strike="noStrike">
                        <a:solidFill>
                          <a:srgbClr val="000000"/>
                        </a:solidFill>
                        <a:effectLst/>
                        <a:latin typeface="Times New Roman"/>
                      </a:endParaRPr>
                    </a:p>
                  </a:txBody>
                  <a:tcPr marL="9525" marR="9525" marT="9525" marB="0" anchor="ctr"/>
                </a:tc>
                <a:extLst>
                  <a:ext uri="{0D108BD9-81ED-4DB2-BD59-A6C34878D82A}">
                    <a16:rowId xmlns:a16="http://schemas.microsoft.com/office/drawing/2014/main" val="10003"/>
                  </a:ext>
                </a:extLst>
              </a:tr>
              <a:tr h="294583">
                <a:tc>
                  <a:txBody>
                    <a:bodyPr/>
                    <a:lstStyle/>
                    <a:p>
                      <a:pPr algn="ctr" fontAlgn="b"/>
                      <a:r>
                        <a:rPr lang="en-US" altLang="zh-CN" sz="1400" u="none" strike="noStrike" dirty="0">
                          <a:effectLst/>
                        </a:rPr>
                        <a:t>2009</a:t>
                      </a:r>
                      <a:endParaRPr lang="en-US" altLang="zh-CN" sz="1400" b="0" i="0" u="none" strike="noStrike" dirty="0">
                        <a:solidFill>
                          <a:srgbClr val="000000"/>
                        </a:solidFill>
                        <a:effectLst/>
                        <a:latin typeface="Times New Roman"/>
                      </a:endParaRPr>
                    </a:p>
                  </a:txBody>
                  <a:tcPr marL="9525" marR="9525" marT="9525" marB="0" anchor="ctr">
                    <a:solidFill>
                      <a:schemeClr val="accent2">
                        <a:lumMod val="40000"/>
                        <a:lumOff val="60000"/>
                      </a:schemeClr>
                    </a:solidFill>
                  </a:tcPr>
                </a:tc>
                <a:tc>
                  <a:txBody>
                    <a:bodyPr/>
                    <a:lstStyle/>
                    <a:p>
                      <a:pPr algn="ctr" fontAlgn="b"/>
                      <a:r>
                        <a:rPr lang="en-US" altLang="zh-CN" sz="1400" u="none" strike="noStrike">
                          <a:effectLst/>
                        </a:rPr>
                        <a:t>3254.4</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dirty="0">
                          <a:effectLst/>
                        </a:rPr>
                        <a:t>4245.2</a:t>
                      </a:r>
                      <a:endParaRPr lang="en-US" altLang="zh-CN" sz="1400" b="0" i="0" u="none" strike="noStrike" dirty="0">
                        <a:solidFill>
                          <a:srgbClr val="000000"/>
                        </a:solidFill>
                        <a:effectLst/>
                        <a:latin typeface="Times New Roman"/>
                      </a:endParaRPr>
                    </a:p>
                  </a:txBody>
                  <a:tcPr marL="9525" marR="9525" marT="9525" marB="0" anchor="ctr"/>
                </a:tc>
                <a:tc>
                  <a:txBody>
                    <a:bodyPr/>
                    <a:lstStyle/>
                    <a:p>
                      <a:pPr algn="ctr" fontAlgn="b"/>
                      <a:r>
                        <a:rPr lang="en-US" altLang="zh-CN" sz="1400" u="none" strike="noStrike">
                          <a:effectLst/>
                        </a:rPr>
                        <a:t>5951.1</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a:effectLst/>
                        </a:rPr>
                        <a:t>6373.1</a:t>
                      </a:r>
                      <a:endParaRPr lang="en-US" altLang="zh-CN" sz="1400" b="0" i="0" u="none" strike="noStrike">
                        <a:solidFill>
                          <a:srgbClr val="000000"/>
                        </a:solidFill>
                        <a:effectLst/>
                        <a:latin typeface="Times New Roman"/>
                      </a:endParaRPr>
                    </a:p>
                  </a:txBody>
                  <a:tcPr marL="9525" marR="9525" marT="9525" marB="0" anchor="ctr"/>
                </a:tc>
                <a:extLst>
                  <a:ext uri="{0D108BD9-81ED-4DB2-BD59-A6C34878D82A}">
                    <a16:rowId xmlns:a16="http://schemas.microsoft.com/office/drawing/2014/main" val="10004"/>
                  </a:ext>
                </a:extLst>
              </a:tr>
              <a:tr h="294583">
                <a:tc>
                  <a:txBody>
                    <a:bodyPr/>
                    <a:lstStyle/>
                    <a:p>
                      <a:pPr algn="ctr" fontAlgn="b"/>
                      <a:r>
                        <a:rPr lang="en-US" altLang="zh-CN" sz="1400" u="none" strike="noStrike" dirty="0">
                          <a:effectLst/>
                        </a:rPr>
                        <a:t>2010</a:t>
                      </a:r>
                      <a:endParaRPr lang="en-US" altLang="zh-CN" sz="1400" b="0" i="0" u="none" strike="noStrike" dirty="0">
                        <a:solidFill>
                          <a:srgbClr val="000000"/>
                        </a:solidFill>
                        <a:effectLst/>
                        <a:latin typeface="Times New Roman"/>
                      </a:endParaRPr>
                    </a:p>
                  </a:txBody>
                  <a:tcPr marL="9525" marR="9525" marT="9525" marB="0" anchor="ctr">
                    <a:solidFill>
                      <a:schemeClr val="accent2">
                        <a:lumMod val="40000"/>
                        <a:lumOff val="60000"/>
                      </a:schemeClr>
                    </a:solidFill>
                  </a:tcPr>
                </a:tc>
                <a:tc>
                  <a:txBody>
                    <a:bodyPr/>
                    <a:lstStyle/>
                    <a:p>
                      <a:pPr algn="ctr" fontAlgn="b"/>
                      <a:r>
                        <a:rPr lang="en-US" altLang="zh-CN" sz="1400" u="none" strike="noStrike">
                          <a:effectLst/>
                        </a:rPr>
                        <a:t>3904.2</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a:effectLst/>
                        </a:rPr>
                        <a:t>5105.9</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dirty="0">
                          <a:effectLst/>
                        </a:rPr>
                        <a:t>7252.6</a:t>
                      </a:r>
                      <a:endParaRPr lang="en-US" altLang="zh-CN" sz="1400" b="0" i="0" u="none" strike="noStrike" dirty="0">
                        <a:solidFill>
                          <a:srgbClr val="000000"/>
                        </a:solidFill>
                        <a:effectLst/>
                        <a:latin typeface="Times New Roman"/>
                      </a:endParaRPr>
                    </a:p>
                  </a:txBody>
                  <a:tcPr marL="9525" marR="9525" marT="9525" marB="0" anchor="ctr"/>
                </a:tc>
                <a:tc>
                  <a:txBody>
                    <a:bodyPr/>
                    <a:lstStyle/>
                    <a:p>
                      <a:pPr algn="ctr" fontAlgn="b"/>
                      <a:r>
                        <a:rPr lang="en-US" altLang="zh-CN" sz="1400" u="none" strike="noStrike">
                          <a:effectLst/>
                        </a:rPr>
                        <a:t>8630.5</a:t>
                      </a:r>
                      <a:endParaRPr lang="en-US" altLang="zh-CN" sz="1400" b="0" i="0" u="none" strike="noStrike">
                        <a:solidFill>
                          <a:srgbClr val="000000"/>
                        </a:solidFill>
                        <a:effectLst/>
                        <a:latin typeface="Times New Roman"/>
                      </a:endParaRPr>
                    </a:p>
                  </a:txBody>
                  <a:tcPr marL="9525" marR="9525" marT="9525" marB="0" anchor="ctr"/>
                </a:tc>
                <a:extLst>
                  <a:ext uri="{0D108BD9-81ED-4DB2-BD59-A6C34878D82A}">
                    <a16:rowId xmlns:a16="http://schemas.microsoft.com/office/drawing/2014/main" val="10005"/>
                  </a:ext>
                </a:extLst>
              </a:tr>
              <a:tr h="294583">
                <a:tc>
                  <a:txBody>
                    <a:bodyPr/>
                    <a:lstStyle/>
                    <a:p>
                      <a:pPr algn="ctr" fontAlgn="b"/>
                      <a:r>
                        <a:rPr lang="en-US" altLang="zh-CN" sz="1400" u="none" strike="noStrike" dirty="0">
                          <a:effectLst/>
                        </a:rPr>
                        <a:t>2011</a:t>
                      </a:r>
                      <a:endParaRPr lang="en-US" altLang="zh-CN" sz="1400" b="0" i="0" u="none" strike="noStrike" dirty="0">
                        <a:solidFill>
                          <a:srgbClr val="000000"/>
                        </a:solidFill>
                        <a:effectLst/>
                        <a:latin typeface="Times New Roman"/>
                      </a:endParaRPr>
                    </a:p>
                  </a:txBody>
                  <a:tcPr marL="9525" marR="9525" marT="9525" marB="0" anchor="ctr">
                    <a:solidFill>
                      <a:schemeClr val="accent2">
                        <a:lumMod val="40000"/>
                        <a:lumOff val="60000"/>
                      </a:schemeClr>
                    </a:solidFill>
                  </a:tcPr>
                </a:tc>
                <a:tc>
                  <a:txBody>
                    <a:bodyPr/>
                    <a:lstStyle/>
                    <a:p>
                      <a:pPr algn="ctr" fontAlgn="b"/>
                      <a:r>
                        <a:rPr lang="en-US" altLang="zh-CN" sz="1400" u="none" strike="noStrike">
                          <a:effectLst/>
                        </a:rPr>
                        <a:t>5483.2</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a:effectLst/>
                        </a:rPr>
                        <a:t>5997.3</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dirty="0">
                          <a:effectLst/>
                        </a:rPr>
                        <a:t>8776.1</a:t>
                      </a:r>
                      <a:endParaRPr lang="en-US" altLang="zh-CN" sz="1400" b="0" i="0" u="none" strike="noStrike" dirty="0">
                        <a:solidFill>
                          <a:srgbClr val="000000"/>
                        </a:solidFill>
                        <a:effectLst/>
                        <a:latin typeface="Times New Roman"/>
                      </a:endParaRPr>
                    </a:p>
                  </a:txBody>
                  <a:tcPr marL="9525" marR="9525" marT="9525" marB="0" anchor="ctr"/>
                </a:tc>
                <a:tc>
                  <a:txBody>
                    <a:bodyPr/>
                    <a:lstStyle/>
                    <a:p>
                      <a:pPr algn="ctr" fontAlgn="b"/>
                      <a:r>
                        <a:rPr lang="en-US" altLang="zh-CN" sz="1400" u="none" strike="noStrike">
                          <a:effectLst/>
                        </a:rPr>
                        <a:t>8720.6</a:t>
                      </a:r>
                      <a:endParaRPr lang="en-US" altLang="zh-CN" sz="1400" b="0" i="0" u="none" strike="noStrike">
                        <a:solidFill>
                          <a:srgbClr val="000000"/>
                        </a:solidFill>
                        <a:effectLst/>
                        <a:latin typeface="Times New Roman"/>
                      </a:endParaRPr>
                    </a:p>
                  </a:txBody>
                  <a:tcPr marL="9525" marR="9525" marT="9525" marB="0" anchor="ctr"/>
                </a:tc>
                <a:extLst>
                  <a:ext uri="{0D108BD9-81ED-4DB2-BD59-A6C34878D82A}">
                    <a16:rowId xmlns:a16="http://schemas.microsoft.com/office/drawing/2014/main" val="10006"/>
                  </a:ext>
                </a:extLst>
              </a:tr>
              <a:tr h="294583">
                <a:tc>
                  <a:txBody>
                    <a:bodyPr/>
                    <a:lstStyle/>
                    <a:p>
                      <a:pPr algn="ctr" fontAlgn="b"/>
                      <a:r>
                        <a:rPr lang="en-US" altLang="zh-CN" sz="1400" u="none" strike="noStrike" dirty="0">
                          <a:effectLst/>
                        </a:rPr>
                        <a:t>2012</a:t>
                      </a:r>
                      <a:endParaRPr lang="en-US" altLang="zh-CN" sz="1400" b="0" i="0" u="none" strike="noStrike" dirty="0">
                        <a:solidFill>
                          <a:srgbClr val="000000"/>
                        </a:solidFill>
                        <a:effectLst/>
                        <a:latin typeface="Times New Roman"/>
                      </a:endParaRPr>
                    </a:p>
                  </a:txBody>
                  <a:tcPr marL="9525" marR="9525" marT="9525" marB="0" anchor="ctr">
                    <a:solidFill>
                      <a:schemeClr val="accent2">
                        <a:lumMod val="40000"/>
                        <a:lumOff val="60000"/>
                      </a:schemeClr>
                    </a:solidFill>
                  </a:tcPr>
                </a:tc>
                <a:tc>
                  <a:txBody>
                    <a:bodyPr/>
                    <a:lstStyle/>
                    <a:p>
                      <a:pPr algn="ctr" fontAlgn="b"/>
                      <a:r>
                        <a:rPr lang="en-US" altLang="zh-CN" sz="1400" u="none" strike="noStrike">
                          <a:effectLst/>
                        </a:rPr>
                        <a:t>5123.6</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a:effectLst/>
                        </a:rPr>
                        <a:t>6051</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dirty="0">
                          <a:effectLst/>
                        </a:rPr>
                        <a:t>9592.2</a:t>
                      </a:r>
                      <a:endParaRPr lang="en-US" altLang="zh-CN" sz="1400" b="0" i="0" u="none" strike="noStrike" dirty="0">
                        <a:solidFill>
                          <a:srgbClr val="000000"/>
                        </a:solidFill>
                        <a:effectLst/>
                        <a:latin typeface="Times New Roman"/>
                      </a:endParaRPr>
                    </a:p>
                  </a:txBody>
                  <a:tcPr marL="9525" marR="9525" marT="9525" marB="0" anchor="ctr"/>
                </a:tc>
                <a:tc>
                  <a:txBody>
                    <a:bodyPr/>
                    <a:lstStyle/>
                    <a:p>
                      <a:pPr algn="ctr" fontAlgn="b"/>
                      <a:r>
                        <a:rPr lang="en-US" altLang="zh-CN" sz="1400" u="none" strike="noStrike">
                          <a:effectLst/>
                        </a:rPr>
                        <a:t>8341.2</a:t>
                      </a:r>
                      <a:endParaRPr lang="en-US" altLang="zh-CN" sz="1400" b="0" i="0" u="none" strike="noStrike">
                        <a:solidFill>
                          <a:srgbClr val="000000"/>
                        </a:solidFill>
                        <a:effectLst/>
                        <a:latin typeface="Times New Roman"/>
                      </a:endParaRPr>
                    </a:p>
                  </a:txBody>
                  <a:tcPr marL="9525" marR="9525" marT="9525" marB="0" anchor="ctr"/>
                </a:tc>
                <a:extLst>
                  <a:ext uri="{0D108BD9-81ED-4DB2-BD59-A6C34878D82A}">
                    <a16:rowId xmlns:a16="http://schemas.microsoft.com/office/drawing/2014/main" val="10007"/>
                  </a:ext>
                </a:extLst>
              </a:tr>
              <a:tr h="294583">
                <a:tc>
                  <a:txBody>
                    <a:bodyPr/>
                    <a:lstStyle/>
                    <a:p>
                      <a:pPr algn="ctr" fontAlgn="b"/>
                      <a:r>
                        <a:rPr lang="en-US" altLang="zh-CN" sz="1400" u="none" strike="noStrike" dirty="0">
                          <a:effectLst/>
                        </a:rPr>
                        <a:t>2013</a:t>
                      </a:r>
                      <a:endParaRPr lang="en-US" altLang="zh-CN" sz="1400" b="0" i="0" u="none" strike="noStrike" dirty="0">
                        <a:solidFill>
                          <a:srgbClr val="000000"/>
                        </a:solidFill>
                        <a:effectLst/>
                        <a:latin typeface="Times New Roman"/>
                      </a:endParaRPr>
                    </a:p>
                  </a:txBody>
                  <a:tcPr marL="9525" marR="9525" marT="9525" marB="0" anchor="ctr">
                    <a:solidFill>
                      <a:schemeClr val="accent2">
                        <a:lumMod val="40000"/>
                        <a:lumOff val="60000"/>
                      </a:schemeClr>
                    </a:solidFill>
                  </a:tcPr>
                </a:tc>
                <a:tc>
                  <a:txBody>
                    <a:bodyPr/>
                    <a:lstStyle/>
                    <a:p>
                      <a:pPr algn="ctr" fontAlgn="b"/>
                      <a:r>
                        <a:rPr lang="en-US" altLang="zh-CN" sz="1400" u="none" strike="noStrike">
                          <a:effectLst/>
                        </a:rPr>
                        <a:t>4942.4</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a:effectLst/>
                        </a:rPr>
                        <a:t>6825.5</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a:effectLst/>
                        </a:rPr>
                        <a:t>8900.1</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dirty="0">
                          <a:effectLst/>
                        </a:rPr>
                        <a:t>8723.1</a:t>
                      </a:r>
                      <a:endParaRPr lang="en-US" altLang="zh-CN" sz="1400" b="0" i="0" u="none" strike="noStrike" dirty="0">
                        <a:solidFill>
                          <a:srgbClr val="000000"/>
                        </a:solidFill>
                        <a:effectLst/>
                        <a:latin typeface="Times New Roman"/>
                      </a:endParaRPr>
                    </a:p>
                  </a:txBody>
                  <a:tcPr marL="9525" marR="9525" marT="9525" marB="0" anchor="ctr"/>
                </a:tc>
                <a:extLst>
                  <a:ext uri="{0D108BD9-81ED-4DB2-BD59-A6C34878D82A}">
                    <a16:rowId xmlns:a16="http://schemas.microsoft.com/office/drawing/2014/main" val="10008"/>
                  </a:ext>
                </a:extLst>
              </a:tr>
              <a:tr h="294583">
                <a:tc>
                  <a:txBody>
                    <a:bodyPr/>
                    <a:lstStyle/>
                    <a:p>
                      <a:pPr algn="ctr" fontAlgn="b"/>
                      <a:r>
                        <a:rPr lang="en-US" altLang="zh-CN" sz="1400" u="none" strike="noStrike" dirty="0">
                          <a:effectLst/>
                        </a:rPr>
                        <a:t>2014</a:t>
                      </a:r>
                      <a:endParaRPr lang="en-US" altLang="zh-CN" sz="1400" b="0" i="0" u="none" strike="noStrike" dirty="0">
                        <a:solidFill>
                          <a:srgbClr val="000000"/>
                        </a:solidFill>
                        <a:effectLst/>
                        <a:latin typeface="Times New Roman"/>
                      </a:endParaRPr>
                    </a:p>
                  </a:txBody>
                  <a:tcPr marL="9525" marR="9525" marT="9525" marB="0" anchor="ctr">
                    <a:solidFill>
                      <a:schemeClr val="accent2">
                        <a:lumMod val="40000"/>
                        <a:lumOff val="60000"/>
                      </a:schemeClr>
                    </a:solidFill>
                  </a:tcPr>
                </a:tc>
                <a:tc>
                  <a:txBody>
                    <a:bodyPr/>
                    <a:lstStyle/>
                    <a:p>
                      <a:pPr algn="ctr" fontAlgn="b"/>
                      <a:r>
                        <a:rPr lang="en-US" altLang="zh-CN" sz="1400" u="none" strike="noStrike">
                          <a:effectLst/>
                        </a:rPr>
                        <a:t>5009.9</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a:effectLst/>
                        </a:rPr>
                        <a:t>6257.9</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a:effectLst/>
                        </a:rPr>
                        <a:t>8016.8</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dirty="0">
                          <a:effectLst/>
                        </a:rPr>
                        <a:t>7865.6</a:t>
                      </a:r>
                      <a:endParaRPr lang="en-US" altLang="zh-CN" sz="1400" b="0" i="0" u="none" strike="noStrike" dirty="0">
                        <a:solidFill>
                          <a:srgbClr val="000000"/>
                        </a:solidFill>
                        <a:effectLst/>
                        <a:latin typeface="Times New Roman"/>
                      </a:endParaRPr>
                    </a:p>
                  </a:txBody>
                  <a:tcPr marL="9525" marR="9525" marT="9525" marB="0" anchor="ctr"/>
                </a:tc>
                <a:extLst>
                  <a:ext uri="{0D108BD9-81ED-4DB2-BD59-A6C34878D82A}">
                    <a16:rowId xmlns:a16="http://schemas.microsoft.com/office/drawing/2014/main" val="10009"/>
                  </a:ext>
                </a:extLst>
              </a:tr>
              <a:tr h="294583">
                <a:tc>
                  <a:txBody>
                    <a:bodyPr/>
                    <a:lstStyle/>
                    <a:p>
                      <a:pPr algn="ctr" fontAlgn="b"/>
                      <a:r>
                        <a:rPr lang="en-US" altLang="zh-CN" sz="1400" u="none" strike="noStrike" dirty="0">
                          <a:effectLst/>
                        </a:rPr>
                        <a:t>2015</a:t>
                      </a:r>
                      <a:endParaRPr lang="en-US" altLang="zh-CN" sz="1400" b="0" i="0" u="none" strike="noStrike" dirty="0">
                        <a:solidFill>
                          <a:srgbClr val="000000"/>
                        </a:solidFill>
                        <a:effectLst/>
                        <a:latin typeface="Times New Roman"/>
                      </a:endParaRPr>
                    </a:p>
                  </a:txBody>
                  <a:tcPr marL="9525" marR="9525" marT="9525" marB="0" anchor="ctr">
                    <a:solidFill>
                      <a:schemeClr val="accent2">
                        <a:lumMod val="40000"/>
                        <a:lumOff val="60000"/>
                      </a:schemeClr>
                    </a:solidFill>
                  </a:tcPr>
                </a:tc>
                <a:tc>
                  <a:txBody>
                    <a:bodyPr/>
                    <a:lstStyle/>
                    <a:p>
                      <a:pPr algn="ctr" fontAlgn="b"/>
                      <a:r>
                        <a:rPr lang="en-US" altLang="zh-CN" sz="1400" u="none" strike="noStrike">
                          <a:effectLst/>
                        </a:rPr>
                        <a:t>6059.3</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a:effectLst/>
                        </a:rPr>
                        <a:t>5819.7</a:t>
                      </a:r>
                      <a:endParaRPr lang="en-US" altLang="zh-CN" sz="1400" b="0" i="0" u="none" strike="noStrike">
                        <a:solidFill>
                          <a:srgbClr val="000000"/>
                        </a:solidFill>
                        <a:effectLst/>
                        <a:latin typeface="Times New Roman"/>
                      </a:endParaRPr>
                    </a:p>
                  </a:txBody>
                  <a:tcPr marL="9525" marR="9525" marT="9525" marB="0" anchor="ctr"/>
                </a:tc>
                <a:tc>
                  <a:txBody>
                    <a:bodyPr/>
                    <a:lstStyle/>
                    <a:p>
                      <a:pPr algn="ctr" fontAlgn="b"/>
                      <a:r>
                        <a:rPr lang="en-US" altLang="zh-CN" sz="1400" u="none" strike="noStrike" dirty="0">
                          <a:effectLst/>
                        </a:rPr>
                        <a:t>7758.8</a:t>
                      </a:r>
                      <a:endParaRPr lang="en-US" altLang="zh-CN" sz="1400" b="0" i="0" u="none" strike="noStrike" dirty="0">
                        <a:solidFill>
                          <a:srgbClr val="000000"/>
                        </a:solidFill>
                        <a:effectLst/>
                        <a:latin typeface="Times New Roman"/>
                      </a:endParaRPr>
                    </a:p>
                  </a:txBody>
                  <a:tcPr marL="9525" marR="9525" marT="9525" marB="0" anchor="ctr"/>
                </a:tc>
                <a:tc>
                  <a:txBody>
                    <a:bodyPr/>
                    <a:lstStyle/>
                    <a:p>
                      <a:pPr algn="ctr" fontAlgn="b"/>
                      <a:r>
                        <a:rPr lang="en-US" altLang="zh-CN" sz="1400" u="none" strike="noStrike" dirty="0">
                          <a:effectLst/>
                        </a:rPr>
                        <a:t>8128.2</a:t>
                      </a:r>
                      <a:endParaRPr lang="en-US" altLang="zh-CN" sz="1400" b="0" i="0" u="none" strike="noStrike" dirty="0">
                        <a:solidFill>
                          <a:srgbClr val="000000"/>
                        </a:solidFill>
                        <a:effectLst/>
                        <a:latin typeface="Times New Roman"/>
                      </a:endParaRPr>
                    </a:p>
                  </a:txBody>
                  <a:tcPr marL="9525" marR="9525" marT="9525" marB="0" anchor="ctr"/>
                </a:tc>
                <a:extLst>
                  <a:ext uri="{0D108BD9-81ED-4DB2-BD59-A6C34878D82A}">
                    <a16:rowId xmlns:a16="http://schemas.microsoft.com/office/drawing/2014/main" val="10010"/>
                  </a:ext>
                </a:extLst>
              </a:tr>
            </a:tbl>
          </a:graphicData>
        </a:graphic>
      </p:graphicFrame>
      <p:sp>
        <p:nvSpPr>
          <p:cNvPr id="7" name="TextBox 6"/>
          <p:cNvSpPr txBox="1"/>
          <p:nvPr/>
        </p:nvSpPr>
        <p:spPr>
          <a:xfrm>
            <a:off x="251448" y="1630246"/>
            <a:ext cx="4472952" cy="1200329"/>
          </a:xfrm>
          <a:prstGeom prst="rect">
            <a:avLst/>
          </a:prstGeom>
          <a:noFill/>
        </p:spPr>
        <p:txBody>
          <a:bodyPr wrap="square" rtlCol="0">
            <a:spAutoFit/>
          </a:bodyPr>
          <a:lstStyle/>
          <a:p>
            <a:r>
              <a:rPr lang="zh-CN" altLang="en-US" sz="2400" b="1" dirty="0">
                <a:solidFill>
                  <a:srgbClr val="C00000"/>
                </a:solidFill>
                <a:latin typeface="+mn-ea"/>
                <a:ea typeface="+mn-ea"/>
              </a:rPr>
              <a:t>案例：</a:t>
            </a:r>
            <a:r>
              <a:rPr lang="zh-CN" altLang="en-US" sz="2400" dirty="0">
                <a:solidFill>
                  <a:srgbClr val="0070C0"/>
                </a:solidFill>
                <a:latin typeface="+mn-ea"/>
                <a:ea typeface="+mn-ea"/>
              </a:rPr>
              <a:t>某百货公司季度销售额，请对</a:t>
            </a:r>
            <a:r>
              <a:rPr lang="en-US" altLang="zh-CN" sz="2400" dirty="0">
                <a:solidFill>
                  <a:srgbClr val="0070C0"/>
                </a:solidFill>
                <a:latin typeface="+mn-ea"/>
                <a:ea typeface="+mn-ea"/>
              </a:rPr>
              <a:t>2016</a:t>
            </a:r>
            <a:r>
              <a:rPr lang="zh-CN" altLang="en-US" sz="2400" dirty="0">
                <a:solidFill>
                  <a:srgbClr val="0070C0"/>
                </a:solidFill>
                <a:latin typeface="+mn-ea"/>
                <a:ea typeface="+mn-ea"/>
              </a:rPr>
              <a:t>年各季度的销售额进行预测。</a:t>
            </a:r>
          </a:p>
        </p:txBody>
      </p:sp>
      <p:pic>
        <p:nvPicPr>
          <p:cNvPr id="74774" name="Picture 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070" y="3969069"/>
            <a:ext cx="3960505" cy="2812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4775" name="Picture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046" y="1439121"/>
            <a:ext cx="3749881" cy="234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278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74775"/>
                                        </p:tgtEl>
                                        <p:attrNameLst>
                                          <p:attrName>style.visibility</p:attrName>
                                        </p:attrNameLst>
                                      </p:cBhvr>
                                      <p:to>
                                        <p:strVal val="visible"/>
                                      </p:to>
                                    </p:set>
                                    <p:animEffect transition="in" filter="barn(inVertical)">
                                      <p:cBhvr>
                                        <p:cTn id="15" dur="500"/>
                                        <p:tgtEl>
                                          <p:spTgt spid="74775"/>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74774"/>
                                        </p:tgtEl>
                                        <p:attrNameLst>
                                          <p:attrName>style.visibility</p:attrName>
                                        </p:attrNameLst>
                                      </p:cBhvr>
                                      <p:to>
                                        <p:strVal val="visible"/>
                                      </p:to>
                                    </p:set>
                                    <p:animEffect transition="in" filter="fade">
                                      <p:cBhvr>
                                        <p:cTn id="20" dur="1000"/>
                                        <p:tgtEl>
                                          <p:spTgt spid="74774"/>
                                        </p:tgtEl>
                                      </p:cBhvr>
                                    </p:animEffect>
                                    <p:anim calcmode="lin" valueType="num">
                                      <p:cBhvr>
                                        <p:cTn id="21" dur="1000" fill="hold"/>
                                        <p:tgtEl>
                                          <p:spTgt spid="74774"/>
                                        </p:tgtEl>
                                        <p:attrNameLst>
                                          <p:attrName>ppt_x</p:attrName>
                                        </p:attrNameLst>
                                      </p:cBhvr>
                                      <p:tavLst>
                                        <p:tav tm="0">
                                          <p:val>
                                            <p:strVal val="#ppt_x"/>
                                          </p:val>
                                        </p:tav>
                                        <p:tav tm="100000">
                                          <p:val>
                                            <p:strVal val="#ppt_x"/>
                                          </p:val>
                                        </p:tav>
                                      </p:tavLst>
                                    </p:anim>
                                    <p:anim calcmode="lin" valueType="num">
                                      <p:cBhvr>
                                        <p:cTn id="22" dur="1000" fill="hold"/>
                                        <p:tgtEl>
                                          <p:spTgt spid="747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9233" name="矩形 1"/>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24"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19"/>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1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3" name="Rectangle 1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2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Text Box 21"/>
          <p:cNvSpPr txBox="1">
            <a:spLocks noChangeArrowheads="1"/>
          </p:cNvSpPr>
          <p:nvPr/>
        </p:nvSpPr>
        <p:spPr bwMode="auto">
          <a:xfrm>
            <a:off x="23813" y="908678"/>
            <a:ext cx="796862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eaLnBrk="1" hangingPunct="1">
              <a:spcBef>
                <a:spcPct val="50000"/>
              </a:spcBef>
            </a:pPr>
            <a:r>
              <a:rPr kumimoji="1" lang="zh-CN" altLang="en-US" dirty="0">
                <a:solidFill>
                  <a:srgbClr val="CC0000"/>
                </a:solidFill>
                <a:latin typeface="微软雅黑" pitchFamily="34" charset="-122"/>
                <a:ea typeface="微软雅黑" pitchFamily="34" charset="-122"/>
              </a:rPr>
              <a:t>首先，计算</a:t>
            </a:r>
            <a:r>
              <a:rPr kumimoji="1" lang="zh-CN" altLang="en-US" dirty="0">
                <a:solidFill>
                  <a:srgbClr val="FF0000"/>
                </a:solidFill>
                <a:latin typeface="微软雅黑" pitchFamily="34" charset="-122"/>
                <a:ea typeface="微软雅黑" pitchFamily="34" charset="-122"/>
              </a:rPr>
              <a:t>季节指数</a:t>
            </a:r>
            <a:r>
              <a:rPr kumimoji="1" lang="zh-CN" altLang="en-US" dirty="0">
                <a:solidFill>
                  <a:srgbClr val="0070C0"/>
                </a:solidFill>
                <a:latin typeface="微软雅黑" pitchFamily="34" charset="-122"/>
                <a:ea typeface="微软雅黑" pitchFamily="34" charset="-122"/>
              </a:rPr>
              <a:t>（按季平均法）</a:t>
            </a:r>
          </a:p>
        </p:txBody>
      </p:sp>
      <p:pic>
        <p:nvPicPr>
          <p:cNvPr id="757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1609" y="1523999"/>
            <a:ext cx="5760736" cy="453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9917219"/>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9233" name="矩形 1"/>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24"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19"/>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1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3" name="Rectangle 1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2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Text Box 21"/>
          <p:cNvSpPr txBox="1">
            <a:spLocks noChangeArrowheads="1"/>
          </p:cNvSpPr>
          <p:nvPr/>
        </p:nvSpPr>
        <p:spPr bwMode="auto">
          <a:xfrm>
            <a:off x="23813" y="908678"/>
            <a:ext cx="74285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eaLnBrk="1" hangingPunct="1">
              <a:spcBef>
                <a:spcPct val="50000"/>
              </a:spcBef>
            </a:pPr>
            <a:r>
              <a:rPr kumimoji="1" lang="zh-CN" altLang="en-US" dirty="0">
                <a:solidFill>
                  <a:srgbClr val="CC0000"/>
                </a:solidFill>
                <a:latin typeface="微软雅黑" pitchFamily="34" charset="-122"/>
                <a:ea typeface="微软雅黑" pitchFamily="34" charset="-122"/>
              </a:rPr>
              <a:t>接着，剔除季节因素的影响</a:t>
            </a:r>
          </a:p>
        </p:txBody>
      </p:sp>
      <p:pic>
        <p:nvPicPr>
          <p:cNvPr id="7680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801" y="1628770"/>
            <a:ext cx="7370118" cy="4696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6581386"/>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9233" name="矩形 1"/>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24"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19"/>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1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3" name="Rectangle 1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2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Text Box 21"/>
          <p:cNvSpPr txBox="1">
            <a:spLocks noChangeArrowheads="1"/>
          </p:cNvSpPr>
          <p:nvPr/>
        </p:nvSpPr>
        <p:spPr bwMode="auto">
          <a:xfrm>
            <a:off x="23813" y="908678"/>
            <a:ext cx="74285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eaLnBrk="1" hangingPunct="1">
              <a:spcBef>
                <a:spcPct val="50000"/>
              </a:spcBef>
            </a:pPr>
            <a:r>
              <a:rPr kumimoji="1" lang="zh-CN" altLang="en-US" b="1" dirty="0">
                <a:solidFill>
                  <a:srgbClr val="CC0000"/>
                </a:solidFill>
                <a:latin typeface="微软雅黑" pitchFamily="34" charset="-122"/>
                <a:ea typeface="微软雅黑" pitchFamily="34" charset="-122"/>
              </a:rPr>
              <a:t>然后，对剔除季节因素的数据，建立趋势方程</a:t>
            </a:r>
          </a:p>
        </p:txBody>
      </p:sp>
      <p:pic>
        <p:nvPicPr>
          <p:cNvPr id="778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187" y="1434996"/>
            <a:ext cx="5181066" cy="3074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 Box 21"/>
          <p:cNvSpPr txBox="1">
            <a:spLocks noChangeArrowheads="1"/>
          </p:cNvSpPr>
          <p:nvPr/>
        </p:nvSpPr>
        <p:spPr bwMode="auto">
          <a:xfrm>
            <a:off x="26761" y="4455146"/>
            <a:ext cx="886873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eaLnBrk="1" hangingPunct="1">
              <a:spcBef>
                <a:spcPct val="50000"/>
              </a:spcBef>
            </a:pPr>
            <a:r>
              <a:rPr kumimoji="1" lang="zh-CN" altLang="en-US" dirty="0">
                <a:solidFill>
                  <a:srgbClr val="CC0000"/>
                </a:solidFill>
                <a:latin typeface="微软雅黑" pitchFamily="34" charset="-122"/>
                <a:ea typeface="微软雅黑" pitchFamily="34" charset="-122"/>
              </a:rPr>
              <a:t>最后，根据趋势方程进行预测，乘季节指数，得最后预测结果。</a:t>
            </a:r>
          </a:p>
        </p:txBody>
      </p:sp>
      <p:graphicFrame>
        <p:nvGraphicFramePr>
          <p:cNvPr id="3" name="表格 2"/>
          <p:cNvGraphicFramePr>
            <a:graphicFrameLocks noGrp="1"/>
          </p:cNvGraphicFramePr>
          <p:nvPr>
            <p:extLst>
              <p:ext uri="{D42A27DB-BD31-4B8C-83A1-F6EECF244321}">
                <p14:modId xmlns:p14="http://schemas.microsoft.com/office/powerpoint/2010/main" val="3254571907"/>
              </p:ext>
            </p:extLst>
          </p:nvPr>
        </p:nvGraphicFramePr>
        <p:xfrm>
          <a:off x="1616258" y="5049207"/>
          <a:ext cx="6193982" cy="1547838"/>
        </p:xfrm>
        <a:graphic>
          <a:graphicData uri="http://schemas.openxmlformats.org/drawingml/2006/table">
            <a:tbl>
              <a:tblPr>
                <a:tableStyleId>{35758FB7-9AC5-4552-8A53-C91805E547FA}</a:tableStyleId>
              </a:tblPr>
              <a:tblGrid>
                <a:gridCol w="1570594">
                  <a:extLst>
                    <a:ext uri="{9D8B030D-6E8A-4147-A177-3AD203B41FA5}">
                      <a16:colId xmlns:a16="http://schemas.microsoft.com/office/drawing/2014/main" val="20000"/>
                    </a:ext>
                  </a:extLst>
                </a:gridCol>
                <a:gridCol w="1743021">
                  <a:extLst>
                    <a:ext uri="{9D8B030D-6E8A-4147-A177-3AD203B41FA5}">
                      <a16:colId xmlns:a16="http://schemas.microsoft.com/office/drawing/2014/main" val="20001"/>
                    </a:ext>
                  </a:extLst>
                </a:gridCol>
                <a:gridCol w="1272232">
                  <a:extLst>
                    <a:ext uri="{9D8B030D-6E8A-4147-A177-3AD203B41FA5}">
                      <a16:colId xmlns:a16="http://schemas.microsoft.com/office/drawing/2014/main" val="20002"/>
                    </a:ext>
                  </a:extLst>
                </a:gridCol>
                <a:gridCol w="1608135">
                  <a:extLst>
                    <a:ext uri="{9D8B030D-6E8A-4147-A177-3AD203B41FA5}">
                      <a16:colId xmlns:a16="http://schemas.microsoft.com/office/drawing/2014/main" val="20003"/>
                    </a:ext>
                  </a:extLst>
                </a:gridCol>
              </a:tblGrid>
              <a:tr h="412458">
                <a:tc>
                  <a:txBody>
                    <a:bodyPr/>
                    <a:lstStyle/>
                    <a:p>
                      <a:pPr algn="ctr" fontAlgn="b"/>
                      <a:endParaRPr lang="zh-CN" altLang="en-US" sz="1800" b="0" i="0" u="none" strike="noStrike" dirty="0">
                        <a:solidFill>
                          <a:srgbClr val="000000"/>
                        </a:solidFill>
                        <a:effectLst/>
                        <a:latin typeface="宋体"/>
                      </a:endParaRPr>
                    </a:p>
                  </a:txBody>
                  <a:tcPr marL="9525" marR="9525" marT="9525" marB="0" anchor="ctr">
                    <a:solidFill>
                      <a:schemeClr val="accent2">
                        <a:lumMod val="40000"/>
                        <a:lumOff val="60000"/>
                      </a:schemeClr>
                    </a:solidFill>
                  </a:tcPr>
                </a:tc>
                <a:tc>
                  <a:txBody>
                    <a:bodyPr/>
                    <a:lstStyle/>
                    <a:p>
                      <a:pPr algn="ctr" fontAlgn="b"/>
                      <a:r>
                        <a:rPr lang="zh-CN" altLang="en-US" sz="1800" u="none" strike="noStrike" dirty="0">
                          <a:effectLst/>
                        </a:rPr>
                        <a:t>回归方程预测值</a:t>
                      </a:r>
                      <a:endParaRPr lang="zh-CN" altLang="en-US" sz="1800" b="0" i="0" u="none" strike="noStrike" dirty="0">
                        <a:solidFill>
                          <a:srgbClr val="000000"/>
                        </a:solidFill>
                        <a:effectLst/>
                        <a:latin typeface="宋体"/>
                      </a:endParaRPr>
                    </a:p>
                  </a:txBody>
                  <a:tcPr marL="9525" marR="9525" marT="9525" marB="0" anchor="ctr">
                    <a:solidFill>
                      <a:schemeClr val="accent2">
                        <a:lumMod val="40000"/>
                        <a:lumOff val="60000"/>
                      </a:schemeClr>
                    </a:solidFill>
                  </a:tcPr>
                </a:tc>
                <a:tc>
                  <a:txBody>
                    <a:bodyPr/>
                    <a:lstStyle/>
                    <a:p>
                      <a:pPr algn="ctr" fontAlgn="b"/>
                      <a:r>
                        <a:rPr lang="zh-CN" altLang="en-US" sz="1800" u="none" strike="noStrike" dirty="0">
                          <a:effectLst/>
                        </a:rPr>
                        <a:t>季节指数</a:t>
                      </a:r>
                      <a:endParaRPr lang="zh-CN" altLang="en-US" sz="1800" b="0" i="0" u="none" strike="noStrike" dirty="0">
                        <a:solidFill>
                          <a:srgbClr val="000000"/>
                        </a:solidFill>
                        <a:effectLst/>
                        <a:latin typeface="宋体"/>
                      </a:endParaRPr>
                    </a:p>
                  </a:txBody>
                  <a:tcPr marL="9525" marR="9525" marT="9525" marB="0" anchor="ctr">
                    <a:solidFill>
                      <a:schemeClr val="accent2">
                        <a:lumMod val="40000"/>
                        <a:lumOff val="60000"/>
                      </a:schemeClr>
                    </a:solidFill>
                  </a:tcPr>
                </a:tc>
                <a:tc>
                  <a:txBody>
                    <a:bodyPr/>
                    <a:lstStyle/>
                    <a:p>
                      <a:pPr algn="ctr" fontAlgn="b"/>
                      <a:r>
                        <a:rPr lang="zh-CN" altLang="en-US" sz="1800" u="none" strike="noStrike" dirty="0">
                          <a:effectLst/>
                        </a:rPr>
                        <a:t>最终预测结果</a:t>
                      </a:r>
                      <a:endParaRPr lang="zh-CN" altLang="en-US" sz="1800" b="0" i="0" u="none" strike="noStrike" dirty="0">
                        <a:solidFill>
                          <a:srgbClr val="000000"/>
                        </a:solidFill>
                        <a:effectLst/>
                        <a:latin typeface="宋体"/>
                      </a:endParaRPr>
                    </a:p>
                  </a:txBody>
                  <a:tcPr marL="9525" marR="9525" marT="9525" marB="0" anchor="ctr">
                    <a:solidFill>
                      <a:schemeClr val="accent2">
                        <a:lumMod val="40000"/>
                        <a:lumOff val="60000"/>
                      </a:schemeClr>
                    </a:solidFill>
                  </a:tcPr>
                </a:tc>
                <a:extLst>
                  <a:ext uri="{0D108BD9-81ED-4DB2-BD59-A6C34878D82A}">
                    <a16:rowId xmlns:a16="http://schemas.microsoft.com/office/drawing/2014/main" val="10000"/>
                  </a:ext>
                </a:extLst>
              </a:tr>
              <a:tr h="211926">
                <a:tc>
                  <a:txBody>
                    <a:bodyPr/>
                    <a:lstStyle/>
                    <a:p>
                      <a:pPr algn="ctr" fontAlgn="b"/>
                      <a:r>
                        <a:rPr lang="en-US" altLang="zh-CN" sz="1800" u="none" strike="noStrike">
                          <a:effectLst/>
                        </a:rPr>
                        <a:t>2016</a:t>
                      </a:r>
                      <a:r>
                        <a:rPr lang="zh-CN" altLang="en-US" sz="1800" u="none" strike="noStrike">
                          <a:effectLst/>
                        </a:rPr>
                        <a:t>年</a:t>
                      </a:r>
                      <a:r>
                        <a:rPr lang="en-US" altLang="zh-CN" sz="1800" u="none" strike="noStrike">
                          <a:effectLst/>
                        </a:rPr>
                        <a:t>1</a:t>
                      </a:r>
                      <a:r>
                        <a:rPr lang="zh-CN" altLang="en-US" sz="1800" u="none" strike="noStrike">
                          <a:effectLst/>
                        </a:rPr>
                        <a:t>季度</a:t>
                      </a:r>
                      <a:endParaRPr lang="zh-CN" altLang="en-US" sz="1800" b="0" i="0" u="none" strike="noStrike">
                        <a:solidFill>
                          <a:srgbClr val="000000"/>
                        </a:solidFill>
                        <a:effectLst/>
                        <a:latin typeface="宋体"/>
                      </a:endParaRPr>
                    </a:p>
                  </a:txBody>
                  <a:tcPr marL="9525" marR="9525" marT="9525" marB="0" anchor="ctr"/>
                </a:tc>
                <a:tc>
                  <a:txBody>
                    <a:bodyPr/>
                    <a:lstStyle/>
                    <a:p>
                      <a:pPr algn="ctr" fontAlgn="b"/>
                      <a:r>
                        <a:rPr lang="en-US" altLang="zh-CN" sz="1800" u="none" strike="noStrike" dirty="0">
                          <a:effectLst/>
                        </a:rPr>
                        <a:t>6698.244</a:t>
                      </a:r>
                      <a:endParaRPr lang="en-US" altLang="zh-CN" sz="1800" b="0" i="0" u="none" strike="noStrike" dirty="0">
                        <a:solidFill>
                          <a:srgbClr val="000000"/>
                        </a:solidFill>
                        <a:effectLst/>
                        <a:latin typeface="宋体"/>
                      </a:endParaRPr>
                    </a:p>
                  </a:txBody>
                  <a:tcPr marL="9525" marR="9525" marT="9525" marB="0" anchor="ctr"/>
                </a:tc>
                <a:tc>
                  <a:txBody>
                    <a:bodyPr/>
                    <a:lstStyle/>
                    <a:p>
                      <a:pPr algn="ctr" fontAlgn="b"/>
                      <a:r>
                        <a:rPr lang="en-US" altLang="zh-CN" sz="1800" u="none" strike="noStrike" dirty="0">
                          <a:effectLst/>
                        </a:rPr>
                        <a:t>0.714922</a:t>
                      </a:r>
                      <a:endParaRPr lang="en-US" altLang="zh-CN" sz="1800" b="0" i="0" u="none" strike="noStrike" dirty="0">
                        <a:solidFill>
                          <a:srgbClr val="000000"/>
                        </a:solidFill>
                        <a:effectLst/>
                        <a:latin typeface="宋体"/>
                      </a:endParaRPr>
                    </a:p>
                  </a:txBody>
                  <a:tcPr marL="9525" marR="9525" marT="9525" marB="0" anchor="ctr"/>
                </a:tc>
                <a:tc>
                  <a:txBody>
                    <a:bodyPr/>
                    <a:lstStyle/>
                    <a:p>
                      <a:pPr algn="ctr" fontAlgn="b"/>
                      <a:r>
                        <a:rPr lang="en-US" altLang="zh-CN" sz="1800" u="none" strike="noStrike">
                          <a:solidFill>
                            <a:srgbClr val="FF0000"/>
                          </a:solidFill>
                          <a:effectLst/>
                        </a:rPr>
                        <a:t>4788.719</a:t>
                      </a:r>
                      <a:endParaRPr lang="en-US" altLang="zh-CN" sz="1800" b="0" i="0" u="none" strike="noStrike">
                        <a:solidFill>
                          <a:srgbClr val="FF0000"/>
                        </a:solidFill>
                        <a:effectLst/>
                        <a:latin typeface="宋体"/>
                      </a:endParaRPr>
                    </a:p>
                  </a:txBody>
                  <a:tcPr marL="9525" marR="9525" marT="9525" marB="0" anchor="ctr"/>
                </a:tc>
                <a:extLst>
                  <a:ext uri="{0D108BD9-81ED-4DB2-BD59-A6C34878D82A}">
                    <a16:rowId xmlns:a16="http://schemas.microsoft.com/office/drawing/2014/main" val="10001"/>
                  </a:ext>
                </a:extLst>
              </a:tr>
              <a:tr h="211926">
                <a:tc>
                  <a:txBody>
                    <a:bodyPr/>
                    <a:lstStyle/>
                    <a:p>
                      <a:pPr algn="ctr" fontAlgn="b"/>
                      <a:r>
                        <a:rPr lang="en-US" altLang="zh-CN" sz="1800" u="none" strike="noStrike">
                          <a:effectLst/>
                        </a:rPr>
                        <a:t>2016</a:t>
                      </a:r>
                      <a:r>
                        <a:rPr lang="zh-CN" altLang="en-US" sz="1800" u="none" strike="noStrike">
                          <a:effectLst/>
                        </a:rPr>
                        <a:t>年</a:t>
                      </a:r>
                      <a:r>
                        <a:rPr lang="en-US" altLang="zh-CN" sz="1800" u="none" strike="noStrike">
                          <a:effectLst/>
                        </a:rPr>
                        <a:t>2</a:t>
                      </a:r>
                      <a:r>
                        <a:rPr lang="zh-CN" altLang="en-US" sz="1800" u="none" strike="noStrike">
                          <a:effectLst/>
                        </a:rPr>
                        <a:t>季度</a:t>
                      </a:r>
                      <a:endParaRPr lang="zh-CN" altLang="en-US" sz="1800" b="0" i="0" u="none" strike="noStrike">
                        <a:solidFill>
                          <a:srgbClr val="000000"/>
                        </a:solidFill>
                        <a:effectLst/>
                        <a:latin typeface="宋体"/>
                      </a:endParaRPr>
                    </a:p>
                  </a:txBody>
                  <a:tcPr marL="9525" marR="9525" marT="9525" marB="0" anchor="ctr"/>
                </a:tc>
                <a:tc>
                  <a:txBody>
                    <a:bodyPr/>
                    <a:lstStyle/>
                    <a:p>
                      <a:pPr algn="ctr" fontAlgn="b"/>
                      <a:r>
                        <a:rPr lang="en-US" altLang="zh-CN" sz="1800" u="none" strike="noStrike" dirty="0">
                          <a:effectLst/>
                        </a:rPr>
                        <a:t>6557.5301</a:t>
                      </a:r>
                      <a:endParaRPr lang="en-US" altLang="zh-CN" sz="1800" b="0" i="0" u="none" strike="noStrike" dirty="0">
                        <a:solidFill>
                          <a:srgbClr val="000000"/>
                        </a:solidFill>
                        <a:effectLst/>
                        <a:latin typeface="宋体"/>
                      </a:endParaRPr>
                    </a:p>
                  </a:txBody>
                  <a:tcPr marL="9525" marR="9525" marT="9525" marB="0" anchor="ctr"/>
                </a:tc>
                <a:tc>
                  <a:txBody>
                    <a:bodyPr/>
                    <a:lstStyle/>
                    <a:p>
                      <a:pPr algn="ctr" fontAlgn="b"/>
                      <a:r>
                        <a:rPr lang="en-US" altLang="zh-CN" sz="1800" u="none" strike="noStrike" dirty="0">
                          <a:effectLst/>
                        </a:rPr>
                        <a:t>0.843427</a:t>
                      </a:r>
                      <a:endParaRPr lang="en-US" altLang="zh-CN" sz="1800" b="0" i="0" u="none" strike="noStrike" dirty="0">
                        <a:solidFill>
                          <a:srgbClr val="000000"/>
                        </a:solidFill>
                        <a:effectLst/>
                        <a:latin typeface="宋体"/>
                      </a:endParaRPr>
                    </a:p>
                  </a:txBody>
                  <a:tcPr marL="9525" marR="9525" marT="9525" marB="0" anchor="ctr"/>
                </a:tc>
                <a:tc>
                  <a:txBody>
                    <a:bodyPr/>
                    <a:lstStyle/>
                    <a:p>
                      <a:pPr algn="ctr" fontAlgn="b"/>
                      <a:r>
                        <a:rPr lang="en-US" altLang="zh-CN" sz="1800" u="none" strike="noStrike">
                          <a:solidFill>
                            <a:srgbClr val="FF0000"/>
                          </a:solidFill>
                          <a:effectLst/>
                        </a:rPr>
                        <a:t>5530.796</a:t>
                      </a:r>
                      <a:endParaRPr lang="en-US" altLang="zh-CN" sz="1800" b="0" i="0" u="none" strike="noStrike">
                        <a:solidFill>
                          <a:srgbClr val="FF0000"/>
                        </a:solidFill>
                        <a:effectLst/>
                        <a:latin typeface="宋体"/>
                      </a:endParaRPr>
                    </a:p>
                  </a:txBody>
                  <a:tcPr marL="9525" marR="9525" marT="9525" marB="0" anchor="ctr"/>
                </a:tc>
                <a:extLst>
                  <a:ext uri="{0D108BD9-81ED-4DB2-BD59-A6C34878D82A}">
                    <a16:rowId xmlns:a16="http://schemas.microsoft.com/office/drawing/2014/main" val="10002"/>
                  </a:ext>
                </a:extLst>
              </a:tr>
              <a:tr h="211926">
                <a:tc>
                  <a:txBody>
                    <a:bodyPr/>
                    <a:lstStyle/>
                    <a:p>
                      <a:pPr algn="ctr" fontAlgn="b"/>
                      <a:r>
                        <a:rPr lang="en-US" altLang="zh-CN" sz="1800" u="none" strike="noStrike">
                          <a:effectLst/>
                        </a:rPr>
                        <a:t>2016</a:t>
                      </a:r>
                      <a:r>
                        <a:rPr lang="zh-CN" altLang="en-US" sz="1800" u="none" strike="noStrike">
                          <a:effectLst/>
                        </a:rPr>
                        <a:t>年</a:t>
                      </a:r>
                      <a:r>
                        <a:rPr lang="en-US" altLang="zh-CN" sz="1800" u="none" strike="noStrike">
                          <a:effectLst/>
                        </a:rPr>
                        <a:t>3</a:t>
                      </a:r>
                      <a:r>
                        <a:rPr lang="zh-CN" altLang="en-US" sz="1800" u="none" strike="noStrike">
                          <a:effectLst/>
                        </a:rPr>
                        <a:t>季度</a:t>
                      </a:r>
                      <a:endParaRPr lang="zh-CN" altLang="en-US" sz="1800" b="0" i="0" u="none" strike="noStrike">
                        <a:solidFill>
                          <a:srgbClr val="000000"/>
                        </a:solidFill>
                        <a:effectLst/>
                        <a:latin typeface="宋体"/>
                      </a:endParaRPr>
                    </a:p>
                  </a:txBody>
                  <a:tcPr marL="9525" marR="9525" marT="9525" marB="0" anchor="ctr"/>
                </a:tc>
                <a:tc>
                  <a:txBody>
                    <a:bodyPr/>
                    <a:lstStyle/>
                    <a:p>
                      <a:pPr algn="ctr" fontAlgn="b"/>
                      <a:r>
                        <a:rPr lang="en-US" altLang="zh-CN" sz="1800" u="none" strike="noStrike">
                          <a:effectLst/>
                        </a:rPr>
                        <a:t>6402.3296</a:t>
                      </a:r>
                      <a:endParaRPr lang="en-US" altLang="zh-CN" sz="1800" b="0" i="0" u="none" strike="noStrike">
                        <a:solidFill>
                          <a:srgbClr val="000000"/>
                        </a:solidFill>
                        <a:effectLst/>
                        <a:latin typeface="宋体"/>
                      </a:endParaRPr>
                    </a:p>
                  </a:txBody>
                  <a:tcPr marL="9525" marR="9525" marT="9525" marB="0" anchor="ctr"/>
                </a:tc>
                <a:tc>
                  <a:txBody>
                    <a:bodyPr/>
                    <a:lstStyle/>
                    <a:p>
                      <a:pPr algn="ctr" fontAlgn="b"/>
                      <a:r>
                        <a:rPr lang="en-US" altLang="zh-CN" sz="1800" u="none" strike="noStrike" dirty="0">
                          <a:effectLst/>
                        </a:rPr>
                        <a:t>1.219988</a:t>
                      </a:r>
                      <a:endParaRPr lang="en-US" altLang="zh-CN" sz="1800" b="0" i="0" u="none" strike="noStrike" dirty="0">
                        <a:solidFill>
                          <a:srgbClr val="000000"/>
                        </a:solidFill>
                        <a:effectLst/>
                        <a:latin typeface="宋体"/>
                      </a:endParaRPr>
                    </a:p>
                  </a:txBody>
                  <a:tcPr marL="9525" marR="9525" marT="9525" marB="0" anchor="ctr"/>
                </a:tc>
                <a:tc>
                  <a:txBody>
                    <a:bodyPr/>
                    <a:lstStyle/>
                    <a:p>
                      <a:pPr algn="ctr" fontAlgn="b"/>
                      <a:r>
                        <a:rPr lang="en-US" altLang="zh-CN" sz="1800" u="none" strike="noStrike" dirty="0">
                          <a:solidFill>
                            <a:srgbClr val="FF0000"/>
                          </a:solidFill>
                          <a:effectLst/>
                        </a:rPr>
                        <a:t>7810.766</a:t>
                      </a:r>
                      <a:endParaRPr lang="en-US" altLang="zh-CN" sz="1800" b="0" i="0" u="none" strike="noStrike" dirty="0">
                        <a:solidFill>
                          <a:srgbClr val="FF0000"/>
                        </a:solidFill>
                        <a:effectLst/>
                        <a:latin typeface="宋体"/>
                      </a:endParaRPr>
                    </a:p>
                  </a:txBody>
                  <a:tcPr marL="9525" marR="9525" marT="9525" marB="0" anchor="ctr"/>
                </a:tc>
                <a:extLst>
                  <a:ext uri="{0D108BD9-81ED-4DB2-BD59-A6C34878D82A}">
                    <a16:rowId xmlns:a16="http://schemas.microsoft.com/office/drawing/2014/main" val="10003"/>
                  </a:ext>
                </a:extLst>
              </a:tr>
              <a:tr h="211926">
                <a:tc>
                  <a:txBody>
                    <a:bodyPr/>
                    <a:lstStyle/>
                    <a:p>
                      <a:pPr algn="ctr" fontAlgn="b"/>
                      <a:r>
                        <a:rPr lang="en-US" altLang="zh-CN" sz="1800" u="none" strike="noStrike">
                          <a:effectLst/>
                        </a:rPr>
                        <a:t>2016</a:t>
                      </a:r>
                      <a:r>
                        <a:rPr lang="zh-CN" altLang="en-US" sz="1800" u="none" strike="noStrike">
                          <a:effectLst/>
                        </a:rPr>
                        <a:t>年</a:t>
                      </a:r>
                      <a:r>
                        <a:rPr lang="en-US" altLang="zh-CN" sz="1800" u="none" strike="noStrike">
                          <a:effectLst/>
                        </a:rPr>
                        <a:t>4</a:t>
                      </a:r>
                      <a:r>
                        <a:rPr lang="zh-CN" altLang="en-US" sz="1800" u="none" strike="noStrike">
                          <a:effectLst/>
                        </a:rPr>
                        <a:t>季度</a:t>
                      </a:r>
                      <a:endParaRPr lang="zh-CN" altLang="en-US" sz="1800" b="0" i="0" u="none" strike="noStrike">
                        <a:solidFill>
                          <a:srgbClr val="000000"/>
                        </a:solidFill>
                        <a:effectLst/>
                        <a:latin typeface="宋体"/>
                      </a:endParaRPr>
                    </a:p>
                  </a:txBody>
                  <a:tcPr marL="9525" marR="9525" marT="9525" marB="0" anchor="ctr"/>
                </a:tc>
                <a:tc>
                  <a:txBody>
                    <a:bodyPr/>
                    <a:lstStyle/>
                    <a:p>
                      <a:pPr algn="ctr" fontAlgn="b"/>
                      <a:r>
                        <a:rPr lang="en-US" altLang="zh-CN" sz="1800" u="none" strike="noStrike" dirty="0">
                          <a:effectLst/>
                        </a:rPr>
                        <a:t>7188.7581</a:t>
                      </a:r>
                      <a:endParaRPr lang="en-US" altLang="zh-CN" sz="1800" b="0" i="0" u="none" strike="noStrike" dirty="0">
                        <a:solidFill>
                          <a:srgbClr val="000000"/>
                        </a:solidFill>
                        <a:effectLst/>
                        <a:latin typeface="宋体"/>
                      </a:endParaRPr>
                    </a:p>
                  </a:txBody>
                  <a:tcPr marL="9525" marR="9525" marT="9525" marB="0" anchor="ctr"/>
                </a:tc>
                <a:tc>
                  <a:txBody>
                    <a:bodyPr/>
                    <a:lstStyle/>
                    <a:p>
                      <a:pPr algn="ctr" fontAlgn="b"/>
                      <a:r>
                        <a:rPr lang="en-US" altLang="zh-CN" sz="1800" u="none" strike="noStrike" dirty="0">
                          <a:effectLst/>
                        </a:rPr>
                        <a:t>1.221664</a:t>
                      </a:r>
                      <a:endParaRPr lang="en-US" altLang="zh-CN" sz="1800" b="0" i="0" u="none" strike="noStrike" dirty="0">
                        <a:solidFill>
                          <a:srgbClr val="000000"/>
                        </a:solidFill>
                        <a:effectLst/>
                        <a:latin typeface="宋体"/>
                      </a:endParaRPr>
                    </a:p>
                  </a:txBody>
                  <a:tcPr marL="9525" marR="9525" marT="9525" marB="0" anchor="ctr"/>
                </a:tc>
                <a:tc>
                  <a:txBody>
                    <a:bodyPr/>
                    <a:lstStyle/>
                    <a:p>
                      <a:pPr algn="ctr" fontAlgn="b"/>
                      <a:r>
                        <a:rPr lang="en-US" altLang="zh-CN" sz="1800" u="none" strike="noStrike" dirty="0">
                          <a:solidFill>
                            <a:srgbClr val="FF0000"/>
                          </a:solidFill>
                          <a:effectLst/>
                        </a:rPr>
                        <a:t>8782.244</a:t>
                      </a:r>
                      <a:endParaRPr lang="en-US" altLang="zh-CN" sz="1800" b="0" i="0" u="none" strike="noStrike" dirty="0">
                        <a:solidFill>
                          <a:srgbClr val="FF0000"/>
                        </a:solidFill>
                        <a:effectLst/>
                        <a:latin typeface="宋体"/>
                      </a:endParaRPr>
                    </a:p>
                  </a:txBody>
                  <a:tcPr marL="9525" marR="9525" marT="9525"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226102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par>
                                <p:cTn id="8" presetID="16" presetClass="entr" presetSubtype="21"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9233" name="矩形 1"/>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12" name="Text Box 21"/>
          <p:cNvSpPr txBox="1">
            <a:spLocks noChangeArrowheads="1"/>
          </p:cNvSpPr>
          <p:nvPr/>
        </p:nvSpPr>
        <p:spPr bwMode="auto">
          <a:xfrm>
            <a:off x="92075" y="908678"/>
            <a:ext cx="808038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eaLnBrk="1" hangingPunct="1">
              <a:spcBef>
                <a:spcPct val="50000"/>
              </a:spcBef>
            </a:pPr>
            <a:r>
              <a:rPr kumimoji="1" lang="en-US" altLang="zh-CN" sz="3200" b="1" dirty="0">
                <a:solidFill>
                  <a:srgbClr val="FF0000"/>
                </a:solidFill>
                <a:latin typeface="微软雅黑" pitchFamily="34" charset="-122"/>
                <a:ea typeface="微软雅黑" pitchFamily="34" charset="-122"/>
              </a:rPr>
              <a:t>5. </a:t>
            </a:r>
            <a:r>
              <a:rPr kumimoji="1" lang="zh-CN" altLang="en-US" sz="3200" b="1" dirty="0">
                <a:solidFill>
                  <a:srgbClr val="FF0000"/>
                </a:solidFill>
                <a:latin typeface="微软雅黑" pitchFamily="34" charset="-122"/>
                <a:ea typeface="微软雅黑" pitchFamily="34" charset="-122"/>
              </a:rPr>
              <a:t>高维数据驱动的预测方法</a:t>
            </a:r>
            <a:endParaRPr kumimoji="1" lang="en-US" altLang="zh-CN" sz="3200" b="1" dirty="0">
              <a:solidFill>
                <a:srgbClr val="FF0000"/>
              </a:solidFill>
              <a:latin typeface="微软雅黑" pitchFamily="34" charset="-122"/>
              <a:ea typeface="微软雅黑" pitchFamily="34" charset="-122"/>
            </a:endParaRPr>
          </a:p>
        </p:txBody>
      </p:sp>
      <p:sp>
        <p:nvSpPr>
          <p:cNvPr id="24"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19"/>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1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3" name="Rectangle 1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2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 name="表格 1"/>
          <p:cNvGraphicFramePr>
            <a:graphicFrameLocks noGrp="1"/>
          </p:cNvGraphicFramePr>
          <p:nvPr>
            <p:extLst>
              <p:ext uri="{D42A27DB-BD31-4B8C-83A1-F6EECF244321}">
                <p14:modId xmlns:p14="http://schemas.microsoft.com/office/powerpoint/2010/main" val="2350203077"/>
              </p:ext>
            </p:extLst>
          </p:nvPr>
        </p:nvGraphicFramePr>
        <p:xfrm>
          <a:off x="711834" y="2777728"/>
          <a:ext cx="7640648" cy="3997390"/>
        </p:xfrm>
        <a:graphic>
          <a:graphicData uri="http://schemas.openxmlformats.org/drawingml/2006/table">
            <a:tbl>
              <a:tblPr>
                <a:tableStyleId>{E8B1032C-EA38-4F05-BA0D-38AFFFC7BED3}</a:tableStyleId>
              </a:tblPr>
              <a:tblGrid>
                <a:gridCol w="587742">
                  <a:extLst>
                    <a:ext uri="{9D8B030D-6E8A-4147-A177-3AD203B41FA5}">
                      <a16:colId xmlns:a16="http://schemas.microsoft.com/office/drawing/2014/main" val="20000"/>
                    </a:ext>
                  </a:extLst>
                </a:gridCol>
                <a:gridCol w="587742">
                  <a:extLst>
                    <a:ext uri="{9D8B030D-6E8A-4147-A177-3AD203B41FA5}">
                      <a16:colId xmlns:a16="http://schemas.microsoft.com/office/drawing/2014/main" val="20001"/>
                    </a:ext>
                  </a:extLst>
                </a:gridCol>
                <a:gridCol w="587742">
                  <a:extLst>
                    <a:ext uri="{9D8B030D-6E8A-4147-A177-3AD203B41FA5}">
                      <a16:colId xmlns:a16="http://schemas.microsoft.com/office/drawing/2014/main" val="20002"/>
                    </a:ext>
                  </a:extLst>
                </a:gridCol>
                <a:gridCol w="587742">
                  <a:extLst>
                    <a:ext uri="{9D8B030D-6E8A-4147-A177-3AD203B41FA5}">
                      <a16:colId xmlns:a16="http://schemas.microsoft.com/office/drawing/2014/main" val="20003"/>
                    </a:ext>
                  </a:extLst>
                </a:gridCol>
                <a:gridCol w="587742">
                  <a:extLst>
                    <a:ext uri="{9D8B030D-6E8A-4147-A177-3AD203B41FA5}">
                      <a16:colId xmlns:a16="http://schemas.microsoft.com/office/drawing/2014/main" val="20004"/>
                    </a:ext>
                  </a:extLst>
                </a:gridCol>
                <a:gridCol w="587742">
                  <a:extLst>
                    <a:ext uri="{9D8B030D-6E8A-4147-A177-3AD203B41FA5}">
                      <a16:colId xmlns:a16="http://schemas.microsoft.com/office/drawing/2014/main" val="20005"/>
                    </a:ext>
                  </a:extLst>
                </a:gridCol>
                <a:gridCol w="587742">
                  <a:extLst>
                    <a:ext uri="{9D8B030D-6E8A-4147-A177-3AD203B41FA5}">
                      <a16:colId xmlns:a16="http://schemas.microsoft.com/office/drawing/2014/main" val="20006"/>
                    </a:ext>
                  </a:extLst>
                </a:gridCol>
                <a:gridCol w="587742">
                  <a:extLst>
                    <a:ext uri="{9D8B030D-6E8A-4147-A177-3AD203B41FA5}">
                      <a16:colId xmlns:a16="http://schemas.microsoft.com/office/drawing/2014/main" val="20007"/>
                    </a:ext>
                  </a:extLst>
                </a:gridCol>
                <a:gridCol w="587742">
                  <a:extLst>
                    <a:ext uri="{9D8B030D-6E8A-4147-A177-3AD203B41FA5}">
                      <a16:colId xmlns:a16="http://schemas.microsoft.com/office/drawing/2014/main" val="20008"/>
                    </a:ext>
                  </a:extLst>
                </a:gridCol>
                <a:gridCol w="587742">
                  <a:extLst>
                    <a:ext uri="{9D8B030D-6E8A-4147-A177-3AD203B41FA5}">
                      <a16:colId xmlns:a16="http://schemas.microsoft.com/office/drawing/2014/main" val="20009"/>
                    </a:ext>
                  </a:extLst>
                </a:gridCol>
                <a:gridCol w="611591">
                  <a:extLst>
                    <a:ext uri="{9D8B030D-6E8A-4147-A177-3AD203B41FA5}">
                      <a16:colId xmlns:a16="http://schemas.microsoft.com/office/drawing/2014/main" val="20010"/>
                    </a:ext>
                  </a:extLst>
                </a:gridCol>
                <a:gridCol w="563895">
                  <a:extLst>
                    <a:ext uri="{9D8B030D-6E8A-4147-A177-3AD203B41FA5}">
                      <a16:colId xmlns:a16="http://schemas.microsoft.com/office/drawing/2014/main" val="20011"/>
                    </a:ext>
                  </a:extLst>
                </a:gridCol>
                <a:gridCol w="587742">
                  <a:extLst>
                    <a:ext uri="{9D8B030D-6E8A-4147-A177-3AD203B41FA5}">
                      <a16:colId xmlns:a16="http://schemas.microsoft.com/office/drawing/2014/main" val="20012"/>
                    </a:ext>
                  </a:extLst>
                </a:gridCol>
              </a:tblGrid>
              <a:tr h="294583">
                <a:tc>
                  <a:txBody>
                    <a:bodyPr/>
                    <a:lstStyle/>
                    <a:p>
                      <a:pPr algn="ctr">
                        <a:lnSpc>
                          <a:spcPct val="115000"/>
                        </a:lnSpc>
                        <a:spcAft>
                          <a:spcPts val="0"/>
                        </a:spcAft>
                      </a:pPr>
                      <a:r>
                        <a:rPr lang="zh-CN" sz="1200" kern="0" dirty="0">
                          <a:effectLst/>
                          <a:latin typeface="+mn-ea"/>
                          <a:ea typeface="+mn-ea"/>
                          <a:cs typeface="Times New Roman"/>
                        </a:rPr>
                        <a:t>工作面编号</a:t>
                      </a:r>
                      <a:endParaRPr lang="zh-CN" sz="1200" kern="100" dirty="0">
                        <a:effectLst/>
                        <a:latin typeface="+mn-ea"/>
                        <a:ea typeface="+mn-ea"/>
                        <a:cs typeface="Times New Roman"/>
                      </a:endParaRPr>
                    </a:p>
                  </a:txBody>
                  <a:tcPr marL="68580" marR="68580" marT="0" marB="0" anchor="ctr">
                    <a:solidFill>
                      <a:schemeClr val="accent2">
                        <a:lumMod val="40000"/>
                        <a:lumOff val="60000"/>
                      </a:schemeClr>
                    </a:solidFill>
                  </a:tcPr>
                </a:tc>
                <a:tc>
                  <a:txBody>
                    <a:bodyPr/>
                    <a:lstStyle/>
                    <a:p>
                      <a:pPr algn="ctr">
                        <a:lnSpc>
                          <a:spcPct val="115000"/>
                        </a:lnSpc>
                        <a:spcAft>
                          <a:spcPts val="0"/>
                        </a:spcAft>
                      </a:pPr>
                      <a:r>
                        <a:rPr lang="zh-CN" sz="1200" kern="0" dirty="0">
                          <a:effectLst/>
                          <a:latin typeface="+mn-ea"/>
                          <a:ea typeface="+mn-ea"/>
                          <a:cs typeface="Times New Roman"/>
                        </a:rPr>
                        <a:t>煤层瓦斯含量</a:t>
                      </a:r>
                      <a:r>
                        <a:rPr lang="en-US" altLang="zh-CN" sz="1200" kern="0" dirty="0">
                          <a:effectLst/>
                          <a:latin typeface="+mn-ea"/>
                          <a:ea typeface="+mn-ea"/>
                          <a:cs typeface="Times New Roman"/>
                        </a:rPr>
                        <a:t>m3/t</a:t>
                      </a:r>
                      <a:endParaRPr lang="zh-CN" sz="1200" kern="100" dirty="0">
                        <a:effectLst/>
                        <a:latin typeface="+mn-ea"/>
                        <a:ea typeface="+mn-ea"/>
                        <a:cs typeface="Times New Roman"/>
                      </a:endParaRPr>
                    </a:p>
                  </a:txBody>
                  <a:tcPr marL="68580" marR="68580" marT="0" marB="0" anchor="ctr">
                    <a:solidFill>
                      <a:schemeClr val="accent2">
                        <a:lumMod val="40000"/>
                        <a:lumOff val="60000"/>
                      </a:schemeClr>
                    </a:solidFill>
                  </a:tcPr>
                </a:tc>
                <a:tc>
                  <a:txBody>
                    <a:bodyPr/>
                    <a:lstStyle/>
                    <a:p>
                      <a:pPr algn="ctr">
                        <a:lnSpc>
                          <a:spcPct val="115000"/>
                        </a:lnSpc>
                        <a:spcAft>
                          <a:spcPts val="0"/>
                        </a:spcAft>
                      </a:pPr>
                      <a:r>
                        <a:rPr lang="zh-CN" sz="1200" kern="0" dirty="0">
                          <a:effectLst/>
                          <a:latin typeface="+mn-ea"/>
                          <a:ea typeface="+mn-ea"/>
                          <a:cs typeface="Times New Roman"/>
                        </a:rPr>
                        <a:t>煤层深度</a:t>
                      </a:r>
                      <a:r>
                        <a:rPr lang="en-US" altLang="zh-CN" sz="1200" kern="0" dirty="0">
                          <a:effectLst/>
                          <a:latin typeface="+mn-ea"/>
                          <a:ea typeface="+mn-ea"/>
                          <a:cs typeface="Times New Roman"/>
                        </a:rPr>
                        <a:t>m</a:t>
                      </a:r>
                      <a:endParaRPr lang="zh-CN" sz="1200" kern="100" dirty="0">
                        <a:effectLst/>
                        <a:latin typeface="+mn-ea"/>
                        <a:ea typeface="+mn-ea"/>
                        <a:cs typeface="Times New Roman"/>
                      </a:endParaRPr>
                    </a:p>
                  </a:txBody>
                  <a:tcPr marL="68580" marR="68580" marT="0" marB="0" anchor="ctr">
                    <a:solidFill>
                      <a:schemeClr val="accent2">
                        <a:lumMod val="40000"/>
                        <a:lumOff val="60000"/>
                      </a:schemeClr>
                    </a:solidFill>
                  </a:tcPr>
                </a:tc>
                <a:tc>
                  <a:txBody>
                    <a:bodyPr/>
                    <a:lstStyle/>
                    <a:p>
                      <a:pPr algn="ctr">
                        <a:lnSpc>
                          <a:spcPct val="115000"/>
                        </a:lnSpc>
                        <a:spcAft>
                          <a:spcPts val="0"/>
                        </a:spcAft>
                      </a:pPr>
                      <a:r>
                        <a:rPr lang="zh-CN" sz="1200" kern="0" dirty="0">
                          <a:effectLst/>
                          <a:latin typeface="+mn-ea"/>
                          <a:ea typeface="+mn-ea"/>
                          <a:cs typeface="Times New Roman"/>
                        </a:rPr>
                        <a:t>煤层厚度</a:t>
                      </a:r>
                      <a:r>
                        <a:rPr lang="en-US" altLang="zh-CN" sz="1200" kern="0" dirty="0">
                          <a:effectLst/>
                          <a:latin typeface="+mn-ea"/>
                          <a:ea typeface="+mn-ea"/>
                          <a:cs typeface="Times New Roman"/>
                        </a:rPr>
                        <a:t>m</a:t>
                      </a:r>
                      <a:endParaRPr lang="zh-CN" sz="1200" kern="100" dirty="0">
                        <a:effectLst/>
                        <a:latin typeface="+mn-ea"/>
                        <a:ea typeface="+mn-ea"/>
                        <a:cs typeface="Times New Roman"/>
                      </a:endParaRPr>
                    </a:p>
                  </a:txBody>
                  <a:tcPr marL="68580" marR="68580" marT="0" marB="0" anchor="ctr">
                    <a:solidFill>
                      <a:schemeClr val="accent2">
                        <a:lumMod val="40000"/>
                        <a:lumOff val="60000"/>
                      </a:schemeClr>
                    </a:solidFill>
                  </a:tcPr>
                </a:tc>
                <a:tc>
                  <a:txBody>
                    <a:bodyPr/>
                    <a:lstStyle/>
                    <a:p>
                      <a:pPr algn="ctr">
                        <a:lnSpc>
                          <a:spcPct val="115000"/>
                        </a:lnSpc>
                        <a:spcAft>
                          <a:spcPts val="0"/>
                        </a:spcAft>
                      </a:pPr>
                      <a:r>
                        <a:rPr lang="zh-CN" sz="1200" kern="0" dirty="0">
                          <a:effectLst/>
                          <a:latin typeface="+mn-ea"/>
                          <a:ea typeface="+mn-ea"/>
                          <a:cs typeface="Times New Roman"/>
                        </a:rPr>
                        <a:t>工作面长度</a:t>
                      </a:r>
                      <a:r>
                        <a:rPr lang="en-US" altLang="zh-CN" sz="1200" kern="0" dirty="0">
                          <a:effectLst/>
                          <a:latin typeface="+mn-ea"/>
                          <a:ea typeface="+mn-ea"/>
                          <a:cs typeface="Times New Roman"/>
                        </a:rPr>
                        <a:t>m</a:t>
                      </a:r>
                      <a:endParaRPr lang="zh-CN" sz="1200" kern="100" dirty="0">
                        <a:effectLst/>
                        <a:latin typeface="+mn-ea"/>
                        <a:ea typeface="+mn-ea"/>
                        <a:cs typeface="Times New Roman"/>
                      </a:endParaRPr>
                    </a:p>
                  </a:txBody>
                  <a:tcPr marL="68580" marR="68580" marT="0" marB="0" anchor="ctr">
                    <a:solidFill>
                      <a:schemeClr val="accent2">
                        <a:lumMod val="40000"/>
                        <a:lumOff val="60000"/>
                      </a:schemeClr>
                    </a:solidFill>
                  </a:tcPr>
                </a:tc>
                <a:tc>
                  <a:txBody>
                    <a:bodyPr/>
                    <a:lstStyle/>
                    <a:p>
                      <a:pPr algn="ctr">
                        <a:lnSpc>
                          <a:spcPct val="115000"/>
                        </a:lnSpc>
                        <a:spcAft>
                          <a:spcPts val="0"/>
                        </a:spcAft>
                      </a:pPr>
                      <a:r>
                        <a:rPr lang="zh-CN" sz="1200" kern="0" dirty="0">
                          <a:effectLst/>
                          <a:latin typeface="+mn-ea"/>
                          <a:ea typeface="+mn-ea"/>
                          <a:cs typeface="Times New Roman"/>
                        </a:rPr>
                        <a:t>推进速度</a:t>
                      </a:r>
                      <a:r>
                        <a:rPr lang="en-US" altLang="zh-CN" sz="1200" kern="0" dirty="0">
                          <a:effectLst/>
                          <a:latin typeface="+mn-ea"/>
                          <a:ea typeface="+mn-ea"/>
                          <a:cs typeface="Times New Roman"/>
                        </a:rPr>
                        <a:t>m/min</a:t>
                      </a:r>
                      <a:endParaRPr lang="zh-CN" sz="1200" kern="100" dirty="0">
                        <a:effectLst/>
                        <a:latin typeface="+mn-ea"/>
                        <a:ea typeface="+mn-ea"/>
                        <a:cs typeface="Times New Roman"/>
                      </a:endParaRPr>
                    </a:p>
                  </a:txBody>
                  <a:tcPr marL="68580" marR="68580" marT="0" marB="0" anchor="ctr">
                    <a:solidFill>
                      <a:schemeClr val="accent2">
                        <a:lumMod val="40000"/>
                        <a:lumOff val="60000"/>
                      </a:schemeClr>
                    </a:solidFill>
                  </a:tcPr>
                </a:tc>
                <a:tc>
                  <a:txBody>
                    <a:bodyPr/>
                    <a:lstStyle/>
                    <a:p>
                      <a:pPr algn="ctr">
                        <a:lnSpc>
                          <a:spcPct val="115000"/>
                        </a:lnSpc>
                        <a:spcAft>
                          <a:spcPts val="0"/>
                        </a:spcAft>
                      </a:pPr>
                      <a:r>
                        <a:rPr lang="zh-CN" sz="1200" kern="0" dirty="0">
                          <a:effectLst/>
                          <a:latin typeface="+mn-ea"/>
                          <a:ea typeface="+mn-ea"/>
                          <a:cs typeface="Times New Roman"/>
                        </a:rPr>
                        <a:t>采出率</a:t>
                      </a:r>
                      <a:endParaRPr lang="zh-CN" sz="1200" kern="100" dirty="0">
                        <a:effectLst/>
                        <a:latin typeface="+mn-ea"/>
                        <a:ea typeface="+mn-ea"/>
                        <a:cs typeface="Times New Roman"/>
                      </a:endParaRPr>
                    </a:p>
                  </a:txBody>
                  <a:tcPr marL="68580" marR="68580" marT="0" marB="0" anchor="ctr">
                    <a:solidFill>
                      <a:schemeClr val="accent2">
                        <a:lumMod val="40000"/>
                        <a:lumOff val="60000"/>
                      </a:schemeClr>
                    </a:solidFill>
                  </a:tcPr>
                </a:tc>
                <a:tc>
                  <a:txBody>
                    <a:bodyPr/>
                    <a:lstStyle/>
                    <a:p>
                      <a:pPr algn="ctr">
                        <a:lnSpc>
                          <a:spcPct val="115000"/>
                        </a:lnSpc>
                        <a:spcAft>
                          <a:spcPts val="0"/>
                        </a:spcAft>
                      </a:pPr>
                      <a:r>
                        <a:rPr lang="zh-CN" sz="1200" kern="0" dirty="0">
                          <a:effectLst/>
                          <a:latin typeface="+mn-ea"/>
                          <a:ea typeface="+mn-ea"/>
                          <a:cs typeface="Times New Roman"/>
                        </a:rPr>
                        <a:t>临近层瓦斯含量</a:t>
                      </a:r>
                      <a:r>
                        <a:rPr lang="en-US" altLang="zh-CN" sz="1200" kern="1200" dirty="0">
                          <a:solidFill>
                            <a:schemeClr val="tx1"/>
                          </a:solidFill>
                          <a:effectLst/>
                          <a:latin typeface="+mn-ea"/>
                          <a:ea typeface="+mn-ea"/>
                          <a:cs typeface="+mn-cs"/>
                        </a:rPr>
                        <a:t>m</a:t>
                      </a:r>
                      <a:r>
                        <a:rPr lang="en-US" altLang="zh-CN" sz="1200" kern="1200" baseline="30000" dirty="0">
                          <a:solidFill>
                            <a:schemeClr val="tx1"/>
                          </a:solidFill>
                          <a:effectLst/>
                          <a:latin typeface="+mn-ea"/>
                          <a:ea typeface="+mn-ea"/>
                          <a:cs typeface="+mn-cs"/>
                        </a:rPr>
                        <a:t>3</a:t>
                      </a:r>
                      <a:r>
                        <a:rPr lang="en-US" altLang="zh-CN" sz="1200" kern="1200" dirty="0">
                          <a:solidFill>
                            <a:schemeClr val="tx1"/>
                          </a:solidFill>
                          <a:effectLst/>
                          <a:latin typeface="+mn-ea"/>
                          <a:ea typeface="+mn-ea"/>
                          <a:cs typeface="+mn-cs"/>
                        </a:rPr>
                        <a:t>/t</a:t>
                      </a:r>
                      <a:endParaRPr lang="zh-CN" sz="1200" kern="100" dirty="0">
                        <a:effectLst/>
                        <a:latin typeface="+mn-ea"/>
                        <a:ea typeface="+mn-ea"/>
                        <a:cs typeface="Times New Roman"/>
                      </a:endParaRPr>
                    </a:p>
                  </a:txBody>
                  <a:tcPr marL="68580" marR="68580" marT="0" marB="0" anchor="ctr">
                    <a:solidFill>
                      <a:schemeClr val="accent2">
                        <a:lumMod val="40000"/>
                        <a:lumOff val="60000"/>
                      </a:schemeClr>
                    </a:solidFill>
                  </a:tcPr>
                </a:tc>
                <a:tc>
                  <a:txBody>
                    <a:bodyPr/>
                    <a:lstStyle/>
                    <a:p>
                      <a:pPr algn="ctr">
                        <a:lnSpc>
                          <a:spcPct val="115000"/>
                        </a:lnSpc>
                        <a:spcAft>
                          <a:spcPts val="0"/>
                        </a:spcAft>
                      </a:pPr>
                      <a:r>
                        <a:rPr lang="zh-CN" sz="1200" kern="0" dirty="0">
                          <a:effectLst/>
                          <a:latin typeface="+mn-ea"/>
                          <a:ea typeface="+mn-ea"/>
                          <a:cs typeface="Times New Roman"/>
                        </a:rPr>
                        <a:t>临近层厚度</a:t>
                      </a:r>
                      <a:r>
                        <a:rPr lang="en-US" altLang="zh-CN" sz="1200" kern="0" dirty="0">
                          <a:effectLst/>
                          <a:latin typeface="+mn-ea"/>
                          <a:ea typeface="+mn-ea"/>
                          <a:cs typeface="Times New Roman"/>
                        </a:rPr>
                        <a:t>m</a:t>
                      </a:r>
                      <a:endParaRPr lang="zh-CN" sz="1200" kern="100" dirty="0">
                        <a:effectLst/>
                        <a:latin typeface="+mn-ea"/>
                        <a:ea typeface="+mn-ea"/>
                        <a:cs typeface="Times New Roman"/>
                      </a:endParaRPr>
                    </a:p>
                  </a:txBody>
                  <a:tcPr marL="68580" marR="68580" marT="0" marB="0" anchor="ctr">
                    <a:solidFill>
                      <a:schemeClr val="accent2">
                        <a:lumMod val="40000"/>
                        <a:lumOff val="60000"/>
                      </a:schemeClr>
                    </a:solidFill>
                  </a:tcPr>
                </a:tc>
                <a:tc>
                  <a:txBody>
                    <a:bodyPr/>
                    <a:lstStyle/>
                    <a:p>
                      <a:pPr algn="ctr">
                        <a:lnSpc>
                          <a:spcPct val="115000"/>
                        </a:lnSpc>
                        <a:spcAft>
                          <a:spcPts val="0"/>
                        </a:spcAft>
                      </a:pPr>
                      <a:r>
                        <a:rPr lang="zh-CN" sz="1200" kern="0" dirty="0">
                          <a:effectLst/>
                          <a:latin typeface="+mn-ea"/>
                          <a:ea typeface="+mn-ea"/>
                          <a:cs typeface="Times New Roman"/>
                        </a:rPr>
                        <a:t>层间距</a:t>
                      </a:r>
                      <a:r>
                        <a:rPr lang="en-US" altLang="zh-CN" sz="1200" kern="0" dirty="0">
                          <a:effectLst/>
                          <a:latin typeface="+mn-ea"/>
                          <a:ea typeface="+mn-ea"/>
                          <a:cs typeface="Times New Roman"/>
                        </a:rPr>
                        <a:t>m</a:t>
                      </a:r>
                      <a:endParaRPr lang="zh-CN" sz="1200" kern="100" dirty="0">
                        <a:effectLst/>
                        <a:latin typeface="+mn-ea"/>
                        <a:ea typeface="+mn-ea"/>
                        <a:cs typeface="Times New Roman"/>
                      </a:endParaRPr>
                    </a:p>
                  </a:txBody>
                  <a:tcPr marL="68580" marR="68580" marT="0" marB="0" anchor="ctr">
                    <a:solidFill>
                      <a:schemeClr val="accent2">
                        <a:lumMod val="40000"/>
                        <a:lumOff val="60000"/>
                      </a:schemeClr>
                    </a:solidFill>
                  </a:tcPr>
                </a:tc>
                <a:tc>
                  <a:txBody>
                    <a:bodyPr/>
                    <a:lstStyle/>
                    <a:p>
                      <a:pPr algn="ctr">
                        <a:lnSpc>
                          <a:spcPct val="115000"/>
                        </a:lnSpc>
                        <a:spcAft>
                          <a:spcPts val="0"/>
                        </a:spcAft>
                      </a:pPr>
                      <a:r>
                        <a:rPr lang="zh-CN" sz="1200" kern="0">
                          <a:effectLst/>
                          <a:latin typeface="+mn-ea"/>
                          <a:ea typeface="+mn-ea"/>
                          <a:cs typeface="Times New Roman"/>
                        </a:rPr>
                        <a:t>层间岩性</a:t>
                      </a:r>
                      <a:endParaRPr lang="zh-CN" sz="1200" kern="100">
                        <a:effectLst/>
                        <a:latin typeface="+mn-ea"/>
                        <a:ea typeface="+mn-ea"/>
                        <a:cs typeface="Times New Roman"/>
                      </a:endParaRPr>
                    </a:p>
                  </a:txBody>
                  <a:tcPr marL="68580" marR="68580" marT="0" marB="0" anchor="ctr">
                    <a:solidFill>
                      <a:schemeClr val="accent2">
                        <a:lumMod val="40000"/>
                        <a:lumOff val="60000"/>
                      </a:schemeClr>
                    </a:solidFill>
                  </a:tcPr>
                </a:tc>
                <a:tc>
                  <a:txBody>
                    <a:bodyPr/>
                    <a:lstStyle/>
                    <a:p>
                      <a:pPr algn="ctr">
                        <a:lnSpc>
                          <a:spcPct val="115000"/>
                        </a:lnSpc>
                        <a:spcAft>
                          <a:spcPts val="0"/>
                        </a:spcAft>
                      </a:pPr>
                      <a:r>
                        <a:rPr lang="zh-CN" sz="1200" kern="0" dirty="0">
                          <a:effectLst/>
                          <a:latin typeface="+mn-ea"/>
                          <a:ea typeface="+mn-ea"/>
                          <a:cs typeface="Times New Roman"/>
                        </a:rPr>
                        <a:t>开采深度</a:t>
                      </a:r>
                      <a:r>
                        <a:rPr lang="en-US" altLang="zh-CN" sz="1200" kern="0" dirty="0">
                          <a:effectLst/>
                          <a:latin typeface="+mn-ea"/>
                          <a:ea typeface="+mn-ea"/>
                          <a:cs typeface="Times New Roman"/>
                        </a:rPr>
                        <a:t>m</a:t>
                      </a:r>
                      <a:endParaRPr lang="zh-CN" sz="1200" kern="100" dirty="0">
                        <a:effectLst/>
                        <a:latin typeface="+mn-ea"/>
                        <a:ea typeface="+mn-ea"/>
                        <a:cs typeface="Times New Roman"/>
                      </a:endParaRPr>
                    </a:p>
                  </a:txBody>
                  <a:tcPr marL="68580" marR="68580" marT="0" marB="0" anchor="ctr">
                    <a:solidFill>
                      <a:schemeClr val="accent2">
                        <a:lumMod val="40000"/>
                        <a:lumOff val="60000"/>
                      </a:schemeClr>
                    </a:solidFill>
                  </a:tcPr>
                </a:tc>
                <a:tc>
                  <a:txBody>
                    <a:bodyPr/>
                    <a:lstStyle/>
                    <a:p>
                      <a:pPr algn="ctr">
                        <a:lnSpc>
                          <a:spcPct val="115000"/>
                        </a:lnSpc>
                        <a:spcAft>
                          <a:spcPts val="0"/>
                        </a:spcAft>
                      </a:pPr>
                      <a:r>
                        <a:rPr lang="zh-CN" sz="1200" kern="0">
                          <a:effectLst/>
                          <a:latin typeface="+mn-ea"/>
                          <a:ea typeface="+mn-ea"/>
                          <a:cs typeface="Times New Roman"/>
                        </a:rPr>
                        <a:t>瓦斯涌出量</a:t>
                      </a:r>
                      <a:endParaRPr lang="zh-CN" sz="1200" kern="100">
                        <a:effectLst/>
                        <a:latin typeface="+mn-ea"/>
                        <a:ea typeface="+mn-ea"/>
                        <a:cs typeface="Times New Roman"/>
                      </a:endParaRPr>
                    </a:p>
                  </a:txBody>
                  <a:tcPr marL="68580" marR="68580" marT="0" marB="0" anchor="ctr">
                    <a:solidFill>
                      <a:schemeClr val="accent2">
                        <a:lumMod val="40000"/>
                        <a:lumOff val="60000"/>
                      </a:schemeClr>
                    </a:solidFill>
                  </a:tcPr>
                </a:tc>
                <a:extLst>
                  <a:ext uri="{0D108BD9-81ED-4DB2-BD59-A6C34878D82A}">
                    <a16:rowId xmlns:a16="http://schemas.microsoft.com/office/drawing/2014/main" val="10000"/>
                  </a:ext>
                </a:extLst>
              </a:tr>
              <a:tr h="294583">
                <a:tc>
                  <a:txBody>
                    <a:bodyPr/>
                    <a:lstStyle/>
                    <a:p>
                      <a:pPr algn="ctr">
                        <a:lnSpc>
                          <a:spcPct val="115000"/>
                        </a:lnSpc>
                        <a:spcAft>
                          <a:spcPts val="0"/>
                        </a:spcAft>
                      </a:pPr>
                      <a:r>
                        <a:rPr lang="en-US" sz="1200" kern="0" dirty="0">
                          <a:effectLst/>
                          <a:latin typeface="+mn-ea"/>
                          <a:ea typeface="+mn-ea"/>
                          <a:cs typeface="Times New Roman"/>
                        </a:rPr>
                        <a:t>1</a:t>
                      </a:r>
                      <a:endParaRPr lang="zh-CN" sz="1200" kern="100" dirty="0">
                        <a:effectLst/>
                        <a:latin typeface="+mn-ea"/>
                        <a:ea typeface="+mn-ea"/>
                        <a:cs typeface="Times New Roman"/>
                      </a:endParaRPr>
                    </a:p>
                  </a:txBody>
                  <a:tcPr marL="68580" marR="68580" marT="0" marB="0" anchor="ctr">
                    <a:solidFill>
                      <a:srgbClr val="CCFFFF"/>
                    </a:solidFill>
                  </a:tcPr>
                </a:tc>
                <a:tc>
                  <a:txBody>
                    <a:bodyPr/>
                    <a:lstStyle/>
                    <a:p>
                      <a:pPr algn="ctr">
                        <a:lnSpc>
                          <a:spcPct val="115000"/>
                        </a:lnSpc>
                        <a:spcAft>
                          <a:spcPts val="0"/>
                        </a:spcAft>
                      </a:pPr>
                      <a:r>
                        <a:rPr lang="en-US" sz="1200" kern="0" dirty="0">
                          <a:effectLst/>
                          <a:latin typeface="+mn-ea"/>
                          <a:ea typeface="+mn-ea"/>
                          <a:cs typeface="Times New Roman"/>
                        </a:rPr>
                        <a:t>1.92</a:t>
                      </a:r>
                      <a:endParaRPr lang="zh-CN" sz="1200" kern="100" dirty="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408</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2</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155</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4.42</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0.96</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2.02</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1.5</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20</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a:effectLst/>
                          <a:latin typeface="+mn-ea"/>
                          <a:ea typeface="+mn-ea"/>
                          <a:cs typeface="Times New Roman"/>
                        </a:rPr>
                        <a:t>5.03</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a:effectLst/>
                          <a:latin typeface="+mn-ea"/>
                          <a:ea typeface="+mn-ea"/>
                          <a:cs typeface="Times New Roman"/>
                        </a:rPr>
                        <a:t>1825</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a:effectLst/>
                          <a:latin typeface="+mn-ea"/>
                          <a:ea typeface="+mn-ea"/>
                          <a:cs typeface="Times New Roman"/>
                        </a:rPr>
                        <a:t>3.34</a:t>
                      </a:r>
                      <a:endParaRPr lang="zh-CN" sz="1200" kern="100">
                        <a:effectLst/>
                        <a:latin typeface="+mn-ea"/>
                        <a:ea typeface="+mn-ea"/>
                        <a:cs typeface="Times New Roman"/>
                      </a:endParaRPr>
                    </a:p>
                  </a:txBody>
                  <a:tcPr marL="68580" marR="68580" marT="0" marB="0" anchor="ctr"/>
                </a:tc>
                <a:extLst>
                  <a:ext uri="{0D108BD9-81ED-4DB2-BD59-A6C34878D82A}">
                    <a16:rowId xmlns:a16="http://schemas.microsoft.com/office/drawing/2014/main" val="10001"/>
                  </a:ext>
                </a:extLst>
              </a:tr>
              <a:tr h="294583">
                <a:tc>
                  <a:txBody>
                    <a:bodyPr/>
                    <a:lstStyle/>
                    <a:p>
                      <a:pPr algn="ctr">
                        <a:lnSpc>
                          <a:spcPct val="115000"/>
                        </a:lnSpc>
                        <a:spcAft>
                          <a:spcPts val="0"/>
                        </a:spcAft>
                      </a:pPr>
                      <a:r>
                        <a:rPr lang="en-US" sz="1200" kern="0" dirty="0">
                          <a:effectLst/>
                          <a:latin typeface="+mn-ea"/>
                          <a:ea typeface="+mn-ea"/>
                          <a:cs typeface="Times New Roman"/>
                        </a:rPr>
                        <a:t>2</a:t>
                      </a:r>
                      <a:endParaRPr lang="zh-CN" sz="1200" kern="100" dirty="0">
                        <a:effectLst/>
                        <a:latin typeface="+mn-ea"/>
                        <a:ea typeface="+mn-ea"/>
                        <a:cs typeface="Times New Roman"/>
                      </a:endParaRPr>
                    </a:p>
                  </a:txBody>
                  <a:tcPr marL="68580" marR="68580" marT="0" marB="0" anchor="ctr">
                    <a:solidFill>
                      <a:srgbClr val="CCFFFF"/>
                    </a:solidFill>
                  </a:tcPr>
                </a:tc>
                <a:tc>
                  <a:txBody>
                    <a:bodyPr/>
                    <a:lstStyle/>
                    <a:p>
                      <a:pPr algn="ctr">
                        <a:lnSpc>
                          <a:spcPct val="115000"/>
                        </a:lnSpc>
                        <a:spcAft>
                          <a:spcPts val="0"/>
                        </a:spcAft>
                      </a:pPr>
                      <a:r>
                        <a:rPr lang="en-US" sz="1200" kern="0" dirty="0">
                          <a:effectLst/>
                          <a:latin typeface="+mn-ea"/>
                          <a:ea typeface="+mn-ea"/>
                          <a:cs typeface="Times New Roman"/>
                        </a:rPr>
                        <a:t>2.15</a:t>
                      </a:r>
                      <a:endParaRPr lang="zh-CN" sz="1200" kern="100" dirty="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dirty="0">
                          <a:effectLst/>
                          <a:latin typeface="+mn-ea"/>
                          <a:ea typeface="+mn-ea"/>
                          <a:cs typeface="Times New Roman"/>
                        </a:rPr>
                        <a:t>411</a:t>
                      </a:r>
                      <a:endParaRPr lang="zh-CN" sz="1200" kern="100" dirty="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2</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140</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4.16</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0.95</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2.1</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1.21</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22</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a:effectLst/>
                          <a:latin typeface="+mn-ea"/>
                          <a:ea typeface="+mn-ea"/>
                          <a:cs typeface="Times New Roman"/>
                        </a:rPr>
                        <a:t>4.87</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a:effectLst/>
                          <a:latin typeface="+mn-ea"/>
                          <a:ea typeface="+mn-ea"/>
                          <a:cs typeface="Times New Roman"/>
                        </a:rPr>
                        <a:t>1527</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a:effectLst/>
                          <a:latin typeface="+mn-ea"/>
                          <a:ea typeface="+mn-ea"/>
                          <a:cs typeface="Times New Roman"/>
                        </a:rPr>
                        <a:t>2.97</a:t>
                      </a:r>
                      <a:endParaRPr lang="zh-CN" sz="1200" kern="100">
                        <a:effectLst/>
                        <a:latin typeface="+mn-ea"/>
                        <a:ea typeface="+mn-ea"/>
                        <a:cs typeface="Times New Roman"/>
                      </a:endParaRPr>
                    </a:p>
                  </a:txBody>
                  <a:tcPr marL="68580" marR="68580" marT="0" marB="0" anchor="ctr"/>
                </a:tc>
                <a:extLst>
                  <a:ext uri="{0D108BD9-81ED-4DB2-BD59-A6C34878D82A}">
                    <a16:rowId xmlns:a16="http://schemas.microsoft.com/office/drawing/2014/main" val="10002"/>
                  </a:ext>
                </a:extLst>
              </a:tr>
              <a:tr h="294583">
                <a:tc>
                  <a:txBody>
                    <a:bodyPr/>
                    <a:lstStyle/>
                    <a:p>
                      <a:pPr algn="ctr">
                        <a:lnSpc>
                          <a:spcPct val="115000"/>
                        </a:lnSpc>
                        <a:spcAft>
                          <a:spcPts val="0"/>
                        </a:spcAft>
                      </a:pPr>
                      <a:r>
                        <a:rPr lang="en-US" sz="1200" kern="0" dirty="0">
                          <a:effectLst/>
                          <a:latin typeface="+mn-ea"/>
                          <a:ea typeface="+mn-ea"/>
                          <a:cs typeface="Times New Roman"/>
                        </a:rPr>
                        <a:t>3</a:t>
                      </a:r>
                      <a:endParaRPr lang="zh-CN" sz="1200" kern="100" dirty="0">
                        <a:effectLst/>
                        <a:latin typeface="+mn-ea"/>
                        <a:ea typeface="+mn-ea"/>
                        <a:cs typeface="Times New Roman"/>
                      </a:endParaRPr>
                    </a:p>
                  </a:txBody>
                  <a:tcPr marL="68580" marR="68580" marT="0" marB="0" anchor="ctr">
                    <a:solidFill>
                      <a:srgbClr val="CCFFFF"/>
                    </a:solidFill>
                  </a:tcPr>
                </a:tc>
                <a:tc>
                  <a:txBody>
                    <a:bodyPr/>
                    <a:lstStyle/>
                    <a:p>
                      <a:pPr algn="ctr">
                        <a:lnSpc>
                          <a:spcPct val="115000"/>
                        </a:lnSpc>
                        <a:spcAft>
                          <a:spcPts val="0"/>
                        </a:spcAft>
                      </a:pPr>
                      <a:r>
                        <a:rPr lang="en-US" sz="1200" kern="0">
                          <a:effectLst/>
                          <a:latin typeface="+mn-ea"/>
                          <a:ea typeface="+mn-ea"/>
                          <a:cs typeface="Times New Roman"/>
                        </a:rPr>
                        <a:t>2.14</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dirty="0">
                          <a:effectLst/>
                          <a:latin typeface="+mn-ea"/>
                          <a:ea typeface="+mn-ea"/>
                          <a:cs typeface="Times New Roman"/>
                        </a:rPr>
                        <a:t>420</a:t>
                      </a:r>
                      <a:endParaRPr lang="zh-CN" sz="1200" kern="100" dirty="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1.8</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175</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4.13</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0.95</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2.64</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1.62</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19</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a:effectLst/>
                          <a:latin typeface="+mn-ea"/>
                          <a:ea typeface="+mn-ea"/>
                          <a:cs typeface="Times New Roman"/>
                        </a:rPr>
                        <a:t>4.75</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a:effectLst/>
                          <a:latin typeface="+mn-ea"/>
                          <a:ea typeface="+mn-ea"/>
                          <a:cs typeface="Times New Roman"/>
                        </a:rPr>
                        <a:t>1751</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a:effectLst/>
                          <a:latin typeface="+mn-ea"/>
                          <a:ea typeface="+mn-ea"/>
                          <a:cs typeface="Times New Roman"/>
                        </a:rPr>
                        <a:t>3.56</a:t>
                      </a:r>
                      <a:endParaRPr lang="zh-CN" sz="1200" kern="100">
                        <a:effectLst/>
                        <a:latin typeface="+mn-ea"/>
                        <a:ea typeface="+mn-ea"/>
                        <a:cs typeface="Times New Roman"/>
                      </a:endParaRPr>
                    </a:p>
                  </a:txBody>
                  <a:tcPr marL="68580" marR="68580" marT="0" marB="0" anchor="ctr"/>
                </a:tc>
                <a:extLst>
                  <a:ext uri="{0D108BD9-81ED-4DB2-BD59-A6C34878D82A}">
                    <a16:rowId xmlns:a16="http://schemas.microsoft.com/office/drawing/2014/main" val="10003"/>
                  </a:ext>
                </a:extLst>
              </a:tr>
              <a:tr h="294583">
                <a:tc>
                  <a:txBody>
                    <a:bodyPr/>
                    <a:lstStyle/>
                    <a:p>
                      <a:pPr algn="ctr">
                        <a:lnSpc>
                          <a:spcPct val="115000"/>
                        </a:lnSpc>
                        <a:spcAft>
                          <a:spcPts val="0"/>
                        </a:spcAft>
                      </a:pPr>
                      <a:r>
                        <a:rPr lang="en-US" sz="1200" kern="0" dirty="0">
                          <a:effectLst/>
                          <a:latin typeface="+mn-ea"/>
                          <a:ea typeface="+mn-ea"/>
                          <a:cs typeface="Times New Roman"/>
                        </a:rPr>
                        <a:t>4</a:t>
                      </a:r>
                      <a:endParaRPr lang="zh-CN" sz="1200" kern="100" dirty="0">
                        <a:effectLst/>
                        <a:latin typeface="+mn-ea"/>
                        <a:ea typeface="+mn-ea"/>
                        <a:cs typeface="Times New Roman"/>
                      </a:endParaRPr>
                    </a:p>
                  </a:txBody>
                  <a:tcPr marL="68580" marR="68580" marT="0" marB="0" anchor="ctr">
                    <a:solidFill>
                      <a:srgbClr val="CCFFFF"/>
                    </a:solidFill>
                  </a:tcPr>
                </a:tc>
                <a:tc>
                  <a:txBody>
                    <a:bodyPr/>
                    <a:lstStyle/>
                    <a:p>
                      <a:pPr algn="ctr">
                        <a:lnSpc>
                          <a:spcPct val="115000"/>
                        </a:lnSpc>
                        <a:spcAft>
                          <a:spcPts val="0"/>
                        </a:spcAft>
                      </a:pPr>
                      <a:r>
                        <a:rPr lang="en-US" sz="1200" kern="0">
                          <a:effectLst/>
                          <a:latin typeface="+mn-ea"/>
                          <a:ea typeface="+mn-ea"/>
                          <a:cs typeface="Times New Roman"/>
                        </a:rPr>
                        <a:t>2.58</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432</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dirty="0">
                          <a:effectLst/>
                          <a:latin typeface="+mn-ea"/>
                          <a:ea typeface="+mn-ea"/>
                          <a:cs typeface="Times New Roman"/>
                        </a:rPr>
                        <a:t>2.3</a:t>
                      </a:r>
                      <a:endParaRPr lang="zh-CN" sz="1200" kern="100" dirty="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145</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4.67</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0.95</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2.4</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1.48</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17</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a:effectLst/>
                          <a:latin typeface="+mn-ea"/>
                          <a:ea typeface="+mn-ea"/>
                          <a:cs typeface="Times New Roman"/>
                        </a:rPr>
                        <a:t>4.91</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a:effectLst/>
                          <a:latin typeface="+mn-ea"/>
                          <a:ea typeface="+mn-ea"/>
                          <a:cs typeface="Times New Roman"/>
                        </a:rPr>
                        <a:t>2078</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dirty="0">
                          <a:effectLst/>
                          <a:latin typeface="+mn-ea"/>
                          <a:ea typeface="+mn-ea"/>
                          <a:cs typeface="Times New Roman"/>
                        </a:rPr>
                        <a:t>3.62</a:t>
                      </a:r>
                      <a:endParaRPr lang="zh-CN" sz="1200" kern="100" dirty="0">
                        <a:effectLst/>
                        <a:latin typeface="+mn-ea"/>
                        <a:ea typeface="+mn-ea"/>
                        <a:cs typeface="Times New Roman"/>
                      </a:endParaRPr>
                    </a:p>
                  </a:txBody>
                  <a:tcPr marL="68580" marR="68580" marT="0" marB="0" anchor="ctr"/>
                </a:tc>
                <a:extLst>
                  <a:ext uri="{0D108BD9-81ED-4DB2-BD59-A6C34878D82A}">
                    <a16:rowId xmlns:a16="http://schemas.microsoft.com/office/drawing/2014/main" val="10004"/>
                  </a:ext>
                </a:extLst>
              </a:tr>
              <a:tr h="294583">
                <a:tc>
                  <a:txBody>
                    <a:bodyPr/>
                    <a:lstStyle/>
                    <a:p>
                      <a:pPr algn="ctr" fontAlgn="b"/>
                      <a:r>
                        <a:rPr lang="en-US" altLang="zh-CN" sz="1200" b="0" i="0" u="none" strike="noStrike" dirty="0">
                          <a:solidFill>
                            <a:srgbClr val="000000"/>
                          </a:solidFill>
                          <a:effectLst/>
                          <a:latin typeface="+mn-ea"/>
                          <a:ea typeface="+mn-ea"/>
                        </a:rPr>
                        <a:t>…</a:t>
                      </a:r>
                    </a:p>
                  </a:txBody>
                  <a:tcPr marL="9525" marR="9525" marT="9525" marB="0" anchor="ctr">
                    <a:solidFill>
                      <a:srgbClr val="CCFFFF"/>
                    </a:solidFill>
                  </a:tcPr>
                </a:tc>
                <a:tc>
                  <a:txBody>
                    <a:bodyPr/>
                    <a:lstStyle/>
                    <a:p>
                      <a:pPr algn="ctr" fontAlgn="b"/>
                      <a:r>
                        <a:rPr lang="en-US" altLang="zh-CN" sz="1200" b="0" i="0" u="none" strike="noStrike" dirty="0">
                          <a:solidFill>
                            <a:srgbClr val="000000"/>
                          </a:solidFill>
                          <a:effectLst/>
                          <a:latin typeface="+mn-ea"/>
                          <a:ea typeface="+mn-ea"/>
                        </a:rPr>
                        <a:t>…</a:t>
                      </a:r>
                    </a:p>
                  </a:txBody>
                  <a:tcPr marL="9525" marR="9525" marT="9525" marB="0" anchor="ctr">
                    <a:noFill/>
                  </a:tcPr>
                </a:tc>
                <a:tc>
                  <a:txBody>
                    <a:bodyPr/>
                    <a:lstStyle/>
                    <a:p>
                      <a:pPr algn="ctr" fontAlgn="b"/>
                      <a:r>
                        <a:rPr lang="en-US" altLang="zh-CN" sz="1200" b="0" i="0" u="none" strike="noStrike" dirty="0">
                          <a:solidFill>
                            <a:srgbClr val="000000"/>
                          </a:solidFill>
                          <a:effectLst/>
                          <a:latin typeface="+mn-ea"/>
                          <a:ea typeface="+mn-ea"/>
                        </a:rPr>
                        <a:t>…</a:t>
                      </a:r>
                    </a:p>
                  </a:txBody>
                  <a:tcPr marL="9525" marR="9525" marT="9525" marB="0" anchor="ctr">
                    <a:noFill/>
                  </a:tcPr>
                </a:tc>
                <a:tc>
                  <a:txBody>
                    <a:bodyPr/>
                    <a:lstStyle/>
                    <a:p>
                      <a:pPr algn="ctr" fontAlgn="b"/>
                      <a:r>
                        <a:rPr lang="en-US" altLang="zh-CN" sz="1200" b="0" i="0" u="none" strike="noStrike" dirty="0">
                          <a:solidFill>
                            <a:srgbClr val="000000"/>
                          </a:solidFill>
                          <a:effectLst/>
                          <a:latin typeface="+mn-ea"/>
                          <a:ea typeface="+mn-ea"/>
                        </a:rPr>
                        <a:t>…</a:t>
                      </a:r>
                    </a:p>
                  </a:txBody>
                  <a:tcPr marL="9525" marR="9525" marT="9525" marB="0" anchor="ctr">
                    <a:noFill/>
                  </a:tcPr>
                </a:tc>
                <a:tc>
                  <a:txBody>
                    <a:bodyPr/>
                    <a:lstStyle/>
                    <a:p>
                      <a:pPr algn="ctr" fontAlgn="b"/>
                      <a:r>
                        <a:rPr lang="en-US" altLang="zh-CN" sz="1200" b="0" i="0" u="none" strike="noStrike" dirty="0">
                          <a:solidFill>
                            <a:srgbClr val="000000"/>
                          </a:solidFill>
                          <a:effectLst/>
                          <a:latin typeface="+mn-ea"/>
                          <a:ea typeface="+mn-ea"/>
                        </a:rPr>
                        <a:t>…</a:t>
                      </a:r>
                    </a:p>
                  </a:txBody>
                  <a:tcPr marL="9525" marR="9525" marT="9525" marB="0" anchor="ctr">
                    <a:noFill/>
                  </a:tcPr>
                </a:tc>
                <a:tc>
                  <a:txBody>
                    <a:bodyPr/>
                    <a:lstStyle/>
                    <a:p>
                      <a:pPr algn="ctr" fontAlgn="b"/>
                      <a:r>
                        <a:rPr lang="en-US" altLang="zh-CN" sz="1200" b="0" i="0" u="none" strike="noStrike" dirty="0">
                          <a:solidFill>
                            <a:srgbClr val="000000"/>
                          </a:solidFill>
                          <a:effectLst/>
                          <a:latin typeface="+mn-ea"/>
                          <a:ea typeface="+mn-ea"/>
                        </a:rPr>
                        <a:t>…</a:t>
                      </a:r>
                    </a:p>
                  </a:txBody>
                  <a:tcPr marL="9525" marR="9525" marT="9525" marB="0" anchor="ctr">
                    <a:noFill/>
                  </a:tcPr>
                </a:tc>
                <a:tc>
                  <a:txBody>
                    <a:bodyPr/>
                    <a:lstStyle/>
                    <a:p>
                      <a:pPr algn="ctr" fontAlgn="b"/>
                      <a:r>
                        <a:rPr lang="en-US" altLang="zh-CN" sz="1200" b="0" i="0" u="none" strike="noStrike" dirty="0">
                          <a:solidFill>
                            <a:srgbClr val="000000"/>
                          </a:solidFill>
                          <a:effectLst/>
                          <a:latin typeface="+mn-ea"/>
                          <a:ea typeface="+mn-ea"/>
                        </a:rPr>
                        <a:t>…</a:t>
                      </a:r>
                    </a:p>
                  </a:txBody>
                  <a:tcPr marL="9525" marR="9525" marT="9525" marB="0" anchor="ctr">
                    <a:noFill/>
                  </a:tcPr>
                </a:tc>
                <a:tc>
                  <a:txBody>
                    <a:bodyPr/>
                    <a:lstStyle/>
                    <a:p>
                      <a:pPr algn="ctr" fontAlgn="b"/>
                      <a:r>
                        <a:rPr lang="en-US" altLang="zh-CN" sz="1200" b="0" i="0" u="none" strike="noStrike" dirty="0">
                          <a:solidFill>
                            <a:srgbClr val="000000"/>
                          </a:solidFill>
                          <a:effectLst/>
                          <a:latin typeface="+mn-ea"/>
                          <a:ea typeface="+mn-ea"/>
                        </a:rPr>
                        <a:t>…</a:t>
                      </a:r>
                    </a:p>
                  </a:txBody>
                  <a:tcPr marL="9525" marR="9525" marT="9525" marB="0" anchor="ctr">
                    <a:noFill/>
                  </a:tcPr>
                </a:tc>
                <a:tc>
                  <a:txBody>
                    <a:bodyPr/>
                    <a:lstStyle/>
                    <a:p>
                      <a:pPr algn="ctr" fontAlgn="b"/>
                      <a:r>
                        <a:rPr lang="en-US" altLang="zh-CN" sz="1200" b="0" i="0" u="none" strike="noStrike" dirty="0">
                          <a:solidFill>
                            <a:srgbClr val="000000"/>
                          </a:solidFill>
                          <a:effectLst/>
                          <a:latin typeface="+mn-ea"/>
                          <a:ea typeface="+mn-ea"/>
                        </a:rPr>
                        <a:t>…</a:t>
                      </a:r>
                    </a:p>
                  </a:txBody>
                  <a:tcPr marL="9525" marR="9525" marT="9525" marB="0" anchor="ctr">
                    <a:noFill/>
                  </a:tcPr>
                </a:tc>
                <a:tc>
                  <a:txBody>
                    <a:bodyPr/>
                    <a:lstStyle/>
                    <a:p>
                      <a:pPr algn="ctr" fontAlgn="b"/>
                      <a:r>
                        <a:rPr lang="en-US" altLang="zh-CN" sz="1200" b="0" i="0" u="none" strike="noStrike" dirty="0">
                          <a:solidFill>
                            <a:srgbClr val="000000"/>
                          </a:solidFill>
                          <a:effectLst/>
                          <a:latin typeface="+mn-ea"/>
                          <a:ea typeface="+mn-ea"/>
                        </a:rPr>
                        <a:t>…</a:t>
                      </a:r>
                    </a:p>
                  </a:txBody>
                  <a:tcPr marL="9525" marR="9525" marT="9525" marB="0" anchor="ctr"/>
                </a:tc>
                <a:tc>
                  <a:txBody>
                    <a:bodyPr/>
                    <a:lstStyle/>
                    <a:p>
                      <a:pPr algn="ctr" fontAlgn="b"/>
                      <a:r>
                        <a:rPr lang="en-US" altLang="zh-CN" sz="1200" b="0" i="0" u="none" strike="noStrike" dirty="0">
                          <a:solidFill>
                            <a:srgbClr val="000000"/>
                          </a:solidFill>
                          <a:effectLst/>
                          <a:latin typeface="+mn-ea"/>
                          <a:ea typeface="+mn-ea"/>
                        </a:rPr>
                        <a:t>…</a:t>
                      </a:r>
                    </a:p>
                  </a:txBody>
                  <a:tcPr marL="9525" marR="9525" marT="9525" marB="0" anchor="ctr"/>
                </a:tc>
                <a:tc>
                  <a:txBody>
                    <a:bodyPr/>
                    <a:lstStyle/>
                    <a:p>
                      <a:pPr algn="ctr" fontAlgn="b"/>
                      <a:r>
                        <a:rPr lang="en-US" altLang="zh-CN" sz="1200" b="0" i="0" u="none" strike="noStrike" dirty="0">
                          <a:solidFill>
                            <a:srgbClr val="000000"/>
                          </a:solidFill>
                          <a:effectLst/>
                          <a:latin typeface="+mn-ea"/>
                          <a:ea typeface="+mn-ea"/>
                        </a:rPr>
                        <a:t>…</a:t>
                      </a:r>
                    </a:p>
                  </a:txBody>
                  <a:tcPr marL="9525" marR="9525" marT="9525" marB="0" anchor="ctr"/>
                </a:tc>
                <a:tc>
                  <a:txBody>
                    <a:bodyPr/>
                    <a:lstStyle/>
                    <a:p>
                      <a:pPr algn="ctr" fontAlgn="b"/>
                      <a:r>
                        <a:rPr lang="en-US" altLang="zh-CN" sz="1200" b="0" i="0" u="none" strike="noStrike" dirty="0">
                          <a:solidFill>
                            <a:srgbClr val="000000"/>
                          </a:solidFill>
                          <a:effectLst/>
                          <a:latin typeface="+mn-ea"/>
                          <a:ea typeface="+mn-ea"/>
                        </a:rPr>
                        <a:t>…</a:t>
                      </a:r>
                    </a:p>
                  </a:txBody>
                  <a:tcPr marL="9525" marR="9525" marT="9525" marB="0" anchor="ctr"/>
                </a:tc>
                <a:extLst>
                  <a:ext uri="{0D108BD9-81ED-4DB2-BD59-A6C34878D82A}">
                    <a16:rowId xmlns:a16="http://schemas.microsoft.com/office/drawing/2014/main" val="10005"/>
                  </a:ext>
                </a:extLst>
              </a:tr>
              <a:tr h="294583">
                <a:tc>
                  <a:txBody>
                    <a:bodyPr/>
                    <a:lstStyle/>
                    <a:p>
                      <a:pPr algn="ctr">
                        <a:lnSpc>
                          <a:spcPct val="115000"/>
                        </a:lnSpc>
                        <a:spcAft>
                          <a:spcPts val="0"/>
                        </a:spcAft>
                      </a:pPr>
                      <a:r>
                        <a:rPr lang="en-US" sz="1200" kern="0" dirty="0">
                          <a:effectLst/>
                          <a:latin typeface="+mn-ea"/>
                          <a:ea typeface="+mn-ea"/>
                          <a:cs typeface="Times New Roman"/>
                        </a:rPr>
                        <a:t>184</a:t>
                      </a:r>
                      <a:endParaRPr lang="zh-CN" sz="1200" kern="100" dirty="0">
                        <a:effectLst/>
                        <a:latin typeface="+mn-ea"/>
                        <a:ea typeface="+mn-ea"/>
                        <a:cs typeface="Times New Roman"/>
                      </a:endParaRPr>
                    </a:p>
                  </a:txBody>
                  <a:tcPr marL="68580" marR="68580" marT="0" marB="0" anchor="ctr">
                    <a:solidFill>
                      <a:srgbClr val="CCFFFF"/>
                    </a:solidFill>
                  </a:tcPr>
                </a:tc>
                <a:tc>
                  <a:txBody>
                    <a:bodyPr/>
                    <a:lstStyle/>
                    <a:p>
                      <a:pPr algn="ctr">
                        <a:lnSpc>
                          <a:spcPct val="115000"/>
                        </a:lnSpc>
                        <a:spcAft>
                          <a:spcPts val="0"/>
                        </a:spcAft>
                      </a:pPr>
                      <a:r>
                        <a:rPr lang="en-US" sz="1200" kern="0">
                          <a:effectLst/>
                          <a:latin typeface="+mn-ea"/>
                          <a:ea typeface="+mn-ea"/>
                          <a:cs typeface="Times New Roman"/>
                        </a:rPr>
                        <a:t>4.8</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634</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5.5</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dirty="0">
                          <a:effectLst/>
                          <a:latin typeface="+mn-ea"/>
                          <a:ea typeface="+mn-ea"/>
                          <a:cs typeface="Times New Roman"/>
                        </a:rPr>
                        <a:t>175</a:t>
                      </a:r>
                      <a:endParaRPr lang="zh-CN" sz="1200" kern="100" dirty="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2.92</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0.773</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2.98</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1.92</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15</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a:effectLst/>
                          <a:latin typeface="+mn-ea"/>
                          <a:ea typeface="+mn-ea"/>
                          <a:cs typeface="Times New Roman"/>
                        </a:rPr>
                        <a:t>4.55</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a:effectLst/>
                          <a:latin typeface="+mn-ea"/>
                          <a:ea typeface="+mn-ea"/>
                          <a:cs typeface="Times New Roman"/>
                        </a:rPr>
                        <a:t>3620</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dirty="0">
                          <a:effectLst/>
                          <a:latin typeface="+mn-ea"/>
                          <a:ea typeface="+mn-ea"/>
                          <a:cs typeface="Times New Roman"/>
                        </a:rPr>
                        <a:t>8.51</a:t>
                      </a:r>
                      <a:endParaRPr lang="zh-CN" sz="1200" kern="100" dirty="0">
                        <a:effectLst/>
                        <a:latin typeface="+mn-ea"/>
                        <a:ea typeface="+mn-ea"/>
                        <a:cs typeface="Times New Roman"/>
                      </a:endParaRPr>
                    </a:p>
                  </a:txBody>
                  <a:tcPr marL="68580" marR="68580" marT="0" marB="0" anchor="ctr"/>
                </a:tc>
                <a:extLst>
                  <a:ext uri="{0D108BD9-81ED-4DB2-BD59-A6C34878D82A}">
                    <a16:rowId xmlns:a16="http://schemas.microsoft.com/office/drawing/2014/main" val="10006"/>
                  </a:ext>
                </a:extLst>
              </a:tr>
              <a:tr h="294583">
                <a:tc>
                  <a:txBody>
                    <a:bodyPr/>
                    <a:lstStyle/>
                    <a:p>
                      <a:pPr algn="ctr">
                        <a:lnSpc>
                          <a:spcPct val="115000"/>
                        </a:lnSpc>
                        <a:spcAft>
                          <a:spcPts val="0"/>
                        </a:spcAft>
                      </a:pPr>
                      <a:r>
                        <a:rPr lang="en-US" sz="1200" kern="0" dirty="0">
                          <a:effectLst/>
                          <a:latin typeface="+mn-ea"/>
                          <a:ea typeface="+mn-ea"/>
                          <a:cs typeface="Times New Roman"/>
                        </a:rPr>
                        <a:t>185</a:t>
                      </a:r>
                      <a:endParaRPr lang="zh-CN" sz="1200" kern="100" dirty="0">
                        <a:effectLst/>
                        <a:latin typeface="+mn-ea"/>
                        <a:ea typeface="+mn-ea"/>
                        <a:cs typeface="Times New Roman"/>
                      </a:endParaRPr>
                    </a:p>
                  </a:txBody>
                  <a:tcPr marL="68580" marR="68580" marT="0" marB="0" anchor="ctr">
                    <a:solidFill>
                      <a:srgbClr val="CCFFFF"/>
                    </a:solidFill>
                  </a:tcPr>
                </a:tc>
                <a:tc>
                  <a:txBody>
                    <a:bodyPr/>
                    <a:lstStyle/>
                    <a:p>
                      <a:pPr algn="ctr">
                        <a:lnSpc>
                          <a:spcPct val="115000"/>
                        </a:lnSpc>
                        <a:spcAft>
                          <a:spcPts val="0"/>
                        </a:spcAft>
                      </a:pPr>
                      <a:r>
                        <a:rPr lang="en-US" sz="1200" kern="0">
                          <a:effectLst/>
                          <a:latin typeface="+mn-ea"/>
                          <a:ea typeface="+mn-ea"/>
                          <a:cs typeface="Times New Roman"/>
                        </a:rPr>
                        <a:t>4.67</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640</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6.3</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dirty="0">
                          <a:effectLst/>
                          <a:latin typeface="+mn-ea"/>
                          <a:ea typeface="+mn-ea"/>
                          <a:cs typeface="Times New Roman"/>
                        </a:rPr>
                        <a:t>175</a:t>
                      </a:r>
                      <a:endParaRPr lang="zh-CN" sz="1200" kern="100" dirty="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dirty="0">
                          <a:effectLst/>
                          <a:latin typeface="+mn-ea"/>
                          <a:ea typeface="+mn-ea"/>
                          <a:cs typeface="Times New Roman"/>
                        </a:rPr>
                        <a:t>2.75</a:t>
                      </a:r>
                      <a:endParaRPr lang="zh-CN" sz="1200" kern="100" dirty="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0.802</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2.56</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1.75</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15</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a:effectLst/>
                          <a:latin typeface="+mn-ea"/>
                          <a:ea typeface="+mn-ea"/>
                          <a:cs typeface="Times New Roman"/>
                        </a:rPr>
                        <a:t>4.6</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a:effectLst/>
                          <a:latin typeface="+mn-ea"/>
                          <a:ea typeface="+mn-ea"/>
                          <a:cs typeface="Times New Roman"/>
                        </a:rPr>
                        <a:t>3412</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dirty="0">
                          <a:effectLst/>
                          <a:latin typeface="+mn-ea"/>
                          <a:ea typeface="+mn-ea"/>
                          <a:cs typeface="Times New Roman"/>
                        </a:rPr>
                        <a:t>7.95</a:t>
                      </a:r>
                      <a:endParaRPr lang="zh-CN" sz="1200" kern="100" dirty="0">
                        <a:effectLst/>
                        <a:latin typeface="+mn-ea"/>
                        <a:ea typeface="+mn-ea"/>
                        <a:cs typeface="Times New Roman"/>
                      </a:endParaRPr>
                    </a:p>
                  </a:txBody>
                  <a:tcPr marL="68580" marR="68580" marT="0" marB="0" anchor="ctr"/>
                </a:tc>
                <a:extLst>
                  <a:ext uri="{0D108BD9-81ED-4DB2-BD59-A6C34878D82A}">
                    <a16:rowId xmlns:a16="http://schemas.microsoft.com/office/drawing/2014/main" val="10007"/>
                  </a:ext>
                </a:extLst>
              </a:tr>
              <a:tr h="294583">
                <a:tc>
                  <a:txBody>
                    <a:bodyPr/>
                    <a:lstStyle/>
                    <a:p>
                      <a:pPr algn="ctr">
                        <a:lnSpc>
                          <a:spcPct val="115000"/>
                        </a:lnSpc>
                        <a:spcAft>
                          <a:spcPts val="0"/>
                        </a:spcAft>
                      </a:pPr>
                      <a:r>
                        <a:rPr lang="en-US" sz="1200" kern="0" dirty="0">
                          <a:effectLst/>
                          <a:latin typeface="+mn-ea"/>
                          <a:ea typeface="+mn-ea"/>
                          <a:cs typeface="Times New Roman"/>
                        </a:rPr>
                        <a:t>186</a:t>
                      </a:r>
                      <a:endParaRPr lang="zh-CN" sz="1200" kern="100" dirty="0">
                        <a:effectLst/>
                        <a:latin typeface="+mn-ea"/>
                        <a:ea typeface="+mn-ea"/>
                        <a:cs typeface="Times New Roman"/>
                      </a:endParaRPr>
                    </a:p>
                  </a:txBody>
                  <a:tcPr marL="68580" marR="68580" marT="0" marB="0" anchor="ctr">
                    <a:solidFill>
                      <a:srgbClr val="CCFFFF"/>
                    </a:solidFill>
                  </a:tcPr>
                </a:tc>
                <a:tc>
                  <a:txBody>
                    <a:bodyPr/>
                    <a:lstStyle/>
                    <a:p>
                      <a:pPr algn="ctr">
                        <a:lnSpc>
                          <a:spcPct val="115000"/>
                        </a:lnSpc>
                        <a:spcAft>
                          <a:spcPts val="0"/>
                        </a:spcAft>
                      </a:pPr>
                      <a:r>
                        <a:rPr lang="en-US" sz="1200" kern="0">
                          <a:effectLst/>
                          <a:latin typeface="+mn-ea"/>
                          <a:ea typeface="+mn-ea"/>
                          <a:cs typeface="Times New Roman"/>
                        </a:rPr>
                        <a:t>2.43</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450</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2.2</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160</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dirty="0">
                          <a:effectLst/>
                          <a:latin typeface="+mn-ea"/>
                          <a:ea typeface="+mn-ea"/>
                          <a:cs typeface="Times New Roman"/>
                        </a:rPr>
                        <a:t>4.32</a:t>
                      </a:r>
                      <a:endParaRPr lang="zh-CN" sz="1200" kern="100" dirty="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dirty="0">
                          <a:effectLst/>
                          <a:latin typeface="+mn-ea"/>
                          <a:ea typeface="+mn-ea"/>
                          <a:cs typeface="Times New Roman"/>
                        </a:rPr>
                        <a:t>0.95</a:t>
                      </a:r>
                      <a:endParaRPr lang="zh-CN" sz="1200" kern="100" dirty="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2</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1.7</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16</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a:effectLst/>
                          <a:latin typeface="+mn-ea"/>
                          <a:ea typeface="+mn-ea"/>
                          <a:cs typeface="Times New Roman"/>
                        </a:rPr>
                        <a:t>4.84</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a:effectLst/>
                          <a:latin typeface="+mn-ea"/>
                          <a:ea typeface="+mn-ea"/>
                          <a:cs typeface="Times New Roman"/>
                        </a:rPr>
                        <a:t>1996</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dirty="0">
                          <a:effectLst/>
                          <a:latin typeface="+mn-ea"/>
                          <a:ea typeface="+mn-ea"/>
                          <a:cs typeface="Times New Roman"/>
                        </a:rPr>
                        <a:t>4.06</a:t>
                      </a:r>
                      <a:endParaRPr lang="zh-CN" sz="1200" kern="100" dirty="0">
                        <a:effectLst/>
                        <a:latin typeface="+mn-ea"/>
                        <a:ea typeface="+mn-ea"/>
                        <a:cs typeface="Times New Roman"/>
                      </a:endParaRPr>
                    </a:p>
                  </a:txBody>
                  <a:tcPr marL="68580" marR="68580" marT="0" marB="0" anchor="ctr"/>
                </a:tc>
                <a:extLst>
                  <a:ext uri="{0D108BD9-81ED-4DB2-BD59-A6C34878D82A}">
                    <a16:rowId xmlns:a16="http://schemas.microsoft.com/office/drawing/2014/main" val="10008"/>
                  </a:ext>
                </a:extLst>
              </a:tr>
              <a:tr h="294583">
                <a:tc>
                  <a:txBody>
                    <a:bodyPr/>
                    <a:lstStyle/>
                    <a:p>
                      <a:pPr algn="ctr">
                        <a:lnSpc>
                          <a:spcPct val="115000"/>
                        </a:lnSpc>
                        <a:spcAft>
                          <a:spcPts val="0"/>
                        </a:spcAft>
                      </a:pPr>
                      <a:r>
                        <a:rPr lang="en-US" sz="1200" kern="0" dirty="0">
                          <a:effectLst/>
                          <a:latin typeface="+mn-ea"/>
                          <a:ea typeface="+mn-ea"/>
                          <a:cs typeface="Times New Roman"/>
                        </a:rPr>
                        <a:t>187</a:t>
                      </a:r>
                      <a:endParaRPr lang="zh-CN" sz="1200" kern="100" dirty="0">
                        <a:effectLst/>
                        <a:latin typeface="+mn-ea"/>
                        <a:ea typeface="+mn-ea"/>
                        <a:cs typeface="Times New Roman"/>
                      </a:endParaRPr>
                    </a:p>
                  </a:txBody>
                  <a:tcPr marL="68580" marR="68580" marT="0" marB="0" anchor="ctr">
                    <a:solidFill>
                      <a:srgbClr val="CCFFFF"/>
                    </a:solidFill>
                  </a:tcPr>
                </a:tc>
                <a:tc>
                  <a:txBody>
                    <a:bodyPr/>
                    <a:lstStyle/>
                    <a:p>
                      <a:pPr algn="ctr">
                        <a:lnSpc>
                          <a:spcPct val="115000"/>
                        </a:lnSpc>
                        <a:spcAft>
                          <a:spcPts val="0"/>
                        </a:spcAft>
                      </a:pPr>
                      <a:r>
                        <a:rPr lang="en-US" sz="1200" kern="0">
                          <a:effectLst/>
                          <a:latin typeface="+mn-ea"/>
                          <a:ea typeface="+mn-ea"/>
                          <a:cs typeface="Times New Roman"/>
                        </a:rPr>
                        <a:t>3.16</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544</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2.7</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165</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3.81</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0.93</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dirty="0">
                          <a:effectLst/>
                          <a:latin typeface="+mn-ea"/>
                          <a:ea typeface="+mn-ea"/>
                          <a:cs typeface="Times New Roman"/>
                        </a:rPr>
                        <a:t>2.3</a:t>
                      </a:r>
                      <a:endParaRPr lang="zh-CN" sz="1200" kern="100" dirty="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dirty="0">
                          <a:effectLst/>
                          <a:latin typeface="+mn-ea"/>
                          <a:ea typeface="+mn-ea"/>
                          <a:cs typeface="Times New Roman"/>
                        </a:rPr>
                        <a:t>1.8</a:t>
                      </a:r>
                      <a:endParaRPr lang="zh-CN" sz="1200" kern="100" dirty="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13</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a:effectLst/>
                          <a:latin typeface="+mn-ea"/>
                          <a:ea typeface="+mn-ea"/>
                          <a:cs typeface="Times New Roman"/>
                        </a:rPr>
                        <a:t>4.9</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a:effectLst/>
                          <a:latin typeface="+mn-ea"/>
                          <a:ea typeface="+mn-ea"/>
                          <a:cs typeface="Times New Roman"/>
                        </a:rPr>
                        <a:t>2207</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dirty="0">
                          <a:effectLst/>
                          <a:latin typeface="+mn-ea"/>
                          <a:ea typeface="+mn-ea"/>
                          <a:cs typeface="Times New Roman"/>
                        </a:rPr>
                        <a:t>4.92</a:t>
                      </a:r>
                      <a:endParaRPr lang="zh-CN" sz="1200" kern="100" dirty="0">
                        <a:effectLst/>
                        <a:latin typeface="+mn-ea"/>
                        <a:ea typeface="+mn-ea"/>
                        <a:cs typeface="Times New Roman"/>
                      </a:endParaRPr>
                    </a:p>
                  </a:txBody>
                  <a:tcPr marL="68580" marR="68580" marT="0" marB="0" anchor="ctr"/>
                </a:tc>
                <a:extLst>
                  <a:ext uri="{0D108BD9-81ED-4DB2-BD59-A6C34878D82A}">
                    <a16:rowId xmlns:a16="http://schemas.microsoft.com/office/drawing/2014/main" val="10009"/>
                  </a:ext>
                </a:extLst>
              </a:tr>
              <a:tr h="294583">
                <a:tc>
                  <a:txBody>
                    <a:bodyPr/>
                    <a:lstStyle/>
                    <a:p>
                      <a:pPr algn="ctr">
                        <a:lnSpc>
                          <a:spcPct val="115000"/>
                        </a:lnSpc>
                        <a:spcAft>
                          <a:spcPts val="0"/>
                        </a:spcAft>
                      </a:pPr>
                      <a:r>
                        <a:rPr lang="en-US" sz="1200" kern="0" dirty="0">
                          <a:effectLst/>
                          <a:latin typeface="+mn-ea"/>
                          <a:ea typeface="+mn-ea"/>
                          <a:cs typeface="Times New Roman"/>
                        </a:rPr>
                        <a:t>188</a:t>
                      </a:r>
                      <a:endParaRPr lang="zh-CN" sz="1200" kern="100" dirty="0">
                        <a:effectLst/>
                        <a:latin typeface="+mn-ea"/>
                        <a:ea typeface="+mn-ea"/>
                        <a:cs typeface="Times New Roman"/>
                      </a:endParaRPr>
                    </a:p>
                  </a:txBody>
                  <a:tcPr marL="68580" marR="68580" marT="0" marB="0" anchor="ctr">
                    <a:solidFill>
                      <a:srgbClr val="CCFFFF"/>
                    </a:solidFill>
                  </a:tcPr>
                </a:tc>
                <a:tc>
                  <a:txBody>
                    <a:bodyPr/>
                    <a:lstStyle/>
                    <a:p>
                      <a:pPr algn="ctr">
                        <a:lnSpc>
                          <a:spcPct val="115000"/>
                        </a:lnSpc>
                        <a:spcAft>
                          <a:spcPts val="0"/>
                        </a:spcAft>
                      </a:pPr>
                      <a:r>
                        <a:rPr lang="en-US" sz="1200" kern="0">
                          <a:effectLst/>
                          <a:latin typeface="+mn-ea"/>
                          <a:ea typeface="+mn-ea"/>
                          <a:cs typeface="Times New Roman"/>
                        </a:rPr>
                        <a:t>4.62</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629</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6.4</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170</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2.8</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0.803</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3.35</a:t>
                      </a:r>
                      <a:endParaRPr lang="zh-CN" sz="1200" kern="10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dirty="0">
                          <a:effectLst/>
                          <a:latin typeface="+mn-ea"/>
                          <a:ea typeface="+mn-ea"/>
                          <a:cs typeface="Times New Roman"/>
                        </a:rPr>
                        <a:t>1.61</a:t>
                      </a:r>
                      <a:endParaRPr lang="zh-CN" sz="1200" kern="100" dirty="0">
                        <a:effectLst/>
                        <a:latin typeface="+mn-ea"/>
                        <a:ea typeface="+mn-ea"/>
                        <a:cs typeface="Times New Roman"/>
                      </a:endParaRPr>
                    </a:p>
                  </a:txBody>
                  <a:tcPr marL="68580" marR="68580" marT="0" marB="0" anchor="ctr">
                    <a:noFill/>
                  </a:tcPr>
                </a:tc>
                <a:tc>
                  <a:txBody>
                    <a:bodyPr/>
                    <a:lstStyle/>
                    <a:p>
                      <a:pPr algn="ctr">
                        <a:lnSpc>
                          <a:spcPct val="115000"/>
                        </a:lnSpc>
                        <a:spcAft>
                          <a:spcPts val="0"/>
                        </a:spcAft>
                      </a:pPr>
                      <a:r>
                        <a:rPr lang="en-US" sz="1200" kern="0">
                          <a:effectLst/>
                          <a:latin typeface="+mn-ea"/>
                          <a:ea typeface="+mn-ea"/>
                          <a:cs typeface="Times New Roman"/>
                        </a:rPr>
                        <a:t>19</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a:effectLst/>
                          <a:latin typeface="+mn-ea"/>
                          <a:ea typeface="+mn-ea"/>
                          <a:cs typeface="Times New Roman"/>
                        </a:rPr>
                        <a:t>4.63</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a:effectLst/>
                          <a:latin typeface="+mn-ea"/>
                          <a:ea typeface="+mn-ea"/>
                          <a:cs typeface="Times New Roman"/>
                        </a:rPr>
                        <a:t>3456</a:t>
                      </a:r>
                      <a:endParaRPr lang="zh-CN" sz="1200" kern="100">
                        <a:effectLst/>
                        <a:latin typeface="+mn-ea"/>
                        <a:ea typeface="+mn-ea"/>
                        <a:cs typeface="Times New Roman"/>
                      </a:endParaRPr>
                    </a:p>
                  </a:txBody>
                  <a:tcPr marL="68580" marR="68580" marT="0" marB="0" anchor="ctr"/>
                </a:tc>
                <a:tc>
                  <a:txBody>
                    <a:bodyPr/>
                    <a:lstStyle/>
                    <a:p>
                      <a:pPr algn="ctr">
                        <a:lnSpc>
                          <a:spcPct val="115000"/>
                        </a:lnSpc>
                        <a:spcAft>
                          <a:spcPts val="0"/>
                        </a:spcAft>
                      </a:pPr>
                      <a:r>
                        <a:rPr lang="en-US" sz="1200" kern="0" dirty="0">
                          <a:effectLst/>
                          <a:latin typeface="+mn-ea"/>
                          <a:ea typeface="+mn-ea"/>
                          <a:cs typeface="Times New Roman"/>
                        </a:rPr>
                        <a:t>8.04</a:t>
                      </a:r>
                      <a:endParaRPr lang="zh-CN" sz="1200" kern="100" dirty="0">
                        <a:effectLst/>
                        <a:latin typeface="+mn-ea"/>
                        <a:ea typeface="+mn-ea"/>
                        <a:cs typeface="Times New Roman"/>
                      </a:endParaRPr>
                    </a:p>
                  </a:txBody>
                  <a:tcPr marL="68580" marR="68580" marT="0" marB="0" anchor="ctr"/>
                </a:tc>
                <a:extLst>
                  <a:ext uri="{0D108BD9-81ED-4DB2-BD59-A6C34878D82A}">
                    <a16:rowId xmlns:a16="http://schemas.microsoft.com/office/drawing/2014/main" val="10010"/>
                  </a:ext>
                </a:extLst>
              </a:tr>
            </a:tbl>
          </a:graphicData>
        </a:graphic>
      </p:graphicFrame>
      <p:sp>
        <p:nvSpPr>
          <p:cNvPr id="7" name="TextBox 6"/>
          <p:cNvSpPr txBox="1"/>
          <p:nvPr/>
        </p:nvSpPr>
        <p:spPr>
          <a:xfrm>
            <a:off x="387584" y="1554924"/>
            <a:ext cx="8461081" cy="1200329"/>
          </a:xfrm>
          <a:prstGeom prst="rect">
            <a:avLst/>
          </a:prstGeom>
          <a:noFill/>
        </p:spPr>
        <p:txBody>
          <a:bodyPr wrap="square" rtlCol="0">
            <a:spAutoFit/>
          </a:bodyPr>
          <a:lstStyle/>
          <a:p>
            <a:r>
              <a:rPr lang="zh-CN" altLang="en-US" sz="2400" b="1" dirty="0">
                <a:solidFill>
                  <a:srgbClr val="C00000"/>
                </a:solidFill>
                <a:latin typeface="+mn-ea"/>
                <a:ea typeface="+mn-ea"/>
              </a:rPr>
              <a:t>案例：</a:t>
            </a:r>
            <a:r>
              <a:rPr lang="zh-CN" altLang="en-US" sz="2400" dirty="0">
                <a:solidFill>
                  <a:srgbClr val="0070C0"/>
                </a:solidFill>
                <a:latin typeface="+mn-ea"/>
                <a:ea typeface="+mn-ea"/>
              </a:rPr>
              <a:t>瓦斯（煤层气）既是我国煤矿生产过程中的主要灾害，也是一种新型的洁净能源和优质的化工原料。有证据表明，回采工作面的瓦斯涌出量与</a:t>
            </a:r>
            <a:r>
              <a:rPr lang="en-US" altLang="zh-CN" sz="2400" dirty="0">
                <a:solidFill>
                  <a:srgbClr val="0070C0"/>
                </a:solidFill>
                <a:latin typeface="+mn-ea"/>
                <a:ea typeface="+mn-ea"/>
              </a:rPr>
              <a:t>11</a:t>
            </a:r>
            <a:r>
              <a:rPr lang="zh-CN" altLang="en-US" sz="2400" dirty="0">
                <a:solidFill>
                  <a:srgbClr val="0070C0"/>
                </a:solidFill>
                <a:latin typeface="+mn-ea"/>
                <a:ea typeface="+mn-ea"/>
              </a:rPr>
              <a:t>个因素有关。</a:t>
            </a:r>
          </a:p>
        </p:txBody>
      </p:sp>
    </p:spTree>
    <p:extLst>
      <p:ext uri="{BB962C8B-B14F-4D97-AF65-F5344CB8AC3E}">
        <p14:creationId xmlns:p14="http://schemas.microsoft.com/office/powerpoint/2010/main" val="38246280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9233" name="矩形 1"/>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24"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19"/>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1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3" name="Rectangle 1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2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Text Box 21"/>
          <p:cNvSpPr txBox="1">
            <a:spLocks noChangeArrowheads="1"/>
          </p:cNvSpPr>
          <p:nvPr/>
        </p:nvSpPr>
        <p:spPr bwMode="auto">
          <a:xfrm>
            <a:off x="23812" y="908678"/>
            <a:ext cx="88687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eaLnBrk="1" hangingPunct="1">
              <a:spcBef>
                <a:spcPct val="50000"/>
              </a:spcBef>
            </a:pPr>
            <a:r>
              <a:rPr kumimoji="1" lang="zh-CN" altLang="en-US" b="1" dirty="0">
                <a:solidFill>
                  <a:srgbClr val="CC0000"/>
                </a:solidFill>
                <a:latin typeface="微软雅黑" pitchFamily="34" charset="-122"/>
                <a:ea typeface="微软雅黑" pitchFamily="34" charset="-122"/>
              </a:rPr>
              <a:t>首先，对高维影响因素数据进行降维</a:t>
            </a:r>
            <a:r>
              <a:rPr kumimoji="1" lang="en-US" altLang="zh-CN" b="1" dirty="0">
                <a:solidFill>
                  <a:srgbClr val="CC0000"/>
                </a:solidFill>
                <a:latin typeface="微软雅黑" pitchFamily="34" charset="-122"/>
                <a:ea typeface="微软雅黑" pitchFamily="34" charset="-122"/>
              </a:rPr>
              <a:t>-</a:t>
            </a:r>
            <a:r>
              <a:rPr kumimoji="1" lang="en-US" altLang="zh-CN" b="1" dirty="0">
                <a:solidFill>
                  <a:schemeClr val="accent2"/>
                </a:solidFill>
                <a:latin typeface="微软雅黑" pitchFamily="34" charset="-122"/>
                <a:ea typeface="微软雅黑" pitchFamily="34" charset="-122"/>
              </a:rPr>
              <a:t>PCA</a:t>
            </a:r>
            <a:r>
              <a:rPr kumimoji="1" lang="zh-CN" altLang="en-US" b="1" dirty="0">
                <a:solidFill>
                  <a:schemeClr val="accent2"/>
                </a:solidFill>
                <a:latin typeface="微软雅黑" pitchFamily="34" charset="-122"/>
                <a:ea typeface="微软雅黑" pitchFamily="34" charset="-122"/>
              </a:rPr>
              <a:t>主成分分析</a:t>
            </a:r>
          </a:p>
        </p:txBody>
      </p:sp>
      <p:sp>
        <p:nvSpPr>
          <p:cNvPr id="2" name="矩形 1"/>
          <p:cNvSpPr/>
          <p:nvPr/>
        </p:nvSpPr>
        <p:spPr>
          <a:xfrm>
            <a:off x="184150" y="1444834"/>
            <a:ext cx="8708402" cy="461665"/>
          </a:xfrm>
          <a:prstGeom prst="rect">
            <a:avLst/>
          </a:prstGeom>
        </p:spPr>
        <p:txBody>
          <a:bodyPr wrap="square">
            <a:spAutoFit/>
          </a:bodyPr>
          <a:lstStyle/>
          <a:p>
            <a:r>
              <a:rPr lang="zh-CN" altLang="zh-CN" sz="2400" dirty="0">
                <a:latin typeface="+mn-ea"/>
                <a:ea typeface="+mn-ea"/>
              </a:rPr>
              <a:t>从相关系数矩阵</a:t>
            </a:r>
            <a:r>
              <a:rPr lang="en-US" altLang="zh-CN" sz="2400" dirty="0">
                <a:latin typeface="+mn-ea"/>
                <a:ea typeface="+mn-ea"/>
              </a:rPr>
              <a:t>R</a:t>
            </a:r>
            <a:r>
              <a:rPr lang="zh-CN" altLang="zh-CN" sz="2400" dirty="0">
                <a:latin typeface="+mn-ea"/>
                <a:ea typeface="+mn-ea"/>
              </a:rPr>
              <a:t>出发求主成分</a:t>
            </a:r>
            <a:r>
              <a:rPr lang="zh-CN" altLang="en-US" sz="2400" dirty="0">
                <a:latin typeface="+mn-ea"/>
                <a:ea typeface="+mn-ea"/>
              </a:rPr>
              <a:t>（主成分分析是一种线性变换）</a:t>
            </a:r>
          </a:p>
        </p:txBody>
      </p:sp>
      <p:graphicFrame>
        <p:nvGraphicFramePr>
          <p:cNvPr id="3" name="表格 2"/>
          <p:cNvGraphicFramePr>
            <a:graphicFrameLocks noGrp="1"/>
          </p:cNvGraphicFramePr>
          <p:nvPr>
            <p:extLst>
              <p:ext uri="{D42A27DB-BD31-4B8C-83A1-F6EECF244321}">
                <p14:modId xmlns:p14="http://schemas.microsoft.com/office/powerpoint/2010/main" val="4294529380"/>
              </p:ext>
            </p:extLst>
          </p:nvPr>
        </p:nvGraphicFramePr>
        <p:xfrm>
          <a:off x="343382" y="2168839"/>
          <a:ext cx="8229600" cy="3080004"/>
        </p:xfrm>
        <a:graphic>
          <a:graphicData uri="http://schemas.openxmlformats.org/drawingml/2006/table">
            <a:tbl>
              <a:tblPr>
                <a:tableStyleId>{5C22544A-7EE6-4342-B048-85BDC9FD1C3A}</a:tableStyleId>
              </a:tblPr>
              <a:tblGrid>
                <a:gridCol w="1708296">
                  <a:extLst>
                    <a:ext uri="{9D8B030D-6E8A-4147-A177-3AD203B41FA5}">
                      <a16:colId xmlns:a16="http://schemas.microsoft.com/office/drawing/2014/main" val="20000"/>
                    </a:ext>
                  </a:extLst>
                </a:gridCol>
                <a:gridCol w="1080138">
                  <a:extLst>
                    <a:ext uri="{9D8B030D-6E8A-4147-A177-3AD203B41FA5}">
                      <a16:colId xmlns:a16="http://schemas.microsoft.com/office/drawing/2014/main" val="20001"/>
                    </a:ext>
                  </a:extLst>
                </a:gridCol>
                <a:gridCol w="1440184">
                  <a:extLst>
                    <a:ext uri="{9D8B030D-6E8A-4147-A177-3AD203B41FA5}">
                      <a16:colId xmlns:a16="http://schemas.microsoft.com/office/drawing/2014/main" val="20002"/>
                    </a:ext>
                  </a:extLst>
                </a:gridCol>
                <a:gridCol w="1260161">
                  <a:extLst>
                    <a:ext uri="{9D8B030D-6E8A-4147-A177-3AD203B41FA5}">
                      <a16:colId xmlns:a16="http://schemas.microsoft.com/office/drawing/2014/main" val="20003"/>
                    </a:ext>
                  </a:extLst>
                </a:gridCol>
                <a:gridCol w="1369221">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158750">
                <a:tc>
                  <a:txBody>
                    <a:bodyPr/>
                    <a:lstStyle/>
                    <a:p>
                      <a:pPr algn="ctr">
                        <a:lnSpc>
                          <a:spcPct val="115000"/>
                        </a:lnSpc>
                        <a:spcAft>
                          <a:spcPts val="0"/>
                        </a:spcAft>
                      </a:pPr>
                      <a:r>
                        <a:rPr lang="zh-CN" sz="1400" kern="100" dirty="0">
                          <a:effectLst/>
                        </a:rPr>
                        <a:t>指标</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115000"/>
                        </a:lnSpc>
                        <a:spcAft>
                          <a:spcPts val="0"/>
                        </a:spcAft>
                      </a:pPr>
                      <a:r>
                        <a:rPr lang="zh-CN" sz="1400" kern="100" dirty="0">
                          <a:effectLst/>
                        </a:rPr>
                        <a:t>第</a:t>
                      </a:r>
                      <a:r>
                        <a:rPr lang="en-US" sz="1400" kern="100" dirty="0">
                          <a:effectLst/>
                        </a:rPr>
                        <a:t>1</a:t>
                      </a:r>
                      <a:r>
                        <a:rPr lang="zh-CN" sz="1400" kern="100" dirty="0">
                          <a:effectLst/>
                        </a:rPr>
                        <a:t>主成分</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115000"/>
                        </a:lnSpc>
                        <a:spcAft>
                          <a:spcPts val="0"/>
                        </a:spcAft>
                      </a:pPr>
                      <a:r>
                        <a:rPr lang="zh-CN" sz="1400" kern="100" dirty="0">
                          <a:effectLst/>
                        </a:rPr>
                        <a:t>第</a:t>
                      </a:r>
                      <a:r>
                        <a:rPr lang="en-US" sz="1400" kern="100" dirty="0">
                          <a:effectLst/>
                        </a:rPr>
                        <a:t>2</a:t>
                      </a:r>
                      <a:r>
                        <a:rPr lang="zh-CN" sz="1400" kern="100" dirty="0">
                          <a:effectLst/>
                        </a:rPr>
                        <a:t>主成分</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115000"/>
                        </a:lnSpc>
                        <a:spcAft>
                          <a:spcPts val="0"/>
                        </a:spcAft>
                      </a:pPr>
                      <a:r>
                        <a:rPr lang="zh-CN" sz="1400" kern="100" dirty="0">
                          <a:effectLst/>
                        </a:rPr>
                        <a:t>第</a:t>
                      </a:r>
                      <a:r>
                        <a:rPr lang="en-US" sz="1400" kern="100" dirty="0">
                          <a:effectLst/>
                        </a:rPr>
                        <a:t>3</a:t>
                      </a:r>
                      <a:r>
                        <a:rPr lang="zh-CN" sz="1400" kern="100" dirty="0">
                          <a:effectLst/>
                        </a:rPr>
                        <a:t>主成分</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115000"/>
                        </a:lnSpc>
                        <a:spcAft>
                          <a:spcPts val="0"/>
                        </a:spcAft>
                      </a:pPr>
                      <a:r>
                        <a:rPr lang="zh-CN" sz="1400" kern="100" dirty="0">
                          <a:effectLst/>
                        </a:rPr>
                        <a:t>第</a:t>
                      </a:r>
                      <a:r>
                        <a:rPr lang="en-US" sz="1400" kern="100" dirty="0">
                          <a:effectLst/>
                        </a:rPr>
                        <a:t>4</a:t>
                      </a:r>
                      <a:r>
                        <a:rPr lang="zh-CN" sz="1400" kern="100" dirty="0">
                          <a:effectLst/>
                        </a:rPr>
                        <a:t>主成分</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115000"/>
                        </a:lnSpc>
                        <a:spcAft>
                          <a:spcPts val="0"/>
                        </a:spcAft>
                      </a:pPr>
                      <a:r>
                        <a:rPr lang="zh-CN" sz="1400" kern="100" dirty="0">
                          <a:effectLst/>
                        </a:rPr>
                        <a:t>第</a:t>
                      </a:r>
                      <a:r>
                        <a:rPr lang="en-US" sz="1400" kern="100" dirty="0">
                          <a:effectLst/>
                        </a:rPr>
                        <a:t>5</a:t>
                      </a:r>
                      <a:r>
                        <a:rPr lang="zh-CN" sz="1400" kern="100" dirty="0">
                          <a:effectLst/>
                        </a:rPr>
                        <a:t>主成分</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10000"/>
                  </a:ext>
                </a:extLst>
              </a:tr>
              <a:tr h="171450">
                <a:tc>
                  <a:txBody>
                    <a:bodyPr/>
                    <a:lstStyle/>
                    <a:p>
                      <a:pPr algn="ctr">
                        <a:spcAft>
                          <a:spcPts val="0"/>
                        </a:spcAft>
                      </a:pPr>
                      <a:r>
                        <a:rPr lang="zh-CN" sz="1400" kern="100" dirty="0">
                          <a:effectLst/>
                        </a:rPr>
                        <a:t>煤层瓦斯含量</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-0.3438928</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-0.13055256</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-0.29190678</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-0.06161026</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-0.217118082</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1450">
                <a:tc>
                  <a:txBody>
                    <a:bodyPr/>
                    <a:lstStyle/>
                    <a:p>
                      <a:pPr algn="ctr">
                        <a:spcAft>
                          <a:spcPts val="0"/>
                        </a:spcAft>
                      </a:pPr>
                      <a:r>
                        <a:rPr lang="zh-CN" sz="1400" kern="100" dirty="0">
                          <a:effectLst/>
                        </a:rPr>
                        <a:t>煤层深度</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-0.3545157</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-0.02098933</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-0.25976886</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-0.06444966</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-0.164008266</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71450">
                <a:tc>
                  <a:txBody>
                    <a:bodyPr/>
                    <a:lstStyle/>
                    <a:p>
                      <a:pPr algn="ctr">
                        <a:spcAft>
                          <a:spcPts val="0"/>
                        </a:spcAft>
                      </a:pPr>
                      <a:r>
                        <a:rPr lang="zh-CN" sz="1400" kern="100">
                          <a:effectLst/>
                        </a:rPr>
                        <a:t>煤层厚度</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-0.3344713</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-0.31730915</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-0.04585894</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0.03621705</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0.105577114</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71450">
                <a:tc>
                  <a:txBody>
                    <a:bodyPr/>
                    <a:lstStyle/>
                    <a:p>
                      <a:pPr algn="ctr">
                        <a:spcAft>
                          <a:spcPts val="0"/>
                        </a:spcAft>
                      </a:pPr>
                      <a:r>
                        <a:rPr lang="zh-CN" sz="1400" kern="100">
                          <a:effectLst/>
                        </a:rPr>
                        <a:t>工作面长度</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-0.2619181</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0.44004707</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0.13271978</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0.04196912</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0.639871263</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71450">
                <a:tc>
                  <a:txBody>
                    <a:bodyPr/>
                    <a:lstStyle/>
                    <a:p>
                      <a:pPr algn="ctr">
                        <a:spcAft>
                          <a:spcPts val="0"/>
                        </a:spcAft>
                      </a:pPr>
                      <a:r>
                        <a:rPr lang="zh-CN" sz="1400" kern="100">
                          <a:effectLst/>
                        </a:rPr>
                        <a:t>推进速度</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0.3456966</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0.0365638</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0.09146509</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0.14787275</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-0.347337309</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71450">
                <a:tc>
                  <a:txBody>
                    <a:bodyPr/>
                    <a:lstStyle/>
                    <a:p>
                      <a:pPr algn="ctr">
                        <a:spcAft>
                          <a:spcPts val="0"/>
                        </a:spcAft>
                      </a:pPr>
                      <a:r>
                        <a:rPr lang="zh-CN" sz="1400" kern="100">
                          <a:effectLst/>
                        </a:rPr>
                        <a:t>采出率</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0.3285809</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0.34254769</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-0.03770587</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-0.13281887</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-0.004471976</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71450">
                <a:tc>
                  <a:txBody>
                    <a:bodyPr/>
                    <a:lstStyle/>
                    <a:p>
                      <a:pPr algn="ctr">
                        <a:spcAft>
                          <a:spcPts val="0"/>
                        </a:spcAft>
                      </a:pPr>
                      <a:r>
                        <a:rPr lang="zh-CN" sz="1400" kern="100">
                          <a:effectLst/>
                        </a:rPr>
                        <a:t>临近层瓦斯含量</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-0.2684562</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-0.03773431</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0.56510898</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-0.48809578</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0.090146531</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71450">
                <a:tc>
                  <a:txBody>
                    <a:bodyPr/>
                    <a:lstStyle/>
                    <a:p>
                      <a:pPr algn="ctr">
                        <a:spcAft>
                          <a:spcPts val="0"/>
                        </a:spcAft>
                      </a:pPr>
                      <a:r>
                        <a:rPr lang="zh-CN" sz="1400" kern="100">
                          <a:effectLst/>
                        </a:rPr>
                        <a:t>临近层厚度</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-0.2493749</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0.27306805</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0.29444421</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0.77805865</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-0.129938082</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171450">
                <a:tc>
                  <a:txBody>
                    <a:bodyPr/>
                    <a:lstStyle/>
                    <a:p>
                      <a:pPr algn="ctr">
                        <a:spcAft>
                          <a:spcPts val="0"/>
                        </a:spcAft>
                      </a:pPr>
                      <a:r>
                        <a:rPr lang="zh-CN" sz="1400" kern="100">
                          <a:effectLst/>
                        </a:rPr>
                        <a:t>层间距</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0.1642815</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-0.561699</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0.54240084</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0.15332203</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0.0457386</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71450">
                <a:tc>
                  <a:txBody>
                    <a:bodyPr/>
                    <a:lstStyle/>
                    <a:p>
                      <a:pPr algn="ctr">
                        <a:spcAft>
                          <a:spcPts val="0"/>
                        </a:spcAft>
                      </a:pPr>
                      <a:r>
                        <a:rPr lang="zh-CN" sz="1400" kern="100">
                          <a:effectLst/>
                        </a:rPr>
                        <a:t>层间岩性</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0.2604145</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-0.36040692</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-0.33159188</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0.24149334</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0.59490226</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171450">
                <a:tc>
                  <a:txBody>
                    <a:bodyPr/>
                    <a:lstStyle/>
                    <a:p>
                      <a:pPr algn="ctr">
                        <a:spcAft>
                          <a:spcPts val="0"/>
                        </a:spcAft>
                      </a:pPr>
                      <a:r>
                        <a:rPr lang="zh-CN" sz="1400" kern="0">
                          <a:effectLst/>
                        </a:rPr>
                        <a:t>开采深度</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-0.3450391</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-0.21937223</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-0.0872238</a:t>
                      </a:r>
                      <a:endParaRPr lang="zh-CN" sz="1400" kern="10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0.15501838</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-0.060869052</a:t>
                      </a:r>
                      <a:endParaRPr lang="zh-CN" sz="1400" kern="100" dirty="0">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171450">
                <a:tc>
                  <a:txBody>
                    <a:bodyPr/>
                    <a:lstStyle/>
                    <a:p>
                      <a:pPr algn="ctr">
                        <a:spcAft>
                          <a:spcPts val="0"/>
                        </a:spcAft>
                      </a:pPr>
                      <a:r>
                        <a:rPr lang="zh-CN" sz="1600" b="1" kern="0" dirty="0">
                          <a:solidFill>
                            <a:srgbClr val="FF0000"/>
                          </a:solidFill>
                          <a:effectLst/>
                        </a:rPr>
                        <a:t>主成分累积贡献率</a:t>
                      </a:r>
                      <a:endParaRPr lang="zh-CN" sz="1600" b="1" kern="100" dirty="0">
                        <a:solidFill>
                          <a:srgbClr val="FF0000"/>
                        </a:solidFill>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spcAft>
                          <a:spcPts val="0"/>
                        </a:spcAft>
                      </a:pPr>
                      <a:r>
                        <a:rPr lang="en-US" sz="1600" b="1" kern="100" dirty="0">
                          <a:solidFill>
                            <a:srgbClr val="FF0000"/>
                          </a:solidFill>
                          <a:effectLst/>
                        </a:rPr>
                        <a:t>66.8579%</a:t>
                      </a:r>
                      <a:endParaRPr lang="zh-CN" sz="1600" b="1" kern="100" dirty="0">
                        <a:solidFill>
                          <a:srgbClr val="FF0000"/>
                        </a:solidFill>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spcAft>
                          <a:spcPts val="0"/>
                        </a:spcAft>
                      </a:pPr>
                      <a:r>
                        <a:rPr lang="en-US" sz="1600" b="1" kern="100" dirty="0">
                          <a:solidFill>
                            <a:srgbClr val="FF0000"/>
                          </a:solidFill>
                          <a:effectLst/>
                        </a:rPr>
                        <a:t>82.7080%</a:t>
                      </a:r>
                      <a:endParaRPr lang="zh-CN" sz="1600" b="1" kern="100" dirty="0">
                        <a:solidFill>
                          <a:srgbClr val="FF0000"/>
                        </a:solidFill>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spcAft>
                          <a:spcPts val="0"/>
                        </a:spcAft>
                      </a:pPr>
                      <a:r>
                        <a:rPr lang="en-US" sz="1600" b="1" kern="100" dirty="0">
                          <a:solidFill>
                            <a:srgbClr val="FF0000"/>
                          </a:solidFill>
                          <a:effectLst/>
                        </a:rPr>
                        <a:t>89.2217%</a:t>
                      </a:r>
                      <a:endParaRPr lang="zh-CN" sz="1600" b="1" kern="100" dirty="0">
                        <a:solidFill>
                          <a:srgbClr val="FF0000"/>
                        </a:solidFill>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spcAft>
                          <a:spcPts val="0"/>
                        </a:spcAft>
                      </a:pPr>
                      <a:r>
                        <a:rPr lang="en-US" sz="1600" b="1" kern="100" dirty="0">
                          <a:solidFill>
                            <a:srgbClr val="FF0000"/>
                          </a:solidFill>
                          <a:effectLst/>
                        </a:rPr>
                        <a:t>93.9991%</a:t>
                      </a:r>
                      <a:endParaRPr lang="zh-CN" sz="1600" b="1" kern="100" dirty="0">
                        <a:solidFill>
                          <a:srgbClr val="FF0000"/>
                        </a:solidFill>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spcAft>
                          <a:spcPts val="0"/>
                        </a:spcAft>
                      </a:pPr>
                      <a:r>
                        <a:rPr lang="en-US" sz="1600" b="1" kern="100" dirty="0">
                          <a:solidFill>
                            <a:srgbClr val="FF0000"/>
                          </a:solidFill>
                          <a:effectLst/>
                        </a:rPr>
                        <a:t>97.3264%</a:t>
                      </a:r>
                      <a:endParaRPr lang="zh-CN" sz="1600" b="1" kern="100" dirty="0">
                        <a:solidFill>
                          <a:srgbClr val="FF0000"/>
                        </a:solidFill>
                        <a:effectLst/>
                        <a:latin typeface="Calibri"/>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58748482"/>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9233" name="矩形 1"/>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24"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19"/>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1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3" name="Rectangle 1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2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Text Box 21"/>
          <p:cNvSpPr txBox="1">
            <a:spLocks noChangeArrowheads="1"/>
          </p:cNvSpPr>
          <p:nvPr/>
        </p:nvSpPr>
        <p:spPr bwMode="auto">
          <a:xfrm>
            <a:off x="23812" y="908678"/>
            <a:ext cx="88687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eaLnBrk="1" hangingPunct="1">
              <a:spcBef>
                <a:spcPct val="50000"/>
              </a:spcBef>
            </a:pPr>
            <a:r>
              <a:rPr kumimoji="1" lang="zh-CN" altLang="en-US" b="1" dirty="0">
                <a:solidFill>
                  <a:srgbClr val="CC0000"/>
                </a:solidFill>
                <a:latin typeface="微软雅黑" pitchFamily="34" charset="-122"/>
                <a:ea typeface="微软雅黑" pitchFamily="34" charset="-122"/>
              </a:rPr>
              <a:t>其次，计算</a:t>
            </a:r>
            <a:r>
              <a:rPr kumimoji="1" lang="en-US" altLang="zh-CN" b="1" dirty="0">
                <a:solidFill>
                  <a:srgbClr val="CC0000"/>
                </a:solidFill>
                <a:latin typeface="微软雅黑" pitchFamily="34" charset="-122"/>
                <a:ea typeface="微软雅黑" pitchFamily="34" charset="-122"/>
              </a:rPr>
              <a:t>5</a:t>
            </a:r>
            <a:r>
              <a:rPr kumimoji="1" lang="zh-CN" altLang="en-US" b="1" dirty="0">
                <a:solidFill>
                  <a:srgbClr val="CC0000"/>
                </a:solidFill>
                <a:latin typeface="微软雅黑" pitchFamily="34" charset="-122"/>
                <a:ea typeface="微软雅黑" pitchFamily="34" charset="-122"/>
              </a:rPr>
              <a:t>个主成分的得分：</a:t>
            </a:r>
            <a:endParaRPr kumimoji="1" lang="zh-CN" altLang="en-US" b="1" dirty="0">
              <a:solidFill>
                <a:schemeClr val="accent2"/>
              </a:solidFill>
              <a:latin typeface="微软雅黑" pitchFamily="34" charset="-122"/>
              <a:ea typeface="微软雅黑"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2156259743"/>
              </p:ext>
            </p:extLst>
          </p:nvPr>
        </p:nvGraphicFramePr>
        <p:xfrm>
          <a:off x="343382" y="1628770"/>
          <a:ext cx="8229600" cy="3240415"/>
        </p:xfrm>
        <a:graphic>
          <a:graphicData uri="http://schemas.openxmlformats.org/drawingml/2006/table">
            <a:tbl>
              <a:tblPr>
                <a:tableStyleId>{5C22544A-7EE6-4342-B048-85BDC9FD1C3A}</a:tableStyleId>
              </a:tblPr>
              <a:tblGrid>
                <a:gridCol w="808181">
                  <a:extLst>
                    <a:ext uri="{9D8B030D-6E8A-4147-A177-3AD203B41FA5}">
                      <a16:colId xmlns:a16="http://schemas.microsoft.com/office/drawing/2014/main" val="20000"/>
                    </a:ext>
                  </a:extLst>
                </a:gridCol>
                <a:gridCol w="1440184">
                  <a:extLst>
                    <a:ext uri="{9D8B030D-6E8A-4147-A177-3AD203B41FA5}">
                      <a16:colId xmlns:a16="http://schemas.microsoft.com/office/drawing/2014/main" val="20001"/>
                    </a:ext>
                  </a:extLst>
                </a:gridCol>
                <a:gridCol w="1440184">
                  <a:extLst>
                    <a:ext uri="{9D8B030D-6E8A-4147-A177-3AD203B41FA5}">
                      <a16:colId xmlns:a16="http://schemas.microsoft.com/office/drawing/2014/main" val="20002"/>
                    </a:ext>
                  </a:extLst>
                </a:gridCol>
                <a:gridCol w="1227826">
                  <a:extLst>
                    <a:ext uri="{9D8B030D-6E8A-4147-A177-3AD203B41FA5}">
                      <a16:colId xmlns:a16="http://schemas.microsoft.com/office/drawing/2014/main" val="20003"/>
                    </a:ext>
                  </a:extLst>
                </a:gridCol>
                <a:gridCol w="1292496">
                  <a:extLst>
                    <a:ext uri="{9D8B030D-6E8A-4147-A177-3AD203B41FA5}">
                      <a16:colId xmlns:a16="http://schemas.microsoft.com/office/drawing/2014/main" val="20004"/>
                    </a:ext>
                  </a:extLst>
                </a:gridCol>
                <a:gridCol w="1260161">
                  <a:extLst>
                    <a:ext uri="{9D8B030D-6E8A-4147-A177-3AD203B41FA5}">
                      <a16:colId xmlns:a16="http://schemas.microsoft.com/office/drawing/2014/main" val="20005"/>
                    </a:ext>
                  </a:extLst>
                </a:gridCol>
                <a:gridCol w="760568">
                  <a:extLst>
                    <a:ext uri="{9D8B030D-6E8A-4147-A177-3AD203B41FA5}">
                      <a16:colId xmlns:a16="http://schemas.microsoft.com/office/drawing/2014/main" val="20006"/>
                    </a:ext>
                  </a:extLst>
                </a:gridCol>
              </a:tblGrid>
              <a:tr h="508300">
                <a:tc>
                  <a:txBody>
                    <a:bodyPr/>
                    <a:lstStyle/>
                    <a:p>
                      <a:pPr algn="ctr">
                        <a:spcAft>
                          <a:spcPts val="0"/>
                        </a:spcAft>
                      </a:pPr>
                      <a:r>
                        <a:rPr lang="zh-CN" sz="1400" kern="0" dirty="0">
                          <a:solidFill>
                            <a:srgbClr val="000000"/>
                          </a:solidFill>
                          <a:effectLst/>
                          <a:latin typeface="+mn-ea"/>
                          <a:ea typeface="+mn-ea"/>
                          <a:cs typeface="Times New Roman"/>
                        </a:rPr>
                        <a:t>工作面编号</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spcAft>
                          <a:spcPts val="0"/>
                        </a:spcAft>
                      </a:pPr>
                      <a:r>
                        <a:rPr lang="zh-CN" sz="1400" kern="100">
                          <a:effectLst/>
                          <a:latin typeface="+mn-ea"/>
                          <a:ea typeface="+mn-ea"/>
                          <a:cs typeface="Times New Roman"/>
                        </a:rPr>
                        <a:t>第</a:t>
                      </a:r>
                      <a:r>
                        <a:rPr lang="en-US" sz="1400" kern="100">
                          <a:effectLst/>
                          <a:latin typeface="+mn-ea"/>
                          <a:ea typeface="+mn-ea"/>
                          <a:cs typeface="Times New Roman"/>
                        </a:rPr>
                        <a:t>1</a:t>
                      </a:r>
                      <a:r>
                        <a:rPr lang="zh-CN" sz="1400" kern="100">
                          <a:effectLst/>
                          <a:latin typeface="+mn-ea"/>
                          <a:ea typeface="+mn-ea"/>
                          <a:cs typeface="Times New Roman"/>
                        </a:rPr>
                        <a:t>主成分</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spcAft>
                          <a:spcPts val="0"/>
                        </a:spcAft>
                      </a:pPr>
                      <a:r>
                        <a:rPr lang="zh-CN" sz="1400" kern="100">
                          <a:effectLst/>
                          <a:latin typeface="+mn-ea"/>
                          <a:ea typeface="+mn-ea"/>
                          <a:cs typeface="Times New Roman"/>
                        </a:rPr>
                        <a:t>第</a:t>
                      </a:r>
                      <a:r>
                        <a:rPr lang="en-US" sz="1400" kern="100">
                          <a:effectLst/>
                          <a:latin typeface="+mn-ea"/>
                          <a:ea typeface="+mn-ea"/>
                          <a:cs typeface="Times New Roman"/>
                        </a:rPr>
                        <a:t>2</a:t>
                      </a:r>
                      <a:r>
                        <a:rPr lang="zh-CN" sz="1400" kern="100">
                          <a:effectLst/>
                          <a:latin typeface="+mn-ea"/>
                          <a:ea typeface="+mn-ea"/>
                          <a:cs typeface="Times New Roman"/>
                        </a:rPr>
                        <a:t>主成分</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spcAft>
                          <a:spcPts val="0"/>
                        </a:spcAft>
                      </a:pPr>
                      <a:r>
                        <a:rPr lang="zh-CN" sz="1400" kern="100">
                          <a:effectLst/>
                          <a:latin typeface="+mn-ea"/>
                          <a:ea typeface="+mn-ea"/>
                          <a:cs typeface="Times New Roman"/>
                        </a:rPr>
                        <a:t>第</a:t>
                      </a:r>
                      <a:r>
                        <a:rPr lang="en-US" sz="1400" kern="100">
                          <a:effectLst/>
                          <a:latin typeface="+mn-ea"/>
                          <a:ea typeface="+mn-ea"/>
                          <a:cs typeface="Times New Roman"/>
                        </a:rPr>
                        <a:t>3</a:t>
                      </a:r>
                      <a:r>
                        <a:rPr lang="zh-CN" sz="1400" kern="100">
                          <a:effectLst/>
                          <a:latin typeface="+mn-ea"/>
                          <a:ea typeface="+mn-ea"/>
                          <a:cs typeface="Times New Roman"/>
                        </a:rPr>
                        <a:t>主成分</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spcAft>
                          <a:spcPts val="0"/>
                        </a:spcAft>
                      </a:pPr>
                      <a:r>
                        <a:rPr lang="zh-CN" sz="1400" kern="100">
                          <a:effectLst/>
                          <a:latin typeface="+mn-ea"/>
                          <a:ea typeface="+mn-ea"/>
                          <a:cs typeface="Times New Roman"/>
                        </a:rPr>
                        <a:t>第</a:t>
                      </a:r>
                      <a:r>
                        <a:rPr lang="en-US" sz="1400" kern="100">
                          <a:effectLst/>
                          <a:latin typeface="+mn-ea"/>
                          <a:ea typeface="+mn-ea"/>
                          <a:cs typeface="Times New Roman"/>
                        </a:rPr>
                        <a:t>4</a:t>
                      </a:r>
                      <a:r>
                        <a:rPr lang="zh-CN" sz="1400" kern="100">
                          <a:effectLst/>
                          <a:latin typeface="+mn-ea"/>
                          <a:ea typeface="+mn-ea"/>
                          <a:cs typeface="Times New Roman"/>
                        </a:rPr>
                        <a:t>主成分</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spcAft>
                          <a:spcPts val="0"/>
                        </a:spcAft>
                      </a:pPr>
                      <a:r>
                        <a:rPr lang="zh-CN" sz="1400" kern="100">
                          <a:effectLst/>
                          <a:latin typeface="+mn-ea"/>
                          <a:ea typeface="+mn-ea"/>
                          <a:cs typeface="Times New Roman"/>
                        </a:rPr>
                        <a:t>第</a:t>
                      </a:r>
                      <a:r>
                        <a:rPr lang="en-US" sz="1400" kern="100">
                          <a:effectLst/>
                          <a:latin typeface="+mn-ea"/>
                          <a:ea typeface="+mn-ea"/>
                          <a:cs typeface="Times New Roman"/>
                        </a:rPr>
                        <a:t>5</a:t>
                      </a:r>
                      <a:r>
                        <a:rPr lang="zh-CN" sz="1400" kern="100">
                          <a:effectLst/>
                          <a:latin typeface="+mn-ea"/>
                          <a:ea typeface="+mn-ea"/>
                          <a:cs typeface="Times New Roman"/>
                        </a:rPr>
                        <a:t>主成分</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spcAft>
                          <a:spcPts val="0"/>
                        </a:spcAft>
                      </a:pPr>
                      <a:r>
                        <a:rPr lang="zh-CN" sz="1400" kern="0">
                          <a:solidFill>
                            <a:srgbClr val="000000"/>
                          </a:solidFill>
                          <a:effectLst/>
                          <a:latin typeface="+mn-ea"/>
                          <a:ea typeface="+mn-ea"/>
                          <a:cs typeface="Times New Roman"/>
                        </a:rPr>
                        <a:t>瓦斯涌出量</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10000"/>
                  </a:ext>
                </a:extLst>
              </a:tr>
              <a:tr h="254150">
                <a:tc>
                  <a:txBody>
                    <a:bodyPr/>
                    <a:lstStyle/>
                    <a:p>
                      <a:pPr algn="ctr">
                        <a:spcAft>
                          <a:spcPts val="0"/>
                        </a:spcAft>
                      </a:pPr>
                      <a:r>
                        <a:rPr lang="en-US" sz="1400" kern="100">
                          <a:effectLst/>
                          <a:latin typeface="+mn-ea"/>
                          <a:ea typeface="+mn-ea"/>
                          <a:cs typeface="Times New Roman"/>
                        </a:rPr>
                        <a:t>1</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4.23757132</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-0.78090193</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0.03849595</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latin typeface="+mn-ea"/>
                          <a:ea typeface="+mn-ea"/>
                          <a:cs typeface="Times New Roman"/>
                        </a:rPr>
                        <a:t>-0.66973886</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1.02585274</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3.34</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54150">
                <a:tc>
                  <a:txBody>
                    <a:bodyPr/>
                    <a:lstStyle/>
                    <a:p>
                      <a:pPr algn="ctr">
                        <a:spcAft>
                          <a:spcPts val="0"/>
                        </a:spcAft>
                      </a:pPr>
                      <a:r>
                        <a:rPr lang="en-US" sz="1400" kern="0">
                          <a:solidFill>
                            <a:srgbClr val="000000"/>
                          </a:solidFill>
                          <a:effectLst/>
                          <a:latin typeface="+mn-ea"/>
                          <a:ea typeface="+mn-ea"/>
                          <a:cs typeface="Times New Roman"/>
                        </a:rPr>
                        <a:t>2</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4.91636037</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-2.51049024</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latin typeface="+mn-ea"/>
                          <a:ea typeface="+mn-ea"/>
                          <a:cs typeface="Times New Roman"/>
                        </a:rPr>
                        <a:t>0.455320027</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latin typeface="+mn-ea"/>
                          <a:ea typeface="+mn-ea"/>
                          <a:cs typeface="Times New Roman"/>
                        </a:rPr>
                        <a:t>0.89866273</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-0.18410933</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0">
                          <a:solidFill>
                            <a:srgbClr val="000000"/>
                          </a:solidFill>
                          <a:effectLst/>
                          <a:latin typeface="+mn-ea"/>
                          <a:ea typeface="+mn-ea"/>
                          <a:cs typeface="Times New Roman"/>
                        </a:rPr>
                        <a:t>2.97</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54150">
                <a:tc>
                  <a:txBody>
                    <a:bodyPr/>
                    <a:lstStyle/>
                    <a:p>
                      <a:pPr algn="ctr">
                        <a:spcAft>
                          <a:spcPts val="0"/>
                        </a:spcAft>
                      </a:pPr>
                      <a:r>
                        <a:rPr lang="en-US" sz="1400" kern="0">
                          <a:solidFill>
                            <a:srgbClr val="000000"/>
                          </a:solidFill>
                          <a:effectLst/>
                          <a:latin typeface="+mn-ea"/>
                          <a:ea typeface="+mn-ea"/>
                          <a:cs typeface="Times New Roman"/>
                        </a:rPr>
                        <a:t>3</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latin typeface="+mn-ea"/>
                          <a:ea typeface="+mn-ea"/>
                          <a:cs typeface="Times New Roman"/>
                        </a:rPr>
                        <a:t>2.12511357</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1.25696759</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latin typeface="+mn-ea"/>
                          <a:ea typeface="+mn-ea"/>
                          <a:cs typeface="Times New Roman"/>
                        </a:rPr>
                        <a:t>1.888303323</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latin typeface="+mn-ea"/>
                          <a:ea typeface="+mn-ea"/>
                          <a:cs typeface="Times New Roman"/>
                        </a:rPr>
                        <a:t>-0.30961763</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0.82325582</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0">
                          <a:solidFill>
                            <a:srgbClr val="000000"/>
                          </a:solidFill>
                          <a:effectLst/>
                          <a:latin typeface="+mn-ea"/>
                          <a:ea typeface="+mn-ea"/>
                          <a:cs typeface="Times New Roman"/>
                        </a:rPr>
                        <a:t>3.56</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54150">
                <a:tc>
                  <a:txBody>
                    <a:bodyPr/>
                    <a:lstStyle/>
                    <a:p>
                      <a:pPr algn="ctr">
                        <a:spcAft>
                          <a:spcPts val="0"/>
                        </a:spcAft>
                      </a:pPr>
                      <a:r>
                        <a:rPr lang="en-US" sz="1400" kern="0">
                          <a:solidFill>
                            <a:srgbClr val="000000"/>
                          </a:solidFill>
                          <a:effectLst/>
                          <a:latin typeface="+mn-ea"/>
                          <a:ea typeface="+mn-ea"/>
                          <a:cs typeface="Times New Roman"/>
                        </a:rPr>
                        <a:t>4</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3.70296671</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-1.24651796</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latin typeface="+mn-ea"/>
                          <a:ea typeface="+mn-ea"/>
                          <a:cs typeface="Times New Roman"/>
                        </a:rPr>
                        <a:t>-0.38572321</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latin typeface="+mn-ea"/>
                          <a:ea typeface="+mn-ea"/>
                          <a:cs typeface="Times New Roman"/>
                        </a:rPr>
                        <a:t>0.01295382</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-0.62449917</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0">
                          <a:solidFill>
                            <a:srgbClr val="000000"/>
                          </a:solidFill>
                          <a:effectLst/>
                          <a:latin typeface="+mn-ea"/>
                          <a:ea typeface="+mn-ea"/>
                          <a:cs typeface="Times New Roman"/>
                        </a:rPr>
                        <a:t>3.62</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54150">
                <a:tc>
                  <a:txBody>
                    <a:bodyPr/>
                    <a:lstStyle/>
                    <a:p>
                      <a:pPr algn="ctr">
                        <a:spcAft>
                          <a:spcPts val="0"/>
                        </a:spcAft>
                      </a:pPr>
                      <a:r>
                        <a:rPr lang="en-US" altLang="zh-CN" sz="1400" kern="100" dirty="0">
                          <a:effectLst/>
                          <a:latin typeface="+mn-ea"/>
                          <a:ea typeface="+mn-ea"/>
                          <a:cs typeface="Times New Roman"/>
                        </a:rPr>
                        <a:t>…</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altLang="zh-CN" sz="1400" kern="100" dirty="0">
                          <a:effectLst/>
                          <a:latin typeface="+mn-ea"/>
                          <a:ea typeface="+mn-ea"/>
                          <a:cs typeface="Times New Roman"/>
                        </a:rPr>
                        <a:t>…</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altLang="zh-CN" sz="1400" kern="100" dirty="0">
                          <a:effectLst/>
                          <a:latin typeface="+mn-ea"/>
                          <a:ea typeface="+mn-ea"/>
                          <a:cs typeface="Times New Roman"/>
                        </a:rPr>
                        <a:t>…</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altLang="zh-CN" sz="1400" kern="100" dirty="0">
                          <a:effectLst/>
                          <a:latin typeface="+mn-ea"/>
                          <a:ea typeface="+mn-ea"/>
                          <a:cs typeface="Times New Roman"/>
                        </a:rPr>
                        <a:t>…</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altLang="zh-CN" sz="1400" kern="100" dirty="0">
                          <a:effectLst/>
                          <a:latin typeface="+mn-ea"/>
                          <a:ea typeface="+mn-ea"/>
                          <a:cs typeface="Times New Roman"/>
                        </a:rPr>
                        <a:t>…</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altLang="zh-CN" sz="1400" kern="100" dirty="0">
                          <a:effectLst/>
                          <a:latin typeface="+mn-ea"/>
                          <a:ea typeface="+mn-ea"/>
                          <a:cs typeface="Times New Roman"/>
                        </a:rPr>
                        <a:t>..</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altLang="zh-CN" sz="1400" kern="100" dirty="0">
                          <a:effectLst/>
                          <a:latin typeface="+mn-ea"/>
                          <a:ea typeface="+mn-ea"/>
                          <a:cs typeface="Times New Roman"/>
                        </a:rPr>
                        <a:t>…</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92273">
                <a:tc>
                  <a:txBody>
                    <a:bodyPr/>
                    <a:lstStyle/>
                    <a:p>
                      <a:pPr algn="ctr">
                        <a:spcAft>
                          <a:spcPts val="0"/>
                        </a:spcAft>
                      </a:pPr>
                      <a:r>
                        <a:rPr lang="en-US" sz="1400" kern="0" dirty="0">
                          <a:solidFill>
                            <a:srgbClr val="000000"/>
                          </a:solidFill>
                          <a:effectLst/>
                          <a:latin typeface="+mn-ea"/>
                          <a:ea typeface="+mn-ea"/>
                          <a:cs typeface="Times New Roman"/>
                        </a:rPr>
                        <a:t>184</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0.06713906</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latin typeface="+mn-ea"/>
                          <a:ea typeface="+mn-ea"/>
                          <a:cs typeface="Times New Roman"/>
                        </a:rPr>
                        <a:t>2.31786879</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latin typeface="+mn-ea"/>
                          <a:ea typeface="+mn-ea"/>
                          <a:cs typeface="Times New Roman"/>
                        </a:rPr>
                        <a:t>-0.61067616</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latin typeface="+mn-ea"/>
                          <a:ea typeface="+mn-ea"/>
                          <a:cs typeface="Times New Roman"/>
                        </a:rPr>
                        <a:t>0.01872963</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0.87318581</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kern="0" dirty="0">
                          <a:effectLst/>
                          <a:latin typeface="+mn-ea"/>
                          <a:ea typeface="+mn-ea"/>
                          <a:cs typeface="Times New Roman"/>
                        </a:rPr>
                        <a:t>8.51</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92273">
                <a:tc>
                  <a:txBody>
                    <a:bodyPr/>
                    <a:lstStyle/>
                    <a:p>
                      <a:pPr algn="ctr">
                        <a:spcAft>
                          <a:spcPts val="0"/>
                        </a:spcAft>
                      </a:pPr>
                      <a:r>
                        <a:rPr lang="en-US" sz="1400" kern="0" dirty="0">
                          <a:solidFill>
                            <a:srgbClr val="000000"/>
                          </a:solidFill>
                          <a:effectLst/>
                          <a:latin typeface="+mn-ea"/>
                          <a:ea typeface="+mn-ea"/>
                          <a:cs typeface="Times New Roman"/>
                        </a:rPr>
                        <a:t>185</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-0.66609442</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3.07726833</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latin typeface="+mn-ea"/>
                          <a:ea typeface="+mn-ea"/>
                          <a:cs typeface="Times New Roman"/>
                        </a:rPr>
                        <a:t>0.756420352</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latin typeface="+mn-ea"/>
                          <a:ea typeface="+mn-ea"/>
                          <a:cs typeface="Times New Roman"/>
                        </a:rPr>
                        <a:t>0.38766524</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-0.61700133</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kern="0" dirty="0">
                          <a:effectLst/>
                          <a:latin typeface="+mn-ea"/>
                          <a:ea typeface="+mn-ea"/>
                          <a:cs typeface="Times New Roman"/>
                        </a:rPr>
                        <a:t>7.95</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92273">
                <a:tc>
                  <a:txBody>
                    <a:bodyPr/>
                    <a:lstStyle/>
                    <a:p>
                      <a:pPr algn="ctr">
                        <a:spcAft>
                          <a:spcPts val="0"/>
                        </a:spcAft>
                      </a:pPr>
                      <a:r>
                        <a:rPr lang="en-US" sz="1400" kern="0" dirty="0">
                          <a:solidFill>
                            <a:srgbClr val="000000"/>
                          </a:solidFill>
                          <a:effectLst/>
                          <a:latin typeface="+mn-ea"/>
                          <a:ea typeface="+mn-ea"/>
                          <a:cs typeface="Times New Roman"/>
                        </a:rPr>
                        <a:t>186</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1.26005057</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0.4640769</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latin typeface="+mn-ea"/>
                          <a:ea typeface="+mn-ea"/>
                          <a:cs typeface="Times New Roman"/>
                        </a:rPr>
                        <a:t>-1.47308013</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latin typeface="+mn-ea"/>
                          <a:ea typeface="+mn-ea"/>
                          <a:cs typeface="Times New Roman"/>
                        </a:rPr>
                        <a:t>1.09885583</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0.42105841</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kern="0" dirty="0">
                          <a:effectLst/>
                          <a:latin typeface="+mn-ea"/>
                          <a:ea typeface="+mn-ea"/>
                          <a:cs typeface="Times New Roman"/>
                        </a:rPr>
                        <a:t>4.06</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92273">
                <a:tc>
                  <a:txBody>
                    <a:bodyPr/>
                    <a:lstStyle/>
                    <a:p>
                      <a:pPr algn="ctr">
                        <a:spcAft>
                          <a:spcPts val="0"/>
                        </a:spcAft>
                      </a:pPr>
                      <a:r>
                        <a:rPr lang="en-US" sz="1400" kern="0" dirty="0">
                          <a:solidFill>
                            <a:srgbClr val="000000"/>
                          </a:solidFill>
                          <a:effectLst/>
                          <a:latin typeface="+mn-ea"/>
                          <a:ea typeface="+mn-ea"/>
                          <a:cs typeface="Times New Roman"/>
                        </a:rPr>
                        <a:t>187</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1.26121465</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-0.28476734</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latin typeface="+mn-ea"/>
                          <a:ea typeface="+mn-ea"/>
                          <a:cs typeface="Times New Roman"/>
                        </a:rPr>
                        <a:t>-1.57804327</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latin typeface="+mn-ea"/>
                          <a:ea typeface="+mn-ea"/>
                          <a:cs typeface="Times New Roman"/>
                        </a:rPr>
                        <a:t>0.10044671</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-0.64585267</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kern="0" dirty="0">
                          <a:effectLst/>
                          <a:latin typeface="+mn-ea"/>
                          <a:ea typeface="+mn-ea"/>
                          <a:cs typeface="Times New Roman"/>
                        </a:rPr>
                        <a:t>4.92</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92273">
                <a:tc>
                  <a:txBody>
                    <a:bodyPr/>
                    <a:lstStyle/>
                    <a:p>
                      <a:pPr algn="ctr">
                        <a:spcAft>
                          <a:spcPts val="0"/>
                        </a:spcAft>
                      </a:pPr>
                      <a:r>
                        <a:rPr lang="en-US" sz="1400" kern="0" dirty="0">
                          <a:solidFill>
                            <a:srgbClr val="000000"/>
                          </a:solidFill>
                          <a:effectLst/>
                          <a:latin typeface="+mn-ea"/>
                          <a:ea typeface="+mn-ea"/>
                          <a:cs typeface="Times New Roman"/>
                        </a:rPr>
                        <a:t>188</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-0.8996339</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1.41813557</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0.62054639</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latin typeface="+mn-ea"/>
                          <a:ea typeface="+mn-ea"/>
                          <a:cs typeface="Times New Roman"/>
                        </a:rPr>
                        <a:t>2.0665546</a:t>
                      </a:r>
                      <a:endParaRPr lang="zh-CN" sz="1400" kern="10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latin typeface="+mn-ea"/>
                          <a:ea typeface="+mn-ea"/>
                          <a:cs typeface="Times New Roman"/>
                        </a:rPr>
                        <a:t>-0.60281173</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kern="0" dirty="0">
                          <a:effectLst/>
                          <a:latin typeface="+mn-ea"/>
                          <a:ea typeface="+mn-ea"/>
                          <a:cs typeface="Times New Roman"/>
                        </a:rPr>
                        <a:t>8.04</a:t>
                      </a:r>
                      <a:endParaRPr lang="zh-CN" sz="1400" kern="100" dirty="0">
                        <a:effectLst/>
                        <a:latin typeface="+mn-ea"/>
                        <a:ea typeface="+mn-e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4" name="矩形 3"/>
          <p:cNvSpPr/>
          <p:nvPr/>
        </p:nvSpPr>
        <p:spPr>
          <a:xfrm>
            <a:off x="92075" y="5049206"/>
            <a:ext cx="8486334" cy="523220"/>
          </a:xfrm>
          <a:prstGeom prst="rect">
            <a:avLst/>
          </a:prstGeom>
        </p:spPr>
        <p:txBody>
          <a:bodyPr wrap="square">
            <a:spAutoFit/>
          </a:bodyPr>
          <a:lstStyle/>
          <a:p>
            <a:pPr eaLnBrk="1" hangingPunct="1">
              <a:spcBef>
                <a:spcPct val="50000"/>
              </a:spcBef>
            </a:pPr>
            <a:r>
              <a:rPr kumimoji="1" lang="zh-CN" altLang="en-US" sz="2800" b="1" dirty="0">
                <a:solidFill>
                  <a:srgbClr val="CC0000"/>
                </a:solidFill>
                <a:latin typeface="微软雅黑" pitchFamily="34" charset="-122"/>
                <a:ea typeface="微软雅黑" pitchFamily="34" charset="-122"/>
              </a:rPr>
              <a:t>最后，利用主成分建立多元回归预测方程，并求解：</a:t>
            </a:r>
            <a:endParaRPr kumimoji="1" lang="zh-CN" altLang="en-US" sz="2800" b="1" dirty="0">
              <a:solidFill>
                <a:schemeClr val="accent2"/>
              </a:solidFill>
              <a:latin typeface="微软雅黑" pitchFamily="34" charset="-122"/>
              <a:ea typeface="微软雅黑" pitchFamily="34" charset="-122"/>
            </a:endParaRPr>
          </a:p>
        </p:txBody>
      </p:sp>
      <mc:AlternateContent xmlns:mc="http://schemas.openxmlformats.org/markup-compatibility/2006" xmlns:a14="http://schemas.microsoft.com/office/drawing/2010/main">
        <mc:Choice Requires="a14">
          <p:sp>
            <p:nvSpPr>
              <p:cNvPr id="6" name="矩形 5"/>
              <p:cNvSpPr/>
              <p:nvPr/>
            </p:nvSpPr>
            <p:spPr>
              <a:xfrm>
                <a:off x="464747" y="5765506"/>
                <a:ext cx="7740989"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a:rPr>
                        <m:t>𝑌</m:t>
                      </m:r>
                      <m:r>
                        <a:rPr lang="zh-CN" altLang="en-US">
                          <a:latin typeface="Cambria Math"/>
                        </a:rPr>
                        <m:t>=5.4902−0.5970</m:t>
                      </m:r>
                      <m:sSubSup>
                        <m:sSubSupPr>
                          <m:ctrlPr>
                            <a:rPr lang="zh-CN" altLang="en-US" i="1">
                              <a:latin typeface="Cambria Math" panose="02040503050406030204" pitchFamily="18" charset="0"/>
                            </a:rPr>
                          </m:ctrlPr>
                        </m:sSubSupPr>
                        <m:e>
                          <m:r>
                            <a:rPr lang="zh-CN" altLang="en-US" i="1">
                              <a:latin typeface="Cambria Math"/>
                            </a:rPr>
                            <m:t>𝑍</m:t>
                          </m:r>
                        </m:e>
                        <m:sub>
                          <m:r>
                            <a:rPr lang="zh-CN" altLang="en-US">
                              <a:latin typeface="Cambria Math"/>
                            </a:rPr>
                            <m:t>1</m:t>
                          </m:r>
                        </m:sub>
                        <m:sup>
                          <m:r>
                            <a:rPr lang="zh-CN" altLang="en-US">
                              <a:latin typeface="Cambria Math"/>
                            </a:rPr>
                            <m:t>∗</m:t>
                          </m:r>
                        </m:sup>
                      </m:sSubSup>
                      <m:r>
                        <a:rPr lang="zh-CN" altLang="en-US">
                          <a:latin typeface="Cambria Math"/>
                        </a:rPr>
                        <m:t>−0.2624</m:t>
                      </m:r>
                      <m:sSubSup>
                        <m:sSubSupPr>
                          <m:ctrlPr>
                            <a:rPr lang="zh-CN" altLang="en-US" i="1">
                              <a:latin typeface="Cambria Math" panose="02040503050406030204" pitchFamily="18" charset="0"/>
                            </a:rPr>
                          </m:ctrlPr>
                        </m:sSubSupPr>
                        <m:e>
                          <m:r>
                            <a:rPr lang="zh-CN" altLang="en-US" i="1">
                              <a:latin typeface="Cambria Math"/>
                            </a:rPr>
                            <m:t>𝑍</m:t>
                          </m:r>
                        </m:e>
                        <m:sub>
                          <m:r>
                            <a:rPr lang="zh-CN" altLang="en-US">
                              <a:latin typeface="Cambria Math"/>
                            </a:rPr>
                            <m:t>2</m:t>
                          </m:r>
                        </m:sub>
                        <m:sup>
                          <m:r>
                            <a:rPr lang="zh-CN" altLang="en-US">
                              <a:latin typeface="Cambria Math"/>
                            </a:rPr>
                            <m:t>∗</m:t>
                          </m:r>
                        </m:sup>
                      </m:sSubSup>
                      <m:r>
                        <a:rPr lang="zh-CN" altLang="en-US">
                          <a:latin typeface="Cambria Math"/>
                        </a:rPr>
                        <m:t>−0.1688</m:t>
                      </m:r>
                      <m:sSubSup>
                        <m:sSubSupPr>
                          <m:ctrlPr>
                            <a:rPr lang="zh-CN" altLang="en-US" i="1">
                              <a:latin typeface="Cambria Math" panose="02040503050406030204" pitchFamily="18" charset="0"/>
                            </a:rPr>
                          </m:ctrlPr>
                        </m:sSubSupPr>
                        <m:e>
                          <m:r>
                            <a:rPr lang="zh-CN" altLang="en-US" i="1">
                              <a:latin typeface="Cambria Math"/>
                            </a:rPr>
                            <m:t>𝑍</m:t>
                          </m:r>
                        </m:e>
                        <m:sub>
                          <m:r>
                            <a:rPr lang="zh-CN" altLang="en-US">
                              <a:latin typeface="Cambria Math"/>
                            </a:rPr>
                            <m:t>3</m:t>
                          </m:r>
                        </m:sub>
                        <m:sup>
                          <m:r>
                            <a:rPr lang="zh-CN" altLang="en-US">
                              <a:latin typeface="Cambria Math"/>
                            </a:rPr>
                            <m:t>∗</m:t>
                          </m:r>
                        </m:sup>
                      </m:sSubSup>
                      <m:r>
                        <a:rPr lang="zh-CN" altLang="en-US">
                          <a:latin typeface="Cambria Math"/>
                        </a:rPr>
                        <m:t>−0.1004</m:t>
                      </m:r>
                      <m:sSubSup>
                        <m:sSubSupPr>
                          <m:ctrlPr>
                            <a:rPr lang="zh-CN" altLang="en-US" i="1">
                              <a:latin typeface="Cambria Math" panose="02040503050406030204" pitchFamily="18" charset="0"/>
                            </a:rPr>
                          </m:ctrlPr>
                        </m:sSubSupPr>
                        <m:e>
                          <m:r>
                            <a:rPr lang="zh-CN" altLang="en-US" i="1">
                              <a:latin typeface="Cambria Math"/>
                            </a:rPr>
                            <m:t>𝑍</m:t>
                          </m:r>
                        </m:e>
                        <m:sub>
                          <m:r>
                            <a:rPr lang="zh-CN" altLang="en-US">
                              <a:latin typeface="Cambria Math"/>
                            </a:rPr>
                            <m:t>4</m:t>
                          </m:r>
                        </m:sub>
                        <m:sup>
                          <m:r>
                            <a:rPr lang="zh-CN" altLang="en-US">
                              <a:latin typeface="Cambria Math"/>
                            </a:rPr>
                            <m:t>∗</m:t>
                          </m:r>
                        </m:sup>
                      </m:sSubSup>
                      <m:r>
                        <a:rPr lang="zh-CN" altLang="en-US">
                          <a:latin typeface="Cambria Math"/>
                        </a:rPr>
                        <m:t>−0.0941</m:t>
                      </m:r>
                      <m:sSubSup>
                        <m:sSubSupPr>
                          <m:ctrlPr>
                            <a:rPr lang="zh-CN" altLang="en-US" i="1">
                              <a:latin typeface="Cambria Math" panose="02040503050406030204" pitchFamily="18" charset="0"/>
                            </a:rPr>
                          </m:ctrlPr>
                        </m:sSubSupPr>
                        <m:e>
                          <m:r>
                            <a:rPr lang="zh-CN" altLang="en-US" i="1">
                              <a:latin typeface="Cambria Math"/>
                            </a:rPr>
                            <m:t>𝑍</m:t>
                          </m:r>
                        </m:e>
                        <m:sub>
                          <m:r>
                            <a:rPr lang="zh-CN" altLang="en-US">
                              <a:latin typeface="Cambria Math"/>
                            </a:rPr>
                            <m:t>5</m:t>
                          </m:r>
                        </m:sub>
                        <m:sup>
                          <m:r>
                            <a:rPr lang="zh-CN" altLang="en-US">
                              <a:latin typeface="Cambria Math"/>
                            </a:rPr>
                            <m:t>∗</m:t>
                          </m:r>
                        </m:sup>
                      </m:sSubSup>
                    </m:oMath>
                  </m:oMathPara>
                </a14:m>
                <a:endParaRPr lang="zh-CN" altLang="en-US" dirty="0"/>
              </a:p>
            </p:txBody>
          </p:sp>
        </mc:Choice>
        <mc:Fallback xmlns="">
          <p:sp>
            <p:nvSpPr>
              <p:cNvPr id="6" name="矩形 5"/>
              <p:cNvSpPr>
                <a:spLocks noRot="1" noChangeAspect="1" noMove="1" noResize="1" noEditPoints="1" noAdjustHandles="1" noChangeArrowheads="1" noChangeShapeType="1" noTextEdit="1"/>
              </p:cNvSpPr>
              <p:nvPr/>
            </p:nvSpPr>
            <p:spPr>
              <a:xfrm>
                <a:off x="464747" y="5765506"/>
                <a:ext cx="7740989" cy="369332"/>
              </a:xfrm>
              <a:prstGeom prst="rect">
                <a:avLst/>
              </a:prstGeom>
              <a:blipFill rotWithShape="1">
                <a:blip r:embed="rId2"/>
                <a:stretch>
                  <a:fillRect b="-3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09137712"/>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9233" name="矩形 1"/>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12" name="Text Box 21"/>
          <p:cNvSpPr txBox="1">
            <a:spLocks noChangeArrowheads="1"/>
          </p:cNvSpPr>
          <p:nvPr/>
        </p:nvSpPr>
        <p:spPr bwMode="auto">
          <a:xfrm>
            <a:off x="92075" y="908678"/>
            <a:ext cx="808038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eaLnBrk="1" hangingPunct="1">
              <a:spcBef>
                <a:spcPct val="50000"/>
              </a:spcBef>
            </a:pPr>
            <a:r>
              <a:rPr kumimoji="1" lang="en-US" altLang="zh-CN" sz="3200" b="1" dirty="0">
                <a:solidFill>
                  <a:srgbClr val="FF0000"/>
                </a:solidFill>
                <a:latin typeface="微软雅黑" pitchFamily="34" charset="-122"/>
                <a:ea typeface="微软雅黑" pitchFamily="34" charset="-122"/>
              </a:rPr>
              <a:t>6. </a:t>
            </a:r>
            <a:r>
              <a:rPr kumimoji="1" lang="zh-CN" altLang="en-US" sz="3200" b="1" dirty="0">
                <a:solidFill>
                  <a:srgbClr val="FF0000"/>
                </a:solidFill>
                <a:latin typeface="微软雅黑" pitchFamily="34" charset="-122"/>
                <a:ea typeface="微软雅黑" pitchFamily="34" charset="-122"/>
              </a:rPr>
              <a:t>神经网络预测模型</a:t>
            </a:r>
            <a:endParaRPr kumimoji="1" lang="en-US" altLang="zh-CN" sz="3200" b="1" dirty="0">
              <a:solidFill>
                <a:srgbClr val="FF0000"/>
              </a:solidFill>
              <a:latin typeface="微软雅黑" pitchFamily="34" charset="-122"/>
              <a:ea typeface="微软雅黑" pitchFamily="34" charset="-122"/>
            </a:endParaRPr>
          </a:p>
        </p:txBody>
      </p:sp>
      <p:sp>
        <p:nvSpPr>
          <p:cNvPr id="24"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19"/>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1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3" name="Rectangle 1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2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TextBox 6"/>
          <p:cNvSpPr txBox="1"/>
          <p:nvPr/>
        </p:nvSpPr>
        <p:spPr>
          <a:xfrm>
            <a:off x="611494" y="1554924"/>
            <a:ext cx="7604852" cy="461665"/>
          </a:xfrm>
          <a:prstGeom prst="rect">
            <a:avLst/>
          </a:prstGeom>
          <a:noFill/>
        </p:spPr>
        <p:txBody>
          <a:bodyPr wrap="square" rtlCol="0">
            <a:spAutoFit/>
          </a:bodyPr>
          <a:lstStyle/>
          <a:p>
            <a:r>
              <a:rPr lang="zh-CN" altLang="en-US" sz="2400" b="1" dirty="0">
                <a:solidFill>
                  <a:srgbClr val="C00000"/>
                </a:solidFill>
                <a:latin typeface="+mn-ea"/>
                <a:ea typeface="+mn-ea"/>
              </a:rPr>
              <a:t>大数据时代，很多实际问题中变量间的关系不明确。</a:t>
            </a:r>
            <a:endParaRPr lang="zh-CN" altLang="en-US" sz="2400" dirty="0">
              <a:solidFill>
                <a:srgbClr val="0070C0"/>
              </a:solidFill>
              <a:latin typeface="+mn-ea"/>
              <a:ea typeface="+mn-ea"/>
            </a:endParaRPr>
          </a:p>
        </p:txBody>
      </p:sp>
      <p:sp>
        <p:nvSpPr>
          <p:cNvPr id="3" name="矩形 2"/>
          <p:cNvSpPr/>
          <p:nvPr/>
        </p:nvSpPr>
        <p:spPr>
          <a:xfrm>
            <a:off x="607828" y="2038628"/>
            <a:ext cx="7560966" cy="2308324"/>
          </a:xfrm>
          <a:prstGeom prst="rect">
            <a:avLst/>
          </a:prstGeom>
        </p:spPr>
        <p:txBody>
          <a:bodyPr wrap="square">
            <a:spAutoFit/>
          </a:bodyPr>
          <a:lstStyle/>
          <a:p>
            <a:pPr>
              <a:lnSpc>
                <a:spcPct val="120000"/>
              </a:lnSpc>
            </a:pPr>
            <a:r>
              <a:rPr lang="zh-CN" altLang="en-US" dirty="0">
                <a:latin typeface="+mn-ea"/>
                <a:ea typeface="+mn-ea"/>
              </a:rPr>
              <a:t>       </a:t>
            </a:r>
            <a:r>
              <a:rPr lang="zh-CN" altLang="en-US" sz="2000" dirty="0">
                <a:solidFill>
                  <a:srgbClr val="003366"/>
                </a:solidFill>
                <a:latin typeface="Times New Roman" pitchFamily="18" charset="0"/>
                <a:ea typeface="微软雅黑" pitchFamily="34" charset="-122"/>
                <a:cs typeface="Times New Roman" pitchFamily="18" charset="0"/>
              </a:rPr>
              <a:t>神经网络（Artificial Neural Network, ANN）是由大量处理单元（即神经元，Neurons）广泛互连而成的网络，是对人脑的抽象、简化和模拟，反映人脑的基本特征。神经网络由分布于若干层的节点组成，它的构成随神经网络的类型和复杂度的不同而不同。每个节点都有自己的输入值、权值、求和与激活函数以及输出值。</a:t>
            </a:r>
            <a:r>
              <a:rPr lang="zh-CN" altLang="en-US" sz="2000" dirty="0">
                <a:solidFill>
                  <a:srgbClr val="C00000"/>
                </a:solidFill>
                <a:latin typeface="+mn-ea"/>
                <a:ea typeface="+mn-ea"/>
              </a:rPr>
              <a:t>根据生物神经元的结构与基本功能，简化为下图：</a:t>
            </a:r>
            <a:endParaRPr lang="zh-CN" altLang="en-US" sz="2000" dirty="0">
              <a:solidFill>
                <a:srgbClr val="C00000"/>
              </a:solidFill>
              <a:latin typeface="+mn-ea"/>
              <a:ea typeface="+mn-ea"/>
              <a:cs typeface="Times New Roman" pitchFamily="18" charset="0"/>
            </a:endParaRPr>
          </a:p>
        </p:txBody>
      </p:sp>
      <p:pic>
        <p:nvPicPr>
          <p:cNvPr id="16" name="图片 15"/>
          <p:cNvPicPr>
            <a:picLocks noChangeAspect="1"/>
          </p:cNvPicPr>
          <p:nvPr/>
        </p:nvPicPr>
        <p:blipFill>
          <a:blip r:embed="rId2"/>
          <a:stretch>
            <a:fillRect/>
          </a:stretch>
        </p:blipFill>
        <p:spPr>
          <a:xfrm>
            <a:off x="787851" y="4346952"/>
            <a:ext cx="4254666" cy="2144084"/>
          </a:xfrm>
          <a:prstGeom prst="rect">
            <a:avLst/>
          </a:prstGeom>
        </p:spPr>
      </p:pic>
      <p:pic>
        <p:nvPicPr>
          <p:cNvPr id="17" name="图片 16"/>
          <p:cNvPicPr>
            <a:picLocks noChangeAspect="1"/>
          </p:cNvPicPr>
          <p:nvPr/>
        </p:nvPicPr>
        <p:blipFill>
          <a:blip r:embed="rId3"/>
          <a:stretch>
            <a:fillRect/>
          </a:stretch>
        </p:blipFill>
        <p:spPr>
          <a:xfrm>
            <a:off x="5630483" y="4869184"/>
            <a:ext cx="2538311" cy="870851"/>
          </a:xfrm>
          <a:prstGeom prst="rect">
            <a:avLst/>
          </a:prstGeom>
        </p:spPr>
      </p:pic>
    </p:spTree>
    <p:extLst>
      <p:ext uri="{BB962C8B-B14F-4D97-AF65-F5344CB8AC3E}">
        <p14:creationId xmlns:p14="http://schemas.microsoft.com/office/powerpoint/2010/main" val="2342679886"/>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9233" name="矩形 1"/>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24"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19"/>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1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3" name="Rectangle 1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2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8" name="图片 17"/>
          <p:cNvPicPr>
            <a:picLocks noChangeAspect="1"/>
          </p:cNvPicPr>
          <p:nvPr/>
        </p:nvPicPr>
        <p:blipFill>
          <a:blip r:embed="rId2"/>
          <a:stretch>
            <a:fillRect/>
          </a:stretch>
        </p:blipFill>
        <p:spPr>
          <a:xfrm>
            <a:off x="1037272" y="1628770"/>
            <a:ext cx="7069455" cy="4683760"/>
          </a:xfrm>
          <a:prstGeom prst="rect">
            <a:avLst/>
          </a:prstGeom>
        </p:spPr>
      </p:pic>
      <p:sp>
        <p:nvSpPr>
          <p:cNvPr id="2" name="矩形 1"/>
          <p:cNvSpPr/>
          <p:nvPr/>
        </p:nvSpPr>
        <p:spPr>
          <a:xfrm>
            <a:off x="251448" y="1067059"/>
            <a:ext cx="4572000" cy="523220"/>
          </a:xfrm>
          <a:prstGeom prst="rect">
            <a:avLst/>
          </a:prstGeom>
        </p:spPr>
        <p:txBody>
          <a:bodyPr>
            <a:spAutoFit/>
          </a:bodyPr>
          <a:lstStyle/>
          <a:p>
            <a:r>
              <a:rPr lang="zh-CN" altLang="en-US" sz="2800" b="1" dirty="0">
                <a:solidFill>
                  <a:srgbClr val="C00000"/>
                </a:solidFill>
                <a:latin typeface="+mn-ea"/>
                <a:ea typeface="+mn-ea"/>
              </a:rPr>
              <a:t>神经网络结构如下：</a:t>
            </a:r>
            <a:endParaRPr lang="zh-CN" altLang="en-US" sz="2800" dirty="0">
              <a:latin typeface="+mn-ea"/>
              <a:ea typeface="+mn-ea"/>
            </a:endParaRPr>
          </a:p>
        </p:txBody>
      </p:sp>
    </p:spTree>
    <p:extLst>
      <p:ext uri="{BB962C8B-B14F-4D97-AF65-F5344CB8AC3E}">
        <p14:creationId xmlns:p14="http://schemas.microsoft.com/office/powerpoint/2010/main" val="2681105609"/>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9233" name="矩形 1"/>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24"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19"/>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1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3" name="Rectangle 1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2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TextBox 6"/>
          <p:cNvSpPr txBox="1"/>
          <p:nvPr/>
        </p:nvSpPr>
        <p:spPr>
          <a:xfrm>
            <a:off x="152400" y="908678"/>
            <a:ext cx="8726021" cy="1508105"/>
          </a:xfrm>
          <a:prstGeom prst="rect">
            <a:avLst/>
          </a:prstGeom>
          <a:noFill/>
        </p:spPr>
        <p:txBody>
          <a:bodyPr wrap="square" rtlCol="0">
            <a:spAutoFit/>
          </a:bodyPr>
          <a:lstStyle/>
          <a:p>
            <a:r>
              <a:rPr lang="zh-CN" altLang="en-US" sz="2400" b="1" dirty="0">
                <a:solidFill>
                  <a:srgbClr val="C00000"/>
                </a:solidFill>
                <a:latin typeface="+mn-ea"/>
                <a:ea typeface="+mn-ea"/>
              </a:rPr>
              <a:t>案例：</a:t>
            </a:r>
            <a:r>
              <a:rPr lang="zh-CN" altLang="en-US" sz="2200" dirty="0">
                <a:solidFill>
                  <a:srgbClr val="003366"/>
                </a:solidFill>
                <a:latin typeface="Times New Roman" pitchFamily="18" charset="0"/>
                <a:ea typeface="微软雅黑" pitchFamily="34" charset="-122"/>
                <a:cs typeface="Times New Roman" pitchFamily="18" charset="0"/>
              </a:rPr>
              <a:t>为了对我国货运总量进行有效的预测分析，收集到了国民生产总值、能源生产总值、进出口贸易额、社会消费品零售总额以及固定资产投资总额</a:t>
            </a:r>
            <a:r>
              <a:rPr lang="en-US" altLang="zh-CN" sz="2200" dirty="0">
                <a:solidFill>
                  <a:srgbClr val="003366"/>
                </a:solidFill>
                <a:latin typeface="Times New Roman" pitchFamily="18" charset="0"/>
                <a:ea typeface="微软雅黑" pitchFamily="34" charset="-122"/>
                <a:cs typeface="Times New Roman" pitchFamily="18" charset="0"/>
              </a:rPr>
              <a:t>5</a:t>
            </a:r>
            <a:r>
              <a:rPr lang="zh-CN" altLang="en-US" sz="2200" dirty="0">
                <a:solidFill>
                  <a:srgbClr val="003366"/>
                </a:solidFill>
                <a:latin typeface="Times New Roman" pitchFamily="18" charset="0"/>
                <a:ea typeface="微软雅黑" pitchFamily="34" charset="-122"/>
                <a:cs typeface="Times New Roman" pitchFamily="18" charset="0"/>
              </a:rPr>
              <a:t>个主要影响因素指标</a:t>
            </a:r>
            <a:r>
              <a:rPr lang="en-US" altLang="zh-CN" sz="2200" dirty="0">
                <a:solidFill>
                  <a:srgbClr val="003366"/>
                </a:solidFill>
                <a:latin typeface="Times New Roman" pitchFamily="18" charset="0"/>
                <a:ea typeface="微软雅黑" pitchFamily="34" charset="-122"/>
                <a:cs typeface="Times New Roman" pitchFamily="18" charset="0"/>
              </a:rPr>
              <a:t>1990-2011</a:t>
            </a:r>
            <a:r>
              <a:rPr lang="zh-CN" altLang="en-US" sz="2200" dirty="0">
                <a:solidFill>
                  <a:srgbClr val="003366"/>
                </a:solidFill>
                <a:latin typeface="Times New Roman" pitchFamily="18" charset="0"/>
                <a:ea typeface="微软雅黑" pitchFamily="34" charset="-122"/>
                <a:cs typeface="Times New Roman" pitchFamily="18" charset="0"/>
              </a:rPr>
              <a:t>年的各项数据。建立</a:t>
            </a:r>
            <a:r>
              <a:rPr lang="en-US" altLang="zh-CN" sz="2200" dirty="0">
                <a:solidFill>
                  <a:srgbClr val="003366"/>
                </a:solidFill>
                <a:latin typeface="Times New Roman" pitchFamily="18" charset="0"/>
                <a:ea typeface="微软雅黑" pitchFamily="34" charset="-122"/>
                <a:cs typeface="Times New Roman" pitchFamily="18" charset="0"/>
              </a:rPr>
              <a:t>BP</a:t>
            </a:r>
            <a:r>
              <a:rPr lang="zh-CN" altLang="en-US" sz="2200" dirty="0">
                <a:solidFill>
                  <a:srgbClr val="003366"/>
                </a:solidFill>
                <a:latin typeface="Times New Roman" pitchFamily="18" charset="0"/>
                <a:ea typeface="微软雅黑" pitchFamily="34" charset="-122"/>
                <a:cs typeface="Times New Roman" pitchFamily="18" charset="0"/>
              </a:rPr>
              <a:t>神经网络模型对货运总量进行预测分析</a:t>
            </a:r>
            <a:r>
              <a:rPr lang="zh-CN" altLang="en-US" sz="2400" dirty="0">
                <a:solidFill>
                  <a:srgbClr val="003366"/>
                </a:solidFill>
                <a:latin typeface="Times New Roman" pitchFamily="18" charset="0"/>
                <a:ea typeface="微软雅黑" pitchFamily="34" charset="-122"/>
                <a:cs typeface="Times New Roman" pitchFamily="18" charset="0"/>
              </a:rPr>
              <a:t>。</a:t>
            </a:r>
          </a:p>
        </p:txBody>
      </p:sp>
      <p:graphicFrame>
        <p:nvGraphicFramePr>
          <p:cNvPr id="16" name="表格 15"/>
          <p:cNvGraphicFramePr/>
          <p:nvPr>
            <p:extLst>
              <p:ext uri="{D42A27DB-BD31-4B8C-83A1-F6EECF244321}">
                <p14:modId xmlns:p14="http://schemas.microsoft.com/office/powerpoint/2010/main" val="2341918112"/>
              </p:ext>
            </p:extLst>
          </p:nvPr>
        </p:nvGraphicFramePr>
        <p:xfrm>
          <a:off x="251448" y="2348862"/>
          <a:ext cx="8641104" cy="4471428"/>
        </p:xfrm>
        <a:graphic>
          <a:graphicData uri="http://schemas.openxmlformats.org/drawingml/2006/table">
            <a:tbl>
              <a:tblPr firstRow="1" bandRow="1">
                <a:tableStyleId>{3C2FFA5D-87B4-456A-9821-1D502468CF0F}</a:tableStyleId>
              </a:tblPr>
              <a:tblGrid>
                <a:gridCol w="738552">
                  <a:extLst>
                    <a:ext uri="{9D8B030D-6E8A-4147-A177-3AD203B41FA5}">
                      <a16:colId xmlns:a16="http://schemas.microsoft.com/office/drawing/2014/main" val="20000"/>
                    </a:ext>
                  </a:extLst>
                </a:gridCol>
                <a:gridCol w="1241701">
                  <a:extLst>
                    <a:ext uri="{9D8B030D-6E8A-4147-A177-3AD203B41FA5}">
                      <a16:colId xmlns:a16="http://schemas.microsoft.com/office/drawing/2014/main" val="20001"/>
                    </a:ext>
                  </a:extLst>
                </a:gridCol>
                <a:gridCol w="1393483">
                  <a:extLst>
                    <a:ext uri="{9D8B030D-6E8A-4147-A177-3AD203B41FA5}">
                      <a16:colId xmlns:a16="http://schemas.microsoft.com/office/drawing/2014/main" val="20002"/>
                    </a:ext>
                  </a:extLst>
                </a:gridCol>
                <a:gridCol w="1318092">
                  <a:extLst>
                    <a:ext uri="{9D8B030D-6E8A-4147-A177-3AD203B41FA5}">
                      <a16:colId xmlns:a16="http://schemas.microsoft.com/office/drawing/2014/main" val="20003"/>
                    </a:ext>
                  </a:extLst>
                </a:gridCol>
                <a:gridCol w="1316092">
                  <a:extLst>
                    <a:ext uri="{9D8B030D-6E8A-4147-A177-3AD203B41FA5}">
                      <a16:colId xmlns:a16="http://schemas.microsoft.com/office/drawing/2014/main" val="20004"/>
                    </a:ext>
                  </a:extLst>
                </a:gridCol>
                <a:gridCol w="1319092">
                  <a:extLst>
                    <a:ext uri="{9D8B030D-6E8A-4147-A177-3AD203B41FA5}">
                      <a16:colId xmlns:a16="http://schemas.microsoft.com/office/drawing/2014/main" val="20005"/>
                    </a:ext>
                  </a:extLst>
                </a:gridCol>
                <a:gridCol w="1314092">
                  <a:extLst>
                    <a:ext uri="{9D8B030D-6E8A-4147-A177-3AD203B41FA5}">
                      <a16:colId xmlns:a16="http://schemas.microsoft.com/office/drawing/2014/main" val="20006"/>
                    </a:ext>
                  </a:extLst>
                </a:gridCol>
              </a:tblGrid>
              <a:tr h="508780">
                <a:tc>
                  <a:txBody>
                    <a:bodyPr/>
                    <a:lstStyle/>
                    <a:p>
                      <a:pPr indent="0" algn="ctr">
                        <a:buNone/>
                      </a:pPr>
                      <a:r>
                        <a:rPr lang="zh-CN" altLang="en-US" sz="1800" dirty="0"/>
                        <a:t>年份</a:t>
                      </a:r>
                      <a:endParaRPr lang="zh-CN" altLang="en-US" sz="1800" dirty="0">
                        <a:latin typeface="+mn-lt"/>
                        <a:ea typeface="宋体" panose="02010600030101010101" pitchFamily="2" charset="-122"/>
                      </a:endParaRPr>
                    </a:p>
                  </a:txBody>
                  <a:tcPr marL="0" marR="0" marT="0" marB="1" anchor="ctr">
                    <a:solidFill>
                      <a:schemeClr val="accent2">
                        <a:lumMod val="60000"/>
                        <a:lumOff val="40000"/>
                      </a:schemeClr>
                    </a:solidFill>
                  </a:tcPr>
                </a:tc>
                <a:tc>
                  <a:txBody>
                    <a:bodyPr/>
                    <a:lstStyle/>
                    <a:p>
                      <a:pPr indent="0" algn="ctr">
                        <a:buNone/>
                      </a:pPr>
                      <a:r>
                        <a:rPr lang="zh-CN" altLang="en-US" sz="1800"/>
                        <a:t>货运总量（万吨）</a:t>
                      </a:r>
                      <a:endParaRPr lang="zh-CN" altLang="en-US" sz="1800">
                        <a:latin typeface="+mn-lt"/>
                        <a:ea typeface="宋体" panose="02010600030101010101" pitchFamily="2" charset="-122"/>
                      </a:endParaRPr>
                    </a:p>
                  </a:txBody>
                  <a:tcPr marL="0" marR="0" marT="0" marB="1" anchor="ctr">
                    <a:solidFill>
                      <a:schemeClr val="accent2">
                        <a:lumMod val="60000"/>
                        <a:lumOff val="40000"/>
                      </a:schemeClr>
                    </a:solidFill>
                  </a:tcPr>
                </a:tc>
                <a:tc>
                  <a:txBody>
                    <a:bodyPr/>
                    <a:lstStyle/>
                    <a:p>
                      <a:pPr indent="0" algn="ctr">
                        <a:buNone/>
                      </a:pPr>
                      <a:r>
                        <a:rPr lang="zh-CN" altLang="en-US" sz="1800" dirty="0"/>
                        <a:t>国民生产总值（亿元）</a:t>
                      </a:r>
                      <a:endParaRPr lang="zh-CN" altLang="en-US" sz="1800" dirty="0">
                        <a:latin typeface="+mn-lt"/>
                        <a:ea typeface="宋体" panose="02010600030101010101" pitchFamily="2" charset="-122"/>
                      </a:endParaRPr>
                    </a:p>
                  </a:txBody>
                  <a:tcPr marL="0" marR="0" marT="0" marB="1" anchor="ctr">
                    <a:solidFill>
                      <a:schemeClr val="accent2">
                        <a:lumMod val="60000"/>
                        <a:lumOff val="40000"/>
                      </a:schemeClr>
                    </a:solidFill>
                  </a:tcPr>
                </a:tc>
                <a:tc>
                  <a:txBody>
                    <a:bodyPr/>
                    <a:lstStyle/>
                    <a:p>
                      <a:pPr indent="0" algn="ctr">
                        <a:buNone/>
                      </a:pPr>
                      <a:r>
                        <a:rPr lang="zh-CN" altLang="en-US" sz="1800"/>
                        <a:t>能源生产总值</a:t>
                      </a:r>
                      <a:r>
                        <a:rPr lang="en-US" altLang="zh-CN" sz="1800"/>
                        <a:t>(</a:t>
                      </a:r>
                      <a:r>
                        <a:rPr lang="zh-CN" altLang="en-US" sz="1800"/>
                        <a:t>万吨</a:t>
                      </a:r>
                      <a:r>
                        <a:rPr lang="en-US" altLang="zh-CN" sz="1800"/>
                        <a:t>)</a:t>
                      </a:r>
                      <a:endParaRPr lang="en-US" altLang="zh-CN" sz="1800">
                        <a:latin typeface="+mn-lt"/>
                        <a:ea typeface="宋体" panose="02010600030101010101" pitchFamily="2" charset="-122"/>
                      </a:endParaRPr>
                    </a:p>
                  </a:txBody>
                  <a:tcPr marL="0" marR="0" marT="0" marB="1" anchor="ctr">
                    <a:solidFill>
                      <a:schemeClr val="accent2">
                        <a:lumMod val="60000"/>
                        <a:lumOff val="40000"/>
                      </a:schemeClr>
                    </a:solidFill>
                  </a:tcPr>
                </a:tc>
                <a:tc>
                  <a:txBody>
                    <a:bodyPr/>
                    <a:lstStyle/>
                    <a:p>
                      <a:pPr indent="0" algn="ctr">
                        <a:buNone/>
                      </a:pPr>
                      <a:r>
                        <a:rPr lang="zh-CN" altLang="en-US" sz="1800"/>
                        <a:t>进出口贸易额（亿元）</a:t>
                      </a:r>
                      <a:endParaRPr lang="zh-CN" altLang="en-US" sz="1800">
                        <a:latin typeface="+mn-lt"/>
                        <a:ea typeface="宋体" panose="02010600030101010101" pitchFamily="2" charset="-122"/>
                      </a:endParaRPr>
                    </a:p>
                  </a:txBody>
                  <a:tcPr marL="0" marR="0" marT="0" marB="1" anchor="ctr">
                    <a:solidFill>
                      <a:schemeClr val="accent2">
                        <a:lumMod val="60000"/>
                        <a:lumOff val="40000"/>
                      </a:schemeClr>
                    </a:solidFill>
                  </a:tcPr>
                </a:tc>
                <a:tc>
                  <a:txBody>
                    <a:bodyPr/>
                    <a:lstStyle/>
                    <a:p>
                      <a:pPr indent="0" algn="ctr">
                        <a:buNone/>
                      </a:pPr>
                      <a:r>
                        <a:rPr lang="zh-CN" altLang="en-US" sz="1800" dirty="0"/>
                        <a:t>社会消费品零售总额（亿元）</a:t>
                      </a:r>
                      <a:endParaRPr lang="zh-CN" altLang="en-US" sz="1800" dirty="0">
                        <a:latin typeface="+mn-lt"/>
                        <a:ea typeface="宋体" panose="02010600030101010101" pitchFamily="2" charset="-122"/>
                      </a:endParaRPr>
                    </a:p>
                  </a:txBody>
                  <a:tcPr marL="0" marR="0" marT="0" marB="1" anchor="ctr">
                    <a:solidFill>
                      <a:schemeClr val="accent2">
                        <a:lumMod val="60000"/>
                        <a:lumOff val="40000"/>
                      </a:schemeClr>
                    </a:solidFill>
                  </a:tcPr>
                </a:tc>
                <a:tc>
                  <a:txBody>
                    <a:bodyPr/>
                    <a:lstStyle/>
                    <a:p>
                      <a:pPr indent="0" algn="ctr">
                        <a:buNone/>
                      </a:pPr>
                      <a:r>
                        <a:rPr lang="zh-CN" altLang="en-US" sz="1800" dirty="0"/>
                        <a:t>固定资产投资总额（亿元）</a:t>
                      </a:r>
                      <a:endParaRPr lang="zh-CN" altLang="en-US" sz="1800" dirty="0">
                        <a:latin typeface="+mn-lt"/>
                        <a:ea typeface="宋体" panose="02010600030101010101" pitchFamily="2" charset="-122"/>
                      </a:endParaRPr>
                    </a:p>
                  </a:txBody>
                  <a:tcPr marL="0" marR="0" marT="0" marB="1" anchor="ctr">
                    <a:solidFill>
                      <a:schemeClr val="accent2">
                        <a:lumMod val="60000"/>
                        <a:lumOff val="40000"/>
                      </a:schemeClr>
                    </a:solidFill>
                  </a:tcPr>
                </a:tc>
                <a:extLst>
                  <a:ext uri="{0D108BD9-81ED-4DB2-BD59-A6C34878D82A}">
                    <a16:rowId xmlns:a16="http://schemas.microsoft.com/office/drawing/2014/main" val="10000"/>
                  </a:ext>
                </a:extLst>
              </a:tr>
              <a:tr h="254390">
                <a:tc>
                  <a:txBody>
                    <a:bodyPr/>
                    <a:lstStyle/>
                    <a:p>
                      <a:pPr indent="0" algn="ctr">
                        <a:buNone/>
                      </a:pPr>
                      <a:r>
                        <a:rPr lang="en-US" altLang="zh-CN" sz="1800"/>
                        <a:t>1990</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970602</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18718.3</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103922</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5560.1</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8300.1</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6955.81</a:t>
                      </a:r>
                      <a:endParaRPr lang="en-US" altLang="zh-CN" sz="1800">
                        <a:latin typeface="+mn-lt"/>
                        <a:ea typeface="宋体" panose="02010600030101010101" pitchFamily="2" charset="-122"/>
                      </a:endParaRPr>
                    </a:p>
                  </a:txBody>
                  <a:tcPr marL="0" marR="0" marT="0" marB="1" anchor="ctr"/>
                </a:tc>
                <a:extLst>
                  <a:ext uri="{0D108BD9-81ED-4DB2-BD59-A6C34878D82A}">
                    <a16:rowId xmlns:a16="http://schemas.microsoft.com/office/drawing/2014/main" val="10001"/>
                  </a:ext>
                </a:extLst>
              </a:tr>
              <a:tr h="254390">
                <a:tc>
                  <a:txBody>
                    <a:bodyPr/>
                    <a:lstStyle/>
                    <a:p>
                      <a:pPr indent="0" algn="ctr">
                        <a:buNone/>
                      </a:pPr>
                      <a:r>
                        <a:rPr lang="en-US" altLang="zh-CN" sz="1800"/>
                        <a:t>1991</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985793</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21826.2</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104844</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7225.8</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9415.6</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9810.4</a:t>
                      </a:r>
                      <a:endParaRPr lang="en-US" altLang="zh-CN" sz="1800">
                        <a:latin typeface="+mn-lt"/>
                        <a:ea typeface="宋体" panose="02010600030101010101" pitchFamily="2" charset="-122"/>
                      </a:endParaRPr>
                    </a:p>
                  </a:txBody>
                  <a:tcPr marL="0" marR="0" marT="0" marB="1" anchor="ctr"/>
                </a:tc>
                <a:extLst>
                  <a:ext uri="{0D108BD9-81ED-4DB2-BD59-A6C34878D82A}">
                    <a16:rowId xmlns:a16="http://schemas.microsoft.com/office/drawing/2014/main" val="10002"/>
                  </a:ext>
                </a:extLst>
              </a:tr>
              <a:tr h="254390">
                <a:tc>
                  <a:txBody>
                    <a:bodyPr/>
                    <a:lstStyle/>
                    <a:p>
                      <a:pPr indent="0" algn="ctr">
                        <a:buNone/>
                      </a:pPr>
                      <a:r>
                        <a:rPr lang="en-US" altLang="zh-CN" sz="1800"/>
                        <a:t>1992</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1045899</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26937.3</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107256</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9119.6</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10993.7</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12443.12</a:t>
                      </a:r>
                      <a:endParaRPr lang="en-US" altLang="zh-CN" sz="1800">
                        <a:latin typeface="+mn-lt"/>
                        <a:ea typeface="宋体" panose="02010600030101010101" pitchFamily="2" charset="-122"/>
                      </a:endParaRPr>
                    </a:p>
                  </a:txBody>
                  <a:tcPr marL="0" marR="0" marT="0" marB="1" anchor="ctr"/>
                </a:tc>
                <a:extLst>
                  <a:ext uri="{0D108BD9-81ED-4DB2-BD59-A6C34878D82A}">
                    <a16:rowId xmlns:a16="http://schemas.microsoft.com/office/drawing/2014/main" val="10003"/>
                  </a:ext>
                </a:extLst>
              </a:tr>
              <a:tr h="228952">
                <a:tc>
                  <a:txBody>
                    <a:bodyPr/>
                    <a:lstStyle/>
                    <a:p>
                      <a:pPr indent="0" algn="ctr">
                        <a:buNone/>
                      </a:pPr>
                      <a:r>
                        <a:rPr lang="en-US" altLang="zh-CN" sz="1800"/>
                        <a:t>1993</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1115902</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35260</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111059</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11271</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14270.4</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14410.22</a:t>
                      </a:r>
                      <a:endParaRPr lang="en-US" altLang="zh-CN" sz="1800">
                        <a:latin typeface="+mn-lt"/>
                        <a:ea typeface="宋体" panose="02010600030101010101" pitchFamily="2" charset="-122"/>
                      </a:endParaRPr>
                    </a:p>
                  </a:txBody>
                  <a:tcPr marL="0" marR="0" marT="0" marB="1" anchor="ctr"/>
                </a:tc>
                <a:extLst>
                  <a:ext uri="{0D108BD9-81ED-4DB2-BD59-A6C34878D82A}">
                    <a16:rowId xmlns:a16="http://schemas.microsoft.com/office/drawing/2014/main" val="10004"/>
                  </a:ext>
                </a:extLst>
              </a:tr>
              <a:tr h="254390">
                <a:tc>
                  <a:txBody>
                    <a:bodyPr/>
                    <a:lstStyle/>
                    <a:p>
                      <a:pPr indent="0" algn="ctr">
                        <a:buNone/>
                      </a:pPr>
                      <a:r>
                        <a:rPr lang="en-US" altLang="zh-CN" sz="1800"/>
                        <a:t>1994</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1180396</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48108.5</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118729</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20381.9</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18622.9</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17042.94</a:t>
                      </a:r>
                      <a:endParaRPr lang="en-US" altLang="zh-CN" sz="1800">
                        <a:latin typeface="+mn-lt"/>
                        <a:ea typeface="宋体" panose="02010600030101010101" pitchFamily="2" charset="-122"/>
                      </a:endParaRPr>
                    </a:p>
                  </a:txBody>
                  <a:tcPr marL="0" marR="0" marT="0" marB="1" anchor="ctr"/>
                </a:tc>
                <a:extLst>
                  <a:ext uri="{0D108BD9-81ED-4DB2-BD59-A6C34878D82A}">
                    <a16:rowId xmlns:a16="http://schemas.microsoft.com/office/drawing/2014/main" val="10005"/>
                  </a:ext>
                </a:extLst>
              </a:tr>
              <a:tr h="228952">
                <a:tc>
                  <a:txBody>
                    <a:bodyPr/>
                    <a:lstStyle/>
                    <a:p>
                      <a:pPr indent="0" algn="ctr">
                        <a:buNone/>
                      </a:pPr>
                      <a:r>
                        <a:rPr lang="en-US" altLang="zh-CN" sz="1800"/>
                        <a:t>1995</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1234938</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59810.5</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129034</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23499.9</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23613.8</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20019.3</a:t>
                      </a:r>
                      <a:endParaRPr lang="en-US" altLang="zh-CN" sz="1800">
                        <a:latin typeface="+mn-lt"/>
                        <a:ea typeface="宋体" panose="02010600030101010101" pitchFamily="2" charset="-122"/>
                      </a:endParaRPr>
                    </a:p>
                  </a:txBody>
                  <a:tcPr marL="0" marR="0" marT="0" marB="1" anchor="ctr"/>
                </a:tc>
                <a:extLst>
                  <a:ext uri="{0D108BD9-81ED-4DB2-BD59-A6C34878D82A}">
                    <a16:rowId xmlns:a16="http://schemas.microsoft.com/office/drawing/2014/main" val="10006"/>
                  </a:ext>
                </a:extLst>
              </a:tr>
              <a:tr h="254390">
                <a:tc>
                  <a:txBody>
                    <a:bodyPr/>
                    <a:lstStyle/>
                    <a:p>
                      <a:pPr indent="0" algn="ctr">
                        <a:buNone/>
                      </a:pPr>
                      <a:r>
                        <a:rPr lang="en-US" altLang="zh-CN" sz="1800"/>
                        <a:t>1996</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1298421</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70142.5</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133032</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24133.8</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28360.2</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22974</a:t>
                      </a:r>
                      <a:endParaRPr lang="en-US" altLang="zh-CN" sz="1800">
                        <a:latin typeface="+mn-lt"/>
                        <a:ea typeface="宋体" panose="02010600030101010101" pitchFamily="2" charset="-122"/>
                      </a:endParaRPr>
                    </a:p>
                  </a:txBody>
                  <a:tcPr marL="0" marR="0" marT="0" marB="1" anchor="ctr"/>
                </a:tc>
                <a:extLst>
                  <a:ext uri="{0D108BD9-81ED-4DB2-BD59-A6C34878D82A}">
                    <a16:rowId xmlns:a16="http://schemas.microsoft.com/office/drawing/2014/main" val="10007"/>
                  </a:ext>
                </a:extLst>
              </a:tr>
              <a:tr h="228952">
                <a:tc>
                  <a:txBody>
                    <a:bodyPr/>
                    <a:lstStyle/>
                    <a:p>
                      <a:pPr indent="0" algn="ctr">
                        <a:buNone/>
                      </a:pPr>
                      <a:r>
                        <a:rPr lang="en-US" altLang="zh-CN" sz="1800"/>
                        <a:t>1997</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1278218</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78060.9</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133460</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26967.2</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31252.9</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24941.1</a:t>
                      </a:r>
                      <a:endParaRPr lang="en-US" altLang="zh-CN" sz="1800">
                        <a:latin typeface="+mn-lt"/>
                        <a:ea typeface="宋体" panose="02010600030101010101" pitchFamily="2" charset="-122"/>
                      </a:endParaRPr>
                    </a:p>
                  </a:txBody>
                  <a:tcPr marL="0" marR="0" marT="0" marB="1" anchor="ctr"/>
                </a:tc>
                <a:extLst>
                  <a:ext uri="{0D108BD9-81ED-4DB2-BD59-A6C34878D82A}">
                    <a16:rowId xmlns:a16="http://schemas.microsoft.com/office/drawing/2014/main" val="10008"/>
                  </a:ext>
                </a:extLst>
              </a:tr>
              <a:tr h="228952">
                <a:tc>
                  <a:txBody>
                    <a:bodyPr/>
                    <a:lstStyle/>
                    <a:p>
                      <a:pPr indent="0" algn="ctr">
                        <a:buNone/>
                      </a:pPr>
                      <a:r>
                        <a:rPr lang="en-US" altLang="zh-CN" sz="1800"/>
                        <a:t>1998</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1267427</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83024.3</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129834</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26849.7</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33378.1</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28406.2</a:t>
                      </a:r>
                      <a:endParaRPr lang="en-US" altLang="zh-CN" sz="1800">
                        <a:latin typeface="+mn-lt"/>
                        <a:ea typeface="宋体" panose="02010600030101010101" pitchFamily="2" charset="-122"/>
                      </a:endParaRPr>
                    </a:p>
                  </a:txBody>
                  <a:tcPr marL="0" marR="0" marT="0" marB="1" anchor="ctr"/>
                </a:tc>
                <a:extLst>
                  <a:ext uri="{0D108BD9-81ED-4DB2-BD59-A6C34878D82A}">
                    <a16:rowId xmlns:a16="http://schemas.microsoft.com/office/drawing/2014/main" val="10009"/>
                  </a:ext>
                </a:extLst>
              </a:tr>
              <a:tr h="228952">
                <a:tc>
                  <a:txBody>
                    <a:bodyPr/>
                    <a:lstStyle/>
                    <a:p>
                      <a:pPr indent="0" algn="ctr">
                        <a:buNone/>
                      </a:pPr>
                      <a:r>
                        <a:rPr lang="en-US" altLang="zh-CN" sz="1800"/>
                        <a:t>1999</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1293008</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88479.2</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131935</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29896.2</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35647.9</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29854.7</a:t>
                      </a:r>
                      <a:endParaRPr lang="en-US" altLang="zh-CN" sz="1800">
                        <a:latin typeface="+mn-lt"/>
                        <a:ea typeface="宋体" panose="02010600030101010101" pitchFamily="2" charset="-122"/>
                      </a:endParaRPr>
                    </a:p>
                  </a:txBody>
                  <a:tcPr marL="0" marR="0" marT="0" marB="1" anchor="ctr"/>
                </a:tc>
                <a:extLst>
                  <a:ext uri="{0D108BD9-81ED-4DB2-BD59-A6C34878D82A}">
                    <a16:rowId xmlns:a16="http://schemas.microsoft.com/office/drawing/2014/main" val="10010"/>
                  </a:ext>
                </a:extLst>
              </a:tr>
              <a:tr h="228952">
                <a:tc>
                  <a:txBody>
                    <a:bodyPr/>
                    <a:lstStyle/>
                    <a:p>
                      <a:pPr indent="0" algn="ctr">
                        <a:buNone/>
                      </a:pPr>
                      <a:r>
                        <a:rPr lang="en-US" altLang="zh-CN" sz="1800"/>
                        <a:t>2000</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1358682</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98000.5</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135048</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39273.2</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a:t>39105.7</a:t>
                      </a:r>
                      <a:endParaRPr lang="en-US" altLang="zh-CN" sz="1800">
                        <a:latin typeface="+mn-lt"/>
                        <a:ea typeface="宋体" panose="02010600030101010101" pitchFamily="2" charset="-122"/>
                      </a:endParaRPr>
                    </a:p>
                  </a:txBody>
                  <a:tcPr marL="0" marR="0" marT="0" marB="1" anchor="ctr"/>
                </a:tc>
                <a:tc>
                  <a:txBody>
                    <a:bodyPr/>
                    <a:lstStyle/>
                    <a:p>
                      <a:pPr indent="0" algn="ctr">
                        <a:buNone/>
                      </a:pPr>
                      <a:r>
                        <a:rPr lang="en-US" altLang="zh-CN" sz="1800" dirty="0"/>
                        <a:t>32917.7</a:t>
                      </a:r>
                      <a:endParaRPr lang="en-US" altLang="zh-CN" sz="1800" dirty="0">
                        <a:latin typeface="+mn-lt"/>
                        <a:ea typeface="宋体" panose="02010600030101010101" pitchFamily="2" charset="-122"/>
                      </a:endParaRPr>
                    </a:p>
                  </a:txBody>
                  <a:tcPr marL="0" marR="0" marT="0" marB="1" anchor="ctr"/>
                </a:tc>
                <a:extLst>
                  <a:ext uri="{0D108BD9-81ED-4DB2-BD59-A6C34878D82A}">
                    <a16:rowId xmlns:a16="http://schemas.microsoft.com/office/drawing/2014/main" val="10011"/>
                  </a:ext>
                </a:extLst>
              </a:tr>
              <a:tr h="228952">
                <a:tc>
                  <a:txBody>
                    <a:bodyPr/>
                    <a:lstStyle/>
                    <a:p>
                      <a:pPr marL="0" indent="0" algn="ctr" defTabSz="914400" rtl="0" eaLnBrk="1" latinLnBrk="0" hangingPunct="1">
                        <a:lnSpc>
                          <a:spcPct val="115000"/>
                        </a:lnSpc>
                        <a:spcAft>
                          <a:spcPts val="0"/>
                        </a:spcAft>
                        <a:buNone/>
                      </a:pPr>
                      <a:r>
                        <a:rPr lang="en-US" sz="1800" kern="1200" dirty="0">
                          <a:solidFill>
                            <a:schemeClr val="dk1"/>
                          </a:solidFill>
                          <a:latin typeface="+mn-lt"/>
                          <a:ea typeface="+mn-ea"/>
                          <a:cs typeface="+mn-cs"/>
                        </a:rPr>
                        <a:t>2010</a:t>
                      </a:r>
                      <a:endParaRPr lang="zh-CN" sz="1800" kern="1200" dirty="0">
                        <a:solidFill>
                          <a:schemeClr val="dk1"/>
                        </a:solidFill>
                        <a:latin typeface="+mn-lt"/>
                        <a:ea typeface="+mn-ea"/>
                        <a:cs typeface="+mn-cs"/>
                      </a:endParaRPr>
                    </a:p>
                  </a:txBody>
                  <a:tcPr marL="68580" marR="68580" marT="0" marB="0" anchor="ctr"/>
                </a:tc>
                <a:tc>
                  <a:txBody>
                    <a:bodyPr/>
                    <a:lstStyle/>
                    <a:p>
                      <a:pPr marL="0" indent="0" algn="ctr" defTabSz="914400" rtl="0" eaLnBrk="1" latinLnBrk="0" hangingPunct="1">
                        <a:lnSpc>
                          <a:spcPct val="115000"/>
                        </a:lnSpc>
                        <a:spcAft>
                          <a:spcPts val="0"/>
                        </a:spcAft>
                        <a:buNone/>
                      </a:pPr>
                      <a:r>
                        <a:rPr lang="en-US" sz="1800" kern="1200" dirty="0">
                          <a:solidFill>
                            <a:schemeClr val="dk1"/>
                          </a:solidFill>
                          <a:latin typeface="+mn-lt"/>
                          <a:ea typeface="+mn-ea"/>
                          <a:cs typeface="+mn-cs"/>
                        </a:rPr>
                        <a:t>3241807</a:t>
                      </a:r>
                      <a:endParaRPr lang="zh-CN" sz="1800" kern="1200" dirty="0">
                        <a:solidFill>
                          <a:schemeClr val="dk1"/>
                        </a:solidFill>
                        <a:latin typeface="+mn-lt"/>
                        <a:ea typeface="+mn-ea"/>
                        <a:cs typeface="+mn-cs"/>
                      </a:endParaRPr>
                    </a:p>
                  </a:txBody>
                  <a:tcPr marL="68580" marR="68580" marT="0" marB="0" anchor="ctr"/>
                </a:tc>
                <a:tc>
                  <a:txBody>
                    <a:bodyPr/>
                    <a:lstStyle/>
                    <a:p>
                      <a:pPr marL="0" indent="0" algn="ctr" defTabSz="914400" rtl="0" eaLnBrk="1" latinLnBrk="0" hangingPunct="1">
                        <a:lnSpc>
                          <a:spcPct val="115000"/>
                        </a:lnSpc>
                        <a:spcAft>
                          <a:spcPts val="0"/>
                        </a:spcAft>
                        <a:buNone/>
                      </a:pPr>
                      <a:r>
                        <a:rPr lang="en-US" sz="1800" kern="1200">
                          <a:solidFill>
                            <a:schemeClr val="dk1"/>
                          </a:solidFill>
                          <a:latin typeface="+mn-lt"/>
                          <a:ea typeface="+mn-ea"/>
                          <a:cs typeface="+mn-cs"/>
                        </a:rPr>
                        <a:t>399759.5</a:t>
                      </a:r>
                      <a:endParaRPr lang="zh-CN" sz="1800" kern="1200">
                        <a:solidFill>
                          <a:schemeClr val="dk1"/>
                        </a:solidFill>
                        <a:latin typeface="+mn-lt"/>
                        <a:ea typeface="+mn-ea"/>
                        <a:cs typeface="+mn-cs"/>
                      </a:endParaRPr>
                    </a:p>
                  </a:txBody>
                  <a:tcPr marL="68580" marR="68580" marT="0" marB="0" anchor="ctr"/>
                </a:tc>
                <a:tc>
                  <a:txBody>
                    <a:bodyPr/>
                    <a:lstStyle/>
                    <a:p>
                      <a:pPr marL="0" indent="0" algn="ctr" defTabSz="914400" rtl="0" eaLnBrk="1" latinLnBrk="0" hangingPunct="1">
                        <a:lnSpc>
                          <a:spcPct val="115000"/>
                        </a:lnSpc>
                        <a:spcAft>
                          <a:spcPts val="0"/>
                        </a:spcAft>
                        <a:buNone/>
                      </a:pPr>
                      <a:r>
                        <a:rPr lang="en-US" sz="1800" kern="1200">
                          <a:solidFill>
                            <a:schemeClr val="dk1"/>
                          </a:solidFill>
                          <a:latin typeface="+mn-lt"/>
                          <a:ea typeface="+mn-ea"/>
                          <a:cs typeface="+mn-cs"/>
                        </a:rPr>
                        <a:t>296916</a:t>
                      </a:r>
                      <a:endParaRPr lang="zh-CN" sz="1800" kern="1200">
                        <a:solidFill>
                          <a:schemeClr val="dk1"/>
                        </a:solidFill>
                        <a:latin typeface="+mn-lt"/>
                        <a:ea typeface="+mn-ea"/>
                        <a:cs typeface="+mn-cs"/>
                      </a:endParaRPr>
                    </a:p>
                  </a:txBody>
                  <a:tcPr marL="68580" marR="68580" marT="0" marB="0" anchor="ctr"/>
                </a:tc>
                <a:tc>
                  <a:txBody>
                    <a:bodyPr/>
                    <a:lstStyle/>
                    <a:p>
                      <a:pPr marL="0" indent="0" algn="ctr" defTabSz="914400" rtl="0" eaLnBrk="1" latinLnBrk="0" hangingPunct="1">
                        <a:lnSpc>
                          <a:spcPct val="115000"/>
                        </a:lnSpc>
                        <a:spcAft>
                          <a:spcPts val="0"/>
                        </a:spcAft>
                        <a:buNone/>
                      </a:pPr>
                      <a:r>
                        <a:rPr lang="en-US" sz="1800" kern="1200">
                          <a:solidFill>
                            <a:schemeClr val="dk1"/>
                          </a:solidFill>
                          <a:latin typeface="+mn-lt"/>
                          <a:ea typeface="+mn-ea"/>
                          <a:cs typeface="+mn-cs"/>
                        </a:rPr>
                        <a:t>201722.1</a:t>
                      </a:r>
                      <a:endParaRPr lang="zh-CN" sz="1800" kern="1200">
                        <a:solidFill>
                          <a:schemeClr val="dk1"/>
                        </a:solidFill>
                        <a:latin typeface="+mn-lt"/>
                        <a:ea typeface="+mn-ea"/>
                        <a:cs typeface="+mn-cs"/>
                      </a:endParaRPr>
                    </a:p>
                  </a:txBody>
                  <a:tcPr marL="68580" marR="68580" marT="0" marB="0" anchor="ctr"/>
                </a:tc>
                <a:tc>
                  <a:txBody>
                    <a:bodyPr/>
                    <a:lstStyle/>
                    <a:p>
                      <a:pPr marL="0" indent="0" algn="ctr" defTabSz="914400" rtl="0" eaLnBrk="1" latinLnBrk="0" hangingPunct="1">
                        <a:lnSpc>
                          <a:spcPct val="115000"/>
                        </a:lnSpc>
                        <a:spcAft>
                          <a:spcPts val="0"/>
                        </a:spcAft>
                        <a:buNone/>
                      </a:pPr>
                      <a:r>
                        <a:rPr lang="en-US" sz="1800" kern="1200">
                          <a:solidFill>
                            <a:schemeClr val="dk1"/>
                          </a:solidFill>
                          <a:latin typeface="+mn-lt"/>
                          <a:ea typeface="+mn-ea"/>
                          <a:cs typeface="+mn-cs"/>
                        </a:rPr>
                        <a:t>156998.4</a:t>
                      </a:r>
                      <a:endParaRPr lang="zh-CN" sz="1800" kern="1200">
                        <a:solidFill>
                          <a:schemeClr val="dk1"/>
                        </a:solidFill>
                        <a:latin typeface="+mn-lt"/>
                        <a:ea typeface="+mn-ea"/>
                        <a:cs typeface="+mn-cs"/>
                      </a:endParaRPr>
                    </a:p>
                  </a:txBody>
                  <a:tcPr marL="68580" marR="68580" marT="0" marB="0" anchor="ctr"/>
                </a:tc>
                <a:tc>
                  <a:txBody>
                    <a:bodyPr/>
                    <a:lstStyle/>
                    <a:p>
                      <a:pPr marL="0" indent="0" algn="ctr" defTabSz="914400" rtl="0" eaLnBrk="1" latinLnBrk="0" hangingPunct="1">
                        <a:lnSpc>
                          <a:spcPct val="115000"/>
                        </a:lnSpc>
                        <a:spcAft>
                          <a:spcPts val="0"/>
                        </a:spcAft>
                        <a:buNone/>
                      </a:pPr>
                      <a:r>
                        <a:rPr lang="en-US" sz="1800" kern="1200" dirty="0">
                          <a:solidFill>
                            <a:schemeClr val="dk1"/>
                          </a:solidFill>
                          <a:latin typeface="+mn-lt"/>
                          <a:ea typeface="+mn-ea"/>
                          <a:cs typeface="+mn-cs"/>
                        </a:rPr>
                        <a:t>278121.8</a:t>
                      </a:r>
                      <a:endParaRPr lang="zh-CN" sz="18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12"/>
                  </a:ext>
                </a:extLst>
              </a:tr>
              <a:tr h="228952">
                <a:tc>
                  <a:txBody>
                    <a:bodyPr/>
                    <a:lstStyle/>
                    <a:p>
                      <a:pPr marL="0" indent="0" algn="ctr" defTabSz="914400" rtl="0" eaLnBrk="1" latinLnBrk="0" hangingPunct="1">
                        <a:lnSpc>
                          <a:spcPct val="115000"/>
                        </a:lnSpc>
                        <a:spcAft>
                          <a:spcPts val="0"/>
                        </a:spcAft>
                        <a:buNone/>
                      </a:pPr>
                      <a:r>
                        <a:rPr lang="en-US" sz="1800" kern="1200">
                          <a:solidFill>
                            <a:schemeClr val="dk1"/>
                          </a:solidFill>
                          <a:latin typeface="+mn-lt"/>
                          <a:ea typeface="+mn-ea"/>
                          <a:cs typeface="+mn-cs"/>
                        </a:rPr>
                        <a:t>2011</a:t>
                      </a:r>
                      <a:endParaRPr lang="zh-CN" sz="1800" kern="1200">
                        <a:solidFill>
                          <a:schemeClr val="dk1"/>
                        </a:solidFill>
                        <a:latin typeface="+mn-lt"/>
                        <a:ea typeface="+mn-ea"/>
                        <a:cs typeface="+mn-cs"/>
                      </a:endParaRPr>
                    </a:p>
                  </a:txBody>
                  <a:tcPr marL="68580" marR="68580" marT="0" marB="0" anchor="ctr"/>
                </a:tc>
                <a:tc>
                  <a:txBody>
                    <a:bodyPr/>
                    <a:lstStyle/>
                    <a:p>
                      <a:pPr marL="0" indent="0" algn="ctr" defTabSz="914400" rtl="0" eaLnBrk="1" latinLnBrk="0" hangingPunct="1">
                        <a:lnSpc>
                          <a:spcPct val="115000"/>
                        </a:lnSpc>
                        <a:spcAft>
                          <a:spcPts val="0"/>
                        </a:spcAft>
                        <a:buNone/>
                      </a:pPr>
                      <a:r>
                        <a:rPr lang="en-US" sz="1800" kern="1200" dirty="0">
                          <a:solidFill>
                            <a:schemeClr val="dk1"/>
                          </a:solidFill>
                          <a:latin typeface="+mn-lt"/>
                          <a:ea typeface="+mn-ea"/>
                          <a:cs typeface="+mn-cs"/>
                        </a:rPr>
                        <a:t>3696961</a:t>
                      </a:r>
                      <a:endParaRPr lang="zh-CN" sz="1800" kern="1200" dirty="0">
                        <a:solidFill>
                          <a:schemeClr val="dk1"/>
                        </a:solidFill>
                        <a:latin typeface="+mn-lt"/>
                        <a:ea typeface="+mn-ea"/>
                        <a:cs typeface="+mn-cs"/>
                      </a:endParaRPr>
                    </a:p>
                  </a:txBody>
                  <a:tcPr marL="68580" marR="68580" marT="0" marB="0" anchor="ctr"/>
                </a:tc>
                <a:tc>
                  <a:txBody>
                    <a:bodyPr/>
                    <a:lstStyle/>
                    <a:p>
                      <a:pPr marL="0" indent="0" algn="ctr" defTabSz="914400" rtl="0" eaLnBrk="1" latinLnBrk="0" hangingPunct="1">
                        <a:lnSpc>
                          <a:spcPct val="115000"/>
                        </a:lnSpc>
                        <a:spcAft>
                          <a:spcPts val="0"/>
                        </a:spcAft>
                        <a:buNone/>
                      </a:pPr>
                      <a:r>
                        <a:rPr lang="en-US" sz="1800" kern="1200" dirty="0">
                          <a:solidFill>
                            <a:schemeClr val="dk1"/>
                          </a:solidFill>
                          <a:latin typeface="+mn-lt"/>
                          <a:ea typeface="+mn-ea"/>
                          <a:cs typeface="+mn-cs"/>
                        </a:rPr>
                        <a:t>472115</a:t>
                      </a:r>
                      <a:endParaRPr lang="zh-CN" sz="1800" kern="1200" dirty="0">
                        <a:solidFill>
                          <a:schemeClr val="dk1"/>
                        </a:solidFill>
                        <a:latin typeface="+mn-lt"/>
                        <a:ea typeface="+mn-ea"/>
                        <a:cs typeface="+mn-cs"/>
                      </a:endParaRPr>
                    </a:p>
                  </a:txBody>
                  <a:tcPr marL="68580" marR="68580" marT="0" marB="0" anchor="ctr"/>
                </a:tc>
                <a:tc>
                  <a:txBody>
                    <a:bodyPr/>
                    <a:lstStyle/>
                    <a:p>
                      <a:pPr marL="0" indent="0" algn="ctr" defTabSz="914400" rtl="0" eaLnBrk="1" latinLnBrk="0" hangingPunct="1">
                        <a:lnSpc>
                          <a:spcPct val="115000"/>
                        </a:lnSpc>
                        <a:spcAft>
                          <a:spcPts val="0"/>
                        </a:spcAft>
                        <a:buNone/>
                      </a:pPr>
                      <a:r>
                        <a:rPr lang="en-US" sz="1800" kern="1200" dirty="0">
                          <a:solidFill>
                            <a:schemeClr val="dk1"/>
                          </a:solidFill>
                          <a:latin typeface="+mn-lt"/>
                          <a:ea typeface="+mn-ea"/>
                          <a:cs typeface="+mn-cs"/>
                        </a:rPr>
                        <a:t>317987</a:t>
                      </a:r>
                      <a:endParaRPr lang="zh-CN" sz="1800" kern="1200" dirty="0">
                        <a:solidFill>
                          <a:schemeClr val="dk1"/>
                        </a:solidFill>
                        <a:latin typeface="+mn-lt"/>
                        <a:ea typeface="+mn-ea"/>
                        <a:cs typeface="+mn-cs"/>
                      </a:endParaRPr>
                    </a:p>
                  </a:txBody>
                  <a:tcPr marL="68580" marR="68580" marT="0" marB="0" anchor="ctr"/>
                </a:tc>
                <a:tc>
                  <a:txBody>
                    <a:bodyPr/>
                    <a:lstStyle/>
                    <a:p>
                      <a:pPr marL="0" indent="0" algn="ctr" defTabSz="914400" rtl="0" eaLnBrk="1" latinLnBrk="0" hangingPunct="1">
                        <a:lnSpc>
                          <a:spcPct val="115000"/>
                        </a:lnSpc>
                        <a:spcAft>
                          <a:spcPts val="0"/>
                        </a:spcAft>
                        <a:buNone/>
                      </a:pPr>
                      <a:r>
                        <a:rPr lang="en-US" sz="1800" kern="1200" dirty="0">
                          <a:solidFill>
                            <a:schemeClr val="dk1"/>
                          </a:solidFill>
                          <a:latin typeface="+mn-lt"/>
                          <a:ea typeface="+mn-ea"/>
                          <a:cs typeface="+mn-cs"/>
                        </a:rPr>
                        <a:t>236402</a:t>
                      </a:r>
                      <a:endParaRPr lang="zh-CN" sz="1800" kern="1200" dirty="0">
                        <a:solidFill>
                          <a:schemeClr val="dk1"/>
                        </a:solidFill>
                        <a:latin typeface="+mn-lt"/>
                        <a:ea typeface="+mn-ea"/>
                        <a:cs typeface="+mn-cs"/>
                      </a:endParaRPr>
                    </a:p>
                  </a:txBody>
                  <a:tcPr marL="68580" marR="68580" marT="0" marB="0" anchor="ctr"/>
                </a:tc>
                <a:tc>
                  <a:txBody>
                    <a:bodyPr/>
                    <a:lstStyle/>
                    <a:p>
                      <a:pPr marL="0" indent="0" algn="ctr" defTabSz="914400" rtl="0" eaLnBrk="1" latinLnBrk="0" hangingPunct="1">
                        <a:lnSpc>
                          <a:spcPct val="115000"/>
                        </a:lnSpc>
                        <a:spcAft>
                          <a:spcPts val="0"/>
                        </a:spcAft>
                        <a:buNone/>
                      </a:pPr>
                      <a:r>
                        <a:rPr lang="en-US" sz="1800" kern="1200" dirty="0">
                          <a:solidFill>
                            <a:schemeClr val="dk1"/>
                          </a:solidFill>
                          <a:latin typeface="+mn-lt"/>
                          <a:ea typeface="+mn-ea"/>
                          <a:cs typeface="+mn-cs"/>
                        </a:rPr>
                        <a:t>183918.6</a:t>
                      </a:r>
                      <a:endParaRPr lang="zh-CN" sz="1800" kern="1200" dirty="0">
                        <a:solidFill>
                          <a:schemeClr val="dk1"/>
                        </a:solidFill>
                        <a:latin typeface="+mn-lt"/>
                        <a:ea typeface="+mn-ea"/>
                        <a:cs typeface="+mn-cs"/>
                      </a:endParaRPr>
                    </a:p>
                  </a:txBody>
                  <a:tcPr marL="68580" marR="68580" marT="0" marB="0" anchor="ctr"/>
                </a:tc>
                <a:tc>
                  <a:txBody>
                    <a:bodyPr/>
                    <a:lstStyle/>
                    <a:p>
                      <a:pPr marL="0" indent="0" algn="ctr" defTabSz="914400" rtl="0" eaLnBrk="1" latinLnBrk="0" hangingPunct="1">
                        <a:lnSpc>
                          <a:spcPct val="115000"/>
                        </a:lnSpc>
                        <a:spcAft>
                          <a:spcPts val="0"/>
                        </a:spcAft>
                        <a:buNone/>
                      </a:pPr>
                      <a:r>
                        <a:rPr lang="en-US" sz="1800" kern="1200" dirty="0">
                          <a:solidFill>
                            <a:schemeClr val="dk1"/>
                          </a:solidFill>
                          <a:latin typeface="+mn-lt"/>
                          <a:ea typeface="+mn-ea"/>
                          <a:cs typeface="+mn-cs"/>
                        </a:rPr>
                        <a:t>311485.1</a:t>
                      </a:r>
                      <a:endParaRPr lang="zh-CN" sz="18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5965281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par>
                                <p:cTn id="8" presetID="16" presetClass="entr" presetSubtype="21"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barn(inVertical)">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endParaRPr lang="zh-CN" altLang="en-US" sz="2400">
              <a:ea typeface="+mn-ea"/>
              <a:cs typeface="Times New Roman" panose="02020603050405020304" pitchFamily="18" charset="0"/>
            </a:endParaRPr>
          </a:p>
        </p:txBody>
      </p:sp>
      <p:sp>
        <p:nvSpPr>
          <p:cNvPr id="9233" name="矩形 1"/>
          <p:cNvSpPr>
            <a:spLocks noChangeArrowheads="1"/>
          </p:cNvSpPr>
          <p:nvPr/>
        </p:nvSpPr>
        <p:spPr bwMode="auto">
          <a:xfrm>
            <a:off x="1666875" y="268288"/>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数据驱动的统计预测方法</a:t>
            </a:r>
          </a:p>
        </p:txBody>
      </p:sp>
      <p:sp>
        <p:nvSpPr>
          <p:cNvPr id="24"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19"/>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1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3" name="Rectangle 1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2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矩形 1"/>
          <p:cNvSpPr/>
          <p:nvPr/>
        </p:nvSpPr>
        <p:spPr>
          <a:xfrm>
            <a:off x="431471" y="1080122"/>
            <a:ext cx="7740989" cy="2123658"/>
          </a:xfrm>
          <a:prstGeom prst="rect">
            <a:avLst/>
          </a:prstGeom>
        </p:spPr>
        <p:txBody>
          <a:bodyPr wrap="square">
            <a:spAutoFit/>
          </a:bodyPr>
          <a:lstStyle/>
          <a:p>
            <a:r>
              <a:rPr lang="zh-CN" altLang="en-US" sz="2200" dirty="0">
                <a:solidFill>
                  <a:srgbClr val="003366"/>
                </a:solidFill>
                <a:latin typeface="Times New Roman" pitchFamily="18" charset="0"/>
                <a:ea typeface="微软雅黑" pitchFamily="34" charset="-122"/>
                <a:cs typeface="Times New Roman" pitchFamily="18" charset="0"/>
              </a:rPr>
              <a:t>     建立</a:t>
            </a:r>
            <a:r>
              <a:rPr lang="en-US" altLang="zh-CN" sz="2200" dirty="0">
                <a:solidFill>
                  <a:srgbClr val="003366"/>
                </a:solidFill>
                <a:latin typeface="Times New Roman" pitchFamily="18" charset="0"/>
                <a:ea typeface="微软雅黑" pitchFamily="34" charset="-122"/>
                <a:cs typeface="Times New Roman" pitchFamily="18" charset="0"/>
              </a:rPr>
              <a:t>BP</a:t>
            </a:r>
            <a:r>
              <a:rPr lang="zh-CN" altLang="en-US" sz="2200" dirty="0">
                <a:solidFill>
                  <a:srgbClr val="003366"/>
                </a:solidFill>
                <a:latin typeface="Times New Roman" pitchFamily="18" charset="0"/>
                <a:ea typeface="微软雅黑" pitchFamily="34" charset="-122"/>
                <a:cs typeface="Times New Roman" pitchFamily="18" charset="0"/>
              </a:rPr>
              <a:t>神经网络结构为</a:t>
            </a:r>
            <a:r>
              <a:rPr lang="en-US" altLang="zh-CN" sz="2200" dirty="0">
                <a:solidFill>
                  <a:srgbClr val="003366"/>
                </a:solidFill>
                <a:latin typeface="Times New Roman" pitchFamily="18" charset="0"/>
                <a:ea typeface="微软雅黑" pitchFamily="34" charset="-122"/>
                <a:cs typeface="Times New Roman" pitchFamily="18" charset="0"/>
              </a:rPr>
              <a:t>5-11-1</a:t>
            </a:r>
            <a:r>
              <a:rPr lang="zh-CN" altLang="en-US" sz="2200" dirty="0">
                <a:solidFill>
                  <a:srgbClr val="003366"/>
                </a:solidFill>
                <a:latin typeface="Times New Roman" pitchFamily="18" charset="0"/>
                <a:ea typeface="微软雅黑" pitchFamily="34" charset="-122"/>
                <a:cs typeface="Times New Roman" pitchFamily="18" charset="0"/>
              </a:rPr>
              <a:t>结构。输入层分别为国民生产总值、能源生产总值、进出口贸易额、社会消费品零售总额以及固定资产投资总额等</a:t>
            </a:r>
            <a:r>
              <a:rPr lang="en-US" altLang="zh-CN" sz="2200" dirty="0">
                <a:solidFill>
                  <a:srgbClr val="003366"/>
                </a:solidFill>
                <a:latin typeface="Times New Roman" pitchFamily="18" charset="0"/>
                <a:ea typeface="微软雅黑" pitchFamily="34" charset="-122"/>
                <a:cs typeface="Times New Roman" pitchFamily="18" charset="0"/>
              </a:rPr>
              <a:t>5</a:t>
            </a:r>
            <a:r>
              <a:rPr lang="zh-CN" altLang="en-US" sz="2200" dirty="0">
                <a:solidFill>
                  <a:srgbClr val="003366"/>
                </a:solidFill>
                <a:latin typeface="Times New Roman" pitchFamily="18" charset="0"/>
                <a:ea typeface="微软雅黑" pitchFamily="34" charset="-122"/>
                <a:cs typeface="Times New Roman" pitchFamily="18" charset="0"/>
              </a:rPr>
              <a:t>个主要影响因素，输出为货运总量，隐含层有</a:t>
            </a:r>
            <a:r>
              <a:rPr lang="en-US" altLang="zh-CN" sz="2200" dirty="0">
                <a:solidFill>
                  <a:srgbClr val="003366"/>
                </a:solidFill>
                <a:latin typeface="Times New Roman" pitchFamily="18" charset="0"/>
                <a:ea typeface="微软雅黑" pitchFamily="34" charset="-122"/>
                <a:cs typeface="Times New Roman" pitchFamily="18" charset="0"/>
              </a:rPr>
              <a:t>11</a:t>
            </a:r>
            <a:r>
              <a:rPr lang="zh-CN" altLang="en-US" sz="2200" dirty="0">
                <a:solidFill>
                  <a:srgbClr val="003366"/>
                </a:solidFill>
                <a:latin typeface="Times New Roman" pitchFamily="18" charset="0"/>
                <a:ea typeface="微软雅黑" pitchFamily="34" charset="-122"/>
                <a:cs typeface="Times New Roman" pitchFamily="18" charset="0"/>
              </a:rPr>
              <a:t>个节点。</a:t>
            </a:r>
            <a:r>
              <a:rPr lang="zh-CN" altLang="en-US" sz="2200" dirty="0">
                <a:solidFill>
                  <a:srgbClr val="C00000"/>
                </a:solidFill>
                <a:latin typeface="Times New Roman" pitchFamily="18" charset="0"/>
                <a:ea typeface="微软雅黑" pitchFamily="34" charset="-122"/>
                <a:cs typeface="Times New Roman" pitchFamily="18" charset="0"/>
              </a:rPr>
              <a:t>已知有</a:t>
            </a:r>
            <a:r>
              <a:rPr lang="en-US" altLang="zh-CN" sz="2200" dirty="0">
                <a:solidFill>
                  <a:srgbClr val="C00000"/>
                </a:solidFill>
                <a:latin typeface="Times New Roman" pitchFamily="18" charset="0"/>
                <a:ea typeface="微软雅黑" pitchFamily="34" charset="-122"/>
                <a:cs typeface="Times New Roman" pitchFamily="18" charset="0"/>
              </a:rPr>
              <a:t>22</a:t>
            </a:r>
            <a:r>
              <a:rPr lang="zh-CN" altLang="en-US" sz="2200" dirty="0">
                <a:solidFill>
                  <a:srgbClr val="C00000"/>
                </a:solidFill>
                <a:latin typeface="Times New Roman" pitchFamily="18" charset="0"/>
                <a:ea typeface="微软雅黑" pitchFamily="34" charset="-122"/>
                <a:cs typeface="Times New Roman" pitchFamily="18" charset="0"/>
              </a:rPr>
              <a:t>年的数据，取前</a:t>
            </a:r>
            <a:r>
              <a:rPr lang="en-US" altLang="zh-CN" sz="2200" dirty="0">
                <a:solidFill>
                  <a:srgbClr val="C00000"/>
                </a:solidFill>
                <a:latin typeface="Times New Roman" pitchFamily="18" charset="0"/>
                <a:ea typeface="微软雅黑" pitchFamily="34" charset="-122"/>
                <a:cs typeface="Times New Roman" pitchFamily="18" charset="0"/>
              </a:rPr>
              <a:t>20</a:t>
            </a:r>
            <a:r>
              <a:rPr lang="zh-CN" altLang="en-US" sz="2200" dirty="0">
                <a:solidFill>
                  <a:srgbClr val="C00000"/>
                </a:solidFill>
                <a:latin typeface="Times New Roman" pitchFamily="18" charset="0"/>
                <a:ea typeface="微软雅黑" pitchFamily="34" charset="-122"/>
                <a:cs typeface="Times New Roman" pitchFamily="18" charset="0"/>
              </a:rPr>
              <a:t>年的数据作为训练数据训练网络。并用训练好的神经网络来预测</a:t>
            </a:r>
            <a:r>
              <a:rPr lang="en-US" altLang="zh-CN" sz="2200" dirty="0">
                <a:solidFill>
                  <a:srgbClr val="C00000"/>
                </a:solidFill>
                <a:latin typeface="Times New Roman" pitchFamily="18" charset="0"/>
                <a:ea typeface="微软雅黑" pitchFamily="34" charset="-122"/>
                <a:cs typeface="Times New Roman" pitchFamily="18" charset="0"/>
              </a:rPr>
              <a:t>2010</a:t>
            </a:r>
            <a:r>
              <a:rPr lang="zh-CN" altLang="en-US" sz="2200" dirty="0">
                <a:solidFill>
                  <a:srgbClr val="C00000"/>
                </a:solidFill>
                <a:latin typeface="Times New Roman" pitchFamily="18" charset="0"/>
                <a:ea typeface="微软雅黑" pitchFamily="34" charset="-122"/>
                <a:cs typeface="Times New Roman" pitchFamily="18" charset="0"/>
              </a:rPr>
              <a:t>和</a:t>
            </a:r>
            <a:r>
              <a:rPr lang="en-US" altLang="zh-CN" sz="2200" dirty="0">
                <a:solidFill>
                  <a:srgbClr val="C00000"/>
                </a:solidFill>
                <a:latin typeface="Times New Roman" pitchFamily="18" charset="0"/>
                <a:ea typeface="微软雅黑" pitchFamily="34" charset="-122"/>
                <a:cs typeface="Times New Roman" pitchFamily="18" charset="0"/>
              </a:rPr>
              <a:t>2011</a:t>
            </a:r>
            <a:r>
              <a:rPr lang="zh-CN" altLang="en-US" sz="2200" dirty="0">
                <a:solidFill>
                  <a:srgbClr val="C00000"/>
                </a:solidFill>
                <a:latin typeface="Times New Roman" pitchFamily="18" charset="0"/>
                <a:ea typeface="微软雅黑" pitchFamily="34" charset="-122"/>
                <a:cs typeface="Times New Roman" pitchFamily="18" charset="0"/>
              </a:rPr>
              <a:t>年两年的货运总量。</a:t>
            </a:r>
          </a:p>
        </p:txBody>
      </p:sp>
      <p:sp>
        <p:nvSpPr>
          <p:cNvPr id="3" name="矩形 2"/>
          <p:cNvSpPr/>
          <p:nvPr/>
        </p:nvSpPr>
        <p:spPr>
          <a:xfrm>
            <a:off x="611494" y="3429000"/>
            <a:ext cx="2700345" cy="2554545"/>
          </a:xfrm>
          <a:prstGeom prst="rect">
            <a:avLst/>
          </a:prstGeom>
        </p:spPr>
        <p:txBody>
          <a:bodyPr wrap="square">
            <a:spAutoFit/>
          </a:bodyPr>
          <a:lstStyle/>
          <a:p>
            <a:r>
              <a:rPr lang="zh-CN" altLang="en-US" sz="2000" kern="0" dirty="0">
                <a:solidFill>
                  <a:srgbClr val="000000"/>
                </a:solidFill>
                <a:latin typeface="+mn-ea"/>
                <a:ea typeface="+mn-ea"/>
                <a:sym typeface="+mn-ea"/>
              </a:rPr>
              <a:t>    可得，</a:t>
            </a:r>
            <a:r>
              <a:rPr lang="zh-CN" altLang="en-US" sz="2000" kern="0" dirty="0">
                <a:solidFill>
                  <a:srgbClr val="C00000"/>
                </a:solidFill>
                <a:latin typeface="+mn-ea"/>
                <a:ea typeface="+mn-ea"/>
                <a:sym typeface="+mn-ea"/>
              </a:rPr>
              <a:t>2010年和2011年货运量的预测输出值分别为：3318898和36825748</a:t>
            </a:r>
            <a:r>
              <a:rPr lang="zh-CN" altLang="en-US" sz="2000" kern="0" dirty="0">
                <a:solidFill>
                  <a:srgbClr val="000000"/>
                </a:solidFill>
                <a:latin typeface="+mn-ea"/>
                <a:ea typeface="+mn-ea"/>
                <a:sym typeface="+mn-ea"/>
              </a:rPr>
              <a:t>。2006-2011年货运量预测输出值与实际货运量进行比较如右图所示。</a:t>
            </a:r>
            <a:endParaRPr lang="zh-CN" altLang="en-US" sz="2000" dirty="0">
              <a:latin typeface="+mn-ea"/>
              <a:ea typeface="+mn-ea"/>
            </a:endParaRPr>
          </a:p>
        </p:txBody>
      </p:sp>
      <p:pic>
        <p:nvPicPr>
          <p:cNvPr id="17" name="图片 16"/>
          <p:cNvPicPr/>
          <p:nvPr/>
        </p:nvPicPr>
        <p:blipFill>
          <a:blip r:embed="rId2"/>
          <a:stretch>
            <a:fillRect/>
          </a:stretch>
        </p:blipFill>
        <p:spPr>
          <a:xfrm>
            <a:off x="4143385" y="3369635"/>
            <a:ext cx="4029075" cy="2759710"/>
          </a:xfrm>
          <a:prstGeom prst="rect">
            <a:avLst/>
          </a:prstGeom>
        </p:spPr>
      </p:pic>
    </p:spTree>
    <p:extLst>
      <p:ext uri="{BB962C8B-B14F-4D97-AF65-F5344CB8AC3E}">
        <p14:creationId xmlns:p14="http://schemas.microsoft.com/office/powerpoint/2010/main" val="2393893610"/>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212033" y="3969707"/>
            <a:ext cx="8461375" cy="1079500"/>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a:defRPr/>
            </a:pPr>
            <a:endParaRPr lang="zh-CN" altLang="en-US">
              <a:solidFill>
                <a:schemeClr val="lt1"/>
              </a:solidFill>
              <a:latin typeface="+mn-lt"/>
              <a:ea typeface="+mn-ea"/>
            </a:endParaRPr>
          </a:p>
        </p:txBody>
      </p:sp>
      <p:sp>
        <p:nvSpPr>
          <p:cNvPr id="6146" name="Rectangle 2"/>
          <p:cNvSpPr>
            <a:spLocks noGrp="1" noChangeArrowheads="1"/>
          </p:cNvSpPr>
          <p:nvPr>
            <p:ph type="title"/>
          </p:nvPr>
        </p:nvSpPr>
        <p:spPr>
          <a:xfrm>
            <a:off x="1871663" y="0"/>
            <a:ext cx="3960812" cy="1143000"/>
          </a:xfrm>
        </p:spPr>
        <p:txBody>
          <a:bodyPr/>
          <a:lstStyle/>
          <a:p>
            <a:pPr algn="ctr" eaLnBrk="1" hangingPunct="1"/>
            <a:r>
              <a:rPr lang="zh-CN" altLang="en-US" sz="3600">
                <a:solidFill>
                  <a:schemeClr val="bg1"/>
                </a:solidFill>
                <a:latin typeface="微软雅黑" pitchFamily="34" charset="-122"/>
                <a:ea typeface="微软雅黑" pitchFamily="34" charset="-122"/>
              </a:rPr>
              <a:t>主要内容</a:t>
            </a:r>
          </a:p>
        </p:txBody>
      </p:sp>
      <p:sp>
        <p:nvSpPr>
          <p:cNvPr id="6147" name="Rectangle 3"/>
          <p:cNvSpPr>
            <a:spLocks noGrp="1" noChangeArrowheads="1"/>
          </p:cNvSpPr>
          <p:nvPr>
            <p:ph type="body" idx="1"/>
          </p:nvPr>
        </p:nvSpPr>
        <p:spPr>
          <a:xfrm>
            <a:off x="792163" y="1231900"/>
            <a:ext cx="7777162" cy="2376488"/>
          </a:xfrm>
        </p:spPr>
        <p:txBody>
          <a:bodyPr/>
          <a:lstStyle/>
          <a:p>
            <a:pPr marL="0" indent="0" eaLnBrk="1" hangingPunct="1">
              <a:lnSpc>
                <a:spcPct val="229000"/>
              </a:lnSpc>
              <a:buFontTx/>
              <a:buNone/>
            </a:pPr>
            <a:r>
              <a:rPr lang="zh-CN" altLang="en-US" sz="3200" b="1" dirty="0">
                <a:solidFill>
                  <a:srgbClr val="002060"/>
                </a:solidFill>
                <a:latin typeface="微软雅黑" pitchFamily="34" charset="-122"/>
                <a:ea typeface="微软雅黑" pitchFamily="34" charset="-122"/>
              </a:rPr>
              <a:t>一、统计数据的收集、整理与描述</a:t>
            </a:r>
            <a:endParaRPr lang="en-US" altLang="zh-CN" sz="3200" b="1" dirty="0">
              <a:solidFill>
                <a:srgbClr val="002060"/>
              </a:solidFill>
              <a:latin typeface="微软雅黑" pitchFamily="34" charset="-122"/>
              <a:ea typeface="微软雅黑" pitchFamily="34" charset="-122"/>
            </a:endParaRPr>
          </a:p>
          <a:p>
            <a:pPr marL="0" indent="0" eaLnBrk="1" hangingPunct="1">
              <a:lnSpc>
                <a:spcPct val="229000"/>
              </a:lnSpc>
              <a:buFontTx/>
              <a:buNone/>
            </a:pPr>
            <a:r>
              <a:rPr lang="zh-CN" altLang="en-US" sz="3200" b="1" dirty="0">
                <a:solidFill>
                  <a:srgbClr val="002060"/>
                </a:solidFill>
                <a:latin typeface="微软雅黑" pitchFamily="34" charset="-122"/>
                <a:ea typeface="微软雅黑" pitchFamily="34" charset="-122"/>
              </a:rPr>
              <a:t>二、数据驱动的统计预测方法</a:t>
            </a:r>
            <a:endParaRPr lang="en-US" altLang="zh-CN" sz="3200" b="1" dirty="0">
              <a:solidFill>
                <a:srgbClr val="002060"/>
              </a:solidFill>
              <a:latin typeface="微软雅黑" pitchFamily="34" charset="-122"/>
              <a:ea typeface="微软雅黑" pitchFamily="34" charset="-122"/>
            </a:endParaRPr>
          </a:p>
          <a:p>
            <a:pPr marL="0" indent="0" eaLnBrk="1" hangingPunct="1">
              <a:lnSpc>
                <a:spcPct val="229000"/>
              </a:lnSpc>
              <a:buFontTx/>
              <a:buNone/>
            </a:pPr>
            <a:r>
              <a:rPr lang="zh-CN" altLang="en-US" sz="3200" b="1" dirty="0">
                <a:solidFill>
                  <a:srgbClr val="002060"/>
                </a:solidFill>
                <a:latin typeface="微软雅黑" pitchFamily="34" charset="-122"/>
                <a:ea typeface="微软雅黑" pitchFamily="34" charset="-122"/>
              </a:rPr>
              <a:t>三</a:t>
            </a:r>
            <a:r>
              <a:rPr lang="en-US" altLang="zh-CN" sz="3200" b="1" dirty="0">
                <a:solidFill>
                  <a:srgbClr val="002060"/>
                </a:solidFill>
                <a:latin typeface="微软雅黑" pitchFamily="34" charset="-122"/>
                <a:ea typeface="微软雅黑" pitchFamily="34" charset="-122"/>
              </a:rPr>
              <a:t>.  </a:t>
            </a:r>
            <a:r>
              <a:rPr lang="zh-CN" altLang="en-US" sz="3200" b="1" dirty="0">
                <a:solidFill>
                  <a:srgbClr val="002060"/>
                </a:solidFill>
                <a:latin typeface="微软雅黑" pitchFamily="34" charset="-122"/>
                <a:ea typeface="微软雅黑" pitchFamily="34" charset="-122"/>
              </a:rPr>
              <a:t>数据驱动的统计风险决策方法</a:t>
            </a:r>
            <a:endParaRPr lang="en-US" altLang="zh-CN" sz="3200" b="1" dirty="0">
              <a:solidFill>
                <a:srgbClr val="002060"/>
              </a:solidFill>
              <a:latin typeface="微软雅黑" pitchFamily="34" charset="-122"/>
              <a:ea typeface="微软雅黑" pitchFamily="34" charset="-122"/>
            </a:endParaRPr>
          </a:p>
          <a:p>
            <a:pPr marL="0" indent="0" eaLnBrk="1" hangingPunct="1">
              <a:lnSpc>
                <a:spcPct val="229000"/>
              </a:lnSpc>
              <a:buFontTx/>
              <a:buNone/>
            </a:pPr>
            <a:r>
              <a:rPr lang="zh-CN" altLang="en-US" sz="3200" b="1" dirty="0">
                <a:solidFill>
                  <a:srgbClr val="002060"/>
                </a:solidFill>
                <a:latin typeface="微软雅黑" pitchFamily="34" charset="-122"/>
                <a:ea typeface="微软雅黑" pitchFamily="34" charset="-122"/>
              </a:rPr>
              <a:t>四</a:t>
            </a:r>
            <a:r>
              <a:rPr lang="en-US" altLang="zh-CN" sz="3200" b="1" dirty="0">
                <a:solidFill>
                  <a:srgbClr val="002060"/>
                </a:solidFill>
                <a:latin typeface="微软雅黑" pitchFamily="34" charset="-122"/>
                <a:ea typeface="微软雅黑" pitchFamily="34" charset="-122"/>
              </a:rPr>
              <a:t>.  </a:t>
            </a:r>
            <a:r>
              <a:rPr lang="zh-CN" altLang="en-US" sz="3200" b="1" dirty="0">
                <a:solidFill>
                  <a:srgbClr val="002060"/>
                </a:solidFill>
                <a:latin typeface="微软雅黑" pitchFamily="34" charset="-122"/>
                <a:ea typeface="微软雅黑" pitchFamily="34" charset="-122"/>
              </a:rPr>
              <a:t>总结</a:t>
            </a:r>
            <a:endParaRPr lang="en-US" altLang="zh-CN" sz="3200" b="1" dirty="0">
              <a:solidFill>
                <a:srgbClr val="002060"/>
              </a:solidFill>
              <a:latin typeface="微软雅黑" pitchFamily="34" charset="-122"/>
              <a:ea typeface="微软雅黑" pitchFamily="34" charset="-122"/>
            </a:endParaRPr>
          </a:p>
          <a:p>
            <a:pPr marL="0" indent="0" eaLnBrk="1" hangingPunct="1">
              <a:lnSpc>
                <a:spcPct val="250000"/>
              </a:lnSpc>
              <a:buFontTx/>
              <a:buNone/>
            </a:pPr>
            <a:endParaRPr lang="en-US" altLang="zh-CN" sz="3200" b="1" dirty="0">
              <a:solidFill>
                <a:srgbClr val="002060"/>
              </a:solidFill>
              <a:latin typeface="微软雅黑" pitchFamily="34" charset="-122"/>
              <a:ea typeface="微软雅黑" pitchFamily="34" charset="-122"/>
            </a:endParaRPr>
          </a:p>
        </p:txBody>
      </p:sp>
    </p:spTree>
    <p:extLst>
      <p:ext uri="{BB962C8B-B14F-4D97-AF65-F5344CB8AC3E}">
        <p14:creationId xmlns:p14="http://schemas.microsoft.com/office/powerpoint/2010/main" val="3544720863"/>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矩形 9"/>
          <p:cNvSpPr>
            <a:spLocks noChangeArrowheads="1"/>
          </p:cNvSpPr>
          <p:nvPr/>
        </p:nvSpPr>
        <p:spPr bwMode="auto">
          <a:xfrm>
            <a:off x="1441494" y="368609"/>
            <a:ext cx="551946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数据驱动的统计风险决策方法</a:t>
            </a:r>
            <a:endParaRPr lang="zh-CN" altLang="en-US" sz="3200" dirty="0">
              <a:solidFill>
                <a:schemeClr val="bg1"/>
              </a:solidFill>
              <a:latin typeface="Times New Roman" pitchFamily="18" charset="0"/>
              <a:ea typeface="微软雅黑" pitchFamily="34" charset="-122"/>
              <a:cs typeface="Times New Roman" pitchFamily="18" charset="0"/>
            </a:endParaRPr>
          </a:p>
        </p:txBody>
      </p:sp>
      <p:sp>
        <p:nvSpPr>
          <p:cNvPr id="11" name="Text Box 21"/>
          <p:cNvSpPr txBox="1">
            <a:spLocks noChangeArrowheads="1"/>
          </p:cNvSpPr>
          <p:nvPr/>
        </p:nvSpPr>
        <p:spPr bwMode="auto">
          <a:xfrm>
            <a:off x="23813" y="1050925"/>
            <a:ext cx="617280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algn="just" eaLnBrk="1" hangingPunct="1">
              <a:spcBef>
                <a:spcPct val="50000"/>
              </a:spcBef>
            </a:pPr>
            <a:r>
              <a:rPr kumimoji="1" lang="en-US" altLang="zh-CN" sz="3200" b="1" dirty="0">
                <a:solidFill>
                  <a:srgbClr val="FF0000"/>
                </a:solidFill>
                <a:latin typeface="微软雅黑" pitchFamily="34" charset="-122"/>
                <a:ea typeface="微软雅黑" pitchFamily="34" charset="-122"/>
              </a:rPr>
              <a:t>1. </a:t>
            </a:r>
            <a:r>
              <a:rPr kumimoji="1" lang="zh-CN" altLang="en-US" sz="3200" b="1" dirty="0">
                <a:solidFill>
                  <a:srgbClr val="FF0000"/>
                </a:solidFill>
                <a:latin typeface="微软雅黑" pitchFamily="34" charset="-122"/>
                <a:ea typeface="微软雅黑" pitchFamily="34" charset="-122"/>
              </a:rPr>
              <a:t>风险型决策基本问题：</a:t>
            </a:r>
          </a:p>
        </p:txBody>
      </p:sp>
      <p:sp>
        <p:nvSpPr>
          <p:cNvPr id="4" name="矩形 3"/>
          <p:cNvSpPr/>
          <p:nvPr/>
        </p:nvSpPr>
        <p:spPr>
          <a:xfrm>
            <a:off x="824214" y="2168839"/>
            <a:ext cx="7168221" cy="1107996"/>
          </a:xfrm>
          <a:prstGeom prst="rect">
            <a:avLst/>
          </a:prstGeom>
        </p:spPr>
        <p:txBody>
          <a:bodyPr wrap="square">
            <a:spAutoFit/>
          </a:bodyPr>
          <a:lstStyle/>
          <a:p>
            <a:r>
              <a:rPr lang="en-US" altLang="zh-CN" sz="2200" dirty="0">
                <a:solidFill>
                  <a:srgbClr val="003366"/>
                </a:solidFill>
                <a:latin typeface="Times New Roman" pitchFamily="18" charset="0"/>
                <a:ea typeface="微软雅黑" pitchFamily="34" charset="-122"/>
                <a:cs typeface="Times New Roman" pitchFamily="18" charset="0"/>
              </a:rPr>
              <a:t>        </a:t>
            </a:r>
            <a:r>
              <a:rPr lang="zh-CN" altLang="zh-CN" sz="2200" dirty="0">
                <a:solidFill>
                  <a:srgbClr val="C00000"/>
                </a:solidFill>
                <a:latin typeface="Times New Roman" pitchFamily="18" charset="0"/>
                <a:ea typeface="微软雅黑" pitchFamily="34" charset="-122"/>
                <a:cs typeface="Times New Roman" pitchFamily="18" charset="0"/>
              </a:rPr>
              <a:t>决策者根据各种自然状态可能发生的先验概率，采用期望效果最好的方案作为最优决策方案</a:t>
            </a:r>
            <a:r>
              <a:rPr lang="zh-CN" altLang="zh-CN" sz="2200" dirty="0">
                <a:solidFill>
                  <a:srgbClr val="003366"/>
                </a:solidFill>
                <a:latin typeface="Times New Roman" pitchFamily="18" charset="0"/>
                <a:ea typeface="微软雅黑" pitchFamily="34" charset="-122"/>
                <a:cs typeface="Times New Roman" pitchFamily="18" charset="0"/>
              </a:rPr>
              <a:t>，因其具有一定的风险性故称为风险型决策</a:t>
            </a:r>
            <a:r>
              <a:rPr lang="zh-CN" altLang="en-US" sz="2200" dirty="0">
                <a:solidFill>
                  <a:srgbClr val="003366"/>
                </a:solidFill>
                <a:latin typeface="Times New Roman" pitchFamily="18" charset="0"/>
                <a:ea typeface="微软雅黑" pitchFamily="34" charset="-122"/>
                <a:cs typeface="Times New Roman" pitchFamily="18" charset="0"/>
              </a:rPr>
              <a:t>。</a:t>
            </a:r>
          </a:p>
        </p:txBody>
      </p:sp>
      <p:sp>
        <p:nvSpPr>
          <p:cNvPr id="5" name="矩形 4"/>
          <p:cNvSpPr/>
          <p:nvPr/>
        </p:nvSpPr>
        <p:spPr>
          <a:xfrm>
            <a:off x="881526" y="3969069"/>
            <a:ext cx="7110910" cy="1107996"/>
          </a:xfrm>
          <a:prstGeom prst="rect">
            <a:avLst/>
          </a:prstGeom>
        </p:spPr>
        <p:txBody>
          <a:bodyPr wrap="square">
            <a:spAutoFit/>
          </a:bodyPr>
          <a:lstStyle/>
          <a:p>
            <a:r>
              <a:rPr lang="zh-CN" altLang="en-US" sz="2200" b="1" dirty="0">
                <a:solidFill>
                  <a:srgbClr val="C00000"/>
                </a:solidFill>
                <a:latin typeface="Times New Roman" pitchFamily="18" charset="0"/>
                <a:ea typeface="微软雅黑" pitchFamily="34" charset="-122"/>
                <a:cs typeface="Times New Roman" pitchFamily="18" charset="0"/>
              </a:rPr>
              <a:t>先验概率：</a:t>
            </a:r>
            <a:r>
              <a:rPr lang="zh-CN" altLang="en-US" sz="2200" dirty="0">
                <a:solidFill>
                  <a:srgbClr val="003366"/>
                </a:solidFill>
                <a:latin typeface="Times New Roman" pitchFamily="18" charset="0"/>
                <a:ea typeface="微软雅黑" pitchFamily="34" charset="-122"/>
                <a:cs typeface="Times New Roman" pitchFamily="18" charset="0"/>
              </a:rPr>
              <a:t>根据过去的经验或者主观判断形成的对各种自然状态的风险程度的一种测算值，即各种自然状态发生的最原始的概率。</a:t>
            </a: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矩形 9"/>
          <p:cNvSpPr>
            <a:spLocks noChangeArrowheads="1"/>
          </p:cNvSpPr>
          <p:nvPr/>
        </p:nvSpPr>
        <p:spPr bwMode="auto">
          <a:xfrm>
            <a:off x="1441494" y="368609"/>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数据驱动的统计决策方法</a:t>
            </a:r>
            <a:endParaRPr lang="zh-CN" altLang="en-US" sz="3200" dirty="0">
              <a:solidFill>
                <a:schemeClr val="bg1"/>
              </a:solidFill>
              <a:latin typeface="Times New Roman" pitchFamily="18" charset="0"/>
              <a:ea typeface="微软雅黑" pitchFamily="34" charset="-122"/>
              <a:cs typeface="Times New Roman" pitchFamily="18" charset="0"/>
            </a:endParaRPr>
          </a:p>
        </p:txBody>
      </p:sp>
      <p:pic>
        <p:nvPicPr>
          <p:cNvPr id="860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974" y="3030864"/>
            <a:ext cx="8018463" cy="363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矩形 7"/>
          <p:cNvSpPr/>
          <p:nvPr/>
        </p:nvSpPr>
        <p:spPr>
          <a:xfrm>
            <a:off x="431471" y="1088701"/>
            <a:ext cx="8148966" cy="1938992"/>
          </a:xfrm>
          <a:prstGeom prst="rect">
            <a:avLst/>
          </a:prstGeom>
        </p:spPr>
        <p:txBody>
          <a:bodyPr wrap="square">
            <a:spAutoFit/>
          </a:bodyPr>
          <a:lstStyle/>
          <a:p>
            <a:r>
              <a:rPr lang="zh-CN" altLang="en-US" sz="2200" b="1" dirty="0">
                <a:solidFill>
                  <a:srgbClr val="C00000"/>
                </a:solidFill>
                <a:latin typeface="Times New Roman" pitchFamily="18" charset="0"/>
                <a:ea typeface="微软雅黑" pitchFamily="34" charset="-122"/>
                <a:cs typeface="Times New Roman" pitchFamily="18" charset="0"/>
              </a:rPr>
              <a:t>例：</a:t>
            </a:r>
            <a:r>
              <a:rPr lang="zh-CN" altLang="en-US" sz="2400" dirty="0">
                <a:solidFill>
                  <a:srgbClr val="003366"/>
                </a:solidFill>
                <a:latin typeface="Times New Roman" pitchFamily="18" charset="0"/>
                <a:ea typeface="微软雅黑" pitchFamily="34" charset="-122"/>
                <a:cs typeface="Times New Roman" pitchFamily="18" charset="0"/>
              </a:rPr>
              <a:t>某项工程，若下个月开工后天气好，可以按期完工，能够获得利润</a:t>
            </a:r>
            <a:r>
              <a:rPr lang="en-US" altLang="zh-CN" sz="2400" dirty="0">
                <a:solidFill>
                  <a:srgbClr val="003366"/>
                </a:solidFill>
                <a:latin typeface="Times New Roman" pitchFamily="18" charset="0"/>
                <a:ea typeface="微软雅黑" pitchFamily="34" charset="-122"/>
                <a:cs typeface="Times New Roman" pitchFamily="18" charset="0"/>
              </a:rPr>
              <a:t>1000</a:t>
            </a:r>
            <a:r>
              <a:rPr lang="zh-CN" altLang="en-US" sz="2400" dirty="0">
                <a:solidFill>
                  <a:srgbClr val="003366"/>
                </a:solidFill>
                <a:latin typeface="Times New Roman" pitchFamily="18" charset="0"/>
                <a:ea typeface="微软雅黑" pitchFamily="34" charset="-122"/>
                <a:cs typeface="Times New Roman" pitchFamily="18" charset="0"/>
              </a:rPr>
              <a:t>万元；若开工后天气不好，则会损失</a:t>
            </a:r>
            <a:r>
              <a:rPr lang="en-US" altLang="zh-CN" sz="2400" dirty="0">
                <a:solidFill>
                  <a:srgbClr val="003366"/>
                </a:solidFill>
                <a:latin typeface="Times New Roman" pitchFamily="18" charset="0"/>
                <a:ea typeface="微软雅黑" pitchFamily="34" charset="-122"/>
                <a:cs typeface="Times New Roman" pitchFamily="18" charset="0"/>
              </a:rPr>
              <a:t>800</a:t>
            </a:r>
            <a:r>
              <a:rPr lang="zh-CN" altLang="en-US" sz="2400" dirty="0">
                <a:solidFill>
                  <a:srgbClr val="003366"/>
                </a:solidFill>
                <a:latin typeface="Times New Roman" pitchFamily="18" charset="0"/>
                <a:ea typeface="微软雅黑" pitchFamily="34" charset="-122"/>
                <a:cs typeface="Times New Roman" pitchFamily="18" charset="0"/>
              </a:rPr>
              <a:t>万元；若不开工，不管天气如何，都要因为窝工造成损失</a:t>
            </a:r>
            <a:r>
              <a:rPr lang="en-US" altLang="zh-CN" sz="2400" dirty="0">
                <a:solidFill>
                  <a:srgbClr val="003366"/>
                </a:solidFill>
                <a:latin typeface="Times New Roman" pitchFamily="18" charset="0"/>
                <a:ea typeface="微软雅黑" pitchFamily="34" charset="-122"/>
                <a:cs typeface="Times New Roman" pitchFamily="18" charset="0"/>
              </a:rPr>
              <a:t>180</a:t>
            </a:r>
            <a:r>
              <a:rPr lang="zh-CN" altLang="en-US" sz="2400" dirty="0">
                <a:solidFill>
                  <a:srgbClr val="003366"/>
                </a:solidFill>
                <a:latin typeface="Times New Roman" pitchFamily="18" charset="0"/>
                <a:ea typeface="微软雅黑" pitchFamily="34" charset="-122"/>
                <a:cs typeface="Times New Roman" pitchFamily="18" charset="0"/>
              </a:rPr>
              <a:t>万元。根据气象部门预测，下个月天气好的概率为</a:t>
            </a:r>
            <a:r>
              <a:rPr lang="en-US" altLang="zh-CN" sz="2400" dirty="0">
                <a:solidFill>
                  <a:srgbClr val="003366"/>
                </a:solidFill>
                <a:latin typeface="Times New Roman" pitchFamily="18" charset="0"/>
                <a:ea typeface="微软雅黑" pitchFamily="34" charset="-122"/>
                <a:cs typeface="Times New Roman" pitchFamily="18" charset="0"/>
              </a:rPr>
              <a:t>0.6</a:t>
            </a:r>
            <a:r>
              <a:rPr lang="zh-CN" altLang="en-US" sz="2400" dirty="0">
                <a:solidFill>
                  <a:srgbClr val="003366"/>
                </a:solidFill>
                <a:latin typeface="Times New Roman" pitchFamily="18" charset="0"/>
                <a:ea typeface="微软雅黑" pitchFamily="34" charset="-122"/>
                <a:cs typeface="Times New Roman" pitchFamily="18" charset="0"/>
              </a:rPr>
              <a:t>，天气坏的概率为</a:t>
            </a:r>
            <a:r>
              <a:rPr lang="en-US" altLang="zh-CN" sz="2400" dirty="0">
                <a:solidFill>
                  <a:srgbClr val="003366"/>
                </a:solidFill>
                <a:latin typeface="Times New Roman" pitchFamily="18" charset="0"/>
                <a:ea typeface="微软雅黑" pitchFamily="34" charset="-122"/>
                <a:cs typeface="Times New Roman" pitchFamily="18" charset="0"/>
              </a:rPr>
              <a:t>0.4</a:t>
            </a:r>
            <a:r>
              <a:rPr lang="zh-CN" altLang="en-US" sz="2400" dirty="0">
                <a:solidFill>
                  <a:srgbClr val="003366"/>
                </a:solidFill>
                <a:latin typeface="Times New Roman" pitchFamily="18" charset="0"/>
                <a:ea typeface="微软雅黑" pitchFamily="34" charset="-122"/>
                <a:cs typeface="Times New Roman" pitchFamily="18" charset="0"/>
              </a:rPr>
              <a:t>。</a:t>
            </a:r>
          </a:p>
        </p:txBody>
      </p:sp>
    </p:spTree>
    <p:extLst>
      <p:ext uri="{BB962C8B-B14F-4D97-AF65-F5344CB8AC3E}">
        <p14:creationId xmlns:p14="http://schemas.microsoft.com/office/powerpoint/2010/main" val="2054289031"/>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矩形 9"/>
          <p:cNvSpPr>
            <a:spLocks noChangeArrowheads="1"/>
          </p:cNvSpPr>
          <p:nvPr/>
        </p:nvSpPr>
        <p:spPr bwMode="auto">
          <a:xfrm>
            <a:off x="1441494" y="368609"/>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数据驱动的统计决策方法</a:t>
            </a:r>
            <a:endParaRPr lang="zh-CN" altLang="en-US" sz="3200" dirty="0">
              <a:solidFill>
                <a:schemeClr val="bg1"/>
              </a:solidFill>
              <a:latin typeface="Times New Roman" pitchFamily="18" charset="0"/>
              <a:ea typeface="微软雅黑" pitchFamily="34" charset="-122"/>
              <a:cs typeface="Times New Roman" pitchFamily="18" charset="0"/>
            </a:endParaRPr>
          </a:p>
        </p:txBody>
      </p:sp>
      <p:sp>
        <p:nvSpPr>
          <p:cNvPr id="8" name="矩形 7"/>
          <p:cNvSpPr/>
          <p:nvPr/>
        </p:nvSpPr>
        <p:spPr>
          <a:xfrm>
            <a:off x="431471" y="1088701"/>
            <a:ext cx="8148966" cy="2923877"/>
          </a:xfrm>
          <a:prstGeom prst="rect">
            <a:avLst/>
          </a:prstGeom>
        </p:spPr>
        <p:txBody>
          <a:bodyPr wrap="square">
            <a:spAutoFit/>
          </a:bodyPr>
          <a:lstStyle/>
          <a:p>
            <a:r>
              <a:rPr lang="zh-CN" altLang="en-US" sz="2400" b="1" dirty="0">
                <a:solidFill>
                  <a:srgbClr val="C00000"/>
                </a:solidFill>
                <a:latin typeface="Times New Roman" pitchFamily="18" charset="0"/>
                <a:ea typeface="微软雅黑" pitchFamily="34" charset="-122"/>
                <a:cs typeface="Times New Roman" pitchFamily="18" charset="0"/>
              </a:rPr>
              <a:t>期望值准则：</a:t>
            </a:r>
            <a:endParaRPr lang="en-US" altLang="zh-CN" sz="2400" b="1" dirty="0">
              <a:solidFill>
                <a:srgbClr val="C00000"/>
              </a:solidFill>
              <a:latin typeface="Times New Roman" pitchFamily="18" charset="0"/>
              <a:ea typeface="微软雅黑" pitchFamily="34" charset="-122"/>
              <a:cs typeface="Times New Roman" pitchFamily="18" charset="0"/>
            </a:endParaRPr>
          </a:p>
          <a:p>
            <a:r>
              <a:rPr lang="zh-CN" altLang="en-US" sz="2400" dirty="0">
                <a:solidFill>
                  <a:srgbClr val="003366"/>
                </a:solidFill>
                <a:latin typeface="Times New Roman" pitchFamily="18" charset="0"/>
                <a:ea typeface="微软雅黑" pitchFamily="34" charset="-122"/>
                <a:cs typeface="Times New Roman" pitchFamily="18" charset="0"/>
              </a:rPr>
              <a:t>       </a:t>
            </a:r>
            <a:r>
              <a:rPr lang="zh-CN" altLang="en-US" sz="2200" dirty="0">
                <a:solidFill>
                  <a:srgbClr val="003366"/>
                </a:solidFill>
                <a:latin typeface="Times New Roman" pitchFamily="18" charset="0"/>
                <a:ea typeface="微软雅黑" pitchFamily="34" charset="-122"/>
                <a:cs typeface="Times New Roman" pitchFamily="18" charset="0"/>
              </a:rPr>
              <a:t>根据各自然状态发生的概率，求不同方案的期望损益值，取其中最好者对应的方案为最优方案。若损益值为利润或者收益，则期望损益值即为期望利润或期望收益，取其最大者对应的方案为最优方案；若损益值为成本或损失，则期望损益值即为期望成本或期望损失，取其最小者对应的方案为最优方案。</a:t>
            </a:r>
          </a:p>
          <a:p>
            <a:r>
              <a:rPr lang="zh-CN" altLang="en-US" sz="2400" b="1" dirty="0">
                <a:solidFill>
                  <a:srgbClr val="FF0000"/>
                </a:solidFill>
                <a:latin typeface="Times New Roman" pitchFamily="18" charset="0"/>
                <a:ea typeface="微软雅黑" pitchFamily="34" charset="-122"/>
                <a:cs typeface="Times New Roman" pitchFamily="18" charset="0"/>
              </a:rPr>
              <a:t>       </a:t>
            </a:r>
            <a:endParaRPr lang="en-US" altLang="zh-CN" sz="2400" b="1" dirty="0">
              <a:solidFill>
                <a:srgbClr val="FF0000"/>
              </a:solidFill>
              <a:latin typeface="Times New Roman" pitchFamily="18" charset="0"/>
              <a:ea typeface="微软雅黑" pitchFamily="34" charset="-122"/>
              <a:cs typeface="Times New Roman" pitchFamily="18" charset="0"/>
            </a:endParaRPr>
          </a:p>
          <a:p>
            <a:r>
              <a:rPr lang="zh-CN" altLang="en-US" sz="2400" b="1" dirty="0">
                <a:solidFill>
                  <a:srgbClr val="FF0000"/>
                </a:solidFill>
                <a:latin typeface="Times New Roman" pitchFamily="18" charset="0"/>
                <a:ea typeface="微软雅黑" pitchFamily="34" charset="-122"/>
                <a:cs typeface="Times New Roman" pitchFamily="18" charset="0"/>
              </a:rPr>
              <a:t>期望损益值计算公式：</a:t>
            </a:r>
          </a:p>
        </p:txBody>
      </p:sp>
      <p:pic>
        <p:nvPicPr>
          <p:cNvPr id="839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6384" y="4041904"/>
            <a:ext cx="364807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4" name="矩形 3"/>
              <p:cNvSpPr/>
              <p:nvPr/>
            </p:nvSpPr>
            <p:spPr>
              <a:xfrm>
                <a:off x="791517" y="5049207"/>
                <a:ext cx="692580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b="1" i="1" smtClean="0">
                          <a:solidFill>
                            <a:srgbClr val="0070C0"/>
                          </a:solidFill>
                          <a:latin typeface="Cambria Math"/>
                          <a:ea typeface="+mn-ea"/>
                        </a:rPr>
                        <m:t>开工：</m:t>
                      </m:r>
                      <m:r>
                        <a:rPr lang="en-US" altLang="zh-CN" sz="2400" b="1" i="1" smtClean="0">
                          <a:solidFill>
                            <a:srgbClr val="0070C0"/>
                          </a:solidFill>
                          <a:latin typeface="Cambria Math"/>
                          <a:ea typeface="+mn-ea"/>
                        </a:rPr>
                        <m:t>  </m:t>
                      </m:r>
                      <m:r>
                        <a:rPr lang="zh-CN" altLang="en-US" sz="2400" i="1">
                          <a:latin typeface="Cambria Math"/>
                        </a:rPr>
                        <m:t>𝐸</m:t>
                      </m:r>
                      <m:r>
                        <a:rPr lang="zh-CN" altLang="en-US" sz="2400">
                          <a:latin typeface="Cambria Math"/>
                        </a:rPr>
                        <m:t>(</m:t>
                      </m:r>
                      <m:sSub>
                        <m:sSubPr>
                          <m:ctrlPr>
                            <a:rPr lang="zh-CN" altLang="en-US" sz="2400" i="1">
                              <a:latin typeface="Cambria Math" panose="02040503050406030204" pitchFamily="18" charset="0"/>
                            </a:rPr>
                          </m:ctrlPr>
                        </m:sSubPr>
                        <m:e>
                          <m:r>
                            <a:rPr lang="zh-CN" altLang="en-US" sz="2400" i="1">
                              <a:latin typeface="Cambria Math"/>
                            </a:rPr>
                            <m:t>𝑠</m:t>
                          </m:r>
                        </m:e>
                        <m:sub>
                          <m:r>
                            <a:rPr lang="zh-CN" altLang="en-US" sz="2400">
                              <a:latin typeface="Cambria Math"/>
                            </a:rPr>
                            <m:t>1</m:t>
                          </m:r>
                        </m:sub>
                      </m:sSub>
                      <m:r>
                        <a:rPr lang="zh-CN" altLang="en-US" sz="2400">
                          <a:latin typeface="Cambria Math"/>
                        </a:rPr>
                        <m:t>)=1000×0.6+(−800)×0.4=280</m:t>
                      </m:r>
                    </m:oMath>
                  </m:oMathPara>
                </a14:m>
                <a:endParaRPr lang="zh-CN" altLang="en-US" sz="2400" dirty="0"/>
              </a:p>
            </p:txBody>
          </p:sp>
        </mc:Choice>
        <mc:Fallback xmlns="">
          <p:sp>
            <p:nvSpPr>
              <p:cNvPr id="4" name="矩形 3"/>
              <p:cNvSpPr>
                <a:spLocks noRot="1" noChangeAspect="1" noMove="1" noResize="1" noEditPoints="1" noAdjustHandles="1" noChangeArrowheads="1" noChangeShapeType="1" noTextEdit="1"/>
              </p:cNvSpPr>
              <p:nvPr/>
            </p:nvSpPr>
            <p:spPr>
              <a:xfrm>
                <a:off x="791517" y="5049207"/>
                <a:ext cx="6925807" cy="461665"/>
              </a:xfrm>
              <a:prstGeom prst="rect">
                <a:avLst/>
              </a:prstGeom>
              <a:blipFill rotWithShape="1">
                <a:blip r:embed="rId3"/>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791517" y="5565713"/>
                <a:ext cx="772410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b="1" i="1" smtClean="0">
                          <a:solidFill>
                            <a:srgbClr val="0070C0"/>
                          </a:solidFill>
                          <a:latin typeface="Cambria Math"/>
                          <a:ea typeface="+mn-ea"/>
                        </a:rPr>
                        <m:t>不开工：</m:t>
                      </m:r>
                      <m:r>
                        <a:rPr lang="en-US" altLang="zh-CN" sz="2400" b="1" i="1" smtClean="0">
                          <a:solidFill>
                            <a:srgbClr val="0070C0"/>
                          </a:solidFill>
                          <a:latin typeface="Cambria Math"/>
                          <a:ea typeface="+mn-ea"/>
                        </a:rPr>
                        <m:t>  </m:t>
                      </m:r>
                      <m:r>
                        <a:rPr lang="zh-CN" altLang="en-US" sz="2400" i="1">
                          <a:latin typeface="Cambria Math"/>
                        </a:rPr>
                        <m:t>𝐸</m:t>
                      </m:r>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a:rPr>
                                <m:t>𝑠</m:t>
                              </m:r>
                            </m:e>
                            <m:sub>
                              <m:r>
                                <a:rPr lang="en-US" altLang="zh-CN" sz="2400" b="0" i="0" smtClean="0">
                                  <a:latin typeface="Cambria Math"/>
                                </a:rPr>
                                <m:t>2</m:t>
                              </m:r>
                            </m:sub>
                          </m:sSub>
                        </m:e>
                      </m:d>
                      <m:r>
                        <a:rPr lang="zh-CN" altLang="en-US" sz="2400">
                          <a:latin typeface="Cambria Math"/>
                        </a:rPr>
                        <m:t>=</m:t>
                      </m:r>
                      <m:d>
                        <m:dPr>
                          <m:ctrlPr>
                            <a:rPr lang="en-US" altLang="zh-CN" sz="2400" b="0" i="1" smtClean="0">
                              <a:latin typeface="Cambria Math" panose="02040503050406030204" pitchFamily="18" charset="0"/>
                            </a:rPr>
                          </m:ctrlPr>
                        </m:dPr>
                        <m:e>
                          <m:r>
                            <a:rPr lang="en-US" altLang="zh-CN" sz="2400" b="0" i="1" smtClean="0">
                              <a:latin typeface="Cambria Math"/>
                            </a:rPr>
                            <m:t>−180</m:t>
                          </m:r>
                        </m:e>
                      </m:d>
                      <m:r>
                        <a:rPr lang="zh-CN" altLang="en-US" sz="2400">
                          <a:latin typeface="Cambria Math"/>
                        </a:rPr>
                        <m:t>×0.6+</m:t>
                      </m:r>
                      <m:d>
                        <m:dPr>
                          <m:ctrlPr>
                            <a:rPr lang="zh-CN" altLang="en-US" sz="2400" i="1">
                              <a:latin typeface="Cambria Math" panose="02040503050406030204" pitchFamily="18" charset="0"/>
                            </a:rPr>
                          </m:ctrlPr>
                        </m:dPr>
                        <m:e>
                          <m:r>
                            <a:rPr lang="zh-CN" altLang="en-US" sz="2400">
                              <a:latin typeface="Cambria Math"/>
                            </a:rPr>
                            <m:t>−</m:t>
                          </m:r>
                          <m:r>
                            <a:rPr lang="en-US" altLang="zh-CN" sz="2400" b="0" i="0" smtClean="0">
                              <a:latin typeface="Cambria Math"/>
                            </a:rPr>
                            <m:t>1</m:t>
                          </m:r>
                          <m:r>
                            <a:rPr lang="zh-CN" altLang="en-US" sz="2400">
                              <a:latin typeface="Cambria Math"/>
                            </a:rPr>
                            <m:t>80</m:t>
                          </m:r>
                        </m:e>
                      </m:d>
                      <m:r>
                        <a:rPr lang="zh-CN" altLang="en-US" sz="2400">
                          <a:latin typeface="Cambria Math"/>
                        </a:rPr>
                        <m:t>×0.4=</m:t>
                      </m:r>
                      <m:r>
                        <a:rPr lang="en-US" altLang="zh-CN" sz="2400" b="0" i="0" smtClean="0">
                          <a:latin typeface="Cambria Math"/>
                        </a:rPr>
                        <m:t>−1</m:t>
                      </m:r>
                      <m:r>
                        <a:rPr lang="zh-CN" altLang="en-US" sz="2400">
                          <a:latin typeface="Cambria Math"/>
                        </a:rPr>
                        <m:t>80</m:t>
                      </m:r>
                    </m:oMath>
                  </m:oMathPara>
                </a14:m>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791517" y="5565713"/>
                <a:ext cx="7724102" cy="461665"/>
              </a:xfrm>
              <a:prstGeom prst="rect">
                <a:avLst/>
              </a:prstGeom>
              <a:blipFill rotWithShape="1">
                <a:blip r:embed="rId4"/>
                <a:stretch>
                  <a:fillRect b="-131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85455770"/>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矩形 9"/>
          <p:cNvSpPr>
            <a:spLocks noChangeArrowheads="1"/>
          </p:cNvSpPr>
          <p:nvPr/>
        </p:nvSpPr>
        <p:spPr bwMode="auto">
          <a:xfrm>
            <a:off x="1441494" y="368609"/>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数据驱动的统计决策方法</a:t>
            </a:r>
            <a:endParaRPr lang="zh-CN" altLang="en-US" sz="3200" dirty="0">
              <a:solidFill>
                <a:schemeClr val="bg1"/>
              </a:solidFill>
              <a:latin typeface="Times New Roman" pitchFamily="18" charset="0"/>
              <a:ea typeface="微软雅黑" pitchFamily="34" charset="-122"/>
              <a:cs typeface="Times New Roman" pitchFamily="18" charset="0"/>
            </a:endParaRPr>
          </a:p>
        </p:txBody>
      </p:sp>
      <p:sp>
        <p:nvSpPr>
          <p:cNvPr id="8" name="矩形 7"/>
          <p:cNvSpPr/>
          <p:nvPr/>
        </p:nvSpPr>
        <p:spPr>
          <a:xfrm>
            <a:off x="440042" y="1808793"/>
            <a:ext cx="8148966" cy="4862870"/>
          </a:xfrm>
          <a:prstGeom prst="rect">
            <a:avLst/>
          </a:prstGeom>
        </p:spPr>
        <p:txBody>
          <a:bodyPr wrap="square">
            <a:spAutoFit/>
          </a:bodyPr>
          <a:lstStyle/>
          <a:p>
            <a:r>
              <a:rPr lang="zh-CN" altLang="en-US" sz="2200" b="1" dirty="0">
                <a:solidFill>
                  <a:srgbClr val="C00000"/>
                </a:solidFill>
                <a:latin typeface="Times New Roman" pitchFamily="18" charset="0"/>
                <a:ea typeface="微软雅黑" pitchFamily="34" charset="-122"/>
                <a:cs typeface="Times New Roman" pitchFamily="18" charset="0"/>
              </a:rPr>
              <a:t>案例：</a:t>
            </a:r>
            <a:endParaRPr lang="en-US" altLang="zh-CN" sz="2200" b="1" dirty="0">
              <a:solidFill>
                <a:srgbClr val="C00000"/>
              </a:solidFill>
              <a:latin typeface="Times New Roman" pitchFamily="18" charset="0"/>
              <a:ea typeface="微软雅黑" pitchFamily="34" charset="-122"/>
              <a:cs typeface="Times New Roman" pitchFamily="18" charset="0"/>
            </a:endParaRPr>
          </a:p>
          <a:p>
            <a:r>
              <a:rPr lang="en-US" altLang="zh-CN" sz="2200" b="1" dirty="0">
                <a:solidFill>
                  <a:srgbClr val="C00000"/>
                </a:solidFill>
                <a:latin typeface="Times New Roman" pitchFamily="18" charset="0"/>
                <a:ea typeface="微软雅黑" pitchFamily="34" charset="-122"/>
                <a:cs typeface="Times New Roman" pitchFamily="18" charset="0"/>
              </a:rPr>
              <a:t>        </a:t>
            </a:r>
            <a:r>
              <a:rPr lang="zh-CN" altLang="en-US" sz="2400" dirty="0">
                <a:solidFill>
                  <a:srgbClr val="003366"/>
                </a:solidFill>
                <a:latin typeface="Times New Roman" pitchFamily="18" charset="0"/>
                <a:ea typeface="微软雅黑" pitchFamily="34" charset="-122"/>
                <a:cs typeface="Times New Roman" pitchFamily="18" charset="0"/>
              </a:rPr>
              <a:t>某工程队承担一座桥梁的施工任务。由于施工地区夏季多雨，需停工三个月。在停工期间该工程队可将施工机械搬走或留在原处。</a:t>
            </a:r>
            <a:endParaRPr lang="en-US" altLang="zh-CN" sz="2400" dirty="0">
              <a:solidFill>
                <a:srgbClr val="003366"/>
              </a:solidFill>
              <a:latin typeface="Times New Roman" pitchFamily="18" charset="0"/>
              <a:ea typeface="微软雅黑" pitchFamily="34" charset="-122"/>
              <a:cs typeface="Times New Roman" pitchFamily="18" charset="0"/>
            </a:endParaRPr>
          </a:p>
          <a:p>
            <a:r>
              <a:rPr lang="en-US" altLang="zh-CN" sz="2400" dirty="0">
                <a:solidFill>
                  <a:srgbClr val="003366"/>
                </a:solidFill>
                <a:latin typeface="Times New Roman" pitchFamily="18" charset="0"/>
                <a:ea typeface="微软雅黑" pitchFamily="34" charset="-122"/>
                <a:cs typeface="Times New Roman" pitchFamily="18" charset="0"/>
              </a:rPr>
              <a:t>     </a:t>
            </a:r>
            <a:r>
              <a:rPr lang="en-US" altLang="zh-CN" sz="2400" dirty="0">
                <a:solidFill>
                  <a:srgbClr val="003366"/>
                </a:solidFill>
                <a:latin typeface="+mn-ea"/>
                <a:ea typeface="+mn-ea"/>
                <a:cs typeface="Times New Roman" pitchFamily="18" charset="0"/>
              </a:rPr>
              <a:t> (1) </a:t>
            </a:r>
            <a:r>
              <a:rPr lang="zh-CN" altLang="en-US" sz="2400" dirty="0">
                <a:solidFill>
                  <a:srgbClr val="003366"/>
                </a:solidFill>
                <a:latin typeface="+mn-ea"/>
                <a:ea typeface="+mn-ea"/>
                <a:cs typeface="Times New Roman" pitchFamily="18" charset="0"/>
              </a:rPr>
              <a:t>如搬走，需搬运费</a:t>
            </a:r>
            <a:r>
              <a:rPr lang="en-US" altLang="zh-CN" sz="2400" dirty="0">
                <a:solidFill>
                  <a:srgbClr val="003366"/>
                </a:solidFill>
                <a:latin typeface="+mn-ea"/>
                <a:ea typeface="+mn-ea"/>
                <a:cs typeface="Times New Roman" pitchFamily="18" charset="0"/>
              </a:rPr>
              <a:t>1800</a:t>
            </a:r>
            <a:r>
              <a:rPr lang="zh-CN" altLang="en-US" sz="2400" dirty="0">
                <a:solidFill>
                  <a:srgbClr val="003366"/>
                </a:solidFill>
                <a:latin typeface="+mn-ea"/>
                <a:ea typeface="+mn-ea"/>
                <a:cs typeface="Times New Roman" pitchFamily="18" charset="0"/>
              </a:rPr>
              <a:t>元。</a:t>
            </a:r>
            <a:endParaRPr lang="en-US" altLang="zh-CN" sz="2400" dirty="0">
              <a:solidFill>
                <a:srgbClr val="003366"/>
              </a:solidFill>
              <a:latin typeface="+mn-ea"/>
              <a:ea typeface="+mn-ea"/>
              <a:cs typeface="Times New Roman" pitchFamily="18" charset="0"/>
            </a:endParaRPr>
          </a:p>
          <a:p>
            <a:r>
              <a:rPr lang="en-US" altLang="zh-CN" sz="2400" dirty="0">
                <a:solidFill>
                  <a:srgbClr val="003366"/>
                </a:solidFill>
                <a:latin typeface="+mn-ea"/>
                <a:ea typeface="+mn-ea"/>
                <a:cs typeface="Times New Roman" pitchFamily="18" charset="0"/>
              </a:rPr>
              <a:t>     (2) </a:t>
            </a:r>
            <a:r>
              <a:rPr lang="zh-CN" altLang="en-US" sz="2400" dirty="0">
                <a:solidFill>
                  <a:srgbClr val="003366"/>
                </a:solidFill>
                <a:latin typeface="Times New Roman" pitchFamily="18" charset="0"/>
                <a:ea typeface="微软雅黑" pitchFamily="34" charset="-122"/>
                <a:cs typeface="Times New Roman" pitchFamily="18" charset="0"/>
              </a:rPr>
              <a:t>如留在原处，一种方案是花</a:t>
            </a:r>
            <a:r>
              <a:rPr lang="en-US" altLang="zh-CN" sz="2400" dirty="0">
                <a:solidFill>
                  <a:srgbClr val="003366"/>
                </a:solidFill>
                <a:latin typeface="Times New Roman" pitchFamily="18" charset="0"/>
                <a:ea typeface="微软雅黑" pitchFamily="34" charset="-122"/>
                <a:cs typeface="Times New Roman" pitchFamily="18" charset="0"/>
              </a:rPr>
              <a:t>500</a:t>
            </a:r>
            <a:r>
              <a:rPr lang="zh-CN" altLang="en-US" sz="2400" dirty="0">
                <a:solidFill>
                  <a:srgbClr val="003366"/>
                </a:solidFill>
                <a:latin typeface="Times New Roman" pitchFamily="18" charset="0"/>
                <a:ea typeface="微软雅黑" pitchFamily="34" charset="-122"/>
                <a:cs typeface="Times New Roman" pitchFamily="18" charset="0"/>
              </a:rPr>
              <a:t>元筑一护堤，防止河水上涨发生高水位的侵袭。若不筑护堤，发生高水位侵袭时将损失</a:t>
            </a:r>
            <a:r>
              <a:rPr lang="en-US" altLang="zh-CN" sz="2400" dirty="0">
                <a:solidFill>
                  <a:srgbClr val="003366"/>
                </a:solidFill>
                <a:latin typeface="Times New Roman" pitchFamily="18" charset="0"/>
                <a:ea typeface="微软雅黑" pitchFamily="34" charset="-122"/>
                <a:cs typeface="Times New Roman" pitchFamily="18" charset="0"/>
              </a:rPr>
              <a:t>10000</a:t>
            </a:r>
            <a:r>
              <a:rPr lang="zh-CN" altLang="en-US" sz="2400" dirty="0">
                <a:solidFill>
                  <a:srgbClr val="003366"/>
                </a:solidFill>
                <a:latin typeface="Times New Roman" pitchFamily="18" charset="0"/>
                <a:ea typeface="微软雅黑" pitchFamily="34" charset="-122"/>
                <a:cs typeface="Times New Roman" pitchFamily="18" charset="0"/>
              </a:rPr>
              <a:t>元。如下暴雨发生洪水时，则不管是否筑护堤，施工机械留在原处都将受到</a:t>
            </a:r>
            <a:r>
              <a:rPr lang="en-US" altLang="zh-CN" sz="2400" dirty="0">
                <a:solidFill>
                  <a:srgbClr val="003366"/>
                </a:solidFill>
                <a:latin typeface="Times New Roman" pitchFamily="18" charset="0"/>
                <a:ea typeface="微软雅黑" pitchFamily="34" charset="-122"/>
                <a:cs typeface="Times New Roman" pitchFamily="18" charset="0"/>
              </a:rPr>
              <a:t>60000</a:t>
            </a:r>
            <a:r>
              <a:rPr lang="zh-CN" altLang="en-US" sz="2400" dirty="0">
                <a:solidFill>
                  <a:srgbClr val="003366"/>
                </a:solidFill>
                <a:latin typeface="Times New Roman" pitchFamily="18" charset="0"/>
                <a:ea typeface="微软雅黑" pitchFamily="34" charset="-122"/>
                <a:cs typeface="Times New Roman" pitchFamily="18" charset="0"/>
              </a:rPr>
              <a:t>元的损失。据历史资料，该地区夏季高水位的发生率是</a:t>
            </a:r>
            <a:r>
              <a:rPr lang="en-US" altLang="zh-CN" sz="2400" dirty="0">
                <a:solidFill>
                  <a:srgbClr val="003366"/>
                </a:solidFill>
                <a:latin typeface="Times New Roman" pitchFamily="18" charset="0"/>
                <a:ea typeface="微软雅黑" pitchFamily="34" charset="-122"/>
                <a:cs typeface="Times New Roman" pitchFamily="18" charset="0"/>
              </a:rPr>
              <a:t>25</a:t>
            </a:r>
            <a:r>
              <a:rPr lang="zh-CN" altLang="en-US" sz="2400" dirty="0">
                <a:solidFill>
                  <a:srgbClr val="003366"/>
                </a:solidFill>
                <a:latin typeface="Times New Roman" pitchFamily="18" charset="0"/>
                <a:ea typeface="微软雅黑" pitchFamily="34" charset="-122"/>
                <a:cs typeface="Times New Roman" pitchFamily="18" charset="0"/>
              </a:rPr>
              <a:t>％，洪水的发生率是</a:t>
            </a:r>
            <a:r>
              <a:rPr lang="en-US" altLang="zh-CN" sz="2400" dirty="0">
                <a:solidFill>
                  <a:srgbClr val="003366"/>
                </a:solidFill>
                <a:latin typeface="Times New Roman" pitchFamily="18" charset="0"/>
                <a:ea typeface="微软雅黑" pitchFamily="34" charset="-122"/>
                <a:cs typeface="Times New Roman" pitchFamily="18" charset="0"/>
              </a:rPr>
              <a:t>2</a:t>
            </a:r>
            <a:r>
              <a:rPr lang="zh-CN" altLang="en-US" sz="2400" dirty="0">
                <a:solidFill>
                  <a:srgbClr val="003366"/>
                </a:solidFill>
                <a:latin typeface="Times New Roman" pitchFamily="18" charset="0"/>
                <a:ea typeface="微软雅黑" pitchFamily="34" charset="-122"/>
                <a:cs typeface="Times New Roman" pitchFamily="18" charset="0"/>
              </a:rPr>
              <a:t>％。</a:t>
            </a:r>
            <a:endParaRPr lang="en-US" altLang="zh-CN" sz="2400" dirty="0">
              <a:solidFill>
                <a:srgbClr val="003366"/>
              </a:solidFill>
              <a:latin typeface="Times New Roman" pitchFamily="18" charset="0"/>
              <a:ea typeface="微软雅黑" pitchFamily="34" charset="-122"/>
              <a:cs typeface="Times New Roman" pitchFamily="18" charset="0"/>
            </a:endParaRPr>
          </a:p>
          <a:p>
            <a:r>
              <a:rPr lang="zh-CN" altLang="en-US" sz="2400" dirty="0">
                <a:solidFill>
                  <a:srgbClr val="003366"/>
                </a:solidFill>
                <a:latin typeface="Times New Roman" pitchFamily="18" charset="0"/>
                <a:ea typeface="微软雅黑" pitchFamily="34" charset="-122"/>
                <a:cs typeface="Times New Roman" pitchFamily="18" charset="0"/>
              </a:rPr>
              <a:t>      试用决策树法分析该施工队要不要把施工机械搬走及要不要筑护堤</a:t>
            </a:r>
            <a:r>
              <a:rPr lang="en-US" altLang="zh-CN" sz="2400" dirty="0">
                <a:solidFill>
                  <a:srgbClr val="003366"/>
                </a:solidFill>
                <a:latin typeface="Times New Roman" pitchFamily="18" charset="0"/>
                <a:ea typeface="微软雅黑" pitchFamily="34" charset="-122"/>
                <a:cs typeface="Times New Roman" pitchFamily="18" charset="0"/>
              </a:rPr>
              <a:t>?</a:t>
            </a:r>
          </a:p>
        </p:txBody>
      </p:sp>
      <p:sp>
        <p:nvSpPr>
          <p:cNvPr id="5" name="Text Box 21"/>
          <p:cNvSpPr txBox="1">
            <a:spLocks noChangeArrowheads="1"/>
          </p:cNvSpPr>
          <p:nvPr/>
        </p:nvSpPr>
        <p:spPr bwMode="auto">
          <a:xfrm>
            <a:off x="23813" y="1050925"/>
            <a:ext cx="617280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algn="just" eaLnBrk="1" hangingPunct="1">
              <a:spcBef>
                <a:spcPct val="50000"/>
              </a:spcBef>
            </a:pPr>
            <a:r>
              <a:rPr kumimoji="1" lang="en-US" altLang="zh-CN" sz="3200" b="1" dirty="0">
                <a:solidFill>
                  <a:srgbClr val="FF0000"/>
                </a:solidFill>
                <a:latin typeface="微软雅黑" pitchFamily="34" charset="-122"/>
                <a:ea typeface="微软雅黑" pitchFamily="34" charset="-122"/>
              </a:rPr>
              <a:t>2. </a:t>
            </a:r>
            <a:r>
              <a:rPr kumimoji="1" lang="zh-CN" altLang="en-US" sz="3200" b="1" dirty="0">
                <a:solidFill>
                  <a:srgbClr val="FF0000"/>
                </a:solidFill>
                <a:latin typeface="微软雅黑" pitchFamily="34" charset="-122"/>
                <a:ea typeface="微软雅黑" pitchFamily="34" charset="-122"/>
              </a:rPr>
              <a:t>决策树分析法</a:t>
            </a:r>
          </a:p>
        </p:txBody>
      </p:sp>
    </p:spTree>
    <p:extLst>
      <p:ext uri="{BB962C8B-B14F-4D97-AF65-F5344CB8AC3E}">
        <p14:creationId xmlns:p14="http://schemas.microsoft.com/office/powerpoint/2010/main" val="224759572"/>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矩形 9"/>
          <p:cNvSpPr>
            <a:spLocks noChangeArrowheads="1"/>
          </p:cNvSpPr>
          <p:nvPr/>
        </p:nvSpPr>
        <p:spPr bwMode="auto">
          <a:xfrm>
            <a:off x="1441494" y="368609"/>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数据驱动的统计决策方法</a:t>
            </a:r>
            <a:endParaRPr lang="zh-CN" altLang="en-US" sz="3200" dirty="0">
              <a:solidFill>
                <a:schemeClr val="bg1"/>
              </a:solidFill>
              <a:latin typeface="Times New Roman" pitchFamily="18" charset="0"/>
              <a:ea typeface="微软雅黑" pitchFamily="34" charset="-122"/>
              <a:cs typeface="Times New Roman" pitchFamily="18" charset="0"/>
            </a:endParaRPr>
          </a:p>
        </p:txBody>
      </p:sp>
      <p:sp>
        <p:nvSpPr>
          <p:cNvPr id="2" name="矩形 1"/>
          <p:cNvSpPr/>
          <p:nvPr/>
        </p:nvSpPr>
        <p:spPr>
          <a:xfrm>
            <a:off x="611494" y="4674870"/>
            <a:ext cx="7121305" cy="1938992"/>
          </a:xfrm>
          <a:prstGeom prst="rect">
            <a:avLst/>
          </a:prstGeom>
        </p:spPr>
        <p:txBody>
          <a:bodyPr wrap="square">
            <a:spAutoFit/>
          </a:bodyPr>
          <a:lstStyle/>
          <a:p>
            <a:r>
              <a:rPr lang="zh-CN" altLang="en-US" sz="2000" dirty="0">
                <a:solidFill>
                  <a:srgbClr val="003366"/>
                </a:solidFill>
                <a:latin typeface="Times New Roman" pitchFamily="18" charset="0"/>
                <a:ea typeface="微软雅黑" pitchFamily="34" charset="-122"/>
                <a:cs typeface="Times New Roman" pitchFamily="18" charset="0"/>
              </a:rPr>
              <a:t>  </a:t>
            </a:r>
            <a:r>
              <a:rPr lang="zh-CN" altLang="en-US" sz="2000" b="1" dirty="0">
                <a:solidFill>
                  <a:srgbClr val="C00000"/>
                </a:solidFill>
                <a:latin typeface="Times New Roman" pitchFamily="18" charset="0"/>
                <a:ea typeface="微软雅黑" pitchFamily="34" charset="-122"/>
                <a:cs typeface="Times New Roman" pitchFamily="18" charset="0"/>
              </a:rPr>
              <a:t>（</a:t>
            </a:r>
            <a:r>
              <a:rPr lang="en-US" altLang="zh-CN" sz="2000" b="1" dirty="0">
                <a:solidFill>
                  <a:srgbClr val="C00000"/>
                </a:solidFill>
                <a:latin typeface="Times New Roman" pitchFamily="18" charset="0"/>
                <a:ea typeface="微软雅黑" pitchFamily="34" charset="-122"/>
                <a:cs typeface="Times New Roman" pitchFamily="18" charset="0"/>
              </a:rPr>
              <a:t>1</a:t>
            </a:r>
            <a:r>
              <a:rPr lang="zh-CN" altLang="en-US" sz="2000" b="1" dirty="0">
                <a:solidFill>
                  <a:srgbClr val="C00000"/>
                </a:solidFill>
                <a:latin typeface="Times New Roman" pitchFamily="18" charset="0"/>
                <a:ea typeface="微软雅黑" pitchFamily="34" charset="-122"/>
                <a:cs typeface="Times New Roman" pitchFamily="18" charset="0"/>
              </a:rPr>
              <a:t>）决策点：</a:t>
            </a:r>
            <a:r>
              <a:rPr lang="zh-CN" altLang="en-US" sz="2000" dirty="0">
                <a:solidFill>
                  <a:srgbClr val="003366"/>
                </a:solidFill>
                <a:latin typeface="Times New Roman" pitchFamily="18" charset="0"/>
                <a:ea typeface="微软雅黑" pitchFamily="34" charset="-122"/>
                <a:cs typeface="Times New Roman" pitchFamily="18" charset="0"/>
              </a:rPr>
              <a:t>一般用方框表示，即树的根，从该点引出的分枝称为方案枝，表示各种可行方案。</a:t>
            </a:r>
          </a:p>
          <a:p>
            <a:r>
              <a:rPr lang="zh-CN" altLang="en-US" sz="2000" dirty="0">
                <a:solidFill>
                  <a:srgbClr val="003366"/>
                </a:solidFill>
                <a:latin typeface="Times New Roman" pitchFamily="18" charset="0"/>
                <a:ea typeface="微软雅黑" pitchFamily="34" charset="-122"/>
                <a:cs typeface="Times New Roman" pitchFamily="18" charset="0"/>
              </a:rPr>
              <a:t>  </a:t>
            </a:r>
            <a:r>
              <a:rPr lang="zh-CN" altLang="en-US" sz="2000" b="1" dirty="0">
                <a:solidFill>
                  <a:srgbClr val="C00000"/>
                </a:solidFill>
                <a:latin typeface="Times New Roman" pitchFamily="18" charset="0"/>
                <a:ea typeface="微软雅黑" pitchFamily="34" charset="-122"/>
                <a:cs typeface="Times New Roman" pitchFamily="18" charset="0"/>
              </a:rPr>
              <a:t>（</a:t>
            </a:r>
            <a:r>
              <a:rPr lang="en-US" altLang="zh-CN" sz="2000" b="1" dirty="0">
                <a:solidFill>
                  <a:srgbClr val="C00000"/>
                </a:solidFill>
                <a:latin typeface="Times New Roman" pitchFamily="18" charset="0"/>
                <a:ea typeface="微软雅黑" pitchFamily="34" charset="-122"/>
                <a:cs typeface="Times New Roman" pitchFamily="18" charset="0"/>
              </a:rPr>
              <a:t>2</a:t>
            </a:r>
            <a:r>
              <a:rPr lang="zh-CN" altLang="en-US" sz="2000" b="1" dirty="0">
                <a:solidFill>
                  <a:srgbClr val="C00000"/>
                </a:solidFill>
                <a:latin typeface="Times New Roman" pitchFamily="18" charset="0"/>
                <a:ea typeface="微软雅黑" pitchFamily="34" charset="-122"/>
                <a:cs typeface="Times New Roman" pitchFamily="18" charset="0"/>
              </a:rPr>
              <a:t>）状态点：</a:t>
            </a:r>
            <a:r>
              <a:rPr lang="zh-CN" altLang="en-US" sz="2000" dirty="0">
                <a:solidFill>
                  <a:srgbClr val="003366"/>
                </a:solidFill>
                <a:latin typeface="Times New Roman" pitchFamily="18" charset="0"/>
                <a:ea typeface="微软雅黑" pitchFamily="34" charset="-122"/>
                <a:cs typeface="Times New Roman" pitchFamily="18" charset="0"/>
              </a:rPr>
              <a:t>一般用各方案枝末端的圆圈表示，从该点引出的几个分枝称为概率枝，表示每个状态发生的概率。</a:t>
            </a:r>
          </a:p>
          <a:p>
            <a:r>
              <a:rPr lang="zh-CN" altLang="en-US" sz="2000" dirty="0">
                <a:solidFill>
                  <a:srgbClr val="003366"/>
                </a:solidFill>
                <a:latin typeface="Times New Roman" pitchFamily="18" charset="0"/>
                <a:ea typeface="微软雅黑" pitchFamily="34" charset="-122"/>
                <a:cs typeface="Times New Roman" pitchFamily="18" charset="0"/>
              </a:rPr>
              <a:t>  </a:t>
            </a:r>
            <a:r>
              <a:rPr lang="zh-CN" altLang="en-US" sz="2000" b="1" dirty="0">
                <a:solidFill>
                  <a:srgbClr val="C00000"/>
                </a:solidFill>
                <a:latin typeface="Times New Roman" pitchFamily="18" charset="0"/>
                <a:ea typeface="微软雅黑" pitchFamily="34" charset="-122"/>
                <a:cs typeface="Times New Roman" pitchFamily="18" charset="0"/>
              </a:rPr>
              <a:t>（</a:t>
            </a:r>
            <a:r>
              <a:rPr lang="en-US" altLang="zh-CN" sz="2000" b="1" dirty="0">
                <a:solidFill>
                  <a:srgbClr val="C00000"/>
                </a:solidFill>
                <a:latin typeface="Times New Roman" pitchFamily="18" charset="0"/>
                <a:ea typeface="微软雅黑" pitchFamily="34" charset="-122"/>
                <a:cs typeface="Times New Roman" pitchFamily="18" charset="0"/>
              </a:rPr>
              <a:t>3</a:t>
            </a:r>
            <a:r>
              <a:rPr lang="zh-CN" altLang="en-US" sz="2000" b="1" dirty="0">
                <a:solidFill>
                  <a:srgbClr val="C00000"/>
                </a:solidFill>
                <a:latin typeface="Times New Roman" pitchFamily="18" charset="0"/>
                <a:ea typeface="微软雅黑" pitchFamily="34" charset="-122"/>
                <a:cs typeface="Times New Roman" pitchFamily="18" charset="0"/>
              </a:rPr>
              <a:t>）结果点：</a:t>
            </a:r>
            <a:r>
              <a:rPr lang="zh-CN" altLang="en-US" sz="2000" dirty="0">
                <a:solidFill>
                  <a:srgbClr val="003366"/>
                </a:solidFill>
                <a:latin typeface="Times New Roman" pitchFamily="18" charset="0"/>
                <a:ea typeface="微软雅黑" pitchFamily="34" charset="-122"/>
                <a:cs typeface="Times New Roman" pitchFamily="18" charset="0"/>
              </a:rPr>
              <a:t>一般用三角符号表示，它后面的数字表示某个方案在某种状态下的报酬值。</a:t>
            </a:r>
          </a:p>
        </p:txBody>
      </p:sp>
      <p:pic>
        <p:nvPicPr>
          <p:cNvPr id="849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30" y="953384"/>
            <a:ext cx="7296158" cy="3606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07980078"/>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矩形 9"/>
          <p:cNvSpPr>
            <a:spLocks noChangeArrowheads="1"/>
          </p:cNvSpPr>
          <p:nvPr/>
        </p:nvSpPr>
        <p:spPr bwMode="auto">
          <a:xfrm>
            <a:off x="1441494" y="368609"/>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数据驱动的统计决策方法</a:t>
            </a:r>
            <a:endParaRPr lang="zh-CN" altLang="en-US" sz="3200" dirty="0">
              <a:solidFill>
                <a:schemeClr val="bg1"/>
              </a:solidFill>
              <a:latin typeface="Times New Roman" pitchFamily="18" charset="0"/>
              <a:ea typeface="微软雅黑" pitchFamily="34" charset="-122"/>
              <a:cs typeface="Times New Roman" pitchFamily="18" charset="0"/>
            </a:endParaRPr>
          </a:p>
        </p:txBody>
      </p:sp>
      <p:pic>
        <p:nvPicPr>
          <p:cNvPr id="849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494" y="922969"/>
            <a:ext cx="7092322" cy="3586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287687" y="4143480"/>
            <a:ext cx="3493264" cy="400110"/>
          </a:xfrm>
          <a:prstGeom prst="rect">
            <a:avLst/>
          </a:prstGeom>
        </p:spPr>
        <p:txBody>
          <a:bodyPr wrap="none">
            <a:spAutoFit/>
          </a:bodyPr>
          <a:lstStyle/>
          <a:p>
            <a:pPr marL="342900" indent="-342900">
              <a:buFont typeface="Wingdings" pitchFamily="2" charset="2"/>
              <a:buChar char="Ø"/>
            </a:pPr>
            <a:r>
              <a:rPr lang="zh-CN" altLang="en-US" sz="2000" kern="0" dirty="0">
                <a:solidFill>
                  <a:srgbClr val="0000CC"/>
                </a:solidFill>
                <a:latin typeface="Arial" panose="020B0604020202020204"/>
                <a:ea typeface="黑体" panose="02010609060101010101" pitchFamily="49" charset="-122"/>
              </a:rPr>
              <a:t>若</a:t>
            </a:r>
            <a:r>
              <a:rPr lang="zh-CN" altLang="en-US" sz="2000" kern="0" dirty="0">
                <a:solidFill>
                  <a:srgbClr val="C00000"/>
                </a:solidFill>
                <a:latin typeface="Arial" panose="020B0604020202020204"/>
                <a:ea typeface="黑体" panose="02010609060101010101" pitchFamily="49" charset="-122"/>
              </a:rPr>
              <a:t>不筑护堤</a:t>
            </a:r>
            <a:r>
              <a:rPr lang="zh-CN" altLang="en-US" sz="2000" kern="0" dirty="0">
                <a:solidFill>
                  <a:srgbClr val="0000CC"/>
                </a:solidFill>
                <a:latin typeface="Arial" panose="020B0604020202020204"/>
                <a:ea typeface="黑体" panose="02010609060101010101" pitchFamily="49" charset="-122"/>
              </a:rPr>
              <a:t>，期望损失为</a:t>
            </a:r>
            <a:r>
              <a:rPr lang="en-US" altLang="zh-CN" sz="2000" kern="0" dirty="0">
                <a:solidFill>
                  <a:srgbClr val="0000CC"/>
                </a:solidFill>
                <a:latin typeface="Arial" panose="020B0604020202020204"/>
                <a:ea typeface="黑体" panose="02010609060101010101" pitchFamily="49" charset="-122"/>
              </a:rPr>
              <a:t>: </a:t>
            </a:r>
            <a:endParaRPr lang="zh-CN" altLang="en-US" sz="2000" dirty="0">
              <a:solidFill>
                <a:srgbClr val="0000CC"/>
              </a:solidFill>
            </a:endParaRPr>
          </a:p>
        </p:txBody>
      </p:sp>
      <p:pic>
        <p:nvPicPr>
          <p:cNvPr id="860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5284" y="4483525"/>
            <a:ext cx="5731488" cy="500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286165" y="5039921"/>
            <a:ext cx="2845651" cy="369332"/>
          </a:xfrm>
          <a:prstGeom prst="rect">
            <a:avLst/>
          </a:prstGeom>
        </p:spPr>
        <p:txBody>
          <a:bodyPr wrap="none">
            <a:spAutoFit/>
          </a:bodyPr>
          <a:lstStyle/>
          <a:p>
            <a:pPr marL="285750" indent="-285750">
              <a:buFont typeface="Wingdings" pitchFamily="2" charset="2"/>
              <a:buChar char="Ø"/>
            </a:pPr>
            <a:r>
              <a:rPr lang="zh-CN" altLang="en-US" kern="0" dirty="0">
                <a:solidFill>
                  <a:srgbClr val="0000CC"/>
                </a:solidFill>
                <a:latin typeface="Arial" panose="020B0604020202020204"/>
                <a:ea typeface="黑体" panose="02010609060101010101" pitchFamily="49" charset="-122"/>
              </a:rPr>
              <a:t>若</a:t>
            </a:r>
            <a:r>
              <a:rPr lang="zh-CN" altLang="en-US" kern="0" dirty="0">
                <a:solidFill>
                  <a:srgbClr val="C00000"/>
                </a:solidFill>
                <a:latin typeface="Arial" panose="020B0604020202020204"/>
                <a:ea typeface="黑体" panose="02010609060101010101" pitchFamily="49" charset="-122"/>
              </a:rPr>
              <a:t>筑护堤</a:t>
            </a:r>
            <a:r>
              <a:rPr lang="zh-CN" altLang="en-US" kern="0" dirty="0">
                <a:solidFill>
                  <a:srgbClr val="0000CC"/>
                </a:solidFill>
                <a:latin typeface="Arial" panose="020B0604020202020204"/>
                <a:ea typeface="黑体" panose="02010609060101010101" pitchFamily="49" charset="-122"/>
              </a:rPr>
              <a:t>，期望损失为</a:t>
            </a:r>
            <a:r>
              <a:rPr lang="en-US" altLang="zh-CN" kern="0" dirty="0">
                <a:solidFill>
                  <a:srgbClr val="0000CC"/>
                </a:solidFill>
                <a:latin typeface="Arial" panose="020B0604020202020204"/>
                <a:ea typeface="黑体" panose="02010609060101010101" pitchFamily="49" charset="-122"/>
              </a:rPr>
              <a:t>:</a:t>
            </a:r>
            <a:endParaRPr lang="zh-CN" altLang="en-US" dirty="0">
              <a:solidFill>
                <a:srgbClr val="0000CC"/>
              </a:solidFill>
            </a:endParaRPr>
          </a:p>
        </p:txBody>
      </p:sp>
      <p:pic>
        <p:nvPicPr>
          <p:cNvPr id="860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7826" y="5438429"/>
            <a:ext cx="5470893" cy="330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431471" y="5833774"/>
            <a:ext cx="7552396" cy="1015663"/>
          </a:xfrm>
          <a:prstGeom prst="rect">
            <a:avLst/>
          </a:prstGeom>
        </p:spPr>
        <p:txBody>
          <a:bodyPr wrap="square">
            <a:spAutoFit/>
          </a:bodyPr>
          <a:lstStyle/>
          <a:p>
            <a:r>
              <a:rPr lang="zh-CN" altLang="en-US" sz="2000" dirty="0">
                <a:latin typeface="+mn-ea"/>
                <a:ea typeface="+mn-ea"/>
              </a:rPr>
              <a:t>       从而筑护堤期望损失较小，对不筑护堤进行剪枝。再比较不搬方案和搬走方案，搬走需要搬运费</a:t>
            </a:r>
            <a:r>
              <a:rPr lang="en-US" altLang="zh-CN" sz="2000" dirty="0">
                <a:latin typeface="+mn-ea"/>
                <a:ea typeface="+mn-ea"/>
              </a:rPr>
              <a:t>1800</a:t>
            </a:r>
            <a:r>
              <a:rPr lang="zh-CN" altLang="en-US" sz="2000" dirty="0">
                <a:latin typeface="+mn-ea"/>
                <a:ea typeface="+mn-ea"/>
              </a:rPr>
              <a:t>元，不搬方案的期望损失为</a:t>
            </a:r>
            <a:r>
              <a:rPr lang="en-US" altLang="zh-CN" sz="2000" dirty="0">
                <a:latin typeface="+mn-ea"/>
                <a:ea typeface="+mn-ea"/>
              </a:rPr>
              <a:t>-1700</a:t>
            </a:r>
            <a:r>
              <a:rPr lang="zh-CN" altLang="en-US" sz="2000" dirty="0">
                <a:latin typeface="+mn-ea"/>
                <a:ea typeface="+mn-ea"/>
              </a:rPr>
              <a:t>元，</a:t>
            </a:r>
            <a:r>
              <a:rPr lang="zh-CN" altLang="en-US" sz="2000" b="1" dirty="0">
                <a:solidFill>
                  <a:srgbClr val="FF0000"/>
                </a:solidFill>
                <a:latin typeface="+mn-ea"/>
                <a:ea typeface="+mn-ea"/>
              </a:rPr>
              <a:t>不搬施工机械并筑护堤为最优方案。</a:t>
            </a:r>
          </a:p>
        </p:txBody>
      </p:sp>
    </p:spTree>
    <p:extLst>
      <p:ext uri="{BB962C8B-B14F-4D97-AF65-F5344CB8AC3E}">
        <p14:creationId xmlns:p14="http://schemas.microsoft.com/office/powerpoint/2010/main" val="3130391585"/>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矩形 9"/>
          <p:cNvSpPr>
            <a:spLocks noChangeArrowheads="1"/>
          </p:cNvSpPr>
          <p:nvPr/>
        </p:nvSpPr>
        <p:spPr bwMode="auto">
          <a:xfrm>
            <a:off x="1441494" y="368609"/>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数据驱动的统计决策方法</a:t>
            </a:r>
            <a:endParaRPr lang="zh-CN" altLang="en-US" sz="3200" dirty="0">
              <a:solidFill>
                <a:schemeClr val="bg1"/>
              </a:solidFill>
              <a:latin typeface="Times New Roman" pitchFamily="18" charset="0"/>
              <a:ea typeface="微软雅黑" pitchFamily="34" charset="-122"/>
              <a:cs typeface="Times New Roman" pitchFamily="18" charset="0"/>
            </a:endParaRPr>
          </a:p>
        </p:txBody>
      </p:sp>
      <p:sp>
        <p:nvSpPr>
          <p:cNvPr id="8" name="矩形 7"/>
          <p:cNvSpPr/>
          <p:nvPr/>
        </p:nvSpPr>
        <p:spPr>
          <a:xfrm>
            <a:off x="251448" y="1808793"/>
            <a:ext cx="8641104" cy="4493538"/>
          </a:xfrm>
          <a:prstGeom prst="rect">
            <a:avLst/>
          </a:prstGeom>
          <a:ln>
            <a:solidFill>
              <a:schemeClr val="bg1"/>
            </a:solidFill>
          </a:ln>
        </p:spPr>
        <p:txBody>
          <a:bodyPr wrap="square">
            <a:spAutoFit/>
          </a:bodyPr>
          <a:lstStyle/>
          <a:p>
            <a:pPr marL="342900" indent="-342900">
              <a:buFont typeface="Wingdings" pitchFamily="2" charset="2"/>
              <a:buChar char="u"/>
            </a:pPr>
            <a:r>
              <a:rPr lang="zh-CN" altLang="en-US" sz="2200" b="1" dirty="0">
                <a:solidFill>
                  <a:srgbClr val="C00000"/>
                </a:solidFill>
                <a:latin typeface="Times New Roman" pitchFamily="18" charset="0"/>
                <a:ea typeface="微软雅黑" pitchFamily="34" charset="-122"/>
                <a:cs typeface="Times New Roman" pitchFamily="18" charset="0"/>
              </a:rPr>
              <a:t>效用的含义：</a:t>
            </a:r>
            <a:endParaRPr lang="en-US" altLang="zh-CN" sz="2200" b="1" dirty="0">
              <a:solidFill>
                <a:srgbClr val="C00000"/>
              </a:solidFill>
              <a:latin typeface="Times New Roman" pitchFamily="18" charset="0"/>
              <a:ea typeface="微软雅黑" pitchFamily="34" charset="-122"/>
              <a:cs typeface="Times New Roman" pitchFamily="18" charset="0"/>
            </a:endParaRPr>
          </a:p>
          <a:p>
            <a:r>
              <a:rPr lang="zh-CN" altLang="en-US" sz="2200" b="1" dirty="0">
                <a:solidFill>
                  <a:srgbClr val="C00000"/>
                </a:solidFill>
                <a:latin typeface="Times New Roman" pitchFamily="18" charset="0"/>
                <a:ea typeface="微软雅黑" pitchFamily="34" charset="-122"/>
                <a:cs typeface="Times New Roman" pitchFamily="18" charset="0"/>
              </a:rPr>
              <a:t>    </a:t>
            </a:r>
            <a:r>
              <a:rPr lang="zh-CN" altLang="en-US" sz="2200" b="1" dirty="0">
                <a:latin typeface="Times New Roman" pitchFamily="18" charset="0"/>
                <a:ea typeface="微软雅黑" pitchFamily="34" charset="-122"/>
                <a:cs typeface="Times New Roman" pitchFamily="18" charset="0"/>
              </a:rPr>
              <a:t>方案甲：</a:t>
            </a:r>
            <a:r>
              <a:rPr lang="zh-CN" altLang="en-US" sz="2400" dirty="0">
                <a:solidFill>
                  <a:srgbClr val="003366"/>
                </a:solidFill>
                <a:latin typeface="Times New Roman" pitchFamily="18" charset="0"/>
                <a:ea typeface="微软雅黑" pitchFamily="34" charset="-122"/>
                <a:cs typeface="Times New Roman" pitchFamily="18" charset="0"/>
              </a:rPr>
              <a:t>以</a:t>
            </a:r>
            <a:r>
              <a:rPr lang="en-US" altLang="zh-CN" sz="2400" dirty="0">
                <a:solidFill>
                  <a:srgbClr val="003366"/>
                </a:solidFill>
                <a:latin typeface="Times New Roman" pitchFamily="18" charset="0"/>
                <a:ea typeface="微软雅黑" pitchFamily="34" charset="-122"/>
                <a:cs typeface="Times New Roman" pitchFamily="18" charset="0"/>
              </a:rPr>
              <a:t>0.5</a:t>
            </a:r>
            <a:r>
              <a:rPr lang="zh-CN" altLang="en-US" sz="2400" dirty="0">
                <a:solidFill>
                  <a:srgbClr val="003366"/>
                </a:solidFill>
                <a:latin typeface="Times New Roman" pitchFamily="18" charset="0"/>
                <a:ea typeface="微软雅黑" pitchFamily="34" charset="-122"/>
                <a:cs typeface="Times New Roman" pitchFamily="18" charset="0"/>
              </a:rPr>
              <a:t>的概率获利</a:t>
            </a:r>
            <a:r>
              <a:rPr lang="en-US" altLang="zh-CN" sz="2400" dirty="0">
                <a:solidFill>
                  <a:srgbClr val="003366"/>
                </a:solidFill>
                <a:latin typeface="Times New Roman" pitchFamily="18" charset="0"/>
                <a:ea typeface="微软雅黑" pitchFamily="34" charset="-122"/>
                <a:cs typeface="Times New Roman" pitchFamily="18" charset="0"/>
              </a:rPr>
              <a:t>4000</a:t>
            </a:r>
            <a:r>
              <a:rPr lang="zh-CN" altLang="en-US" sz="2400" dirty="0">
                <a:solidFill>
                  <a:srgbClr val="003366"/>
                </a:solidFill>
                <a:latin typeface="Times New Roman" pitchFamily="18" charset="0"/>
                <a:ea typeface="微软雅黑" pitchFamily="34" charset="-122"/>
                <a:cs typeface="Times New Roman" pitchFamily="18" charset="0"/>
              </a:rPr>
              <a:t>元，以</a:t>
            </a:r>
            <a:r>
              <a:rPr lang="en-US" altLang="zh-CN" sz="2400" dirty="0">
                <a:solidFill>
                  <a:srgbClr val="003366"/>
                </a:solidFill>
                <a:latin typeface="Times New Roman" pitchFamily="18" charset="0"/>
                <a:ea typeface="微软雅黑" pitchFamily="34" charset="-122"/>
                <a:cs typeface="Times New Roman" pitchFamily="18" charset="0"/>
              </a:rPr>
              <a:t>0.5</a:t>
            </a:r>
            <a:r>
              <a:rPr lang="zh-CN" altLang="en-US" sz="2400" dirty="0">
                <a:solidFill>
                  <a:srgbClr val="003366"/>
                </a:solidFill>
                <a:latin typeface="Times New Roman" pitchFamily="18" charset="0"/>
                <a:ea typeface="微软雅黑" pitchFamily="34" charset="-122"/>
                <a:cs typeface="Times New Roman" pitchFamily="18" charset="0"/>
              </a:rPr>
              <a:t>的概率损失</a:t>
            </a:r>
            <a:r>
              <a:rPr lang="en-US" altLang="zh-CN" sz="2400" dirty="0">
                <a:solidFill>
                  <a:srgbClr val="003366"/>
                </a:solidFill>
                <a:latin typeface="Times New Roman" pitchFamily="18" charset="0"/>
                <a:ea typeface="微软雅黑" pitchFamily="34" charset="-122"/>
                <a:cs typeface="Times New Roman" pitchFamily="18" charset="0"/>
              </a:rPr>
              <a:t>2000</a:t>
            </a:r>
            <a:r>
              <a:rPr lang="zh-CN" altLang="en-US" sz="2400" dirty="0">
                <a:solidFill>
                  <a:srgbClr val="003366"/>
                </a:solidFill>
                <a:latin typeface="Times New Roman" pitchFamily="18" charset="0"/>
                <a:ea typeface="微软雅黑" pitchFamily="34" charset="-122"/>
                <a:cs typeface="Times New Roman" pitchFamily="18" charset="0"/>
              </a:rPr>
              <a:t>元；</a:t>
            </a:r>
          </a:p>
          <a:p>
            <a:r>
              <a:rPr lang="zh-CN" altLang="en-US" sz="2200" b="1" dirty="0">
                <a:solidFill>
                  <a:srgbClr val="C00000"/>
                </a:solidFill>
                <a:latin typeface="Times New Roman" pitchFamily="18" charset="0"/>
                <a:ea typeface="微软雅黑" pitchFamily="34" charset="-122"/>
                <a:cs typeface="Times New Roman" pitchFamily="18" charset="0"/>
              </a:rPr>
              <a:t>    </a:t>
            </a:r>
            <a:r>
              <a:rPr lang="zh-CN" altLang="en-US" sz="2200" b="1" dirty="0">
                <a:latin typeface="Times New Roman" pitchFamily="18" charset="0"/>
                <a:ea typeface="微软雅黑" pitchFamily="34" charset="-122"/>
                <a:cs typeface="Times New Roman" pitchFamily="18" charset="0"/>
              </a:rPr>
              <a:t>方案乙：</a:t>
            </a:r>
            <a:r>
              <a:rPr lang="zh-CN" altLang="en-US" sz="2400" dirty="0">
                <a:solidFill>
                  <a:srgbClr val="003366"/>
                </a:solidFill>
                <a:latin typeface="Times New Roman" pitchFamily="18" charset="0"/>
                <a:ea typeface="微软雅黑" pitchFamily="34" charset="-122"/>
                <a:cs typeface="Times New Roman" pitchFamily="18" charset="0"/>
              </a:rPr>
              <a:t>以</a:t>
            </a:r>
            <a:r>
              <a:rPr lang="en-US" altLang="zh-CN" sz="2400" dirty="0">
                <a:solidFill>
                  <a:srgbClr val="003366"/>
                </a:solidFill>
                <a:latin typeface="Times New Roman" pitchFamily="18" charset="0"/>
                <a:ea typeface="微软雅黑" pitchFamily="34" charset="-122"/>
                <a:cs typeface="Times New Roman" pitchFamily="18" charset="0"/>
              </a:rPr>
              <a:t>100%</a:t>
            </a:r>
            <a:r>
              <a:rPr lang="zh-CN" altLang="en-US" sz="2400" dirty="0">
                <a:solidFill>
                  <a:srgbClr val="003366"/>
                </a:solidFill>
                <a:latin typeface="Times New Roman" pitchFamily="18" charset="0"/>
                <a:ea typeface="微软雅黑" pitchFamily="34" charset="-122"/>
                <a:cs typeface="Times New Roman" pitchFamily="18" charset="0"/>
              </a:rPr>
              <a:t>的概率获利</a:t>
            </a:r>
            <a:r>
              <a:rPr lang="en-US" altLang="zh-CN" sz="2400" dirty="0">
                <a:solidFill>
                  <a:srgbClr val="003366"/>
                </a:solidFill>
                <a:latin typeface="Times New Roman" pitchFamily="18" charset="0"/>
                <a:ea typeface="微软雅黑" pitchFamily="34" charset="-122"/>
                <a:cs typeface="Times New Roman" pitchFamily="18" charset="0"/>
              </a:rPr>
              <a:t>500</a:t>
            </a:r>
            <a:r>
              <a:rPr lang="zh-CN" altLang="en-US" sz="2400" dirty="0">
                <a:solidFill>
                  <a:srgbClr val="003366"/>
                </a:solidFill>
                <a:latin typeface="Times New Roman" pitchFamily="18" charset="0"/>
                <a:ea typeface="微软雅黑" pitchFamily="34" charset="-122"/>
                <a:cs typeface="Times New Roman" pitchFamily="18" charset="0"/>
              </a:rPr>
              <a:t>元。</a:t>
            </a:r>
          </a:p>
          <a:p>
            <a:r>
              <a:rPr lang="zh-CN" altLang="en-US" sz="2400" dirty="0">
                <a:solidFill>
                  <a:srgbClr val="003366"/>
                </a:solidFill>
                <a:latin typeface="Times New Roman" pitchFamily="18" charset="0"/>
                <a:ea typeface="微软雅黑" pitchFamily="34" charset="-122"/>
                <a:cs typeface="Times New Roman" pitchFamily="18" charset="0"/>
              </a:rPr>
              <a:t>    试做出最优方案的决策。</a:t>
            </a:r>
          </a:p>
          <a:p>
            <a:endParaRPr lang="zh-CN" altLang="en-US" sz="2400" dirty="0">
              <a:solidFill>
                <a:srgbClr val="003366"/>
              </a:solidFill>
              <a:latin typeface="Times New Roman" pitchFamily="18" charset="0"/>
              <a:ea typeface="微软雅黑" pitchFamily="34" charset="-122"/>
              <a:cs typeface="Times New Roman" pitchFamily="18" charset="0"/>
            </a:endParaRPr>
          </a:p>
          <a:p>
            <a:r>
              <a:rPr lang="zh-CN" altLang="en-US" sz="2400" dirty="0">
                <a:solidFill>
                  <a:srgbClr val="003366"/>
                </a:solidFill>
                <a:latin typeface="Times New Roman" pitchFamily="18" charset="0"/>
                <a:ea typeface="微软雅黑" pitchFamily="34" charset="-122"/>
                <a:cs typeface="Times New Roman" pitchFamily="18" charset="0"/>
              </a:rPr>
              <a:t>    </a:t>
            </a:r>
            <a:r>
              <a:rPr lang="zh-CN" altLang="en-US" sz="2400" dirty="0">
                <a:solidFill>
                  <a:srgbClr val="6600CC"/>
                </a:solidFill>
                <a:latin typeface="Times New Roman" pitchFamily="18" charset="0"/>
                <a:ea typeface="微软雅黑" pitchFamily="34" charset="-122"/>
                <a:cs typeface="Times New Roman" pitchFamily="18" charset="0"/>
              </a:rPr>
              <a:t>对于相同的期望损益值，不同决策者的反应也不一定相同，这是由于决策者的个人性格和所处条件不同所形成的。不论什么样的方案，对于保守型决策者和爱好风险型决策者来说其反应均会有所不同。即使是同一决策者，由于时间和条件不同，对于相同机会的反应也不相同。</a:t>
            </a:r>
            <a:r>
              <a:rPr lang="zh-CN" altLang="en-US" sz="2400" dirty="0">
                <a:solidFill>
                  <a:srgbClr val="FF0000"/>
                </a:solidFill>
                <a:latin typeface="Times New Roman" pitchFamily="18" charset="0"/>
                <a:ea typeface="微软雅黑" pitchFamily="34" charset="-122"/>
                <a:cs typeface="Times New Roman" pitchFamily="18" charset="0"/>
              </a:rPr>
              <a:t>这种决策者对于期望收益和损失的独特兴趣、感受和取舍反应，称为效用。</a:t>
            </a:r>
            <a:r>
              <a:rPr lang="zh-CN" altLang="en-US" sz="2400" dirty="0">
                <a:solidFill>
                  <a:srgbClr val="6600CC"/>
                </a:solidFill>
                <a:latin typeface="Times New Roman" pitchFamily="18" charset="0"/>
                <a:ea typeface="微软雅黑" pitchFamily="34" charset="-122"/>
                <a:cs typeface="Times New Roman" pitchFamily="18" charset="0"/>
              </a:rPr>
              <a:t>效用代表着决策者对于风险的态度。</a:t>
            </a:r>
          </a:p>
        </p:txBody>
      </p:sp>
      <p:sp>
        <p:nvSpPr>
          <p:cNvPr id="5" name="Text Box 21"/>
          <p:cNvSpPr txBox="1">
            <a:spLocks noChangeArrowheads="1"/>
          </p:cNvSpPr>
          <p:nvPr/>
        </p:nvSpPr>
        <p:spPr bwMode="auto">
          <a:xfrm>
            <a:off x="23813" y="1050925"/>
            <a:ext cx="617280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algn="just" eaLnBrk="1" hangingPunct="1">
              <a:spcBef>
                <a:spcPct val="50000"/>
              </a:spcBef>
            </a:pPr>
            <a:r>
              <a:rPr kumimoji="1" lang="en-US" altLang="zh-CN" sz="3200" b="1" dirty="0">
                <a:solidFill>
                  <a:srgbClr val="FF0000"/>
                </a:solidFill>
                <a:latin typeface="微软雅黑" pitchFamily="34" charset="-122"/>
                <a:ea typeface="微软雅黑" pitchFamily="34" charset="-122"/>
              </a:rPr>
              <a:t>3. </a:t>
            </a:r>
            <a:r>
              <a:rPr kumimoji="1" lang="zh-CN" altLang="en-US" sz="3200" b="1" dirty="0">
                <a:solidFill>
                  <a:srgbClr val="FF0000"/>
                </a:solidFill>
                <a:latin typeface="微软雅黑" pitchFamily="34" charset="-122"/>
                <a:ea typeface="微软雅黑" pitchFamily="34" charset="-122"/>
              </a:rPr>
              <a:t>基于效用理论的风险决策</a:t>
            </a:r>
          </a:p>
        </p:txBody>
      </p:sp>
    </p:spTree>
    <p:extLst>
      <p:ext uri="{BB962C8B-B14F-4D97-AF65-F5344CB8AC3E}">
        <p14:creationId xmlns:p14="http://schemas.microsoft.com/office/powerpoint/2010/main" val="1526571750"/>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矩形 9"/>
          <p:cNvSpPr>
            <a:spLocks noChangeArrowheads="1"/>
          </p:cNvSpPr>
          <p:nvPr/>
        </p:nvSpPr>
        <p:spPr bwMode="auto">
          <a:xfrm>
            <a:off x="1441494" y="368609"/>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数据驱动的统计决策方法</a:t>
            </a:r>
            <a:endParaRPr lang="zh-CN" altLang="en-US" sz="3200" dirty="0">
              <a:solidFill>
                <a:schemeClr val="bg1"/>
              </a:solidFill>
              <a:latin typeface="Times New Roman" pitchFamily="18" charset="0"/>
              <a:ea typeface="微软雅黑" pitchFamily="34" charset="-122"/>
              <a:cs typeface="Times New Roman" pitchFamily="18" charset="0"/>
            </a:endParaRPr>
          </a:p>
        </p:txBody>
      </p:sp>
      <p:sp>
        <p:nvSpPr>
          <p:cNvPr id="8" name="矩形 7"/>
          <p:cNvSpPr/>
          <p:nvPr/>
        </p:nvSpPr>
        <p:spPr>
          <a:xfrm>
            <a:off x="251448" y="1628770"/>
            <a:ext cx="8641104" cy="1938992"/>
          </a:xfrm>
          <a:prstGeom prst="rect">
            <a:avLst/>
          </a:prstGeom>
          <a:ln>
            <a:noFill/>
          </a:ln>
        </p:spPr>
        <p:txBody>
          <a:bodyPr wrap="square">
            <a:spAutoFit/>
          </a:bodyPr>
          <a:lstStyle/>
          <a:p>
            <a:pPr marL="342900" indent="-342900">
              <a:buFont typeface="Wingdings" pitchFamily="2" charset="2"/>
              <a:buChar char="u"/>
            </a:pPr>
            <a:r>
              <a:rPr lang="zh-CN" altLang="en-US" sz="2400" b="1" dirty="0">
                <a:solidFill>
                  <a:srgbClr val="C00000"/>
                </a:solidFill>
                <a:latin typeface="Times New Roman" pitchFamily="18" charset="0"/>
                <a:ea typeface="微软雅黑" pitchFamily="34" charset="-122"/>
                <a:cs typeface="Times New Roman" pitchFamily="18" charset="0"/>
              </a:rPr>
              <a:t>效用曲线：</a:t>
            </a:r>
            <a:endParaRPr lang="en-US" altLang="zh-CN" sz="2400" b="1" dirty="0">
              <a:solidFill>
                <a:srgbClr val="C00000"/>
              </a:solidFill>
              <a:latin typeface="Times New Roman" pitchFamily="18" charset="0"/>
              <a:ea typeface="微软雅黑" pitchFamily="34" charset="-122"/>
              <a:cs typeface="Times New Roman" pitchFamily="18" charset="0"/>
            </a:endParaRPr>
          </a:p>
          <a:p>
            <a:r>
              <a:rPr lang="zh-CN" altLang="en-US" sz="2400" dirty="0">
                <a:solidFill>
                  <a:srgbClr val="003366"/>
                </a:solidFill>
                <a:latin typeface="Times New Roman" pitchFamily="18" charset="0"/>
                <a:ea typeface="微软雅黑" pitchFamily="34" charset="-122"/>
                <a:cs typeface="Times New Roman" pitchFamily="18" charset="0"/>
              </a:rPr>
              <a:t>     若用横坐标表示损益值，用纵坐标表示效用值，把决策者对风险态度的变化关系绘出一条曲线，就称为决策者的效用曲线。 效用可以通过计算效用值和绘制效用曲线的方法来衡量。</a:t>
            </a:r>
            <a:r>
              <a:rPr lang="zh-CN" altLang="en-US" sz="2400" b="1" dirty="0">
                <a:solidFill>
                  <a:srgbClr val="C00000"/>
                </a:solidFill>
                <a:latin typeface="Times New Roman" pitchFamily="18" charset="0"/>
                <a:ea typeface="微软雅黑" pitchFamily="34" charset="-122"/>
                <a:cs typeface="Times New Roman" pitchFamily="18" charset="0"/>
              </a:rPr>
              <a:t> </a:t>
            </a:r>
            <a:endParaRPr lang="en-US" altLang="zh-CN" sz="2400" b="1" dirty="0">
              <a:solidFill>
                <a:srgbClr val="C00000"/>
              </a:solidFill>
              <a:latin typeface="Times New Roman" pitchFamily="18" charset="0"/>
              <a:ea typeface="微软雅黑" pitchFamily="34" charset="-122"/>
              <a:cs typeface="Times New Roman" pitchFamily="18" charset="0"/>
            </a:endParaRPr>
          </a:p>
          <a:p>
            <a:r>
              <a:rPr lang="en-US" altLang="zh-CN" sz="2400" b="1" dirty="0">
                <a:solidFill>
                  <a:srgbClr val="C00000"/>
                </a:solidFill>
                <a:latin typeface="Times New Roman" pitchFamily="18" charset="0"/>
                <a:ea typeface="微软雅黑" pitchFamily="34" charset="-122"/>
                <a:cs typeface="Times New Roman" pitchFamily="18" charset="0"/>
              </a:rPr>
              <a:t>    </a:t>
            </a:r>
            <a:r>
              <a:rPr lang="zh-CN" altLang="en-US" sz="2400" dirty="0">
                <a:solidFill>
                  <a:srgbClr val="003366"/>
                </a:solidFill>
                <a:latin typeface="Times New Roman" pitchFamily="18" charset="0"/>
                <a:ea typeface="微软雅黑" pitchFamily="34" charset="-122"/>
                <a:cs typeface="Times New Roman" pitchFamily="18" charset="0"/>
              </a:rPr>
              <a:t>   </a:t>
            </a:r>
            <a:endParaRPr lang="zh-CN" altLang="en-US" sz="2400" dirty="0">
              <a:solidFill>
                <a:srgbClr val="6600CC"/>
              </a:solidFill>
              <a:latin typeface="Times New Roman" pitchFamily="18" charset="0"/>
              <a:ea typeface="微软雅黑" pitchFamily="34" charset="-122"/>
              <a:cs typeface="Times New Roman" pitchFamily="18" charset="0"/>
            </a:endParaRPr>
          </a:p>
        </p:txBody>
      </p:sp>
      <p:pic>
        <p:nvPicPr>
          <p:cNvPr id="870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48" y="3562096"/>
            <a:ext cx="8641104" cy="2027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10935791"/>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矩形 9"/>
          <p:cNvSpPr>
            <a:spLocks noChangeArrowheads="1"/>
          </p:cNvSpPr>
          <p:nvPr/>
        </p:nvSpPr>
        <p:spPr bwMode="auto">
          <a:xfrm>
            <a:off x="1441494" y="368609"/>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数据驱动的统计决策方法</a:t>
            </a:r>
            <a:endParaRPr lang="zh-CN" altLang="en-US" sz="3200" dirty="0">
              <a:solidFill>
                <a:schemeClr val="bg1"/>
              </a:solidFill>
              <a:latin typeface="Times New Roman" pitchFamily="18" charset="0"/>
              <a:ea typeface="微软雅黑" pitchFamily="34" charset="-122"/>
              <a:cs typeface="Times New Roman" pitchFamily="18" charset="0"/>
            </a:endParaRPr>
          </a:p>
        </p:txBody>
      </p:sp>
      <p:sp>
        <p:nvSpPr>
          <p:cNvPr id="6" name="矩形 5"/>
          <p:cNvSpPr/>
          <p:nvPr/>
        </p:nvSpPr>
        <p:spPr>
          <a:xfrm>
            <a:off x="390924" y="1268724"/>
            <a:ext cx="8363651" cy="1569660"/>
          </a:xfrm>
          <a:prstGeom prst="rect">
            <a:avLst/>
          </a:prstGeom>
        </p:spPr>
        <p:txBody>
          <a:bodyPr wrap="square">
            <a:spAutoFit/>
          </a:bodyPr>
          <a:lstStyle/>
          <a:p>
            <a:r>
              <a:rPr lang="zh-CN" altLang="en-US" sz="2400" b="1" dirty="0">
                <a:solidFill>
                  <a:srgbClr val="C00000"/>
                </a:solidFill>
                <a:latin typeface="Times New Roman" pitchFamily="18" charset="0"/>
                <a:ea typeface="微软雅黑" pitchFamily="34" charset="-122"/>
                <a:cs typeface="Times New Roman" pitchFamily="18" charset="0"/>
              </a:rPr>
              <a:t>方法：</a:t>
            </a:r>
            <a:r>
              <a:rPr lang="zh-CN" altLang="en-US" sz="2400" dirty="0">
                <a:solidFill>
                  <a:srgbClr val="FF0000"/>
                </a:solidFill>
                <a:latin typeface="Times New Roman" pitchFamily="18" charset="0"/>
                <a:ea typeface="微软雅黑" pitchFamily="34" charset="-122"/>
                <a:cs typeface="Times New Roman" pitchFamily="18" charset="0"/>
              </a:rPr>
              <a:t>冯</a:t>
            </a:r>
            <a:r>
              <a:rPr lang="en-US" altLang="zh-CN" sz="2400" dirty="0">
                <a:solidFill>
                  <a:srgbClr val="FF0000"/>
                </a:solidFill>
                <a:latin typeface="Times New Roman" pitchFamily="18" charset="0"/>
                <a:ea typeface="微软雅黑" pitchFamily="34" charset="-122"/>
                <a:cs typeface="Times New Roman" pitchFamily="18" charset="0"/>
              </a:rPr>
              <a:t>·</a:t>
            </a:r>
            <a:r>
              <a:rPr lang="zh-CN" altLang="en-US" sz="2400" dirty="0">
                <a:solidFill>
                  <a:srgbClr val="FF0000"/>
                </a:solidFill>
                <a:latin typeface="Times New Roman" pitchFamily="18" charset="0"/>
                <a:ea typeface="微软雅黑" pitchFamily="34" charset="-122"/>
                <a:cs typeface="Times New Roman" pitchFamily="18" charset="0"/>
              </a:rPr>
              <a:t>诺依曼</a:t>
            </a:r>
            <a:r>
              <a:rPr lang="en-US" altLang="zh-CN" sz="2400" dirty="0">
                <a:solidFill>
                  <a:srgbClr val="FF0000"/>
                </a:solidFill>
                <a:latin typeface="Times New Roman" pitchFamily="18" charset="0"/>
                <a:ea typeface="微软雅黑" pitchFamily="34" charset="-122"/>
                <a:cs typeface="Times New Roman" pitchFamily="18" charset="0"/>
              </a:rPr>
              <a:t>--</a:t>
            </a:r>
            <a:r>
              <a:rPr lang="zh-CN" altLang="en-US" sz="2400" dirty="0">
                <a:solidFill>
                  <a:srgbClr val="FF0000"/>
                </a:solidFill>
                <a:latin typeface="Times New Roman" pitchFamily="18" charset="0"/>
                <a:ea typeface="微软雅黑" pitchFamily="34" charset="-122"/>
                <a:cs typeface="Times New Roman" pitchFamily="18" charset="0"/>
              </a:rPr>
              <a:t>摩根斯坦心理调查法</a:t>
            </a:r>
            <a:r>
              <a:rPr lang="zh-CN" altLang="en-US" sz="2400" dirty="0">
                <a:solidFill>
                  <a:srgbClr val="0000CC"/>
                </a:solidFill>
                <a:latin typeface="Times New Roman" pitchFamily="18" charset="0"/>
                <a:ea typeface="微软雅黑" pitchFamily="34" charset="-122"/>
                <a:cs typeface="Times New Roman" pitchFamily="18" charset="0"/>
              </a:rPr>
              <a:t>。</a:t>
            </a:r>
            <a:endParaRPr lang="en-US" altLang="zh-CN" sz="2400" dirty="0">
              <a:solidFill>
                <a:srgbClr val="0000CC"/>
              </a:solidFill>
              <a:latin typeface="Times New Roman" pitchFamily="18" charset="0"/>
              <a:ea typeface="微软雅黑" pitchFamily="34" charset="-122"/>
              <a:cs typeface="Times New Roman" pitchFamily="18" charset="0"/>
            </a:endParaRPr>
          </a:p>
          <a:p>
            <a:r>
              <a:rPr lang="en-US" altLang="zh-CN" sz="2400" dirty="0">
                <a:solidFill>
                  <a:srgbClr val="0000CC"/>
                </a:solidFill>
                <a:latin typeface="Times New Roman" pitchFamily="18" charset="0"/>
                <a:ea typeface="微软雅黑" pitchFamily="34" charset="-122"/>
                <a:cs typeface="Times New Roman" pitchFamily="18" charset="0"/>
              </a:rPr>
              <a:t>        </a:t>
            </a:r>
            <a:r>
              <a:rPr lang="zh-CN" altLang="en-US" sz="2400" dirty="0">
                <a:solidFill>
                  <a:srgbClr val="003366"/>
                </a:solidFill>
                <a:latin typeface="Times New Roman" pitchFamily="18" charset="0"/>
                <a:ea typeface="微软雅黑" pitchFamily="34" charset="-122"/>
                <a:cs typeface="Times New Roman" pitchFamily="18" charset="0"/>
              </a:rPr>
              <a:t>效用值用概率形式，介于</a:t>
            </a:r>
            <a:r>
              <a:rPr lang="en-US" altLang="zh-CN" sz="2400" dirty="0">
                <a:solidFill>
                  <a:srgbClr val="003366"/>
                </a:solidFill>
                <a:latin typeface="Times New Roman" pitchFamily="18" charset="0"/>
                <a:ea typeface="微软雅黑" pitchFamily="34" charset="-122"/>
                <a:cs typeface="Times New Roman" pitchFamily="18" charset="0"/>
              </a:rPr>
              <a:t>0</a:t>
            </a:r>
            <a:r>
              <a:rPr lang="zh-CN" altLang="en-US" sz="2400" dirty="0">
                <a:solidFill>
                  <a:srgbClr val="003366"/>
                </a:solidFill>
                <a:latin typeface="Times New Roman" pitchFamily="18" charset="0"/>
                <a:ea typeface="微软雅黑" pitchFamily="34" charset="-122"/>
                <a:cs typeface="Times New Roman" pitchFamily="18" charset="0"/>
              </a:rPr>
              <a:t>与</a:t>
            </a:r>
            <a:r>
              <a:rPr lang="en-US" altLang="zh-CN" sz="2400" dirty="0">
                <a:solidFill>
                  <a:srgbClr val="003366"/>
                </a:solidFill>
                <a:latin typeface="Times New Roman" pitchFamily="18" charset="0"/>
                <a:ea typeface="微软雅黑" pitchFamily="34" charset="-122"/>
                <a:cs typeface="Times New Roman" pitchFamily="18" charset="0"/>
              </a:rPr>
              <a:t>1</a:t>
            </a:r>
            <a:r>
              <a:rPr lang="zh-CN" altLang="en-US" sz="2400" dirty="0">
                <a:solidFill>
                  <a:srgbClr val="003366"/>
                </a:solidFill>
                <a:latin typeface="Times New Roman" pitchFamily="18" charset="0"/>
                <a:ea typeface="微软雅黑" pitchFamily="34" charset="-122"/>
                <a:cs typeface="Times New Roman" pitchFamily="18" charset="0"/>
              </a:rPr>
              <a:t>之间，认为</a:t>
            </a:r>
            <a:r>
              <a:rPr lang="zh-CN" altLang="en-US" sz="2400" dirty="0">
                <a:solidFill>
                  <a:srgbClr val="0000CC"/>
                </a:solidFill>
                <a:latin typeface="Times New Roman" pitchFamily="18" charset="0"/>
                <a:ea typeface="微软雅黑" pitchFamily="34" charset="-122"/>
                <a:cs typeface="Times New Roman" pitchFamily="18" charset="0"/>
              </a:rPr>
              <a:t>损益最大值（本例为</a:t>
            </a:r>
            <a:r>
              <a:rPr lang="en-US" altLang="zh-CN" sz="2400" dirty="0">
                <a:solidFill>
                  <a:srgbClr val="0000CC"/>
                </a:solidFill>
                <a:latin typeface="Times New Roman" pitchFamily="18" charset="0"/>
                <a:ea typeface="微软雅黑" pitchFamily="34" charset="-122"/>
                <a:cs typeface="Times New Roman" pitchFamily="18" charset="0"/>
              </a:rPr>
              <a:t>200</a:t>
            </a:r>
            <a:r>
              <a:rPr lang="zh-CN" altLang="en-US" sz="2400" dirty="0">
                <a:solidFill>
                  <a:srgbClr val="0000CC"/>
                </a:solidFill>
                <a:latin typeface="Times New Roman" pitchFamily="18" charset="0"/>
                <a:ea typeface="微软雅黑" pitchFamily="34" charset="-122"/>
                <a:cs typeface="Times New Roman" pitchFamily="18" charset="0"/>
              </a:rPr>
              <a:t>元）的效用值为</a:t>
            </a:r>
            <a:r>
              <a:rPr lang="en-US" altLang="zh-CN" sz="2400" dirty="0">
                <a:solidFill>
                  <a:srgbClr val="0000CC"/>
                </a:solidFill>
                <a:latin typeface="Times New Roman" pitchFamily="18" charset="0"/>
                <a:ea typeface="微软雅黑" pitchFamily="34" charset="-122"/>
                <a:cs typeface="Times New Roman" pitchFamily="18" charset="0"/>
              </a:rPr>
              <a:t>1</a:t>
            </a:r>
            <a:r>
              <a:rPr lang="zh-CN" altLang="en-US" sz="2400" dirty="0">
                <a:solidFill>
                  <a:srgbClr val="0000CC"/>
                </a:solidFill>
                <a:latin typeface="Times New Roman" pitchFamily="18" charset="0"/>
                <a:ea typeface="微软雅黑" pitchFamily="34" charset="-122"/>
                <a:cs typeface="Times New Roman" pitchFamily="18" charset="0"/>
              </a:rPr>
              <a:t>，而损益最小值（本例为</a:t>
            </a:r>
            <a:r>
              <a:rPr lang="en-US" altLang="zh-CN" sz="2400" dirty="0">
                <a:solidFill>
                  <a:srgbClr val="0000CC"/>
                </a:solidFill>
                <a:latin typeface="Times New Roman" pitchFamily="18" charset="0"/>
                <a:ea typeface="微软雅黑" pitchFamily="34" charset="-122"/>
                <a:cs typeface="Times New Roman" pitchFamily="18" charset="0"/>
              </a:rPr>
              <a:t>-100</a:t>
            </a:r>
            <a:r>
              <a:rPr lang="zh-CN" altLang="en-US" sz="2400" dirty="0">
                <a:solidFill>
                  <a:srgbClr val="0000CC"/>
                </a:solidFill>
                <a:latin typeface="Times New Roman" pitchFamily="18" charset="0"/>
                <a:ea typeface="微软雅黑" pitchFamily="34" charset="-122"/>
                <a:cs typeface="Times New Roman" pitchFamily="18" charset="0"/>
              </a:rPr>
              <a:t>元）的效用值为</a:t>
            </a:r>
            <a:r>
              <a:rPr lang="en-US" altLang="zh-CN" sz="2400" dirty="0">
                <a:solidFill>
                  <a:srgbClr val="0000CC"/>
                </a:solidFill>
                <a:latin typeface="Times New Roman" pitchFamily="18" charset="0"/>
                <a:ea typeface="微软雅黑" pitchFamily="34" charset="-122"/>
                <a:cs typeface="Times New Roman" pitchFamily="18" charset="0"/>
              </a:rPr>
              <a:t>0</a:t>
            </a:r>
            <a:r>
              <a:rPr lang="zh-CN" altLang="en-US" sz="2400" dirty="0">
                <a:solidFill>
                  <a:srgbClr val="0000CC"/>
                </a:solidFill>
                <a:latin typeface="Times New Roman" pitchFamily="18" charset="0"/>
                <a:ea typeface="微软雅黑" pitchFamily="34" charset="-122"/>
                <a:cs typeface="Times New Roman" pitchFamily="18" charset="0"/>
              </a:rPr>
              <a:t>。方案甲的期望效用为</a:t>
            </a:r>
            <a:r>
              <a:rPr lang="en-US" altLang="zh-CN" sz="2400" dirty="0">
                <a:solidFill>
                  <a:srgbClr val="0000CC"/>
                </a:solidFill>
                <a:latin typeface="Times New Roman" pitchFamily="18" charset="0"/>
                <a:ea typeface="微软雅黑" pitchFamily="34" charset="-122"/>
                <a:cs typeface="Times New Roman" pitchFamily="18" charset="0"/>
              </a:rPr>
              <a:t>0.5</a:t>
            </a:r>
            <a:r>
              <a:rPr lang="zh-CN" altLang="en-US" sz="2400" dirty="0">
                <a:solidFill>
                  <a:srgbClr val="003366"/>
                </a:solidFill>
                <a:latin typeface="Times New Roman" pitchFamily="18" charset="0"/>
                <a:ea typeface="微软雅黑" pitchFamily="34" charset="-122"/>
                <a:cs typeface="Times New Roman" pitchFamily="18" charset="0"/>
              </a:rPr>
              <a:t>。</a:t>
            </a:r>
          </a:p>
        </p:txBody>
      </p:sp>
      <p:sp>
        <p:nvSpPr>
          <p:cNvPr id="2" name="矩形 1"/>
          <p:cNvSpPr/>
          <p:nvPr/>
        </p:nvSpPr>
        <p:spPr>
          <a:xfrm>
            <a:off x="390924" y="4869184"/>
            <a:ext cx="5103940" cy="1569660"/>
          </a:xfrm>
          <a:prstGeom prst="rect">
            <a:avLst/>
          </a:prstGeom>
        </p:spPr>
        <p:txBody>
          <a:bodyPr wrap="square">
            <a:spAutoFit/>
          </a:bodyPr>
          <a:lstStyle/>
          <a:p>
            <a:r>
              <a:rPr lang="zh-CN" altLang="en-US" sz="2400" dirty="0">
                <a:solidFill>
                  <a:srgbClr val="C00000"/>
                </a:solidFill>
                <a:latin typeface="+mn-ea"/>
                <a:ea typeface="+mn-ea"/>
              </a:rPr>
              <a:t>    心理调查：</a:t>
            </a:r>
            <a:r>
              <a:rPr lang="zh-CN" altLang="en-US" sz="2400" dirty="0">
                <a:solidFill>
                  <a:srgbClr val="003366"/>
                </a:solidFill>
                <a:latin typeface="Times New Roman" pitchFamily="18" charset="0"/>
                <a:ea typeface="微软雅黑" pitchFamily="34" charset="-122"/>
                <a:cs typeface="Times New Roman" pitchFamily="18" charset="0"/>
              </a:rPr>
              <a:t>询问决策者，</a:t>
            </a:r>
            <a:r>
              <a:rPr lang="zh-CN" altLang="zh-CN" sz="2400" dirty="0">
                <a:solidFill>
                  <a:srgbClr val="003366"/>
                </a:solidFill>
                <a:latin typeface="Times New Roman" pitchFamily="18" charset="0"/>
                <a:ea typeface="微软雅黑" pitchFamily="34" charset="-122"/>
                <a:cs typeface="Times New Roman" pitchFamily="18" charset="0"/>
              </a:rPr>
              <a:t>不断改变</a:t>
            </a:r>
            <a:r>
              <a:rPr lang="zh-CN" altLang="en-US" sz="2400" dirty="0">
                <a:solidFill>
                  <a:srgbClr val="003366"/>
                </a:solidFill>
                <a:latin typeface="Times New Roman" pitchFamily="18" charset="0"/>
                <a:ea typeface="微软雅黑" pitchFamily="34" charset="-122"/>
                <a:cs typeface="Times New Roman" pitchFamily="18" charset="0"/>
              </a:rPr>
              <a:t>乙的</a:t>
            </a:r>
            <a:r>
              <a:rPr lang="zh-CN" altLang="zh-CN" sz="2400" dirty="0">
                <a:solidFill>
                  <a:srgbClr val="003366"/>
                </a:solidFill>
                <a:latin typeface="Times New Roman" pitchFamily="18" charset="0"/>
                <a:ea typeface="微软雅黑" pitchFamily="34" charset="-122"/>
                <a:cs typeface="Times New Roman" pitchFamily="18" charset="0"/>
              </a:rPr>
              <a:t>损益值，使决策者感到某一损益值与方案甲具有同样的效用</a:t>
            </a:r>
            <a:r>
              <a:rPr lang="zh-CN" altLang="en-US" sz="2400" dirty="0">
                <a:solidFill>
                  <a:srgbClr val="003366"/>
                </a:solidFill>
                <a:latin typeface="Times New Roman" pitchFamily="18" charset="0"/>
                <a:ea typeface="微软雅黑" pitchFamily="34" charset="-122"/>
                <a:cs typeface="Times New Roman" pitchFamily="18" charset="0"/>
              </a:rPr>
              <a:t>。该损益值的期望效用为</a:t>
            </a:r>
            <a:r>
              <a:rPr lang="en-US" altLang="zh-CN" sz="2400" dirty="0">
                <a:solidFill>
                  <a:srgbClr val="003366"/>
                </a:solidFill>
                <a:latin typeface="Times New Roman" pitchFamily="18" charset="0"/>
                <a:ea typeface="微软雅黑" pitchFamily="34" charset="-122"/>
                <a:cs typeface="Times New Roman" pitchFamily="18" charset="0"/>
              </a:rPr>
              <a:t>0.5</a:t>
            </a:r>
            <a:r>
              <a:rPr lang="zh-CN" altLang="en-US" sz="2400" dirty="0">
                <a:solidFill>
                  <a:srgbClr val="003366"/>
                </a:solidFill>
                <a:latin typeface="Times New Roman" pitchFamily="18" charset="0"/>
                <a:ea typeface="微软雅黑" pitchFamily="34" charset="-122"/>
                <a:cs typeface="Times New Roman" pitchFamily="18" charset="0"/>
              </a:rPr>
              <a:t>。</a:t>
            </a:r>
          </a:p>
        </p:txBody>
      </p:sp>
      <p:pic>
        <p:nvPicPr>
          <p:cNvPr id="880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1290" y="2973709"/>
            <a:ext cx="2790825" cy="189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0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2138" y="4689161"/>
            <a:ext cx="2828925"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26571750"/>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矩形 9"/>
          <p:cNvSpPr>
            <a:spLocks noChangeArrowheads="1"/>
          </p:cNvSpPr>
          <p:nvPr/>
        </p:nvSpPr>
        <p:spPr bwMode="auto">
          <a:xfrm>
            <a:off x="1441494" y="368609"/>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数据驱动的统计决策方法</a:t>
            </a:r>
            <a:endParaRPr lang="zh-CN" altLang="en-US" sz="3200" dirty="0">
              <a:solidFill>
                <a:schemeClr val="bg1"/>
              </a:solidFill>
              <a:latin typeface="Times New Roman" pitchFamily="18" charset="0"/>
              <a:ea typeface="微软雅黑" pitchFamily="34" charset="-122"/>
              <a:cs typeface="Times New Roman" pitchFamily="18" charset="0"/>
            </a:endParaRPr>
          </a:p>
        </p:txBody>
      </p:sp>
      <p:sp>
        <p:nvSpPr>
          <p:cNvPr id="2" name="矩形 1"/>
          <p:cNvSpPr/>
          <p:nvPr/>
        </p:nvSpPr>
        <p:spPr>
          <a:xfrm>
            <a:off x="251448" y="1268724"/>
            <a:ext cx="8641104" cy="830997"/>
          </a:xfrm>
          <a:prstGeom prst="rect">
            <a:avLst/>
          </a:prstGeom>
        </p:spPr>
        <p:txBody>
          <a:bodyPr wrap="square">
            <a:spAutoFit/>
          </a:bodyPr>
          <a:lstStyle/>
          <a:p>
            <a:r>
              <a:rPr lang="zh-CN" altLang="en-US" sz="2400" dirty="0">
                <a:solidFill>
                  <a:srgbClr val="C00000"/>
                </a:solidFill>
                <a:latin typeface="+mn-ea"/>
                <a:ea typeface="+mn-ea"/>
              </a:rPr>
              <a:t>    针对</a:t>
            </a:r>
            <a:r>
              <a:rPr lang="en-US" altLang="zh-CN" sz="2400" dirty="0">
                <a:solidFill>
                  <a:srgbClr val="C00000"/>
                </a:solidFill>
                <a:latin typeface="+mn-ea"/>
                <a:ea typeface="+mn-ea"/>
              </a:rPr>
              <a:t>(b),</a:t>
            </a:r>
            <a:r>
              <a:rPr lang="zh-CN" altLang="en-US" sz="2400" dirty="0">
                <a:solidFill>
                  <a:srgbClr val="C00000"/>
                </a:solidFill>
                <a:latin typeface="+mn-ea"/>
                <a:ea typeface="+mn-ea"/>
              </a:rPr>
              <a:t>重复心理调查，</a:t>
            </a:r>
            <a:r>
              <a:rPr lang="zh-CN" altLang="en-US" sz="2400" dirty="0">
                <a:solidFill>
                  <a:srgbClr val="003366"/>
                </a:solidFill>
                <a:latin typeface="Times New Roman" pitchFamily="18" charset="0"/>
                <a:ea typeface="微软雅黑" pitchFamily="34" charset="-122"/>
                <a:cs typeface="Times New Roman" pitchFamily="18" charset="0"/>
              </a:rPr>
              <a:t>若得到损益值为</a:t>
            </a:r>
            <a:r>
              <a:rPr lang="en-US" altLang="zh-CN" sz="2400" dirty="0">
                <a:solidFill>
                  <a:srgbClr val="003366"/>
                </a:solidFill>
                <a:latin typeface="Times New Roman" pitchFamily="18" charset="0"/>
                <a:ea typeface="微软雅黑" pitchFamily="34" charset="-122"/>
                <a:cs typeface="Times New Roman" pitchFamily="18" charset="0"/>
              </a:rPr>
              <a:t>80</a:t>
            </a:r>
            <a:r>
              <a:rPr lang="zh-CN" altLang="en-US" sz="2400" dirty="0">
                <a:solidFill>
                  <a:srgbClr val="003366"/>
                </a:solidFill>
                <a:latin typeface="Times New Roman" pitchFamily="18" charset="0"/>
                <a:ea typeface="微软雅黑" pitchFamily="34" charset="-122"/>
                <a:cs typeface="Times New Roman" pitchFamily="18" charset="0"/>
              </a:rPr>
              <a:t>与 </a:t>
            </a:r>
            <a:r>
              <a:rPr lang="en-US" altLang="zh-CN" sz="2400" dirty="0">
                <a:solidFill>
                  <a:srgbClr val="003366"/>
                </a:solidFill>
                <a:latin typeface="Times New Roman" pitchFamily="18" charset="0"/>
                <a:ea typeface="微软雅黑" pitchFamily="34" charset="-122"/>
                <a:cs typeface="Times New Roman" pitchFamily="18" charset="0"/>
              </a:rPr>
              <a:t>(b)</a:t>
            </a:r>
            <a:r>
              <a:rPr lang="zh-CN" altLang="en-US" sz="2400" dirty="0">
                <a:solidFill>
                  <a:srgbClr val="003366"/>
                </a:solidFill>
                <a:latin typeface="Times New Roman" pitchFamily="18" charset="0"/>
                <a:ea typeface="微软雅黑" pitchFamily="34" charset="-122"/>
                <a:cs typeface="Times New Roman" pitchFamily="18" charset="0"/>
              </a:rPr>
              <a:t>效用相同，则</a:t>
            </a:r>
            <a:r>
              <a:rPr lang="en-US" altLang="zh-CN" sz="2400" dirty="0">
                <a:solidFill>
                  <a:srgbClr val="003366"/>
                </a:solidFill>
                <a:latin typeface="Times New Roman" pitchFamily="18" charset="0"/>
                <a:ea typeface="微软雅黑" pitchFamily="34" charset="-122"/>
                <a:cs typeface="Times New Roman" pitchFamily="18" charset="0"/>
              </a:rPr>
              <a:t>80</a:t>
            </a:r>
            <a:r>
              <a:rPr lang="zh-CN" altLang="en-US" sz="2400" dirty="0">
                <a:solidFill>
                  <a:srgbClr val="003366"/>
                </a:solidFill>
                <a:latin typeface="Times New Roman" pitchFamily="18" charset="0"/>
                <a:ea typeface="微软雅黑" pitchFamily="34" charset="-122"/>
                <a:cs typeface="Times New Roman" pitchFamily="18" charset="0"/>
              </a:rPr>
              <a:t>元的效用值为：</a:t>
            </a:r>
          </a:p>
        </p:txBody>
      </p:sp>
      <mc:AlternateContent xmlns:mc="http://schemas.openxmlformats.org/markup-compatibility/2006" xmlns:a14="http://schemas.microsoft.com/office/drawing/2010/main">
        <mc:Choice Requires="a14">
          <p:sp>
            <p:nvSpPr>
              <p:cNvPr id="3" name="矩形 2"/>
              <p:cNvSpPr/>
              <p:nvPr/>
            </p:nvSpPr>
            <p:spPr>
              <a:xfrm>
                <a:off x="2719780" y="2086831"/>
                <a:ext cx="3420436"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a:latin typeface="Cambria Math"/>
                        </a:rPr>
                        <m:t>0.5×1.0+0.5×0.5=0.75</m:t>
                      </m:r>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2719780" y="2086831"/>
                <a:ext cx="3420436" cy="369332"/>
              </a:xfrm>
              <a:prstGeom prst="rect">
                <a:avLst/>
              </a:prstGeom>
              <a:blipFill rotWithShape="1">
                <a:blip r:embed="rId2"/>
                <a:stretch>
                  <a:fillRect/>
                </a:stretch>
              </a:blipFill>
            </p:spPr>
            <p:txBody>
              <a:bodyPr/>
              <a:lstStyle/>
              <a:p>
                <a:r>
                  <a:rPr lang="zh-CN" altLang="en-US">
                    <a:noFill/>
                  </a:rPr>
                  <a:t> </a:t>
                </a:r>
              </a:p>
            </p:txBody>
          </p:sp>
        </mc:Fallback>
      </mc:AlternateContent>
      <p:sp>
        <p:nvSpPr>
          <p:cNvPr id="4" name="矩形 3"/>
          <p:cNvSpPr/>
          <p:nvPr/>
        </p:nvSpPr>
        <p:spPr>
          <a:xfrm>
            <a:off x="251448" y="2708908"/>
            <a:ext cx="8281057" cy="830997"/>
          </a:xfrm>
          <a:prstGeom prst="rect">
            <a:avLst/>
          </a:prstGeom>
        </p:spPr>
        <p:txBody>
          <a:bodyPr wrap="square">
            <a:spAutoFit/>
          </a:bodyPr>
          <a:lstStyle/>
          <a:p>
            <a:r>
              <a:rPr lang="zh-CN" altLang="en-US" sz="2400" dirty="0">
                <a:latin typeface="+mn-ea"/>
                <a:ea typeface="+mn-ea"/>
              </a:rPr>
              <a:t>     </a:t>
            </a:r>
            <a:r>
              <a:rPr lang="zh-CN" altLang="en-US" sz="2400" dirty="0">
                <a:solidFill>
                  <a:srgbClr val="003366"/>
                </a:solidFill>
                <a:latin typeface="Times New Roman" pitchFamily="18" charset="0"/>
                <a:ea typeface="微软雅黑" pitchFamily="34" charset="-122"/>
                <a:cs typeface="Times New Roman" pitchFamily="18" charset="0"/>
              </a:rPr>
              <a:t>采用同样办法，可以得到许多这样的点，把它们连接起来就成为所谓的效用曲线。</a:t>
            </a:r>
          </a:p>
        </p:txBody>
      </p:sp>
      <p:pic>
        <p:nvPicPr>
          <p:cNvPr id="890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8764" y="3539905"/>
            <a:ext cx="5430923" cy="3068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295354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inVertical)">
                                      <p:cBhvr>
                                        <p:cTn id="15" dur="500"/>
                                        <p:tgtEl>
                                          <p:spTgt spid="4"/>
                                        </p:tgtEl>
                                      </p:cBhvr>
                                    </p:animEffect>
                                  </p:childTnLst>
                                </p:cTn>
                              </p:par>
                              <p:par>
                                <p:cTn id="16" presetID="16" presetClass="entr" presetSubtype="21" fill="hold" nodeType="withEffect">
                                  <p:stCondLst>
                                    <p:cond delay="0"/>
                                  </p:stCondLst>
                                  <p:childTnLst>
                                    <p:set>
                                      <p:cBhvr>
                                        <p:cTn id="17" dur="1" fill="hold">
                                          <p:stCondLst>
                                            <p:cond delay="0"/>
                                          </p:stCondLst>
                                        </p:cTn>
                                        <p:tgtEl>
                                          <p:spTgt spid="89090"/>
                                        </p:tgtEl>
                                        <p:attrNameLst>
                                          <p:attrName>style.visibility</p:attrName>
                                        </p:attrNameLst>
                                      </p:cBhvr>
                                      <p:to>
                                        <p:strVal val="visible"/>
                                      </p:to>
                                    </p:set>
                                    <p:animEffect transition="in" filter="barn(inVertical)">
                                      <p:cBhvr>
                                        <p:cTn id="18" dur="500"/>
                                        <p:tgtEl>
                                          <p:spTgt spid="89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矩形 9"/>
          <p:cNvSpPr>
            <a:spLocks noChangeArrowheads="1"/>
          </p:cNvSpPr>
          <p:nvPr/>
        </p:nvSpPr>
        <p:spPr bwMode="auto">
          <a:xfrm>
            <a:off x="1441494" y="368609"/>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数据驱动的统计决策方法</a:t>
            </a:r>
            <a:endParaRPr lang="zh-CN" altLang="en-US" sz="3200" dirty="0">
              <a:solidFill>
                <a:schemeClr val="bg1"/>
              </a:solidFill>
              <a:latin typeface="Times New Roman" pitchFamily="18" charset="0"/>
              <a:ea typeface="微软雅黑" pitchFamily="34" charset="-122"/>
              <a:cs typeface="Times New Roman" pitchFamily="18" charset="0"/>
            </a:endParaRPr>
          </a:p>
        </p:txBody>
      </p:sp>
      <p:sp>
        <p:nvSpPr>
          <p:cNvPr id="4" name="矩形 3"/>
          <p:cNvSpPr/>
          <p:nvPr/>
        </p:nvSpPr>
        <p:spPr>
          <a:xfrm>
            <a:off x="251448" y="1088701"/>
            <a:ext cx="8641104" cy="2308324"/>
          </a:xfrm>
          <a:prstGeom prst="rect">
            <a:avLst/>
          </a:prstGeom>
        </p:spPr>
        <p:txBody>
          <a:bodyPr wrap="square">
            <a:spAutoFit/>
          </a:bodyPr>
          <a:lstStyle/>
          <a:p>
            <a:r>
              <a:rPr lang="zh-CN" altLang="en-US" sz="2400" b="1" dirty="0">
                <a:solidFill>
                  <a:srgbClr val="C00000"/>
                </a:solidFill>
                <a:latin typeface="Times New Roman" pitchFamily="18" charset="0"/>
                <a:ea typeface="微软雅黑" pitchFamily="34" charset="-122"/>
                <a:cs typeface="Times New Roman" pitchFamily="18" charset="0"/>
              </a:rPr>
              <a:t>例： </a:t>
            </a:r>
            <a:r>
              <a:rPr lang="zh-CN" altLang="en-US" sz="2400" dirty="0">
                <a:solidFill>
                  <a:srgbClr val="003366"/>
                </a:solidFill>
                <a:latin typeface="Times New Roman" pitchFamily="18" charset="0"/>
                <a:ea typeface="微软雅黑" pitchFamily="34" charset="-122"/>
                <a:cs typeface="Times New Roman" pitchFamily="18" charset="0"/>
              </a:rPr>
              <a:t>某公司为了生产某种产品设计了两个可行的建设方案：一个方案是建设大工厂，另一个方案是建设小工厂。建设大工厂需要投资</a:t>
            </a:r>
            <a:r>
              <a:rPr lang="en-US" altLang="zh-CN" sz="2400" dirty="0">
                <a:solidFill>
                  <a:srgbClr val="003366"/>
                </a:solidFill>
                <a:latin typeface="Times New Roman" pitchFamily="18" charset="0"/>
                <a:ea typeface="微软雅黑" pitchFamily="34" charset="-122"/>
                <a:cs typeface="Times New Roman" pitchFamily="18" charset="0"/>
              </a:rPr>
              <a:t>3000</a:t>
            </a:r>
            <a:r>
              <a:rPr lang="zh-CN" altLang="en-US" sz="2400" dirty="0">
                <a:solidFill>
                  <a:srgbClr val="003366"/>
                </a:solidFill>
                <a:latin typeface="Times New Roman" pitchFamily="18" charset="0"/>
                <a:ea typeface="微软雅黑" pitchFamily="34" charset="-122"/>
                <a:cs typeface="Times New Roman" pitchFamily="18" charset="0"/>
              </a:rPr>
              <a:t>万元，建设小工厂需要投资</a:t>
            </a:r>
            <a:r>
              <a:rPr lang="en-US" altLang="zh-CN" sz="2400" dirty="0">
                <a:solidFill>
                  <a:srgbClr val="003366"/>
                </a:solidFill>
                <a:latin typeface="Times New Roman" pitchFamily="18" charset="0"/>
                <a:ea typeface="微软雅黑" pitchFamily="34" charset="-122"/>
                <a:cs typeface="Times New Roman" pitchFamily="18" charset="0"/>
              </a:rPr>
              <a:t>1600</a:t>
            </a:r>
            <a:r>
              <a:rPr lang="zh-CN" altLang="en-US" sz="2400" dirty="0">
                <a:solidFill>
                  <a:srgbClr val="003366"/>
                </a:solidFill>
                <a:latin typeface="Times New Roman" pitchFamily="18" charset="0"/>
                <a:ea typeface="微软雅黑" pitchFamily="34" charset="-122"/>
                <a:cs typeface="Times New Roman" pitchFamily="18" charset="0"/>
              </a:rPr>
              <a:t>万元，两者的使用期限都是</a:t>
            </a:r>
            <a:r>
              <a:rPr lang="en-US" altLang="zh-CN" sz="2400" dirty="0">
                <a:solidFill>
                  <a:srgbClr val="003366"/>
                </a:solidFill>
                <a:latin typeface="Times New Roman" pitchFamily="18" charset="0"/>
                <a:ea typeface="微软雅黑" pitchFamily="34" charset="-122"/>
                <a:cs typeface="Times New Roman" pitchFamily="18" charset="0"/>
              </a:rPr>
              <a:t>10</a:t>
            </a:r>
            <a:r>
              <a:rPr lang="zh-CN" altLang="en-US" sz="2400" dirty="0">
                <a:solidFill>
                  <a:srgbClr val="003366"/>
                </a:solidFill>
                <a:latin typeface="Times New Roman" pitchFamily="18" charset="0"/>
                <a:ea typeface="微软雅黑" pitchFamily="34" charset="-122"/>
                <a:cs typeface="Times New Roman" pitchFamily="18" charset="0"/>
              </a:rPr>
              <a:t>年。估计在此期间该产品销路好的可能性为</a:t>
            </a:r>
            <a:r>
              <a:rPr lang="en-US" altLang="zh-CN" sz="2400" dirty="0">
                <a:solidFill>
                  <a:srgbClr val="003366"/>
                </a:solidFill>
                <a:latin typeface="Times New Roman" pitchFamily="18" charset="0"/>
                <a:ea typeface="微软雅黑" pitchFamily="34" charset="-122"/>
                <a:cs typeface="Times New Roman" pitchFamily="18" charset="0"/>
              </a:rPr>
              <a:t>0.7</a:t>
            </a:r>
            <a:r>
              <a:rPr lang="zh-CN" altLang="en-US" sz="2400" dirty="0">
                <a:solidFill>
                  <a:srgbClr val="003366"/>
                </a:solidFill>
                <a:latin typeface="Times New Roman" pitchFamily="18" charset="0"/>
                <a:ea typeface="微软雅黑" pitchFamily="34" charset="-122"/>
                <a:cs typeface="Times New Roman" pitchFamily="18" charset="0"/>
              </a:rPr>
              <a:t>，销路差的可能性为</a:t>
            </a:r>
            <a:r>
              <a:rPr lang="en-US" altLang="zh-CN" sz="2400" dirty="0">
                <a:solidFill>
                  <a:srgbClr val="003366"/>
                </a:solidFill>
                <a:latin typeface="Times New Roman" pitchFamily="18" charset="0"/>
                <a:ea typeface="微软雅黑" pitchFamily="34" charset="-122"/>
                <a:cs typeface="Times New Roman" pitchFamily="18" charset="0"/>
              </a:rPr>
              <a:t>0.3</a:t>
            </a:r>
            <a:r>
              <a:rPr lang="zh-CN" altLang="en-US" sz="2400" dirty="0">
                <a:solidFill>
                  <a:srgbClr val="003366"/>
                </a:solidFill>
                <a:latin typeface="Times New Roman" pitchFamily="18" charset="0"/>
                <a:ea typeface="微软雅黑" pitchFamily="34" charset="-122"/>
                <a:cs typeface="Times New Roman" pitchFamily="18" charset="0"/>
              </a:rPr>
              <a:t>，两个方案投产后的年度损益值和期望损益值如下表所示。</a:t>
            </a:r>
          </a:p>
        </p:txBody>
      </p:sp>
      <p:sp>
        <p:nvSpPr>
          <p:cNvPr id="7" name="文本框 105"/>
          <p:cNvSpPr txBox="1"/>
          <p:nvPr/>
        </p:nvSpPr>
        <p:spPr>
          <a:xfrm>
            <a:off x="431472" y="3538182"/>
            <a:ext cx="8101034" cy="430887"/>
          </a:xfrm>
          <a:prstGeom prst="rect">
            <a:avLst/>
          </a:prstGeom>
          <a:noFill/>
          <a:ln w="9525">
            <a:noFill/>
          </a:ln>
        </p:spPr>
        <p:txBody>
          <a:bodyPr wrap="square">
            <a:spAutoFit/>
          </a:bodyPr>
          <a:lstStyle/>
          <a:p>
            <a:pPr indent="0" algn="ctr"/>
            <a:r>
              <a:rPr lang="zh-CN" sz="2200" dirty="0">
                <a:latin typeface="+mn-ea"/>
                <a:ea typeface="+mn-ea"/>
              </a:rPr>
              <a:t>两个建设方案投产后的年度损益值和期望损益值（单位：万元）</a:t>
            </a:r>
            <a:endParaRPr lang="zh-CN" altLang="en-US" sz="2200" dirty="0">
              <a:latin typeface="+mn-ea"/>
              <a:ea typeface="+mn-ea"/>
            </a:endParaRPr>
          </a:p>
        </p:txBody>
      </p:sp>
      <p:graphicFrame>
        <p:nvGraphicFramePr>
          <p:cNvPr id="6" name="表格 5"/>
          <p:cNvGraphicFramePr>
            <a:graphicFrameLocks noGrp="1"/>
          </p:cNvGraphicFramePr>
          <p:nvPr>
            <p:extLst>
              <p:ext uri="{D42A27DB-BD31-4B8C-83A1-F6EECF244321}">
                <p14:modId xmlns:p14="http://schemas.microsoft.com/office/powerpoint/2010/main" val="2304729440"/>
              </p:ext>
            </p:extLst>
          </p:nvPr>
        </p:nvGraphicFramePr>
        <p:xfrm>
          <a:off x="311048" y="4149092"/>
          <a:ext cx="8006073" cy="1621472"/>
        </p:xfrm>
        <a:graphic>
          <a:graphicData uri="http://schemas.openxmlformats.org/drawingml/2006/table">
            <a:tbl>
              <a:tblPr firstRow="1" bandRow="1">
                <a:tableStyleId>{5940675A-B579-460E-94D1-54222C63F5DA}</a:tableStyleId>
              </a:tblPr>
              <a:tblGrid>
                <a:gridCol w="2000768">
                  <a:extLst>
                    <a:ext uri="{9D8B030D-6E8A-4147-A177-3AD203B41FA5}">
                      <a16:colId xmlns:a16="http://schemas.microsoft.com/office/drawing/2014/main" val="20000"/>
                    </a:ext>
                  </a:extLst>
                </a:gridCol>
                <a:gridCol w="2000768">
                  <a:extLst>
                    <a:ext uri="{9D8B030D-6E8A-4147-A177-3AD203B41FA5}">
                      <a16:colId xmlns:a16="http://schemas.microsoft.com/office/drawing/2014/main" val="20001"/>
                    </a:ext>
                  </a:extLst>
                </a:gridCol>
                <a:gridCol w="2000768">
                  <a:extLst>
                    <a:ext uri="{9D8B030D-6E8A-4147-A177-3AD203B41FA5}">
                      <a16:colId xmlns:a16="http://schemas.microsoft.com/office/drawing/2014/main" val="20002"/>
                    </a:ext>
                  </a:extLst>
                </a:gridCol>
                <a:gridCol w="2003769">
                  <a:extLst>
                    <a:ext uri="{9D8B030D-6E8A-4147-A177-3AD203B41FA5}">
                      <a16:colId xmlns:a16="http://schemas.microsoft.com/office/drawing/2014/main" val="20003"/>
                    </a:ext>
                  </a:extLst>
                </a:gridCol>
              </a:tblGrid>
              <a:tr h="405368">
                <a:tc rowSpan="2">
                  <a:txBody>
                    <a:bodyPr/>
                    <a:lstStyle/>
                    <a:p>
                      <a:pPr indent="0" algn="ctr">
                        <a:buNone/>
                      </a:pPr>
                      <a:r>
                        <a:rPr lang="en-US" sz="2000" dirty="0" err="1"/>
                        <a:t>方案</a:t>
                      </a:r>
                      <a:endParaRPr lang="en-US" altLang="en-US" sz="2000" b="0" dirty="0">
                        <a:latin typeface="+mn-ea"/>
                        <a:ea typeface="+mn-ea"/>
                        <a:cs typeface="宋体" panose="02010600030101010101" pitchFamily="2" charset="-122"/>
                      </a:endParaRPr>
                    </a:p>
                  </a:txBody>
                  <a:tcPr marL="68580" marR="68580" marT="0" marB="0" anchor="ctr"/>
                </a:tc>
                <a:tc gridSpan="2">
                  <a:txBody>
                    <a:bodyPr/>
                    <a:lstStyle/>
                    <a:p>
                      <a:pPr indent="0" algn="ctr">
                        <a:buNone/>
                      </a:pPr>
                      <a:r>
                        <a:rPr lang="en-US" sz="2000" dirty="0" err="1"/>
                        <a:t>年度损益值</a:t>
                      </a:r>
                      <a:endParaRPr lang="en-US" altLang="en-US" sz="2000" b="0" dirty="0">
                        <a:latin typeface="+mn-ea"/>
                        <a:ea typeface="+mn-ea"/>
                        <a:cs typeface="宋体" panose="02010600030101010101" pitchFamily="2" charset="-122"/>
                      </a:endParaRPr>
                    </a:p>
                  </a:txBody>
                  <a:tcPr marL="68580" marR="68580" marT="0" marB="0" anchor="ct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rowSpan="2">
                  <a:txBody>
                    <a:bodyPr/>
                    <a:lstStyle/>
                    <a:p>
                      <a:pPr indent="0" algn="ctr">
                        <a:buNone/>
                      </a:pPr>
                      <a:r>
                        <a:rPr lang="en-US" sz="2000" dirty="0"/>
                        <a:t>10</a:t>
                      </a:r>
                      <a:r>
                        <a:rPr lang="zh-CN" altLang="en-US" sz="2000" dirty="0"/>
                        <a:t>年</a:t>
                      </a:r>
                      <a:r>
                        <a:rPr lang="en-US" sz="2000" dirty="0" err="1"/>
                        <a:t>期望损益值</a:t>
                      </a:r>
                      <a:endParaRPr lang="en-US" altLang="en-US" sz="2000" b="0" dirty="0">
                        <a:latin typeface="+mn-ea"/>
                        <a:ea typeface="+mn-ea"/>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405368">
                <a:tc vMerge="1">
                  <a:txBody>
                    <a:bodyPr/>
                    <a:lstStyle/>
                    <a:p>
                      <a:endParaRPr lang="zh-CN"/>
                    </a:p>
                  </a:txBody>
                  <a:tcPr>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sz="2000" dirty="0"/>
                        <a:t>销路好（0.7）</a:t>
                      </a:r>
                      <a:endParaRPr lang="en-US" altLang="en-US" sz="2000" b="0" dirty="0">
                        <a:latin typeface="+mn-ea"/>
                        <a:ea typeface="+mn-ea"/>
                        <a:cs typeface="宋体" panose="02010600030101010101" pitchFamily="2" charset="-122"/>
                      </a:endParaRPr>
                    </a:p>
                  </a:txBody>
                  <a:tcPr marL="68580" marR="68580" marT="0" marB="0" anchor="ctr"/>
                </a:tc>
                <a:tc>
                  <a:txBody>
                    <a:bodyPr/>
                    <a:lstStyle/>
                    <a:p>
                      <a:pPr indent="0" algn="ctr">
                        <a:buNone/>
                      </a:pPr>
                      <a:r>
                        <a:rPr lang="en-US" sz="2000" dirty="0"/>
                        <a:t>销路差（0.3）</a:t>
                      </a:r>
                      <a:endParaRPr lang="en-US" altLang="en-US" sz="2000" b="0" dirty="0">
                        <a:latin typeface="+mn-ea"/>
                        <a:ea typeface="+mn-ea"/>
                        <a:cs typeface="宋体" panose="02010600030101010101" pitchFamily="2" charset="-122"/>
                      </a:endParaRPr>
                    </a:p>
                  </a:txBody>
                  <a:tcPr marL="68580" marR="68580" marT="0" marB="0" anchor="ctr"/>
                </a:tc>
                <a:tc vMerge="1">
                  <a:txBody>
                    <a:bodyPr/>
                    <a:lstStyle/>
                    <a:p>
                      <a:endParaRPr lang="zh-CN"/>
                    </a:p>
                  </a:txBody>
                  <a:tcPr>
                    <a:lnL w="12700" cap="flat" cmpd="sng">
                      <a:solidFill>
                        <a:srgbClr val="080000"/>
                      </a:solidFill>
                      <a:prstDash val="solid"/>
                      <a:headEnd type="none" w="med" len="med"/>
                      <a:tailEnd type="none" w="med" len="med"/>
                    </a:lnL>
                    <a:lnR cap="flat">
                      <a:noFill/>
                    </a:lnR>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1"/>
                  </a:ext>
                </a:extLst>
              </a:tr>
              <a:tr h="405368">
                <a:tc>
                  <a:txBody>
                    <a:bodyPr/>
                    <a:lstStyle/>
                    <a:p>
                      <a:pPr indent="0" algn="ctr">
                        <a:buNone/>
                      </a:pPr>
                      <a:r>
                        <a:rPr lang="en-US" sz="2000"/>
                        <a:t>建设大工厂</a:t>
                      </a:r>
                      <a:endParaRPr lang="en-US" altLang="en-US" sz="2000" b="0">
                        <a:latin typeface="+mn-ea"/>
                        <a:ea typeface="+mn-ea"/>
                        <a:cs typeface="宋体" panose="02010600030101010101" pitchFamily="2" charset="-122"/>
                      </a:endParaRPr>
                    </a:p>
                  </a:txBody>
                  <a:tcPr marL="68580" marR="68580" marT="0" marB="0" anchor="ctr"/>
                </a:tc>
                <a:tc>
                  <a:txBody>
                    <a:bodyPr/>
                    <a:lstStyle/>
                    <a:p>
                      <a:pPr indent="0" algn="ctr">
                        <a:buNone/>
                      </a:pPr>
                      <a:r>
                        <a:rPr lang="en-US" sz="2000" dirty="0"/>
                        <a:t>1000</a:t>
                      </a:r>
                      <a:endParaRPr lang="en-US" altLang="en-US" sz="2000" b="0" dirty="0">
                        <a:latin typeface="+mn-ea"/>
                        <a:ea typeface="+mn-ea"/>
                        <a:cs typeface="宋体" panose="02010600030101010101" pitchFamily="2" charset="-122"/>
                      </a:endParaRPr>
                    </a:p>
                  </a:txBody>
                  <a:tcPr marL="68580" marR="68580" marT="0" marB="0" anchor="ctr"/>
                </a:tc>
                <a:tc>
                  <a:txBody>
                    <a:bodyPr/>
                    <a:lstStyle/>
                    <a:p>
                      <a:pPr indent="0" algn="ctr">
                        <a:buNone/>
                      </a:pPr>
                      <a:r>
                        <a:rPr lang="en-US" sz="2000" dirty="0"/>
                        <a:t>-200</a:t>
                      </a:r>
                      <a:endParaRPr lang="en-US" altLang="en-US" sz="2000" b="0" dirty="0">
                        <a:latin typeface="+mn-ea"/>
                        <a:ea typeface="+mn-ea"/>
                        <a:cs typeface="宋体" panose="02010600030101010101" pitchFamily="2" charset="-122"/>
                      </a:endParaRPr>
                    </a:p>
                  </a:txBody>
                  <a:tcPr marL="68580" marR="68580" marT="0" marB="0" anchor="ctr"/>
                </a:tc>
                <a:tc>
                  <a:txBody>
                    <a:bodyPr/>
                    <a:lstStyle/>
                    <a:p>
                      <a:pPr indent="0" algn="ctr">
                        <a:buNone/>
                      </a:pPr>
                      <a:r>
                        <a:rPr lang="en-US" sz="2000" dirty="0"/>
                        <a:t>3400</a:t>
                      </a:r>
                      <a:endParaRPr lang="en-US" altLang="en-US" sz="2000" b="0" dirty="0">
                        <a:latin typeface="+mn-ea"/>
                        <a:ea typeface="+mn-ea"/>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405368">
                <a:tc>
                  <a:txBody>
                    <a:bodyPr/>
                    <a:lstStyle/>
                    <a:p>
                      <a:pPr indent="0" algn="ctr">
                        <a:buNone/>
                      </a:pPr>
                      <a:r>
                        <a:rPr lang="en-US" sz="2000"/>
                        <a:t>建设小工厂</a:t>
                      </a:r>
                      <a:endParaRPr lang="en-US" altLang="en-US" sz="2000" b="0">
                        <a:latin typeface="+mn-ea"/>
                        <a:ea typeface="+mn-ea"/>
                        <a:cs typeface="宋体" panose="02010600030101010101" pitchFamily="2" charset="-122"/>
                      </a:endParaRPr>
                    </a:p>
                  </a:txBody>
                  <a:tcPr marL="68580" marR="68580" marT="0" marB="0" anchor="ctr"/>
                </a:tc>
                <a:tc>
                  <a:txBody>
                    <a:bodyPr/>
                    <a:lstStyle/>
                    <a:p>
                      <a:pPr indent="0" algn="ctr">
                        <a:buNone/>
                      </a:pPr>
                      <a:r>
                        <a:rPr lang="en-US" sz="2000"/>
                        <a:t>400</a:t>
                      </a:r>
                      <a:endParaRPr lang="en-US" altLang="en-US" sz="2000" b="0">
                        <a:latin typeface="+mn-ea"/>
                        <a:ea typeface="+mn-ea"/>
                        <a:cs typeface="宋体" panose="02010600030101010101" pitchFamily="2" charset="-122"/>
                      </a:endParaRPr>
                    </a:p>
                  </a:txBody>
                  <a:tcPr marL="68580" marR="68580" marT="0" marB="0" anchor="ctr"/>
                </a:tc>
                <a:tc>
                  <a:txBody>
                    <a:bodyPr/>
                    <a:lstStyle/>
                    <a:p>
                      <a:pPr indent="0" algn="ctr">
                        <a:buNone/>
                      </a:pPr>
                      <a:r>
                        <a:rPr lang="en-US" sz="2000" dirty="0"/>
                        <a:t>100</a:t>
                      </a:r>
                      <a:endParaRPr lang="en-US" altLang="en-US" sz="2000" b="0" dirty="0">
                        <a:latin typeface="+mn-ea"/>
                        <a:ea typeface="+mn-ea"/>
                        <a:cs typeface="宋体" panose="02010600030101010101" pitchFamily="2" charset="-122"/>
                      </a:endParaRPr>
                    </a:p>
                  </a:txBody>
                  <a:tcPr marL="68580" marR="68580" marT="0" marB="0" anchor="ctr"/>
                </a:tc>
                <a:tc>
                  <a:txBody>
                    <a:bodyPr/>
                    <a:lstStyle/>
                    <a:p>
                      <a:pPr indent="0" algn="ctr">
                        <a:buNone/>
                      </a:pPr>
                      <a:r>
                        <a:rPr lang="en-US" sz="2000" dirty="0"/>
                        <a:t>1500</a:t>
                      </a:r>
                      <a:endParaRPr lang="en-US" altLang="en-US" sz="2000" b="0" dirty="0">
                        <a:latin typeface="+mn-ea"/>
                        <a:ea typeface="+mn-ea"/>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bl>
          </a:graphicData>
        </a:graphic>
      </p:graphicFrame>
      <p:sp>
        <p:nvSpPr>
          <p:cNvPr id="10" name="文本框 105"/>
          <p:cNvSpPr txBox="1"/>
          <p:nvPr/>
        </p:nvSpPr>
        <p:spPr>
          <a:xfrm>
            <a:off x="598963" y="6149377"/>
            <a:ext cx="7527198" cy="400110"/>
          </a:xfrm>
          <a:prstGeom prst="rect">
            <a:avLst/>
          </a:prstGeom>
          <a:noFill/>
          <a:ln w="9525">
            <a:noFill/>
          </a:ln>
        </p:spPr>
        <p:txBody>
          <a:bodyPr wrap="square">
            <a:spAutoFit/>
          </a:bodyPr>
          <a:lstStyle/>
          <a:p>
            <a:pPr indent="0" algn="ctr"/>
            <a:r>
              <a:rPr lang="zh-CN" altLang="en-US" sz="2000" b="1" dirty="0">
                <a:solidFill>
                  <a:srgbClr val="9900CC"/>
                </a:solidFill>
                <a:latin typeface="+mn-ea"/>
                <a:ea typeface="+mn-ea"/>
              </a:rPr>
              <a:t>根据期望值准则，建设大工厂为最佳方案。</a:t>
            </a:r>
          </a:p>
        </p:txBody>
      </p:sp>
    </p:spTree>
    <p:extLst>
      <p:ext uri="{BB962C8B-B14F-4D97-AF65-F5344CB8AC3E}">
        <p14:creationId xmlns:p14="http://schemas.microsoft.com/office/powerpoint/2010/main" val="1123227567"/>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矩形 9"/>
          <p:cNvSpPr>
            <a:spLocks noChangeArrowheads="1"/>
          </p:cNvSpPr>
          <p:nvPr/>
        </p:nvSpPr>
        <p:spPr bwMode="auto">
          <a:xfrm>
            <a:off x="1441494" y="368609"/>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数据驱动的统计决策方法</a:t>
            </a:r>
            <a:endParaRPr lang="zh-CN" altLang="en-US" sz="3200" dirty="0">
              <a:solidFill>
                <a:schemeClr val="bg1"/>
              </a:solidFill>
              <a:latin typeface="Times New Roman" pitchFamily="18" charset="0"/>
              <a:ea typeface="微软雅黑" pitchFamily="34" charset="-122"/>
              <a:cs typeface="Times New Roman" pitchFamily="18" charset="0"/>
            </a:endParaRPr>
          </a:p>
        </p:txBody>
      </p:sp>
      <p:sp>
        <p:nvSpPr>
          <p:cNvPr id="4" name="矩形 3"/>
          <p:cNvSpPr/>
          <p:nvPr/>
        </p:nvSpPr>
        <p:spPr>
          <a:xfrm>
            <a:off x="251448" y="987082"/>
            <a:ext cx="8641104" cy="461665"/>
          </a:xfrm>
          <a:prstGeom prst="rect">
            <a:avLst/>
          </a:prstGeom>
        </p:spPr>
        <p:txBody>
          <a:bodyPr wrap="square">
            <a:spAutoFit/>
          </a:bodyPr>
          <a:lstStyle/>
          <a:p>
            <a:r>
              <a:rPr lang="zh-CN" altLang="en-US" sz="2400" b="1" dirty="0">
                <a:solidFill>
                  <a:srgbClr val="C00000"/>
                </a:solidFill>
                <a:latin typeface="Times New Roman" pitchFamily="18" charset="0"/>
                <a:ea typeface="微软雅黑" pitchFamily="34" charset="-122"/>
                <a:cs typeface="Times New Roman" pitchFamily="18" charset="0"/>
              </a:rPr>
              <a:t>采用决策树方法：</a:t>
            </a:r>
            <a:endParaRPr lang="en-US" altLang="zh-CN" sz="2400" b="1" dirty="0">
              <a:solidFill>
                <a:srgbClr val="C00000"/>
              </a:solidFill>
              <a:latin typeface="Times New Roman" pitchFamily="18" charset="0"/>
              <a:ea typeface="微软雅黑" pitchFamily="34" charset="-122"/>
              <a:cs typeface="Times New Roman" pitchFamily="18" charset="0"/>
            </a:endParaRPr>
          </a:p>
        </p:txBody>
      </p:sp>
      <p:sp>
        <p:nvSpPr>
          <p:cNvPr id="8" name="Rectangle 3"/>
          <p:cNvSpPr txBox="1">
            <a:spLocks noChangeArrowheads="1"/>
          </p:cNvSpPr>
          <p:nvPr/>
        </p:nvSpPr>
        <p:spPr bwMode="auto">
          <a:xfrm>
            <a:off x="336365" y="1435741"/>
            <a:ext cx="8016118" cy="1806733"/>
          </a:xfrm>
          <a:prstGeom prst="rect">
            <a:avLst/>
          </a:prstGeom>
          <a:noFill/>
          <a:ln w="9525">
            <a:noFill/>
            <a:miter lim="800000"/>
          </a:ln>
          <a:effectLst/>
        </p:spPr>
        <p:txBody>
          <a:bodyPr/>
          <a:lstStyle/>
          <a:p>
            <a:pPr marR="0" indent="0" defTabSz="914400">
              <a:spcBef>
                <a:spcPct val="20000"/>
              </a:spcBef>
              <a:buClr>
                <a:srgbClr val="CCCC99"/>
              </a:buClr>
              <a:buSzPct val="90000"/>
              <a:buFont typeface="Wingdings" panose="05000000000000000000" pitchFamily="2" charset="2"/>
              <a:buNone/>
              <a:defRPr/>
            </a:pPr>
            <a:r>
              <a:rPr kumimoji="0" sz="2000" kern="0" cap="none" spc="0" normalizeH="0" baseline="0" noProof="0" dirty="0">
                <a:solidFill>
                  <a:srgbClr val="000000"/>
                </a:solidFill>
                <a:latin typeface="黑体" panose="02010609060101010101" pitchFamily="49" charset="-122"/>
                <a:ea typeface="黑体" panose="02010609060101010101" pitchFamily="49" charset="-122"/>
                <a:cs typeface="黑体" panose="02010609060101010101" pitchFamily="49" charset="-122"/>
              </a:rPr>
              <a:t>（1）建设大工厂方案在销路好时的损益值为：</a:t>
            </a:r>
          </a:p>
          <a:p>
            <a:pPr marR="0" indent="0" defTabSz="914400">
              <a:spcBef>
                <a:spcPct val="20000"/>
              </a:spcBef>
              <a:buClr>
                <a:srgbClr val="CCCC99"/>
              </a:buClr>
              <a:buSzPct val="90000"/>
              <a:buFont typeface="Wingdings" panose="05000000000000000000" pitchFamily="2" charset="2"/>
              <a:buNone/>
              <a:defRPr/>
            </a:pPr>
            <a:r>
              <a:rPr kumimoji="0" sz="2000" kern="0" cap="none" spc="0" normalizeH="0" baseline="0" noProof="0" dirty="0">
                <a:solidFill>
                  <a:srgbClr val="000000"/>
                </a:solidFill>
                <a:latin typeface="黑体" panose="02010609060101010101" pitchFamily="49" charset="-122"/>
                <a:ea typeface="黑体" panose="02010609060101010101" pitchFamily="49" charset="-122"/>
                <a:cs typeface="黑体" panose="02010609060101010101" pitchFamily="49" charset="-122"/>
              </a:rPr>
              <a:t>（2）建设大工厂方案在销路差时的损益值为：</a:t>
            </a:r>
          </a:p>
          <a:p>
            <a:pPr marR="0" indent="0" defTabSz="914400">
              <a:spcBef>
                <a:spcPct val="20000"/>
              </a:spcBef>
              <a:buClr>
                <a:srgbClr val="CCCC99"/>
              </a:buClr>
              <a:buSzPct val="90000"/>
              <a:buFont typeface="Wingdings" panose="05000000000000000000" pitchFamily="2" charset="2"/>
              <a:buNone/>
              <a:defRPr/>
            </a:pPr>
            <a:r>
              <a:rPr kumimoji="0" sz="2000" kern="0" cap="none" spc="0" normalizeH="0" baseline="0" noProof="0" dirty="0">
                <a:solidFill>
                  <a:srgbClr val="000000"/>
                </a:solidFill>
                <a:latin typeface="黑体" panose="02010609060101010101" pitchFamily="49" charset="-122"/>
                <a:ea typeface="黑体" panose="02010609060101010101" pitchFamily="49" charset="-122"/>
                <a:cs typeface="黑体" panose="02010609060101010101" pitchFamily="49" charset="-122"/>
              </a:rPr>
              <a:t>（3）建设小工厂方案在销路好时的损益值为：</a:t>
            </a:r>
          </a:p>
          <a:p>
            <a:pPr marR="0" indent="0" defTabSz="914400">
              <a:spcBef>
                <a:spcPct val="20000"/>
              </a:spcBef>
              <a:buClr>
                <a:srgbClr val="CCCC99"/>
              </a:buClr>
              <a:buSzPct val="90000"/>
              <a:buFont typeface="Wingdings" panose="05000000000000000000" pitchFamily="2" charset="2"/>
              <a:buNone/>
              <a:defRPr/>
            </a:pPr>
            <a:r>
              <a:rPr kumimoji="0" sz="2000" kern="0" cap="none" spc="0" normalizeH="0" baseline="0" noProof="0" dirty="0">
                <a:solidFill>
                  <a:srgbClr val="000000"/>
                </a:solidFill>
                <a:latin typeface="黑体" panose="02010609060101010101" pitchFamily="49" charset="-122"/>
                <a:ea typeface="黑体" panose="02010609060101010101" pitchFamily="49" charset="-122"/>
                <a:cs typeface="黑体" panose="02010609060101010101" pitchFamily="49" charset="-122"/>
              </a:rPr>
              <a:t>（4）建设小工厂方案在销路差时的损益值为：</a:t>
            </a:r>
          </a:p>
        </p:txBody>
      </p:sp>
      <p:graphicFrame>
        <p:nvGraphicFramePr>
          <p:cNvPr id="9" name="对象 8"/>
          <p:cNvGraphicFramePr/>
          <p:nvPr>
            <p:extLst>
              <p:ext uri="{D42A27DB-BD31-4B8C-83A1-F6EECF244321}">
                <p14:modId xmlns:p14="http://schemas.microsoft.com/office/powerpoint/2010/main" val="2525720843"/>
              </p:ext>
            </p:extLst>
          </p:nvPr>
        </p:nvGraphicFramePr>
        <p:xfrm>
          <a:off x="5594679" y="1537013"/>
          <a:ext cx="2757805" cy="271780"/>
        </p:xfrm>
        <a:graphic>
          <a:graphicData uri="http://schemas.openxmlformats.org/presentationml/2006/ole">
            <mc:AlternateContent xmlns:mc="http://schemas.openxmlformats.org/markup-compatibility/2006">
              <mc:Choice xmlns:v="urn:schemas-microsoft-com:vml" Requires="v">
                <p:oleObj spid="_x0000_s2050" r:id="rId3" imgW="2781300" imgH="279400" progId="Equation.DSMT4">
                  <p:embed/>
                </p:oleObj>
              </mc:Choice>
              <mc:Fallback>
                <p:oleObj r:id="rId3" imgW="2781300" imgH="279400" progId="Equation.DSMT4">
                  <p:embed/>
                  <p:pic>
                    <p:nvPicPr>
                      <p:cNvPr id="0" name=""/>
                      <p:cNvPicPr/>
                      <p:nvPr/>
                    </p:nvPicPr>
                    <p:blipFill>
                      <a:blip r:embed="rId4"/>
                      <a:stretch>
                        <a:fillRect/>
                      </a:stretch>
                    </p:blipFill>
                    <p:spPr>
                      <a:xfrm>
                        <a:off x="5594679" y="1537013"/>
                        <a:ext cx="2757805" cy="271780"/>
                      </a:xfrm>
                      <a:prstGeom prst="rect">
                        <a:avLst/>
                      </a:prstGeom>
                    </p:spPr>
                  </p:pic>
                </p:oleObj>
              </mc:Fallback>
            </mc:AlternateContent>
          </a:graphicData>
        </a:graphic>
      </p:graphicFrame>
      <p:graphicFrame>
        <p:nvGraphicFramePr>
          <p:cNvPr id="11" name="对象 10"/>
          <p:cNvGraphicFramePr/>
          <p:nvPr>
            <p:extLst>
              <p:ext uri="{D42A27DB-BD31-4B8C-83A1-F6EECF244321}">
                <p14:modId xmlns:p14="http://schemas.microsoft.com/office/powerpoint/2010/main" val="4284485259"/>
              </p:ext>
            </p:extLst>
          </p:nvPr>
        </p:nvGraphicFramePr>
        <p:xfrm>
          <a:off x="5649924" y="1897059"/>
          <a:ext cx="3062605" cy="271780"/>
        </p:xfrm>
        <a:graphic>
          <a:graphicData uri="http://schemas.openxmlformats.org/presentationml/2006/ole">
            <mc:AlternateContent xmlns:mc="http://schemas.openxmlformats.org/markup-compatibility/2006">
              <mc:Choice xmlns:v="urn:schemas-microsoft-com:vml" Requires="v">
                <p:oleObj spid="_x0000_s2051" r:id="rId5" imgW="3086100" imgH="279400" progId="Equation.DSMT4">
                  <p:embed/>
                </p:oleObj>
              </mc:Choice>
              <mc:Fallback>
                <p:oleObj r:id="rId5" imgW="3086100" imgH="279400" progId="Equation.DSMT4">
                  <p:embed/>
                  <p:pic>
                    <p:nvPicPr>
                      <p:cNvPr id="0" name=""/>
                      <p:cNvPicPr/>
                      <p:nvPr/>
                    </p:nvPicPr>
                    <p:blipFill>
                      <a:blip r:embed="rId6"/>
                      <a:stretch>
                        <a:fillRect/>
                      </a:stretch>
                    </p:blipFill>
                    <p:spPr>
                      <a:xfrm>
                        <a:off x="5649924" y="1897059"/>
                        <a:ext cx="3062605" cy="271780"/>
                      </a:xfrm>
                      <a:prstGeom prst="rect">
                        <a:avLst/>
                      </a:prstGeom>
                    </p:spPr>
                  </p:pic>
                </p:oleObj>
              </mc:Fallback>
            </mc:AlternateContent>
          </a:graphicData>
        </a:graphic>
      </p:graphicFrame>
      <p:graphicFrame>
        <p:nvGraphicFramePr>
          <p:cNvPr id="12" name="对象 11"/>
          <p:cNvGraphicFramePr/>
          <p:nvPr>
            <p:extLst>
              <p:ext uri="{D42A27DB-BD31-4B8C-83A1-F6EECF244321}">
                <p14:modId xmlns:p14="http://schemas.microsoft.com/office/powerpoint/2010/main" val="3303717163"/>
              </p:ext>
            </p:extLst>
          </p:nvPr>
        </p:nvGraphicFramePr>
        <p:xfrm>
          <a:off x="5668205" y="2257105"/>
          <a:ext cx="2630805" cy="271780"/>
        </p:xfrm>
        <a:graphic>
          <a:graphicData uri="http://schemas.openxmlformats.org/presentationml/2006/ole">
            <mc:AlternateContent xmlns:mc="http://schemas.openxmlformats.org/markup-compatibility/2006">
              <mc:Choice xmlns:v="urn:schemas-microsoft-com:vml" Requires="v">
                <p:oleObj spid="_x0000_s2052" r:id="rId7" imgW="2654300" imgH="279400" progId="Equation.DSMT4">
                  <p:embed/>
                </p:oleObj>
              </mc:Choice>
              <mc:Fallback>
                <p:oleObj r:id="rId7" imgW="2654300" imgH="279400" progId="Equation.DSMT4">
                  <p:embed/>
                  <p:pic>
                    <p:nvPicPr>
                      <p:cNvPr id="0" name=""/>
                      <p:cNvPicPr/>
                      <p:nvPr/>
                    </p:nvPicPr>
                    <p:blipFill>
                      <a:blip r:embed="rId8"/>
                      <a:stretch>
                        <a:fillRect/>
                      </a:stretch>
                    </p:blipFill>
                    <p:spPr>
                      <a:xfrm>
                        <a:off x="5668205" y="2257105"/>
                        <a:ext cx="2630805" cy="271780"/>
                      </a:xfrm>
                      <a:prstGeom prst="rect">
                        <a:avLst/>
                      </a:prstGeom>
                    </p:spPr>
                  </p:pic>
                </p:oleObj>
              </mc:Fallback>
            </mc:AlternateContent>
          </a:graphicData>
        </a:graphic>
      </p:graphicFrame>
      <p:graphicFrame>
        <p:nvGraphicFramePr>
          <p:cNvPr id="13" name="对象 12"/>
          <p:cNvGraphicFramePr/>
          <p:nvPr>
            <p:extLst>
              <p:ext uri="{D42A27DB-BD31-4B8C-83A1-F6EECF244321}">
                <p14:modId xmlns:p14="http://schemas.microsoft.com/office/powerpoint/2010/main" val="902196991"/>
              </p:ext>
            </p:extLst>
          </p:nvPr>
        </p:nvGraphicFramePr>
        <p:xfrm>
          <a:off x="5658179" y="2617151"/>
          <a:ext cx="2694305" cy="271780"/>
        </p:xfrm>
        <a:graphic>
          <a:graphicData uri="http://schemas.openxmlformats.org/presentationml/2006/ole">
            <mc:AlternateContent xmlns:mc="http://schemas.openxmlformats.org/markup-compatibility/2006">
              <mc:Choice xmlns:v="urn:schemas-microsoft-com:vml" Requires="v">
                <p:oleObj spid="_x0000_s2053" r:id="rId9" imgW="2717800" imgH="279400" progId="Equation.DSMT4">
                  <p:embed/>
                </p:oleObj>
              </mc:Choice>
              <mc:Fallback>
                <p:oleObj r:id="rId9" imgW="2717800" imgH="279400" progId="Equation.DSMT4">
                  <p:embed/>
                  <p:pic>
                    <p:nvPicPr>
                      <p:cNvPr id="0" name=""/>
                      <p:cNvPicPr/>
                      <p:nvPr/>
                    </p:nvPicPr>
                    <p:blipFill>
                      <a:blip r:embed="rId10"/>
                      <a:stretch>
                        <a:fillRect/>
                      </a:stretch>
                    </p:blipFill>
                    <p:spPr>
                      <a:xfrm>
                        <a:off x="5658179" y="2617151"/>
                        <a:ext cx="2694305" cy="271780"/>
                      </a:xfrm>
                      <a:prstGeom prst="rect">
                        <a:avLst/>
                      </a:prstGeom>
                    </p:spPr>
                  </p:pic>
                </p:oleObj>
              </mc:Fallback>
            </mc:AlternateContent>
          </a:graphicData>
        </a:graphic>
      </p:graphicFrame>
      <p:sp>
        <p:nvSpPr>
          <p:cNvPr id="2"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83976" name="Picture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97015" y="3242473"/>
            <a:ext cx="5213627" cy="2599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2109702" y="6133988"/>
            <a:ext cx="4600940" cy="369332"/>
          </a:xfrm>
          <a:prstGeom prst="rect">
            <a:avLst/>
          </a:prstGeom>
        </p:spPr>
        <p:txBody>
          <a:bodyPr wrap="none">
            <a:spAutoFit/>
          </a:bodyPr>
          <a:lstStyle/>
          <a:p>
            <a:pPr indent="0" algn="ctr"/>
            <a:r>
              <a:rPr lang="zh-CN" altLang="en-US" b="1" dirty="0">
                <a:solidFill>
                  <a:srgbClr val="9900CC"/>
                </a:solidFill>
                <a:latin typeface="+mn-ea"/>
              </a:rPr>
              <a:t>根据决策树方法，建设大工厂为最佳方案。</a:t>
            </a:r>
          </a:p>
        </p:txBody>
      </p:sp>
    </p:spTree>
    <p:extLst>
      <p:ext uri="{BB962C8B-B14F-4D97-AF65-F5344CB8AC3E}">
        <p14:creationId xmlns:p14="http://schemas.microsoft.com/office/powerpoint/2010/main" val="1669989358"/>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矩形 9"/>
          <p:cNvSpPr>
            <a:spLocks noChangeArrowheads="1"/>
          </p:cNvSpPr>
          <p:nvPr/>
        </p:nvSpPr>
        <p:spPr bwMode="auto">
          <a:xfrm>
            <a:off x="1441494" y="368609"/>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数据驱动的统计决策方法</a:t>
            </a:r>
            <a:endParaRPr lang="zh-CN" altLang="en-US" sz="3200" dirty="0">
              <a:solidFill>
                <a:schemeClr val="bg1"/>
              </a:solidFill>
              <a:latin typeface="Times New Roman" pitchFamily="18" charset="0"/>
              <a:ea typeface="微软雅黑" pitchFamily="34" charset="-122"/>
              <a:cs typeface="Times New Roman" pitchFamily="18" charset="0"/>
            </a:endParaRPr>
          </a:p>
        </p:txBody>
      </p:sp>
      <p:sp>
        <p:nvSpPr>
          <p:cNvPr id="4" name="矩形 3"/>
          <p:cNvSpPr/>
          <p:nvPr/>
        </p:nvSpPr>
        <p:spPr>
          <a:xfrm>
            <a:off x="251448" y="987082"/>
            <a:ext cx="8641104" cy="461665"/>
          </a:xfrm>
          <a:prstGeom prst="rect">
            <a:avLst/>
          </a:prstGeom>
        </p:spPr>
        <p:txBody>
          <a:bodyPr wrap="square">
            <a:spAutoFit/>
          </a:bodyPr>
          <a:lstStyle/>
          <a:p>
            <a:r>
              <a:rPr lang="zh-CN" altLang="en-US" sz="2400" b="1" dirty="0">
                <a:solidFill>
                  <a:srgbClr val="C00000"/>
                </a:solidFill>
                <a:latin typeface="Times New Roman" pitchFamily="18" charset="0"/>
                <a:ea typeface="微软雅黑" pitchFamily="34" charset="-122"/>
                <a:cs typeface="Times New Roman" pitchFamily="18" charset="0"/>
              </a:rPr>
              <a:t>效用理论的风险决策方法：</a:t>
            </a:r>
            <a:endParaRPr lang="en-US" altLang="zh-CN" sz="2400" b="1" dirty="0">
              <a:solidFill>
                <a:srgbClr val="C00000"/>
              </a:solidFill>
              <a:latin typeface="Times New Roman" pitchFamily="18" charset="0"/>
              <a:ea typeface="微软雅黑" pitchFamily="34" charset="-122"/>
              <a:cs typeface="Times New Roman" pitchFamily="18" charset="0"/>
            </a:endParaRPr>
          </a:p>
        </p:txBody>
      </p:sp>
      <p:sp>
        <p:nvSpPr>
          <p:cNvPr id="2"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4" name="Rectangle 3"/>
          <p:cNvSpPr txBox="1">
            <a:spLocks noChangeArrowheads="1"/>
          </p:cNvSpPr>
          <p:nvPr/>
        </p:nvSpPr>
        <p:spPr bwMode="auto">
          <a:xfrm>
            <a:off x="251447" y="1448747"/>
            <a:ext cx="8461081" cy="900115"/>
          </a:xfrm>
          <a:prstGeom prst="rect">
            <a:avLst/>
          </a:prstGeom>
          <a:noFill/>
          <a:ln w="9525">
            <a:noFill/>
            <a:miter lim="800000"/>
          </a:ln>
          <a:effectLst/>
        </p:spPr>
        <p:txBody>
          <a:bodyPr/>
          <a:lstStyle/>
          <a:p>
            <a:pPr marR="0" indent="0" defTabSz="914400">
              <a:spcBef>
                <a:spcPct val="20000"/>
              </a:spcBef>
              <a:buClr>
                <a:srgbClr val="CCCC99"/>
              </a:buClr>
              <a:buSzPct val="90000"/>
              <a:buFont typeface="Wingdings" panose="05000000000000000000" pitchFamily="2" charset="2"/>
              <a:buNone/>
              <a:defRPr/>
            </a:pPr>
            <a:r>
              <a:rPr kumimoji="0" lang="en-US" sz="2000" kern="0" cap="none" spc="0" normalizeH="0" baseline="0" noProof="0" dirty="0">
                <a:solidFill>
                  <a:srgbClr val="000000"/>
                </a:solidFill>
                <a:latin typeface="+mn-ea"/>
                <a:ea typeface="+mn-ea"/>
                <a:cs typeface="黑体" panose="02010609060101010101" pitchFamily="49" charset="-122"/>
              </a:rPr>
              <a:t>       </a:t>
            </a:r>
            <a:r>
              <a:rPr kumimoji="0" lang="en-US" sz="2200" kern="0" cap="none" spc="0" normalizeH="0" baseline="0" noProof="0" dirty="0">
                <a:solidFill>
                  <a:srgbClr val="000000"/>
                </a:solidFill>
                <a:latin typeface="+mn-ea"/>
                <a:ea typeface="+mn-ea"/>
                <a:cs typeface="黑体" panose="02010609060101010101" pitchFamily="49" charset="-122"/>
              </a:rPr>
              <a:t>以最大损益值7000万元的效用值作为1.0，以最小损益值-5000万元的效用值作为0</a:t>
            </a:r>
            <a:r>
              <a:rPr kumimoji="0" lang="zh-CN" altLang="en-US" sz="2200" kern="0" cap="none" spc="0" normalizeH="0" baseline="0" noProof="0" dirty="0">
                <a:solidFill>
                  <a:srgbClr val="000000"/>
                </a:solidFill>
                <a:latin typeface="+mn-ea"/>
                <a:ea typeface="+mn-ea"/>
                <a:cs typeface="黑体" panose="02010609060101010101" pitchFamily="49" charset="-122"/>
              </a:rPr>
              <a:t>，通过询问决策者一系列问题，构建</a:t>
            </a:r>
            <a:r>
              <a:rPr kumimoji="0" lang="en-US" sz="2200" kern="0" cap="none" spc="0" normalizeH="0" baseline="0" noProof="0" dirty="0">
                <a:solidFill>
                  <a:srgbClr val="000000"/>
                </a:solidFill>
                <a:latin typeface="+mn-ea"/>
                <a:ea typeface="+mn-ea"/>
                <a:cs typeface="黑体" panose="02010609060101010101" pitchFamily="49" charset="-122"/>
              </a:rPr>
              <a:t>效</a:t>
            </a:r>
            <a:r>
              <a:rPr kumimoji="0" lang="zh-CN" altLang="en-US" sz="2200" kern="0" cap="none" spc="0" normalizeH="0" baseline="0" noProof="0" dirty="0">
                <a:solidFill>
                  <a:srgbClr val="000000"/>
                </a:solidFill>
                <a:latin typeface="+mn-ea"/>
                <a:ea typeface="+mn-ea"/>
                <a:cs typeface="黑体" panose="02010609060101010101" pitchFamily="49" charset="-122"/>
              </a:rPr>
              <a:t>用</a:t>
            </a:r>
            <a:r>
              <a:rPr kumimoji="0" lang="en-US" sz="2200" kern="0" cap="none" spc="0" normalizeH="0" baseline="0" noProof="0" dirty="0" err="1">
                <a:solidFill>
                  <a:srgbClr val="000000"/>
                </a:solidFill>
                <a:latin typeface="+mn-ea"/>
                <a:ea typeface="+mn-ea"/>
                <a:cs typeface="黑体" panose="02010609060101010101" pitchFamily="49" charset="-122"/>
              </a:rPr>
              <a:t>曲线</a:t>
            </a:r>
            <a:r>
              <a:rPr kumimoji="0" lang="zh-CN" altLang="en-US" sz="2200" kern="0" cap="none" spc="0" normalizeH="0" baseline="0" noProof="0" dirty="0">
                <a:solidFill>
                  <a:srgbClr val="000000"/>
                </a:solidFill>
                <a:latin typeface="+mn-ea"/>
                <a:ea typeface="+mn-ea"/>
                <a:cs typeface="黑体" panose="02010609060101010101" pitchFamily="49" charset="-122"/>
              </a:rPr>
              <a:t>，</a:t>
            </a:r>
            <a:r>
              <a:rPr kumimoji="0" lang="en-US" sz="2200" kern="0" cap="none" spc="0" normalizeH="0" baseline="0" noProof="0" dirty="0">
                <a:solidFill>
                  <a:srgbClr val="000000"/>
                </a:solidFill>
                <a:latin typeface="+mn-ea"/>
                <a:ea typeface="+mn-ea"/>
                <a:cs typeface="黑体" panose="02010609060101010101" pitchFamily="49" charset="-122"/>
              </a:rPr>
              <a:t>如</a:t>
            </a:r>
            <a:r>
              <a:rPr kumimoji="0" lang="zh-CN" altLang="en-US" sz="2200" kern="0" cap="none" spc="0" normalizeH="0" baseline="0" noProof="0" dirty="0">
                <a:solidFill>
                  <a:srgbClr val="000000"/>
                </a:solidFill>
                <a:latin typeface="+mn-ea"/>
                <a:ea typeface="+mn-ea"/>
                <a:cs typeface="黑体" panose="02010609060101010101" pitchFamily="49" charset="-122"/>
              </a:rPr>
              <a:t>图</a:t>
            </a:r>
            <a:r>
              <a:rPr kumimoji="0" lang="en-US" sz="2200" kern="0" cap="none" spc="0" normalizeH="0" baseline="0" noProof="0" dirty="0" err="1">
                <a:solidFill>
                  <a:srgbClr val="000000"/>
                </a:solidFill>
                <a:latin typeface="+mn-ea"/>
                <a:ea typeface="+mn-ea"/>
                <a:cs typeface="黑体" panose="02010609060101010101" pitchFamily="49" charset="-122"/>
              </a:rPr>
              <a:t>所示</a:t>
            </a:r>
            <a:r>
              <a:rPr lang="zh-CN" altLang="en-US" sz="2200" kern="0" dirty="0">
                <a:solidFill>
                  <a:srgbClr val="000000"/>
                </a:solidFill>
                <a:latin typeface="+mn-ea"/>
                <a:ea typeface="+mn-ea"/>
                <a:cs typeface="黑体" panose="02010609060101010101" pitchFamily="49" charset="-122"/>
              </a:rPr>
              <a:t>：</a:t>
            </a:r>
            <a:endParaRPr kumimoji="0" lang="en-US" sz="2200" kern="0" cap="none" spc="0" normalizeH="0" baseline="0" noProof="0" dirty="0">
              <a:solidFill>
                <a:srgbClr val="000000"/>
              </a:solidFill>
              <a:latin typeface="+mn-ea"/>
              <a:ea typeface="+mn-ea"/>
              <a:cs typeface="黑体" panose="02010609060101010101" pitchFamily="49" charset="-122"/>
            </a:endParaRPr>
          </a:p>
        </p:txBody>
      </p:sp>
      <p:pic>
        <p:nvPicPr>
          <p:cNvPr id="849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6512" y="2300285"/>
            <a:ext cx="3790950" cy="392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3791825"/>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矩形 9"/>
          <p:cNvSpPr>
            <a:spLocks noChangeArrowheads="1"/>
          </p:cNvSpPr>
          <p:nvPr/>
        </p:nvSpPr>
        <p:spPr bwMode="auto">
          <a:xfrm>
            <a:off x="1441494" y="368609"/>
            <a:ext cx="46987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Times New Roman" pitchFamily="18" charset="0"/>
                <a:ea typeface="微软雅黑" pitchFamily="34" charset="-122"/>
                <a:cs typeface="Times New Roman" pitchFamily="18" charset="0"/>
              </a:rPr>
              <a:t>数据驱动的统计决策方法</a:t>
            </a:r>
            <a:endParaRPr lang="zh-CN" altLang="en-US" sz="3200" dirty="0">
              <a:solidFill>
                <a:schemeClr val="bg1"/>
              </a:solidFill>
              <a:latin typeface="Times New Roman" pitchFamily="18" charset="0"/>
              <a:ea typeface="微软雅黑" pitchFamily="34" charset="-122"/>
              <a:cs typeface="Times New Roman" pitchFamily="18" charset="0"/>
            </a:endParaRPr>
          </a:p>
        </p:txBody>
      </p:sp>
      <p:sp>
        <p:nvSpPr>
          <p:cNvPr id="2"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7" name="Rectangle 3"/>
          <p:cNvSpPr txBox="1">
            <a:spLocks noChangeArrowheads="1"/>
          </p:cNvSpPr>
          <p:nvPr/>
        </p:nvSpPr>
        <p:spPr bwMode="auto">
          <a:xfrm>
            <a:off x="251448" y="1217295"/>
            <a:ext cx="8821127" cy="4153535"/>
          </a:xfrm>
          <a:prstGeom prst="rect">
            <a:avLst/>
          </a:prstGeom>
          <a:noFill/>
          <a:ln w="9525">
            <a:noFill/>
            <a:miter lim="800000"/>
          </a:ln>
          <a:effectLst/>
        </p:spPr>
        <p:txBody>
          <a:bodyPr/>
          <a:lstStyle/>
          <a:p>
            <a:pPr marR="0" indent="0" defTabSz="914400">
              <a:spcBef>
                <a:spcPct val="20000"/>
              </a:spcBef>
              <a:buClr>
                <a:srgbClr val="CCCC99"/>
              </a:buClr>
              <a:buSzPct val="90000"/>
              <a:buFont typeface="Wingdings" panose="05000000000000000000" pitchFamily="2" charset="2"/>
              <a:buNone/>
              <a:defRPr/>
            </a:pPr>
            <a:r>
              <a:rPr kumimoji="0" lang="en-US" sz="2200" kern="0" cap="none" spc="0" normalizeH="0" baseline="0" noProof="0" dirty="0">
                <a:solidFill>
                  <a:srgbClr val="000000"/>
                </a:solidFill>
                <a:latin typeface="+mn-ea"/>
                <a:ea typeface="+mn-ea"/>
                <a:cs typeface="黑体" panose="02010609060101010101" pitchFamily="49" charset="-122"/>
              </a:rPr>
              <a:t>       得到效用曲线后，就可以反过来找出对应于原决策问题各个损益值的效用值：2400万元的效应值为0.82，-600万元的效用值为0.58。用效用值代替原损益值来计算每一方案的效用期望值。</a:t>
            </a:r>
          </a:p>
          <a:p>
            <a:pPr marR="0" indent="0" defTabSz="914400">
              <a:spcBef>
                <a:spcPct val="20000"/>
              </a:spcBef>
              <a:buClr>
                <a:srgbClr val="CCCC99"/>
              </a:buClr>
              <a:buSzPct val="90000"/>
              <a:buFont typeface="Wingdings" panose="05000000000000000000" pitchFamily="2" charset="2"/>
              <a:buNone/>
              <a:defRPr/>
            </a:pPr>
            <a:endParaRPr kumimoji="0" lang="en-US" sz="2200" kern="0" cap="none" spc="0" normalizeH="0" baseline="0" noProof="0" dirty="0">
              <a:solidFill>
                <a:srgbClr val="000000"/>
              </a:solidFill>
              <a:latin typeface="+mn-ea"/>
              <a:ea typeface="+mn-ea"/>
              <a:cs typeface="黑体" panose="02010609060101010101" pitchFamily="49" charset="-122"/>
            </a:endParaRPr>
          </a:p>
          <a:p>
            <a:pPr marL="342900" marR="0" indent="-342900" defTabSz="914400">
              <a:spcBef>
                <a:spcPct val="20000"/>
              </a:spcBef>
              <a:buClr>
                <a:srgbClr val="0000CC"/>
              </a:buClr>
              <a:buSzPct val="90000"/>
              <a:buFont typeface="Wingdings" pitchFamily="2" charset="2"/>
              <a:buChar char="Ø"/>
              <a:defRPr/>
            </a:pPr>
            <a:r>
              <a:rPr kumimoji="0" lang="en-US" sz="2200" b="1" kern="0" cap="none" spc="0" normalizeH="0" baseline="0" noProof="0" dirty="0" err="1">
                <a:solidFill>
                  <a:srgbClr val="0000CC"/>
                </a:solidFill>
                <a:latin typeface="+mn-ea"/>
                <a:ea typeface="+mn-ea"/>
                <a:cs typeface="黑体" panose="02010609060101010101" pitchFamily="49" charset="-122"/>
              </a:rPr>
              <a:t>大工厂方案的期望效用</a:t>
            </a:r>
            <a:r>
              <a:rPr kumimoji="0" lang="en-US" sz="2200" b="1" kern="0" cap="none" spc="0" normalizeH="0" baseline="0" noProof="0" dirty="0">
                <a:solidFill>
                  <a:srgbClr val="0000CC"/>
                </a:solidFill>
                <a:latin typeface="+mn-ea"/>
                <a:ea typeface="+mn-ea"/>
                <a:cs typeface="黑体" panose="02010609060101010101" pitchFamily="49" charset="-122"/>
              </a:rPr>
              <a:t>：</a:t>
            </a:r>
          </a:p>
          <a:p>
            <a:pPr marL="342900" marR="0" indent="-342900" defTabSz="914400">
              <a:spcBef>
                <a:spcPct val="20000"/>
              </a:spcBef>
              <a:buClr>
                <a:srgbClr val="0000CC"/>
              </a:buClr>
              <a:buSzPct val="90000"/>
              <a:buFont typeface="Wingdings" pitchFamily="2" charset="2"/>
              <a:buChar char="Ø"/>
              <a:defRPr/>
            </a:pPr>
            <a:endParaRPr kumimoji="0" lang="en-US" sz="2200" b="1" kern="0" cap="none" spc="0" normalizeH="0" baseline="0" noProof="0" dirty="0">
              <a:solidFill>
                <a:srgbClr val="0000CC"/>
              </a:solidFill>
              <a:latin typeface="+mn-ea"/>
              <a:ea typeface="+mn-ea"/>
              <a:cs typeface="黑体" panose="02010609060101010101" pitchFamily="49" charset="-122"/>
            </a:endParaRPr>
          </a:p>
          <a:p>
            <a:pPr marL="342900" marR="0" indent="-342900" defTabSz="914400">
              <a:spcBef>
                <a:spcPct val="20000"/>
              </a:spcBef>
              <a:buClr>
                <a:srgbClr val="0000CC"/>
              </a:buClr>
              <a:buSzPct val="90000"/>
              <a:buFont typeface="Wingdings" pitchFamily="2" charset="2"/>
              <a:buChar char="Ø"/>
              <a:defRPr/>
            </a:pPr>
            <a:r>
              <a:rPr kumimoji="0" lang="en-US" sz="2200" b="1" kern="0" cap="none" spc="0" normalizeH="0" baseline="0" noProof="0" dirty="0" err="1">
                <a:solidFill>
                  <a:srgbClr val="0000CC"/>
                </a:solidFill>
                <a:latin typeface="+mn-ea"/>
                <a:ea typeface="+mn-ea"/>
                <a:cs typeface="黑体" panose="02010609060101010101" pitchFamily="49" charset="-122"/>
              </a:rPr>
              <a:t>小工厂方案的期望效用</a:t>
            </a:r>
            <a:r>
              <a:rPr kumimoji="0" lang="en-US" sz="2200" b="1" kern="0" cap="none" spc="0" normalizeH="0" baseline="0" noProof="0" dirty="0">
                <a:solidFill>
                  <a:srgbClr val="0000CC"/>
                </a:solidFill>
                <a:latin typeface="+mn-ea"/>
                <a:ea typeface="+mn-ea"/>
                <a:cs typeface="黑体" panose="02010609060101010101" pitchFamily="49" charset="-122"/>
              </a:rPr>
              <a:t>：</a:t>
            </a:r>
          </a:p>
        </p:txBody>
      </p:sp>
      <p:graphicFrame>
        <p:nvGraphicFramePr>
          <p:cNvPr id="8" name="对象 7"/>
          <p:cNvGraphicFramePr/>
          <p:nvPr>
            <p:extLst>
              <p:ext uri="{D42A27DB-BD31-4B8C-83A1-F6EECF244321}">
                <p14:modId xmlns:p14="http://schemas.microsoft.com/office/powerpoint/2010/main" val="4188628619"/>
              </p:ext>
            </p:extLst>
          </p:nvPr>
        </p:nvGraphicFramePr>
        <p:xfrm>
          <a:off x="3560211" y="3158172"/>
          <a:ext cx="2580005" cy="271780"/>
        </p:xfrm>
        <a:graphic>
          <a:graphicData uri="http://schemas.openxmlformats.org/presentationml/2006/ole">
            <mc:AlternateContent xmlns:mc="http://schemas.openxmlformats.org/markup-compatibility/2006">
              <mc:Choice xmlns:v="urn:schemas-microsoft-com:vml" Requires="v">
                <p:oleObj spid="_x0000_s3074" r:id="rId3" imgW="2602865" imgH="279400" progId="Equation.DSMT4">
                  <p:embed/>
                </p:oleObj>
              </mc:Choice>
              <mc:Fallback>
                <p:oleObj r:id="rId3" imgW="2602865" imgH="279400" progId="Equation.DSMT4">
                  <p:embed/>
                  <p:pic>
                    <p:nvPicPr>
                      <p:cNvPr id="0" name=""/>
                      <p:cNvPicPr/>
                      <p:nvPr/>
                    </p:nvPicPr>
                    <p:blipFill>
                      <a:blip r:embed="rId4"/>
                      <a:stretch>
                        <a:fillRect/>
                      </a:stretch>
                    </p:blipFill>
                    <p:spPr>
                      <a:xfrm>
                        <a:off x="3560211" y="3158172"/>
                        <a:ext cx="2580005" cy="271780"/>
                      </a:xfrm>
                      <a:prstGeom prst="rect">
                        <a:avLst/>
                      </a:prstGeom>
                    </p:spPr>
                  </p:pic>
                </p:oleObj>
              </mc:Fallback>
            </mc:AlternateContent>
          </a:graphicData>
        </a:graphic>
      </p:graphicFrame>
      <p:graphicFrame>
        <p:nvGraphicFramePr>
          <p:cNvPr id="9" name="对象 8"/>
          <p:cNvGraphicFramePr/>
          <p:nvPr>
            <p:extLst>
              <p:ext uri="{D42A27DB-BD31-4B8C-83A1-F6EECF244321}">
                <p14:modId xmlns:p14="http://schemas.microsoft.com/office/powerpoint/2010/main" val="815548382"/>
              </p:ext>
            </p:extLst>
          </p:nvPr>
        </p:nvGraphicFramePr>
        <p:xfrm>
          <a:off x="3311839" y="3969069"/>
          <a:ext cx="3279140" cy="271780"/>
        </p:xfrm>
        <a:graphic>
          <a:graphicData uri="http://schemas.openxmlformats.org/presentationml/2006/ole">
            <mc:AlternateContent xmlns:mc="http://schemas.openxmlformats.org/markup-compatibility/2006">
              <mc:Choice xmlns:v="urn:schemas-microsoft-com:vml" Requires="v">
                <p:oleObj spid="_x0000_s3075" r:id="rId5" imgW="3302000" imgH="279400" progId="Equation.DSMT4">
                  <p:embed/>
                </p:oleObj>
              </mc:Choice>
              <mc:Fallback>
                <p:oleObj r:id="rId5" imgW="3302000" imgH="279400" progId="Equation.DSMT4">
                  <p:embed/>
                  <p:pic>
                    <p:nvPicPr>
                      <p:cNvPr id="0" name=""/>
                      <p:cNvPicPr/>
                      <p:nvPr/>
                    </p:nvPicPr>
                    <p:blipFill>
                      <a:blip r:embed="rId6"/>
                      <a:stretch>
                        <a:fillRect/>
                      </a:stretch>
                    </p:blipFill>
                    <p:spPr>
                      <a:xfrm>
                        <a:off x="3311839" y="3969069"/>
                        <a:ext cx="3279140" cy="271780"/>
                      </a:xfrm>
                      <a:prstGeom prst="rect">
                        <a:avLst/>
                      </a:prstGeom>
                    </p:spPr>
                  </p:pic>
                </p:oleObj>
              </mc:Fallback>
            </mc:AlternateContent>
          </a:graphicData>
        </a:graphic>
      </p:graphicFrame>
      <p:sp>
        <p:nvSpPr>
          <p:cNvPr id="10" name="矩形 9"/>
          <p:cNvSpPr/>
          <p:nvPr/>
        </p:nvSpPr>
        <p:spPr>
          <a:xfrm>
            <a:off x="526181" y="4829120"/>
            <a:ext cx="7622600" cy="400110"/>
          </a:xfrm>
          <a:prstGeom prst="rect">
            <a:avLst/>
          </a:prstGeom>
        </p:spPr>
        <p:txBody>
          <a:bodyPr wrap="none">
            <a:spAutoFit/>
          </a:bodyPr>
          <a:lstStyle/>
          <a:p>
            <a:pPr indent="0" algn="ctr"/>
            <a:r>
              <a:rPr lang="zh-CN" altLang="en-US" sz="2000" b="1" dirty="0">
                <a:solidFill>
                  <a:srgbClr val="9900CC"/>
                </a:solidFill>
                <a:latin typeface="+mn-ea"/>
                <a:ea typeface="+mn-ea"/>
              </a:rPr>
              <a:t>根据期望效用理论，对于保守型决策者，建设小工厂为最佳方案。</a:t>
            </a:r>
          </a:p>
        </p:txBody>
      </p:sp>
    </p:spTree>
    <p:extLst>
      <p:ext uri="{BB962C8B-B14F-4D97-AF65-F5344CB8AC3E}">
        <p14:creationId xmlns:p14="http://schemas.microsoft.com/office/powerpoint/2010/main" val="488154266"/>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611494" y="5049207"/>
            <a:ext cx="8461375" cy="1079500"/>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a:defRPr/>
            </a:pPr>
            <a:endParaRPr lang="zh-CN" altLang="en-US">
              <a:solidFill>
                <a:schemeClr val="lt1"/>
              </a:solidFill>
              <a:latin typeface="+mn-lt"/>
              <a:ea typeface="+mn-ea"/>
            </a:endParaRPr>
          </a:p>
        </p:txBody>
      </p:sp>
      <p:sp>
        <p:nvSpPr>
          <p:cNvPr id="6146" name="Rectangle 2"/>
          <p:cNvSpPr>
            <a:spLocks noGrp="1" noChangeArrowheads="1"/>
          </p:cNvSpPr>
          <p:nvPr>
            <p:ph type="title"/>
          </p:nvPr>
        </p:nvSpPr>
        <p:spPr>
          <a:xfrm>
            <a:off x="1871663" y="0"/>
            <a:ext cx="3960812" cy="1143000"/>
          </a:xfrm>
        </p:spPr>
        <p:txBody>
          <a:bodyPr/>
          <a:lstStyle/>
          <a:p>
            <a:pPr algn="ctr" eaLnBrk="1" hangingPunct="1"/>
            <a:r>
              <a:rPr lang="zh-CN" altLang="en-US" sz="3600">
                <a:solidFill>
                  <a:schemeClr val="bg1"/>
                </a:solidFill>
                <a:latin typeface="微软雅黑" pitchFamily="34" charset="-122"/>
                <a:ea typeface="微软雅黑" pitchFamily="34" charset="-122"/>
              </a:rPr>
              <a:t>主要内容</a:t>
            </a:r>
          </a:p>
        </p:txBody>
      </p:sp>
      <p:sp>
        <p:nvSpPr>
          <p:cNvPr id="6147" name="Rectangle 3"/>
          <p:cNvSpPr>
            <a:spLocks noGrp="1" noChangeArrowheads="1"/>
          </p:cNvSpPr>
          <p:nvPr>
            <p:ph type="body" idx="1"/>
          </p:nvPr>
        </p:nvSpPr>
        <p:spPr>
          <a:xfrm>
            <a:off x="792163" y="1231900"/>
            <a:ext cx="7777162" cy="2376488"/>
          </a:xfrm>
        </p:spPr>
        <p:txBody>
          <a:bodyPr/>
          <a:lstStyle/>
          <a:p>
            <a:pPr marL="0" indent="0" eaLnBrk="1" hangingPunct="1">
              <a:lnSpc>
                <a:spcPct val="229000"/>
              </a:lnSpc>
              <a:buFontTx/>
              <a:buNone/>
            </a:pPr>
            <a:r>
              <a:rPr lang="zh-CN" altLang="en-US" sz="3200" b="1" dirty="0">
                <a:solidFill>
                  <a:srgbClr val="002060"/>
                </a:solidFill>
                <a:latin typeface="微软雅黑" pitchFamily="34" charset="-122"/>
                <a:ea typeface="微软雅黑" pitchFamily="34" charset="-122"/>
              </a:rPr>
              <a:t>一、统计数据的收集、整理与描述</a:t>
            </a:r>
            <a:endParaRPr lang="en-US" altLang="zh-CN" sz="3200" b="1" dirty="0">
              <a:solidFill>
                <a:srgbClr val="002060"/>
              </a:solidFill>
              <a:latin typeface="微软雅黑" pitchFamily="34" charset="-122"/>
              <a:ea typeface="微软雅黑" pitchFamily="34" charset="-122"/>
            </a:endParaRPr>
          </a:p>
          <a:p>
            <a:pPr marL="0" indent="0" eaLnBrk="1" hangingPunct="1">
              <a:lnSpc>
                <a:spcPct val="229000"/>
              </a:lnSpc>
              <a:buFontTx/>
              <a:buNone/>
            </a:pPr>
            <a:r>
              <a:rPr lang="zh-CN" altLang="en-US" sz="3200" b="1" dirty="0">
                <a:solidFill>
                  <a:srgbClr val="002060"/>
                </a:solidFill>
                <a:latin typeface="微软雅黑" pitchFamily="34" charset="-122"/>
                <a:ea typeface="微软雅黑" pitchFamily="34" charset="-122"/>
              </a:rPr>
              <a:t>二、数据驱动的统计预测方法</a:t>
            </a:r>
            <a:endParaRPr lang="en-US" altLang="zh-CN" sz="3200" b="1" dirty="0">
              <a:solidFill>
                <a:srgbClr val="002060"/>
              </a:solidFill>
              <a:latin typeface="微软雅黑" pitchFamily="34" charset="-122"/>
              <a:ea typeface="微软雅黑" pitchFamily="34" charset="-122"/>
            </a:endParaRPr>
          </a:p>
          <a:p>
            <a:pPr marL="0" indent="0" eaLnBrk="1" hangingPunct="1">
              <a:lnSpc>
                <a:spcPct val="229000"/>
              </a:lnSpc>
              <a:buFontTx/>
              <a:buNone/>
            </a:pPr>
            <a:r>
              <a:rPr lang="zh-CN" altLang="en-US" sz="3200" b="1" dirty="0">
                <a:solidFill>
                  <a:srgbClr val="002060"/>
                </a:solidFill>
                <a:latin typeface="微软雅黑" pitchFamily="34" charset="-122"/>
                <a:ea typeface="微软雅黑" pitchFamily="34" charset="-122"/>
              </a:rPr>
              <a:t>三</a:t>
            </a:r>
            <a:r>
              <a:rPr lang="en-US" altLang="zh-CN" sz="3200" b="1" dirty="0">
                <a:solidFill>
                  <a:srgbClr val="002060"/>
                </a:solidFill>
                <a:latin typeface="微软雅黑" pitchFamily="34" charset="-122"/>
                <a:ea typeface="微软雅黑" pitchFamily="34" charset="-122"/>
              </a:rPr>
              <a:t>.  </a:t>
            </a:r>
            <a:r>
              <a:rPr lang="zh-CN" altLang="en-US" sz="3200" b="1" dirty="0">
                <a:solidFill>
                  <a:srgbClr val="002060"/>
                </a:solidFill>
                <a:latin typeface="微软雅黑" pitchFamily="34" charset="-122"/>
                <a:ea typeface="微软雅黑" pitchFamily="34" charset="-122"/>
              </a:rPr>
              <a:t>数据驱动的统计风险决策方法</a:t>
            </a:r>
            <a:endParaRPr lang="en-US" altLang="zh-CN" sz="3200" b="1" dirty="0">
              <a:solidFill>
                <a:srgbClr val="002060"/>
              </a:solidFill>
              <a:latin typeface="微软雅黑" pitchFamily="34" charset="-122"/>
              <a:ea typeface="微软雅黑" pitchFamily="34" charset="-122"/>
            </a:endParaRPr>
          </a:p>
          <a:p>
            <a:pPr marL="0" indent="0" eaLnBrk="1" hangingPunct="1">
              <a:lnSpc>
                <a:spcPct val="229000"/>
              </a:lnSpc>
              <a:buFontTx/>
              <a:buNone/>
            </a:pPr>
            <a:r>
              <a:rPr lang="zh-CN" altLang="en-US" sz="3200" b="1" dirty="0">
                <a:solidFill>
                  <a:srgbClr val="002060"/>
                </a:solidFill>
                <a:latin typeface="微软雅黑" pitchFamily="34" charset="-122"/>
                <a:ea typeface="微软雅黑" pitchFamily="34" charset="-122"/>
              </a:rPr>
              <a:t>四</a:t>
            </a:r>
            <a:r>
              <a:rPr lang="en-US" altLang="zh-CN" sz="3200" b="1" dirty="0">
                <a:solidFill>
                  <a:srgbClr val="002060"/>
                </a:solidFill>
                <a:latin typeface="微软雅黑" pitchFamily="34" charset="-122"/>
                <a:ea typeface="微软雅黑" pitchFamily="34" charset="-122"/>
              </a:rPr>
              <a:t>.  </a:t>
            </a:r>
            <a:r>
              <a:rPr lang="zh-CN" altLang="en-US" sz="3200" b="1" dirty="0">
                <a:solidFill>
                  <a:srgbClr val="002060"/>
                </a:solidFill>
                <a:latin typeface="微软雅黑" pitchFamily="34" charset="-122"/>
                <a:ea typeface="微软雅黑" pitchFamily="34" charset="-122"/>
              </a:rPr>
              <a:t>总结</a:t>
            </a:r>
            <a:endParaRPr lang="en-US" altLang="zh-CN" sz="3200" b="1" dirty="0">
              <a:solidFill>
                <a:srgbClr val="002060"/>
              </a:solidFill>
              <a:latin typeface="微软雅黑" pitchFamily="34" charset="-122"/>
              <a:ea typeface="微软雅黑" pitchFamily="34" charset="-122"/>
            </a:endParaRPr>
          </a:p>
          <a:p>
            <a:pPr marL="0" indent="0" eaLnBrk="1" hangingPunct="1">
              <a:lnSpc>
                <a:spcPct val="250000"/>
              </a:lnSpc>
              <a:buFontTx/>
              <a:buNone/>
            </a:pPr>
            <a:endParaRPr lang="en-US" altLang="zh-CN" sz="3200" b="1" dirty="0">
              <a:solidFill>
                <a:srgbClr val="002060"/>
              </a:solidFill>
              <a:latin typeface="微软雅黑" pitchFamily="34" charset="-122"/>
              <a:ea typeface="微软雅黑" pitchFamily="34" charset="-122"/>
            </a:endParaRPr>
          </a:p>
        </p:txBody>
      </p:sp>
    </p:spTree>
    <p:extLst>
      <p:ext uri="{BB962C8B-B14F-4D97-AF65-F5344CB8AC3E}">
        <p14:creationId xmlns:p14="http://schemas.microsoft.com/office/powerpoint/2010/main" val="3227593391"/>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5" name="矩形 1"/>
          <p:cNvSpPr>
            <a:spLocks noChangeArrowheads="1"/>
          </p:cNvSpPr>
          <p:nvPr/>
        </p:nvSpPr>
        <p:spPr bwMode="auto">
          <a:xfrm>
            <a:off x="3724250" y="146050"/>
            <a:ext cx="1005403" cy="74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50000"/>
              </a:lnSpc>
            </a:pPr>
            <a:r>
              <a:rPr lang="zh-CN" altLang="en-US" sz="3200" b="1" dirty="0">
                <a:solidFill>
                  <a:schemeClr val="bg1"/>
                </a:solidFill>
                <a:latin typeface="Times New Roman" pitchFamily="18" charset="0"/>
                <a:ea typeface="微软雅黑" pitchFamily="34" charset="-122"/>
                <a:cs typeface="Times New Roman" pitchFamily="18" charset="0"/>
              </a:rPr>
              <a:t>总结</a:t>
            </a:r>
          </a:p>
        </p:txBody>
      </p:sp>
      <p:sp>
        <p:nvSpPr>
          <p:cNvPr id="11" name="TextBox 18"/>
          <p:cNvSpPr txBox="1"/>
          <p:nvPr/>
        </p:nvSpPr>
        <p:spPr>
          <a:xfrm>
            <a:off x="431471" y="1502428"/>
            <a:ext cx="8281058" cy="3046988"/>
          </a:xfrm>
          <a:prstGeom prst="rect">
            <a:avLst/>
          </a:prstGeom>
          <a:noFill/>
        </p:spPr>
        <p:txBody>
          <a:bodyPr wrap="square" rtlCol="0">
            <a:spAutoFit/>
          </a:bodyPr>
          <a:lstStyle/>
          <a:p>
            <a:pPr marL="285750" indent="-285750">
              <a:lnSpc>
                <a:spcPct val="150000"/>
              </a:lnSpc>
              <a:buFont typeface="Wingdings" pitchFamily="2" charset="2"/>
              <a:buChar char="Ø"/>
            </a:pPr>
            <a:r>
              <a:rPr lang="zh-CN" altLang="en-US" sz="3200" dirty="0">
                <a:solidFill>
                  <a:srgbClr val="C00000"/>
                </a:solidFill>
                <a:latin typeface="Times New Roman" pitchFamily="18" charset="0"/>
                <a:ea typeface="微软雅黑" pitchFamily="34" charset="-122"/>
                <a:cs typeface="Times New Roman" pitchFamily="18" charset="0"/>
              </a:rPr>
              <a:t>选择恰当的预测模型，不是越复杂越好；</a:t>
            </a:r>
            <a:endParaRPr lang="en-US" altLang="zh-CN" sz="3200" dirty="0">
              <a:solidFill>
                <a:srgbClr val="C00000"/>
              </a:solidFill>
              <a:latin typeface="Times New Roman" pitchFamily="18" charset="0"/>
              <a:ea typeface="微软雅黑" pitchFamily="34" charset="-122"/>
              <a:cs typeface="Times New Roman" pitchFamily="18" charset="0"/>
            </a:endParaRPr>
          </a:p>
          <a:p>
            <a:pPr marL="285750" indent="-285750">
              <a:lnSpc>
                <a:spcPct val="150000"/>
              </a:lnSpc>
              <a:buFont typeface="Wingdings" pitchFamily="2" charset="2"/>
              <a:buChar char="Ø"/>
            </a:pPr>
            <a:r>
              <a:rPr lang="zh-CN" altLang="en-US" sz="3200" dirty="0">
                <a:solidFill>
                  <a:srgbClr val="C00000"/>
                </a:solidFill>
                <a:latin typeface="Times New Roman" pitchFamily="18" charset="0"/>
                <a:ea typeface="微软雅黑" pitchFamily="34" charset="-122"/>
                <a:cs typeface="Times New Roman" pitchFamily="18" charset="0"/>
              </a:rPr>
              <a:t>理解统计预测模型的原理有助于实际应用；</a:t>
            </a:r>
            <a:endParaRPr lang="en-US" altLang="zh-CN" sz="3200" dirty="0">
              <a:solidFill>
                <a:srgbClr val="C00000"/>
              </a:solidFill>
              <a:latin typeface="Times New Roman" pitchFamily="18" charset="0"/>
              <a:ea typeface="微软雅黑" pitchFamily="34" charset="-122"/>
              <a:cs typeface="Times New Roman" pitchFamily="18" charset="0"/>
            </a:endParaRPr>
          </a:p>
          <a:p>
            <a:pPr marL="285750" indent="-285750">
              <a:lnSpc>
                <a:spcPct val="150000"/>
              </a:lnSpc>
              <a:buFont typeface="Wingdings" pitchFamily="2" charset="2"/>
              <a:buChar char="Ø"/>
            </a:pPr>
            <a:r>
              <a:rPr lang="zh-CN" altLang="en-US" sz="3200" dirty="0">
                <a:solidFill>
                  <a:srgbClr val="C00000"/>
                </a:solidFill>
                <a:latin typeface="Times New Roman" pitchFamily="18" charset="0"/>
                <a:ea typeface="微软雅黑" pitchFamily="34" charset="-122"/>
                <a:cs typeface="Times New Roman" pitchFamily="18" charset="0"/>
              </a:rPr>
              <a:t>多个统计预测模型可以组合应用；</a:t>
            </a:r>
            <a:endParaRPr lang="en-US" altLang="zh-CN" sz="3200" dirty="0">
              <a:solidFill>
                <a:srgbClr val="C00000"/>
              </a:solidFill>
              <a:latin typeface="Times New Roman" pitchFamily="18" charset="0"/>
              <a:ea typeface="微软雅黑" pitchFamily="34" charset="-122"/>
              <a:cs typeface="Times New Roman" pitchFamily="18" charset="0"/>
            </a:endParaRPr>
          </a:p>
          <a:p>
            <a:pPr marL="285750" indent="-285750">
              <a:lnSpc>
                <a:spcPct val="150000"/>
              </a:lnSpc>
              <a:buFont typeface="Wingdings" pitchFamily="2" charset="2"/>
              <a:buChar char="Ø"/>
            </a:pPr>
            <a:r>
              <a:rPr lang="zh-CN" altLang="en-US" sz="3200" dirty="0">
                <a:solidFill>
                  <a:srgbClr val="C00000"/>
                </a:solidFill>
                <a:latin typeface="Times New Roman" pitchFamily="18" charset="0"/>
                <a:ea typeface="微软雅黑" pitchFamily="34" charset="-122"/>
                <a:cs typeface="Times New Roman" pitchFamily="18" charset="0"/>
              </a:rPr>
              <a:t>了解最前沿的统计预测方法和进展</a:t>
            </a:r>
            <a:r>
              <a:rPr lang="zh-CN" altLang="en-US" sz="3200" dirty="0">
                <a:solidFill>
                  <a:srgbClr val="003366"/>
                </a:solidFill>
                <a:latin typeface="Times New Roman" pitchFamily="18" charset="0"/>
                <a:ea typeface="微软雅黑" pitchFamily="34" charset="-122"/>
                <a:cs typeface="Times New Roman" pitchFamily="18" charset="0"/>
              </a:rPr>
              <a:t>。</a:t>
            </a:r>
            <a:endParaRPr lang="en-US" altLang="zh-CN" sz="3200" dirty="0">
              <a:solidFill>
                <a:srgbClr val="003366"/>
              </a:solidFill>
              <a:latin typeface="Times New Roman" pitchFamily="18" charset="0"/>
              <a:ea typeface="微软雅黑" pitchFamily="34" charset="-122"/>
              <a:cs typeface="Times New Roman" pitchFamily="18" charset="0"/>
            </a:endParaRPr>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1438" y="0"/>
            <a:ext cx="9083675" cy="12684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 name="Rectangle 39"/>
          <p:cNvSpPr>
            <a:spLocks noChangeArrowheads="1"/>
          </p:cNvSpPr>
          <p:nvPr/>
        </p:nvSpPr>
        <p:spPr bwMode="ltGray">
          <a:xfrm>
            <a:off x="-52388" y="1484314"/>
            <a:ext cx="9207501" cy="1764664"/>
          </a:xfrm>
          <a:prstGeom prst="rect">
            <a:avLst/>
          </a:prstGeom>
          <a:solidFill>
            <a:srgbClr val="0070C0"/>
          </a:solidFill>
          <a:ln>
            <a:noFill/>
          </a:ln>
          <a:effectLst>
            <a:outerShdw blurRad="50800" dist="38100" dir="5400000" algn="t" rotWithShape="0">
              <a:srgbClr val="808080">
                <a:alpha val="39998"/>
              </a:srgbClr>
            </a:outerShdw>
          </a:effectLst>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eaLnBrk="1" hangingPunct="1">
              <a:defRPr/>
            </a:pPr>
            <a:endParaRPr lang="zh-CN" altLang="en-US" sz="4800" b="1" spc="1000" dirty="0">
              <a:solidFill>
                <a:schemeClr val="bg1"/>
              </a:solidFill>
              <a:latin typeface="+mn-ea"/>
              <a:ea typeface="+mn-ea"/>
            </a:endParaRPr>
          </a:p>
        </p:txBody>
      </p:sp>
      <p:sp>
        <p:nvSpPr>
          <p:cNvPr id="53253" name="Text Box 9"/>
          <p:cNvSpPr txBox="1">
            <a:spLocks noChangeArrowheads="1"/>
          </p:cNvSpPr>
          <p:nvPr/>
        </p:nvSpPr>
        <p:spPr bwMode="auto">
          <a:xfrm>
            <a:off x="1692275" y="1870075"/>
            <a:ext cx="61182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algn="ctr">
              <a:spcBef>
                <a:spcPct val="50000"/>
              </a:spcBef>
            </a:pPr>
            <a:r>
              <a:rPr kumimoji="1" lang="zh-CN" altLang="en-US" sz="5400" b="1">
                <a:solidFill>
                  <a:schemeClr val="bg1"/>
                </a:solidFill>
                <a:latin typeface="微软雅黑" pitchFamily="34" charset="-122"/>
                <a:ea typeface="微软雅黑" pitchFamily="34" charset="-122"/>
              </a:rPr>
              <a:t>感谢聆听！</a:t>
            </a:r>
          </a:p>
        </p:txBody>
      </p:sp>
      <p:sp>
        <p:nvSpPr>
          <p:cNvPr id="53255" name="文本框 6"/>
          <p:cNvSpPr txBox="1">
            <a:spLocks noChangeArrowheads="1"/>
          </p:cNvSpPr>
          <p:nvPr/>
        </p:nvSpPr>
        <p:spPr bwMode="auto">
          <a:xfrm>
            <a:off x="472745" y="3789046"/>
            <a:ext cx="859983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黑体" pitchFamily="49" charset="-122"/>
                <a:ea typeface="黑体" pitchFamily="49" charset="-122"/>
              </a:defRPr>
            </a:lvl1pPr>
            <a:lvl2pPr marL="742950">
              <a:defRPr sz="2400">
                <a:solidFill>
                  <a:schemeClr val="tx1"/>
                </a:solidFill>
                <a:latin typeface="黑体" pitchFamily="49" charset="-122"/>
                <a:ea typeface="黑体" pitchFamily="49" charset="-122"/>
              </a:defRPr>
            </a:lvl2pPr>
            <a:lvl3pPr marL="1143000">
              <a:defRPr sz="2400">
                <a:solidFill>
                  <a:schemeClr val="tx1"/>
                </a:solidFill>
                <a:latin typeface="Arial" charset="0"/>
                <a:ea typeface="宋体" pitchFamily="2" charset="-122"/>
              </a:defRPr>
            </a:lvl3pPr>
            <a:lvl4pPr marL="1600200">
              <a:defRPr sz="2000">
                <a:solidFill>
                  <a:schemeClr val="tx1"/>
                </a:solidFill>
                <a:latin typeface="Arial" charset="0"/>
                <a:ea typeface="宋体" pitchFamily="2" charset="-122"/>
              </a:defRPr>
            </a:lvl4pPr>
            <a:lvl5pPr marL="2057400">
              <a:defRPr sz="2000">
                <a:solidFill>
                  <a:schemeClr val="tx1"/>
                </a:solidFill>
                <a:latin typeface="Arial" charset="0"/>
                <a:ea typeface="宋体" pitchFamily="2" charset="-122"/>
              </a:defRPr>
            </a:lvl5pPr>
            <a:lvl6pPr marL="2514600" eaLnBrk="0" hangingPunct="0">
              <a:defRPr sz="2000">
                <a:solidFill>
                  <a:schemeClr val="tx1"/>
                </a:solidFill>
                <a:latin typeface="Arial" charset="0"/>
                <a:ea typeface="宋体" pitchFamily="2" charset="-122"/>
              </a:defRPr>
            </a:lvl6pPr>
            <a:lvl7pPr marL="2971800" eaLnBrk="0" hangingPunct="0">
              <a:defRPr sz="2000">
                <a:solidFill>
                  <a:schemeClr val="tx1"/>
                </a:solidFill>
                <a:latin typeface="Arial" charset="0"/>
                <a:ea typeface="宋体" pitchFamily="2" charset="-122"/>
              </a:defRPr>
            </a:lvl7pPr>
            <a:lvl8pPr marL="3429000" eaLnBrk="0" hangingPunct="0">
              <a:defRPr sz="2000">
                <a:solidFill>
                  <a:schemeClr val="tx1"/>
                </a:solidFill>
                <a:latin typeface="Arial" charset="0"/>
                <a:ea typeface="宋体" pitchFamily="2" charset="-122"/>
              </a:defRPr>
            </a:lvl8pPr>
            <a:lvl9pPr marL="3886200" eaLnBrk="0" hangingPunct="0">
              <a:defRPr sz="2000">
                <a:solidFill>
                  <a:schemeClr val="tx1"/>
                </a:solidFill>
                <a:latin typeface="Arial" charset="0"/>
                <a:ea typeface="宋体" pitchFamily="2" charset="-122"/>
              </a:defRPr>
            </a:lvl9pPr>
          </a:lstStyle>
          <a:p>
            <a:pPr algn="ctr"/>
            <a:r>
              <a:rPr lang="zh-CN" altLang="en-US" sz="3600" b="1" dirty="0">
                <a:solidFill>
                  <a:srgbClr val="0070C0"/>
                </a:solidFill>
                <a:latin typeface="微软雅黑" pitchFamily="34" charset="-122"/>
                <a:ea typeface="微软雅黑" pitchFamily="34" charset="-122"/>
              </a:rPr>
              <a:t>朱家明 </a:t>
            </a:r>
            <a:endParaRPr lang="en-US" altLang="zh-CN" sz="3600" b="1" dirty="0">
              <a:solidFill>
                <a:srgbClr val="0070C0"/>
              </a:solidFill>
              <a:latin typeface="微软雅黑" pitchFamily="34" charset="-122"/>
              <a:ea typeface="微软雅黑" pitchFamily="34" charset="-122"/>
            </a:endParaRPr>
          </a:p>
          <a:p>
            <a:endParaRPr lang="en-US" altLang="zh-CN" sz="3200" b="1" dirty="0">
              <a:solidFill>
                <a:srgbClr val="0070C0"/>
              </a:solidFill>
              <a:latin typeface="微软雅黑" pitchFamily="34" charset="-122"/>
              <a:ea typeface="微软雅黑" pitchFamily="34" charset="-122"/>
            </a:endParaRPr>
          </a:p>
          <a:p>
            <a:r>
              <a:rPr lang="zh-CN" altLang="en-US" dirty="0">
                <a:solidFill>
                  <a:srgbClr val="0070C0"/>
                </a:solidFill>
                <a:latin typeface="微软雅黑" pitchFamily="34" charset="-122"/>
                <a:ea typeface="微软雅黑" pitchFamily="34" charset="-122"/>
              </a:rPr>
              <a:t>安徽大学龙河校区互联网学院（</a:t>
            </a:r>
            <a:r>
              <a:rPr lang="zh-CN" altLang="en-US" dirty="0" smtClean="0">
                <a:solidFill>
                  <a:srgbClr val="0070C0"/>
                </a:solidFill>
                <a:latin typeface="微软雅黑" pitchFamily="34" charset="-122"/>
                <a:ea typeface="微软雅黑" pitchFamily="34" charset="-122"/>
              </a:rPr>
              <a:t>实验</a:t>
            </a:r>
            <a:r>
              <a:rPr lang="en-US" altLang="zh-CN" dirty="0" smtClean="0">
                <a:solidFill>
                  <a:srgbClr val="0070C0"/>
                </a:solidFill>
                <a:latin typeface="微软雅黑" pitchFamily="34" charset="-122"/>
                <a:ea typeface="微软雅黑" pitchFamily="34" charset="-122"/>
              </a:rPr>
              <a:t>B</a:t>
            </a:r>
            <a:r>
              <a:rPr lang="zh-CN" altLang="en-US" dirty="0" smtClean="0">
                <a:solidFill>
                  <a:srgbClr val="0070C0"/>
                </a:solidFill>
                <a:latin typeface="微软雅黑" pitchFamily="34" charset="-122"/>
                <a:ea typeface="微软雅黑" pitchFamily="34" charset="-122"/>
              </a:rPr>
              <a:t>楼）</a:t>
            </a:r>
            <a:r>
              <a:rPr lang="en-US" altLang="zh-CN" smtClean="0">
                <a:solidFill>
                  <a:srgbClr val="0070C0"/>
                </a:solidFill>
                <a:latin typeface="微软雅黑" pitchFamily="34" charset="-122"/>
                <a:ea typeface="微软雅黑" pitchFamily="34" charset="-122"/>
              </a:rPr>
              <a:t>407</a:t>
            </a:r>
            <a:r>
              <a:rPr lang="zh-CN" altLang="en-US" smtClean="0">
                <a:solidFill>
                  <a:srgbClr val="0070C0"/>
                </a:solidFill>
                <a:latin typeface="微软雅黑" pitchFamily="34" charset="-122"/>
                <a:ea typeface="微软雅黑" pitchFamily="34" charset="-122"/>
              </a:rPr>
              <a:t>办公室</a:t>
            </a:r>
            <a:endParaRPr lang="en-US" altLang="zh-CN" dirty="0">
              <a:solidFill>
                <a:srgbClr val="0070C0"/>
              </a:solidFill>
              <a:latin typeface="微软雅黑" pitchFamily="34" charset="-122"/>
              <a:ea typeface="微软雅黑" pitchFamily="34" charset="-122"/>
            </a:endParaRPr>
          </a:p>
          <a:p>
            <a:r>
              <a:rPr lang="en-US" altLang="zh-CN" sz="3200" dirty="0">
                <a:solidFill>
                  <a:srgbClr val="0070C0"/>
                </a:solidFill>
                <a:latin typeface="微软雅黑" pitchFamily="34" charset="-122"/>
                <a:ea typeface="微软雅黑" pitchFamily="34" charset="-122"/>
              </a:rPr>
              <a:t>Email</a:t>
            </a:r>
            <a:r>
              <a:rPr lang="zh-CN" altLang="en-US" sz="3200" dirty="0">
                <a:solidFill>
                  <a:srgbClr val="0070C0"/>
                </a:solidFill>
                <a:latin typeface="微软雅黑" pitchFamily="34" charset="-122"/>
                <a:ea typeface="微软雅黑" pitchFamily="34" charset="-122"/>
              </a:rPr>
              <a:t>：</a:t>
            </a:r>
            <a:r>
              <a:rPr lang="en-US" altLang="zh-CN" sz="3200" dirty="0">
                <a:solidFill>
                  <a:srgbClr val="0070C0"/>
                </a:solidFill>
                <a:latin typeface="微软雅黑" pitchFamily="34" charset="-122"/>
                <a:ea typeface="微软雅黑" pitchFamily="34" charset="-122"/>
              </a:rPr>
              <a:t>jiamingzhu@ahu.edu.cn</a:t>
            </a:r>
          </a:p>
        </p:txBody>
      </p:sp>
      <p:pic>
        <p:nvPicPr>
          <p:cNvPr id="9"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436" y="1"/>
            <a:ext cx="1448173" cy="143762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黑体"/>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3449</TotalTime>
  <Words>4353</Words>
  <Application>Microsoft Office PowerPoint</Application>
  <PresentationFormat>全屏显示(4:3)</PresentationFormat>
  <Paragraphs>887</Paragraphs>
  <Slides>55</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55</vt:i4>
      </vt:variant>
    </vt:vector>
  </HeadingPairs>
  <TitlesOfParts>
    <vt:vector size="70" baseType="lpstr">
      <vt:lpstr>MS Mincho</vt:lpstr>
      <vt:lpstr>黑体</vt:lpstr>
      <vt:lpstr>思源黑体 CN Heavy</vt:lpstr>
      <vt:lpstr>宋体</vt:lpstr>
      <vt:lpstr>微软雅黑</vt:lpstr>
      <vt:lpstr>Arial</vt:lpstr>
      <vt:lpstr>Calibri</vt:lpstr>
      <vt:lpstr>Cambria Math</vt:lpstr>
      <vt:lpstr>Symbol</vt:lpstr>
      <vt:lpstr>Times New Roman</vt:lpstr>
      <vt:lpstr>Wingdings</vt:lpstr>
      <vt:lpstr>Wingdings 2</vt:lpstr>
      <vt:lpstr>自定义设计方案</vt:lpstr>
      <vt:lpstr>Equation</vt:lpstr>
      <vt:lpstr>MathType 7.0 Equation</vt:lpstr>
      <vt:lpstr>PowerPoint 演示文稿</vt:lpstr>
      <vt:lpstr>主要内容</vt:lpstr>
      <vt:lpstr>PowerPoint 演示文稿</vt:lpstr>
      <vt:lpstr>PowerPoint 演示文稿</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主要内容</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Zhu Jiaming</cp:lastModifiedBy>
  <cp:revision>209</cp:revision>
  <cp:lastPrinted>2010-01-19T00:24:38Z</cp:lastPrinted>
  <dcterms:created xsi:type="dcterms:W3CDTF">2018-05-04T15:20:53Z</dcterms:created>
  <dcterms:modified xsi:type="dcterms:W3CDTF">2025-05-31T02:14:35Z</dcterms:modified>
</cp:coreProperties>
</file>