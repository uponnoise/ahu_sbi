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828" r:id="rId2"/>
    <p:sldId id="953" r:id="rId3"/>
    <p:sldId id="988" r:id="rId4"/>
    <p:sldId id="914" r:id="rId5"/>
    <p:sldId id="933" r:id="rId6"/>
    <p:sldId id="855" r:id="rId7"/>
    <p:sldId id="954" r:id="rId8"/>
    <p:sldId id="955" r:id="rId9"/>
    <p:sldId id="986" r:id="rId10"/>
    <p:sldId id="987" r:id="rId11"/>
    <p:sldId id="989" r:id="rId12"/>
    <p:sldId id="990" r:id="rId13"/>
    <p:sldId id="991" r:id="rId14"/>
  </p:sldIdLst>
  <p:sldSz cx="12196763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7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044" autoAdjust="0"/>
    <p:restoredTop sz="94270" autoAdjust="0"/>
  </p:normalViewPr>
  <p:slideViewPr>
    <p:cSldViewPr snapToObjects="1">
      <p:cViewPr varScale="1">
        <p:scale>
          <a:sx n="103" d="100"/>
          <a:sy n="103" d="100"/>
        </p:scale>
        <p:origin x="132" y="372"/>
      </p:cViewPr>
      <p:guideLst>
        <p:guide orient="horz" pos="2160"/>
        <p:guide pos="38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  <a:t>2026/5/22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  <a:t>‹#›</a:t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en-US" altLang="zh-CN" sz="2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流程图: 可选过程 4"/>
          <p:cNvSpPr/>
          <p:nvPr/>
        </p:nvSpPr>
        <p:spPr bwMode="auto">
          <a:xfrm>
            <a:off x="349122" y="836711"/>
            <a:ext cx="2160240" cy="720080"/>
          </a:xfrm>
          <a:prstGeom prst="flowChartAlternateProcess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Numpy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4332769" y="858929"/>
            <a:ext cx="2232248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核心基础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右箭头 25"/>
          <p:cNvSpPr/>
          <p:nvPr/>
        </p:nvSpPr>
        <p:spPr bwMode="auto">
          <a:xfrm>
            <a:off x="7106493" y="984889"/>
            <a:ext cx="792088" cy="55279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8330629" y="901248"/>
            <a:ext cx="2376264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5791" y="2708919"/>
            <a:ext cx="19469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Numpy</a:t>
            </a:r>
            <a:r>
              <a:rPr lang="zh-CN" altLang="zh-CN" dirty="0"/>
              <a:t>是</a:t>
            </a:r>
            <a:r>
              <a:rPr lang="en-US" altLang="zh-CN" dirty="0"/>
              <a:t>Python</a:t>
            </a:r>
            <a:r>
              <a:rPr lang="zh-CN" altLang="zh-CN" dirty="0"/>
              <a:t>用于科学计算的基础包，也是大量</a:t>
            </a:r>
            <a:r>
              <a:rPr lang="en-US" altLang="zh-CN" dirty="0"/>
              <a:t>Python</a:t>
            </a:r>
            <a:r>
              <a:rPr lang="zh-CN" altLang="zh-CN" dirty="0"/>
              <a:t>数学和科学计算包的基础，不少数据处理及分析包都是在</a:t>
            </a:r>
            <a:r>
              <a:rPr lang="en-US" altLang="zh-CN" dirty="0" err="1"/>
              <a:t>Numpy</a:t>
            </a:r>
            <a:r>
              <a:rPr lang="zh-CN" altLang="zh-CN" dirty="0"/>
              <a:t>基础上开发的，比如后面介绍的</a:t>
            </a:r>
            <a:r>
              <a:rPr lang="en-US" altLang="zh-CN" dirty="0"/>
              <a:t>pandas</a:t>
            </a:r>
            <a:r>
              <a:rPr lang="zh-CN" altLang="zh-CN" dirty="0"/>
              <a:t>包就是在其基础上开发的。</a:t>
            </a:r>
            <a:endParaRPr lang="zh-CN" altLang="en-US" dirty="0"/>
          </a:p>
        </p:txBody>
      </p:sp>
      <p:sp>
        <p:nvSpPr>
          <p:cNvPr id="36" name="下箭头 35"/>
          <p:cNvSpPr/>
          <p:nvPr/>
        </p:nvSpPr>
        <p:spPr bwMode="auto">
          <a:xfrm>
            <a:off x="9278121" y="1907587"/>
            <a:ext cx="574979" cy="591205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59975" y="2708919"/>
            <a:ext cx="15121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Numpy</a:t>
            </a:r>
            <a:r>
              <a:rPr lang="zh-CN" altLang="zh-CN" dirty="0"/>
              <a:t>的核心基础是</a:t>
            </a:r>
            <a:r>
              <a:rPr lang="en-US" altLang="zh-CN" dirty="0" err="1"/>
              <a:t>ndarray</a:t>
            </a:r>
            <a:r>
              <a:rPr lang="zh-CN" altLang="zh-CN" dirty="0"/>
              <a:t>（</a:t>
            </a:r>
            <a:r>
              <a:rPr lang="en-US" altLang="zh-CN" dirty="0"/>
              <a:t>N-dimensional array</a:t>
            </a:r>
            <a:r>
              <a:rPr lang="zh-CN" altLang="zh-CN" dirty="0"/>
              <a:t>，</a:t>
            </a:r>
            <a:r>
              <a:rPr lang="en-US" altLang="zh-CN" dirty="0"/>
              <a:t>N</a:t>
            </a:r>
            <a:r>
              <a:rPr lang="zh-CN" altLang="zh-CN" dirty="0"/>
              <a:t>维数组），即由数据类型相同的元素组成的</a:t>
            </a:r>
            <a:r>
              <a:rPr lang="en-US" altLang="zh-CN" dirty="0"/>
              <a:t>N</a:t>
            </a:r>
            <a:r>
              <a:rPr lang="zh-CN" altLang="zh-CN" dirty="0"/>
              <a:t>维数组。</a:t>
            </a:r>
            <a:endParaRPr lang="zh-CN" alt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906693" y="2708919"/>
            <a:ext cx="15121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可</a:t>
            </a:r>
            <a:r>
              <a:rPr lang="zh-CN" altLang="zh-CN" dirty="0" smtClean="0"/>
              <a:t>利用</a:t>
            </a:r>
            <a:r>
              <a:rPr lang="en-US" altLang="zh-CN" dirty="0" err="1"/>
              <a:t>Numpy</a:t>
            </a:r>
            <a:r>
              <a:rPr lang="zh-CN" altLang="zh-CN" dirty="0"/>
              <a:t>包提供的数组定义函数</a:t>
            </a:r>
            <a:r>
              <a:rPr lang="en-US" altLang="zh-CN" dirty="0"/>
              <a:t>array</a:t>
            </a:r>
            <a:r>
              <a:rPr lang="en-US" altLang="zh-CN" dirty="0" smtClean="0"/>
              <a:t>()</a:t>
            </a:r>
            <a:r>
              <a:rPr lang="zh-CN" altLang="en-US" dirty="0" smtClean="0"/>
              <a:t>将数据转化为数组的形式</a:t>
            </a:r>
            <a:endParaRPr lang="zh-CN" altLang="zh-CN" dirty="0"/>
          </a:p>
        </p:txBody>
      </p:sp>
      <p:sp>
        <p:nvSpPr>
          <p:cNvPr id="49" name="下箭头 48"/>
          <p:cNvSpPr/>
          <p:nvPr/>
        </p:nvSpPr>
        <p:spPr bwMode="auto">
          <a:xfrm>
            <a:off x="4873914" y="1907587"/>
            <a:ext cx="574979" cy="591205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下箭头 49"/>
          <p:cNvSpPr/>
          <p:nvPr/>
        </p:nvSpPr>
        <p:spPr bwMode="auto">
          <a:xfrm>
            <a:off x="1043276" y="1830106"/>
            <a:ext cx="574979" cy="591205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右箭头 50"/>
          <p:cNvSpPr/>
          <p:nvPr/>
        </p:nvSpPr>
        <p:spPr bwMode="auto">
          <a:xfrm>
            <a:off x="3002037" y="901248"/>
            <a:ext cx="792088" cy="552798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en-US" altLang="zh-CN" sz="2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2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10166" y="700291"/>
            <a:ext cx="8784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在</a:t>
            </a:r>
            <a:r>
              <a:rPr lang="en-US" altLang="zh-CN" sz="2000" dirty="0"/>
              <a:t>Anaconda</a:t>
            </a:r>
            <a:r>
              <a:rPr lang="zh-CN" altLang="zh-CN" sz="2000" dirty="0"/>
              <a:t>发行版中，</a:t>
            </a:r>
            <a:r>
              <a:rPr lang="en-US" altLang="zh-CN" sz="2000" dirty="0" err="1"/>
              <a:t>Numpy</a:t>
            </a:r>
            <a:r>
              <a:rPr lang="zh-CN" altLang="zh-CN" sz="2000" dirty="0"/>
              <a:t>包已集成在系统中，无需另外安装。那么如何使用该包呢？下面介绍如何在</a:t>
            </a:r>
            <a:r>
              <a:rPr lang="en-US" altLang="zh-CN" sz="2000" dirty="0"/>
              <a:t>Python</a:t>
            </a:r>
            <a:r>
              <a:rPr lang="zh-CN" altLang="zh-CN" sz="2000" dirty="0"/>
              <a:t>脚本文件中导入该包并使用。首先在打开的</a:t>
            </a:r>
            <a:r>
              <a:rPr lang="en-US" altLang="zh-CN" sz="2000" dirty="0" err="1"/>
              <a:t>Spyder</a:t>
            </a:r>
            <a:r>
              <a:rPr lang="zh-CN" altLang="zh-CN" sz="2000" dirty="0"/>
              <a:t>界面中新建一个脚本文件，如图</a:t>
            </a:r>
            <a:r>
              <a:rPr lang="en-US" altLang="zh-CN" sz="2000" dirty="0"/>
              <a:t>2-1</a:t>
            </a:r>
            <a:r>
              <a:rPr lang="zh-CN" altLang="zh-CN" sz="2000" dirty="0"/>
              <a:t>所示。</a:t>
            </a:r>
          </a:p>
        </p:txBody>
      </p:sp>
      <p:pic>
        <p:nvPicPr>
          <p:cNvPr id="22" name="图片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0298" y="1847604"/>
            <a:ext cx="7992539" cy="29495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72460" y="4941816"/>
            <a:ext cx="734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/>
              <a:t>2-1</a:t>
            </a:r>
            <a:endParaRPr lang="zh-CN" altLang="zh-CN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769789" y="5529426"/>
            <a:ext cx="104411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000" dirty="0"/>
              <a:t>图</a:t>
            </a:r>
            <a:r>
              <a:rPr lang="en-US" altLang="zh-CN" sz="2000" dirty="0"/>
              <a:t>2-1</a:t>
            </a:r>
            <a:r>
              <a:rPr lang="zh-CN" altLang="zh-CN" sz="2000" dirty="0"/>
              <a:t>中新建了一个</a:t>
            </a:r>
            <a:r>
              <a:rPr lang="en-US" altLang="zh-CN" sz="2000" dirty="0"/>
              <a:t>Python</a:t>
            </a:r>
            <a:r>
              <a:rPr lang="zh-CN" altLang="zh-CN" sz="2000" dirty="0"/>
              <a:t>脚本文件，名称为</a:t>
            </a:r>
            <a:r>
              <a:rPr lang="en-US" altLang="zh-CN" sz="2000" dirty="0"/>
              <a:t>test.py</a:t>
            </a:r>
            <a:r>
              <a:rPr lang="zh-CN" altLang="zh-CN" sz="2000" dirty="0"/>
              <a:t>，并且处于编辑状态（文件名后面带“</a:t>
            </a:r>
            <a:r>
              <a:rPr lang="en-US" altLang="zh-CN" sz="2000" dirty="0"/>
              <a:t>*</a:t>
            </a:r>
            <a:r>
              <a:rPr lang="zh-CN" altLang="zh-CN" sz="2000" dirty="0"/>
              <a:t>”）。使用：</a:t>
            </a:r>
            <a:r>
              <a:rPr lang="en-US" altLang="zh-CN" sz="2000" dirty="0"/>
              <a:t>import </a:t>
            </a:r>
            <a:r>
              <a:rPr lang="en-US" altLang="zh-CN" sz="2000" dirty="0" err="1"/>
              <a:t>numpy</a:t>
            </a:r>
            <a:r>
              <a:rPr lang="zh-CN" altLang="zh-CN" sz="2000" dirty="0"/>
              <a:t>命令，即可将该包导入到脚本文件中并可以使用了。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en-US" altLang="zh-CN" sz="2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2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04744" y="795038"/>
            <a:ext cx="91450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利用</a:t>
            </a:r>
            <a:r>
              <a:rPr lang="en-US" altLang="zh-CN" sz="1600" dirty="0" err="1"/>
              <a:t>Numpy</a:t>
            </a:r>
            <a:r>
              <a:rPr lang="zh-CN" altLang="zh-CN" sz="1600" dirty="0"/>
              <a:t>包提供的数组定义函数</a:t>
            </a:r>
            <a:r>
              <a:rPr lang="en-US" altLang="zh-CN" sz="1600" dirty="0"/>
              <a:t>array()</a:t>
            </a:r>
            <a:r>
              <a:rPr lang="zh-CN" altLang="zh-CN" sz="1600" dirty="0"/>
              <a:t>，将嵌套列表</a:t>
            </a:r>
            <a:r>
              <a:rPr lang="en-US" altLang="zh-CN" sz="1600" dirty="0"/>
              <a:t>L=[[1,2],[3,4]]</a:t>
            </a:r>
            <a:r>
              <a:rPr lang="zh-CN" altLang="zh-CN" sz="1600" dirty="0"/>
              <a:t>转化为二维数组。在</a:t>
            </a:r>
            <a:r>
              <a:rPr lang="en-US" altLang="zh-CN" sz="1600" dirty="0"/>
              <a:t>test.py</a:t>
            </a:r>
            <a:r>
              <a:rPr lang="zh-CN" altLang="zh-CN" sz="1600" dirty="0"/>
              <a:t>脚本文件中，输入以下示例代码：</a:t>
            </a:r>
          </a:p>
          <a:p>
            <a:r>
              <a:rPr lang="en-US" altLang="zh-CN" sz="1600" dirty="0"/>
              <a:t>L=[[1,2],[3,4]]      #</a:t>
            </a:r>
            <a:r>
              <a:rPr lang="zh-CN" altLang="zh-CN" sz="1600" dirty="0"/>
              <a:t>定义待转化的嵌套列表</a:t>
            </a:r>
            <a:r>
              <a:rPr lang="en-US" altLang="zh-CN" sz="1600" dirty="0"/>
              <a:t>L</a:t>
            </a:r>
            <a:endParaRPr lang="zh-CN" altLang="zh-CN" sz="1600" dirty="0"/>
          </a:p>
          <a:p>
            <a:r>
              <a:rPr lang="en-US" altLang="zh-CN" sz="1600" dirty="0"/>
              <a:t>import </a:t>
            </a:r>
            <a:r>
              <a:rPr lang="en-US" altLang="zh-CN" sz="1600" dirty="0" err="1"/>
              <a:t>numpy</a:t>
            </a:r>
            <a:r>
              <a:rPr lang="en-US" altLang="zh-CN" sz="1600" dirty="0"/>
              <a:t>     #</a:t>
            </a:r>
            <a:r>
              <a:rPr lang="zh-CN" altLang="zh-CN" sz="1600" dirty="0"/>
              <a:t>导入</a:t>
            </a:r>
            <a:r>
              <a:rPr lang="en-US" altLang="zh-CN" sz="1600" dirty="0" err="1"/>
              <a:t>Numpy</a:t>
            </a:r>
            <a:r>
              <a:rPr lang="zh-CN" altLang="zh-CN" sz="1600" dirty="0"/>
              <a:t>包</a:t>
            </a:r>
          </a:p>
          <a:p>
            <a:r>
              <a:rPr lang="en-US" altLang="zh-CN" sz="1600" dirty="0"/>
              <a:t>A=</a:t>
            </a:r>
            <a:r>
              <a:rPr lang="en-US" altLang="zh-CN" sz="1600" dirty="0" err="1"/>
              <a:t>numpy.array</a:t>
            </a:r>
            <a:r>
              <a:rPr lang="en-US" altLang="zh-CN" sz="1600" dirty="0"/>
              <a:t>(L)  #</a:t>
            </a:r>
            <a:r>
              <a:rPr lang="zh-CN" altLang="zh-CN" sz="1600" dirty="0"/>
              <a:t>调用</a:t>
            </a:r>
            <a:r>
              <a:rPr lang="en-US" altLang="zh-CN" sz="1600" dirty="0" err="1"/>
              <a:t>Numpy</a:t>
            </a:r>
            <a:r>
              <a:rPr lang="zh-CN" altLang="zh-CN" sz="1600" dirty="0"/>
              <a:t>包中提供的函数</a:t>
            </a:r>
            <a:r>
              <a:rPr lang="en-US" altLang="zh-CN" sz="1600" dirty="0"/>
              <a:t>array()</a:t>
            </a:r>
            <a:r>
              <a:rPr lang="zh-CN" altLang="zh-CN" sz="1600" dirty="0"/>
              <a:t>，将</a:t>
            </a:r>
            <a:r>
              <a:rPr lang="en-US" altLang="zh-CN" sz="1600" dirty="0"/>
              <a:t>L</a:t>
            </a:r>
            <a:r>
              <a:rPr lang="zh-CN" altLang="zh-CN" sz="1600" dirty="0"/>
              <a:t>转化为二维数组并赋给</a:t>
            </a:r>
            <a:r>
              <a:rPr lang="en-US" altLang="zh-CN" sz="1600" dirty="0"/>
              <a:t>A</a:t>
            </a:r>
            <a:endParaRPr lang="zh-CN" altLang="zh-CN" sz="1600" dirty="0"/>
          </a:p>
          <a:p>
            <a:r>
              <a:rPr lang="zh-CN" altLang="zh-CN" sz="1600" dirty="0"/>
              <a:t>执行</a:t>
            </a:r>
            <a:r>
              <a:rPr lang="en-US" altLang="zh-CN" sz="1600" dirty="0"/>
              <a:t>test.py</a:t>
            </a:r>
            <a:r>
              <a:rPr lang="zh-CN" altLang="zh-CN" sz="1600" dirty="0"/>
              <a:t>脚本文件，通过</a:t>
            </a:r>
            <a:r>
              <a:rPr lang="en-US" altLang="zh-CN" sz="1600" dirty="0" err="1"/>
              <a:t>Spyder</a:t>
            </a:r>
            <a:r>
              <a:rPr lang="zh-CN" altLang="zh-CN" sz="1600" dirty="0"/>
              <a:t>变量资源管理器双击变量</a:t>
            </a:r>
            <a:r>
              <a:rPr lang="en-US" altLang="zh-CN" sz="1600" dirty="0"/>
              <a:t>A</a:t>
            </a:r>
            <a:r>
              <a:rPr lang="zh-CN" altLang="zh-CN" sz="1600" dirty="0"/>
              <a:t>，即可查看其执行结果。如图</a:t>
            </a:r>
            <a:r>
              <a:rPr lang="en-US" altLang="zh-CN" sz="1600" dirty="0"/>
              <a:t>2-2</a:t>
            </a:r>
            <a:r>
              <a:rPr lang="zh-CN" altLang="zh-CN" sz="1600" dirty="0"/>
              <a:t>所示。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5940" y="4536490"/>
            <a:ext cx="734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 smtClean="0"/>
              <a:t>2-2</a:t>
            </a:r>
            <a:endParaRPr lang="zh-CN" altLang="zh-CN" sz="1600" dirty="0"/>
          </a:p>
        </p:txBody>
      </p:sp>
      <p:pic>
        <p:nvPicPr>
          <p:cNvPr id="38" name="图片 3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5480" y="2364698"/>
            <a:ext cx="8280920" cy="2827020"/>
          </a:xfrm>
          <a:prstGeom prst="rect">
            <a:avLst/>
          </a:prstGeom>
        </p:spPr>
      </p:pic>
      <p:sp>
        <p:nvSpPr>
          <p:cNvPr id="39" name="右箭头 38"/>
          <p:cNvSpPr/>
          <p:nvPr/>
        </p:nvSpPr>
        <p:spPr bwMode="auto">
          <a:xfrm>
            <a:off x="7846770" y="4046452"/>
            <a:ext cx="504264" cy="44504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527682" y="3354871"/>
            <a:ext cx="734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/>
              <a:t>图</a:t>
            </a:r>
            <a:r>
              <a:rPr lang="en-US" altLang="zh-CN" sz="1600" dirty="0" smtClean="0"/>
              <a:t>2-2</a:t>
            </a:r>
            <a:endParaRPr lang="zh-CN" altLang="zh-CN" sz="1600" dirty="0"/>
          </a:p>
        </p:txBody>
      </p:sp>
      <p:sp>
        <p:nvSpPr>
          <p:cNvPr id="43" name="TextBox 42"/>
          <p:cNvSpPr txBox="1"/>
          <p:nvPr/>
        </p:nvSpPr>
        <p:spPr>
          <a:xfrm>
            <a:off x="947085" y="5445224"/>
            <a:ext cx="10153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从图</a:t>
            </a:r>
            <a:r>
              <a:rPr lang="en-US" altLang="zh-CN" dirty="0"/>
              <a:t>2-2</a:t>
            </a:r>
            <a:r>
              <a:rPr lang="zh-CN" altLang="zh-CN" dirty="0"/>
              <a:t>可以看出，</a:t>
            </a:r>
            <a:r>
              <a:rPr lang="en-US" altLang="zh-CN" dirty="0"/>
              <a:t>A</a:t>
            </a:r>
            <a:r>
              <a:rPr lang="zh-CN" altLang="zh-CN" dirty="0"/>
              <a:t>的尺寸为</a:t>
            </a:r>
            <a:r>
              <a:rPr lang="en-US" altLang="zh-CN" dirty="0"/>
              <a:t>2*2</a:t>
            </a:r>
            <a:r>
              <a:rPr lang="zh-CN" altLang="zh-CN" dirty="0"/>
              <a:t>，即</a:t>
            </a:r>
            <a:r>
              <a:rPr lang="en-US" altLang="zh-CN" dirty="0"/>
              <a:t>2</a:t>
            </a:r>
            <a:r>
              <a:rPr lang="zh-CN" altLang="zh-CN" dirty="0"/>
              <a:t>行</a:t>
            </a:r>
            <a:r>
              <a:rPr lang="en-US" altLang="zh-CN" dirty="0"/>
              <a:t>2</a:t>
            </a:r>
            <a:r>
              <a:rPr lang="zh-CN" altLang="zh-CN" dirty="0"/>
              <a:t>列。数组中元素的数据类型为整型（</a:t>
            </a:r>
            <a:r>
              <a:rPr lang="en-US" altLang="zh-CN" dirty="0"/>
              <a:t>int32</a:t>
            </a:r>
            <a:r>
              <a:rPr lang="zh-CN" altLang="zh-CN" dirty="0"/>
              <a:t>）。双击</a:t>
            </a:r>
            <a:r>
              <a:rPr lang="en-US" altLang="zh-CN" dirty="0"/>
              <a:t>A</a:t>
            </a:r>
            <a:r>
              <a:rPr lang="zh-CN" altLang="zh-CN" dirty="0"/>
              <a:t>弹出了其详细的表格形式，其表格标题也显示了</a:t>
            </a:r>
            <a:r>
              <a:rPr lang="en-US" altLang="zh-CN" dirty="0"/>
              <a:t>A</a:t>
            </a:r>
            <a:r>
              <a:rPr lang="zh-CN" altLang="zh-CN" dirty="0"/>
              <a:t>为</a:t>
            </a:r>
            <a:r>
              <a:rPr lang="en-US" altLang="zh-CN" dirty="0" err="1"/>
              <a:t>Numpy</a:t>
            </a:r>
            <a:r>
              <a:rPr lang="en-US" altLang="zh-CN" dirty="0"/>
              <a:t> array</a:t>
            </a:r>
            <a:r>
              <a:rPr lang="zh-CN" altLang="zh-CN" dirty="0"/>
              <a:t>（数组）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5487695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2.2.1 </a:t>
            </a:r>
            <a:r>
              <a:rPr lang="zh-CN" altLang="zh-CN" sz="2800" b="1" dirty="0">
                <a:solidFill>
                  <a:schemeClr val="accent2"/>
                </a:solidFill>
              </a:rPr>
              <a:t>利用</a:t>
            </a:r>
            <a:r>
              <a:rPr lang="en-US" altLang="zh-CN" sz="2800" b="1" dirty="0">
                <a:solidFill>
                  <a:schemeClr val="accent2"/>
                </a:solidFill>
              </a:rPr>
              <a:t>array()</a:t>
            </a:r>
            <a:r>
              <a:rPr lang="zh-CN" altLang="zh-CN" sz="2800" b="1" dirty="0">
                <a:solidFill>
                  <a:schemeClr val="accent2"/>
                </a:solidFill>
              </a:rPr>
              <a:t>函数创建数组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69789" y="1700808"/>
            <a:ext cx="5747562" cy="480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>
                <a:solidFill>
                  <a:schemeClr val="tx1"/>
                </a:solidFill>
              </a:rPr>
              <a:t>示例代码如下：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#1.</a:t>
            </a:r>
            <a:r>
              <a:rPr lang="zh-CN" altLang="zh-CN" dirty="0">
                <a:solidFill>
                  <a:schemeClr val="tx1"/>
                </a:solidFill>
              </a:rPr>
              <a:t>先预定义列表</a:t>
            </a:r>
            <a:r>
              <a:rPr lang="en-US" altLang="zh-CN" dirty="0">
                <a:solidFill>
                  <a:schemeClr val="tx1"/>
                </a:solidFill>
              </a:rPr>
              <a:t>d1</a:t>
            </a:r>
            <a:r>
              <a:rPr lang="zh-CN" altLang="zh-CN" dirty="0">
                <a:solidFill>
                  <a:schemeClr val="tx1"/>
                </a:solidFill>
              </a:rPr>
              <a:t>，元组</a:t>
            </a:r>
            <a:r>
              <a:rPr lang="en-US" altLang="zh-CN" dirty="0">
                <a:solidFill>
                  <a:schemeClr val="tx1"/>
                </a:solidFill>
              </a:rPr>
              <a:t>d2</a:t>
            </a:r>
            <a:r>
              <a:rPr lang="zh-CN" altLang="zh-CN" dirty="0">
                <a:solidFill>
                  <a:schemeClr val="tx1"/>
                </a:solidFill>
              </a:rPr>
              <a:t>，嵌套列表</a:t>
            </a:r>
            <a:r>
              <a:rPr lang="en-US" altLang="zh-CN" dirty="0">
                <a:solidFill>
                  <a:schemeClr val="tx1"/>
                </a:solidFill>
              </a:rPr>
              <a:t>d3</a:t>
            </a:r>
            <a:r>
              <a:rPr lang="zh-CN" altLang="zh-CN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d4</a:t>
            </a:r>
            <a:r>
              <a:rPr lang="zh-CN" altLang="zh-CN" dirty="0">
                <a:solidFill>
                  <a:schemeClr val="tx1"/>
                </a:solidFill>
              </a:rPr>
              <a:t>和嵌套元组</a:t>
            </a:r>
            <a:r>
              <a:rPr lang="en-US" altLang="zh-CN" dirty="0">
                <a:solidFill>
                  <a:schemeClr val="tx1"/>
                </a:solidFill>
              </a:rPr>
              <a:t>d5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d1=[1,2,3,4,0.1,7]         #</a:t>
            </a:r>
            <a:r>
              <a:rPr lang="zh-CN" altLang="zh-CN" dirty="0">
                <a:solidFill>
                  <a:schemeClr val="tx1"/>
                </a:solidFill>
              </a:rPr>
              <a:t>列表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d2=(1,2,3,4,2.3)           #</a:t>
            </a:r>
            <a:r>
              <a:rPr lang="zh-CN" altLang="zh-CN" dirty="0">
                <a:solidFill>
                  <a:schemeClr val="tx1"/>
                </a:solidFill>
              </a:rPr>
              <a:t>元组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d3=[[1,2,3,4],[5,6,7,8]]     #</a:t>
            </a:r>
            <a:r>
              <a:rPr lang="zh-CN" altLang="zh-CN" dirty="0">
                <a:solidFill>
                  <a:schemeClr val="tx1"/>
                </a:solidFill>
              </a:rPr>
              <a:t>嵌套列表，元素为列表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d4=[(1,2,3,4),(5,6,7,8)]     #</a:t>
            </a:r>
            <a:r>
              <a:rPr lang="zh-CN" altLang="zh-CN" dirty="0">
                <a:solidFill>
                  <a:schemeClr val="tx1"/>
                </a:solidFill>
              </a:rPr>
              <a:t>嵌套列表，元素为元组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d5=((1,2,3,4),(5,6,7,8))     #</a:t>
            </a:r>
            <a:r>
              <a:rPr lang="zh-CN" altLang="zh-CN" dirty="0">
                <a:solidFill>
                  <a:schemeClr val="tx1"/>
                </a:solidFill>
              </a:rPr>
              <a:t>嵌套元组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#2.</a:t>
            </a:r>
            <a:r>
              <a:rPr lang="zh-CN" altLang="zh-CN" dirty="0">
                <a:solidFill>
                  <a:schemeClr val="tx1"/>
                </a:solidFill>
              </a:rPr>
              <a:t>导入</a:t>
            </a:r>
            <a:r>
              <a:rPr lang="en-US" altLang="zh-CN" dirty="0" err="1">
                <a:solidFill>
                  <a:schemeClr val="tx1"/>
                </a:solidFill>
              </a:rPr>
              <a:t>Numpy</a:t>
            </a:r>
            <a:r>
              <a:rPr lang="zh-CN" altLang="zh-CN" dirty="0">
                <a:solidFill>
                  <a:schemeClr val="tx1"/>
                </a:solidFill>
              </a:rPr>
              <a:t>，并调用其中的</a:t>
            </a:r>
            <a:r>
              <a:rPr lang="en-US" altLang="zh-CN" dirty="0">
                <a:solidFill>
                  <a:schemeClr val="tx1"/>
                </a:solidFill>
              </a:rPr>
              <a:t>array</a:t>
            </a:r>
            <a:r>
              <a:rPr lang="zh-CN" altLang="zh-CN" dirty="0">
                <a:solidFill>
                  <a:schemeClr val="tx1"/>
                </a:solidFill>
              </a:rPr>
              <a:t>函数，创建数组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import </a:t>
            </a:r>
            <a:r>
              <a:rPr lang="en-US" altLang="zh-CN" dirty="0" err="1">
                <a:solidFill>
                  <a:schemeClr val="tx1"/>
                </a:solidFill>
              </a:rPr>
              <a:t>numpy</a:t>
            </a:r>
            <a:r>
              <a:rPr lang="en-US" altLang="zh-CN" dirty="0">
                <a:solidFill>
                  <a:schemeClr val="tx1"/>
                </a:solidFill>
              </a:rPr>
              <a:t> as </a:t>
            </a:r>
            <a:r>
              <a:rPr lang="en-US" altLang="zh-CN" dirty="0" err="1">
                <a:solidFill>
                  <a:schemeClr val="tx1"/>
                </a:solidFill>
              </a:rPr>
              <a:t>np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d11=</a:t>
            </a:r>
            <a:r>
              <a:rPr lang="en-US" altLang="zh-CN" dirty="0" err="1">
                <a:solidFill>
                  <a:schemeClr val="tx1"/>
                </a:solidFill>
              </a:rPr>
              <a:t>np.array</a:t>
            </a:r>
            <a:r>
              <a:rPr lang="en-US" altLang="zh-CN" dirty="0">
                <a:solidFill>
                  <a:schemeClr val="tx1"/>
                </a:solidFill>
              </a:rPr>
              <a:t>(d1)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d21=</a:t>
            </a:r>
            <a:r>
              <a:rPr lang="en-US" altLang="zh-CN" dirty="0" err="1">
                <a:solidFill>
                  <a:schemeClr val="tx1"/>
                </a:solidFill>
              </a:rPr>
              <a:t>np.array</a:t>
            </a:r>
            <a:r>
              <a:rPr lang="en-US" altLang="zh-CN" dirty="0">
                <a:solidFill>
                  <a:schemeClr val="tx1"/>
                </a:solidFill>
              </a:rPr>
              <a:t>(d2)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d31=</a:t>
            </a:r>
            <a:r>
              <a:rPr lang="en-US" altLang="zh-CN" dirty="0" err="1">
                <a:solidFill>
                  <a:schemeClr val="tx1"/>
                </a:solidFill>
              </a:rPr>
              <a:t>np.array</a:t>
            </a:r>
            <a:r>
              <a:rPr lang="en-US" altLang="zh-CN" dirty="0">
                <a:solidFill>
                  <a:schemeClr val="tx1"/>
                </a:solidFill>
              </a:rPr>
              <a:t>(d3)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d41=</a:t>
            </a:r>
            <a:r>
              <a:rPr lang="en-US" altLang="zh-CN" dirty="0" err="1">
                <a:solidFill>
                  <a:schemeClr val="tx1"/>
                </a:solidFill>
              </a:rPr>
              <a:t>np.array</a:t>
            </a:r>
            <a:r>
              <a:rPr lang="en-US" altLang="zh-CN" dirty="0">
                <a:solidFill>
                  <a:schemeClr val="tx1"/>
                </a:solidFill>
              </a:rPr>
              <a:t>(d4)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d51=</a:t>
            </a:r>
            <a:r>
              <a:rPr lang="en-US" altLang="zh-CN" dirty="0" err="1">
                <a:solidFill>
                  <a:schemeClr val="tx1"/>
                </a:solidFill>
              </a:rPr>
              <a:t>np.array</a:t>
            </a:r>
            <a:r>
              <a:rPr lang="en-US" altLang="zh-CN" dirty="0">
                <a:solidFill>
                  <a:schemeClr val="tx1"/>
                </a:solidFill>
              </a:rPr>
              <a:t>(d5)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#3. </a:t>
            </a:r>
            <a:r>
              <a:rPr lang="zh-CN" altLang="zh-CN" dirty="0">
                <a:solidFill>
                  <a:schemeClr val="tx1"/>
                </a:solidFill>
              </a:rPr>
              <a:t>删除</a:t>
            </a:r>
            <a:r>
              <a:rPr lang="en-US" altLang="zh-CN" dirty="0">
                <a:solidFill>
                  <a:schemeClr val="tx1"/>
                </a:solidFill>
              </a:rPr>
              <a:t>d1,d2,d3,d4,d5</a:t>
            </a:r>
            <a:r>
              <a:rPr lang="zh-CN" altLang="zh-CN" dirty="0">
                <a:solidFill>
                  <a:schemeClr val="tx1"/>
                </a:solidFill>
              </a:rPr>
              <a:t>变量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del d1,d2,d3,d4,d5 </a:t>
            </a:r>
            <a:endParaRPr lang="zh-CN" altLang="zh-CN" dirty="0">
              <a:solidFill>
                <a:schemeClr val="tx1"/>
              </a:solidFill>
            </a:endParaRPr>
          </a:p>
        </p:txBody>
      </p:sp>
      <p:pic>
        <p:nvPicPr>
          <p:cNvPr id="30" name="图片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8630" y="2082165"/>
            <a:ext cx="5060950" cy="4312920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3049588" y="29673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dirty="0" smtClean="0"/>
              <a:t>。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09749" y="836712"/>
            <a:ext cx="11017224" cy="70788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chemeClr val="tx1"/>
                </a:solidFill>
              </a:rPr>
              <a:t>基于</a:t>
            </a:r>
            <a:r>
              <a:rPr lang="en-US" altLang="zh-CN" sz="2000" dirty="0">
                <a:solidFill>
                  <a:schemeClr val="tx1"/>
                </a:solidFill>
              </a:rPr>
              <a:t>array()</a:t>
            </a:r>
            <a:r>
              <a:rPr lang="zh-CN" altLang="zh-CN" sz="2000" dirty="0">
                <a:solidFill>
                  <a:schemeClr val="tx1"/>
                </a:solidFill>
              </a:rPr>
              <a:t>函数，可以将列表、元组、嵌套列表、嵌套元组等给定的数据结构转化为数组，值得注意的是利用</a:t>
            </a:r>
            <a:r>
              <a:rPr lang="en-US" altLang="zh-CN" sz="2000" dirty="0">
                <a:solidFill>
                  <a:schemeClr val="tx1"/>
                </a:solidFill>
              </a:rPr>
              <a:t>array</a:t>
            </a:r>
            <a:r>
              <a:rPr lang="zh-CN" altLang="zh-CN" sz="2000" dirty="0">
                <a:solidFill>
                  <a:schemeClr val="tx1"/>
                </a:solidFill>
              </a:rPr>
              <a:t>函数之前，事先要导入</a:t>
            </a:r>
            <a:r>
              <a:rPr lang="en-US" altLang="zh-CN" sz="2000" dirty="0" err="1">
                <a:solidFill>
                  <a:schemeClr val="tx1"/>
                </a:solidFill>
              </a:rPr>
              <a:t>Numpy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2.2.2 </a:t>
            </a:r>
            <a:r>
              <a:rPr lang="zh-CN" altLang="zh-CN" sz="2800" b="1" dirty="0">
                <a:solidFill>
                  <a:schemeClr val="accent2"/>
                </a:solidFill>
              </a:rPr>
              <a:t>利用内置函数创建数组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6153" y="908720"/>
            <a:ext cx="10562877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>
                <a:solidFill>
                  <a:schemeClr val="tx1"/>
                </a:solidFill>
              </a:rPr>
              <a:t>利用内置函数，可以创建一些特殊的数组，比如可以利用</a:t>
            </a:r>
            <a:r>
              <a:rPr lang="en-US" altLang="zh-CN" dirty="0">
                <a:solidFill>
                  <a:schemeClr val="tx1"/>
                </a:solidFill>
              </a:rPr>
              <a:t>ones(</a:t>
            </a:r>
            <a:r>
              <a:rPr lang="en-US" altLang="zh-CN" dirty="0" err="1">
                <a:solidFill>
                  <a:schemeClr val="tx1"/>
                </a:solidFill>
              </a:rPr>
              <a:t>n,m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zh-CN" dirty="0">
                <a:solidFill>
                  <a:schemeClr val="tx1"/>
                </a:solidFill>
              </a:rPr>
              <a:t>函数创建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zh-CN" dirty="0">
                <a:solidFill>
                  <a:schemeClr val="tx1"/>
                </a:solidFill>
              </a:rPr>
              <a:t>行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zh-CN" altLang="zh-CN" dirty="0">
                <a:solidFill>
                  <a:schemeClr val="tx1"/>
                </a:solidFill>
              </a:rPr>
              <a:t>列元素全为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的数组、利用</a:t>
            </a:r>
            <a:r>
              <a:rPr lang="en-US" altLang="zh-CN" dirty="0">
                <a:solidFill>
                  <a:schemeClr val="tx1"/>
                </a:solidFill>
              </a:rPr>
              <a:t>zeros(</a:t>
            </a:r>
            <a:r>
              <a:rPr lang="en-US" altLang="zh-CN" dirty="0" err="1">
                <a:solidFill>
                  <a:schemeClr val="tx1"/>
                </a:solidFill>
              </a:rPr>
              <a:t>n,m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zh-CN" dirty="0">
                <a:solidFill>
                  <a:schemeClr val="tx1"/>
                </a:solidFill>
              </a:rPr>
              <a:t>函数创建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zh-CN" dirty="0">
                <a:solidFill>
                  <a:schemeClr val="tx1"/>
                </a:solidFill>
              </a:rPr>
              <a:t>行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zh-CN" altLang="zh-CN" dirty="0">
                <a:solidFill>
                  <a:schemeClr val="tx1"/>
                </a:solidFill>
              </a:rPr>
              <a:t>列元素全为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zh-CN" dirty="0">
                <a:solidFill>
                  <a:schemeClr val="tx1"/>
                </a:solidFill>
              </a:rPr>
              <a:t>的数组，利用</a:t>
            </a:r>
            <a:r>
              <a:rPr lang="en-US" altLang="zh-CN" dirty="0" err="1">
                <a:solidFill>
                  <a:schemeClr val="tx1"/>
                </a:solidFill>
              </a:rPr>
              <a:t>arange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a,b,c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zh-CN" dirty="0">
                <a:solidFill>
                  <a:schemeClr val="tx1"/>
                </a:solidFill>
              </a:rPr>
              <a:t>创建以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zh-CN" dirty="0">
                <a:solidFill>
                  <a:schemeClr val="tx1"/>
                </a:solidFill>
              </a:rPr>
              <a:t>为初始值，</a:t>
            </a:r>
            <a:r>
              <a:rPr lang="en-US" altLang="zh-CN" dirty="0">
                <a:solidFill>
                  <a:schemeClr val="tx1"/>
                </a:solidFill>
              </a:rPr>
              <a:t>b-1</a:t>
            </a:r>
            <a:r>
              <a:rPr lang="zh-CN" altLang="zh-CN" dirty="0">
                <a:solidFill>
                  <a:schemeClr val="tx1"/>
                </a:solidFill>
              </a:rPr>
              <a:t>为末值，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zh-CN" dirty="0">
                <a:solidFill>
                  <a:schemeClr val="tx1"/>
                </a:solidFill>
              </a:rPr>
              <a:t>为步长的一维数组。其中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zh-CN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zh-CN" dirty="0">
                <a:solidFill>
                  <a:schemeClr val="tx1"/>
                </a:solidFill>
              </a:rPr>
              <a:t>参数可省，这时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zh-CN" dirty="0">
                <a:solidFill>
                  <a:schemeClr val="tx1"/>
                </a:solidFill>
              </a:rPr>
              <a:t>取默认值为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zh-CN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zh-CN" dirty="0">
                <a:solidFill>
                  <a:schemeClr val="tx1"/>
                </a:solidFill>
              </a:rPr>
              <a:t>取默认值为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zh-CN" dirty="0" smtClean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5426" y="1988840"/>
            <a:ext cx="10523604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>
                <a:solidFill>
                  <a:schemeClr val="tx1"/>
                </a:solidFill>
              </a:rPr>
              <a:t>示例代码如下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z1=</a:t>
            </a:r>
            <a:r>
              <a:rPr lang="en-US" altLang="zh-CN" dirty="0" err="1">
                <a:solidFill>
                  <a:schemeClr val="tx1"/>
                </a:solidFill>
              </a:rPr>
              <a:t>np.ones</a:t>
            </a:r>
            <a:r>
              <a:rPr lang="en-US" altLang="zh-CN" dirty="0">
                <a:solidFill>
                  <a:schemeClr val="tx1"/>
                </a:solidFill>
              </a:rPr>
              <a:t>((3,3))    #</a:t>
            </a:r>
            <a:r>
              <a:rPr lang="zh-CN" altLang="zh-CN" dirty="0">
                <a:solidFill>
                  <a:schemeClr val="tx1"/>
                </a:solidFill>
              </a:rPr>
              <a:t>创建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zh-CN" dirty="0">
                <a:solidFill>
                  <a:schemeClr val="tx1"/>
                </a:solidFill>
              </a:rPr>
              <a:t>行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zh-CN" dirty="0">
                <a:solidFill>
                  <a:schemeClr val="tx1"/>
                </a:solidFill>
              </a:rPr>
              <a:t>列元素全为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的数组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z2=</a:t>
            </a:r>
            <a:r>
              <a:rPr lang="en-US" altLang="zh-CN" dirty="0" err="1">
                <a:solidFill>
                  <a:schemeClr val="tx1"/>
                </a:solidFill>
              </a:rPr>
              <a:t>np.zeros</a:t>
            </a:r>
            <a:r>
              <a:rPr lang="en-US" altLang="zh-CN" dirty="0">
                <a:solidFill>
                  <a:schemeClr val="tx1"/>
                </a:solidFill>
              </a:rPr>
              <a:t>((3,4))    #</a:t>
            </a:r>
            <a:r>
              <a:rPr lang="zh-CN" altLang="zh-CN" dirty="0">
                <a:solidFill>
                  <a:schemeClr val="tx1"/>
                </a:solidFill>
              </a:rPr>
              <a:t>创建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zh-CN" dirty="0">
                <a:solidFill>
                  <a:schemeClr val="tx1"/>
                </a:solidFill>
              </a:rPr>
              <a:t>行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zh-CN" dirty="0">
                <a:solidFill>
                  <a:schemeClr val="tx1"/>
                </a:solidFill>
              </a:rPr>
              <a:t>列元素全为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zh-CN" dirty="0">
                <a:solidFill>
                  <a:schemeClr val="tx1"/>
                </a:solidFill>
              </a:rPr>
              <a:t>的数组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z3=</a:t>
            </a:r>
            <a:r>
              <a:rPr lang="en-US" altLang="zh-CN" dirty="0" err="1">
                <a:solidFill>
                  <a:schemeClr val="tx1"/>
                </a:solidFill>
              </a:rPr>
              <a:t>np.arange</a:t>
            </a:r>
            <a:r>
              <a:rPr lang="en-US" altLang="zh-CN" dirty="0">
                <a:solidFill>
                  <a:schemeClr val="tx1"/>
                </a:solidFill>
              </a:rPr>
              <a:t>(10)    #</a:t>
            </a:r>
            <a:r>
              <a:rPr lang="zh-CN" altLang="zh-CN" dirty="0">
                <a:solidFill>
                  <a:schemeClr val="tx1"/>
                </a:solidFill>
              </a:rPr>
              <a:t>创建默认初始值为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zh-CN" dirty="0">
                <a:solidFill>
                  <a:schemeClr val="tx1"/>
                </a:solidFill>
              </a:rPr>
              <a:t>，默认步长为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，末值为</a:t>
            </a:r>
            <a:r>
              <a:rPr lang="en-US" altLang="zh-CN" dirty="0">
                <a:solidFill>
                  <a:schemeClr val="tx1"/>
                </a:solidFill>
              </a:rPr>
              <a:t>9</a:t>
            </a:r>
            <a:r>
              <a:rPr lang="zh-CN" altLang="zh-CN" dirty="0">
                <a:solidFill>
                  <a:schemeClr val="tx1"/>
                </a:solidFill>
              </a:rPr>
              <a:t>的一维数组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z4= </a:t>
            </a:r>
            <a:r>
              <a:rPr lang="en-US" altLang="zh-CN" dirty="0" err="1">
                <a:solidFill>
                  <a:schemeClr val="tx1"/>
                </a:solidFill>
              </a:rPr>
              <a:t>np.arange</a:t>
            </a:r>
            <a:r>
              <a:rPr lang="en-US" altLang="zh-CN" dirty="0">
                <a:solidFill>
                  <a:schemeClr val="tx1"/>
                </a:solidFill>
              </a:rPr>
              <a:t>(2,10)  #</a:t>
            </a:r>
            <a:r>
              <a:rPr lang="zh-CN" altLang="zh-CN" dirty="0">
                <a:solidFill>
                  <a:schemeClr val="tx1"/>
                </a:solidFill>
              </a:rPr>
              <a:t>创建默认初始值为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zh-CN" dirty="0">
                <a:solidFill>
                  <a:schemeClr val="tx1"/>
                </a:solidFill>
              </a:rPr>
              <a:t>，默认步长为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zh-CN" dirty="0">
                <a:solidFill>
                  <a:schemeClr val="tx1"/>
                </a:solidFill>
              </a:rPr>
              <a:t>，末值为</a:t>
            </a:r>
            <a:r>
              <a:rPr lang="en-US" altLang="zh-CN" dirty="0">
                <a:solidFill>
                  <a:schemeClr val="tx1"/>
                </a:solidFill>
              </a:rPr>
              <a:t>9</a:t>
            </a:r>
            <a:r>
              <a:rPr lang="zh-CN" altLang="zh-CN" dirty="0">
                <a:solidFill>
                  <a:schemeClr val="tx1"/>
                </a:solidFill>
              </a:rPr>
              <a:t>的一维数组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z5= </a:t>
            </a:r>
            <a:r>
              <a:rPr lang="en-US" altLang="zh-CN" dirty="0" err="1">
                <a:solidFill>
                  <a:schemeClr val="tx1"/>
                </a:solidFill>
              </a:rPr>
              <a:t>np.arange</a:t>
            </a:r>
            <a:r>
              <a:rPr lang="en-US" altLang="zh-CN" dirty="0">
                <a:solidFill>
                  <a:schemeClr val="tx1"/>
                </a:solidFill>
              </a:rPr>
              <a:t>(2,10,2)  #</a:t>
            </a:r>
            <a:r>
              <a:rPr lang="zh-CN" altLang="zh-CN" dirty="0">
                <a:solidFill>
                  <a:schemeClr val="tx1"/>
                </a:solidFill>
              </a:rPr>
              <a:t>创建默认初始值为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zh-CN" dirty="0">
                <a:solidFill>
                  <a:schemeClr val="tx1"/>
                </a:solidFill>
              </a:rPr>
              <a:t>，步长为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zh-CN" dirty="0">
                <a:solidFill>
                  <a:schemeClr val="tx1"/>
                </a:solidFill>
              </a:rPr>
              <a:t>，末值为</a:t>
            </a:r>
            <a:r>
              <a:rPr lang="en-US" altLang="zh-CN" dirty="0">
                <a:solidFill>
                  <a:schemeClr val="tx1"/>
                </a:solidFill>
              </a:rPr>
              <a:t>9</a:t>
            </a:r>
            <a:r>
              <a:rPr lang="zh-CN" altLang="zh-CN" dirty="0">
                <a:solidFill>
                  <a:schemeClr val="tx1"/>
                </a:solidFill>
              </a:rPr>
              <a:t>的一维数组</a:t>
            </a:r>
          </a:p>
        </p:txBody>
      </p:sp>
      <p:pic>
        <p:nvPicPr>
          <p:cNvPr id="11" name="图片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5611" y="3980428"/>
            <a:ext cx="5400600" cy="2615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2.3 </a:t>
            </a:r>
            <a:r>
              <a:rPr lang="zh-CN" altLang="zh-CN" sz="2800" b="1" dirty="0">
                <a:solidFill>
                  <a:schemeClr val="accent2"/>
                </a:solidFill>
              </a:rPr>
              <a:t>数组尺寸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09749" y="681304"/>
            <a:ext cx="10274846" cy="83099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1"/>
                </a:solidFill>
              </a:rPr>
              <a:t>数组尺寸，也称为数组的大小，通过行数和列数来表现。通过数组中的</a:t>
            </a:r>
            <a:r>
              <a:rPr lang="en-US" altLang="zh-CN" sz="1600" dirty="0">
                <a:solidFill>
                  <a:schemeClr val="tx1"/>
                </a:solidFill>
              </a:rPr>
              <a:t>shape</a:t>
            </a:r>
            <a:r>
              <a:rPr lang="zh-CN" altLang="zh-CN" sz="1600" dirty="0">
                <a:solidFill>
                  <a:schemeClr val="tx1"/>
                </a:solidFill>
              </a:rPr>
              <a:t>属性，可以返回数组的尺寸，其返回值为元组。如果是一维数组，返回的元组中仅一个元素，代表这个数组的长度。如果是二维数组，元组中有两个值，第一个值代表数组的行数，第二个值代表数组的列数。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09749" y="1594535"/>
            <a:ext cx="6336704" cy="25545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1"/>
                </a:solidFill>
              </a:rPr>
              <a:t>示例代码如下：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d1=[1,2,3,4,0.1,7]         #</a:t>
            </a:r>
            <a:r>
              <a:rPr lang="zh-CN" altLang="zh-CN" sz="1600" dirty="0">
                <a:solidFill>
                  <a:schemeClr val="tx1"/>
                </a:solidFill>
              </a:rPr>
              <a:t>列表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d3=[[1,2,3,4],[5,6,7,8]]     #</a:t>
            </a:r>
            <a:r>
              <a:rPr lang="zh-CN" altLang="zh-CN" sz="1600" dirty="0">
                <a:solidFill>
                  <a:schemeClr val="tx1"/>
                </a:solidFill>
              </a:rPr>
              <a:t>嵌套列表，元素为列表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import </a:t>
            </a:r>
            <a:r>
              <a:rPr lang="en-US" altLang="zh-CN" sz="1600" dirty="0" err="1">
                <a:solidFill>
                  <a:schemeClr val="tx1"/>
                </a:solidFill>
              </a:rPr>
              <a:t>numpy</a:t>
            </a:r>
            <a:r>
              <a:rPr lang="en-US" altLang="zh-CN" sz="1600" dirty="0">
                <a:solidFill>
                  <a:schemeClr val="tx1"/>
                </a:solidFill>
              </a:rPr>
              <a:t> as </a:t>
            </a:r>
            <a:r>
              <a:rPr lang="en-US" altLang="zh-CN" sz="1600" dirty="0" err="1">
                <a:solidFill>
                  <a:schemeClr val="tx1"/>
                </a:solidFill>
              </a:rPr>
              <a:t>np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d11=</a:t>
            </a:r>
            <a:r>
              <a:rPr lang="en-US" altLang="zh-CN" sz="1600" dirty="0" err="1">
                <a:solidFill>
                  <a:schemeClr val="tx1"/>
                </a:solidFill>
              </a:rPr>
              <a:t>np.array</a:t>
            </a:r>
            <a:r>
              <a:rPr lang="en-US" altLang="zh-CN" sz="1600" dirty="0">
                <a:solidFill>
                  <a:schemeClr val="tx1"/>
                </a:solidFill>
              </a:rPr>
              <a:t>(d1)   #</a:t>
            </a:r>
            <a:r>
              <a:rPr lang="zh-CN" altLang="zh-CN" sz="1600" dirty="0">
                <a:solidFill>
                  <a:schemeClr val="tx1"/>
                </a:solidFill>
              </a:rPr>
              <a:t>将</a:t>
            </a:r>
            <a:r>
              <a:rPr lang="en-US" altLang="zh-CN" sz="1600" dirty="0">
                <a:solidFill>
                  <a:schemeClr val="tx1"/>
                </a:solidFill>
              </a:rPr>
              <a:t>d1</a:t>
            </a:r>
            <a:r>
              <a:rPr lang="zh-CN" altLang="zh-CN" sz="1600" dirty="0">
                <a:solidFill>
                  <a:schemeClr val="tx1"/>
                </a:solidFill>
              </a:rPr>
              <a:t>列表转换为一维数组，结果赋值给变量</a:t>
            </a:r>
            <a:r>
              <a:rPr lang="en-US" altLang="zh-CN" sz="1600" dirty="0">
                <a:solidFill>
                  <a:schemeClr val="tx1"/>
                </a:solidFill>
              </a:rPr>
              <a:t>d11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d31=</a:t>
            </a:r>
            <a:r>
              <a:rPr lang="en-US" altLang="zh-CN" sz="1600" dirty="0" err="1">
                <a:solidFill>
                  <a:schemeClr val="tx1"/>
                </a:solidFill>
              </a:rPr>
              <a:t>np.array</a:t>
            </a:r>
            <a:r>
              <a:rPr lang="en-US" altLang="zh-CN" sz="1600" dirty="0">
                <a:solidFill>
                  <a:schemeClr val="tx1"/>
                </a:solidFill>
              </a:rPr>
              <a:t>(d3)   #</a:t>
            </a:r>
            <a:r>
              <a:rPr lang="zh-CN" altLang="zh-CN" sz="1600" dirty="0">
                <a:solidFill>
                  <a:schemeClr val="tx1"/>
                </a:solidFill>
              </a:rPr>
              <a:t>将</a:t>
            </a:r>
            <a:r>
              <a:rPr lang="en-US" altLang="zh-CN" sz="1600" dirty="0">
                <a:solidFill>
                  <a:schemeClr val="tx1"/>
                </a:solidFill>
              </a:rPr>
              <a:t>d3</a:t>
            </a:r>
            <a:r>
              <a:rPr lang="zh-CN" altLang="zh-CN" sz="1600" dirty="0">
                <a:solidFill>
                  <a:schemeClr val="tx1"/>
                </a:solidFill>
              </a:rPr>
              <a:t>嵌套列表转换为二维数组，结果赋值给变量</a:t>
            </a:r>
            <a:r>
              <a:rPr lang="en-US" altLang="zh-CN" sz="1600" dirty="0">
                <a:solidFill>
                  <a:schemeClr val="tx1"/>
                </a:solidFill>
              </a:rPr>
              <a:t>d31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del d1,d3         #</a:t>
            </a:r>
            <a:r>
              <a:rPr lang="zh-CN" altLang="zh-CN" sz="1600" dirty="0">
                <a:solidFill>
                  <a:schemeClr val="tx1"/>
                </a:solidFill>
              </a:rPr>
              <a:t>删除</a:t>
            </a:r>
            <a:r>
              <a:rPr lang="en-US" altLang="zh-CN" sz="1600" dirty="0">
                <a:solidFill>
                  <a:schemeClr val="tx1"/>
                </a:solidFill>
              </a:rPr>
              <a:t>d1,d3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s11=d11.shape    #</a:t>
            </a:r>
            <a:r>
              <a:rPr lang="zh-CN" altLang="zh-CN" sz="1600" dirty="0">
                <a:solidFill>
                  <a:schemeClr val="tx1"/>
                </a:solidFill>
              </a:rPr>
              <a:t>返回一维数组</a:t>
            </a:r>
            <a:r>
              <a:rPr lang="en-US" altLang="zh-CN" sz="1600" dirty="0">
                <a:solidFill>
                  <a:schemeClr val="tx1"/>
                </a:solidFill>
              </a:rPr>
              <a:t>d11</a:t>
            </a:r>
            <a:r>
              <a:rPr lang="zh-CN" altLang="zh-CN" sz="1600" dirty="0">
                <a:solidFill>
                  <a:schemeClr val="tx1"/>
                </a:solidFill>
              </a:rPr>
              <a:t>的尺寸，结果赋值给变量</a:t>
            </a:r>
            <a:r>
              <a:rPr lang="en-US" altLang="zh-CN" sz="1600" dirty="0">
                <a:solidFill>
                  <a:schemeClr val="tx1"/>
                </a:solidFill>
              </a:rPr>
              <a:t>s11</a:t>
            </a:r>
            <a:endParaRPr lang="zh-CN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s31=d31.shape    #</a:t>
            </a:r>
            <a:r>
              <a:rPr lang="zh-CN" altLang="zh-CN" sz="1600" dirty="0">
                <a:solidFill>
                  <a:schemeClr val="tx1"/>
                </a:solidFill>
              </a:rPr>
              <a:t>返回二维数组</a:t>
            </a:r>
            <a:r>
              <a:rPr lang="en-US" altLang="zh-CN" sz="1600" dirty="0">
                <a:solidFill>
                  <a:schemeClr val="tx1"/>
                </a:solidFill>
              </a:rPr>
              <a:t>d31</a:t>
            </a:r>
            <a:r>
              <a:rPr lang="zh-CN" altLang="zh-CN" sz="1600" dirty="0">
                <a:solidFill>
                  <a:schemeClr val="tx1"/>
                </a:solidFill>
              </a:rPr>
              <a:t>的尺寸，结果赋值给变量</a:t>
            </a:r>
            <a:r>
              <a:rPr lang="en-US" altLang="zh-CN" sz="1600" dirty="0">
                <a:solidFill>
                  <a:schemeClr val="tx1"/>
                </a:solidFill>
              </a:rPr>
              <a:t>s31</a:t>
            </a:r>
            <a:endParaRPr lang="zh-CN" altLang="zh-CN" sz="1600" dirty="0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0180" y="1605710"/>
            <a:ext cx="3834745" cy="2304256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841797" y="4797152"/>
            <a:ext cx="4157918" cy="13234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1"/>
                </a:solidFill>
              </a:rPr>
              <a:t>在程序应用过程中，有时候需要将数组进行重排，可以通过</a:t>
            </a:r>
            <a:r>
              <a:rPr lang="en-US" altLang="zh-CN" sz="1600" dirty="0">
                <a:solidFill>
                  <a:schemeClr val="tx1"/>
                </a:solidFill>
              </a:rPr>
              <a:t>reshape()</a:t>
            </a:r>
            <a:r>
              <a:rPr lang="zh-CN" altLang="zh-CN" sz="1600" dirty="0">
                <a:solidFill>
                  <a:schemeClr val="tx1"/>
                </a:solidFill>
              </a:rPr>
              <a:t>函数来实现。示例代码如下：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r=</a:t>
            </a:r>
            <a:r>
              <a:rPr lang="en-US" altLang="zh-CN" sz="1600" dirty="0" err="1">
                <a:solidFill>
                  <a:schemeClr val="tx1"/>
                </a:solidFill>
              </a:rPr>
              <a:t>np.array</a:t>
            </a:r>
            <a:r>
              <a:rPr lang="en-US" altLang="zh-CN" sz="1600" dirty="0">
                <a:solidFill>
                  <a:schemeClr val="tx1"/>
                </a:solidFill>
              </a:rPr>
              <a:t>(range(9))  #</a:t>
            </a:r>
            <a:r>
              <a:rPr lang="zh-CN" altLang="zh-CN" sz="1600" dirty="0">
                <a:solidFill>
                  <a:schemeClr val="tx1"/>
                </a:solidFill>
              </a:rPr>
              <a:t>一维数组</a:t>
            </a:r>
          </a:p>
          <a:p>
            <a:r>
              <a:rPr lang="en-US" altLang="zh-CN" sz="1600" dirty="0">
                <a:solidFill>
                  <a:schemeClr val="tx1"/>
                </a:solidFill>
              </a:rPr>
              <a:t>r1=</a:t>
            </a:r>
            <a:r>
              <a:rPr lang="en-US" altLang="zh-CN" sz="1600" dirty="0" err="1">
                <a:solidFill>
                  <a:schemeClr val="tx1"/>
                </a:solidFill>
              </a:rPr>
              <a:t>r.reshape</a:t>
            </a:r>
            <a:r>
              <a:rPr lang="en-US" altLang="zh-CN" sz="1600" dirty="0">
                <a:solidFill>
                  <a:schemeClr val="tx1"/>
                </a:solidFill>
              </a:rPr>
              <a:t>((3,3))   #</a:t>
            </a:r>
            <a:r>
              <a:rPr lang="zh-CN" altLang="zh-CN" sz="1600" dirty="0">
                <a:solidFill>
                  <a:schemeClr val="tx1"/>
                </a:solidFill>
              </a:rPr>
              <a:t>重排为</a:t>
            </a: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r>
              <a:rPr lang="zh-CN" altLang="zh-CN" sz="1600" dirty="0">
                <a:solidFill>
                  <a:schemeClr val="tx1"/>
                </a:solidFill>
              </a:rPr>
              <a:t>行</a:t>
            </a: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r>
              <a:rPr lang="zh-CN" altLang="zh-CN" sz="1600" dirty="0">
                <a:solidFill>
                  <a:schemeClr val="tx1"/>
                </a:solidFill>
              </a:rPr>
              <a:t>列</a:t>
            </a:r>
          </a:p>
        </p:txBody>
      </p:sp>
      <p:pic>
        <p:nvPicPr>
          <p:cNvPr id="36" name="图片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42397" y="4293096"/>
            <a:ext cx="5256584" cy="2051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2.4 </a:t>
            </a:r>
            <a:r>
              <a:rPr lang="zh-CN" altLang="zh-CN" sz="2800" b="1" dirty="0">
                <a:solidFill>
                  <a:schemeClr val="accent2"/>
                </a:solidFill>
              </a:rPr>
              <a:t>数组运算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7741" y="858926"/>
            <a:ext cx="10838369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>
                <a:solidFill>
                  <a:schemeClr val="tx1"/>
                </a:solidFill>
              </a:rPr>
              <a:t>数组的运算主要包括数组之间的加、减、乘、除运算，数组的乘方运算，以及数组的数学函数运算。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7741" y="1499017"/>
            <a:ext cx="5976664" cy="461664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chemeClr val="tx1"/>
                </a:solidFill>
              </a:rPr>
              <a:t>示例代码如下：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import </a:t>
            </a:r>
            <a:r>
              <a:rPr lang="en-US" altLang="zh-CN" sz="1400" dirty="0" err="1">
                <a:solidFill>
                  <a:schemeClr val="tx1"/>
                </a:solidFill>
              </a:rPr>
              <a:t>numpy</a:t>
            </a:r>
            <a:r>
              <a:rPr lang="en-US" altLang="zh-CN" sz="1400" dirty="0">
                <a:solidFill>
                  <a:schemeClr val="tx1"/>
                </a:solidFill>
              </a:rPr>
              <a:t> as </a:t>
            </a:r>
            <a:r>
              <a:rPr lang="en-US" altLang="zh-CN" sz="1400" dirty="0" err="1">
                <a:solidFill>
                  <a:schemeClr val="tx1"/>
                </a:solidFill>
              </a:rPr>
              <a:t>np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A=</a:t>
            </a:r>
            <a:r>
              <a:rPr lang="en-US" altLang="zh-CN" sz="1400" dirty="0" err="1">
                <a:solidFill>
                  <a:schemeClr val="tx1"/>
                </a:solidFill>
              </a:rPr>
              <a:t>np.array</a:t>
            </a:r>
            <a:r>
              <a:rPr lang="en-US" altLang="zh-CN" sz="1400" dirty="0">
                <a:solidFill>
                  <a:schemeClr val="tx1"/>
                </a:solidFill>
              </a:rPr>
              <a:t>([[1,2],[3,4]])     #</a:t>
            </a:r>
            <a:r>
              <a:rPr lang="zh-CN" altLang="zh-CN" sz="1400" dirty="0">
                <a:solidFill>
                  <a:schemeClr val="tx1"/>
                </a:solidFill>
              </a:rPr>
              <a:t>定义二维数组</a:t>
            </a:r>
            <a:r>
              <a:rPr lang="en-US" altLang="zh-CN" sz="1400" dirty="0">
                <a:solidFill>
                  <a:schemeClr val="tx1"/>
                </a:solidFill>
              </a:rPr>
              <a:t>A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B=</a:t>
            </a:r>
            <a:r>
              <a:rPr lang="en-US" altLang="zh-CN" sz="1400" dirty="0" err="1">
                <a:solidFill>
                  <a:schemeClr val="tx1"/>
                </a:solidFill>
              </a:rPr>
              <a:t>np.array</a:t>
            </a:r>
            <a:r>
              <a:rPr lang="en-US" altLang="zh-CN" sz="1400" dirty="0">
                <a:solidFill>
                  <a:schemeClr val="tx1"/>
                </a:solidFill>
              </a:rPr>
              <a:t>([[5,6],[7,8]])     #</a:t>
            </a:r>
            <a:r>
              <a:rPr lang="zh-CN" altLang="zh-CN" sz="1400" dirty="0">
                <a:solidFill>
                  <a:schemeClr val="tx1"/>
                </a:solidFill>
              </a:rPr>
              <a:t>定义二维数组</a:t>
            </a:r>
            <a:r>
              <a:rPr lang="en-US" altLang="zh-CN" sz="1400" dirty="0">
                <a:solidFill>
                  <a:schemeClr val="tx1"/>
                </a:solidFill>
              </a:rPr>
              <a:t>B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C1=A-B                  #A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zh-CN" altLang="zh-CN" sz="1400" dirty="0">
                <a:solidFill>
                  <a:schemeClr val="tx1"/>
                </a:solidFill>
              </a:rPr>
              <a:t>两个数组元素之间相减，结果赋给变量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C1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C2=A+B                 #A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zh-CN" altLang="zh-CN" sz="1400" dirty="0">
                <a:solidFill>
                  <a:schemeClr val="tx1"/>
                </a:solidFill>
              </a:rPr>
              <a:t>两个数组元素之间相加，结果赋给变量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C2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C3=A*B                 #A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zh-CN" altLang="zh-CN" sz="1400" dirty="0">
                <a:solidFill>
                  <a:schemeClr val="tx1"/>
                </a:solidFill>
              </a:rPr>
              <a:t>两个数组元素之间相乘，结果赋给变量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C3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C4=A/B                 #A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zh-CN" altLang="zh-CN" sz="1400" dirty="0">
                <a:solidFill>
                  <a:schemeClr val="tx1"/>
                </a:solidFill>
              </a:rPr>
              <a:t>两个数组元素之间相除，结果赋给变量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C4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C5=A/3                 #A</a:t>
            </a:r>
            <a:r>
              <a:rPr lang="zh-CN" altLang="zh-CN" sz="1400" dirty="0">
                <a:solidFill>
                  <a:schemeClr val="tx1"/>
                </a:solidFill>
              </a:rPr>
              <a:t>数组所有元素除以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C5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C6=1/A                 #1</a:t>
            </a:r>
            <a:r>
              <a:rPr lang="zh-CN" altLang="zh-CN" sz="1400" dirty="0">
                <a:solidFill>
                  <a:schemeClr val="tx1"/>
                </a:solidFill>
              </a:rPr>
              <a:t>除以</a:t>
            </a:r>
            <a:r>
              <a:rPr lang="en-US" altLang="zh-CN" sz="1400" dirty="0">
                <a:solidFill>
                  <a:schemeClr val="tx1"/>
                </a:solidFill>
              </a:rPr>
              <a:t>A</a:t>
            </a:r>
            <a:r>
              <a:rPr lang="zh-CN" altLang="zh-CN" sz="1400" dirty="0">
                <a:solidFill>
                  <a:schemeClr val="tx1"/>
                </a:solidFill>
              </a:rPr>
              <a:t>数组所有元素，结果赋给变量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C6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C7=A**2                # A</a:t>
            </a:r>
            <a:r>
              <a:rPr lang="zh-CN" altLang="zh-CN" sz="1400" dirty="0">
                <a:solidFill>
                  <a:schemeClr val="tx1"/>
                </a:solidFill>
              </a:rPr>
              <a:t>数组所有元素取平方，结果赋给变量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C7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C8=</a:t>
            </a:r>
            <a:r>
              <a:rPr lang="en-US" altLang="zh-CN" sz="1400" dirty="0" err="1">
                <a:solidFill>
                  <a:schemeClr val="tx1"/>
                </a:solidFill>
              </a:rPr>
              <a:t>np.array</a:t>
            </a:r>
            <a:r>
              <a:rPr lang="en-US" altLang="zh-CN" sz="1400" dirty="0">
                <a:solidFill>
                  <a:schemeClr val="tx1"/>
                </a:solidFill>
              </a:rPr>
              <a:t>([1,2,3,3.1,4.5,6,7,8,9])    #</a:t>
            </a:r>
            <a:r>
              <a:rPr lang="zh-CN" altLang="zh-CN" sz="1400" dirty="0">
                <a:solidFill>
                  <a:schemeClr val="tx1"/>
                </a:solidFill>
              </a:rPr>
              <a:t>定义数组</a:t>
            </a:r>
            <a:r>
              <a:rPr lang="en-US" altLang="zh-CN" sz="1400" dirty="0">
                <a:solidFill>
                  <a:schemeClr val="tx1"/>
                </a:solidFill>
              </a:rPr>
              <a:t>C8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C9=(C8-min(C8))/(max(C8)-min(C8))    #C8</a:t>
            </a:r>
            <a:r>
              <a:rPr lang="zh-CN" altLang="zh-CN" sz="1400" dirty="0">
                <a:solidFill>
                  <a:schemeClr val="tx1"/>
                </a:solidFill>
              </a:rPr>
              <a:t>中的元素做极差化处理，结果赋给变量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C9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D=</a:t>
            </a:r>
            <a:r>
              <a:rPr lang="en-US" altLang="zh-CN" sz="1400" dirty="0" err="1">
                <a:solidFill>
                  <a:schemeClr val="tx1"/>
                </a:solidFill>
              </a:rPr>
              <a:t>np.array</a:t>
            </a:r>
            <a:r>
              <a:rPr lang="en-US" altLang="zh-CN" sz="1400" dirty="0">
                <a:solidFill>
                  <a:schemeClr val="tx1"/>
                </a:solidFill>
              </a:rPr>
              <a:t>([[1,2,3,4],[5,6,7,8],[9,10,11,12],[13,14,15,16]])  #</a:t>
            </a:r>
            <a:r>
              <a:rPr lang="zh-CN" altLang="zh-CN" sz="1400" dirty="0">
                <a:solidFill>
                  <a:schemeClr val="tx1"/>
                </a:solidFill>
              </a:rPr>
              <a:t>定义数组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数学运算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E1=</a:t>
            </a:r>
            <a:r>
              <a:rPr lang="en-US" altLang="zh-CN" sz="1400" dirty="0" err="1">
                <a:solidFill>
                  <a:schemeClr val="tx1"/>
                </a:solidFill>
              </a:rPr>
              <a:t>np.sqrt</a:t>
            </a:r>
            <a:r>
              <a:rPr lang="en-US" altLang="zh-CN" sz="1400" dirty="0">
                <a:solidFill>
                  <a:schemeClr val="tx1"/>
                </a:solidFill>
              </a:rPr>
              <a:t>(D)                #</a:t>
            </a:r>
            <a:r>
              <a:rPr lang="zh-CN" altLang="zh-CN" sz="1400" dirty="0">
                <a:solidFill>
                  <a:schemeClr val="tx1"/>
                </a:solidFill>
              </a:rPr>
              <a:t>数组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中所有元素取平方根，结果赋给变量</a:t>
            </a:r>
            <a:r>
              <a:rPr lang="en-US" altLang="zh-CN" sz="1400" dirty="0">
                <a:solidFill>
                  <a:schemeClr val="tx1"/>
                </a:solidFill>
              </a:rPr>
              <a:t>E1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E2=</a:t>
            </a:r>
            <a:r>
              <a:rPr lang="en-US" altLang="zh-CN" sz="1400" dirty="0" err="1">
                <a:solidFill>
                  <a:schemeClr val="tx1"/>
                </a:solidFill>
              </a:rPr>
              <a:t>np.abs</a:t>
            </a:r>
            <a:r>
              <a:rPr lang="en-US" altLang="zh-CN" sz="1400" dirty="0">
                <a:solidFill>
                  <a:schemeClr val="tx1"/>
                </a:solidFill>
              </a:rPr>
              <a:t>([1,-2,-100])         #</a:t>
            </a:r>
            <a:r>
              <a:rPr lang="zh-CN" altLang="zh-CN" sz="1400" dirty="0">
                <a:solidFill>
                  <a:schemeClr val="tx1"/>
                </a:solidFill>
              </a:rPr>
              <a:t>取绝对值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E3=</a:t>
            </a:r>
            <a:r>
              <a:rPr lang="en-US" altLang="zh-CN" sz="1400" dirty="0" err="1">
                <a:solidFill>
                  <a:schemeClr val="tx1"/>
                </a:solidFill>
              </a:rPr>
              <a:t>np.cos</a:t>
            </a:r>
            <a:r>
              <a:rPr lang="en-US" altLang="zh-CN" sz="1400" dirty="0">
                <a:solidFill>
                  <a:schemeClr val="tx1"/>
                </a:solidFill>
              </a:rPr>
              <a:t>([1,2,3])            #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 err="1">
                <a:solidFill>
                  <a:schemeClr val="tx1"/>
                </a:solidFill>
              </a:rPr>
              <a:t>cos</a:t>
            </a:r>
            <a:r>
              <a:rPr lang="zh-CN" altLang="zh-CN" sz="1400" dirty="0">
                <a:solidFill>
                  <a:schemeClr val="tx1"/>
                </a:solidFill>
              </a:rPr>
              <a:t>值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E4=</a:t>
            </a:r>
            <a:r>
              <a:rPr lang="en-US" altLang="zh-CN" sz="1400" dirty="0" err="1">
                <a:solidFill>
                  <a:schemeClr val="tx1"/>
                </a:solidFill>
              </a:rPr>
              <a:t>np.sin</a:t>
            </a:r>
            <a:r>
              <a:rPr lang="en-US" altLang="zh-CN" sz="1400" dirty="0">
                <a:solidFill>
                  <a:schemeClr val="tx1"/>
                </a:solidFill>
              </a:rPr>
              <a:t>(D)                #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sin</a:t>
            </a:r>
            <a:r>
              <a:rPr lang="zh-CN" altLang="zh-CN" sz="1400" dirty="0">
                <a:solidFill>
                  <a:schemeClr val="tx1"/>
                </a:solidFill>
              </a:rPr>
              <a:t>值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E5=</a:t>
            </a:r>
            <a:r>
              <a:rPr lang="en-US" altLang="zh-CN" sz="1400" dirty="0" err="1">
                <a:solidFill>
                  <a:schemeClr val="tx1"/>
                </a:solidFill>
              </a:rPr>
              <a:t>np.exp</a:t>
            </a:r>
            <a:r>
              <a:rPr lang="en-US" altLang="zh-CN" sz="1400" dirty="0">
                <a:solidFill>
                  <a:schemeClr val="tx1"/>
                </a:solidFill>
              </a:rPr>
              <a:t>(D)               #</a:t>
            </a:r>
            <a:r>
              <a:rPr lang="zh-CN" altLang="zh-CN" sz="1400" dirty="0">
                <a:solidFill>
                  <a:schemeClr val="tx1"/>
                </a:solidFill>
              </a:rPr>
              <a:t>取指数函数值</a:t>
            </a:r>
          </a:p>
        </p:txBody>
      </p:sp>
      <p:pic>
        <p:nvPicPr>
          <p:cNvPr id="16" name="图片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0429" y="1499017"/>
            <a:ext cx="5256584" cy="4392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2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2.5.1 </a:t>
            </a:r>
            <a:r>
              <a:rPr lang="zh-CN" altLang="zh-CN" sz="2800" b="1" dirty="0">
                <a:solidFill>
                  <a:schemeClr val="accent2"/>
                </a:solidFill>
              </a:rPr>
              <a:t>常见的数组切片方法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5733" y="836712"/>
            <a:ext cx="11245394" cy="10772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1"/>
                </a:solidFill>
              </a:rPr>
              <a:t>一般地，假设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zh-CN" altLang="zh-CN" sz="1600" dirty="0">
                <a:solidFill>
                  <a:schemeClr val="tx1"/>
                </a:solidFill>
              </a:rPr>
              <a:t>为待访问或切片的数据变量，则访问或者切片的数据</a:t>
            </a:r>
            <a:r>
              <a:rPr lang="en-US" altLang="zh-CN" sz="1600" dirty="0">
                <a:solidFill>
                  <a:schemeClr val="tx1"/>
                </a:solidFill>
              </a:rPr>
              <a:t>=D[</a:t>
            </a:r>
            <a:r>
              <a:rPr lang="zh-CN" altLang="zh-CN" sz="1600" dirty="0">
                <a:solidFill>
                  <a:schemeClr val="tx1"/>
                </a:solidFill>
              </a:rPr>
              <a:t>①</a:t>
            </a:r>
            <a:r>
              <a:rPr lang="en-US" altLang="zh-CN" sz="1600" dirty="0">
                <a:solidFill>
                  <a:schemeClr val="tx1"/>
                </a:solidFill>
              </a:rPr>
              <a:t>,</a:t>
            </a:r>
            <a:r>
              <a:rPr lang="zh-CN" altLang="zh-CN" sz="1600" dirty="0">
                <a:solidFill>
                  <a:schemeClr val="tx1"/>
                </a:solidFill>
              </a:rPr>
              <a:t>②</a:t>
            </a:r>
            <a:r>
              <a:rPr lang="en-US" altLang="zh-CN" sz="1600" dirty="0">
                <a:solidFill>
                  <a:schemeClr val="tx1"/>
                </a:solidFill>
              </a:rPr>
              <a:t>]</a:t>
            </a:r>
            <a:r>
              <a:rPr lang="zh-CN" altLang="zh-CN" sz="1600" dirty="0">
                <a:solidFill>
                  <a:schemeClr val="tx1"/>
                </a:solidFill>
              </a:rPr>
              <a:t>。其中①为对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zh-CN" altLang="zh-CN" sz="1600" dirty="0">
                <a:solidFill>
                  <a:schemeClr val="tx1"/>
                </a:solidFill>
              </a:rPr>
              <a:t>的行下标控制，②为对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zh-CN" altLang="zh-CN" sz="1600" dirty="0">
                <a:solidFill>
                  <a:schemeClr val="tx1"/>
                </a:solidFill>
              </a:rPr>
              <a:t>的列下标控制，行和列下标控制通过整数列表来实现，但是需要注意①整数列表中的元素不能超出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zh-CN" altLang="zh-CN" sz="1600" dirty="0">
                <a:solidFill>
                  <a:schemeClr val="tx1"/>
                </a:solidFill>
              </a:rPr>
              <a:t>中的最大行数，而②不能超过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zh-CN" altLang="zh-CN" sz="1600" dirty="0">
                <a:solidFill>
                  <a:schemeClr val="tx1"/>
                </a:solidFill>
              </a:rPr>
              <a:t>中的最大列数。为了更灵活地操作数据，取所有的行或者列，可以用“：”来代替实现。同时，行控制还可以通过逻辑列表来实现</a:t>
            </a:r>
            <a:r>
              <a:rPr lang="zh-CN" altLang="zh-CN" sz="1600" dirty="0"/>
              <a:t>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5733" y="2060848"/>
            <a:ext cx="5898965" cy="461664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chemeClr val="tx1"/>
                </a:solidFill>
              </a:rPr>
              <a:t>示例代码如下：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import </a:t>
            </a:r>
            <a:r>
              <a:rPr lang="en-US" altLang="zh-CN" sz="1400" dirty="0" err="1">
                <a:solidFill>
                  <a:schemeClr val="tx1"/>
                </a:solidFill>
              </a:rPr>
              <a:t>numpy</a:t>
            </a:r>
            <a:r>
              <a:rPr lang="en-US" altLang="zh-CN" sz="1400" dirty="0">
                <a:solidFill>
                  <a:schemeClr val="tx1"/>
                </a:solidFill>
              </a:rPr>
              <a:t> as </a:t>
            </a:r>
            <a:r>
              <a:rPr lang="en-US" altLang="zh-CN" sz="1400" dirty="0" err="1">
                <a:solidFill>
                  <a:schemeClr val="tx1"/>
                </a:solidFill>
              </a:rPr>
              <a:t>np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D=</a:t>
            </a:r>
            <a:r>
              <a:rPr lang="en-US" altLang="zh-CN" sz="1400" dirty="0" err="1">
                <a:solidFill>
                  <a:schemeClr val="tx1"/>
                </a:solidFill>
              </a:rPr>
              <a:t>np.array</a:t>
            </a:r>
            <a:r>
              <a:rPr lang="en-US" altLang="zh-CN" sz="1400" dirty="0">
                <a:solidFill>
                  <a:schemeClr val="tx1"/>
                </a:solidFill>
              </a:rPr>
              <a:t>([[1,2,3,4],[5,6,7,8],[9,10,11,12],[13,14,15,16]])  #</a:t>
            </a:r>
            <a:r>
              <a:rPr lang="zh-CN" altLang="zh-CN" sz="1400" dirty="0">
                <a:solidFill>
                  <a:schemeClr val="tx1"/>
                </a:solidFill>
              </a:rPr>
              <a:t>定义数组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访问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中行为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zh-CN" sz="1400" dirty="0">
                <a:solidFill>
                  <a:schemeClr val="tx1"/>
                </a:solidFill>
              </a:rPr>
              <a:t>，列为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zh-CN" sz="1400" dirty="0">
                <a:solidFill>
                  <a:schemeClr val="tx1"/>
                </a:solidFill>
              </a:rPr>
              <a:t>的数据，注意下标是从</a:t>
            </a:r>
            <a:r>
              <a:rPr lang="en-US" altLang="zh-CN" sz="1400" dirty="0">
                <a:solidFill>
                  <a:schemeClr val="tx1"/>
                </a:solidFill>
              </a:rPr>
              <a:t>0</a:t>
            </a:r>
            <a:r>
              <a:rPr lang="zh-CN" altLang="zh-CN" sz="1400" dirty="0">
                <a:solidFill>
                  <a:schemeClr val="tx1"/>
                </a:solidFill>
              </a:rPr>
              <a:t>开始的。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D12=D[1,2]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访问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中第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列数据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D1=D[:,[1,3]]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 </a:t>
            </a:r>
            <a:r>
              <a:rPr lang="zh-CN" altLang="zh-CN" sz="1400" dirty="0">
                <a:solidFill>
                  <a:schemeClr val="tx1"/>
                </a:solidFill>
              </a:rPr>
              <a:t>访问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中第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行数据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D2=D[[1,3],:]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 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中满足第</a:t>
            </a:r>
            <a:r>
              <a:rPr lang="en-US" altLang="zh-CN" sz="1400" dirty="0">
                <a:solidFill>
                  <a:schemeClr val="tx1"/>
                </a:solidFill>
              </a:rPr>
              <a:t>0</a:t>
            </a:r>
            <a:r>
              <a:rPr lang="zh-CN" altLang="zh-CN" sz="1400" dirty="0">
                <a:solidFill>
                  <a:schemeClr val="tx1"/>
                </a:solidFill>
              </a:rPr>
              <a:t>列大于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zh-CN" sz="1400" dirty="0">
                <a:solidFill>
                  <a:schemeClr val="tx1"/>
                </a:solidFill>
              </a:rPr>
              <a:t>的所有列数据，本质上行控制为逻辑列表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Dt1=D[D[:,0]&gt;5,:]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中满足第</a:t>
            </a:r>
            <a:r>
              <a:rPr lang="en-US" altLang="zh-CN" sz="1400" dirty="0">
                <a:solidFill>
                  <a:schemeClr val="tx1"/>
                </a:solidFill>
              </a:rPr>
              <a:t>0</a:t>
            </a:r>
            <a:r>
              <a:rPr lang="zh-CN" altLang="zh-CN" sz="1400" dirty="0">
                <a:solidFill>
                  <a:schemeClr val="tx1"/>
                </a:solidFill>
              </a:rPr>
              <a:t>列大于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zh-CN" sz="1400" dirty="0">
                <a:solidFill>
                  <a:schemeClr val="tx1"/>
                </a:solidFill>
              </a:rPr>
              <a:t>的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列数据，本质上行控制为逻辑列表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#Dt2=D[D[:,0]&gt;5,[2,3]]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TF=[</a:t>
            </a:r>
            <a:r>
              <a:rPr lang="en-US" altLang="zh-CN" sz="1400" dirty="0" err="1">
                <a:solidFill>
                  <a:schemeClr val="tx1"/>
                </a:solidFill>
              </a:rPr>
              <a:t>True,False,False,True</a:t>
            </a:r>
            <a:r>
              <a:rPr lang="en-US" altLang="zh-CN" sz="1400" dirty="0">
                <a:solidFill>
                  <a:schemeClr val="tx1"/>
                </a:solidFill>
              </a:rPr>
              <a:t>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中第</a:t>
            </a:r>
            <a:r>
              <a:rPr lang="en-US" altLang="zh-CN" sz="1400" dirty="0">
                <a:solidFill>
                  <a:schemeClr val="tx1"/>
                </a:solidFill>
              </a:rPr>
              <a:t>0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行的所有列数据，本质上行控制为逻辑列表，取逻辑值为真的行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Dt3=D[TF,:]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中第</a:t>
            </a:r>
            <a:r>
              <a:rPr lang="en-US" altLang="zh-CN" sz="1400" dirty="0">
                <a:solidFill>
                  <a:schemeClr val="tx1"/>
                </a:solidFill>
              </a:rPr>
              <a:t>0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行的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zh-CN" sz="1400" dirty="0">
                <a:solidFill>
                  <a:schemeClr val="tx1"/>
                </a:solidFill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zh-CN" sz="1400" dirty="0">
                <a:solidFill>
                  <a:schemeClr val="tx1"/>
                </a:solidFill>
              </a:rPr>
              <a:t>列数据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#Dt4=D[TF,[2,3]]</a:t>
            </a:r>
            <a:endParaRPr lang="zh-CN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# </a:t>
            </a:r>
            <a:r>
              <a:rPr lang="zh-CN" altLang="zh-CN" sz="1400" dirty="0">
                <a:solidFill>
                  <a:schemeClr val="tx1"/>
                </a:solidFill>
              </a:rPr>
              <a:t>取</a:t>
            </a:r>
            <a:r>
              <a:rPr lang="en-US" altLang="zh-CN" sz="1400" dirty="0">
                <a:solidFill>
                  <a:schemeClr val="tx1"/>
                </a:solidFill>
              </a:rPr>
              <a:t>D</a:t>
            </a:r>
            <a:r>
              <a:rPr lang="zh-CN" altLang="zh-CN" sz="1400" dirty="0">
                <a:solidFill>
                  <a:schemeClr val="tx1"/>
                </a:solidFill>
              </a:rPr>
              <a:t>中大于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zh-CN" altLang="zh-CN" sz="1400" dirty="0">
                <a:solidFill>
                  <a:schemeClr val="tx1"/>
                </a:solidFill>
              </a:rPr>
              <a:t>的所有元素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D5=D[D&gt;4]</a:t>
            </a:r>
            <a:endParaRPr lang="zh-CN" altLang="zh-CN" sz="1400" dirty="0">
              <a:solidFill>
                <a:schemeClr val="tx1"/>
              </a:solidFill>
            </a:endParaRPr>
          </a:p>
        </p:txBody>
      </p:sp>
      <p:pic>
        <p:nvPicPr>
          <p:cNvPr id="14" name="图片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1359" y="2241669"/>
            <a:ext cx="5256584" cy="3912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765" y="44625"/>
            <a:ext cx="685584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altLang="zh-CN" sz="2800" b="1" dirty="0">
                <a:solidFill>
                  <a:schemeClr val="accent2"/>
                </a:solidFill>
              </a:rPr>
              <a:t>2.6 数组连接</a:t>
            </a:r>
          </a:p>
        </p:txBody>
      </p:sp>
      <p:sp>
        <p:nvSpPr>
          <p:cNvPr id="6" name="矩形 5"/>
          <p:cNvSpPr/>
          <p:nvPr/>
        </p:nvSpPr>
        <p:spPr>
          <a:xfrm>
            <a:off x="385103" y="829578"/>
            <a:ext cx="11101378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altLang="zh-CN" sz="1800" dirty="0">
                <a:solidFill>
                  <a:schemeClr val="tx1"/>
                </a:solidFill>
              </a:rPr>
              <a:t>在数据处理中，多个数据源的集成整合是经常发生的。对于数组间的集成与整合，主要体现在数组间的连接，包括水平连接和垂直连接两种方式。水平连接函数用hstack()、垂直连接函数用vstack()实现。注意输入参数为两个待连接数组组成的元组。</a:t>
            </a:r>
          </a:p>
        </p:txBody>
      </p:sp>
      <p:sp>
        <p:nvSpPr>
          <p:cNvPr id="9" name="矩形 8"/>
          <p:cNvSpPr/>
          <p:nvPr/>
        </p:nvSpPr>
        <p:spPr>
          <a:xfrm>
            <a:off x="553765" y="2216902"/>
            <a:ext cx="3600400" cy="28623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800" dirty="0">
                <a:solidFill>
                  <a:schemeClr val="tx1"/>
                </a:solidFill>
              </a:rPr>
              <a:t>示例代码如下：</a:t>
            </a:r>
          </a:p>
          <a:p>
            <a:r>
              <a:rPr lang="zh-CN" altLang="zh-CN" sz="1800" dirty="0">
                <a:solidFill>
                  <a:schemeClr val="tx1"/>
                </a:solidFill>
              </a:rPr>
              <a:t>import numpy as np</a:t>
            </a:r>
          </a:p>
          <a:p>
            <a:r>
              <a:rPr lang="zh-CN" altLang="zh-CN" sz="1800" dirty="0">
                <a:solidFill>
                  <a:schemeClr val="tx1"/>
                </a:solidFill>
              </a:rPr>
              <a:t>A=np.array([[1,2],[3,4]])     #定义二维数组A</a:t>
            </a:r>
          </a:p>
          <a:p>
            <a:r>
              <a:rPr lang="zh-CN" altLang="zh-CN" sz="1800" dirty="0">
                <a:solidFill>
                  <a:schemeClr val="tx1"/>
                </a:solidFill>
              </a:rPr>
              <a:t>B=np.array([[5,6],[7,8]])     #定义二维数组B</a:t>
            </a:r>
          </a:p>
          <a:p>
            <a:r>
              <a:rPr lang="zh-CN" altLang="zh-CN" sz="1800" dirty="0">
                <a:solidFill>
                  <a:schemeClr val="tx1"/>
                </a:solidFill>
              </a:rPr>
              <a:t>C_s=np.hstack((A,B))        #水平连接要求行数相同</a:t>
            </a:r>
          </a:p>
          <a:p>
            <a:r>
              <a:rPr lang="zh-CN" altLang="zh-CN" sz="1800" dirty="0">
                <a:solidFill>
                  <a:schemeClr val="tx1"/>
                </a:solidFill>
              </a:rPr>
              <a:t>C_v=np.vstack((A,B))        #垂直连接要求列数相同</a:t>
            </a:r>
          </a:p>
        </p:txBody>
      </p:sp>
      <p:pic>
        <p:nvPicPr>
          <p:cNvPr id="64" name="图片 6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18965" y="2216785"/>
            <a:ext cx="7329805" cy="3160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765" y="44625"/>
            <a:ext cx="685584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altLang="zh-CN" sz="2800" b="1" dirty="0">
                <a:solidFill>
                  <a:schemeClr val="accent2"/>
                </a:solidFill>
              </a:rPr>
              <a:t>2.7 数据存取</a:t>
            </a:r>
          </a:p>
        </p:txBody>
      </p:sp>
      <p:sp>
        <p:nvSpPr>
          <p:cNvPr id="6" name="矩形 5"/>
          <p:cNvSpPr/>
          <p:nvPr/>
        </p:nvSpPr>
        <p:spPr>
          <a:xfrm>
            <a:off x="409749" y="836712"/>
            <a:ext cx="10454830" cy="4001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altLang="zh-CN" sz="2000" dirty="0">
                <a:solidFill>
                  <a:schemeClr val="tx1"/>
                </a:solidFill>
              </a:rPr>
              <a:t>利用Numpy库中的save函数，可以将数据集保存为二进制数据文件，数据文件后缀名为.npy。</a:t>
            </a:r>
          </a:p>
        </p:txBody>
      </p:sp>
      <p:sp>
        <p:nvSpPr>
          <p:cNvPr id="9" name="矩形 8"/>
          <p:cNvSpPr/>
          <p:nvPr/>
        </p:nvSpPr>
        <p:spPr>
          <a:xfrm>
            <a:off x="1057821" y="1340768"/>
            <a:ext cx="5603635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chemeClr val="tx1"/>
                </a:solidFill>
              </a:rPr>
              <a:t>示例代码如下: </a:t>
            </a:r>
          </a:p>
          <a:p>
            <a:r>
              <a:rPr lang="zh-CN" altLang="zh-CN" sz="1600" dirty="0">
                <a:solidFill>
                  <a:schemeClr val="tx1"/>
                </a:solidFill>
              </a:rPr>
              <a:t>import numpy as np</a:t>
            </a:r>
          </a:p>
          <a:p>
            <a:r>
              <a:rPr lang="zh-CN" altLang="zh-CN" sz="1600" dirty="0">
                <a:solidFill>
                  <a:schemeClr val="tx1"/>
                </a:solidFill>
              </a:rPr>
              <a:t>A=np.array([[1,2],[3,4]])     #定义二维数组A</a:t>
            </a:r>
          </a:p>
          <a:p>
            <a:r>
              <a:rPr lang="zh-CN" altLang="zh-CN" sz="1600" dirty="0">
                <a:solidFill>
                  <a:schemeClr val="tx1"/>
                </a:solidFill>
              </a:rPr>
              <a:t>B=np.array([[5,6],[7,8]])     #定义二维数组B</a:t>
            </a:r>
          </a:p>
          <a:p>
            <a:r>
              <a:rPr lang="zh-CN" altLang="zh-CN" sz="1600" dirty="0">
                <a:solidFill>
                  <a:schemeClr val="tx1"/>
                </a:solidFill>
              </a:rPr>
              <a:t>C_s=np.hstack((A,B))        #水平连接</a:t>
            </a:r>
          </a:p>
          <a:p>
            <a:r>
              <a:rPr lang="zh-CN" altLang="zh-CN" sz="1600" dirty="0">
                <a:solidFill>
                  <a:schemeClr val="tx1"/>
                </a:solidFill>
              </a:rPr>
              <a:t>np.save('data',C_s)</a:t>
            </a:r>
          </a:p>
        </p:txBody>
      </p:sp>
      <p:pic>
        <p:nvPicPr>
          <p:cNvPr id="65" name="图片 6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7821" y="3645024"/>
            <a:ext cx="6696744" cy="2938167"/>
          </a:xfrm>
          <a:prstGeom prst="rect">
            <a:avLst/>
          </a:prstGeom>
        </p:spPr>
      </p:pic>
      <p:sp>
        <p:nvSpPr>
          <p:cNvPr id="8" name="下箭头 7"/>
          <p:cNvSpPr/>
          <p:nvPr/>
        </p:nvSpPr>
        <p:spPr bwMode="auto">
          <a:xfrm>
            <a:off x="4083500" y="3068960"/>
            <a:ext cx="429361" cy="432048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765" y="44625"/>
            <a:ext cx="685584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altLang="zh-CN" sz="2800" b="1" dirty="0">
                <a:solidFill>
                  <a:schemeClr val="accent2"/>
                </a:solidFill>
              </a:rPr>
              <a:t>2.7 数据存取</a:t>
            </a:r>
          </a:p>
        </p:txBody>
      </p:sp>
      <p:sp>
        <p:nvSpPr>
          <p:cNvPr id="10" name="矩形 9"/>
          <p:cNvSpPr/>
          <p:nvPr/>
        </p:nvSpPr>
        <p:spPr>
          <a:xfrm>
            <a:off x="373229" y="690027"/>
            <a:ext cx="3510940" cy="3385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altLang="zh-CN" sz="1600" dirty="0" err="1" smtClean="0">
                <a:solidFill>
                  <a:schemeClr val="tx1"/>
                </a:solidFill>
              </a:rPr>
              <a:t>通过</a:t>
            </a:r>
            <a:r>
              <a:rPr altLang="zh-CN" sz="1600" dirty="0" err="1">
                <a:solidFill>
                  <a:schemeClr val="tx1"/>
                </a:solidFill>
              </a:rPr>
              <a:t>load函数，可以将该数据集加载</a:t>
            </a:r>
            <a:endParaRPr altLang="zh-CN" sz="16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9749" y="1195691"/>
            <a:ext cx="3472180" cy="73723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chemeClr val="tx1"/>
                </a:solidFill>
              </a:rPr>
              <a:t>例代码如下：</a:t>
            </a:r>
          </a:p>
          <a:p>
            <a:r>
              <a:rPr lang="zh-CN" altLang="zh-CN" sz="1400" dirty="0">
                <a:solidFill>
                  <a:schemeClr val="tx1"/>
                </a:solidFill>
              </a:rPr>
              <a:t>import numpy as np</a:t>
            </a:r>
          </a:p>
          <a:p>
            <a:r>
              <a:rPr lang="zh-CN" altLang="zh-CN" sz="1400" dirty="0">
                <a:solidFill>
                  <a:schemeClr val="tx1"/>
                </a:solidFill>
              </a:rPr>
              <a:t>C_s=np.load(‘data.npy’)</a:t>
            </a:r>
          </a:p>
        </p:txBody>
      </p:sp>
      <p:pic>
        <p:nvPicPr>
          <p:cNvPr id="67" name="图片 6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9749" y="2177487"/>
            <a:ext cx="6984777" cy="3350543"/>
          </a:xfrm>
          <a:prstGeom prst="rect">
            <a:avLst/>
          </a:prstGeom>
        </p:spPr>
      </p:pic>
      <p:sp>
        <p:nvSpPr>
          <p:cNvPr id="15" name="右箭头 14"/>
          <p:cNvSpPr/>
          <p:nvPr/>
        </p:nvSpPr>
        <p:spPr bwMode="auto">
          <a:xfrm>
            <a:off x="7538541" y="3591917"/>
            <a:ext cx="504264" cy="44504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58621" y="1920499"/>
            <a:ext cx="2880320" cy="378565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chemeClr val="tx1"/>
                </a:solidFill>
              </a:rPr>
              <a:t>本小节</a:t>
            </a:r>
            <a:r>
              <a:rPr altLang="zh-CN" sz="2000" dirty="0" smtClean="0">
                <a:solidFill>
                  <a:schemeClr val="tx1"/>
                </a:solidFill>
              </a:rPr>
              <a:t>显示了将</a:t>
            </a:r>
            <a:r>
              <a:rPr altLang="zh-CN" sz="2000" dirty="0">
                <a:solidFill>
                  <a:schemeClr val="tx1"/>
                </a:solidFill>
              </a:rPr>
              <a:t>data.npy这个数据文件加载下来，并通过Spyder变量资源管理器查看其结果的过程。通过数据的存取机制，提供了数据传递及使用的便利，特别是有些程序运行结果需要花费大量时间的时候，保存其结果以便后续使用是非常有必要的</a:t>
            </a:r>
            <a:r>
              <a:rPr altLang="zh-CN" sz="1400" dirty="0">
                <a:solidFill>
                  <a:schemeClr val="tx1"/>
                </a:solidFill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273845" y="0"/>
            <a:ext cx="10207439" cy="635000"/>
          </a:xfrm>
        </p:spPr>
        <p:txBody>
          <a:bodyPr/>
          <a:lstStyle/>
          <a:p>
            <a:r>
              <a:rPr lang="en-US" altLang="zh-CN" b="1" dirty="0" smtClean="0"/>
              <a:t/>
            </a:r>
            <a:br>
              <a:rPr lang="en-US" altLang="zh-CN" b="1" dirty="0" smtClean="0"/>
            </a:br>
            <a:r>
              <a:rPr lang="en-US" altLang="zh-CN" b="1" dirty="0">
                <a:solidFill>
                  <a:schemeClr val="accent2"/>
                </a:solidFill>
              </a:rPr>
              <a:t>2.8 </a:t>
            </a:r>
            <a:r>
              <a:rPr lang="zh-CN" altLang="zh-CN" b="1" dirty="0">
                <a:solidFill>
                  <a:schemeClr val="accent2"/>
                </a:solidFill>
              </a:rPr>
              <a:t>数组形态变换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81757" y="1225551"/>
            <a:ext cx="5328592" cy="515577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提供了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reshape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方法用于改变数组的形状，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reshape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方法仅改变原始数据的形状，不改变原始数据的值。示例代码如下：</a:t>
            </a:r>
          </a:p>
          <a:p>
            <a:pPr marL="0" indent="0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np.arange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(12)  #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创建一维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ndarray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arr1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arr.reshape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(3, 4)  # 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设置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ndarray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的维度，改变其形态</a:t>
            </a: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执行结果如图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2-12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所示。</a:t>
            </a:r>
          </a:p>
          <a:p>
            <a:endParaRPr lang="zh-CN" altLang="en-US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6180610" y="1225551"/>
            <a:ext cx="52375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以上示例代码是将一维数组形态变换为二维数组</a:t>
            </a:r>
            <a:r>
              <a:rPr lang="zh-CN" altLang="zh-CN" sz="1600" dirty="0" smtClean="0"/>
              <a:t>，</a:t>
            </a:r>
            <a:endParaRPr lang="en-US" altLang="zh-CN" sz="1600" dirty="0" smtClean="0"/>
          </a:p>
          <a:p>
            <a:r>
              <a:rPr lang="zh-CN" altLang="zh-CN" sz="1600" dirty="0" smtClean="0"/>
              <a:t>事实上</a:t>
            </a:r>
            <a:r>
              <a:rPr lang="zh-CN" altLang="zh-CN" sz="1600" dirty="0"/>
              <a:t>也可以将二维数组形态展平变换为一维数组，通过</a:t>
            </a:r>
            <a:r>
              <a:rPr lang="en-US" altLang="zh-CN" sz="1600" dirty="0"/>
              <a:t>ravel()</a:t>
            </a:r>
            <a:r>
              <a:rPr lang="zh-CN" altLang="zh-CN" sz="1600" dirty="0"/>
              <a:t>函数即可实现。示例代码如下：</a:t>
            </a:r>
          </a:p>
          <a:p>
            <a:r>
              <a:rPr lang="en-US" altLang="zh-CN" sz="1600" dirty="0"/>
              <a:t>import </a:t>
            </a:r>
            <a:r>
              <a:rPr lang="en-US" altLang="zh-CN" sz="1600" dirty="0" err="1"/>
              <a:t>numpy</a:t>
            </a:r>
            <a:r>
              <a:rPr lang="en-US" altLang="zh-CN" sz="1600" dirty="0"/>
              <a:t> as </a:t>
            </a:r>
            <a:r>
              <a:rPr lang="en-US" altLang="zh-CN" sz="1600" dirty="0" err="1"/>
              <a:t>np</a:t>
            </a:r>
            <a:endParaRPr lang="zh-CN" altLang="zh-CN" sz="1600" dirty="0"/>
          </a:p>
          <a:p>
            <a:r>
              <a:rPr lang="en-US" altLang="zh-CN" sz="1600" dirty="0" err="1"/>
              <a:t>arr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np.arange</a:t>
            </a:r>
            <a:r>
              <a:rPr lang="en-US" altLang="zh-CN" sz="1600" dirty="0"/>
              <a:t>(12).reshape(3, 4)</a:t>
            </a:r>
            <a:endParaRPr lang="zh-CN" altLang="zh-CN" sz="1600" dirty="0"/>
          </a:p>
          <a:p>
            <a:r>
              <a:rPr lang="en-US" altLang="zh-CN" sz="1600" dirty="0"/>
              <a:t>arr1=</a:t>
            </a:r>
            <a:r>
              <a:rPr lang="en-US" altLang="zh-CN" sz="1600" dirty="0" err="1"/>
              <a:t>arr.ravel</a:t>
            </a:r>
            <a:r>
              <a:rPr lang="en-US" altLang="zh-CN" sz="1600" dirty="0"/>
              <a:t>()</a:t>
            </a:r>
            <a:endParaRPr lang="zh-CN" altLang="zh-CN" sz="1600" dirty="0"/>
          </a:p>
          <a:p>
            <a:r>
              <a:rPr lang="zh-CN" altLang="zh-CN" sz="1600" dirty="0"/>
              <a:t>执行结果如图</a:t>
            </a:r>
            <a:r>
              <a:rPr lang="en-US" altLang="zh-CN" sz="1600" dirty="0"/>
              <a:t>2-13</a:t>
            </a:r>
            <a:r>
              <a:rPr lang="zh-CN" altLang="zh-CN" sz="1600" dirty="0"/>
              <a:t>所示</a:t>
            </a:r>
            <a:r>
              <a:rPr lang="zh-CN" altLang="zh-CN" sz="1600" dirty="0" smtClean="0"/>
              <a:t>。</a:t>
            </a:r>
            <a:endParaRPr lang="en-US" altLang="zh-CN" sz="1600" dirty="0" smtClean="0"/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6281254" y="3498438"/>
            <a:ext cx="4667250" cy="216281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114605" y="5681380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 dirty="0">
                <a:solidFill>
                  <a:schemeClr val="accent1"/>
                </a:solidFill>
                <a:latin typeface="+mn-lt"/>
                <a:ea typeface="+mn-ea"/>
              </a:rPr>
              <a:t>图</a:t>
            </a:r>
            <a:r>
              <a:rPr lang="en-US" altLang="zh-CN" sz="1400" dirty="0">
                <a:solidFill>
                  <a:schemeClr val="accent1"/>
                </a:solidFill>
                <a:latin typeface="+mn-lt"/>
                <a:ea typeface="+mn-ea"/>
              </a:rPr>
              <a:t>2-13</a:t>
            </a:r>
            <a:endParaRPr lang="zh-CN" altLang="zh-CN" sz="1400" dirty="0">
              <a:solidFill>
                <a:schemeClr val="accent1"/>
              </a:solidFill>
              <a:latin typeface="+mn-lt"/>
              <a:ea typeface="+mn-ea"/>
            </a:endParaRPr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553765" y="3545029"/>
            <a:ext cx="4772025" cy="231584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209949" y="5860874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 dirty="0">
                <a:solidFill>
                  <a:schemeClr val="accent1"/>
                </a:solidFill>
                <a:latin typeface="+mn-lt"/>
                <a:ea typeface="+mn-ea"/>
              </a:rPr>
              <a:t>图</a:t>
            </a:r>
            <a:r>
              <a:rPr lang="en-US" altLang="zh-CN" sz="1400" dirty="0">
                <a:solidFill>
                  <a:schemeClr val="accent1"/>
                </a:solidFill>
                <a:latin typeface="+mn-lt"/>
                <a:ea typeface="+mn-ea"/>
              </a:rPr>
              <a:t>2-12</a:t>
            </a:r>
            <a:endParaRPr lang="zh-CN" altLang="zh-CN" sz="1400" dirty="0">
              <a:solidFill>
                <a:schemeClr val="accent1"/>
              </a:solidFill>
              <a:latin typeface="+mn-lt"/>
              <a:ea typeface="+mn-ea"/>
            </a:endParaRPr>
          </a:p>
        </p:txBody>
      </p:sp>
      <p:sp>
        <p:nvSpPr>
          <p:cNvPr id="11" name="TextBox 13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982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45853" y="116632"/>
            <a:ext cx="10385325" cy="432048"/>
          </a:xfrm>
        </p:spPr>
        <p:txBody>
          <a:bodyPr/>
          <a:lstStyle/>
          <a:p>
            <a:r>
              <a:rPr lang="en-US" altLang="zh-CN" b="1" dirty="0" smtClean="0"/>
              <a:t/>
            </a:r>
            <a:br>
              <a:rPr lang="en-US" altLang="zh-CN" b="1" dirty="0" smtClean="0"/>
            </a:br>
            <a:r>
              <a:rPr lang="en-US" altLang="zh-CN" b="1" dirty="0" smtClean="0">
                <a:solidFill>
                  <a:schemeClr val="accent2"/>
                </a:solidFill>
              </a:rPr>
              <a:t>2.9 </a:t>
            </a:r>
            <a:r>
              <a:rPr lang="zh-CN" altLang="zh-CN" b="1" dirty="0">
                <a:solidFill>
                  <a:schemeClr val="accent2"/>
                </a:solidFill>
              </a:rPr>
              <a:t>数组排序与搜索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81758" y="692696"/>
            <a:ext cx="5112568" cy="5433469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通过</a:t>
            </a:r>
            <a:r>
              <a:rPr lang="en-US" altLang="zh-CN" sz="1600" kern="1200" dirty="0" err="1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 smtClean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提供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的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sort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函数，可以对数组元素值按从小到大进行直接排序，示例代码如下：</a:t>
            </a:r>
          </a:p>
          <a:p>
            <a:pPr marL="0" indent="0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np.array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([5,2,3,3,1,9,8,6,7])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arr1=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np.sort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执行结果如图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2-14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所示。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通过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提供的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argmax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和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argmin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函数，可以返回待搜索数组最大值和最小值元素的索引值，如果存在多个最大值或最小值，则返回第一次出现的索引。对于二维数组而已，可以通过设置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axis=0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或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1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返回各列或者各行最大值或最小值索引。需要注意的是，索引从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0</a:t>
            </a:r>
            <a:r>
              <a:rPr lang="zh-CN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开始。示例代码如下：</a:t>
            </a:r>
          </a:p>
          <a:p>
            <a:pPr marL="0" indent="0">
              <a:buNone/>
            </a:pP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import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numpy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as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arr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 = </a:t>
            </a:r>
            <a:r>
              <a:rPr lang="en-US" altLang="zh-CN" sz="1600" kern="1200" dirty="0" err="1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np.array</a:t>
            </a:r>
            <a:r>
              <a:rPr lang="en-US" altLang="zh-CN" sz="1600" kern="12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([5,2,3,3,1,1,9,8,6,7,8,8])</a:t>
            </a:r>
            <a:endParaRPr lang="zh-CN" altLang="zh-CN" sz="1600" kern="1200" dirty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  <a:p>
            <a:endParaRPr lang="zh-CN" altLang="en-US" dirty="0"/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847009" y="2624018"/>
            <a:ext cx="3685540" cy="79946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050844" y="3445314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200" dirty="0"/>
              <a:t>图</a:t>
            </a:r>
            <a:r>
              <a:rPr lang="en-US" altLang="zh-CN" sz="1200" dirty="0"/>
              <a:t>2-14</a:t>
            </a:r>
            <a:endParaRPr lang="zh-CN" altLang="zh-C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056975" y="692696"/>
            <a:ext cx="579001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arr1=</a:t>
            </a:r>
            <a:r>
              <a:rPr lang="en-US" altLang="zh-CN" sz="1600" dirty="0" err="1"/>
              <a:t>arr.reshape</a:t>
            </a:r>
            <a:r>
              <a:rPr lang="en-US" altLang="zh-CN" sz="1600" dirty="0"/>
              <a:t>(3,4)</a:t>
            </a:r>
            <a:endParaRPr lang="zh-CN" altLang="zh-CN" sz="1600" dirty="0"/>
          </a:p>
          <a:p>
            <a:r>
              <a:rPr lang="en-US" altLang="zh-CN" sz="1600" dirty="0" err="1"/>
              <a:t>maxindex</a:t>
            </a:r>
            <a:r>
              <a:rPr lang="en-US" altLang="zh-CN" sz="1600" dirty="0"/>
              <a:t>=</a:t>
            </a:r>
            <a:r>
              <a:rPr lang="en-US" altLang="zh-CN" sz="1600" dirty="0" err="1"/>
              <a:t>np.argmax</a:t>
            </a:r>
            <a:r>
              <a:rPr lang="en-US" altLang="zh-CN" sz="1600" dirty="0"/>
              <a:t>(</a:t>
            </a:r>
            <a:r>
              <a:rPr lang="en-US" altLang="zh-CN" sz="1600" dirty="0" err="1"/>
              <a:t>arr</a:t>
            </a:r>
            <a:r>
              <a:rPr lang="en-US" altLang="zh-CN" sz="1600" dirty="0"/>
              <a:t>)</a:t>
            </a:r>
            <a:endParaRPr lang="zh-CN" altLang="zh-CN" sz="1600" dirty="0"/>
          </a:p>
          <a:p>
            <a:r>
              <a:rPr lang="en-US" altLang="zh-CN" sz="1600" dirty="0" err="1"/>
              <a:t>minindex</a:t>
            </a:r>
            <a:r>
              <a:rPr lang="en-US" altLang="zh-CN" sz="1600" dirty="0"/>
              <a:t>=</a:t>
            </a:r>
            <a:r>
              <a:rPr lang="en-US" altLang="zh-CN" sz="1600" dirty="0" err="1"/>
              <a:t>np.argmin</a:t>
            </a:r>
            <a:r>
              <a:rPr lang="en-US" altLang="zh-CN" sz="1600" dirty="0"/>
              <a:t>(</a:t>
            </a:r>
            <a:r>
              <a:rPr lang="en-US" altLang="zh-CN" sz="1600" dirty="0" err="1"/>
              <a:t>arr</a:t>
            </a:r>
            <a:r>
              <a:rPr lang="en-US" altLang="zh-CN" sz="1600" dirty="0"/>
              <a:t>)</a:t>
            </a:r>
            <a:endParaRPr lang="zh-CN" altLang="zh-CN" sz="1600" dirty="0"/>
          </a:p>
          <a:p>
            <a:r>
              <a:rPr lang="en-US" altLang="zh-CN" sz="1600" dirty="0"/>
              <a:t>maxindex1=</a:t>
            </a:r>
            <a:r>
              <a:rPr lang="en-US" altLang="zh-CN" sz="1600" dirty="0" err="1"/>
              <a:t>np.argmax</a:t>
            </a:r>
            <a:r>
              <a:rPr lang="en-US" altLang="zh-CN" sz="1600" dirty="0"/>
              <a:t>(arr1,axis=0)#</a:t>
            </a:r>
            <a:r>
              <a:rPr lang="zh-CN" altLang="zh-CN" sz="1600" dirty="0"/>
              <a:t>返回各列最大值索引</a:t>
            </a:r>
          </a:p>
          <a:p>
            <a:r>
              <a:rPr lang="en-US" altLang="zh-CN" sz="1600" dirty="0"/>
              <a:t>minindex1=</a:t>
            </a:r>
            <a:r>
              <a:rPr lang="en-US" altLang="zh-CN" sz="1600" dirty="0" err="1"/>
              <a:t>np.argmin</a:t>
            </a:r>
            <a:r>
              <a:rPr lang="en-US" altLang="zh-CN" sz="1600" dirty="0"/>
              <a:t>(arr1,axis=1)#</a:t>
            </a:r>
            <a:r>
              <a:rPr lang="zh-CN" altLang="zh-CN" sz="1600" dirty="0"/>
              <a:t>返回各行最小值索引</a:t>
            </a:r>
          </a:p>
          <a:p>
            <a:r>
              <a:rPr lang="zh-CN" altLang="zh-CN" sz="1600" dirty="0"/>
              <a:t>执行结果如图</a:t>
            </a:r>
            <a:r>
              <a:rPr lang="en-US" altLang="zh-CN" sz="1600" dirty="0"/>
              <a:t>2-15</a:t>
            </a:r>
            <a:r>
              <a:rPr lang="zh-CN" altLang="zh-CN" sz="1600" dirty="0"/>
              <a:t>所示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6458421" y="2420888"/>
            <a:ext cx="4200525" cy="326809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120101" y="5773873"/>
            <a:ext cx="644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200" dirty="0"/>
              <a:t>图</a:t>
            </a:r>
            <a:r>
              <a:rPr lang="en-US" altLang="zh-CN" sz="1200" dirty="0"/>
              <a:t>2-15</a:t>
            </a:r>
            <a:endParaRPr lang="zh-CN" altLang="zh-CN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863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2131</Words>
  <Application>Microsoft Office PowerPoint</Application>
  <PresentationFormat>自定义</PresentationFormat>
  <Paragraphs>181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方正卡通简体</vt:lpstr>
      <vt:lpstr>仿宋_GB2312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2.8 数组形态变换 </vt:lpstr>
      <vt:lpstr> 2.9 数组排序与搜索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SKUser</cp:lastModifiedBy>
  <cp:revision>1607</cp:revision>
  <dcterms:created xsi:type="dcterms:W3CDTF">2013-01-25T01:44:00Z</dcterms:created>
  <dcterms:modified xsi:type="dcterms:W3CDTF">2026-05-22T02:18:22Z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