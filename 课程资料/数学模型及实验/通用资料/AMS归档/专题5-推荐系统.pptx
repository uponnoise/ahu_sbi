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 id="2147483688" r:id="rId3"/>
  </p:sldMasterIdLst>
  <p:notesMasterIdLst>
    <p:notesMasterId r:id="rId46"/>
  </p:notesMasterIdLst>
  <p:sldIdLst>
    <p:sldId id="676" r:id="rId4"/>
    <p:sldId id="695" r:id="rId5"/>
    <p:sldId id="696" r:id="rId6"/>
    <p:sldId id="697" r:id="rId7"/>
    <p:sldId id="702" r:id="rId8"/>
    <p:sldId id="701" r:id="rId9"/>
    <p:sldId id="700" r:id="rId10"/>
    <p:sldId id="699" r:id="rId11"/>
    <p:sldId id="698" r:id="rId12"/>
    <p:sldId id="706" r:id="rId13"/>
    <p:sldId id="707" r:id="rId14"/>
    <p:sldId id="710" r:id="rId15"/>
    <p:sldId id="709" r:id="rId16"/>
    <p:sldId id="708" r:id="rId17"/>
    <p:sldId id="705" r:id="rId18"/>
    <p:sldId id="704" r:id="rId19"/>
    <p:sldId id="703" r:id="rId20"/>
    <p:sldId id="721" r:id="rId21"/>
    <p:sldId id="720" r:id="rId22"/>
    <p:sldId id="719" r:id="rId23"/>
    <p:sldId id="718" r:id="rId24"/>
    <p:sldId id="717" r:id="rId25"/>
    <p:sldId id="716" r:id="rId26"/>
    <p:sldId id="726" r:id="rId27"/>
    <p:sldId id="725" r:id="rId28"/>
    <p:sldId id="724" r:id="rId29"/>
    <p:sldId id="723" r:id="rId30"/>
    <p:sldId id="729" r:id="rId31"/>
    <p:sldId id="728" r:id="rId32"/>
    <p:sldId id="734" r:id="rId33"/>
    <p:sldId id="733" r:id="rId34"/>
    <p:sldId id="732" r:id="rId35"/>
    <p:sldId id="731" r:id="rId36"/>
    <p:sldId id="735" r:id="rId37"/>
    <p:sldId id="736" r:id="rId38"/>
    <p:sldId id="737" r:id="rId39"/>
    <p:sldId id="738" r:id="rId40"/>
    <p:sldId id="739" r:id="rId41"/>
    <p:sldId id="740" r:id="rId42"/>
    <p:sldId id="741" r:id="rId43"/>
    <p:sldId id="742" r:id="rId44"/>
    <p:sldId id="743"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8"/>
    <a:srgbClr val="FFFFCC"/>
    <a:srgbClr val="E6E6E6"/>
    <a:srgbClr val="FFFF99"/>
    <a:srgbClr val="414141"/>
    <a:srgbClr val="7240A4"/>
    <a:srgbClr val="00C800"/>
    <a:srgbClr val="C80000"/>
    <a:srgbClr val="FFFFFF"/>
    <a:srgbClr val="C8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2484" autoAdjust="0"/>
  </p:normalViewPr>
  <p:slideViewPr>
    <p:cSldViewPr>
      <p:cViewPr varScale="1">
        <p:scale>
          <a:sx n="105" d="100"/>
          <a:sy n="105" d="100"/>
        </p:scale>
        <p:origin x="17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F0573A-864D-40CB-B5A5-2AE019DE6C2F}" type="datetimeFigureOut">
              <a:rPr lang="zh-CN" altLang="en-US" smtClean="0"/>
              <a:t>2026/4/30</a:t>
            </a:fld>
            <a:endParaRPr lang="zh-CN"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B093FA-181E-40DA-A828-9C9C9A0DDCC9}" type="slidenum">
              <a:rPr lang="zh-CN" altLang="en-US" smtClean="0"/>
              <a:t>‹#›</a:t>
            </a:fld>
            <a:endParaRPr lang="zh-CN" altLang="en-US"/>
          </a:p>
        </p:txBody>
      </p:sp>
    </p:spTree>
    <p:extLst>
      <p:ext uri="{BB962C8B-B14F-4D97-AF65-F5344CB8AC3E}">
        <p14:creationId xmlns:p14="http://schemas.microsoft.com/office/powerpoint/2010/main" val="1496615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CN"/>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0070C0"/>
                </a:solidFill>
              </a:defRPr>
            </a:lvl1p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208707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1071517109"/>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Tree>
    <p:extLst>
      <p:ext uri="{BB962C8B-B14F-4D97-AF65-F5344CB8AC3E}">
        <p14:creationId xmlns:p14="http://schemas.microsoft.com/office/powerpoint/2010/main" val="60911333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199112432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491665072"/>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225536048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5969360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extLst>
      <p:ext uri="{BB962C8B-B14F-4D97-AF65-F5344CB8AC3E}">
        <p14:creationId xmlns:p14="http://schemas.microsoft.com/office/powerpoint/2010/main" val="353344130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extLst>
      <p:ext uri="{BB962C8B-B14F-4D97-AF65-F5344CB8AC3E}">
        <p14:creationId xmlns:p14="http://schemas.microsoft.com/office/powerpoint/2010/main" val="279127338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238599172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253876696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582839736"/>
      </p:ext>
    </p:extLst>
  </p:cSld>
  <p:clrMapOvr>
    <a:overrideClrMapping bg1="lt1" tx1="dk1" bg2="lt2" tx2="dk2" accent1="accent1" accent2="accent2" accent3="accent3" accent4="accent4" accent5="accent5" accent6="accent6" hlink="hlink" folHlink="folHlink"/>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847282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716445753"/>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Tree>
    <p:extLst>
      <p:ext uri="{BB962C8B-B14F-4D97-AF65-F5344CB8AC3E}">
        <p14:creationId xmlns:p14="http://schemas.microsoft.com/office/powerpoint/2010/main" val="164952500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76116741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1421771450"/>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283874081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469021"/>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extLst>
      <p:ext uri="{BB962C8B-B14F-4D97-AF65-F5344CB8AC3E}">
        <p14:creationId xmlns:p14="http://schemas.microsoft.com/office/powerpoint/2010/main" val="396443181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extLst>
      <p:ext uri="{BB962C8B-B14F-4D97-AF65-F5344CB8AC3E}">
        <p14:creationId xmlns:p14="http://schemas.microsoft.com/office/powerpoint/2010/main" val="2662495999"/>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53460738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2895962860"/>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3842325866"/>
      </p:ext>
    </p:extLst>
  </p:cSld>
  <p:clrMapOvr>
    <a:overrideClrMapping bg1="lt1" tx1="dk1" bg2="lt2" tx2="dk2" accent1="accent1" accent2="accent2" accent3="accent3" accent4="accent4" accent5="accent5" accent6="accent6" hlink="hlink" folHlink="folHlink"/>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w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tLang="zh-CN"/>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81" name="Arc 1033"/>
          <p:cNvSpPr>
            <a:spLocks/>
          </p:cNvSpPr>
          <p:nvPr/>
        </p:nvSpPr>
        <p:spPr bwMode="auto">
          <a:xfrm>
            <a:off x="0" y="685800"/>
            <a:ext cx="2057400" cy="6170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gradFill rotWithShape="0">
            <a:gsLst>
              <a:gs pos="0">
                <a:schemeClr val="accent1"/>
              </a:gs>
              <a:gs pos="100000">
                <a:schemeClr val="accent2"/>
              </a:gs>
            </a:gsLst>
            <a:lin ang="5400000" scaled="1"/>
          </a:gradFill>
          <a:ln w="9525">
            <a:noFill/>
            <a:round/>
            <a:headEnd type="none" w="sm" len="sm"/>
            <a:tailEnd type="none" w="sm" len="sm"/>
          </a:ln>
          <a:effectLst/>
        </p:spPr>
        <p:txBody>
          <a:bodyPr/>
          <a:lstStyle/>
          <a:p>
            <a:pPr fontAlgn="base">
              <a:spcBef>
                <a:spcPct val="0"/>
              </a:spcBef>
              <a:spcAft>
                <a:spcPct val="0"/>
              </a:spcAft>
              <a:defRPr/>
            </a:pPr>
            <a:endParaRPr kumimoji="1" lang="zh-CN" altLang="zh-CN" sz="2400">
              <a:solidFill>
                <a:srgbClr val="009999"/>
              </a:solidFill>
              <a:latin typeface="Times New Roman" pitchFamily="18" charset="0"/>
            </a:endParaRPr>
          </a:p>
        </p:txBody>
      </p:sp>
      <p:pic>
        <p:nvPicPr>
          <p:cNvPr id="4099" name="Picture 1034"/>
          <p:cNvPicPr>
            <a:picLocks noChangeArrowheads="1"/>
          </p:cNvPicPr>
          <p:nvPr/>
        </p:nvPicPr>
        <p:blipFill>
          <a:blip r:embed="rId14" cstate="print"/>
          <a:srcRect/>
          <a:stretch>
            <a:fillRect/>
          </a:stretch>
        </p:blipFill>
        <p:spPr bwMode="auto">
          <a:xfrm>
            <a:off x="0" y="5334000"/>
            <a:ext cx="2133600" cy="1524000"/>
          </a:xfrm>
          <a:prstGeom prst="rect">
            <a:avLst/>
          </a:prstGeom>
          <a:noFill/>
          <a:ln w="12700">
            <a:noFill/>
            <a:miter lim="800000"/>
            <a:headEnd/>
            <a:tailEnd/>
          </a:ln>
        </p:spPr>
      </p:pic>
      <p:sp>
        <p:nvSpPr>
          <p:cNvPr id="3084" name="Line 1036"/>
          <p:cNvSpPr>
            <a:spLocks noChangeShapeType="1"/>
          </p:cNvSpPr>
          <p:nvPr/>
        </p:nvSpPr>
        <p:spPr bwMode="auto">
          <a:xfrm>
            <a:off x="1295400" y="1371600"/>
            <a:ext cx="7848600" cy="0"/>
          </a:xfrm>
          <a:prstGeom prst="line">
            <a:avLst/>
          </a:prstGeom>
          <a:noFill/>
          <a:ln w="9525">
            <a:solidFill>
              <a:schemeClr val="tx1"/>
            </a:solidFill>
            <a:round/>
            <a:headEnd/>
            <a:tailEnd/>
          </a:ln>
          <a:effectLst/>
        </p:spPr>
        <p:txBody>
          <a:bodyPr wrap="none" anchor="ctr"/>
          <a:lstStyle/>
          <a:p>
            <a:pPr algn="just" fontAlgn="base">
              <a:lnSpc>
                <a:spcPct val="110000"/>
              </a:lnSpc>
              <a:spcBef>
                <a:spcPct val="20000"/>
              </a:spcBef>
              <a:spcAft>
                <a:spcPct val="0"/>
              </a:spcAft>
              <a:buClr>
                <a:srgbClr val="FF9966"/>
              </a:buClr>
              <a:buSzPct val="50000"/>
              <a:buFont typeface="Monotype Sorts" pitchFamily="2" charset="2"/>
              <a:buNone/>
              <a:defRPr/>
            </a:pPr>
            <a:endParaRPr kumimoji="1" lang="zh-CN" altLang="en-US" sz="3000" b="1" dirty="0">
              <a:solidFill>
                <a:srgbClr val="010000"/>
              </a:solidFill>
              <a:latin typeface="Times New Roman" pitchFamily="18" charset="0"/>
              <a:ea typeface="黑体" pitchFamily="2" charset="-122"/>
            </a:endParaRPr>
          </a:p>
        </p:txBody>
      </p:sp>
    </p:spTree>
    <p:extLst>
      <p:ext uri="{BB962C8B-B14F-4D97-AF65-F5344CB8AC3E}">
        <p14:creationId xmlns:p14="http://schemas.microsoft.com/office/powerpoint/2010/main" val="228794097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ransition/>
  <p:txStyles>
    <p:titleStyle>
      <a:lvl1pPr algn="l" rtl="0" eaLnBrk="1" fontAlgn="base" hangingPunct="1">
        <a:lnSpc>
          <a:spcPct val="70000"/>
        </a:lnSpc>
        <a:spcBef>
          <a:spcPct val="0"/>
        </a:spcBef>
        <a:spcAft>
          <a:spcPct val="0"/>
        </a:spcAft>
        <a:defRPr kumimoji="1" sz="4800" b="1">
          <a:solidFill>
            <a:schemeClr val="tx2"/>
          </a:solidFill>
          <a:latin typeface="+mj-lt"/>
          <a:ea typeface="+mj-ea"/>
          <a:cs typeface="+mj-cs"/>
        </a:defRPr>
      </a:lvl1pPr>
      <a:lvl2pPr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2pPr>
      <a:lvl3pPr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3pPr>
      <a:lvl4pPr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4pPr>
      <a:lvl5pPr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5pPr>
      <a:lvl6pPr marL="457200"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6pPr>
      <a:lvl7pPr marL="914400"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7pPr>
      <a:lvl8pPr marL="1371600"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8pPr>
      <a:lvl9pPr marL="1828800"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9pPr>
    </p:titleStyle>
    <p:bodyStyle>
      <a:lvl1pPr marL="342900" indent="-342900" algn="l" rtl="0" eaLnBrk="1" fontAlgn="base" hangingPunct="1">
        <a:spcBef>
          <a:spcPct val="20000"/>
        </a:spcBef>
        <a:spcAft>
          <a:spcPct val="0"/>
        </a:spcAft>
        <a:buClr>
          <a:schemeClr val="hlink"/>
        </a:buClr>
        <a:buSzPct val="50000"/>
        <a:buFont typeface="Monotype Sorts"/>
        <a:buChar char="n"/>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Monotype Sorts"/>
        <a:buChar char="u"/>
        <a:defRPr kumimoji="1" sz="2600">
          <a:solidFill>
            <a:schemeClr val="tx1"/>
          </a:solidFill>
          <a:latin typeface="+mn-lt"/>
          <a:ea typeface="+mn-ea"/>
        </a:defRPr>
      </a:lvl2pPr>
      <a:lvl3pPr marL="1143000" indent="-228600" algn="l" rtl="0" eaLnBrk="1" fontAlgn="base" hangingPunct="1">
        <a:spcBef>
          <a:spcPct val="20000"/>
        </a:spcBef>
        <a:spcAft>
          <a:spcPct val="0"/>
        </a:spcAft>
        <a:buClr>
          <a:schemeClr val="hlink"/>
        </a:buClr>
        <a:buSzPct val="65000"/>
        <a:buFont typeface="Monotype Sorts"/>
        <a:buChar char="F"/>
        <a:defRPr kumimoji="1" sz="2400">
          <a:solidFill>
            <a:schemeClr val="tx1"/>
          </a:solidFill>
          <a:latin typeface="+mn-lt"/>
          <a:ea typeface="+mn-ea"/>
        </a:defRPr>
      </a:lvl3pPr>
      <a:lvl4pPr marL="1600200" indent="-228600" algn="l" rtl="0" eaLnBrk="1" fontAlgn="base" hangingPunct="1">
        <a:spcBef>
          <a:spcPct val="20000"/>
        </a:spcBef>
        <a:spcAft>
          <a:spcPct val="0"/>
        </a:spcAft>
        <a:buClr>
          <a:schemeClr val="tx2"/>
        </a:buClr>
        <a:buSzPct val="100000"/>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81" name="Arc 1033"/>
          <p:cNvSpPr>
            <a:spLocks/>
          </p:cNvSpPr>
          <p:nvPr/>
        </p:nvSpPr>
        <p:spPr bwMode="auto">
          <a:xfrm>
            <a:off x="0" y="685800"/>
            <a:ext cx="2057400" cy="6170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gradFill rotWithShape="0">
            <a:gsLst>
              <a:gs pos="0">
                <a:schemeClr val="accent1"/>
              </a:gs>
              <a:gs pos="100000">
                <a:schemeClr val="accent2"/>
              </a:gs>
            </a:gsLst>
            <a:lin ang="5400000" scaled="1"/>
          </a:gradFill>
          <a:ln w="9525">
            <a:noFill/>
            <a:round/>
            <a:headEnd type="none" w="sm" len="sm"/>
            <a:tailEnd type="none" w="sm" len="sm"/>
          </a:ln>
          <a:effectLst/>
        </p:spPr>
        <p:txBody>
          <a:bodyPr/>
          <a:lstStyle/>
          <a:p>
            <a:pPr fontAlgn="base">
              <a:spcBef>
                <a:spcPct val="0"/>
              </a:spcBef>
              <a:spcAft>
                <a:spcPct val="0"/>
              </a:spcAft>
              <a:defRPr/>
            </a:pPr>
            <a:endParaRPr kumimoji="1" lang="zh-CN" altLang="zh-CN" sz="2400">
              <a:solidFill>
                <a:srgbClr val="009999"/>
              </a:solidFill>
              <a:latin typeface="Times New Roman" pitchFamily="18" charset="0"/>
            </a:endParaRPr>
          </a:p>
        </p:txBody>
      </p:sp>
      <p:pic>
        <p:nvPicPr>
          <p:cNvPr id="4099" name="Picture 1034"/>
          <p:cNvPicPr>
            <a:picLocks noChangeArrowheads="1"/>
          </p:cNvPicPr>
          <p:nvPr/>
        </p:nvPicPr>
        <p:blipFill>
          <a:blip r:embed="rId14" cstate="print"/>
          <a:srcRect/>
          <a:stretch>
            <a:fillRect/>
          </a:stretch>
        </p:blipFill>
        <p:spPr bwMode="auto">
          <a:xfrm>
            <a:off x="0" y="5334000"/>
            <a:ext cx="2133600" cy="1524000"/>
          </a:xfrm>
          <a:prstGeom prst="rect">
            <a:avLst/>
          </a:prstGeom>
          <a:noFill/>
          <a:ln w="12700">
            <a:noFill/>
            <a:miter lim="800000"/>
            <a:headEnd/>
            <a:tailEnd/>
          </a:ln>
        </p:spPr>
      </p:pic>
      <p:sp>
        <p:nvSpPr>
          <p:cNvPr id="3084" name="Line 1036"/>
          <p:cNvSpPr>
            <a:spLocks noChangeShapeType="1"/>
          </p:cNvSpPr>
          <p:nvPr/>
        </p:nvSpPr>
        <p:spPr bwMode="auto">
          <a:xfrm>
            <a:off x="1295400" y="1371600"/>
            <a:ext cx="7848600" cy="0"/>
          </a:xfrm>
          <a:prstGeom prst="line">
            <a:avLst/>
          </a:prstGeom>
          <a:noFill/>
          <a:ln w="9525">
            <a:solidFill>
              <a:schemeClr val="tx1"/>
            </a:solidFill>
            <a:round/>
            <a:headEnd/>
            <a:tailEnd/>
          </a:ln>
          <a:effectLst/>
        </p:spPr>
        <p:txBody>
          <a:bodyPr wrap="none" anchor="ctr"/>
          <a:lstStyle/>
          <a:p>
            <a:pPr algn="just" fontAlgn="base">
              <a:lnSpc>
                <a:spcPct val="110000"/>
              </a:lnSpc>
              <a:spcBef>
                <a:spcPct val="20000"/>
              </a:spcBef>
              <a:spcAft>
                <a:spcPct val="0"/>
              </a:spcAft>
              <a:buClr>
                <a:srgbClr val="FF9966"/>
              </a:buClr>
              <a:buSzPct val="50000"/>
              <a:buFont typeface="Monotype Sorts" pitchFamily="2" charset="2"/>
              <a:buNone/>
              <a:defRPr/>
            </a:pPr>
            <a:endParaRPr kumimoji="1" lang="zh-CN" altLang="en-US" sz="3000" b="1" dirty="0">
              <a:solidFill>
                <a:srgbClr val="010000"/>
              </a:solidFill>
              <a:latin typeface="Times New Roman" pitchFamily="18" charset="0"/>
              <a:ea typeface="黑体" pitchFamily="2" charset="-122"/>
            </a:endParaRPr>
          </a:p>
        </p:txBody>
      </p:sp>
    </p:spTree>
    <p:extLst>
      <p:ext uri="{BB962C8B-B14F-4D97-AF65-F5344CB8AC3E}">
        <p14:creationId xmlns:p14="http://schemas.microsoft.com/office/powerpoint/2010/main" val="183691927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ransition/>
  <p:txStyles>
    <p:titleStyle>
      <a:lvl1pPr algn="l" rtl="0" eaLnBrk="1" fontAlgn="base" hangingPunct="1">
        <a:lnSpc>
          <a:spcPct val="70000"/>
        </a:lnSpc>
        <a:spcBef>
          <a:spcPct val="0"/>
        </a:spcBef>
        <a:spcAft>
          <a:spcPct val="0"/>
        </a:spcAft>
        <a:defRPr kumimoji="1" sz="4800" b="1">
          <a:solidFill>
            <a:schemeClr val="tx2"/>
          </a:solidFill>
          <a:latin typeface="+mj-lt"/>
          <a:ea typeface="+mj-ea"/>
          <a:cs typeface="+mj-cs"/>
        </a:defRPr>
      </a:lvl1pPr>
      <a:lvl2pPr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2pPr>
      <a:lvl3pPr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3pPr>
      <a:lvl4pPr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4pPr>
      <a:lvl5pPr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5pPr>
      <a:lvl6pPr marL="457200"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6pPr>
      <a:lvl7pPr marL="914400"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7pPr>
      <a:lvl8pPr marL="1371600"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8pPr>
      <a:lvl9pPr marL="1828800" algn="l" rtl="0" eaLnBrk="1" fontAlgn="base" hangingPunct="1">
        <a:lnSpc>
          <a:spcPct val="70000"/>
        </a:lnSpc>
        <a:spcBef>
          <a:spcPct val="0"/>
        </a:spcBef>
        <a:spcAft>
          <a:spcPct val="0"/>
        </a:spcAft>
        <a:defRPr kumimoji="1" sz="4800" b="1">
          <a:solidFill>
            <a:schemeClr val="tx2"/>
          </a:solidFill>
          <a:latin typeface="Arial Narrow" pitchFamily="34" charset="0"/>
          <a:ea typeface="宋体" pitchFamily="2" charset="-122"/>
        </a:defRPr>
      </a:lvl9pPr>
    </p:titleStyle>
    <p:bodyStyle>
      <a:lvl1pPr marL="342900" indent="-342900" algn="l" rtl="0" eaLnBrk="1" fontAlgn="base" hangingPunct="1">
        <a:spcBef>
          <a:spcPct val="20000"/>
        </a:spcBef>
        <a:spcAft>
          <a:spcPct val="0"/>
        </a:spcAft>
        <a:buClr>
          <a:schemeClr val="hlink"/>
        </a:buClr>
        <a:buSzPct val="50000"/>
        <a:buFont typeface="Monotype Sorts"/>
        <a:buChar char="n"/>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Monotype Sorts"/>
        <a:buChar char="u"/>
        <a:defRPr kumimoji="1" sz="2600">
          <a:solidFill>
            <a:schemeClr val="tx1"/>
          </a:solidFill>
          <a:latin typeface="+mn-lt"/>
          <a:ea typeface="+mn-ea"/>
        </a:defRPr>
      </a:lvl2pPr>
      <a:lvl3pPr marL="1143000" indent="-228600" algn="l" rtl="0" eaLnBrk="1" fontAlgn="base" hangingPunct="1">
        <a:spcBef>
          <a:spcPct val="20000"/>
        </a:spcBef>
        <a:spcAft>
          <a:spcPct val="0"/>
        </a:spcAft>
        <a:buClr>
          <a:schemeClr val="hlink"/>
        </a:buClr>
        <a:buSzPct val="65000"/>
        <a:buFont typeface="Monotype Sorts"/>
        <a:buChar char="F"/>
        <a:defRPr kumimoji="1" sz="2400">
          <a:solidFill>
            <a:schemeClr val="tx1"/>
          </a:solidFill>
          <a:latin typeface="+mn-lt"/>
          <a:ea typeface="+mn-ea"/>
        </a:defRPr>
      </a:lvl3pPr>
      <a:lvl4pPr marL="1600200" indent="-228600" algn="l" rtl="0" eaLnBrk="1" fontAlgn="base" hangingPunct="1">
        <a:spcBef>
          <a:spcPct val="20000"/>
        </a:spcBef>
        <a:spcAft>
          <a:spcPct val="0"/>
        </a:spcAft>
        <a:buClr>
          <a:schemeClr val="tx2"/>
        </a:buClr>
        <a:buSzPct val="100000"/>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hlink"/>
        </a:buClr>
        <a:buSzPct val="100000"/>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0.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50D878AC-EDD0-485D-BAB2-E2C81855F2CA}"/>
              </a:ext>
            </a:extLst>
          </p:cNvPr>
          <p:cNvSpPr>
            <a:spLocks noChangeArrowheads="1"/>
          </p:cNvSpPr>
          <p:nvPr/>
        </p:nvSpPr>
        <p:spPr bwMode="auto">
          <a:xfrm>
            <a:off x="0" y="1796451"/>
            <a:ext cx="9143999" cy="1175349"/>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defRPr/>
            </a:pPr>
            <a:endParaRPr lang="zh-CN" altLang="en-US">
              <a:solidFill>
                <a:schemeClr val="lt1"/>
              </a:solidFill>
              <a:latin typeface="+mn-lt"/>
              <a:ea typeface="+mn-ea"/>
            </a:endParaRPr>
          </a:p>
        </p:txBody>
      </p:sp>
      <p:sp>
        <p:nvSpPr>
          <p:cNvPr id="2" name="TextBox 9">
            <a:extLst>
              <a:ext uri="{FF2B5EF4-FFF2-40B4-BE49-F238E27FC236}">
                <a16:creationId xmlns:a16="http://schemas.microsoft.com/office/drawing/2014/main" id="{E5B9FF28-4CCD-4AC8-AFFB-754EA6C03F70}"/>
              </a:ext>
            </a:extLst>
          </p:cNvPr>
          <p:cNvSpPr txBox="1">
            <a:spLocks noChangeArrowheads="1"/>
          </p:cNvSpPr>
          <p:nvPr/>
        </p:nvSpPr>
        <p:spPr bwMode="auto">
          <a:xfrm>
            <a:off x="1828800" y="1948429"/>
            <a:ext cx="624839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None/>
            </a:pPr>
            <a:r>
              <a:rPr lang="zh-CN" altLang="en-US" sz="3200" b="1" dirty="0">
                <a:latin typeface="黑体" panose="02010609060101010101" pitchFamily="49" charset="-122"/>
                <a:ea typeface="黑体" panose="02010609060101010101" pitchFamily="49" charset="-122"/>
              </a:rPr>
              <a:t>    </a:t>
            </a:r>
            <a:r>
              <a:rPr lang="zh-CN" altLang="en-US" sz="4000" b="1" dirty="0">
                <a:latin typeface="黑体" panose="02010609060101010101" pitchFamily="49" charset="-122"/>
                <a:ea typeface="黑体" panose="02010609060101010101" pitchFamily="49" charset="-122"/>
              </a:rPr>
              <a:t>专题</a:t>
            </a:r>
            <a:r>
              <a:rPr lang="zh-CN" altLang="en-US" sz="4000" b="1" dirty="0" smtClean="0">
                <a:latin typeface="黑体" panose="02010609060101010101" pitchFamily="49" charset="-122"/>
                <a:ea typeface="黑体" panose="02010609060101010101" pitchFamily="49" charset="-122"/>
              </a:rPr>
              <a:t>五  </a:t>
            </a:r>
            <a:r>
              <a:rPr lang="zh-CN" altLang="en-US" sz="4000" b="1" dirty="0">
                <a:latin typeface="黑体" panose="02010609060101010101" pitchFamily="49" charset="-122"/>
                <a:ea typeface="黑体" panose="02010609060101010101" pitchFamily="49" charset="-122"/>
              </a:rPr>
              <a:t>推荐系统</a:t>
            </a:r>
            <a:endParaRPr lang="en-US" altLang="zh-CN" sz="40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9970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ss0.bdstatic.com/70cFuHSh_Q1YnxGkpoWK1HF6hhy/it/u=2899226812,1254223932&amp;fm=200&amp;gp=0.jpg">
            <a:extLst>
              <a:ext uri="{FF2B5EF4-FFF2-40B4-BE49-F238E27FC236}">
                <a16:creationId xmlns:a16="http://schemas.microsoft.com/office/drawing/2014/main" id="{0CE26474-7382-400F-98B7-3DCE8D9C3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2393929"/>
            <a:ext cx="4188705" cy="278130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组合 4">
            <a:extLst>
              <a:ext uri="{FF2B5EF4-FFF2-40B4-BE49-F238E27FC236}">
                <a16:creationId xmlns:a16="http://schemas.microsoft.com/office/drawing/2014/main" id="{4E22DBD8-B989-454A-ADD5-5032C71AF6BA}"/>
              </a:ext>
            </a:extLst>
          </p:cNvPr>
          <p:cNvGrpSpPr/>
          <p:nvPr/>
        </p:nvGrpSpPr>
        <p:grpSpPr>
          <a:xfrm>
            <a:off x="660981" y="1828800"/>
            <a:ext cx="3453819" cy="3662065"/>
            <a:chOff x="660981" y="2281535"/>
            <a:chExt cx="3453819" cy="3662065"/>
          </a:xfrm>
        </p:grpSpPr>
        <p:sp>
          <p:nvSpPr>
            <p:cNvPr id="6" name="Content Placeholder 2">
              <a:extLst>
                <a:ext uri="{FF2B5EF4-FFF2-40B4-BE49-F238E27FC236}">
                  <a16:creationId xmlns:a16="http://schemas.microsoft.com/office/drawing/2014/main" id="{1BBC4D77-13CA-4B97-BCA8-9B467A6F77E4}"/>
                </a:ext>
              </a:extLst>
            </p:cNvPr>
            <p:cNvSpPr txBox="1">
              <a:spLocks/>
            </p:cNvSpPr>
            <p:nvPr/>
          </p:nvSpPr>
          <p:spPr>
            <a:xfrm>
              <a:off x="670029" y="2819400"/>
              <a:ext cx="3444771" cy="3124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货架空间是稀缺资源</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72000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传统零售商的货架空间是稀缺资源。</a:t>
              </a:r>
              <a:endParaRPr lang="en-US" altLang="zh-CN" sz="1800" dirty="0">
                <a:solidFill>
                  <a:srgbClr val="0070C0"/>
                </a:solidFill>
                <a:latin typeface="等线" panose="02010600030101010101" pitchFamily="2" charset="-122"/>
                <a:ea typeface="等线" panose="02010600030101010101" pitchFamily="2" charset="-122"/>
              </a:endParaRPr>
            </a:p>
            <a:p>
              <a:pPr marL="0" indent="-720000">
                <a:lnSpc>
                  <a:spcPct val="110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注意力成为了稀缺资源</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然而网络使零成本产品信息传播成为可能，“货架空间”从稀缺变得丰富。人们逐渐从信息匮乏的时代走入了信息过载的时代。这时，注意力便成了稀缺资源。</a:t>
              </a:r>
            </a:p>
          </p:txBody>
        </p:sp>
        <p:sp>
          <p:nvSpPr>
            <p:cNvPr id="7" name="文本框 6">
              <a:extLst>
                <a:ext uri="{FF2B5EF4-FFF2-40B4-BE49-F238E27FC236}">
                  <a16:creationId xmlns:a16="http://schemas.microsoft.com/office/drawing/2014/main" id="{775BA345-E540-4D20-A12B-1D79BD2570E1}"/>
                </a:ext>
              </a:extLst>
            </p:cNvPr>
            <p:cNvSpPr txBox="1"/>
            <p:nvPr/>
          </p:nvSpPr>
          <p:spPr>
            <a:xfrm>
              <a:off x="660981" y="2281535"/>
              <a:ext cx="26918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什么是稀缺资源</a:t>
              </a:r>
            </a:p>
          </p:txBody>
        </p:sp>
        <p:cxnSp>
          <p:nvCxnSpPr>
            <p:cNvPr id="8" name="直接连接符 7">
              <a:extLst>
                <a:ext uri="{FF2B5EF4-FFF2-40B4-BE49-F238E27FC236}">
                  <a16:creationId xmlns:a16="http://schemas.microsoft.com/office/drawing/2014/main" id="{EC2F9491-DB39-4639-8468-F76CC3FD1FED}"/>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cxnSp>
        <p:nvCxnSpPr>
          <p:cNvPr id="9" name="直接连接符 8">
            <a:extLst>
              <a:ext uri="{FF2B5EF4-FFF2-40B4-BE49-F238E27FC236}">
                <a16:creationId xmlns:a16="http://schemas.microsoft.com/office/drawing/2014/main" id="{5F6A5F00-ED1F-44C4-9DFC-FFFD60A488F3}"/>
              </a:ext>
            </a:extLst>
          </p:cNvPr>
          <p:cNvCxnSpPr/>
          <p:nvPr/>
        </p:nvCxnSpPr>
        <p:spPr>
          <a:xfrm>
            <a:off x="0" y="788262"/>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10" name="组合 46">
            <a:extLst>
              <a:ext uri="{FF2B5EF4-FFF2-40B4-BE49-F238E27FC236}">
                <a16:creationId xmlns:a16="http://schemas.microsoft.com/office/drawing/2014/main" id="{30927F45-5335-46C8-AEDE-C515D03099A1}"/>
              </a:ext>
            </a:extLst>
          </p:cNvPr>
          <p:cNvGrpSpPr>
            <a:grpSpLocks/>
          </p:cNvGrpSpPr>
          <p:nvPr/>
        </p:nvGrpSpPr>
        <p:grpSpPr bwMode="auto">
          <a:xfrm>
            <a:off x="0" y="258037"/>
            <a:ext cx="3276826" cy="530225"/>
            <a:chOff x="1742209" y="284389"/>
            <a:chExt cx="2627978" cy="529772"/>
          </a:xfrm>
          <a:solidFill>
            <a:srgbClr val="024C89"/>
          </a:solidFill>
        </p:grpSpPr>
        <p:sp>
          <p:nvSpPr>
            <p:cNvPr id="11" name="矩形 10">
              <a:extLst>
                <a:ext uri="{FF2B5EF4-FFF2-40B4-BE49-F238E27FC236}">
                  <a16:creationId xmlns:a16="http://schemas.microsoft.com/office/drawing/2014/main" id="{42EFCF46-A3E3-4161-B66A-7295B48D6AD8}"/>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为什么需要推荐系统</a:t>
              </a:r>
            </a:p>
          </p:txBody>
        </p:sp>
        <p:sp>
          <p:nvSpPr>
            <p:cNvPr id="12" name="矩形 11">
              <a:extLst>
                <a:ext uri="{FF2B5EF4-FFF2-40B4-BE49-F238E27FC236}">
                  <a16:creationId xmlns:a16="http://schemas.microsoft.com/office/drawing/2014/main" id="{66B6FE4E-2327-471E-BA2C-6BC5B7BAF858}"/>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087486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CF50423-6C80-42C1-B485-7CBE7E900B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8200" y="2458944"/>
            <a:ext cx="3753185" cy="3126432"/>
          </a:xfrm>
          <a:prstGeom prst="rect">
            <a:avLst/>
          </a:prstGeom>
        </p:spPr>
      </p:pic>
      <p:cxnSp>
        <p:nvCxnSpPr>
          <p:cNvPr id="3" name="直接连接符 2">
            <a:extLst>
              <a:ext uri="{FF2B5EF4-FFF2-40B4-BE49-F238E27FC236}">
                <a16:creationId xmlns:a16="http://schemas.microsoft.com/office/drawing/2014/main" id="{5817715C-0946-4030-AA7E-86F8FB17056B}"/>
              </a:ext>
            </a:extLst>
          </p:cNvPr>
          <p:cNvCxnSpPr/>
          <p:nvPr/>
        </p:nvCxnSpPr>
        <p:spPr>
          <a:xfrm>
            <a:off x="0" y="788262"/>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4" name="组合 46">
            <a:extLst>
              <a:ext uri="{FF2B5EF4-FFF2-40B4-BE49-F238E27FC236}">
                <a16:creationId xmlns:a16="http://schemas.microsoft.com/office/drawing/2014/main" id="{AA287DBD-8569-4380-9435-A8AE3014CECF}"/>
              </a:ext>
            </a:extLst>
          </p:cNvPr>
          <p:cNvGrpSpPr>
            <a:grpSpLocks/>
          </p:cNvGrpSpPr>
          <p:nvPr/>
        </p:nvGrpSpPr>
        <p:grpSpPr bwMode="auto">
          <a:xfrm>
            <a:off x="0" y="258037"/>
            <a:ext cx="3276826" cy="530225"/>
            <a:chOff x="1742209" y="284389"/>
            <a:chExt cx="2627978" cy="529772"/>
          </a:xfrm>
          <a:solidFill>
            <a:srgbClr val="024C89"/>
          </a:solidFill>
        </p:grpSpPr>
        <p:sp>
          <p:nvSpPr>
            <p:cNvPr id="5" name="矩形 4">
              <a:extLst>
                <a:ext uri="{FF2B5EF4-FFF2-40B4-BE49-F238E27FC236}">
                  <a16:creationId xmlns:a16="http://schemas.microsoft.com/office/drawing/2014/main" id="{692702FA-6100-4AC1-AE2A-30AAC97402E0}"/>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为什么需要推荐系统</a:t>
              </a:r>
            </a:p>
          </p:txBody>
        </p:sp>
        <p:sp>
          <p:nvSpPr>
            <p:cNvPr id="6" name="矩形 5">
              <a:extLst>
                <a:ext uri="{FF2B5EF4-FFF2-40B4-BE49-F238E27FC236}">
                  <a16:creationId xmlns:a16="http://schemas.microsoft.com/office/drawing/2014/main" id="{E5DDF0EA-3C3E-49A6-85CD-193836B1EC7D}"/>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7" name="组合 6">
            <a:extLst>
              <a:ext uri="{FF2B5EF4-FFF2-40B4-BE49-F238E27FC236}">
                <a16:creationId xmlns:a16="http://schemas.microsoft.com/office/drawing/2014/main" id="{C8961A45-470A-4CEF-87CC-7837A631A3DF}"/>
              </a:ext>
            </a:extLst>
          </p:cNvPr>
          <p:cNvGrpSpPr/>
          <p:nvPr/>
        </p:nvGrpSpPr>
        <p:grpSpPr>
          <a:xfrm>
            <a:off x="660981" y="1828800"/>
            <a:ext cx="3453819" cy="3662065"/>
            <a:chOff x="660981" y="2281535"/>
            <a:chExt cx="3453819" cy="3662065"/>
          </a:xfrm>
        </p:grpSpPr>
        <p:sp>
          <p:nvSpPr>
            <p:cNvPr id="8" name="Content Placeholder 2">
              <a:extLst>
                <a:ext uri="{FF2B5EF4-FFF2-40B4-BE49-F238E27FC236}">
                  <a16:creationId xmlns:a16="http://schemas.microsoft.com/office/drawing/2014/main" id="{95AB06F7-6796-49C0-A1E4-C8DB505A0455}"/>
                </a:ext>
              </a:extLst>
            </p:cNvPr>
            <p:cNvSpPr txBox="1">
              <a:spLocks/>
            </p:cNvSpPr>
            <p:nvPr/>
          </p:nvSpPr>
          <p:spPr>
            <a:xfrm>
              <a:off x="670029" y="2819400"/>
              <a:ext cx="3444771" cy="3124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旨在向用户提供建议</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72000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根据用户的兴趣特点和购买行为，向用户提供建议。</a:t>
              </a:r>
              <a:endParaRPr lang="en-US" altLang="zh-CN" sz="1800" dirty="0">
                <a:solidFill>
                  <a:srgbClr val="0070C0"/>
                </a:solidFill>
                <a:latin typeface="等线" panose="02010600030101010101" pitchFamily="2" charset="-122"/>
                <a:ea typeface="等线" panose="02010600030101010101" pitchFamily="2" charset="-122"/>
              </a:endParaRPr>
            </a:p>
            <a:p>
              <a:pPr marL="0" indent="-720000">
                <a:lnSpc>
                  <a:spcPct val="110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推荐系统的价值</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将正确的商品在正确的时间推荐给正确的人，这在商业上有巨大巨大价值。</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在阅读网站上，一个合适的推荐远比首页上的图书更加吸引用户。</a:t>
              </a:r>
            </a:p>
          </p:txBody>
        </p:sp>
        <p:sp>
          <p:nvSpPr>
            <p:cNvPr id="9" name="文本框 8">
              <a:extLst>
                <a:ext uri="{FF2B5EF4-FFF2-40B4-BE49-F238E27FC236}">
                  <a16:creationId xmlns:a16="http://schemas.microsoft.com/office/drawing/2014/main" id="{345C0170-F832-433F-ADAE-12A4833036F6}"/>
                </a:ext>
              </a:extLst>
            </p:cNvPr>
            <p:cNvSpPr txBox="1"/>
            <p:nvPr/>
          </p:nvSpPr>
          <p:spPr>
            <a:xfrm>
              <a:off x="660981" y="2281535"/>
              <a:ext cx="26918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推荐系统</a:t>
              </a:r>
            </a:p>
          </p:txBody>
        </p:sp>
        <p:cxnSp>
          <p:nvCxnSpPr>
            <p:cNvPr id="10" name="直接连接符 9">
              <a:extLst>
                <a:ext uri="{FF2B5EF4-FFF2-40B4-BE49-F238E27FC236}">
                  <a16:creationId xmlns:a16="http://schemas.microsoft.com/office/drawing/2014/main" id="{8B37B880-08EE-4BB3-AD60-37D95F054C14}"/>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7600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B4AC9E6-5B7E-4325-95B4-6B14899E6B0F}"/>
              </a:ext>
            </a:extLst>
          </p:cNvPr>
          <p:cNvSpPr>
            <a:spLocks noChangeArrowheads="1"/>
          </p:cNvSpPr>
          <p:nvPr/>
        </p:nvSpPr>
        <p:spPr bwMode="auto">
          <a:xfrm>
            <a:off x="476250" y="330201"/>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sz="2800" dirty="0">
              <a:solidFill>
                <a:srgbClr val="1A9EE9"/>
              </a:solidFill>
              <a:latin typeface="微软雅黑" pitchFamily="34" charset="-122"/>
              <a:ea typeface="微软雅黑" pitchFamily="34" charset="-122"/>
            </a:endParaRPr>
          </a:p>
        </p:txBody>
      </p:sp>
      <p:cxnSp>
        <p:nvCxnSpPr>
          <p:cNvPr id="3" name="直接连接符 2">
            <a:extLst>
              <a:ext uri="{FF2B5EF4-FFF2-40B4-BE49-F238E27FC236}">
                <a16:creationId xmlns:a16="http://schemas.microsoft.com/office/drawing/2014/main" id="{0C2A117A-9F44-467A-8FAF-931727D081B7}"/>
              </a:ext>
            </a:extLst>
          </p:cNvPr>
          <p:cNvCxnSpPr/>
          <p:nvPr/>
        </p:nvCxnSpPr>
        <p:spPr>
          <a:xfrm>
            <a:off x="0" y="788262"/>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4" name="组合 46">
            <a:extLst>
              <a:ext uri="{FF2B5EF4-FFF2-40B4-BE49-F238E27FC236}">
                <a16:creationId xmlns:a16="http://schemas.microsoft.com/office/drawing/2014/main" id="{582DC694-B33E-446F-BD31-E45E090DCE90}"/>
              </a:ext>
            </a:extLst>
          </p:cNvPr>
          <p:cNvGrpSpPr>
            <a:grpSpLocks/>
          </p:cNvGrpSpPr>
          <p:nvPr/>
        </p:nvGrpSpPr>
        <p:grpSpPr bwMode="auto">
          <a:xfrm>
            <a:off x="0" y="258037"/>
            <a:ext cx="3276826" cy="530225"/>
            <a:chOff x="1742209" y="284389"/>
            <a:chExt cx="2627978" cy="529772"/>
          </a:xfrm>
          <a:solidFill>
            <a:srgbClr val="024C89"/>
          </a:solidFill>
        </p:grpSpPr>
        <p:sp>
          <p:nvSpPr>
            <p:cNvPr id="5" name="矩形 4">
              <a:extLst>
                <a:ext uri="{FF2B5EF4-FFF2-40B4-BE49-F238E27FC236}">
                  <a16:creationId xmlns:a16="http://schemas.microsoft.com/office/drawing/2014/main" id="{EFE83A9D-CC8A-409C-81FE-21A89C35770C}"/>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为什么需要推荐系统</a:t>
              </a:r>
            </a:p>
          </p:txBody>
        </p:sp>
        <p:sp>
          <p:nvSpPr>
            <p:cNvPr id="6" name="矩形 5">
              <a:extLst>
                <a:ext uri="{FF2B5EF4-FFF2-40B4-BE49-F238E27FC236}">
                  <a16:creationId xmlns:a16="http://schemas.microsoft.com/office/drawing/2014/main" id="{72165993-2809-4B0A-AC09-823D029AFD20}"/>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6">
            <a:extLst>
              <a:ext uri="{FF2B5EF4-FFF2-40B4-BE49-F238E27FC236}">
                <a16:creationId xmlns:a16="http://schemas.microsoft.com/office/drawing/2014/main" id="{712D6D2A-92D7-400E-998D-6322E38EBA5D}"/>
              </a:ext>
            </a:extLst>
          </p:cNvPr>
          <p:cNvSpPr/>
          <p:nvPr/>
        </p:nvSpPr>
        <p:spPr>
          <a:xfrm>
            <a:off x="581219" y="1167825"/>
            <a:ext cx="3057247" cy="584775"/>
          </a:xfrm>
          <a:prstGeom prst="rect">
            <a:avLst/>
          </a:prstGeom>
        </p:spPr>
        <p:txBody>
          <a:bodyPr wrap="none">
            <a:spAutoFit/>
          </a:bodyPr>
          <a:lstStyle/>
          <a:p>
            <a:r>
              <a:rPr lang="zh-CN" altLang="en-US" sz="3200" dirty="0">
                <a:solidFill>
                  <a:srgbClr val="FF0000"/>
                </a:solidFill>
                <a:latin typeface="Times New Roman" panose="02020603050405020304" pitchFamily="18" charset="0"/>
                <a:ea typeface="黑体" panose="02010609060101010101" pitchFamily="49" charset="-122"/>
              </a:rPr>
              <a:t>推荐系统的应用</a:t>
            </a:r>
          </a:p>
        </p:txBody>
      </p:sp>
      <p:grpSp>
        <p:nvGrpSpPr>
          <p:cNvPr id="8" name="组合 7">
            <a:extLst>
              <a:ext uri="{FF2B5EF4-FFF2-40B4-BE49-F238E27FC236}">
                <a16:creationId xmlns:a16="http://schemas.microsoft.com/office/drawing/2014/main" id="{873096D6-E830-445E-80A8-71A420910F4D}"/>
              </a:ext>
            </a:extLst>
          </p:cNvPr>
          <p:cNvGrpSpPr/>
          <p:nvPr/>
        </p:nvGrpSpPr>
        <p:grpSpPr>
          <a:xfrm>
            <a:off x="581219" y="1981200"/>
            <a:ext cx="4376581" cy="1604338"/>
            <a:chOff x="1250428" y="2594957"/>
            <a:chExt cx="4376581" cy="1604338"/>
          </a:xfrm>
        </p:grpSpPr>
        <p:sp>
          <p:nvSpPr>
            <p:cNvPr id="9" name="Content Placeholder 2">
              <a:extLst>
                <a:ext uri="{FF2B5EF4-FFF2-40B4-BE49-F238E27FC236}">
                  <a16:creationId xmlns:a16="http://schemas.microsoft.com/office/drawing/2014/main" id="{8C475D3B-58DC-495B-AC44-9D613BFF5824}"/>
                </a:ext>
              </a:extLst>
            </p:cNvPr>
            <p:cNvSpPr txBox="1">
              <a:spLocks/>
            </p:cNvSpPr>
            <p:nvPr/>
          </p:nvSpPr>
          <p:spPr>
            <a:xfrm>
              <a:off x="1250428" y="2594957"/>
              <a:ext cx="4376581" cy="59492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在线商城</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p:txBody>
        </p:sp>
        <p:pic>
          <p:nvPicPr>
            <p:cNvPr id="10" name="图片 9">
              <a:extLst>
                <a:ext uri="{FF2B5EF4-FFF2-40B4-BE49-F238E27FC236}">
                  <a16:creationId xmlns:a16="http://schemas.microsoft.com/office/drawing/2014/main" id="{95863B92-0220-45CF-984E-614FBDD7334C}"/>
                </a:ext>
              </a:extLst>
            </p:cNvPr>
            <p:cNvPicPr>
              <a:picLocks noChangeAspect="1"/>
            </p:cNvPicPr>
            <p:nvPr/>
          </p:nvPicPr>
          <p:blipFill rotWithShape="1">
            <a:blip r:embed="rId2" cstate="print">
              <a:duotone>
                <a:schemeClr val="accent3">
                  <a:shade val="45000"/>
                  <a:satMod val="135000"/>
                </a:schemeClr>
                <a:prstClr val="white"/>
              </a:duotone>
              <a:extLst>
                <a:ext uri="{28A0092B-C50C-407E-A947-70E740481C1C}">
                  <a14:useLocalDpi xmlns:a14="http://schemas.microsoft.com/office/drawing/2010/main" val="0"/>
                </a:ext>
              </a:extLst>
            </a:blip>
            <a:srcRect b="13333"/>
            <a:stretch/>
          </p:blipFill>
          <p:spPr>
            <a:xfrm>
              <a:off x="1250428" y="3201203"/>
              <a:ext cx="790381" cy="684997"/>
            </a:xfrm>
            <a:prstGeom prst="rect">
              <a:avLst/>
            </a:prstGeom>
          </p:spPr>
        </p:pic>
        <p:sp>
          <p:nvSpPr>
            <p:cNvPr id="11" name="矩形 10">
              <a:extLst>
                <a:ext uri="{FF2B5EF4-FFF2-40B4-BE49-F238E27FC236}">
                  <a16:creationId xmlns:a16="http://schemas.microsoft.com/office/drawing/2014/main" id="{BB0FCBB6-C370-4391-A2AB-7408F28A38B1}"/>
                </a:ext>
              </a:extLst>
            </p:cNvPr>
            <p:cNvSpPr/>
            <p:nvPr/>
          </p:nvSpPr>
          <p:spPr>
            <a:xfrm>
              <a:off x="2099332" y="3068216"/>
              <a:ext cx="2989477" cy="1131079"/>
            </a:xfrm>
            <a:prstGeom prst="rect">
              <a:avLst/>
            </a:prstGeom>
          </p:spPr>
          <p:txBody>
            <a:bodyPr wrap="square">
              <a:spAutoFit/>
            </a:bodyPr>
            <a:lstStyle/>
            <a:p>
              <a:pPr indent="-457200" algn="just">
                <a:lnSpc>
                  <a:spcPct val="125000"/>
                </a:lnSpc>
                <a:spcBef>
                  <a:spcPts val="600"/>
                </a:spcBef>
              </a:pPr>
              <a:r>
                <a:rPr lang="zh-CN" altLang="en-US" dirty="0">
                  <a:solidFill>
                    <a:srgbClr val="6F8E30"/>
                  </a:solidFill>
                  <a:latin typeface="等线" panose="02010600030101010101" pitchFamily="2" charset="-122"/>
                  <a:ea typeface="等线" panose="02010600030101010101" pitchFamily="2" charset="-122"/>
                </a:rPr>
                <a:t>当用户进入商城首页后，就会看到系统根据用户的的历史行为推荐了丰富的商品。</a:t>
              </a:r>
            </a:p>
          </p:txBody>
        </p:sp>
      </p:grpSp>
      <p:grpSp>
        <p:nvGrpSpPr>
          <p:cNvPr id="12" name="组合 11">
            <a:extLst>
              <a:ext uri="{FF2B5EF4-FFF2-40B4-BE49-F238E27FC236}">
                <a16:creationId xmlns:a16="http://schemas.microsoft.com/office/drawing/2014/main" id="{FCBA29B4-43F6-4FB4-A0B9-1D73C78B4D12}"/>
              </a:ext>
            </a:extLst>
          </p:cNvPr>
          <p:cNvGrpSpPr/>
          <p:nvPr/>
        </p:nvGrpSpPr>
        <p:grpSpPr>
          <a:xfrm>
            <a:off x="5105400" y="4038600"/>
            <a:ext cx="3581400" cy="2296835"/>
            <a:chOff x="581219" y="5177462"/>
            <a:chExt cx="3581400" cy="2296835"/>
          </a:xfrm>
        </p:grpSpPr>
        <p:grpSp>
          <p:nvGrpSpPr>
            <p:cNvPr id="13" name="组合 12">
              <a:extLst>
                <a:ext uri="{FF2B5EF4-FFF2-40B4-BE49-F238E27FC236}">
                  <a16:creationId xmlns:a16="http://schemas.microsoft.com/office/drawing/2014/main" id="{170CEEA5-804A-42AD-8788-BF2CD1999843}"/>
                </a:ext>
              </a:extLst>
            </p:cNvPr>
            <p:cNvGrpSpPr/>
            <p:nvPr/>
          </p:nvGrpSpPr>
          <p:grpSpPr>
            <a:xfrm>
              <a:off x="581220" y="5177462"/>
              <a:ext cx="3581399" cy="2296835"/>
              <a:chOff x="1250429" y="2594957"/>
              <a:chExt cx="3581399" cy="2296835"/>
            </a:xfrm>
          </p:grpSpPr>
          <p:sp>
            <p:nvSpPr>
              <p:cNvPr id="15" name="Content Placeholder 2">
                <a:extLst>
                  <a:ext uri="{FF2B5EF4-FFF2-40B4-BE49-F238E27FC236}">
                    <a16:creationId xmlns:a16="http://schemas.microsoft.com/office/drawing/2014/main" id="{EB1422B7-FD7B-4DC2-9B51-B444888B6BD3}"/>
                  </a:ext>
                </a:extLst>
              </p:cNvPr>
              <p:cNvSpPr txBox="1">
                <a:spLocks/>
              </p:cNvSpPr>
              <p:nvPr/>
            </p:nvSpPr>
            <p:spPr>
              <a:xfrm>
                <a:off x="1250429" y="2594957"/>
                <a:ext cx="3276600" cy="59492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电影推荐</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p:txBody>
          </p:sp>
          <p:sp>
            <p:nvSpPr>
              <p:cNvPr id="16" name="矩形 15">
                <a:extLst>
                  <a:ext uri="{FF2B5EF4-FFF2-40B4-BE49-F238E27FC236}">
                    <a16:creationId xmlns:a16="http://schemas.microsoft.com/office/drawing/2014/main" id="{C777C744-3087-412C-828E-BD80798303D0}"/>
                  </a:ext>
                </a:extLst>
              </p:cNvPr>
              <p:cNvSpPr/>
              <p:nvPr/>
            </p:nvSpPr>
            <p:spPr>
              <a:xfrm>
                <a:off x="2099331" y="3068216"/>
                <a:ext cx="2732497" cy="1823576"/>
              </a:xfrm>
              <a:prstGeom prst="rect">
                <a:avLst/>
              </a:prstGeom>
            </p:spPr>
            <p:txBody>
              <a:bodyPr wrap="square">
                <a:spAutoFit/>
              </a:bodyPr>
              <a:lstStyle/>
              <a:p>
                <a:pPr algn="just">
                  <a:lnSpc>
                    <a:spcPct val="125000"/>
                  </a:lnSpc>
                  <a:spcBef>
                    <a:spcPts val="600"/>
                  </a:spcBef>
                </a:pPr>
                <a:r>
                  <a:rPr lang="zh-CN" altLang="en-US" dirty="0">
                    <a:solidFill>
                      <a:schemeClr val="tx1">
                        <a:lumMod val="75000"/>
                        <a:lumOff val="25000"/>
                      </a:schemeClr>
                    </a:solidFill>
                    <a:latin typeface="等线" panose="02010600030101010101" pitchFamily="2" charset="-122"/>
                    <a:ea typeface="等线" panose="02010600030101010101" pitchFamily="2" charset="-122"/>
                  </a:rPr>
                  <a:t>推荐系统在电影的推荐中有着广泛的应用。国内的一些影视类网站大都有自己的推荐系统，比如爱奇艺、优酷、土豆等。</a:t>
                </a:r>
              </a:p>
            </p:txBody>
          </p:sp>
        </p:grpSp>
        <p:pic>
          <p:nvPicPr>
            <p:cNvPr id="14" name="图片 13">
              <a:extLst>
                <a:ext uri="{FF2B5EF4-FFF2-40B4-BE49-F238E27FC236}">
                  <a16:creationId xmlns:a16="http://schemas.microsoft.com/office/drawing/2014/main" id="{67D7481F-77FC-4404-A3BF-AC3EAB16AE83}"/>
                </a:ext>
              </a:extLst>
            </p:cNvPr>
            <p:cNvPicPr>
              <a:picLocks noChangeAspect="1"/>
            </p:cNvPicPr>
            <p:nvPr/>
          </p:nvPicPr>
          <p:blipFill rotWithShape="1">
            <a:blip r:embed="rId3" cstate="print">
              <a:grayscl/>
              <a:extLst>
                <a:ext uri="{28A0092B-C50C-407E-A947-70E740481C1C}">
                  <a14:useLocalDpi xmlns:a14="http://schemas.microsoft.com/office/drawing/2010/main" val="0"/>
                </a:ext>
              </a:extLst>
            </a:blip>
            <a:srcRect t="6666" b="20000"/>
            <a:stretch/>
          </p:blipFill>
          <p:spPr>
            <a:xfrm>
              <a:off x="581219" y="5787062"/>
              <a:ext cx="966963" cy="709106"/>
            </a:xfrm>
            <a:prstGeom prst="rect">
              <a:avLst/>
            </a:prstGeom>
          </p:spPr>
        </p:pic>
      </p:grpSp>
      <p:grpSp>
        <p:nvGrpSpPr>
          <p:cNvPr id="17" name="组合 16">
            <a:extLst>
              <a:ext uri="{FF2B5EF4-FFF2-40B4-BE49-F238E27FC236}">
                <a16:creationId xmlns:a16="http://schemas.microsoft.com/office/drawing/2014/main" id="{68321B18-5EF0-4DF4-8A0A-906E65585161}"/>
              </a:ext>
            </a:extLst>
          </p:cNvPr>
          <p:cNvGrpSpPr/>
          <p:nvPr/>
        </p:nvGrpSpPr>
        <p:grpSpPr>
          <a:xfrm>
            <a:off x="537976" y="4027765"/>
            <a:ext cx="4419824" cy="2296835"/>
            <a:chOff x="537976" y="3579331"/>
            <a:chExt cx="4419824" cy="2296835"/>
          </a:xfrm>
        </p:grpSpPr>
        <p:grpSp>
          <p:nvGrpSpPr>
            <p:cNvPr id="18" name="组合 17">
              <a:extLst>
                <a:ext uri="{FF2B5EF4-FFF2-40B4-BE49-F238E27FC236}">
                  <a16:creationId xmlns:a16="http://schemas.microsoft.com/office/drawing/2014/main" id="{F1FF2470-F20D-4569-99E5-B82E610FBE3B}"/>
                </a:ext>
              </a:extLst>
            </p:cNvPr>
            <p:cNvGrpSpPr/>
            <p:nvPr/>
          </p:nvGrpSpPr>
          <p:grpSpPr>
            <a:xfrm>
              <a:off x="581219" y="3579331"/>
              <a:ext cx="4376581" cy="2296835"/>
              <a:chOff x="1250428" y="2594957"/>
              <a:chExt cx="4376581" cy="2296835"/>
            </a:xfrm>
          </p:grpSpPr>
          <p:sp>
            <p:nvSpPr>
              <p:cNvPr id="20" name="Content Placeholder 2">
                <a:extLst>
                  <a:ext uri="{FF2B5EF4-FFF2-40B4-BE49-F238E27FC236}">
                    <a16:creationId xmlns:a16="http://schemas.microsoft.com/office/drawing/2014/main" id="{9676DB7C-DBFF-4ECF-B8EC-1AFA835EC2FB}"/>
                  </a:ext>
                </a:extLst>
              </p:cNvPr>
              <p:cNvSpPr txBox="1">
                <a:spLocks/>
              </p:cNvSpPr>
              <p:nvPr/>
            </p:nvSpPr>
            <p:spPr>
              <a:xfrm>
                <a:off x="1250428" y="2594957"/>
                <a:ext cx="4376581" cy="59492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个性化阅读</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p:txBody>
          </p:sp>
          <p:sp>
            <p:nvSpPr>
              <p:cNvPr id="21" name="矩形 20">
                <a:extLst>
                  <a:ext uri="{FF2B5EF4-FFF2-40B4-BE49-F238E27FC236}">
                    <a16:creationId xmlns:a16="http://schemas.microsoft.com/office/drawing/2014/main" id="{C66D6B95-1F1A-4DE6-9435-8C98C073B555}"/>
                  </a:ext>
                </a:extLst>
              </p:cNvPr>
              <p:cNvSpPr/>
              <p:nvPr/>
            </p:nvSpPr>
            <p:spPr>
              <a:xfrm>
                <a:off x="2099330" y="3068216"/>
                <a:ext cx="3065679" cy="1823576"/>
              </a:xfrm>
              <a:prstGeom prst="rect">
                <a:avLst/>
              </a:prstGeom>
            </p:spPr>
            <p:txBody>
              <a:bodyPr wrap="square">
                <a:spAutoFit/>
              </a:bodyPr>
              <a:lstStyle/>
              <a:p>
                <a:pPr algn="just">
                  <a:lnSpc>
                    <a:spcPct val="125000"/>
                  </a:lnSpc>
                  <a:spcBef>
                    <a:spcPts val="600"/>
                  </a:spcBef>
                </a:pPr>
                <a:r>
                  <a:rPr lang="zh-CN" altLang="en-US" dirty="0">
                    <a:solidFill>
                      <a:srgbClr val="4D75A3"/>
                    </a:solidFill>
                    <a:latin typeface="等线" panose="02010600030101010101" pitchFamily="2" charset="-122"/>
                    <a:ea typeface="等线" panose="02010600030101010101" pitchFamily="2" charset="-122"/>
                  </a:rPr>
                  <a:t>推荐在个性化阅读中也有广泛的应用，一个典型的例子就是豆瓣，其根据用户历史对书籍的打分为用户推荐可能喜欢的书籍。</a:t>
                </a:r>
              </a:p>
            </p:txBody>
          </p:sp>
        </p:grpSp>
        <p:pic>
          <p:nvPicPr>
            <p:cNvPr id="19" name="图片 18">
              <a:extLst>
                <a:ext uri="{FF2B5EF4-FFF2-40B4-BE49-F238E27FC236}">
                  <a16:creationId xmlns:a16="http://schemas.microsoft.com/office/drawing/2014/main" id="{0F939FB1-35DD-428C-9E2D-98C7EA3C4536}"/>
                </a:ext>
              </a:extLst>
            </p:cNvPr>
            <p:cNvPicPr>
              <a:picLocks noChangeAspect="1"/>
            </p:cNvPicPr>
            <p:nvPr/>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b="16364"/>
            <a:stretch/>
          </p:blipFill>
          <p:spPr>
            <a:xfrm>
              <a:off x="537976" y="4185577"/>
              <a:ext cx="913167" cy="763739"/>
            </a:xfrm>
            <a:prstGeom prst="rect">
              <a:avLst/>
            </a:prstGeom>
          </p:spPr>
        </p:pic>
      </p:grpSp>
      <p:pic>
        <p:nvPicPr>
          <p:cNvPr id="22" name="图片 21">
            <a:extLst>
              <a:ext uri="{FF2B5EF4-FFF2-40B4-BE49-F238E27FC236}">
                <a16:creationId xmlns:a16="http://schemas.microsoft.com/office/drawing/2014/main" id="{A40D2B8D-6E90-424E-8950-5AE76CFAC28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21111"/>
          <a:stretch/>
        </p:blipFill>
        <p:spPr>
          <a:xfrm>
            <a:off x="4981567" y="2105336"/>
            <a:ext cx="2257433" cy="1780864"/>
          </a:xfrm>
          <a:prstGeom prst="rect">
            <a:avLst/>
          </a:prstGeom>
        </p:spPr>
      </p:pic>
    </p:spTree>
    <p:extLst>
      <p:ext uri="{BB962C8B-B14F-4D97-AF65-F5344CB8AC3E}">
        <p14:creationId xmlns:p14="http://schemas.microsoft.com/office/powerpoint/2010/main" val="3457650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2B909A6-3D53-46EF-9FD8-9A6AF35B076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B0237AF-220E-4B36-8C2F-2F16378879F9}"/>
              </a:ext>
            </a:extLst>
          </p:cNvPr>
          <p:cNvGrpSpPr>
            <a:grpSpLocks/>
          </p:cNvGrpSpPr>
          <p:nvPr/>
        </p:nvGrpSpPr>
        <p:grpSpPr bwMode="auto">
          <a:xfrm>
            <a:off x="0" y="284163"/>
            <a:ext cx="2591026" cy="530225"/>
            <a:chOff x="2292213" y="284389"/>
            <a:chExt cx="2077974" cy="529772"/>
          </a:xfrm>
          <a:solidFill>
            <a:srgbClr val="024C89"/>
          </a:solidFill>
        </p:grpSpPr>
        <p:sp>
          <p:nvSpPr>
            <p:cNvPr id="4" name="矩形 3">
              <a:extLst>
                <a:ext uri="{FF2B5EF4-FFF2-40B4-BE49-F238E27FC236}">
                  <a16:creationId xmlns:a16="http://schemas.microsoft.com/office/drawing/2014/main" id="{1382CF8C-12FC-4E95-8D71-D46C98BFEEC7}"/>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推荐算法概述</a:t>
              </a:r>
            </a:p>
          </p:txBody>
        </p:sp>
        <p:sp>
          <p:nvSpPr>
            <p:cNvPr id="5" name="矩形 4">
              <a:extLst>
                <a:ext uri="{FF2B5EF4-FFF2-40B4-BE49-F238E27FC236}">
                  <a16:creationId xmlns:a16="http://schemas.microsoft.com/office/drawing/2014/main" id="{9F2822F5-6D2E-4033-8624-0A608DA6B1AF}"/>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22E48B0F-DDDA-4651-9705-C25639E32DEB}"/>
              </a:ext>
            </a:extLst>
          </p:cNvPr>
          <p:cNvGrpSpPr/>
          <p:nvPr/>
        </p:nvGrpSpPr>
        <p:grpSpPr>
          <a:xfrm>
            <a:off x="649324" y="1600200"/>
            <a:ext cx="3694076" cy="3966865"/>
            <a:chOff x="660981" y="2281535"/>
            <a:chExt cx="3617876" cy="3966865"/>
          </a:xfrm>
        </p:grpSpPr>
        <p:sp>
          <p:nvSpPr>
            <p:cNvPr id="7" name="Content Placeholder 2">
              <a:extLst>
                <a:ext uri="{FF2B5EF4-FFF2-40B4-BE49-F238E27FC236}">
                  <a16:creationId xmlns:a16="http://schemas.microsoft.com/office/drawing/2014/main" id="{DCB0B911-089D-4A75-905E-E2DBC8B91C4B}"/>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大众化推荐</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在同样的外部条件下，不同用户获得的推荐是一样的。</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如查询推荐，它往往只与当前的查询有关，很少与用户直接相关。</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1D7DE1F0-1619-4716-AAF4-C346D0C3F8A9}"/>
                </a:ext>
              </a:extLst>
            </p:cNvPr>
            <p:cNvSpPr txBox="1"/>
            <p:nvPr/>
          </p:nvSpPr>
          <p:spPr>
            <a:xfrm>
              <a:off x="660981" y="2281535"/>
              <a:ext cx="3617876"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推荐结果是否因人而异</a:t>
              </a:r>
            </a:p>
          </p:txBody>
        </p:sp>
        <p:cxnSp>
          <p:nvCxnSpPr>
            <p:cNvPr id="9" name="直接连接符 8">
              <a:extLst>
                <a:ext uri="{FF2B5EF4-FFF2-40B4-BE49-F238E27FC236}">
                  <a16:creationId xmlns:a16="http://schemas.microsoft.com/office/drawing/2014/main" id="{92AA58EF-A037-4EC5-AFBC-3A9795BE1C61}"/>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0" name="图片 9">
            <a:extLst>
              <a:ext uri="{FF2B5EF4-FFF2-40B4-BE49-F238E27FC236}">
                <a16:creationId xmlns:a16="http://schemas.microsoft.com/office/drawing/2014/main" id="{70290BD4-32BC-4450-A50C-659F9D69F339}"/>
              </a:ext>
            </a:extLst>
          </p:cNvPr>
          <p:cNvPicPr>
            <a:picLocks noChangeAspect="1"/>
          </p:cNvPicPr>
          <p:nvPr/>
        </p:nvPicPr>
        <p:blipFill rotWithShape="1">
          <a:blip r:embed="rId2" cstate="print">
            <a:grayscl/>
            <a:extLst>
              <a:ext uri="{28A0092B-C50C-407E-A947-70E740481C1C}">
                <a14:useLocalDpi xmlns:a14="http://schemas.microsoft.com/office/drawing/2010/main" val="0"/>
              </a:ext>
            </a:extLst>
          </a:blip>
          <a:srcRect b="23333"/>
          <a:stretch/>
        </p:blipFill>
        <p:spPr>
          <a:xfrm>
            <a:off x="5715000" y="2209800"/>
            <a:ext cx="2286000" cy="1752600"/>
          </a:xfrm>
          <a:prstGeom prst="rect">
            <a:avLst/>
          </a:prstGeom>
        </p:spPr>
      </p:pic>
    </p:spTree>
    <p:extLst>
      <p:ext uri="{BB962C8B-B14F-4D97-AF65-F5344CB8AC3E}">
        <p14:creationId xmlns:p14="http://schemas.microsoft.com/office/powerpoint/2010/main" val="2233066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B31DB2C6-95AF-43E7-BEA7-1FDBDA29B129}"/>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D2535ABC-844E-4D93-B0B9-6559D9D2476D}"/>
              </a:ext>
            </a:extLst>
          </p:cNvPr>
          <p:cNvGrpSpPr>
            <a:grpSpLocks/>
          </p:cNvGrpSpPr>
          <p:nvPr/>
        </p:nvGrpSpPr>
        <p:grpSpPr bwMode="auto">
          <a:xfrm>
            <a:off x="0" y="284163"/>
            <a:ext cx="2591026" cy="530225"/>
            <a:chOff x="2292213" y="284389"/>
            <a:chExt cx="2077974" cy="529772"/>
          </a:xfrm>
          <a:solidFill>
            <a:srgbClr val="024C89"/>
          </a:solidFill>
        </p:grpSpPr>
        <p:sp>
          <p:nvSpPr>
            <p:cNvPr id="4" name="矩形 3">
              <a:extLst>
                <a:ext uri="{FF2B5EF4-FFF2-40B4-BE49-F238E27FC236}">
                  <a16:creationId xmlns:a16="http://schemas.microsoft.com/office/drawing/2014/main" id="{09A9EF96-1856-46C8-88F5-62CC16DBACFA}"/>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推荐算法概述</a:t>
              </a:r>
            </a:p>
          </p:txBody>
        </p:sp>
        <p:sp>
          <p:nvSpPr>
            <p:cNvPr id="5" name="矩形 4">
              <a:extLst>
                <a:ext uri="{FF2B5EF4-FFF2-40B4-BE49-F238E27FC236}">
                  <a16:creationId xmlns:a16="http://schemas.microsoft.com/office/drawing/2014/main" id="{A7F542D5-AD3A-452B-AFCE-822358C06342}"/>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988945CE-82CA-4C66-AD0D-37ABF0AA1FF9}"/>
              </a:ext>
            </a:extLst>
          </p:cNvPr>
          <p:cNvGrpSpPr/>
          <p:nvPr/>
        </p:nvGrpSpPr>
        <p:grpSpPr>
          <a:xfrm>
            <a:off x="649324" y="1600200"/>
            <a:ext cx="3694076" cy="3966865"/>
            <a:chOff x="660981" y="2281535"/>
            <a:chExt cx="3617876" cy="3966865"/>
          </a:xfrm>
        </p:grpSpPr>
        <p:sp>
          <p:nvSpPr>
            <p:cNvPr id="7" name="Content Placeholder 2">
              <a:extLst>
                <a:ext uri="{FF2B5EF4-FFF2-40B4-BE49-F238E27FC236}">
                  <a16:creationId xmlns:a16="http://schemas.microsoft.com/office/drawing/2014/main" id="{96C2CE9B-0905-421F-B3BE-E1D978F01C03}"/>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大众化推荐</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在同样的外部条件下，不同用户获得的推荐是一样的。</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如查询推荐，它往往只与当前的查询有关，很少与用户直接相关。</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个性化推荐</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不同的人在不同的外部条件下，可以获得与其本身兴趣爱好、历史记录等相匹配的推荐。</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D6A62EB2-0F17-4CD7-B725-CE4E15A58937}"/>
                </a:ext>
              </a:extLst>
            </p:cNvPr>
            <p:cNvSpPr txBox="1"/>
            <p:nvPr/>
          </p:nvSpPr>
          <p:spPr>
            <a:xfrm>
              <a:off x="660981" y="2281535"/>
              <a:ext cx="3617876"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推荐结果是否因人而异</a:t>
              </a:r>
            </a:p>
          </p:txBody>
        </p:sp>
        <p:cxnSp>
          <p:nvCxnSpPr>
            <p:cNvPr id="9" name="直接连接符 8">
              <a:extLst>
                <a:ext uri="{FF2B5EF4-FFF2-40B4-BE49-F238E27FC236}">
                  <a16:creationId xmlns:a16="http://schemas.microsoft.com/office/drawing/2014/main" id="{78BEFDA6-19EA-406F-AE49-7D8E07A3B42B}"/>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0" name="Picture 2" descr="https://d30y9cdsu7xlg0.cloudfront.net/png/1268623-200.png">
            <a:extLst>
              <a:ext uri="{FF2B5EF4-FFF2-40B4-BE49-F238E27FC236}">
                <a16:creationId xmlns:a16="http://schemas.microsoft.com/office/drawing/2014/main" id="{DEE15E12-9AA7-451C-BE03-C6D3F9E0C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373380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0445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634C0B1-8949-4F2A-9E76-A315BF25949E}"/>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9688D5ED-7CE0-42AE-A0F7-FE550C3EC1CF}"/>
              </a:ext>
            </a:extLst>
          </p:cNvPr>
          <p:cNvGrpSpPr>
            <a:grpSpLocks/>
          </p:cNvGrpSpPr>
          <p:nvPr/>
        </p:nvGrpSpPr>
        <p:grpSpPr bwMode="auto">
          <a:xfrm>
            <a:off x="0" y="284163"/>
            <a:ext cx="2591026" cy="530225"/>
            <a:chOff x="2292213" y="284389"/>
            <a:chExt cx="2077974" cy="529772"/>
          </a:xfrm>
          <a:solidFill>
            <a:srgbClr val="024C89"/>
          </a:solidFill>
        </p:grpSpPr>
        <p:sp>
          <p:nvSpPr>
            <p:cNvPr id="4" name="矩形 3">
              <a:extLst>
                <a:ext uri="{FF2B5EF4-FFF2-40B4-BE49-F238E27FC236}">
                  <a16:creationId xmlns:a16="http://schemas.microsoft.com/office/drawing/2014/main" id="{C5786DC1-FF20-49D4-BF2D-6CB50F8C8AA9}"/>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推荐算法概述</a:t>
              </a:r>
            </a:p>
          </p:txBody>
        </p:sp>
        <p:sp>
          <p:nvSpPr>
            <p:cNvPr id="5" name="矩形 4">
              <a:extLst>
                <a:ext uri="{FF2B5EF4-FFF2-40B4-BE49-F238E27FC236}">
                  <a16:creationId xmlns:a16="http://schemas.microsoft.com/office/drawing/2014/main" id="{CD2C800E-DF22-4F9A-ABAD-6A0AE6E5DD99}"/>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ECDB87D8-5381-4668-B7F5-61F5BA4C2F56}"/>
              </a:ext>
            </a:extLst>
          </p:cNvPr>
          <p:cNvGrpSpPr/>
          <p:nvPr/>
        </p:nvGrpSpPr>
        <p:grpSpPr>
          <a:xfrm>
            <a:off x="649324" y="1600200"/>
            <a:ext cx="3846476" cy="3966865"/>
            <a:chOff x="660981" y="2281535"/>
            <a:chExt cx="3767132" cy="3966865"/>
          </a:xfrm>
        </p:grpSpPr>
        <p:sp>
          <p:nvSpPr>
            <p:cNvPr id="7" name="Content Placeholder 2">
              <a:extLst>
                <a:ext uri="{FF2B5EF4-FFF2-40B4-BE49-F238E27FC236}">
                  <a16:creationId xmlns:a16="http://schemas.microsoft.com/office/drawing/2014/main" id="{F3793E75-0A8D-401E-B16A-3BB36A2A1C37}"/>
                </a:ext>
              </a:extLst>
            </p:cNvPr>
            <p:cNvSpPr txBox="1">
              <a:spLocks/>
            </p:cNvSpPr>
            <p:nvPr/>
          </p:nvSpPr>
          <p:spPr>
            <a:xfrm>
              <a:off x="670029" y="2819400"/>
              <a:ext cx="3758084"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en-US" altLang="zh-CN" sz="2200" dirty="0">
                  <a:solidFill>
                    <a:schemeClr val="tx1">
                      <a:lumMod val="75000"/>
                      <a:lumOff val="25000"/>
                    </a:schemeClr>
                  </a:solidFill>
                  <a:latin typeface="Calibri" panose="020F0502020204030204" pitchFamily="34" charset="0"/>
                  <a:ea typeface="等线" panose="02010600030101010101" pitchFamily="2" charset="-122"/>
                </a:rPr>
                <a:t>1 </a:t>
              </a: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基于人口统计学的推荐</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en-US" altLang="zh-CN" sz="1400" dirty="0">
                  <a:solidFill>
                    <a:schemeClr val="tx1">
                      <a:lumMod val="75000"/>
                      <a:lumOff val="25000"/>
                    </a:schemeClr>
                  </a:solidFill>
                  <a:latin typeface="Calibri" panose="020F0502020204030204" pitchFamily="34" charset="0"/>
                  <a:ea typeface="等线" panose="02010600030101010101" pitchFamily="2" charset="-122"/>
                </a:rPr>
                <a:t>      Demographic-based Recommendation</a:t>
              </a:r>
            </a:p>
            <a:p>
              <a:pPr marL="0" indent="0" algn="just">
                <a:lnSpc>
                  <a:spcPct val="125000"/>
                </a:lnSpc>
                <a:spcBef>
                  <a:spcPts val="600"/>
                </a:spcBef>
                <a:buNone/>
              </a:pPr>
              <a:r>
                <a:rPr lang="en-US" altLang="zh-CN" sz="2200" dirty="0">
                  <a:solidFill>
                    <a:schemeClr val="tx1">
                      <a:lumMod val="75000"/>
                      <a:lumOff val="25000"/>
                    </a:schemeClr>
                  </a:solidFill>
                  <a:latin typeface="Calibri" panose="020F0502020204030204" pitchFamily="34" charset="0"/>
                  <a:ea typeface="等线" panose="02010600030101010101" pitchFamily="2" charset="-122"/>
                </a:rPr>
                <a:t>2 </a:t>
              </a: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基于内容的推荐</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en-US" altLang="zh-CN" sz="1400" dirty="0">
                  <a:solidFill>
                    <a:schemeClr val="tx1">
                      <a:lumMod val="75000"/>
                      <a:lumOff val="25000"/>
                    </a:schemeClr>
                  </a:solidFill>
                  <a:latin typeface="Calibri" panose="020F0502020204030204" pitchFamily="34" charset="0"/>
                  <a:ea typeface="等线" panose="02010600030101010101" pitchFamily="2" charset="-122"/>
                </a:rPr>
                <a:t>      Content-based Recommendation</a:t>
              </a:r>
            </a:p>
            <a:p>
              <a:pPr marL="0" indent="0" algn="just">
                <a:lnSpc>
                  <a:spcPct val="125000"/>
                </a:lnSpc>
                <a:spcBef>
                  <a:spcPts val="600"/>
                </a:spcBef>
                <a:buNone/>
              </a:pPr>
              <a:r>
                <a:rPr lang="en-US" altLang="zh-CN" sz="2200" dirty="0">
                  <a:solidFill>
                    <a:schemeClr val="tx1">
                      <a:lumMod val="75000"/>
                      <a:lumOff val="25000"/>
                    </a:schemeClr>
                  </a:solidFill>
                  <a:latin typeface="Calibri" panose="020F0502020204030204" pitchFamily="34" charset="0"/>
                  <a:ea typeface="等线" panose="02010600030101010101" pitchFamily="2" charset="-122"/>
                </a:rPr>
                <a:t>3 </a:t>
              </a: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基于协同过滤的推荐</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nSpc>
                  <a:spcPct val="125000"/>
                </a:lnSpc>
                <a:spcBef>
                  <a:spcPts val="600"/>
                </a:spcBef>
                <a:buNone/>
              </a:pPr>
              <a:r>
                <a:rPr lang="en-US" altLang="zh-CN" sz="1400" dirty="0">
                  <a:solidFill>
                    <a:schemeClr val="tx1">
                      <a:lumMod val="75000"/>
                      <a:lumOff val="25000"/>
                    </a:schemeClr>
                  </a:solidFill>
                  <a:latin typeface="Calibri" panose="020F0502020204030204" pitchFamily="34" charset="0"/>
                  <a:ea typeface="等线" panose="02010600030101010101" pitchFamily="2" charset="-122"/>
                </a:rPr>
                <a:t>      Collaborative Filtering-based Recommendation</a:t>
              </a:r>
            </a:p>
          </p:txBody>
        </p:sp>
        <p:sp>
          <p:nvSpPr>
            <p:cNvPr id="8" name="文本框 7">
              <a:extLst>
                <a:ext uri="{FF2B5EF4-FFF2-40B4-BE49-F238E27FC236}">
                  <a16:creationId xmlns:a16="http://schemas.microsoft.com/office/drawing/2014/main" id="{4475D6B2-AC63-4B03-9446-7C6D95B6D5BA}"/>
                </a:ext>
              </a:extLst>
            </p:cNvPr>
            <p:cNvSpPr txBox="1"/>
            <p:nvPr/>
          </p:nvSpPr>
          <p:spPr>
            <a:xfrm>
              <a:off x="660981" y="2281535"/>
              <a:ext cx="3617876"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不同的推荐方法</a:t>
              </a:r>
            </a:p>
          </p:txBody>
        </p:sp>
        <p:cxnSp>
          <p:nvCxnSpPr>
            <p:cNvPr id="9" name="直接连接符 8">
              <a:extLst>
                <a:ext uri="{FF2B5EF4-FFF2-40B4-BE49-F238E27FC236}">
                  <a16:creationId xmlns:a16="http://schemas.microsoft.com/office/drawing/2014/main" id="{EF2F0DEB-656D-4024-9826-54574B234CFB}"/>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0" name="Picture 6" descr="https://d30y9cdsu7xlg0.cloudfront.net/png/861641-200.png">
            <a:extLst>
              <a:ext uri="{FF2B5EF4-FFF2-40B4-BE49-F238E27FC236}">
                <a16:creationId xmlns:a16="http://schemas.microsoft.com/office/drawing/2014/main" id="{459A4FC9-4853-4AF4-99E6-19C08A4BF1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251460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8439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63D4AB25-D826-4C28-A2B0-5397D9A535AD}"/>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A865CC10-6F47-4B4B-BF18-7A00799ED12A}"/>
              </a:ext>
            </a:extLst>
          </p:cNvPr>
          <p:cNvGrpSpPr>
            <a:grpSpLocks/>
          </p:cNvGrpSpPr>
          <p:nvPr/>
        </p:nvGrpSpPr>
        <p:grpSpPr bwMode="auto">
          <a:xfrm>
            <a:off x="0" y="284163"/>
            <a:ext cx="2591026" cy="530225"/>
            <a:chOff x="2292213" y="284389"/>
            <a:chExt cx="2077974" cy="529772"/>
          </a:xfrm>
          <a:solidFill>
            <a:srgbClr val="024C89"/>
          </a:solidFill>
        </p:grpSpPr>
        <p:sp>
          <p:nvSpPr>
            <p:cNvPr id="4" name="矩形 3">
              <a:extLst>
                <a:ext uri="{FF2B5EF4-FFF2-40B4-BE49-F238E27FC236}">
                  <a16:creationId xmlns:a16="http://schemas.microsoft.com/office/drawing/2014/main" id="{364AEF4D-64A7-4B26-9134-E8352AD8B585}"/>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推荐算法概述</a:t>
              </a:r>
            </a:p>
          </p:txBody>
        </p:sp>
        <p:sp>
          <p:nvSpPr>
            <p:cNvPr id="5" name="矩形 4">
              <a:extLst>
                <a:ext uri="{FF2B5EF4-FFF2-40B4-BE49-F238E27FC236}">
                  <a16:creationId xmlns:a16="http://schemas.microsoft.com/office/drawing/2014/main" id="{5F8F07D1-1A68-4499-960B-640F4CA9F250}"/>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FE9004F3-DA79-4E14-8698-815E269813B2}"/>
              </a:ext>
            </a:extLst>
          </p:cNvPr>
          <p:cNvGrpSpPr/>
          <p:nvPr/>
        </p:nvGrpSpPr>
        <p:grpSpPr>
          <a:xfrm>
            <a:off x="649324" y="1600200"/>
            <a:ext cx="3453819" cy="3966865"/>
            <a:chOff x="660981" y="2281535"/>
            <a:chExt cx="3453819" cy="3966865"/>
          </a:xfrm>
        </p:grpSpPr>
        <p:sp>
          <p:nvSpPr>
            <p:cNvPr id="7" name="Content Placeholder 2">
              <a:extLst>
                <a:ext uri="{FF2B5EF4-FFF2-40B4-BE49-F238E27FC236}">
                  <a16:creationId xmlns:a16="http://schemas.microsoft.com/office/drawing/2014/main" id="{073908A1-0628-43AA-BAFF-278F7937DBBF}"/>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主要思想</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一个用户可能会喜欢与其相似的用户所喜欢的东西。</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实施方法</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记录每一用户的性别、年龄、活跃时间等元数据。</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当我们需要对一个用户进行个性化推荐时，利用元数据计算与其他用户之间的相似度，并选出最相似的几个用户，进而利用这些用户的购买记录进行推荐。</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E93D8391-9FBA-4309-846C-14CD6A9178A5}"/>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基于人口统计学的推荐</a:t>
              </a:r>
            </a:p>
          </p:txBody>
        </p:sp>
        <p:cxnSp>
          <p:nvCxnSpPr>
            <p:cNvPr id="9" name="直接连接符 8">
              <a:extLst>
                <a:ext uri="{FF2B5EF4-FFF2-40B4-BE49-F238E27FC236}">
                  <a16:creationId xmlns:a16="http://schemas.microsoft.com/office/drawing/2014/main" id="{659F98D0-60A5-4325-AF16-8C867474BDE1}"/>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4CC945E6-1691-4622-B225-8E79248D1876}"/>
              </a:ext>
            </a:extLst>
          </p:cNvPr>
          <p:cNvSpPr txBox="1">
            <a:spLocks/>
          </p:cNvSpPr>
          <p:nvPr/>
        </p:nvSpPr>
        <p:spPr>
          <a:xfrm>
            <a:off x="5105400" y="2138065"/>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优点</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计算简单。</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缺点</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可信度较低。即便是性别、年龄等源数据属性相同的用户，也可能在物品上有着截然不同的爱好。</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基于人口统计学的方法在实际推荐系统中很少作为一个特点的方法单独使用，而常常与其他方法结合，利用用户元数据对推荐结果进行进一步的优化。</a:t>
            </a:r>
            <a:endParaRPr lang="en-US" altLang="zh-CN" sz="1800" dirty="0">
              <a:solidFill>
                <a:srgbClr val="0070C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5882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FB931E34-0997-4688-AA02-D25E066C4B53}"/>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E6FE65A1-F394-41AE-9266-383E6D1A40C6}"/>
              </a:ext>
            </a:extLst>
          </p:cNvPr>
          <p:cNvGrpSpPr>
            <a:grpSpLocks/>
          </p:cNvGrpSpPr>
          <p:nvPr/>
        </p:nvGrpSpPr>
        <p:grpSpPr bwMode="auto">
          <a:xfrm>
            <a:off x="0" y="284163"/>
            <a:ext cx="2591026" cy="530225"/>
            <a:chOff x="2292213" y="284389"/>
            <a:chExt cx="2077974" cy="529772"/>
          </a:xfrm>
          <a:solidFill>
            <a:srgbClr val="024C89"/>
          </a:solidFill>
        </p:grpSpPr>
        <p:sp>
          <p:nvSpPr>
            <p:cNvPr id="4" name="矩形 3">
              <a:extLst>
                <a:ext uri="{FF2B5EF4-FFF2-40B4-BE49-F238E27FC236}">
                  <a16:creationId xmlns:a16="http://schemas.microsoft.com/office/drawing/2014/main" id="{AA104150-A1EA-4AA2-B051-86500F77AA8C}"/>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推荐算法概述</a:t>
              </a:r>
            </a:p>
          </p:txBody>
        </p:sp>
        <p:sp>
          <p:nvSpPr>
            <p:cNvPr id="5" name="矩形 4">
              <a:extLst>
                <a:ext uri="{FF2B5EF4-FFF2-40B4-BE49-F238E27FC236}">
                  <a16:creationId xmlns:a16="http://schemas.microsoft.com/office/drawing/2014/main" id="{71F7B153-5D7D-465A-8002-A3CE07F46546}"/>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37E93C2E-EBF7-4074-89E7-43FB83AE60A9}"/>
              </a:ext>
            </a:extLst>
          </p:cNvPr>
          <p:cNvGrpSpPr/>
          <p:nvPr/>
        </p:nvGrpSpPr>
        <p:grpSpPr>
          <a:xfrm>
            <a:off x="649324" y="1600200"/>
            <a:ext cx="3453819" cy="3966865"/>
            <a:chOff x="660981" y="2281535"/>
            <a:chExt cx="3453819" cy="3966865"/>
          </a:xfrm>
        </p:grpSpPr>
        <p:sp>
          <p:nvSpPr>
            <p:cNvPr id="7" name="Content Placeholder 2">
              <a:extLst>
                <a:ext uri="{FF2B5EF4-FFF2-40B4-BE49-F238E27FC236}">
                  <a16:creationId xmlns:a16="http://schemas.microsoft.com/office/drawing/2014/main" id="{EB0D7B87-8A0E-4CBB-A5CE-3EAA46AB850E}"/>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主要思想</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一个用户可能会喜欢和他曾经喜欢过的物品相似的物品。</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用户画像</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一种简单的推荐方法是，考虑该用户曾经购买或浏览过的所有物品，并将这些物品的内容信息加权整合作为对应用户的画像。然后计算用户画像和其他物品之间的相似度。</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D04CD738-0B66-45B0-AB78-213A9A69E4D6}"/>
                </a:ext>
              </a:extLst>
            </p:cNvPr>
            <p:cNvSpPr txBox="1"/>
            <p:nvPr/>
          </p:nvSpPr>
          <p:spPr>
            <a:xfrm>
              <a:off x="660981" y="2281535"/>
              <a:ext cx="26918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基于内容的推荐</a:t>
              </a:r>
            </a:p>
          </p:txBody>
        </p:sp>
        <p:cxnSp>
          <p:nvCxnSpPr>
            <p:cNvPr id="9" name="直接连接符 8">
              <a:extLst>
                <a:ext uri="{FF2B5EF4-FFF2-40B4-BE49-F238E27FC236}">
                  <a16:creationId xmlns:a16="http://schemas.microsoft.com/office/drawing/2014/main" id="{50465BBB-5370-453A-8E5A-8961BE73FA8D}"/>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DC8A2201-6556-415D-8D96-D3EE10BD153E}"/>
              </a:ext>
            </a:extLst>
          </p:cNvPr>
          <p:cNvGrpSpPr/>
          <p:nvPr/>
        </p:nvGrpSpPr>
        <p:grpSpPr>
          <a:xfrm>
            <a:off x="5181600" y="2138065"/>
            <a:ext cx="3034002" cy="3864339"/>
            <a:chOff x="5229016" y="2285999"/>
            <a:chExt cx="3034002" cy="3864339"/>
          </a:xfrm>
        </p:grpSpPr>
        <p:pic>
          <p:nvPicPr>
            <p:cNvPr id="11" name="Picture 2" descr="https://d30y9cdsu7xlg0.cloudfront.net/png/1375593-200.png">
              <a:extLst>
                <a:ext uri="{FF2B5EF4-FFF2-40B4-BE49-F238E27FC236}">
                  <a16:creationId xmlns:a16="http://schemas.microsoft.com/office/drawing/2014/main" id="{DF246A56-B43D-48DB-A571-C9DB35E8A2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4818" y="4489083"/>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https://d30y9cdsu7xlg0.cloudfront.net/png/1375591-200.png">
              <a:extLst>
                <a:ext uri="{FF2B5EF4-FFF2-40B4-BE49-F238E27FC236}">
                  <a16:creationId xmlns:a16="http://schemas.microsoft.com/office/drawing/2014/main" id="{0603989D-6A80-4FFF-9A7C-D2E66AAA42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016" y="5327283"/>
              <a:ext cx="823055" cy="82305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s://d30y9cdsu7xlg0.cloudfront.net/png/1268623-200.png">
              <a:extLst>
                <a:ext uri="{FF2B5EF4-FFF2-40B4-BE49-F238E27FC236}">
                  <a16:creationId xmlns:a16="http://schemas.microsoft.com/office/drawing/2014/main" id="{784D7AA0-758B-4A0B-94B9-263224D9B5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8287" y="2285999"/>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4" name="下箭头 19">
              <a:extLst>
                <a:ext uri="{FF2B5EF4-FFF2-40B4-BE49-F238E27FC236}">
                  <a16:creationId xmlns:a16="http://schemas.microsoft.com/office/drawing/2014/main" id="{805954EE-04B6-4FAD-B016-4ACFF3171DFF}"/>
                </a:ext>
              </a:extLst>
            </p:cNvPr>
            <p:cNvSpPr/>
            <p:nvPr/>
          </p:nvSpPr>
          <p:spPr bwMode="auto">
            <a:xfrm rot="12519498">
              <a:off x="6034010" y="3931008"/>
              <a:ext cx="280855" cy="1424222"/>
            </a:xfrm>
            <a:prstGeom prst="downArrow">
              <a:avLst>
                <a:gd name="adj1" fmla="val 50000"/>
                <a:gd name="adj2" fmla="val 97228"/>
              </a:avLst>
            </a:prstGeom>
            <a:solidFill>
              <a:srgbClr val="00B050"/>
            </a:solidFill>
            <a:ln w="28575">
              <a:noFill/>
              <a:round/>
              <a:headEnd/>
              <a:tailEnd type="triangle" w="med" len="med"/>
            </a:ln>
          </p:spPr>
          <p:txBody>
            <a:bodyPr rtlCol="0" anchor="ctr"/>
            <a:lstStyle/>
            <a:p>
              <a:pPr algn="ctr"/>
              <a:endParaRPr lang="zh-CN" altLang="en-US"/>
            </a:p>
          </p:txBody>
        </p:sp>
        <p:sp>
          <p:nvSpPr>
            <p:cNvPr id="15" name="下箭头 22">
              <a:extLst>
                <a:ext uri="{FF2B5EF4-FFF2-40B4-BE49-F238E27FC236}">
                  <a16:creationId xmlns:a16="http://schemas.microsoft.com/office/drawing/2014/main" id="{F4C2D07C-01DB-4280-98BF-490F61E837F3}"/>
                </a:ext>
              </a:extLst>
            </p:cNvPr>
            <p:cNvSpPr/>
            <p:nvPr/>
          </p:nvSpPr>
          <p:spPr bwMode="auto">
            <a:xfrm rot="8388844">
              <a:off x="7272390" y="4008303"/>
              <a:ext cx="304857" cy="457305"/>
            </a:xfrm>
            <a:prstGeom prst="downArrow">
              <a:avLst>
                <a:gd name="adj1" fmla="val 50000"/>
                <a:gd name="adj2" fmla="val 66509"/>
              </a:avLst>
            </a:prstGeom>
            <a:solidFill>
              <a:srgbClr val="00B050"/>
            </a:solidFill>
            <a:ln w="28575">
              <a:noFill/>
              <a:round/>
              <a:headEnd/>
              <a:tailEnd type="triangle" w="med" len="med"/>
            </a:ln>
          </p:spPr>
          <p:txBody>
            <a:bodyPr rtlCol="0" anchor="ctr"/>
            <a:lstStyle/>
            <a:p>
              <a:pPr algn="ctr"/>
              <a:endParaRPr lang="zh-CN" altLang="en-US"/>
            </a:p>
          </p:txBody>
        </p:sp>
      </p:grpSp>
    </p:spTree>
    <p:extLst>
      <p:ext uri="{BB962C8B-B14F-4D97-AF65-F5344CB8AC3E}">
        <p14:creationId xmlns:p14="http://schemas.microsoft.com/office/powerpoint/2010/main" val="139374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69E22775-6FD7-4172-8F3F-5CF6259F5ED4}"/>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560E0274-8D12-4E02-BF9C-50A2F8F80FA9}"/>
              </a:ext>
            </a:extLst>
          </p:cNvPr>
          <p:cNvGrpSpPr>
            <a:grpSpLocks/>
          </p:cNvGrpSpPr>
          <p:nvPr/>
        </p:nvGrpSpPr>
        <p:grpSpPr bwMode="auto">
          <a:xfrm>
            <a:off x="0" y="284163"/>
            <a:ext cx="2591026" cy="530225"/>
            <a:chOff x="2292213" y="284389"/>
            <a:chExt cx="2077974" cy="529772"/>
          </a:xfrm>
          <a:solidFill>
            <a:srgbClr val="024C89"/>
          </a:solidFill>
        </p:grpSpPr>
        <p:sp>
          <p:nvSpPr>
            <p:cNvPr id="4" name="矩形 3">
              <a:extLst>
                <a:ext uri="{FF2B5EF4-FFF2-40B4-BE49-F238E27FC236}">
                  <a16:creationId xmlns:a16="http://schemas.microsoft.com/office/drawing/2014/main" id="{58D8A5CF-930F-47FE-9EBF-51CA95272BF0}"/>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推荐算法概述</a:t>
              </a:r>
            </a:p>
          </p:txBody>
        </p:sp>
        <p:sp>
          <p:nvSpPr>
            <p:cNvPr id="5" name="矩形 4">
              <a:extLst>
                <a:ext uri="{FF2B5EF4-FFF2-40B4-BE49-F238E27FC236}">
                  <a16:creationId xmlns:a16="http://schemas.microsoft.com/office/drawing/2014/main" id="{85D59D9B-2342-4D78-A344-B5671F7D546E}"/>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358707A9-AA4B-4C26-99A4-35601A72E094}"/>
              </a:ext>
            </a:extLst>
          </p:cNvPr>
          <p:cNvGrpSpPr/>
          <p:nvPr/>
        </p:nvGrpSpPr>
        <p:grpSpPr>
          <a:xfrm>
            <a:off x="649324" y="1600200"/>
            <a:ext cx="3694076" cy="3966865"/>
            <a:chOff x="660981" y="2281535"/>
            <a:chExt cx="3453819" cy="3966865"/>
          </a:xfrm>
        </p:grpSpPr>
        <p:sp>
          <p:nvSpPr>
            <p:cNvPr id="7" name="Content Placeholder 2">
              <a:extLst>
                <a:ext uri="{FF2B5EF4-FFF2-40B4-BE49-F238E27FC236}">
                  <a16:creationId xmlns:a16="http://schemas.microsoft.com/office/drawing/2014/main" id="{1FD18501-540F-414F-81E2-E05848D3F40E}"/>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spcBef>
                  <a:spcPts val="600"/>
                </a:spcBef>
                <a:buNone/>
              </a:pP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优点</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a:p>
              <a:pPr marL="285750" indent="-285750" algn="just">
                <a:lnSpc>
                  <a:spcPct val="110000"/>
                </a:lnSpc>
                <a:spcBef>
                  <a:spcPts val="600"/>
                </a:spcBef>
                <a:buFont typeface="Wingdings" panose="05000000000000000000" pitchFamily="2" charset="2"/>
                <a:buChar char="ü"/>
              </a:pPr>
              <a:r>
                <a:rPr lang="zh-CN" altLang="en-US" sz="1800" dirty="0">
                  <a:solidFill>
                    <a:srgbClr val="0070C0"/>
                  </a:solidFill>
                  <a:latin typeface="等线" panose="02010600030101010101" pitchFamily="2" charset="-122"/>
                  <a:ea typeface="等线" panose="02010600030101010101" pitchFamily="2" charset="-122"/>
                </a:rPr>
                <a:t>很好地解决了新物品的冷启动问题。</a:t>
              </a:r>
              <a:endParaRPr lang="en-US" altLang="zh-CN" sz="1800" dirty="0">
                <a:solidFill>
                  <a:srgbClr val="0070C0"/>
                </a:solidFill>
                <a:latin typeface="等线" panose="02010600030101010101" pitchFamily="2" charset="-122"/>
                <a:ea typeface="等线" panose="02010600030101010101" pitchFamily="2" charset="-122"/>
              </a:endParaRPr>
            </a:p>
            <a:p>
              <a:pPr marL="285750" indent="-285750" algn="just">
                <a:lnSpc>
                  <a:spcPct val="110000"/>
                </a:lnSpc>
                <a:spcBef>
                  <a:spcPts val="600"/>
                </a:spcBef>
                <a:buFont typeface="Wingdings" panose="05000000000000000000" pitchFamily="2" charset="2"/>
                <a:buChar char="ü"/>
              </a:pPr>
              <a:r>
                <a:rPr lang="zh-CN" altLang="en-US" sz="1800" dirty="0">
                  <a:solidFill>
                    <a:srgbClr val="0070C0"/>
                  </a:solidFill>
                  <a:latin typeface="等线" panose="02010600030101010101" pitchFamily="2" charset="-122"/>
                  <a:ea typeface="等线" panose="02010600030101010101" pitchFamily="2" charset="-122"/>
                </a:rPr>
                <a:t>推荐结果有较好的可解释性。</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3BE3EF34-58D9-4818-89F6-5C0ACFEC4C0F}"/>
                </a:ext>
              </a:extLst>
            </p:cNvPr>
            <p:cNvSpPr txBox="1"/>
            <p:nvPr/>
          </p:nvSpPr>
          <p:spPr>
            <a:xfrm>
              <a:off x="660981" y="2281535"/>
              <a:ext cx="26918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基于内容的推荐</a:t>
              </a:r>
            </a:p>
          </p:txBody>
        </p:sp>
        <p:cxnSp>
          <p:nvCxnSpPr>
            <p:cNvPr id="9" name="直接连接符 8">
              <a:extLst>
                <a:ext uri="{FF2B5EF4-FFF2-40B4-BE49-F238E27FC236}">
                  <a16:creationId xmlns:a16="http://schemas.microsoft.com/office/drawing/2014/main" id="{40A80A47-D2AB-4923-9E0F-306878B11822}"/>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0" name="Picture 2" descr="https://d30y9cdsu7xlg0.cloudfront.net/png/676344-200.png">
            <a:extLst>
              <a:ext uri="{FF2B5EF4-FFF2-40B4-BE49-F238E27FC236}">
                <a16:creationId xmlns:a16="http://schemas.microsoft.com/office/drawing/2014/main" id="{BFA727DF-4AA4-4417-ACF9-1F959E358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947565"/>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3950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7B85440-08A1-434F-82F2-A2400C3EF440}"/>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2D01ED12-EA86-4450-B83D-94512A78EFFB}"/>
              </a:ext>
            </a:extLst>
          </p:cNvPr>
          <p:cNvGrpSpPr>
            <a:grpSpLocks/>
          </p:cNvGrpSpPr>
          <p:nvPr/>
        </p:nvGrpSpPr>
        <p:grpSpPr bwMode="auto">
          <a:xfrm>
            <a:off x="0" y="284163"/>
            <a:ext cx="2591026" cy="530225"/>
            <a:chOff x="2292213" y="284389"/>
            <a:chExt cx="2077974" cy="529772"/>
          </a:xfrm>
          <a:solidFill>
            <a:srgbClr val="024C89"/>
          </a:solidFill>
        </p:grpSpPr>
        <p:sp>
          <p:nvSpPr>
            <p:cNvPr id="4" name="矩形 3">
              <a:extLst>
                <a:ext uri="{FF2B5EF4-FFF2-40B4-BE49-F238E27FC236}">
                  <a16:creationId xmlns:a16="http://schemas.microsoft.com/office/drawing/2014/main" id="{89FFA43B-BD04-4C0D-9AAB-EFB1220F0485}"/>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推荐算法概述</a:t>
              </a:r>
            </a:p>
          </p:txBody>
        </p:sp>
        <p:sp>
          <p:nvSpPr>
            <p:cNvPr id="5" name="矩形 4">
              <a:extLst>
                <a:ext uri="{FF2B5EF4-FFF2-40B4-BE49-F238E27FC236}">
                  <a16:creationId xmlns:a16="http://schemas.microsoft.com/office/drawing/2014/main" id="{77EECA3A-C6C8-4BB5-A301-28527925D140}"/>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E12E6FC9-8F5B-4B2E-BEBC-DC2960B74351}"/>
              </a:ext>
            </a:extLst>
          </p:cNvPr>
          <p:cNvGrpSpPr/>
          <p:nvPr/>
        </p:nvGrpSpPr>
        <p:grpSpPr>
          <a:xfrm>
            <a:off x="649324" y="1600200"/>
            <a:ext cx="3694076" cy="3966865"/>
            <a:chOff x="660981" y="2281535"/>
            <a:chExt cx="3453819" cy="3966865"/>
          </a:xfrm>
        </p:grpSpPr>
        <p:sp>
          <p:nvSpPr>
            <p:cNvPr id="7" name="Content Placeholder 2">
              <a:extLst>
                <a:ext uri="{FF2B5EF4-FFF2-40B4-BE49-F238E27FC236}">
                  <a16:creationId xmlns:a16="http://schemas.microsoft.com/office/drawing/2014/main" id="{958BFC10-5708-4A68-AA75-C559CCBAD0D2}"/>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spcBef>
                  <a:spcPts val="600"/>
                </a:spcBef>
                <a:buNone/>
              </a:pP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优点</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a:p>
              <a:pPr marL="285750" indent="-285750" algn="just">
                <a:lnSpc>
                  <a:spcPct val="110000"/>
                </a:lnSpc>
                <a:spcBef>
                  <a:spcPts val="600"/>
                </a:spcBef>
                <a:buFont typeface="Wingdings" panose="05000000000000000000" pitchFamily="2" charset="2"/>
                <a:buChar char="ü"/>
              </a:pPr>
              <a:r>
                <a:rPr lang="zh-CN" altLang="en-US" sz="1800" dirty="0">
                  <a:solidFill>
                    <a:srgbClr val="0070C0"/>
                  </a:solidFill>
                  <a:latin typeface="等线" panose="02010600030101010101" pitchFamily="2" charset="-122"/>
                  <a:ea typeface="等线" panose="02010600030101010101" pitchFamily="2" charset="-122"/>
                </a:rPr>
                <a:t>很好地解决了新物品的冷启动问题。</a:t>
              </a:r>
              <a:endParaRPr lang="en-US" altLang="zh-CN" sz="1800" dirty="0">
                <a:solidFill>
                  <a:srgbClr val="0070C0"/>
                </a:solidFill>
                <a:latin typeface="等线" panose="02010600030101010101" pitchFamily="2" charset="-122"/>
                <a:ea typeface="等线" panose="02010600030101010101" pitchFamily="2" charset="-122"/>
              </a:endParaRPr>
            </a:p>
            <a:p>
              <a:pPr marL="285750" indent="-285750" algn="just">
                <a:lnSpc>
                  <a:spcPct val="110000"/>
                </a:lnSpc>
                <a:spcBef>
                  <a:spcPts val="600"/>
                </a:spcBef>
                <a:buFont typeface="Wingdings" panose="05000000000000000000" pitchFamily="2" charset="2"/>
                <a:buChar char="ü"/>
              </a:pPr>
              <a:r>
                <a:rPr lang="zh-CN" altLang="en-US" sz="1800" dirty="0">
                  <a:solidFill>
                    <a:srgbClr val="0070C0"/>
                  </a:solidFill>
                  <a:latin typeface="等线" panose="02010600030101010101" pitchFamily="2" charset="-122"/>
                  <a:ea typeface="等线" panose="02010600030101010101" pitchFamily="2" charset="-122"/>
                </a:rPr>
                <a:t>推荐结果有较好的可解释性。</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缺点</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a:p>
              <a:pPr marL="285750" indent="-285750" algn="just">
                <a:lnSpc>
                  <a:spcPct val="110000"/>
                </a:lnSpc>
                <a:spcBef>
                  <a:spcPts val="600"/>
                </a:spcBef>
                <a:buFont typeface="Wingdings" panose="05000000000000000000" pitchFamily="2" charset="2"/>
                <a:buChar char="p"/>
              </a:pPr>
              <a:r>
                <a:rPr lang="zh-CN" altLang="en-US" sz="1800" dirty="0">
                  <a:solidFill>
                    <a:srgbClr val="0070C0"/>
                  </a:solidFill>
                  <a:latin typeface="等线" panose="02010600030101010101" pitchFamily="2" charset="-122"/>
                  <a:ea typeface="等线" panose="02010600030101010101" pitchFamily="2" charset="-122"/>
                </a:rPr>
                <a:t>为了得到物品的特征，系统需要复杂的模块甚至手工的方法来对物品信息进行预处理。</a:t>
              </a:r>
              <a:endParaRPr lang="en-US" altLang="zh-CN" sz="1800" dirty="0">
                <a:solidFill>
                  <a:srgbClr val="0070C0"/>
                </a:solidFill>
                <a:latin typeface="等线" panose="02010600030101010101" pitchFamily="2" charset="-122"/>
                <a:ea typeface="等线" panose="02010600030101010101" pitchFamily="2" charset="-122"/>
              </a:endParaRPr>
            </a:p>
            <a:p>
              <a:pPr marL="285750" indent="-285750" algn="just">
                <a:lnSpc>
                  <a:spcPct val="110000"/>
                </a:lnSpc>
                <a:spcBef>
                  <a:spcPts val="600"/>
                </a:spcBef>
                <a:buFont typeface="Wingdings" panose="05000000000000000000" pitchFamily="2" charset="2"/>
                <a:buChar char="p"/>
              </a:pPr>
              <a:r>
                <a:rPr lang="zh-CN" altLang="en-US" sz="1800" dirty="0">
                  <a:solidFill>
                    <a:srgbClr val="0070C0"/>
                  </a:solidFill>
                  <a:latin typeface="等线" panose="02010600030101010101" pitchFamily="2" charset="-122"/>
                  <a:ea typeface="等线" panose="02010600030101010101" pitchFamily="2" charset="-122"/>
                </a:rPr>
                <a:t>很难发现用户并不熟悉但是具有潜在兴趣的物品。</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1CF757A9-38FC-485D-913A-5929D47900EB}"/>
                </a:ext>
              </a:extLst>
            </p:cNvPr>
            <p:cNvSpPr txBox="1"/>
            <p:nvPr/>
          </p:nvSpPr>
          <p:spPr>
            <a:xfrm>
              <a:off x="660981" y="2281535"/>
              <a:ext cx="26918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基于内容的推荐</a:t>
              </a:r>
            </a:p>
          </p:txBody>
        </p:sp>
        <p:cxnSp>
          <p:nvCxnSpPr>
            <p:cNvPr id="9" name="直接连接符 8">
              <a:extLst>
                <a:ext uri="{FF2B5EF4-FFF2-40B4-BE49-F238E27FC236}">
                  <a16:creationId xmlns:a16="http://schemas.microsoft.com/office/drawing/2014/main" id="{A6AE2C42-606A-4975-8470-72C2189BBB1D}"/>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0" name="图片 9">
            <a:extLst>
              <a:ext uri="{FF2B5EF4-FFF2-40B4-BE49-F238E27FC236}">
                <a16:creationId xmlns:a16="http://schemas.microsoft.com/office/drawing/2014/main" id="{407C3984-C790-4A4E-8AF1-7C44C599AD8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7239"/>
          <a:stretch/>
        </p:blipFill>
        <p:spPr>
          <a:xfrm>
            <a:off x="5715000" y="3886200"/>
            <a:ext cx="2217964" cy="2057400"/>
          </a:xfrm>
          <a:prstGeom prst="rect">
            <a:avLst/>
          </a:prstGeom>
        </p:spPr>
      </p:pic>
    </p:spTree>
    <p:extLst>
      <p:ext uri="{BB962C8B-B14F-4D97-AF65-F5344CB8AC3E}">
        <p14:creationId xmlns:p14="http://schemas.microsoft.com/office/powerpoint/2010/main" val="2026279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6799013E-B157-431E-A1D5-B9F11AA1B6A1}"/>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9003F13D-3D9A-4CCD-9BAA-7E4F22A58C68}"/>
              </a:ext>
            </a:extLst>
          </p:cNvPr>
          <p:cNvGrpSpPr>
            <a:grpSpLocks/>
          </p:cNvGrpSpPr>
          <p:nvPr/>
        </p:nvGrpSpPr>
        <p:grpSpPr bwMode="auto">
          <a:xfrm>
            <a:off x="0" y="284163"/>
            <a:ext cx="2591026" cy="530225"/>
            <a:chOff x="2292213" y="284389"/>
            <a:chExt cx="2077974" cy="529772"/>
          </a:xfrm>
          <a:solidFill>
            <a:srgbClr val="024C89"/>
          </a:solidFill>
        </p:grpSpPr>
        <p:sp>
          <p:nvSpPr>
            <p:cNvPr id="4" name="矩形 3">
              <a:extLst>
                <a:ext uri="{FF2B5EF4-FFF2-40B4-BE49-F238E27FC236}">
                  <a16:creationId xmlns:a16="http://schemas.microsoft.com/office/drawing/2014/main" id="{BEA8B7BD-299E-4F46-8DCE-A9101BAE3758}"/>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推荐算法概述</a:t>
              </a:r>
            </a:p>
          </p:txBody>
        </p:sp>
        <p:sp>
          <p:nvSpPr>
            <p:cNvPr id="5" name="矩形 4">
              <a:extLst>
                <a:ext uri="{FF2B5EF4-FFF2-40B4-BE49-F238E27FC236}">
                  <a16:creationId xmlns:a16="http://schemas.microsoft.com/office/drawing/2014/main" id="{413D9B99-00DF-448D-AC95-F46DDDC82DBA}"/>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58363D56-CFF0-49EB-A313-47E55551CD9E}"/>
              </a:ext>
            </a:extLst>
          </p:cNvPr>
          <p:cNvGrpSpPr/>
          <p:nvPr/>
        </p:nvGrpSpPr>
        <p:grpSpPr>
          <a:xfrm>
            <a:off x="649324" y="1600200"/>
            <a:ext cx="4075076" cy="3966865"/>
            <a:chOff x="660981" y="2281535"/>
            <a:chExt cx="3453819" cy="3966865"/>
          </a:xfrm>
        </p:grpSpPr>
        <p:sp>
          <p:nvSpPr>
            <p:cNvPr id="7" name="Content Placeholder 2">
              <a:extLst>
                <a:ext uri="{FF2B5EF4-FFF2-40B4-BE49-F238E27FC236}">
                  <a16:creationId xmlns:a16="http://schemas.microsoft.com/office/drawing/2014/main" id="{5439D4BA-EBE2-4BAA-82D2-33210600F3B9}"/>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8DB25C20-C733-4C0B-94B1-5B379476DF0A}"/>
                </a:ext>
              </a:extLst>
            </p:cNvPr>
            <p:cNvSpPr txBox="1"/>
            <p:nvPr/>
          </p:nvSpPr>
          <p:spPr>
            <a:xfrm>
              <a:off x="660981" y="2281535"/>
              <a:ext cx="26918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基于协同过滤的推荐</a:t>
              </a:r>
            </a:p>
          </p:txBody>
        </p:sp>
        <p:cxnSp>
          <p:nvCxnSpPr>
            <p:cNvPr id="9" name="直接连接符 8">
              <a:extLst>
                <a:ext uri="{FF2B5EF4-FFF2-40B4-BE49-F238E27FC236}">
                  <a16:creationId xmlns:a16="http://schemas.microsoft.com/office/drawing/2014/main" id="{588FD326-B258-44EB-8DEC-8E77604E4251}"/>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0" name="图片 9">
            <a:extLst>
              <a:ext uri="{FF2B5EF4-FFF2-40B4-BE49-F238E27FC236}">
                <a16:creationId xmlns:a16="http://schemas.microsoft.com/office/drawing/2014/main" id="{BF647C4B-3362-4191-B035-0F1542241775}"/>
              </a:ext>
            </a:extLst>
          </p:cNvPr>
          <p:cNvPicPr>
            <a:picLocks noChangeAspect="1"/>
          </p:cNvPicPr>
          <p:nvPr/>
        </p:nvPicPr>
        <p:blipFill rotWithShape="1">
          <a:blip r:embed="rId2"/>
          <a:srcRect r="1870"/>
          <a:stretch/>
        </p:blipFill>
        <p:spPr>
          <a:xfrm>
            <a:off x="1" y="4495800"/>
            <a:ext cx="9144000" cy="1897053"/>
          </a:xfrm>
          <a:prstGeom prst="rect">
            <a:avLst/>
          </a:prstGeom>
        </p:spPr>
      </p:pic>
      <p:sp>
        <p:nvSpPr>
          <p:cNvPr id="11" name="Content Placeholder 2">
            <a:extLst>
              <a:ext uri="{FF2B5EF4-FFF2-40B4-BE49-F238E27FC236}">
                <a16:creationId xmlns:a16="http://schemas.microsoft.com/office/drawing/2014/main" id="{AC6A776C-E424-46A6-BF66-9F41C1536597}"/>
              </a:ext>
            </a:extLst>
          </p:cNvPr>
          <p:cNvSpPr txBox="1">
            <a:spLocks/>
          </p:cNvSpPr>
          <p:nvPr/>
        </p:nvSpPr>
        <p:spPr>
          <a:xfrm>
            <a:off x="659001" y="2138065"/>
            <a:ext cx="3889834" cy="197673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基于协同过滤的推荐技术是推荐系统中应用最早和最为成功的技术之一。</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它一般采用最近邻技术，利用用户的历史喜好信息计算用户对特定商品的喜好程度，从而根据这一喜好程度对目标用户进行推荐。</a:t>
            </a:r>
            <a:endParaRPr lang="en-US" altLang="zh-CN" sz="1800" dirty="0">
              <a:solidFill>
                <a:srgbClr val="0070C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42898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035ECBA7-93D8-4106-B5B3-755FCA4B5EFF}"/>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9C3F98F3-937E-4BE9-86A5-1C7B944EA90B}"/>
              </a:ext>
            </a:extLst>
          </p:cNvPr>
          <p:cNvGrpSpPr>
            <a:grpSpLocks/>
          </p:cNvGrpSpPr>
          <p:nvPr/>
        </p:nvGrpSpPr>
        <p:grpSpPr bwMode="auto">
          <a:xfrm>
            <a:off x="0" y="284163"/>
            <a:ext cx="2591026" cy="530225"/>
            <a:chOff x="2292213" y="284389"/>
            <a:chExt cx="2077974" cy="529772"/>
          </a:xfrm>
          <a:solidFill>
            <a:srgbClr val="024C89"/>
          </a:solidFill>
        </p:grpSpPr>
        <p:sp>
          <p:nvSpPr>
            <p:cNvPr id="4" name="矩形 3">
              <a:extLst>
                <a:ext uri="{FF2B5EF4-FFF2-40B4-BE49-F238E27FC236}">
                  <a16:creationId xmlns:a16="http://schemas.microsoft.com/office/drawing/2014/main" id="{A49CD892-F457-4D7D-AA82-68E8DFBAD94E}"/>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推荐算法概述</a:t>
              </a:r>
            </a:p>
          </p:txBody>
        </p:sp>
        <p:sp>
          <p:nvSpPr>
            <p:cNvPr id="5" name="矩形 4">
              <a:extLst>
                <a:ext uri="{FF2B5EF4-FFF2-40B4-BE49-F238E27FC236}">
                  <a16:creationId xmlns:a16="http://schemas.microsoft.com/office/drawing/2014/main" id="{57C1CF86-A72F-41DC-80B8-90409A312F63}"/>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9E316051-2805-48A5-B01E-83F030EF9E45}"/>
              </a:ext>
            </a:extLst>
          </p:cNvPr>
          <p:cNvGrpSpPr/>
          <p:nvPr/>
        </p:nvGrpSpPr>
        <p:grpSpPr>
          <a:xfrm>
            <a:off x="649324" y="1600200"/>
            <a:ext cx="4075076" cy="3966865"/>
            <a:chOff x="660981" y="2281535"/>
            <a:chExt cx="3453819" cy="3966865"/>
          </a:xfrm>
        </p:grpSpPr>
        <p:sp>
          <p:nvSpPr>
            <p:cNvPr id="7" name="Content Placeholder 2">
              <a:extLst>
                <a:ext uri="{FF2B5EF4-FFF2-40B4-BE49-F238E27FC236}">
                  <a16:creationId xmlns:a16="http://schemas.microsoft.com/office/drawing/2014/main" id="{D655F984-8076-4FE5-A57E-10BA56EFEC6C}"/>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F48A8D82-4362-4812-831F-15D466D0C924}"/>
                </a:ext>
              </a:extLst>
            </p:cNvPr>
            <p:cNvSpPr txBox="1"/>
            <p:nvPr/>
          </p:nvSpPr>
          <p:spPr>
            <a:xfrm>
              <a:off x="660981" y="2281535"/>
              <a:ext cx="26918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混合型推荐方式</a:t>
              </a:r>
            </a:p>
          </p:txBody>
        </p:sp>
        <p:cxnSp>
          <p:nvCxnSpPr>
            <p:cNvPr id="9" name="直接连接符 8">
              <a:extLst>
                <a:ext uri="{FF2B5EF4-FFF2-40B4-BE49-F238E27FC236}">
                  <a16:creationId xmlns:a16="http://schemas.microsoft.com/office/drawing/2014/main" id="{6A03716B-4D64-4A3C-8E9A-87DFAC298640}"/>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7B207B83-9D0F-4115-87CC-527056931F72}"/>
              </a:ext>
            </a:extLst>
          </p:cNvPr>
          <p:cNvSpPr txBox="1">
            <a:spLocks/>
          </p:cNvSpPr>
          <p:nvPr/>
        </p:nvSpPr>
        <p:spPr>
          <a:xfrm>
            <a:off x="659001" y="2138065"/>
            <a:ext cx="3889834" cy="243393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spcBef>
                <a:spcPts val="600"/>
              </a:spcBef>
              <a:buNone/>
            </a:pP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各有优缺点</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由于各种推荐方法都有优缺点，所以在实际应用中，组合推荐经常被采用。</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一个例子</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研究和应用最多的是基于内容的推荐和协同过滤推荐的组合。</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最简单的做法就是分别基于内容的推荐方法和基于协同过滤的方法产生两个预测结果，然后用某种方法组合其结果。</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11" name="圆角矩形 2">
            <a:extLst>
              <a:ext uri="{FF2B5EF4-FFF2-40B4-BE49-F238E27FC236}">
                <a16:creationId xmlns:a16="http://schemas.microsoft.com/office/drawing/2014/main" id="{0735622B-8460-4461-94FC-CCE8DF8CA5DE}"/>
              </a:ext>
            </a:extLst>
          </p:cNvPr>
          <p:cNvSpPr/>
          <p:nvPr/>
        </p:nvSpPr>
        <p:spPr bwMode="auto">
          <a:xfrm>
            <a:off x="5943600" y="2819400"/>
            <a:ext cx="1905000" cy="457200"/>
          </a:xfrm>
          <a:prstGeom prst="roundRect">
            <a:avLst/>
          </a:prstGeom>
          <a:solidFill>
            <a:schemeClr val="tx2">
              <a:lumMod val="60000"/>
              <a:lumOff val="40000"/>
            </a:schemeClr>
          </a:solidFill>
          <a:ln w="28575">
            <a:solidFill>
              <a:schemeClr val="bg1"/>
            </a:solidFill>
            <a:round/>
            <a:headEnd/>
            <a:tailEnd type="triangle" w="med" len="med"/>
          </a:ln>
          <a:effectLst>
            <a:outerShdw blurRad="63500" sx="102000" sy="102000" algn="ctr" rotWithShape="0">
              <a:prstClr val="black">
                <a:alpha val="40000"/>
              </a:prstClr>
            </a:outerShdw>
          </a:effectLst>
        </p:spPr>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基于内容的推荐</a:t>
            </a:r>
          </a:p>
        </p:txBody>
      </p:sp>
      <p:sp>
        <p:nvSpPr>
          <p:cNvPr id="12" name="圆角矩形 18">
            <a:extLst>
              <a:ext uri="{FF2B5EF4-FFF2-40B4-BE49-F238E27FC236}">
                <a16:creationId xmlns:a16="http://schemas.microsoft.com/office/drawing/2014/main" id="{DE6DFB95-1AE2-404C-B134-E36C937564C8}"/>
              </a:ext>
            </a:extLst>
          </p:cNvPr>
          <p:cNvSpPr/>
          <p:nvPr/>
        </p:nvSpPr>
        <p:spPr bwMode="auto">
          <a:xfrm>
            <a:off x="5962851" y="4114800"/>
            <a:ext cx="1905000" cy="457200"/>
          </a:xfrm>
          <a:prstGeom prst="roundRect">
            <a:avLst/>
          </a:prstGeom>
          <a:solidFill>
            <a:schemeClr val="tx2">
              <a:lumMod val="60000"/>
              <a:lumOff val="40000"/>
            </a:schemeClr>
          </a:solidFill>
          <a:ln w="28575">
            <a:solidFill>
              <a:schemeClr val="bg1"/>
            </a:solidFill>
            <a:round/>
            <a:headEnd/>
            <a:tailEnd type="triangle" w="med" len="med"/>
          </a:ln>
          <a:effectLst>
            <a:outerShdw blurRad="63500" sx="102000" sy="102000" algn="ctr" rotWithShape="0">
              <a:prstClr val="black">
                <a:alpha val="40000"/>
              </a:prstClr>
            </a:outerShdw>
          </a:effectLst>
        </p:spPr>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协同过滤推荐</a:t>
            </a:r>
          </a:p>
        </p:txBody>
      </p:sp>
      <p:sp>
        <p:nvSpPr>
          <p:cNvPr id="13" name="十字形 12">
            <a:extLst>
              <a:ext uri="{FF2B5EF4-FFF2-40B4-BE49-F238E27FC236}">
                <a16:creationId xmlns:a16="http://schemas.microsoft.com/office/drawing/2014/main" id="{44BFA58F-B044-4A91-91BF-074815F6293F}"/>
              </a:ext>
            </a:extLst>
          </p:cNvPr>
          <p:cNvSpPr/>
          <p:nvPr/>
        </p:nvSpPr>
        <p:spPr bwMode="auto">
          <a:xfrm>
            <a:off x="6667500" y="3463925"/>
            <a:ext cx="457200" cy="457200"/>
          </a:xfrm>
          <a:prstGeom prst="plus">
            <a:avLst>
              <a:gd name="adj" fmla="val 39583"/>
            </a:avLst>
          </a:prstGeom>
          <a:solidFill>
            <a:srgbClr val="558ED5"/>
          </a:solidFill>
          <a:ln w="28575">
            <a:noFill/>
            <a:round/>
            <a:headEnd/>
            <a:tailEnd type="triangle" w="med" len="med"/>
          </a:ln>
        </p:spPr>
        <p:txBody>
          <a:bodyPr rtlCol="0" anchor="ctr"/>
          <a:lstStyle/>
          <a:p>
            <a:pPr algn="ctr"/>
            <a:endParaRPr lang="zh-CN" altLang="en-US"/>
          </a:p>
        </p:txBody>
      </p:sp>
    </p:spTree>
    <p:extLst>
      <p:ext uri="{BB962C8B-B14F-4D97-AF65-F5344CB8AC3E}">
        <p14:creationId xmlns:p14="http://schemas.microsoft.com/office/powerpoint/2010/main" val="1655482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884229B3-CECD-406A-A2FC-5A08497ABB48}"/>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E96A3DCF-E0B8-4FFB-91DE-345A50B34EA9}"/>
              </a:ext>
            </a:extLst>
          </p:cNvPr>
          <p:cNvGrpSpPr>
            <a:grpSpLocks/>
          </p:cNvGrpSpPr>
          <p:nvPr/>
        </p:nvGrpSpPr>
        <p:grpSpPr bwMode="auto">
          <a:xfrm>
            <a:off x="0" y="284163"/>
            <a:ext cx="3276826" cy="530225"/>
            <a:chOff x="1742209" y="284389"/>
            <a:chExt cx="2627978" cy="529772"/>
          </a:xfrm>
          <a:solidFill>
            <a:srgbClr val="024C89"/>
          </a:solidFill>
        </p:grpSpPr>
        <p:sp>
          <p:nvSpPr>
            <p:cNvPr id="4" name="矩形 3">
              <a:extLst>
                <a:ext uri="{FF2B5EF4-FFF2-40B4-BE49-F238E27FC236}">
                  <a16:creationId xmlns:a16="http://schemas.microsoft.com/office/drawing/2014/main" id="{269B4D6B-F06D-43BE-B257-3874BB78F642}"/>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5" name="矩形 4">
              <a:extLst>
                <a:ext uri="{FF2B5EF4-FFF2-40B4-BE49-F238E27FC236}">
                  <a16:creationId xmlns:a16="http://schemas.microsoft.com/office/drawing/2014/main" id="{76353941-CFD1-488A-B380-D8BBCC8CDE91}"/>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4A444E7B-177E-4824-83A9-A8AE296957E2}"/>
              </a:ext>
            </a:extLst>
          </p:cNvPr>
          <p:cNvGrpSpPr/>
          <p:nvPr/>
        </p:nvGrpSpPr>
        <p:grpSpPr>
          <a:xfrm>
            <a:off x="660981" y="1676400"/>
            <a:ext cx="3453819" cy="3966865"/>
            <a:chOff x="660981" y="2281535"/>
            <a:chExt cx="3453819" cy="3966865"/>
          </a:xfrm>
        </p:grpSpPr>
        <p:sp>
          <p:nvSpPr>
            <p:cNvPr id="7" name="Content Placeholder 2">
              <a:extLst>
                <a:ext uri="{FF2B5EF4-FFF2-40B4-BE49-F238E27FC236}">
                  <a16:creationId xmlns:a16="http://schemas.microsoft.com/office/drawing/2014/main" id="{EC11B09D-FDAD-4242-AC88-E5B602047BBC}"/>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基本思想</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用户可能喜欢和他具有相似爱好的用户所喜欢的物品。</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推荐过程</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对于特定用户</a:t>
              </a:r>
              <a:r>
                <a:rPr lang="en-US" altLang="zh-CN" sz="1800" dirty="0">
                  <a:solidFill>
                    <a:srgbClr val="0070C0"/>
                  </a:solidFill>
                  <a:latin typeface="等线" panose="02010600030101010101" pitchFamily="2" charset="-122"/>
                  <a:ea typeface="等线" panose="02010600030101010101" pitchFamily="2" charset="-122"/>
                </a:rPr>
                <a:t>A</a:t>
              </a:r>
              <a:r>
                <a:rPr lang="zh-CN" altLang="en-US" sz="1800" dirty="0">
                  <a:solidFill>
                    <a:srgbClr val="0070C0"/>
                  </a:solidFill>
                  <a:latin typeface="等线" panose="02010600030101010101" pitchFamily="2" charset="-122"/>
                  <a:ea typeface="等线" panose="02010600030101010101" pitchFamily="2" charset="-122"/>
                </a:rPr>
                <a:t>，当我们找到和他相似的用户，我们便把他们购买的物品推荐给用户</a:t>
              </a:r>
              <a:r>
                <a:rPr lang="en-US" altLang="zh-CN" sz="1800" dirty="0">
                  <a:solidFill>
                    <a:srgbClr val="0070C0"/>
                  </a:solidFill>
                  <a:latin typeface="等线" panose="02010600030101010101" pitchFamily="2" charset="-122"/>
                  <a:ea typeface="等线" panose="02010600030101010101" pitchFamily="2" charset="-122"/>
                </a:rPr>
                <a:t>A</a:t>
              </a:r>
              <a:r>
                <a:rPr lang="zh-CN" altLang="en-US" sz="1800" dirty="0">
                  <a:solidFill>
                    <a:srgbClr val="0070C0"/>
                  </a:solidFill>
                  <a:latin typeface="等线" panose="02010600030101010101" pitchFamily="2" charset="-122"/>
                  <a:ea typeface="等线" panose="02010600030101010101" pitchFamily="2" charset="-122"/>
                </a:rPr>
                <a:t>。</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这个方法的核心是如何量化用户之间的相似度。</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19316156-2369-48F6-AEFB-8AC3E86695A6}"/>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基于用户的协同过滤</a:t>
              </a:r>
            </a:p>
          </p:txBody>
        </p:sp>
        <p:cxnSp>
          <p:nvCxnSpPr>
            <p:cNvPr id="9" name="直接连接符 8">
              <a:extLst>
                <a:ext uri="{FF2B5EF4-FFF2-40B4-BE49-F238E27FC236}">
                  <a16:creationId xmlns:a16="http://schemas.microsoft.com/office/drawing/2014/main" id="{00798C43-AF9A-4609-A52B-BF5E462D83B1}"/>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55B62DF0-AC20-49A0-B8AB-BD52D4C3D4F4}"/>
              </a:ext>
            </a:extLst>
          </p:cNvPr>
          <p:cNvGrpSpPr/>
          <p:nvPr/>
        </p:nvGrpSpPr>
        <p:grpSpPr>
          <a:xfrm>
            <a:off x="5257800" y="2743200"/>
            <a:ext cx="3429000" cy="2590800"/>
            <a:chOff x="5257800" y="2743200"/>
            <a:chExt cx="3429000" cy="2590800"/>
          </a:xfrm>
        </p:grpSpPr>
        <p:pic>
          <p:nvPicPr>
            <p:cNvPr id="11" name="Picture 2" descr="https://d30y9cdsu7xlg0.cloudfront.net/png/1268623-200.png">
              <a:extLst>
                <a:ext uri="{FF2B5EF4-FFF2-40B4-BE49-F238E27FC236}">
                  <a16:creationId xmlns:a16="http://schemas.microsoft.com/office/drawing/2014/main" id="{F1B34F54-8BEB-4AA8-91F2-E49C0EEE5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34290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a:extLst>
                <a:ext uri="{FF2B5EF4-FFF2-40B4-BE49-F238E27FC236}">
                  <a16:creationId xmlns:a16="http://schemas.microsoft.com/office/drawing/2014/main" id="{1264469D-8A5A-4F44-91B3-DC194029B757}"/>
                </a:ext>
              </a:extLst>
            </p:cNvPr>
            <p:cNvPicPr>
              <a:picLocks noChangeAspect="1"/>
            </p:cNvPicPr>
            <p:nvPr/>
          </p:nvPicPr>
          <p:blipFill rotWithShape="1">
            <a:blip r:embed="rId3" cstate="print">
              <a:duotone>
                <a:schemeClr val="bg2">
                  <a:shade val="45000"/>
                  <a:satMod val="135000"/>
                </a:schemeClr>
                <a:prstClr val="white"/>
              </a:duotone>
              <a:extLst>
                <a:ext uri="{28A0092B-C50C-407E-A947-70E740481C1C}">
                  <a14:useLocalDpi xmlns:a14="http://schemas.microsoft.com/office/drawing/2010/main" val="0"/>
                </a:ext>
              </a:extLst>
            </a:blip>
            <a:srcRect b="23333"/>
            <a:stretch/>
          </p:blipFill>
          <p:spPr>
            <a:xfrm>
              <a:off x="6400800" y="2743200"/>
              <a:ext cx="2286000" cy="1752600"/>
            </a:xfrm>
            <a:prstGeom prst="rect">
              <a:avLst/>
            </a:prstGeom>
          </p:spPr>
        </p:pic>
      </p:grpSp>
    </p:spTree>
    <p:extLst>
      <p:ext uri="{BB962C8B-B14F-4D97-AF65-F5344CB8AC3E}">
        <p14:creationId xmlns:p14="http://schemas.microsoft.com/office/powerpoint/2010/main" val="3083196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74FFFA73-D98C-4E63-95C9-E2BAC6E538D1}"/>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3352AD66-A1D6-41B5-B305-5B9B90F1B2A2}"/>
              </a:ext>
            </a:extLst>
          </p:cNvPr>
          <p:cNvGrpSpPr/>
          <p:nvPr/>
        </p:nvGrpSpPr>
        <p:grpSpPr>
          <a:xfrm>
            <a:off x="660981" y="1676400"/>
            <a:ext cx="3453819" cy="3966865"/>
            <a:chOff x="660981" y="2281535"/>
            <a:chExt cx="3453819" cy="3966865"/>
          </a:xfrm>
        </p:grpSpPr>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593B810-7FB4-4251-8A43-9CBA2F970022}"/>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用户对商品的评分</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我们采用一定的策略获取用户对商品的评分。如用户浏览一个商品，则分数</a:t>
                  </a:r>
                  <a:r>
                    <a:rPr lang="en-US" altLang="zh-CN" sz="1800" dirty="0">
                      <a:solidFill>
                        <a:srgbClr val="0070C0"/>
                      </a:solidFill>
                      <a:latin typeface="等线" panose="02010600030101010101" pitchFamily="2" charset="-122"/>
                      <a:ea typeface="等线" panose="02010600030101010101" pitchFamily="2" charset="-122"/>
                    </a:rPr>
                    <a:t>+0.1</a:t>
                  </a:r>
                  <a:r>
                    <a:rPr lang="zh-CN" altLang="en-US" sz="1800" dirty="0">
                      <a:solidFill>
                        <a:srgbClr val="0070C0"/>
                      </a:solidFill>
                      <a:latin typeface="等线" panose="02010600030101010101" pitchFamily="2" charset="-122"/>
                      <a:ea typeface="等线" panose="02010600030101010101" pitchFamily="2" charset="-122"/>
                    </a:rPr>
                    <a:t>；当他购买了这件商品，则分数</a:t>
                  </a:r>
                  <a:r>
                    <a:rPr lang="en-US" altLang="zh-CN" sz="1800" dirty="0">
                      <a:solidFill>
                        <a:srgbClr val="0070C0"/>
                      </a:solidFill>
                      <a:latin typeface="等线" panose="02010600030101010101" pitchFamily="2" charset="-122"/>
                      <a:ea typeface="等线" panose="02010600030101010101" pitchFamily="2" charset="-122"/>
                    </a:rPr>
                    <a:t>+1</a:t>
                  </a:r>
                  <a:r>
                    <a:rPr lang="zh-CN" altLang="en-US" sz="1800" dirty="0">
                      <a:solidFill>
                        <a:srgbClr val="0070C0"/>
                      </a:solidFill>
                      <a:latin typeface="等线" panose="02010600030101010101" pitchFamily="2" charset="-122"/>
                      <a:ea typeface="等线" panose="02010600030101010101" pitchFamily="2" charset="-122"/>
                    </a:rPr>
                    <a:t>。</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计算用户相似度</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使用</a:t>
                  </a:r>
                  <a14:m>
                    <m:oMath xmlns:m="http://schemas.openxmlformats.org/officeDocument/2006/math">
                      <m:sSub>
                        <m:sSubPr>
                          <m:ctrlPr>
                            <a:rPr lang="en-US" altLang="zh-CN" sz="1800" b="0" i="1" dirty="0" smtClean="0">
                              <a:solidFill>
                                <a:srgbClr val="0070C0"/>
                              </a:solidFill>
                              <a:latin typeface="Cambria Math" panose="02040503050406030204" pitchFamily="18" charset="0"/>
                              <a:ea typeface="等线" panose="02010600030101010101" pitchFamily="2" charset="-122"/>
                            </a:rPr>
                          </m:ctrlPr>
                        </m:sSubPr>
                        <m:e>
                          <m:r>
                            <a:rPr lang="en-US" altLang="zh-CN" sz="1800" i="1" dirty="0" smtClean="0">
                              <a:solidFill>
                                <a:srgbClr val="0070C0"/>
                              </a:solidFill>
                              <a:latin typeface="Cambria Math" panose="02040503050406030204" pitchFamily="18" charset="0"/>
                              <a:ea typeface="等线" panose="02010600030101010101" pitchFamily="2" charset="-122"/>
                            </a:rPr>
                            <m:t>𝑎</m:t>
                          </m:r>
                        </m:e>
                        <m:sub>
                          <m:r>
                            <a:rPr lang="en-US" altLang="zh-CN" sz="1800" i="1" dirty="0" smtClean="0">
                              <a:solidFill>
                                <a:srgbClr val="0070C0"/>
                              </a:solidFill>
                              <a:latin typeface="Cambria Math" panose="02040503050406030204" pitchFamily="18" charset="0"/>
                              <a:ea typeface="等线" panose="02010600030101010101" pitchFamily="2" charset="-122"/>
                            </a:rPr>
                            <m:t>1</m:t>
                          </m:r>
                        </m:sub>
                      </m:sSub>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[10,7,2,4,0]</m:t>
                      </m:r>
                    </m:oMath>
                  </a14:m>
                  <a:r>
                    <a:rPr lang="zh-CN" altLang="en-US" sz="1800" dirty="0">
                      <a:solidFill>
                        <a:srgbClr val="0070C0"/>
                      </a:solidFill>
                      <a:latin typeface="等线" panose="02010600030101010101" pitchFamily="2" charset="-122"/>
                      <a:ea typeface="等线" panose="02010600030101010101" pitchFamily="2" charset="-122"/>
                    </a:rPr>
                    <a:t>作为用户</a:t>
                  </a:r>
                  <a:r>
                    <a:rPr lang="en-US" altLang="zh-CN" sz="1800" dirty="0">
                      <a:solidFill>
                        <a:srgbClr val="0070C0"/>
                      </a:solidFill>
                      <a:latin typeface="等线" panose="02010600030101010101" pitchFamily="2" charset="-122"/>
                      <a:ea typeface="等线" panose="02010600030101010101" pitchFamily="2" charset="-122"/>
                    </a:rPr>
                    <a:t>00001</a:t>
                  </a:r>
                  <a:r>
                    <a:rPr lang="zh-CN" altLang="en-US" sz="1800" dirty="0">
                      <a:solidFill>
                        <a:srgbClr val="0070C0"/>
                      </a:solidFill>
                      <a:latin typeface="等线" panose="02010600030101010101" pitchFamily="2" charset="-122"/>
                      <a:ea typeface="等线" panose="02010600030101010101" pitchFamily="2" charset="-122"/>
                    </a:rPr>
                    <a:t>的特征，</a:t>
                  </a:r>
                  <a14:m>
                    <m:oMath xmlns:m="http://schemas.openxmlformats.org/officeDocument/2006/math">
                      <m:sSub>
                        <m:sSubPr>
                          <m:ctrlPr>
                            <a:rPr lang="en-US" altLang="zh-CN" sz="1800" b="0" i="1" dirty="0" smtClean="0">
                              <a:solidFill>
                                <a:srgbClr val="0070C0"/>
                              </a:solidFill>
                              <a:latin typeface="Cambria Math" panose="02040503050406030204" pitchFamily="18" charset="0"/>
                              <a:ea typeface="等线" panose="02010600030101010101" pitchFamily="2" charset="-122"/>
                            </a:rPr>
                          </m:ctrlPr>
                        </m:sSubPr>
                        <m:e>
                          <m:r>
                            <a:rPr lang="en-US" altLang="zh-CN" sz="1800" i="1" dirty="0" smtClean="0">
                              <a:solidFill>
                                <a:srgbClr val="0070C0"/>
                              </a:solidFill>
                              <a:latin typeface="Cambria Math" panose="02040503050406030204" pitchFamily="18" charset="0"/>
                              <a:ea typeface="等线" panose="02010600030101010101" pitchFamily="2" charset="-122"/>
                            </a:rPr>
                            <m:t>𝑎</m:t>
                          </m:r>
                        </m:e>
                        <m:sub>
                          <m:r>
                            <a:rPr lang="en-US" altLang="zh-CN" sz="1800" b="0" i="1" dirty="0" smtClean="0">
                              <a:solidFill>
                                <a:srgbClr val="0070C0"/>
                              </a:solidFill>
                              <a:latin typeface="Cambria Math" panose="02040503050406030204" pitchFamily="18" charset="0"/>
                              <a:ea typeface="等线" panose="02010600030101010101" pitchFamily="2" charset="-122"/>
                            </a:rPr>
                            <m:t>2</m:t>
                          </m:r>
                        </m:sub>
                      </m:sSub>
                      <m:r>
                        <a:rPr lang="en-US" altLang="zh-CN" sz="1800" b="0" i="1" dirty="0" smtClean="0">
                          <a:solidFill>
                            <a:srgbClr val="0070C0"/>
                          </a:solidFill>
                          <a:latin typeface="Cambria Math" panose="02040503050406030204" pitchFamily="18" charset="0"/>
                          <a:ea typeface="等线" panose="02010600030101010101" pitchFamily="2" charset="-122"/>
                        </a:rPr>
                        <m:t>=[8,7,8,5,8]</m:t>
                      </m:r>
                    </m:oMath>
                  </a14:m>
                  <a:r>
                    <a:rPr lang="zh-CN" altLang="en-US" sz="1800" dirty="0">
                      <a:solidFill>
                        <a:srgbClr val="0070C0"/>
                      </a:solidFill>
                      <a:latin typeface="等线" panose="02010600030101010101" pitchFamily="2" charset="-122"/>
                      <a:ea typeface="等线" panose="02010600030101010101" pitchFamily="2" charset="-122"/>
                    </a:rPr>
                    <a:t>作为用户</a:t>
                  </a:r>
                  <a:r>
                    <a:rPr lang="en-US" altLang="zh-CN" sz="1800" dirty="0">
                      <a:solidFill>
                        <a:srgbClr val="0070C0"/>
                      </a:solidFill>
                      <a:latin typeface="等线" panose="02010600030101010101" pitchFamily="2" charset="-122"/>
                      <a:ea typeface="等线" panose="02010600030101010101" pitchFamily="2" charset="-122"/>
                    </a:rPr>
                    <a:t>00002</a:t>
                  </a:r>
                  <a:r>
                    <a:rPr lang="zh-CN" altLang="en-US" sz="1800" dirty="0">
                      <a:solidFill>
                        <a:srgbClr val="0070C0"/>
                      </a:solidFill>
                      <a:latin typeface="等线" panose="02010600030101010101" pitchFamily="2" charset="-122"/>
                      <a:ea typeface="等线" panose="02010600030101010101" pitchFamily="2" charset="-122"/>
                    </a:rPr>
                    <a:t>的特征。</a:t>
                  </a:r>
                  <a:endParaRPr lang="en-US" altLang="zh-CN" sz="1800" dirty="0">
                    <a:solidFill>
                      <a:srgbClr val="0070C0"/>
                    </a:solidFill>
                    <a:latin typeface="等线" panose="02010600030101010101" pitchFamily="2" charset="-122"/>
                    <a:ea typeface="等线" panose="02010600030101010101" pitchFamily="2" charset="-122"/>
                  </a:endParaRPr>
                </a:p>
              </p:txBody>
            </p:sp>
          </mc:Choice>
          <mc:Fallback xmlns="">
            <p:sp>
              <p:nvSpPr>
                <p:cNvPr id="15" name="Content Placeholder 2"/>
                <p:cNvSpPr txBox="1">
                  <a:spLocks noRot="1" noChangeAspect="1" noMove="1" noResize="1" noEditPoints="1" noAdjustHandles="1" noChangeArrowheads="1" noChangeShapeType="1" noTextEdit="1"/>
                </p:cNvSpPr>
                <p:nvPr/>
              </p:nvSpPr>
              <p:spPr>
                <a:xfrm>
                  <a:off x="670029" y="2819400"/>
                  <a:ext cx="3444771" cy="3429000"/>
                </a:xfrm>
                <a:prstGeom prst="rect">
                  <a:avLst/>
                </a:prstGeom>
                <a:blipFill>
                  <a:blip r:embed="rId3"/>
                  <a:stretch>
                    <a:fillRect l="-2301" t="-533" r="-1416" b="-5861"/>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ADD8BC49-8E6F-4CE4-8CF3-201AD853FA5A}"/>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基于用户的协同过滤</a:t>
              </a:r>
            </a:p>
          </p:txBody>
        </p:sp>
        <p:cxnSp>
          <p:nvCxnSpPr>
            <p:cNvPr id="6" name="直接连接符 5">
              <a:extLst>
                <a:ext uri="{FF2B5EF4-FFF2-40B4-BE49-F238E27FC236}">
                  <a16:creationId xmlns:a16="http://schemas.microsoft.com/office/drawing/2014/main" id="{A4756B0F-7235-4875-AF15-1092C36C4824}"/>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aphicFrame>
        <p:nvGraphicFramePr>
          <p:cNvPr id="7" name="表格 6">
            <a:extLst>
              <a:ext uri="{FF2B5EF4-FFF2-40B4-BE49-F238E27FC236}">
                <a16:creationId xmlns:a16="http://schemas.microsoft.com/office/drawing/2014/main" id="{D48A4FF8-09D5-4E71-840E-D29F54C56438}"/>
              </a:ext>
            </a:extLst>
          </p:cNvPr>
          <p:cNvGraphicFramePr>
            <a:graphicFrameLocks noGrp="1"/>
          </p:cNvGraphicFramePr>
          <p:nvPr/>
        </p:nvGraphicFramePr>
        <p:xfrm>
          <a:off x="4419600" y="2204720"/>
          <a:ext cx="4495800" cy="2595880"/>
        </p:xfrm>
        <a:graphic>
          <a:graphicData uri="http://schemas.openxmlformats.org/drawingml/2006/table">
            <a:tbl>
              <a:tblPr firstRow="1" firstCol="1" bandRow="1">
                <a:tableStyleId>{5C22544A-7EE6-4342-B048-85BDC9FD1C3A}</a:tableStyleId>
              </a:tblPr>
              <a:tblGrid>
                <a:gridCol w="942668">
                  <a:extLst>
                    <a:ext uri="{9D8B030D-6E8A-4147-A177-3AD203B41FA5}">
                      <a16:colId xmlns:a16="http://schemas.microsoft.com/office/drawing/2014/main" val="624084034"/>
                    </a:ext>
                  </a:extLst>
                </a:gridCol>
                <a:gridCol w="652616">
                  <a:extLst>
                    <a:ext uri="{9D8B030D-6E8A-4147-A177-3AD203B41FA5}">
                      <a16:colId xmlns:a16="http://schemas.microsoft.com/office/drawing/2014/main" val="1545497573"/>
                    </a:ext>
                  </a:extLst>
                </a:gridCol>
                <a:gridCol w="708686">
                  <a:extLst>
                    <a:ext uri="{9D8B030D-6E8A-4147-A177-3AD203B41FA5}">
                      <a16:colId xmlns:a16="http://schemas.microsoft.com/office/drawing/2014/main" val="549426046"/>
                    </a:ext>
                  </a:extLst>
                </a:gridCol>
                <a:gridCol w="669059">
                  <a:extLst>
                    <a:ext uri="{9D8B030D-6E8A-4147-A177-3AD203B41FA5}">
                      <a16:colId xmlns:a16="http://schemas.microsoft.com/office/drawing/2014/main" val="3849227356"/>
                    </a:ext>
                  </a:extLst>
                </a:gridCol>
                <a:gridCol w="666429">
                  <a:extLst>
                    <a:ext uri="{9D8B030D-6E8A-4147-A177-3AD203B41FA5}">
                      <a16:colId xmlns:a16="http://schemas.microsoft.com/office/drawing/2014/main" val="4259075429"/>
                    </a:ext>
                  </a:extLst>
                </a:gridCol>
                <a:gridCol w="856342">
                  <a:extLst>
                    <a:ext uri="{9D8B030D-6E8A-4147-A177-3AD203B41FA5}">
                      <a16:colId xmlns:a16="http://schemas.microsoft.com/office/drawing/2014/main" val="580332812"/>
                    </a:ext>
                  </a:extLst>
                </a:gridCol>
              </a:tblGrid>
              <a:tr h="370840">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用户</a:t>
                      </a:r>
                      <a:r>
                        <a:rPr lang="en-US" altLang="zh-CN"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ID</a:t>
                      </a:r>
                      <a:endPar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白酒</a:t>
                      </a: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红酒</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女装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男装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运动鞋</a:t>
                      </a: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5113587"/>
                  </a:ext>
                </a:extLst>
              </a:tr>
              <a:tr h="370840">
                <a:tc>
                  <a:txBody>
                    <a:bodyPr/>
                    <a:lstStyle/>
                    <a:p>
                      <a:pPr algn="ctr"/>
                      <a:r>
                        <a:rPr lang="en-US" altLang="zh-CN" sz="1600" b="0" dirty="0">
                          <a:solidFill>
                            <a:schemeClr val="tx1">
                              <a:lumMod val="95000"/>
                              <a:lumOff val="5000"/>
                              <a:alpha val="80000"/>
                            </a:schemeClr>
                          </a:solidFill>
                        </a:rPr>
                        <a:t>00001</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10</a:t>
                      </a: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7</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2</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4</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61769197"/>
                  </a:ext>
                </a:extLst>
              </a:tr>
              <a:tr h="370840">
                <a:tc>
                  <a:txBody>
                    <a:bodyPr/>
                    <a:lstStyle/>
                    <a:p>
                      <a:pPr algn="ctr"/>
                      <a:r>
                        <a:rPr lang="en-US" altLang="zh-CN" sz="1600" b="0" dirty="0">
                          <a:solidFill>
                            <a:schemeClr val="tx1">
                              <a:lumMod val="95000"/>
                              <a:lumOff val="5000"/>
                              <a:alpha val="80000"/>
                            </a:schemeClr>
                          </a:solidFill>
                        </a:rPr>
                        <a:t>00002</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7</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5</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5010243"/>
                  </a:ext>
                </a:extLst>
              </a:tr>
              <a:tr h="370840">
                <a:tc>
                  <a:txBody>
                    <a:bodyPr/>
                    <a:lstStyle/>
                    <a:p>
                      <a:pPr algn="ctr"/>
                      <a:r>
                        <a:rPr lang="en-US" altLang="zh-CN" sz="1600" b="0" dirty="0">
                          <a:solidFill>
                            <a:schemeClr val="tx1">
                              <a:lumMod val="95000"/>
                              <a:lumOff val="5000"/>
                              <a:alpha val="80000"/>
                            </a:schemeClr>
                          </a:solidFill>
                        </a:rPr>
                        <a:t>00003</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6</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4</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5</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143135"/>
                  </a:ext>
                </a:extLst>
              </a:tr>
              <a:tr h="370840">
                <a:tc>
                  <a:txBody>
                    <a:bodyPr/>
                    <a:lstStyle/>
                    <a:p>
                      <a:pPr algn="ctr"/>
                      <a:r>
                        <a:rPr lang="en-US" altLang="zh-CN" sz="1600" b="0" dirty="0">
                          <a:solidFill>
                            <a:schemeClr val="tx1">
                              <a:lumMod val="95000"/>
                              <a:lumOff val="5000"/>
                              <a:alpha val="80000"/>
                            </a:schemeClr>
                          </a:solidFill>
                        </a:rPr>
                        <a:t>00004</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3</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3</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9713563"/>
                  </a:ext>
                </a:extLst>
              </a:tr>
              <a:tr h="370840">
                <a:tc>
                  <a:txBody>
                    <a:bodyPr/>
                    <a:lstStyle/>
                    <a:p>
                      <a:pPr algn="ctr"/>
                      <a:r>
                        <a:rPr lang="en-US" altLang="zh-CN" sz="1600" b="0" dirty="0">
                          <a:solidFill>
                            <a:schemeClr val="tx1">
                              <a:lumMod val="95000"/>
                              <a:lumOff val="5000"/>
                              <a:alpha val="80000"/>
                            </a:schemeClr>
                          </a:solidFill>
                        </a:rPr>
                        <a:t>00005</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2</a:t>
                      </a: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5</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4</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4</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6582931"/>
                  </a:ext>
                </a:extLst>
              </a:tr>
              <a:tr h="370840">
                <a:tc>
                  <a:txBody>
                    <a:bodyPr/>
                    <a:lstStyle/>
                    <a:p>
                      <a:pPr algn="ctr"/>
                      <a:r>
                        <a:rPr lang="en-US" altLang="zh-CN" sz="1600" b="0" dirty="0">
                          <a:solidFill>
                            <a:schemeClr val="tx1">
                              <a:lumMod val="95000"/>
                              <a:lumOff val="5000"/>
                              <a:alpha val="80000"/>
                            </a:schemeClr>
                          </a:solidFill>
                        </a:rPr>
                        <a:t>00006</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2</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9</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7</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3</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0130574"/>
                  </a:ext>
                </a:extLst>
              </a:tr>
            </a:tbl>
          </a:graphicData>
        </a:graphic>
      </p:graphicFrame>
      <p:grpSp>
        <p:nvGrpSpPr>
          <p:cNvPr id="8" name="组合 46">
            <a:extLst>
              <a:ext uri="{FF2B5EF4-FFF2-40B4-BE49-F238E27FC236}">
                <a16:creationId xmlns:a16="http://schemas.microsoft.com/office/drawing/2014/main" id="{2ADBA43B-99EF-425C-80DA-CD32EE0BF65B}"/>
              </a:ext>
            </a:extLst>
          </p:cNvPr>
          <p:cNvGrpSpPr>
            <a:grpSpLocks/>
          </p:cNvGrpSpPr>
          <p:nvPr/>
        </p:nvGrpSpPr>
        <p:grpSpPr bwMode="auto">
          <a:xfrm>
            <a:off x="0" y="284163"/>
            <a:ext cx="3276826" cy="530225"/>
            <a:chOff x="1742209" y="284389"/>
            <a:chExt cx="2627978" cy="529772"/>
          </a:xfrm>
          <a:solidFill>
            <a:srgbClr val="024C89"/>
          </a:solidFill>
        </p:grpSpPr>
        <p:sp>
          <p:nvSpPr>
            <p:cNvPr id="9" name="矩形 8">
              <a:extLst>
                <a:ext uri="{FF2B5EF4-FFF2-40B4-BE49-F238E27FC236}">
                  <a16:creationId xmlns:a16="http://schemas.microsoft.com/office/drawing/2014/main" id="{ECC68F3F-C2B6-41C5-8461-8B722EA0196A}"/>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10" name="矩形 9">
              <a:extLst>
                <a:ext uri="{FF2B5EF4-FFF2-40B4-BE49-F238E27FC236}">
                  <a16:creationId xmlns:a16="http://schemas.microsoft.com/office/drawing/2014/main" id="{05D99B50-DD9C-42CE-AB74-35806F14A5D9}"/>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1857533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86D65871-4868-4FAE-8930-D42AA273CC25}"/>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DD9BA523-01AB-40D5-AA61-B7039171C2F2}"/>
              </a:ext>
            </a:extLst>
          </p:cNvPr>
          <p:cNvGrpSpPr/>
          <p:nvPr/>
        </p:nvGrpSpPr>
        <p:grpSpPr>
          <a:xfrm>
            <a:off x="660981" y="1676400"/>
            <a:ext cx="3453819" cy="3966865"/>
            <a:chOff x="660981" y="2281535"/>
            <a:chExt cx="3453819" cy="3966865"/>
          </a:xfrm>
        </p:grpSpPr>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5A064D-5F7E-4728-A052-46F20F7B47BE}"/>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计算用户相似度</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使用</a:t>
                  </a:r>
                  <a14:m>
                    <m:oMath xmlns:m="http://schemas.openxmlformats.org/officeDocument/2006/math">
                      <m:sSub>
                        <m:sSubPr>
                          <m:ctrlPr>
                            <a:rPr lang="en-US" altLang="zh-CN" sz="1800" b="0" i="1" dirty="0" smtClean="0">
                              <a:solidFill>
                                <a:srgbClr val="0070C0"/>
                              </a:solidFill>
                              <a:latin typeface="Cambria Math" panose="02040503050406030204" pitchFamily="18" charset="0"/>
                              <a:ea typeface="等线" panose="02010600030101010101" pitchFamily="2" charset="-122"/>
                            </a:rPr>
                          </m:ctrlPr>
                        </m:sSubPr>
                        <m:e>
                          <m:r>
                            <a:rPr lang="en-US" altLang="zh-CN" sz="1800" i="1" dirty="0" smtClean="0">
                              <a:solidFill>
                                <a:srgbClr val="0070C0"/>
                              </a:solidFill>
                              <a:latin typeface="Cambria Math" panose="02040503050406030204" pitchFamily="18" charset="0"/>
                              <a:ea typeface="等线" panose="02010600030101010101" pitchFamily="2" charset="-122"/>
                            </a:rPr>
                            <m:t>𝑎</m:t>
                          </m:r>
                        </m:e>
                        <m:sub>
                          <m:r>
                            <a:rPr lang="en-US" altLang="zh-CN" sz="1800" i="1" dirty="0" smtClean="0">
                              <a:solidFill>
                                <a:srgbClr val="0070C0"/>
                              </a:solidFill>
                              <a:latin typeface="Cambria Math" panose="02040503050406030204" pitchFamily="18" charset="0"/>
                              <a:ea typeface="等线" panose="02010600030101010101" pitchFamily="2" charset="-122"/>
                            </a:rPr>
                            <m:t>1</m:t>
                          </m:r>
                        </m:sub>
                      </m:sSub>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[10,7,2,4,0]</m:t>
                      </m:r>
                    </m:oMath>
                  </a14:m>
                  <a:r>
                    <a:rPr lang="zh-CN" altLang="en-US" sz="1800" dirty="0">
                      <a:solidFill>
                        <a:srgbClr val="0070C0"/>
                      </a:solidFill>
                      <a:latin typeface="等线" panose="02010600030101010101" pitchFamily="2" charset="-122"/>
                      <a:ea typeface="等线" panose="02010600030101010101" pitchFamily="2" charset="-122"/>
                    </a:rPr>
                    <a:t>作为用户</a:t>
                  </a:r>
                  <a:r>
                    <a:rPr lang="en-US" altLang="zh-CN" sz="1800" dirty="0">
                      <a:solidFill>
                        <a:srgbClr val="0070C0"/>
                      </a:solidFill>
                      <a:latin typeface="等线" panose="02010600030101010101" pitchFamily="2" charset="-122"/>
                      <a:ea typeface="等线" panose="02010600030101010101" pitchFamily="2" charset="-122"/>
                    </a:rPr>
                    <a:t>00001</a:t>
                  </a:r>
                  <a:r>
                    <a:rPr lang="zh-CN" altLang="en-US" sz="1800" dirty="0">
                      <a:solidFill>
                        <a:srgbClr val="0070C0"/>
                      </a:solidFill>
                      <a:latin typeface="等线" panose="02010600030101010101" pitchFamily="2" charset="-122"/>
                      <a:ea typeface="等线" panose="02010600030101010101" pitchFamily="2" charset="-122"/>
                    </a:rPr>
                    <a:t>的特征，</a:t>
                  </a:r>
                  <a14:m>
                    <m:oMath xmlns:m="http://schemas.openxmlformats.org/officeDocument/2006/math">
                      <m:sSub>
                        <m:sSubPr>
                          <m:ctrlPr>
                            <a:rPr lang="en-US" altLang="zh-CN" sz="1800" b="0" i="1" dirty="0" smtClean="0">
                              <a:solidFill>
                                <a:srgbClr val="0070C0"/>
                              </a:solidFill>
                              <a:latin typeface="Cambria Math" panose="02040503050406030204" pitchFamily="18" charset="0"/>
                              <a:ea typeface="等线" panose="02010600030101010101" pitchFamily="2" charset="-122"/>
                            </a:rPr>
                          </m:ctrlPr>
                        </m:sSubPr>
                        <m:e>
                          <m:r>
                            <a:rPr lang="en-US" altLang="zh-CN" sz="1800" i="1" dirty="0" smtClean="0">
                              <a:solidFill>
                                <a:srgbClr val="0070C0"/>
                              </a:solidFill>
                              <a:latin typeface="Cambria Math" panose="02040503050406030204" pitchFamily="18" charset="0"/>
                              <a:ea typeface="等线" panose="02010600030101010101" pitchFamily="2" charset="-122"/>
                            </a:rPr>
                            <m:t>𝑎</m:t>
                          </m:r>
                        </m:e>
                        <m:sub>
                          <m:r>
                            <a:rPr lang="en-US" altLang="zh-CN" sz="1800" b="0" i="1" dirty="0" smtClean="0">
                              <a:solidFill>
                                <a:srgbClr val="0070C0"/>
                              </a:solidFill>
                              <a:latin typeface="Cambria Math" panose="02040503050406030204" pitchFamily="18" charset="0"/>
                              <a:ea typeface="等线" panose="02010600030101010101" pitchFamily="2" charset="-122"/>
                            </a:rPr>
                            <m:t>2</m:t>
                          </m:r>
                        </m:sub>
                      </m:sSub>
                      <m:r>
                        <a:rPr lang="en-US" altLang="zh-CN" sz="1800" b="0" i="1" dirty="0" smtClean="0">
                          <a:solidFill>
                            <a:srgbClr val="0070C0"/>
                          </a:solidFill>
                          <a:latin typeface="Cambria Math" panose="02040503050406030204" pitchFamily="18" charset="0"/>
                          <a:ea typeface="等线" panose="02010600030101010101" pitchFamily="2" charset="-122"/>
                        </a:rPr>
                        <m:t>=[8,7,8,5,8]</m:t>
                      </m:r>
                    </m:oMath>
                  </a14:m>
                  <a:r>
                    <a:rPr lang="zh-CN" altLang="en-US" sz="1800" dirty="0">
                      <a:solidFill>
                        <a:srgbClr val="0070C0"/>
                      </a:solidFill>
                      <a:latin typeface="等线" panose="02010600030101010101" pitchFamily="2" charset="-122"/>
                      <a:ea typeface="等线" panose="02010600030101010101" pitchFamily="2" charset="-122"/>
                    </a:rPr>
                    <a:t>作为用户</a:t>
                  </a:r>
                  <a:r>
                    <a:rPr lang="en-US" altLang="zh-CN" sz="1800" dirty="0">
                      <a:solidFill>
                        <a:srgbClr val="0070C0"/>
                      </a:solidFill>
                      <a:latin typeface="等线" panose="02010600030101010101" pitchFamily="2" charset="-122"/>
                      <a:ea typeface="等线" panose="02010600030101010101" pitchFamily="2" charset="-122"/>
                    </a:rPr>
                    <a:t>00002</a:t>
                  </a:r>
                  <a:r>
                    <a:rPr lang="zh-CN" altLang="en-US" sz="1800" dirty="0">
                      <a:solidFill>
                        <a:srgbClr val="0070C0"/>
                      </a:solidFill>
                      <a:latin typeface="等线" panose="02010600030101010101" pitchFamily="2" charset="-122"/>
                      <a:ea typeface="等线" panose="02010600030101010101" pitchFamily="2" charset="-122"/>
                    </a:rPr>
                    <a:t>的特征。</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这里使用余弦相似度。那么用户</a:t>
                  </a:r>
                  <a:r>
                    <a:rPr lang="en-US" altLang="zh-CN" sz="1800" dirty="0">
                      <a:solidFill>
                        <a:srgbClr val="0070C0"/>
                      </a:solidFill>
                      <a:latin typeface="等线" panose="02010600030101010101" pitchFamily="2" charset="-122"/>
                      <a:ea typeface="等线" panose="02010600030101010101" pitchFamily="2" charset="-122"/>
                    </a:rPr>
                    <a:t>00001</a:t>
                  </a:r>
                  <a:r>
                    <a:rPr lang="zh-CN" altLang="en-US" sz="1800" dirty="0">
                      <a:solidFill>
                        <a:srgbClr val="0070C0"/>
                      </a:solidFill>
                      <a:latin typeface="等线" panose="02010600030101010101" pitchFamily="2" charset="-122"/>
                      <a:ea typeface="等线" panose="02010600030101010101" pitchFamily="2" charset="-122"/>
                    </a:rPr>
                    <a:t>和用户</a:t>
                  </a:r>
                  <a:r>
                    <a:rPr lang="en-US" altLang="zh-CN" sz="1800" dirty="0">
                      <a:solidFill>
                        <a:srgbClr val="0070C0"/>
                      </a:solidFill>
                      <a:latin typeface="等线" panose="02010600030101010101" pitchFamily="2" charset="-122"/>
                      <a:ea typeface="等线" panose="02010600030101010101" pitchFamily="2" charset="-122"/>
                    </a:rPr>
                    <a:t>00002</a:t>
                  </a:r>
                  <a:r>
                    <a:rPr lang="zh-CN" altLang="en-US" sz="1800" dirty="0">
                      <a:solidFill>
                        <a:srgbClr val="0070C0"/>
                      </a:solidFill>
                      <a:latin typeface="等线" panose="02010600030101010101" pitchFamily="2" charset="-122"/>
                      <a:ea typeface="等线" panose="02010600030101010101" pitchFamily="2" charset="-122"/>
                    </a:rPr>
                    <a:t>的相似度为</a:t>
                  </a:r>
                  <a:endParaRPr lang="en-US" altLang="zh-CN" sz="1800" dirty="0">
                    <a:solidFill>
                      <a:srgbClr val="0070C0"/>
                    </a:solidFill>
                    <a:latin typeface="等线" panose="02010600030101010101" pitchFamily="2" charset="-122"/>
                    <a:ea typeface="等线" panose="02010600030101010101" pitchFamily="2" charset="-122"/>
                  </a:endParaRPr>
                </a:p>
              </p:txBody>
            </p:sp>
          </mc:Choice>
          <mc:Fallback xmlns="">
            <p:sp>
              <p:nvSpPr>
                <p:cNvPr id="15" name="Content Placeholder 2"/>
                <p:cNvSpPr txBox="1">
                  <a:spLocks noRot="1" noChangeAspect="1" noMove="1" noResize="1" noEditPoints="1" noAdjustHandles="1" noChangeArrowheads="1" noChangeShapeType="1" noTextEdit="1"/>
                </p:cNvSpPr>
                <p:nvPr/>
              </p:nvSpPr>
              <p:spPr>
                <a:xfrm>
                  <a:off x="670029" y="2819400"/>
                  <a:ext cx="3444771" cy="3429000"/>
                </a:xfrm>
                <a:prstGeom prst="rect">
                  <a:avLst/>
                </a:prstGeom>
                <a:blipFill>
                  <a:blip r:embed="rId3"/>
                  <a:stretch>
                    <a:fillRect l="-2301" t="-533" r="-141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D812C25E-5E9B-48C3-9349-E57CB3952434}"/>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基于用户的协同过滤</a:t>
              </a:r>
            </a:p>
          </p:txBody>
        </p:sp>
        <p:cxnSp>
          <p:nvCxnSpPr>
            <p:cNvPr id="6" name="直接连接符 5">
              <a:extLst>
                <a:ext uri="{FF2B5EF4-FFF2-40B4-BE49-F238E27FC236}">
                  <a16:creationId xmlns:a16="http://schemas.microsoft.com/office/drawing/2014/main" id="{D36017C9-3E33-4B26-872B-7642235445FB}"/>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7" name="组合 46">
            <a:extLst>
              <a:ext uri="{FF2B5EF4-FFF2-40B4-BE49-F238E27FC236}">
                <a16:creationId xmlns:a16="http://schemas.microsoft.com/office/drawing/2014/main" id="{F78B8AAA-A7EA-4C1B-A112-66527E75E38B}"/>
              </a:ext>
            </a:extLst>
          </p:cNvPr>
          <p:cNvGrpSpPr>
            <a:grpSpLocks/>
          </p:cNvGrpSpPr>
          <p:nvPr/>
        </p:nvGrpSpPr>
        <p:grpSpPr bwMode="auto">
          <a:xfrm>
            <a:off x="0" y="284163"/>
            <a:ext cx="3276826" cy="530225"/>
            <a:chOff x="1742209" y="284389"/>
            <a:chExt cx="2627978" cy="529772"/>
          </a:xfrm>
          <a:solidFill>
            <a:srgbClr val="024C89"/>
          </a:solidFill>
        </p:grpSpPr>
        <p:sp>
          <p:nvSpPr>
            <p:cNvPr id="8" name="矩形 7">
              <a:extLst>
                <a:ext uri="{FF2B5EF4-FFF2-40B4-BE49-F238E27FC236}">
                  <a16:creationId xmlns:a16="http://schemas.microsoft.com/office/drawing/2014/main" id="{99595FB8-45DF-4109-8BBC-4AC21859402B}"/>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9" name="矩形 8">
              <a:extLst>
                <a:ext uri="{FF2B5EF4-FFF2-40B4-BE49-F238E27FC236}">
                  <a16:creationId xmlns:a16="http://schemas.microsoft.com/office/drawing/2014/main" id="{A908D591-EE0C-48D5-8D6C-31AEDE1EF46D}"/>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10" name="图片 9">
            <a:extLst>
              <a:ext uri="{FF2B5EF4-FFF2-40B4-BE49-F238E27FC236}">
                <a16:creationId xmlns:a16="http://schemas.microsoft.com/office/drawing/2014/main" id="{F43C0B5C-5842-4D82-9B4A-056F06354EF9}"/>
              </a:ext>
            </a:extLst>
          </p:cNvPr>
          <p:cNvPicPr>
            <a:picLocks noChangeAspect="1"/>
          </p:cNvPicPr>
          <p:nvPr/>
        </p:nvPicPr>
        <p:blipFill>
          <a:blip r:embed="rId4"/>
          <a:stretch>
            <a:fillRect/>
          </a:stretch>
        </p:blipFill>
        <p:spPr>
          <a:xfrm>
            <a:off x="670029" y="5029200"/>
            <a:ext cx="6372225" cy="923925"/>
          </a:xfrm>
          <a:prstGeom prst="rect">
            <a:avLst/>
          </a:prstGeom>
        </p:spPr>
      </p:pic>
      <p:graphicFrame>
        <p:nvGraphicFramePr>
          <p:cNvPr id="11" name="表格 10">
            <a:extLst>
              <a:ext uri="{FF2B5EF4-FFF2-40B4-BE49-F238E27FC236}">
                <a16:creationId xmlns:a16="http://schemas.microsoft.com/office/drawing/2014/main" id="{D6CFD2BF-80E3-4761-98D5-995159769250}"/>
              </a:ext>
            </a:extLst>
          </p:cNvPr>
          <p:cNvGraphicFramePr>
            <a:graphicFrameLocks noGrp="1"/>
          </p:cNvGraphicFramePr>
          <p:nvPr/>
        </p:nvGraphicFramePr>
        <p:xfrm>
          <a:off x="4419600" y="2204720"/>
          <a:ext cx="4495800" cy="2595880"/>
        </p:xfrm>
        <a:graphic>
          <a:graphicData uri="http://schemas.openxmlformats.org/drawingml/2006/table">
            <a:tbl>
              <a:tblPr firstRow="1" firstCol="1" bandRow="1">
                <a:tableStyleId>{5C22544A-7EE6-4342-B048-85BDC9FD1C3A}</a:tableStyleId>
              </a:tblPr>
              <a:tblGrid>
                <a:gridCol w="942668">
                  <a:extLst>
                    <a:ext uri="{9D8B030D-6E8A-4147-A177-3AD203B41FA5}">
                      <a16:colId xmlns:a16="http://schemas.microsoft.com/office/drawing/2014/main" val="624084034"/>
                    </a:ext>
                  </a:extLst>
                </a:gridCol>
                <a:gridCol w="652616">
                  <a:extLst>
                    <a:ext uri="{9D8B030D-6E8A-4147-A177-3AD203B41FA5}">
                      <a16:colId xmlns:a16="http://schemas.microsoft.com/office/drawing/2014/main" val="1545497573"/>
                    </a:ext>
                  </a:extLst>
                </a:gridCol>
                <a:gridCol w="708686">
                  <a:extLst>
                    <a:ext uri="{9D8B030D-6E8A-4147-A177-3AD203B41FA5}">
                      <a16:colId xmlns:a16="http://schemas.microsoft.com/office/drawing/2014/main" val="549426046"/>
                    </a:ext>
                  </a:extLst>
                </a:gridCol>
                <a:gridCol w="669059">
                  <a:extLst>
                    <a:ext uri="{9D8B030D-6E8A-4147-A177-3AD203B41FA5}">
                      <a16:colId xmlns:a16="http://schemas.microsoft.com/office/drawing/2014/main" val="3849227356"/>
                    </a:ext>
                  </a:extLst>
                </a:gridCol>
                <a:gridCol w="666429">
                  <a:extLst>
                    <a:ext uri="{9D8B030D-6E8A-4147-A177-3AD203B41FA5}">
                      <a16:colId xmlns:a16="http://schemas.microsoft.com/office/drawing/2014/main" val="4259075429"/>
                    </a:ext>
                  </a:extLst>
                </a:gridCol>
                <a:gridCol w="856342">
                  <a:extLst>
                    <a:ext uri="{9D8B030D-6E8A-4147-A177-3AD203B41FA5}">
                      <a16:colId xmlns:a16="http://schemas.microsoft.com/office/drawing/2014/main" val="580332812"/>
                    </a:ext>
                  </a:extLst>
                </a:gridCol>
              </a:tblGrid>
              <a:tr h="370840">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用户</a:t>
                      </a:r>
                      <a:r>
                        <a:rPr lang="en-US" altLang="zh-CN"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ID</a:t>
                      </a:r>
                      <a:endPar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白酒</a:t>
                      </a: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红酒</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女装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男装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1600" b="0" dirty="0">
                          <a:solidFill>
                            <a:schemeClr val="tx1">
                              <a:lumMod val="95000"/>
                              <a:lumOff val="5000"/>
                              <a:alpha val="80000"/>
                            </a:schemeClr>
                          </a:solidFill>
                          <a:latin typeface="微软雅黑" panose="020B0503020204020204" pitchFamily="34" charset="-122"/>
                          <a:ea typeface="微软雅黑" panose="020B0503020204020204" pitchFamily="34" charset="-122"/>
                        </a:rPr>
                        <a:t>运动鞋</a:t>
                      </a: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5113587"/>
                  </a:ext>
                </a:extLst>
              </a:tr>
              <a:tr h="370840">
                <a:tc>
                  <a:txBody>
                    <a:bodyPr/>
                    <a:lstStyle/>
                    <a:p>
                      <a:pPr algn="ctr"/>
                      <a:r>
                        <a:rPr lang="en-US" altLang="zh-CN" sz="1600" b="0" dirty="0">
                          <a:solidFill>
                            <a:schemeClr val="tx1">
                              <a:lumMod val="95000"/>
                              <a:lumOff val="5000"/>
                              <a:alpha val="80000"/>
                            </a:schemeClr>
                          </a:solidFill>
                        </a:rPr>
                        <a:t>00001</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10</a:t>
                      </a: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7</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2</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4</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61769197"/>
                  </a:ext>
                </a:extLst>
              </a:tr>
              <a:tr h="370840">
                <a:tc>
                  <a:txBody>
                    <a:bodyPr/>
                    <a:lstStyle/>
                    <a:p>
                      <a:pPr algn="ctr"/>
                      <a:r>
                        <a:rPr lang="en-US" altLang="zh-CN" sz="1600" b="0" dirty="0">
                          <a:solidFill>
                            <a:schemeClr val="tx1">
                              <a:lumMod val="95000"/>
                              <a:lumOff val="5000"/>
                              <a:alpha val="80000"/>
                            </a:schemeClr>
                          </a:solidFill>
                        </a:rPr>
                        <a:t>00002</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7</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5</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5010243"/>
                  </a:ext>
                </a:extLst>
              </a:tr>
              <a:tr h="370840">
                <a:tc>
                  <a:txBody>
                    <a:bodyPr/>
                    <a:lstStyle/>
                    <a:p>
                      <a:pPr algn="ctr"/>
                      <a:r>
                        <a:rPr lang="en-US" altLang="zh-CN" sz="1600" b="0" dirty="0">
                          <a:solidFill>
                            <a:schemeClr val="tx1">
                              <a:lumMod val="95000"/>
                              <a:lumOff val="5000"/>
                              <a:alpha val="80000"/>
                            </a:schemeClr>
                          </a:solidFill>
                        </a:rPr>
                        <a:t>00003</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6</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4</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5</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143135"/>
                  </a:ext>
                </a:extLst>
              </a:tr>
              <a:tr h="370840">
                <a:tc>
                  <a:txBody>
                    <a:bodyPr/>
                    <a:lstStyle/>
                    <a:p>
                      <a:pPr algn="ctr"/>
                      <a:r>
                        <a:rPr lang="en-US" altLang="zh-CN" sz="1600" b="0" dirty="0">
                          <a:solidFill>
                            <a:schemeClr val="tx1">
                              <a:lumMod val="95000"/>
                              <a:lumOff val="5000"/>
                              <a:alpha val="80000"/>
                            </a:schemeClr>
                          </a:solidFill>
                        </a:rPr>
                        <a:t>00004</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3</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8</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3</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9713563"/>
                  </a:ext>
                </a:extLst>
              </a:tr>
              <a:tr h="370840">
                <a:tc>
                  <a:txBody>
                    <a:bodyPr/>
                    <a:lstStyle/>
                    <a:p>
                      <a:pPr algn="ctr"/>
                      <a:r>
                        <a:rPr lang="en-US" altLang="zh-CN" sz="1600" b="0" dirty="0">
                          <a:solidFill>
                            <a:schemeClr val="tx1">
                              <a:lumMod val="95000"/>
                              <a:lumOff val="5000"/>
                              <a:alpha val="80000"/>
                            </a:schemeClr>
                          </a:solidFill>
                        </a:rPr>
                        <a:t>00005</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2</a:t>
                      </a: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5</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4</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4</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6582931"/>
                  </a:ext>
                </a:extLst>
              </a:tr>
              <a:tr h="370840">
                <a:tc>
                  <a:txBody>
                    <a:bodyPr/>
                    <a:lstStyle/>
                    <a:p>
                      <a:pPr algn="ctr"/>
                      <a:r>
                        <a:rPr lang="en-US" altLang="zh-CN" sz="1600" b="0" dirty="0">
                          <a:solidFill>
                            <a:schemeClr val="tx1">
                              <a:lumMod val="95000"/>
                              <a:lumOff val="5000"/>
                              <a:alpha val="80000"/>
                            </a:schemeClr>
                          </a:solidFill>
                        </a:rPr>
                        <a:t>00006</a:t>
                      </a:r>
                      <a:endParaRPr lang="zh-CN" altLang="en-US" sz="1600"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2</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9</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7</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solidFill>
                            <a:schemeClr val="tx1">
                              <a:lumMod val="95000"/>
                              <a:lumOff val="5000"/>
                              <a:alpha val="80000"/>
                            </a:schemeClr>
                          </a:solidFill>
                        </a:rPr>
                        <a:t>3</a:t>
                      </a:r>
                      <a:endParaRPr lang="zh-CN" altLang="en-US" sz="1600"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0130574"/>
                  </a:ext>
                </a:extLst>
              </a:tr>
            </a:tbl>
          </a:graphicData>
        </a:graphic>
      </p:graphicFrame>
    </p:spTree>
    <p:extLst>
      <p:ext uri="{BB962C8B-B14F-4D97-AF65-F5344CB8AC3E}">
        <p14:creationId xmlns:p14="http://schemas.microsoft.com/office/powerpoint/2010/main" val="3064864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CC69E93D-A294-49E5-A23F-1F878B46ADC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967D1146-20B4-42AB-A5B3-A689F50C9BAF}"/>
              </a:ext>
            </a:extLst>
          </p:cNvPr>
          <p:cNvGrpSpPr/>
          <p:nvPr/>
        </p:nvGrpSpPr>
        <p:grpSpPr>
          <a:xfrm>
            <a:off x="660981" y="1676400"/>
            <a:ext cx="3606219" cy="3966865"/>
            <a:chOff x="660981" y="2281535"/>
            <a:chExt cx="3453819" cy="3966865"/>
          </a:xfrm>
        </p:grpSpPr>
        <p:sp>
          <p:nvSpPr>
            <p:cNvPr id="4" name="Content Placeholder 2">
              <a:extLst>
                <a:ext uri="{FF2B5EF4-FFF2-40B4-BE49-F238E27FC236}">
                  <a16:creationId xmlns:a16="http://schemas.microsoft.com/office/drawing/2014/main" id="{EADB8BF4-82EC-47F7-A174-34A0F0522738}"/>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基于用户带来的问题</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algn="just">
                <a:lnSpc>
                  <a:spcPct val="125000"/>
                </a:lnSpc>
                <a:spcBef>
                  <a:spcPts val="600"/>
                </a:spcBef>
                <a:buFont typeface="Wingdings" panose="05000000000000000000" pitchFamily="2" charset="2"/>
                <a:buChar char="Ø"/>
              </a:pPr>
              <a:r>
                <a:rPr lang="en-US" altLang="zh-CN" sz="1800" dirty="0">
                  <a:solidFill>
                    <a:srgbClr val="0070C0"/>
                  </a:solidFill>
                  <a:latin typeface="等线" panose="02010600030101010101" pitchFamily="2" charset="-122"/>
                  <a:ea typeface="等线" panose="02010600030101010101" pitchFamily="2" charset="-122"/>
                </a:rPr>
                <a:t>·</a:t>
              </a:r>
              <a:r>
                <a:rPr lang="zh-CN" altLang="en-US" sz="1800" b="1" dirty="0">
                  <a:solidFill>
                    <a:srgbClr val="C00000"/>
                  </a:solidFill>
                  <a:latin typeface="等线" panose="02010600030101010101" pitchFamily="2" charset="-122"/>
                  <a:ea typeface="等线" panose="02010600030101010101" pitchFamily="2" charset="-122"/>
                </a:rPr>
                <a:t>算法扩展性</a:t>
              </a:r>
              <a:r>
                <a:rPr lang="en-US" altLang="zh-CN" sz="1800" dirty="0">
                  <a:solidFill>
                    <a:srgbClr val="0070C0"/>
                  </a:solidFill>
                  <a:latin typeface="等线" panose="02010600030101010101" pitchFamily="2" charset="-122"/>
                  <a:ea typeface="等线" panose="02010600030101010101" pitchFamily="2" charset="-122"/>
                </a:rPr>
                <a:t>· </a:t>
              </a:r>
              <a:r>
                <a:rPr lang="zh-CN" altLang="en-US" sz="1800" dirty="0">
                  <a:solidFill>
                    <a:srgbClr val="0070C0"/>
                  </a:solidFill>
                  <a:latin typeface="等线" panose="02010600030101010101" pitchFamily="2" charset="-122"/>
                  <a:ea typeface="等线" panose="02010600030101010101" pitchFamily="2" charset="-122"/>
                </a:rPr>
                <a:t>随着用户数量的增加，其时间代价也显著增长。</a:t>
              </a:r>
              <a:endParaRPr lang="en-US" altLang="zh-CN" sz="1800" dirty="0">
                <a:solidFill>
                  <a:srgbClr val="0070C0"/>
                </a:solidFill>
                <a:latin typeface="等线" panose="02010600030101010101" pitchFamily="2" charset="-122"/>
                <a:ea typeface="等线" panose="02010600030101010101" pitchFamily="2" charset="-122"/>
              </a:endParaRPr>
            </a:p>
            <a:p>
              <a:pPr algn="just">
                <a:lnSpc>
                  <a:spcPct val="125000"/>
                </a:lnSpc>
                <a:spcBef>
                  <a:spcPts val="600"/>
                </a:spcBef>
                <a:buFont typeface="Wingdings" panose="05000000000000000000" pitchFamily="2" charset="2"/>
                <a:buChar char="Ø"/>
              </a:pPr>
              <a:r>
                <a:rPr lang="en-US" altLang="zh-CN" sz="1800" dirty="0">
                  <a:solidFill>
                    <a:srgbClr val="0070C0"/>
                  </a:solidFill>
                  <a:latin typeface="等线" panose="02010600030101010101" pitchFamily="2" charset="-122"/>
                  <a:ea typeface="等线" panose="02010600030101010101" pitchFamily="2" charset="-122"/>
                </a:rPr>
                <a:t>·</a:t>
              </a:r>
              <a:r>
                <a:rPr lang="zh-CN" altLang="en-US" sz="1800" b="1" dirty="0">
                  <a:solidFill>
                    <a:srgbClr val="C00000"/>
                  </a:solidFill>
                  <a:latin typeface="等线" panose="02010600030101010101" pitchFamily="2" charset="-122"/>
                  <a:ea typeface="等线" panose="02010600030101010101" pitchFamily="2" charset="-122"/>
                </a:rPr>
                <a:t>数据稀疏性</a:t>
              </a:r>
              <a:r>
                <a:rPr lang="en-US" altLang="zh-CN" sz="1800" dirty="0">
                  <a:solidFill>
                    <a:srgbClr val="0070C0"/>
                  </a:solidFill>
                  <a:latin typeface="等线" panose="02010600030101010101" pitchFamily="2" charset="-122"/>
                  <a:ea typeface="等线" panose="02010600030101010101" pitchFamily="2" charset="-122"/>
                </a:rPr>
                <a:t>· </a:t>
              </a:r>
              <a:r>
                <a:rPr lang="zh-CN" altLang="en-US" sz="1800" dirty="0">
                  <a:solidFill>
                    <a:srgbClr val="0070C0"/>
                  </a:solidFill>
                  <a:latin typeface="等线" panose="02010600030101010101" pitchFamily="2" charset="-122"/>
                  <a:ea typeface="等线" panose="02010600030101010101" pitchFamily="2" charset="-122"/>
                </a:rPr>
                <a:t>往往用户所购买的不到一个商城所有物品的</a:t>
              </a:r>
              <a:r>
                <a:rPr lang="en-US" altLang="zh-CN" sz="1800" dirty="0">
                  <a:solidFill>
                    <a:srgbClr val="0070C0"/>
                  </a:solidFill>
                  <a:latin typeface="等线" panose="02010600030101010101" pitchFamily="2" charset="-122"/>
                  <a:ea typeface="等线" panose="02010600030101010101" pitchFamily="2" charset="-122"/>
                </a:rPr>
                <a:t>1%</a:t>
              </a:r>
              <a:r>
                <a:rPr lang="zh-CN" altLang="en-US" sz="1800" dirty="0">
                  <a:solidFill>
                    <a:srgbClr val="0070C0"/>
                  </a:solidFill>
                  <a:latin typeface="等线" panose="02010600030101010101" pitchFamily="2" charset="-122"/>
                  <a:ea typeface="等线" panose="02010600030101010101" pitchFamily="2" charset="-122"/>
                </a:rPr>
                <a:t>，因此用户之间的相似性可能不准确。</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因此，研究人员提出了</a:t>
              </a:r>
              <a:r>
                <a:rPr lang="zh-CN" altLang="en-US" sz="1800" dirty="0">
                  <a:solidFill>
                    <a:srgbClr val="C00000"/>
                  </a:solidFill>
                  <a:latin typeface="等线" panose="02010600030101010101" pitchFamily="2" charset="-122"/>
                  <a:ea typeface="等线" panose="02010600030101010101" pitchFamily="2" charset="-122"/>
                </a:rPr>
                <a:t>基于物品的协同过滤</a:t>
              </a:r>
              <a:r>
                <a:rPr lang="zh-CN" altLang="en-US" sz="1800" dirty="0">
                  <a:solidFill>
                    <a:srgbClr val="0070C0"/>
                  </a:solidFill>
                  <a:latin typeface="等线" panose="02010600030101010101" pitchFamily="2" charset="-122"/>
                  <a:ea typeface="等线" panose="02010600030101010101" pitchFamily="2" charset="-122"/>
                </a:rPr>
                <a:t>。</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EDB96D38-0139-4D58-9407-5EA501CC1CDE}"/>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基于用户的协同过滤</a:t>
              </a:r>
            </a:p>
          </p:txBody>
        </p:sp>
        <p:cxnSp>
          <p:nvCxnSpPr>
            <p:cNvPr id="6" name="直接连接符 5">
              <a:extLst>
                <a:ext uri="{FF2B5EF4-FFF2-40B4-BE49-F238E27FC236}">
                  <a16:creationId xmlns:a16="http://schemas.microsoft.com/office/drawing/2014/main" id="{F8538557-50B3-402C-BD00-3F0F00D6C721}"/>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7" name="组合 46">
            <a:extLst>
              <a:ext uri="{FF2B5EF4-FFF2-40B4-BE49-F238E27FC236}">
                <a16:creationId xmlns:a16="http://schemas.microsoft.com/office/drawing/2014/main" id="{8F16362A-9441-493E-A94D-8543C1D359C1}"/>
              </a:ext>
            </a:extLst>
          </p:cNvPr>
          <p:cNvGrpSpPr>
            <a:grpSpLocks/>
          </p:cNvGrpSpPr>
          <p:nvPr/>
        </p:nvGrpSpPr>
        <p:grpSpPr bwMode="auto">
          <a:xfrm>
            <a:off x="0" y="284163"/>
            <a:ext cx="3276826" cy="530225"/>
            <a:chOff x="1742209" y="284389"/>
            <a:chExt cx="2627978" cy="529772"/>
          </a:xfrm>
          <a:solidFill>
            <a:srgbClr val="024C89"/>
          </a:solidFill>
        </p:grpSpPr>
        <p:sp>
          <p:nvSpPr>
            <p:cNvPr id="8" name="矩形 7">
              <a:extLst>
                <a:ext uri="{FF2B5EF4-FFF2-40B4-BE49-F238E27FC236}">
                  <a16:creationId xmlns:a16="http://schemas.microsoft.com/office/drawing/2014/main" id="{1452E7F0-30EE-4B54-A784-5BEAC63BB99A}"/>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9" name="矩形 8">
              <a:extLst>
                <a:ext uri="{FF2B5EF4-FFF2-40B4-BE49-F238E27FC236}">
                  <a16:creationId xmlns:a16="http://schemas.microsoft.com/office/drawing/2014/main" id="{83AA705E-D8CC-4321-9BEA-8CD2E6174FFE}"/>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0" name="组合 9">
            <a:extLst>
              <a:ext uri="{FF2B5EF4-FFF2-40B4-BE49-F238E27FC236}">
                <a16:creationId xmlns:a16="http://schemas.microsoft.com/office/drawing/2014/main" id="{05188B7C-F889-4C04-B72E-401506FCAED8}"/>
              </a:ext>
            </a:extLst>
          </p:cNvPr>
          <p:cNvGrpSpPr/>
          <p:nvPr/>
        </p:nvGrpSpPr>
        <p:grpSpPr>
          <a:xfrm>
            <a:off x="5418292" y="2819400"/>
            <a:ext cx="2887508" cy="2362200"/>
            <a:chOff x="5418292" y="2819400"/>
            <a:chExt cx="2887508" cy="2362200"/>
          </a:xfrm>
        </p:grpSpPr>
        <p:pic>
          <p:nvPicPr>
            <p:cNvPr id="11" name="Picture 2" descr="https://d30y9cdsu7xlg0.cloudfront.net/png/1268623-200.png">
              <a:extLst>
                <a:ext uri="{FF2B5EF4-FFF2-40B4-BE49-F238E27FC236}">
                  <a16:creationId xmlns:a16="http://schemas.microsoft.com/office/drawing/2014/main" id="{DAA1BF15-5D73-4FF9-B599-F6B621F71BB6}"/>
                </a:ext>
              </a:extLst>
            </p:cNvPr>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58000" y="2819400"/>
              <a:ext cx="144780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s://d30y9cdsu7xlg0.cloudfront.net/png/1328180-200.png">
              <a:extLst>
                <a:ext uri="{FF2B5EF4-FFF2-40B4-BE49-F238E27FC236}">
                  <a16:creationId xmlns:a16="http://schemas.microsoft.com/office/drawing/2014/main" id="{BE82066D-7E6D-4A34-84AA-31FA429EC1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292" y="3733800"/>
              <a:ext cx="1447800" cy="14478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39665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C5DA4145-3E80-4A5B-98D5-634504D3357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762CD764-4D4D-43E0-9AC9-BED61262FF5B}"/>
              </a:ext>
            </a:extLst>
          </p:cNvPr>
          <p:cNvGrpSpPr/>
          <p:nvPr/>
        </p:nvGrpSpPr>
        <p:grpSpPr>
          <a:xfrm>
            <a:off x="660981" y="1676400"/>
            <a:ext cx="3606219" cy="3966865"/>
            <a:chOff x="660981" y="2281535"/>
            <a:chExt cx="3453819" cy="3966865"/>
          </a:xfrm>
        </p:grpSpPr>
        <p:sp>
          <p:nvSpPr>
            <p:cNvPr id="4" name="Content Placeholder 2">
              <a:extLst>
                <a:ext uri="{FF2B5EF4-FFF2-40B4-BE49-F238E27FC236}">
                  <a16:creationId xmlns:a16="http://schemas.microsoft.com/office/drawing/2014/main" id="{8B7B210F-C271-41AF-9147-1F7269A1721B}"/>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基本思想</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基本思想与基于内容的推荐相似，都是计算物品之间的相似性。</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但两者计算的角度不同。在基于物品的方法中，两个物品之间的相似性是由购买二者的用户群体之间的相似度决定的。</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让我们举个例子说明一下。</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0E2FBA3E-9E09-46F3-8CFE-53B228ED1AFF}"/>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基于物品的协同过滤</a:t>
              </a:r>
            </a:p>
          </p:txBody>
        </p:sp>
        <p:cxnSp>
          <p:nvCxnSpPr>
            <p:cNvPr id="6" name="直接连接符 5">
              <a:extLst>
                <a:ext uri="{FF2B5EF4-FFF2-40B4-BE49-F238E27FC236}">
                  <a16:creationId xmlns:a16="http://schemas.microsoft.com/office/drawing/2014/main" id="{7C0BB7CB-084C-4B5F-9FEF-1EE314FCDC55}"/>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7" name="组合 46">
            <a:extLst>
              <a:ext uri="{FF2B5EF4-FFF2-40B4-BE49-F238E27FC236}">
                <a16:creationId xmlns:a16="http://schemas.microsoft.com/office/drawing/2014/main" id="{8F222018-49D4-4D46-97FD-EB723906408E}"/>
              </a:ext>
            </a:extLst>
          </p:cNvPr>
          <p:cNvGrpSpPr>
            <a:grpSpLocks/>
          </p:cNvGrpSpPr>
          <p:nvPr/>
        </p:nvGrpSpPr>
        <p:grpSpPr bwMode="auto">
          <a:xfrm>
            <a:off x="0" y="284163"/>
            <a:ext cx="3276826" cy="530225"/>
            <a:chOff x="1742209" y="284389"/>
            <a:chExt cx="2627978" cy="529772"/>
          </a:xfrm>
          <a:solidFill>
            <a:srgbClr val="024C89"/>
          </a:solidFill>
        </p:grpSpPr>
        <p:sp>
          <p:nvSpPr>
            <p:cNvPr id="8" name="矩形 7">
              <a:extLst>
                <a:ext uri="{FF2B5EF4-FFF2-40B4-BE49-F238E27FC236}">
                  <a16:creationId xmlns:a16="http://schemas.microsoft.com/office/drawing/2014/main" id="{E9B15354-4AD9-435F-B0F6-0723C7BB5390}"/>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9" name="矩形 8">
              <a:extLst>
                <a:ext uri="{FF2B5EF4-FFF2-40B4-BE49-F238E27FC236}">
                  <a16:creationId xmlns:a16="http://schemas.microsoft.com/office/drawing/2014/main" id="{BACE56A2-9E51-4A2D-87AC-6F1CDAE9756D}"/>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0" name="组合 9">
            <a:extLst>
              <a:ext uri="{FF2B5EF4-FFF2-40B4-BE49-F238E27FC236}">
                <a16:creationId xmlns:a16="http://schemas.microsoft.com/office/drawing/2014/main" id="{63B18C99-B701-4242-A7A5-57E89D76D814}"/>
              </a:ext>
            </a:extLst>
          </p:cNvPr>
          <p:cNvGrpSpPr/>
          <p:nvPr/>
        </p:nvGrpSpPr>
        <p:grpSpPr>
          <a:xfrm>
            <a:off x="5418292" y="2819400"/>
            <a:ext cx="2887508" cy="2362200"/>
            <a:chOff x="5418292" y="2819400"/>
            <a:chExt cx="2887508" cy="2362200"/>
          </a:xfrm>
        </p:grpSpPr>
        <p:pic>
          <p:nvPicPr>
            <p:cNvPr id="11" name="Picture 2" descr="https://d30y9cdsu7xlg0.cloudfront.net/png/1268623-200.png">
              <a:extLst>
                <a:ext uri="{FF2B5EF4-FFF2-40B4-BE49-F238E27FC236}">
                  <a16:creationId xmlns:a16="http://schemas.microsoft.com/office/drawing/2014/main" id="{3DC32132-43B4-4148-AFDE-EF7E82C3F1A6}"/>
                </a:ext>
              </a:extLst>
            </p:cNvPr>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58000" y="2819400"/>
              <a:ext cx="144780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s://d30y9cdsu7xlg0.cloudfront.net/png/1328180-200.png">
              <a:extLst>
                <a:ext uri="{FF2B5EF4-FFF2-40B4-BE49-F238E27FC236}">
                  <a16:creationId xmlns:a16="http://schemas.microsoft.com/office/drawing/2014/main" id="{6422B8A8-781F-4723-B80B-9684BE05E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292" y="3733800"/>
              <a:ext cx="1447800" cy="14478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28459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E37034B-D9FF-450E-9321-D9E892F4B14B}"/>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8F350D82-19F0-496F-B7A2-860C0C50271E}"/>
              </a:ext>
            </a:extLst>
          </p:cNvPr>
          <p:cNvGrpSpPr/>
          <p:nvPr/>
        </p:nvGrpSpPr>
        <p:grpSpPr>
          <a:xfrm>
            <a:off x="660981" y="1676400"/>
            <a:ext cx="3606219" cy="3966865"/>
            <a:chOff x="660981" y="2281535"/>
            <a:chExt cx="3453819" cy="3966865"/>
          </a:xfrm>
        </p:grpSpPr>
        <p:sp>
          <p:nvSpPr>
            <p:cNvPr id="4" name="Content Placeholder 2">
              <a:extLst>
                <a:ext uri="{FF2B5EF4-FFF2-40B4-BE49-F238E27FC236}">
                  <a16:creationId xmlns:a16="http://schemas.microsoft.com/office/drawing/2014/main" id="{977CD219-C127-4154-A682-B17CC27A0BEF}"/>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物品间的相似性</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右表表示一个系统中用户的消费情况。如第一行表示用户</a:t>
              </a:r>
              <a:r>
                <a:rPr lang="en-US" altLang="zh-CN" sz="1800" dirty="0">
                  <a:solidFill>
                    <a:srgbClr val="0070C0"/>
                  </a:solidFill>
                  <a:latin typeface="等线" panose="02010600030101010101" pitchFamily="2" charset="-122"/>
                  <a:ea typeface="等线" panose="02010600030101010101" pitchFamily="2" charset="-122"/>
                </a:rPr>
                <a:t>A</a:t>
              </a:r>
              <a:r>
                <a:rPr lang="zh-CN" altLang="en-US" sz="1800" dirty="0">
                  <a:solidFill>
                    <a:srgbClr val="0070C0"/>
                  </a:solidFill>
                  <a:latin typeface="等线" panose="02010600030101010101" pitchFamily="2" charset="-122"/>
                  <a:ea typeface="等线" panose="02010600030101010101" pitchFamily="2" charset="-122"/>
                </a:rPr>
                <a:t>购买了物品</a:t>
              </a:r>
              <a:r>
                <a:rPr lang="en-US" altLang="zh-CN" sz="1800" dirty="0">
                  <a:solidFill>
                    <a:srgbClr val="0070C0"/>
                  </a:solidFill>
                  <a:latin typeface="等线" panose="02010600030101010101" pitchFamily="2" charset="-122"/>
                  <a:ea typeface="等线" panose="02010600030101010101" pitchFamily="2" charset="-122"/>
                </a:rPr>
                <a:t>a,b,d</a:t>
              </a:r>
              <a:r>
                <a:rPr lang="zh-CN" altLang="en-US" sz="1800" dirty="0">
                  <a:solidFill>
                    <a:srgbClr val="0070C0"/>
                  </a:solidFill>
                  <a:latin typeface="等线" panose="02010600030101010101" pitchFamily="2" charset="-122"/>
                  <a:ea typeface="等线" panose="02010600030101010101" pitchFamily="2" charset="-122"/>
                </a:rPr>
                <a:t>。</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7B3745EF-2AB2-4154-BD50-5ACBE663A065}"/>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基于物品的协同过滤</a:t>
              </a:r>
            </a:p>
          </p:txBody>
        </p:sp>
        <p:cxnSp>
          <p:nvCxnSpPr>
            <p:cNvPr id="6" name="直接连接符 5">
              <a:extLst>
                <a:ext uri="{FF2B5EF4-FFF2-40B4-BE49-F238E27FC236}">
                  <a16:creationId xmlns:a16="http://schemas.microsoft.com/office/drawing/2014/main" id="{BC747799-EEDB-40FB-9380-84A99841A0ED}"/>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7" name="组合 46">
            <a:extLst>
              <a:ext uri="{FF2B5EF4-FFF2-40B4-BE49-F238E27FC236}">
                <a16:creationId xmlns:a16="http://schemas.microsoft.com/office/drawing/2014/main" id="{C87142AA-BCB4-45E5-9FA4-E6FFC4DAC8CE}"/>
              </a:ext>
            </a:extLst>
          </p:cNvPr>
          <p:cNvGrpSpPr>
            <a:grpSpLocks/>
          </p:cNvGrpSpPr>
          <p:nvPr/>
        </p:nvGrpSpPr>
        <p:grpSpPr bwMode="auto">
          <a:xfrm>
            <a:off x="0" y="284163"/>
            <a:ext cx="3276826" cy="530225"/>
            <a:chOff x="1742209" y="284389"/>
            <a:chExt cx="2627978" cy="529772"/>
          </a:xfrm>
          <a:solidFill>
            <a:srgbClr val="024C89"/>
          </a:solidFill>
        </p:grpSpPr>
        <p:sp>
          <p:nvSpPr>
            <p:cNvPr id="8" name="矩形 7">
              <a:extLst>
                <a:ext uri="{FF2B5EF4-FFF2-40B4-BE49-F238E27FC236}">
                  <a16:creationId xmlns:a16="http://schemas.microsoft.com/office/drawing/2014/main" id="{F3139319-2646-45B1-A901-B00C2312300A}"/>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9" name="矩形 8">
              <a:extLst>
                <a:ext uri="{FF2B5EF4-FFF2-40B4-BE49-F238E27FC236}">
                  <a16:creationId xmlns:a16="http://schemas.microsoft.com/office/drawing/2014/main" id="{D5596CF2-53A1-4A37-B3E8-C6636DDE2A9D}"/>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aphicFrame>
        <p:nvGraphicFramePr>
          <p:cNvPr id="10" name="表格 9">
            <a:extLst>
              <a:ext uri="{FF2B5EF4-FFF2-40B4-BE49-F238E27FC236}">
                <a16:creationId xmlns:a16="http://schemas.microsoft.com/office/drawing/2014/main" id="{18B71732-EEC8-4090-B743-2700FCB1853F}"/>
              </a:ext>
            </a:extLst>
          </p:cNvPr>
          <p:cNvGraphicFramePr>
            <a:graphicFrameLocks noGrp="1"/>
          </p:cNvGraphicFramePr>
          <p:nvPr>
            <p:extLst>
              <p:ext uri="{D42A27DB-BD31-4B8C-83A1-F6EECF244321}">
                <p14:modId xmlns:p14="http://schemas.microsoft.com/office/powerpoint/2010/main" val="3703112142"/>
              </p:ext>
            </p:extLst>
          </p:nvPr>
        </p:nvGraphicFramePr>
        <p:xfrm>
          <a:off x="5638800" y="2514600"/>
          <a:ext cx="2209800" cy="22250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624084034"/>
                    </a:ext>
                  </a:extLst>
                </a:gridCol>
                <a:gridCol w="1295400">
                  <a:extLst>
                    <a:ext uri="{9D8B030D-6E8A-4147-A177-3AD203B41FA5}">
                      <a16:colId xmlns:a16="http://schemas.microsoft.com/office/drawing/2014/main" val="1545497573"/>
                    </a:ext>
                  </a:extLst>
                </a:gridCol>
              </a:tblGrid>
              <a:tr h="370840">
                <a:tc>
                  <a:txBody>
                    <a:bodyPr/>
                    <a:lstStyle/>
                    <a:p>
                      <a:pPr algn="ctr"/>
                      <a:r>
                        <a:rPr lang="zh-CN" altLang="en-US" b="0" dirty="0">
                          <a:latin typeface="微软雅黑" panose="020B0503020204020204" pitchFamily="34" charset="-122"/>
                          <a:ea typeface="微软雅黑" panose="020B0503020204020204" pitchFamily="34" charset="-122"/>
                        </a:rPr>
                        <a:t>用户</a:t>
                      </a:r>
                    </a:p>
                  </a:txBody>
                  <a:tcPr/>
                </a:tc>
                <a:tc>
                  <a:txBody>
                    <a:bodyPr/>
                    <a:lstStyle/>
                    <a:p>
                      <a:pPr algn="ctr"/>
                      <a:r>
                        <a:rPr lang="zh-CN" altLang="en-US" b="0" dirty="0">
                          <a:latin typeface="微软雅黑" panose="020B0503020204020204" pitchFamily="34" charset="-122"/>
                          <a:ea typeface="微软雅黑" panose="020B0503020204020204" pitchFamily="34" charset="-122"/>
                        </a:rPr>
                        <a:t>物品</a:t>
                      </a:r>
                    </a:p>
                  </a:txBody>
                  <a:tcPr/>
                </a:tc>
                <a:extLst>
                  <a:ext uri="{0D108BD9-81ED-4DB2-BD59-A6C34878D82A}">
                    <a16:rowId xmlns:a16="http://schemas.microsoft.com/office/drawing/2014/main" val="1965113587"/>
                  </a:ext>
                </a:extLst>
              </a:tr>
              <a:tr h="370840">
                <a:tc>
                  <a:txBody>
                    <a:bodyPr/>
                    <a:lstStyle/>
                    <a:p>
                      <a:pPr algn="ctr"/>
                      <a:r>
                        <a:rPr lang="en-US" altLang="zh-CN" dirty="0"/>
                        <a:t>A</a:t>
                      </a:r>
                      <a:endParaRPr lang="zh-CN" altLang="en-US" dirty="0"/>
                    </a:p>
                  </a:txBody>
                  <a:tcPr/>
                </a:tc>
                <a:tc>
                  <a:txBody>
                    <a:bodyPr/>
                    <a:lstStyle/>
                    <a:p>
                      <a:r>
                        <a:rPr lang="en-US" altLang="zh-CN" dirty="0"/>
                        <a:t>  a, b, d</a:t>
                      </a:r>
                      <a:endParaRPr lang="zh-CN" altLang="en-US" dirty="0"/>
                    </a:p>
                  </a:txBody>
                  <a:tcPr/>
                </a:tc>
                <a:extLst>
                  <a:ext uri="{0D108BD9-81ED-4DB2-BD59-A6C34878D82A}">
                    <a16:rowId xmlns:a16="http://schemas.microsoft.com/office/drawing/2014/main" val="1361769197"/>
                  </a:ext>
                </a:extLst>
              </a:tr>
              <a:tr h="370840">
                <a:tc>
                  <a:txBody>
                    <a:bodyPr/>
                    <a:lstStyle/>
                    <a:p>
                      <a:pPr algn="ctr"/>
                      <a:r>
                        <a:rPr lang="en-US" altLang="zh-CN" dirty="0"/>
                        <a:t>B</a:t>
                      </a:r>
                      <a:endParaRPr lang="zh-CN" altLang="en-US" dirty="0"/>
                    </a:p>
                  </a:txBody>
                  <a:tcPr/>
                </a:tc>
                <a:tc>
                  <a:txBody>
                    <a:bodyPr/>
                    <a:lstStyle/>
                    <a:p>
                      <a:r>
                        <a:rPr lang="en-US" altLang="zh-CN" dirty="0"/>
                        <a:t>  b, c, e</a:t>
                      </a:r>
                      <a:endParaRPr lang="zh-CN" altLang="en-US" dirty="0"/>
                    </a:p>
                  </a:txBody>
                  <a:tcPr/>
                </a:tc>
                <a:extLst>
                  <a:ext uri="{0D108BD9-81ED-4DB2-BD59-A6C34878D82A}">
                    <a16:rowId xmlns:a16="http://schemas.microsoft.com/office/drawing/2014/main" val="2535010243"/>
                  </a:ext>
                </a:extLst>
              </a:tr>
              <a:tr h="370840">
                <a:tc>
                  <a:txBody>
                    <a:bodyPr/>
                    <a:lstStyle/>
                    <a:p>
                      <a:pPr algn="ctr"/>
                      <a:r>
                        <a:rPr lang="en-US" altLang="zh-CN" dirty="0"/>
                        <a:t>C</a:t>
                      </a:r>
                      <a:endParaRPr lang="zh-CN" altLang="en-US" dirty="0"/>
                    </a:p>
                  </a:txBody>
                  <a:tcPr/>
                </a:tc>
                <a:tc>
                  <a:txBody>
                    <a:bodyPr/>
                    <a:lstStyle/>
                    <a:p>
                      <a:r>
                        <a:rPr lang="en-US" altLang="zh-CN" baseline="0" dirty="0"/>
                        <a:t>  c, d</a:t>
                      </a:r>
                      <a:endParaRPr lang="zh-CN" altLang="en-US" dirty="0"/>
                    </a:p>
                  </a:txBody>
                  <a:tcPr/>
                </a:tc>
                <a:extLst>
                  <a:ext uri="{0D108BD9-81ED-4DB2-BD59-A6C34878D82A}">
                    <a16:rowId xmlns:a16="http://schemas.microsoft.com/office/drawing/2014/main" val="561143135"/>
                  </a:ext>
                </a:extLst>
              </a:tr>
              <a:tr h="370840">
                <a:tc>
                  <a:txBody>
                    <a:bodyPr/>
                    <a:lstStyle/>
                    <a:p>
                      <a:pPr algn="ctr"/>
                      <a:r>
                        <a:rPr lang="en-US" altLang="zh-CN" dirty="0"/>
                        <a:t>D</a:t>
                      </a:r>
                      <a:endParaRPr lang="zh-CN" altLang="en-US" dirty="0"/>
                    </a:p>
                  </a:txBody>
                  <a:tcPr/>
                </a:tc>
                <a:tc>
                  <a:txBody>
                    <a:bodyPr/>
                    <a:lstStyle/>
                    <a:p>
                      <a:r>
                        <a:rPr lang="en-US" altLang="zh-CN" dirty="0"/>
                        <a:t>  b, c, d</a:t>
                      </a:r>
                      <a:endParaRPr lang="zh-CN" altLang="en-US" dirty="0"/>
                    </a:p>
                  </a:txBody>
                  <a:tcPr/>
                </a:tc>
                <a:extLst>
                  <a:ext uri="{0D108BD9-81ED-4DB2-BD59-A6C34878D82A}">
                    <a16:rowId xmlns:a16="http://schemas.microsoft.com/office/drawing/2014/main" val="2999713563"/>
                  </a:ext>
                </a:extLst>
              </a:tr>
              <a:tr h="370840">
                <a:tc>
                  <a:txBody>
                    <a:bodyPr/>
                    <a:lstStyle/>
                    <a:p>
                      <a:pPr algn="ctr"/>
                      <a:r>
                        <a:rPr lang="en-US" altLang="zh-CN" dirty="0"/>
                        <a:t>E</a:t>
                      </a:r>
                      <a:endParaRPr lang="zh-CN" altLang="en-US" dirty="0"/>
                    </a:p>
                  </a:txBody>
                  <a:tcPr/>
                </a:tc>
                <a:tc>
                  <a:txBody>
                    <a:bodyPr/>
                    <a:lstStyle/>
                    <a:p>
                      <a:r>
                        <a:rPr lang="en-US" altLang="zh-CN" dirty="0"/>
                        <a:t>  a,</a:t>
                      </a:r>
                      <a:r>
                        <a:rPr lang="en-US" altLang="zh-CN" baseline="0" dirty="0"/>
                        <a:t> d</a:t>
                      </a:r>
                      <a:endParaRPr lang="zh-CN" altLang="en-US" dirty="0"/>
                    </a:p>
                  </a:txBody>
                  <a:tcPr/>
                </a:tc>
                <a:extLst>
                  <a:ext uri="{0D108BD9-81ED-4DB2-BD59-A6C34878D82A}">
                    <a16:rowId xmlns:a16="http://schemas.microsoft.com/office/drawing/2014/main" val="3446582931"/>
                  </a:ext>
                </a:extLst>
              </a:tr>
            </a:tbl>
          </a:graphicData>
        </a:graphic>
      </p:graphicFrame>
    </p:spTree>
    <p:extLst>
      <p:ext uri="{BB962C8B-B14F-4D97-AF65-F5344CB8AC3E}">
        <p14:creationId xmlns:p14="http://schemas.microsoft.com/office/powerpoint/2010/main" val="1602040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6F8267D-25A5-4EE6-BB25-6982A0010D3D}"/>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390EBB1F-70D6-4170-BC63-84C2A9B0BCF9}"/>
              </a:ext>
            </a:extLst>
          </p:cNvPr>
          <p:cNvGrpSpPr/>
          <p:nvPr/>
        </p:nvGrpSpPr>
        <p:grpSpPr>
          <a:xfrm>
            <a:off x="660981" y="1676400"/>
            <a:ext cx="3606219" cy="3966865"/>
            <a:chOff x="660981" y="2281535"/>
            <a:chExt cx="3453819" cy="3966865"/>
          </a:xfrm>
        </p:grpSpPr>
        <p:sp>
          <p:nvSpPr>
            <p:cNvPr id="4" name="Content Placeholder 2">
              <a:extLst>
                <a:ext uri="{FF2B5EF4-FFF2-40B4-BE49-F238E27FC236}">
                  <a16:creationId xmlns:a16="http://schemas.microsoft.com/office/drawing/2014/main" id="{2B302969-8BB9-4033-B63C-170F427E6D67}"/>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物品间的相似性</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右表表示一个系统中用户的消费情况。如第一行表示用户</a:t>
              </a:r>
              <a:r>
                <a:rPr lang="en-US" altLang="zh-CN" sz="1800" dirty="0">
                  <a:solidFill>
                    <a:srgbClr val="0070C0"/>
                  </a:solidFill>
                  <a:latin typeface="等线" panose="02010600030101010101" pitchFamily="2" charset="-122"/>
                  <a:ea typeface="等线" panose="02010600030101010101" pitchFamily="2" charset="-122"/>
                </a:rPr>
                <a:t>A</a:t>
              </a:r>
              <a:r>
                <a:rPr lang="zh-CN" altLang="en-US" sz="1800" dirty="0">
                  <a:solidFill>
                    <a:srgbClr val="0070C0"/>
                  </a:solidFill>
                  <a:latin typeface="等线" panose="02010600030101010101" pitchFamily="2" charset="-122"/>
                  <a:ea typeface="等线" panose="02010600030101010101" pitchFamily="2" charset="-122"/>
                </a:rPr>
                <a:t>购买了物品</a:t>
              </a:r>
              <a:r>
                <a:rPr lang="en-US" altLang="zh-CN" sz="1800" dirty="0">
                  <a:solidFill>
                    <a:srgbClr val="0070C0"/>
                  </a:solidFill>
                  <a:latin typeface="等线" panose="02010600030101010101" pitchFamily="2" charset="-122"/>
                  <a:ea typeface="等线" panose="02010600030101010101" pitchFamily="2" charset="-122"/>
                </a:rPr>
                <a:t>a,b,d</a:t>
              </a:r>
              <a:r>
                <a:rPr lang="zh-CN" altLang="en-US" sz="1800" dirty="0">
                  <a:solidFill>
                    <a:srgbClr val="0070C0"/>
                  </a:solidFill>
                  <a:latin typeface="等线" panose="02010600030101010101" pitchFamily="2" charset="-122"/>
                  <a:ea typeface="等线" panose="02010600030101010101" pitchFamily="2" charset="-122"/>
                </a:rPr>
                <a:t>。</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为计算物品之间的相似性，我们重新组织一下表格。</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8E0124A2-E313-43E6-AB29-606FB537E919}"/>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基于物品的协同过滤</a:t>
              </a:r>
            </a:p>
          </p:txBody>
        </p:sp>
        <p:cxnSp>
          <p:nvCxnSpPr>
            <p:cNvPr id="6" name="直接连接符 5">
              <a:extLst>
                <a:ext uri="{FF2B5EF4-FFF2-40B4-BE49-F238E27FC236}">
                  <a16:creationId xmlns:a16="http://schemas.microsoft.com/office/drawing/2014/main" id="{89E5CFD3-529B-4586-908D-85C407D15D8F}"/>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7" name="组合 46">
            <a:extLst>
              <a:ext uri="{FF2B5EF4-FFF2-40B4-BE49-F238E27FC236}">
                <a16:creationId xmlns:a16="http://schemas.microsoft.com/office/drawing/2014/main" id="{5EC83BE5-D089-4A8E-BE29-03BF022DFC97}"/>
              </a:ext>
            </a:extLst>
          </p:cNvPr>
          <p:cNvGrpSpPr>
            <a:grpSpLocks/>
          </p:cNvGrpSpPr>
          <p:nvPr/>
        </p:nvGrpSpPr>
        <p:grpSpPr bwMode="auto">
          <a:xfrm>
            <a:off x="0" y="284163"/>
            <a:ext cx="3276826" cy="530225"/>
            <a:chOff x="1742209" y="284389"/>
            <a:chExt cx="2627978" cy="529772"/>
          </a:xfrm>
          <a:solidFill>
            <a:srgbClr val="024C89"/>
          </a:solidFill>
        </p:grpSpPr>
        <p:sp>
          <p:nvSpPr>
            <p:cNvPr id="8" name="矩形 7">
              <a:extLst>
                <a:ext uri="{FF2B5EF4-FFF2-40B4-BE49-F238E27FC236}">
                  <a16:creationId xmlns:a16="http://schemas.microsoft.com/office/drawing/2014/main" id="{6F942A95-B5E9-4D76-9BF0-B68D6515D624}"/>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9" name="矩形 8">
              <a:extLst>
                <a:ext uri="{FF2B5EF4-FFF2-40B4-BE49-F238E27FC236}">
                  <a16:creationId xmlns:a16="http://schemas.microsoft.com/office/drawing/2014/main" id="{8CC7A730-A7E5-4EA7-B7D6-7845CCA81DDA}"/>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aphicFrame>
        <p:nvGraphicFramePr>
          <p:cNvPr id="10" name="表格 9">
            <a:extLst>
              <a:ext uri="{FF2B5EF4-FFF2-40B4-BE49-F238E27FC236}">
                <a16:creationId xmlns:a16="http://schemas.microsoft.com/office/drawing/2014/main" id="{64243392-D643-4379-8DC5-519B24848CF1}"/>
              </a:ext>
            </a:extLst>
          </p:cNvPr>
          <p:cNvGraphicFramePr>
            <a:graphicFrameLocks noGrp="1"/>
          </p:cNvGraphicFramePr>
          <p:nvPr>
            <p:extLst>
              <p:ext uri="{D42A27DB-BD31-4B8C-83A1-F6EECF244321}">
                <p14:modId xmlns:p14="http://schemas.microsoft.com/office/powerpoint/2010/main" val="3915683231"/>
              </p:ext>
            </p:extLst>
          </p:nvPr>
        </p:nvGraphicFramePr>
        <p:xfrm>
          <a:off x="5410198" y="2667000"/>
          <a:ext cx="2743200" cy="2225040"/>
        </p:xfrm>
        <a:graphic>
          <a:graphicData uri="http://schemas.openxmlformats.org/drawingml/2006/table">
            <a:tbl>
              <a:tblPr firstRow="1" firstCol="1" bandRow="1">
                <a:tableStyleId>{5C22544A-7EE6-4342-B048-85BDC9FD1C3A}</a:tableStyleId>
              </a:tblPr>
              <a:tblGrid>
                <a:gridCol w="428624">
                  <a:extLst>
                    <a:ext uri="{9D8B030D-6E8A-4147-A177-3AD203B41FA5}">
                      <a16:colId xmlns:a16="http://schemas.microsoft.com/office/drawing/2014/main" val="624084034"/>
                    </a:ext>
                  </a:extLst>
                </a:gridCol>
                <a:gridCol w="391508">
                  <a:extLst>
                    <a:ext uri="{9D8B030D-6E8A-4147-A177-3AD203B41FA5}">
                      <a16:colId xmlns:a16="http://schemas.microsoft.com/office/drawing/2014/main" val="1545497573"/>
                    </a:ext>
                  </a:extLst>
                </a:gridCol>
                <a:gridCol w="480767">
                  <a:extLst>
                    <a:ext uri="{9D8B030D-6E8A-4147-A177-3AD203B41FA5}">
                      <a16:colId xmlns:a16="http://schemas.microsoft.com/office/drawing/2014/main" val="549426046"/>
                    </a:ext>
                  </a:extLst>
                </a:gridCol>
                <a:gridCol w="480767">
                  <a:extLst>
                    <a:ext uri="{9D8B030D-6E8A-4147-A177-3AD203B41FA5}">
                      <a16:colId xmlns:a16="http://schemas.microsoft.com/office/drawing/2014/main" val="3849227356"/>
                    </a:ext>
                  </a:extLst>
                </a:gridCol>
                <a:gridCol w="480767">
                  <a:extLst>
                    <a:ext uri="{9D8B030D-6E8A-4147-A177-3AD203B41FA5}">
                      <a16:colId xmlns:a16="http://schemas.microsoft.com/office/drawing/2014/main" val="4259075429"/>
                    </a:ext>
                  </a:extLst>
                </a:gridCol>
                <a:gridCol w="480767">
                  <a:extLst>
                    <a:ext uri="{9D8B030D-6E8A-4147-A177-3AD203B41FA5}">
                      <a16:colId xmlns:a16="http://schemas.microsoft.com/office/drawing/2014/main" val="580332812"/>
                    </a:ext>
                  </a:extLst>
                </a:gridCol>
              </a:tblGrid>
              <a:tr h="370840">
                <a:tc>
                  <a:txBody>
                    <a:bodyPr/>
                    <a:lstStyle/>
                    <a:p>
                      <a:pPr algn="ct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a</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b</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c</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d</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e</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5113587"/>
                  </a:ext>
                </a:extLst>
              </a:tr>
              <a:tr h="370840">
                <a:tc>
                  <a:txBody>
                    <a:bodyPr/>
                    <a:lstStyle/>
                    <a:p>
                      <a:pPr algn="ctr"/>
                      <a:r>
                        <a:rPr lang="en-US" altLang="zh-CN" b="0" dirty="0">
                          <a:solidFill>
                            <a:schemeClr val="tx1">
                              <a:lumMod val="95000"/>
                              <a:lumOff val="5000"/>
                              <a:alpha val="80000"/>
                            </a:schemeClr>
                          </a:solidFill>
                        </a:rPr>
                        <a:t>A</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61769197"/>
                  </a:ext>
                </a:extLst>
              </a:tr>
              <a:tr h="370840">
                <a:tc>
                  <a:txBody>
                    <a:bodyPr/>
                    <a:lstStyle/>
                    <a:p>
                      <a:pPr algn="ctr"/>
                      <a:r>
                        <a:rPr lang="en-US" altLang="zh-CN" b="0" dirty="0">
                          <a:solidFill>
                            <a:schemeClr val="tx1">
                              <a:lumMod val="95000"/>
                              <a:lumOff val="5000"/>
                              <a:alpha val="80000"/>
                            </a:schemeClr>
                          </a:solidFill>
                        </a:rPr>
                        <a:t>B</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5010243"/>
                  </a:ext>
                </a:extLst>
              </a:tr>
              <a:tr h="370840">
                <a:tc>
                  <a:txBody>
                    <a:bodyPr/>
                    <a:lstStyle/>
                    <a:p>
                      <a:pPr algn="ctr"/>
                      <a:r>
                        <a:rPr lang="en-US" altLang="zh-CN" b="0" dirty="0">
                          <a:solidFill>
                            <a:schemeClr val="tx1">
                              <a:lumMod val="95000"/>
                              <a:lumOff val="5000"/>
                              <a:alpha val="80000"/>
                            </a:schemeClr>
                          </a:solidFill>
                        </a:rPr>
                        <a:t>C</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143135"/>
                  </a:ext>
                </a:extLst>
              </a:tr>
              <a:tr h="370840">
                <a:tc>
                  <a:txBody>
                    <a:bodyPr/>
                    <a:lstStyle/>
                    <a:p>
                      <a:pPr algn="ctr"/>
                      <a:r>
                        <a:rPr lang="en-US" altLang="zh-CN" b="0" dirty="0">
                          <a:solidFill>
                            <a:schemeClr val="tx1">
                              <a:lumMod val="95000"/>
                              <a:lumOff val="5000"/>
                              <a:alpha val="80000"/>
                            </a:schemeClr>
                          </a:solidFill>
                        </a:rPr>
                        <a:t>D</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9713563"/>
                  </a:ext>
                </a:extLst>
              </a:tr>
              <a:tr h="370840">
                <a:tc>
                  <a:txBody>
                    <a:bodyPr/>
                    <a:lstStyle/>
                    <a:p>
                      <a:pPr algn="ctr"/>
                      <a:r>
                        <a:rPr lang="en-US" altLang="zh-CN" b="0" dirty="0">
                          <a:solidFill>
                            <a:schemeClr val="tx1">
                              <a:lumMod val="95000"/>
                              <a:lumOff val="5000"/>
                              <a:alpha val="80000"/>
                            </a:schemeClr>
                          </a:solidFill>
                        </a:rPr>
                        <a:t>E</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6582931"/>
                  </a:ext>
                </a:extLst>
              </a:tr>
            </a:tbl>
          </a:graphicData>
        </a:graphic>
      </p:graphicFrame>
    </p:spTree>
    <p:extLst>
      <p:ext uri="{BB962C8B-B14F-4D97-AF65-F5344CB8AC3E}">
        <p14:creationId xmlns:p14="http://schemas.microsoft.com/office/powerpoint/2010/main" val="1705332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7EF47E6C-0F33-4D0F-9BB2-516EEAF769E8}"/>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F16E9CCD-1983-4225-AE44-E9798F11901E}"/>
              </a:ext>
            </a:extLst>
          </p:cNvPr>
          <p:cNvGrpSpPr/>
          <p:nvPr/>
        </p:nvGrpSpPr>
        <p:grpSpPr>
          <a:xfrm>
            <a:off x="660981" y="1676400"/>
            <a:ext cx="3606219" cy="3966865"/>
            <a:chOff x="660981" y="2281535"/>
            <a:chExt cx="3453819" cy="3966865"/>
          </a:xfrm>
        </p:grpSpPr>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97353C8-526D-4275-BCCD-82738638BDE1}"/>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物品间的相似性</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使用</a:t>
                  </a:r>
                  <a14:m>
                    <m:oMath xmlns:m="http://schemas.openxmlformats.org/officeDocument/2006/math">
                      <m:sSub>
                        <m:sSubPr>
                          <m:ctrlPr>
                            <a:rPr lang="en-US" altLang="zh-CN" sz="1800" i="1" dirty="0">
                              <a:solidFill>
                                <a:srgbClr val="0070C0"/>
                              </a:solidFill>
                              <a:latin typeface="Cambria Math" panose="02040503050406030204" pitchFamily="18" charset="0"/>
                              <a:ea typeface="等线" panose="02010600030101010101" pitchFamily="2" charset="-122"/>
                            </a:rPr>
                          </m:ctrlPr>
                        </m:sSubPr>
                        <m:e>
                          <m:r>
                            <a:rPr lang="en-US" altLang="zh-CN" sz="1800" b="0" i="1" dirty="0" smtClean="0">
                              <a:solidFill>
                                <a:srgbClr val="0070C0"/>
                              </a:solidFill>
                              <a:latin typeface="Cambria Math" panose="02040503050406030204" pitchFamily="18" charset="0"/>
                              <a:ea typeface="等线" panose="02010600030101010101" pitchFamily="2" charset="-122"/>
                            </a:rPr>
                            <m:t>𝑏</m:t>
                          </m:r>
                        </m:e>
                        <m:sub>
                          <m:r>
                            <a:rPr lang="en-US" altLang="zh-CN" sz="1800" i="1" dirty="0">
                              <a:solidFill>
                                <a:srgbClr val="0070C0"/>
                              </a:solidFill>
                              <a:latin typeface="Cambria Math" panose="02040503050406030204" pitchFamily="18" charset="0"/>
                              <a:ea typeface="等线" panose="02010600030101010101" pitchFamily="2" charset="-122"/>
                            </a:rPr>
                            <m:t>1</m:t>
                          </m:r>
                        </m:sub>
                      </m:sSub>
                      <m:r>
                        <a:rPr lang="en-US" altLang="zh-CN" sz="1800" i="1" dirty="0">
                          <a:solidFill>
                            <a:srgbClr val="0070C0"/>
                          </a:solidFill>
                          <a:latin typeface="Cambria Math" panose="02040503050406030204" pitchFamily="18" charset="0"/>
                          <a:ea typeface="等线" panose="02010600030101010101" pitchFamily="2" charset="-122"/>
                        </a:rPr>
                        <m:t>=[1,</m:t>
                      </m:r>
                      <m:r>
                        <a:rPr lang="en-US" altLang="zh-CN" sz="1800" b="0" i="1" dirty="0" smtClean="0">
                          <a:solidFill>
                            <a:srgbClr val="0070C0"/>
                          </a:solidFill>
                          <a:latin typeface="Cambria Math" panose="02040503050406030204" pitchFamily="18" charset="0"/>
                          <a:ea typeface="等线" panose="02010600030101010101" pitchFamily="2" charset="-122"/>
                        </a:rPr>
                        <m:t>0</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1</m:t>
                      </m:r>
                      <m:r>
                        <a:rPr lang="en-US" altLang="zh-CN" sz="1800" i="1" dirty="0">
                          <a:solidFill>
                            <a:srgbClr val="0070C0"/>
                          </a:solidFill>
                          <a:latin typeface="Cambria Math" panose="02040503050406030204" pitchFamily="18" charset="0"/>
                          <a:ea typeface="等线" panose="02010600030101010101" pitchFamily="2" charset="-122"/>
                        </a:rPr>
                        <m:t>]</m:t>
                      </m:r>
                    </m:oMath>
                  </a14:m>
                  <a:r>
                    <a:rPr lang="zh-CN" altLang="en-US" sz="1800" dirty="0">
                      <a:solidFill>
                        <a:srgbClr val="0070C0"/>
                      </a:solidFill>
                      <a:latin typeface="等线" panose="02010600030101010101" pitchFamily="2" charset="-122"/>
                      <a:ea typeface="等线" panose="02010600030101010101" pitchFamily="2" charset="-122"/>
                    </a:rPr>
                    <a:t>作为物品</a:t>
                  </a:r>
                  <a:r>
                    <a:rPr lang="en-US" altLang="zh-CN" sz="1800" dirty="0">
                      <a:solidFill>
                        <a:srgbClr val="0070C0"/>
                      </a:solidFill>
                      <a:latin typeface="等线" panose="02010600030101010101" pitchFamily="2" charset="-122"/>
                      <a:ea typeface="等线" panose="02010600030101010101" pitchFamily="2" charset="-122"/>
                    </a:rPr>
                    <a:t>a</a:t>
                  </a:r>
                  <a:r>
                    <a:rPr lang="zh-CN" altLang="en-US" sz="1800" dirty="0">
                      <a:solidFill>
                        <a:srgbClr val="0070C0"/>
                      </a:solidFill>
                      <a:latin typeface="等线" panose="02010600030101010101" pitchFamily="2" charset="-122"/>
                      <a:ea typeface="等线" panose="02010600030101010101" pitchFamily="2" charset="-122"/>
                    </a:rPr>
                    <a:t>的特征，</a:t>
                  </a:r>
                  <a14:m>
                    <m:oMath xmlns:m="http://schemas.openxmlformats.org/officeDocument/2006/math">
                      <m:sSub>
                        <m:sSubPr>
                          <m:ctrlPr>
                            <a:rPr lang="en-US" altLang="zh-CN" sz="1800" i="1" dirty="0">
                              <a:solidFill>
                                <a:srgbClr val="0070C0"/>
                              </a:solidFill>
                              <a:latin typeface="Cambria Math" panose="02040503050406030204" pitchFamily="18" charset="0"/>
                              <a:ea typeface="等线" panose="02010600030101010101" pitchFamily="2" charset="-122"/>
                            </a:rPr>
                          </m:ctrlPr>
                        </m:sSubPr>
                        <m:e>
                          <m:r>
                            <a:rPr lang="en-US" altLang="zh-CN" sz="1800" b="0" i="1" dirty="0" smtClean="0">
                              <a:solidFill>
                                <a:srgbClr val="0070C0"/>
                              </a:solidFill>
                              <a:latin typeface="Cambria Math" panose="02040503050406030204" pitchFamily="18" charset="0"/>
                              <a:ea typeface="等线" panose="02010600030101010101" pitchFamily="2" charset="-122"/>
                            </a:rPr>
                            <m:t>𝑏</m:t>
                          </m:r>
                        </m:e>
                        <m:sub>
                          <m:r>
                            <a:rPr lang="en-US" altLang="zh-CN" sz="1800" i="1" dirty="0">
                              <a:solidFill>
                                <a:srgbClr val="0070C0"/>
                              </a:solidFill>
                              <a:latin typeface="Cambria Math" panose="02040503050406030204" pitchFamily="18" charset="0"/>
                              <a:ea typeface="等线" panose="02010600030101010101" pitchFamily="2" charset="-122"/>
                            </a:rPr>
                            <m:t>2</m:t>
                          </m:r>
                        </m:sub>
                      </m:sSub>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1</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1</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1</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m:t>
                      </m:r>
                      <m:r>
                        <a:rPr lang="en-US" altLang="zh-CN" sz="1800" i="1" dirty="0">
                          <a:solidFill>
                            <a:srgbClr val="0070C0"/>
                          </a:solidFill>
                          <a:latin typeface="Cambria Math" panose="02040503050406030204" pitchFamily="18" charset="0"/>
                          <a:ea typeface="等线" panose="02010600030101010101" pitchFamily="2" charset="-122"/>
                        </a:rPr>
                        <m:t>]</m:t>
                      </m:r>
                    </m:oMath>
                  </a14:m>
                  <a:r>
                    <a:rPr lang="zh-CN" altLang="en-US" sz="1800" dirty="0">
                      <a:solidFill>
                        <a:srgbClr val="0070C0"/>
                      </a:solidFill>
                      <a:latin typeface="等线" panose="02010600030101010101" pitchFamily="2" charset="-122"/>
                      <a:ea typeface="等线" panose="02010600030101010101" pitchFamily="2" charset="-122"/>
                    </a:rPr>
                    <a:t>作为物品</a:t>
                  </a:r>
                  <a:r>
                    <a:rPr lang="en-US" altLang="zh-CN" sz="1800" dirty="0">
                      <a:solidFill>
                        <a:srgbClr val="0070C0"/>
                      </a:solidFill>
                      <a:latin typeface="等线" panose="02010600030101010101" pitchFamily="2" charset="-122"/>
                      <a:ea typeface="等线" panose="02010600030101010101" pitchFamily="2" charset="-122"/>
                    </a:rPr>
                    <a:t>b</a:t>
                  </a:r>
                  <a:r>
                    <a:rPr lang="zh-CN" altLang="en-US" sz="1800" dirty="0">
                      <a:solidFill>
                        <a:srgbClr val="0070C0"/>
                      </a:solidFill>
                      <a:latin typeface="等线" panose="02010600030101010101" pitchFamily="2" charset="-122"/>
                      <a:ea typeface="等线" panose="02010600030101010101" pitchFamily="2" charset="-122"/>
                    </a:rPr>
                    <a:t>特征。</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仍使用余弦相似度。那么物品</a:t>
                  </a:r>
                  <a:r>
                    <a:rPr lang="en-US" altLang="zh-CN" sz="1800" dirty="0">
                      <a:solidFill>
                        <a:srgbClr val="0070C0"/>
                      </a:solidFill>
                      <a:latin typeface="等线" panose="02010600030101010101" pitchFamily="2" charset="-122"/>
                      <a:ea typeface="等线" panose="02010600030101010101" pitchFamily="2" charset="-122"/>
                    </a:rPr>
                    <a:t>a</a:t>
                  </a:r>
                  <a:r>
                    <a:rPr lang="zh-CN" altLang="en-US" sz="1800" dirty="0">
                      <a:solidFill>
                        <a:srgbClr val="0070C0"/>
                      </a:solidFill>
                      <a:latin typeface="等线" panose="02010600030101010101" pitchFamily="2" charset="-122"/>
                      <a:ea typeface="等线" panose="02010600030101010101" pitchFamily="2" charset="-122"/>
                    </a:rPr>
                    <a:t>和物品</a:t>
                  </a:r>
                  <a:r>
                    <a:rPr lang="en-US" altLang="zh-CN" sz="1800" dirty="0">
                      <a:solidFill>
                        <a:srgbClr val="0070C0"/>
                      </a:solidFill>
                      <a:latin typeface="等线" panose="02010600030101010101" pitchFamily="2" charset="-122"/>
                      <a:ea typeface="等线" panose="02010600030101010101" pitchFamily="2" charset="-122"/>
                    </a:rPr>
                    <a:t>b</a:t>
                  </a:r>
                  <a:r>
                    <a:rPr lang="zh-CN" altLang="en-US" sz="1800" dirty="0">
                      <a:solidFill>
                        <a:srgbClr val="0070C0"/>
                      </a:solidFill>
                      <a:latin typeface="等线" panose="02010600030101010101" pitchFamily="2" charset="-122"/>
                      <a:ea typeface="等线" panose="02010600030101010101" pitchFamily="2" charset="-122"/>
                    </a:rPr>
                    <a:t>的相似度为</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mc:Choice>
          <mc:Fallback xmlns="">
            <p:sp>
              <p:nvSpPr>
                <p:cNvPr id="15" name="Content Placeholder 2"/>
                <p:cNvSpPr txBox="1">
                  <a:spLocks noRot="1" noChangeAspect="1" noMove="1" noResize="1" noEditPoints="1" noAdjustHandles="1" noChangeArrowheads="1" noChangeShapeType="1" noTextEdit="1"/>
                </p:cNvSpPr>
                <p:nvPr/>
              </p:nvSpPr>
              <p:spPr>
                <a:xfrm>
                  <a:off x="670029" y="2819400"/>
                  <a:ext cx="3444771" cy="3429000"/>
                </a:xfrm>
                <a:prstGeom prst="rect">
                  <a:avLst/>
                </a:prstGeom>
                <a:blipFill>
                  <a:blip r:embed="rId3"/>
                  <a:stretch>
                    <a:fillRect l="-2203" t="-533" r="-135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3DA5D5D6-2D96-4639-8240-287BFFB02E1F}"/>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基于物品的协同过滤</a:t>
              </a:r>
            </a:p>
          </p:txBody>
        </p:sp>
        <p:cxnSp>
          <p:nvCxnSpPr>
            <p:cNvPr id="6" name="直接连接符 5">
              <a:extLst>
                <a:ext uri="{FF2B5EF4-FFF2-40B4-BE49-F238E27FC236}">
                  <a16:creationId xmlns:a16="http://schemas.microsoft.com/office/drawing/2014/main" id="{9C7BC663-FAE8-4F61-9635-3E5E22B5BCF9}"/>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7" name="组合 46">
            <a:extLst>
              <a:ext uri="{FF2B5EF4-FFF2-40B4-BE49-F238E27FC236}">
                <a16:creationId xmlns:a16="http://schemas.microsoft.com/office/drawing/2014/main" id="{36F2C113-9F1A-4B73-8207-F5892A3060E7}"/>
              </a:ext>
            </a:extLst>
          </p:cNvPr>
          <p:cNvGrpSpPr>
            <a:grpSpLocks/>
          </p:cNvGrpSpPr>
          <p:nvPr/>
        </p:nvGrpSpPr>
        <p:grpSpPr bwMode="auto">
          <a:xfrm>
            <a:off x="0" y="284163"/>
            <a:ext cx="3276826" cy="530225"/>
            <a:chOff x="1742209" y="284389"/>
            <a:chExt cx="2627978" cy="529772"/>
          </a:xfrm>
          <a:solidFill>
            <a:srgbClr val="024C89"/>
          </a:solidFill>
        </p:grpSpPr>
        <p:sp>
          <p:nvSpPr>
            <p:cNvPr id="8" name="矩形 7">
              <a:extLst>
                <a:ext uri="{FF2B5EF4-FFF2-40B4-BE49-F238E27FC236}">
                  <a16:creationId xmlns:a16="http://schemas.microsoft.com/office/drawing/2014/main" id="{5AC9340C-78DA-46D7-9ECC-E116C499727E}"/>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9" name="矩形 8">
              <a:extLst>
                <a:ext uri="{FF2B5EF4-FFF2-40B4-BE49-F238E27FC236}">
                  <a16:creationId xmlns:a16="http://schemas.microsoft.com/office/drawing/2014/main" id="{14657783-57C7-4113-BA81-A4089DB7BA1E}"/>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10" name="图片 9">
            <a:extLst>
              <a:ext uri="{FF2B5EF4-FFF2-40B4-BE49-F238E27FC236}">
                <a16:creationId xmlns:a16="http://schemas.microsoft.com/office/drawing/2014/main" id="{5D8028D2-D8B8-49A9-B13D-23B6C2281F7B}"/>
              </a:ext>
            </a:extLst>
          </p:cNvPr>
          <p:cNvPicPr>
            <a:picLocks noChangeAspect="1"/>
          </p:cNvPicPr>
          <p:nvPr/>
        </p:nvPicPr>
        <p:blipFill>
          <a:blip r:embed="rId4"/>
          <a:stretch>
            <a:fillRect/>
          </a:stretch>
        </p:blipFill>
        <p:spPr>
          <a:xfrm>
            <a:off x="552852" y="4876800"/>
            <a:ext cx="5305425" cy="838200"/>
          </a:xfrm>
          <a:prstGeom prst="rect">
            <a:avLst/>
          </a:prstGeom>
        </p:spPr>
      </p:pic>
      <p:graphicFrame>
        <p:nvGraphicFramePr>
          <p:cNvPr id="11" name="表格 10">
            <a:extLst>
              <a:ext uri="{FF2B5EF4-FFF2-40B4-BE49-F238E27FC236}">
                <a16:creationId xmlns:a16="http://schemas.microsoft.com/office/drawing/2014/main" id="{4A156C2D-7F59-42C4-8FEC-CBE97DB4E720}"/>
              </a:ext>
            </a:extLst>
          </p:cNvPr>
          <p:cNvGraphicFramePr>
            <a:graphicFrameLocks noGrp="1"/>
          </p:cNvGraphicFramePr>
          <p:nvPr>
            <p:extLst>
              <p:ext uri="{D42A27DB-BD31-4B8C-83A1-F6EECF244321}">
                <p14:modId xmlns:p14="http://schemas.microsoft.com/office/powerpoint/2010/main" val="3203998504"/>
              </p:ext>
            </p:extLst>
          </p:nvPr>
        </p:nvGraphicFramePr>
        <p:xfrm>
          <a:off x="5410198" y="2667000"/>
          <a:ext cx="2743200" cy="2225040"/>
        </p:xfrm>
        <a:graphic>
          <a:graphicData uri="http://schemas.openxmlformats.org/drawingml/2006/table">
            <a:tbl>
              <a:tblPr firstRow="1" firstCol="1" bandRow="1">
                <a:tableStyleId>{5C22544A-7EE6-4342-B048-85BDC9FD1C3A}</a:tableStyleId>
              </a:tblPr>
              <a:tblGrid>
                <a:gridCol w="428624">
                  <a:extLst>
                    <a:ext uri="{9D8B030D-6E8A-4147-A177-3AD203B41FA5}">
                      <a16:colId xmlns:a16="http://schemas.microsoft.com/office/drawing/2014/main" val="624084034"/>
                    </a:ext>
                  </a:extLst>
                </a:gridCol>
                <a:gridCol w="391508">
                  <a:extLst>
                    <a:ext uri="{9D8B030D-6E8A-4147-A177-3AD203B41FA5}">
                      <a16:colId xmlns:a16="http://schemas.microsoft.com/office/drawing/2014/main" val="1545497573"/>
                    </a:ext>
                  </a:extLst>
                </a:gridCol>
                <a:gridCol w="480767">
                  <a:extLst>
                    <a:ext uri="{9D8B030D-6E8A-4147-A177-3AD203B41FA5}">
                      <a16:colId xmlns:a16="http://schemas.microsoft.com/office/drawing/2014/main" val="549426046"/>
                    </a:ext>
                  </a:extLst>
                </a:gridCol>
                <a:gridCol w="480767">
                  <a:extLst>
                    <a:ext uri="{9D8B030D-6E8A-4147-A177-3AD203B41FA5}">
                      <a16:colId xmlns:a16="http://schemas.microsoft.com/office/drawing/2014/main" val="3849227356"/>
                    </a:ext>
                  </a:extLst>
                </a:gridCol>
                <a:gridCol w="480767">
                  <a:extLst>
                    <a:ext uri="{9D8B030D-6E8A-4147-A177-3AD203B41FA5}">
                      <a16:colId xmlns:a16="http://schemas.microsoft.com/office/drawing/2014/main" val="4259075429"/>
                    </a:ext>
                  </a:extLst>
                </a:gridCol>
                <a:gridCol w="480767">
                  <a:extLst>
                    <a:ext uri="{9D8B030D-6E8A-4147-A177-3AD203B41FA5}">
                      <a16:colId xmlns:a16="http://schemas.microsoft.com/office/drawing/2014/main" val="580332812"/>
                    </a:ext>
                  </a:extLst>
                </a:gridCol>
              </a:tblGrid>
              <a:tr h="370840">
                <a:tc>
                  <a:txBody>
                    <a:bodyPr/>
                    <a:lstStyle/>
                    <a:p>
                      <a:pPr algn="ct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a</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b</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c</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d</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e</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5113587"/>
                  </a:ext>
                </a:extLst>
              </a:tr>
              <a:tr h="370840">
                <a:tc>
                  <a:txBody>
                    <a:bodyPr/>
                    <a:lstStyle/>
                    <a:p>
                      <a:pPr algn="ctr"/>
                      <a:r>
                        <a:rPr lang="en-US" altLang="zh-CN" b="0" dirty="0">
                          <a:solidFill>
                            <a:schemeClr val="tx1">
                              <a:lumMod val="95000"/>
                              <a:lumOff val="5000"/>
                              <a:alpha val="80000"/>
                            </a:schemeClr>
                          </a:solidFill>
                        </a:rPr>
                        <a:t>A</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61769197"/>
                  </a:ext>
                </a:extLst>
              </a:tr>
              <a:tr h="370840">
                <a:tc>
                  <a:txBody>
                    <a:bodyPr/>
                    <a:lstStyle/>
                    <a:p>
                      <a:pPr algn="ctr"/>
                      <a:r>
                        <a:rPr lang="en-US" altLang="zh-CN" b="0" dirty="0">
                          <a:solidFill>
                            <a:schemeClr val="tx1">
                              <a:lumMod val="95000"/>
                              <a:lumOff val="5000"/>
                              <a:alpha val="80000"/>
                            </a:schemeClr>
                          </a:solidFill>
                        </a:rPr>
                        <a:t>B</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5010243"/>
                  </a:ext>
                </a:extLst>
              </a:tr>
              <a:tr h="370840">
                <a:tc>
                  <a:txBody>
                    <a:bodyPr/>
                    <a:lstStyle/>
                    <a:p>
                      <a:pPr algn="ctr"/>
                      <a:r>
                        <a:rPr lang="en-US" altLang="zh-CN" b="0" dirty="0">
                          <a:solidFill>
                            <a:schemeClr val="tx1">
                              <a:lumMod val="95000"/>
                              <a:lumOff val="5000"/>
                              <a:alpha val="80000"/>
                            </a:schemeClr>
                          </a:solidFill>
                        </a:rPr>
                        <a:t>C</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143135"/>
                  </a:ext>
                </a:extLst>
              </a:tr>
              <a:tr h="370840">
                <a:tc>
                  <a:txBody>
                    <a:bodyPr/>
                    <a:lstStyle/>
                    <a:p>
                      <a:pPr algn="ctr"/>
                      <a:r>
                        <a:rPr lang="en-US" altLang="zh-CN" b="0" dirty="0">
                          <a:solidFill>
                            <a:schemeClr val="tx1">
                              <a:lumMod val="95000"/>
                              <a:lumOff val="5000"/>
                              <a:alpha val="80000"/>
                            </a:schemeClr>
                          </a:solidFill>
                        </a:rPr>
                        <a:t>D</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9713563"/>
                  </a:ext>
                </a:extLst>
              </a:tr>
              <a:tr h="370840">
                <a:tc>
                  <a:txBody>
                    <a:bodyPr/>
                    <a:lstStyle/>
                    <a:p>
                      <a:pPr algn="ctr"/>
                      <a:r>
                        <a:rPr lang="en-US" altLang="zh-CN" b="0" dirty="0">
                          <a:solidFill>
                            <a:schemeClr val="tx1">
                              <a:lumMod val="95000"/>
                              <a:lumOff val="5000"/>
                              <a:alpha val="80000"/>
                            </a:schemeClr>
                          </a:solidFill>
                        </a:rPr>
                        <a:t>E</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6582931"/>
                  </a:ext>
                </a:extLst>
              </a:tr>
            </a:tbl>
          </a:graphicData>
        </a:graphic>
      </p:graphicFrame>
      <p:sp>
        <p:nvSpPr>
          <p:cNvPr id="12" name="矩形 11">
            <a:extLst>
              <a:ext uri="{FF2B5EF4-FFF2-40B4-BE49-F238E27FC236}">
                <a16:creationId xmlns:a16="http://schemas.microsoft.com/office/drawing/2014/main" id="{A5002131-3946-4FFE-99C8-08BF06937F4D}"/>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sp>
        <p:nvSpPr>
          <p:cNvPr id="13" name="矩形 12">
            <a:extLst>
              <a:ext uri="{FF2B5EF4-FFF2-40B4-BE49-F238E27FC236}">
                <a16:creationId xmlns:a16="http://schemas.microsoft.com/office/drawing/2014/main" id="{8245B717-D366-4AB4-A205-98753FDBB6CD}"/>
              </a:ext>
            </a:extLst>
          </p:cNvPr>
          <p:cNvSpPr/>
          <p:nvPr/>
        </p:nvSpPr>
        <p:spPr bwMode="auto">
          <a:xfrm>
            <a:off x="5791200" y="2514600"/>
            <a:ext cx="914400" cy="2514600"/>
          </a:xfrm>
          <a:prstGeom prst="rect">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spTree>
    <p:extLst>
      <p:ext uri="{BB962C8B-B14F-4D97-AF65-F5344CB8AC3E}">
        <p14:creationId xmlns:p14="http://schemas.microsoft.com/office/powerpoint/2010/main" val="3804689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BF2C018-167D-41F3-8BD4-5CA769332974}"/>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C6B7FC01-FB70-4B4F-A78F-17EF1AD07612}"/>
              </a:ext>
            </a:extLst>
          </p:cNvPr>
          <p:cNvGrpSpPr/>
          <p:nvPr/>
        </p:nvGrpSpPr>
        <p:grpSpPr>
          <a:xfrm>
            <a:off x="660981" y="1676400"/>
            <a:ext cx="3606219" cy="3966865"/>
            <a:chOff x="660981" y="2281535"/>
            <a:chExt cx="3453819" cy="3966865"/>
          </a:xfrm>
        </p:grpSpPr>
        <p:sp>
          <p:nvSpPr>
            <p:cNvPr id="4" name="Content Placeholder 2">
              <a:extLst>
                <a:ext uri="{FF2B5EF4-FFF2-40B4-BE49-F238E27FC236}">
                  <a16:creationId xmlns:a16="http://schemas.microsoft.com/office/drawing/2014/main" id="{EC901D31-EF10-4915-B5EA-63DD855DADEF}"/>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相似性的调整</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有些物品的销售量比较多，也就是平均评分比较高。这导致了这些物品与其他物品的相似度会偏高。</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在计算相似性之前，我们将表中所有评分减去所在列的均值，使得每列的和为</a:t>
              </a:r>
              <a:r>
                <a:rPr lang="en-US" altLang="zh-CN" sz="1800" dirty="0">
                  <a:solidFill>
                    <a:srgbClr val="0070C0"/>
                  </a:solidFill>
                  <a:latin typeface="等线" panose="02010600030101010101" pitchFamily="2" charset="-122"/>
                  <a:ea typeface="等线" panose="02010600030101010101" pitchFamily="2" charset="-122"/>
                </a:rPr>
                <a:t>0</a:t>
              </a:r>
              <a:r>
                <a:rPr lang="zh-CN" altLang="en-US" sz="1800" dirty="0">
                  <a:solidFill>
                    <a:srgbClr val="0070C0"/>
                  </a:solidFill>
                  <a:latin typeface="等线" panose="02010600030101010101" pitchFamily="2" charset="-122"/>
                  <a:ea typeface="等线" panose="02010600030101010101" pitchFamily="2" charset="-122"/>
                </a:rPr>
                <a:t>。</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64DD0441-9795-40B4-8F38-5A5A92E4B594}"/>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基于物品的协同过滤</a:t>
              </a:r>
            </a:p>
          </p:txBody>
        </p:sp>
        <p:cxnSp>
          <p:nvCxnSpPr>
            <p:cNvPr id="6" name="直接连接符 5">
              <a:extLst>
                <a:ext uri="{FF2B5EF4-FFF2-40B4-BE49-F238E27FC236}">
                  <a16:creationId xmlns:a16="http://schemas.microsoft.com/office/drawing/2014/main" id="{DA989216-35AD-470B-83C3-8BD1C2F9F7BA}"/>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7" name="组合 46">
            <a:extLst>
              <a:ext uri="{FF2B5EF4-FFF2-40B4-BE49-F238E27FC236}">
                <a16:creationId xmlns:a16="http://schemas.microsoft.com/office/drawing/2014/main" id="{39BABFA3-A0F7-47B2-A81E-3E3794D625D7}"/>
              </a:ext>
            </a:extLst>
          </p:cNvPr>
          <p:cNvGrpSpPr>
            <a:grpSpLocks/>
          </p:cNvGrpSpPr>
          <p:nvPr/>
        </p:nvGrpSpPr>
        <p:grpSpPr bwMode="auto">
          <a:xfrm>
            <a:off x="0" y="284163"/>
            <a:ext cx="3276826" cy="530225"/>
            <a:chOff x="1742209" y="284389"/>
            <a:chExt cx="2627978" cy="529772"/>
          </a:xfrm>
          <a:solidFill>
            <a:srgbClr val="024C89"/>
          </a:solidFill>
        </p:grpSpPr>
        <p:sp>
          <p:nvSpPr>
            <p:cNvPr id="8" name="矩形 7">
              <a:extLst>
                <a:ext uri="{FF2B5EF4-FFF2-40B4-BE49-F238E27FC236}">
                  <a16:creationId xmlns:a16="http://schemas.microsoft.com/office/drawing/2014/main" id="{C98260DE-C73E-4EED-955A-720CF726B216}"/>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9" name="矩形 8">
              <a:extLst>
                <a:ext uri="{FF2B5EF4-FFF2-40B4-BE49-F238E27FC236}">
                  <a16:creationId xmlns:a16="http://schemas.microsoft.com/office/drawing/2014/main" id="{E8B352B1-BD56-41CE-BD9A-CC3EA80179DA}"/>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a:extLst>
              <a:ext uri="{FF2B5EF4-FFF2-40B4-BE49-F238E27FC236}">
                <a16:creationId xmlns:a16="http://schemas.microsoft.com/office/drawing/2014/main" id="{CA5E34C5-2A90-4DEA-B993-1EA303DB1772}"/>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graphicFrame>
        <p:nvGraphicFramePr>
          <p:cNvPr id="11" name="表格 10">
            <a:extLst>
              <a:ext uri="{FF2B5EF4-FFF2-40B4-BE49-F238E27FC236}">
                <a16:creationId xmlns:a16="http://schemas.microsoft.com/office/drawing/2014/main" id="{D76348F0-DA0F-41C0-9B42-CCD6254C9963}"/>
              </a:ext>
            </a:extLst>
          </p:cNvPr>
          <p:cNvGraphicFramePr>
            <a:graphicFrameLocks noGrp="1"/>
          </p:cNvGraphicFramePr>
          <p:nvPr>
            <p:extLst>
              <p:ext uri="{D42A27DB-BD31-4B8C-83A1-F6EECF244321}">
                <p14:modId xmlns:p14="http://schemas.microsoft.com/office/powerpoint/2010/main" val="1076158117"/>
              </p:ext>
            </p:extLst>
          </p:nvPr>
        </p:nvGraphicFramePr>
        <p:xfrm>
          <a:off x="5410200" y="2667000"/>
          <a:ext cx="2743200" cy="2217018"/>
        </p:xfrm>
        <a:graphic>
          <a:graphicData uri="http://schemas.openxmlformats.org/drawingml/2006/table">
            <a:tbl>
              <a:tblPr firstRow="1" firstCol="1" bandRow="1">
                <a:tableStyleId>{5C22544A-7EE6-4342-B048-85BDC9FD1C3A}</a:tableStyleId>
              </a:tblPr>
              <a:tblGrid>
                <a:gridCol w="381000">
                  <a:extLst>
                    <a:ext uri="{9D8B030D-6E8A-4147-A177-3AD203B41FA5}">
                      <a16:colId xmlns:a16="http://schemas.microsoft.com/office/drawing/2014/main" val="624084034"/>
                    </a:ext>
                  </a:extLst>
                </a:gridCol>
                <a:gridCol w="439132">
                  <a:extLst>
                    <a:ext uri="{9D8B030D-6E8A-4147-A177-3AD203B41FA5}">
                      <a16:colId xmlns:a16="http://schemas.microsoft.com/office/drawing/2014/main" val="1545497573"/>
                    </a:ext>
                  </a:extLst>
                </a:gridCol>
                <a:gridCol w="480767">
                  <a:extLst>
                    <a:ext uri="{9D8B030D-6E8A-4147-A177-3AD203B41FA5}">
                      <a16:colId xmlns:a16="http://schemas.microsoft.com/office/drawing/2014/main" val="549426046"/>
                    </a:ext>
                  </a:extLst>
                </a:gridCol>
                <a:gridCol w="480767">
                  <a:extLst>
                    <a:ext uri="{9D8B030D-6E8A-4147-A177-3AD203B41FA5}">
                      <a16:colId xmlns:a16="http://schemas.microsoft.com/office/drawing/2014/main" val="3849227356"/>
                    </a:ext>
                  </a:extLst>
                </a:gridCol>
                <a:gridCol w="480767">
                  <a:extLst>
                    <a:ext uri="{9D8B030D-6E8A-4147-A177-3AD203B41FA5}">
                      <a16:colId xmlns:a16="http://schemas.microsoft.com/office/drawing/2014/main" val="4259075429"/>
                    </a:ext>
                  </a:extLst>
                </a:gridCol>
                <a:gridCol w="480767">
                  <a:extLst>
                    <a:ext uri="{9D8B030D-6E8A-4147-A177-3AD203B41FA5}">
                      <a16:colId xmlns:a16="http://schemas.microsoft.com/office/drawing/2014/main" val="580332812"/>
                    </a:ext>
                  </a:extLst>
                </a:gridCol>
              </a:tblGrid>
              <a:tr h="369503">
                <a:tc>
                  <a:txBody>
                    <a:bodyPr/>
                    <a:lstStyle/>
                    <a:p>
                      <a:pPr algn="ct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a</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b</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c</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d</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e</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5113587"/>
                  </a:ext>
                </a:extLst>
              </a:tr>
              <a:tr h="369503">
                <a:tc>
                  <a:txBody>
                    <a:bodyPr/>
                    <a:lstStyle/>
                    <a:p>
                      <a:pPr algn="ctr"/>
                      <a:r>
                        <a:rPr lang="en-US" altLang="zh-CN" b="0" dirty="0">
                          <a:solidFill>
                            <a:schemeClr val="tx1">
                              <a:lumMod val="95000"/>
                              <a:lumOff val="5000"/>
                              <a:alpha val="80000"/>
                            </a:schemeClr>
                          </a:solidFill>
                        </a:rPr>
                        <a:t>A</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61769197"/>
                  </a:ext>
                </a:extLst>
              </a:tr>
              <a:tr h="369503">
                <a:tc>
                  <a:txBody>
                    <a:bodyPr/>
                    <a:lstStyle/>
                    <a:p>
                      <a:pPr algn="ctr"/>
                      <a:r>
                        <a:rPr lang="en-US" altLang="zh-CN" b="0" dirty="0">
                          <a:solidFill>
                            <a:schemeClr val="tx1">
                              <a:lumMod val="95000"/>
                              <a:lumOff val="5000"/>
                              <a:alpha val="80000"/>
                            </a:schemeClr>
                          </a:solidFill>
                        </a:rPr>
                        <a:t>B</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-0.8</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0.8</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5010243"/>
                  </a:ext>
                </a:extLst>
              </a:tr>
              <a:tr h="369503">
                <a:tc>
                  <a:txBody>
                    <a:bodyPr/>
                    <a:lstStyle/>
                    <a:p>
                      <a:pPr algn="ctr"/>
                      <a:r>
                        <a:rPr lang="en-US" altLang="zh-CN" b="0" dirty="0">
                          <a:solidFill>
                            <a:schemeClr val="tx1">
                              <a:lumMod val="95000"/>
                              <a:lumOff val="5000"/>
                              <a:alpha val="80000"/>
                            </a:schemeClr>
                          </a:solidFill>
                        </a:rPr>
                        <a:t>C</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143135"/>
                  </a:ext>
                </a:extLst>
              </a:tr>
              <a:tr h="369503">
                <a:tc>
                  <a:txBody>
                    <a:bodyPr/>
                    <a:lstStyle/>
                    <a:p>
                      <a:pPr algn="ctr"/>
                      <a:r>
                        <a:rPr lang="en-US" altLang="zh-CN" b="0" dirty="0">
                          <a:solidFill>
                            <a:schemeClr val="tx1">
                              <a:lumMod val="95000"/>
                              <a:lumOff val="5000"/>
                              <a:alpha val="80000"/>
                            </a:schemeClr>
                          </a:solidFill>
                        </a:rPr>
                        <a:t>D</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9713563"/>
                  </a:ext>
                </a:extLst>
              </a:tr>
              <a:tr h="369503">
                <a:tc>
                  <a:txBody>
                    <a:bodyPr/>
                    <a:lstStyle/>
                    <a:p>
                      <a:pPr algn="ctr"/>
                      <a:r>
                        <a:rPr lang="en-US" altLang="zh-CN" b="0" dirty="0">
                          <a:solidFill>
                            <a:schemeClr val="tx1">
                              <a:lumMod val="95000"/>
                              <a:lumOff val="5000"/>
                              <a:alpha val="80000"/>
                            </a:schemeClr>
                          </a:solidFill>
                        </a:rPr>
                        <a:t>E</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6582931"/>
                  </a:ext>
                </a:extLst>
              </a:tr>
            </a:tbl>
          </a:graphicData>
        </a:graphic>
      </p:graphicFrame>
    </p:spTree>
    <p:extLst>
      <p:ext uri="{BB962C8B-B14F-4D97-AF65-F5344CB8AC3E}">
        <p14:creationId xmlns:p14="http://schemas.microsoft.com/office/powerpoint/2010/main" val="696102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68B4965E-B3E7-474C-B9AA-5CF7B5CEC634}"/>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BFCE38D7-7869-4F12-BE0B-5FC87CDA788F}"/>
              </a:ext>
            </a:extLst>
          </p:cNvPr>
          <p:cNvGrpSpPr/>
          <p:nvPr/>
        </p:nvGrpSpPr>
        <p:grpSpPr>
          <a:xfrm>
            <a:off x="660981" y="1676400"/>
            <a:ext cx="3606219" cy="3966865"/>
            <a:chOff x="660981" y="2281535"/>
            <a:chExt cx="3453819" cy="3966865"/>
          </a:xfrm>
        </p:grpSpPr>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37C23A1-BB2D-4C93-BBC5-84AB2F2D2644}"/>
                    </a:ext>
                  </a:extLst>
                </p:cNvPr>
                <p:cNvSpPr txBox="1">
                  <a:spLocks/>
                </p:cNvSpPr>
                <p:nvPr/>
              </p:nvSpPr>
              <p:spPr>
                <a:xfrm>
                  <a:off x="670029" y="2819400"/>
                  <a:ext cx="3444771"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相似性的调整</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用</a:t>
                  </a:r>
                  <a14:m>
                    <m:oMath xmlns:m="http://schemas.openxmlformats.org/officeDocument/2006/math">
                      <m:sSub>
                        <m:sSubPr>
                          <m:ctrlPr>
                            <a:rPr lang="en-US" altLang="zh-CN" sz="1800" i="1" dirty="0">
                              <a:solidFill>
                                <a:srgbClr val="0070C0"/>
                              </a:solidFill>
                              <a:latin typeface="Cambria Math" panose="02040503050406030204" pitchFamily="18" charset="0"/>
                              <a:ea typeface="等线" panose="02010600030101010101" pitchFamily="2" charset="-122"/>
                            </a:rPr>
                          </m:ctrlPr>
                        </m:sSubPr>
                        <m:e>
                          <m:r>
                            <a:rPr lang="en-US" altLang="zh-CN" sz="1800" b="0" i="1" dirty="0" smtClean="0">
                              <a:solidFill>
                                <a:srgbClr val="0070C0"/>
                              </a:solidFill>
                              <a:latin typeface="Cambria Math" panose="02040503050406030204" pitchFamily="18" charset="0"/>
                              <a:ea typeface="等线" panose="02010600030101010101" pitchFamily="2" charset="-122"/>
                            </a:rPr>
                            <m:t>𝑐</m:t>
                          </m:r>
                        </m:e>
                        <m:sub>
                          <m:r>
                            <a:rPr lang="en-US" altLang="zh-CN" sz="1800" i="1" dirty="0">
                              <a:solidFill>
                                <a:srgbClr val="0070C0"/>
                              </a:solidFill>
                              <a:latin typeface="Cambria Math" panose="02040503050406030204" pitchFamily="18" charset="0"/>
                              <a:ea typeface="等线" panose="02010600030101010101" pitchFamily="2" charset="-122"/>
                            </a:rPr>
                            <m:t>1</m:t>
                          </m:r>
                        </m:sub>
                      </m:sSub>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0.6</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m:t>
                      </m:r>
                      <m:r>
                        <a:rPr lang="en-US" altLang="zh-CN" sz="1800" i="1" dirty="0">
                          <a:solidFill>
                            <a:srgbClr val="0070C0"/>
                          </a:solidFill>
                          <a:latin typeface="Cambria Math" panose="02040503050406030204" pitchFamily="18" charset="0"/>
                          <a:ea typeface="等线" panose="02010600030101010101" pitchFamily="2" charset="-122"/>
                        </a:rPr>
                        <m:t>0</m:t>
                      </m:r>
                      <m:r>
                        <a:rPr lang="en-US" altLang="zh-CN" sz="1800" b="0" i="1" dirty="0" smtClean="0">
                          <a:solidFill>
                            <a:srgbClr val="0070C0"/>
                          </a:solidFill>
                          <a:latin typeface="Cambria Math" panose="02040503050406030204" pitchFamily="18" charset="0"/>
                          <a:ea typeface="等线" panose="02010600030101010101" pitchFamily="2" charset="-122"/>
                        </a:rPr>
                        <m:t>.4</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m:t>
                      </m:r>
                      <m:r>
                        <a:rPr lang="en-US" altLang="zh-CN" sz="1800" i="1" dirty="0">
                          <a:solidFill>
                            <a:srgbClr val="0070C0"/>
                          </a:solidFill>
                          <a:latin typeface="Cambria Math" panose="02040503050406030204" pitchFamily="18" charset="0"/>
                          <a:ea typeface="等线" panose="02010600030101010101" pitchFamily="2" charset="-122"/>
                        </a:rPr>
                        <m:t>0</m:t>
                      </m:r>
                      <m:r>
                        <a:rPr lang="en-US" altLang="zh-CN" sz="1800" b="0" i="1" dirty="0" smtClean="0">
                          <a:solidFill>
                            <a:srgbClr val="0070C0"/>
                          </a:solidFill>
                          <a:latin typeface="Cambria Math" panose="02040503050406030204" pitchFamily="18" charset="0"/>
                          <a:ea typeface="等线" panose="02010600030101010101" pitchFamily="2" charset="-122"/>
                        </a:rPr>
                        <m:t>.4</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m:t>
                      </m:r>
                      <m:r>
                        <a:rPr lang="en-US" altLang="zh-CN" sz="1800" i="1" dirty="0">
                          <a:solidFill>
                            <a:srgbClr val="0070C0"/>
                          </a:solidFill>
                          <a:latin typeface="Cambria Math" panose="02040503050406030204" pitchFamily="18" charset="0"/>
                          <a:ea typeface="等线" panose="02010600030101010101" pitchFamily="2" charset="-122"/>
                        </a:rPr>
                        <m:t>0</m:t>
                      </m:r>
                      <m:r>
                        <a:rPr lang="en-US" altLang="zh-CN" sz="1800" b="0" i="1" dirty="0" smtClean="0">
                          <a:solidFill>
                            <a:srgbClr val="0070C0"/>
                          </a:solidFill>
                          <a:latin typeface="Cambria Math" panose="02040503050406030204" pitchFamily="18" charset="0"/>
                          <a:ea typeface="等线" panose="02010600030101010101" pitchFamily="2" charset="-122"/>
                        </a:rPr>
                        <m:t>.4</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0.6</m:t>
                      </m:r>
                      <m:r>
                        <a:rPr lang="en-US" altLang="zh-CN" sz="1800" i="1" dirty="0">
                          <a:solidFill>
                            <a:srgbClr val="0070C0"/>
                          </a:solidFill>
                          <a:latin typeface="Cambria Math" panose="02040503050406030204" pitchFamily="18" charset="0"/>
                          <a:ea typeface="等线" panose="02010600030101010101" pitchFamily="2" charset="-122"/>
                        </a:rPr>
                        <m:t>]</m:t>
                      </m:r>
                    </m:oMath>
                  </a14:m>
                  <a:r>
                    <a:rPr lang="zh-CN" altLang="en-US" sz="1800" dirty="0">
                      <a:solidFill>
                        <a:srgbClr val="0070C0"/>
                      </a:solidFill>
                      <a:latin typeface="等线" panose="02010600030101010101" pitchFamily="2" charset="-122"/>
                      <a:ea typeface="等线" panose="02010600030101010101" pitchFamily="2" charset="-122"/>
                    </a:rPr>
                    <a:t>作为物品</a:t>
                  </a:r>
                  <a:r>
                    <a:rPr lang="en-US" altLang="zh-CN" sz="1800" dirty="0">
                      <a:solidFill>
                        <a:srgbClr val="0070C0"/>
                      </a:solidFill>
                      <a:latin typeface="等线" panose="02010600030101010101" pitchFamily="2" charset="-122"/>
                      <a:ea typeface="等线" panose="02010600030101010101" pitchFamily="2" charset="-122"/>
                    </a:rPr>
                    <a:t>a</a:t>
                  </a:r>
                  <a:r>
                    <a:rPr lang="zh-CN" altLang="en-US" sz="1800" dirty="0">
                      <a:solidFill>
                        <a:srgbClr val="0070C0"/>
                      </a:solidFill>
                      <a:latin typeface="等线" panose="02010600030101010101" pitchFamily="2" charset="-122"/>
                      <a:ea typeface="等线" panose="02010600030101010101" pitchFamily="2" charset="-122"/>
                    </a:rPr>
                    <a:t>的特征，</a:t>
                  </a:r>
                  <a14:m>
                    <m:oMath xmlns:m="http://schemas.openxmlformats.org/officeDocument/2006/math">
                      <m:sSub>
                        <m:sSubPr>
                          <m:ctrlPr>
                            <a:rPr lang="en-US" altLang="zh-CN" sz="1800" i="1" dirty="0">
                              <a:solidFill>
                                <a:srgbClr val="0070C0"/>
                              </a:solidFill>
                              <a:latin typeface="Cambria Math" panose="02040503050406030204" pitchFamily="18" charset="0"/>
                              <a:ea typeface="等线" panose="02010600030101010101" pitchFamily="2" charset="-122"/>
                            </a:rPr>
                          </m:ctrlPr>
                        </m:sSubPr>
                        <m:e>
                          <m:r>
                            <a:rPr lang="en-US" altLang="zh-CN" sz="1800" b="0" i="1" dirty="0" smtClean="0">
                              <a:solidFill>
                                <a:srgbClr val="0070C0"/>
                              </a:solidFill>
                              <a:latin typeface="Cambria Math" panose="02040503050406030204" pitchFamily="18" charset="0"/>
                              <a:ea typeface="等线" panose="02010600030101010101" pitchFamily="2" charset="-122"/>
                            </a:rPr>
                            <m:t>𝑐</m:t>
                          </m:r>
                        </m:e>
                        <m:sub>
                          <m:r>
                            <a:rPr lang="en-US" altLang="zh-CN" sz="1800" i="1" dirty="0">
                              <a:solidFill>
                                <a:srgbClr val="0070C0"/>
                              </a:solidFill>
                              <a:latin typeface="Cambria Math" panose="02040503050406030204" pitchFamily="18" charset="0"/>
                              <a:ea typeface="等线" panose="02010600030101010101" pitchFamily="2" charset="-122"/>
                            </a:rPr>
                            <m:t>2</m:t>
                          </m:r>
                        </m:sub>
                      </m:sSub>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0.4</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0.4</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−0.6</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0.4</m:t>
                      </m:r>
                      <m:r>
                        <a:rPr lang="en-US" altLang="zh-CN" sz="1800" i="1" dirty="0">
                          <a:solidFill>
                            <a:srgbClr val="0070C0"/>
                          </a:solidFill>
                          <a:latin typeface="Cambria Math" panose="02040503050406030204" pitchFamily="18" charset="0"/>
                          <a:ea typeface="等线" panose="02010600030101010101" pitchFamily="2" charset="-122"/>
                        </a:rPr>
                        <m:t>,</m:t>
                      </m:r>
                      <m:r>
                        <a:rPr lang="en-US" altLang="zh-CN" sz="1800" b="0" i="1" dirty="0" smtClean="0">
                          <a:solidFill>
                            <a:srgbClr val="0070C0"/>
                          </a:solidFill>
                          <a:latin typeface="Cambria Math" panose="02040503050406030204" pitchFamily="18" charset="0"/>
                          <a:ea typeface="等线" panose="02010600030101010101" pitchFamily="2" charset="-122"/>
                        </a:rPr>
                        <m:t>−0.6</m:t>
                      </m:r>
                      <m:r>
                        <a:rPr lang="en-US" altLang="zh-CN" sz="1800" i="1" dirty="0">
                          <a:solidFill>
                            <a:srgbClr val="0070C0"/>
                          </a:solidFill>
                          <a:latin typeface="Cambria Math" panose="02040503050406030204" pitchFamily="18" charset="0"/>
                          <a:ea typeface="等线" panose="02010600030101010101" pitchFamily="2" charset="-122"/>
                        </a:rPr>
                        <m:t>]</m:t>
                      </m:r>
                    </m:oMath>
                  </a14:m>
                  <a:r>
                    <a:rPr lang="zh-CN" altLang="en-US" sz="1800" dirty="0">
                      <a:solidFill>
                        <a:srgbClr val="0070C0"/>
                      </a:solidFill>
                      <a:latin typeface="等线" panose="02010600030101010101" pitchFamily="2" charset="-122"/>
                      <a:ea typeface="等线" panose="02010600030101010101" pitchFamily="2" charset="-122"/>
                    </a:rPr>
                    <a:t>作为物品</a:t>
                  </a:r>
                  <a:r>
                    <a:rPr lang="en-US" altLang="zh-CN" sz="1800" dirty="0">
                      <a:solidFill>
                        <a:srgbClr val="0070C0"/>
                      </a:solidFill>
                      <a:latin typeface="等线" panose="02010600030101010101" pitchFamily="2" charset="-122"/>
                      <a:ea typeface="等线" panose="02010600030101010101" pitchFamily="2" charset="-122"/>
                    </a:rPr>
                    <a:t>b</a:t>
                  </a:r>
                  <a:r>
                    <a:rPr lang="zh-CN" altLang="en-US" sz="1800" dirty="0">
                      <a:solidFill>
                        <a:srgbClr val="0070C0"/>
                      </a:solidFill>
                      <a:latin typeface="等线" panose="02010600030101010101" pitchFamily="2" charset="-122"/>
                      <a:ea typeface="等线" panose="02010600030101010101" pitchFamily="2" charset="-122"/>
                    </a:rPr>
                    <a:t>特征。</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那么物品</a:t>
                  </a:r>
                  <a:r>
                    <a:rPr lang="en-US" altLang="zh-CN" sz="1800" dirty="0">
                      <a:solidFill>
                        <a:srgbClr val="0070C0"/>
                      </a:solidFill>
                      <a:latin typeface="等线" panose="02010600030101010101" pitchFamily="2" charset="-122"/>
                      <a:ea typeface="等线" panose="02010600030101010101" pitchFamily="2" charset="-122"/>
                    </a:rPr>
                    <a:t>a</a:t>
                  </a:r>
                  <a:r>
                    <a:rPr lang="zh-CN" altLang="en-US" sz="1800" dirty="0">
                      <a:solidFill>
                        <a:srgbClr val="0070C0"/>
                      </a:solidFill>
                      <a:latin typeface="等线" panose="02010600030101010101" pitchFamily="2" charset="-122"/>
                      <a:ea typeface="等线" panose="02010600030101010101" pitchFamily="2" charset="-122"/>
                    </a:rPr>
                    <a:t>和物品</a:t>
                  </a:r>
                  <a:r>
                    <a:rPr lang="en-US" altLang="zh-CN" sz="1800" dirty="0">
                      <a:solidFill>
                        <a:srgbClr val="0070C0"/>
                      </a:solidFill>
                      <a:latin typeface="等线" panose="02010600030101010101" pitchFamily="2" charset="-122"/>
                      <a:ea typeface="等线" panose="02010600030101010101" pitchFamily="2" charset="-122"/>
                    </a:rPr>
                    <a:t>b</a:t>
                  </a:r>
                  <a:r>
                    <a:rPr lang="zh-CN" altLang="en-US" sz="1800" dirty="0">
                      <a:solidFill>
                        <a:srgbClr val="0070C0"/>
                      </a:solidFill>
                      <a:latin typeface="等线" panose="02010600030101010101" pitchFamily="2" charset="-122"/>
                      <a:ea typeface="等线" panose="02010600030101010101" pitchFamily="2" charset="-122"/>
                    </a:rPr>
                    <a:t>调整后的相似度为</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mc:Choice>
          <mc:Fallback xmlns="">
            <p:sp>
              <p:nvSpPr>
                <p:cNvPr id="15" name="Content Placeholder 2"/>
                <p:cNvSpPr txBox="1">
                  <a:spLocks noRot="1" noChangeAspect="1" noMove="1" noResize="1" noEditPoints="1" noAdjustHandles="1" noChangeArrowheads="1" noChangeShapeType="1" noTextEdit="1"/>
                </p:cNvSpPr>
                <p:nvPr/>
              </p:nvSpPr>
              <p:spPr>
                <a:xfrm>
                  <a:off x="670029" y="2819400"/>
                  <a:ext cx="3444771" cy="3429000"/>
                </a:xfrm>
                <a:prstGeom prst="rect">
                  <a:avLst/>
                </a:prstGeom>
                <a:blipFill>
                  <a:blip r:embed="rId3"/>
                  <a:stretch>
                    <a:fillRect l="-2203" t="-533" r="-135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2C690AA5-4A63-4D3E-A84F-8CDA376B4A7B}"/>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基于物品的协同过滤</a:t>
              </a:r>
            </a:p>
          </p:txBody>
        </p:sp>
        <p:cxnSp>
          <p:nvCxnSpPr>
            <p:cNvPr id="6" name="直接连接符 5">
              <a:extLst>
                <a:ext uri="{FF2B5EF4-FFF2-40B4-BE49-F238E27FC236}">
                  <a16:creationId xmlns:a16="http://schemas.microsoft.com/office/drawing/2014/main" id="{343C4472-AA19-415C-9C7B-2BB6F84CB359}"/>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7" name="组合 46">
            <a:extLst>
              <a:ext uri="{FF2B5EF4-FFF2-40B4-BE49-F238E27FC236}">
                <a16:creationId xmlns:a16="http://schemas.microsoft.com/office/drawing/2014/main" id="{66A4961A-2A90-45B2-964D-7809F4F0FF8F}"/>
              </a:ext>
            </a:extLst>
          </p:cNvPr>
          <p:cNvGrpSpPr>
            <a:grpSpLocks/>
          </p:cNvGrpSpPr>
          <p:nvPr/>
        </p:nvGrpSpPr>
        <p:grpSpPr bwMode="auto">
          <a:xfrm>
            <a:off x="0" y="284163"/>
            <a:ext cx="3276826" cy="530225"/>
            <a:chOff x="1742209" y="284389"/>
            <a:chExt cx="2627978" cy="529772"/>
          </a:xfrm>
          <a:solidFill>
            <a:srgbClr val="024C89"/>
          </a:solidFill>
        </p:grpSpPr>
        <p:sp>
          <p:nvSpPr>
            <p:cNvPr id="8" name="矩形 7">
              <a:extLst>
                <a:ext uri="{FF2B5EF4-FFF2-40B4-BE49-F238E27FC236}">
                  <a16:creationId xmlns:a16="http://schemas.microsoft.com/office/drawing/2014/main" id="{B069DD93-53ED-4636-8864-6EDB08A9F9DF}"/>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9" name="矩形 8">
              <a:extLst>
                <a:ext uri="{FF2B5EF4-FFF2-40B4-BE49-F238E27FC236}">
                  <a16:creationId xmlns:a16="http://schemas.microsoft.com/office/drawing/2014/main" id="{9A8ED3A1-6050-44FA-82F3-C987387E9C79}"/>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a:extLst>
              <a:ext uri="{FF2B5EF4-FFF2-40B4-BE49-F238E27FC236}">
                <a16:creationId xmlns:a16="http://schemas.microsoft.com/office/drawing/2014/main" id="{AB1700A3-0903-41A2-A04D-3D2F8654C1DE}"/>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graphicFrame>
        <p:nvGraphicFramePr>
          <p:cNvPr id="11" name="表格 10">
            <a:extLst>
              <a:ext uri="{FF2B5EF4-FFF2-40B4-BE49-F238E27FC236}">
                <a16:creationId xmlns:a16="http://schemas.microsoft.com/office/drawing/2014/main" id="{600935B5-0B25-439A-BFBA-D016A3CE4452}"/>
              </a:ext>
            </a:extLst>
          </p:cNvPr>
          <p:cNvGraphicFramePr>
            <a:graphicFrameLocks noGrp="1"/>
          </p:cNvGraphicFramePr>
          <p:nvPr/>
        </p:nvGraphicFramePr>
        <p:xfrm>
          <a:off x="5410200" y="2667000"/>
          <a:ext cx="2743200" cy="2217018"/>
        </p:xfrm>
        <a:graphic>
          <a:graphicData uri="http://schemas.openxmlformats.org/drawingml/2006/table">
            <a:tbl>
              <a:tblPr firstRow="1" firstCol="1" bandRow="1">
                <a:tableStyleId>{5C22544A-7EE6-4342-B048-85BDC9FD1C3A}</a:tableStyleId>
              </a:tblPr>
              <a:tblGrid>
                <a:gridCol w="381000">
                  <a:extLst>
                    <a:ext uri="{9D8B030D-6E8A-4147-A177-3AD203B41FA5}">
                      <a16:colId xmlns:a16="http://schemas.microsoft.com/office/drawing/2014/main" val="624084034"/>
                    </a:ext>
                  </a:extLst>
                </a:gridCol>
                <a:gridCol w="439132">
                  <a:extLst>
                    <a:ext uri="{9D8B030D-6E8A-4147-A177-3AD203B41FA5}">
                      <a16:colId xmlns:a16="http://schemas.microsoft.com/office/drawing/2014/main" val="1545497573"/>
                    </a:ext>
                  </a:extLst>
                </a:gridCol>
                <a:gridCol w="480767">
                  <a:extLst>
                    <a:ext uri="{9D8B030D-6E8A-4147-A177-3AD203B41FA5}">
                      <a16:colId xmlns:a16="http://schemas.microsoft.com/office/drawing/2014/main" val="549426046"/>
                    </a:ext>
                  </a:extLst>
                </a:gridCol>
                <a:gridCol w="480767">
                  <a:extLst>
                    <a:ext uri="{9D8B030D-6E8A-4147-A177-3AD203B41FA5}">
                      <a16:colId xmlns:a16="http://schemas.microsoft.com/office/drawing/2014/main" val="3849227356"/>
                    </a:ext>
                  </a:extLst>
                </a:gridCol>
                <a:gridCol w="480767">
                  <a:extLst>
                    <a:ext uri="{9D8B030D-6E8A-4147-A177-3AD203B41FA5}">
                      <a16:colId xmlns:a16="http://schemas.microsoft.com/office/drawing/2014/main" val="4259075429"/>
                    </a:ext>
                  </a:extLst>
                </a:gridCol>
                <a:gridCol w="480767">
                  <a:extLst>
                    <a:ext uri="{9D8B030D-6E8A-4147-A177-3AD203B41FA5}">
                      <a16:colId xmlns:a16="http://schemas.microsoft.com/office/drawing/2014/main" val="580332812"/>
                    </a:ext>
                  </a:extLst>
                </a:gridCol>
              </a:tblGrid>
              <a:tr h="369503">
                <a:tc>
                  <a:txBody>
                    <a:bodyPr/>
                    <a:lstStyle/>
                    <a:p>
                      <a:pPr algn="ct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a</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b</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c</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d</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e</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5113587"/>
                  </a:ext>
                </a:extLst>
              </a:tr>
              <a:tr h="369503">
                <a:tc>
                  <a:txBody>
                    <a:bodyPr/>
                    <a:lstStyle/>
                    <a:p>
                      <a:pPr algn="ctr"/>
                      <a:r>
                        <a:rPr lang="en-US" altLang="zh-CN" b="0" dirty="0">
                          <a:solidFill>
                            <a:schemeClr val="tx1">
                              <a:lumMod val="95000"/>
                              <a:lumOff val="5000"/>
                              <a:alpha val="80000"/>
                            </a:schemeClr>
                          </a:solidFill>
                        </a:rPr>
                        <a:t>A</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61769197"/>
                  </a:ext>
                </a:extLst>
              </a:tr>
              <a:tr h="369503">
                <a:tc>
                  <a:txBody>
                    <a:bodyPr/>
                    <a:lstStyle/>
                    <a:p>
                      <a:pPr algn="ctr"/>
                      <a:r>
                        <a:rPr lang="en-US" altLang="zh-CN" b="0" dirty="0">
                          <a:solidFill>
                            <a:schemeClr val="tx1">
                              <a:lumMod val="95000"/>
                              <a:lumOff val="5000"/>
                              <a:alpha val="80000"/>
                            </a:schemeClr>
                          </a:solidFill>
                        </a:rPr>
                        <a:t>B</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-0.8</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0.8</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5010243"/>
                  </a:ext>
                </a:extLst>
              </a:tr>
              <a:tr h="369503">
                <a:tc>
                  <a:txBody>
                    <a:bodyPr/>
                    <a:lstStyle/>
                    <a:p>
                      <a:pPr algn="ctr"/>
                      <a:r>
                        <a:rPr lang="en-US" altLang="zh-CN" b="0" dirty="0">
                          <a:solidFill>
                            <a:schemeClr val="tx1">
                              <a:lumMod val="95000"/>
                              <a:lumOff val="5000"/>
                              <a:alpha val="80000"/>
                            </a:schemeClr>
                          </a:solidFill>
                        </a:rPr>
                        <a:t>C</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143135"/>
                  </a:ext>
                </a:extLst>
              </a:tr>
              <a:tr h="369503">
                <a:tc>
                  <a:txBody>
                    <a:bodyPr/>
                    <a:lstStyle/>
                    <a:p>
                      <a:pPr algn="ctr"/>
                      <a:r>
                        <a:rPr lang="en-US" altLang="zh-CN" b="0" dirty="0">
                          <a:solidFill>
                            <a:schemeClr val="tx1">
                              <a:lumMod val="95000"/>
                              <a:lumOff val="5000"/>
                              <a:alpha val="80000"/>
                            </a:schemeClr>
                          </a:solidFill>
                        </a:rPr>
                        <a:t>D</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0.4</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9713563"/>
                  </a:ext>
                </a:extLst>
              </a:tr>
              <a:tr h="369503">
                <a:tc>
                  <a:txBody>
                    <a:bodyPr/>
                    <a:lstStyle/>
                    <a:p>
                      <a:pPr algn="ctr"/>
                      <a:r>
                        <a:rPr lang="en-US" altLang="zh-CN" b="0" dirty="0">
                          <a:solidFill>
                            <a:schemeClr val="tx1">
                              <a:lumMod val="95000"/>
                              <a:lumOff val="5000"/>
                              <a:alpha val="80000"/>
                            </a:schemeClr>
                          </a:solidFill>
                        </a:rPr>
                        <a:t>E</a:t>
                      </a:r>
                      <a:endParaRPr lang="zh-CN" altLang="en-US" b="0" dirty="0">
                        <a:solidFill>
                          <a:schemeClr val="tx1">
                            <a:lumMod val="95000"/>
                            <a:lumOff val="5000"/>
                            <a:alpha val="80000"/>
                          </a:schemeClr>
                        </a:solidFill>
                      </a:endParaRPr>
                    </a:p>
                  </a:txBody>
                  <a:tcPr marR="720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-0.6</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1600" b="0" dirty="0">
                          <a:solidFill>
                            <a:schemeClr val="tx1">
                              <a:lumMod val="95000"/>
                              <a:lumOff val="5000"/>
                              <a:alpha val="80000"/>
                            </a:schemeClr>
                          </a:solidFill>
                        </a:rPr>
                        <a:t>-0.2</a:t>
                      </a:r>
                      <a:endParaRPr lang="zh-CN" altLang="en-US" sz="1600" b="0" dirty="0">
                        <a:solidFill>
                          <a:schemeClr val="tx1">
                            <a:lumMod val="95000"/>
                            <a:lumOff val="5000"/>
                            <a:alpha val="80000"/>
                          </a:schemeClr>
                        </a:solidFill>
                      </a:endParaRPr>
                    </a:p>
                  </a:txBody>
                  <a:tcPr marL="0" marR="72000">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6582931"/>
                  </a:ext>
                </a:extLst>
              </a:tr>
            </a:tbl>
          </a:graphicData>
        </a:graphic>
      </p:graphicFrame>
      <p:pic>
        <p:nvPicPr>
          <p:cNvPr id="12" name="图片 11">
            <a:extLst>
              <a:ext uri="{FF2B5EF4-FFF2-40B4-BE49-F238E27FC236}">
                <a16:creationId xmlns:a16="http://schemas.microsoft.com/office/drawing/2014/main" id="{2EC085F3-C846-457E-A0CA-CF0005AE56D6}"/>
              </a:ext>
            </a:extLst>
          </p:cNvPr>
          <p:cNvPicPr>
            <a:picLocks noChangeAspect="1"/>
          </p:cNvPicPr>
          <p:nvPr/>
        </p:nvPicPr>
        <p:blipFill>
          <a:blip r:embed="rId4"/>
          <a:stretch>
            <a:fillRect/>
          </a:stretch>
        </p:blipFill>
        <p:spPr>
          <a:xfrm>
            <a:off x="638577" y="5054866"/>
            <a:ext cx="5133975" cy="809625"/>
          </a:xfrm>
          <a:prstGeom prst="rect">
            <a:avLst/>
          </a:prstGeom>
        </p:spPr>
      </p:pic>
      <p:sp>
        <p:nvSpPr>
          <p:cNvPr id="13" name="矩形 12">
            <a:extLst>
              <a:ext uri="{FF2B5EF4-FFF2-40B4-BE49-F238E27FC236}">
                <a16:creationId xmlns:a16="http://schemas.microsoft.com/office/drawing/2014/main" id="{CD41E2FB-0797-4BEE-9E96-262BEF3F9FF9}"/>
              </a:ext>
            </a:extLst>
          </p:cNvPr>
          <p:cNvSpPr/>
          <p:nvPr/>
        </p:nvSpPr>
        <p:spPr bwMode="auto">
          <a:xfrm>
            <a:off x="5791200" y="2514600"/>
            <a:ext cx="914400" cy="2514600"/>
          </a:xfrm>
          <a:prstGeom prst="rect">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spTree>
    <p:extLst>
      <p:ext uri="{BB962C8B-B14F-4D97-AF65-F5344CB8AC3E}">
        <p14:creationId xmlns:p14="http://schemas.microsoft.com/office/powerpoint/2010/main" val="1405072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BA1563A0-B48C-4A87-9167-D882B6A1C04C}"/>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58B14F19-A754-4198-BCAF-1E7F38D0E305}"/>
              </a:ext>
            </a:extLst>
          </p:cNvPr>
          <p:cNvGrpSpPr/>
          <p:nvPr/>
        </p:nvGrpSpPr>
        <p:grpSpPr>
          <a:xfrm>
            <a:off x="660981" y="1676400"/>
            <a:ext cx="3606219" cy="4495799"/>
            <a:chOff x="660981" y="2281535"/>
            <a:chExt cx="3453819" cy="4495799"/>
          </a:xfrm>
        </p:grpSpPr>
        <p:sp>
          <p:nvSpPr>
            <p:cNvPr id="4" name="Content Placeholder 2">
              <a:extLst>
                <a:ext uri="{FF2B5EF4-FFF2-40B4-BE49-F238E27FC236}">
                  <a16:creationId xmlns:a16="http://schemas.microsoft.com/office/drawing/2014/main" id="{50E06862-EDBC-41F1-84ED-AB13D3BEE84E}"/>
                </a:ext>
              </a:extLst>
            </p:cNvPr>
            <p:cNvSpPr txBox="1">
              <a:spLocks/>
            </p:cNvSpPr>
            <p:nvPr/>
          </p:nvSpPr>
          <p:spPr>
            <a:xfrm>
              <a:off x="670029" y="2819399"/>
              <a:ext cx="3444771" cy="395793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预测用户是否喜欢某物品</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得到物品之间的相似度后，我们使用加权和的方法，计算用户对他未购买的物品的喜好程度。</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例如，用户</a:t>
              </a:r>
              <a:r>
                <a:rPr lang="en-US" altLang="zh-CN" sz="1800" dirty="0">
                  <a:solidFill>
                    <a:srgbClr val="0070C0"/>
                  </a:solidFill>
                  <a:latin typeface="等线" panose="02010600030101010101" pitchFamily="2" charset="-122"/>
                  <a:ea typeface="等线" panose="02010600030101010101" pitchFamily="2" charset="-122"/>
                </a:rPr>
                <a:t>A</a:t>
              </a:r>
              <a:r>
                <a:rPr lang="zh-CN" altLang="en-US" sz="1800" dirty="0">
                  <a:solidFill>
                    <a:srgbClr val="0070C0"/>
                  </a:solidFill>
                  <a:latin typeface="等线" panose="02010600030101010101" pitchFamily="2" charset="-122"/>
                  <a:ea typeface="等线" panose="02010600030101010101" pitchFamily="2" charset="-122"/>
                </a:rPr>
                <a:t>对物品</a:t>
              </a:r>
              <a:r>
                <a:rPr lang="en-US" altLang="zh-CN" sz="1800" dirty="0">
                  <a:solidFill>
                    <a:srgbClr val="0070C0"/>
                  </a:solidFill>
                  <a:latin typeface="等线" panose="02010600030101010101" pitchFamily="2" charset="-122"/>
                  <a:ea typeface="等线" panose="02010600030101010101" pitchFamily="2" charset="-122"/>
                </a:rPr>
                <a:t>c</a:t>
              </a:r>
              <a:r>
                <a:rPr lang="zh-CN" altLang="en-US" sz="1800" dirty="0">
                  <a:solidFill>
                    <a:srgbClr val="0070C0"/>
                  </a:solidFill>
                  <a:latin typeface="等线" panose="02010600030101010101" pitchFamily="2" charset="-122"/>
                  <a:ea typeface="等线" panose="02010600030101010101" pitchFamily="2" charset="-122"/>
                </a:rPr>
                <a:t>的喜好程度</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3348CB04-4573-4E9E-96C4-9554BE8A7BB6}"/>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基于物品的协同过滤</a:t>
              </a:r>
            </a:p>
          </p:txBody>
        </p:sp>
        <p:cxnSp>
          <p:nvCxnSpPr>
            <p:cNvPr id="6" name="直接连接符 5">
              <a:extLst>
                <a:ext uri="{FF2B5EF4-FFF2-40B4-BE49-F238E27FC236}">
                  <a16:creationId xmlns:a16="http://schemas.microsoft.com/office/drawing/2014/main" id="{B0A94CD0-E413-48BA-B932-DB86666E913E}"/>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grpSp>
        <p:nvGrpSpPr>
          <p:cNvPr id="7" name="组合 46">
            <a:extLst>
              <a:ext uri="{FF2B5EF4-FFF2-40B4-BE49-F238E27FC236}">
                <a16:creationId xmlns:a16="http://schemas.microsoft.com/office/drawing/2014/main" id="{B5A9A511-2630-4A9C-8035-143DC10456E8}"/>
              </a:ext>
            </a:extLst>
          </p:cNvPr>
          <p:cNvGrpSpPr>
            <a:grpSpLocks/>
          </p:cNvGrpSpPr>
          <p:nvPr/>
        </p:nvGrpSpPr>
        <p:grpSpPr bwMode="auto">
          <a:xfrm>
            <a:off x="0" y="284163"/>
            <a:ext cx="3276826" cy="530225"/>
            <a:chOff x="1742209" y="284389"/>
            <a:chExt cx="2627978" cy="529772"/>
          </a:xfrm>
          <a:solidFill>
            <a:srgbClr val="024C89"/>
          </a:solidFill>
        </p:grpSpPr>
        <p:sp>
          <p:nvSpPr>
            <p:cNvPr id="8" name="矩形 7">
              <a:extLst>
                <a:ext uri="{FF2B5EF4-FFF2-40B4-BE49-F238E27FC236}">
                  <a16:creationId xmlns:a16="http://schemas.microsoft.com/office/drawing/2014/main" id="{E81B4740-0665-4E7C-9FBF-2CAC74295FCF}"/>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9" name="矩形 8">
              <a:extLst>
                <a:ext uri="{FF2B5EF4-FFF2-40B4-BE49-F238E27FC236}">
                  <a16:creationId xmlns:a16="http://schemas.microsoft.com/office/drawing/2014/main" id="{58E4BB9F-A78A-432C-AC70-87C050C82677}"/>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a:extLst>
              <a:ext uri="{FF2B5EF4-FFF2-40B4-BE49-F238E27FC236}">
                <a16:creationId xmlns:a16="http://schemas.microsoft.com/office/drawing/2014/main" id="{307F02F3-11EB-485F-8D1F-3A94D7F9C385}"/>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pic>
        <p:nvPicPr>
          <p:cNvPr id="11" name="图片 10">
            <a:extLst>
              <a:ext uri="{FF2B5EF4-FFF2-40B4-BE49-F238E27FC236}">
                <a16:creationId xmlns:a16="http://schemas.microsoft.com/office/drawing/2014/main" id="{15C05430-F64E-492A-8CBE-69FBADA0A93E}"/>
              </a:ext>
            </a:extLst>
          </p:cNvPr>
          <p:cNvPicPr>
            <a:picLocks noChangeAspect="1"/>
          </p:cNvPicPr>
          <p:nvPr/>
        </p:nvPicPr>
        <p:blipFill>
          <a:blip r:embed="rId2"/>
          <a:stretch>
            <a:fillRect/>
          </a:stretch>
        </p:blipFill>
        <p:spPr>
          <a:xfrm>
            <a:off x="670428" y="4597241"/>
            <a:ext cx="6568572" cy="743612"/>
          </a:xfrm>
          <a:prstGeom prst="rect">
            <a:avLst/>
          </a:prstGeom>
        </p:spPr>
      </p:pic>
      <p:graphicFrame>
        <p:nvGraphicFramePr>
          <p:cNvPr id="12" name="表格 11">
            <a:extLst>
              <a:ext uri="{FF2B5EF4-FFF2-40B4-BE49-F238E27FC236}">
                <a16:creationId xmlns:a16="http://schemas.microsoft.com/office/drawing/2014/main" id="{FBD6ECAA-DCD4-4AB6-972E-4330A8A7352D}"/>
              </a:ext>
            </a:extLst>
          </p:cNvPr>
          <p:cNvGraphicFramePr>
            <a:graphicFrameLocks noGrp="1"/>
          </p:cNvGraphicFramePr>
          <p:nvPr>
            <p:extLst>
              <p:ext uri="{D42A27DB-BD31-4B8C-83A1-F6EECF244321}">
                <p14:modId xmlns:p14="http://schemas.microsoft.com/office/powerpoint/2010/main" val="1393668837"/>
              </p:ext>
            </p:extLst>
          </p:nvPr>
        </p:nvGraphicFramePr>
        <p:xfrm>
          <a:off x="5334000" y="1871040"/>
          <a:ext cx="2743200" cy="2225040"/>
        </p:xfrm>
        <a:graphic>
          <a:graphicData uri="http://schemas.openxmlformats.org/drawingml/2006/table">
            <a:tbl>
              <a:tblPr firstRow="1" firstCol="1" bandRow="1">
                <a:tableStyleId>{5C22544A-7EE6-4342-B048-85BDC9FD1C3A}</a:tableStyleId>
              </a:tblPr>
              <a:tblGrid>
                <a:gridCol w="428624">
                  <a:extLst>
                    <a:ext uri="{9D8B030D-6E8A-4147-A177-3AD203B41FA5}">
                      <a16:colId xmlns:a16="http://schemas.microsoft.com/office/drawing/2014/main" val="624084034"/>
                    </a:ext>
                  </a:extLst>
                </a:gridCol>
                <a:gridCol w="391508">
                  <a:extLst>
                    <a:ext uri="{9D8B030D-6E8A-4147-A177-3AD203B41FA5}">
                      <a16:colId xmlns:a16="http://schemas.microsoft.com/office/drawing/2014/main" val="1545497573"/>
                    </a:ext>
                  </a:extLst>
                </a:gridCol>
                <a:gridCol w="480767">
                  <a:extLst>
                    <a:ext uri="{9D8B030D-6E8A-4147-A177-3AD203B41FA5}">
                      <a16:colId xmlns:a16="http://schemas.microsoft.com/office/drawing/2014/main" val="549426046"/>
                    </a:ext>
                  </a:extLst>
                </a:gridCol>
                <a:gridCol w="480767">
                  <a:extLst>
                    <a:ext uri="{9D8B030D-6E8A-4147-A177-3AD203B41FA5}">
                      <a16:colId xmlns:a16="http://schemas.microsoft.com/office/drawing/2014/main" val="3849227356"/>
                    </a:ext>
                  </a:extLst>
                </a:gridCol>
                <a:gridCol w="480767">
                  <a:extLst>
                    <a:ext uri="{9D8B030D-6E8A-4147-A177-3AD203B41FA5}">
                      <a16:colId xmlns:a16="http://schemas.microsoft.com/office/drawing/2014/main" val="4259075429"/>
                    </a:ext>
                  </a:extLst>
                </a:gridCol>
                <a:gridCol w="480767">
                  <a:extLst>
                    <a:ext uri="{9D8B030D-6E8A-4147-A177-3AD203B41FA5}">
                      <a16:colId xmlns:a16="http://schemas.microsoft.com/office/drawing/2014/main" val="580332812"/>
                    </a:ext>
                  </a:extLst>
                </a:gridCol>
              </a:tblGrid>
              <a:tr h="370840">
                <a:tc>
                  <a:txBody>
                    <a:bodyPr/>
                    <a:lstStyle/>
                    <a:p>
                      <a:pPr algn="ct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a</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b</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c</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d</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lumMod val="95000"/>
                              <a:lumOff val="5000"/>
                              <a:alpha val="80000"/>
                            </a:schemeClr>
                          </a:solidFill>
                          <a:latin typeface="微软雅黑" panose="020B0503020204020204" pitchFamily="34" charset="-122"/>
                          <a:ea typeface="微软雅黑" panose="020B0503020204020204" pitchFamily="34" charset="-122"/>
                        </a:rPr>
                        <a:t>e</a:t>
                      </a:r>
                      <a:endParaRPr lang="zh-CN" altLang="en-US" b="0" dirty="0">
                        <a:solidFill>
                          <a:schemeClr val="tx1">
                            <a:lumMod val="95000"/>
                            <a:lumOff val="5000"/>
                            <a:alpha val="80000"/>
                          </a:schemeClr>
                        </a:solidFill>
                        <a:latin typeface="微软雅黑" panose="020B0503020204020204" pitchFamily="34" charset="-122"/>
                        <a:ea typeface="微软雅黑" panose="020B0503020204020204" pitchFamily="34" charset="-122"/>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5113587"/>
                  </a:ext>
                </a:extLst>
              </a:tr>
              <a:tr h="370840">
                <a:tc>
                  <a:txBody>
                    <a:bodyPr/>
                    <a:lstStyle/>
                    <a:p>
                      <a:pPr algn="ctr"/>
                      <a:r>
                        <a:rPr lang="en-US" altLang="zh-CN" b="0" dirty="0">
                          <a:solidFill>
                            <a:schemeClr val="tx1">
                              <a:lumMod val="95000"/>
                              <a:lumOff val="5000"/>
                              <a:alpha val="80000"/>
                            </a:schemeClr>
                          </a:solidFill>
                        </a:rPr>
                        <a:t>A</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61769197"/>
                  </a:ext>
                </a:extLst>
              </a:tr>
              <a:tr h="370840">
                <a:tc>
                  <a:txBody>
                    <a:bodyPr/>
                    <a:lstStyle/>
                    <a:p>
                      <a:pPr algn="ctr"/>
                      <a:r>
                        <a:rPr lang="en-US" altLang="zh-CN" b="0" dirty="0">
                          <a:solidFill>
                            <a:schemeClr val="tx1">
                              <a:lumMod val="95000"/>
                              <a:lumOff val="5000"/>
                              <a:alpha val="80000"/>
                            </a:schemeClr>
                          </a:solidFill>
                        </a:rPr>
                        <a:t>B</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5010243"/>
                  </a:ext>
                </a:extLst>
              </a:tr>
              <a:tr h="370840">
                <a:tc>
                  <a:txBody>
                    <a:bodyPr/>
                    <a:lstStyle/>
                    <a:p>
                      <a:pPr algn="ctr"/>
                      <a:r>
                        <a:rPr lang="en-US" altLang="zh-CN" b="0" dirty="0">
                          <a:solidFill>
                            <a:schemeClr val="tx1">
                              <a:lumMod val="95000"/>
                              <a:lumOff val="5000"/>
                              <a:alpha val="80000"/>
                            </a:schemeClr>
                          </a:solidFill>
                        </a:rPr>
                        <a:t>C</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143135"/>
                  </a:ext>
                </a:extLst>
              </a:tr>
              <a:tr h="370840">
                <a:tc>
                  <a:txBody>
                    <a:bodyPr/>
                    <a:lstStyle/>
                    <a:p>
                      <a:pPr algn="ctr"/>
                      <a:r>
                        <a:rPr lang="en-US" altLang="zh-CN" b="0" dirty="0">
                          <a:solidFill>
                            <a:schemeClr val="tx1">
                              <a:lumMod val="95000"/>
                              <a:lumOff val="5000"/>
                              <a:alpha val="80000"/>
                            </a:schemeClr>
                          </a:solidFill>
                        </a:rPr>
                        <a:t>D</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9713563"/>
                  </a:ext>
                </a:extLst>
              </a:tr>
              <a:tr h="370840">
                <a:tc>
                  <a:txBody>
                    <a:bodyPr/>
                    <a:lstStyle/>
                    <a:p>
                      <a:pPr algn="ctr"/>
                      <a:r>
                        <a:rPr lang="en-US" altLang="zh-CN" b="0" dirty="0">
                          <a:solidFill>
                            <a:schemeClr val="tx1">
                              <a:lumMod val="95000"/>
                              <a:lumOff val="5000"/>
                              <a:alpha val="80000"/>
                            </a:schemeClr>
                          </a:solidFill>
                        </a:rPr>
                        <a:t>E</a:t>
                      </a:r>
                      <a:endParaRPr lang="zh-CN" altLang="en-US" b="0" dirty="0">
                        <a:solidFill>
                          <a:schemeClr val="tx1">
                            <a:lumMod val="95000"/>
                            <a:lumOff val="5000"/>
                            <a:alpha val="8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lumMod val="95000"/>
                              <a:lumOff val="5000"/>
                              <a:alpha val="80000"/>
                            </a:schemeClr>
                          </a:solidFill>
                        </a:rPr>
                        <a:t>1</a:t>
                      </a: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dirty="0">
                        <a:solidFill>
                          <a:schemeClr val="tx1">
                            <a:lumMod val="95000"/>
                            <a:lumOff val="5000"/>
                            <a:alpha val="80000"/>
                          </a:schemeClr>
                        </a:solidFill>
                      </a:endParaRPr>
                    </a:p>
                  </a:txBody>
                  <a:tcP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6582931"/>
                  </a:ext>
                </a:extLst>
              </a:tr>
            </a:tbl>
          </a:graphicData>
        </a:graphic>
      </p:graphicFrame>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3264AFF0-CB4F-4FA7-BFD9-143DD025AD2C}"/>
                  </a:ext>
                </a:extLst>
              </p:cNvPr>
              <p:cNvSpPr/>
              <p:nvPr/>
            </p:nvSpPr>
            <p:spPr>
              <a:xfrm>
                <a:off x="670428" y="5463568"/>
                <a:ext cx="6568572" cy="784830"/>
              </a:xfrm>
              <a:prstGeom prst="rect">
                <a:avLst/>
              </a:prstGeom>
            </p:spPr>
            <p:txBody>
              <a:bodyPr wrap="square">
                <a:spAutoFit/>
              </a:bodyPr>
              <a:lstStyle/>
              <a:p>
                <a:pPr>
                  <a:lnSpc>
                    <a:spcPct val="125000"/>
                  </a:lnSpc>
                  <a:spcBef>
                    <a:spcPts val="600"/>
                  </a:spcBef>
                </a:pPr>
                <a:r>
                  <a:rPr lang="zh-CN" altLang="en-US" dirty="0">
                    <a:solidFill>
                      <a:srgbClr val="0070C0"/>
                    </a:solidFill>
                    <a:latin typeface="等线" panose="02010600030101010101" pitchFamily="2" charset="-122"/>
                    <a:ea typeface="等线" panose="02010600030101010101" pitchFamily="2" charset="-122"/>
                  </a:rPr>
                  <a:t>当喜好程度</a:t>
                </a:r>
                <a14:m>
                  <m:oMath xmlns:m="http://schemas.openxmlformats.org/officeDocument/2006/math">
                    <m:r>
                      <m:rPr>
                        <m:sty m:val="p"/>
                      </m:rPr>
                      <a:rPr lang="en-US" altLang="zh-CN" i="1" dirty="0">
                        <a:solidFill>
                          <a:srgbClr val="0070C0"/>
                        </a:solidFill>
                        <a:latin typeface="Cambria Math" panose="02040503050406030204" pitchFamily="18" charset="0"/>
                        <a:ea typeface="等线" panose="02010600030101010101" pitchFamily="2" charset="-122"/>
                      </a:rPr>
                      <m:t>f</m:t>
                    </m:r>
                    <m:r>
                      <m:rPr>
                        <m:sty m:val="p"/>
                      </m:rPr>
                      <a:rPr lang="en-US" altLang="zh-CN" dirty="0">
                        <a:solidFill>
                          <a:srgbClr val="0070C0"/>
                        </a:solidFill>
                        <a:latin typeface="Cambria Math" panose="02040503050406030204" pitchFamily="18" charset="0"/>
                        <a:ea typeface="等线" panose="02010600030101010101" pitchFamily="2" charset="-122"/>
                      </a:rPr>
                      <m:t>ond</m:t>
                    </m:r>
                    <m:r>
                      <a:rPr lang="en-US" altLang="zh-CN" i="1" dirty="0">
                        <a:solidFill>
                          <a:srgbClr val="0070C0"/>
                        </a:solidFill>
                        <a:latin typeface="Cambria Math" panose="02040503050406030204" pitchFamily="18" charset="0"/>
                        <a:ea typeface="等线" panose="02010600030101010101" pitchFamily="2" charset="-122"/>
                      </a:rPr>
                      <m:t>(</m:t>
                    </m:r>
                    <m:r>
                      <a:rPr lang="en-US" altLang="zh-CN" i="1" dirty="0">
                        <a:solidFill>
                          <a:srgbClr val="0070C0"/>
                        </a:solidFill>
                        <a:latin typeface="Cambria Math" panose="02040503050406030204" pitchFamily="18" charset="0"/>
                        <a:ea typeface="等线" panose="02010600030101010101" pitchFamily="2" charset="-122"/>
                      </a:rPr>
                      <m:t>𝐴</m:t>
                    </m:r>
                    <m:r>
                      <a:rPr lang="en-US" altLang="zh-CN" i="1" dirty="0">
                        <a:solidFill>
                          <a:srgbClr val="0070C0"/>
                        </a:solidFill>
                        <a:latin typeface="Cambria Math" panose="02040503050406030204" pitchFamily="18" charset="0"/>
                        <a:ea typeface="等线" panose="02010600030101010101" pitchFamily="2" charset="-122"/>
                      </a:rPr>
                      <m:t>,</m:t>
                    </m:r>
                    <m:r>
                      <a:rPr lang="en-US" altLang="zh-CN" i="1" dirty="0">
                        <a:solidFill>
                          <a:srgbClr val="0070C0"/>
                        </a:solidFill>
                        <a:latin typeface="Cambria Math" panose="02040503050406030204" pitchFamily="18" charset="0"/>
                        <a:ea typeface="等线" panose="02010600030101010101" pitchFamily="2" charset="-122"/>
                      </a:rPr>
                      <m:t>𝑐</m:t>
                    </m:r>
                    <m:r>
                      <a:rPr lang="en-US" altLang="zh-CN" i="1" dirty="0">
                        <a:solidFill>
                          <a:srgbClr val="0070C0"/>
                        </a:solidFill>
                        <a:latin typeface="Cambria Math" panose="02040503050406030204" pitchFamily="18" charset="0"/>
                        <a:ea typeface="等线" panose="02010600030101010101" pitchFamily="2" charset="-122"/>
                      </a:rPr>
                      <m:t>)</m:t>
                    </m:r>
                  </m:oMath>
                </a14:m>
                <a:r>
                  <a:rPr lang="zh-CN" altLang="en-US" dirty="0">
                    <a:solidFill>
                      <a:srgbClr val="0070C0"/>
                    </a:solidFill>
                    <a:latin typeface="等线" panose="02010600030101010101" pitchFamily="2" charset="-122"/>
                    <a:ea typeface="等线" panose="02010600030101010101" pitchFamily="2" charset="-122"/>
                  </a:rPr>
                  <a:t>大于设定的阈值时，我们就将物品</a:t>
                </a:r>
                <a:r>
                  <a:rPr lang="en-US" altLang="zh-CN" dirty="0">
                    <a:solidFill>
                      <a:srgbClr val="0070C0"/>
                    </a:solidFill>
                    <a:latin typeface="等线" panose="02010600030101010101" pitchFamily="2" charset="-122"/>
                    <a:ea typeface="等线" panose="02010600030101010101" pitchFamily="2" charset="-122"/>
                  </a:rPr>
                  <a:t>c</a:t>
                </a:r>
                <a:r>
                  <a:rPr lang="zh-CN" altLang="en-US" dirty="0">
                    <a:solidFill>
                      <a:srgbClr val="0070C0"/>
                    </a:solidFill>
                    <a:latin typeface="等线" panose="02010600030101010101" pitchFamily="2" charset="-122"/>
                    <a:ea typeface="等线" panose="02010600030101010101" pitchFamily="2" charset="-122"/>
                  </a:rPr>
                  <a:t>推荐给用户</a:t>
                </a:r>
                <a:r>
                  <a:rPr lang="en-US" altLang="zh-CN" dirty="0">
                    <a:solidFill>
                      <a:srgbClr val="0070C0"/>
                    </a:solidFill>
                    <a:latin typeface="等线" panose="02010600030101010101" pitchFamily="2" charset="-122"/>
                    <a:ea typeface="等线" panose="02010600030101010101" pitchFamily="2" charset="-122"/>
                  </a:rPr>
                  <a:t>A</a:t>
                </a:r>
                <a:r>
                  <a:rPr lang="zh-CN" altLang="en-US" dirty="0">
                    <a:solidFill>
                      <a:srgbClr val="0070C0"/>
                    </a:solidFill>
                    <a:latin typeface="等线" panose="02010600030101010101" pitchFamily="2" charset="-122"/>
                    <a:ea typeface="等线" panose="02010600030101010101" pitchFamily="2" charset="-122"/>
                  </a:rPr>
                  <a:t>。</a:t>
                </a:r>
                <a:endParaRPr lang="en-US" altLang="zh-CN" dirty="0">
                  <a:solidFill>
                    <a:srgbClr val="0070C0"/>
                  </a:solidFill>
                  <a:latin typeface="等线" panose="02010600030101010101" pitchFamily="2" charset="-122"/>
                  <a:ea typeface="等线" panose="02010600030101010101" pitchFamily="2" charset="-122"/>
                </a:endParaRPr>
              </a:p>
            </p:txBody>
          </p:sp>
        </mc:Choice>
        <mc:Fallback xmlns="">
          <p:sp>
            <p:nvSpPr>
              <p:cNvPr id="13" name="矩形 12">
                <a:extLst>
                  <a:ext uri="{FF2B5EF4-FFF2-40B4-BE49-F238E27FC236}">
                    <a16:creationId xmlns:a16="http://schemas.microsoft.com/office/drawing/2014/main" id="{3264AFF0-CB4F-4FA7-BFD9-143DD025AD2C}"/>
                  </a:ext>
                </a:extLst>
              </p:cNvPr>
              <p:cNvSpPr>
                <a:spLocks noRot="1" noChangeAspect="1" noMove="1" noResize="1" noEditPoints="1" noAdjustHandles="1" noChangeArrowheads="1" noChangeShapeType="1" noTextEdit="1"/>
              </p:cNvSpPr>
              <p:nvPr/>
            </p:nvSpPr>
            <p:spPr>
              <a:xfrm>
                <a:off x="670428" y="5463568"/>
                <a:ext cx="6568572" cy="784830"/>
              </a:xfrm>
              <a:prstGeom prst="rect">
                <a:avLst/>
              </a:prstGeom>
              <a:blipFill>
                <a:blip r:embed="rId3"/>
                <a:stretch>
                  <a:fillRect l="-835" r="-278" b="-77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72561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B702662-EAB5-4BBC-8A10-8AA4F02139B7}"/>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9271256B-84FA-418A-90B2-8D66AB0A63C5}"/>
              </a:ext>
            </a:extLst>
          </p:cNvPr>
          <p:cNvGrpSpPr>
            <a:grpSpLocks/>
          </p:cNvGrpSpPr>
          <p:nvPr/>
        </p:nvGrpSpPr>
        <p:grpSpPr bwMode="auto">
          <a:xfrm>
            <a:off x="0" y="284163"/>
            <a:ext cx="3276826" cy="530225"/>
            <a:chOff x="1742209" y="284389"/>
            <a:chExt cx="2627978" cy="529772"/>
          </a:xfrm>
          <a:solidFill>
            <a:srgbClr val="024C89"/>
          </a:solidFill>
        </p:grpSpPr>
        <p:sp>
          <p:nvSpPr>
            <p:cNvPr id="4" name="矩形 3">
              <a:extLst>
                <a:ext uri="{FF2B5EF4-FFF2-40B4-BE49-F238E27FC236}">
                  <a16:creationId xmlns:a16="http://schemas.microsoft.com/office/drawing/2014/main" id="{B24CE223-66D2-4238-8553-2C72D40040DB}"/>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5" name="矩形 4">
              <a:extLst>
                <a:ext uri="{FF2B5EF4-FFF2-40B4-BE49-F238E27FC236}">
                  <a16:creationId xmlns:a16="http://schemas.microsoft.com/office/drawing/2014/main" id="{C5694A3E-82D6-48B2-95BA-26962706825A}"/>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 name="矩形 5">
            <a:extLst>
              <a:ext uri="{FF2B5EF4-FFF2-40B4-BE49-F238E27FC236}">
                <a16:creationId xmlns:a16="http://schemas.microsoft.com/office/drawing/2014/main" id="{B90967C4-7D25-4A0B-A1E2-D0CDA482BED8}"/>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pic>
        <p:nvPicPr>
          <p:cNvPr id="7" name="Picture 2" descr="https://d30y9cdsu7xlg0.cloudfront.net/png/676344-200.png">
            <a:extLst>
              <a:ext uri="{FF2B5EF4-FFF2-40B4-BE49-F238E27FC236}">
                <a16:creationId xmlns:a16="http://schemas.microsoft.com/office/drawing/2014/main" id="{C75AF02B-22D9-4DF1-967B-AAB8AFF667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947565"/>
            <a:ext cx="1905000" cy="190500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组合 7">
            <a:extLst>
              <a:ext uri="{FF2B5EF4-FFF2-40B4-BE49-F238E27FC236}">
                <a16:creationId xmlns:a16="http://schemas.microsoft.com/office/drawing/2014/main" id="{AB609C47-D7E5-4AD8-8089-171D75BF98EF}"/>
              </a:ext>
            </a:extLst>
          </p:cNvPr>
          <p:cNvGrpSpPr/>
          <p:nvPr/>
        </p:nvGrpSpPr>
        <p:grpSpPr>
          <a:xfrm>
            <a:off x="660981" y="1676400"/>
            <a:ext cx="3606219" cy="4495799"/>
            <a:chOff x="660981" y="2281535"/>
            <a:chExt cx="3453819" cy="4495799"/>
          </a:xfrm>
        </p:grpSpPr>
        <p:sp>
          <p:nvSpPr>
            <p:cNvPr id="9" name="Content Placeholder 2">
              <a:extLst>
                <a:ext uri="{FF2B5EF4-FFF2-40B4-BE49-F238E27FC236}">
                  <a16:creationId xmlns:a16="http://schemas.microsoft.com/office/drawing/2014/main" id="{FC7CB2BB-6F93-42BB-86D7-641E1E14ECCC}"/>
                </a:ext>
              </a:extLst>
            </p:cNvPr>
            <p:cNvSpPr txBox="1">
              <a:spLocks/>
            </p:cNvSpPr>
            <p:nvPr/>
          </p:nvSpPr>
          <p:spPr>
            <a:xfrm>
              <a:off x="670029" y="2819399"/>
              <a:ext cx="3444771" cy="395793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优点</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285750" indent="-285750" algn="just">
                <a:lnSpc>
                  <a:spcPct val="110000"/>
                </a:lnSpc>
                <a:spcBef>
                  <a:spcPts val="600"/>
                </a:spcBef>
                <a:buFont typeface="Wingdings" panose="05000000000000000000" pitchFamily="2" charset="2"/>
                <a:buChar char="ü"/>
              </a:pPr>
              <a:r>
                <a:rPr lang="zh-CN" altLang="en-US" sz="1800" b="1" dirty="0">
                  <a:solidFill>
                    <a:srgbClr val="FF0000"/>
                  </a:solidFill>
                  <a:latin typeface="等线" panose="02010600030101010101" pitchFamily="2" charset="-122"/>
                  <a:ea typeface="等线" panose="02010600030101010101" pitchFamily="2" charset="-122"/>
                </a:rPr>
                <a:t>计算简单，容易实现实时响应</a:t>
              </a:r>
              <a:r>
                <a:rPr lang="zh-CN" altLang="en-US" sz="1800" dirty="0">
                  <a:solidFill>
                    <a:srgbClr val="0070C0"/>
                  </a:solidFill>
                  <a:latin typeface="等线" panose="02010600030101010101" pitchFamily="2" charset="-122"/>
                  <a:ea typeface="等线" panose="02010600030101010101" pitchFamily="2" charset="-122"/>
                </a:rPr>
                <a:t>。物品被评分的变化往往比用户的变化低的多，因此物品相似度的计算一般可以采取离线完成、定期更新的方式，从而减少了线上计算。</a:t>
              </a:r>
              <a:endParaRPr lang="en-US" altLang="zh-CN" sz="1800" dirty="0">
                <a:solidFill>
                  <a:srgbClr val="0070C0"/>
                </a:solidFill>
                <a:latin typeface="等线" panose="02010600030101010101" pitchFamily="2" charset="-122"/>
                <a:ea typeface="等线" panose="02010600030101010101" pitchFamily="2" charset="-122"/>
              </a:endParaRPr>
            </a:p>
            <a:p>
              <a:pPr marL="285750" indent="-285750" algn="just">
                <a:lnSpc>
                  <a:spcPct val="110000"/>
                </a:lnSpc>
                <a:spcBef>
                  <a:spcPts val="600"/>
                </a:spcBef>
                <a:buFont typeface="Wingdings" panose="05000000000000000000" pitchFamily="2" charset="2"/>
                <a:buChar char="ü"/>
              </a:pPr>
              <a:r>
                <a:rPr lang="zh-CN" altLang="en-US" sz="1800" b="1" dirty="0">
                  <a:solidFill>
                    <a:srgbClr val="FF0000"/>
                  </a:solidFill>
                  <a:latin typeface="等线" panose="02010600030101010101" pitchFamily="2" charset="-122"/>
                  <a:ea typeface="等线" panose="02010600030101010101" pitchFamily="2" charset="-122"/>
                </a:rPr>
                <a:t>可解释性比较好</a:t>
              </a:r>
              <a:r>
                <a:rPr lang="zh-CN" altLang="en-US" sz="1800" dirty="0">
                  <a:solidFill>
                    <a:srgbClr val="0070C0"/>
                  </a:solidFill>
                  <a:latin typeface="等线" panose="02010600030101010101" pitchFamily="2" charset="-122"/>
                  <a:ea typeface="等线" panose="02010600030101010101" pitchFamily="2" charset="-122"/>
                </a:rPr>
                <a:t>。基于物品的推荐方法很容易让用户理解为什么推荐了某个商品。</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10" name="文本框 9">
              <a:extLst>
                <a:ext uri="{FF2B5EF4-FFF2-40B4-BE49-F238E27FC236}">
                  <a16:creationId xmlns:a16="http://schemas.microsoft.com/office/drawing/2014/main" id="{A7A2E50F-36AC-472D-8933-CA2EDDDEDE6C}"/>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基于物品的协同过滤</a:t>
              </a:r>
            </a:p>
          </p:txBody>
        </p:sp>
        <p:cxnSp>
          <p:nvCxnSpPr>
            <p:cNvPr id="11" name="直接连接符 10">
              <a:extLst>
                <a:ext uri="{FF2B5EF4-FFF2-40B4-BE49-F238E27FC236}">
                  <a16:creationId xmlns:a16="http://schemas.microsoft.com/office/drawing/2014/main" id="{987A24E5-E175-4A72-9906-DBC76D72B3EA}"/>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5370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D98498C3-21C0-435B-8849-22D5E645DF7B}"/>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5CD85A43-0B1C-4628-AF5D-7996182DBA2D}"/>
              </a:ext>
            </a:extLst>
          </p:cNvPr>
          <p:cNvGrpSpPr>
            <a:grpSpLocks/>
          </p:cNvGrpSpPr>
          <p:nvPr/>
        </p:nvGrpSpPr>
        <p:grpSpPr bwMode="auto">
          <a:xfrm>
            <a:off x="0" y="284163"/>
            <a:ext cx="3276826" cy="530225"/>
            <a:chOff x="1742209" y="284389"/>
            <a:chExt cx="2627978" cy="529772"/>
          </a:xfrm>
          <a:solidFill>
            <a:srgbClr val="024C89"/>
          </a:solidFill>
        </p:grpSpPr>
        <p:sp>
          <p:nvSpPr>
            <p:cNvPr id="4" name="矩形 3">
              <a:extLst>
                <a:ext uri="{FF2B5EF4-FFF2-40B4-BE49-F238E27FC236}">
                  <a16:creationId xmlns:a16="http://schemas.microsoft.com/office/drawing/2014/main" id="{EB1FB0C2-CF71-4B85-B245-5F9055A2D342}"/>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5" name="矩形 4">
              <a:extLst>
                <a:ext uri="{FF2B5EF4-FFF2-40B4-BE49-F238E27FC236}">
                  <a16:creationId xmlns:a16="http://schemas.microsoft.com/office/drawing/2014/main" id="{2E13A47D-5F68-4B0E-A690-5B66D3E07588}"/>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 name="矩形 5">
            <a:extLst>
              <a:ext uri="{FF2B5EF4-FFF2-40B4-BE49-F238E27FC236}">
                <a16:creationId xmlns:a16="http://schemas.microsoft.com/office/drawing/2014/main" id="{D61B4C38-7E44-45E8-91C4-E3371FB1B843}"/>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grpSp>
        <p:nvGrpSpPr>
          <p:cNvPr id="7" name="组合 6">
            <a:extLst>
              <a:ext uri="{FF2B5EF4-FFF2-40B4-BE49-F238E27FC236}">
                <a16:creationId xmlns:a16="http://schemas.microsoft.com/office/drawing/2014/main" id="{939BA914-0F3F-46B3-97A2-3F6AECAEBE7C}"/>
              </a:ext>
            </a:extLst>
          </p:cNvPr>
          <p:cNvGrpSpPr/>
          <p:nvPr/>
        </p:nvGrpSpPr>
        <p:grpSpPr>
          <a:xfrm>
            <a:off x="660981" y="1676400"/>
            <a:ext cx="3606219" cy="4495799"/>
            <a:chOff x="660981" y="2281535"/>
            <a:chExt cx="3453819" cy="4495799"/>
          </a:xfrm>
        </p:grpSpPr>
        <p:sp>
          <p:nvSpPr>
            <p:cNvPr id="8" name="Content Placeholder 2">
              <a:extLst>
                <a:ext uri="{FF2B5EF4-FFF2-40B4-BE49-F238E27FC236}">
                  <a16:creationId xmlns:a16="http://schemas.microsoft.com/office/drawing/2014/main" id="{835A0F4D-FAE9-4E75-B560-B748CD27D739}"/>
                </a:ext>
              </a:extLst>
            </p:cNvPr>
            <p:cNvSpPr txBox="1">
              <a:spLocks/>
            </p:cNvSpPr>
            <p:nvPr/>
          </p:nvSpPr>
          <p:spPr>
            <a:xfrm>
              <a:off x="670029" y="2819399"/>
              <a:ext cx="3444771" cy="395793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缺点</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以物品为基础的信息过滤系统较少考虑用户之间的差别，因此精度与基于用户的方法往往稍微逊色一些。</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除此之外，数据稀疏性和冷启动仍有待解决。。</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9" name="文本框 8">
              <a:extLst>
                <a:ext uri="{FF2B5EF4-FFF2-40B4-BE49-F238E27FC236}">
                  <a16:creationId xmlns:a16="http://schemas.microsoft.com/office/drawing/2014/main" id="{4C8E53B0-66D6-4896-81F8-877CED708E24}"/>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基于物品的协同过滤</a:t>
              </a:r>
            </a:p>
          </p:txBody>
        </p:sp>
        <p:cxnSp>
          <p:nvCxnSpPr>
            <p:cNvPr id="10" name="直接连接符 9">
              <a:extLst>
                <a:ext uri="{FF2B5EF4-FFF2-40B4-BE49-F238E27FC236}">
                  <a16:creationId xmlns:a16="http://schemas.microsoft.com/office/drawing/2014/main" id="{CD43934D-76DB-4DA1-AE02-EAF100F2040D}"/>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1" name="图片 10">
            <a:extLst>
              <a:ext uri="{FF2B5EF4-FFF2-40B4-BE49-F238E27FC236}">
                <a16:creationId xmlns:a16="http://schemas.microsoft.com/office/drawing/2014/main" id="{4C1319CF-B1DB-466A-AC10-A326E121FC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7239"/>
          <a:stretch/>
        </p:blipFill>
        <p:spPr>
          <a:xfrm>
            <a:off x="5787118" y="1947565"/>
            <a:ext cx="2217964" cy="2057400"/>
          </a:xfrm>
          <a:prstGeom prst="rect">
            <a:avLst/>
          </a:prstGeom>
        </p:spPr>
      </p:pic>
    </p:spTree>
    <p:extLst>
      <p:ext uri="{BB962C8B-B14F-4D97-AF65-F5344CB8AC3E}">
        <p14:creationId xmlns:p14="http://schemas.microsoft.com/office/powerpoint/2010/main" val="4232234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8B2115F-70EF-4584-BFAF-F1325ACB58A0}"/>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319B9740-F53F-44DC-9D51-932A52E1C2CF}"/>
              </a:ext>
            </a:extLst>
          </p:cNvPr>
          <p:cNvGrpSpPr>
            <a:grpSpLocks/>
          </p:cNvGrpSpPr>
          <p:nvPr/>
        </p:nvGrpSpPr>
        <p:grpSpPr bwMode="auto">
          <a:xfrm>
            <a:off x="0" y="284163"/>
            <a:ext cx="3276826" cy="530225"/>
            <a:chOff x="1742209" y="284389"/>
            <a:chExt cx="2627978" cy="529772"/>
          </a:xfrm>
          <a:solidFill>
            <a:srgbClr val="024C89"/>
          </a:solidFill>
        </p:grpSpPr>
        <p:sp>
          <p:nvSpPr>
            <p:cNvPr id="4" name="矩形 3">
              <a:extLst>
                <a:ext uri="{FF2B5EF4-FFF2-40B4-BE49-F238E27FC236}">
                  <a16:creationId xmlns:a16="http://schemas.microsoft.com/office/drawing/2014/main" id="{BE4BBC97-A2AF-4063-9BDF-B5BADFB58AEE}"/>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5" name="矩形 4">
              <a:extLst>
                <a:ext uri="{FF2B5EF4-FFF2-40B4-BE49-F238E27FC236}">
                  <a16:creationId xmlns:a16="http://schemas.microsoft.com/office/drawing/2014/main" id="{975D4B5D-A612-48DC-8C27-EB780CE9BECE}"/>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 name="矩形 5">
            <a:extLst>
              <a:ext uri="{FF2B5EF4-FFF2-40B4-BE49-F238E27FC236}">
                <a16:creationId xmlns:a16="http://schemas.microsoft.com/office/drawing/2014/main" id="{195C56C7-F2BA-4176-BAA2-8B4E32E63158}"/>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grpSp>
        <p:nvGrpSpPr>
          <p:cNvPr id="7" name="组合 6">
            <a:extLst>
              <a:ext uri="{FF2B5EF4-FFF2-40B4-BE49-F238E27FC236}">
                <a16:creationId xmlns:a16="http://schemas.microsoft.com/office/drawing/2014/main" id="{BA2E1B43-3106-49E5-89CD-CE8B3CC95503}"/>
              </a:ext>
            </a:extLst>
          </p:cNvPr>
          <p:cNvGrpSpPr/>
          <p:nvPr/>
        </p:nvGrpSpPr>
        <p:grpSpPr>
          <a:xfrm>
            <a:off x="660981" y="1676400"/>
            <a:ext cx="5358819" cy="4495799"/>
            <a:chOff x="660981" y="2281535"/>
            <a:chExt cx="3453819" cy="4495799"/>
          </a:xfrm>
        </p:grpSpPr>
        <p:sp>
          <p:nvSpPr>
            <p:cNvPr id="8" name="Content Placeholder 2">
              <a:extLst>
                <a:ext uri="{FF2B5EF4-FFF2-40B4-BE49-F238E27FC236}">
                  <a16:creationId xmlns:a16="http://schemas.microsoft.com/office/drawing/2014/main" id="{D85ACAE8-0090-4DC3-8766-3A6993E3337C}"/>
                </a:ext>
              </a:extLst>
            </p:cNvPr>
            <p:cNvSpPr txBox="1">
              <a:spLocks/>
            </p:cNvSpPr>
            <p:nvPr/>
          </p:nvSpPr>
          <p:spPr>
            <a:xfrm>
              <a:off x="670029" y="2819399"/>
              <a:ext cx="3444771" cy="395793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计算复杂性</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基于用户的方法往往时在线计算量大，难以实时响应。</a:t>
              </a:r>
              <a:endParaRPr lang="en-US" altLang="zh-CN" sz="1800"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ü"/>
              </a:pPr>
              <a:r>
                <a:rPr lang="zh-CN" altLang="en-US" sz="1800" dirty="0">
                  <a:solidFill>
                    <a:schemeClr val="tx1">
                      <a:lumMod val="75000"/>
                      <a:lumOff val="25000"/>
                    </a:schemeClr>
                  </a:solidFill>
                  <a:latin typeface="Georgia" panose="02040502050405020303" pitchFamily="18" charset="0"/>
                  <a:ea typeface="黑体" panose="02010609060101010101" pitchFamily="49" charset="-122"/>
                </a:rPr>
                <a:t>用户数量大大超过物品数量</a:t>
              </a:r>
              <a:endParaRPr lang="en-US" altLang="zh-CN" sz="18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对于一个用户数量大大超过物品数量且物品数量相对稳定的应用，一般而言基于物品的方法从性能和复杂度上都比基于用户的方法更优。</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这是因为物品相似度的计算不但计算量小，而且不必频繁更新。</a:t>
              </a:r>
              <a:endParaRPr lang="en-US" altLang="zh-CN" sz="1800"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ü"/>
              </a:pPr>
              <a:r>
                <a:rPr lang="zh-CN" altLang="en-US" sz="1800" dirty="0">
                  <a:solidFill>
                    <a:schemeClr val="tx1">
                      <a:lumMod val="75000"/>
                      <a:lumOff val="25000"/>
                    </a:schemeClr>
                  </a:solidFill>
                  <a:latin typeface="Georgia" panose="02040502050405020303" pitchFamily="18" charset="0"/>
                  <a:ea typeface="黑体" panose="02010609060101010101" pitchFamily="49" charset="-122"/>
                </a:rPr>
                <a:t>物品数量巨大且频繁更新</a:t>
              </a:r>
              <a:endParaRPr lang="en-US" altLang="zh-CN" sz="18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而对于诸如新闻、博客或者微内容等物品数量巨大且频繁更新的应用，基于用户的方法往往更具优势。</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9" name="文本框 8">
              <a:extLst>
                <a:ext uri="{FF2B5EF4-FFF2-40B4-BE49-F238E27FC236}">
                  <a16:creationId xmlns:a16="http://schemas.microsoft.com/office/drawing/2014/main" id="{17B770EC-31C5-42D2-AFA4-4F3C145F907D}"/>
                </a:ext>
              </a:extLst>
            </p:cNvPr>
            <p:cNvSpPr txBox="1"/>
            <p:nvPr/>
          </p:nvSpPr>
          <p:spPr>
            <a:xfrm>
              <a:off x="660981" y="2281535"/>
              <a:ext cx="3305019" cy="830997"/>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基于用户与基于物品的对比</a:t>
              </a:r>
            </a:p>
          </p:txBody>
        </p:sp>
        <p:cxnSp>
          <p:nvCxnSpPr>
            <p:cNvPr id="10" name="直接连接符 9">
              <a:extLst>
                <a:ext uri="{FF2B5EF4-FFF2-40B4-BE49-F238E27FC236}">
                  <a16:creationId xmlns:a16="http://schemas.microsoft.com/office/drawing/2014/main" id="{58A5C4B9-CE5C-4757-9F4D-0AC46B3634F9}"/>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sp>
        <p:nvSpPr>
          <p:cNvPr id="11" name="圆角矩形 11">
            <a:extLst>
              <a:ext uri="{FF2B5EF4-FFF2-40B4-BE49-F238E27FC236}">
                <a16:creationId xmlns:a16="http://schemas.microsoft.com/office/drawing/2014/main" id="{B059B460-170C-43DA-B1BD-3A900136E7FD}"/>
              </a:ext>
            </a:extLst>
          </p:cNvPr>
          <p:cNvSpPr/>
          <p:nvPr/>
        </p:nvSpPr>
        <p:spPr bwMode="auto">
          <a:xfrm>
            <a:off x="6553200" y="2819400"/>
            <a:ext cx="1905000" cy="457200"/>
          </a:xfrm>
          <a:prstGeom prst="roundRect">
            <a:avLst/>
          </a:prstGeom>
          <a:solidFill>
            <a:schemeClr val="tx2">
              <a:lumMod val="60000"/>
              <a:lumOff val="40000"/>
            </a:schemeClr>
          </a:solidFill>
          <a:ln w="28575">
            <a:solidFill>
              <a:schemeClr val="bg1"/>
            </a:solidFill>
            <a:round/>
            <a:headEnd/>
            <a:tailEnd type="triangle" w="med" len="med"/>
          </a:ln>
          <a:effectLst>
            <a:outerShdw blurRad="63500" sx="102000" sy="102000" algn="ctr" rotWithShape="0">
              <a:prstClr val="black">
                <a:alpha val="40000"/>
              </a:prstClr>
            </a:outerShdw>
          </a:effectLst>
        </p:spPr>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基于用户的方法</a:t>
            </a:r>
          </a:p>
        </p:txBody>
      </p:sp>
      <p:sp>
        <p:nvSpPr>
          <p:cNvPr id="12" name="圆角矩形 13">
            <a:extLst>
              <a:ext uri="{FF2B5EF4-FFF2-40B4-BE49-F238E27FC236}">
                <a16:creationId xmlns:a16="http://schemas.microsoft.com/office/drawing/2014/main" id="{AF1C2B0E-EB9B-4E68-A55A-FDB44E2A3FB7}"/>
              </a:ext>
            </a:extLst>
          </p:cNvPr>
          <p:cNvSpPr/>
          <p:nvPr/>
        </p:nvSpPr>
        <p:spPr bwMode="auto">
          <a:xfrm>
            <a:off x="6572451" y="4114800"/>
            <a:ext cx="1905000" cy="457200"/>
          </a:xfrm>
          <a:prstGeom prst="roundRect">
            <a:avLst/>
          </a:prstGeom>
          <a:solidFill>
            <a:schemeClr val="tx2">
              <a:lumMod val="60000"/>
              <a:lumOff val="40000"/>
            </a:schemeClr>
          </a:solidFill>
          <a:ln w="28575">
            <a:solidFill>
              <a:schemeClr val="bg1"/>
            </a:solidFill>
            <a:round/>
            <a:headEnd/>
            <a:tailEnd type="triangle" w="med" len="med"/>
          </a:ln>
          <a:effectLst>
            <a:outerShdw blurRad="63500" sx="102000" sy="102000" algn="ctr" rotWithShape="0">
              <a:prstClr val="black">
                <a:alpha val="40000"/>
              </a:prstClr>
            </a:outerShdw>
          </a:effectLst>
        </p:spPr>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基于物品的方法</a:t>
            </a:r>
          </a:p>
        </p:txBody>
      </p:sp>
      <p:sp>
        <p:nvSpPr>
          <p:cNvPr id="13" name="文本框 12">
            <a:extLst>
              <a:ext uri="{FF2B5EF4-FFF2-40B4-BE49-F238E27FC236}">
                <a16:creationId xmlns:a16="http://schemas.microsoft.com/office/drawing/2014/main" id="{A02B5111-9498-4EF8-9ED9-1C7A1554CBFF}"/>
              </a:ext>
            </a:extLst>
          </p:cNvPr>
          <p:cNvSpPr txBox="1"/>
          <p:nvPr/>
        </p:nvSpPr>
        <p:spPr>
          <a:xfrm>
            <a:off x="7239000" y="3452033"/>
            <a:ext cx="1447800" cy="461665"/>
          </a:xfrm>
          <a:prstGeom prst="rect">
            <a:avLst/>
          </a:prstGeom>
          <a:noFill/>
        </p:spPr>
        <p:txBody>
          <a:bodyPr wrap="square" rtlCol="0">
            <a:spAutoFit/>
          </a:bodyPr>
          <a:lstStyle/>
          <a:p>
            <a:r>
              <a:rPr lang="en-US" altLang="zh-CN" sz="2400" dirty="0">
                <a:solidFill>
                  <a:srgbClr val="558ED5"/>
                </a:solidFill>
              </a:rPr>
              <a:t>OR</a:t>
            </a:r>
            <a:endParaRPr lang="zh-CN" altLang="en-US" sz="2400" dirty="0">
              <a:solidFill>
                <a:srgbClr val="558ED5"/>
              </a:solidFill>
            </a:endParaRPr>
          </a:p>
        </p:txBody>
      </p:sp>
    </p:spTree>
    <p:extLst>
      <p:ext uri="{BB962C8B-B14F-4D97-AF65-F5344CB8AC3E}">
        <p14:creationId xmlns:p14="http://schemas.microsoft.com/office/powerpoint/2010/main" val="2345710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a:extLst>
              <a:ext uri="{FF2B5EF4-FFF2-40B4-BE49-F238E27FC236}">
                <a16:creationId xmlns:a16="http://schemas.microsoft.com/office/drawing/2014/main" id="{2DBE7811-B562-410B-92CE-865107D18CB3}"/>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13" name="组合 46">
            <a:extLst>
              <a:ext uri="{FF2B5EF4-FFF2-40B4-BE49-F238E27FC236}">
                <a16:creationId xmlns:a16="http://schemas.microsoft.com/office/drawing/2014/main" id="{C2967180-DDC4-4587-83CB-953795380087}"/>
              </a:ext>
            </a:extLst>
          </p:cNvPr>
          <p:cNvGrpSpPr>
            <a:grpSpLocks/>
          </p:cNvGrpSpPr>
          <p:nvPr/>
        </p:nvGrpSpPr>
        <p:grpSpPr bwMode="auto">
          <a:xfrm>
            <a:off x="0" y="284163"/>
            <a:ext cx="3276826" cy="530225"/>
            <a:chOff x="1742209" y="284389"/>
            <a:chExt cx="2627978" cy="529772"/>
          </a:xfrm>
          <a:solidFill>
            <a:srgbClr val="024C89"/>
          </a:solidFill>
        </p:grpSpPr>
        <p:sp>
          <p:nvSpPr>
            <p:cNvPr id="14" name="矩形 13">
              <a:extLst>
                <a:ext uri="{FF2B5EF4-FFF2-40B4-BE49-F238E27FC236}">
                  <a16:creationId xmlns:a16="http://schemas.microsoft.com/office/drawing/2014/main" id="{800F1EA9-2171-47D5-A442-816FA8193F23}"/>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15" name="矩形 14">
              <a:extLst>
                <a:ext uri="{FF2B5EF4-FFF2-40B4-BE49-F238E27FC236}">
                  <a16:creationId xmlns:a16="http://schemas.microsoft.com/office/drawing/2014/main" id="{80210218-EE1F-4F91-8532-83D432B31804}"/>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矩形 15">
            <a:extLst>
              <a:ext uri="{FF2B5EF4-FFF2-40B4-BE49-F238E27FC236}">
                <a16:creationId xmlns:a16="http://schemas.microsoft.com/office/drawing/2014/main" id="{C24C282F-A204-4767-9F2C-C21F11EB8DFA}"/>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grpSp>
        <p:nvGrpSpPr>
          <p:cNvPr id="17" name="组合 16">
            <a:extLst>
              <a:ext uri="{FF2B5EF4-FFF2-40B4-BE49-F238E27FC236}">
                <a16:creationId xmlns:a16="http://schemas.microsoft.com/office/drawing/2014/main" id="{2076E923-7004-455D-B88E-EE554F1A003F}"/>
              </a:ext>
            </a:extLst>
          </p:cNvPr>
          <p:cNvGrpSpPr/>
          <p:nvPr/>
        </p:nvGrpSpPr>
        <p:grpSpPr>
          <a:xfrm>
            <a:off x="660981" y="1676400"/>
            <a:ext cx="4977819" cy="4495799"/>
            <a:chOff x="660981" y="2281535"/>
            <a:chExt cx="3305019" cy="4495799"/>
          </a:xfrm>
        </p:grpSpPr>
        <p:sp>
          <p:nvSpPr>
            <p:cNvPr id="18" name="Content Placeholder 2">
              <a:extLst>
                <a:ext uri="{FF2B5EF4-FFF2-40B4-BE49-F238E27FC236}">
                  <a16:creationId xmlns:a16="http://schemas.microsoft.com/office/drawing/2014/main" id="{B6E88435-5224-4AC2-8C35-666F21786B46}"/>
                </a:ext>
              </a:extLst>
            </p:cNvPr>
            <p:cNvSpPr txBox="1">
              <a:spLocks/>
            </p:cNvSpPr>
            <p:nvPr/>
          </p:nvSpPr>
          <p:spPr>
            <a:xfrm>
              <a:off x="670029" y="2819399"/>
              <a:ext cx="3295971" cy="395793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适用场景</a:t>
              </a:r>
              <a:endParaRPr lang="en-US" altLang="zh-CN" sz="1800"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ü"/>
              </a:pPr>
              <a:r>
                <a:rPr lang="zh-CN" altLang="en-US" sz="1800" dirty="0">
                  <a:solidFill>
                    <a:schemeClr val="tx1">
                      <a:lumMod val="75000"/>
                      <a:lumOff val="25000"/>
                    </a:schemeClr>
                  </a:solidFill>
                  <a:latin typeface="Georgia" panose="02040502050405020303" pitchFamily="18" charset="0"/>
                  <a:ea typeface="黑体" panose="02010609060101010101" pitchFamily="49" charset="-122"/>
                </a:rPr>
                <a:t>非社交网站</a:t>
              </a:r>
              <a:endParaRPr lang="en-US" altLang="zh-CN" sz="18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内容之间的内在联系是非社交网站中很重要的推荐原则，往往比基于相似用户的推荐原则更加有效。</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如果向用户推荐图书并解释某个与该用户有相似兴趣的人也购买了被推荐的图书，是很难让目标用户信服的，因为该用户根本不认识那个“有相似兴趣的”用户；但如果解释为被推荐的图书与用户之前看过的图书相似，则更容易被用户接受，因为用户往往对自己的历史行为记录是非常熟悉和认可的。</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19" name="文本框 18">
              <a:extLst>
                <a:ext uri="{FF2B5EF4-FFF2-40B4-BE49-F238E27FC236}">
                  <a16:creationId xmlns:a16="http://schemas.microsoft.com/office/drawing/2014/main" id="{7AB31946-D20B-4BB2-A135-C71FA515A880}"/>
                </a:ext>
              </a:extLst>
            </p:cNvPr>
            <p:cNvSpPr txBox="1"/>
            <p:nvPr/>
          </p:nvSpPr>
          <p:spPr>
            <a:xfrm>
              <a:off x="660981" y="2281535"/>
              <a:ext cx="3305019" cy="830997"/>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基于用户与基于物品的对比</a:t>
              </a:r>
            </a:p>
          </p:txBody>
        </p:sp>
        <p:cxnSp>
          <p:nvCxnSpPr>
            <p:cNvPr id="20" name="直接连接符 19">
              <a:extLst>
                <a:ext uri="{FF2B5EF4-FFF2-40B4-BE49-F238E27FC236}">
                  <a16:creationId xmlns:a16="http://schemas.microsoft.com/office/drawing/2014/main" id="{255DF294-727A-4F84-94DA-1BC8A83EA981}"/>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sp>
        <p:nvSpPr>
          <p:cNvPr id="21" name="矩形 20">
            <a:extLst>
              <a:ext uri="{FF2B5EF4-FFF2-40B4-BE49-F238E27FC236}">
                <a16:creationId xmlns:a16="http://schemas.microsoft.com/office/drawing/2014/main" id="{2EA728A5-B540-4832-9476-81FD7C540666}"/>
              </a:ext>
            </a:extLst>
          </p:cNvPr>
          <p:cNvSpPr/>
          <p:nvPr/>
        </p:nvSpPr>
        <p:spPr>
          <a:xfrm>
            <a:off x="6096000" y="2722453"/>
            <a:ext cx="2286000" cy="3520964"/>
          </a:xfrm>
          <a:prstGeom prst="rect">
            <a:avLst/>
          </a:prstGeom>
        </p:spPr>
        <p:txBody>
          <a:bodyPr wrap="square">
            <a:spAutoFit/>
          </a:bodyPr>
          <a:lstStyle/>
          <a:p>
            <a:pPr algn="just">
              <a:lnSpc>
                <a:spcPct val="110000"/>
              </a:lnSpc>
              <a:spcBef>
                <a:spcPts val="600"/>
              </a:spcBef>
              <a:buFont typeface="Wingdings" panose="05000000000000000000" pitchFamily="2" charset="2"/>
              <a:buChar char="ü"/>
            </a:pPr>
            <a:r>
              <a:rPr lang="zh-CN" altLang="en-US" dirty="0">
                <a:solidFill>
                  <a:schemeClr val="tx1">
                    <a:lumMod val="75000"/>
                    <a:lumOff val="25000"/>
                  </a:schemeClr>
                </a:solidFill>
                <a:latin typeface="Georgia" panose="02040502050405020303" pitchFamily="18" charset="0"/>
                <a:ea typeface="黑体" panose="02010609060101010101" pitchFamily="49" charset="-122"/>
              </a:rPr>
              <a:t>   社交网站</a:t>
            </a:r>
            <a:endParaRPr lang="en-US" altLang="zh-CN" dirty="0">
              <a:solidFill>
                <a:schemeClr val="tx1">
                  <a:lumMod val="75000"/>
                  <a:lumOff val="25000"/>
                </a:schemeClr>
              </a:solidFill>
              <a:latin typeface="Georgia" panose="02040502050405020303" pitchFamily="18" charset="0"/>
              <a:ea typeface="黑体" panose="02010609060101010101" pitchFamily="49" charset="-122"/>
            </a:endParaRPr>
          </a:p>
          <a:p>
            <a:pPr algn="just">
              <a:lnSpc>
                <a:spcPct val="110000"/>
              </a:lnSpc>
              <a:spcBef>
                <a:spcPts val="600"/>
              </a:spcBef>
            </a:pPr>
            <a:r>
              <a:rPr lang="zh-CN" altLang="en-US" dirty="0">
                <a:solidFill>
                  <a:srgbClr val="0070C0"/>
                </a:solidFill>
                <a:latin typeface="等线" panose="02010600030101010101" pitchFamily="2" charset="-122"/>
                <a:ea typeface="等线" panose="02010600030101010101" pitchFamily="2" charset="-122"/>
              </a:rPr>
              <a:t>相反，在社交性网站中，基于用户的方法以及相关的基于用户网络的方法则是更不错的选择。因为基于用户的推荐方法加上社交网站中社会网络信息，可以大大增加用户对推荐解释的信服度。</a:t>
            </a:r>
            <a:endParaRPr lang="en-US" altLang="zh-CN" dirty="0">
              <a:solidFill>
                <a:srgbClr val="0070C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73926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94766EB-F512-4CF8-AD06-878D1B105903}"/>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BA1AEDEA-EDE3-4146-8C14-CEE74AE8635F}"/>
              </a:ext>
            </a:extLst>
          </p:cNvPr>
          <p:cNvGrpSpPr>
            <a:grpSpLocks/>
          </p:cNvGrpSpPr>
          <p:nvPr/>
        </p:nvGrpSpPr>
        <p:grpSpPr bwMode="auto">
          <a:xfrm>
            <a:off x="0" y="284163"/>
            <a:ext cx="3276826" cy="530225"/>
            <a:chOff x="1742209" y="284389"/>
            <a:chExt cx="2627978" cy="529772"/>
          </a:xfrm>
          <a:solidFill>
            <a:srgbClr val="024C89"/>
          </a:solidFill>
        </p:grpSpPr>
        <p:sp>
          <p:nvSpPr>
            <p:cNvPr id="4" name="矩形 3">
              <a:extLst>
                <a:ext uri="{FF2B5EF4-FFF2-40B4-BE49-F238E27FC236}">
                  <a16:creationId xmlns:a16="http://schemas.microsoft.com/office/drawing/2014/main" id="{4D386386-AC94-4192-A401-127E2ED5BBF4}"/>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5" name="矩形 4">
              <a:extLst>
                <a:ext uri="{FF2B5EF4-FFF2-40B4-BE49-F238E27FC236}">
                  <a16:creationId xmlns:a16="http://schemas.microsoft.com/office/drawing/2014/main" id="{D0B96C59-D387-4BDE-B23E-E6DFB94F956B}"/>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 name="矩形 5">
            <a:extLst>
              <a:ext uri="{FF2B5EF4-FFF2-40B4-BE49-F238E27FC236}">
                <a16:creationId xmlns:a16="http://schemas.microsoft.com/office/drawing/2014/main" id="{3AE54BC0-43A6-49BD-B007-FC01912ADF4B}"/>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grpSp>
        <p:nvGrpSpPr>
          <p:cNvPr id="7" name="组合 6">
            <a:extLst>
              <a:ext uri="{FF2B5EF4-FFF2-40B4-BE49-F238E27FC236}">
                <a16:creationId xmlns:a16="http://schemas.microsoft.com/office/drawing/2014/main" id="{9A195357-DE2C-4A74-89C7-F95B436619A2}"/>
              </a:ext>
            </a:extLst>
          </p:cNvPr>
          <p:cNvGrpSpPr/>
          <p:nvPr/>
        </p:nvGrpSpPr>
        <p:grpSpPr>
          <a:xfrm>
            <a:off x="660981" y="1676400"/>
            <a:ext cx="3758619" cy="4495799"/>
            <a:chOff x="660981" y="2281535"/>
            <a:chExt cx="3305019" cy="4495799"/>
          </a:xfrm>
        </p:grpSpPr>
        <p:sp>
          <p:nvSpPr>
            <p:cNvPr id="8" name="Content Placeholder 2">
              <a:extLst>
                <a:ext uri="{FF2B5EF4-FFF2-40B4-BE49-F238E27FC236}">
                  <a16:creationId xmlns:a16="http://schemas.microsoft.com/office/drawing/2014/main" id="{32F19FC8-2ED5-4128-B701-B2DFCF043560}"/>
                </a:ext>
              </a:extLst>
            </p:cNvPr>
            <p:cNvSpPr txBox="1">
              <a:spLocks/>
            </p:cNvSpPr>
            <p:nvPr/>
          </p:nvSpPr>
          <p:spPr>
            <a:xfrm>
              <a:off x="670029" y="2819399"/>
              <a:ext cx="3295971" cy="395793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计算规模庞大</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基于用户和基于物品的方法共有的缺点就是计算规模庞大，并难以处理大规模数据量下的实时结果。</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基于模型的协同过滤</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基于模型的协同过滤则致力于改进该问题，我们首先利用历史数据训练得到一个模型，然后再用此模型进行预测。</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9" name="文本框 8">
              <a:extLst>
                <a:ext uri="{FF2B5EF4-FFF2-40B4-BE49-F238E27FC236}">
                  <a16:creationId xmlns:a16="http://schemas.microsoft.com/office/drawing/2014/main" id="{115738EC-C815-4DD5-A8EA-9713E5304A02}"/>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基于模型的协同过滤</a:t>
              </a:r>
            </a:p>
          </p:txBody>
        </p:sp>
        <p:cxnSp>
          <p:nvCxnSpPr>
            <p:cNvPr id="10" name="直接连接符 9">
              <a:extLst>
                <a:ext uri="{FF2B5EF4-FFF2-40B4-BE49-F238E27FC236}">
                  <a16:creationId xmlns:a16="http://schemas.microsoft.com/office/drawing/2014/main" id="{9CE69150-56E1-42F3-9939-EAA5152D4AF0}"/>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1" name="Picture 2" descr="https://d30y9cdsu7xlg0.cloudfront.net/png/824940-200.png">
            <a:extLst>
              <a:ext uri="{FF2B5EF4-FFF2-40B4-BE49-F238E27FC236}">
                <a16:creationId xmlns:a16="http://schemas.microsoft.com/office/drawing/2014/main" id="{C0C73F13-98BC-4BF4-BFA7-694793B01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281940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905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6B4F1938-C621-4397-BB29-062C6EB69372}"/>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ACBDE7F2-A963-4CA1-94F5-96076599A8CB}"/>
              </a:ext>
            </a:extLst>
          </p:cNvPr>
          <p:cNvGrpSpPr>
            <a:grpSpLocks/>
          </p:cNvGrpSpPr>
          <p:nvPr/>
        </p:nvGrpSpPr>
        <p:grpSpPr bwMode="auto">
          <a:xfrm>
            <a:off x="0" y="284163"/>
            <a:ext cx="3276826" cy="530225"/>
            <a:chOff x="1742209" y="284389"/>
            <a:chExt cx="2627978" cy="529772"/>
          </a:xfrm>
          <a:solidFill>
            <a:srgbClr val="024C89"/>
          </a:solidFill>
        </p:grpSpPr>
        <p:sp>
          <p:nvSpPr>
            <p:cNvPr id="4" name="矩形 3">
              <a:extLst>
                <a:ext uri="{FF2B5EF4-FFF2-40B4-BE49-F238E27FC236}">
                  <a16:creationId xmlns:a16="http://schemas.microsoft.com/office/drawing/2014/main" id="{837C5F64-14B6-4CEA-9EFC-DA2A6771B41C}"/>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5" name="矩形 4">
              <a:extLst>
                <a:ext uri="{FF2B5EF4-FFF2-40B4-BE49-F238E27FC236}">
                  <a16:creationId xmlns:a16="http://schemas.microsoft.com/office/drawing/2014/main" id="{C92A7538-B175-4F32-93E6-45E7983BD0B6}"/>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 name="矩形 5">
            <a:extLst>
              <a:ext uri="{FF2B5EF4-FFF2-40B4-BE49-F238E27FC236}">
                <a16:creationId xmlns:a16="http://schemas.microsoft.com/office/drawing/2014/main" id="{D770F369-B9AC-4074-B6BD-283DF085E7FC}"/>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grpSp>
        <p:nvGrpSpPr>
          <p:cNvPr id="7" name="组合 6">
            <a:extLst>
              <a:ext uri="{FF2B5EF4-FFF2-40B4-BE49-F238E27FC236}">
                <a16:creationId xmlns:a16="http://schemas.microsoft.com/office/drawing/2014/main" id="{D4DD10D4-80B7-4C17-B322-F409515A7AEE}"/>
              </a:ext>
            </a:extLst>
          </p:cNvPr>
          <p:cNvGrpSpPr/>
          <p:nvPr/>
        </p:nvGrpSpPr>
        <p:grpSpPr>
          <a:xfrm>
            <a:off x="660981" y="1676400"/>
            <a:ext cx="3987219" cy="4495799"/>
            <a:chOff x="660981" y="2281535"/>
            <a:chExt cx="3305019" cy="4495799"/>
          </a:xfrm>
        </p:grpSpPr>
        <p:sp>
          <p:nvSpPr>
            <p:cNvPr id="8" name="Content Placeholder 2">
              <a:extLst>
                <a:ext uri="{FF2B5EF4-FFF2-40B4-BE49-F238E27FC236}">
                  <a16:creationId xmlns:a16="http://schemas.microsoft.com/office/drawing/2014/main" id="{9A5EDEEA-8EED-46EE-B3DD-EAA51AFE0F40}"/>
                </a:ext>
              </a:extLst>
            </p:cNvPr>
            <p:cNvSpPr txBox="1">
              <a:spLocks/>
            </p:cNvSpPr>
            <p:nvPr/>
          </p:nvSpPr>
          <p:spPr>
            <a:xfrm>
              <a:off x="670029" y="2819399"/>
              <a:ext cx="3295971" cy="395793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使用的技术</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基于模型的方法广泛使用的技术包括语义分析、贝叶斯网络、矩阵分解等。</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思路</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将用户属性和物品属性的各个特征作为输入，以用户打分作为输出来拟合模型，或者将打分作为类别转化未一个多分类器问题。</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这种方式不是基于一些启发规则进行预测计算，而是对于已有数据应用统计和机器学习得到的模型进行预测。</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9" name="文本框 8">
              <a:extLst>
                <a:ext uri="{FF2B5EF4-FFF2-40B4-BE49-F238E27FC236}">
                  <a16:creationId xmlns:a16="http://schemas.microsoft.com/office/drawing/2014/main" id="{B927EA18-14CC-44FD-9A20-1120AE3B1345}"/>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基于模型的协同过滤</a:t>
              </a:r>
            </a:p>
          </p:txBody>
        </p:sp>
        <p:cxnSp>
          <p:nvCxnSpPr>
            <p:cNvPr id="10" name="直接连接符 9">
              <a:extLst>
                <a:ext uri="{FF2B5EF4-FFF2-40B4-BE49-F238E27FC236}">
                  <a16:creationId xmlns:a16="http://schemas.microsoft.com/office/drawing/2014/main" id="{B7F9C5B1-7DC6-46F2-B5E8-E9212C9046B8}"/>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1" name="Picture 2" descr="https://d30y9cdsu7xlg0.cloudfront.net/png/824940-200.png">
            <a:extLst>
              <a:ext uri="{FF2B5EF4-FFF2-40B4-BE49-F238E27FC236}">
                <a16:creationId xmlns:a16="http://schemas.microsoft.com/office/drawing/2014/main" id="{7463F806-9D7F-4BBA-B407-C458B287F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281940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327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9F8E4B5-EDC6-48D6-91EC-3C0BD730019B}"/>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E7C13AFF-266B-4719-A991-59EFAB90152F}"/>
              </a:ext>
            </a:extLst>
          </p:cNvPr>
          <p:cNvGrpSpPr>
            <a:grpSpLocks/>
          </p:cNvGrpSpPr>
          <p:nvPr/>
        </p:nvGrpSpPr>
        <p:grpSpPr bwMode="auto">
          <a:xfrm>
            <a:off x="0" y="284163"/>
            <a:ext cx="3276826" cy="530225"/>
            <a:chOff x="1742209" y="284389"/>
            <a:chExt cx="2627978" cy="529772"/>
          </a:xfrm>
          <a:solidFill>
            <a:srgbClr val="024C89"/>
          </a:solidFill>
        </p:grpSpPr>
        <p:sp>
          <p:nvSpPr>
            <p:cNvPr id="4" name="矩形 3">
              <a:extLst>
                <a:ext uri="{FF2B5EF4-FFF2-40B4-BE49-F238E27FC236}">
                  <a16:creationId xmlns:a16="http://schemas.microsoft.com/office/drawing/2014/main" id="{FA9C9195-04FC-4DAF-B12A-52AB9E36B5FE}"/>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5" name="矩形 4">
              <a:extLst>
                <a:ext uri="{FF2B5EF4-FFF2-40B4-BE49-F238E27FC236}">
                  <a16:creationId xmlns:a16="http://schemas.microsoft.com/office/drawing/2014/main" id="{87C610BF-3129-43B0-93EB-50B9A9B4A50B}"/>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 name="矩形 5">
            <a:extLst>
              <a:ext uri="{FF2B5EF4-FFF2-40B4-BE49-F238E27FC236}">
                <a16:creationId xmlns:a16="http://schemas.microsoft.com/office/drawing/2014/main" id="{BBCBD753-CE39-4432-B1F1-8AE8CC8B2FC1}"/>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grpSp>
        <p:nvGrpSpPr>
          <p:cNvPr id="7" name="组合 6">
            <a:extLst>
              <a:ext uri="{FF2B5EF4-FFF2-40B4-BE49-F238E27FC236}">
                <a16:creationId xmlns:a16="http://schemas.microsoft.com/office/drawing/2014/main" id="{68C1F24A-9B68-40D2-8259-19672439F896}"/>
              </a:ext>
            </a:extLst>
          </p:cNvPr>
          <p:cNvGrpSpPr/>
          <p:nvPr/>
        </p:nvGrpSpPr>
        <p:grpSpPr>
          <a:xfrm>
            <a:off x="660981" y="1676400"/>
            <a:ext cx="3987219" cy="4800600"/>
            <a:chOff x="660981" y="2281535"/>
            <a:chExt cx="3305019" cy="4800600"/>
          </a:xfrm>
        </p:grpSpPr>
        <p:sp>
          <p:nvSpPr>
            <p:cNvPr id="8" name="Content Placeholder 2">
              <a:extLst>
                <a:ext uri="{FF2B5EF4-FFF2-40B4-BE49-F238E27FC236}">
                  <a16:creationId xmlns:a16="http://schemas.microsoft.com/office/drawing/2014/main" id="{BB189434-9F86-4B95-B249-156F74389898}"/>
                </a:ext>
              </a:extLst>
            </p:cNvPr>
            <p:cNvSpPr txBox="1">
              <a:spLocks/>
            </p:cNvSpPr>
            <p:nvPr/>
          </p:nvSpPr>
          <p:spPr>
            <a:xfrm>
              <a:off x="670029" y="2819399"/>
              <a:ext cx="3295971" cy="426273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优点</a:t>
              </a:r>
              <a:endParaRPr lang="en-US" altLang="zh-CN" sz="1800"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ü"/>
              </a:pPr>
              <a:r>
                <a:rPr lang="en-US" altLang="zh-CN" sz="1800" b="1" dirty="0">
                  <a:solidFill>
                    <a:srgbClr val="0070C0"/>
                  </a:solidFill>
                  <a:latin typeface="等线" panose="02010600030101010101" pitchFamily="2" charset="-122"/>
                  <a:ea typeface="等线" panose="02010600030101010101" pitchFamily="2" charset="-122"/>
                </a:rPr>
                <a:t>·</a:t>
              </a:r>
              <a:r>
                <a:rPr lang="zh-CN" altLang="en-US" sz="1800" b="1" dirty="0">
                  <a:solidFill>
                    <a:srgbClr val="FF0000"/>
                  </a:solidFill>
                  <a:latin typeface="等线" panose="02010600030101010101" pitchFamily="2" charset="-122"/>
                  <a:ea typeface="等线" panose="02010600030101010101" pitchFamily="2" charset="-122"/>
                </a:rPr>
                <a:t>快速响应</a:t>
              </a:r>
              <a:r>
                <a:rPr lang="en-US" altLang="zh-CN" sz="1800" b="1" dirty="0">
                  <a:solidFill>
                    <a:srgbClr val="0070C0"/>
                  </a:solidFill>
                  <a:latin typeface="等线" panose="02010600030101010101" pitchFamily="2" charset="-122"/>
                  <a:ea typeface="等线" panose="02010600030101010101" pitchFamily="2" charset="-122"/>
                </a:rPr>
                <a:t>· </a:t>
              </a:r>
              <a:r>
                <a:rPr lang="zh-CN" altLang="en-US" sz="1800" dirty="0">
                  <a:solidFill>
                    <a:srgbClr val="0070C0"/>
                  </a:solidFill>
                  <a:latin typeface="等线" panose="02010600030101010101" pitchFamily="2" charset="-122"/>
                  <a:ea typeface="等线" panose="02010600030101010101" pitchFamily="2" charset="-122"/>
                </a:rPr>
                <a:t>只要训练出了模型就可以对新用户或新物品进行实时快速计算。</a:t>
              </a:r>
              <a:endParaRPr lang="en-US" altLang="zh-CN" sz="1800"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ü"/>
              </a:pPr>
              <a:r>
                <a:rPr lang="en-US" altLang="zh-CN" sz="1800" dirty="0">
                  <a:solidFill>
                    <a:srgbClr val="0070C0"/>
                  </a:solidFill>
                  <a:latin typeface="等线" panose="02010600030101010101" pitchFamily="2" charset="-122"/>
                  <a:ea typeface="等线" panose="02010600030101010101" pitchFamily="2" charset="-122"/>
                </a:rPr>
                <a:t>·</a:t>
              </a:r>
              <a:r>
                <a:rPr lang="zh-CN" altLang="en-US" sz="1800" b="1" dirty="0">
                  <a:solidFill>
                    <a:srgbClr val="FF0000"/>
                  </a:solidFill>
                  <a:latin typeface="等线" panose="02010600030101010101" pitchFamily="2" charset="-122"/>
                  <a:ea typeface="等线" panose="02010600030101010101" pitchFamily="2" charset="-122"/>
                </a:rPr>
                <a:t>准确率高</a:t>
              </a:r>
              <a:r>
                <a:rPr lang="en-US" altLang="zh-CN" sz="1800" dirty="0">
                  <a:solidFill>
                    <a:srgbClr val="0070C0"/>
                  </a:solidFill>
                  <a:latin typeface="等线" panose="02010600030101010101" pitchFamily="2" charset="-122"/>
                  <a:ea typeface="等线" panose="02010600030101010101" pitchFamily="2" charset="-122"/>
                </a:rPr>
                <a:t>· </a:t>
              </a:r>
              <a:r>
                <a:rPr lang="zh-CN" altLang="en-US" sz="1800" dirty="0">
                  <a:solidFill>
                    <a:srgbClr val="0070C0"/>
                  </a:solidFill>
                  <a:latin typeface="等线" panose="02010600030101010101" pitchFamily="2" charset="-122"/>
                  <a:ea typeface="等线" panose="02010600030101010101" pitchFamily="2" charset="-122"/>
                </a:rPr>
                <a:t>由于可以直接以用户打分作为优化目标，往往可以获得较高的预测精度。</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9" name="文本框 8">
              <a:extLst>
                <a:ext uri="{FF2B5EF4-FFF2-40B4-BE49-F238E27FC236}">
                  <a16:creationId xmlns:a16="http://schemas.microsoft.com/office/drawing/2014/main" id="{4FBD1A74-A458-47C0-98AC-A3484E4180B2}"/>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基于模型的协同过滤</a:t>
              </a:r>
            </a:p>
          </p:txBody>
        </p:sp>
        <p:cxnSp>
          <p:nvCxnSpPr>
            <p:cNvPr id="10" name="直接连接符 9">
              <a:extLst>
                <a:ext uri="{FF2B5EF4-FFF2-40B4-BE49-F238E27FC236}">
                  <a16:creationId xmlns:a16="http://schemas.microsoft.com/office/drawing/2014/main" id="{9B252D9E-E81A-49D2-AD0D-A1FA31E58371}"/>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1" name="Picture 2" descr="https://d30y9cdsu7xlg0.cloudfront.net/png/676344-200.png">
            <a:extLst>
              <a:ext uri="{FF2B5EF4-FFF2-40B4-BE49-F238E27FC236}">
                <a16:creationId xmlns:a16="http://schemas.microsoft.com/office/drawing/2014/main" id="{704D2878-AF34-4DB9-B3A5-DCEF16023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947565"/>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4247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92BED9CA-CA03-452F-9A82-EEA59094F587}"/>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39DCCD2F-072B-40D4-AF66-C577FDA90504}"/>
              </a:ext>
            </a:extLst>
          </p:cNvPr>
          <p:cNvGrpSpPr>
            <a:grpSpLocks/>
          </p:cNvGrpSpPr>
          <p:nvPr/>
        </p:nvGrpSpPr>
        <p:grpSpPr bwMode="auto">
          <a:xfrm>
            <a:off x="0" y="284163"/>
            <a:ext cx="3276826" cy="530225"/>
            <a:chOff x="1742209" y="284389"/>
            <a:chExt cx="2627978" cy="529772"/>
          </a:xfrm>
          <a:solidFill>
            <a:srgbClr val="024C89"/>
          </a:solidFill>
        </p:grpSpPr>
        <p:sp>
          <p:nvSpPr>
            <p:cNvPr id="4" name="矩形 3">
              <a:extLst>
                <a:ext uri="{FF2B5EF4-FFF2-40B4-BE49-F238E27FC236}">
                  <a16:creationId xmlns:a16="http://schemas.microsoft.com/office/drawing/2014/main" id="{A401CC9B-88B0-49B2-ADFC-5E67614C4774}"/>
                </a:ext>
              </a:extLst>
            </p:cNvPr>
            <p:cNvSpPr/>
            <p:nvPr/>
          </p:nvSpPr>
          <p:spPr>
            <a:xfrm>
              <a:off x="1742209" y="284389"/>
              <a:ext cx="2455717"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基于协同过滤的算法</a:t>
              </a:r>
            </a:p>
          </p:txBody>
        </p:sp>
        <p:sp>
          <p:nvSpPr>
            <p:cNvPr id="5" name="矩形 4">
              <a:extLst>
                <a:ext uri="{FF2B5EF4-FFF2-40B4-BE49-F238E27FC236}">
                  <a16:creationId xmlns:a16="http://schemas.microsoft.com/office/drawing/2014/main" id="{10C24A21-29CE-4FE6-8663-9D64CBE8CE2A}"/>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 name="矩形 5">
            <a:extLst>
              <a:ext uri="{FF2B5EF4-FFF2-40B4-BE49-F238E27FC236}">
                <a16:creationId xmlns:a16="http://schemas.microsoft.com/office/drawing/2014/main" id="{420ECC5A-4C2F-43CF-A07C-5E88A810639F}"/>
              </a:ext>
            </a:extLst>
          </p:cNvPr>
          <p:cNvSpPr/>
          <p:nvPr/>
        </p:nvSpPr>
        <p:spPr bwMode="auto">
          <a:xfrm>
            <a:off x="-685800" y="411481"/>
            <a:ext cx="45719" cy="45719"/>
          </a:xfrm>
          <a:prstGeom prst="rect">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tlCol="0" anchor="ctr"/>
          <a:lstStyle/>
          <a:p>
            <a:pPr algn="ctr"/>
            <a:endParaRPr lang="zh-CN" altLang="en-US"/>
          </a:p>
        </p:txBody>
      </p:sp>
      <p:grpSp>
        <p:nvGrpSpPr>
          <p:cNvPr id="7" name="组合 6">
            <a:extLst>
              <a:ext uri="{FF2B5EF4-FFF2-40B4-BE49-F238E27FC236}">
                <a16:creationId xmlns:a16="http://schemas.microsoft.com/office/drawing/2014/main" id="{0CCAF6F8-276B-4B35-A79B-D6D8E60B8BCA}"/>
              </a:ext>
            </a:extLst>
          </p:cNvPr>
          <p:cNvGrpSpPr/>
          <p:nvPr/>
        </p:nvGrpSpPr>
        <p:grpSpPr>
          <a:xfrm>
            <a:off x="660981" y="1676400"/>
            <a:ext cx="3987219" cy="4800600"/>
            <a:chOff x="660981" y="2281535"/>
            <a:chExt cx="3305019" cy="4800600"/>
          </a:xfrm>
        </p:grpSpPr>
        <p:sp>
          <p:nvSpPr>
            <p:cNvPr id="8" name="Content Placeholder 2">
              <a:extLst>
                <a:ext uri="{FF2B5EF4-FFF2-40B4-BE49-F238E27FC236}">
                  <a16:creationId xmlns:a16="http://schemas.microsoft.com/office/drawing/2014/main" id="{B9A6AF2C-27F7-44AC-ACC7-6F763DBED4E3}"/>
                </a:ext>
              </a:extLst>
            </p:cNvPr>
            <p:cNvSpPr txBox="1">
              <a:spLocks/>
            </p:cNvSpPr>
            <p:nvPr/>
          </p:nvSpPr>
          <p:spPr>
            <a:xfrm>
              <a:off x="670029" y="2819399"/>
              <a:ext cx="3295971" cy="426273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优点</a:t>
              </a:r>
              <a:endParaRPr lang="en-US" altLang="zh-CN" sz="1800"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ü"/>
              </a:pPr>
              <a:r>
                <a:rPr lang="en-US" altLang="zh-CN" sz="1800" b="1" dirty="0">
                  <a:solidFill>
                    <a:srgbClr val="0070C0"/>
                  </a:solidFill>
                  <a:latin typeface="等线" panose="02010600030101010101" pitchFamily="2" charset="-122"/>
                  <a:ea typeface="等线" panose="02010600030101010101" pitchFamily="2" charset="-122"/>
                </a:rPr>
                <a:t>·</a:t>
              </a:r>
              <a:r>
                <a:rPr lang="zh-CN" altLang="en-US" sz="1800" b="1" dirty="0">
                  <a:solidFill>
                    <a:srgbClr val="FF0000"/>
                  </a:solidFill>
                  <a:latin typeface="等线" panose="02010600030101010101" pitchFamily="2" charset="-122"/>
                  <a:ea typeface="等线" panose="02010600030101010101" pitchFamily="2" charset="-122"/>
                </a:rPr>
                <a:t>快速响应</a:t>
              </a:r>
              <a:r>
                <a:rPr lang="en-US" altLang="zh-CN" sz="1800" b="1" dirty="0">
                  <a:solidFill>
                    <a:srgbClr val="0070C0"/>
                  </a:solidFill>
                  <a:latin typeface="等线" panose="02010600030101010101" pitchFamily="2" charset="-122"/>
                  <a:ea typeface="等线" panose="02010600030101010101" pitchFamily="2" charset="-122"/>
                </a:rPr>
                <a:t>· </a:t>
              </a:r>
              <a:r>
                <a:rPr lang="zh-CN" altLang="en-US" sz="1800" dirty="0">
                  <a:solidFill>
                    <a:srgbClr val="0070C0"/>
                  </a:solidFill>
                  <a:latin typeface="等线" panose="02010600030101010101" pitchFamily="2" charset="-122"/>
                  <a:ea typeface="等线" panose="02010600030101010101" pitchFamily="2" charset="-122"/>
                </a:rPr>
                <a:t>只要训练出了模型就可以对新用户或新物品进行实时快速计算。</a:t>
              </a:r>
              <a:endParaRPr lang="en-US" altLang="zh-CN" sz="1800"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ü"/>
              </a:pPr>
              <a:r>
                <a:rPr lang="en-US" altLang="zh-CN" sz="1800" dirty="0">
                  <a:solidFill>
                    <a:srgbClr val="0070C0"/>
                  </a:solidFill>
                  <a:latin typeface="等线" panose="02010600030101010101" pitchFamily="2" charset="-122"/>
                  <a:ea typeface="等线" panose="02010600030101010101" pitchFamily="2" charset="-122"/>
                </a:rPr>
                <a:t>·</a:t>
              </a:r>
              <a:r>
                <a:rPr lang="zh-CN" altLang="en-US" sz="1800" b="1" dirty="0">
                  <a:solidFill>
                    <a:srgbClr val="FF0000"/>
                  </a:solidFill>
                  <a:latin typeface="等线" panose="02010600030101010101" pitchFamily="2" charset="-122"/>
                  <a:ea typeface="等线" panose="02010600030101010101" pitchFamily="2" charset="-122"/>
                </a:rPr>
                <a:t>准确率高</a:t>
              </a:r>
              <a:r>
                <a:rPr lang="en-US" altLang="zh-CN" sz="1800" dirty="0">
                  <a:solidFill>
                    <a:srgbClr val="0070C0"/>
                  </a:solidFill>
                  <a:latin typeface="等线" panose="02010600030101010101" pitchFamily="2" charset="-122"/>
                  <a:ea typeface="等线" panose="02010600030101010101" pitchFamily="2" charset="-122"/>
                </a:rPr>
                <a:t>· </a:t>
              </a:r>
              <a:r>
                <a:rPr lang="zh-CN" altLang="en-US" sz="1800" dirty="0">
                  <a:solidFill>
                    <a:srgbClr val="0070C0"/>
                  </a:solidFill>
                  <a:latin typeface="等线" panose="02010600030101010101" pitchFamily="2" charset="-122"/>
                  <a:ea typeface="等线" panose="02010600030101010101" pitchFamily="2" charset="-122"/>
                </a:rPr>
                <a:t>由于可以直接以用户打分作为优化目标，往往可以获得较高的预测精度。</a:t>
              </a:r>
              <a:endParaRPr lang="en-US" altLang="zh-CN" sz="1800" dirty="0">
                <a:solidFill>
                  <a:srgbClr val="0070C0"/>
                </a:solidFill>
                <a:latin typeface="等线" panose="02010600030101010101" pitchFamily="2" charset="-122"/>
                <a:ea typeface="等线" panose="02010600030101010101" pitchFamily="2" charset="-122"/>
              </a:endParaRPr>
            </a:p>
            <a:p>
              <a:pPr marL="0" indent="0" algn="just">
                <a:lnSpc>
                  <a:spcPct val="125000"/>
                </a:lnSpc>
                <a:spcBef>
                  <a:spcPts val="600"/>
                </a:spcBef>
                <a:buNone/>
              </a:pPr>
              <a:r>
                <a:rPr lang="zh-CN" altLang="en-US" sz="2200" dirty="0">
                  <a:solidFill>
                    <a:schemeClr val="tx1">
                      <a:lumMod val="75000"/>
                      <a:lumOff val="25000"/>
                    </a:schemeClr>
                  </a:solidFill>
                  <a:latin typeface="Georgia" panose="02040502050405020303" pitchFamily="18" charset="0"/>
                  <a:ea typeface="黑体" panose="02010609060101010101" pitchFamily="49" charset="-122"/>
                </a:rPr>
                <a:t>存在的问题</a:t>
              </a:r>
              <a:endParaRPr lang="en-US" altLang="zh-CN" sz="2200" dirty="0">
                <a:solidFill>
                  <a:schemeClr val="tx1">
                    <a:lumMod val="75000"/>
                    <a:lumOff val="25000"/>
                  </a:schemeClr>
                </a:solidFill>
                <a:latin typeface="Georgia" panose="02040502050405020303" pitchFamily="18" charset="0"/>
                <a:ea typeface="黑体" panose="02010609060101010101" pitchFamily="49" charset="-122"/>
              </a:endParaRPr>
            </a:p>
            <a:p>
              <a:pPr marL="0" indent="0" algn="just">
                <a:lnSpc>
                  <a:spcPct val="110000"/>
                </a:lnSpc>
                <a:spcBef>
                  <a:spcPts val="600"/>
                </a:spcBef>
                <a:buNone/>
              </a:pPr>
              <a:r>
                <a:rPr lang="zh-CN" altLang="en-US" sz="1800" dirty="0">
                  <a:solidFill>
                    <a:srgbClr val="0070C0"/>
                  </a:solidFill>
                  <a:latin typeface="等线" panose="02010600030101010101" pitchFamily="2" charset="-122"/>
                  <a:ea typeface="等线" panose="02010600030101010101" pitchFamily="2" charset="-122"/>
                </a:rPr>
                <a:t>其问题在于如何将用户实时或者新增的喜好信息反馈给训练好的模型，从而在系统扩展的过程中维持推荐的准确度，也就是模型的增量训练问题。</a:t>
              </a: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a:p>
              <a:pPr marL="0" indent="0">
                <a:lnSpc>
                  <a:spcPct val="125000"/>
                </a:lnSpc>
                <a:spcBef>
                  <a:spcPts val="600"/>
                </a:spcBef>
                <a:buNone/>
              </a:pP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9" name="文本框 8">
              <a:extLst>
                <a:ext uri="{FF2B5EF4-FFF2-40B4-BE49-F238E27FC236}">
                  <a16:creationId xmlns:a16="http://schemas.microsoft.com/office/drawing/2014/main" id="{D9942D45-08EC-41EE-A32B-5D15F96B2BD9}"/>
                </a:ext>
              </a:extLst>
            </p:cNvPr>
            <p:cNvSpPr txBox="1"/>
            <p:nvPr/>
          </p:nvSpPr>
          <p:spPr>
            <a:xfrm>
              <a:off x="660981" y="2281535"/>
              <a:ext cx="3305019" cy="461665"/>
            </a:xfrm>
            <a:prstGeom prst="rect">
              <a:avLst/>
            </a:prstGeom>
            <a:noFill/>
          </p:spPr>
          <p:txBody>
            <a:bodyPr wrap="square" rtlCol="0">
              <a:spAutoFit/>
            </a:bodyPr>
            <a:lstStyle/>
            <a:p>
              <a:r>
                <a:rPr lang="zh-CN" altLang="en-US" sz="2400" dirty="0">
                  <a:solidFill>
                    <a:srgbClr val="0060FF"/>
                  </a:solidFill>
                  <a:latin typeface="微软雅黑" panose="020B0503020204020204" pitchFamily="34" charset="-122"/>
                  <a:ea typeface="微软雅黑" panose="020B0503020204020204" pitchFamily="34" charset="-122"/>
                </a:rPr>
                <a:t>基于模型的协同过滤</a:t>
              </a:r>
            </a:p>
          </p:txBody>
        </p:sp>
        <p:cxnSp>
          <p:nvCxnSpPr>
            <p:cNvPr id="10" name="直接连接符 9">
              <a:extLst>
                <a:ext uri="{FF2B5EF4-FFF2-40B4-BE49-F238E27FC236}">
                  <a16:creationId xmlns:a16="http://schemas.microsoft.com/office/drawing/2014/main" id="{FDB0DAAB-33A9-4A55-8D5C-B25A68B0DE49}"/>
                </a:ext>
              </a:extLst>
            </p:cNvPr>
            <p:cNvCxnSpPr/>
            <p:nvPr/>
          </p:nvCxnSpPr>
          <p:spPr>
            <a:xfrm>
              <a:off x="762000" y="2819400"/>
              <a:ext cx="3204000" cy="0"/>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grpSp>
      <p:pic>
        <p:nvPicPr>
          <p:cNvPr id="11" name="图片 10">
            <a:extLst>
              <a:ext uri="{FF2B5EF4-FFF2-40B4-BE49-F238E27FC236}">
                <a16:creationId xmlns:a16="http://schemas.microsoft.com/office/drawing/2014/main" id="{0A934FF1-13A9-4502-9680-EF4DEEEB1A4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7239"/>
          <a:stretch/>
        </p:blipFill>
        <p:spPr>
          <a:xfrm>
            <a:off x="5715000" y="4191000"/>
            <a:ext cx="2217964" cy="2057400"/>
          </a:xfrm>
          <a:prstGeom prst="rect">
            <a:avLst/>
          </a:prstGeom>
        </p:spPr>
      </p:pic>
    </p:spTree>
    <p:extLst>
      <p:ext uri="{BB962C8B-B14F-4D97-AF65-F5344CB8AC3E}">
        <p14:creationId xmlns:p14="http://schemas.microsoft.com/office/powerpoint/2010/main" val="1357385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2819626"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推荐系统的评价</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 name="Content Placeholder 2">
            <a:extLst>
              <a:ext uri="{FF2B5EF4-FFF2-40B4-BE49-F238E27FC236}">
                <a16:creationId xmlns:a16="http://schemas.microsoft.com/office/drawing/2014/main" id="{962A3225-FA42-43B0-B453-A65EABC65821}"/>
              </a:ext>
            </a:extLst>
          </p:cNvPr>
          <p:cNvSpPr txBox="1">
            <a:spLocks/>
          </p:cNvSpPr>
          <p:nvPr/>
        </p:nvSpPr>
        <p:spPr>
          <a:xfrm>
            <a:off x="581219" y="1752600"/>
            <a:ext cx="3838381" cy="162198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spcBef>
                <a:spcPts val="600"/>
              </a:spcBef>
              <a:buNone/>
            </a:pPr>
            <a:r>
              <a:rPr lang="en-US" altLang="zh-CN" sz="2400" dirty="0">
                <a:solidFill>
                  <a:schemeClr val="tx1">
                    <a:lumMod val="75000"/>
                    <a:lumOff val="25000"/>
                  </a:schemeClr>
                </a:solidFill>
                <a:latin typeface="Georgia" panose="02040502050405020303" pitchFamily="18" charset="0"/>
                <a:ea typeface="黑体" panose="02010609060101010101" pitchFamily="49" charset="-122"/>
              </a:rPr>
              <a:t>1. </a:t>
            </a: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用户满意度</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a:p>
            <a:pPr>
              <a:lnSpc>
                <a:spcPct val="110000"/>
              </a:lnSpc>
              <a:spcBef>
                <a:spcPts val="600"/>
              </a:spcBef>
              <a:buFont typeface="Wingdings" panose="05000000000000000000" pitchFamily="2" charset="2"/>
              <a:buChar char="Ø"/>
            </a:pPr>
            <a:r>
              <a:rPr lang="zh-CN" altLang="en-US" sz="1800" dirty="0">
                <a:solidFill>
                  <a:srgbClr val="0070C0"/>
                </a:solidFill>
                <a:latin typeface="等线" panose="02010600030101010101" pitchFamily="2" charset="-122"/>
                <a:ea typeface="等线" panose="02010600030101010101" pitchFamily="2" charset="-122"/>
              </a:rPr>
              <a:t>描述用户对推荐结果的满意程度。</a:t>
            </a:r>
            <a:endParaRPr lang="en-US" altLang="zh-CN" sz="1800" dirty="0">
              <a:solidFill>
                <a:srgbClr val="0070C0"/>
              </a:solidFill>
              <a:latin typeface="等线" panose="02010600030101010101" pitchFamily="2" charset="-122"/>
              <a:ea typeface="等线" panose="02010600030101010101" pitchFamily="2" charset="-122"/>
            </a:endParaRPr>
          </a:p>
          <a:p>
            <a:pPr>
              <a:lnSpc>
                <a:spcPct val="110000"/>
              </a:lnSpc>
              <a:spcBef>
                <a:spcPts val="600"/>
              </a:spcBef>
              <a:buFont typeface="Wingdings" panose="05000000000000000000" pitchFamily="2" charset="2"/>
              <a:buChar char="Ø"/>
            </a:pPr>
            <a:r>
              <a:rPr lang="zh-CN" altLang="en-US" sz="1800" dirty="0">
                <a:solidFill>
                  <a:srgbClr val="0070C0"/>
                </a:solidFill>
                <a:latin typeface="等线" panose="02010600030101010101" pitchFamily="2" charset="-122"/>
                <a:ea typeface="等线" panose="02010600030101010101" pitchFamily="2" charset="-122"/>
              </a:rPr>
              <a:t>通过用户问卷或者监测用户线上行为数据获得。</a:t>
            </a:r>
            <a:endParaRPr lang="en-US" altLang="zh-CN" sz="1800" dirty="0">
              <a:solidFill>
                <a:srgbClr val="0070C0"/>
              </a:solidFill>
              <a:latin typeface="等线" panose="02010600030101010101" pitchFamily="2" charset="-122"/>
              <a:ea typeface="等线" panose="02010600030101010101" pitchFamily="2" charset="-122"/>
            </a:endParaRPr>
          </a:p>
        </p:txBody>
      </p:sp>
      <p:sp>
        <p:nvSpPr>
          <p:cNvPr id="7" name="矩形 6">
            <a:extLst>
              <a:ext uri="{FF2B5EF4-FFF2-40B4-BE49-F238E27FC236}">
                <a16:creationId xmlns:a16="http://schemas.microsoft.com/office/drawing/2014/main" id="{B416BF37-62FE-4CDF-835D-B56F43F0C590}"/>
              </a:ext>
            </a:extLst>
          </p:cNvPr>
          <p:cNvSpPr/>
          <p:nvPr/>
        </p:nvSpPr>
        <p:spPr>
          <a:xfrm>
            <a:off x="4800600" y="1752600"/>
            <a:ext cx="3886200" cy="1621982"/>
          </a:xfrm>
          <a:prstGeom prst="rect">
            <a:avLst/>
          </a:prstGeom>
        </p:spPr>
        <p:txBody>
          <a:bodyPr wrap="square">
            <a:spAutoFit/>
          </a:bodyPr>
          <a:lstStyle/>
          <a:p>
            <a:pPr algn="just">
              <a:lnSpc>
                <a:spcPct val="125000"/>
              </a:lnSpc>
              <a:spcBef>
                <a:spcPts val="600"/>
              </a:spcBef>
            </a:pPr>
            <a:r>
              <a:rPr lang="en-US" altLang="zh-CN" sz="2400" dirty="0">
                <a:solidFill>
                  <a:schemeClr val="tx1">
                    <a:lumMod val="75000"/>
                    <a:lumOff val="25000"/>
                  </a:schemeClr>
                </a:solidFill>
                <a:latin typeface="Georgia" panose="02040502050405020303" pitchFamily="18" charset="0"/>
                <a:ea typeface="黑体" panose="02010609060101010101" pitchFamily="49" charset="-122"/>
              </a:rPr>
              <a:t>2. </a:t>
            </a: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预测准确率</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a:p>
            <a:pPr algn="just">
              <a:lnSpc>
                <a:spcPct val="110000"/>
              </a:lnSpc>
              <a:spcBef>
                <a:spcPts val="600"/>
              </a:spcBef>
              <a:buFont typeface="Wingdings" panose="05000000000000000000" pitchFamily="2" charset="2"/>
              <a:buChar char="Ø"/>
            </a:pPr>
            <a:r>
              <a:rPr lang="zh-CN" altLang="en-US" dirty="0">
                <a:solidFill>
                  <a:srgbClr val="0070C0"/>
                </a:solidFill>
                <a:latin typeface="等线" panose="02010600030101010101" pitchFamily="2" charset="-122"/>
                <a:ea typeface="等线" panose="02010600030101010101" pitchFamily="2" charset="-122"/>
              </a:rPr>
              <a:t>描述推荐系统预测用户行为的能力。</a:t>
            </a:r>
            <a:endParaRPr lang="en-US" altLang="zh-CN"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Ø"/>
            </a:pPr>
            <a:r>
              <a:rPr lang="zh-CN" altLang="en-US" dirty="0">
                <a:solidFill>
                  <a:srgbClr val="0070C0"/>
                </a:solidFill>
                <a:latin typeface="等线" panose="02010600030101010101" pitchFamily="2" charset="-122"/>
                <a:ea typeface="等线" panose="02010600030101010101" pitchFamily="2" charset="-122"/>
              </a:rPr>
              <a:t>通过离线数据集上算法给出的推荐列表和用户行为的重合率来计算。</a:t>
            </a:r>
            <a:endParaRPr lang="en-US" altLang="zh-CN" dirty="0">
              <a:solidFill>
                <a:srgbClr val="0070C0"/>
              </a:solidFill>
              <a:latin typeface="等线" panose="02010600030101010101" pitchFamily="2" charset="-122"/>
              <a:ea typeface="等线" panose="02010600030101010101" pitchFamily="2" charset="-122"/>
            </a:endParaRPr>
          </a:p>
        </p:txBody>
      </p:sp>
      <p:sp>
        <p:nvSpPr>
          <p:cNvPr id="8" name="矩形 7">
            <a:extLst>
              <a:ext uri="{FF2B5EF4-FFF2-40B4-BE49-F238E27FC236}">
                <a16:creationId xmlns:a16="http://schemas.microsoft.com/office/drawing/2014/main" id="{AD2D1651-B29E-4C28-94F3-F415B5266A68}"/>
              </a:ext>
            </a:extLst>
          </p:cNvPr>
          <p:cNvSpPr/>
          <p:nvPr/>
        </p:nvSpPr>
        <p:spPr>
          <a:xfrm>
            <a:off x="581219" y="3686513"/>
            <a:ext cx="3838381" cy="2231380"/>
          </a:xfrm>
          <a:prstGeom prst="rect">
            <a:avLst/>
          </a:prstGeom>
        </p:spPr>
        <p:txBody>
          <a:bodyPr wrap="square">
            <a:spAutoFit/>
          </a:bodyPr>
          <a:lstStyle/>
          <a:p>
            <a:pPr algn="just">
              <a:lnSpc>
                <a:spcPct val="125000"/>
              </a:lnSpc>
              <a:spcBef>
                <a:spcPts val="600"/>
              </a:spcBef>
            </a:pPr>
            <a:r>
              <a:rPr lang="en-US" altLang="zh-CN" sz="2400" dirty="0">
                <a:solidFill>
                  <a:schemeClr val="tx1">
                    <a:lumMod val="75000"/>
                    <a:lumOff val="25000"/>
                  </a:schemeClr>
                </a:solidFill>
                <a:latin typeface="Georgia" panose="02040502050405020303" pitchFamily="18" charset="0"/>
                <a:ea typeface="黑体" panose="02010609060101010101" pitchFamily="49" charset="-122"/>
              </a:rPr>
              <a:t>3. </a:t>
            </a: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惊喜度</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a:p>
            <a:pPr algn="just">
              <a:lnSpc>
                <a:spcPct val="110000"/>
              </a:lnSpc>
              <a:spcBef>
                <a:spcPts val="600"/>
              </a:spcBef>
              <a:buFont typeface="Wingdings" panose="05000000000000000000" pitchFamily="2" charset="2"/>
              <a:buChar char="Ø"/>
            </a:pPr>
            <a:r>
              <a:rPr lang="zh-CN" altLang="en-US" dirty="0">
                <a:solidFill>
                  <a:srgbClr val="0070C0"/>
                </a:solidFill>
                <a:latin typeface="等线" panose="02010600030101010101" pitchFamily="2" charset="-122"/>
                <a:ea typeface="等线" panose="02010600030101010101" pitchFamily="2" charset="-122"/>
              </a:rPr>
              <a:t>如果推荐结果和用户的历史兴趣不相似，但让用户很满意，则这是一个惊喜的推荐。</a:t>
            </a:r>
            <a:endParaRPr lang="en-US" altLang="zh-CN"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Ø"/>
            </a:pPr>
            <a:r>
              <a:rPr lang="zh-CN" altLang="en-US" dirty="0">
                <a:solidFill>
                  <a:srgbClr val="0070C0"/>
                </a:solidFill>
                <a:latin typeface="等线" panose="02010600030101010101" pitchFamily="2" charset="-122"/>
                <a:ea typeface="等线" panose="02010600030101010101" pitchFamily="2" charset="-122"/>
              </a:rPr>
              <a:t>定性地通过推荐结果与用户历史兴趣的相似度和用户满意度来衡量。</a:t>
            </a:r>
            <a:endParaRPr lang="en-US" altLang="zh-CN" dirty="0">
              <a:solidFill>
                <a:srgbClr val="0070C0"/>
              </a:solidFill>
              <a:latin typeface="等线" panose="02010600030101010101" pitchFamily="2" charset="-122"/>
              <a:ea typeface="等线" panose="02010600030101010101" pitchFamily="2" charset="-122"/>
            </a:endParaRPr>
          </a:p>
        </p:txBody>
      </p:sp>
      <p:sp>
        <p:nvSpPr>
          <p:cNvPr id="9" name="矩形 8">
            <a:extLst>
              <a:ext uri="{FF2B5EF4-FFF2-40B4-BE49-F238E27FC236}">
                <a16:creationId xmlns:a16="http://schemas.microsoft.com/office/drawing/2014/main" id="{9BBFDE8A-0689-494A-812B-59D47BAF87A0}"/>
              </a:ext>
            </a:extLst>
          </p:cNvPr>
          <p:cNvSpPr/>
          <p:nvPr/>
        </p:nvSpPr>
        <p:spPr>
          <a:xfrm>
            <a:off x="4800600" y="3686513"/>
            <a:ext cx="3857297" cy="2231380"/>
          </a:xfrm>
          <a:prstGeom prst="rect">
            <a:avLst/>
          </a:prstGeom>
        </p:spPr>
        <p:txBody>
          <a:bodyPr wrap="square">
            <a:spAutoFit/>
          </a:bodyPr>
          <a:lstStyle/>
          <a:p>
            <a:pPr algn="just">
              <a:lnSpc>
                <a:spcPct val="125000"/>
              </a:lnSpc>
              <a:spcBef>
                <a:spcPts val="600"/>
              </a:spcBef>
            </a:pPr>
            <a:r>
              <a:rPr lang="en-US" altLang="zh-CN" sz="2400" dirty="0">
                <a:solidFill>
                  <a:schemeClr val="tx1">
                    <a:lumMod val="75000"/>
                    <a:lumOff val="25000"/>
                  </a:schemeClr>
                </a:solidFill>
                <a:latin typeface="Georgia" panose="02040502050405020303" pitchFamily="18" charset="0"/>
                <a:ea typeface="黑体" panose="02010609060101010101" pitchFamily="49" charset="-122"/>
              </a:rPr>
              <a:t>4. </a:t>
            </a:r>
            <a:r>
              <a:rPr lang="zh-CN" altLang="en-US" sz="2400" dirty="0">
                <a:solidFill>
                  <a:schemeClr val="tx1">
                    <a:lumMod val="75000"/>
                    <a:lumOff val="25000"/>
                  </a:schemeClr>
                </a:solidFill>
                <a:latin typeface="Georgia" panose="02040502050405020303" pitchFamily="18" charset="0"/>
                <a:ea typeface="黑体" panose="02010609060101010101" pitchFamily="49" charset="-122"/>
              </a:rPr>
              <a:t>新颖性</a:t>
            </a:r>
            <a:endParaRPr lang="en-US" altLang="zh-CN" sz="2400" dirty="0">
              <a:solidFill>
                <a:schemeClr val="tx1">
                  <a:lumMod val="75000"/>
                  <a:lumOff val="25000"/>
                </a:schemeClr>
              </a:solidFill>
              <a:latin typeface="Georgia" panose="02040502050405020303" pitchFamily="18" charset="0"/>
              <a:ea typeface="黑体" panose="02010609060101010101" pitchFamily="49" charset="-122"/>
            </a:endParaRPr>
          </a:p>
          <a:p>
            <a:pPr algn="just">
              <a:lnSpc>
                <a:spcPct val="110000"/>
              </a:lnSpc>
              <a:spcBef>
                <a:spcPts val="600"/>
              </a:spcBef>
              <a:buFont typeface="Wingdings" panose="05000000000000000000" pitchFamily="2" charset="2"/>
              <a:buChar char="Ø"/>
            </a:pPr>
            <a:r>
              <a:rPr lang="zh-CN" altLang="en-US" dirty="0">
                <a:solidFill>
                  <a:srgbClr val="0070C0"/>
                </a:solidFill>
                <a:latin typeface="等线" panose="02010600030101010101" pitchFamily="2" charset="-122"/>
                <a:ea typeface="等线" panose="02010600030101010101" pitchFamily="2" charset="-122"/>
              </a:rPr>
              <a:t>如果用户没有听说过推荐列表中的大部分物品，则说明该推荐系统的新颖性较好。</a:t>
            </a:r>
            <a:endParaRPr lang="en-US" altLang="zh-CN" dirty="0">
              <a:solidFill>
                <a:srgbClr val="0070C0"/>
              </a:solidFill>
              <a:latin typeface="等线" panose="02010600030101010101" pitchFamily="2" charset="-122"/>
              <a:ea typeface="等线" panose="02010600030101010101" pitchFamily="2" charset="-122"/>
            </a:endParaRPr>
          </a:p>
          <a:p>
            <a:pPr algn="just">
              <a:lnSpc>
                <a:spcPct val="110000"/>
              </a:lnSpc>
              <a:spcBef>
                <a:spcPts val="600"/>
              </a:spcBef>
              <a:buFont typeface="Wingdings" panose="05000000000000000000" pitchFamily="2" charset="2"/>
              <a:buChar char="Ø"/>
            </a:pPr>
            <a:r>
              <a:rPr lang="zh-CN" altLang="en-US" dirty="0">
                <a:solidFill>
                  <a:srgbClr val="0070C0"/>
                </a:solidFill>
                <a:latin typeface="等线" panose="02010600030101010101" pitchFamily="2" charset="-122"/>
                <a:ea typeface="等线" panose="02010600030101010101" pitchFamily="2" charset="-122"/>
              </a:rPr>
              <a:t>通过推荐物品的平均流行度和用户问卷来获得。</a:t>
            </a:r>
            <a:endParaRPr lang="en-US" altLang="zh-CN" dirty="0">
              <a:solidFill>
                <a:srgbClr val="0070C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6068425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3886200"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关联</a:t>
              </a:r>
              <a:r>
                <a:rPr lang="zh-CN" altLang="en-US" sz="24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规则挖掘基础</a:t>
              </a: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知识</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Content Placeholder 2">
            <a:extLst>
              <a:ext uri="{FF2B5EF4-FFF2-40B4-BE49-F238E27FC236}">
                <a16:creationId xmlns:a16="http://schemas.microsoft.com/office/drawing/2014/main" id="{962A3225-FA42-43B0-B453-A65EABC65821}"/>
              </a:ext>
            </a:extLst>
          </p:cNvPr>
          <p:cNvSpPr txBox="1">
            <a:spLocks/>
          </p:cNvSpPr>
          <p:nvPr/>
        </p:nvSpPr>
        <p:spPr>
          <a:xfrm>
            <a:off x="304800" y="847916"/>
            <a:ext cx="8410381" cy="593388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25000"/>
              </a:lnSpc>
            </a:pPr>
            <a:r>
              <a:rPr lang="zh-CN" altLang="zh-CN" sz="2000" dirty="0"/>
              <a:t>提到关联规则不得不先看一个有趣的故事： “啤酒与尿布”的故事。它发生在美国沃尔玛连锁店超市。沃尔玛拥有世界上最大的数据仓库系统，为了能够准确地了解顾客的购买习惯，沃尔玛对顾客购物行为进行了购物篮分析，想知道顾客经常一起购买的商品都有哪些。沃尔玛数据仓库里集中了详细的原始交易数据。在这些原始交易数据的基础上，沃尔玛利用数据挖掘方法对这些数据进行分析和挖掘。一个意外的发现是：与尿布一起购买最多的商品竟是啤酒</a:t>
            </a:r>
            <a:r>
              <a:rPr lang="en-US" altLang="zh-CN" sz="2000" dirty="0"/>
              <a:t>!</a:t>
            </a:r>
            <a:r>
              <a:rPr lang="zh-CN" altLang="zh-CN" sz="2000" dirty="0"/>
              <a:t>经过大量实际调查分析，揭示了一个隐藏的规律：在美国，一些年轻的父亲下班后经常要到超市去买婴儿尿布，而他们中有</a:t>
            </a:r>
            <a:r>
              <a:rPr lang="en-US" altLang="zh-CN" sz="2000" dirty="0"/>
              <a:t>30%~40%</a:t>
            </a:r>
            <a:r>
              <a:rPr lang="zh-CN" altLang="zh-CN" sz="2000" dirty="0"/>
              <a:t>的人同时也为自己买一些啤酒。产生这一现象的原因是：美国太太们常叮嘱她们的丈夫下班后为小孩买尿布，而丈夫们在买尿布后又随手带回了他们喜欢的啤酒。</a:t>
            </a:r>
          </a:p>
          <a:p>
            <a:pPr algn="just">
              <a:lnSpc>
                <a:spcPct val="125000"/>
              </a:lnSpc>
            </a:pPr>
            <a:r>
              <a:rPr lang="en-US" altLang="zh-CN" sz="2000" dirty="0"/>
              <a:t> </a:t>
            </a:r>
            <a:r>
              <a:rPr lang="zh-CN" altLang="zh-CN" sz="2000" dirty="0"/>
              <a:t>我们先不讨论这个故事的真实性，但是这种“啤酒与尿布”的关联关系在现实中却广泛存在，比如人们的穿衣搭配、产品交叉销售、各种营销推荐方案等，归结起来它们就是一种关联规则问题。本章主要介绍关联规则的基本概念、关联规则的挖掘方法和</a:t>
            </a:r>
            <a:r>
              <a:rPr lang="en-US" altLang="zh-CN" sz="2000" dirty="0"/>
              <a:t>Python</a:t>
            </a:r>
            <a:r>
              <a:rPr lang="zh-CN" altLang="zh-CN" sz="2000" dirty="0"/>
              <a:t>实现。</a:t>
            </a:r>
          </a:p>
        </p:txBody>
      </p:sp>
    </p:spTree>
    <p:extLst>
      <p:ext uri="{BB962C8B-B14F-4D97-AF65-F5344CB8AC3E}">
        <p14:creationId xmlns:p14="http://schemas.microsoft.com/office/powerpoint/2010/main" val="3014308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3886200"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关联</a:t>
              </a:r>
              <a:r>
                <a:rPr lang="zh-CN" altLang="en-US" sz="24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规则挖掘基础</a:t>
              </a: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知识</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Content Placeholder 2">
            <a:extLst>
              <a:ext uri="{FF2B5EF4-FFF2-40B4-BE49-F238E27FC236}">
                <a16:creationId xmlns:a16="http://schemas.microsoft.com/office/drawing/2014/main" id="{962A3225-FA42-43B0-B453-A65EABC65821}"/>
              </a:ext>
            </a:extLst>
          </p:cNvPr>
          <p:cNvSpPr txBox="1">
            <a:spLocks/>
          </p:cNvSpPr>
          <p:nvPr/>
        </p:nvSpPr>
        <p:spPr>
          <a:xfrm>
            <a:off x="228600" y="1219200"/>
            <a:ext cx="8410381" cy="395268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000" dirty="0"/>
              <a:t> </a:t>
            </a:r>
            <a:r>
              <a:rPr lang="zh-CN" altLang="zh-CN" sz="2000" dirty="0"/>
              <a:t>假设有以下数据集，每行代表一个顾客在超市的购买记录：</a:t>
            </a:r>
          </a:p>
          <a:p>
            <a:pPr>
              <a:buNone/>
            </a:pPr>
            <a:r>
              <a:rPr lang="en-US" altLang="zh-CN" sz="2000" dirty="0"/>
              <a:t>I1: </a:t>
            </a:r>
            <a:r>
              <a:rPr lang="zh-CN" altLang="zh-CN" sz="2000" dirty="0"/>
              <a:t>西红柿、排骨、鸡蛋</a:t>
            </a:r>
          </a:p>
          <a:p>
            <a:pPr>
              <a:buNone/>
            </a:pPr>
            <a:r>
              <a:rPr lang="en-US" altLang="zh-CN" sz="2000" dirty="0"/>
              <a:t>I2: </a:t>
            </a:r>
            <a:r>
              <a:rPr lang="zh-CN" altLang="zh-CN" sz="2000" dirty="0"/>
              <a:t>西红柿、茄子</a:t>
            </a:r>
          </a:p>
          <a:p>
            <a:pPr>
              <a:buNone/>
            </a:pPr>
            <a:r>
              <a:rPr lang="en-US" altLang="zh-CN" sz="2000" dirty="0"/>
              <a:t>I3: </a:t>
            </a:r>
            <a:r>
              <a:rPr lang="zh-CN" altLang="zh-CN" sz="2000" dirty="0"/>
              <a:t>鸡蛋、袜子</a:t>
            </a:r>
          </a:p>
          <a:p>
            <a:pPr>
              <a:buNone/>
            </a:pPr>
            <a:r>
              <a:rPr lang="en-US" altLang="zh-CN" sz="2000" dirty="0"/>
              <a:t>I4: </a:t>
            </a:r>
            <a:r>
              <a:rPr lang="zh-CN" altLang="zh-CN" sz="2000" dirty="0"/>
              <a:t>西红柿、排骨、茄子</a:t>
            </a:r>
          </a:p>
          <a:p>
            <a:pPr>
              <a:buNone/>
            </a:pPr>
            <a:r>
              <a:rPr lang="en-US" altLang="zh-CN" sz="2000" dirty="0"/>
              <a:t>I5: </a:t>
            </a:r>
            <a:r>
              <a:rPr lang="zh-CN" altLang="zh-CN" sz="2000" dirty="0"/>
              <a:t>西红柿、排骨、袜子、酸奶</a:t>
            </a:r>
          </a:p>
          <a:p>
            <a:pPr>
              <a:buNone/>
            </a:pPr>
            <a:r>
              <a:rPr lang="en-US" altLang="zh-CN" sz="2000" dirty="0"/>
              <a:t>I6: </a:t>
            </a:r>
            <a:r>
              <a:rPr lang="zh-CN" altLang="zh-CN" sz="2000" dirty="0"/>
              <a:t>鸡蛋、茄子、酸奶</a:t>
            </a:r>
          </a:p>
          <a:p>
            <a:pPr>
              <a:buNone/>
            </a:pPr>
            <a:r>
              <a:rPr lang="en-US" altLang="zh-CN" sz="2000" dirty="0"/>
              <a:t>I7: </a:t>
            </a:r>
            <a:r>
              <a:rPr lang="zh-CN" altLang="zh-CN" sz="2000" dirty="0"/>
              <a:t>排骨、鸡蛋、茄子</a:t>
            </a:r>
          </a:p>
          <a:p>
            <a:pPr>
              <a:buNone/>
            </a:pPr>
            <a:r>
              <a:rPr lang="en-US" altLang="zh-CN" sz="2000" dirty="0"/>
              <a:t>I8: </a:t>
            </a:r>
            <a:r>
              <a:rPr lang="zh-CN" altLang="zh-CN" sz="2000" dirty="0"/>
              <a:t>土豆、鸡蛋、袜子</a:t>
            </a:r>
          </a:p>
          <a:p>
            <a:pPr>
              <a:buNone/>
            </a:pPr>
            <a:r>
              <a:rPr lang="en-US" altLang="zh-CN" sz="2000" dirty="0"/>
              <a:t>I9: </a:t>
            </a:r>
            <a:r>
              <a:rPr lang="zh-CN" altLang="zh-CN" sz="2000" dirty="0"/>
              <a:t>西红柿、排骨、鞋子、土豆</a:t>
            </a:r>
          </a:p>
        </p:txBody>
      </p:sp>
    </p:spTree>
    <p:extLst>
      <p:ext uri="{BB962C8B-B14F-4D97-AF65-F5344CB8AC3E}">
        <p14:creationId xmlns:p14="http://schemas.microsoft.com/office/powerpoint/2010/main" val="6802071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3886200"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关联</a:t>
              </a:r>
              <a:r>
                <a:rPr lang="zh-CN" altLang="en-US" sz="24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规则挖掘基础</a:t>
              </a: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知识</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Content Placeholder 2">
            <a:extLst>
              <a:ext uri="{FF2B5EF4-FFF2-40B4-BE49-F238E27FC236}">
                <a16:creationId xmlns:a16="http://schemas.microsoft.com/office/drawing/2014/main" id="{962A3225-FA42-43B0-B453-A65EABC65821}"/>
              </a:ext>
            </a:extLst>
          </p:cNvPr>
          <p:cNvSpPr txBox="1">
            <a:spLocks/>
          </p:cNvSpPr>
          <p:nvPr/>
        </p:nvSpPr>
        <p:spPr>
          <a:xfrm>
            <a:off x="228600" y="1219200"/>
            <a:ext cx="8410381"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pPr>
            <a:r>
              <a:rPr lang="en-US" altLang="zh-CN" sz="2000" dirty="0"/>
              <a:t> </a:t>
            </a:r>
            <a:r>
              <a:rPr lang="zh-CN" altLang="zh-CN" sz="2000" dirty="0"/>
              <a:t>假如有一条规则：西红柿—</a:t>
            </a:r>
            <a:r>
              <a:rPr lang="en-US" altLang="zh-CN" sz="2000" dirty="0"/>
              <a:t>&gt;</a:t>
            </a:r>
            <a:r>
              <a:rPr lang="zh-CN" altLang="zh-CN" sz="2000" dirty="0"/>
              <a:t>排骨，则同时购买西红柿和排骨的顾客比例为</a:t>
            </a:r>
            <a:r>
              <a:rPr lang="en-US" altLang="zh-CN" sz="2000" dirty="0"/>
              <a:t>4/9</a:t>
            </a:r>
            <a:r>
              <a:rPr lang="zh-CN" altLang="zh-CN" sz="2000" dirty="0"/>
              <a:t>，而购买西红柿的顾客当中也购买了排骨的比例是</a:t>
            </a:r>
            <a:r>
              <a:rPr lang="en-US" altLang="zh-CN" sz="2000" dirty="0"/>
              <a:t>4/5</a:t>
            </a:r>
            <a:r>
              <a:rPr lang="zh-CN" altLang="zh-CN" sz="2000" dirty="0"/>
              <a:t>。这两个比例参数在关联规则中是非常有意义的度量，分别称作支持度（</a:t>
            </a:r>
            <a:r>
              <a:rPr lang="en-US" altLang="zh-CN" sz="2000" dirty="0"/>
              <a:t>support</a:t>
            </a:r>
            <a:r>
              <a:rPr lang="zh-CN" altLang="zh-CN" sz="2000" dirty="0"/>
              <a:t>）和置信度（</a:t>
            </a:r>
            <a:r>
              <a:rPr lang="en-US" altLang="zh-CN" sz="2000" dirty="0"/>
              <a:t>confidence</a:t>
            </a:r>
            <a:r>
              <a:rPr lang="zh-CN" altLang="zh-CN" sz="2000" dirty="0"/>
              <a:t>）。支持度反应了规则的覆盖范围，置信度反应了规则的可信程度</a:t>
            </a:r>
            <a:r>
              <a:rPr lang="en-US" altLang="zh-CN" sz="2000" dirty="0"/>
              <a:t>.</a:t>
            </a:r>
            <a:endParaRPr lang="zh-CN" altLang="zh-CN" sz="2000" dirty="0"/>
          </a:p>
          <a:p>
            <a:pPr algn="just">
              <a:lnSpc>
                <a:spcPct val="150000"/>
              </a:lnSpc>
            </a:pPr>
            <a:r>
              <a:rPr lang="en-US" altLang="zh-CN" sz="2000" dirty="0"/>
              <a:t> </a:t>
            </a:r>
            <a:r>
              <a:rPr lang="zh-CN" altLang="zh-CN" sz="2000" dirty="0"/>
              <a:t>在关联规则挖掘中，如上例所有商品集合</a:t>
            </a:r>
            <a:r>
              <a:rPr lang="en-US" altLang="zh-CN" sz="2000" dirty="0"/>
              <a:t>I={</a:t>
            </a:r>
            <a:r>
              <a:rPr lang="zh-CN" altLang="zh-CN" sz="2000" dirty="0"/>
              <a:t>西红柿，排骨，鸡蛋，茄子，袜子，酸奶、土豆、鞋子</a:t>
            </a:r>
            <a:r>
              <a:rPr lang="en-US" altLang="zh-CN" sz="2000" dirty="0"/>
              <a:t>}</a:t>
            </a:r>
            <a:r>
              <a:rPr lang="zh-CN" altLang="zh-CN" sz="2000" dirty="0"/>
              <a:t>称作项集，每一个顾客购买的商品集合</a:t>
            </a:r>
            <a:r>
              <a:rPr lang="en-US" altLang="zh-CN" sz="2000" dirty="0"/>
              <a:t>Ii</a:t>
            </a:r>
            <a:r>
              <a:rPr lang="zh-CN" altLang="zh-CN" sz="2000" dirty="0"/>
              <a:t>称为一个事务，所有事务</a:t>
            </a:r>
            <a:r>
              <a:rPr lang="en-US" altLang="zh-CN" sz="2000" dirty="0"/>
              <a:t>T={I1,I2,....I9}</a:t>
            </a:r>
            <a:r>
              <a:rPr lang="zh-CN" altLang="zh-CN" sz="2000" dirty="0"/>
              <a:t>称作事务集合，且满足</a:t>
            </a:r>
            <a:r>
              <a:rPr lang="en-US" altLang="zh-CN" sz="2000" dirty="0"/>
              <a:t>Ii</a:t>
            </a:r>
            <a:r>
              <a:rPr lang="zh-CN" altLang="zh-CN" sz="2000" dirty="0"/>
              <a:t>是</a:t>
            </a:r>
            <a:r>
              <a:rPr lang="en-US" altLang="zh-CN" sz="2000" dirty="0"/>
              <a:t>T</a:t>
            </a:r>
            <a:r>
              <a:rPr lang="zh-CN" altLang="zh-CN" sz="2000" dirty="0"/>
              <a:t>的真子集。</a:t>
            </a:r>
            <a:endParaRPr lang="en-US" altLang="zh-CN" sz="2000" dirty="0"/>
          </a:p>
        </p:txBody>
      </p:sp>
    </p:spTree>
    <p:extLst>
      <p:ext uri="{BB962C8B-B14F-4D97-AF65-F5344CB8AC3E}">
        <p14:creationId xmlns:p14="http://schemas.microsoft.com/office/powerpoint/2010/main" val="17145036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3886200"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关联</a:t>
              </a:r>
              <a:r>
                <a:rPr lang="zh-CN" altLang="en-US" sz="24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规则挖掘基础</a:t>
              </a: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知识</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Content Placeholder 2">
            <a:extLst>
              <a:ext uri="{FF2B5EF4-FFF2-40B4-BE49-F238E27FC236}">
                <a16:creationId xmlns:a16="http://schemas.microsoft.com/office/drawing/2014/main" id="{962A3225-FA42-43B0-B453-A65EABC65821}"/>
              </a:ext>
            </a:extLst>
          </p:cNvPr>
          <p:cNvSpPr txBox="1">
            <a:spLocks/>
          </p:cNvSpPr>
          <p:nvPr/>
        </p:nvSpPr>
        <p:spPr>
          <a:xfrm>
            <a:off x="228600" y="1219200"/>
            <a:ext cx="8410381"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25000"/>
              </a:lnSpc>
            </a:pPr>
            <a:r>
              <a:rPr lang="en-US" altLang="zh-CN" sz="2000" dirty="0"/>
              <a:t> </a:t>
            </a:r>
            <a:r>
              <a:rPr lang="zh-CN" altLang="zh-CN" sz="2000" dirty="0"/>
              <a:t>关联规则的形式如下：</a:t>
            </a:r>
          </a:p>
          <a:p>
            <a:pPr algn="just">
              <a:lnSpc>
                <a:spcPct val="125000"/>
              </a:lnSpc>
              <a:buNone/>
            </a:pPr>
            <a:r>
              <a:rPr lang="en-US" altLang="zh-CN" sz="2000" dirty="0"/>
              <a:t>A</a:t>
            </a:r>
            <a:r>
              <a:rPr lang="zh-CN" altLang="en-US" sz="2000" dirty="0"/>
              <a:t>、</a:t>
            </a:r>
            <a:r>
              <a:rPr lang="en-US" altLang="zh-CN" sz="2000" dirty="0"/>
              <a:t>B</a:t>
            </a:r>
            <a:r>
              <a:rPr lang="zh-CN" altLang="zh-CN" sz="2000" dirty="0"/>
              <a:t>满足：</a:t>
            </a:r>
            <a:r>
              <a:rPr lang="en-US" altLang="zh-CN" sz="2000" dirty="0"/>
              <a:t>A</a:t>
            </a:r>
            <a:r>
              <a:rPr lang="zh-CN" altLang="zh-CN" sz="2000" dirty="0"/>
              <a:t>、</a:t>
            </a:r>
            <a:r>
              <a:rPr lang="en-US" altLang="zh-CN" sz="2000" dirty="0"/>
              <a:t>B</a:t>
            </a:r>
            <a:r>
              <a:rPr lang="zh-CN" altLang="zh-CN" sz="2000" dirty="0"/>
              <a:t>是</a:t>
            </a:r>
            <a:r>
              <a:rPr lang="en-US" altLang="zh-CN" sz="2000" dirty="0"/>
              <a:t>T</a:t>
            </a:r>
            <a:r>
              <a:rPr lang="zh-CN" altLang="zh-CN" sz="2000" dirty="0"/>
              <a:t>的真子集，并且</a:t>
            </a:r>
            <a:r>
              <a:rPr lang="en-US" altLang="zh-CN" sz="2000" dirty="0"/>
              <a:t>A</a:t>
            </a:r>
            <a:r>
              <a:rPr lang="zh-CN" altLang="zh-CN" sz="2000" dirty="0"/>
              <a:t>和</a:t>
            </a:r>
            <a:r>
              <a:rPr lang="en-US" altLang="zh-CN" sz="2000" dirty="0"/>
              <a:t>B</a:t>
            </a:r>
            <a:r>
              <a:rPr lang="zh-CN" altLang="zh-CN" sz="2000" dirty="0"/>
              <a:t>的交集为空集。其中</a:t>
            </a:r>
            <a:r>
              <a:rPr lang="en-US" altLang="zh-CN" sz="2000" dirty="0"/>
              <a:t>A</a:t>
            </a:r>
            <a:r>
              <a:rPr lang="zh-CN" altLang="zh-CN" sz="2000" dirty="0"/>
              <a:t>称为前件</a:t>
            </a:r>
            <a:r>
              <a:rPr lang="zh-CN" altLang="zh-CN" sz="2000" dirty="0" smtClean="0"/>
              <a:t>，</a:t>
            </a:r>
            <a:endParaRPr lang="en-US" altLang="zh-CN" sz="2000" dirty="0" smtClean="0"/>
          </a:p>
          <a:p>
            <a:pPr algn="just">
              <a:lnSpc>
                <a:spcPct val="125000"/>
              </a:lnSpc>
              <a:buNone/>
            </a:pPr>
            <a:r>
              <a:rPr lang="en-US" altLang="zh-CN" sz="2000" dirty="0" smtClean="0"/>
              <a:t>B</a:t>
            </a:r>
            <a:r>
              <a:rPr lang="zh-CN" altLang="zh-CN" sz="2000" dirty="0"/>
              <a:t>称为后件。</a:t>
            </a:r>
          </a:p>
          <a:p>
            <a:pPr algn="just">
              <a:lnSpc>
                <a:spcPct val="125000"/>
              </a:lnSpc>
              <a:buNone/>
            </a:pPr>
            <a:r>
              <a:rPr lang="zh-CN" altLang="zh-CN" sz="2000" dirty="0"/>
              <a:t>关联规则有事也表示形如“如果…那么…”，前者是规则成立的条件，后者是条件下发生的结果。支持度和置信度有以下计算公式：</a:t>
            </a:r>
            <a:endParaRPr lang="en-US" altLang="zh-CN" sz="2000" dirty="0"/>
          </a:p>
          <a:p>
            <a:pPr algn="just">
              <a:lnSpc>
                <a:spcPct val="125000"/>
              </a:lnSpc>
              <a:buNone/>
            </a:pPr>
            <a:endParaRPr lang="en-US" altLang="zh-CN" sz="2000" dirty="0"/>
          </a:p>
          <a:p>
            <a:pPr algn="just">
              <a:lnSpc>
                <a:spcPct val="125000"/>
              </a:lnSpc>
              <a:buNone/>
            </a:pPr>
            <a:endParaRPr lang="en-US" altLang="zh-CN" sz="2000" dirty="0"/>
          </a:p>
          <a:p>
            <a:pPr algn="just">
              <a:lnSpc>
                <a:spcPct val="125000"/>
              </a:lnSpc>
              <a:buNone/>
            </a:pPr>
            <a:endParaRPr lang="en-US" altLang="zh-CN" sz="2000" dirty="0"/>
          </a:p>
          <a:p>
            <a:pPr algn="just">
              <a:lnSpc>
                <a:spcPct val="125000"/>
              </a:lnSpc>
              <a:buNone/>
            </a:pPr>
            <a:endParaRPr lang="en-US" altLang="zh-CN" sz="2000" dirty="0"/>
          </a:p>
          <a:p>
            <a:pPr algn="just">
              <a:lnSpc>
                <a:spcPct val="125000"/>
              </a:lnSpc>
              <a:buNone/>
            </a:pPr>
            <a:r>
              <a:rPr lang="zh-CN" altLang="zh-CN" sz="2000" dirty="0"/>
              <a:t>支持度表示为项集</a:t>
            </a:r>
            <a:r>
              <a:rPr lang="en-US" altLang="zh-CN" sz="2000" dirty="0"/>
              <a:t>A</a:t>
            </a:r>
            <a:r>
              <a:rPr lang="zh-CN" altLang="zh-CN" sz="2000" dirty="0"/>
              <a:t>、</a:t>
            </a:r>
            <a:r>
              <a:rPr lang="en-US" altLang="zh-CN" sz="2000" dirty="0"/>
              <a:t>B</a:t>
            </a:r>
            <a:r>
              <a:rPr lang="zh-CN" altLang="zh-CN" sz="2000" dirty="0"/>
              <a:t>同时发生的概率，而置信度则表示为项集</a:t>
            </a:r>
            <a:r>
              <a:rPr lang="en-US" altLang="zh-CN" sz="2000" dirty="0"/>
              <a:t>A</a:t>
            </a:r>
            <a:r>
              <a:rPr lang="zh-CN" altLang="zh-CN" sz="2000" dirty="0" smtClean="0"/>
              <a:t>发生的</a:t>
            </a:r>
            <a:endParaRPr lang="en-US" altLang="zh-CN" sz="2000" dirty="0" smtClean="0"/>
          </a:p>
          <a:p>
            <a:pPr algn="just">
              <a:lnSpc>
                <a:spcPct val="125000"/>
              </a:lnSpc>
              <a:buNone/>
            </a:pPr>
            <a:r>
              <a:rPr lang="zh-CN" altLang="zh-CN" sz="2000" dirty="0" smtClean="0"/>
              <a:t>条件</a:t>
            </a:r>
            <a:r>
              <a:rPr lang="zh-CN" altLang="zh-CN" sz="2000" dirty="0"/>
              <a:t>下项集</a:t>
            </a:r>
            <a:r>
              <a:rPr lang="en-US" altLang="zh-CN" sz="2000" dirty="0"/>
              <a:t>B</a:t>
            </a:r>
            <a:r>
              <a:rPr lang="zh-CN" altLang="zh-CN" sz="2000" dirty="0"/>
              <a:t>发生的概率。</a:t>
            </a:r>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543300"/>
            <a:ext cx="6912768" cy="693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4434058"/>
            <a:ext cx="6912768" cy="61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38793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3886200"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关联</a:t>
              </a:r>
              <a:r>
                <a:rPr lang="zh-CN" altLang="en-US" sz="24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规则挖掘基础</a:t>
              </a: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知识</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Content Placeholder 2">
            <a:extLst>
              <a:ext uri="{FF2B5EF4-FFF2-40B4-BE49-F238E27FC236}">
                <a16:creationId xmlns:a16="http://schemas.microsoft.com/office/drawing/2014/main" id="{962A3225-FA42-43B0-B453-A65EABC65821}"/>
              </a:ext>
            </a:extLst>
          </p:cNvPr>
          <p:cNvSpPr txBox="1">
            <a:spLocks/>
          </p:cNvSpPr>
          <p:nvPr/>
        </p:nvSpPr>
        <p:spPr>
          <a:xfrm>
            <a:off x="228600" y="1219200"/>
            <a:ext cx="8410381" cy="5486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altLang="zh-CN" sz="2000" dirty="0"/>
              <a:t> </a:t>
            </a:r>
            <a:r>
              <a:rPr lang="zh-CN" altLang="en-US" sz="2000" dirty="0"/>
              <a:t>布尔关联规则挖掘是指将事物数据集转化为布尔（</a:t>
            </a:r>
            <a:r>
              <a:rPr lang="en-US" altLang="zh-CN" sz="2000" dirty="0"/>
              <a:t>0</a:t>
            </a:r>
            <a:r>
              <a:rPr lang="zh-CN" altLang="en-US" sz="2000" dirty="0"/>
              <a:t>、</a:t>
            </a:r>
            <a:r>
              <a:rPr lang="en-US" altLang="zh-CN" sz="2000" dirty="0"/>
              <a:t>1</a:t>
            </a:r>
            <a:r>
              <a:rPr lang="zh-CN" altLang="en-US" sz="2000" dirty="0"/>
              <a:t>）值数据集，并在布尔数据集基础上挖掘关联规则的一种方法。在布尔数据集上挖掘关联规则的取值要么是</a:t>
            </a:r>
            <a:r>
              <a:rPr lang="en-US" altLang="zh-CN" sz="2000" dirty="0"/>
              <a:t>0</a:t>
            </a:r>
            <a:r>
              <a:rPr lang="zh-CN" altLang="en-US" sz="2000" dirty="0"/>
              <a:t>，要么是</a:t>
            </a:r>
            <a:r>
              <a:rPr lang="en-US" altLang="zh-CN" sz="2000" dirty="0"/>
              <a:t>1</a:t>
            </a:r>
            <a:r>
              <a:rPr lang="zh-CN" altLang="en-US" sz="2000" dirty="0"/>
              <a:t>，计算关联规则的支持度和置信度仅通过求和运算即可完成。</a:t>
            </a:r>
            <a:endParaRPr lang="en-US" altLang="zh-CN" sz="2000" dirty="0"/>
          </a:p>
          <a:p>
            <a:pPr algn="just"/>
            <a:r>
              <a:rPr lang="zh-CN" altLang="en-US" sz="2000" dirty="0" smtClean="0"/>
              <a:t>将例题转化</a:t>
            </a:r>
            <a:r>
              <a:rPr lang="zh-CN" altLang="en-US" sz="2000" dirty="0"/>
              <a:t>为布尔值数据集，每一行仍然代表一个事务，即购买记录；列为项，即购买的商品名称。取值</a:t>
            </a:r>
            <a:r>
              <a:rPr lang="en-US" altLang="zh-CN" sz="2000" dirty="0"/>
              <a:t>0</a:t>
            </a:r>
            <a:r>
              <a:rPr lang="zh-CN" altLang="en-US" sz="2000" dirty="0"/>
              <a:t>表示该事务在对应的项中没有出现，即没有购买该商品，否则为</a:t>
            </a:r>
            <a:r>
              <a:rPr lang="en-US" altLang="zh-CN" sz="2000" dirty="0"/>
              <a:t>1</a:t>
            </a:r>
            <a:r>
              <a:rPr lang="zh-CN" altLang="en-US" sz="2000" dirty="0"/>
              <a:t>。如下</a:t>
            </a:r>
            <a:r>
              <a:rPr lang="zh-CN" altLang="en-US" sz="2000" dirty="0" smtClean="0"/>
              <a:t>表所</a:t>
            </a:r>
            <a:r>
              <a:rPr lang="zh-CN" altLang="en-US" sz="2000" dirty="0"/>
              <a:t>示。</a:t>
            </a:r>
            <a:endParaRPr lang="en-US" altLang="zh-CN" sz="2000" dirty="0"/>
          </a:p>
        </p:txBody>
      </p:sp>
      <p:graphicFrame>
        <p:nvGraphicFramePr>
          <p:cNvPr id="9" name="表格 8"/>
          <p:cNvGraphicFramePr>
            <a:graphicFrameLocks noGrp="1"/>
          </p:cNvGraphicFramePr>
          <p:nvPr>
            <p:extLst>
              <p:ext uri="{D42A27DB-BD31-4B8C-83A1-F6EECF244321}">
                <p14:modId xmlns:p14="http://schemas.microsoft.com/office/powerpoint/2010/main" val="3742180407"/>
              </p:ext>
            </p:extLst>
          </p:nvPr>
        </p:nvGraphicFramePr>
        <p:xfrm>
          <a:off x="1676400" y="3505200"/>
          <a:ext cx="5867398" cy="2895600"/>
        </p:xfrm>
        <a:graphic>
          <a:graphicData uri="http://schemas.openxmlformats.org/drawingml/2006/table">
            <a:tbl>
              <a:tblPr firstRow="1" firstCol="1" bandRow="1"/>
              <a:tblGrid>
                <a:gridCol w="631421">
                  <a:extLst>
                    <a:ext uri="{9D8B030D-6E8A-4147-A177-3AD203B41FA5}">
                      <a16:colId xmlns:a16="http://schemas.microsoft.com/office/drawing/2014/main" val="20000"/>
                    </a:ext>
                  </a:extLst>
                </a:gridCol>
                <a:gridCol w="666501">
                  <a:extLst>
                    <a:ext uri="{9D8B030D-6E8A-4147-A177-3AD203B41FA5}">
                      <a16:colId xmlns:a16="http://schemas.microsoft.com/office/drawing/2014/main" val="20001"/>
                    </a:ext>
                  </a:extLst>
                </a:gridCol>
                <a:gridCol w="613881">
                  <a:extLst>
                    <a:ext uri="{9D8B030D-6E8A-4147-A177-3AD203B41FA5}">
                      <a16:colId xmlns:a16="http://schemas.microsoft.com/office/drawing/2014/main" val="20002"/>
                    </a:ext>
                  </a:extLst>
                </a:gridCol>
                <a:gridCol w="596343">
                  <a:extLst>
                    <a:ext uri="{9D8B030D-6E8A-4147-A177-3AD203B41FA5}">
                      <a16:colId xmlns:a16="http://schemas.microsoft.com/office/drawing/2014/main" val="20003"/>
                    </a:ext>
                  </a:extLst>
                </a:gridCol>
                <a:gridCol w="596343">
                  <a:extLst>
                    <a:ext uri="{9D8B030D-6E8A-4147-A177-3AD203B41FA5}">
                      <a16:colId xmlns:a16="http://schemas.microsoft.com/office/drawing/2014/main" val="20004"/>
                    </a:ext>
                  </a:extLst>
                </a:gridCol>
                <a:gridCol w="802429">
                  <a:extLst>
                    <a:ext uri="{9D8B030D-6E8A-4147-A177-3AD203B41FA5}">
                      <a16:colId xmlns:a16="http://schemas.microsoft.com/office/drawing/2014/main" val="20005"/>
                    </a:ext>
                  </a:extLst>
                </a:gridCol>
                <a:gridCol w="631421">
                  <a:extLst>
                    <a:ext uri="{9D8B030D-6E8A-4147-A177-3AD203B41FA5}">
                      <a16:colId xmlns:a16="http://schemas.microsoft.com/office/drawing/2014/main" val="20006"/>
                    </a:ext>
                  </a:extLst>
                </a:gridCol>
                <a:gridCol w="631421">
                  <a:extLst>
                    <a:ext uri="{9D8B030D-6E8A-4147-A177-3AD203B41FA5}">
                      <a16:colId xmlns:a16="http://schemas.microsoft.com/office/drawing/2014/main" val="20007"/>
                    </a:ext>
                  </a:extLst>
                </a:gridCol>
                <a:gridCol w="697638">
                  <a:extLst>
                    <a:ext uri="{9D8B030D-6E8A-4147-A177-3AD203B41FA5}">
                      <a16:colId xmlns:a16="http://schemas.microsoft.com/office/drawing/2014/main" val="20008"/>
                    </a:ext>
                  </a:extLst>
                </a:gridCol>
              </a:tblGrid>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ID</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dirty="0">
                          <a:solidFill>
                            <a:srgbClr val="000000"/>
                          </a:solidFill>
                          <a:effectLst/>
                          <a:latin typeface="Calibri" panose="020F0502020204030204"/>
                          <a:ea typeface="宋体" panose="02010600030101010101" pitchFamily="2" charset="-122"/>
                          <a:cs typeface="宋体" panose="02010600030101010101" pitchFamily="2" charset="-122"/>
                        </a:rPr>
                        <a:t>土豆</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dirty="0">
                          <a:solidFill>
                            <a:srgbClr val="000000"/>
                          </a:solidFill>
                          <a:effectLst/>
                          <a:latin typeface="Calibri" panose="020F0502020204030204"/>
                          <a:ea typeface="宋体" panose="02010600030101010101" pitchFamily="2" charset="-122"/>
                          <a:cs typeface="宋体" panose="02010600030101010101" pitchFamily="2" charset="-122"/>
                        </a:rPr>
                        <a:t>排骨</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dirty="0">
                          <a:solidFill>
                            <a:srgbClr val="000000"/>
                          </a:solidFill>
                          <a:effectLst/>
                          <a:latin typeface="Calibri" panose="020F0502020204030204"/>
                          <a:ea typeface="宋体" panose="02010600030101010101" pitchFamily="2" charset="-122"/>
                          <a:cs typeface="宋体" panose="02010600030101010101" pitchFamily="2" charset="-122"/>
                        </a:rPr>
                        <a:t>茄子</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dirty="0">
                          <a:solidFill>
                            <a:srgbClr val="000000"/>
                          </a:solidFill>
                          <a:effectLst/>
                          <a:latin typeface="Calibri" panose="020F0502020204030204"/>
                          <a:ea typeface="宋体" panose="02010600030101010101" pitchFamily="2" charset="-122"/>
                          <a:cs typeface="宋体" panose="02010600030101010101" pitchFamily="2" charset="-122"/>
                        </a:rPr>
                        <a:t>袜子</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dirty="0">
                          <a:solidFill>
                            <a:srgbClr val="000000"/>
                          </a:solidFill>
                          <a:effectLst/>
                          <a:latin typeface="Calibri" panose="020F0502020204030204"/>
                          <a:ea typeface="宋体" panose="02010600030101010101" pitchFamily="2" charset="-122"/>
                          <a:cs typeface="宋体" panose="02010600030101010101" pitchFamily="2" charset="-122"/>
                        </a:rPr>
                        <a:t>西红柿</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dirty="0">
                          <a:solidFill>
                            <a:srgbClr val="000000"/>
                          </a:solidFill>
                          <a:effectLst/>
                          <a:latin typeface="Calibri" panose="020F0502020204030204"/>
                          <a:ea typeface="宋体" panose="02010600030101010101" pitchFamily="2" charset="-122"/>
                          <a:cs typeface="宋体" panose="02010600030101010101" pitchFamily="2" charset="-122"/>
                        </a:rPr>
                        <a:t>酸奶</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dirty="0">
                          <a:solidFill>
                            <a:srgbClr val="000000"/>
                          </a:solidFill>
                          <a:effectLst/>
                          <a:latin typeface="Calibri" panose="020F0502020204030204"/>
                          <a:ea typeface="宋体" panose="02010600030101010101" pitchFamily="2" charset="-122"/>
                          <a:cs typeface="宋体" panose="02010600030101010101" pitchFamily="2" charset="-122"/>
                        </a:rPr>
                        <a:t>鞋子</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dirty="0">
                          <a:solidFill>
                            <a:srgbClr val="000000"/>
                          </a:solidFill>
                          <a:effectLst/>
                          <a:latin typeface="Calibri" panose="020F0502020204030204"/>
                          <a:ea typeface="宋体" panose="02010600030101010101" pitchFamily="2" charset="-122"/>
                          <a:cs typeface="宋体" panose="02010600030101010101" pitchFamily="2" charset="-122"/>
                        </a:rPr>
                        <a:t>鸡蛋</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I1</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05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05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05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05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I2</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extLst>
                  <a:ext uri="{0D108BD9-81ED-4DB2-BD59-A6C34878D82A}">
                    <a16:rowId xmlns:a16="http://schemas.microsoft.com/office/drawing/2014/main" val="10002"/>
                  </a:ext>
                </a:extLst>
              </a:tr>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I3</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extLst>
                  <a:ext uri="{0D108BD9-81ED-4DB2-BD59-A6C34878D82A}">
                    <a16:rowId xmlns:a16="http://schemas.microsoft.com/office/drawing/2014/main" val="10003"/>
                  </a:ext>
                </a:extLst>
              </a:tr>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I4</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extLst>
                  <a:ext uri="{0D108BD9-81ED-4DB2-BD59-A6C34878D82A}">
                    <a16:rowId xmlns:a16="http://schemas.microsoft.com/office/drawing/2014/main" val="10004"/>
                  </a:ext>
                </a:extLst>
              </a:tr>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I5</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extLst>
                  <a:ext uri="{0D108BD9-81ED-4DB2-BD59-A6C34878D82A}">
                    <a16:rowId xmlns:a16="http://schemas.microsoft.com/office/drawing/2014/main" val="10005"/>
                  </a:ext>
                </a:extLst>
              </a:tr>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I6</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extLst>
                  <a:ext uri="{0D108BD9-81ED-4DB2-BD59-A6C34878D82A}">
                    <a16:rowId xmlns:a16="http://schemas.microsoft.com/office/drawing/2014/main" val="10006"/>
                  </a:ext>
                </a:extLst>
              </a:tr>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I7</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extLst>
                  <a:ext uri="{0D108BD9-81ED-4DB2-BD59-A6C34878D82A}">
                    <a16:rowId xmlns:a16="http://schemas.microsoft.com/office/drawing/2014/main" val="10007"/>
                  </a:ext>
                </a:extLst>
              </a:tr>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I8</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extLst>
                  <a:ext uri="{0D108BD9-81ED-4DB2-BD59-A6C34878D82A}">
                    <a16:rowId xmlns:a16="http://schemas.microsoft.com/office/drawing/2014/main" val="10008"/>
                  </a:ext>
                </a:extLst>
              </a:tr>
              <a:tr h="289560">
                <a:tc>
                  <a:txBody>
                    <a:bodyPr/>
                    <a:lstStyle/>
                    <a:p>
                      <a:pPr algn="l">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I9</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05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05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523043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3886200"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关联</a:t>
              </a:r>
              <a:r>
                <a:rPr lang="zh-CN" altLang="en-US" sz="24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规则挖掘基础</a:t>
              </a: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知识</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Content Placeholder 2">
            <a:extLst>
              <a:ext uri="{FF2B5EF4-FFF2-40B4-BE49-F238E27FC236}">
                <a16:creationId xmlns:a16="http://schemas.microsoft.com/office/drawing/2014/main" id="{962A3225-FA42-43B0-B453-A65EABC65821}"/>
              </a:ext>
            </a:extLst>
          </p:cNvPr>
          <p:cNvSpPr txBox="1">
            <a:spLocks/>
          </p:cNvSpPr>
          <p:nvPr/>
        </p:nvSpPr>
        <p:spPr>
          <a:xfrm>
            <a:off x="228600" y="1219200"/>
            <a:ext cx="8410381" cy="5181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5000"/>
              </a:lnSpc>
              <a:buNone/>
            </a:pPr>
            <a:r>
              <a:rPr lang="zh-CN" altLang="zh-CN" sz="2000" dirty="0"/>
              <a:t>多对一关联规则是指前件有多个项，而后件只有一个项的关联规则。多对一关联规则在应用中具有非常积极的意义，但是挖掘起来比较困难，特别是大规模的问题，寻找到感兴趣的关联规则可能需要耗费极大的计算精力。作为关联规则挖掘中的经典算法——</a:t>
            </a:r>
            <a:r>
              <a:rPr lang="en-US" altLang="zh-CN" sz="2000" dirty="0" err="1"/>
              <a:t>Apriori</a:t>
            </a:r>
            <a:r>
              <a:rPr lang="zh-CN" altLang="zh-CN" sz="2000" dirty="0"/>
              <a:t>算法，针对中小规模的关联规则挖掘问题具有较好的适用性</a:t>
            </a:r>
            <a:r>
              <a:rPr lang="zh-CN" altLang="zh-CN" sz="2000" dirty="0" smtClean="0"/>
              <a:t>。</a:t>
            </a:r>
            <a:endParaRPr lang="en-US" altLang="zh-CN" sz="2000" dirty="0"/>
          </a:p>
          <a:p>
            <a:pPr algn="just">
              <a:lnSpc>
                <a:spcPct val="125000"/>
              </a:lnSpc>
              <a:buNone/>
            </a:pPr>
            <a:r>
              <a:rPr lang="en-US" altLang="zh-CN" sz="1800" b="1" dirty="0"/>
              <a:t>1. </a:t>
            </a:r>
            <a:r>
              <a:rPr lang="en-US" altLang="zh-CN" sz="1800" b="1" dirty="0" err="1"/>
              <a:t>Apriori</a:t>
            </a:r>
            <a:r>
              <a:rPr lang="zh-CN" altLang="zh-CN" sz="1800" b="1" dirty="0"/>
              <a:t>算法：挖掘频繁项集</a:t>
            </a:r>
            <a:endParaRPr lang="zh-CN" altLang="zh-CN" sz="1800" dirty="0"/>
          </a:p>
          <a:p>
            <a:pPr algn="just">
              <a:lnSpc>
                <a:spcPct val="125000"/>
              </a:lnSpc>
              <a:buNone/>
            </a:pPr>
            <a:r>
              <a:rPr lang="en-US" altLang="zh-CN" sz="2000" dirty="0" err="1"/>
              <a:t>Apriori</a:t>
            </a:r>
            <a:r>
              <a:rPr lang="zh-CN" altLang="zh-CN" sz="2000" dirty="0"/>
              <a:t>算法由</a:t>
            </a:r>
            <a:r>
              <a:rPr lang="en-US" altLang="zh-CN" sz="2000" dirty="0" err="1"/>
              <a:t>R.Agrawal</a:t>
            </a:r>
            <a:r>
              <a:rPr lang="zh-CN" altLang="zh-CN" sz="2000" dirty="0"/>
              <a:t>和</a:t>
            </a:r>
            <a:r>
              <a:rPr lang="en-US" altLang="zh-CN" sz="2000" dirty="0" err="1"/>
              <a:t>R.Srikant</a:t>
            </a:r>
            <a:r>
              <a:rPr lang="zh-CN" altLang="zh-CN" sz="2000" dirty="0"/>
              <a:t>于</a:t>
            </a:r>
            <a:r>
              <a:rPr lang="en-US" altLang="zh-CN" sz="2000" dirty="0"/>
              <a:t>1994</a:t>
            </a:r>
            <a:r>
              <a:rPr lang="zh-CN" altLang="zh-CN" sz="2000" dirty="0"/>
              <a:t>年提出，该算法的主要思想是</a:t>
            </a:r>
            <a:r>
              <a:rPr lang="zh-CN" altLang="zh-CN" sz="2000" dirty="0" smtClean="0"/>
              <a:t>找</a:t>
            </a:r>
            <a:endParaRPr lang="en-US" altLang="zh-CN" sz="2000" dirty="0" smtClean="0"/>
          </a:p>
          <a:p>
            <a:pPr algn="just">
              <a:lnSpc>
                <a:spcPct val="125000"/>
              </a:lnSpc>
              <a:buNone/>
            </a:pPr>
            <a:r>
              <a:rPr lang="zh-CN" altLang="zh-CN" sz="2000" dirty="0" smtClean="0"/>
              <a:t>出</a:t>
            </a:r>
            <a:r>
              <a:rPr lang="zh-CN" altLang="zh-CN" sz="2000" dirty="0"/>
              <a:t>存在</a:t>
            </a:r>
            <a:r>
              <a:rPr lang="zh-CN" altLang="zh-CN" sz="2000" dirty="0" smtClean="0"/>
              <a:t>于事务</a:t>
            </a:r>
            <a:r>
              <a:rPr lang="zh-CN" altLang="zh-CN" sz="2000" dirty="0"/>
              <a:t>数据集中的最大频繁项集，在利用得到的最大频繁项集与</a:t>
            </a:r>
            <a:r>
              <a:rPr lang="zh-CN" altLang="zh-CN" sz="2000" dirty="0" smtClean="0"/>
              <a:t>预</a:t>
            </a:r>
            <a:endParaRPr lang="en-US" altLang="zh-CN" sz="2000" dirty="0" smtClean="0"/>
          </a:p>
          <a:p>
            <a:pPr algn="just">
              <a:lnSpc>
                <a:spcPct val="125000"/>
              </a:lnSpc>
              <a:buNone/>
            </a:pPr>
            <a:r>
              <a:rPr lang="zh-CN" altLang="zh-CN" sz="2000" dirty="0" smtClean="0"/>
              <a:t>先</a:t>
            </a:r>
            <a:r>
              <a:rPr lang="zh-CN" altLang="zh-CN" sz="2000" dirty="0"/>
              <a:t>设定的最小</a:t>
            </a:r>
            <a:r>
              <a:rPr lang="zh-CN" altLang="zh-CN" sz="2000" dirty="0" smtClean="0"/>
              <a:t>置信度</a:t>
            </a:r>
            <a:r>
              <a:rPr lang="zh-CN" altLang="zh-CN" sz="2000" dirty="0"/>
              <a:t>阈值生成强关联规则。算法具体过程如下：</a:t>
            </a:r>
            <a:endParaRPr lang="en-US" altLang="zh-CN" sz="2000" dirty="0"/>
          </a:p>
          <a:p>
            <a:pPr algn="just">
              <a:lnSpc>
                <a:spcPct val="125000"/>
              </a:lnSpc>
              <a:buNone/>
            </a:pPr>
            <a:r>
              <a:rPr lang="en-US" altLang="zh-CN" sz="1800" dirty="0"/>
              <a:t>Step1</a:t>
            </a:r>
            <a:r>
              <a:rPr lang="zh-CN" altLang="zh-CN" sz="1800" dirty="0"/>
              <a:t>：设置预定的最小支持度阈值及最小置信度阈值；</a:t>
            </a:r>
          </a:p>
          <a:p>
            <a:pPr algn="just">
              <a:lnSpc>
                <a:spcPct val="125000"/>
              </a:lnSpc>
              <a:buNone/>
            </a:pPr>
            <a:r>
              <a:rPr lang="en-US" altLang="zh-CN" sz="1800" dirty="0"/>
              <a:t>Step2</a:t>
            </a:r>
            <a:r>
              <a:rPr lang="zh-CN" altLang="zh-CN" sz="1800" dirty="0"/>
              <a:t>：在研究数据中找出所有频繁项集（支持度必须大于等于给定的最小支持度阈值），</a:t>
            </a:r>
            <a:r>
              <a:rPr lang="zh-CN" altLang="zh-CN" sz="1800" dirty="0" smtClean="0"/>
              <a:t>在这个</a:t>
            </a:r>
            <a:r>
              <a:rPr lang="zh-CN" altLang="zh-CN" sz="1800" dirty="0"/>
              <a:t>过程中连接步和剪枝步互相融合，最终得到最大频繁项集</a:t>
            </a:r>
            <a:r>
              <a:rPr lang="en-US" altLang="zh-CN" sz="1800" dirty="0"/>
              <a:t> </a:t>
            </a:r>
            <a:r>
              <a:rPr lang="en-US" altLang="zh-CN" sz="1800" dirty="0" smtClean="0"/>
              <a:t>    </a:t>
            </a:r>
            <a:r>
              <a:rPr lang="zh-CN" altLang="zh-CN" sz="1800" dirty="0" smtClean="0"/>
              <a:t>；</a:t>
            </a:r>
            <a:endParaRPr lang="zh-CN" altLang="zh-CN" sz="1800" dirty="0"/>
          </a:p>
        </p:txBody>
      </p:sp>
      <p:pic>
        <p:nvPicPr>
          <p:cNvPr id="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5715000"/>
            <a:ext cx="245619" cy="30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7722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3886200"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关联</a:t>
              </a:r>
              <a:r>
                <a:rPr lang="zh-CN" altLang="en-US" sz="24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规则挖掘基础</a:t>
              </a: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知识</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Content Placeholder 2">
            <a:extLst>
              <a:ext uri="{FF2B5EF4-FFF2-40B4-BE49-F238E27FC236}">
                <a16:creationId xmlns:a16="http://schemas.microsoft.com/office/drawing/2014/main" id="{962A3225-FA42-43B0-B453-A65EABC65821}"/>
              </a:ext>
            </a:extLst>
          </p:cNvPr>
          <p:cNvSpPr txBox="1">
            <a:spLocks/>
          </p:cNvSpPr>
          <p:nvPr/>
        </p:nvSpPr>
        <p:spPr>
          <a:xfrm>
            <a:off x="152400" y="914400"/>
            <a:ext cx="8410381" cy="5715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None/>
            </a:pPr>
            <a:r>
              <a:rPr lang="zh-CN" altLang="zh-CN" sz="1800" dirty="0"/>
              <a:t>（</a:t>
            </a:r>
            <a:r>
              <a:rPr lang="en-US" altLang="zh-CN" sz="1800" dirty="0"/>
              <a:t>1</a:t>
            </a:r>
            <a:r>
              <a:rPr lang="zh-CN" altLang="zh-CN" sz="1800" dirty="0"/>
              <a:t>）连接步。目的是找到</a:t>
            </a:r>
            <a:r>
              <a:rPr lang="en-US" altLang="zh-CN" sz="1800" dirty="0"/>
              <a:t>K</a:t>
            </a:r>
            <a:r>
              <a:rPr lang="zh-CN" altLang="zh-CN" sz="1800" dirty="0"/>
              <a:t>项集。对给定的最小支持度阈值，分别对</a:t>
            </a:r>
            <a:r>
              <a:rPr lang="en-US" altLang="zh-CN" sz="1800" dirty="0"/>
              <a:t>1</a:t>
            </a:r>
            <a:r>
              <a:rPr lang="zh-CN" altLang="zh-CN" sz="1800" dirty="0"/>
              <a:t>项候选集</a:t>
            </a:r>
            <a:r>
              <a:rPr lang="en-US" altLang="zh-CN" sz="1800" dirty="0"/>
              <a:t>C1</a:t>
            </a:r>
            <a:r>
              <a:rPr lang="zh-CN" altLang="zh-CN" sz="1800" dirty="0"/>
              <a:t>，剔除小于该阈值的项集得到</a:t>
            </a:r>
            <a:r>
              <a:rPr lang="en-US" altLang="zh-CN" sz="1800" dirty="0"/>
              <a:t>1</a:t>
            </a:r>
            <a:r>
              <a:rPr lang="zh-CN" altLang="zh-CN" sz="1800" dirty="0"/>
              <a:t>项频繁集</a:t>
            </a:r>
            <a:r>
              <a:rPr lang="en-US" altLang="zh-CN" sz="1800" dirty="0"/>
              <a:t>L1</a:t>
            </a:r>
            <a:r>
              <a:rPr lang="zh-CN" altLang="zh-CN" sz="1800" dirty="0"/>
              <a:t>；下一步由</a:t>
            </a:r>
            <a:r>
              <a:rPr lang="en-US" altLang="zh-CN" sz="1800" dirty="0"/>
              <a:t>L1</a:t>
            </a:r>
            <a:r>
              <a:rPr lang="zh-CN" altLang="zh-CN" sz="1800" dirty="0"/>
              <a:t>自身连接产生</a:t>
            </a:r>
            <a:r>
              <a:rPr lang="en-US" altLang="zh-CN" sz="1800" dirty="0"/>
              <a:t>2</a:t>
            </a:r>
            <a:r>
              <a:rPr lang="zh-CN" altLang="zh-CN" sz="1800" dirty="0"/>
              <a:t>项候选集</a:t>
            </a:r>
            <a:r>
              <a:rPr lang="en-US" altLang="zh-CN" sz="1800" dirty="0"/>
              <a:t>C2</a:t>
            </a:r>
            <a:r>
              <a:rPr lang="zh-CN" altLang="zh-CN" sz="1800" dirty="0"/>
              <a:t>，保留</a:t>
            </a:r>
            <a:r>
              <a:rPr lang="en-US" altLang="zh-CN" sz="1800" dirty="0"/>
              <a:t>C2</a:t>
            </a:r>
            <a:r>
              <a:rPr lang="zh-CN" altLang="zh-CN" sz="1800" dirty="0"/>
              <a:t>中满足约束条件的项集得到</a:t>
            </a:r>
            <a:r>
              <a:rPr lang="en-US" altLang="zh-CN" sz="1800" dirty="0"/>
              <a:t>2</a:t>
            </a:r>
            <a:r>
              <a:rPr lang="zh-CN" altLang="zh-CN" sz="1800" dirty="0"/>
              <a:t>项频繁集，记为</a:t>
            </a:r>
            <a:r>
              <a:rPr lang="en-US" altLang="zh-CN" sz="1800" dirty="0"/>
              <a:t>L2</a:t>
            </a:r>
            <a:r>
              <a:rPr lang="zh-CN" altLang="zh-CN" sz="1800" dirty="0"/>
              <a:t>；再由下一步由</a:t>
            </a:r>
            <a:r>
              <a:rPr lang="en-US" altLang="zh-CN" sz="1800" dirty="0"/>
              <a:t>L2</a:t>
            </a:r>
            <a:r>
              <a:rPr lang="zh-CN" altLang="zh-CN" sz="1800" dirty="0"/>
              <a:t>与</a:t>
            </a:r>
            <a:r>
              <a:rPr lang="en-US" altLang="zh-CN" sz="1800" dirty="0"/>
              <a:t>L2</a:t>
            </a:r>
            <a:r>
              <a:rPr lang="zh-CN" altLang="zh-CN" sz="1800" dirty="0"/>
              <a:t>连接产生</a:t>
            </a:r>
            <a:r>
              <a:rPr lang="en-US" altLang="zh-CN" sz="1800" dirty="0"/>
              <a:t>3</a:t>
            </a:r>
            <a:r>
              <a:rPr lang="zh-CN" altLang="zh-CN" sz="1800" dirty="0"/>
              <a:t>项候选集</a:t>
            </a:r>
            <a:r>
              <a:rPr lang="en-US" altLang="zh-CN" sz="1800" dirty="0"/>
              <a:t>C3</a:t>
            </a:r>
            <a:r>
              <a:rPr lang="zh-CN" altLang="zh-CN" sz="1800" dirty="0"/>
              <a:t>，保留</a:t>
            </a:r>
            <a:r>
              <a:rPr lang="en-US" altLang="zh-CN" sz="1800" dirty="0"/>
              <a:t>C2</a:t>
            </a:r>
            <a:r>
              <a:rPr lang="zh-CN" altLang="zh-CN" sz="1800" dirty="0"/>
              <a:t>中满足约束条件的项集得到</a:t>
            </a:r>
            <a:r>
              <a:rPr lang="en-US" altLang="zh-CN" sz="1800" dirty="0"/>
              <a:t>3</a:t>
            </a:r>
            <a:r>
              <a:rPr lang="zh-CN" altLang="zh-CN" sz="1800" dirty="0"/>
              <a:t>项频繁集，基于</a:t>
            </a:r>
            <a:r>
              <a:rPr lang="en-US" altLang="zh-CN" sz="1800" dirty="0"/>
              <a:t>L3</a:t>
            </a:r>
            <a:r>
              <a:rPr lang="zh-CN" altLang="zh-CN" sz="1800" dirty="0"/>
              <a:t>……这样循环下去，得到最大频繁项集</a:t>
            </a:r>
            <a:r>
              <a:rPr lang="en-US" altLang="zh-CN" sz="1800" dirty="0"/>
              <a:t> </a:t>
            </a:r>
            <a:r>
              <a:rPr lang="zh-CN" altLang="zh-CN" sz="1800" dirty="0"/>
              <a:t>。（这里运用到关联规则中的置信度和支持度的计算公式）。</a:t>
            </a:r>
            <a:endParaRPr lang="en-US" altLang="zh-CN" sz="1800" dirty="0"/>
          </a:p>
          <a:p>
            <a:pPr algn="just">
              <a:buNone/>
            </a:pPr>
            <a:r>
              <a:rPr lang="zh-CN" altLang="zh-CN" sz="1800" dirty="0"/>
              <a:t>（</a:t>
            </a:r>
            <a:r>
              <a:rPr lang="en-US" altLang="zh-CN" sz="1800" dirty="0"/>
              <a:t>2</a:t>
            </a:r>
            <a:r>
              <a:rPr lang="zh-CN" altLang="zh-CN" sz="1800" dirty="0"/>
              <a:t>）剪枝步。紧接着连接步，在产生候选项</a:t>
            </a:r>
            <a:r>
              <a:rPr lang="en-US" altLang="zh-CN" sz="1800" dirty="0" smtClean="0"/>
              <a:t>CK</a:t>
            </a:r>
            <a:r>
              <a:rPr lang="zh-CN" altLang="zh-CN" sz="1800" dirty="0" smtClean="0"/>
              <a:t>的</a:t>
            </a:r>
            <a:r>
              <a:rPr lang="zh-CN" altLang="zh-CN" sz="1800" dirty="0"/>
              <a:t>过程中起到减小搜索空间的目的。由于</a:t>
            </a:r>
            <a:r>
              <a:rPr lang="en-US" altLang="zh-CN" sz="1800" dirty="0" smtClean="0"/>
              <a:t>CK</a:t>
            </a:r>
            <a:r>
              <a:rPr lang="zh-CN" altLang="zh-CN" sz="1800" dirty="0" smtClean="0"/>
              <a:t>是</a:t>
            </a:r>
            <a:r>
              <a:rPr lang="en-US" altLang="zh-CN" sz="1800" dirty="0" smtClean="0"/>
              <a:t>L (</a:t>
            </a:r>
            <a:r>
              <a:rPr lang="en-US" altLang="zh-CN" sz="1800" dirty="0"/>
              <a:t>k-1)</a:t>
            </a:r>
            <a:r>
              <a:rPr lang="zh-CN" altLang="zh-CN" sz="1800" dirty="0"/>
              <a:t>与</a:t>
            </a:r>
            <a:r>
              <a:rPr lang="en-US" altLang="zh-CN" sz="1800" dirty="0" smtClean="0"/>
              <a:t>L(k-1</a:t>
            </a:r>
            <a:r>
              <a:rPr lang="en-US" altLang="zh-CN" sz="1800" dirty="0"/>
              <a:t>) </a:t>
            </a:r>
            <a:r>
              <a:rPr lang="zh-CN" altLang="zh-CN" sz="1800" dirty="0"/>
              <a:t>连接产生的，根据</a:t>
            </a:r>
            <a:r>
              <a:rPr lang="en-US" altLang="zh-CN" sz="1800" dirty="0" err="1"/>
              <a:t>Apriori</a:t>
            </a:r>
            <a:r>
              <a:rPr lang="zh-CN" altLang="zh-CN" sz="1800" dirty="0"/>
              <a:t>的性质频繁集的所有频繁项集的所有非空子集也必须是频繁项集，所有不满足该性质的项集不会存在于</a:t>
            </a:r>
            <a:r>
              <a:rPr lang="en-US" altLang="zh-CN" sz="1800" dirty="0" err="1" smtClean="0"/>
              <a:t>Ck</a:t>
            </a:r>
            <a:r>
              <a:rPr lang="en-US" altLang="zh-CN" sz="1800" dirty="0"/>
              <a:t>)</a:t>
            </a:r>
            <a:r>
              <a:rPr lang="zh-CN" altLang="zh-CN" sz="1800" dirty="0"/>
              <a:t>中，该过程就是剪枝。</a:t>
            </a:r>
          </a:p>
          <a:p>
            <a:pPr algn="just">
              <a:buNone/>
            </a:pPr>
            <a:r>
              <a:rPr lang="en-US" altLang="zh-CN" sz="1800" dirty="0"/>
              <a:t>Step3</a:t>
            </a:r>
            <a:r>
              <a:rPr lang="zh-CN" altLang="zh-CN" sz="1800" dirty="0"/>
              <a:t>：由频繁项集产生强关联规则，经过程</a:t>
            </a:r>
            <a:r>
              <a:rPr lang="en-US" altLang="zh-CN" sz="1800" dirty="0"/>
              <a:t>Step2</a:t>
            </a:r>
            <a:r>
              <a:rPr lang="zh-CN" altLang="zh-CN" sz="1800" dirty="0"/>
              <a:t>可知未超过预定的最小支持度阈值的项集已经被剔除，如果剩下这些规则又满足了预定的最小置信度阈值，那么就挖掘出了强关联规则。</a:t>
            </a:r>
            <a:endParaRPr lang="en-US" altLang="zh-CN" sz="1800" dirty="0"/>
          </a:p>
          <a:p>
            <a:pPr algn="just">
              <a:buNone/>
            </a:pPr>
            <a:r>
              <a:rPr lang="zh-CN" altLang="zh-CN" sz="2400" dirty="0" smtClean="0"/>
              <a:t>根据</a:t>
            </a:r>
            <a:r>
              <a:rPr lang="zh-CN" altLang="zh-CN" sz="2400" dirty="0"/>
              <a:t>支持度和置信度两个指标，我们可以准确并稳定地</a:t>
            </a:r>
            <a:r>
              <a:rPr lang="zh-CN" altLang="zh-CN" sz="2400" dirty="0" smtClean="0"/>
              <a:t>衡量</a:t>
            </a:r>
            <a:endParaRPr lang="en-US" altLang="zh-CN" sz="2400" dirty="0" smtClean="0"/>
          </a:p>
          <a:p>
            <a:pPr algn="just">
              <a:buNone/>
            </a:pPr>
            <a:r>
              <a:rPr lang="zh-CN" altLang="zh-CN" sz="2400" dirty="0" smtClean="0"/>
              <a:t>某</a:t>
            </a:r>
            <a:r>
              <a:rPr lang="zh-CN" altLang="zh-CN" sz="2400" dirty="0"/>
              <a:t>条关联规则，也正因此我们需要根据实际情况设定相应</a:t>
            </a:r>
            <a:r>
              <a:rPr lang="zh-CN" altLang="zh-CN" sz="2400" dirty="0" smtClean="0"/>
              <a:t>的</a:t>
            </a:r>
            <a:endParaRPr lang="en-US" altLang="zh-CN" sz="2400" dirty="0" smtClean="0"/>
          </a:p>
          <a:p>
            <a:pPr algn="just">
              <a:buNone/>
            </a:pPr>
            <a:r>
              <a:rPr lang="zh-CN" altLang="zh-CN" sz="2400" dirty="0" smtClean="0"/>
              <a:t>最小</a:t>
            </a:r>
            <a:r>
              <a:rPr lang="zh-CN" altLang="zh-CN" sz="2400" dirty="0"/>
              <a:t>支持度和最小置信度，就可以筛选出符合我们要求的</a:t>
            </a:r>
            <a:r>
              <a:rPr lang="zh-CN" altLang="zh-CN" sz="2400" dirty="0" smtClean="0"/>
              <a:t>关</a:t>
            </a:r>
            <a:endParaRPr lang="en-US" altLang="zh-CN" sz="2400" dirty="0" smtClean="0"/>
          </a:p>
          <a:p>
            <a:pPr algn="just">
              <a:buNone/>
            </a:pPr>
            <a:r>
              <a:rPr lang="zh-CN" altLang="zh-CN" sz="2400" dirty="0" smtClean="0"/>
              <a:t>联</a:t>
            </a:r>
            <a:r>
              <a:rPr lang="zh-CN" altLang="zh-CN" sz="2400" dirty="0"/>
              <a:t>规则。</a:t>
            </a:r>
          </a:p>
        </p:txBody>
      </p:sp>
    </p:spTree>
    <p:extLst>
      <p:ext uri="{BB962C8B-B14F-4D97-AF65-F5344CB8AC3E}">
        <p14:creationId xmlns:p14="http://schemas.microsoft.com/office/powerpoint/2010/main" val="2786097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3886200"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关联</a:t>
              </a:r>
              <a:r>
                <a:rPr lang="zh-CN" altLang="en-US" sz="24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规则挖掘基础</a:t>
              </a: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知识</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Content Placeholder 2">
            <a:extLst>
              <a:ext uri="{FF2B5EF4-FFF2-40B4-BE49-F238E27FC236}">
                <a16:creationId xmlns:a16="http://schemas.microsoft.com/office/drawing/2014/main" id="{962A3225-FA42-43B0-B453-A65EABC65821}"/>
              </a:ext>
            </a:extLst>
          </p:cNvPr>
          <p:cNvSpPr txBox="1">
            <a:spLocks/>
          </p:cNvSpPr>
          <p:nvPr/>
        </p:nvSpPr>
        <p:spPr>
          <a:xfrm>
            <a:off x="152400" y="914400"/>
            <a:ext cx="8410381" cy="5715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000" dirty="0" err="1" smtClean="0"/>
              <a:t>Apriori</a:t>
            </a:r>
            <a:r>
              <a:rPr lang="zh-CN" altLang="zh-CN" sz="2000" dirty="0"/>
              <a:t>算法</a:t>
            </a:r>
            <a:r>
              <a:rPr lang="zh-CN" altLang="zh-CN" sz="2000" dirty="0" smtClean="0"/>
              <a:t>的执行</a:t>
            </a:r>
            <a:r>
              <a:rPr lang="zh-CN" altLang="zh-CN" sz="2000" dirty="0"/>
              <a:t>步骤如下：</a:t>
            </a:r>
          </a:p>
          <a:p>
            <a:pPr>
              <a:buNone/>
            </a:pPr>
            <a:r>
              <a:rPr lang="en-US" altLang="zh-CN" sz="1800" dirty="0"/>
              <a:t>Step1</a:t>
            </a:r>
            <a:r>
              <a:rPr lang="zh-CN" altLang="zh-CN" sz="1800" dirty="0"/>
              <a:t>：扫描数据集，对每个候选计数，并设置最小支持度为</a:t>
            </a:r>
            <a:r>
              <a:rPr lang="en-US" altLang="zh-CN" sz="1800" dirty="0"/>
              <a:t>2</a:t>
            </a:r>
            <a:r>
              <a:rPr lang="zh-CN" altLang="zh-CN" sz="1800" dirty="0"/>
              <a:t>，</a:t>
            </a:r>
            <a:endParaRPr lang="en-US" altLang="zh-CN" sz="1800" dirty="0"/>
          </a:p>
          <a:p>
            <a:pPr>
              <a:buNone/>
            </a:pPr>
            <a:r>
              <a:rPr lang="zh-CN" altLang="zh-CN" sz="1800" dirty="0"/>
              <a:t>得到候选</a:t>
            </a:r>
            <a:r>
              <a:rPr lang="en-US" altLang="zh-CN" sz="1800" dirty="0"/>
              <a:t>1</a:t>
            </a:r>
            <a:r>
              <a:rPr lang="zh-CN" altLang="zh-CN" sz="1800" dirty="0"/>
              <a:t>项集</a:t>
            </a:r>
            <a:r>
              <a:rPr lang="en-US" altLang="zh-CN" sz="1800" dirty="0"/>
              <a:t>C1</a:t>
            </a:r>
            <a:r>
              <a:rPr lang="zh-CN" altLang="zh-CN" sz="1800" dirty="0"/>
              <a:t>和频繁</a:t>
            </a:r>
            <a:r>
              <a:rPr lang="en-US" altLang="zh-CN" sz="1800" dirty="0"/>
              <a:t>1</a:t>
            </a:r>
            <a:r>
              <a:rPr lang="zh-CN" altLang="zh-CN" sz="1800" dirty="0"/>
              <a:t>项集</a:t>
            </a:r>
            <a:r>
              <a:rPr lang="en-US" altLang="zh-CN" sz="1800" dirty="0"/>
              <a:t>L1</a:t>
            </a:r>
            <a:r>
              <a:rPr lang="zh-CN" altLang="zh-CN" sz="1800" dirty="0"/>
              <a:t>；</a:t>
            </a:r>
          </a:p>
          <a:p>
            <a:pPr>
              <a:buNone/>
            </a:pPr>
            <a:r>
              <a:rPr lang="en-US" altLang="zh-CN" sz="1800" dirty="0"/>
              <a:t>Step2</a:t>
            </a:r>
            <a:r>
              <a:rPr lang="zh-CN" altLang="zh-CN" sz="1800" dirty="0"/>
              <a:t>：由</a:t>
            </a:r>
            <a:r>
              <a:rPr lang="en-US" altLang="zh-CN" sz="1800" dirty="0"/>
              <a:t>L1</a:t>
            </a:r>
            <a:r>
              <a:rPr lang="zh-CN" altLang="zh-CN" sz="1800" dirty="0"/>
              <a:t>与</a:t>
            </a:r>
            <a:r>
              <a:rPr lang="en-US" altLang="zh-CN" sz="1800" dirty="0"/>
              <a:t>L1</a:t>
            </a:r>
            <a:r>
              <a:rPr lang="zh-CN" altLang="zh-CN" sz="1800" dirty="0"/>
              <a:t>连接，得到候选</a:t>
            </a:r>
            <a:r>
              <a:rPr lang="en-US" altLang="zh-CN" sz="1800" dirty="0"/>
              <a:t>2</a:t>
            </a:r>
            <a:r>
              <a:rPr lang="zh-CN" altLang="zh-CN" sz="1800" dirty="0"/>
              <a:t>项集</a:t>
            </a:r>
            <a:r>
              <a:rPr lang="en-US" altLang="zh-CN" sz="1800" dirty="0"/>
              <a:t>C2</a:t>
            </a:r>
            <a:r>
              <a:rPr lang="zh-CN" altLang="zh-CN" sz="1800" dirty="0"/>
              <a:t>和频繁</a:t>
            </a:r>
            <a:r>
              <a:rPr lang="en-US" altLang="zh-CN" sz="1800" dirty="0"/>
              <a:t>2</a:t>
            </a:r>
            <a:r>
              <a:rPr lang="zh-CN" altLang="zh-CN" sz="1800" dirty="0"/>
              <a:t>项集</a:t>
            </a:r>
            <a:r>
              <a:rPr lang="en-US" altLang="zh-CN" sz="1800" dirty="0"/>
              <a:t>L2</a:t>
            </a:r>
            <a:endParaRPr lang="zh-CN" altLang="zh-CN" sz="1800" dirty="0"/>
          </a:p>
          <a:p>
            <a:pPr>
              <a:buNone/>
            </a:pPr>
            <a:r>
              <a:rPr lang="en-US" altLang="zh-CN" sz="1800" dirty="0"/>
              <a:t>Step3</a:t>
            </a:r>
            <a:r>
              <a:rPr lang="zh-CN" altLang="zh-CN" sz="1800" dirty="0"/>
              <a:t>：由</a:t>
            </a:r>
            <a:r>
              <a:rPr lang="en-US" altLang="zh-CN" sz="1800" dirty="0"/>
              <a:t>L2</a:t>
            </a:r>
            <a:r>
              <a:rPr lang="zh-CN" altLang="zh-CN" sz="1800" dirty="0"/>
              <a:t>与</a:t>
            </a:r>
            <a:r>
              <a:rPr lang="en-US" altLang="zh-CN" sz="1800" dirty="0"/>
              <a:t>L2</a:t>
            </a:r>
            <a:r>
              <a:rPr lang="zh-CN" altLang="zh-CN" sz="1800" dirty="0"/>
              <a:t>连接，得到候选</a:t>
            </a:r>
            <a:r>
              <a:rPr lang="en-US" altLang="zh-CN" sz="1800" dirty="0"/>
              <a:t>3</a:t>
            </a:r>
            <a:r>
              <a:rPr lang="zh-CN" altLang="zh-CN" sz="1800" dirty="0"/>
              <a:t>项集</a:t>
            </a:r>
            <a:r>
              <a:rPr lang="en-US" altLang="zh-CN" sz="1800" dirty="0"/>
              <a:t>C3</a:t>
            </a:r>
            <a:r>
              <a:rPr lang="zh-CN" altLang="zh-CN" sz="1800" dirty="0"/>
              <a:t>和频繁</a:t>
            </a:r>
            <a:r>
              <a:rPr lang="en-US" altLang="zh-CN" sz="1800" dirty="0"/>
              <a:t>3</a:t>
            </a:r>
            <a:r>
              <a:rPr lang="zh-CN" altLang="zh-CN" sz="1800" dirty="0"/>
              <a:t>项集</a:t>
            </a:r>
            <a:r>
              <a:rPr lang="en-US" altLang="zh-CN" sz="1800" dirty="0"/>
              <a:t>L3</a:t>
            </a:r>
            <a:r>
              <a:rPr lang="zh-CN" altLang="zh-CN" sz="1800" dirty="0"/>
              <a:t>，</a:t>
            </a:r>
            <a:endParaRPr lang="en-US" altLang="zh-CN" sz="1800" dirty="0"/>
          </a:p>
          <a:p>
            <a:pPr>
              <a:buNone/>
            </a:pPr>
            <a:r>
              <a:rPr lang="zh-CN" altLang="zh-CN" sz="1800" dirty="0"/>
              <a:t>这里</a:t>
            </a:r>
            <a:r>
              <a:rPr lang="en-US" altLang="zh-CN" sz="1800" dirty="0"/>
              <a:t>L3</a:t>
            </a:r>
            <a:r>
              <a:rPr lang="zh-CN" altLang="zh-CN" sz="1800" dirty="0"/>
              <a:t>为空集，算法终止。</a:t>
            </a:r>
          </a:p>
          <a:p>
            <a:pPr>
              <a:buNone/>
            </a:pPr>
            <a:r>
              <a:rPr lang="zh-CN" altLang="zh-CN" sz="2000" dirty="0"/>
              <a:t>其中候选项集和频繁项集的产生过程如</a:t>
            </a:r>
            <a:r>
              <a:rPr lang="zh-CN" altLang="zh-CN" sz="2000" dirty="0" smtClean="0"/>
              <a:t>图所</a:t>
            </a:r>
            <a:r>
              <a:rPr lang="zh-CN" altLang="zh-CN" sz="2000" dirty="0"/>
              <a:t>示。</a:t>
            </a:r>
          </a:p>
        </p:txBody>
      </p:sp>
      <p:pic>
        <p:nvPicPr>
          <p:cNvPr id="7" name="图片 6"/>
          <p:cNvPicPr/>
          <p:nvPr/>
        </p:nvPicPr>
        <p:blipFill>
          <a:blip r:embed="rId2" cstate="print">
            <a:extLst>
              <a:ext uri="{28A0092B-C50C-407E-A947-70E740481C1C}">
                <a14:useLocalDpi xmlns:a14="http://schemas.microsoft.com/office/drawing/2010/main" val="0"/>
              </a:ext>
            </a:extLst>
          </a:blip>
          <a:stretch>
            <a:fillRect/>
          </a:stretch>
        </p:blipFill>
        <p:spPr>
          <a:xfrm>
            <a:off x="7715250" y="855917"/>
            <a:ext cx="1428750" cy="2289810"/>
          </a:xfrm>
          <a:prstGeom prst="rect">
            <a:avLst/>
          </a:prstGeom>
        </p:spPr>
      </p:pic>
      <p:pic>
        <p:nvPicPr>
          <p:cNvPr id="8" name="图片 7"/>
          <p:cNvPicPr/>
          <p:nvPr/>
        </p:nvPicPr>
        <p:blipFill>
          <a:blip r:embed="rId3" cstate="print">
            <a:extLst>
              <a:ext uri="{28A0092B-C50C-407E-A947-70E740481C1C}">
                <a14:useLocalDpi xmlns:a14="http://schemas.microsoft.com/office/drawing/2010/main" val="0"/>
              </a:ext>
            </a:extLst>
          </a:blip>
          <a:stretch>
            <a:fillRect/>
          </a:stretch>
        </p:blipFill>
        <p:spPr>
          <a:xfrm>
            <a:off x="7717790" y="3278123"/>
            <a:ext cx="1426210" cy="2082800"/>
          </a:xfrm>
          <a:prstGeom prst="rect">
            <a:avLst/>
          </a:prstGeom>
        </p:spPr>
      </p:pic>
      <p:pic>
        <p:nvPicPr>
          <p:cNvPr id="9" name="图片 8"/>
          <p:cNvPicPr/>
          <p:nvPr/>
        </p:nvPicPr>
        <p:blipFill>
          <a:blip r:embed="rId4" cstate="print">
            <a:extLst>
              <a:ext uri="{28A0092B-C50C-407E-A947-70E740481C1C}">
                <a14:useLocalDpi xmlns:a14="http://schemas.microsoft.com/office/drawing/2010/main" val="0"/>
              </a:ext>
            </a:extLst>
          </a:blip>
          <a:stretch>
            <a:fillRect/>
          </a:stretch>
        </p:blipFill>
        <p:spPr>
          <a:xfrm>
            <a:off x="5791200" y="1561146"/>
            <a:ext cx="1640840" cy="5168265"/>
          </a:xfrm>
          <a:prstGeom prst="rect">
            <a:avLst/>
          </a:prstGeom>
        </p:spPr>
      </p:pic>
      <p:pic>
        <p:nvPicPr>
          <p:cNvPr id="11" name="图片 10"/>
          <p:cNvPicPr/>
          <p:nvPr/>
        </p:nvPicPr>
        <p:blipFill>
          <a:blip r:embed="rId5" cstate="print">
            <a:extLst>
              <a:ext uri="{28A0092B-C50C-407E-A947-70E740481C1C}">
                <a14:useLocalDpi xmlns:a14="http://schemas.microsoft.com/office/drawing/2010/main" val="0"/>
              </a:ext>
            </a:extLst>
          </a:blip>
          <a:stretch>
            <a:fillRect/>
          </a:stretch>
        </p:blipFill>
        <p:spPr>
          <a:xfrm>
            <a:off x="3994785" y="3839051"/>
            <a:ext cx="1653540" cy="1893570"/>
          </a:xfrm>
          <a:prstGeom prst="rect">
            <a:avLst/>
          </a:prstGeom>
        </p:spPr>
      </p:pic>
      <p:pic>
        <p:nvPicPr>
          <p:cNvPr id="12" name="图片 11"/>
          <p:cNvPicPr/>
          <p:nvPr/>
        </p:nvPicPr>
        <p:blipFill>
          <a:blip r:embed="rId6" cstate="print">
            <a:extLst>
              <a:ext uri="{28A0092B-C50C-407E-A947-70E740481C1C}">
                <a14:useLocalDpi xmlns:a14="http://schemas.microsoft.com/office/drawing/2010/main" val="0"/>
              </a:ext>
            </a:extLst>
          </a:blip>
          <a:stretch>
            <a:fillRect/>
          </a:stretch>
        </p:blipFill>
        <p:spPr>
          <a:xfrm>
            <a:off x="1476160" y="3839051"/>
            <a:ext cx="2087880" cy="1868170"/>
          </a:xfrm>
          <a:prstGeom prst="rect">
            <a:avLst/>
          </a:prstGeom>
        </p:spPr>
      </p:pic>
    </p:spTree>
    <p:extLst>
      <p:ext uri="{BB962C8B-B14F-4D97-AF65-F5344CB8AC3E}">
        <p14:creationId xmlns:p14="http://schemas.microsoft.com/office/powerpoint/2010/main" val="32287791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1D68704-A6DA-44EF-9BEB-64999AF2FFAA}"/>
              </a:ext>
            </a:extLst>
          </p:cNvPr>
          <p:cNvCxnSpPr/>
          <p:nvPr/>
        </p:nvCxnSpPr>
        <p:spPr>
          <a:xfrm>
            <a:off x="0" y="814388"/>
            <a:ext cx="9144000" cy="0"/>
          </a:xfrm>
          <a:prstGeom prst="line">
            <a:avLst/>
          </a:prstGeom>
          <a:ln w="25400">
            <a:solidFill>
              <a:srgbClr val="024C89"/>
            </a:solidFill>
          </a:ln>
        </p:spPr>
        <p:style>
          <a:lnRef idx="1">
            <a:schemeClr val="accent1"/>
          </a:lnRef>
          <a:fillRef idx="0">
            <a:schemeClr val="accent1"/>
          </a:fillRef>
          <a:effectRef idx="0">
            <a:schemeClr val="accent1"/>
          </a:effectRef>
          <a:fontRef idx="minor">
            <a:schemeClr val="tx1"/>
          </a:fontRef>
        </p:style>
      </p:cxnSp>
      <p:grpSp>
        <p:nvGrpSpPr>
          <p:cNvPr id="3" name="组合 46">
            <a:extLst>
              <a:ext uri="{FF2B5EF4-FFF2-40B4-BE49-F238E27FC236}">
                <a16:creationId xmlns:a16="http://schemas.microsoft.com/office/drawing/2014/main" id="{CF6470C6-EB62-4281-9DFA-018A1AF3896C}"/>
              </a:ext>
            </a:extLst>
          </p:cNvPr>
          <p:cNvGrpSpPr>
            <a:grpSpLocks/>
          </p:cNvGrpSpPr>
          <p:nvPr/>
        </p:nvGrpSpPr>
        <p:grpSpPr bwMode="auto">
          <a:xfrm>
            <a:off x="0" y="284163"/>
            <a:ext cx="3886200" cy="530225"/>
            <a:chOff x="2292213" y="284389"/>
            <a:chExt cx="2077974" cy="529772"/>
          </a:xfrm>
          <a:solidFill>
            <a:srgbClr val="024C89"/>
          </a:solidFill>
        </p:grpSpPr>
        <p:sp>
          <p:nvSpPr>
            <p:cNvPr id="4" name="矩形 3">
              <a:extLst>
                <a:ext uri="{FF2B5EF4-FFF2-40B4-BE49-F238E27FC236}">
                  <a16:creationId xmlns:a16="http://schemas.microsoft.com/office/drawing/2014/main" id="{A2EE65B8-A1F5-4108-A706-172FC38DE354}"/>
                </a:ext>
              </a:extLst>
            </p:cNvPr>
            <p:cNvSpPr/>
            <p:nvPr/>
          </p:nvSpPr>
          <p:spPr>
            <a:xfrm>
              <a:off x="2292213" y="284389"/>
              <a:ext cx="1905713"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关联</a:t>
              </a:r>
              <a:r>
                <a:rPr lang="zh-CN" altLang="en-US" sz="24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规则挖掘基础</a:t>
              </a: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知识</a:t>
              </a:r>
            </a:p>
          </p:txBody>
        </p:sp>
        <p:sp>
          <p:nvSpPr>
            <p:cNvPr id="5" name="矩形 4">
              <a:extLst>
                <a:ext uri="{FF2B5EF4-FFF2-40B4-BE49-F238E27FC236}">
                  <a16:creationId xmlns:a16="http://schemas.microsoft.com/office/drawing/2014/main" id="{55D7F3D4-4205-4D1D-90FD-8A67ACAE7A2C}"/>
                </a:ext>
              </a:extLst>
            </p:cNvPr>
            <p:cNvSpPr/>
            <p:nvPr/>
          </p:nvSpPr>
          <p:spPr>
            <a:xfrm>
              <a:off x="4255887" y="284389"/>
              <a:ext cx="114300" cy="529772"/>
            </a:xfrm>
            <a:prstGeom prst="rect">
              <a:avLst/>
            </a:prstGeom>
            <a:grpFill/>
            <a:ln>
              <a:solidFill>
                <a:srgbClr val="024C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Content Placeholder 2">
            <a:extLst>
              <a:ext uri="{FF2B5EF4-FFF2-40B4-BE49-F238E27FC236}">
                <a16:creationId xmlns:a16="http://schemas.microsoft.com/office/drawing/2014/main" id="{962A3225-FA42-43B0-B453-A65EABC65821}"/>
              </a:ext>
            </a:extLst>
          </p:cNvPr>
          <p:cNvSpPr txBox="1">
            <a:spLocks/>
          </p:cNvSpPr>
          <p:nvPr/>
        </p:nvSpPr>
        <p:spPr>
          <a:xfrm>
            <a:off x="152400" y="914400"/>
            <a:ext cx="8410381" cy="5715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altLang="zh-CN" sz="2000" b="1" dirty="0"/>
              <a:t>2.</a:t>
            </a:r>
            <a:r>
              <a:rPr lang="zh-CN" altLang="zh-CN" sz="2000" b="1" dirty="0"/>
              <a:t>基于频繁项集产生关联规则</a:t>
            </a:r>
            <a:endParaRPr lang="en-US" altLang="zh-CN" sz="2000" b="1" dirty="0"/>
          </a:p>
          <a:p>
            <a:pPr>
              <a:buNone/>
            </a:pPr>
            <a:r>
              <a:rPr lang="zh-CN" altLang="zh-CN" sz="2000" dirty="0"/>
              <a:t>由关联规则置信度的计算公式：</a:t>
            </a:r>
            <a:endParaRPr lang="en-US" altLang="zh-CN" sz="2000" dirty="0"/>
          </a:p>
          <a:p>
            <a:pPr>
              <a:buNone/>
            </a:pPr>
            <a:endParaRPr lang="en-US" altLang="zh-CN" sz="2000" dirty="0"/>
          </a:p>
          <a:p>
            <a:pPr>
              <a:buNone/>
            </a:pPr>
            <a:endParaRPr lang="en-US" altLang="zh-CN" sz="2000" dirty="0"/>
          </a:p>
          <a:p>
            <a:pPr>
              <a:buNone/>
            </a:pPr>
            <a:r>
              <a:rPr lang="zh-CN" altLang="zh-CN" sz="2000" dirty="0"/>
              <a:t>可以利用其支持度计数来计算关联规则的置信度，比如由图的</a:t>
            </a:r>
            <a:r>
              <a:rPr lang="en-US" altLang="zh-CN" sz="2000" dirty="0"/>
              <a:t>1</a:t>
            </a:r>
            <a:r>
              <a:rPr lang="zh-CN" altLang="zh-CN" sz="2000" dirty="0"/>
              <a:t>频繁</a:t>
            </a:r>
            <a:r>
              <a:rPr lang="zh-CN" altLang="zh-CN" sz="2000" dirty="0" smtClean="0"/>
              <a:t>项集</a:t>
            </a:r>
            <a:endParaRPr lang="en-US" altLang="zh-CN" sz="2000" dirty="0" smtClean="0"/>
          </a:p>
          <a:p>
            <a:pPr>
              <a:buNone/>
            </a:pPr>
            <a:r>
              <a:rPr lang="en-US" altLang="zh-CN" sz="2000" dirty="0" smtClean="0"/>
              <a:t>L1</a:t>
            </a:r>
            <a:r>
              <a:rPr lang="zh-CN" altLang="zh-CN" sz="2000" dirty="0"/>
              <a:t>和</a:t>
            </a:r>
            <a:r>
              <a:rPr lang="en-US" altLang="zh-CN" sz="2000" dirty="0"/>
              <a:t>2</a:t>
            </a:r>
            <a:r>
              <a:rPr lang="zh-CN" altLang="zh-CN" sz="2000" dirty="0"/>
              <a:t>频繁项集</a:t>
            </a:r>
            <a:r>
              <a:rPr lang="en-US" altLang="zh-CN" sz="2000" dirty="0"/>
              <a:t>L2</a:t>
            </a:r>
            <a:r>
              <a:rPr lang="zh-CN" altLang="zh-CN" sz="2000" dirty="0"/>
              <a:t>可以获得以下关联规则的置信度：</a:t>
            </a:r>
          </a:p>
          <a:p>
            <a:pPr>
              <a:buNone/>
            </a:pPr>
            <a:r>
              <a:rPr lang="zh-CN" altLang="zh-CN" sz="2000" dirty="0"/>
              <a:t>排骨</a:t>
            </a:r>
            <a:r>
              <a:rPr lang="en-US" altLang="zh-CN" sz="2000" dirty="0"/>
              <a:t>—&gt;</a:t>
            </a:r>
            <a:r>
              <a:rPr lang="zh-CN" altLang="zh-CN" sz="2000" dirty="0"/>
              <a:t>茄子</a:t>
            </a:r>
            <a:r>
              <a:rPr lang="en-US" altLang="zh-CN" sz="2000" dirty="0"/>
              <a:t>        confidence=2/5</a:t>
            </a:r>
            <a:endParaRPr lang="zh-CN" altLang="zh-CN" sz="2000" dirty="0"/>
          </a:p>
          <a:p>
            <a:pPr>
              <a:buNone/>
            </a:pPr>
            <a:r>
              <a:rPr lang="zh-CN" altLang="zh-CN" sz="2000" dirty="0"/>
              <a:t>排骨</a:t>
            </a:r>
            <a:r>
              <a:rPr lang="en-US" altLang="zh-CN" sz="2000" dirty="0"/>
              <a:t>—&gt;</a:t>
            </a:r>
            <a:r>
              <a:rPr lang="zh-CN" altLang="zh-CN" sz="2000" dirty="0"/>
              <a:t>西红柿</a:t>
            </a:r>
            <a:r>
              <a:rPr lang="en-US" altLang="zh-CN" sz="2000" dirty="0"/>
              <a:t>      confidence=4/5</a:t>
            </a:r>
            <a:endParaRPr lang="zh-CN" altLang="zh-CN" sz="2000" dirty="0"/>
          </a:p>
          <a:p>
            <a:pPr>
              <a:buNone/>
            </a:pPr>
            <a:r>
              <a:rPr lang="zh-CN" altLang="zh-CN" sz="2000" dirty="0"/>
              <a:t>排骨</a:t>
            </a:r>
            <a:r>
              <a:rPr lang="en-US" altLang="zh-CN" sz="2000" dirty="0"/>
              <a:t>—&gt;</a:t>
            </a:r>
            <a:r>
              <a:rPr lang="zh-CN" altLang="zh-CN" sz="2000" dirty="0"/>
              <a:t>鸡蛋</a:t>
            </a:r>
            <a:r>
              <a:rPr lang="en-US" altLang="zh-CN" sz="2000" dirty="0"/>
              <a:t>        confidence=2/5</a:t>
            </a:r>
            <a:endParaRPr lang="zh-CN" altLang="zh-CN" sz="2000" dirty="0"/>
          </a:p>
          <a:p>
            <a:pPr>
              <a:buNone/>
            </a:pPr>
            <a:r>
              <a:rPr lang="zh-CN" altLang="zh-CN" sz="2000" dirty="0"/>
              <a:t>茄子</a:t>
            </a:r>
            <a:r>
              <a:rPr lang="en-US" altLang="zh-CN" sz="2000" dirty="0"/>
              <a:t>—&gt;</a:t>
            </a:r>
            <a:r>
              <a:rPr lang="zh-CN" altLang="zh-CN" sz="2000" dirty="0"/>
              <a:t>西红柿</a:t>
            </a:r>
            <a:r>
              <a:rPr lang="en-US" altLang="zh-CN" sz="2000" dirty="0"/>
              <a:t>      confidence=2/4</a:t>
            </a:r>
            <a:endParaRPr lang="zh-CN" altLang="zh-CN" sz="2000" dirty="0"/>
          </a:p>
          <a:p>
            <a:pPr>
              <a:buNone/>
            </a:pPr>
            <a:r>
              <a:rPr lang="zh-CN" altLang="zh-CN" sz="2000" dirty="0"/>
              <a:t>茄子</a:t>
            </a:r>
            <a:r>
              <a:rPr lang="en-US" altLang="zh-CN" sz="2000" dirty="0"/>
              <a:t>—&gt;</a:t>
            </a:r>
            <a:r>
              <a:rPr lang="zh-CN" altLang="zh-CN" sz="2000" dirty="0"/>
              <a:t>鸡蛋</a:t>
            </a:r>
            <a:r>
              <a:rPr lang="en-US" altLang="zh-CN" sz="2000" dirty="0"/>
              <a:t>        confidence=2/4</a:t>
            </a:r>
            <a:endParaRPr lang="zh-CN" altLang="zh-CN" sz="2000" dirty="0"/>
          </a:p>
          <a:p>
            <a:pPr>
              <a:buNone/>
            </a:pPr>
            <a:r>
              <a:rPr lang="zh-CN" altLang="zh-CN" sz="2000" dirty="0"/>
              <a:t>袜子</a:t>
            </a:r>
            <a:r>
              <a:rPr lang="en-US" altLang="zh-CN" sz="2000" dirty="0"/>
              <a:t>—&gt;</a:t>
            </a:r>
            <a:r>
              <a:rPr lang="zh-CN" altLang="zh-CN" sz="2000" dirty="0"/>
              <a:t>鸡蛋</a:t>
            </a:r>
            <a:r>
              <a:rPr lang="en-US" altLang="zh-CN" sz="2000" dirty="0"/>
              <a:t>        confidence=2/3</a:t>
            </a:r>
            <a:endParaRPr lang="zh-CN" altLang="zh-CN" sz="2000" dirty="0"/>
          </a:p>
        </p:txBody>
      </p:sp>
      <p:pic>
        <p:nvPicPr>
          <p:cNvPr id="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752600"/>
            <a:ext cx="6018020" cy="527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9727135"/>
      </p:ext>
    </p:extLst>
  </p:cSld>
  <p:clrMapOvr>
    <a:masterClrMapping/>
  </p:clrMapOvr>
</p:sld>
</file>

<file path=ppt/theme/theme1.xml><?xml version="1.0" encoding="utf-8"?>
<a:theme xmlns:a="http://schemas.openxmlformats.org/drawingml/2006/main" name="大数据时代的思考">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a:style>
    </a:spDef>
  </a:objectDefaults>
  <a:extraClrSchemeLst/>
</a:theme>
</file>

<file path=ppt/theme/theme2.xml><?xml version="1.0" encoding="utf-8"?>
<a:theme xmlns:a="http://schemas.openxmlformats.org/drawingml/2006/main" name="通用信息 (标准)">
  <a:themeElements>
    <a:clrScheme name="通用信息 (标准) 1">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FFCC"/>
      </a:folHlink>
    </a:clrScheme>
    <a:fontScheme name="通用信息 (标准)">
      <a:majorFont>
        <a:latin typeface="Arial Narrow"/>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tabLst/>
          <a:defRPr kumimoji="1" lang="zh-CN" altLang="en-US" sz="3000" b="1" i="0" u="none" strike="noStrike" cap="none" normalizeH="0" baseline="0" smtClean="0">
            <a:ln>
              <a:noFill/>
            </a:ln>
            <a:solidFill>
              <a:schemeClr val="bg2"/>
            </a:solidFill>
            <a:effectLst/>
            <a:latin typeface="Times New Roman" pitchFamily="18" charset="0"/>
            <a:ea typeface="华文新魏"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tabLst/>
          <a:defRPr kumimoji="1" lang="zh-CN" altLang="en-US" sz="3000" b="1" i="0" u="none" strike="noStrike" cap="none" normalizeH="0" baseline="0" smtClean="0">
            <a:ln>
              <a:noFill/>
            </a:ln>
            <a:solidFill>
              <a:schemeClr val="bg2"/>
            </a:solidFill>
            <a:effectLst/>
            <a:latin typeface="Times New Roman" pitchFamily="18" charset="0"/>
            <a:ea typeface="华文新魏" pitchFamily="2" charset="-122"/>
          </a:defRPr>
        </a:defPPr>
      </a:lstStyle>
    </a:lnDef>
  </a:objectDefaults>
  <a:extraClrSchemeLst>
    <a:extraClrScheme>
      <a:clrScheme name="通用信息 (标准) 1">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FFCC"/>
        </a:folHlink>
      </a:clrScheme>
      <a:clrMap bg1="lt1" tx1="dk1" bg2="lt2" tx2="dk2" accent1="accent1" accent2="accent2" accent3="accent3" accent4="accent4" accent5="accent5" accent6="accent6" hlink="hlink" folHlink="folHlink"/>
    </a:extraClrScheme>
    <a:extraClrScheme>
      <a:clrScheme name="通用信息 (标准) 2">
        <a:dk1>
          <a:srgbClr val="800000"/>
        </a:dk1>
        <a:lt1>
          <a:srgbClr val="FFFFFF"/>
        </a:lt1>
        <a:dk2>
          <a:srgbClr val="000000"/>
        </a:dk2>
        <a:lt2>
          <a:srgbClr val="FFFFCC"/>
        </a:lt2>
        <a:accent1>
          <a:srgbClr val="000000"/>
        </a:accent1>
        <a:accent2>
          <a:srgbClr val="000099"/>
        </a:accent2>
        <a:accent3>
          <a:srgbClr val="AAAAAA"/>
        </a:accent3>
        <a:accent4>
          <a:srgbClr val="DADADA"/>
        </a:accent4>
        <a:accent5>
          <a:srgbClr val="AAAAAA"/>
        </a:accent5>
        <a:accent6>
          <a:srgbClr val="00008A"/>
        </a:accent6>
        <a:hlink>
          <a:srgbClr val="800000"/>
        </a:hlink>
        <a:folHlink>
          <a:srgbClr val="000000"/>
        </a:folHlink>
      </a:clrScheme>
      <a:clrMap bg1="dk2" tx1="lt1" bg2="dk1" tx2="lt2" accent1="accent1" accent2="accent2" accent3="accent3" accent4="accent4" accent5="accent5" accent6="accent6" hlink="hlink" folHlink="folHlink"/>
    </a:extraClrScheme>
    <a:extraClrScheme>
      <a:clrScheme name="通用信息 (标准) 3">
        <a:dk1>
          <a:srgbClr val="000000"/>
        </a:dk1>
        <a:lt1>
          <a:srgbClr val="FFFFFF"/>
        </a:lt1>
        <a:dk2>
          <a:srgbClr val="000000"/>
        </a:dk2>
        <a:lt2>
          <a:srgbClr val="CBCBCB"/>
        </a:lt2>
        <a:accent1>
          <a:srgbClr val="C0C0C0"/>
        </a:accent1>
        <a:accent2>
          <a:srgbClr val="DDDDDD"/>
        </a:accent2>
        <a:accent3>
          <a:srgbClr val="FFFFFF"/>
        </a:accent3>
        <a:accent4>
          <a:srgbClr val="000000"/>
        </a:accent4>
        <a:accent5>
          <a:srgbClr val="DCDCDC"/>
        </a:accent5>
        <a:accent6>
          <a:srgbClr val="C8C8C8"/>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通用信息 (标准)">
  <a:themeElements>
    <a:clrScheme name="通用信息 (标准) 1">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FFCC"/>
      </a:folHlink>
    </a:clrScheme>
    <a:fontScheme name="通用信息 (标准)">
      <a:majorFont>
        <a:latin typeface="Arial Narrow"/>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tabLst/>
          <a:defRPr kumimoji="1" lang="zh-CN" altLang="en-US" sz="3000" b="1" i="0" u="none" strike="noStrike" cap="none" normalizeH="0" baseline="0" smtClean="0">
            <a:ln>
              <a:noFill/>
            </a:ln>
            <a:solidFill>
              <a:schemeClr val="bg2"/>
            </a:solidFill>
            <a:effectLst/>
            <a:latin typeface="Times New Roman" pitchFamily="18" charset="0"/>
            <a:ea typeface="华文新魏"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tabLst/>
          <a:defRPr kumimoji="1" lang="zh-CN" altLang="en-US" sz="3000" b="1" i="0" u="none" strike="noStrike" cap="none" normalizeH="0" baseline="0" smtClean="0">
            <a:ln>
              <a:noFill/>
            </a:ln>
            <a:solidFill>
              <a:schemeClr val="bg2"/>
            </a:solidFill>
            <a:effectLst/>
            <a:latin typeface="Times New Roman" pitchFamily="18" charset="0"/>
            <a:ea typeface="华文新魏" pitchFamily="2" charset="-122"/>
          </a:defRPr>
        </a:defPPr>
      </a:lstStyle>
    </a:lnDef>
  </a:objectDefaults>
  <a:extraClrSchemeLst>
    <a:extraClrScheme>
      <a:clrScheme name="通用信息 (标准) 1">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FFCC"/>
        </a:folHlink>
      </a:clrScheme>
      <a:clrMap bg1="lt1" tx1="dk1" bg2="lt2" tx2="dk2" accent1="accent1" accent2="accent2" accent3="accent3" accent4="accent4" accent5="accent5" accent6="accent6" hlink="hlink" folHlink="folHlink"/>
    </a:extraClrScheme>
    <a:extraClrScheme>
      <a:clrScheme name="通用信息 (标准) 2">
        <a:dk1>
          <a:srgbClr val="800000"/>
        </a:dk1>
        <a:lt1>
          <a:srgbClr val="FFFFFF"/>
        </a:lt1>
        <a:dk2>
          <a:srgbClr val="000000"/>
        </a:dk2>
        <a:lt2>
          <a:srgbClr val="FFFFCC"/>
        </a:lt2>
        <a:accent1>
          <a:srgbClr val="000000"/>
        </a:accent1>
        <a:accent2>
          <a:srgbClr val="000099"/>
        </a:accent2>
        <a:accent3>
          <a:srgbClr val="AAAAAA"/>
        </a:accent3>
        <a:accent4>
          <a:srgbClr val="DADADA"/>
        </a:accent4>
        <a:accent5>
          <a:srgbClr val="AAAAAA"/>
        </a:accent5>
        <a:accent6>
          <a:srgbClr val="00008A"/>
        </a:accent6>
        <a:hlink>
          <a:srgbClr val="800000"/>
        </a:hlink>
        <a:folHlink>
          <a:srgbClr val="000000"/>
        </a:folHlink>
      </a:clrScheme>
      <a:clrMap bg1="dk2" tx1="lt1" bg2="dk1" tx2="lt2" accent1="accent1" accent2="accent2" accent3="accent3" accent4="accent4" accent5="accent5" accent6="accent6" hlink="hlink" folHlink="folHlink"/>
    </a:extraClrScheme>
    <a:extraClrScheme>
      <a:clrScheme name="通用信息 (标准) 3">
        <a:dk1>
          <a:srgbClr val="000000"/>
        </a:dk1>
        <a:lt1>
          <a:srgbClr val="FFFFFF"/>
        </a:lt1>
        <a:dk2>
          <a:srgbClr val="000000"/>
        </a:dk2>
        <a:lt2>
          <a:srgbClr val="CBCBCB"/>
        </a:lt2>
        <a:accent1>
          <a:srgbClr val="C0C0C0"/>
        </a:accent1>
        <a:accent2>
          <a:srgbClr val="DDDDDD"/>
        </a:accent2>
        <a:accent3>
          <a:srgbClr val="FFFFFF"/>
        </a:accent3>
        <a:accent4>
          <a:srgbClr val="000000"/>
        </a:accent4>
        <a:accent5>
          <a:srgbClr val="DCDCDC"/>
        </a:accent5>
        <a:accent6>
          <a:srgbClr val="C8C8C8"/>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大数据时代的思考</Template>
  <TotalTime>4098</TotalTime>
  <Words>4169</Words>
  <Application>Microsoft Office PowerPoint</Application>
  <PresentationFormat>全屏显示(4:3)</PresentationFormat>
  <Paragraphs>603</Paragraphs>
  <Slides>42</Slides>
  <Notes>0</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42</vt:i4>
      </vt:variant>
    </vt:vector>
  </HeadingPairs>
  <TitlesOfParts>
    <vt:vector size="57" baseType="lpstr">
      <vt:lpstr>Monotype Sorts</vt:lpstr>
      <vt:lpstr>等线</vt:lpstr>
      <vt:lpstr>黑体</vt:lpstr>
      <vt:lpstr>宋体</vt:lpstr>
      <vt:lpstr>微软雅黑</vt:lpstr>
      <vt:lpstr>Arial</vt:lpstr>
      <vt:lpstr>Arial Narrow</vt:lpstr>
      <vt:lpstr>Calibri</vt:lpstr>
      <vt:lpstr>Cambria Math</vt:lpstr>
      <vt:lpstr>Georgia</vt:lpstr>
      <vt:lpstr>Times New Roman</vt:lpstr>
      <vt:lpstr>Wingdings</vt:lpstr>
      <vt:lpstr>大数据时代的思考</vt:lpstr>
      <vt:lpstr>通用信息 (标准)</vt:lpstr>
      <vt:lpstr>1_通用信息 (标准)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大数据管理与分析</dc:title>
  <dc:creator>Administrator</dc:creator>
  <cp:lastModifiedBy>Zhu Jiaming</cp:lastModifiedBy>
  <cp:revision>438</cp:revision>
  <dcterms:created xsi:type="dcterms:W3CDTF">2006-08-16T00:00:00Z</dcterms:created>
  <dcterms:modified xsi:type="dcterms:W3CDTF">2026-04-30T02:20:14Z</dcterms:modified>
</cp:coreProperties>
</file>