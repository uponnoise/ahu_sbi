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9"/>
  </p:notesMasterIdLst>
  <p:handoutMasterIdLst>
    <p:handoutMasterId r:id="rId30"/>
  </p:handoutMasterIdLst>
  <p:sldIdLst>
    <p:sldId id="914" r:id="rId2"/>
    <p:sldId id="933" r:id="rId3"/>
    <p:sldId id="954" r:id="rId4"/>
    <p:sldId id="955" r:id="rId5"/>
    <p:sldId id="956" r:id="rId6"/>
    <p:sldId id="957" r:id="rId7"/>
    <p:sldId id="958" r:id="rId8"/>
    <p:sldId id="959" r:id="rId9"/>
    <p:sldId id="960" r:id="rId10"/>
    <p:sldId id="961" r:id="rId11"/>
    <p:sldId id="964" r:id="rId12"/>
    <p:sldId id="965" r:id="rId13"/>
    <p:sldId id="966" r:id="rId14"/>
    <p:sldId id="967" r:id="rId15"/>
    <p:sldId id="970" r:id="rId16"/>
    <p:sldId id="971" r:id="rId17"/>
    <p:sldId id="972" r:id="rId18"/>
    <p:sldId id="973" r:id="rId19"/>
    <p:sldId id="974" r:id="rId20"/>
    <p:sldId id="975" r:id="rId21"/>
    <p:sldId id="976" r:id="rId22"/>
    <p:sldId id="977" r:id="rId23"/>
    <p:sldId id="978" r:id="rId24"/>
    <p:sldId id="979" r:id="rId25"/>
    <p:sldId id="928" r:id="rId26"/>
    <p:sldId id="980" r:id="rId27"/>
    <p:sldId id="981" r:id="rId28"/>
  </p:sldIdLst>
  <p:sldSz cx="12196763" cy="6858000"/>
  <p:notesSz cx="6858000" cy="9144000"/>
  <p:defaultTextStyle>
    <a:defPPr>
      <a:defRPr lang="zh-CN"/>
    </a:defPPr>
    <a:lvl1pPr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43">
          <p15:clr>
            <a:srgbClr val="A4A3A4"/>
          </p15:clr>
        </p15:guide>
        <p15:guide id="2" pos="3842">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张 尚佳" initials="张"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F8F8F8"/>
    <a:srgbClr val="17DCF1"/>
    <a:srgbClr val="0DC2D5"/>
    <a:srgbClr val="006BBC"/>
    <a:srgbClr val="00AAA2"/>
    <a:srgbClr val="EFEFEF"/>
    <a:srgbClr val="FFFFFF"/>
    <a:srgbClr val="F0F0F0"/>
    <a:srgbClr val="EAEAE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9044" autoAdjust="0"/>
    <p:restoredTop sz="94270" autoAdjust="0"/>
  </p:normalViewPr>
  <p:slideViewPr>
    <p:cSldViewPr snapToObjects="1">
      <p:cViewPr varScale="1">
        <p:scale>
          <a:sx n="103" d="100"/>
          <a:sy n="103" d="100"/>
        </p:scale>
        <p:origin x="132" y="348"/>
      </p:cViewPr>
      <p:guideLst>
        <p:guide orient="horz" pos="2143"/>
        <p:guide pos="3842"/>
      </p:guideLst>
    </p:cSldViewPr>
  </p:slideViewPr>
  <p:outlineViewPr>
    <p:cViewPr>
      <p:scale>
        <a:sx n="33" d="100"/>
        <a:sy n="33" d="100"/>
      </p:scale>
      <p:origin x="0" y="0"/>
    </p:cViewPr>
  </p:outlineViewPr>
  <p:notesTextViewPr>
    <p:cViewPr>
      <p:scale>
        <a:sx n="1" d="1"/>
        <a:sy n="1" d="1"/>
      </p:scale>
      <p:origin x="0" y="0"/>
    </p:cViewPr>
  </p:notesTextViewPr>
  <p:sorterViewPr>
    <p:cViewPr>
      <p:scale>
        <a:sx n="139" d="100"/>
        <a:sy n="139" d="100"/>
      </p:scale>
      <p:origin x="0" y="0"/>
    </p:cViewPr>
  </p:sorterViewPr>
  <p:notesViewPr>
    <p:cSldViewPr snapToObjects="1">
      <p:cViewPr varScale="1">
        <p:scale>
          <a:sx n="69" d="100"/>
          <a:sy n="69" d="100"/>
        </p:scale>
        <p:origin x="-2838" y="-9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handoutMaster" Target="handoutMasters/handoutMaster1.xml"/><Relationship Id="rId35" Type="http://schemas.openxmlformats.org/officeDocument/2006/relationships/tableStyles" Target="tableStyle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DE610686-844B-4A1B-87C8-BB90DB4BAB84}" type="slidenum">
              <a:rPr lang="zh-CN" altLang="en-US" smtClean="0"/>
              <a:t>‹#›</a:t>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0" hangingPunct="0">
              <a:defRPr sz="1200"/>
            </a:lvl1pPr>
          </a:lstStyle>
          <a:p>
            <a:endParaRPr lang="zh-CN" altLang="en-US"/>
          </a:p>
        </p:txBody>
      </p:sp>
      <p:sp>
        <p:nvSpPr>
          <p:cNvPr id="3075"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0" hangingPunct="0">
              <a:defRPr sz="1200"/>
            </a:lvl1pPr>
          </a:lstStyle>
          <a:p>
            <a:fld id="{B9EEDA17-7CE7-49CA-897E-A1888A19DA62}" type="datetimeFigureOut">
              <a:rPr lang="zh-CN" altLang="en-US"/>
              <a:t>2026/5/22</a:t>
            </a:fld>
            <a:endParaRPr lang="en-US"/>
          </a:p>
        </p:txBody>
      </p:sp>
      <p:sp>
        <p:nvSpPr>
          <p:cNvPr id="3076" name="Rectangle 4"/>
          <p:cNvSpPr>
            <a:spLocks noGrp="1" noRot="1" noChangeAspect="1" noChangeArrowheads="1"/>
          </p:cNvSpPr>
          <p:nvPr>
            <p:ph type="sldImg" idx="2"/>
          </p:nvPr>
        </p:nvSpPr>
        <p:spPr bwMode="auto">
          <a:xfrm>
            <a:off x="381000" y="685800"/>
            <a:ext cx="6096000" cy="3429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sp>
      <p:sp>
        <p:nvSpPr>
          <p:cNvPr id="3077"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078"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0" hangingPunct="0">
              <a:defRPr sz="1200"/>
            </a:lvl1pPr>
          </a:lstStyle>
          <a:p>
            <a:endParaRPr lang="en-US"/>
          </a:p>
        </p:txBody>
      </p:sp>
      <p:sp>
        <p:nvSpPr>
          <p:cNvPr id="3079"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0" hangingPunct="0">
              <a:defRPr sz="1200"/>
            </a:lvl1pPr>
          </a:lstStyle>
          <a:p>
            <a:fld id="{CE1689F0-D8FB-450F-A36F-553F26501FEE}" type="slidenum">
              <a:rPr lang="zh-CN" altLang="en-US"/>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t>1</a:t>
            </a:fld>
            <a:endParaRPr lang="en-US">
              <a:solidFill>
                <a:prstClr val="black"/>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t>2</a:t>
            </a:fld>
            <a:endParaRPr lang="en-US">
              <a:solidFill>
                <a:prstClr val="black"/>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t>3</a:t>
            </a:fld>
            <a:endParaRPr lang="en-US">
              <a:solidFill>
                <a:prstClr val="black"/>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t>4</a:t>
            </a:fld>
            <a:endParaRPr lang="en-US">
              <a:solidFill>
                <a:prstClr val="black"/>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t>5</a:t>
            </a:fld>
            <a:endParaRPr lang="en-US">
              <a:solidFill>
                <a:prstClr val="black"/>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t>6</a:t>
            </a:fld>
            <a:endParaRPr lang="en-US">
              <a:solidFill>
                <a:prstClr val="black"/>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t>7</a:t>
            </a:fld>
            <a:endParaRPr lang="en-US">
              <a:solidFill>
                <a:prstClr val="black"/>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t>8</a:t>
            </a:fld>
            <a:endParaRPr lang="en-US">
              <a:solidFill>
                <a:prstClr val="black"/>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t>9</a:t>
            </a:fld>
            <a:endParaRPr lang="en-US">
              <a:solidFill>
                <a:prstClr val="black"/>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t>10</a:t>
            </a:fld>
            <a:endParaRPr lang="en-US">
              <a:solidFill>
                <a:prstClr val="black"/>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t>11</a:t>
            </a:fld>
            <a:endParaRPr lang="en-US">
              <a:solidFill>
                <a:prstClr val="black"/>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t>12</a:t>
            </a:fld>
            <a:endParaRPr lang="en-US">
              <a:solidFill>
                <a:prstClr val="black"/>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t>13</a:t>
            </a:fld>
            <a:endParaRPr lang="en-US">
              <a:solidFill>
                <a:prstClr val="black"/>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t>14</a:t>
            </a:fld>
            <a:endParaRPr lang="en-US">
              <a:solidFill>
                <a:prstClr val="black"/>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t>15</a:t>
            </a:fld>
            <a:endParaRPr lang="en-US">
              <a:solidFill>
                <a:prstClr val="black"/>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t>16</a:t>
            </a:fld>
            <a:endParaRPr lang="en-US">
              <a:solidFill>
                <a:prstClr val="black"/>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t>17</a:t>
            </a:fld>
            <a:endParaRPr lang="en-US">
              <a:solidFill>
                <a:prstClr val="black"/>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t>18</a:t>
            </a:fld>
            <a:endParaRPr lang="en-US">
              <a:solidFill>
                <a:prstClr val="black"/>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t>19</a:t>
            </a:fld>
            <a:endParaRPr lang="en-US">
              <a:solidFill>
                <a:prstClr val="black"/>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t>20</a:t>
            </a:fld>
            <a:endParaRPr lang="en-US">
              <a:solidFill>
                <a:prstClr val="black"/>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t>21</a:t>
            </a:fld>
            <a:endParaRPr lang="en-US">
              <a:solidFill>
                <a:prstClr val="black"/>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t>22</a:t>
            </a:fld>
            <a:endParaRPr lang="en-US">
              <a:solidFill>
                <a:prstClr val="black"/>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t>23</a:t>
            </a:fld>
            <a:endParaRPr lang="en-US">
              <a:solidFill>
                <a:prstClr val="black"/>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t>24</a:t>
            </a:fld>
            <a:endParaRPr lang="en-US">
              <a:solidFill>
                <a:prstClr val="black"/>
              </a:solidFil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t>25</a:t>
            </a:fld>
            <a:endParaRPr lang="en-US">
              <a:solidFill>
                <a:prstClr val="black"/>
              </a:solidFil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t>26</a:t>
            </a:fld>
            <a:endParaRPr lang="en-US">
              <a:solidFill>
                <a:prstClr val="black"/>
              </a:solidFil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t>27</a:t>
            </a:fld>
            <a:endParaRPr lang="en-US">
              <a:solidFill>
                <a:prstClr val="black"/>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pn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8.png"/><Relationship Id="rId11" Type="http://schemas.openxmlformats.org/officeDocument/2006/relationships/image" Target="../media/image13.png"/><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 Id="rId14" Type="http://schemas.openxmlformats.org/officeDocument/2006/relationships/image" Target="../media/image16.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10" advTm="9437"/>
    </mc:Choice>
    <mc:Fallback xmlns="">
      <p:transition advTm="9437"/>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12" name="矩形 11"/>
          <p:cNvSpPr/>
          <p:nvPr userDrawn="1"/>
        </p:nvSpPr>
        <p:spPr>
          <a:xfrm>
            <a:off x="6170389" y="134946"/>
            <a:ext cx="775136" cy="246221"/>
          </a:xfrm>
          <a:prstGeom prst="rect">
            <a:avLst/>
          </a:prstGeom>
        </p:spPr>
        <p:txBody>
          <a:bodyPr wrap="square">
            <a:spAutoFit/>
          </a:bodyPr>
          <a:lstStyle/>
          <a:p>
            <a:pPr fontAlgn="auto">
              <a:spcBef>
                <a:spcPts val="0"/>
              </a:spcBef>
              <a:spcAft>
                <a:spcPts val="0"/>
              </a:spcAft>
              <a:buFontTx/>
              <a:buNone/>
            </a:pP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模板下载：</a:t>
            </a:r>
            <a:r>
              <a:rPr lang="en-US" altLang="zh-CN" sz="100" dirty="0">
                <a:solidFill>
                  <a:prstClr val="white"/>
                </a:solidFill>
                <a:latin typeface="Calibri" panose="020F0502020204030204"/>
                <a:ea typeface="宋体" panose="02010600030101010101" pitchFamily="2" charset="-122"/>
              </a:rPr>
              <a:t>www.1ppt.com/moban/     </a:t>
            </a:r>
            <a:r>
              <a:rPr lang="zh-CN" altLang="en-US" sz="100" dirty="0">
                <a:solidFill>
                  <a:prstClr val="white"/>
                </a:solidFill>
                <a:latin typeface="Calibri" panose="020F0502020204030204"/>
                <a:ea typeface="宋体" panose="02010600030101010101" pitchFamily="2" charset="-122"/>
              </a:rPr>
              <a:t>行业</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a:t>
            </a:r>
            <a:r>
              <a:rPr lang="en-US" altLang="zh-CN" sz="100" dirty="0">
                <a:solidFill>
                  <a:prstClr val="white"/>
                </a:solidFill>
                <a:latin typeface="Calibri" panose="020F0502020204030204"/>
                <a:ea typeface="宋体" panose="02010600030101010101" pitchFamily="2" charset="-122"/>
              </a:rPr>
              <a:t>www.1ppt.com/hangye/ </a:t>
            </a:r>
          </a:p>
          <a:p>
            <a:pPr fontAlgn="auto">
              <a:spcBef>
                <a:spcPts val="0"/>
              </a:spcBef>
              <a:spcAft>
                <a:spcPts val="0"/>
              </a:spcAft>
              <a:buFontTx/>
              <a:buNone/>
            </a:pPr>
            <a:r>
              <a:rPr lang="zh-CN" altLang="en-US" sz="100" dirty="0">
                <a:solidFill>
                  <a:prstClr val="white"/>
                </a:solidFill>
                <a:latin typeface="Calibri" panose="020F0502020204030204"/>
                <a:ea typeface="宋体" panose="02010600030101010101" pitchFamily="2" charset="-122"/>
              </a:rPr>
              <a:t>节日</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a:t>
            </a:r>
            <a:r>
              <a:rPr lang="en-US" altLang="zh-CN" sz="100" dirty="0">
                <a:solidFill>
                  <a:prstClr val="white"/>
                </a:solidFill>
                <a:latin typeface="Calibri" panose="020F0502020204030204"/>
                <a:ea typeface="宋体" panose="02010600030101010101" pitchFamily="2" charset="-122"/>
              </a:rPr>
              <a:t>www.1ppt.com/jieri/           PPT</a:t>
            </a:r>
            <a:r>
              <a:rPr lang="zh-CN" altLang="en-US" sz="100" dirty="0">
                <a:solidFill>
                  <a:prstClr val="white"/>
                </a:solidFill>
                <a:latin typeface="Calibri" panose="020F0502020204030204"/>
                <a:ea typeface="宋体" panose="02010600030101010101" pitchFamily="2" charset="-122"/>
              </a:rPr>
              <a:t>素材下载：</a:t>
            </a:r>
            <a:r>
              <a:rPr lang="en-US" altLang="zh-CN" sz="100" dirty="0">
                <a:solidFill>
                  <a:prstClr val="white"/>
                </a:solidFill>
                <a:latin typeface="Calibri" panose="020F0502020204030204"/>
                <a:ea typeface="宋体" panose="02010600030101010101" pitchFamily="2" charset="-122"/>
              </a:rPr>
              <a:t>www.1ppt.com/sucai/</a:t>
            </a:r>
          </a:p>
          <a:p>
            <a:pPr fontAlgn="auto">
              <a:spcBef>
                <a:spcPts val="0"/>
              </a:spcBef>
              <a:spcAft>
                <a:spcPts val="0"/>
              </a:spcAft>
              <a:buFontTx/>
              <a:buNone/>
            </a:pP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背景图片：</a:t>
            </a:r>
            <a:r>
              <a:rPr lang="en-US" altLang="zh-CN" sz="100" dirty="0">
                <a:solidFill>
                  <a:prstClr val="white"/>
                </a:solidFill>
                <a:latin typeface="Calibri" panose="020F0502020204030204"/>
                <a:ea typeface="宋体" panose="02010600030101010101" pitchFamily="2" charset="-122"/>
              </a:rPr>
              <a:t>www.1ppt.com/beijing/      PPT</a:t>
            </a:r>
            <a:r>
              <a:rPr lang="zh-CN" altLang="en-US" sz="100" dirty="0">
                <a:solidFill>
                  <a:prstClr val="white"/>
                </a:solidFill>
                <a:latin typeface="Calibri" panose="020F0502020204030204"/>
                <a:ea typeface="宋体" panose="02010600030101010101" pitchFamily="2" charset="-122"/>
              </a:rPr>
              <a:t>图表下载：</a:t>
            </a:r>
            <a:r>
              <a:rPr lang="en-US" altLang="zh-CN" sz="100" dirty="0">
                <a:solidFill>
                  <a:prstClr val="white"/>
                </a:solidFill>
                <a:latin typeface="Calibri" panose="020F0502020204030204"/>
                <a:ea typeface="宋体" panose="02010600030101010101" pitchFamily="2" charset="-122"/>
              </a:rPr>
              <a:t>www.1ppt.com/tubiao/      </a:t>
            </a:r>
          </a:p>
          <a:p>
            <a:pPr fontAlgn="auto">
              <a:spcBef>
                <a:spcPts val="0"/>
              </a:spcBef>
              <a:spcAft>
                <a:spcPts val="0"/>
              </a:spcAft>
              <a:buFontTx/>
              <a:buNone/>
            </a:pPr>
            <a:r>
              <a:rPr lang="zh-CN" altLang="en-US" sz="100" dirty="0">
                <a:solidFill>
                  <a:prstClr val="white"/>
                </a:solidFill>
                <a:latin typeface="Calibri" panose="020F0502020204030204"/>
                <a:ea typeface="宋体" panose="02010600030101010101" pitchFamily="2" charset="-122"/>
              </a:rPr>
              <a:t>优秀</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下载：</a:t>
            </a:r>
            <a:r>
              <a:rPr lang="en-US" altLang="zh-CN" sz="100" dirty="0">
                <a:solidFill>
                  <a:prstClr val="white"/>
                </a:solidFill>
                <a:latin typeface="Calibri" panose="020F0502020204030204"/>
                <a:ea typeface="宋体" panose="02010600030101010101" pitchFamily="2" charset="-122"/>
              </a:rPr>
              <a:t>www.1ppt.com/xiazai/        PPT</a:t>
            </a:r>
            <a:r>
              <a:rPr lang="zh-CN" altLang="en-US" sz="100" dirty="0">
                <a:solidFill>
                  <a:prstClr val="white"/>
                </a:solidFill>
                <a:latin typeface="Calibri" panose="020F0502020204030204"/>
                <a:ea typeface="宋体" panose="02010600030101010101" pitchFamily="2" charset="-122"/>
              </a:rPr>
              <a:t>教程： </a:t>
            </a:r>
            <a:r>
              <a:rPr lang="en-US" altLang="zh-CN" sz="100" dirty="0">
                <a:solidFill>
                  <a:prstClr val="white"/>
                </a:solidFill>
                <a:latin typeface="Calibri" panose="020F0502020204030204"/>
                <a:ea typeface="宋体" panose="02010600030101010101" pitchFamily="2" charset="-122"/>
              </a:rPr>
              <a:t>www.1ppt.com/powerpoint/      </a:t>
            </a:r>
          </a:p>
          <a:p>
            <a:pPr fontAlgn="auto">
              <a:spcBef>
                <a:spcPts val="0"/>
              </a:spcBef>
              <a:spcAft>
                <a:spcPts val="0"/>
              </a:spcAft>
              <a:buFontTx/>
              <a:buNone/>
            </a:pPr>
            <a:r>
              <a:rPr lang="en-US" altLang="zh-CN" sz="100" dirty="0">
                <a:solidFill>
                  <a:prstClr val="white"/>
                </a:solidFill>
                <a:latin typeface="Calibri" panose="020F0502020204030204"/>
                <a:ea typeface="宋体" panose="02010600030101010101" pitchFamily="2" charset="-122"/>
              </a:rPr>
              <a:t>Word</a:t>
            </a:r>
            <a:r>
              <a:rPr lang="zh-CN" altLang="en-US" sz="100" dirty="0">
                <a:solidFill>
                  <a:prstClr val="white"/>
                </a:solidFill>
                <a:latin typeface="Calibri" panose="020F0502020204030204"/>
                <a:ea typeface="宋体" panose="02010600030101010101" pitchFamily="2" charset="-122"/>
              </a:rPr>
              <a:t>教程： </a:t>
            </a:r>
            <a:r>
              <a:rPr lang="en-US" altLang="zh-CN" sz="100" dirty="0">
                <a:solidFill>
                  <a:prstClr val="white"/>
                </a:solidFill>
                <a:latin typeface="Calibri" panose="020F0502020204030204"/>
                <a:ea typeface="宋体" panose="02010600030101010101" pitchFamily="2" charset="-122"/>
              </a:rPr>
              <a:t>www.1ppt.com/word/              Excel</a:t>
            </a:r>
            <a:r>
              <a:rPr lang="zh-CN" altLang="en-US" sz="100" dirty="0">
                <a:solidFill>
                  <a:prstClr val="white"/>
                </a:solidFill>
                <a:latin typeface="Calibri" panose="020F0502020204030204"/>
                <a:ea typeface="宋体" panose="02010600030101010101" pitchFamily="2" charset="-122"/>
              </a:rPr>
              <a:t>教程：</a:t>
            </a:r>
            <a:r>
              <a:rPr lang="en-US" altLang="zh-CN" sz="100" dirty="0">
                <a:solidFill>
                  <a:prstClr val="white"/>
                </a:solidFill>
                <a:latin typeface="Calibri" panose="020F0502020204030204"/>
                <a:ea typeface="宋体" panose="02010600030101010101" pitchFamily="2" charset="-122"/>
              </a:rPr>
              <a:t>www.1ppt.com/excel/  </a:t>
            </a:r>
          </a:p>
          <a:p>
            <a:pPr fontAlgn="auto">
              <a:spcBef>
                <a:spcPts val="0"/>
              </a:spcBef>
              <a:spcAft>
                <a:spcPts val="0"/>
              </a:spcAft>
              <a:buFontTx/>
              <a:buNone/>
            </a:pPr>
            <a:r>
              <a:rPr lang="zh-CN" altLang="en-US" sz="100" dirty="0">
                <a:solidFill>
                  <a:prstClr val="white"/>
                </a:solidFill>
                <a:latin typeface="Calibri" panose="020F0502020204030204"/>
                <a:ea typeface="宋体" panose="02010600030101010101" pitchFamily="2" charset="-122"/>
              </a:rPr>
              <a:t>资料下载：</a:t>
            </a:r>
            <a:r>
              <a:rPr lang="en-US" altLang="zh-CN" sz="100" dirty="0">
                <a:solidFill>
                  <a:prstClr val="white"/>
                </a:solidFill>
                <a:latin typeface="Calibri" panose="020F0502020204030204"/>
                <a:ea typeface="宋体" panose="02010600030101010101" pitchFamily="2" charset="-122"/>
              </a:rPr>
              <a:t>www.1ppt.com/ziliao/                PPT</a:t>
            </a:r>
            <a:r>
              <a:rPr lang="zh-CN" altLang="en-US" sz="100" dirty="0">
                <a:solidFill>
                  <a:prstClr val="white"/>
                </a:solidFill>
                <a:latin typeface="Calibri" panose="020F0502020204030204"/>
                <a:ea typeface="宋体" panose="02010600030101010101" pitchFamily="2" charset="-122"/>
              </a:rPr>
              <a:t>课件下载：</a:t>
            </a:r>
            <a:r>
              <a:rPr lang="en-US" altLang="zh-CN" sz="100" dirty="0">
                <a:solidFill>
                  <a:prstClr val="white"/>
                </a:solidFill>
                <a:latin typeface="Calibri" panose="020F0502020204030204"/>
                <a:ea typeface="宋体" panose="02010600030101010101" pitchFamily="2" charset="-122"/>
              </a:rPr>
              <a:t>www.1ppt.com/kejian/ </a:t>
            </a:r>
          </a:p>
          <a:p>
            <a:pPr fontAlgn="auto">
              <a:spcBef>
                <a:spcPts val="0"/>
              </a:spcBef>
              <a:spcAft>
                <a:spcPts val="0"/>
              </a:spcAft>
              <a:buFontTx/>
              <a:buNone/>
            </a:pPr>
            <a:r>
              <a:rPr lang="zh-CN" altLang="en-US" sz="100" dirty="0">
                <a:solidFill>
                  <a:prstClr val="white"/>
                </a:solidFill>
                <a:latin typeface="Calibri" panose="020F0502020204030204"/>
                <a:ea typeface="宋体" panose="02010600030101010101" pitchFamily="2" charset="-122"/>
              </a:rPr>
              <a:t>范文下载：</a:t>
            </a:r>
            <a:r>
              <a:rPr lang="en-US" altLang="zh-CN" sz="100" dirty="0">
                <a:solidFill>
                  <a:prstClr val="white"/>
                </a:solidFill>
                <a:latin typeface="Calibri" panose="020F0502020204030204"/>
                <a:ea typeface="宋体" panose="02010600030101010101" pitchFamily="2" charset="-122"/>
              </a:rPr>
              <a:t>www.1ppt.com/fanwen/             </a:t>
            </a:r>
            <a:r>
              <a:rPr lang="zh-CN" altLang="en-US" sz="100" dirty="0">
                <a:solidFill>
                  <a:prstClr val="white"/>
                </a:solidFill>
                <a:latin typeface="Calibri" panose="020F0502020204030204"/>
                <a:ea typeface="宋体" panose="02010600030101010101" pitchFamily="2" charset="-122"/>
              </a:rPr>
              <a:t>试卷下载：</a:t>
            </a:r>
            <a:r>
              <a:rPr lang="en-US" altLang="zh-CN" sz="100" dirty="0">
                <a:solidFill>
                  <a:prstClr val="white"/>
                </a:solidFill>
                <a:latin typeface="Calibri" panose="020F0502020204030204"/>
                <a:ea typeface="宋体" panose="02010600030101010101" pitchFamily="2" charset="-122"/>
              </a:rPr>
              <a:t>www.1ppt.com/shiti/  </a:t>
            </a:r>
          </a:p>
          <a:p>
            <a:pPr fontAlgn="auto">
              <a:spcBef>
                <a:spcPts val="0"/>
              </a:spcBef>
              <a:spcAft>
                <a:spcPts val="0"/>
              </a:spcAft>
              <a:buFontTx/>
              <a:buNone/>
            </a:pPr>
            <a:r>
              <a:rPr lang="zh-CN" altLang="en-US" sz="100" dirty="0">
                <a:solidFill>
                  <a:prstClr val="white"/>
                </a:solidFill>
                <a:latin typeface="Calibri" panose="020F0502020204030204"/>
                <a:ea typeface="宋体" panose="02010600030101010101" pitchFamily="2" charset="-122"/>
              </a:rPr>
              <a:t>教案下载：</a:t>
            </a:r>
            <a:r>
              <a:rPr lang="en-US" altLang="zh-CN" sz="100" dirty="0">
                <a:solidFill>
                  <a:prstClr val="white"/>
                </a:solidFill>
                <a:latin typeface="Calibri" panose="020F0502020204030204"/>
                <a:ea typeface="宋体" panose="02010600030101010101" pitchFamily="2" charset="-122"/>
              </a:rPr>
              <a:t>www.1ppt.com/jiaoan/        </a:t>
            </a:r>
          </a:p>
          <a:p>
            <a:pPr fontAlgn="auto">
              <a:spcBef>
                <a:spcPts val="0"/>
              </a:spcBef>
              <a:spcAft>
                <a:spcPts val="0"/>
              </a:spcAft>
              <a:buFontTx/>
              <a:buNone/>
            </a:pPr>
            <a:r>
              <a:rPr lang="zh-CN" altLang="en-US" sz="100" dirty="0">
                <a:solidFill>
                  <a:prstClr val="white"/>
                </a:solidFill>
                <a:latin typeface="Calibri" panose="020F0502020204030204"/>
                <a:ea typeface="宋体" panose="02010600030101010101" pitchFamily="2" charset="-122"/>
              </a:rPr>
              <a:t>字体下载：</a:t>
            </a:r>
            <a:r>
              <a:rPr lang="en-US" altLang="zh-CN" sz="100" dirty="0">
                <a:solidFill>
                  <a:prstClr val="white"/>
                </a:solidFill>
                <a:latin typeface="Calibri" panose="020F0502020204030204"/>
                <a:ea typeface="宋体" panose="02010600030101010101" pitchFamily="2" charset="-122"/>
              </a:rPr>
              <a:t>www.1ppt.com/ziti/</a:t>
            </a:r>
          </a:p>
          <a:p>
            <a:pPr fontAlgn="auto">
              <a:spcBef>
                <a:spcPts val="0"/>
              </a:spcBef>
              <a:spcAft>
                <a:spcPts val="0"/>
              </a:spcAft>
              <a:buFontTx/>
              <a:buNone/>
            </a:pPr>
            <a:r>
              <a:rPr lang="en-US" altLang="zh-CN" sz="100" dirty="0">
                <a:solidFill>
                  <a:prstClr val="white"/>
                </a:solidFill>
                <a:latin typeface="Calibri" panose="020F0502020204030204"/>
                <a:ea typeface="宋体" panose="02010600030101010101" pitchFamily="2" charset="-122"/>
              </a:rPr>
              <a:t> </a:t>
            </a:r>
            <a:endParaRPr lang="zh-CN" altLang="en-US" sz="100" dirty="0">
              <a:solidFill>
                <a:prstClr val="white"/>
              </a:solidFill>
              <a:latin typeface="Calibri" panose="020F0502020204030204"/>
              <a:ea typeface="宋体" panose="02010600030101010101" pitchFamily="2" charset="-122"/>
            </a:endParaRPr>
          </a:p>
        </p:txBody>
      </p:sp>
      <p:sp>
        <p:nvSpPr>
          <p:cNvPr id="2" name="标题 1"/>
          <p:cNvSpPr>
            <a:spLocks noGrp="1"/>
          </p:cNvSpPr>
          <p:nvPr>
            <p:ph type="title"/>
          </p:nvPr>
        </p:nvSpPr>
        <p:spPr>
          <a:xfrm>
            <a:off x="825625" y="908051"/>
            <a:ext cx="10601349" cy="635000"/>
          </a:xfrm>
        </p:spPr>
        <p:txBody>
          <a:bodyPr/>
          <a:lstStyle>
            <a:lvl1pPr>
              <a:defRPr>
                <a:solidFill>
                  <a:schemeClr val="accent1"/>
                </a:solidFill>
              </a:defRPr>
            </a:lvl1pPr>
          </a:lstStyle>
          <a:p>
            <a:r>
              <a:rPr lang="zh-CN" altLang="en-US"/>
              <a:t>单击此处编辑母版标题样式</a:t>
            </a:r>
          </a:p>
        </p:txBody>
      </p:sp>
      <p:sp>
        <p:nvSpPr>
          <p:cNvPr id="3" name="内容占位符 2"/>
          <p:cNvSpPr>
            <a:spLocks noGrp="1"/>
          </p:cNvSpPr>
          <p:nvPr>
            <p:ph idx="1"/>
          </p:nvPr>
        </p:nvSpPr>
        <p:spPr>
          <a:xfrm>
            <a:off x="825625" y="1600201"/>
            <a:ext cx="10601349" cy="4525963"/>
          </a:xfrm>
        </p:spPr>
        <p:txBody>
          <a:bodyPr/>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8" name="Freeform 5"/>
          <p:cNvSpPr/>
          <p:nvPr userDrawn="1"/>
        </p:nvSpPr>
        <p:spPr bwMode="auto">
          <a:xfrm>
            <a:off x="63836" y="73173"/>
            <a:ext cx="1227153" cy="486467"/>
          </a:xfrm>
          <a:custGeom>
            <a:avLst/>
            <a:gdLst>
              <a:gd name="T0" fmla="*/ 0 w 1600"/>
              <a:gd name="T1" fmla="*/ 0 h 617"/>
              <a:gd name="T2" fmla="*/ 1429 w 1600"/>
              <a:gd name="T3" fmla="*/ 0 h 617"/>
              <a:gd name="T4" fmla="*/ 1600 w 1600"/>
              <a:gd name="T5" fmla="*/ 308 h 617"/>
              <a:gd name="T6" fmla="*/ 1429 w 1600"/>
              <a:gd name="T7" fmla="*/ 617 h 617"/>
              <a:gd name="T8" fmla="*/ 0 w 1600"/>
              <a:gd name="T9" fmla="*/ 617 h 617"/>
              <a:gd name="T10" fmla="*/ 0 w 1600"/>
              <a:gd name="T11" fmla="*/ 0 h 617"/>
            </a:gdLst>
            <a:ahLst/>
            <a:cxnLst>
              <a:cxn ang="0">
                <a:pos x="T0" y="T1"/>
              </a:cxn>
              <a:cxn ang="0">
                <a:pos x="T2" y="T3"/>
              </a:cxn>
              <a:cxn ang="0">
                <a:pos x="T4" y="T5"/>
              </a:cxn>
              <a:cxn ang="0">
                <a:pos x="T6" y="T7"/>
              </a:cxn>
              <a:cxn ang="0">
                <a:pos x="T8" y="T9"/>
              </a:cxn>
              <a:cxn ang="0">
                <a:pos x="T10" y="T11"/>
              </a:cxn>
            </a:cxnLst>
            <a:rect l="0" t="0" r="r" b="b"/>
            <a:pathLst>
              <a:path w="1600" h="617">
                <a:moveTo>
                  <a:pt x="0" y="0"/>
                </a:moveTo>
                <a:lnTo>
                  <a:pt x="1429" y="0"/>
                </a:lnTo>
                <a:lnTo>
                  <a:pt x="1600" y="308"/>
                </a:lnTo>
                <a:lnTo>
                  <a:pt x="1429" y="617"/>
                </a:lnTo>
                <a:lnTo>
                  <a:pt x="0" y="617"/>
                </a:lnTo>
                <a:lnTo>
                  <a:pt x="0" y="0"/>
                </a:lnTo>
                <a:close/>
              </a:path>
            </a:pathLst>
          </a:custGeom>
          <a:solidFill>
            <a:schemeClr val="tx1"/>
          </a:solidFill>
          <a:ln>
            <a:noFill/>
          </a:ln>
        </p:spPr>
        <p:txBody>
          <a:bodyPr vert="horz" wrap="square" lIns="91434" tIns="45717" rIns="91434" bIns="45717" numCol="1" anchor="t" anchorCtr="0" compatLnSpc="1"/>
          <a:lstStyle/>
          <a:p>
            <a:endParaRPr lang="zh-CN" altLang="en-US"/>
          </a:p>
        </p:txBody>
      </p:sp>
      <p:sp>
        <p:nvSpPr>
          <p:cNvPr id="9" name="Freeform 6"/>
          <p:cNvSpPr/>
          <p:nvPr userDrawn="1"/>
        </p:nvSpPr>
        <p:spPr bwMode="auto">
          <a:xfrm>
            <a:off x="1196835" y="73173"/>
            <a:ext cx="10215809" cy="486467"/>
          </a:xfrm>
          <a:custGeom>
            <a:avLst/>
            <a:gdLst>
              <a:gd name="T0" fmla="*/ 0 w 13327"/>
              <a:gd name="T1" fmla="*/ 0 h 617"/>
              <a:gd name="T2" fmla="*/ 13155 w 13327"/>
              <a:gd name="T3" fmla="*/ 0 h 617"/>
              <a:gd name="T4" fmla="*/ 13327 w 13327"/>
              <a:gd name="T5" fmla="*/ 308 h 617"/>
              <a:gd name="T6" fmla="*/ 13155 w 13327"/>
              <a:gd name="T7" fmla="*/ 617 h 617"/>
              <a:gd name="T8" fmla="*/ 0 w 13327"/>
              <a:gd name="T9" fmla="*/ 617 h 617"/>
              <a:gd name="T10" fmla="*/ 171 w 13327"/>
              <a:gd name="T11" fmla="*/ 308 h 617"/>
              <a:gd name="T12" fmla="*/ 0 w 13327"/>
              <a:gd name="T13" fmla="*/ 0 h 617"/>
            </a:gdLst>
            <a:ahLst/>
            <a:cxnLst>
              <a:cxn ang="0">
                <a:pos x="T0" y="T1"/>
              </a:cxn>
              <a:cxn ang="0">
                <a:pos x="T2" y="T3"/>
              </a:cxn>
              <a:cxn ang="0">
                <a:pos x="T4" y="T5"/>
              </a:cxn>
              <a:cxn ang="0">
                <a:pos x="T6" y="T7"/>
              </a:cxn>
              <a:cxn ang="0">
                <a:pos x="T8" y="T9"/>
              </a:cxn>
              <a:cxn ang="0">
                <a:pos x="T10" y="T11"/>
              </a:cxn>
              <a:cxn ang="0">
                <a:pos x="T12" y="T13"/>
              </a:cxn>
            </a:cxnLst>
            <a:rect l="0" t="0" r="r" b="b"/>
            <a:pathLst>
              <a:path w="13327" h="617">
                <a:moveTo>
                  <a:pt x="0" y="0"/>
                </a:moveTo>
                <a:lnTo>
                  <a:pt x="13155" y="0"/>
                </a:lnTo>
                <a:lnTo>
                  <a:pt x="13327" y="308"/>
                </a:lnTo>
                <a:lnTo>
                  <a:pt x="13155" y="617"/>
                </a:lnTo>
                <a:lnTo>
                  <a:pt x="0" y="617"/>
                </a:lnTo>
                <a:lnTo>
                  <a:pt x="171" y="308"/>
                </a:lnTo>
                <a:lnTo>
                  <a:pt x="0" y="0"/>
                </a:lnTo>
                <a:close/>
              </a:path>
            </a:pathLst>
          </a:custGeom>
          <a:solidFill>
            <a:schemeClr val="accent1"/>
          </a:solidFill>
          <a:ln>
            <a:noFill/>
          </a:ln>
        </p:spPr>
        <p:txBody>
          <a:bodyPr vert="horz" wrap="square" lIns="91434" tIns="45717" rIns="91434" bIns="45717" numCol="1" anchor="t" anchorCtr="0" compatLnSpc="1"/>
          <a:lstStyle/>
          <a:p>
            <a:endParaRPr lang="zh-CN" altLang="en-US"/>
          </a:p>
        </p:txBody>
      </p:sp>
      <p:sp>
        <p:nvSpPr>
          <p:cNvPr id="10" name="Freeform 7"/>
          <p:cNvSpPr/>
          <p:nvPr userDrawn="1"/>
        </p:nvSpPr>
        <p:spPr bwMode="auto">
          <a:xfrm>
            <a:off x="11320057" y="73173"/>
            <a:ext cx="812871" cy="486467"/>
          </a:xfrm>
          <a:custGeom>
            <a:avLst/>
            <a:gdLst>
              <a:gd name="T0" fmla="*/ 0 w 1060"/>
              <a:gd name="T1" fmla="*/ 0 h 617"/>
              <a:gd name="T2" fmla="*/ 1060 w 1060"/>
              <a:gd name="T3" fmla="*/ 0 h 617"/>
              <a:gd name="T4" fmla="*/ 1060 w 1060"/>
              <a:gd name="T5" fmla="*/ 617 h 617"/>
              <a:gd name="T6" fmla="*/ 0 w 1060"/>
              <a:gd name="T7" fmla="*/ 617 h 617"/>
              <a:gd name="T8" fmla="*/ 172 w 1060"/>
              <a:gd name="T9" fmla="*/ 308 h 617"/>
              <a:gd name="T10" fmla="*/ 0 w 1060"/>
              <a:gd name="T11" fmla="*/ 0 h 617"/>
            </a:gdLst>
            <a:ahLst/>
            <a:cxnLst>
              <a:cxn ang="0">
                <a:pos x="T0" y="T1"/>
              </a:cxn>
              <a:cxn ang="0">
                <a:pos x="T2" y="T3"/>
              </a:cxn>
              <a:cxn ang="0">
                <a:pos x="T4" y="T5"/>
              </a:cxn>
              <a:cxn ang="0">
                <a:pos x="T6" y="T7"/>
              </a:cxn>
              <a:cxn ang="0">
                <a:pos x="T8" y="T9"/>
              </a:cxn>
              <a:cxn ang="0">
                <a:pos x="T10" y="T11"/>
              </a:cxn>
            </a:cxnLst>
            <a:rect l="0" t="0" r="r" b="b"/>
            <a:pathLst>
              <a:path w="1060" h="617">
                <a:moveTo>
                  <a:pt x="0" y="0"/>
                </a:moveTo>
                <a:lnTo>
                  <a:pt x="1060" y="0"/>
                </a:lnTo>
                <a:lnTo>
                  <a:pt x="1060" y="617"/>
                </a:lnTo>
                <a:lnTo>
                  <a:pt x="0" y="617"/>
                </a:lnTo>
                <a:lnTo>
                  <a:pt x="172" y="308"/>
                </a:lnTo>
                <a:lnTo>
                  <a:pt x="0" y="0"/>
                </a:lnTo>
                <a:close/>
              </a:path>
            </a:pathLst>
          </a:custGeom>
          <a:solidFill>
            <a:schemeClr val="accent1"/>
          </a:solidFill>
          <a:ln>
            <a:noFill/>
          </a:ln>
        </p:spPr>
        <p:txBody>
          <a:bodyPr vert="horz" wrap="square" lIns="91434" tIns="45717" rIns="91434" bIns="45717" numCol="1" anchor="t" anchorCtr="0" compatLnSpc="1"/>
          <a:lstStyle/>
          <a:p>
            <a:endParaRPr lang="zh-CN" altLang="en-US"/>
          </a:p>
        </p:txBody>
      </p:sp>
      <p:sp>
        <p:nvSpPr>
          <p:cNvPr id="15" name="TextBox 14"/>
          <p:cNvSpPr txBox="1"/>
          <p:nvPr userDrawn="1"/>
        </p:nvSpPr>
        <p:spPr>
          <a:xfrm>
            <a:off x="11537052" y="116633"/>
            <a:ext cx="474797" cy="353937"/>
          </a:xfrm>
          <a:prstGeom prst="rect">
            <a:avLst/>
          </a:prstGeom>
          <a:noFill/>
        </p:spPr>
        <p:txBody>
          <a:bodyPr wrap="none" lIns="91434" tIns="45717" rIns="91434" bIns="45717" rtlCol="0">
            <a:spAutoFit/>
          </a:bodyPr>
          <a:lstStyle/>
          <a:p>
            <a:pPr algn="ctr"/>
            <a:fld id="{B879B013-EF15-44F9-9A4C-93BE492C244C}" type="slidenum">
              <a:rPr lang="zh-CN" altLang="en-US" sz="1700" smtClean="0">
                <a:solidFill>
                  <a:schemeClr val="accent2"/>
                </a:solidFill>
                <a:latin typeface="+mn-ea"/>
                <a:ea typeface="+mn-ea"/>
              </a:rPr>
              <a:t>‹#›</a:t>
            </a:fld>
            <a:endParaRPr lang="zh-CN" altLang="en-US" sz="1700" dirty="0">
              <a:solidFill>
                <a:schemeClr val="accent2"/>
              </a:solidFill>
              <a:latin typeface="+mn-ea"/>
              <a:ea typeface="+mn-ea"/>
            </a:endParaRPr>
          </a:p>
        </p:txBody>
      </p:sp>
    </p:spTree>
  </p:cSld>
  <p:clrMapOvr>
    <a:masterClrMapping/>
  </p:clrMapOvr>
  <mc:AlternateContent xmlns:mc="http://schemas.openxmlformats.org/markup-compatibility/2006" xmlns:p14="http://schemas.microsoft.com/office/powerpoint/2010/main">
    <mc:Choice Requires="p14">
      <p:transition p14:dur="10" advTm="9437"/>
    </mc:Choice>
    <mc:Fallback xmlns="">
      <p:transition advTm="9437"/>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14:presetBounceEnd="33000">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14:bounceEnd="33000">
                                          <p:cBhvr additive="base">
                                            <p:cTn id="7" dur="300" fill="hold"/>
                                            <p:tgtEl>
                                              <p:spTgt spid="8"/>
                                            </p:tgtEl>
                                            <p:attrNameLst>
                                              <p:attrName>ppt_x</p:attrName>
                                            </p:attrNameLst>
                                          </p:cBhvr>
                                          <p:tavLst>
                                            <p:tav tm="0">
                                              <p:val>
                                                <p:strVal val="0-#ppt_w/2"/>
                                              </p:val>
                                            </p:tav>
                                            <p:tav tm="100000">
                                              <p:val>
                                                <p:strVal val="#ppt_x"/>
                                              </p:val>
                                            </p:tav>
                                          </p:tavLst>
                                        </p:anim>
                                        <p:anim calcmode="lin" valueType="num" p14:bounceEnd="33000">
                                          <p:cBhvr additive="base">
                                            <p:cTn id="8" dur="300" fill="hold"/>
                                            <p:tgtEl>
                                              <p:spTgt spid="8"/>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8" fill="hold" grpId="0" nodeType="after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left)">
                                          <p:cBhvr>
                                            <p:cTn id="12" dur="300"/>
                                            <p:tgtEl>
                                              <p:spTgt spid="9"/>
                                            </p:tgtEl>
                                          </p:cBhvr>
                                        </p:animEffect>
                                      </p:childTnLst>
                                    </p:cTn>
                                  </p:par>
                                </p:childTnLst>
                              </p:cTn>
                            </p:par>
                            <p:par>
                              <p:cTn id="13" fill="hold">
                                <p:stCondLst>
                                  <p:cond delay="1000"/>
                                </p:stCondLst>
                                <p:childTnLst>
                                  <p:par>
                                    <p:cTn id="14" presetID="2" presetClass="entr" presetSubtype="2" fill="hold" grpId="0" nodeType="afterEffect" p14:presetBounceEnd="33000">
                                      <p:stCondLst>
                                        <p:cond delay="0"/>
                                      </p:stCondLst>
                                      <p:childTnLst>
                                        <p:set>
                                          <p:cBhvr>
                                            <p:cTn id="15" dur="1" fill="hold">
                                              <p:stCondLst>
                                                <p:cond delay="0"/>
                                              </p:stCondLst>
                                            </p:cTn>
                                            <p:tgtEl>
                                              <p:spTgt spid="10"/>
                                            </p:tgtEl>
                                            <p:attrNameLst>
                                              <p:attrName>style.visibility</p:attrName>
                                            </p:attrNameLst>
                                          </p:cBhvr>
                                          <p:to>
                                            <p:strVal val="visible"/>
                                          </p:to>
                                        </p:set>
                                        <p:anim calcmode="lin" valueType="num" p14:bounceEnd="33000">
                                          <p:cBhvr additive="base">
                                            <p:cTn id="16" dur="300" fill="hold"/>
                                            <p:tgtEl>
                                              <p:spTgt spid="10"/>
                                            </p:tgtEl>
                                            <p:attrNameLst>
                                              <p:attrName>ppt_x</p:attrName>
                                            </p:attrNameLst>
                                          </p:cBhvr>
                                          <p:tavLst>
                                            <p:tav tm="0">
                                              <p:val>
                                                <p:strVal val="1+#ppt_w/2"/>
                                              </p:val>
                                            </p:tav>
                                            <p:tav tm="100000">
                                              <p:val>
                                                <p:strVal val="#ppt_x"/>
                                              </p:val>
                                            </p:tav>
                                          </p:tavLst>
                                        </p:anim>
                                        <p:anim calcmode="lin" valueType="num" p14:bounceEnd="33000">
                                          <p:cBhvr additive="base">
                                            <p:cTn id="17" dur="3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300" fill="hold"/>
                                            <p:tgtEl>
                                              <p:spTgt spid="8"/>
                                            </p:tgtEl>
                                            <p:attrNameLst>
                                              <p:attrName>ppt_x</p:attrName>
                                            </p:attrNameLst>
                                          </p:cBhvr>
                                          <p:tavLst>
                                            <p:tav tm="0">
                                              <p:val>
                                                <p:strVal val="0-#ppt_w/2"/>
                                              </p:val>
                                            </p:tav>
                                            <p:tav tm="100000">
                                              <p:val>
                                                <p:strVal val="#ppt_x"/>
                                              </p:val>
                                            </p:tav>
                                          </p:tavLst>
                                        </p:anim>
                                        <p:anim calcmode="lin" valueType="num">
                                          <p:cBhvr additive="base">
                                            <p:cTn id="8" dur="300" fill="hold"/>
                                            <p:tgtEl>
                                              <p:spTgt spid="8"/>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8" fill="hold" grpId="0" nodeType="after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left)">
                                          <p:cBhvr>
                                            <p:cTn id="12" dur="300"/>
                                            <p:tgtEl>
                                              <p:spTgt spid="9"/>
                                            </p:tgtEl>
                                          </p:cBhvr>
                                        </p:animEffect>
                                      </p:childTnLst>
                                    </p:cTn>
                                  </p:par>
                                </p:childTnLst>
                              </p:cTn>
                            </p:par>
                            <p:par>
                              <p:cTn id="13" fill="hold">
                                <p:stCondLst>
                                  <p:cond delay="1000"/>
                                </p:stCondLst>
                                <p:childTnLst>
                                  <p:par>
                                    <p:cTn id="14" presetID="2" presetClass="entr" presetSubtype="2" fill="hold" grpId="0" nodeType="afterEffect">
                                      <p:stCondLst>
                                        <p:cond delay="0"/>
                                      </p:stCondLst>
                                      <p:childTnLst>
                                        <p:set>
                                          <p:cBhvr>
                                            <p:cTn id="15" dur="1" fill="hold">
                                              <p:stCondLst>
                                                <p:cond delay="0"/>
                                              </p:stCondLst>
                                            </p:cTn>
                                            <p:tgtEl>
                                              <p:spTgt spid="10"/>
                                            </p:tgtEl>
                                            <p:attrNameLst>
                                              <p:attrName>style.visibility</p:attrName>
                                            </p:attrNameLst>
                                          </p:cBhvr>
                                          <p:to>
                                            <p:strVal val="visible"/>
                                          </p:to>
                                        </p:set>
                                        <p:anim calcmode="lin" valueType="num">
                                          <p:cBhvr additive="base">
                                            <p:cTn id="16" dur="300" fill="hold"/>
                                            <p:tgtEl>
                                              <p:spTgt spid="10"/>
                                            </p:tgtEl>
                                            <p:attrNameLst>
                                              <p:attrName>ppt_x</p:attrName>
                                            </p:attrNameLst>
                                          </p:cBhvr>
                                          <p:tavLst>
                                            <p:tav tm="0">
                                              <p:val>
                                                <p:strVal val="1+#ppt_w/2"/>
                                              </p:val>
                                            </p:tav>
                                            <p:tav tm="100000">
                                              <p:val>
                                                <p:strVal val="#ppt_x"/>
                                              </p:val>
                                            </p:tav>
                                          </p:tavLst>
                                        </p:anim>
                                        <p:anim calcmode="lin" valueType="num">
                                          <p:cBhvr additive="base">
                                            <p:cTn id="17" dur="3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Lst>
      </p:timing>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963614" y="4406901"/>
            <a:ext cx="10366375" cy="1362075"/>
          </a:xfrm>
        </p:spPr>
        <p:txBody>
          <a:bodyPr anchor="t"/>
          <a:lstStyle>
            <a:lvl1pPr algn="l">
              <a:defRPr sz="4000" b="1" cap="all">
                <a:solidFill>
                  <a:srgbClr val="F8F8F8"/>
                </a:solidFill>
              </a:defRPr>
            </a:lvl1pPr>
          </a:lstStyle>
          <a:p>
            <a:r>
              <a:rPr lang="zh-CN" altLang="en-US"/>
              <a:t>单击此处编辑母版标题样式</a:t>
            </a:r>
          </a:p>
        </p:txBody>
      </p:sp>
      <p:sp>
        <p:nvSpPr>
          <p:cNvPr id="3" name="文本占位符 2"/>
          <p:cNvSpPr>
            <a:spLocks noGrp="1"/>
          </p:cNvSpPr>
          <p:nvPr>
            <p:ph type="body" idx="1"/>
          </p:nvPr>
        </p:nvSpPr>
        <p:spPr>
          <a:xfrm>
            <a:off x="963614" y="2906713"/>
            <a:ext cx="10366375" cy="1500187"/>
          </a:xfrm>
        </p:spPr>
        <p:txBody>
          <a:bodyPr anchor="b"/>
          <a:lstStyle>
            <a:lvl1pPr marL="0" indent="0">
              <a:buNone/>
              <a:defRPr sz="2000">
                <a:solidFill>
                  <a:srgbClr val="F8F8F8"/>
                </a:solidFill>
              </a:defRPr>
            </a:lvl1pPr>
            <a:lvl2pPr marL="457200" indent="0">
              <a:buNone/>
              <a:defRPr sz="1700"/>
            </a:lvl2pPr>
            <a:lvl3pPr marL="914400" indent="0">
              <a:buNone/>
              <a:defRPr sz="1600"/>
            </a:lvl3pPr>
            <a:lvl4pPr marL="1371600" indent="0">
              <a:buNone/>
              <a:defRPr sz="1300"/>
            </a:lvl4pPr>
            <a:lvl5pPr marL="1828800" indent="0">
              <a:buNone/>
              <a:defRPr sz="1300"/>
            </a:lvl5pPr>
            <a:lvl6pPr marL="2286000" indent="0">
              <a:buNone/>
              <a:defRPr sz="1300"/>
            </a:lvl6pPr>
            <a:lvl7pPr marL="2743200" indent="0">
              <a:buNone/>
              <a:defRPr sz="1300"/>
            </a:lvl7pPr>
            <a:lvl8pPr marL="3200400" indent="0">
              <a:buNone/>
              <a:defRPr sz="1300"/>
            </a:lvl8pPr>
            <a:lvl9pPr marL="3657600" indent="0">
              <a:buNone/>
              <a:defRPr sz="1300"/>
            </a:lvl9pPr>
          </a:lstStyle>
          <a:p>
            <a:pPr lvl="0"/>
            <a:r>
              <a:rPr lang="zh-CN" altLang="en-US"/>
              <a:t>单击此处编辑母版文本样式</a:t>
            </a:r>
          </a:p>
        </p:txBody>
      </p:sp>
    </p:spTree>
  </p:cSld>
  <p:clrMapOvr>
    <a:masterClrMapping/>
  </p:clrMapOvr>
  <mc:AlternateContent xmlns:mc="http://schemas.openxmlformats.org/markup-compatibility/2006" xmlns:p14="http://schemas.microsoft.com/office/powerpoint/2010/main">
    <mc:Choice Requires="p14">
      <p:transition p14:dur="10" advTm="9437"/>
    </mc:Choice>
    <mc:Fallback xmlns="">
      <p:transition advTm="9437"/>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599" y="1600201"/>
            <a:ext cx="5411788" cy="4525963"/>
          </a:xfrm>
        </p:spPr>
        <p:txBody>
          <a:bodyPr/>
          <a:lstStyle>
            <a:lvl1pPr>
              <a:defRPr sz="2800"/>
            </a:lvl1pPr>
            <a:lvl2pPr>
              <a:defRPr sz="2400"/>
            </a:lvl2pPr>
            <a:lvl3pPr>
              <a:defRPr sz="2000"/>
            </a:lvl3pPr>
            <a:lvl4pPr>
              <a:defRPr sz="1700"/>
            </a:lvl4pPr>
            <a:lvl5pPr>
              <a:defRPr sz="1700"/>
            </a:lvl5pPr>
            <a:lvl6pPr>
              <a:defRPr sz="1700"/>
            </a:lvl6pPr>
            <a:lvl7pPr>
              <a:defRPr sz="1700"/>
            </a:lvl7pPr>
            <a:lvl8pPr>
              <a:defRPr sz="1700"/>
            </a:lvl8pPr>
            <a:lvl9pPr>
              <a:defRPr sz="17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3788" y="1600201"/>
            <a:ext cx="5413375" cy="4525963"/>
          </a:xfrm>
        </p:spPr>
        <p:txBody>
          <a:bodyPr/>
          <a:lstStyle>
            <a:lvl1pPr>
              <a:defRPr sz="2800"/>
            </a:lvl1pPr>
            <a:lvl2pPr>
              <a:defRPr sz="2400"/>
            </a:lvl2pPr>
            <a:lvl3pPr>
              <a:defRPr sz="2000"/>
            </a:lvl3pPr>
            <a:lvl4pPr>
              <a:defRPr sz="1700"/>
            </a:lvl4pPr>
            <a:lvl5pPr>
              <a:defRPr sz="1700"/>
            </a:lvl5pPr>
            <a:lvl6pPr>
              <a:defRPr sz="1700"/>
            </a:lvl6pPr>
            <a:lvl7pPr>
              <a:defRPr sz="1700"/>
            </a:lvl7pPr>
            <a:lvl8pPr>
              <a:defRPr sz="1700"/>
            </a:lvl8pPr>
            <a:lvl9pPr>
              <a:defRPr sz="17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pic>
        <p:nvPicPr>
          <p:cNvPr id="5" name="图片 13" descr="泰迪logo无底色.png"/>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601940" y="6309320"/>
            <a:ext cx="918092" cy="242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p14:dur="10" advTm="9437"/>
    </mc:Choice>
    <mc:Fallback xmlns="">
      <p:transition advTm="9437"/>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1" y="274637"/>
            <a:ext cx="10977563"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1" y="1535113"/>
            <a:ext cx="5389563" cy="639763"/>
          </a:xfrm>
        </p:spPr>
        <p:txBody>
          <a:bodyPr anchor="b"/>
          <a:lstStyle>
            <a:lvl1pPr marL="0" indent="0">
              <a:buNone/>
              <a:defRPr sz="2400" b="1"/>
            </a:lvl1pPr>
            <a:lvl2pPr marL="457200" indent="0">
              <a:buNone/>
              <a:defRPr sz="2000" b="1"/>
            </a:lvl2pPr>
            <a:lvl3pPr marL="914400" indent="0">
              <a:buNone/>
              <a:defRPr sz="17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1" y="2174875"/>
            <a:ext cx="5389563" cy="3951288"/>
          </a:xfrm>
        </p:spPr>
        <p:txBody>
          <a:bodyPr/>
          <a:lstStyle>
            <a:lvl1pPr>
              <a:defRPr sz="2400"/>
            </a:lvl1pPr>
            <a:lvl2pPr>
              <a:defRPr sz="2000"/>
            </a:lvl2pPr>
            <a:lvl3pPr>
              <a:defRPr sz="17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6013" y="1535113"/>
            <a:ext cx="5391151" cy="639763"/>
          </a:xfrm>
        </p:spPr>
        <p:txBody>
          <a:bodyPr anchor="b"/>
          <a:lstStyle>
            <a:lvl1pPr marL="0" indent="0">
              <a:buNone/>
              <a:defRPr sz="2400" b="1"/>
            </a:lvl1pPr>
            <a:lvl2pPr marL="457200" indent="0">
              <a:buNone/>
              <a:defRPr sz="2000" b="1"/>
            </a:lvl2pPr>
            <a:lvl3pPr marL="914400" indent="0">
              <a:buNone/>
              <a:defRPr sz="17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6013" y="2174875"/>
            <a:ext cx="5391151" cy="3951288"/>
          </a:xfrm>
        </p:spPr>
        <p:txBody>
          <a:bodyPr/>
          <a:lstStyle>
            <a:lvl1pPr>
              <a:defRPr sz="2400"/>
            </a:lvl1pPr>
            <a:lvl2pPr>
              <a:defRPr sz="2000"/>
            </a:lvl2pPr>
            <a:lvl3pPr>
              <a:defRPr sz="17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mc:AlternateContent xmlns:mc="http://schemas.openxmlformats.org/markup-compatibility/2006" xmlns:p14="http://schemas.microsoft.com/office/powerpoint/2010/main">
    <mc:Choice Requires="p14">
      <p:transition p14:dur="10" advTm="9437"/>
    </mc:Choice>
    <mc:Fallback xmlns="">
      <p:transition advTm="9437"/>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cSld>
  <p:clrMapOvr>
    <a:masterClrMapping/>
  </p:clrMapOvr>
  <mc:AlternateContent xmlns:mc="http://schemas.openxmlformats.org/markup-compatibility/2006" xmlns:p14="http://schemas.microsoft.com/office/powerpoint/2010/main">
    <mc:Choice Requires="p14">
      <p:transition p14:dur="10" advTm="9437"/>
    </mc:Choice>
    <mc:Fallback xmlns="">
      <p:transition advTm="9437"/>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10" advTm="9437"/>
    </mc:Choice>
    <mc:Fallback xmlns="">
      <p:transition advTm="9437"/>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49"/>
            <a:ext cx="4013201" cy="1162051"/>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8850" y="273052"/>
            <a:ext cx="6818313"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0" y="1435102"/>
            <a:ext cx="4013201" cy="4691063"/>
          </a:xfrm>
        </p:spPr>
        <p:txBody>
          <a:bodyPr/>
          <a:lstStyle>
            <a:lvl1pPr marL="0" indent="0">
              <a:buNone/>
              <a:defRPr sz="1300"/>
            </a:lvl1pPr>
            <a:lvl2pPr marL="457200" indent="0">
              <a:buNone/>
              <a:defRPr sz="1200"/>
            </a:lvl2pPr>
            <a:lvl3pPr marL="914400" indent="0">
              <a:buNone/>
              <a:defRPr sz="9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mc:AlternateContent xmlns:mc="http://schemas.openxmlformats.org/markup-compatibility/2006" xmlns:p14="http://schemas.microsoft.com/office/powerpoint/2010/main">
    <mc:Choice Requires="p14">
      <p:transition p14:dur="10" advTm="9437"/>
    </mc:Choice>
    <mc:Fallback xmlns="">
      <p:transition advTm="9437"/>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90775" y="4800600"/>
            <a:ext cx="7318375" cy="566739"/>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90775" y="612775"/>
            <a:ext cx="7318375"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2390775" y="5367338"/>
            <a:ext cx="7318375" cy="804863"/>
          </a:xfrm>
        </p:spPr>
        <p:txBody>
          <a:bodyPr/>
          <a:lstStyle>
            <a:lvl1pPr marL="0" indent="0">
              <a:buNone/>
              <a:defRPr sz="1300"/>
            </a:lvl1pPr>
            <a:lvl2pPr marL="457200" indent="0">
              <a:buNone/>
              <a:defRPr sz="1200"/>
            </a:lvl2pPr>
            <a:lvl3pPr marL="914400" indent="0">
              <a:buNone/>
              <a:defRPr sz="9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mc:AlternateContent xmlns:mc="http://schemas.openxmlformats.org/markup-compatibility/2006" xmlns:p14="http://schemas.microsoft.com/office/powerpoint/2010/main">
    <mc:Choice Requires="p14">
      <p:transition p14:dur="10" advTm="9437"/>
    </mc:Choice>
    <mc:Fallback xmlns="">
      <p:transition advTm="9437"/>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mc:AlternateContent xmlns:mc="http://schemas.openxmlformats.org/markup-compatibility/2006" xmlns:p14="http://schemas.microsoft.com/office/powerpoint/2010/main">
    <mc:Choice Requires="p14">
      <p:transition p14:dur="10" advTm="9437"/>
    </mc:Choice>
    <mc:Fallback xmlns="">
      <p:transition advTm="9437"/>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43963" y="908052"/>
            <a:ext cx="2743201" cy="5218113"/>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1" y="908052"/>
            <a:ext cx="8081963" cy="5218113"/>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mc:AlternateContent xmlns:mc="http://schemas.openxmlformats.org/markup-compatibility/2006" xmlns:p14="http://schemas.microsoft.com/office/powerpoint/2010/main">
    <mc:Choice Requires="p14">
      <p:transition p14:dur="10" advTm="9437"/>
    </mc:Choice>
    <mc:Fallback xmlns="">
      <p:transition advTm="9437"/>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spTree>
      <p:nvGrpSpPr>
        <p:cNvPr id="1" name=""/>
        <p:cNvGrpSpPr/>
        <p:nvPr/>
      </p:nvGrpSpPr>
      <p:grpSpPr>
        <a:xfrm>
          <a:off x="0" y="0"/>
          <a:ext cx="0" cy="0"/>
          <a:chOff x="0" y="0"/>
          <a:chExt cx="0" cy="0"/>
        </a:xfrm>
      </p:grpSpPr>
      <p:pic>
        <p:nvPicPr>
          <p:cNvPr id="4" name="Picture 2" descr="PPECLOGO-eff-0-1"/>
          <p:cNvPicPr>
            <a:picLocks noChangeAspect="1" noChangeArrowheads="1"/>
          </p:cNvPicPr>
          <p:nvPr userDrawn="1"/>
        </p:nvPicPr>
        <p:blipFill>
          <a:blip r:embed="rId2" cstate="screen"/>
          <a:srcRect/>
          <a:stretch>
            <a:fillRect/>
          </a:stretch>
        </p:blipFill>
        <p:spPr bwMode="auto">
          <a:xfrm>
            <a:off x="4146915" y="2886610"/>
            <a:ext cx="1060349" cy="79878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3" descr="PPECLOGO-eff-0-2"/>
          <p:cNvPicPr>
            <a:picLocks noChangeAspect="1" noChangeArrowheads="1"/>
          </p:cNvPicPr>
          <p:nvPr userDrawn="1"/>
        </p:nvPicPr>
        <p:blipFill>
          <a:blip r:embed="rId3" cstate="screen"/>
          <a:srcRect/>
          <a:stretch>
            <a:fillRect/>
          </a:stretch>
        </p:blipFill>
        <p:spPr bwMode="auto">
          <a:xfrm>
            <a:off x="8430462" y="2758265"/>
            <a:ext cx="1096814" cy="838939"/>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PPECLOGO-eff-0-3"/>
          <p:cNvPicPr>
            <a:picLocks noChangeAspect="1" noChangeArrowheads="1"/>
          </p:cNvPicPr>
          <p:nvPr userDrawn="1"/>
        </p:nvPicPr>
        <p:blipFill>
          <a:blip r:embed="rId4" cstate="print"/>
          <a:srcRect/>
          <a:stretch>
            <a:fillRect/>
          </a:stretch>
        </p:blipFill>
        <p:spPr bwMode="auto">
          <a:xfrm>
            <a:off x="1040451" y="1447780"/>
            <a:ext cx="3013732" cy="237621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5" descr="PPECLOGO-eff-0-1"/>
          <p:cNvPicPr>
            <a:picLocks noChangeAspect="1" noChangeArrowheads="1"/>
          </p:cNvPicPr>
          <p:nvPr userDrawn="1"/>
        </p:nvPicPr>
        <p:blipFill>
          <a:blip r:embed="rId5" cstate="screen"/>
          <a:srcRect/>
          <a:stretch>
            <a:fillRect/>
          </a:stretch>
        </p:blipFill>
        <p:spPr bwMode="auto">
          <a:xfrm>
            <a:off x="4467437" y="3771071"/>
            <a:ext cx="524127" cy="395616"/>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6" descr="PPECLOGO-eff-0-1"/>
          <p:cNvPicPr>
            <a:picLocks noChangeAspect="1" noChangeArrowheads="1"/>
          </p:cNvPicPr>
          <p:nvPr userDrawn="1"/>
        </p:nvPicPr>
        <p:blipFill>
          <a:blip r:embed="rId6" cstate="screen"/>
          <a:srcRect/>
          <a:stretch>
            <a:fillRect/>
          </a:stretch>
        </p:blipFill>
        <p:spPr bwMode="auto">
          <a:xfrm>
            <a:off x="7376341" y="2904247"/>
            <a:ext cx="401158" cy="30238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PPECLOGO-eff-0-2"/>
          <p:cNvPicPr>
            <a:picLocks noChangeAspect="1" noChangeArrowheads="1"/>
          </p:cNvPicPr>
          <p:nvPr userDrawn="1"/>
        </p:nvPicPr>
        <p:blipFill>
          <a:blip r:embed="rId7" cstate="screen"/>
          <a:srcRect/>
          <a:stretch>
            <a:fillRect/>
          </a:stretch>
        </p:blipFill>
        <p:spPr bwMode="auto">
          <a:xfrm>
            <a:off x="5277818" y="2574150"/>
            <a:ext cx="981731" cy="750913"/>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descr="PPECLOGO-eff-5-4"/>
          <p:cNvPicPr>
            <a:picLocks noChangeAspect="1" noChangeArrowheads="1"/>
          </p:cNvPicPr>
          <p:nvPr userDrawn="1"/>
        </p:nvPicPr>
        <p:blipFill>
          <a:blip r:embed="rId8" cstate="print"/>
          <a:srcRect/>
          <a:stretch>
            <a:fillRect/>
          </a:stretch>
        </p:blipFill>
        <p:spPr bwMode="auto">
          <a:xfrm>
            <a:off x="3261942" y="3206629"/>
            <a:ext cx="1477636" cy="1123849"/>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descr="PPECLOGO-eff-5-2"/>
          <p:cNvPicPr>
            <a:picLocks noChangeAspect="1" noChangeArrowheads="1"/>
          </p:cNvPicPr>
          <p:nvPr userDrawn="1"/>
        </p:nvPicPr>
        <p:blipFill>
          <a:blip r:embed="rId9" cstate="print"/>
          <a:srcRect/>
          <a:stretch>
            <a:fillRect/>
          </a:stretch>
        </p:blipFill>
        <p:spPr bwMode="auto">
          <a:xfrm>
            <a:off x="5352404" y="3446015"/>
            <a:ext cx="1834444" cy="1436309"/>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descr="PPECLOGO-eff-5-4"/>
          <p:cNvPicPr>
            <a:picLocks noChangeAspect="1" noChangeArrowheads="1"/>
          </p:cNvPicPr>
          <p:nvPr userDrawn="1"/>
        </p:nvPicPr>
        <p:blipFill>
          <a:blip r:embed="rId10" cstate="screen"/>
          <a:srcRect/>
          <a:stretch>
            <a:fillRect/>
          </a:stretch>
        </p:blipFill>
        <p:spPr bwMode="auto">
          <a:xfrm>
            <a:off x="9886102" y="2725339"/>
            <a:ext cx="1116793" cy="851707"/>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descr="PPECLOGO-eff-0-1"/>
          <p:cNvPicPr>
            <a:picLocks noChangeAspect="1" noChangeArrowheads="1"/>
          </p:cNvPicPr>
          <p:nvPr userDrawn="1"/>
        </p:nvPicPr>
        <p:blipFill>
          <a:blip r:embed="rId11" cstate="screen"/>
          <a:srcRect/>
          <a:stretch>
            <a:fillRect/>
          </a:stretch>
        </p:blipFill>
        <p:spPr bwMode="auto">
          <a:xfrm>
            <a:off x="7942801" y="3624922"/>
            <a:ext cx="522112" cy="393095"/>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3" descr="PPECLOGO-eff-0-1"/>
          <p:cNvPicPr>
            <a:picLocks noChangeAspect="1" noChangeArrowheads="1"/>
          </p:cNvPicPr>
          <p:nvPr userDrawn="1"/>
        </p:nvPicPr>
        <p:blipFill>
          <a:blip r:embed="rId11" cstate="screen"/>
          <a:srcRect/>
          <a:stretch>
            <a:fillRect/>
          </a:stretch>
        </p:blipFill>
        <p:spPr bwMode="auto">
          <a:xfrm>
            <a:off x="11254879" y="2365002"/>
            <a:ext cx="522111" cy="393095"/>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4" descr="PPECLOGO-eff2-1-2"/>
          <p:cNvPicPr>
            <a:picLocks noChangeAspect="1" noChangeArrowheads="1"/>
          </p:cNvPicPr>
          <p:nvPr userDrawn="1"/>
        </p:nvPicPr>
        <p:blipFill>
          <a:blip r:embed="rId12" cstate="print"/>
          <a:srcRect/>
          <a:stretch>
            <a:fillRect/>
          </a:stretch>
        </p:blipFill>
        <p:spPr bwMode="auto">
          <a:xfrm>
            <a:off x="2054437" y="2795895"/>
            <a:ext cx="1697366" cy="1428749"/>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15" descr="PPECLOGO-eff2-1-3"/>
          <p:cNvPicPr>
            <a:picLocks noChangeAspect="1" noChangeArrowheads="1"/>
          </p:cNvPicPr>
          <p:nvPr userDrawn="1"/>
        </p:nvPicPr>
        <p:blipFill>
          <a:blip r:embed="rId13" cstate="print"/>
          <a:srcRect/>
          <a:stretch>
            <a:fillRect/>
          </a:stretch>
        </p:blipFill>
        <p:spPr bwMode="auto">
          <a:xfrm>
            <a:off x="3983627" y="2785815"/>
            <a:ext cx="437445" cy="365376"/>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16" descr="PPECLOGO-eff2-1-4"/>
          <p:cNvPicPr>
            <a:picLocks noChangeAspect="1" noChangeArrowheads="1"/>
          </p:cNvPicPr>
          <p:nvPr userDrawn="1"/>
        </p:nvPicPr>
        <p:blipFill>
          <a:blip r:embed="rId14" cstate="print"/>
          <a:srcRect/>
          <a:stretch>
            <a:fillRect/>
          </a:stretch>
        </p:blipFill>
        <p:spPr bwMode="auto">
          <a:xfrm>
            <a:off x="8519341" y="3325061"/>
            <a:ext cx="703540" cy="587123"/>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7" descr="PPECLOGO-eff2-1-3"/>
          <p:cNvPicPr>
            <a:picLocks noChangeAspect="1" noChangeArrowheads="1"/>
          </p:cNvPicPr>
          <p:nvPr userDrawn="1"/>
        </p:nvPicPr>
        <p:blipFill>
          <a:blip r:embed="rId13" cstate="print"/>
          <a:srcRect/>
          <a:stretch>
            <a:fillRect/>
          </a:stretch>
        </p:blipFill>
        <p:spPr bwMode="auto">
          <a:xfrm>
            <a:off x="9239009" y="2909286"/>
            <a:ext cx="360841" cy="302381"/>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18" descr="PPECLOGO-eff2-1-3"/>
          <p:cNvPicPr>
            <a:picLocks noChangeAspect="1" noChangeArrowheads="1"/>
          </p:cNvPicPr>
          <p:nvPr userDrawn="1"/>
        </p:nvPicPr>
        <p:blipFill>
          <a:blip r:embed="rId13" cstate="print"/>
          <a:srcRect/>
          <a:stretch>
            <a:fillRect/>
          </a:stretch>
        </p:blipFill>
        <p:spPr bwMode="auto">
          <a:xfrm>
            <a:off x="9744990" y="3446014"/>
            <a:ext cx="282222" cy="23686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p14:dur="10" advTm="9437"/>
    </mc:Choice>
    <mc:Fallback xmlns="">
      <p:transition advTm="943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500"/>
                                        <p:tgtEl>
                                          <p:spTgt spid="4"/>
                                        </p:tgtEl>
                                      </p:cBhvr>
                                    </p:animEffect>
                                  </p:childTnLst>
                                </p:cTn>
                              </p:par>
                              <p:par>
                                <p:cTn id="17" presetID="10"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par>
                                <p:cTn id="20" presetID="10" presetClass="entr" presetSubtype="0" fill="hold"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par>
                                <p:cTn id="23" presetID="10" presetClass="entr" presetSubtype="0" fill="hold"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500"/>
                                        <p:tgtEl>
                                          <p:spTgt spid="13"/>
                                        </p:tgtEl>
                                      </p:cBhvr>
                                    </p:animEffect>
                                  </p:childTnLst>
                                </p:cTn>
                              </p:par>
                              <p:par>
                                <p:cTn id="26" presetID="10" presetClass="entr" presetSubtype="0" fill="hold" nodeType="with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fade">
                                      <p:cBhvr>
                                        <p:cTn id="28" dur="500"/>
                                        <p:tgtEl>
                                          <p:spTgt spid="5"/>
                                        </p:tgtEl>
                                      </p:cBhvr>
                                    </p:animEffect>
                                  </p:childTnLst>
                                </p:cTn>
                              </p:par>
                              <p:par>
                                <p:cTn id="29" presetID="10" presetClass="entr" presetSubtype="0" fill="hold"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500"/>
                                        <p:tgtEl>
                                          <p:spTgt spid="12"/>
                                        </p:tgtEl>
                                      </p:cBhvr>
                                    </p:animEffect>
                                  </p:childTnLst>
                                </p:cTn>
                              </p:par>
                              <p:par>
                                <p:cTn id="32" presetID="10" presetClass="entr" presetSubtype="0" fill="hold" nodeType="with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fade">
                                      <p:cBhvr>
                                        <p:cTn id="34" dur="500"/>
                                        <p:tgtEl>
                                          <p:spTgt spid="8"/>
                                        </p:tgtEl>
                                      </p:cBhvr>
                                    </p:animEffect>
                                  </p:childTnLst>
                                </p:cTn>
                              </p:par>
                              <p:par>
                                <p:cTn id="35" presetID="10" presetClass="entr" presetSubtype="0" fill="hold" nodeType="with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500"/>
                                        <p:tgtEl>
                                          <p:spTgt spid="14"/>
                                        </p:tgtEl>
                                      </p:cBhvr>
                                    </p:animEffect>
                                  </p:childTnLst>
                                </p:cTn>
                              </p:par>
                              <p:par>
                                <p:cTn id="38" presetID="35" presetClass="path" presetSubtype="0" fill="hold" nodeType="withEffect">
                                  <p:stCondLst>
                                    <p:cond delay="0"/>
                                  </p:stCondLst>
                                  <p:childTnLst>
                                    <p:animMotion origin="layout" path="M 0 0  L -0.25 0  E" pathEditMode="relative" rAng="0" ptsTypes="">
                                      <p:cBhvr>
                                        <p:cTn id="39" dur="3000" fill="hold"/>
                                        <p:tgtEl>
                                          <p:spTgt spid="12"/>
                                        </p:tgtEl>
                                        <p:attrNameLst>
                                          <p:attrName>ppt_x</p:attrName>
                                          <p:attrName>ppt_y</p:attrName>
                                        </p:attrNameLst>
                                      </p:cBhvr>
                                      <p:rCtr x="0" y="0"/>
                                    </p:animMotion>
                                  </p:childTnLst>
                                </p:cTn>
                              </p:par>
                              <p:par>
                                <p:cTn id="40" presetID="35" presetClass="path" presetSubtype="0" fill="hold" nodeType="withEffect">
                                  <p:stCondLst>
                                    <p:cond delay="0"/>
                                  </p:stCondLst>
                                  <p:childTnLst>
                                    <p:animMotion origin="layout" path="M 4.16667E-6 3.33333E-6 L -0.31632 3.33333E-6 " pathEditMode="relative" rAng="0" ptsTypes="AA">
                                      <p:cBhvr>
                                        <p:cTn id="41" dur="3000" fill="hold"/>
                                        <p:tgtEl>
                                          <p:spTgt spid="5"/>
                                        </p:tgtEl>
                                        <p:attrNameLst>
                                          <p:attrName>ppt_x</p:attrName>
                                          <p:attrName>ppt_y</p:attrName>
                                        </p:attrNameLst>
                                      </p:cBhvr>
                                      <p:rCtr x="-15816" y="0"/>
                                    </p:animMotion>
                                  </p:childTnLst>
                                </p:cTn>
                              </p:par>
                              <p:par>
                                <p:cTn id="42" presetID="35" presetClass="path" presetSubtype="0" fill="hold" nodeType="withEffect">
                                  <p:stCondLst>
                                    <p:cond delay="0"/>
                                  </p:stCondLst>
                                  <p:childTnLst>
                                    <p:animMotion origin="layout" path="M 0.00504 -1.85185E-6 L -0.46684 -1.85185E-6 " pathEditMode="relative" rAng="0" ptsTypes="AA">
                                      <p:cBhvr>
                                        <p:cTn id="43" dur="3000" fill="hold"/>
                                        <p:tgtEl>
                                          <p:spTgt spid="8"/>
                                        </p:tgtEl>
                                        <p:attrNameLst>
                                          <p:attrName>ppt_x</p:attrName>
                                          <p:attrName>ppt_y</p:attrName>
                                        </p:attrNameLst>
                                      </p:cBhvr>
                                      <p:rCtr x="-23594" y="0"/>
                                    </p:animMotion>
                                  </p:childTnLst>
                                </p:cTn>
                              </p:par>
                              <p:par>
                                <p:cTn id="44" presetID="35" presetClass="path" presetSubtype="0" fill="hold" nodeType="withEffect">
                                  <p:stCondLst>
                                    <p:cond delay="0"/>
                                  </p:stCondLst>
                                  <p:childTnLst>
                                    <p:animMotion origin="layout" path="M -3.05556E-6 1.11111E-6 L -0.19531 1.11111E-6 " pathEditMode="relative" rAng="0" ptsTypes="AA">
                                      <p:cBhvr>
                                        <p:cTn id="45" dur="3000" fill="hold"/>
                                        <p:tgtEl>
                                          <p:spTgt spid="9"/>
                                        </p:tgtEl>
                                        <p:attrNameLst>
                                          <p:attrName>ppt_x</p:attrName>
                                          <p:attrName>ppt_y</p:attrName>
                                        </p:attrNameLst>
                                      </p:cBhvr>
                                      <p:rCtr x="-9774" y="0"/>
                                    </p:animMotion>
                                  </p:childTnLst>
                                </p:cTn>
                              </p:par>
                              <p:par>
                                <p:cTn id="46" presetID="35" presetClass="path" presetSubtype="0" fill="hold" nodeType="withEffect">
                                  <p:stCondLst>
                                    <p:cond delay="0"/>
                                  </p:stCondLst>
                                  <p:childTnLst>
                                    <p:animMotion origin="layout" path="M 5.55556E-7 2.59259E-6 L -0.43594 2.59259E-6 " pathEditMode="relative" rAng="0" ptsTypes="AA">
                                      <p:cBhvr>
                                        <p:cTn id="47" dur="3000" fill="hold"/>
                                        <p:tgtEl>
                                          <p:spTgt spid="7"/>
                                        </p:tgtEl>
                                        <p:attrNameLst>
                                          <p:attrName>ppt_x</p:attrName>
                                          <p:attrName>ppt_y</p:attrName>
                                        </p:attrNameLst>
                                      </p:cBhvr>
                                      <p:rCtr x="-21806" y="0"/>
                                    </p:animMotion>
                                  </p:childTnLst>
                                </p:cTn>
                              </p:par>
                              <p:par>
                                <p:cTn id="48" presetID="35" presetClass="path" presetSubtype="0" fill="hold" nodeType="withEffect">
                                  <p:stCondLst>
                                    <p:cond delay="0"/>
                                  </p:stCondLst>
                                  <p:childTnLst>
                                    <p:animMotion origin="layout" path="M 3.05556E-6 -1.85185E-6 L -0.33577 -1.85185E-6 " pathEditMode="relative" rAng="0" ptsTypes="AA">
                                      <p:cBhvr>
                                        <p:cTn id="49" dur="3000" fill="hold"/>
                                        <p:tgtEl>
                                          <p:spTgt spid="4"/>
                                        </p:tgtEl>
                                        <p:attrNameLst>
                                          <p:attrName>ppt_x</p:attrName>
                                          <p:attrName>ppt_y</p:attrName>
                                        </p:attrNameLst>
                                      </p:cBhvr>
                                      <p:rCtr x="-16788" y="0"/>
                                    </p:animMotion>
                                  </p:childTnLst>
                                </p:cTn>
                              </p:par>
                              <p:par>
                                <p:cTn id="50" presetID="35" presetClass="path" presetSubtype="0" fill="hold" nodeType="withEffect">
                                  <p:stCondLst>
                                    <p:cond delay="0"/>
                                  </p:stCondLst>
                                  <p:childTnLst>
                                    <p:animMotion origin="layout" path="M 1.66667E-6 -1.85185E-6 L -0.57188 -1.85185E-6 " pathEditMode="relative" rAng="0" ptsTypes="AA">
                                      <p:cBhvr>
                                        <p:cTn id="51" dur="3000" fill="hold"/>
                                        <p:tgtEl>
                                          <p:spTgt spid="13"/>
                                        </p:tgtEl>
                                        <p:attrNameLst>
                                          <p:attrName>ppt_x</p:attrName>
                                          <p:attrName>ppt_y</p:attrName>
                                        </p:attrNameLst>
                                      </p:cBhvr>
                                      <p:rCtr x="-28594" y="0"/>
                                    </p:animMotion>
                                  </p:childTnLst>
                                </p:cTn>
                              </p:par>
                              <p:par>
                                <p:cTn id="52" presetID="35" presetClass="path" presetSubtype="0" fill="hold" nodeType="withEffect">
                                  <p:stCondLst>
                                    <p:cond delay="0"/>
                                  </p:stCondLst>
                                  <p:childTnLst>
                                    <p:animMotion origin="layout" path="M 1.66667E-6 -1.85185E-6 L -0.57188 -1.85185E-6 " pathEditMode="relative" rAng="0" ptsTypes="AA">
                                      <p:cBhvr>
                                        <p:cTn id="53" dur="3000" fill="hold"/>
                                        <p:tgtEl>
                                          <p:spTgt spid="14"/>
                                        </p:tgtEl>
                                        <p:attrNameLst>
                                          <p:attrName>ppt_x</p:attrName>
                                          <p:attrName>ppt_y</p:attrName>
                                        </p:attrNameLst>
                                      </p:cBhvr>
                                      <p:rCtr x="-28594" y="0"/>
                                    </p:animMotion>
                                  </p:childTnLst>
                                </p:cTn>
                              </p:par>
                              <p:par>
                                <p:cTn id="54" presetID="63" presetClass="path" presetSubtype="0" fill="hold" nodeType="withEffect">
                                  <p:stCondLst>
                                    <p:cond delay="0"/>
                                  </p:stCondLst>
                                  <p:childTnLst>
                                    <p:animMotion origin="layout" path="M 5.55556E-7 2.59259E-6 L 0.43906 2.59259E-6 " pathEditMode="relative" rAng="0" ptsTypes="AA">
                                      <p:cBhvr>
                                        <p:cTn id="55" dur="3000" fill="hold"/>
                                        <p:tgtEl>
                                          <p:spTgt spid="11"/>
                                        </p:tgtEl>
                                        <p:attrNameLst>
                                          <p:attrName>ppt_x</p:attrName>
                                          <p:attrName>ppt_y</p:attrName>
                                        </p:attrNameLst>
                                      </p:cBhvr>
                                      <p:rCtr x="21944" y="0"/>
                                    </p:animMotion>
                                  </p:childTnLst>
                                </p:cTn>
                              </p:par>
                              <p:par>
                                <p:cTn id="56" presetID="63" presetClass="path" presetSubtype="0" fill="hold" nodeType="withEffect">
                                  <p:stCondLst>
                                    <p:cond delay="0"/>
                                  </p:stCondLst>
                                  <p:childTnLst>
                                    <p:animMotion origin="layout" path="M -1.38889E-6 2.96296E-6 L 0.62813 2.96296E-6 " pathEditMode="relative" rAng="0" ptsTypes="AA">
                                      <p:cBhvr>
                                        <p:cTn id="57" dur="3000" fill="hold"/>
                                        <p:tgtEl>
                                          <p:spTgt spid="10"/>
                                        </p:tgtEl>
                                        <p:attrNameLst>
                                          <p:attrName>ppt_x</p:attrName>
                                          <p:attrName>ppt_y</p:attrName>
                                        </p:attrNameLst>
                                      </p:cBhvr>
                                      <p:rCtr x="31406" y="0"/>
                                    </p:animMotion>
                                  </p:childTnLst>
                                </p:cTn>
                              </p:par>
                              <p:par>
                                <p:cTn id="58" presetID="63" presetClass="path" presetSubtype="0" fill="hold" nodeType="withEffect">
                                  <p:stCondLst>
                                    <p:cond delay="0"/>
                                  </p:stCondLst>
                                  <p:childTnLst>
                                    <p:animMotion origin="layout" path="M 2.77778E-6 -2.96296E-6 L 0.42465 -2.96296E-6 " pathEditMode="relative" rAng="0" ptsTypes="AA">
                                      <p:cBhvr>
                                        <p:cTn id="59" dur="3000" fill="hold"/>
                                        <p:tgtEl>
                                          <p:spTgt spid="6"/>
                                        </p:tgtEl>
                                        <p:attrNameLst>
                                          <p:attrName>ppt_x</p:attrName>
                                          <p:attrName>ppt_y</p:attrName>
                                        </p:attrNameLst>
                                      </p:cBhvr>
                                      <p:rCtr x="21233" y="0"/>
                                    </p:animMotion>
                                  </p:childTnLst>
                                </p:cTn>
                              </p:par>
                              <p:par>
                                <p:cTn id="60" presetID="10" presetClass="exit" presetSubtype="0" fill="hold" nodeType="withEffect">
                                  <p:stCondLst>
                                    <p:cond delay="2500"/>
                                  </p:stCondLst>
                                  <p:childTnLst>
                                    <p:animEffect transition="out" filter="fade">
                                      <p:cBhvr>
                                        <p:cTn id="61" dur="500"/>
                                        <p:tgtEl>
                                          <p:spTgt spid="10"/>
                                        </p:tgtEl>
                                      </p:cBhvr>
                                    </p:animEffect>
                                    <p:set>
                                      <p:cBhvr>
                                        <p:cTn id="62" dur="1" fill="hold">
                                          <p:stCondLst>
                                            <p:cond delay="499"/>
                                          </p:stCondLst>
                                        </p:cTn>
                                        <p:tgtEl>
                                          <p:spTgt spid="10"/>
                                        </p:tgtEl>
                                        <p:attrNameLst>
                                          <p:attrName>style.visibility</p:attrName>
                                        </p:attrNameLst>
                                      </p:cBhvr>
                                      <p:to>
                                        <p:strVal val="hidden"/>
                                      </p:to>
                                    </p:set>
                                  </p:childTnLst>
                                </p:cTn>
                              </p:par>
                              <p:par>
                                <p:cTn id="63" presetID="10" presetClass="exit" presetSubtype="0" fill="hold" nodeType="withEffect">
                                  <p:stCondLst>
                                    <p:cond delay="2500"/>
                                  </p:stCondLst>
                                  <p:childTnLst>
                                    <p:animEffect transition="out" filter="fade">
                                      <p:cBhvr>
                                        <p:cTn id="64" dur="500"/>
                                        <p:tgtEl>
                                          <p:spTgt spid="11"/>
                                        </p:tgtEl>
                                      </p:cBhvr>
                                    </p:animEffect>
                                    <p:set>
                                      <p:cBhvr>
                                        <p:cTn id="65" dur="1" fill="hold">
                                          <p:stCondLst>
                                            <p:cond delay="499"/>
                                          </p:stCondLst>
                                        </p:cTn>
                                        <p:tgtEl>
                                          <p:spTgt spid="11"/>
                                        </p:tgtEl>
                                        <p:attrNameLst>
                                          <p:attrName>style.visibility</p:attrName>
                                        </p:attrNameLst>
                                      </p:cBhvr>
                                      <p:to>
                                        <p:strVal val="hidden"/>
                                      </p:to>
                                    </p:set>
                                  </p:childTnLst>
                                </p:cTn>
                              </p:par>
                              <p:par>
                                <p:cTn id="66" presetID="10" presetClass="exit" presetSubtype="0" fill="hold" nodeType="withEffect">
                                  <p:stCondLst>
                                    <p:cond delay="2500"/>
                                  </p:stCondLst>
                                  <p:childTnLst>
                                    <p:animEffect transition="out" filter="fade">
                                      <p:cBhvr>
                                        <p:cTn id="67" dur="500"/>
                                        <p:tgtEl>
                                          <p:spTgt spid="13"/>
                                        </p:tgtEl>
                                      </p:cBhvr>
                                    </p:animEffect>
                                    <p:set>
                                      <p:cBhvr>
                                        <p:cTn id="68" dur="1" fill="hold">
                                          <p:stCondLst>
                                            <p:cond delay="499"/>
                                          </p:stCondLst>
                                        </p:cTn>
                                        <p:tgtEl>
                                          <p:spTgt spid="13"/>
                                        </p:tgtEl>
                                        <p:attrNameLst>
                                          <p:attrName>style.visibility</p:attrName>
                                        </p:attrNameLst>
                                      </p:cBhvr>
                                      <p:to>
                                        <p:strVal val="hidden"/>
                                      </p:to>
                                    </p:set>
                                  </p:childTnLst>
                                </p:cTn>
                              </p:par>
                              <p:par>
                                <p:cTn id="69" presetID="10" presetClass="exit" presetSubtype="0" fill="hold" nodeType="withEffect">
                                  <p:stCondLst>
                                    <p:cond delay="2500"/>
                                  </p:stCondLst>
                                  <p:childTnLst>
                                    <p:animEffect transition="out" filter="fade">
                                      <p:cBhvr>
                                        <p:cTn id="70" dur="500"/>
                                        <p:tgtEl>
                                          <p:spTgt spid="7"/>
                                        </p:tgtEl>
                                      </p:cBhvr>
                                    </p:animEffect>
                                    <p:set>
                                      <p:cBhvr>
                                        <p:cTn id="71" dur="1" fill="hold">
                                          <p:stCondLst>
                                            <p:cond delay="499"/>
                                          </p:stCondLst>
                                        </p:cTn>
                                        <p:tgtEl>
                                          <p:spTgt spid="7"/>
                                        </p:tgtEl>
                                        <p:attrNameLst>
                                          <p:attrName>style.visibility</p:attrName>
                                        </p:attrNameLst>
                                      </p:cBhvr>
                                      <p:to>
                                        <p:strVal val="hidden"/>
                                      </p:to>
                                    </p:set>
                                  </p:childTnLst>
                                </p:cTn>
                              </p:par>
                              <p:par>
                                <p:cTn id="72" presetID="10" presetClass="exit" presetSubtype="0" fill="hold" nodeType="withEffect">
                                  <p:stCondLst>
                                    <p:cond delay="2500"/>
                                  </p:stCondLst>
                                  <p:childTnLst>
                                    <p:animEffect transition="out" filter="fade">
                                      <p:cBhvr>
                                        <p:cTn id="73" dur="500"/>
                                        <p:tgtEl>
                                          <p:spTgt spid="9"/>
                                        </p:tgtEl>
                                      </p:cBhvr>
                                    </p:animEffect>
                                    <p:set>
                                      <p:cBhvr>
                                        <p:cTn id="74" dur="1" fill="hold">
                                          <p:stCondLst>
                                            <p:cond delay="499"/>
                                          </p:stCondLst>
                                        </p:cTn>
                                        <p:tgtEl>
                                          <p:spTgt spid="9"/>
                                        </p:tgtEl>
                                        <p:attrNameLst>
                                          <p:attrName>style.visibility</p:attrName>
                                        </p:attrNameLst>
                                      </p:cBhvr>
                                      <p:to>
                                        <p:strVal val="hidden"/>
                                      </p:to>
                                    </p:set>
                                  </p:childTnLst>
                                </p:cTn>
                              </p:par>
                              <p:par>
                                <p:cTn id="75" presetID="10" presetClass="exit" presetSubtype="0" fill="hold" nodeType="withEffect">
                                  <p:stCondLst>
                                    <p:cond delay="2500"/>
                                  </p:stCondLst>
                                  <p:childTnLst>
                                    <p:animEffect transition="out" filter="fade">
                                      <p:cBhvr>
                                        <p:cTn id="76" dur="500"/>
                                        <p:tgtEl>
                                          <p:spTgt spid="5"/>
                                        </p:tgtEl>
                                      </p:cBhvr>
                                    </p:animEffect>
                                    <p:set>
                                      <p:cBhvr>
                                        <p:cTn id="77" dur="1" fill="hold">
                                          <p:stCondLst>
                                            <p:cond delay="499"/>
                                          </p:stCondLst>
                                        </p:cTn>
                                        <p:tgtEl>
                                          <p:spTgt spid="5"/>
                                        </p:tgtEl>
                                        <p:attrNameLst>
                                          <p:attrName>style.visibility</p:attrName>
                                        </p:attrNameLst>
                                      </p:cBhvr>
                                      <p:to>
                                        <p:strVal val="hidden"/>
                                      </p:to>
                                    </p:set>
                                  </p:childTnLst>
                                </p:cTn>
                              </p:par>
                              <p:par>
                                <p:cTn id="78" presetID="10" presetClass="exit" presetSubtype="0" fill="hold" nodeType="withEffect">
                                  <p:stCondLst>
                                    <p:cond delay="2500"/>
                                  </p:stCondLst>
                                  <p:childTnLst>
                                    <p:animEffect transition="out" filter="fade">
                                      <p:cBhvr>
                                        <p:cTn id="79" dur="500"/>
                                        <p:tgtEl>
                                          <p:spTgt spid="12"/>
                                        </p:tgtEl>
                                      </p:cBhvr>
                                    </p:animEffect>
                                    <p:set>
                                      <p:cBhvr>
                                        <p:cTn id="80" dur="1" fill="hold">
                                          <p:stCondLst>
                                            <p:cond delay="499"/>
                                          </p:stCondLst>
                                        </p:cTn>
                                        <p:tgtEl>
                                          <p:spTgt spid="12"/>
                                        </p:tgtEl>
                                        <p:attrNameLst>
                                          <p:attrName>style.visibility</p:attrName>
                                        </p:attrNameLst>
                                      </p:cBhvr>
                                      <p:to>
                                        <p:strVal val="hidden"/>
                                      </p:to>
                                    </p:set>
                                  </p:childTnLst>
                                </p:cTn>
                              </p:par>
                              <p:par>
                                <p:cTn id="81" presetID="10" presetClass="exit" presetSubtype="0" fill="hold" nodeType="withEffect">
                                  <p:stCondLst>
                                    <p:cond delay="2500"/>
                                  </p:stCondLst>
                                  <p:childTnLst>
                                    <p:animEffect transition="out" filter="fade">
                                      <p:cBhvr>
                                        <p:cTn id="82" dur="500"/>
                                        <p:tgtEl>
                                          <p:spTgt spid="14"/>
                                        </p:tgtEl>
                                      </p:cBhvr>
                                    </p:animEffect>
                                    <p:set>
                                      <p:cBhvr>
                                        <p:cTn id="83" dur="1" fill="hold">
                                          <p:stCondLst>
                                            <p:cond delay="499"/>
                                          </p:stCondLst>
                                        </p:cTn>
                                        <p:tgtEl>
                                          <p:spTgt spid="14"/>
                                        </p:tgtEl>
                                        <p:attrNameLst>
                                          <p:attrName>style.visibility</p:attrName>
                                        </p:attrNameLst>
                                      </p:cBhvr>
                                      <p:to>
                                        <p:strVal val="hidden"/>
                                      </p:to>
                                    </p:set>
                                  </p:childTnLst>
                                </p:cTn>
                              </p:par>
                              <p:par>
                                <p:cTn id="84" presetID="10" presetClass="exit" presetSubtype="0" fill="hold" nodeType="withEffect">
                                  <p:stCondLst>
                                    <p:cond delay="2500"/>
                                  </p:stCondLst>
                                  <p:childTnLst>
                                    <p:animEffect transition="out" filter="fade">
                                      <p:cBhvr>
                                        <p:cTn id="85" dur="500"/>
                                        <p:tgtEl>
                                          <p:spTgt spid="6"/>
                                        </p:tgtEl>
                                      </p:cBhvr>
                                    </p:animEffect>
                                    <p:set>
                                      <p:cBhvr>
                                        <p:cTn id="86" dur="1" fill="hold">
                                          <p:stCondLst>
                                            <p:cond delay="499"/>
                                          </p:stCondLst>
                                        </p:cTn>
                                        <p:tgtEl>
                                          <p:spTgt spid="6"/>
                                        </p:tgtEl>
                                        <p:attrNameLst>
                                          <p:attrName>style.visibility</p:attrName>
                                        </p:attrNameLst>
                                      </p:cBhvr>
                                      <p:to>
                                        <p:strVal val="hidden"/>
                                      </p:to>
                                    </p:set>
                                  </p:childTnLst>
                                </p:cTn>
                              </p:par>
                              <p:par>
                                <p:cTn id="87" presetID="10" presetClass="exit" presetSubtype="0" fill="hold" nodeType="withEffect">
                                  <p:stCondLst>
                                    <p:cond delay="2500"/>
                                  </p:stCondLst>
                                  <p:childTnLst>
                                    <p:animEffect transition="out" filter="fade">
                                      <p:cBhvr>
                                        <p:cTn id="88" dur="500"/>
                                        <p:tgtEl>
                                          <p:spTgt spid="4"/>
                                        </p:tgtEl>
                                      </p:cBhvr>
                                    </p:animEffect>
                                    <p:set>
                                      <p:cBhvr>
                                        <p:cTn id="89" dur="1" fill="hold">
                                          <p:stCondLst>
                                            <p:cond delay="499"/>
                                          </p:stCondLst>
                                        </p:cTn>
                                        <p:tgtEl>
                                          <p:spTgt spid="4"/>
                                        </p:tgtEl>
                                        <p:attrNameLst>
                                          <p:attrName>style.visibility</p:attrName>
                                        </p:attrNameLst>
                                      </p:cBhvr>
                                      <p:to>
                                        <p:strVal val="hidden"/>
                                      </p:to>
                                    </p:set>
                                  </p:childTnLst>
                                </p:cTn>
                              </p:par>
                              <p:par>
                                <p:cTn id="90" presetID="10" presetClass="exit" presetSubtype="0" fill="hold" nodeType="withEffect">
                                  <p:stCondLst>
                                    <p:cond delay="2500"/>
                                  </p:stCondLst>
                                  <p:childTnLst>
                                    <p:animEffect transition="out" filter="fade">
                                      <p:cBhvr>
                                        <p:cTn id="91" dur="500"/>
                                        <p:tgtEl>
                                          <p:spTgt spid="8"/>
                                        </p:tgtEl>
                                      </p:cBhvr>
                                    </p:animEffect>
                                    <p:set>
                                      <p:cBhvr>
                                        <p:cTn id="92" dur="1" fill="hold">
                                          <p:stCondLst>
                                            <p:cond delay="499"/>
                                          </p:stCondLst>
                                        </p:cTn>
                                        <p:tgtEl>
                                          <p:spTgt spid="8"/>
                                        </p:tgtEl>
                                        <p:attrNameLst>
                                          <p:attrName>style.visibility</p:attrName>
                                        </p:attrNameLst>
                                      </p:cBhvr>
                                      <p:to>
                                        <p:strVal val="hidden"/>
                                      </p:to>
                                    </p:set>
                                  </p:childTnLst>
                                </p:cTn>
                              </p:par>
                              <p:par>
                                <p:cTn id="93" presetID="10" presetClass="entr" presetSubtype="0" fill="hold" nodeType="withEffect">
                                  <p:stCondLst>
                                    <p:cond delay="0"/>
                                  </p:stCondLst>
                                  <p:childTnLst>
                                    <p:set>
                                      <p:cBhvr>
                                        <p:cTn id="94" dur="1" fill="hold">
                                          <p:stCondLst>
                                            <p:cond delay="0"/>
                                          </p:stCondLst>
                                        </p:cTn>
                                        <p:tgtEl>
                                          <p:spTgt spid="15"/>
                                        </p:tgtEl>
                                        <p:attrNameLst>
                                          <p:attrName>style.visibility</p:attrName>
                                        </p:attrNameLst>
                                      </p:cBhvr>
                                      <p:to>
                                        <p:strVal val="visible"/>
                                      </p:to>
                                    </p:set>
                                    <p:animEffect transition="in" filter="fade">
                                      <p:cBhvr>
                                        <p:cTn id="95" dur="100"/>
                                        <p:tgtEl>
                                          <p:spTgt spid="15"/>
                                        </p:tgtEl>
                                      </p:cBhvr>
                                    </p:animEffect>
                                  </p:childTnLst>
                                </p:cTn>
                              </p:par>
                              <p:par>
                                <p:cTn id="96" presetID="10" presetClass="entr" presetSubtype="0" fill="hold" nodeType="withEffect">
                                  <p:stCondLst>
                                    <p:cond delay="600"/>
                                  </p:stCondLst>
                                  <p:childTnLst>
                                    <p:set>
                                      <p:cBhvr>
                                        <p:cTn id="97" dur="1" fill="hold">
                                          <p:stCondLst>
                                            <p:cond delay="0"/>
                                          </p:stCondLst>
                                        </p:cTn>
                                        <p:tgtEl>
                                          <p:spTgt spid="16"/>
                                        </p:tgtEl>
                                        <p:attrNameLst>
                                          <p:attrName>style.visibility</p:attrName>
                                        </p:attrNameLst>
                                      </p:cBhvr>
                                      <p:to>
                                        <p:strVal val="visible"/>
                                      </p:to>
                                    </p:set>
                                    <p:animEffect transition="in" filter="fade">
                                      <p:cBhvr>
                                        <p:cTn id="98" dur="100"/>
                                        <p:tgtEl>
                                          <p:spTgt spid="16"/>
                                        </p:tgtEl>
                                      </p:cBhvr>
                                    </p:animEffect>
                                  </p:childTnLst>
                                </p:cTn>
                              </p:par>
                              <p:par>
                                <p:cTn id="99" presetID="10" presetClass="entr" presetSubtype="0" fill="hold" nodeType="withEffect">
                                  <p:stCondLst>
                                    <p:cond delay="200"/>
                                  </p:stCondLst>
                                  <p:childTnLst>
                                    <p:set>
                                      <p:cBhvr>
                                        <p:cTn id="100" dur="1" fill="hold">
                                          <p:stCondLst>
                                            <p:cond delay="0"/>
                                          </p:stCondLst>
                                        </p:cTn>
                                        <p:tgtEl>
                                          <p:spTgt spid="17"/>
                                        </p:tgtEl>
                                        <p:attrNameLst>
                                          <p:attrName>style.visibility</p:attrName>
                                        </p:attrNameLst>
                                      </p:cBhvr>
                                      <p:to>
                                        <p:strVal val="visible"/>
                                      </p:to>
                                    </p:set>
                                    <p:animEffect transition="in" filter="fade">
                                      <p:cBhvr>
                                        <p:cTn id="101" dur="100"/>
                                        <p:tgtEl>
                                          <p:spTgt spid="17"/>
                                        </p:tgtEl>
                                      </p:cBhvr>
                                    </p:animEffect>
                                  </p:childTnLst>
                                </p:cTn>
                              </p:par>
                              <p:par>
                                <p:cTn id="102" presetID="10" presetClass="entr" presetSubtype="0" fill="hold" nodeType="withEffect">
                                  <p:stCondLst>
                                    <p:cond delay="1800"/>
                                  </p:stCondLst>
                                  <p:childTnLst>
                                    <p:set>
                                      <p:cBhvr>
                                        <p:cTn id="103" dur="1" fill="hold">
                                          <p:stCondLst>
                                            <p:cond delay="0"/>
                                          </p:stCondLst>
                                        </p:cTn>
                                        <p:tgtEl>
                                          <p:spTgt spid="18"/>
                                        </p:tgtEl>
                                        <p:attrNameLst>
                                          <p:attrName>style.visibility</p:attrName>
                                        </p:attrNameLst>
                                      </p:cBhvr>
                                      <p:to>
                                        <p:strVal val="visible"/>
                                      </p:to>
                                    </p:set>
                                    <p:animEffect transition="in" filter="fade">
                                      <p:cBhvr>
                                        <p:cTn id="104" dur="100"/>
                                        <p:tgtEl>
                                          <p:spTgt spid="18"/>
                                        </p:tgtEl>
                                      </p:cBhvr>
                                    </p:animEffect>
                                  </p:childTnLst>
                                </p:cTn>
                              </p:par>
                              <p:par>
                                <p:cTn id="105" presetID="10" presetClass="entr" presetSubtype="0" fill="hold" nodeType="withEffect">
                                  <p:stCondLst>
                                    <p:cond delay="2200"/>
                                  </p:stCondLst>
                                  <p:childTnLst>
                                    <p:set>
                                      <p:cBhvr>
                                        <p:cTn id="106" dur="1" fill="hold">
                                          <p:stCondLst>
                                            <p:cond delay="0"/>
                                          </p:stCondLst>
                                        </p:cTn>
                                        <p:tgtEl>
                                          <p:spTgt spid="19"/>
                                        </p:tgtEl>
                                        <p:attrNameLst>
                                          <p:attrName>style.visibility</p:attrName>
                                        </p:attrNameLst>
                                      </p:cBhvr>
                                      <p:to>
                                        <p:strVal val="visible"/>
                                      </p:to>
                                    </p:set>
                                    <p:animEffect transition="in" filter="fade">
                                      <p:cBhvr>
                                        <p:cTn id="107" dur="100"/>
                                        <p:tgtEl>
                                          <p:spTgt spid="19"/>
                                        </p:tgtEl>
                                      </p:cBhvr>
                                    </p:animEffect>
                                  </p:childTnLst>
                                </p:cTn>
                              </p:par>
                              <p:par>
                                <p:cTn id="108" presetID="53" presetClass="exit" presetSubtype="16" fill="hold" nodeType="withEffect">
                                  <p:stCondLst>
                                    <p:cond delay="100"/>
                                  </p:stCondLst>
                                  <p:childTnLst>
                                    <p:anim calcmode="lin" valueType="num">
                                      <p:cBhvr>
                                        <p:cTn id="109" dur="1000"/>
                                        <p:tgtEl>
                                          <p:spTgt spid="15"/>
                                        </p:tgtEl>
                                        <p:attrNameLst>
                                          <p:attrName>ppt_w</p:attrName>
                                        </p:attrNameLst>
                                      </p:cBhvr>
                                      <p:tavLst>
                                        <p:tav tm="0">
                                          <p:val>
                                            <p:strVal val="ppt_w"/>
                                          </p:val>
                                        </p:tav>
                                        <p:tav tm="100000">
                                          <p:val>
                                            <p:fltVal val="0"/>
                                          </p:val>
                                        </p:tav>
                                      </p:tavLst>
                                    </p:anim>
                                    <p:anim calcmode="lin" valueType="num">
                                      <p:cBhvr>
                                        <p:cTn id="110" dur="1000"/>
                                        <p:tgtEl>
                                          <p:spTgt spid="15"/>
                                        </p:tgtEl>
                                        <p:attrNameLst>
                                          <p:attrName>ppt_h</p:attrName>
                                        </p:attrNameLst>
                                      </p:cBhvr>
                                      <p:tavLst>
                                        <p:tav tm="0">
                                          <p:val>
                                            <p:strVal val="ppt_h"/>
                                          </p:val>
                                        </p:tav>
                                        <p:tav tm="100000">
                                          <p:val>
                                            <p:fltVal val="0"/>
                                          </p:val>
                                        </p:tav>
                                      </p:tavLst>
                                    </p:anim>
                                    <p:animEffect transition="out" filter="fade">
                                      <p:cBhvr>
                                        <p:cTn id="111" dur="1000"/>
                                        <p:tgtEl>
                                          <p:spTgt spid="15"/>
                                        </p:tgtEl>
                                      </p:cBhvr>
                                    </p:animEffect>
                                    <p:set>
                                      <p:cBhvr>
                                        <p:cTn id="112" dur="1" fill="hold">
                                          <p:stCondLst>
                                            <p:cond delay="999"/>
                                          </p:stCondLst>
                                        </p:cTn>
                                        <p:tgtEl>
                                          <p:spTgt spid="15"/>
                                        </p:tgtEl>
                                        <p:attrNameLst>
                                          <p:attrName>style.visibility</p:attrName>
                                        </p:attrNameLst>
                                      </p:cBhvr>
                                      <p:to>
                                        <p:strVal val="hidden"/>
                                      </p:to>
                                    </p:set>
                                  </p:childTnLst>
                                </p:cTn>
                              </p:par>
                              <p:par>
                                <p:cTn id="113" presetID="53" presetClass="exit" presetSubtype="16" fill="hold" nodeType="withEffect">
                                  <p:stCondLst>
                                    <p:cond delay="700"/>
                                  </p:stCondLst>
                                  <p:childTnLst>
                                    <p:anim calcmode="lin" valueType="num">
                                      <p:cBhvr>
                                        <p:cTn id="114" dur="500"/>
                                        <p:tgtEl>
                                          <p:spTgt spid="16"/>
                                        </p:tgtEl>
                                        <p:attrNameLst>
                                          <p:attrName>ppt_w</p:attrName>
                                        </p:attrNameLst>
                                      </p:cBhvr>
                                      <p:tavLst>
                                        <p:tav tm="0">
                                          <p:val>
                                            <p:strVal val="ppt_w"/>
                                          </p:val>
                                        </p:tav>
                                        <p:tav tm="100000">
                                          <p:val>
                                            <p:fltVal val="0"/>
                                          </p:val>
                                        </p:tav>
                                      </p:tavLst>
                                    </p:anim>
                                    <p:anim calcmode="lin" valueType="num">
                                      <p:cBhvr>
                                        <p:cTn id="115" dur="500"/>
                                        <p:tgtEl>
                                          <p:spTgt spid="16"/>
                                        </p:tgtEl>
                                        <p:attrNameLst>
                                          <p:attrName>ppt_h</p:attrName>
                                        </p:attrNameLst>
                                      </p:cBhvr>
                                      <p:tavLst>
                                        <p:tav tm="0">
                                          <p:val>
                                            <p:strVal val="ppt_h"/>
                                          </p:val>
                                        </p:tav>
                                        <p:tav tm="100000">
                                          <p:val>
                                            <p:fltVal val="0"/>
                                          </p:val>
                                        </p:tav>
                                      </p:tavLst>
                                    </p:anim>
                                    <p:animEffect transition="out" filter="fade">
                                      <p:cBhvr>
                                        <p:cTn id="116" dur="500"/>
                                        <p:tgtEl>
                                          <p:spTgt spid="16"/>
                                        </p:tgtEl>
                                      </p:cBhvr>
                                    </p:animEffect>
                                    <p:set>
                                      <p:cBhvr>
                                        <p:cTn id="117" dur="1" fill="hold">
                                          <p:stCondLst>
                                            <p:cond delay="499"/>
                                          </p:stCondLst>
                                        </p:cTn>
                                        <p:tgtEl>
                                          <p:spTgt spid="16"/>
                                        </p:tgtEl>
                                        <p:attrNameLst>
                                          <p:attrName>style.visibility</p:attrName>
                                        </p:attrNameLst>
                                      </p:cBhvr>
                                      <p:to>
                                        <p:strVal val="hidden"/>
                                      </p:to>
                                    </p:set>
                                  </p:childTnLst>
                                </p:cTn>
                              </p:par>
                              <p:par>
                                <p:cTn id="118" presetID="53" presetClass="exit" presetSubtype="16" fill="hold" nodeType="withEffect">
                                  <p:stCondLst>
                                    <p:cond delay="300"/>
                                  </p:stCondLst>
                                  <p:childTnLst>
                                    <p:anim calcmode="lin" valueType="num">
                                      <p:cBhvr>
                                        <p:cTn id="119" dur="500"/>
                                        <p:tgtEl>
                                          <p:spTgt spid="17"/>
                                        </p:tgtEl>
                                        <p:attrNameLst>
                                          <p:attrName>ppt_w</p:attrName>
                                        </p:attrNameLst>
                                      </p:cBhvr>
                                      <p:tavLst>
                                        <p:tav tm="0">
                                          <p:val>
                                            <p:strVal val="ppt_w"/>
                                          </p:val>
                                        </p:tav>
                                        <p:tav tm="100000">
                                          <p:val>
                                            <p:fltVal val="0"/>
                                          </p:val>
                                        </p:tav>
                                      </p:tavLst>
                                    </p:anim>
                                    <p:anim calcmode="lin" valueType="num">
                                      <p:cBhvr>
                                        <p:cTn id="120" dur="500"/>
                                        <p:tgtEl>
                                          <p:spTgt spid="17"/>
                                        </p:tgtEl>
                                        <p:attrNameLst>
                                          <p:attrName>ppt_h</p:attrName>
                                        </p:attrNameLst>
                                      </p:cBhvr>
                                      <p:tavLst>
                                        <p:tav tm="0">
                                          <p:val>
                                            <p:strVal val="ppt_h"/>
                                          </p:val>
                                        </p:tav>
                                        <p:tav tm="100000">
                                          <p:val>
                                            <p:fltVal val="0"/>
                                          </p:val>
                                        </p:tav>
                                      </p:tavLst>
                                    </p:anim>
                                    <p:animEffect transition="out" filter="fade">
                                      <p:cBhvr>
                                        <p:cTn id="121" dur="500"/>
                                        <p:tgtEl>
                                          <p:spTgt spid="17"/>
                                        </p:tgtEl>
                                      </p:cBhvr>
                                    </p:animEffect>
                                    <p:set>
                                      <p:cBhvr>
                                        <p:cTn id="122" dur="1" fill="hold">
                                          <p:stCondLst>
                                            <p:cond delay="499"/>
                                          </p:stCondLst>
                                        </p:cTn>
                                        <p:tgtEl>
                                          <p:spTgt spid="17"/>
                                        </p:tgtEl>
                                        <p:attrNameLst>
                                          <p:attrName>style.visibility</p:attrName>
                                        </p:attrNameLst>
                                      </p:cBhvr>
                                      <p:to>
                                        <p:strVal val="hidden"/>
                                      </p:to>
                                    </p:set>
                                  </p:childTnLst>
                                </p:cTn>
                              </p:par>
                              <p:par>
                                <p:cTn id="123" presetID="53" presetClass="exit" presetSubtype="16" fill="hold" nodeType="withEffect">
                                  <p:stCondLst>
                                    <p:cond delay="1900"/>
                                  </p:stCondLst>
                                  <p:childTnLst>
                                    <p:anim calcmode="lin" valueType="num">
                                      <p:cBhvr>
                                        <p:cTn id="124" dur="500"/>
                                        <p:tgtEl>
                                          <p:spTgt spid="18"/>
                                        </p:tgtEl>
                                        <p:attrNameLst>
                                          <p:attrName>ppt_w</p:attrName>
                                        </p:attrNameLst>
                                      </p:cBhvr>
                                      <p:tavLst>
                                        <p:tav tm="0">
                                          <p:val>
                                            <p:strVal val="ppt_w"/>
                                          </p:val>
                                        </p:tav>
                                        <p:tav tm="100000">
                                          <p:val>
                                            <p:fltVal val="0"/>
                                          </p:val>
                                        </p:tav>
                                      </p:tavLst>
                                    </p:anim>
                                    <p:anim calcmode="lin" valueType="num">
                                      <p:cBhvr>
                                        <p:cTn id="125" dur="500"/>
                                        <p:tgtEl>
                                          <p:spTgt spid="18"/>
                                        </p:tgtEl>
                                        <p:attrNameLst>
                                          <p:attrName>ppt_h</p:attrName>
                                        </p:attrNameLst>
                                      </p:cBhvr>
                                      <p:tavLst>
                                        <p:tav tm="0">
                                          <p:val>
                                            <p:strVal val="ppt_h"/>
                                          </p:val>
                                        </p:tav>
                                        <p:tav tm="100000">
                                          <p:val>
                                            <p:fltVal val="0"/>
                                          </p:val>
                                        </p:tav>
                                      </p:tavLst>
                                    </p:anim>
                                    <p:animEffect transition="out" filter="fade">
                                      <p:cBhvr>
                                        <p:cTn id="126" dur="500"/>
                                        <p:tgtEl>
                                          <p:spTgt spid="18"/>
                                        </p:tgtEl>
                                      </p:cBhvr>
                                    </p:animEffect>
                                    <p:set>
                                      <p:cBhvr>
                                        <p:cTn id="127" dur="1" fill="hold">
                                          <p:stCondLst>
                                            <p:cond delay="499"/>
                                          </p:stCondLst>
                                        </p:cTn>
                                        <p:tgtEl>
                                          <p:spTgt spid="18"/>
                                        </p:tgtEl>
                                        <p:attrNameLst>
                                          <p:attrName>style.visibility</p:attrName>
                                        </p:attrNameLst>
                                      </p:cBhvr>
                                      <p:to>
                                        <p:strVal val="hidden"/>
                                      </p:to>
                                    </p:set>
                                  </p:childTnLst>
                                </p:cTn>
                              </p:par>
                              <p:par>
                                <p:cTn id="128" presetID="53" presetClass="exit" presetSubtype="16" fill="hold" nodeType="withEffect">
                                  <p:stCondLst>
                                    <p:cond delay="2300"/>
                                  </p:stCondLst>
                                  <p:childTnLst>
                                    <p:anim calcmode="lin" valueType="num">
                                      <p:cBhvr>
                                        <p:cTn id="129" dur="500"/>
                                        <p:tgtEl>
                                          <p:spTgt spid="19"/>
                                        </p:tgtEl>
                                        <p:attrNameLst>
                                          <p:attrName>ppt_w</p:attrName>
                                        </p:attrNameLst>
                                      </p:cBhvr>
                                      <p:tavLst>
                                        <p:tav tm="0">
                                          <p:val>
                                            <p:strVal val="ppt_w"/>
                                          </p:val>
                                        </p:tav>
                                        <p:tav tm="100000">
                                          <p:val>
                                            <p:fltVal val="0"/>
                                          </p:val>
                                        </p:tav>
                                      </p:tavLst>
                                    </p:anim>
                                    <p:anim calcmode="lin" valueType="num">
                                      <p:cBhvr>
                                        <p:cTn id="130" dur="500"/>
                                        <p:tgtEl>
                                          <p:spTgt spid="19"/>
                                        </p:tgtEl>
                                        <p:attrNameLst>
                                          <p:attrName>ppt_h</p:attrName>
                                        </p:attrNameLst>
                                      </p:cBhvr>
                                      <p:tavLst>
                                        <p:tav tm="0">
                                          <p:val>
                                            <p:strVal val="ppt_h"/>
                                          </p:val>
                                        </p:tav>
                                        <p:tav tm="100000">
                                          <p:val>
                                            <p:fltVal val="0"/>
                                          </p:val>
                                        </p:tav>
                                      </p:tavLst>
                                    </p:anim>
                                    <p:animEffect transition="out" filter="fade">
                                      <p:cBhvr>
                                        <p:cTn id="131" dur="500"/>
                                        <p:tgtEl>
                                          <p:spTgt spid="19"/>
                                        </p:tgtEl>
                                      </p:cBhvr>
                                    </p:animEffect>
                                    <p:set>
                                      <p:cBhvr>
                                        <p:cTn id="132" dur="1" fill="hold">
                                          <p:stCondLst>
                                            <p:cond delay="499"/>
                                          </p:stCondLst>
                                        </p:cTn>
                                        <p:tgtEl>
                                          <p:spTgt spid="1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blipFill dpi="0" rotWithShape="0">
          <a:blip r:embed="rId14" cstate="print">
            <a:lum/>
          </a:blip>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09601" y="908051"/>
            <a:ext cx="10977563"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4" tIns="45717" rIns="91434" bIns="45717" numCol="1" anchor="ctr" anchorCtr="0" compatLnSpc="1"/>
          <a:lstStyle/>
          <a:p>
            <a:pPr lvl="0"/>
            <a:r>
              <a:rPr lang="zh-CN" dirty="0"/>
              <a:t>单击此处编辑母版标题样式</a:t>
            </a:r>
          </a:p>
        </p:txBody>
      </p:sp>
      <p:sp>
        <p:nvSpPr>
          <p:cNvPr id="1027" name="Rectangle 3"/>
          <p:cNvSpPr>
            <a:spLocks noGrp="1" noChangeArrowheads="1"/>
          </p:cNvSpPr>
          <p:nvPr>
            <p:ph type="body" idx="1"/>
          </p:nvPr>
        </p:nvSpPr>
        <p:spPr bwMode="auto">
          <a:xfrm>
            <a:off x="609601" y="1600201"/>
            <a:ext cx="10977563"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4" tIns="45717" rIns="91434" bIns="45717" numCol="1" anchor="t" anchorCtr="0" compatLnSpc="1"/>
          <a:lstStyle/>
          <a:p>
            <a:pPr lvl="0"/>
            <a:r>
              <a:rPr lang="zh-CN" dirty="0"/>
              <a:t>单击此处编辑母版文本样式</a:t>
            </a:r>
          </a:p>
          <a:p>
            <a:pPr lvl="1"/>
            <a:r>
              <a:rPr lang="zh-CN" dirty="0"/>
              <a:t>第二级</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mc:AlternateContent xmlns:mc="http://schemas.openxmlformats.org/markup-compatibility/2006" xmlns:p14="http://schemas.microsoft.com/office/powerpoint/2010/main">
    <mc:Choice Requires="p14">
      <p:transition p14:dur="10" advTm="9437"/>
    </mc:Choice>
    <mc:Fallback xmlns="">
      <p:transition advTm="9437"/>
    </mc:Fallback>
  </mc:AlternateContent>
  <p:txStyles>
    <p:titleStyle>
      <a:lvl1pPr algn="l" rtl="0" fontAlgn="base">
        <a:spcBef>
          <a:spcPct val="0"/>
        </a:spcBef>
        <a:spcAft>
          <a:spcPct val="0"/>
        </a:spcAft>
        <a:defRPr sz="2400">
          <a:solidFill>
            <a:schemeClr val="accent1"/>
          </a:solidFill>
          <a:latin typeface="+mj-lt"/>
          <a:ea typeface="+mj-ea"/>
          <a:cs typeface="+mj-cs"/>
        </a:defRPr>
      </a:lvl1pPr>
      <a:lvl2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2pPr>
      <a:lvl3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3pPr>
      <a:lvl4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4pPr>
      <a:lvl5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5pPr>
      <a:lvl6pPr marL="4572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6pPr>
      <a:lvl7pPr marL="9144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7pPr>
      <a:lvl8pPr marL="13716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8pPr>
      <a:lvl9pPr marL="18288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9pPr>
    </p:titleStyle>
    <p:bodyStyle>
      <a:lvl1pPr marL="342900" indent="-342900" algn="l" rtl="0" fontAlgn="base">
        <a:spcBef>
          <a:spcPct val="20000"/>
        </a:spcBef>
        <a:spcAft>
          <a:spcPct val="0"/>
        </a:spcAft>
        <a:buChar char="•"/>
        <a:defRPr sz="2000">
          <a:solidFill>
            <a:schemeClr val="accent1"/>
          </a:solidFill>
          <a:latin typeface="+mn-lt"/>
          <a:ea typeface="+mn-ea"/>
          <a:cs typeface="+mn-cs"/>
        </a:defRPr>
      </a:lvl1pPr>
      <a:lvl2pPr marL="742950" indent="-285750" algn="l" rtl="0" eaLnBrk="0" fontAlgn="base" hangingPunct="0">
        <a:spcBef>
          <a:spcPct val="20000"/>
        </a:spcBef>
        <a:spcAft>
          <a:spcPct val="0"/>
        </a:spcAft>
        <a:buChar char="–"/>
        <a:defRPr sz="2000">
          <a:solidFill>
            <a:schemeClr val="accent1"/>
          </a:solidFill>
          <a:latin typeface="+mn-lt"/>
          <a:ea typeface="仿宋_GB2312"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宋体" panose="02010600030101010101" pitchFamily="2" charset="-122"/>
        </a:defRPr>
      </a:lvl3pPr>
      <a:lvl4pPr marL="16002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0574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vl6pPr marL="25146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6pPr>
      <a:lvl7pPr marL="29718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7pPr>
      <a:lvl8pPr marL="34290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8pPr>
      <a:lvl9pPr marL="38862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9pPr>
    </p:bodyStyle>
    <p:otherStyle>
      <a:defPPr>
        <a:defRPr lang="zh-CN"/>
      </a:defPPr>
      <a:lvl1pPr marL="0" algn="l" defTabSz="914400" rtl="0" eaLnBrk="1" latinLnBrk="0" hangingPunct="1">
        <a:defRPr sz="1700" kern="1200">
          <a:solidFill>
            <a:schemeClr val="tx1"/>
          </a:solidFill>
          <a:latin typeface="+mn-lt"/>
          <a:ea typeface="+mn-ea"/>
          <a:cs typeface="+mn-cs"/>
        </a:defRPr>
      </a:lvl1pPr>
      <a:lvl2pPr marL="457200" algn="l" defTabSz="914400" rtl="0" eaLnBrk="1" latinLnBrk="0" hangingPunct="1">
        <a:defRPr sz="1700" kern="1200">
          <a:solidFill>
            <a:schemeClr val="tx1"/>
          </a:solidFill>
          <a:latin typeface="+mn-lt"/>
          <a:ea typeface="+mn-ea"/>
          <a:cs typeface="+mn-cs"/>
        </a:defRPr>
      </a:lvl2pPr>
      <a:lvl3pPr marL="914400" algn="l" defTabSz="914400" rtl="0" eaLnBrk="1" latinLnBrk="0" hangingPunct="1">
        <a:defRPr sz="1700" kern="1200">
          <a:solidFill>
            <a:schemeClr val="tx1"/>
          </a:solidFill>
          <a:latin typeface="+mn-lt"/>
          <a:ea typeface="+mn-ea"/>
          <a:cs typeface="+mn-cs"/>
        </a:defRPr>
      </a:lvl3pPr>
      <a:lvl4pPr marL="1371600" algn="l" defTabSz="914400" rtl="0" eaLnBrk="1" latinLnBrk="0" hangingPunct="1">
        <a:defRPr sz="1700" kern="1200">
          <a:solidFill>
            <a:schemeClr val="tx1"/>
          </a:solidFill>
          <a:latin typeface="+mn-lt"/>
          <a:ea typeface="+mn-ea"/>
          <a:cs typeface="+mn-cs"/>
        </a:defRPr>
      </a:lvl4pPr>
      <a:lvl5pPr marL="1828800" algn="l" defTabSz="914400" rtl="0" eaLnBrk="1" latinLnBrk="0" hangingPunct="1">
        <a:defRPr sz="1700" kern="1200">
          <a:solidFill>
            <a:schemeClr val="tx1"/>
          </a:solidFill>
          <a:latin typeface="+mn-lt"/>
          <a:ea typeface="+mn-ea"/>
          <a:cs typeface="+mn-cs"/>
        </a:defRPr>
      </a:lvl5pPr>
      <a:lvl6pPr marL="2286000" algn="l" defTabSz="914400" rtl="0" eaLnBrk="1" latinLnBrk="0" hangingPunct="1">
        <a:defRPr sz="1700" kern="1200">
          <a:solidFill>
            <a:schemeClr val="tx1"/>
          </a:solidFill>
          <a:latin typeface="+mn-lt"/>
          <a:ea typeface="+mn-ea"/>
          <a:cs typeface="+mn-cs"/>
        </a:defRPr>
      </a:lvl6pPr>
      <a:lvl7pPr marL="2743200" algn="l" defTabSz="914400" rtl="0" eaLnBrk="1" latinLnBrk="0" hangingPunct="1">
        <a:defRPr sz="1700" kern="1200">
          <a:solidFill>
            <a:schemeClr val="tx1"/>
          </a:solidFill>
          <a:latin typeface="+mn-lt"/>
          <a:ea typeface="+mn-ea"/>
          <a:cs typeface="+mn-cs"/>
        </a:defRPr>
      </a:lvl7pPr>
      <a:lvl8pPr marL="3200400" algn="l" defTabSz="914400" rtl="0" eaLnBrk="1" latinLnBrk="0" hangingPunct="1">
        <a:defRPr sz="1700" kern="1200">
          <a:solidFill>
            <a:schemeClr val="tx1"/>
          </a:solidFill>
          <a:latin typeface="+mn-lt"/>
          <a:ea typeface="+mn-ea"/>
          <a:cs typeface="+mn-cs"/>
        </a:defRPr>
      </a:lvl8pPr>
      <a:lvl9pPr marL="3657600" algn="l" defTabSz="914400" rtl="0" eaLnBrk="1" latinLnBrk="0" hangingPunct="1">
        <a:defRPr sz="1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 Id="rId5" Type="http://schemas.openxmlformats.org/officeDocument/2006/relationships/notesSlide" Target="../notesSlides/notesSlide1.xml"/><Relationship Id="rId4"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1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2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Box 54"/>
          <p:cNvSpPr txBox="1"/>
          <p:nvPr/>
        </p:nvSpPr>
        <p:spPr>
          <a:xfrm>
            <a:off x="1330766" y="44625"/>
            <a:ext cx="5042228" cy="523214"/>
          </a:xfrm>
          <a:prstGeom prst="rect">
            <a:avLst/>
          </a:prstGeom>
          <a:noFill/>
        </p:spPr>
        <p:txBody>
          <a:bodyPr wrap="square" lIns="91434" tIns="45717" rIns="91434" bIns="45717"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r>
              <a:rPr lang="en-US" altLang="zh-CN" sz="2800" dirty="0" smtClean="0">
                <a:solidFill>
                  <a:schemeClr val="accent2"/>
                </a:solidFill>
                <a:latin typeface="微软雅黑" panose="020B0503020204020204" pitchFamily="34" charset="-122"/>
                <a:ea typeface="微软雅黑" panose="020B0503020204020204" pitchFamily="34" charset="-122"/>
              </a:rPr>
              <a:t>3.3 </a:t>
            </a:r>
            <a:r>
              <a:rPr lang="zh-CN" altLang="en-US" sz="2800" dirty="0">
                <a:solidFill>
                  <a:schemeClr val="accent2"/>
                </a:solidFill>
                <a:latin typeface="微软雅黑" panose="020B0503020204020204" pitchFamily="34" charset="-122"/>
                <a:ea typeface="微软雅黑" panose="020B0503020204020204" pitchFamily="34" charset="-122"/>
              </a:rPr>
              <a:t>数据</a:t>
            </a:r>
            <a:r>
              <a:rPr lang="zh-CN" altLang="en-US" sz="2800" dirty="0" smtClean="0">
                <a:solidFill>
                  <a:schemeClr val="accent2"/>
                </a:solidFill>
                <a:latin typeface="微软雅黑" panose="020B0503020204020204" pitchFamily="34" charset="-122"/>
                <a:ea typeface="微软雅黑" panose="020B0503020204020204" pitchFamily="34" charset="-122"/>
              </a:rPr>
              <a:t>框</a:t>
            </a:r>
            <a:endParaRPr lang="zh-CN" altLang="en-US" sz="2800" dirty="0">
              <a:solidFill>
                <a:schemeClr val="accent2"/>
              </a:solidFill>
              <a:latin typeface="微软雅黑" panose="020B0503020204020204" pitchFamily="34" charset="-122"/>
              <a:ea typeface="微软雅黑" panose="020B0503020204020204" pitchFamily="34" charset="-122"/>
            </a:endParaRPr>
          </a:p>
        </p:txBody>
      </p:sp>
      <p:sp>
        <p:nvSpPr>
          <p:cNvPr id="56" name="TextBox 55"/>
          <p:cNvSpPr txBox="1"/>
          <p:nvPr/>
        </p:nvSpPr>
        <p:spPr>
          <a:xfrm>
            <a:off x="140263" y="106179"/>
            <a:ext cx="1064260" cy="400103"/>
          </a:xfrm>
          <a:prstGeom prst="rect">
            <a:avLst/>
          </a:prstGeom>
          <a:noFill/>
        </p:spPr>
        <p:txBody>
          <a:bodyPr wrap="square" lIns="91434" tIns="45717" rIns="91434" bIns="45717" rtlCol="0">
            <a:spAutoFit/>
          </a:bodyPr>
          <a:lstStyle/>
          <a:p>
            <a:pPr algn="r"/>
            <a:r>
              <a:rPr lang="en-US" altLang="zh-CN" sz="2000" dirty="0">
                <a:solidFill>
                  <a:schemeClr val="accent2"/>
                </a:solidFill>
              </a:rPr>
              <a:t>Part </a:t>
            </a:r>
            <a:r>
              <a:rPr lang="en-US" altLang="zh-CN" dirty="0">
                <a:solidFill>
                  <a:schemeClr val="accent2"/>
                </a:solidFill>
              </a:rPr>
              <a:t>3</a:t>
            </a:r>
            <a:r>
              <a:rPr lang="en-US" altLang="zh-CN" dirty="0" smtClean="0">
                <a:solidFill>
                  <a:schemeClr val="accent2"/>
                </a:solidFill>
              </a:rPr>
              <a:t> </a:t>
            </a:r>
            <a:endParaRPr lang="zh-CN" altLang="en-US" dirty="0">
              <a:solidFill>
                <a:schemeClr val="accent2"/>
              </a:solidFill>
            </a:endParaRPr>
          </a:p>
        </p:txBody>
      </p:sp>
      <p:sp>
        <p:nvSpPr>
          <p:cNvPr id="15" name="文本框 7"/>
          <p:cNvSpPr txBox="1">
            <a:spLocks noChangeArrowheads="1"/>
          </p:cNvSpPr>
          <p:nvPr/>
        </p:nvSpPr>
        <p:spPr bwMode="auto">
          <a:xfrm>
            <a:off x="895120" y="1108770"/>
            <a:ext cx="10315828"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120000"/>
              </a:lnSpc>
              <a:spcBef>
                <a:spcPts val="1000"/>
              </a:spcBef>
              <a:buFont typeface="Arial" panose="020B0604020202020204" pitchFamily="34" charset="0"/>
              <a:buChar char="•"/>
              <a:defRPr kumimoji="1" sz="2400">
                <a:solidFill>
                  <a:srgbClr val="595959"/>
                </a:solidFill>
                <a:latin typeface="Arial" panose="020B0604020202020204" pitchFamily="34" charset="0"/>
                <a:ea typeface="微软雅黑" panose="020B0503020204020204" pitchFamily="34" charset="-122"/>
              </a:defRPr>
            </a:lvl1pPr>
            <a:lvl2pPr marL="742950" indent="-285750">
              <a:lnSpc>
                <a:spcPct val="120000"/>
              </a:lnSpc>
              <a:spcBef>
                <a:spcPts val="500"/>
              </a:spcBef>
              <a:buFont typeface="Arial" panose="020B0604020202020204" pitchFamily="34" charset="0"/>
              <a:buChar char="•"/>
              <a:defRPr kumimoji="1" sz="2000">
                <a:solidFill>
                  <a:srgbClr val="595959"/>
                </a:solidFill>
                <a:latin typeface="Arial" panose="020B0604020202020204" pitchFamily="34" charset="0"/>
                <a:ea typeface="微软雅黑" panose="020B0503020204020204" pitchFamily="34" charset="-122"/>
              </a:defRPr>
            </a:lvl2pPr>
            <a:lvl3pPr marL="1143000" indent="-228600">
              <a:lnSpc>
                <a:spcPct val="120000"/>
              </a:lnSpc>
              <a:spcBef>
                <a:spcPts val="500"/>
              </a:spcBef>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3pPr>
            <a:lvl4pPr marL="1600200" indent="-228600">
              <a:lnSpc>
                <a:spcPct val="120000"/>
              </a:lnSpc>
              <a:spcBef>
                <a:spcPts val="500"/>
              </a:spcBef>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4pPr>
            <a:lvl5pPr marL="2057400" indent="-228600">
              <a:lnSpc>
                <a:spcPct val="120000"/>
              </a:lnSpc>
              <a:spcBef>
                <a:spcPts val="500"/>
              </a:spcBef>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5pPr>
            <a:lvl6pPr marL="2514600" indent="-228600" eaLnBrk="0" fontAlgn="base" hangingPunct="0">
              <a:lnSpc>
                <a:spcPct val="120000"/>
              </a:lnSpc>
              <a:spcBef>
                <a:spcPts val="500"/>
              </a:spcBef>
              <a:spcAft>
                <a:spcPct val="0"/>
              </a:spcAft>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6pPr>
            <a:lvl7pPr marL="2971800" indent="-228600" eaLnBrk="0" fontAlgn="base" hangingPunct="0">
              <a:lnSpc>
                <a:spcPct val="120000"/>
              </a:lnSpc>
              <a:spcBef>
                <a:spcPts val="500"/>
              </a:spcBef>
              <a:spcAft>
                <a:spcPct val="0"/>
              </a:spcAft>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7pPr>
            <a:lvl8pPr marL="3429000" indent="-228600" eaLnBrk="0" fontAlgn="base" hangingPunct="0">
              <a:lnSpc>
                <a:spcPct val="120000"/>
              </a:lnSpc>
              <a:spcBef>
                <a:spcPts val="500"/>
              </a:spcBef>
              <a:spcAft>
                <a:spcPct val="0"/>
              </a:spcAft>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8pPr>
            <a:lvl9pPr marL="3886200" indent="-228600" eaLnBrk="0" fontAlgn="base" hangingPunct="0">
              <a:lnSpc>
                <a:spcPct val="120000"/>
              </a:lnSpc>
              <a:spcBef>
                <a:spcPts val="500"/>
              </a:spcBef>
              <a:spcAft>
                <a:spcPct val="0"/>
              </a:spcAft>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9pPr>
          </a:lstStyle>
          <a:p>
            <a:r>
              <a:rPr lang="en-US" altLang="zh-CN" sz="2000" dirty="0"/>
              <a:t>Pandas</a:t>
            </a:r>
            <a:r>
              <a:rPr lang="zh-CN" altLang="zh-CN" sz="2000" dirty="0"/>
              <a:t>中另一个重要的数据对象为数据框（</a:t>
            </a:r>
            <a:r>
              <a:rPr lang="en-US" altLang="zh-CN" sz="2000" dirty="0" err="1"/>
              <a:t>DataFram</a:t>
            </a:r>
            <a:r>
              <a:rPr lang="zh-CN" altLang="zh-CN" sz="2000" dirty="0"/>
              <a:t>），由多个序列按照相同的</a:t>
            </a:r>
            <a:r>
              <a:rPr lang="en-US" altLang="zh-CN" sz="2000" dirty="0"/>
              <a:t>index</a:t>
            </a:r>
            <a:r>
              <a:rPr lang="zh-CN" altLang="zh-CN" sz="2000" dirty="0"/>
              <a:t>组织在一起形成一个二维表。事实上，数据框的每一列为序列。数据框的属性包括</a:t>
            </a:r>
            <a:r>
              <a:rPr lang="en-US" altLang="zh-CN" sz="2000" dirty="0"/>
              <a:t>index</a:t>
            </a:r>
            <a:r>
              <a:rPr lang="zh-CN" altLang="zh-CN" sz="2000" dirty="0"/>
              <a:t>、列名和值。由于数据框是更为广泛的一种数据组织形式，许多外部数据文件读取到</a:t>
            </a:r>
            <a:r>
              <a:rPr lang="en-US" altLang="zh-CN" sz="2000" dirty="0"/>
              <a:t>Python</a:t>
            </a:r>
            <a:r>
              <a:rPr lang="zh-CN" altLang="zh-CN" sz="2000" dirty="0"/>
              <a:t>中大部分会采用数据框的形式进行存取，比如数据库、</a:t>
            </a:r>
            <a:r>
              <a:rPr lang="en-US" altLang="zh-CN" sz="2000" dirty="0"/>
              <a:t>excel</a:t>
            </a:r>
            <a:r>
              <a:rPr lang="zh-CN" altLang="zh-CN" sz="2000" dirty="0"/>
              <a:t>和</a:t>
            </a:r>
            <a:r>
              <a:rPr lang="en-US" altLang="zh-CN" sz="2000" dirty="0"/>
              <a:t>TXT</a:t>
            </a:r>
            <a:r>
              <a:rPr lang="zh-CN" altLang="zh-CN" sz="2000" dirty="0"/>
              <a:t>文本。同时数据框也提供了极为丰富的方法用于处理数据及完成计算任务。数据框是</a:t>
            </a:r>
            <a:r>
              <a:rPr lang="en-US" altLang="zh-CN" sz="2000" dirty="0"/>
              <a:t>Python</a:t>
            </a:r>
            <a:r>
              <a:rPr lang="zh-CN" altLang="zh-CN" sz="2000" dirty="0"/>
              <a:t>完成数据处理及分析的最重要数据结构之一，因此学会灵活运用数据框是利用</a:t>
            </a:r>
            <a:r>
              <a:rPr lang="en-US" altLang="zh-CN" sz="2000" dirty="0"/>
              <a:t>Python</a:t>
            </a:r>
            <a:r>
              <a:rPr lang="zh-CN" altLang="zh-CN" sz="2000" dirty="0"/>
              <a:t>进行数据处理及挖掘的关键环节</a:t>
            </a:r>
            <a:r>
              <a:rPr lang="zh-CN" altLang="zh-CN" sz="2000" dirty="0" smtClean="0"/>
              <a:t>。</a:t>
            </a:r>
            <a:endParaRPr lang="zh-CN" altLang="zh-CN" sz="2000" dirty="0"/>
          </a:p>
        </p:txBody>
      </p:sp>
      <p:sp>
        <p:nvSpPr>
          <p:cNvPr id="16" name="矩形 15"/>
          <p:cNvSpPr/>
          <p:nvPr/>
        </p:nvSpPr>
        <p:spPr>
          <a:xfrm>
            <a:off x="1013331" y="4005064"/>
            <a:ext cx="10079407" cy="4571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panose="020B0604020202020204" pitchFamily="34" charset="0"/>
              <a:buNone/>
              <a:defRPr/>
            </a:pPr>
            <a:endParaRPr lang="zh-CN" altLang="en-US" noProof="1"/>
          </a:p>
        </p:txBody>
      </p:sp>
      <p:sp>
        <p:nvSpPr>
          <p:cNvPr id="20" name="文本框 6"/>
          <p:cNvSpPr txBox="1">
            <a:spLocks noChangeArrowheads="1"/>
          </p:cNvSpPr>
          <p:nvPr>
            <p:custDataLst>
              <p:tags r:id="rId1"/>
            </p:custDataLst>
          </p:nvPr>
        </p:nvSpPr>
        <p:spPr bwMode="auto">
          <a:xfrm>
            <a:off x="963364" y="4219128"/>
            <a:ext cx="9311617" cy="934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nSpc>
                <a:spcPct val="120000"/>
              </a:lnSpc>
              <a:spcBef>
                <a:spcPts val="1000"/>
              </a:spcBef>
              <a:buFont typeface="Arial" panose="020B0604020202020204" pitchFamily="34" charset="0"/>
              <a:buChar char="•"/>
              <a:defRPr kumimoji="1" sz="2400">
                <a:solidFill>
                  <a:srgbClr val="595959"/>
                </a:solidFill>
                <a:latin typeface="Arial" panose="020B0604020202020204" pitchFamily="34" charset="0"/>
                <a:ea typeface="微软雅黑" panose="020B0503020204020204" pitchFamily="34" charset="-122"/>
              </a:defRPr>
            </a:lvl1pPr>
            <a:lvl2pPr marL="742950" indent="-285750">
              <a:lnSpc>
                <a:spcPct val="120000"/>
              </a:lnSpc>
              <a:spcBef>
                <a:spcPts val="500"/>
              </a:spcBef>
              <a:buFont typeface="Arial" panose="020B0604020202020204" pitchFamily="34" charset="0"/>
              <a:buChar char="•"/>
              <a:defRPr kumimoji="1" sz="2000">
                <a:solidFill>
                  <a:srgbClr val="595959"/>
                </a:solidFill>
                <a:latin typeface="Arial" panose="020B0604020202020204" pitchFamily="34" charset="0"/>
                <a:ea typeface="微软雅黑" panose="020B0503020204020204" pitchFamily="34" charset="-122"/>
              </a:defRPr>
            </a:lvl2pPr>
            <a:lvl3pPr marL="1143000" indent="-228600">
              <a:lnSpc>
                <a:spcPct val="120000"/>
              </a:lnSpc>
              <a:spcBef>
                <a:spcPts val="500"/>
              </a:spcBef>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3pPr>
            <a:lvl4pPr marL="1600200" indent="-228600">
              <a:lnSpc>
                <a:spcPct val="120000"/>
              </a:lnSpc>
              <a:spcBef>
                <a:spcPts val="500"/>
              </a:spcBef>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4pPr>
            <a:lvl5pPr marL="2057400" indent="-228600">
              <a:lnSpc>
                <a:spcPct val="120000"/>
              </a:lnSpc>
              <a:spcBef>
                <a:spcPts val="500"/>
              </a:spcBef>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5pPr>
            <a:lvl6pPr marL="2514600" indent="-228600" eaLnBrk="0" fontAlgn="base" hangingPunct="0">
              <a:lnSpc>
                <a:spcPct val="120000"/>
              </a:lnSpc>
              <a:spcBef>
                <a:spcPts val="500"/>
              </a:spcBef>
              <a:spcAft>
                <a:spcPct val="0"/>
              </a:spcAft>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6pPr>
            <a:lvl7pPr marL="2971800" indent="-228600" eaLnBrk="0" fontAlgn="base" hangingPunct="0">
              <a:lnSpc>
                <a:spcPct val="120000"/>
              </a:lnSpc>
              <a:spcBef>
                <a:spcPts val="500"/>
              </a:spcBef>
              <a:spcAft>
                <a:spcPct val="0"/>
              </a:spcAft>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7pPr>
            <a:lvl8pPr marL="3429000" indent="-228600" eaLnBrk="0" fontAlgn="base" hangingPunct="0">
              <a:lnSpc>
                <a:spcPct val="120000"/>
              </a:lnSpc>
              <a:spcBef>
                <a:spcPts val="500"/>
              </a:spcBef>
              <a:spcAft>
                <a:spcPct val="0"/>
              </a:spcAft>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8pPr>
            <a:lvl9pPr marL="3886200" indent="-228600" eaLnBrk="0" fontAlgn="base" hangingPunct="0">
              <a:lnSpc>
                <a:spcPct val="120000"/>
              </a:lnSpc>
              <a:spcBef>
                <a:spcPts val="500"/>
              </a:spcBef>
              <a:spcAft>
                <a:spcPct val="0"/>
              </a:spcAft>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9pPr>
          </a:lstStyle>
          <a:p>
            <a:r>
              <a:rPr lang="zh-CN" altLang="zh-CN" dirty="0"/>
              <a:t>下面我们主要介绍数据框的创建、属性、方法和数据的访问及切片等内容。</a:t>
            </a:r>
          </a:p>
        </p:txBody>
      </p:sp>
      <p:sp>
        <p:nvSpPr>
          <p:cNvPr id="23" name="文本框 10"/>
          <p:cNvSpPr txBox="1"/>
          <p:nvPr>
            <p:custDataLst>
              <p:tags r:id="rId2"/>
            </p:custDataLst>
          </p:nvPr>
        </p:nvSpPr>
        <p:spPr>
          <a:xfrm>
            <a:off x="1170056" y="5013176"/>
            <a:ext cx="698500" cy="646112"/>
          </a:xfrm>
          <a:prstGeom prst="rect">
            <a:avLst/>
          </a:prstGeom>
          <a:noFill/>
          <a:ln w="9525">
            <a:noFill/>
          </a:ln>
        </p:spPr>
        <p:txBody>
          <a:bodyPr wrap="none" anchor="ctr">
            <a:scene3d>
              <a:camera prst="orthographicFront"/>
              <a:lightRig rig="soft" dir="t">
                <a:rot lat="0" lon="0" rev="15600000"/>
              </a:lightRig>
            </a:scene3d>
            <a:sp3d extrusionH="57150" prstMaterial="softEdge">
              <a:bevelT w="25400" h="38100"/>
            </a:sp3d>
          </a:bodyPr>
          <a:lstStyle/>
          <a:p>
            <a:pPr algn="ctr" eaLnBrk="1" hangingPunct="1">
              <a:buFont typeface="Arial" panose="020B0604020202020204" pitchFamily="34" charset="0"/>
              <a:buNone/>
              <a:defRPr/>
            </a:pPr>
            <a:endParaRPr lang="en-US" altLang="zh-CN" sz="3600" b="1" noProof="1">
              <a:solidFill>
                <a:schemeClr val="accent4"/>
              </a:solidFill>
              <a:cs typeface="宋体" panose="02010600030101010101" pitchFamily="2" charset="-122"/>
            </a:endParaRPr>
          </a:p>
        </p:txBody>
      </p:sp>
      <p:sp>
        <p:nvSpPr>
          <p:cNvPr id="24" name="文本框 6"/>
          <p:cNvSpPr txBox="1">
            <a:spLocks noChangeArrowheads="1"/>
          </p:cNvSpPr>
          <p:nvPr>
            <p:custDataLst>
              <p:tags r:id="rId3"/>
            </p:custDataLst>
          </p:nvPr>
        </p:nvSpPr>
        <p:spPr bwMode="auto">
          <a:xfrm>
            <a:off x="2497981" y="5013176"/>
            <a:ext cx="7848872"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nSpc>
                <a:spcPct val="120000"/>
              </a:lnSpc>
              <a:spcBef>
                <a:spcPts val="1000"/>
              </a:spcBef>
              <a:buFont typeface="Arial" panose="020B0604020202020204" pitchFamily="34" charset="0"/>
              <a:buChar char="•"/>
              <a:defRPr kumimoji="1" sz="2400">
                <a:solidFill>
                  <a:srgbClr val="595959"/>
                </a:solidFill>
                <a:latin typeface="Arial" panose="020B0604020202020204" pitchFamily="34" charset="0"/>
                <a:ea typeface="微软雅黑" panose="020B0503020204020204" pitchFamily="34" charset="-122"/>
              </a:defRPr>
            </a:lvl1pPr>
            <a:lvl2pPr marL="742950" indent="-285750">
              <a:lnSpc>
                <a:spcPct val="120000"/>
              </a:lnSpc>
              <a:spcBef>
                <a:spcPts val="500"/>
              </a:spcBef>
              <a:buFont typeface="Arial" panose="020B0604020202020204" pitchFamily="34" charset="0"/>
              <a:buChar char="•"/>
              <a:defRPr kumimoji="1" sz="2000">
                <a:solidFill>
                  <a:srgbClr val="595959"/>
                </a:solidFill>
                <a:latin typeface="Arial" panose="020B0604020202020204" pitchFamily="34" charset="0"/>
                <a:ea typeface="微软雅黑" panose="020B0503020204020204" pitchFamily="34" charset="-122"/>
              </a:defRPr>
            </a:lvl2pPr>
            <a:lvl3pPr marL="1143000" indent="-228600">
              <a:lnSpc>
                <a:spcPct val="120000"/>
              </a:lnSpc>
              <a:spcBef>
                <a:spcPts val="500"/>
              </a:spcBef>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3pPr>
            <a:lvl4pPr marL="1600200" indent="-228600">
              <a:lnSpc>
                <a:spcPct val="120000"/>
              </a:lnSpc>
              <a:spcBef>
                <a:spcPts val="500"/>
              </a:spcBef>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4pPr>
            <a:lvl5pPr marL="2057400" indent="-228600">
              <a:lnSpc>
                <a:spcPct val="120000"/>
              </a:lnSpc>
              <a:spcBef>
                <a:spcPts val="500"/>
              </a:spcBef>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5pPr>
            <a:lvl6pPr marL="2514600" indent="-228600" eaLnBrk="0" fontAlgn="base" hangingPunct="0">
              <a:lnSpc>
                <a:spcPct val="120000"/>
              </a:lnSpc>
              <a:spcBef>
                <a:spcPts val="500"/>
              </a:spcBef>
              <a:spcAft>
                <a:spcPct val="0"/>
              </a:spcAft>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6pPr>
            <a:lvl7pPr marL="2971800" indent="-228600" eaLnBrk="0" fontAlgn="base" hangingPunct="0">
              <a:lnSpc>
                <a:spcPct val="120000"/>
              </a:lnSpc>
              <a:spcBef>
                <a:spcPts val="500"/>
              </a:spcBef>
              <a:spcAft>
                <a:spcPct val="0"/>
              </a:spcAft>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7pPr>
            <a:lvl8pPr marL="3429000" indent="-228600" eaLnBrk="0" fontAlgn="base" hangingPunct="0">
              <a:lnSpc>
                <a:spcPct val="120000"/>
              </a:lnSpc>
              <a:spcBef>
                <a:spcPts val="500"/>
              </a:spcBef>
              <a:spcAft>
                <a:spcPct val="0"/>
              </a:spcAft>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8pPr>
            <a:lvl9pPr marL="3886200" indent="-228600" eaLnBrk="0" fontAlgn="base" hangingPunct="0">
              <a:lnSpc>
                <a:spcPct val="120000"/>
              </a:lnSpc>
              <a:spcBef>
                <a:spcPts val="500"/>
              </a:spcBef>
              <a:spcAft>
                <a:spcPct val="0"/>
              </a:spcAft>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9pPr>
          </a:lstStyle>
          <a:p>
            <a:pPr>
              <a:lnSpc>
                <a:spcPct val="100000"/>
              </a:lnSpc>
              <a:spcBef>
                <a:spcPct val="0"/>
              </a:spcBef>
              <a:buNone/>
            </a:pPr>
            <a:endParaRPr kumimoji="0" lang="zh-CN" altLang="en-US" b="1" dirty="0">
              <a:latin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p14:dur="10" advTm="9437"/>
    </mc:Choice>
    <mc:Fallback xmlns="">
      <p:transition advTm="943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anim calcmode="lin" valueType="num">
                                      <p:cBhvr>
                                        <p:cTn id="8" dur="1000" fill="hold"/>
                                        <p:tgtEl>
                                          <p:spTgt spid="15"/>
                                        </p:tgtEl>
                                        <p:attrNameLst>
                                          <p:attrName>ppt_x</p:attrName>
                                        </p:attrNameLst>
                                      </p:cBhvr>
                                      <p:tavLst>
                                        <p:tav tm="0">
                                          <p:val>
                                            <p:strVal val="#ppt_x"/>
                                          </p:val>
                                        </p:tav>
                                        <p:tav tm="100000">
                                          <p:val>
                                            <p:strVal val="#ppt_x"/>
                                          </p:val>
                                        </p:tav>
                                      </p:tavLst>
                                    </p:anim>
                                    <p:anim calcmode="lin" valueType="num">
                                      <p:cBhvr>
                                        <p:cTn id="9" dur="1000" fill="hold"/>
                                        <p:tgtEl>
                                          <p:spTgt spid="15"/>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1000"/>
                                        <p:tgtEl>
                                          <p:spTgt spid="16"/>
                                        </p:tgtEl>
                                      </p:cBhvr>
                                    </p:animEffect>
                                    <p:anim calcmode="lin" valueType="num">
                                      <p:cBhvr>
                                        <p:cTn id="13" dur="1000" fill="hold"/>
                                        <p:tgtEl>
                                          <p:spTgt spid="16"/>
                                        </p:tgtEl>
                                        <p:attrNameLst>
                                          <p:attrName>ppt_x</p:attrName>
                                        </p:attrNameLst>
                                      </p:cBhvr>
                                      <p:tavLst>
                                        <p:tav tm="0">
                                          <p:val>
                                            <p:strVal val="#ppt_x"/>
                                          </p:val>
                                        </p:tav>
                                        <p:tav tm="100000">
                                          <p:val>
                                            <p:strVal val="#ppt_x"/>
                                          </p:val>
                                        </p:tav>
                                      </p:tavLst>
                                    </p:anim>
                                    <p:anim calcmode="lin" valueType="num">
                                      <p:cBhvr>
                                        <p:cTn id="14"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1000"/>
                                        <p:tgtEl>
                                          <p:spTgt spid="20"/>
                                        </p:tgtEl>
                                      </p:cBhvr>
                                    </p:animEffect>
                                    <p:anim calcmode="lin" valueType="num">
                                      <p:cBhvr>
                                        <p:cTn id="20" dur="1000" fill="hold"/>
                                        <p:tgtEl>
                                          <p:spTgt spid="20"/>
                                        </p:tgtEl>
                                        <p:attrNameLst>
                                          <p:attrName>ppt_x</p:attrName>
                                        </p:attrNameLst>
                                      </p:cBhvr>
                                      <p:tavLst>
                                        <p:tav tm="0">
                                          <p:val>
                                            <p:strVal val="#ppt_x"/>
                                          </p:val>
                                        </p:tav>
                                        <p:tav tm="100000">
                                          <p:val>
                                            <p:strVal val="#ppt_x"/>
                                          </p:val>
                                        </p:tav>
                                      </p:tavLst>
                                    </p:anim>
                                    <p:anim calcmode="lin" valueType="num">
                                      <p:cBhvr>
                                        <p:cTn id="21" dur="1000" fill="hold"/>
                                        <p:tgtEl>
                                          <p:spTgt spid="20"/>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nodePh="1">
                                  <p:stCondLst>
                                    <p:cond delay="0"/>
                                  </p:stCondLst>
                                  <p:endCondLst>
                                    <p:cond evt="begin" delay="0">
                                      <p:tn val="22"/>
                                    </p:cond>
                                  </p:endCondLst>
                                  <p:childTnLst>
                                    <p:set>
                                      <p:cBhvr>
                                        <p:cTn id="23" dur="1" fill="hold">
                                          <p:stCondLst>
                                            <p:cond delay="0"/>
                                          </p:stCondLst>
                                        </p:cTn>
                                        <p:tgtEl>
                                          <p:spTgt spid="23"/>
                                        </p:tgtEl>
                                        <p:attrNameLst>
                                          <p:attrName>style.visibility</p:attrName>
                                        </p:attrNameLst>
                                      </p:cBhvr>
                                      <p:to>
                                        <p:strVal val="visible"/>
                                      </p:to>
                                    </p:set>
                                    <p:animEffect transition="in" filter="fade">
                                      <p:cBhvr>
                                        <p:cTn id="24" dur="1000"/>
                                        <p:tgtEl>
                                          <p:spTgt spid="23"/>
                                        </p:tgtEl>
                                      </p:cBhvr>
                                    </p:animEffect>
                                    <p:anim calcmode="lin" valueType="num">
                                      <p:cBhvr>
                                        <p:cTn id="25" dur="1000" fill="hold"/>
                                        <p:tgtEl>
                                          <p:spTgt spid="23"/>
                                        </p:tgtEl>
                                        <p:attrNameLst>
                                          <p:attrName>ppt_x</p:attrName>
                                        </p:attrNameLst>
                                      </p:cBhvr>
                                      <p:tavLst>
                                        <p:tav tm="0">
                                          <p:val>
                                            <p:strVal val="#ppt_x"/>
                                          </p:val>
                                        </p:tav>
                                        <p:tav tm="100000">
                                          <p:val>
                                            <p:strVal val="#ppt_x"/>
                                          </p:val>
                                        </p:tav>
                                      </p:tavLst>
                                    </p:anim>
                                    <p:anim calcmode="lin" valueType="num">
                                      <p:cBhvr>
                                        <p:cTn id="26"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nodePh="1">
                                  <p:stCondLst>
                                    <p:cond delay="0"/>
                                  </p:stCondLst>
                                  <p:endCondLst>
                                    <p:cond evt="begin" delay="0">
                                      <p:tn val="29"/>
                                    </p:cond>
                                  </p:endCondLst>
                                  <p:childTnLst>
                                    <p:set>
                                      <p:cBhvr>
                                        <p:cTn id="30" dur="1" fill="hold">
                                          <p:stCondLst>
                                            <p:cond delay="0"/>
                                          </p:stCondLst>
                                        </p:cTn>
                                        <p:tgtEl>
                                          <p:spTgt spid="24"/>
                                        </p:tgtEl>
                                        <p:attrNameLst>
                                          <p:attrName>style.visibility</p:attrName>
                                        </p:attrNameLst>
                                      </p:cBhvr>
                                      <p:to>
                                        <p:strVal val="visible"/>
                                      </p:to>
                                    </p:set>
                                    <p:animEffect transition="in" filter="fade">
                                      <p:cBhvr>
                                        <p:cTn id="31" dur="1000"/>
                                        <p:tgtEl>
                                          <p:spTgt spid="24"/>
                                        </p:tgtEl>
                                      </p:cBhvr>
                                    </p:animEffect>
                                    <p:anim calcmode="lin" valueType="num">
                                      <p:cBhvr>
                                        <p:cTn id="32" dur="1000" fill="hold"/>
                                        <p:tgtEl>
                                          <p:spTgt spid="24"/>
                                        </p:tgtEl>
                                        <p:attrNameLst>
                                          <p:attrName>ppt_x</p:attrName>
                                        </p:attrNameLst>
                                      </p:cBhvr>
                                      <p:tavLst>
                                        <p:tav tm="0">
                                          <p:val>
                                            <p:strVal val="#ppt_x"/>
                                          </p:val>
                                        </p:tav>
                                        <p:tav tm="100000">
                                          <p:val>
                                            <p:strVal val="#ppt_x"/>
                                          </p:val>
                                        </p:tav>
                                      </p:tavLst>
                                    </p:anim>
                                    <p:anim calcmode="lin" valueType="num">
                                      <p:cBhvr>
                                        <p:cTn id="33"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animBg="1"/>
      <p:bldP spid="20" grpId="0"/>
      <p:bldP spid="23" grpId="0"/>
      <p:bldP spid="2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Box 54"/>
          <p:cNvSpPr txBox="1"/>
          <p:nvPr/>
        </p:nvSpPr>
        <p:spPr>
          <a:xfrm>
            <a:off x="1330765" y="44625"/>
            <a:ext cx="7719943" cy="523214"/>
          </a:xfrm>
          <a:prstGeom prst="rect">
            <a:avLst/>
          </a:prstGeom>
          <a:noFill/>
        </p:spPr>
        <p:txBody>
          <a:bodyPr wrap="square" lIns="91434" tIns="45717" rIns="91434" bIns="45717"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r>
              <a:rPr lang="en-US" altLang="zh-CN" sz="2800" dirty="0" smtClean="0">
                <a:solidFill>
                  <a:schemeClr val="accent2"/>
                </a:solidFill>
                <a:latin typeface="微软雅黑" panose="020B0503020204020204" pitchFamily="34" charset="-122"/>
                <a:ea typeface="微软雅黑" panose="020B0503020204020204" pitchFamily="34" charset="-122"/>
              </a:rPr>
              <a:t>3.3.1 </a:t>
            </a:r>
            <a:r>
              <a:rPr lang="zh-CN" altLang="en-US" sz="2800" dirty="0">
                <a:solidFill>
                  <a:schemeClr val="accent2"/>
                </a:solidFill>
                <a:latin typeface="微软雅黑" panose="020B0503020204020204" pitchFamily="34" charset="-122"/>
                <a:ea typeface="微软雅黑" panose="020B0503020204020204" pitchFamily="34" charset="-122"/>
              </a:rPr>
              <a:t>数据</a:t>
            </a:r>
            <a:r>
              <a:rPr lang="zh-CN" altLang="en-US" sz="2800" dirty="0" smtClean="0">
                <a:solidFill>
                  <a:schemeClr val="accent2"/>
                </a:solidFill>
                <a:latin typeface="微软雅黑" panose="020B0503020204020204" pitchFamily="34" charset="-122"/>
                <a:ea typeface="微软雅黑" panose="020B0503020204020204" pitchFamily="34" charset="-122"/>
              </a:rPr>
              <a:t>框创建</a:t>
            </a:r>
            <a:endParaRPr lang="zh-CN" altLang="en-US" sz="2800" dirty="0">
              <a:solidFill>
                <a:schemeClr val="accent2"/>
              </a:solidFill>
              <a:latin typeface="微软雅黑" panose="020B0503020204020204" pitchFamily="34" charset="-122"/>
              <a:ea typeface="微软雅黑" panose="020B0503020204020204" pitchFamily="34" charset="-122"/>
            </a:endParaRPr>
          </a:p>
        </p:txBody>
      </p:sp>
      <p:sp>
        <p:nvSpPr>
          <p:cNvPr id="56" name="TextBox 55"/>
          <p:cNvSpPr txBox="1"/>
          <p:nvPr/>
        </p:nvSpPr>
        <p:spPr>
          <a:xfrm>
            <a:off x="140263" y="106179"/>
            <a:ext cx="1064260" cy="400103"/>
          </a:xfrm>
          <a:prstGeom prst="rect">
            <a:avLst/>
          </a:prstGeom>
          <a:noFill/>
        </p:spPr>
        <p:txBody>
          <a:bodyPr wrap="square" lIns="91434" tIns="45717" rIns="91434" bIns="45717" rtlCol="0">
            <a:spAutoFit/>
          </a:bodyPr>
          <a:lstStyle/>
          <a:p>
            <a:pPr algn="r"/>
            <a:r>
              <a:rPr lang="en-US" altLang="zh-CN" sz="2000" dirty="0">
                <a:solidFill>
                  <a:schemeClr val="accent2"/>
                </a:solidFill>
              </a:rPr>
              <a:t>Part </a:t>
            </a:r>
            <a:r>
              <a:rPr lang="en-US" altLang="zh-CN" dirty="0">
                <a:solidFill>
                  <a:schemeClr val="accent2"/>
                </a:solidFill>
              </a:rPr>
              <a:t>3</a:t>
            </a:r>
            <a:r>
              <a:rPr lang="en-US" altLang="zh-CN" dirty="0" smtClean="0">
                <a:solidFill>
                  <a:schemeClr val="accent2"/>
                </a:solidFill>
              </a:rPr>
              <a:t> </a:t>
            </a:r>
            <a:endParaRPr lang="zh-CN" altLang="en-US" dirty="0">
              <a:solidFill>
                <a:schemeClr val="accent2"/>
              </a:solidFill>
            </a:endParaRPr>
          </a:p>
        </p:txBody>
      </p:sp>
      <p:sp>
        <p:nvSpPr>
          <p:cNvPr id="15" name="文本框 7"/>
          <p:cNvSpPr txBox="1">
            <a:spLocks noChangeArrowheads="1"/>
          </p:cNvSpPr>
          <p:nvPr/>
        </p:nvSpPr>
        <p:spPr bwMode="auto">
          <a:xfrm>
            <a:off x="895121" y="764704"/>
            <a:ext cx="10315828"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120000"/>
              </a:lnSpc>
              <a:spcBef>
                <a:spcPts val="1000"/>
              </a:spcBef>
              <a:buFont typeface="Arial" panose="020B0604020202020204" pitchFamily="34" charset="0"/>
              <a:buChar char="•"/>
              <a:defRPr kumimoji="1" sz="2400">
                <a:solidFill>
                  <a:srgbClr val="595959"/>
                </a:solidFill>
                <a:latin typeface="Arial" panose="020B0604020202020204" pitchFamily="34" charset="0"/>
                <a:ea typeface="微软雅黑" panose="020B0503020204020204" pitchFamily="34" charset="-122"/>
              </a:defRPr>
            </a:lvl1pPr>
            <a:lvl2pPr marL="742950" indent="-285750">
              <a:lnSpc>
                <a:spcPct val="120000"/>
              </a:lnSpc>
              <a:spcBef>
                <a:spcPts val="500"/>
              </a:spcBef>
              <a:buFont typeface="Arial" panose="020B0604020202020204" pitchFamily="34" charset="0"/>
              <a:buChar char="•"/>
              <a:defRPr kumimoji="1" sz="2000">
                <a:solidFill>
                  <a:srgbClr val="595959"/>
                </a:solidFill>
                <a:latin typeface="Arial" panose="020B0604020202020204" pitchFamily="34" charset="0"/>
                <a:ea typeface="微软雅黑" panose="020B0503020204020204" pitchFamily="34" charset="-122"/>
              </a:defRPr>
            </a:lvl2pPr>
            <a:lvl3pPr marL="1143000" indent="-228600">
              <a:lnSpc>
                <a:spcPct val="120000"/>
              </a:lnSpc>
              <a:spcBef>
                <a:spcPts val="500"/>
              </a:spcBef>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3pPr>
            <a:lvl4pPr marL="1600200" indent="-228600">
              <a:lnSpc>
                <a:spcPct val="120000"/>
              </a:lnSpc>
              <a:spcBef>
                <a:spcPts val="500"/>
              </a:spcBef>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4pPr>
            <a:lvl5pPr marL="2057400" indent="-228600">
              <a:lnSpc>
                <a:spcPct val="120000"/>
              </a:lnSpc>
              <a:spcBef>
                <a:spcPts val="500"/>
              </a:spcBef>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5pPr>
            <a:lvl6pPr marL="2514600" indent="-228600" eaLnBrk="0" fontAlgn="base" hangingPunct="0">
              <a:lnSpc>
                <a:spcPct val="120000"/>
              </a:lnSpc>
              <a:spcBef>
                <a:spcPts val="500"/>
              </a:spcBef>
              <a:spcAft>
                <a:spcPct val="0"/>
              </a:spcAft>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6pPr>
            <a:lvl7pPr marL="2971800" indent="-228600" eaLnBrk="0" fontAlgn="base" hangingPunct="0">
              <a:lnSpc>
                <a:spcPct val="120000"/>
              </a:lnSpc>
              <a:spcBef>
                <a:spcPts val="500"/>
              </a:spcBef>
              <a:spcAft>
                <a:spcPct val="0"/>
              </a:spcAft>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7pPr>
            <a:lvl8pPr marL="3429000" indent="-228600" eaLnBrk="0" fontAlgn="base" hangingPunct="0">
              <a:lnSpc>
                <a:spcPct val="120000"/>
              </a:lnSpc>
              <a:spcBef>
                <a:spcPts val="500"/>
              </a:spcBef>
              <a:spcAft>
                <a:spcPct val="0"/>
              </a:spcAft>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8pPr>
            <a:lvl9pPr marL="3886200" indent="-228600" eaLnBrk="0" fontAlgn="base" hangingPunct="0">
              <a:lnSpc>
                <a:spcPct val="120000"/>
              </a:lnSpc>
              <a:spcBef>
                <a:spcPts val="500"/>
              </a:spcBef>
              <a:spcAft>
                <a:spcPct val="0"/>
              </a:spcAft>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9pPr>
          </a:lstStyle>
          <a:p>
            <a:pPr>
              <a:lnSpc>
                <a:spcPct val="100000"/>
              </a:lnSpc>
              <a:spcBef>
                <a:spcPct val="0"/>
              </a:spcBef>
              <a:buNone/>
            </a:pPr>
            <a:r>
              <a:rPr lang="zh-CN" altLang="zh-CN" dirty="0"/>
              <a:t>基于字典，利用</a:t>
            </a:r>
            <a:r>
              <a:rPr lang="en-US" altLang="zh-CN" dirty="0"/>
              <a:t>Pandas</a:t>
            </a:r>
            <a:r>
              <a:rPr lang="zh-CN" altLang="zh-CN" dirty="0"/>
              <a:t>库中的</a:t>
            </a:r>
            <a:r>
              <a:rPr lang="en-US" altLang="zh-CN" dirty="0" err="1"/>
              <a:t>DataFrame</a:t>
            </a:r>
            <a:r>
              <a:rPr lang="zh-CN" altLang="zh-CN" dirty="0"/>
              <a:t>函数，可以创建数据框。其中字典的键转化为列名，字典的值转化为列值，而索引为默认值，即从</a:t>
            </a:r>
            <a:r>
              <a:rPr lang="en-US" altLang="zh-CN" dirty="0"/>
              <a:t>0</a:t>
            </a:r>
            <a:r>
              <a:rPr lang="zh-CN" altLang="zh-CN" dirty="0"/>
              <a:t>开始从小到大排列。</a:t>
            </a:r>
            <a:endParaRPr kumimoji="0" lang="zh-CN" altLang="en-US" dirty="0">
              <a:solidFill>
                <a:schemeClr val="tx1"/>
              </a:solidFill>
              <a:ea typeface="宋体" panose="02010600030101010101" pitchFamily="2" charset="-122"/>
            </a:endParaRPr>
          </a:p>
        </p:txBody>
      </p:sp>
      <p:sp>
        <p:nvSpPr>
          <p:cNvPr id="3" name="矩形 2"/>
          <p:cNvSpPr/>
          <p:nvPr/>
        </p:nvSpPr>
        <p:spPr>
          <a:xfrm>
            <a:off x="1039520" y="1965033"/>
            <a:ext cx="6096000" cy="1754326"/>
          </a:xfrm>
          <a:prstGeom prst="rect">
            <a:avLst/>
          </a:prstGeom>
        </p:spPr>
        <p:txBody>
          <a:bodyPr>
            <a:spAutoFit/>
          </a:bodyPr>
          <a:lstStyle/>
          <a:p>
            <a:r>
              <a:rPr lang="en-US" altLang="zh-CN" dirty="0"/>
              <a:t>import pandas as </a:t>
            </a:r>
            <a:r>
              <a:rPr lang="en-US" altLang="zh-CN" dirty="0" err="1"/>
              <a:t>pd</a:t>
            </a:r>
            <a:endParaRPr lang="zh-CN" altLang="zh-CN" dirty="0"/>
          </a:p>
          <a:p>
            <a:r>
              <a:rPr lang="en-US" altLang="zh-CN" dirty="0"/>
              <a:t>import </a:t>
            </a:r>
            <a:r>
              <a:rPr lang="en-US" altLang="zh-CN" dirty="0" err="1"/>
              <a:t>numpy</a:t>
            </a:r>
            <a:r>
              <a:rPr lang="en-US" altLang="zh-CN" dirty="0"/>
              <a:t> as </a:t>
            </a:r>
            <a:r>
              <a:rPr lang="en-US" altLang="zh-CN" dirty="0" err="1"/>
              <a:t>np</a:t>
            </a:r>
            <a:endParaRPr lang="zh-CN" altLang="zh-CN" dirty="0"/>
          </a:p>
          <a:p>
            <a:r>
              <a:rPr lang="en-US" altLang="zh-CN" dirty="0"/>
              <a:t>data={'a':[2,2,np.nan,5,6],'b':[‘</a:t>
            </a:r>
            <a:r>
              <a:rPr lang="en-US" altLang="zh-CN" dirty="0" err="1"/>
              <a:t>kl’,’kl’,’kl’,np.nan,’kl</a:t>
            </a:r>
            <a:r>
              <a:rPr lang="en-US" altLang="zh-CN" dirty="0"/>
              <a:t>’],’c’:[4,6,5,np.nan,6],’d’:[7,9,np.nan,9,8]}</a:t>
            </a:r>
            <a:endParaRPr lang="zh-CN" altLang="zh-CN" dirty="0"/>
          </a:p>
          <a:p>
            <a:r>
              <a:rPr lang="en-US" altLang="zh-CN" dirty="0" err="1"/>
              <a:t>df</a:t>
            </a:r>
            <a:r>
              <a:rPr lang="en-US" altLang="zh-CN" dirty="0"/>
              <a:t>=</a:t>
            </a:r>
            <a:r>
              <a:rPr lang="en-US" altLang="zh-CN" dirty="0" err="1"/>
              <a:t>pd.DataFrame</a:t>
            </a:r>
            <a:r>
              <a:rPr lang="en-US" altLang="zh-CN" dirty="0"/>
              <a:t>(data</a:t>
            </a:r>
            <a:r>
              <a:rPr lang="en-US" altLang="zh-CN" dirty="0" smtClean="0"/>
              <a:t>)</a:t>
            </a:r>
          </a:p>
          <a:p>
            <a:r>
              <a:rPr lang="zh-CN" altLang="en-US" dirty="0" smtClean="0"/>
              <a:t>如下图</a:t>
            </a:r>
            <a:endParaRPr lang="zh-CN" altLang="zh-CN" dirty="0"/>
          </a:p>
        </p:txBody>
      </p:sp>
      <p:pic>
        <p:nvPicPr>
          <p:cNvPr id="8" name="图片 7"/>
          <p:cNvPicPr/>
          <p:nvPr/>
        </p:nvPicPr>
        <p:blipFill>
          <a:blip r:embed="rId3" cstate="print"/>
          <a:stretch>
            <a:fillRect/>
          </a:stretch>
        </p:blipFill>
        <p:spPr>
          <a:xfrm>
            <a:off x="1039520" y="3772666"/>
            <a:ext cx="3530600" cy="180020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advTm="9437"/>
    </mc:Choice>
    <mc:Fallback xmlns="">
      <p:transition advTm="943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anim calcmode="lin" valueType="num">
                                      <p:cBhvr>
                                        <p:cTn id="8" dur="1000" fill="hold"/>
                                        <p:tgtEl>
                                          <p:spTgt spid="15"/>
                                        </p:tgtEl>
                                        <p:attrNameLst>
                                          <p:attrName>ppt_x</p:attrName>
                                        </p:attrNameLst>
                                      </p:cBhvr>
                                      <p:tavLst>
                                        <p:tav tm="0">
                                          <p:val>
                                            <p:strVal val="#ppt_x"/>
                                          </p:val>
                                        </p:tav>
                                        <p:tav tm="100000">
                                          <p:val>
                                            <p:strVal val="#ppt_x"/>
                                          </p:val>
                                        </p:tav>
                                      </p:tavLst>
                                    </p:anim>
                                    <p:anim calcmode="lin" valueType="num">
                                      <p:cBhvr>
                                        <p:cTn id="9"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Box 54"/>
          <p:cNvSpPr txBox="1"/>
          <p:nvPr/>
        </p:nvSpPr>
        <p:spPr>
          <a:xfrm>
            <a:off x="1330765" y="44625"/>
            <a:ext cx="7719943" cy="523214"/>
          </a:xfrm>
          <a:prstGeom prst="rect">
            <a:avLst/>
          </a:prstGeom>
          <a:noFill/>
        </p:spPr>
        <p:txBody>
          <a:bodyPr wrap="square" lIns="91434" tIns="45717" rIns="91434" bIns="45717"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r>
              <a:rPr lang="en-US" altLang="zh-CN" sz="2800" dirty="0" smtClean="0">
                <a:solidFill>
                  <a:schemeClr val="accent2"/>
                </a:solidFill>
                <a:latin typeface="微软雅黑" panose="020B0503020204020204" pitchFamily="34" charset="-122"/>
                <a:ea typeface="微软雅黑" panose="020B0503020204020204" pitchFamily="34" charset="-122"/>
              </a:rPr>
              <a:t>3.3.2 </a:t>
            </a:r>
            <a:r>
              <a:rPr lang="zh-CN" altLang="en-US" sz="2800" dirty="0">
                <a:solidFill>
                  <a:schemeClr val="accent2"/>
                </a:solidFill>
                <a:latin typeface="微软雅黑" panose="020B0503020204020204" pitchFamily="34" charset="-122"/>
                <a:ea typeface="微软雅黑" panose="020B0503020204020204" pitchFamily="34" charset="-122"/>
              </a:rPr>
              <a:t>数据</a:t>
            </a:r>
            <a:r>
              <a:rPr lang="zh-CN" altLang="en-US" sz="2800" dirty="0" smtClean="0">
                <a:solidFill>
                  <a:schemeClr val="accent2"/>
                </a:solidFill>
                <a:latin typeface="微软雅黑" panose="020B0503020204020204" pitchFamily="34" charset="-122"/>
                <a:ea typeface="微软雅黑" panose="020B0503020204020204" pitchFamily="34" charset="-122"/>
              </a:rPr>
              <a:t>框</a:t>
            </a:r>
            <a:r>
              <a:rPr lang="zh-CN" altLang="en-US" sz="2800" dirty="0">
                <a:solidFill>
                  <a:schemeClr val="accent2"/>
                </a:solidFill>
                <a:latin typeface="微软雅黑" panose="020B0503020204020204" pitchFamily="34" charset="-122"/>
                <a:ea typeface="微软雅黑" panose="020B0503020204020204" pitchFamily="34" charset="-122"/>
              </a:rPr>
              <a:t>方法</a:t>
            </a:r>
          </a:p>
        </p:txBody>
      </p:sp>
      <p:sp>
        <p:nvSpPr>
          <p:cNvPr id="56" name="TextBox 55"/>
          <p:cNvSpPr txBox="1"/>
          <p:nvPr/>
        </p:nvSpPr>
        <p:spPr>
          <a:xfrm>
            <a:off x="140263" y="106179"/>
            <a:ext cx="1064260" cy="400103"/>
          </a:xfrm>
          <a:prstGeom prst="rect">
            <a:avLst/>
          </a:prstGeom>
          <a:noFill/>
        </p:spPr>
        <p:txBody>
          <a:bodyPr wrap="square" lIns="91434" tIns="45717" rIns="91434" bIns="45717" rtlCol="0">
            <a:spAutoFit/>
          </a:bodyPr>
          <a:lstStyle/>
          <a:p>
            <a:pPr algn="r"/>
            <a:r>
              <a:rPr lang="en-US" altLang="zh-CN" sz="2000" dirty="0">
                <a:solidFill>
                  <a:schemeClr val="accent2"/>
                </a:solidFill>
              </a:rPr>
              <a:t>Part </a:t>
            </a:r>
            <a:r>
              <a:rPr lang="en-US" altLang="zh-CN" dirty="0">
                <a:solidFill>
                  <a:schemeClr val="accent2"/>
                </a:solidFill>
              </a:rPr>
              <a:t>3</a:t>
            </a:r>
            <a:r>
              <a:rPr lang="en-US" altLang="zh-CN" dirty="0" smtClean="0">
                <a:solidFill>
                  <a:schemeClr val="accent2"/>
                </a:solidFill>
              </a:rPr>
              <a:t> </a:t>
            </a:r>
            <a:endParaRPr lang="zh-CN" altLang="en-US" dirty="0">
              <a:solidFill>
                <a:schemeClr val="accent2"/>
              </a:solidFill>
            </a:endParaRPr>
          </a:p>
        </p:txBody>
      </p:sp>
      <p:sp>
        <p:nvSpPr>
          <p:cNvPr id="15" name="文本框 7"/>
          <p:cNvSpPr txBox="1">
            <a:spLocks noChangeArrowheads="1"/>
          </p:cNvSpPr>
          <p:nvPr/>
        </p:nvSpPr>
        <p:spPr bwMode="auto">
          <a:xfrm>
            <a:off x="895121" y="764704"/>
            <a:ext cx="10315828" cy="2713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120000"/>
              </a:lnSpc>
              <a:spcBef>
                <a:spcPts val="1000"/>
              </a:spcBef>
              <a:buFont typeface="Arial" panose="020B0604020202020204" pitchFamily="34" charset="0"/>
              <a:buChar char="•"/>
              <a:defRPr kumimoji="1" sz="2400">
                <a:solidFill>
                  <a:srgbClr val="595959"/>
                </a:solidFill>
                <a:latin typeface="Arial" panose="020B0604020202020204" pitchFamily="34" charset="0"/>
                <a:ea typeface="微软雅黑" panose="020B0503020204020204" pitchFamily="34" charset="-122"/>
              </a:defRPr>
            </a:lvl1pPr>
            <a:lvl2pPr marL="742950" indent="-285750">
              <a:lnSpc>
                <a:spcPct val="120000"/>
              </a:lnSpc>
              <a:spcBef>
                <a:spcPts val="500"/>
              </a:spcBef>
              <a:buFont typeface="Arial" panose="020B0604020202020204" pitchFamily="34" charset="0"/>
              <a:buChar char="•"/>
              <a:defRPr kumimoji="1" sz="2000">
                <a:solidFill>
                  <a:srgbClr val="595959"/>
                </a:solidFill>
                <a:latin typeface="Arial" panose="020B0604020202020204" pitchFamily="34" charset="0"/>
                <a:ea typeface="微软雅黑" panose="020B0503020204020204" pitchFamily="34" charset="-122"/>
              </a:defRPr>
            </a:lvl2pPr>
            <a:lvl3pPr marL="1143000" indent="-228600">
              <a:lnSpc>
                <a:spcPct val="120000"/>
              </a:lnSpc>
              <a:spcBef>
                <a:spcPts val="500"/>
              </a:spcBef>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3pPr>
            <a:lvl4pPr marL="1600200" indent="-228600">
              <a:lnSpc>
                <a:spcPct val="120000"/>
              </a:lnSpc>
              <a:spcBef>
                <a:spcPts val="500"/>
              </a:spcBef>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4pPr>
            <a:lvl5pPr marL="2057400" indent="-228600">
              <a:lnSpc>
                <a:spcPct val="120000"/>
              </a:lnSpc>
              <a:spcBef>
                <a:spcPts val="500"/>
              </a:spcBef>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5pPr>
            <a:lvl6pPr marL="2514600" indent="-228600" eaLnBrk="0" fontAlgn="base" hangingPunct="0">
              <a:lnSpc>
                <a:spcPct val="120000"/>
              </a:lnSpc>
              <a:spcBef>
                <a:spcPts val="500"/>
              </a:spcBef>
              <a:spcAft>
                <a:spcPct val="0"/>
              </a:spcAft>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6pPr>
            <a:lvl7pPr marL="2971800" indent="-228600" eaLnBrk="0" fontAlgn="base" hangingPunct="0">
              <a:lnSpc>
                <a:spcPct val="120000"/>
              </a:lnSpc>
              <a:spcBef>
                <a:spcPts val="500"/>
              </a:spcBef>
              <a:spcAft>
                <a:spcPct val="0"/>
              </a:spcAft>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7pPr>
            <a:lvl8pPr marL="3429000" indent="-228600" eaLnBrk="0" fontAlgn="base" hangingPunct="0">
              <a:lnSpc>
                <a:spcPct val="120000"/>
              </a:lnSpc>
              <a:spcBef>
                <a:spcPts val="500"/>
              </a:spcBef>
              <a:spcAft>
                <a:spcPct val="0"/>
              </a:spcAft>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8pPr>
            <a:lvl9pPr marL="3886200" indent="-228600" eaLnBrk="0" fontAlgn="base" hangingPunct="0">
              <a:lnSpc>
                <a:spcPct val="120000"/>
              </a:lnSpc>
              <a:spcBef>
                <a:spcPts val="500"/>
              </a:spcBef>
              <a:spcAft>
                <a:spcPct val="0"/>
              </a:spcAft>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9pPr>
          </a:lstStyle>
          <a:p>
            <a:r>
              <a:rPr lang="zh-CN" altLang="zh-CN" dirty="0"/>
              <a:t>数据框（</a:t>
            </a:r>
            <a:r>
              <a:rPr lang="en-US" altLang="zh-CN" dirty="0" err="1"/>
              <a:t>DataFrame</a:t>
            </a:r>
            <a:r>
              <a:rPr lang="zh-CN" altLang="zh-CN" dirty="0"/>
              <a:t>）作为数据处理及挖掘分析的重要基础数据结构，提供了非常丰富的方法用于数据处理及计算</a:t>
            </a:r>
            <a:r>
              <a:rPr lang="zh-CN" altLang="zh-CN" dirty="0" smtClean="0"/>
              <a:t>。</a:t>
            </a:r>
            <a:r>
              <a:rPr lang="zh-CN" altLang="en-US" dirty="0"/>
              <a:t>数据框对象具有三个属性，分别为列名、索引和值</a:t>
            </a:r>
            <a:r>
              <a:rPr lang="zh-CN" altLang="en-US" dirty="0" smtClean="0"/>
              <a:t>。</a:t>
            </a:r>
            <a:r>
              <a:rPr lang="zh-CN" altLang="zh-CN" dirty="0" smtClean="0"/>
              <a:t>下面</a:t>
            </a:r>
            <a:r>
              <a:rPr lang="zh-CN" altLang="zh-CN" dirty="0"/>
              <a:t>介绍其常用的方法，包括去掉空值（</a:t>
            </a:r>
            <a:r>
              <a:rPr lang="en-US" altLang="zh-CN" dirty="0"/>
              <a:t>nan</a:t>
            </a:r>
            <a:r>
              <a:rPr lang="zh-CN" altLang="zh-CN" dirty="0"/>
              <a:t>值）、对空值（</a:t>
            </a:r>
            <a:r>
              <a:rPr lang="en-US" altLang="zh-CN" dirty="0"/>
              <a:t>nan</a:t>
            </a:r>
            <a:r>
              <a:rPr lang="zh-CN" altLang="zh-CN" dirty="0"/>
              <a:t>值）进行填充、基于字段列值进行排序、基于</a:t>
            </a:r>
            <a:r>
              <a:rPr lang="en-US" altLang="zh-CN" dirty="0"/>
              <a:t>index</a:t>
            </a:r>
            <a:r>
              <a:rPr lang="zh-CN" altLang="zh-CN" dirty="0"/>
              <a:t>进行排序、取前</a:t>
            </a:r>
            <a:r>
              <a:rPr lang="en-US" altLang="zh-CN" dirty="0"/>
              <a:t>N</a:t>
            </a:r>
            <a:r>
              <a:rPr lang="zh-CN" altLang="zh-CN" dirty="0"/>
              <a:t>行数据、删除列、数据框之间的连接、数据框转化为</a:t>
            </a:r>
            <a:r>
              <a:rPr lang="en-US" altLang="zh-CN" dirty="0" err="1"/>
              <a:t>Numpy</a:t>
            </a:r>
            <a:r>
              <a:rPr lang="zh-CN" altLang="zh-CN" dirty="0"/>
              <a:t>数组、数据导出到</a:t>
            </a:r>
            <a:r>
              <a:rPr lang="en-US" altLang="zh-CN" dirty="0"/>
              <a:t>Excel</a:t>
            </a:r>
            <a:r>
              <a:rPr lang="zh-CN" altLang="zh-CN" dirty="0"/>
              <a:t>、相关统计分析等。下面分别给出其详细的介绍。</a:t>
            </a:r>
          </a:p>
        </p:txBody>
      </p:sp>
    </p:spTree>
  </p:cSld>
  <p:clrMapOvr>
    <a:masterClrMapping/>
  </p:clrMapOvr>
  <mc:AlternateContent xmlns:mc="http://schemas.openxmlformats.org/markup-compatibility/2006" xmlns:p14="http://schemas.microsoft.com/office/powerpoint/2010/main">
    <mc:Choice Requires="p14">
      <p:transition p14:dur="10" advTm="9437"/>
    </mc:Choice>
    <mc:Fallback xmlns="">
      <p:transition advTm="943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anim calcmode="lin" valueType="num">
                                      <p:cBhvr>
                                        <p:cTn id="8" dur="1000" fill="hold"/>
                                        <p:tgtEl>
                                          <p:spTgt spid="15"/>
                                        </p:tgtEl>
                                        <p:attrNameLst>
                                          <p:attrName>ppt_x</p:attrName>
                                        </p:attrNameLst>
                                      </p:cBhvr>
                                      <p:tavLst>
                                        <p:tav tm="0">
                                          <p:val>
                                            <p:strVal val="#ppt_x"/>
                                          </p:val>
                                        </p:tav>
                                        <p:tav tm="100000">
                                          <p:val>
                                            <p:strVal val="#ppt_x"/>
                                          </p:val>
                                        </p:tav>
                                      </p:tavLst>
                                    </p:anim>
                                    <p:anim calcmode="lin" valueType="num">
                                      <p:cBhvr>
                                        <p:cTn id="9"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Box 54"/>
          <p:cNvSpPr txBox="1"/>
          <p:nvPr/>
        </p:nvSpPr>
        <p:spPr>
          <a:xfrm>
            <a:off x="1330765" y="44625"/>
            <a:ext cx="7719943" cy="523214"/>
          </a:xfrm>
          <a:prstGeom prst="rect">
            <a:avLst/>
          </a:prstGeom>
          <a:noFill/>
        </p:spPr>
        <p:txBody>
          <a:bodyPr wrap="square" lIns="91434" tIns="45717" rIns="91434" bIns="45717"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r>
              <a:rPr lang="en-US" altLang="zh-CN" sz="2800" dirty="0" smtClean="0">
                <a:solidFill>
                  <a:schemeClr val="accent2"/>
                </a:solidFill>
                <a:latin typeface="微软雅黑" panose="020B0503020204020204" pitchFamily="34" charset="-122"/>
                <a:ea typeface="微软雅黑" panose="020B0503020204020204" pitchFamily="34" charset="-122"/>
              </a:rPr>
              <a:t>3.3.3</a:t>
            </a:r>
            <a:r>
              <a:rPr lang="zh-CN" altLang="en-US" sz="2800" dirty="0" smtClean="0">
                <a:solidFill>
                  <a:schemeClr val="accent2"/>
                </a:solidFill>
                <a:latin typeface="微软雅黑" panose="020B0503020204020204" pitchFamily="34" charset="-122"/>
                <a:ea typeface="微软雅黑" panose="020B0503020204020204" pitchFamily="34" charset="-122"/>
              </a:rPr>
              <a:t>数据框方法</a:t>
            </a:r>
            <a:r>
              <a:rPr lang="en-US" altLang="zh-CN" sz="2800" dirty="0" smtClean="0">
                <a:solidFill>
                  <a:schemeClr val="accent2"/>
                </a:solidFill>
                <a:latin typeface="微软雅黑" panose="020B0503020204020204" pitchFamily="34" charset="-122"/>
                <a:ea typeface="微软雅黑" panose="020B0503020204020204" pitchFamily="34" charset="-122"/>
              </a:rPr>
              <a:t>--</a:t>
            </a:r>
            <a:r>
              <a:rPr lang="zh-CN" altLang="en-US" sz="2800" dirty="0" smtClean="0">
                <a:solidFill>
                  <a:schemeClr val="accent2"/>
                </a:solidFill>
                <a:latin typeface="微软雅黑" panose="020B0503020204020204" pitchFamily="34" charset="-122"/>
                <a:ea typeface="微软雅黑" panose="020B0503020204020204" pitchFamily="34" charset="-122"/>
              </a:rPr>
              <a:t>去掉空值</a:t>
            </a:r>
            <a:endParaRPr lang="zh-CN" altLang="en-US" sz="2800" dirty="0">
              <a:solidFill>
                <a:schemeClr val="accent2"/>
              </a:solidFill>
              <a:latin typeface="微软雅黑" panose="020B0503020204020204" pitchFamily="34" charset="-122"/>
              <a:ea typeface="微软雅黑" panose="020B0503020204020204" pitchFamily="34" charset="-122"/>
            </a:endParaRPr>
          </a:p>
        </p:txBody>
      </p:sp>
      <p:sp>
        <p:nvSpPr>
          <p:cNvPr id="56" name="TextBox 55"/>
          <p:cNvSpPr txBox="1"/>
          <p:nvPr/>
        </p:nvSpPr>
        <p:spPr>
          <a:xfrm>
            <a:off x="140263" y="106179"/>
            <a:ext cx="1064260" cy="400103"/>
          </a:xfrm>
          <a:prstGeom prst="rect">
            <a:avLst/>
          </a:prstGeom>
          <a:noFill/>
        </p:spPr>
        <p:txBody>
          <a:bodyPr wrap="square" lIns="91434" tIns="45717" rIns="91434" bIns="45717" rtlCol="0">
            <a:spAutoFit/>
          </a:bodyPr>
          <a:lstStyle/>
          <a:p>
            <a:pPr algn="r"/>
            <a:r>
              <a:rPr lang="en-US" altLang="zh-CN" sz="2000" dirty="0">
                <a:solidFill>
                  <a:schemeClr val="accent2"/>
                </a:solidFill>
              </a:rPr>
              <a:t>Part </a:t>
            </a:r>
            <a:r>
              <a:rPr lang="en-US" altLang="zh-CN" dirty="0">
                <a:solidFill>
                  <a:schemeClr val="accent2"/>
                </a:solidFill>
              </a:rPr>
              <a:t>3</a:t>
            </a:r>
            <a:r>
              <a:rPr lang="en-US" altLang="zh-CN" dirty="0" smtClean="0">
                <a:solidFill>
                  <a:schemeClr val="accent2"/>
                </a:solidFill>
              </a:rPr>
              <a:t> </a:t>
            </a:r>
            <a:endParaRPr lang="zh-CN" altLang="en-US" dirty="0">
              <a:solidFill>
                <a:schemeClr val="accent2"/>
              </a:solidFill>
            </a:endParaRPr>
          </a:p>
        </p:txBody>
      </p:sp>
      <p:sp>
        <p:nvSpPr>
          <p:cNvPr id="2" name="矩形 1"/>
          <p:cNvSpPr/>
          <p:nvPr/>
        </p:nvSpPr>
        <p:spPr>
          <a:xfrm>
            <a:off x="1057821" y="626521"/>
            <a:ext cx="1773242" cy="461665"/>
          </a:xfrm>
          <a:prstGeom prst="rect">
            <a:avLst/>
          </a:prstGeom>
        </p:spPr>
        <p:txBody>
          <a:bodyPr wrap="none">
            <a:spAutoFit/>
          </a:bodyPr>
          <a:lstStyle/>
          <a:p>
            <a:r>
              <a:rPr lang="en-US" altLang="zh-CN" sz="2400" b="1" dirty="0">
                <a:solidFill>
                  <a:schemeClr val="accent1"/>
                </a:solidFill>
              </a:rPr>
              <a:t>1. </a:t>
            </a:r>
            <a:r>
              <a:rPr lang="en-US" altLang="zh-CN" sz="2400" b="1" dirty="0" err="1">
                <a:solidFill>
                  <a:schemeClr val="accent1"/>
                </a:solidFill>
              </a:rPr>
              <a:t>dropna</a:t>
            </a:r>
            <a:r>
              <a:rPr lang="en-US" altLang="zh-CN" sz="2400" b="1" dirty="0">
                <a:solidFill>
                  <a:schemeClr val="accent1"/>
                </a:solidFill>
              </a:rPr>
              <a:t>()</a:t>
            </a:r>
            <a:endParaRPr lang="zh-CN" altLang="zh-CN" sz="2400" dirty="0">
              <a:solidFill>
                <a:schemeClr val="accent1"/>
              </a:solidFill>
            </a:endParaRPr>
          </a:p>
        </p:txBody>
      </p:sp>
      <p:sp>
        <p:nvSpPr>
          <p:cNvPr id="6" name="矩形 5"/>
          <p:cNvSpPr/>
          <p:nvPr/>
        </p:nvSpPr>
        <p:spPr>
          <a:xfrm>
            <a:off x="1302856" y="995854"/>
            <a:ext cx="10412149" cy="1938992"/>
          </a:xfrm>
          <a:prstGeom prst="rect">
            <a:avLst/>
          </a:prstGeom>
        </p:spPr>
        <p:txBody>
          <a:bodyPr wrap="square">
            <a:spAutoFit/>
          </a:bodyPr>
          <a:lstStyle/>
          <a:p>
            <a:r>
              <a:rPr lang="zh-CN" altLang="zh-CN" sz="2400" dirty="0">
                <a:solidFill>
                  <a:schemeClr val="accent1"/>
                </a:solidFill>
                <a:latin typeface="+mn-ea"/>
                <a:ea typeface="+mn-ea"/>
              </a:rPr>
              <a:t>通过</a:t>
            </a:r>
            <a:r>
              <a:rPr lang="en-US" altLang="zh-CN" sz="2400" dirty="0" err="1">
                <a:solidFill>
                  <a:schemeClr val="accent1"/>
                </a:solidFill>
                <a:latin typeface="+mn-ea"/>
                <a:ea typeface="+mn-ea"/>
              </a:rPr>
              <a:t>dorpna</a:t>
            </a:r>
            <a:r>
              <a:rPr lang="en-US" altLang="zh-CN" sz="2400" dirty="0">
                <a:solidFill>
                  <a:schemeClr val="accent1"/>
                </a:solidFill>
                <a:latin typeface="+mn-ea"/>
                <a:ea typeface="+mn-ea"/>
              </a:rPr>
              <a:t>()</a:t>
            </a:r>
            <a:r>
              <a:rPr lang="zh-CN" altLang="zh-CN" sz="2400" dirty="0">
                <a:solidFill>
                  <a:schemeClr val="accent1"/>
                </a:solidFill>
                <a:latin typeface="+mn-ea"/>
                <a:ea typeface="+mn-ea"/>
              </a:rPr>
              <a:t>方法，可以去掉数据集中的空值（</a:t>
            </a:r>
            <a:r>
              <a:rPr lang="en-US" altLang="zh-CN" sz="2400" dirty="0">
                <a:solidFill>
                  <a:schemeClr val="accent1"/>
                </a:solidFill>
                <a:latin typeface="+mn-ea"/>
                <a:ea typeface="+mn-ea"/>
              </a:rPr>
              <a:t>nan</a:t>
            </a:r>
            <a:r>
              <a:rPr lang="zh-CN" altLang="zh-CN" sz="2400" dirty="0">
                <a:solidFill>
                  <a:schemeClr val="accent1"/>
                </a:solidFill>
                <a:latin typeface="+mn-ea"/>
                <a:ea typeface="+mn-ea"/>
              </a:rPr>
              <a:t>值），需要注意的是原来数据集不发生改变，新数据集需要重新定义。以</a:t>
            </a:r>
            <a:r>
              <a:rPr lang="en-US" altLang="zh-CN" sz="2400" dirty="0">
                <a:solidFill>
                  <a:schemeClr val="accent1"/>
                </a:solidFill>
                <a:latin typeface="+mn-ea"/>
                <a:ea typeface="+mn-ea"/>
              </a:rPr>
              <a:t>3.3.1</a:t>
            </a:r>
            <a:r>
              <a:rPr lang="zh-CN" altLang="zh-CN" sz="2400" dirty="0">
                <a:solidFill>
                  <a:schemeClr val="accent1"/>
                </a:solidFill>
                <a:latin typeface="+mn-ea"/>
                <a:ea typeface="+mn-ea"/>
              </a:rPr>
              <a:t>定义的数据框</a:t>
            </a:r>
            <a:r>
              <a:rPr lang="en-US" altLang="zh-CN" sz="2400" dirty="0" err="1">
                <a:solidFill>
                  <a:schemeClr val="accent1"/>
                </a:solidFill>
                <a:latin typeface="+mn-ea"/>
                <a:ea typeface="+mn-ea"/>
              </a:rPr>
              <a:t>df</a:t>
            </a:r>
            <a:r>
              <a:rPr lang="zh-CN" altLang="zh-CN" sz="2400" dirty="0">
                <a:solidFill>
                  <a:schemeClr val="accent1"/>
                </a:solidFill>
                <a:latin typeface="+mn-ea"/>
                <a:ea typeface="+mn-ea"/>
              </a:rPr>
              <a:t>为例，示例代码如下：</a:t>
            </a:r>
          </a:p>
          <a:p>
            <a:r>
              <a:rPr lang="en-US" altLang="zh-CN" sz="2400" dirty="0">
                <a:solidFill>
                  <a:schemeClr val="accent1"/>
                </a:solidFill>
                <a:latin typeface="+mn-ea"/>
                <a:ea typeface="+mn-ea"/>
              </a:rPr>
              <a:t>df1=</a:t>
            </a:r>
            <a:r>
              <a:rPr lang="en-US" altLang="zh-CN" sz="2400" dirty="0" err="1">
                <a:solidFill>
                  <a:schemeClr val="accent1"/>
                </a:solidFill>
                <a:latin typeface="+mn-ea"/>
                <a:ea typeface="+mn-ea"/>
              </a:rPr>
              <a:t>df.dropna</a:t>
            </a:r>
            <a:r>
              <a:rPr lang="en-US" altLang="zh-CN" sz="2400" dirty="0">
                <a:solidFill>
                  <a:schemeClr val="accent1"/>
                </a:solidFill>
                <a:latin typeface="+mn-ea"/>
                <a:ea typeface="+mn-ea"/>
              </a:rPr>
              <a:t>()</a:t>
            </a:r>
            <a:endParaRPr lang="zh-CN" altLang="zh-CN" sz="2400" dirty="0">
              <a:solidFill>
                <a:schemeClr val="accent1"/>
              </a:solidFill>
              <a:latin typeface="+mn-ea"/>
              <a:ea typeface="+mn-ea"/>
            </a:endParaRPr>
          </a:p>
          <a:p>
            <a:r>
              <a:rPr lang="zh-CN" altLang="zh-CN" sz="2400" dirty="0">
                <a:solidFill>
                  <a:schemeClr val="accent1"/>
                </a:solidFill>
                <a:latin typeface="+mn-ea"/>
                <a:ea typeface="+mn-ea"/>
              </a:rPr>
              <a:t>执行结果如图</a:t>
            </a:r>
            <a:r>
              <a:rPr lang="en-US" altLang="zh-CN" sz="2400" dirty="0">
                <a:solidFill>
                  <a:schemeClr val="accent1"/>
                </a:solidFill>
                <a:latin typeface="+mn-ea"/>
                <a:ea typeface="+mn-ea"/>
              </a:rPr>
              <a:t>3-8</a:t>
            </a:r>
            <a:r>
              <a:rPr lang="zh-CN" altLang="zh-CN" sz="2400" dirty="0">
                <a:solidFill>
                  <a:schemeClr val="accent1"/>
                </a:solidFill>
                <a:latin typeface="+mn-ea"/>
                <a:ea typeface="+mn-ea"/>
              </a:rPr>
              <a:t>所示。</a:t>
            </a:r>
          </a:p>
        </p:txBody>
      </p:sp>
      <p:pic>
        <p:nvPicPr>
          <p:cNvPr id="11" name="图片 10"/>
          <p:cNvPicPr/>
          <p:nvPr/>
        </p:nvPicPr>
        <p:blipFill>
          <a:blip r:embed="rId3" cstate="print"/>
          <a:stretch>
            <a:fillRect/>
          </a:stretch>
        </p:blipFill>
        <p:spPr>
          <a:xfrm>
            <a:off x="4658221" y="1972724"/>
            <a:ext cx="7344816" cy="2304256"/>
          </a:xfrm>
          <a:prstGeom prst="rect">
            <a:avLst/>
          </a:prstGeom>
        </p:spPr>
      </p:pic>
      <p:sp>
        <p:nvSpPr>
          <p:cNvPr id="7" name="矩形 6"/>
          <p:cNvSpPr/>
          <p:nvPr/>
        </p:nvSpPr>
        <p:spPr>
          <a:xfrm>
            <a:off x="8266519" y="4365104"/>
            <a:ext cx="784189" cy="369332"/>
          </a:xfrm>
          <a:prstGeom prst="rect">
            <a:avLst/>
          </a:prstGeom>
        </p:spPr>
        <p:txBody>
          <a:bodyPr wrap="none">
            <a:spAutoFit/>
          </a:bodyPr>
          <a:lstStyle/>
          <a:p>
            <a:r>
              <a:rPr lang="zh-CN" altLang="zh-CN" dirty="0">
                <a:solidFill>
                  <a:schemeClr val="accent1"/>
                </a:solidFill>
                <a:latin typeface="+mn-ea"/>
              </a:rPr>
              <a:t>图</a:t>
            </a:r>
            <a:r>
              <a:rPr lang="en-US" altLang="zh-CN" dirty="0">
                <a:solidFill>
                  <a:schemeClr val="accent1"/>
                </a:solidFill>
                <a:latin typeface="+mn-ea"/>
              </a:rPr>
              <a:t>3-8</a:t>
            </a:r>
            <a:endParaRPr lang="zh-CN" altLang="en-US" dirty="0"/>
          </a:p>
        </p:txBody>
      </p:sp>
    </p:spTree>
  </p:cSld>
  <p:clrMapOvr>
    <a:masterClrMapping/>
  </p:clrMapOvr>
  <mc:AlternateContent xmlns:mc="http://schemas.openxmlformats.org/markup-compatibility/2006" xmlns:p14="http://schemas.microsoft.com/office/powerpoint/2010/main">
    <mc:Choice Requires="p14">
      <p:transition p14:dur="10" advTm="9437"/>
    </mc:Choice>
    <mc:Fallback xmlns="">
      <p:transition advTm="9437"/>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Box 54"/>
          <p:cNvSpPr txBox="1"/>
          <p:nvPr/>
        </p:nvSpPr>
        <p:spPr>
          <a:xfrm>
            <a:off x="1330765" y="44625"/>
            <a:ext cx="7719943" cy="523214"/>
          </a:xfrm>
          <a:prstGeom prst="rect">
            <a:avLst/>
          </a:prstGeom>
          <a:noFill/>
        </p:spPr>
        <p:txBody>
          <a:bodyPr wrap="square" lIns="91434" tIns="45717" rIns="91434" bIns="45717"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r>
              <a:rPr lang="en-US" altLang="zh-CN" sz="2800" dirty="0" smtClean="0">
                <a:solidFill>
                  <a:schemeClr val="accent2"/>
                </a:solidFill>
                <a:latin typeface="微软雅黑" panose="020B0503020204020204" pitchFamily="34" charset="-122"/>
                <a:ea typeface="微软雅黑" panose="020B0503020204020204" pitchFamily="34" charset="-122"/>
              </a:rPr>
              <a:t>3.3</a:t>
            </a:r>
            <a:r>
              <a:rPr lang="zh-CN" altLang="en-US" sz="2800" dirty="0" smtClean="0">
                <a:solidFill>
                  <a:schemeClr val="accent2"/>
                </a:solidFill>
                <a:latin typeface="微软雅黑" panose="020B0503020204020204" pitchFamily="34" charset="-122"/>
                <a:ea typeface="微软雅黑" panose="020B0503020204020204" pitchFamily="34" charset="-122"/>
              </a:rPr>
              <a:t>数据框方法</a:t>
            </a:r>
            <a:r>
              <a:rPr lang="en-US" altLang="zh-CN" sz="2800" dirty="0" smtClean="0">
                <a:solidFill>
                  <a:schemeClr val="accent2"/>
                </a:solidFill>
                <a:latin typeface="微软雅黑" panose="020B0503020204020204" pitchFamily="34" charset="-122"/>
                <a:ea typeface="微软雅黑" panose="020B0503020204020204" pitchFamily="34" charset="-122"/>
              </a:rPr>
              <a:t>--</a:t>
            </a:r>
            <a:r>
              <a:rPr lang="zh-CN" altLang="en-US" sz="2800" dirty="0" smtClean="0">
                <a:solidFill>
                  <a:schemeClr val="accent2"/>
                </a:solidFill>
                <a:latin typeface="微软雅黑" panose="020B0503020204020204" pitchFamily="34" charset="-122"/>
                <a:ea typeface="微软雅黑" panose="020B0503020204020204" pitchFamily="34" charset="-122"/>
              </a:rPr>
              <a:t>空值进行填充</a:t>
            </a:r>
            <a:endParaRPr lang="zh-CN" altLang="en-US" sz="2800" dirty="0">
              <a:solidFill>
                <a:schemeClr val="accent2"/>
              </a:solidFill>
              <a:latin typeface="微软雅黑" panose="020B0503020204020204" pitchFamily="34" charset="-122"/>
              <a:ea typeface="微软雅黑" panose="020B0503020204020204" pitchFamily="34" charset="-122"/>
            </a:endParaRPr>
          </a:p>
        </p:txBody>
      </p:sp>
      <p:sp>
        <p:nvSpPr>
          <p:cNvPr id="56" name="TextBox 55"/>
          <p:cNvSpPr txBox="1"/>
          <p:nvPr/>
        </p:nvSpPr>
        <p:spPr>
          <a:xfrm>
            <a:off x="140263" y="106179"/>
            <a:ext cx="1064260" cy="400103"/>
          </a:xfrm>
          <a:prstGeom prst="rect">
            <a:avLst/>
          </a:prstGeom>
          <a:noFill/>
        </p:spPr>
        <p:txBody>
          <a:bodyPr wrap="square" lIns="91434" tIns="45717" rIns="91434" bIns="45717" rtlCol="0">
            <a:spAutoFit/>
          </a:bodyPr>
          <a:lstStyle/>
          <a:p>
            <a:pPr algn="r"/>
            <a:r>
              <a:rPr lang="en-US" altLang="zh-CN" sz="2000" dirty="0">
                <a:solidFill>
                  <a:schemeClr val="accent2"/>
                </a:solidFill>
              </a:rPr>
              <a:t>Part </a:t>
            </a:r>
            <a:r>
              <a:rPr lang="en-US" altLang="zh-CN" dirty="0">
                <a:solidFill>
                  <a:schemeClr val="accent2"/>
                </a:solidFill>
              </a:rPr>
              <a:t>3</a:t>
            </a:r>
            <a:r>
              <a:rPr lang="en-US" altLang="zh-CN" dirty="0" smtClean="0">
                <a:solidFill>
                  <a:schemeClr val="accent2"/>
                </a:solidFill>
              </a:rPr>
              <a:t> </a:t>
            </a:r>
            <a:endParaRPr lang="zh-CN" altLang="en-US" dirty="0">
              <a:solidFill>
                <a:schemeClr val="accent2"/>
              </a:solidFill>
            </a:endParaRPr>
          </a:p>
        </p:txBody>
      </p:sp>
      <p:sp>
        <p:nvSpPr>
          <p:cNvPr id="2" name="矩形 1"/>
          <p:cNvSpPr/>
          <p:nvPr/>
        </p:nvSpPr>
        <p:spPr>
          <a:xfrm>
            <a:off x="1057821" y="626521"/>
            <a:ext cx="1569660" cy="461665"/>
          </a:xfrm>
          <a:prstGeom prst="rect">
            <a:avLst/>
          </a:prstGeom>
        </p:spPr>
        <p:txBody>
          <a:bodyPr wrap="none">
            <a:spAutoFit/>
          </a:bodyPr>
          <a:lstStyle/>
          <a:p>
            <a:r>
              <a:rPr lang="en-US" altLang="zh-CN" sz="2400" b="1" dirty="0">
                <a:solidFill>
                  <a:schemeClr val="accent1"/>
                </a:solidFill>
                <a:latin typeface="+mn-ea"/>
                <a:ea typeface="+mn-ea"/>
              </a:rPr>
              <a:t>2. </a:t>
            </a:r>
            <a:r>
              <a:rPr lang="en-US" altLang="zh-CN" sz="2400" b="1" dirty="0" err="1">
                <a:solidFill>
                  <a:schemeClr val="accent1"/>
                </a:solidFill>
                <a:latin typeface="+mn-ea"/>
                <a:ea typeface="+mn-ea"/>
              </a:rPr>
              <a:t>fillna</a:t>
            </a:r>
            <a:r>
              <a:rPr lang="en-US" altLang="zh-CN" sz="2400" b="1" dirty="0">
                <a:solidFill>
                  <a:schemeClr val="accent1"/>
                </a:solidFill>
                <a:latin typeface="+mn-ea"/>
                <a:ea typeface="+mn-ea"/>
              </a:rPr>
              <a:t>()</a:t>
            </a:r>
            <a:endParaRPr lang="zh-CN" altLang="zh-CN" sz="2400" dirty="0">
              <a:solidFill>
                <a:schemeClr val="accent1"/>
              </a:solidFill>
              <a:latin typeface="+mn-ea"/>
              <a:ea typeface="+mn-ea"/>
            </a:endParaRPr>
          </a:p>
        </p:txBody>
      </p:sp>
      <p:sp>
        <p:nvSpPr>
          <p:cNvPr id="6" name="矩形 5"/>
          <p:cNvSpPr/>
          <p:nvPr/>
        </p:nvSpPr>
        <p:spPr>
          <a:xfrm>
            <a:off x="1302856" y="995854"/>
            <a:ext cx="10412149" cy="1200329"/>
          </a:xfrm>
          <a:prstGeom prst="rect">
            <a:avLst/>
          </a:prstGeom>
        </p:spPr>
        <p:txBody>
          <a:bodyPr wrap="square">
            <a:spAutoFit/>
          </a:bodyPr>
          <a:lstStyle/>
          <a:p>
            <a:r>
              <a:rPr lang="zh-CN" altLang="zh-CN" sz="2400" dirty="0" smtClean="0">
                <a:solidFill>
                  <a:schemeClr val="accent1"/>
                </a:solidFill>
                <a:latin typeface="+mn-ea"/>
                <a:ea typeface="+mn-ea"/>
              </a:rPr>
              <a:t>通过</a:t>
            </a:r>
            <a:r>
              <a:rPr lang="en-US" altLang="zh-CN" sz="2400" dirty="0" err="1">
                <a:solidFill>
                  <a:schemeClr val="accent1"/>
                </a:solidFill>
                <a:latin typeface="+mn-ea"/>
                <a:ea typeface="+mn-ea"/>
              </a:rPr>
              <a:t>fillna</a:t>
            </a:r>
            <a:r>
              <a:rPr lang="en-US" altLang="zh-CN" sz="2400" dirty="0">
                <a:solidFill>
                  <a:schemeClr val="accent1"/>
                </a:solidFill>
                <a:latin typeface="+mn-ea"/>
                <a:ea typeface="+mn-ea"/>
              </a:rPr>
              <a:t>()</a:t>
            </a:r>
            <a:r>
              <a:rPr lang="zh-CN" altLang="zh-CN" sz="2400" dirty="0">
                <a:solidFill>
                  <a:schemeClr val="accent1"/>
                </a:solidFill>
                <a:latin typeface="+mn-ea"/>
                <a:ea typeface="+mn-ea"/>
              </a:rPr>
              <a:t>方法，可以对数据框中的空值（</a:t>
            </a:r>
            <a:r>
              <a:rPr lang="en-US" altLang="zh-CN" sz="2400" dirty="0">
                <a:solidFill>
                  <a:schemeClr val="accent1"/>
                </a:solidFill>
                <a:latin typeface="+mn-ea"/>
                <a:ea typeface="+mn-ea"/>
              </a:rPr>
              <a:t>nan</a:t>
            </a:r>
            <a:r>
              <a:rPr lang="zh-CN" altLang="zh-CN" sz="2400" dirty="0">
                <a:solidFill>
                  <a:schemeClr val="accent1"/>
                </a:solidFill>
                <a:latin typeface="+mn-ea"/>
                <a:ea typeface="+mn-ea"/>
              </a:rPr>
              <a:t>值）进行填充。默认情况下所有空值填充同一个元素值（数值或者字符串），也可以指定不同的列填充不同的值。以</a:t>
            </a:r>
            <a:r>
              <a:rPr lang="en-US" altLang="zh-CN" sz="2400" dirty="0">
                <a:solidFill>
                  <a:schemeClr val="accent1"/>
                </a:solidFill>
                <a:latin typeface="+mn-ea"/>
                <a:ea typeface="+mn-ea"/>
              </a:rPr>
              <a:t>3.3.1</a:t>
            </a:r>
            <a:r>
              <a:rPr lang="zh-CN" altLang="zh-CN" sz="2400" dirty="0">
                <a:solidFill>
                  <a:schemeClr val="accent1"/>
                </a:solidFill>
                <a:latin typeface="+mn-ea"/>
                <a:ea typeface="+mn-ea"/>
              </a:rPr>
              <a:t>定义的数据框</a:t>
            </a:r>
            <a:r>
              <a:rPr lang="en-US" altLang="zh-CN" sz="2400" dirty="0" err="1">
                <a:solidFill>
                  <a:schemeClr val="accent1"/>
                </a:solidFill>
                <a:latin typeface="+mn-ea"/>
                <a:ea typeface="+mn-ea"/>
              </a:rPr>
              <a:t>df</a:t>
            </a:r>
            <a:r>
              <a:rPr lang="zh-CN" altLang="zh-CN" sz="2400" dirty="0">
                <a:solidFill>
                  <a:schemeClr val="accent1"/>
                </a:solidFill>
                <a:latin typeface="+mn-ea"/>
                <a:ea typeface="+mn-ea"/>
              </a:rPr>
              <a:t>为例，示例代码如下：</a:t>
            </a:r>
          </a:p>
        </p:txBody>
      </p:sp>
      <p:sp>
        <p:nvSpPr>
          <p:cNvPr id="3" name="矩形 2"/>
          <p:cNvSpPr/>
          <p:nvPr/>
        </p:nvSpPr>
        <p:spPr>
          <a:xfrm>
            <a:off x="1330765" y="2196183"/>
            <a:ext cx="7814823" cy="1938992"/>
          </a:xfrm>
          <a:prstGeom prst="rect">
            <a:avLst/>
          </a:prstGeom>
        </p:spPr>
        <p:txBody>
          <a:bodyPr wrap="square">
            <a:spAutoFit/>
          </a:bodyPr>
          <a:lstStyle/>
          <a:p>
            <a:r>
              <a:rPr lang="en-US" altLang="zh-CN" sz="2400" dirty="0">
                <a:solidFill>
                  <a:schemeClr val="accent1"/>
                </a:solidFill>
                <a:latin typeface="+mn-ea"/>
                <a:ea typeface="+mn-ea"/>
              </a:rPr>
              <a:t>df2=</a:t>
            </a:r>
            <a:r>
              <a:rPr lang="en-US" altLang="zh-CN" sz="2400" dirty="0" err="1">
                <a:solidFill>
                  <a:schemeClr val="accent1"/>
                </a:solidFill>
                <a:latin typeface="+mn-ea"/>
                <a:ea typeface="+mn-ea"/>
              </a:rPr>
              <a:t>df.fillna</a:t>
            </a:r>
            <a:r>
              <a:rPr lang="en-US" altLang="zh-CN" sz="2400" dirty="0">
                <a:solidFill>
                  <a:schemeClr val="accent1"/>
                </a:solidFill>
                <a:latin typeface="+mn-ea"/>
                <a:ea typeface="+mn-ea"/>
              </a:rPr>
              <a:t>(0)       #</a:t>
            </a:r>
            <a:r>
              <a:rPr lang="zh-CN" altLang="zh-CN" sz="2400" dirty="0">
                <a:solidFill>
                  <a:schemeClr val="accent1"/>
                </a:solidFill>
                <a:latin typeface="+mn-ea"/>
                <a:ea typeface="+mn-ea"/>
              </a:rPr>
              <a:t>所有空值元素填充</a:t>
            </a:r>
            <a:r>
              <a:rPr lang="en-US" altLang="zh-CN" sz="2400" dirty="0">
                <a:solidFill>
                  <a:schemeClr val="accent1"/>
                </a:solidFill>
                <a:latin typeface="+mn-ea"/>
                <a:ea typeface="+mn-ea"/>
              </a:rPr>
              <a:t>0</a:t>
            </a:r>
            <a:endParaRPr lang="zh-CN" altLang="zh-CN" sz="2400" dirty="0">
              <a:solidFill>
                <a:schemeClr val="accent1"/>
              </a:solidFill>
              <a:latin typeface="+mn-ea"/>
              <a:ea typeface="+mn-ea"/>
            </a:endParaRPr>
          </a:p>
          <a:p>
            <a:r>
              <a:rPr lang="en-US" altLang="zh-CN" sz="2400" dirty="0">
                <a:solidFill>
                  <a:schemeClr val="accent1"/>
                </a:solidFill>
                <a:latin typeface="+mn-ea"/>
                <a:ea typeface="+mn-ea"/>
              </a:rPr>
              <a:t>df3=</a:t>
            </a:r>
            <a:r>
              <a:rPr lang="en-US" altLang="zh-CN" sz="2400" dirty="0" err="1">
                <a:solidFill>
                  <a:schemeClr val="accent1"/>
                </a:solidFill>
                <a:latin typeface="+mn-ea"/>
                <a:ea typeface="+mn-ea"/>
              </a:rPr>
              <a:t>df.fillna</a:t>
            </a:r>
            <a:r>
              <a:rPr lang="en-US" altLang="zh-CN" sz="2400" dirty="0">
                <a:solidFill>
                  <a:schemeClr val="accent1"/>
                </a:solidFill>
                <a:latin typeface="+mn-ea"/>
                <a:ea typeface="+mn-ea"/>
              </a:rPr>
              <a:t>('Kl')      #</a:t>
            </a:r>
            <a:r>
              <a:rPr lang="zh-CN" altLang="zh-CN" sz="2400" dirty="0">
                <a:solidFill>
                  <a:schemeClr val="accent1"/>
                </a:solidFill>
                <a:latin typeface="+mn-ea"/>
                <a:ea typeface="+mn-ea"/>
              </a:rPr>
              <a:t>所有空值元素填充</a:t>
            </a:r>
            <a:r>
              <a:rPr lang="en-US" altLang="zh-CN" sz="2400" dirty="0">
                <a:solidFill>
                  <a:schemeClr val="accent1"/>
                </a:solidFill>
                <a:latin typeface="+mn-ea"/>
                <a:ea typeface="+mn-ea"/>
              </a:rPr>
              <a:t>kl</a:t>
            </a:r>
            <a:endParaRPr lang="zh-CN" altLang="zh-CN" sz="2400" dirty="0">
              <a:solidFill>
                <a:schemeClr val="accent1"/>
              </a:solidFill>
              <a:latin typeface="+mn-ea"/>
              <a:ea typeface="+mn-ea"/>
            </a:endParaRPr>
          </a:p>
          <a:p>
            <a:r>
              <a:rPr lang="en-US" altLang="zh-CN" sz="2400" dirty="0">
                <a:solidFill>
                  <a:schemeClr val="accent1"/>
                </a:solidFill>
                <a:latin typeface="+mn-ea"/>
                <a:ea typeface="+mn-ea"/>
              </a:rPr>
              <a:t>df4=</a:t>
            </a:r>
            <a:r>
              <a:rPr lang="en-US" altLang="zh-CN" sz="2400" dirty="0" err="1">
                <a:solidFill>
                  <a:schemeClr val="accent1"/>
                </a:solidFill>
                <a:latin typeface="+mn-ea"/>
                <a:ea typeface="+mn-ea"/>
              </a:rPr>
              <a:t>df.fillna</a:t>
            </a:r>
            <a:r>
              <a:rPr lang="en-US" altLang="zh-CN" sz="2400" dirty="0">
                <a:solidFill>
                  <a:schemeClr val="accent1"/>
                </a:solidFill>
                <a:latin typeface="+mn-ea"/>
                <a:ea typeface="+mn-ea"/>
              </a:rPr>
              <a:t>({'a':0,'b':'kl','c':0,'d':0}) </a:t>
            </a:r>
            <a:r>
              <a:rPr lang="en-US" altLang="zh-CN" sz="2400" dirty="0" smtClean="0">
                <a:solidFill>
                  <a:schemeClr val="accent1"/>
                </a:solidFill>
                <a:latin typeface="+mn-ea"/>
                <a:ea typeface="+mn-ea"/>
              </a:rPr>
              <a:t> #</a:t>
            </a:r>
            <a:r>
              <a:rPr lang="zh-CN" altLang="zh-CN" sz="2400" dirty="0" smtClean="0">
                <a:solidFill>
                  <a:schemeClr val="accent1"/>
                </a:solidFill>
                <a:latin typeface="+mn-ea"/>
                <a:ea typeface="+mn-ea"/>
              </a:rPr>
              <a:t>全部</a:t>
            </a:r>
            <a:r>
              <a:rPr lang="zh-CN" altLang="zh-CN" sz="2400" dirty="0">
                <a:solidFill>
                  <a:schemeClr val="accent1"/>
                </a:solidFill>
                <a:latin typeface="+mn-ea"/>
                <a:ea typeface="+mn-ea"/>
              </a:rPr>
              <a:t>列填充</a:t>
            </a:r>
          </a:p>
          <a:p>
            <a:r>
              <a:rPr lang="en-US" altLang="zh-CN" sz="2400" dirty="0">
                <a:solidFill>
                  <a:schemeClr val="accent1"/>
                </a:solidFill>
                <a:latin typeface="+mn-ea"/>
                <a:ea typeface="+mn-ea"/>
              </a:rPr>
              <a:t>df5=</a:t>
            </a:r>
            <a:r>
              <a:rPr lang="en-US" altLang="zh-CN" sz="2400" dirty="0" err="1">
                <a:solidFill>
                  <a:schemeClr val="accent1"/>
                </a:solidFill>
                <a:latin typeface="+mn-ea"/>
                <a:ea typeface="+mn-ea"/>
              </a:rPr>
              <a:t>df.fillna</a:t>
            </a:r>
            <a:r>
              <a:rPr lang="en-US" altLang="zh-CN" sz="2400" dirty="0">
                <a:solidFill>
                  <a:schemeClr val="accent1"/>
                </a:solidFill>
                <a:latin typeface="+mn-ea"/>
                <a:ea typeface="+mn-ea"/>
              </a:rPr>
              <a:t>({'a':0,'b':'kl'}) </a:t>
            </a:r>
            <a:r>
              <a:rPr lang="en-US" altLang="zh-CN" sz="2400" dirty="0" smtClean="0">
                <a:solidFill>
                  <a:schemeClr val="accent1"/>
                </a:solidFill>
                <a:latin typeface="+mn-ea"/>
                <a:ea typeface="+mn-ea"/>
              </a:rPr>
              <a:t>#</a:t>
            </a:r>
            <a:r>
              <a:rPr lang="zh-CN" altLang="zh-CN" sz="2400" dirty="0">
                <a:solidFill>
                  <a:schemeClr val="accent1"/>
                </a:solidFill>
                <a:latin typeface="+mn-ea"/>
                <a:ea typeface="+mn-ea"/>
              </a:rPr>
              <a:t>部分列填充</a:t>
            </a:r>
          </a:p>
          <a:p>
            <a:r>
              <a:rPr lang="zh-CN" altLang="zh-CN" sz="2400" dirty="0">
                <a:solidFill>
                  <a:schemeClr val="accent1"/>
                </a:solidFill>
                <a:latin typeface="+mn-ea"/>
                <a:ea typeface="+mn-ea"/>
              </a:rPr>
              <a:t>执行结果如图</a:t>
            </a:r>
            <a:r>
              <a:rPr lang="en-US" altLang="zh-CN" sz="2400" dirty="0">
                <a:solidFill>
                  <a:schemeClr val="accent1"/>
                </a:solidFill>
                <a:latin typeface="+mn-ea"/>
                <a:ea typeface="+mn-ea"/>
              </a:rPr>
              <a:t>3-9</a:t>
            </a:r>
            <a:r>
              <a:rPr lang="zh-CN" altLang="zh-CN" sz="2400" dirty="0">
                <a:solidFill>
                  <a:schemeClr val="accent1"/>
                </a:solidFill>
                <a:latin typeface="+mn-ea"/>
                <a:ea typeface="+mn-ea"/>
              </a:rPr>
              <a:t>所示。</a:t>
            </a:r>
          </a:p>
        </p:txBody>
      </p:sp>
      <p:pic>
        <p:nvPicPr>
          <p:cNvPr id="9" name="图片 8"/>
          <p:cNvPicPr/>
          <p:nvPr/>
        </p:nvPicPr>
        <p:blipFill>
          <a:blip r:embed="rId3" cstate="print"/>
          <a:stretch>
            <a:fillRect/>
          </a:stretch>
        </p:blipFill>
        <p:spPr>
          <a:xfrm>
            <a:off x="8343188" y="2196183"/>
            <a:ext cx="3600400" cy="2724140"/>
          </a:xfrm>
          <a:prstGeom prst="rect">
            <a:avLst/>
          </a:prstGeom>
        </p:spPr>
      </p:pic>
      <p:sp>
        <p:nvSpPr>
          <p:cNvPr id="4" name="矩形 3"/>
          <p:cNvSpPr/>
          <p:nvPr/>
        </p:nvSpPr>
        <p:spPr>
          <a:xfrm>
            <a:off x="10052765" y="4920323"/>
            <a:ext cx="784189" cy="369332"/>
          </a:xfrm>
          <a:prstGeom prst="rect">
            <a:avLst/>
          </a:prstGeom>
        </p:spPr>
        <p:txBody>
          <a:bodyPr wrap="none">
            <a:spAutoFit/>
          </a:bodyPr>
          <a:lstStyle/>
          <a:p>
            <a:r>
              <a:rPr lang="zh-CN" altLang="zh-CN" dirty="0">
                <a:solidFill>
                  <a:schemeClr val="accent1"/>
                </a:solidFill>
                <a:latin typeface="+mn-ea"/>
              </a:rPr>
              <a:t>图</a:t>
            </a:r>
            <a:r>
              <a:rPr lang="en-US" altLang="zh-CN" dirty="0">
                <a:solidFill>
                  <a:schemeClr val="accent1"/>
                </a:solidFill>
                <a:latin typeface="+mn-ea"/>
              </a:rPr>
              <a:t>3-9</a:t>
            </a:r>
            <a:endParaRPr lang="zh-CN" altLang="en-US" dirty="0"/>
          </a:p>
        </p:txBody>
      </p:sp>
    </p:spTree>
  </p:cSld>
  <p:clrMapOvr>
    <a:masterClrMapping/>
  </p:clrMapOvr>
  <mc:AlternateContent xmlns:mc="http://schemas.openxmlformats.org/markup-compatibility/2006" xmlns:p14="http://schemas.microsoft.com/office/powerpoint/2010/main">
    <mc:Choice Requires="p14">
      <p:transition p14:dur="10" advTm="9437"/>
    </mc:Choice>
    <mc:Fallback xmlns="">
      <p:transition advTm="9437"/>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Box 54"/>
          <p:cNvSpPr txBox="1"/>
          <p:nvPr/>
        </p:nvSpPr>
        <p:spPr>
          <a:xfrm>
            <a:off x="1330765" y="44625"/>
            <a:ext cx="7719943" cy="523214"/>
          </a:xfrm>
          <a:prstGeom prst="rect">
            <a:avLst/>
          </a:prstGeom>
          <a:noFill/>
        </p:spPr>
        <p:txBody>
          <a:bodyPr wrap="square" lIns="91434" tIns="45717" rIns="91434" bIns="45717"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r>
              <a:rPr lang="en-US" altLang="zh-CN" sz="2800" dirty="0" smtClean="0">
                <a:solidFill>
                  <a:schemeClr val="accent2"/>
                </a:solidFill>
                <a:latin typeface="微软雅黑" panose="020B0503020204020204" pitchFamily="34" charset="-122"/>
                <a:ea typeface="微软雅黑" panose="020B0503020204020204" pitchFamily="34" charset="-122"/>
              </a:rPr>
              <a:t>3.3.3</a:t>
            </a:r>
            <a:r>
              <a:rPr lang="zh-CN" altLang="en-US" sz="2800" dirty="0" smtClean="0">
                <a:solidFill>
                  <a:schemeClr val="accent2"/>
                </a:solidFill>
                <a:latin typeface="微软雅黑" panose="020B0503020204020204" pitchFamily="34" charset="-122"/>
                <a:ea typeface="微软雅黑" panose="020B0503020204020204" pitchFamily="34" charset="-122"/>
              </a:rPr>
              <a:t>数据框方法</a:t>
            </a:r>
            <a:r>
              <a:rPr lang="en-US" altLang="zh-CN" sz="2800" dirty="0" smtClean="0">
                <a:solidFill>
                  <a:schemeClr val="accent2"/>
                </a:solidFill>
                <a:latin typeface="微软雅黑" panose="020B0503020204020204" pitchFamily="34" charset="-122"/>
                <a:ea typeface="微软雅黑" panose="020B0503020204020204" pitchFamily="34" charset="-122"/>
              </a:rPr>
              <a:t>--</a:t>
            </a:r>
            <a:r>
              <a:rPr lang="zh-CN" altLang="en-US" sz="2800" dirty="0" smtClean="0">
                <a:solidFill>
                  <a:schemeClr val="accent2"/>
                </a:solidFill>
                <a:latin typeface="微软雅黑" panose="020B0503020204020204" pitchFamily="34" charset="-122"/>
                <a:ea typeface="微软雅黑" panose="020B0503020204020204" pitchFamily="34" charset="-122"/>
              </a:rPr>
              <a:t>指定的列进行排序</a:t>
            </a:r>
            <a:endParaRPr lang="zh-CN" altLang="en-US" sz="2800" dirty="0">
              <a:solidFill>
                <a:schemeClr val="accent2"/>
              </a:solidFill>
              <a:latin typeface="微软雅黑" panose="020B0503020204020204" pitchFamily="34" charset="-122"/>
              <a:ea typeface="微软雅黑" panose="020B0503020204020204" pitchFamily="34" charset="-122"/>
            </a:endParaRPr>
          </a:p>
        </p:txBody>
      </p:sp>
      <p:sp>
        <p:nvSpPr>
          <p:cNvPr id="56" name="TextBox 55"/>
          <p:cNvSpPr txBox="1"/>
          <p:nvPr/>
        </p:nvSpPr>
        <p:spPr>
          <a:xfrm>
            <a:off x="140263" y="106179"/>
            <a:ext cx="1064260" cy="400103"/>
          </a:xfrm>
          <a:prstGeom prst="rect">
            <a:avLst/>
          </a:prstGeom>
          <a:noFill/>
        </p:spPr>
        <p:txBody>
          <a:bodyPr wrap="square" lIns="91434" tIns="45717" rIns="91434" bIns="45717" rtlCol="0">
            <a:spAutoFit/>
          </a:bodyPr>
          <a:lstStyle/>
          <a:p>
            <a:pPr algn="r"/>
            <a:r>
              <a:rPr lang="en-US" altLang="zh-CN" sz="2000" dirty="0">
                <a:solidFill>
                  <a:schemeClr val="accent2"/>
                </a:solidFill>
              </a:rPr>
              <a:t>Part </a:t>
            </a:r>
            <a:r>
              <a:rPr lang="en-US" altLang="zh-CN" dirty="0">
                <a:solidFill>
                  <a:schemeClr val="accent2"/>
                </a:solidFill>
              </a:rPr>
              <a:t>3</a:t>
            </a:r>
            <a:r>
              <a:rPr lang="en-US" altLang="zh-CN" dirty="0" smtClean="0">
                <a:solidFill>
                  <a:schemeClr val="accent2"/>
                </a:solidFill>
              </a:rPr>
              <a:t> </a:t>
            </a:r>
            <a:endParaRPr lang="zh-CN" altLang="en-US" dirty="0">
              <a:solidFill>
                <a:schemeClr val="accent2"/>
              </a:solidFill>
            </a:endParaRPr>
          </a:p>
        </p:txBody>
      </p:sp>
      <p:sp>
        <p:nvSpPr>
          <p:cNvPr id="2" name="矩形 1"/>
          <p:cNvSpPr/>
          <p:nvPr/>
        </p:nvSpPr>
        <p:spPr>
          <a:xfrm>
            <a:off x="1057821" y="626521"/>
            <a:ext cx="2443298" cy="461665"/>
          </a:xfrm>
          <a:prstGeom prst="rect">
            <a:avLst/>
          </a:prstGeom>
        </p:spPr>
        <p:txBody>
          <a:bodyPr wrap="none">
            <a:spAutoFit/>
          </a:bodyPr>
          <a:lstStyle/>
          <a:p>
            <a:r>
              <a:rPr lang="en-US" altLang="zh-CN" sz="2400" b="1" dirty="0"/>
              <a:t>3. </a:t>
            </a:r>
            <a:r>
              <a:rPr lang="en-US" altLang="zh-CN" sz="2400" b="1" dirty="0" err="1"/>
              <a:t>sort_values</a:t>
            </a:r>
            <a:r>
              <a:rPr lang="en-US" altLang="zh-CN" sz="2400" b="1" dirty="0"/>
              <a:t>()</a:t>
            </a:r>
            <a:endParaRPr lang="zh-CN" altLang="zh-CN" sz="2400" dirty="0"/>
          </a:p>
        </p:txBody>
      </p:sp>
      <p:sp>
        <p:nvSpPr>
          <p:cNvPr id="6" name="矩形 5"/>
          <p:cNvSpPr/>
          <p:nvPr/>
        </p:nvSpPr>
        <p:spPr>
          <a:xfrm>
            <a:off x="1302856" y="995854"/>
            <a:ext cx="10412149" cy="461665"/>
          </a:xfrm>
          <a:prstGeom prst="rect">
            <a:avLst/>
          </a:prstGeom>
        </p:spPr>
        <p:txBody>
          <a:bodyPr wrap="square">
            <a:spAutoFit/>
          </a:bodyPr>
          <a:lstStyle/>
          <a:p>
            <a:r>
              <a:rPr lang="zh-CN" altLang="zh-CN" sz="2400" dirty="0"/>
              <a:t>可以利用</a:t>
            </a:r>
            <a:r>
              <a:rPr lang="en-US" altLang="zh-CN" sz="2400" dirty="0" err="1"/>
              <a:t>sort_values</a:t>
            </a:r>
            <a:r>
              <a:rPr lang="en-US" altLang="zh-CN" sz="2400" dirty="0"/>
              <a:t>()</a:t>
            </a:r>
            <a:r>
              <a:rPr lang="zh-CN" altLang="zh-CN" sz="2400" dirty="0"/>
              <a:t>方法，指定列按值进行排序，示例代码如下：</a:t>
            </a:r>
          </a:p>
        </p:txBody>
      </p:sp>
      <p:sp>
        <p:nvSpPr>
          <p:cNvPr id="3" name="矩形 2"/>
          <p:cNvSpPr/>
          <p:nvPr/>
        </p:nvSpPr>
        <p:spPr>
          <a:xfrm>
            <a:off x="1283324" y="1457519"/>
            <a:ext cx="7814823" cy="2308324"/>
          </a:xfrm>
          <a:prstGeom prst="rect">
            <a:avLst/>
          </a:prstGeom>
        </p:spPr>
        <p:txBody>
          <a:bodyPr wrap="square">
            <a:spAutoFit/>
          </a:bodyPr>
          <a:lstStyle/>
          <a:p>
            <a:r>
              <a:rPr lang="en-US" altLang="zh-CN" sz="2400" dirty="0"/>
              <a:t>import pandas as </a:t>
            </a:r>
            <a:r>
              <a:rPr lang="en-US" altLang="zh-CN" sz="2400" dirty="0" err="1"/>
              <a:t>pd</a:t>
            </a:r>
            <a:endParaRPr lang="zh-CN" altLang="zh-CN" sz="2400" dirty="0"/>
          </a:p>
          <a:p>
            <a:r>
              <a:rPr lang="en-US" altLang="zh-CN" sz="2400" dirty="0"/>
              <a:t>data={'a':[5,3,4,1,6],'b':['</a:t>
            </a:r>
            <a:r>
              <a:rPr lang="en-US" altLang="zh-CN" sz="2400" dirty="0" err="1"/>
              <a:t>d','c','a','e','q</a:t>
            </a:r>
            <a:r>
              <a:rPr lang="en-US" altLang="zh-CN" sz="2400" dirty="0"/>
              <a:t>'],'c':[4,6,5,5,6]}</a:t>
            </a:r>
            <a:endParaRPr lang="zh-CN" altLang="zh-CN" sz="2400" dirty="0"/>
          </a:p>
          <a:p>
            <a:r>
              <a:rPr lang="en-US" altLang="zh-CN" sz="2400" dirty="0" err="1"/>
              <a:t>Df</a:t>
            </a:r>
            <a:r>
              <a:rPr lang="en-US" altLang="zh-CN" sz="2400" dirty="0"/>
              <a:t>=</a:t>
            </a:r>
            <a:r>
              <a:rPr lang="en-US" altLang="zh-CN" sz="2400" dirty="0" err="1"/>
              <a:t>pd.DataFrame</a:t>
            </a:r>
            <a:r>
              <a:rPr lang="en-US" altLang="zh-CN" sz="2400" dirty="0"/>
              <a:t>(data)</a:t>
            </a:r>
            <a:endParaRPr lang="zh-CN" altLang="zh-CN" sz="2400" dirty="0"/>
          </a:p>
          <a:p>
            <a:r>
              <a:rPr lang="en-US" altLang="zh-CN" sz="2400" dirty="0"/>
              <a:t>Df1=</a:t>
            </a:r>
            <a:r>
              <a:rPr lang="en-US" altLang="zh-CN" sz="2400" dirty="0" err="1"/>
              <a:t>Df.sort_values</a:t>
            </a:r>
            <a:r>
              <a:rPr lang="en-US" altLang="zh-CN" sz="2400" dirty="0"/>
              <a:t>('</a:t>
            </a:r>
            <a:r>
              <a:rPr lang="en-US" altLang="zh-CN" sz="2400" dirty="0" err="1"/>
              <a:t>a',ascending</a:t>
            </a:r>
            <a:r>
              <a:rPr lang="en-US" altLang="zh-CN" sz="2400" dirty="0"/>
              <a:t>=False</a:t>
            </a:r>
            <a:r>
              <a:rPr lang="en-US" altLang="zh-CN" sz="2400" dirty="0" smtClean="0"/>
              <a:t>)</a:t>
            </a:r>
          </a:p>
          <a:p>
            <a:r>
              <a:rPr lang="en-US" altLang="zh-CN" sz="2400" dirty="0" smtClean="0"/>
              <a:t> </a:t>
            </a:r>
            <a:r>
              <a:rPr lang="en-US" altLang="zh-CN" sz="2400" dirty="0"/>
              <a:t>#</a:t>
            </a:r>
            <a:r>
              <a:rPr lang="zh-CN" altLang="zh-CN" sz="2400" dirty="0"/>
              <a:t>默认按升序，这里设置为</a:t>
            </a:r>
            <a:r>
              <a:rPr lang="zh-CN" altLang="zh-CN" sz="2400" dirty="0" smtClean="0"/>
              <a:t>降序</a:t>
            </a:r>
            <a:endParaRPr lang="zh-CN" altLang="zh-CN" sz="2400" dirty="0"/>
          </a:p>
          <a:p>
            <a:r>
              <a:rPr lang="zh-CN" altLang="zh-CN" sz="2400" dirty="0"/>
              <a:t>执行结果如图</a:t>
            </a:r>
            <a:r>
              <a:rPr lang="en-US" altLang="zh-CN" sz="2400" dirty="0"/>
              <a:t>3-10</a:t>
            </a:r>
            <a:r>
              <a:rPr lang="zh-CN" altLang="zh-CN" sz="2400" dirty="0"/>
              <a:t>所示。</a:t>
            </a:r>
          </a:p>
        </p:txBody>
      </p:sp>
      <p:pic>
        <p:nvPicPr>
          <p:cNvPr id="10" name="图片 9"/>
          <p:cNvPicPr/>
          <p:nvPr/>
        </p:nvPicPr>
        <p:blipFill>
          <a:blip r:embed="rId3" cstate="print"/>
          <a:stretch>
            <a:fillRect/>
          </a:stretch>
        </p:blipFill>
        <p:spPr>
          <a:xfrm>
            <a:off x="6694768" y="3104310"/>
            <a:ext cx="5498071" cy="2412922"/>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advTm="9437"/>
    </mc:Choice>
    <mc:Fallback xmlns="">
      <p:transition advTm="9437"/>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Box 54"/>
          <p:cNvSpPr txBox="1"/>
          <p:nvPr/>
        </p:nvSpPr>
        <p:spPr>
          <a:xfrm>
            <a:off x="1330765" y="44625"/>
            <a:ext cx="7719943" cy="523214"/>
          </a:xfrm>
          <a:prstGeom prst="rect">
            <a:avLst/>
          </a:prstGeom>
          <a:noFill/>
        </p:spPr>
        <p:txBody>
          <a:bodyPr wrap="square" lIns="91434" tIns="45717" rIns="91434" bIns="45717"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r>
              <a:rPr lang="en-US" altLang="zh-CN" sz="2800" dirty="0" smtClean="0">
                <a:solidFill>
                  <a:schemeClr val="accent2"/>
                </a:solidFill>
                <a:latin typeface="微软雅黑" panose="020B0503020204020204" pitchFamily="34" charset="-122"/>
                <a:ea typeface="微软雅黑" panose="020B0503020204020204" pitchFamily="34" charset="-122"/>
              </a:rPr>
              <a:t>3.3.3</a:t>
            </a:r>
            <a:r>
              <a:rPr lang="zh-CN" altLang="en-US" sz="2800" dirty="0" smtClean="0">
                <a:solidFill>
                  <a:schemeClr val="accent2"/>
                </a:solidFill>
                <a:latin typeface="微软雅黑" panose="020B0503020204020204" pitchFamily="34" charset="-122"/>
                <a:ea typeface="微软雅黑" panose="020B0503020204020204" pitchFamily="34" charset="-122"/>
              </a:rPr>
              <a:t>数据框方法</a:t>
            </a:r>
            <a:r>
              <a:rPr lang="en-US" altLang="zh-CN" sz="2800" dirty="0" smtClean="0">
                <a:solidFill>
                  <a:schemeClr val="accent2"/>
                </a:solidFill>
                <a:latin typeface="微软雅黑" panose="020B0503020204020204" pitchFamily="34" charset="-122"/>
                <a:ea typeface="微软雅黑" panose="020B0503020204020204" pitchFamily="34" charset="-122"/>
              </a:rPr>
              <a:t>—</a:t>
            </a:r>
            <a:r>
              <a:rPr lang="zh-CN" altLang="en-US" sz="2800" dirty="0" smtClean="0">
                <a:solidFill>
                  <a:schemeClr val="accent2"/>
                </a:solidFill>
                <a:latin typeface="微软雅黑" panose="020B0503020204020204" pitchFamily="34" charset="-122"/>
                <a:ea typeface="微软雅黑" panose="020B0503020204020204" pitchFamily="34" charset="-122"/>
              </a:rPr>
              <a:t>按索引进行排序</a:t>
            </a:r>
            <a:endParaRPr lang="zh-CN" altLang="en-US" sz="2800" dirty="0">
              <a:solidFill>
                <a:schemeClr val="accent2"/>
              </a:solidFill>
              <a:latin typeface="微软雅黑" panose="020B0503020204020204" pitchFamily="34" charset="-122"/>
              <a:ea typeface="微软雅黑" panose="020B0503020204020204" pitchFamily="34" charset="-122"/>
            </a:endParaRPr>
          </a:p>
        </p:txBody>
      </p:sp>
      <p:sp>
        <p:nvSpPr>
          <p:cNvPr id="56" name="TextBox 55"/>
          <p:cNvSpPr txBox="1"/>
          <p:nvPr/>
        </p:nvSpPr>
        <p:spPr>
          <a:xfrm>
            <a:off x="140263" y="106179"/>
            <a:ext cx="1064260" cy="400103"/>
          </a:xfrm>
          <a:prstGeom prst="rect">
            <a:avLst/>
          </a:prstGeom>
          <a:noFill/>
        </p:spPr>
        <p:txBody>
          <a:bodyPr wrap="square" lIns="91434" tIns="45717" rIns="91434" bIns="45717" rtlCol="0">
            <a:spAutoFit/>
          </a:bodyPr>
          <a:lstStyle/>
          <a:p>
            <a:pPr algn="r"/>
            <a:r>
              <a:rPr lang="en-US" altLang="zh-CN" sz="2000" dirty="0">
                <a:solidFill>
                  <a:schemeClr val="accent2"/>
                </a:solidFill>
              </a:rPr>
              <a:t>Part </a:t>
            </a:r>
            <a:r>
              <a:rPr lang="en-US" altLang="zh-CN" dirty="0" smtClean="0">
                <a:solidFill>
                  <a:schemeClr val="accent2"/>
                </a:solidFill>
              </a:rPr>
              <a:t>3</a:t>
            </a:r>
            <a:endParaRPr lang="zh-CN" altLang="en-US" dirty="0">
              <a:solidFill>
                <a:schemeClr val="accent2"/>
              </a:solidFill>
            </a:endParaRPr>
          </a:p>
        </p:txBody>
      </p:sp>
      <p:sp>
        <p:nvSpPr>
          <p:cNvPr id="2" name="矩形 1"/>
          <p:cNvSpPr/>
          <p:nvPr/>
        </p:nvSpPr>
        <p:spPr>
          <a:xfrm>
            <a:off x="1057821" y="626521"/>
            <a:ext cx="2287806" cy="461665"/>
          </a:xfrm>
          <a:prstGeom prst="rect">
            <a:avLst/>
          </a:prstGeom>
        </p:spPr>
        <p:txBody>
          <a:bodyPr wrap="none">
            <a:spAutoFit/>
          </a:bodyPr>
          <a:lstStyle/>
          <a:p>
            <a:r>
              <a:rPr lang="en-US" altLang="zh-CN" sz="2400" b="1" dirty="0">
                <a:solidFill>
                  <a:schemeClr val="accent1"/>
                </a:solidFill>
              </a:rPr>
              <a:t>4. </a:t>
            </a:r>
            <a:r>
              <a:rPr lang="en-US" altLang="zh-CN" sz="2400" b="1" dirty="0" err="1">
                <a:solidFill>
                  <a:schemeClr val="accent1"/>
                </a:solidFill>
              </a:rPr>
              <a:t>sort_index</a:t>
            </a:r>
            <a:r>
              <a:rPr lang="en-US" altLang="zh-CN" sz="2400" b="1" dirty="0">
                <a:solidFill>
                  <a:schemeClr val="accent1"/>
                </a:solidFill>
              </a:rPr>
              <a:t>()</a:t>
            </a:r>
            <a:endParaRPr lang="zh-CN" altLang="zh-CN" sz="2400" dirty="0">
              <a:solidFill>
                <a:schemeClr val="accent1"/>
              </a:solidFill>
            </a:endParaRPr>
          </a:p>
        </p:txBody>
      </p:sp>
      <p:sp>
        <p:nvSpPr>
          <p:cNvPr id="6" name="矩形 5"/>
          <p:cNvSpPr/>
          <p:nvPr/>
        </p:nvSpPr>
        <p:spPr>
          <a:xfrm>
            <a:off x="1302856" y="995854"/>
            <a:ext cx="10412149" cy="830997"/>
          </a:xfrm>
          <a:prstGeom prst="rect">
            <a:avLst/>
          </a:prstGeom>
        </p:spPr>
        <p:txBody>
          <a:bodyPr wrap="square">
            <a:spAutoFit/>
          </a:bodyPr>
          <a:lstStyle/>
          <a:p>
            <a:r>
              <a:rPr lang="zh-CN" altLang="zh-CN" sz="2400" dirty="0">
                <a:solidFill>
                  <a:schemeClr val="accent1"/>
                </a:solidFill>
                <a:latin typeface="+mn-ea"/>
                <a:ea typeface="+mn-ea"/>
              </a:rPr>
              <a:t>有时候需要对索引进行排序，这时候可以使用</a:t>
            </a:r>
            <a:r>
              <a:rPr lang="en-US" altLang="zh-CN" sz="2400" dirty="0" err="1">
                <a:solidFill>
                  <a:schemeClr val="accent1"/>
                </a:solidFill>
                <a:latin typeface="+mn-ea"/>
                <a:ea typeface="+mn-ea"/>
              </a:rPr>
              <a:t>sort_index</a:t>
            </a:r>
            <a:r>
              <a:rPr lang="en-US" altLang="zh-CN" sz="2400" dirty="0">
                <a:solidFill>
                  <a:schemeClr val="accent1"/>
                </a:solidFill>
                <a:latin typeface="+mn-ea"/>
                <a:ea typeface="+mn-ea"/>
              </a:rPr>
              <a:t>()</a:t>
            </a:r>
            <a:r>
              <a:rPr lang="zh-CN" altLang="zh-CN" sz="2400" dirty="0">
                <a:solidFill>
                  <a:schemeClr val="accent1"/>
                </a:solidFill>
                <a:latin typeface="+mn-ea"/>
                <a:ea typeface="+mn-ea"/>
              </a:rPr>
              <a:t>方法，以前面定义的</a:t>
            </a:r>
            <a:r>
              <a:rPr lang="en-US" altLang="zh-CN" sz="2400" dirty="0">
                <a:solidFill>
                  <a:schemeClr val="accent1"/>
                </a:solidFill>
                <a:latin typeface="+mn-ea"/>
                <a:ea typeface="+mn-ea"/>
              </a:rPr>
              <a:t>Df1</a:t>
            </a:r>
            <a:r>
              <a:rPr lang="zh-CN" altLang="zh-CN" sz="2400" dirty="0">
                <a:solidFill>
                  <a:schemeClr val="accent1"/>
                </a:solidFill>
                <a:latin typeface="+mn-ea"/>
                <a:ea typeface="+mn-ea"/>
              </a:rPr>
              <a:t>为例，示例代码如下：</a:t>
            </a:r>
          </a:p>
        </p:txBody>
      </p:sp>
      <p:sp>
        <p:nvSpPr>
          <p:cNvPr id="3" name="矩形 2"/>
          <p:cNvSpPr/>
          <p:nvPr/>
        </p:nvSpPr>
        <p:spPr>
          <a:xfrm>
            <a:off x="1334535" y="1810154"/>
            <a:ext cx="7814823" cy="1569660"/>
          </a:xfrm>
          <a:prstGeom prst="rect">
            <a:avLst/>
          </a:prstGeom>
        </p:spPr>
        <p:txBody>
          <a:bodyPr wrap="square">
            <a:spAutoFit/>
          </a:bodyPr>
          <a:lstStyle/>
          <a:p>
            <a:r>
              <a:rPr lang="en-US" altLang="zh-CN" sz="2400" dirty="0">
                <a:solidFill>
                  <a:schemeClr val="accent1"/>
                </a:solidFill>
                <a:latin typeface="+mn-ea"/>
                <a:ea typeface="+mn-ea"/>
              </a:rPr>
              <a:t>Df2=Df1.sort_index(ascending=False)  #</a:t>
            </a:r>
            <a:r>
              <a:rPr lang="zh-CN" altLang="zh-CN" sz="2400" dirty="0">
                <a:solidFill>
                  <a:schemeClr val="accent1"/>
                </a:solidFill>
                <a:latin typeface="+mn-ea"/>
                <a:ea typeface="+mn-ea"/>
              </a:rPr>
              <a:t>默认按升序，这里设置为降序</a:t>
            </a:r>
          </a:p>
          <a:p>
            <a:r>
              <a:rPr lang="zh-CN" altLang="zh-CN" sz="2400" dirty="0">
                <a:solidFill>
                  <a:schemeClr val="accent1"/>
                </a:solidFill>
                <a:latin typeface="+mn-ea"/>
                <a:ea typeface="+mn-ea"/>
              </a:rPr>
              <a:t>执行结果如图</a:t>
            </a:r>
            <a:r>
              <a:rPr lang="en-US" altLang="zh-CN" sz="2400" dirty="0">
                <a:solidFill>
                  <a:schemeClr val="accent1"/>
                </a:solidFill>
                <a:latin typeface="+mn-ea"/>
                <a:ea typeface="+mn-ea"/>
              </a:rPr>
              <a:t>3-11</a:t>
            </a:r>
            <a:r>
              <a:rPr lang="zh-CN" altLang="zh-CN" sz="2400" dirty="0">
                <a:solidFill>
                  <a:schemeClr val="accent1"/>
                </a:solidFill>
                <a:latin typeface="+mn-ea"/>
                <a:ea typeface="+mn-ea"/>
              </a:rPr>
              <a:t>所示。</a:t>
            </a:r>
          </a:p>
          <a:p>
            <a:endParaRPr lang="zh-CN" altLang="zh-CN" sz="2400" dirty="0"/>
          </a:p>
        </p:txBody>
      </p:sp>
      <p:pic>
        <p:nvPicPr>
          <p:cNvPr id="9" name="图片 8"/>
          <p:cNvPicPr/>
          <p:nvPr/>
        </p:nvPicPr>
        <p:blipFill>
          <a:blip r:embed="rId3" cstate="print"/>
          <a:stretch>
            <a:fillRect/>
          </a:stretch>
        </p:blipFill>
        <p:spPr>
          <a:xfrm>
            <a:off x="6508930" y="2348880"/>
            <a:ext cx="5270326" cy="2687548"/>
          </a:xfrm>
          <a:prstGeom prst="rect">
            <a:avLst/>
          </a:prstGeom>
        </p:spPr>
      </p:pic>
      <p:sp>
        <p:nvSpPr>
          <p:cNvPr id="4" name="矩形 3"/>
          <p:cNvSpPr/>
          <p:nvPr/>
        </p:nvSpPr>
        <p:spPr>
          <a:xfrm>
            <a:off x="8834685" y="5095110"/>
            <a:ext cx="1086772" cy="461665"/>
          </a:xfrm>
          <a:prstGeom prst="rect">
            <a:avLst/>
          </a:prstGeom>
        </p:spPr>
        <p:txBody>
          <a:bodyPr wrap="none">
            <a:spAutoFit/>
          </a:bodyPr>
          <a:lstStyle/>
          <a:p>
            <a:r>
              <a:rPr lang="zh-CN" altLang="zh-CN" sz="2400" dirty="0">
                <a:solidFill>
                  <a:schemeClr val="accent1"/>
                </a:solidFill>
              </a:rPr>
              <a:t>图</a:t>
            </a:r>
            <a:r>
              <a:rPr lang="en-US" altLang="zh-CN" sz="2400" dirty="0">
                <a:solidFill>
                  <a:schemeClr val="accent1"/>
                </a:solidFill>
              </a:rPr>
              <a:t>3-11</a:t>
            </a:r>
            <a:endParaRPr lang="zh-CN" altLang="zh-CN" sz="2400" dirty="0">
              <a:solidFill>
                <a:schemeClr val="accent1"/>
              </a:solidFill>
            </a:endParaRPr>
          </a:p>
        </p:txBody>
      </p:sp>
    </p:spTree>
  </p:cSld>
  <p:clrMapOvr>
    <a:masterClrMapping/>
  </p:clrMapOvr>
  <mc:AlternateContent xmlns:mc="http://schemas.openxmlformats.org/markup-compatibility/2006" xmlns:p14="http://schemas.microsoft.com/office/powerpoint/2010/main">
    <mc:Choice Requires="p14">
      <p:transition p14:dur="10" advTm="9437"/>
    </mc:Choice>
    <mc:Fallback xmlns="">
      <p:transition advTm="9437"/>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Box 54"/>
          <p:cNvSpPr txBox="1"/>
          <p:nvPr/>
        </p:nvSpPr>
        <p:spPr>
          <a:xfrm>
            <a:off x="1330765" y="44625"/>
            <a:ext cx="7719943" cy="523214"/>
          </a:xfrm>
          <a:prstGeom prst="rect">
            <a:avLst/>
          </a:prstGeom>
          <a:noFill/>
        </p:spPr>
        <p:txBody>
          <a:bodyPr wrap="square" lIns="91434" tIns="45717" rIns="91434" bIns="45717"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r>
              <a:rPr lang="en-US" altLang="zh-CN" sz="2800" dirty="0" smtClean="0">
                <a:solidFill>
                  <a:schemeClr val="accent2"/>
                </a:solidFill>
                <a:latin typeface="微软雅黑" panose="020B0503020204020204" pitchFamily="34" charset="-122"/>
                <a:ea typeface="微软雅黑" panose="020B0503020204020204" pitchFamily="34" charset="-122"/>
              </a:rPr>
              <a:t>3.3.3</a:t>
            </a:r>
            <a:r>
              <a:rPr lang="zh-CN" altLang="en-US" sz="2800" dirty="0" smtClean="0">
                <a:solidFill>
                  <a:schemeClr val="accent2"/>
                </a:solidFill>
                <a:latin typeface="微软雅黑" panose="020B0503020204020204" pitchFamily="34" charset="-122"/>
                <a:ea typeface="微软雅黑" panose="020B0503020204020204" pitchFamily="34" charset="-122"/>
              </a:rPr>
              <a:t>数据框方法</a:t>
            </a:r>
            <a:r>
              <a:rPr lang="en-US" altLang="zh-CN" sz="2800" dirty="0" smtClean="0">
                <a:solidFill>
                  <a:schemeClr val="accent2"/>
                </a:solidFill>
                <a:latin typeface="微软雅黑" panose="020B0503020204020204" pitchFamily="34" charset="-122"/>
                <a:ea typeface="微软雅黑" panose="020B0503020204020204" pitchFamily="34" charset="-122"/>
              </a:rPr>
              <a:t>—</a:t>
            </a:r>
            <a:r>
              <a:rPr lang="zh-CN" altLang="en-US" sz="2800" dirty="0" smtClean="0">
                <a:solidFill>
                  <a:schemeClr val="accent2"/>
                </a:solidFill>
                <a:latin typeface="微软雅黑" panose="020B0503020204020204" pitchFamily="34" charset="-122"/>
                <a:ea typeface="微软雅黑" panose="020B0503020204020204" pitchFamily="34" charset="-122"/>
              </a:rPr>
              <a:t>取前</a:t>
            </a:r>
            <a:r>
              <a:rPr lang="en-US" altLang="zh-CN" sz="2800" dirty="0" smtClean="0">
                <a:solidFill>
                  <a:schemeClr val="accent2"/>
                </a:solidFill>
                <a:latin typeface="微软雅黑" panose="020B0503020204020204" pitchFamily="34" charset="-122"/>
                <a:ea typeface="微软雅黑" panose="020B0503020204020204" pitchFamily="34" charset="-122"/>
              </a:rPr>
              <a:t>N</a:t>
            </a:r>
            <a:r>
              <a:rPr lang="zh-CN" altLang="en-US" sz="2800" dirty="0" smtClean="0">
                <a:solidFill>
                  <a:schemeClr val="accent2"/>
                </a:solidFill>
                <a:latin typeface="微软雅黑" panose="020B0503020204020204" pitchFamily="34" charset="-122"/>
                <a:ea typeface="微软雅黑" panose="020B0503020204020204" pitchFamily="34" charset="-122"/>
              </a:rPr>
              <a:t>行</a:t>
            </a:r>
            <a:endParaRPr lang="zh-CN" altLang="en-US" sz="2800" dirty="0">
              <a:solidFill>
                <a:schemeClr val="accent2"/>
              </a:solidFill>
              <a:latin typeface="微软雅黑" panose="020B0503020204020204" pitchFamily="34" charset="-122"/>
              <a:ea typeface="微软雅黑" panose="020B0503020204020204" pitchFamily="34" charset="-122"/>
            </a:endParaRPr>
          </a:p>
        </p:txBody>
      </p:sp>
      <p:sp>
        <p:nvSpPr>
          <p:cNvPr id="56" name="TextBox 55"/>
          <p:cNvSpPr txBox="1"/>
          <p:nvPr/>
        </p:nvSpPr>
        <p:spPr>
          <a:xfrm>
            <a:off x="140263" y="106179"/>
            <a:ext cx="1064260" cy="400103"/>
          </a:xfrm>
          <a:prstGeom prst="rect">
            <a:avLst/>
          </a:prstGeom>
          <a:noFill/>
        </p:spPr>
        <p:txBody>
          <a:bodyPr wrap="square" lIns="91434" tIns="45717" rIns="91434" bIns="45717" rtlCol="0">
            <a:spAutoFit/>
          </a:bodyPr>
          <a:lstStyle/>
          <a:p>
            <a:pPr algn="r"/>
            <a:r>
              <a:rPr lang="en-US" altLang="zh-CN" sz="2000" dirty="0">
                <a:solidFill>
                  <a:schemeClr val="accent2"/>
                </a:solidFill>
              </a:rPr>
              <a:t>Part </a:t>
            </a:r>
            <a:r>
              <a:rPr lang="en-US" altLang="zh-CN" dirty="0">
                <a:solidFill>
                  <a:schemeClr val="accent2"/>
                </a:solidFill>
              </a:rPr>
              <a:t>3</a:t>
            </a:r>
            <a:r>
              <a:rPr lang="en-US" altLang="zh-CN" dirty="0" smtClean="0">
                <a:solidFill>
                  <a:schemeClr val="accent2"/>
                </a:solidFill>
              </a:rPr>
              <a:t> </a:t>
            </a:r>
            <a:endParaRPr lang="zh-CN" altLang="en-US" dirty="0">
              <a:solidFill>
                <a:schemeClr val="accent2"/>
              </a:solidFill>
            </a:endParaRPr>
          </a:p>
        </p:txBody>
      </p:sp>
      <p:sp>
        <p:nvSpPr>
          <p:cNvPr id="2" name="矩形 1"/>
          <p:cNvSpPr/>
          <p:nvPr/>
        </p:nvSpPr>
        <p:spPr>
          <a:xfrm>
            <a:off x="1057821" y="626521"/>
            <a:ext cx="1449436" cy="461665"/>
          </a:xfrm>
          <a:prstGeom prst="rect">
            <a:avLst/>
          </a:prstGeom>
        </p:spPr>
        <p:txBody>
          <a:bodyPr wrap="none">
            <a:spAutoFit/>
          </a:bodyPr>
          <a:lstStyle/>
          <a:p>
            <a:r>
              <a:rPr lang="en-US" altLang="zh-CN" sz="2400" b="1" dirty="0"/>
              <a:t>5. head()</a:t>
            </a:r>
            <a:endParaRPr lang="zh-CN" altLang="zh-CN" sz="2400" dirty="0"/>
          </a:p>
        </p:txBody>
      </p:sp>
      <p:sp>
        <p:nvSpPr>
          <p:cNvPr id="6" name="矩形 5"/>
          <p:cNvSpPr/>
          <p:nvPr/>
        </p:nvSpPr>
        <p:spPr>
          <a:xfrm>
            <a:off x="1302856" y="995854"/>
            <a:ext cx="10412149" cy="1569660"/>
          </a:xfrm>
          <a:prstGeom prst="rect">
            <a:avLst/>
          </a:prstGeom>
        </p:spPr>
        <p:txBody>
          <a:bodyPr wrap="square">
            <a:spAutoFit/>
          </a:bodyPr>
          <a:lstStyle/>
          <a:p>
            <a:r>
              <a:rPr lang="zh-CN" altLang="zh-CN" sz="2400" dirty="0"/>
              <a:t>通过</a:t>
            </a:r>
            <a:r>
              <a:rPr lang="en-US" altLang="zh-CN" sz="2400" dirty="0"/>
              <a:t>head(N)</a:t>
            </a:r>
            <a:r>
              <a:rPr lang="zh-CN" altLang="zh-CN" sz="2400" dirty="0"/>
              <a:t>方法，可以取数据集中的前</a:t>
            </a:r>
            <a:r>
              <a:rPr lang="en-US" altLang="zh-CN" sz="2400" dirty="0"/>
              <a:t>N</a:t>
            </a:r>
            <a:r>
              <a:rPr lang="zh-CN" altLang="zh-CN" sz="2400" dirty="0"/>
              <a:t>行，比如取前面定义的数据框</a:t>
            </a:r>
            <a:r>
              <a:rPr lang="en-US" altLang="zh-CN" sz="2400" dirty="0"/>
              <a:t>Df2</a:t>
            </a:r>
            <a:r>
              <a:rPr lang="zh-CN" altLang="zh-CN" sz="2400" dirty="0"/>
              <a:t>中的前</a:t>
            </a:r>
            <a:r>
              <a:rPr lang="en-US" altLang="zh-CN" sz="2400" dirty="0"/>
              <a:t>4</a:t>
            </a:r>
            <a:r>
              <a:rPr lang="zh-CN" altLang="zh-CN" sz="2400" dirty="0"/>
              <a:t>行，示例代码如下：</a:t>
            </a:r>
          </a:p>
          <a:p>
            <a:r>
              <a:rPr lang="en-US" altLang="zh-CN" sz="2400" dirty="0"/>
              <a:t>H4=Df2.head(4);</a:t>
            </a:r>
            <a:endParaRPr lang="zh-CN" altLang="zh-CN" sz="2400" dirty="0"/>
          </a:p>
          <a:p>
            <a:r>
              <a:rPr lang="zh-CN" altLang="zh-CN" sz="2400" dirty="0"/>
              <a:t>执行结果如图</a:t>
            </a:r>
            <a:r>
              <a:rPr lang="en-US" altLang="zh-CN" sz="2400" dirty="0"/>
              <a:t>3-12</a:t>
            </a:r>
            <a:r>
              <a:rPr lang="zh-CN" altLang="zh-CN" sz="2400" dirty="0"/>
              <a:t>所示。</a:t>
            </a:r>
          </a:p>
        </p:txBody>
      </p:sp>
      <p:pic>
        <p:nvPicPr>
          <p:cNvPr id="10" name="图片 9"/>
          <p:cNvPicPr/>
          <p:nvPr/>
        </p:nvPicPr>
        <p:blipFill>
          <a:blip r:embed="rId3" cstate="print"/>
          <a:stretch>
            <a:fillRect/>
          </a:stretch>
        </p:blipFill>
        <p:spPr>
          <a:xfrm>
            <a:off x="5666333" y="2748914"/>
            <a:ext cx="5112568" cy="2264261"/>
          </a:xfrm>
          <a:prstGeom prst="rect">
            <a:avLst/>
          </a:prstGeom>
        </p:spPr>
      </p:pic>
      <p:sp>
        <p:nvSpPr>
          <p:cNvPr id="4" name="矩形 3"/>
          <p:cNvSpPr/>
          <p:nvPr/>
        </p:nvSpPr>
        <p:spPr>
          <a:xfrm>
            <a:off x="7266288" y="5060469"/>
            <a:ext cx="877163" cy="369332"/>
          </a:xfrm>
          <a:prstGeom prst="rect">
            <a:avLst/>
          </a:prstGeom>
        </p:spPr>
        <p:txBody>
          <a:bodyPr wrap="none">
            <a:spAutoFit/>
          </a:bodyPr>
          <a:lstStyle/>
          <a:p>
            <a:r>
              <a:rPr lang="zh-CN" altLang="zh-CN" dirty="0"/>
              <a:t>图</a:t>
            </a:r>
            <a:r>
              <a:rPr lang="en-US" altLang="zh-CN" dirty="0"/>
              <a:t>3-12</a:t>
            </a:r>
            <a:endParaRPr lang="zh-CN" altLang="zh-CN" dirty="0"/>
          </a:p>
        </p:txBody>
      </p:sp>
    </p:spTree>
  </p:cSld>
  <p:clrMapOvr>
    <a:masterClrMapping/>
  </p:clrMapOvr>
  <mc:AlternateContent xmlns:mc="http://schemas.openxmlformats.org/markup-compatibility/2006" xmlns:p14="http://schemas.microsoft.com/office/powerpoint/2010/main">
    <mc:Choice Requires="p14">
      <p:transition p14:dur="10" advTm="9437"/>
    </mc:Choice>
    <mc:Fallback xmlns="">
      <p:transition advTm="9437"/>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Box 54"/>
          <p:cNvSpPr txBox="1"/>
          <p:nvPr/>
        </p:nvSpPr>
        <p:spPr>
          <a:xfrm>
            <a:off x="1330765" y="44625"/>
            <a:ext cx="7719943" cy="523214"/>
          </a:xfrm>
          <a:prstGeom prst="rect">
            <a:avLst/>
          </a:prstGeom>
          <a:noFill/>
        </p:spPr>
        <p:txBody>
          <a:bodyPr wrap="square" lIns="91434" tIns="45717" rIns="91434" bIns="45717"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r>
              <a:rPr lang="en-US" altLang="zh-CN" sz="2800" dirty="0" smtClean="0">
                <a:solidFill>
                  <a:schemeClr val="accent2"/>
                </a:solidFill>
                <a:latin typeface="微软雅黑" panose="020B0503020204020204" pitchFamily="34" charset="-122"/>
                <a:ea typeface="微软雅黑" panose="020B0503020204020204" pitchFamily="34" charset="-122"/>
              </a:rPr>
              <a:t>3.3.3 </a:t>
            </a:r>
            <a:r>
              <a:rPr lang="zh-CN" altLang="en-US" sz="2800" dirty="0" smtClean="0">
                <a:solidFill>
                  <a:schemeClr val="accent2"/>
                </a:solidFill>
                <a:latin typeface="微软雅黑" panose="020B0503020204020204" pitchFamily="34" charset="-122"/>
                <a:ea typeface="微软雅黑" panose="020B0503020204020204" pitchFamily="34" charset="-122"/>
              </a:rPr>
              <a:t>数据框方法</a:t>
            </a:r>
            <a:r>
              <a:rPr lang="en-US" altLang="zh-CN" sz="2800" dirty="0" smtClean="0">
                <a:solidFill>
                  <a:schemeClr val="accent2"/>
                </a:solidFill>
                <a:latin typeface="微软雅黑" panose="020B0503020204020204" pitchFamily="34" charset="-122"/>
                <a:ea typeface="微软雅黑" panose="020B0503020204020204" pitchFamily="34" charset="-122"/>
              </a:rPr>
              <a:t>—</a:t>
            </a:r>
            <a:r>
              <a:rPr lang="zh-CN" altLang="en-US" sz="2800" dirty="0" smtClean="0">
                <a:solidFill>
                  <a:schemeClr val="accent2"/>
                </a:solidFill>
                <a:latin typeface="微软雅黑" panose="020B0503020204020204" pitchFamily="34" charset="-122"/>
                <a:ea typeface="微软雅黑" panose="020B0503020204020204" pitchFamily="34" charset="-122"/>
              </a:rPr>
              <a:t>删除列</a:t>
            </a:r>
            <a:endParaRPr lang="zh-CN" altLang="en-US" sz="2800" dirty="0">
              <a:solidFill>
                <a:schemeClr val="accent2"/>
              </a:solidFill>
              <a:latin typeface="微软雅黑" panose="020B0503020204020204" pitchFamily="34" charset="-122"/>
              <a:ea typeface="微软雅黑" panose="020B0503020204020204" pitchFamily="34" charset="-122"/>
            </a:endParaRPr>
          </a:p>
        </p:txBody>
      </p:sp>
      <p:sp>
        <p:nvSpPr>
          <p:cNvPr id="56" name="TextBox 55"/>
          <p:cNvSpPr txBox="1"/>
          <p:nvPr/>
        </p:nvSpPr>
        <p:spPr>
          <a:xfrm>
            <a:off x="140263" y="106179"/>
            <a:ext cx="1064260" cy="400103"/>
          </a:xfrm>
          <a:prstGeom prst="rect">
            <a:avLst/>
          </a:prstGeom>
          <a:noFill/>
        </p:spPr>
        <p:txBody>
          <a:bodyPr wrap="square" lIns="91434" tIns="45717" rIns="91434" bIns="45717" rtlCol="0">
            <a:spAutoFit/>
          </a:bodyPr>
          <a:lstStyle/>
          <a:p>
            <a:pPr algn="r"/>
            <a:r>
              <a:rPr lang="en-US" altLang="zh-CN" sz="2000" dirty="0">
                <a:solidFill>
                  <a:schemeClr val="accent2"/>
                </a:solidFill>
              </a:rPr>
              <a:t>Part </a:t>
            </a:r>
            <a:r>
              <a:rPr lang="en-US" altLang="zh-CN" dirty="0">
                <a:solidFill>
                  <a:schemeClr val="accent2"/>
                </a:solidFill>
              </a:rPr>
              <a:t>3</a:t>
            </a:r>
            <a:r>
              <a:rPr lang="en-US" altLang="zh-CN" dirty="0" smtClean="0">
                <a:solidFill>
                  <a:schemeClr val="accent2"/>
                </a:solidFill>
              </a:rPr>
              <a:t> </a:t>
            </a:r>
            <a:endParaRPr lang="zh-CN" altLang="en-US" dirty="0">
              <a:solidFill>
                <a:schemeClr val="accent2"/>
              </a:solidFill>
            </a:endParaRPr>
          </a:p>
        </p:txBody>
      </p:sp>
      <p:sp>
        <p:nvSpPr>
          <p:cNvPr id="2" name="矩形 1"/>
          <p:cNvSpPr/>
          <p:nvPr/>
        </p:nvSpPr>
        <p:spPr>
          <a:xfrm>
            <a:off x="1057821" y="626521"/>
            <a:ext cx="1414170" cy="461665"/>
          </a:xfrm>
          <a:prstGeom prst="rect">
            <a:avLst/>
          </a:prstGeom>
        </p:spPr>
        <p:txBody>
          <a:bodyPr wrap="none">
            <a:spAutoFit/>
          </a:bodyPr>
          <a:lstStyle/>
          <a:p>
            <a:r>
              <a:rPr lang="en-US" altLang="zh-CN" sz="2400" b="1" dirty="0"/>
              <a:t>6. drop()</a:t>
            </a:r>
            <a:endParaRPr lang="zh-CN" altLang="zh-CN" sz="2400" dirty="0"/>
          </a:p>
        </p:txBody>
      </p:sp>
      <p:sp>
        <p:nvSpPr>
          <p:cNvPr id="6" name="矩形 5"/>
          <p:cNvSpPr/>
          <p:nvPr/>
        </p:nvSpPr>
        <p:spPr>
          <a:xfrm>
            <a:off x="1302856" y="995854"/>
            <a:ext cx="10412149" cy="1569660"/>
          </a:xfrm>
          <a:prstGeom prst="rect">
            <a:avLst/>
          </a:prstGeom>
        </p:spPr>
        <p:txBody>
          <a:bodyPr wrap="square">
            <a:spAutoFit/>
          </a:bodyPr>
          <a:lstStyle/>
          <a:p>
            <a:r>
              <a:rPr lang="zh-CN" altLang="zh-CN" sz="2400" dirty="0"/>
              <a:t>利用</a:t>
            </a:r>
            <a:r>
              <a:rPr lang="en-US" altLang="zh-CN" sz="2400" dirty="0" err="1"/>
              <a:t>dorp</a:t>
            </a:r>
            <a:r>
              <a:rPr lang="en-US" altLang="zh-CN" sz="2400" dirty="0"/>
              <a:t>()</a:t>
            </a:r>
            <a:r>
              <a:rPr lang="zh-CN" altLang="zh-CN" sz="2400" dirty="0"/>
              <a:t>方法，可以删掉数据集中的指定列。比如删除前面定义的</a:t>
            </a:r>
            <a:r>
              <a:rPr lang="en-US" altLang="zh-CN" sz="2400" dirty="0"/>
              <a:t>H4</a:t>
            </a:r>
            <a:r>
              <a:rPr lang="zh-CN" altLang="zh-CN" sz="2400" dirty="0"/>
              <a:t>中的</a:t>
            </a:r>
            <a:r>
              <a:rPr lang="en-US" altLang="zh-CN" sz="2400" dirty="0"/>
              <a:t>b</a:t>
            </a:r>
            <a:r>
              <a:rPr lang="zh-CN" altLang="zh-CN" sz="2400" dirty="0"/>
              <a:t>列，示例代码如下：</a:t>
            </a:r>
          </a:p>
          <a:p>
            <a:r>
              <a:rPr lang="en-US" altLang="zh-CN" sz="2400" dirty="0"/>
              <a:t>H41=H4.drop('</a:t>
            </a:r>
            <a:r>
              <a:rPr lang="en-US" altLang="zh-CN" sz="2400" dirty="0" err="1"/>
              <a:t>b',axis</a:t>
            </a:r>
            <a:r>
              <a:rPr lang="en-US" altLang="zh-CN" sz="2400" dirty="0"/>
              <a:t>=1) #</a:t>
            </a:r>
            <a:r>
              <a:rPr lang="zh-CN" altLang="zh-CN" sz="2400" dirty="0"/>
              <a:t>需指定轴为</a:t>
            </a:r>
            <a:r>
              <a:rPr lang="en-US" altLang="zh-CN" sz="2400" dirty="0"/>
              <a:t>1</a:t>
            </a:r>
            <a:endParaRPr lang="zh-CN" altLang="zh-CN" sz="2400" dirty="0"/>
          </a:p>
          <a:p>
            <a:r>
              <a:rPr lang="zh-CN" altLang="zh-CN" sz="2400" dirty="0"/>
              <a:t>执行结果如图</a:t>
            </a:r>
            <a:r>
              <a:rPr lang="en-US" altLang="zh-CN" sz="2400" dirty="0"/>
              <a:t>3-13</a:t>
            </a:r>
            <a:r>
              <a:rPr lang="zh-CN" altLang="zh-CN" sz="2400" dirty="0"/>
              <a:t>所示。</a:t>
            </a:r>
          </a:p>
        </p:txBody>
      </p:sp>
      <p:sp>
        <p:nvSpPr>
          <p:cNvPr id="4" name="矩形 3"/>
          <p:cNvSpPr/>
          <p:nvPr/>
        </p:nvSpPr>
        <p:spPr>
          <a:xfrm>
            <a:off x="7266288" y="5060469"/>
            <a:ext cx="877163" cy="369332"/>
          </a:xfrm>
          <a:prstGeom prst="rect">
            <a:avLst/>
          </a:prstGeom>
        </p:spPr>
        <p:txBody>
          <a:bodyPr wrap="none">
            <a:spAutoFit/>
          </a:bodyPr>
          <a:lstStyle/>
          <a:p>
            <a:r>
              <a:rPr lang="zh-CN" altLang="zh-CN" dirty="0"/>
              <a:t>图</a:t>
            </a:r>
            <a:r>
              <a:rPr lang="en-US" altLang="zh-CN" dirty="0" smtClean="0"/>
              <a:t>3-1</a:t>
            </a:r>
            <a:r>
              <a:rPr lang="en-US" altLang="zh-CN" dirty="0"/>
              <a:t>3</a:t>
            </a:r>
            <a:endParaRPr lang="zh-CN" altLang="zh-CN" dirty="0"/>
          </a:p>
        </p:txBody>
      </p:sp>
      <p:pic>
        <p:nvPicPr>
          <p:cNvPr id="9" name="图片 8"/>
          <p:cNvPicPr/>
          <p:nvPr/>
        </p:nvPicPr>
        <p:blipFill>
          <a:blip r:embed="rId3" cstate="print"/>
          <a:stretch>
            <a:fillRect/>
          </a:stretch>
        </p:blipFill>
        <p:spPr>
          <a:xfrm>
            <a:off x="4727591" y="2585026"/>
            <a:ext cx="6031100" cy="2359179"/>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advTm="9437"/>
    </mc:Choice>
    <mc:Fallback xmlns="">
      <p:transition advTm="9437"/>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Box 54"/>
          <p:cNvSpPr txBox="1"/>
          <p:nvPr/>
        </p:nvSpPr>
        <p:spPr>
          <a:xfrm>
            <a:off x="1330765" y="44625"/>
            <a:ext cx="7719943" cy="523214"/>
          </a:xfrm>
          <a:prstGeom prst="rect">
            <a:avLst/>
          </a:prstGeom>
          <a:noFill/>
        </p:spPr>
        <p:txBody>
          <a:bodyPr wrap="square" lIns="91434" tIns="45717" rIns="91434" bIns="45717"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r>
              <a:rPr lang="en-US" altLang="zh-CN" sz="2800" dirty="0" smtClean="0">
                <a:solidFill>
                  <a:schemeClr val="accent2"/>
                </a:solidFill>
                <a:latin typeface="微软雅黑" panose="020B0503020204020204" pitchFamily="34" charset="-122"/>
                <a:ea typeface="微软雅黑" panose="020B0503020204020204" pitchFamily="34" charset="-122"/>
              </a:rPr>
              <a:t>3.3.3</a:t>
            </a:r>
            <a:r>
              <a:rPr lang="zh-CN" altLang="en-US" sz="2800" dirty="0" smtClean="0">
                <a:solidFill>
                  <a:schemeClr val="accent2"/>
                </a:solidFill>
                <a:latin typeface="微软雅黑" panose="020B0503020204020204" pitchFamily="34" charset="-122"/>
                <a:ea typeface="微软雅黑" panose="020B0503020204020204" pitchFamily="34" charset="-122"/>
              </a:rPr>
              <a:t>数据框方法</a:t>
            </a:r>
            <a:r>
              <a:rPr lang="en-US" altLang="zh-CN" sz="2800" dirty="0" smtClean="0">
                <a:solidFill>
                  <a:schemeClr val="accent2"/>
                </a:solidFill>
                <a:latin typeface="微软雅黑" panose="020B0503020204020204" pitchFamily="34" charset="-122"/>
                <a:ea typeface="微软雅黑" panose="020B0503020204020204" pitchFamily="34" charset="-122"/>
              </a:rPr>
              <a:t>—</a:t>
            </a:r>
            <a:r>
              <a:rPr lang="zh-CN" altLang="en-US" sz="2800" dirty="0" smtClean="0">
                <a:solidFill>
                  <a:schemeClr val="accent2"/>
                </a:solidFill>
                <a:latin typeface="微软雅黑" panose="020B0503020204020204" pitchFamily="34" charset="-122"/>
                <a:ea typeface="微软雅黑" panose="020B0503020204020204" pitchFamily="34" charset="-122"/>
              </a:rPr>
              <a:t>水平连接</a:t>
            </a:r>
            <a:endParaRPr lang="zh-CN" altLang="en-US" sz="2800" dirty="0">
              <a:solidFill>
                <a:schemeClr val="accent2"/>
              </a:solidFill>
              <a:latin typeface="微软雅黑" panose="020B0503020204020204" pitchFamily="34" charset="-122"/>
              <a:ea typeface="微软雅黑" panose="020B0503020204020204" pitchFamily="34" charset="-122"/>
            </a:endParaRPr>
          </a:p>
        </p:txBody>
      </p:sp>
      <p:sp>
        <p:nvSpPr>
          <p:cNvPr id="56" name="TextBox 55"/>
          <p:cNvSpPr txBox="1"/>
          <p:nvPr/>
        </p:nvSpPr>
        <p:spPr>
          <a:xfrm>
            <a:off x="140263" y="106179"/>
            <a:ext cx="1064260" cy="400103"/>
          </a:xfrm>
          <a:prstGeom prst="rect">
            <a:avLst/>
          </a:prstGeom>
          <a:noFill/>
        </p:spPr>
        <p:txBody>
          <a:bodyPr wrap="square" lIns="91434" tIns="45717" rIns="91434" bIns="45717" rtlCol="0">
            <a:spAutoFit/>
          </a:bodyPr>
          <a:lstStyle/>
          <a:p>
            <a:pPr algn="r"/>
            <a:r>
              <a:rPr lang="en-US" altLang="zh-CN" sz="2000" dirty="0">
                <a:solidFill>
                  <a:schemeClr val="accent2"/>
                </a:solidFill>
              </a:rPr>
              <a:t>Part </a:t>
            </a:r>
            <a:r>
              <a:rPr lang="en-US" altLang="zh-CN" dirty="0">
                <a:solidFill>
                  <a:schemeClr val="accent2"/>
                </a:solidFill>
              </a:rPr>
              <a:t>3</a:t>
            </a:r>
            <a:r>
              <a:rPr lang="en-US" altLang="zh-CN" dirty="0" smtClean="0">
                <a:solidFill>
                  <a:schemeClr val="accent2"/>
                </a:solidFill>
              </a:rPr>
              <a:t> </a:t>
            </a:r>
            <a:endParaRPr lang="zh-CN" altLang="en-US" dirty="0">
              <a:solidFill>
                <a:schemeClr val="accent2"/>
              </a:solidFill>
            </a:endParaRPr>
          </a:p>
        </p:txBody>
      </p:sp>
      <p:sp>
        <p:nvSpPr>
          <p:cNvPr id="2" name="矩形 1"/>
          <p:cNvSpPr/>
          <p:nvPr/>
        </p:nvSpPr>
        <p:spPr>
          <a:xfrm>
            <a:off x="1057821" y="626521"/>
            <a:ext cx="1276311" cy="461665"/>
          </a:xfrm>
          <a:prstGeom prst="rect">
            <a:avLst/>
          </a:prstGeom>
        </p:spPr>
        <p:txBody>
          <a:bodyPr wrap="none">
            <a:spAutoFit/>
          </a:bodyPr>
          <a:lstStyle/>
          <a:p>
            <a:r>
              <a:rPr lang="en-US" altLang="zh-CN" sz="2400" b="1" dirty="0"/>
              <a:t>7. join()</a:t>
            </a:r>
            <a:endParaRPr lang="zh-CN" altLang="zh-CN" sz="2400" dirty="0"/>
          </a:p>
        </p:txBody>
      </p:sp>
      <p:sp>
        <p:nvSpPr>
          <p:cNvPr id="6" name="矩形 5"/>
          <p:cNvSpPr/>
          <p:nvPr/>
        </p:nvSpPr>
        <p:spPr>
          <a:xfrm>
            <a:off x="1302856" y="995854"/>
            <a:ext cx="10412149" cy="1569660"/>
          </a:xfrm>
          <a:prstGeom prst="rect">
            <a:avLst/>
          </a:prstGeom>
        </p:spPr>
        <p:txBody>
          <a:bodyPr wrap="square">
            <a:spAutoFit/>
          </a:bodyPr>
          <a:lstStyle/>
          <a:p>
            <a:r>
              <a:rPr lang="zh-CN" altLang="zh-CN" sz="2400" dirty="0"/>
              <a:t>利用</a:t>
            </a:r>
            <a:r>
              <a:rPr lang="en-US" altLang="zh-CN" sz="2400" dirty="0"/>
              <a:t>join()</a:t>
            </a:r>
            <a:r>
              <a:rPr lang="zh-CN" altLang="zh-CN" sz="2400" dirty="0"/>
              <a:t>方法，可以实现两个数据框之间的水平连接，示例代码如下：</a:t>
            </a:r>
          </a:p>
          <a:p>
            <a:r>
              <a:rPr lang="en-US" altLang="zh-CN" sz="2400" dirty="0"/>
              <a:t>Df3=</a:t>
            </a:r>
            <a:r>
              <a:rPr lang="en-US" altLang="zh-CN" sz="2400" dirty="0" err="1"/>
              <a:t>pd.DataFrame</a:t>
            </a:r>
            <a:r>
              <a:rPr lang="en-US" altLang="zh-CN" sz="2400" dirty="0"/>
              <a:t>({'d':[1,2,3,4,5]})</a:t>
            </a:r>
            <a:endParaRPr lang="zh-CN" altLang="zh-CN" sz="2400" dirty="0"/>
          </a:p>
          <a:p>
            <a:r>
              <a:rPr lang="en-US" altLang="zh-CN" sz="2400" dirty="0"/>
              <a:t>Df4=</a:t>
            </a:r>
            <a:r>
              <a:rPr lang="en-US" altLang="zh-CN" sz="2400" dirty="0" err="1"/>
              <a:t>Df.join</a:t>
            </a:r>
            <a:r>
              <a:rPr lang="en-US" altLang="zh-CN" sz="2400" dirty="0"/>
              <a:t>(Df3)</a:t>
            </a:r>
            <a:endParaRPr lang="zh-CN" altLang="zh-CN" sz="2400" dirty="0"/>
          </a:p>
          <a:p>
            <a:r>
              <a:rPr lang="zh-CN" altLang="zh-CN" sz="2400" dirty="0"/>
              <a:t>执行结果如图</a:t>
            </a:r>
            <a:r>
              <a:rPr lang="en-US" altLang="zh-CN" sz="2400" dirty="0"/>
              <a:t>3-14</a:t>
            </a:r>
            <a:r>
              <a:rPr lang="zh-CN" altLang="zh-CN" sz="2400" dirty="0"/>
              <a:t>所示。</a:t>
            </a:r>
          </a:p>
        </p:txBody>
      </p:sp>
      <p:sp>
        <p:nvSpPr>
          <p:cNvPr id="4" name="矩形 3"/>
          <p:cNvSpPr/>
          <p:nvPr/>
        </p:nvSpPr>
        <p:spPr>
          <a:xfrm>
            <a:off x="7266288" y="5060469"/>
            <a:ext cx="877163" cy="369332"/>
          </a:xfrm>
          <a:prstGeom prst="rect">
            <a:avLst/>
          </a:prstGeom>
        </p:spPr>
        <p:txBody>
          <a:bodyPr wrap="none">
            <a:spAutoFit/>
          </a:bodyPr>
          <a:lstStyle/>
          <a:p>
            <a:r>
              <a:rPr lang="zh-CN" altLang="zh-CN" dirty="0"/>
              <a:t>图</a:t>
            </a:r>
            <a:r>
              <a:rPr lang="en-US" altLang="zh-CN" dirty="0" smtClean="0"/>
              <a:t>3-1</a:t>
            </a:r>
            <a:r>
              <a:rPr lang="en-US" altLang="zh-CN" dirty="0"/>
              <a:t>4</a:t>
            </a:r>
            <a:endParaRPr lang="zh-CN" altLang="zh-CN" dirty="0"/>
          </a:p>
        </p:txBody>
      </p:sp>
      <p:pic>
        <p:nvPicPr>
          <p:cNvPr id="9" name="图片 8"/>
          <p:cNvPicPr/>
          <p:nvPr/>
        </p:nvPicPr>
        <p:blipFill>
          <a:blip r:embed="rId3" cstate="print"/>
          <a:stretch>
            <a:fillRect/>
          </a:stretch>
        </p:blipFill>
        <p:spPr>
          <a:xfrm>
            <a:off x="6033231" y="1780684"/>
            <a:ext cx="3343275" cy="322008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advTm="9437"/>
    </mc:Choice>
    <mc:Fallback xmlns="">
      <p:transition advTm="9437"/>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Box 54"/>
          <p:cNvSpPr txBox="1"/>
          <p:nvPr/>
        </p:nvSpPr>
        <p:spPr>
          <a:xfrm>
            <a:off x="1330765" y="44625"/>
            <a:ext cx="7719943" cy="523214"/>
          </a:xfrm>
          <a:prstGeom prst="rect">
            <a:avLst/>
          </a:prstGeom>
          <a:noFill/>
        </p:spPr>
        <p:txBody>
          <a:bodyPr wrap="square" lIns="91434" tIns="45717" rIns="91434" bIns="45717"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r>
              <a:rPr lang="zh-CN" altLang="en-US" sz="2800" dirty="0" smtClean="0">
                <a:solidFill>
                  <a:schemeClr val="accent2"/>
                </a:solidFill>
                <a:latin typeface="微软雅黑" panose="020B0503020204020204" pitchFamily="34" charset="-122"/>
                <a:ea typeface="微软雅黑" panose="020B0503020204020204" pitchFamily="34" charset="-122"/>
              </a:rPr>
              <a:t>数据框方法</a:t>
            </a:r>
            <a:r>
              <a:rPr lang="en-US" altLang="zh-CN" sz="2800" dirty="0" smtClean="0">
                <a:solidFill>
                  <a:schemeClr val="accent2"/>
                </a:solidFill>
                <a:latin typeface="微软雅黑" panose="020B0503020204020204" pitchFamily="34" charset="-122"/>
                <a:ea typeface="微软雅黑" panose="020B0503020204020204" pitchFamily="34" charset="-122"/>
              </a:rPr>
              <a:t>—</a:t>
            </a:r>
            <a:r>
              <a:rPr lang="zh-CN" altLang="en-US" sz="2800" dirty="0" smtClean="0">
                <a:solidFill>
                  <a:schemeClr val="accent2"/>
                </a:solidFill>
                <a:latin typeface="微软雅黑" panose="020B0503020204020204" pitchFamily="34" charset="-122"/>
                <a:ea typeface="微软雅黑" panose="020B0503020204020204" pitchFamily="34" charset="-122"/>
              </a:rPr>
              <a:t>导出</a:t>
            </a:r>
            <a:r>
              <a:rPr lang="en-US" altLang="zh-CN" sz="2800" dirty="0" smtClean="0">
                <a:solidFill>
                  <a:schemeClr val="accent2"/>
                </a:solidFill>
                <a:latin typeface="微软雅黑" panose="020B0503020204020204" pitchFamily="34" charset="-122"/>
                <a:ea typeface="微软雅黑" panose="020B0503020204020204" pitchFamily="34" charset="-122"/>
              </a:rPr>
              <a:t>excel</a:t>
            </a:r>
            <a:endParaRPr lang="zh-CN" altLang="en-US" sz="2800" dirty="0">
              <a:solidFill>
                <a:schemeClr val="accent2"/>
              </a:solidFill>
              <a:latin typeface="微软雅黑" panose="020B0503020204020204" pitchFamily="34" charset="-122"/>
              <a:ea typeface="微软雅黑" panose="020B0503020204020204" pitchFamily="34" charset="-122"/>
            </a:endParaRPr>
          </a:p>
        </p:txBody>
      </p:sp>
      <p:sp>
        <p:nvSpPr>
          <p:cNvPr id="56" name="TextBox 55"/>
          <p:cNvSpPr txBox="1"/>
          <p:nvPr/>
        </p:nvSpPr>
        <p:spPr>
          <a:xfrm>
            <a:off x="140263" y="106179"/>
            <a:ext cx="1064260" cy="400103"/>
          </a:xfrm>
          <a:prstGeom prst="rect">
            <a:avLst/>
          </a:prstGeom>
          <a:noFill/>
        </p:spPr>
        <p:txBody>
          <a:bodyPr wrap="square" lIns="91434" tIns="45717" rIns="91434" bIns="45717" rtlCol="0">
            <a:spAutoFit/>
          </a:bodyPr>
          <a:lstStyle/>
          <a:p>
            <a:pPr algn="r"/>
            <a:r>
              <a:rPr lang="en-US" altLang="zh-CN" sz="2000" dirty="0">
                <a:solidFill>
                  <a:schemeClr val="accent2"/>
                </a:solidFill>
              </a:rPr>
              <a:t>Part </a:t>
            </a:r>
            <a:r>
              <a:rPr lang="en-US" altLang="zh-CN" dirty="0">
                <a:solidFill>
                  <a:schemeClr val="accent2"/>
                </a:solidFill>
              </a:rPr>
              <a:t>3</a:t>
            </a:r>
            <a:r>
              <a:rPr lang="en-US" altLang="zh-CN" dirty="0" smtClean="0">
                <a:solidFill>
                  <a:schemeClr val="accent2"/>
                </a:solidFill>
              </a:rPr>
              <a:t> </a:t>
            </a:r>
            <a:endParaRPr lang="zh-CN" altLang="en-US" dirty="0">
              <a:solidFill>
                <a:schemeClr val="accent2"/>
              </a:solidFill>
            </a:endParaRPr>
          </a:p>
        </p:txBody>
      </p:sp>
      <p:sp>
        <p:nvSpPr>
          <p:cNvPr id="2" name="矩形 1"/>
          <p:cNvSpPr/>
          <p:nvPr/>
        </p:nvSpPr>
        <p:spPr>
          <a:xfrm>
            <a:off x="1057821" y="626521"/>
            <a:ext cx="1963999" cy="461665"/>
          </a:xfrm>
          <a:prstGeom prst="rect">
            <a:avLst/>
          </a:prstGeom>
        </p:spPr>
        <p:txBody>
          <a:bodyPr wrap="none">
            <a:spAutoFit/>
          </a:bodyPr>
          <a:lstStyle/>
          <a:p>
            <a:r>
              <a:rPr lang="en-US" altLang="zh-CN" sz="2400" b="1" dirty="0" smtClean="0"/>
              <a:t>8. </a:t>
            </a:r>
            <a:r>
              <a:rPr lang="en-US" altLang="zh-CN" sz="2400" b="1" dirty="0" err="1"/>
              <a:t>to_excel</a:t>
            </a:r>
            <a:r>
              <a:rPr lang="en-US" altLang="zh-CN" sz="2400" b="1" dirty="0" smtClean="0"/>
              <a:t>()</a:t>
            </a:r>
            <a:endParaRPr lang="zh-CN" altLang="zh-CN" sz="2400" dirty="0"/>
          </a:p>
        </p:txBody>
      </p:sp>
      <p:sp>
        <p:nvSpPr>
          <p:cNvPr id="4" name="矩形 3"/>
          <p:cNvSpPr/>
          <p:nvPr/>
        </p:nvSpPr>
        <p:spPr>
          <a:xfrm>
            <a:off x="1057821" y="1088186"/>
            <a:ext cx="8087767" cy="1754326"/>
          </a:xfrm>
          <a:prstGeom prst="rect">
            <a:avLst/>
          </a:prstGeom>
        </p:spPr>
        <p:txBody>
          <a:bodyPr wrap="square">
            <a:spAutoFit/>
          </a:bodyPr>
          <a:lstStyle/>
          <a:p>
            <a:r>
              <a:rPr lang="en-US" altLang="zh-CN" dirty="0"/>
              <a:t>Excel</a:t>
            </a:r>
            <a:r>
              <a:rPr lang="zh-CN" altLang="zh-CN" dirty="0"/>
              <a:t>作为常用的数据处理软件，在日常工作中经常用到，通过</a:t>
            </a:r>
            <a:r>
              <a:rPr lang="en-US" altLang="zh-CN" dirty="0" err="1"/>
              <a:t>to_excel</a:t>
            </a:r>
            <a:r>
              <a:rPr lang="en-US" altLang="zh-CN" dirty="0"/>
              <a:t>()</a:t>
            </a:r>
            <a:r>
              <a:rPr lang="zh-CN" altLang="zh-CN" dirty="0"/>
              <a:t>方法，可以将数据框导出到</a:t>
            </a:r>
            <a:r>
              <a:rPr lang="en-US" altLang="zh-CN" dirty="0"/>
              <a:t>Excel</a:t>
            </a:r>
            <a:r>
              <a:rPr lang="zh-CN" altLang="zh-CN" dirty="0"/>
              <a:t>文件中，比如将前面定义的</a:t>
            </a:r>
            <a:r>
              <a:rPr lang="en-US" altLang="zh-CN" dirty="0"/>
              <a:t>D</a:t>
            </a:r>
            <a:r>
              <a:rPr lang="zh-CN" altLang="zh-CN" dirty="0"/>
              <a:t>和</a:t>
            </a:r>
            <a:r>
              <a:rPr lang="en-US" altLang="zh-CN" dirty="0"/>
              <a:t>G</a:t>
            </a:r>
            <a:r>
              <a:rPr lang="zh-CN" altLang="zh-CN" dirty="0"/>
              <a:t>两个数据框导出到</a:t>
            </a:r>
            <a:r>
              <a:rPr lang="en-US" altLang="zh-CN" dirty="0"/>
              <a:t>Excel</a:t>
            </a:r>
            <a:r>
              <a:rPr lang="zh-CN" altLang="zh-CN" dirty="0"/>
              <a:t>文件中。示例代码如下：</a:t>
            </a:r>
          </a:p>
          <a:p>
            <a:r>
              <a:rPr lang="en-US" altLang="zh-CN" dirty="0" err="1"/>
              <a:t>D.to_excel</a:t>
            </a:r>
            <a:r>
              <a:rPr lang="en-US" altLang="zh-CN" dirty="0"/>
              <a:t>('D.xlsx')</a:t>
            </a:r>
            <a:endParaRPr lang="zh-CN" altLang="zh-CN" dirty="0"/>
          </a:p>
          <a:p>
            <a:r>
              <a:rPr lang="en-US" altLang="zh-CN" dirty="0" err="1"/>
              <a:t>G.to_excel</a:t>
            </a:r>
            <a:r>
              <a:rPr lang="en-US" altLang="zh-CN" dirty="0"/>
              <a:t>('G.xlsx</a:t>
            </a:r>
            <a:r>
              <a:rPr lang="en-US" altLang="zh-CN" dirty="0" smtClean="0"/>
              <a:t>')</a:t>
            </a:r>
          </a:p>
          <a:p>
            <a:r>
              <a:rPr lang="zh-CN" altLang="zh-CN" dirty="0"/>
              <a:t>执行结果如图</a:t>
            </a:r>
            <a:r>
              <a:rPr lang="en-US" altLang="zh-CN" dirty="0"/>
              <a:t>3-16</a:t>
            </a:r>
            <a:r>
              <a:rPr lang="zh-CN" altLang="zh-CN" dirty="0"/>
              <a:t>所</a:t>
            </a:r>
            <a:r>
              <a:rPr lang="zh-CN" altLang="zh-CN" dirty="0" smtClean="0"/>
              <a:t>示</a:t>
            </a:r>
            <a:endParaRPr lang="zh-CN" altLang="zh-CN" dirty="0"/>
          </a:p>
        </p:txBody>
      </p:sp>
      <p:pic>
        <p:nvPicPr>
          <p:cNvPr id="10" name="图片 9"/>
          <p:cNvPicPr/>
          <p:nvPr/>
        </p:nvPicPr>
        <p:blipFill>
          <a:blip r:embed="rId3" cstate="print"/>
          <a:stretch>
            <a:fillRect/>
          </a:stretch>
        </p:blipFill>
        <p:spPr>
          <a:xfrm>
            <a:off x="3650110" y="2204864"/>
            <a:ext cx="3524280" cy="2520279"/>
          </a:xfrm>
          <a:prstGeom prst="rect">
            <a:avLst/>
          </a:prstGeom>
        </p:spPr>
      </p:pic>
      <p:pic>
        <p:nvPicPr>
          <p:cNvPr id="11" name="图片 10"/>
          <p:cNvPicPr/>
          <p:nvPr/>
        </p:nvPicPr>
        <p:blipFill>
          <a:blip r:embed="rId4" cstate="print"/>
          <a:stretch>
            <a:fillRect/>
          </a:stretch>
        </p:blipFill>
        <p:spPr>
          <a:xfrm>
            <a:off x="7187267" y="2204863"/>
            <a:ext cx="3951674" cy="2520279"/>
          </a:xfrm>
          <a:prstGeom prst="rect">
            <a:avLst/>
          </a:prstGeom>
        </p:spPr>
      </p:pic>
      <p:sp>
        <p:nvSpPr>
          <p:cNvPr id="6" name="矩形 5"/>
          <p:cNvSpPr/>
          <p:nvPr/>
        </p:nvSpPr>
        <p:spPr>
          <a:xfrm>
            <a:off x="6536169" y="4725144"/>
            <a:ext cx="877163" cy="369332"/>
          </a:xfrm>
          <a:prstGeom prst="rect">
            <a:avLst/>
          </a:prstGeom>
        </p:spPr>
        <p:txBody>
          <a:bodyPr wrap="none">
            <a:spAutoFit/>
          </a:bodyPr>
          <a:lstStyle/>
          <a:p>
            <a:r>
              <a:rPr lang="zh-CN" altLang="zh-CN" dirty="0"/>
              <a:t>图</a:t>
            </a:r>
            <a:r>
              <a:rPr lang="en-US" altLang="zh-CN" dirty="0"/>
              <a:t>3-16</a:t>
            </a:r>
            <a:endParaRPr lang="zh-CN" altLang="zh-CN" dirty="0"/>
          </a:p>
        </p:txBody>
      </p:sp>
    </p:spTree>
  </p:cSld>
  <p:clrMapOvr>
    <a:masterClrMapping/>
  </p:clrMapOvr>
  <mc:AlternateContent xmlns:mc="http://schemas.openxmlformats.org/markup-compatibility/2006" xmlns:p14="http://schemas.microsoft.com/office/powerpoint/2010/main">
    <mc:Choice Requires="p14">
      <p:transition p14:dur="10" advTm="9437"/>
    </mc:Choice>
    <mc:Fallback xmlns="">
      <p:transition advTm="9437"/>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Box 54"/>
          <p:cNvSpPr txBox="1"/>
          <p:nvPr/>
        </p:nvSpPr>
        <p:spPr>
          <a:xfrm>
            <a:off x="1330765" y="44625"/>
            <a:ext cx="7719943" cy="523214"/>
          </a:xfrm>
          <a:prstGeom prst="rect">
            <a:avLst/>
          </a:prstGeom>
          <a:noFill/>
        </p:spPr>
        <p:txBody>
          <a:bodyPr wrap="square" lIns="91434" tIns="45717" rIns="91434" bIns="45717"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r>
              <a:rPr lang="en-US" altLang="zh-CN" sz="2800" dirty="0" smtClean="0">
                <a:solidFill>
                  <a:schemeClr val="accent2"/>
                </a:solidFill>
                <a:latin typeface="微软雅黑" panose="020B0503020204020204" pitchFamily="34" charset="-122"/>
                <a:ea typeface="微软雅黑" panose="020B0503020204020204" pitchFamily="34" charset="-122"/>
              </a:rPr>
              <a:t>3.3.3</a:t>
            </a:r>
            <a:r>
              <a:rPr lang="zh-CN" altLang="en-US" sz="2800" dirty="0" smtClean="0">
                <a:solidFill>
                  <a:schemeClr val="accent2"/>
                </a:solidFill>
                <a:latin typeface="微软雅黑" panose="020B0503020204020204" pitchFamily="34" charset="-122"/>
                <a:ea typeface="微软雅黑" panose="020B0503020204020204" pitchFamily="34" charset="-122"/>
              </a:rPr>
              <a:t>数据框方法</a:t>
            </a:r>
            <a:r>
              <a:rPr lang="en-US" altLang="zh-CN" sz="2800" dirty="0" smtClean="0">
                <a:solidFill>
                  <a:schemeClr val="accent2"/>
                </a:solidFill>
                <a:latin typeface="微软雅黑" panose="020B0503020204020204" pitchFamily="34" charset="-122"/>
                <a:ea typeface="微软雅黑" panose="020B0503020204020204" pitchFamily="34" charset="-122"/>
              </a:rPr>
              <a:t>—</a:t>
            </a:r>
            <a:r>
              <a:rPr lang="zh-CN" altLang="en-US" sz="2800" dirty="0" smtClean="0">
                <a:solidFill>
                  <a:schemeClr val="accent2"/>
                </a:solidFill>
                <a:latin typeface="微软雅黑" panose="020B0503020204020204" pitchFamily="34" charset="-122"/>
                <a:ea typeface="微软雅黑" panose="020B0503020204020204" pitchFamily="34" charset="-122"/>
              </a:rPr>
              <a:t>描述统计</a:t>
            </a:r>
            <a:endParaRPr lang="zh-CN" altLang="en-US" sz="2800" dirty="0">
              <a:solidFill>
                <a:schemeClr val="accent2"/>
              </a:solidFill>
              <a:latin typeface="微软雅黑" panose="020B0503020204020204" pitchFamily="34" charset="-122"/>
              <a:ea typeface="微软雅黑" panose="020B0503020204020204" pitchFamily="34" charset="-122"/>
            </a:endParaRPr>
          </a:p>
        </p:txBody>
      </p:sp>
      <p:sp>
        <p:nvSpPr>
          <p:cNvPr id="56" name="TextBox 55"/>
          <p:cNvSpPr txBox="1"/>
          <p:nvPr/>
        </p:nvSpPr>
        <p:spPr>
          <a:xfrm>
            <a:off x="140263" y="106179"/>
            <a:ext cx="1064260" cy="400103"/>
          </a:xfrm>
          <a:prstGeom prst="rect">
            <a:avLst/>
          </a:prstGeom>
          <a:noFill/>
        </p:spPr>
        <p:txBody>
          <a:bodyPr wrap="square" lIns="91434" tIns="45717" rIns="91434" bIns="45717" rtlCol="0">
            <a:spAutoFit/>
          </a:bodyPr>
          <a:lstStyle/>
          <a:p>
            <a:pPr algn="r"/>
            <a:r>
              <a:rPr lang="en-US" altLang="zh-CN" sz="2000" dirty="0">
                <a:solidFill>
                  <a:schemeClr val="accent2"/>
                </a:solidFill>
              </a:rPr>
              <a:t>Part </a:t>
            </a:r>
            <a:r>
              <a:rPr lang="en-US" altLang="zh-CN" dirty="0">
                <a:solidFill>
                  <a:schemeClr val="accent2"/>
                </a:solidFill>
              </a:rPr>
              <a:t>3</a:t>
            </a:r>
            <a:r>
              <a:rPr lang="en-US" altLang="zh-CN" dirty="0" smtClean="0">
                <a:solidFill>
                  <a:schemeClr val="accent2"/>
                </a:solidFill>
              </a:rPr>
              <a:t> </a:t>
            </a:r>
            <a:endParaRPr lang="zh-CN" altLang="en-US" dirty="0">
              <a:solidFill>
                <a:schemeClr val="accent2"/>
              </a:solidFill>
            </a:endParaRPr>
          </a:p>
        </p:txBody>
      </p:sp>
      <p:sp>
        <p:nvSpPr>
          <p:cNvPr id="2" name="矩形 1"/>
          <p:cNvSpPr/>
          <p:nvPr/>
        </p:nvSpPr>
        <p:spPr>
          <a:xfrm>
            <a:off x="1057821" y="626521"/>
            <a:ext cx="1763624" cy="461665"/>
          </a:xfrm>
          <a:prstGeom prst="rect">
            <a:avLst/>
          </a:prstGeom>
        </p:spPr>
        <p:txBody>
          <a:bodyPr wrap="none">
            <a:spAutoFit/>
          </a:bodyPr>
          <a:lstStyle/>
          <a:p>
            <a:r>
              <a:rPr lang="en-US" altLang="zh-CN" sz="2400" b="1" dirty="0" smtClean="0"/>
              <a:t>9. </a:t>
            </a:r>
            <a:r>
              <a:rPr lang="zh-CN" altLang="zh-CN" sz="2400" b="1" dirty="0"/>
              <a:t>统计方法</a:t>
            </a:r>
            <a:endParaRPr lang="zh-CN" altLang="zh-CN" sz="2400" dirty="0"/>
          </a:p>
        </p:txBody>
      </p:sp>
      <p:sp>
        <p:nvSpPr>
          <p:cNvPr id="3" name="矩形 2"/>
          <p:cNvSpPr/>
          <p:nvPr/>
        </p:nvSpPr>
        <p:spPr>
          <a:xfrm>
            <a:off x="1204523" y="1088186"/>
            <a:ext cx="7941065" cy="2031325"/>
          </a:xfrm>
          <a:prstGeom prst="rect">
            <a:avLst/>
          </a:prstGeom>
        </p:spPr>
        <p:txBody>
          <a:bodyPr wrap="square">
            <a:spAutoFit/>
          </a:bodyPr>
          <a:lstStyle/>
          <a:p>
            <a:r>
              <a:rPr lang="zh-CN" altLang="zh-CN" dirty="0"/>
              <a:t>可以对数据框中各列求和、求平均值或者进行描述性统计，以前面定义的</a:t>
            </a:r>
            <a:r>
              <a:rPr lang="en-US" altLang="zh-CN" dirty="0"/>
              <a:t>Df4</a:t>
            </a:r>
            <a:r>
              <a:rPr lang="zh-CN" altLang="zh-CN" dirty="0"/>
              <a:t>为例，示例代码如下：</a:t>
            </a:r>
          </a:p>
          <a:p>
            <a:r>
              <a:rPr lang="en-US" altLang="zh-CN" dirty="0" err="1"/>
              <a:t>Dt</a:t>
            </a:r>
            <a:r>
              <a:rPr lang="en-US" altLang="zh-CN" dirty="0"/>
              <a:t>=Df4.drop('</a:t>
            </a:r>
            <a:r>
              <a:rPr lang="en-US" altLang="zh-CN" dirty="0" err="1"/>
              <a:t>b',axis</a:t>
            </a:r>
            <a:r>
              <a:rPr lang="en-US" altLang="zh-CN" dirty="0"/>
              <a:t>=1)   #Df4</a:t>
            </a:r>
            <a:r>
              <a:rPr lang="zh-CN" altLang="zh-CN" dirty="0"/>
              <a:t>中删除</a:t>
            </a:r>
            <a:r>
              <a:rPr lang="en-US" altLang="zh-CN" dirty="0"/>
              <a:t>b</a:t>
            </a:r>
            <a:r>
              <a:rPr lang="zh-CN" altLang="zh-CN" dirty="0"/>
              <a:t>列</a:t>
            </a:r>
          </a:p>
          <a:p>
            <a:r>
              <a:rPr lang="en-US" altLang="zh-CN" dirty="0"/>
              <a:t>R1=</a:t>
            </a:r>
            <a:r>
              <a:rPr lang="en-US" altLang="zh-CN" dirty="0" err="1"/>
              <a:t>Dt.sum</a:t>
            </a:r>
            <a:r>
              <a:rPr lang="en-US" altLang="zh-CN" dirty="0"/>
              <a:t>()           #</a:t>
            </a:r>
            <a:r>
              <a:rPr lang="zh-CN" altLang="zh-CN" dirty="0"/>
              <a:t>各列求和</a:t>
            </a:r>
          </a:p>
          <a:p>
            <a:r>
              <a:rPr lang="en-US" altLang="zh-CN" dirty="0"/>
              <a:t>R2=</a:t>
            </a:r>
            <a:r>
              <a:rPr lang="en-US" altLang="zh-CN" dirty="0" err="1"/>
              <a:t>Dt.mean</a:t>
            </a:r>
            <a:r>
              <a:rPr lang="en-US" altLang="zh-CN" dirty="0"/>
              <a:t>()      #</a:t>
            </a:r>
            <a:r>
              <a:rPr lang="zh-CN" altLang="zh-CN" dirty="0"/>
              <a:t>各列求平均值</a:t>
            </a:r>
          </a:p>
          <a:p>
            <a:r>
              <a:rPr lang="en-US" altLang="zh-CN" dirty="0"/>
              <a:t>R3=</a:t>
            </a:r>
            <a:r>
              <a:rPr lang="en-US" altLang="zh-CN" dirty="0" err="1"/>
              <a:t>Dt.describe</a:t>
            </a:r>
            <a:r>
              <a:rPr lang="en-US" altLang="zh-CN" dirty="0"/>
              <a:t>()   #</a:t>
            </a:r>
            <a:r>
              <a:rPr lang="zh-CN" altLang="zh-CN" dirty="0"/>
              <a:t>各列做描述性统计</a:t>
            </a:r>
          </a:p>
          <a:p>
            <a:r>
              <a:rPr lang="zh-CN" altLang="zh-CN" dirty="0"/>
              <a:t>结果如图</a:t>
            </a:r>
            <a:r>
              <a:rPr lang="en-US" altLang="zh-CN" dirty="0"/>
              <a:t>3-17</a:t>
            </a:r>
            <a:r>
              <a:rPr lang="zh-CN" altLang="zh-CN" dirty="0"/>
              <a:t>所示。</a:t>
            </a:r>
          </a:p>
        </p:txBody>
      </p:sp>
      <p:pic>
        <p:nvPicPr>
          <p:cNvPr id="12" name="图片 11"/>
          <p:cNvPicPr/>
          <p:nvPr/>
        </p:nvPicPr>
        <p:blipFill>
          <a:blip r:embed="rId3" cstate="print"/>
          <a:stretch>
            <a:fillRect/>
          </a:stretch>
        </p:blipFill>
        <p:spPr>
          <a:xfrm>
            <a:off x="5954365" y="1575738"/>
            <a:ext cx="5760640" cy="3644900"/>
          </a:xfrm>
          <a:prstGeom prst="rect">
            <a:avLst/>
          </a:prstGeom>
        </p:spPr>
      </p:pic>
      <p:sp>
        <p:nvSpPr>
          <p:cNvPr id="5" name="矩形 4"/>
          <p:cNvSpPr/>
          <p:nvPr/>
        </p:nvSpPr>
        <p:spPr>
          <a:xfrm>
            <a:off x="8470418" y="5220638"/>
            <a:ext cx="877163" cy="369332"/>
          </a:xfrm>
          <a:prstGeom prst="rect">
            <a:avLst/>
          </a:prstGeom>
        </p:spPr>
        <p:txBody>
          <a:bodyPr wrap="none">
            <a:spAutoFit/>
          </a:bodyPr>
          <a:lstStyle/>
          <a:p>
            <a:r>
              <a:rPr lang="zh-CN" altLang="zh-CN" dirty="0"/>
              <a:t>图</a:t>
            </a:r>
            <a:r>
              <a:rPr lang="en-US" altLang="zh-CN" dirty="0"/>
              <a:t>3-17</a:t>
            </a:r>
            <a:endParaRPr lang="zh-CN" altLang="zh-CN" dirty="0"/>
          </a:p>
        </p:txBody>
      </p:sp>
    </p:spTree>
  </p:cSld>
  <p:clrMapOvr>
    <a:masterClrMapping/>
  </p:clrMapOvr>
  <mc:AlternateContent xmlns:mc="http://schemas.openxmlformats.org/markup-compatibility/2006" xmlns:p14="http://schemas.microsoft.com/office/powerpoint/2010/main">
    <mc:Choice Requires="p14">
      <p:transition p14:dur="10" advTm="9437"/>
    </mc:Choice>
    <mc:Fallback xmlns="">
      <p:transition advTm="9437"/>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Box 54"/>
          <p:cNvSpPr txBox="1"/>
          <p:nvPr/>
        </p:nvSpPr>
        <p:spPr>
          <a:xfrm>
            <a:off x="1330765" y="44625"/>
            <a:ext cx="7719943" cy="523214"/>
          </a:xfrm>
          <a:prstGeom prst="rect">
            <a:avLst/>
          </a:prstGeom>
          <a:noFill/>
        </p:spPr>
        <p:txBody>
          <a:bodyPr wrap="square" lIns="91434" tIns="45717" rIns="91434" bIns="45717"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r>
              <a:rPr lang="en-US" altLang="zh-CN" sz="2800" dirty="0" smtClean="0">
                <a:solidFill>
                  <a:schemeClr val="accent2"/>
                </a:solidFill>
                <a:latin typeface="微软雅黑" panose="020B0503020204020204" pitchFamily="34" charset="-122"/>
                <a:ea typeface="微软雅黑" panose="020B0503020204020204" pitchFamily="34" charset="-122"/>
              </a:rPr>
              <a:t>3.3.4</a:t>
            </a:r>
            <a:r>
              <a:rPr lang="zh-CN" altLang="en-US" sz="2800" dirty="0" smtClean="0">
                <a:solidFill>
                  <a:schemeClr val="accent2"/>
                </a:solidFill>
                <a:latin typeface="微软雅黑" panose="020B0503020204020204" pitchFamily="34" charset="-122"/>
                <a:ea typeface="微软雅黑" panose="020B0503020204020204" pitchFamily="34" charset="-122"/>
              </a:rPr>
              <a:t>数据框切片</a:t>
            </a:r>
            <a:endParaRPr lang="zh-CN" altLang="en-US" sz="2800" dirty="0">
              <a:solidFill>
                <a:schemeClr val="accent2"/>
              </a:solidFill>
              <a:latin typeface="微软雅黑" panose="020B0503020204020204" pitchFamily="34" charset="-122"/>
              <a:ea typeface="微软雅黑" panose="020B0503020204020204" pitchFamily="34" charset="-122"/>
            </a:endParaRPr>
          </a:p>
        </p:txBody>
      </p:sp>
      <p:sp>
        <p:nvSpPr>
          <p:cNvPr id="56" name="TextBox 55"/>
          <p:cNvSpPr txBox="1"/>
          <p:nvPr/>
        </p:nvSpPr>
        <p:spPr>
          <a:xfrm>
            <a:off x="140263" y="106179"/>
            <a:ext cx="1064260" cy="400103"/>
          </a:xfrm>
          <a:prstGeom prst="rect">
            <a:avLst/>
          </a:prstGeom>
          <a:noFill/>
        </p:spPr>
        <p:txBody>
          <a:bodyPr wrap="square" lIns="91434" tIns="45717" rIns="91434" bIns="45717" rtlCol="0">
            <a:spAutoFit/>
          </a:bodyPr>
          <a:lstStyle/>
          <a:p>
            <a:pPr algn="r"/>
            <a:r>
              <a:rPr lang="en-US" altLang="zh-CN" sz="2000" dirty="0">
                <a:solidFill>
                  <a:schemeClr val="accent2"/>
                </a:solidFill>
              </a:rPr>
              <a:t>Part </a:t>
            </a:r>
            <a:r>
              <a:rPr lang="en-US" altLang="zh-CN" dirty="0">
                <a:solidFill>
                  <a:schemeClr val="accent2"/>
                </a:solidFill>
              </a:rPr>
              <a:t>3</a:t>
            </a:r>
            <a:r>
              <a:rPr lang="en-US" altLang="zh-CN" dirty="0" smtClean="0">
                <a:solidFill>
                  <a:schemeClr val="accent2"/>
                </a:solidFill>
              </a:rPr>
              <a:t> </a:t>
            </a:r>
            <a:endParaRPr lang="zh-CN" altLang="en-US" dirty="0">
              <a:solidFill>
                <a:schemeClr val="accent2"/>
              </a:solidFill>
            </a:endParaRPr>
          </a:p>
        </p:txBody>
      </p:sp>
      <p:sp>
        <p:nvSpPr>
          <p:cNvPr id="8" name="矩形 7"/>
          <p:cNvSpPr/>
          <p:nvPr/>
        </p:nvSpPr>
        <p:spPr>
          <a:xfrm>
            <a:off x="913805" y="692696"/>
            <a:ext cx="10369152" cy="4985980"/>
          </a:xfrm>
          <a:prstGeom prst="rect">
            <a:avLst/>
          </a:prstGeom>
        </p:spPr>
        <p:txBody>
          <a:bodyPr wrap="square">
            <a:spAutoFit/>
          </a:bodyPr>
          <a:lstStyle/>
          <a:p>
            <a:r>
              <a:rPr lang="en-US" altLang="zh-CN" sz="2000" b="1" dirty="0" smtClean="0"/>
              <a:t> </a:t>
            </a:r>
            <a:r>
              <a:rPr lang="zh-CN" altLang="zh-CN" sz="2000" b="1" dirty="0"/>
              <a:t>利用数据框中的</a:t>
            </a:r>
            <a:r>
              <a:rPr lang="en-US" altLang="zh-CN" sz="2000" b="1" dirty="0" err="1"/>
              <a:t>iloc</a:t>
            </a:r>
            <a:r>
              <a:rPr lang="zh-CN" altLang="zh-CN" sz="2000" b="1" dirty="0"/>
              <a:t>属性进行切片</a:t>
            </a:r>
            <a:endParaRPr lang="zh-CN" altLang="zh-CN" sz="2000" dirty="0"/>
          </a:p>
          <a:p>
            <a:r>
              <a:rPr lang="zh-CN" altLang="zh-CN" sz="2000" dirty="0"/>
              <a:t>与数组切片类似，利用数据框中的</a:t>
            </a:r>
            <a:r>
              <a:rPr lang="en-US" altLang="zh-CN" sz="2000" dirty="0" err="1"/>
              <a:t>iloc</a:t>
            </a:r>
            <a:r>
              <a:rPr lang="zh-CN" altLang="zh-CN" sz="2000" dirty="0"/>
              <a:t>属性可以实现下标值或者逻辑值定位索引，并进行切片操作。假设</a:t>
            </a:r>
            <a:r>
              <a:rPr lang="en-US" altLang="zh-CN" sz="2000" dirty="0"/>
              <a:t>DF</a:t>
            </a:r>
            <a:r>
              <a:rPr lang="zh-CN" altLang="zh-CN" sz="2000" dirty="0"/>
              <a:t>为待访问或切片的数据框，则访问或者切片的数据</a:t>
            </a:r>
            <a:r>
              <a:rPr lang="en-US" altLang="zh-CN" sz="2000" dirty="0"/>
              <a:t>=</a:t>
            </a:r>
            <a:r>
              <a:rPr lang="en-US" altLang="zh-CN" sz="2000" dirty="0" err="1"/>
              <a:t>DF.iloc</a:t>
            </a:r>
            <a:r>
              <a:rPr lang="en-US" altLang="zh-CN" sz="2000" dirty="0"/>
              <a:t>[</a:t>
            </a:r>
            <a:r>
              <a:rPr lang="zh-CN" altLang="zh-CN" sz="2000" dirty="0"/>
              <a:t>①</a:t>
            </a:r>
            <a:r>
              <a:rPr lang="en-US" altLang="zh-CN" sz="2000" dirty="0"/>
              <a:t>,</a:t>
            </a:r>
            <a:r>
              <a:rPr lang="zh-CN" altLang="zh-CN" sz="2000" dirty="0"/>
              <a:t>②</a:t>
            </a:r>
            <a:r>
              <a:rPr lang="en-US" altLang="zh-CN" sz="2000" dirty="0"/>
              <a:t>]</a:t>
            </a:r>
            <a:r>
              <a:rPr lang="zh-CN" altLang="zh-CN" sz="2000" dirty="0"/>
              <a:t>。其中①为对</a:t>
            </a:r>
            <a:r>
              <a:rPr lang="en-US" altLang="zh-CN" sz="2000" dirty="0"/>
              <a:t>DF</a:t>
            </a:r>
            <a:r>
              <a:rPr lang="zh-CN" altLang="zh-CN" sz="2000" dirty="0"/>
              <a:t>的行下标控制，②为对</a:t>
            </a:r>
            <a:r>
              <a:rPr lang="en-US" altLang="zh-CN" sz="2000" dirty="0"/>
              <a:t>DF</a:t>
            </a:r>
            <a:r>
              <a:rPr lang="zh-CN" altLang="zh-CN" sz="2000" dirty="0"/>
              <a:t>的列下标控制，行和列下标控制通过数值列表来实现，但是需要注意的是列表中的元素不能超出</a:t>
            </a:r>
            <a:r>
              <a:rPr lang="en-US" altLang="zh-CN" sz="2000" dirty="0"/>
              <a:t>DF</a:t>
            </a:r>
            <a:r>
              <a:rPr lang="zh-CN" altLang="zh-CN" sz="2000" dirty="0"/>
              <a:t>中的最大行数和最大列数。为了更灵活地操作数据，取所有的行或者列，可以用“：”来代替实现。同时，行控制还可以通过逻辑列表来实现。以</a:t>
            </a:r>
            <a:r>
              <a:rPr lang="en-US" altLang="zh-CN" sz="2000" dirty="0"/>
              <a:t>3.3.3</a:t>
            </a:r>
            <a:r>
              <a:rPr lang="zh-CN" altLang="zh-CN" sz="2000" dirty="0"/>
              <a:t>中定义的</a:t>
            </a:r>
            <a:r>
              <a:rPr lang="en-US" altLang="zh-CN" sz="2000" dirty="0"/>
              <a:t>df2</a:t>
            </a:r>
            <a:r>
              <a:rPr lang="zh-CN" altLang="zh-CN" sz="2000" dirty="0"/>
              <a:t>为例，示例代码如下</a:t>
            </a:r>
            <a:r>
              <a:rPr lang="zh-CN" altLang="zh-CN" sz="2000" dirty="0" smtClean="0"/>
              <a:t>：</a:t>
            </a:r>
            <a:endParaRPr lang="en-US" altLang="zh-CN" sz="2000" dirty="0" smtClean="0"/>
          </a:p>
          <a:p>
            <a:r>
              <a:rPr lang="en-US" altLang="zh-CN" sz="2000" dirty="0" smtClean="0"/>
              <a:t># </a:t>
            </a:r>
            <a:r>
              <a:rPr lang="en-US" altLang="zh-CN" sz="2000" dirty="0" err="1"/>
              <a:t>iloc</a:t>
            </a:r>
            <a:r>
              <a:rPr lang="en-US" altLang="zh-CN" sz="2000" dirty="0"/>
              <a:t> for positional indexing</a:t>
            </a:r>
            <a:endParaRPr lang="zh-CN" altLang="zh-CN" sz="2000" dirty="0"/>
          </a:p>
          <a:p>
            <a:r>
              <a:rPr lang="en-US" altLang="zh-CN" sz="2000" dirty="0"/>
              <a:t>c3=df2.iloc[1:3,2]</a:t>
            </a:r>
            <a:endParaRPr lang="zh-CN" altLang="zh-CN" sz="2000" dirty="0"/>
          </a:p>
          <a:p>
            <a:r>
              <a:rPr lang="en-US" altLang="zh-CN" sz="2000" dirty="0"/>
              <a:t>c4=df2.iloc[1:3,0:2]</a:t>
            </a:r>
            <a:endParaRPr lang="zh-CN" altLang="zh-CN" sz="2000" dirty="0"/>
          </a:p>
          <a:p>
            <a:r>
              <a:rPr lang="en-US" altLang="zh-CN" sz="2000" dirty="0"/>
              <a:t>c5=df2.iloc[1:3,:]</a:t>
            </a:r>
            <a:endParaRPr lang="zh-CN" altLang="zh-CN" sz="2000" dirty="0"/>
          </a:p>
          <a:p>
            <a:r>
              <a:rPr lang="en-US" altLang="zh-CN" sz="2000" dirty="0"/>
              <a:t>c6=df2.iloc[[0,2,3],[1,2]]</a:t>
            </a:r>
            <a:endParaRPr lang="zh-CN" altLang="zh-CN" sz="2000" dirty="0"/>
          </a:p>
          <a:p>
            <a:r>
              <a:rPr lang="en-US" altLang="zh-CN" sz="2000" dirty="0"/>
              <a:t>TF=[</a:t>
            </a:r>
            <a:r>
              <a:rPr lang="en-US" altLang="zh-CN" sz="2000" dirty="0" err="1"/>
              <a:t>True,False,False,True,True</a:t>
            </a:r>
            <a:r>
              <a:rPr lang="en-US" altLang="zh-CN" sz="2000" dirty="0"/>
              <a:t>]</a:t>
            </a:r>
            <a:endParaRPr lang="zh-CN" altLang="zh-CN" sz="2000" dirty="0"/>
          </a:p>
          <a:p>
            <a:r>
              <a:rPr lang="en-US" altLang="zh-CN" sz="2000" dirty="0"/>
              <a:t>c7=df2.iloc[TF,[1]]</a:t>
            </a:r>
            <a:endParaRPr lang="zh-CN" altLang="zh-CN" sz="2000" dirty="0"/>
          </a:p>
          <a:p>
            <a:r>
              <a:rPr lang="zh-CN" altLang="zh-CN" sz="2000" dirty="0"/>
              <a:t>执行结果如图</a:t>
            </a:r>
            <a:r>
              <a:rPr lang="en-US" altLang="zh-CN" sz="2000" dirty="0"/>
              <a:t>3-18</a:t>
            </a:r>
            <a:r>
              <a:rPr lang="zh-CN" altLang="zh-CN" sz="2000" dirty="0"/>
              <a:t>所示。</a:t>
            </a:r>
          </a:p>
          <a:p>
            <a:endParaRPr lang="zh-CN" altLang="zh-CN" dirty="0"/>
          </a:p>
        </p:txBody>
      </p:sp>
    </p:spTree>
  </p:cSld>
  <p:clrMapOvr>
    <a:masterClrMapping/>
  </p:clrMapOvr>
  <mc:AlternateContent xmlns:mc="http://schemas.openxmlformats.org/markup-compatibility/2006" xmlns:p14="http://schemas.microsoft.com/office/powerpoint/2010/main">
    <mc:Choice Requires="p14">
      <p:transition p14:dur="10" advTm="9437"/>
    </mc:Choice>
    <mc:Fallback xmlns="">
      <p:transition advTm="9437"/>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Box 54"/>
          <p:cNvSpPr txBox="1"/>
          <p:nvPr/>
        </p:nvSpPr>
        <p:spPr>
          <a:xfrm>
            <a:off x="1330765" y="44625"/>
            <a:ext cx="7719943" cy="520700"/>
          </a:xfrm>
          <a:prstGeom prst="rect">
            <a:avLst/>
          </a:prstGeom>
          <a:noFill/>
        </p:spPr>
        <p:txBody>
          <a:bodyPr wrap="square" lIns="91434" tIns="45717" rIns="91434" bIns="45717"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r>
              <a:rPr lang="en-US" altLang="zh-CN" sz="2800" dirty="0" smtClean="0">
                <a:solidFill>
                  <a:schemeClr val="accent2"/>
                </a:solidFill>
                <a:latin typeface="微软雅黑" panose="020B0503020204020204" pitchFamily="34" charset="-122"/>
                <a:ea typeface="微软雅黑" panose="020B0503020204020204" pitchFamily="34" charset="-122"/>
              </a:rPr>
              <a:t>3.3.4</a:t>
            </a:r>
            <a:r>
              <a:rPr lang="zh-CN" altLang="en-US" sz="2800" dirty="0" smtClean="0">
                <a:solidFill>
                  <a:schemeClr val="accent2"/>
                </a:solidFill>
                <a:latin typeface="微软雅黑" panose="020B0503020204020204" pitchFamily="34" charset="-122"/>
                <a:ea typeface="微软雅黑" panose="020B0503020204020204" pitchFamily="34" charset="-122"/>
              </a:rPr>
              <a:t>数据框切片</a:t>
            </a:r>
            <a:endParaRPr lang="zh-CN" altLang="en-US" sz="2800" dirty="0">
              <a:solidFill>
                <a:schemeClr val="accent2"/>
              </a:solidFill>
              <a:latin typeface="微软雅黑" panose="020B0503020204020204" pitchFamily="34" charset="-122"/>
              <a:ea typeface="微软雅黑" panose="020B0503020204020204" pitchFamily="34" charset="-122"/>
            </a:endParaRPr>
          </a:p>
        </p:txBody>
      </p:sp>
      <p:sp>
        <p:nvSpPr>
          <p:cNvPr id="56" name="TextBox 55"/>
          <p:cNvSpPr txBox="1"/>
          <p:nvPr/>
        </p:nvSpPr>
        <p:spPr>
          <a:xfrm>
            <a:off x="140263" y="106179"/>
            <a:ext cx="1064260" cy="400103"/>
          </a:xfrm>
          <a:prstGeom prst="rect">
            <a:avLst/>
          </a:prstGeom>
          <a:noFill/>
        </p:spPr>
        <p:txBody>
          <a:bodyPr wrap="square" lIns="91434" tIns="45717" rIns="91434" bIns="45717" rtlCol="0">
            <a:spAutoFit/>
          </a:bodyPr>
          <a:lstStyle/>
          <a:p>
            <a:pPr algn="r"/>
            <a:r>
              <a:rPr lang="en-US" altLang="zh-CN" sz="2000" dirty="0">
                <a:solidFill>
                  <a:schemeClr val="accent2"/>
                </a:solidFill>
              </a:rPr>
              <a:t>Part </a:t>
            </a:r>
            <a:r>
              <a:rPr lang="en-US" altLang="zh-CN" dirty="0">
                <a:solidFill>
                  <a:schemeClr val="accent2"/>
                </a:solidFill>
              </a:rPr>
              <a:t>3</a:t>
            </a:r>
            <a:r>
              <a:rPr lang="en-US" altLang="zh-CN" dirty="0" smtClean="0">
                <a:solidFill>
                  <a:schemeClr val="accent2"/>
                </a:solidFill>
              </a:rPr>
              <a:t> </a:t>
            </a:r>
            <a:endParaRPr lang="zh-CN" altLang="en-US" dirty="0">
              <a:solidFill>
                <a:schemeClr val="accent2"/>
              </a:solidFill>
            </a:endParaRPr>
          </a:p>
        </p:txBody>
      </p:sp>
      <p:pic>
        <p:nvPicPr>
          <p:cNvPr id="7" name="图片 6"/>
          <p:cNvPicPr/>
          <p:nvPr/>
        </p:nvPicPr>
        <p:blipFill>
          <a:blip r:embed="rId3" cstate="print"/>
          <a:stretch>
            <a:fillRect/>
          </a:stretch>
        </p:blipFill>
        <p:spPr>
          <a:xfrm>
            <a:off x="1362337" y="764704"/>
            <a:ext cx="8890464" cy="4271268"/>
          </a:xfrm>
          <a:prstGeom prst="rect">
            <a:avLst/>
          </a:prstGeom>
        </p:spPr>
      </p:pic>
      <p:sp>
        <p:nvSpPr>
          <p:cNvPr id="2" name="矩形 1"/>
          <p:cNvSpPr/>
          <p:nvPr/>
        </p:nvSpPr>
        <p:spPr>
          <a:xfrm>
            <a:off x="5250282" y="5035972"/>
            <a:ext cx="877163" cy="369332"/>
          </a:xfrm>
          <a:prstGeom prst="rect">
            <a:avLst/>
          </a:prstGeom>
        </p:spPr>
        <p:txBody>
          <a:bodyPr wrap="none">
            <a:spAutoFit/>
          </a:bodyPr>
          <a:lstStyle/>
          <a:p>
            <a:r>
              <a:rPr lang="zh-CN" altLang="zh-CN" dirty="0"/>
              <a:t>图</a:t>
            </a:r>
            <a:r>
              <a:rPr lang="en-US" altLang="zh-CN" dirty="0"/>
              <a:t>3-18</a:t>
            </a:r>
            <a:endParaRPr lang="zh-CN" altLang="zh-CN" dirty="0"/>
          </a:p>
        </p:txBody>
      </p:sp>
    </p:spTree>
  </p:cSld>
  <p:clrMapOvr>
    <a:masterClrMapping/>
  </p:clrMapOvr>
  <mc:AlternateContent xmlns:mc="http://schemas.openxmlformats.org/markup-compatibility/2006" xmlns:p14="http://schemas.microsoft.com/office/powerpoint/2010/main">
    <mc:Choice Requires="p14">
      <p:transition p14:dur="10" advTm="9437"/>
    </mc:Choice>
    <mc:Fallback xmlns="">
      <p:transition advTm="9437"/>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Box 54"/>
          <p:cNvSpPr txBox="1"/>
          <p:nvPr/>
        </p:nvSpPr>
        <p:spPr>
          <a:xfrm>
            <a:off x="1330765" y="44625"/>
            <a:ext cx="7719943" cy="523214"/>
          </a:xfrm>
          <a:prstGeom prst="rect">
            <a:avLst/>
          </a:prstGeom>
          <a:noFill/>
        </p:spPr>
        <p:txBody>
          <a:bodyPr wrap="square" lIns="91434" tIns="45717" rIns="91434" bIns="45717"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r>
              <a:rPr lang="en-US" altLang="zh-CN" sz="2800" dirty="0" smtClean="0">
                <a:solidFill>
                  <a:schemeClr val="accent2"/>
                </a:solidFill>
                <a:latin typeface="微软雅黑" panose="020B0503020204020204" pitchFamily="34" charset="-122"/>
                <a:ea typeface="微软雅黑" panose="020B0503020204020204" pitchFamily="34" charset="-122"/>
              </a:rPr>
              <a:t>3.4</a:t>
            </a:r>
            <a:r>
              <a:rPr lang="zh-CN" altLang="en-US" sz="2800" dirty="0" smtClean="0">
                <a:solidFill>
                  <a:schemeClr val="accent2"/>
                </a:solidFill>
                <a:latin typeface="微软雅黑" panose="020B0503020204020204" pitchFamily="34" charset="-122"/>
                <a:ea typeface="微软雅黑" panose="020B0503020204020204" pitchFamily="34" charset="-122"/>
              </a:rPr>
              <a:t>外部文件读取</a:t>
            </a:r>
            <a:endParaRPr lang="zh-CN" altLang="en-US" sz="2800" dirty="0">
              <a:solidFill>
                <a:schemeClr val="accent2"/>
              </a:solidFill>
              <a:latin typeface="微软雅黑" panose="020B0503020204020204" pitchFamily="34" charset="-122"/>
              <a:ea typeface="微软雅黑" panose="020B0503020204020204" pitchFamily="34" charset="-122"/>
            </a:endParaRPr>
          </a:p>
        </p:txBody>
      </p:sp>
      <p:sp>
        <p:nvSpPr>
          <p:cNvPr id="56" name="TextBox 55"/>
          <p:cNvSpPr txBox="1"/>
          <p:nvPr/>
        </p:nvSpPr>
        <p:spPr>
          <a:xfrm>
            <a:off x="140263" y="106179"/>
            <a:ext cx="1064260" cy="400103"/>
          </a:xfrm>
          <a:prstGeom prst="rect">
            <a:avLst/>
          </a:prstGeom>
          <a:noFill/>
        </p:spPr>
        <p:txBody>
          <a:bodyPr wrap="square" lIns="91434" tIns="45717" rIns="91434" bIns="45717" rtlCol="0">
            <a:spAutoFit/>
          </a:bodyPr>
          <a:lstStyle/>
          <a:p>
            <a:pPr algn="r"/>
            <a:r>
              <a:rPr lang="en-US" altLang="zh-CN" sz="2000" dirty="0">
                <a:solidFill>
                  <a:schemeClr val="accent2"/>
                </a:solidFill>
              </a:rPr>
              <a:t>Part </a:t>
            </a:r>
            <a:r>
              <a:rPr lang="en-US" altLang="zh-CN" dirty="0">
                <a:solidFill>
                  <a:schemeClr val="accent2"/>
                </a:solidFill>
              </a:rPr>
              <a:t>3</a:t>
            </a:r>
            <a:r>
              <a:rPr lang="en-US" altLang="zh-CN" dirty="0" smtClean="0">
                <a:solidFill>
                  <a:schemeClr val="accent2"/>
                </a:solidFill>
              </a:rPr>
              <a:t> </a:t>
            </a:r>
            <a:endParaRPr lang="zh-CN" altLang="en-US" dirty="0">
              <a:solidFill>
                <a:schemeClr val="accent2"/>
              </a:solidFill>
            </a:endParaRPr>
          </a:p>
        </p:txBody>
      </p:sp>
      <p:sp>
        <p:nvSpPr>
          <p:cNvPr id="2" name="矩形 1"/>
          <p:cNvSpPr/>
          <p:nvPr/>
        </p:nvSpPr>
        <p:spPr>
          <a:xfrm>
            <a:off x="913805" y="764704"/>
            <a:ext cx="10729192" cy="2554545"/>
          </a:xfrm>
          <a:prstGeom prst="rect">
            <a:avLst/>
          </a:prstGeom>
        </p:spPr>
        <p:txBody>
          <a:bodyPr wrap="square">
            <a:spAutoFit/>
          </a:bodyPr>
          <a:lstStyle/>
          <a:p>
            <a:r>
              <a:rPr lang="zh-CN" altLang="zh-CN" sz="3200" dirty="0">
                <a:solidFill>
                  <a:schemeClr val="accent1"/>
                </a:solidFill>
              </a:rPr>
              <a:t>在实际数据挖掘分析中，其业务数据大多存储在外部文件中，比如</a:t>
            </a:r>
            <a:r>
              <a:rPr lang="en-US" altLang="zh-CN" sz="3200" dirty="0">
                <a:solidFill>
                  <a:schemeClr val="accent1"/>
                </a:solidFill>
              </a:rPr>
              <a:t>Excel</a:t>
            </a:r>
            <a:r>
              <a:rPr lang="zh-CN" altLang="zh-CN" sz="3200" dirty="0">
                <a:solidFill>
                  <a:schemeClr val="accent1"/>
                </a:solidFill>
              </a:rPr>
              <a:t>、</a:t>
            </a:r>
            <a:r>
              <a:rPr lang="en-US" altLang="zh-CN" sz="3200" dirty="0">
                <a:solidFill>
                  <a:schemeClr val="accent1"/>
                </a:solidFill>
              </a:rPr>
              <a:t>TXT</a:t>
            </a:r>
            <a:r>
              <a:rPr lang="zh-CN" altLang="zh-CN" sz="3200" dirty="0">
                <a:solidFill>
                  <a:schemeClr val="accent1"/>
                </a:solidFill>
              </a:rPr>
              <a:t>等。因此，需要将外部文件读取到</a:t>
            </a:r>
            <a:r>
              <a:rPr lang="en-US" altLang="zh-CN" sz="3200" dirty="0">
                <a:solidFill>
                  <a:schemeClr val="accent1"/>
                </a:solidFill>
              </a:rPr>
              <a:t>Python</a:t>
            </a:r>
            <a:r>
              <a:rPr lang="zh-CN" altLang="zh-CN" sz="3200" dirty="0">
                <a:solidFill>
                  <a:schemeClr val="accent1"/>
                </a:solidFill>
              </a:rPr>
              <a:t>中进行挖掘分析。</a:t>
            </a:r>
            <a:r>
              <a:rPr lang="en-US" altLang="zh-CN" sz="3200" dirty="0">
                <a:solidFill>
                  <a:schemeClr val="accent1"/>
                </a:solidFill>
              </a:rPr>
              <a:t>Pandas</a:t>
            </a:r>
            <a:r>
              <a:rPr lang="zh-CN" altLang="zh-CN" sz="3200" dirty="0">
                <a:solidFill>
                  <a:schemeClr val="accent1"/>
                </a:solidFill>
              </a:rPr>
              <a:t>包中提供了非常丰富的函数来读取各种类型的外部数据文件，下面主要介绍</a:t>
            </a:r>
            <a:r>
              <a:rPr lang="en-US" altLang="zh-CN" sz="3200" dirty="0">
                <a:solidFill>
                  <a:schemeClr val="accent1"/>
                </a:solidFill>
              </a:rPr>
              <a:t>Excel</a:t>
            </a:r>
            <a:r>
              <a:rPr lang="zh-CN" altLang="zh-CN" sz="3200" dirty="0">
                <a:solidFill>
                  <a:schemeClr val="accent1"/>
                </a:solidFill>
              </a:rPr>
              <a:t>和</a:t>
            </a:r>
            <a:r>
              <a:rPr lang="en-US" altLang="zh-CN" sz="3200" dirty="0" err="1">
                <a:solidFill>
                  <a:schemeClr val="accent1"/>
                </a:solidFill>
              </a:rPr>
              <a:t>TxT</a:t>
            </a:r>
            <a:r>
              <a:rPr lang="zh-CN" altLang="zh-CN" sz="3200" dirty="0">
                <a:solidFill>
                  <a:schemeClr val="accent1"/>
                </a:solidFill>
              </a:rPr>
              <a:t>外部文件的读取。</a:t>
            </a:r>
          </a:p>
        </p:txBody>
      </p:sp>
    </p:spTree>
  </p:cSld>
  <p:clrMapOvr>
    <a:masterClrMapping/>
  </p:clrMapOvr>
  <mc:AlternateContent xmlns:mc="http://schemas.openxmlformats.org/markup-compatibility/2006" xmlns:p14="http://schemas.microsoft.com/office/powerpoint/2010/main">
    <mc:Choice Requires="p14">
      <p:transition p14:dur="10" advTm="9437"/>
    </mc:Choice>
    <mc:Fallback xmlns="">
      <p:transition advTm="9437"/>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Box 54"/>
          <p:cNvSpPr txBox="1"/>
          <p:nvPr/>
        </p:nvSpPr>
        <p:spPr>
          <a:xfrm>
            <a:off x="1330765" y="44625"/>
            <a:ext cx="7719943" cy="523214"/>
          </a:xfrm>
          <a:prstGeom prst="rect">
            <a:avLst/>
          </a:prstGeom>
          <a:noFill/>
        </p:spPr>
        <p:txBody>
          <a:bodyPr wrap="square" lIns="91434" tIns="45717" rIns="91434" bIns="45717"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r>
              <a:rPr lang="en-US" altLang="zh-CN" sz="2800" dirty="0" smtClean="0">
                <a:solidFill>
                  <a:schemeClr val="accent2"/>
                </a:solidFill>
                <a:latin typeface="微软雅黑" panose="020B0503020204020204" pitchFamily="34" charset="-122"/>
                <a:ea typeface="微软雅黑" panose="020B0503020204020204" pitchFamily="34" charset="-122"/>
              </a:rPr>
              <a:t>3.4.1Excel</a:t>
            </a:r>
            <a:r>
              <a:rPr lang="zh-CN" altLang="en-US" sz="2800" dirty="0" smtClean="0">
                <a:solidFill>
                  <a:schemeClr val="accent2"/>
                </a:solidFill>
                <a:latin typeface="微软雅黑" panose="020B0503020204020204" pitchFamily="34" charset="-122"/>
                <a:ea typeface="微软雅黑" panose="020B0503020204020204" pitchFamily="34" charset="-122"/>
              </a:rPr>
              <a:t>文件读取</a:t>
            </a:r>
            <a:endParaRPr lang="zh-CN" altLang="en-US" sz="2800" dirty="0">
              <a:solidFill>
                <a:schemeClr val="accent2"/>
              </a:solidFill>
              <a:latin typeface="微软雅黑" panose="020B0503020204020204" pitchFamily="34" charset="-122"/>
              <a:ea typeface="微软雅黑" panose="020B0503020204020204" pitchFamily="34" charset="-122"/>
            </a:endParaRPr>
          </a:p>
        </p:txBody>
      </p:sp>
      <p:sp>
        <p:nvSpPr>
          <p:cNvPr id="56" name="TextBox 55"/>
          <p:cNvSpPr txBox="1"/>
          <p:nvPr/>
        </p:nvSpPr>
        <p:spPr>
          <a:xfrm>
            <a:off x="140263" y="106179"/>
            <a:ext cx="1064260" cy="400103"/>
          </a:xfrm>
          <a:prstGeom prst="rect">
            <a:avLst/>
          </a:prstGeom>
          <a:noFill/>
        </p:spPr>
        <p:txBody>
          <a:bodyPr wrap="square" lIns="91434" tIns="45717" rIns="91434" bIns="45717" rtlCol="0">
            <a:spAutoFit/>
          </a:bodyPr>
          <a:lstStyle/>
          <a:p>
            <a:pPr algn="r"/>
            <a:r>
              <a:rPr lang="en-US" altLang="zh-CN" sz="2000" dirty="0">
                <a:solidFill>
                  <a:schemeClr val="accent2"/>
                </a:solidFill>
              </a:rPr>
              <a:t>Part </a:t>
            </a:r>
            <a:r>
              <a:rPr lang="en-US" altLang="zh-CN" dirty="0">
                <a:solidFill>
                  <a:schemeClr val="accent2"/>
                </a:solidFill>
              </a:rPr>
              <a:t>3</a:t>
            </a:r>
            <a:r>
              <a:rPr lang="en-US" altLang="zh-CN" dirty="0" smtClean="0">
                <a:solidFill>
                  <a:schemeClr val="accent2"/>
                </a:solidFill>
              </a:rPr>
              <a:t> </a:t>
            </a:r>
            <a:endParaRPr lang="zh-CN" altLang="en-US" dirty="0">
              <a:solidFill>
                <a:schemeClr val="accent2"/>
              </a:solidFill>
            </a:endParaRPr>
          </a:p>
        </p:txBody>
      </p:sp>
      <p:sp>
        <p:nvSpPr>
          <p:cNvPr id="2" name="矩形 1"/>
          <p:cNvSpPr/>
          <p:nvPr/>
        </p:nvSpPr>
        <p:spPr>
          <a:xfrm>
            <a:off x="913805" y="764704"/>
            <a:ext cx="8231783" cy="2308324"/>
          </a:xfrm>
          <a:prstGeom prst="rect">
            <a:avLst/>
          </a:prstGeom>
        </p:spPr>
        <p:txBody>
          <a:bodyPr wrap="square">
            <a:spAutoFit/>
          </a:bodyPr>
          <a:lstStyle/>
          <a:p>
            <a:r>
              <a:rPr lang="zh-CN" altLang="zh-CN" sz="2400" dirty="0"/>
              <a:t>通过</a:t>
            </a:r>
            <a:r>
              <a:rPr lang="en-US" altLang="zh-CN" sz="2400" dirty="0" err="1"/>
              <a:t>read_excel</a:t>
            </a:r>
            <a:r>
              <a:rPr lang="en-US" altLang="zh-CN" sz="2400" dirty="0"/>
              <a:t>()</a:t>
            </a:r>
            <a:r>
              <a:rPr lang="zh-CN" altLang="zh-CN" sz="2400" dirty="0"/>
              <a:t>函数读取</a:t>
            </a:r>
            <a:r>
              <a:rPr lang="en-US" altLang="zh-CN" sz="2400" dirty="0"/>
              <a:t>Excel</a:t>
            </a:r>
            <a:r>
              <a:rPr lang="zh-CN" altLang="zh-CN" sz="2400" dirty="0"/>
              <a:t>文件数据，可以读取指定的工作簿（</a:t>
            </a:r>
            <a:r>
              <a:rPr lang="en-US" altLang="zh-CN" sz="2400" dirty="0"/>
              <a:t>sheet</a:t>
            </a:r>
            <a:r>
              <a:rPr lang="zh-CN" altLang="zh-CN" sz="2400" dirty="0"/>
              <a:t>），也可以设置读取有无表头的数据表。示例代码如下：</a:t>
            </a:r>
          </a:p>
          <a:p>
            <a:r>
              <a:rPr lang="en-US" altLang="zh-CN" sz="2400" dirty="0"/>
              <a:t>path='</a:t>
            </a:r>
            <a:r>
              <a:rPr lang="zh-CN" altLang="zh-CN" sz="2400" dirty="0"/>
              <a:t>一、车次上车人数统计表</a:t>
            </a:r>
            <a:r>
              <a:rPr lang="en-US" altLang="zh-CN" sz="2400" dirty="0"/>
              <a:t>.</a:t>
            </a:r>
            <a:r>
              <a:rPr lang="en-US" altLang="zh-CN" sz="2400" dirty="0" err="1"/>
              <a:t>xlsx</a:t>
            </a:r>
            <a:r>
              <a:rPr lang="en-US" altLang="zh-CN" sz="2400" dirty="0"/>
              <a:t>';</a:t>
            </a:r>
            <a:endParaRPr lang="zh-CN" altLang="zh-CN" sz="2400" dirty="0"/>
          </a:p>
          <a:p>
            <a:r>
              <a:rPr lang="en-US" altLang="zh-CN" sz="2400" dirty="0"/>
              <a:t>data=</a:t>
            </a:r>
            <a:r>
              <a:rPr lang="en-US" altLang="zh-CN" sz="2400" dirty="0" err="1"/>
              <a:t>pd.read_excel</a:t>
            </a:r>
            <a:r>
              <a:rPr lang="en-US" altLang="zh-CN" sz="2400" dirty="0"/>
              <a:t>(path);</a:t>
            </a:r>
            <a:endParaRPr lang="zh-CN" altLang="zh-CN" sz="2400" dirty="0"/>
          </a:p>
          <a:p>
            <a:r>
              <a:rPr lang="zh-CN" altLang="zh-CN" sz="2400" dirty="0"/>
              <a:t>执行结果如图</a:t>
            </a:r>
            <a:r>
              <a:rPr lang="en-US" altLang="zh-CN" sz="2400" dirty="0"/>
              <a:t>3-20</a:t>
            </a:r>
            <a:r>
              <a:rPr lang="zh-CN" altLang="zh-CN" sz="2400" dirty="0"/>
              <a:t>所示。</a:t>
            </a:r>
          </a:p>
        </p:txBody>
      </p:sp>
      <p:pic>
        <p:nvPicPr>
          <p:cNvPr id="7" name="图片 6"/>
          <p:cNvPicPr/>
          <p:nvPr/>
        </p:nvPicPr>
        <p:blipFill>
          <a:blip r:embed="rId3" cstate="print"/>
          <a:stretch>
            <a:fillRect/>
          </a:stretch>
        </p:blipFill>
        <p:spPr>
          <a:xfrm>
            <a:off x="2786013" y="3073028"/>
            <a:ext cx="7632848" cy="2084164"/>
          </a:xfrm>
          <a:prstGeom prst="rect">
            <a:avLst/>
          </a:prstGeom>
        </p:spPr>
      </p:pic>
      <p:sp>
        <p:nvSpPr>
          <p:cNvPr id="3" name="矩形 2"/>
          <p:cNvSpPr/>
          <p:nvPr/>
        </p:nvSpPr>
        <p:spPr>
          <a:xfrm>
            <a:off x="5882357" y="5171629"/>
            <a:ext cx="877163" cy="369332"/>
          </a:xfrm>
          <a:prstGeom prst="rect">
            <a:avLst/>
          </a:prstGeom>
        </p:spPr>
        <p:txBody>
          <a:bodyPr wrap="none">
            <a:spAutoFit/>
          </a:bodyPr>
          <a:lstStyle/>
          <a:p>
            <a:r>
              <a:rPr lang="zh-CN" altLang="zh-CN" dirty="0"/>
              <a:t>图</a:t>
            </a:r>
            <a:r>
              <a:rPr lang="en-US" altLang="zh-CN" dirty="0"/>
              <a:t>3-20</a:t>
            </a:r>
            <a:endParaRPr lang="zh-CN" altLang="zh-CN" dirty="0"/>
          </a:p>
        </p:txBody>
      </p:sp>
    </p:spTree>
  </p:cSld>
  <p:clrMapOvr>
    <a:masterClrMapping/>
  </p:clrMapOvr>
  <mc:AlternateContent xmlns:mc="http://schemas.openxmlformats.org/markup-compatibility/2006" xmlns:p14="http://schemas.microsoft.com/office/powerpoint/2010/main">
    <mc:Choice Requires="p14">
      <p:transition p14:dur="10" advTm="9437"/>
    </mc:Choice>
    <mc:Fallback xmlns="">
      <p:transition advTm="9437"/>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Box 54"/>
          <p:cNvSpPr txBox="1"/>
          <p:nvPr/>
        </p:nvSpPr>
        <p:spPr>
          <a:xfrm>
            <a:off x="1330765" y="44625"/>
            <a:ext cx="7719943" cy="523214"/>
          </a:xfrm>
          <a:prstGeom prst="rect">
            <a:avLst/>
          </a:prstGeom>
          <a:noFill/>
        </p:spPr>
        <p:txBody>
          <a:bodyPr wrap="square" lIns="91434" tIns="45717" rIns="91434" bIns="45717"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r>
              <a:rPr lang="en-US" altLang="zh-CN" sz="2800" dirty="0" smtClean="0">
                <a:solidFill>
                  <a:schemeClr val="accent2"/>
                </a:solidFill>
                <a:latin typeface="微软雅黑" panose="020B0503020204020204" pitchFamily="34" charset="-122"/>
                <a:ea typeface="微软雅黑" panose="020B0503020204020204" pitchFamily="34" charset="-122"/>
              </a:rPr>
              <a:t>3.4.1Excel</a:t>
            </a:r>
            <a:r>
              <a:rPr lang="zh-CN" altLang="en-US" sz="2800" dirty="0" smtClean="0">
                <a:solidFill>
                  <a:schemeClr val="accent2"/>
                </a:solidFill>
                <a:latin typeface="微软雅黑" panose="020B0503020204020204" pitchFamily="34" charset="-122"/>
                <a:ea typeface="微软雅黑" panose="020B0503020204020204" pitchFamily="34" charset="-122"/>
              </a:rPr>
              <a:t>文件读取</a:t>
            </a:r>
            <a:endParaRPr lang="zh-CN" altLang="en-US" sz="2800" dirty="0">
              <a:solidFill>
                <a:schemeClr val="accent2"/>
              </a:solidFill>
              <a:latin typeface="微软雅黑" panose="020B0503020204020204" pitchFamily="34" charset="-122"/>
              <a:ea typeface="微软雅黑" panose="020B0503020204020204" pitchFamily="34" charset="-122"/>
            </a:endParaRPr>
          </a:p>
        </p:txBody>
      </p:sp>
      <p:sp>
        <p:nvSpPr>
          <p:cNvPr id="56" name="TextBox 55"/>
          <p:cNvSpPr txBox="1"/>
          <p:nvPr/>
        </p:nvSpPr>
        <p:spPr>
          <a:xfrm>
            <a:off x="140263" y="106179"/>
            <a:ext cx="1064260" cy="400103"/>
          </a:xfrm>
          <a:prstGeom prst="rect">
            <a:avLst/>
          </a:prstGeom>
          <a:noFill/>
        </p:spPr>
        <p:txBody>
          <a:bodyPr wrap="square" lIns="91434" tIns="45717" rIns="91434" bIns="45717" rtlCol="0">
            <a:spAutoFit/>
          </a:bodyPr>
          <a:lstStyle/>
          <a:p>
            <a:pPr algn="r"/>
            <a:r>
              <a:rPr lang="en-US" altLang="zh-CN" sz="2000" dirty="0">
                <a:solidFill>
                  <a:schemeClr val="accent2"/>
                </a:solidFill>
              </a:rPr>
              <a:t>Part </a:t>
            </a:r>
            <a:r>
              <a:rPr lang="en-US" altLang="zh-CN" dirty="0">
                <a:solidFill>
                  <a:schemeClr val="accent2"/>
                </a:solidFill>
              </a:rPr>
              <a:t>3</a:t>
            </a:r>
            <a:r>
              <a:rPr lang="en-US" altLang="zh-CN" dirty="0" smtClean="0">
                <a:solidFill>
                  <a:schemeClr val="accent2"/>
                </a:solidFill>
              </a:rPr>
              <a:t> </a:t>
            </a:r>
            <a:endParaRPr lang="zh-CN" altLang="en-US" dirty="0">
              <a:solidFill>
                <a:schemeClr val="accent2"/>
              </a:solidFill>
            </a:endParaRPr>
          </a:p>
        </p:txBody>
      </p:sp>
      <p:sp>
        <p:nvSpPr>
          <p:cNvPr id="2" name="矩形 1"/>
          <p:cNvSpPr/>
          <p:nvPr/>
        </p:nvSpPr>
        <p:spPr>
          <a:xfrm>
            <a:off x="913805" y="764704"/>
            <a:ext cx="8231783" cy="1200329"/>
          </a:xfrm>
          <a:prstGeom prst="rect">
            <a:avLst/>
          </a:prstGeom>
        </p:spPr>
        <p:txBody>
          <a:bodyPr wrap="square">
            <a:spAutoFit/>
          </a:bodyPr>
          <a:lstStyle/>
          <a:p>
            <a:r>
              <a:rPr lang="zh-CN" altLang="zh-CN" sz="2400" dirty="0"/>
              <a:t>读取</a:t>
            </a:r>
            <a:r>
              <a:rPr lang="en-US" altLang="zh-CN" sz="2400" dirty="0"/>
              <a:t>Sheet2</a:t>
            </a:r>
            <a:r>
              <a:rPr lang="zh-CN" altLang="zh-CN" sz="2400" dirty="0"/>
              <a:t>里的数据，示例代码如下：</a:t>
            </a:r>
          </a:p>
          <a:p>
            <a:r>
              <a:rPr lang="en-US" altLang="zh-CN" sz="2400" dirty="0"/>
              <a:t>data=</a:t>
            </a:r>
            <a:r>
              <a:rPr lang="en-US" altLang="zh-CN" sz="2400" dirty="0" err="1"/>
              <a:t>pd.read_excel</a:t>
            </a:r>
            <a:r>
              <a:rPr lang="en-US" altLang="zh-CN" sz="2400" dirty="0"/>
              <a:t>(path,'Sheet2')  #</a:t>
            </a:r>
            <a:r>
              <a:rPr lang="zh-CN" altLang="zh-CN" sz="2400" dirty="0"/>
              <a:t>读取</a:t>
            </a:r>
            <a:r>
              <a:rPr lang="en-US" altLang="zh-CN" sz="2400" dirty="0"/>
              <a:t>sheet</a:t>
            </a:r>
            <a:r>
              <a:rPr lang="zh-CN" altLang="zh-CN" sz="2400" dirty="0"/>
              <a:t>里面的数据</a:t>
            </a:r>
          </a:p>
          <a:p>
            <a:r>
              <a:rPr lang="zh-CN" altLang="zh-CN" sz="2400" dirty="0"/>
              <a:t>执行结果图</a:t>
            </a:r>
            <a:r>
              <a:rPr lang="en-US" altLang="zh-CN" sz="2400" dirty="0"/>
              <a:t>3-21</a:t>
            </a:r>
            <a:r>
              <a:rPr lang="zh-CN" altLang="zh-CN" sz="2400" dirty="0"/>
              <a:t>所示。</a:t>
            </a:r>
          </a:p>
        </p:txBody>
      </p:sp>
      <p:sp>
        <p:nvSpPr>
          <p:cNvPr id="3" name="矩形 2"/>
          <p:cNvSpPr/>
          <p:nvPr/>
        </p:nvSpPr>
        <p:spPr>
          <a:xfrm>
            <a:off x="5833285" y="5171629"/>
            <a:ext cx="877163" cy="369332"/>
          </a:xfrm>
          <a:prstGeom prst="rect">
            <a:avLst/>
          </a:prstGeom>
        </p:spPr>
        <p:txBody>
          <a:bodyPr wrap="none">
            <a:spAutoFit/>
          </a:bodyPr>
          <a:lstStyle/>
          <a:p>
            <a:r>
              <a:rPr lang="zh-CN" altLang="zh-CN" dirty="0"/>
              <a:t>图</a:t>
            </a:r>
            <a:r>
              <a:rPr lang="en-US" altLang="zh-CN" dirty="0"/>
              <a:t>3-21</a:t>
            </a:r>
            <a:endParaRPr lang="zh-CN" altLang="zh-CN" dirty="0"/>
          </a:p>
        </p:txBody>
      </p:sp>
      <p:pic>
        <p:nvPicPr>
          <p:cNvPr id="8" name="图片 7"/>
          <p:cNvPicPr/>
          <p:nvPr/>
        </p:nvPicPr>
        <p:blipFill>
          <a:blip r:embed="rId3" cstate="print"/>
          <a:stretch>
            <a:fillRect/>
          </a:stretch>
        </p:blipFill>
        <p:spPr>
          <a:xfrm>
            <a:off x="3578101" y="1903244"/>
            <a:ext cx="6264695" cy="3109932"/>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advTm="9437"/>
    </mc:Choice>
    <mc:Fallback xmlns="">
      <p:transition advTm="9437"/>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Box 54"/>
          <p:cNvSpPr txBox="1"/>
          <p:nvPr/>
        </p:nvSpPr>
        <p:spPr>
          <a:xfrm>
            <a:off x="1330765" y="44625"/>
            <a:ext cx="7719943" cy="523214"/>
          </a:xfrm>
          <a:prstGeom prst="rect">
            <a:avLst/>
          </a:prstGeom>
          <a:noFill/>
        </p:spPr>
        <p:txBody>
          <a:bodyPr wrap="square" lIns="91434" tIns="45717" rIns="91434" bIns="45717"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r>
              <a:rPr lang="en-US" altLang="zh-CN" sz="2800" dirty="0" smtClean="0">
                <a:solidFill>
                  <a:schemeClr val="accent2"/>
                </a:solidFill>
                <a:latin typeface="微软雅黑" panose="020B0503020204020204" pitchFamily="34" charset="-122"/>
                <a:ea typeface="微软雅黑" panose="020B0503020204020204" pitchFamily="34" charset="-122"/>
              </a:rPr>
              <a:t>3.4.1Excel</a:t>
            </a:r>
            <a:r>
              <a:rPr lang="zh-CN" altLang="en-US" sz="2800" dirty="0" smtClean="0">
                <a:solidFill>
                  <a:schemeClr val="accent2"/>
                </a:solidFill>
                <a:latin typeface="微软雅黑" panose="020B0503020204020204" pitchFamily="34" charset="-122"/>
                <a:ea typeface="微软雅黑" panose="020B0503020204020204" pitchFamily="34" charset="-122"/>
              </a:rPr>
              <a:t>文件读取</a:t>
            </a:r>
            <a:endParaRPr lang="zh-CN" altLang="en-US" sz="2800" dirty="0">
              <a:solidFill>
                <a:schemeClr val="accent2"/>
              </a:solidFill>
              <a:latin typeface="微软雅黑" panose="020B0503020204020204" pitchFamily="34" charset="-122"/>
              <a:ea typeface="微软雅黑" panose="020B0503020204020204" pitchFamily="34" charset="-122"/>
            </a:endParaRPr>
          </a:p>
        </p:txBody>
      </p:sp>
      <p:sp>
        <p:nvSpPr>
          <p:cNvPr id="56" name="TextBox 55"/>
          <p:cNvSpPr txBox="1"/>
          <p:nvPr/>
        </p:nvSpPr>
        <p:spPr>
          <a:xfrm>
            <a:off x="140263" y="106179"/>
            <a:ext cx="1064260" cy="400103"/>
          </a:xfrm>
          <a:prstGeom prst="rect">
            <a:avLst/>
          </a:prstGeom>
          <a:noFill/>
        </p:spPr>
        <p:txBody>
          <a:bodyPr wrap="square" lIns="91434" tIns="45717" rIns="91434" bIns="45717" rtlCol="0">
            <a:spAutoFit/>
          </a:bodyPr>
          <a:lstStyle/>
          <a:p>
            <a:pPr algn="r"/>
            <a:r>
              <a:rPr lang="en-US" altLang="zh-CN" sz="2000" dirty="0">
                <a:solidFill>
                  <a:schemeClr val="accent2"/>
                </a:solidFill>
              </a:rPr>
              <a:t>Part </a:t>
            </a:r>
            <a:r>
              <a:rPr lang="en-US" altLang="zh-CN" dirty="0">
                <a:solidFill>
                  <a:schemeClr val="accent2"/>
                </a:solidFill>
              </a:rPr>
              <a:t>3</a:t>
            </a:r>
            <a:r>
              <a:rPr lang="en-US" altLang="zh-CN" dirty="0" smtClean="0">
                <a:solidFill>
                  <a:schemeClr val="accent2"/>
                </a:solidFill>
              </a:rPr>
              <a:t> </a:t>
            </a:r>
            <a:endParaRPr lang="zh-CN" altLang="en-US" dirty="0">
              <a:solidFill>
                <a:schemeClr val="accent2"/>
              </a:solidFill>
            </a:endParaRPr>
          </a:p>
        </p:txBody>
      </p:sp>
      <p:sp>
        <p:nvSpPr>
          <p:cNvPr id="2" name="矩形 1"/>
          <p:cNvSpPr/>
          <p:nvPr/>
        </p:nvSpPr>
        <p:spPr>
          <a:xfrm>
            <a:off x="913805" y="764704"/>
            <a:ext cx="8231783" cy="1569660"/>
          </a:xfrm>
          <a:prstGeom prst="rect">
            <a:avLst/>
          </a:prstGeom>
        </p:spPr>
        <p:txBody>
          <a:bodyPr wrap="square">
            <a:spAutoFit/>
          </a:bodyPr>
          <a:lstStyle/>
          <a:p>
            <a:r>
              <a:rPr lang="zh-CN" altLang="zh-CN" sz="2400" dirty="0"/>
              <a:t>有时候数据表中没有设置字段，即无表头，读取格式示例代码如下：</a:t>
            </a:r>
          </a:p>
          <a:p>
            <a:r>
              <a:rPr lang="en-US" altLang="zh-CN" sz="2400" dirty="0" err="1"/>
              <a:t>dta</a:t>
            </a:r>
            <a:r>
              <a:rPr lang="en-US" altLang="zh-CN" sz="2400" dirty="0"/>
              <a:t>=</a:t>
            </a:r>
            <a:r>
              <a:rPr lang="en-US" altLang="zh-CN" sz="2400" dirty="0" err="1"/>
              <a:t>pd.read_excel</a:t>
            </a:r>
            <a:r>
              <a:rPr lang="en-US" altLang="zh-CN" sz="2400" dirty="0"/>
              <a:t>('dta.</a:t>
            </a:r>
            <a:r>
              <a:rPr lang="en-US" altLang="zh-CN" sz="2400" dirty="0" err="1"/>
              <a:t>xlsx</a:t>
            </a:r>
            <a:r>
              <a:rPr lang="en-US" altLang="zh-CN" sz="2400" dirty="0"/>
              <a:t>',header=None)  #</a:t>
            </a:r>
            <a:r>
              <a:rPr lang="zh-CN" altLang="zh-CN" sz="2400" dirty="0"/>
              <a:t>无表头</a:t>
            </a:r>
          </a:p>
          <a:p>
            <a:r>
              <a:rPr lang="zh-CN" altLang="zh-CN" sz="2400" dirty="0"/>
              <a:t>执行结果如图</a:t>
            </a:r>
            <a:r>
              <a:rPr lang="en-US" altLang="zh-CN" sz="2400" dirty="0"/>
              <a:t>3-22</a:t>
            </a:r>
            <a:r>
              <a:rPr lang="zh-CN" altLang="zh-CN" sz="2400" dirty="0"/>
              <a:t>所示。</a:t>
            </a:r>
          </a:p>
        </p:txBody>
      </p:sp>
      <p:sp>
        <p:nvSpPr>
          <p:cNvPr id="3" name="矩形 2"/>
          <p:cNvSpPr/>
          <p:nvPr/>
        </p:nvSpPr>
        <p:spPr>
          <a:xfrm>
            <a:off x="5833285" y="5171629"/>
            <a:ext cx="877163" cy="369332"/>
          </a:xfrm>
          <a:prstGeom prst="rect">
            <a:avLst/>
          </a:prstGeom>
        </p:spPr>
        <p:txBody>
          <a:bodyPr wrap="none">
            <a:spAutoFit/>
          </a:bodyPr>
          <a:lstStyle/>
          <a:p>
            <a:r>
              <a:rPr lang="zh-CN" altLang="zh-CN" dirty="0"/>
              <a:t>图</a:t>
            </a:r>
            <a:r>
              <a:rPr lang="en-US" altLang="zh-CN" dirty="0"/>
              <a:t>3-22</a:t>
            </a:r>
            <a:endParaRPr lang="zh-CN" altLang="zh-CN" dirty="0"/>
          </a:p>
        </p:txBody>
      </p:sp>
      <p:pic>
        <p:nvPicPr>
          <p:cNvPr id="9" name="图片 8"/>
          <p:cNvPicPr/>
          <p:nvPr/>
        </p:nvPicPr>
        <p:blipFill>
          <a:blip r:embed="rId3" cstate="print"/>
          <a:stretch>
            <a:fillRect/>
          </a:stretch>
        </p:blipFill>
        <p:spPr>
          <a:xfrm>
            <a:off x="3794126" y="2334365"/>
            <a:ext cx="5832648" cy="2837264"/>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advTm="9437"/>
    </mc:Choice>
    <mc:Fallback xmlns="">
      <p:transition advTm="9437"/>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Box 54"/>
          <p:cNvSpPr txBox="1"/>
          <p:nvPr/>
        </p:nvSpPr>
        <p:spPr>
          <a:xfrm>
            <a:off x="1330765" y="44625"/>
            <a:ext cx="7719943" cy="523214"/>
          </a:xfrm>
          <a:prstGeom prst="rect">
            <a:avLst/>
          </a:prstGeom>
          <a:noFill/>
        </p:spPr>
        <p:txBody>
          <a:bodyPr wrap="square" lIns="91434" tIns="45717" rIns="91434" bIns="45717"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r>
              <a:rPr lang="en-US" altLang="zh-CN" sz="2800" dirty="0" smtClean="0">
                <a:solidFill>
                  <a:schemeClr val="accent2"/>
                </a:solidFill>
                <a:latin typeface="微软雅黑" panose="020B0503020204020204" pitchFamily="34" charset="-122"/>
                <a:ea typeface="微软雅黑" panose="020B0503020204020204" pitchFamily="34" charset="-122"/>
              </a:rPr>
              <a:t>3.4.2TXT</a:t>
            </a:r>
            <a:r>
              <a:rPr lang="zh-CN" altLang="en-US" sz="2800" dirty="0" smtClean="0">
                <a:solidFill>
                  <a:schemeClr val="accent2"/>
                </a:solidFill>
                <a:latin typeface="微软雅黑" panose="020B0503020204020204" pitchFamily="34" charset="-122"/>
                <a:ea typeface="微软雅黑" panose="020B0503020204020204" pitchFamily="34" charset="-122"/>
              </a:rPr>
              <a:t>文件读取</a:t>
            </a:r>
            <a:endParaRPr lang="zh-CN" altLang="en-US" sz="2800" dirty="0">
              <a:solidFill>
                <a:schemeClr val="accent2"/>
              </a:solidFill>
              <a:latin typeface="微软雅黑" panose="020B0503020204020204" pitchFamily="34" charset="-122"/>
              <a:ea typeface="微软雅黑" panose="020B0503020204020204" pitchFamily="34" charset="-122"/>
            </a:endParaRPr>
          </a:p>
        </p:txBody>
      </p:sp>
      <p:sp>
        <p:nvSpPr>
          <p:cNvPr id="56" name="TextBox 55"/>
          <p:cNvSpPr txBox="1"/>
          <p:nvPr/>
        </p:nvSpPr>
        <p:spPr>
          <a:xfrm>
            <a:off x="140263" y="106179"/>
            <a:ext cx="1064260" cy="400103"/>
          </a:xfrm>
          <a:prstGeom prst="rect">
            <a:avLst/>
          </a:prstGeom>
          <a:noFill/>
        </p:spPr>
        <p:txBody>
          <a:bodyPr wrap="square" lIns="91434" tIns="45717" rIns="91434" bIns="45717" rtlCol="0">
            <a:spAutoFit/>
          </a:bodyPr>
          <a:lstStyle/>
          <a:p>
            <a:pPr algn="r"/>
            <a:r>
              <a:rPr lang="en-US" altLang="zh-CN" sz="2000" dirty="0">
                <a:solidFill>
                  <a:schemeClr val="accent2"/>
                </a:solidFill>
              </a:rPr>
              <a:t>Part </a:t>
            </a:r>
            <a:r>
              <a:rPr lang="en-US" altLang="zh-CN" dirty="0">
                <a:solidFill>
                  <a:schemeClr val="accent2"/>
                </a:solidFill>
              </a:rPr>
              <a:t>3</a:t>
            </a:r>
            <a:r>
              <a:rPr lang="en-US" altLang="zh-CN" dirty="0" smtClean="0">
                <a:solidFill>
                  <a:schemeClr val="accent2"/>
                </a:solidFill>
              </a:rPr>
              <a:t> </a:t>
            </a:r>
            <a:endParaRPr lang="zh-CN" altLang="en-US" dirty="0">
              <a:solidFill>
                <a:schemeClr val="accent2"/>
              </a:solidFill>
            </a:endParaRPr>
          </a:p>
        </p:txBody>
      </p:sp>
      <p:sp>
        <p:nvSpPr>
          <p:cNvPr id="2" name="矩形 1"/>
          <p:cNvSpPr/>
          <p:nvPr/>
        </p:nvSpPr>
        <p:spPr>
          <a:xfrm>
            <a:off x="913805" y="764704"/>
            <a:ext cx="8231783" cy="3046988"/>
          </a:xfrm>
          <a:prstGeom prst="rect">
            <a:avLst/>
          </a:prstGeom>
        </p:spPr>
        <p:txBody>
          <a:bodyPr wrap="square">
            <a:spAutoFit/>
          </a:bodyPr>
          <a:lstStyle/>
          <a:p>
            <a:r>
              <a:rPr lang="zh-CN" altLang="zh-CN" sz="2400" dirty="0"/>
              <a:t>通过</a:t>
            </a:r>
            <a:r>
              <a:rPr lang="en-US" altLang="zh-CN" sz="2400" dirty="0" err="1"/>
              <a:t>read_table</a:t>
            </a:r>
            <a:r>
              <a:rPr lang="en-US" altLang="zh-CN" sz="2400" dirty="0"/>
              <a:t>()</a:t>
            </a:r>
            <a:r>
              <a:rPr lang="zh-CN" altLang="zh-CN" sz="2400" dirty="0"/>
              <a:t>函数可以读取</a:t>
            </a:r>
            <a:r>
              <a:rPr lang="en-US" altLang="zh-CN" sz="2400" dirty="0"/>
              <a:t>TXT</a:t>
            </a:r>
            <a:r>
              <a:rPr lang="zh-CN" altLang="zh-CN" sz="2400" dirty="0"/>
              <a:t>文本数据。需要注意的是，</a:t>
            </a:r>
            <a:r>
              <a:rPr lang="en-US" altLang="zh-CN" sz="2400" dirty="0"/>
              <a:t>TXT</a:t>
            </a:r>
            <a:r>
              <a:rPr lang="zh-CN" altLang="zh-CN" sz="2400" dirty="0"/>
              <a:t>文本数据列之间会存在特殊字符作为分隔，常见的有</a:t>
            </a:r>
            <a:r>
              <a:rPr lang="en-US" altLang="zh-CN" sz="2400" dirty="0"/>
              <a:t>Tab</a:t>
            </a:r>
            <a:r>
              <a:rPr lang="zh-CN" altLang="zh-CN" sz="2400" dirty="0"/>
              <a:t>键、空格和逗号。同时还需注意有些文本数据文件是没有设置表头的。示例代码如下：</a:t>
            </a:r>
          </a:p>
          <a:p>
            <a:r>
              <a:rPr lang="en-US" altLang="zh-CN" sz="2400" dirty="0"/>
              <a:t>import pandas as </a:t>
            </a:r>
            <a:r>
              <a:rPr lang="en-US" altLang="zh-CN" sz="2400" dirty="0" err="1"/>
              <a:t>pd</a:t>
            </a:r>
            <a:endParaRPr lang="zh-CN" altLang="zh-CN" sz="2400" dirty="0"/>
          </a:p>
          <a:p>
            <a:r>
              <a:rPr lang="en-US" altLang="zh-CN" sz="2400" dirty="0"/>
              <a:t>dta1=</a:t>
            </a:r>
            <a:r>
              <a:rPr lang="en-US" altLang="zh-CN" sz="2400" dirty="0" err="1"/>
              <a:t>pd.read_table</a:t>
            </a:r>
            <a:r>
              <a:rPr lang="en-US" altLang="zh-CN" sz="2400" dirty="0"/>
              <a:t>('txt1.txt',header=None)  #</a:t>
            </a:r>
            <a:r>
              <a:rPr lang="zh-CN" altLang="zh-CN" sz="2400" dirty="0"/>
              <a:t>分隔默认为</a:t>
            </a:r>
            <a:r>
              <a:rPr lang="en-US" altLang="zh-CN" sz="2400" dirty="0"/>
              <a:t>Tab</a:t>
            </a:r>
            <a:r>
              <a:rPr lang="zh-CN" altLang="zh-CN" sz="2400" dirty="0"/>
              <a:t>键，设置无表头。</a:t>
            </a:r>
          </a:p>
          <a:p>
            <a:r>
              <a:rPr lang="zh-CN" altLang="zh-CN" sz="2400" dirty="0"/>
              <a:t>执行结果如图</a:t>
            </a:r>
            <a:r>
              <a:rPr lang="en-US" altLang="zh-CN" sz="2400" dirty="0"/>
              <a:t>3-23</a:t>
            </a:r>
            <a:r>
              <a:rPr lang="zh-CN" altLang="zh-CN" sz="2400" dirty="0"/>
              <a:t>所示。</a:t>
            </a:r>
          </a:p>
        </p:txBody>
      </p:sp>
    </p:spTree>
  </p:cSld>
  <p:clrMapOvr>
    <a:masterClrMapping/>
  </p:clrMapOvr>
  <mc:AlternateContent xmlns:mc="http://schemas.openxmlformats.org/markup-compatibility/2006" xmlns:p14="http://schemas.microsoft.com/office/powerpoint/2010/main">
    <mc:Choice Requires="p14">
      <p:transition p14:dur="10" advTm="9437"/>
    </mc:Choice>
    <mc:Fallback xmlns="">
      <p:transition advTm="9437"/>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Box 54"/>
          <p:cNvSpPr txBox="1"/>
          <p:nvPr/>
        </p:nvSpPr>
        <p:spPr>
          <a:xfrm>
            <a:off x="1330765" y="44625"/>
            <a:ext cx="7719943" cy="523214"/>
          </a:xfrm>
          <a:prstGeom prst="rect">
            <a:avLst/>
          </a:prstGeom>
          <a:noFill/>
        </p:spPr>
        <p:txBody>
          <a:bodyPr wrap="square" lIns="91434" tIns="45717" rIns="91434" bIns="45717"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r>
              <a:rPr lang="en-US" altLang="zh-CN" sz="2800" dirty="0" smtClean="0">
                <a:solidFill>
                  <a:schemeClr val="accent2"/>
                </a:solidFill>
                <a:latin typeface="微软雅黑" panose="020B0503020204020204" pitchFamily="34" charset="-122"/>
                <a:ea typeface="微软雅黑" panose="020B0503020204020204" pitchFamily="34" charset="-122"/>
              </a:rPr>
              <a:t>3.4.2TXT</a:t>
            </a:r>
            <a:r>
              <a:rPr lang="zh-CN" altLang="en-US" sz="2800" dirty="0" smtClean="0">
                <a:solidFill>
                  <a:schemeClr val="accent2"/>
                </a:solidFill>
                <a:latin typeface="微软雅黑" panose="020B0503020204020204" pitchFamily="34" charset="-122"/>
                <a:ea typeface="微软雅黑" panose="020B0503020204020204" pitchFamily="34" charset="-122"/>
              </a:rPr>
              <a:t>文件读取</a:t>
            </a:r>
            <a:endParaRPr lang="zh-CN" altLang="en-US" sz="2800" dirty="0">
              <a:solidFill>
                <a:schemeClr val="accent2"/>
              </a:solidFill>
              <a:latin typeface="微软雅黑" panose="020B0503020204020204" pitchFamily="34" charset="-122"/>
              <a:ea typeface="微软雅黑" panose="020B0503020204020204" pitchFamily="34" charset="-122"/>
            </a:endParaRPr>
          </a:p>
        </p:txBody>
      </p:sp>
      <p:sp>
        <p:nvSpPr>
          <p:cNvPr id="56" name="TextBox 55"/>
          <p:cNvSpPr txBox="1"/>
          <p:nvPr/>
        </p:nvSpPr>
        <p:spPr>
          <a:xfrm>
            <a:off x="140263" y="106179"/>
            <a:ext cx="1064260" cy="400103"/>
          </a:xfrm>
          <a:prstGeom prst="rect">
            <a:avLst/>
          </a:prstGeom>
          <a:noFill/>
        </p:spPr>
        <p:txBody>
          <a:bodyPr wrap="square" lIns="91434" tIns="45717" rIns="91434" bIns="45717" rtlCol="0">
            <a:spAutoFit/>
          </a:bodyPr>
          <a:lstStyle/>
          <a:p>
            <a:pPr algn="r"/>
            <a:r>
              <a:rPr lang="en-US" altLang="zh-CN" sz="2000" dirty="0">
                <a:solidFill>
                  <a:schemeClr val="accent2"/>
                </a:solidFill>
              </a:rPr>
              <a:t>Part </a:t>
            </a:r>
            <a:r>
              <a:rPr lang="en-US" altLang="zh-CN" dirty="0">
                <a:solidFill>
                  <a:schemeClr val="accent2"/>
                </a:solidFill>
              </a:rPr>
              <a:t>3</a:t>
            </a:r>
            <a:r>
              <a:rPr lang="en-US" altLang="zh-CN" dirty="0" smtClean="0">
                <a:solidFill>
                  <a:schemeClr val="accent2"/>
                </a:solidFill>
              </a:rPr>
              <a:t> </a:t>
            </a:r>
            <a:endParaRPr lang="zh-CN" altLang="en-US" dirty="0">
              <a:solidFill>
                <a:schemeClr val="accent2"/>
              </a:solidFill>
            </a:endParaRPr>
          </a:p>
        </p:txBody>
      </p:sp>
      <p:pic>
        <p:nvPicPr>
          <p:cNvPr id="7" name="图片 6"/>
          <p:cNvPicPr/>
          <p:nvPr/>
        </p:nvPicPr>
        <p:blipFill>
          <a:blip r:embed="rId3" cstate="print"/>
          <a:stretch>
            <a:fillRect/>
          </a:stretch>
        </p:blipFill>
        <p:spPr>
          <a:xfrm>
            <a:off x="1375585" y="567839"/>
            <a:ext cx="4457700" cy="3371850"/>
          </a:xfrm>
          <a:prstGeom prst="rect">
            <a:avLst/>
          </a:prstGeom>
        </p:spPr>
      </p:pic>
      <p:sp>
        <p:nvSpPr>
          <p:cNvPr id="4" name="矩形 3"/>
          <p:cNvSpPr/>
          <p:nvPr/>
        </p:nvSpPr>
        <p:spPr>
          <a:xfrm>
            <a:off x="3290069" y="3954126"/>
            <a:ext cx="877163" cy="369332"/>
          </a:xfrm>
          <a:prstGeom prst="rect">
            <a:avLst/>
          </a:prstGeom>
        </p:spPr>
        <p:txBody>
          <a:bodyPr wrap="none">
            <a:spAutoFit/>
          </a:bodyPr>
          <a:lstStyle/>
          <a:p>
            <a:r>
              <a:rPr lang="zh-CN" altLang="zh-CN" dirty="0"/>
              <a:t>图</a:t>
            </a:r>
            <a:r>
              <a:rPr lang="en-US" altLang="zh-CN" dirty="0"/>
              <a:t>3-23</a:t>
            </a:r>
            <a:endParaRPr lang="zh-CN" altLang="zh-CN" dirty="0"/>
          </a:p>
        </p:txBody>
      </p:sp>
      <p:sp>
        <p:nvSpPr>
          <p:cNvPr id="5" name="矩形 4"/>
          <p:cNvSpPr/>
          <p:nvPr/>
        </p:nvSpPr>
        <p:spPr>
          <a:xfrm>
            <a:off x="5833285" y="570748"/>
            <a:ext cx="6096000" cy="1200329"/>
          </a:xfrm>
          <a:prstGeom prst="rect">
            <a:avLst/>
          </a:prstGeom>
        </p:spPr>
        <p:txBody>
          <a:bodyPr>
            <a:spAutoFit/>
          </a:bodyPr>
          <a:lstStyle/>
          <a:p>
            <a:r>
              <a:rPr lang="en-US" altLang="zh-CN" sz="2400" dirty="0"/>
              <a:t>dta2=</a:t>
            </a:r>
            <a:r>
              <a:rPr lang="en-US" altLang="zh-CN" sz="2400" dirty="0" err="1"/>
              <a:t>pd.read_table</a:t>
            </a:r>
            <a:r>
              <a:rPr lang="en-US" altLang="zh-CN" sz="2400" dirty="0"/>
              <a:t>('txt2.txt',sep='\s+')              #</a:t>
            </a:r>
            <a:r>
              <a:rPr lang="zh-CN" altLang="zh-CN" sz="2400" dirty="0"/>
              <a:t>分隔为空格，带表头</a:t>
            </a:r>
          </a:p>
          <a:p>
            <a:r>
              <a:rPr lang="zh-CN" altLang="zh-CN" sz="2400" dirty="0"/>
              <a:t>执行结果如图</a:t>
            </a:r>
            <a:r>
              <a:rPr lang="en-US" altLang="zh-CN" sz="2400" dirty="0"/>
              <a:t>3-24</a:t>
            </a:r>
            <a:r>
              <a:rPr lang="zh-CN" altLang="zh-CN" sz="2400" dirty="0"/>
              <a:t>所示。</a:t>
            </a:r>
          </a:p>
        </p:txBody>
      </p:sp>
      <p:pic>
        <p:nvPicPr>
          <p:cNvPr id="10" name="图片 9"/>
          <p:cNvPicPr/>
          <p:nvPr/>
        </p:nvPicPr>
        <p:blipFill>
          <a:blip r:embed="rId4" cstate="print"/>
          <a:stretch>
            <a:fillRect/>
          </a:stretch>
        </p:blipFill>
        <p:spPr>
          <a:xfrm>
            <a:off x="6271866" y="1771077"/>
            <a:ext cx="5443139" cy="3400552"/>
          </a:xfrm>
          <a:prstGeom prst="rect">
            <a:avLst/>
          </a:prstGeom>
        </p:spPr>
      </p:pic>
      <p:sp>
        <p:nvSpPr>
          <p:cNvPr id="6" name="矩形 5"/>
          <p:cNvSpPr/>
          <p:nvPr/>
        </p:nvSpPr>
        <p:spPr>
          <a:xfrm>
            <a:off x="8162598" y="5200815"/>
            <a:ext cx="877163" cy="369332"/>
          </a:xfrm>
          <a:prstGeom prst="rect">
            <a:avLst/>
          </a:prstGeom>
        </p:spPr>
        <p:txBody>
          <a:bodyPr wrap="none">
            <a:spAutoFit/>
          </a:bodyPr>
          <a:lstStyle/>
          <a:p>
            <a:r>
              <a:rPr lang="zh-CN" altLang="zh-CN" dirty="0"/>
              <a:t>图</a:t>
            </a:r>
            <a:r>
              <a:rPr lang="en-US" altLang="zh-CN" dirty="0"/>
              <a:t>3-24</a:t>
            </a:r>
            <a:endParaRPr lang="zh-CN" altLang="zh-CN" dirty="0"/>
          </a:p>
        </p:txBody>
      </p:sp>
    </p:spTree>
  </p:cSld>
  <p:clrMapOvr>
    <a:masterClrMapping/>
  </p:clrMapOvr>
  <mc:AlternateContent xmlns:mc="http://schemas.openxmlformats.org/markup-compatibility/2006" xmlns:p14="http://schemas.microsoft.com/office/powerpoint/2010/main">
    <mc:Choice Requires="p14">
      <p:transition p14:dur="10" advTm="9437"/>
    </mc:Choice>
    <mc:Fallback xmlns="">
      <p:transition advTm="9437"/>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Box 54"/>
          <p:cNvSpPr txBox="1"/>
          <p:nvPr/>
        </p:nvSpPr>
        <p:spPr>
          <a:xfrm>
            <a:off x="1330765" y="44625"/>
            <a:ext cx="7719943" cy="523214"/>
          </a:xfrm>
          <a:prstGeom prst="rect">
            <a:avLst/>
          </a:prstGeom>
          <a:noFill/>
        </p:spPr>
        <p:txBody>
          <a:bodyPr wrap="square" lIns="91434" tIns="45717" rIns="91434" bIns="45717"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r>
              <a:rPr lang="en-US" altLang="zh-CN" sz="2800" dirty="0" smtClean="0">
                <a:solidFill>
                  <a:schemeClr val="accent2"/>
                </a:solidFill>
                <a:latin typeface="微软雅黑" panose="020B0503020204020204" pitchFamily="34" charset="-122"/>
                <a:ea typeface="微软雅黑" panose="020B0503020204020204" pitchFamily="34" charset="-122"/>
              </a:rPr>
              <a:t>3.4.2TXT</a:t>
            </a:r>
            <a:r>
              <a:rPr lang="zh-CN" altLang="en-US" sz="2800" dirty="0" smtClean="0">
                <a:solidFill>
                  <a:schemeClr val="accent2"/>
                </a:solidFill>
                <a:latin typeface="微软雅黑" panose="020B0503020204020204" pitchFamily="34" charset="-122"/>
                <a:ea typeface="微软雅黑" panose="020B0503020204020204" pitchFamily="34" charset="-122"/>
              </a:rPr>
              <a:t>文件读取</a:t>
            </a:r>
            <a:endParaRPr lang="zh-CN" altLang="en-US" sz="2800" dirty="0">
              <a:solidFill>
                <a:schemeClr val="accent2"/>
              </a:solidFill>
              <a:latin typeface="微软雅黑" panose="020B0503020204020204" pitchFamily="34" charset="-122"/>
              <a:ea typeface="微软雅黑" panose="020B0503020204020204" pitchFamily="34" charset="-122"/>
            </a:endParaRPr>
          </a:p>
        </p:txBody>
      </p:sp>
      <p:sp>
        <p:nvSpPr>
          <p:cNvPr id="56" name="TextBox 55"/>
          <p:cNvSpPr txBox="1"/>
          <p:nvPr/>
        </p:nvSpPr>
        <p:spPr>
          <a:xfrm>
            <a:off x="140263" y="106179"/>
            <a:ext cx="1064260" cy="400103"/>
          </a:xfrm>
          <a:prstGeom prst="rect">
            <a:avLst/>
          </a:prstGeom>
          <a:noFill/>
        </p:spPr>
        <p:txBody>
          <a:bodyPr wrap="square" lIns="91434" tIns="45717" rIns="91434" bIns="45717" rtlCol="0">
            <a:spAutoFit/>
          </a:bodyPr>
          <a:lstStyle/>
          <a:p>
            <a:pPr algn="r"/>
            <a:r>
              <a:rPr lang="en-US" altLang="zh-CN" sz="2000" dirty="0">
                <a:solidFill>
                  <a:schemeClr val="accent2"/>
                </a:solidFill>
              </a:rPr>
              <a:t>Part </a:t>
            </a:r>
            <a:r>
              <a:rPr lang="en-US" altLang="zh-CN" dirty="0">
                <a:solidFill>
                  <a:schemeClr val="accent2"/>
                </a:solidFill>
              </a:rPr>
              <a:t>3</a:t>
            </a:r>
            <a:r>
              <a:rPr lang="en-US" altLang="zh-CN" dirty="0" smtClean="0">
                <a:solidFill>
                  <a:schemeClr val="accent2"/>
                </a:solidFill>
              </a:rPr>
              <a:t> </a:t>
            </a:r>
            <a:endParaRPr lang="zh-CN" altLang="en-US" dirty="0">
              <a:solidFill>
                <a:schemeClr val="accent2"/>
              </a:solidFill>
            </a:endParaRPr>
          </a:p>
        </p:txBody>
      </p:sp>
      <p:sp>
        <p:nvSpPr>
          <p:cNvPr id="2" name="矩形 1"/>
          <p:cNvSpPr/>
          <p:nvPr/>
        </p:nvSpPr>
        <p:spPr>
          <a:xfrm>
            <a:off x="1057821" y="567839"/>
            <a:ext cx="8087767" cy="1384995"/>
          </a:xfrm>
          <a:prstGeom prst="rect">
            <a:avLst/>
          </a:prstGeom>
        </p:spPr>
        <p:txBody>
          <a:bodyPr wrap="square">
            <a:spAutoFit/>
          </a:bodyPr>
          <a:lstStyle/>
          <a:p>
            <a:r>
              <a:rPr lang="en-US" altLang="zh-CN" sz="2800" dirty="0"/>
              <a:t>dta3=</a:t>
            </a:r>
            <a:r>
              <a:rPr lang="en-US" altLang="zh-CN" sz="2800" dirty="0" err="1"/>
              <a:t>pd.read_table</a:t>
            </a:r>
            <a:r>
              <a:rPr lang="en-US" altLang="zh-CN" sz="2800" dirty="0"/>
              <a:t>('txt3.txt',sep=',',header=None)  #</a:t>
            </a:r>
            <a:r>
              <a:rPr lang="zh-CN" altLang="zh-CN" sz="2800" dirty="0"/>
              <a:t>分隔为逗号，设置无表头</a:t>
            </a:r>
          </a:p>
          <a:p>
            <a:r>
              <a:rPr lang="zh-CN" altLang="zh-CN" sz="2800" dirty="0"/>
              <a:t>执行结果如图</a:t>
            </a:r>
            <a:r>
              <a:rPr lang="en-US" altLang="zh-CN" sz="2800" dirty="0"/>
              <a:t>3-25</a:t>
            </a:r>
            <a:r>
              <a:rPr lang="zh-CN" altLang="zh-CN" sz="2800" dirty="0"/>
              <a:t>所示。</a:t>
            </a:r>
          </a:p>
        </p:txBody>
      </p:sp>
      <p:pic>
        <p:nvPicPr>
          <p:cNvPr id="11" name="图片 10"/>
          <p:cNvPicPr/>
          <p:nvPr/>
        </p:nvPicPr>
        <p:blipFill>
          <a:blip r:embed="rId3" cstate="print"/>
          <a:stretch>
            <a:fillRect/>
          </a:stretch>
        </p:blipFill>
        <p:spPr>
          <a:xfrm>
            <a:off x="3434085" y="2095817"/>
            <a:ext cx="5184575" cy="3133383"/>
          </a:xfrm>
          <a:prstGeom prst="rect">
            <a:avLst/>
          </a:prstGeom>
        </p:spPr>
      </p:pic>
      <p:sp>
        <p:nvSpPr>
          <p:cNvPr id="3" name="矩形 2"/>
          <p:cNvSpPr/>
          <p:nvPr/>
        </p:nvSpPr>
        <p:spPr>
          <a:xfrm>
            <a:off x="5450309" y="5229200"/>
            <a:ext cx="877163" cy="369332"/>
          </a:xfrm>
          <a:prstGeom prst="rect">
            <a:avLst/>
          </a:prstGeom>
        </p:spPr>
        <p:txBody>
          <a:bodyPr wrap="none">
            <a:spAutoFit/>
          </a:bodyPr>
          <a:lstStyle/>
          <a:p>
            <a:r>
              <a:rPr lang="zh-CN" altLang="zh-CN" dirty="0"/>
              <a:t>图</a:t>
            </a:r>
            <a:r>
              <a:rPr lang="en-US" altLang="zh-CN" dirty="0"/>
              <a:t>3-25</a:t>
            </a:r>
            <a:endParaRPr lang="zh-CN" altLang="zh-CN" dirty="0"/>
          </a:p>
        </p:txBody>
      </p:sp>
    </p:spTree>
  </p:cSld>
  <p:clrMapOvr>
    <a:masterClrMapping/>
  </p:clrMapOvr>
  <mc:AlternateContent xmlns:mc="http://schemas.openxmlformats.org/markup-compatibility/2006" xmlns:p14="http://schemas.microsoft.com/office/powerpoint/2010/main">
    <mc:Choice Requires="p14">
      <p:transition p14:dur="10" advTm="9437"/>
    </mc:Choice>
    <mc:Fallback xmlns="">
      <p:transition advTm="9437"/>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Box 54"/>
          <p:cNvSpPr txBox="1"/>
          <p:nvPr/>
        </p:nvSpPr>
        <p:spPr>
          <a:xfrm>
            <a:off x="1330765" y="44625"/>
            <a:ext cx="7719943" cy="523214"/>
          </a:xfrm>
          <a:prstGeom prst="rect">
            <a:avLst/>
          </a:prstGeom>
          <a:noFill/>
        </p:spPr>
        <p:txBody>
          <a:bodyPr wrap="square" lIns="91434" tIns="45717" rIns="91434" bIns="45717"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r>
              <a:rPr lang="en-US" altLang="zh-CN" sz="2800" dirty="0" smtClean="0">
                <a:solidFill>
                  <a:schemeClr val="accent2"/>
                </a:solidFill>
                <a:latin typeface="微软雅黑" panose="020B0503020204020204" pitchFamily="34" charset="-122"/>
                <a:ea typeface="微软雅黑" panose="020B0503020204020204" pitchFamily="34" charset="-122"/>
              </a:rPr>
              <a:t>3.5</a:t>
            </a:r>
            <a:r>
              <a:rPr lang="zh-CN" altLang="en-US" sz="2800" dirty="0" smtClean="0">
                <a:solidFill>
                  <a:schemeClr val="accent2"/>
                </a:solidFill>
                <a:latin typeface="微软雅黑" panose="020B0503020204020204" pitchFamily="34" charset="-122"/>
                <a:ea typeface="微软雅黑" panose="020B0503020204020204" pitchFamily="34" charset="-122"/>
              </a:rPr>
              <a:t>滚动计算函数</a:t>
            </a:r>
            <a:endParaRPr lang="zh-CN" altLang="en-US" sz="2800" dirty="0">
              <a:solidFill>
                <a:schemeClr val="accent2"/>
              </a:solidFill>
              <a:latin typeface="微软雅黑" panose="020B0503020204020204" pitchFamily="34" charset="-122"/>
              <a:ea typeface="微软雅黑" panose="020B0503020204020204" pitchFamily="34" charset="-122"/>
            </a:endParaRPr>
          </a:p>
        </p:txBody>
      </p:sp>
      <p:sp>
        <p:nvSpPr>
          <p:cNvPr id="56" name="TextBox 55"/>
          <p:cNvSpPr txBox="1"/>
          <p:nvPr/>
        </p:nvSpPr>
        <p:spPr>
          <a:xfrm>
            <a:off x="140263" y="106179"/>
            <a:ext cx="1064260" cy="400103"/>
          </a:xfrm>
          <a:prstGeom prst="rect">
            <a:avLst/>
          </a:prstGeom>
          <a:noFill/>
        </p:spPr>
        <p:txBody>
          <a:bodyPr wrap="square" lIns="91434" tIns="45717" rIns="91434" bIns="45717" rtlCol="0">
            <a:spAutoFit/>
          </a:bodyPr>
          <a:lstStyle/>
          <a:p>
            <a:pPr algn="r"/>
            <a:r>
              <a:rPr lang="en-US" altLang="zh-CN" sz="2000" dirty="0">
                <a:solidFill>
                  <a:schemeClr val="accent2"/>
                </a:solidFill>
              </a:rPr>
              <a:t>Part </a:t>
            </a:r>
            <a:r>
              <a:rPr lang="en-US" altLang="zh-CN" dirty="0">
                <a:solidFill>
                  <a:schemeClr val="accent2"/>
                </a:solidFill>
              </a:rPr>
              <a:t>3</a:t>
            </a:r>
            <a:endParaRPr lang="zh-CN" altLang="en-US" dirty="0">
              <a:solidFill>
                <a:schemeClr val="accent2"/>
              </a:solidFill>
            </a:endParaRPr>
          </a:p>
        </p:txBody>
      </p:sp>
      <p:sp>
        <p:nvSpPr>
          <p:cNvPr id="2" name="矩形 1"/>
          <p:cNvSpPr/>
          <p:nvPr/>
        </p:nvSpPr>
        <p:spPr>
          <a:xfrm>
            <a:off x="1057821" y="567839"/>
            <a:ext cx="8087767" cy="4154984"/>
          </a:xfrm>
          <a:prstGeom prst="rect">
            <a:avLst/>
          </a:prstGeom>
        </p:spPr>
        <p:txBody>
          <a:bodyPr wrap="square">
            <a:spAutoFit/>
          </a:bodyPr>
          <a:lstStyle/>
          <a:p>
            <a:r>
              <a:rPr lang="zh-CN" altLang="zh-CN" sz="2400" dirty="0"/>
              <a:t>常用的滚动计算函数有滚动求和</a:t>
            </a:r>
            <a:r>
              <a:rPr lang="en-US" altLang="zh-CN" sz="2400" dirty="0" err="1"/>
              <a:t>rolling_sum</a:t>
            </a:r>
            <a:r>
              <a:rPr lang="en-US" altLang="zh-CN" sz="2400" dirty="0"/>
              <a:t>()</a:t>
            </a:r>
            <a:r>
              <a:rPr lang="zh-CN" altLang="zh-CN" sz="2400" dirty="0"/>
              <a:t>、求平均值</a:t>
            </a:r>
            <a:r>
              <a:rPr lang="en-US" altLang="zh-CN" sz="2400" dirty="0" err="1"/>
              <a:t>rolling_mean</a:t>
            </a:r>
            <a:r>
              <a:rPr lang="en-US" altLang="zh-CN" sz="2400" dirty="0"/>
              <a:t>()</a:t>
            </a:r>
            <a:r>
              <a:rPr lang="zh-CN" altLang="zh-CN" sz="2400" dirty="0"/>
              <a:t>、求最大值</a:t>
            </a:r>
            <a:r>
              <a:rPr lang="en-US" altLang="zh-CN" sz="2400" dirty="0" err="1"/>
              <a:t>rolling_max</a:t>
            </a:r>
            <a:r>
              <a:rPr lang="en-US" altLang="zh-CN" sz="2400" dirty="0"/>
              <a:t>()</a:t>
            </a:r>
            <a:r>
              <a:rPr lang="zh-CN" altLang="zh-CN" sz="2400" dirty="0"/>
              <a:t>、求最小值</a:t>
            </a:r>
            <a:r>
              <a:rPr lang="en-US" altLang="zh-CN" sz="2400" dirty="0" err="1"/>
              <a:t>rolling_min</a:t>
            </a:r>
            <a:r>
              <a:rPr lang="en-US" altLang="zh-CN" sz="2400" dirty="0"/>
              <a:t>()</a:t>
            </a:r>
            <a:r>
              <a:rPr lang="zh-CN" altLang="zh-CN" sz="2400" dirty="0"/>
              <a:t>等。滚动计算函数在金融数据处理中应用非常广泛，比如移动平均价、移动平均量等计算。下面我们对这几个函数进行详细介绍</a:t>
            </a:r>
            <a:r>
              <a:rPr lang="zh-CN" altLang="zh-CN" sz="2400" dirty="0" smtClean="0"/>
              <a:t>。</a:t>
            </a:r>
            <a:endParaRPr lang="en-US" altLang="zh-CN" sz="2400" dirty="0" smtClean="0"/>
          </a:p>
          <a:p>
            <a:endParaRPr lang="en-US" altLang="zh-CN" sz="2400" dirty="0" smtClean="0"/>
          </a:p>
          <a:p>
            <a:r>
              <a:rPr lang="zh-CN" altLang="zh-CN" sz="2400" dirty="0"/>
              <a:t>滚动求平均值函数的调用形式为：</a:t>
            </a:r>
            <a:r>
              <a:rPr lang="en-US" altLang="zh-CN" sz="2400" dirty="0" err="1"/>
              <a:t>rolling_mean</a:t>
            </a:r>
            <a:r>
              <a:rPr lang="en-US" altLang="zh-CN" sz="2400" dirty="0"/>
              <a:t>(P,N)</a:t>
            </a:r>
            <a:r>
              <a:rPr lang="zh-CN" altLang="zh-CN" sz="2400" dirty="0"/>
              <a:t>，其中</a:t>
            </a:r>
            <a:r>
              <a:rPr lang="en-US" altLang="zh-CN" sz="2400" dirty="0"/>
              <a:t>P</a:t>
            </a:r>
            <a:r>
              <a:rPr lang="zh-CN" altLang="zh-CN" sz="2400" dirty="0"/>
              <a:t>为待求的数据列，</a:t>
            </a:r>
            <a:r>
              <a:rPr lang="en-US" altLang="zh-CN" sz="2400" dirty="0"/>
              <a:t>N</a:t>
            </a:r>
            <a:r>
              <a:rPr lang="zh-CN" altLang="zh-CN" sz="2400" dirty="0"/>
              <a:t>为滚动计算的长度。这里</a:t>
            </a:r>
            <a:r>
              <a:rPr lang="en-US" altLang="zh-CN" sz="2400" dirty="0"/>
              <a:t>P</a:t>
            </a:r>
            <a:r>
              <a:rPr lang="zh-CN" altLang="zh-CN" sz="2400" dirty="0"/>
              <a:t>可以是</a:t>
            </a:r>
            <a:r>
              <a:rPr lang="en-US" altLang="zh-CN" sz="2400" dirty="0" err="1"/>
              <a:t>Numpy</a:t>
            </a:r>
            <a:r>
              <a:rPr lang="zh-CN" altLang="zh-CN" sz="2400" dirty="0"/>
              <a:t>数组或者序列数据结构，但是不能是列表或者元组，示例代码如下：</a:t>
            </a:r>
          </a:p>
          <a:p>
            <a:endParaRPr lang="zh-CN" altLang="zh-CN" sz="2400" dirty="0"/>
          </a:p>
        </p:txBody>
      </p:sp>
    </p:spTree>
  </p:cSld>
  <p:clrMapOvr>
    <a:masterClrMapping/>
  </p:clrMapOvr>
  <mc:AlternateContent xmlns:mc="http://schemas.openxmlformats.org/markup-compatibility/2006" xmlns:p14="http://schemas.microsoft.com/office/powerpoint/2010/main">
    <mc:Choice Requires="p14">
      <p:transition p14:dur="10" advTm="9437"/>
    </mc:Choice>
    <mc:Fallback xmlns="">
      <p:transition advTm="9437"/>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Box 54"/>
          <p:cNvSpPr txBox="1"/>
          <p:nvPr/>
        </p:nvSpPr>
        <p:spPr>
          <a:xfrm>
            <a:off x="1330765" y="44625"/>
            <a:ext cx="7719943" cy="523214"/>
          </a:xfrm>
          <a:prstGeom prst="rect">
            <a:avLst/>
          </a:prstGeom>
          <a:noFill/>
        </p:spPr>
        <p:txBody>
          <a:bodyPr wrap="square" lIns="91434" tIns="45717" rIns="91434" bIns="45717"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r>
              <a:rPr lang="en-US" altLang="zh-CN" sz="2800" dirty="0" smtClean="0">
                <a:solidFill>
                  <a:schemeClr val="accent2"/>
                </a:solidFill>
                <a:latin typeface="微软雅黑" panose="020B0503020204020204" pitchFamily="34" charset="-122"/>
                <a:ea typeface="微软雅黑" panose="020B0503020204020204" pitchFamily="34" charset="-122"/>
              </a:rPr>
              <a:t>3.5</a:t>
            </a:r>
            <a:r>
              <a:rPr lang="zh-CN" altLang="en-US" sz="2800" dirty="0" smtClean="0">
                <a:solidFill>
                  <a:schemeClr val="accent2"/>
                </a:solidFill>
                <a:latin typeface="微软雅黑" panose="020B0503020204020204" pitchFamily="34" charset="-122"/>
                <a:ea typeface="微软雅黑" panose="020B0503020204020204" pitchFamily="34" charset="-122"/>
              </a:rPr>
              <a:t>滚动计算函数</a:t>
            </a:r>
            <a:endParaRPr lang="zh-CN" altLang="en-US" sz="2800" dirty="0">
              <a:solidFill>
                <a:schemeClr val="accent2"/>
              </a:solidFill>
              <a:latin typeface="微软雅黑" panose="020B0503020204020204" pitchFamily="34" charset="-122"/>
              <a:ea typeface="微软雅黑" panose="020B0503020204020204" pitchFamily="34" charset="-122"/>
            </a:endParaRPr>
          </a:p>
        </p:txBody>
      </p:sp>
      <p:sp>
        <p:nvSpPr>
          <p:cNvPr id="56" name="TextBox 55"/>
          <p:cNvSpPr txBox="1"/>
          <p:nvPr/>
        </p:nvSpPr>
        <p:spPr>
          <a:xfrm>
            <a:off x="140263" y="106179"/>
            <a:ext cx="1064260" cy="400103"/>
          </a:xfrm>
          <a:prstGeom prst="rect">
            <a:avLst/>
          </a:prstGeom>
          <a:noFill/>
        </p:spPr>
        <p:txBody>
          <a:bodyPr wrap="square" lIns="91434" tIns="45717" rIns="91434" bIns="45717" rtlCol="0">
            <a:spAutoFit/>
          </a:bodyPr>
          <a:lstStyle/>
          <a:p>
            <a:pPr algn="r"/>
            <a:r>
              <a:rPr lang="en-US" altLang="zh-CN" sz="2000" dirty="0">
                <a:solidFill>
                  <a:schemeClr val="accent2"/>
                </a:solidFill>
              </a:rPr>
              <a:t>Part </a:t>
            </a:r>
            <a:r>
              <a:rPr lang="en-US" altLang="zh-CN" dirty="0">
                <a:solidFill>
                  <a:schemeClr val="accent2"/>
                </a:solidFill>
              </a:rPr>
              <a:t>3</a:t>
            </a:r>
            <a:r>
              <a:rPr lang="en-US" altLang="zh-CN" dirty="0" smtClean="0">
                <a:solidFill>
                  <a:schemeClr val="accent2"/>
                </a:solidFill>
              </a:rPr>
              <a:t> </a:t>
            </a:r>
            <a:endParaRPr lang="zh-CN" altLang="en-US" dirty="0">
              <a:solidFill>
                <a:schemeClr val="accent2"/>
              </a:solidFill>
            </a:endParaRPr>
          </a:p>
        </p:txBody>
      </p:sp>
      <p:sp>
        <p:nvSpPr>
          <p:cNvPr id="3" name="矩形 2"/>
          <p:cNvSpPr/>
          <p:nvPr/>
        </p:nvSpPr>
        <p:spPr>
          <a:xfrm>
            <a:off x="1057822" y="567839"/>
            <a:ext cx="6624736" cy="4893647"/>
          </a:xfrm>
          <a:prstGeom prst="rect">
            <a:avLst/>
          </a:prstGeom>
        </p:spPr>
        <p:txBody>
          <a:bodyPr wrap="square">
            <a:spAutoFit/>
          </a:bodyPr>
          <a:lstStyle/>
          <a:p>
            <a:r>
              <a:rPr lang="en-US" altLang="zh-CN" sz="2400" dirty="0"/>
              <a:t>import pandas as </a:t>
            </a:r>
            <a:r>
              <a:rPr lang="en-US" altLang="zh-CN" sz="2400" dirty="0" err="1"/>
              <a:t>pd</a:t>
            </a:r>
            <a:endParaRPr lang="zh-CN" altLang="zh-CN" sz="2400" dirty="0"/>
          </a:p>
          <a:p>
            <a:r>
              <a:rPr lang="en-US" altLang="zh-CN" sz="2400" dirty="0"/>
              <a:t>import </a:t>
            </a:r>
            <a:r>
              <a:rPr lang="en-US" altLang="zh-CN" sz="2400" dirty="0" err="1"/>
              <a:t>numpy</a:t>
            </a:r>
            <a:r>
              <a:rPr lang="en-US" altLang="zh-CN" sz="2400" dirty="0"/>
              <a:t> as </a:t>
            </a:r>
            <a:r>
              <a:rPr lang="en-US" altLang="zh-CN" sz="2400" dirty="0" err="1"/>
              <a:t>np</a:t>
            </a:r>
            <a:endParaRPr lang="zh-CN" altLang="zh-CN" sz="2400" dirty="0"/>
          </a:p>
          <a:p>
            <a:r>
              <a:rPr lang="en-US" altLang="zh-CN" sz="2400" dirty="0"/>
              <a:t>L=[1,2,3,4,5,6,7,8,9,10,11,12,13,14,15]  #</a:t>
            </a:r>
            <a:r>
              <a:rPr lang="zh-CN" altLang="zh-CN" sz="2400" dirty="0"/>
              <a:t>列表</a:t>
            </a:r>
          </a:p>
          <a:p>
            <a:r>
              <a:rPr lang="en-US" altLang="zh-CN" sz="2400" dirty="0"/>
              <a:t>T=(1,2,3,4,5,6,7,8,9,10,11,12,13,14,15)  #</a:t>
            </a:r>
            <a:r>
              <a:rPr lang="zh-CN" altLang="zh-CN" sz="2400" dirty="0"/>
              <a:t>元组</a:t>
            </a:r>
          </a:p>
          <a:p>
            <a:r>
              <a:rPr lang="en-US" altLang="zh-CN" sz="2400" dirty="0"/>
              <a:t>A=</a:t>
            </a:r>
            <a:r>
              <a:rPr lang="en-US" altLang="zh-CN" sz="2400" dirty="0" err="1"/>
              <a:t>np.array</a:t>
            </a:r>
            <a:r>
              <a:rPr lang="en-US" altLang="zh-CN" sz="2400" dirty="0"/>
              <a:t>(L)                      #</a:t>
            </a:r>
            <a:r>
              <a:rPr lang="zh-CN" altLang="zh-CN" sz="2400" dirty="0"/>
              <a:t>将列表</a:t>
            </a:r>
            <a:r>
              <a:rPr lang="en-US" altLang="zh-CN" sz="2400" dirty="0"/>
              <a:t>L</a:t>
            </a:r>
            <a:r>
              <a:rPr lang="zh-CN" altLang="zh-CN" sz="2400" dirty="0"/>
              <a:t>转换为数组，赋给变量</a:t>
            </a:r>
            <a:r>
              <a:rPr lang="en-US" altLang="zh-CN" sz="2400" dirty="0"/>
              <a:t>A</a:t>
            </a:r>
            <a:endParaRPr lang="zh-CN" altLang="zh-CN" sz="2400" dirty="0"/>
          </a:p>
          <a:p>
            <a:r>
              <a:rPr lang="en-US" altLang="zh-CN" sz="2400" dirty="0"/>
              <a:t>S=</a:t>
            </a:r>
            <a:r>
              <a:rPr lang="en-US" altLang="zh-CN" sz="2400" dirty="0" err="1"/>
              <a:t>pd.Series</a:t>
            </a:r>
            <a:r>
              <a:rPr lang="en-US" altLang="zh-CN" sz="2400" dirty="0"/>
              <a:t>(L)                      #</a:t>
            </a:r>
            <a:r>
              <a:rPr lang="zh-CN" altLang="zh-CN" sz="2400" dirty="0"/>
              <a:t>将列表</a:t>
            </a:r>
            <a:r>
              <a:rPr lang="en-US" altLang="zh-CN" sz="2400" dirty="0"/>
              <a:t>L</a:t>
            </a:r>
            <a:r>
              <a:rPr lang="zh-CN" altLang="zh-CN" sz="2400" dirty="0"/>
              <a:t>转换为序列，赋给变量</a:t>
            </a:r>
            <a:r>
              <a:rPr lang="en-US" altLang="zh-CN" sz="2400" dirty="0"/>
              <a:t>S</a:t>
            </a:r>
            <a:endParaRPr lang="zh-CN" altLang="zh-CN" sz="2400" dirty="0"/>
          </a:p>
          <a:p>
            <a:r>
              <a:rPr lang="en-US" altLang="zh-CN" sz="2400" dirty="0"/>
              <a:t>#</a:t>
            </a:r>
            <a:r>
              <a:rPr lang="en-US" altLang="zh-CN" sz="2400" dirty="0" err="1"/>
              <a:t>avg_L</a:t>
            </a:r>
            <a:r>
              <a:rPr lang="en-US" altLang="zh-CN" sz="2400" dirty="0"/>
              <a:t>=</a:t>
            </a:r>
            <a:r>
              <a:rPr lang="en-US" altLang="zh-CN" sz="2400" dirty="0" err="1"/>
              <a:t>pd.rolling_mean</a:t>
            </a:r>
            <a:r>
              <a:rPr lang="en-US" altLang="zh-CN" sz="2400" dirty="0"/>
              <a:t>(L,10)   #</a:t>
            </a:r>
            <a:r>
              <a:rPr lang="zh-CN" altLang="zh-CN" sz="2400" dirty="0"/>
              <a:t>报错</a:t>
            </a:r>
          </a:p>
          <a:p>
            <a:r>
              <a:rPr lang="en-US" altLang="zh-CN" sz="2400" dirty="0"/>
              <a:t>#</a:t>
            </a:r>
            <a:r>
              <a:rPr lang="en-US" altLang="zh-CN" sz="2400" dirty="0" err="1"/>
              <a:t>avg_T</a:t>
            </a:r>
            <a:r>
              <a:rPr lang="en-US" altLang="zh-CN" sz="2400" dirty="0"/>
              <a:t>=</a:t>
            </a:r>
            <a:r>
              <a:rPr lang="en-US" altLang="zh-CN" sz="2400" dirty="0" err="1"/>
              <a:t>pd.rolling_mean</a:t>
            </a:r>
            <a:r>
              <a:rPr lang="en-US" altLang="zh-CN" sz="2400" dirty="0"/>
              <a:t>(T,10)   #</a:t>
            </a:r>
            <a:r>
              <a:rPr lang="zh-CN" altLang="zh-CN" sz="2400" dirty="0"/>
              <a:t>报错</a:t>
            </a:r>
          </a:p>
          <a:p>
            <a:r>
              <a:rPr lang="en-US" altLang="zh-CN" sz="2400" dirty="0" err="1"/>
              <a:t>avg_S</a:t>
            </a:r>
            <a:r>
              <a:rPr lang="en-US" altLang="zh-CN" sz="2400" dirty="0"/>
              <a:t>=</a:t>
            </a:r>
            <a:r>
              <a:rPr lang="en-US" altLang="zh-CN" sz="2400" dirty="0" err="1"/>
              <a:t>pd.rolling_mean</a:t>
            </a:r>
            <a:r>
              <a:rPr lang="en-US" altLang="zh-CN" sz="2400" dirty="0"/>
              <a:t>(S,10)</a:t>
            </a:r>
            <a:endParaRPr lang="zh-CN" altLang="zh-CN" sz="2400" dirty="0"/>
          </a:p>
          <a:p>
            <a:r>
              <a:rPr lang="en-US" altLang="zh-CN" sz="2400" dirty="0" err="1"/>
              <a:t>avg_A</a:t>
            </a:r>
            <a:r>
              <a:rPr lang="en-US" altLang="zh-CN" sz="2400" dirty="0"/>
              <a:t>=</a:t>
            </a:r>
            <a:r>
              <a:rPr lang="en-US" altLang="zh-CN" sz="2400" dirty="0" err="1"/>
              <a:t>pd.rolling_mean</a:t>
            </a:r>
            <a:r>
              <a:rPr lang="en-US" altLang="zh-CN" sz="2400" dirty="0"/>
              <a:t>(A,10)</a:t>
            </a:r>
            <a:endParaRPr lang="zh-CN" altLang="zh-CN" sz="2400" dirty="0"/>
          </a:p>
          <a:p>
            <a:r>
              <a:rPr lang="zh-CN" altLang="zh-CN" sz="2400" dirty="0"/>
              <a:t>执行结果如图</a:t>
            </a:r>
            <a:r>
              <a:rPr lang="en-US" altLang="zh-CN" sz="2400" dirty="0"/>
              <a:t>3-26</a:t>
            </a:r>
            <a:r>
              <a:rPr lang="zh-CN" altLang="zh-CN" sz="2400" dirty="0"/>
              <a:t>所示。</a:t>
            </a:r>
          </a:p>
        </p:txBody>
      </p:sp>
      <p:pic>
        <p:nvPicPr>
          <p:cNvPr id="7" name="图片 6"/>
          <p:cNvPicPr/>
          <p:nvPr/>
        </p:nvPicPr>
        <p:blipFill>
          <a:blip r:embed="rId3" cstate="print"/>
          <a:stretch>
            <a:fillRect/>
          </a:stretch>
        </p:blipFill>
        <p:spPr>
          <a:xfrm>
            <a:off x="7682557" y="567839"/>
            <a:ext cx="3885565" cy="5009515"/>
          </a:xfrm>
          <a:prstGeom prst="rect">
            <a:avLst/>
          </a:prstGeom>
        </p:spPr>
      </p:pic>
      <p:sp>
        <p:nvSpPr>
          <p:cNvPr id="4" name="矩形 3"/>
          <p:cNvSpPr/>
          <p:nvPr/>
        </p:nvSpPr>
        <p:spPr>
          <a:xfrm>
            <a:off x="9145588" y="5606540"/>
            <a:ext cx="877163" cy="369332"/>
          </a:xfrm>
          <a:prstGeom prst="rect">
            <a:avLst/>
          </a:prstGeom>
        </p:spPr>
        <p:txBody>
          <a:bodyPr wrap="none">
            <a:spAutoFit/>
          </a:bodyPr>
          <a:lstStyle/>
          <a:p>
            <a:r>
              <a:rPr lang="zh-CN" altLang="zh-CN" dirty="0"/>
              <a:t>图</a:t>
            </a:r>
            <a:r>
              <a:rPr lang="en-US" altLang="zh-CN" dirty="0"/>
              <a:t>3-26</a:t>
            </a:r>
            <a:endParaRPr lang="zh-CN" altLang="zh-CN" dirty="0"/>
          </a:p>
        </p:txBody>
      </p:sp>
    </p:spTree>
  </p:cSld>
  <p:clrMapOvr>
    <a:masterClrMapping/>
  </p:clrMapOvr>
  <mc:AlternateContent xmlns:mc="http://schemas.openxmlformats.org/markup-compatibility/2006" xmlns:p14="http://schemas.microsoft.com/office/powerpoint/2010/main">
    <mc:Choice Requires="p14">
      <p:transition p14:dur="10" advTm="9437"/>
    </mc:Choice>
    <mc:Fallback xmlns="">
      <p:transition advTm="9437"/>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Box 54"/>
          <p:cNvSpPr txBox="1"/>
          <p:nvPr/>
        </p:nvSpPr>
        <p:spPr>
          <a:xfrm>
            <a:off x="1330765" y="44625"/>
            <a:ext cx="7719943" cy="523214"/>
          </a:xfrm>
          <a:prstGeom prst="rect">
            <a:avLst/>
          </a:prstGeom>
          <a:noFill/>
        </p:spPr>
        <p:txBody>
          <a:bodyPr wrap="square" lIns="91434" tIns="45717" rIns="91434" bIns="45717"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r>
              <a:rPr lang="en-US" altLang="zh-CN" sz="2800" dirty="0" smtClean="0">
                <a:solidFill>
                  <a:schemeClr val="accent2"/>
                </a:solidFill>
                <a:latin typeface="微软雅黑" panose="020B0503020204020204" pitchFamily="34" charset="-122"/>
                <a:ea typeface="微软雅黑" panose="020B0503020204020204" pitchFamily="34" charset="-122"/>
              </a:rPr>
              <a:t>3.5</a:t>
            </a:r>
            <a:r>
              <a:rPr lang="zh-CN" altLang="en-US" sz="2800" dirty="0" smtClean="0">
                <a:solidFill>
                  <a:schemeClr val="accent2"/>
                </a:solidFill>
                <a:latin typeface="微软雅黑" panose="020B0503020204020204" pitchFamily="34" charset="-122"/>
                <a:ea typeface="微软雅黑" panose="020B0503020204020204" pitchFamily="34" charset="-122"/>
              </a:rPr>
              <a:t>滚动计算函数</a:t>
            </a:r>
            <a:endParaRPr lang="zh-CN" altLang="en-US" sz="2800" dirty="0">
              <a:solidFill>
                <a:schemeClr val="accent2"/>
              </a:solidFill>
              <a:latin typeface="微软雅黑" panose="020B0503020204020204" pitchFamily="34" charset="-122"/>
              <a:ea typeface="微软雅黑" panose="020B0503020204020204" pitchFamily="34" charset="-122"/>
            </a:endParaRPr>
          </a:p>
        </p:txBody>
      </p:sp>
      <p:sp>
        <p:nvSpPr>
          <p:cNvPr id="56" name="TextBox 55"/>
          <p:cNvSpPr txBox="1"/>
          <p:nvPr/>
        </p:nvSpPr>
        <p:spPr>
          <a:xfrm>
            <a:off x="140263" y="106179"/>
            <a:ext cx="1064260" cy="400103"/>
          </a:xfrm>
          <a:prstGeom prst="rect">
            <a:avLst/>
          </a:prstGeom>
          <a:noFill/>
        </p:spPr>
        <p:txBody>
          <a:bodyPr wrap="square" lIns="91434" tIns="45717" rIns="91434" bIns="45717" rtlCol="0">
            <a:spAutoFit/>
          </a:bodyPr>
          <a:lstStyle/>
          <a:p>
            <a:pPr algn="r"/>
            <a:r>
              <a:rPr lang="en-US" altLang="zh-CN" sz="2000" dirty="0">
                <a:solidFill>
                  <a:schemeClr val="accent2"/>
                </a:solidFill>
              </a:rPr>
              <a:t>Part </a:t>
            </a:r>
            <a:r>
              <a:rPr lang="en-US" altLang="zh-CN" dirty="0">
                <a:solidFill>
                  <a:schemeClr val="accent2"/>
                </a:solidFill>
              </a:rPr>
              <a:t>3</a:t>
            </a:r>
            <a:r>
              <a:rPr lang="en-US" altLang="zh-CN" dirty="0" smtClean="0">
                <a:solidFill>
                  <a:schemeClr val="accent2"/>
                </a:solidFill>
              </a:rPr>
              <a:t> </a:t>
            </a:r>
            <a:endParaRPr lang="zh-CN" altLang="en-US" dirty="0">
              <a:solidFill>
                <a:schemeClr val="accent2"/>
              </a:solidFill>
            </a:endParaRPr>
          </a:p>
        </p:txBody>
      </p:sp>
      <p:sp>
        <p:nvSpPr>
          <p:cNvPr id="3" name="矩形 2"/>
          <p:cNvSpPr/>
          <p:nvPr/>
        </p:nvSpPr>
        <p:spPr>
          <a:xfrm>
            <a:off x="1057821" y="567839"/>
            <a:ext cx="10225135" cy="4524315"/>
          </a:xfrm>
          <a:prstGeom prst="rect">
            <a:avLst/>
          </a:prstGeom>
        </p:spPr>
        <p:txBody>
          <a:bodyPr wrap="square">
            <a:spAutoFit/>
          </a:bodyPr>
          <a:lstStyle/>
          <a:p>
            <a:r>
              <a:rPr lang="zh-CN" altLang="zh-CN" sz="2400" dirty="0"/>
              <a:t>其中输入的数据结构为</a:t>
            </a:r>
            <a:r>
              <a:rPr lang="en-US" altLang="zh-CN" sz="2400" dirty="0" err="1"/>
              <a:t>Numpy</a:t>
            </a:r>
            <a:r>
              <a:rPr lang="zh-CN" altLang="zh-CN" sz="2400" dirty="0"/>
              <a:t>数组，其返回结果也为</a:t>
            </a:r>
            <a:r>
              <a:rPr lang="en-US" altLang="zh-CN" sz="2400" dirty="0" err="1"/>
              <a:t>Numpy</a:t>
            </a:r>
            <a:r>
              <a:rPr lang="zh-CN" altLang="zh-CN" sz="2400" dirty="0"/>
              <a:t>数组；如果输入的数据结构为序列形式，其返回结果也为序列。从返回的结果可以看出，不足滚动计算周期的数据，返回结果均采用</a:t>
            </a:r>
            <a:r>
              <a:rPr lang="en-US" altLang="zh-CN" sz="2400" dirty="0"/>
              <a:t>nan</a:t>
            </a:r>
            <a:r>
              <a:rPr lang="zh-CN" altLang="zh-CN" sz="2400" dirty="0"/>
              <a:t>（空值）来表示，在应用的过程中需要注意把这些数据清洗掉。</a:t>
            </a:r>
          </a:p>
          <a:p>
            <a:r>
              <a:rPr lang="zh-CN" altLang="zh-CN" sz="2400" dirty="0"/>
              <a:t>同理还有滚动求和函数</a:t>
            </a:r>
            <a:r>
              <a:rPr lang="en-US" altLang="zh-CN" sz="2400" dirty="0" err="1"/>
              <a:t>rolling_sum</a:t>
            </a:r>
            <a:r>
              <a:rPr lang="en-US" altLang="zh-CN" sz="2400" dirty="0"/>
              <a:t>(P,N)</a:t>
            </a:r>
            <a:r>
              <a:rPr lang="zh-CN" altLang="zh-CN" sz="2400" dirty="0"/>
              <a:t>、滚动求最小值函数</a:t>
            </a:r>
            <a:r>
              <a:rPr lang="en-US" altLang="zh-CN" sz="2400" dirty="0" err="1"/>
              <a:t>rolling_min</a:t>
            </a:r>
            <a:r>
              <a:rPr lang="en-US" altLang="zh-CN" sz="2400" dirty="0"/>
              <a:t>(P,N)</a:t>
            </a:r>
            <a:r>
              <a:rPr lang="zh-CN" altLang="zh-CN" sz="2400" dirty="0"/>
              <a:t>和滚动求最大值函数</a:t>
            </a:r>
            <a:r>
              <a:rPr lang="en-US" altLang="zh-CN" sz="2400" dirty="0" err="1"/>
              <a:t>rolling_max</a:t>
            </a:r>
            <a:r>
              <a:rPr lang="en-US" altLang="zh-CN" sz="2400" dirty="0"/>
              <a:t>(P,N)</a:t>
            </a:r>
            <a:r>
              <a:rPr lang="zh-CN" altLang="zh-CN" sz="2400" dirty="0"/>
              <a:t>。示例代码如下：</a:t>
            </a:r>
          </a:p>
          <a:p>
            <a:r>
              <a:rPr lang="en-US" altLang="zh-CN" sz="2400" dirty="0" err="1"/>
              <a:t>sum_S</a:t>
            </a:r>
            <a:r>
              <a:rPr lang="en-US" altLang="zh-CN" sz="2400" dirty="0"/>
              <a:t>=</a:t>
            </a:r>
            <a:r>
              <a:rPr lang="en-US" altLang="zh-CN" sz="2400" dirty="0" err="1"/>
              <a:t>pd.rolling_sum</a:t>
            </a:r>
            <a:r>
              <a:rPr lang="en-US" altLang="zh-CN" sz="2400" dirty="0"/>
              <a:t>(S,10)</a:t>
            </a:r>
            <a:endParaRPr lang="zh-CN" altLang="zh-CN" sz="2400" dirty="0"/>
          </a:p>
          <a:p>
            <a:r>
              <a:rPr lang="en-US" altLang="zh-CN" sz="2400" dirty="0" err="1"/>
              <a:t>sum_A</a:t>
            </a:r>
            <a:r>
              <a:rPr lang="en-US" altLang="zh-CN" sz="2400" dirty="0"/>
              <a:t>=</a:t>
            </a:r>
            <a:r>
              <a:rPr lang="en-US" altLang="zh-CN" sz="2400" dirty="0" err="1"/>
              <a:t>pd.rolling_sum</a:t>
            </a:r>
            <a:r>
              <a:rPr lang="en-US" altLang="zh-CN" sz="2400" dirty="0"/>
              <a:t>(A,10)</a:t>
            </a:r>
            <a:endParaRPr lang="zh-CN" altLang="zh-CN" sz="2400" dirty="0"/>
          </a:p>
          <a:p>
            <a:r>
              <a:rPr lang="en-US" altLang="zh-CN" sz="2400" dirty="0" err="1"/>
              <a:t>Min_S</a:t>
            </a:r>
            <a:r>
              <a:rPr lang="en-US" altLang="zh-CN" sz="2400" dirty="0"/>
              <a:t>=</a:t>
            </a:r>
            <a:r>
              <a:rPr lang="en-US" altLang="zh-CN" sz="2400" dirty="0" err="1"/>
              <a:t>pd.rolling_min</a:t>
            </a:r>
            <a:r>
              <a:rPr lang="en-US" altLang="zh-CN" sz="2400" dirty="0"/>
              <a:t>(S,10)</a:t>
            </a:r>
            <a:endParaRPr lang="zh-CN" altLang="zh-CN" sz="2400" dirty="0"/>
          </a:p>
          <a:p>
            <a:r>
              <a:rPr lang="en-US" altLang="zh-CN" sz="2400" dirty="0" err="1"/>
              <a:t>Min_A</a:t>
            </a:r>
            <a:r>
              <a:rPr lang="en-US" altLang="zh-CN" sz="2400" dirty="0"/>
              <a:t>=</a:t>
            </a:r>
            <a:r>
              <a:rPr lang="en-US" altLang="zh-CN" sz="2400" dirty="0" err="1"/>
              <a:t>pd.rolling_min</a:t>
            </a:r>
            <a:r>
              <a:rPr lang="en-US" altLang="zh-CN" sz="2400" dirty="0"/>
              <a:t>(A,10)</a:t>
            </a:r>
            <a:endParaRPr lang="zh-CN" altLang="zh-CN" sz="2400" dirty="0"/>
          </a:p>
          <a:p>
            <a:r>
              <a:rPr lang="en-US" altLang="zh-CN" sz="2400" dirty="0" err="1"/>
              <a:t>Max_S</a:t>
            </a:r>
            <a:r>
              <a:rPr lang="en-US" altLang="zh-CN" sz="2400" dirty="0"/>
              <a:t>=</a:t>
            </a:r>
            <a:r>
              <a:rPr lang="en-US" altLang="zh-CN" sz="2400" dirty="0" err="1"/>
              <a:t>pd.rolling_max</a:t>
            </a:r>
            <a:r>
              <a:rPr lang="en-US" altLang="zh-CN" sz="2400" dirty="0"/>
              <a:t>(S,10)</a:t>
            </a:r>
            <a:endParaRPr lang="zh-CN" altLang="zh-CN" sz="2400" dirty="0"/>
          </a:p>
          <a:p>
            <a:r>
              <a:rPr lang="en-US" altLang="zh-CN" sz="2400" dirty="0" err="1"/>
              <a:t>Max_A</a:t>
            </a:r>
            <a:r>
              <a:rPr lang="en-US" altLang="zh-CN" sz="2400" dirty="0"/>
              <a:t>=</a:t>
            </a:r>
            <a:r>
              <a:rPr lang="en-US" altLang="zh-CN" sz="2400" dirty="0" err="1"/>
              <a:t>pd.rolling_max</a:t>
            </a:r>
            <a:r>
              <a:rPr lang="en-US" altLang="zh-CN" sz="2400" dirty="0"/>
              <a:t>(A,10)</a:t>
            </a:r>
            <a:endParaRPr lang="zh-CN" altLang="zh-CN" sz="2400" dirty="0"/>
          </a:p>
        </p:txBody>
      </p:sp>
      <p:sp>
        <p:nvSpPr>
          <p:cNvPr id="4" name="矩形 3"/>
          <p:cNvSpPr/>
          <p:nvPr/>
        </p:nvSpPr>
        <p:spPr>
          <a:xfrm>
            <a:off x="9145588" y="5606540"/>
            <a:ext cx="877163" cy="369332"/>
          </a:xfrm>
          <a:prstGeom prst="rect">
            <a:avLst/>
          </a:prstGeom>
        </p:spPr>
        <p:txBody>
          <a:bodyPr wrap="none">
            <a:spAutoFit/>
          </a:bodyPr>
          <a:lstStyle/>
          <a:p>
            <a:r>
              <a:rPr lang="zh-CN" altLang="zh-CN" dirty="0"/>
              <a:t>图</a:t>
            </a:r>
            <a:r>
              <a:rPr lang="en-US" altLang="zh-CN" dirty="0"/>
              <a:t>3-26</a:t>
            </a:r>
            <a:endParaRPr lang="zh-CN" altLang="zh-CN" dirty="0"/>
          </a:p>
        </p:txBody>
      </p:sp>
    </p:spTree>
  </p:cSld>
  <p:clrMapOvr>
    <a:masterClrMapping/>
  </p:clrMapOvr>
  <mc:AlternateContent xmlns:mc="http://schemas.openxmlformats.org/markup-compatibility/2006" xmlns:p14="http://schemas.microsoft.com/office/powerpoint/2010/main">
    <mc:Choice Requires="p14">
      <p:transition p14:dur="10" advTm="9437"/>
    </mc:Choice>
    <mc:Fallback xmlns="">
      <p:transition advTm="9437"/>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Box 54"/>
          <p:cNvSpPr txBox="1"/>
          <p:nvPr/>
        </p:nvSpPr>
        <p:spPr>
          <a:xfrm>
            <a:off x="1330765" y="44625"/>
            <a:ext cx="5919743" cy="523214"/>
          </a:xfrm>
          <a:prstGeom prst="rect">
            <a:avLst/>
          </a:prstGeom>
          <a:noFill/>
        </p:spPr>
        <p:txBody>
          <a:bodyPr wrap="square" lIns="91434" tIns="45717" rIns="91434" bIns="45717"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r>
              <a:rPr lang="zh-CN" altLang="en-US" sz="2800" dirty="0" smtClean="0">
                <a:solidFill>
                  <a:schemeClr val="accent2"/>
                </a:solidFill>
                <a:latin typeface="微软雅黑" panose="020B0503020204020204" pitchFamily="34" charset="-122"/>
                <a:ea typeface="微软雅黑" panose="020B0503020204020204" pitchFamily="34" charset="-122"/>
              </a:rPr>
              <a:t>本章小结</a:t>
            </a:r>
            <a:endParaRPr lang="zh-CN" altLang="en-US" sz="2800" dirty="0">
              <a:solidFill>
                <a:schemeClr val="accent2"/>
              </a:solidFill>
              <a:latin typeface="微软雅黑" panose="020B0503020204020204" pitchFamily="34" charset="-122"/>
              <a:ea typeface="微软雅黑" panose="020B0503020204020204" pitchFamily="34" charset="-122"/>
            </a:endParaRPr>
          </a:p>
        </p:txBody>
      </p:sp>
      <p:sp>
        <p:nvSpPr>
          <p:cNvPr id="56" name="TextBox 55"/>
          <p:cNvSpPr txBox="1"/>
          <p:nvPr/>
        </p:nvSpPr>
        <p:spPr>
          <a:xfrm>
            <a:off x="140263" y="106179"/>
            <a:ext cx="1064260" cy="400103"/>
          </a:xfrm>
          <a:prstGeom prst="rect">
            <a:avLst/>
          </a:prstGeom>
          <a:noFill/>
        </p:spPr>
        <p:txBody>
          <a:bodyPr wrap="square" lIns="91434" tIns="45717" rIns="91434" bIns="45717" rtlCol="0">
            <a:spAutoFit/>
          </a:bodyPr>
          <a:lstStyle/>
          <a:p>
            <a:pPr algn="r"/>
            <a:r>
              <a:rPr lang="en-US" altLang="zh-CN" sz="2000" dirty="0">
                <a:solidFill>
                  <a:schemeClr val="accent2"/>
                </a:solidFill>
              </a:rPr>
              <a:t>Part</a:t>
            </a:r>
            <a:r>
              <a:rPr lang="en-US" altLang="zh-CN" dirty="0">
                <a:solidFill>
                  <a:schemeClr val="accent2"/>
                </a:solidFill>
              </a:rPr>
              <a:t> </a:t>
            </a:r>
            <a:r>
              <a:rPr lang="en-US" altLang="zh-CN" dirty="0" smtClean="0">
                <a:solidFill>
                  <a:schemeClr val="accent2"/>
                </a:solidFill>
              </a:rPr>
              <a:t>3</a:t>
            </a:r>
            <a:endParaRPr lang="zh-CN" altLang="en-US" dirty="0">
              <a:solidFill>
                <a:schemeClr val="accent2"/>
              </a:solidFill>
            </a:endParaRPr>
          </a:p>
        </p:txBody>
      </p:sp>
      <p:sp>
        <p:nvSpPr>
          <p:cNvPr id="4" name="矩形 3"/>
          <p:cNvSpPr/>
          <p:nvPr/>
        </p:nvSpPr>
        <p:spPr>
          <a:xfrm>
            <a:off x="1330765" y="567840"/>
            <a:ext cx="9880184" cy="5324535"/>
          </a:xfrm>
          <a:prstGeom prst="rect">
            <a:avLst/>
          </a:prstGeom>
        </p:spPr>
        <p:txBody>
          <a:bodyPr wrap="square">
            <a:spAutoFit/>
          </a:bodyPr>
          <a:lstStyle/>
          <a:p>
            <a:r>
              <a:rPr lang="en-US" altLang="zh-CN" sz="2000" dirty="0" smtClean="0"/>
              <a:t>     </a:t>
            </a:r>
            <a:r>
              <a:rPr lang="zh-CN" altLang="zh-CN" sz="2000" dirty="0" smtClean="0"/>
              <a:t>本章</a:t>
            </a:r>
            <a:r>
              <a:rPr lang="zh-CN" altLang="zh-CN" sz="2000" dirty="0"/>
              <a:t>介绍了</a:t>
            </a:r>
            <a:r>
              <a:rPr lang="en-US" altLang="zh-CN" sz="2000" dirty="0"/>
              <a:t>Python</a:t>
            </a:r>
            <a:r>
              <a:rPr lang="zh-CN" altLang="zh-CN" sz="2000" dirty="0"/>
              <a:t>数据处理与分析中最重要包：</a:t>
            </a:r>
            <a:r>
              <a:rPr lang="en-US" altLang="zh-CN" sz="2000" dirty="0"/>
              <a:t>Pandas</a:t>
            </a:r>
            <a:r>
              <a:rPr lang="zh-CN" altLang="zh-CN" sz="2000" dirty="0"/>
              <a:t>。包括</a:t>
            </a:r>
            <a:r>
              <a:rPr lang="en-US" altLang="zh-CN" sz="2000" dirty="0"/>
              <a:t>Pandas</a:t>
            </a:r>
            <a:r>
              <a:rPr lang="zh-CN" altLang="zh-CN" sz="2000" dirty="0"/>
              <a:t>包的导入及使用方法，</a:t>
            </a:r>
            <a:r>
              <a:rPr lang="en-US" altLang="zh-CN" sz="2000" dirty="0"/>
              <a:t>Pandas</a:t>
            </a:r>
            <a:r>
              <a:rPr lang="zh-CN" altLang="zh-CN" sz="2000" dirty="0"/>
              <a:t>库中两个非常重要的数据结构序列（</a:t>
            </a:r>
            <a:r>
              <a:rPr lang="en-US" altLang="zh-CN" sz="2000" dirty="0"/>
              <a:t>Series</a:t>
            </a:r>
            <a:r>
              <a:rPr lang="zh-CN" altLang="zh-CN" sz="2000" dirty="0"/>
              <a:t>）和数据框（</a:t>
            </a:r>
            <a:r>
              <a:rPr lang="en-US" altLang="zh-CN" sz="2000" dirty="0" err="1"/>
              <a:t>DataFrame</a:t>
            </a:r>
            <a:r>
              <a:rPr lang="zh-CN" altLang="zh-CN" sz="2000" dirty="0"/>
              <a:t>），以及相关的数据访问、切片及计算。值得注意的是，读者需要掌握数据框、序列和</a:t>
            </a:r>
            <a:r>
              <a:rPr lang="en-US" altLang="zh-CN" sz="2000" dirty="0" err="1"/>
              <a:t>Numpy</a:t>
            </a:r>
            <a:r>
              <a:rPr lang="zh-CN" altLang="zh-CN" sz="2000" dirty="0"/>
              <a:t>数组之间的关系。从数据框中取出一列，它变为序列，取序列中的</a:t>
            </a:r>
            <a:r>
              <a:rPr lang="en-US" altLang="zh-CN" sz="2000" dirty="0"/>
              <a:t>values</a:t>
            </a:r>
            <a:r>
              <a:rPr lang="zh-CN" altLang="zh-CN" sz="2000" dirty="0"/>
              <a:t>属性得到序列的值，它其实是</a:t>
            </a:r>
            <a:r>
              <a:rPr lang="en-US" altLang="zh-CN" sz="2000" dirty="0" err="1"/>
              <a:t>Numpy</a:t>
            </a:r>
            <a:r>
              <a:rPr lang="zh-CN" altLang="zh-CN" sz="2000" dirty="0"/>
              <a:t>数组。从数据框中切片出来多个数据列，它仍然是数据框。取数据框中的</a:t>
            </a:r>
            <a:r>
              <a:rPr lang="en-US" altLang="zh-CN" sz="2000" dirty="0"/>
              <a:t>values</a:t>
            </a:r>
            <a:r>
              <a:rPr lang="zh-CN" altLang="zh-CN" sz="2000" dirty="0"/>
              <a:t>属性得到数据框中的元素值，它是一个</a:t>
            </a:r>
            <a:r>
              <a:rPr lang="en-US" altLang="zh-CN" sz="2000" dirty="0" err="1"/>
              <a:t>Numpy</a:t>
            </a:r>
            <a:r>
              <a:rPr lang="zh-CN" altLang="zh-CN" sz="2000" dirty="0"/>
              <a:t>数组。如果数据框中的元素是纯数值类型，可以通过函数</a:t>
            </a:r>
            <a:r>
              <a:rPr lang="en-US" altLang="zh-CN" sz="2000" dirty="0" err="1"/>
              <a:t>as_matrix</a:t>
            </a:r>
            <a:r>
              <a:rPr lang="en-US" altLang="zh-CN" sz="2000" dirty="0"/>
              <a:t>()</a:t>
            </a:r>
            <a:r>
              <a:rPr lang="zh-CN" altLang="zh-CN" sz="2000" dirty="0"/>
              <a:t>直接转换为</a:t>
            </a:r>
            <a:r>
              <a:rPr lang="en-US" altLang="zh-CN" sz="2000" dirty="0" err="1"/>
              <a:t>Numpy</a:t>
            </a:r>
            <a:r>
              <a:rPr lang="zh-CN" altLang="zh-CN" sz="2000" dirty="0"/>
              <a:t>数组，这样在计算和使用起来显得更加方便。同时我们还应该注意数据框与外部数据文件的读写，特别是</a:t>
            </a:r>
            <a:r>
              <a:rPr lang="en-US" altLang="zh-CN" sz="2000" dirty="0"/>
              <a:t>Excel</a:t>
            </a:r>
            <a:r>
              <a:rPr lang="zh-CN" altLang="zh-CN" sz="2000" dirty="0"/>
              <a:t>文件，它为数据报表的产生提供了极大的便利。在程序编写过程我们还应该注意不同数据类型之间的转换，比如通过字典可以转换为数据框，其中字典的键转化为数据框中的列名，字典的值转化为数据框中的元素值，而字典的值可以是列表或者数组。这样就实现了列表、字典、数组、序列、数据框等各种数据类型和数据结构之间的相互转化，从而完成各种计算任务。事实上，不同数据结构之间的相互转化也是一种非常重要的编程技能和应用技巧，后续在案例篇中会有具体应用，请读者们到时注意领会。在本章的最后也介绍了</a:t>
            </a:r>
            <a:r>
              <a:rPr lang="en-US" altLang="zh-CN" sz="2000" dirty="0"/>
              <a:t>Pandas</a:t>
            </a:r>
            <a:r>
              <a:rPr lang="zh-CN" altLang="zh-CN" sz="2000" dirty="0"/>
              <a:t>包中的外部文件读取方法和利用</a:t>
            </a:r>
            <a:r>
              <a:rPr lang="en-US" altLang="zh-CN" sz="2000" dirty="0"/>
              <a:t>Pandas</a:t>
            </a:r>
            <a:r>
              <a:rPr lang="zh-CN" altLang="zh-CN" sz="2000" dirty="0"/>
              <a:t>包中的函数完成计算任务。</a:t>
            </a:r>
            <a:r>
              <a:rPr lang="en-US" altLang="zh-CN" sz="2000" dirty="0"/>
              <a:t>Pandas</a:t>
            </a:r>
            <a:r>
              <a:rPr lang="zh-CN" altLang="zh-CN" sz="2000" dirty="0"/>
              <a:t>包的内容非常丰富，本章只是介绍其基本部分，更多的内容请查找相关文献或者借助网络资源进行学习。</a:t>
            </a:r>
          </a:p>
        </p:txBody>
      </p:sp>
    </p:spTree>
  </p:cSld>
  <p:clrMapOvr>
    <a:masterClrMapping/>
  </p:clrMapOvr>
  <mc:AlternateContent xmlns:mc="http://schemas.openxmlformats.org/markup-compatibility/2006" xmlns:p14="http://schemas.microsoft.com/office/powerpoint/2010/main">
    <mc:Choice Requires="p14">
      <p:transition p14:dur="10" advTm="9437"/>
    </mc:Choice>
    <mc:Fallback xmlns="">
      <p:transition advTm="9437"/>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Box 54"/>
          <p:cNvSpPr txBox="1"/>
          <p:nvPr/>
        </p:nvSpPr>
        <p:spPr>
          <a:xfrm>
            <a:off x="1330765" y="44625"/>
            <a:ext cx="5919743" cy="523214"/>
          </a:xfrm>
          <a:prstGeom prst="rect">
            <a:avLst/>
          </a:prstGeom>
          <a:noFill/>
        </p:spPr>
        <p:txBody>
          <a:bodyPr wrap="square" lIns="91434" tIns="45717" rIns="91434" bIns="45717"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r>
              <a:rPr lang="zh-CN" altLang="en-US" sz="2800" dirty="0" smtClean="0">
                <a:solidFill>
                  <a:schemeClr val="accent2"/>
                </a:solidFill>
                <a:latin typeface="微软雅黑" panose="020B0503020204020204" pitchFamily="34" charset="-122"/>
                <a:ea typeface="微软雅黑" panose="020B0503020204020204" pitchFamily="34" charset="-122"/>
              </a:rPr>
              <a:t>本章练习</a:t>
            </a:r>
            <a:endParaRPr lang="zh-CN" altLang="en-US" sz="2800" dirty="0">
              <a:solidFill>
                <a:schemeClr val="accent2"/>
              </a:solidFill>
              <a:latin typeface="微软雅黑" panose="020B0503020204020204" pitchFamily="34" charset="-122"/>
              <a:ea typeface="微软雅黑" panose="020B0503020204020204" pitchFamily="34" charset="-122"/>
            </a:endParaRPr>
          </a:p>
        </p:txBody>
      </p:sp>
      <p:sp>
        <p:nvSpPr>
          <p:cNvPr id="56" name="TextBox 55"/>
          <p:cNvSpPr txBox="1"/>
          <p:nvPr/>
        </p:nvSpPr>
        <p:spPr>
          <a:xfrm>
            <a:off x="140263" y="106179"/>
            <a:ext cx="1064260" cy="400103"/>
          </a:xfrm>
          <a:prstGeom prst="rect">
            <a:avLst/>
          </a:prstGeom>
          <a:noFill/>
        </p:spPr>
        <p:txBody>
          <a:bodyPr wrap="square" lIns="91434" tIns="45717" rIns="91434" bIns="45717" rtlCol="0">
            <a:spAutoFit/>
          </a:bodyPr>
          <a:lstStyle/>
          <a:p>
            <a:pPr algn="r"/>
            <a:r>
              <a:rPr lang="en-US" altLang="zh-CN" sz="2000" dirty="0">
                <a:solidFill>
                  <a:schemeClr val="accent2"/>
                </a:solidFill>
              </a:rPr>
              <a:t>Part</a:t>
            </a:r>
            <a:r>
              <a:rPr lang="en-US" altLang="zh-CN" dirty="0">
                <a:solidFill>
                  <a:schemeClr val="accent2"/>
                </a:solidFill>
              </a:rPr>
              <a:t> </a:t>
            </a:r>
            <a:r>
              <a:rPr lang="en-US" altLang="zh-CN" dirty="0" smtClean="0">
                <a:solidFill>
                  <a:schemeClr val="accent2"/>
                </a:solidFill>
              </a:rPr>
              <a:t>3</a:t>
            </a:r>
            <a:endParaRPr lang="zh-CN" altLang="en-US" dirty="0">
              <a:solidFill>
                <a:schemeClr val="accent2"/>
              </a:solidFill>
            </a:endParaRPr>
          </a:p>
        </p:txBody>
      </p:sp>
      <p:sp>
        <p:nvSpPr>
          <p:cNvPr id="5" name="矩形 4"/>
          <p:cNvSpPr/>
          <p:nvPr/>
        </p:nvSpPr>
        <p:spPr>
          <a:xfrm>
            <a:off x="721089" y="567839"/>
            <a:ext cx="8375799" cy="1569660"/>
          </a:xfrm>
          <a:prstGeom prst="rect">
            <a:avLst/>
          </a:prstGeom>
        </p:spPr>
        <p:txBody>
          <a:bodyPr wrap="square">
            <a:spAutoFit/>
          </a:bodyPr>
          <a:lstStyle/>
          <a:p>
            <a:r>
              <a:rPr lang="zh-CN" altLang="en-US" sz="2400" dirty="0" smtClean="0"/>
              <a:t>第一题</a:t>
            </a:r>
            <a:endParaRPr lang="en-US" altLang="zh-CN" sz="2400" dirty="0" smtClean="0"/>
          </a:p>
          <a:p>
            <a:r>
              <a:rPr lang="zh-CN" altLang="zh-CN" sz="2400" dirty="0" smtClean="0"/>
              <a:t>创建</a:t>
            </a:r>
            <a:r>
              <a:rPr lang="zh-CN" altLang="zh-CN" sz="2400" dirty="0"/>
              <a:t>一个</a:t>
            </a:r>
            <a:r>
              <a:rPr lang="en-US" altLang="zh-CN" sz="2400" dirty="0"/>
              <a:t>Python</a:t>
            </a:r>
            <a:r>
              <a:rPr lang="zh-CN" altLang="zh-CN" sz="2400" dirty="0"/>
              <a:t>脚本，命名为</a:t>
            </a:r>
            <a:r>
              <a:rPr lang="en-US" altLang="zh-CN" sz="2400" dirty="0"/>
              <a:t>test1.py</a:t>
            </a:r>
            <a:r>
              <a:rPr lang="zh-CN" altLang="zh-CN" sz="2400" dirty="0"/>
              <a:t>，完成以下功能：</a:t>
            </a:r>
          </a:p>
          <a:p>
            <a:r>
              <a:rPr lang="zh-CN" altLang="zh-CN" sz="2400" dirty="0"/>
              <a:t>读取以下</a:t>
            </a:r>
            <a:r>
              <a:rPr lang="en-US" altLang="zh-CN" sz="2400" dirty="0"/>
              <a:t>4</a:t>
            </a:r>
            <a:r>
              <a:rPr lang="zh-CN" altLang="zh-CN" sz="2400" dirty="0"/>
              <a:t>位同学的成绩并用一个数据框变量</a:t>
            </a:r>
            <a:r>
              <a:rPr lang="en-US" altLang="zh-CN" sz="2400" dirty="0" err="1"/>
              <a:t>pd</a:t>
            </a:r>
            <a:r>
              <a:rPr lang="zh-CN" altLang="zh-CN" sz="2400" dirty="0"/>
              <a:t>来保存，其中成绩保存在一个</a:t>
            </a:r>
            <a:r>
              <a:rPr lang="en-US" altLang="zh-CN" sz="2400" dirty="0"/>
              <a:t>TXT</a:t>
            </a:r>
            <a:r>
              <a:rPr lang="zh-CN" altLang="zh-CN" sz="2400" dirty="0"/>
              <a:t>文件中，如下图所示：</a:t>
            </a:r>
          </a:p>
        </p:txBody>
      </p:sp>
      <p:pic>
        <p:nvPicPr>
          <p:cNvPr id="9" name="图片 8"/>
          <p:cNvPicPr/>
          <p:nvPr/>
        </p:nvPicPr>
        <p:blipFill>
          <a:blip r:embed="rId3" cstate="print"/>
          <a:stretch>
            <a:fillRect/>
          </a:stretch>
        </p:blipFill>
        <p:spPr>
          <a:xfrm>
            <a:off x="3475597" y="2351782"/>
            <a:ext cx="3774911" cy="3021434"/>
          </a:xfrm>
          <a:prstGeom prst="rect">
            <a:avLst/>
          </a:prstGeom>
          <a:noFill/>
          <a:ln>
            <a:noFill/>
          </a:ln>
        </p:spPr>
      </p:pic>
      <p:sp>
        <p:nvSpPr>
          <p:cNvPr id="6" name="矩形 5"/>
          <p:cNvSpPr/>
          <p:nvPr/>
        </p:nvSpPr>
        <p:spPr>
          <a:xfrm>
            <a:off x="721089" y="5373216"/>
            <a:ext cx="8473195" cy="830997"/>
          </a:xfrm>
          <a:prstGeom prst="rect">
            <a:avLst/>
          </a:prstGeom>
        </p:spPr>
        <p:txBody>
          <a:bodyPr wrap="square">
            <a:spAutoFit/>
          </a:bodyPr>
          <a:lstStyle/>
          <a:p>
            <a:r>
              <a:rPr lang="zh-CN" altLang="zh-CN" sz="2400" dirty="0"/>
              <a:t>对</a:t>
            </a:r>
            <a:r>
              <a:rPr lang="en-US" altLang="zh-CN" sz="2400" dirty="0" err="1"/>
              <a:t>pd</a:t>
            </a:r>
            <a:r>
              <a:rPr lang="zh-CN" altLang="zh-CN" sz="2400" dirty="0"/>
              <a:t>进行切片操作，分别获得小红、张明、小江、小李各科成绩，它们是</a:t>
            </a:r>
            <a:r>
              <a:rPr lang="en-US" altLang="zh-CN" sz="2400" dirty="0"/>
              <a:t>4</a:t>
            </a:r>
            <a:r>
              <a:rPr lang="zh-CN" altLang="zh-CN" sz="2400" dirty="0"/>
              <a:t>个数据框变量，分别记为</a:t>
            </a:r>
            <a:r>
              <a:rPr lang="en-US" altLang="zh-CN" sz="2400" dirty="0"/>
              <a:t>pd1</a:t>
            </a:r>
            <a:r>
              <a:rPr lang="zh-CN" altLang="zh-CN" sz="2400" dirty="0"/>
              <a:t>、</a:t>
            </a:r>
            <a:r>
              <a:rPr lang="en-US" altLang="zh-CN" sz="2400" dirty="0"/>
              <a:t>pd2</a:t>
            </a:r>
            <a:r>
              <a:rPr lang="zh-CN" altLang="zh-CN" sz="2400" dirty="0"/>
              <a:t>、</a:t>
            </a:r>
            <a:r>
              <a:rPr lang="en-US" altLang="zh-CN" sz="2400" dirty="0"/>
              <a:t>pd3</a:t>
            </a:r>
            <a:r>
              <a:rPr lang="zh-CN" altLang="zh-CN" sz="2400" dirty="0"/>
              <a:t>、</a:t>
            </a:r>
            <a:r>
              <a:rPr lang="en-US" altLang="zh-CN" sz="2400" dirty="0"/>
              <a:t>pd4</a:t>
            </a:r>
            <a:r>
              <a:rPr lang="zh-CN" altLang="zh-CN" sz="2400" dirty="0"/>
              <a:t>。</a:t>
            </a:r>
          </a:p>
        </p:txBody>
      </p:sp>
    </p:spTree>
  </p:cSld>
  <p:clrMapOvr>
    <a:masterClrMapping/>
  </p:clrMapOvr>
  <mc:AlternateContent xmlns:mc="http://schemas.openxmlformats.org/markup-compatibility/2006" xmlns:p14="http://schemas.microsoft.com/office/powerpoint/2010/main">
    <mc:Choice Requires="p14">
      <p:transition p14:dur="10" advTm="9437"/>
    </mc:Choice>
    <mc:Fallback xmlns="">
      <p:transition advTm="9437"/>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Box 54"/>
          <p:cNvSpPr txBox="1"/>
          <p:nvPr/>
        </p:nvSpPr>
        <p:spPr>
          <a:xfrm>
            <a:off x="1330765" y="44625"/>
            <a:ext cx="5919743" cy="523214"/>
          </a:xfrm>
          <a:prstGeom prst="rect">
            <a:avLst/>
          </a:prstGeom>
          <a:noFill/>
        </p:spPr>
        <p:txBody>
          <a:bodyPr wrap="square" lIns="91434" tIns="45717" rIns="91434" bIns="45717"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r>
              <a:rPr lang="zh-CN" altLang="en-US" sz="2800" dirty="0" smtClean="0">
                <a:solidFill>
                  <a:schemeClr val="accent2"/>
                </a:solidFill>
                <a:latin typeface="微软雅黑" panose="020B0503020204020204" pitchFamily="34" charset="-122"/>
                <a:ea typeface="微软雅黑" panose="020B0503020204020204" pitchFamily="34" charset="-122"/>
              </a:rPr>
              <a:t>本章练习</a:t>
            </a:r>
            <a:endParaRPr lang="zh-CN" altLang="en-US" sz="2800" dirty="0">
              <a:solidFill>
                <a:schemeClr val="accent2"/>
              </a:solidFill>
              <a:latin typeface="微软雅黑" panose="020B0503020204020204" pitchFamily="34" charset="-122"/>
              <a:ea typeface="微软雅黑" panose="020B0503020204020204" pitchFamily="34" charset="-122"/>
            </a:endParaRPr>
          </a:p>
        </p:txBody>
      </p:sp>
      <p:sp>
        <p:nvSpPr>
          <p:cNvPr id="56" name="TextBox 55"/>
          <p:cNvSpPr txBox="1"/>
          <p:nvPr/>
        </p:nvSpPr>
        <p:spPr>
          <a:xfrm>
            <a:off x="140263" y="106179"/>
            <a:ext cx="1064260" cy="400103"/>
          </a:xfrm>
          <a:prstGeom prst="rect">
            <a:avLst/>
          </a:prstGeom>
          <a:noFill/>
        </p:spPr>
        <p:txBody>
          <a:bodyPr wrap="square" lIns="91434" tIns="45717" rIns="91434" bIns="45717" rtlCol="0">
            <a:spAutoFit/>
          </a:bodyPr>
          <a:lstStyle/>
          <a:p>
            <a:pPr algn="r"/>
            <a:r>
              <a:rPr lang="en-US" altLang="zh-CN" sz="2000" dirty="0">
                <a:solidFill>
                  <a:schemeClr val="accent2"/>
                </a:solidFill>
              </a:rPr>
              <a:t>Part</a:t>
            </a:r>
            <a:r>
              <a:rPr lang="en-US" altLang="zh-CN" dirty="0">
                <a:solidFill>
                  <a:schemeClr val="accent2"/>
                </a:solidFill>
              </a:rPr>
              <a:t> </a:t>
            </a:r>
            <a:r>
              <a:rPr lang="en-US" altLang="zh-CN" dirty="0" smtClean="0">
                <a:solidFill>
                  <a:schemeClr val="accent2"/>
                </a:solidFill>
              </a:rPr>
              <a:t>3</a:t>
            </a:r>
            <a:endParaRPr lang="zh-CN" altLang="en-US" dirty="0">
              <a:solidFill>
                <a:schemeClr val="accent2"/>
              </a:solidFill>
            </a:endParaRPr>
          </a:p>
        </p:txBody>
      </p:sp>
      <p:sp>
        <p:nvSpPr>
          <p:cNvPr id="5" name="矩形 4"/>
          <p:cNvSpPr/>
          <p:nvPr/>
        </p:nvSpPr>
        <p:spPr>
          <a:xfrm>
            <a:off x="721089" y="567839"/>
            <a:ext cx="8375799" cy="2308324"/>
          </a:xfrm>
          <a:prstGeom prst="rect">
            <a:avLst/>
          </a:prstGeom>
        </p:spPr>
        <p:txBody>
          <a:bodyPr wrap="square">
            <a:spAutoFit/>
          </a:bodyPr>
          <a:lstStyle/>
          <a:p>
            <a:r>
              <a:rPr lang="zh-CN" altLang="en-US" sz="2400" dirty="0" smtClean="0"/>
              <a:t>第二题</a:t>
            </a:r>
            <a:endParaRPr lang="en-US" altLang="zh-CN" sz="2400" dirty="0" smtClean="0"/>
          </a:p>
          <a:p>
            <a:r>
              <a:rPr lang="zh-CN" altLang="zh-CN" sz="2400" dirty="0"/>
              <a:t>利用数据框中自身的聚合计算方法，计算并获得每个同学各科成绩的平均分，记为</a:t>
            </a:r>
            <a:r>
              <a:rPr lang="en-US" altLang="zh-CN" sz="2400" dirty="0"/>
              <a:t>M1</a:t>
            </a:r>
            <a:r>
              <a:rPr lang="zh-CN" altLang="zh-CN" sz="2400" dirty="0"/>
              <a:t>、</a:t>
            </a:r>
            <a:r>
              <a:rPr lang="en-US" altLang="zh-CN" sz="2400" dirty="0"/>
              <a:t>M2</a:t>
            </a:r>
            <a:r>
              <a:rPr lang="zh-CN" altLang="zh-CN" sz="2400" dirty="0"/>
              <a:t>、</a:t>
            </a:r>
            <a:r>
              <a:rPr lang="en-US" altLang="zh-CN" sz="2400" dirty="0"/>
              <a:t>M3</a:t>
            </a:r>
            <a:r>
              <a:rPr lang="zh-CN" altLang="zh-CN" sz="2400" dirty="0"/>
              <a:t>、</a:t>
            </a:r>
            <a:r>
              <a:rPr lang="en-US" altLang="zh-CN" sz="2400" dirty="0"/>
              <a:t>M4</a:t>
            </a:r>
            <a:r>
              <a:rPr lang="zh-CN" altLang="zh-CN" sz="2400" dirty="0"/>
              <a:t>。</a:t>
            </a:r>
          </a:p>
          <a:p>
            <a:r>
              <a:rPr lang="zh-CN" altLang="zh-CN" sz="2400" dirty="0"/>
              <a:t>创建一个</a:t>
            </a:r>
            <a:r>
              <a:rPr lang="en-US" altLang="zh-CN" sz="2400" dirty="0"/>
              <a:t>Python</a:t>
            </a:r>
            <a:r>
              <a:rPr lang="zh-CN" altLang="zh-CN" sz="2400" dirty="0"/>
              <a:t>脚本，命名为</a:t>
            </a:r>
            <a:r>
              <a:rPr lang="en-US" altLang="zh-CN" sz="2400" dirty="0"/>
              <a:t>test2.py</a:t>
            </a:r>
            <a:r>
              <a:rPr lang="zh-CN" altLang="zh-CN" sz="2400" dirty="0"/>
              <a:t>，完成以下功能：</a:t>
            </a:r>
          </a:p>
          <a:p>
            <a:r>
              <a:rPr lang="zh-CN" altLang="zh-CN" sz="2400" dirty="0"/>
              <a:t>读取以下</a:t>
            </a:r>
            <a:r>
              <a:rPr lang="en-US" altLang="zh-CN" sz="2400" dirty="0"/>
              <a:t>Excel</a:t>
            </a:r>
            <a:r>
              <a:rPr lang="zh-CN" altLang="zh-CN" sz="2400" dirty="0"/>
              <a:t>表格数据并用一个数据框变量</a:t>
            </a:r>
            <a:r>
              <a:rPr lang="en-US" altLang="zh-CN" sz="2400" dirty="0" err="1"/>
              <a:t>df</a:t>
            </a:r>
            <a:r>
              <a:rPr lang="zh-CN" altLang="zh-CN" sz="2400" dirty="0"/>
              <a:t>来保存，数据内容如下表所示：</a:t>
            </a: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1089" y="2876162"/>
            <a:ext cx="3333750" cy="3505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矩形 1"/>
          <p:cNvSpPr/>
          <p:nvPr/>
        </p:nvSpPr>
        <p:spPr>
          <a:xfrm>
            <a:off x="5162277" y="3131492"/>
            <a:ext cx="6096000" cy="3046095"/>
          </a:xfrm>
          <a:prstGeom prst="rect">
            <a:avLst/>
          </a:prstGeom>
        </p:spPr>
        <p:txBody>
          <a:bodyPr>
            <a:spAutoFit/>
          </a:bodyPr>
          <a:lstStyle/>
          <a:p>
            <a:r>
              <a:rPr lang="zh-CN" altLang="zh-CN" sz="2400" dirty="0"/>
              <a:t>对</a:t>
            </a:r>
            <a:r>
              <a:rPr lang="en-US" altLang="zh-CN" sz="2400" dirty="0" err="1"/>
              <a:t>df</a:t>
            </a:r>
            <a:r>
              <a:rPr lang="zh-CN" altLang="zh-CN" sz="2400" dirty="0"/>
              <a:t>第</a:t>
            </a:r>
            <a:r>
              <a:rPr lang="en-US" altLang="zh-CN" sz="2400" dirty="0"/>
              <a:t>3</a:t>
            </a:r>
            <a:r>
              <a:rPr lang="zh-CN" altLang="zh-CN" sz="2400" dirty="0"/>
              <a:t>、</a:t>
            </a:r>
            <a:r>
              <a:rPr lang="en-US" altLang="zh-CN" sz="2400" dirty="0"/>
              <a:t>4</a:t>
            </a:r>
            <a:r>
              <a:rPr lang="zh-CN" altLang="zh-CN" sz="2400" dirty="0"/>
              <a:t>列进行切片，切片后为一个新的数据框记为</a:t>
            </a:r>
            <a:r>
              <a:rPr lang="en-US" altLang="zh-CN" sz="2400" dirty="0"/>
              <a:t>df1</a:t>
            </a:r>
            <a:r>
              <a:rPr lang="zh-CN" altLang="zh-CN" sz="2400" dirty="0"/>
              <a:t>，并对</a:t>
            </a:r>
            <a:r>
              <a:rPr lang="en-US" altLang="zh-CN" sz="2400" dirty="0"/>
              <a:t>df1</a:t>
            </a:r>
            <a:r>
              <a:rPr lang="zh-CN" altLang="zh-CN" sz="2400" dirty="0"/>
              <a:t>利用自身的方法转换为</a:t>
            </a:r>
            <a:r>
              <a:rPr lang="en-US" altLang="zh-CN" sz="2400" dirty="0" err="1"/>
              <a:t>Numpy</a:t>
            </a:r>
            <a:r>
              <a:rPr lang="zh-CN" altLang="zh-CN" sz="2400" dirty="0"/>
              <a:t>数组</a:t>
            </a:r>
            <a:r>
              <a:rPr lang="en-US" altLang="zh-CN" sz="2400" dirty="0" err="1"/>
              <a:t>Nt</a:t>
            </a:r>
            <a:r>
              <a:rPr lang="zh-CN" altLang="zh-CN" sz="2400" dirty="0"/>
              <a:t>。</a:t>
            </a:r>
          </a:p>
          <a:p>
            <a:r>
              <a:rPr lang="zh-CN" altLang="zh-CN" sz="2400" dirty="0"/>
              <a:t>基于</a:t>
            </a:r>
            <a:r>
              <a:rPr lang="en-US" altLang="zh-CN" sz="2400" dirty="0" err="1"/>
              <a:t>df</a:t>
            </a:r>
            <a:r>
              <a:rPr lang="zh-CN" altLang="zh-CN" sz="2400" dirty="0"/>
              <a:t>第</a:t>
            </a:r>
            <a:r>
              <a:rPr lang="en-US" altLang="zh-CN" sz="2400" dirty="0"/>
              <a:t>2</a:t>
            </a:r>
            <a:r>
              <a:rPr lang="zh-CN" altLang="zh-CN" sz="2400" dirty="0"/>
              <a:t>列，构造一个逻辑数组</a:t>
            </a:r>
            <a:r>
              <a:rPr lang="en-US" altLang="zh-CN" sz="2400" dirty="0"/>
              <a:t>TF</a:t>
            </a:r>
            <a:r>
              <a:rPr lang="zh-CN" altLang="zh-CN" sz="2400" dirty="0"/>
              <a:t>，即满足交易日期小于等于</a:t>
            </a:r>
            <a:r>
              <a:rPr lang="en-US" altLang="zh-CN" sz="2400" dirty="0"/>
              <a:t>2017-01-16</a:t>
            </a:r>
            <a:r>
              <a:rPr lang="zh-CN" altLang="zh-CN" sz="2400" dirty="0"/>
              <a:t>且大于等于</a:t>
            </a:r>
            <a:r>
              <a:rPr lang="en-US" altLang="zh-CN" sz="2400" dirty="0"/>
              <a:t>2017-01-05</a:t>
            </a:r>
            <a:r>
              <a:rPr lang="zh-CN" altLang="zh-CN" sz="2400" dirty="0"/>
              <a:t>为真，否则为假。</a:t>
            </a:r>
          </a:p>
          <a:p>
            <a:r>
              <a:rPr lang="zh-CN" altLang="zh-CN" sz="2400" dirty="0"/>
              <a:t>以</a:t>
            </a:r>
            <a:r>
              <a:rPr lang="en-US" altLang="zh-CN" sz="2400" dirty="0"/>
              <a:t>TF</a:t>
            </a:r>
            <a:r>
              <a:rPr lang="zh-CN" altLang="zh-CN" sz="2400" dirty="0"/>
              <a:t>为索引，取</a:t>
            </a:r>
            <a:r>
              <a:rPr lang="en-US" altLang="zh-CN" sz="2400" dirty="0" err="1"/>
              <a:t>Nt</a:t>
            </a:r>
            <a:r>
              <a:rPr lang="zh-CN" altLang="zh-CN" sz="2400" dirty="0"/>
              <a:t>中的第</a:t>
            </a:r>
            <a:r>
              <a:rPr lang="en-US" altLang="zh-CN" sz="2400" dirty="0"/>
              <a:t>2</a:t>
            </a:r>
            <a:r>
              <a:rPr lang="zh-CN" altLang="zh-CN" sz="2400" dirty="0"/>
              <a:t>列交易量数据并求和，记为</a:t>
            </a:r>
            <a:r>
              <a:rPr lang="en-US" altLang="zh-CN" sz="2400" dirty="0"/>
              <a:t>S</a:t>
            </a:r>
            <a:r>
              <a:rPr lang="zh-CN" altLang="zh-CN" sz="2400" dirty="0"/>
              <a:t>。</a:t>
            </a:r>
          </a:p>
        </p:txBody>
      </p:sp>
    </p:spTree>
  </p:cSld>
  <p:clrMapOvr>
    <a:masterClrMapping/>
  </p:clrMapOvr>
  <mc:AlternateContent xmlns:mc="http://schemas.openxmlformats.org/markup-compatibility/2006" xmlns:p14="http://schemas.microsoft.com/office/powerpoint/2010/main">
    <mc:Choice Requires="p14">
      <p:transition p14:dur="10" advTm="9437"/>
    </mc:Choice>
    <mc:Fallback xmlns="">
      <p:transition advTm="9437"/>
    </mc:Fallback>
  </mc:AlternateContent>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184561"/>
  <p:tag name="KSO_WM_TAG_VERSION" val="1.0"/>
  <p:tag name="KSO_WM_BEAUTIFY_FLAG" val="#wm#"/>
  <p:tag name="KSO_WM_UNIT_TYPE" val="l_h_f"/>
  <p:tag name="KSO_WM_UNIT_INDEX" val="1_1_1"/>
  <p:tag name="KSO_WM_UNIT_LAYERLEVEL" val="1_1_1"/>
  <p:tag name="KSO_WM_UNIT_VALUE" val="18"/>
  <p:tag name="KSO_WM_UNIT_HIGHLIGHT" val="0"/>
  <p:tag name="KSO_WM_UNIT_COMPATIBLE" val="0"/>
  <p:tag name="KSO_WM_UNIT_CLEAR" val="0"/>
  <p:tag name="KSO_WM_DIAGRAM_GROUP_CODE" val="l1-1"/>
  <p:tag name="KSO_WM_UNIT_ID" val="custom20184561_6*l_h_f*1_1_1"/>
  <p:tag name="KSO_WM_UNIT_PRESET_TEXT" val="Lorem ipsum dolor sit amet, consectetur,"/>
  <p:tag name="KSO_WM_UNIT_TEXT_FILL_FORE_SCHEMECOLOR_INDEX" val="14"/>
  <p:tag name="KSO_WM_UNIT_TEXT_FILL_TYPE" val="1"/>
  <p:tag name="KSO_WM_UNIT_USESOURCEFORMAT_APPLY" val="1"/>
</p:tagLst>
</file>

<file path=ppt/tags/tag2.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184561"/>
  <p:tag name="KSO_WM_TAG_VERSION" val="1.0"/>
  <p:tag name="KSO_WM_BEAUTIFY_FLAG" val="#wm#"/>
  <p:tag name="KSO_WM_UNIT_TYPE" val="l_h_i"/>
  <p:tag name="KSO_WM_UNIT_INDEX" val="1_1_2"/>
  <p:tag name="KSO_WM_UNIT_LAYERLEVEL" val="1_1_1"/>
  <p:tag name="KSO_WM_DIAGRAM_GROUP_CODE" val="l1-1"/>
  <p:tag name="KSO_WM_UNIT_ID" val="custom20184561_6*l_h_i*1_1_2"/>
  <p:tag name="KSO_WM_UNIT_TEXT_FILL_FORE_SCHEMECOLOR_INDEX" val="14"/>
  <p:tag name="KSO_WM_UNIT_TEXT_FILL_TYPE" val="1"/>
  <p:tag name="KSO_WM_UNIT_USESOURCEFORMAT_APPLY" val="1"/>
</p:tagLst>
</file>

<file path=ppt/tags/tag3.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184561"/>
  <p:tag name="KSO_WM_TAG_VERSION" val="1.0"/>
  <p:tag name="KSO_WM_BEAUTIFY_FLAG" val="#wm#"/>
  <p:tag name="KSO_WM_UNIT_TYPE" val="l_h_f"/>
  <p:tag name="KSO_WM_UNIT_INDEX" val="1_1_1"/>
  <p:tag name="KSO_WM_UNIT_LAYERLEVEL" val="1_1_1"/>
  <p:tag name="KSO_WM_UNIT_VALUE" val="18"/>
  <p:tag name="KSO_WM_UNIT_HIGHLIGHT" val="0"/>
  <p:tag name="KSO_WM_UNIT_COMPATIBLE" val="0"/>
  <p:tag name="KSO_WM_UNIT_CLEAR" val="0"/>
  <p:tag name="KSO_WM_DIAGRAM_GROUP_CODE" val="l1-1"/>
  <p:tag name="KSO_WM_UNIT_ID" val="custom20184561_6*l_h_f*1_1_1"/>
  <p:tag name="KSO_WM_UNIT_PRESET_TEXT" val="Lorem ipsum dolor sit amet, consectetur,"/>
  <p:tag name="KSO_WM_UNIT_TEXT_FILL_FORE_SCHEMECOLOR_INDEX" val="14"/>
  <p:tag name="KSO_WM_UNIT_TEXT_FILL_TYPE" val="1"/>
  <p:tag name="KSO_WM_UNIT_USESOURCEFORMAT_APPLY" val="1"/>
</p:tagLst>
</file>

<file path=ppt/theme/theme1.xml><?xml version="1.0" encoding="utf-8"?>
<a:theme xmlns:a="http://schemas.openxmlformats.org/drawingml/2006/main" name="第一PPT，www.1ppt.com">
  <a:themeElements>
    <a:clrScheme name="155">
      <a:dk1>
        <a:srgbClr val="294A5A"/>
      </a:dk1>
      <a:lt1>
        <a:srgbClr val="99CC39"/>
      </a:lt1>
      <a:dk2>
        <a:srgbClr val="F9C900"/>
      </a:dk2>
      <a:lt2>
        <a:srgbClr val="ED5A00"/>
      </a:lt2>
      <a:accent1>
        <a:srgbClr val="484849"/>
      </a:accent1>
      <a:accent2>
        <a:srgbClr val="FFFFFF"/>
      </a:accent2>
      <a:accent3>
        <a:srgbClr val="969696"/>
      </a:accent3>
      <a:accent4>
        <a:srgbClr val="00AAA2"/>
      </a:accent4>
      <a:accent5>
        <a:srgbClr val="99CC39"/>
      </a:accent5>
      <a:accent6>
        <a:srgbClr val="F9C900"/>
      </a:accent6>
      <a:hlink>
        <a:srgbClr val="ED5A00"/>
      </a:hlink>
      <a:folHlink>
        <a:srgbClr val="484849"/>
      </a:folHlink>
    </a:clrScheme>
    <a:fontScheme name="默认设计模板">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默认设计模板 13">
        <a:dk1>
          <a:srgbClr val="000000"/>
        </a:dk1>
        <a:lt1>
          <a:srgbClr val="FFFFD9"/>
        </a:lt1>
        <a:dk2>
          <a:srgbClr val="2B2E30"/>
        </a:dk2>
        <a:lt2>
          <a:srgbClr val="777777"/>
        </a:lt2>
        <a:accent1>
          <a:srgbClr val="7FBA00"/>
        </a:accent1>
        <a:accent2>
          <a:srgbClr val="FCDB00"/>
        </a:accent2>
        <a:accent3>
          <a:srgbClr val="FFFFE9"/>
        </a:accent3>
        <a:accent4>
          <a:srgbClr val="000000"/>
        </a:accent4>
        <a:accent5>
          <a:srgbClr val="C0D9AA"/>
        </a:accent5>
        <a:accent6>
          <a:srgbClr val="E4C600"/>
        </a:accent6>
        <a:hlink>
          <a:srgbClr val="21A3D0"/>
        </a:hlink>
        <a:folHlink>
          <a:srgbClr val="DA251D"/>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TotalTime>
  <Words>2623</Words>
  <Application>Microsoft Office PowerPoint</Application>
  <PresentationFormat>自定义</PresentationFormat>
  <Paragraphs>218</Paragraphs>
  <Slides>27</Slides>
  <Notes>27</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27</vt:i4>
      </vt:variant>
    </vt:vector>
  </HeadingPairs>
  <TitlesOfParts>
    <vt:vector size="33" baseType="lpstr">
      <vt:lpstr>仿宋_GB2312</vt:lpstr>
      <vt:lpstr>宋体</vt:lpstr>
      <vt:lpstr>微软雅黑</vt:lpstr>
      <vt:lpstr>Arial</vt:lpstr>
      <vt:lpstr>Calibri</vt:lpstr>
      <vt:lpstr>第一PPT，www.1ppt.com</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商业融资计划书</dc:title>
  <dc:creator>第一PPT</dc:creator>
  <cp:keywords>www.1ppt.com</cp:keywords>
  <cp:lastModifiedBy>Zhu Jiaming</cp:lastModifiedBy>
  <cp:revision>1588</cp:revision>
  <dcterms:created xsi:type="dcterms:W3CDTF">2013-01-25T01:44:00Z</dcterms:created>
  <dcterms:modified xsi:type="dcterms:W3CDTF">2026-05-22T01:22:59Z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2052-11.1.0.9339</vt:lpwstr>
  </property>
</Properties>
</file>