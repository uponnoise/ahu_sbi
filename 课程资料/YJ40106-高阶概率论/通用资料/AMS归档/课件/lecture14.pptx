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87" r:id="rId2"/>
    <p:sldId id="488" r:id="rId3"/>
    <p:sldId id="490" r:id="rId4"/>
    <p:sldId id="491" r:id="rId5"/>
    <p:sldId id="492" r:id="rId6"/>
    <p:sldId id="493" r:id="rId7"/>
    <p:sldId id="494" r:id="rId8"/>
    <p:sldId id="495" r:id="rId9"/>
    <p:sldId id="496" r:id="rId10"/>
    <p:sldId id="497" r:id="rId11"/>
    <p:sldId id="498" r:id="rId12"/>
    <p:sldId id="499" r:id="rId13"/>
    <p:sldId id="500" r:id="rId14"/>
    <p:sldId id="501" r:id="rId15"/>
    <p:sldId id="502" r:id="rId16"/>
    <p:sldId id="503" r:id="rId17"/>
    <p:sldId id="504" r:id="rId18"/>
    <p:sldId id="505" r:id="rId19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47487-FE42-471D-BE12-B804E3F127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51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7F768-C2F4-435A-8089-61447356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Conditional Expectation: recall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Recall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2-dimentional discrete </a:t>
                </a:r>
                <a:r>
                  <a:rPr lang="en-US" altLang="zh-CN" dirty="0" err="1"/>
                  <a:t>r.v.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The </a:t>
                </a:r>
                <a:r>
                  <a:rPr lang="en-US" altLang="zh-CN" dirty="0" err="1"/>
                  <a:t>pmf</a:t>
                </a:r>
                <a:r>
                  <a:rPr lang="en-US" altLang="zh-CN" dirty="0"/>
                  <a:t>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View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as a new random variable.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>
                <a:blip r:embed="rId2"/>
                <a:stretch>
                  <a:fillRect l="-1852" t="-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36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98326E-F1B5-43F1-8A54-9EF4A08CED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"/>
                <a:ext cx="8763000" cy="57451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Assume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2-dimentional continuous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and the joint pdf is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the conditional pdf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𝑑𝑖𝑠𝑐𝑟𝑒𝑡𝑒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nary>
                                <m:nary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𝑐𝑜𝑛𝑡𝑖𝑛𝑢𝑜𝑢𝑠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98326E-F1B5-43F1-8A54-9EF4A08CE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"/>
                <a:ext cx="8763000" cy="5745163"/>
              </a:xfrm>
              <a:blipFill>
                <a:blip r:embed="rId2"/>
                <a:stretch>
                  <a:fillRect l="-1599" t="-1274" r="-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80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73C91-E61E-47F9-A22D-0753DCAB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the joint density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,0&lt;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Compute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Fact: It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treat it as a new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and consider the expectation.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89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9AC28-AB95-45D2-8D38-59551749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Proposition 5.1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 conditional expectation formula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75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893A9-A2B0-45D6-A4F8-2CBD981F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990600"/>
          </a:xfrm>
        </p:spPr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0F82FD-4662-41CB-AD87-726C6AE0E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41734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sz="3000" dirty="0"/>
                  <a:t>A miner is trapped in a mine containing 3 doors. The first door leads to a tunnel that will take him to safety after 3 hours of travel. The second door leads to a tunnel that will return him to the mine after 5 hours of travel. The third door leads to a tunnel that will return him to the mine after 7 hours. If we assume that the miner is at all times equally likely to choose any one of the doors, what is the expected length of time until he reaches safety?</a:t>
                </a:r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marL="0" indent="0">
                  <a:buNone/>
                </a:pPr>
                <a:r>
                  <a:rPr lang="en-US" altLang="zh-CN" sz="30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3000" dirty="0"/>
                  <a:t> be the </a:t>
                </a:r>
                <a:r>
                  <a:rPr lang="en-US" altLang="zh-CN" sz="3000" dirty="0" err="1"/>
                  <a:t>r.v.</a:t>
                </a:r>
                <a:r>
                  <a:rPr lang="en-US" altLang="zh-CN" sz="3000" dirty="0"/>
                  <a:t> which is the time until the miner reaches safety. Let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3000" dirty="0"/>
                  <a:t> denote the door he initially chooses.</a:t>
                </a:r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0F82FD-4662-41CB-AD87-726C6AE0E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417344"/>
              </a:xfrm>
              <a:blipFill>
                <a:blip r:embed="rId2"/>
                <a:stretch>
                  <a:fillRect l="-1481" t="-1914" r="-444" b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149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1A5CAC-0445-46E6-82BB-20FBB3B87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096000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altLang="zh-CN" sz="2800" dirty="0"/>
                  <a:t>Example 4: </a:t>
                </a:r>
                <a:r>
                  <a:rPr lang="en-US" altLang="zh-CN" sz="3000" dirty="0"/>
                  <a:t>Suppose that the number of people entering a department store on a given day is a </a:t>
                </a:r>
                <a:r>
                  <a:rPr lang="en-US" altLang="zh-CN" sz="3000" dirty="0" err="1"/>
                  <a:t>r.v.</a:t>
                </a:r>
                <a:r>
                  <a:rPr lang="en-US" altLang="zh-CN" sz="3000" dirty="0"/>
                  <a:t> with mean 50. Suppose further that the amounts of money spent by these customers are independent </a:t>
                </a:r>
                <a:r>
                  <a:rPr lang="en-US" altLang="zh-CN" sz="3000" dirty="0" err="1"/>
                  <a:t>r.v.</a:t>
                </a:r>
                <a:r>
                  <a:rPr lang="en-US" altLang="zh-CN" sz="3000" dirty="0"/>
                  <a:t> having a common mean of $8. Finally, suppose also that the amount of money spent by a customer is also independent of the total number of customers who enter the store. What is the expected amount of money spent in the store on a given day?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the number of customers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the amount of money spent by the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3000" dirty="0"/>
                  <a:t>-</a:t>
                </a:r>
                <a:r>
                  <a:rPr lang="en-US" altLang="zh-CN" sz="3000" dirty="0" err="1"/>
                  <a:t>th</a:t>
                </a:r>
                <a:r>
                  <a:rPr lang="en-US" altLang="zh-CN" sz="3000" dirty="0"/>
                  <a:t> customer</a:t>
                </a:r>
              </a:p>
              <a:p>
                <a:pPr marL="0" indent="0" algn="just">
                  <a:buNone/>
                </a:pPr>
                <a:endParaRPr lang="zh-CN" altLang="en-US" sz="3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1A5CAC-0445-46E6-82BB-20FBB3B87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096000"/>
              </a:xfrm>
              <a:blipFill>
                <a:blip r:embed="rId3"/>
                <a:stretch>
                  <a:fillRect l="-1704" t="-2000" r="-1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981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FBCEB-F761-46A5-9288-A5A84BCE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Variance of the geometric distribution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Independent trials, each resulting in a success with probability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/>
                  <a:t>, are successively performed. 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the time of the first success. Find Var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To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Consider a 0-1 </a:t>
                </a:r>
                <a:r>
                  <a:rPr lang="en-US" altLang="zh-CN" dirty="0" err="1"/>
                  <a:t>r.v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for the first trial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8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D3E91-55E5-459A-BEF1-22BC4C38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altLang="zh-CN" dirty="0"/>
                  <a:t>be a sequence of independent uniform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Find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&gt;1}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Consider a general problem,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altLang="zh-CN" dirty="0"/>
                  <a:t>, let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: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Conditional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5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A8F5E-C19C-4AF1-95F9-FB470357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7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3100" dirty="0"/>
                  <a:t>Consider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independent trials, each of which results in one of the outcomes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3100" dirty="0"/>
                  <a:t>, with 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respectively,</a:t>
                </a:r>
                <a:r>
                  <a:rPr lang="zh-CN" altLang="en-US" sz="3100" dirty="0"/>
                  <a:t> </a:t>
                </a:r>
                <a:r>
                  <a:rPr lang="en-US" altLang="zh-CN" sz="31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3100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denote the number of trials that result in outcome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3100" dirty="0"/>
                  <a:t>. For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3100" dirty="0"/>
                  <a:t>, find</a:t>
                </a:r>
              </a:p>
              <a:p>
                <a:pPr marL="0" indent="0">
                  <a:buNone/>
                </a:pPr>
                <a:r>
                  <a:rPr lang="en-US" altLang="zh-CN" sz="3100" dirty="0"/>
                  <a:t>(a)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and (b) </a:t>
                </a:r>
                <a14:m>
                  <m:oMath xmlns:m="http://schemas.openxmlformats.org/officeDocument/2006/math"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100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47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73958-ECC7-4D86-B4CC-49E3E59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8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Show the correlation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Recall: marginal distribution is normal.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dirty="0"/>
                  <a:t> is normal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To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423D73-C213-497C-990E-B6F075A9C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8229600" cy="296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EE8FB-0676-49D6-9E3B-80E7E5D1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7.5.3 Computing probabilities by conditioning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5A7E-B1A9-4323-814D-61BC79E39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Consider an event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be the indicator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Recall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3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300" dirty="0"/>
                                    <m:t> </m:t>
                                  </m:r>
                                  <m:r>
                                    <a:rPr lang="en-US" altLang="zh-CN" sz="2300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23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3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CN" sz="2300" b="0" i="1" dirty="0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3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23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𝑑𝑖𝑠𝑐𝑟𝑒𝑡𝑒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nary>
                                <m:naryPr>
                                  <m:ctrlP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e>
                                      <m: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3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CN" sz="2300" b="0" i="1" smtClean="0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e>
                              </m:nary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𝑐𝑜𝑛𝑡𝑖𝑛𝑢𝑜𝑢𝑠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3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3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5A7E-B1A9-4323-814D-61BC79E39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524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FC03E0-F9A8-4289-9B4D-CCD3D688B5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5897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For discrete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an event.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is the law of total probability. 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FC03E0-F9A8-4289-9B4D-CCD3D688B5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5897563"/>
              </a:xfrm>
              <a:blipFill>
                <a:blip r:embed="rId2"/>
                <a:stretch>
                  <a:fillRect l="-1852" t="-1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47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999A2-6805-4325-BCC8-3E896376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282B5-2841-43C0-A723-968A706FBF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a uniform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, and suppose that the conditional distribution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, given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/>
                  <a:t>, is the binomial with parameters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/>
                  <a:t>. Find the probability mass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.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282B5-2841-43C0-A723-968A706FBF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8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96809-D99E-4A5E-9232-F04CBDBC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8DFA19-30AC-47E4-9CC8-0408892BA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A random sample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balls is chosen from an urn that contains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red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blue balls.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equally likely to be any of the values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, find the probability that all the balls in the sample are red.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8DFA19-30AC-47E4-9CC8-0408892BA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0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B76F6-3600-498C-BD47-11A84EFE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372DE09-E482-447B-9876-00F0CC3512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Suppose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continuous random variables having densities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CN" dirty="0"/>
                  <a:t>, respectively.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372DE09-E482-447B-9876-00F0CC351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97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4E409-E371-4ADE-8274-45CD588A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7.7 Moment generating functions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430CA0-74D7-4E3F-A211-52395F41ED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The moment generating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real, is defined as 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𝑡𝑋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p>
                                  </m:s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𝑑𝑖𝑠𝑐𝑟𝑒𝑡𝑒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nary>
                                <m:nary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nary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𝑐𝑜𝑛𝑡𝑖𝑛𝑢𝑜𝑢𝑠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430CA0-74D7-4E3F-A211-52395F41E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1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ADAB65-D574-48CB-A513-6F70B44F5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457200"/>
                <a:ext cx="8229600" cy="566896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Idea: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𝑡𝑋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𝑡𝑋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For discrete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𝑡𝑥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3000" b="0" dirty="0"/>
              </a:p>
              <a:p>
                <a:pPr marL="0" indent="0">
                  <a:buNone/>
                </a:pPr>
                <a:r>
                  <a:rPr lang="en-US" altLang="zh-CN" sz="3000" dirty="0"/>
                  <a:t>For continuous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3000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𝑡𝑥</m:t>
                                  </m:r>
                                </m:sup>
                              </m:s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𝑡𝑥</m:t>
                                  </m:r>
                                </m:sup>
                              </m:s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Observe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zh-CN" sz="2800" dirty="0"/>
                  <a:t>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𝑡𝑋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. In general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and </a:t>
                </a:r>
              </a:p>
              <a:p>
                <a:pPr marL="0" indent="0" algn="ctr">
                  <a:buNone/>
                </a:pP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 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ADAB65-D574-48CB-A513-6F70B44F5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57200"/>
                <a:ext cx="8229600" cy="5668963"/>
              </a:xfrm>
              <a:blipFill>
                <a:blip r:embed="rId2"/>
                <a:stretch>
                  <a:fillRect l="-1185" t="-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253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0736B-10FB-4934-9FA6-4364A465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FE0966-A966-45A2-B896-F3DBB73E3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US" altLang="zh-CN" dirty="0"/>
                  <a:t>Binomial distribution with parameters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514350" indent="-514350">
                  <a:buAutoNum type="arabicPeriod"/>
                </a:pPr>
                <a:r>
                  <a:rPr lang="en-US" altLang="zh-CN" dirty="0"/>
                  <a:t>Poisson distribution with mean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CN" dirty="0"/>
              </a:p>
              <a:p>
                <a:pPr marL="514350" indent="-514350">
                  <a:buFont typeface="Arial" pitchFamily="34" charset="0"/>
                  <a:buAutoNum type="arabicPeriod"/>
                </a:pPr>
                <a:r>
                  <a:rPr lang="en-US" altLang="zh-CN" dirty="0"/>
                  <a:t>Exponential distribution 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with parameter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4.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Normal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distribution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FE0966-A966-45A2-B896-F3DBB73E3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71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76273</TotalTime>
  <Words>989</Words>
  <Application>Microsoft Office PowerPoint</Application>
  <PresentationFormat>全屏显示(4:3)</PresentationFormat>
  <Paragraphs>87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宋体</vt:lpstr>
      <vt:lpstr>Arial</vt:lpstr>
      <vt:lpstr>Calibri</vt:lpstr>
      <vt:lpstr>Cambria Math</vt:lpstr>
      <vt:lpstr>Office Theme</vt:lpstr>
      <vt:lpstr>Conditional Expectation: recall</vt:lpstr>
      <vt:lpstr>PowerPoint 演示文稿</vt:lpstr>
      <vt:lpstr>Example 2</vt:lpstr>
      <vt:lpstr>Proposition 5.1</vt:lpstr>
      <vt:lpstr>Example 3</vt:lpstr>
      <vt:lpstr>PowerPoint 演示文稿</vt:lpstr>
      <vt:lpstr>Example 5</vt:lpstr>
      <vt:lpstr>Example 6</vt:lpstr>
      <vt:lpstr>Example 7</vt:lpstr>
      <vt:lpstr>Example 8</vt:lpstr>
      <vt:lpstr>7.5.3 Computing probabilities by conditioning</vt:lpstr>
      <vt:lpstr>PowerPoint 演示文稿</vt:lpstr>
      <vt:lpstr>Example 1</vt:lpstr>
      <vt:lpstr>Example 2</vt:lpstr>
      <vt:lpstr>Example 3</vt:lpstr>
      <vt:lpstr>7.7 Moment generating functions</vt:lpstr>
      <vt:lpstr>PowerPoint 演示文稿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285</cp:revision>
  <cp:lastPrinted>2026-05-22T04:00:15Z</cp:lastPrinted>
  <dcterms:created xsi:type="dcterms:W3CDTF">2013-08-27T21:54:20Z</dcterms:created>
  <dcterms:modified xsi:type="dcterms:W3CDTF">2026-05-26T13:06:53Z</dcterms:modified>
</cp:coreProperties>
</file>