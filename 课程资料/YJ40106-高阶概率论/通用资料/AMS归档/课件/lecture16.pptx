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87" r:id="rId2"/>
    <p:sldId id="490" r:id="rId3"/>
    <p:sldId id="491" r:id="rId4"/>
    <p:sldId id="492" r:id="rId5"/>
    <p:sldId id="494" r:id="rId6"/>
    <p:sldId id="495" r:id="rId7"/>
    <p:sldId id="496" r:id="rId8"/>
    <p:sldId id="502" r:id="rId9"/>
    <p:sldId id="497" r:id="rId10"/>
    <p:sldId id="503" r:id="rId11"/>
    <p:sldId id="505" r:id="rId12"/>
    <p:sldId id="506" r:id="rId13"/>
    <p:sldId id="504" r:id="rId14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7F768-C2F4-435A-8089-61447356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8.5 Chernoff bounds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Proposition:</a:t>
                </a:r>
              </a:p>
              <a:p>
                <a:pPr marL="0" indent="0" algn="ctr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𝑡𝑎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𝑡𝑎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properly</a:t>
                </a:r>
                <a:r>
                  <a:rPr lang="en-US" altLang="zh-CN" dirty="0"/>
                  <a:t> to minimize the upper bound.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>
                <a:blip r:embed="rId2"/>
                <a:stretch>
                  <a:fillRect l="-1852" t="-1576" r="-1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36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73C91-E61E-47F9-A22D-0753DCAB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standard normal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be the standard normal </a:t>
                </a:r>
                <a:r>
                  <a:rPr lang="en-US" altLang="zh-CN" dirty="0" err="1"/>
                  <a:t>r.v.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Exponentially decay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89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9AC28-AB95-45D2-8D38-59551749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Poisson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Poisson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with parameter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, then the moment generating function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dirty="0"/>
                  <a:t>. Then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}≤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75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893A9-A2B0-45D6-A4F8-2CBD981F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990600"/>
          </a:xfrm>
        </p:spPr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0F82FD-4662-41CB-AD87-726C6AE0E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4173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Consider a gambler who is equally likely to either win or lose 1 unit on every play, independently of the his past results. That is,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is the gambler’s winning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err="1"/>
                  <a:t>th</a:t>
                </a:r>
                <a:r>
                  <a:rPr lang="en-US" altLang="zh-CN" dirty="0"/>
                  <a:t> play, then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are independent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.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denote the gambler’s winnings after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plays. We wish to show an upper bound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0F82FD-4662-41CB-AD87-726C6AE0E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417344"/>
              </a:xfrm>
              <a:blipFill>
                <a:blip r:embed="rId2"/>
                <a:stretch>
                  <a:fillRect l="-1852" t="-1464" r="-2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4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FBCEB-F761-46A5-9288-A5A84BCE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Chernoff bound for binomial </a:t>
            </a:r>
            <a:r>
              <a:rPr lang="en-US" altLang="zh-CN" dirty="0" err="1"/>
              <a:t>r.v.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Upper tail: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Lower tail: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/2)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8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D3E91-55E5-459A-BEF1-22BC4C3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Jensen’s inequality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is a convex function, then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Unify many inequalities.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Taylor expansion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5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3100" dirty="0"/>
                  <a:t>Proposition: If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are increasing functions, then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100" dirty="0"/>
              </a:p>
              <a:p>
                <a:pPr marL="0" indent="0">
                  <a:buNone/>
                </a:pPr>
                <a:endParaRPr lang="en-US" altLang="zh-CN" sz="3100" dirty="0"/>
              </a:p>
              <a:p>
                <a:pPr marL="0" indent="0">
                  <a:buNone/>
                </a:pPr>
                <a:r>
                  <a:rPr lang="en-US" altLang="zh-CN" sz="3100" dirty="0"/>
                  <a:t>Observe: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sz="3100" dirty="0"/>
              </a:p>
              <a:p>
                <a:pPr marL="0" indent="0">
                  <a:buNone/>
                </a:pPr>
                <a:r>
                  <a:rPr lang="en-US" altLang="zh-CN" sz="3100" dirty="0"/>
                  <a:t>Take expectation</a:t>
                </a:r>
                <a:endParaRPr lang="zh-CN" altLang="en-US" sz="31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47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8365E-3D93-4798-A2DA-EE238E0B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Brun’s sieve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26B1C9-6B81-4C7A-BAC2-4C24E54EF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the indicator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for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, for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⋀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Where the sum is over all sets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⊂{1,2,…,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⋯(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By inclusion-exclusion principle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∧⋯∧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126B1C9-6B81-4C7A-BAC2-4C24E54EF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>
                <a:blip r:embed="rId2"/>
                <a:stretch>
                  <a:fillRect l="-1704" t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15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73958-ECC7-4D86-B4CC-49E3E59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Brun’s sieve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Theorem:  If there is a constant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 so that for fixed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en-US" altLang="zh-CN" dirty="0"/>
                  <a:t> and for every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7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6F1B3-DB82-4E24-89A5-A60B00E8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The Poisson process</a:t>
            </a:r>
            <a:br>
              <a:rPr lang="en-US" altLang="zh-CN" dirty="0"/>
            </a:br>
            <a:r>
              <a:rPr lang="en-US" altLang="zh-CN" dirty="0"/>
              <a:t>via </a:t>
            </a:r>
            <a:r>
              <a:rPr lang="en-US" altLang="zh-CN" dirty="0">
                <a:solidFill>
                  <a:srgbClr val="FF0000"/>
                </a:solidFill>
              </a:rPr>
              <a:t>infinitesimal</a:t>
            </a:r>
            <a:r>
              <a:rPr lang="en-US" altLang="zh-CN" dirty="0"/>
              <a:t> probabilities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3FCD4B-E6A2-4E2D-8A72-6C232D06B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the number of events that occur in the time interval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. The collection of random variables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 Poisson process having rate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 if 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(i)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(0)=0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(ii) The number of events that occur in disjoint time intervals are independent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(iii)The distribution of the number of events that occur in a given interval depends only on the length of that interval and not on its location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(iv)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(v)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3FCD4B-E6A2-4E2D-8A72-6C232D06B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  <a:blipFill>
                <a:blip r:embed="rId2"/>
                <a:stretch>
                  <a:fillRect l="-1407" t="-2830" r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183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EB4F1-EBBC-44AC-ADEC-A35E2F47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64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Equivalent definitions</a:t>
            </a:r>
            <a:br>
              <a:rPr lang="en-US" altLang="zh-CN" sz="3600" dirty="0"/>
            </a:br>
            <a:r>
              <a:rPr lang="en-US" altLang="zh-CN" sz="3600" dirty="0"/>
              <a:t>Via counting process axioms</a:t>
            </a:r>
            <a:br>
              <a:rPr lang="en-US" altLang="zh-CN" dirty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470670-9934-4802-B137-F7BEAC2F2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1"/>
                <a:ext cx="8229600" cy="51816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4500" dirty="0"/>
                  <a:t>Independent increments</a:t>
                </a:r>
                <a:br>
                  <a:rPr lang="en-US" altLang="zh-CN" sz="4500" dirty="0"/>
                </a:br>
                <a:r>
                  <a:rPr lang="en-US" altLang="zh-CN" sz="4500" dirty="0"/>
                  <a:t>(</a:t>
                </a:r>
                <a:r>
                  <a:rPr lang="en-US" altLang="zh-CN" sz="4500" dirty="0" err="1"/>
                  <a:t>i</a:t>
                </a:r>
                <a:r>
                  <a:rPr lang="en-US" altLang="zh-CN" sz="4500" dirty="0"/>
                  <a:t>) For any 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4500" dirty="0"/>
                  <a:t>, the increments 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4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5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45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45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4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5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45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45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4500" dirty="0"/>
                      <m:t> </m:t>
                    </m:r>
                    <m:r>
                      <a:rPr lang="en-US" altLang="zh-CN" sz="45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4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5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45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4500" dirty="0"/>
                  <a:t> are independent </a:t>
                </a:r>
                <a:r>
                  <a:rPr lang="en-US" altLang="zh-CN" sz="4500" dirty="0" err="1"/>
                  <a:t>r.v.</a:t>
                </a:r>
                <a:endParaRPr lang="en-US" altLang="zh-CN" sz="4500" dirty="0"/>
              </a:p>
              <a:p>
                <a:pPr marL="0" indent="0">
                  <a:buNone/>
                </a:pPr>
                <a:r>
                  <a:rPr lang="en-US" altLang="zh-CN" sz="4500" dirty="0"/>
                  <a:t>Stationary increments</a:t>
                </a:r>
                <a:br>
                  <a:rPr lang="en-US" altLang="zh-CN" sz="4500" dirty="0"/>
                </a:br>
                <a:r>
                  <a:rPr lang="en-US" altLang="zh-CN" sz="4500" dirty="0"/>
                  <a:t>(ii) For any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4500" dirty="0"/>
                  <a:t>, the distribution of </a:t>
                </a:r>
                <a:endParaRPr lang="en-US" altLang="zh-CN" sz="4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4500" dirty="0"/>
                  <a:t> depends only on the length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4500" dirty="0"/>
                  <a:t> (not on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4500" dirty="0"/>
                  <a:t> or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4500" dirty="0"/>
                  <a:t>).</a:t>
                </a:r>
              </a:p>
              <a:p>
                <a:pPr marL="0" indent="0">
                  <a:buNone/>
                </a:pPr>
                <a:r>
                  <a:rPr lang="en-US" altLang="zh-CN" sz="4500" dirty="0"/>
                  <a:t>Poisson distribution with rate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br>
                  <a:rPr lang="el-GR" altLang="zh-CN" sz="4500" dirty="0"/>
                </a:br>
                <a:r>
                  <a:rPr lang="en-US" altLang="zh-CN" sz="4500" dirty="0"/>
                  <a:t>(iii) For any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4500" dirty="0"/>
                  <a:t> and any integer </a:t>
                </a:r>
                <a14:m>
                  <m:oMath xmlns:m="http://schemas.openxmlformats.org/officeDocument/2006/math"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45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4500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5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4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4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45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sz="45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sz="45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45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4500" dirty="0"/>
              </a:p>
              <a:p>
                <a:pPr marL="0" indent="0">
                  <a:buNone/>
                </a:pPr>
                <a:br>
                  <a:rPr lang="en-US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E470670-9934-4802-B137-F7BEAC2F2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1"/>
                <a:ext cx="8229600" cy="5181600"/>
              </a:xfrm>
              <a:blipFill>
                <a:blip r:embed="rId2"/>
                <a:stretch>
                  <a:fillRect l="-1185" t="-2235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832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E9FD1-03B5-4A70-ABF2-DD73BAB7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401762"/>
          </a:xfrm>
        </p:spPr>
        <p:txBody>
          <a:bodyPr>
            <a:normAutofit fontScale="90000"/>
          </a:bodyPr>
          <a:lstStyle/>
          <a:p>
            <a:r>
              <a:rPr lang="en-US" altLang="zh-CN" sz="4000" dirty="0"/>
              <a:t>Equivalent definition </a:t>
            </a:r>
            <a:br>
              <a:rPr lang="en-US" altLang="zh-CN" sz="4000" dirty="0"/>
            </a:br>
            <a:r>
              <a:rPr lang="en-US" altLang="zh-CN" sz="4000" dirty="0"/>
              <a:t>via interarrival times</a:t>
            </a:r>
            <a:br>
              <a:rPr lang="en-US" altLang="zh-CN" b="1" dirty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7259CC-028E-4560-827A-9743F389D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Let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altLang="zh-CN" dirty="0"/>
                  <a:t>be the successive waiting times between events (with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is​ the time of the first event). Then 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 is a Poisson process of rate 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if and only if  </a:t>
                </a:r>
                <a:r>
                  <a:rPr lang="en-US" altLang="zh-CN" dirty="0"/>
                  <a:t>the sequence 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 consists of </a:t>
                </a:r>
                <a:r>
                  <a:rPr lang="en-US" altLang="zh-CN" dirty="0" err="1"/>
                  <a:t>i.i.d</a:t>
                </a:r>
                <a:r>
                  <a:rPr lang="en-US" altLang="zh-CN" dirty="0"/>
                  <a:t> </a:t>
                </a:r>
                <a:r>
                  <a:rPr lang="en-US" altLang="zh-CN" b="1" dirty="0"/>
                  <a:t>exponential random variables</a:t>
                </a:r>
                <a:r>
                  <a:rPr lang="en-US" altLang="zh-CN" dirty="0"/>
                  <a:t> with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dirty="0"/>
                  <a:t>,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7259CC-028E-4560-827A-9743F389D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2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145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47643-000F-4B9C-992E-33012F10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1A7355-A3AF-4C94-BAAF-8E8347EBD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sz="3300" dirty="0"/>
              <a:t>If customers arrive at a store at an average rate of 10 per hour (λ=10), then:</a:t>
            </a:r>
          </a:p>
          <a:p>
            <a:pPr marL="0" indent="0">
              <a:buNone/>
            </a:pPr>
            <a:r>
              <a:rPr lang="en-US" altLang="zh-CN" sz="3300" dirty="0"/>
              <a:t>(a)The probability that exactly 5 customers arrive in a 30‑minute period is _.</a:t>
            </a:r>
            <a:br>
              <a:rPr lang="en-US" altLang="zh-CN" sz="3300" dirty="0"/>
            </a:br>
            <a:r>
              <a:rPr lang="en-US" altLang="zh-CN" sz="3300" dirty="0"/>
              <a:t>(b) The waiting time between two consecutive arrivals follows an exponential distribution with mean _.</a:t>
            </a:r>
          </a:p>
          <a:p>
            <a:pPr marL="0" indent="0">
              <a:buNone/>
            </a:pPr>
            <a:r>
              <a:rPr lang="en-US" altLang="zh-CN" sz="3300" b="1" dirty="0"/>
              <a:t>Common Applications</a:t>
            </a:r>
          </a:p>
          <a:p>
            <a:pPr marL="0" indent="0">
              <a:buNone/>
            </a:pPr>
            <a:r>
              <a:rPr lang="en-US" altLang="zh-CN" sz="3300" dirty="0"/>
              <a:t>Queueing theory (arrivals at a queue)</a:t>
            </a:r>
          </a:p>
          <a:p>
            <a:pPr marL="0" indent="0">
              <a:buNone/>
            </a:pPr>
            <a:r>
              <a:rPr lang="en-US" altLang="zh-CN" sz="3300" dirty="0"/>
              <a:t>Telecommunications (packet arrivals)</a:t>
            </a:r>
          </a:p>
          <a:p>
            <a:pPr marL="0" indent="0">
              <a:buNone/>
            </a:pPr>
            <a:r>
              <a:rPr lang="en-US" altLang="zh-CN" sz="3300" dirty="0"/>
              <a:t>Reliability (failure times of components)</a:t>
            </a:r>
          </a:p>
          <a:p>
            <a:pPr marL="0" indent="0">
              <a:buNone/>
            </a:pPr>
            <a:r>
              <a:rPr lang="en-US" altLang="zh-CN" sz="3300" dirty="0"/>
              <a:t>Epidemiology (occurrence of new cases)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67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76790</TotalTime>
  <Words>595</Words>
  <Application>Microsoft Office PowerPoint</Application>
  <PresentationFormat>全屏显示(4:3)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宋体</vt:lpstr>
      <vt:lpstr>Arial</vt:lpstr>
      <vt:lpstr>Calibri</vt:lpstr>
      <vt:lpstr>Cambria Math</vt:lpstr>
      <vt:lpstr>Office Theme</vt:lpstr>
      <vt:lpstr>8.5 Chernoff bounds</vt:lpstr>
      <vt:lpstr>The standard normal r.v.</vt:lpstr>
      <vt:lpstr>The Poisson r.v.</vt:lpstr>
      <vt:lpstr>Example 1</vt:lpstr>
      <vt:lpstr>Chernoff bound for binomial r.v.</vt:lpstr>
      <vt:lpstr>Jensen’s inequality</vt:lpstr>
      <vt:lpstr>PowerPoint 演示文稿</vt:lpstr>
      <vt:lpstr>Brun’s sieve</vt:lpstr>
      <vt:lpstr>Brun’s sieve</vt:lpstr>
      <vt:lpstr>The Poisson process via infinitesimal probabilities</vt:lpstr>
      <vt:lpstr>Equivalent definitions Via counting process axioms </vt:lpstr>
      <vt:lpstr>Equivalent definition  via interarrival times 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336</cp:revision>
  <cp:lastPrinted>2026-05-22T04:00:15Z</cp:lastPrinted>
  <dcterms:created xsi:type="dcterms:W3CDTF">2013-08-27T21:54:20Z</dcterms:created>
  <dcterms:modified xsi:type="dcterms:W3CDTF">2026-06-14T07:42:37Z</dcterms:modified>
</cp:coreProperties>
</file>